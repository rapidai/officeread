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ls" ContentType="application/vnd.ms-exce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9"/>
  </p:notesMasterIdLst>
  <p:handoutMasterIdLst>
    <p:handoutMasterId r:id="rId30"/>
  </p:handoutMasterIdLst>
  <p:sldIdLst>
    <p:sldId id="453" r:id="rId2"/>
    <p:sldId id="374" r:id="rId3"/>
    <p:sldId id="459" r:id="rId4"/>
    <p:sldId id="460" r:id="rId5"/>
    <p:sldId id="461" r:id="rId6"/>
    <p:sldId id="462" r:id="rId7"/>
    <p:sldId id="365" r:id="rId8"/>
    <p:sldId id="366" r:id="rId9"/>
    <p:sldId id="367" r:id="rId10"/>
    <p:sldId id="370" r:id="rId11"/>
    <p:sldId id="371" r:id="rId12"/>
    <p:sldId id="456" r:id="rId13"/>
    <p:sldId id="463" r:id="rId14"/>
    <p:sldId id="464" r:id="rId15"/>
    <p:sldId id="465" r:id="rId16"/>
    <p:sldId id="466" r:id="rId17"/>
    <p:sldId id="467" r:id="rId18"/>
    <p:sldId id="457" r:id="rId19"/>
    <p:sldId id="468" r:id="rId20"/>
    <p:sldId id="469" r:id="rId21"/>
    <p:sldId id="470" r:id="rId22"/>
    <p:sldId id="471" r:id="rId23"/>
    <p:sldId id="472" r:id="rId24"/>
    <p:sldId id="473" r:id="rId25"/>
    <p:sldId id="474" r:id="rId26"/>
    <p:sldId id="475" r:id="rId27"/>
    <p:sldId id="476" r:id="rId2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F66"/>
    <a:srgbClr val="E8A73E"/>
    <a:srgbClr val="FFBEBE"/>
    <a:srgbClr val="FF0000"/>
    <a:srgbClr val="730000"/>
    <a:srgbClr val="3366FF"/>
    <a:srgbClr val="FFFFCC"/>
    <a:srgbClr val="F7E2B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78" autoAdjust="0"/>
    <p:restoredTop sz="82833" autoAdjust="0"/>
  </p:normalViewPr>
  <p:slideViewPr>
    <p:cSldViewPr snapToGrid="0">
      <p:cViewPr varScale="1">
        <p:scale>
          <a:sx n="49" d="100"/>
          <a:sy n="49" d="100"/>
        </p:scale>
        <p:origin x="-180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712" tIns="45856" rIns="91712" bIns="45856" numCol="1" anchor="t" anchorCtr="0" compatLnSpc="1">
            <a:prstTxWarp prst="textNoShape">
              <a:avLst/>
            </a:prstTxWarp>
          </a:bodyPr>
          <a:lstStyle>
            <a:lvl1pPr defTabSz="917575">
              <a:defRPr sz="11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712" tIns="45856" rIns="91712" bIns="45856" numCol="1" anchor="t" anchorCtr="0" compatLnSpc="1">
            <a:prstTxWarp prst="textNoShape">
              <a:avLst/>
            </a:prstTxWarp>
          </a:bodyPr>
          <a:lstStyle>
            <a:lvl1pPr algn="r" defTabSz="917575">
              <a:defRPr sz="11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712" tIns="45856" rIns="91712" bIns="45856" numCol="1" anchor="b" anchorCtr="0" compatLnSpc="1">
            <a:prstTxWarp prst="textNoShape">
              <a:avLst/>
            </a:prstTxWarp>
          </a:bodyPr>
          <a:lstStyle>
            <a:lvl1pPr defTabSz="917575">
              <a:defRPr sz="1100">
                <a:latin typeface="Times New Roman" pitchFamily="18" charset="0"/>
              </a:defRPr>
            </a:lvl1pPr>
          </a:lstStyle>
          <a:p>
            <a:pPr>
              <a:defRPr/>
            </a:pPr>
            <a:endParaRPr lang="en-US"/>
          </a:p>
        </p:txBody>
      </p:sp>
      <p:sp>
        <p:nvSpPr>
          <p:cNvPr id="50181"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712" tIns="45856" rIns="91712" bIns="45856" numCol="1" anchor="b" anchorCtr="0" compatLnSpc="1">
            <a:prstTxWarp prst="textNoShape">
              <a:avLst/>
            </a:prstTxWarp>
          </a:bodyPr>
          <a:lstStyle>
            <a:lvl1pPr algn="r" defTabSz="917575">
              <a:defRPr sz="1100">
                <a:latin typeface="Times New Roman" pitchFamily="18" charset="0"/>
              </a:defRPr>
            </a:lvl1pPr>
          </a:lstStyle>
          <a:p>
            <a:pPr>
              <a:defRPr/>
            </a:pPr>
            <a:fld id="{43C6ACEE-C5A6-48F3-A5B5-B02D383514ED}"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62" tIns="46581" rIns="93162" bIns="46581" numCol="1" anchor="t" anchorCtr="0" compatLnSpc="1">
            <a:prstTxWarp prst="textNoShape">
              <a:avLst/>
            </a:prstTxWarp>
          </a:bodyPr>
          <a:lstStyle>
            <a:lvl1pPr defTabSz="931863">
              <a:defRPr sz="1100">
                <a:latin typeface="Times New Roman" pitchFamily="18" charset="0"/>
              </a:defRPr>
            </a:lvl1pPr>
          </a:lstStyle>
          <a:p>
            <a:pPr>
              <a:defRPr/>
            </a:pPr>
            <a:endParaRPr lang="en-US"/>
          </a:p>
        </p:txBody>
      </p:sp>
      <p:sp>
        <p:nvSpPr>
          <p:cNvPr id="11267" name="Rectangle 3"/>
          <p:cNvSpPr>
            <a:spLocks noGrp="1" noChangeArrowheads="1"/>
          </p:cNvSpPr>
          <p:nvPr>
            <p:ph type="dt" idx="1"/>
          </p:nvPr>
        </p:nvSpPr>
        <p:spPr bwMode="auto">
          <a:xfrm>
            <a:off x="3971925" y="0"/>
            <a:ext cx="3038475" cy="465138"/>
          </a:xfrm>
          <a:prstGeom prst="rect">
            <a:avLst/>
          </a:prstGeom>
          <a:noFill/>
          <a:ln w="9525">
            <a:noFill/>
            <a:miter lim="800000"/>
            <a:headEnd/>
            <a:tailEnd/>
          </a:ln>
          <a:effectLst/>
        </p:spPr>
        <p:txBody>
          <a:bodyPr vert="horz" wrap="square" lIns="93162" tIns="46581" rIns="93162" bIns="46581" numCol="1" anchor="t" anchorCtr="0" compatLnSpc="1">
            <a:prstTxWarp prst="textNoShape">
              <a:avLst/>
            </a:prstTxWarp>
          </a:bodyPr>
          <a:lstStyle>
            <a:lvl1pPr algn="r" defTabSz="931863">
              <a:defRPr sz="1100">
                <a:latin typeface="Times New Roman" pitchFamily="18" charset="0"/>
              </a:defRPr>
            </a:lvl1pPr>
          </a:lstStyle>
          <a:p>
            <a:pPr>
              <a:defRPr/>
            </a:pPr>
            <a:endParaRPr lang="en-US"/>
          </a:p>
        </p:txBody>
      </p:sp>
      <p:sp>
        <p:nvSpPr>
          <p:cNvPr id="20484" name="Rectangle 4"/>
          <p:cNvSpPr>
            <a:spLocks noGrp="1" noRot="1" noChangeAspect="1" noChangeArrowheads="1" noTextEdit="1"/>
          </p:cNvSpPr>
          <p:nvPr>
            <p:ph type="sldImg" idx="2"/>
          </p:nvPr>
        </p:nvSpPr>
        <p:spPr bwMode="auto">
          <a:xfrm>
            <a:off x="1182688" y="696913"/>
            <a:ext cx="4648200" cy="3486150"/>
          </a:xfrm>
          <a:prstGeom prst="rect">
            <a:avLst/>
          </a:prstGeom>
          <a:noFill/>
          <a:ln w="9525">
            <a:solidFill>
              <a:srgbClr val="000000"/>
            </a:solidFill>
            <a:miter lim="800000"/>
            <a:headEnd/>
            <a:tailEnd/>
          </a:ln>
        </p:spPr>
      </p:sp>
      <p:sp>
        <p:nvSpPr>
          <p:cNvPr id="11269" name="Rectangle 5"/>
          <p:cNvSpPr>
            <a:spLocks noGrp="1" noChangeArrowheads="1"/>
          </p:cNvSpPr>
          <p:nvPr>
            <p:ph type="body" sz="quarter" idx="3"/>
          </p:nvPr>
        </p:nvSpPr>
        <p:spPr bwMode="auto">
          <a:xfrm>
            <a:off x="935038" y="4418013"/>
            <a:ext cx="5140325" cy="4181475"/>
          </a:xfrm>
          <a:prstGeom prst="rect">
            <a:avLst/>
          </a:prstGeom>
          <a:noFill/>
          <a:ln w="9525">
            <a:noFill/>
            <a:miter lim="800000"/>
            <a:headEnd/>
            <a:tailEnd/>
          </a:ln>
          <a:effectLst/>
        </p:spPr>
        <p:txBody>
          <a:bodyPr vert="horz" wrap="square" lIns="93162" tIns="46581" rIns="93162" bIns="465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8831263"/>
            <a:ext cx="3038475" cy="465137"/>
          </a:xfrm>
          <a:prstGeom prst="rect">
            <a:avLst/>
          </a:prstGeom>
          <a:noFill/>
          <a:ln w="9525">
            <a:noFill/>
            <a:miter lim="800000"/>
            <a:headEnd/>
            <a:tailEnd/>
          </a:ln>
          <a:effectLst/>
        </p:spPr>
        <p:txBody>
          <a:bodyPr vert="horz" wrap="square" lIns="93162" tIns="46581" rIns="93162" bIns="46581" numCol="1" anchor="b" anchorCtr="0" compatLnSpc="1">
            <a:prstTxWarp prst="textNoShape">
              <a:avLst/>
            </a:prstTxWarp>
          </a:bodyPr>
          <a:lstStyle>
            <a:lvl1pPr defTabSz="931863">
              <a:defRPr sz="1100">
                <a:latin typeface="Times New Roman" pitchFamily="18" charset="0"/>
              </a:defRPr>
            </a:lvl1pPr>
          </a:lstStyle>
          <a:p>
            <a:pPr>
              <a:defRPr/>
            </a:pPr>
            <a:endParaRPr lang="en-US"/>
          </a:p>
        </p:txBody>
      </p:sp>
      <p:sp>
        <p:nvSpPr>
          <p:cNvPr id="11271" name="Rectangle 7"/>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a:effectLst/>
        </p:spPr>
        <p:txBody>
          <a:bodyPr vert="horz" wrap="square" lIns="93162" tIns="46581" rIns="93162" bIns="46581" numCol="1" anchor="b" anchorCtr="0" compatLnSpc="1">
            <a:prstTxWarp prst="textNoShape">
              <a:avLst/>
            </a:prstTxWarp>
          </a:bodyPr>
          <a:lstStyle>
            <a:lvl1pPr algn="r" defTabSz="931863">
              <a:defRPr sz="1100">
                <a:latin typeface="Times New Roman" pitchFamily="18" charset="0"/>
              </a:defRPr>
            </a:lvl1pPr>
          </a:lstStyle>
          <a:p>
            <a:pPr>
              <a:defRPr/>
            </a:pPr>
            <a:fld id="{3DE6F9DF-081A-4A6C-854E-390EB35CEE9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smtClean="0"/>
              <a:t>The CIG project that I am presenting</a:t>
            </a:r>
            <a:r>
              <a:rPr lang="en-US" sz="1000" baseline="0" dirty="0" smtClean="0"/>
              <a:t> we call HIT (High Impact Targeting).  As the subtitle describes, “targeting” refers to optimally locating conservation practices on eroding agricultural lands.  My colleagues on this project are Teresa </a:t>
            </a:r>
            <a:r>
              <a:rPr lang="en-US" sz="1000" baseline="0" dirty="0" err="1" smtClean="0"/>
              <a:t>Salveta</a:t>
            </a:r>
            <a:r>
              <a:rPr lang="en-US" sz="1000" baseline="0" dirty="0" smtClean="0"/>
              <a:t> from the Michigan Department of Agriculture, Tom </a:t>
            </a:r>
            <a:r>
              <a:rPr lang="en-US" sz="1000" baseline="0" dirty="0" err="1" smtClean="0"/>
              <a:t>Hanselman</a:t>
            </a:r>
            <a:r>
              <a:rPr lang="en-US" sz="1000" baseline="0" dirty="0" smtClean="0"/>
              <a:t> from the Huron County Conservation District, Lauren Lindeman from the Lenawee County Conservation District, and John Switzer from the Clinton County Conservation District.  I included the photograph here to illustrate the project rationale.  This is a gully loading into Sycamore Creek, just south of the MSU campus.  There is a monitoring station immediately downstream of this gully.  As you might expect, it was reporting some high values for nutrients and TSS.  This knowledge contributed to efforts by state and local agencies to install conservation practices upstream.  But, as has been custom, the locations of these practices are either placed randomly when a producer volunteers to enroll in a conservation program, or “targeted” through “windshield” surveys by field technicians.  This picture was taken after money had already been spent installing practices.  Had there been a more systematic tool to help identify locations like this gully, those efforts could have realized a greater improvement in nutrient readings at the downstream monitoring station.  HIT is such a tool.</a:t>
            </a:r>
            <a:endParaRPr lang="en-US" sz="1000"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HIT tool starts with modeling.</a:t>
            </a:r>
            <a:r>
              <a:rPr lang="en-US" baseline="0" dirty="0" smtClean="0"/>
              <a:t>  The HIT model is relatively simple, with a small number of inputs.  Its simplicity makes it easier to run the model in multiple locations, but also limits the data output.  HIT is the product of two models, RUSLE, which estimates soil erosion, and SEDOMD, which estimates the delivery of eroded soil to the stream network.  This is done within a GIS grid, or raster, environment which allows us to come up with an estimate of sediment loading for each 100 square meter or 900 square meter (depending on the resolution of available data).</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project did not pioneer the HIT modeling</a:t>
            </a:r>
            <a:r>
              <a:rPr lang="en-US" baseline="0" dirty="0" smtClean="0"/>
              <a:t> approach, but built off of previous efforts.  </a:t>
            </a:r>
            <a:r>
              <a:rPr lang="en-US" dirty="0" smtClean="0"/>
              <a:t>The Army Corps</a:t>
            </a:r>
            <a:r>
              <a:rPr lang="en-US" baseline="0" dirty="0" smtClean="0"/>
              <a:t> of Engineers has long had an interest in keeping sediment on the land, since they’re responsible for dredging many of the Great Lake harbors.  The Corps worked with IWR in estimating sediment loading, using the HIT approach, throughout the Great Lakes basin.  This was a coarse analysis, but got the ball rolling for future studies.</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effort</a:t>
            </a:r>
            <a:r>
              <a:rPr lang="en-US" baseline="0" dirty="0" smtClean="0"/>
              <a:t> resulted in estimates of sediment loading from each of the Great Lakes Basin 8-digit watersheds.  This helped the Corps with prioritizing efforts at the macro scale, but the results were not at scales more practical for organizations with the means to install conservation practices.  Conservation districts would benefit from finer 10 and 12 digit watershed-scale data, and especially field-level data.</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CIG project that I’m presenting here built off this previous effort, but in a more thorough way.  Our</a:t>
            </a:r>
            <a:r>
              <a:rPr lang="en-US" baseline="0" dirty="0" smtClean="0"/>
              <a:t> project linked federal, state, university, and local agencies in an effort target conservation practices, taking advantage of the strengths of each team member.</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three Michigan</a:t>
            </a:r>
            <a:r>
              <a:rPr lang="en-US" baseline="0" dirty="0" smtClean="0"/>
              <a:t> watersheds were selected because farmers in areas are eligible for conservation programs, CRP and CREP.</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These</a:t>
            </a:r>
            <a:r>
              <a:rPr lang="en-US" baseline="0" dirty="0" smtClean="0"/>
              <a:t> are 12-digit sub-watersheds of the Lower Maumee River watershed in NW Ohio.  This is not part of the CIG study area, but it illustrates two points.  First, there are multiple agencies and interests in modeling sediment loading around the GLB.  EPA Region V, ACOE, Ohio NRCS, and other have had interest in the Maumee, and IWR has collaborated by developing HIT models for the Lower Maumee.  Two, this map and subsequent table show the benefits that can be realized by targeting watersheds.  </a:t>
            </a:r>
            <a:r>
              <a:rPr lang="en-US" baseline="0" smtClean="0"/>
              <a:t>Note </a:t>
            </a:r>
            <a:r>
              <a:rPr lang="en-US" baseline="0" dirty="0" err="1" smtClean="0"/>
              <a:t>s</a:t>
            </a:r>
            <a:r>
              <a:rPr lang="en-US" baseline="0" smtClean="0"/>
              <a:t>ub-watersheds </a:t>
            </a:r>
            <a:r>
              <a:rPr lang="en-US" baseline="0" dirty="0" smtClean="0"/>
              <a:t>#7 and #39.</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Once a sub-watershed has been targeted, the next question</a:t>
            </a:r>
            <a:r>
              <a:rPr lang="en-US" baseline="0" dirty="0" smtClean="0"/>
              <a:t> is where within the watershed should be targeted.  Since the HIT analysis is spatially explicit, we can identify raster cells with higher values for sediment loading.  Thus enabling a group like the Clinton County conservation district to prioritize efforts at a macro scale (sub-watersheds) and the micro scale (fields), which they did in the development of their recent 319 plan.</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Thus far I’ve covered how the HIT model works and what kind of outputs</a:t>
            </a:r>
            <a:r>
              <a:rPr lang="en-US" baseline="0" dirty="0" smtClean="0"/>
              <a:t> it produces.  But the goal of this project was not to simply generate models, but make the data available in a readily accessible format.  So we built a website around the modeling that allows users to generate tables like those we saw for the Lower Maumee, and maps like the one on the previous slide.  Here is screen capture.</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development of the on-line</a:t>
            </a:r>
            <a:r>
              <a:rPr lang="en-US" baseline="0" dirty="0" smtClean="0"/>
              <a:t> system was a team effort.  The Conservation District t</a:t>
            </a:r>
            <a:r>
              <a:rPr lang="en-US" dirty="0" smtClean="0"/>
              <a:t>echnicians</a:t>
            </a:r>
            <a:r>
              <a:rPr lang="en-US" baseline="0" dirty="0" smtClean="0"/>
              <a:t> provided feedback on what would make the tool more useful.  These included expanding the list of BMP options, additional data layers in Digital Watershed, and a more interactive selection of watersheds to view data for.  MDA and the CD Technicians also held public meetings where they presented the tool to local agencies (such as drain commissioners), watershed groups, and citizens.  This also provided useful feedback to IWR as it refined HIT, but more importantly helped us define the best audience for HIT.  We originally envisioned designing a tool that catered to federal, state, and local governments, watershed groups, and farmers.  But in our early conversations with farmers we realized that showing them where high-risk areas were in their field wasn’t news.  They already knew where the problem areas were.  They also did not have much interest in seeing BMP scenarios over a watershed, their primary interest is their fields.  So that forced us to tailor the tool for use by the other groups I mentioned (federal, state, local </a:t>
            </a:r>
            <a:r>
              <a:rPr lang="en-US" baseline="0" dirty="0" err="1" smtClean="0"/>
              <a:t>gov’ts</a:t>
            </a:r>
            <a:r>
              <a:rPr lang="en-US" baseline="0" dirty="0" smtClean="0"/>
              <a:t>, and watershed groups).  The technicians also helped by conducting thorough field evaluations of the model’s characterization of the landscape.</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a:t>
            </a:r>
            <a:r>
              <a:rPr lang="en-US" baseline="0" dirty="0" smtClean="0"/>
              <a:t> technicians visited over 200 fields across the three pilot watersheds and assessed how well HIT was evaluating those fields.  They printed high-risk maps from Digital Watershed, visited the selected sites, and filled out an on-line evaluation form IWR developed.</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results showed that roughly 70% of the time HIT had correctly characterized the landscape.</a:t>
            </a:r>
            <a:r>
              <a:rPr lang="en-US" baseline="0" dirty="0" smtClean="0"/>
              <a:t>  Here are some examples.</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Of course, I cherry-picked</a:t>
            </a:r>
            <a:r>
              <a:rPr lang="en-US" baseline="0" dirty="0" smtClean="0"/>
              <a:t> some of the better locations and pictures to show here.  We did explore the 30% of misses to try and determine why HIT erred.  Coarse land-cover was the primary reason for most of these misses.  The </a:t>
            </a:r>
            <a:r>
              <a:rPr lang="en-US" baseline="0" dirty="0" err="1" smtClean="0"/>
              <a:t>landcover</a:t>
            </a:r>
            <a:r>
              <a:rPr lang="en-US" baseline="0" dirty="0" smtClean="0"/>
              <a:t> input was NLCD (30-meter) which is fine for characterizing farm fields; we can be fairly confident that the cells in the middle of the field are correctly characterized as agriculture.  The problem arises when the </a:t>
            </a:r>
            <a:r>
              <a:rPr lang="en-US" baseline="0" dirty="0" err="1" smtClean="0"/>
              <a:t>ag</a:t>
            </a:r>
            <a:r>
              <a:rPr lang="en-US" baseline="0" dirty="0" smtClean="0"/>
              <a:t>-land cells abut road cells.  It may say that a road is 30 meters wide and is immediately adjacent to agriculture.  This leaves out the drainage ditch between the road and field, which is the key geographic feature in the scene.  Another problem, is that in flatter locations it can be hard for a DEM to accurately represent flow-direction.  Our models may have predicted flow from a field heading east, when in fact it was heading west.  Therefore our efforts to locate gullies on the fields eastern edge proved fruitless.</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a:t>
            </a:r>
            <a:r>
              <a:rPr lang="en-US" baseline="0" dirty="0" smtClean="0"/>
              <a:t> the field evaluations were an assessment of one aspect of HIT, the spatially explicit high-risk maps.  MDA and the technicians are also evaluating HIT ranking of sub-watersheds by sediment loading.  We used HIT to estimate sediment loading at the NHD Plus catchment scale (average size of 700 acres).  The technicians each selected 10 catchments to sample.  They waited for rain, and gathered samples from each location.  They did this for 5 different rain events.  They shipped their samples to MDA, who is currently working with Michigan DEQ to analyze the samples.  Once the results come back, IWR will perform a Spearman Rank correlation to see how well HIT ranked the catchments.  Note, we’re not going to statistically analyze the exact measurements of sediment, but just the ranks.  I’ll come back to this in a moment.</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You may recall from the slide of the Lower Maumee that Toledo was shaded</a:t>
            </a:r>
            <a:r>
              <a:rPr lang="en-US" baseline="0" dirty="0" smtClean="0"/>
              <a:t> as low for sediment loading.  This is probably true, but should not imply that Toledo does not contribute nutrients to the Maumee.  RUSLE isn’t going to help you in downtown Toledo, unless green roofing starts to kick in.  There are models out there that allow for urban analysis, such as L-THIA from Purdue University, which we have actually begun to interface with in other projects.  RUSLE only measures one form of erosion, sheet.  It’s estimates do not include sediments from gully erosion, bank erosion, or wind erosion; which can be significant sources depending on the location.  This is why we recommend the use of HIT estimates of sediment loading at a watershed scale for relative comparisons only.  It’s probable that any HIT estimate of sediment loading for a watershed is below the actual amount.  But this does not limit a users ability to utilize HIT to target practices within a watershed.  Even though the raw numbers may not quantify gully erosion, the field evaluations have shown that the model’s spatially explicit results can help you locate them.</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a:t>
            </a:r>
            <a:r>
              <a:rPr lang="en-US" baseline="0" dirty="0" smtClean="0"/>
              <a:t> stated goal in the CIG’s original proposal was to develop a program that could be expandable.  Using all that we’ve learned from this CIG project, and all of the feedback that we’ve received, we have begun to do that.  We’re tentatively calling it HIT 2.0.  It’s built on Microsoft’s Bing Maps (Used to be Live Maps, but MS inexplicably renamed it Bing, to go along with its new search engine – But It’s Not Google).  HIT 2.0 allows for analysis across the Great Lakes Basin.  </a:t>
            </a:r>
            <a:r>
              <a:rPr lang="en-US" dirty="0" smtClean="0"/>
              <a:t>Note:  I understand that we’re leaving out Canada, but thus far the data necessary for modeling has only been readily</a:t>
            </a:r>
            <a:r>
              <a:rPr lang="en-US" baseline="0" dirty="0" smtClean="0"/>
              <a:t> available for the U.S. side.  And allows for analysis at all watershed scales, 2-digit through 12.</a:t>
            </a:r>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DE6F9DF-081A-4A6C-854E-390EB35CEE94}" type="slidenum">
              <a:rPr lang="en-US" smtClean="0"/>
              <a:pPr>
                <a:defRPr/>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41F398D-6222-43B4-A42B-0158BF70DA82}" type="slidenum">
              <a:rPr lang="en-US"/>
              <a:pPr>
                <a:defRPr/>
              </a:pPr>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9E4EAFD-0472-4379-99C8-CC7423DA931D}" type="slidenum">
              <a:rPr lang="en-US"/>
              <a:pPr>
                <a:defRPr/>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35EC0-3746-4B4C-9B1F-A453B67D5DF5}" type="slidenum">
              <a:rPr lang="en-US"/>
              <a:pPr>
                <a:defRPr/>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A6C6B00-C446-4878-96E6-73B36493E572}" type="slidenum">
              <a:rPr lang="en-US"/>
              <a:pPr>
                <a:defRPr/>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AB842CF-442C-47C8-81E0-4AB4E49C04CA}" type="slidenum">
              <a:rPr lang="en-US"/>
              <a:pPr>
                <a:defRPr/>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6050600-E4AD-49CB-B8FC-DFE086C0E0F7}" type="slidenum">
              <a:rPr lang="en-US"/>
              <a:pPr>
                <a:defRPr/>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9D21B9E-6FAC-49C5-85B6-31CB2DA6A377}" type="slidenum">
              <a:rPr lang="en-US"/>
              <a:pPr>
                <a:defRPr/>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D0F5D2C-AE90-4AF9-92B2-CBFD60C9052D}" type="slidenum">
              <a:rPr lang="en-US"/>
              <a:pPr>
                <a:defRPr/>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11DDB17-CF1A-4E23-88F9-468FFA267626}" type="slidenum">
              <a:rPr lang="en-US"/>
              <a:pPr>
                <a:defRPr/>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0DFE0D6-2737-467A-A4B4-BC38188AF1E2}" type="slidenum">
              <a:rPr lang="en-US"/>
              <a:pPr>
                <a:defRPr/>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1CE751B-7694-4BCD-9AD3-2AB1FB33BE5B}" type="slidenum">
              <a:rPr lang="en-US"/>
              <a:pPr>
                <a:defRPr/>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970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2970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29702" name="Rectangle 6"/>
          <p:cNvSpPr>
            <a:spLocks noGrp="1" noChangeArrowheads="1"/>
          </p:cNvSpPr>
          <p:nvPr>
            <p:ph type="sldNum" sz="quarter" idx="4"/>
          </p:nvPr>
        </p:nvSpPr>
        <p:spPr bwMode="auto">
          <a:xfrm>
            <a:off x="7010400" y="60960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b="1"/>
            </a:lvl1pPr>
          </a:lstStyle>
          <a:p>
            <a:pPr>
              <a:defRPr/>
            </a:pPr>
            <a:fld id="{D629562F-EF23-401F-B1A8-BEC18A0F4C8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p:fade/>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6.gi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oleObject" Target="../embeddings/Microsoft_Office_Excel_97-2003_Worksheet1.xls"/></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4.jpeg"/><Relationship Id="rId11" Type="http://schemas.openxmlformats.org/officeDocument/2006/relationships/image" Target="../media/image39.jpeg"/><Relationship Id="rId5" Type="http://schemas.openxmlformats.org/officeDocument/2006/relationships/image" Target="../media/image33.jpeg"/><Relationship Id="rId10" Type="http://schemas.openxmlformats.org/officeDocument/2006/relationships/image" Target="../media/image38.jpeg"/><Relationship Id="rId4" Type="http://schemas.openxmlformats.org/officeDocument/2006/relationships/image" Target="../media/image32.jpeg"/><Relationship Id="rId9" Type="http://schemas.openxmlformats.org/officeDocument/2006/relationships/image" Target="../media/image37.jpeg"/></Relationships>
</file>

<file path=ppt/slides/_rels/slide2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2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jpeg"/></Relationships>
</file>

<file path=ppt/slides/_rels/slide2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Number Placeholder 5"/>
          <p:cNvSpPr>
            <a:spLocks noGrp="1"/>
          </p:cNvSpPr>
          <p:nvPr>
            <p:ph type="sldNum" sz="quarter" idx="12"/>
          </p:nvPr>
        </p:nvSpPr>
        <p:spPr>
          <a:noFill/>
        </p:spPr>
        <p:txBody>
          <a:bodyPr/>
          <a:lstStyle/>
          <a:p>
            <a:fld id="{65897BB0-9191-4DCF-B72A-1BB57C2153BB}" type="slidenum">
              <a:rPr lang="en-US" smtClean="0"/>
              <a:pPr/>
              <a:t>1</a:t>
            </a:fld>
            <a:endParaRPr lang="en-US" smtClean="0"/>
          </a:p>
        </p:txBody>
      </p:sp>
      <p:sp>
        <p:nvSpPr>
          <p:cNvPr id="2051" name="Rectangle 2"/>
          <p:cNvSpPr>
            <a:spLocks noGrp="1" noChangeArrowheads="1"/>
          </p:cNvSpPr>
          <p:nvPr>
            <p:ph type="title"/>
          </p:nvPr>
        </p:nvSpPr>
        <p:spPr>
          <a:xfrm>
            <a:off x="1903352" y="127412"/>
            <a:ext cx="6311900" cy="520700"/>
          </a:xfrm>
          <a:noFill/>
        </p:spPr>
        <p:txBody>
          <a:bodyPr/>
          <a:lstStyle/>
          <a:p>
            <a:pPr eaLnBrk="1" hangingPunct="1"/>
            <a:r>
              <a:rPr lang="en-US" sz="3200" b="1" dirty="0" smtClean="0">
                <a:solidFill>
                  <a:srgbClr val="E8A73E"/>
                </a:solidFill>
              </a:rPr>
              <a:t>High Impact Targeting (HIT)</a:t>
            </a:r>
          </a:p>
        </p:txBody>
      </p:sp>
      <p:sp>
        <p:nvSpPr>
          <p:cNvPr id="2052" name="Text Box 3"/>
          <p:cNvSpPr txBox="1">
            <a:spLocks noChangeArrowheads="1"/>
          </p:cNvSpPr>
          <p:nvPr/>
        </p:nvSpPr>
        <p:spPr bwMode="auto">
          <a:xfrm>
            <a:off x="1109663" y="923925"/>
            <a:ext cx="7648575" cy="646331"/>
          </a:xfrm>
          <a:prstGeom prst="rect">
            <a:avLst/>
          </a:prstGeom>
          <a:noFill/>
          <a:ln w="9525">
            <a:noFill/>
            <a:miter lim="800000"/>
            <a:headEnd/>
            <a:tailEnd/>
          </a:ln>
        </p:spPr>
        <p:txBody>
          <a:bodyPr>
            <a:spAutoFit/>
          </a:bodyPr>
          <a:lstStyle/>
          <a:p>
            <a:pPr algn="ctr">
              <a:spcBef>
                <a:spcPct val="50000"/>
              </a:spcBef>
            </a:pPr>
            <a:r>
              <a:rPr lang="en-US" b="1" dirty="0" smtClean="0"/>
              <a:t>“Applying </a:t>
            </a:r>
            <a:r>
              <a:rPr lang="en-US" b="1" dirty="0"/>
              <a:t>Conservation Tools to the Worst Erosion Areas for Maximum Sediment/Nutrient Reductions“</a:t>
            </a:r>
          </a:p>
        </p:txBody>
      </p:sp>
      <p:pic>
        <p:nvPicPr>
          <p:cNvPr id="2056" name="Picture 8"/>
          <p:cNvPicPr>
            <a:picLocks noChangeAspect="1" noChangeArrowheads="1"/>
          </p:cNvPicPr>
          <p:nvPr/>
        </p:nvPicPr>
        <p:blipFill>
          <a:blip r:embed="rId3" cstate="print"/>
          <a:srcRect/>
          <a:stretch>
            <a:fillRect/>
          </a:stretch>
        </p:blipFill>
        <p:spPr bwMode="auto">
          <a:xfrm>
            <a:off x="2672891" y="3260239"/>
            <a:ext cx="4868862" cy="3013307"/>
          </a:xfrm>
          <a:prstGeom prst="rect">
            <a:avLst/>
          </a:prstGeom>
          <a:noFill/>
          <a:ln w="127000">
            <a:solidFill>
              <a:srgbClr val="0000FF"/>
            </a:solidFill>
            <a:miter lim="800000"/>
            <a:headEnd/>
            <a:tailEnd/>
          </a:ln>
        </p:spPr>
      </p:pic>
      <p:sp>
        <p:nvSpPr>
          <p:cNvPr id="9" name="Text Box 3"/>
          <p:cNvSpPr txBox="1">
            <a:spLocks noChangeArrowheads="1"/>
          </p:cNvSpPr>
          <p:nvPr/>
        </p:nvSpPr>
        <p:spPr bwMode="auto">
          <a:xfrm>
            <a:off x="1262063" y="1626521"/>
            <a:ext cx="7648575" cy="1384995"/>
          </a:xfrm>
          <a:prstGeom prst="rect">
            <a:avLst/>
          </a:prstGeom>
          <a:noFill/>
          <a:ln w="9525">
            <a:noFill/>
            <a:miter lim="800000"/>
            <a:headEnd/>
            <a:tailEnd/>
          </a:ln>
        </p:spPr>
        <p:txBody>
          <a:bodyPr>
            <a:spAutoFit/>
          </a:bodyPr>
          <a:lstStyle/>
          <a:p>
            <a:pPr algn="ctr">
              <a:spcBef>
                <a:spcPct val="50000"/>
              </a:spcBef>
            </a:pPr>
            <a:r>
              <a:rPr lang="en-US" sz="1200" dirty="0" smtClean="0"/>
              <a:t>Glenn O’Neil:  Institute of Water Research – Michigan State University</a:t>
            </a:r>
          </a:p>
          <a:p>
            <a:pPr algn="ctr">
              <a:spcBef>
                <a:spcPct val="50000"/>
              </a:spcBef>
            </a:pPr>
            <a:r>
              <a:rPr lang="en-US" sz="1200" dirty="0" smtClean="0"/>
              <a:t>Teresa </a:t>
            </a:r>
            <a:r>
              <a:rPr lang="en-US" sz="1200" dirty="0" err="1" smtClean="0"/>
              <a:t>Salveta</a:t>
            </a:r>
            <a:r>
              <a:rPr lang="en-US" sz="1200" dirty="0" smtClean="0"/>
              <a:t>:  Michigan Department of Agriculture</a:t>
            </a:r>
          </a:p>
          <a:p>
            <a:pPr algn="ctr">
              <a:spcBef>
                <a:spcPct val="50000"/>
              </a:spcBef>
            </a:pPr>
            <a:r>
              <a:rPr lang="en-US" sz="1200" dirty="0" smtClean="0"/>
              <a:t>Tom </a:t>
            </a:r>
            <a:r>
              <a:rPr lang="en-US" sz="1200" dirty="0" err="1" smtClean="0"/>
              <a:t>Hanselman</a:t>
            </a:r>
            <a:r>
              <a:rPr lang="en-US" sz="1200" dirty="0" smtClean="0"/>
              <a:t>:  Huron County Conservation District</a:t>
            </a:r>
          </a:p>
          <a:p>
            <a:pPr algn="ctr">
              <a:spcBef>
                <a:spcPct val="50000"/>
              </a:spcBef>
            </a:pPr>
            <a:r>
              <a:rPr lang="en-US" sz="1200" dirty="0" smtClean="0"/>
              <a:t>Lauren Lindeman:  Lenawee County Conservation District</a:t>
            </a:r>
          </a:p>
          <a:p>
            <a:pPr algn="ctr">
              <a:spcBef>
                <a:spcPct val="50000"/>
              </a:spcBef>
            </a:pPr>
            <a:r>
              <a:rPr lang="en-US" sz="1200" dirty="0" smtClean="0"/>
              <a:t>John Switzer:  Clinton County Conservation District</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Slide Number Placeholder 3"/>
          <p:cNvSpPr>
            <a:spLocks noGrp="1"/>
          </p:cNvSpPr>
          <p:nvPr>
            <p:ph type="sldNum" sz="quarter" idx="12"/>
          </p:nvPr>
        </p:nvSpPr>
        <p:spPr>
          <a:noFill/>
        </p:spPr>
        <p:txBody>
          <a:bodyPr/>
          <a:lstStyle/>
          <a:p>
            <a:fld id="{7550500C-27EE-4165-BE7B-62A97C3159BE}" type="slidenum">
              <a:rPr lang="en-US" smtClean="0"/>
              <a:pPr/>
              <a:t>2</a:t>
            </a:fld>
            <a:endParaRPr lang="en-US" dirty="0" smtClean="0"/>
          </a:p>
        </p:txBody>
      </p:sp>
      <p:sp>
        <p:nvSpPr>
          <p:cNvPr id="151575" name="Rectangle 23"/>
          <p:cNvSpPr>
            <a:spLocks noGrp="1" noChangeArrowheads="1"/>
          </p:cNvSpPr>
          <p:nvPr>
            <p:ph type="title" idx="4294967295"/>
          </p:nvPr>
        </p:nvSpPr>
        <p:spPr>
          <a:xfrm>
            <a:off x="1892300" y="122904"/>
            <a:ext cx="5867400" cy="609600"/>
          </a:xfrm>
        </p:spPr>
        <p:txBody>
          <a:bodyPr/>
          <a:lstStyle/>
          <a:p>
            <a:pPr eaLnBrk="1" hangingPunct="1"/>
            <a:r>
              <a:rPr lang="en-US" sz="3200" b="1" dirty="0" smtClean="0">
                <a:solidFill>
                  <a:srgbClr val="E8A73E"/>
                </a:solidFill>
              </a:rPr>
              <a:t>HIT Model</a:t>
            </a:r>
          </a:p>
        </p:txBody>
      </p:sp>
      <p:grpSp>
        <p:nvGrpSpPr>
          <p:cNvPr id="48" name="Group 47"/>
          <p:cNvGrpSpPr/>
          <p:nvPr/>
        </p:nvGrpSpPr>
        <p:grpSpPr>
          <a:xfrm>
            <a:off x="587375" y="863599"/>
            <a:ext cx="8455025" cy="5040313"/>
            <a:chOff x="180975" y="963613"/>
            <a:chExt cx="8886825" cy="5448300"/>
          </a:xfrm>
        </p:grpSpPr>
        <p:sp>
          <p:nvSpPr>
            <p:cNvPr id="4099" name="AutoShape 2"/>
            <p:cNvSpPr>
              <a:spLocks noChangeArrowheads="1"/>
            </p:cNvSpPr>
            <p:nvPr/>
          </p:nvSpPr>
          <p:spPr bwMode="auto">
            <a:xfrm>
              <a:off x="293688" y="5337175"/>
              <a:ext cx="1816100" cy="396875"/>
            </a:xfrm>
            <a:prstGeom prst="parallelogram">
              <a:avLst>
                <a:gd name="adj" fmla="val 114400"/>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Rainfall</a:t>
              </a:r>
            </a:p>
          </p:txBody>
        </p:sp>
        <p:sp>
          <p:nvSpPr>
            <p:cNvPr id="4100" name="AutoShape 3"/>
            <p:cNvSpPr>
              <a:spLocks noChangeArrowheads="1"/>
            </p:cNvSpPr>
            <p:nvPr/>
          </p:nvSpPr>
          <p:spPr bwMode="auto">
            <a:xfrm>
              <a:off x="257175" y="5900738"/>
              <a:ext cx="1822450" cy="404812"/>
            </a:xfrm>
            <a:prstGeom prst="parallelogram">
              <a:avLst>
                <a:gd name="adj" fmla="val 112549"/>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Support</a:t>
              </a:r>
            </a:p>
            <a:p>
              <a:pPr algn="ctr"/>
              <a:r>
                <a:rPr lang="en-US" sz="1200" b="1">
                  <a:solidFill>
                    <a:srgbClr val="FFE59B"/>
                  </a:solidFill>
                </a:rPr>
                <a:t>Practice</a:t>
              </a:r>
            </a:p>
          </p:txBody>
        </p:sp>
        <p:sp>
          <p:nvSpPr>
            <p:cNvPr id="4101" name="AutoShape 4"/>
            <p:cNvSpPr>
              <a:spLocks noChangeArrowheads="1"/>
            </p:cNvSpPr>
            <p:nvPr/>
          </p:nvSpPr>
          <p:spPr bwMode="auto">
            <a:xfrm>
              <a:off x="381000" y="1143000"/>
              <a:ext cx="1295400" cy="381000"/>
            </a:xfrm>
            <a:prstGeom prst="parallelogram">
              <a:avLst>
                <a:gd name="adj" fmla="val 85000"/>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Land Cover</a:t>
              </a:r>
            </a:p>
          </p:txBody>
        </p:sp>
        <p:sp>
          <p:nvSpPr>
            <p:cNvPr id="4102" name="AutoShape 5"/>
            <p:cNvSpPr>
              <a:spLocks noChangeArrowheads="1"/>
            </p:cNvSpPr>
            <p:nvPr/>
          </p:nvSpPr>
          <p:spPr bwMode="auto">
            <a:xfrm>
              <a:off x="330200" y="4219575"/>
              <a:ext cx="1970088" cy="439738"/>
            </a:xfrm>
            <a:prstGeom prst="parallelogram">
              <a:avLst>
                <a:gd name="adj" fmla="val 112004"/>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Landuse/Tillage</a:t>
              </a:r>
            </a:p>
          </p:txBody>
        </p:sp>
        <p:sp>
          <p:nvSpPr>
            <p:cNvPr id="4103" name="AutoShape 6"/>
            <p:cNvSpPr>
              <a:spLocks noChangeArrowheads="1"/>
            </p:cNvSpPr>
            <p:nvPr/>
          </p:nvSpPr>
          <p:spPr bwMode="auto">
            <a:xfrm>
              <a:off x="246063" y="1851025"/>
              <a:ext cx="1262062" cy="342900"/>
            </a:xfrm>
            <a:prstGeom prst="parallelogram">
              <a:avLst>
                <a:gd name="adj" fmla="val 92014"/>
              </a:avLst>
            </a:prstGeom>
            <a:solidFill>
              <a:srgbClr val="009999"/>
            </a:solidFill>
            <a:ln w="9525">
              <a:solidFill>
                <a:schemeClr val="tx1"/>
              </a:solidFill>
              <a:miter lim="800000"/>
              <a:headEnd/>
              <a:tailEnd/>
            </a:ln>
          </p:spPr>
          <p:txBody>
            <a:bodyPr wrap="none" anchor="ctr"/>
            <a:lstStyle/>
            <a:p>
              <a:pPr algn="ctr"/>
              <a:r>
                <a:rPr lang="en-US" sz="1200" b="1" dirty="0">
                  <a:solidFill>
                    <a:srgbClr val="FFE59B"/>
                  </a:solidFill>
                </a:rPr>
                <a:t>Soil Clay</a:t>
              </a:r>
            </a:p>
            <a:p>
              <a:pPr algn="ctr"/>
              <a:r>
                <a:rPr lang="en-US" sz="1200" b="1" dirty="0">
                  <a:solidFill>
                    <a:srgbClr val="FFE59B"/>
                  </a:solidFill>
                </a:rPr>
                <a:t>Content</a:t>
              </a:r>
            </a:p>
          </p:txBody>
        </p:sp>
        <p:sp>
          <p:nvSpPr>
            <p:cNvPr id="4104" name="AutoShape 7"/>
            <p:cNvSpPr>
              <a:spLocks noChangeArrowheads="1"/>
            </p:cNvSpPr>
            <p:nvPr/>
          </p:nvSpPr>
          <p:spPr bwMode="auto">
            <a:xfrm>
              <a:off x="325438" y="4819650"/>
              <a:ext cx="1828800" cy="404813"/>
            </a:xfrm>
            <a:prstGeom prst="parallelogram">
              <a:avLst>
                <a:gd name="adj" fmla="val 112941"/>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Soil Erodibility</a:t>
              </a:r>
            </a:p>
          </p:txBody>
        </p:sp>
        <p:sp>
          <p:nvSpPr>
            <p:cNvPr id="4105" name="AutoShape 8"/>
            <p:cNvSpPr>
              <a:spLocks noChangeArrowheads="1"/>
            </p:cNvSpPr>
            <p:nvPr/>
          </p:nvSpPr>
          <p:spPr bwMode="auto">
            <a:xfrm>
              <a:off x="180975" y="2566988"/>
              <a:ext cx="1268413" cy="357187"/>
            </a:xfrm>
            <a:prstGeom prst="parallelogram">
              <a:avLst>
                <a:gd name="adj" fmla="val 88778"/>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DEM</a:t>
              </a:r>
            </a:p>
          </p:txBody>
        </p:sp>
        <p:sp>
          <p:nvSpPr>
            <p:cNvPr id="151561" name="AutoShape 9"/>
            <p:cNvSpPr>
              <a:spLocks noChangeArrowheads="1"/>
            </p:cNvSpPr>
            <p:nvPr/>
          </p:nvSpPr>
          <p:spPr bwMode="auto">
            <a:xfrm>
              <a:off x="6386513" y="1662113"/>
              <a:ext cx="1676400" cy="685800"/>
            </a:xfrm>
            <a:prstGeom prst="parallelogram">
              <a:avLst>
                <a:gd name="adj" fmla="val 61111"/>
              </a:avLst>
            </a:prstGeom>
            <a:solidFill>
              <a:srgbClr val="00CC99"/>
            </a:solidFill>
            <a:ln w="9525">
              <a:solidFill>
                <a:schemeClr val="tx1"/>
              </a:solidFill>
              <a:miter lim="800000"/>
              <a:headEnd/>
              <a:tailEnd/>
            </a:ln>
          </p:spPr>
          <p:txBody>
            <a:bodyPr wrap="none" anchor="ctr"/>
            <a:lstStyle/>
            <a:p>
              <a:pPr algn="ctr"/>
              <a:r>
                <a:rPr lang="en-US" b="1">
                  <a:solidFill>
                    <a:srgbClr val="FFE59B"/>
                  </a:solidFill>
                </a:rPr>
                <a:t>  </a:t>
              </a:r>
              <a:r>
                <a:rPr lang="en-US" b="1">
                  <a:solidFill>
                    <a:schemeClr val="bg1"/>
                  </a:solidFill>
                </a:rPr>
                <a:t>Delivery </a:t>
              </a:r>
            </a:p>
            <a:p>
              <a:pPr algn="ctr"/>
              <a:r>
                <a:rPr lang="en-US" b="1">
                  <a:solidFill>
                    <a:schemeClr val="bg1"/>
                  </a:solidFill>
                </a:rPr>
                <a:t>Ratio</a:t>
              </a:r>
            </a:p>
          </p:txBody>
        </p:sp>
        <p:sp>
          <p:nvSpPr>
            <p:cNvPr id="151562" name="AutoShape 10"/>
            <p:cNvSpPr>
              <a:spLocks noChangeArrowheads="1"/>
            </p:cNvSpPr>
            <p:nvPr/>
          </p:nvSpPr>
          <p:spPr bwMode="auto">
            <a:xfrm>
              <a:off x="6102350" y="4810125"/>
              <a:ext cx="1828800" cy="685800"/>
            </a:xfrm>
            <a:prstGeom prst="parallelogram">
              <a:avLst>
                <a:gd name="adj" fmla="val 66667"/>
              </a:avLst>
            </a:prstGeom>
            <a:solidFill>
              <a:srgbClr val="00CC99"/>
            </a:solidFill>
            <a:ln w="9525">
              <a:solidFill>
                <a:schemeClr val="tx1"/>
              </a:solidFill>
              <a:miter lim="800000"/>
              <a:headEnd/>
              <a:tailEnd/>
            </a:ln>
          </p:spPr>
          <p:txBody>
            <a:bodyPr wrap="none" anchor="ctr"/>
            <a:lstStyle/>
            <a:p>
              <a:pPr algn="ctr"/>
              <a:r>
                <a:rPr lang="en-US" b="1">
                  <a:solidFill>
                    <a:schemeClr val="bg1"/>
                  </a:solidFill>
                </a:rPr>
                <a:t>Soil </a:t>
              </a:r>
            </a:p>
            <a:p>
              <a:pPr algn="ctr"/>
              <a:r>
                <a:rPr lang="en-US" b="1">
                  <a:solidFill>
                    <a:schemeClr val="bg1"/>
                  </a:solidFill>
                </a:rPr>
                <a:t>Erosion</a:t>
              </a:r>
            </a:p>
          </p:txBody>
        </p:sp>
        <p:sp>
          <p:nvSpPr>
            <p:cNvPr id="151563" name="Rectangle 11"/>
            <p:cNvSpPr>
              <a:spLocks noChangeArrowheads="1"/>
            </p:cNvSpPr>
            <p:nvPr/>
          </p:nvSpPr>
          <p:spPr bwMode="auto">
            <a:xfrm>
              <a:off x="7696200" y="3227388"/>
              <a:ext cx="1371600" cy="609600"/>
            </a:xfrm>
            <a:prstGeom prst="rect">
              <a:avLst/>
            </a:prstGeom>
            <a:solidFill>
              <a:srgbClr val="00CC99"/>
            </a:solidFill>
            <a:ln w="9525">
              <a:solidFill>
                <a:srgbClr val="00CC99"/>
              </a:solidFill>
              <a:miter lim="800000"/>
              <a:headEnd/>
              <a:tailEnd/>
            </a:ln>
            <a:effectLst>
              <a:outerShdw dist="107763" dir="2700000" algn="ctr" rotWithShape="0">
                <a:schemeClr val="bg2"/>
              </a:outerShdw>
            </a:effectLst>
          </p:spPr>
          <p:txBody>
            <a:bodyPr wrap="none" anchor="ctr"/>
            <a:lstStyle/>
            <a:p>
              <a:pPr algn="ctr">
                <a:defRPr/>
              </a:pPr>
              <a:r>
                <a:rPr lang="en-US" b="1">
                  <a:solidFill>
                    <a:schemeClr val="bg1"/>
                  </a:solidFill>
                </a:rPr>
                <a:t>Sediment</a:t>
              </a:r>
            </a:p>
            <a:p>
              <a:pPr algn="ctr">
                <a:defRPr/>
              </a:pPr>
              <a:r>
                <a:rPr lang="en-US" b="1">
                  <a:solidFill>
                    <a:schemeClr val="bg1"/>
                  </a:solidFill>
                </a:rPr>
                <a:t> Yield</a:t>
              </a:r>
            </a:p>
          </p:txBody>
        </p:sp>
        <p:sp>
          <p:nvSpPr>
            <p:cNvPr id="151564" name="Line 12"/>
            <p:cNvSpPr>
              <a:spLocks noChangeShapeType="1"/>
            </p:cNvSpPr>
            <p:nvPr/>
          </p:nvSpPr>
          <p:spPr bwMode="auto">
            <a:xfrm flipV="1">
              <a:off x="3635375" y="1990725"/>
              <a:ext cx="782638" cy="1588"/>
            </a:xfrm>
            <a:prstGeom prst="line">
              <a:avLst/>
            </a:prstGeom>
            <a:noFill/>
            <a:ln w="9525">
              <a:solidFill>
                <a:schemeClr val="tx1"/>
              </a:solidFill>
              <a:round/>
              <a:headEnd/>
              <a:tailEnd type="triangle" w="med" len="med"/>
            </a:ln>
          </p:spPr>
          <p:txBody>
            <a:bodyPr/>
            <a:lstStyle/>
            <a:p>
              <a:endParaRPr lang="en-US"/>
            </a:p>
          </p:txBody>
        </p:sp>
        <p:sp>
          <p:nvSpPr>
            <p:cNvPr id="151565" name="Line 13"/>
            <p:cNvSpPr>
              <a:spLocks noChangeShapeType="1"/>
            </p:cNvSpPr>
            <p:nvPr/>
          </p:nvSpPr>
          <p:spPr bwMode="auto">
            <a:xfrm>
              <a:off x="3724275" y="1354138"/>
              <a:ext cx="936625" cy="447675"/>
            </a:xfrm>
            <a:prstGeom prst="line">
              <a:avLst/>
            </a:prstGeom>
            <a:noFill/>
            <a:ln w="9525">
              <a:solidFill>
                <a:schemeClr val="tx1"/>
              </a:solidFill>
              <a:round/>
              <a:headEnd/>
              <a:tailEnd type="triangle" w="med" len="med"/>
            </a:ln>
          </p:spPr>
          <p:txBody>
            <a:bodyPr/>
            <a:lstStyle/>
            <a:p>
              <a:endParaRPr lang="en-US"/>
            </a:p>
          </p:txBody>
        </p:sp>
        <p:sp>
          <p:nvSpPr>
            <p:cNvPr id="151566" name="Line 14"/>
            <p:cNvSpPr>
              <a:spLocks noChangeShapeType="1"/>
            </p:cNvSpPr>
            <p:nvPr/>
          </p:nvSpPr>
          <p:spPr bwMode="auto">
            <a:xfrm flipV="1">
              <a:off x="3503613" y="2238375"/>
              <a:ext cx="819150" cy="563563"/>
            </a:xfrm>
            <a:prstGeom prst="line">
              <a:avLst/>
            </a:prstGeom>
            <a:noFill/>
            <a:ln w="9525">
              <a:solidFill>
                <a:schemeClr val="tx1"/>
              </a:solidFill>
              <a:round/>
              <a:headEnd/>
              <a:tailEnd type="triangle" w="med" len="med"/>
            </a:ln>
          </p:spPr>
          <p:txBody>
            <a:bodyPr/>
            <a:lstStyle/>
            <a:p>
              <a:endParaRPr lang="en-US"/>
            </a:p>
          </p:txBody>
        </p:sp>
        <p:sp>
          <p:nvSpPr>
            <p:cNvPr id="151567" name="Line 15"/>
            <p:cNvSpPr>
              <a:spLocks noChangeShapeType="1"/>
            </p:cNvSpPr>
            <p:nvPr/>
          </p:nvSpPr>
          <p:spPr bwMode="auto">
            <a:xfrm>
              <a:off x="4138613" y="4440238"/>
              <a:ext cx="2230437" cy="498475"/>
            </a:xfrm>
            <a:prstGeom prst="line">
              <a:avLst/>
            </a:prstGeom>
            <a:noFill/>
            <a:ln w="9525">
              <a:solidFill>
                <a:schemeClr val="tx1"/>
              </a:solidFill>
              <a:round/>
              <a:headEnd/>
              <a:tailEnd type="triangle" w="med" len="med"/>
            </a:ln>
          </p:spPr>
          <p:txBody>
            <a:bodyPr/>
            <a:lstStyle/>
            <a:p>
              <a:endParaRPr lang="en-US"/>
            </a:p>
          </p:txBody>
        </p:sp>
        <p:sp>
          <p:nvSpPr>
            <p:cNvPr id="151568" name="Line 16"/>
            <p:cNvSpPr>
              <a:spLocks noChangeShapeType="1"/>
            </p:cNvSpPr>
            <p:nvPr/>
          </p:nvSpPr>
          <p:spPr bwMode="auto">
            <a:xfrm>
              <a:off x="4152900" y="3832225"/>
              <a:ext cx="2328863" cy="920750"/>
            </a:xfrm>
            <a:prstGeom prst="line">
              <a:avLst/>
            </a:prstGeom>
            <a:noFill/>
            <a:ln w="9525">
              <a:solidFill>
                <a:schemeClr val="tx1"/>
              </a:solidFill>
              <a:round/>
              <a:headEnd/>
              <a:tailEnd type="triangle" w="med" len="med"/>
            </a:ln>
          </p:spPr>
          <p:txBody>
            <a:bodyPr/>
            <a:lstStyle/>
            <a:p>
              <a:endParaRPr lang="en-US"/>
            </a:p>
          </p:txBody>
        </p:sp>
        <p:sp>
          <p:nvSpPr>
            <p:cNvPr id="151569" name="Line 17"/>
            <p:cNvSpPr>
              <a:spLocks noChangeShapeType="1"/>
            </p:cNvSpPr>
            <p:nvPr/>
          </p:nvSpPr>
          <p:spPr bwMode="auto">
            <a:xfrm>
              <a:off x="2195513" y="4421188"/>
              <a:ext cx="661987" cy="6350"/>
            </a:xfrm>
            <a:prstGeom prst="line">
              <a:avLst/>
            </a:prstGeom>
            <a:noFill/>
            <a:ln w="9525">
              <a:solidFill>
                <a:schemeClr val="tx1"/>
              </a:solidFill>
              <a:round/>
              <a:headEnd/>
              <a:tailEnd type="triangle" w="med" len="med"/>
            </a:ln>
          </p:spPr>
          <p:txBody>
            <a:bodyPr/>
            <a:lstStyle/>
            <a:p>
              <a:endParaRPr lang="en-US"/>
            </a:p>
          </p:txBody>
        </p:sp>
        <p:sp>
          <p:nvSpPr>
            <p:cNvPr id="151570" name="Line 18"/>
            <p:cNvSpPr>
              <a:spLocks noChangeShapeType="1"/>
            </p:cNvSpPr>
            <p:nvPr/>
          </p:nvSpPr>
          <p:spPr bwMode="auto">
            <a:xfrm>
              <a:off x="4133850" y="5027613"/>
              <a:ext cx="2133600" cy="26987"/>
            </a:xfrm>
            <a:prstGeom prst="line">
              <a:avLst/>
            </a:prstGeom>
            <a:noFill/>
            <a:ln w="9525">
              <a:solidFill>
                <a:schemeClr val="tx1"/>
              </a:solidFill>
              <a:round/>
              <a:headEnd/>
              <a:tailEnd type="triangle" w="med" len="med"/>
            </a:ln>
          </p:spPr>
          <p:txBody>
            <a:bodyPr/>
            <a:lstStyle/>
            <a:p>
              <a:endParaRPr lang="en-US"/>
            </a:p>
          </p:txBody>
        </p:sp>
        <p:sp>
          <p:nvSpPr>
            <p:cNvPr id="151571" name="Line 19"/>
            <p:cNvSpPr>
              <a:spLocks noChangeShapeType="1"/>
            </p:cNvSpPr>
            <p:nvPr/>
          </p:nvSpPr>
          <p:spPr bwMode="auto">
            <a:xfrm>
              <a:off x="5730875" y="2016125"/>
              <a:ext cx="801688" cy="1588"/>
            </a:xfrm>
            <a:prstGeom prst="line">
              <a:avLst/>
            </a:prstGeom>
            <a:noFill/>
            <a:ln w="9525">
              <a:solidFill>
                <a:schemeClr val="tx1"/>
              </a:solidFill>
              <a:round/>
              <a:headEnd/>
              <a:tailEnd type="triangle" w="med" len="med"/>
            </a:ln>
          </p:spPr>
          <p:txBody>
            <a:bodyPr/>
            <a:lstStyle/>
            <a:p>
              <a:endParaRPr lang="en-US"/>
            </a:p>
          </p:txBody>
        </p:sp>
        <p:sp>
          <p:nvSpPr>
            <p:cNvPr id="151572" name="Line 20"/>
            <p:cNvSpPr>
              <a:spLocks noChangeShapeType="1"/>
            </p:cNvSpPr>
            <p:nvPr/>
          </p:nvSpPr>
          <p:spPr bwMode="auto">
            <a:xfrm flipV="1">
              <a:off x="7229475" y="3925888"/>
              <a:ext cx="377825" cy="819150"/>
            </a:xfrm>
            <a:prstGeom prst="line">
              <a:avLst/>
            </a:prstGeom>
            <a:noFill/>
            <a:ln w="9525">
              <a:solidFill>
                <a:schemeClr val="tx1"/>
              </a:solidFill>
              <a:round/>
              <a:headEnd/>
              <a:tailEnd type="triangle" w="med" len="med"/>
            </a:ln>
          </p:spPr>
          <p:txBody>
            <a:bodyPr/>
            <a:lstStyle/>
            <a:p>
              <a:endParaRPr lang="en-US"/>
            </a:p>
          </p:txBody>
        </p:sp>
        <p:sp>
          <p:nvSpPr>
            <p:cNvPr id="151573" name="Line 21"/>
            <p:cNvSpPr>
              <a:spLocks noChangeShapeType="1"/>
            </p:cNvSpPr>
            <p:nvPr/>
          </p:nvSpPr>
          <p:spPr bwMode="auto">
            <a:xfrm>
              <a:off x="1206500" y="2984500"/>
              <a:ext cx="1798638" cy="735013"/>
            </a:xfrm>
            <a:prstGeom prst="line">
              <a:avLst/>
            </a:prstGeom>
            <a:noFill/>
            <a:ln w="9525">
              <a:solidFill>
                <a:schemeClr val="tx1"/>
              </a:solidFill>
              <a:round/>
              <a:headEnd/>
              <a:tailEnd type="triangle" w="med" len="med"/>
            </a:ln>
          </p:spPr>
          <p:txBody>
            <a:bodyPr/>
            <a:lstStyle/>
            <a:p>
              <a:endParaRPr lang="en-US"/>
            </a:p>
          </p:txBody>
        </p:sp>
        <p:sp>
          <p:nvSpPr>
            <p:cNvPr id="151574" name="Line 22"/>
            <p:cNvSpPr>
              <a:spLocks noChangeShapeType="1"/>
            </p:cNvSpPr>
            <p:nvPr/>
          </p:nvSpPr>
          <p:spPr bwMode="auto">
            <a:xfrm>
              <a:off x="1543050" y="1331913"/>
              <a:ext cx="838200" cy="0"/>
            </a:xfrm>
            <a:prstGeom prst="line">
              <a:avLst/>
            </a:prstGeom>
            <a:noFill/>
            <a:ln w="9525">
              <a:solidFill>
                <a:schemeClr val="tx1"/>
              </a:solidFill>
              <a:round/>
              <a:headEnd/>
              <a:tailEnd type="triangle" w="med" len="med"/>
            </a:ln>
          </p:spPr>
          <p:txBody>
            <a:bodyPr/>
            <a:lstStyle/>
            <a:p>
              <a:endParaRPr lang="en-US"/>
            </a:p>
          </p:txBody>
        </p:sp>
        <p:sp>
          <p:nvSpPr>
            <p:cNvPr id="151576" name="AutoShape 24"/>
            <p:cNvSpPr>
              <a:spLocks noChangeArrowheads="1"/>
            </p:cNvSpPr>
            <p:nvPr/>
          </p:nvSpPr>
          <p:spPr bwMode="auto">
            <a:xfrm>
              <a:off x="2319338" y="1165225"/>
              <a:ext cx="1574800" cy="381000"/>
            </a:xfrm>
            <a:prstGeom prst="parallelogram">
              <a:avLst>
                <a:gd name="adj" fmla="val 10333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Surface</a:t>
              </a:r>
            </a:p>
            <a:p>
              <a:pPr algn="ctr"/>
              <a:r>
                <a:rPr lang="en-US" sz="1200" b="1">
                  <a:solidFill>
                    <a:srgbClr val="FFE59B"/>
                  </a:solidFill>
                </a:rPr>
                <a:t>Roughness</a:t>
              </a:r>
            </a:p>
          </p:txBody>
        </p:sp>
        <p:sp>
          <p:nvSpPr>
            <p:cNvPr id="151577" name="Line 25"/>
            <p:cNvSpPr>
              <a:spLocks noChangeShapeType="1"/>
            </p:cNvSpPr>
            <p:nvPr/>
          </p:nvSpPr>
          <p:spPr bwMode="auto">
            <a:xfrm>
              <a:off x="1425575" y="2006600"/>
              <a:ext cx="838200" cy="0"/>
            </a:xfrm>
            <a:prstGeom prst="line">
              <a:avLst/>
            </a:prstGeom>
            <a:noFill/>
            <a:ln w="9525">
              <a:solidFill>
                <a:schemeClr val="tx1"/>
              </a:solidFill>
              <a:round/>
              <a:headEnd/>
              <a:tailEnd type="triangle" w="med" len="med"/>
            </a:ln>
          </p:spPr>
          <p:txBody>
            <a:bodyPr/>
            <a:lstStyle/>
            <a:p>
              <a:endParaRPr lang="en-US"/>
            </a:p>
          </p:txBody>
        </p:sp>
        <p:sp>
          <p:nvSpPr>
            <p:cNvPr id="151578" name="AutoShape 26"/>
            <p:cNvSpPr>
              <a:spLocks noChangeArrowheads="1"/>
            </p:cNvSpPr>
            <p:nvPr/>
          </p:nvSpPr>
          <p:spPr bwMode="auto">
            <a:xfrm>
              <a:off x="2162175" y="1825625"/>
              <a:ext cx="1574800" cy="381000"/>
            </a:xfrm>
            <a:prstGeom prst="parallelogram">
              <a:avLst>
                <a:gd name="adj" fmla="val 10333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Soil</a:t>
              </a:r>
            </a:p>
            <a:p>
              <a:pPr algn="ctr"/>
              <a:r>
                <a:rPr lang="en-US" sz="1200" b="1">
                  <a:solidFill>
                    <a:srgbClr val="FFE59B"/>
                  </a:solidFill>
                </a:rPr>
                <a:t>Texture</a:t>
              </a:r>
            </a:p>
          </p:txBody>
        </p:sp>
        <p:sp>
          <p:nvSpPr>
            <p:cNvPr id="151579" name="Line 27"/>
            <p:cNvSpPr>
              <a:spLocks noChangeShapeType="1"/>
            </p:cNvSpPr>
            <p:nvPr/>
          </p:nvSpPr>
          <p:spPr bwMode="auto">
            <a:xfrm>
              <a:off x="1379538" y="2738438"/>
              <a:ext cx="838200" cy="0"/>
            </a:xfrm>
            <a:prstGeom prst="line">
              <a:avLst/>
            </a:prstGeom>
            <a:noFill/>
            <a:ln w="9525">
              <a:solidFill>
                <a:schemeClr val="tx1"/>
              </a:solidFill>
              <a:round/>
              <a:headEnd/>
              <a:tailEnd type="triangle" w="med" len="med"/>
            </a:ln>
          </p:spPr>
          <p:txBody>
            <a:bodyPr/>
            <a:lstStyle/>
            <a:p>
              <a:endParaRPr lang="en-US"/>
            </a:p>
          </p:txBody>
        </p:sp>
        <p:sp>
          <p:nvSpPr>
            <p:cNvPr id="151580" name="AutoShape 28"/>
            <p:cNvSpPr>
              <a:spLocks noChangeArrowheads="1"/>
            </p:cNvSpPr>
            <p:nvPr/>
          </p:nvSpPr>
          <p:spPr bwMode="auto">
            <a:xfrm>
              <a:off x="2116138" y="2557463"/>
              <a:ext cx="1574800" cy="381000"/>
            </a:xfrm>
            <a:prstGeom prst="parallelogram">
              <a:avLst>
                <a:gd name="adj" fmla="val 10333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Distance to</a:t>
              </a:r>
            </a:p>
            <a:p>
              <a:pPr algn="ctr"/>
              <a:r>
                <a:rPr lang="en-US" sz="1200" b="1">
                  <a:solidFill>
                    <a:srgbClr val="FFE59B"/>
                  </a:solidFill>
                </a:rPr>
                <a:t>Stream</a:t>
              </a:r>
            </a:p>
          </p:txBody>
        </p:sp>
        <p:sp>
          <p:nvSpPr>
            <p:cNvPr id="151581" name="AutoShape 29"/>
            <p:cNvSpPr>
              <a:spLocks noChangeArrowheads="1"/>
            </p:cNvSpPr>
            <p:nvPr/>
          </p:nvSpPr>
          <p:spPr bwMode="auto">
            <a:xfrm>
              <a:off x="4322763" y="1827213"/>
              <a:ext cx="1574800" cy="381000"/>
            </a:xfrm>
            <a:prstGeom prst="parallelogram">
              <a:avLst>
                <a:gd name="adj" fmla="val 10333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Weighting</a:t>
              </a:r>
            </a:p>
          </p:txBody>
        </p:sp>
        <p:sp>
          <p:nvSpPr>
            <p:cNvPr id="151582" name="AutoShape 30"/>
            <p:cNvSpPr>
              <a:spLocks noChangeArrowheads="1"/>
            </p:cNvSpPr>
            <p:nvPr/>
          </p:nvSpPr>
          <p:spPr bwMode="auto">
            <a:xfrm>
              <a:off x="2752725" y="4214813"/>
              <a:ext cx="1525588" cy="430212"/>
            </a:xfrm>
            <a:prstGeom prst="parallelogram">
              <a:avLst>
                <a:gd name="adj" fmla="val 8865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C Factor</a:t>
              </a:r>
            </a:p>
          </p:txBody>
        </p:sp>
        <p:sp>
          <p:nvSpPr>
            <p:cNvPr id="151583" name="AutoShape 31"/>
            <p:cNvSpPr>
              <a:spLocks noChangeArrowheads="1"/>
            </p:cNvSpPr>
            <p:nvPr/>
          </p:nvSpPr>
          <p:spPr bwMode="auto">
            <a:xfrm>
              <a:off x="2738438" y="4764088"/>
              <a:ext cx="1525587" cy="430212"/>
            </a:xfrm>
            <a:prstGeom prst="parallelogram">
              <a:avLst>
                <a:gd name="adj" fmla="val 8865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K Factor</a:t>
              </a:r>
            </a:p>
          </p:txBody>
        </p:sp>
        <p:sp>
          <p:nvSpPr>
            <p:cNvPr id="151584" name="AutoShape 32"/>
            <p:cNvSpPr>
              <a:spLocks noChangeArrowheads="1"/>
            </p:cNvSpPr>
            <p:nvPr/>
          </p:nvSpPr>
          <p:spPr bwMode="auto">
            <a:xfrm>
              <a:off x="2740025" y="5305425"/>
              <a:ext cx="1525588" cy="430213"/>
            </a:xfrm>
            <a:prstGeom prst="parallelogram">
              <a:avLst>
                <a:gd name="adj" fmla="val 8865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R Factor</a:t>
              </a:r>
            </a:p>
          </p:txBody>
        </p:sp>
        <p:sp>
          <p:nvSpPr>
            <p:cNvPr id="151585" name="AutoShape 33"/>
            <p:cNvSpPr>
              <a:spLocks noChangeArrowheads="1"/>
            </p:cNvSpPr>
            <p:nvPr/>
          </p:nvSpPr>
          <p:spPr bwMode="auto">
            <a:xfrm>
              <a:off x="2717800" y="5886450"/>
              <a:ext cx="1525588" cy="430213"/>
            </a:xfrm>
            <a:prstGeom prst="parallelogram">
              <a:avLst>
                <a:gd name="adj" fmla="val 8865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P Factor</a:t>
              </a:r>
            </a:p>
          </p:txBody>
        </p:sp>
        <p:sp>
          <p:nvSpPr>
            <p:cNvPr id="151586" name="Line 34"/>
            <p:cNvSpPr>
              <a:spLocks noChangeShapeType="1"/>
            </p:cNvSpPr>
            <p:nvPr/>
          </p:nvSpPr>
          <p:spPr bwMode="auto">
            <a:xfrm>
              <a:off x="2165350" y="4970463"/>
              <a:ext cx="661988" cy="6350"/>
            </a:xfrm>
            <a:prstGeom prst="line">
              <a:avLst/>
            </a:prstGeom>
            <a:noFill/>
            <a:ln w="9525">
              <a:solidFill>
                <a:schemeClr val="tx1"/>
              </a:solidFill>
              <a:round/>
              <a:headEnd/>
              <a:tailEnd type="triangle" w="med" len="med"/>
            </a:ln>
          </p:spPr>
          <p:txBody>
            <a:bodyPr/>
            <a:lstStyle/>
            <a:p>
              <a:endParaRPr lang="en-US"/>
            </a:p>
          </p:txBody>
        </p:sp>
        <p:sp>
          <p:nvSpPr>
            <p:cNvPr id="151587" name="Line 35"/>
            <p:cNvSpPr>
              <a:spLocks noChangeShapeType="1"/>
            </p:cNvSpPr>
            <p:nvPr/>
          </p:nvSpPr>
          <p:spPr bwMode="auto">
            <a:xfrm>
              <a:off x="2127250" y="5503863"/>
              <a:ext cx="661988" cy="6350"/>
            </a:xfrm>
            <a:prstGeom prst="line">
              <a:avLst/>
            </a:prstGeom>
            <a:noFill/>
            <a:ln w="9525">
              <a:solidFill>
                <a:schemeClr val="tx1"/>
              </a:solidFill>
              <a:round/>
              <a:headEnd/>
              <a:tailEnd type="triangle" w="med" len="med"/>
            </a:ln>
          </p:spPr>
          <p:txBody>
            <a:bodyPr/>
            <a:lstStyle/>
            <a:p>
              <a:endParaRPr lang="en-US"/>
            </a:p>
          </p:txBody>
        </p:sp>
        <p:sp>
          <p:nvSpPr>
            <p:cNvPr id="151588" name="Line 36"/>
            <p:cNvSpPr>
              <a:spLocks noChangeShapeType="1"/>
            </p:cNvSpPr>
            <p:nvPr/>
          </p:nvSpPr>
          <p:spPr bwMode="auto">
            <a:xfrm>
              <a:off x="2105025" y="6069013"/>
              <a:ext cx="661988" cy="6350"/>
            </a:xfrm>
            <a:prstGeom prst="line">
              <a:avLst/>
            </a:prstGeom>
            <a:noFill/>
            <a:ln w="9525">
              <a:solidFill>
                <a:schemeClr val="tx1"/>
              </a:solidFill>
              <a:round/>
              <a:headEnd/>
              <a:tailEnd type="triangle" w="med" len="med"/>
            </a:ln>
          </p:spPr>
          <p:txBody>
            <a:bodyPr/>
            <a:lstStyle/>
            <a:p>
              <a:endParaRPr lang="en-US"/>
            </a:p>
          </p:txBody>
        </p:sp>
        <p:sp>
          <p:nvSpPr>
            <p:cNvPr id="151589" name="AutoShape 37"/>
            <p:cNvSpPr>
              <a:spLocks noChangeArrowheads="1"/>
            </p:cNvSpPr>
            <p:nvPr/>
          </p:nvSpPr>
          <p:spPr bwMode="auto">
            <a:xfrm>
              <a:off x="2747963" y="3600450"/>
              <a:ext cx="1525587" cy="430213"/>
            </a:xfrm>
            <a:prstGeom prst="parallelogram">
              <a:avLst>
                <a:gd name="adj" fmla="val 88653"/>
              </a:avLst>
            </a:prstGeom>
            <a:solidFill>
              <a:srgbClr val="009999"/>
            </a:solidFill>
            <a:ln w="9525">
              <a:solidFill>
                <a:schemeClr val="tx1"/>
              </a:solidFill>
              <a:miter lim="800000"/>
              <a:headEnd/>
              <a:tailEnd/>
            </a:ln>
          </p:spPr>
          <p:txBody>
            <a:bodyPr wrap="none" anchor="ctr"/>
            <a:lstStyle/>
            <a:p>
              <a:pPr algn="ctr"/>
              <a:r>
                <a:rPr lang="en-US" sz="1200" b="1">
                  <a:solidFill>
                    <a:srgbClr val="FFE59B"/>
                  </a:solidFill>
                </a:rPr>
                <a:t>LS Factor</a:t>
              </a:r>
            </a:p>
          </p:txBody>
        </p:sp>
        <p:sp>
          <p:nvSpPr>
            <p:cNvPr id="151590" name="Line 38"/>
            <p:cNvSpPr>
              <a:spLocks noChangeShapeType="1"/>
            </p:cNvSpPr>
            <p:nvPr/>
          </p:nvSpPr>
          <p:spPr bwMode="auto">
            <a:xfrm flipV="1">
              <a:off x="4191000" y="5268913"/>
              <a:ext cx="1985963" cy="260350"/>
            </a:xfrm>
            <a:prstGeom prst="line">
              <a:avLst/>
            </a:prstGeom>
            <a:noFill/>
            <a:ln w="9525">
              <a:solidFill>
                <a:schemeClr val="tx1"/>
              </a:solidFill>
              <a:round/>
              <a:headEnd/>
              <a:tailEnd type="triangle" w="med" len="med"/>
            </a:ln>
          </p:spPr>
          <p:txBody>
            <a:bodyPr/>
            <a:lstStyle/>
            <a:p>
              <a:endParaRPr lang="en-US"/>
            </a:p>
          </p:txBody>
        </p:sp>
        <p:sp>
          <p:nvSpPr>
            <p:cNvPr id="151591" name="Line 39"/>
            <p:cNvSpPr>
              <a:spLocks noChangeShapeType="1"/>
            </p:cNvSpPr>
            <p:nvPr/>
          </p:nvSpPr>
          <p:spPr bwMode="auto">
            <a:xfrm flipV="1">
              <a:off x="4143375" y="5508625"/>
              <a:ext cx="1890713" cy="582613"/>
            </a:xfrm>
            <a:prstGeom prst="line">
              <a:avLst/>
            </a:prstGeom>
            <a:noFill/>
            <a:ln w="9525">
              <a:solidFill>
                <a:schemeClr val="tx1"/>
              </a:solidFill>
              <a:round/>
              <a:headEnd/>
              <a:tailEnd type="triangle" w="med" len="med"/>
            </a:ln>
          </p:spPr>
          <p:txBody>
            <a:bodyPr/>
            <a:lstStyle/>
            <a:p>
              <a:endParaRPr lang="en-US"/>
            </a:p>
          </p:txBody>
        </p:sp>
        <p:sp>
          <p:nvSpPr>
            <p:cNvPr id="151592" name="Line 40"/>
            <p:cNvSpPr>
              <a:spLocks noChangeShapeType="1"/>
            </p:cNvSpPr>
            <p:nvPr/>
          </p:nvSpPr>
          <p:spPr bwMode="auto">
            <a:xfrm>
              <a:off x="7172325" y="2406650"/>
              <a:ext cx="473075" cy="757238"/>
            </a:xfrm>
            <a:prstGeom prst="line">
              <a:avLst/>
            </a:prstGeom>
            <a:noFill/>
            <a:ln w="9525">
              <a:solidFill>
                <a:schemeClr val="tx1"/>
              </a:solidFill>
              <a:round/>
              <a:headEnd/>
              <a:tailEnd type="triangle" w="med" len="med"/>
            </a:ln>
          </p:spPr>
          <p:txBody>
            <a:bodyPr/>
            <a:lstStyle/>
            <a:p>
              <a:endParaRPr lang="en-US"/>
            </a:p>
          </p:txBody>
        </p:sp>
        <p:sp>
          <p:nvSpPr>
            <p:cNvPr id="151593" name="Rectangle 41"/>
            <p:cNvSpPr>
              <a:spLocks noChangeArrowheads="1"/>
            </p:cNvSpPr>
            <p:nvPr/>
          </p:nvSpPr>
          <p:spPr bwMode="auto">
            <a:xfrm>
              <a:off x="2551113" y="3335338"/>
              <a:ext cx="1863725" cy="3073400"/>
            </a:xfrm>
            <a:prstGeom prst="rect">
              <a:avLst/>
            </a:prstGeom>
            <a:noFill/>
            <a:ln w="9525">
              <a:solidFill>
                <a:schemeClr val="tx1"/>
              </a:solidFill>
              <a:prstDash val="dash"/>
              <a:miter lim="800000"/>
              <a:headEnd/>
              <a:tailEnd/>
            </a:ln>
          </p:spPr>
          <p:txBody>
            <a:bodyPr wrap="none" anchor="ctr"/>
            <a:lstStyle/>
            <a:p>
              <a:endParaRPr lang="en-US"/>
            </a:p>
          </p:txBody>
        </p:sp>
        <p:sp>
          <p:nvSpPr>
            <p:cNvPr id="151594" name="Text Box 42"/>
            <p:cNvSpPr txBox="1">
              <a:spLocks noChangeArrowheads="1"/>
            </p:cNvSpPr>
            <p:nvPr/>
          </p:nvSpPr>
          <p:spPr bwMode="auto">
            <a:xfrm>
              <a:off x="5253038" y="6045200"/>
              <a:ext cx="1593850" cy="366713"/>
            </a:xfrm>
            <a:prstGeom prst="rect">
              <a:avLst/>
            </a:prstGeom>
            <a:noFill/>
            <a:ln w="9525">
              <a:noFill/>
              <a:miter lim="800000"/>
              <a:headEnd/>
              <a:tailEnd/>
            </a:ln>
          </p:spPr>
          <p:txBody>
            <a:bodyPr>
              <a:spAutoFit/>
            </a:bodyPr>
            <a:lstStyle/>
            <a:p>
              <a:pPr>
                <a:spcBef>
                  <a:spcPct val="50000"/>
                </a:spcBef>
              </a:pPr>
              <a:r>
                <a:rPr lang="en-US" dirty="0" smtClean="0"/>
                <a:t>RUSLE</a:t>
              </a:r>
              <a:r>
                <a:rPr lang="en-US" baseline="30000" dirty="0" smtClean="0"/>
                <a:t>2</a:t>
              </a:r>
              <a:endParaRPr lang="en-US" baseline="30000" dirty="0"/>
            </a:p>
          </p:txBody>
        </p:sp>
        <p:sp>
          <p:nvSpPr>
            <p:cNvPr id="151595" name="Line 43"/>
            <p:cNvSpPr>
              <a:spLocks noChangeShapeType="1"/>
            </p:cNvSpPr>
            <p:nvPr/>
          </p:nvSpPr>
          <p:spPr bwMode="auto">
            <a:xfrm>
              <a:off x="4406900" y="6218238"/>
              <a:ext cx="887413" cy="0"/>
            </a:xfrm>
            <a:prstGeom prst="line">
              <a:avLst/>
            </a:prstGeom>
            <a:noFill/>
            <a:ln w="9525">
              <a:solidFill>
                <a:schemeClr val="tx1"/>
              </a:solidFill>
              <a:prstDash val="dash"/>
              <a:round/>
              <a:headEnd/>
              <a:tailEnd/>
            </a:ln>
          </p:spPr>
          <p:txBody>
            <a:bodyPr/>
            <a:lstStyle/>
            <a:p>
              <a:endParaRPr lang="en-US"/>
            </a:p>
          </p:txBody>
        </p:sp>
        <p:sp>
          <p:nvSpPr>
            <p:cNvPr id="151596" name="Rectangle 44"/>
            <p:cNvSpPr>
              <a:spLocks noChangeArrowheads="1"/>
            </p:cNvSpPr>
            <p:nvPr/>
          </p:nvSpPr>
          <p:spPr bwMode="auto">
            <a:xfrm>
              <a:off x="2058988" y="1022350"/>
              <a:ext cx="3894137" cy="2106613"/>
            </a:xfrm>
            <a:prstGeom prst="rect">
              <a:avLst/>
            </a:prstGeom>
            <a:noFill/>
            <a:ln w="9525">
              <a:solidFill>
                <a:schemeClr val="tx1"/>
              </a:solidFill>
              <a:prstDash val="dash"/>
              <a:miter lim="800000"/>
              <a:headEnd/>
              <a:tailEnd/>
            </a:ln>
          </p:spPr>
          <p:txBody>
            <a:bodyPr wrap="none" anchor="ctr"/>
            <a:lstStyle/>
            <a:p>
              <a:endParaRPr lang="en-US"/>
            </a:p>
          </p:txBody>
        </p:sp>
        <p:sp>
          <p:nvSpPr>
            <p:cNvPr id="151597" name="Text Box 45"/>
            <p:cNvSpPr txBox="1">
              <a:spLocks noChangeArrowheads="1"/>
            </p:cNvSpPr>
            <p:nvPr/>
          </p:nvSpPr>
          <p:spPr bwMode="auto">
            <a:xfrm>
              <a:off x="6816725" y="963613"/>
              <a:ext cx="1593850" cy="366712"/>
            </a:xfrm>
            <a:prstGeom prst="rect">
              <a:avLst/>
            </a:prstGeom>
            <a:noFill/>
            <a:ln w="9525">
              <a:noFill/>
              <a:miter lim="800000"/>
              <a:headEnd/>
              <a:tailEnd/>
            </a:ln>
          </p:spPr>
          <p:txBody>
            <a:bodyPr>
              <a:spAutoFit/>
            </a:bodyPr>
            <a:lstStyle/>
            <a:p>
              <a:pPr>
                <a:spcBef>
                  <a:spcPct val="50000"/>
                </a:spcBef>
              </a:pPr>
              <a:r>
                <a:rPr lang="en-US" dirty="0" smtClean="0"/>
                <a:t>SEDMOD</a:t>
              </a:r>
              <a:r>
                <a:rPr lang="en-US" baseline="30000" dirty="0" smtClean="0"/>
                <a:t>1</a:t>
              </a:r>
              <a:endParaRPr lang="en-US" baseline="30000" dirty="0"/>
            </a:p>
          </p:txBody>
        </p:sp>
        <p:sp>
          <p:nvSpPr>
            <p:cNvPr id="151598" name="Line 46"/>
            <p:cNvSpPr>
              <a:spLocks noChangeShapeType="1"/>
            </p:cNvSpPr>
            <p:nvPr/>
          </p:nvSpPr>
          <p:spPr bwMode="auto">
            <a:xfrm>
              <a:off x="5970588" y="1136650"/>
              <a:ext cx="887412" cy="0"/>
            </a:xfrm>
            <a:prstGeom prst="line">
              <a:avLst/>
            </a:prstGeom>
            <a:noFill/>
            <a:ln w="9525">
              <a:solidFill>
                <a:schemeClr val="tx1"/>
              </a:solidFill>
              <a:prstDash val="dash"/>
              <a:round/>
              <a:headEnd/>
              <a:tailEnd/>
            </a:ln>
          </p:spPr>
          <p:txBody>
            <a:bodyPr/>
            <a:lstStyle/>
            <a:p>
              <a:endParaRPr lang="en-US"/>
            </a:p>
          </p:txBody>
        </p:sp>
      </p:grpSp>
      <p:sp>
        <p:nvSpPr>
          <p:cNvPr id="49" name="Text Box 4"/>
          <p:cNvSpPr txBox="1">
            <a:spLocks noChangeArrowheads="1"/>
          </p:cNvSpPr>
          <p:nvPr/>
        </p:nvSpPr>
        <p:spPr bwMode="auto">
          <a:xfrm>
            <a:off x="1244600" y="5918200"/>
            <a:ext cx="4775200" cy="630942"/>
          </a:xfrm>
          <a:prstGeom prst="rect">
            <a:avLst/>
          </a:prstGeom>
          <a:noFill/>
          <a:ln w="9525">
            <a:noFill/>
            <a:miter lim="800000"/>
            <a:headEnd/>
            <a:tailEnd/>
          </a:ln>
        </p:spPr>
        <p:txBody>
          <a:bodyPr wrap="square">
            <a:spAutoFit/>
          </a:bodyPr>
          <a:lstStyle/>
          <a:p>
            <a:pPr marL="457200" indent="-457200">
              <a:spcBef>
                <a:spcPct val="50000"/>
              </a:spcBef>
              <a:buFontTx/>
              <a:buAutoNum type="arabicPeriod"/>
            </a:pPr>
            <a:r>
              <a:rPr lang="en-US" sz="1400" dirty="0"/>
              <a:t>Fraser.  May 1999</a:t>
            </a:r>
          </a:p>
          <a:p>
            <a:pPr marL="457200" indent="-457200">
              <a:spcBef>
                <a:spcPct val="50000"/>
              </a:spcBef>
              <a:buFontTx/>
              <a:buAutoNum type="arabicPeriod"/>
            </a:pPr>
            <a:r>
              <a:rPr lang="en-US" sz="1400" dirty="0" err="1"/>
              <a:t>Renard</a:t>
            </a:r>
            <a:r>
              <a:rPr lang="en-US" sz="1400" dirty="0"/>
              <a:t>, Foster, </a:t>
            </a:r>
            <a:r>
              <a:rPr lang="en-US" sz="1400" dirty="0" err="1"/>
              <a:t>Weesies</a:t>
            </a:r>
            <a:r>
              <a:rPr lang="en-US" sz="1400" dirty="0"/>
              <a:t>, McCool, Yoder.  1996.</a:t>
            </a: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Number Placeholder 5"/>
          <p:cNvSpPr>
            <a:spLocks noGrp="1"/>
          </p:cNvSpPr>
          <p:nvPr>
            <p:ph type="sldNum" sz="quarter" idx="12"/>
          </p:nvPr>
        </p:nvSpPr>
        <p:spPr>
          <a:noFill/>
        </p:spPr>
        <p:txBody>
          <a:bodyPr/>
          <a:lstStyle/>
          <a:p>
            <a:fld id="{65897BB0-9191-4DCF-B72A-1BB57C2153BB}" type="slidenum">
              <a:rPr lang="en-US" smtClean="0"/>
              <a:pPr/>
              <a:t>3</a:t>
            </a:fld>
            <a:endParaRPr lang="en-US" smtClean="0"/>
          </a:p>
        </p:txBody>
      </p:sp>
      <p:sp>
        <p:nvSpPr>
          <p:cNvPr id="2051" name="Rectangle 2"/>
          <p:cNvSpPr>
            <a:spLocks noGrp="1" noChangeArrowheads="1"/>
          </p:cNvSpPr>
          <p:nvPr>
            <p:ph type="title"/>
          </p:nvPr>
        </p:nvSpPr>
        <p:spPr>
          <a:xfrm>
            <a:off x="685800" y="-152400"/>
            <a:ext cx="8229600" cy="1143000"/>
          </a:xfrm>
          <a:noFill/>
        </p:spPr>
        <p:txBody>
          <a:bodyPr/>
          <a:lstStyle/>
          <a:p>
            <a:pPr eaLnBrk="1" hangingPunct="1"/>
            <a:r>
              <a:rPr lang="en-US" sz="3200" b="1" dirty="0" smtClean="0">
                <a:solidFill>
                  <a:srgbClr val="E8A73E"/>
                </a:solidFill>
              </a:rPr>
              <a:t>Early Targeting Efforts</a:t>
            </a:r>
          </a:p>
        </p:txBody>
      </p:sp>
      <p:sp>
        <p:nvSpPr>
          <p:cNvPr id="9" name="TextBox 8"/>
          <p:cNvSpPr txBox="1"/>
          <p:nvPr/>
        </p:nvSpPr>
        <p:spPr>
          <a:xfrm>
            <a:off x="1079500" y="1854201"/>
            <a:ext cx="7708900" cy="923330"/>
          </a:xfrm>
          <a:prstGeom prst="rect">
            <a:avLst/>
          </a:prstGeom>
          <a:noFill/>
        </p:spPr>
        <p:txBody>
          <a:bodyPr wrap="square" rtlCol="0">
            <a:spAutoFit/>
          </a:bodyPr>
          <a:lstStyle/>
          <a:p>
            <a:endParaRPr lang="en-US" dirty="0" smtClean="0"/>
          </a:p>
          <a:p>
            <a:pPr lvl="1">
              <a:buFontTx/>
              <a:buChar char="-"/>
            </a:pPr>
            <a:r>
              <a:rPr lang="en-US" dirty="0" smtClean="0"/>
              <a:t> </a:t>
            </a:r>
            <a:r>
              <a:rPr lang="en-US" dirty="0" err="1" smtClean="0"/>
              <a:t>Da</a:t>
            </a:r>
            <a:r>
              <a:rPr lang="en-US" dirty="0" smtClean="0"/>
              <a:t> </a:t>
            </a:r>
            <a:r>
              <a:rPr lang="en-US" dirty="0" err="1" smtClean="0"/>
              <a:t>Ouyang</a:t>
            </a:r>
            <a:r>
              <a:rPr lang="en-US" dirty="0" smtClean="0"/>
              <a:t> (IWR), Jon </a:t>
            </a:r>
            <a:r>
              <a:rPr lang="en-US" dirty="0" err="1" smtClean="0"/>
              <a:t>Bartholic</a:t>
            </a:r>
            <a:r>
              <a:rPr lang="en-US" dirty="0" smtClean="0"/>
              <a:t> (IWR), Jim </a:t>
            </a:r>
            <a:r>
              <a:rPr lang="en-US" dirty="0" err="1" smtClean="0"/>
              <a:t>Selegean</a:t>
            </a:r>
            <a:r>
              <a:rPr lang="en-US" dirty="0" smtClean="0"/>
              <a:t> (ACE)</a:t>
            </a:r>
          </a:p>
          <a:p>
            <a:pPr lvl="1"/>
            <a:r>
              <a:rPr lang="en-US" dirty="0" smtClean="0"/>
              <a:t>-  Coarse Great Lakes Basin analysis</a:t>
            </a:r>
            <a:r>
              <a:rPr lang="en-US" baseline="30000" dirty="0" smtClean="0"/>
              <a:t>1</a:t>
            </a:r>
          </a:p>
        </p:txBody>
      </p:sp>
      <p:graphicFrame>
        <p:nvGraphicFramePr>
          <p:cNvPr id="33794" name="Object 2"/>
          <p:cNvGraphicFramePr>
            <a:graphicFrameLocks noChangeAspect="1"/>
          </p:cNvGraphicFramePr>
          <p:nvPr/>
        </p:nvGraphicFramePr>
        <p:xfrm>
          <a:off x="2247900" y="2845383"/>
          <a:ext cx="5054600" cy="2914132"/>
        </p:xfrm>
        <a:graphic>
          <a:graphicData uri="http://schemas.openxmlformats.org/presentationml/2006/ole">
            <p:oleObj spid="_x0000_s33794" name="Chart" r:id="rId4" imgW="7492680" imgH="4320000" progId="Excel.Sheet.8">
              <p:embed/>
            </p:oleObj>
          </a:graphicData>
        </a:graphic>
      </p:graphicFrame>
      <p:pic>
        <p:nvPicPr>
          <p:cNvPr id="7" name="Picture 4" descr="iwrlogo"/>
          <p:cNvPicPr>
            <a:picLocks noChangeAspect="1" noChangeArrowheads="1" noCrop="1"/>
          </p:cNvPicPr>
          <p:nvPr/>
        </p:nvPicPr>
        <p:blipFill>
          <a:blip r:embed="rId5" cstate="print"/>
          <a:srcRect/>
          <a:stretch>
            <a:fillRect/>
          </a:stretch>
        </p:blipFill>
        <p:spPr bwMode="auto">
          <a:xfrm>
            <a:off x="3824288" y="1233488"/>
            <a:ext cx="1279525" cy="714375"/>
          </a:xfrm>
          <a:prstGeom prst="rect">
            <a:avLst/>
          </a:prstGeom>
          <a:noFill/>
          <a:ln w="9525">
            <a:noFill/>
            <a:miter lim="800000"/>
            <a:headEnd/>
            <a:tailEnd/>
          </a:ln>
        </p:spPr>
      </p:pic>
      <p:pic>
        <p:nvPicPr>
          <p:cNvPr id="8" name="Picture 7" descr="msulogo.GIF"/>
          <p:cNvPicPr>
            <a:picLocks noChangeAspect="1"/>
          </p:cNvPicPr>
          <p:nvPr/>
        </p:nvPicPr>
        <p:blipFill>
          <a:blip r:embed="rId6" cstate="print"/>
          <a:stretch>
            <a:fillRect/>
          </a:stretch>
        </p:blipFill>
        <p:spPr>
          <a:xfrm>
            <a:off x="5705474" y="1332896"/>
            <a:ext cx="2117725" cy="554642"/>
          </a:xfrm>
          <a:prstGeom prst="rect">
            <a:avLst/>
          </a:prstGeom>
        </p:spPr>
      </p:pic>
      <p:pic>
        <p:nvPicPr>
          <p:cNvPr id="12" name="Picture 11" descr="acoe2.gif"/>
          <p:cNvPicPr>
            <a:picLocks noChangeAspect="1"/>
          </p:cNvPicPr>
          <p:nvPr/>
        </p:nvPicPr>
        <p:blipFill>
          <a:blip r:embed="rId7" cstate="print"/>
          <a:stretch>
            <a:fillRect/>
          </a:stretch>
        </p:blipFill>
        <p:spPr>
          <a:xfrm>
            <a:off x="1739901" y="1003300"/>
            <a:ext cx="1437800" cy="1103312"/>
          </a:xfrm>
          <a:prstGeom prst="rect">
            <a:avLst/>
          </a:prstGeom>
        </p:spPr>
      </p:pic>
      <p:sp>
        <p:nvSpPr>
          <p:cNvPr id="11" name="Footer Placeholder 9"/>
          <p:cNvSpPr>
            <a:spLocks noGrp="1"/>
          </p:cNvSpPr>
          <p:nvPr>
            <p:ph type="ftr" sz="quarter" idx="11"/>
          </p:nvPr>
        </p:nvSpPr>
        <p:spPr>
          <a:xfrm>
            <a:off x="1193800" y="5889625"/>
            <a:ext cx="2832100" cy="476250"/>
          </a:xfrm>
        </p:spPr>
        <p:txBody>
          <a:bodyPr/>
          <a:lstStyle/>
          <a:p>
            <a:pPr algn="l">
              <a:defRPr/>
            </a:pPr>
            <a:r>
              <a:rPr lang="en-US" sz="1600" dirty="0" smtClean="0"/>
              <a:t>1.  </a:t>
            </a:r>
            <a:r>
              <a:rPr lang="en-US" sz="1600" dirty="0" err="1" smtClean="0"/>
              <a:t>Ouyang</a:t>
            </a:r>
            <a:r>
              <a:rPr lang="en-US" sz="1600" dirty="0" smtClean="0"/>
              <a:t>,  et al., 2005.</a:t>
            </a:r>
            <a:endParaRPr lang="en-US" sz="1600"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Number Placeholder 5"/>
          <p:cNvSpPr>
            <a:spLocks noGrp="1"/>
          </p:cNvSpPr>
          <p:nvPr>
            <p:ph type="sldNum" sz="quarter" idx="12"/>
          </p:nvPr>
        </p:nvSpPr>
        <p:spPr>
          <a:noFill/>
        </p:spPr>
        <p:txBody>
          <a:bodyPr/>
          <a:lstStyle/>
          <a:p>
            <a:fld id="{65897BB0-9191-4DCF-B72A-1BB57C2153BB}" type="slidenum">
              <a:rPr lang="en-US" smtClean="0"/>
              <a:pPr/>
              <a:t>4</a:t>
            </a:fld>
            <a:endParaRPr lang="en-US" smtClean="0"/>
          </a:p>
        </p:txBody>
      </p:sp>
      <p:sp>
        <p:nvSpPr>
          <p:cNvPr id="2051" name="Rectangle 2"/>
          <p:cNvSpPr>
            <a:spLocks noGrp="1" noChangeArrowheads="1"/>
          </p:cNvSpPr>
          <p:nvPr>
            <p:ph type="title"/>
          </p:nvPr>
        </p:nvSpPr>
        <p:spPr>
          <a:xfrm>
            <a:off x="685800" y="-152400"/>
            <a:ext cx="8229600" cy="1143000"/>
          </a:xfrm>
          <a:noFill/>
        </p:spPr>
        <p:txBody>
          <a:bodyPr/>
          <a:lstStyle/>
          <a:p>
            <a:pPr eaLnBrk="1" hangingPunct="1"/>
            <a:r>
              <a:rPr lang="en-US" sz="3200" b="1" dirty="0" smtClean="0">
                <a:solidFill>
                  <a:srgbClr val="E8A73E"/>
                </a:solidFill>
              </a:rPr>
              <a:t>Early Targeting Efforts</a:t>
            </a:r>
          </a:p>
        </p:txBody>
      </p:sp>
      <p:sp>
        <p:nvSpPr>
          <p:cNvPr id="10" name="Footer Placeholder 9"/>
          <p:cNvSpPr>
            <a:spLocks noGrp="1"/>
          </p:cNvSpPr>
          <p:nvPr>
            <p:ph type="ftr" sz="quarter" idx="11"/>
          </p:nvPr>
        </p:nvSpPr>
        <p:spPr>
          <a:xfrm>
            <a:off x="1193800" y="5889625"/>
            <a:ext cx="2832100" cy="476250"/>
          </a:xfrm>
        </p:spPr>
        <p:txBody>
          <a:bodyPr/>
          <a:lstStyle/>
          <a:p>
            <a:pPr algn="l">
              <a:defRPr/>
            </a:pPr>
            <a:r>
              <a:rPr lang="en-US" sz="1600" dirty="0" smtClean="0"/>
              <a:t>1.  </a:t>
            </a:r>
            <a:r>
              <a:rPr lang="en-US" sz="1600" dirty="0" err="1" smtClean="0"/>
              <a:t>Ouyang</a:t>
            </a:r>
            <a:r>
              <a:rPr lang="en-US" sz="1600" dirty="0" smtClean="0"/>
              <a:t>,  et al., 2005.</a:t>
            </a:r>
            <a:endParaRPr lang="en-US" sz="1600" dirty="0"/>
          </a:p>
        </p:txBody>
      </p:sp>
      <p:pic>
        <p:nvPicPr>
          <p:cNvPr id="7"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447800" y="1614488"/>
            <a:ext cx="7286625" cy="3984625"/>
          </a:xfrm>
          <a:prstGeom prst="rect">
            <a:avLst/>
          </a:prstGeom>
          <a:noFill/>
          <a:ln w="9525">
            <a:noFill/>
            <a:miter lim="800000"/>
            <a:headEnd/>
            <a:tailEnd/>
          </a:ln>
          <a:effectLst/>
        </p:spPr>
      </p:pic>
      <p:sp>
        <p:nvSpPr>
          <p:cNvPr id="11" name="TextBox 10"/>
          <p:cNvSpPr txBox="1"/>
          <p:nvPr/>
        </p:nvSpPr>
        <p:spPr>
          <a:xfrm>
            <a:off x="990600" y="1409701"/>
            <a:ext cx="7708900" cy="369332"/>
          </a:xfrm>
          <a:prstGeom prst="rect">
            <a:avLst/>
          </a:prstGeom>
          <a:noFill/>
        </p:spPr>
        <p:txBody>
          <a:bodyPr wrap="square" rtlCol="0">
            <a:spAutoFit/>
          </a:bodyPr>
          <a:lstStyle/>
          <a:p>
            <a:r>
              <a:rPr lang="en-US" dirty="0" smtClean="0"/>
              <a:t>Estimated Total Sediment Loading by 8-digit Watershed</a:t>
            </a:r>
            <a:endParaRPr lang="en-US" baseline="30000" dirty="0" smtClean="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Number Placeholder 5"/>
          <p:cNvSpPr>
            <a:spLocks noGrp="1"/>
          </p:cNvSpPr>
          <p:nvPr>
            <p:ph type="sldNum" sz="quarter" idx="12"/>
          </p:nvPr>
        </p:nvSpPr>
        <p:spPr>
          <a:noFill/>
        </p:spPr>
        <p:txBody>
          <a:bodyPr/>
          <a:lstStyle/>
          <a:p>
            <a:fld id="{65897BB0-9191-4DCF-B72A-1BB57C2153BB}" type="slidenum">
              <a:rPr lang="en-US" smtClean="0"/>
              <a:pPr/>
              <a:t>5</a:t>
            </a:fld>
            <a:endParaRPr lang="en-US" smtClean="0"/>
          </a:p>
        </p:txBody>
      </p:sp>
      <p:sp>
        <p:nvSpPr>
          <p:cNvPr id="2051" name="Rectangle 2"/>
          <p:cNvSpPr>
            <a:spLocks noGrp="1" noChangeArrowheads="1"/>
          </p:cNvSpPr>
          <p:nvPr>
            <p:ph type="title"/>
          </p:nvPr>
        </p:nvSpPr>
        <p:spPr>
          <a:xfrm>
            <a:off x="1219200" y="0"/>
            <a:ext cx="7010400" cy="825500"/>
          </a:xfrm>
          <a:noFill/>
        </p:spPr>
        <p:txBody>
          <a:bodyPr/>
          <a:lstStyle/>
          <a:p>
            <a:pPr eaLnBrk="1" hangingPunct="1"/>
            <a:r>
              <a:rPr lang="en-US" sz="3200" b="1" dirty="0" smtClean="0">
                <a:solidFill>
                  <a:srgbClr val="E8A73E"/>
                </a:solidFill>
              </a:rPr>
              <a:t>Conservation Innovation Grant</a:t>
            </a:r>
          </a:p>
        </p:txBody>
      </p:sp>
      <p:sp>
        <p:nvSpPr>
          <p:cNvPr id="9" name="TextBox 8"/>
          <p:cNvSpPr txBox="1"/>
          <p:nvPr/>
        </p:nvSpPr>
        <p:spPr>
          <a:xfrm>
            <a:off x="939800" y="952501"/>
            <a:ext cx="5842000" cy="584775"/>
          </a:xfrm>
          <a:prstGeom prst="rect">
            <a:avLst/>
          </a:prstGeom>
          <a:noFill/>
        </p:spPr>
        <p:txBody>
          <a:bodyPr wrap="square" rtlCol="0">
            <a:spAutoFit/>
          </a:bodyPr>
          <a:lstStyle/>
          <a:p>
            <a:r>
              <a:rPr lang="en-US" sz="3200" b="1" u="sng" dirty="0" smtClean="0"/>
              <a:t>A multi-scale partnership</a:t>
            </a:r>
          </a:p>
        </p:txBody>
      </p:sp>
      <p:pic>
        <p:nvPicPr>
          <p:cNvPr id="7" name="Picture 5" descr="header_nrcs"/>
          <p:cNvPicPr>
            <a:picLocks noChangeAspect="1" noChangeArrowheads="1"/>
          </p:cNvPicPr>
          <p:nvPr/>
        </p:nvPicPr>
        <p:blipFill>
          <a:blip r:embed="rId3" cstate="print"/>
          <a:srcRect/>
          <a:stretch>
            <a:fillRect/>
          </a:stretch>
        </p:blipFill>
        <p:spPr bwMode="auto">
          <a:xfrm>
            <a:off x="3327400" y="1780311"/>
            <a:ext cx="3060700" cy="458064"/>
          </a:xfrm>
          <a:prstGeom prst="rect">
            <a:avLst/>
          </a:prstGeom>
          <a:noFill/>
          <a:ln w="9525">
            <a:noFill/>
            <a:miter lim="800000"/>
            <a:headEnd/>
            <a:tailEnd/>
          </a:ln>
        </p:spPr>
      </p:pic>
      <p:pic>
        <p:nvPicPr>
          <p:cNvPr id="8" name="Picture 6" descr="MDAbannerlogo"/>
          <p:cNvPicPr>
            <a:picLocks noChangeAspect="1" noChangeArrowheads="1"/>
          </p:cNvPicPr>
          <p:nvPr/>
        </p:nvPicPr>
        <p:blipFill>
          <a:blip r:embed="rId4" cstate="print"/>
          <a:srcRect/>
          <a:stretch>
            <a:fillRect/>
          </a:stretch>
        </p:blipFill>
        <p:spPr bwMode="auto">
          <a:xfrm>
            <a:off x="3294063" y="2564255"/>
            <a:ext cx="2509837" cy="683770"/>
          </a:xfrm>
          <a:prstGeom prst="rect">
            <a:avLst/>
          </a:prstGeom>
          <a:noFill/>
          <a:ln w="9525">
            <a:noFill/>
            <a:miter lim="800000"/>
            <a:headEnd/>
            <a:tailEnd/>
          </a:ln>
        </p:spPr>
      </p:pic>
      <p:sp>
        <p:nvSpPr>
          <p:cNvPr id="12" name="TextBox 11"/>
          <p:cNvSpPr txBox="1"/>
          <p:nvPr/>
        </p:nvSpPr>
        <p:spPr>
          <a:xfrm>
            <a:off x="1016000" y="1778000"/>
            <a:ext cx="1739900" cy="461665"/>
          </a:xfrm>
          <a:prstGeom prst="rect">
            <a:avLst/>
          </a:prstGeom>
          <a:noFill/>
        </p:spPr>
        <p:txBody>
          <a:bodyPr wrap="square" rtlCol="0">
            <a:spAutoFit/>
          </a:bodyPr>
          <a:lstStyle/>
          <a:p>
            <a:r>
              <a:rPr lang="en-US" sz="2400" dirty="0" smtClean="0"/>
              <a:t>-  </a:t>
            </a:r>
            <a:r>
              <a:rPr lang="en-US" sz="2400" b="1" dirty="0" smtClean="0"/>
              <a:t>Federal</a:t>
            </a:r>
            <a:r>
              <a:rPr lang="en-US" dirty="0" smtClean="0"/>
              <a:t>:</a:t>
            </a:r>
            <a:endParaRPr lang="en-US" dirty="0"/>
          </a:p>
        </p:txBody>
      </p:sp>
      <p:sp>
        <p:nvSpPr>
          <p:cNvPr id="13" name="TextBox 12"/>
          <p:cNvSpPr txBox="1"/>
          <p:nvPr/>
        </p:nvSpPr>
        <p:spPr>
          <a:xfrm>
            <a:off x="1016000" y="2654300"/>
            <a:ext cx="1739900" cy="461665"/>
          </a:xfrm>
          <a:prstGeom prst="rect">
            <a:avLst/>
          </a:prstGeom>
          <a:noFill/>
        </p:spPr>
        <p:txBody>
          <a:bodyPr wrap="square" rtlCol="0">
            <a:spAutoFit/>
          </a:bodyPr>
          <a:lstStyle/>
          <a:p>
            <a:r>
              <a:rPr lang="en-US" sz="2400" dirty="0" smtClean="0"/>
              <a:t>-  </a:t>
            </a:r>
            <a:r>
              <a:rPr lang="en-US" sz="2400" b="1" dirty="0" smtClean="0"/>
              <a:t>State</a:t>
            </a:r>
            <a:r>
              <a:rPr lang="en-US" dirty="0" smtClean="0"/>
              <a:t>:</a:t>
            </a:r>
            <a:endParaRPr lang="en-US" dirty="0"/>
          </a:p>
        </p:txBody>
      </p:sp>
      <p:sp>
        <p:nvSpPr>
          <p:cNvPr id="14" name="TextBox 13"/>
          <p:cNvSpPr txBox="1"/>
          <p:nvPr/>
        </p:nvSpPr>
        <p:spPr>
          <a:xfrm>
            <a:off x="1054100" y="3556000"/>
            <a:ext cx="2197100" cy="461665"/>
          </a:xfrm>
          <a:prstGeom prst="rect">
            <a:avLst/>
          </a:prstGeom>
          <a:noFill/>
        </p:spPr>
        <p:txBody>
          <a:bodyPr wrap="square" rtlCol="0">
            <a:spAutoFit/>
          </a:bodyPr>
          <a:lstStyle/>
          <a:p>
            <a:r>
              <a:rPr lang="en-US" sz="2400" dirty="0" smtClean="0"/>
              <a:t>-  </a:t>
            </a:r>
            <a:r>
              <a:rPr lang="en-US" sz="2400" b="1" dirty="0" smtClean="0"/>
              <a:t>University</a:t>
            </a:r>
            <a:r>
              <a:rPr lang="en-US" dirty="0" smtClean="0"/>
              <a:t>:</a:t>
            </a:r>
            <a:endParaRPr lang="en-US" dirty="0"/>
          </a:p>
        </p:txBody>
      </p:sp>
      <p:sp>
        <p:nvSpPr>
          <p:cNvPr id="15" name="TextBox 14"/>
          <p:cNvSpPr txBox="1"/>
          <p:nvPr/>
        </p:nvSpPr>
        <p:spPr>
          <a:xfrm>
            <a:off x="6451600" y="2578100"/>
            <a:ext cx="2794000" cy="646331"/>
          </a:xfrm>
          <a:prstGeom prst="rect">
            <a:avLst/>
          </a:prstGeom>
          <a:noFill/>
        </p:spPr>
        <p:txBody>
          <a:bodyPr wrap="square" rtlCol="0">
            <a:spAutoFit/>
          </a:bodyPr>
          <a:lstStyle/>
          <a:p>
            <a:pPr>
              <a:buFont typeface="Arial" pitchFamily="34" charset="0"/>
              <a:buChar char="•"/>
            </a:pPr>
            <a:r>
              <a:rPr lang="en-US" dirty="0" smtClean="0"/>
              <a:t>  Project coordination</a:t>
            </a:r>
          </a:p>
          <a:p>
            <a:pPr>
              <a:buFont typeface="Arial" pitchFamily="34" charset="0"/>
              <a:buChar char="•"/>
            </a:pPr>
            <a:r>
              <a:rPr lang="en-US" dirty="0" smtClean="0"/>
              <a:t>  Outreach</a:t>
            </a:r>
            <a:endParaRPr lang="en-US" dirty="0"/>
          </a:p>
        </p:txBody>
      </p:sp>
      <p:pic>
        <p:nvPicPr>
          <p:cNvPr id="16" name="Picture 4" descr="iwrlogo"/>
          <p:cNvPicPr>
            <a:picLocks noChangeAspect="1" noChangeArrowheads="1" noCrop="1"/>
          </p:cNvPicPr>
          <p:nvPr/>
        </p:nvPicPr>
        <p:blipFill>
          <a:blip r:embed="rId5" cstate="print"/>
          <a:srcRect/>
          <a:stretch>
            <a:fillRect/>
          </a:stretch>
        </p:blipFill>
        <p:spPr bwMode="auto">
          <a:xfrm>
            <a:off x="3290889" y="3609929"/>
            <a:ext cx="912812" cy="509634"/>
          </a:xfrm>
          <a:prstGeom prst="rect">
            <a:avLst/>
          </a:prstGeom>
          <a:noFill/>
          <a:ln w="9525">
            <a:noFill/>
            <a:miter lim="800000"/>
            <a:headEnd/>
            <a:tailEnd/>
          </a:ln>
        </p:spPr>
      </p:pic>
      <p:pic>
        <p:nvPicPr>
          <p:cNvPr id="17" name="Picture 16" descr="msulogo.GIF"/>
          <p:cNvPicPr>
            <a:picLocks noChangeAspect="1"/>
          </p:cNvPicPr>
          <p:nvPr/>
        </p:nvPicPr>
        <p:blipFill>
          <a:blip r:embed="rId6" cstate="print"/>
          <a:stretch>
            <a:fillRect/>
          </a:stretch>
        </p:blipFill>
        <p:spPr>
          <a:xfrm>
            <a:off x="4346575" y="3630386"/>
            <a:ext cx="1685926" cy="441552"/>
          </a:xfrm>
          <a:prstGeom prst="rect">
            <a:avLst/>
          </a:prstGeom>
        </p:spPr>
      </p:pic>
      <p:sp>
        <p:nvSpPr>
          <p:cNvPr id="18" name="TextBox 17"/>
          <p:cNvSpPr txBox="1"/>
          <p:nvPr/>
        </p:nvSpPr>
        <p:spPr>
          <a:xfrm>
            <a:off x="1079500" y="4533900"/>
            <a:ext cx="1930400" cy="461665"/>
          </a:xfrm>
          <a:prstGeom prst="rect">
            <a:avLst/>
          </a:prstGeom>
          <a:noFill/>
        </p:spPr>
        <p:txBody>
          <a:bodyPr wrap="square" rtlCol="0">
            <a:spAutoFit/>
          </a:bodyPr>
          <a:lstStyle/>
          <a:p>
            <a:r>
              <a:rPr lang="en-US" sz="2400" dirty="0" smtClean="0"/>
              <a:t>-  </a:t>
            </a:r>
            <a:r>
              <a:rPr lang="en-US" sz="2400" b="1" dirty="0" smtClean="0"/>
              <a:t>Local</a:t>
            </a:r>
            <a:r>
              <a:rPr lang="en-US" dirty="0" smtClean="0"/>
              <a:t>:</a:t>
            </a:r>
            <a:endParaRPr lang="en-US" dirty="0"/>
          </a:p>
        </p:txBody>
      </p:sp>
      <p:pic>
        <p:nvPicPr>
          <p:cNvPr id="24" name="Picture 23" descr="counties2.gif"/>
          <p:cNvPicPr>
            <a:picLocks noChangeAspect="1"/>
          </p:cNvPicPr>
          <p:nvPr/>
        </p:nvPicPr>
        <p:blipFill>
          <a:blip r:embed="rId7" cstate="print"/>
          <a:stretch>
            <a:fillRect/>
          </a:stretch>
        </p:blipFill>
        <p:spPr>
          <a:xfrm>
            <a:off x="4794250" y="4419600"/>
            <a:ext cx="1720850" cy="1543049"/>
          </a:xfrm>
          <a:prstGeom prst="rect">
            <a:avLst/>
          </a:prstGeom>
        </p:spPr>
      </p:pic>
      <p:sp>
        <p:nvSpPr>
          <p:cNvPr id="25" name="TextBox 24"/>
          <p:cNvSpPr txBox="1"/>
          <p:nvPr/>
        </p:nvSpPr>
        <p:spPr>
          <a:xfrm>
            <a:off x="6489700" y="3543300"/>
            <a:ext cx="2489200" cy="646331"/>
          </a:xfrm>
          <a:prstGeom prst="rect">
            <a:avLst/>
          </a:prstGeom>
          <a:noFill/>
        </p:spPr>
        <p:txBody>
          <a:bodyPr wrap="square" rtlCol="0">
            <a:spAutoFit/>
          </a:bodyPr>
          <a:lstStyle/>
          <a:p>
            <a:pPr>
              <a:buFont typeface="Arial" pitchFamily="34" charset="0"/>
              <a:buChar char="•"/>
            </a:pPr>
            <a:r>
              <a:rPr lang="en-US" dirty="0" smtClean="0"/>
              <a:t>  Model and Web </a:t>
            </a:r>
          </a:p>
          <a:p>
            <a:r>
              <a:rPr lang="en-US" dirty="0" smtClean="0"/>
              <a:t>   development</a:t>
            </a:r>
            <a:endParaRPr lang="en-US" dirty="0"/>
          </a:p>
        </p:txBody>
      </p:sp>
      <p:sp>
        <p:nvSpPr>
          <p:cNvPr id="26" name="TextBox 25"/>
          <p:cNvSpPr txBox="1"/>
          <p:nvPr/>
        </p:nvSpPr>
        <p:spPr>
          <a:xfrm>
            <a:off x="6413500" y="1651000"/>
            <a:ext cx="2489200" cy="646331"/>
          </a:xfrm>
          <a:prstGeom prst="rect">
            <a:avLst/>
          </a:prstGeom>
          <a:noFill/>
        </p:spPr>
        <p:txBody>
          <a:bodyPr wrap="square" rtlCol="0">
            <a:spAutoFit/>
          </a:bodyPr>
          <a:lstStyle/>
          <a:p>
            <a:pPr>
              <a:buFont typeface="Arial" pitchFamily="34" charset="0"/>
              <a:buChar char="•"/>
            </a:pPr>
            <a:r>
              <a:rPr lang="en-US" dirty="0" smtClean="0"/>
              <a:t>  Project oversight</a:t>
            </a:r>
          </a:p>
          <a:p>
            <a:pPr>
              <a:buFont typeface="Arial" pitchFamily="34" charset="0"/>
              <a:buChar char="•"/>
            </a:pPr>
            <a:r>
              <a:rPr lang="en-US" dirty="0" smtClean="0"/>
              <a:t>  Funding</a:t>
            </a:r>
            <a:endParaRPr lang="en-US" dirty="0"/>
          </a:p>
        </p:txBody>
      </p:sp>
      <p:sp>
        <p:nvSpPr>
          <p:cNvPr id="27" name="TextBox 26"/>
          <p:cNvSpPr txBox="1"/>
          <p:nvPr/>
        </p:nvSpPr>
        <p:spPr>
          <a:xfrm>
            <a:off x="2451100" y="4584700"/>
            <a:ext cx="2794000" cy="1200329"/>
          </a:xfrm>
          <a:prstGeom prst="rect">
            <a:avLst/>
          </a:prstGeom>
          <a:noFill/>
        </p:spPr>
        <p:txBody>
          <a:bodyPr wrap="square" rtlCol="0">
            <a:spAutoFit/>
          </a:bodyPr>
          <a:lstStyle/>
          <a:p>
            <a:r>
              <a:rPr lang="en-US" dirty="0" smtClean="0"/>
              <a:t>Conservation Districts</a:t>
            </a:r>
          </a:p>
          <a:p>
            <a:pPr lvl="1">
              <a:buFontTx/>
              <a:buChar char="-"/>
            </a:pPr>
            <a:r>
              <a:rPr lang="en-US" dirty="0" smtClean="0"/>
              <a:t>  Clinton</a:t>
            </a:r>
          </a:p>
          <a:p>
            <a:pPr lvl="1">
              <a:buFontTx/>
              <a:buChar char="-"/>
            </a:pPr>
            <a:r>
              <a:rPr lang="en-US" dirty="0" smtClean="0"/>
              <a:t>  Huron</a:t>
            </a:r>
          </a:p>
          <a:p>
            <a:pPr lvl="1">
              <a:buFontTx/>
              <a:buChar char="-"/>
            </a:pPr>
            <a:r>
              <a:rPr lang="en-US" dirty="0" smtClean="0"/>
              <a:t>  Lenawee</a:t>
            </a:r>
            <a:endParaRPr lang="en-US" dirty="0"/>
          </a:p>
        </p:txBody>
      </p:sp>
      <p:sp>
        <p:nvSpPr>
          <p:cNvPr id="28" name="TextBox 27"/>
          <p:cNvSpPr txBox="1"/>
          <p:nvPr/>
        </p:nvSpPr>
        <p:spPr>
          <a:xfrm>
            <a:off x="6527800" y="4762500"/>
            <a:ext cx="2336800" cy="1200329"/>
          </a:xfrm>
          <a:prstGeom prst="rect">
            <a:avLst/>
          </a:prstGeom>
          <a:noFill/>
        </p:spPr>
        <p:txBody>
          <a:bodyPr wrap="square" rtlCol="0">
            <a:spAutoFit/>
          </a:bodyPr>
          <a:lstStyle/>
          <a:p>
            <a:pPr>
              <a:buFont typeface="Arial" pitchFamily="34" charset="0"/>
              <a:buChar char="•"/>
            </a:pPr>
            <a:r>
              <a:rPr lang="en-US" dirty="0" smtClean="0"/>
              <a:t>  Model evaluation</a:t>
            </a:r>
          </a:p>
          <a:p>
            <a:pPr>
              <a:buFont typeface="Arial" pitchFamily="34" charset="0"/>
              <a:buChar char="•"/>
            </a:pPr>
            <a:r>
              <a:rPr lang="en-US" dirty="0" smtClean="0"/>
              <a:t>  Website feedback</a:t>
            </a:r>
          </a:p>
          <a:p>
            <a:pPr>
              <a:buFont typeface="Arial" pitchFamily="34" charset="0"/>
              <a:buChar char="•"/>
            </a:pPr>
            <a:r>
              <a:rPr lang="en-US" dirty="0" smtClean="0"/>
              <a:t>  Outreach</a:t>
            </a:r>
          </a:p>
          <a:p>
            <a:pPr>
              <a:buFont typeface="Arial" pitchFamily="34" charset="0"/>
              <a:buChar char="•"/>
            </a:pPr>
            <a:r>
              <a:rPr lang="en-US" dirty="0" smtClean="0"/>
              <a:t>  BMP targeting</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animEffect transition="in" filter="fade">
                                      <p:cBhvr>
                                        <p:cTn id="15" dur="500"/>
                                        <p:tgtEl>
                                          <p:spTgt spid="26">
                                            <p:txEl>
                                              <p:pRg st="0" end="0"/>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6">
                                            <p:txEl>
                                              <p:pRg st="1" end="1"/>
                                            </p:txEl>
                                          </p:spTgt>
                                        </p:tgtEl>
                                        <p:attrNameLst>
                                          <p:attrName>style.visibility</p:attrName>
                                        </p:attrNameLst>
                                      </p:cBhvr>
                                      <p:to>
                                        <p:strVal val="visible"/>
                                      </p:to>
                                    </p:set>
                                    <p:animEffect transition="in" filter="fade">
                                      <p:cBhvr>
                                        <p:cTn id="19" dur="500"/>
                                        <p:tgtEl>
                                          <p:spTgt spid="26">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fade">
                                      <p:cBhvr>
                                        <p:cTn id="32" dur="500"/>
                                        <p:tgtEl>
                                          <p:spTgt spid="15">
                                            <p:txEl>
                                              <p:pRg st="0" end="0"/>
                                            </p:txEl>
                                          </p:spTgt>
                                        </p:tgtEl>
                                      </p:cBhvr>
                                    </p:animEffect>
                                  </p:childTnLst>
                                </p:cTn>
                              </p:par>
                            </p:childTnLst>
                          </p:cTn>
                        </p:par>
                        <p:par>
                          <p:cTn id="33" fill="hold">
                            <p:stCondLst>
                              <p:cond delay="1500"/>
                            </p:stCondLst>
                            <p:childTnLst>
                              <p:par>
                                <p:cTn id="34" presetID="10" presetClass="entr" presetSubtype="0" fill="hold" nodeType="afterEffect">
                                  <p:stCondLst>
                                    <p:cond delay="0"/>
                                  </p:stCondLst>
                                  <p:childTnLst>
                                    <p:set>
                                      <p:cBhvr>
                                        <p:cTn id="35" dur="1" fill="hold">
                                          <p:stCondLst>
                                            <p:cond delay="0"/>
                                          </p:stCondLst>
                                        </p:cTn>
                                        <p:tgtEl>
                                          <p:spTgt spid="15">
                                            <p:txEl>
                                              <p:pRg st="1" end="1"/>
                                            </p:txEl>
                                          </p:spTgt>
                                        </p:tgtEl>
                                        <p:attrNameLst>
                                          <p:attrName>style.visibility</p:attrName>
                                        </p:attrNameLst>
                                      </p:cBhvr>
                                      <p:to>
                                        <p:strVal val="visible"/>
                                      </p:to>
                                    </p:set>
                                    <p:animEffect transition="in" filter="fade">
                                      <p:cBhvr>
                                        <p:cTn id="36" dur="500"/>
                                        <p:tgtEl>
                                          <p:spTgt spid="15">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par>
                          <p:cTn id="42" fill="hold">
                            <p:stCondLst>
                              <p:cond delay="500"/>
                            </p:stCondLst>
                            <p:childTnLst>
                              <p:par>
                                <p:cTn id="43" presetID="10" presetClass="entr" presetSubtype="0" fill="hold"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par>
                          <p:cTn id="58" fill="hold">
                            <p:stCondLst>
                              <p:cond delay="500"/>
                            </p:stCondLst>
                            <p:childTnLst>
                              <p:par>
                                <p:cTn id="59" presetID="10" presetClass="entr" presetSubtype="0" fill="hold" grpId="0" nodeType="after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childTnLst>
                          </p:cTn>
                        </p:par>
                        <p:par>
                          <p:cTn id="62" fill="hold">
                            <p:stCondLst>
                              <p:cond delay="1000"/>
                            </p:stCondLst>
                            <p:childTnLst>
                              <p:par>
                                <p:cTn id="63" presetID="10" presetClass="entr" presetSubtype="0" fill="hold"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childTnLst>
                          </p:cTn>
                        </p:par>
                        <p:par>
                          <p:cTn id="66" fill="hold">
                            <p:stCondLst>
                              <p:cond delay="1500"/>
                            </p:stCondLst>
                            <p:childTnLst>
                              <p:par>
                                <p:cTn id="67" presetID="10" presetClass="entr" presetSubtype="0" fill="hold" nodeType="afterEffect">
                                  <p:stCondLst>
                                    <p:cond delay="0"/>
                                  </p:stCondLst>
                                  <p:childTnLst>
                                    <p:set>
                                      <p:cBhvr>
                                        <p:cTn id="68" dur="1" fill="hold">
                                          <p:stCondLst>
                                            <p:cond delay="0"/>
                                          </p:stCondLst>
                                        </p:cTn>
                                        <p:tgtEl>
                                          <p:spTgt spid="28">
                                            <p:txEl>
                                              <p:pRg st="0" end="0"/>
                                            </p:txEl>
                                          </p:spTgt>
                                        </p:tgtEl>
                                        <p:attrNameLst>
                                          <p:attrName>style.visibility</p:attrName>
                                        </p:attrNameLst>
                                      </p:cBhvr>
                                      <p:to>
                                        <p:strVal val="visible"/>
                                      </p:to>
                                    </p:set>
                                    <p:animEffect transition="in" filter="fade">
                                      <p:cBhvr>
                                        <p:cTn id="69" dur="500"/>
                                        <p:tgtEl>
                                          <p:spTgt spid="28">
                                            <p:txEl>
                                              <p:pRg st="0" end="0"/>
                                            </p:txEl>
                                          </p:spTgt>
                                        </p:tgtEl>
                                      </p:cBhvr>
                                    </p:animEffect>
                                  </p:childTnLst>
                                </p:cTn>
                              </p:par>
                            </p:childTnLst>
                          </p:cTn>
                        </p:par>
                        <p:par>
                          <p:cTn id="70" fill="hold">
                            <p:stCondLst>
                              <p:cond delay="2000"/>
                            </p:stCondLst>
                            <p:childTnLst>
                              <p:par>
                                <p:cTn id="71" presetID="10" presetClass="entr" presetSubtype="0" fill="hold" nodeType="afterEffect">
                                  <p:stCondLst>
                                    <p:cond delay="0"/>
                                  </p:stCondLst>
                                  <p:childTnLst>
                                    <p:set>
                                      <p:cBhvr>
                                        <p:cTn id="72" dur="1" fill="hold">
                                          <p:stCondLst>
                                            <p:cond delay="0"/>
                                          </p:stCondLst>
                                        </p:cTn>
                                        <p:tgtEl>
                                          <p:spTgt spid="28">
                                            <p:txEl>
                                              <p:pRg st="1" end="1"/>
                                            </p:txEl>
                                          </p:spTgt>
                                        </p:tgtEl>
                                        <p:attrNameLst>
                                          <p:attrName>style.visibility</p:attrName>
                                        </p:attrNameLst>
                                      </p:cBhvr>
                                      <p:to>
                                        <p:strVal val="visible"/>
                                      </p:to>
                                    </p:set>
                                    <p:animEffect transition="in" filter="fade">
                                      <p:cBhvr>
                                        <p:cTn id="73" dur="500"/>
                                        <p:tgtEl>
                                          <p:spTgt spid="28">
                                            <p:txEl>
                                              <p:pRg st="1" end="1"/>
                                            </p:txEl>
                                          </p:spTgt>
                                        </p:tgtEl>
                                      </p:cBhvr>
                                    </p:animEffect>
                                  </p:childTnLst>
                                </p:cTn>
                              </p:par>
                            </p:childTnLst>
                          </p:cTn>
                        </p:par>
                        <p:par>
                          <p:cTn id="74" fill="hold">
                            <p:stCondLst>
                              <p:cond delay="2500"/>
                            </p:stCondLst>
                            <p:childTnLst>
                              <p:par>
                                <p:cTn id="75" presetID="10" presetClass="entr" presetSubtype="0" fill="hold" nodeType="afterEffect">
                                  <p:stCondLst>
                                    <p:cond delay="0"/>
                                  </p:stCondLst>
                                  <p:childTnLst>
                                    <p:set>
                                      <p:cBhvr>
                                        <p:cTn id="76" dur="1" fill="hold">
                                          <p:stCondLst>
                                            <p:cond delay="0"/>
                                          </p:stCondLst>
                                        </p:cTn>
                                        <p:tgtEl>
                                          <p:spTgt spid="28">
                                            <p:txEl>
                                              <p:pRg st="2" end="2"/>
                                            </p:txEl>
                                          </p:spTgt>
                                        </p:tgtEl>
                                        <p:attrNameLst>
                                          <p:attrName>style.visibility</p:attrName>
                                        </p:attrNameLst>
                                      </p:cBhvr>
                                      <p:to>
                                        <p:strVal val="visible"/>
                                      </p:to>
                                    </p:set>
                                    <p:animEffect transition="in" filter="fade">
                                      <p:cBhvr>
                                        <p:cTn id="77" dur="500"/>
                                        <p:tgtEl>
                                          <p:spTgt spid="28">
                                            <p:txEl>
                                              <p:pRg st="2" end="2"/>
                                            </p:txEl>
                                          </p:spTgt>
                                        </p:tgtEl>
                                      </p:cBhvr>
                                    </p:animEffect>
                                  </p:childTnLst>
                                </p:cTn>
                              </p:par>
                            </p:childTnLst>
                          </p:cTn>
                        </p:par>
                        <p:par>
                          <p:cTn id="78" fill="hold">
                            <p:stCondLst>
                              <p:cond delay="3000"/>
                            </p:stCondLst>
                            <p:childTnLst>
                              <p:par>
                                <p:cTn id="79" presetID="10" presetClass="entr" presetSubtype="0" fill="hold" nodeType="afterEffect">
                                  <p:stCondLst>
                                    <p:cond delay="0"/>
                                  </p:stCondLst>
                                  <p:childTnLst>
                                    <p:set>
                                      <p:cBhvr>
                                        <p:cTn id="80" dur="1" fill="hold">
                                          <p:stCondLst>
                                            <p:cond delay="0"/>
                                          </p:stCondLst>
                                        </p:cTn>
                                        <p:tgtEl>
                                          <p:spTgt spid="28">
                                            <p:txEl>
                                              <p:pRg st="3" end="3"/>
                                            </p:txEl>
                                          </p:spTgt>
                                        </p:tgtEl>
                                        <p:attrNameLst>
                                          <p:attrName>style.visibility</p:attrName>
                                        </p:attrNameLst>
                                      </p:cBhvr>
                                      <p:to>
                                        <p:strVal val="visible"/>
                                      </p:to>
                                    </p:set>
                                    <p:animEffect transition="in" filter="fade">
                                      <p:cBhvr>
                                        <p:cTn id="81"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8" grpId="0"/>
      <p:bldP spid="25"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Number Placeholder 5"/>
          <p:cNvSpPr>
            <a:spLocks noGrp="1"/>
          </p:cNvSpPr>
          <p:nvPr>
            <p:ph type="sldNum" sz="quarter" idx="12"/>
          </p:nvPr>
        </p:nvSpPr>
        <p:spPr>
          <a:noFill/>
        </p:spPr>
        <p:txBody>
          <a:bodyPr/>
          <a:lstStyle/>
          <a:p>
            <a:fld id="{65897BB0-9191-4DCF-B72A-1BB57C2153BB}" type="slidenum">
              <a:rPr lang="en-US" smtClean="0"/>
              <a:pPr/>
              <a:t>6</a:t>
            </a:fld>
            <a:endParaRPr lang="en-US" dirty="0" smtClean="0"/>
          </a:p>
        </p:txBody>
      </p:sp>
      <p:sp>
        <p:nvSpPr>
          <p:cNvPr id="2051" name="Rectangle 2"/>
          <p:cNvSpPr>
            <a:spLocks noGrp="1" noChangeArrowheads="1"/>
          </p:cNvSpPr>
          <p:nvPr>
            <p:ph type="title"/>
          </p:nvPr>
        </p:nvSpPr>
        <p:spPr>
          <a:xfrm>
            <a:off x="1219200" y="0"/>
            <a:ext cx="7010400" cy="825500"/>
          </a:xfrm>
          <a:noFill/>
        </p:spPr>
        <p:txBody>
          <a:bodyPr/>
          <a:lstStyle/>
          <a:p>
            <a:pPr eaLnBrk="1" hangingPunct="1"/>
            <a:r>
              <a:rPr lang="en-US" sz="3200" b="1" dirty="0" smtClean="0">
                <a:solidFill>
                  <a:srgbClr val="E8A73E"/>
                </a:solidFill>
              </a:rPr>
              <a:t>Conservation Innovation Grant</a:t>
            </a:r>
          </a:p>
        </p:txBody>
      </p:sp>
      <p:sp>
        <p:nvSpPr>
          <p:cNvPr id="9" name="TextBox 8"/>
          <p:cNvSpPr txBox="1"/>
          <p:nvPr/>
        </p:nvSpPr>
        <p:spPr>
          <a:xfrm>
            <a:off x="889000" y="1003301"/>
            <a:ext cx="2400300" cy="461665"/>
          </a:xfrm>
          <a:prstGeom prst="rect">
            <a:avLst/>
          </a:prstGeom>
          <a:noFill/>
        </p:spPr>
        <p:txBody>
          <a:bodyPr wrap="square" rtlCol="0">
            <a:spAutoFit/>
          </a:bodyPr>
          <a:lstStyle/>
          <a:p>
            <a:r>
              <a:rPr lang="en-US" sz="2400" b="1" dirty="0" smtClean="0"/>
              <a:t>Project Goal:</a:t>
            </a:r>
          </a:p>
        </p:txBody>
      </p:sp>
      <p:sp>
        <p:nvSpPr>
          <p:cNvPr id="19" name="TextBox 18"/>
          <p:cNvSpPr txBox="1"/>
          <p:nvPr/>
        </p:nvSpPr>
        <p:spPr>
          <a:xfrm>
            <a:off x="2984500" y="990601"/>
            <a:ext cx="6159500" cy="646331"/>
          </a:xfrm>
          <a:prstGeom prst="rect">
            <a:avLst/>
          </a:prstGeom>
          <a:noFill/>
        </p:spPr>
        <p:txBody>
          <a:bodyPr wrap="square" rtlCol="0">
            <a:spAutoFit/>
          </a:bodyPr>
          <a:lstStyle/>
          <a:p>
            <a:pPr>
              <a:spcBef>
                <a:spcPct val="50000"/>
              </a:spcBef>
            </a:pPr>
            <a:r>
              <a:rPr lang="en-US" dirty="0" smtClean="0"/>
              <a:t>Apply conservation tools to the worst erosion areas for maximum sediment/nutrient reductions.</a:t>
            </a:r>
            <a:endParaRPr lang="en-US" dirty="0"/>
          </a:p>
        </p:txBody>
      </p:sp>
      <p:grpSp>
        <p:nvGrpSpPr>
          <p:cNvPr id="56" name="Group 55"/>
          <p:cNvGrpSpPr/>
          <p:nvPr/>
        </p:nvGrpSpPr>
        <p:grpSpPr>
          <a:xfrm>
            <a:off x="863600" y="2362201"/>
            <a:ext cx="5118100" cy="461665"/>
            <a:chOff x="863600" y="1905001"/>
            <a:chExt cx="5118100" cy="461665"/>
          </a:xfrm>
        </p:grpSpPr>
        <p:sp>
          <p:nvSpPr>
            <p:cNvPr id="20" name="TextBox 19"/>
            <p:cNvSpPr txBox="1"/>
            <p:nvPr/>
          </p:nvSpPr>
          <p:spPr>
            <a:xfrm>
              <a:off x="863600" y="1905001"/>
              <a:ext cx="1968500" cy="461665"/>
            </a:xfrm>
            <a:prstGeom prst="rect">
              <a:avLst/>
            </a:prstGeom>
            <a:noFill/>
          </p:spPr>
          <p:txBody>
            <a:bodyPr wrap="square" rtlCol="0">
              <a:spAutoFit/>
            </a:bodyPr>
            <a:lstStyle/>
            <a:p>
              <a:r>
                <a:rPr lang="en-US" sz="2400" b="1" dirty="0" smtClean="0"/>
                <a:t>Pilot Areas:</a:t>
              </a:r>
            </a:p>
          </p:txBody>
        </p:sp>
        <p:sp>
          <p:nvSpPr>
            <p:cNvPr id="21" name="TextBox 20"/>
            <p:cNvSpPr txBox="1"/>
            <p:nvPr/>
          </p:nvSpPr>
          <p:spPr>
            <a:xfrm>
              <a:off x="2794000" y="1955801"/>
              <a:ext cx="3187700" cy="369332"/>
            </a:xfrm>
            <a:prstGeom prst="rect">
              <a:avLst/>
            </a:prstGeom>
            <a:noFill/>
          </p:spPr>
          <p:txBody>
            <a:bodyPr wrap="square" rtlCol="0">
              <a:spAutoFit/>
            </a:bodyPr>
            <a:lstStyle/>
            <a:p>
              <a:pPr>
                <a:spcBef>
                  <a:spcPct val="50000"/>
                </a:spcBef>
              </a:pPr>
              <a:r>
                <a:rPr lang="en-US" dirty="0" smtClean="0"/>
                <a:t>Three Michigan watersheds</a:t>
              </a:r>
              <a:endParaRPr lang="en-US" dirty="0"/>
            </a:p>
          </p:txBody>
        </p:sp>
      </p:grpSp>
      <p:grpSp>
        <p:nvGrpSpPr>
          <p:cNvPr id="52" name="Group 51"/>
          <p:cNvGrpSpPr/>
          <p:nvPr/>
        </p:nvGrpSpPr>
        <p:grpSpPr>
          <a:xfrm>
            <a:off x="2654300" y="2730500"/>
            <a:ext cx="6489700" cy="3681412"/>
            <a:chOff x="2489200" y="2298700"/>
            <a:chExt cx="7011552" cy="4113212"/>
          </a:xfrm>
        </p:grpSpPr>
        <p:pic>
          <p:nvPicPr>
            <p:cNvPr id="22" name="Picture 21" descr="study_area.gif"/>
            <p:cNvPicPr>
              <a:picLocks noChangeAspect="1"/>
            </p:cNvPicPr>
            <p:nvPr/>
          </p:nvPicPr>
          <p:blipFill>
            <a:blip r:embed="rId3" cstate="print"/>
            <a:stretch>
              <a:fillRect/>
            </a:stretch>
          </p:blipFill>
          <p:spPr>
            <a:xfrm>
              <a:off x="2489200" y="2298700"/>
              <a:ext cx="4533900" cy="4113212"/>
            </a:xfrm>
            <a:prstGeom prst="rect">
              <a:avLst/>
            </a:prstGeom>
          </p:spPr>
        </p:pic>
        <p:grpSp>
          <p:nvGrpSpPr>
            <p:cNvPr id="48" name="Group 47"/>
            <p:cNvGrpSpPr/>
            <p:nvPr/>
          </p:nvGrpSpPr>
          <p:grpSpPr>
            <a:xfrm>
              <a:off x="6692900" y="3975101"/>
              <a:ext cx="2807852" cy="888999"/>
              <a:chOff x="6692900" y="3975101"/>
              <a:chExt cx="2807852" cy="888999"/>
            </a:xfrm>
          </p:grpSpPr>
          <p:cxnSp>
            <p:nvCxnSpPr>
              <p:cNvPr id="33" name="Straight Arrow Connector 32"/>
              <p:cNvCxnSpPr>
                <a:stCxn id="22" idx="3"/>
              </p:cNvCxnSpPr>
              <p:nvPr/>
            </p:nvCxnSpPr>
            <p:spPr>
              <a:xfrm flipH="1">
                <a:off x="6692900" y="4355306"/>
                <a:ext cx="330200" cy="50879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959600" y="3975101"/>
                <a:ext cx="2541152" cy="412652"/>
              </a:xfrm>
              <a:prstGeom prst="rect">
                <a:avLst/>
              </a:prstGeom>
              <a:noFill/>
            </p:spPr>
            <p:txBody>
              <a:bodyPr wrap="square" rtlCol="0">
                <a:spAutoFit/>
              </a:bodyPr>
              <a:lstStyle/>
              <a:p>
                <a:pPr>
                  <a:spcBef>
                    <a:spcPct val="50000"/>
                  </a:spcBef>
                </a:pPr>
                <a:r>
                  <a:rPr lang="en-US" dirty="0" smtClean="0"/>
                  <a:t>Pigeon-</a:t>
                </a:r>
                <a:r>
                  <a:rPr lang="en-US" dirty="0" err="1" smtClean="0"/>
                  <a:t>Wiscoggin</a:t>
                </a:r>
                <a:endParaRPr lang="en-US" dirty="0"/>
              </a:p>
            </p:txBody>
          </p:sp>
        </p:grpSp>
        <p:grpSp>
          <p:nvGrpSpPr>
            <p:cNvPr id="50" name="Group 49"/>
            <p:cNvGrpSpPr/>
            <p:nvPr/>
          </p:nvGrpSpPr>
          <p:grpSpPr>
            <a:xfrm>
              <a:off x="3120378" y="4572001"/>
              <a:ext cx="2429522" cy="825499"/>
              <a:chOff x="3209278" y="4572001"/>
              <a:chExt cx="2429522" cy="825499"/>
            </a:xfrm>
          </p:grpSpPr>
          <p:cxnSp>
            <p:nvCxnSpPr>
              <p:cNvPr id="38" name="Straight Arrow Connector 37"/>
              <p:cNvCxnSpPr/>
              <p:nvPr/>
            </p:nvCxnSpPr>
            <p:spPr>
              <a:xfrm>
                <a:off x="4064000" y="4851400"/>
                <a:ext cx="1574800" cy="5461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209278" y="4572001"/>
                <a:ext cx="1019823" cy="412652"/>
              </a:xfrm>
              <a:prstGeom prst="rect">
                <a:avLst/>
              </a:prstGeom>
              <a:noFill/>
            </p:spPr>
            <p:txBody>
              <a:bodyPr wrap="square" rtlCol="0">
                <a:spAutoFit/>
              </a:bodyPr>
              <a:lstStyle/>
              <a:p>
                <a:pPr>
                  <a:spcBef>
                    <a:spcPct val="50000"/>
                  </a:spcBef>
                </a:pPr>
                <a:r>
                  <a:rPr lang="en-US" dirty="0" smtClean="0"/>
                  <a:t>Maple</a:t>
                </a:r>
                <a:endParaRPr lang="en-US" dirty="0"/>
              </a:p>
            </p:txBody>
          </p:sp>
        </p:grpSp>
        <p:grpSp>
          <p:nvGrpSpPr>
            <p:cNvPr id="49" name="Group 48"/>
            <p:cNvGrpSpPr/>
            <p:nvPr/>
          </p:nvGrpSpPr>
          <p:grpSpPr>
            <a:xfrm>
              <a:off x="6667501" y="5854701"/>
              <a:ext cx="2023698" cy="412652"/>
              <a:chOff x="6756401" y="5854701"/>
              <a:chExt cx="2023698" cy="412652"/>
            </a:xfrm>
          </p:grpSpPr>
          <p:cxnSp>
            <p:nvCxnSpPr>
              <p:cNvPr id="42" name="Straight Arrow Connector 41"/>
              <p:cNvCxnSpPr>
                <a:stCxn id="43" idx="1"/>
              </p:cNvCxnSpPr>
              <p:nvPr/>
            </p:nvCxnSpPr>
            <p:spPr>
              <a:xfrm rot="10800000" flipV="1">
                <a:off x="6756401" y="6061027"/>
                <a:ext cx="876299" cy="16197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632700" y="5854701"/>
                <a:ext cx="1147399" cy="412652"/>
              </a:xfrm>
              <a:prstGeom prst="rect">
                <a:avLst/>
              </a:prstGeom>
              <a:noFill/>
            </p:spPr>
            <p:txBody>
              <a:bodyPr wrap="square" rtlCol="0">
                <a:spAutoFit/>
              </a:bodyPr>
              <a:lstStyle/>
              <a:p>
                <a:pPr>
                  <a:spcBef>
                    <a:spcPct val="50000"/>
                  </a:spcBef>
                </a:pPr>
                <a:r>
                  <a:rPr lang="en-US" dirty="0" smtClean="0"/>
                  <a:t>Raisin</a:t>
                </a:r>
                <a:endParaRPr lang="en-US" dirty="0"/>
              </a:p>
            </p:txBody>
          </p:sp>
        </p:grpSp>
      </p:grpSp>
      <p:grpSp>
        <p:nvGrpSpPr>
          <p:cNvPr id="57" name="Group 56"/>
          <p:cNvGrpSpPr/>
          <p:nvPr/>
        </p:nvGrpSpPr>
        <p:grpSpPr>
          <a:xfrm>
            <a:off x="901700" y="1727201"/>
            <a:ext cx="3365500" cy="461665"/>
            <a:chOff x="939800" y="1549401"/>
            <a:chExt cx="3365500" cy="461665"/>
          </a:xfrm>
        </p:grpSpPr>
        <p:sp>
          <p:nvSpPr>
            <p:cNvPr id="53" name="TextBox 52"/>
            <p:cNvSpPr txBox="1"/>
            <p:nvPr/>
          </p:nvSpPr>
          <p:spPr>
            <a:xfrm>
              <a:off x="939800" y="1549401"/>
              <a:ext cx="1968500" cy="461665"/>
            </a:xfrm>
            <a:prstGeom prst="rect">
              <a:avLst/>
            </a:prstGeom>
            <a:noFill/>
          </p:spPr>
          <p:txBody>
            <a:bodyPr wrap="square" rtlCol="0">
              <a:spAutoFit/>
            </a:bodyPr>
            <a:lstStyle/>
            <a:p>
              <a:r>
                <a:rPr lang="en-US" sz="2400" b="1" dirty="0" smtClean="0"/>
                <a:t>Timeframe:</a:t>
              </a:r>
            </a:p>
          </p:txBody>
        </p:sp>
        <p:sp>
          <p:nvSpPr>
            <p:cNvPr id="54" name="TextBox 53"/>
            <p:cNvSpPr txBox="1"/>
            <p:nvPr/>
          </p:nvSpPr>
          <p:spPr>
            <a:xfrm>
              <a:off x="2832100" y="1612901"/>
              <a:ext cx="1473200" cy="369332"/>
            </a:xfrm>
            <a:prstGeom prst="rect">
              <a:avLst/>
            </a:prstGeom>
            <a:noFill/>
          </p:spPr>
          <p:txBody>
            <a:bodyPr wrap="square" rtlCol="0">
              <a:spAutoFit/>
            </a:bodyPr>
            <a:lstStyle/>
            <a:p>
              <a:pPr>
                <a:spcBef>
                  <a:spcPct val="50000"/>
                </a:spcBef>
              </a:pPr>
              <a:r>
                <a:rPr lang="en-US" dirty="0" smtClean="0"/>
                <a:t>2007 - 2009</a:t>
              </a:r>
              <a:endParaRPr lang="en-US" dirty="0"/>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p>
            <a:fld id="{5E46D306-3418-4117-8962-3FEE3868FD4E}" type="slidenum">
              <a:rPr lang="en-US" smtClean="0"/>
              <a:pPr/>
              <a:t>7</a:t>
            </a:fld>
            <a:endParaRPr lang="en-US" smtClean="0"/>
          </a:p>
        </p:txBody>
      </p:sp>
      <p:pic>
        <p:nvPicPr>
          <p:cNvPr id="5123" name="Picture 2" descr="sed_12dig_yel"/>
          <p:cNvPicPr>
            <a:picLocks noChangeAspect="1" noChangeArrowheads="1"/>
          </p:cNvPicPr>
          <p:nvPr/>
        </p:nvPicPr>
        <p:blipFill>
          <a:blip r:embed="rId3" cstate="print"/>
          <a:srcRect/>
          <a:stretch>
            <a:fillRect/>
          </a:stretch>
        </p:blipFill>
        <p:spPr bwMode="auto">
          <a:xfrm>
            <a:off x="914400" y="966788"/>
            <a:ext cx="7848600" cy="5357812"/>
          </a:xfrm>
          <a:prstGeom prst="rect">
            <a:avLst/>
          </a:prstGeom>
          <a:noFill/>
          <a:ln w="9525">
            <a:noFill/>
            <a:miter lim="800000"/>
            <a:headEnd/>
            <a:tailEnd/>
          </a:ln>
        </p:spPr>
      </p:pic>
      <p:sp>
        <p:nvSpPr>
          <p:cNvPr id="5124" name="Rectangle 3"/>
          <p:cNvSpPr>
            <a:spLocks noGrp="1" noChangeArrowheads="1"/>
          </p:cNvSpPr>
          <p:nvPr>
            <p:ph type="title"/>
          </p:nvPr>
        </p:nvSpPr>
        <p:spPr>
          <a:xfrm>
            <a:off x="762000" y="152400"/>
            <a:ext cx="8229600" cy="609600"/>
          </a:xfrm>
          <a:noFill/>
        </p:spPr>
        <p:txBody>
          <a:bodyPr/>
          <a:lstStyle/>
          <a:p>
            <a:pPr eaLnBrk="1" hangingPunct="1"/>
            <a:r>
              <a:rPr lang="en-US" sz="2400" b="1" dirty="0" smtClean="0">
                <a:solidFill>
                  <a:srgbClr val="E8A73E"/>
                </a:solidFill>
              </a:rPr>
              <a:t>Targeting Sub-watersheds</a:t>
            </a:r>
            <a:br>
              <a:rPr lang="en-US" sz="2400" b="1" dirty="0" smtClean="0">
                <a:solidFill>
                  <a:srgbClr val="E8A73E"/>
                </a:solidFill>
              </a:rPr>
            </a:br>
            <a:r>
              <a:rPr lang="en-US" sz="2400" b="1" dirty="0" smtClean="0">
                <a:solidFill>
                  <a:srgbClr val="E8A73E"/>
                </a:solidFill>
              </a:rPr>
              <a:t> (Lower Maumee River Watershed – NW Ohio)</a:t>
            </a: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p:spPr>
        <p:txBody>
          <a:bodyPr/>
          <a:lstStyle/>
          <a:p>
            <a:fld id="{CC62DC58-6262-42BE-9356-7B68247775B8}" type="slidenum">
              <a:rPr lang="en-US" smtClean="0"/>
              <a:pPr/>
              <a:t>8</a:t>
            </a:fld>
            <a:endParaRPr lang="en-US" smtClean="0"/>
          </a:p>
        </p:txBody>
      </p:sp>
      <p:graphicFrame>
        <p:nvGraphicFramePr>
          <p:cNvPr id="141314" name="Group 2"/>
          <p:cNvGraphicFramePr>
            <a:graphicFrameLocks noGrp="1"/>
          </p:cNvGraphicFramePr>
          <p:nvPr>
            <p:ph idx="1"/>
          </p:nvPr>
        </p:nvGraphicFramePr>
        <p:xfrm>
          <a:off x="990600" y="1143000"/>
          <a:ext cx="8153400" cy="4953001"/>
        </p:xfrm>
        <a:graphic>
          <a:graphicData uri="http://schemas.openxmlformats.org/drawingml/2006/table">
            <a:tbl>
              <a:tblPr/>
              <a:tblGrid>
                <a:gridCol w="1219200"/>
                <a:gridCol w="188913"/>
                <a:gridCol w="860425"/>
                <a:gridCol w="1884362"/>
                <a:gridCol w="293688"/>
                <a:gridCol w="1482725"/>
                <a:gridCol w="1157287"/>
                <a:gridCol w="1066800"/>
              </a:tblGrid>
              <a:tr h="1152525">
                <a:tc gridSpan="2">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Narrow" pitchFamily="34" charset="0"/>
                          <a:cs typeface="Arial" charset="0"/>
                        </a:rPr>
                        <a:t>Watershed</a:t>
                      </a:r>
                      <a:endParaRPr kumimoji="0" lang="en-US" sz="1800" b="0" i="0" u="none" strike="noStrike" cap="none" normalizeH="0" baseline="0" dirty="0" smtClean="0">
                        <a:ln>
                          <a:noFill/>
                        </a:ln>
                        <a:solidFill>
                          <a:schemeClr val="tx1"/>
                        </a:solidFill>
                        <a:effectLst/>
                        <a:latin typeface="Arial Narrow" pitchFamily="34" charset="0"/>
                      </a:endParaRPr>
                    </a:p>
                  </a:txBody>
                  <a:tcPr anchor="ctr" horzOverflow="overflow">
                    <a:lnL cap="flat">
                      <a:noFill/>
                    </a:lnL>
                    <a:lnR>
                      <a:noFill/>
                    </a:lnR>
                    <a:lnT cap="flat">
                      <a:noFill/>
                    </a:lnT>
                    <a:lnB>
                      <a:noFill/>
                    </a:lnB>
                    <a:lnTlToBr>
                      <a:noFill/>
                    </a:lnTlToBr>
                    <a:lnBlToTr>
                      <a:noFill/>
                    </a:lnBlToTr>
                    <a:solidFill>
                      <a:srgbClr val="C0C0C0"/>
                    </a:solidFill>
                  </a:tcPr>
                </a:tc>
                <a:tc hMerge="1">
                  <a:txBody>
                    <a:bodyPr/>
                    <a:lstStyle/>
                    <a:p>
                      <a:endParaRPr lang="en-US"/>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cs typeface="Arial" charset="0"/>
                        </a:rPr>
                        <a:t>Acres</a:t>
                      </a:r>
                      <a:endParaRPr kumimoji="0" lang="en-US" sz="1800" b="0" i="0" u="none" strike="noStrike" cap="none" normalizeH="0" baseline="0" smtClean="0">
                        <a:ln>
                          <a:noFill/>
                        </a:ln>
                        <a:solidFill>
                          <a:schemeClr val="tx1"/>
                        </a:solidFill>
                        <a:effectLst/>
                        <a:latin typeface="Arial Narrow" pitchFamily="34" charset="0"/>
                      </a:endParaRPr>
                    </a:p>
                  </a:txBody>
                  <a:tcPr anchor="ctr" horzOverflow="overflow">
                    <a:lnL>
                      <a:noFill/>
                    </a:lnL>
                    <a:lnR>
                      <a:noFill/>
                    </a:lnR>
                    <a:lnT cap="flat">
                      <a:noFill/>
                    </a:lnT>
                    <a:lnB>
                      <a:noFill/>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cs typeface="Arial" charset="0"/>
                        </a:rPr>
                        <a:t>Tillage</a:t>
                      </a:r>
                      <a:endParaRPr kumimoji="0" lang="en-US" sz="1800" b="0" i="0" u="none" strike="noStrike" cap="none" normalizeH="0" baseline="0" smtClean="0">
                        <a:ln>
                          <a:noFill/>
                        </a:ln>
                        <a:solidFill>
                          <a:schemeClr val="tx1"/>
                        </a:solidFill>
                        <a:effectLst/>
                        <a:latin typeface="Arial Narrow" pitchFamily="34" charset="0"/>
                      </a:endParaRPr>
                    </a:p>
                  </a:txBody>
                  <a:tcPr anchor="ctr" horzOverflow="overflow">
                    <a:lnL>
                      <a:noFill/>
                    </a:lnL>
                    <a:lnR>
                      <a:noFill/>
                    </a:lnR>
                    <a:lnT cap="flat">
                      <a:noFill/>
                    </a:lnT>
                    <a:lnB>
                      <a:noFill/>
                    </a:lnB>
                    <a:lnTlToBr>
                      <a:noFill/>
                    </a:lnTlToBr>
                    <a:lnBlToTr>
                      <a:noFill/>
                    </a:lnBlToTr>
                    <a:solidFill>
                      <a:srgbClr val="C0C0C0"/>
                    </a:solid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cs typeface="Arial" charset="0"/>
                        </a:rPr>
                        <a:t>Total Sediment (tons)</a:t>
                      </a:r>
                      <a:endParaRPr kumimoji="0" lang="en-US" sz="1800" b="0" i="0" u="none" strike="noStrike" cap="none" normalizeH="0" baseline="0" smtClean="0">
                        <a:ln>
                          <a:noFill/>
                        </a:ln>
                        <a:solidFill>
                          <a:schemeClr val="tx1"/>
                        </a:solidFill>
                        <a:effectLst/>
                        <a:latin typeface="Arial Narrow" pitchFamily="34" charset="0"/>
                      </a:endParaRPr>
                    </a:p>
                  </a:txBody>
                  <a:tcPr anchor="ctr" horzOverflow="overflow">
                    <a:lnL>
                      <a:noFill/>
                    </a:lnL>
                    <a:lnR>
                      <a:noFill/>
                    </a:lnR>
                    <a:lnT cap="flat">
                      <a:noFill/>
                    </a:lnT>
                    <a:lnB>
                      <a:noFill/>
                    </a:lnB>
                    <a:lnTlToBr>
                      <a:noFill/>
                    </a:lnTlToBr>
                    <a:lnBlToTr>
                      <a:noFill/>
                    </a:lnBlToTr>
                    <a:solidFill>
                      <a:srgbClr val="C0C0C0"/>
                    </a:solidFill>
                  </a:tcPr>
                </a:tc>
                <a:tc hMerge="1">
                  <a:txBody>
                    <a:bodyPr/>
                    <a:lstStyle/>
                    <a:p>
                      <a:endParaRPr lang="en-US"/>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cs typeface="Arial" charset="0"/>
                        </a:rPr>
                        <a:t>Reduction</a:t>
                      </a:r>
                    </a:p>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cs typeface="Arial" charset="0"/>
                        </a:rPr>
                        <a:t>(tons)</a:t>
                      </a:r>
                      <a:endParaRPr kumimoji="0" lang="en-US" sz="1800" b="0" i="0" u="none" strike="noStrike" cap="none" normalizeH="0" baseline="0" smtClean="0">
                        <a:ln>
                          <a:noFill/>
                        </a:ln>
                        <a:solidFill>
                          <a:schemeClr val="tx1"/>
                        </a:solidFill>
                        <a:effectLst/>
                        <a:latin typeface="Arial Narrow" pitchFamily="34" charset="0"/>
                      </a:endParaRPr>
                    </a:p>
                  </a:txBody>
                  <a:tcPr anchor="ctr" horzOverflow="overflow">
                    <a:lnL>
                      <a:noFill/>
                    </a:lnL>
                    <a:lnR>
                      <a:noFill/>
                    </a:lnR>
                    <a:lnT cap="flat">
                      <a:noFill/>
                    </a:lnT>
                    <a:lnB>
                      <a:noFill/>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cs typeface="Arial" charset="0"/>
                        </a:rPr>
                        <a:t>Percent Change</a:t>
                      </a:r>
                      <a:endParaRPr kumimoji="0" lang="en-US" sz="1800" b="0" i="0" u="none" strike="noStrike" cap="none" normalizeH="0" baseline="0" smtClean="0">
                        <a:ln>
                          <a:noFill/>
                        </a:ln>
                        <a:solidFill>
                          <a:schemeClr val="tx1"/>
                        </a:solidFill>
                        <a:effectLst/>
                        <a:latin typeface="Arial Narrow" pitchFamily="34" charset="0"/>
                      </a:endParaRPr>
                    </a:p>
                  </a:txBody>
                  <a:tcPr anchor="ctr" horzOverflow="overflow">
                    <a:lnL>
                      <a:noFill/>
                    </a:lnL>
                    <a:lnR cap="flat">
                      <a:noFill/>
                    </a:lnR>
                    <a:lnT cap="flat">
                      <a:noFill/>
                    </a:lnT>
                    <a:lnB>
                      <a:noFill/>
                    </a:lnB>
                    <a:lnTlToBr>
                      <a:noFill/>
                    </a:lnTlToBr>
                    <a:lnBlToTr>
                      <a:noFill/>
                    </a:lnBlToTr>
                    <a:solidFill>
                      <a:srgbClr val="C0C0C0"/>
                    </a:solidFill>
                  </a:tcPr>
                </a:tc>
              </a:tr>
              <a:tr h="91916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Garret</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cap="flat">
                      <a:noFill/>
                    </a:lnL>
                    <a:lnR>
                      <a:noFill/>
                    </a:lnR>
                    <a:lnT>
                      <a:noFill/>
                    </a:lnT>
                    <a:lnB>
                      <a:noFill/>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18,065</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current practice</a:t>
                      </a: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1,591</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0</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0%</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cap="flat">
                      <a:noFill/>
                    </a:lnR>
                    <a:lnT>
                      <a:noFill/>
                    </a:lnT>
                    <a:lnB>
                      <a:noFill/>
                    </a:lnB>
                    <a:lnTlToBr>
                      <a:noFill/>
                    </a:lnTlToBr>
                    <a:lnBlToTr>
                      <a:noFill/>
                    </a:lnBlToTr>
                    <a:noFill/>
                  </a:tcPr>
                </a:tc>
              </a:tr>
              <a:tr h="49847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Garret</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cap="flat">
                      <a:noFill/>
                    </a:lnL>
                    <a:lnR>
                      <a:noFill/>
                    </a:lnR>
                    <a:lnT>
                      <a:noFill/>
                    </a:lnT>
                    <a:lnB>
                      <a:noFill/>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no till on worst 5% </a:t>
                      </a: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1,322</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FF0000"/>
                          </a:solidFill>
                          <a:effectLst/>
                          <a:latin typeface="Arial" charset="0"/>
                          <a:cs typeface="Arial" charset="0"/>
                        </a:rPr>
                        <a:t>269</a:t>
                      </a:r>
                      <a:endParaRPr kumimoji="0" lang="en-US" sz="2000" b="1" i="0" u="none" strike="noStrike" cap="none" normalizeH="0" baseline="0" smtClean="0">
                        <a:ln>
                          <a:noFill/>
                        </a:ln>
                        <a:solidFill>
                          <a:srgbClr val="FF0000"/>
                        </a:solidFill>
                        <a:effectLst/>
                        <a:latin typeface="Times New Roman" pitchFamily="18" charset="0"/>
                      </a:endParaRPr>
                    </a:p>
                  </a:txBody>
                  <a:tcPr anchor="b" horzOverflow="overflow">
                    <a:lnL>
                      <a:noFill/>
                    </a:lnL>
                    <a:lnR>
                      <a:noFill/>
                    </a:lnR>
                    <a:lnT>
                      <a:noFill/>
                    </a:lnT>
                    <a:lnB>
                      <a:noFill/>
                    </a:lnB>
                    <a:lnTlToBr>
                      <a:noFill/>
                    </a:lnTlToBr>
                    <a:lnBlToTr>
                      <a:noFill/>
                    </a:lnBlToTr>
                    <a:solidFill>
                      <a:srgbClr val="E8A73E"/>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17%</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cap="flat">
                      <a:noFill/>
                    </a:lnR>
                    <a:lnT>
                      <a:noFill/>
                    </a:lnT>
                    <a:lnB>
                      <a:noFill/>
                    </a:lnB>
                    <a:lnTlToBr>
                      <a:noFill/>
                    </a:lnTlToBr>
                    <a:lnBlToTr>
                      <a:noFill/>
                    </a:lnBlToTr>
                    <a:noFill/>
                  </a:tcPr>
                </a:tc>
              </a:tr>
              <a:tr h="5222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Garret</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cap="flat">
                      <a:noFill/>
                    </a:lnL>
                    <a:lnR>
                      <a:noFill/>
                    </a:lnR>
                    <a:lnT>
                      <a:noFill/>
                    </a:lnT>
                    <a:lnB>
                      <a:noFill/>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no till on worst 10%</a:t>
                      </a: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1,223</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FF0000"/>
                          </a:solidFill>
                          <a:effectLst/>
                          <a:latin typeface="Arial" charset="0"/>
                          <a:cs typeface="Arial" charset="0"/>
                        </a:rPr>
                        <a:t>368</a:t>
                      </a:r>
                      <a:endParaRPr kumimoji="0" lang="en-US" sz="2000" b="1" i="0" u="none" strike="noStrike" cap="none" normalizeH="0" baseline="0" smtClean="0">
                        <a:ln>
                          <a:noFill/>
                        </a:ln>
                        <a:solidFill>
                          <a:srgbClr val="FF0000"/>
                        </a:solidFill>
                        <a:effectLst/>
                        <a:latin typeface="Times New Roman" pitchFamily="18" charset="0"/>
                      </a:endParaRPr>
                    </a:p>
                  </a:txBody>
                  <a:tcPr anchor="b" horzOverflow="overflow">
                    <a:lnL>
                      <a:noFill/>
                    </a:lnL>
                    <a:lnR>
                      <a:noFill/>
                    </a:lnR>
                    <a:lnT>
                      <a:noFill/>
                    </a:lnT>
                    <a:lnB>
                      <a:noFill/>
                    </a:lnB>
                    <a:lnTlToBr>
                      <a:noFill/>
                    </a:lnTlToBr>
                    <a:lnBlToTr>
                      <a:noFill/>
                    </a:lnBlToTr>
                    <a:solidFill>
                      <a:srgbClr val="F7E2B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23%</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cap="flat">
                      <a:noFill/>
                    </a:lnR>
                    <a:lnT>
                      <a:noFill/>
                    </a:lnT>
                    <a:lnB>
                      <a:noFill/>
                    </a:lnB>
                    <a:lnTlToBr>
                      <a:noFill/>
                    </a:lnTlToBr>
                    <a:lnBlToTr>
                      <a:noFill/>
                    </a:lnBlToTr>
                    <a:noFill/>
                  </a:tcPr>
                </a:tc>
              </a:tr>
              <a:tr h="8636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Wolf</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cap="flat">
                      <a:noFill/>
                    </a:lnL>
                    <a:lnR>
                      <a:noFill/>
                    </a:lnR>
                    <a:lnT>
                      <a:noFill/>
                    </a:lnT>
                    <a:lnB>
                      <a:noFill/>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17,440</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current practice</a:t>
                      </a: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286</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0</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cap="flat">
                      <a:noFill/>
                    </a:lnR>
                    <a:lnT>
                      <a:noFill/>
                    </a:lnT>
                    <a:lnB>
                      <a:noFill/>
                    </a:lnB>
                    <a:lnTlToBr>
                      <a:noFill/>
                    </a:lnTlToBr>
                    <a:lnBlToTr>
                      <a:noFill/>
                    </a:lnBlToTr>
                    <a:noFill/>
                  </a:tcPr>
                </a:tc>
              </a:tr>
              <a:tr h="49847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Wolf</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cap="flat">
                      <a:noFill/>
                    </a:lnL>
                    <a:lnR>
                      <a:noFill/>
                    </a:lnR>
                    <a:lnT>
                      <a:noFill/>
                    </a:lnT>
                    <a:lnB>
                      <a:noFill/>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no till on worst 5% </a:t>
                      </a: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216</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FF0000"/>
                          </a:solidFill>
                          <a:effectLst/>
                          <a:latin typeface="Arial" charset="0"/>
                          <a:cs typeface="Arial" charset="0"/>
                        </a:rPr>
                        <a:t>69</a:t>
                      </a:r>
                      <a:endParaRPr kumimoji="0" lang="en-US" sz="2000" b="1" i="0" u="none" strike="noStrike" cap="none" normalizeH="0" baseline="0" smtClean="0">
                        <a:ln>
                          <a:noFill/>
                        </a:ln>
                        <a:solidFill>
                          <a:srgbClr val="FF0000"/>
                        </a:solidFill>
                        <a:effectLst/>
                        <a:latin typeface="Times New Roman" pitchFamily="18" charset="0"/>
                      </a:endParaRPr>
                    </a:p>
                  </a:txBody>
                  <a:tcPr anchor="b" horzOverflow="overflow">
                    <a:lnL>
                      <a:noFill/>
                    </a:lnL>
                    <a:lnR>
                      <a:noFill/>
                    </a:lnR>
                    <a:lnT>
                      <a:noFill/>
                    </a:lnT>
                    <a:lnB>
                      <a:noFill/>
                    </a:lnB>
                    <a:lnTlToBr>
                      <a:noFill/>
                    </a:lnTlToBr>
                    <a:lnBlToTr>
                      <a:noFill/>
                    </a:lnBlToTr>
                    <a:solidFill>
                      <a:srgbClr val="E8A73E"/>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cap="flat">
                      <a:noFill/>
                    </a:lnR>
                    <a:lnT>
                      <a:noFill/>
                    </a:lnT>
                    <a:lnB>
                      <a:noFill/>
                    </a:lnB>
                    <a:lnTlToBr>
                      <a:noFill/>
                    </a:lnTlToBr>
                    <a:lnBlToTr>
                      <a:noFill/>
                    </a:lnBlToTr>
                    <a:noFill/>
                  </a:tcPr>
                </a:tc>
              </a:tr>
              <a:tr h="49847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Wolf</a:t>
                      </a:r>
                      <a:endParaRPr kumimoji="0" lang="en-US" sz="2000" b="0" i="0" u="none" strike="noStrike" cap="none" normalizeH="0" baseline="0" dirty="0" smtClean="0">
                        <a:ln>
                          <a:noFill/>
                        </a:ln>
                        <a:solidFill>
                          <a:schemeClr val="tx1"/>
                        </a:solidFill>
                        <a:effectLst/>
                        <a:latin typeface="Times New Roman" pitchFamily="18" charset="0"/>
                      </a:endParaRPr>
                    </a:p>
                  </a:txBody>
                  <a:tcPr anchor="b" horzOverflow="overflow">
                    <a:lnL cap="flat">
                      <a:noFill/>
                    </a:lnL>
                    <a:lnR>
                      <a:noFill/>
                    </a:lnR>
                    <a:lnT>
                      <a:noFill/>
                    </a:lnT>
                    <a:lnB cap="flat">
                      <a:noFill/>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cap="flat">
                      <a:noFill/>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no till on worst 10%</a:t>
                      </a:r>
                      <a:endParaRPr kumimoji="0" lang="en-US" sz="18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202</a:t>
                      </a: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FF0000"/>
                          </a:solidFill>
                          <a:effectLst/>
                          <a:latin typeface="Arial" charset="0"/>
                          <a:cs typeface="Arial" charset="0"/>
                        </a:rPr>
                        <a:t>84</a:t>
                      </a:r>
                      <a:endParaRPr kumimoji="0" lang="en-US" sz="2000" b="1" i="0" u="none" strike="noStrike" cap="none" normalizeH="0" baseline="0" smtClean="0">
                        <a:ln>
                          <a:noFill/>
                        </a:ln>
                        <a:solidFill>
                          <a:srgbClr val="FF0000"/>
                        </a:solidFill>
                        <a:effectLst/>
                        <a:latin typeface="Times New Roman" pitchFamily="18" charset="0"/>
                      </a:endParaRPr>
                    </a:p>
                  </a:txBody>
                  <a:tcPr anchor="b" horzOverflow="overflow">
                    <a:lnL>
                      <a:noFill/>
                    </a:lnL>
                    <a:lnR>
                      <a:noFill/>
                    </a:lnR>
                    <a:lnT>
                      <a:noFill/>
                    </a:lnT>
                    <a:lnB cap="flat">
                      <a:noFill/>
                    </a:lnB>
                    <a:lnTlToBr>
                      <a:noFill/>
                    </a:lnTlToBr>
                    <a:lnBlToTr>
                      <a:noFill/>
                    </a:lnBlToTr>
                    <a:solidFill>
                      <a:srgbClr val="F7E2B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itchFamily="18" charset="0"/>
                      </a:endParaRPr>
                    </a:p>
                  </a:txBody>
                  <a:tcPr anchor="b" horzOverflow="overflow">
                    <a:lnL>
                      <a:noFill/>
                    </a:lnL>
                    <a:lnR cap="flat">
                      <a:noFill/>
                    </a:lnR>
                    <a:lnT>
                      <a:noFill/>
                    </a:lnT>
                    <a:lnB cap="flat">
                      <a:noFill/>
                    </a:lnB>
                    <a:lnTlToBr>
                      <a:noFill/>
                    </a:lnTlToBr>
                    <a:lnBlToTr>
                      <a:noFill/>
                    </a:lnBlToTr>
                    <a:noFill/>
                  </a:tcPr>
                </a:tc>
              </a:tr>
            </a:tbl>
          </a:graphicData>
        </a:graphic>
      </p:graphicFrame>
      <p:sp>
        <p:nvSpPr>
          <p:cNvPr id="6190" name="Text Box 49"/>
          <p:cNvSpPr txBox="1">
            <a:spLocks noChangeArrowheads="1"/>
          </p:cNvSpPr>
          <p:nvPr/>
        </p:nvSpPr>
        <p:spPr bwMode="auto">
          <a:xfrm>
            <a:off x="1384301" y="0"/>
            <a:ext cx="7454900" cy="830997"/>
          </a:xfrm>
          <a:prstGeom prst="rect">
            <a:avLst/>
          </a:prstGeom>
          <a:noFill/>
          <a:ln w="9525">
            <a:noFill/>
            <a:miter lim="800000"/>
            <a:headEnd/>
            <a:tailEnd/>
          </a:ln>
        </p:spPr>
        <p:txBody>
          <a:bodyPr wrap="square">
            <a:spAutoFit/>
          </a:bodyPr>
          <a:lstStyle/>
          <a:p>
            <a:pPr algn="ctr">
              <a:spcBef>
                <a:spcPct val="50000"/>
              </a:spcBef>
            </a:pPr>
            <a:r>
              <a:rPr lang="en-US" sz="2400" b="1" dirty="0">
                <a:solidFill>
                  <a:srgbClr val="E8A73E"/>
                </a:solidFill>
              </a:rPr>
              <a:t>Applying BMP (no-till) on highest risk </a:t>
            </a:r>
            <a:r>
              <a:rPr lang="en-US" sz="2400" b="1" dirty="0" smtClean="0">
                <a:solidFill>
                  <a:srgbClr val="E8A73E"/>
                </a:solidFill>
              </a:rPr>
              <a:t>acres in </a:t>
            </a:r>
            <a:r>
              <a:rPr lang="en-US" sz="2400" b="1" dirty="0">
                <a:solidFill>
                  <a:srgbClr val="E8A73E"/>
                </a:solidFill>
              </a:rPr>
              <a:t>contrasting watersheds</a:t>
            </a: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p:spPr>
        <p:txBody>
          <a:bodyPr/>
          <a:lstStyle/>
          <a:p>
            <a:fld id="{F31EA402-A36F-4905-9282-9EC81601298E}" type="slidenum">
              <a:rPr lang="en-US" smtClean="0"/>
              <a:pPr/>
              <a:t>9</a:t>
            </a:fld>
            <a:endParaRPr lang="en-US" smtClean="0"/>
          </a:p>
        </p:txBody>
      </p:sp>
      <p:sp>
        <p:nvSpPr>
          <p:cNvPr id="7171" name="Rectangle 2"/>
          <p:cNvSpPr>
            <a:spLocks noGrp="1" noChangeArrowheads="1"/>
          </p:cNvSpPr>
          <p:nvPr>
            <p:ph type="title"/>
          </p:nvPr>
        </p:nvSpPr>
        <p:spPr>
          <a:xfrm>
            <a:off x="2082800" y="0"/>
            <a:ext cx="5562600" cy="838200"/>
          </a:xfrm>
        </p:spPr>
        <p:txBody>
          <a:bodyPr/>
          <a:lstStyle/>
          <a:p>
            <a:pPr eaLnBrk="1" hangingPunct="1"/>
            <a:r>
              <a:rPr lang="en-US" sz="2400" b="1" dirty="0" smtClean="0">
                <a:solidFill>
                  <a:srgbClr val="E8A73E"/>
                </a:solidFill>
              </a:rPr>
              <a:t>Spatially exploring areas at high-risk for sediment loading</a:t>
            </a:r>
          </a:p>
        </p:txBody>
      </p:sp>
      <p:pic>
        <p:nvPicPr>
          <p:cNvPr id="14" name="Picture 13" descr="maple_site35.jpg"/>
          <p:cNvPicPr>
            <a:picLocks noChangeAspect="1"/>
          </p:cNvPicPr>
          <p:nvPr/>
        </p:nvPicPr>
        <p:blipFill>
          <a:blip r:embed="rId3" cstate="print"/>
          <a:srcRect l="19261" t="28356" r="21096" b="7397"/>
          <a:stretch>
            <a:fillRect/>
          </a:stretch>
        </p:blipFill>
        <p:spPr>
          <a:xfrm>
            <a:off x="927114" y="1738488"/>
            <a:ext cx="3508204" cy="2811392"/>
          </a:xfrm>
          <a:prstGeom prst="rect">
            <a:avLst/>
          </a:prstGeom>
          <a:ln w="12700">
            <a:solidFill>
              <a:schemeClr val="tx1"/>
            </a:solidFill>
          </a:ln>
        </p:spPr>
      </p:pic>
      <p:pic>
        <p:nvPicPr>
          <p:cNvPr id="13" name="Picture 12" descr="maple_site35_sed.jpg"/>
          <p:cNvPicPr>
            <a:picLocks noChangeAspect="1"/>
          </p:cNvPicPr>
          <p:nvPr/>
        </p:nvPicPr>
        <p:blipFill>
          <a:blip r:embed="rId4" cstate="print"/>
          <a:srcRect l="19261" t="28356" r="21096" b="7397"/>
          <a:stretch>
            <a:fillRect/>
          </a:stretch>
        </p:blipFill>
        <p:spPr>
          <a:xfrm>
            <a:off x="923013" y="1740725"/>
            <a:ext cx="3508204" cy="2811392"/>
          </a:xfrm>
          <a:prstGeom prst="rect">
            <a:avLst/>
          </a:prstGeom>
          <a:ln w="12700">
            <a:solidFill>
              <a:schemeClr val="tx1"/>
            </a:solidFill>
          </a:ln>
        </p:spPr>
      </p:pic>
      <p:sp>
        <p:nvSpPr>
          <p:cNvPr id="15" name="TextBox 14"/>
          <p:cNvSpPr txBox="1"/>
          <p:nvPr/>
        </p:nvSpPr>
        <p:spPr>
          <a:xfrm>
            <a:off x="939800" y="1066801"/>
            <a:ext cx="4076700" cy="369332"/>
          </a:xfrm>
          <a:prstGeom prst="rect">
            <a:avLst/>
          </a:prstGeom>
          <a:noFill/>
        </p:spPr>
        <p:txBody>
          <a:bodyPr wrap="square" rtlCol="0">
            <a:spAutoFit/>
          </a:bodyPr>
          <a:lstStyle/>
          <a:p>
            <a:pPr>
              <a:spcBef>
                <a:spcPct val="50000"/>
              </a:spcBef>
            </a:pPr>
            <a:r>
              <a:rPr lang="en-US" dirty="0" smtClean="0"/>
              <a:t>A site in the Maple River Watershed:</a:t>
            </a:r>
            <a:endParaRPr lang="en-US" dirty="0"/>
          </a:p>
        </p:txBody>
      </p:sp>
      <p:pic>
        <p:nvPicPr>
          <p:cNvPr id="16" name="Picture 15" descr="maple_site35_photo.jpg"/>
          <p:cNvPicPr>
            <a:picLocks noChangeAspect="1"/>
          </p:cNvPicPr>
          <p:nvPr/>
        </p:nvPicPr>
        <p:blipFill>
          <a:blip r:embed="rId5" cstate="print"/>
          <a:stretch>
            <a:fillRect/>
          </a:stretch>
        </p:blipFill>
        <p:spPr>
          <a:xfrm>
            <a:off x="4546600" y="1727200"/>
            <a:ext cx="4421632" cy="3316224"/>
          </a:xfrm>
          <a:prstGeom prst="rect">
            <a:avLst/>
          </a:prstGeom>
          <a:ln w="12700">
            <a:solidFill>
              <a:schemeClr val="tx1"/>
            </a:solidFill>
          </a:ln>
        </p:spPr>
      </p:pic>
      <p:grpSp>
        <p:nvGrpSpPr>
          <p:cNvPr id="21" name="Group 20"/>
          <p:cNvGrpSpPr/>
          <p:nvPr/>
        </p:nvGrpSpPr>
        <p:grpSpPr>
          <a:xfrm>
            <a:off x="1181100" y="4724400"/>
            <a:ext cx="2098261" cy="828477"/>
            <a:chOff x="1181100" y="4724400"/>
            <a:chExt cx="2098261" cy="828477"/>
          </a:xfrm>
        </p:grpSpPr>
        <p:sp>
          <p:nvSpPr>
            <p:cNvPr id="17" name="Rectangle 16"/>
            <p:cNvSpPr/>
            <p:nvPr/>
          </p:nvSpPr>
          <p:spPr>
            <a:xfrm>
              <a:off x="1181100" y="5295900"/>
              <a:ext cx="342900" cy="203200"/>
            </a:xfrm>
            <a:prstGeom prst="rect">
              <a:avLst/>
            </a:prstGeom>
            <a:solidFill>
              <a:srgbClr val="73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181100" y="5041900"/>
              <a:ext cx="342900" cy="203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181100" y="4787900"/>
              <a:ext cx="342900" cy="203200"/>
            </a:xfrm>
            <a:prstGeom prst="rect">
              <a:avLst/>
            </a:prstGeom>
            <a:solidFill>
              <a:srgbClr val="FFBE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524000" y="4724400"/>
              <a:ext cx="1725152" cy="307777"/>
            </a:xfrm>
            <a:prstGeom prst="rect">
              <a:avLst/>
            </a:prstGeom>
            <a:noFill/>
          </p:spPr>
          <p:txBody>
            <a:bodyPr wrap="none" rtlCol="0">
              <a:spAutoFit/>
            </a:bodyPr>
            <a:lstStyle/>
            <a:p>
              <a:r>
                <a:rPr lang="en-US" sz="1400" b="1" dirty="0" smtClean="0"/>
                <a:t>0.2 – 0.4 tons/acre</a:t>
              </a:r>
              <a:endParaRPr lang="en-US" sz="1400" b="1" dirty="0"/>
            </a:p>
          </p:txBody>
        </p:sp>
        <p:sp>
          <p:nvSpPr>
            <p:cNvPr id="12" name="TextBox 11"/>
            <p:cNvSpPr txBox="1"/>
            <p:nvPr/>
          </p:nvSpPr>
          <p:spPr>
            <a:xfrm>
              <a:off x="1536700" y="4991100"/>
              <a:ext cx="1725152" cy="307777"/>
            </a:xfrm>
            <a:prstGeom prst="rect">
              <a:avLst/>
            </a:prstGeom>
            <a:noFill/>
          </p:spPr>
          <p:txBody>
            <a:bodyPr wrap="none" rtlCol="0">
              <a:spAutoFit/>
            </a:bodyPr>
            <a:lstStyle/>
            <a:p>
              <a:r>
                <a:rPr lang="en-US" sz="1400" b="1" dirty="0" smtClean="0"/>
                <a:t>0.4 – 0.8 tons/acre</a:t>
              </a:r>
              <a:endParaRPr lang="en-US" sz="1400" b="1" dirty="0"/>
            </a:p>
          </p:txBody>
        </p:sp>
        <p:sp>
          <p:nvSpPr>
            <p:cNvPr id="20" name="TextBox 19"/>
            <p:cNvSpPr txBox="1"/>
            <p:nvPr/>
          </p:nvSpPr>
          <p:spPr>
            <a:xfrm>
              <a:off x="1549400" y="5245100"/>
              <a:ext cx="1729961" cy="307777"/>
            </a:xfrm>
            <a:prstGeom prst="rect">
              <a:avLst/>
            </a:prstGeom>
            <a:noFill/>
          </p:spPr>
          <p:txBody>
            <a:bodyPr wrap="none" rtlCol="0">
              <a:spAutoFit/>
            </a:bodyPr>
            <a:lstStyle/>
            <a:p>
              <a:r>
                <a:rPr lang="en-US" sz="1400" b="1" dirty="0" smtClean="0"/>
                <a:t>   &gt; 0.8    tons/acre</a:t>
              </a:r>
              <a:endParaRPr lang="en-US" sz="1400" b="1" dirty="0"/>
            </a:p>
          </p:txBody>
        </p:sp>
      </p:grpSp>
      <p:sp>
        <p:nvSpPr>
          <p:cNvPr id="22" name="Oval 21"/>
          <p:cNvSpPr/>
          <p:nvPr/>
        </p:nvSpPr>
        <p:spPr>
          <a:xfrm>
            <a:off x="3009900" y="2044700"/>
            <a:ext cx="647700" cy="622300"/>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4546600" y="5118101"/>
            <a:ext cx="4076700" cy="369332"/>
          </a:xfrm>
          <a:prstGeom prst="rect">
            <a:avLst/>
          </a:prstGeom>
          <a:noFill/>
        </p:spPr>
        <p:txBody>
          <a:bodyPr wrap="square" rtlCol="0">
            <a:spAutoFit/>
          </a:bodyPr>
          <a:lstStyle/>
          <a:p>
            <a:pPr>
              <a:spcBef>
                <a:spcPct val="50000"/>
              </a:spcBef>
            </a:pPr>
            <a:r>
              <a:rPr lang="en-US" dirty="0" smtClean="0"/>
              <a:t>Corn residue runoff in ditch.</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10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1000"/>
                                        <p:tgtEl>
                                          <p:spTgt spid="22"/>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11" descr="hit"/>
          <p:cNvPicPr>
            <a:picLocks noChangeAspect="1" noChangeArrowheads="1"/>
          </p:cNvPicPr>
          <p:nvPr/>
        </p:nvPicPr>
        <p:blipFill>
          <a:blip r:embed="rId3" cstate="print"/>
          <a:srcRect/>
          <a:stretch>
            <a:fillRect/>
          </a:stretch>
        </p:blipFill>
        <p:spPr bwMode="auto">
          <a:xfrm>
            <a:off x="2347913" y="936625"/>
            <a:ext cx="6484937" cy="5538788"/>
          </a:xfrm>
          <a:prstGeom prst="rect">
            <a:avLst/>
          </a:prstGeom>
          <a:noFill/>
          <a:ln w="9525">
            <a:noFill/>
            <a:miter lim="800000"/>
            <a:headEnd/>
            <a:tailEnd/>
          </a:ln>
        </p:spPr>
      </p:pic>
      <p:sp>
        <p:nvSpPr>
          <p:cNvPr id="13314" name="Slide Number Placeholder 3"/>
          <p:cNvSpPr>
            <a:spLocks noGrp="1"/>
          </p:cNvSpPr>
          <p:nvPr>
            <p:ph type="sldNum" sz="quarter" idx="12"/>
          </p:nvPr>
        </p:nvSpPr>
        <p:spPr>
          <a:noFill/>
        </p:spPr>
        <p:txBody>
          <a:bodyPr/>
          <a:lstStyle/>
          <a:p>
            <a:fld id="{C6015169-8112-4415-9B3D-3CBCCBC2EBED}" type="slidenum">
              <a:rPr lang="en-US" smtClean="0"/>
              <a:pPr/>
              <a:t>10</a:t>
            </a:fld>
            <a:endParaRPr lang="en-US" smtClean="0"/>
          </a:p>
        </p:txBody>
      </p:sp>
      <p:sp>
        <p:nvSpPr>
          <p:cNvPr id="13322" name="Rectangle 9"/>
          <p:cNvSpPr>
            <a:spLocks noChangeArrowheads="1"/>
          </p:cNvSpPr>
          <p:nvPr/>
        </p:nvSpPr>
        <p:spPr bwMode="auto">
          <a:xfrm>
            <a:off x="1828800" y="188912"/>
            <a:ext cx="5994400" cy="396876"/>
          </a:xfrm>
          <a:prstGeom prst="rect">
            <a:avLst/>
          </a:prstGeom>
          <a:noFill/>
          <a:ln w="9525">
            <a:noFill/>
            <a:miter lim="800000"/>
            <a:headEnd/>
            <a:tailEnd/>
          </a:ln>
        </p:spPr>
        <p:txBody>
          <a:bodyPr anchor="ctr"/>
          <a:lstStyle/>
          <a:p>
            <a:pPr algn="ctr"/>
            <a:r>
              <a:rPr lang="en-US" sz="2400" b="1" dirty="0">
                <a:solidFill>
                  <a:srgbClr val="E8A73E"/>
                </a:solidFill>
              </a:rPr>
              <a:t>Making the Data Web-Accessible</a:t>
            </a:r>
            <a:r>
              <a:rPr lang="en-US" sz="2800" b="1" dirty="0" smtClean="0">
                <a:solidFill>
                  <a:srgbClr val="E8A73E"/>
                </a:solidFill>
              </a:rPr>
              <a:t>:</a:t>
            </a:r>
          </a:p>
          <a:p>
            <a:pPr algn="ctr"/>
            <a:r>
              <a:rPr lang="en-US" sz="2800" b="1" dirty="0" smtClean="0">
                <a:solidFill>
                  <a:srgbClr val="E8A73E"/>
                </a:solidFill>
              </a:rPr>
              <a:t>www.iwr.msu.edu/hit</a:t>
            </a:r>
            <a:endParaRPr lang="en-US" sz="2800" b="1" dirty="0">
              <a:solidFill>
                <a:srgbClr val="E8A73E"/>
              </a:solidFill>
            </a:endParaRPr>
          </a:p>
        </p:txBody>
      </p:sp>
      <p:sp>
        <p:nvSpPr>
          <p:cNvPr id="12" name="Rectangle 11"/>
          <p:cNvSpPr/>
          <p:nvPr/>
        </p:nvSpPr>
        <p:spPr>
          <a:xfrm>
            <a:off x="2273300" y="990600"/>
            <a:ext cx="2692400" cy="952500"/>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0" y="1155701"/>
            <a:ext cx="2349500" cy="523220"/>
          </a:xfrm>
          <a:prstGeom prst="rect">
            <a:avLst/>
          </a:prstGeom>
          <a:noFill/>
        </p:spPr>
        <p:txBody>
          <a:bodyPr wrap="square" rtlCol="0">
            <a:spAutoFit/>
          </a:bodyPr>
          <a:lstStyle/>
          <a:p>
            <a:pPr>
              <a:spcBef>
                <a:spcPct val="50000"/>
              </a:spcBef>
            </a:pPr>
            <a:r>
              <a:rPr lang="en-US" sz="1400" b="1" dirty="0" smtClean="0"/>
              <a:t>Analyze data at different watershed scales</a:t>
            </a:r>
            <a:endParaRPr lang="en-US" sz="1400" b="1" dirty="0"/>
          </a:p>
        </p:txBody>
      </p:sp>
      <p:sp>
        <p:nvSpPr>
          <p:cNvPr id="14" name="Rectangle 13"/>
          <p:cNvSpPr/>
          <p:nvPr/>
        </p:nvSpPr>
        <p:spPr>
          <a:xfrm>
            <a:off x="2286000" y="2413000"/>
            <a:ext cx="3136900" cy="952500"/>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0800" y="2628901"/>
            <a:ext cx="2400300" cy="523220"/>
          </a:xfrm>
          <a:prstGeom prst="rect">
            <a:avLst/>
          </a:prstGeom>
          <a:noFill/>
        </p:spPr>
        <p:txBody>
          <a:bodyPr wrap="square" rtlCol="0">
            <a:spAutoFit/>
          </a:bodyPr>
          <a:lstStyle/>
          <a:p>
            <a:pPr>
              <a:spcBef>
                <a:spcPct val="50000"/>
              </a:spcBef>
            </a:pPr>
            <a:r>
              <a:rPr lang="en-US" sz="1400" b="1" dirty="0" smtClean="0"/>
              <a:t>Work with single, all, or subset of sub-watersheds</a:t>
            </a:r>
            <a:endParaRPr lang="en-US" sz="1400" b="1" dirty="0"/>
          </a:p>
        </p:txBody>
      </p:sp>
      <p:sp>
        <p:nvSpPr>
          <p:cNvPr id="16" name="Rectangle 15"/>
          <p:cNvSpPr/>
          <p:nvPr/>
        </p:nvSpPr>
        <p:spPr>
          <a:xfrm>
            <a:off x="2286000" y="3479800"/>
            <a:ext cx="2514600" cy="952500"/>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0" y="3644901"/>
            <a:ext cx="2349500" cy="523220"/>
          </a:xfrm>
          <a:prstGeom prst="rect">
            <a:avLst/>
          </a:prstGeom>
          <a:noFill/>
        </p:spPr>
        <p:txBody>
          <a:bodyPr wrap="square" rtlCol="0">
            <a:spAutoFit/>
          </a:bodyPr>
          <a:lstStyle/>
          <a:p>
            <a:pPr>
              <a:spcBef>
                <a:spcPct val="50000"/>
              </a:spcBef>
            </a:pPr>
            <a:r>
              <a:rPr lang="en-US" sz="1400" b="1" dirty="0" smtClean="0"/>
              <a:t>View data in multiple formats</a:t>
            </a:r>
            <a:endParaRPr lang="en-US" sz="1400" b="1" dirty="0"/>
          </a:p>
        </p:txBody>
      </p:sp>
      <p:sp>
        <p:nvSpPr>
          <p:cNvPr id="18" name="Rectangle 17"/>
          <p:cNvSpPr/>
          <p:nvPr/>
        </p:nvSpPr>
        <p:spPr>
          <a:xfrm>
            <a:off x="2273300" y="4711700"/>
            <a:ext cx="2692400" cy="1092200"/>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25400" y="4876801"/>
            <a:ext cx="2349500" cy="523220"/>
          </a:xfrm>
          <a:prstGeom prst="rect">
            <a:avLst/>
          </a:prstGeom>
          <a:noFill/>
        </p:spPr>
        <p:txBody>
          <a:bodyPr wrap="square" rtlCol="0">
            <a:spAutoFit/>
          </a:bodyPr>
          <a:lstStyle/>
          <a:p>
            <a:pPr>
              <a:spcBef>
                <a:spcPct val="50000"/>
              </a:spcBef>
            </a:pPr>
            <a:r>
              <a:rPr lang="en-US" sz="1400" b="1" dirty="0" smtClean="0"/>
              <a:t>View sediment loading   or erosion data</a:t>
            </a:r>
            <a:endParaRPr lang="en-US" sz="1400" b="1" dirty="0"/>
          </a:p>
        </p:txBody>
      </p:sp>
      <p:sp>
        <p:nvSpPr>
          <p:cNvPr id="20" name="Rectangle 19"/>
          <p:cNvSpPr/>
          <p:nvPr/>
        </p:nvSpPr>
        <p:spPr>
          <a:xfrm>
            <a:off x="5664200" y="4711700"/>
            <a:ext cx="2692400" cy="1460500"/>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3187700" y="6045201"/>
            <a:ext cx="2540000" cy="307777"/>
          </a:xfrm>
          <a:prstGeom prst="rect">
            <a:avLst/>
          </a:prstGeom>
          <a:noFill/>
        </p:spPr>
        <p:txBody>
          <a:bodyPr wrap="square" rtlCol="0">
            <a:spAutoFit/>
          </a:bodyPr>
          <a:lstStyle/>
          <a:p>
            <a:pPr>
              <a:spcBef>
                <a:spcPct val="50000"/>
              </a:spcBef>
            </a:pPr>
            <a:r>
              <a:rPr lang="en-US" sz="1400" b="1" dirty="0" smtClean="0"/>
              <a:t>Optionally evaluate a BMP</a:t>
            </a:r>
            <a:endParaRPr lang="en-US" sz="1400" b="1"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P spid="15" grpId="0"/>
      <p:bldP spid="16" grpId="0" animBg="1"/>
      <p:bldP spid="17" grpId="0"/>
      <p:bldP spid="18" grpId="0" animBg="1"/>
      <p:bldP spid="19" grpId="0"/>
      <p:bldP spid="20" grpId="0" animBg="1"/>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p:spPr>
        <p:txBody>
          <a:bodyPr/>
          <a:lstStyle/>
          <a:p>
            <a:fld id="{18FE7EA4-07E8-4193-BAF5-0E028DCF3FB2}" type="slidenum">
              <a:rPr lang="en-US" smtClean="0"/>
              <a:pPr/>
              <a:t>11</a:t>
            </a:fld>
            <a:endParaRPr lang="en-US" smtClean="0"/>
          </a:p>
        </p:txBody>
      </p:sp>
      <p:pic>
        <p:nvPicPr>
          <p:cNvPr id="14339" name="Picture 24" descr="hit_table"/>
          <p:cNvPicPr>
            <a:picLocks noChangeAspect="1" noChangeArrowheads="1"/>
          </p:cNvPicPr>
          <p:nvPr/>
        </p:nvPicPr>
        <p:blipFill>
          <a:blip r:embed="rId3" cstate="print"/>
          <a:srcRect t="5125" b="8541"/>
          <a:stretch>
            <a:fillRect/>
          </a:stretch>
        </p:blipFill>
        <p:spPr bwMode="auto">
          <a:xfrm>
            <a:off x="936625" y="1282438"/>
            <a:ext cx="7867650" cy="4621462"/>
          </a:xfrm>
          <a:prstGeom prst="rect">
            <a:avLst/>
          </a:prstGeom>
          <a:noFill/>
          <a:ln w="9525">
            <a:noFill/>
            <a:miter lim="800000"/>
            <a:headEnd/>
            <a:tailEnd/>
          </a:ln>
        </p:spPr>
      </p:pic>
      <p:pic>
        <p:nvPicPr>
          <p:cNvPr id="146457" name="Picture 25" descr="hit_table_sorted"/>
          <p:cNvPicPr>
            <a:picLocks noChangeAspect="1" noChangeArrowheads="1"/>
          </p:cNvPicPr>
          <p:nvPr/>
        </p:nvPicPr>
        <p:blipFill>
          <a:blip r:embed="rId4" cstate="print"/>
          <a:srcRect t="5199" b="8664"/>
          <a:stretch>
            <a:fillRect/>
          </a:stretch>
        </p:blipFill>
        <p:spPr bwMode="auto">
          <a:xfrm>
            <a:off x="952500" y="1320459"/>
            <a:ext cx="7839075" cy="4545354"/>
          </a:xfrm>
          <a:prstGeom prst="rect">
            <a:avLst/>
          </a:prstGeom>
          <a:noFill/>
          <a:ln w="9525">
            <a:noFill/>
            <a:miter lim="800000"/>
            <a:headEnd/>
            <a:tailEnd/>
          </a:ln>
        </p:spPr>
      </p:pic>
      <p:sp>
        <p:nvSpPr>
          <p:cNvPr id="14341" name="Rectangle 4"/>
          <p:cNvSpPr>
            <a:spLocks noGrp="1" noChangeArrowheads="1"/>
          </p:cNvSpPr>
          <p:nvPr>
            <p:ph type="title"/>
          </p:nvPr>
        </p:nvSpPr>
        <p:spPr>
          <a:xfrm>
            <a:off x="762000" y="1588"/>
            <a:ext cx="8229600" cy="396875"/>
          </a:xfrm>
          <a:noFill/>
        </p:spPr>
        <p:txBody>
          <a:bodyPr/>
          <a:lstStyle/>
          <a:p>
            <a:pPr eaLnBrk="1" hangingPunct="1"/>
            <a:r>
              <a:rPr lang="en-US" sz="2400" b="1" dirty="0" smtClean="0">
                <a:solidFill>
                  <a:srgbClr val="E8A73E"/>
                </a:solidFill>
              </a:rPr>
              <a:t>Making the Data Web-Accessible</a:t>
            </a:r>
            <a:r>
              <a:rPr lang="en-US" sz="2400" dirty="0" smtClean="0">
                <a:solidFill>
                  <a:srgbClr val="E8A73E"/>
                </a:solidFill>
              </a:rPr>
              <a:t>:</a:t>
            </a:r>
          </a:p>
        </p:txBody>
      </p:sp>
      <p:sp>
        <p:nvSpPr>
          <p:cNvPr id="14342" name="Text Box 5"/>
          <p:cNvSpPr txBox="1">
            <a:spLocks noChangeArrowheads="1"/>
          </p:cNvSpPr>
          <p:nvPr/>
        </p:nvSpPr>
        <p:spPr bwMode="auto">
          <a:xfrm>
            <a:off x="3640138" y="396875"/>
            <a:ext cx="2540000" cy="523220"/>
          </a:xfrm>
          <a:prstGeom prst="rect">
            <a:avLst/>
          </a:prstGeom>
          <a:noFill/>
          <a:ln w="9525">
            <a:noFill/>
            <a:miter lim="800000"/>
            <a:headEnd/>
            <a:tailEnd/>
          </a:ln>
        </p:spPr>
        <p:txBody>
          <a:bodyPr>
            <a:spAutoFit/>
          </a:bodyPr>
          <a:lstStyle/>
          <a:p>
            <a:pPr algn="ctr">
              <a:spcBef>
                <a:spcPct val="50000"/>
              </a:spcBef>
            </a:pPr>
            <a:r>
              <a:rPr lang="en-US" sz="2800" b="1" dirty="0">
                <a:solidFill>
                  <a:srgbClr val="E8A73E"/>
                </a:solidFill>
              </a:rPr>
              <a:t>Table Results</a:t>
            </a:r>
          </a:p>
        </p:txBody>
      </p:sp>
      <p:sp>
        <p:nvSpPr>
          <p:cNvPr id="146438" name="Text Box 6"/>
          <p:cNvSpPr txBox="1">
            <a:spLocks noChangeArrowheads="1"/>
          </p:cNvSpPr>
          <p:nvPr/>
        </p:nvSpPr>
        <p:spPr bwMode="auto">
          <a:xfrm>
            <a:off x="836613" y="960438"/>
            <a:ext cx="1773237" cy="274637"/>
          </a:xfrm>
          <a:prstGeom prst="rect">
            <a:avLst/>
          </a:prstGeom>
          <a:noFill/>
          <a:ln w="9525">
            <a:noFill/>
            <a:miter lim="800000"/>
            <a:headEnd/>
            <a:tailEnd/>
          </a:ln>
        </p:spPr>
        <p:txBody>
          <a:bodyPr>
            <a:spAutoFit/>
          </a:bodyPr>
          <a:lstStyle/>
          <a:p>
            <a:pPr>
              <a:spcBef>
                <a:spcPct val="50000"/>
              </a:spcBef>
            </a:pPr>
            <a:r>
              <a:rPr lang="en-US" sz="1200" b="1" dirty="0">
                <a:solidFill>
                  <a:srgbClr val="3366FF"/>
                </a:solidFill>
              </a:rPr>
              <a:t>Basic watershed info.</a:t>
            </a:r>
          </a:p>
        </p:txBody>
      </p:sp>
      <p:sp>
        <p:nvSpPr>
          <p:cNvPr id="146439" name="Line 7"/>
          <p:cNvSpPr>
            <a:spLocks noChangeShapeType="1"/>
          </p:cNvSpPr>
          <p:nvPr/>
        </p:nvSpPr>
        <p:spPr bwMode="auto">
          <a:xfrm>
            <a:off x="1428750" y="1171575"/>
            <a:ext cx="209550" cy="192088"/>
          </a:xfrm>
          <a:prstGeom prst="line">
            <a:avLst/>
          </a:prstGeom>
          <a:noFill/>
          <a:ln w="25400">
            <a:solidFill>
              <a:srgbClr val="3366FF"/>
            </a:solidFill>
            <a:round/>
            <a:headEnd/>
            <a:tailEnd/>
          </a:ln>
        </p:spPr>
        <p:txBody>
          <a:bodyPr/>
          <a:lstStyle/>
          <a:p>
            <a:endParaRPr lang="en-US"/>
          </a:p>
        </p:txBody>
      </p:sp>
      <p:sp>
        <p:nvSpPr>
          <p:cNvPr id="146440" name="Rectangle 8"/>
          <p:cNvSpPr>
            <a:spLocks noChangeArrowheads="1"/>
          </p:cNvSpPr>
          <p:nvPr/>
        </p:nvSpPr>
        <p:spPr bwMode="auto">
          <a:xfrm>
            <a:off x="1641475" y="1366838"/>
            <a:ext cx="1997075" cy="720725"/>
          </a:xfrm>
          <a:prstGeom prst="rect">
            <a:avLst/>
          </a:prstGeom>
          <a:noFill/>
          <a:ln w="25400">
            <a:solidFill>
              <a:srgbClr val="3366FF"/>
            </a:solidFill>
            <a:miter lim="800000"/>
            <a:headEnd/>
            <a:tailEnd/>
          </a:ln>
        </p:spPr>
        <p:txBody>
          <a:bodyPr wrap="none" anchor="ctr"/>
          <a:lstStyle/>
          <a:p>
            <a:endParaRPr lang="en-US"/>
          </a:p>
        </p:txBody>
      </p:sp>
      <p:sp>
        <p:nvSpPr>
          <p:cNvPr id="146441" name="Text Box 9"/>
          <p:cNvSpPr txBox="1">
            <a:spLocks noChangeArrowheads="1"/>
          </p:cNvSpPr>
          <p:nvPr/>
        </p:nvSpPr>
        <p:spPr bwMode="auto">
          <a:xfrm>
            <a:off x="3090863" y="866775"/>
            <a:ext cx="1873250" cy="457200"/>
          </a:xfrm>
          <a:prstGeom prst="rect">
            <a:avLst/>
          </a:prstGeom>
          <a:noFill/>
          <a:ln w="9525">
            <a:noFill/>
            <a:miter lim="800000"/>
            <a:headEnd/>
            <a:tailEnd/>
          </a:ln>
        </p:spPr>
        <p:txBody>
          <a:bodyPr>
            <a:spAutoFit/>
          </a:bodyPr>
          <a:lstStyle/>
          <a:p>
            <a:pPr algn="ctr">
              <a:spcBef>
                <a:spcPct val="50000"/>
              </a:spcBef>
            </a:pPr>
            <a:r>
              <a:rPr lang="en-US" sz="1200" b="1" i="1">
                <a:solidFill>
                  <a:srgbClr val="3366FF"/>
                </a:solidFill>
              </a:rPr>
              <a:t>Estimated sediment loading</a:t>
            </a:r>
          </a:p>
        </p:txBody>
      </p:sp>
      <p:sp>
        <p:nvSpPr>
          <p:cNvPr id="146442" name="Line 10"/>
          <p:cNvSpPr>
            <a:spLocks noChangeShapeType="1"/>
          </p:cNvSpPr>
          <p:nvPr/>
        </p:nvSpPr>
        <p:spPr bwMode="auto">
          <a:xfrm flipH="1">
            <a:off x="4044950" y="1233488"/>
            <a:ext cx="1588" cy="119062"/>
          </a:xfrm>
          <a:prstGeom prst="line">
            <a:avLst/>
          </a:prstGeom>
          <a:noFill/>
          <a:ln w="25400">
            <a:solidFill>
              <a:srgbClr val="3366FF"/>
            </a:solidFill>
            <a:round/>
            <a:headEnd/>
            <a:tailEnd/>
          </a:ln>
        </p:spPr>
        <p:txBody>
          <a:bodyPr/>
          <a:lstStyle/>
          <a:p>
            <a:endParaRPr lang="en-US"/>
          </a:p>
        </p:txBody>
      </p:sp>
      <p:sp>
        <p:nvSpPr>
          <p:cNvPr id="146443" name="Rectangle 11"/>
          <p:cNvSpPr>
            <a:spLocks noChangeArrowheads="1"/>
          </p:cNvSpPr>
          <p:nvPr/>
        </p:nvSpPr>
        <p:spPr bwMode="auto">
          <a:xfrm>
            <a:off x="3636963" y="1373188"/>
            <a:ext cx="776287" cy="709612"/>
          </a:xfrm>
          <a:prstGeom prst="rect">
            <a:avLst/>
          </a:prstGeom>
          <a:noFill/>
          <a:ln w="25400">
            <a:solidFill>
              <a:srgbClr val="3366FF"/>
            </a:solidFill>
            <a:miter lim="800000"/>
            <a:headEnd/>
            <a:tailEnd/>
          </a:ln>
        </p:spPr>
        <p:txBody>
          <a:bodyPr wrap="none" anchor="ctr"/>
          <a:lstStyle/>
          <a:p>
            <a:endParaRPr lang="en-US"/>
          </a:p>
        </p:txBody>
      </p:sp>
      <p:sp>
        <p:nvSpPr>
          <p:cNvPr id="146444" name="Text Box 12"/>
          <p:cNvSpPr txBox="1">
            <a:spLocks noChangeArrowheads="1"/>
          </p:cNvSpPr>
          <p:nvPr/>
        </p:nvSpPr>
        <p:spPr bwMode="auto">
          <a:xfrm>
            <a:off x="6699250" y="900113"/>
            <a:ext cx="2444750" cy="274637"/>
          </a:xfrm>
          <a:prstGeom prst="rect">
            <a:avLst/>
          </a:prstGeom>
          <a:noFill/>
          <a:ln w="9525">
            <a:noFill/>
            <a:miter lim="800000"/>
            <a:headEnd/>
            <a:tailEnd/>
          </a:ln>
        </p:spPr>
        <p:txBody>
          <a:bodyPr>
            <a:spAutoFit/>
          </a:bodyPr>
          <a:lstStyle/>
          <a:p>
            <a:pPr algn="ctr">
              <a:spcBef>
                <a:spcPct val="50000"/>
              </a:spcBef>
            </a:pPr>
            <a:r>
              <a:rPr lang="en-US" sz="1200" b="1" i="1">
                <a:solidFill>
                  <a:srgbClr val="3366FF"/>
                </a:solidFill>
              </a:rPr>
              <a:t>BMP impact and cost/benefit</a:t>
            </a:r>
          </a:p>
        </p:txBody>
      </p:sp>
      <p:sp>
        <p:nvSpPr>
          <p:cNvPr id="146445" name="Rectangle 13"/>
          <p:cNvSpPr>
            <a:spLocks noChangeArrowheads="1"/>
          </p:cNvSpPr>
          <p:nvPr/>
        </p:nvSpPr>
        <p:spPr bwMode="auto">
          <a:xfrm>
            <a:off x="4445000" y="1360488"/>
            <a:ext cx="4297363" cy="738187"/>
          </a:xfrm>
          <a:prstGeom prst="rect">
            <a:avLst/>
          </a:prstGeom>
          <a:noFill/>
          <a:ln w="25400">
            <a:solidFill>
              <a:srgbClr val="3366FF"/>
            </a:solidFill>
            <a:miter lim="800000"/>
            <a:headEnd/>
            <a:tailEnd/>
          </a:ln>
        </p:spPr>
        <p:txBody>
          <a:bodyPr wrap="none" anchor="ctr"/>
          <a:lstStyle/>
          <a:p>
            <a:endParaRPr lang="en-US"/>
          </a:p>
        </p:txBody>
      </p:sp>
      <p:sp>
        <p:nvSpPr>
          <p:cNvPr id="146446" name="Line 14"/>
          <p:cNvSpPr>
            <a:spLocks noChangeShapeType="1"/>
          </p:cNvSpPr>
          <p:nvPr/>
        </p:nvSpPr>
        <p:spPr bwMode="auto">
          <a:xfrm flipH="1">
            <a:off x="6664325" y="1122363"/>
            <a:ext cx="949325" cy="250825"/>
          </a:xfrm>
          <a:prstGeom prst="line">
            <a:avLst/>
          </a:prstGeom>
          <a:noFill/>
          <a:ln w="25400">
            <a:solidFill>
              <a:srgbClr val="3366FF"/>
            </a:solidFill>
            <a:round/>
            <a:headEnd/>
            <a:tailEnd/>
          </a:ln>
        </p:spPr>
        <p:txBody>
          <a:bodyPr/>
          <a:lstStyle/>
          <a:p>
            <a:endParaRPr lang="en-US"/>
          </a:p>
        </p:txBody>
      </p:sp>
      <p:sp>
        <p:nvSpPr>
          <p:cNvPr id="146447" name="Rectangle 15"/>
          <p:cNvSpPr>
            <a:spLocks noChangeArrowheads="1"/>
          </p:cNvSpPr>
          <p:nvPr/>
        </p:nvSpPr>
        <p:spPr bwMode="auto">
          <a:xfrm>
            <a:off x="6081713" y="1506538"/>
            <a:ext cx="508000" cy="614362"/>
          </a:xfrm>
          <a:prstGeom prst="rect">
            <a:avLst/>
          </a:prstGeom>
          <a:noFill/>
          <a:ln w="25400">
            <a:solidFill>
              <a:srgbClr val="3366FF"/>
            </a:solidFill>
            <a:miter lim="800000"/>
            <a:headEnd/>
            <a:tailEnd/>
          </a:ln>
        </p:spPr>
        <p:txBody>
          <a:bodyPr wrap="none" anchor="ctr"/>
          <a:lstStyle/>
          <a:p>
            <a:endParaRPr lang="en-US"/>
          </a:p>
        </p:txBody>
      </p:sp>
      <p:sp>
        <p:nvSpPr>
          <p:cNvPr id="146448" name="Line 16"/>
          <p:cNvSpPr>
            <a:spLocks noChangeShapeType="1"/>
          </p:cNvSpPr>
          <p:nvPr/>
        </p:nvSpPr>
        <p:spPr bwMode="auto">
          <a:xfrm flipH="1">
            <a:off x="6527800" y="1209675"/>
            <a:ext cx="0" cy="296863"/>
          </a:xfrm>
          <a:prstGeom prst="line">
            <a:avLst/>
          </a:prstGeom>
          <a:noFill/>
          <a:ln w="25400">
            <a:solidFill>
              <a:srgbClr val="3366FF"/>
            </a:solidFill>
            <a:round/>
            <a:headEnd/>
            <a:tailEnd/>
          </a:ln>
        </p:spPr>
        <p:txBody>
          <a:bodyPr/>
          <a:lstStyle/>
          <a:p>
            <a:endParaRPr lang="en-US"/>
          </a:p>
        </p:txBody>
      </p:sp>
      <p:sp>
        <p:nvSpPr>
          <p:cNvPr id="146449" name="Text Box 17"/>
          <p:cNvSpPr txBox="1">
            <a:spLocks noChangeArrowheads="1"/>
          </p:cNvSpPr>
          <p:nvPr/>
        </p:nvSpPr>
        <p:spPr bwMode="auto">
          <a:xfrm>
            <a:off x="6488113" y="952500"/>
            <a:ext cx="2024062" cy="274638"/>
          </a:xfrm>
          <a:prstGeom prst="rect">
            <a:avLst/>
          </a:prstGeom>
          <a:noFill/>
          <a:ln w="9525">
            <a:noFill/>
            <a:miter lim="800000"/>
            <a:headEnd/>
            <a:tailEnd/>
          </a:ln>
        </p:spPr>
        <p:txBody>
          <a:bodyPr>
            <a:spAutoFit/>
          </a:bodyPr>
          <a:lstStyle/>
          <a:p>
            <a:pPr>
              <a:spcBef>
                <a:spcPct val="50000"/>
              </a:spcBef>
            </a:pPr>
            <a:r>
              <a:rPr lang="en-US" sz="1200" b="1" i="1" dirty="0">
                <a:solidFill>
                  <a:srgbClr val="3366FF"/>
                </a:solidFill>
              </a:rPr>
              <a:t>Columns can be sorted.</a:t>
            </a:r>
          </a:p>
        </p:txBody>
      </p:sp>
      <p:sp>
        <p:nvSpPr>
          <p:cNvPr id="146450" name="Text Box 18"/>
          <p:cNvSpPr txBox="1">
            <a:spLocks noChangeArrowheads="1"/>
          </p:cNvSpPr>
          <p:nvPr/>
        </p:nvSpPr>
        <p:spPr bwMode="auto">
          <a:xfrm>
            <a:off x="6807200" y="5964238"/>
            <a:ext cx="1905000" cy="457200"/>
          </a:xfrm>
          <a:prstGeom prst="rect">
            <a:avLst/>
          </a:prstGeom>
          <a:noFill/>
          <a:ln w="9525">
            <a:noFill/>
            <a:miter lim="800000"/>
            <a:headEnd/>
            <a:tailEnd/>
          </a:ln>
        </p:spPr>
        <p:txBody>
          <a:bodyPr>
            <a:spAutoFit/>
          </a:bodyPr>
          <a:lstStyle/>
          <a:p>
            <a:pPr algn="ctr">
              <a:spcBef>
                <a:spcPct val="50000"/>
              </a:spcBef>
            </a:pPr>
            <a:r>
              <a:rPr lang="en-US" sz="1200" b="1" i="1">
                <a:solidFill>
                  <a:srgbClr val="3366FF"/>
                </a:solidFill>
              </a:rPr>
              <a:t>BMP costs can be recalculated on-the-fly</a:t>
            </a:r>
          </a:p>
        </p:txBody>
      </p:sp>
      <p:sp>
        <p:nvSpPr>
          <p:cNvPr id="146451" name="Rectangle 19"/>
          <p:cNvSpPr>
            <a:spLocks noChangeArrowheads="1"/>
          </p:cNvSpPr>
          <p:nvPr/>
        </p:nvSpPr>
        <p:spPr bwMode="auto">
          <a:xfrm>
            <a:off x="3178175" y="5456238"/>
            <a:ext cx="5148263" cy="403225"/>
          </a:xfrm>
          <a:prstGeom prst="rect">
            <a:avLst/>
          </a:prstGeom>
          <a:noFill/>
          <a:ln w="25400">
            <a:solidFill>
              <a:srgbClr val="3366FF"/>
            </a:solidFill>
            <a:miter lim="800000"/>
            <a:headEnd/>
            <a:tailEnd/>
          </a:ln>
        </p:spPr>
        <p:txBody>
          <a:bodyPr wrap="none" anchor="ctr"/>
          <a:lstStyle/>
          <a:p>
            <a:endParaRPr lang="en-US"/>
          </a:p>
        </p:txBody>
      </p:sp>
      <p:sp>
        <p:nvSpPr>
          <p:cNvPr id="146452" name="Line 20"/>
          <p:cNvSpPr>
            <a:spLocks noChangeShapeType="1"/>
          </p:cNvSpPr>
          <p:nvPr/>
        </p:nvSpPr>
        <p:spPr bwMode="auto">
          <a:xfrm flipH="1">
            <a:off x="8202613" y="5838825"/>
            <a:ext cx="0" cy="207963"/>
          </a:xfrm>
          <a:prstGeom prst="line">
            <a:avLst/>
          </a:prstGeom>
          <a:noFill/>
          <a:ln w="25400">
            <a:solidFill>
              <a:srgbClr val="3366FF"/>
            </a:solidFill>
            <a:round/>
            <a:headEnd/>
            <a:tailEnd/>
          </a:ln>
        </p:spPr>
        <p:txBody>
          <a:bodyPr/>
          <a:lstStyle/>
          <a:p>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440"/>
                                        </p:tgtEl>
                                        <p:attrNameLst>
                                          <p:attrName>style.visibility</p:attrName>
                                        </p:attrNameLst>
                                      </p:cBhvr>
                                      <p:to>
                                        <p:strVal val="visible"/>
                                      </p:to>
                                    </p:set>
                                  </p:childTnLst>
                                </p:cTn>
                              </p:par>
                            </p:childTnLst>
                          </p:cTn>
                        </p:par>
                        <p:par>
                          <p:cTn id="7" fill="hold">
                            <p:stCondLst>
                              <p:cond delay="0"/>
                            </p:stCondLst>
                            <p:childTnLst>
                              <p:par>
                                <p:cTn id="8" presetID="22" presetClass="entr" presetSubtype="2" fill="hold" grpId="0" nodeType="afterEffect">
                                  <p:stCondLst>
                                    <p:cond delay="0"/>
                                  </p:stCondLst>
                                  <p:childTnLst>
                                    <p:set>
                                      <p:cBhvr>
                                        <p:cTn id="9" dur="1" fill="hold">
                                          <p:stCondLst>
                                            <p:cond delay="0"/>
                                          </p:stCondLst>
                                        </p:cTn>
                                        <p:tgtEl>
                                          <p:spTgt spid="146439"/>
                                        </p:tgtEl>
                                        <p:attrNameLst>
                                          <p:attrName>style.visibility</p:attrName>
                                        </p:attrNameLst>
                                      </p:cBhvr>
                                      <p:to>
                                        <p:strVal val="visible"/>
                                      </p:to>
                                    </p:set>
                                    <p:animEffect transition="in" filter="wipe(right)">
                                      <p:cBhvr>
                                        <p:cTn id="10" dur="500"/>
                                        <p:tgtEl>
                                          <p:spTgt spid="14643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14643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46443"/>
                                        </p:tgtEl>
                                        <p:attrNameLst>
                                          <p:attrName>style.visibility</p:attrName>
                                        </p:attrNameLst>
                                      </p:cBhvr>
                                      <p:to>
                                        <p:strVal val="visible"/>
                                      </p:to>
                                    </p:set>
                                  </p:childTnLst>
                                </p:cTn>
                              </p:par>
                            </p:childTnLst>
                          </p:cTn>
                        </p:par>
                        <p:par>
                          <p:cTn id="18" fill="hold">
                            <p:stCondLst>
                              <p:cond delay="0"/>
                            </p:stCondLst>
                            <p:childTnLst>
                              <p:par>
                                <p:cTn id="19" presetID="22" presetClass="entr" presetSubtype="4" fill="hold" grpId="0" nodeType="afterEffect">
                                  <p:stCondLst>
                                    <p:cond delay="0"/>
                                  </p:stCondLst>
                                  <p:childTnLst>
                                    <p:set>
                                      <p:cBhvr>
                                        <p:cTn id="20" dur="1" fill="hold">
                                          <p:stCondLst>
                                            <p:cond delay="0"/>
                                          </p:stCondLst>
                                        </p:cTn>
                                        <p:tgtEl>
                                          <p:spTgt spid="146442"/>
                                        </p:tgtEl>
                                        <p:attrNameLst>
                                          <p:attrName>style.visibility</p:attrName>
                                        </p:attrNameLst>
                                      </p:cBhvr>
                                      <p:to>
                                        <p:strVal val="visible"/>
                                      </p:to>
                                    </p:set>
                                    <p:animEffect transition="in" filter="wipe(down)">
                                      <p:cBhvr>
                                        <p:cTn id="21" dur="500"/>
                                        <p:tgtEl>
                                          <p:spTgt spid="146442"/>
                                        </p:tgtEl>
                                      </p:cBhvr>
                                    </p:animEffect>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0"/>
                                          </p:stCondLst>
                                        </p:cTn>
                                        <p:tgtEl>
                                          <p:spTgt spid="1464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6445"/>
                                        </p:tgtEl>
                                        <p:attrNameLst>
                                          <p:attrName>style.visibility</p:attrName>
                                        </p:attrNameLst>
                                      </p:cBhvr>
                                      <p:to>
                                        <p:strVal val="visible"/>
                                      </p:to>
                                    </p:set>
                                  </p:childTnLst>
                                </p:cTn>
                              </p:par>
                            </p:childTnLst>
                          </p:cTn>
                        </p:par>
                        <p:par>
                          <p:cTn id="29" fill="hold">
                            <p:stCondLst>
                              <p:cond delay="0"/>
                            </p:stCondLst>
                            <p:childTnLst>
                              <p:par>
                                <p:cTn id="30" presetID="22" presetClass="entr" presetSubtype="8" fill="hold" grpId="0" nodeType="afterEffect">
                                  <p:stCondLst>
                                    <p:cond delay="0"/>
                                  </p:stCondLst>
                                  <p:childTnLst>
                                    <p:set>
                                      <p:cBhvr>
                                        <p:cTn id="31" dur="1" fill="hold">
                                          <p:stCondLst>
                                            <p:cond delay="0"/>
                                          </p:stCondLst>
                                        </p:cTn>
                                        <p:tgtEl>
                                          <p:spTgt spid="146446"/>
                                        </p:tgtEl>
                                        <p:attrNameLst>
                                          <p:attrName>style.visibility</p:attrName>
                                        </p:attrNameLst>
                                      </p:cBhvr>
                                      <p:to>
                                        <p:strVal val="visible"/>
                                      </p:to>
                                    </p:set>
                                    <p:animEffect transition="in" filter="wipe(left)">
                                      <p:cBhvr>
                                        <p:cTn id="32" dur="500"/>
                                        <p:tgtEl>
                                          <p:spTgt spid="146446"/>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4644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146438"/>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146439"/>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146440"/>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146441"/>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146442"/>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146443"/>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146445"/>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146446"/>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146444"/>
                                        </p:tgtEl>
                                        <p:attrNameLst>
                                          <p:attrName>style.visibility</p:attrName>
                                        </p:attrNameLst>
                                      </p:cBhvr>
                                      <p:to>
                                        <p:strVal val="hidden"/>
                                      </p:to>
                                    </p:set>
                                  </p:childTnLst>
                                </p:cTn>
                              </p:par>
                              <p:par>
                                <p:cTn id="56" presetID="1" presetClass="entr" presetSubtype="0" fill="hold" grpId="0" nodeType="withEffect">
                                  <p:stCondLst>
                                    <p:cond delay="0"/>
                                  </p:stCondLst>
                                  <p:childTnLst>
                                    <p:set>
                                      <p:cBhvr>
                                        <p:cTn id="57" dur="1" fill="hold">
                                          <p:stCondLst>
                                            <p:cond delay="0"/>
                                          </p:stCondLst>
                                        </p:cTn>
                                        <p:tgtEl>
                                          <p:spTgt spid="146447"/>
                                        </p:tgtEl>
                                        <p:attrNameLst>
                                          <p:attrName>style.visibility</p:attrName>
                                        </p:attrNameLst>
                                      </p:cBhvr>
                                      <p:to>
                                        <p:strVal val="visible"/>
                                      </p:to>
                                    </p:set>
                                  </p:childTnLst>
                                </p:cTn>
                              </p:par>
                            </p:childTnLst>
                          </p:cTn>
                        </p:par>
                        <p:par>
                          <p:cTn id="58" fill="hold">
                            <p:stCondLst>
                              <p:cond delay="0"/>
                            </p:stCondLst>
                            <p:childTnLst>
                              <p:par>
                                <p:cTn id="59" presetID="22" presetClass="entr" presetSubtype="4" fill="hold" grpId="0" nodeType="afterEffect">
                                  <p:stCondLst>
                                    <p:cond delay="0"/>
                                  </p:stCondLst>
                                  <p:childTnLst>
                                    <p:set>
                                      <p:cBhvr>
                                        <p:cTn id="60" dur="1" fill="hold">
                                          <p:stCondLst>
                                            <p:cond delay="0"/>
                                          </p:stCondLst>
                                        </p:cTn>
                                        <p:tgtEl>
                                          <p:spTgt spid="146448"/>
                                        </p:tgtEl>
                                        <p:attrNameLst>
                                          <p:attrName>style.visibility</p:attrName>
                                        </p:attrNameLst>
                                      </p:cBhvr>
                                      <p:to>
                                        <p:strVal val="visible"/>
                                      </p:to>
                                    </p:set>
                                    <p:animEffect transition="in" filter="wipe(down)">
                                      <p:cBhvr>
                                        <p:cTn id="61" dur="500"/>
                                        <p:tgtEl>
                                          <p:spTgt spid="146448"/>
                                        </p:tgtEl>
                                      </p:cBhvr>
                                    </p:animEffect>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0"/>
                                          </p:stCondLst>
                                        </p:cTn>
                                        <p:tgtEl>
                                          <p:spTgt spid="14644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4645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46451"/>
                                        </p:tgtEl>
                                        <p:attrNameLst>
                                          <p:attrName>style.visibility</p:attrName>
                                        </p:attrNameLst>
                                      </p:cBhvr>
                                      <p:to>
                                        <p:strVal val="visible"/>
                                      </p:to>
                                    </p:set>
                                  </p:childTnLst>
                                </p:cTn>
                              </p:par>
                            </p:childTnLst>
                          </p:cTn>
                        </p:par>
                        <p:par>
                          <p:cTn id="73" fill="hold">
                            <p:stCondLst>
                              <p:cond delay="0"/>
                            </p:stCondLst>
                            <p:childTnLst>
                              <p:par>
                                <p:cTn id="74" presetID="22" presetClass="entr" presetSubtype="1" fill="hold" grpId="0" nodeType="afterEffect">
                                  <p:stCondLst>
                                    <p:cond delay="0"/>
                                  </p:stCondLst>
                                  <p:childTnLst>
                                    <p:set>
                                      <p:cBhvr>
                                        <p:cTn id="75" dur="1" fill="hold">
                                          <p:stCondLst>
                                            <p:cond delay="0"/>
                                          </p:stCondLst>
                                        </p:cTn>
                                        <p:tgtEl>
                                          <p:spTgt spid="146452"/>
                                        </p:tgtEl>
                                        <p:attrNameLst>
                                          <p:attrName>style.visibility</p:attrName>
                                        </p:attrNameLst>
                                      </p:cBhvr>
                                      <p:to>
                                        <p:strVal val="visible"/>
                                      </p:to>
                                    </p:set>
                                    <p:animEffect transition="in" filter="wipe(up)">
                                      <p:cBhvr>
                                        <p:cTn id="76" dur="500"/>
                                        <p:tgtEl>
                                          <p:spTgt spid="146452"/>
                                        </p:tgtEl>
                                      </p:cBhvr>
                                    </p:animEffect>
                                  </p:childTnLst>
                                </p:cTn>
                              </p:par>
                            </p:childTnLst>
                          </p:cTn>
                        </p:par>
                        <p:par>
                          <p:cTn id="77" fill="hold">
                            <p:stCondLst>
                              <p:cond delay="500"/>
                            </p:stCondLst>
                            <p:childTnLst>
                              <p:par>
                                <p:cTn id="78" presetID="1" presetClass="entr" presetSubtype="0" fill="hold" grpId="0" nodeType="afterEffect">
                                  <p:stCondLst>
                                    <p:cond delay="0"/>
                                  </p:stCondLst>
                                  <p:childTnLst>
                                    <p:set>
                                      <p:cBhvr>
                                        <p:cTn id="79" dur="1" fill="hold">
                                          <p:stCondLst>
                                            <p:cond delay="0"/>
                                          </p:stCondLst>
                                        </p:cTn>
                                        <p:tgtEl>
                                          <p:spTgt spid="1464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8" grpId="0"/>
      <p:bldP spid="146438" grpId="1"/>
      <p:bldP spid="146439" grpId="0" animBg="1"/>
      <p:bldP spid="146439" grpId="1" animBg="1"/>
      <p:bldP spid="146440" grpId="0" animBg="1"/>
      <p:bldP spid="146440" grpId="1" animBg="1"/>
      <p:bldP spid="146441" grpId="0"/>
      <p:bldP spid="146441" grpId="1"/>
      <p:bldP spid="146442" grpId="0" animBg="1"/>
      <p:bldP spid="146442" grpId="1" animBg="1"/>
      <p:bldP spid="146443" grpId="0" animBg="1"/>
      <p:bldP spid="146443" grpId="1" animBg="1"/>
      <p:bldP spid="146444" grpId="0"/>
      <p:bldP spid="146444" grpId="1"/>
      <p:bldP spid="146445" grpId="0" animBg="1"/>
      <p:bldP spid="146445" grpId="1" animBg="1"/>
      <p:bldP spid="146446" grpId="0" animBg="1"/>
      <p:bldP spid="146446" grpId="1" animBg="1"/>
      <p:bldP spid="146447" grpId="0" animBg="1"/>
      <p:bldP spid="146448" grpId="0" animBg="1"/>
      <p:bldP spid="146449" grpId="0"/>
      <p:bldP spid="146450" grpId="0"/>
      <p:bldP spid="146451" grpId="0" animBg="1"/>
      <p:bldP spid="14645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p:spPr>
        <p:txBody>
          <a:bodyPr/>
          <a:lstStyle/>
          <a:p>
            <a:fld id="{90A0EAA5-AE09-49E4-91F6-EC24B451801E}" type="slidenum">
              <a:rPr lang="en-US" smtClean="0"/>
              <a:pPr/>
              <a:t>12</a:t>
            </a:fld>
            <a:endParaRPr lang="en-US" smtClean="0"/>
          </a:p>
        </p:txBody>
      </p:sp>
      <p:sp>
        <p:nvSpPr>
          <p:cNvPr id="16387" name="Rectangle 2"/>
          <p:cNvSpPr>
            <a:spLocks noGrp="1" noChangeArrowheads="1"/>
          </p:cNvSpPr>
          <p:nvPr>
            <p:ph type="title"/>
          </p:nvPr>
        </p:nvSpPr>
        <p:spPr>
          <a:xfrm>
            <a:off x="762000" y="0"/>
            <a:ext cx="8229600" cy="396875"/>
          </a:xfrm>
          <a:noFill/>
        </p:spPr>
        <p:txBody>
          <a:bodyPr/>
          <a:lstStyle/>
          <a:p>
            <a:pPr eaLnBrk="1" hangingPunct="1"/>
            <a:r>
              <a:rPr lang="en-US" sz="2400" b="1" dirty="0" smtClean="0">
                <a:solidFill>
                  <a:srgbClr val="E8A73E"/>
                </a:solidFill>
              </a:rPr>
              <a:t>Making the Data Web-Accessible:</a:t>
            </a:r>
          </a:p>
        </p:txBody>
      </p:sp>
      <p:sp>
        <p:nvSpPr>
          <p:cNvPr id="16389" name="Rectangle 5"/>
          <p:cNvSpPr>
            <a:spLocks noChangeArrowheads="1"/>
          </p:cNvSpPr>
          <p:nvPr/>
        </p:nvSpPr>
        <p:spPr bwMode="auto">
          <a:xfrm>
            <a:off x="2625725" y="347663"/>
            <a:ext cx="4552785" cy="523220"/>
          </a:xfrm>
          <a:prstGeom prst="rect">
            <a:avLst/>
          </a:prstGeom>
          <a:noFill/>
          <a:ln w="9525">
            <a:noFill/>
            <a:miter lim="800000"/>
            <a:headEnd/>
            <a:tailEnd/>
          </a:ln>
        </p:spPr>
        <p:txBody>
          <a:bodyPr wrap="none">
            <a:spAutoFit/>
          </a:bodyPr>
          <a:lstStyle/>
          <a:p>
            <a:r>
              <a:rPr lang="en-US" sz="2800" b="1" dirty="0">
                <a:solidFill>
                  <a:srgbClr val="E8A73E"/>
                </a:solidFill>
              </a:rPr>
              <a:t>Viewing the data spatially</a:t>
            </a:r>
          </a:p>
        </p:txBody>
      </p:sp>
      <p:pic>
        <p:nvPicPr>
          <p:cNvPr id="372742" name="Picture 6" descr="hit_in_dw"/>
          <p:cNvPicPr>
            <a:picLocks noChangeAspect="1" noChangeArrowheads="1"/>
          </p:cNvPicPr>
          <p:nvPr/>
        </p:nvPicPr>
        <p:blipFill>
          <a:blip r:embed="rId3" cstate="print"/>
          <a:srcRect/>
          <a:stretch>
            <a:fillRect/>
          </a:stretch>
        </p:blipFill>
        <p:spPr bwMode="auto">
          <a:xfrm>
            <a:off x="1596791" y="943897"/>
            <a:ext cx="6731924" cy="5501148"/>
          </a:xfrm>
          <a:prstGeom prst="rect">
            <a:avLst/>
          </a:prstGeom>
          <a:solidFill>
            <a:schemeClr val="tx1"/>
          </a:solidFill>
          <a:ln w="9525">
            <a:solidFill>
              <a:schemeClr val="tx1"/>
            </a:solidFill>
            <a:miter lim="800000"/>
            <a:headEnd/>
            <a:tailEnd/>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727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13</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Team Effort</a:t>
            </a:r>
          </a:p>
        </p:txBody>
      </p:sp>
      <p:sp>
        <p:nvSpPr>
          <p:cNvPr id="17412" name="Text Box 6"/>
          <p:cNvSpPr txBox="1">
            <a:spLocks noChangeArrowheads="1"/>
          </p:cNvSpPr>
          <p:nvPr/>
        </p:nvSpPr>
        <p:spPr bwMode="auto">
          <a:xfrm>
            <a:off x="1011238" y="1389063"/>
            <a:ext cx="8132762" cy="4201150"/>
          </a:xfrm>
          <a:prstGeom prst="rect">
            <a:avLst/>
          </a:prstGeom>
          <a:noFill/>
          <a:ln w="9525">
            <a:noFill/>
            <a:miter lim="800000"/>
            <a:headEnd/>
            <a:tailEnd/>
          </a:ln>
        </p:spPr>
        <p:txBody>
          <a:bodyPr wrap="square">
            <a:spAutoFit/>
          </a:bodyPr>
          <a:lstStyle/>
          <a:p>
            <a:pPr>
              <a:spcBef>
                <a:spcPct val="50000"/>
              </a:spcBef>
            </a:pPr>
            <a:r>
              <a:rPr lang="en-US" sz="2400" b="1" dirty="0" smtClean="0"/>
              <a:t>Development of HIT was a team effort:</a:t>
            </a:r>
          </a:p>
          <a:p>
            <a:pPr lvl="1">
              <a:spcBef>
                <a:spcPct val="50000"/>
              </a:spcBef>
              <a:buFontTx/>
              <a:buChar char="•"/>
            </a:pPr>
            <a:r>
              <a:rPr lang="en-US" b="1" dirty="0" smtClean="0"/>
              <a:t>  Clinton C.D.   –   John Switzer</a:t>
            </a:r>
          </a:p>
          <a:p>
            <a:pPr lvl="1">
              <a:spcBef>
                <a:spcPct val="50000"/>
              </a:spcBef>
              <a:buFontTx/>
              <a:buChar char="•"/>
            </a:pPr>
            <a:r>
              <a:rPr lang="en-US" b="1" dirty="0" smtClean="0"/>
              <a:t>  Huron C.D.     –   Tom </a:t>
            </a:r>
            <a:r>
              <a:rPr lang="en-US" b="1" dirty="0" err="1" smtClean="0"/>
              <a:t>Hanselman</a:t>
            </a:r>
            <a:endParaRPr lang="en-US" b="1" dirty="0" smtClean="0"/>
          </a:p>
          <a:p>
            <a:pPr lvl="1">
              <a:spcBef>
                <a:spcPct val="50000"/>
              </a:spcBef>
              <a:buFontTx/>
              <a:buChar char="•"/>
            </a:pPr>
            <a:r>
              <a:rPr lang="en-US" b="1" dirty="0" smtClean="0"/>
              <a:t>  Lenawee C.D  –   Lauren Lindeman</a:t>
            </a:r>
          </a:p>
          <a:p>
            <a:pPr lvl="1">
              <a:spcBef>
                <a:spcPct val="50000"/>
              </a:spcBef>
              <a:buFontTx/>
              <a:buChar char="•"/>
            </a:pPr>
            <a:r>
              <a:rPr lang="en-US" b="1" dirty="0" smtClean="0"/>
              <a:t>  Michigan Dept. of Ag. – Teresa </a:t>
            </a:r>
            <a:r>
              <a:rPr lang="en-US" b="1" dirty="0" err="1" smtClean="0"/>
              <a:t>Salveta</a:t>
            </a:r>
            <a:endParaRPr lang="en-US" b="1" dirty="0" smtClean="0"/>
          </a:p>
          <a:p>
            <a:pPr lvl="1">
              <a:spcBef>
                <a:spcPct val="50000"/>
              </a:spcBef>
            </a:pPr>
            <a:endParaRPr lang="en-US" dirty="0" smtClean="0"/>
          </a:p>
          <a:p>
            <a:pPr lvl="1">
              <a:spcBef>
                <a:spcPct val="50000"/>
              </a:spcBef>
              <a:buFontTx/>
              <a:buChar char="•"/>
            </a:pPr>
            <a:r>
              <a:rPr lang="en-US" dirty="0" smtClean="0"/>
              <a:t>  Provided feedback on HIT</a:t>
            </a:r>
          </a:p>
          <a:p>
            <a:pPr lvl="1">
              <a:spcBef>
                <a:spcPct val="50000"/>
              </a:spcBef>
              <a:buFontTx/>
              <a:buChar char="•"/>
            </a:pPr>
            <a:r>
              <a:rPr lang="en-US" dirty="0" smtClean="0"/>
              <a:t>  Facilitated public outreach</a:t>
            </a:r>
          </a:p>
          <a:p>
            <a:pPr lvl="1">
              <a:spcBef>
                <a:spcPct val="50000"/>
              </a:spcBef>
              <a:buFontTx/>
              <a:buChar char="•"/>
            </a:pPr>
            <a:r>
              <a:rPr lang="en-US" dirty="0" smtClean="0"/>
              <a:t>  Helped define HIT’s appropriate audiences</a:t>
            </a:r>
          </a:p>
          <a:p>
            <a:pPr lvl="1">
              <a:spcBef>
                <a:spcPct val="50000"/>
              </a:spcBef>
              <a:buFontTx/>
              <a:buChar char="•"/>
            </a:pPr>
            <a:r>
              <a:rPr lang="en-US" dirty="0" smtClean="0"/>
              <a:t>   Assessed HIT model through field evaluations and stream monitoring</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2">
                                            <p:txEl>
                                              <p:pRg st="1" end="1"/>
                                            </p:txEl>
                                          </p:spTgt>
                                        </p:tgtEl>
                                        <p:attrNameLst>
                                          <p:attrName>style.visibility</p:attrName>
                                        </p:attrNameLst>
                                      </p:cBhvr>
                                      <p:to>
                                        <p:strVal val="visible"/>
                                      </p:to>
                                    </p:set>
                                    <p:animEffect transition="in" filter="fade">
                                      <p:cBhvr>
                                        <p:cTn id="7" dur="1000"/>
                                        <p:tgtEl>
                                          <p:spTgt spid="1741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412">
                                            <p:txEl>
                                              <p:pRg st="2" end="2"/>
                                            </p:txEl>
                                          </p:spTgt>
                                        </p:tgtEl>
                                        <p:attrNameLst>
                                          <p:attrName>style.visibility</p:attrName>
                                        </p:attrNameLst>
                                      </p:cBhvr>
                                      <p:to>
                                        <p:strVal val="visible"/>
                                      </p:to>
                                    </p:set>
                                    <p:animEffect transition="in" filter="fade">
                                      <p:cBhvr>
                                        <p:cTn id="10" dur="1000"/>
                                        <p:tgtEl>
                                          <p:spTgt spid="1741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412">
                                            <p:txEl>
                                              <p:pRg st="3" end="3"/>
                                            </p:txEl>
                                          </p:spTgt>
                                        </p:tgtEl>
                                        <p:attrNameLst>
                                          <p:attrName>style.visibility</p:attrName>
                                        </p:attrNameLst>
                                      </p:cBhvr>
                                      <p:to>
                                        <p:strVal val="visible"/>
                                      </p:to>
                                    </p:set>
                                    <p:animEffect transition="in" filter="fade">
                                      <p:cBhvr>
                                        <p:cTn id="13" dur="1000"/>
                                        <p:tgtEl>
                                          <p:spTgt spid="17412">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412">
                                            <p:txEl>
                                              <p:pRg st="4" end="4"/>
                                            </p:txEl>
                                          </p:spTgt>
                                        </p:tgtEl>
                                        <p:attrNameLst>
                                          <p:attrName>style.visibility</p:attrName>
                                        </p:attrNameLst>
                                      </p:cBhvr>
                                      <p:to>
                                        <p:strVal val="visible"/>
                                      </p:to>
                                    </p:set>
                                    <p:animEffect transition="in" filter="fade">
                                      <p:cBhvr>
                                        <p:cTn id="16" dur="1000"/>
                                        <p:tgtEl>
                                          <p:spTgt spid="17412">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412">
                                            <p:txEl>
                                              <p:pRg st="6" end="6"/>
                                            </p:txEl>
                                          </p:spTgt>
                                        </p:tgtEl>
                                        <p:attrNameLst>
                                          <p:attrName>style.visibility</p:attrName>
                                        </p:attrNameLst>
                                      </p:cBhvr>
                                      <p:to>
                                        <p:strVal val="visible"/>
                                      </p:to>
                                    </p:set>
                                    <p:animEffect transition="in" filter="fade">
                                      <p:cBhvr>
                                        <p:cTn id="21" dur="1000"/>
                                        <p:tgtEl>
                                          <p:spTgt spid="17412">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7412">
                                            <p:txEl>
                                              <p:pRg st="7" end="7"/>
                                            </p:txEl>
                                          </p:spTgt>
                                        </p:tgtEl>
                                        <p:attrNameLst>
                                          <p:attrName>style.visibility</p:attrName>
                                        </p:attrNameLst>
                                      </p:cBhvr>
                                      <p:to>
                                        <p:strVal val="visible"/>
                                      </p:to>
                                    </p:set>
                                    <p:animEffect transition="in" filter="fade">
                                      <p:cBhvr>
                                        <p:cTn id="26" dur="1000"/>
                                        <p:tgtEl>
                                          <p:spTgt spid="17412">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7412">
                                            <p:txEl>
                                              <p:pRg st="8" end="8"/>
                                            </p:txEl>
                                          </p:spTgt>
                                        </p:tgtEl>
                                        <p:attrNameLst>
                                          <p:attrName>style.visibility</p:attrName>
                                        </p:attrNameLst>
                                      </p:cBhvr>
                                      <p:to>
                                        <p:strVal val="visible"/>
                                      </p:to>
                                    </p:set>
                                    <p:animEffect transition="in" filter="fade">
                                      <p:cBhvr>
                                        <p:cTn id="31" dur="1000"/>
                                        <p:tgtEl>
                                          <p:spTgt spid="17412">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412">
                                            <p:txEl>
                                              <p:pRg st="9" end="9"/>
                                            </p:txEl>
                                          </p:spTgt>
                                        </p:tgtEl>
                                        <p:attrNameLst>
                                          <p:attrName>style.visibility</p:attrName>
                                        </p:attrNameLst>
                                      </p:cBhvr>
                                      <p:to>
                                        <p:strVal val="visible"/>
                                      </p:to>
                                    </p:set>
                                    <p:animEffect transition="in" filter="fade">
                                      <p:cBhvr>
                                        <p:cTn id="36" dur="1000"/>
                                        <p:tgtEl>
                                          <p:spTgt spid="1741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14</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Field Evaluations</a:t>
            </a:r>
          </a:p>
        </p:txBody>
      </p:sp>
      <p:sp>
        <p:nvSpPr>
          <p:cNvPr id="17412" name="Text Box 6"/>
          <p:cNvSpPr txBox="1">
            <a:spLocks noChangeArrowheads="1"/>
          </p:cNvSpPr>
          <p:nvPr/>
        </p:nvSpPr>
        <p:spPr bwMode="auto">
          <a:xfrm>
            <a:off x="846138" y="1020763"/>
            <a:ext cx="8132762" cy="646331"/>
          </a:xfrm>
          <a:prstGeom prst="rect">
            <a:avLst/>
          </a:prstGeom>
          <a:noFill/>
          <a:ln w="9525">
            <a:noFill/>
            <a:miter lim="800000"/>
            <a:headEnd/>
            <a:tailEnd/>
          </a:ln>
        </p:spPr>
        <p:txBody>
          <a:bodyPr wrap="square">
            <a:spAutoFit/>
          </a:bodyPr>
          <a:lstStyle/>
          <a:p>
            <a:pPr>
              <a:spcBef>
                <a:spcPct val="50000"/>
              </a:spcBef>
            </a:pPr>
            <a:r>
              <a:rPr lang="en-US" dirty="0" smtClean="0"/>
              <a:t>The C.D. technicians visited over 200 fields in the pilot watersheds and evaluated the accuracy of the high-risk maps.</a:t>
            </a:r>
          </a:p>
        </p:txBody>
      </p:sp>
      <p:pic>
        <p:nvPicPr>
          <p:cNvPr id="50178" name="Picture 2"/>
          <p:cNvPicPr>
            <a:picLocks noChangeAspect="1" noChangeArrowheads="1"/>
          </p:cNvPicPr>
          <p:nvPr/>
        </p:nvPicPr>
        <p:blipFill>
          <a:blip r:embed="rId3" cstate="print"/>
          <a:srcRect/>
          <a:stretch>
            <a:fillRect/>
          </a:stretch>
        </p:blipFill>
        <p:spPr bwMode="auto">
          <a:xfrm>
            <a:off x="1073150" y="1879600"/>
            <a:ext cx="3803650" cy="4064270"/>
          </a:xfrm>
          <a:prstGeom prst="rect">
            <a:avLst/>
          </a:prstGeom>
          <a:noFill/>
          <a:ln w="12700">
            <a:solidFill>
              <a:schemeClr val="tx1"/>
            </a:solidFill>
            <a:miter lim="800000"/>
            <a:headEnd/>
            <a:tailEnd/>
          </a:ln>
        </p:spPr>
      </p:pic>
      <p:grpSp>
        <p:nvGrpSpPr>
          <p:cNvPr id="9" name="Group 8"/>
          <p:cNvGrpSpPr/>
          <p:nvPr/>
        </p:nvGrpSpPr>
        <p:grpSpPr>
          <a:xfrm>
            <a:off x="5303837" y="1635125"/>
            <a:ext cx="3328305" cy="5202878"/>
            <a:chOff x="5303837" y="1508125"/>
            <a:chExt cx="3328305" cy="5202878"/>
          </a:xfrm>
        </p:grpSpPr>
        <p:pic>
          <p:nvPicPr>
            <p:cNvPr id="6" name="Picture 5" descr="hit_eval_form1.jpg"/>
            <p:cNvPicPr>
              <a:picLocks noChangeAspect="1"/>
            </p:cNvPicPr>
            <p:nvPr/>
          </p:nvPicPr>
          <p:blipFill>
            <a:blip r:embed="rId4" cstate="print"/>
            <a:stretch>
              <a:fillRect/>
            </a:stretch>
          </p:blipFill>
          <p:spPr>
            <a:xfrm>
              <a:off x="5303837" y="1508125"/>
              <a:ext cx="3328305" cy="2968625"/>
            </a:xfrm>
            <a:prstGeom prst="rect">
              <a:avLst/>
            </a:prstGeom>
          </p:spPr>
        </p:pic>
        <p:pic>
          <p:nvPicPr>
            <p:cNvPr id="7" name="Picture 6" descr="hit_eval_form2.jpg"/>
            <p:cNvPicPr>
              <a:picLocks noChangeAspect="1"/>
            </p:cNvPicPr>
            <p:nvPr/>
          </p:nvPicPr>
          <p:blipFill>
            <a:blip r:embed="rId5" cstate="print"/>
            <a:srcRect b="4940"/>
            <a:stretch>
              <a:fillRect/>
            </a:stretch>
          </p:blipFill>
          <p:spPr>
            <a:xfrm>
              <a:off x="5309935" y="3882005"/>
              <a:ext cx="3319715" cy="2828998"/>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fade">
                                      <p:cBhvr>
                                        <p:cTn id="7" dur="1000"/>
                                        <p:tgtEl>
                                          <p:spTgt spid="501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15</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Field Evaluations</a:t>
            </a:r>
          </a:p>
        </p:txBody>
      </p:sp>
      <p:sp>
        <p:nvSpPr>
          <p:cNvPr id="17412" name="Text Box 6"/>
          <p:cNvSpPr txBox="1">
            <a:spLocks noChangeArrowheads="1"/>
          </p:cNvSpPr>
          <p:nvPr/>
        </p:nvSpPr>
        <p:spPr bwMode="auto">
          <a:xfrm>
            <a:off x="998538" y="868363"/>
            <a:ext cx="8145462" cy="677108"/>
          </a:xfrm>
          <a:prstGeom prst="rect">
            <a:avLst/>
          </a:prstGeom>
          <a:noFill/>
          <a:ln w="9525">
            <a:noFill/>
            <a:miter lim="800000"/>
            <a:headEnd/>
            <a:tailEnd/>
          </a:ln>
        </p:spPr>
        <p:txBody>
          <a:bodyPr wrap="square">
            <a:spAutoFit/>
          </a:bodyPr>
          <a:lstStyle/>
          <a:p>
            <a:pPr>
              <a:spcBef>
                <a:spcPct val="50000"/>
              </a:spcBef>
            </a:pPr>
            <a:r>
              <a:rPr lang="en-US" b="1" dirty="0" smtClean="0"/>
              <a:t>Results</a:t>
            </a:r>
            <a:r>
              <a:rPr lang="en-US" dirty="0" smtClean="0"/>
              <a:t>: 70% of the time HIT maps correctly characterized the landscape. locations</a:t>
            </a:r>
            <a:r>
              <a:rPr lang="en-US" sz="2000" dirty="0" smtClean="0"/>
              <a:t>.</a:t>
            </a:r>
          </a:p>
        </p:txBody>
      </p:sp>
      <p:pic>
        <p:nvPicPr>
          <p:cNvPr id="10" name="Picture 9" descr="raisin_site5_photo.JPG"/>
          <p:cNvPicPr>
            <a:picLocks noChangeAspect="1"/>
          </p:cNvPicPr>
          <p:nvPr/>
        </p:nvPicPr>
        <p:blipFill>
          <a:blip r:embed="rId3" cstate="print"/>
          <a:stretch>
            <a:fillRect/>
          </a:stretch>
        </p:blipFill>
        <p:spPr>
          <a:xfrm>
            <a:off x="5168900" y="1257300"/>
            <a:ext cx="3365500" cy="2524125"/>
          </a:xfrm>
          <a:prstGeom prst="rect">
            <a:avLst/>
          </a:prstGeom>
          <a:ln w="12700">
            <a:solidFill>
              <a:schemeClr val="tx1"/>
            </a:solidFill>
          </a:ln>
        </p:spPr>
      </p:pic>
      <p:pic>
        <p:nvPicPr>
          <p:cNvPr id="11" name="Picture 10" descr="raisin_site18_sed.jpg"/>
          <p:cNvPicPr>
            <a:picLocks noChangeAspect="1"/>
          </p:cNvPicPr>
          <p:nvPr/>
        </p:nvPicPr>
        <p:blipFill>
          <a:blip r:embed="rId4" cstate="print"/>
          <a:stretch>
            <a:fillRect/>
          </a:stretch>
        </p:blipFill>
        <p:spPr>
          <a:xfrm>
            <a:off x="1079529" y="3913865"/>
            <a:ext cx="3389630" cy="2521712"/>
          </a:xfrm>
          <a:prstGeom prst="rect">
            <a:avLst/>
          </a:prstGeom>
          <a:ln w="12700">
            <a:solidFill>
              <a:schemeClr val="tx1"/>
            </a:solidFill>
          </a:ln>
        </p:spPr>
      </p:pic>
      <p:pic>
        <p:nvPicPr>
          <p:cNvPr id="12" name="Picture 11" descr="raisin_site18_photo.jpg"/>
          <p:cNvPicPr>
            <a:picLocks noChangeAspect="1"/>
          </p:cNvPicPr>
          <p:nvPr/>
        </p:nvPicPr>
        <p:blipFill>
          <a:blip r:embed="rId5" cstate="print"/>
          <a:stretch>
            <a:fillRect/>
          </a:stretch>
        </p:blipFill>
        <p:spPr>
          <a:xfrm>
            <a:off x="5160433" y="3898900"/>
            <a:ext cx="3386667" cy="2540000"/>
          </a:xfrm>
          <a:prstGeom prst="rect">
            <a:avLst/>
          </a:prstGeom>
          <a:ln w="12700">
            <a:solidFill>
              <a:schemeClr val="tx1"/>
            </a:solidFill>
          </a:ln>
        </p:spPr>
      </p:pic>
      <p:pic>
        <p:nvPicPr>
          <p:cNvPr id="15" name="Picture 14" descr="raisin_site5_sed.jpg"/>
          <p:cNvPicPr>
            <a:picLocks noChangeAspect="1"/>
          </p:cNvPicPr>
          <p:nvPr/>
        </p:nvPicPr>
        <p:blipFill>
          <a:blip r:embed="rId6" cstate="print"/>
          <a:stretch>
            <a:fillRect/>
          </a:stretch>
        </p:blipFill>
        <p:spPr>
          <a:xfrm>
            <a:off x="1092200" y="1272265"/>
            <a:ext cx="3389630" cy="2521712"/>
          </a:xfrm>
          <a:prstGeom prst="rect">
            <a:avLst/>
          </a:prstGeom>
          <a:ln w="12700">
            <a:solidFill>
              <a:schemeClr val="tx1"/>
            </a:solidFill>
          </a:ln>
        </p:spPr>
      </p:pic>
      <p:sp>
        <p:nvSpPr>
          <p:cNvPr id="13" name="Oval 12"/>
          <p:cNvSpPr/>
          <p:nvPr/>
        </p:nvSpPr>
        <p:spPr>
          <a:xfrm>
            <a:off x="1930400" y="1435100"/>
            <a:ext cx="647700" cy="622300"/>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2476500" y="5092700"/>
            <a:ext cx="647700" cy="622300"/>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p:nvPr/>
        </p:nvCxnSpPr>
        <p:spPr>
          <a:xfrm>
            <a:off x="4622800" y="2603500"/>
            <a:ext cx="431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635500" y="5232400"/>
            <a:ext cx="431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1000"/>
                                        <p:tgtEl>
                                          <p:spTgt spid="16"/>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left)">
                                      <p:cBhvr>
                                        <p:cTn id="24" dur="500"/>
                                        <p:tgtEl>
                                          <p:spTgt spid="18"/>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16</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Field Evaluations</a:t>
            </a:r>
          </a:p>
        </p:txBody>
      </p:sp>
      <p:pic>
        <p:nvPicPr>
          <p:cNvPr id="9" name="Picture 8" descr="maple_site23_sed.jpg"/>
          <p:cNvPicPr>
            <a:picLocks noChangeAspect="1"/>
          </p:cNvPicPr>
          <p:nvPr/>
        </p:nvPicPr>
        <p:blipFill>
          <a:blip r:embed="rId3" cstate="print"/>
          <a:stretch>
            <a:fillRect/>
          </a:stretch>
        </p:blipFill>
        <p:spPr>
          <a:xfrm>
            <a:off x="1066826" y="1234165"/>
            <a:ext cx="3428974" cy="2550982"/>
          </a:xfrm>
          <a:prstGeom prst="rect">
            <a:avLst/>
          </a:prstGeom>
          <a:ln w="12700">
            <a:solidFill>
              <a:schemeClr val="tx1"/>
            </a:solidFill>
          </a:ln>
        </p:spPr>
      </p:pic>
      <p:sp>
        <p:nvSpPr>
          <p:cNvPr id="13" name="Oval 12"/>
          <p:cNvSpPr/>
          <p:nvPr/>
        </p:nvSpPr>
        <p:spPr>
          <a:xfrm>
            <a:off x="2476500" y="2463800"/>
            <a:ext cx="647700" cy="622300"/>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maple_site23_photo.jpg"/>
          <p:cNvPicPr>
            <a:picLocks noChangeAspect="1"/>
          </p:cNvPicPr>
          <p:nvPr/>
        </p:nvPicPr>
        <p:blipFill>
          <a:blip r:embed="rId4" cstate="print"/>
          <a:stretch>
            <a:fillRect/>
          </a:stretch>
        </p:blipFill>
        <p:spPr>
          <a:xfrm>
            <a:off x="5016500" y="1231900"/>
            <a:ext cx="3403600" cy="2552700"/>
          </a:xfrm>
          <a:prstGeom prst="rect">
            <a:avLst/>
          </a:prstGeom>
          <a:ln w="12700">
            <a:solidFill>
              <a:schemeClr val="tx1"/>
            </a:solidFill>
          </a:ln>
        </p:spPr>
      </p:pic>
      <p:sp>
        <p:nvSpPr>
          <p:cNvPr id="15" name="Text Box 6"/>
          <p:cNvSpPr txBox="1">
            <a:spLocks noChangeArrowheads="1"/>
          </p:cNvSpPr>
          <p:nvPr/>
        </p:nvSpPr>
        <p:spPr bwMode="auto">
          <a:xfrm>
            <a:off x="947738" y="4195763"/>
            <a:ext cx="7866062" cy="1246495"/>
          </a:xfrm>
          <a:prstGeom prst="rect">
            <a:avLst/>
          </a:prstGeom>
          <a:noFill/>
          <a:ln w="9525">
            <a:noFill/>
            <a:miter lim="800000"/>
            <a:headEnd/>
            <a:tailEnd/>
          </a:ln>
        </p:spPr>
        <p:txBody>
          <a:bodyPr wrap="square">
            <a:spAutoFit/>
          </a:bodyPr>
          <a:lstStyle/>
          <a:p>
            <a:pPr>
              <a:spcBef>
                <a:spcPct val="50000"/>
              </a:spcBef>
            </a:pPr>
            <a:r>
              <a:rPr lang="en-US" b="1" dirty="0" smtClean="0"/>
              <a:t>Primary causes of errors at other 30%:</a:t>
            </a:r>
            <a:endParaRPr lang="en-US" dirty="0" smtClean="0"/>
          </a:p>
          <a:p>
            <a:pPr>
              <a:spcBef>
                <a:spcPct val="50000"/>
              </a:spcBef>
            </a:pPr>
            <a:r>
              <a:rPr lang="en-US" b="1" dirty="0" smtClean="0"/>
              <a:t>	-  </a:t>
            </a:r>
            <a:r>
              <a:rPr lang="en-US" dirty="0" smtClean="0"/>
              <a:t>Coarse land cover input (30-meter resolution)</a:t>
            </a:r>
          </a:p>
          <a:p>
            <a:pPr>
              <a:spcBef>
                <a:spcPct val="50000"/>
              </a:spcBef>
            </a:pPr>
            <a:r>
              <a:rPr lang="en-US" sz="2000" b="1" dirty="0" smtClean="0"/>
              <a:t>	-  </a:t>
            </a:r>
            <a:r>
              <a:rPr lang="en-US" dirty="0" smtClean="0"/>
              <a:t>DEM unable to accurately characterize flow-direction</a:t>
            </a:r>
          </a:p>
        </p:txBody>
      </p:sp>
      <p:cxnSp>
        <p:nvCxnSpPr>
          <p:cNvPr id="8" name="Straight Arrow Connector 7"/>
          <p:cNvCxnSpPr/>
          <p:nvPr/>
        </p:nvCxnSpPr>
        <p:spPr>
          <a:xfrm>
            <a:off x="4559300" y="2628900"/>
            <a:ext cx="431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animEffect transition="in" filter="fade">
                                      <p:cBhvr>
                                        <p:cTn id="20" dur="1000"/>
                                        <p:tgtEl>
                                          <p:spTgt spid="15">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xEl>
                                              <p:pRg st="1" end="1"/>
                                            </p:txEl>
                                          </p:spTgt>
                                        </p:tgtEl>
                                        <p:attrNameLst>
                                          <p:attrName>style.visibility</p:attrName>
                                        </p:attrNameLst>
                                      </p:cBhvr>
                                      <p:to>
                                        <p:strVal val="visible"/>
                                      </p:to>
                                    </p:set>
                                    <p:animEffect transition="in" filter="fade">
                                      <p:cBhvr>
                                        <p:cTn id="25" dur="1000"/>
                                        <p:tgtEl>
                                          <p:spTgt spid="15">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5">
                                            <p:txEl>
                                              <p:pRg st="2" end="2"/>
                                            </p:txEl>
                                          </p:spTgt>
                                        </p:tgtEl>
                                        <p:attrNameLst>
                                          <p:attrName>style.visibility</p:attrName>
                                        </p:attrNameLst>
                                      </p:cBhvr>
                                      <p:to>
                                        <p:strVal val="visible"/>
                                      </p:to>
                                    </p:set>
                                    <p:animEffect transition="in" filter="fade">
                                      <p:cBhvr>
                                        <p:cTn id="30" dur="10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17</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Stream Monitoring</a:t>
            </a:r>
          </a:p>
        </p:txBody>
      </p:sp>
      <p:sp>
        <p:nvSpPr>
          <p:cNvPr id="15" name="Text Box 6"/>
          <p:cNvSpPr txBox="1">
            <a:spLocks noChangeArrowheads="1"/>
          </p:cNvSpPr>
          <p:nvPr/>
        </p:nvSpPr>
        <p:spPr bwMode="auto">
          <a:xfrm>
            <a:off x="935038" y="982663"/>
            <a:ext cx="7675562" cy="646331"/>
          </a:xfrm>
          <a:prstGeom prst="rect">
            <a:avLst/>
          </a:prstGeom>
          <a:noFill/>
          <a:ln w="9525">
            <a:noFill/>
            <a:miter lim="800000"/>
            <a:headEnd/>
            <a:tailEnd/>
          </a:ln>
        </p:spPr>
        <p:txBody>
          <a:bodyPr wrap="square">
            <a:spAutoFit/>
          </a:bodyPr>
          <a:lstStyle/>
          <a:p>
            <a:pPr>
              <a:spcBef>
                <a:spcPct val="50000"/>
              </a:spcBef>
            </a:pPr>
            <a:r>
              <a:rPr lang="en-US" b="1" dirty="0" smtClean="0"/>
              <a:t>MDA and Conservation Districts are currently evaluating HIT sediment estimates.</a:t>
            </a:r>
            <a:endParaRPr lang="en-US" dirty="0" smtClean="0"/>
          </a:p>
        </p:txBody>
      </p:sp>
      <p:pic>
        <p:nvPicPr>
          <p:cNvPr id="8" name="Picture 7" descr="raisin_nhdplus_catchments.jpg"/>
          <p:cNvPicPr>
            <a:picLocks noChangeAspect="1"/>
          </p:cNvPicPr>
          <p:nvPr/>
        </p:nvPicPr>
        <p:blipFill>
          <a:blip r:embed="rId3" cstate="print"/>
          <a:stretch>
            <a:fillRect/>
          </a:stretch>
        </p:blipFill>
        <p:spPr>
          <a:xfrm>
            <a:off x="4547560" y="1981200"/>
            <a:ext cx="4456740" cy="3314700"/>
          </a:xfrm>
          <a:prstGeom prst="rect">
            <a:avLst/>
          </a:prstGeom>
          <a:ln w="12700">
            <a:solidFill>
              <a:schemeClr val="tx1"/>
            </a:solidFill>
          </a:ln>
        </p:spPr>
      </p:pic>
      <p:sp>
        <p:nvSpPr>
          <p:cNvPr id="10" name="Text Box 6"/>
          <p:cNvSpPr txBox="1">
            <a:spLocks noChangeArrowheads="1"/>
          </p:cNvSpPr>
          <p:nvPr/>
        </p:nvSpPr>
        <p:spPr bwMode="auto">
          <a:xfrm>
            <a:off x="1112838" y="1714986"/>
            <a:ext cx="3421062" cy="861774"/>
          </a:xfrm>
          <a:prstGeom prst="rect">
            <a:avLst/>
          </a:prstGeom>
          <a:noFill/>
          <a:ln w="9525">
            <a:noFill/>
            <a:miter lim="800000"/>
            <a:headEnd/>
            <a:tailEnd/>
          </a:ln>
        </p:spPr>
        <p:txBody>
          <a:bodyPr wrap="square">
            <a:spAutoFit/>
          </a:bodyPr>
          <a:lstStyle/>
          <a:p>
            <a:pPr>
              <a:spcBef>
                <a:spcPct val="50000"/>
              </a:spcBef>
              <a:buFontTx/>
              <a:buChar char="-"/>
            </a:pPr>
            <a:r>
              <a:rPr lang="en-US" dirty="0" smtClean="0"/>
              <a:t>   </a:t>
            </a:r>
            <a:r>
              <a:rPr lang="en-US" sz="1600" dirty="0" smtClean="0"/>
              <a:t>NHD Plus catchments (average size 700 acres) were ranked by sediment loading through HIT. .</a:t>
            </a:r>
          </a:p>
        </p:txBody>
      </p:sp>
      <p:sp>
        <p:nvSpPr>
          <p:cNvPr id="12" name="Text Box 6"/>
          <p:cNvSpPr txBox="1">
            <a:spLocks noChangeArrowheads="1"/>
          </p:cNvSpPr>
          <p:nvPr/>
        </p:nvSpPr>
        <p:spPr bwMode="auto">
          <a:xfrm>
            <a:off x="1011238" y="3023451"/>
            <a:ext cx="3611562" cy="861774"/>
          </a:xfrm>
          <a:prstGeom prst="rect">
            <a:avLst/>
          </a:prstGeom>
          <a:noFill/>
          <a:ln w="9525">
            <a:noFill/>
            <a:miter lim="800000"/>
            <a:headEnd/>
            <a:tailEnd/>
          </a:ln>
        </p:spPr>
        <p:txBody>
          <a:bodyPr wrap="square">
            <a:spAutoFit/>
          </a:bodyPr>
          <a:lstStyle/>
          <a:p>
            <a:pPr>
              <a:spcBef>
                <a:spcPct val="50000"/>
              </a:spcBef>
              <a:buFontTx/>
              <a:buChar char="-"/>
            </a:pPr>
            <a:r>
              <a:rPr lang="en-US" dirty="0" smtClean="0"/>
              <a:t>  </a:t>
            </a:r>
            <a:r>
              <a:rPr lang="en-US" sz="1600" dirty="0" smtClean="0"/>
              <a:t>C.D. Technicians took samples during weather events and sent them to Michigan DEQ for analysis.</a:t>
            </a:r>
          </a:p>
        </p:txBody>
      </p:sp>
      <p:sp>
        <p:nvSpPr>
          <p:cNvPr id="16" name="Rectangle 15"/>
          <p:cNvSpPr/>
          <p:nvPr/>
        </p:nvSpPr>
        <p:spPr>
          <a:xfrm>
            <a:off x="1016000" y="4453235"/>
            <a:ext cx="3568700" cy="861774"/>
          </a:xfrm>
          <a:prstGeom prst="rect">
            <a:avLst/>
          </a:prstGeom>
        </p:spPr>
        <p:txBody>
          <a:bodyPr wrap="square">
            <a:spAutoFit/>
          </a:bodyPr>
          <a:lstStyle/>
          <a:p>
            <a:r>
              <a:rPr lang="en-US" dirty="0" smtClean="0"/>
              <a:t>-  </a:t>
            </a:r>
            <a:r>
              <a:rPr lang="en-US" sz="1600" dirty="0" smtClean="0"/>
              <a:t>IWR will utilized DEQ results to determine if HIT adequately ranked catchments by sediment loading</a:t>
            </a:r>
            <a:endParaRPr lang="en-US" sz="1600" dirty="0"/>
          </a:p>
        </p:txBody>
      </p:sp>
      <p:sp>
        <p:nvSpPr>
          <p:cNvPr id="17" name="TextBox 16"/>
          <p:cNvSpPr txBox="1"/>
          <p:nvPr/>
        </p:nvSpPr>
        <p:spPr>
          <a:xfrm>
            <a:off x="5003800" y="5270500"/>
            <a:ext cx="3763274" cy="276999"/>
          </a:xfrm>
          <a:prstGeom prst="rect">
            <a:avLst/>
          </a:prstGeom>
          <a:noFill/>
        </p:spPr>
        <p:txBody>
          <a:bodyPr wrap="none" rtlCol="0">
            <a:spAutoFit/>
          </a:bodyPr>
          <a:lstStyle/>
          <a:p>
            <a:r>
              <a:rPr lang="en-US" sz="1200" dirty="0" smtClean="0"/>
              <a:t>NHD Plus catchments of the River Raisin Watershed</a:t>
            </a:r>
            <a:endParaRPr lang="en-US" sz="12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20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Effect transition="in" filter="fade">
                                      <p:cBhvr>
                                        <p:cTn id="19" dur="1000"/>
                                        <p:tgtEl>
                                          <p:spTgt spid="1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animEffect transition="in" filter="fade">
                                      <p:cBhvr>
                                        <p:cTn id="24" dur="1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18</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HIT Highlights</a:t>
            </a:r>
          </a:p>
        </p:txBody>
      </p:sp>
      <p:sp>
        <p:nvSpPr>
          <p:cNvPr id="17412" name="Text Box 6"/>
          <p:cNvSpPr txBox="1">
            <a:spLocks noChangeArrowheads="1"/>
          </p:cNvSpPr>
          <p:nvPr/>
        </p:nvSpPr>
        <p:spPr bwMode="auto">
          <a:xfrm>
            <a:off x="1011238" y="1389063"/>
            <a:ext cx="7775575" cy="4524315"/>
          </a:xfrm>
          <a:prstGeom prst="rect">
            <a:avLst/>
          </a:prstGeom>
          <a:noFill/>
          <a:ln w="9525">
            <a:noFill/>
            <a:miter lim="800000"/>
            <a:headEnd/>
            <a:tailEnd/>
          </a:ln>
        </p:spPr>
        <p:txBody>
          <a:bodyPr>
            <a:spAutoFit/>
          </a:bodyPr>
          <a:lstStyle/>
          <a:p>
            <a:pPr>
              <a:spcBef>
                <a:spcPct val="50000"/>
              </a:spcBef>
              <a:buFontTx/>
              <a:buChar char="•"/>
            </a:pPr>
            <a:r>
              <a:rPr lang="en-US" sz="2400" dirty="0"/>
              <a:t> Conservation districts are using HIT to prioritize efforts.</a:t>
            </a:r>
          </a:p>
          <a:p>
            <a:pPr>
              <a:spcBef>
                <a:spcPct val="50000"/>
              </a:spcBef>
            </a:pPr>
            <a:endParaRPr lang="en-US" sz="2400" dirty="0"/>
          </a:p>
          <a:p>
            <a:pPr>
              <a:spcBef>
                <a:spcPct val="50000"/>
              </a:spcBef>
              <a:buFontTx/>
              <a:buChar char="•"/>
            </a:pPr>
            <a:r>
              <a:rPr lang="en-US" sz="2400" dirty="0"/>
              <a:t>  HIT data is being viewed within the NRCS Toolkit, integrating HIT into the workflow of conservation technicians.</a:t>
            </a:r>
          </a:p>
          <a:p>
            <a:pPr>
              <a:spcBef>
                <a:spcPct val="50000"/>
              </a:spcBef>
              <a:buFontTx/>
              <a:buChar char="•"/>
            </a:pPr>
            <a:endParaRPr lang="en-US" sz="2400" dirty="0"/>
          </a:p>
          <a:p>
            <a:pPr>
              <a:spcBef>
                <a:spcPct val="50000"/>
              </a:spcBef>
              <a:buFontTx/>
              <a:buChar char="•"/>
            </a:pPr>
            <a:r>
              <a:rPr lang="en-US" sz="2400" dirty="0"/>
              <a:t>  </a:t>
            </a:r>
            <a:r>
              <a:rPr lang="en-US" sz="2400" dirty="0" smtClean="0"/>
              <a:t>Michigan DEQ is promoting HIT in the development of 319 plans.  Clinton C.D. and consultants have used it in Maple River 319 plan.</a:t>
            </a:r>
            <a:endParaRPr lang="en-US"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animEffect transition="in" filter="fade">
                                      <p:cBhvr>
                                        <p:cTn id="7" dur="1000"/>
                                        <p:tgtEl>
                                          <p:spTgt spid="174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12">
                                            <p:txEl>
                                              <p:pRg st="2" end="2"/>
                                            </p:txEl>
                                          </p:spTgt>
                                        </p:tgtEl>
                                        <p:attrNameLst>
                                          <p:attrName>style.visibility</p:attrName>
                                        </p:attrNameLst>
                                      </p:cBhvr>
                                      <p:to>
                                        <p:strVal val="visible"/>
                                      </p:to>
                                    </p:set>
                                    <p:animEffect transition="in" filter="fade">
                                      <p:cBhvr>
                                        <p:cTn id="12" dur="1000"/>
                                        <p:tgtEl>
                                          <p:spTgt spid="174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12">
                                            <p:txEl>
                                              <p:pRg st="4" end="4"/>
                                            </p:txEl>
                                          </p:spTgt>
                                        </p:tgtEl>
                                        <p:attrNameLst>
                                          <p:attrName>style.visibility</p:attrName>
                                        </p:attrNameLst>
                                      </p:cBhvr>
                                      <p:to>
                                        <p:strVal val="visible"/>
                                      </p:to>
                                    </p:set>
                                    <p:animEffect transition="in" filter="fade">
                                      <p:cBhvr>
                                        <p:cTn id="17" dur="1000"/>
                                        <p:tgtEl>
                                          <p:spTgt spid="174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19</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HIT Limitations</a:t>
            </a:r>
          </a:p>
        </p:txBody>
      </p:sp>
      <p:sp>
        <p:nvSpPr>
          <p:cNvPr id="17412" name="Text Box 6"/>
          <p:cNvSpPr txBox="1">
            <a:spLocks noChangeArrowheads="1"/>
          </p:cNvSpPr>
          <p:nvPr/>
        </p:nvSpPr>
        <p:spPr bwMode="auto">
          <a:xfrm>
            <a:off x="1011238" y="1389063"/>
            <a:ext cx="7775575" cy="3785652"/>
          </a:xfrm>
          <a:prstGeom prst="rect">
            <a:avLst/>
          </a:prstGeom>
          <a:noFill/>
          <a:ln w="9525">
            <a:noFill/>
            <a:miter lim="800000"/>
            <a:headEnd/>
            <a:tailEnd/>
          </a:ln>
        </p:spPr>
        <p:txBody>
          <a:bodyPr>
            <a:spAutoFit/>
          </a:bodyPr>
          <a:lstStyle/>
          <a:p>
            <a:pPr>
              <a:spcBef>
                <a:spcPct val="50000"/>
              </a:spcBef>
              <a:buFontTx/>
              <a:buChar char="•"/>
            </a:pPr>
            <a:r>
              <a:rPr lang="en-US" sz="2400" dirty="0"/>
              <a:t> </a:t>
            </a:r>
            <a:r>
              <a:rPr lang="en-US" sz="2400" dirty="0" smtClean="0"/>
              <a:t>  Focused primarily on agricultural lands, not suitable for urban analysis.</a:t>
            </a:r>
            <a:endParaRPr lang="en-US" sz="2400" dirty="0"/>
          </a:p>
          <a:p>
            <a:pPr>
              <a:spcBef>
                <a:spcPct val="50000"/>
              </a:spcBef>
            </a:pPr>
            <a:endParaRPr lang="en-US" sz="2400" dirty="0"/>
          </a:p>
          <a:p>
            <a:pPr>
              <a:spcBef>
                <a:spcPct val="50000"/>
              </a:spcBef>
              <a:buFontTx/>
              <a:buChar char="•"/>
            </a:pPr>
            <a:r>
              <a:rPr lang="en-US" sz="2400" dirty="0"/>
              <a:t>  </a:t>
            </a:r>
            <a:r>
              <a:rPr lang="en-US" sz="2400" dirty="0" smtClean="0"/>
              <a:t>Focused on sheet erosion (RUSLE), not gully, bank, or wind.</a:t>
            </a:r>
            <a:endParaRPr lang="en-US" sz="2400" dirty="0"/>
          </a:p>
          <a:p>
            <a:pPr>
              <a:spcBef>
                <a:spcPct val="50000"/>
              </a:spcBef>
              <a:buFontTx/>
              <a:buChar char="•"/>
            </a:pPr>
            <a:endParaRPr lang="en-US" sz="2400" dirty="0"/>
          </a:p>
          <a:p>
            <a:pPr>
              <a:spcBef>
                <a:spcPct val="50000"/>
              </a:spcBef>
              <a:buFontTx/>
              <a:buChar char="•"/>
            </a:pPr>
            <a:r>
              <a:rPr lang="en-US" sz="2400" dirty="0"/>
              <a:t>  </a:t>
            </a:r>
            <a:r>
              <a:rPr lang="en-US" sz="2400" dirty="0" smtClean="0"/>
              <a:t>Estimates of erosion and sediment loadings are for relative comparisons of watersheds, are </a:t>
            </a:r>
            <a:r>
              <a:rPr lang="en-US" sz="2400" smtClean="0"/>
              <a:t>not precise.</a:t>
            </a:r>
            <a:endParaRPr lang="en-US"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animEffect transition="in" filter="fade">
                                      <p:cBhvr>
                                        <p:cTn id="7" dur="1000"/>
                                        <p:tgtEl>
                                          <p:spTgt spid="174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12">
                                            <p:txEl>
                                              <p:pRg st="2" end="2"/>
                                            </p:txEl>
                                          </p:spTgt>
                                        </p:tgtEl>
                                        <p:attrNameLst>
                                          <p:attrName>style.visibility</p:attrName>
                                        </p:attrNameLst>
                                      </p:cBhvr>
                                      <p:to>
                                        <p:strVal val="visible"/>
                                      </p:to>
                                    </p:set>
                                    <p:animEffect transition="in" filter="fade">
                                      <p:cBhvr>
                                        <p:cTn id="12" dur="1000"/>
                                        <p:tgtEl>
                                          <p:spTgt spid="174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12">
                                            <p:txEl>
                                              <p:pRg st="4" end="4"/>
                                            </p:txEl>
                                          </p:spTgt>
                                        </p:tgtEl>
                                        <p:attrNameLst>
                                          <p:attrName>style.visibility</p:attrName>
                                        </p:attrNameLst>
                                      </p:cBhvr>
                                      <p:to>
                                        <p:strVal val="visible"/>
                                      </p:to>
                                    </p:set>
                                    <p:animEffect transition="in" filter="fade">
                                      <p:cBhvr>
                                        <p:cTn id="17" dur="1000"/>
                                        <p:tgtEl>
                                          <p:spTgt spid="174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20</a:t>
            </a:fld>
            <a:endParaRPr lang="en-US" smtClean="0"/>
          </a:p>
        </p:txBody>
      </p:sp>
      <p:sp>
        <p:nvSpPr>
          <p:cNvPr id="17411" name="Rectangle 2"/>
          <p:cNvSpPr>
            <a:spLocks noGrp="1" noChangeArrowheads="1"/>
          </p:cNvSpPr>
          <p:nvPr>
            <p:ph type="title"/>
          </p:nvPr>
        </p:nvSpPr>
        <p:spPr>
          <a:xfrm>
            <a:off x="1638301" y="236538"/>
            <a:ext cx="3276600" cy="396875"/>
          </a:xfrm>
          <a:noFill/>
        </p:spPr>
        <p:txBody>
          <a:bodyPr/>
          <a:lstStyle/>
          <a:p>
            <a:pPr eaLnBrk="1" hangingPunct="1"/>
            <a:r>
              <a:rPr lang="en-US" sz="3200" b="1" dirty="0" smtClean="0">
                <a:solidFill>
                  <a:srgbClr val="E8A73E"/>
                </a:solidFill>
              </a:rPr>
              <a:t>What’s Next?   </a:t>
            </a:r>
          </a:p>
        </p:txBody>
      </p:sp>
      <p:pic>
        <p:nvPicPr>
          <p:cNvPr id="6" name="Picture 5" descr="hit2_base.jpg"/>
          <p:cNvPicPr>
            <a:picLocks noChangeAspect="1"/>
          </p:cNvPicPr>
          <p:nvPr/>
        </p:nvPicPr>
        <p:blipFill>
          <a:blip r:embed="rId3" cstate="print"/>
          <a:stretch>
            <a:fillRect/>
          </a:stretch>
        </p:blipFill>
        <p:spPr>
          <a:xfrm>
            <a:off x="0" y="914400"/>
            <a:ext cx="8778240" cy="5486400"/>
          </a:xfrm>
          <a:prstGeom prst="rect">
            <a:avLst/>
          </a:prstGeom>
        </p:spPr>
      </p:pic>
      <p:sp>
        <p:nvSpPr>
          <p:cNvPr id="7" name="TextBox 6"/>
          <p:cNvSpPr txBox="1"/>
          <p:nvPr/>
        </p:nvSpPr>
        <p:spPr>
          <a:xfrm>
            <a:off x="127000" y="5816600"/>
            <a:ext cx="4673600" cy="923330"/>
          </a:xfrm>
          <a:prstGeom prst="rect">
            <a:avLst/>
          </a:prstGeom>
          <a:solidFill>
            <a:srgbClr val="FFFF66"/>
          </a:solidFill>
          <a:ln w="12700">
            <a:solidFill>
              <a:schemeClr val="tx1"/>
            </a:solidFill>
          </a:ln>
        </p:spPr>
        <p:txBody>
          <a:bodyPr wrap="square" rtlCol="0">
            <a:spAutoFit/>
          </a:bodyPr>
          <a:lstStyle/>
          <a:p>
            <a:r>
              <a:rPr lang="en-US" dirty="0" smtClean="0"/>
              <a:t>-  Built on Microsoft Bing Maps</a:t>
            </a:r>
          </a:p>
          <a:p>
            <a:r>
              <a:rPr lang="en-US" dirty="0" smtClean="0"/>
              <a:t>-  Available for the entire Great Lakes Basin</a:t>
            </a:r>
          </a:p>
          <a:p>
            <a:r>
              <a:rPr lang="en-US" dirty="0" smtClean="0"/>
              <a:t>-  Allows for analysis at all watershed scales</a:t>
            </a:r>
            <a:endParaRPr lang="en-US" dirty="0"/>
          </a:p>
        </p:txBody>
      </p:sp>
      <p:sp>
        <p:nvSpPr>
          <p:cNvPr id="8" name="Rectangle 7"/>
          <p:cNvSpPr/>
          <p:nvPr/>
        </p:nvSpPr>
        <p:spPr>
          <a:xfrm>
            <a:off x="5969000" y="1231900"/>
            <a:ext cx="2171700" cy="2082800"/>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2"/>
          <p:cNvSpPr txBox="1">
            <a:spLocks noChangeArrowheads="1"/>
          </p:cNvSpPr>
          <p:nvPr/>
        </p:nvSpPr>
        <p:spPr bwMode="auto">
          <a:xfrm>
            <a:off x="4854575" y="236538"/>
            <a:ext cx="2333625" cy="396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0" cap="none" spc="0" normalizeH="0" baseline="0" noProof="0" dirty="0" smtClean="0">
                <a:ln>
                  <a:noFill/>
                </a:ln>
                <a:solidFill>
                  <a:srgbClr val="E8A73E"/>
                </a:solidFill>
                <a:effectLst/>
                <a:uLnTx/>
                <a:uFillTx/>
                <a:latin typeface="+mj-lt"/>
                <a:ea typeface="+mj-ea"/>
                <a:cs typeface="+mj-cs"/>
              </a:rPr>
              <a:t>HIT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bg/>
                                          </p:spTgt>
                                        </p:tgtEl>
                                        <p:attrNameLst>
                                          <p:attrName>style.visibility</p:attrName>
                                        </p:attrNameLst>
                                      </p:cBhvr>
                                      <p:to>
                                        <p:strVal val="visible"/>
                                      </p:to>
                                    </p:set>
                                    <p:animEffect transition="in" filter="fade">
                                      <p:cBhvr>
                                        <p:cTn id="16" dur="1000"/>
                                        <p:tgtEl>
                                          <p:spTgt spid="7">
                                            <p:bg/>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0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fade">
                                      <p:cBhvr>
                                        <p:cTn id="28" dur="1000"/>
                                        <p:tgtEl>
                                          <p:spTgt spid="7">
                                            <p:txEl>
                                              <p:pRg st="1" end="1"/>
                                            </p:txEl>
                                          </p:spTgt>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fade">
                                      <p:cBhvr>
                                        <p:cTn id="32" dur="1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animBg="1"/>
      <p:bldP spid="8" grpId="0" uiExpand="1" animBg="1"/>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hit2_selectonmap1.jpg"/>
          <p:cNvPicPr>
            <a:picLocks noChangeAspect="1"/>
          </p:cNvPicPr>
          <p:nvPr/>
        </p:nvPicPr>
        <p:blipFill>
          <a:blip r:embed="rId3" cstate="print"/>
          <a:stretch>
            <a:fillRect/>
          </a:stretch>
        </p:blipFill>
        <p:spPr>
          <a:xfrm>
            <a:off x="0" y="914400"/>
            <a:ext cx="8778240" cy="5486400"/>
          </a:xfrm>
          <a:prstGeom prst="rect">
            <a:avLst/>
          </a:prstGeom>
        </p:spPr>
      </p:pic>
      <p:sp>
        <p:nvSpPr>
          <p:cNvPr id="17410" name="Slide Number Placeholder 5"/>
          <p:cNvSpPr>
            <a:spLocks noGrp="1"/>
          </p:cNvSpPr>
          <p:nvPr>
            <p:ph type="sldNum" sz="quarter" idx="12"/>
          </p:nvPr>
        </p:nvSpPr>
        <p:spPr>
          <a:noFill/>
        </p:spPr>
        <p:txBody>
          <a:bodyPr/>
          <a:lstStyle/>
          <a:p>
            <a:fld id="{1874A4F4-F175-4BDB-922B-7B62B18862D6}" type="slidenum">
              <a:rPr lang="en-US" smtClean="0"/>
              <a:pPr/>
              <a:t>21</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HIT 2.0</a:t>
            </a:r>
          </a:p>
        </p:txBody>
      </p:sp>
      <p:pic>
        <p:nvPicPr>
          <p:cNvPr id="11" name="Picture 10" descr="hit2_selectonmap2.jpg"/>
          <p:cNvPicPr>
            <a:picLocks noChangeAspect="1"/>
          </p:cNvPicPr>
          <p:nvPr/>
        </p:nvPicPr>
        <p:blipFill>
          <a:blip r:embed="rId4" cstate="print"/>
          <a:stretch>
            <a:fillRect/>
          </a:stretch>
        </p:blipFill>
        <p:spPr>
          <a:xfrm>
            <a:off x="0" y="914400"/>
            <a:ext cx="8778240" cy="5486400"/>
          </a:xfrm>
          <a:prstGeom prst="rect">
            <a:avLst/>
          </a:prstGeom>
        </p:spPr>
      </p:pic>
      <p:pic>
        <p:nvPicPr>
          <p:cNvPr id="12" name="Picture 11" descr="hit2_selectionmap3.jpg"/>
          <p:cNvPicPr>
            <a:picLocks noChangeAspect="1"/>
          </p:cNvPicPr>
          <p:nvPr/>
        </p:nvPicPr>
        <p:blipFill>
          <a:blip r:embed="rId5" cstate="print"/>
          <a:stretch>
            <a:fillRect/>
          </a:stretch>
        </p:blipFill>
        <p:spPr>
          <a:xfrm>
            <a:off x="0" y="914400"/>
            <a:ext cx="8778240" cy="5486400"/>
          </a:xfrm>
          <a:prstGeom prst="rect">
            <a:avLst/>
          </a:prstGeom>
        </p:spPr>
      </p:pic>
      <p:pic>
        <p:nvPicPr>
          <p:cNvPr id="17" name="Picture 16" descr="hit2_selectionbyname1.jpg"/>
          <p:cNvPicPr>
            <a:picLocks noChangeAspect="1"/>
          </p:cNvPicPr>
          <p:nvPr/>
        </p:nvPicPr>
        <p:blipFill>
          <a:blip r:embed="rId6" cstate="print"/>
          <a:stretch>
            <a:fillRect/>
          </a:stretch>
        </p:blipFill>
        <p:spPr>
          <a:xfrm>
            <a:off x="0" y="914400"/>
            <a:ext cx="8778240" cy="5486400"/>
          </a:xfrm>
          <a:prstGeom prst="rect">
            <a:avLst/>
          </a:prstGeom>
        </p:spPr>
      </p:pic>
      <p:pic>
        <p:nvPicPr>
          <p:cNvPr id="18" name="Picture 17" descr="hit2_selectionbyname2.jpg"/>
          <p:cNvPicPr>
            <a:picLocks noChangeAspect="1"/>
          </p:cNvPicPr>
          <p:nvPr/>
        </p:nvPicPr>
        <p:blipFill>
          <a:blip r:embed="rId7" cstate="print"/>
          <a:stretch>
            <a:fillRect/>
          </a:stretch>
        </p:blipFill>
        <p:spPr>
          <a:xfrm>
            <a:off x="0" y="914400"/>
            <a:ext cx="8778240" cy="5486400"/>
          </a:xfrm>
          <a:prstGeom prst="rect">
            <a:avLst/>
          </a:prstGeom>
        </p:spPr>
      </p:pic>
      <p:pic>
        <p:nvPicPr>
          <p:cNvPr id="19" name="Picture 18" descr="hit2_selectionbyhuc1.jpg"/>
          <p:cNvPicPr>
            <a:picLocks noChangeAspect="1"/>
          </p:cNvPicPr>
          <p:nvPr/>
        </p:nvPicPr>
        <p:blipFill>
          <a:blip r:embed="rId8" cstate="print"/>
          <a:stretch>
            <a:fillRect/>
          </a:stretch>
        </p:blipFill>
        <p:spPr>
          <a:xfrm>
            <a:off x="0" y="914400"/>
            <a:ext cx="8778240" cy="5486400"/>
          </a:xfrm>
          <a:prstGeom prst="rect">
            <a:avLst/>
          </a:prstGeom>
        </p:spPr>
      </p:pic>
      <p:pic>
        <p:nvPicPr>
          <p:cNvPr id="21" name="Picture 20" descr="hit2_selectionbyhuc2.jpg"/>
          <p:cNvPicPr>
            <a:picLocks noChangeAspect="1"/>
          </p:cNvPicPr>
          <p:nvPr/>
        </p:nvPicPr>
        <p:blipFill>
          <a:blip r:embed="rId9" cstate="print"/>
          <a:stretch>
            <a:fillRect/>
          </a:stretch>
        </p:blipFill>
        <p:spPr>
          <a:xfrm>
            <a:off x="0" y="914400"/>
            <a:ext cx="8778240" cy="5486400"/>
          </a:xfrm>
          <a:prstGeom prst="rect">
            <a:avLst/>
          </a:prstGeom>
        </p:spPr>
      </p:pic>
      <p:pic>
        <p:nvPicPr>
          <p:cNvPr id="25" name="Picture 24" descr="hit2_selectbyaddress1.jpg"/>
          <p:cNvPicPr>
            <a:picLocks noChangeAspect="1"/>
          </p:cNvPicPr>
          <p:nvPr/>
        </p:nvPicPr>
        <p:blipFill>
          <a:blip r:embed="rId10" cstate="print"/>
          <a:stretch>
            <a:fillRect/>
          </a:stretch>
        </p:blipFill>
        <p:spPr>
          <a:xfrm>
            <a:off x="0" y="914400"/>
            <a:ext cx="8778240" cy="5486400"/>
          </a:xfrm>
          <a:prstGeom prst="rect">
            <a:avLst/>
          </a:prstGeom>
        </p:spPr>
      </p:pic>
      <p:pic>
        <p:nvPicPr>
          <p:cNvPr id="26" name="Picture 25" descr="hit2_selectionbyaddress2.jpg"/>
          <p:cNvPicPr>
            <a:picLocks noChangeAspect="1"/>
          </p:cNvPicPr>
          <p:nvPr/>
        </p:nvPicPr>
        <p:blipFill>
          <a:blip r:embed="rId11" cstate="print"/>
          <a:stretch>
            <a:fillRect/>
          </a:stretch>
        </p:blipFill>
        <p:spPr>
          <a:xfrm>
            <a:off x="0" y="925052"/>
            <a:ext cx="8778240" cy="5486400"/>
          </a:xfrm>
          <a:prstGeom prst="rect">
            <a:avLst/>
          </a:prstGeom>
        </p:spPr>
      </p:pic>
      <p:sp>
        <p:nvSpPr>
          <p:cNvPr id="7" name="TextBox 6"/>
          <p:cNvSpPr txBox="1"/>
          <p:nvPr/>
        </p:nvSpPr>
        <p:spPr>
          <a:xfrm>
            <a:off x="127000" y="6134100"/>
            <a:ext cx="4673600" cy="646331"/>
          </a:xfrm>
          <a:prstGeom prst="rect">
            <a:avLst/>
          </a:prstGeom>
          <a:solidFill>
            <a:srgbClr val="FFFF66"/>
          </a:solidFill>
          <a:ln w="12700">
            <a:solidFill>
              <a:schemeClr val="tx1"/>
            </a:solidFill>
          </a:ln>
        </p:spPr>
        <p:txBody>
          <a:bodyPr wrap="square" rtlCol="0">
            <a:spAutoFit/>
          </a:bodyPr>
          <a:lstStyle/>
          <a:p>
            <a:pPr>
              <a:buFontTx/>
              <a:buChar char="-"/>
            </a:pPr>
            <a:r>
              <a:rPr lang="en-US" dirty="0" smtClean="0"/>
              <a:t>  Select watersheds for analysis spatially, by name, HUC, or address.</a:t>
            </a:r>
          </a:p>
        </p:txBody>
      </p:sp>
      <p:sp>
        <p:nvSpPr>
          <p:cNvPr id="10" name="Rectangle 9"/>
          <p:cNvSpPr/>
          <p:nvPr/>
        </p:nvSpPr>
        <p:spPr>
          <a:xfrm>
            <a:off x="3771900" y="914400"/>
            <a:ext cx="1612900" cy="939800"/>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244600" y="1155700"/>
            <a:ext cx="1993900" cy="1092200"/>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715000" y="4279900"/>
            <a:ext cx="419100" cy="381000"/>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917700" y="3441700"/>
            <a:ext cx="419100" cy="381000"/>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62000" y="2324100"/>
            <a:ext cx="419100" cy="381000"/>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1000"/>
                                        <p:tgtEl>
                                          <p:spTgt spid="20"/>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0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100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1000"/>
                                        <p:tgtEl>
                                          <p:spTgt spid="22"/>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6" grpId="0" animBg="1"/>
      <p:bldP spid="20" grpId="0" animBg="1"/>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hit2_hitinputs1.jpg"/>
          <p:cNvPicPr>
            <a:picLocks noChangeAspect="1"/>
          </p:cNvPicPr>
          <p:nvPr/>
        </p:nvPicPr>
        <p:blipFill>
          <a:blip r:embed="rId3" cstate="print"/>
          <a:stretch>
            <a:fillRect/>
          </a:stretch>
        </p:blipFill>
        <p:spPr>
          <a:xfrm>
            <a:off x="0" y="914400"/>
            <a:ext cx="8778240" cy="5486400"/>
          </a:xfrm>
          <a:prstGeom prst="rect">
            <a:avLst/>
          </a:prstGeom>
        </p:spPr>
      </p:pic>
      <p:sp>
        <p:nvSpPr>
          <p:cNvPr id="17410" name="Slide Number Placeholder 5"/>
          <p:cNvSpPr>
            <a:spLocks noGrp="1"/>
          </p:cNvSpPr>
          <p:nvPr>
            <p:ph type="sldNum" sz="quarter" idx="12"/>
          </p:nvPr>
        </p:nvSpPr>
        <p:spPr>
          <a:noFill/>
        </p:spPr>
        <p:txBody>
          <a:bodyPr/>
          <a:lstStyle/>
          <a:p>
            <a:fld id="{1874A4F4-F175-4BDB-922B-7B62B18862D6}" type="slidenum">
              <a:rPr lang="en-US" smtClean="0"/>
              <a:pPr/>
              <a:t>22</a:t>
            </a:fld>
            <a:endParaRPr lang="en-US" smtClean="0"/>
          </a:p>
        </p:txBody>
      </p:sp>
      <p:pic>
        <p:nvPicPr>
          <p:cNvPr id="26" name="Picture 25" descr="hit2_hitinputs2.jpg"/>
          <p:cNvPicPr>
            <a:picLocks noChangeAspect="1"/>
          </p:cNvPicPr>
          <p:nvPr/>
        </p:nvPicPr>
        <p:blipFill>
          <a:blip r:embed="rId4" cstate="print"/>
          <a:stretch>
            <a:fillRect/>
          </a:stretch>
        </p:blipFill>
        <p:spPr>
          <a:xfrm>
            <a:off x="0" y="914400"/>
            <a:ext cx="8778240" cy="5486400"/>
          </a:xfrm>
          <a:prstGeom prst="rect">
            <a:avLst/>
          </a:prstGeom>
        </p:spPr>
      </p:pic>
      <p:grpSp>
        <p:nvGrpSpPr>
          <p:cNvPr id="29" name="Group 28"/>
          <p:cNvGrpSpPr/>
          <p:nvPr/>
        </p:nvGrpSpPr>
        <p:grpSpPr>
          <a:xfrm>
            <a:off x="2679700" y="876300"/>
            <a:ext cx="6096000" cy="5493041"/>
            <a:chOff x="0" y="571500"/>
            <a:chExt cx="6096000" cy="5493041"/>
          </a:xfrm>
        </p:grpSpPr>
        <p:pic>
          <p:nvPicPr>
            <p:cNvPr id="27" name="Picture 26" descr="hit_table1.jpg"/>
            <p:cNvPicPr>
              <a:picLocks noChangeAspect="1"/>
            </p:cNvPicPr>
            <p:nvPr/>
          </p:nvPicPr>
          <p:blipFill>
            <a:blip r:embed="rId5" cstate="print"/>
            <a:stretch>
              <a:fillRect/>
            </a:stretch>
          </p:blipFill>
          <p:spPr>
            <a:xfrm>
              <a:off x="0" y="571500"/>
              <a:ext cx="6096000" cy="3810000"/>
            </a:xfrm>
            <a:prstGeom prst="rect">
              <a:avLst/>
            </a:prstGeom>
          </p:spPr>
        </p:pic>
        <p:pic>
          <p:nvPicPr>
            <p:cNvPr id="28" name="Picture 27" descr="hit_table2.jpg"/>
            <p:cNvPicPr>
              <a:picLocks noChangeAspect="1"/>
            </p:cNvPicPr>
            <p:nvPr/>
          </p:nvPicPr>
          <p:blipFill>
            <a:blip r:embed="rId6" cstate="print"/>
            <a:srcRect t="36000" b="7200"/>
            <a:stretch>
              <a:fillRect/>
            </a:stretch>
          </p:blipFill>
          <p:spPr>
            <a:xfrm>
              <a:off x="0" y="3900461"/>
              <a:ext cx="6096000" cy="2164080"/>
            </a:xfrm>
            <a:prstGeom prst="rect">
              <a:avLst/>
            </a:prstGeom>
          </p:spPr>
        </p:pic>
      </p:grpSp>
      <p:sp>
        <p:nvSpPr>
          <p:cNvPr id="7" name="TextBox 6"/>
          <p:cNvSpPr txBox="1"/>
          <p:nvPr/>
        </p:nvSpPr>
        <p:spPr>
          <a:xfrm>
            <a:off x="127000" y="6134100"/>
            <a:ext cx="4673600" cy="646331"/>
          </a:xfrm>
          <a:prstGeom prst="rect">
            <a:avLst/>
          </a:prstGeom>
          <a:solidFill>
            <a:srgbClr val="FFFF66"/>
          </a:solidFill>
          <a:ln w="12700">
            <a:solidFill>
              <a:schemeClr val="tx1"/>
            </a:solidFill>
          </a:ln>
        </p:spPr>
        <p:txBody>
          <a:bodyPr wrap="square" rtlCol="0">
            <a:spAutoFit/>
          </a:bodyPr>
          <a:lstStyle/>
          <a:p>
            <a:pPr>
              <a:buFontTx/>
              <a:buChar char="-"/>
            </a:pPr>
            <a:r>
              <a:rPr lang="en-US" dirty="0" smtClean="0"/>
              <a:t>  HIT tables can be generated as in the original system.</a:t>
            </a:r>
          </a:p>
        </p:txBody>
      </p:sp>
      <p:sp>
        <p:nvSpPr>
          <p:cNvPr id="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HIT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hit2_hitinputs1.jpg"/>
          <p:cNvPicPr>
            <a:picLocks noChangeAspect="1"/>
          </p:cNvPicPr>
          <p:nvPr/>
        </p:nvPicPr>
        <p:blipFill>
          <a:blip r:embed="rId3" cstate="print"/>
          <a:stretch>
            <a:fillRect/>
          </a:stretch>
        </p:blipFill>
        <p:spPr>
          <a:xfrm>
            <a:off x="0" y="914400"/>
            <a:ext cx="8778240" cy="5486400"/>
          </a:xfrm>
          <a:prstGeom prst="rect">
            <a:avLst/>
          </a:prstGeom>
        </p:spPr>
      </p:pic>
      <p:sp>
        <p:nvSpPr>
          <p:cNvPr id="17410" name="Slide Number Placeholder 5"/>
          <p:cNvSpPr>
            <a:spLocks noGrp="1"/>
          </p:cNvSpPr>
          <p:nvPr>
            <p:ph type="sldNum" sz="quarter" idx="12"/>
          </p:nvPr>
        </p:nvSpPr>
        <p:spPr>
          <a:noFill/>
        </p:spPr>
        <p:txBody>
          <a:bodyPr/>
          <a:lstStyle/>
          <a:p>
            <a:fld id="{1874A4F4-F175-4BDB-922B-7B62B18862D6}" type="slidenum">
              <a:rPr lang="en-US" smtClean="0"/>
              <a:pPr/>
              <a:t>23</a:t>
            </a:fld>
            <a:endParaRPr lang="en-US" smtClean="0"/>
          </a:p>
        </p:txBody>
      </p:sp>
      <p:pic>
        <p:nvPicPr>
          <p:cNvPr id="11" name="Picture 10" descr="hit2_legend1.jpg"/>
          <p:cNvPicPr>
            <a:picLocks noChangeAspect="1"/>
          </p:cNvPicPr>
          <p:nvPr/>
        </p:nvPicPr>
        <p:blipFill>
          <a:blip r:embed="rId4" cstate="print"/>
          <a:stretch>
            <a:fillRect/>
          </a:stretch>
        </p:blipFill>
        <p:spPr>
          <a:xfrm>
            <a:off x="0" y="914400"/>
            <a:ext cx="8778240" cy="5486400"/>
          </a:xfrm>
          <a:prstGeom prst="rect">
            <a:avLst/>
          </a:prstGeom>
        </p:spPr>
      </p:pic>
      <p:pic>
        <p:nvPicPr>
          <p:cNvPr id="12" name="Picture 11" descr="hit2_legend2.jpg"/>
          <p:cNvPicPr>
            <a:picLocks noChangeAspect="1"/>
          </p:cNvPicPr>
          <p:nvPr/>
        </p:nvPicPr>
        <p:blipFill>
          <a:blip r:embed="rId5" cstate="print"/>
          <a:stretch>
            <a:fillRect/>
          </a:stretch>
        </p:blipFill>
        <p:spPr>
          <a:xfrm>
            <a:off x="0" y="914400"/>
            <a:ext cx="8778240" cy="5486400"/>
          </a:xfrm>
          <a:prstGeom prst="rect">
            <a:avLst/>
          </a:prstGeom>
        </p:spPr>
      </p:pic>
      <p:sp>
        <p:nvSpPr>
          <p:cNvPr id="7" name="TextBox 6"/>
          <p:cNvSpPr txBox="1"/>
          <p:nvPr/>
        </p:nvSpPr>
        <p:spPr>
          <a:xfrm>
            <a:off x="127000" y="5499100"/>
            <a:ext cx="4673600" cy="646331"/>
          </a:xfrm>
          <a:prstGeom prst="rect">
            <a:avLst/>
          </a:prstGeom>
          <a:solidFill>
            <a:srgbClr val="FFFF66"/>
          </a:solidFill>
          <a:ln w="12700">
            <a:solidFill>
              <a:schemeClr val="tx1"/>
            </a:solidFill>
          </a:ln>
        </p:spPr>
        <p:txBody>
          <a:bodyPr wrap="square" rtlCol="0">
            <a:spAutoFit/>
          </a:bodyPr>
          <a:lstStyle/>
          <a:p>
            <a:pPr>
              <a:buFontTx/>
              <a:buChar char="-"/>
            </a:pPr>
            <a:r>
              <a:rPr lang="en-US" dirty="0" smtClean="0"/>
              <a:t>  Watersheds can be shaded by erosion or sediment data.</a:t>
            </a:r>
          </a:p>
        </p:txBody>
      </p:sp>
      <p:grpSp>
        <p:nvGrpSpPr>
          <p:cNvPr id="24" name="Group 23"/>
          <p:cNvGrpSpPr/>
          <p:nvPr/>
        </p:nvGrpSpPr>
        <p:grpSpPr>
          <a:xfrm>
            <a:off x="5943600" y="4673600"/>
            <a:ext cx="2540000" cy="1181100"/>
            <a:chOff x="5930900" y="4584700"/>
            <a:chExt cx="2540000" cy="1181100"/>
          </a:xfrm>
        </p:grpSpPr>
        <p:sp>
          <p:nvSpPr>
            <p:cNvPr id="23" name="Rectangle 22"/>
            <p:cNvSpPr/>
            <p:nvPr/>
          </p:nvSpPr>
          <p:spPr>
            <a:xfrm>
              <a:off x="5930900" y="4584700"/>
              <a:ext cx="2540000" cy="11811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p:cNvGrpSpPr/>
            <p:nvPr/>
          </p:nvGrpSpPr>
          <p:grpSpPr>
            <a:xfrm>
              <a:off x="6032500" y="4635500"/>
              <a:ext cx="2425521" cy="1082477"/>
              <a:chOff x="3619500" y="1638300"/>
              <a:chExt cx="2425521" cy="1082477"/>
            </a:xfrm>
          </p:grpSpPr>
          <p:sp>
            <p:nvSpPr>
              <p:cNvPr id="14" name="Rectangle 13"/>
              <p:cNvSpPr/>
              <p:nvPr/>
            </p:nvSpPr>
            <p:spPr>
              <a:xfrm>
                <a:off x="3619500" y="2463800"/>
                <a:ext cx="342900" cy="203200"/>
              </a:xfrm>
              <a:prstGeom prst="rect">
                <a:avLst/>
              </a:prstGeom>
              <a:solidFill>
                <a:srgbClr val="73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619500" y="2209800"/>
                <a:ext cx="342900" cy="203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619500" y="1955800"/>
                <a:ext cx="342900" cy="203200"/>
              </a:xfrm>
              <a:prstGeom prst="rect">
                <a:avLst/>
              </a:prstGeom>
              <a:solidFill>
                <a:srgbClr val="FFBE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3962400" y="1892300"/>
                <a:ext cx="2023311" cy="307777"/>
              </a:xfrm>
              <a:prstGeom prst="rect">
                <a:avLst/>
              </a:prstGeom>
              <a:noFill/>
            </p:spPr>
            <p:txBody>
              <a:bodyPr wrap="none" rtlCol="0">
                <a:spAutoFit/>
              </a:bodyPr>
              <a:lstStyle/>
              <a:p>
                <a:r>
                  <a:rPr lang="en-US" sz="1400" b="1" dirty="0" smtClean="0"/>
                  <a:t>Less loading per acre</a:t>
                </a:r>
                <a:endParaRPr lang="en-US" sz="1400" b="1" dirty="0"/>
              </a:p>
            </p:txBody>
          </p:sp>
          <p:sp>
            <p:nvSpPr>
              <p:cNvPr id="18" name="TextBox 17"/>
              <p:cNvSpPr txBox="1"/>
              <p:nvPr/>
            </p:nvSpPr>
            <p:spPr>
              <a:xfrm>
                <a:off x="3975100" y="2159000"/>
                <a:ext cx="2044149" cy="307777"/>
              </a:xfrm>
              <a:prstGeom prst="rect">
                <a:avLst/>
              </a:prstGeom>
              <a:noFill/>
            </p:spPr>
            <p:txBody>
              <a:bodyPr wrap="none" rtlCol="0">
                <a:spAutoFit/>
              </a:bodyPr>
              <a:lstStyle/>
              <a:p>
                <a:r>
                  <a:rPr lang="en-US" sz="1400" b="1" dirty="0" smtClean="0"/>
                  <a:t>More loading per acre</a:t>
                </a:r>
                <a:endParaRPr lang="en-US" sz="1400" b="1" dirty="0"/>
              </a:p>
            </p:txBody>
          </p:sp>
          <p:sp>
            <p:nvSpPr>
              <p:cNvPr id="19" name="TextBox 18"/>
              <p:cNvSpPr txBox="1"/>
              <p:nvPr/>
            </p:nvSpPr>
            <p:spPr>
              <a:xfrm>
                <a:off x="3987800" y="2413000"/>
                <a:ext cx="2032929" cy="307777"/>
              </a:xfrm>
              <a:prstGeom prst="rect">
                <a:avLst/>
              </a:prstGeom>
              <a:noFill/>
            </p:spPr>
            <p:txBody>
              <a:bodyPr wrap="none" rtlCol="0">
                <a:spAutoFit/>
              </a:bodyPr>
              <a:lstStyle/>
              <a:p>
                <a:r>
                  <a:rPr lang="en-US" sz="1400" b="1" dirty="0" smtClean="0"/>
                  <a:t>Most loading per acre</a:t>
                </a:r>
                <a:endParaRPr lang="en-US" sz="1400" b="1" dirty="0"/>
              </a:p>
            </p:txBody>
          </p:sp>
          <p:sp>
            <p:nvSpPr>
              <p:cNvPr id="20" name="Rectangle 19"/>
              <p:cNvSpPr/>
              <p:nvPr/>
            </p:nvSpPr>
            <p:spPr>
              <a:xfrm>
                <a:off x="3619500" y="1701800"/>
                <a:ext cx="342900" cy="20320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3962400" y="1638300"/>
                <a:ext cx="2082621" cy="307777"/>
              </a:xfrm>
              <a:prstGeom prst="rect">
                <a:avLst/>
              </a:prstGeom>
              <a:noFill/>
            </p:spPr>
            <p:txBody>
              <a:bodyPr wrap="none" rtlCol="0">
                <a:spAutoFit/>
              </a:bodyPr>
              <a:lstStyle/>
              <a:p>
                <a:r>
                  <a:rPr lang="en-US" sz="1400" b="1" dirty="0" smtClean="0"/>
                  <a:t>Least loading per acre</a:t>
                </a:r>
                <a:endParaRPr lang="en-US" sz="1400" b="1" dirty="0"/>
              </a:p>
            </p:txBody>
          </p:sp>
        </p:grpSp>
      </p:grpSp>
      <p:sp>
        <p:nvSpPr>
          <p:cNvPr id="27"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HIT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descr="hit2_riskmap1.jpg"/>
          <p:cNvPicPr>
            <a:picLocks noChangeAspect="1"/>
          </p:cNvPicPr>
          <p:nvPr/>
        </p:nvPicPr>
        <p:blipFill>
          <a:blip r:embed="rId3" cstate="print"/>
          <a:stretch>
            <a:fillRect/>
          </a:stretch>
        </p:blipFill>
        <p:spPr>
          <a:xfrm>
            <a:off x="0" y="914400"/>
            <a:ext cx="8778240" cy="5486400"/>
          </a:xfrm>
          <a:prstGeom prst="rect">
            <a:avLst/>
          </a:prstGeom>
        </p:spPr>
      </p:pic>
      <p:sp>
        <p:nvSpPr>
          <p:cNvPr id="17410" name="Slide Number Placeholder 5"/>
          <p:cNvSpPr>
            <a:spLocks noGrp="1"/>
          </p:cNvSpPr>
          <p:nvPr>
            <p:ph type="sldNum" sz="quarter" idx="12"/>
          </p:nvPr>
        </p:nvSpPr>
        <p:spPr>
          <a:noFill/>
        </p:spPr>
        <p:txBody>
          <a:bodyPr/>
          <a:lstStyle/>
          <a:p>
            <a:fld id="{1874A4F4-F175-4BDB-922B-7B62B18862D6}" type="slidenum">
              <a:rPr lang="en-US" smtClean="0"/>
              <a:pPr/>
              <a:t>24</a:t>
            </a:fld>
            <a:endParaRPr lang="en-US" smtClean="0"/>
          </a:p>
        </p:txBody>
      </p:sp>
      <p:pic>
        <p:nvPicPr>
          <p:cNvPr id="24" name="Picture 23" descr="hit2_riskmap2.jpg"/>
          <p:cNvPicPr>
            <a:picLocks noChangeAspect="1"/>
          </p:cNvPicPr>
          <p:nvPr/>
        </p:nvPicPr>
        <p:blipFill>
          <a:blip r:embed="rId4" cstate="print"/>
          <a:stretch>
            <a:fillRect/>
          </a:stretch>
        </p:blipFill>
        <p:spPr>
          <a:xfrm>
            <a:off x="0" y="914400"/>
            <a:ext cx="8778240" cy="5486400"/>
          </a:xfrm>
          <a:prstGeom prst="rect">
            <a:avLst/>
          </a:prstGeom>
        </p:spPr>
      </p:pic>
      <p:pic>
        <p:nvPicPr>
          <p:cNvPr id="27" name="Picture 26" descr="hit2_riskmap3d.jpg"/>
          <p:cNvPicPr>
            <a:picLocks noChangeAspect="1"/>
          </p:cNvPicPr>
          <p:nvPr/>
        </p:nvPicPr>
        <p:blipFill>
          <a:blip r:embed="rId5" cstate="print"/>
          <a:stretch>
            <a:fillRect/>
          </a:stretch>
        </p:blipFill>
        <p:spPr>
          <a:xfrm>
            <a:off x="0" y="914400"/>
            <a:ext cx="8778240" cy="5486400"/>
          </a:xfrm>
          <a:prstGeom prst="rect">
            <a:avLst/>
          </a:prstGeom>
        </p:spPr>
      </p:pic>
      <p:pic>
        <p:nvPicPr>
          <p:cNvPr id="28" name="Picture 27" descr="hit2_riskmapBirdsEye.jpg"/>
          <p:cNvPicPr>
            <a:picLocks noChangeAspect="1"/>
          </p:cNvPicPr>
          <p:nvPr/>
        </p:nvPicPr>
        <p:blipFill>
          <a:blip r:embed="rId6" cstate="print"/>
          <a:stretch>
            <a:fillRect/>
          </a:stretch>
        </p:blipFill>
        <p:spPr>
          <a:xfrm>
            <a:off x="0" y="914400"/>
            <a:ext cx="8778240" cy="5486400"/>
          </a:xfrm>
          <a:prstGeom prst="rect">
            <a:avLst/>
          </a:prstGeom>
        </p:spPr>
      </p:pic>
      <p:sp>
        <p:nvSpPr>
          <p:cNvPr id="7" name="TextBox 6"/>
          <p:cNvSpPr txBox="1"/>
          <p:nvPr/>
        </p:nvSpPr>
        <p:spPr>
          <a:xfrm>
            <a:off x="127000" y="6121400"/>
            <a:ext cx="4673600" cy="646331"/>
          </a:xfrm>
          <a:prstGeom prst="rect">
            <a:avLst/>
          </a:prstGeom>
          <a:solidFill>
            <a:srgbClr val="FFFF66"/>
          </a:solidFill>
          <a:ln w="12700">
            <a:solidFill>
              <a:schemeClr val="tx1"/>
            </a:solidFill>
          </a:ln>
        </p:spPr>
        <p:txBody>
          <a:bodyPr wrap="square" rtlCol="0">
            <a:spAutoFit/>
          </a:bodyPr>
          <a:lstStyle/>
          <a:p>
            <a:pPr>
              <a:buFontTx/>
              <a:buChar char="-"/>
            </a:pPr>
            <a:r>
              <a:rPr lang="en-US" dirty="0" smtClean="0"/>
              <a:t>  Improved aerial imagery allows for richer field-level analysis.</a:t>
            </a:r>
          </a:p>
        </p:txBody>
      </p:sp>
      <p:sp>
        <p:nvSpPr>
          <p:cNvPr id="10"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HIT 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25</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In Conclusion</a:t>
            </a:r>
          </a:p>
        </p:txBody>
      </p:sp>
      <p:sp>
        <p:nvSpPr>
          <p:cNvPr id="17412" name="Text Box 6"/>
          <p:cNvSpPr txBox="1">
            <a:spLocks noChangeArrowheads="1"/>
          </p:cNvSpPr>
          <p:nvPr/>
        </p:nvSpPr>
        <p:spPr bwMode="auto">
          <a:xfrm>
            <a:off x="1011238" y="1389063"/>
            <a:ext cx="7775575" cy="4708981"/>
          </a:xfrm>
          <a:prstGeom prst="rect">
            <a:avLst/>
          </a:prstGeom>
          <a:noFill/>
          <a:ln w="9525">
            <a:noFill/>
            <a:miter lim="800000"/>
            <a:headEnd/>
            <a:tailEnd/>
          </a:ln>
        </p:spPr>
        <p:txBody>
          <a:bodyPr>
            <a:spAutoFit/>
          </a:bodyPr>
          <a:lstStyle/>
          <a:p>
            <a:pPr>
              <a:spcBef>
                <a:spcPct val="50000"/>
              </a:spcBef>
              <a:buFontTx/>
              <a:buChar char="•"/>
            </a:pPr>
            <a:r>
              <a:rPr lang="en-US" sz="2400" dirty="0"/>
              <a:t> </a:t>
            </a:r>
            <a:r>
              <a:rPr lang="en-US" sz="2400" dirty="0" smtClean="0"/>
              <a:t>  Through the development of HIT, this CIG project has helped local conservation districts prioritize efforts to reduce erosion and sediment loading from agricultural lands.</a:t>
            </a:r>
            <a:endParaRPr lang="en-US" sz="2400" dirty="0"/>
          </a:p>
          <a:p>
            <a:pPr>
              <a:spcBef>
                <a:spcPct val="50000"/>
              </a:spcBef>
              <a:buFontTx/>
              <a:buChar char="•"/>
            </a:pPr>
            <a:r>
              <a:rPr lang="en-US" sz="2400" dirty="0"/>
              <a:t>  </a:t>
            </a:r>
            <a:r>
              <a:rPr lang="en-US" sz="2400" dirty="0" smtClean="0"/>
              <a:t>Field evaluations have shown HIT’s high-risk maps to be reliable.</a:t>
            </a:r>
          </a:p>
          <a:p>
            <a:pPr>
              <a:spcBef>
                <a:spcPct val="50000"/>
              </a:spcBef>
              <a:buFontTx/>
              <a:buChar char="•"/>
            </a:pPr>
            <a:r>
              <a:rPr lang="en-US" sz="2400" dirty="0" smtClean="0"/>
              <a:t>  Stream monitoring assessments are underway to evaluate HIT’s relative erosion and sediment loading estimates.</a:t>
            </a:r>
            <a:endParaRPr lang="en-US" sz="2400" dirty="0"/>
          </a:p>
          <a:p>
            <a:pPr>
              <a:spcBef>
                <a:spcPct val="50000"/>
              </a:spcBef>
              <a:buFontTx/>
              <a:buChar char="•"/>
            </a:pPr>
            <a:r>
              <a:rPr lang="en-US" sz="2400" dirty="0"/>
              <a:t>  </a:t>
            </a:r>
            <a:r>
              <a:rPr lang="en-US" sz="2400" dirty="0" smtClean="0"/>
              <a:t>An enhanced, Great Lakes basin-wide version of HIT will be available soon.</a:t>
            </a:r>
            <a:endParaRPr lang="en-US"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animEffect transition="in" filter="fade">
                                      <p:cBhvr>
                                        <p:cTn id="7" dur="1000"/>
                                        <p:tgtEl>
                                          <p:spTgt spid="174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12">
                                            <p:txEl>
                                              <p:pRg st="1" end="1"/>
                                            </p:txEl>
                                          </p:spTgt>
                                        </p:tgtEl>
                                        <p:attrNameLst>
                                          <p:attrName>style.visibility</p:attrName>
                                        </p:attrNameLst>
                                      </p:cBhvr>
                                      <p:to>
                                        <p:strVal val="visible"/>
                                      </p:to>
                                    </p:set>
                                    <p:animEffect transition="in" filter="fade">
                                      <p:cBhvr>
                                        <p:cTn id="12" dur="1000"/>
                                        <p:tgtEl>
                                          <p:spTgt spid="174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12">
                                            <p:txEl>
                                              <p:pRg st="2" end="2"/>
                                            </p:txEl>
                                          </p:spTgt>
                                        </p:tgtEl>
                                        <p:attrNameLst>
                                          <p:attrName>style.visibility</p:attrName>
                                        </p:attrNameLst>
                                      </p:cBhvr>
                                      <p:to>
                                        <p:strVal val="visible"/>
                                      </p:to>
                                    </p:set>
                                    <p:animEffect transition="in" filter="fade">
                                      <p:cBhvr>
                                        <p:cTn id="17" dur="1000"/>
                                        <p:tgtEl>
                                          <p:spTgt spid="174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412">
                                            <p:txEl>
                                              <p:pRg st="3" end="3"/>
                                            </p:txEl>
                                          </p:spTgt>
                                        </p:tgtEl>
                                        <p:attrNameLst>
                                          <p:attrName>style.visibility</p:attrName>
                                        </p:attrNameLst>
                                      </p:cBhvr>
                                      <p:to>
                                        <p:strVal val="visible"/>
                                      </p:to>
                                    </p:set>
                                    <p:animEffect transition="in" filter="fade">
                                      <p:cBhvr>
                                        <p:cTn id="22" dur="1000"/>
                                        <p:tgtEl>
                                          <p:spTgt spid="174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26</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References</a:t>
            </a:r>
          </a:p>
        </p:txBody>
      </p:sp>
      <p:sp>
        <p:nvSpPr>
          <p:cNvPr id="6" name="TextBox 5"/>
          <p:cNvSpPr txBox="1"/>
          <p:nvPr/>
        </p:nvSpPr>
        <p:spPr>
          <a:xfrm>
            <a:off x="938696" y="1615109"/>
            <a:ext cx="8205304" cy="3693319"/>
          </a:xfrm>
          <a:prstGeom prst="rect">
            <a:avLst/>
          </a:prstGeom>
          <a:noFill/>
        </p:spPr>
        <p:txBody>
          <a:bodyPr wrap="square" rtlCol="0">
            <a:spAutoFit/>
          </a:bodyPr>
          <a:lstStyle/>
          <a:p>
            <a:pPr>
              <a:defRPr/>
            </a:pPr>
            <a:r>
              <a:rPr lang="en-US" dirty="0" smtClean="0"/>
              <a:t>Fraser, R.  </a:t>
            </a:r>
            <a:r>
              <a:rPr lang="en-US" i="1" dirty="0" smtClean="0"/>
              <a:t>SEDMOD:  A GIS-based Delivery Model for Diffuse Sources </a:t>
            </a:r>
          </a:p>
          <a:p>
            <a:pPr>
              <a:defRPr/>
            </a:pPr>
            <a:r>
              <a:rPr lang="en-US" i="1" dirty="0" smtClean="0"/>
              <a:t>	Pollutants </a:t>
            </a:r>
            <a:r>
              <a:rPr lang="en-US" dirty="0" smtClean="0"/>
              <a:t>(doctoral dissertation).  Yale University.  May 1999.</a:t>
            </a:r>
          </a:p>
          <a:p>
            <a:pPr>
              <a:defRPr/>
            </a:pPr>
            <a:endParaRPr lang="en-US" dirty="0" smtClean="0"/>
          </a:p>
          <a:p>
            <a:pPr>
              <a:defRPr/>
            </a:pPr>
            <a:endParaRPr lang="en-US" dirty="0" smtClean="0"/>
          </a:p>
          <a:p>
            <a:pPr>
              <a:defRPr/>
            </a:pPr>
            <a:r>
              <a:rPr lang="en-US" dirty="0" err="1" smtClean="0"/>
              <a:t>Ouyang</a:t>
            </a:r>
            <a:r>
              <a:rPr lang="en-US" dirty="0" smtClean="0"/>
              <a:t>, D.; </a:t>
            </a:r>
            <a:r>
              <a:rPr lang="en-US" dirty="0" err="1" smtClean="0"/>
              <a:t>Bartholic</a:t>
            </a:r>
            <a:r>
              <a:rPr lang="en-US" dirty="0" smtClean="0"/>
              <a:t>, J.; </a:t>
            </a:r>
            <a:r>
              <a:rPr lang="en-US" dirty="0" err="1" smtClean="0"/>
              <a:t>Selegean</a:t>
            </a:r>
            <a:r>
              <a:rPr lang="en-US" dirty="0" smtClean="0"/>
              <a:t>, J.  "Assessing Sediment </a:t>
            </a:r>
          </a:p>
          <a:p>
            <a:pPr>
              <a:defRPr/>
            </a:pPr>
            <a:r>
              <a:rPr lang="en-US" dirty="0" smtClean="0"/>
              <a:t>	Loading from Agricultural Croplands in the Great Lakes 	Basin."  </a:t>
            </a:r>
            <a:r>
              <a:rPr lang="en-US" u="sng" dirty="0" smtClean="0"/>
              <a:t>The Journal of American Science</a:t>
            </a:r>
            <a:r>
              <a:rPr lang="en-US" dirty="0" smtClean="0"/>
              <a:t>.  Vol. 1, No. 2, 2005.</a:t>
            </a:r>
          </a:p>
          <a:p>
            <a:pPr>
              <a:defRPr/>
            </a:pPr>
            <a:endParaRPr lang="en-US" dirty="0" smtClean="0"/>
          </a:p>
          <a:p>
            <a:pPr>
              <a:defRPr/>
            </a:pPr>
            <a:endParaRPr lang="en-US" dirty="0" smtClean="0"/>
          </a:p>
          <a:p>
            <a:pPr>
              <a:defRPr/>
            </a:pPr>
            <a:r>
              <a:rPr lang="en-US" dirty="0" err="1" smtClean="0"/>
              <a:t>Renard</a:t>
            </a:r>
            <a:r>
              <a:rPr lang="en-US" dirty="0" smtClean="0"/>
              <a:t>, K.; Foster, G.; </a:t>
            </a:r>
            <a:r>
              <a:rPr lang="en-US" dirty="0" err="1" smtClean="0"/>
              <a:t>Weesies</a:t>
            </a:r>
            <a:r>
              <a:rPr lang="en-US" dirty="0" smtClean="0"/>
              <a:t>, G.; McCool, D.; Yoder, D.  </a:t>
            </a:r>
            <a:r>
              <a:rPr lang="en-US" i="1" dirty="0" smtClean="0"/>
              <a:t>Predicting Soil </a:t>
            </a:r>
          </a:p>
          <a:p>
            <a:pPr>
              <a:defRPr/>
            </a:pPr>
            <a:r>
              <a:rPr lang="en-US" i="1" dirty="0" smtClean="0"/>
              <a:t>	Erosion by Water:  A Guide to Conservation Planning with the Revised 	Universal Soil Loss Equation (RUSLE)</a:t>
            </a:r>
            <a:r>
              <a:rPr lang="en-US" dirty="0" smtClean="0"/>
              <a:t>.  USDA, Agriculture Handbook 	Number 703.  1996.</a:t>
            </a:r>
            <a:endParaRPr lang="en-US" dirty="0"/>
          </a:p>
        </p:txBody>
      </p:sp>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1874A4F4-F175-4BDB-922B-7B62B18862D6}" type="slidenum">
              <a:rPr lang="en-US" smtClean="0"/>
              <a:pPr/>
              <a:t>27</a:t>
            </a:fld>
            <a:endParaRPr lang="en-US" smtClean="0"/>
          </a:p>
        </p:txBody>
      </p:sp>
      <p:sp>
        <p:nvSpPr>
          <p:cNvPr id="17411" name="Rectangle 2"/>
          <p:cNvSpPr>
            <a:spLocks noGrp="1" noChangeArrowheads="1"/>
          </p:cNvSpPr>
          <p:nvPr>
            <p:ph type="title"/>
          </p:nvPr>
        </p:nvSpPr>
        <p:spPr>
          <a:xfrm>
            <a:off x="2212975" y="236538"/>
            <a:ext cx="5078413" cy="396875"/>
          </a:xfrm>
          <a:noFill/>
        </p:spPr>
        <p:txBody>
          <a:bodyPr/>
          <a:lstStyle/>
          <a:p>
            <a:pPr eaLnBrk="1" hangingPunct="1"/>
            <a:r>
              <a:rPr lang="en-US" sz="3200" b="1" dirty="0" smtClean="0">
                <a:solidFill>
                  <a:srgbClr val="E8A73E"/>
                </a:solidFill>
              </a:rPr>
              <a:t>Thank You</a:t>
            </a:r>
          </a:p>
        </p:txBody>
      </p:sp>
      <p:sp>
        <p:nvSpPr>
          <p:cNvPr id="6" name="TextBox 5"/>
          <p:cNvSpPr txBox="1"/>
          <p:nvPr/>
        </p:nvSpPr>
        <p:spPr>
          <a:xfrm>
            <a:off x="1738796" y="2707309"/>
            <a:ext cx="6694004" cy="1015663"/>
          </a:xfrm>
          <a:prstGeom prst="rect">
            <a:avLst/>
          </a:prstGeom>
          <a:noFill/>
        </p:spPr>
        <p:txBody>
          <a:bodyPr wrap="square" rtlCol="0">
            <a:spAutoFit/>
          </a:bodyPr>
          <a:lstStyle/>
          <a:p>
            <a:pPr>
              <a:defRPr/>
            </a:pPr>
            <a:r>
              <a:rPr lang="en-US" sz="6000" dirty="0" smtClean="0"/>
              <a:t>oneilg@msu.edu</a:t>
            </a:r>
            <a:endParaRPr lang="en-US" sz="6000" dirty="0"/>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IWR_Presentation NEW PAGE 1">
  <a:themeElements>
    <a:clrScheme name="IWR_Presentation NEW PAGE 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WR_Presentation NEW PAGE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IWR_Presentation NEW PAGE 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WR_Presentation NEW PAGE 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WR_Presentation NEW PAGE 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WR_Presentation NEW PAGE 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WR_Presentation NEW PAGE 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WR_Presentation NEW PAGE 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WR_Presentation NEW PAGE 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WR_Presentation NEW PAGE 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WR_Presentation NEW PAGE 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WR_Presentation NEW PAGE 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WR_Presentation NEW PAGE 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WR_Presentation NEW PAGE 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Settings\fluker\Application Data\Microsoft\Templates\IWR\IWR_Presentation NEW PAGE 1.pot</Template>
  <TotalTime>4522</TotalTime>
  <Words>2793</Words>
  <Application>Microsoft Office PowerPoint</Application>
  <PresentationFormat>On-screen Show (4:3)</PresentationFormat>
  <Paragraphs>275</Paragraphs>
  <Slides>27</Slides>
  <Notes>23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29" baseType="lpstr">
      <vt:lpstr>IWR_Presentation NEW PAGE 1</vt:lpstr>
      <vt:lpstr>Chart</vt:lpstr>
      <vt:lpstr>High Impact Targeting (HIT)</vt:lpstr>
      <vt:lpstr>HIT Model</vt:lpstr>
      <vt:lpstr>Early Targeting Efforts</vt:lpstr>
      <vt:lpstr>Early Targeting Efforts</vt:lpstr>
      <vt:lpstr>Conservation Innovation Grant</vt:lpstr>
      <vt:lpstr>Conservation Innovation Grant</vt:lpstr>
      <vt:lpstr>Targeting Sub-watersheds  (Lower Maumee River Watershed – NW Ohio)</vt:lpstr>
      <vt:lpstr>Slide 8</vt:lpstr>
      <vt:lpstr>Spatially exploring areas at high-risk for sediment loading</vt:lpstr>
      <vt:lpstr>Slide 10</vt:lpstr>
      <vt:lpstr>Making the Data Web-Accessible:</vt:lpstr>
      <vt:lpstr>Making the Data Web-Accessible:</vt:lpstr>
      <vt:lpstr>Team Effort</vt:lpstr>
      <vt:lpstr>Field Evaluations</vt:lpstr>
      <vt:lpstr>Field Evaluations</vt:lpstr>
      <vt:lpstr>Field Evaluations</vt:lpstr>
      <vt:lpstr>Stream Monitoring</vt:lpstr>
      <vt:lpstr>HIT Highlights</vt:lpstr>
      <vt:lpstr>HIT Limitations</vt:lpstr>
      <vt:lpstr>What’s Next?   </vt:lpstr>
      <vt:lpstr>HIT 2.0</vt:lpstr>
      <vt:lpstr>HIT 2.0</vt:lpstr>
      <vt:lpstr>HIT 2.0</vt:lpstr>
      <vt:lpstr>HIT 2.0</vt:lpstr>
      <vt:lpstr>In Conclusion</vt:lpstr>
      <vt:lpstr>References</vt:lpstr>
      <vt:lpstr>Thank You</vt:lpstr>
    </vt:vector>
  </TitlesOfParts>
  <Company>Michigan State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Glenn O'Neil</dc:creator>
  <cp:lastModifiedBy>Glenn</cp:lastModifiedBy>
  <cp:revision>299</cp:revision>
  <dcterms:created xsi:type="dcterms:W3CDTF">2005-10-10T12:01:10Z</dcterms:created>
  <dcterms:modified xsi:type="dcterms:W3CDTF">2009-11-08T17:09:32Z</dcterms:modified>
</cp:coreProperties>
</file>