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4" r:id="rId6"/>
    <p:sldId id="268" r:id="rId7"/>
    <p:sldId id="269" r:id="rId8"/>
    <p:sldId id="273" r:id="rId9"/>
    <p:sldId id="270" r:id="rId10"/>
    <p:sldId id="271" r:id="rId11"/>
    <p:sldId id="274" r:id="rId12"/>
    <p:sldId id="275" r:id="rId13"/>
    <p:sldId id="276" r:id="rId14"/>
    <p:sldId id="277" r:id="rId15"/>
    <p:sldId id="278" r:id="rId16"/>
    <p:sldId id="279" r:id="rId17"/>
    <p:sldId id="285" r:id="rId18"/>
    <p:sldId id="28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0" autoAdjust="0"/>
    <p:restoredTop sz="94660"/>
  </p:normalViewPr>
  <p:slideViewPr>
    <p:cSldViewPr>
      <p:cViewPr varScale="1">
        <p:scale>
          <a:sx n="103" d="100"/>
          <a:sy n="103" d="100"/>
        </p:scale>
        <p:origin x="-112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52B-090B-40E4-B3D6-0B8D5B188042}" type="datetimeFigureOut">
              <a:rPr lang="en-US" smtClean="0"/>
              <a:pPr/>
              <a:t>11/4/2010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C17D-109C-4CC0-9996-A4A5403D39E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52B-090B-40E4-B3D6-0B8D5B188042}" type="datetimeFigureOut">
              <a:rPr lang="en-US" smtClean="0"/>
              <a:pPr/>
              <a:t>11/4/2010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C17D-109C-4CC0-9996-A4A5403D39E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52B-090B-40E4-B3D6-0B8D5B188042}" type="datetimeFigureOut">
              <a:rPr lang="en-US" smtClean="0"/>
              <a:pPr/>
              <a:t>11/4/2010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C17D-109C-4CC0-9996-A4A5403D39E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52B-090B-40E4-B3D6-0B8D5B188042}" type="datetimeFigureOut">
              <a:rPr lang="en-US" smtClean="0"/>
              <a:pPr/>
              <a:t>11/4/2010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C17D-109C-4CC0-9996-A4A5403D39E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52B-090B-40E4-B3D6-0B8D5B188042}" type="datetimeFigureOut">
              <a:rPr lang="en-US" smtClean="0"/>
              <a:pPr/>
              <a:t>11/4/2010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C17D-109C-4CC0-9996-A4A5403D39E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52B-090B-40E4-B3D6-0B8D5B188042}" type="datetimeFigureOut">
              <a:rPr lang="en-US" smtClean="0"/>
              <a:pPr/>
              <a:t>11/4/2010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C17D-109C-4CC0-9996-A4A5403D39E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52B-090B-40E4-B3D6-0B8D5B188042}" type="datetimeFigureOut">
              <a:rPr lang="en-US" smtClean="0"/>
              <a:pPr/>
              <a:t>11/4/2010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C17D-109C-4CC0-9996-A4A5403D39E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52B-090B-40E4-B3D6-0B8D5B188042}" type="datetimeFigureOut">
              <a:rPr lang="en-US" smtClean="0"/>
              <a:pPr/>
              <a:t>11/4/2010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C17D-109C-4CC0-9996-A4A5403D39E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52B-090B-40E4-B3D6-0B8D5B188042}" type="datetimeFigureOut">
              <a:rPr lang="en-US" smtClean="0"/>
              <a:pPr/>
              <a:t>11/4/2010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C17D-109C-4CC0-9996-A4A5403D39E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52B-090B-40E4-B3D6-0B8D5B188042}" type="datetimeFigureOut">
              <a:rPr lang="en-US" smtClean="0"/>
              <a:pPr/>
              <a:t>11/4/2010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C17D-109C-4CC0-9996-A4A5403D39E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852B-090B-40E4-B3D6-0B8D5B188042}" type="datetimeFigureOut">
              <a:rPr lang="en-US" smtClean="0"/>
              <a:pPr/>
              <a:t>11/4/2010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9C17D-109C-4CC0-9996-A4A5403D39E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6852B-090B-40E4-B3D6-0B8D5B188042}" type="datetimeFigureOut">
              <a:rPr lang="en-US" smtClean="0"/>
              <a:pPr/>
              <a:t>11/4/2010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9C17D-109C-4CC0-9996-A4A5403D39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ome_bg-15.jpg"/>
          <p:cNvPicPr>
            <a:picLocks noChangeAspect="1"/>
          </p:cNvPicPr>
          <p:nvPr/>
        </p:nvPicPr>
        <p:blipFill>
          <a:blip r:embed="rId2" cstate="print">
            <a:lum bright="40000"/>
          </a:blip>
          <a:stretch>
            <a:fillRect/>
          </a:stretch>
        </p:blipFill>
        <p:spPr>
          <a:xfrm>
            <a:off x="0" y="685800"/>
            <a:ext cx="9144000" cy="5486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ICPSR Fall Data Fair 2010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Small Data Archives –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Cultural Policy &amp; the Arts National Data Archive (CPANDA)</a:t>
            </a:r>
          </a:p>
          <a:p>
            <a:r>
              <a:rPr lang="en-US" b="1" dirty="0" err="1" smtClean="0">
                <a:solidFill>
                  <a:schemeClr val="tx1"/>
                </a:solidFill>
              </a:rPr>
              <a:t>Bobray</a:t>
            </a:r>
            <a:r>
              <a:rPr lang="en-US" b="1" dirty="0" smtClean="0">
                <a:solidFill>
                  <a:schemeClr val="tx1"/>
                </a:solidFill>
              </a:rPr>
              <a:t> Bordelon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Princeton University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3529" y="1600200"/>
            <a:ext cx="6276941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Content Placeholder 8" descr="header_logo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934200" y="2362200"/>
            <a:ext cx="1524000" cy="1524000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57200" y="228600"/>
            <a:ext cx="6400800" cy="6248400"/>
          </a:xfrm>
        </p:spPr>
        <p:txBody>
          <a:bodyPr>
            <a:noAutofit/>
          </a:bodyPr>
          <a:lstStyle/>
          <a:p>
            <a:r>
              <a:rPr lang="en-US" sz="3200" dirty="0" smtClean="0"/>
              <a:t>CPANDA - Cultural Policy &amp; the Arts National Data Archive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 smtClean="0"/>
              <a:t>World's 1st interactive digital archive of policy-relevant data on the arts &amp; cultural policy in the USA.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 smtClean="0"/>
              <a:t>Collaborative effort of Princeton University Library &amp; the Princeton Center for Arts &amp; Cultural Policy Studies.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 smtClean="0"/>
              <a:t> The Pew Charitable Trusts underwrote the original development of the archive. 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57200" y="228600"/>
            <a:ext cx="6400800" cy="6248400"/>
          </a:xfrm>
        </p:spPr>
        <p:txBody>
          <a:bodyPr>
            <a:noAutofit/>
          </a:bodyPr>
          <a:lstStyle/>
          <a:p>
            <a:endParaRPr lang="en-US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3475" y="1538288"/>
            <a:ext cx="6875463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Content Placeholder 8" descr="header_logo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934200" y="2362200"/>
            <a:ext cx="1524000" cy="1524000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57200" y="228600"/>
            <a:ext cx="6400800" cy="6248400"/>
          </a:xfrm>
        </p:spPr>
        <p:txBody>
          <a:bodyPr numCol="2">
            <a:noAutofit/>
          </a:bodyPr>
          <a:lstStyle/>
          <a:p>
            <a:r>
              <a:rPr lang="en-US" sz="3200" dirty="0" smtClean="0"/>
              <a:t>Literature Database:</a:t>
            </a:r>
          </a:p>
          <a:p>
            <a:r>
              <a:rPr lang="en-US" sz="3200" dirty="0" smtClean="0"/>
              <a:t>Searchable by:             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 smtClean="0"/>
              <a:t>Title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 smtClean="0"/>
              <a:t>Author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 smtClean="0"/>
              <a:t>Subject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 smtClean="0"/>
              <a:t>Journal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 smtClean="0"/>
              <a:t>Publisher</a:t>
            </a:r>
          </a:p>
          <a:p>
            <a:endParaRPr lang="en-US" sz="3200" dirty="0" smtClean="0"/>
          </a:p>
          <a:p>
            <a:endParaRPr lang="en-US" sz="3200" dirty="0"/>
          </a:p>
          <a:p>
            <a:endParaRPr lang="en-US" sz="3200" dirty="0" smtClean="0"/>
          </a:p>
          <a:p>
            <a:endParaRPr lang="en-US" sz="3200" dirty="0"/>
          </a:p>
          <a:p>
            <a:r>
              <a:rPr lang="en-US" sz="3200" dirty="0" smtClean="0"/>
              <a:t>Includes: 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 smtClean="0"/>
              <a:t>Books	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 smtClean="0"/>
              <a:t>Articles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 smtClean="0"/>
              <a:t>Dissertations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 smtClean="0"/>
              <a:t>Chapters	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 smtClean="0"/>
              <a:t>Working Papers/Reports</a:t>
            </a:r>
          </a:p>
          <a:p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Content Placeholder 8" descr="header_logo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934200" y="2362200"/>
            <a:ext cx="1524000" cy="1524000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57200" y="228600"/>
            <a:ext cx="6400800" cy="6248400"/>
          </a:xfrm>
        </p:spPr>
        <p:txBody>
          <a:bodyPr>
            <a:noAutofit/>
          </a:bodyPr>
          <a:lstStyle/>
          <a:p>
            <a:r>
              <a:rPr lang="en-US" sz="3200" dirty="0" smtClean="0"/>
              <a:t>Literature Database:</a:t>
            </a:r>
          </a:p>
          <a:p>
            <a:r>
              <a:rPr lang="en-US" sz="3200" dirty="0" smtClean="0"/>
              <a:t>1960-1969: 5 entries</a:t>
            </a:r>
          </a:p>
          <a:p>
            <a:r>
              <a:rPr lang="en-US" sz="3200" dirty="0" smtClean="0"/>
              <a:t>1970-1979: 29 entries</a:t>
            </a:r>
          </a:p>
          <a:p>
            <a:r>
              <a:rPr lang="en-US" sz="3200" dirty="0" smtClean="0"/>
              <a:t>1980-1989: 173 entries</a:t>
            </a:r>
          </a:p>
          <a:p>
            <a:r>
              <a:rPr lang="en-US" sz="3200" dirty="0" smtClean="0"/>
              <a:t>1990-1999: 259 entries</a:t>
            </a:r>
          </a:p>
          <a:p>
            <a:r>
              <a:rPr lang="en-US" sz="3200" dirty="0" smtClean="0"/>
              <a:t>2000-2005: 216 entries</a:t>
            </a:r>
          </a:p>
          <a:p>
            <a:r>
              <a:rPr lang="en-US" sz="3200" dirty="0" smtClean="0"/>
              <a:t>2006-2007: 189 entries</a:t>
            </a:r>
          </a:p>
          <a:p>
            <a:r>
              <a:rPr lang="en-US" sz="3200" dirty="0" smtClean="0"/>
              <a:t>2008: 142 entries</a:t>
            </a:r>
          </a:p>
          <a:p>
            <a:r>
              <a:rPr lang="en-US" sz="3200" dirty="0" smtClean="0"/>
              <a:t>2009</a:t>
            </a:r>
            <a:r>
              <a:rPr lang="en-US" sz="3200" smtClean="0"/>
              <a:t>: 184 </a:t>
            </a:r>
            <a:r>
              <a:rPr lang="en-US" sz="3200" dirty="0" smtClean="0"/>
              <a:t>entries</a:t>
            </a:r>
          </a:p>
          <a:p>
            <a:r>
              <a:rPr lang="en-US" sz="3200" dirty="0" smtClean="0"/>
              <a:t>2010 (1</a:t>
            </a:r>
            <a:r>
              <a:rPr lang="en-US" sz="3200" baseline="30000" dirty="0" smtClean="0"/>
              <a:t>st</a:t>
            </a:r>
            <a:r>
              <a:rPr lang="en-US" sz="3200" dirty="0" smtClean="0"/>
              <a:t> half): 116 entries</a:t>
            </a:r>
          </a:p>
          <a:p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990600"/>
            <a:ext cx="62484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Content Placeholder 8" descr="header_logo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934200" y="2362200"/>
            <a:ext cx="1524000" cy="1524000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57200" y="228600"/>
            <a:ext cx="6400800" cy="6248400"/>
          </a:xfrm>
        </p:spPr>
        <p:txBody>
          <a:bodyPr>
            <a:noAutofit/>
          </a:bodyPr>
          <a:lstStyle/>
          <a:p>
            <a:r>
              <a:rPr lang="en-US" sz="8000" dirty="0" smtClean="0"/>
              <a:t>Data:</a:t>
            </a:r>
          </a:p>
          <a:p>
            <a:r>
              <a:rPr lang="en-US" sz="8000" dirty="0" smtClean="0"/>
              <a:t>36 major series consisting of 239 data sets</a:t>
            </a:r>
          </a:p>
          <a:p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1675" y="409575"/>
            <a:ext cx="5200650" cy="603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33613" y="1023938"/>
            <a:ext cx="4676775" cy="481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7950" y="376238"/>
            <a:ext cx="3848100" cy="610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3563" y="995363"/>
            <a:ext cx="5476875" cy="486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1650" y="423863"/>
            <a:ext cx="5600700" cy="601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4138" y="1409700"/>
            <a:ext cx="3895725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799638" cy="758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19175"/>
            <a:ext cx="10258425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Content Placeholder 8" descr="header_logo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934200" y="2362200"/>
            <a:ext cx="1524000" cy="1524000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57200" y="228600"/>
            <a:ext cx="6400800" cy="6248400"/>
          </a:xfrm>
        </p:spPr>
        <p:txBody>
          <a:bodyPr>
            <a:noAutofit/>
          </a:bodyPr>
          <a:lstStyle/>
          <a:p>
            <a:r>
              <a:rPr lang="en-US" sz="4400" dirty="0" smtClean="0"/>
              <a:t>Coming:</a:t>
            </a:r>
          </a:p>
          <a:p>
            <a:endParaRPr lang="en-US" sz="4400" dirty="0" smtClean="0"/>
          </a:p>
          <a:p>
            <a:pPr>
              <a:buFont typeface="Arial" pitchFamily="34" charset="0"/>
              <a:buChar char="•"/>
            </a:pPr>
            <a:r>
              <a:rPr lang="en-US" sz="4000" dirty="0" smtClean="0"/>
              <a:t>Continued expansion of Bibliography</a:t>
            </a:r>
          </a:p>
          <a:p>
            <a:pPr>
              <a:buFont typeface="Arial" pitchFamily="34" charset="0"/>
              <a:buChar char="•"/>
            </a:pPr>
            <a:r>
              <a:rPr lang="en-US" sz="4000" dirty="0" smtClean="0"/>
              <a:t> Clean up</a:t>
            </a:r>
          </a:p>
          <a:p>
            <a:pPr>
              <a:buFont typeface="Arial" pitchFamily="34" charset="0"/>
              <a:buChar char="•"/>
            </a:pPr>
            <a:r>
              <a:rPr lang="en-US" sz="4000" dirty="0" smtClean="0"/>
              <a:t>More studies by Joan </a:t>
            </a:r>
            <a:r>
              <a:rPr lang="en-US" sz="4000" dirty="0" err="1" smtClean="0"/>
              <a:t>Jeffri</a:t>
            </a:r>
            <a:endParaRPr lang="en-US" sz="4000" dirty="0" smtClean="0"/>
          </a:p>
          <a:p>
            <a:pPr>
              <a:buFont typeface="Arial" pitchFamily="34" charset="0"/>
              <a:buChar char="•"/>
            </a:pPr>
            <a:r>
              <a:rPr lang="en-US" sz="4000" dirty="0" smtClean="0"/>
              <a:t>Processing of free datasets involving cultural policy</a:t>
            </a:r>
          </a:p>
          <a:p>
            <a:pPr>
              <a:buFont typeface="Arial" pitchFamily="34" charset="0"/>
              <a:buChar char="•"/>
            </a:pPr>
            <a:r>
              <a:rPr lang="en-US" sz="4000" dirty="0" smtClean="0"/>
              <a:t> Give us your data!</a:t>
            </a:r>
          </a:p>
          <a:p>
            <a:pPr>
              <a:buFont typeface="Arial" pitchFamily="34" charset="0"/>
              <a:buChar char="•"/>
            </a:pPr>
            <a:endParaRPr lang="en-US" sz="2800" dirty="0" smtClean="0"/>
          </a:p>
          <a:p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ome_bg-15.jpg"/>
          <p:cNvPicPr>
            <a:picLocks noChangeAspect="1"/>
          </p:cNvPicPr>
          <p:nvPr/>
        </p:nvPicPr>
        <p:blipFill>
          <a:blip r:embed="rId2" cstate="print">
            <a:lum bright="40000"/>
          </a:blip>
          <a:stretch>
            <a:fillRect/>
          </a:stretch>
        </p:blipFill>
        <p:spPr>
          <a:xfrm>
            <a:off x="0" y="685800"/>
            <a:ext cx="9144000" cy="5486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CPANDA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>
                <a:solidFill>
                  <a:schemeClr val="tx1"/>
                </a:solidFill>
              </a:rPr>
              <a:t>Bobray</a:t>
            </a:r>
            <a:r>
              <a:rPr lang="en-US" b="1" dirty="0" smtClean="0">
                <a:solidFill>
                  <a:schemeClr val="tx1"/>
                </a:solidFill>
              </a:rPr>
              <a:t> Bordelon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Cpanda@Princeton.org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609-258-3211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180</Words>
  <Application>Microsoft Office PowerPoint</Application>
  <PresentationFormat>On-screen Show (4:3)</PresentationFormat>
  <Paragraphs>49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ICPSR Fall Data Fair 2010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CPANDA</vt:lpstr>
    </vt:vector>
  </TitlesOfParts>
  <Company>Princeton University Library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36th Annual Social Theory, Politics and the Arts Conference</dc:title>
  <dc:creator>bordelon</dc:creator>
  <cp:lastModifiedBy>lindamd</cp:lastModifiedBy>
  <cp:revision>16</cp:revision>
  <dcterms:created xsi:type="dcterms:W3CDTF">2010-10-12T19:20:21Z</dcterms:created>
  <dcterms:modified xsi:type="dcterms:W3CDTF">2010-11-04T18:06:28Z</dcterms:modified>
</cp:coreProperties>
</file>