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52" r:id="rId1"/>
  </p:sldMasterIdLst>
  <p:notesMasterIdLst>
    <p:notesMasterId r:id="rId16"/>
  </p:notesMasterIdLst>
  <p:handoutMasterIdLst>
    <p:handoutMasterId r:id="rId17"/>
  </p:handoutMasterIdLst>
  <p:sldIdLst>
    <p:sldId id="300" r:id="rId2"/>
    <p:sldId id="458" r:id="rId3"/>
    <p:sldId id="455" r:id="rId4"/>
    <p:sldId id="461" r:id="rId5"/>
    <p:sldId id="457" r:id="rId6"/>
    <p:sldId id="459" r:id="rId7"/>
    <p:sldId id="456" r:id="rId8"/>
    <p:sldId id="462" r:id="rId9"/>
    <p:sldId id="464" r:id="rId10"/>
    <p:sldId id="460" r:id="rId11"/>
    <p:sldId id="423" r:id="rId12"/>
    <p:sldId id="449" r:id="rId13"/>
    <p:sldId id="450" r:id="rId14"/>
    <p:sldId id="454" r:id="rId15"/>
  </p:sldIdLst>
  <p:sldSz cx="9144000" cy="6858000" type="screen4x3"/>
  <p:notesSz cx="6985000" cy="9271000"/>
  <p:kinsoku lang="ja-JP" invalStChars="、。，．・：；？！゛゜ヽヾゝゞ々ー’”）〕］｝〉》」』】°‰′″℃￠％ぁぃぅぇぉっゃゅょゎァィゥェォッャュョヮヵヶ!%),.:;?]}｡｣､･ｧｨｩｪｫｬｭｮｯｰﾞﾟ" invalEndChars="‘“（〔［｛〈《「『【￥＄$([\{｢￡"/>
  <p:defaultTextStyle>
    <a:defPPr>
      <a:defRPr lang="en-US"/>
    </a:defPPr>
    <a:lvl1pPr algn="ctr" rtl="0" eaLnBrk="0" fontAlgn="base" hangingPunct="0">
      <a:spcBef>
        <a:spcPct val="0"/>
      </a:spcBef>
      <a:spcAft>
        <a:spcPct val="0"/>
      </a:spcAft>
      <a:defRPr sz="3200" b="1" kern="1200">
        <a:solidFill>
          <a:srgbClr val="FFFF99"/>
        </a:solidFill>
        <a:latin typeface="Arial" charset="0"/>
        <a:ea typeface="+mn-ea"/>
        <a:cs typeface="+mn-cs"/>
      </a:defRPr>
    </a:lvl1pPr>
    <a:lvl2pPr marL="457200" algn="ctr" rtl="0" eaLnBrk="0" fontAlgn="base" hangingPunct="0">
      <a:spcBef>
        <a:spcPct val="0"/>
      </a:spcBef>
      <a:spcAft>
        <a:spcPct val="0"/>
      </a:spcAft>
      <a:defRPr sz="3200" b="1" kern="1200">
        <a:solidFill>
          <a:srgbClr val="FFFF99"/>
        </a:solidFill>
        <a:latin typeface="Arial" charset="0"/>
        <a:ea typeface="+mn-ea"/>
        <a:cs typeface="+mn-cs"/>
      </a:defRPr>
    </a:lvl2pPr>
    <a:lvl3pPr marL="914400" algn="ctr" rtl="0" eaLnBrk="0" fontAlgn="base" hangingPunct="0">
      <a:spcBef>
        <a:spcPct val="0"/>
      </a:spcBef>
      <a:spcAft>
        <a:spcPct val="0"/>
      </a:spcAft>
      <a:defRPr sz="3200" b="1" kern="1200">
        <a:solidFill>
          <a:srgbClr val="FFFF99"/>
        </a:solidFill>
        <a:latin typeface="Arial" charset="0"/>
        <a:ea typeface="+mn-ea"/>
        <a:cs typeface="+mn-cs"/>
      </a:defRPr>
    </a:lvl3pPr>
    <a:lvl4pPr marL="1371600" algn="ctr" rtl="0" eaLnBrk="0" fontAlgn="base" hangingPunct="0">
      <a:spcBef>
        <a:spcPct val="0"/>
      </a:spcBef>
      <a:spcAft>
        <a:spcPct val="0"/>
      </a:spcAft>
      <a:defRPr sz="3200" b="1" kern="1200">
        <a:solidFill>
          <a:srgbClr val="FFFF99"/>
        </a:solidFill>
        <a:latin typeface="Arial" charset="0"/>
        <a:ea typeface="+mn-ea"/>
        <a:cs typeface="+mn-cs"/>
      </a:defRPr>
    </a:lvl4pPr>
    <a:lvl5pPr marL="1828800" algn="ctr" rtl="0" eaLnBrk="0" fontAlgn="base" hangingPunct="0">
      <a:spcBef>
        <a:spcPct val="0"/>
      </a:spcBef>
      <a:spcAft>
        <a:spcPct val="0"/>
      </a:spcAft>
      <a:defRPr sz="3200" b="1" kern="1200">
        <a:solidFill>
          <a:srgbClr val="FFFF99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3200" b="1" kern="1200">
        <a:solidFill>
          <a:srgbClr val="FFFF99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3200" b="1" kern="1200">
        <a:solidFill>
          <a:srgbClr val="FFFF99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3200" b="1" kern="1200">
        <a:solidFill>
          <a:srgbClr val="FFFF99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3200" b="1" kern="1200">
        <a:solidFill>
          <a:srgbClr val="FFFF99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chemeClr val="tx1"/>
    </p:penClr>
  </p:showPr>
  <p:clrMru>
    <a:srgbClr val="201258"/>
    <a:srgbClr val="180F9B"/>
    <a:srgbClr val="FFFFFF"/>
    <a:srgbClr val="002F57"/>
    <a:srgbClr val="FFCC99"/>
    <a:srgbClr val="99CCFF"/>
    <a:srgbClr val="CCECFF"/>
    <a:srgbClr val="FFFFCC"/>
    <a:srgbClr val="66FFFF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68" autoAdjust="0"/>
    <p:restoredTop sz="94728" autoAdjust="0"/>
  </p:normalViewPr>
  <p:slideViewPr>
    <p:cSldViewPr>
      <p:cViewPr>
        <p:scale>
          <a:sx n="66" d="100"/>
          <a:sy n="66" d="100"/>
        </p:scale>
        <p:origin x="-1590" y="-9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28688" y="4405313"/>
            <a:ext cx="5127625" cy="41719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2131" tIns="45257" rIns="92131" bIns="4525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2051" name="Rectangle 3"/>
          <p:cNvSpPr>
            <a:spLocks noChangeArrowheads="1" noTextEdit="1"/>
          </p:cNvSpPr>
          <p:nvPr>
            <p:ph type="sldImg" idx="2"/>
          </p:nvPr>
        </p:nvSpPr>
        <p:spPr bwMode="auto">
          <a:xfrm>
            <a:off x="1174750" y="693738"/>
            <a:ext cx="4637088" cy="3478212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906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99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930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09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954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19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978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29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002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40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026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50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050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60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098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80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098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80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098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80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22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146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01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170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11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194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21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97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81000" y="2286000"/>
            <a:ext cx="8305800" cy="1143000"/>
          </a:xfrm>
        </p:spPr>
        <p:txBody>
          <a:bodyPr/>
          <a:lstStyle>
            <a:lvl1pPr>
              <a:defRPr sz="440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1197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81000" y="3886200"/>
            <a:ext cx="83058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211973" name="Picture 5" descr="ident_4_onscreen_png"/>
          <p:cNvPicPr>
            <a:picLocks noChangeAspect="1" noChangeArrowheads="1"/>
          </p:cNvPicPr>
          <p:nvPr/>
        </p:nvPicPr>
        <p:blipFill>
          <a:blip r:embed="rId2">
            <a:lum bright="100000"/>
          </a:blip>
          <a:srcRect/>
          <a:stretch>
            <a:fillRect/>
          </a:stretch>
        </p:blipFill>
        <p:spPr bwMode="black">
          <a:xfrm>
            <a:off x="457200" y="461963"/>
            <a:ext cx="2057400" cy="757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1000" y="1371600"/>
            <a:ext cx="4076700" cy="4495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10100" y="1371600"/>
            <a:ext cx="4076700" cy="4495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FFC000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10350" y="152400"/>
            <a:ext cx="2076450" cy="57150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1000" y="152400"/>
            <a:ext cx="6076950" cy="57150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81000" y="152400"/>
            <a:ext cx="8305800" cy="11430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0488" tIns="44450" rIns="90488" bIns="4445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81000" y="1371600"/>
            <a:ext cx="8305800" cy="44958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0488" tIns="44450" rIns="90488" bIns="4445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First level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pic>
        <p:nvPicPr>
          <p:cNvPr id="1028" name="Picture 4" descr="ident-small_4_onscreen_png"/>
          <p:cNvPicPr>
            <a:picLocks noChangeAspect="1" noChangeArrowheads="1"/>
          </p:cNvPicPr>
          <p:nvPr/>
        </p:nvPicPr>
        <p:blipFill>
          <a:blip r:embed="rId13" cstate="print">
            <a:lum bright="100000"/>
          </a:blip>
          <a:srcRect/>
          <a:stretch>
            <a:fillRect/>
          </a:stretch>
        </p:blipFill>
        <p:spPr bwMode="black">
          <a:xfrm>
            <a:off x="457200" y="6094413"/>
            <a:ext cx="1143000" cy="420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54" r:id="rId2"/>
    <p:sldLayoutId id="2147483655" r:id="rId3"/>
    <p:sldLayoutId id="2147483656" r:id="rId4"/>
    <p:sldLayoutId id="2147483657" r:id="rId5"/>
    <p:sldLayoutId id="2147483658" r:id="rId6"/>
    <p:sldLayoutId id="2147483659" r:id="rId7"/>
    <p:sldLayoutId id="2147483660" r:id="rId8"/>
    <p:sldLayoutId id="2147483661" r:id="rId9"/>
    <p:sldLayoutId id="2147483662" r:id="rId10"/>
    <p:sldLayoutId id="2147483663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FFFF99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FFFF99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FFFF99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FFFF99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FFFF99"/>
          </a:solidFill>
          <a:latin typeface="Arial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FFFF99"/>
          </a:solidFill>
          <a:latin typeface="Arial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FFFF99"/>
          </a:solidFill>
          <a:latin typeface="Arial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FFFF99"/>
          </a:solidFill>
          <a:latin typeface="Arial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FFFF99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FFFF99"/>
        </a:buClr>
        <a:buSzPct val="125000"/>
        <a:buFont typeface="Wingdings" pitchFamily="2" charset="2"/>
        <a:buChar char="§"/>
        <a:defRPr sz="2800" b="1">
          <a:solidFill>
            <a:schemeClr val="bg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FFFF99"/>
        </a:buClr>
        <a:buSzPct val="125000"/>
        <a:buFont typeface="Wingdings" pitchFamily="2" charset="2"/>
        <a:buChar char="§"/>
        <a:defRPr sz="2400" b="1">
          <a:solidFill>
            <a:schemeClr val="bg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FFFF99"/>
        </a:buClr>
        <a:buSzPct val="125000"/>
        <a:buFont typeface="Wingdings" pitchFamily="2" charset="2"/>
        <a:buChar char="§"/>
        <a:defRPr sz="2000" b="1">
          <a:solidFill>
            <a:schemeClr val="bg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rgbClr val="FFFF99"/>
        </a:buClr>
        <a:buSzPct val="125000"/>
        <a:buFont typeface="Wingdings" pitchFamily="2" charset="2"/>
        <a:buChar char="§"/>
        <a:defRPr b="1">
          <a:solidFill>
            <a:schemeClr val="bg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rgbClr val="FFFF99"/>
        </a:buClr>
        <a:buSzPct val="125000"/>
        <a:buFont typeface="Wingdings" pitchFamily="2" charset="2"/>
        <a:buChar char="§"/>
        <a:defRPr b="1">
          <a:solidFill>
            <a:schemeClr val="bg1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lr>
          <a:srgbClr val="FFFF99"/>
        </a:buClr>
        <a:buSzPct val="125000"/>
        <a:buFont typeface="Wingdings" pitchFamily="2" charset="2"/>
        <a:buChar char="§"/>
        <a:defRPr b="1">
          <a:solidFill>
            <a:schemeClr val="bg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lr>
          <a:srgbClr val="FFFF99"/>
        </a:buClr>
        <a:buSzPct val="125000"/>
        <a:buFont typeface="Wingdings" pitchFamily="2" charset="2"/>
        <a:buChar char="§"/>
        <a:defRPr b="1">
          <a:solidFill>
            <a:schemeClr val="bg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lr>
          <a:srgbClr val="FFFF99"/>
        </a:buClr>
        <a:buSzPct val="125000"/>
        <a:buFont typeface="Wingdings" pitchFamily="2" charset="2"/>
        <a:buChar char="§"/>
        <a:defRPr b="1">
          <a:solidFill>
            <a:schemeClr val="bg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lr>
          <a:srgbClr val="FFFF99"/>
        </a:buClr>
        <a:buSzPct val="125000"/>
        <a:buFont typeface="Wingdings" pitchFamily="2" charset="2"/>
        <a:buChar char="§"/>
        <a:defRPr b="1">
          <a:solidFill>
            <a:schemeClr val="bg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81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09600" y="1524000"/>
            <a:ext cx="7924800" cy="2514600"/>
          </a:xfrm>
        </p:spPr>
        <p:txBody>
          <a:bodyPr/>
          <a:lstStyle/>
          <a:p>
            <a:pPr algn="ctr"/>
            <a:r>
              <a:rPr lang="en-US"/>
              <a:t>USGS Instantaneous Data Archive</a:t>
            </a:r>
          </a:p>
        </p:txBody>
      </p:sp>
      <p:sp>
        <p:nvSpPr>
          <p:cNvPr id="16281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81000" y="5181600"/>
            <a:ext cx="8305800" cy="8382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z="2400" dirty="0" smtClean="0"/>
              <a:t>SWD USACE/NWS/USGS Meeting</a:t>
            </a:r>
            <a:endParaRPr lang="en-US" sz="2400" dirty="0"/>
          </a:p>
          <a:p>
            <a:pPr>
              <a:lnSpc>
                <a:spcPct val="90000"/>
              </a:lnSpc>
            </a:pPr>
            <a:r>
              <a:rPr lang="en-US" sz="2400" dirty="0" smtClean="0"/>
              <a:t>March 27, 2007</a:t>
            </a:r>
            <a:endParaRPr lang="en-US" sz="2400" dirty="0"/>
          </a:p>
        </p:txBody>
      </p:sp>
      <p:sp>
        <p:nvSpPr>
          <p:cNvPr id="162820" name="Text Box 4"/>
          <p:cNvSpPr txBox="1">
            <a:spLocks noChangeArrowheads="1"/>
          </p:cNvSpPr>
          <p:nvPr/>
        </p:nvSpPr>
        <p:spPr bwMode="auto">
          <a:xfrm>
            <a:off x="2133600" y="3657600"/>
            <a:ext cx="3574506" cy="1197764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algn="l"/>
            <a:r>
              <a:rPr lang="en-US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D. Phil </a:t>
            </a:r>
            <a:r>
              <a:rPr lang="en-US" sz="24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Turnipseed</a:t>
            </a:r>
            <a:r>
              <a:rPr lang="en-US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P.E</a:t>
            </a: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</a:t>
            </a:r>
          </a:p>
          <a:p>
            <a:pPr algn="l"/>
            <a:r>
              <a:rPr lang="en-US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Office of Surface Water</a:t>
            </a:r>
          </a:p>
          <a:p>
            <a:pPr algn="l"/>
            <a:r>
              <a:rPr lang="en-US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Reston, Virginia</a:t>
            </a:r>
            <a:endParaRPr lang="en-US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786" name="Rectangle 2"/>
          <p:cNvSpPr>
            <a:spLocks noChangeArrowheads="1"/>
          </p:cNvSpPr>
          <p:nvPr/>
        </p:nvSpPr>
        <p:spPr bwMode="auto">
          <a:xfrm>
            <a:off x="381000" y="152400"/>
            <a:ext cx="8305800" cy="11430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8" tIns="44450" rIns="90488" bIns="44450" anchor="ctr"/>
          <a:lstStyle/>
          <a:p>
            <a:pPr algn="l"/>
            <a:endParaRPr lang="en-US" sz="3600"/>
          </a:p>
        </p:txBody>
      </p:sp>
      <p:sp>
        <p:nvSpPr>
          <p:cNvPr id="374787" name="Rectangle 3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What are USGS “Instantaneous Data”</a:t>
            </a:r>
          </a:p>
        </p:txBody>
      </p:sp>
      <p:sp>
        <p:nvSpPr>
          <p:cNvPr id="374788" name="Text Box 4"/>
          <p:cNvSpPr txBox="1">
            <a:spLocks noChangeArrowheads="1"/>
          </p:cNvSpPr>
          <p:nvPr/>
        </p:nvSpPr>
        <p:spPr bwMode="auto">
          <a:xfrm>
            <a:off x="762000" y="1447800"/>
            <a:ext cx="7620000" cy="444341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8" tIns="44450" rIns="90488" bIns="44450">
            <a:spAutoFit/>
          </a:bodyPr>
          <a:lstStyle/>
          <a:p>
            <a:pPr marL="231775" indent="-231775" algn="l">
              <a:spcBef>
                <a:spcPct val="60000"/>
              </a:spcBef>
              <a:buFontTx/>
              <a:buChar char="•"/>
            </a:pPr>
            <a:r>
              <a:rPr lang="en-US" sz="2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Historically, USGS has primarily published daily data (mean, max, min</a:t>
            </a:r>
            <a:r>
              <a:rPr lang="en-US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);</a:t>
            </a:r>
            <a:endParaRPr lang="en-US" sz="28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231775" indent="-231775" algn="l">
              <a:spcBef>
                <a:spcPct val="60000"/>
              </a:spcBef>
              <a:buFontTx/>
              <a:buChar char="•"/>
            </a:pPr>
            <a:r>
              <a:rPr lang="en-US" sz="2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“Instantaneous Data” – 5 minute to 60 minute data used to compute the daily </a:t>
            </a:r>
            <a:r>
              <a:rPr lang="en-US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values (typically 15-min);</a:t>
            </a:r>
            <a:endParaRPr lang="en-US" sz="28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231775" indent="-231775" algn="l">
              <a:spcBef>
                <a:spcPct val="60000"/>
              </a:spcBef>
              <a:buFontTx/>
              <a:buChar char="•"/>
            </a:pPr>
            <a:r>
              <a:rPr lang="en-US" sz="2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Instantaneous data are stored in the WSC NWIS database from mid-1980s, but generally not “cleaned up” to publication </a:t>
            </a:r>
            <a:r>
              <a:rPr lang="en-US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standards;</a:t>
            </a:r>
            <a:endParaRPr lang="en-US" sz="28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714" name="Rectangle 2"/>
          <p:cNvSpPr>
            <a:spLocks noChangeArrowheads="1"/>
          </p:cNvSpPr>
          <p:nvPr/>
        </p:nvSpPr>
        <p:spPr bwMode="auto">
          <a:xfrm>
            <a:off x="381000" y="152400"/>
            <a:ext cx="8305800" cy="11430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8" tIns="44450" rIns="90488" bIns="44450" anchor="ctr"/>
          <a:lstStyle/>
          <a:p>
            <a:pPr algn="l"/>
            <a:endParaRPr lang="en-US" sz="3600"/>
          </a:p>
        </p:txBody>
      </p:sp>
      <p:sp>
        <p:nvSpPr>
          <p:cNvPr id="371715" name="Rectangle 3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sz="32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What is the USGS Instantaneous Data Archive (IDA)</a:t>
            </a:r>
          </a:p>
        </p:txBody>
      </p:sp>
      <p:sp>
        <p:nvSpPr>
          <p:cNvPr id="371716" name="Text Box 4"/>
          <p:cNvSpPr txBox="1">
            <a:spLocks noChangeArrowheads="1"/>
          </p:cNvSpPr>
          <p:nvPr/>
        </p:nvSpPr>
        <p:spPr bwMode="auto">
          <a:xfrm>
            <a:off x="609600" y="2514600"/>
            <a:ext cx="8001000" cy="137001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8" tIns="44450" rIns="90488" bIns="44450">
            <a:spAutoFit/>
          </a:bodyPr>
          <a:lstStyle/>
          <a:p>
            <a:pPr algn="l">
              <a:spcBef>
                <a:spcPct val="60000"/>
              </a:spcBef>
            </a:pPr>
            <a:r>
              <a:rPr lang="en-US" sz="28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On-line publicly-accessible repository of available instantaneous data corresponding to the period of published daily data.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82" name="Rectangle 2"/>
          <p:cNvSpPr>
            <a:spLocks noChangeArrowheads="1"/>
          </p:cNvSpPr>
          <p:nvPr/>
        </p:nvSpPr>
        <p:spPr bwMode="auto">
          <a:xfrm>
            <a:off x="381000" y="152400"/>
            <a:ext cx="8305800" cy="11430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8" tIns="44450" rIns="90488" bIns="44450" anchor="ctr"/>
          <a:lstStyle/>
          <a:p>
            <a:pPr algn="l"/>
            <a:endParaRPr lang="en-US" sz="3600"/>
          </a:p>
        </p:txBody>
      </p:sp>
      <p:sp>
        <p:nvSpPr>
          <p:cNvPr id="378883" name="Rectangle 3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IDA Challenges</a:t>
            </a:r>
          </a:p>
        </p:txBody>
      </p:sp>
      <p:sp>
        <p:nvSpPr>
          <p:cNvPr id="378884" name="Text Box 4"/>
          <p:cNvSpPr txBox="1">
            <a:spLocks noChangeArrowheads="1"/>
          </p:cNvSpPr>
          <p:nvPr/>
        </p:nvSpPr>
        <p:spPr bwMode="auto">
          <a:xfrm>
            <a:off x="762000" y="1066800"/>
            <a:ext cx="7467600" cy="4964949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8" tIns="44450" rIns="90488" bIns="44450">
            <a:spAutoFit/>
          </a:bodyPr>
          <a:lstStyle/>
          <a:p>
            <a:pPr marL="231775" indent="-231775" algn="l">
              <a:spcBef>
                <a:spcPct val="60000"/>
              </a:spcBef>
              <a:buFontTx/>
              <a:buChar char="•"/>
            </a:pPr>
            <a:r>
              <a:rPr lang="en-US" sz="2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Numerous instantaneous data types (discharge, stage, water quality, precipitation, etc)</a:t>
            </a:r>
          </a:p>
          <a:p>
            <a:pPr marL="231775" indent="-231775" algn="l">
              <a:spcBef>
                <a:spcPct val="60000"/>
              </a:spcBef>
              <a:buFontTx/>
              <a:buChar char="•"/>
            </a:pPr>
            <a:r>
              <a:rPr lang="en-US" sz="2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Various storage formats (NWIS, spreadsheets, </a:t>
            </a:r>
            <a:r>
              <a:rPr lang="en-US" sz="22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paper </a:t>
            </a:r>
            <a:r>
              <a:rPr lang="en-US" sz="2200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tape, graphical charts</a:t>
            </a:r>
            <a:r>
              <a:rPr lang="en-US" sz="22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</a:t>
            </a:r>
            <a:r>
              <a:rPr lang="en-US" sz="2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etc)</a:t>
            </a:r>
          </a:p>
          <a:p>
            <a:pPr marL="231775" indent="-231775" algn="l">
              <a:spcBef>
                <a:spcPct val="60000"/>
              </a:spcBef>
              <a:buFontTx/>
              <a:buChar char="•"/>
            </a:pPr>
            <a:r>
              <a:rPr lang="en-US" sz="2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Instantaneous data not cleaned up to daily value “publication standards” (backwater, instrumentation problems, spikes, etc)</a:t>
            </a:r>
          </a:p>
          <a:p>
            <a:pPr marL="231775" indent="-231775" algn="l">
              <a:spcBef>
                <a:spcPct val="60000"/>
              </a:spcBef>
              <a:buFontTx/>
              <a:buChar char="•"/>
            </a:pPr>
            <a:r>
              <a:rPr lang="en-US" sz="2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Multiple data sources (primary and backup recorders, instrumentation updates, etc)</a:t>
            </a:r>
          </a:p>
          <a:p>
            <a:pPr marL="231775" indent="-231775" algn="l">
              <a:spcBef>
                <a:spcPct val="60000"/>
              </a:spcBef>
              <a:buFontTx/>
              <a:buChar char="•"/>
            </a:pPr>
            <a:r>
              <a:rPr lang="en-US" sz="2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Very time consuming and expensive to clean-up historical data (one site with 15-min data for 20 years has over 700,000 data points)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762" name="Rectangle 2"/>
          <p:cNvSpPr>
            <a:spLocks noChangeArrowheads="1"/>
          </p:cNvSpPr>
          <p:nvPr/>
        </p:nvSpPr>
        <p:spPr bwMode="auto">
          <a:xfrm>
            <a:off x="381000" y="152400"/>
            <a:ext cx="8305800" cy="11430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8" tIns="44450" rIns="90488" bIns="44450" anchor="ctr"/>
          <a:lstStyle/>
          <a:p>
            <a:pPr algn="l"/>
            <a:endParaRPr lang="en-US" sz="3600"/>
          </a:p>
        </p:txBody>
      </p:sp>
      <p:sp>
        <p:nvSpPr>
          <p:cNvPr id="373763" name="Rectangle 3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IDA Initial System Design</a:t>
            </a:r>
          </a:p>
        </p:txBody>
      </p:sp>
      <p:sp>
        <p:nvSpPr>
          <p:cNvPr id="373764" name="Text Box 4"/>
          <p:cNvSpPr txBox="1">
            <a:spLocks noChangeArrowheads="1"/>
          </p:cNvSpPr>
          <p:nvPr/>
        </p:nvSpPr>
        <p:spPr bwMode="auto">
          <a:xfrm>
            <a:off x="838200" y="1676400"/>
            <a:ext cx="7543800" cy="35893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8" tIns="44450" rIns="90488" bIns="44450">
            <a:spAutoFit/>
          </a:bodyPr>
          <a:lstStyle/>
          <a:p>
            <a:pPr marL="231775" indent="-231775" algn="l">
              <a:spcBef>
                <a:spcPct val="60000"/>
              </a:spcBef>
              <a:buFontTx/>
              <a:buChar char="•"/>
            </a:pPr>
            <a:r>
              <a:rPr lang="en-US" sz="28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Discharge data only</a:t>
            </a:r>
          </a:p>
          <a:p>
            <a:pPr marL="231775" indent="-231775" algn="l">
              <a:spcBef>
                <a:spcPct val="60000"/>
              </a:spcBef>
              <a:buFontTx/>
              <a:buChar char="•"/>
            </a:pPr>
            <a:r>
              <a:rPr lang="en-US" sz="28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Use historical data already in NWIS database (generally from mid-1980s)</a:t>
            </a:r>
          </a:p>
          <a:p>
            <a:pPr marL="231775" indent="-231775" algn="l">
              <a:spcBef>
                <a:spcPct val="60000"/>
              </a:spcBef>
              <a:buFontTx/>
              <a:buChar char="•"/>
            </a:pPr>
            <a:r>
              <a:rPr lang="en-US" sz="28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Data quality assured using automated and manual checks, but not processed and corrected to similar “publication standards” as daily values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810" name="Rectangle 2"/>
          <p:cNvSpPr>
            <a:spLocks noChangeArrowheads="1"/>
          </p:cNvSpPr>
          <p:nvPr/>
        </p:nvSpPr>
        <p:spPr bwMode="auto">
          <a:xfrm>
            <a:off x="381000" y="152400"/>
            <a:ext cx="8305800" cy="11430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8" tIns="44450" rIns="90488" bIns="44450" anchor="ctr"/>
          <a:lstStyle/>
          <a:p>
            <a:pPr algn="l"/>
            <a:endParaRPr lang="en-US" sz="3600"/>
          </a:p>
        </p:txBody>
      </p:sp>
      <p:sp>
        <p:nvSpPr>
          <p:cNvPr id="375811" name="Rectangle 3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sz="32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IDA Discharge Data Automated QA Tests</a:t>
            </a:r>
          </a:p>
        </p:txBody>
      </p:sp>
      <p:sp>
        <p:nvSpPr>
          <p:cNvPr id="375812" name="Text Box 4"/>
          <p:cNvSpPr txBox="1">
            <a:spLocks noChangeArrowheads="1"/>
          </p:cNvSpPr>
          <p:nvPr/>
        </p:nvSpPr>
        <p:spPr bwMode="auto">
          <a:xfrm>
            <a:off x="609600" y="1676400"/>
            <a:ext cx="8153400" cy="137001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8" tIns="44450" rIns="90488" bIns="44450">
            <a:spAutoFit/>
          </a:bodyPr>
          <a:lstStyle/>
          <a:p>
            <a:pPr algn="l">
              <a:spcBef>
                <a:spcPct val="60000"/>
              </a:spcBef>
            </a:pPr>
            <a:r>
              <a:rPr lang="en-US" sz="28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Compute daily mean value from instantaneous data, compare to published daily mean, assign QA code based on comparison.</a:t>
            </a:r>
          </a:p>
        </p:txBody>
      </p:sp>
      <p:sp>
        <p:nvSpPr>
          <p:cNvPr id="375813" name="Text Box 5"/>
          <p:cNvSpPr txBox="1">
            <a:spLocks noChangeArrowheads="1"/>
          </p:cNvSpPr>
          <p:nvPr/>
        </p:nvSpPr>
        <p:spPr bwMode="auto">
          <a:xfrm>
            <a:off x="1371600" y="3429000"/>
            <a:ext cx="6777497" cy="1813317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algn="l"/>
            <a:r>
              <a:rPr lang="en-US" sz="2800">
                <a:solidFill>
                  <a:srgbClr val="66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Code 0 – near zero values</a:t>
            </a:r>
          </a:p>
          <a:p>
            <a:pPr algn="l"/>
            <a:r>
              <a:rPr lang="en-US" sz="2800">
                <a:solidFill>
                  <a:srgbClr val="66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Code 1 – matches within 1 percent</a:t>
            </a:r>
          </a:p>
          <a:p>
            <a:pPr algn="l"/>
            <a:r>
              <a:rPr lang="en-US" sz="2800">
                <a:solidFill>
                  <a:srgbClr val="66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Code 2 – matches from 1 to 5 percent</a:t>
            </a:r>
          </a:p>
          <a:p>
            <a:pPr algn="l"/>
            <a:r>
              <a:rPr lang="en-US" sz="2800">
                <a:solidFill>
                  <a:srgbClr val="66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Code 3 – matches from 5 to 10 percent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738" name="Rectangle 2"/>
          <p:cNvSpPr>
            <a:spLocks noChangeArrowheads="1"/>
          </p:cNvSpPr>
          <p:nvPr/>
        </p:nvSpPr>
        <p:spPr bwMode="auto">
          <a:xfrm>
            <a:off x="381000" y="152400"/>
            <a:ext cx="8305800" cy="11430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8" tIns="44450" rIns="90488" bIns="44450" anchor="ctr"/>
          <a:lstStyle/>
          <a:p>
            <a:pPr algn="l"/>
            <a:endParaRPr lang="en-US" sz="3600"/>
          </a:p>
        </p:txBody>
      </p:sp>
      <p:sp>
        <p:nvSpPr>
          <p:cNvPr id="372739" name="Rectangle 3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IDA versus NWISWeb</a:t>
            </a:r>
          </a:p>
        </p:txBody>
      </p:sp>
      <p:sp>
        <p:nvSpPr>
          <p:cNvPr id="372740" name="Text Box 4"/>
          <p:cNvSpPr txBox="1">
            <a:spLocks noChangeArrowheads="1"/>
          </p:cNvSpPr>
          <p:nvPr/>
        </p:nvSpPr>
        <p:spPr bwMode="auto">
          <a:xfrm>
            <a:off x="838200" y="1752600"/>
            <a:ext cx="7543800" cy="3505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8" tIns="44450" rIns="90488" bIns="44450">
            <a:spAutoFit/>
          </a:bodyPr>
          <a:lstStyle/>
          <a:p>
            <a:pPr algn="l">
              <a:spcBef>
                <a:spcPct val="100000"/>
              </a:spcBef>
            </a:pPr>
            <a:r>
              <a:rPr lang="en-US" sz="28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NWISWeb – real-time instantaneous data, most recent 30 days</a:t>
            </a:r>
          </a:p>
          <a:p>
            <a:pPr algn="l">
              <a:spcBef>
                <a:spcPct val="100000"/>
              </a:spcBef>
            </a:pPr>
            <a:r>
              <a:rPr lang="en-US" sz="28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IDA – instantaneous data corresponding to period of published daily data</a:t>
            </a:r>
          </a:p>
          <a:p>
            <a:pPr algn="l">
              <a:spcBef>
                <a:spcPct val="100000"/>
              </a:spcBef>
            </a:pPr>
            <a:r>
              <a:rPr lang="en-US" sz="2800">
                <a:solidFill>
                  <a:srgbClr val="66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Potential gap up to 18 months between data in NWISWeb and data in IDA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834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-228600"/>
            <a:ext cx="4343400" cy="1143000"/>
          </a:xfrm>
        </p:spPr>
        <p:txBody>
          <a:bodyPr/>
          <a:lstStyle/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IDA </a:t>
            </a:r>
            <a:r>
              <a:rPr 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Current Status</a:t>
            </a: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393218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286000" y="687387"/>
            <a:ext cx="6660950" cy="617061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/>
            <a:tailEnd/>
          </a:ln>
          <a:effectLst/>
        </p:spPr>
      </p:pic>
      <p:sp>
        <p:nvSpPr>
          <p:cNvPr id="7" name="Rectangle 2"/>
          <p:cNvSpPr txBox="1">
            <a:spLocks noChangeArrowheads="1"/>
          </p:cNvSpPr>
          <p:nvPr/>
        </p:nvSpPr>
        <p:spPr bwMode="auto">
          <a:xfrm>
            <a:off x="0" y="2362200"/>
            <a:ext cx="4343400" cy="11430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0488" tIns="44450" rIns="90488" bIns="4445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 smtClean="0">
                <a:ln>
                  <a:noFill/>
                </a:ln>
                <a:solidFill>
                  <a:srgbClr val="FFFF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15 States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834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-228600"/>
            <a:ext cx="4343400" cy="1143000"/>
          </a:xfrm>
        </p:spPr>
        <p:txBody>
          <a:bodyPr/>
          <a:lstStyle/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IDA </a:t>
            </a:r>
            <a:r>
              <a:rPr 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Current Status</a:t>
            </a: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394242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905000" y="583140"/>
            <a:ext cx="6773480" cy="627486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8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IDA Web Interface</a:t>
            </a:r>
          </a:p>
        </p:txBody>
      </p:sp>
      <p:pic>
        <p:nvPicPr>
          <p:cNvPr id="376836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447800" y="1066800"/>
            <a:ext cx="6477000" cy="4927600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</p:pic>
      <p:sp>
        <p:nvSpPr>
          <p:cNvPr id="376837" name="Line 5"/>
          <p:cNvSpPr>
            <a:spLocks noChangeShapeType="1"/>
          </p:cNvSpPr>
          <p:nvPr/>
        </p:nvSpPr>
        <p:spPr bwMode="auto">
          <a:xfrm flipH="1" flipV="1">
            <a:off x="2667000" y="5181600"/>
            <a:ext cx="1371600" cy="685800"/>
          </a:xfrm>
          <a:prstGeom prst="line">
            <a:avLst/>
          </a:prstGeom>
          <a:noFill/>
          <a:ln w="635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lIns="90488" tIns="44450" rIns="90488" bIns="44450" anchor="ctr"/>
          <a:lstStyle/>
          <a:p>
            <a:endParaRPr lang="en-US"/>
          </a:p>
        </p:txBody>
      </p:sp>
      <p:sp>
        <p:nvSpPr>
          <p:cNvPr id="6" name="Line 5"/>
          <p:cNvSpPr>
            <a:spLocks noChangeShapeType="1"/>
          </p:cNvSpPr>
          <p:nvPr/>
        </p:nvSpPr>
        <p:spPr bwMode="auto">
          <a:xfrm flipH="1" flipV="1">
            <a:off x="2667000" y="5715000"/>
            <a:ext cx="1371600" cy="609600"/>
          </a:xfrm>
          <a:prstGeom prst="line">
            <a:avLst/>
          </a:prstGeom>
          <a:noFill/>
          <a:ln w="635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lIns="90488" tIns="44450" rIns="90488" bIns="44450" anchor="ctr"/>
          <a:lstStyle/>
          <a:p>
            <a:endParaRPr lang="en-US"/>
          </a:p>
        </p:txBody>
      </p:sp>
      <p:sp>
        <p:nvSpPr>
          <p:cNvPr id="376835" name="Text Box 3"/>
          <p:cNvSpPr txBox="1">
            <a:spLocks noChangeArrowheads="1"/>
          </p:cNvSpPr>
          <p:nvPr/>
        </p:nvSpPr>
        <p:spPr bwMode="auto">
          <a:xfrm>
            <a:off x="3886200" y="5334000"/>
            <a:ext cx="3124200" cy="1196975"/>
          </a:xfrm>
          <a:prstGeom prst="rect">
            <a:avLst/>
          </a:prstGeom>
          <a:solidFill>
            <a:srgbClr val="3333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228600" indent="-228600" algn="l"/>
            <a:r>
              <a:rPr lang="en-US" sz="2400" dirty="0">
                <a:solidFill>
                  <a:schemeClr val="bg1"/>
                </a:solidFill>
              </a:rPr>
              <a:t>Search by:</a:t>
            </a:r>
          </a:p>
          <a:p>
            <a:pPr marL="228600" indent="-228600" algn="l">
              <a:buFontTx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Geographic Area</a:t>
            </a:r>
          </a:p>
          <a:p>
            <a:pPr marL="228600" indent="-228600" algn="l">
              <a:buFontTx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Site Number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82" name="Rectangle 2"/>
          <p:cNvSpPr>
            <a:spLocks noChangeArrowheads="1"/>
          </p:cNvSpPr>
          <p:nvPr/>
        </p:nvSpPr>
        <p:spPr bwMode="auto">
          <a:xfrm>
            <a:off x="381000" y="152400"/>
            <a:ext cx="8305800" cy="11430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8" tIns="44450" rIns="90488" bIns="44450" anchor="ctr"/>
          <a:lstStyle/>
          <a:p>
            <a:pPr algn="l"/>
            <a:endParaRPr lang="en-US" sz="3600"/>
          </a:p>
        </p:txBody>
      </p:sp>
      <p:sp>
        <p:nvSpPr>
          <p:cNvPr id="327683" name="Rectangle 3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Example IDA Site Page </a:t>
            </a:r>
          </a:p>
        </p:txBody>
      </p:sp>
      <p:sp>
        <p:nvSpPr>
          <p:cNvPr id="327694" name="Text Box 14"/>
          <p:cNvSpPr txBox="1">
            <a:spLocks noChangeArrowheads="1"/>
          </p:cNvSpPr>
          <p:nvPr/>
        </p:nvSpPr>
        <p:spPr bwMode="auto">
          <a:xfrm>
            <a:off x="228600" y="1752600"/>
            <a:ext cx="2971800" cy="3592513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 lIns="90488" tIns="44450" rIns="90488" bIns="44450">
            <a:spAutoFit/>
          </a:bodyPr>
          <a:lstStyle/>
          <a:p>
            <a:pPr marL="228600" indent="-228600" algn="l">
              <a:spcBef>
                <a:spcPct val="40000"/>
              </a:spcBef>
              <a:buFontTx/>
              <a:buChar char="•"/>
            </a:pPr>
            <a:r>
              <a:rPr lang="en-US" sz="28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Period of available data</a:t>
            </a:r>
          </a:p>
          <a:p>
            <a:pPr marL="228600" indent="-228600" algn="l">
              <a:spcBef>
                <a:spcPct val="40000"/>
              </a:spcBef>
              <a:buFontTx/>
              <a:buChar char="•"/>
            </a:pPr>
            <a:r>
              <a:rPr lang="en-US" sz="28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Number of data values</a:t>
            </a:r>
          </a:p>
          <a:p>
            <a:pPr marL="228600" indent="-228600" algn="l">
              <a:spcBef>
                <a:spcPct val="40000"/>
              </a:spcBef>
              <a:buFontTx/>
              <a:buChar char="•"/>
            </a:pPr>
            <a:r>
              <a:rPr lang="en-US" sz="28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View summary report</a:t>
            </a:r>
          </a:p>
          <a:p>
            <a:pPr marL="228600" indent="-228600" algn="l">
              <a:spcBef>
                <a:spcPct val="40000"/>
              </a:spcBef>
              <a:buFontTx/>
              <a:buChar char="•"/>
            </a:pPr>
            <a:r>
              <a:rPr lang="en-US" sz="28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Retrieve data</a:t>
            </a:r>
          </a:p>
        </p:txBody>
      </p:sp>
      <p:pic>
        <p:nvPicPr>
          <p:cNvPr id="327696" name="Picture 16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276600" y="1143000"/>
            <a:ext cx="5638800" cy="5644335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426" name="Rectangle 2"/>
          <p:cNvSpPr>
            <a:spLocks noChangeArrowheads="1"/>
          </p:cNvSpPr>
          <p:nvPr/>
        </p:nvSpPr>
        <p:spPr bwMode="auto">
          <a:xfrm>
            <a:off x="381000" y="152400"/>
            <a:ext cx="8305800" cy="11430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8" tIns="44450" rIns="90488" bIns="44450" anchor="ctr"/>
          <a:lstStyle/>
          <a:p>
            <a:pPr algn="l"/>
            <a:endParaRPr lang="en-US" sz="3600"/>
          </a:p>
        </p:txBody>
      </p:sp>
      <p:sp>
        <p:nvSpPr>
          <p:cNvPr id="359427" name="Rectangle 3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Example IDA Site Summary Report</a:t>
            </a:r>
          </a:p>
        </p:txBody>
      </p:sp>
      <p:sp>
        <p:nvSpPr>
          <p:cNvPr id="359432" name="Text Box 8"/>
          <p:cNvSpPr txBox="1">
            <a:spLocks noChangeArrowheads="1"/>
          </p:cNvSpPr>
          <p:nvPr/>
        </p:nvSpPr>
        <p:spPr bwMode="auto">
          <a:xfrm>
            <a:off x="304800" y="2057400"/>
            <a:ext cx="2768600" cy="3078163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 lIns="90488" tIns="44450" rIns="90488" bIns="44450">
            <a:spAutoFit/>
          </a:bodyPr>
          <a:lstStyle/>
          <a:p>
            <a:pPr algn="l"/>
            <a:r>
              <a:rPr lang="en-US" sz="28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Number of days per month with data, grouped by accuracy code and water year</a:t>
            </a:r>
          </a:p>
        </p:txBody>
      </p:sp>
      <p:pic>
        <p:nvPicPr>
          <p:cNvPr id="359434" name="Picture 10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895600" y="1143000"/>
            <a:ext cx="6019800" cy="557666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450" name="Rectangle 2"/>
          <p:cNvSpPr>
            <a:spLocks noChangeArrowheads="1"/>
          </p:cNvSpPr>
          <p:nvPr/>
        </p:nvSpPr>
        <p:spPr bwMode="auto">
          <a:xfrm>
            <a:off x="381000" y="152400"/>
            <a:ext cx="8305800" cy="11430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8" tIns="44450" rIns="90488" bIns="44450" anchor="ctr"/>
          <a:lstStyle/>
          <a:p>
            <a:pPr algn="l"/>
            <a:endParaRPr lang="en-US" sz="3600"/>
          </a:p>
        </p:txBody>
      </p:sp>
      <p:sp>
        <p:nvSpPr>
          <p:cNvPr id="360451" name="Rectangle 3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Example IDA Data Retrieval</a:t>
            </a:r>
          </a:p>
        </p:txBody>
      </p:sp>
      <p:sp>
        <p:nvSpPr>
          <p:cNvPr id="360456" name="Text Box 8"/>
          <p:cNvSpPr txBox="1">
            <a:spLocks noChangeArrowheads="1"/>
          </p:cNvSpPr>
          <p:nvPr/>
        </p:nvSpPr>
        <p:spPr bwMode="auto">
          <a:xfrm>
            <a:off x="304800" y="1981200"/>
            <a:ext cx="2514600" cy="3592513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 lIns="90488" tIns="44450" rIns="90488" bIns="44450">
            <a:spAutoFit/>
          </a:bodyPr>
          <a:lstStyle/>
          <a:p>
            <a:pPr marL="228600" indent="-228600" algn="l">
              <a:spcBef>
                <a:spcPct val="40000"/>
              </a:spcBef>
              <a:buFontTx/>
              <a:buChar char="•"/>
            </a:pPr>
            <a:r>
              <a:rPr lang="en-US" sz="28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Lists date retrieved</a:t>
            </a:r>
          </a:p>
          <a:p>
            <a:pPr marL="228600" indent="-228600" algn="l">
              <a:spcBef>
                <a:spcPct val="40000"/>
              </a:spcBef>
              <a:buFontTx/>
              <a:buChar char="•"/>
            </a:pPr>
            <a:r>
              <a:rPr lang="en-US" sz="28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Header has  field definitions</a:t>
            </a:r>
          </a:p>
          <a:p>
            <a:pPr marL="228600" indent="-228600" algn="l">
              <a:spcBef>
                <a:spcPct val="40000"/>
              </a:spcBef>
              <a:buFontTx/>
              <a:buChar char="•"/>
            </a:pPr>
            <a:r>
              <a:rPr lang="en-US" sz="28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Data values</a:t>
            </a:r>
          </a:p>
          <a:p>
            <a:pPr marL="228600" indent="-228600" algn="l">
              <a:spcBef>
                <a:spcPct val="40000"/>
              </a:spcBef>
              <a:buFontTx/>
              <a:buChar char="•"/>
            </a:pPr>
            <a:r>
              <a:rPr lang="en-US" sz="28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QA codes</a:t>
            </a:r>
          </a:p>
        </p:txBody>
      </p:sp>
      <p:pic>
        <p:nvPicPr>
          <p:cNvPr id="360457" name="Picture 9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124200" y="1371600"/>
            <a:ext cx="5591633" cy="518001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6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IDA Plans</a:t>
            </a:r>
          </a:p>
        </p:txBody>
      </p:sp>
      <p:sp>
        <p:nvSpPr>
          <p:cNvPr id="3696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90600" y="1295400"/>
            <a:ext cx="7315200" cy="4495800"/>
          </a:xfrm>
        </p:spPr>
        <p:txBody>
          <a:bodyPr/>
          <a:lstStyle/>
          <a:p>
            <a:pPr>
              <a:lnSpc>
                <a:spcPct val="90000"/>
              </a:lnSpc>
              <a:spcBef>
                <a:spcPct val="25000"/>
              </a:spcBef>
              <a:buClr>
                <a:schemeClr val="bg1"/>
              </a:buClr>
              <a:buFontTx/>
              <a:buNone/>
            </a:pP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Short Term</a:t>
            </a:r>
          </a:p>
          <a:p>
            <a:pPr>
              <a:lnSpc>
                <a:spcPct val="90000"/>
              </a:lnSpc>
              <a:spcBef>
                <a:spcPct val="25000"/>
              </a:spcBef>
              <a:buClr>
                <a:schemeClr val="bg1"/>
              </a:buClr>
              <a:buSzTx/>
              <a:buFontTx/>
              <a:buChar char="•"/>
            </a:pPr>
            <a:r>
              <a:rPr lang="en-US" sz="2400" dirty="0">
                <a:solidFill>
                  <a:srgbClr val="66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Populate with discharge data from all WSCs</a:t>
            </a:r>
          </a:p>
          <a:p>
            <a:pPr>
              <a:lnSpc>
                <a:spcPct val="90000"/>
              </a:lnSpc>
              <a:spcBef>
                <a:spcPct val="25000"/>
              </a:spcBef>
              <a:buClr>
                <a:schemeClr val="bg1"/>
              </a:buClr>
              <a:buSzTx/>
              <a:buFontTx/>
              <a:buChar char="•"/>
            </a:pPr>
            <a:r>
              <a:rPr lang="en-US" sz="2400" dirty="0">
                <a:solidFill>
                  <a:srgbClr val="66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Open to </a:t>
            </a:r>
            <a:r>
              <a:rPr lang="en-US" sz="2400" dirty="0" smtClean="0">
                <a:solidFill>
                  <a:srgbClr val="66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USACE </a:t>
            </a:r>
            <a:r>
              <a:rPr lang="en-US" sz="2400" dirty="0">
                <a:solidFill>
                  <a:srgbClr val="66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and NWS after additional WSCs have added data</a:t>
            </a:r>
          </a:p>
          <a:p>
            <a:pPr>
              <a:lnSpc>
                <a:spcPct val="90000"/>
              </a:lnSpc>
              <a:spcBef>
                <a:spcPct val="25000"/>
              </a:spcBef>
              <a:buClr>
                <a:schemeClr val="bg1"/>
              </a:buClr>
              <a:buSzTx/>
              <a:buFontTx/>
              <a:buChar char="•"/>
            </a:pPr>
            <a:r>
              <a:rPr lang="en-US" sz="2400" dirty="0">
                <a:solidFill>
                  <a:srgbClr val="66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Open to the Public</a:t>
            </a:r>
          </a:p>
          <a:p>
            <a:pPr>
              <a:lnSpc>
                <a:spcPct val="90000"/>
              </a:lnSpc>
              <a:spcBef>
                <a:spcPct val="25000"/>
              </a:spcBef>
              <a:buClr>
                <a:schemeClr val="bg1"/>
              </a:buClr>
              <a:buSzTx/>
              <a:buFontTx/>
              <a:buChar char="•"/>
            </a:pPr>
            <a:endParaRPr lang="en-US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lnSpc>
                <a:spcPct val="90000"/>
              </a:lnSpc>
              <a:spcBef>
                <a:spcPct val="25000"/>
              </a:spcBef>
              <a:buClr>
                <a:schemeClr val="bg1"/>
              </a:buClr>
              <a:buSzTx/>
              <a:buFontTx/>
              <a:buNone/>
            </a:pP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Long Term</a:t>
            </a:r>
          </a:p>
          <a:p>
            <a:pPr>
              <a:lnSpc>
                <a:spcPct val="90000"/>
              </a:lnSpc>
              <a:spcBef>
                <a:spcPct val="25000"/>
              </a:spcBef>
              <a:buClr>
                <a:schemeClr val="bg1"/>
              </a:buClr>
              <a:buSzTx/>
              <a:buFontTx/>
              <a:buChar char="•"/>
            </a:pPr>
            <a:r>
              <a:rPr lang="en-US" sz="2400" dirty="0">
                <a:solidFill>
                  <a:srgbClr val="66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Add other data types</a:t>
            </a:r>
          </a:p>
          <a:p>
            <a:pPr>
              <a:lnSpc>
                <a:spcPct val="90000"/>
              </a:lnSpc>
              <a:spcBef>
                <a:spcPct val="25000"/>
              </a:spcBef>
              <a:buClr>
                <a:schemeClr val="bg1"/>
              </a:buClr>
              <a:buSzTx/>
              <a:buFontTx/>
              <a:buChar char="•"/>
            </a:pPr>
            <a:r>
              <a:rPr lang="en-US" sz="2400" dirty="0">
                <a:solidFill>
                  <a:srgbClr val="66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Close 18 month gap between IDA and </a:t>
            </a:r>
            <a:r>
              <a:rPr lang="en-US" sz="2400" dirty="0" err="1">
                <a:solidFill>
                  <a:srgbClr val="66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NWISWeb</a:t>
            </a:r>
            <a:endParaRPr lang="en-US" sz="2400" dirty="0">
              <a:solidFill>
                <a:srgbClr val="66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ark-blue-templat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dark-blue-templat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none" lIns="90488" tIns="44450" rIns="90488" bIns="4445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3200" b="1" i="0" u="none" strike="noStrike" cap="none" normalizeH="0" baseline="0" smtClean="0">
            <a:ln>
              <a:noFill/>
            </a:ln>
            <a:solidFill>
              <a:srgbClr val="FFFF99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none" lIns="90488" tIns="44450" rIns="90488" bIns="4445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3200" b="1" i="0" u="none" strike="noStrike" cap="none" normalizeH="0" baseline="0" smtClean="0">
            <a:ln>
              <a:noFill/>
            </a:ln>
            <a:solidFill>
              <a:srgbClr val="FFFF99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dark-blue-templat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ark-blue-templat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ark-blue-templat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ark-blue-templat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ark-blue-templat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ark-blue-templat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ark-blue-templat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D:\PPoint\USGStemplates\dark-blue-template.pot</Template>
  <TotalTime>5135</TotalTime>
  <Pages>4</Pages>
  <Words>459</Words>
  <Application>Microsoft PowerPoint 4.0</Application>
  <PresentationFormat>On-screen Show (4:3)</PresentationFormat>
  <Paragraphs>60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Times New Roman</vt:lpstr>
      <vt:lpstr>Arial</vt:lpstr>
      <vt:lpstr>Wingdings</vt:lpstr>
      <vt:lpstr>dark-blue-template</vt:lpstr>
      <vt:lpstr>USGS Instantaneous Data Archive</vt:lpstr>
      <vt:lpstr>What are USGS “Instantaneous Data”</vt:lpstr>
      <vt:lpstr>What is the USGS Instantaneous Data Archive (IDA)</vt:lpstr>
      <vt:lpstr>IDA Challenges</vt:lpstr>
      <vt:lpstr>IDA Initial System Design</vt:lpstr>
      <vt:lpstr>IDA Discharge Data Automated QA Tests</vt:lpstr>
      <vt:lpstr>IDA versus NWISWeb</vt:lpstr>
      <vt:lpstr>IDA Current Status</vt:lpstr>
      <vt:lpstr>IDA Current Status</vt:lpstr>
      <vt:lpstr>IDA Web Interface</vt:lpstr>
      <vt:lpstr>Example IDA Site Page </vt:lpstr>
      <vt:lpstr>Example IDA Site Summary Report</vt:lpstr>
      <vt:lpstr>Example IDA Data Retrieval</vt:lpstr>
      <vt:lpstr>IDA Plans</vt:lpstr>
    </vt:vector>
  </TitlesOfParts>
  <Company>USGS</Company>
  <LinksUpToDate>false</LinksUpToDate>
  <SharedDoc>false</SharedDoc>
  <HyperlinkBase>http://www.usgs.gov/visual-id/specs/slides/slide.html</HyperlinkBase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COE/NWS/USGS 2006 Meeting</dc:title>
  <dc:subject>Instantaneous Data Archive presentation</dc:subject>
  <dc:creator>tortel</dc:creator>
  <cp:keywords/>
  <cp:lastModifiedBy>D. Phil Turnipseed</cp:lastModifiedBy>
  <cp:revision>261</cp:revision>
  <cp:lastPrinted>1998-03-23T17:09:44Z</cp:lastPrinted>
  <dcterms:created xsi:type="dcterms:W3CDTF">2004-09-13T16:33:04Z</dcterms:created>
  <dcterms:modified xsi:type="dcterms:W3CDTF">2007-03-27T03:05:01Z</dcterms:modified>
</cp:coreProperties>
</file>