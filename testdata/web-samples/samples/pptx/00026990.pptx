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30264100" cy="42799000"/>
  <p:notesSz cx="6858000" cy="9144000"/>
  <p:embeddedFontLst>
    <p:embeddedFont>
      <p:font typeface="Calibri" pitchFamily="34" charset="0"/>
      <p:regular r:id="rId4"/>
      <p:bold r:id="rId5"/>
      <p:italic r:id="rId6"/>
      <p:boldItalic r:id="rId7"/>
    </p:embeddedFont>
    <p:embeddedFont>
      <p:font typeface="Candara Bold" pitchFamily="34" charset="0"/>
      <p:bold r:id="rId8"/>
    </p:embeddedFont>
    <p:embeddedFont>
      <p:font typeface="Candara" pitchFamily="34" charset="0"/>
      <p:regular r:id="rId9"/>
      <p:bold r:id="rId10"/>
      <p:italic r:id="rId11"/>
      <p:boldItalic r:id="rId12"/>
    </p:embeddedFont>
    <p:embeddedFont>
      <p:font typeface="Candara Bold Italic" pitchFamily="34" charset="0"/>
      <p:boldItalic r:id="rId13"/>
    </p:embeddedFont>
  </p:embeddedFont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0C0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44" d="100"/>
          <a:sy n="44" d="100"/>
        </p:scale>
        <p:origin x="-72" y="6750"/>
      </p:cViewPr>
      <p:guideLst>
        <p:guide orient="horz" pos="13480"/>
        <p:guide pos="9532"/>
      </p:guideLst>
    </p:cSldViewPr>
  </p:slideViewPr>
  <p:notesTextViewPr>
    <p:cViewPr>
      <p:scale>
        <a:sx n="87" d="100"/>
        <a:sy n="87"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a:lvl1pPr>
          </a:lstStyle>
          <a:p>
            <a:pPr>
              <a:defRPr/>
            </a:pPr>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B553E0B4-B053-4057-911B-3FB5B13D0CB3}" type="datetimeFigureOut">
              <a:rPr lang="en-AU"/>
              <a:pPr>
                <a:defRPr/>
              </a:pPr>
              <a:t>11/11/2011</a:t>
            </a:fld>
            <a:endParaRPr lang="en-AU" dirty="0"/>
          </a:p>
        </p:txBody>
      </p:sp>
      <p:sp>
        <p:nvSpPr>
          <p:cNvPr id="4" name="Slide Image Placehold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pPr lvl="0"/>
            <a:endParaRPr lang="en-AU"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AU"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dirty="0"/>
            </a:lvl1pPr>
          </a:lstStyle>
          <a:p>
            <a:pPr>
              <a:defRPr/>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CBBBC78-1700-4DDB-A037-47F7A7081BB3}" type="slidenum">
              <a:rPr lang="en-AU"/>
              <a:pPr>
                <a:defRPr/>
              </a:pPr>
              <a:t>‹#›</a:t>
            </a:fld>
            <a:endParaRPr lang="en-AU"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p:spPr>
      </p:sp>
      <p:sp>
        <p:nvSpPr>
          <p:cNvPr id="40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AU" smtClean="0"/>
          </a:p>
        </p:txBody>
      </p:sp>
      <p:sp>
        <p:nvSpPr>
          <p:cNvPr id="41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E4A6982-3D2A-4938-AA30-07FFFAAFB956}" type="slidenum">
              <a:rPr lang="en-AU" smtClean="0"/>
              <a:pPr/>
              <a:t>1</a:t>
            </a:fld>
            <a:endParaRPr lang="en-AU"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9809" y="13295439"/>
            <a:ext cx="25724485" cy="9174045"/>
          </a:xfrm>
        </p:spPr>
        <p:txBody>
          <a:bodyPr/>
          <a:lstStyle/>
          <a:p>
            <a:r>
              <a:rPr lang="en-US" smtClean="0"/>
              <a:t>Click to edit Master title style</a:t>
            </a:r>
            <a:endParaRPr lang="en-AU"/>
          </a:p>
        </p:txBody>
      </p:sp>
      <p:sp>
        <p:nvSpPr>
          <p:cNvPr id="3" name="Subtitle 2"/>
          <p:cNvSpPr>
            <a:spLocks noGrp="1"/>
          </p:cNvSpPr>
          <p:nvPr>
            <p:ph type="subTitle" idx="1"/>
          </p:nvPr>
        </p:nvSpPr>
        <p:spPr>
          <a:xfrm>
            <a:off x="4539615" y="24252767"/>
            <a:ext cx="21184870" cy="10937522"/>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pPr>
              <a:defRPr/>
            </a:pPr>
            <a:fld id="{97043CEB-0CEB-4C36-82A6-EFCDF6AF41EE}" type="datetimeFigureOut">
              <a:rPr lang="en-AU"/>
              <a:pPr>
                <a:defRPr/>
              </a:pPr>
              <a:t>11/11/2011</a:t>
            </a:fld>
            <a:endParaRPr lang="en-AU" dirty="0"/>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95537C09-78ED-442A-B72E-2FA4BE2699E8}" type="slidenum">
              <a:rPr lang="en-AU"/>
              <a:pPr>
                <a:defRPr/>
              </a:pPr>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9D482255-91AD-4356-B734-B800150982A5}" type="datetimeFigureOut">
              <a:rPr lang="en-AU"/>
              <a:pPr>
                <a:defRPr/>
              </a:pPr>
              <a:t>11/11/2011</a:t>
            </a:fld>
            <a:endParaRPr lang="en-AU" dirty="0"/>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B4C31DCE-3099-4E06-BCB1-37C854D44C89}" type="slidenum">
              <a:rPr lang="en-AU"/>
              <a:pPr>
                <a:defRPr/>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0656" y="27502330"/>
            <a:ext cx="25724485" cy="8500357"/>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2390656" y="18140045"/>
            <a:ext cx="25724485" cy="936227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561E49E-9DDF-42E6-B839-C82BAA46B5C9}" type="datetimeFigureOut">
              <a:rPr lang="en-AU"/>
              <a:pPr>
                <a:defRPr/>
              </a:pPr>
              <a:t>11/11/2011</a:t>
            </a:fld>
            <a:endParaRPr lang="en-AU" dirty="0"/>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AF4A8D7D-A65B-476F-8DC3-2C6B7CA4353D}" type="slidenum">
              <a:rPr lang="en-AU"/>
              <a:pPr>
                <a:defRPr/>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5007239" y="9986443"/>
            <a:ext cx="44823442" cy="28245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50335084" y="9986443"/>
            <a:ext cx="44823446" cy="28245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p:txBody>
          <a:bodyPr/>
          <a:lstStyle>
            <a:lvl1pPr>
              <a:defRPr/>
            </a:lvl1pPr>
          </a:lstStyle>
          <a:p>
            <a:pPr>
              <a:defRPr/>
            </a:pPr>
            <a:fld id="{BC956642-4721-4D87-AC16-E8C31BF971E3}" type="datetimeFigureOut">
              <a:rPr lang="en-AU"/>
              <a:pPr>
                <a:defRPr/>
              </a:pPr>
              <a:t>11/11/2011</a:t>
            </a:fld>
            <a:endParaRPr lang="en-AU" dirty="0"/>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4BAD6187-D280-41C9-A2DE-F5D4E0C522FC}" type="slidenum">
              <a:rPr lang="en-AU"/>
              <a:pPr>
                <a:defRPr/>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205" y="1713944"/>
            <a:ext cx="27237690" cy="7133167"/>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1513205" y="9580242"/>
            <a:ext cx="13371900" cy="399258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13205" y="13572831"/>
            <a:ext cx="13371900" cy="2465896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15373745" y="9580242"/>
            <a:ext cx="13377153" cy="399258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15373745" y="13572831"/>
            <a:ext cx="13377153" cy="2465896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p:txBody>
          <a:bodyPr/>
          <a:lstStyle>
            <a:lvl1pPr>
              <a:defRPr/>
            </a:lvl1pPr>
          </a:lstStyle>
          <a:p>
            <a:pPr>
              <a:defRPr/>
            </a:pPr>
            <a:fld id="{43A93ED7-5343-4E6E-B193-20247808AF24}" type="datetimeFigureOut">
              <a:rPr lang="en-AU"/>
              <a:pPr>
                <a:defRPr/>
              </a:pPr>
              <a:t>11/11/2011</a:t>
            </a:fld>
            <a:endParaRPr lang="en-AU" dirty="0"/>
          </a:p>
        </p:txBody>
      </p:sp>
      <p:sp>
        <p:nvSpPr>
          <p:cNvPr id="8" name="Footer Placeholder 4"/>
          <p:cNvSpPr>
            <a:spLocks noGrp="1"/>
          </p:cNvSpPr>
          <p:nvPr>
            <p:ph type="ftr" sz="quarter" idx="11"/>
          </p:nvPr>
        </p:nvSpPr>
        <p:spPr/>
        <p:txBody>
          <a:bodyPr/>
          <a:lstStyle>
            <a:lvl1pPr>
              <a:defRPr/>
            </a:lvl1pPr>
          </a:lstStyle>
          <a:p>
            <a:pPr>
              <a:defRPr/>
            </a:pPr>
            <a:endParaRPr lang="en-AU"/>
          </a:p>
        </p:txBody>
      </p:sp>
      <p:sp>
        <p:nvSpPr>
          <p:cNvPr id="9" name="Slide Number Placeholder 5"/>
          <p:cNvSpPr>
            <a:spLocks noGrp="1"/>
          </p:cNvSpPr>
          <p:nvPr>
            <p:ph type="sldNum" sz="quarter" idx="12"/>
          </p:nvPr>
        </p:nvSpPr>
        <p:spPr/>
        <p:txBody>
          <a:bodyPr/>
          <a:lstStyle>
            <a:lvl1pPr>
              <a:defRPr/>
            </a:lvl1pPr>
          </a:lstStyle>
          <a:p>
            <a:pPr>
              <a:defRPr/>
            </a:pPr>
            <a:fld id="{B7343B1F-372B-428D-B0FF-A370A45750BA}" type="slidenum">
              <a:rPr lang="en-AU"/>
              <a:pPr>
                <a:defRPr/>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3"/>
          <p:cNvSpPr>
            <a:spLocks noGrp="1"/>
          </p:cNvSpPr>
          <p:nvPr>
            <p:ph type="dt" sz="half" idx="10"/>
          </p:nvPr>
        </p:nvSpPr>
        <p:spPr/>
        <p:txBody>
          <a:bodyPr/>
          <a:lstStyle>
            <a:lvl1pPr>
              <a:defRPr/>
            </a:lvl1pPr>
          </a:lstStyle>
          <a:p>
            <a:pPr>
              <a:defRPr/>
            </a:pPr>
            <a:fld id="{A6F224FB-9549-4112-A6D9-72E818415EF9}" type="datetimeFigureOut">
              <a:rPr lang="en-AU"/>
              <a:pPr>
                <a:defRPr/>
              </a:pPr>
              <a:t>11/11/2011</a:t>
            </a:fld>
            <a:endParaRPr lang="en-AU" dirty="0"/>
          </a:p>
        </p:txBody>
      </p:sp>
      <p:sp>
        <p:nvSpPr>
          <p:cNvPr id="4" name="Footer Placeholder 4"/>
          <p:cNvSpPr>
            <a:spLocks noGrp="1"/>
          </p:cNvSpPr>
          <p:nvPr>
            <p:ph type="ftr" sz="quarter" idx="11"/>
          </p:nvPr>
        </p:nvSpPr>
        <p:spPr/>
        <p:txBody>
          <a:bodyPr/>
          <a:lstStyle>
            <a:lvl1pPr>
              <a:defRPr/>
            </a:lvl1pPr>
          </a:lstStyle>
          <a:p>
            <a:pPr>
              <a:defRPr/>
            </a:pPr>
            <a:endParaRPr lang="en-AU"/>
          </a:p>
        </p:txBody>
      </p:sp>
      <p:sp>
        <p:nvSpPr>
          <p:cNvPr id="5" name="Slide Number Placeholder 5"/>
          <p:cNvSpPr>
            <a:spLocks noGrp="1"/>
          </p:cNvSpPr>
          <p:nvPr>
            <p:ph type="sldNum" sz="quarter" idx="12"/>
          </p:nvPr>
        </p:nvSpPr>
        <p:spPr/>
        <p:txBody>
          <a:bodyPr/>
          <a:lstStyle>
            <a:lvl1pPr>
              <a:defRPr/>
            </a:lvl1pPr>
          </a:lstStyle>
          <a:p>
            <a:pPr>
              <a:defRPr/>
            </a:pPr>
            <a:fld id="{0DCE0DCE-6A0A-4D71-99F8-338997060DB9}" type="slidenum">
              <a:rPr lang="en-AU"/>
              <a:pPr>
                <a:defRPr/>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9FF0C52-8016-4AF8-99D0-5D568CDD6F2B}" type="datetimeFigureOut">
              <a:rPr lang="en-AU"/>
              <a:pPr>
                <a:defRPr/>
              </a:pPr>
              <a:t>11/11/2011</a:t>
            </a:fld>
            <a:endParaRPr lang="en-AU" dirty="0"/>
          </a:p>
        </p:txBody>
      </p:sp>
      <p:sp>
        <p:nvSpPr>
          <p:cNvPr id="3" name="Footer Placeholder 4"/>
          <p:cNvSpPr>
            <a:spLocks noGrp="1"/>
          </p:cNvSpPr>
          <p:nvPr>
            <p:ph type="ftr" sz="quarter" idx="11"/>
          </p:nvPr>
        </p:nvSpPr>
        <p:spPr/>
        <p:txBody>
          <a:bodyPr/>
          <a:lstStyle>
            <a:lvl1pPr>
              <a:defRPr/>
            </a:lvl1pPr>
          </a:lstStyle>
          <a:p>
            <a:pPr>
              <a:defRPr/>
            </a:pPr>
            <a:endParaRPr lang="en-AU"/>
          </a:p>
        </p:txBody>
      </p:sp>
      <p:sp>
        <p:nvSpPr>
          <p:cNvPr id="4" name="Slide Number Placeholder 5"/>
          <p:cNvSpPr>
            <a:spLocks noGrp="1"/>
          </p:cNvSpPr>
          <p:nvPr>
            <p:ph type="sldNum" sz="quarter" idx="12"/>
          </p:nvPr>
        </p:nvSpPr>
        <p:spPr/>
        <p:txBody>
          <a:bodyPr/>
          <a:lstStyle>
            <a:lvl1pPr>
              <a:defRPr/>
            </a:lvl1pPr>
          </a:lstStyle>
          <a:p>
            <a:pPr>
              <a:defRPr/>
            </a:pPr>
            <a:fld id="{892DB9E1-AF56-413B-AFC0-0D591E794037}" type="slidenum">
              <a:rPr lang="en-AU"/>
              <a:pPr>
                <a:defRPr/>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207" y="1704034"/>
            <a:ext cx="9956680" cy="7252053"/>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11832423" y="1704044"/>
            <a:ext cx="16918473" cy="365277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1513207" y="8956096"/>
            <a:ext cx="9956680" cy="2927570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4A76F85-986C-4B03-9368-A2917CE70434}" type="datetimeFigureOut">
              <a:rPr lang="en-AU"/>
              <a:pPr>
                <a:defRPr/>
              </a:pPr>
              <a:t>11/11/2011</a:t>
            </a:fld>
            <a:endParaRPr lang="en-AU" dirty="0"/>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59758DF2-0961-44EC-BF78-0950E47AD527}" type="slidenum">
              <a:rPr lang="en-AU"/>
              <a:pPr>
                <a:defRPr/>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1975" y="29959300"/>
            <a:ext cx="18158460" cy="3536865"/>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5931975" y="3824170"/>
            <a:ext cx="18158460" cy="25679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dirty="0" smtClean="0"/>
          </a:p>
        </p:txBody>
      </p:sp>
      <p:sp>
        <p:nvSpPr>
          <p:cNvPr id="4" name="Text Placeholder 3"/>
          <p:cNvSpPr>
            <a:spLocks noGrp="1"/>
          </p:cNvSpPr>
          <p:nvPr>
            <p:ph type="body" sz="half" idx="2"/>
          </p:nvPr>
        </p:nvSpPr>
        <p:spPr>
          <a:xfrm>
            <a:off x="5931975" y="33496165"/>
            <a:ext cx="18158460" cy="502293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913850D-EDF2-4791-A49E-CF7E40DBFE36}" type="datetimeFigureOut">
              <a:rPr lang="en-AU"/>
              <a:pPr>
                <a:defRPr/>
              </a:pPr>
              <a:t>11/11/2011</a:t>
            </a:fld>
            <a:endParaRPr lang="en-AU" dirty="0"/>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76312D7E-8EC0-4A4B-BCFC-1A78610CC70B}" type="slidenum">
              <a:rPr lang="en-AU"/>
              <a:pPr>
                <a:defRPr/>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39526F36-5210-46C3-BF93-DD99C0300AD4}" type="datetimeFigureOut">
              <a:rPr lang="en-AU"/>
              <a:pPr>
                <a:defRPr/>
              </a:pPr>
              <a:t>11/11/2011</a:t>
            </a:fld>
            <a:endParaRPr lang="en-AU" dirty="0"/>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F9C6D1F1-4EC7-4136-8BB4-7EF889D9EAF8}" type="slidenum">
              <a:rPr lang="en-AU"/>
              <a:pPr>
                <a:defRPr/>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623333" y="1713954"/>
            <a:ext cx="22535197" cy="3651785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5007242" y="1713954"/>
            <a:ext cx="67111691" cy="36517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C8708EC2-4A6E-4C23-845D-A532DBAC9433}" type="datetimeFigureOut">
              <a:rPr lang="en-AU"/>
              <a:pPr>
                <a:defRPr/>
              </a:pPr>
              <a:t>11/11/2011</a:t>
            </a:fld>
            <a:endParaRPr lang="en-AU" dirty="0"/>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D9407A8A-9518-4AE7-985F-47B642BB0CCD}" type="slidenum">
              <a:rPr lang="en-AU"/>
              <a:pPr>
                <a:defRPr/>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512888" y="1714500"/>
            <a:ext cx="27238325" cy="7132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AU" smtClean="0"/>
          </a:p>
        </p:txBody>
      </p:sp>
      <p:sp>
        <p:nvSpPr>
          <p:cNvPr id="1027" name="Text Placeholder 2"/>
          <p:cNvSpPr>
            <a:spLocks noGrp="1"/>
          </p:cNvSpPr>
          <p:nvPr>
            <p:ph type="body" idx="1"/>
          </p:nvPr>
        </p:nvSpPr>
        <p:spPr bwMode="auto">
          <a:xfrm>
            <a:off x="1512888" y="9986963"/>
            <a:ext cx="27238325" cy="2824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smtClean="0"/>
          </a:p>
        </p:txBody>
      </p:sp>
      <p:sp>
        <p:nvSpPr>
          <p:cNvPr id="4" name="Date Placeholder 3"/>
          <p:cNvSpPr>
            <a:spLocks noGrp="1"/>
          </p:cNvSpPr>
          <p:nvPr>
            <p:ph type="dt" sz="half" idx="2"/>
          </p:nvPr>
        </p:nvSpPr>
        <p:spPr>
          <a:xfrm>
            <a:off x="1512888" y="39668450"/>
            <a:ext cx="7061200" cy="2278063"/>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1F345FD1-7940-4F77-B031-33218936CE62}" type="datetimeFigureOut">
              <a:rPr lang="en-AU"/>
              <a:pPr>
                <a:defRPr/>
              </a:pPr>
              <a:t>11/11/2011</a:t>
            </a:fld>
            <a:endParaRPr lang="en-AU" dirty="0"/>
          </a:p>
        </p:txBody>
      </p:sp>
      <p:sp>
        <p:nvSpPr>
          <p:cNvPr id="5" name="Footer Placeholder 4"/>
          <p:cNvSpPr>
            <a:spLocks noGrp="1"/>
          </p:cNvSpPr>
          <p:nvPr>
            <p:ph type="ftr" sz="quarter" idx="3"/>
          </p:nvPr>
        </p:nvSpPr>
        <p:spPr>
          <a:xfrm>
            <a:off x="10340975" y="39668450"/>
            <a:ext cx="9582150" cy="2278063"/>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defRPr>
            </a:lvl1pPr>
          </a:lstStyle>
          <a:p>
            <a:pPr>
              <a:defRPr/>
            </a:pPr>
            <a:endParaRPr lang="en-AU"/>
          </a:p>
        </p:txBody>
      </p:sp>
      <p:sp>
        <p:nvSpPr>
          <p:cNvPr id="6" name="Slide Number Placeholder 5"/>
          <p:cNvSpPr>
            <a:spLocks noGrp="1"/>
          </p:cNvSpPr>
          <p:nvPr>
            <p:ph type="sldNum" sz="quarter" idx="4"/>
          </p:nvPr>
        </p:nvSpPr>
        <p:spPr>
          <a:xfrm>
            <a:off x="21690013" y="39668450"/>
            <a:ext cx="7061200" cy="2278063"/>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BCCD0002-68E3-41C7-935A-7F8BAC272AD5}" type="slidenum">
              <a:rPr lang="en-AU"/>
              <a:pPr>
                <a:defRPr/>
              </a:pPr>
              <a:t>‹#›</a:t>
            </a:fld>
            <a:endParaRPr lang="en-A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cstate="print">
            <a:duotone>
              <a:prstClr val="black"/>
              <a:schemeClr val="accent1">
                <a:tint val="45000"/>
                <a:satMod val="400000"/>
              </a:schemeClr>
            </a:duotone>
            <a:lum contrast="66000"/>
          </a:blip>
          <a:tile tx="0" ty="0" sx="100000" sy="100000" flip="none" algn="tl"/>
        </a:blipFill>
        <a:effectLst/>
      </p:bgPr>
    </p:bg>
    <p:spTree>
      <p:nvGrpSpPr>
        <p:cNvPr id="1" name=""/>
        <p:cNvGrpSpPr/>
        <p:nvPr/>
      </p:nvGrpSpPr>
      <p:grpSpPr>
        <a:xfrm>
          <a:off x="0" y="0"/>
          <a:ext cx="0" cy="0"/>
          <a:chOff x="0" y="0"/>
          <a:chExt cx="0" cy="0"/>
        </a:xfrm>
      </p:grpSpPr>
      <p:pic>
        <p:nvPicPr>
          <p:cNvPr id="2050" name="Picture 1" descr="pceB.tmp"/>
          <p:cNvPicPr>
            <a:picLocks/>
          </p:cNvPicPr>
          <p:nvPr/>
        </p:nvPicPr>
        <p:blipFill>
          <a:blip r:embed="rId4" cstate="print"/>
          <a:srcRect/>
          <a:stretch>
            <a:fillRect/>
          </a:stretch>
        </p:blipFill>
        <p:spPr bwMode="auto">
          <a:xfrm>
            <a:off x="0" y="0"/>
            <a:ext cx="30264100" cy="42799000"/>
          </a:xfrm>
          <a:prstGeom prst="rect">
            <a:avLst/>
          </a:prstGeom>
          <a:ln>
            <a:noFill/>
          </a:ln>
          <a:effectLst>
            <a:softEdge rad="112500"/>
          </a:effectLst>
        </p:spPr>
      </p:pic>
      <p:sp>
        <p:nvSpPr>
          <p:cNvPr id="2051" name="TextBox 2"/>
          <p:cNvSpPr txBox="1">
            <a:spLocks noChangeArrowheads="1"/>
          </p:cNvSpPr>
          <p:nvPr/>
        </p:nvSpPr>
        <p:spPr bwMode="auto">
          <a:xfrm>
            <a:off x="5262563" y="1268413"/>
            <a:ext cx="19878675" cy="2630487"/>
          </a:xfrm>
          <a:prstGeom prst="rect">
            <a:avLst/>
          </a:prstGeom>
          <a:noFill/>
          <a:ln w="9525">
            <a:noFill/>
            <a:miter lim="800000"/>
            <a:headEnd/>
            <a:tailEnd/>
          </a:ln>
        </p:spPr>
        <p:txBody>
          <a:bodyPr lIns="0">
            <a:spAutoFit/>
          </a:bodyPr>
          <a:lstStyle/>
          <a:p>
            <a:pPr marL="5516563" indent="-5516563" algn="just">
              <a:lnSpc>
                <a:spcPts val="9900"/>
              </a:lnSpc>
            </a:pPr>
            <a:r>
              <a:rPr lang="en-AU" sz="9000">
                <a:solidFill>
                  <a:srgbClr val="FFFFFF"/>
                </a:solidFill>
                <a:latin typeface="Candara Bold" pitchFamily="34" charset="0"/>
              </a:rPr>
              <a:t>Identifying the Presence of Psychopathy in the Community </a:t>
            </a:r>
          </a:p>
        </p:txBody>
      </p:sp>
      <p:sp>
        <p:nvSpPr>
          <p:cNvPr id="2052" name="TextBox 3"/>
          <p:cNvSpPr txBox="1">
            <a:spLocks noChangeArrowheads="1"/>
          </p:cNvSpPr>
          <p:nvPr/>
        </p:nvSpPr>
        <p:spPr bwMode="auto">
          <a:xfrm>
            <a:off x="8986838" y="4621213"/>
            <a:ext cx="25803225" cy="742950"/>
          </a:xfrm>
          <a:prstGeom prst="rect">
            <a:avLst/>
          </a:prstGeom>
          <a:noFill/>
          <a:ln w="9525">
            <a:noFill/>
            <a:miter lim="800000"/>
            <a:headEnd/>
            <a:tailEnd/>
          </a:ln>
        </p:spPr>
        <p:txBody>
          <a:bodyPr lIns="0">
            <a:spAutoFit/>
          </a:bodyPr>
          <a:lstStyle/>
          <a:p>
            <a:pPr algn="just">
              <a:lnSpc>
                <a:spcPts val="5000"/>
              </a:lnSpc>
            </a:pPr>
            <a:r>
              <a:rPr lang="en-AU" sz="5000">
                <a:solidFill>
                  <a:srgbClr val="FFFFFF"/>
                </a:solidFill>
                <a:latin typeface="Candara" pitchFamily="34" charset="0"/>
              </a:rPr>
              <a:t>A Study into Social Functioning and Deception</a:t>
            </a:r>
          </a:p>
        </p:txBody>
      </p:sp>
      <p:sp>
        <p:nvSpPr>
          <p:cNvPr id="2053" name="TextBox 4"/>
          <p:cNvSpPr txBox="1">
            <a:spLocks noChangeArrowheads="1"/>
          </p:cNvSpPr>
          <p:nvPr/>
        </p:nvSpPr>
        <p:spPr bwMode="auto">
          <a:xfrm>
            <a:off x="4237038" y="5918200"/>
            <a:ext cx="21088350" cy="490538"/>
          </a:xfrm>
          <a:prstGeom prst="rect">
            <a:avLst/>
          </a:prstGeom>
          <a:noFill/>
          <a:ln w="9525">
            <a:noFill/>
            <a:miter lim="800000"/>
            <a:headEnd/>
            <a:tailEnd/>
          </a:ln>
        </p:spPr>
        <p:txBody>
          <a:bodyPr wrap="none" lIns="0">
            <a:spAutoFit/>
          </a:bodyPr>
          <a:lstStyle/>
          <a:p>
            <a:pPr algn="just">
              <a:lnSpc>
                <a:spcPts val="3100"/>
              </a:lnSpc>
            </a:pPr>
            <a:r>
              <a:rPr lang="en-AU" sz="3100">
                <a:solidFill>
                  <a:srgbClr val="FFFFFF"/>
                </a:solidFill>
                <a:latin typeface="Candara" pitchFamily="34" charset="0"/>
              </a:rPr>
              <a:t>      Freya Samson, James Freeman, Gavan Palk  |  Queensland University of Technology  |  School of Psychology and Counselling </a:t>
            </a:r>
          </a:p>
        </p:txBody>
      </p:sp>
      <p:sp>
        <p:nvSpPr>
          <p:cNvPr id="2054" name="TextBox 5"/>
          <p:cNvSpPr txBox="1">
            <a:spLocks noChangeArrowheads="1"/>
          </p:cNvSpPr>
          <p:nvPr/>
        </p:nvSpPr>
        <p:spPr bwMode="auto">
          <a:xfrm>
            <a:off x="3063875" y="7654925"/>
            <a:ext cx="3108325" cy="677863"/>
          </a:xfrm>
          <a:prstGeom prst="rect">
            <a:avLst/>
          </a:prstGeom>
          <a:noFill/>
          <a:ln w="9525">
            <a:noFill/>
            <a:miter lim="800000"/>
            <a:headEnd/>
            <a:tailEnd/>
          </a:ln>
        </p:spPr>
        <p:txBody>
          <a:bodyPr wrap="none" lIns="0">
            <a:spAutoFit/>
          </a:bodyPr>
          <a:lstStyle/>
          <a:p>
            <a:pPr algn="just">
              <a:lnSpc>
                <a:spcPts val="4500"/>
              </a:lnSpc>
            </a:pPr>
            <a:r>
              <a:rPr lang="en-AU" sz="4500">
                <a:solidFill>
                  <a:srgbClr val="FFFFFF"/>
                </a:solidFill>
                <a:latin typeface="Candara Bold" pitchFamily="34" charset="0"/>
              </a:rPr>
              <a:t>RATIONALE </a:t>
            </a:r>
          </a:p>
        </p:txBody>
      </p:sp>
      <p:sp>
        <p:nvSpPr>
          <p:cNvPr id="2055" name="TextBox 6"/>
          <p:cNvSpPr txBox="1">
            <a:spLocks noChangeArrowheads="1"/>
          </p:cNvSpPr>
          <p:nvPr/>
        </p:nvSpPr>
        <p:spPr bwMode="auto">
          <a:xfrm>
            <a:off x="2768600" y="8382000"/>
            <a:ext cx="13854113" cy="2190750"/>
          </a:xfrm>
          <a:prstGeom prst="rect">
            <a:avLst/>
          </a:prstGeom>
          <a:noFill/>
          <a:ln w="9525">
            <a:noFill/>
            <a:miter lim="800000"/>
            <a:headEnd/>
            <a:tailEnd/>
          </a:ln>
        </p:spPr>
        <p:txBody>
          <a:bodyPr lIns="0">
            <a:spAutoFit/>
          </a:bodyPr>
          <a:lstStyle/>
          <a:p>
            <a:pPr>
              <a:lnSpc>
                <a:spcPts val="3275"/>
              </a:lnSpc>
            </a:pPr>
            <a:r>
              <a:rPr lang="en-AU">
                <a:solidFill>
                  <a:srgbClr val="3F99FF"/>
                </a:solidFill>
              </a:rPr>
              <a:t>●</a:t>
            </a:r>
            <a:r>
              <a:rPr lang="en-AU" sz="2800">
                <a:solidFill>
                  <a:srgbClr val="FFFFFF"/>
                </a:solidFill>
                <a:latin typeface="Candara" pitchFamily="34" charset="0"/>
              </a:rPr>
              <a:t>   </a:t>
            </a:r>
            <a:r>
              <a:rPr lang="en-AU" sz="2600">
                <a:solidFill>
                  <a:srgbClr val="FFFFFF"/>
                </a:solidFill>
                <a:latin typeface="Candara" pitchFamily="34" charset="0"/>
              </a:rPr>
              <a:t> Preliminary research suggests approximately 1% of the population have psychopathic</a:t>
            </a:r>
          </a:p>
          <a:p>
            <a:pPr>
              <a:lnSpc>
                <a:spcPts val="3275"/>
              </a:lnSpc>
            </a:pPr>
            <a:r>
              <a:rPr lang="en-AU" sz="2600">
                <a:solidFill>
                  <a:srgbClr val="FFFFFF"/>
                </a:solidFill>
                <a:latin typeface="Candara" pitchFamily="34" charset="0"/>
              </a:rPr>
              <a:t>      tendencies (Boddy, 2006), traditionally assumed to result in criminal convictions (Neumann &amp;</a:t>
            </a:r>
          </a:p>
          <a:p>
            <a:pPr>
              <a:lnSpc>
                <a:spcPts val="3275"/>
              </a:lnSpc>
            </a:pPr>
            <a:r>
              <a:rPr lang="en-AU" sz="2600">
                <a:solidFill>
                  <a:srgbClr val="FFFFFF"/>
                </a:solidFill>
                <a:latin typeface="Candara" pitchFamily="34" charset="0"/>
              </a:rPr>
              <a:t>      Hare, 2008). </a:t>
            </a:r>
          </a:p>
          <a:p>
            <a:pPr>
              <a:lnSpc>
                <a:spcPts val="3275"/>
              </a:lnSpc>
            </a:pPr>
            <a:r>
              <a:rPr lang="en-AU">
                <a:solidFill>
                  <a:srgbClr val="3F99FF"/>
                </a:solidFill>
              </a:rPr>
              <a:t>●</a:t>
            </a:r>
            <a:r>
              <a:rPr lang="en-AU" sz="2800">
                <a:solidFill>
                  <a:srgbClr val="FFFFFF"/>
                </a:solidFill>
                <a:latin typeface="Candara" pitchFamily="34" charset="0"/>
              </a:rPr>
              <a:t>   </a:t>
            </a:r>
            <a:r>
              <a:rPr lang="en-AU" sz="2600">
                <a:solidFill>
                  <a:srgbClr val="FFFFFF"/>
                </a:solidFill>
                <a:latin typeface="Candara" pitchFamily="34" charset="0"/>
              </a:rPr>
              <a:t> However research is now suggesting that some individuals with psychopathic tendencies can</a:t>
            </a:r>
          </a:p>
          <a:p>
            <a:pPr>
              <a:lnSpc>
                <a:spcPts val="3275"/>
              </a:lnSpc>
            </a:pPr>
            <a:r>
              <a:rPr lang="en-AU" sz="2600">
                <a:solidFill>
                  <a:srgbClr val="FFFFFF"/>
                </a:solidFill>
                <a:latin typeface="Candara" pitchFamily="34" charset="0"/>
              </a:rPr>
              <a:t>      successfully function within the community (Neumann &amp; Hare, 2008) </a:t>
            </a:r>
          </a:p>
        </p:txBody>
      </p:sp>
      <p:sp>
        <p:nvSpPr>
          <p:cNvPr id="2056" name="TextBox 7"/>
          <p:cNvSpPr txBox="1">
            <a:spLocks noChangeArrowheads="1"/>
          </p:cNvSpPr>
          <p:nvPr/>
        </p:nvSpPr>
        <p:spPr bwMode="auto">
          <a:xfrm>
            <a:off x="2768600" y="10136188"/>
            <a:ext cx="14649450" cy="4324350"/>
          </a:xfrm>
          <a:prstGeom prst="rect">
            <a:avLst/>
          </a:prstGeom>
          <a:noFill/>
          <a:ln w="9525">
            <a:noFill/>
            <a:miter lim="800000"/>
            <a:headEnd/>
            <a:tailEnd/>
          </a:ln>
        </p:spPr>
        <p:txBody>
          <a:bodyPr lIns="0">
            <a:spAutoFit/>
          </a:bodyPr>
          <a:lstStyle/>
          <a:p>
            <a:pPr>
              <a:lnSpc>
                <a:spcPts val="3275"/>
              </a:lnSpc>
            </a:pPr>
            <a:r>
              <a:rPr lang="en-AU" sz="2800">
                <a:solidFill>
                  <a:srgbClr val="FFFFFF"/>
                </a:solidFill>
                <a:latin typeface="Candara" pitchFamily="34" charset="0"/>
              </a:rPr>
              <a:t>  </a:t>
            </a:r>
            <a:r>
              <a:rPr lang="en-AU" sz="2600">
                <a:solidFill>
                  <a:srgbClr val="FFFFFF"/>
                </a:solidFill>
                <a:latin typeface="Candara" pitchFamily="34" charset="0"/>
              </a:rPr>
              <a:t> </a:t>
            </a:r>
          </a:p>
          <a:p>
            <a:pPr>
              <a:lnSpc>
                <a:spcPts val="3275"/>
              </a:lnSpc>
            </a:pPr>
            <a:r>
              <a:rPr lang="en-AU">
                <a:solidFill>
                  <a:srgbClr val="3F99FF"/>
                </a:solidFill>
              </a:rPr>
              <a:t>●</a:t>
            </a:r>
            <a:r>
              <a:rPr lang="en-AU" sz="2800">
                <a:solidFill>
                  <a:srgbClr val="3F99FF"/>
                </a:solidFill>
              </a:rPr>
              <a:t>   </a:t>
            </a:r>
            <a:r>
              <a:rPr lang="en-AU" sz="2800">
                <a:solidFill>
                  <a:schemeClr val="bg1"/>
                </a:solidFill>
                <a:latin typeface="Candara" pitchFamily="34" charset="0"/>
              </a:rPr>
              <a:t>Cu</a:t>
            </a:r>
            <a:r>
              <a:rPr lang="en-AU" sz="2600">
                <a:solidFill>
                  <a:schemeClr val="bg1"/>
                </a:solidFill>
                <a:latin typeface="Candara" pitchFamily="34" charset="0"/>
              </a:rPr>
              <a:t>rrently</a:t>
            </a:r>
            <a:r>
              <a:rPr lang="en-AU" sz="2600">
                <a:solidFill>
                  <a:srgbClr val="FFFFFF"/>
                </a:solidFill>
                <a:latin typeface="Candara" pitchFamily="34" charset="0"/>
              </a:rPr>
              <a:t>, the impact that psychopathic tendencies have on a range of life outcomes (e.g. </a:t>
            </a:r>
          </a:p>
          <a:p>
            <a:pPr>
              <a:lnSpc>
                <a:spcPts val="3275"/>
              </a:lnSpc>
            </a:pPr>
            <a:r>
              <a:rPr lang="en-AU" sz="2600">
                <a:solidFill>
                  <a:srgbClr val="FFFFFF"/>
                </a:solidFill>
                <a:latin typeface="Candara" pitchFamily="34" charset="0"/>
              </a:rPr>
              <a:t>       relationship stability, substance use, employment &amp; careers) remains unclear. (Boddy, 2006) </a:t>
            </a:r>
          </a:p>
          <a:p>
            <a:pPr>
              <a:lnSpc>
                <a:spcPts val="3275"/>
              </a:lnSpc>
            </a:pPr>
            <a:r>
              <a:rPr lang="en-AU">
                <a:solidFill>
                  <a:srgbClr val="3F99FF"/>
                </a:solidFill>
              </a:rPr>
              <a:t>●</a:t>
            </a:r>
            <a:r>
              <a:rPr lang="en-AU" sz="2800">
                <a:solidFill>
                  <a:srgbClr val="FFFFFF"/>
                </a:solidFill>
                <a:latin typeface="Candara" pitchFamily="34" charset="0"/>
              </a:rPr>
              <a:t>   </a:t>
            </a:r>
            <a:r>
              <a:rPr lang="en-AU" sz="2600">
                <a:solidFill>
                  <a:srgbClr val="FFFFFF"/>
                </a:solidFill>
                <a:latin typeface="Candara" pitchFamily="34" charset="0"/>
              </a:rPr>
              <a:t> The majority of psychopathy studies have used the following scales: </a:t>
            </a:r>
          </a:p>
          <a:p>
            <a:pPr>
              <a:lnSpc>
                <a:spcPts val="3275"/>
              </a:lnSpc>
            </a:pPr>
            <a:r>
              <a:rPr lang="en-AU" sz="2600">
                <a:solidFill>
                  <a:srgbClr val="FFFFFF"/>
                </a:solidFill>
                <a:latin typeface="Candara" pitchFamily="34" charset="0"/>
              </a:rPr>
              <a:t>       -    Psychopathy Checklists (PCL-R) (Hare, 1991),</a:t>
            </a:r>
          </a:p>
          <a:p>
            <a:pPr>
              <a:lnSpc>
                <a:spcPts val="3275"/>
              </a:lnSpc>
            </a:pPr>
            <a:r>
              <a:rPr lang="en-AU" sz="2600">
                <a:solidFill>
                  <a:srgbClr val="FFFFFF"/>
                </a:solidFill>
                <a:latin typeface="Candara" pitchFamily="34" charset="0"/>
              </a:rPr>
              <a:t>       -    Psychopathic Personality Inventory  (PPI-R) (Lilienfeld &amp; Widows, 2005) or</a:t>
            </a:r>
          </a:p>
          <a:p>
            <a:pPr>
              <a:lnSpc>
                <a:spcPts val="3275"/>
              </a:lnSpc>
            </a:pPr>
            <a:r>
              <a:rPr lang="en-AU" sz="2600">
                <a:solidFill>
                  <a:srgbClr val="FFFFFF"/>
                </a:solidFill>
                <a:latin typeface="Candara" pitchFamily="34" charset="0"/>
              </a:rPr>
              <a:t>       -    The Self-Report Psychopathy (SRP-II) scale (Hare, 1985) on </a:t>
            </a:r>
          </a:p>
          <a:p>
            <a:pPr>
              <a:lnSpc>
                <a:spcPts val="3275"/>
              </a:lnSpc>
            </a:pPr>
            <a:r>
              <a:rPr lang="en-AU" sz="2600">
                <a:solidFill>
                  <a:srgbClr val="FFFFFF"/>
                </a:solidFill>
                <a:latin typeface="Candara" pitchFamily="34" charset="0"/>
              </a:rPr>
              <a:t>            </a:t>
            </a:r>
            <a:r>
              <a:rPr lang="en-AU" sz="2600">
                <a:solidFill>
                  <a:srgbClr val="FFFFFF"/>
                </a:solidFill>
              </a:rPr>
              <a:t>○ </a:t>
            </a:r>
            <a:r>
              <a:rPr lang="en-AU" sz="2600">
                <a:solidFill>
                  <a:srgbClr val="FFFFFF"/>
                </a:solidFill>
                <a:latin typeface="Candara" pitchFamily="34" charset="0"/>
              </a:rPr>
              <a:t>Incarcerated, inpatient or university student samples. (Neumann &amp; Hare, 2008) </a:t>
            </a:r>
          </a:p>
          <a:p>
            <a:pPr>
              <a:lnSpc>
                <a:spcPts val="3275"/>
              </a:lnSpc>
            </a:pPr>
            <a:r>
              <a:rPr lang="en-AU" sz="2600">
                <a:solidFill>
                  <a:srgbClr val="FFFFFF"/>
                </a:solidFill>
                <a:latin typeface="Candara" pitchFamily="34" charset="0"/>
              </a:rPr>
              <a:t> </a:t>
            </a:r>
          </a:p>
          <a:p>
            <a:pPr>
              <a:lnSpc>
                <a:spcPts val="3275"/>
              </a:lnSpc>
            </a:pPr>
            <a:endParaRPr lang="en-AU" sz="2600">
              <a:solidFill>
                <a:srgbClr val="FFFFFF"/>
              </a:solidFill>
              <a:latin typeface="Candara" pitchFamily="34" charset="0"/>
            </a:endParaRPr>
          </a:p>
        </p:txBody>
      </p:sp>
      <p:sp>
        <p:nvSpPr>
          <p:cNvPr id="2057" name="TextBox 9"/>
          <p:cNvSpPr txBox="1">
            <a:spLocks noChangeArrowheads="1"/>
          </p:cNvSpPr>
          <p:nvPr/>
        </p:nvSpPr>
        <p:spPr bwMode="auto">
          <a:xfrm>
            <a:off x="2809875" y="13508038"/>
            <a:ext cx="14668500" cy="2208212"/>
          </a:xfrm>
          <a:prstGeom prst="rect">
            <a:avLst/>
          </a:prstGeom>
          <a:noFill/>
          <a:ln w="9525">
            <a:noFill/>
            <a:miter lim="800000"/>
            <a:headEnd/>
            <a:tailEnd/>
          </a:ln>
        </p:spPr>
        <p:txBody>
          <a:bodyPr lIns="0">
            <a:spAutoFit/>
          </a:bodyPr>
          <a:lstStyle/>
          <a:p>
            <a:pPr>
              <a:lnSpc>
                <a:spcPts val="3300"/>
              </a:lnSpc>
            </a:pPr>
            <a:r>
              <a:rPr lang="en-AU">
                <a:solidFill>
                  <a:srgbClr val="3F99FF"/>
                </a:solidFill>
              </a:rPr>
              <a:t>●</a:t>
            </a:r>
            <a:r>
              <a:rPr lang="en-AU" sz="2800">
                <a:solidFill>
                  <a:srgbClr val="FFFFFF"/>
                </a:solidFill>
                <a:latin typeface="Candara" pitchFamily="34" charset="0"/>
              </a:rPr>
              <a:t>   </a:t>
            </a:r>
            <a:r>
              <a:rPr lang="en-AU" sz="2600">
                <a:solidFill>
                  <a:srgbClr val="FFFFFF"/>
                </a:solidFill>
                <a:latin typeface="Candara" pitchFamily="34" charset="0"/>
              </a:rPr>
              <a:t> However, the appropriateness of self-report methods has been questioned given the psychopathic</a:t>
            </a:r>
          </a:p>
          <a:p>
            <a:pPr>
              <a:lnSpc>
                <a:spcPts val="3300"/>
              </a:lnSpc>
            </a:pPr>
            <a:r>
              <a:rPr lang="en-AU" sz="2600">
                <a:solidFill>
                  <a:srgbClr val="FFFFFF"/>
                </a:solidFill>
                <a:latin typeface="Candara" pitchFamily="34" charset="0"/>
              </a:rPr>
              <a:t>      tendency to deceive and manipulate in order to make a good impression. (Hare, 1991; Paulhus, 1998). </a:t>
            </a:r>
          </a:p>
          <a:p>
            <a:pPr>
              <a:lnSpc>
                <a:spcPts val="3300"/>
              </a:lnSpc>
            </a:pPr>
            <a:r>
              <a:rPr lang="en-AU">
                <a:solidFill>
                  <a:srgbClr val="3F99FF"/>
                </a:solidFill>
              </a:rPr>
              <a:t>●</a:t>
            </a:r>
            <a:r>
              <a:rPr lang="en-AU" sz="2800">
                <a:solidFill>
                  <a:srgbClr val="FFFFFF"/>
                </a:solidFill>
                <a:latin typeface="Candara" pitchFamily="34" charset="0"/>
              </a:rPr>
              <a:t>   </a:t>
            </a:r>
            <a:r>
              <a:rPr lang="en-AU" sz="2600">
                <a:solidFill>
                  <a:srgbClr val="FFFFFF"/>
                </a:solidFill>
                <a:latin typeface="Candara" pitchFamily="34" charset="0"/>
              </a:rPr>
              <a:t> As a result, research efforts that identify psychopathic traits and the corresponding impact upon life</a:t>
            </a:r>
          </a:p>
          <a:p>
            <a:pPr>
              <a:lnSpc>
                <a:spcPts val="3300"/>
              </a:lnSpc>
            </a:pPr>
            <a:r>
              <a:rPr lang="en-AU" sz="2600">
                <a:solidFill>
                  <a:srgbClr val="FFFFFF"/>
                </a:solidFill>
                <a:latin typeface="Candara" pitchFamily="34" charset="0"/>
              </a:rPr>
              <a:t>      outcomes may benefit from considering the effect of socially desirable responding on the assessment</a:t>
            </a:r>
          </a:p>
          <a:p>
            <a:pPr>
              <a:lnSpc>
                <a:spcPts val="3300"/>
              </a:lnSpc>
            </a:pPr>
            <a:r>
              <a:rPr lang="en-AU" sz="2600">
                <a:solidFill>
                  <a:srgbClr val="FFFFFF"/>
                </a:solidFill>
                <a:latin typeface="Candara" pitchFamily="34" charset="0"/>
              </a:rPr>
              <a:t>      process (MacNeil &amp; Holden, 2006; Paulhus, 1998; Paulhus, Hemphill, &amp; Hare, in press.). </a:t>
            </a:r>
          </a:p>
        </p:txBody>
      </p:sp>
      <p:sp>
        <p:nvSpPr>
          <p:cNvPr id="2058" name="TextBox 10"/>
          <p:cNvSpPr txBox="1">
            <a:spLocks noChangeArrowheads="1"/>
          </p:cNvSpPr>
          <p:nvPr/>
        </p:nvSpPr>
        <p:spPr bwMode="auto">
          <a:xfrm>
            <a:off x="3208338" y="15686088"/>
            <a:ext cx="1541462" cy="677862"/>
          </a:xfrm>
          <a:prstGeom prst="rect">
            <a:avLst/>
          </a:prstGeom>
          <a:noFill/>
          <a:ln w="9525">
            <a:noFill/>
            <a:miter lim="800000"/>
            <a:headEnd/>
            <a:tailEnd/>
          </a:ln>
        </p:spPr>
        <p:txBody>
          <a:bodyPr wrap="none" lIns="0">
            <a:spAutoFit/>
          </a:bodyPr>
          <a:lstStyle/>
          <a:p>
            <a:pPr algn="just">
              <a:lnSpc>
                <a:spcPts val="4500"/>
              </a:lnSpc>
            </a:pPr>
            <a:r>
              <a:rPr lang="en-AU" sz="4500">
                <a:solidFill>
                  <a:srgbClr val="FFFFFF"/>
                </a:solidFill>
                <a:latin typeface="Candara Bold" pitchFamily="34" charset="0"/>
              </a:rPr>
              <a:t>AIMS </a:t>
            </a:r>
          </a:p>
        </p:txBody>
      </p:sp>
      <p:sp>
        <p:nvSpPr>
          <p:cNvPr id="2059" name="TextBox 11"/>
          <p:cNvSpPr txBox="1">
            <a:spLocks noChangeArrowheads="1"/>
          </p:cNvSpPr>
          <p:nvPr/>
        </p:nvSpPr>
        <p:spPr bwMode="auto">
          <a:xfrm>
            <a:off x="2768600" y="16341725"/>
            <a:ext cx="14808200" cy="1285875"/>
          </a:xfrm>
          <a:prstGeom prst="rect">
            <a:avLst/>
          </a:prstGeom>
          <a:noFill/>
          <a:ln w="9525">
            <a:noFill/>
            <a:miter lim="800000"/>
            <a:headEnd/>
            <a:tailEnd/>
          </a:ln>
        </p:spPr>
        <p:txBody>
          <a:bodyPr lIns="0">
            <a:spAutoFit/>
          </a:bodyPr>
          <a:lstStyle/>
          <a:p>
            <a:pPr marL="428625" indent="-428625">
              <a:lnSpc>
                <a:spcPts val="3113"/>
              </a:lnSpc>
            </a:pPr>
            <a:r>
              <a:rPr lang="en-AU">
                <a:solidFill>
                  <a:srgbClr val="3F99FF"/>
                </a:solidFill>
              </a:rPr>
              <a:t>●</a:t>
            </a:r>
            <a:r>
              <a:rPr lang="en-AU" sz="2800">
                <a:solidFill>
                  <a:srgbClr val="FFFFFF"/>
                </a:solidFill>
                <a:latin typeface="Candara" pitchFamily="34" charset="0"/>
              </a:rPr>
              <a:t>   </a:t>
            </a:r>
            <a:r>
              <a:rPr lang="en-AU" sz="2600">
                <a:solidFill>
                  <a:srgbClr val="FFFFFF"/>
                </a:solidFill>
                <a:latin typeface="Candara" pitchFamily="34" charset="0"/>
              </a:rPr>
              <a:t> To conduct one of the first studies to utilise the SRP-III (in press) with focus on a wide spectrum of non- incarcerated adult community members ranging from the unemployed to high level management and white collar workers; </a:t>
            </a:r>
          </a:p>
        </p:txBody>
      </p:sp>
      <p:sp>
        <p:nvSpPr>
          <p:cNvPr id="2060" name="TextBox 12"/>
          <p:cNvSpPr txBox="1">
            <a:spLocks noChangeArrowheads="1"/>
          </p:cNvSpPr>
          <p:nvPr/>
        </p:nvSpPr>
        <p:spPr bwMode="auto">
          <a:xfrm>
            <a:off x="2768600" y="17614900"/>
            <a:ext cx="14611350" cy="1285875"/>
          </a:xfrm>
          <a:prstGeom prst="rect">
            <a:avLst/>
          </a:prstGeom>
          <a:noFill/>
          <a:ln w="9525">
            <a:noFill/>
            <a:miter lim="800000"/>
            <a:headEnd/>
            <a:tailEnd/>
          </a:ln>
        </p:spPr>
        <p:txBody>
          <a:bodyPr lIns="0">
            <a:spAutoFit/>
          </a:bodyPr>
          <a:lstStyle/>
          <a:p>
            <a:pPr marL="357188" indent="-357188">
              <a:lnSpc>
                <a:spcPts val="3113"/>
              </a:lnSpc>
            </a:pPr>
            <a:r>
              <a:rPr lang="en-AU">
                <a:solidFill>
                  <a:srgbClr val="3F99FF"/>
                </a:solidFill>
              </a:rPr>
              <a:t>●</a:t>
            </a:r>
            <a:r>
              <a:rPr lang="en-AU" sz="2800">
                <a:solidFill>
                  <a:srgbClr val="FFFFFF"/>
                </a:solidFill>
                <a:latin typeface="Candara" pitchFamily="34" charset="0"/>
              </a:rPr>
              <a:t>   </a:t>
            </a:r>
            <a:r>
              <a:rPr lang="en-AU" sz="2600">
                <a:solidFill>
                  <a:srgbClr val="FFFFFF"/>
                </a:solidFill>
                <a:latin typeface="Candara" pitchFamily="34" charset="0"/>
              </a:rPr>
              <a:t> Examine the possible existence and prevalence of psychopathic traits within the community, focusing on Hare’s (2003) four core psychopathy constructs: (a) Interpersonal Manipulation, (b) Callousness, (c) Erratic Lifestyle and (d) Criminal Tendencies; </a:t>
            </a:r>
          </a:p>
        </p:txBody>
      </p:sp>
      <p:sp>
        <p:nvSpPr>
          <p:cNvPr id="2061" name="TextBox 13"/>
          <p:cNvSpPr txBox="1">
            <a:spLocks noChangeArrowheads="1"/>
          </p:cNvSpPr>
          <p:nvPr/>
        </p:nvSpPr>
        <p:spPr bwMode="auto">
          <a:xfrm>
            <a:off x="2768600" y="18888075"/>
            <a:ext cx="14138275" cy="1284288"/>
          </a:xfrm>
          <a:prstGeom prst="rect">
            <a:avLst/>
          </a:prstGeom>
          <a:noFill/>
          <a:ln w="9525">
            <a:noFill/>
            <a:miter lim="800000"/>
            <a:headEnd/>
            <a:tailEnd/>
          </a:ln>
        </p:spPr>
        <p:txBody>
          <a:bodyPr lIns="0">
            <a:spAutoFit/>
          </a:bodyPr>
          <a:lstStyle/>
          <a:p>
            <a:pPr marL="357188" indent="-357188">
              <a:lnSpc>
                <a:spcPts val="3113"/>
              </a:lnSpc>
            </a:pPr>
            <a:r>
              <a:rPr lang="en-AU">
                <a:solidFill>
                  <a:srgbClr val="3F99FF"/>
                </a:solidFill>
              </a:rPr>
              <a:t>●</a:t>
            </a:r>
            <a:r>
              <a:rPr lang="en-AU" sz="2800">
                <a:solidFill>
                  <a:srgbClr val="FFFFFF"/>
                </a:solidFill>
                <a:latin typeface="Candara" pitchFamily="34" charset="0"/>
              </a:rPr>
              <a:t>   </a:t>
            </a:r>
            <a:r>
              <a:rPr lang="en-AU" sz="2600">
                <a:solidFill>
                  <a:srgbClr val="FFFFFF"/>
                </a:solidFill>
                <a:latin typeface="Candara" pitchFamily="34" charset="0"/>
              </a:rPr>
              <a:t> Explore the relationship between psychopathy, impression management and self-deceptive enhancement to determine whether it is even possible to identify psychopathic tendencies of high functioning individuals, given the tendency of the psychopath to deceive. </a:t>
            </a:r>
          </a:p>
        </p:txBody>
      </p:sp>
      <p:sp>
        <p:nvSpPr>
          <p:cNvPr id="2062" name="TextBox 14"/>
          <p:cNvSpPr txBox="1">
            <a:spLocks noChangeArrowheads="1"/>
          </p:cNvSpPr>
          <p:nvPr/>
        </p:nvSpPr>
        <p:spPr bwMode="auto">
          <a:xfrm>
            <a:off x="3122613" y="20466050"/>
            <a:ext cx="5937250" cy="677863"/>
          </a:xfrm>
          <a:prstGeom prst="rect">
            <a:avLst/>
          </a:prstGeom>
          <a:noFill/>
          <a:ln w="9525">
            <a:noFill/>
            <a:miter lim="800000"/>
            <a:headEnd/>
            <a:tailEnd/>
          </a:ln>
        </p:spPr>
        <p:txBody>
          <a:bodyPr wrap="none" lIns="0">
            <a:spAutoFit/>
          </a:bodyPr>
          <a:lstStyle/>
          <a:p>
            <a:pPr algn="just">
              <a:lnSpc>
                <a:spcPts val="4500"/>
              </a:lnSpc>
            </a:pPr>
            <a:r>
              <a:rPr lang="en-AU" sz="4500">
                <a:solidFill>
                  <a:srgbClr val="FFFFFF"/>
                </a:solidFill>
                <a:latin typeface="Candara Bold" pitchFamily="34" charset="0"/>
              </a:rPr>
              <a:t>RESEARCH QUESTIONS </a:t>
            </a:r>
          </a:p>
        </p:txBody>
      </p:sp>
      <p:sp>
        <p:nvSpPr>
          <p:cNvPr id="2063" name="TextBox 15"/>
          <p:cNvSpPr txBox="1">
            <a:spLocks noChangeArrowheads="1"/>
          </p:cNvSpPr>
          <p:nvPr/>
        </p:nvSpPr>
        <p:spPr bwMode="auto">
          <a:xfrm>
            <a:off x="2768600" y="21264563"/>
            <a:ext cx="14517688" cy="1308100"/>
          </a:xfrm>
          <a:prstGeom prst="rect">
            <a:avLst/>
          </a:prstGeom>
          <a:noFill/>
          <a:ln w="9525">
            <a:noFill/>
            <a:miter lim="800000"/>
            <a:headEnd/>
            <a:tailEnd/>
          </a:ln>
        </p:spPr>
        <p:txBody>
          <a:bodyPr lIns="0">
            <a:spAutoFit/>
          </a:bodyPr>
          <a:lstStyle/>
          <a:p>
            <a:pPr marL="428625" indent="-428625">
              <a:lnSpc>
                <a:spcPts val="3250"/>
              </a:lnSpc>
            </a:pPr>
            <a:r>
              <a:rPr lang="en-AU" sz="3500">
                <a:solidFill>
                  <a:srgbClr val="3F99FF"/>
                </a:solidFill>
                <a:latin typeface="Candara" pitchFamily="34" charset="0"/>
              </a:rPr>
              <a:t>1.</a:t>
            </a:r>
            <a:r>
              <a:rPr lang="en-AU" sz="3500">
                <a:solidFill>
                  <a:srgbClr val="FFFFFF"/>
                </a:solidFill>
                <a:latin typeface="Candara" pitchFamily="34" charset="0"/>
              </a:rPr>
              <a:t> </a:t>
            </a:r>
            <a:r>
              <a:rPr lang="en-AU" sz="2600">
                <a:solidFill>
                  <a:srgbClr val="FFFFFF"/>
                </a:solidFill>
                <a:latin typeface="Candara" pitchFamily="34" charset="0"/>
              </a:rPr>
              <a:t>Are there people living and working in the general community who exhibit psychopathic tendencies? If so, who are they and what impact do such tendencies have on interpersonal and occupational functioning? </a:t>
            </a:r>
          </a:p>
        </p:txBody>
      </p:sp>
      <p:sp>
        <p:nvSpPr>
          <p:cNvPr id="2064" name="TextBox 16"/>
          <p:cNvSpPr txBox="1">
            <a:spLocks noChangeArrowheads="1"/>
          </p:cNvSpPr>
          <p:nvPr/>
        </p:nvSpPr>
        <p:spPr bwMode="auto">
          <a:xfrm>
            <a:off x="2768600" y="22590125"/>
            <a:ext cx="13879513" cy="920750"/>
          </a:xfrm>
          <a:prstGeom prst="rect">
            <a:avLst/>
          </a:prstGeom>
          <a:noFill/>
          <a:ln w="9525">
            <a:noFill/>
            <a:miter lim="800000"/>
            <a:headEnd/>
            <a:tailEnd/>
          </a:ln>
        </p:spPr>
        <p:txBody>
          <a:bodyPr lIns="0">
            <a:spAutoFit/>
          </a:bodyPr>
          <a:lstStyle/>
          <a:p>
            <a:pPr marL="428625" indent="-428625" algn="just">
              <a:lnSpc>
                <a:spcPts val="3313"/>
              </a:lnSpc>
            </a:pPr>
            <a:r>
              <a:rPr lang="en-AU" sz="3500">
                <a:solidFill>
                  <a:srgbClr val="3F99FF"/>
                </a:solidFill>
                <a:latin typeface="Candara" pitchFamily="34" charset="0"/>
              </a:rPr>
              <a:t>2. </a:t>
            </a:r>
            <a:r>
              <a:rPr lang="en-AU" sz="2600">
                <a:solidFill>
                  <a:srgbClr val="FFFFFF"/>
                </a:solidFill>
                <a:latin typeface="Candara" pitchFamily="34" charset="0"/>
              </a:rPr>
              <a:t>Is it even possible to measure high functioning psychopathy via self-report methods, or is such a construct hidden behind impression management and self-deceptive enhancement? </a:t>
            </a:r>
          </a:p>
        </p:txBody>
      </p:sp>
      <p:sp>
        <p:nvSpPr>
          <p:cNvPr id="2065" name="TextBox 18"/>
          <p:cNvSpPr txBox="1">
            <a:spLocks noChangeArrowheads="1"/>
          </p:cNvSpPr>
          <p:nvPr/>
        </p:nvSpPr>
        <p:spPr bwMode="auto">
          <a:xfrm>
            <a:off x="3084513" y="24603075"/>
            <a:ext cx="2395537" cy="669925"/>
          </a:xfrm>
          <a:prstGeom prst="rect">
            <a:avLst/>
          </a:prstGeom>
          <a:noFill/>
          <a:ln w="9525">
            <a:noFill/>
            <a:miter lim="800000"/>
            <a:headEnd/>
            <a:tailEnd/>
          </a:ln>
        </p:spPr>
        <p:txBody>
          <a:bodyPr lIns="0">
            <a:spAutoFit/>
          </a:bodyPr>
          <a:lstStyle/>
          <a:p>
            <a:pPr algn="just">
              <a:lnSpc>
                <a:spcPts val="4500"/>
              </a:lnSpc>
            </a:pPr>
            <a:r>
              <a:rPr lang="en-AU" sz="4500">
                <a:solidFill>
                  <a:srgbClr val="FFFFFF"/>
                </a:solidFill>
                <a:latin typeface="Candara Bold" pitchFamily="34" charset="0"/>
              </a:rPr>
              <a:t>METHOD </a:t>
            </a:r>
          </a:p>
        </p:txBody>
      </p:sp>
      <p:sp>
        <p:nvSpPr>
          <p:cNvPr id="2066" name="TextBox 20"/>
          <p:cNvSpPr txBox="1">
            <a:spLocks noChangeArrowheads="1"/>
          </p:cNvSpPr>
          <p:nvPr/>
        </p:nvSpPr>
        <p:spPr bwMode="auto">
          <a:xfrm>
            <a:off x="3062288" y="25452388"/>
            <a:ext cx="2441575" cy="547687"/>
          </a:xfrm>
          <a:prstGeom prst="rect">
            <a:avLst/>
          </a:prstGeom>
          <a:noFill/>
          <a:ln w="9525">
            <a:noFill/>
            <a:miter lim="800000"/>
            <a:headEnd/>
            <a:tailEnd/>
          </a:ln>
        </p:spPr>
        <p:txBody>
          <a:bodyPr wrap="none" lIns="0">
            <a:spAutoFit/>
          </a:bodyPr>
          <a:lstStyle/>
          <a:p>
            <a:pPr algn="just">
              <a:lnSpc>
                <a:spcPts val="3500"/>
              </a:lnSpc>
            </a:pPr>
            <a:r>
              <a:rPr lang="en-AU" sz="3500">
                <a:solidFill>
                  <a:srgbClr val="FFFFFF"/>
                </a:solidFill>
                <a:latin typeface="Candara Bold Italic" pitchFamily="34" charset="0"/>
              </a:rPr>
              <a:t>Participants </a:t>
            </a:r>
          </a:p>
        </p:txBody>
      </p:sp>
      <p:sp>
        <p:nvSpPr>
          <p:cNvPr id="2067" name="TextBox 22"/>
          <p:cNvSpPr txBox="1">
            <a:spLocks noChangeArrowheads="1"/>
          </p:cNvSpPr>
          <p:nvPr/>
        </p:nvSpPr>
        <p:spPr bwMode="auto">
          <a:xfrm>
            <a:off x="3125788" y="26079450"/>
            <a:ext cx="11790362" cy="2246313"/>
          </a:xfrm>
          <a:prstGeom prst="rect">
            <a:avLst/>
          </a:prstGeom>
          <a:noFill/>
          <a:ln w="9525">
            <a:noFill/>
            <a:miter lim="800000"/>
            <a:headEnd/>
            <a:tailEnd/>
          </a:ln>
        </p:spPr>
        <p:txBody>
          <a:bodyPr lIns="0">
            <a:spAutoFit/>
          </a:bodyPr>
          <a:lstStyle/>
          <a:p>
            <a:pPr>
              <a:lnSpc>
                <a:spcPts val="2800"/>
              </a:lnSpc>
            </a:pPr>
            <a:r>
              <a:rPr lang="en-AU" sz="2400">
                <a:solidFill>
                  <a:srgbClr val="000000"/>
                </a:solidFill>
              </a:rPr>
              <a:t>●</a:t>
            </a:r>
            <a:r>
              <a:rPr lang="en-AU" sz="2800">
                <a:solidFill>
                  <a:srgbClr val="000000"/>
                </a:solidFill>
                <a:latin typeface="Candara" pitchFamily="34" charset="0"/>
              </a:rPr>
              <a:t>  </a:t>
            </a:r>
            <a:r>
              <a:rPr lang="en-AU" sz="2600" i="1">
                <a:solidFill>
                  <a:srgbClr val="000000"/>
                </a:solidFill>
                <a:latin typeface="Candara" pitchFamily="34" charset="0"/>
              </a:rPr>
              <a:t> Sample N </a:t>
            </a:r>
            <a:r>
              <a:rPr lang="en-AU" sz="2600">
                <a:solidFill>
                  <a:srgbClr val="000000"/>
                </a:solidFill>
                <a:latin typeface="Candara" pitchFamily="34" charset="0"/>
              </a:rPr>
              <a:t>= 300 Age  </a:t>
            </a:r>
            <a:r>
              <a:rPr lang="en-AU" sz="2600" i="1">
                <a:solidFill>
                  <a:srgbClr val="000000"/>
                </a:solidFill>
                <a:latin typeface="Candara" pitchFamily="34" charset="0"/>
              </a:rPr>
              <a:t>M</a:t>
            </a:r>
            <a:r>
              <a:rPr lang="en-AU" sz="2600">
                <a:solidFill>
                  <a:srgbClr val="000000"/>
                </a:solidFill>
                <a:latin typeface="Candara" pitchFamily="34" charset="0"/>
              </a:rPr>
              <a:t> = 40.61</a:t>
            </a:r>
          </a:p>
          <a:p>
            <a:pPr>
              <a:lnSpc>
                <a:spcPts val="2800"/>
              </a:lnSpc>
            </a:pPr>
            <a:r>
              <a:rPr lang="en-AU" sz="2400">
                <a:solidFill>
                  <a:srgbClr val="000000"/>
                </a:solidFill>
              </a:rPr>
              <a:t>●</a:t>
            </a:r>
            <a:r>
              <a:rPr lang="en-AU" sz="2400">
                <a:solidFill>
                  <a:srgbClr val="000000"/>
                </a:solidFill>
                <a:latin typeface="Candara" pitchFamily="34" charset="0"/>
              </a:rPr>
              <a:t>    Female = 70.3%    Male = 29.7%</a:t>
            </a:r>
            <a:endParaRPr lang="en-AU" sz="2400">
              <a:solidFill>
                <a:srgbClr val="000000"/>
              </a:solidFill>
              <a:cs typeface="Arial" charset="0"/>
            </a:endParaRPr>
          </a:p>
          <a:p>
            <a:pPr>
              <a:lnSpc>
                <a:spcPts val="2800"/>
              </a:lnSpc>
            </a:pPr>
            <a:r>
              <a:rPr lang="en-AU" sz="2400">
                <a:solidFill>
                  <a:srgbClr val="000000"/>
                </a:solidFill>
              </a:rPr>
              <a:t>●</a:t>
            </a:r>
            <a:r>
              <a:rPr lang="en-AU" sz="2400">
                <a:solidFill>
                  <a:srgbClr val="000000"/>
                </a:solidFill>
                <a:latin typeface="Candara" pitchFamily="34" charset="0"/>
              </a:rPr>
              <a:t>  </a:t>
            </a:r>
            <a:r>
              <a:rPr lang="en-AU" sz="2400" i="1">
                <a:solidFill>
                  <a:srgbClr val="000000"/>
                </a:solidFill>
                <a:latin typeface="Candara" pitchFamily="34" charset="0"/>
              </a:rPr>
              <a:t>  </a:t>
            </a:r>
            <a:r>
              <a:rPr lang="en-AU" sz="2400">
                <a:solidFill>
                  <a:srgbClr val="000000"/>
                </a:solidFill>
                <a:latin typeface="Candara" pitchFamily="34" charset="0"/>
              </a:rPr>
              <a:t>Most employed 85.75% and in a relationship 69.7%, earning between $50,000 - $75,000</a:t>
            </a:r>
          </a:p>
          <a:p>
            <a:pPr>
              <a:lnSpc>
                <a:spcPts val="2800"/>
              </a:lnSpc>
            </a:pPr>
            <a:endParaRPr lang="en-AU" sz="2400">
              <a:solidFill>
                <a:srgbClr val="000000"/>
              </a:solidFill>
              <a:latin typeface="Candara" pitchFamily="34" charset="0"/>
            </a:endParaRPr>
          </a:p>
          <a:p>
            <a:pPr>
              <a:lnSpc>
                <a:spcPts val="2800"/>
              </a:lnSpc>
            </a:pPr>
            <a:endParaRPr lang="en-AU" sz="2400">
              <a:solidFill>
                <a:srgbClr val="000000"/>
              </a:solidFill>
              <a:latin typeface="Candara" pitchFamily="34" charset="0"/>
            </a:endParaRPr>
          </a:p>
          <a:p>
            <a:pPr>
              <a:lnSpc>
                <a:spcPts val="2800"/>
              </a:lnSpc>
            </a:pPr>
            <a:endParaRPr lang="en-AU" sz="2600">
              <a:solidFill>
                <a:srgbClr val="000000"/>
              </a:solidFill>
              <a:latin typeface="Candara" pitchFamily="34" charset="0"/>
            </a:endParaRPr>
          </a:p>
        </p:txBody>
      </p:sp>
      <p:sp>
        <p:nvSpPr>
          <p:cNvPr id="2068" name="TextBox 24"/>
          <p:cNvSpPr txBox="1">
            <a:spLocks noChangeArrowheads="1"/>
          </p:cNvSpPr>
          <p:nvPr/>
        </p:nvSpPr>
        <p:spPr bwMode="auto">
          <a:xfrm>
            <a:off x="2865438" y="26439813"/>
            <a:ext cx="93662" cy="452437"/>
          </a:xfrm>
          <a:prstGeom prst="rect">
            <a:avLst/>
          </a:prstGeom>
          <a:noFill/>
          <a:ln w="9525">
            <a:noFill/>
            <a:miter lim="800000"/>
            <a:headEnd/>
            <a:tailEnd/>
          </a:ln>
        </p:spPr>
        <p:txBody>
          <a:bodyPr wrap="none" lIns="0">
            <a:spAutoFit/>
          </a:bodyPr>
          <a:lstStyle/>
          <a:p>
            <a:pPr algn="just">
              <a:lnSpc>
                <a:spcPts val="2800"/>
              </a:lnSpc>
            </a:pPr>
            <a:endParaRPr lang="en-AU" sz="2600">
              <a:solidFill>
                <a:srgbClr val="000000"/>
              </a:solidFill>
              <a:latin typeface="Candara" pitchFamily="34" charset="0"/>
            </a:endParaRPr>
          </a:p>
        </p:txBody>
      </p:sp>
      <p:sp>
        <p:nvSpPr>
          <p:cNvPr id="2069" name="TextBox 28"/>
          <p:cNvSpPr txBox="1">
            <a:spLocks noChangeArrowheads="1"/>
          </p:cNvSpPr>
          <p:nvPr/>
        </p:nvSpPr>
        <p:spPr bwMode="auto">
          <a:xfrm>
            <a:off x="3122613" y="27165300"/>
            <a:ext cx="1976437" cy="547688"/>
          </a:xfrm>
          <a:prstGeom prst="rect">
            <a:avLst/>
          </a:prstGeom>
          <a:noFill/>
          <a:ln w="9525">
            <a:noFill/>
            <a:miter lim="800000"/>
            <a:headEnd/>
            <a:tailEnd/>
          </a:ln>
        </p:spPr>
        <p:txBody>
          <a:bodyPr wrap="none" lIns="0">
            <a:spAutoFit/>
          </a:bodyPr>
          <a:lstStyle/>
          <a:p>
            <a:pPr algn="just">
              <a:lnSpc>
                <a:spcPts val="3500"/>
              </a:lnSpc>
            </a:pPr>
            <a:r>
              <a:rPr lang="en-AU" sz="3500">
                <a:solidFill>
                  <a:srgbClr val="FFFFFF"/>
                </a:solidFill>
                <a:latin typeface="Candara Bold Italic" pitchFamily="34" charset="0"/>
              </a:rPr>
              <a:t>Measures </a:t>
            </a:r>
          </a:p>
        </p:txBody>
      </p:sp>
      <p:sp>
        <p:nvSpPr>
          <p:cNvPr id="2070" name="TextBox 30"/>
          <p:cNvSpPr txBox="1">
            <a:spLocks noChangeArrowheads="1"/>
          </p:cNvSpPr>
          <p:nvPr/>
        </p:nvSpPr>
        <p:spPr bwMode="auto">
          <a:xfrm>
            <a:off x="3159125" y="27582813"/>
            <a:ext cx="11766550" cy="457200"/>
          </a:xfrm>
          <a:prstGeom prst="rect">
            <a:avLst/>
          </a:prstGeom>
          <a:noFill/>
          <a:ln w="9525">
            <a:noFill/>
            <a:miter lim="800000"/>
            <a:headEnd/>
            <a:tailEnd/>
          </a:ln>
        </p:spPr>
        <p:txBody>
          <a:bodyPr wrap="none" lIns="0">
            <a:spAutoFit/>
          </a:bodyPr>
          <a:lstStyle/>
          <a:p>
            <a:pPr algn="just">
              <a:lnSpc>
                <a:spcPts val="2800"/>
              </a:lnSpc>
            </a:pPr>
            <a:r>
              <a:rPr lang="en-AU">
                <a:solidFill>
                  <a:srgbClr val="000000"/>
                </a:solidFill>
              </a:rPr>
              <a:t>●</a:t>
            </a:r>
            <a:r>
              <a:rPr lang="en-AU" sz="2800">
                <a:solidFill>
                  <a:srgbClr val="000000"/>
                </a:solidFill>
                <a:latin typeface="Candara" pitchFamily="34" charset="0"/>
              </a:rPr>
              <a:t>   </a:t>
            </a:r>
            <a:r>
              <a:rPr lang="en-AU" sz="2600">
                <a:solidFill>
                  <a:srgbClr val="000000"/>
                </a:solidFill>
                <a:latin typeface="Candara" pitchFamily="34" charset="0"/>
              </a:rPr>
              <a:t> Self-Report Psychopathy Scale-III (SRP-III) (Paulhus, Hemphill &amp; Hare, (in press). </a:t>
            </a:r>
          </a:p>
        </p:txBody>
      </p:sp>
      <p:sp>
        <p:nvSpPr>
          <p:cNvPr id="2071" name="TextBox 32"/>
          <p:cNvSpPr txBox="1">
            <a:spLocks noChangeArrowheads="1"/>
          </p:cNvSpPr>
          <p:nvPr/>
        </p:nvSpPr>
        <p:spPr bwMode="auto">
          <a:xfrm>
            <a:off x="3990975" y="28041600"/>
            <a:ext cx="10288588" cy="430213"/>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40 Items measuring four subscales: Criminal Tendencies, Erratic lifestyle, </a:t>
            </a:r>
          </a:p>
        </p:txBody>
      </p:sp>
      <p:sp>
        <p:nvSpPr>
          <p:cNvPr id="2072" name="TextBox 33"/>
          <p:cNvSpPr txBox="1">
            <a:spLocks noChangeArrowheads="1"/>
          </p:cNvSpPr>
          <p:nvPr/>
        </p:nvSpPr>
        <p:spPr bwMode="auto">
          <a:xfrm>
            <a:off x="3630613" y="28097163"/>
            <a:ext cx="247650" cy="430212"/>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 </a:t>
            </a:r>
          </a:p>
        </p:txBody>
      </p:sp>
      <p:sp>
        <p:nvSpPr>
          <p:cNvPr id="2073" name="TextBox 35"/>
          <p:cNvSpPr txBox="1">
            <a:spLocks noChangeArrowheads="1"/>
          </p:cNvSpPr>
          <p:nvPr/>
        </p:nvSpPr>
        <p:spPr bwMode="auto">
          <a:xfrm>
            <a:off x="3938588" y="28417838"/>
            <a:ext cx="6710362" cy="430212"/>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Interpersonal Manipulation and Callous Affect. </a:t>
            </a:r>
          </a:p>
        </p:txBody>
      </p:sp>
      <p:sp>
        <p:nvSpPr>
          <p:cNvPr id="2074" name="TextBox 37"/>
          <p:cNvSpPr txBox="1">
            <a:spLocks noChangeArrowheads="1"/>
          </p:cNvSpPr>
          <p:nvPr/>
        </p:nvSpPr>
        <p:spPr bwMode="auto">
          <a:xfrm>
            <a:off x="3700463" y="28794075"/>
            <a:ext cx="3908425" cy="463550"/>
          </a:xfrm>
          <a:prstGeom prst="rect">
            <a:avLst/>
          </a:prstGeom>
          <a:noFill/>
          <a:ln w="9525">
            <a:noFill/>
            <a:miter lim="800000"/>
            <a:headEnd/>
            <a:tailEnd/>
          </a:ln>
        </p:spPr>
        <p:txBody>
          <a:bodyPr wrap="none" lIns="0">
            <a:spAutoFit/>
          </a:bodyPr>
          <a:lstStyle/>
          <a:p>
            <a:pPr algn="just">
              <a:lnSpc>
                <a:spcPts val="2900"/>
              </a:lnSpc>
            </a:pPr>
            <a:r>
              <a:rPr lang="en-AU" sz="2600">
                <a:solidFill>
                  <a:srgbClr val="000000"/>
                </a:solidFill>
                <a:latin typeface="Candara" pitchFamily="34" charset="0"/>
              </a:rPr>
              <a:t>-    Internal Validity (</a:t>
            </a:r>
            <a:r>
              <a:rPr lang="el-GR" sz="2600">
                <a:solidFill>
                  <a:srgbClr val="000000"/>
                </a:solidFill>
                <a:latin typeface="Candara" pitchFamily="34" charset="0"/>
              </a:rPr>
              <a:t>α = .81) </a:t>
            </a:r>
            <a:endParaRPr lang="en-AU" sz="2600">
              <a:solidFill>
                <a:srgbClr val="000000"/>
              </a:solidFill>
              <a:latin typeface="Candara" pitchFamily="34" charset="0"/>
            </a:endParaRPr>
          </a:p>
        </p:txBody>
      </p:sp>
      <p:sp>
        <p:nvSpPr>
          <p:cNvPr id="2075" name="TextBox 38"/>
          <p:cNvSpPr txBox="1">
            <a:spLocks noChangeArrowheads="1"/>
          </p:cNvSpPr>
          <p:nvPr/>
        </p:nvSpPr>
        <p:spPr bwMode="auto">
          <a:xfrm>
            <a:off x="3152775" y="29281438"/>
            <a:ext cx="7286625" cy="430212"/>
          </a:xfrm>
          <a:prstGeom prst="rect">
            <a:avLst/>
          </a:prstGeom>
          <a:noFill/>
          <a:ln w="9525">
            <a:noFill/>
            <a:miter lim="800000"/>
            <a:headEnd/>
            <a:tailEnd/>
          </a:ln>
        </p:spPr>
        <p:txBody>
          <a:bodyPr wrap="none" lIns="0">
            <a:spAutoFit/>
          </a:bodyPr>
          <a:lstStyle/>
          <a:p>
            <a:pPr algn="just">
              <a:lnSpc>
                <a:spcPts val="2600"/>
              </a:lnSpc>
            </a:pPr>
            <a:r>
              <a:rPr lang="fr-FR" sz="2600">
                <a:solidFill>
                  <a:srgbClr val="000000"/>
                </a:solidFill>
                <a:latin typeface="Candara" pitchFamily="34" charset="0"/>
              </a:rPr>
              <a:t>•  Paulhus Deception Scales (PDS) (Paulhus, 1998). </a:t>
            </a:r>
            <a:endParaRPr lang="en-AU" sz="2600">
              <a:solidFill>
                <a:srgbClr val="000000"/>
              </a:solidFill>
              <a:latin typeface="Candara" pitchFamily="34" charset="0"/>
            </a:endParaRPr>
          </a:p>
        </p:txBody>
      </p:sp>
      <p:sp>
        <p:nvSpPr>
          <p:cNvPr id="2076" name="TextBox 39"/>
          <p:cNvSpPr txBox="1">
            <a:spLocks noChangeArrowheads="1"/>
          </p:cNvSpPr>
          <p:nvPr/>
        </p:nvSpPr>
        <p:spPr bwMode="auto">
          <a:xfrm>
            <a:off x="16838613" y="24485600"/>
            <a:ext cx="2536825" cy="668338"/>
          </a:xfrm>
          <a:prstGeom prst="rect">
            <a:avLst/>
          </a:prstGeom>
          <a:noFill/>
          <a:ln w="9525">
            <a:noFill/>
            <a:miter lim="800000"/>
            <a:headEnd/>
            <a:tailEnd/>
          </a:ln>
        </p:spPr>
        <p:txBody>
          <a:bodyPr wrap="none" lIns="0">
            <a:spAutoFit/>
          </a:bodyPr>
          <a:lstStyle/>
          <a:p>
            <a:pPr algn="just">
              <a:lnSpc>
                <a:spcPts val="4500"/>
              </a:lnSpc>
            </a:pPr>
            <a:r>
              <a:rPr lang="en-AU" sz="4500">
                <a:solidFill>
                  <a:srgbClr val="FFFFFF"/>
                </a:solidFill>
                <a:latin typeface="Candara Bold" pitchFamily="34" charset="0"/>
              </a:rPr>
              <a:t>RESULTS  </a:t>
            </a:r>
          </a:p>
        </p:txBody>
      </p:sp>
      <p:sp>
        <p:nvSpPr>
          <p:cNvPr id="2077" name="TextBox 40"/>
          <p:cNvSpPr txBox="1">
            <a:spLocks noChangeArrowheads="1"/>
          </p:cNvSpPr>
          <p:nvPr/>
        </p:nvSpPr>
        <p:spPr bwMode="auto">
          <a:xfrm>
            <a:off x="3543300" y="29667200"/>
            <a:ext cx="8988425" cy="430213"/>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40 Items measuring socially desirable responding components: </a:t>
            </a:r>
          </a:p>
        </p:txBody>
      </p:sp>
      <p:sp>
        <p:nvSpPr>
          <p:cNvPr id="2078" name="TextBox 41"/>
          <p:cNvSpPr txBox="1">
            <a:spLocks noChangeArrowheads="1"/>
          </p:cNvSpPr>
          <p:nvPr/>
        </p:nvSpPr>
        <p:spPr bwMode="auto">
          <a:xfrm>
            <a:off x="3630613" y="29789438"/>
            <a:ext cx="247650" cy="430212"/>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 </a:t>
            </a:r>
          </a:p>
        </p:txBody>
      </p:sp>
      <p:sp>
        <p:nvSpPr>
          <p:cNvPr id="2079" name="TextBox 42"/>
          <p:cNvSpPr txBox="1">
            <a:spLocks noChangeArrowheads="1"/>
          </p:cNvSpPr>
          <p:nvPr/>
        </p:nvSpPr>
        <p:spPr bwMode="auto">
          <a:xfrm>
            <a:off x="3946525" y="30064075"/>
            <a:ext cx="9958388" cy="430213"/>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Impression Management (describing self in overly positive terms) and </a:t>
            </a:r>
          </a:p>
        </p:txBody>
      </p:sp>
      <p:sp>
        <p:nvSpPr>
          <p:cNvPr id="2080" name="TextBox 44"/>
          <p:cNvSpPr txBox="1">
            <a:spLocks noChangeArrowheads="1"/>
          </p:cNvSpPr>
          <p:nvPr/>
        </p:nvSpPr>
        <p:spPr bwMode="auto">
          <a:xfrm>
            <a:off x="3967163" y="30508575"/>
            <a:ext cx="8118475" cy="430213"/>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Self-Deceptive Enhancement (exaggerating own virtues) </a:t>
            </a:r>
          </a:p>
        </p:txBody>
      </p:sp>
      <p:sp>
        <p:nvSpPr>
          <p:cNvPr id="2081" name="TextBox 46"/>
          <p:cNvSpPr txBox="1">
            <a:spLocks noChangeArrowheads="1"/>
          </p:cNvSpPr>
          <p:nvPr/>
        </p:nvSpPr>
        <p:spPr bwMode="auto">
          <a:xfrm>
            <a:off x="3511550" y="30943550"/>
            <a:ext cx="4049713" cy="465138"/>
          </a:xfrm>
          <a:prstGeom prst="rect">
            <a:avLst/>
          </a:prstGeom>
          <a:noFill/>
          <a:ln w="9525">
            <a:noFill/>
            <a:miter lim="800000"/>
            <a:headEnd/>
            <a:tailEnd/>
          </a:ln>
        </p:spPr>
        <p:txBody>
          <a:bodyPr wrap="none" lIns="0">
            <a:spAutoFit/>
          </a:bodyPr>
          <a:lstStyle/>
          <a:p>
            <a:pPr algn="just">
              <a:lnSpc>
                <a:spcPts val="2900"/>
              </a:lnSpc>
            </a:pPr>
            <a:r>
              <a:rPr lang="en-AU" sz="2600">
                <a:solidFill>
                  <a:srgbClr val="000000"/>
                </a:solidFill>
                <a:latin typeface="Candara" pitchFamily="34" charset="0"/>
              </a:rPr>
              <a:t>-    Internal Validity  (</a:t>
            </a:r>
            <a:r>
              <a:rPr lang="el-GR" sz="2600">
                <a:solidFill>
                  <a:srgbClr val="000000"/>
                </a:solidFill>
                <a:latin typeface="Candara" pitchFamily="34" charset="0"/>
              </a:rPr>
              <a:t>α = .85) </a:t>
            </a:r>
            <a:endParaRPr lang="en-AU" sz="2600">
              <a:solidFill>
                <a:srgbClr val="000000"/>
              </a:solidFill>
              <a:latin typeface="Candara" pitchFamily="34" charset="0"/>
            </a:endParaRPr>
          </a:p>
        </p:txBody>
      </p:sp>
      <p:sp>
        <p:nvSpPr>
          <p:cNvPr id="2082" name="TextBox 48"/>
          <p:cNvSpPr txBox="1">
            <a:spLocks noChangeArrowheads="1"/>
          </p:cNvSpPr>
          <p:nvPr/>
        </p:nvSpPr>
        <p:spPr bwMode="auto">
          <a:xfrm>
            <a:off x="3159125" y="31416625"/>
            <a:ext cx="4483100" cy="430213"/>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  Demographic Questionnaire </a:t>
            </a:r>
          </a:p>
        </p:txBody>
      </p:sp>
      <p:sp>
        <p:nvSpPr>
          <p:cNvPr id="2083" name="TextBox 50"/>
          <p:cNvSpPr txBox="1">
            <a:spLocks noChangeArrowheads="1"/>
          </p:cNvSpPr>
          <p:nvPr/>
        </p:nvSpPr>
        <p:spPr bwMode="auto">
          <a:xfrm>
            <a:off x="3467100" y="31911925"/>
            <a:ext cx="10560050" cy="463550"/>
          </a:xfrm>
          <a:prstGeom prst="rect">
            <a:avLst/>
          </a:prstGeom>
          <a:noFill/>
          <a:ln w="9525">
            <a:noFill/>
            <a:miter lim="800000"/>
            <a:headEnd/>
            <a:tailEnd/>
          </a:ln>
        </p:spPr>
        <p:txBody>
          <a:bodyPr wrap="none" lIns="0">
            <a:spAutoFit/>
          </a:bodyPr>
          <a:lstStyle/>
          <a:p>
            <a:pPr algn="just">
              <a:lnSpc>
                <a:spcPts val="2900"/>
              </a:lnSpc>
            </a:pPr>
            <a:r>
              <a:rPr lang="en-AU" sz="2600">
                <a:solidFill>
                  <a:srgbClr val="000000"/>
                </a:solidFill>
                <a:latin typeface="Candara" pitchFamily="34" charset="0"/>
              </a:rPr>
              <a:t>-    Measuring key variables including age, gender, occupation, relationship </a:t>
            </a:r>
          </a:p>
        </p:txBody>
      </p:sp>
      <p:sp>
        <p:nvSpPr>
          <p:cNvPr id="2084" name="TextBox 52"/>
          <p:cNvSpPr txBox="1">
            <a:spLocks noChangeArrowheads="1"/>
          </p:cNvSpPr>
          <p:nvPr/>
        </p:nvSpPr>
        <p:spPr bwMode="auto">
          <a:xfrm>
            <a:off x="3795713" y="32399288"/>
            <a:ext cx="8634412" cy="430212"/>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status, drug and alcohol consumption and conviction history </a:t>
            </a:r>
          </a:p>
        </p:txBody>
      </p:sp>
      <p:sp>
        <p:nvSpPr>
          <p:cNvPr id="2085" name="TextBox 54"/>
          <p:cNvSpPr txBox="1">
            <a:spLocks noChangeArrowheads="1"/>
          </p:cNvSpPr>
          <p:nvPr/>
        </p:nvSpPr>
        <p:spPr bwMode="auto">
          <a:xfrm>
            <a:off x="3135313" y="32929513"/>
            <a:ext cx="2108200" cy="547687"/>
          </a:xfrm>
          <a:prstGeom prst="rect">
            <a:avLst/>
          </a:prstGeom>
          <a:noFill/>
          <a:ln w="9525">
            <a:noFill/>
            <a:miter lim="800000"/>
            <a:headEnd/>
            <a:tailEnd/>
          </a:ln>
        </p:spPr>
        <p:txBody>
          <a:bodyPr wrap="none" lIns="0">
            <a:spAutoFit/>
          </a:bodyPr>
          <a:lstStyle/>
          <a:p>
            <a:pPr algn="just">
              <a:lnSpc>
                <a:spcPts val="3500"/>
              </a:lnSpc>
            </a:pPr>
            <a:r>
              <a:rPr lang="en-AU" sz="3500">
                <a:solidFill>
                  <a:srgbClr val="FFFFFF"/>
                </a:solidFill>
                <a:latin typeface="Candara Bold Italic" pitchFamily="34" charset="0"/>
              </a:rPr>
              <a:t>Procedure </a:t>
            </a:r>
          </a:p>
        </p:txBody>
      </p:sp>
      <p:sp>
        <p:nvSpPr>
          <p:cNvPr id="2086" name="TextBox 56"/>
          <p:cNvSpPr txBox="1">
            <a:spLocks noChangeArrowheads="1"/>
          </p:cNvSpPr>
          <p:nvPr/>
        </p:nvSpPr>
        <p:spPr bwMode="auto">
          <a:xfrm>
            <a:off x="2909888" y="33269238"/>
            <a:ext cx="12426950" cy="1528762"/>
          </a:xfrm>
          <a:prstGeom prst="rect">
            <a:avLst/>
          </a:prstGeom>
          <a:noFill/>
          <a:ln w="9525">
            <a:noFill/>
            <a:miter lim="800000"/>
            <a:headEnd/>
            <a:tailEnd/>
          </a:ln>
        </p:spPr>
        <p:txBody>
          <a:bodyPr wrap="none" lIns="0">
            <a:spAutoFit/>
          </a:bodyPr>
          <a:lstStyle/>
          <a:p>
            <a:pPr algn="just">
              <a:lnSpc>
                <a:spcPts val="2800"/>
              </a:lnSpc>
            </a:pPr>
            <a:r>
              <a:rPr lang="en-AU" sz="2400">
                <a:solidFill>
                  <a:srgbClr val="000000"/>
                </a:solidFill>
                <a:latin typeface="Candara" pitchFamily="34" charset="0"/>
              </a:rPr>
              <a:t>● </a:t>
            </a:r>
            <a:r>
              <a:rPr lang="en-AU" sz="2800">
                <a:solidFill>
                  <a:srgbClr val="000000"/>
                </a:solidFill>
                <a:latin typeface="Candara" pitchFamily="34" charset="0"/>
              </a:rPr>
              <a:t>  </a:t>
            </a:r>
            <a:r>
              <a:rPr lang="en-AU" sz="2600">
                <a:solidFill>
                  <a:srgbClr val="000000"/>
                </a:solidFill>
                <a:latin typeface="Candara" pitchFamily="34" charset="0"/>
              </a:rPr>
              <a:t> Convenience sample: participants approached by researchers, snowballing effect</a:t>
            </a:r>
          </a:p>
          <a:p>
            <a:pPr algn="just">
              <a:lnSpc>
                <a:spcPts val="2800"/>
              </a:lnSpc>
            </a:pPr>
            <a:r>
              <a:rPr lang="en-AU" sz="2400">
                <a:solidFill>
                  <a:srgbClr val="000000"/>
                </a:solidFill>
                <a:latin typeface="Candara" pitchFamily="34" charset="0"/>
              </a:rPr>
              <a:t>●   </a:t>
            </a:r>
            <a:r>
              <a:rPr lang="en-AU" sz="2800">
                <a:solidFill>
                  <a:srgbClr val="000000"/>
                </a:solidFill>
                <a:latin typeface="Candara" pitchFamily="34" charset="0"/>
              </a:rPr>
              <a:t> Psychopathic focus of study not highlighted in participant information sheet</a:t>
            </a:r>
          </a:p>
          <a:p>
            <a:pPr algn="just">
              <a:lnSpc>
                <a:spcPts val="2800"/>
              </a:lnSpc>
            </a:pPr>
            <a:endParaRPr lang="en-AU" sz="2800">
              <a:solidFill>
                <a:srgbClr val="000000"/>
              </a:solidFill>
              <a:latin typeface="Candara" pitchFamily="34" charset="0"/>
            </a:endParaRPr>
          </a:p>
          <a:p>
            <a:pPr algn="just">
              <a:lnSpc>
                <a:spcPts val="2800"/>
              </a:lnSpc>
            </a:pPr>
            <a:r>
              <a:rPr lang="en-AU" sz="2800">
                <a:solidFill>
                  <a:srgbClr val="000000"/>
                </a:solidFill>
                <a:latin typeface="Candara" pitchFamily="34" charset="0"/>
              </a:rPr>
              <a:t> </a:t>
            </a:r>
            <a:endParaRPr lang="en-AU" sz="2600">
              <a:solidFill>
                <a:srgbClr val="000000"/>
              </a:solidFill>
              <a:cs typeface="Arial" charset="0"/>
            </a:endParaRPr>
          </a:p>
        </p:txBody>
      </p:sp>
      <p:sp>
        <p:nvSpPr>
          <p:cNvPr id="2087" name="TextBox 60"/>
          <p:cNvSpPr txBox="1">
            <a:spLocks noChangeArrowheads="1"/>
          </p:cNvSpPr>
          <p:nvPr/>
        </p:nvSpPr>
        <p:spPr bwMode="auto">
          <a:xfrm>
            <a:off x="3352800" y="34070925"/>
            <a:ext cx="11079163" cy="427038"/>
          </a:xfrm>
          <a:prstGeom prst="rect">
            <a:avLst/>
          </a:prstGeom>
          <a:noFill/>
          <a:ln w="9525">
            <a:noFill/>
            <a:miter lim="800000"/>
            <a:headEnd/>
            <a:tailEnd/>
          </a:ln>
        </p:spPr>
        <p:txBody>
          <a:bodyPr wrap="none" lIns="0">
            <a:spAutoFit/>
          </a:bodyPr>
          <a:lstStyle/>
          <a:p>
            <a:pPr algn="just">
              <a:lnSpc>
                <a:spcPts val="2600"/>
              </a:lnSpc>
            </a:pPr>
            <a:r>
              <a:rPr lang="en-AU" sz="2600">
                <a:solidFill>
                  <a:srgbClr val="000000"/>
                </a:solidFill>
                <a:latin typeface="Candara" pitchFamily="34" charset="0"/>
              </a:rPr>
              <a:t>to avoid biasing responses; survey presented as a general personality survey. </a:t>
            </a:r>
          </a:p>
        </p:txBody>
      </p:sp>
      <p:sp>
        <p:nvSpPr>
          <p:cNvPr id="2088" name="TextBox 63"/>
          <p:cNvSpPr txBox="1">
            <a:spLocks noChangeArrowheads="1"/>
          </p:cNvSpPr>
          <p:nvPr/>
        </p:nvSpPr>
        <p:spPr bwMode="auto">
          <a:xfrm>
            <a:off x="2962275" y="34370963"/>
            <a:ext cx="7318375" cy="457200"/>
          </a:xfrm>
          <a:prstGeom prst="rect">
            <a:avLst/>
          </a:prstGeom>
          <a:noFill/>
          <a:ln w="9525">
            <a:noFill/>
            <a:miter lim="800000"/>
            <a:headEnd/>
            <a:tailEnd/>
          </a:ln>
        </p:spPr>
        <p:txBody>
          <a:bodyPr wrap="none" lIns="0">
            <a:spAutoFit/>
          </a:bodyPr>
          <a:lstStyle/>
          <a:p>
            <a:pPr algn="just">
              <a:lnSpc>
                <a:spcPts val="2800"/>
              </a:lnSpc>
            </a:pPr>
            <a:r>
              <a:rPr lang="en-AU">
                <a:solidFill>
                  <a:srgbClr val="000000"/>
                </a:solidFill>
              </a:rPr>
              <a:t>●</a:t>
            </a:r>
            <a:r>
              <a:rPr lang="en-AU" sz="2800">
                <a:solidFill>
                  <a:srgbClr val="000000"/>
                </a:solidFill>
                <a:latin typeface="Candara" pitchFamily="34" charset="0"/>
              </a:rPr>
              <a:t>   </a:t>
            </a:r>
            <a:r>
              <a:rPr lang="en-AU" sz="2600">
                <a:solidFill>
                  <a:srgbClr val="000000"/>
                </a:solidFill>
                <a:latin typeface="Candara" pitchFamily="34" charset="0"/>
              </a:rPr>
              <a:t> Anonymous survey completion time: 15 minutes </a:t>
            </a:r>
          </a:p>
        </p:txBody>
      </p:sp>
      <p:sp>
        <p:nvSpPr>
          <p:cNvPr id="2089" name="TextBox 71"/>
          <p:cNvSpPr txBox="1">
            <a:spLocks noChangeArrowheads="1"/>
          </p:cNvSpPr>
          <p:nvPr/>
        </p:nvSpPr>
        <p:spPr bwMode="auto">
          <a:xfrm>
            <a:off x="2952750" y="35213925"/>
            <a:ext cx="8340725" cy="452438"/>
          </a:xfrm>
          <a:prstGeom prst="rect">
            <a:avLst/>
          </a:prstGeom>
          <a:noFill/>
          <a:ln w="9525">
            <a:noFill/>
            <a:miter lim="800000"/>
            <a:headEnd/>
            <a:tailEnd/>
          </a:ln>
        </p:spPr>
        <p:txBody>
          <a:bodyPr wrap="none" lIns="0">
            <a:spAutoFit/>
          </a:bodyPr>
          <a:lstStyle/>
          <a:p>
            <a:pPr algn="just">
              <a:lnSpc>
                <a:spcPts val="2800"/>
              </a:lnSpc>
            </a:pPr>
            <a:r>
              <a:rPr lang="en-AU">
                <a:solidFill>
                  <a:srgbClr val="000000"/>
                </a:solidFill>
              </a:rPr>
              <a:t>●</a:t>
            </a:r>
            <a:r>
              <a:rPr lang="en-AU" sz="2800">
                <a:solidFill>
                  <a:srgbClr val="000000"/>
                </a:solidFill>
                <a:latin typeface="Candara" pitchFamily="34" charset="0"/>
              </a:rPr>
              <a:t>   </a:t>
            </a:r>
            <a:r>
              <a:rPr lang="en-AU" sz="2600">
                <a:solidFill>
                  <a:srgbClr val="000000"/>
                </a:solidFill>
                <a:latin typeface="Candara" pitchFamily="34" charset="0"/>
              </a:rPr>
              <a:t> Survey was available in hard copy and electronic format </a:t>
            </a:r>
          </a:p>
        </p:txBody>
      </p:sp>
      <p:sp>
        <p:nvSpPr>
          <p:cNvPr id="2090" name="TextBox 73"/>
          <p:cNvSpPr txBox="1">
            <a:spLocks noChangeArrowheads="1"/>
          </p:cNvSpPr>
          <p:nvPr/>
        </p:nvSpPr>
        <p:spPr bwMode="auto">
          <a:xfrm>
            <a:off x="18227675" y="36436300"/>
            <a:ext cx="147638" cy="352425"/>
          </a:xfrm>
          <a:prstGeom prst="rect">
            <a:avLst/>
          </a:prstGeom>
          <a:noFill/>
          <a:ln w="9525">
            <a:noFill/>
            <a:miter lim="800000"/>
            <a:headEnd/>
            <a:tailEnd/>
          </a:ln>
        </p:spPr>
        <p:txBody>
          <a:bodyPr wrap="none" lIns="0">
            <a:spAutoFit/>
          </a:bodyPr>
          <a:lstStyle/>
          <a:p>
            <a:pPr algn="just">
              <a:lnSpc>
                <a:spcPts val="2000"/>
              </a:lnSpc>
            </a:pPr>
            <a:r>
              <a:rPr lang="en-AU" sz="2000">
                <a:solidFill>
                  <a:srgbClr val="FFFFFF"/>
                </a:solidFill>
                <a:latin typeface="Candara" pitchFamily="34" charset="0"/>
              </a:rPr>
              <a:t> </a:t>
            </a:r>
          </a:p>
        </p:txBody>
      </p:sp>
      <p:graphicFrame>
        <p:nvGraphicFramePr>
          <p:cNvPr id="135" name="Table 134"/>
          <p:cNvGraphicFramePr>
            <a:graphicFrameLocks noGrp="1"/>
          </p:cNvGraphicFramePr>
          <p:nvPr/>
        </p:nvGraphicFramePr>
        <p:xfrm>
          <a:off x="16611600" y="25163463"/>
          <a:ext cx="13574526" cy="9344023"/>
        </p:xfrm>
        <a:graphic>
          <a:graphicData uri="http://schemas.openxmlformats.org/drawingml/2006/table">
            <a:tbl>
              <a:tblPr/>
              <a:tblGrid>
                <a:gridCol w="4179851"/>
                <a:gridCol w="1074202"/>
                <a:gridCol w="879285"/>
                <a:gridCol w="863044"/>
                <a:gridCol w="803485"/>
                <a:gridCol w="1007063"/>
                <a:gridCol w="863044"/>
                <a:gridCol w="1060122"/>
                <a:gridCol w="818644"/>
                <a:gridCol w="1184942"/>
                <a:gridCol w="840844"/>
              </a:tblGrid>
              <a:tr h="688131">
                <a:tc>
                  <a:txBody>
                    <a:bodyPr/>
                    <a:lstStyle/>
                    <a:p>
                      <a:pPr>
                        <a:spcAft>
                          <a:spcPts val="0"/>
                        </a:spcAft>
                      </a:pPr>
                      <a:r>
                        <a:rPr lang="en-AU" sz="2600" dirty="0" smtClean="0">
                          <a:solidFill>
                            <a:schemeClr val="bg1"/>
                          </a:solidFill>
                          <a:latin typeface="Candara" pitchFamily="34" charset="0"/>
                          <a:ea typeface="Times New Roman"/>
                          <a:cs typeface="Times New Roman"/>
                        </a:rPr>
                        <a:t>Means </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4">
                  <a:txBody>
                    <a:bodyPr/>
                    <a:lstStyle/>
                    <a:p>
                      <a:pPr algn="ctr">
                        <a:spcAft>
                          <a:spcPts val="0"/>
                        </a:spcAft>
                      </a:pPr>
                      <a:r>
                        <a:rPr lang="en-AU" sz="2600" dirty="0" smtClean="0">
                          <a:solidFill>
                            <a:schemeClr val="bg1"/>
                          </a:solidFill>
                          <a:latin typeface="Candara" pitchFamily="34" charset="0"/>
                          <a:ea typeface="Times New Roman"/>
                          <a:cs typeface="Times New Roman"/>
                        </a:rPr>
                        <a:t>Norms </a:t>
                      </a:r>
                      <a:r>
                        <a:rPr lang="en-AU" sz="2600" i="1" dirty="0" smtClean="0">
                          <a:solidFill>
                            <a:schemeClr val="bg1"/>
                          </a:solidFill>
                          <a:latin typeface="Candara" pitchFamily="34" charset="0"/>
                          <a:ea typeface="Times New Roman"/>
                          <a:cs typeface="Times New Roman"/>
                        </a:rPr>
                        <a:t>N</a:t>
                      </a:r>
                      <a:r>
                        <a:rPr lang="en-AU" sz="2600" dirty="0" smtClean="0">
                          <a:solidFill>
                            <a:schemeClr val="bg1"/>
                          </a:solidFill>
                          <a:latin typeface="Candara" pitchFamily="34" charset="0"/>
                          <a:ea typeface="Times New Roman"/>
                          <a:cs typeface="Times New Roman"/>
                        </a:rPr>
                        <a:t> = 194</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4">
                  <a:txBody>
                    <a:bodyPr/>
                    <a:lstStyle/>
                    <a:p>
                      <a:pPr algn="ctr">
                        <a:spcAft>
                          <a:spcPts val="0"/>
                        </a:spcAft>
                      </a:pPr>
                      <a:r>
                        <a:rPr lang="en-AU" sz="2600" dirty="0" smtClean="0">
                          <a:solidFill>
                            <a:schemeClr val="bg1"/>
                          </a:solidFill>
                          <a:latin typeface="Candara" pitchFamily="34" charset="0"/>
                          <a:ea typeface="Times New Roman"/>
                          <a:cs typeface="Times New Roman"/>
                        </a:rPr>
                        <a:t>Current Study</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2">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r>
              <a:tr h="688131">
                <a:tc>
                  <a:txBody>
                    <a:bodyPr/>
                    <a:lstStyle/>
                    <a:p>
                      <a:pP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2">
                  <a:txBody>
                    <a:bodyPr/>
                    <a:lstStyle/>
                    <a:p>
                      <a:pPr algn="ctr">
                        <a:spcAft>
                          <a:spcPts val="0"/>
                        </a:spcAft>
                      </a:pPr>
                      <a:r>
                        <a:rPr lang="en-AU" sz="2600" dirty="0" smtClean="0">
                          <a:solidFill>
                            <a:schemeClr val="bg1"/>
                          </a:solidFill>
                          <a:latin typeface="Candara" pitchFamily="34" charset="0"/>
                          <a:ea typeface="Times New Roman"/>
                          <a:cs typeface="Times New Roman"/>
                        </a:rPr>
                        <a:t>Males</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2">
                  <a:txBody>
                    <a:bodyPr/>
                    <a:lstStyle/>
                    <a:p>
                      <a:pPr algn="ctr">
                        <a:spcAft>
                          <a:spcPts val="0"/>
                        </a:spcAft>
                      </a:pPr>
                      <a:r>
                        <a:rPr lang="en-AU" sz="2600" dirty="0" smtClean="0">
                          <a:solidFill>
                            <a:schemeClr val="bg1"/>
                          </a:solidFill>
                          <a:latin typeface="Candara" pitchFamily="34" charset="0"/>
                          <a:ea typeface="Times New Roman"/>
                          <a:cs typeface="Times New Roman"/>
                        </a:rPr>
                        <a:t>Females</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2">
                  <a:txBody>
                    <a:bodyPr/>
                    <a:lstStyle/>
                    <a:p>
                      <a:pPr algn="ctr">
                        <a:spcAft>
                          <a:spcPts val="0"/>
                        </a:spcAft>
                      </a:pPr>
                      <a:r>
                        <a:rPr lang="en-AU" sz="2600" dirty="0" smtClean="0">
                          <a:solidFill>
                            <a:schemeClr val="bg1"/>
                          </a:solidFill>
                          <a:latin typeface="Candara" pitchFamily="34" charset="0"/>
                          <a:ea typeface="Times New Roman"/>
                          <a:cs typeface="Times New Roman"/>
                        </a:rPr>
                        <a:t>Males</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2">
                  <a:txBody>
                    <a:bodyPr/>
                    <a:lstStyle/>
                    <a:p>
                      <a:pPr algn="ctr">
                        <a:spcAft>
                          <a:spcPts val="0"/>
                        </a:spcAft>
                      </a:pPr>
                      <a:r>
                        <a:rPr lang="en-AU" sz="2600" dirty="0" smtClean="0">
                          <a:solidFill>
                            <a:schemeClr val="bg1"/>
                          </a:solidFill>
                          <a:latin typeface="Candara" pitchFamily="34" charset="0"/>
                          <a:ea typeface="Times New Roman"/>
                          <a:cs typeface="Times New Roman"/>
                        </a:rPr>
                        <a:t>Females</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2">
                  <a:txBody>
                    <a:bodyPr/>
                    <a:lstStyle/>
                    <a:p>
                      <a:pPr algn="ctr">
                        <a:spcAft>
                          <a:spcPts val="0"/>
                        </a:spcAft>
                      </a:pPr>
                      <a:r>
                        <a:rPr lang="en-AU" sz="2600" dirty="0" smtClean="0">
                          <a:solidFill>
                            <a:schemeClr val="bg1"/>
                          </a:solidFill>
                          <a:latin typeface="Candara" pitchFamily="34" charset="0"/>
                          <a:ea typeface="Times New Roman"/>
                          <a:cs typeface="Times New Roman"/>
                        </a:rPr>
                        <a:t>Totals</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r>
              <a:tr h="688131">
                <a:tc>
                  <a:txBody>
                    <a:bodyPr/>
                    <a:lstStyle/>
                    <a:p>
                      <a:pP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M</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SD</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M</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SD</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M</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SD</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M</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SD</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M</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i="1" dirty="0" smtClean="0">
                          <a:solidFill>
                            <a:schemeClr val="bg1"/>
                          </a:solidFill>
                          <a:latin typeface="Candara" pitchFamily="34" charset="0"/>
                          <a:ea typeface="Times New Roman"/>
                          <a:cs typeface="Times New Roman"/>
                        </a:rPr>
                        <a:t>SD</a:t>
                      </a:r>
                      <a:endParaRPr lang="en-AU" sz="2600" i="1"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r>
              <a:tr h="948225">
                <a:tc>
                  <a:txBody>
                    <a:bodyPr/>
                    <a:lstStyle/>
                    <a:p>
                      <a:pPr>
                        <a:spcAft>
                          <a:spcPts val="0"/>
                        </a:spcAft>
                      </a:pPr>
                      <a:r>
                        <a:rPr lang="en-AU" sz="2600" dirty="0">
                          <a:solidFill>
                            <a:schemeClr val="bg1"/>
                          </a:solidFill>
                          <a:latin typeface="Candara" pitchFamily="34" charset="0"/>
                          <a:ea typeface="Times New Roman"/>
                          <a:cs typeface="Times New Roman"/>
                        </a:rPr>
                        <a:t>Interpersonal Manipulation (IPM)</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47.2</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9.5</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41.0</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8.9</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39.19</a:t>
                      </a:r>
                    </a:p>
                  </a:txBody>
                  <a:tcPr marL="68580" marR="68580" marT="0" marB="0" anchor="ctr">
                    <a:lnL>
                      <a:noFill/>
                    </a:lnL>
                    <a:lnR>
                      <a:noFill/>
                    </a:lnR>
                    <a:lnT>
                      <a:noFill/>
                    </a:lnT>
                    <a:lnB>
                      <a:noFill/>
                    </a:lnB>
                  </a:tcPr>
                </a:tc>
                <a:tc>
                  <a:txBody>
                    <a:bodyPr/>
                    <a:lstStyle/>
                    <a:p>
                      <a:pPr algn="ctr">
                        <a:spcAft>
                          <a:spcPts val="0"/>
                        </a:spcAft>
                      </a:pPr>
                      <a:r>
                        <a:rPr lang="en-AU" sz="2600" dirty="0" smtClean="0">
                          <a:solidFill>
                            <a:schemeClr val="bg1"/>
                          </a:solidFill>
                          <a:latin typeface="Candara" pitchFamily="34" charset="0"/>
                          <a:ea typeface="Times New Roman"/>
                          <a:cs typeface="Times New Roman"/>
                        </a:rPr>
                        <a:t>10.4</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32.49</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7.77</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34.48</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9.17</a:t>
                      </a:r>
                    </a:p>
                  </a:txBody>
                  <a:tcPr marL="68580" marR="68580" marT="0" marB="0" anchor="ctr">
                    <a:lnL>
                      <a:noFill/>
                    </a:lnL>
                    <a:lnR>
                      <a:noFill/>
                    </a:lnR>
                    <a:lnT>
                      <a:noFill/>
                    </a:lnT>
                    <a:lnB>
                      <a:noFill/>
                    </a:lnB>
                  </a:tcPr>
                </a:tc>
              </a:tr>
              <a:tr h="688131">
                <a:tc>
                  <a:txBody>
                    <a:bodyPr/>
                    <a:lstStyle/>
                    <a:p>
                      <a:pPr>
                        <a:spcAft>
                          <a:spcPts val="0"/>
                        </a:spcAft>
                      </a:pPr>
                      <a:r>
                        <a:rPr lang="en-AU" sz="2600" dirty="0">
                          <a:solidFill>
                            <a:schemeClr val="bg1"/>
                          </a:solidFill>
                          <a:latin typeface="Candara" pitchFamily="34" charset="0"/>
                          <a:ea typeface="Times New Roman"/>
                          <a:cs typeface="Times New Roman"/>
                        </a:rPr>
                        <a:t>Callous Affect (CA)</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44.5</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7.2</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34.3</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8.0</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38.62</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9.01</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30.46</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6.40</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32.88</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8.16</a:t>
                      </a:r>
                    </a:p>
                  </a:txBody>
                  <a:tcPr marL="68580" marR="68580" marT="0" marB="0" anchor="ctr">
                    <a:lnL>
                      <a:noFill/>
                    </a:lnL>
                    <a:lnR>
                      <a:noFill/>
                    </a:lnR>
                    <a:lnT>
                      <a:noFill/>
                    </a:lnT>
                    <a:lnB>
                      <a:noFill/>
                    </a:lnB>
                  </a:tcPr>
                </a:tc>
              </a:tr>
              <a:tr h="688131">
                <a:tc>
                  <a:txBody>
                    <a:bodyPr/>
                    <a:lstStyle/>
                    <a:p>
                      <a:pPr>
                        <a:spcAft>
                          <a:spcPts val="0"/>
                        </a:spcAft>
                      </a:pPr>
                      <a:r>
                        <a:rPr lang="en-AU" sz="2600" dirty="0">
                          <a:solidFill>
                            <a:schemeClr val="bg1"/>
                          </a:solidFill>
                          <a:latin typeface="Candara" pitchFamily="34" charset="0"/>
                          <a:ea typeface="Times New Roman"/>
                          <a:cs typeface="Times New Roman"/>
                        </a:rPr>
                        <a:t>Erratic Lifestyle (ELS)</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46.5</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9.0</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41.4</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8.2</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43.24</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9.50</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35.02</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8.84</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37.46</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9.78</a:t>
                      </a:r>
                    </a:p>
                  </a:txBody>
                  <a:tcPr marL="68580" marR="68580" marT="0" marB="0" anchor="ctr">
                    <a:lnL>
                      <a:noFill/>
                    </a:lnL>
                    <a:lnR>
                      <a:noFill/>
                    </a:lnR>
                    <a:lnT>
                      <a:noFill/>
                    </a:lnT>
                    <a:lnB>
                      <a:noFill/>
                    </a:lnB>
                  </a:tcPr>
                </a:tc>
              </a:tr>
              <a:tr h="688131">
                <a:tc>
                  <a:txBody>
                    <a:bodyPr/>
                    <a:lstStyle/>
                    <a:p>
                      <a:pPr>
                        <a:spcAft>
                          <a:spcPts val="0"/>
                        </a:spcAft>
                      </a:pPr>
                      <a:r>
                        <a:rPr lang="en-AU" sz="2600" dirty="0">
                          <a:solidFill>
                            <a:schemeClr val="bg1"/>
                          </a:solidFill>
                          <a:latin typeface="Candara" pitchFamily="34" charset="0"/>
                          <a:ea typeface="Times New Roman"/>
                          <a:cs typeface="Times New Roman"/>
                        </a:rPr>
                        <a:t>Criminal Tendencies (CT)</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26.9</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8.9</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22.8</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8.3</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25.75</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21.34</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21.34</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5.55</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22.65</a:t>
                      </a:r>
                    </a:p>
                  </a:txBody>
                  <a:tcPr marL="68580" marR="68580" marT="0" marB="0" anchor="ctr">
                    <a:lnL>
                      <a:noFill/>
                    </a:lnL>
                    <a:lnR>
                      <a:noFill/>
                    </a:lnR>
                    <a:lnT>
                      <a:noFill/>
                    </a:lnT>
                    <a:lnB>
                      <a:noFill/>
                    </a:lnB>
                  </a:tcPr>
                </a:tc>
                <a:tc>
                  <a:txBody>
                    <a:bodyPr/>
                    <a:lstStyle/>
                    <a:p>
                      <a:pPr algn="ctr">
                        <a:spcAft>
                          <a:spcPts val="0"/>
                        </a:spcAft>
                      </a:pPr>
                      <a:r>
                        <a:rPr lang="en-AU" sz="2600" dirty="0">
                          <a:solidFill>
                            <a:schemeClr val="bg1"/>
                          </a:solidFill>
                          <a:latin typeface="Candara" pitchFamily="34" charset="0"/>
                          <a:ea typeface="Times New Roman"/>
                          <a:cs typeface="Times New Roman"/>
                        </a:rPr>
                        <a:t>6.87</a:t>
                      </a:r>
                    </a:p>
                  </a:txBody>
                  <a:tcPr marL="68580" marR="68580" marT="0" marB="0" anchor="ctr">
                    <a:lnL>
                      <a:noFill/>
                    </a:lnL>
                    <a:lnR>
                      <a:noFill/>
                    </a:lnR>
                    <a:lnT>
                      <a:noFill/>
                    </a:lnT>
                    <a:lnB>
                      <a:noFill/>
                    </a:lnB>
                  </a:tcPr>
                </a:tc>
              </a:tr>
              <a:tr h="474112">
                <a:tc>
                  <a:txBody>
                    <a:bodyPr/>
                    <a:lstStyle/>
                    <a:p>
                      <a:pP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gridSpan="2">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a:noFill/>
                    </a:lnB>
                  </a:tcPr>
                </a:tc>
                <a:tc hMerge="1">
                  <a:txBody>
                    <a:bodyPr/>
                    <a:lstStyle/>
                    <a:p>
                      <a:endParaRPr lang="en-AU"/>
                    </a:p>
                  </a:txBody>
                  <a:tcPr/>
                </a:tc>
              </a:tr>
              <a:tr h="948225">
                <a:tc>
                  <a:txBody>
                    <a:bodyPr/>
                    <a:lstStyle/>
                    <a:p>
                      <a:pPr>
                        <a:spcAft>
                          <a:spcPts val="0"/>
                        </a:spcAft>
                      </a:pPr>
                      <a:r>
                        <a:rPr lang="en-AU" sz="2600" dirty="0">
                          <a:solidFill>
                            <a:schemeClr val="bg1"/>
                          </a:solidFill>
                          <a:latin typeface="Candara" pitchFamily="34" charset="0"/>
                          <a:ea typeface="Times New Roman"/>
                          <a:cs typeface="Times New Roman"/>
                        </a:rPr>
                        <a:t>SRP-III Total Score</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165.2</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27.4</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139.6</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25.4</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smtClean="0">
                          <a:solidFill>
                            <a:schemeClr val="bg1"/>
                          </a:solidFill>
                          <a:latin typeface="Candara" pitchFamily="34" charset="0"/>
                          <a:ea typeface="Times New Roman"/>
                          <a:cs typeface="Times New Roman"/>
                        </a:rPr>
                        <a:t>147.0</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smtClean="0">
                          <a:solidFill>
                            <a:schemeClr val="bg1"/>
                          </a:solidFill>
                          <a:latin typeface="Candara" pitchFamily="34" charset="0"/>
                          <a:ea typeface="Times New Roman"/>
                          <a:cs typeface="Times New Roman"/>
                        </a:rPr>
                        <a:t>33.2</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118.73</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23.12</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127.46</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smtClean="0">
                          <a:solidFill>
                            <a:schemeClr val="bg1"/>
                          </a:solidFill>
                          <a:latin typeface="Candara" pitchFamily="34" charset="0"/>
                          <a:ea typeface="Times New Roman"/>
                          <a:cs typeface="Times New Roman"/>
                        </a:rPr>
                        <a:t>28.5</a:t>
                      </a: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noFill/>
                      <a:prstDash val="solid"/>
                      <a:round/>
                      <a:headEnd type="none" w="med" len="med"/>
                      <a:tailEnd type="none" w="med" len="med"/>
                    </a:lnB>
                  </a:tcPr>
                </a:tc>
              </a:tr>
              <a:tr h="948225">
                <a:tc>
                  <a:txBody>
                    <a:bodyPr/>
                    <a:lstStyle/>
                    <a:p>
                      <a:pPr>
                        <a:spcAft>
                          <a:spcPts val="0"/>
                        </a:spcAft>
                      </a:pPr>
                      <a:r>
                        <a:rPr lang="en-AU" sz="2600" dirty="0">
                          <a:solidFill>
                            <a:schemeClr val="bg1"/>
                          </a:solidFill>
                          <a:latin typeface="Candara" pitchFamily="34" charset="0"/>
                          <a:ea typeface="Times New Roman"/>
                          <a:cs typeface="Times New Roman"/>
                        </a:rPr>
                        <a:t>Self-Deceptive Enhancement (SDE)</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2.20</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2.30</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3.00</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3.27</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2.80</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3.00</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2.88</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3.05</a:t>
                      </a:r>
                    </a:p>
                  </a:txBody>
                  <a:tcPr marL="68580" marR="68580" marT="0" marB="0" anchor="ctr">
                    <a:lnL>
                      <a:noFill/>
                    </a:lnL>
                    <a:lnR>
                      <a:noFill/>
                    </a:lnR>
                    <a:lnT>
                      <a:noFill/>
                    </a:lnT>
                    <a:lnB w="12700" cap="flat" cmpd="sng" algn="ctr">
                      <a:noFill/>
                      <a:prstDash val="solid"/>
                      <a:round/>
                      <a:headEnd type="none" w="med" len="med"/>
                      <a:tailEnd type="none" w="med" len="med"/>
                    </a:lnB>
                  </a:tcPr>
                </a:tc>
              </a:tr>
              <a:tr h="948225">
                <a:tc>
                  <a:txBody>
                    <a:bodyPr/>
                    <a:lstStyle/>
                    <a:p>
                      <a:pPr>
                        <a:spcAft>
                          <a:spcPts val="0"/>
                        </a:spcAft>
                      </a:pPr>
                      <a:r>
                        <a:rPr lang="en-AU" sz="2600" dirty="0">
                          <a:solidFill>
                            <a:schemeClr val="bg1"/>
                          </a:solidFill>
                          <a:latin typeface="Candara" pitchFamily="34" charset="0"/>
                          <a:ea typeface="Times New Roman"/>
                          <a:cs typeface="Times New Roman"/>
                        </a:rPr>
                        <a:t>Impression Management (IM)</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6.70</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4.00</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6.78</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3.37</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8.59</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3.80</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8.36</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3.80</a:t>
                      </a:r>
                    </a:p>
                  </a:txBody>
                  <a:tcPr marL="68580" marR="68580" marT="0" marB="0" anchor="ctr">
                    <a:lnL>
                      <a:noFill/>
                    </a:lnL>
                    <a:lnR>
                      <a:noFill/>
                    </a:lnR>
                    <a:lnT>
                      <a:noFill/>
                    </a:lnT>
                    <a:lnB w="12700" cap="flat" cmpd="sng" algn="ctr">
                      <a:noFill/>
                      <a:prstDash val="solid"/>
                      <a:round/>
                      <a:headEnd type="none" w="med" len="med"/>
                      <a:tailEnd type="none" w="med" len="med"/>
                    </a:lnB>
                  </a:tcPr>
                </a:tc>
              </a:tr>
              <a:tr h="948225">
                <a:tc>
                  <a:txBody>
                    <a:bodyPr/>
                    <a:lstStyle/>
                    <a:p>
                      <a:pPr>
                        <a:spcAft>
                          <a:spcPts val="0"/>
                        </a:spcAft>
                      </a:pPr>
                      <a:r>
                        <a:rPr lang="en-AU" sz="2600" dirty="0">
                          <a:solidFill>
                            <a:schemeClr val="bg1"/>
                          </a:solidFill>
                          <a:latin typeface="Candara" pitchFamily="34" charset="0"/>
                          <a:ea typeface="Times New Roman"/>
                          <a:cs typeface="Times New Roman"/>
                        </a:rPr>
                        <a:t>PDS Total Score</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8.90</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3.70</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AU" sz="2600" dirty="0">
                        <a:solidFill>
                          <a:schemeClr val="bg1"/>
                        </a:solidFill>
                        <a:latin typeface="Candara" pitchFamily="34" charset="0"/>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9.43</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4.71</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11.20</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5.28</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11.22</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2600" dirty="0">
                          <a:solidFill>
                            <a:schemeClr val="bg1"/>
                          </a:solidFill>
                          <a:latin typeface="Candara" pitchFamily="34" charset="0"/>
                          <a:ea typeface="Times New Roman"/>
                          <a:cs typeface="Times New Roman"/>
                        </a:rPr>
                        <a:t>5.30</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2212" name="TextBox 66"/>
          <p:cNvSpPr txBox="1">
            <a:spLocks noChangeArrowheads="1"/>
          </p:cNvSpPr>
          <p:nvPr/>
        </p:nvSpPr>
        <p:spPr bwMode="auto">
          <a:xfrm>
            <a:off x="2987675" y="34807525"/>
            <a:ext cx="5200650" cy="455613"/>
          </a:xfrm>
          <a:prstGeom prst="rect">
            <a:avLst/>
          </a:prstGeom>
          <a:noFill/>
          <a:ln w="9525">
            <a:noFill/>
            <a:miter lim="800000"/>
            <a:headEnd/>
            <a:tailEnd/>
          </a:ln>
        </p:spPr>
        <p:txBody>
          <a:bodyPr wrap="none" lIns="0">
            <a:spAutoFit/>
          </a:bodyPr>
          <a:lstStyle/>
          <a:p>
            <a:pPr algn="just">
              <a:lnSpc>
                <a:spcPts val="2800"/>
              </a:lnSpc>
            </a:pPr>
            <a:r>
              <a:rPr lang="en-AU">
                <a:solidFill>
                  <a:srgbClr val="000000"/>
                </a:solidFill>
              </a:rPr>
              <a:t>●</a:t>
            </a:r>
            <a:r>
              <a:rPr lang="en-AU" sz="2800">
                <a:solidFill>
                  <a:srgbClr val="000000"/>
                </a:solidFill>
                <a:latin typeface="Candara" pitchFamily="34" charset="0"/>
              </a:rPr>
              <a:t>   </a:t>
            </a:r>
            <a:r>
              <a:rPr lang="en-AU" sz="2600">
                <a:solidFill>
                  <a:srgbClr val="000000"/>
                </a:solidFill>
                <a:latin typeface="Candara" pitchFamily="34" charset="0"/>
              </a:rPr>
              <a:t> Data collection period: 6 months </a:t>
            </a:r>
          </a:p>
        </p:txBody>
      </p:sp>
      <p:sp>
        <p:nvSpPr>
          <p:cNvPr id="2213" name="TextBox 39"/>
          <p:cNvSpPr txBox="1">
            <a:spLocks noChangeArrowheads="1"/>
          </p:cNvSpPr>
          <p:nvPr/>
        </p:nvSpPr>
        <p:spPr bwMode="auto">
          <a:xfrm>
            <a:off x="19308763" y="36304538"/>
            <a:ext cx="5313362" cy="669925"/>
          </a:xfrm>
          <a:prstGeom prst="rect">
            <a:avLst/>
          </a:prstGeom>
          <a:noFill/>
          <a:ln w="9525">
            <a:noFill/>
            <a:miter lim="800000"/>
            <a:headEnd/>
            <a:tailEnd/>
          </a:ln>
        </p:spPr>
        <p:txBody>
          <a:bodyPr lIns="0">
            <a:spAutoFit/>
          </a:bodyPr>
          <a:lstStyle/>
          <a:p>
            <a:pPr algn="just">
              <a:lnSpc>
                <a:spcPts val="4500"/>
              </a:lnSpc>
            </a:pPr>
            <a:endParaRPr lang="en-AU" sz="4500">
              <a:solidFill>
                <a:srgbClr val="FFFFFF"/>
              </a:solidFill>
              <a:latin typeface="Candara Bold" pitchFamily="34" charset="0"/>
            </a:endParaRPr>
          </a:p>
        </p:txBody>
      </p:sp>
      <p:sp>
        <p:nvSpPr>
          <p:cNvPr id="47" name="Rectangle 46"/>
          <p:cNvSpPr/>
          <p:nvPr/>
        </p:nvSpPr>
        <p:spPr>
          <a:xfrm>
            <a:off x="15779750" y="35945763"/>
            <a:ext cx="12746038" cy="2446337"/>
          </a:xfrm>
          <a:prstGeom prst="rect">
            <a:avLst/>
          </a:prstGeom>
          <a:solidFill>
            <a:srgbClr val="0C0C0C"/>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just">
              <a:lnSpc>
                <a:spcPts val="4500"/>
              </a:lnSpc>
              <a:defRPr/>
            </a:pPr>
            <a:r>
              <a:rPr lang="en-AU" sz="4400" dirty="0">
                <a:solidFill>
                  <a:srgbClr val="FFFFFF"/>
                </a:solidFill>
                <a:latin typeface="Candara Bold" pitchFamily="34" charset="0"/>
              </a:rPr>
              <a:t>                          </a:t>
            </a:r>
            <a:endParaRPr lang="en-AU" sz="6000" dirty="0">
              <a:solidFill>
                <a:srgbClr val="FFFFFF"/>
              </a:solidFill>
              <a:latin typeface="Candara Bold" pitchFamily="34" charset="0"/>
            </a:endParaRPr>
          </a:p>
        </p:txBody>
      </p:sp>
      <p:sp>
        <p:nvSpPr>
          <p:cNvPr id="137" name="TextBox 66"/>
          <p:cNvSpPr txBox="1">
            <a:spLocks noChangeArrowheads="1"/>
          </p:cNvSpPr>
          <p:nvPr/>
        </p:nvSpPr>
        <p:spPr bwMode="auto">
          <a:xfrm>
            <a:off x="2406650" y="37311013"/>
            <a:ext cx="28846463" cy="5837237"/>
          </a:xfrm>
          <a:prstGeom prst="rect">
            <a:avLst/>
          </a:prstGeom>
          <a:noFill/>
          <a:ln w="9525">
            <a:noFill/>
            <a:miter lim="800000"/>
            <a:headEnd/>
            <a:tailEnd/>
          </a:ln>
        </p:spPr>
        <p:txBody>
          <a:bodyPr lIns="0">
            <a:spAutoFit/>
          </a:bodyPr>
          <a:lstStyle/>
          <a:p>
            <a:pPr marL="514350" indent="-514350" algn="just">
              <a:lnSpc>
                <a:spcPts val="2800"/>
              </a:lnSpc>
              <a:buFont typeface="+mj-lt"/>
              <a:buAutoNum type="arabicPeriod"/>
              <a:defRPr/>
            </a:pPr>
            <a:r>
              <a:rPr lang="en-AU" sz="3600" dirty="0">
                <a:solidFill>
                  <a:schemeClr val="bg1"/>
                </a:solidFill>
                <a:latin typeface="Candara" pitchFamily="34" charset="0"/>
              </a:rPr>
              <a:t>3 </a:t>
            </a:r>
            <a:r>
              <a:rPr lang="en-AU" sz="3600" dirty="0">
                <a:solidFill>
                  <a:schemeClr val="bg1"/>
                </a:solidFill>
                <a:latin typeface="Candara" pitchFamily="34" charset="0"/>
              </a:rPr>
              <a:t>participants had total SRP-III scores that were 3 </a:t>
            </a:r>
            <a:r>
              <a:rPr lang="en-AU" sz="3600" i="1" dirty="0">
                <a:solidFill>
                  <a:schemeClr val="bg1"/>
                </a:solidFill>
                <a:latin typeface="Candara" pitchFamily="34" charset="0"/>
              </a:rPr>
              <a:t>SD</a:t>
            </a:r>
            <a:r>
              <a:rPr lang="en-AU" sz="3600" dirty="0">
                <a:solidFill>
                  <a:schemeClr val="bg1"/>
                </a:solidFill>
                <a:latin typeface="Candara" pitchFamily="34" charset="0"/>
              </a:rPr>
              <a:t> above the mean which suggests that 1% of the sample had psychopathic </a:t>
            </a:r>
            <a:r>
              <a:rPr lang="en-AU" sz="3600" dirty="0">
                <a:solidFill>
                  <a:schemeClr val="bg1"/>
                </a:solidFill>
                <a:latin typeface="Candara" pitchFamily="34" charset="0"/>
              </a:rPr>
              <a:t>tendencies</a:t>
            </a:r>
          </a:p>
          <a:p>
            <a:pPr marL="514350" indent="-514350" algn="just">
              <a:lnSpc>
                <a:spcPts val="2800"/>
              </a:lnSpc>
              <a:defRPr/>
            </a:pPr>
            <a:endParaRPr lang="en-AU" sz="3600" dirty="0">
              <a:solidFill>
                <a:schemeClr val="bg1"/>
              </a:solidFill>
              <a:latin typeface="Candara" pitchFamily="34" charset="0"/>
            </a:endParaRPr>
          </a:p>
          <a:p>
            <a:pPr marL="742950" indent="-742950" algn="just">
              <a:lnSpc>
                <a:spcPts val="2800"/>
              </a:lnSpc>
              <a:buFont typeface="+mj-lt"/>
              <a:buAutoNum type="arabicPeriod" startAt="2"/>
              <a:defRPr/>
            </a:pPr>
            <a:r>
              <a:rPr lang="en-AU" sz="3600" dirty="0">
                <a:solidFill>
                  <a:schemeClr val="bg1"/>
                </a:solidFill>
                <a:latin typeface="Candara" pitchFamily="34" charset="0"/>
              </a:rPr>
              <a:t>Participants </a:t>
            </a:r>
            <a:r>
              <a:rPr lang="en-AU" sz="3600" dirty="0">
                <a:solidFill>
                  <a:schemeClr val="bg1"/>
                </a:solidFill>
                <a:latin typeface="Candara" pitchFamily="34" charset="0"/>
              </a:rPr>
              <a:t>scored much higher on Impression Management </a:t>
            </a:r>
            <a:r>
              <a:rPr lang="en-AU" sz="3600" dirty="0">
                <a:solidFill>
                  <a:schemeClr val="bg1"/>
                </a:solidFill>
                <a:latin typeface="Candara" pitchFamily="34" charset="0"/>
              </a:rPr>
              <a:t>tendencies (IM) than Self-Deception tendencies (SDE) </a:t>
            </a:r>
            <a:endParaRPr lang="en-AU" sz="3600" dirty="0">
              <a:solidFill>
                <a:schemeClr val="bg1"/>
              </a:solidFill>
              <a:latin typeface="Candara" pitchFamily="34" charset="0"/>
            </a:endParaRPr>
          </a:p>
          <a:p>
            <a:pPr marL="514350" indent="-514350" algn="just">
              <a:lnSpc>
                <a:spcPts val="2800"/>
              </a:lnSpc>
              <a:defRPr/>
            </a:pPr>
            <a:endParaRPr lang="en-AU" sz="3600" dirty="0">
              <a:solidFill>
                <a:schemeClr val="bg1"/>
              </a:solidFill>
              <a:latin typeface="Candara" pitchFamily="34" charset="0"/>
            </a:endParaRPr>
          </a:p>
          <a:p>
            <a:pPr marL="514350" indent="-514350" algn="just">
              <a:lnSpc>
                <a:spcPts val="2800"/>
              </a:lnSpc>
              <a:buFont typeface="+mj-lt"/>
              <a:buAutoNum type="arabicPeriod" startAt="3"/>
              <a:defRPr/>
            </a:pPr>
            <a:r>
              <a:rPr lang="en-AU" sz="3600" dirty="0">
                <a:solidFill>
                  <a:schemeClr val="bg1"/>
                </a:solidFill>
                <a:latin typeface="Candara" pitchFamily="34" charset="0"/>
              </a:rPr>
              <a:t>  Correlations</a:t>
            </a:r>
          </a:p>
          <a:p>
            <a:pPr marL="514350" indent="-514350" algn="just">
              <a:lnSpc>
                <a:spcPts val="2800"/>
              </a:lnSpc>
              <a:buFont typeface="+mj-lt"/>
              <a:buAutoNum type="arabicPeriod" startAt="3"/>
              <a:defRPr/>
            </a:pPr>
            <a:endParaRPr lang="en-AU" sz="3600" dirty="0">
              <a:solidFill>
                <a:schemeClr val="bg1"/>
              </a:solidFill>
              <a:latin typeface="Candara" pitchFamily="34" charset="0"/>
            </a:endParaRPr>
          </a:p>
          <a:p>
            <a:pPr marL="971550" lvl="1" indent="-514350" algn="just">
              <a:lnSpc>
                <a:spcPts val="2800"/>
              </a:lnSpc>
              <a:buFont typeface="+mj-lt"/>
              <a:buAutoNum type="alphaLcPeriod"/>
              <a:defRPr/>
            </a:pPr>
            <a:r>
              <a:rPr lang="en-AU" sz="3600" dirty="0">
                <a:solidFill>
                  <a:schemeClr val="bg1"/>
                </a:solidFill>
                <a:latin typeface="Candara" pitchFamily="34" charset="0"/>
              </a:rPr>
              <a:t>SRP- III factors highly </a:t>
            </a:r>
            <a:r>
              <a:rPr lang="en-AU" sz="3600" dirty="0">
                <a:solidFill>
                  <a:schemeClr val="bg1"/>
                </a:solidFill>
                <a:latin typeface="Candara" pitchFamily="34" charset="0"/>
              </a:rPr>
              <a:t>correlated</a:t>
            </a:r>
          </a:p>
          <a:p>
            <a:pPr marL="971550" lvl="1" indent="-514350" algn="just">
              <a:lnSpc>
                <a:spcPts val="2800"/>
              </a:lnSpc>
              <a:defRPr/>
            </a:pPr>
            <a:endParaRPr lang="en-AU" sz="3600" dirty="0">
              <a:solidFill>
                <a:schemeClr val="bg1"/>
              </a:solidFill>
              <a:latin typeface="Candara" pitchFamily="34" charset="0"/>
            </a:endParaRPr>
          </a:p>
          <a:p>
            <a:pPr marL="971550" lvl="1" indent="-514350" algn="just">
              <a:lnSpc>
                <a:spcPts val="2800"/>
              </a:lnSpc>
              <a:buFont typeface="+mj-lt"/>
              <a:buAutoNum type="alphaLcPeriod"/>
              <a:defRPr/>
            </a:pPr>
            <a:r>
              <a:rPr lang="en-AU" sz="3600" dirty="0">
                <a:solidFill>
                  <a:schemeClr val="bg1"/>
                </a:solidFill>
                <a:latin typeface="Candara" pitchFamily="34" charset="0"/>
              </a:rPr>
              <a:t>Significant negative relationships between SRP-III factors and Impression </a:t>
            </a:r>
            <a:r>
              <a:rPr lang="en-AU" sz="3600" dirty="0">
                <a:solidFill>
                  <a:schemeClr val="bg1"/>
                </a:solidFill>
                <a:latin typeface="Candara" pitchFamily="34" charset="0"/>
              </a:rPr>
              <a:t>Management</a:t>
            </a:r>
          </a:p>
          <a:p>
            <a:pPr marL="971550" lvl="1" indent="-514350" algn="just">
              <a:lnSpc>
                <a:spcPts val="2800"/>
              </a:lnSpc>
              <a:defRPr/>
            </a:pPr>
            <a:endParaRPr lang="en-AU" sz="3600" dirty="0">
              <a:solidFill>
                <a:schemeClr val="bg1"/>
              </a:solidFill>
              <a:latin typeface="Candara" pitchFamily="34" charset="0"/>
            </a:endParaRPr>
          </a:p>
          <a:p>
            <a:pPr marL="971550" lvl="1" indent="-514350" algn="just">
              <a:lnSpc>
                <a:spcPts val="2800"/>
              </a:lnSpc>
              <a:buFont typeface="+mj-lt"/>
              <a:buAutoNum type="alphaLcPeriod"/>
              <a:defRPr/>
            </a:pPr>
            <a:r>
              <a:rPr lang="en-AU" sz="3600" dirty="0">
                <a:solidFill>
                  <a:schemeClr val="bg1"/>
                </a:solidFill>
                <a:latin typeface="Candara" pitchFamily="34" charset="0"/>
              </a:rPr>
              <a:t>Negative relationship between drinking and Impression </a:t>
            </a:r>
            <a:r>
              <a:rPr lang="en-AU" sz="3600" dirty="0">
                <a:solidFill>
                  <a:schemeClr val="bg1"/>
                </a:solidFill>
                <a:latin typeface="Candara" pitchFamily="34" charset="0"/>
              </a:rPr>
              <a:t>Management</a:t>
            </a:r>
          </a:p>
          <a:p>
            <a:pPr marL="971550" lvl="1" indent="-514350" algn="just">
              <a:lnSpc>
                <a:spcPts val="2800"/>
              </a:lnSpc>
              <a:buFont typeface="+mj-lt"/>
              <a:buAutoNum type="alphaLcPeriod"/>
              <a:defRPr/>
            </a:pPr>
            <a:endParaRPr lang="en-AU" sz="3600" dirty="0">
              <a:solidFill>
                <a:schemeClr val="bg1"/>
              </a:solidFill>
              <a:latin typeface="Candara" pitchFamily="34" charset="0"/>
            </a:endParaRPr>
          </a:p>
          <a:p>
            <a:pPr marL="971550" lvl="1" indent="-514350" algn="just">
              <a:lnSpc>
                <a:spcPts val="2800"/>
              </a:lnSpc>
              <a:buFont typeface="+mj-lt"/>
              <a:buAutoNum type="alphaLcPeriod"/>
              <a:defRPr/>
            </a:pPr>
            <a:r>
              <a:rPr lang="en-AU" sz="3600" dirty="0">
                <a:solidFill>
                  <a:schemeClr val="bg1"/>
                </a:solidFill>
                <a:latin typeface="Candara" pitchFamily="34" charset="0"/>
              </a:rPr>
              <a:t>Salary</a:t>
            </a:r>
            <a:r>
              <a:rPr lang="en-AU" sz="3600" dirty="0">
                <a:solidFill>
                  <a:schemeClr val="bg1"/>
                </a:solidFill>
                <a:latin typeface="Candara" pitchFamily="34" charset="0"/>
              </a:rPr>
              <a:t>, relationship quality, accommodation stability, drug </a:t>
            </a:r>
            <a:r>
              <a:rPr lang="en-AU" sz="3600" dirty="0">
                <a:solidFill>
                  <a:schemeClr val="bg1"/>
                </a:solidFill>
                <a:latin typeface="Candara" pitchFamily="34" charset="0"/>
              </a:rPr>
              <a:t>use </a:t>
            </a:r>
            <a:r>
              <a:rPr lang="en-AU" sz="3600" dirty="0">
                <a:solidFill>
                  <a:schemeClr val="bg1"/>
                </a:solidFill>
                <a:latin typeface="Candara" pitchFamily="34" charset="0"/>
              </a:rPr>
              <a:t>were not associated with SRP-III </a:t>
            </a:r>
            <a:r>
              <a:rPr lang="en-AU" sz="3600" dirty="0">
                <a:solidFill>
                  <a:schemeClr val="bg1"/>
                </a:solidFill>
                <a:latin typeface="Candara" pitchFamily="34" charset="0"/>
              </a:rPr>
              <a:t>factors</a:t>
            </a:r>
          </a:p>
          <a:p>
            <a:pPr marL="971550" lvl="1" indent="-514350" algn="just">
              <a:lnSpc>
                <a:spcPts val="2800"/>
              </a:lnSpc>
              <a:defRPr/>
            </a:pPr>
            <a:endParaRPr lang="en-AU" sz="3600" dirty="0">
              <a:solidFill>
                <a:schemeClr val="bg1"/>
              </a:solidFill>
              <a:latin typeface="Candara" pitchFamily="34" charset="0"/>
            </a:endParaRPr>
          </a:p>
          <a:p>
            <a:pPr marL="742950" indent="-742950" algn="just">
              <a:lnSpc>
                <a:spcPts val="2800"/>
              </a:lnSpc>
              <a:buFont typeface="+mj-lt"/>
              <a:buAutoNum type="arabicPeriod" startAt="4"/>
              <a:defRPr/>
            </a:pPr>
            <a:r>
              <a:rPr lang="en-AU" sz="3600" dirty="0">
                <a:solidFill>
                  <a:schemeClr val="bg1"/>
                </a:solidFill>
                <a:latin typeface="Candara" pitchFamily="34" charset="0"/>
              </a:rPr>
              <a:t>Regression analyses revealed that higher SRP-III </a:t>
            </a:r>
            <a:r>
              <a:rPr lang="en-AU" sz="3600" dirty="0">
                <a:solidFill>
                  <a:schemeClr val="bg1"/>
                </a:solidFill>
                <a:latin typeface="Candara" pitchFamily="34" charset="0"/>
              </a:rPr>
              <a:t>scores </a:t>
            </a:r>
            <a:r>
              <a:rPr lang="en-AU" sz="3600" dirty="0">
                <a:solidFill>
                  <a:schemeClr val="bg1"/>
                </a:solidFill>
                <a:latin typeface="Candara" pitchFamily="34" charset="0"/>
              </a:rPr>
              <a:t>were associated with younger males who drank more alcohol </a:t>
            </a:r>
          </a:p>
          <a:p>
            <a:pPr algn="just">
              <a:lnSpc>
                <a:spcPts val="2800"/>
              </a:lnSpc>
              <a:buFont typeface="Arial" pitchFamily="34" charset="0"/>
              <a:buChar char="•"/>
              <a:defRPr/>
            </a:pPr>
            <a:endParaRPr lang="en-AU" sz="2600" dirty="0">
              <a:solidFill>
                <a:schemeClr val="bg1"/>
              </a:solidFill>
              <a:latin typeface="Candara" pitchFamily="34" charset="0"/>
            </a:endParaRPr>
          </a:p>
        </p:txBody>
      </p:sp>
      <p:sp>
        <p:nvSpPr>
          <p:cNvPr id="2216" name="TextBox 47"/>
          <p:cNvSpPr txBox="1">
            <a:spLocks noChangeArrowheads="1"/>
          </p:cNvSpPr>
          <p:nvPr/>
        </p:nvSpPr>
        <p:spPr bwMode="auto">
          <a:xfrm>
            <a:off x="15636875" y="35729863"/>
            <a:ext cx="13752513" cy="450850"/>
          </a:xfrm>
          <a:prstGeom prst="rect">
            <a:avLst/>
          </a:prstGeom>
          <a:noFill/>
          <a:ln w="9525">
            <a:noFill/>
            <a:miter lim="800000"/>
            <a:headEnd/>
            <a:tailEnd/>
          </a:ln>
        </p:spPr>
        <p:txBody>
          <a:bodyPr>
            <a:spAutoFit/>
          </a:bodyPr>
          <a:lstStyle/>
          <a:p>
            <a:pPr marL="514350" indent="-514350" algn="just">
              <a:lnSpc>
                <a:spcPts val="2800"/>
              </a:lnSpc>
            </a:pPr>
            <a:r>
              <a:rPr lang="en-AU" sz="4400">
                <a:solidFill>
                  <a:srgbClr val="FFFFFF"/>
                </a:solidFill>
                <a:latin typeface="Candara Bold" pitchFamily="34" charset="0"/>
              </a:rPr>
              <a:t>                               MAIN STUDY OUTCOMES </a:t>
            </a:r>
            <a:endParaRPr lang="en-AU" sz="4400">
              <a:solidFill>
                <a:srgbClr val="FF0000"/>
              </a:solidFill>
              <a:latin typeface="Candara"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TotalTime>
  <Words>947</Words>
  <Application>Microsoft Office PowerPoint</Application>
  <PresentationFormat>Custom</PresentationFormat>
  <Paragraphs>180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Candara Bold</vt:lpstr>
      <vt:lpstr>Candara</vt:lpstr>
      <vt:lpstr>Candara Bold Italic</vt:lpstr>
      <vt:lpstr>Times New Roman</vt:lpstr>
      <vt:lpstr>Office Theme</vt:lpstr>
      <vt:lpstr>Slide 1</vt:lpstr>
    </vt:vector>
  </TitlesOfParts>
  <Company>QUT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Freeman</dc:creator>
  <cp:lastModifiedBy>schnyder</cp:lastModifiedBy>
  <cp:revision>41</cp:revision>
  <dcterms:created xsi:type="dcterms:W3CDTF">2011-07-25T21:22:51Z</dcterms:created>
  <dcterms:modified xsi:type="dcterms:W3CDTF">2011-11-11T04:09:04Z</dcterms:modified>
</cp:coreProperties>
</file>