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Default Extension="gif" ContentType="image/gif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  <p:sldMasterId id="2147483670" r:id="rId7"/>
    <p:sldMasterId id="2147483672" r:id="rId8"/>
    <p:sldMasterId id="2147483674" r:id="rId9"/>
  </p:sldMasterIdLst>
  <p:handoutMasterIdLst>
    <p:handoutMasterId r:id="rId32"/>
  </p:handoutMasterIdLst>
  <p:sldIdLst>
    <p:sldId id="257" r:id="rId10"/>
    <p:sldId id="258" r:id="rId11"/>
    <p:sldId id="272" r:id="rId12"/>
    <p:sldId id="262" r:id="rId13"/>
    <p:sldId id="273" r:id="rId14"/>
    <p:sldId id="263" r:id="rId15"/>
    <p:sldId id="276" r:id="rId16"/>
    <p:sldId id="264" r:id="rId17"/>
    <p:sldId id="265" r:id="rId18"/>
    <p:sldId id="277" r:id="rId19"/>
    <p:sldId id="278" r:id="rId20"/>
    <p:sldId id="279" r:id="rId21"/>
    <p:sldId id="280" r:id="rId22"/>
    <p:sldId id="284" r:id="rId23"/>
    <p:sldId id="289" r:id="rId24"/>
    <p:sldId id="282" r:id="rId25"/>
    <p:sldId id="261" r:id="rId26"/>
    <p:sldId id="274" r:id="rId27"/>
    <p:sldId id="275" r:id="rId28"/>
    <p:sldId id="266" r:id="rId29"/>
    <p:sldId id="268" r:id="rId30"/>
    <p:sldId id="26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FF00"/>
    <a:srgbClr val="0066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 autoAdjust="0"/>
    <p:restoredTop sz="94615" autoAdjust="0"/>
  </p:normalViewPr>
  <p:slideViewPr>
    <p:cSldViewPr>
      <p:cViewPr varScale="1">
        <p:scale>
          <a:sx n="75" d="100"/>
          <a:sy n="75" d="100"/>
        </p:scale>
        <p:origin x="-101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94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7F3E3-4A98-488E-99AD-7932ED33707E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A6B6C-C2D7-4406-808D-F09799AC5A6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819986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28C64-0144-4C54-BED5-B3650DDA1F57}" type="datetimeFigureOut">
              <a:rPr lang="en-GB" smtClean="0"/>
              <a:pPr/>
              <a:t>10/01/2012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0CB3C-E0FE-4BEC-9A97-CB922E94BBB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27C6-6635-44B7-B2D7-C88D4157BA55}" type="datetimeFigureOut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10/01/2012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4D7D5-2B8B-4D84-B9F8-A3B1469DD19E}" type="slidenum">
              <a:rPr lang="en-GB" smtClean="0">
                <a:solidFill>
                  <a:prstClr val="white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white">
                  <a:tint val="75000"/>
                </a:prstClr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://www.hrc.co.nz/hrc_new/hrc/cms/files/images/06-Dec-2007_11-38-18_CultureGalore0400_2.jpg" TargetMode="External"/><Relationship Id="rId7" Type="http://schemas.openxmlformats.org/officeDocument/2006/relationships/hyperlink" Target="http://www.3g.co.uk/PR/Nov2007/iPhone.jpg" TargetMode="External"/><Relationship Id="rId12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7.jpeg"/><Relationship Id="rId5" Type="http://schemas.openxmlformats.org/officeDocument/2006/relationships/image" Target="../media/image3.jpeg"/><Relationship Id="rId10" Type="http://schemas.openxmlformats.org/officeDocument/2006/relationships/image" Target="../media/image6.jpeg"/><Relationship Id="rId4" Type="http://schemas.openxmlformats.org/officeDocument/2006/relationships/image" Target="../media/image2.jpeg"/><Relationship Id="rId9" Type="http://schemas.openxmlformats.org/officeDocument/2006/relationships/hyperlink" Target="http://blog.360dgrs.nl/wp-content/uploads/cinema.jp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hyperlink" Target="http://www.pinknews.co.uk/images/mcdonalds.jpg" TargetMode="External"/><Relationship Id="rId7" Type="http://schemas.openxmlformats.org/officeDocument/2006/relationships/hyperlink" Target="http://www.google.co.uk/imgres?imgurl=http://tomcassidy.com/cocacola_logo.gif&amp;imgrefurl=http://tomcassidy.com/cocacola_collector.html&amp;usg=__qS3_a1xupYraVJROH-wbdQnGA5g=&amp;h=320&amp;w=320&amp;sz=27&amp;hl=en&amp;start=6&amp;zoom=1&amp;um=1&amp;itbs=1&amp;tbnid=n2sTnVC1SaWU5M:&amp;tbnh=118&amp;tbnw=118&amp;prev=/images?q=coca+cola&amp;um=1&amp;hl=en&amp;tbs=isch:1&amp;ei=uZc8TaLlH4W5hAfBr7CQC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jpeg"/><Relationship Id="rId5" Type="http://schemas.openxmlformats.org/officeDocument/2006/relationships/hyperlink" Target="http://www.google.co.uk/imgres?imgurl=http://www.horton.ednet.ns.ca/staff/scottbennett/web/mufc/badge.gif&amp;imgrefurl=http://www.horton.ednet.ns.ca/staff/scottbennett/web/mufc/mufc.htm&amp;usg=__vaJyk_OhljR15oKqAUQQs3daaGg=&amp;h=290&amp;w=290&amp;sz=41&amp;hl=en&amp;start=2&amp;zoom=1&amp;um=1&amp;itbs=1&amp;tbnid=ZHX47pZTVexeJM:&amp;tbnh=115&amp;tbnw=115&amp;prev=/images?q=m+u+f+c&amp;um=1&amp;hl=en&amp;tbs=isch:1&amp;ei=oJc8TeHgO4qIhQf2ysGKCg" TargetMode="External"/><Relationship Id="rId10" Type="http://schemas.openxmlformats.org/officeDocument/2006/relationships/image" Target="../media/image15.jpeg"/><Relationship Id="rId4" Type="http://schemas.openxmlformats.org/officeDocument/2006/relationships/image" Target="../media/image12.jpeg"/><Relationship Id="rId9" Type="http://schemas.openxmlformats.org/officeDocument/2006/relationships/hyperlink" Target="http://www.google.co.uk/imgres?imgurl=http://www.techworld.com/cmsdata/features/3250869/Apple.jpg&amp;imgrefurl=http://search.techworld.com/tag/apple&amp;usg=__nY34GqbWyqV16k85pjI2tXkW-JQ=&amp;h=474&amp;w=406&amp;sz=27&amp;hl=en&amp;start=1&amp;zoom=1&amp;um=1&amp;itbs=1&amp;tbnid=u40OX3r-3P4S0M:&amp;tbnh=129&amp;tbnw=110&amp;prev=/images?q=apple&amp;um=1&amp;hl=en&amp;tbs=isch:1&amp;ei=0pc8TdzyM4mLhQeQq7mfCg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n w="19050">
                  <a:solidFill>
                    <a:schemeClr val="tx1"/>
                  </a:solidFill>
                </a:ln>
                <a:solidFill>
                  <a:schemeClr val="bg2">
                    <a:lumMod val="50000"/>
                  </a:schemeClr>
                </a:solidFill>
                <a:latin typeface="Lucida Bright" pitchFamily="18" charset="0"/>
              </a:rPr>
              <a:t>SCLY1</a:t>
            </a:r>
            <a:endParaRPr lang="en-GB" dirty="0">
              <a:ln w="19050">
                <a:solidFill>
                  <a:schemeClr val="tx1"/>
                </a:solidFill>
              </a:ln>
              <a:solidFill>
                <a:schemeClr val="bg2">
                  <a:lumMod val="50000"/>
                </a:schemeClr>
              </a:solidFill>
              <a:latin typeface="Lucida Bright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368752" cy="3024336"/>
          </a:xfrm>
        </p:spPr>
        <p:txBody>
          <a:bodyPr>
            <a:normAutofit fontScale="85000" lnSpcReduction="20000"/>
          </a:bodyPr>
          <a:lstStyle/>
          <a:p>
            <a:endParaRPr lang="en-GB" dirty="0" smtClean="0"/>
          </a:p>
          <a:p>
            <a:r>
              <a:rPr lang="en-GB" sz="7100" b="1" dirty="0" smtClean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  <a:latin typeface="Papyrus" pitchFamily="66" charset="0"/>
              </a:rPr>
              <a:t>CULTURE AND  IDENTITY</a:t>
            </a:r>
            <a:endParaRPr lang="en-GB" sz="7100" b="1" dirty="0">
              <a:ln>
                <a:solidFill>
                  <a:schemeClr val="bg1"/>
                </a:solidFill>
              </a:ln>
              <a:solidFill>
                <a:srgbClr val="FFFF00"/>
              </a:solidFill>
              <a:latin typeface="Papyrus" pitchFamily="66" charset="0"/>
            </a:endParaRPr>
          </a:p>
        </p:txBody>
      </p:sp>
      <p:pic>
        <p:nvPicPr>
          <p:cNvPr id="11266" name="Picture 2" descr="Poupou at Waitangi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3333750" cy="2857501"/>
          </a:xfrm>
          <a:prstGeom prst="rect">
            <a:avLst/>
          </a:prstGeom>
          <a:noFill/>
        </p:spPr>
      </p:pic>
      <p:pic>
        <p:nvPicPr>
          <p:cNvPr id="11268" name="Picture 4" descr="See full size ima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99784" y="5561856"/>
            <a:ext cx="1944216" cy="1296144"/>
          </a:xfrm>
          <a:prstGeom prst="rect">
            <a:avLst/>
          </a:prstGeom>
          <a:noFill/>
        </p:spPr>
      </p:pic>
      <p:pic>
        <p:nvPicPr>
          <p:cNvPr id="11270" name="Picture 6" descr="http://3.bp.blogspot.com/_SDdjvQkeBuQ/R1NUkrqLpSI/AAAAAAAAAPE/_Ny0Ifzc8zE/s1600-R/yoursig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264" y="0"/>
            <a:ext cx="2195736" cy="3846126"/>
          </a:xfrm>
          <a:prstGeom prst="rect">
            <a:avLst/>
          </a:prstGeom>
          <a:noFill/>
        </p:spPr>
      </p:pic>
      <p:pic>
        <p:nvPicPr>
          <p:cNvPr id="11274" name="Picture 10" descr="http://www.gapingvoid.com/stay%20ahead%20of%20the%20cultur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87824" y="0"/>
            <a:ext cx="4032448" cy="2270370"/>
          </a:xfrm>
          <a:prstGeom prst="rect">
            <a:avLst/>
          </a:prstGeom>
          <a:noFill/>
        </p:spPr>
      </p:pic>
      <p:pic>
        <p:nvPicPr>
          <p:cNvPr id="11276" name="Picture 12" descr="See full size image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103484" y="3861048"/>
            <a:ext cx="1040516" cy="1224136"/>
          </a:xfrm>
          <a:prstGeom prst="rect">
            <a:avLst/>
          </a:prstGeom>
          <a:noFill/>
        </p:spPr>
      </p:pic>
      <p:pic>
        <p:nvPicPr>
          <p:cNvPr id="11278" name="Picture 14" descr="See full size image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5701483"/>
            <a:ext cx="1763688" cy="1156517"/>
          </a:xfrm>
          <a:prstGeom prst="rect">
            <a:avLst/>
          </a:prstGeom>
          <a:noFill/>
        </p:spPr>
      </p:pic>
      <p:pic>
        <p:nvPicPr>
          <p:cNvPr id="11280" name="Picture 16" descr="http://www.wedding-news.co.uk/wp-content/uploads/2009/08/Gherkin_l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0" y="2996952"/>
            <a:ext cx="1740146" cy="2619995"/>
          </a:xfrm>
          <a:prstGeom prst="rect">
            <a:avLst/>
          </a:prstGeom>
          <a:noFill/>
        </p:spPr>
      </p:pic>
      <p:pic>
        <p:nvPicPr>
          <p:cNvPr id="11282" name="Picture 18" descr="http://www.a1hollowayrental.co.uk/images/Ukpassport-cover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436096" y="1380128"/>
            <a:ext cx="1584176" cy="22256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 smtClean="0">
                <a:solidFill>
                  <a:srgbClr val="FF0066"/>
                </a:solidFill>
              </a:rPr>
              <a:t>Aims</a:t>
            </a:r>
            <a:endParaRPr lang="en-GB" sz="6000" dirty="0">
              <a:solidFill>
                <a:srgbClr val="FF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GB" sz="4200" dirty="0">
              <a:solidFill>
                <a:srgbClr val="FFFF00"/>
              </a:solidFill>
            </a:endParaRPr>
          </a:p>
          <a:p>
            <a:pPr>
              <a:buNone/>
            </a:pPr>
            <a:r>
              <a:rPr lang="en-GB" sz="4200" dirty="0" smtClean="0">
                <a:solidFill>
                  <a:srgbClr val="FFFF00"/>
                </a:solidFill>
              </a:rPr>
              <a:t>Review key concepts (2 mark questions)</a:t>
            </a:r>
          </a:p>
          <a:p>
            <a:pPr>
              <a:buNone/>
            </a:pPr>
            <a:r>
              <a:rPr lang="en-GB" sz="4200" dirty="0" smtClean="0">
                <a:solidFill>
                  <a:srgbClr val="FFFF00"/>
                </a:solidFill>
              </a:rPr>
              <a:t>To ‘unpick’ essay questions and consider what they are asking for...(24 mark questions)</a:t>
            </a:r>
            <a:endParaRPr lang="en-GB" sz="4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23528" y="0"/>
            <a:ext cx="8496944" cy="692696"/>
          </a:xfrm>
          <a:prstGeom prst="round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800" b="1" dirty="0" smtClean="0">
                <a:solidFill>
                  <a:schemeClr val="tx1"/>
                </a:solidFill>
                <a:latin typeface="Eras Demi ITC" pitchFamily="34" charset="0"/>
              </a:rPr>
              <a:t>Basic terms review</a:t>
            </a:r>
            <a:endParaRPr lang="en-GB" sz="3800" b="1" dirty="0">
              <a:solidFill>
                <a:schemeClr val="tx1"/>
              </a:solidFill>
              <a:latin typeface="Eras Demi ITC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3528" y="836712"/>
            <a:ext cx="8496944" cy="720080"/>
          </a:xfrm>
          <a:prstGeom prst="roundRect">
            <a:avLst/>
          </a:prstGeom>
          <a:solidFill>
            <a:srgbClr val="FF0066">
              <a:alpha val="5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 smtClean="0">
                <a:solidFill>
                  <a:schemeClr val="bg1"/>
                </a:solidFill>
                <a:latin typeface="Eras Demi ITC" pitchFamily="34" charset="0"/>
              </a:rPr>
              <a:t>Culture and Identity key words</a:t>
            </a:r>
            <a:endParaRPr lang="en-GB" sz="3600" b="1" dirty="0">
              <a:solidFill>
                <a:schemeClr val="bg1"/>
              </a:solidFill>
              <a:latin typeface="Eras Demi ITC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3528" y="1700808"/>
            <a:ext cx="8496944" cy="7200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dirty="0" smtClean="0">
                <a:solidFill>
                  <a:schemeClr val="tx1"/>
                </a:solidFill>
                <a:latin typeface="Eras Demi ITC" pitchFamily="34" charset="0"/>
              </a:rPr>
              <a:t>3 theories on Culture</a:t>
            </a:r>
            <a:endParaRPr lang="en-GB" sz="3400" dirty="0">
              <a:solidFill>
                <a:schemeClr val="tx1"/>
              </a:solidFill>
              <a:latin typeface="Eras Demi ITC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3528" y="5157192"/>
            <a:ext cx="8496944" cy="7200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>
                <a:solidFill>
                  <a:schemeClr val="tx1"/>
                </a:solidFill>
                <a:latin typeface="Eras Bold ITC" pitchFamily="34" charset="0"/>
              </a:rPr>
              <a:t>ESSAY WORKSHOP</a:t>
            </a:r>
            <a:endParaRPr lang="en-GB" sz="3200" b="1" dirty="0">
              <a:solidFill>
                <a:schemeClr val="tx1"/>
              </a:solidFill>
              <a:latin typeface="Eras Bold ITC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3528" y="6021288"/>
            <a:ext cx="8496944" cy="764704"/>
          </a:xfrm>
          <a:prstGeom prst="roundRect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>
                <a:solidFill>
                  <a:schemeClr val="bg1"/>
                </a:solidFill>
                <a:latin typeface="Eras Bold ITC" pitchFamily="34" charset="0"/>
              </a:rPr>
              <a:t>Plenary</a:t>
            </a:r>
            <a:endParaRPr lang="en-GB" sz="2800" b="1" dirty="0">
              <a:solidFill>
                <a:schemeClr val="bg1"/>
              </a:solidFill>
              <a:latin typeface="Eras Bold ITC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3528" y="2564904"/>
            <a:ext cx="8496944" cy="7200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dirty="0" smtClean="0">
                <a:solidFill>
                  <a:schemeClr val="tx1"/>
                </a:solidFill>
                <a:latin typeface="Eras Demi ITC" pitchFamily="34" charset="0"/>
              </a:rPr>
              <a:t> </a:t>
            </a:r>
            <a:r>
              <a:rPr lang="en-GB" sz="3400" dirty="0" smtClean="0">
                <a:solidFill>
                  <a:schemeClr val="bg1"/>
                </a:solidFill>
                <a:latin typeface="Eras Demi ITC" pitchFamily="34" charset="0"/>
              </a:rPr>
              <a:t>Theories on Culture extension</a:t>
            </a:r>
            <a:endParaRPr lang="en-GB" sz="3400" dirty="0">
              <a:solidFill>
                <a:schemeClr val="bg1"/>
              </a:solidFill>
              <a:latin typeface="Eras Demi ITC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3528" y="3429000"/>
            <a:ext cx="8496944" cy="7200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dirty="0" smtClean="0">
                <a:solidFill>
                  <a:schemeClr val="tx1"/>
                </a:solidFill>
                <a:latin typeface="Eras Demi ITC" pitchFamily="34" charset="0"/>
              </a:rPr>
              <a:t>Social Groups – Sexuality?</a:t>
            </a:r>
            <a:endParaRPr lang="en-GB" sz="3400" dirty="0">
              <a:solidFill>
                <a:schemeClr val="tx1"/>
              </a:solidFill>
              <a:latin typeface="Eras Demi IT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3528" y="4221088"/>
            <a:ext cx="8496944" cy="72008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 smtClean="0">
                <a:solidFill>
                  <a:schemeClr val="bg1"/>
                </a:solidFill>
                <a:latin typeface="Eras Demi ITC" pitchFamily="34" charset="0"/>
              </a:rPr>
              <a:t>Identity and theories of identity</a:t>
            </a:r>
            <a:endParaRPr lang="en-GB" sz="3600" b="1" dirty="0">
              <a:solidFill>
                <a:schemeClr val="bg1"/>
              </a:solidFill>
              <a:latin typeface="Eras Demi IT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Remember these?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dirty="0" smtClean="0"/>
              <a:t>	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  <a:solidFill>
                  <a:srgbClr val="FFC000"/>
                </a:solidFill>
                <a:latin typeface="Forte" pitchFamily="66" charset="0"/>
              </a:rPr>
              <a:t>Norms  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  <a:latin typeface="Forte" pitchFamily="66" charset="0"/>
              </a:rPr>
              <a:t>	</a:t>
            </a:r>
            <a:r>
              <a:rPr lang="en-GB" sz="5400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</a:rPr>
              <a:t> </a:t>
            </a:r>
            <a:r>
              <a:rPr lang="en-GB" sz="5400" b="1" dirty="0" smtClean="0">
                <a:ln>
                  <a:solidFill>
                    <a:schemeClr val="bg1"/>
                  </a:solidFill>
                </a:ln>
                <a:solidFill>
                  <a:srgbClr val="99FF33"/>
                </a:solidFill>
                <a:latin typeface="Goudy Old Style" pitchFamily="18" charset="0"/>
              </a:rPr>
              <a:t>mores</a:t>
            </a:r>
            <a:r>
              <a:rPr lang="en-GB" sz="5400" b="1" dirty="0" smtClean="0">
                <a:ln>
                  <a:solidFill>
                    <a:schemeClr val="bg1"/>
                  </a:solidFill>
                </a:ln>
                <a:latin typeface="Goudy Old Style" pitchFamily="18" charset="0"/>
              </a:rPr>
              <a:t> 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</a:rPr>
              <a:t>	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  <a:solidFill>
                  <a:srgbClr val="FF66FF"/>
                </a:solidFill>
                <a:latin typeface="Arial Rounded MT Bold" pitchFamily="34" charset="0"/>
              </a:rPr>
              <a:t>values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  <a:latin typeface="Arial Rounded MT Bold" pitchFamily="34" charset="0"/>
              </a:rPr>
              <a:t>          </a:t>
            </a:r>
          </a:p>
          <a:p>
            <a:pPr>
              <a:buNone/>
            </a:pPr>
            <a:endParaRPr lang="en-GB" dirty="0">
              <a:ln>
                <a:solidFill>
                  <a:schemeClr val="bg1"/>
                </a:solidFill>
              </a:ln>
            </a:endParaRPr>
          </a:p>
          <a:p>
            <a:pPr>
              <a:buNone/>
            </a:pPr>
            <a:r>
              <a:rPr lang="en-GB" dirty="0" smtClean="0">
                <a:ln>
                  <a:solidFill>
                    <a:schemeClr val="bg1"/>
                  </a:solidFill>
                </a:ln>
              </a:rPr>
              <a:t>	</a:t>
            </a:r>
            <a:r>
              <a:rPr lang="en-GB" sz="5400" b="1" dirty="0" smtClean="0">
                <a:ln>
                  <a:solidFill>
                    <a:schemeClr val="bg1"/>
                  </a:solidFill>
                </a:ln>
                <a:solidFill>
                  <a:srgbClr val="CC99FF"/>
                </a:solidFill>
                <a:latin typeface="Bradley Hand ITC" pitchFamily="66" charset="0"/>
              </a:rPr>
              <a:t>Roles</a:t>
            </a:r>
            <a:r>
              <a:rPr lang="en-GB" sz="5200" b="1" dirty="0" smtClean="0">
                <a:ln>
                  <a:solidFill>
                    <a:schemeClr val="bg1"/>
                  </a:solidFill>
                </a:ln>
                <a:solidFill>
                  <a:srgbClr val="CC99FF"/>
                </a:solidFill>
              </a:rPr>
              <a:t>   </a:t>
            </a:r>
            <a:r>
              <a:rPr lang="en-GB" dirty="0" smtClean="0">
                <a:ln>
                  <a:solidFill>
                    <a:schemeClr val="bg1"/>
                  </a:solidFill>
                </a:ln>
              </a:rPr>
              <a:t>         </a:t>
            </a:r>
            <a:r>
              <a:rPr lang="en-GB" sz="5600" b="1" dirty="0">
                <a:ln>
                  <a:solidFill>
                    <a:schemeClr val="bg1"/>
                  </a:solidFill>
                </a:ln>
                <a:latin typeface="Chiller" pitchFamily="82" charset="0"/>
              </a:rPr>
              <a:t>achieved </a:t>
            </a:r>
            <a:r>
              <a:rPr lang="en-GB" sz="5600" b="1" dirty="0" smtClean="0">
                <a:ln>
                  <a:solidFill>
                    <a:schemeClr val="bg1"/>
                  </a:solidFill>
                </a:ln>
                <a:latin typeface="Chiller" pitchFamily="82" charset="0"/>
              </a:rPr>
              <a:t>and ascribed status</a:t>
            </a:r>
          </a:p>
          <a:p>
            <a:pPr>
              <a:buNone/>
            </a:pPr>
            <a:endParaRPr lang="en-GB" dirty="0">
              <a:ln>
                <a:solidFill>
                  <a:schemeClr val="bg1"/>
                </a:solidFill>
              </a:ln>
            </a:endParaRPr>
          </a:p>
          <a:p>
            <a:pPr>
              <a:buNone/>
            </a:pPr>
            <a:r>
              <a:rPr lang="en-GB" dirty="0" smtClean="0">
                <a:ln>
                  <a:solidFill>
                    <a:schemeClr val="bg1"/>
                  </a:solidFill>
                </a:ln>
              </a:rPr>
              <a:t> 			</a:t>
            </a:r>
            <a:r>
              <a:rPr lang="en-GB" sz="4400" b="1" dirty="0" smtClean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  <a:latin typeface="Maiandra GD" pitchFamily="34" charset="0"/>
              </a:rPr>
              <a:t>culture</a:t>
            </a:r>
            <a:r>
              <a:rPr lang="en-GB" sz="4400" b="1" dirty="0" smtClean="0">
                <a:ln>
                  <a:solidFill>
                    <a:schemeClr val="bg1"/>
                  </a:solidFill>
                </a:ln>
                <a:latin typeface="Maiandra GD" pitchFamily="34" charset="0"/>
              </a:rPr>
              <a:t> </a:t>
            </a:r>
            <a:r>
              <a:rPr lang="en-GB" dirty="0" smtClean="0">
                <a:ln>
                  <a:solidFill>
                    <a:schemeClr val="bg1"/>
                  </a:solidFill>
                </a:ln>
              </a:rPr>
              <a:t>		</a:t>
            </a:r>
            <a:r>
              <a:rPr lang="en-GB" dirty="0" smtClean="0">
                <a:ln>
                  <a:solidFill>
                    <a:schemeClr val="bg1"/>
                  </a:solidFill>
                </a:ln>
                <a:solidFill>
                  <a:srgbClr val="00FFFF"/>
                </a:solidFill>
              </a:rPr>
              <a:t> </a:t>
            </a:r>
            <a:r>
              <a:rPr lang="en-GB" sz="4200" dirty="0">
                <a:ln>
                  <a:solidFill>
                    <a:schemeClr val="bg1"/>
                  </a:solidFill>
                </a:ln>
                <a:solidFill>
                  <a:srgbClr val="00FFFF"/>
                </a:solidFill>
                <a:latin typeface="Kristen ITC" pitchFamily="66" charset="0"/>
              </a:rPr>
              <a:t>rules/laws</a:t>
            </a:r>
            <a:r>
              <a:rPr lang="en-GB" dirty="0">
                <a:ln>
                  <a:solidFill>
                    <a:schemeClr val="bg1"/>
                  </a:solidFill>
                </a:ln>
                <a:solidFill>
                  <a:srgbClr val="00FFFF"/>
                </a:solidFill>
              </a:rPr>
              <a:t> </a:t>
            </a:r>
            <a:endParaRPr lang="en-GB" dirty="0" smtClean="0">
              <a:ln>
                <a:solidFill>
                  <a:schemeClr val="bg1"/>
                </a:solidFill>
              </a:ln>
              <a:solidFill>
                <a:srgbClr val="00FFFF"/>
              </a:solidFill>
            </a:endParaRPr>
          </a:p>
          <a:p>
            <a:pPr>
              <a:buNone/>
            </a:pPr>
            <a:endParaRPr lang="en-GB" dirty="0">
              <a:ln>
                <a:solidFill>
                  <a:schemeClr val="bg1"/>
                </a:solidFill>
              </a:ln>
            </a:endParaRPr>
          </a:p>
          <a:p>
            <a:pPr>
              <a:buNone/>
            </a:pPr>
            <a:r>
              <a:rPr lang="en-GB" dirty="0" smtClean="0">
                <a:ln>
                  <a:solidFill>
                    <a:schemeClr val="bg1"/>
                  </a:solidFill>
                </a:ln>
                <a:solidFill>
                  <a:srgbClr val="00FF99"/>
                </a:solidFill>
              </a:rPr>
              <a:t> </a:t>
            </a:r>
            <a:r>
              <a:rPr lang="en-GB" sz="5400" dirty="0" smtClean="0">
                <a:ln>
                  <a:solidFill>
                    <a:schemeClr val="bg1"/>
                  </a:solidFill>
                </a:ln>
                <a:solidFill>
                  <a:srgbClr val="00FF99"/>
                </a:solidFill>
                <a:latin typeface="Haettenschweiler" pitchFamily="34" charset="0"/>
              </a:rPr>
              <a:t>deviance</a:t>
            </a:r>
            <a:r>
              <a:rPr lang="en-GB" dirty="0" smtClean="0">
                <a:ln>
                  <a:solidFill>
                    <a:schemeClr val="bg1"/>
                  </a:solidFill>
                </a:ln>
              </a:rPr>
              <a:t>				</a:t>
            </a:r>
            <a:r>
              <a:rPr lang="en-GB" dirty="0" smtClean="0">
                <a:ln>
                  <a:solidFill>
                    <a:schemeClr val="bg1"/>
                  </a:solidFill>
                </a:ln>
                <a:solidFill>
                  <a:srgbClr val="FF0066"/>
                </a:solidFill>
              </a:rPr>
              <a:t>	</a:t>
            </a:r>
            <a:r>
              <a:rPr lang="en-GB" sz="5600" b="1" dirty="0" smtClean="0">
                <a:ln>
                  <a:solidFill>
                    <a:schemeClr val="bg1"/>
                  </a:solidFill>
                </a:ln>
                <a:solidFill>
                  <a:srgbClr val="FF0066"/>
                </a:solidFill>
                <a:latin typeface="Pristina" pitchFamily="66" charset="0"/>
              </a:rPr>
              <a:t>sanctions</a:t>
            </a:r>
          </a:p>
          <a:p>
            <a:pPr algn="ctr">
              <a:buNone/>
            </a:pPr>
            <a:r>
              <a:rPr lang="en-GB" sz="5600" b="1" dirty="0" smtClean="0">
                <a:ln>
                  <a:solidFill>
                    <a:schemeClr val="bg1"/>
                  </a:solidFill>
                </a:ln>
                <a:solidFill>
                  <a:srgbClr val="FF9900"/>
                </a:solidFill>
                <a:latin typeface="Papyrus" pitchFamily="66" charset="0"/>
              </a:rPr>
              <a:t>Write down as many definitions as you can</a:t>
            </a:r>
            <a:endParaRPr lang="en-GB" sz="5600" b="1" dirty="0">
              <a:ln>
                <a:solidFill>
                  <a:schemeClr val="bg1"/>
                </a:solidFill>
              </a:ln>
              <a:solidFill>
                <a:srgbClr val="FF9900"/>
              </a:solidFill>
              <a:latin typeface="Papyrus" pitchFamily="66" charset="0"/>
            </a:endParaRPr>
          </a:p>
        </p:txBody>
      </p:sp>
      <p:pic>
        <p:nvPicPr>
          <p:cNvPr id="14337" name="Picture 1" descr="C:\Program Files\Microsoft Office\Media\CntCD1\Animated\j0283618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0"/>
            <a:ext cx="1487085" cy="1556792"/>
          </a:xfrm>
          <a:prstGeom prst="rect">
            <a:avLst/>
          </a:prstGeom>
          <a:noFill/>
        </p:spPr>
      </p:pic>
      <p:pic>
        <p:nvPicPr>
          <p:cNvPr id="14338" name="Picture 2" descr="C:\Program Files\Microsoft Office\Media\CntCD1\Animated\j0254503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6296" y="0"/>
            <a:ext cx="1268760" cy="1268760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GB" sz="6000" dirty="0" smtClean="0">
                <a:latin typeface="Tempus Sans ITC" pitchFamily="82" charset="0"/>
              </a:rPr>
              <a:t>Key words from Topics</a:t>
            </a:r>
            <a:endParaRPr lang="en-GB" sz="6000" dirty="0">
              <a:latin typeface="Tempus Sans ITC" pitchFamily="82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GB" sz="3200" dirty="0" smtClean="0">
              <a:solidFill>
                <a:schemeClr val="bg1"/>
              </a:solidFill>
            </a:endParaRPr>
          </a:p>
          <a:p>
            <a:r>
              <a:rPr lang="en-GB" sz="3200" dirty="0" smtClean="0">
                <a:solidFill>
                  <a:schemeClr val="bg1"/>
                </a:solidFill>
              </a:rPr>
              <a:t>Culture</a:t>
            </a:r>
          </a:p>
          <a:p>
            <a:r>
              <a:rPr lang="en-GB" sz="3200" dirty="0" smtClean="0">
                <a:solidFill>
                  <a:schemeClr val="bg1"/>
                </a:solidFill>
              </a:rPr>
              <a:t>Socialization</a:t>
            </a:r>
          </a:p>
          <a:p>
            <a:r>
              <a:rPr lang="en-GB" sz="3200" dirty="0" smtClean="0">
                <a:solidFill>
                  <a:schemeClr val="bg1"/>
                </a:solidFill>
              </a:rPr>
              <a:t>Identity and Social Class</a:t>
            </a:r>
          </a:p>
          <a:p>
            <a:r>
              <a:rPr lang="en-GB" sz="3200" dirty="0" smtClean="0">
                <a:solidFill>
                  <a:schemeClr val="bg1"/>
                </a:solidFill>
              </a:rPr>
              <a:t>Gender and Sexuality</a:t>
            </a:r>
          </a:p>
          <a:p>
            <a:r>
              <a:rPr lang="en-GB" sz="3200" dirty="0" smtClean="0">
                <a:solidFill>
                  <a:schemeClr val="bg1"/>
                </a:solidFill>
              </a:rPr>
              <a:t>Ethnicity and Nationality</a:t>
            </a:r>
          </a:p>
          <a:p>
            <a:r>
              <a:rPr lang="en-GB" sz="3200" dirty="0" smtClean="0">
                <a:solidFill>
                  <a:schemeClr val="bg1"/>
                </a:solidFill>
              </a:rPr>
              <a:t>Age and Disability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611560" y="1628800"/>
            <a:ext cx="8064896" cy="63976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GB" sz="3600" dirty="0" smtClean="0">
                <a:solidFill>
                  <a:srgbClr val="00FF00"/>
                </a:solidFill>
              </a:rPr>
              <a:t>Chapter 2: Culture and Identity</a:t>
            </a:r>
            <a:endParaRPr lang="en-GB" sz="3600" dirty="0">
              <a:solidFill>
                <a:srgbClr val="00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en-GB" sz="8000" dirty="0" smtClean="0">
                <a:solidFill>
                  <a:schemeClr val="bg1"/>
                </a:solidFill>
                <a:latin typeface="Eras Bold ITC" pitchFamily="34" charset="0"/>
              </a:rPr>
              <a:t>STARTER</a:t>
            </a:r>
            <a:endParaRPr lang="en-GB" sz="8000" dirty="0">
              <a:solidFill>
                <a:schemeClr val="bg1"/>
              </a:solidFill>
              <a:latin typeface="Eras Bold ITC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en-GB" dirty="0" smtClean="0"/>
          </a:p>
          <a:p>
            <a:pPr algn="ctr">
              <a:buNone/>
            </a:pPr>
            <a:r>
              <a:rPr lang="en-GB" sz="9600" dirty="0" smtClean="0">
                <a:ln w="22225">
                  <a:solidFill>
                    <a:schemeClr val="bg1"/>
                  </a:solidFill>
                </a:ln>
                <a:latin typeface="Eras Bold ITC" pitchFamily="34" charset="0"/>
              </a:rPr>
              <a:t>3x3x3</a:t>
            </a:r>
          </a:p>
          <a:p>
            <a:pPr algn="ctr">
              <a:buNone/>
            </a:pPr>
            <a:r>
              <a:rPr lang="en-GB" sz="4000" dirty="0" smtClean="0">
                <a:solidFill>
                  <a:schemeClr val="bg1"/>
                </a:solidFill>
                <a:latin typeface="Eras Bold ITC" pitchFamily="34" charset="0"/>
              </a:rPr>
              <a:t>3 perspectives</a:t>
            </a:r>
          </a:p>
          <a:p>
            <a:pPr algn="ctr">
              <a:buNone/>
            </a:pPr>
            <a:r>
              <a:rPr lang="en-GB" sz="4000" dirty="0" smtClean="0">
                <a:solidFill>
                  <a:schemeClr val="bg1"/>
                </a:solidFill>
                <a:latin typeface="Eras Bold ITC" pitchFamily="34" charset="0"/>
              </a:rPr>
              <a:t>3 key terms</a:t>
            </a:r>
          </a:p>
          <a:p>
            <a:pPr algn="ctr">
              <a:buNone/>
            </a:pPr>
            <a:r>
              <a:rPr lang="en-GB" sz="4000" dirty="0" smtClean="0">
                <a:solidFill>
                  <a:schemeClr val="bg1"/>
                </a:solidFill>
                <a:latin typeface="Eras Bold ITC" pitchFamily="34" charset="0"/>
              </a:rPr>
              <a:t>3 minutes</a:t>
            </a:r>
            <a:endParaRPr lang="en-GB" sz="4000" dirty="0">
              <a:solidFill>
                <a:schemeClr val="bg1"/>
              </a:solidFill>
              <a:latin typeface="Eras Bold IT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did you do?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63271" cy="4781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757"/>
                <a:gridCol w="2787757"/>
                <a:gridCol w="2787757"/>
              </a:tblGrid>
              <a:tr h="836238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smtClean="0"/>
                        <a:t>Functionalism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smtClean="0"/>
                        <a:t>Marxism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smtClean="0"/>
                        <a:t>Neo-Marxism</a:t>
                      </a:r>
                      <a:endParaRPr lang="en-GB" sz="3000" dirty="0"/>
                    </a:p>
                  </a:txBody>
                  <a:tcPr/>
                </a:tc>
              </a:tr>
              <a:tr h="1314963"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baseline="0" dirty="0" smtClean="0"/>
                        <a:t> </a:t>
                      </a:r>
                      <a:endParaRPr lang="en-GB" sz="3000" dirty="0"/>
                    </a:p>
                  </a:txBody>
                  <a:tcPr/>
                </a:tc>
              </a:tr>
              <a:tr h="1314963"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</a:tr>
              <a:tr h="1314963"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How did you do?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63271" cy="5077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757"/>
                <a:gridCol w="2787757"/>
                <a:gridCol w="2787757"/>
              </a:tblGrid>
              <a:tr h="836238"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smtClean="0"/>
                        <a:t>Functionalism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smtClean="0"/>
                        <a:t>Marxism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000" dirty="0" smtClean="0"/>
                        <a:t>Neo-Marxism</a:t>
                      </a:r>
                      <a:endParaRPr lang="en-GB" sz="3000" dirty="0"/>
                    </a:p>
                  </a:txBody>
                  <a:tcPr/>
                </a:tc>
              </a:tr>
              <a:tr h="1314963"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Value Consensus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Ideology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Hegemony</a:t>
                      </a:r>
                      <a:r>
                        <a:rPr lang="en-GB" sz="3000" baseline="0" dirty="0" smtClean="0"/>
                        <a:t> </a:t>
                      </a:r>
                      <a:endParaRPr lang="en-GB" sz="3000" dirty="0"/>
                    </a:p>
                  </a:txBody>
                  <a:tcPr/>
                </a:tc>
              </a:tr>
              <a:tr h="1314963"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Social</a:t>
                      </a:r>
                      <a:r>
                        <a:rPr lang="en-GB" sz="3000" baseline="0" dirty="0" smtClean="0"/>
                        <a:t> Solidarity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Ruling Class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Ideological</a:t>
                      </a:r>
                      <a:r>
                        <a:rPr lang="en-GB" sz="3000" baseline="0" dirty="0" smtClean="0"/>
                        <a:t> State Apparatus</a:t>
                      </a:r>
                      <a:endParaRPr lang="en-GB" sz="3000" dirty="0"/>
                    </a:p>
                  </a:txBody>
                  <a:tcPr/>
                </a:tc>
              </a:tr>
              <a:tr h="1314963"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Social Cohesion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False</a:t>
                      </a:r>
                      <a:r>
                        <a:rPr lang="en-GB" sz="3000" baseline="0" dirty="0" smtClean="0"/>
                        <a:t> Class Consciousness</a:t>
                      </a:r>
                      <a:endParaRPr lang="en-GB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3000" dirty="0" smtClean="0"/>
                    </a:p>
                    <a:p>
                      <a:pPr algn="ctr"/>
                      <a:r>
                        <a:rPr lang="en-GB" sz="3000" dirty="0" smtClean="0"/>
                        <a:t>Cultural dominance</a:t>
                      </a:r>
                      <a:endParaRPr lang="en-GB" sz="3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000" dirty="0" smtClean="0">
                <a:ln>
                  <a:solidFill>
                    <a:schemeClr val="bg1"/>
                  </a:solidFill>
                </a:ln>
                <a:solidFill>
                  <a:srgbClr val="00FF99"/>
                </a:solidFill>
              </a:rPr>
              <a:t>Perspectives on Culture</a:t>
            </a:r>
            <a:endParaRPr lang="en-GB" sz="6000" dirty="0">
              <a:ln>
                <a:solidFill>
                  <a:schemeClr val="bg1"/>
                </a:solidFill>
              </a:ln>
              <a:solidFill>
                <a:srgbClr val="00FF9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Functionalist perspectives</a:t>
            </a:r>
          </a:p>
          <a:p>
            <a:r>
              <a:rPr lang="en-GB" dirty="0" smtClean="0"/>
              <a:t>Marxist theories of culture and identity</a:t>
            </a:r>
          </a:p>
          <a:p>
            <a:r>
              <a:rPr lang="en-GB" dirty="0" smtClean="0"/>
              <a:t>Neo-Marxist theories of culture</a:t>
            </a:r>
          </a:p>
          <a:p>
            <a:r>
              <a:rPr lang="en-GB" dirty="0" smtClean="0"/>
              <a:t>Mass Culture</a:t>
            </a:r>
          </a:p>
          <a:p>
            <a:r>
              <a:rPr lang="en-GB" dirty="0" smtClean="0"/>
              <a:t>Global Culture </a:t>
            </a:r>
          </a:p>
          <a:p>
            <a:r>
              <a:rPr lang="en-GB" dirty="0" smtClean="0"/>
              <a:t>Postmodernism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Rally Robin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Functionalist perspectives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ular Callout 3"/>
          <p:cNvSpPr/>
          <p:nvPr/>
        </p:nvSpPr>
        <p:spPr>
          <a:xfrm>
            <a:off x="251520" y="1556792"/>
            <a:ext cx="3816424" cy="2592288"/>
          </a:xfrm>
          <a:prstGeom prst="wedgeRectCallou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000" b="1" dirty="0" smtClean="0">
                <a:solidFill>
                  <a:srgbClr val="FFFF00"/>
                </a:solidFill>
              </a:rPr>
              <a:t>Key Words</a:t>
            </a:r>
          </a:p>
          <a:p>
            <a:pPr algn="ctr"/>
            <a:endParaRPr lang="en-GB" sz="2600" dirty="0" smtClean="0"/>
          </a:p>
          <a:p>
            <a:pPr algn="ctr"/>
            <a:r>
              <a:rPr lang="en-GB" sz="2600" dirty="0" smtClean="0"/>
              <a:t>Social Order</a:t>
            </a:r>
          </a:p>
          <a:p>
            <a:pPr algn="ctr"/>
            <a:r>
              <a:rPr lang="en-GB" sz="2600" dirty="0" smtClean="0"/>
              <a:t>Value Consensus</a:t>
            </a:r>
          </a:p>
          <a:p>
            <a:pPr algn="ctr"/>
            <a:r>
              <a:rPr lang="en-GB" sz="2600" dirty="0" smtClean="0"/>
              <a:t>Social Solidarity</a:t>
            </a:r>
          </a:p>
          <a:p>
            <a:pPr algn="ctr"/>
            <a:r>
              <a:rPr lang="en-GB" sz="2600" dirty="0" smtClean="0"/>
              <a:t>Social Institutions</a:t>
            </a:r>
          </a:p>
          <a:p>
            <a:pPr algn="ctr"/>
            <a:endParaRPr lang="en-GB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4211960" y="1628800"/>
            <a:ext cx="4248472" cy="3528392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800" b="1" dirty="0" err="1" smtClean="0">
                <a:solidFill>
                  <a:schemeClr val="bg1"/>
                </a:solidFill>
              </a:rPr>
              <a:t>Talcott</a:t>
            </a:r>
            <a:r>
              <a:rPr lang="en-GB" sz="3800" b="1" dirty="0" smtClean="0">
                <a:solidFill>
                  <a:schemeClr val="bg1"/>
                </a:solidFill>
              </a:rPr>
              <a:t> Parsons</a:t>
            </a:r>
          </a:p>
          <a:p>
            <a:pPr algn="ctr"/>
            <a:r>
              <a:rPr lang="en-GB" sz="3000" b="1" dirty="0" smtClean="0">
                <a:solidFill>
                  <a:schemeClr val="bg1"/>
                </a:solidFill>
              </a:rPr>
              <a:t>Socialization – Values and Norms – Social Institutions – Social Integration</a:t>
            </a:r>
          </a:p>
          <a:p>
            <a:pPr algn="ctr"/>
            <a:endParaRPr lang="en-GB" sz="30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3528" y="4437112"/>
            <a:ext cx="4536504" cy="216024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dirty="0" smtClean="0">
                <a:solidFill>
                  <a:schemeClr val="bg1"/>
                </a:solidFill>
              </a:rPr>
              <a:t>Emile Durkheim</a:t>
            </a:r>
          </a:p>
          <a:p>
            <a:pPr algn="ctr"/>
            <a:endParaRPr lang="en-GB" sz="2600" dirty="0" smtClean="0">
              <a:solidFill>
                <a:schemeClr val="bg1"/>
              </a:solidFill>
            </a:endParaRPr>
          </a:p>
          <a:p>
            <a:pPr algn="ctr"/>
            <a:r>
              <a:rPr lang="en-GB" sz="2600" dirty="0" smtClean="0">
                <a:solidFill>
                  <a:schemeClr val="bg1"/>
                </a:solidFill>
              </a:rPr>
              <a:t>Collective Conscience – solidarity – anomie </a:t>
            </a:r>
            <a:endParaRPr lang="en-GB" sz="2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Marxist theories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Rectangular Callout 3"/>
          <p:cNvSpPr/>
          <p:nvPr/>
        </p:nvSpPr>
        <p:spPr>
          <a:xfrm>
            <a:off x="323528" y="1412776"/>
            <a:ext cx="4032448" cy="2664296"/>
          </a:xfrm>
          <a:prstGeom prst="wedgeRectCallo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 smtClean="0">
                <a:solidFill>
                  <a:srgbClr val="FFFF00"/>
                </a:solidFill>
              </a:rPr>
              <a:t>Key Words</a:t>
            </a:r>
          </a:p>
          <a:p>
            <a:pPr algn="ctr"/>
            <a:endParaRPr lang="en-GB" sz="2800" dirty="0" smtClean="0"/>
          </a:p>
          <a:p>
            <a:pPr algn="ctr"/>
            <a:r>
              <a:rPr lang="en-GB" sz="2800" dirty="0" smtClean="0"/>
              <a:t>Ideology </a:t>
            </a:r>
          </a:p>
          <a:p>
            <a:pPr algn="ctr"/>
            <a:r>
              <a:rPr lang="en-GB" sz="2800" dirty="0" smtClean="0"/>
              <a:t>False Class Consciousness</a:t>
            </a:r>
          </a:p>
          <a:p>
            <a:pPr algn="ctr"/>
            <a:r>
              <a:rPr lang="en-GB" sz="2800" dirty="0" smtClean="0"/>
              <a:t>Inequality</a:t>
            </a:r>
          </a:p>
          <a:p>
            <a:pPr algn="ctr"/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4427984" y="1484784"/>
            <a:ext cx="4320480" cy="29523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dirty="0" smtClean="0"/>
              <a:t>Karl Marx</a:t>
            </a:r>
          </a:p>
          <a:p>
            <a:pPr algn="ctr"/>
            <a:endParaRPr lang="en-GB" sz="2600" dirty="0" smtClean="0"/>
          </a:p>
          <a:p>
            <a:pPr algn="ctr"/>
            <a:r>
              <a:rPr lang="en-GB" sz="2600" dirty="0" smtClean="0"/>
              <a:t>Means of production- Alienation</a:t>
            </a:r>
          </a:p>
          <a:p>
            <a:pPr algn="ctr"/>
            <a:r>
              <a:rPr lang="en-GB" sz="2600" dirty="0" smtClean="0"/>
              <a:t>Exploitation</a:t>
            </a:r>
          </a:p>
          <a:p>
            <a:pPr algn="ctr"/>
            <a:r>
              <a:rPr lang="en-GB" sz="2600" dirty="0" smtClean="0"/>
              <a:t>Ruling Class Ideology</a:t>
            </a:r>
          </a:p>
          <a:p>
            <a:pPr algn="ctr"/>
            <a:r>
              <a:rPr lang="en-GB" sz="2600" dirty="0" smtClean="0"/>
              <a:t>Mass Culture</a:t>
            </a:r>
            <a:endParaRPr lang="en-GB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Neo-Marxism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Greater interaction between classes than Marxism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Hegemony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Emergent Ideologies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Mass Culture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Ruling Class</a:t>
            </a:r>
          </a:p>
          <a:p>
            <a:pPr>
              <a:buNone/>
            </a:pPr>
            <a:r>
              <a:rPr lang="en-GB" dirty="0" smtClean="0"/>
              <a:t>Manufactured</a:t>
            </a:r>
          </a:p>
          <a:p>
            <a:pPr>
              <a:buNone/>
            </a:pPr>
            <a:r>
              <a:rPr lang="en-GB" dirty="0" smtClean="0"/>
              <a:t>Low quality</a:t>
            </a:r>
          </a:p>
          <a:p>
            <a:pPr>
              <a:buNone/>
            </a:pPr>
            <a:r>
              <a:rPr lang="en-GB" smtClean="0"/>
              <a:t>Predicatable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global culture....?</a:t>
            </a:r>
            <a:endParaRPr lang="en-GB" dirty="0"/>
          </a:p>
        </p:txBody>
      </p:sp>
      <p:pic>
        <p:nvPicPr>
          <p:cNvPr id="4" name="Content Placeholder 3" descr="global-cul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627784" y="1484784"/>
            <a:ext cx="3812164" cy="3705423"/>
          </a:xfrm>
        </p:spPr>
      </p:pic>
      <p:pic>
        <p:nvPicPr>
          <p:cNvPr id="29698" name="Picture 2" descr="See full size imag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1484784"/>
            <a:ext cx="936104" cy="870794"/>
          </a:xfrm>
          <a:prstGeom prst="rect">
            <a:avLst/>
          </a:prstGeom>
          <a:noFill/>
        </p:spPr>
      </p:pic>
      <p:pic>
        <p:nvPicPr>
          <p:cNvPr id="29700" name="Picture 4" descr="http://t0.gstatic.com/images?q=tbn:ANd9GcTPCL_SegCjboSnvFBogRp1wN-_uOsk9n8_hhqqbNQxSFPvkZrkjs6zoQ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92280" y="1412776"/>
            <a:ext cx="1095375" cy="1095376"/>
          </a:xfrm>
          <a:prstGeom prst="rect">
            <a:avLst/>
          </a:prstGeom>
          <a:noFill/>
        </p:spPr>
      </p:pic>
      <p:pic>
        <p:nvPicPr>
          <p:cNvPr id="29702" name="Picture 6" descr="http://t3.gstatic.com/images?q=tbn:ANd9GcTwM6h0jFQ4il09H2E00pxhoDKklEqJYGaSdRKIr-kNBI5qTYugc4zb_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99592" y="2924944"/>
            <a:ext cx="1224136" cy="1224136"/>
          </a:xfrm>
          <a:prstGeom prst="rect">
            <a:avLst/>
          </a:prstGeom>
          <a:noFill/>
        </p:spPr>
      </p:pic>
      <p:pic>
        <p:nvPicPr>
          <p:cNvPr id="29704" name="Picture 8" descr="http://t2.gstatic.com/images?q=tbn:ANd9GcTDj6_XblvYNv2cftXI8t5Md4PXO9Tqo_IWertyXU34wmfbd6gx_LskIVc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092280" y="2924944"/>
            <a:ext cx="1228042" cy="1440160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1763688" y="5805264"/>
            <a:ext cx="5256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>
                <a:solidFill>
                  <a:srgbClr val="FFFF00"/>
                </a:solidFill>
              </a:rPr>
              <a:t>Is there such a thing?</a:t>
            </a:r>
            <a:endParaRPr lang="en-GB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 RULES!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1.  Introduction</a:t>
            </a:r>
          </a:p>
          <a:p>
            <a:pPr>
              <a:buNone/>
            </a:pPr>
            <a:r>
              <a:rPr lang="en-GB" dirty="0" smtClean="0"/>
              <a:t>2.</a:t>
            </a:r>
          </a:p>
          <a:p>
            <a:pPr>
              <a:buNone/>
            </a:pPr>
            <a:r>
              <a:rPr lang="en-GB" dirty="0" smtClean="0"/>
              <a:t>3.</a:t>
            </a:r>
          </a:p>
          <a:p>
            <a:pPr>
              <a:buNone/>
            </a:pPr>
            <a:r>
              <a:rPr lang="en-GB" dirty="0" smtClean="0"/>
              <a:t>4.</a:t>
            </a:r>
          </a:p>
          <a:p>
            <a:pPr>
              <a:buNone/>
            </a:pPr>
            <a:r>
              <a:rPr lang="en-GB" dirty="0" smtClean="0"/>
              <a:t>5.</a:t>
            </a:r>
          </a:p>
          <a:p>
            <a:pPr>
              <a:buNone/>
            </a:pPr>
            <a:r>
              <a:rPr lang="en-GB" dirty="0" smtClean="0"/>
              <a:t>6.  Conclusion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Postmodernism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539552" y="1628800"/>
            <a:ext cx="6840760" cy="4248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rgbClr val="FFFF00"/>
                </a:solidFill>
              </a:rPr>
              <a:t>Pick and Mix</a:t>
            </a:r>
          </a:p>
          <a:p>
            <a:pPr algn="ctr"/>
            <a:r>
              <a:rPr lang="en-GB" sz="3200" dirty="0" smtClean="0">
                <a:solidFill>
                  <a:srgbClr val="FFFF00"/>
                </a:solidFill>
              </a:rPr>
              <a:t>Hyper-reality</a:t>
            </a:r>
          </a:p>
          <a:p>
            <a:pPr algn="ctr"/>
            <a:r>
              <a:rPr lang="en-GB" sz="3200" dirty="0" err="1" smtClean="0">
                <a:solidFill>
                  <a:srgbClr val="FFFF00"/>
                </a:solidFill>
              </a:rPr>
              <a:t>Metanarratives</a:t>
            </a:r>
            <a:endParaRPr lang="en-GB" sz="3200" dirty="0" smtClean="0">
              <a:solidFill>
                <a:srgbClr val="FFFF00"/>
              </a:solidFill>
            </a:endParaRPr>
          </a:p>
          <a:p>
            <a:pPr algn="ctr"/>
            <a:r>
              <a:rPr lang="en-GB" sz="3200" dirty="0" smtClean="0">
                <a:solidFill>
                  <a:srgbClr val="FFFF00"/>
                </a:solidFill>
              </a:rPr>
              <a:t>Consumption</a:t>
            </a:r>
            <a:endParaRPr lang="en-GB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 RULES!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1.  Introduction</a:t>
            </a:r>
          </a:p>
          <a:p>
            <a:pPr>
              <a:buNone/>
            </a:pPr>
            <a:r>
              <a:rPr lang="en-GB" dirty="0" smtClean="0"/>
              <a:t>2.</a:t>
            </a:r>
          </a:p>
          <a:p>
            <a:pPr>
              <a:buNone/>
            </a:pPr>
            <a:r>
              <a:rPr lang="en-GB" dirty="0" smtClean="0"/>
              <a:t>3.</a:t>
            </a:r>
          </a:p>
          <a:p>
            <a:pPr>
              <a:buNone/>
            </a:pPr>
            <a:r>
              <a:rPr lang="en-GB" dirty="0" smtClean="0"/>
              <a:t>4.</a:t>
            </a:r>
          </a:p>
          <a:p>
            <a:pPr>
              <a:buNone/>
            </a:pPr>
            <a:r>
              <a:rPr lang="en-GB" dirty="0" smtClean="0"/>
              <a:t>5.</a:t>
            </a:r>
          </a:p>
          <a:p>
            <a:pPr>
              <a:buNone/>
            </a:pPr>
            <a:r>
              <a:rPr lang="en-GB" dirty="0" smtClean="0"/>
              <a:t>6.  Conclusion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Assessment Objectives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061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8736"/>
                <a:gridCol w="2448272"/>
                <a:gridCol w="2242592"/>
              </a:tblGrid>
              <a:tr h="135368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 smtClean="0"/>
                        <a:t>AO1</a:t>
                      </a:r>
                      <a:endParaRPr lang="en-GB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600" dirty="0" smtClean="0"/>
                        <a:t>AO2</a:t>
                      </a:r>
                      <a:endParaRPr lang="en-GB" sz="2600" dirty="0"/>
                    </a:p>
                  </a:txBody>
                  <a:tcPr/>
                </a:tc>
              </a:tr>
              <a:tr h="1353683">
                <a:tc>
                  <a:txBody>
                    <a:bodyPr/>
                    <a:lstStyle/>
                    <a:p>
                      <a:r>
                        <a:rPr lang="en-GB" sz="2600" dirty="0" smtClean="0"/>
                        <a:t>First</a:t>
                      </a:r>
                      <a:r>
                        <a:rPr lang="en-GB" sz="2600" baseline="0" dirty="0" smtClean="0"/>
                        <a:t> essay question:</a:t>
                      </a:r>
                    </a:p>
                    <a:p>
                      <a:pPr algn="ctr"/>
                      <a:r>
                        <a:rPr lang="en-GB" sz="3200" baseline="0" dirty="0" smtClean="0"/>
                        <a:t>‘Examine’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14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10</a:t>
                      </a:r>
                      <a:endParaRPr lang="en-GB" sz="2800" dirty="0"/>
                    </a:p>
                  </a:txBody>
                  <a:tcPr/>
                </a:tc>
              </a:tr>
              <a:tr h="1353683">
                <a:tc>
                  <a:txBody>
                    <a:bodyPr/>
                    <a:lstStyle/>
                    <a:p>
                      <a:r>
                        <a:rPr lang="en-GB" sz="2600" dirty="0" smtClean="0"/>
                        <a:t>Second essay question:</a:t>
                      </a:r>
                    </a:p>
                    <a:p>
                      <a:pPr algn="ctr"/>
                      <a:r>
                        <a:rPr lang="en-GB" sz="3200" dirty="0" smtClean="0"/>
                        <a:t>‘Assess’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10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14</a:t>
                      </a:r>
                      <a:endParaRPr lang="en-GB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96552" y="0"/>
            <a:ext cx="1015015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684568" cy="1484784"/>
          </a:xfrm>
          <a:solidFill>
            <a:srgbClr val="FFFF00"/>
          </a:solidFill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Filling out the question books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 Questions: Examine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GB" sz="3400" dirty="0" smtClean="0"/>
              <a:t>Examine sociological explanations of the way ethnicity may shape our identity (Jun 2011 )</a:t>
            </a:r>
          </a:p>
          <a:p>
            <a:pPr marL="514350" indent="-514350">
              <a:buAutoNum type="arabicPeriod"/>
            </a:pPr>
            <a:r>
              <a:rPr lang="en-GB" sz="3400" dirty="0" smtClean="0"/>
              <a:t>Examine the ways in which two of the following agencies may shape the process of socialisation; family; education; mass media; religion (Jun 2010)</a:t>
            </a:r>
          </a:p>
          <a:p>
            <a:pPr>
              <a:buNone/>
            </a:pPr>
            <a:r>
              <a:rPr lang="en-GB" sz="3400" dirty="0" smtClean="0"/>
              <a:t>3. Examine sociological contributions to our understanding of how identity is shaped by any </a:t>
            </a:r>
            <a:r>
              <a:rPr lang="en-GB" sz="3400" b="1" dirty="0" smtClean="0"/>
              <a:t>two </a:t>
            </a:r>
            <a:r>
              <a:rPr lang="en-GB" sz="3400" dirty="0" smtClean="0"/>
              <a:t>of the following: social class; disability; sexuality; age. (Jan 2010)</a:t>
            </a:r>
          </a:p>
          <a:p>
            <a:pPr marL="742950" indent="-742950">
              <a:buAutoNum type="arabicPeriod" startAt="4"/>
            </a:pPr>
            <a:r>
              <a:rPr lang="en-GB" sz="3600" dirty="0" smtClean="0"/>
              <a:t>Examine sociological contributions to our understanding of youth culture  (Jan 2009)</a:t>
            </a:r>
          </a:p>
          <a:p>
            <a:pPr marL="742950" indent="-742950">
              <a:buAutoNum type="arabicPeriod" startAt="4"/>
            </a:pPr>
            <a:r>
              <a:rPr lang="en-GB" sz="3600" dirty="0" smtClean="0"/>
              <a:t>Examine the contribution of </a:t>
            </a:r>
            <a:r>
              <a:rPr lang="en-GB" sz="3600" dirty="0" err="1" smtClean="0"/>
              <a:t>interactionist</a:t>
            </a:r>
            <a:r>
              <a:rPr lang="en-GB" sz="3600" dirty="0" smtClean="0"/>
              <a:t> views to our understanding of identity. (Jun 2009)</a:t>
            </a:r>
          </a:p>
          <a:p>
            <a:pPr>
              <a:buNone/>
            </a:pPr>
            <a:endParaRPr lang="en-GB" sz="3600" dirty="0" smtClean="0"/>
          </a:p>
          <a:p>
            <a:pPr>
              <a:buNone/>
            </a:pPr>
            <a:endParaRPr lang="en-GB" sz="3600" dirty="0" smtClean="0"/>
          </a:p>
          <a:p>
            <a:pPr>
              <a:buNone/>
            </a:pPr>
            <a:endParaRPr lang="en-GB" sz="3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Essay questions: Assess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buAutoNum type="arabicPeriod"/>
            </a:pPr>
            <a:r>
              <a:rPr lang="en-GB" sz="5000" b="1" dirty="0" smtClean="0"/>
              <a:t>Assess the view that social class in no longer a significant factor in shaping social identity  (Jan 2011)</a:t>
            </a:r>
          </a:p>
          <a:p>
            <a:pPr marL="514350" indent="-514350">
              <a:buAutoNum type="arabicPeriod"/>
            </a:pPr>
            <a:r>
              <a:rPr lang="en-GB" sz="5000" b="1" dirty="0" smtClean="0">
                <a:solidFill>
                  <a:srgbClr val="FFFF00"/>
                </a:solidFill>
              </a:rPr>
              <a:t>Assess sociological explanations of the role of culture in society  (Jun 2011)</a:t>
            </a:r>
          </a:p>
          <a:p>
            <a:pPr marL="514350" indent="-514350">
              <a:buAutoNum type="arabicPeriod"/>
            </a:pPr>
            <a:r>
              <a:rPr lang="en-GB" sz="5000" b="1" dirty="0" smtClean="0"/>
              <a:t>Assess the view that patterns of leisure and consumption are the main  factors determining social identity (Jun 2010)</a:t>
            </a:r>
          </a:p>
          <a:p>
            <a:pPr marL="514350" indent="-514350">
              <a:buAutoNum type="arabicPeriod"/>
            </a:pPr>
            <a:r>
              <a:rPr lang="en-GB" sz="5000" b="1" dirty="0" smtClean="0">
                <a:solidFill>
                  <a:srgbClr val="FFFF00"/>
                </a:solidFill>
              </a:rPr>
              <a:t>Assess the functionalist view that socialization is mainly concerned with the transmission of norms and values (Jan 2010)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sz="5000" b="1" dirty="0" smtClean="0"/>
              <a:t>Assess the view that gender identities are increasingly varied in today’s society (Jun 2009)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sz="5000" b="1" dirty="0" smtClean="0">
                <a:solidFill>
                  <a:srgbClr val="FFFF00"/>
                </a:solidFill>
              </a:rPr>
              <a:t>Assess the view that a mass culture exists in society today (Jan 2009</a:t>
            </a:r>
            <a:r>
              <a:rPr lang="en-GB" sz="5000" b="1" dirty="0" smtClean="0"/>
              <a:t>)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sz="5000" b="1" dirty="0" smtClean="0"/>
              <a:t>Assess the functionalist view of culture </a:t>
            </a:r>
          </a:p>
          <a:p>
            <a:pPr marL="514350" indent="-514350"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smtClean="0">
                <a:solidFill>
                  <a:srgbClr val="FFFF00"/>
                </a:solidFill>
              </a:rPr>
              <a:t>PLENARY</a:t>
            </a:r>
            <a:endParaRPr lang="en-GB" sz="66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</p:txBody>
      </p:sp>
      <p:sp>
        <p:nvSpPr>
          <p:cNvPr id="4" name="Rounded Rectangular Callout 3"/>
          <p:cNvSpPr/>
          <p:nvPr/>
        </p:nvSpPr>
        <p:spPr>
          <a:xfrm>
            <a:off x="539552" y="1772816"/>
            <a:ext cx="4104456" cy="2304256"/>
          </a:xfrm>
          <a:prstGeom prst="wedgeRoundRectCallou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 smtClean="0">
                <a:solidFill>
                  <a:schemeClr val="bg1"/>
                </a:solidFill>
                <a:latin typeface="Tempus Sans ITC" pitchFamily="82" charset="0"/>
              </a:rPr>
              <a:t>What skills have I developed today?</a:t>
            </a:r>
            <a:endParaRPr lang="en-GB" sz="4000" dirty="0">
              <a:solidFill>
                <a:schemeClr val="bg1"/>
              </a:solidFill>
              <a:latin typeface="Tempus Sans ITC" pitchFamily="82" charset="0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4860032" y="3284984"/>
            <a:ext cx="3816424" cy="2376264"/>
          </a:xfrm>
          <a:prstGeom prst="wedgeRoundRectCallou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dirty="0" smtClean="0"/>
              <a:t>What ONE piece of new knowledge am I taking away with me today?</a:t>
            </a:r>
            <a:endParaRPr lang="en-GB" sz="3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552</Words>
  <Application>Microsoft Office PowerPoint</Application>
  <PresentationFormat>On-screen Show (4:3)</PresentationFormat>
  <Paragraphs>162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SCLY1</vt:lpstr>
      <vt:lpstr>Aims</vt:lpstr>
      <vt:lpstr>Slide 3</vt:lpstr>
      <vt:lpstr>Remember these?</vt:lpstr>
      <vt:lpstr>Key words from Topics</vt:lpstr>
      <vt:lpstr>STARTER</vt:lpstr>
      <vt:lpstr>How did you do?</vt:lpstr>
      <vt:lpstr>How did you do?</vt:lpstr>
      <vt:lpstr>Perspectives on Culture</vt:lpstr>
      <vt:lpstr>Functionalist perspectives</vt:lpstr>
      <vt:lpstr>Marxist theories</vt:lpstr>
      <vt:lpstr>Neo-Marxism</vt:lpstr>
      <vt:lpstr>Mass Culture</vt:lpstr>
      <vt:lpstr>A global culture....?</vt:lpstr>
      <vt:lpstr>ESSAY RULES!</vt:lpstr>
      <vt:lpstr>Postmodernism</vt:lpstr>
      <vt:lpstr>ESSAY RULES!</vt:lpstr>
      <vt:lpstr>Assessment Objectives</vt:lpstr>
      <vt:lpstr>Filling out the question books</vt:lpstr>
      <vt:lpstr>Essay Questions: Examine</vt:lpstr>
      <vt:lpstr>Essay questions: Assess</vt:lpstr>
      <vt:lpstr>PLENARY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SCLY1</dc:title>
  <dc:creator>zumester</dc:creator>
  <cp:lastModifiedBy>Andy</cp:lastModifiedBy>
  <cp:revision>26</cp:revision>
  <dcterms:created xsi:type="dcterms:W3CDTF">2012-01-08T12:52:38Z</dcterms:created>
  <dcterms:modified xsi:type="dcterms:W3CDTF">2012-01-10T17:29:54Z</dcterms:modified>
</cp:coreProperties>
</file>