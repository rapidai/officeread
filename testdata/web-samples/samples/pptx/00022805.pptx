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rels" ContentType="application/vnd.openxmlformats-package.relationships+xml"/>
  <Default Extension="emf" ContentType="image/x-emf"/>
  <Default Extension="xlsx" ContentType="application/vnd.openxmlformats-officedocument.spreadsheetml.sheet"/>
  <Default Extension="vml" ContentType="application/vnd.openxmlformats-officedocument.vmlDrawing"/>
  <Default Extension="bin" ContentType="application/vnd.openxmlformats-officedocument.presentationml.printerSettings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Slides/notesSlide4.xml" ContentType="application/vnd.openxmlformats-officedocument.presentationml.notes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Slides/notesSlide5.xml" ContentType="application/vnd.openxmlformats-officedocument.presentationml.notesSlide+xml"/>
  <Override PartName="/ppt/charts/chart6.xml" ContentType="application/vnd.openxmlformats-officedocument.drawingml.chart+xml"/>
  <Override PartName="/ppt/notesSlides/notesSlide6.xml" ContentType="application/vnd.openxmlformats-officedocument.presentationml.notesSlide+xml"/>
  <Override PartName="/ppt/charts/chart7.xml" ContentType="application/vnd.openxmlformats-officedocument.drawingml.chart+xml"/>
  <Override PartName="/ppt/notesSlides/notesSlide7.xml" ContentType="application/vnd.openxmlformats-officedocument.presentationml.notesSlide+xml"/>
  <Override PartName="/ppt/charts/chart8.xml" ContentType="application/vnd.openxmlformats-officedocument.drawingml.chart+xml"/>
  <Override PartName="/ppt/notesSlides/notesSlide8.xml" ContentType="application/vnd.openxmlformats-officedocument.presentationml.notesSlide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notesSlides/notesSlide12.xml" ContentType="application/vnd.openxmlformats-officedocument.presentationml.notesSlide+xml"/>
  <Override PartName="/ppt/charts/chart15.xml" ContentType="application/vnd.openxmlformats-officedocument.drawingml.chart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9" r:id="rId1"/>
  </p:sldMasterIdLst>
  <p:notesMasterIdLst>
    <p:notesMasterId r:id="rId36"/>
  </p:notesMasterIdLst>
  <p:handoutMasterIdLst>
    <p:handoutMasterId r:id="rId37"/>
  </p:handoutMasterIdLst>
  <p:sldIdLst>
    <p:sldId id="256" r:id="rId2"/>
    <p:sldId id="260" r:id="rId3"/>
    <p:sldId id="261" r:id="rId4"/>
    <p:sldId id="262" r:id="rId5"/>
    <p:sldId id="263" r:id="rId6"/>
    <p:sldId id="264" r:id="rId7"/>
    <p:sldId id="265" r:id="rId8"/>
    <p:sldId id="266" r:id="rId9"/>
    <p:sldId id="267" r:id="rId10"/>
    <p:sldId id="268" r:id="rId11"/>
    <p:sldId id="269" r:id="rId12"/>
    <p:sldId id="270" r:id="rId13"/>
    <p:sldId id="271" r:id="rId14"/>
    <p:sldId id="272" r:id="rId15"/>
    <p:sldId id="273" r:id="rId16"/>
    <p:sldId id="274" r:id="rId17"/>
    <p:sldId id="275" r:id="rId18"/>
    <p:sldId id="276" r:id="rId19"/>
    <p:sldId id="277" r:id="rId20"/>
    <p:sldId id="278" r:id="rId21"/>
    <p:sldId id="279" r:id="rId22"/>
    <p:sldId id="280" r:id="rId23"/>
    <p:sldId id="282" r:id="rId24"/>
    <p:sldId id="293" r:id="rId25"/>
    <p:sldId id="281" r:id="rId26"/>
    <p:sldId id="285" r:id="rId27"/>
    <p:sldId id="286" r:id="rId28"/>
    <p:sldId id="287" r:id="rId29"/>
    <p:sldId id="288" r:id="rId30"/>
    <p:sldId id="289" r:id="rId31"/>
    <p:sldId id="292" r:id="rId32"/>
    <p:sldId id="290" r:id="rId33"/>
    <p:sldId id="291" r:id="rId34"/>
    <p:sldId id="294" r:id="rId35"/>
  </p:sldIdLst>
  <p:sldSz cx="9144000" cy="6858000" type="screen4x3"/>
  <p:notesSz cx="6985000" cy="92837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itchFamily="29" charset="0"/>
        <a:ea typeface="ＭＳ Ｐゴシック" pitchFamily="29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itchFamily="29" charset="0"/>
        <a:ea typeface="ＭＳ Ｐゴシック" pitchFamily="29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itchFamily="29" charset="0"/>
        <a:ea typeface="ＭＳ Ｐゴシック" pitchFamily="29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itchFamily="29" charset="0"/>
        <a:ea typeface="ＭＳ Ｐゴシック" pitchFamily="29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itchFamily="29" charset="0"/>
        <a:ea typeface="ＭＳ Ｐゴシック" pitchFamily="29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" pitchFamily="29" charset="0"/>
        <a:ea typeface="ＭＳ Ｐゴシック" pitchFamily="29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" pitchFamily="29" charset="0"/>
        <a:ea typeface="ＭＳ Ｐゴシック" pitchFamily="29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" pitchFamily="29" charset="0"/>
        <a:ea typeface="ＭＳ Ｐゴシック" pitchFamily="29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" pitchFamily="29" charset="0"/>
        <a:ea typeface="ＭＳ Ｐゴシック" pitchFamily="29" charset="-128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4229" autoAdjust="0"/>
  </p:normalViewPr>
  <p:slideViewPr>
    <p:cSldViewPr>
      <p:cViewPr>
        <p:scale>
          <a:sx n="100" d="100"/>
          <a:sy n="100" d="100"/>
        </p:scale>
        <p:origin x="-1928" y="-102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9" Type="http://schemas.openxmlformats.org/officeDocument/2006/relationships/slide" Target="slides/slide8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37" Type="http://schemas.openxmlformats.org/officeDocument/2006/relationships/handoutMaster" Target="handoutMasters/handoutMaster1.xml"/><Relationship Id="rId38" Type="http://schemas.openxmlformats.org/officeDocument/2006/relationships/printerSettings" Target="printerSettings/printerSettings1.bin"/><Relationship Id="rId39" Type="http://schemas.openxmlformats.org/officeDocument/2006/relationships/presProps" Target="presProps.xml"/><Relationship Id="rId40" Type="http://schemas.openxmlformats.org/officeDocument/2006/relationships/viewProps" Target="viewProps.xml"/><Relationship Id="rId41" Type="http://schemas.openxmlformats.org/officeDocument/2006/relationships/theme" Target="theme/theme1.xml"/><Relationship Id="rId42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Sheet10.xlsx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Sheet11.xlsx"/></Relationships>
</file>

<file path=ppt/charts/_rels/chart1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Sheet12.xlsx"/></Relationships>
</file>

<file path=ppt/charts/_rels/chart1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Sheet13.xlsx"/></Relationships>
</file>

<file path=ppt/charts/_rels/chart1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Sheet14.xlsx"/></Relationships>
</file>

<file path=ppt/charts/_rels/chart1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Sheet15.xlsx"/></Relationships>
</file>

<file path=ppt/charts/_rels/chart1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Sheet1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hart>
    <c:autoTitleDeleted val="1"/>
    <c:plotArea>
      <c:layout>
        <c:manualLayout>
          <c:layoutTarget val="inner"/>
          <c:xMode val="edge"/>
          <c:yMode val="edge"/>
          <c:x val="0.348686583928535"/>
          <c:y val="2.99376640419946E-5"/>
          <c:w val="0.669678821597742"/>
          <c:h val="0.945518919510061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Column1</c:v>
                </c:pt>
              </c:strCache>
            </c:strRef>
          </c:tx>
          <c:invertIfNegative val="0"/>
          <c:dLbls>
            <c:numFmt formatCode="0%" sourceLinked="0"/>
            <c:txPr>
              <a:bodyPr/>
              <a:lstStyle/>
              <a:p>
                <a:pPr>
                  <a:defRPr sz="800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Sheet1!$A$2:$A$22</c:f>
              <c:strCache>
                <c:ptCount val="21"/>
                <c:pt idx="0">
                  <c:v>Graduate Studies</c:v>
                </c:pt>
                <c:pt idx="1">
                  <c:v>Social Work</c:v>
                </c:pt>
                <c:pt idx="2">
                  <c:v>Health/Medical Sciences</c:v>
                </c:pt>
                <c:pt idx="3">
                  <c:v>Administration</c:v>
                </c:pt>
                <c:pt idx="4">
                  <c:v>History</c:v>
                </c:pt>
                <c:pt idx="5">
                  <c:v>Geography</c:v>
                </c:pt>
                <c:pt idx="6">
                  <c:v>Arts and Sciences</c:v>
                </c:pt>
                <c:pt idx="7">
                  <c:v>Business</c:v>
                </c:pt>
                <c:pt idx="8">
                  <c:v>Other</c:v>
                </c:pt>
                <c:pt idx="9">
                  <c:v>Education</c:v>
                </c:pt>
                <c:pt idx="10">
                  <c:v>Public Policy/Public Health</c:v>
                </c:pt>
                <c:pt idx="11">
                  <c:v>Law/Criminal Justice</c:v>
                </c:pt>
                <c:pt idx="12">
                  <c:v>Research (unspecified department)</c:v>
                </c:pt>
                <c:pt idx="13">
                  <c:v>Information or Computing Services</c:v>
                </c:pt>
                <c:pt idx="14">
                  <c:v>Research Center or Institute in Academic Setting</c:v>
                </c:pt>
                <c:pt idx="15">
                  <c:v>Data Center (unspecified department)</c:v>
                </c:pt>
                <c:pt idx="16">
                  <c:v>Economics</c:v>
                </c:pt>
                <c:pt idx="17">
                  <c:v>Social Science</c:v>
                </c:pt>
                <c:pt idx="18">
                  <c:v>Sociology</c:v>
                </c:pt>
                <c:pt idx="19">
                  <c:v>Political Science</c:v>
                </c:pt>
                <c:pt idx="20">
                  <c:v>Library</c:v>
                </c:pt>
              </c:strCache>
            </c:strRef>
          </c:cat>
          <c:val>
            <c:numRef>
              <c:f>Sheet1!$B$2:$B$22</c:f>
              <c:numCache>
                <c:formatCode>0%</c:formatCode>
                <c:ptCount val="21"/>
                <c:pt idx="0">
                  <c:v>0.01</c:v>
                </c:pt>
                <c:pt idx="1">
                  <c:v>0.019</c:v>
                </c:pt>
                <c:pt idx="2">
                  <c:v>0.02</c:v>
                </c:pt>
                <c:pt idx="3">
                  <c:v>0.02</c:v>
                </c:pt>
                <c:pt idx="4">
                  <c:v>0.02</c:v>
                </c:pt>
                <c:pt idx="5">
                  <c:v>0.026</c:v>
                </c:pt>
                <c:pt idx="6">
                  <c:v>0.03</c:v>
                </c:pt>
                <c:pt idx="7">
                  <c:v>0.03</c:v>
                </c:pt>
                <c:pt idx="8">
                  <c:v>0.039</c:v>
                </c:pt>
                <c:pt idx="9">
                  <c:v>0.04</c:v>
                </c:pt>
                <c:pt idx="10">
                  <c:v>0.04</c:v>
                </c:pt>
                <c:pt idx="11">
                  <c:v>0.04</c:v>
                </c:pt>
                <c:pt idx="12">
                  <c:v>0.04</c:v>
                </c:pt>
                <c:pt idx="13">
                  <c:v>0.04</c:v>
                </c:pt>
                <c:pt idx="14">
                  <c:v>0.07</c:v>
                </c:pt>
                <c:pt idx="15">
                  <c:v>0.08</c:v>
                </c:pt>
                <c:pt idx="16">
                  <c:v>0.1</c:v>
                </c:pt>
                <c:pt idx="17">
                  <c:v>0.155</c:v>
                </c:pt>
                <c:pt idx="18">
                  <c:v>0.19</c:v>
                </c:pt>
                <c:pt idx="19">
                  <c:v>0.19</c:v>
                </c:pt>
                <c:pt idx="20">
                  <c:v>0.46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77868600"/>
        <c:axId val="2077876616"/>
      </c:barChart>
      <c:catAx>
        <c:axId val="2077868600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  <a:endParaRPr lang="en-US"/>
          </a:p>
        </c:txPr>
        <c:crossAx val="2077876616"/>
        <c:crosses val="autoZero"/>
        <c:auto val="1"/>
        <c:lblAlgn val="ctr"/>
        <c:lblOffset val="100"/>
        <c:noMultiLvlLbl val="0"/>
      </c:catAx>
      <c:valAx>
        <c:axId val="2077876616"/>
        <c:scaling>
          <c:orientation val="minMax"/>
        </c:scaling>
        <c:delete val="0"/>
        <c:axPos val="b"/>
        <c:numFmt formatCode="0%" sourceLinked="1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  <a:endParaRPr lang="en-US"/>
          </a:p>
        </c:txPr>
        <c:crossAx val="2077868600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32"/>
    </mc:Choice>
    <mc:Fallback>
      <c:style val="3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0944629421322339"/>
          <c:y val="0.218409186351707"/>
          <c:w val="0.789363452093241"/>
          <c:h val="0.445176568837987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2012</c:v>
                </c:pt>
              </c:strCache>
            </c:strRef>
          </c:tx>
          <c:invertIfNegative val="0"/>
          <c:dLbls>
            <c:txPr>
              <a:bodyPr/>
              <a:lstStyle/>
              <a:p>
                <a:pPr>
                  <a:defRPr sz="1400">
                    <a:solidFill>
                      <a:schemeClr val="bg1"/>
                    </a:solidFill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Library</c:v>
                </c:pt>
                <c:pt idx="1">
                  <c:v>Sociology</c:v>
                </c:pt>
                <c:pt idx="2">
                  <c:v>Political Science</c:v>
                </c:pt>
                <c:pt idx="3">
                  <c:v>Data Center</c:v>
                </c:pt>
                <c:pt idx="4">
                  <c:v>Economics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46.0</c:v>
                </c:pt>
                <c:pt idx="1">
                  <c:v>19.0</c:v>
                </c:pt>
                <c:pt idx="2">
                  <c:v>19.0</c:v>
                </c:pt>
                <c:pt idx="3">
                  <c:v>8.0</c:v>
                </c:pt>
                <c:pt idx="4">
                  <c:v>10.0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2010</c:v>
                </c:pt>
              </c:strCache>
            </c:strRef>
          </c:tx>
          <c:invertIfNegative val="0"/>
          <c:dLbls>
            <c:txPr>
              <a:bodyPr/>
              <a:lstStyle/>
              <a:p>
                <a:pPr algn="ctr">
                  <a:defRPr lang="en-US" sz="1400" b="0" i="0" u="none" strike="noStrike" kern="1200" baseline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Library</c:v>
                </c:pt>
                <c:pt idx="1">
                  <c:v>Sociology</c:v>
                </c:pt>
                <c:pt idx="2">
                  <c:v>Political Science</c:v>
                </c:pt>
                <c:pt idx="3">
                  <c:v>Data Center</c:v>
                </c:pt>
                <c:pt idx="4">
                  <c:v>Economics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45.0</c:v>
                </c:pt>
                <c:pt idx="1">
                  <c:v>15.0</c:v>
                </c:pt>
                <c:pt idx="2">
                  <c:v>20.0</c:v>
                </c:pt>
                <c:pt idx="3">
                  <c:v>10.0</c:v>
                </c:pt>
                <c:pt idx="4">
                  <c:v>8.0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2008</c:v>
                </c:pt>
              </c:strCache>
            </c:strRef>
          </c:tx>
          <c:invertIfNegative val="0"/>
          <c:dLbls>
            <c:txPr>
              <a:bodyPr/>
              <a:lstStyle/>
              <a:p>
                <a:pPr algn="ctr">
                  <a:defRPr lang="en-US" sz="1400" b="0" i="0" u="none" strike="noStrike" kern="1200" baseline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Library</c:v>
                </c:pt>
                <c:pt idx="1">
                  <c:v>Sociology</c:v>
                </c:pt>
                <c:pt idx="2">
                  <c:v>Political Science</c:v>
                </c:pt>
                <c:pt idx="3">
                  <c:v>Data Center</c:v>
                </c:pt>
                <c:pt idx="4">
                  <c:v>Economics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54.0</c:v>
                </c:pt>
                <c:pt idx="1">
                  <c:v>11.0</c:v>
                </c:pt>
                <c:pt idx="2">
                  <c:v>16.0</c:v>
                </c:pt>
                <c:pt idx="3">
                  <c:v>8.0</c:v>
                </c:pt>
                <c:pt idx="4">
                  <c:v>5.0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2005</c:v>
                </c:pt>
              </c:strCache>
            </c:strRef>
          </c:tx>
          <c:invertIfNegative val="0"/>
          <c:dLbls>
            <c:txPr>
              <a:bodyPr/>
              <a:lstStyle/>
              <a:p>
                <a:pPr algn="ctr">
                  <a:defRPr lang="en-US" sz="1400" b="0" i="0" u="none" strike="noStrike" kern="1200" baseline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Library</c:v>
                </c:pt>
                <c:pt idx="1">
                  <c:v>Sociology</c:v>
                </c:pt>
                <c:pt idx="2">
                  <c:v>Political Science</c:v>
                </c:pt>
                <c:pt idx="3">
                  <c:v>Data Center</c:v>
                </c:pt>
                <c:pt idx="4">
                  <c:v>Economics</c:v>
                </c:pt>
              </c:strCache>
            </c:strRef>
          </c:cat>
          <c:val>
            <c:numRef>
              <c:f>Sheet1!$E$2:$E$6</c:f>
              <c:numCache>
                <c:formatCode>General</c:formatCode>
                <c:ptCount val="5"/>
                <c:pt idx="0">
                  <c:v>41.0</c:v>
                </c:pt>
                <c:pt idx="1">
                  <c:v>12.0</c:v>
                </c:pt>
                <c:pt idx="2">
                  <c:v>15.0</c:v>
                </c:pt>
                <c:pt idx="3">
                  <c:v>13.0</c:v>
                </c:pt>
                <c:pt idx="4">
                  <c:v>5.0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1998</c:v>
                </c:pt>
              </c:strCache>
            </c:strRef>
          </c:tx>
          <c:invertIfNegative val="0"/>
          <c:dLbls>
            <c:txPr>
              <a:bodyPr/>
              <a:lstStyle/>
              <a:p>
                <a:pPr algn="ctr">
                  <a:defRPr lang="en-US" sz="1400" b="0" i="0" u="none" strike="noStrike" kern="1200" baseline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Library</c:v>
                </c:pt>
                <c:pt idx="1">
                  <c:v>Sociology</c:v>
                </c:pt>
                <c:pt idx="2">
                  <c:v>Political Science</c:v>
                </c:pt>
                <c:pt idx="3">
                  <c:v>Data Center</c:v>
                </c:pt>
                <c:pt idx="4">
                  <c:v>Economics</c:v>
                </c:pt>
              </c:strCache>
            </c:strRef>
          </c:cat>
          <c:val>
            <c:numRef>
              <c:f>Sheet1!$F$2:$F$6</c:f>
              <c:numCache>
                <c:formatCode>General</c:formatCode>
                <c:ptCount val="5"/>
                <c:pt idx="0">
                  <c:v>42.0</c:v>
                </c:pt>
                <c:pt idx="1">
                  <c:v>15.0</c:v>
                </c:pt>
                <c:pt idx="2">
                  <c:v>20.0</c:v>
                </c:pt>
                <c:pt idx="4">
                  <c:v>5.0</c:v>
                </c:pt>
              </c:numCache>
            </c:numRef>
          </c:val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1988</c:v>
                </c:pt>
              </c:strCache>
            </c:strRef>
          </c:tx>
          <c:invertIfNegative val="0"/>
          <c:dLbls>
            <c:txPr>
              <a:bodyPr/>
              <a:lstStyle/>
              <a:p>
                <a:pPr algn="ctr">
                  <a:defRPr lang="en-US" sz="1400" b="0" i="0" u="none" strike="noStrike" kern="1200" baseline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Library</c:v>
                </c:pt>
                <c:pt idx="1">
                  <c:v>Sociology</c:v>
                </c:pt>
                <c:pt idx="2">
                  <c:v>Political Science</c:v>
                </c:pt>
                <c:pt idx="3">
                  <c:v>Data Center</c:v>
                </c:pt>
                <c:pt idx="4">
                  <c:v>Economics</c:v>
                </c:pt>
              </c:strCache>
            </c:strRef>
          </c:cat>
          <c:val>
            <c:numRef>
              <c:f>Sheet1!$G$2:$G$6</c:f>
              <c:numCache>
                <c:formatCode>General</c:formatCode>
                <c:ptCount val="5"/>
                <c:pt idx="0">
                  <c:v>23.0</c:v>
                </c:pt>
                <c:pt idx="1">
                  <c:v>16.0</c:v>
                </c:pt>
                <c:pt idx="2">
                  <c:v>39.0</c:v>
                </c:pt>
                <c:pt idx="3">
                  <c:v>12.0</c:v>
                </c:pt>
                <c:pt idx="4">
                  <c:v>4.0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78121512"/>
        <c:axId val="2078124424"/>
      </c:barChart>
      <c:catAx>
        <c:axId val="207812151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2078124424"/>
        <c:crosses val="autoZero"/>
        <c:auto val="1"/>
        <c:lblAlgn val="ctr"/>
        <c:lblOffset val="100"/>
        <c:noMultiLvlLbl val="0"/>
      </c:catAx>
      <c:valAx>
        <c:axId val="2078124424"/>
        <c:scaling>
          <c:orientation val="minMax"/>
        </c:scaling>
        <c:delete val="0"/>
        <c:axPos val="l"/>
        <c:majorGridlines/>
        <c:numFmt formatCode="General\%" sourceLinked="0"/>
        <c:majorTickMark val="out"/>
        <c:minorTickMark val="none"/>
        <c:tickLblPos val="nextTo"/>
        <c:crossAx val="2078121512"/>
        <c:crosses val="autoZero"/>
        <c:crossBetween val="between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invertIfNegative val="0"/>
          <c:cat>
            <c:strRef>
              <c:f>Sheet1!$A$2:$A$17</c:f>
              <c:strCache>
                <c:ptCount val="16"/>
                <c:pt idx="0">
                  <c:v>Health/Medical Sciences</c:v>
                </c:pt>
                <c:pt idx="1">
                  <c:v>Law/Legal Services/Criminal Justice</c:v>
                </c:pt>
                <c:pt idx="2">
                  <c:v>Social Work</c:v>
                </c:pt>
                <c:pt idx="3">
                  <c:v>Computer Sciences</c:v>
                </c:pt>
                <c:pt idx="4">
                  <c:v>Geography</c:v>
                </c:pt>
                <c:pt idx="5">
                  <c:v>Business</c:v>
                </c:pt>
                <c:pt idx="6">
                  <c:v>Public Policy/Administration</c:v>
                </c:pt>
                <c:pt idx="7">
                  <c:v>Education</c:v>
                </c:pt>
                <c:pt idx="8">
                  <c:v>Data/Information Sciences</c:v>
                </c:pt>
                <c:pt idx="9">
                  <c:v>History</c:v>
                </c:pt>
                <c:pt idx="10">
                  <c:v>Social Science</c:v>
                </c:pt>
                <c:pt idx="11">
                  <c:v>Economics</c:v>
                </c:pt>
                <c:pt idx="12">
                  <c:v>Other</c:v>
                </c:pt>
                <c:pt idx="13">
                  <c:v>Sociology</c:v>
                </c:pt>
                <c:pt idx="14">
                  <c:v>Political Science</c:v>
                </c:pt>
                <c:pt idx="15">
                  <c:v>Library Sciences</c:v>
                </c:pt>
              </c:strCache>
            </c:strRef>
          </c:cat>
          <c:val>
            <c:numRef>
              <c:f>Sheet1!$B$2:$B$17</c:f>
              <c:numCache>
                <c:formatCode>General</c:formatCode>
                <c:ptCount val="16"/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invertIfNegative val="0"/>
          <c:dLbls>
            <c:numFmt formatCode="0%" sourceLinked="0"/>
            <c:txPr>
              <a:bodyPr/>
              <a:lstStyle/>
              <a:p>
                <a:pPr>
                  <a:defRPr sz="1200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Sheet1!$A$2:$A$17</c:f>
              <c:strCache>
                <c:ptCount val="16"/>
                <c:pt idx="0">
                  <c:v>Health/Medical Sciences</c:v>
                </c:pt>
                <c:pt idx="1">
                  <c:v>Law/Legal Services/Criminal Justice</c:v>
                </c:pt>
                <c:pt idx="2">
                  <c:v>Social Work</c:v>
                </c:pt>
                <c:pt idx="3">
                  <c:v>Computer Sciences</c:v>
                </c:pt>
                <c:pt idx="4">
                  <c:v>Geography</c:v>
                </c:pt>
                <c:pt idx="5">
                  <c:v>Business</c:v>
                </c:pt>
                <c:pt idx="6">
                  <c:v>Public Policy/Administration</c:v>
                </c:pt>
                <c:pt idx="7">
                  <c:v>Education</c:v>
                </c:pt>
                <c:pt idx="8">
                  <c:v>Data/Information Sciences</c:v>
                </c:pt>
                <c:pt idx="9">
                  <c:v>History</c:v>
                </c:pt>
                <c:pt idx="10">
                  <c:v>Social Science</c:v>
                </c:pt>
                <c:pt idx="11">
                  <c:v>Economics</c:v>
                </c:pt>
                <c:pt idx="12">
                  <c:v>Other</c:v>
                </c:pt>
                <c:pt idx="13">
                  <c:v>Sociology</c:v>
                </c:pt>
                <c:pt idx="14">
                  <c:v>Political Science</c:v>
                </c:pt>
                <c:pt idx="15">
                  <c:v>Library Sciences</c:v>
                </c:pt>
              </c:strCache>
            </c:strRef>
          </c:cat>
          <c:val>
            <c:numRef>
              <c:f>Sheet1!$C$2:$C$17</c:f>
              <c:numCache>
                <c:formatCode>0%</c:formatCode>
                <c:ptCount val="16"/>
                <c:pt idx="0">
                  <c:v>0.01</c:v>
                </c:pt>
                <c:pt idx="1">
                  <c:v>0.013</c:v>
                </c:pt>
                <c:pt idx="2">
                  <c:v>0.02</c:v>
                </c:pt>
                <c:pt idx="3">
                  <c:v>0.02</c:v>
                </c:pt>
                <c:pt idx="4">
                  <c:v>0.026</c:v>
                </c:pt>
                <c:pt idx="5">
                  <c:v>0.032</c:v>
                </c:pt>
                <c:pt idx="6">
                  <c:v>0.039</c:v>
                </c:pt>
                <c:pt idx="7">
                  <c:v>0.05</c:v>
                </c:pt>
                <c:pt idx="8">
                  <c:v>0.06</c:v>
                </c:pt>
                <c:pt idx="9">
                  <c:v>0.06</c:v>
                </c:pt>
                <c:pt idx="10">
                  <c:v>0.07</c:v>
                </c:pt>
                <c:pt idx="11">
                  <c:v>0.08</c:v>
                </c:pt>
                <c:pt idx="12">
                  <c:v>0.13</c:v>
                </c:pt>
                <c:pt idx="13">
                  <c:v>0.19</c:v>
                </c:pt>
                <c:pt idx="14">
                  <c:v>0.21</c:v>
                </c:pt>
                <c:pt idx="15">
                  <c:v>0.44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78159320"/>
        <c:axId val="2078171880"/>
      </c:barChart>
      <c:catAx>
        <c:axId val="2078159320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  <a:endParaRPr lang="en-US"/>
          </a:p>
        </c:txPr>
        <c:crossAx val="2078171880"/>
        <c:crosses val="autoZero"/>
        <c:auto val="1"/>
        <c:lblAlgn val="ctr"/>
        <c:lblOffset val="100"/>
        <c:noMultiLvlLbl val="0"/>
      </c:catAx>
      <c:valAx>
        <c:axId val="2078171880"/>
        <c:scaling>
          <c:orientation val="minMax"/>
        </c:scaling>
        <c:delete val="0"/>
        <c:axPos val="b"/>
        <c:numFmt formatCode="0%" sourceLinked="0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  <a:endParaRPr lang="en-US"/>
          </a:p>
        </c:txPr>
        <c:crossAx val="2078159320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12"/>
    </mc:Choice>
    <mc:Fallback>
      <c:style val="12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US"/>
              <a:t>2013 OR Meeting</a:t>
            </a:r>
          </a:p>
        </c:rich>
      </c:tx>
      <c:layout/>
      <c:overlay val="0"/>
    </c:title>
    <c:autoTitleDeleted val="0"/>
    <c:view3D>
      <c:rotX val="30"/>
      <c:rotY val="0"/>
      <c:rAngAx val="0"/>
      <c:perspective val="30"/>
    </c:view3D>
    <c:floor>
      <c:thickness val="0"/>
    </c:floor>
    <c:sideWall>
      <c:thickness val="0"/>
    </c:sideWall>
    <c:backWall>
      <c:thickness val="0"/>
    </c:backWall>
    <c:plotArea>
      <c:layout/>
      <c:pie3D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2010 Virtual Meeting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Yes, onsite</c:v>
                </c:pt>
                <c:pt idx="1">
                  <c:v>Yes, virtually</c:v>
                </c:pt>
                <c:pt idx="2">
                  <c:v>No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16.0</c:v>
                </c:pt>
                <c:pt idx="1">
                  <c:v>5.0</c:v>
                </c:pt>
                <c:pt idx="2">
                  <c:v>79.0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1"/>
          <c:showBubbleSize val="0"/>
          <c:showLeaderLines val="0"/>
        </c:dLbls>
      </c:pie3DChart>
    </c:plotArea>
    <c:legend>
      <c:legendPos val="r"/>
      <c:layout>
        <c:manualLayout>
          <c:xMode val="edge"/>
          <c:yMode val="edge"/>
          <c:x val="0.56694361480677"/>
          <c:y val="0.592915436351706"/>
          <c:w val="0.415790682414698"/>
          <c:h val="0.375490994660151"/>
        </c:manualLayout>
      </c:layout>
      <c:overlay val="0"/>
    </c:legend>
    <c:plotVisOnly val="1"/>
    <c:dispBlanksAs val="zero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hart>
    <c:title>
      <c:layout/>
      <c:overlay val="0"/>
    </c:title>
    <c:autoTitleDeleted val="0"/>
    <c:view3D>
      <c:rotX val="30"/>
      <c:rotY val="0"/>
      <c:rAngAx val="0"/>
      <c:perspective val="30"/>
    </c:view3D>
    <c:floor>
      <c:thickness val="0"/>
    </c:floor>
    <c:sideWall>
      <c:thickness val="0"/>
    </c:sideWall>
    <c:backWall>
      <c:thickness val="0"/>
    </c:backWall>
    <c:plotArea>
      <c:layout/>
      <c:pie3D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Ever Attended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Yes</c:v>
                </c:pt>
                <c:pt idx="1">
                  <c:v>No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34.0</c:v>
                </c:pt>
                <c:pt idx="1">
                  <c:v>66.0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1"/>
          <c:showBubbleSize val="0"/>
          <c:showLeaderLines val="0"/>
        </c:dLbls>
      </c:pie3DChart>
    </c:plotArea>
    <c:legend>
      <c:legendPos val="r"/>
      <c:layout>
        <c:manualLayout>
          <c:xMode val="edge"/>
          <c:yMode val="edge"/>
          <c:x val="0.742291507916349"/>
          <c:y val="0.599826334208224"/>
          <c:w val="0.150443277923593"/>
          <c:h val="0.29737871475743"/>
        </c:manualLayout>
      </c:layout>
      <c:overlay val="0"/>
    </c:legend>
    <c:plotVisOnly val="1"/>
    <c:dispBlanksAs val="zero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28"/>
    </mc:Choice>
    <mc:Fallback>
      <c:style val="28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US" dirty="0" smtClean="0"/>
              <a:t>Percentage</a:t>
            </a:r>
            <a:r>
              <a:rPr lang="en-US" baseline="0" dirty="0" smtClean="0"/>
              <a:t> of ORs who Attended</a:t>
            </a:r>
            <a:endParaRPr lang="en-US" dirty="0"/>
          </a:p>
        </c:rich>
      </c:tx>
      <c:layout>
        <c:manualLayout>
          <c:xMode val="edge"/>
          <c:yMode val="edge"/>
          <c:x val="0.236916607015032"/>
          <c:y val="0.0666666666666667"/>
        </c:manualLayout>
      </c:layout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2011 Onsite</c:v>
                </c:pt>
              </c:strCache>
            </c:strRef>
          </c:tx>
          <c:invertIfNegative val="0"/>
          <c:dLbls>
            <c:txPr>
              <a:bodyPr/>
              <a:lstStyle/>
              <a:p>
                <a:pPr>
                  <a:defRPr>
                    <a:solidFill>
                      <a:schemeClr val="bg1"/>
                    </a:solidFill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Extensive</c:v>
                </c:pt>
                <c:pt idx="1">
                  <c:v>Intensive</c:v>
                </c:pt>
                <c:pt idx="2">
                  <c:v>MA</c:v>
                </c:pt>
                <c:pt idx="3">
                  <c:v>BA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34.0</c:v>
                </c:pt>
                <c:pt idx="1">
                  <c:v>26.0</c:v>
                </c:pt>
                <c:pt idx="2">
                  <c:v>13.0</c:v>
                </c:pt>
                <c:pt idx="3">
                  <c:v>12.0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2009 Virtual</c:v>
                </c:pt>
              </c:strCache>
            </c:strRef>
          </c:tx>
          <c:invertIfNegative val="0"/>
          <c:dLbls>
            <c:txPr>
              <a:bodyPr/>
              <a:lstStyle/>
              <a:p>
                <a:pPr>
                  <a:defRPr>
                    <a:solidFill>
                      <a:schemeClr val="bg1"/>
                    </a:solidFill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Extensive</c:v>
                </c:pt>
                <c:pt idx="1">
                  <c:v>Intensive</c:v>
                </c:pt>
                <c:pt idx="2">
                  <c:v>MA</c:v>
                </c:pt>
                <c:pt idx="3">
                  <c:v>BA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50.0</c:v>
                </c:pt>
                <c:pt idx="1">
                  <c:v>36.0</c:v>
                </c:pt>
                <c:pt idx="2">
                  <c:v>38.0</c:v>
                </c:pt>
                <c:pt idx="3">
                  <c:v>23.0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2007 Onsite</c:v>
                </c:pt>
              </c:strCache>
            </c:strRef>
          </c:tx>
          <c:invertIfNegative val="0"/>
          <c:dLbls>
            <c:txPr>
              <a:bodyPr/>
              <a:lstStyle/>
              <a:p>
                <a:pPr algn="ctr">
                  <a:defRPr lang="en-US" sz="1800" b="0" i="0" u="none" strike="noStrike" kern="1200" baseline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Extensive</c:v>
                </c:pt>
                <c:pt idx="1">
                  <c:v>Intensive</c:v>
                </c:pt>
                <c:pt idx="2">
                  <c:v>MA</c:v>
                </c:pt>
                <c:pt idx="3">
                  <c:v>BA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29.0</c:v>
                </c:pt>
                <c:pt idx="1">
                  <c:v>8.0</c:v>
                </c:pt>
                <c:pt idx="2">
                  <c:v>32.0</c:v>
                </c:pt>
                <c:pt idx="3">
                  <c:v>28.0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77346824"/>
        <c:axId val="2077343848"/>
      </c:barChart>
      <c:catAx>
        <c:axId val="2077346824"/>
        <c:scaling>
          <c:orientation val="minMax"/>
        </c:scaling>
        <c:delete val="0"/>
        <c:axPos val="b"/>
        <c:majorTickMark val="out"/>
        <c:minorTickMark val="none"/>
        <c:tickLblPos val="nextTo"/>
        <c:crossAx val="2077343848"/>
        <c:crosses val="autoZero"/>
        <c:auto val="1"/>
        <c:lblAlgn val="ctr"/>
        <c:lblOffset val="100"/>
        <c:noMultiLvlLbl val="0"/>
      </c:catAx>
      <c:valAx>
        <c:axId val="2077343848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2077346824"/>
        <c:crosses val="autoZero"/>
        <c:crossBetween val="between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hart>
    <c:title>
      <c:layout/>
      <c:overlay val="0"/>
    </c:title>
    <c:autoTitleDeleted val="0"/>
    <c:view3D>
      <c:rotX val="0"/>
      <c:rotY val="80"/>
      <c:rAngAx val="1"/>
    </c:view3D>
    <c:floor>
      <c:thickness val="0"/>
    </c:floor>
    <c:sideWall>
      <c:thickness val="0"/>
    </c:sideWall>
    <c:backWall>
      <c:thickness val="0"/>
    </c:backWall>
    <c:plotArea>
      <c:layout/>
      <c:bar3D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Most Important OR Mtg Content</c:v>
                </c:pt>
              </c:strCache>
            </c:strRef>
          </c:tx>
          <c:invertIfNegative val="0"/>
          <c:dLbls>
            <c:dLbl>
              <c:idx val="0"/>
              <c:layout>
                <c:manualLayout>
                  <c:x val="0.00972222222222222"/>
                  <c:y val="-0.0034722222222222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layout>
                <c:manualLayout>
                  <c:x val="0.0125"/>
                  <c:y val="0.0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layout>
                <c:manualLayout>
                  <c:x val="0.0125"/>
                  <c:y val="-0.00694444444444445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layout>
                <c:manualLayout>
                  <c:x val="0.00972222222222222"/>
                  <c:y val="-0.00694444444444445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layout>
                <c:manualLayout>
                  <c:x val="0.00833333333333324"/>
                  <c:y val="0.0104166666666666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layout>
                <c:manualLayout>
                  <c:x val="0.00694433508311472"/>
                  <c:y val="-0.00694444444444445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layout>
                <c:manualLayout>
                  <c:x val="0.00694444444444445"/>
                  <c:y val="0.00694444444444445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layout>
                <c:manualLayout>
                  <c:x val="0.00555555555555555"/>
                  <c:y val="0.00694444444444445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spPr>
              <a:scene3d>
                <a:camera prst="orthographicFront"/>
                <a:lightRig rig="threePt" dir="t"/>
              </a:scene3d>
              <a:sp3d>
                <a:bevelT/>
              </a:sp3d>
            </c:spPr>
            <c:txPr>
              <a:bodyPr rot="0" anchor="ctr" anchorCtr="0"/>
              <a:lstStyle/>
              <a:p>
                <a:pPr>
                  <a:defRPr sz="1200" b="0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Sheet1!$A$2:$A$9</c:f>
              <c:strCache>
                <c:ptCount val="8"/>
                <c:pt idx="0">
                  <c:v>Other</c:v>
                </c:pt>
                <c:pt idx="1">
                  <c:v>Research presentations (from non-ICPSR researchers)</c:v>
                </c:pt>
                <c:pt idx="2">
                  <c:v>Networking opportunities</c:v>
                </c:pt>
                <c:pt idx="3">
                  <c:v>Presentations: non-ICPSR data providers</c:v>
                </c:pt>
                <c:pt idx="4">
                  <c:v>Presentations to increase effectiveness in OR/DR role</c:v>
                </c:pt>
                <c:pt idx="5">
                  <c:v>Presentations digital curation of research data</c:v>
                </c:pt>
                <c:pt idx="6">
                  <c:v>Presentations on how to use data in teaching</c:v>
                </c:pt>
                <c:pt idx="7">
                  <c:v>Presentations on ICPSR tools/resources</c:v>
                </c:pt>
              </c:strCache>
            </c:strRef>
          </c:cat>
          <c:val>
            <c:numRef>
              <c:f>Sheet1!$B$2:$B$9</c:f>
              <c:numCache>
                <c:formatCode>0%</c:formatCode>
                <c:ptCount val="8"/>
                <c:pt idx="0">
                  <c:v>0.05</c:v>
                </c:pt>
                <c:pt idx="1">
                  <c:v>0.19</c:v>
                </c:pt>
                <c:pt idx="2">
                  <c:v>0.31</c:v>
                </c:pt>
                <c:pt idx="3">
                  <c:v>0.33</c:v>
                </c:pt>
                <c:pt idx="4">
                  <c:v>0.45</c:v>
                </c:pt>
                <c:pt idx="5">
                  <c:v>0.54</c:v>
                </c:pt>
                <c:pt idx="6">
                  <c:v>0.54</c:v>
                </c:pt>
                <c:pt idx="7">
                  <c:v>0.69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shape val="cylinder"/>
        <c:axId val="2080031832"/>
        <c:axId val="2080034648"/>
        <c:axId val="0"/>
      </c:bar3DChart>
      <c:catAx>
        <c:axId val="2080031832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  <a:endParaRPr lang="en-US"/>
          </a:p>
        </c:txPr>
        <c:crossAx val="2080034648"/>
        <c:crosses val="autoZero"/>
        <c:auto val="1"/>
        <c:lblAlgn val="ctr"/>
        <c:lblOffset val="100"/>
        <c:noMultiLvlLbl val="0"/>
      </c:catAx>
      <c:valAx>
        <c:axId val="2080034648"/>
        <c:scaling>
          <c:orientation val="minMax"/>
        </c:scaling>
        <c:delete val="0"/>
        <c:axPos val="b"/>
        <c:numFmt formatCode="0%" sourceLinked="1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  <a:endParaRPr lang="en-US"/>
          </a:p>
        </c:txPr>
        <c:crossAx val="2080031832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10"/>
    </mc:Choice>
    <mc:Fallback>
      <c:style val="10"/>
    </mc:Fallback>
  </mc:AlternateContent>
  <c:chart>
    <c:autoTitleDeleted val="0"/>
    <c:view3D>
      <c:rotX val="15"/>
      <c:rotY val="20"/>
      <c:rAngAx val="1"/>
    </c:view3D>
    <c:floor>
      <c:thickness val="0"/>
    </c:floor>
    <c:sideWall>
      <c:thickness val="0"/>
    </c:sideWall>
    <c:backWall>
      <c:thickness val="0"/>
    </c:backWall>
    <c:plotArea>
      <c:layout/>
      <c:bar3D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Familiar</c:v>
                </c:pt>
              </c:strCache>
            </c:strRef>
          </c:tx>
          <c:invertIfNegative val="0"/>
          <c:cat>
            <c:strRef>
              <c:f>Sheet1!$A$2:$A$9</c:f>
              <c:strCache>
                <c:ptCount val="8"/>
                <c:pt idx="0">
                  <c:v>MyClass</c:v>
                </c:pt>
                <c:pt idx="1">
                  <c:v>OLC</c:v>
                </c:pt>
                <c:pt idx="2">
                  <c:v>ICPSR Utilization Reports</c:v>
                </c:pt>
                <c:pt idx="3">
                  <c:v>Undergrad Opportunities</c:v>
                </c:pt>
                <c:pt idx="4">
                  <c:v>Data User Help Center</c:v>
                </c:pt>
                <c:pt idx="5">
                  <c:v>Promotional/Workshop Materials</c:v>
                </c:pt>
                <c:pt idx="6">
                  <c:v>OR Web Site</c:v>
                </c:pt>
                <c:pt idx="7">
                  <c:v>ICPSR-sponsored Webinars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16.0</c:v>
                </c:pt>
                <c:pt idx="1">
                  <c:v>55.0</c:v>
                </c:pt>
                <c:pt idx="2">
                  <c:v>55.0</c:v>
                </c:pt>
                <c:pt idx="3">
                  <c:v>62.0</c:v>
                </c:pt>
                <c:pt idx="4">
                  <c:v>63.0</c:v>
                </c:pt>
                <c:pt idx="5">
                  <c:v>63.0</c:v>
                </c:pt>
                <c:pt idx="6">
                  <c:v>67.0</c:v>
                </c:pt>
                <c:pt idx="7">
                  <c:v>72.0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Used Past Year</c:v>
                </c:pt>
              </c:strCache>
            </c:strRef>
          </c:tx>
          <c:invertIfNegative val="0"/>
          <c:cat>
            <c:strRef>
              <c:f>Sheet1!$A$2:$A$9</c:f>
              <c:strCache>
                <c:ptCount val="8"/>
                <c:pt idx="0">
                  <c:v>MyClass</c:v>
                </c:pt>
                <c:pt idx="1">
                  <c:v>OLC</c:v>
                </c:pt>
                <c:pt idx="2">
                  <c:v>ICPSR Utilization Reports</c:v>
                </c:pt>
                <c:pt idx="3">
                  <c:v>Undergrad Opportunities</c:v>
                </c:pt>
                <c:pt idx="4">
                  <c:v>Data User Help Center</c:v>
                </c:pt>
                <c:pt idx="5">
                  <c:v>Promotional/Workshop Materials</c:v>
                </c:pt>
                <c:pt idx="6">
                  <c:v>OR Web Site</c:v>
                </c:pt>
                <c:pt idx="7">
                  <c:v>ICPSR-sponsored Webinars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3.0</c:v>
                </c:pt>
                <c:pt idx="1">
                  <c:v>18.0</c:v>
                </c:pt>
                <c:pt idx="2">
                  <c:v>25.0</c:v>
                </c:pt>
                <c:pt idx="3">
                  <c:v>22.0</c:v>
                </c:pt>
                <c:pt idx="4">
                  <c:v>22.0</c:v>
                </c:pt>
                <c:pt idx="5">
                  <c:v>25.0</c:v>
                </c:pt>
                <c:pt idx="6">
                  <c:v>28.0</c:v>
                </c:pt>
                <c:pt idx="7">
                  <c:v>24.0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shape val="cylinder"/>
        <c:axId val="2080116552"/>
        <c:axId val="2080119560"/>
        <c:axId val="0"/>
      </c:bar3DChart>
      <c:catAx>
        <c:axId val="2080116552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400"/>
            </a:pPr>
            <a:endParaRPr lang="en-US"/>
          </a:p>
        </c:txPr>
        <c:crossAx val="2080119560"/>
        <c:crosses val="autoZero"/>
        <c:auto val="1"/>
        <c:lblAlgn val="ctr"/>
        <c:lblOffset val="100"/>
        <c:noMultiLvlLbl val="0"/>
      </c:catAx>
      <c:valAx>
        <c:axId val="2080119560"/>
        <c:scaling>
          <c:orientation val="minMax"/>
        </c:scaling>
        <c:delete val="0"/>
        <c:axPos val="b"/>
        <c:majorGridlines/>
        <c:numFmt formatCode="General" sourceLinked="1"/>
        <c:majorTickMark val="out"/>
        <c:minorTickMark val="none"/>
        <c:tickLblPos val="nextTo"/>
        <c:crossAx val="2080116552"/>
        <c:crosses val="autoZero"/>
        <c:crossBetween val="between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layout>
        <c:manualLayout>
          <c:xMode val="edge"/>
          <c:yMode val="edge"/>
          <c:x val="0.226885849795091"/>
          <c:y val="0.819128787878788"/>
        </c:manualLayout>
      </c:layout>
      <c:overlay val="0"/>
      <c:txPr>
        <a:bodyPr/>
        <a:lstStyle/>
        <a:p>
          <a:pPr>
            <a:defRPr sz="1800"/>
          </a:pPr>
          <a:endParaRPr lang="en-US"/>
        </a:p>
      </c:txPr>
    </c:title>
    <c:autoTitleDeleted val="0"/>
    <c:view3D>
      <c:rotX val="30"/>
      <c:rotY val="0"/>
      <c:rAngAx val="0"/>
      <c:perspective val="30"/>
    </c:view3D>
    <c:floor>
      <c:thickness val="0"/>
    </c:floor>
    <c:sideWall>
      <c:thickness val="0"/>
    </c:sideWall>
    <c:backWall>
      <c:thickness val="0"/>
    </c:backWall>
    <c:plotArea>
      <c:layout>
        <c:manualLayout>
          <c:layoutTarget val="inner"/>
          <c:xMode val="edge"/>
          <c:yMode val="edge"/>
          <c:x val="0.0928029109997614"/>
          <c:y val="0.245659667541557"/>
          <c:w val="0.808333571939871"/>
          <c:h val="0.622569553805774"/>
        </c:manualLayout>
      </c:layout>
      <c:pie3D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Conducted ICPSR Workshop</c:v>
                </c:pt>
              </c:strCache>
            </c:strRef>
          </c:tx>
          <c:dLbls>
            <c:dLbl>
              <c:idx val="2"/>
              <c:layout>
                <c:manualLayout>
                  <c:x val="0.138150527236727"/>
                  <c:y val="0.103216747166152"/>
                </c:manualLayout>
              </c:layout>
              <c:showLegendKey val="0"/>
              <c:showVal val="0"/>
              <c:showCatName val="1"/>
              <c:showSerName val="0"/>
              <c:showPercent val="1"/>
              <c:showBubbleSize val="0"/>
            </c:dLbl>
            <c:txPr>
              <a:bodyPr/>
              <a:lstStyle/>
              <a:p>
                <a:pPr>
                  <a:defRPr sz="1600"/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Yes</c:v>
                </c:pt>
                <c:pt idx="1">
                  <c:v>No</c:v>
                </c:pt>
                <c:pt idx="2">
                  <c:v>Not sure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41.0</c:v>
                </c:pt>
                <c:pt idx="1">
                  <c:v>41.0</c:v>
                </c:pt>
                <c:pt idx="2">
                  <c:v>18.0</c:v>
                </c:pt>
              </c:numCache>
            </c:numRef>
          </c:val>
        </c:ser>
        <c:dLbls>
          <c:showLegendKey val="0"/>
          <c:showVal val="0"/>
          <c:showCatName val="1"/>
          <c:showSerName val="0"/>
          <c:showPercent val="1"/>
          <c:showBubbleSize val="0"/>
          <c:showLeaderLines val="0"/>
        </c:dLbls>
      </c:pie3DChart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layout>
        <c:manualLayout>
          <c:xMode val="edge"/>
          <c:yMode val="edge"/>
          <c:x val="0.110066907777559"/>
          <c:y val="0.829591618379246"/>
        </c:manualLayout>
      </c:layout>
      <c:overlay val="0"/>
      <c:txPr>
        <a:bodyPr/>
        <a:lstStyle/>
        <a:p>
          <a:pPr>
            <a:defRPr sz="1800"/>
          </a:pPr>
          <a:endParaRPr lang="en-US"/>
        </a:p>
      </c:txPr>
    </c:title>
    <c:autoTitleDeleted val="0"/>
    <c:view3D>
      <c:rotX val="30"/>
      <c:rotY val="0"/>
      <c:rAngAx val="0"/>
      <c:perspective val="30"/>
    </c:view3D>
    <c:floor>
      <c:thickness val="0"/>
    </c:floor>
    <c:sideWall>
      <c:thickness val="0"/>
    </c:sideWall>
    <c:backWall>
      <c:thickness val="0"/>
    </c:backWall>
    <c:plotArea>
      <c:layout/>
      <c:pie3D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Personally Used ICPSR Data</c:v>
                </c:pt>
              </c:strCache>
            </c:strRef>
          </c:tx>
          <c:dLbls>
            <c:dLbl>
              <c:idx val="1"/>
              <c:layout>
                <c:manualLayout>
                  <c:x val="0.187724927651882"/>
                  <c:y val="-0.0971333405036233"/>
                </c:manualLayout>
              </c:layout>
              <c:showLegendKey val="0"/>
              <c:showVal val="0"/>
              <c:showCatName val="1"/>
              <c:showSerName val="0"/>
              <c:showPercent val="1"/>
              <c:showBubbleSize val="0"/>
            </c:dLbl>
            <c:txPr>
              <a:bodyPr/>
              <a:lstStyle/>
              <a:p>
                <a:pPr>
                  <a:defRPr sz="1600"/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Yes</c:v>
                </c:pt>
                <c:pt idx="1">
                  <c:v>No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49.0</c:v>
                </c:pt>
                <c:pt idx="1">
                  <c:v>51.0</c:v>
                </c:pt>
              </c:numCache>
            </c:numRef>
          </c:val>
        </c:ser>
        <c:dLbls>
          <c:showLegendKey val="0"/>
          <c:showVal val="0"/>
          <c:showCatName val="1"/>
          <c:showSerName val="0"/>
          <c:showPercent val="1"/>
          <c:showBubbleSize val="0"/>
          <c:showLeaderLines val="1"/>
        </c:dLbls>
      </c:pie3DChart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26"/>
    </mc:Choice>
    <mc:Fallback>
      <c:style val="26"/>
    </mc:Fallback>
  </mc:AlternateContent>
  <c:chart>
    <c:autoTitleDeleted val="0"/>
    <c:plotArea>
      <c:layout>
        <c:manualLayout>
          <c:layoutTarget val="inner"/>
          <c:xMode val="edge"/>
          <c:yMode val="edge"/>
          <c:x val="0.075944395839409"/>
          <c:y val="0.21840921021236"/>
          <c:w val="0.789363452093241"/>
          <c:h val="0.445176568837987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Some</c:v>
                </c:pt>
              </c:strCache>
            </c:strRef>
          </c:tx>
          <c:invertIfNegative val="0"/>
          <c:dLbls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Sheet1!$A$2:$A$9</c:f>
              <c:strCache>
                <c:ptCount val="8"/>
                <c:pt idx="0">
                  <c:v>Teaching Materials</c:v>
                </c:pt>
                <c:pt idx="1">
                  <c:v>Teaching Training</c:v>
                </c:pt>
                <c:pt idx="2">
                  <c:v>Secure Data Services</c:v>
                </c:pt>
                <c:pt idx="3">
                  <c:v>ICPSR Catalog Services</c:v>
                </c:pt>
                <c:pt idx="4">
                  <c:v>Virtual Collaboration Space</c:v>
                </c:pt>
                <c:pt idx="5">
                  <c:v>ICPSR Self-Archiving</c:v>
                </c:pt>
                <c:pt idx="6">
                  <c:v>Repository Infrastructure</c:v>
                </c:pt>
                <c:pt idx="7">
                  <c:v>Video Research Data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42.0</c:v>
                </c:pt>
                <c:pt idx="1">
                  <c:v>42.0</c:v>
                </c:pt>
                <c:pt idx="2">
                  <c:v>42.0</c:v>
                </c:pt>
                <c:pt idx="3">
                  <c:v>39.0</c:v>
                </c:pt>
                <c:pt idx="4">
                  <c:v>41.0</c:v>
                </c:pt>
                <c:pt idx="5">
                  <c:v>36.0</c:v>
                </c:pt>
                <c:pt idx="6">
                  <c:v>33.0</c:v>
                </c:pt>
                <c:pt idx="7">
                  <c:v>38.0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Significant</c:v>
                </c:pt>
              </c:strCache>
            </c:strRef>
          </c:tx>
          <c:invertIfNegative val="0"/>
          <c:cat>
            <c:strRef>
              <c:f>Sheet1!$A$2:$A$9</c:f>
              <c:strCache>
                <c:ptCount val="8"/>
                <c:pt idx="0">
                  <c:v>Teaching Materials</c:v>
                </c:pt>
                <c:pt idx="1">
                  <c:v>Teaching Training</c:v>
                </c:pt>
                <c:pt idx="2">
                  <c:v>Secure Data Services</c:v>
                </c:pt>
                <c:pt idx="3">
                  <c:v>ICPSR Catalog Services</c:v>
                </c:pt>
                <c:pt idx="4">
                  <c:v>Virtual Collaboration Space</c:v>
                </c:pt>
                <c:pt idx="5">
                  <c:v>ICPSR Self-Archiving</c:v>
                </c:pt>
                <c:pt idx="6">
                  <c:v>Repository Infrastructure</c:v>
                </c:pt>
                <c:pt idx="7">
                  <c:v>Video Research Data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38.0</c:v>
                </c:pt>
                <c:pt idx="1">
                  <c:v>30.0</c:v>
                </c:pt>
                <c:pt idx="2">
                  <c:v>23.0</c:v>
                </c:pt>
                <c:pt idx="3">
                  <c:v>21.0</c:v>
                </c:pt>
                <c:pt idx="4">
                  <c:v>15.0</c:v>
                </c:pt>
                <c:pt idx="5">
                  <c:v>19.0</c:v>
                </c:pt>
                <c:pt idx="6">
                  <c:v>20.0</c:v>
                </c:pt>
                <c:pt idx="7">
                  <c:v>14.0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2080251048"/>
        <c:axId val="2080254056"/>
      </c:barChart>
      <c:catAx>
        <c:axId val="208025104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  <a:endParaRPr lang="en-US"/>
          </a:p>
        </c:txPr>
        <c:crossAx val="2080254056"/>
        <c:crosses val="autoZero"/>
        <c:auto val="1"/>
        <c:lblAlgn val="ctr"/>
        <c:lblOffset val="100"/>
        <c:noMultiLvlLbl val="0"/>
      </c:catAx>
      <c:valAx>
        <c:axId val="2080254056"/>
        <c:scaling>
          <c:orientation val="minMax"/>
        </c:scaling>
        <c:delete val="0"/>
        <c:axPos val="l"/>
        <c:majorGridlines/>
        <c:numFmt formatCode="General" sourceLinked="0"/>
        <c:majorTickMark val="out"/>
        <c:minorTickMark val="none"/>
        <c:tickLblPos val="nextTo"/>
        <c:crossAx val="2080251048"/>
        <c:crosses val="autoZero"/>
        <c:crossBetween val="between"/>
      </c:valAx>
    </c:plotArea>
    <c:legend>
      <c:legendPos val="b"/>
      <c:layout>
        <c:manualLayout>
          <c:xMode val="edge"/>
          <c:yMode val="edge"/>
          <c:x val="0.622302458903163"/>
          <c:y val="0.113827364321395"/>
          <c:w val="0.337409448818898"/>
          <c:h val="0.0794718979093131"/>
        </c:manualLayout>
      </c:layout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8"/>
    </mc:Choice>
    <mc:Fallback>
      <c:style val="8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US"/>
              <a:t>Satisfaction Scores (1-10)</a:t>
            </a:r>
          </a:p>
        </c:rich>
      </c:tx>
      <c:layout/>
      <c:overlay val="0"/>
    </c:title>
    <c:autoTitleDeleted val="0"/>
    <c:view3D>
      <c:rotX val="15"/>
      <c:rotY val="20"/>
      <c:depthPercent val="100"/>
      <c:rAngAx val="1"/>
    </c:view3D>
    <c:floor>
      <c:thickness val="0"/>
    </c:floor>
    <c:sideWall>
      <c:thickness val="0"/>
    </c:sideWall>
    <c:backWall>
      <c:thickness val="0"/>
    </c:backWall>
    <c:plotArea>
      <c:layout/>
      <c:bar3D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Satisfaction (1-10)</c:v>
                </c:pt>
              </c:strCache>
            </c:strRef>
          </c:tx>
          <c:invertIfNegative val="0"/>
          <c:dLbls>
            <c:txPr>
              <a:bodyPr/>
              <a:lstStyle/>
              <a:p>
                <a:pPr>
                  <a:defRPr sz="1400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Sheet1!$A$2:$A$15</c:f>
              <c:strCache>
                <c:ptCount val="14"/>
                <c:pt idx="0">
                  <c:v>Ease of finding info on website</c:v>
                </c:pt>
                <c:pt idx="1">
                  <c:v>Teaching/classroom resources</c:v>
                </c:pt>
                <c:pt idx="2">
                  <c:v>Promotional materials</c:v>
                </c:pt>
                <c:pt idx="3">
                  <c:v>Breadth of data holdings</c:v>
                </c:pt>
                <c:pt idx="4">
                  <c:v>Value for money</c:v>
                </c:pt>
                <c:pt idx="5">
                  <c:v>Evolution to meet changing needs</c:v>
                </c:pt>
                <c:pt idx="6">
                  <c:v>Summer Program</c:v>
                </c:pt>
                <c:pt idx="7">
                  <c:v>Ease of downloading data</c:v>
                </c:pt>
                <c:pt idx="8">
                  <c:v>Quality of documentation</c:v>
                </c:pt>
                <c:pt idx="9">
                  <c:v>Overall products/resources</c:v>
                </c:pt>
                <c:pt idx="10">
                  <c:v>Quality of data provided</c:v>
                </c:pt>
                <c:pt idx="11">
                  <c:v>Ease of contacting User Support</c:v>
                </c:pt>
                <c:pt idx="12">
                  <c:v>Staff responsiveness</c:v>
                </c:pt>
                <c:pt idx="13">
                  <c:v>OVERALL</c:v>
                </c:pt>
              </c:strCache>
            </c: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7.8</c:v>
                </c:pt>
                <c:pt idx="1">
                  <c:v>7.9</c:v>
                </c:pt>
                <c:pt idx="2">
                  <c:v>8.1</c:v>
                </c:pt>
                <c:pt idx="3">
                  <c:v>8.3</c:v>
                </c:pt>
                <c:pt idx="4">
                  <c:v>8.4</c:v>
                </c:pt>
                <c:pt idx="5">
                  <c:v>8.4</c:v>
                </c:pt>
                <c:pt idx="6">
                  <c:v>8.5</c:v>
                </c:pt>
                <c:pt idx="7">
                  <c:v>8.5</c:v>
                </c:pt>
                <c:pt idx="8">
                  <c:v>8.5</c:v>
                </c:pt>
                <c:pt idx="9">
                  <c:v>8.700000000000001</c:v>
                </c:pt>
                <c:pt idx="10">
                  <c:v>8.700000000000001</c:v>
                </c:pt>
                <c:pt idx="11">
                  <c:v>8.700000000000001</c:v>
                </c:pt>
                <c:pt idx="12">
                  <c:v>8.9</c:v>
                </c:pt>
                <c:pt idx="13">
                  <c:v>8.4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shape val="cylinder"/>
        <c:axId val="2080296264"/>
        <c:axId val="2080304312"/>
        <c:axId val="0"/>
      </c:bar3DChart>
      <c:catAx>
        <c:axId val="208029626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400"/>
            </a:pPr>
            <a:endParaRPr lang="en-US"/>
          </a:p>
        </c:txPr>
        <c:crossAx val="2080304312"/>
        <c:crosses val="autoZero"/>
        <c:auto val="1"/>
        <c:lblAlgn val="ctr"/>
        <c:lblOffset val="100"/>
        <c:noMultiLvlLbl val="0"/>
      </c:catAx>
      <c:valAx>
        <c:axId val="2080304312"/>
        <c:scaling>
          <c:orientation val="minMax"/>
        </c:scaling>
        <c:delete val="0"/>
        <c:axPos val="b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  <a:endParaRPr lang="en-US"/>
          </a:p>
        </c:txPr>
        <c:crossAx val="2080296264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10"/>
    </mc:Choice>
    <mc:Fallback>
      <c:style val="10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US"/>
              <a:t>Familiarity</a:t>
            </a:r>
          </a:p>
        </c:rich>
      </c:tx>
      <c:layout>
        <c:manualLayout>
          <c:xMode val="edge"/>
          <c:yMode val="edge"/>
          <c:x val="0.313809875328084"/>
          <c:y val="0.0856557504688527"/>
        </c:manualLayout>
      </c:layout>
      <c:overlay val="0"/>
    </c:title>
    <c:autoTitleDeleted val="0"/>
    <c:view3D>
      <c:rotX val="30"/>
      <c:rotY val="0"/>
      <c:rAngAx val="0"/>
      <c:perspective val="30"/>
    </c:view3D>
    <c:floor>
      <c:thickness val="0"/>
    </c:floor>
    <c:sideWall>
      <c:thickness val="0"/>
    </c:sideWall>
    <c:backWall>
      <c:thickness val="0"/>
    </c:backWall>
    <c:plotArea>
      <c:layout/>
      <c:pie3D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Familiarity</c:v>
                </c:pt>
              </c:strCache>
            </c:strRef>
          </c:tx>
          <c:dLbls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Very</c:v>
                </c:pt>
                <c:pt idx="1">
                  <c:v>Somewhat</c:v>
                </c:pt>
                <c:pt idx="2">
                  <c:v>Not very</c:v>
                </c:pt>
              </c:strCache>
            </c:strRef>
          </c:cat>
          <c:val>
            <c:numRef>
              <c:f>Sheet1!$B$2:$B$4</c:f>
              <c:numCache>
                <c:formatCode>0%</c:formatCode>
                <c:ptCount val="3"/>
                <c:pt idx="0">
                  <c:v>0.35</c:v>
                </c:pt>
                <c:pt idx="1">
                  <c:v>0.49</c:v>
                </c:pt>
                <c:pt idx="2">
                  <c:v>0.16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</c:pie3DChart>
    </c:plotArea>
    <c:legend>
      <c:legendPos val="b"/>
      <c:layout>
        <c:manualLayout>
          <c:xMode val="edge"/>
          <c:yMode val="edge"/>
          <c:x val="0.118443408859607"/>
          <c:y val="0.751263888981021"/>
          <c:w val="0.83114039316514"/>
          <c:h val="0.181339312366915"/>
        </c:manualLayout>
      </c:layout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10"/>
    </mc:Choice>
    <mc:Fallback>
      <c:style val="10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US"/>
              <a:t>Participation</a:t>
            </a:r>
          </a:p>
        </c:rich>
      </c:tx>
      <c:layout>
        <c:manualLayout>
          <c:xMode val="edge"/>
          <c:yMode val="edge"/>
          <c:x val="0.285027494108406"/>
          <c:y val="0.038569701828872"/>
        </c:manualLayout>
      </c:layout>
      <c:overlay val="0"/>
    </c:title>
    <c:autoTitleDeleted val="0"/>
    <c:view3D>
      <c:rotX val="30"/>
      <c:rotY val="0"/>
      <c:rAngAx val="0"/>
      <c:perspective val="30"/>
    </c:view3D>
    <c:floor>
      <c:thickness val="0"/>
    </c:floor>
    <c:sideWall>
      <c:thickness val="0"/>
    </c:sideWall>
    <c:backWall>
      <c:thickness val="0"/>
    </c:backWall>
    <c:plotArea>
      <c:layout/>
      <c:pie3D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Participation</c:v>
                </c:pt>
              </c:strCache>
            </c:strRef>
          </c:tx>
          <c:dLbls>
            <c:dLbl>
              <c:idx val="3"/>
              <c:spPr/>
              <c:txPr>
                <a:bodyPr/>
                <a:lstStyle/>
                <a:p>
                  <a:pPr>
                    <a:defRPr>
                      <a:solidFill>
                        <a:schemeClr val="bg1"/>
                      </a:solidFill>
                    </a:defRPr>
                  </a:pPr>
                  <a:endParaRPr lang="en-US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Every 2 years</c:v>
                </c:pt>
                <c:pt idx="1">
                  <c:v>Every 3-5 years</c:v>
                </c:pt>
                <c:pt idx="2">
                  <c:v>Rarely/never</c:v>
                </c:pt>
                <c:pt idx="3">
                  <c:v>Not sure</c:v>
                </c:pt>
              </c:strCache>
            </c:strRef>
          </c:cat>
          <c:val>
            <c:numRef>
              <c:f>Sheet1!$B$2:$B$5</c:f>
              <c:numCache>
                <c:formatCode>0%</c:formatCode>
                <c:ptCount val="4"/>
                <c:pt idx="0">
                  <c:v>0.19</c:v>
                </c:pt>
                <c:pt idx="1">
                  <c:v>0.19</c:v>
                </c:pt>
                <c:pt idx="2">
                  <c:v>0.46</c:v>
                </c:pt>
                <c:pt idx="3">
                  <c:v>0.16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</c:pie3DChart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10"/>
    </mc:Choice>
    <mc:Fallback>
      <c:style val="10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US"/>
              <a:t>Impact on Membership</a:t>
            </a:r>
          </a:p>
        </c:rich>
      </c:tx>
      <c:layout>
        <c:manualLayout>
          <c:xMode val="edge"/>
          <c:yMode val="edge"/>
          <c:x val="0.170004066393109"/>
          <c:y val="0.0168526897121921"/>
        </c:manualLayout>
      </c:layout>
      <c:overlay val="0"/>
    </c:title>
    <c:autoTitleDeleted val="0"/>
    <c:view3D>
      <c:rotX val="30"/>
      <c:rotY val="0"/>
      <c:rAngAx val="0"/>
      <c:perspective val="30"/>
    </c:view3D>
    <c:floor>
      <c:thickness val="0"/>
    </c:floor>
    <c:sideWall>
      <c:thickness val="0"/>
    </c:sideWall>
    <c:backWall>
      <c:thickness val="0"/>
    </c:backWall>
    <c:plotArea>
      <c:layout/>
      <c:pie3D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Impact on Membership</c:v>
                </c:pt>
              </c:strCache>
            </c:strRef>
          </c:tx>
          <c:dLbls>
            <c:dLbl>
              <c:idx val="0"/>
              <c:layout>
                <c:manualLayout>
                  <c:x val="0.000908284351779971"/>
                  <c:y val="0.0709818797729035"/>
                </c:manualLayout>
              </c:layout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spPr/>
              <c:txPr>
                <a:bodyPr/>
                <a:lstStyle/>
                <a:p>
                  <a:pPr>
                    <a:defRPr>
                      <a:solidFill>
                        <a:schemeClr val="tx1"/>
                      </a:solidFill>
                    </a:defRPr>
                  </a:pPr>
                  <a:endParaRPr lang="en-US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</c:dLbl>
            <c:txPr>
              <a:bodyPr/>
              <a:lstStyle/>
              <a:p>
                <a:pPr>
                  <a:defRPr>
                    <a:solidFill>
                      <a:schemeClr val="bg1"/>
                    </a:solidFill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SP is primary reason for membership</c:v>
                </c:pt>
                <c:pt idx="1">
                  <c:v>SP is significant factor, among others</c:v>
                </c:pt>
                <c:pt idx="2">
                  <c:v>SP makes no difference</c:v>
                </c:pt>
                <c:pt idx="3">
                  <c:v>Not sure</c:v>
                </c:pt>
              </c:strCache>
            </c:strRef>
          </c:cat>
          <c:val>
            <c:numRef>
              <c:f>Sheet1!$B$2:$B$5</c:f>
              <c:numCache>
                <c:formatCode>0%</c:formatCode>
                <c:ptCount val="4"/>
                <c:pt idx="0">
                  <c:v>0.02</c:v>
                </c:pt>
                <c:pt idx="1">
                  <c:v>0.22</c:v>
                </c:pt>
                <c:pt idx="2">
                  <c:v>0.57</c:v>
                </c:pt>
                <c:pt idx="3">
                  <c:v>0.19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</c:pie3DChart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26833" cy="464185"/>
          </a:xfrm>
          <a:prstGeom prst="rect">
            <a:avLst/>
          </a:prstGeom>
        </p:spPr>
        <p:txBody>
          <a:bodyPr vert="horz" lIns="92958" tIns="46479" rIns="92958" bIns="4647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56550" y="0"/>
            <a:ext cx="3026833" cy="464185"/>
          </a:xfrm>
          <a:prstGeom prst="rect">
            <a:avLst/>
          </a:prstGeom>
        </p:spPr>
        <p:txBody>
          <a:bodyPr vert="horz" lIns="92958" tIns="46479" rIns="92958" bIns="46479" rtlCol="0"/>
          <a:lstStyle>
            <a:lvl1pPr algn="r">
              <a:defRPr sz="1200"/>
            </a:lvl1pPr>
          </a:lstStyle>
          <a:p>
            <a:fld id="{CD6B2D58-48C0-4225-B5F1-DD0A95A61EDE}" type="datetimeFigureOut">
              <a:rPr lang="en-US" smtClean="0"/>
              <a:t>7/25/12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17904"/>
            <a:ext cx="3026833" cy="464185"/>
          </a:xfrm>
          <a:prstGeom prst="rect">
            <a:avLst/>
          </a:prstGeom>
        </p:spPr>
        <p:txBody>
          <a:bodyPr vert="horz" lIns="92958" tIns="46479" rIns="92958" bIns="4647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56550" y="8817904"/>
            <a:ext cx="3026833" cy="464185"/>
          </a:xfrm>
          <a:prstGeom prst="rect">
            <a:avLst/>
          </a:prstGeom>
        </p:spPr>
        <p:txBody>
          <a:bodyPr vert="horz" lIns="92958" tIns="46479" rIns="92958" bIns="46479" rtlCol="0" anchor="b"/>
          <a:lstStyle>
            <a:lvl1pPr algn="r">
              <a:defRPr sz="1200"/>
            </a:lvl1pPr>
          </a:lstStyle>
          <a:p>
            <a:fld id="{6CDFBD91-17BC-448F-A329-C3A74D1965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27270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26833" cy="464185"/>
          </a:xfrm>
          <a:prstGeom prst="rect">
            <a:avLst/>
          </a:prstGeom>
        </p:spPr>
        <p:txBody>
          <a:bodyPr vert="horz" lIns="92958" tIns="46479" rIns="92958" bIns="4647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56550" y="0"/>
            <a:ext cx="3026833" cy="464185"/>
          </a:xfrm>
          <a:prstGeom prst="rect">
            <a:avLst/>
          </a:prstGeom>
        </p:spPr>
        <p:txBody>
          <a:bodyPr vert="horz" lIns="92958" tIns="46479" rIns="92958" bIns="46479" rtlCol="0"/>
          <a:lstStyle>
            <a:lvl1pPr algn="r">
              <a:defRPr sz="1200"/>
            </a:lvl1pPr>
          </a:lstStyle>
          <a:p>
            <a:fld id="{0E99E49E-07DF-4E3A-A438-D5F4A6CCA918}" type="datetimeFigureOut">
              <a:rPr lang="en-US" smtClean="0"/>
              <a:t>7/25/12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71575" y="696913"/>
            <a:ext cx="4641850" cy="34813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958" tIns="46479" rIns="92958" bIns="4647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98500" y="4409758"/>
            <a:ext cx="5588000" cy="4177665"/>
          </a:xfrm>
          <a:prstGeom prst="rect">
            <a:avLst/>
          </a:prstGeom>
        </p:spPr>
        <p:txBody>
          <a:bodyPr vert="horz" lIns="92958" tIns="46479" rIns="92958" bIns="46479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17904"/>
            <a:ext cx="3026833" cy="464185"/>
          </a:xfrm>
          <a:prstGeom prst="rect">
            <a:avLst/>
          </a:prstGeom>
        </p:spPr>
        <p:txBody>
          <a:bodyPr vert="horz" lIns="92958" tIns="46479" rIns="92958" bIns="4647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56550" y="8817904"/>
            <a:ext cx="3026833" cy="464185"/>
          </a:xfrm>
          <a:prstGeom prst="rect">
            <a:avLst/>
          </a:prstGeom>
        </p:spPr>
        <p:txBody>
          <a:bodyPr vert="horz" lIns="92958" tIns="46479" rIns="92958" bIns="46479" rtlCol="0" anchor="b"/>
          <a:lstStyle>
            <a:lvl1pPr algn="r">
              <a:defRPr sz="1200"/>
            </a:lvl1pPr>
          </a:lstStyle>
          <a:p>
            <a:fld id="{1CC027BC-CAFB-4099-A221-A41C94C750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83669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1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1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1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1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C027BC-CAFB-4099-A221-A41C94C7506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6959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ICPSR ORs</a:t>
            </a:r>
            <a:r>
              <a:rPr lang="en-US" baseline="0" dirty="0" smtClean="0"/>
              <a:t> tend to be very new or very experienced.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60C1D03-780A-40B1-9ECA-A1DFC2FC521E}" type="slidenum">
              <a:rPr lang="en-US" smtClean="0"/>
              <a:pPr>
                <a:defRPr/>
              </a:pPr>
              <a:t>11</a:t>
            </a:fld>
            <a:endParaRPr 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60C1D03-780A-40B1-9ECA-A1DFC2FC521E}" type="slidenum">
              <a:rPr lang="en-US" smtClean="0"/>
              <a:pPr>
                <a:defRPr/>
              </a:pPr>
              <a:t>12</a:t>
            </a:fld>
            <a:endParaRPr 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baseline="0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60C1D03-780A-40B1-9ECA-A1DFC2FC521E}" type="slidenum">
              <a:rPr lang="en-US" smtClean="0"/>
              <a:pPr>
                <a:defRPr/>
              </a:pPr>
              <a:t>16</a:t>
            </a:fld>
            <a:endParaRPr 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60C1D03-780A-40B1-9ECA-A1DFC2FC521E}" type="slidenum">
              <a:rPr lang="en-US" smtClean="0"/>
              <a:pPr>
                <a:defRPr/>
              </a:pPr>
              <a:t>17</a:t>
            </a:fld>
            <a:endParaRPr lang="en-US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Results</a:t>
            </a:r>
            <a:r>
              <a:rPr lang="en-US" baseline="0" dirty="0" smtClean="0"/>
              <a:t> are similar to 2008 and 2010 where ICPSR tools &amp; how to be an effective OR received the top preferences.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60C1D03-780A-40B1-9ECA-A1DFC2FC521E}" type="slidenum">
              <a:rPr lang="en-US" smtClean="0"/>
              <a:pPr>
                <a:defRPr/>
              </a:pPr>
              <a:t>19</a:t>
            </a:fld>
            <a:endParaRPr lang="en-US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60C1D03-780A-40B1-9ECA-A1DFC2FC521E}" type="slidenum">
              <a:rPr lang="en-US" smtClean="0"/>
              <a:pPr>
                <a:defRPr/>
              </a:pPr>
              <a:t>22</a:t>
            </a:fld>
            <a:endParaRPr lang="en-US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Campus workshops</a:t>
            </a:r>
            <a:r>
              <a:rPr lang="en-US" baseline="0" dirty="0" smtClean="0"/>
              <a:t> were at 54% in 2008 &amp; 49% in 2010.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60C1D03-780A-40B1-9ECA-A1DFC2FC521E}" type="slidenum">
              <a:rPr lang="en-US" smtClean="0"/>
              <a:pPr>
                <a:defRPr/>
              </a:pPr>
              <a:t>23</a:t>
            </a:fld>
            <a:endParaRPr lang="en-US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Note:</a:t>
            </a:r>
            <a:r>
              <a:rPr lang="en-US" baseline="0" dirty="0" smtClean="0"/>
              <a:t> 63% of ORs indicate they “like being presented with opportunities for member institutions to obtain data at reduced prices or with offers for free trial memberships.”  16% are not interested in such offers.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60C1D03-780A-40B1-9ECA-A1DFC2FC521E}" type="slidenum">
              <a:rPr lang="en-US" smtClean="0"/>
              <a:pPr>
                <a:defRPr/>
              </a:pPr>
              <a:t>27</a:t>
            </a:fld>
            <a:endParaRPr lang="en-US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Most frequent</a:t>
            </a:r>
            <a:r>
              <a:rPr lang="en-US" baseline="0" dirty="0" smtClean="0"/>
              <a:t> requests:  more international, update more quickly, retrofit older studies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60C1D03-780A-40B1-9ECA-A1DFC2FC521E}" type="slidenum">
              <a:rPr lang="en-US" smtClean="0"/>
              <a:pPr>
                <a:defRPr/>
              </a:pPr>
              <a:t>28</a:t>
            </a:fld>
            <a:endParaRPr lang="en-US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In 2008, 46% were</a:t>
            </a:r>
            <a:r>
              <a:rPr lang="en-US" baseline="0" dirty="0" smtClean="0"/>
              <a:t> very familiar with the SP; 41% in 2010; 35% in 2012</a:t>
            </a:r>
          </a:p>
          <a:p>
            <a:endParaRPr lang="en-US" baseline="0" dirty="0" smtClean="0"/>
          </a:p>
          <a:p>
            <a:r>
              <a:rPr lang="en-US" baseline="0" dirty="0" smtClean="0"/>
              <a:t>In 2008, 35% indicated every 2 years (compared to 26% in 2010 &amp; 19% in 2012), and 17% sent participants every 3-5 in 2008; 25% in 2010 &amp; 19% in 2012.</a:t>
            </a:r>
          </a:p>
          <a:p>
            <a:endParaRPr lang="en-US" baseline="0" dirty="0" smtClean="0"/>
          </a:p>
          <a:p>
            <a:r>
              <a:rPr lang="en-US" baseline="0" dirty="0" smtClean="0"/>
              <a:t>Note:  In 2009, about 37% of member institutions sent a participant to the Summer Program.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60C1D03-780A-40B1-9ECA-A1DFC2FC521E}" type="slidenum">
              <a:rPr lang="en-US" smtClean="0"/>
              <a:pPr>
                <a:defRPr/>
              </a:pPr>
              <a:t>30</a:t>
            </a:fld>
            <a:endParaRPr lang="en-US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60C1D03-780A-40B1-9ECA-A1DFC2FC521E}" type="slidenum">
              <a:rPr lang="en-US" smtClean="0"/>
              <a:pPr>
                <a:defRPr/>
              </a:pPr>
              <a:t>31</a:t>
            </a:fld>
            <a:endParaRPr lang="en-US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C027BC-CAFB-4099-A221-A41C94C7506E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88399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61743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57021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465224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44455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80980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4125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6940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335999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1086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69570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982963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OverObj">
  <p:cSld name="Title and Tex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371600"/>
            <a:ext cx="7696200" cy="8382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762000" y="2590800"/>
            <a:ext cx="7696200" cy="16764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2000" y="4419600"/>
            <a:ext cx="7696200" cy="16764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6"/>
          <p:cNvSpPr>
            <a:spLocks noGrp="1" noChangeAspect="1" noChangeArrowheads="1"/>
          </p:cNvSpPr>
          <p:nvPr>
            <p:ph type="sldNum" sz="quarter" idx="10"/>
          </p:nvPr>
        </p:nvSpPr>
        <p:spPr>
          <a:xfrm>
            <a:off x="6781800" y="6397625"/>
            <a:ext cx="2133600" cy="30797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24D523-59C0-4F13-B693-0E9B5762E06D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817218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371600"/>
            <a:ext cx="7696200" cy="8382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762000" y="2590800"/>
            <a:ext cx="3771900" cy="3505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86300" y="2590800"/>
            <a:ext cx="3771900" cy="16764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86300" y="4419600"/>
            <a:ext cx="3771900" cy="16764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Rectangle 6"/>
          <p:cNvSpPr>
            <a:spLocks noGrp="1" noChangeAspect="1" noChangeArrowheads="1"/>
          </p:cNvSpPr>
          <p:nvPr>
            <p:ph type="sldNum" sz="quarter" idx="10"/>
          </p:nvPr>
        </p:nvSpPr>
        <p:spPr>
          <a:xfrm>
            <a:off x="6781800" y="6397625"/>
            <a:ext cx="2133600" cy="30797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C2730-C9E2-4131-B578-C2C0B6E2ACE3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04067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Relationship Id="rId15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5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+mj-lt"/>
          <a:ea typeface="ＭＳ Ｐゴシック" pitchFamily="-108" charset="-128"/>
          <a:cs typeface="ＭＳ Ｐゴシック" pitchFamily="-108" charset="-128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Verdana" charset="0"/>
          <a:ea typeface="ＭＳ Ｐゴシック" pitchFamily="-108" charset="-128"/>
          <a:cs typeface="ＭＳ Ｐゴシック" pitchFamily="-108" charset="-128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Verdana" charset="0"/>
          <a:ea typeface="ＭＳ Ｐゴシック" pitchFamily="-108" charset="-128"/>
          <a:cs typeface="ＭＳ Ｐゴシック" pitchFamily="-108" charset="-128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Verdana" charset="0"/>
          <a:ea typeface="ＭＳ Ｐゴシック" pitchFamily="-108" charset="-128"/>
          <a:cs typeface="ＭＳ Ｐゴシック" pitchFamily="-108" charset="-128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Verdana" charset="0"/>
          <a:ea typeface="ＭＳ Ｐゴシック" pitchFamily="-108" charset="-128"/>
          <a:cs typeface="ＭＳ Ｐゴシック" pitchFamily="-108" charset="-128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Verdana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Verdana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Verdana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Verdana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000">
          <a:solidFill>
            <a:schemeClr val="tx1"/>
          </a:solidFill>
          <a:latin typeface="+mn-lt"/>
          <a:ea typeface="ＭＳ Ｐゴシック" pitchFamily="-108" charset="-128"/>
          <a:cs typeface="ＭＳ Ｐゴシック" pitchFamily="-108" charset="-128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ＭＳ Ｐゴシック" charset="-128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ＭＳ Ｐゴシック" charset="-128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ＭＳ Ｐゴシック" charset="-128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4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chart" Target="../charts/char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chart" Target="../charts/char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chart" Target="../charts/char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4" Type="http://schemas.openxmlformats.org/officeDocument/2006/relationships/chart" Target="../charts/chart5.xml"/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Sheet7.xlsx"/><Relationship Id="rId4" Type="http://schemas.openxmlformats.org/officeDocument/2006/relationships/image" Target="../media/image4.emf"/><Relationship Id="rId1" Type="http://schemas.openxmlformats.org/officeDocument/2006/relationships/vmlDrawing" Target="../drawings/vmlDrawing1.vml"/><Relationship Id="rId2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chart" Target="../charts/char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chart" Target="../charts/chart8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9.xml"/><Relationship Id="rId4" Type="http://schemas.openxmlformats.org/officeDocument/2006/relationships/chart" Target="../charts/chart10.xml"/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chart" Target="../charts/chart1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chart" Target="../charts/chart1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3.xml"/><Relationship Id="rId4" Type="http://schemas.openxmlformats.org/officeDocument/2006/relationships/chart" Target="../charts/chart14.xml"/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2.xml"/><Relationship Id="rId3" Type="http://schemas.openxmlformats.org/officeDocument/2006/relationships/chart" Target="../charts/chart15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81000" y="609600"/>
            <a:ext cx="7924800" cy="1143000"/>
          </a:xfrm>
        </p:spPr>
        <p:txBody>
          <a:bodyPr/>
          <a:lstStyle/>
          <a:p>
            <a:pPr eaLnBrk="1" hangingPunct="1"/>
            <a:r>
              <a:rPr lang="en-US" dirty="0" smtClean="0">
                <a:solidFill>
                  <a:schemeClr val="bg1"/>
                </a:solidFill>
                <a:ea typeface="ＭＳ Ｐゴシック" pitchFamily="29" charset="-128"/>
              </a:rPr>
              <a:t>2012 ICPSR Membership Survey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81000" y="3429000"/>
            <a:ext cx="5486400" cy="2057400"/>
          </a:xfrm>
        </p:spPr>
        <p:txBody>
          <a:bodyPr/>
          <a:lstStyle/>
          <a:p>
            <a:pPr algn="l" eaLnBrk="1" hangingPunct="1"/>
            <a:r>
              <a:rPr lang="en-US" dirty="0" smtClean="0">
                <a:solidFill>
                  <a:schemeClr val="bg1"/>
                </a:solidFill>
                <a:ea typeface="ＭＳ Ｐゴシック" pitchFamily="29" charset="-128"/>
              </a:rPr>
              <a:t>Official Representative – Designated Representative Feedback</a:t>
            </a:r>
            <a:endParaRPr lang="en-US" dirty="0" smtClean="0">
              <a:solidFill>
                <a:schemeClr val="bg1"/>
              </a:solidFill>
              <a:ea typeface="ＭＳ Ｐゴシック" pitchFamily="29" charset="-128"/>
            </a:endParaRPr>
          </a:p>
          <a:p>
            <a:pPr algn="l" eaLnBrk="1" hangingPunct="1"/>
            <a:r>
              <a:rPr lang="en-US" dirty="0" smtClean="0">
                <a:solidFill>
                  <a:schemeClr val="bg1"/>
                </a:solidFill>
                <a:ea typeface="ＭＳ Ｐゴシック" pitchFamily="29" charset="-128"/>
              </a:rPr>
              <a:t>July 2012</a:t>
            </a:r>
          </a:p>
        </p:txBody>
      </p:sp>
      <p:pic>
        <p:nvPicPr>
          <p:cNvPr id="4" name="Picture 4" descr="CreativeCommons.bmp"/>
          <p:cNvPicPr>
            <a:picLocks noChangeAspect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010400" y="6186483"/>
            <a:ext cx="838200" cy="295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7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228600"/>
            <a:ext cx="7696200" cy="838200"/>
          </a:xfrm>
        </p:spPr>
        <p:txBody>
          <a:bodyPr/>
          <a:lstStyle/>
          <a:p>
            <a:pPr eaLnBrk="1" hangingPunct="1"/>
            <a:r>
              <a:rPr lang="en-US" dirty="0" smtClean="0"/>
              <a:t>About the Research Project</a:t>
            </a:r>
          </a:p>
        </p:txBody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8200" y="1676400"/>
            <a:ext cx="7696200" cy="4038600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Tx/>
              <a:buChar char="•"/>
            </a:pPr>
            <a:r>
              <a:rPr lang="en-US" sz="2800" dirty="0" smtClean="0"/>
              <a:t>Current ORs and DRs were invited to participate</a:t>
            </a:r>
          </a:p>
          <a:p>
            <a:pPr eaLnBrk="1" hangingPunct="1">
              <a:lnSpc>
                <a:spcPct val="80000"/>
              </a:lnSpc>
              <a:buFontTx/>
              <a:buChar char="•"/>
            </a:pPr>
            <a:r>
              <a:rPr lang="en-US" sz="2800" dirty="0" smtClean="0"/>
              <a:t>Survey was conducted in April 2012</a:t>
            </a:r>
          </a:p>
          <a:p>
            <a:pPr eaLnBrk="1" hangingPunct="1">
              <a:lnSpc>
                <a:spcPct val="80000"/>
              </a:lnSpc>
              <a:buFontTx/>
              <a:buChar char="•"/>
            </a:pPr>
            <a:r>
              <a:rPr lang="en-US" sz="2800" dirty="0" smtClean="0"/>
              <a:t>The response rate was over 40% resulting in 325 completed surveys</a:t>
            </a:r>
          </a:p>
          <a:p>
            <a:pPr eaLnBrk="1" hangingPunct="1">
              <a:lnSpc>
                <a:spcPct val="80000"/>
              </a:lnSpc>
              <a:buFontTx/>
              <a:buChar char="•"/>
            </a:pPr>
            <a:r>
              <a:rPr lang="en-US" sz="2800" dirty="0" smtClean="0"/>
              <a:t>Subgroup analysis has been conducted on the results and differences noted where they exist</a:t>
            </a:r>
          </a:p>
        </p:txBody>
      </p:sp>
    </p:spTree>
    <p:extLst>
      <p:ext uri="{BB962C8B-B14F-4D97-AF65-F5344CB8AC3E}">
        <p14:creationId xmlns:p14="http://schemas.microsoft.com/office/powerpoint/2010/main" val="223133062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04800"/>
            <a:ext cx="7696200" cy="838200"/>
          </a:xfrm>
        </p:spPr>
        <p:txBody>
          <a:bodyPr/>
          <a:lstStyle/>
          <a:p>
            <a:pPr eaLnBrk="1" hangingPunct="1"/>
            <a:r>
              <a:rPr lang="en-US" dirty="0" smtClean="0"/>
              <a:t>Report Content</a:t>
            </a:r>
          </a:p>
        </p:txBody>
      </p:sp>
      <p:sp>
        <p:nvSpPr>
          <p:cNvPr id="2253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1295400"/>
            <a:ext cx="7696200" cy="30480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Tx/>
              <a:buChar char="•"/>
            </a:pPr>
            <a:r>
              <a:rPr lang="en-US" sz="2800" dirty="0" smtClean="0"/>
              <a:t>Key Findings &amp; Implications</a:t>
            </a:r>
          </a:p>
          <a:p>
            <a:pPr eaLnBrk="1" hangingPunct="1">
              <a:lnSpc>
                <a:spcPct val="90000"/>
              </a:lnSpc>
              <a:buFontTx/>
              <a:buChar char="•"/>
            </a:pPr>
            <a:r>
              <a:rPr lang="en-US" sz="2800" dirty="0" smtClean="0"/>
              <a:t>OR Profiles</a:t>
            </a:r>
          </a:p>
          <a:p>
            <a:pPr eaLnBrk="1" hangingPunct="1">
              <a:lnSpc>
                <a:spcPct val="90000"/>
              </a:lnSpc>
              <a:buFontTx/>
              <a:buChar char="•"/>
            </a:pPr>
            <a:r>
              <a:rPr lang="en-US" sz="2800" dirty="0" smtClean="0"/>
              <a:t>The OR Meeting</a:t>
            </a:r>
          </a:p>
          <a:p>
            <a:pPr eaLnBrk="1" hangingPunct="1">
              <a:lnSpc>
                <a:spcPct val="90000"/>
              </a:lnSpc>
              <a:buFontTx/>
              <a:buChar char="•"/>
            </a:pPr>
            <a:r>
              <a:rPr lang="en-US" sz="2800" dirty="0" smtClean="0"/>
              <a:t>ICPSR Product Awareness &amp; Satisfaction</a:t>
            </a:r>
          </a:p>
          <a:p>
            <a:pPr eaLnBrk="1" hangingPunct="1">
              <a:lnSpc>
                <a:spcPct val="90000"/>
              </a:lnSpc>
              <a:buFontTx/>
              <a:buChar char="•"/>
            </a:pPr>
            <a:r>
              <a:rPr lang="en-US" sz="2800" dirty="0" smtClean="0"/>
              <a:t>Use of Other Data Sources</a:t>
            </a:r>
          </a:p>
          <a:p>
            <a:pPr eaLnBrk="1" hangingPunct="1">
              <a:lnSpc>
                <a:spcPct val="90000"/>
              </a:lnSpc>
              <a:buFontTx/>
              <a:buChar char="•"/>
            </a:pPr>
            <a:r>
              <a:rPr lang="en-US" sz="2800" dirty="0" smtClean="0"/>
              <a:t>ICPSR Summer Program Feedback</a:t>
            </a:r>
          </a:p>
          <a:p>
            <a:pPr eaLnBrk="1" hangingPunct="1">
              <a:lnSpc>
                <a:spcPct val="90000"/>
              </a:lnSpc>
              <a:buFontTx/>
              <a:buChar char="•"/>
            </a:pPr>
            <a:r>
              <a:rPr lang="en-US" sz="2800" dirty="0" smtClean="0"/>
              <a:t>Interest in </a:t>
            </a:r>
            <a:r>
              <a:rPr lang="en-US" sz="2800" dirty="0" smtClean="0"/>
              <a:t>New Data Services</a:t>
            </a:r>
            <a:endParaRPr lang="en-US" sz="2800" dirty="0" smtClean="0"/>
          </a:p>
        </p:txBody>
      </p:sp>
    </p:spTree>
    <p:extLst>
      <p:ext uri="{BB962C8B-B14F-4D97-AF65-F5344CB8AC3E}">
        <p14:creationId xmlns:p14="http://schemas.microsoft.com/office/powerpoint/2010/main" val="18666951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5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152400"/>
            <a:ext cx="7696200" cy="838200"/>
          </a:xfrm>
        </p:spPr>
        <p:txBody>
          <a:bodyPr/>
          <a:lstStyle/>
          <a:p>
            <a:pPr eaLnBrk="1" hangingPunct="1"/>
            <a:r>
              <a:rPr lang="en-US" dirty="0" smtClean="0"/>
              <a:t>Key Findings &amp; Implications</a:t>
            </a:r>
          </a:p>
        </p:txBody>
      </p:sp>
      <p:sp>
        <p:nvSpPr>
          <p:cNvPr id="2355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8200" y="990600"/>
            <a:ext cx="7696200" cy="4495800"/>
          </a:xfrm>
        </p:spPr>
        <p:txBody>
          <a:bodyPr/>
          <a:lstStyle/>
          <a:p>
            <a:pPr eaLnBrk="1" hangingPunct="1">
              <a:buFontTx/>
              <a:buChar char="•"/>
            </a:pPr>
            <a:r>
              <a:rPr lang="en-US" sz="2000" dirty="0" smtClean="0"/>
              <a:t>The most </a:t>
            </a:r>
            <a:r>
              <a:rPr lang="en-US" sz="2000" dirty="0" smtClean="0"/>
              <a:t>common OR </a:t>
            </a:r>
            <a:r>
              <a:rPr lang="en-US" sz="2000" dirty="0" smtClean="0"/>
              <a:t>department continues to be the library followed by ORs based in political science and sociology departments; the most common educational background is a Master’s degree in library sciences.</a:t>
            </a:r>
          </a:p>
          <a:p>
            <a:pPr eaLnBrk="1" hangingPunct="1">
              <a:buFontTx/>
              <a:buChar char="•"/>
            </a:pPr>
            <a:r>
              <a:rPr lang="en-US" sz="2000" dirty="0" smtClean="0"/>
              <a:t>The tenure served in the OR role is fairly short (half in role for less than 4 years).</a:t>
            </a:r>
          </a:p>
          <a:p>
            <a:pPr eaLnBrk="1" hangingPunct="1"/>
            <a:endParaRPr lang="en-US" sz="800" dirty="0" smtClean="0"/>
          </a:p>
          <a:p>
            <a:pPr eaLnBrk="1" hangingPunct="1">
              <a:buFont typeface="Wingdings" pitchFamily="2" charset="2"/>
              <a:buChar char="v"/>
            </a:pPr>
            <a:r>
              <a:rPr lang="en-US" sz="2000" dirty="0" smtClean="0"/>
              <a:t>ICPSR must continue producing multiple forms of outreach and training options including those aimed at educating (familiarizing) librarians about ICPSR resources and getting them comfortable </a:t>
            </a:r>
            <a:r>
              <a:rPr lang="en-US" sz="2000" dirty="0" smtClean="0"/>
              <a:t>in working </a:t>
            </a:r>
            <a:r>
              <a:rPr lang="en-US" sz="2000" dirty="0" smtClean="0"/>
              <a:t>with data.</a:t>
            </a:r>
          </a:p>
          <a:p>
            <a:pPr eaLnBrk="1" hangingPunct="1">
              <a:buFont typeface="Wingdings" pitchFamily="2" charset="2"/>
              <a:buChar char="v"/>
            </a:pPr>
            <a:r>
              <a:rPr lang="en-US" sz="2000" dirty="0" smtClean="0"/>
              <a:t>Since librarians are natural promoters of resources, ICPSR needs to remind ORs frequently of the promotional materials available to them for their campuses as well as ICPSR training opportunities.</a:t>
            </a:r>
          </a:p>
        </p:txBody>
      </p:sp>
      <p:sp>
        <p:nvSpPr>
          <p:cNvPr id="5" name="TextBox 4"/>
          <p:cNvSpPr txBox="1">
            <a:spLocks noChangeArrowheads="1"/>
          </p:cNvSpPr>
          <p:nvPr/>
        </p:nvSpPr>
        <p:spPr bwMode="auto">
          <a:xfrm>
            <a:off x="7848600" y="228600"/>
            <a:ext cx="381000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buFont typeface="Wingdings" pitchFamily="2" charset="2"/>
              <a:buChar char="v"/>
            </a:pP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40221433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9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228600"/>
            <a:ext cx="7696200" cy="838200"/>
          </a:xfrm>
        </p:spPr>
        <p:txBody>
          <a:bodyPr/>
          <a:lstStyle/>
          <a:p>
            <a:pPr eaLnBrk="1" hangingPunct="1"/>
            <a:r>
              <a:rPr lang="en-US" dirty="0" smtClean="0"/>
              <a:t>Key Findings &amp; Implications</a:t>
            </a:r>
          </a:p>
        </p:txBody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2000" y="990600"/>
            <a:ext cx="7696200" cy="4495800"/>
          </a:xfrm>
        </p:spPr>
        <p:txBody>
          <a:bodyPr/>
          <a:lstStyle/>
          <a:p>
            <a:pPr eaLnBrk="1" hangingPunct="1">
              <a:buFontTx/>
              <a:buChar char="•"/>
            </a:pPr>
            <a:r>
              <a:rPr lang="en-US" sz="1800" dirty="0" smtClean="0"/>
              <a:t>A declining number of ORs indicate they have ever visited ICPSR </a:t>
            </a:r>
            <a:r>
              <a:rPr lang="en-US" sz="1800" dirty="0" smtClean="0"/>
              <a:t>in person </a:t>
            </a:r>
            <a:r>
              <a:rPr lang="en-US" sz="1800" dirty="0" smtClean="0"/>
              <a:t>for an OR Meeting.  (Budgets will likely continue to impact ORs’ ability to attend an onsite meeting.)</a:t>
            </a:r>
          </a:p>
          <a:p>
            <a:pPr eaLnBrk="1" hangingPunct="1">
              <a:buFontTx/>
              <a:buChar char="•"/>
            </a:pPr>
            <a:r>
              <a:rPr lang="en-US" sz="1800" dirty="0" smtClean="0"/>
              <a:t>ORs desire program content that is about ICPSR resources, using data in teaching, speaks to digital </a:t>
            </a:r>
            <a:r>
              <a:rPr lang="en-US" sz="1800" dirty="0" err="1" smtClean="0"/>
              <a:t>curation</a:t>
            </a:r>
            <a:r>
              <a:rPr lang="en-US" sz="1800" dirty="0" smtClean="0"/>
              <a:t> of research data, and helps them function in their role better in part by networking with other ORs</a:t>
            </a:r>
            <a:r>
              <a:rPr lang="en-US" sz="1800" i="1" dirty="0" smtClean="0"/>
              <a:t>.</a:t>
            </a:r>
            <a:r>
              <a:rPr lang="en-US" sz="1800" dirty="0" smtClean="0"/>
              <a:t>  Pre-meeting workshops should be continued.</a:t>
            </a:r>
          </a:p>
          <a:p>
            <a:pPr eaLnBrk="1" hangingPunct="1">
              <a:spcBef>
                <a:spcPts val="1200"/>
              </a:spcBef>
              <a:buFont typeface="Wingdings" pitchFamily="2" charset="2"/>
              <a:buChar char="v"/>
            </a:pPr>
            <a:r>
              <a:rPr lang="en-US" sz="1800" dirty="0" smtClean="0"/>
              <a:t>ICPSR should continue to hold onsite meetings as well as consider regional meetings, if financially feasible, in the future; it is essential that all meetings have a virtual component.</a:t>
            </a:r>
          </a:p>
          <a:p>
            <a:pPr eaLnBrk="1" hangingPunct="1">
              <a:buFont typeface="Wingdings" pitchFamily="2" charset="2"/>
              <a:buChar char="v"/>
            </a:pPr>
            <a:r>
              <a:rPr lang="en-US" sz="1800" dirty="0" smtClean="0"/>
              <a:t>ICPSR should develop the program to ensure significant content is dedicated to practical application and training with regard to ICPSR resources and teaching </a:t>
            </a:r>
            <a:r>
              <a:rPr lang="en-US" sz="1800" dirty="0" smtClean="0"/>
              <a:t>tools, </a:t>
            </a:r>
            <a:r>
              <a:rPr lang="en-US" sz="1800" dirty="0" smtClean="0"/>
              <a:t>and with increasing content dedicated to the science of digital </a:t>
            </a:r>
            <a:r>
              <a:rPr lang="en-US" sz="1800" dirty="0" err="1" smtClean="0"/>
              <a:t>curation</a:t>
            </a:r>
            <a:r>
              <a:rPr lang="en-US" sz="1800" dirty="0"/>
              <a:t> </a:t>
            </a:r>
            <a:r>
              <a:rPr lang="en-US" sz="1800" dirty="0" smtClean="0"/>
              <a:t>of research data.</a:t>
            </a:r>
          </a:p>
        </p:txBody>
      </p:sp>
      <p:sp>
        <p:nvSpPr>
          <p:cNvPr id="5" name="TextBox 4"/>
          <p:cNvSpPr txBox="1">
            <a:spLocks noChangeArrowheads="1"/>
          </p:cNvSpPr>
          <p:nvPr/>
        </p:nvSpPr>
        <p:spPr bwMode="auto">
          <a:xfrm>
            <a:off x="7848600" y="347662"/>
            <a:ext cx="381000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buFont typeface="Wingdings" pitchFamily="2" charset="2"/>
              <a:buChar char="v"/>
            </a:pP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80204989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3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7696200" cy="838200"/>
          </a:xfrm>
        </p:spPr>
        <p:txBody>
          <a:bodyPr/>
          <a:lstStyle/>
          <a:p>
            <a:pPr eaLnBrk="1" hangingPunct="1"/>
            <a:r>
              <a:rPr lang="en-US" smtClean="0"/>
              <a:t>Key Findings &amp; Implications</a:t>
            </a:r>
          </a:p>
        </p:txBody>
      </p:sp>
      <p:sp>
        <p:nvSpPr>
          <p:cNvPr id="2560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914400"/>
            <a:ext cx="8077200" cy="4495800"/>
          </a:xfrm>
        </p:spPr>
        <p:txBody>
          <a:bodyPr/>
          <a:lstStyle/>
          <a:p>
            <a:pPr eaLnBrk="1" hangingPunct="1">
              <a:buFontTx/>
              <a:buChar char="•"/>
            </a:pPr>
            <a:r>
              <a:rPr lang="en-US" sz="2000" dirty="0" smtClean="0"/>
              <a:t>Awareness of several ICPSR tools is generally high, but past year usage trails awareness significantly.</a:t>
            </a:r>
          </a:p>
          <a:p>
            <a:r>
              <a:rPr lang="en-US" sz="2000" dirty="0" smtClean="0"/>
              <a:t>About half of ORs have used ICPSR data for research or teaching, and only two </a:t>
            </a:r>
            <a:r>
              <a:rPr lang="en-US" sz="2000" dirty="0"/>
              <a:t>in five ORs have </a:t>
            </a:r>
            <a:r>
              <a:rPr lang="en-US" sz="2000" dirty="0" smtClean="0"/>
              <a:t>held ICPSR workshops/orientation on their campuses.  </a:t>
            </a:r>
          </a:p>
          <a:p>
            <a:pPr eaLnBrk="1" hangingPunct="1">
              <a:buFontTx/>
              <a:buChar char="•"/>
            </a:pPr>
            <a:r>
              <a:rPr lang="en-US" sz="2000" dirty="0" smtClean="0"/>
              <a:t>ORs award ICPSR with high levels of satisfaction on all items measured, especially staff responsiveness.</a:t>
            </a:r>
          </a:p>
          <a:p>
            <a:pPr eaLnBrk="1" hangingPunct="1"/>
            <a:endParaRPr lang="en-US" sz="800" dirty="0" smtClean="0"/>
          </a:p>
          <a:p>
            <a:pPr eaLnBrk="1" hangingPunct="1">
              <a:buFont typeface="Wingdings" pitchFamily="2" charset="2"/>
              <a:buChar char="v"/>
            </a:pPr>
            <a:r>
              <a:rPr lang="en-US" sz="2000" dirty="0" smtClean="0"/>
              <a:t>ICPSR must continue to remind (train) ORs about its resources and tools to promote not just familiarity, but usage</a:t>
            </a:r>
            <a:r>
              <a:rPr lang="en-US" sz="2000" dirty="0"/>
              <a:t> </a:t>
            </a:r>
            <a:r>
              <a:rPr lang="en-US" sz="2000" dirty="0" smtClean="0"/>
              <a:t>and/or referral.</a:t>
            </a:r>
          </a:p>
          <a:p>
            <a:pPr eaLnBrk="1" hangingPunct="1">
              <a:buFont typeface="Wingdings" pitchFamily="2" charset="2"/>
              <a:buChar char="v"/>
            </a:pPr>
            <a:r>
              <a:rPr lang="en-US" sz="2000" dirty="0" smtClean="0"/>
              <a:t>ICPSR must continue to focus on responsiveness and evolution of its resources to maintain not only high levels of satisfaction, but </a:t>
            </a:r>
            <a:r>
              <a:rPr lang="en-US" sz="2000" dirty="0" smtClean="0"/>
              <a:t>also </a:t>
            </a:r>
            <a:r>
              <a:rPr lang="en-US" sz="2000" dirty="0" smtClean="0"/>
              <a:t>high levels of value to its institutional members.</a:t>
            </a:r>
          </a:p>
        </p:txBody>
      </p:sp>
      <p:sp>
        <p:nvSpPr>
          <p:cNvPr id="25605" name="TextBox 4"/>
          <p:cNvSpPr txBox="1">
            <a:spLocks noChangeArrowheads="1"/>
          </p:cNvSpPr>
          <p:nvPr/>
        </p:nvSpPr>
        <p:spPr bwMode="auto">
          <a:xfrm>
            <a:off x="7620000" y="152400"/>
            <a:ext cx="381000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buFont typeface="Wingdings" pitchFamily="2" charset="2"/>
              <a:buChar char="v"/>
            </a:pP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94002317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3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52400"/>
            <a:ext cx="7696200" cy="838200"/>
          </a:xfrm>
        </p:spPr>
        <p:txBody>
          <a:bodyPr/>
          <a:lstStyle/>
          <a:p>
            <a:pPr eaLnBrk="1" hangingPunct="1"/>
            <a:r>
              <a:rPr lang="en-US" dirty="0" smtClean="0"/>
              <a:t>Key Findings &amp; Implications</a:t>
            </a:r>
          </a:p>
        </p:txBody>
      </p:sp>
      <p:sp>
        <p:nvSpPr>
          <p:cNvPr id="2560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914400"/>
            <a:ext cx="8077200" cy="4495800"/>
          </a:xfrm>
        </p:spPr>
        <p:txBody>
          <a:bodyPr/>
          <a:lstStyle/>
          <a:p>
            <a:pPr eaLnBrk="1" hangingPunct="1">
              <a:buFontTx/>
              <a:buChar char="•"/>
            </a:pPr>
            <a:r>
              <a:rPr lang="en-US" sz="2000" dirty="0" smtClean="0"/>
              <a:t>OR institutions utilize/subscribe to several other data sources.</a:t>
            </a:r>
          </a:p>
          <a:p>
            <a:pPr eaLnBrk="1" hangingPunct="1">
              <a:buFontTx/>
              <a:buChar char="•"/>
            </a:pPr>
            <a:r>
              <a:rPr lang="en-US" sz="2000" dirty="0" smtClean="0"/>
              <a:t>ORs suggested many acquisitions/collection improvements, but were most </a:t>
            </a:r>
            <a:r>
              <a:rPr lang="en-US" sz="2000" dirty="0" smtClean="0"/>
              <a:t>focused on </a:t>
            </a:r>
            <a:r>
              <a:rPr lang="en-US" sz="2000" dirty="0" smtClean="0"/>
              <a:t>acquiring more international, economic, and health data; updating series data more quickly; and retrofitting older studies with statistical software files and SDA components.</a:t>
            </a:r>
          </a:p>
          <a:p>
            <a:pPr eaLnBrk="1" hangingPunct="1">
              <a:buFontTx/>
              <a:buChar char="•"/>
            </a:pPr>
            <a:r>
              <a:rPr lang="en-US" sz="2000" dirty="0" smtClean="0"/>
              <a:t>ORs believe their institutions would be most interested in the development of data-related teaching tool products.</a:t>
            </a:r>
          </a:p>
          <a:p>
            <a:pPr eaLnBrk="1" hangingPunct="1"/>
            <a:endParaRPr lang="en-US" sz="800" dirty="0" smtClean="0"/>
          </a:p>
          <a:p>
            <a:pPr eaLnBrk="1" hangingPunct="1">
              <a:buFont typeface="Wingdings" pitchFamily="2" charset="2"/>
              <a:buChar char="v"/>
            </a:pPr>
            <a:r>
              <a:rPr lang="en-US" sz="2000" dirty="0" smtClean="0"/>
              <a:t>As acquisition strategies are developed, these data should be in the review.  In addition, when datasets are acquired or retrofitted, more promotion should surround their release.</a:t>
            </a:r>
          </a:p>
          <a:p>
            <a:pPr eaLnBrk="1" hangingPunct="1">
              <a:buFont typeface="Wingdings" pitchFamily="2" charset="2"/>
              <a:buChar char="v"/>
            </a:pPr>
            <a:r>
              <a:rPr lang="en-US" sz="2000" dirty="0" smtClean="0"/>
              <a:t>ICPSR should investigate still more products related to teaching with data in the classroom.</a:t>
            </a:r>
          </a:p>
        </p:txBody>
      </p:sp>
      <p:sp>
        <p:nvSpPr>
          <p:cNvPr id="25605" name="TextBox 4"/>
          <p:cNvSpPr txBox="1">
            <a:spLocks noChangeArrowheads="1"/>
          </p:cNvSpPr>
          <p:nvPr/>
        </p:nvSpPr>
        <p:spPr bwMode="auto">
          <a:xfrm>
            <a:off x="7620000" y="228600"/>
            <a:ext cx="381000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buFont typeface="Wingdings" pitchFamily="2" charset="2"/>
              <a:buChar char="v"/>
            </a:pP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07802812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76200"/>
            <a:ext cx="7696200" cy="838200"/>
          </a:xfrm>
        </p:spPr>
        <p:txBody>
          <a:bodyPr/>
          <a:lstStyle/>
          <a:p>
            <a:pPr eaLnBrk="1" hangingPunct="1"/>
            <a:r>
              <a:rPr lang="en-US" dirty="0" smtClean="0"/>
              <a:t>Key Findings &amp; Implications</a:t>
            </a:r>
          </a:p>
        </p:txBody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2000" y="990600"/>
            <a:ext cx="7696200" cy="4495800"/>
          </a:xfrm>
        </p:spPr>
        <p:txBody>
          <a:bodyPr/>
          <a:lstStyle/>
          <a:p>
            <a:pPr eaLnBrk="1" hangingPunct="1">
              <a:buFontTx/>
              <a:buChar char="•"/>
            </a:pPr>
            <a:r>
              <a:rPr lang="en-US" sz="2000" dirty="0" smtClean="0"/>
              <a:t>About one in three ORs are very familiar with the Summer Program, and one in five ORs send participants regularly.</a:t>
            </a:r>
          </a:p>
          <a:p>
            <a:pPr eaLnBrk="1" hangingPunct="1">
              <a:buFontTx/>
              <a:buChar char="•"/>
            </a:pPr>
            <a:r>
              <a:rPr lang="en-US" sz="2000" dirty="0" smtClean="0"/>
              <a:t>ORs continue to play key roles in communicating the Summer Program to potential participants.</a:t>
            </a:r>
          </a:p>
          <a:p>
            <a:pPr eaLnBrk="1" hangingPunct="1">
              <a:buFontTx/>
              <a:buChar char="•"/>
            </a:pPr>
            <a:r>
              <a:rPr lang="en-US" sz="2000" dirty="0" smtClean="0"/>
              <a:t>Cost/funding potential participants continues to concern ORs.</a:t>
            </a:r>
          </a:p>
          <a:p>
            <a:pPr eaLnBrk="1" hangingPunct="1"/>
            <a:endParaRPr lang="en-US" sz="800" dirty="0" smtClean="0"/>
          </a:p>
          <a:p>
            <a:pPr eaLnBrk="1" hangingPunct="1">
              <a:buFont typeface="Wingdings" pitchFamily="2" charset="2"/>
              <a:buChar char="v"/>
            </a:pPr>
            <a:r>
              <a:rPr lang="en-US" sz="2000" dirty="0" smtClean="0"/>
              <a:t>ICPSR should work to improve awareness and understanding of its Summer Program across ORs.</a:t>
            </a:r>
          </a:p>
          <a:p>
            <a:pPr eaLnBrk="1" hangingPunct="1">
              <a:buFont typeface="Wingdings" pitchFamily="2" charset="2"/>
              <a:buChar char="v"/>
            </a:pPr>
            <a:r>
              <a:rPr lang="en-US" sz="2000" dirty="0" smtClean="0"/>
              <a:t>ICPSR should research scholarship/funding sources for the purposes of directing ORs/participants to sources where funding may be found.</a:t>
            </a:r>
          </a:p>
        </p:txBody>
      </p:sp>
      <p:sp>
        <p:nvSpPr>
          <p:cNvPr id="26629" name="TextBox 4"/>
          <p:cNvSpPr txBox="1">
            <a:spLocks noChangeArrowheads="1"/>
          </p:cNvSpPr>
          <p:nvPr/>
        </p:nvSpPr>
        <p:spPr bwMode="auto">
          <a:xfrm>
            <a:off x="7772400" y="119062"/>
            <a:ext cx="381000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buFont typeface="Wingdings" pitchFamily="2" charset="2"/>
              <a:buChar char="v"/>
            </a:pP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41135626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1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81000"/>
            <a:ext cx="8153400" cy="838200"/>
          </a:xfrm>
        </p:spPr>
        <p:txBody>
          <a:bodyPr/>
          <a:lstStyle/>
          <a:p>
            <a:pPr eaLnBrk="1" hangingPunct="1"/>
            <a:r>
              <a:rPr lang="en-US" sz="3600" dirty="0" smtClean="0"/>
              <a:t>OR Suggested Improvements</a:t>
            </a:r>
          </a:p>
        </p:txBody>
      </p:sp>
      <p:sp>
        <p:nvSpPr>
          <p:cNvPr id="2765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524000"/>
            <a:ext cx="7696200" cy="3048000"/>
          </a:xfrm>
        </p:spPr>
        <p:txBody>
          <a:bodyPr/>
          <a:lstStyle/>
          <a:p>
            <a:pPr marL="231775" indent="-231775" eaLnBrk="1" hangingPunct="1">
              <a:lnSpc>
                <a:spcPct val="90000"/>
              </a:lnSpc>
              <a:buFontTx/>
              <a:buChar char="•"/>
            </a:pPr>
            <a:r>
              <a:rPr lang="en-US" sz="2000" dirty="0" smtClean="0"/>
              <a:t>Make all datasets available in </a:t>
            </a:r>
            <a:r>
              <a:rPr lang="en-US" sz="2000" dirty="0" err="1" smtClean="0"/>
              <a:t>Stata</a:t>
            </a:r>
            <a:r>
              <a:rPr lang="en-US" sz="2000" dirty="0" smtClean="0"/>
              <a:t>, SPSS, SAS, </a:t>
            </a:r>
            <a:r>
              <a:rPr lang="en-US" sz="2000" dirty="0" err="1" smtClean="0"/>
              <a:t>xls</a:t>
            </a:r>
            <a:r>
              <a:rPr lang="en-US" sz="2000" dirty="0" smtClean="0"/>
              <a:t>, etc.</a:t>
            </a:r>
          </a:p>
          <a:p>
            <a:pPr marL="231775" indent="-231775" eaLnBrk="1" hangingPunct="1">
              <a:lnSpc>
                <a:spcPct val="90000"/>
              </a:lnSpc>
              <a:buFontTx/>
              <a:buChar char="•"/>
            </a:pPr>
            <a:r>
              <a:rPr lang="en-US" sz="2000" dirty="0" smtClean="0"/>
              <a:t>More data available in SDA</a:t>
            </a:r>
          </a:p>
          <a:p>
            <a:pPr marL="231775" indent="-231775" eaLnBrk="1" hangingPunct="1">
              <a:lnSpc>
                <a:spcPct val="90000"/>
              </a:lnSpc>
              <a:buFontTx/>
              <a:buChar char="•"/>
            </a:pPr>
            <a:r>
              <a:rPr lang="en-US" sz="2000" dirty="0" smtClean="0"/>
              <a:t>More international data</a:t>
            </a:r>
          </a:p>
          <a:p>
            <a:pPr marL="231775" indent="-231775" eaLnBrk="1" hangingPunct="1">
              <a:lnSpc>
                <a:spcPct val="90000"/>
              </a:lnSpc>
              <a:buFontTx/>
              <a:buChar char="•"/>
            </a:pPr>
            <a:r>
              <a:rPr lang="en-US" sz="2000" dirty="0" smtClean="0"/>
              <a:t>More economic </a:t>
            </a:r>
            <a:r>
              <a:rPr lang="en-US" sz="2000" dirty="0" smtClean="0"/>
              <a:t>data</a:t>
            </a:r>
          </a:p>
          <a:p>
            <a:pPr marL="231775" indent="-231775" eaLnBrk="1" hangingPunct="1">
              <a:lnSpc>
                <a:spcPct val="90000"/>
              </a:lnSpc>
              <a:buFontTx/>
              <a:buChar char="•"/>
            </a:pPr>
            <a:r>
              <a:rPr lang="en-US" sz="2000" dirty="0"/>
              <a:t>M</a:t>
            </a:r>
            <a:r>
              <a:rPr lang="en-US" sz="2000" dirty="0" smtClean="0"/>
              <a:t>ore </a:t>
            </a:r>
            <a:r>
              <a:rPr lang="en-US" sz="2000" dirty="0" smtClean="0"/>
              <a:t>health data</a:t>
            </a:r>
          </a:p>
          <a:p>
            <a:pPr marL="231775" indent="-231775" eaLnBrk="1" hangingPunct="1">
              <a:lnSpc>
                <a:spcPct val="90000"/>
              </a:lnSpc>
              <a:buFontTx/>
              <a:buChar char="•"/>
            </a:pPr>
            <a:r>
              <a:rPr lang="en-US" sz="2000" dirty="0" smtClean="0"/>
              <a:t>More teaching tools (data in the classroom) development</a:t>
            </a:r>
          </a:p>
          <a:p>
            <a:pPr marL="231775" indent="-231775" eaLnBrk="1" hangingPunct="1">
              <a:lnSpc>
                <a:spcPct val="90000"/>
              </a:lnSpc>
              <a:buFontTx/>
              <a:buChar char="•"/>
            </a:pPr>
            <a:r>
              <a:rPr lang="en-US" sz="2000" dirty="0" smtClean="0"/>
              <a:t>More data </a:t>
            </a:r>
            <a:r>
              <a:rPr lang="en-US" sz="2000" dirty="0" err="1" smtClean="0"/>
              <a:t>curation</a:t>
            </a:r>
            <a:r>
              <a:rPr lang="en-US" sz="2000" dirty="0" smtClean="0"/>
              <a:t> (repository) tools, training, and products</a:t>
            </a:r>
          </a:p>
          <a:p>
            <a:pPr marL="231775" indent="-231775" eaLnBrk="1" hangingPunct="1">
              <a:lnSpc>
                <a:spcPct val="90000"/>
              </a:lnSpc>
              <a:buFontTx/>
              <a:buChar char="•"/>
            </a:pPr>
            <a:r>
              <a:rPr lang="en-US" sz="2000" dirty="0" smtClean="0"/>
              <a:t>Funding (or listing of resources) for Summer </a:t>
            </a:r>
            <a:r>
              <a:rPr lang="en-US" sz="2000" dirty="0"/>
              <a:t>P</a:t>
            </a:r>
            <a:r>
              <a:rPr lang="en-US" sz="2000" dirty="0" smtClean="0"/>
              <a:t>rogram attendance</a:t>
            </a:r>
          </a:p>
        </p:txBody>
      </p:sp>
    </p:spTree>
    <p:extLst>
      <p:ext uri="{BB962C8B-B14F-4D97-AF65-F5344CB8AC3E}">
        <p14:creationId xmlns:p14="http://schemas.microsoft.com/office/powerpoint/2010/main" val="245026193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5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609600"/>
            <a:ext cx="7696200" cy="838200"/>
          </a:xfrm>
        </p:spPr>
        <p:txBody>
          <a:bodyPr/>
          <a:lstStyle/>
          <a:p>
            <a:pPr eaLnBrk="1" hangingPunct="1"/>
            <a:r>
              <a:rPr lang="en-US" sz="3600" dirty="0" smtClean="0"/>
              <a:t>Profiles – Official Representatives</a:t>
            </a:r>
          </a:p>
        </p:txBody>
      </p:sp>
    </p:spTree>
    <p:extLst>
      <p:ext uri="{BB962C8B-B14F-4D97-AF65-F5344CB8AC3E}">
        <p14:creationId xmlns:p14="http://schemas.microsoft.com/office/powerpoint/2010/main" val="169876563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9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152400"/>
            <a:ext cx="7696200" cy="838200"/>
          </a:xfrm>
        </p:spPr>
        <p:txBody>
          <a:bodyPr/>
          <a:lstStyle/>
          <a:p>
            <a:pPr eaLnBrk="1" hangingPunct="1"/>
            <a:r>
              <a:rPr lang="en-US" dirty="0" smtClean="0"/>
              <a:t>OR Length of Service</a:t>
            </a:r>
          </a:p>
        </p:txBody>
      </p:sp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2000" y="1143000"/>
            <a:ext cx="7696200" cy="3505200"/>
          </a:xfrm>
        </p:spPr>
        <p:txBody>
          <a:bodyPr/>
          <a:lstStyle/>
          <a:p>
            <a:pPr marL="231775" indent="-231775" eaLnBrk="1" hangingPunct="1">
              <a:buFontTx/>
              <a:buChar char="•"/>
            </a:pPr>
            <a:r>
              <a:rPr lang="en-US" sz="2800" dirty="0" smtClean="0"/>
              <a:t>The average OR has worked at their current institution for about 14 years, ranging from one to 45 years served.</a:t>
            </a:r>
          </a:p>
          <a:p>
            <a:pPr marL="231775" indent="-231775" eaLnBrk="1" hangingPunct="1">
              <a:buFontTx/>
              <a:buChar char="•"/>
            </a:pPr>
            <a:r>
              <a:rPr lang="en-US" sz="2800" dirty="0" smtClean="0"/>
              <a:t>On average, ORs have spent about 7 years in the OR role at their institution ranging from just started to 37 years.</a:t>
            </a:r>
          </a:p>
          <a:p>
            <a:pPr marL="231775" indent="-231775" eaLnBrk="1" hangingPunct="1">
              <a:buFontTx/>
              <a:buChar char="•"/>
            </a:pPr>
            <a:r>
              <a:rPr lang="en-US" sz="2800" dirty="0" smtClean="0"/>
              <a:t>Just under half of ORs have served in their role for less than 4 years (46%).</a:t>
            </a:r>
          </a:p>
          <a:p>
            <a:pPr marL="231775" indent="-231775" eaLnBrk="1" hangingPunct="1">
              <a:buFontTx/>
              <a:buChar char="•"/>
            </a:pPr>
            <a:r>
              <a:rPr lang="en-US" sz="2800" dirty="0" smtClean="0"/>
              <a:t>Average length of service as an OR is similar to 2005, 2008, &amp; 2010.</a:t>
            </a:r>
          </a:p>
        </p:txBody>
      </p:sp>
    </p:spTree>
    <p:extLst>
      <p:ext uri="{BB962C8B-B14F-4D97-AF65-F5344CB8AC3E}">
        <p14:creationId xmlns:p14="http://schemas.microsoft.com/office/powerpoint/2010/main" val="211741974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0"/>
            <a:ext cx="7696200" cy="838200"/>
          </a:xfrm>
        </p:spPr>
        <p:txBody>
          <a:bodyPr/>
          <a:lstStyle/>
          <a:p>
            <a:pPr eaLnBrk="1" hangingPunct="1"/>
            <a:r>
              <a:rPr lang="en-US" dirty="0" smtClean="0"/>
              <a:t>Where ORs Work</a:t>
            </a:r>
          </a:p>
        </p:txBody>
      </p:sp>
      <p:sp>
        <p:nvSpPr>
          <p:cNvPr id="102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304800" y="762000"/>
            <a:ext cx="8001000" cy="990600"/>
          </a:xfrm>
        </p:spPr>
        <p:txBody>
          <a:bodyPr/>
          <a:lstStyle/>
          <a:p>
            <a:pPr marL="231775" indent="-231775" eaLnBrk="1" hangingPunct="1">
              <a:buFontTx/>
              <a:buChar char="•"/>
            </a:pPr>
            <a:r>
              <a:rPr lang="en-US" sz="1800" dirty="0" smtClean="0"/>
              <a:t>Most ORs describe their work department as a Library (46%)</a:t>
            </a:r>
          </a:p>
          <a:p>
            <a:pPr marL="231775" indent="-231775" eaLnBrk="1" hangingPunct="1">
              <a:buFontTx/>
              <a:buChar char="•"/>
            </a:pPr>
            <a:r>
              <a:rPr lang="en-US" sz="1800" dirty="0" smtClean="0"/>
              <a:t>Nineteen percent (each) work in a Political Science or Sociology department</a:t>
            </a:r>
          </a:p>
        </p:txBody>
      </p:sp>
      <p:graphicFrame>
        <p:nvGraphicFramePr>
          <p:cNvPr id="11" name="Content Placeholder 10"/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4149357400"/>
              </p:ext>
            </p:extLst>
          </p:nvPr>
        </p:nvGraphicFramePr>
        <p:xfrm>
          <a:off x="304800" y="1752600"/>
          <a:ext cx="8304756" cy="4876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77406230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Content Placeholder 9"/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662625007"/>
              </p:ext>
            </p:extLst>
          </p:nvPr>
        </p:nvGraphicFramePr>
        <p:xfrm>
          <a:off x="685800" y="2057400"/>
          <a:ext cx="8229600" cy="4191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052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152400"/>
            <a:ext cx="7696200" cy="838200"/>
          </a:xfrm>
        </p:spPr>
        <p:txBody>
          <a:bodyPr/>
          <a:lstStyle/>
          <a:p>
            <a:pPr eaLnBrk="1" hangingPunct="1"/>
            <a:r>
              <a:rPr lang="en-US" dirty="0" smtClean="0"/>
              <a:t>Changes in Where ORs Work</a:t>
            </a:r>
          </a:p>
        </p:txBody>
      </p:sp>
      <p:sp>
        <p:nvSpPr>
          <p:cNvPr id="205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762000" y="1066800"/>
            <a:ext cx="8001000" cy="1676400"/>
          </a:xfrm>
        </p:spPr>
        <p:txBody>
          <a:bodyPr/>
          <a:lstStyle/>
          <a:p>
            <a:pPr marL="231775" indent="-231775" eaLnBrk="1" hangingPunct="1">
              <a:buFontTx/>
              <a:buChar char="•"/>
            </a:pPr>
            <a:r>
              <a:rPr lang="en-US" sz="2000" dirty="0" smtClean="0"/>
              <a:t>Since 1988, more ORs indicate they work in the library with notably less working in social sciences departments.</a:t>
            </a:r>
          </a:p>
          <a:p>
            <a:pPr marL="231775" indent="-231775" eaLnBrk="1" hangingPunct="1">
              <a:buFontTx/>
              <a:buChar char="•"/>
            </a:pPr>
            <a:r>
              <a:rPr lang="en-US" sz="2000" dirty="0" smtClean="0"/>
              <a:t>The percentage of ORs based in the Economics department have increased since 1988.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0" y="4648200"/>
            <a:ext cx="3810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 smtClean="0">
                <a:solidFill>
                  <a:schemeClr val="bg1"/>
                </a:solidFill>
              </a:rPr>
              <a:t>NA</a:t>
            </a:r>
            <a:endParaRPr lang="en-US" sz="9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66868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0"/>
            <a:ext cx="7696200" cy="838200"/>
          </a:xfrm>
        </p:spPr>
        <p:txBody>
          <a:bodyPr/>
          <a:lstStyle/>
          <a:p>
            <a:pPr eaLnBrk="1" hangingPunct="1"/>
            <a:r>
              <a:rPr lang="en-US" dirty="0" smtClean="0"/>
              <a:t>OR Educational Focus</a:t>
            </a:r>
          </a:p>
        </p:txBody>
      </p:sp>
      <p:sp>
        <p:nvSpPr>
          <p:cNvPr id="307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609600" y="685800"/>
            <a:ext cx="7696200" cy="1676400"/>
          </a:xfrm>
        </p:spPr>
        <p:txBody>
          <a:bodyPr/>
          <a:lstStyle/>
          <a:p>
            <a:pPr marL="231775" indent="-231775" eaLnBrk="1" hangingPunct="1">
              <a:buFontTx/>
              <a:buChar char="•"/>
            </a:pPr>
            <a:r>
              <a:rPr lang="en-US" sz="1800" dirty="0" smtClean="0"/>
              <a:t>The most frequently studied discipline among ORs is </a:t>
            </a:r>
            <a:r>
              <a:rPr lang="en-US" sz="1800" dirty="0" smtClean="0"/>
              <a:t>Library </a:t>
            </a:r>
            <a:r>
              <a:rPr lang="en-US" sz="1800" dirty="0" smtClean="0"/>
              <a:t>Sciences (44%); 21% cite degrees in Political Science, 19% in Sociology, and 8% in Economics</a:t>
            </a:r>
          </a:p>
          <a:p>
            <a:pPr marL="631825" lvl="1" indent="-231775">
              <a:buFontTx/>
              <a:buChar char="•"/>
            </a:pPr>
            <a:r>
              <a:rPr lang="en-US" sz="1600" dirty="0" smtClean="0"/>
              <a:t>Note that degrees described as “Data/Information Sciences” increased from 2% in 2008 to 6% in 2012</a:t>
            </a:r>
          </a:p>
          <a:p>
            <a:pPr marL="231775" indent="-231775" eaLnBrk="1" hangingPunct="1">
              <a:buFontTx/>
              <a:buChar char="•"/>
            </a:pPr>
            <a:r>
              <a:rPr lang="en-US" sz="1800" dirty="0" smtClean="0"/>
              <a:t>Most ORs have Master’s Degrees (55%) or </a:t>
            </a:r>
            <a:r>
              <a:rPr lang="en-US" sz="1800" dirty="0" smtClean="0"/>
              <a:t>Doctorates </a:t>
            </a:r>
            <a:r>
              <a:rPr lang="en-US" sz="1800" dirty="0" smtClean="0"/>
              <a:t>(41%)</a:t>
            </a:r>
          </a:p>
        </p:txBody>
      </p:sp>
      <p:graphicFrame>
        <p:nvGraphicFramePr>
          <p:cNvPr id="8" name="Content Placeholder 7"/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794095644"/>
              </p:ext>
            </p:extLst>
          </p:nvPr>
        </p:nvGraphicFramePr>
        <p:xfrm>
          <a:off x="304800" y="2438400"/>
          <a:ext cx="8229600" cy="3886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70079161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3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1447800"/>
            <a:ext cx="7696200" cy="838200"/>
          </a:xfrm>
        </p:spPr>
        <p:txBody>
          <a:bodyPr/>
          <a:lstStyle/>
          <a:p>
            <a:pPr eaLnBrk="1" hangingPunct="1"/>
            <a:r>
              <a:rPr lang="en-US" sz="3600" smtClean="0"/>
              <a:t>The OR Meeting</a:t>
            </a:r>
          </a:p>
        </p:txBody>
      </p:sp>
    </p:spTree>
    <p:extLst>
      <p:ext uri="{BB962C8B-B14F-4D97-AF65-F5344CB8AC3E}">
        <p14:creationId xmlns:p14="http://schemas.microsoft.com/office/powerpoint/2010/main" val="326799395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1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-76200"/>
            <a:ext cx="7696200" cy="838200"/>
          </a:xfrm>
        </p:spPr>
        <p:txBody>
          <a:bodyPr/>
          <a:lstStyle/>
          <a:p>
            <a:pPr eaLnBrk="1" hangingPunct="1"/>
            <a:r>
              <a:rPr lang="en-US" smtClean="0"/>
              <a:t>OR Meeting Attendance</a:t>
            </a:r>
          </a:p>
        </p:txBody>
      </p:sp>
      <p:sp>
        <p:nvSpPr>
          <p:cNvPr id="4102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685800" y="1447800"/>
            <a:ext cx="3848100" cy="3505200"/>
          </a:xfrm>
        </p:spPr>
        <p:txBody>
          <a:bodyPr/>
          <a:lstStyle/>
          <a:p>
            <a:pPr marL="228600" indent="-228600" eaLnBrk="1" hangingPunct="1">
              <a:buFontTx/>
              <a:buChar char="•"/>
            </a:pPr>
            <a:r>
              <a:rPr lang="en-US" dirty="0" smtClean="0"/>
              <a:t>About two in ten ORs attended the most recent OR Meeting in 2011</a:t>
            </a:r>
          </a:p>
          <a:p>
            <a:pPr marL="228600" indent="-228600" eaLnBrk="1" hangingPunct="1">
              <a:buFontTx/>
              <a:buChar char="•"/>
            </a:pPr>
            <a:r>
              <a:rPr lang="en-US" dirty="0" smtClean="0"/>
              <a:t>Approximately one in three have attended an OR Meeting in Ann Arbor (34%)</a:t>
            </a:r>
          </a:p>
        </p:txBody>
      </p:sp>
      <p:graphicFrame>
        <p:nvGraphicFramePr>
          <p:cNvPr id="7" name="Content Placeholder 11"/>
          <p:cNvGraphicFramePr>
            <a:graphicFrameLocks noGrp="1"/>
          </p:cNvGraphicFramePr>
          <p:nvPr>
            <p:ph sz="quarter" idx="2"/>
            <p:extLst>
              <p:ext uri="{D42A27DB-BD31-4B8C-83A1-F6EECF244321}">
                <p14:modId xmlns:p14="http://schemas.microsoft.com/office/powerpoint/2010/main" val="669891937"/>
              </p:ext>
            </p:extLst>
          </p:nvPr>
        </p:nvGraphicFramePr>
        <p:xfrm>
          <a:off x="4495800" y="1066800"/>
          <a:ext cx="4419600" cy="2438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8" name="Content Placeholder 12"/>
          <p:cNvGraphicFramePr>
            <a:graphicFrameLocks noGrp="1"/>
          </p:cNvGraphicFramePr>
          <p:nvPr>
            <p:ph sz="quarter" idx="2"/>
            <p:extLst>
              <p:ext uri="{D42A27DB-BD31-4B8C-83A1-F6EECF244321}">
                <p14:modId xmlns:p14="http://schemas.microsoft.com/office/powerpoint/2010/main" val="2120944277"/>
              </p:ext>
            </p:extLst>
          </p:nvPr>
        </p:nvGraphicFramePr>
        <p:xfrm>
          <a:off x="4038600" y="3810000"/>
          <a:ext cx="4800600" cy="2362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25525938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4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304800"/>
            <a:ext cx="8458200" cy="838200"/>
          </a:xfrm>
        </p:spPr>
        <p:txBody>
          <a:bodyPr/>
          <a:lstStyle/>
          <a:p>
            <a:pPr eaLnBrk="1" hangingPunct="1"/>
            <a:r>
              <a:rPr lang="en-US" sz="3600" dirty="0" smtClean="0"/>
              <a:t>Attendance varies by Carnegie Class</a:t>
            </a:r>
          </a:p>
        </p:txBody>
      </p:sp>
      <p:sp>
        <p:nvSpPr>
          <p:cNvPr id="512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685800" y="1600200"/>
            <a:ext cx="7696200" cy="914400"/>
          </a:xfrm>
        </p:spPr>
        <p:txBody>
          <a:bodyPr/>
          <a:lstStyle/>
          <a:p>
            <a:pPr marL="228600" indent="-228600" eaLnBrk="1" hangingPunct="1">
              <a:buFontTx/>
              <a:buChar char="•"/>
            </a:pPr>
            <a:r>
              <a:rPr lang="en-US" sz="1800" dirty="0" smtClean="0"/>
              <a:t>Extensive institutions (represented in the survey) continue to demonstrate the highest level of attendance at OR meetings</a:t>
            </a:r>
          </a:p>
        </p:txBody>
      </p:sp>
      <p:graphicFrame>
        <p:nvGraphicFramePr>
          <p:cNvPr id="8" name="Content Placeholder 7"/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8552141"/>
              </p:ext>
            </p:extLst>
          </p:nvPr>
        </p:nvGraphicFramePr>
        <p:xfrm>
          <a:off x="533400" y="2514600"/>
          <a:ext cx="8382000" cy="3429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78624293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8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457200"/>
            <a:ext cx="7848600" cy="838200"/>
          </a:xfrm>
        </p:spPr>
        <p:txBody>
          <a:bodyPr/>
          <a:lstStyle/>
          <a:p>
            <a:pPr eaLnBrk="1" hangingPunct="1"/>
            <a:r>
              <a:rPr lang="en-US" dirty="0" smtClean="0"/>
              <a:t>OR Meeting: Future Attendance</a:t>
            </a:r>
          </a:p>
        </p:txBody>
      </p:sp>
      <p:sp>
        <p:nvSpPr>
          <p:cNvPr id="614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685800" y="1524000"/>
            <a:ext cx="8001000" cy="1066800"/>
          </a:xfrm>
        </p:spPr>
        <p:txBody>
          <a:bodyPr/>
          <a:lstStyle/>
          <a:p>
            <a:pPr marL="231775" indent="-231775" eaLnBrk="1" hangingPunct="1">
              <a:buFontTx/>
              <a:buChar char="•"/>
            </a:pPr>
            <a:r>
              <a:rPr lang="en-US" sz="2000" dirty="0" smtClean="0"/>
              <a:t>Most ORs would like to attend the 2013 onsite meeting</a:t>
            </a:r>
          </a:p>
          <a:p>
            <a:pPr marL="231775" indent="-231775" eaLnBrk="1" hangingPunct="1">
              <a:buFontTx/>
              <a:buChar char="•"/>
            </a:pPr>
            <a:r>
              <a:rPr lang="en-US" sz="2000" dirty="0" smtClean="0"/>
              <a:t>Only 9% predict they will “definitely attend” in 2013</a:t>
            </a:r>
          </a:p>
        </p:txBody>
      </p:sp>
      <p:graphicFrame>
        <p:nvGraphicFramePr>
          <p:cNvPr id="2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55038570"/>
              </p:ext>
            </p:extLst>
          </p:nvPr>
        </p:nvGraphicFramePr>
        <p:xfrm>
          <a:off x="533400" y="2514600"/>
          <a:ext cx="8305800" cy="2981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4" name="Worksheet" r:id="rId3" imgW="4933978" imgH="1838430" progId="Excel.Sheet.12">
                  <p:embed/>
                </p:oleObj>
              </mc:Choice>
              <mc:Fallback>
                <p:oleObj name="Worksheet" r:id="rId3" imgW="4933978" imgH="1838430" progId="Excel.Sheet.12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2514600"/>
                        <a:ext cx="8305800" cy="2981325"/>
                      </a:xfrm>
                      <a:prstGeom prst="rect">
                        <a:avLst/>
                      </a:prstGeom>
                      <a:noFill/>
                      <a:ln w="12700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68295501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6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228600"/>
            <a:ext cx="7696200" cy="838200"/>
          </a:xfrm>
        </p:spPr>
        <p:txBody>
          <a:bodyPr/>
          <a:lstStyle/>
          <a:p>
            <a:pPr eaLnBrk="1" hangingPunct="1"/>
            <a:r>
              <a:rPr lang="en-US" dirty="0" smtClean="0"/>
              <a:t>Preferred Meeting Content </a:t>
            </a:r>
          </a:p>
        </p:txBody>
      </p:sp>
      <p:sp>
        <p:nvSpPr>
          <p:cNvPr id="819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762000" y="1219200"/>
            <a:ext cx="8001000" cy="2133600"/>
          </a:xfrm>
        </p:spPr>
        <p:txBody>
          <a:bodyPr/>
          <a:lstStyle/>
          <a:p>
            <a:pPr marL="231775" indent="-231775" eaLnBrk="1" hangingPunct="1">
              <a:buFontTx/>
              <a:buChar char="•"/>
            </a:pPr>
            <a:r>
              <a:rPr lang="en-US" sz="2000" dirty="0" smtClean="0"/>
              <a:t>ORs prefer meeting content that revolves around use of ICPSR resources/tools</a:t>
            </a:r>
            <a:r>
              <a:rPr lang="en-US" sz="2000" dirty="0"/>
              <a:t> </a:t>
            </a:r>
            <a:r>
              <a:rPr lang="en-US" sz="2000" dirty="0" smtClean="0"/>
              <a:t>and its data collections</a:t>
            </a:r>
          </a:p>
          <a:p>
            <a:pPr marL="231775" indent="-231775" eaLnBrk="1" hangingPunct="1">
              <a:buFontTx/>
              <a:buChar char="•"/>
            </a:pPr>
            <a:r>
              <a:rPr lang="en-US" sz="2000" dirty="0" smtClean="0"/>
              <a:t>Sessions on using data in teaching and on data </a:t>
            </a:r>
            <a:r>
              <a:rPr lang="en-US" sz="2000" dirty="0" err="1" smtClean="0"/>
              <a:t>curation</a:t>
            </a:r>
            <a:r>
              <a:rPr lang="en-US" sz="2000" dirty="0" smtClean="0"/>
              <a:t> (data science) are also preferred</a:t>
            </a:r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243575112"/>
              </p:ext>
            </p:extLst>
          </p:nvPr>
        </p:nvGraphicFramePr>
        <p:xfrm>
          <a:off x="0" y="2743200"/>
          <a:ext cx="914400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43784017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7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381000"/>
            <a:ext cx="8077200" cy="838200"/>
          </a:xfrm>
        </p:spPr>
        <p:txBody>
          <a:bodyPr/>
          <a:lstStyle/>
          <a:p>
            <a:r>
              <a:rPr lang="en-US" sz="3200" dirty="0" smtClean="0"/>
              <a:t>OR Suggestions to Improve OR Meeting</a:t>
            </a:r>
          </a:p>
        </p:txBody>
      </p:sp>
      <p:sp>
        <p:nvSpPr>
          <p:cNvPr id="31748" name="Rectangle 3"/>
          <p:cNvSpPr>
            <a:spLocks noGrp="1" noChangeArrowheads="1"/>
          </p:cNvSpPr>
          <p:nvPr>
            <p:ph sz="half" idx="1"/>
          </p:nvPr>
        </p:nvSpPr>
        <p:spPr/>
        <p:txBody>
          <a:bodyPr/>
          <a:lstStyle/>
          <a:p>
            <a:endParaRPr lang="en-US" smtClean="0"/>
          </a:p>
          <a:p>
            <a:endParaRPr lang="en-US" dirty="0" smtClean="0"/>
          </a:p>
        </p:txBody>
      </p:sp>
      <p:sp>
        <p:nvSpPr>
          <p:cNvPr id="9" name="Content Placeholder 8"/>
          <p:cNvSpPr>
            <a:spLocks noGrp="1"/>
          </p:cNvSpPr>
          <p:nvPr>
            <p:ph sz="half" idx="2"/>
          </p:nvPr>
        </p:nvSpPr>
        <p:spPr>
          <a:xfrm>
            <a:off x="609600" y="1524000"/>
            <a:ext cx="7848600" cy="3505200"/>
          </a:xfrm>
        </p:spPr>
        <p:txBody>
          <a:bodyPr/>
          <a:lstStyle/>
          <a:p>
            <a:pPr>
              <a:buFont typeface="Arial" pitchFamily="34" charset="0"/>
              <a:buChar char="•"/>
            </a:pPr>
            <a:r>
              <a:rPr lang="en-US" sz="2000" dirty="0" smtClean="0"/>
              <a:t>Continue to conduct workshops the day before such as a mini data management course similar to the course by the 3 Amigos, online analysis, data </a:t>
            </a:r>
            <a:r>
              <a:rPr lang="en-US" sz="2000" dirty="0" err="1" smtClean="0"/>
              <a:t>curation</a:t>
            </a:r>
            <a:r>
              <a:rPr lang="en-US" sz="2000" dirty="0" smtClean="0"/>
              <a:t>, etc.</a:t>
            </a:r>
          </a:p>
          <a:p>
            <a:pPr>
              <a:buFont typeface="Arial" pitchFamily="34" charset="0"/>
              <a:buChar char="•"/>
            </a:pPr>
            <a:r>
              <a:rPr lang="en-US" sz="2000" dirty="0" smtClean="0"/>
              <a:t>Consider a session(s) dedicated how to intrigue (train) particular departments to use ICPSR data (departmental promotion)</a:t>
            </a:r>
          </a:p>
          <a:p>
            <a:pPr>
              <a:buFont typeface="Arial" pitchFamily="34" charset="0"/>
              <a:buChar char="•"/>
            </a:pPr>
            <a:r>
              <a:rPr lang="en-US" sz="2000" dirty="0" smtClean="0"/>
              <a:t>Include time dedicated to ‘formal’ networking across ORs (informal is not enough)</a:t>
            </a:r>
          </a:p>
          <a:p>
            <a:pPr>
              <a:buFont typeface="Arial" pitchFamily="34" charset="0"/>
              <a:buChar char="•"/>
            </a:pPr>
            <a:r>
              <a:rPr lang="en-US" sz="2000" dirty="0" smtClean="0"/>
              <a:t>Though admittedly a challenge for the program committee, involve more ORs in program content or panels</a:t>
            </a:r>
          </a:p>
          <a:p>
            <a:pPr>
              <a:buFont typeface="Arial" pitchFamily="34" charset="0"/>
              <a:buChar char="•"/>
            </a:pPr>
            <a:r>
              <a:rPr lang="en-US" sz="2000" dirty="0" smtClean="0"/>
              <a:t>Continue to offer OR meeting virtually since budgets and time constraints challenge onsite attendance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60540421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1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2286000"/>
            <a:ext cx="7696200" cy="838200"/>
          </a:xfrm>
        </p:spPr>
        <p:txBody>
          <a:bodyPr/>
          <a:lstStyle/>
          <a:p>
            <a:pPr eaLnBrk="1" hangingPunct="1"/>
            <a:r>
              <a:rPr lang="en-US" sz="3600" dirty="0" smtClean="0"/>
              <a:t>OR Product Awareness/Use of and Satisfaction with ICPSR Resources</a:t>
            </a:r>
          </a:p>
        </p:txBody>
      </p:sp>
    </p:spTree>
    <p:extLst>
      <p:ext uri="{BB962C8B-B14F-4D97-AF65-F5344CB8AC3E}">
        <p14:creationId xmlns:p14="http://schemas.microsoft.com/office/powerpoint/2010/main" val="176884134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152400"/>
            <a:ext cx="7696200" cy="838200"/>
          </a:xfrm>
        </p:spPr>
        <p:txBody>
          <a:bodyPr/>
          <a:lstStyle/>
          <a:p>
            <a:pPr eaLnBrk="1" hangingPunct="1"/>
            <a:r>
              <a:rPr lang="en-US" dirty="0" smtClean="0"/>
              <a:t>Product Awareness &amp; Use</a:t>
            </a:r>
          </a:p>
        </p:txBody>
      </p:sp>
      <p:sp>
        <p:nvSpPr>
          <p:cNvPr id="922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685800" y="990600"/>
            <a:ext cx="8001000" cy="1143000"/>
          </a:xfrm>
        </p:spPr>
        <p:txBody>
          <a:bodyPr/>
          <a:lstStyle/>
          <a:p>
            <a:pPr marL="231775" indent="-231775" eaLnBrk="1" hangingPunct="1">
              <a:buFontTx/>
              <a:buChar char="•"/>
            </a:pPr>
            <a:r>
              <a:rPr lang="en-US" sz="1800" dirty="0" smtClean="0"/>
              <a:t>OR’s highest ICPSR product awareness and use includes ICPSR webinars and the OR Web site</a:t>
            </a:r>
          </a:p>
          <a:p>
            <a:pPr marL="631825" lvl="1" indent="-231775">
              <a:buFontTx/>
              <a:buChar char="•"/>
            </a:pPr>
            <a:r>
              <a:rPr lang="en-US" sz="1600" dirty="0" smtClean="0"/>
              <a:t>Note that use </a:t>
            </a:r>
            <a:r>
              <a:rPr lang="en-US" sz="1600" dirty="0" smtClean="0"/>
              <a:t>by </a:t>
            </a:r>
            <a:r>
              <a:rPr lang="en-US" sz="1600" dirty="0" smtClean="0"/>
              <a:t>ORs of these resources has declined since 2010</a:t>
            </a:r>
          </a:p>
          <a:p>
            <a:pPr marL="231775" indent="-231775" eaLnBrk="1" hangingPunct="1">
              <a:buFontTx/>
              <a:buChar char="•"/>
            </a:pPr>
            <a:r>
              <a:rPr lang="en-US" sz="1800" dirty="0" err="1" smtClean="0"/>
              <a:t>MyClass</a:t>
            </a:r>
            <a:r>
              <a:rPr lang="en-US" sz="1800" dirty="0" smtClean="0"/>
              <a:t> garners the lowest awareness &amp; use</a:t>
            </a:r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160884286"/>
              </p:ext>
            </p:extLst>
          </p:nvPr>
        </p:nvGraphicFramePr>
        <p:xfrm>
          <a:off x="0" y="2438400"/>
          <a:ext cx="914400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81245651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8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381000"/>
            <a:ext cx="8229600" cy="1143000"/>
          </a:xfrm>
        </p:spPr>
        <p:txBody>
          <a:bodyPr/>
          <a:lstStyle/>
          <a:p>
            <a:pPr eaLnBrk="1" hangingPunct="1"/>
            <a:r>
              <a:rPr lang="en-US" dirty="0" smtClean="0"/>
              <a:t>OR Interaction with ICPSR Data</a:t>
            </a:r>
          </a:p>
        </p:txBody>
      </p:sp>
      <p:sp>
        <p:nvSpPr>
          <p:cNvPr id="1126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2341698"/>
            <a:ext cx="4040188" cy="477702"/>
          </a:xfrm>
        </p:spPr>
        <p:txBody>
          <a:bodyPr/>
          <a:lstStyle/>
          <a:p>
            <a:pPr marL="231775" indent="-231775" eaLnBrk="1" hangingPunct="1">
              <a:buFontTx/>
              <a:buChar char="•"/>
            </a:pPr>
            <a:r>
              <a:rPr lang="en-US" sz="2000" dirty="0" smtClean="0"/>
              <a:t>Half of ORs have used ICPSR data for research or in-class instruction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3"/>
          </p:nvPr>
        </p:nvSpPr>
        <p:spPr>
          <a:xfrm>
            <a:off x="4572000" y="2103438"/>
            <a:ext cx="4041775" cy="639762"/>
          </a:xfrm>
        </p:spPr>
        <p:txBody>
          <a:bodyPr/>
          <a:lstStyle/>
          <a:p>
            <a:pPr marL="231775" indent="-231775" eaLnBrk="1" hangingPunct="1">
              <a:buFontTx/>
              <a:buChar char="•"/>
            </a:pPr>
            <a:r>
              <a:rPr lang="en-US" sz="2000" dirty="0" smtClean="0"/>
              <a:t>Two in five ORs held ICPSR workshops on campus</a:t>
            </a:r>
          </a:p>
        </p:txBody>
      </p:sp>
      <p:graphicFrame>
        <p:nvGraphicFramePr>
          <p:cNvPr id="10" name="Content Placeholder 9"/>
          <p:cNvGraphicFramePr>
            <a:graphicFrameLocks noGrp="1"/>
          </p:cNvGraphicFramePr>
          <p:nvPr>
            <p:ph sz="quarter" idx="4"/>
            <p:extLst>
              <p:ext uri="{D42A27DB-BD31-4B8C-83A1-F6EECF244321}">
                <p14:modId xmlns:p14="http://schemas.microsoft.com/office/powerpoint/2010/main" val="1885840533"/>
              </p:ext>
            </p:extLst>
          </p:nvPr>
        </p:nvGraphicFramePr>
        <p:xfrm>
          <a:off x="4572000" y="2362200"/>
          <a:ext cx="4191000" cy="3429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9" name="Content Placeholder 8"/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789075271"/>
              </p:ext>
            </p:extLst>
          </p:nvPr>
        </p:nvGraphicFramePr>
        <p:xfrm>
          <a:off x="457200" y="2209800"/>
          <a:ext cx="4040188" cy="35702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43233519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Content Placeholder 9"/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090715518"/>
              </p:ext>
            </p:extLst>
          </p:nvPr>
        </p:nvGraphicFramePr>
        <p:xfrm>
          <a:off x="457200" y="2057400"/>
          <a:ext cx="8382000" cy="4419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052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7696200" cy="838200"/>
          </a:xfrm>
        </p:spPr>
        <p:txBody>
          <a:bodyPr/>
          <a:lstStyle/>
          <a:p>
            <a:pPr eaLnBrk="1" hangingPunct="1"/>
            <a:r>
              <a:rPr lang="en-US" dirty="0" smtClean="0"/>
              <a:t>Interest Level in Potential ICPSR Data Products</a:t>
            </a:r>
          </a:p>
        </p:txBody>
      </p:sp>
      <p:sp>
        <p:nvSpPr>
          <p:cNvPr id="205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533400" y="1066800"/>
            <a:ext cx="8001000" cy="1676400"/>
          </a:xfrm>
        </p:spPr>
        <p:txBody>
          <a:bodyPr/>
          <a:lstStyle/>
          <a:p>
            <a:pPr marL="231775" indent="-231775" eaLnBrk="1" hangingPunct="1">
              <a:buFontTx/>
              <a:buChar char="•"/>
            </a:pPr>
            <a:r>
              <a:rPr lang="en-US" sz="2000" dirty="0" smtClean="0"/>
              <a:t>ORs believe the highest level of institutional interest to be in teaching with data products and training</a:t>
            </a:r>
          </a:p>
          <a:p>
            <a:pPr marL="231775" indent="-231775" eaLnBrk="1" hangingPunct="1">
              <a:buFontTx/>
              <a:buChar char="•"/>
            </a:pPr>
            <a:r>
              <a:rPr lang="en-US" sz="2000" dirty="0" smtClean="0"/>
              <a:t>Secure </a:t>
            </a:r>
            <a:r>
              <a:rPr lang="en-US" sz="2000" dirty="0" smtClean="0"/>
              <a:t>data services </a:t>
            </a:r>
            <a:r>
              <a:rPr lang="en-US" sz="2000" dirty="0" smtClean="0"/>
              <a:t>(online) and catalog services (ability to list in ICPSR’s data union catalog) are also of greatest interest</a:t>
            </a:r>
          </a:p>
        </p:txBody>
      </p:sp>
    </p:spTree>
    <p:extLst>
      <p:ext uri="{BB962C8B-B14F-4D97-AF65-F5344CB8AC3E}">
        <p14:creationId xmlns:p14="http://schemas.microsoft.com/office/powerpoint/2010/main" val="318206320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4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7696200" cy="838200"/>
          </a:xfrm>
        </p:spPr>
        <p:txBody>
          <a:bodyPr/>
          <a:lstStyle/>
          <a:p>
            <a:pPr eaLnBrk="1" hangingPunct="1"/>
            <a:r>
              <a:rPr lang="en-US" dirty="0" smtClean="0"/>
              <a:t>Satisfaction</a:t>
            </a:r>
          </a:p>
        </p:txBody>
      </p:sp>
      <p:sp>
        <p:nvSpPr>
          <p:cNvPr id="1024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304800" y="914400"/>
            <a:ext cx="8001000" cy="2133600"/>
          </a:xfrm>
        </p:spPr>
        <p:txBody>
          <a:bodyPr/>
          <a:lstStyle/>
          <a:p>
            <a:pPr marL="231775" indent="-231775" eaLnBrk="1" hangingPunct="1">
              <a:buFontTx/>
              <a:buChar char="•"/>
            </a:pPr>
            <a:r>
              <a:rPr lang="en-US" sz="1800" dirty="0" smtClean="0"/>
              <a:t>Over half of ORs rated ICPSR with a 9-10 in terms of overall satisfaction (56%) with a mean of 8.4; satisfaction is similar to 2008 and 2010</a:t>
            </a:r>
          </a:p>
        </p:txBody>
      </p:sp>
      <p:graphicFrame>
        <p:nvGraphicFramePr>
          <p:cNvPr id="6" name="Content Placeholder 8"/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764635094"/>
              </p:ext>
            </p:extLst>
          </p:nvPr>
        </p:nvGraphicFramePr>
        <p:xfrm>
          <a:off x="762000" y="1676400"/>
          <a:ext cx="8001000" cy="4724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76529674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Slide Number Placeholder 4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E1F7C630-01E5-4B1D-B0B7-E17A90DD5A60}" type="slidenum">
              <a:rPr lang="en-US" smtClean="0"/>
              <a:pPr/>
              <a:t>26</a:t>
            </a:fld>
            <a:endParaRPr lang="en-US" smtClean="0"/>
          </a:p>
        </p:txBody>
      </p:sp>
      <p:sp>
        <p:nvSpPr>
          <p:cNvPr id="34819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1447800"/>
            <a:ext cx="7696200" cy="838200"/>
          </a:xfrm>
        </p:spPr>
        <p:txBody>
          <a:bodyPr/>
          <a:lstStyle/>
          <a:p>
            <a:pPr eaLnBrk="1" hangingPunct="1"/>
            <a:r>
              <a:rPr lang="en-US" sz="3600" dirty="0" smtClean="0"/>
              <a:t>Use of Other Data Sources</a:t>
            </a:r>
          </a:p>
        </p:txBody>
      </p:sp>
    </p:spTree>
    <p:extLst>
      <p:ext uri="{BB962C8B-B14F-4D97-AF65-F5344CB8AC3E}">
        <p14:creationId xmlns:p14="http://schemas.microsoft.com/office/powerpoint/2010/main" val="126287916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57200"/>
            <a:ext cx="7696200" cy="838200"/>
          </a:xfrm>
        </p:spPr>
        <p:txBody>
          <a:bodyPr/>
          <a:lstStyle/>
          <a:p>
            <a:r>
              <a:rPr lang="en-US" dirty="0"/>
              <a:t>Other </a:t>
            </a:r>
            <a:r>
              <a:rPr lang="en-US" dirty="0" smtClean="0"/>
              <a:t>Data Sources for ORs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2000" y="1371600"/>
            <a:ext cx="3771900" cy="3505200"/>
          </a:xfrm>
        </p:spPr>
        <p:txBody>
          <a:bodyPr/>
          <a:lstStyle/>
          <a:p>
            <a:pPr>
              <a:buFont typeface="Arial" pitchFamily="34" charset="0"/>
              <a:buChar char="•"/>
            </a:pPr>
            <a:r>
              <a:rPr lang="en-US" sz="2400" dirty="0" smtClean="0"/>
              <a:t>Roper Center</a:t>
            </a:r>
          </a:p>
          <a:p>
            <a:pPr>
              <a:buFont typeface="Arial" pitchFamily="34" charset="0"/>
              <a:buChar char="•"/>
            </a:pPr>
            <a:r>
              <a:rPr lang="en-US" sz="2400" dirty="0" smtClean="0"/>
              <a:t>Association of Religion Data Archives (ARDA)</a:t>
            </a:r>
          </a:p>
          <a:p>
            <a:pPr>
              <a:buFont typeface="Arial" pitchFamily="34" charset="0"/>
              <a:buChar char="•"/>
            </a:pPr>
            <a:r>
              <a:rPr lang="en-US" sz="2400" dirty="0" smtClean="0"/>
              <a:t>MPC: IPUMS; NHGIS</a:t>
            </a:r>
          </a:p>
          <a:p>
            <a:pPr>
              <a:buFont typeface="Arial" pitchFamily="34" charset="0"/>
              <a:buChar char="•"/>
            </a:pPr>
            <a:r>
              <a:rPr lang="en-US" sz="2400" dirty="0" err="1" smtClean="0"/>
              <a:t>Sociometrics</a:t>
            </a:r>
            <a:endParaRPr lang="en-US" sz="2400" dirty="0" smtClean="0"/>
          </a:p>
          <a:p>
            <a:pPr>
              <a:buFont typeface="Arial" pitchFamily="34" charset="0"/>
              <a:buChar char="•"/>
            </a:pPr>
            <a:r>
              <a:rPr lang="en-US" sz="2400" dirty="0" smtClean="0"/>
              <a:t>UN Statistical Division</a:t>
            </a:r>
          </a:p>
          <a:p>
            <a:pPr>
              <a:buFont typeface="Arial" pitchFamily="34" charset="0"/>
              <a:buChar char="•"/>
            </a:pPr>
            <a:r>
              <a:rPr lang="en-US" sz="2400" dirty="0" smtClean="0"/>
              <a:t>Data Liberation Initiative</a:t>
            </a:r>
            <a:endParaRPr lang="en-US" sz="2400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86300" y="1371600"/>
            <a:ext cx="3771900" cy="3505200"/>
          </a:xfrm>
        </p:spPr>
        <p:txBody>
          <a:bodyPr/>
          <a:lstStyle/>
          <a:p>
            <a:pPr>
              <a:buFont typeface="Arial" pitchFamily="34" charset="0"/>
              <a:buChar char="•"/>
            </a:pPr>
            <a:r>
              <a:rPr lang="en-US" sz="2400" dirty="0" smtClean="0"/>
              <a:t>Gallup Poll</a:t>
            </a:r>
          </a:p>
          <a:p>
            <a:pPr>
              <a:buFont typeface="Arial" pitchFamily="34" charset="0"/>
              <a:buChar char="•"/>
            </a:pPr>
            <a:r>
              <a:rPr lang="en-US" sz="2400" dirty="0" smtClean="0"/>
              <a:t>World Bank data</a:t>
            </a:r>
          </a:p>
          <a:p>
            <a:pPr>
              <a:buFont typeface="Arial" pitchFamily="34" charset="0"/>
              <a:buChar char="•"/>
            </a:pPr>
            <a:r>
              <a:rPr lang="en-US" sz="2400" dirty="0" smtClean="0"/>
              <a:t>Pew Surveys</a:t>
            </a:r>
          </a:p>
          <a:p>
            <a:pPr>
              <a:buFont typeface="Arial" pitchFamily="34" charset="0"/>
              <a:buChar char="•"/>
            </a:pPr>
            <a:r>
              <a:rPr lang="en-US" sz="2400" dirty="0" smtClean="0"/>
              <a:t>Free IGO data sources</a:t>
            </a:r>
          </a:p>
          <a:p>
            <a:pPr>
              <a:buFont typeface="Arial" pitchFamily="34" charset="0"/>
              <a:buChar char="•"/>
            </a:pPr>
            <a:r>
              <a:rPr lang="en-US" sz="2400" dirty="0" smtClean="0"/>
              <a:t>Social Explorer</a:t>
            </a:r>
          </a:p>
          <a:p>
            <a:pPr>
              <a:buFont typeface="Arial" pitchFamily="34" charset="0"/>
              <a:buChar char="•"/>
            </a:pPr>
            <a:r>
              <a:rPr lang="en-US" sz="2400" dirty="0" smtClean="0"/>
              <a:t>American </a:t>
            </a:r>
            <a:r>
              <a:rPr lang="en-US" sz="2400" dirty="0" err="1" smtClean="0"/>
              <a:t>FactFinder</a:t>
            </a:r>
            <a:endParaRPr lang="en-US" sz="2400" dirty="0" smtClean="0"/>
          </a:p>
          <a:p>
            <a:pPr>
              <a:buFont typeface="Arial" pitchFamily="34" charset="0"/>
              <a:buChar char="•"/>
            </a:pPr>
            <a:r>
              <a:rPr lang="en-US" sz="2400" dirty="0" smtClean="0"/>
              <a:t>National Bureau of Economic Research (NBER)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32791158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304800"/>
            <a:ext cx="8382000" cy="838200"/>
          </a:xfrm>
        </p:spPr>
        <p:txBody>
          <a:bodyPr/>
          <a:lstStyle/>
          <a:p>
            <a:r>
              <a:rPr lang="en-US" dirty="0"/>
              <a:t>Acquisitions </a:t>
            </a:r>
            <a:r>
              <a:rPr lang="en-US" dirty="0" smtClean="0"/>
              <a:t>of Interest/ Collection Improvements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524000"/>
            <a:ext cx="3810000" cy="4114800"/>
          </a:xfrm>
        </p:spPr>
        <p:txBody>
          <a:bodyPr/>
          <a:lstStyle/>
          <a:p>
            <a:pPr>
              <a:buFont typeface="Arial" pitchFamily="34" charset="0"/>
              <a:buChar char="•"/>
            </a:pPr>
            <a:r>
              <a:rPr lang="en-US" sz="2000" dirty="0" smtClean="0"/>
              <a:t>More international data; more data from Asian countries</a:t>
            </a:r>
          </a:p>
          <a:p>
            <a:pPr>
              <a:buFont typeface="Arial" pitchFamily="34" charset="0"/>
              <a:buChar char="•"/>
            </a:pPr>
            <a:r>
              <a:rPr lang="en-US" sz="2000" dirty="0" smtClean="0"/>
              <a:t>Macroeconomic data, especially financial</a:t>
            </a:r>
          </a:p>
          <a:p>
            <a:pPr>
              <a:buFont typeface="Arial" pitchFamily="34" charset="0"/>
              <a:buChar char="•"/>
            </a:pPr>
            <a:r>
              <a:rPr lang="en-US" sz="2000" dirty="0" smtClean="0"/>
              <a:t>More recent data (update series sooner)</a:t>
            </a:r>
          </a:p>
          <a:p>
            <a:pPr>
              <a:buFont typeface="Arial" pitchFamily="34" charset="0"/>
              <a:buChar char="•"/>
            </a:pPr>
            <a:r>
              <a:rPr lang="en-US" sz="2000" dirty="0" smtClean="0"/>
              <a:t>More health data</a:t>
            </a:r>
          </a:p>
          <a:p>
            <a:pPr>
              <a:buFont typeface="Arial" pitchFamily="34" charset="0"/>
              <a:buChar char="•"/>
            </a:pPr>
            <a:r>
              <a:rPr lang="en-US" sz="2000" dirty="0" smtClean="0"/>
              <a:t>LAPOP</a:t>
            </a:r>
          </a:p>
          <a:p>
            <a:pPr>
              <a:buFont typeface="Arial" pitchFamily="34" charset="0"/>
              <a:buChar char="•"/>
            </a:pPr>
            <a:r>
              <a:rPr lang="en-US" sz="2000" dirty="0" smtClean="0"/>
              <a:t>IRS </a:t>
            </a:r>
            <a:r>
              <a:rPr lang="en-US" sz="2000" dirty="0" smtClean="0"/>
              <a:t>data</a:t>
            </a:r>
          </a:p>
          <a:p>
            <a:pPr>
              <a:buFont typeface="Arial" pitchFamily="34" charset="0"/>
              <a:buChar char="•"/>
            </a:pPr>
            <a:r>
              <a:rPr lang="en-US" sz="2000" dirty="0" smtClean="0"/>
              <a:t>IMF data</a:t>
            </a:r>
            <a:endParaRPr lang="en-US" sz="2000" dirty="0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524000"/>
            <a:ext cx="3810000" cy="4800600"/>
          </a:xfrm>
        </p:spPr>
        <p:txBody>
          <a:bodyPr/>
          <a:lstStyle/>
          <a:p>
            <a:pPr>
              <a:buFont typeface="Arial" pitchFamily="34" charset="0"/>
              <a:buChar char="•"/>
            </a:pPr>
            <a:r>
              <a:rPr lang="en-US" sz="2000" dirty="0"/>
              <a:t>Environmental/global warming data</a:t>
            </a:r>
          </a:p>
          <a:p>
            <a:pPr>
              <a:buFont typeface="Arial" pitchFamily="34" charset="0"/>
              <a:buChar char="•"/>
            </a:pPr>
            <a:r>
              <a:rPr lang="en-US" sz="2000" dirty="0" smtClean="0"/>
              <a:t>Data </a:t>
            </a:r>
            <a:r>
              <a:rPr lang="en-US" sz="2000" dirty="0" smtClean="0"/>
              <a:t>on social media usage</a:t>
            </a:r>
          </a:p>
          <a:p>
            <a:pPr>
              <a:buFont typeface="Arial" pitchFamily="34" charset="0"/>
              <a:buChar char="•"/>
            </a:pPr>
            <a:r>
              <a:rPr lang="en-US" sz="2000" dirty="0" smtClean="0"/>
              <a:t>Retrofit entire collection to include SPSS, etc.</a:t>
            </a:r>
          </a:p>
          <a:p>
            <a:pPr>
              <a:buFont typeface="Arial" pitchFamily="34" charset="0"/>
              <a:buChar char="•"/>
            </a:pPr>
            <a:r>
              <a:rPr lang="en-US" sz="2000" dirty="0" smtClean="0"/>
              <a:t>GIS analysis capabilities</a:t>
            </a:r>
          </a:p>
          <a:p>
            <a:pPr>
              <a:buFont typeface="Arial" pitchFamily="34" charset="0"/>
              <a:buChar char="•"/>
            </a:pPr>
            <a:r>
              <a:rPr lang="en-US" sz="2000" dirty="0" smtClean="0"/>
              <a:t>Provide </a:t>
            </a:r>
            <a:r>
              <a:rPr lang="en-US" sz="2000" dirty="0" err="1" smtClean="0"/>
              <a:t>xls</a:t>
            </a:r>
            <a:r>
              <a:rPr lang="en-US" sz="2000" dirty="0" smtClean="0"/>
              <a:t> files to read into </a:t>
            </a:r>
            <a:r>
              <a:rPr lang="en-US" sz="2000" dirty="0" err="1" smtClean="0"/>
              <a:t>minitab</a:t>
            </a:r>
            <a:r>
              <a:rPr lang="en-US" sz="2000" dirty="0" smtClean="0"/>
              <a:t>, etc.</a:t>
            </a:r>
          </a:p>
          <a:p>
            <a:pPr>
              <a:buFont typeface="Arial" pitchFamily="34" charset="0"/>
              <a:buChar char="•"/>
            </a:pPr>
            <a:r>
              <a:rPr lang="en-US" sz="2000" dirty="0" smtClean="0"/>
              <a:t>Home mortgage data</a:t>
            </a:r>
          </a:p>
          <a:p>
            <a:pPr>
              <a:buFont typeface="Arial" pitchFamily="34" charset="0"/>
              <a:buChar char="•"/>
            </a:pPr>
            <a:r>
              <a:rPr lang="en-US" sz="2000" dirty="0" smtClean="0"/>
              <a:t>Religion data</a:t>
            </a:r>
          </a:p>
          <a:p>
            <a:pPr>
              <a:buFont typeface="Arial" pitchFamily="34" charset="0"/>
              <a:buChar char="•"/>
            </a:pPr>
            <a:r>
              <a:rPr lang="en-US" sz="2000" dirty="0" smtClean="0"/>
              <a:t>Immigration data</a:t>
            </a:r>
          </a:p>
          <a:p>
            <a:pPr>
              <a:buFont typeface="Arial" pitchFamily="34" charset="0"/>
              <a:buChar char="•"/>
            </a:pPr>
            <a:r>
              <a:rPr lang="en-US" sz="2000" dirty="0" err="1" smtClean="0"/>
              <a:t>Latinobarometer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09994840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Slide Number Placeholder 4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E1F7C630-01E5-4B1D-B0B7-E17A90DD5A60}" type="slidenum">
              <a:rPr lang="en-US" smtClean="0"/>
              <a:pPr/>
              <a:t>29</a:t>
            </a:fld>
            <a:endParaRPr lang="en-US" smtClean="0"/>
          </a:p>
        </p:txBody>
      </p:sp>
      <p:sp>
        <p:nvSpPr>
          <p:cNvPr id="34819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1447800"/>
            <a:ext cx="7696200" cy="838200"/>
          </a:xfrm>
        </p:spPr>
        <p:txBody>
          <a:bodyPr/>
          <a:lstStyle/>
          <a:p>
            <a:pPr eaLnBrk="1" hangingPunct="1"/>
            <a:r>
              <a:rPr lang="en-US" sz="3600" dirty="0" smtClean="0"/>
              <a:t>The Summer Program</a:t>
            </a:r>
          </a:p>
        </p:txBody>
      </p:sp>
    </p:spTree>
    <p:extLst>
      <p:ext uri="{BB962C8B-B14F-4D97-AF65-F5344CB8AC3E}">
        <p14:creationId xmlns:p14="http://schemas.microsoft.com/office/powerpoint/2010/main" val="263950352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28600"/>
            <a:ext cx="8229600" cy="1143000"/>
          </a:xfrm>
        </p:spPr>
        <p:txBody>
          <a:bodyPr/>
          <a:lstStyle/>
          <a:p>
            <a:r>
              <a:rPr lang="en-US" dirty="0" smtClean="0"/>
              <a:t>Summer Program Interaction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874838"/>
            <a:ext cx="4040188" cy="639762"/>
          </a:xfrm>
        </p:spPr>
        <p:txBody>
          <a:bodyPr/>
          <a:lstStyle/>
          <a:p>
            <a:pPr marL="115888" indent="-115888">
              <a:buFont typeface="Arial" pitchFamily="34" charset="0"/>
              <a:buChar char="•"/>
            </a:pPr>
            <a:r>
              <a:rPr lang="en-US" sz="1800" dirty="0" smtClean="0"/>
              <a:t>Most ORs have some familiarity with the Summer Program</a:t>
            </a:r>
            <a:endParaRPr lang="en-US" sz="1800" dirty="0"/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847103176"/>
              </p:ext>
            </p:extLst>
          </p:nvPr>
        </p:nvGraphicFramePr>
        <p:xfrm>
          <a:off x="685800" y="2514600"/>
          <a:ext cx="3657600" cy="36925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4" name="Text Placeholder 13"/>
          <p:cNvSpPr>
            <a:spLocks noGrp="1"/>
          </p:cNvSpPr>
          <p:nvPr>
            <p:ph type="body" sz="quarter" idx="3"/>
          </p:nvPr>
        </p:nvSpPr>
        <p:spPr>
          <a:xfrm>
            <a:off x="4645025" y="1874838"/>
            <a:ext cx="4041775" cy="639762"/>
          </a:xfrm>
        </p:spPr>
        <p:txBody>
          <a:bodyPr/>
          <a:lstStyle/>
          <a:p>
            <a:pPr marL="115888" indent="-115888">
              <a:buFont typeface="Arial" pitchFamily="34" charset="0"/>
              <a:buChar char="•"/>
            </a:pPr>
            <a:r>
              <a:rPr lang="en-US" sz="1800" dirty="0" smtClean="0"/>
              <a:t>One in five ORs indicate they send participants regularly (every 2 years)</a:t>
            </a:r>
            <a:endParaRPr lang="en-US" sz="1800" dirty="0"/>
          </a:p>
        </p:txBody>
      </p:sp>
      <p:graphicFrame>
        <p:nvGraphicFramePr>
          <p:cNvPr id="16" name="Content Placeholder 15"/>
          <p:cNvGraphicFramePr>
            <a:graphicFrameLocks noGrp="1"/>
          </p:cNvGraphicFramePr>
          <p:nvPr>
            <p:ph sz="quarter" idx="4"/>
            <p:extLst>
              <p:ext uri="{D42A27DB-BD31-4B8C-83A1-F6EECF244321}">
                <p14:modId xmlns:p14="http://schemas.microsoft.com/office/powerpoint/2010/main" val="899767545"/>
              </p:ext>
            </p:extLst>
          </p:nvPr>
        </p:nvGraphicFramePr>
        <p:xfrm>
          <a:off x="4724400" y="2743200"/>
          <a:ext cx="4041775" cy="39512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98699830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3050"/>
            <a:ext cx="7391400" cy="1162050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r>
              <a:rPr lang="en-US" sz="3600" dirty="0"/>
              <a:t>Summer Program </a:t>
            </a:r>
            <a:r>
              <a:rPr lang="en-US" sz="3600" dirty="0" smtClean="0"/>
              <a:t>Impact</a:t>
            </a:r>
            <a:endParaRPr lang="en-US" sz="3600" dirty="0"/>
          </a:p>
        </p:txBody>
      </p:sp>
      <p:graphicFrame>
        <p:nvGraphicFramePr>
          <p:cNvPr id="16" name="Content Placeholder 1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77041747"/>
              </p:ext>
            </p:extLst>
          </p:nvPr>
        </p:nvGraphicFramePr>
        <p:xfrm>
          <a:off x="3276600" y="1447800"/>
          <a:ext cx="5410200" cy="46783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3" name="Text Placeholder 12"/>
          <p:cNvSpPr>
            <a:spLocks noGrp="1"/>
          </p:cNvSpPr>
          <p:nvPr>
            <p:ph type="body" sz="half" idx="2"/>
          </p:nvPr>
        </p:nvSpPr>
        <p:spPr>
          <a:xfrm>
            <a:off x="609600" y="1981201"/>
            <a:ext cx="3008313" cy="3048000"/>
          </a:xfrm>
        </p:spPr>
        <p:txBody>
          <a:bodyPr/>
          <a:lstStyle/>
          <a:p>
            <a:pPr marL="115888" indent="-115888">
              <a:buFont typeface="Arial" pitchFamily="34" charset="0"/>
              <a:buChar char="•"/>
            </a:pPr>
            <a:r>
              <a:rPr lang="en-US" sz="1800" dirty="0" smtClean="0"/>
              <a:t>About one in five ORs (22%) report that the Summer Program is a significant factor, among others, for membership in ICPSR</a:t>
            </a:r>
          </a:p>
          <a:p>
            <a:pPr marL="115888" indent="-115888">
              <a:buFont typeface="Arial" pitchFamily="34" charset="0"/>
              <a:buChar char="•"/>
            </a:pPr>
            <a:r>
              <a:rPr lang="en-US" sz="1800" dirty="0" smtClean="0"/>
              <a:t>Two percent indicate it is a primary reason for membership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13676787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3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304800"/>
            <a:ext cx="8458200" cy="838200"/>
          </a:xfrm>
        </p:spPr>
        <p:txBody>
          <a:bodyPr/>
          <a:lstStyle/>
          <a:p>
            <a:pPr eaLnBrk="1" hangingPunct="1"/>
            <a:r>
              <a:rPr lang="en-US" sz="3600" dirty="0" smtClean="0"/>
              <a:t>Learning about the Summer Program</a:t>
            </a:r>
          </a:p>
        </p:txBody>
      </p:sp>
      <p:sp>
        <p:nvSpPr>
          <p:cNvPr id="35844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685800" y="1295400"/>
            <a:ext cx="7696200" cy="1676400"/>
          </a:xfrm>
        </p:spPr>
        <p:txBody>
          <a:bodyPr/>
          <a:lstStyle/>
          <a:p>
            <a:pPr marL="231775" indent="-231775" eaLnBrk="1" hangingPunct="1">
              <a:buFontTx/>
              <a:buChar char="•"/>
            </a:pPr>
            <a:r>
              <a:rPr lang="en-US" sz="2000" dirty="0" smtClean="0"/>
              <a:t>ORs are a significant source of information for potential Summer Program participants</a:t>
            </a:r>
          </a:p>
          <a:p>
            <a:pPr marL="231775" indent="-231775" eaLnBrk="1" hangingPunct="1">
              <a:buFontTx/>
              <a:buChar char="•"/>
            </a:pPr>
            <a:r>
              <a:rPr lang="en-US" sz="2000" dirty="0" smtClean="0"/>
              <a:t>Faculty also play a large role in creating awareness as </a:t>
            </a:r>
            <a:r>
              <a:rPr lang="en-US" sz="2000" dirty="0" smtClean="0"/>
              <a:t>do potential participants</a:t>
            </a:r>
            <a:endParaRPr lang="en-US" sz="2000" dirty="0" smtClean="0"/>
          </a:p>
        </p:txBody>
      </p:sp>
      <p:graphicFrame>
        <p:nvGraphicFramePr>
          <p:cNvPr id="9" name="Content Placeholder 8"/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188523824"/>
              </p:ext>
            </p:extLst>
          </p:nvPr>
        </p:nvGraphicFramePr>
        <p:xfrm>
          <a:off x="838200" y="2819400"/>
          <a:ext cx="7391400" cy="3090863"/>
        </p:xfrm>
        <a:graphic>
          <a:graphicData uri="http://schemas.openxmlformats.org/drawingml/2006/table">
            <a:tbl>
              <a:tblPr/>
              <a:tblGrid>
                <a:gridCol w="6629400"/>
                <a:gridCol w="762000"/>
              </a:tblGrid>
              <a:tr h="4000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Helvetica" pitchFamily="34" charset="0"/>
                        </a:rPr>
                        <a:t>Information Source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Helvetica" pitchFamily="34" charset="0"/>
                        </a:rPr>
                        <a:t>%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Helvetica" pitchFamily="34" charset="0"/>
                        </a:rPr>
                        <a:t>I, as OR, initiate discussions w/ potential students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DCDD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Helvetica" pitchFamily="34" charset="0"/>
                        </a:rPr>
                        <a:t>50%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DCDDE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Helvetica" pitchFamily="34" charset="0"/>
                        </a:rPr>
                        <a:t>Advisors/faculty seek out potential students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E8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Helvetica" pitchFamily="34" charset="0"/>
                        </a:rPr>
                        <a:t>20%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E8EF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Helvetica" pitchFamily="34" charset="0"/>
                        </a:rPr>
                        <a:t>Individuals initiate discussions with me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DCDD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Helvetica" pitchFamily="34" charset="0"/>
                        </a:rPr>
                        <a:t>15%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DCDDE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Helvetica" pitchFamily="34" charset="0"/>
                        </a:rPr>
                        <a:t>Individuals initiate discussions with their advisors/faculty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E8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Helvetica" pitchFamily="34" charset="0"/>
                        </a:rPr>
                        <a:t>14%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E8EF"/>
                    </a:solidFill>
                  </a:tcPr>
                </a:tc>
              </a:tr>
              <a:tr h="6905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Helvetica" pitchFamily="34" charset="0"/>
                        </a:rPr>
                        <a:t>Individuals gather their own information w/ little help from me or others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DCDD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Helvetica" pitchFamily="34" charset="0"/>
                        </a:rPr>
                        <a:t>12%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DCDDE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Helvetica" pitchFamily="34" charset="0"/>
                        </a:rPr>
                        <a:t>Individuals are generally unaware of the Summer Program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E8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Helvetica" pitchFamily="34" charset="0"/>
                        </a:rPr>
                        <a:t>23%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E8E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1499349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7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457200"/>
            <a:ext cx="7696200" cy="838200"/>
          </a:xfrm>
        </p:spPr>
        <p:txBody>
          <a:bodyPr/>
          <a:lstStyle/>
          <a:p>
            <a:pPr eaLnBrk="1" hangingPunct="1"/>
            <a:r>
              <a:rPr lang="en-US" dirty="0" smtClean="0"/>
              <a:t>Summer Program Assessment</a:t>
            </a:r>
          </a:p>
        </p:txBody>
      </p:sp>
      <p:sp>
        <p:nvSpPr>
          <p:cNvPr id="36868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676400"/>
            <a:ext cx="7848600" cy="1295400"/>
          </a:xfrm>
        </p:spPr>
        <p:txBody>
          <a:bodyPr/>
          <a:lstStyle/>
          <a:p>
            <a:pPr marL="228600" indent="-228600" eaLnBrk="1" hangingPunct="1"/>
            <a:r>
              <a:rPr lang="en-US" sz="2000" dirty="0" smtClean="0"/>
              <a:t>About one in three ORs from institutions sending students to the Summer Program </a:t>
            </a:r>
            <a:r>
              <a:rPr lang="en-US" sz="2000" dirty="0" smtClean="0"/>
              <a:t>(</a:t>
            </a:r>
            <a:r>
              <a:rPr lang="en-US" sz="2000" dirty="0" smtClean="0"/>
              <a:t>32%) report that their institution makes no effort</a:t>
            </a:r>
            <a:r>
              <a:rPr lang="en-US" sz="2000" dirty="0"/>
              <a:t> </a:t>
            </a:r>
            <a:r>
              <a:rPr lang="en-US" sz="2000" dirty="0" smtClean="0"/>
              <a:t>to assess what participants learn.</a:t>
            </a:r>
          </a:p>
          <a:p>
            <a:pPr marL="228600" indent="-228600" eaLnBrk="1" hangingPunct="1"/>
            <a:r>
              <a:rPr lang="en-US" sz="2000" dirty="0" smtClean="0"/>
              <a:t>Across the 24% that put forth some type of assessment or follow-up, efforts are largely informal and qualitative:</a:t>
            </a:r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 bwMode="auto">
          <a:xfrm>
            <a:off x="609600" y="3657600"/>
            <a:ext cx="7696200" cy="167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688975" lvl="1" indent="-231775">
              <a:spcBef>
                <a:spcPts val="1200"/>
              </a:spcBef>
              <a:buFont typeface="Arial" pitchFamily="34" charset="0"/>
              <a:buChar char="•"/>
              <a:defRPr/>
            </a:pPr>
            <a:r>
              <a:rPr lang="en-US" sz="2000" kern="0" dirty="0" smtClean="0">
                <a:latin typeface="+mn-lt"/>
              </a:rPr>
              <a:t>ORs ask participants for testimonials</a:t>
            </a:r>
          </a:p>
          <a:p>
            <a:pPr marL="688975" lvl="1" indent="-231775">
              <a:spcBef>
                <a:spcPct val="20000"/>
              </a:spcBef>
              <a:buFont typeface="Arial" pitchFamily="34" charset="0"/>
              <a:buChar char="•"/>
              <a:defRPr/>
            </a:pPr>
            <a:r>
              <a:rPr lang="en-US" sz="2000" kern="0" dirty="0" smtClean="0">
                <a:latin typeface="+mn-lt"/>
              </a:rPr>
              <a:t>Participants are asked to take part in research groups who are updating their skills</a:t>
            </a:r>
          </a:p>
          <a:p>
            <a:pPr marL="688975" lvl="1" indent="-231775">
              <a:spcBef>
                <a:spcPct val="20000"/>
              </a:spcBef>
              <a:buFont typeface="Arial" pitchFamily="34" charset="0"/>
              <a:buChar char="•"/>
              <a:defRPr/>
            </a:pPr>
            <a:r>
              <a:rPr lang="en-US" sz="2000" kern="0" dirty="0" smtClean="0">
                <a:latin typeface="+mn-lt"/>
              </a:rPr>
              <a:t>Students asked to give a presentation about their experience</a:t>
            </a:r>
            <a:endParaRPr lang="en-US" sz="2000" kern="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72473774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3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381000"/>
            <a:ext cx="8839200" cy="838200"/>
          </a:xfrm>
        </p:spPr>
        <p:txBody>
          <a:bodyPr/>
          <a:lstStyle/>
          <a:p>
            <a:pPr eaLnBrk="1" hangingPunct="1"/>
            <a:r>
              <a:rPr lang="en-US" dirty="0" smtClean="0"/>
              <a:t>Membership Overview </a:t>
            </a:r>
            <a:r>
              <a:rPr lang="en-US" sz="2800" dirty="0" smtClean="0"/>
              <a:t>– July 2012</a:t>
            </a:r>
          </a:p>
        </p:txBody>
      </p:sp>
      <p:sp>
        <p:nvSpPr>
          <p:cNvPr id="35844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304800" y="1600200"/>
            <a:ext cx="3962400" cy="1676400"/>
          </a:xfrm>
        </p:spPr>
        <p:txBody>
          <a:bodyPr/>
          <a:lstStyle/>
          <a:p>
            <a:pPr marL="231775" indent="-231775" eaLnBrk="1" hangingPunct="1">
              <a:buFontTx/>
              <a:buChar char="•"/>
            </a:pPr>
            <a:r>
              <a:rPr lang="en-US" sz="1800" dirty="0" smtClean="0"/>
              <a:t>Membership in ICPSR consists of 715 consortium members</a:t>
            </a:r>
          </a:p>
          <a:p>
            <a:pPr marL="231775" indent="-231775" eaLnBrk="1" hangingPunct="1">
              <a:buFontTx/>
              <a:buChar char="•"/>
            </a:pPr>
            <a:r>
              <a:rPr lang="en-US" sz="1800" dirty="0" smtClean="0"/>
              <a:t>US academic member institutions are represented in every US state except West Virginia and Hawaii for a total of 394 US universities and colleges</a:t>
            </a:r>
          </a:p>
          <a:p>
            <a:pPr marL="231775" indent="-231775" eaLnBrk="1" hangingPunct="1">
              <a:buFontTx/>
              <a:buChar char="•"/>
            </a:pPr>
            <a:r>
              <a:rPr lang="en-US" sz="1800" dirty="0" smtClean="0"/>
              <a:t>56% of institutions are affiliated as part of 46 Federation or National memberships</a:t>
            </a:r>
          </a:p>
        </p:txBody>
      </p:sp>
      <p:graphicFrame>
        <p:nvGraphicFramePr>
          <p:cNvPr id="9" name="Content Placeholder 8"/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491060605"/>
              </p:ext>
            </p:extLst>
          </p:nvPr>
        </p:nvGraphicFramePr>
        <p:xfrm>
          <a:off x="4572000" y="1691640"/>
          <a:ext cx="4267200" cy="3566160"/>
        </p:xfrm>
        <a:graphic>
          <a:graphicData uri="http://schemas.openxmlformats.org/drawingml/2006/table">
            <a:tbl>
              <a:tblPr/>
              <a:tblGrid>
                <a:gridCol w="2571262"/>
                <a:gridCol w="1695938"/>
              </a:tblGrid>
              <a:tr h="30998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Helvetica" pitchFamily="34" charset="0"/>
                        </a:rPr>
                        <a:t>Institution Type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Helvetica" pitchFamily="34" charset="0"/>
                        </a:rPr>
                        <a:t>Counts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</a:tr>
              <a:tr h="30998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Helvetica" pitchFamily="34" charset="0"/>
                        </a:rPr>
                        <a:t>Extensives</a:t>
                      </a:r>
                      <a:endParaRPr kumimoji="0" lang="en-US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Helvetic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DCDD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Helvetica" pitchFamily="34" charset="0"/>
                        </a:rPr>
                        <a:t>137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DCDD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Helvetica" pitchFamily="34" charset="0"/>
                        </a:rPr>
                        <a:t>Intensives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E8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Helvetica" pitchFamily="34" charset="0"/>
                        </a:rPr>
                        <a:t>45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E8EF"/>
                    </a:solidFill>
                  </a:tcPr>
                </a:tc>
              </a:tr>
              <a:tr h="30998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Helvetica" pitchFamily="34" charset="0"/>
                        </a:rPr>
                        <a:t>Masters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DCDD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Helvetica" pitchFamily="34" charset="0"/>
                        </a:rPr>
                        <a:t>90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DCDDE"/>
                    </a:solidFill>
                  </a:tcPr>
                </a:tc>
              </a:tr>
              <a:tr h="30998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Helvetica" pitchFamily="34" charset="0"/>
                        </a:rPr>
                        <a:t>Bachelors &amp; Specialized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E8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Helvetica" pitchFamily="34" charset="0"/>
                        </a:rPr>
                        <a:t>116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E8EF"/>
                    </a:solidFill>
                  </a:tcPr>
                </a:tc>
              </a:tr>
              <a:tr h="33950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Helvetica" pitchFamily="34" charset="0"/>
                        </a:rPr>
                        <a:t>Community College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DCDD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Helvetica" pitchFamily="34" charset="0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DCDDE"/>
                    </a:solidFill>
                  </a:tcPr>
                </a:tc>
              </a:tr>
              <a:tr h="30998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Helvetica" pitchFamily="34" charset="0"/>
                        </a:rPr>
                        <a:t>Associate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E8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Helvetica" pitchFamily="34" charset="0"/>
                        </a:rPr>
                        <a:t>26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E8EF"/>
                    </a:solidFill>
                  </a:tcPr>
                </a:tc>
              </a:tr>
              <a:tr h="30998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Helvetica" pitchFamily="34" charset="0"/>
                        </a:rPr>
                        <a:t>Canadian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E8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Helvetica" pitchFamily="34" charset="0"/>
                        </a:rPr>
                        <a:t>35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E8EF"/>
                    </a:solidFill>
                  </a:tcPr>
                </a:tc>
              </a:tr>
              <a:tr h="30998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Helvetica" pitchFamily="34" charset="0"/>
                          <a:ea typeface="+mn-ea"/>
                          <a:cs typeface="+mn-cs"/>
                        </a:rPr>
                        <a:t>Non-North American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E8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Helvetica" pitchFamily="34" charset="0"/>
                          <a:ea typeface="+mn-ea"/>
                          <a:cs typeface="+mn-cs"/>
                        </a:rPr>
                        <a:t>260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E8E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8172203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ICPSR-50th-d2">
  <a:themeElements>
    <a:clrScheme name="ICPSR_blue_text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ICPSR_blue_text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Times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Times" charset="0"/>
          </a:defRPr>
        </a:defPPr>
      </a:lstStyle>
    </a:lnDef>
  </a:objectDefaults>
  <a:extraClrSchemeLst>
    <a:extraClrScheme>
      <a:clrScheme name="ICPSR_blue_text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CPSR_blue_text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CPSR_blue_text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CPSR_blue_text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CPSR_blue_text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CPSR_blue_text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ICPSR_blue_text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ICPSR_blue_text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ICPSR_blue_text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ICPSR_blue_text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ICPSR_blue_text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ICPSR_blue_text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ICPSR-50th-d2</Template>
  <TotalTime>790</TotalTime>
  <Words>2112</Words>
  <Application>Microsoft Macintosh PowerPoint</Application>
  <PresentationFormat>On-screen Show (4:3)</PresentationFormat>
  <Paragraphs>242</Paragraphs>
  <Slides>34</Slides>
  <Notes>13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6" baseType="lpstr">
      <vt:lpstr>ICPSR-50th-d2</vt:lpstr>
      <vt:lpstr>Worksheet</vt:lpstr>
      <vt:lpstr>2012 ICPSR Membership Survey</vt:lpstr>
      <vt:lpstr>About the Research Project</vt:lpstr>
      <vt:lpstr>Report Content</vt:lpstr>
      <vt:lpstr>Key Findings &amp; Implications</vt:lpstr>
      <vt:lpstr>Key Findings &amp; Implications</vt:lpstr>
      <vt:lpstr>Key Findings &amp; Implications</vt:lpstr>
      <vt:lpstr>Key Findings &amp; Implications</vt:lpstr>
      <vt:lpstr>Key Findings &amp; Implications</vt:lpstr>
      <vt:lpstr>OR Suggested Improvements</vt:lpstr>
      <vt:lpstr>Profiles – Official Representatives</vt:lpstr>
      <vt:lpstr>OR Length of Service</vt:lpstr>
      <vt:lpstr>Where ORs Work</vt:lpstr>
      <vt:lpstr>Changes in Where ORs Work</vt:lpstr>
      <vt:lpstr>OR Educational Focus</vt:lpstr>
      <vt:lpstr>The OR Meeting</vt:lpstr>
      <vt:lpstr>OR Meeting Attendance</vt:lpstr>
      <vt:lpstr>Attendance varies by Carnegie Class</vt:lpstr>
      <vt:lpstr>OR Meeting: Future Attendance</vt:lpstr>
      <vt:lpstr>Preferred Meeting Content </vt:lpstr>
      <vt:lpstr>OR Suggestions to Improve OR Meeting</vt:lpstr>
      <vt:lpstr>OR Product Awareness/Use of and Satisfaction with ICPSR Resources</vt:lpstr>
      <vt:lpstr>Product Awareness &amp; Use</vt:lpstr>
      <vt:lpstr>OR Interaction with ICPSR Data</vt:lpstr>
      <vt:lpstr>Interest Level in Potential ICPSR Data Products</vt:lpstr>
      <vt:lpstr>Satisfaction</vt:lpstr>
      <vt:lpstr>Use of Other Data Sources</vt:lpstr>
      <vt:lpstr>Other Data Sources for ORs</vt:lpstr>
      <vt:lpstr>Acquisitions of Interest/ Collection Improvements</vt:lpstr>
      <vt:lpstr>The Summer Program</vt:lpstr>
      <vt:lpstr>Summer Program Interaction</vt:lpstr>
      <vt:lpstr>Summer Program Impact</vt:lpstr>
      <vt:lpstr>Learning about the Summer Program</vt:lpstr>
      <vt:lpstr>Summer Program Assessment</vt:lpstr>
      <vt:lpstr>Membership Overview – July 2012</vt:lpstr>
    </vt:vector>
  </TitlesOfParts>
  <Company>University of Michigan</Company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lindamd</dc:creator>
  <cp:lastModifiedBy>Dan Meisler</cp:lastModifiedBy>
  <cp:revision>80</cp:revision>
  <cp:lastPrinted>2012-07-12T18:45:24Z</cp:lastPrinted>
  <dcterms:created xsi:type="dcterms:W3CDTF">2011-09-09T20:37:52Z</dcterms:created>
  <dcterms:modified xsi:type="dcterms:W3CDTF">2012-07-25T17:39:21Z</dcterms:modified>
</cp:coreProperties>
</file>