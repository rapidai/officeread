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Default Extension="vml" ContentType="application/vnd.openxmlformats-officedocument.vmlDrawing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12" r:id="rId1"/>
  </p:sldMasterIdLst>
  <p:notesMasterIdLst>
    <p:notesMasterId r:id="rId22"/>
  </p:notesMasterIdLst>
  <p:sldIdLst>
    <p:sldId id="256" r:id="rId2"/>
    <p:sldId id="324" r:id="rId3"/>
    <p:sldId id="314" r:id="rId4"/>
    <p:sldId id="325" r:id="rId5"/>
    <p:sldId id="312" r:id="rId6"/>
    <p:sldId id="310" r:id="rId7"/>
    <p:sldId id="319" r:id="rId8"/>
    <p:sldId id="316" r:id="rId9"/>
    <p:sldId id="317" r:id="rId10"/>
    <p:sldId id="315" r:id="rId11"/>
    <p:sldId id="318" r:id="rId12"/>
    <p:sldId id="283" r:id="rId13"/>
    <p:sldId id="277" r:id="rId14"/>
    <p:sldId id="278" r:id="rId15"/>
    <p:sldId id="289" r:id="rId16"/>
    <p:sldId id="259" r:id="rId17"/>
    <p:sldId id="321" r:id="rId18"/>
    <p:sldId id="323" r:id="rId19"/>
    <p:sldId id="266" r:id="rId20"/>
    <p:sldId id="32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56" autoAdjust="0"/>
    <p:restoredTop sz="96131" autoAdjust="0"/>
  </p:normalViewPr>
  <p:slideViewPr>
    <p:cSldViewPr>
      <p:cViewPr>
        <p:scale>
          <a:sx n="66" d="100"/>
          <a:sy n="66" d="100"/>
        </p:scale>
        <p:origin x="-852" y="-4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596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9C70E8-25E4-4BC1-9B80-4928B0C26D2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5920C3-14FE-4065-A9D0-9929237D8C42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Validate &amp; Quality Check data</a:t>
          </a:r>
          <a:endParaRPr lang="en-US" sz="2400" dirty="0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141F1B43-1D33-42F9-AD46-A52AF946F203}" type="parTrans" cxnId="{5730AE9E-25C9-44A1-A4AA-D43BD470D87A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AF050416-D376-4B9E-9A39-3B644D215F39}" type="sibTrans" cxnId="{5730AE9E-25C9-44A1-A4AA-D43BD470D87A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6C99D068-7BA5-4AD0-B2EC-B0422FFCBA82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Perform Analysis</a:t>
          </a:r>
          <a:endParaRPr lang="en-US" sz="2400" dirty="0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40585390-4C12-47F9-B282-135B476B7687}" type="parTrans" cxnId="{8C6360F6-8777-49C5-8ACA-AE1E106DCEC7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44B89520-C087-4D44-8C94-9751CCCCD573}" type="sibTrans" cxnId="{8C6360F6-8777-49C5-8ACA-AE1E106DCEC7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0B4E9468-79DC-40FF-B452-7F4B7000553A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Identify Data Issues &amp; Retrieve Missing Data</a:t>
          </a:r>
          <a:endParaRPr lang="en-US" sz="2400" dirty="0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4E0BEBB3-A8FE-4249-818D-0090046D0D84}" type="parTrans" cxnId="{7AF62D94-5B7D-4D80-BB5C-C47E690E0DB9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DD8A0B5E-733D-479F-AA2A-0DCF085142EA}" type="sibTrans" cxnId="{7AF62D94-5B7D-4D80-BB5C-C47E690E0DB9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5F20A0FD-CEAB-4CE1-95E1-854F1EBC905F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Retrieve Data from Source</a:t>
          </a:r>
          <a:endParaRPr lang="en-US" sz="2400" dirty="0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C701E334-C768-4521-A585-7863C8FA1F9E}" type="parTrans" cxnId="{EC45E9B5-623B-439D-951D-AD65F73B0625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88669AC7-9B2E-4C31-9FB5-20AFC7427116}" type="sibTrans" cxnId="{EC45E9B5-623B-439D-951D-AD65F73B0625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A2335280-3A41-4AC7-BFDA-A919A8DDCE48}" type="pres">
      <dgm:prSet presAssocID="{1F9C70E8-25E4-4BC1-9B80-4928B0C26D26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CB0D50-441B-44B1-95E5-E23216F98E93}" type="pres">
      <dgm:prSet presAssocID="{915920C3-14FE-4065-A9D0-9929237D8C42}" presName="node" presStyleLbl="node1" presStyleIdx="0" presStyleCnt="4" custScaleX="159404" custScaleY="154622" custRadScaleRad="86887" custRadScaleInc="-98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3C28BB-60C2-4A62-BB82-AE8545F24C7D}" type="pres">
      <dgm:prSet presAssocID="{AF050416-D376-4B9E-9A39-3B644D215F39}" presName="sibTrans" presStyleLbl="sibTrans2D1" presStyleIdx="0" presStyleCnt="4"/>
      <dgm:spPr/>
      <dgm:t>
        <a:bodyPr/>
        <a:lstStyle/>
        <a:p>
          <a:endParaRPr lang="en-US"/>
        </a:p>
      </dgm:t>
    </dgm:pt>
    <dgm:pt modelId="{E368E5A3-1662-4770-95E4-C5A781773243}" type="pres">
      <dgm:prSet presAssocID="{AF050416-D376-4B9E-9A39-3B644D215F39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7EE06BAF-E9E4-4E66-9127-19EC183165C8}" type="pres">
      <dgm:prSet presAssocID="{6C99D068-7BA5-4AD0-B2EC-B0422FFCBA82}" presName="node" presStyleLbl="node1" presStyleIdx="1" presStyleCnt="4" custScaleX="159404" custScaleY="154622" custRadScaleRad="142382" custRadScaleInc="139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261B63-53B3-4453-AF4B-C9E0833469CE}" type="pres">
      <dgm:prSet presAssocID="{44B89520-C087-4D44-8C94-9751CCCCD573}" presName="sibTrans" presStyleLbl="sibTrans2D1" presStyleIdx="1" presStyleCnt="4"/>
      <dgm:spPr/>
      <dgm:t>
        <a:bodyPr/>
        <a:lstStyle/>
        <a:p>
          <a:endParaRPr lang="en-US"/>
        </a:p>
      </dgm:t>
    </dgm:pt>
    <dgm:pt modelId="{88EA4047-9E2B-422C-B354-F3C8A5037A1F}" type="pres">
      <dgm:prSet presAssocID="{44B89520-C087-4D44-8C94-9751CCCCD573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054B76BC-31B7-42AD-BBF7-BF0591CC4521}" type="pres">
      <dgm:prSet presAssocID="{0B4E9468-79DC-40FF-B452-7F4B7000553A}" presName="node" presStyleLbl="node1" presStyleIdx="2" presStyleCnt="4" custScaleX="155289" custScaleY="154622" custRadScaleRad="98086" custRadScaleInc="153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500FFE-465E-4993-8C99-7A2E6B8D6C80}" type="pres">
      <dgm:prSet presAssocID="{DD8A0B5E-733D-479F-AA2A-0DCF085142EA}" presName="sibTrans" presStyleLbl="sibTrans2D1" presStyleIdx="2" presStyleCnt="4"/>
      <dgm:spPr/>
      <dgm:t>
        <a:bodyPr/>
        <a:lstStyle/>
        <a:p>
          <a:endParaRPr lang="en-US"/>
        </a:p>
      </dgm:t>
    </dgm:pt>
    <dgm:pt modelId="{A1185DE7-9B85-46DD-A1DF-8F8E3A2C17EF}" type="pres">
      <dgm:prSet presAssocID="{DD8A0B5E-733D-479F-AA2A-0DCF085142EA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AA0343BA-4879-45BC-B58B-A0D16311458F}" type="pres">
      <dgm:prSet presAssocID="{5F20A0FD-CEAB-4CE1-95E1-854F1EBC905F}" presName="node" presStyleLbl="node1" presStyleIdx="3" presStyleCnt="4" custScaleX="159404" custScaleY="154622" custRadScaleRad="154996" custRadScaleInc="39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C0BB26-EA08-46DB-809C-F11CEBC9FA5F}" type="pres">
      <dgm:prSet presAssocID="{88669AC7-9B2E-4C31-9FB5-20AFC7427116}" presName="sibTrans" presStyleLbl="sibTrans2D1" presStyleIdx="3" presStyleCnt="4"/>
      <dgm:spPr/>
      <dgm:t>
        <a:bodyPr/>
        <a:lstStyle/>
        <a:p>
          <a:endParaRPr lang="en-US"/>
        </a:p>
      </dgm:t>
    </dgm:pt>
    <dgm:pt modelId="{4283DD76-44A9-4F80-B003-97D06FCAD54E}" type="pres">
      <dgm:prSet presAssocID="{88669AC7-9B2E-4C31-9FB5-20AFC7427116}" presName="connectorText" presStyleLbl="sibTrans2D1" presStyleIdx="3" presStyleCnt="4"/>
      <dgm:spPr/>
      <dgm:t>
        <a:bodyPr/>
        <a:lstStyle/>
        <a:p>
          <a:endParaRPr lang="en-US"/>
        </a:p>
      </dgm:t>
    </dgm:pt>
  </dgm:ptLst>
  <dgm:cxnLst>
    <dgm:cxn modelId="{F410F4AF-6C80-4F3F-BC83-51AD082FF0E3}" type="presOf" srcId="{88669AC7-9B2E-4C31-9FB5-20AFC7427116}" destId="{4283DD76-44A9-4F80-B003-97D06FCAD54E}" srcOrd="1" destOrd="0" presId="urn:microsoft.com/office/officeart/2005/8/layout/cycle2"/>
    <dgm:cxn modelId="{6707DA6B-13C4-43BC-94DD-988D3E5AB053}" type="presOf" srcId="{0B4E9468-79DC-40FF-B452-7F4B7000553A}" destId="{054B76BC-31B7-42AD-BBF7-BF0591CC4521}" srcOrd="0" destOrd="0" presId="urn:microsoft.com/office/officeart/2005/8/layout/cycle2"/>
    <dgm:cxn modelId="{7AF62D94-5B7D-4D80-BB5C-C47E690E0DB9}" srcId="{1F9C70E8-25E4-4BC1-9B80-4928B0C26D26}" destId="{0B4E9468-79DC-40FF-B452-7F4B7000553A}" srcOrd="2" destOrd="0" parTransId="{4E0BEBB3-A8FE-4249-818D-0090046D0D84}" sibTransId="{DD8A0B5E-733D-479F-AA2A-0DCF085142EA}"/>
    <dgm:cxn modelId="{35CB6000-9E78-402A-AFA7-A55820C9031A}" type="presOf" srcId="{DD8A0B5E-733D-479F-AA2A-0DCF085142EA}" destId="{4F500FFE-465E-4993-8C99-7A2E6B8D6C80}" srcOrd="0" destOrd="0" presId="urn:microsoft.com/office/officeart/2005/8/layout/cycle2"/>
    <dgm:cxn modelId="{D25C1E6C-3BF5-4883-833B-F4CD61726335}" type="presOf" srcId="{AF050416-D376-4B9E-9A39-3B644D215F39}" destId="{E368E5A3-1662-4770-95E4-C5A781773243}" srcOrd="1" destOrd="0" presId="urn:microsoft.com/office/officeart/2005/8/layout/cycle2"/>
    <dgm:cxn modelId="{863FC55E-7863-4CC2-B05D-18949F1AAF1F}" type="presOf" srcId="{44B89520-C087-4D44-8C94-9751CCCCD573}" destId="{88EA4047-9E2B-422C-B354-F3C8A5037A1F}" srcOrd="1" destOrd="0" presId="urn:microsoft.com/office/officeart/2005/8/layout/cycle2"/>
    <dgm:cxn modelId="{5730AE9E-25C9-44A1-A4AA-D43BD470D87A}" srcId="{1F9C70E8-25E4-4BC1-9B80-4928B0C26D26}" destId="{915920C3-14FE-4065-A9D0-9929237D8C42}" srcOrd="0" destOrd="0" parTransId="{141F1B43-1D33-42F9-AD46-A52AF946F203}" sibTransId="{AF050416-D376-4B9E-9A39-3B644D215F39}"/>
    <dgm:cxn modelId="{60A9018E-7831-4884-9C31-974F42F6FA37}" type="presOf" srcId="{44B89520-C087-4D44-8C94-9751CCCCD573}" destId="{81261B63-53B3-4453-AF4B-C9E0833469CE}" srcOrd="0" destOrd="0" presId="urn:microsoft.com/office/officeart/2005/8/layout/cycle2"/>
    <dgm:cxn modelId="{D526E99E-3E73-4FA6-B1ED-C9C87EAEC1A7}" type="presOf" srcId="{915920C3-14FE-4065-A9D0-9929237D8C42}" destId="{46CB0D50-441B-44B1-95E5-E23216F98E93}" srcOrd="0" destOrd="0" presId="urn:microsoft.com/office/officeart/2005/8/layout/cycle2"/>
    <dgm:cxn modelId="{8C6360F6-8777-49C5-8ACA-AE1E106DCEC7}" srcId="{1F9C70E8-25E4-4BC1-9B80-4928B0C26D26}" destId="{6C99D068-7BA5-4AD0-B2EC-B0422FFCBA82}" srcOrd="1" destOrd="0" parTransId="{40585390-4C12-47F9-B282-135B476B7687}" sibTransId="{44B89520-C087-4D44-8C94-9751CCCCD573}"/>
    <dgm:cxn modelId="{03A0E602-8900-4302-9E65-48F194541768}" type="presOf" srcId="{AF050416-D376-4B9E-9A39-3B644D215F39}" destId="{AA3C28BB-60C2-4A62-BB82-AE8545F24C7D}" srcOrd="0" destOrd="0" presId="urn:microsoft.com/office/officeart/2005/8/layout/cycle2"/>
    <dgm:cxn modelId="{18F192C7-7B45-40D6-AFF3-8826697FED87}" type="presOf" srcId="{88669AC7-9B2E-4C31-9FB5-20AFC7427116}" destId="{41C0BB26-EA08-46DB-809C-F11CEBC9FA5F}" srcOrd="0" destOrd="0" presId="urn:microsoft.com/office/officeart/2005/8/layout/cycle2"/>
    <dgm:cxn modelId="{800D9261-F9E8-4E26-9EB0-D554B0487FF2}" type="presOf" srcId="{DD8A0B5E-733D-479F-AA2A-0DCF085142EA}" destId="{A1185DE7-9B85-46DD-A1DF-8F8E3A2C17EF}" srcOrd="1" destOrd="0" presId="urn:microsoft.com/office/officeart/2005/8/layout/cycle2"/>
    <dgm:cxn modelId="{EC45E9B5-623B-439D-951D-AD65F73B0625}" srcId="{1F9C70E8-25E4-4BC1-9B80-4928B0C26D26}" destId="{5F20A0FD-CEAB-4CE1-95E1-854F1EBC905F}" srcOrd="3" destOrd="0" parTransId="{C701E334-C768-4521-A585-7863C8FA1F9E}" sibTransId="{88669AC7-9B2E-4C31-9FB5-20AFC7427116}"/>
    <dgm:cxn modelId="{CA223314-868E-4DB0-975D-7A64E4534BD4}" type="presOf" srcId="{5F20A0FD-CEAB-4CE1-95E1-854F1EBC905F}" destId="{AA0343BA-4879-45BC-B58B-A0D16311458F}" srcOrd="0" destOrd="0" presId="urn:microsoft.com/office/officeart/2005/8/layout/cycle2"/>
    <dgm:cxn modelId="{8505354D-4A02-4D65-8EBB-B2CF24DD4C1B}" type="presOf" srcId="{6C99D068-7BA5-4AD0-B2EC-B0422FFCBA82}" destId="{7EE06BAF-E9E4-4E66-9127-19EC183165C8}" srcOrd="0" destOrd="0" presId="urn:microsoft.com/office/officeart/2005/8/layout/cycle2"/>
    <dgm:cxn modelId="{E02D8B9D-92D7-455D-BFF0-3CB3B350F257}" type="presOf" srcId="{1F9C70E8-25E4-4BC1-9B80-4928B0C26D26}" destId="{A2335280-3A41-4AC7-BFDA-A919A8DDCE48}" srcOrd="0" destOrd="0" presId="urn:microsoft.com/office/officeart/2005/8/layout/cycle2"/>
    <dgm:cxn modelId="{70E439C2-60A6-48C3-84EA-A517881C4E9E}" type="presParOf" srcId="{A2335280-3A41-4AC7-BFDA-A919A8DDCE48}" destId="{46CB0D50-441B-44B1-95E5-E23216F98E93}" srcOrd="0" destOrd="0" presId="urn:microsoft.com/office/officeart/2005/8/layout/cycle2"/>
    <dgm:cxn modelId="{87CF941B-D857-48A4-A739-5E876F1C1F67}" type="presParOf" srcId="{A2335280-3A41-4AC7-BFDA-A919A8DDCE48}" destId="{AA3C28BB-60C2-4A62-BB82-AE8545F24C7D}" srcOrd="1" destOrd="0" presId="urn:microsoft.com/office/officeart/2005/8/layout/cycle2"/>
    <dgm:cxn modelId="{0927FC5C-3482-48E8-95A7-FF3EF86291A9}" type="presParOf" srcId="{AA3C28BB-60C2-4A62-BB82-AE8545F24C7D}" destId="{E368E5A3-1662-4770-95E4-C5A781773243}" srcOrd="0" destOrd="0" presId="urn:microsoft.com/office/officeart/2005/8/layout/cycle2"/>
    <dgm:cxn modelId="{A16A759E-9ABE-459A-9106-2C96FDEF9C75}" type="presParOf" srcId="{A2335280-3A41-4AC7-BFDA-A919A8DDCE48}" destId="{7EE06BAF-E9E4-4E66-9127-19EC183165C8}" srcOrd="2" destOrd="0" presId="urn:microsoft.com/office/officeart/2005/8/layout/cycle2"/>
    <dgm:cxn modelId="{84922CC7-D855-437A-AEA0-19538133EC05}" type="presParOf" srcId="{A2335280-3A41-4AC7-BFDA-A919A8DDCE48}" destId="{81261B63-53B3-4453-AF4B-C9E0833469CE}" srcOrd="3" destOrd="0" presId="urn:microsoft.com/office/officeart/2005/8/layout/cycle2"/>
    <dgm:cxn modelId="{574B09C3-DE8A-43BB-968E-A4FA11E4A1A5}" type="presParOf" srcId="{81261B63-53B3-4453-AF4B-C9E0833469CE}" destId="{88EA4047-9E2B-422C-B354-F3C8A5037A1F}" srcOrd="0" destOrd="0" presId="urn:microsoft.com/office/officeart/2005/8/layout/cycle2"/>
    <dgm:cxn modelId="{9D0EA449-CFF0-4DEB-AAF7-52790FBFC767}" type="presParOf" srcId="{A2335280-3A41-4AC7-BFDA-A919A8DDCE48}" destId="{054B76BC-31B7-42AD-BBF7-BF0591CC4521}" srcOrd="4" destOrd="0" presId="urn:microsoft.com/office/officeart/2005/8/layout/cycle2"/>
    <dgm:cxn modelId="{3E9D7C20-1671-4FB5-BEA2-123E45F71EB2}" type="presParOf" srcId="{A2335280-3A41-4AC7-BFDA-A919A8DDCE48}" destId="{4F500FFE-465E-4993-8C99-7A2E6B8D6C80}" srcOrd="5" destOrd="0" presId="urn:microsoft.com/office/officeart/2005/8/layout/cycle2"/>
    <dgm:cxn modelId="{388617D5-6FF4-4D2B-AF7C-E9F8124215FF}" type="presParOf" srcId="{4F500FFE-465E-4993-8C99-7A2E6B8D6C80}" destId="{A1185DE7-9B85-46DD-A1DF-8F8E3A2C17EF}" srcOrd="0" destOrd="0" presId="urn:microsoft.com/office/officeart/2005/8/layout/cycle2"/>
    <dgm:cxn modelId="{CF7FBAC1-9D89-4E4A-9E56-159B33C34098}" type="presParOf" srcId="{A2335280-3A41-4AC7-BFDA-A919A8DDCE48}" destId="{AA0343BA-4879-45BC-B58B-A0D16311458F}" srcOrd="6" destOrd="0" presId="urn:microsoft.com/office/officeart/2005/8/layout/cycle2"/>
    <dgm:cxn modelId="{23B47FB1-1934-4EE4-8A52-5A6AB7D82607}" type="presParOf" srcId="{A2335280-3A41-4AC7-BFDA-A919A8DDCE48}" destId="{41C0BB26-EA08-46DB-809C-F11CEBC9FA5F}" srcOrd="7" destOrd="0" presId="urn:microsoft.com/office/officeart/2005/8/layout/cycle2"/>
    <dgm:cxn modelId="{975A5432-86DF-4167-9464-EC2D67694BCF}" type="presParOf" srcId="{41C0BB26-EA08-46DB-809C-F11CEBC9FA5F}" destId="{4283DD76-44A9-4F80-B003-97D06FCAD54E}" srcOrd="0" destOrd="0" presId="urn:microsoft.com/office/officeart/2005/8/layout/cycle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81AF7C-F214-48A5-9DDD-0862B971ACBB}" type="doc">
      <dgm:prSet loTypeId="urn:microsoft.com/office/officeart/2005/8/layout/radial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70BC5E-6A3C-4D70-A416-752DA766A8D0}">
      <dgm:prSet phldrT="[Text]" custT="1"/>
      <dgm:spPr>
        <a:solidFill>
          <a:schemeClr val="bg2">
            <a:lumMod val="50000"/>
            <a:alpha val="50000"/>
          </a:schemeClr>
        </a:solidFill>
      </dgm:spPr>
      <dgm:t>
        <a:bodyPr/>
        <a:lstStyle/>
        <a:p>
          <a:r>
            <a:rPr lang="en-US" sz="2800" dirty="0" smtClean="0">
              <a:latin typeface="Arial" pitchFamily="34" charset="0"/>
              <a:cs typeface="Arial" pitchFamily="34" charset="0"/>
            </a:rPr>
            <a:t>Scientific Data Server</a:t>
          </a:r>
          <a:endParaRPr lang="en-US" sz="2800" dirty="0">
            <a:latin typeface="Arial" pitchFamily="34" charset="0"/>
            <a:cs typeface="Arial" pitchFamily="34" charset="0"/>
          </a:endParaRPr>
        </a:p>
      </dgm:t>
    </dgm:pt>
    <dgm:pt modelId="{5B8B5B95-B608-4419-A89C-69CF85DA82C1}" type="parTrans" cxnId="{FF66349D-123E-4403-B9D9-08E299C0BDB5}">
      <dgm:prSet/>
      <dgm:spPr/>
      <dgm:t>
        <a:bodyPr/>
        <a:lstStyle/>
        <a:p>
          <a:endParaRPr lang="en-US" sz="2800"/>
        </a:p>
      </dgm:t>
    </dgm:pt>
    <dgm:pt modelId="{F4246A5F-233C-443A-ACB5-01AA69BE224D}" type="sibTrans" cxnId="{FF66349D-123E-4403-B9D9-08E299C0BDB5}">
      <dgm:prSet/>
      <dgm:spPr/>
      <dgm:t>
        <a:bodyPr/>
        <a:lstStyle/>
        <a:p>
          <a:endParaRPr lang="en-US" sz="2800"/>
        </a:p>
      </dgm:t>
    </dgm:pt>
    <dgm:pt modelId="{38B2F7B6-6EBD-494F-81E1-3BEB5F1347C4}">
      <dgm:prSet phldrT="[Text]" custT="1"/>
      <dgm:spPr/>
      <dgm:t>
        <a:bodyPr/>
        <a:lstStyle/>
        <a:p>
          <a:r>
            <a:rPr lang="en-US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Validate &amp; Quality Check data</a:t>
          </a:r>
          <a:endParaRPr lang="en-US" sz="2800" dirty="0"/>
        </a:p>
      </dgm:t>
    </dgm:pt>
    <dgm:pt modelId="{840BA817-6B7A-4407-9AB3-58C89AC12EE4}" type="parTrans" cxnId="{6829460C-A7F7-485A-B9AC-F727C8EFD7F8}">
      <dgm:prSet/>
      <dgm:spPr/>
      <dgm:t>
        <a:bodyPr/>
        <a:lstStyle/>
        <a:p>
          <a:endParaRPr lang="en-US" sz="2800"/>
        </a:p>
      </dgm:t>
    </dgm:pt>
    <dgm:pt modelId="{0090696F-B6BB-40AE-9C52-3CB9B80DF7D3}" type="sibTrans" cxnId="{6829460C-A7F7-485A-B9AC-F727C8EFD7F8}">
      <dgm:prSet/>
      <dgm:spPr/>
      <dgm:t>
        <a:bodyPr/>
        <a:lstStyle/>
        <a:p>
          <a:endParaRPr lang="en-US" sz="2800"/>
        </a:p>
      </dgm:t>
    </dgm:pt>
    <dgm:pt modelId="{BA5B6F06-7249-4518-BD84-35367085D841}">
      <dgm:prSet phldrT="[Text]" custT="1"/>
      <dgm:spPr/>
      <dgm:t>
        <a:bodyPr/>
        <a:lstStyle/>
        <a:p>
          <a:r>
            <a:rPr lang="en-US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Perform Analysis</a:t>
          </a:r>
          <a:endParaRPr lang="en-US" sz="2800" dirty="0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AC830F5F-6A50-4AF4-93A0-4FBFDDDA327E}" type="parTrans" cxnId="{76A7754B-9405-49FC-B29F-125A5DE4AF35}">
      <dgm:prSet/>
      <dgm:spPr/>
      <dgm:t>
        <a:bodyPr/>
        <a:lstStyle/>
        <a:p>
          <a:endParaRPr lang="en-US" sz="2800"/>
        </a:p>
      </dgm:t>
    </dgm:pt>
    <dgm:pt modelId="{BB9C91AE-2EF4-41CB-81F6-E971995E7764}" type="sibTrans" cxnId="{76A7754B-9405-49FC-B29F-125A5DE4AF35}">
      <dgm:prSet/>
      <dgm:spPr/>
      <dgm:t>
        <a:bodyPr/>
        <a:lstStyle/>
        <a:p>
          <a:endParaRPr lang="en-US" sz="2800"/>
        </a:p>
      </dgm:t>
    </dgm:pt>
    <dgm:pt modelId="{121F74D3-D5B4-4654-82C8-406A172EC8AF}">
      <dgm:prSet phldrT="[Text]" custT="1"/>
      <dgm:spPr/>
      <dgm:t>
        <a:bodyPr/>
        <a:lstStyle/>
        <a:p>
          <a:r>
            <a:rPr lang="en-US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Identify Data Issues &amp; Obtain Missing Data</a:t>
          </a:r>
          <a:endParaRPr lang="en-US" sz="2800" dirty="0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109F20ED-92C8-46DA-A0CE-5386FCF1A798}" type="parTrans" cxnId="{056471D1-AB69-4E02-A194-B292F0532D59}">
      <dgm:prSet/>
      <dgm:spPr/>
      <dgm:t>
        <a:bodyPr/>
        <a:lstStyle/>
        <a:p>
          <a:endParaRPr lang="en-US" sz="2800"/>
        </a:p>
      </dgm:t>
    </dgm:pt>
    <dgm:pt modelId="{F2F18814-35ED-4B04-A123-1CF41DCD7B66}" type="sibTrans" cxnId="{056471D1-AB69-4E02-A194-B292F0532D59}">
      <dgm:prSet/>
      <dgm:spPr/>
      <dgm:t>
        <a:bodyPr/>
        <a:lstStyle/>
        <a:p>
          <a:endParaRPr lang="en-US" sz="2800"/>
        </a:p>
      </dgm:t>
    </dgm:pt>
    <dgm:pt modelId="{17EBED6F-01CE-4440-8085-A40039B77954}">
      <dgm:prSet phldrT="[Text]" custT="1"/>
      <dgm:spPr/>
      <dgm:t>
        <a:bodyPr/>
        <a:lstStyle/>
        <a:p>
          <a:r>
            <a:rPr lang="en-US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Obtain Data from Source</a:t>
          </a:r>
          <a:endParaRPr lang="en-US" sz="2800" dirty="0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2BE317AC-3FFB-4D26-BCF6-580E0C6DBD30}" type="parTrans" cxnId="{D9415C2D-52EF-460B-BA7D-7A5F9FB5ACA5}">
      <dgm:prSet/>
      <dgm:spPr/>
      <dgm:t>
        <a:bodyPr/>
        <a:lstStyle/>
        <a:p>
          <a:endParaRPr lang="en-US" sz="2800"/>
        </a:p>
      </dgm:t>
    </dgm:pt>
    <dgm:pt modelId="{DD26F8F0-7D00-403A-86EA-5ED958D86C0A}" type="sibTrans" cxnId="{D9415C2D-52EF-460B-BA7D-7A5F9FB5ACA5}">
      <dgm:prSet/>
      <dgm:spPr/>
      <dgm:t>
        <a:bodyPr/>
        <a:lstStyle/>
        <a:p>
          <a:endParaRPr lang="en-US" sz="2800"/>
        </a:p>
      </dgm:t>
    </dgm:pt>
    <dgm:pt modelId="{720766F6-3474-4284-9637-E1312DBFD434}" type="pres">
      <dgm:prSet presAssocID="{8981AF7C-F214-48A5-9DDD-0862B971ACBB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BF3D277-8EE9-4BFD-BCD6-37AA782902DA}" type="pres">
      <dgm:prSet presAssocID="{8981AF7C-F214-48A5-9DDD-0862B971ACBB}" presName="radial" presStyleCnt="0">
        <dgm:presLayoutVars>
          <dgm:animLvl val="ctr"/>
        </dgm:presLayoutVars>
      </dgm:prSet>
      <dgm:spPr/>
    </dgm:pt>
    <dgm:pt modelId="{3310B4A6-D602-4D7E-895D-6DFB85D2A079}" type="pres">
      <dgm:prSet presAssocID="{DA70BC5E-6A3C-4D70-A416-752DA766A8D0}" presName="centerShape" presStyleLbl="vennNode1" presStyleIdx="0" presStyleCnt="5" custLinFactNeighborX="946" custLinFactNeighborY="-547"/>
      <dgm:spPr/>
      <dgm:t>
        <a:bodyPr/>
        <a:lstStyle/>
        <a:p>
          <a:endParaRPr lang="en-US"/>
        </a:p>
      </dgm:t>
    </dgm:pt>
    <dgm:pt modelId="{B76049FD-F4EE-4BA5-9608-A5492AD312CE}" type="pres">
      <dgm:prSet presAssocID="{38B2F7B6-6EBD-494F-81E1-3BEB5F1347C4}" presName="node" presStyleLbl="vennNode1" presStyleIdx="1" presStyleCnt="5" custScaleX="235982" custScaleY="88929" custRadScaleRad="104091" custRadScaleInc="38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B3D86D-09BC-4BCF-A52F-A9038F1A4A93}" type="pres">
      <dgm:prSet presAssocID="{BA5B6F06-7249-4518-BD84-35367085D841}" presName="node" presStyleLbl="vennNode1" presStyleIdx="2" presStyleCnt="5" custScaleX="149482" custScaleY="131421" custRadScaleRad="128733" custRadScaleInc="-458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C5EB78-9E4C-46F6-A494-636968EDF209}" type="pres">
      <dgm:prSet presAssocID="{121F74D3-D5B4-4654-82C8-406A172EC8AF}" presName="node" presStyleLbl="vennNode1" presStyleIdx="3" presStyleCnt="5" custScaleX="332149" custScaleY="99889" custRadScaleRad="115829" custRadScaleInc="38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F5DB07-B930-4E13-B60E-4F20F7050AF1}" type="pres">
      <dgm:prSet presAssocID="{17EBED6F-01CE-4440-8085-A40039B77954}" presName="node" presStyleLbl="vennNode1" presStyleIdx="4" presStyleCnt="5" custScaleX="136570" custScaleY="144133" custRadScaleRad="118551" custRadScaleInc="26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415C2D-52EF-460B-BA7D-7A5F9FB5ACA5}" srcId="{DA70BC5E-6A3C-4D70-A416-752DA766A8D0}" destId="{17EBED6F-01CE-4440-8085-A40039B77954}" srcOrd="3" destOrd="0" parTransId="{2BE317AC-3FFB-4D26-BCF6-580E0C6DBD30}" sibTransId="{DD26F8F0-7D00-403A-86EA-5ED958D86C0A}"/>
    <dgm:cxn modelId="{5920FC91-B3DD-4706-9723-2984A0E001D3}" type="presOf" srcId="{DA70BC5E-6A3C-4D70-A416-752DA766A8D0}" destId="{3310B4A6-D602-4D7E-895D-6DFB85D2A079}" srcOrd="0" destOrd="0" presId="urn:microsoft.com/office/officeart/2005/8/layout/radial3"/>
    <dgm:cxn modelId="{0214FD74-E417-4957-93FE-7D5106465F5A}" type="presOf" srcId="{17EBED6F-01CE-4440-8085-A40039B77954}" destId="{AAF5DB07-B930-4E13-B60E-4F20F7050AF1}" srcOrd="0" destOrd="0" presId="urn:microsoft.com/office/officeart/2005/8/layout/radial3"/>
    <dgm:cxn modelId="{D35E8C54-35F4-42E1-A0E4-5BE92CFF1099}" type="presOf" srcId="{121F74D3-D5B4-4654-82C8-406A172EC8AF}" destId="{D9C5EB78-9E4C-46F6-A494-636968EDF209}" srcOrd="0" destOrd="0" presId="urn:microsoft.com/office/officeart/2005/8/layout/radial3"/>
    <dgm:cxn modelId="{C8749471-9817-444D-8F6C-6D4E32A0B79F}" type="presOf" srcId="{38B2F7B6-6EBD-494F-81E1-3BEB5F1347C4}" destId="{B76049FD-F4EE-4BA5-9608-A5492AD312CE}" srcOrd="0" destOrd="0" presId="urn:microsoft.com/office/officeart/2005/8/layout/radial3"/>
    <dgm:cxn modelId="{76A7754B-9405-49FC-B29F-125A5DE4AF35}" srcId="{DA70BC5E-6A3C-4D70-A416-752DA766A8D0}" destId="{BA5B6F06-7249-4518-BD84-35367085D841}" srcOrd="1" destOrd="0" parTransId="{AC830F5F-6A50-4AF4-93A0-4FBFDDDA327E}" sibTransId="{BB9C91AE-2EF4-41CB-81F6-E971995E7764}"/>
    <dgm:cxn modelId="{E5C85EC1-FEEE-428B-9B31-38E849D593BE}" type="presOf" srcId="{8981AF7C-F214-48A5-9DDD-0862B971ACBB}" destId="{720766F6-3474-4284-9637-E1312DBFD434}" srcOrd="0" destOrd="0" presId="urn:microsoft.com/office/officeart/2005/8/layout/radial3"/>
    <dgm:cxn modelId="{6829460C-A7F7-485A-B9AC-F727C8EFD7F8}" srcId="{DA70BC5E-6A3C-4D70-A416-752DA766A8D0}" destId="{38B2F7B6-6EBD-494F-81E1-3BEB5F1347C4}" srcOrd="0" destOrd="0" parTransId="{840BA817-6B7A-4407-9AB3-58C89AC12EE4}" sibTransId="{0090696F-B6BB-40AE-9C52-3CB9B80DF7D3}"/>
    <dgm:cxn modelId="{056471D1-AB69-4E02-A194-B292F0532D59}" srcId="{DA70BC5E-6A3C-4D70-A416-752DA766A8D0}" destId="{121F74D3-D5B4-4654-82C8-406A172EC8AF}" srcOrd="2" destOrd="0" parTransId="{109F20ED-92C8-46DA-A0CE-5386FCF1A798}" sibTransId="{F2F18814-35ED-4B04-A123-1CF41DCD7B66}"/>
    <dgm:cxn modelId="{FF66349D-123E-4403-B9D9-08E299C0BDB5}" srcId="{8981AF7C-F214-48A5-9DDD-0862B971ACBB}" destId="{DA70BC5E-6A3C-4D70-A416-752DA766A8D0}" srcOrd="0" destOrd="0" parTransId="{5B8B5B95-B608-4419-A89C-69CF85DA82C1}" sibTransId="{F4246A5F-233C-443A-ACB5-01AA69BE224D}"/>
    <dgm:cxn modelId="{64DB5A76-D5E4-4B26-A840-42E4487E79B6}" type="presOf" srcId="{BA5B6F06-7249-4518-BD84-35367085D841}" destId="{FDB3D86D-09BC-4BCF-A52F-A9038F1A4A93}" srcOrd="0" destOrd="0" presId="urn:microsoft.com/office/officeart/2005/8/layout/radial3"/>
    <dgm:cxn modelId="{D6965041-3AA9-46E7-BFA3-865AEC5531AF}" type="presParOf" srcId="{720766F6-3474-4284-9637-E1312DBFD434}" destId="{FBF3D277-8EE9-4BFD-BCD6-37AA782902DA}" srcOrd="0" destOrd="0" presId="urn:microsoft.com/office/officeart/2005/8/layout/radial3"/>
    <dgm:cxn modelId="{B7694B63-6D91-4726-AF24-3800B056CD12}" type="presParOf" srcId="{FBF3D277-8EE9-4BFD-BCD6-37AA782902DA}" destId="{3310B4A6-D602-4D7E-895D-6DFB85D2A079}" srcOrd="0" destOrd="0" presId="urn:microsoft.com/office/officeart/2005/8/layout/radial3"/>
    <dgm:cxn modelId="{90677ABE-7634-4843-94C5-BC80C17BA569}" type="presParOf" srcId="{FBF3D277-8EE9-4BFD-BCD6-37AA782902DA}" destId="{B76049FD-F4EE-4BA5-9608-A5492AD312CE}" srcOrd="1" destOrd="0" presId="urn:microsoft.com/office/officeart/2005/8/layout/radial3"/>
    <dgm:cxn modelId="{CF7741B8-F0E3-4C01-A394-3FFE257F3CE0}" type="presParOf" srcId="{FBF3D277-8EE9-4BFD-BCD6-37AA782902DA}" destId="{FDB3D86D-09BC-4BCF-A52F-A9038F1A4A93}" srcOrd="2" destOrd="0" presId="urn:microsoft.com/office/officeart/2005/8/layout/radial3"/>
    <dgm:cxn modelId="{D3259DC2-C50A-451D-948B-6EA04B93C6BA}" type="presParOf" srcId="{FBF3D277-8EE9-4BFD-BCD6-37AA782902DA}" destId="{D9C5EB78-9E4C-46F6-A494-636968EDF209}" srcOrd="3" destOrd="0" presId="urn:microsoft.com/office/officeart/2005/8/layout/radial3"/>
    <dgm:cxn modelId="{AD2B3E08-9483-4DD9-8290-4FB33BDD8BEB}" type="presParOf" srcId="{FBF3D277-8EE9-4BFD-BCD6-37AA782902DA}" destId="{AAF5DB07-B930-4E13-B60E-4F20F7050AF1}" srcOrd="4" destOrd="0" presId="urn:microsoft.com/office/officeart/2005/8/layout/radial3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C7AA0-F9B5-49E9-8865-2170FF6E12E0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0D60F-2583-43BA-BFB2-6FEC374C46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Typically</a:t>
            </a:r>
            <a:r>
              <a:rPr lang="en-US" baseline="0" dirty="0" smtClean="0"/>
              <a:t> each individual has their own data set that they evolve and refine for their particular calculations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0D60F-2583-43BA-BFB2-6FEC374C461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0D60F-2583-43BA-BFB2-6FEC374C461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Rg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exdatumtype</a:t>
            </a:r>
            <a:r>
              <a:rPr lang="en-US" baseline="0" dirty="0" smtClean="0"/>
              <a:t> = none, offset = all (or 0). </a:t>
            </a:r>
          </a:p>
          <a:p>
            <a:r>
              <a:rPr lang="en-US" baseline="0" dirty="0" smtClean="0"/>
              <a:t>Year on column</a:t>
            </a:r>
          </a:p>
          <a:p>
            <a:r>
              <a:rPr lang="en-US" baseline="0" dirty="0" smtClean="0"/>
              <a:t>Site on 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0D60F-2583-43BA-BFB2-6FEC374C461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0D60F-2583-43BA-BFB2-6FEC374C461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Drill down into obvious problem sites</a:t>
            </a:r>
          </a:p>
          <a:p>
            <a:endParaRPr lang="en-US" dirty="0" smtClean="0"/>
          </a:p>
          <a:p>
            <a:r>
              <a:rPr lang="en-US" dirty="0" smtClean="0"/>
              <a:t>Drill down showing each year….</a:t>
            </a:r>
          </a:p>
          <a:p>
            <a:endParaRPr lang="en-US" dirty="0" smtClean="0"/>
          </a:p>
          <a:p>
            <a:r>
              <a:rPr lang="en-US" dirty="0" smtClean="0"/>
              <a:t>Mead sites look like sign</a:t>
            </a:r>
            <a:r>
              <a:rPr lang="en-US" baseline="0" dirty="0" smtClean="0"/>
              <a:t> and/or units problem….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0D60F-2583-43BA-BFB2-6FEC374C461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7467600" cy="63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193800"/>
            <a:ext cx="3803650" cy="5130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89450" y="1193800"/>
            <a:ext cx="3803650" cy="248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89450" y="3835400"/>
            <a:ext cx="3803650" cy="248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6E54919-577D-4409-A4FA-52F030A823E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13" r:id="rId1"/>
    <p:sldLayoutId id="2147484914" r:id="rId2"/>
    <p:sldLayoutId id="2147484915" r:id="rId3"/>
    <p:sldLayoutId id="2147484916" r:id="rId4"/>
    <p:sldLayoutId id="2147484917" r:id="rId5"/>
    <p:sldLayoutId id="2147484918" r:id="rId6"/>
    <p:sldLayoutId id="2147484919" r:id="rId7"/>
    <p:sldLayoutId id="2147484920" r:id="rId8"/>
    <p:sldLayoutId id="2147484921" r:id="rId9"/>
    <p:sldLayoutId id="2147484922" r:id="rId10"/>
    <p:sldLayoutId id="2147484923" r:id="rId11"/>
    <p:sldLayoutId id="2147484924" r:id="rId12"/>
    <p:sldLayoutId id="2147484925" r:id="rId13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21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12" Type="http://schemas.openxmlformats.org/officeDocument/2006/relationships/image" Target="../media/image20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jpeg"/><Relationship Id="rId11" Type="http://schemas.openxmlformats.org/officeDocument/2006/relationships/image" Target="../media/image19.pn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Relationship Id="rId14" Type="http://schemas.openxmlformats.org/officeDocument/2006/relationships/image" Target="../media/image2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29.jpeg"/><Relationship Id="rId7" Type="http://schemas.openxmlformats.org/officeDocument/2006/relationships/image" Target="../media/image32.jpeg"/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1.wmf"/><Relationship Id="rId4" Type="http://schemas.openxmlformats.org/officeDocument/2006/relationships/image" Target="../media/image30.jpeg"/><Relationship Id="rId9" Type="http://schemas.openxmlformats.org/officeDocument/2006/relationships/image" Target="../media/image3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97-2003_Worksheet1.xls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BUILDING A DATA SERVER FOR ECOLOGICAL 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794136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Deb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Agarwal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BWC technical team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17 September 2007</a:t>
            </a: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Hydrolunch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lter-web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1295400"/>
            <a:ext cx="4648200" cy="2890838"/>
          </a:xfrm>
          <a:prstGeom prst="rect">
            <a:avLst/>
          </a:prstGeom>
          <a:noFill/>
        </p:spPr>
      </p:pic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Unprecedented Data Availability</a:t>
            </a:r>
          </a:p>
        </p:txBody>
      </p:sp>
      <p:pic>
        <p:nvPicPr>
          <p:cNvPr id="3076" name="Picture 4" descr="climate-we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3886200"/>
            <a:ext cx="4724400" cy="2784475"/>
          </a:xfrm>
          <a:prstGeom prst="rect">
            <a:avLst/>
          </a:prstGeom>
          <a:noFill/>
        </p:spPr>
      </p:pic>
      <p:pic>
        <p:nvPicPr>
          <p:cNvPr id="3077" name="Picture 5" descr="Ameriflux-we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1371600"/>
            <a:ext cx="4286250" cy="2698750"/>
          </a:xfrm>
          <a:prstGeom prst="rect">
            <a:avLst/>
          </a:prstGeom>
          <a:noFill/>
        </p:spPr>
      </p:pic>
      <p:pic>
        <p:nvPicPr>
          <p:cNvPr id="3078" name="Picture 6" descr="cuahsi-his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76400" y="2209800"/>
            <a:ext cx="5029200" cy="3027363"/>
          </a:xfrm>
          <a:prstGeom prst="rect">
            <a:avLst/>
          </a:prstGeom>
          <a:noFill/>
        </p:spPr>
      </p:pic>
      <p:pic>
        <p:nvPicPr>
          <p:cNvPr id="3079" name="Picture 7" descr="NOAA-hydro-inf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8600" y="4267200"/>
            <a:ext cx="3581400" cy="2111375"/>
          </a:xfrm>
          <a:prstGeom prst="rect">
            <a:avLst/>
          </a:prstGeom>
          <a:noFill/>
        </p:spPr>
      </p:pic>
      <p:pic>
        <p:nvPicPr>
          <p:cNvPr id="3081" name="Picture 9" descr="modis-web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590800" y="4191000"/>
            <a:ext cx="3443288" cy="24749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Gaps in the data 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Quiet nights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Bird poop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High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winds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Batteries die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Rivers flood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Difficult to make measurements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Leaf area index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Wood respiration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Soil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respiration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Localized measurements – tower footprint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Local investigator knowledge important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Science goals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are not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necessarily uniform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across the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Pis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taking measurements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839200" cy="1371600"/>
          </a:xfrm>
        </p:spPr>
        <p:txBody>
          <a:bodyPr>
            <a:normAutofit/>
          </a:bodyPr>
          <a:lstStyle/>
          <a:p>
            <a:r>
              <a:rPr lang="en-US" dirty="0" smtClean="0"/>
              <a:t>ECOLOGICAL Measurements </a:t>
            </a:r>
            <a:r>
              <a:rPr lang="en-US" dirty="0"/>
              <a:t>Are </a:t>
            </a:r>
            <a:r>
              <a:rPr lang="en-US" dirty="0" smtClean="0"/>
              <a:t>Often Not </a:t>
            </a:r>
            <a:r>
              <a:rPr lang="en-US" dirty="0"/>
              <a:t>Simple or Complete</a:t>
            </a:r>
          </a:p>
        </p:txBody>
      </p:sp>
      <p:pic>
        <p:nvPicPr>
          <p:cNvPr id="4" name="Picture 3" descr="morepalmsblow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76400"/>
            <a:ext cx="1645920" cy="1176528"/>
          </a:xfrm>
          <a:prstGeom prst="rect">
            <a:avLst/>
          </a:prstGeom>
        </p:spPr>
      </p:pic>
      <p:pic>
        <p:nvPicPr>
          <p:cNvPr id="5" name="Picture 4" descr="sunthroughtr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95600"/>
            <a:ext cx="1686437" cy="114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Data </a:t>
            </a:r>
            <a:r>
              <a:rPr lang="en-US" dirty="0" smtClean="0"/>
              <a:t>Storage </a:t>
            </a:r>
            <a:r>
              <a:rPr lang="en-US" dirty="0"/>
              <a:t>Today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8600" cy="5105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 dirty="0" smtClean="0"/>
              <a:t>Data retrieved by each investigator individually</a:t>
            </a:r>
          </a:p>
          <a:p>
            <a:pPr>
              <a:lnSpc>
                <a:spcPct val="80000"/>
              </a:lnSpc>
            </a:pPr>
            <a:r>
              <a:rPr lang="en-US" sz="2000" dirty="0" smtClean="0"/>
              <a:t>Data corrections and updates applied</a:t>
            </a:r>
          </a:p>
          <a:p>
            <a:pPr>
              <a:lnSpc>
                <a:spcPct val="80000"/>
              </a:lnSpc>
            </a:pPr>
            <a:r>
              <a:rPr lang="en-US" sz="2000" dirty="0" smtClean="0"/>
              <a:t>Data </a:t>
            </a:r>
            <a:r>
              <a:rPr lang="en-US" sz="2000" dirty="0"/>
              <a:t>are often </a:t>
            </a:r>
            <a:r>
              <a:rPr lang="en-US" sz="2000" dirty="0" smtClean="0"/>
              <a:t>scattered</a:t>
            </a:r>
            <a:r>
              <a:rPr lang="en-US" sz="2000" dirty="0"/>
              <a:t>, </a:t>
            </a:r>
            <a:r>
              <a:rPr lang="en-US" sz="2000" dirty="0" smtClean="0"/>
              <a:t>across a wide array of locations</a:t>
            </a:r>
            <a:endParaRPr lang="en-US" sz="2000" dirty="0"/>
          </a:p>
          <a:p>
            <a:pPr lvl="1">
              <a:lnSpc>
                <a:spcPct val="80000"/>
              </a:lnSpc>
            </a:pPr>
            <a:r>
              <a:rPr lang="en-US" sz="1800" dirty="0"/>
              <a:t>Provenance is in the mind of the beholder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“Everybody knows” yet no one is sure</a:t>
            </a:r>
          </a:p>
        </p:txBody>
      </p:sp>
      <p:sp>
        <p:nvSpPr>
          <p:cNvPr id="57349" name="Freeform 5"/>
          <p:cNvSpPr>
            <a:spLocks noChangeAspect="1"/>
          </p:cNvSpPr>
          <p:nvPr/>
        </p:nvSpPr>
        <p:spPr bwMode="auto">
          <a:xfrm>
            <a:off x="7629525" y="2114550"/>
            <a:ext cx="830263" cy="2873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23" y="181"/>
              </a:cxn>
            </a:cxnLst>
            <a:rect l="0" t="0" r="r" b="b"/>
            <a:pathLst>
              <a:path w="523" h="181">
                <a:moveTo>
                  <a:pt x="0" y="0"/>
                </a:moveTo>
                <a:lnTo>
                  <a:pt x="523" y="181"/>
                </a:lnTo>
              </a:path>
            </a:pathLst>
          </a:custGeom>
          <a:noFill/>
          <a:ln w="38100">
            <a:solidFill>
              <a:srgbClr val="009900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350" name="Rectangle 6"/>
          <p:cNvSpPr>
            <a:spLocks noChangeAspect="1" noChangeArrowheads="1"/>
          </p:cNvSpPr>
          <p:nvPr/>
        </p:nvSpPr>
        <p:spPr bwMode="auto">
          <a:xfrm>
            <a:off x="4724400" y="2057400"/>
            <a:ext cx="1181100" cy="25908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Ctr="1"/>
          <a:lstStyle/>
          <a:p>
            <a:pPr algn="ctr" eaLnBrk="1" hangingPunct="1"/>
            <a:r>
              <a:rPr lang="en-US" sz="1400" b="1">
                <a:latin typeface="Arial" pitchFamily="34" charset="0"/>
              </a:rPr>
              <a:t>Internet Data </a:t>
            </a:r>
          </a:p>
          <a:p>
            <a:pPr algn="ctr" eaLnBrk="1" hangingPunct="1"/>
            <a:r>
              <a:rPr lang="en-US" sz="1400" b="1">
                <a:latin typeface="Arial" pitchFamily="34" charset="0"/>
              </a:rPr>
              <a:t>Archives</a:t>
            </a: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 bwMode="auto">
          <a:xfrm>
            <a:off x="4800600" y="2590800"/>
            <a:ext cx="962025" cy="1897063"/>
            <a:chOff x="2304" y="1056"/>
            <a:chExt cx="1212" cy="2390"/>
          </a:xfrm>
        </p:grpSpPr>
        <p:pic>
          <p:nvPicPr>
            <p:cNvPr id="57352" name="Picture 8" descr="climate-web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04" y="2352"/>
              <a:ext cx="1152" cy="679"/>
            </a:xfrm>
            <a:prstGeom prst="rect">
              <a:avLst/>
            </a:prstGeom>
            <a:noFill/>
          </p:spPr>
        </p:pic>
        <p:grpSp>
          <p:nvGrpSpPr>
            <p:cNvPr id="3" name="Group 9"/>
            <p:cNvGrpSpPr>
              <a:grpSpLocks noChangeAspect="1"/>
            </p:cNvGrpSpPr>
            <p:nvPr/>
          </p:nvGrpSpPr>
          <p:grpSpPr bwMode="auto">
            <a:xfrm>
              <a:off x="2400" y="1056"/>
              <a:ext cx="1116" cy="2390"/>
              <a:chOff x="144" y="720"/>
              <a:chExt cx="1116" cy="2390"/>
            </a:xfrm>
          </p:grpSpPr>
          <p:pic>
            <p:nvPicPr>
              <p:cNvPr id="57354" name="Picture 10" descr="Ameriflux-web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92" y="720"/>
                <a:ext cx="1068" cy="673"/>
              </a:xfrm>
              <a:prstGeom prst="rect">
                <a:avLst/>
              </a:prstGeom>
              <a:noFill/>
            </p:spPr>
          </p:pic>
          <p:pic>
            <p:nvPicPr>
              <p:cNvPr id="57355" name="Picture 11" descr="lter-web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92" y="1152"/>
                <a:ext cx="960" cy="597"/>
              </a:xfrm>
              <a:prstGeom prst="rect">
                <a:avLst/>
              </a:prstGeom>
              <a:noFill/>
            </p:spPr>
          </p:pic>
          <p:pic>
            <p:nvPicPr>
              <p:cNvPr id="57356" name="Picture 12" descr="NOAA-hydro-info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44" y="2544"/>
                <a:ext cx="960" cy="566"/>
              </a:xfrm>
              <a:prstGeom prst="rect">
                <a:avLst/>
              </a:prstGeom>
              <a:noFill/>
            </p:spPr>
          </p:pic>
          <p:pic>
            <p:nvPicPr>
              <p:cNvPr id="57357" name="Picture 13" descr="cuahsi-his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92" y="1536"/>
                <a:ext cx="912" cy="549"/>
              </a:xfrm>
              <a:prstGeom prst="rect">
                <a:avLst/>
              </a:prstGeom>
              <a:noFill/>
            </p:spPr>
          </p:pic>
        </p:grp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6096000" y="4648200"/>
            <a:ext cx="1562100" cy="838200"/>
            <a:chOff x="3840" y="3120"/>
            <a:chExt cx="984" cy="528"/>
          </a:xfrm>
        </p:grpSpPr>
        <p:pic>
          <p:nvPicPr>
            <p:cNvPr id="57359" name="Picture 15" descr="Ameriflux-tower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560" y="3168"/>
              <a:ext cx="248" cy="441"/>
            </a:xfrm>
            <a:prstGeom prst="rect">
              <a:avLst/>
            </a:prstGeom>
            <a:noFill/>
            <a:ln w="9525">
              <a:solidFill>
                <a:srgbClr val="CCCC00"/>
              </a:solidFill>
              <a:miter lim="800000"/>
              <a:headEnd/>
              <a:tailEnd/>
            </a:ln>
          </p:spPr>
        </p:pic>
        <p:pic>
          <p:nvPicPr>
            <p:cNvPr id="57360" name="Picture 16" descr="Ameriflux-instrument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080" y="3408"/>
              <a:ext cx="317" cy="208"/>
            </a:xfrm>
            <a:prstGeom prst="rect">
              <a:avLst/>
            </a:prstGeom>
            <a:noFill/>
            <a:ln w="9525">
              <a:solidFill>
                <a:srgbClr val="CCCC00"/>
              </a:solidFill>
              <a:miter lim="800000"/>
              <a:headEnd/>
              <a:tailEnd/>
            </a:ln>
          </p:spPr>
        </p:pic>
        <p:sp>
          <p:nvSpPr>
            <p:cNvPr id="57361" name="Rectangle 17"/>
            <p:cNvSpPr>
              <a:spLocks noChangeAspect="1" noChangeArrowheads="1"/>
            </p:cNvSpPr>
            <p:nvPr/>
          </p:nvSpPr>
          <p:spPr bwMode="auto">
            <a:xfrm>
              <a:off x="3840" y="3120"/>
              <a:ext cx="984" cy="528"/>
            </a:xfrm>
            <a:prstGeom prst="rect">
              <a:avLst/>
            </a:prstGeom>
            <a:noFill/>
            <a:ln w="38100">
              <a:solidFill>
                <a:srgbClr val="CCCC00"/>
              </a:solidFill>
              <a:miter lim="800000"/>
              <a:headEnd/>
              <a:tailEnd/>
            </a:ln>
            <a:effectLst/>
          </p:spPr>
          <p:txBody>
            <a:bodyPr wrap="none" anchorCtr="1"/>
            <a:lstStyle/>
            <a:p>
              <a:pPr eaLnBrk="1" hangingPunct="1"/>
              <a:r>
                <a:rPr lang="en-US" sz="1200" b="1">
                  <a:latin typeface="Arial" pitchFamily="34" charset="0"/>
                </a:rPr>
                <a:t>Local                        </a:t>
              </a:r>
            </a:p>
            <a:p>
              <a:pPr eaLnBrk="1" hangingPunct="1"/>
              <a:r>
                <a:rPr lang="en-US" sz="1200" b="1">
                  <a:latin typeface="Arial" pitchFamily="34" charset="0"/>
                </a:rPr>
                <a:t>Measurements</a:t>
              </a:r>
            </a:p>
          </p:txBody>
        </p:sp>
      </p:grpSp>
      <p:pic>
        <p:nvPicPr>
          <p:cNvPr id="57362" name="Picture 18" descr="MPj04019530000[1]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705600" y="1828800"/>
            <a:ext cx="954088" cy="635000"/>
          </a:xfrm>
          <a:prstGeom prst="rect">
            <a:avLst/>
          </a:prstGeom>
          <a:noFill/>
        </p:spPr>
      </p:pic>
      <p:pic>
        <p:nvPicPr>
          <p:cNvPr id="57363" name="Picture 19" descr="MPj04095960000[1]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078788" y="3429000"/>
            <a:ext cx="685800" cy="458788"/>
          </a:xfrm>
          <a:prstGeom prst="rect">
            <a:avLst/>
          </a:prstGeom>
          <a:noFill/>
        </p:spPr>
      </p:pic>
      <p:pic>
        <p:nvPicPr>
          <p:cNvPr id="57364" name="Picture 20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431088" y="2628900"/>
            <a:ext cx="8001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365" name="Freeform 21"/>
          <p:cNvSpPr>
            <a:spLocks noChangeAspect="1"/>
          </p:cNvSpPr>
          <p:nvPr/>
        </p:nvSpPr>
        <p:spPr bwMode="auto">
          <a:xfrm>
            <a:off x="5905500" y="2133600"/>
            <a:ext cx="801688" cy="1104900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492" y="0"/>
              </a:cxn>
            </a:cxnLst>
            <a:rect l="0" t="0" r="r" b="b"/>
            <a:pathLst>
              <a:path w="492" h="678">
                <a:moveTo>
                  <a:pt x="0" y="678"/>
                </a:moveTo>
                <a:lnTo>
                  <a:pt x="492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366" name="Line 22"/>
          <p:cNvSpPr>
            <a:spLocks noChangeAspect="1" noChangeShapeType="1"/>
          </p:cNvSpPr>
          <p:nvPr/>
        </p:nvSpPr>
        <p:spPr bwMode="auto">
          <a:xfrm flipV="1">
            <a:off x="5905500" y="3048000"/>
            <a:ext cx="1639888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367" name="Line 23"/>
          <p:cNvSpPr>
            <a:spLocks noChangeAspect="1" noChangeShapeType="1"/>
          </p:cNvSpPr>
          <p:nvPr/>
        </p:nvSpPr>
        <p:spPr bwMode="auto">
          <a:xfrm>
            <a:off x="5905500" y="3314700"/>
            <a:ext cx="2173288" cy="342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368" name="Freeform 24"/>
          <p:cNvSpPr>
            <a:spLocks noChangeAspect="1"/>
          </p:cNvSpPr>
          <p:nvPr/>
        </p:nvSpPr>
        <p:spPr bwMode="auto">
          <a:xfrm>
            <a:off x="6543675" y="2438400"/>
            <a:ext cx="587375" cy="2190750"/>
          </a:xfrm>
          <a:custGeom>
            <a:avLst/>
            <a:gdLst/>
            <a:ahLst/>
            <a:cxnLst>
              <a:cxn ang="0">
                <a:pos x="0" y="1380"/>
              </a:cxn>
              <a:cxn ang="0">
                <a:pos x="370" y="0"/>
              </a:cxn>
            </a:cxnLst>
            <a:rect l="0" t="0" r="r" b="b"/>
            <a:pathLst>
              <a:path w="370" h="1380">
                <a:moveTo>
                  <a:pt x="0" y="1380"/>
                </a:moveTo>
                <a:lnTo>
                  <a:pt x="370" y="0"/>
                </a:lnTo>
              </a:path>
            </a:pathLst>
          </a:custGeom>
          <a:noFill/>
          <a:ln w="38100">
            <a:solidFill>
              <a:srgbClr val="CCCC00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369" name="Freeform 25"/>
          <p:cNvSpPr>
            <a:spLocks noChangeAspect="1"/>
          </p:cNvSpPr>
          <p:nvPr/>
        </p:nvSpPr>
        <p:spPr bwMode="auto">
          <a:xfrm>
            <a:off x="6553200" y="3200400"/>
            <a:ext cx="992188" cy="1428750"/>
          </a:xfrm>
          <a:custGeom>
            <a:avLst/>
            <a:gdLst/>
            <a:ahLst/>
            <a:cxnLst>
              <a:cxn ang="0">
                <a:pos x="0" y="900"/>
              </a:cxn>
              <a:cxn ang="0">
                <a:pos x="625" y="0"/>
              </a:cxn>
            </a:cxnLst>
            <a:rect l="0" t="0" r="r" b="b"/>
            <a:pathLst>
              <a:path w="625" h="900">
                <a:moveTo>
                  <a:pt x="0" y="900"/>
                </a:moveTo>
                <a:lnTo>
                  <a:pt x="625" y="0"/>
                </a:lnTo>
              </a:path>
            </a:pathLst>
          </a:custGeom>
          <a:noFill/>
          <a:ln w="38100">
            <a:solidFill>
              <a:srgbClr val="CCCC00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370" name="Freeform 26"/>
          <p:cNvSpPr>
            <a:spLocks noChangeAspect="1"/>
          </p:cNvSpPr>
          <p:nvPr/>
        </p:nvSpPr>
        <p:spPr bwMode="auto">
          <a:xfrm>
            <a:off x="6543675" y="3771900"/>
            <a:ext cx="1535113" cy="876300"/>
          </a:xfrm>
          <a:custGeom>
            <a:avLst/>
            <a:gdLst/>
            <a:ahLst/>
            <a:cxnLst>
              <a:cxn ang="0">
                <a:pos x="0" y="552"/>
              </a:cxn>
              <a:cxn ang="0">
                <a:pos x="967" y="0"/>
              </a:cxn>
            </a:cxnLst>
            <a:rect l="0" t="0" r="r" b="b"/>
            <a:pathLst>
              <a:path w="967" h="552">
                <a:moveTo>
                  <a:pt x="0" y="552"/>
                </a:moveTo>
                <a:lnTo>
                  <a:pt x="967" y="0"/>
                </a:lnTo>
              </a:path>
            </a:pathLst>
          </a:custGeom>
          <a:noFill/>
          <a:ln w="38100">
            <a:solidFill>
              <a:srgbClr val="CCCC00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57371" name="Picture 27" descr="MPj04094900000[1]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459788" y="2057400"/>
            <a:ext cx="428625" cy="646113"/>
          </a:xfrm>
          <a:prstGeom prst="rect">
            <a:avLst/>
          </a:prstGeom>
          <a:noFill/>
        </p:spPr>
      </p:pic>
      <p:sp>
        <p:nvSpPr>
          <p:cNvPr id="57372" name="Line 28"/>
          <p:cNvSpPr>
            <a:spLocks noChangeAspect="1" noChangeShapeType="1"/>
          </p:cNvSpPr>
          <p:nvPr/>
        </p:nvSpPr>
        <p:spPr bwMode="auto">
          <a:xfrm flipV="1">
            <a:off x="8459788" y="2705100"/>
            <a:ext cx="114300" cy="72390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373" name="Line 29"/>
          <p:cNvSpPr>
            <a:spLocks noChangeAspect="1" noChangeShapeType="1"/>
          </p:cNvSpPr>
          <p:nvPr/>
        </p:nvSpPr>
        <p:spPr bwMode="auto">
          <a:xfrm flipH="1">
            <a:off x="8154988" y="2628900"/>
            <a:ext cx="304800" cy="26670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8001000" y="4343400"/>
            <a:ext cx="952500" cy="685800"/>
            <a:chOff x="5040" y="2928"/>
            <a:chExt cx="600" cy="432"/>
          </a:xfrm>
        </p:grpSpPr>
        <p:pic>
          <p:nvPicPr>
            <p:cNvPr id="57375" name="Picture 31" descr="XBD200602-00019-07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5376" y="2976"/>
              <a:ext cx="223" cy="336"/>
            </a:xfrm>
            <a:prstGeom prst="rect">
              <a:avLst/>
            </a:prstGeom>
            <a:noFill/>
          </p:spPr>
        </p:pic>
        <p:sp>
          <p:nvSpPr>
            <p:cNvPr id="57376" name="Rectangle 32"/>
            <p:cNvSpPr>
              <a:spLocks noChangeAspect="1" noChangeArrowheads="1"/>
            </p:cNvSpPr>
            <p:nvPr/>
          </p:nvSpPr>
          <p:spPr bwMode="auto">
            <a:xfrm>
              <a:off x="5040" y="2928"/>
              <a:ext cx="600" cy="432"/>
            </a:xfrm>
            <a:prstGeom prst="rect">
              <a:avLst/>
            </a:prstGeom>
            <a:noFill/>
            <a:ln w="38100">
              <a:solidFill>
                <a:srgbClr val="CC3399"/>
              </a:solidFill>
              <a:miter lim="800000"/>
              <a:headEnd/>
              <a:tailEnd/>
            </a:ln>
            <a:effectLst/>
          </p:spPr>
          <p:txBody>
            <a:bodyPr wrap="none" anchorCtr="1"/>
            <a:lstStyle/>
            <a:p>
              <a:pPr algn="ctr" eaLnBrk="1" hangingPunct="1"/>
              <a:r>
                <a:rPr lang="en-US" sz="1200" b="1">
                  <a:latin typeface="Arial" pitchFamily="34" charset="0"/>
                </a:rPr>
                <a:t>Large           </a:t>
              </a:r>
            </a:p>
            <a:p>
              <a:pPr algn="ctr" eaLnBrk="1" hangingPunct="1"/>
              <a:r>
                <a:rPr lang="en-US" sz="1200" b="1">
                  <a:latin typeface="Arial" pitchFamily="34" charset="0"/>
                </a:rPr>
                <a:t>Models</a:t>
              </a:r>
              <a:r>
                <a:rPr lang="en-US" sz="1200">
                  <a:latin typeface="Arial" pitchFamily="34" charset="0"/>
                </a:rPr>
                <a:t>         </a:t>
              </a:r>
            </a:p>
          </p:txBody>
        </p:sp>
      </p:grpSp>
      <p:sp>
        <p:nvSpPr>
          <p:cNvPr id="57377" name="Line 33"/>
          <p:cNvSpPr>
            <a:spLocks noChangeAspect="1" noChangeShapeType="1"/>
          </p:cNvSpPr>
          <p:nvPr/>
        </p:nvSpPr>
        <p:spPr bwMode="auto">
          <a:xfrm flipV="1">
            <a:off x="8307388" y="3886200"/>
            <a:ext cx="0" cy="457200"/>
          </a:xfrm>
          <a:prstGeom prst="line">
            <a:avLst/>
          </a:prstGeom>
          <a:noFill/>
          <a:ln w="38100">
            <a:solidFill>
              <a:srgbClr val="CC3399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378" name="Freeform 34"/>
          <p:cNvSpPr>
            <a:spLocks noChangeAspect="1"/>
          </p:cNvSpPr>
          <p:nvPr/>
        </p:nvSpPr>
        <p:spPr bwMode="auto">
          <a:xfrm>
            <a:off x="8712200" y="2705100"/>
            <a:ext cx="280988" cy="1638300"/>
          </a:xfrm>
          <a:custGeom>
            <a:avLst/>
            <a:gdLst/>
            <a:ahLst/>
            <a:cxnLst>
              <a:cxn ang="0">
                <a:pos x="0" y="1680"/>
              </a:cxn>
              <a:cxn ang="0">
                <a:pos x="288" y="1008"/>
              </a:cxn>
              <a:cxn ang="0">
                <a:pos x="0" y="0"/>
              </a:cxn>
            </a:cxnLst>
            <a:rect l="0" t="0" r="r" b="b"/>
            <a:pathLst>
              <a:path w="288" h="1680">
                <a:moveTo>
                  <a:pt x="0" y="1680"/>
                </a:moveTo>
                <a:cubicBezTo>
                  <a:pt x="144" y="1484"/>
                  <a:pt x="288" y="1288"/>
                  <a:pt x="288" y="1008"/>
                </a:cubicBezTo>
                <a:cubicBezTo>
                  <a:pt x="288" y="728"/>
                  <a:pt x="48" y="168"/>
                  <a:pt x="0" y="0"/>
                </a:cubicBezTo>
              </a:path>
            </a:pathLst>
          </a:custGeom>
          <a:noFill/>
          <a:ln w="38100" cmpd="sng">
            <a:solidFill>
              <a:srgbClr val="CC3399"/>
            </a:solidFill>
            <a:round/>
            <a:headEnd type="none" w="med" len="med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411" name="Documents"/>
          <p:cNvSpPr>
            <a:spLocks noEditPoints="1" noChangeArrowheads="1"/>
          </p:cNvSpPr>
          <p:nvPr/>
        </p:nvSpPr>
        <p:spPr bwMode="auto">
          <a:xfrm rot="-5400000">
            <a:off x="8001000" y="5791200"/>
            <a:ext cx="304800" cy="457200"/>
          </a:xfrm>
          <a:custGeom>
            <a:avLst/>
            <a:gdLst>
              <a:gd name="T0" fmla="*/ 0 w 21600"/>
              <a:gd name="T1" fmla="*/ 2800 h 21600"/>
              <a:gd name="T2" fmla="*/ 3468 w 21600"/>
              <a:gd name="T3" fmla="*/ 0 h 21600"/>
              <a:gd name="T4" fmla="*/ 21653 w 21600"/>
              <a:gd name="T5" fmla="*/ 18828 h 21600"/>
              <a:gd name="T6" fmla="*/ 19954 w 21600"/>
              <a:gd name="T7" fmla="*/ 20214 h 21600"/>
              <a:gd name="T8" fmla="*/ 18256 w 21600"/>
              <a:gd name="T9" fmla="*/ 21628 h 21600"/>
              <a:gd name="T10" fmla="*/ 19954 w 21600"/>
              <a:gd name="T11" fmla="*/ 1428 h 21600"/>
              <a:gd name="T12" fmla="*/ 18256 w 21600"/>
              <a:gd name="T13" fmla="*/ 2800 h 21600"/>
              <a:gd name="T14" fmla="*/ 1645 w 21600"/>
              <a:gd name="T15" fmla="*/ 1428 h 21600"/>
              <a:gd name="T16" fmla="*/ 21600 w 21600"/>
              <a:gd name="T17" fmla="*/ 0 h 21600"/>
              <a:gd name="T18" fmla="*/ 10800 w 21600"/>
              <a:gd name="T19" fmla="*/ 0 h 21600"/>
              <a:gd name="T20" fmla="*/ 0 w 21600"/>
              <a:gd name="T21" fmla="*/ 10800 h 21600"/>
              <a:gd name="T22" fmla="*/ 21600 w 21600"/>
              <a:gd name="T23" fmla="*/ 10800 h 21600"/>
              <a:gd name="T24" fmla="*/ 1645 w 21600"/>
              <a:gd name="T25" fmla="*/ 4171 h 21600"/>
              <a:gd name="T26" fmla="*/ 16522 w 21600"/>
              <a:gd name="T27" fmla="*/ 17314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rgbClr val="D8EBB3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422" name="Rectangle 78"/>
          <p:cNvSpPr>
            <a:spLocks noChangeAspect="1" noChangeArrowheads="1"/>
          </p:cNvSpPr>
          <p:nvPr/>
        </p:nvSpPr>
        <p:spPr bwMode="auto">
          <a:xfrm>
            <a:off x="7848600" y="5410200"/>
            <a:ext cx="1143000" cy="838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  <a:effectLst/>
        </p:spPr>
        <p:txBody>
          <a:bodyPr wrap="none" anchorCtr="1"/>
          <a:lstStyle/>
          <a:p>
            <a:pPr eaLnBrk="1" hangingPunct="1"/>
            <a:r>
              <a:rPr lang="en-US" sz="1200" b="1">
                <a:latin typeface="Arial" pitchFamily="34" charset="0"/>
              </a:rPr>
              <a:t>Legacy </a:t>
            </a:r>
          </a:p>
          <a:p>
            <a:pPr eaLnBrk="1" hangingPunct="1"/>
            <a:r>
              <a:rPr lang="en-US" sz="1200" b="1">
                <a:latin typeface="Arial" pitchFamily="34" charset="0"/>
              </a:rPr>
              <a:t>Sources  </a:t>
            </a:r>
            <a:r>
              <a:rPr lang="en-US" sz="1200">
                <a:latin typeface="Arial" pitchFamily="34" charset="0"/>
              </a:rPr>
              <a:t>   </a:t>
            </a:r>
          </a:p>
        </p:txBody>
      </p:sp>
      <p:pic>
        <p:nvPicPr>
          <p:cNvPr id="57424" name="Picture 80" descr="IMG_0302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610600" y="5715000"/>
            <a:ext cx="342900" cy="457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524000"/>
          <a:ext cx="8229600" cy="438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Typical Data Analysis Flow Today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97422" y="1752600"/>
            <a:ext cx="2917978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Arial Black" pitchFamily="34" charset="0"/>
              </a:rPr>
              <a:t>Matlab</a:t>
            </a:r>
            <a:r>
              <a:rPr lang="en-US" dirty="0" smtClean="0">
                <a:latin typeface="Arial Black" pitchFamily="34" charset="0"/>
              </a:rPr>
              <a:t>, Excel, </a:t>
            </a:r>
          </a:p>
          <a:p>
            <a:r>
              <a:rPr lang="en-US" dirty="0" smtClean="0">
                <a:latin typeface="Arial Black" pitchFamily="34" charset="0"/>
              </a:rPr>
              <a:t>S-Plus, PV-Wave, R, …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6" name="Picture 6" descr="cuahsi-hi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0022" y="2941636"/>
            <a:ext cx="1524000" cy="917383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34822" y="4953000"/>
            <a:ext cx="2796535" cy="1200329"/>
          </a:xfrm>
          <a:prstGeom prst="rect">
            <a:avLst/>
          </a:prstGeom>
          <a:solidFill>
            <a:schemeClr val="bg2">
              <a:lumMod val="90000"/>
              <a:alpha val="71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Black" pitchFamily="34" charset="0"/>
              </a:rPr>
              <a:t>Web page, e-mail, </a:t>
            </a:r>
          </a:p>
          <a:p>
            <a:r>
              <a:rPr lang="en-US" dirty="0" smtClean="0">
                <a:latin typeface="Arial Black" pitchFamily="34" charset="0"/>
              </a:rPr>
              <a:t>web service,  phone,</a:t>
            </a:r>
          </a:p>
          <a:p>
            <a:r>
              <a:rPr lang="en-US" dirty="0" smtClean="0">
                <a:latin typeface="Arial Black" pitchFamily="34" charset="0"/>
              </a:rPr>
              <a:t>Student, Post-doc, </a:t>
            </a:r>
          </a:p>
          <a:p>
            <a:r>
              <a:rPr lang="en-US" dirty="0" smtClean="0">
                <a:latin typeface="Arial Black" pitchFamily="34" charset="0"/>
              </a:rPr>
              <a:t>Friend,  . . .</a:t>
            </a:r>
            <a:endParaRPr lang="en-US" dirty="0">
              <a:latin typeface="Arial Black" pitchFamily="3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rot="5400000" flipH="1" flipV="1">
            <a:off x="1120622" y="4495800"/>
            <a:ext cx="4572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254222" y="58674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 flipV="1">
            <a:off x="5562600" y="1858963"/>
            <a:ext cx="381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>
            <a:off x="6819900" y="31623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8305800" cy="1143000"/>
          </a:xfrm>
        </p:spPr>
        <p:txBody>
          <a:bodyPr/>
          <a:lstStyle/>
          <a:p>
            <a:r>
              <a:rPr lang="en-US" dirty="0" smtClean="0"/>
              <a:t>Target Data Analysis Flow </a:t>
            </a:r>
            <a:endParaRPr lang="en-US" dirty="0"/>
          </a:p>
        </p:txBody>
      </p:sp>
      <p:graphicFrame>
        <p:nvGraphicFramePr>
          <p:cNvPr id="39" name="Diagram 38"/>
          <p:cNvGraphicFramePr/>
          <p:nvPr/>
        </p:nvGraphicFramePr>
        <p:xfrm>
          <a:off x="609600" y="1371600"/>
          <a:ext cx="7467600" cy="523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0" name="Left-Right Arrow 39"/>
          <p:cNvSpPr/>
          <p:nvPr/>
        </p:nvSpPr>
        <p:spPr>
          <a:xfrm>
            <a:off x="2667000" y="3657600"/>
            <a:ext cx="609600" cy="3048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-Right Arrow 40"/>
          <p:cNvSpPr/>
          <p:nvPr/>
        </p:nvSpPr>
        <p:spPr>
          <a:xfrm>
            <a:off x="5334000" y="3581400"/>
            <a:ext cx="609600" cy="3048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Up-Down Arrow 41"/>
          <p:cNvSpPr/>
          <p:nvPr/>
        </p:nvSpPr>
        <p:spPr>
          <a:xfrm>
            <a:off x="4114800" y="2514600"/>
            <a:ext cx="381000" cy="6096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Up-Down Arrow 42"/>
          <p:cNvSpPr/>
          <p:nvPr/>
        </p:nvSpPr>
        <p:spPr>
          <a:xfrm>
            <a:off x="4114800" y="4648200"/>
            <a:ext cx="381000" cy="6096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81800" y="4876800"/>
            <a:ext cx="2133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Track versions,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results, and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provenance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Scientific Data Server - Overview</a:t>
            </a:r>
            <a:endParaRPr lang="en-US" dirty="0"/>
          </a:p>
        </p:txBody>
      </p:sp>
      <p:sp>
        <p:nvSpPr>
          <p:cNvPr id="3" name="Flowchart: Magnetic Disk 2"/>
          <p:cNvSpPr/>
          <p:nvPr/>
        </p:nvSpPr>
        <p:spPr>
          <a:xfrm>
            <a:off x="2590800" y="2362200"/>
            <a:ext cx="2667000" cy="1600200"/>
          </a:xfrm>
          <a:prstGeom prst="flowChartMagneticDisk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Databases</a:t>
            </a:r>
            <a:endParaRPr lang="en-US" sz="3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ube 3"/>
          <p:cNvSpPr/>
          <p:nvPr/>
        </p:nvSpPr>
        <p:spPr>
          <a:xfrm>
            <a:off x="6248400" y="2057400"/>
            <a:ext cx="2133600" cy="1981200"/>
          </a:xfrm>
          <a:prstGeom prst="cub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Data Cubes</a:t>
            </a:r>
            <a:endParaRPr lang="en-US" sz="3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5257800" y="28956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Punched Tape 5"/>
          <p:cNvSpPr/>
          <p:nvPr/>
        </p:nvSpPr>
        <p:spPr>
          <a:xfrm>
            <a:off x="4648200" y="4953000"/>
            <a:ext cx="2209800" cy="1490472"/>
          </a:xfrm>
          <a:prstGeom prst="flowChartPunchedTap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User Interfaces</a:t>
            </a:r>
            <a:endParaRPr lang="en-US" sz="3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ight Arrow 6"/>
          <p:cNvSpPr/>
          <p:nvPr/>
        </p:nvSpPr>
        <p:spPr>
          <a:xfrm rot="2589840">
            <a:off x="4002983" y="4329733"/>
            <a:ext cx="148841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 rot="2746928">
            <a:off x="6525681" y="3988028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Multidocument 9"/>
          <p:cNvSpPr/>
          <p:nvPr/>
        </p:nvSpPr>
        <p:spPr>
          <a:xfrm>
            <a:off x="304800" y="2590800"/>
            <a:ext cx="1670304" cy="1905000"/>
          </a:xfrm>
          <a:prstGeom prst="flowChartMultidocumen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Data Ingest</a:t>
            </a:r>
            <a:endParaRPr lang="en-US" sz="3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1981200" y="3048000"/>
            <a:ext cx="609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90600"/>
            <a:ext cx="7467600" cy="635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Database Role</a:t>
            </a:r>
            <a:endParaRPr 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676400"/>
            <a:ext cx="5029200" cy="49022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All descriptive metadata and data held in relational databases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Metadata is important too!</a:t>
            </a:r>
          </a:p>
          <a:p>
            <a:pPr>
              <a:lnSpc>
                <a:spcPct val="80000"/>
              </a:lnSpc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Data versioning enables tracking of changes</a:t>
            </a:r>
          </a:p>
          <a:p>
            <a:pPr>
              <a:lnSpc>
                <a:spcPct val="80000"/>
              </a:lnSpc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Data reorganization easy</a:t>
            </a:r>
          </a:p>
          <a:p>
            <a:pPr>
              <a:lnSpc>
                <a:spcPct val="80000"/>
              </a:lnSpc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Allows complex questions to be posed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Data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may be exported to flat file, copied to a private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MyDb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database, directly accessed programmatically, or ? </a:t>
            </a:r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6629400" y="457200"/>
          <a:ext cx="1031875" cy="3946293"/>
        </p:xfrm>
        <a:graphic>
          <a:graphicData uri="http://schemas.openxmlformats.org/presentationml/2006/ole">
            <p:oleObj spid="_x0000_s64514" name="Visio" r:id="rId3" imgW="1398270" imgH="5350383" progId="Visio.Drawing.11">
              <p:embed/>
            </p:oleObj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ph sz="quarter" idx="3"/>
          </p:nvPr>
        </p:nvGraphicFramePr>
        <p:xfrm>
          <a:off x="7772399" y="3962400"/>
          <a:ext cx="1243995" cy="1295400"/>
        </p:xfrm>
        <a:graphic>
          <a:graphicData uri="http://schemas.openxmlformats.org/presentationml/2006/ole">
            <p:oleObj spid="_x0000_s64515" name="Visio" r:id="rId4" imgW="961263" imgH="1001268" progId="Visio.Drawing.11">
              <p:embed/>
            </p:oleObj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5410200" y="4114800"/>
          <a:ext cx="1097643" cy="1143000"/>
        </p:xfrm>
        <a:graphic>
          <a:graphicData uri="http://schemas.openxmlformats.org/presentationml/2006/ole">
            <p:oleObj spid="_x0000_s64516" name="Visio" r:id="rId5" imgW="961263" imgH="1001268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Cubes</a:t>
            </a:r>
          </a:p>
        </p:txBody>
      </p:sp>
      <p:sp>
        <p:nvSpPr>
          <p:cNvPr id="26632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5029200" cy="52578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 data cube is a database specifically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designed for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data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mining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Simple </a:t>
            </a:r>
            <a:r>
              <a:rPr lang="en-US" sz="2000" i="1" dirty="0">
                <a:latin typeface="Arial" pitchFamily="34" charset="0"/>
                <a:cs typeface="Arial" pitchFamily="34" charset="0"/>
              </a:rPr>
              <a:t>aggregations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(sum, min, or max) can be pre-computed for speed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Additional calculations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can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be computed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dynamically or pre-computed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Both operate along </a:t>
            </a:r>
            <a:r>
              <a:rPr lang="en-US" sz="2000" i="1" dirty="0">
                <a:latin typeface="Arial" pitchFamily="34" charset="0"/>
                <a:cs typeface="Arial" pitchFamily="34" charset="0"/>
              </a:rPr>
              <a:t>dimensions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such as time, site, or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datumtype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Constructed from a relational database</a:t>
            </a:r>
          </a:p>
          <a:p>
            <a:pPr>
              <a:lnSpc>
                <a:spcPct val="8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Client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tool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integration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is evolving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Excel PivotTables allow simple data viewing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More powerful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analysis and plotting using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Matlab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and statistics software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1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58962" y="1905000"/>
            <a:ext cx="3385038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ontent Placeholder 5"/>
          <p:cNvGrpSpPr>
            <a:grpSpLocks noGrp="1" noChangeAspect="1"/>
          </p:cNvGrpSpPr>
          <p:nvPr>
            <p:ph idx="1"/>
          </p:nvPr>
        </p:nvGrpSpPr>
        <p:grpSpPr>
          <a:xfrm>
            <a:off x="457200" y="1935163"/>
            <a:ext cx="8674416" cy="4389437"/>
            <a:chOff x="212725" y="1447800"/>
            <a:chExt cx="9178083" cy="5186363"/>
          </a:xfrm>
        </p:grpSpPr>
        <p:pic>
          <p:nvPicPr>
            <p:cNvPr id="7" name="Picture 3" descr="MCj04041590000[1]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57200" y="1447800"/>
              <a:ext cx="1422400" cy="1427163"/>
            </a:xfrm>
            <a:prstGeom prst="rect">
              <a:avLst/>
            </a:prstGeom>
            <a:noFill/>
          </p:spPr>
        </p:pic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212725" y="3084513"/>
              <a:ext cx="1936719" cy="763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>
                  <a:latin typeface="Arial" pitchFamily="34" charset="0"/>
                  <a:cs typeface="Arial" pitchFamily="34" charset="0"/>
                </a:rPr>
                <a:t>ORNL </a:t>
              </a:r>
              <a:r>
                <a:rPr lang="en-US" dirty="0" err="1">
                  <a:latin typeface="Arial" pitchFamily="34" charset="0"/>
                  <a:cs typeface="Arial" pitchFamily="34" charset="0"/>
                </a:rPr>
                <a:t>Ameriflux</a:t>
              </a:r>
              <a:endParaRPr lang="en-US" dirty="0">
                <a:latin typeface="Arial" pitchFamily="34" charset="0"/>
                <a:cs typeface="Arial" pitchFamily="34" charset="0"/>
              </a:endParaRPr>
            </a:p>
            <a:p>
              <a:pPr algn="l"/>
              <a:r>
                <a:rPr lang="en-US" dirty="0">
                  <a:latin typeface="Arial" pitchFamily="34" charset="0"/>
                  <a:cs typeface="Arial" pitchFamily="34" charset="0"/>
                </a:rPr>
                <a:t>Web Site</a:t>
              </a:r>
            </a:p>
          </p:txBody>
        </p:sp>
        <p:pic>
          <p:nvPicPr>
            <p:cNvPr id="9" name="Picture 5" descr="ornl-csv-file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209800" y="2209800"/>
              <a:ext cx="1800225" cy="989013"/>
            </a:xfrm>
            <a:prstGeom prst="rect">
              <a:avLst/>
            </a:prstGeom>
            <a:noFill/>
          </p:spPr>
        </p:pic>
        <p:pic>
          <p:nvPicPr>
            <p:cNvPr id="10" name="Picture 6" descr="csv-as-excel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590800" y="2514600"/>
              <a:ext cx="1800225" cy="915988"/>
            </a:xfrm>
            <a:prstGeom prst="rect">
              <a:avLst/>
            </a:prstGeom>
            <a:noFill/>
          </p:spPr>
        </p:pic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1447800" y="2438400"/>
              <a:ext cx="76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2574926" y="1789114"/>
              <a:ext cx="1280879" cy="436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>
                  <a:latin typeface="Arial" pitchFamily="34" charset="0"/>
                  <a:cs typeface="Arial" pitchFamily="34" charset="0"/>
                </a:rPr>
                <a:t>CSV Files</a:t>
              </a:r>
            </a:p>
          </p:txBody>
        </p:sp>
        <p:pic>
          <p:nvPicPr>
            <p:cNvPr id="13" name="Picture 9" descr="j0195384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934200" y="4800600"/>
              <a:ext cx="1795463" cy="1833563"/>
            </a:xfrm>
            <a:prstGeom prst="rect">
              <a:avLst/>
            </a:prstGeom>
            <a:noFill/>
          </p:spPr>
        </p:pic>
        <p:pic>
          <p:nvPicPr>
            <p:cNvPr id="14" name="Picture 10" descr="MCj04041590000[1]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524000" y="4114800"/>
              <a:ext cx="1422400" cy="1427163"/>
            </a:xfrm>
            <a:prstGeom prst="rect">
              <a:avLst/>
            </a:prstGeom>
            <a:noFill/>
          </p:spPr>
        </p:pic>
        <p:sp>
          <p:nvSpPr>
            <p:cNvPr id="15" name="Line 11"/>
            <p:cNvSpPr>
              <a:spLocks noChangeShapeType="1"/>
            </p:cNvSpPr>
            <p:nvPr/>
          </p:nvSpPr>
          <p:spPr bwMode="auto">
            <a:xfrm flipH="1">
              <a:off x="2057400" y="3200400"/>
              <a:ext cx="533400" cy="1143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1143000" y="5638799"/>
              <a:ext cx="2167317" cy="763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latin typeface="Arial" pitchFamily="34" charset="0"/>
                  <a:cs typeface="Arial" pitchFamily="34" charset="0"/>
                </a:rPr>
                <a:t>BWC SQL Server </a:t>
              </a:r>
            </a:p>
            <a:p>
              <a:pPr algn="l"/>
              <a:r>
                <a:rPr lang="en-US">
                  <a:latin typeface="Arial" pitchFamily="34" charset="0"/>
                  <a:cs typeface="Arial" pitchFamily="34" charset="0"/>
                </a:rPr>
                <a:t>Database</a:t>
              </a:r>
            </a:p>
          </p:txBody>
        </p:sp>
        <p:pic>
          <p:nvPicPr>
            <p:cNvPr id="17" name="Picture 1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505200" y="3810000"/>
              <a:ext cx="1984375" cy="1563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2590800" y="4724400"/>
              <a:ext cx="914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9" name="Picture 15" descr="pivot-table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715000" y="2590800"/>
              <a:ext cx="2395538" cy="1169988"/>
            </a:xfrm>
            <a:prstGeom prst="rect">
              <a:avLst/>
            </a:prstGeom>
            <a:noFill/>
          </p:spPr>
        </p:pic>
        <p:pic>
          <p:nvPicPr>
            <p:cNvPr id="20" name="Picture 16" descr="pivot-chart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096000" y="3352800"/>
              <a:ext cx="2395538" cy="1169988"/>
            </a:xfrm>
            <a:prstGeom prst="rect">
              <a:avLst/>
            </a:prstGeom>
            <a:noFill/>
          </p:spPr>
        </p:pic>
        <p:sp>
          <p:nvSpPr>
            <p:cNvPr id="21" name="Line 17"/>
            <p:cNvSpPr>
              <a:spLocks noChangeShapeType="1"/>
            </p:cNvSpPr>
            <p:nvPr/>
          </p:nvSpPr>
          <p:spPr bwMode="auto">
            <a:xfrm flipV="1">
              <a:off x="5181600" y="3810000"/>
              <a:ext cx="8382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6477000" y="4572000"/>
              <a:ext cx="5334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4022726" y="5522913"/>
              <a:ext cx="1362291" cy="436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latin typeface="Arial" pitchFamily="34" charset="0"/>
                  <a:cs typeface="Arial" pitchFamily="34" charset="0"/>
                </a:rPr>
                <a:t>Data Cube</a:t>
              </a: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5292064" y="1682264"/>
              <a:ext cx="4098744" cy="763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 smtClean="0">
                  <a:latin typeface="Arial" pitchFamily="34" charset="0"/>
                  <a:cs typeface="Arial" pitchFamily="34" charset="0"/>
                </a:rPr>
                <a:t>Reports, Web Services, Excel 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Pivot </a:t>
              </a:r>
            </a:p>
            <a:p>
              <a:pPr algn="l"/>
              <a:r>
                <a:rPr lang="en-US" dirty="0">
                  <a:latin typeface="Arial" pitchFamily="34" charset="0"/>
                  <a:cs typeface="Arial" pitchFamily="34" charset="0"/>
                </a:rPr>
                <a:t>Table and </a:t>
              </a:r>
              <a:r>
                <a:rPr lang="en-US" dirty="0" smtClean="0">
                  <a:latin typeface="Arial" pitchFamily="34" charset="0"/>
                  <a:cs typeface="Arial" pitchFamily="34" charset="0"/>
                </a:rPr>
                <a:t>Pivot Chart</a:t>
              </a:r>
              <a:endParaRPr lang="en-US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5" name="Picture 21" descr="data-avail-report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7010400" y="2362200"/>
              <a:ext cx="1909763" cy="1400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762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Scientific Data Server </a:t>
            </a:r>
            <a:r>
              <a:rPr lang="en-US" dirty="0" smtClean="0"/>
              <a:t>– User Interface</a:t>
            </a:r>
            <a:endParaRPr lang="en-US" dirty="0"/>
          </a:p>
        </p:txBody>
      </p:sp>
      <p:cxnSp>
        <p:nvCxnSpPr>
          <p:cNvPr id="37" name="Straight Arrow Connector 36"/>
          <p:cNvCxnSpPr>
            <a:stCxn id="13" idx="1"/>
            <a:endCxn id="10" idx="3"/>
          </p:cNvCxnSpPr>
          <p:nvPr/>
        </p:nvCxnSpPr>
        <p:spPr>
          <a:xfrm rot="10800000">
            <a:off x="4406207" y="3225662"/>
            <a:ext cx="2403614" cy="2323029"/>
          </a:xfrm>
          <a:prstGeom prst="straightConnector1">
            <a:avLst/>
          </a:prstGeom>
          <a:ln w="63500">
            <a:solidFill>
              <a:schemeClr val="accent1">
                <a:shade val="50000"/>
                <a:satMod val="103000"/>
                <a:alpha val="34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ct 2"/>
          <p:cNvGraphicFramePr>
            <a:graphicFrameLocks noChangeAspect="1"/>
          </p:cNvGraphicFramePr>
          <p:nvPr>
            <p:ph idx="1"/>
          </p:nvPr>
        </p:nvGraphicFramePr>
        <p:xfrm>
          <a:off x="903288" y="1481138"/>
          <a:ext cx="7337425" cy="4525962"/>
        </p:xfrm>
        <a:graphic>
          <a:graphicData uri="http://schemas.openxmlformats.org/presentationml/2006/ole">
            <p:oleObj spid="_x0000_s66562" name="Chart" r:id="rId3" imgW="11382375" imgH="7019925" progId="Excel.Sheet.8">
              <p:embed/>
            </p:oleObj>
          </a:graphicData>
        </a:graphic>
      </p:graphicFrame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Browsing For Data Availability</a:t>
            </a:r>
            <a:br>
              <a:rPr lang="en-US" sz="2800" dirty="0"/>
            </a:br>
            <a:r>
              <a:rPr lang="en-US" sz="1800" dirty="0"/>
              <a:t>Sites Reporting Data Colored by Year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9" name="Picture 5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457200" y="1680411"/>
            <a:ext cx="4038600" cy="4415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4038600" cy="443484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Each row corresponds to one site-year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Each cell corresponds to one site year of (FC, CO2 or SCO2, UST, PAR or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Rg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TA, and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Rh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or H2O).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Color indicates: 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Red – likely not enough for processing - % &lt; .3 reported (roughly less than 5K of 17.5K)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Green – likely not enough for processing .3&lt;%&lt;.999 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Yellow – may not be good for processing due to gap-filling - % &gt; .999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Red CO2 (second column) can be ignored for cropland/grassland sites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Sites shown are just a sample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52400" y="533400"/>
            <a:ext cx="8991600" cy="972312"/>
          </a:xfrm>
        </p:spPr>
        <p:txBody>
          <a:bodyPr>
            <a:noAutofit/>
          </a:bodyPr>
          <a:lstStyle/>
          <a:p>
            <a:r>
              <a:rPr lang="en-US" sz="4000" dirty="0" smtClean="0"/>
              <a:t>Required variable reporting by site by year</a:t>
            </a:r>
            <a:endParaRPr lang="en-US" sz="4000" dirty="0"/>
          </a:p>
        </p:txBody>
      </p:sp>
      <p:sp>
        <p:nvSpPr>
          <p:cNvPr id="13" name="TextBox 12"/>
          <p:cNvSpPr txBox="1"/>
          <p:nvPr/>
        </p:nvSpPr>
        <p:spPr>
          <a:xfrm>
            <a:off x="304800" y="6096000"/>
            <a:ext cx="853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Of the 285 site years with good FC, 50 site years are missing one of (UST, PAR/</a:t>
            </a:r>
            <a:r>
              <a:rPr lang="en-US" sz="20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Rg</a:t>
            </a:r>
            <a:r>
              <a:rPr lang="en-US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, and TA) and 79 sites have likely gap-filled data.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838200" y="1447800"/>
            <a:ext cx="7050635" cy="3791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Obviously bad annual averages</a:t>
            </a:r>
            <a:endParaRPr lang="en-US" sz="4000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304800" y="53340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Data cube used to browse average yearly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Rg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values across all site-years</a:t>
            </a: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16 additional likely problematic site-years at 5 sites 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457200" y="1524000"/>
            <a:ext cx="8229600" cy="3673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Drill down to consistent (bad) daily values</a:t>
            </a:r>
            <a:endParaRPr lang="en-US" sz="4000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304801" y="5334000"/>
            <a:ext cx="8610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Data cube used to browse 2005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Rg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values shows consistently high reporting (not just a few very large spikes) at Duke Forest sites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Drill down to Mead sites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5715000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Daily average FC at each site shows likely units and/or sign issues 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828800"/>
            <a:ext cx="7615237" cy="378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Simple check: the same FC value reported too often</a:t>
            </a:r>
            <a:endParaRPr lang="en-US" sz="36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5181600"/>
            <a:ext cx="8229600" cy="1295400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Database query returns </a:t>
            </a: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count by (site, year, value) where count &gt;= 500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Graph shows sum of (returned counts) by site and year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Sites with high sums likely report very few unique FC values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524000"/>
            <a:ext cx="6718300" cy="346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u="sng" dirty="0" err="1" smtClean="0">
                <a:latin typeface="Arial" pitchFamily="34" charset="0"/>
                <a:cs typeface="Arial" pitchFamily="34" charset="0"/>
              </a:rPr>
              <a:t>Ameriflux</a:t>
            </a:r>
            <a:r>
              <a:rPr lang="en-US" u="sng" dirty="0" smtClean="0">
                <a:latin typeface="Arial" pitchFamily="34" charset="0"/>
                <a:cs typeface="Arial" pitchFamily="34" charset="0"/>
              </a:rPr>
              <a:t> data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~145 million daily values in cube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Advanced calculations and statistics in cube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Methods of providing ½ hourly data access efficiently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Data quality assessment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Collection and incorporation of biological data</a:t>
            </a:r>
          </a:p>
          <a:p>
            <a:r>
              <a:rPr lang="en-US" u="sng" dirty="0" err="1" smtClean="0">
                <a:latin typeface="Arial" pitchFamily="34" charset="0"/>
                <a:cs typeface="Arial" pitchFamily="34" charset="0"/>
              </a:rPr>
              <a:t>Fluxnet</a:t>
            </a:r>
            <a:r>
              <a:rPr lang="en-US" u="sng" dirty="0" smtClean="0">
                <a:latin typeface="Arial" pitchFamily="34" charset="0"/>
                <a:cs typeface="Arial" pitchFamily="34" charset="0"/>
              </a:rPr>
              <a:t> data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~210 million daily values in cube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Waiting on gap filling and quality checking operations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Data server, cubes, and reports will likely be the primary repository and access  for researchers using the data</a:t>
            </a:r>
          </a:p>
          <a:p>
            <a:r>
              <a:rPr lang="en-US" u="sng" dirty="0" smtClean="0">
                <a:latin typeface="Arial" pitchFamily="34" charset="0"/>
                <a:cs typeface="Arial" pitchFamily="34" charset="0"/>
              </a:rPr>
              <a:t>Russian River Data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~23 million values in cube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Integration with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Matlab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and GIS 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Additional of data from other sources (fish, </a:t>
            </a:r>
            <a:r>
              <a:rPr lang="en-US" smtClean="0">
                <a:latin typeface="Arial" pitchFamily="34" charset="0"/>
                <a:cs typeface="Arial" pitchFamily="34" charset="0"/>
              </a:rPr>
              <a:t>sediment size, …)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Project Status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Versioning of data and collection of data provenance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Improved performance of database and cube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Handling of biological data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Advanced plotting capabilities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Integration of collaborative tools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Automation of data ingest, cube building, and report building</a:t>
            </a:r>
          </a:p>
          <a:p>
            <a:pPr>
              <a:buFont typeface="Arial" pitchFamily="34" charset="0"/>
              <a:buChar char="•"/>
            </a:pPr>
            <a:r>
              <a:rPr lang="en-US" dirty="0" err="1" smtClean="0">
                <a:latin typeface="Arial" pitchFamily="34" charset="0"/>
                <a:cs typeface="Arial" pitchFamily="34" charset="0"/>
              </a:rPr>
              <a:t>MyDB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MyCube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capabilities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Integration of workflow capabilities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Data server in a box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Sociological change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On-going and Future Challenges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err="1" smtClean="0">
                <a:latin typeface="Arial" pitchFamily="34" charset="0"/>
                <a:cs typeface="Arial" pitchFamily="34" charset="0"/>
              </a:rPr>
              <a:t>Ameriflux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collaboration is adopting the Data Server architecture for the data repository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BWC Data Server will be hosting the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Fluxnet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dataset which is expected to be the foundation for a broad range of research investigations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Ecological measurements are often “messy”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Applying the Data Server </a:t>
            </a:r>
            <a:r>
              <a:rPr lang="en-US" smtClean="0">
                <a:latin typeface="Arial" pitchFamily="34" charset="0"/>
                <a:cs typeface="Arial" pitchFamily="34" charset="0"/>
              </a:rPr>
              <a:t>to new domains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introduces many additional challenges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>
                <a:solidFill>
                  <a:schemeClr val="tx1"/>
                </a:solidFill>
              </a:rPr>
              <a:t>Summary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76200"/>
            <a:ext cx="7772400" cy="136245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Acknowledgements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0352" y="1447800"/>
            <a:ext cx="4117848" cy="5410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Berkeley Water Center, University of California, Berkeley, Lawrence Berkeley Laboratory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700" dirty="0" smtClean="0">
                <a:latin typeface="Arial" pitchFamily="34" charset="0"/>
                <a:cs typeface="Arial" pitchFamily="34" charset="0"/>
              </a:rPr>
              <a:t>Jim Hunt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Matt Rodriguez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700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Robin Weber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Monte Good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latin typeface="Arial" pitchFamily="34" charset="0"/>
                <a:cs typeface="Arial" pitchFamily="34" charset="0"/>
              </a:rPr>
              <a:t>Rebecca </a:t>
            </a:r>
            <a:r>
              <a:rPr lang="en-US" sz="1700" dirty="0" err="1" smtClean="0">
                <a:latin typeface="Arial" pitchFamily="34" charset="0"/>
                <a:cs typeface="Arial" pitchFamily="34" charset="0"/>
              </a:rPr>
              <a:t>Leonardson</a:t>
            </a:r>
            <a:r>
              <a:rPr lang="en-US" sz="1700" dirty="0" smtClean="0">
                <a:latin typeface="Arial" pitchFamily="34" charset="0"/>
                <a:cs typeface="Arial" pitchFamily="34" charset="0"/>
              </a:rPr>
              <a:t> (student)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latin typeface="Arial" pitchFamily="34" charset="0"/>
                <a:cs typeface="Arial" pitchFamily="34" charset="0"/>
              </a:rPr>
              <a:t>Carolyn </a:t>
            </a:r>
            <a:r>
              <a:rPr lang="en-US" sz="1700" dirty="0" err="1" smtClean="0">
                <a:latin typeface="Arial" pitchFamily="34" charset="0"/>
                <a:cs typeface="Arial" pitchFamily="34" charset="0"/>
              </a:rPr>
              <a:t>Remick</a:t>
            </a:r>
            <a:endParaRPr lang="en-US" sz="1700" dirty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Susan Hubbard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err="1" smtClean="0">
                <a:latin typeface="Arial" pitchFamily="34" charset="0"/>
                <a:cs typeface="Arial" pitchFamily="34" charset="0"/>
              </a:rPr>
              <a:t>Yoram</a:t>
            </a:r>
            <a:r>
              <a:rPr lang="en-US" sz="1700" dirty="0" smtClean="0">
                <a:latin typeface="Arial" pitchFamily="34" charset="0"/>
                <a:cs typeface="Arial" pitchFamily="34" charset="0"/>
              </a:rPr>
              <a:t> Rubin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University of Virginia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Marty Humphrey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Norm </a:t>
            </a:r>
            <a:r>
              <a:rPr lang="en-US" sz="1700" dirty="0" err="1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Beekwilder</a:t>
            </a:r>
            <a:endParaRPr lang="en-US" sz="1500" dirty="0">
              <a:solidFill>
                <a:schemeClr val="tx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Microsoft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Catharine van </a:t>
            </a:r>
            <a:r>
              <a:rPr lang="en-US" sz="1700" dirty="0" err="1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Ingen</a:t>
            </a:r>
            <a:endParaRPr lang="en-US" sz="1700" dirty="0" smtClean="0">
              <a:solidFill>
                <a:schemeClr val="tx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err="1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Jayant</a:t>
            </a:r>
            <a:r>
              <a:rPr lang="en-US" sz="1700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700" dirty="0" err="1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Gupchup</a:t>
            </a:r>
            <a:r>
              <a:rPr lang="en-US" sz="1700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(student)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Nolan Li (student)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 smtClean="0">
                <a:latin typeface="Arial" pitchFamily="34" charset="0"/>
                <a:cs typeface="Arial" pitchFamily="34" charset="0"/>
              </a:rPr>
              <a:t>Tony </a:t>
            </a:r>
            <a:r>
              <a:rPr lang="en-US" sz="1700" dirty="0">
                <a:latin typeface="Arial" pitchFamily="34" charset="0"/>
                <a:cs typeface="Arial" pitchFamily="34" charset="0"/>
              </a:rPr>
              <a:t>Hey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Dan Fay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Stuart </a:t>
            </a:r>
            <a:r>
              <a:rPr lang="en-US" sz="1700" dirty="0" err="1">
                <a:latin typeface="Arial" pitchFamily="34" charset="0"/>
                <a:cs typeface="Arial" pitchFamily="34" charset="0"/>
              </a:rPr>
              <a:t>Ozer</a:t>
            </a:r>
            <a:endParaRPr lang="en-US" sz="1700" dirty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SQL product </a:t>
            </a:r>
            <a:r>
              <a:rPr lang="en-US" sz="1700" dirty="0" smtClean="0">
                <a:latin typeface="Arial" pitchFamily="34" charset="0"/>
                <a:cs typeface="Arial" pitchFamily="34" charset="0"/>
              </a:rPr>
              <a:t>team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700" dirty="0" smtClean="0">
                <a:latin typeface="Arial" pitchFamily="34" charset="0"/>
                <a:cs typeface="Arial" pitchFamily="34" charset="0"/>
              </a:rPr>
              <a:t>Jim Gray</a:t>
            </a:r>
          </a:p>
        </p:txBody>
      </p:sp>
      <p:sp>
        <p:nvSpPr>
          <p:cNvPr id="130052" name="Rectangle 4"/>
          <p:cNvSpPr>
            <a:spLocks noChangeArrowheads="1"/>
          </p:cNvSpPr>
          <p:nvPr/>
        </p:nvSpPr>
        <p:spPr bwMode="auto">
          <a:xfrm>
            <a:off x="5029200" y="1447800"/>
            <a:ext cx="38100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000" dirty="0" err="1">
                <a:latin typeface="Arial" pitchFamily="34" charset="0"/>
                <a:cs typeface="Arial" pitchFamily="34" charset="0"/>
              </a:rPr>
              <a:t>Ameriflux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Collaboration</a:t>
            </a:r>
          </a:p>
          <a:p>
            <a:pPr marL="742950" lvl="1" indent="-28575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Beverly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Law</a:t>
            </a:r>
          </a:p>
          <a:p>
            <a:pPr marL="742950" lvl="1" indent="-28575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Tara 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Stiefl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 (student)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sz="16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Youngryel</a:t>
            </a: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Ryu</a:t>
            </a: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en-US" sz="16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postdoc</a:t>
            </a: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Gretchen </a:t>
            </a: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Miller (student)</a:t>
            </a:r>
          </a:p>
          <a:p>
            <a:pPr marL="742950" lvl="1" indent="-28575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Mattias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 Falk 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742950" lvl="1" indent="-28575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Tom 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Boden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742950" lvl="1" indent="-28575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Bruce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Wilson</a:t>
            </a:r>
          </a:p>
          <a:p>
            <a:pPr marL="742950" lvl="1" indent="-285750" eaLnBrk="1" hangingPunct="1">
              <a:lnSpc>
                <a:spcPct val="80000"/>
              </a:lnSpc>
              <a:spcBef>
                <a:spcPct val="20000"/>
              </a:spcBef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Fluxnet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Collaboration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Dennis </a:t>
            </a:r>
            <a:r>
              <a:rPr lang="en-US" sz="16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Baldocchi</a:t>
            </a:r>
            <a:endParaRPr lang="en-US" sz="1600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Rodrigo </a:t>
            </a: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Vargas (</a:t>
            </a:r>
            <a:r>
              <a:rPr lang="en-US" sz="1600" dirty="0" err="1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postdoc</a:t>
            </a:r>
            <a:r>
              <a:rPr lang="en-US" sz="1600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Dario 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Papale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Markus Reichstein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Bob Cook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Susan Holladay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Dorothea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Franks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lnSpc>
                <a:spcPct val="80000"/>
              </a:lnSpc>
              <a:spcBef>
                <a:spcPct val="20000"/>
              </a:spcBef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*Project funded by Microsoft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8614</TotalTime>
  <Words>1029</Words>
  <Application>Microsoft Office PowerPoint</Application>
  <PresentationFormat>On-screen Show (4:3)</PresentationFormat>
  <Paragraphs>197</Paragraphs>
  <Slides>20</Slides>
  <Notes>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Concourse</vt:lpstr>
      <vt:lpstr>Visio</vt:lpstr>
      <vt:lpstr>Chart</vt:lpstr>
      <vt:lpstr>BUILDING A DATA SERVER FOR ECOLOGICAL DATA</vt:lpstr>
      <vt:lpstr>Unprecedented Data Availability</vt:lpstr>
      <vt:lpstr>ECOLOGICAL Measurements Are Often Not Simple or Complete</vt:lpstr>
      <vt:lpstr>Typical Data Storage Today</vt:lpstr>
      <vt:lpstr>Typical Data Analysis Flow Today</vt:lpstr>
      <vt:lpstr>Target Data Analysis Flow </vt:lpstr>
      <vt:lpstr>Scientific Data Server - Overview</vt:lpstr>
      <vt:lpstr>Database Role</vt:lpstr>
      <vt:lpstr>Data Cubes</vt:lpstr>
      <vt:lpstr>Scientific Data Server – User Interface</vt:lpstr>
      <vt:lpstr>Browsing For Data Availability Sites Reporting Data Colored by Year</vt:lpstr>
      <vt:lpstr>Required variable reporting by site by year</vt:lpstr>
      <vt:lpstr>Obviously bad annual averages</vt:lpstr>
      <vt:lpstr>Drill down to consistent (bad) daily values</vt:lpstr>
      <vt:lpstr>Drill down to Mead sites</vt:lpstr>
      <vt:lpstr>Simple check: the same FC value reported too often</vt:lpstr>
      <vt:lpstr>Project Status</vt:lpstr>
      <vt:lpstr>On-going and Future Challenges</vt:lpstr>
      <vt:lpstr>Summary</vt:lpstr>
      <vt:lpstr>Acknowledgements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the database to rapidly assess Fluxnet data quality</dc:title>
  <dc:creator>Catharine van Ingen</dc:creator>
  <cp:lastModifiedBy>Deb</cp:lastModifiedBy>
  <cp:revision>344</cp:revision>
  <dcterms:created xsi:type="dcterms:W3CDTF">2007-06-24T23:12:11Z</dcterms:created>
  <dcterms:modified xsi:type="dcterms:W3CDTF">2007-10-12T23:21:56Z</dcterms:modified>
</cp:coreProperties>
</file>