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4667" autoAdjust="0"/>
  </p:normalViewPr>
  <p:slideViewPr>
    <p:cSldViewPr>
      <p:cViewPr varScale="1">
        <p:scale>
          <a:sx n="79" d="100"/>
          <a:sy n="79" d="100"/>
        </p:scale>
        <p:origin x="-149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19" name="Footer Placeholder 18"/>
          <p:cNvSpPr>
            <a:spLocks noGrp="1"/>
          </p:cNvSpPr>
          <p:nvPr>
            <p:ph type="ftr" sz="quarter" idx="11"/>
          </p:nvPr>
        </p:nvSpPr>
        <p:spPr/>
        <p:txBody>
          <a:bodyPr/>
          <a:lstStyle/>
          <a:p>
            <a:endParaRPr lang="en-CA"/>
          </a:p>
        </p:txBody>
      </p:sp>
      <p:sp>
        <p:nvSpPr>
          <p:cNvPr id="27" name="Slide Number Placeholder 26"/>
          <p:cNvSpPr>
            <a:spLocks noGrp="1"/>
          </p:cNvSpPr>
          <p:nvPr>
            <p:ph type="sldNum" sz="quarter" idx="12"/>
          </p:nvPr>
        </p:nvSpPr>
        <p:spPr/>
        <p:txBody>
          <a:bodyPr/>
          <a:lstStyle/>
          <a:p>
            <a:fld id="{787CD35B-8F53-4A6F-96C8-A26F6668B5FF}" type="slidenum">
              <a:rPr lang="en-CA" smtClean="0"/>
              <a:pPr/>
              <a:t>‹#›</a:t>
            </a:fld>
            <a:endParaRPr lang="en-CA"/>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87CD35B-8F53-4A6F-96C8-A26F6668B5FF}" type="slidenum">
              <a:rPr lang="en-CA" smtClean="0"/>
              <a:pPr/>
              <a:t>‹#›</a:t>
            </a:fld>
            <a:endParaRPr lang="en-CA"/>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a:xfrm>
            <a:off x="8077200" y="6356350"/>
            <a:ext cx="609600" cy="365125"/>
          </a:xfrm>
        </p:spPr>
        <p:txBody>
          <a:bodyPr/>
          <a:lstStyle/>
          <a:p>
            <a:fld id="{787CD35B-8F53-4A6F-96C8-A26F6668B5FF}" type="slidenum">
              <a:rPr lang="en-CA" smtClean="0"/>
              <a:pPr/>
              <a:t>‹#›</a:t>
            </a:fld>
            <a:endParaRPr lang="en-CA"/>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D5F0B13-027B-452C-B0FE-6ADE0B2C11DC}" type="datetimeFigureOut">
              <a:rPr lang="en-CA" smtClean="0"/>
              <a:pPr/>
              <a:t>28/03/2011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87CD35B-8F53-4A6F-96C8-A26F6668B5FF}"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D5F0B13-027B-452C-B0FE-6ADE0B2C11DC}" type="datetimeFigureOut">
              <a:rPr lang="en-CA" smtClean="0"/>
              <a:pPr/>
              <a:t>28/03/2011</a:t>
            </a:fld>
            <a:endParaRPr lang="en-CA"/>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CA"/>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87CD35B-8F53-4A6F-96C8-A26F6668B5FF}" type="slidenum">
              <a:rPr lang="en-CA" smtClean="0"/>
              <a:pPr/>
              <a:t>‹#›</a:t>
            </a:fld>
            <a:endParaRPr lang="en-CA"/>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mailto:kevinluk6@hot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Grad School Info Session</a:t>
            </a:r>
            <a:endParaRPr lang="en-CA" dirty="0"/>
          </a:p>
        </p:txBody>
      </p:sp>
      <p:sp>
        <p:nvSpPr>
          <p:cNvPr id="3" name="Subtitle 2"/>
          <p:cNvSpPr>
            <a:spLocks noGrp="1"/>
          </p:cNvSpPr>
          <p:nvPr>
            <p:ph type="subTitle" idx="1"/>
          </p:nvPr>
        </p:nvSpPr>
        <p:spPr/>
        <p:txBody>
          <a:bodyPr/>
          <a:lstStyle/>
          <a:p>
            <a:r>
              <a:rPr lang="en-CA" dirty="0" smtClean="0"/>
              <a:t>Kevin </a:t>
            </a:r>
            <a:r>
              <a:rPr lang="en-CA" dirty="0" err="1" smtClean="0"/>
              <a:t>Luk</a:t>
            </a:r>
            <a:endParaRPr lang="en-CA"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Why Apply to Grad School in Mathematics?</a:t>
            </a:r>
            <a:endParaRPr lang="en-CA" dirty="0"/>
          </a:p>
        </p:txBody>
      </p:sp>
      <p:sp>
        <p:nvSpPr>
          <p:cNvPr id="3" name="Content Placeholder 2"/>
          <p:cNvSpPr>
            <a:spLocks noGrp="1"/>
          </p:cNvSpPr>
          <p:nvPr>
            <p:ph idx="1"/>
          </p:nvPr>
        </p:nvSpPr>
        <p:spPr/>
        <p:txBody>
          <a:bodyPr/>
          <a:lstStyle/>
          <a:p>
            <a:pPr>
              <a:buFont typeface="Arial" pitchFamily="34" charset="0"/>
              <a:buChar char="•"/>
            </a:pPr>
            <a:r>
              <a:rPr lang="en-CA" dirty="0" smtClean="0"/>
              <a:t>Interested in the math courses that you’re taking so far</a:t>
            </a:r>
          </a:p>
          <a:p>
            <a:pPr>
              <a:buFont typeface="Arial" pitchFamily="34" charset="0"/>
              <a:buChar char="•"/>
            </a:pPr>
            <a:r>
              <a:rPr lang="en-CA" dirty="0" smtClean="0"/>
              <a:t>Had a fun time doing research projects (Honours thesis/NSERC USRA) and wish to pursue mathematical research further</a:t>
            </a:r>
          </a:p>
          <a:p>
            <a:pPr>
              <a:buFont typeface="Arial" pitchFamily="34" charset="0"/>
              <a:buChar char="•"/>
            </a:pPr>
            <a:r>
              <a:rPr lang="en-CA" dirty="0" smtClean="0"/>
              <a:t>Wide applications towards numerous different fields: theoretical physics, biology, actuarial science, finance, engineering, etc.</a:t>
            </a:r>
          </a:p>
          <a:p>
            <a:pPr>
              <a:buFont typeface="Arial" pitchFamily="34" charset="0"/>
              <a:buChar char="•"/>
            </a:pPr>
            <a:endParaRPr lang="en-CA" dirty="0" smtClean="0"/>
          </a:p>
          <a:p>
            <a:pPr>
              <a:buFont typeface="Arial" pitchFamily="34" charset="0"/>
              <a:buChar char="•"/>
            </a:pPr>
            <a:endParaRPr lang="en-CA" dirty="0" smtClean="0"/>
          </a:p>
          <a:p>
            <a:pPr>
              <a:buFont typeface="Arial" pitchFamily="34" charset="0"/>
              <a:buChar char="•"/>
            </a:pPr>
            <a:endParaRPr lang="en-CA" dirty="0" smtClean="0"/>
          </a:p>
          <a:p>
            <a:pPr>
              <a:buFont typeface="Arial" pitchFamily="34" charset="0"/>
              <a:buChar char="•"/>
            </a:pPr>
            <a:endParaRPr lang="en-CA" dirty="0" smtClean="0"/>
          </a:p>
          <a:p>
            <a:pPr>
              <a:buFont typeface="Arial" pitchFamily="34" charset="0"/>
              <a:buChar char="•"/>
            </a:pPr>
            <a:endParaRPr lang="en-CA"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Choosing a Graduate School</a:t>
            </a:r>
            <a:endParaRPr lang="en-CA" dirty="0"/>
          </a:p>
        </p:txBody>
      </p:sp>
      <p:sp>
        <p:nvSpPr>
          <p:cNvPr id="3" name="Content Placeholder 2"/>
          <p:cNvSpPr>
            <a:spLocks noGrp="1"/>
          </p:cNvSpPr>
          <p:nvPr>
            <p:ph idx="1"/>
          </p:nvPr>
        </p:nvSpPr>
        <p:spPr/>
        <p:txBody>
          <a:bodyPr/>
          <a:lstStyle/>
          <a:p>
            <a:pPr>
              <a:buFont typeface="Arial" pitchFamily="34" charset="0"/>
              <a:buChar char="•"/>
            </a:pPr>
            <a:r>
              <a:rPr lang="en-CA" dirty="0" smtClean="0"/>
              <a:t>Look at the department at each prospective school carefully; if you have a strong research interest in mind already, it is important that they have active faculty working in your research interests</a:t>
            </a:r>
          </a:p>
          <a:p>
            <a:pPr>
              <a:buFont typeface="Arial" pitchFamily="34" charset="0"/>
              <a:buChar char="•"/>
            </a:pPr>
            <a:r>
              <a:rPr lang="en-CA" dirty="0" smtClean="0"/>
              <a:t>Think about your personal preferences; do you enjoy working or studying in a large department or do you prefer working in a smaller, close-knit environment?</a:t>
            </a:r>
          </a:p>
          <a:p>
            <a:pPr>
              <a:buFont typeface="Arial" pitchFamily="34" charset="0"/>
              <a:buChar char="•"/>
            </a:pPr>
            <a:endParaRPr lang="en-CA"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Choosing a Graduate School (cont’d)</a:t>
            </a:r>
            <a:endParaRPr lang="en-CA" dirty="0"/>
          </a:p>
        </p:txBody>
      </p:sp>
      <p:sp>
        <p:nvSpPr>
          <p:cNvPr id="3" name="Content Placeholder 2"/>
          <p:cNvSpPr>
            <a:spLocks noGrp="1"/>
          </p:cNvSpPr>
          <p:nvPr>
            <p:ph idx="1"/>
          </p:nvPr>
        </p:nvSpPr>
        <p:spPr/>
        <p:txBody>
          <a:bodyPr/>
          <a:lstStyle/>
          <a:p>
            <a:r>
              <a:rPr lang="en-CA" dirty="0" smtClean="0"/>
              <a:t>Lifestyle factors; for example, do you prefer living in a metropolitan environment or do you prefer living in a small college-town atmosphere?</a:t>
            </a:r>
          </a:p>
          <a:p>
            <a:r>
              <a:rPr lang="en-CA" dirty="0" smtClean="0"/>
              <a:t>Lifestyle factors might be more important than you think as there are chances that you might spend the next 5 years at the school </a:t>
            </a:r>
          </a:p>
          <a:p>
            <a:r>
              <a:rPr lang="en-CA" dirty="0" smtClean="0"/>
              <a:t>Talk to the faculty/graduate students at the prospective school to see if it is indeed a right fit for you </a:t>
            </a:r>
          </a:p>
          <a:p>
            <a:endParaRPr lang="en-CA" dirty="0" smtClean="0"/>
          </a:p>
          <a:p>
            <a:endParaRPr lang="en-CA" dirty="0" smtClean="0"/>
          </a:p>
          <a:p>
            <a:endParaRPr lang="en-CA"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Canadian </a:t>
            </a:r>
            <a:r>
              <a:rPr lang="en-CA" dirty="0" err="1" smtClean="0"/>
              <a:t>vs</a:t>
            </a:r>
            <a:r>
              <a:rPr lang="en-CA" dirty="0" smtClean="0"/>
              <a:t> US programs in Mathematics </a:t>
            </a:r>
            <a:endParaRPr lang="en-CA" dirty="0"/>
          </a:p>
        </p:txBody>
      </p:sp>
      <p:sp>
        <p:nvSpPr>
          <p:cNvPr id="3" name="Content Placeholder 2"/>
          <p:cNvSpPr>
            <a:spLocks noGrp="1"/>
          </p:cNvSpPr>
          <p:nvPr>
            <p:ph idx="1"/>
          </p:nvPr>
        </p:nvSpPr>
        <p:spPr/>
        <p:txBody>
          <a:bodyPr/>
          <a:lstStyle/>
          <a:p>
            <a:r>
              <a:rPr lang="en-CA" dirty="0" smtClean="0"/>
              <a:t>Most Canadian programs start their students off in a MSc program; typically 1-2 years. </a:t>
            </a:r>
          </a:p>
          <a:p>
            <a:r>
              <a:rPr lang="en-CA" dirty="0" smtClean="0"/>
              <a:t>At US programs, most students start off in a PhD program which is typically completed in 5 years</a:t>
            </a:r>
          </a:p>
          <a:p>
            <a:r>
              <a:rPr lang="en-CA" dirty="0" smtClean="0"/>
              <a:t>Admission to Canadian programs can depend on the availability of funds/supervisors in your declared research field</a:t>
            </a:r>
          </a:p>
          <a:p>
            <a:r>
              <a:rPr lang="en-CA" dirty="0" smtClean="0"/>
              <a:t>Admission to US programs tend to consider your overall profile; but having a research interest in your application is still important</a:t>
            </a:r>
            <a:endParaRPr lang="en-CA"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Canadian </a:t>
            </a:r>
            <a:r>
              <a:rPr lang="en-CA" dirty="0" err="1" smtClean="0"/>
              <a:t>vs</a:t>
            </a:r>
            <a:r>
              <a:rPr lang="en-CA" dirty="0" smtClean="0"/>
              <a:t> US programs in Mathematics (continued)</a:t>
            </a:r>
            <a:endParaRPr lang="en-CA" dirty="0"/>
          </a:p>
        </p:txBody>
      </p:sp>
      <p:sp>
        <p:nvSpPr>
          <p:cNvPr id="3" name="Content Placeholder 2"/>
          <p:cNvSpPr>
            <a:spLocks noGrp="1"/>
          </p:cNvSpPr>
          <p:nvPr>
            <p:ph idx="1"/>
          </p:nvPr>
        </p:nvSpPr>
        <p:spPr/>
        <p:txBody>
          <a:bodyPr/>
          <a:lstStyle/>
          <a:p>
            <a:r>
              <a:rPr lang="en-CA" dirty="0" smtClean="0"/>
              <a:t>Many PhD programs (certainly the top schools) in the US requires the applicant to take both the GRE Math Subject Test and the GRE General Test while Canadian schools have no such requirement</a:t>
            </a:r>
          </a:p>
          <a:p>
            <a:r>
              <a:rPr lang="en-CA" dirty="0" smtClean="0"/>
              <a:t>Most US programs have earlier deadlines (especially the top schools) sometime around early-mid December while most of the deadlines for Canadian programs are in late January/early February</a:t>
            </a:r>
          </a:p>
          <a:p>
            <a:endParaRPr lang="en-CA"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Writing a CV</a:t>
            </a:r>
            <a:endParaRPr lang="en-CA" dirty="0"/>
          </a:p>
        </p:txBody>
      </p:sp>
      <p:sp>
        <p:nvSpPr>
          <p:cNvPr id="3" name="Content Placeholder 2"/>
          <p:cNvSpPr>
            <a:spLocks noGrp="1"/>
          </p:cNvSpPr>
          <p:nvPr>
            <p:ph idx="1"/>
          </p:nvPr>
        </p:nvSpPr>
        <p:spPr/>
        <p:txBody>
          <a:bodyPr/>
          <a:lstStyle/>
          <a:p>
            <a:r>
              <a:rPr lang="en-CA" dirty="0" smtClean="0"/>
              <a:t>Write it on </a:t>
            </a:r>
            <a:r>
              <a:rPr lang="en-CA" dirty="0" err="1" smtClean="0"/>
              <a:t>LaTeX</a:t>
            </a:r>
            <a:r>
              <a:rPr lang="en-CA" dirty="0" smtClean="0"/>
              <a:t> (more professional)</a:t>
            </a:r>
          </a:p>
          <a:p>
            <a:r>
              <a:rPr lang="en-CA" dirty="0" smtClean="0"/>
              <a:t>Plenty of </a:t>
            </a:r>
            <a:r>
              <a:rPr lang="en-CA" dirty="0" err="1" smtClean="0"/>
              <a:t>LaTeX</a:t>
            </a:r>
            <a:r>
              <a:rPr lang="en-CA" dirty="0" smtClean="0"/>
              <a:t> CV templates exist online and very user-friendly</a:t>
            </a:r>
          </a:p>
          <a:p>
            <a:r>
              <a:rPr lang="en-CA" dirty="0" smtClean="0"/>
              <a:t>Put down all the awards/honours that you have received through your undergraduate career (even those that do not seem related); do not feel the need to be humble here</a:t>
            </a:r>
          </a:p>
          <a:p>
            <a:r>
              <a:rPr lang="en-CA" dirty="0" smtClean="0"/>
              <a:t>Any talks/publications/conference proceedings deserves a place on your CV</a:t>
            </a:r>
            <a:endParaRPr lang="en-CA"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Writing a Personal/Research Statement</a:t>
            </a:r>
            <a:endParaRPr lang="en-CA" dirty="0"/>
          </a:p>
        </p:txBody>
      </p:sp>
      <p:sp>
        <p:nvSpPr>
          <p:cNvPr id="3" name="Content Placeholder 2"/>
          <p:cNvSpPr>
            <a:spLocks noGrp="1"/>
          </p:cNvSpPr>
          <p:nvPr>
            <p:ph idx="1"/>
          </p:nvPr>
        </p:nvSpPr>
        <p:spPr/>
        <p:txBody>
          <a:bodyPr/>
          <a:lstStyle/>
          <a:p>
            <a:r>
              <a:rPr lang="en-CA" dirty="0" smtClean="0"/>
              <a:t>For any graduate program in mathematics, you will need to write some sort of a personal statement or a research statement</a:t>
            </a:r>
          </a:p>
          <a:p>
            <a:r>
              <a:rPr lang="en-CA" dirty="0" smtClean="0"/>
              <a:t>This is where you can “tailor” your application towards different schools (prepare a draft of this early, and then modify it to each different school)</a:t>
            </a:r>
          </a:p>
          <a:p>
            <a:r>
              <a:rPr lang="en-CA" dirty="0" smtClean="0"/>
              <a:t>Also a place for you to express yourself; why you want to </a:t>
            </a:r>
            <a:r>
              <a:rPr lang="en-CA" dirty="0" err="1" smtClean="0"/>
              <a:t>enroll</a:t>
            </a:r>
            <a:r>
              <a:rPr lang="en-CA" dirty="0" smtClean="0"/>
              <a:t> in School X?, elaborate your background, demonstrate why you are a deserving candidate for School X.</a:t>
            </a:r>
            <a:endParaRPr lang="en-CA"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Writing a Personal/Research Statement (continued)</a:t>
            </a:r>
            <a:endParaRPr lang="en-CA" dirty="0"/>
          </a:p>
        </p:txBody>
      </p:sp>
      <p:sp>
        <p:nvSpPr>
          <p:cNvPr id="3" name="Content Placeholder 2"/>
          <p:cNvSpPr>
            <a:spLocks noGrp="1"/>
          </p:cNvSpPr>
          <p:nvPr>
            <p:ph idx="1"/>
          </p:nvPr>
        </p:nvSpPr>
        <p:spPr/>
        <p:txBody>
          <a:bodyPr/>
          <a:lstStyle/>
          <a:p>
            <a:r>
              <a:rPr lang="en-CA" dirty="0" smtClean="0"/>
              <a:t>For a research statement, it is good to tie it in relation to something that you have already done, such as an honours thesis/USRA project, or with upper-level coursework</a:t>
            </a:r>
          </a:p>
          <a:p>
            <a:r>
              <a:rPr lang="en-CA" dirty="0" smtClean="0"/>
              <a:t>It is important to demonstrate your research interest, but always be cautious if you go overboard</a:t>
            </a:r>
          </a:p>
          <a:p>
            <a:r>
              <a:rPr lang="en-CA" dirty="0" smtClean="0"/>
              <a:t>Let your references see your personal/research statement; they can testify your research abilities in their letters </a:t>
            </a:r>
            <a:endParaRPr lang="en-CA"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Reference Letters</a:t>
            </a:r>
            <a:endParaRPr lang="en-CA" dirty="0"/>
          </a:p>
        </p:txBody>
      </p:sp>
      <p:sp>
        <p:nvSpPr>
          <p:cNvPr id="3" name="Content Placeholder 2"/>
          <p:cNvSpPr>
            <a:spLocks noGrp="1"/>
          </p:cNvSpPr>
          <p:nvPr>
            <p:ph idx="1"/>
          </p:nvPr>
        </p:nvSpPr>
        <p:spPr/>
        <p:txBody>
          <a:bodyPr/>
          <a:lstStyle/>
          <a:p>
            <a:r>
              <a:rPr lang="en-CA" dirty="0" smtClean="0"/>
              <a:t>This is something that is very important, can make or break an application </a:t>
            </a:r>
          </a:p>
          <a:p>
            <a:r>
              <a:rPr lang="en-CA" dirty="0" smtClean="0"/>
              <a:t>Start thinking about which professors you want to write your letters early (this is actually a decision that you should take seriously)</a:t>
            </a:r>
          </a:p>
          <a:p>
            <a:r>
              <a:rPr lang="en-CA" dirty="0" smtClean="0"/>
              <a:t>In general, if you are applying to math, it is best if all of your letter writers are active faculty members from the math department </a:t>
            </a:r>
          </a:p>
          <a:p>
            <a:r>
              <a:rPr lang="en-CA" dirty="0" smtClean="0"/>
              <a:t> </a:t>
            </a:r>
            <a:endParaRPr lang="en-CA"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Reference Letters (continued)</a:t>
            </a:r>
            <a:endParaRPr lang="en-CA" dirty="0"/>
          </a:p>
        </p:txBody>
      </p:sp>
      <p:sp>
        <p:nvSpPr>
          <p:cNvPr id="3" name="Content Placeholder 2"/>
          <p:cNvSpPr>
            <a:spLocks noGrp="1"/>
          </p:cNvSpPr>
          <p:nvPr>
            <p:ph idx="1"/>
          </p:nvPr>
        </p:nvSpPr>
        <p:spPr/>
        <p:txBody>
          <a:bodyPr>
            <a:normAutofit lnSpcReduction="10000"/>
          </a:bodyPr>
          <a:lstStyle/>
          <a:p>
            <a:r>
              <a:rPr lang="en-CA" dirty="0" smtClean="0"/>
              <a:t>However, the ultimate key is to find which professors truly know you the best (a good choice would be a USRA supervisor, a professor  of a course that you well in)</a:t>
            </a:r>
          </a:p>
          <a:p>
            <a:r>
              <a:rPr lang="en-CA" dirty="0" smtClean="0"/>
              <a:t>Ask the professors what kind of impression do they have of you? Can they honestly write a strong letter for you? Do they believe that you have the capabilities to apply for the schools that you are deciding to apply?</a:t>
            </a:r>
          </a:p>
          <a:p>
            <a:r>
              <a:rPr lang="en-CA" dirty="0" smtClean="0"/>
              <a:t>It could be (but sometimes not) beneficial to find a letter writer with strong research reputation or well-known in the school that you’re applying to</a:t>
            </a:r>
            <a:endParaRPr lang="en-CA"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Reference Letters (continued)</a:t>
            </a:r>
            <a:endParaRPr lang="en-CA" dirty="0"/>
          </a:p>
        </p:txBody>
      </p:sp>
      <p:sp>
        <p:nvSpPr>
          <p:cNvPr id="3" name="Content Placeholder 2"/>
          <p:cNvSpPr>
            <a:spLocks noGrp="1"/>
          </p:cNvSpPr>
          <p:nvPr>
            <p:ph idx="1"/>
          </p:nvPr>
        </p:nvSpPr>
        <p:spPr/>
        <p:txBody>
          <a:bodyPr>
            <a:normAutofit/>
          </a:bodyPr>
          <a:lstStyle/>
          <a:p>
            <a:r>
              <a:rPr lang="en-CA" dirty="0" smtClean="0"/>
              <a:t>Give your references all the material necessary (CV, transcripts, personal statements, etc) and at least a month in advance</a:t>
            </a:r>
          </a:p>
          <a:p>
            <a:r>
              <a:rPr lang="en-CA" dirty="0" smtClean="0"/>
              <a:t>If you’re applying to a large number of different schools, it is your task (rather than the professor) to keep track of all the deadlines for the professor and remind them on a periodical basis (a neat spreadsheet works well here)</a:t>
            </a:r>
          </a:p>
          <a:p>
            <a:r>
              <a:rPr lang="en-CA" dirty="0" smtClean="0"/>
              <a:t>Don’t freak out if your references are several days late, it will not be what decides if you get accepted or not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Transcripts</a:t>
            </a:r>
            <a:endParaRPr lang="en-CA" dirty="0"/>
          </a:p>
        </p:txBody>
      </p:sp>
      <p:sp>
        <p:nvSpPr>
          <p:cNvPr id="3" name="Content Placeholder 2"/>
          <p:cNvSpPr>
            <a:spLocks noGrp="1"/>
          </p:cNvSpPr>
          <p:nvPr>
            <p:ph idx="1"/>
          </p:nvPr>
        </p:nvSpPr>
        <p:spPr/>
        <p:txBody>
          <a:bodyPr/>
          <a:lstStyle/>
          <a:p>
            <a:r>
              <a:rPr lang="en-CA" dirty="0" smtClean="0"/>
              <a:t>Transcripts can be ordered online (preferable), or in person at the Brock Hall and can be picked up at Brock Hall or mailed to wherever you want(?)</a:t>
            </a:r>
          </a:p>
          <a:p>
            <a:r>
              <a:rPr lang="en-CA" dirty="0" smtClean="0"/>
              <a:t>Cost around $7.50 each </a:t>
            </a:r>
          </a:p>
          <a:p>
            <a:r>
              <a:rPr lang="en-CA" dirty="0" smtClean="0"/>
              <a:t>Grades appear on your transcripts as soon as you see your grade on the SSC</a:t>
            </a:r>
          </a:p>
          <a:p>
            <a:endParaRPr lang="en-CA"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 Contact </a:t>
            </a:r>
            <a:endParaRPr lang="en-CA" dirty="0"/>
          </a:p>
        </p:txBody>
      </p:sp>
      <p:sp>
        <p:nvSpPr>
          <p:cNvPr id="3" name="Content Placeholder 2"/>
          <p:cNvSpPr>
            <a:spLocks noGrp="1"/>
          </p:cNvSpPr>
          <p:nvPr>
            <p:ph idx="1"/>
          </p:nvPr>
        </p:nvSpPr>
        <p:spPr/>
        <p:txBody>
          <a:bodyPr/>
          <a:lstStyle/>
          <a:p>
            <a:r>
              <a:rPr lang="en-CA" dirty="0" smtClean="0"/>
              <a:t>If you have any questions at all, please do not hesitate to email me at: </a:t>
            </a:r>
            <a:r>
              <a:rPr lang="en-CA" dirty="0" smtClean="0">
                <a:hlinkClick r:id="rId2"/>
              </a:rPr>
              <a:t>kevinluk6@hotmail.com</a:t>
            </a:r>
            <a:endParaRPr lang="en-CA" dirty="0" smtClean="0"/>
          </a:p>
          <a:p>
            <a:r>
              <a:rPr lang="en-CA" smtClean="0"/>
              <a:t>Good Luck!</a:t>
            </a:r>
            <a:endParaRPr lang="en-CA"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116</TotalTime>
  <Words>931</Words>
  <Application>Microsoft Office PowerPoint</Application>
  <PresentationFormat>On-screen Show (4:3)</PresentationFormat>
  <Paragraphs>58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Flow</vt:lpstr>
      <vt:lpstr>Grad School Info Session</vt:lpstr>
      <vt:lpstr>Why Apply to Grad School in Mathematics?</vt:lpstr>
      <vt:lpstr>Choosing a Graduate School</vt:lpstr>
      <vt:lpstr>Choosing a Graduate School (cont’d)</vt:lpstr>
      <vt:lpstr>Canadian vs US programs in Mathematics </vt:lpstr>
      <vt:lpstr>Canadian vs US programs in Mathematics (continued)</vt:lpstr>
      <vt:lpstr>Writing a CV</vt:lpstr>
      <vt:lpstr>Writing a Personal/Research Statement</vt:lpstr>
      <vt:lpstr>Writing a Personal/Research Statement (continued)</vt:lpstr>
      <vt:lpstr>Reference Letters</vt:lpstr>
      <vt:lpstr>Reference Letters (continued)</vt:lpstr>
      <vt:lpstr>Reference Letters (continued)</vt:lpstr>
      <vt:lpstr>Transcripts</vt:lpstr>
      <vt:lpstr> Contact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 School Info Session</dc:title>
  <dc:creator>Kevin</dc:creator>
  <cp:lastModifiedBy>Kevin</cp:lastModifiedBy>
  <cp:revision>29</cp:revision>
  <dcterms:created xsi:type="dcterms:W3CDTF">2011-03-26T08:04:13Z</dcterms:created>
  <dcterms:modified xsi:type="dcterms:W3CDTF">2011-03-28T19:07:33Z</dcterms:modified>
</cp:coreProperties>
</file>