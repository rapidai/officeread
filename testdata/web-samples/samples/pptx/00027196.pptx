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882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284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448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7157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094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161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150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5825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08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569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313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9053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CF70C-C3A5-4697-8D56-5C2CB2D68B29}" type="datetimeFigureOut">
              <a:rPr lang="en-AU" smtClean="0"/>
              <a:t>24/06/2011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D23A2-0704-451B-9EDE-2CB0B55EC2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962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7772400" cy="720080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solidFill>
                  <a:srgbClr val="91272F"/>
                </a:solidFill>
              </a:rPr>
              <a:t>Induction structure</a:t>
            </a:r>
            <a:endParaRPr lang="en-AU" dirty="0">
              <a:solidFill>
                <a:srgbClr val="91272F"/>
              </a:solidFill>
            </a:endParaRPr>
          </a:p>
        </p:txBody>
      </p: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396875" y="1116012"/>
            <a:ext cx="8718550" cy="1447800"/>
            <a:chOff x="612528" y="838200"/>
            <a:chExt cx="8719896" cy="1447800"/>
          </a:xfrm>
        </p:grpSpPr>
        <p:sp>
          <p:nvSpPr>
            <p:cNvPr id="6" name="Chevron 13"/>
            <p:cNvSpPr>
              <a:spLocks noChangeArrowheads="1"/>
            </p:cNvSpPr>
            <p:nvPr/>
          </p:nvSpPr>
          <p:spPr bwMode="auto">
            <a:xfrm rot="5400000">
              <a:off x="457200" y="1066800"/>
              <a:ext cx="1447800" cy="990600"/>
            </a:xfrm>
            <a:prstGeom prst="chevron">
              <a:avLst>
                <a:gd name="adj" fmla="val 49997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 sz="2400" b="0">
                <a:solidFill>
                  <a:schemeClr val="tx1"/>
                </a:solidFill>
              </a:endParaRPr>
            </a:p>
          </p:txBody>
        </p:sp>
        <p:sp>
          <p:nvSpPr>
            <p:cNvPr id="7" name="TextBox 3"/>
            <p:cNvSpPr txBox="1">
              <a:spLocks noChangeArrowheads="1"/>
            </p:cNvSpPr>
            <p:nvPr/>
          </p:nvSpPr>
          <p:spPr bwMode="auto">
            <a:xfrm>
              <a:off x="1688612" y="860048"/>
              <a:ext cx="7643812" cy="89255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lang="en-AU" sz="1600" dirty="0">
                  <a:solidFill>
                    <a:srgbClr val="C00000"/>
                  </a:solidFill>
                  <a:latin typeface="Arial"/>
                  <a:cs typeface="Arial"/>
                </a:rPr>
                <a:t>Preparing new starter for employment at the University </a:t>
              </a:r>
              <a:r>
                <a:rPr lang="en-AU" sz="1400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</a:p>
            <a:p>
              <a:pPr>
                <a:defRPr/>
              </a:pPr>
              <a:r>
                <a:rPr lang="en-AU" sz="1200" dirty="0">
                  <a:latin typeface="Arial"/>
                  <a:cs typeface="Arial"/>
                </a:rPr>
                <a:t>Example of activities: </a:t>
              </a:r>
              <a:r>
                <a:rPr lang="en-AU" sz="1200" b="0" dirty="0">
                  <a:latin typeface="Arial"/>
                  <a:cs typeface="Arial"/>
                </a:rPr>
                <a:t>New starter- complete HR required forms; familiarise with key policies; and </a:t>
              </a:r>
              <a:r>
                <a:rPr lang="en-AU" sz="1200" b="0" dirty="0">
                  <a:noFill/>
                  <a:latin typeface="Arial"/>
                  <a:cs typeface="Arial"/>
                </a:rPr>
                <a:t>read</a:t>
              </a:r>
              <a:r>
                <a:rPr lang="en-AU" sz="1200" b="0" dirty="0">
                  <a:latin typeface="Arial"/>
                  <a:cs typeface="Arial"/>
                </a:rPr>
                <a:t> overview  of University . Hiring manager - organise necessary equipment; set up meetings; arrange lunch/morning tea; assign buddy;  develop induction/training plan for first couple of weeks</a:t>
              </a:r>
            </a:p>
          </p:txBody>
        </p:sp>
        <p:sp>
          <p:nvSpPr>
            <p:cNvPr id="8" name="TextBox 20"/>
            <p:cNvSpPr txBox="1">
              <a:spLocks noChangeArrowheads="1"/>
            </p:cNvSpPr>
            <p:nvPr/>
          </p:nvSpPr>
          <p:spPr bwMode="auto">
            <a:xfrm>
              <a:off x="612528" y="1342713"/>
              <a:ext cx="1143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>
                  <a:solidFill>
                    <a:srgbClr val="FFFFFF"/>
                  </a:solidFill>
                </a:rPr>
                <a:t>Pre-arrival preparation</a:t>
              </a:r>
            </a:p>
          </p:txBody>
        </p:sp>
        <p:cxnSp>
          <p:nvCxnSpPr>
            <p:cNvPr id="9" name="Straight Connector 10"/>
            <p:cNvCxnSpPr>
              <a:cxnSpLocks noChangeShapeType="1"/>
            </p:cNvCxnSpPr>
            <p:nvPr/>
          </p:nvCxnSpPr>
          <p:spPr bwMode="auto">
            <a:xfrm>
              <a:off x="1714500" y="1764811"/>
              <a:ext cx="74295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393700" y="2164350"/>
            <a:ext cx="8709066" cy="2861245"/>
            <a:chOff x="609600" y="1885950"/>
            <a:chExt cx="8709677" cy="2862408"/>
          </a:xfrm>
        </p:grpSpPr>
        <p:sp>
          <p:nvSpPr>
            <p:cNvPr id="11" name="Chevron 14"/>
            <p:cNvSpPr>
              <a:spLocks noChangeArrowheads="1"/>
            </p:cNvSpPr>
            <p:nvPr/>
          </p:nvSpPr>
          <p:spPr bwMode="auto">
            <a:xfrm rot="5400000">
              <a:off x="457200" y="2114550"/>
              <a:ext cx="1447800" cy="990600"/>
            </a:xfrm>
            <a:prstGeom prst="chevron">
              <a:avLst>
                <a:gd name="adj" fmla="val 49997"/>
              </a:avLst>
            </a:prstGeom>
            <a:solidFill>
              <a:srgbClr val="A6D777"/>
            </a:solidFill>
            <a:ln w="9525">
              <a:solidFill>
                <a:srgbClr val="A6D777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 sz="2400" b="0">
                <a:solidFill>
                  <a:schemeClr val="tx1"/>
                </a:solidFill>
              </a:endParaRPr>
            </a:p>
          </p:txBody>
        </p:sp>
        <p:sp>
          <p:nvSpPr>
            <p:cNvPr id="12" name="TextBox 21"/>
            <p:cNvSpPr txBox="1">
              <a:spLocks noChangeArrowheads="1"/>
            </p:cNvSpPr>
            <p:nvPr/>
          </p:nvSpPr>
          <p:spPr bwMode="auto">
            <a:xfrm>
              <a:off x="609600" y="2447677"/>
              <a:ext cx="1143000" cy="4618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University Orientation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10"/>
            <p:cNvCxnSpPr>
              <a:cxnSpLocks noChangeShapeType="1"/>
            </p:cNvCxnSpPr>
            <p:nvPr/>
          </p:nvCxnSpPr>
          <p:spPr bwMode="auto">
            <a:xfrm>
              <a:off x="1714500" y="2819400"/>
              <a:ext cx="74295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14" name="TextBox 4"/>
            <p:cNvSpPr txBox="1">
              <a:spLocks noChangeArrowheads="1"/>
            </p:cNvSpPr>
            <p:nvPr/>
          </p:nvSpPr>
          <p:spPr bwMode="auto">
            <a:xfrm>
              <a:off x="1675465" y="3856183"/>
              <a:ext cx="7643812" cy="892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AU" sz="1600" dirty="0">
                  <a:solidFill>
                    <a:srgbClr val="7030A0"/>
                  </a:solidFill>
                  <a:ea typeface="Arial" charset="0"/>
                  <a:cs typeface="Arial" charset="0"/>
                </a:rPr>
                <a:t>Introduction to new workplace area &amp; co-workers and set up workstation  </a:t>
              </a:r>
            </a:p>
            <a:p>
              <a:r>
                <a:rPr lang="en-AU" sz="1200" dirty="0" smtClean="0">
                  <a:ea typeface="Arial" charset="0"/>
                  <a:cs typeface="Arial" charset="0"/>
                </a:rPr>
                <a:t>Example of activities: </a:t>
              </a:r>
              <a:r>
                <a:rPr lang="en-AU" sz="1200" b="0" dirty="0" smtClean="0">
                  <a:ea typeface="Arial" charset="0"/>
                  <a:cs typeface="Arial" charset="0"/>
                </a:rPr>
                <a:t>Tour of office &amp; University; meet team &amp; key people in office area; OHS orientation i.e. Fire &amp; evacuation procedures, first aid, ergonomics </a:t>
              </a:r>
              <a:r>
                <a:rPr lang="en-AU" sz="1200" b="0" dirty="0" err="1" smtClean="0">
                  <a:ea typeface="Arial" charset="0"/>
                  <a:cs typeface="Arial" charset="0"/>
                </a:rPr>
                <a:t>etc</a:t>
              </a:r>
              <a:r>
                <a:rPr lang="en-AU" sz="1200" b="0" dirty="0" smtClean="0">
                  <a:ea typeface="Arial" charset="0"/>
                  <a:cs typeface="Arial" charset="0"/>
                </a:rPr>
                <a:t>; order stationary supplies; steps for arranging systems access and workstation set-up; compliance training e.g. EEO, harassment, OHS</a:t>
              </a:r>
              <a:endParaRPr lang="en-AU" sz="1200" b="0" dirty="0">
                <a:ea typeface="Arial" charset="0"/>
                <a:cs typeface="Arial" charset="0"/>
              </a:endParaRPr>
            </a:p>
          </p:txBody>
        </p:sp>
      </p:grpSp>
      <p:grpSp>
        <p:nvGrpSpPr>
          <p:cNvPr id="15" name="Group 39"/>
          <p:cNvGrpSpPr>
            <a:grpSpLocks/>
          </p:cNvGrpSpPr>
          <p:nvPr/>
        </p:nvGrpSpPr>
        <p:grpSpPr bwMode="auto">
          <a:xfrm>
            <a:off x="404813" y="4227991"/>
            <a:ext cx="8776264" cy="1920238"/>
            <a:chOff x="621812" y="2933700"/>
            <a:chExt cx="8775523" cy="1920875"/>
          </a:xfrm>
        </p:grpSpPr>
        <p:sp>
          <p:nvSpPr>
            <p:cNvPr id="16" name="Chevron 15"/>
            <p:cNvSpPr>
              <a:spLocks noChangeArrowheads="1"/>
            </p:cNvSpPr>
            <p:nvPr/>
          </p:nvSpPr>
          <p:spPr bwMode="auto">
            <a:xfrm rot="5400000">
              <a:off x="457200" y="3162300"/>
              <a:ext cx="1447800" cy="990600"/>
            </a:xfrm>
            <a:prstGeom prst="chevron">
              <a:avLst>
                <a:gd name="adj" fmla="val 49997"/>
              </a:avLst>
            </a:prstGeom>
            <a:solidFill>
              <a:srgbClr val="AF87C8"/>
            </a:solidFill>
            <a:ln w="9525">
              <a:solidFill>
                <a:srgbClr val="CBB3DC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 sz="2400" b="0">
                <a:solidFill>
                  <a:schemeClr val="tx1"/>
                </a:solidFill>
              </a:endParaRPr>
            </a:p>
          </p:txBody>
        </p:sp>
        <p:grpSp>
          <p:nvGrpSpPr>
            <p:cNvPr id="17" name="Group 36"/>
            <p:cNvGrpSpPr>
              <a:grpSpLocks/>
            </p:cNvGrpSpPr>
            <p:nvPr/>
          </p:nvGrpSpPr>
          <p:grpSpPr bwMode="auto">
            <a:xfrm>
              <a:off x="621812" y="3500735"/>
              <a:ext cx="8775523" cy="1353840"/>
              <a:chOff x="621812" y="3488524"/>
              <a:chExt cx="8775523" cy="1353840"/>
            </a:xfrm>
          </p:grpSpPr>
          <p:sp>
            <p:nvSpPr>
              <p:cNvPr id="18" name="TextBox 22"/>
              <p:cNvSpPr txBox="1">
                <a:spLocks noChangeArrowheads="1"/>
              </p:cNvSpPr>
              <p:nvPr/>
            </p:nvSpPr>
            <p:spPr bwMode="auto">
              <a:xfrm>
                <a:off x="621812" y="3488524"/>
                <a:ext cx="1143000" cy="4618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Workplace Induction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0"/>
              <p:cNvCxnSpPr>
                <a:cxnSpLocks noChangeShapeType="1"/>
              </p:cNvCxnSpPr>
              <p:nvPr/>
            </p:nvCxnSpPr>
            <p:spPr bwMode="auto">
              <a:xfrm>
                <a:off x="1714500" y="3886200"/>
                <a:ext cx="7429500" cy="15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sp>
            <p:nvSpPr>
              <p:cNvPr id="20" name="TextBox 5"/>
              <p:cNvSpPr txBox="1">
                <a:spLocks noChangeArrowheads="1"/>
              </p:cNvSpPr>
              <p:nvPr/>
            </p:nvSpPr>
            <p:spPr bwMode="auto">
              <a:xfrm>
                <a:off x="1753523" y="3950189"/>
                <a:ext cx="7643812" cy="892175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AU" sz="1600" dirty="0">
                    <a:solidFill>
                      <a:srgbClr val="0066FF"/>
                    </a:solidFill>
                    <a:ea typeface="Arial" charset="0"/>
                    <a:cs typeface="Arial" charset="0"/>
                  </a:rPr>
                  <a:t>Expectations, importance and challenges of the role </a:t>
                </a:r>
              </a:p>
              <a:p>
                <a:r>
                  <a:rPr lang="en-AU" sz="1200" dirty="0">
                    <a:ea typeface="Arial" charset="0"/>
                    <a:cs typeface="Arial" charset="0"/>
                  </a:rPr>
                  <a:t>Example of activities: </a:t>
                </a:r>
                <a:r>
                  <a:rPr lang="en-AU" sz="1200" b="0" dirty="0">
                    <a:ea typeface="Arial" charset="0"/>
                    <a:cs typeface="Arial" charset="0"/>
                  </a:rPr>
                  <a:t>overview and challenges of role; where the role fits in relation to achieving the University goals; discuss probation and set objectives; introduce buddy; hiring manager assign work for new starter to complete; provide necessary training</a:t>
                </a:r>
              </a:p>
            </p:txBody>
          </p:sp>
        </p:grpSp>
      </p:grpSp>
      <p:grpSp>
        <p:nvGrpSpPr>
          <p:cNvPr id="21" name="Group 37"/>
          <p:cNvGrpSpPr>
            <a:grpSpLocks/>
          </p:cNvGrpSpPr>
          <p:nvPr/>
        </p:nvGrpSpPr>
        <p:grpSpPr bwMode="auto">
          <a:xfrm>
            <a:off x="393700" y="3197225"/>
            <a:ext cx="8750301" cy="3508375"/>
            <a:chOff x="609600" y="1923809"/>
            <a:chExt cx="8750424" cy="3508375"/>
          </a:xfrm>
        </p:grpSpPr>
        <p:sp>
          <p:nvSpPr>
            <p:cNvPr id="22" name="Chevron 16"/>
            <p:cNvSpPr>
              <a:spLocks noChangeArrowheads="1"/>
            </p:cNvSpPr>
            <p:nvPr/>
          </p:nvSpPr>
          <p:spPr bwMode="auto">
            <a:xfrm rot="5400000">
              <a:off x="457200" y="4212984"/>
              <a:ext cx="1447800" cy="990600"/>
            </a:xfrm>
            <a:prstGeom prst="chevron">
              <a:avLst>
                <a:gd name="adj" fmla="val 49997"/>
              </a:avLst>
            </a:prstGeom>
            <a:solidFill>
              <a:srgbClr val="00BFF0"/>
            </a:solidFill>
            <a:ln w="9525">
              <a:solidFill>
                <a:srgbClr val="00BFF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 sz="2400" b="0">
                <a:solidFill>
                  <a:schemeClr val="tx1"/>
                </a:solidFill>
              </a:endParaRPr>
            </a:p>
          </p:txBody>
        </p:sp>
        <p:sp>
          <p:nvSpPr>
            <p:cNvPr id="23" name="TextBox 23"/>
            <p:cNvSpPr txBox="1">
              <a:spLocks noChangeArrowheads="1"/>
            </p:cNvSpPr>
            <p:nvPr/>
          </p:nvSpPr>
          <p:spPr bwMode="auto">
            <a:xfrm>
              <a:off x="609600" y="4530902"/>
              <a:ext cx="1143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Job Orientation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Straight Connector 10"/>
            <p:cNvCxnSpPr>
              <a:cxnSpLocks noChangeShapeType="1"/>
            </p:cNvCxnSpPr>
            <p:nvPr/>
          </p:nvCxnSpPr>
          <p:spPr bwMode="auto">
            <a:xfrm>
              <a:off x="1714500" y="4953000"/>
              <a:ext cx="74295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5" name="TextBox 7"/>
            <p:cNvSpPr txBox="1">
              <a:spLocks noChangeArrowheads="1"/>
            </p:cNvSpPr>
            <p:nvPr/>
          </p:nvSpPr>
          <p:spPr bwMode="auto">
            <a:xfrm>
              <a:off x="1716212" y="1923809"/>
              <a:ext cx="7643812" cy="89217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AU" sz="1600" dirty="0">
                  <a:solidFill>
                    <a:srgbClr val="D06326"/>
                  </a:solidFill>
                  <a:ea typeface="Arial" charset="0"/>
                  <a:cs typeface="Arial" charset="0"/>
                </a:rPr>
                <a:t>Overview of department and business unit within the University context</a:t>
              </a:r>
            </a:p>
            <a:p>
              <a:r>
                <a:rPr lang="en-AU" sz="1200" dirty="0">
                  <a:ea typeface="Arial" charset="0"/>
                  <a:cs typeface="Arial" charset="0"/>
                </a:rPr>
                <a:t>Example of activities: </a:t>
              </a:r>
              <a:r>
                <a:rPr lang="en-AU" sz="1200" b="0" dirty="0">
                  <a:ea typeface="Arial" charset="0"/>
                  <a:cs typeface="Arial" charset="0"/>
                </a:rPr>
                <a:t>department &amp; business unit structure; business units interaction with other areas in the University; key stakeholders; goals &amp; challenges;  roles/responsibilities of individual team members; departments contribution to achieving University goals; </a:t>
              </a:r>
            </a:p>
          </p:txBody>
        </p:sp>
      </p:grpSp>
      <p:grpSp>
        <p:nvGrpSpPr>
          <p:cNvPr id="26" name="Group 38"/>
          <p:cNvGrpSpPr>
            <a:grpSpLocks/>
          </p:cNvGrpSpPr>
          <p:nvPr/>
        </p:nvGrpSpPr>
        <p:grpSpPr bwMode="auto">
          <a:xfrm>
            <a:off x="393700" y="2161624"/>
            <a:ext cx="8753683" cy="2483401"/>
            <a:chOff x="609600" y="4556063"/>
            <a:chExt cx="8754049" cy="2483401"/>
          </a:xfrm>
        </p:grpSpPr>
        <p:sp>
          <p:nvSpPr>
            <p:cNvPr id="27" name="Chevron 17"/>
            <p:cNvSpPr>
              <a:spLocks noChangeArrowheads="1"/>
            </p:cNvSpPr>
            <p:nvPr/>
          </p:nvSpPr>
          <p:spPr bwMode="auto">
            <a:xfrm rot="5400000">
              <a:off x="457200" y="5820264"/>
              <a:ext cx="1447800" cy="990600"/>
            </a:xfrm>
            <a:prstGeom prst="chevron">
              <a:avLst>
                <a:gd name="adj" fmla="val 49997"/>
              </a:avLst>
            </a:prstGeom>
            <a:solidFill>
              <a:srgbClr val="FF7B26"/>
            </a:solidFill>
            <a:ln w="9525">
              <a:solidFill>
                <a:srgbClr val="FF7B26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 sz="2400" b="0">
                <a:solidFill>
                  <a:schemeClr val="tx1"/>
                </a:solidFill>
              </a:endParaRPr>
            </a:p>
          </p:txBody>
        </p:sp>
        <p:sp>
          <p:nvSpPr>
            <p:cNvPr id="28" name="TextBox 24"/>
            <p:cNvSpPr txBox="1">
              <a:spLocks noChangeArrowheads="1"/>
            </p:cNvSpPr>
            <p:nvPr/>
          </p:nvSpPr>
          <p:spPr bwMode="auto">
            <a:xfrm>
              <a:off x="609600" y="6122867"/>
              <a:ext cx="1143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 smtClean="0"/>
                <a:t>Faculty/Office</a:t>
              </a:r>
              <a:r>
                <a:rPr lang="en-US" sz="1200" dirty="0" smtClean="0">
                  <a:solidFill>
                    <a:schemeClr val="tx1"/>
                  </a:solidFill>
                </a:rPr>
                <a:t> Orientation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10"/>
            <p:cNvCxnSpPr>
              <a:cxnSpLocks noChangeShapeType="1"/>
            </p:cNvCxnSpPr>
            <p:nvPr/>
          </p:nvCxnSpPr>
          <p:spPr bwMode="auto">
            <a:xfrm>
              <a:off x="1726712" y="6525844"/>
              <a:ext cx="74295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0" name="TextBox 8"/>
            <p:cNvSpPr txBox="1">
              <a:spLocks noChangeArrowheads="1"/>
            </p:cNvSpPr>
            <p:nvPr/>
          </p:nvSpPr>
          <p:spPr bwMode="auto">
            <a:xfrm>
              <a:off x="1719837" y="4556063"/>
              <a:ext cx="7643812" cy="89217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AU" sz="1600" dirty="0">
                  <a:solidFill>
                    <a:srgbClr val="92D050"/>
                  </a:solidFill>
                  <a:ea typeface="Arial" charset="0"/>
                  <a:cs typeface="Arial" charset="0"/>
                </a:rPr>
                <a:t>University value, working culture, priorities/goals and services</a:t>
              </a:r>
            </a:p>
            <a:p>
              <a:r>
                <a:rPr lang="en-AU" sz="1200" dirty="0">
                  <a:ea typeface="Arial" charset="0"/>
                  <a:cs typeface="Arial" charset="0"/>
                </a:rPr>
                <a:t>Example of activities: </a:t>
              </a:r>
              <a:r>
                <a:rPr lang="en-AU" sz="1200" b="0" dirty="0">
                  <a:ea typeface="Arial" charset="0"/>
                  <a:cs typeface="Arial" charset="0"/>
                </a:rPr>
                <a:t>work of the University and value in society; University organisational structure; values and culture incl. Sustainability and equity &amp; diversity; how to navigate in the University and get things done; key people; priorities/goals; services available to staff on campus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0826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296</Words>
  <Application>Microsoft Office PowerPoint</Application>
  <PresentationFormat>On-screen Show (4:3)</PresentationFormat>
  <Paragraphs>16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Induction structure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SMatthey</dc:creator>
  <cp:lastModifiedBy>phil</cp:lastModifiedBy>
  <cp:revision>2</cp:revision>
  <dcterms:created xsi:type="dcterms:W3CDTF">2011-03-03T02:48:18Z</dcterms:created>
  <dcterms:modified xsi:type="dcterms:W3CDTF">2011-06-24T04:53:09Z</dcterms:modified>
</cp:coreProperties>
</file>