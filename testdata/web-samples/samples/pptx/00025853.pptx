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Default Extension="bin" ContentType="application/vnd.openxmlformats-officedocument.oleObject"/>
  <Override PartName="/ppt/notesSlides/notesSlide68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6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80"/>
  </p:notesMasterIdLst>
  <p:handoutMasterIdLst>
    <p:handoutMasterId r:id="rId81"/>
  </p:handoutMasterIdLst>
  <p:sldIdLst>
    <p:sldId id="298" r:id="rId3"/>
    <p:sldId id="409" r:id="rId4"/>
    <p:sldId id="355" r:id="rId5"/>
    <p:sldId id="428" r:id="rId6"/>
    <p:sldId id="429" r:id="rId7"/>
    <p:sldId id="431" r:id="rId8"/>
    <p:sldId id="432" r:id="rId9"/>
    <p:sldId id="434" r:id="rId10"/>
    <p:sldId id="436" r:id="rId11"/>
    <p:sldId id="438" r:id="rId12"/>
    <p:sldId id="439" r:id="rId13"/>
    <p:sldId id="440" r:id="rId14"/>
    <p:sldId id="442" r:id="rId15"/>
    <p:sldId id="443" r:id="rId16"/>
    <p:sldId id="444" r:id="rId17"/>
    <p:sldId id="445" r:id="rId18"/>
    <p:sldId id="450" r:id="rId19"/>
    <p:sldId id="461" r:id="rId20"/>
    <p:sldId id="451" r:id="rId21"/>
    <p:sldId id="452" r:id="rId22"/>
    <p:sldId id="453" r:id="rId23"/>
    <p:sldId id="463" r:id="rId24"/>
    <p:sldId id="454" r:id="rId25"/>
    <p:sldId id="455" r:id="rId26"/>
    <p:sldId id="457" r:id="rId27"/>
    <p:sldId id="458" r:id="rId28"/>
    <p:sldId id="464" r:id="rId29"/>
    <p:sldId id="459" r:id="rId30"/>
    <p:sldId id="460" r:id="rId31"/>
    <p:sldId id="465" r:id="rId32"/>
    <p:sldId id="466" r:id="rId33"/>
    <p:sldId id="467" r:id="rId34"/>
    <p:sldId id="468" r:id="rId35"/>
    <p:sldId id="469" r:id="rId36"/>
    <p:sldId id="470" r:id="rId37"/>
    <p:sldId id="471" r:id="rId38"/>
    <p:sldId id="472" r:id="rId39"/>
    <p:sldId id="473" r:id="rId40"/>
    <p:sldId id="474" r:id="rId41"/>
    <p:sldId id="475" r:id="rId42"/>
    <p:sldId id="476" r:id="rId43"/>
    <p:sldId id="477" r:id="rId44"/>
    <p:sldId id="478" r:id="rId45"/>
    <p:sldId id="479" r:id="rId46"/>
    <p:sldId id="480" r:id="rId47"/>
    <p:sldId id="481" r:id="rId48"/>
    <p:sldId id="482" r:id="rId49"/>
    <p:sldId id="483" r:id="rId50"/>
    <p:sldId id="484" r:id="rId51"/>
    <p:sldId id="485" r:id="rId52"/>
    <p:sldId id="488" r:id="rId53"/>
    <p:sldId id="489" r:id="rId54"/>
    <p:sldId id="491" r:id="rId55"/>
    <p:sldId id="492" r:id="rId56"/>
    <p:sldId id="493" r:id="rId57"/>
    <p:sldId id="494" r:id="rId58"/>
    <p:sldId id="495" r:id="rId59"/>
    <p:sldId id="496" r:id="rId60"/>
    <p:sldId id="497" r:id="rId61"/>
    <p:sldId id="498" r:id="rId62"/>
    <p:sldId id="499" r:id="rId63"/>
    <p:sldId id="500" r:id="rId64"/>
    <p:sldId id="504" r:id="rId65"/>
    <p:sldId id="509" r:id="rId66"/>
    <p:sldId id="506" r:id="rId67"/>
    <p:sldId id="501" r:id="rId68"/>
    <p:sldId id="502" r:id="rId69"/>
    <p:sldId id="503" r:id="rId70"/>
    <p:sldId id="507" r:id="rId71"/>
    <p:sldId id="427" r:id="rId72"/>
    <p:sldId id="508" r:id="rId73"/>
    <p:sldId id="446" r:id="rId74"/>
    <p:sldId id="447" r:id="rId75"/>
    <p:sldId id="448" r:id="rId76"/>
    <p:sldId id="449" r:id="rId77"/>
    <p:sldId id="486" r:id="rId78"/>
    <p:sldId id="487" r:id="rId79"/>
  </p:sldIdLst>
  <p:sldSz cx="9144000" cy="6858000" type="screen4x3"/>
  <p:notesSz cx="69850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81240" autoAdjust="0"/>
  </p:normalViewPr>
  <p:slideViewPr>
    <p:cSldViewPr>
      <p:cViewPr>
        <p:scale>
          <a:sx n="66" d="100"/>
          <a:sy n="66" d="100"/>
        </p:scale>
        <p:origin x="-1290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2530"/>
    </p:cViewPr>
  </p:sorterViewPr>
  <p:notesViewPr>
    <p:cSldViewPr>
      <p:cViewPr>
        <p:scale>
          <a:sx n="100" d="100"/>
          <a:sy n="100" d="100"/>
        </p:scale>
        <p:origin x="-864" y="282"/>
      </p:cViewPr>
      <p:guideLst>
        <p:guide orient="horz" pos="2924"/>
        <p:guide pos="220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presProps" Target="presProp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85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handoutMaster" Target="handoutMasters/handoutMaster1.xml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605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4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4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6050" y="8818563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A41845-5627-472A-8E2C-9005A8BE7C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57638" y="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212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27363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57638" y="8820150"/>
            <a:ext cx="3027362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5352194F-105A-49C9-9CE2-8A0EF5BE51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Algorithm" TargetMode="External"/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Combinatorial_optimization" TargetMode="External"/><Relationship Id="rId5" Type="http://schemas.openxmlformats.org/officeDocument/2006/relationships/hyperlink" Target="http://en.wikipedia.org/wiki/Discrete_optimization" TargetMode="External"/><Relationship Id="rId4" Type="http://schemas.openxmlformats.org/officeDocument/2006/relationships/hyperlink" Target="http://en.wikipedia.org/wiki/Optimization_(mathematics)" TargetMode="Externa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clair.si.umich.edu/clair/anthology/query.cgi?type=Paper&amp;id=W01-1408" TargetMode="External"/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clair.si.umich.edu/clair/anthology/query.cgi?type=Author&amp;id=5893" TargetMode="External"/><Relationship Id="rId5" Type="http://schemas.openxmlformats.org/officeDocument/2006/relationships/hyperlink" Target="http://clair.si.umich.edu/clair/anthology/query.cgi?type=Author&amp;id=8373" TargetMode="External"/><Relationship Id="rId4" Type="http://schemas.openxmlformats.org/officeDocument/2006/relationships/hyperlink" Target="http://clair.si.umich.edu/clair/anthology/query.cgi?type=Author&amp;id=6051" TargetMode="Externa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6DB67B-3823-4E67-B7C3-0CB10EE8AAC3}" type="slidenum">
              <a:rPr lang="en-US" smtClean="0"/>
              <a:pPr/>
              <a:t>1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1" dirty="0" smtClean="0"/>
              <a:t>Lecture 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43ADC6-3C31-47F7-8A24-C6A52DE8A881}" type="slidenum">
              <a:rPr lang="en-US" smtClean="0"/>
              <a:pPr/>
              <a:t>2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228600" indent="-228600" eaLnBrk="1" hangingPunct="1"/>
            <a:r>
              <a:rPr lang="en-US" dirty="0" smtClean="0"/>
              <a:t>R&amp;R Sys  Representation and reasoning Systems</a:t>
            </a:r>
          </a:p>
          <a:p>
            <a:pPr marL="228600" indent="-228600" eaLnBrk="1" hangingPunct="1"/>
            <a:r>
              <a:rPr lang="en-US" dirty="0" smtClean="0"/>
              <a:t>Each cell is a R&amp;R system</a:t>
            </a:r>
          </a:p>
          <a:p>
            <a:pPr marL="228600" indent="-228600" eaLnBrk="1" hangingPunct="1"/>
            <a:r>
              <a:rPr lang="en-US" dirty="0" smtClean="0"/>
              <a:t>STRIPS  actions </a:t>
            </a:r>
            <a:r>
              <a:rPr lang="en-US" dirty="0" err="1" smtClean="0"/>
              <a:t>prec</a:t>
            </a:r>
            <a:endParaRPr lang="en-US" dirty="0" smtClean="0"/>
          </a:p>
          <a:p>
            <a:pPr marL="228600" indent="-228600" eaLnBrk="1" hangingPunct="1"/>
            <a:endParaRPr lang="en-US" dirty="0" smtClean="0"/>
          </a:p>
          <a:p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The SCSP extends the classical CSP by</a:t>
            </a:r>
          </a:p>
          <a:p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including both decision variables, that an agent can set, and stochastic</a:t>
            </a:r>
          </a:p>
          <a:p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variables that follow a probability distribution and can model </a:t>
            </a:r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uncer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-</a:t>
            </a:r>
          </a:p>
          <a:p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tain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events beyond the agent’s control. So far, two approaches to solving</a:t>
            </a:r>
          </a:p>
          <a:p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SCSPs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have been proposed; backtracking-based procedures that extend</a:t>
            </a:r>
          </a:p>
          <a:p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standard methods from </a:t>
            </a:r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CSPs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, and scenario-based methods that solve</a:t>
            </a:r>
          </a:p>
          <a:p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SCSPs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by reducing them to a sequence of </a:t>
            </a:r>
            <a:r>
              <a:rPr lang="en-CA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CSPs</a:t>
            </a:r>
            <a:r>
              <a:rPr lang="en-CA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.</a:t>
            </a:r>
            <a:r>
              <a:rPr lang="en-US" dirty="0" err="1" smtClean="0"/>
              <a:t>onditions</a:t>
            </a:r>
            <a:r>
              <a:rPr lang="en-US" dirty="0" smtClean="0"/>
              <a:t> and effects Stanford Research Institute Problem Solver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8ED0FC-D273-43BE-80DF-16D0F76019F2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Introductions?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CBAB97-5A47-4EDC-92D6-BE066350AB2E}" type="slidenum">
              <a:rPr lang="en-US"/>
              <a:pPr/>
              <a:t>4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AI agents can be very complex and sophisticated</a:t>
            </a:r>
          </a:p>
          <a:p>
            <a:pPr eaLnBrk="1" hangingPunct="1"/>
            <a:r>
              <a:rPr lang="en-US" smtClean="0"/>
              <a:t>Let’s start from a very simple one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b="1" smtClean="0"/>
              <a:t>GOAL:</a:t>
            </a:r>
            <a:r>
              <a:rPr lang="en-US" smtClean="0"/>
              <a:t> </a:t>
            </a:r>
            <a:r>
              <a:rPr lang="en-US" smtClean="0">
                <a:solidFill>
                  <a:schemeClr val="accent2"/>
                </a:solidFill>
              </a:rPr>
              <a:t>study search</a:t>
            </a:r>
            <a:r>
              <a:rPr lang="en-US" smtClean="0"/>
              <a:t>, a basic method underlying many intelligent agents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913CF6-8C7A-44DC-93C7-2416AC76CC54}" type="slidenum">
              <a:rPr lang="en-US"/>
              <a:pPr/>
              <a:t>5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As we have seen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37E6B4C-4D5D-4588-9C73-12ACA2476ECE}" type="slidenum">
              <a:rPr lang="en-US"/>
              <a:pPr/>
              <a:t>6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Restate / justify that the following is true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Environment changes only when the agent acts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Agent can perfectly predict effect of its actions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Agent is given a goal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88278-5B6F-4D47-A9E8-63ECF75B337F}" type="slidenum">
              <a:rPr lang="en-US"/>
              <a:pPr/>
              <a:t>7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0DA144-8CA9-4994-AE13-4CB9E29AFD82}" type="slidenum">
              <a:rPr lang="en-US"/>
              <a:pPr/>
              <a:t>8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 Unicode MS" pitchFamily="34" charset="-128"/>
              </a:rPr>
              <a:t>How can we find a sequence of actions and their appropriate ordering that lead to the goal?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72635A-3FEE-49DF-8587-1D9C329C1A54}" type="slidenum">
              <a:rPr lang="en-US"/>
              <a:pPr/>
              <a:t>9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States if the world had n locations?</a:t>
            </a:r>
          </a:p>
          <a:p>
            <a:pPr eaLnBrk="1" hangingPunct="1"/>
            <a:r>
              <a:rPr lang="en-US" smtClean="0"/>
              <a:t>Some simplifications wrt real world</a:t>
            </a:r>
          </a:p>
          <a:p>
            <a:pPr eaLnBrk="1" hangingPunct="1">
              <a:buFontTx/>
              <a:buChar char="-"/>
            </a:pPr>
            <a:r>
              <a:rPr lang="en-US" smtClean="0"/>
              <a:t>Discrete location</a:t>
            </a:r>
          </a:p>
          <a:p>
            <a:pPr eaLnBrk="1" hangingPunct="1">
              <a:buFontTx/>
              <a:buChar char="-"/>
            </a:pPr>
            <a:r>
              <a:rPr lang="en-US" smtClean="0"/>
              <a:t>Discrete dirt</a:t>
            </a:r>
          </a:p>
          <a:p>
            <a:pPr eaLnBrk="1" hangingPunct="1">
              <a:buFontTx/>
              <a:buChar char="-"/>
            </a:pPr>
            <a:r>
              <a:rPr lang="en-US" smtClean="0"/>
              <a:t>Reliable cleaning</a:t>
            </a:r>
          </a:p>
          <a:p>
            <a:pPr eaLnBrk="1" hangingPunct="1">
              <a:buFontTx/>
              <a:buChar char="-"/>
            </a:pPr>
            <a:r>
              <a:rPr lang="en-US" smtClean="0"/>
              <a:t>Room never gets messed up once cleaned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E50BD1-18B7-4828-A765-65C796AABC17}" type="slidenum">
              <a:rPr lang="en-US"/>
              <a:pPr/>
              <a:t>10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BC3F0C-C1B1-429F-AC0B-F757F3B3A55F}" type="slidenum">
              <a:rPr lang="en-US"/>
              <a:pPr/>
              <a:t>11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Many problem solving problems tasks can be transformed into the problem of finding paths in a graph. Searching in a graph is an appropriate level of abstraction that allows one to study search independently from the task domain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9BBC3E-EC0A-49D3-9997-80A5EBB47878}" type="slidenum">
              <a:rPr lang="en-US"/>
              <a:pPr/>
              <a:t>12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OLD example</a:t>
            </a:r>
          </a:p>
          <a:p>
            <a:pPr eaLnBrk="1" hangingPunct="1"/>
            <a:r>
              <a:rPr lang="en-US" sz="1000" b="1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Search Space: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neighbors(o103, [ts, l2d3, o109])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neighbors(ts, [mail])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neighbors(mail, [])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neighbors(o109, [o111, o119])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neighbors(o111, [])</a:t>
            </a:r>
          </a:p>
          <a:p>
            <a:pPr eaLnBrk="1" hangingPunct="1"/>
            <a:r>
              <a:rPr lang="en-US" sz="1000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neighbors(storage, [])</a:t>
            </a:r>
          </a:p>
          <a:p>
            <a:pPr lvl="2" eaLnBrk="1" hangingPunct="1">
              <a:lnSpc>
                <a:spcPct val="10000"/>
              </a:lnSpc>
            </a:pPr>
            <a:r>
              <a:rPr lang="en-US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.</a:t>
            </a:r>
          </a:p>
          <a:p>
            <a:pPr lvl="2" eaLnBrk="1" hangingPunct="1">
              <a:lnSpc>
                <a:spcPct val="10000"/>
              </a:lnSpc>
            </a:pPr>
            <a:r>
              <a:rPr lang="en-US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.</a:t>
            </a:r>
          </a:p>
          <a:p>
            <a:pPr lvl="2" eaLnBrk="1" hangingPunct="1">
              <a:lnSpc>
                <a:spcPct val="10000"/>
              </a:lnSpc>
            </a:pPr>
            <a:r>
              <a:rPr lang="en-US" smtClean="0">
                <a:solidFill>
                  <a:srgbClr val="000000"/>
                </a:solidFill>
                <a:latin typeface="Times-Roman"/>
                <a:cs typeface="Times New Roman" pitchFamily="18" charset="0"/>
              </a:rPr>
              <a:t>.</a:t>
            </a:r>
          </a:p>
          <a:p>
            <a:pPr eaLnBrk="1" hangingPunct="1"/>
            <a:endParaRPr lang="en-US" sz="1000" smtClean="0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eaLnBrk="1" hangingPunct="1"/>
            <a:r>
              <a:rPr lang="en-US" sz="1000" b="1" smtClean="0">
                <a:solidFill>
                  <a:srgbClr val="000000"/>
                </a:solidFill>
                <a:latin typeface="EBZZZZ+MTSYN"/>
              </a:rPr>
              <a:t>Goal</a:t>
            </a:r>
            <a:r>
              <a:rPr lang="en-US" sz="1000" smtClean="0">
                <a:solidFill>
                  <a:srgbClr val="000000"/>
                </a:solidFill>
                <a:latin typeface="EBZZZZ+MTSYN"/>
              </a:rPr>
              <a:t>: is_goal(r123)</a:t>
            </a:r>
          </a:p>
          <a:p>
            <a:pPr eaLnBrk="1" hangingPunct="1"/>
            <a:r>
              <a:rPr lang="en-US" sz="1000" b="1" smtClean="0">
                <a:solidFill>
                  <a:srgbClr val="000000"/>
                </a:solidFill>
                <a:latin typeface="EBZZZZ+MTSYN"/>
              </a:rPr>
              <a:t>Start</a:t>
            </a:r>
            <a:r>
              <a:rPr lang="en-US" sz="1000" smtClean="0">
                <a:solidFill>
                  <a:srgbClr val="000000"/>
                </a:solidFill>
                <a:latin typeface="EBZZZZ+MTSYN"/>
              </a:rPr>
              <a:t>: is_start(o103).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A501DE-A5E3-46B1-AD53-5CBEC05F9F3E}" type="slidenum">
              <a:rPr lang="en-US"/>
              <a:pPr/>
              <a:t>13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CA" dirty="0" smtClean="0"/>
              <a:t>For most problems, we can never actually build the whole tree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AF305C8-0555-4AFB-91B6-1FC55D0A4342}" type="slidenum">
              <a:rPr lang="en-US"/>
              <a:pPr/>
              <a:t>14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simplestExample in AIspace  USE FINE STEP 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FA847B-3507-4D55-A07D-F521623F5A2F}" type="slidenum">
              <a:rPr lang="en-US"/>
              <a:pPr/>
              <a:t>15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MAKE TRANSPARENCY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DE0319-ED67-4A1C-BC8A-FBB82DC2B525}" type="slidenum">
              <a:rPr lang="en-US"/>
              <a:pPr/>
              <a:t>16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C231EA-15FB-4BD7-AA7F-97DCC84C5D5C}" type="slidenum">
              <a:rPr lang="en-US" smtClean="0"/>
              <a:pPr/>
              <a:t>17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Lecture slides DO NOT contain everything that is said in class, but you are still responsible for this content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So, make sure you bring yourself up-to-date if you miss a class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8567E2-92E8-4197-9AEF-E1CD905B36B3}" type="slidenum">
              <a:rPr lang="en-US" smtClean="0"/>
              <a:pPr/>
              <a:t>18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 smtClean="0">
                <a:latin typeface="Arial Unicode MS" pitchFamily="34" charset="-128"/>
              </a:rPr>
              <a:t>AI agents can be very complex and sophisticated</a:t>
            </a:r>
          </a:p>
          <a:p>
            <a:pPr marL="342900" indent="-342900">
              <a:spcBef>
                <a:spcPct val="20000"/>
              </a:spcBef>
            </a:pPr>
            <a:r>
              <a:rPr lang="en-US" dirty="0" smtClean="0">
                <a:latin typeface="Arial Unicode MS" pitchFamily="34" charset="-128"/>
              </a:rPr>
              <a:t>Let’s start from a very simple one, </a:t>
            </a:r>
            <a:r>
              <a:rPr lang="en-US" b="1" dirty="0" smtClean="0">
                <a:latin typeface="Arial Unicode MS" pitchFamily="34" charset="-128"/>
              </a:rPr>
              <a:t>the deterministic, goal-driven agent</a:t>
            </a:r>
            <a:r>
              <a:rPr lang="en-US" dirty="0" smtClean="0">
                <a:latin typeface="Arial Unicode MS" pitchFamily="34" charset="-128"/>
              </a:rPr>
              <a:t> for which: he sequence of actions and their appropriate ordering is the solution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5D3256-5077-49DA-B28F-F15F6B152DDE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LIFO queue</a:t>
            </a:r>
          </a:p>
          <a:p>
            <a:pPr eaLnBrk="1" hangingPunct="1"/>
            <a:r>
              <a:rPr lang="en-US" smtClean="0"/>
              <a:t>The deepest in the current frontier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F97585-131B-4138-95BB-4BC22232C6FD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The longest path is expanded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0BB613-1FFC-42BE-9C86-B14821095C93}" type="slidenum">
              <a:rPr lang="en-US" smtClean="0"/>
              <a:pPr/>
              <a:t>21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AI space: </a:t>
            </a:r>
            <a:r>
              <a:rPr lang="en-US" sz="1000" smtClean="0"/>
              <a:t>Depth-first search isn't guaranteed to halt on graphs with cycles.</a:t>
            </a:r>
          </a:p>
          <a:p>
            <a:pPr eaLnBrk="1" hangingPunct="1"/>
            <a:r>
              <a:rPr lang="en-US" sz="1000" smtClean="0"/>
              <a:t>Space complexity is linear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0BB613-1FFC-42BE-9C86-B14821095C93}" type="slidenum">
              <a:rPr lang="en-US" smtClean="0"/>
              <a:pPr/>
              <a:t>22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AI space: </a:t>
            </a:r>
            <a:r>
              <a:rPr lang="en-US" sz="1000" smtClean="0"/>
              <a:t>Depth-first search isn't guaranteed to halt on graphs with cycles.</a:t>
            </a:r>
          </a:p>
          <a:p>
            <a:pPr eaLnBrk="1" hangingPunct="1"/>
            <a:r>
              <a:rPr lang="en-US" sz="1000" smtClean="0"/>
              <a:t>Space complexity is linear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AD20649-C63D-4405-932E-80720FAF741A}" type="slidenum">
              <a:rPr lang="en-US" smtClean="0"/>
              <a:pPr/>
              <a:t>23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AI space: </a:t>
            </a:r>
            <a:r>
              <a:rPr lang="en-US" sz="1000" smtClean="0"/>
              <a:t>Depth-first search isn't guaranteed to halt on graphs with cycles.</a:t>
            </a:r>
          </a:p>
          <a:p>
            <a:pPr eaLnBrk="1" hangingPunct="1"/>
            <a:r>
              <a:rPr lang="en-US" sz="1000" smtClean="0"/>
              <a:t>Space complexity is linear</a:t>
            </a:r>
          </a:p>
          <a:p>
            <a:pPr marL="0" lvl="1" eaLnBrk="1" hangingPunct="1"/>
            <a:r>
              <a:rPr lang="en-US" sz="2000" smtClean="0">
                <a:latin typeface="Arial Unicode MS" pitchFamily="34" charset="-128"/>
              </a:rPr>
              <a:t>Ordering heuristic is weak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E22A65C-D07B-49E6-A4B0-81912E092218}" type="slidenum">
              <a:rPr lang="en-US" smtClean="0"/>
              <a:pPr/>
              <a:t>24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AI space: </a:t>
            </a:r>
            <a:r>
              <a:rPr lang="en-US" sz="1000" smtClean="0"/>
              <a:t>Depth-first search isn't guaranteed to halt on graphs with cycles.</a:t>
            </a:r>
          </a:p>
          <a:p>
            <a:pPr eaLnBrk="1" hangingPunct="1"/>
            <a:r>
              <a:rPr lang="en-US" sz="1000" smtClean="0"/>
              <a:t>Space complexity is linear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AA5D27-650B-4FDE-9968-80A4EC24CDE5}" type="slidenum">
              <a:rPr lang="en-US" smtClean="0"/>
              <a:pPr/>
              <a:t>25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8E5329-5079-49B6-9931-3EE6BE1C6AD8}" type="slidenum">
              <a:rPr lang="en-US" smtClean="0"/>
              <a:pPr/>
              <a:t>26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E0BB613-1FFC-42BE-9C86-B14821095C93}" type="slidenum">
              <a:rPr lang="en-US" smtClean="0"/>
              <a:pPr/>
              <a:t>27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Show AI space: </a:t>
            </a:r>
            <a:r>
              <a:rPr lang="en-US" sz="1000" smtClean="0"/>
              <a:t>Depth-first search isn't guaranteed to halt on graphs with cycles.</a:t>
            </a:r>
          </a:p>
          <a:p>
            <a:pPr eaLnBrk="1" hangingPunct="1"/>
            <a:r>
              <a:rPr lang="en-US" sz="1000" smtClean="0"/>
              <a:t>Space complexity is linear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860352-565C-4524-8B71-479938F173B2}" type="slidenum">
              <a:rPr lang="en-US" smtClean="0"/>
              <a:pPr/>
              <a:t>28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r>
              <a:rPr lang="en-US" sz="1000" smtClean="0"/>
              <a:t>we must store the whole frontier in memory</a:t>
            </a:r>
            <a:endParaRPr lang="en-US" sz="900" smtClean="0"/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55EB4B-4310-4C5E-BF0A-9BA72DE7CDEB}" type="slidenum">
              <a:rPr lang="en-US" smtClean="0"/>
              <a:pPr/>
              <a:t>29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1407760-0E1B-41AE-BA12-AEAFD59BD6AB}" type="slidenum">
              <a:rPr lang="en-US" smtClean="0"/>
              <a:pPr/>
              <a:t>30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695325"/>
            <a:ext cx="4641850" cy="3481388"/>
          </a:xfrm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z="1000" smtClean="0"/>
              <a:t>Why not 0 2 4? </a:t>
            </a:r>
          </a:p>
          <a:p>
            <a:pPr eaLnBrk="1" hangingPunct="1"/>
            <a:endParaRPr lang="en-US" sz="1000" smtClean="0"/>
          </a:p>
          <a:p>
            <a:pPr eaLnBrk="1" hangingPunct="1"/>
            <a:r>
              <a:rPr lang="en-US" sz="1000" smtClean="0"/>
              <a:t>So far all search strategies that are guaranteed to halt use exponential space.</a:t>
            </a:r>
          </a:p>
          <a:p>
            <a:pPr eaLnBrk="1" hangingPunct="1"/>
            <a:r>
              <a:rPr lang="en-US" sz="1000" smtClean="0"/>
              <a:t>Increase the depth-bound when the search fails unnaturally (depth-bound was reached).</a:t>
            </a:r>
          </a:p>
          <a:p>
            <a:pPr eaLnBrk="1" hangingPunct="1"/>
            <a:endParaRPr lang="en-CA" sz="1000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294D88-A736-4505-AE5F-4E5259341420}" type="slidenum">
              <a:rPr lang="en-US" smtClean="0"/>
              <a:pPr/>
              <a:t>31</a:t>
            </a:fld>
            <a:endParaRPr lang="en-US" smtClean="0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695325"/>
            <a:ext cx="4641850" cy="3481388"/>
          </a:xfrm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z="1000" smtClean="0"/>
              <a:t>Why not 0 2 4? </a:t>
            </a:r>
          </a:p>
          <a:p>
            <a:pPr eaLnBrk="1" hangingPunct="1"/>
            <a:endParaRPr lang="en-US" sz="1000" smtClean="0"/>
          </a:p>
          <a:p>
            <a:pPr eaLnBrk="1" hangingPunct="1"/>
            <a:r>
              <a:rPr lang="en-US" sz="1000" smtClean="0"/>
              <a:t>So far all search strategies that are guaranteed to halt use exponential space.</a:t>
            </a:r>
          </a:p>
          <a:p>
            <a:pPr eaLnBrk="1" hangingPunct="1"/>
            <a:r>
              <a:rPr lang="en-US" sz="1000" smtClean="0"/>
              <a:t>Increase the depth-bound when the search fails unnaturally (depth-bound was reached).</a:t>
            </a:r>
          </a:p>
          <a:p>
            <a:pPr eaLnBrk="1" hangingPunct="1"/>
            <a:endParaRPr lang="en-CA" sz="100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709B862-B89B-4B2A-98EE-7964F58337E6}" type="slidenum">
              <a:rPr lang="en-US" smtClean="0"/>
              <a:pPr/>
              <a:t>32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695325"/>
            <a:ext cx="4641850" cy="3481388"/>
          </a:xfrm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110" y="4330700"/>
            <a:ext cx="5121488" cy="4179888"/>
          </a:xfrm>
          <a:noFill/>
          <a:ln/>
        </p:spPr>
        <p:txBody>
          <a:bodyPr/>
          <a:lstStyle/>
          <a:p>
            <a:pPr eaLnBrk="1" hangingPunct="1">
              <a:spcBef>
                <a:spcPct val="50000"/>
              </a:spcBef>
            </a:pPr>
            <a:r>
              <a:rPr lang="en-US" b="1" smtClean="0"/>
              <a:t>For b= 10, k = 5. BSF 111,111 and ID = 123,456 (only 11% more nodes)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The larges b the better, but even with b = 2 the search ID will take only ~4 times as much as BFS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Problem. When the branching factor is 1 at depth K, iterative deepening will</a:t>
            </a:r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Have searched k + (k-1) + (k-2) +….1 =k(k+1)/2</a:t>
            </a:r>
          </a:p>
          <a:p>
            <a:pPr eaLnBrk="1" hangingPunct="1">
              <a:spcBef>
                <a:spcPct val="50000"/>
              </a:spcBef>
            </a:pPr>
            <a:endParaRPr lang="en-US" smtClean="0"/>
          </a:p>
          <a:p>
            <a:pPr eaLnBrk="1" hangingPunct="1">
              <a:spcBef>
                <a:spcPct val="50000"/>
              </a:spcBef>
            </a:pPr>
            <a:r>
              <a:rPr lang="en-US" smtClean="0"/>
              <a:t>Iterative deepening is good when there is a large search space and the depth of the solution is not known.</a:t>
            </a:r>
          </a:p>
          <a:p>
            <a:pPr eaLnBrk="1" hangingPunct="1"/>
            <a:endParaRPr lang="en-US" i="1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5AA2EB-2872-4D14-AF2F-313389E58DC3}" type="slidenum">
              <a:rPr lang="en-US" smtClean="0"/>
              <a:pPr/>
              <a:t>33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5787" y="695325"/>
            <a:ext cx="4633426" cy="3481388"/>
          </a:xfrm>
          <a:ln/>
        </p:spPr>
      </p:sp>
      <p:sp>
        <p:nvSpPr>
          <p:cNvPr id="451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Char char="•"/>
              <a:defRPr/>
            </a:pPr>
            <a:r>
              <a:rPr lang="en-US" dirty="0" smtClean="0">
                <a:solidFill>
                  <a:schemeClr val="accent4"/>
                </a:solidFill>
              </a:rPr>
              <a:t>If IDS returns a solution of length k why there cannot be a solution of length k-2?</a:t>
            </a:r>
            <a:endParaRPr lang="en-US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10B26F-5E20-4990-8AD9-2390F264D093}" type="slidenum">
              <a:rPr lang="en-US" smtClean="0"/>
              <a:pPr/>
              <a:t>34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1575" y="695325"/>
            <a:ext cx="4641850" cy="3481388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b="1" i="1" smtClean="0"/>
              <a:t>How many times you create the nodes at that level</a:t>
            </a:r>
          </a:p>
          <a:p>
            <a:pPr eaLnBrk="1" hangingPunct="1"/>
            <a:endParaRPr lang="en-US" b="1" i="1" smtClean="0"/>
          </a:p>
          <a:p>
            <a:pPr eaLnBrk="1" hangingPunct="1"/>
            <a:r>
              <a:rPr lang="en-US" smtClean="0"/>
              <a:t>For b= 10 and d = 5. BSF 111,111 and ID = 123,456 (only 11% more nodes)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Iterative deepening is good when there is a large search space and the depth of the solution is not known.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6A5813-780A-44E7-8C6C-E5F3A7826A73}" type="slidenum">
              <a:rPr lang="en-US" smtClean="0"/>
              <a:pPr/>
              <a:t>35</a:t>
            </a:fld>
            <a:endParaRPr lang="en-US" smtClean="0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>
              <a:buFontTx/>
              <a:buChar char="•"/>
            </a:pPr>
            <a:r>
              <a:rPr lang="en-US" smtClean="0"/>
              <a:t>Cost can be negative!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8ED0FC-D273-43BE-80DF-16D0F76019F2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5F99BA-D97F-4B96-912B-800EA2433617}" type="slidenum">
              <a:rPr lang="en-US" smtClean="0"/>
              <a:pPr/>
              <a:t>37</a:t>
            </a:fld>
            <a:endParaRPr lang="en-US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Examples of h(n):</a:t>
            </a:r>
          </a:p>
          <a:p>
            <a:pPr eaLnBrk="1" hangingPunct="1"/>
            <a:r>
              <a:rPr lang="en-US" smtClean="0"/>
              <a:t>actual distance from a location, # of atoms to be resolved, </a:t>
            </a:r>
          </a:p>
          <a:p>
            <a:pPr eaLnBrk="1" hangingPunct="1"/>
            <a:r>
              <a:rPr lang="en-US" smtClean="0"/>
              <a:t>in eight puzzle:</a:t>
            </a:r>
          </a:p>
          <a:p>
            <a:pPr eaLnBrk="1" hangingPunct="1">
              <a:buFontTx/>
              <a:buChar char="-"/>
            </a:pPr>
            <a:r>
              <a:rPr lang="en-US" smtClean="0"/>
              <a:t>number of tiles that are out of place</a:t>
            </a:r>
          </a:p>
          <a:p>
            <a:pPr eaLnBrk="1" hangingPunct="1">
              <a:buFontTx/>
              <a:buChar char="-"/>
            </a:pPr>
            <a:r>
              <a:rPr lang="en-US" smtClean="0"/>
              <a:t>sum of the manhattan distance of each tile from its location (</a:t>
            </a:r>
            <a:r>
              <a:rPr lang="en-US" b="1" smtClean="0"/>
              <a:t>ACC did not metion this)</a:t>
            </a:r>
          </a:p>
          <a:p>
            <a:pPr eaLnBrk="1" hangingPunct="1">
              <a:buFontTx/>
              <a:buChar char="-"/>
            </a:pPr>
            <a:endParaRPr lang="en-US" b="1" smtClean="0"/>
          </a:p>
          <a:p>
            <a:pPr eaLnBrk="1" hangingPunct="1">
              <a:buFontTx/>
              <a:buChar char="-"/>
            </a:pPr>
            <a:r>
              <a:rPr lang="en-US" b="1" smtClean="0"/>
              <a:t>ACC: in the assignment for this module, it came up the question of whether h should be &gt; 0, The book says so, and it makes sense because it is a cost.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D6DB66-3BCE-4A64-B4E7-49C10E5DDDC7}" type="slidenum">
              <a:rPr lang="en-US" smtClean="0"/>
              <a:pPr/>
              <a:t>38</a:t>
            </a:fld>
            <a:endParaRPr lang="en-US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Lecture slides DO NOT contain everything that is said in class, but you are still responsible for this content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So, make sure you bring yourself up-to-date if you miss a class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DEE312D-E69E-4483-B470-BD037CFDDB26}" type="slidenum">
              <a:rPr lang="en-US" smtClean="0"/>
              <a:pPr/>
              <a:t>39</a:t>
            </a:fld>
            <a:endParaRPr lang="en-US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Lecture slides DO NOT contain everything that is said in class, but you are still responsible for this content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So, make sure you bring yourself up-to-date if you miss a class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16E209-A9A2-429F-8683-782F2545104A}" type="slidenum">
              <a:rPr lang="en-US" smtClean="0"/>
              <a:pPr/>
              <a:t>40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the distance between two points is the sum of the (absolute) differences of their coordinates  </a:t>
            </a:r>
          </a:p>
          <a:p>
            <a:pPr eaLnBrk="1" hangingPunct="1"/>
            <a:r>
              <a:rPr lang="en-US" smtClean="0">
                <a:latin typeface="Arial Unicode MS" pitchFamily="34" charset="-128"/>
              </a:rPr>
              <a:t>``Manhattan distance'‘(</a:t>
            </a:r>
            <a:r>
              <a:rPr lang="en-US" i="1" smtClean="0">
                <a:latin typeface="Arial Unicode MS" pitchFamily="34" charset="-128"/>
              </a:rPr>
              <a:t>L</a:t>
            </a:r>
            <a:r>
              <a:rPr lang="en-US" i="1" baseline="-25000" smtClean="0">
                <a:latin typeface="Arial Unicode MS" pitchFamily="34" charset="-128"/>
              </a:rPr>
              <a:t>1</a:t>
            </a:r>
            <a:r>
              <a:rPr lang="en-US" smtClean="0">
                <a:latin typeface="Arial Unicode MS" pitchFamily="34" charset="-128"/>
              </a:rPr>
              <a:t> distance), the distance between two points is the sum of the (absolute) differences of their coordinates </a:t>
            </a:r>
            <a:endParaRPr lang="en-US" sz="1100" smtClean="0">
              <a:latin typeface="Arial Unicode MS" pitchFamily="34" charset="-128"/>
            </a:endParaRP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844847-6BC0-4CCA-80CE-21C9E1D4D65F}" type="slidenum">
              <a:rPr lang="en-US" smtClean="0"/>
              <a:pPr/>
              <a:t>41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the distance between two points is the sum of the (absolute) differences of their coordinates 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987065-7552-4787-86BE-FA383382E719}" type="slidenum">
              <a:rPr lang="en-US" smtClean="0"/>
              <a:pPr/>
              <a:t>42</a:t>
            </a:fld>
            <a:endParaRPr lang="en-US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 eaLnBrk="1" hangingPunct="1"/>
            <a:r>
              <a:rPr lang="en-US" sz="2000" smtClean="0">
                <a:latin typeface="Arial Unicode MS" pitchFamily="34" charset="-128"/>
              </a:rPr>
              <a:t>this also makes sense if there are obstacles, or for other reasons not all adjacent nodes share an arc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996300-F1C1-47A2-ACD6-C021803381A6}" type="slidenum">
              <a:rPr lang="en-US" smtClean="0"/>
              <a:pPr/>
              <a:t>43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Which one is better?</a:t>
            </a:r>
          </a:p>
          <a:p>
            <a:pPr eaLnBrk="1" hangingPunct="1"/>
            <a:r>
              <a:rPr lang="en-US" smtClean="0"/>
              <a:t>E.g., for the 8-puzzle:
</a:t>
            </a:r>
          </a:p>
          <a:p>
            <a:pPr eaLnBrk="1" hangingPunct="1"/>
            <a:r>
              <a:rPr lang="en-US" i="1" smtClean="0"/>
              <a:t>h</a:t>
            </a:r>
            <a:r>
              <a:rPr lang="en-US" i="1" baseline="-25000" smtClean="0"/>
              <a:t>1</a:t>
            </a:r>
            <a:r>
              <a:rPr lang="en-US" i="1" smtClean="0"/>
              <a:t>(n) </a:t>
            </a:r>
            <a:r>
              <a:rPr lang="en-US" smtClean="0"/>
              <a:t>= number of misplaced tiles</a:t>
            </a:r>
          </a:p>
          <a:p>
            <a:pPr eaLnBrk="1" hangingPunct="1"/>
            <a:r>
              <a:rPr lang="en-US" i="1" smtClean="0"/>
              <a:t>h</a:t>
            </a:r>
            <a:r>
              <a:rPr lang="en-US" i="1" baseline="-25000" smtClean="0"/>
              <a:t>2</a:t>
            </a:r>
            <a:r>
              <a:rPr lang="en-US" i="1" smtClean="0"/>
              <a:t>(n) </a:t>
            </a:r>
            <a:r>
              <a:rPr lang="en-US" smtClean="0"/>
              <a:t>= total Manhattan distance</a:t>
            </a:r>
          </a:p>
          <a:p>
            <a:pPr eaLnBrk="1" hangingPunct="1"/>
            <a:r>
              <a:rPr lang="en-US" smtClean="0"/>
              <a:t>(i.e., no. of squares from desired location of each tile)</a:t>
            </a:r>
          </a:p>
          <a:p>
            <a:pPr eaLnBrk="1" hangingPunct="1"/>
            <a:r>
              <a:rPr lang="en-US" sz="1600" u="sng" smtClean="0">
                <a:solidFill>
                  <a:srgbClr val="CC0099"/>
                </a:solidFill>
              </a:rPr>
              <a:t>h</a:t>
            </a:r>
            <a:r>
              <a:rPr lang="en-US" sz="1600" u="sng" baseline="-25000" smtClean="0">
                <a:solidFill>
                  <a:srgbClr val="CC0099"/>
                </a:solidFill>
              </a:rPr>
              <a:t>1</a:t>
            </a:r>
            <a:r>
              <a:rPr lang="en-US" sz="1600" u="sng" smtClean="0">
                <a:solidFill>
                  <a:srgbClr val="CC0099"/>
                </a:solidFill>
              </a:rPr>
              <a:t>(S) = ?</a:t>
            </a:r>
            <a:r>
              <a:rPr lang="en-US" sz="1600" smtClean="0"/>
              <a:t> 8</a:t>
            </a:r>
            <a:endParaRPr lang="en-US" sz="1600" u="sng" smtClean="0">
              <a:solidFill>
                <a:srgbClr val="CC0099"/>
              </a:solidFill>
            </a:endParaRPr>
          </a:p>
          <a:p>
            <a:pPr eaLnBrk="1" hangingPunct="1"/>
            <a:r>
              <a:rPr lang="en-US" sz="1600" u="sng" smtClean="0">
                <a:solidFill>
                  <a:srgbClr val="CC0099"/>
                </a:solidFill>
              </a:rPr>
              <a:t>h</a:t>
            </a:r>
            <a:r>
              <a:rPr lang="en-US" sz="1600" u="sng" baseline="-25000" smtClean="0">
                <a:solidFill>
                  <a:srgbClr val="CC0099"/>
                </a:solidFill>
              </a:rPr>
              <a:t>2</a:t>
            </a:r>
            <a:r>
              <a:rPr lang="en-US" sz="1600" u="sng" smtClean="0">
                <a:solidFill>
                  <a:srgbClr val="CC0099"/>
                </a:solidFill>
              </a:rPr>
              <a:t>(S) = ?</a:t>
            </a:r>
            <a:r>
              <a:rPr lang="en-US" sz="1600" smtClean="0"/>
              <a:t> 3+1+2+2+2+3+3+2 = 18</a:t>
            </a:r>
            <a:r>
              <a:rPr lang="en-US" sz="1400" smtClean="0"/>
              <a:t> 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C57BB3-8517-4DDE-BD25-77D70454B5CA}" type="slidenum">
              <a:rPr lang="en-US" smtClean="0"/>
              <a:pPr/>
              <a:t>44</a:t>
            </a:fld>
            <a:endParaRPr lang="en-US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Which one is better?</a:t>
            </a:r>
          </a:p>
          <a:p>
            <a:pPr eaLnBrk="1" hangingPunct="1"/>
            <a:r>
              <a:rPr lang="en-US" smtClean="0"/>
              <a:t>E.g., for the 8-puzzle:
</a:t>
            </a:r>
          </a:p>
          <a:p>
            <a:pPr eaLnBrk="1" hangingPunct="1"/>
            <a:r>
              <a:rPr lang="en-US" i="1" smtClean="0"/>
              <a:t>h</a:t>
            </a:r>
            <a:r>
              <a:rPr lang="en-US" i="1" baseline="-25000" smtClean="0"/>
              <a:t>1</a:t>
            </a:r>
            <a:r>
              <a:rPr lang="en-US" i="1" smtClean="0"/>
              <a:t>(n) </a:t>
            </a:r>
            <a:r>
              <a:rPr lang="en-US" smtClean="0"/>
              <a:t>= number of misplaced tiles</a:t>
            </a:r>
          </a:p>
          <a:p>
            <a:pPr eaLnBrk="1" hangingPunct="1"/>
            <a:r>
              <a:rPr lang="en-US" i="1" smtClean="0"/>
              <a:t>h</a:t>
            </a:r>
            <a:r>
              <a:rPr lang="en-US" i="1" baseline="-25000" smtClean="0"/>
              <a:t>2</a:t>
            </a:r>
            <a:r>
              <a:rPr lang="en-US" i="1" smtClean="0"/>
              <a:t>(n) </a:t>
            </a:r>
            <a:r>
              <a:rPr lang="en-US" smtClean="0"/>
              <a:t>= total Manhattan distance</a:t>
            </a:r>
          </a:p>
          <a:p>
            <a:pPr eaLnBrk="1" hangingPunct="1"/>
            <a:r>
              <a:rPr lang="en-US" smtClean="0"/>
              <a:t>(i.e., no. of squares from desired location of each tile)</a:t>
            </a:r>
          </a:p>
          <a:p>
            <a:pPr eaLnBrk="1" hangingPunct="1"/>
            <a:r>
              <a:rPr lang="en-US" sz="1600" u="sng" smtClean="0">
                <a:solidFill>
                  <a:srgbClr val="CC0099"/>
                </a:solidFill>
              </a:rPr>
              <a:t>h</a:t>
            </a:r>
            <a:r>
              <a:rPr lang="en-US" sz="1600" u="sng" baseline="-25000" smtClean="0">
                <a:solidFill>
                  <a:srgbClr val="CC0099"/>
                </a:solidFill>
              </a:rPr>
              <a:t>1</a:t>
            </a:r>
            <a:r>
              <a:rPr lang="en-US" sz="1600" u="sng" smtClean="0">
                <a:solidFill>
                  <a:srgbClr val="CC0099"/>
                </a:solidFill>
              </a:rPr>
              <a:t>(S) = ?</a:t>
            </a:r>
            <a:r>
              <a:rPr lang="en-US" sz="1600" smtClean="0"/>
              <a:t> 8</a:t>
            </a:r>
            <a:endParaRPr lang="en-US" sz="1600" u="sng" smtClean="0">
              <a:solidFill>
                <a:srgbClr val="CC0099"/>
              </a:solidFill>
            </a:endParaRPr>
          </a:p>
          <a:p>
            <a:pPr eaLnBrk="1" hangingPunct="1"/>
            <a:r>
              <a:rPr lang="en-US" sz="1600" u="sng" smtClean="0">
                <a:solidFill>
                  <a:srgbClr val="CC0099"/>
                </a:solidFill>
              </a:rPr>
              <a:t>h</a:t>
            </a:r>
            <a:r>
              <a:rPr lang="en-US" sz="1600" u="sng" baseline="-25000" smtClean="0">
                <a:solidFill>
                  <a:srgbClr val="CC0099"/>
                </a:solidFill>
              </a:rPr>
              <a:t>2</a:t>
            </a:r>
            <a:r>
              <a:rPr lang="en-US" sz="1600" u="sng" smtClean="0">
                <a:solidFill>
                  <a:srgbClr val="CC0099"/>
                </a:solidFill>
              </a:rPr>
              <a:t>(S) = ?</a:t>
            </a:r>
            <a:r>
              <a:rPr lang="en-US" sz="1600" smtClean="0"/>
              <a:t> 3+1+2+2+2+3+3+2 = 18</a:t>
            </a:r>
            <a:r>
              <a:rPr lang="en-US" sz="1400" smtClean="0"/>
              <a:t> 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25A2B9-903C-4AD9-9F42-6FFFAC88E141}" type="slidenum">
              <a:rPr lang="en-US" smtClean="0"/>
              <a:pPr/>
              <a:t>45</a:t>
            </a:fld>
            <a:endParaRPr lang="en-US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800" smtClean="0"/>
              <a:t>Overall, a cost-minimizing search problem is a </a:t>
            </a:r>
            <a:r>
              <a:rPr lang="en-US" sz="800" smtClean="0">
                <a:solidFill>
                  <a:srgbClr val="CC0099"/>
                </a:solidFill>
              </a:rPr>
              <a:t>constrained optimization problem</a:t>
            </a:r>
            <a:endParaRPr lang="en-US" sz="800" smtClean="0"/>
          </a:p>
          <a:p>
            <a:pPr lvl="1" eaLnBrk="1" hangingPunct="1"/>
            <a:r>
              <a:rPr lang="en-US" sz="800" smtClean="0"/>
              <a:t>e.g., find a path from A to B which minimizes distance traveled, subject to the constraint that the robot can't move through walls</a:t>
            </a:r>
          </a:p>
          <a:p>
            <a:pPr lvl="1" eaLnBrk="1" hangingPunct="1"/>
            <a:r>
              <a:rPr lang="en-US" sz="1000" smtClean="0"/>
              <a:t>e.g., find a path from A to B which minimizes distance traveled, </a:t>
            </a:r>
            <a:r>
              <a:rPr lang="en-US" sz="1000" b="1" i="1" smtClean="0"/>
              <a:t>allowing</a:t>
            </a:r>
            <a:r>
              <a:rPr lang="en-US" sz="1000" smtClean="0"/>
              <a:t> the agent to move through walls</a:t>
            </a:r>
          </a:p>
          <a:p>
            <a:pPr eaLnBrk="1" hangingPunct="1"/>
            <a:r>
              <a:rPr lang="en-US" smtClean="0"/>
              <a:t>Later </a:t>
            </a:r>
            <a:r>
              <a:rPr lang="en-US" sz="1000" smtClean="0"/>
              <a:t>Another </a:t>
            </a:r>
            <a:r>
              <a:rPr lang="en-US" sz="1000" smtClean="0">
                <a:solidFill>
                  <a:srgbClr val="CC0099"/>
                </a:solidFill>
              </a:rPr>
              <a:t>trick for constructing heuristics</a:t>
            </a:r>
            <a:r>
              <a:rPr lang="en-US" sz="1000" smtClean="0"/>
              <a:t>: if </a:t>
            </a:r>
            <a:r>
              <a:rPr lang="en-US" sz="1000" i="1" smtClean="0"/>
              <a:t>h</a:t>
            </a:r>
            <a:r>
              <a:rPr lang="en-US" sz="1000" i="1" baseline="-25000" smtClean="0"/>
              <a:t>1</a:t>
            </a:r>
            <a:r>
              <a:rPr lang="en-US" sz="1000" i="1" smtClean="0"/>
              <a:t>(n)</a:t>
            </a:r>
            <a:r>
              <a:rPr lang="en-US" sz="1000" smtClean="0"/>
              <a:t> is an admissible heuristic, and </a:t>
            </a:r>
            <a:r>
              <a:rPr lang="en-US" sz="1000" i="1" smtClean="0"/>
              <a:t>h</a:t>
            </a:r>
            <a:r>
              <a:rPr lang="en-US" sz="1000" i="1" baseline="-25000" smtClean="0"/>
              <a:t>2</a:t>
            </a:r>
            <a:r>
              <a:rPr lang="en-US" sz="1000" i="1" smtClean="0"/>
              <a:t>(n)</a:t>
            </a:r>
            <a:r>
              <a:rPr lang="en-US" sz="1000" smtClean="0"/>
              <a:t> is also an admissible heuristic, then </a:t>
            </a:r>
            <a:r>
              <a:rPr lang="en-US" sz="1000" i="1" smtClean="0"/>
              <a:t>max(h</a:t>
            </a:r>
            <a:r>
              <a:rPr lang="en-US" sz="1000" i="1" baseline="-25000" smtClean="0"/>
              <a:t>1</a:t>
            </a:r>
            <a:r>
              <a:rPr lang="en-US" sz="1000" i="1" smtClean="0"/>
              <a:t>(n),h</a:t>
            </a:r>
            <a:r>
              <a:rPr lang="en-US" sz="1000" i="1" baseline="-25000" smtClean="0"/>
              <a:t>2</a:t>
            </a:r>
            <a:r>
              <a:rPr lang="en-US" sz="1000" i="1" smtClean="0"/>
              <a:t>(n))</a:t>
            </a:r>
            <a:r>
              <a:rPr lang="en-US" sz="1000" smtClean="0"/>
              <a:t> is also admissible.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F3FC91-27BC-48EC-9E91-FBC848995B25}" type="slidenum">
              <a:rPr lang="en-US" smtClean="0"/>
              <a:pPr/>
              <a:t>46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Admissible heuristics can also be derived from the solution cost of a subproblem</a:t>
            </a:r>
          </a:p>
          <a:p>
            <a:pPr eaLnBrk="1" hangingPunct="1"/>
            <a:r>
              <a:rPr lang="en-US" smtClean="0"/>
              <a:t>Put 1 2 3 4 in place (substantially more accurate than manhattan distance)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D867AE-C1AE-4F41-A0D1-C3852FF88A9F}" type="slidenum">
              <a:rPr lang="en-US" smtClean="0"/>
              <a:pPr/>
              <a:t>47</a:t>
            </a:fld>
            <a:endParaRPr lang="en-US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Substantially more accurate than Manhattan distance in some cases</a:t>
            </a:r>
          </a:p>
          <a:p>
            <a:pPr eaLnBrk="1" hangingPunct="1"/>
            <a:r>
              <a:rPr lang="en-US" smtClean="0"/>
              <a:t>So the two can be combined as described before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A1944C-3551-49EC-BD05-4D819647D6BD}" type="slidenum">
              <a:rPr lang="en-US" smtClean="0"/>
              <a:pPr/>
              <a:t>48</a:t>
            </a:fld>
            <a:endParaRPr lang="en-US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Data are averaged over 100 instances of the 8-puzzle, for various solutions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2134D1-8EFB-4FE2-A7BA-8E5C02201928}" type="slidenum">
              <a:rPr lang="en-US" smtClean="0"/>
              <a:pPr/>
              <a:t>49</a:t>
            </a:fld>
            <a:endParaRPr lang="en-US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max (h</a:t>
            </a:r>
            <a:r>
              <a:rPr lang="en-US" baseline="-25000" smtClean="0"/>
              <a:t>1</a:t>
            </a:r>
            <a:r>
              <a:rPr lang="en-US" smtClean="0"/>
              <a:t>(n) , h</a:t>
            </a:r>
            <a:r>
              <a:rPr lang="en-US" baseline="-25000" smtClean="0"/>
              <a:t>2</a:t>
            </a:r>
            <a:r>
              <a:rPr lang="en-US" smtClean="0"/>
              <a:t>(n) )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B98D48-CEA5-4C91-A89E-B78B6838F255}" type="slidenum">
              <a:rPr lang="en-US" smtClean="0"/>
              <a:pPr/>
              <a:t>50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r>
              <a:rPr lang="en-US" smtClean="0"/>
              <a:t>Substantially more accurate than Manhattan distance in some cases</a:t>
            </a:r>
          </a:p>
          <a:p>
            <a:pPr eaLnBrk="1" hangingPunct="1"/>
            <a:r>
              <a:rPr lang="en-US" smtClean="0"/>
              <a:t>So the two can be combined as described before</a:t>
            </a:r>
          </a:p>
          <a:p>
            <a:pPr eaLnBrk="1" hangingPunct="1"/>
            <a:r>
              <a:rPr lang="en-US" smtClean="0"/>
              <a:t>L2 6</a:t>
            </a:r>
          </a:p>
          <a:p>
            <a:pPr eaLnBrk="1" hangingPunct="1"/>
            <a:r>
              <a:rPr lang="en-US" smtClean="0"/>
              <a:t>subp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F14AAD-BDCA-463D-B1C3-829077DBE05F}" type="slidenum">
              <a:rPr lang="en-US" smtClean="0"/>
              <a:pPr/>
              <a:t>51</a:t>
            </a:fld>
            <a:endParaRPr lang="en-US" smtClean="0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B53EB6-D141-4A03-977A-D9D015A0C568}" type="slidenum">
              <a:rPr lang="en-US" smtClean="0"/>
              <a:pPr/>
              <a:t>52</a:t>
            </a:fld>
            <a:endParaRPr lang="en-US" smtClean="0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Misleading heuristic demo (sample Aispace problem)</a:t>
            </a:r>
          </a:p>
          <a:p>
            <a:pPr eaLnBrk="1" hangingPunct="1"/>
            <a:r>
              <a:rPr lang="en-US" smtClean="0"/>
              <a:t>Search with cost example (USE FINE STEP!)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ED986-94FD-474E-BF0D-211B4C006CA2}" type="slidenum">
              <a:rPr lang="en-US" smtClean="0"/>
              <a:pPr/>
              <a:t>53</a:t>
            </a:fld>
            <a:endParaRPr lang="en-US" smtClean="0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Lowest estimated total cost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85F554-079C-4A8A-BB3A-AC486D9EE120}" type="slidenum">
              <a:rPr lang="en-US" smtClean="0"/>
              <a:pPr/>
              <a:t>54</a:t>
            </a:fld>
            <a:endParaRPr lang="en-US" smtClean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Complete it is always testing shorter underestimate of the total cost</a:t>
            </a:r>
          </a:p>
          <a:p>
            <a:pPr eaLnBrk="1" hangingPunct="1"/>
            <a:r>
              <a:rPr lang="en-US" smtClean="0"/>
              <a:t>So it is not missing anything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B4BB78-434F-4016-A3CE-3DD13E223F10}" type="slidenum">
              <a:rPr lang="en-US" smtClean="0"/>
              <a:pPr/>
              <a:t>55</a:t>
            </a:fld>
            <a:endParaRPr lang="en-US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FBBD128-3779-49C6-9A3E-106E2E7EDE66}" type="slidenum">
              <a:rPr lang="en-US" smtClean="0"/>
              <a:pPr/>
              <a:t>56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65262F-9966-4044-9054-8DB1221A4F0C}" type="slidenum">
              <a:rPr lang="en-US" smtClean="0"/>
              <a:pPr/>
              <a:t>57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z="900" smtClean="0"/>
              <a:t>Because </a:t>
            </a:r>
            <a:r>
              <a:rPr lang="en-US" sz="900" i="1" smtClean="0"/>
              <a:t>p</a:t>
            </a:r>
            <a:r>
              <a:rPr lang="en-US" sz="900" smtClean="0"/>
              <a:t> was expanded before </a:t>
            </a:r>
            <a:r>
              <a:rPr lang="en-US" sz="900" i="1" smtClean="0"/>
              <a:t>p''</a:t>
            </a:r>
            <a:r>
              <a:rPr lang="en-US" sz="900" smtClean="0"/>
              <a:t>, </a:t>
            </a:r>
            <a:r>
              <a:rPr lang="en-US" sz="900" i="1" smtClean="0"/>
              <a:t>f(p) </a:t>
            </a:r>
            <a:r>
              <a:rPr lang="en-US" sz="900" i="1" smtClean="0">
                <a:sym typeface="Symbol" pitchFamily="18" charset="2"/>
              </a:rPr>
              <a:t></a:t>
            </a:r>
            <a:r>
              <a:rPr lang="en-US" sz="900" i="1" smtClean="0"/>
              <a:t> f(p'')</a:t>
            </a:r>
            <a:r>
              <a:rPr lang="en-US" sz="900" smtClean="0"/>
              <a:t>.</a:t>
            </a:r>
          </a:p>
          <a:p>
            <a:pPr eaLnBrk="1" hangingPunct="1">
              <a:buFontTx/>
              <a:buChar char="•"/>
            </a:pPr>
            <a:r>
              <a:rPr lang="en-US" sz="900" smtClean="0"/>
              <a:t>Because </a:t>
            </a:r>
            <a:r>
              <a:rPr lang="en-US" sz="900" i="1" smtClean="0"/>
              <a:t>p</a:t>
            </a:r>
            <a:r>
              <a:rPr lang="en-US" sz="900" smtClean="0"/>
              <a:t> is a goal, </a:t>
            </a:r>
            <a:r>
              <a:rPr lang="en-US" sz="900" i="1" smtClean="0"/>
              <a:t>h(p)=0</a:t>
            </a:r>
            <a:r>
              <a:rPr lang="en-US" sz="900" smtClean="0"/>
              <a:t>.  Thus </a:t>
            </a:r>
            <a:r>
              <a:rPr lang="en-US" sz="900" i="1" smtClean="0"/>
              <a:t>cost(p) </a:t>
            </a:r>
            <a:r>
              <a:rPr lang="en-US" sz="900" i="1" smtClean="0">
                <a:sym typeface="Symbol" pitchFamily="18" charset="2"/>
              </a:rPr>
              <a:t></a:t>
            </a:r>
            <a:r>
              <a:rPr lang="en-US" sz="900" i="1" smtClean="0"/>
              <a:t> cost(p'') + h(p'')</a:t>
            </a:r>
            <a:r>
              <a:rPr lang="en-US" sz="900" smtClean="0"/>
              <a:t>.</a:t>
            </a:r>
          </a:p>
          <a:p>
            <a:pPr eaLnBrk="1" hangingPunct="1">
              <a:buFontTx/>
              <a:buChar char="•"/>
            </a:pPr>
            <a:r>
              <a:rPr lang="en-US" sz="900" smtClean="0"/>
              <a:t>Because </a:t>
            </a:r>
            <a:r>
              <a:rPr lang="en-US" sz="900" i="1" smtClean="0"/>
              <a:t>h</a:t>
            </a:r>
            <a:r>
              <a:rPr lang="en-US" sz="900" smtClean="0"/>
              <a:t> is admissible, </a:t>
            </a:r>
            <a:r>
              <a:rPr lang="en-US" sz="900" i="1" smtClean="0"/>
              <a:t>cost(p'') + h(p'') </a:t>
            </a:r>
            <a:r>
              <a:rPr lang="en-US" sz="900" i="1" smtClean="0">
                <a:sym typeface="Symbol" pitchFamily="18" charset="2"/>
              </a:rPr>
              <a:t></a:t>
            </a:r>
            <a:r>
              <a:rPr lang="en-US" sz="900" i="1" smtClean="0"/>
              <a:t> cost(p')</a:t>
            </a:r>
            <a:r>
              <a:rPr lang="en-US" sz="900" smtClean="0"/>
              <a:t> for any path </a:t>
            </a:r>
            <a:r>
              <a:rPr lang="en-US" sz="900" i="1" smtClean="0"/>
              <a:t>p'</a:t>
            </a:r>
            <a:r>
              <a:rPr lang="en-US" sz="900" smtClean="0"/>
              <a:t> to a goal that extends </a:t>
            </a:r>
            <a:r>
              <a:rPr lang="en-US" sz="900" i="1" smtClean="0"/>
              <a:t>p''</a:t>
            </a:r>
          </a:p>
          <a:p>
            <a:pPr eaLnBrk="1" hangingPunct="1">
              <a:buFontTx/>
              <a:buChar char="•"/>
            </a:pPr>
            <a:r>
              <a:rPr lang="en-US" sz="900" smtClean="0"/>
              <a:t>Thus </a:t>
            </a:r>
            <a:r>
              <a:rPr lang="en-US" sz="900" i="1" smtClean="0"/>
              <a:t>cost(p) </a:t>
            </a:r>
            <a:r>
              <a:rPr lang="en-US" sz="900" i="1" smtClean="0">
                <a:sym typeface="Symbol" pitchFamily="18" charset="2"/>
              </a:rPr>
              <a:t></a:t>
            </a:r>
            <a:r>
              <a:rPr lang="en-US" sz="900" i="1" smtClean="0"/>
              <a:t> cost(p')</a:t>
            </a:r>
            <a:r>
              <a:rPr lang="en-US" sz="900" smtClean="0"/>
              <a:t> for any other path </a:t>
            </a:r>
            <a:r>
              <a:rPr lang="en-US" sz="900" i="1" smtClean="0"/>
              <a:t>p'</a:t>
            </a:r>
            <a:r>
              <a:rPr lang="en-US" sz="900" smtClean="0"/>
              <a:t> to a goal.  </a:t>
            </a:r>
          </a:p>
          <a:p>
            <a:pPr eaLnBrk="1" hangingPunct="1"/>
            <a:r>
              <a:rPr lang="en-US" sz="900" smtClean="0"/>
              <a:t>This contradicts our assumption that </a:t>
            </a:r>
            <a:r>
              <a:rPr lang="en-US" sz="900" i="1" smtClean="0"/>
              <a:t>p'</a:t>
            </a:r>
            <a:r>
              <a:rPr lang="en-US" sz="900" smtClean="0"/>
              <a:t> is the shortest path.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7A4E8-D315-4C4C-9B49-ECDFFAE3A393}" type="slidenum">
              <a:rPr lang="en-US"/>
              <a:pPr/>
              <a:t>58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A search strategy often not covered in AI, but widely used in practice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Uses a heuristic function: like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, can avoid expanding some unnecessary paths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Depth-first: modest memory demands</a:t>
            </a:r>
          </a:p>
          <a:p>
            <a:pPr lvl="1" eaLnBrk="1" hangingPunct="1"/>
            <a:r>
              <a:rPr lang="en-US" smtClean="0"/>
              <a:t>in fact, some people see ``branch and bound'' as a broad family that </a:t>
            </a:r>
            <a:r>
              <a:rPr lang="en-US" b="1" i="1" smtClean="0"/>
              <a:t>includes</a:t>
            </a:r>
            <a:r>
              <a:rPr lang="en-US" smtClean="0"/>
              <a:t>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</a:p>
          <a:p>
            <a:pPr lvl="1" eaLnBrk="1" hangingPunct="1"/>
            <a:r>
              <a:rPr lang="en-US" smtClean="0"/>
              <a:t>these people would use the term ``depth-first branch and bound'‘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703DD1-BEAD-4668-8884-306E4C193D60}" type="slidenum">
              <a:rPr lang="en-US"/>
              <a:pPr/>
              <a:t>59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b="1" smtClean="0"/>
              <a:t>Branch and bound</a:t>
            </a:r>
            <a:r>
              <a:rPr lang="en-US" smtClean="0"/>
              <a:t> (BB) is a general </a:t>
            </a:r>
            <a:r>
              <a:rPr lang="en-US" smtClean="0">
                <a:hlinkClick r:id="rId3" tooltip="Algorithm"/>
              </a:rPr>
              <a:t>algorithm</a:t>
            </a:r>
            <a:r>
              <a:rPr lang="en-US" smtClean="0"/>
              <a:t> for finding optimal solutions of various </a:t>
            </a:r>
            <a:r>
              <a:rPr lang="en-US" smtClean="0">
                <a:hlinkClick r:id="rId4" tooltip="Optimization (mathematics)"/>
              </a:rPr>
              <a:t>optimization</a:t>
            </a:r>
            <a:r>
              <a:rPr lang="en-US" smtClean="0"/>
              <a:t> problems, especially in </a:t>
            </a:r>
            <a:r>
              <a:rPr lang="en-US" smtClean="0">
                <a:hlinkClick r:id="rId5" tooltip="Discrete optimization"/>
              </a:rPr>
              <a:t>discrete</a:t>
            </a:r>
            <a:r>
              <a:rPr lang="en-US" smtClean="0"/>
              <a:t> and </a:t>
            </a:r>
            <a:r>
              <a:rPr lang="en-US" smtClean="0">
                <a:hlinkClick r:id="rId6" tooltip="Combinatorial optimization"/>
              </a:rPr>
              <a:t>combinatorial optimization</a:t>
            </a:r>
            <a:r>
              <a:rPr lang="en-US" smtClean="0"/>
              <a:t>. It consists of a systematic enumeration of all candidate solutions, where large subsets of fruitless candidates are discarded </a:t>
            </a:r>
            <a:r>
              <a:rPr lang="en-US" i="1" smtClean="0"/>
              <a:t>en masse</a:t>
            </a:r>
            <a:r>
              <a:rPr lang="en-US" smtClean="0"/>
              <a:t>, by using upper and lower estimated bounds of the quantity being optimized. 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AA96-06B3-494B-A2BC-EAEC11C30884}" type="slidenum">
              <a:rPr lang="en-US"/>
              <a:pPr/>
              <a:t>60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79B005-870E-4502-BA31-EB2E2C85413B}" type="slidenum">
              <a:rPr lang="en-US"/>
              <a:pPr/>
              <a:t>61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Particularly applicable when there are many paths to the goal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FD58E4-94F7-4712-9778-E562AEC4ADAA}" type="slidenum">
              <a:rPr lang="en-US"/>
              <a:pPr/>
              <a:t>62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FD58E4-94F7-4712-9778-E562AEC4ADAA}" type="slidenum">
              <a:rPr lang="en-US"/>
              <a:pPr/>
              <a:t>63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C2FD09-79EC-401F-8C6C-9C031C9C0653}" type="slidenum">
              <a:rPr lang="en-US" smtClean="0"/>
              <a:pPr/>
              <a:t>64</a:t>
            </a:fld>
            <a:endParaRPr lang="en-US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/>
              <a:t>Using depth-first methods, with the graph explicitly stored, this can be done in constant time.??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3883AB-E55A-4655-B0C3-C893E32E6AA7}" type="slidenum">
              <a:rPr lang="en-US"/>
              <a:pPr/>
              <a:t>65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18" y="4410076"/>
            <a:ext cx="5587366" cy="4176713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indent="0" eaLnBrk="1" hangingPunct="1"/>
            <a:r>
              <a:rPr lang="en-US" sz="1200" dirty="0" smtClean="0"/>
              <a:t>CYCLES</a:t>
            </a:r>
          </a:p>
          <a:p>
            <a:pPr marL="0" indent="0" eaLnBrk="1" hangingPunct="1"/>
            <a:r>
              <a:rPr lang="en-US" sz="1200" dirty="0" smtClean="0"/>
              <a:t>You can prune a path that ends in a node already on the path. This pruning cannot remove an optimal solution.</a:t>
            </a:r>
          </a:p>
          <a:p>
            <a:pPr marL="0" indent="0" eaLnBrk="1" hangingPunct="1">
              <a:buFontTx/>
              <a:buChar char="•"/>
            </a:pPr>
            <a:r>
              <a:rPr lang="en-US" sz="1200" dirty="0" smtClean="0"/>
              <a:t> The time is linear in path length.</a:t>
            </a:r>
          </a:p>
          <a:p>
            <a:endParaRPr lang="en-CA" dirty="0" smtClean="0"/>
          </a:p>
          <a:p>
            <a:r>
              <a:rPr lang="en-CA" dirty="0" smtClean="0"/>
              <a:t>REPEATED STATES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Failure to detect repeated states can turn a linear problem into an exponential one!</a:t>
            </a:r>
            <a:endParaRPr lang="en-CA" dirty="0" smtClean="0"/>
          </a:p>
          <a:p>
            <a:pPr marL="0" indent="0" eaLnBrk="1" hangingPunct="1">
              <a:buFontTx/>
              <a:buChar char="•"/>
            </a:pPr>
            <a:r>
              <a:rPr lang="en-US" dirty="0" smtClean="0"/>
              <a:t>(if the new path is longer – more costly).  You can prune a path to node </a:t>
            </a:r>
            <a:r>
              <a:rPr lang="en-US" b="1" i="1" dirty="0" smtClean="0"/>
              <a:t>n </a:t>
            </a:r>
            <a:r>
              <a:rPr lang="en-US" dirty="0" smtClean="0"/>
              <a:t>that you have already found a path to</a:t>
            </a:r>
          </a:p>
          <a:p>
            <a:pPr eaLnBrk="1" hangingPunct="1">
              <a:lnSpc>
                <a:spcPct val="90000"/>
              </a:lnSpc>
            </a:pPr>
            <a:r>
              <a:rPr lang="en-US" dirty="0" smtClean="0"/>
              <a:t>  </a:t>
            </a:r>
            <a:r>
              <a:rPr lang="en-US" sz="1200" dirty="0" smtClean="0">
                <a:solidFill>
                  <a:srgbClr val="CC0099"/>
                </a:solidFill>
              </a:rPr>
              <a:t>Problem:</a:t>
            </a:r>
            <a:r>
              <a:rPr lang="en-US" sz="1200" dirty="0" smtClean="0"/>
              <a:t> what if a subsequent path to </a:t>
            </a:r>
            <a:r>
              <a:rPr lang="en-US" sz="1200" i="1" dirty="0" smtClean="0"/>
              <a:t>n</a:t>
            </a:r>
            <a:r>
              <a:rPr lang="en-US" sz="1200" dirty="0" smtClean="0"/>
              <a:t> is shorter than the first path to </a:t>
            </a:r>
            <a:r>
              <a:rPr lang="en-US" sz="1200" i="1" dirty="0" smtClean="0"/>
              <a:t>n </a:t>
            </a:r>
            <a:r>
              <a:rPr lang="en-US" sz="1200" dirty="0" smtClean="0"/>
              <a:t>?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1200" dirty="0" smtClean="0"/>
              <a:t>You can remove all paths from the frontier that use the longer path. (as these can’t be optimal) OR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1200" dirty="0" smtClean="0"/>
              <a:t>You can change the initial segment of the paths on the frontier to use the shorter path.</a:t>
            </a:r>
            <a:r>
              <a:rPr lang="en-US" sz="1200" baseline="0" dirty="0" smtClean="0"/>
              <a:t> </a:t>
            </a:r>
            <a:r>
              <a:rPr lang="en-US" dirty="0" smtClean="0"/>
              <a:t>Can be computationally costly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dirty="0" smtClean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352194F-105A-49C9-9CE2-8A0EF5BE51AE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FF799C-0AAD-4BE2-888D-6EBD3F7E9BC8}" type="slidenum">
              <a:rPr lang="en-US" smtClean="0"/>
              <a:pPr/>
              <a:t>67</a:t>
            </a:fld>
            <a:endParaRPr lang="en-US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DD0B65-882C-4D02-8F32-8905755CD204}" type="slidenum">
              <a:rPr lang="en-US" smtClean="0"/>
              <a:pPr/>
              <a:t>68</a:t>
            </a:fld>
            <a:endParaRPr lang="en-US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Uninformed: IDS</a:t>
            </a:r>
          </a:p>
          <a:p>
            <a:pPr eaLnBrk="1" hangingPunct="1"/>
            <a:r>
              <a:rPr lang="en-US" smtClean="0"/>
              <a:t>Informed: </a:t>
            </a:r>
          </a:p>
          <a:p>
            <a:pPr eaLnBrk="1" hangingPunct="1"/>
            <a:r>
              <a:rPr lang="en-US" smtClean="0"/>
              <a:t>Infinite path (in practice paths so long that cannot be kept in memory)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hangingPunct="1"/>
            <a:r>
              <a:rPr lang="en-US" dirty="0" smtClean="0">
                <a:solidFill>
                  <a:schemeClr val="tx1"/>
                </a:solidFill>
              </a:rPr>
              <a:t>title: </a:t>
            </a:r>
            <a:r>
              <a:rPr lang="en-US" dirty="0" smtClean="0">
                <a:solidFill>
                  <a:schemeClr val="bg1"/>
                </a:solidFill>
                <a:hlinkClick r:id="rId3"/>
              </a:rPr>
              <a:t>An Efficient A* Search Algorithm For </a:t>
            </a:r>
            <a:r>
              <a:rPr lang="en-US" b="1" dirty="0" smtClean="0">
                <a:solidFill>
                  <a:schemeClr val="bg1"/>
                </a:solidFill>
                <a:hlinkClick r:id="rId3"/>
              </a:rPr>
              <a:t>Statistical Machine Translation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authors: </a:t>
            </a:r>
            <a:r>
              <a:rPr lang="en-US" dirty="0" err="1" smtClean="0">
                <a:solidFill>
                  <a:schemeClr val="tx1"/>
                </a:solidFill>
                <a:hlinkClick r:id="rId4"/>
              </a:rPr>
              <a:t>Och</a:t>
            </a:r>
            <a:r>
              <a:rPr lang="en-US" dirty="0" smtClean="0">
                <a:solidFill>
                  <a:schemeClr val="tx1"/>
                </a:solidFill>
                <a:hlinkClick r:id="rId4"/>
              </a:rPr>
              <a:t>, Franz Josef</a:t>
            </a:r>
            <a:r>
              <a:rPr lang="en-US" dirty="0" smtClean="0">
                <a:solidFill>
                  <a:schemeClr val="tx1"/>
                </a:solidFill>
              </a:rPr>
              <a:t> (RWTH Aachen University, Aachen Germany), </a:t>
            </a:r>
            <a:r>
              <a:rPr lang="en-US" dirty="0" err="1" smtClean="0">
                <a:solidFill>
                  <a:schemeClr val="tx1"/>
                </a:solidFill>
                <a:hlinkClick r:id="rId5"/>
              </a:rPr>
              <a:t>Ueffing</a:t>
            </a:r>
            <a:r>
              <a:rPr lang="en-US" dirty="0" smtClean="0">
                <a:solidFill>
                  <a:schemeClr val="tx1"/>
                </a:solidFill>
                <a:hlinkClick r:id="rId5"/>
              </a:rPr>
              <a:t>, Nicola</a:t>
            </a:r>
            <a:r>
              <a:rPr lang="en-US" dirty="0" smtClean="0">
                <a:solidFill>
                  <a:schemeClr val="tx1"/>
                </a:solidFill>
              </a:rPr>
              <a:t> (RWTH Aachen University, Aachen Germany), </a:t>
            </a:r>
            <a:r>
              <a:rPr lang="en-US" dirty="0" smtClean="0">
                <a:solidFill>
                  <a:schemeClr val="tx1"/>
                </a:solidFill>
                <a:hlinkClick r:id="rId6"/>
              </a:rPr>
              <a:t>Ney, Hermann</a:t>
            </a:r>
            <a:r>
              <a:rPr lang="en-US" dirty="0" smtClean="0">
                <a:solidFill>
                  <a:schemeClr val="tx1"/>
                </a:solidFill>
              </a:rPr>
              <a:t> (RWTH Aachen University, Aachen Germany)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venue: Workshop On Data-Driven Methods In Machine Translation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year: 2001</a:t>
            </a:r>
          </a:p>
          <a:p>
            <a:pPr eaLnBrk="1" hangingPunct="1"/>
            <a:endParaRPr lang="en-US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Journal of Artificial Intelligence Research 29 (2007) 153-190 Submitted 10/06; published 06/07 The Generalized A* Architecture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Pedro F.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Felzenszwalb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pff@cs.uchicago.edu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Department of Computer Science University of Chicago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Chicago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, IL 60637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David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McAllester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mcallester@tti-c.org Toyota Technological Institute at Chicago </a:t>
            </a:r>
            <a:r>
              <a:rPr lang="en-US" sz="1200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Chicago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, IL 60637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vision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Here we consider a new compositional model for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finding salient curves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.</a:t>
            </a:r>
          </a:p>
          <a:p>
            <a:pPr eaLnBrk="1" hangingPunct="1"/>
            <a:endParaRPr lang="en-US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Dan Klein and Chris Manning. 2003b. Factored A*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search for models over sequences and trees. In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Proceedings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of the International Joint Conference on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Artificial Intelligence (IJCAI).</a:t>
            </a:r>
          </a:p>
          <a:p>
            <a:pPr eaLnBrk="1" hangingPunct="1"/>
            <a:endParaRPr lang="en-US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The primary challenge when using A* search is to find heuristic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functions that simultaneously are admissible, close to actual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completion costs, and efficient to calculate. In this paper,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we describe a family of tree and sequence models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which path costs are either defined as or bounded by a combination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of simpler component models, each of which scores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some projection of the full structure. In such models, we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exploit the decoupled behavior over each projection to give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sharp heuristics for the combined space. While we focus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on models of trees and sequences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within NLP applications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the approach can be applied more generally (and already has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been, in the case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of biological </a:t>
            </a:r>
            <a:r>
              <a:rPr lang="en-US" sz="1200" b="1" kern="1200" baseline="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sequencemodels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). All the concrete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cases we consider here involve search over spaces which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are equivalent to dynamic programming lattices, though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detail, too, is somewhat peripheral to the basic ideas.</a:t>
            </a:r>
          </a:p>
          <a:p>
            <a:pPr eaLnBrk="1" hangingPunct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FF5CB9-9320-40CA-B730-A1C76BD91FDF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981D515-4199-45D3-A393-90DB6DC07827}" type="slidenum">
              <a:rPr lang="en-US" smtClean="0"/>
              <a:pPr/>
              <a:t>71</a:t>
            </a:fld>
            <a:endParaRPr lang="en-US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lvl="1" eaLnBrk="1" hangingPunct="1">
              <a:lnSpc>
                <a:spcPct val="90000"/>
              </a:lnSpc>
            </a:pPr>
            <a:r>
              <a:rPr lang="en-US" sz="2400" smtClean="0">
                <a:latin typeface="Arial Unicode MS" pitchFamily="34" charset="-128"/>
              </a:rPr>
              <a:t>I'll show some pictures of cool applications in that class, and will give you an opportunity to discuss the applications that you discovered</a:t>
            </a:r>
          </a:p>
          <a:p>
            <a:pPr eaLnBrk="1" hangingPunct="1">
              <a:lnSpc>
                <a:spcPct val="90000"/>
              </a:lnSpc>
            </a:pPr>
            <a:endParaRPr lang="en-US" sz="1000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F55C138-1DF9-4CB0-8266-AAC55D85A2E7}" type="slidenum">
              <a:rPr lang="en-US"/>
              <a:pPr/>
              <a:t>72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5325"/>
            <a:ext cx="4641850" cy="34813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0172" y="4410075"/>
            <a:ext cx="5124657" cy="4178300"/>
          </a:xfrm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B53EC-4694-47DD-8B17-4390A8535662}" type="slidenum">
              <a:rPr lang="en-US"/>
              <a:pPr/>
              <a:t>73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explicit state  or features</a:t>
            </a:r>
          </a:p>
          <a:p>
            <a:pPr eaLnBrk="1" hangingPunct="1"/>
            <a:r>
              <a:rPr lang="en-US" smtClean="0"/>
              <a:t>Restate / justify that the following is true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Environment changes only when the agent acts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Agent can perfectly predict effect of its actions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Agent is given a goal</a:t>
            </a:r>
          </a:p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0DA144-8CA9-4994-AE13-4CB9E29AFD82}" type="slidenum">
              <a:rPr lang="en-US"/>
              <a:pPr/>
              <a:t>74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Arial Unicode MS" pitchFamily="34" charset="-128"/>
              </a:rPr>
              <a:t>How can we find a sequence of actions and their appropriate ordering that lead to the goal?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1BCA9F-E5C8-475B-8D7D-764FA29DFB7A}" type="slidenum">
              <a:rPr lang="en-US"/>
              <a:pPr/>
              <a:t>75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Check CIspace</a:t>
            </a:r>
          </a:p>
          <a:p>
            <a:pPr eaLnBrk="1" hangingPunct="1"/>
            <a:r>
              <a:rPr lang="en-US" smtClean="0"/>
              <a:t>There are many other solutions! But of lesser quality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A6F58A3F-EFA1-483B-8D83-F8D4958FB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06D84F16-D10E-482D-B414-36A856B822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CC30923-8918-44C8-BBA2-A0F6677123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F4F93C9E-179E-4FED-9257-0BD5F3220C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4157D7D6-4CB7-42FB-AF35-E20E5D8088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596B51D-9915-44A9-BBAB-6751537887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A0BB9F47-404B-4DCA-9054-B874217AB2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1C100DC-ACFA-4036-88B8-DAE061DFBA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5269FE10-DBF5-4E0E-8CD4-9AEFDB294D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C3547DC6-7739-4EEB-A14E-2F28FF4A8A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5600" y="152400"/>
            <a:ext cx="2133600" cy="5562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52400"/>
            <a:ext cx="6248400" cy="5562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ECB7524E-58F1-4EEF-A775-19E9A7673B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219200"/>
            <a:ext cx="8458200" cy="4495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6A20219D-DC70-4611-97D6-B1ADE21435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1529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377C6855-B09F-4558-8FCE-89D2CFC737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34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19200"/>
            <a:ext cx="41529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10100" y="1219200"/>
            <a:ext cx="41529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10100" y="3543300"/>
            <a:ext cx="41529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</a:t>
            </a:r>
            <a:fld id="{D7FF976A-CC0C-448D-84F9-7CF862BD2A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044575"/>
            <a:ext cx="77724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7EBF7-F8E3-497E-AE5B-5A19987B541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BB62E4-D02E-4FFF-93D2-D99EAD9B2866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CC2D51-EDB2-4F8C-BA29-2C0E8AA94A4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DA4C01-F536-47EE-81E5-74465B88D298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219989-4D12-4F06-8F42-D765B8D2CE1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0C4EB7-8EA3-4350-926D-BF40A803AE8E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FE9CB3-9101-48AF-8244-99040A98EF70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DD991E-E903-4018-8379-BF67411EACC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ED0AD-8FDA-47B2-AE4E-5426FD39BB77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529A241-31A5-4121-89DC-41FF46E2145C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97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975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8F490-DE3A-4A76-90AC-B5FA51E72A4B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38588"/>
            <a:ext cx="8229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87ED5D-9375-4973-960B-1FA82B802775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152400"/>
            <a:ext cx="8534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Slide </a:t>
            </a:r>
            <a:fld id="{4B6F74B4-3681-4B37-AEDB-61644201F9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75" r:id="rId14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Arial Unicode MS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Char char="•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ü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99989D0-E56A-46E2-926B-F742F43227FF}" type="slidenum"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pPr/>
              <a:t>‹#›</a:t>
            </a:fld>
            <a:endParaRPr lang="en-US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457200" y="1219200"/>
            <a:ext cx="8229600" cy="76200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8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ＭＳ Ｐゴシック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3200">
          <a:solidFill>
            <a:schemeClr val="accent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9.vml"/><Relationship Id="rId4" Type="http://schemas.openxmlformats.org/officeDocument/2006/relationships/oleObject" Target="../embeddings/oleObject3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4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6.vml"/><Relationship Id="rId4" Type="http://schemas.openxmlformats.org/officeDocument/2006/relationships/oleObject" Target="../embeddings/oleObject6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7.v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8.v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0.v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7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3.vml"/><Relationship Id="rId5" Type="http://schemas.openxmlformats.org/officeDocument/2006/relationships/image" Target="../media/image15.png"/><Relationship Id="rId4" Type="http://schemas.openxmlformats.org/officeDocument/2006/relationships/oleObject" Target="../embeddings/oleObject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5.v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8.v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0.vml"/><Relationship Id="rId5" Type="http://schemas.openxmlformats.org/officeDocument/2006/relationships/image" Target="../media/image10.png"/><Relationship Id="rId4" Type="http://schemas.openxmlformats.org/officeDocument/2006/relationships/oleObject" Target="../embeddings/oleObject9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41.v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4.v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5.v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2.vml"/><Relationship Id="rId4" Type="http://schemas.openxmlformats.org/officeDocument/2006/relationships/oleObject" Target="../embeddings/oleObject10.bin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4" Type="http://schemas.openxmlformats.org/officeDocument/2006/relationships/image" Target="../media/image1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4.v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5.v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7.v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8.vml"/><Relationship Id="rId4" Type="http://schemas.openxmlformats.org/officeDocument/2006/relationships/hyperlink" Target="http://www.aispace.org/exercises.shtml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9.v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4" Type="http://schemas.openxmlformats.org/officeDocument/2006/relationships/image" Target="../media/image19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4" Type="http://schemas.openxmlformats.org/officeDocument/2006/relationships/image" Target="../media/image19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2.vml"/><Relationship Id="rId4" Type="http://schemas.openxmlformats.org/officeDocument/2006/relationships/image" Target="../media/image19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16.xml"/><Relationship Id="rId1" Type="http://schemas.openxmlformats.org/officeDocument/2006/relationships/tags" Target="../tags/tag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502, Lecture 2</a:t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ADA445A-B75B-4898-B85A-F2754651B68A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1029" name="Rectangle 2"/>
          <p:cNvSpPr>
            <a:spLocks noChangeArrowheads="1"/>
          </p:cNvSpPr>
          <p:nvPr/>
        </p:nvSpPr>
        <p:spPr bwMode="auto">
          <a:xfrm>
            <a:off x="0" y="908050"/>
            <a:ext cx="8763000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800" b="1" dirty="0">
                <a:solidFill>
                  <a:schemeClr val="accent2"/>
                </a:solidFill>
                <a:latin typeface="Arial Unicode MS" pitchFamily="34" charset="-128"/>
              </a:rPr>
              <a:t>Introduction to</a:t>
            </a:r>
          </a:p>
          <a:p>
            <a:pPr algn="ctr">
              <a:spcBef>
                <a:spcPct val="50000"/>
              </a:spcBef>
            </a:pPr>
            <a:r>
              <a:rPr lang="en-US" sz="4800" b="1" dirty="0">
                <a:solidFill>
                  <a:schemeClr val="accent2"/>
                </a:solidFill>
                <a:latin typeface="Arial Unicode MS" pitchFamily="34" charset="-128"/>
              </a:rPr>
              <a:t>Artificial Intelligence (AI)</a:t>
            </a:r>
          </a:p>
          <a:p>
            <a:pPr algn="ctr">
              <a:spcBef>
                <a:spcPct val="50000"/>
              </a:spcBef>
            </a:pPr>
            <a:endParaRPr lang="en-US" sz="2400" b="1" dirty="0">
              <a:latin typeface="Arial Unicode MS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b="1" dirty="0">
                <a:latin typeface="Arial Unicode MS" pitchFamily="34" charset="-128"/>
              </a:rPr>
              <a:t>Computer Science </a:t>
            </a:r>
            <a:r>
              <a:rPr lang="en-US" b="1" dirty="0" smtClean="0">
                <a:latin typeface="Arial Unicode MS" pitchFamily="34" charset="-128"/>
              </a:rPr>
              <a:t>cpsc502, </a:t>
            </a:r>
            <a:r>
              <a:rPr lang="en-US" b="1" dirty="0">
                <a:latin typeface="Arial Unicode MS" pitchFamily="34" charset="-128"/>
              </a:rPr>
              <a:t>Lecture </a:t>
            </a:r>
            <a:r>
              <a:rPr lang="en-US" b="1" dirty="0" smtClean="0">
                <a:latin typeface="Arial Unicode MS" pitchFamily="34" charset="-128"/>
              </a:rPr>
              <a:t>2</a:t>
            </a:r>
            <a:endParaRPr lang="en-US" b="1" dirty="0">
              <a:latin typeface="Arial Unicode MS" pitchFamily="34" charset="-128"/>
            </a:endParaRPr>
          </a:p>
          <a:p>
            <a:pPr algn="ctr">
              <a:spcBef>
                <a:spcPct val="50000"/>
              </a:spcBef>
            </a:pPr>
            <a:endParaRPr lang="en-US" sz="2400" b="1" dirty="0">
              <a:latin typeface="Arial Unicode MS" pitchFamily="34" charset="-128"/>
            </a:endParaRPr>
          </a:p>
          <a:p>
            <a:pPr algn="ctr">
              <a:spcBef>
                <a:spcPct val="50000"/>
              </a:spcBef>
            </a:pPr>
            <a:r>
              <a:rPr lang="en-US" sz="2400" b="1" dirty="0" smtClean="0">
                <a:latin typeface="Arial Unicode MS" pitchFamily="34" charset="-128"/>
              </a:rPr>
              <a:t>Sep, 13, 2011</a:t>
            </a:r>
            <a:endParaRPr lang="en-US" sz="2400" b="1" dirty="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/>
          <p:cNvSpPr/>
          <p:nvPr/>
        </p:nvSpPr>
        <p:spPr>
          <a:xfrm>
            <a:off x="0" y="5643563"/>
            <a:ext cx="2500313" cy="12144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9EACD220-6798-477A-BD90-CD5AC1E8EC3C}" type="slidenum">
              <a:rPr lang="en-US"/>
              <a:pPr>
                <a:defRPr/>
              </a:pPr>
              <a:t>2</a:t>
            </a:fld>
            <a:endParaRPr lang="en-US"/>
          </a:p>
        </p:txBody>
      </p:sp>
      <p:sp>
        <p:nvSpPr>
          <p:cNvPr id="82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"/>
          </a:xfrm>
        </p:spPr>
        <p:txBody>
          <a:bodyPr/>
          <a:lstStyle/>
          <a:p>
            <a:pPr eaLnBrk="1" hangingPunct="1"/>
            <a:r>
              <a:rPr lang="en-US" dirty="0" err="1" smtClean="0"/>
              <a:t>R&amp;Rsys</a:t>
            </a:r>
            <a:r>
              <a:rPr lang="en-US" dirty="0" smtClean="0"/>
              <a:t> we'll cover in this course </a:t>
            </a:r>
          </a:p>
        </p:txBody>
      </p:sp>
      <p:sp>
        <p:nvSpPr>
          <p:cNvPr id="8223" name="Rectangle 6"/>
          <p:cNvSpPr>
            <a:spLocks noChangeArrowheads="1"/>
          </p:cNvSpPr>
          <p:nvPr/>
        </p:nvSpPr>
        <p:spPr bwMode="auto">
          <a:xfrm>
            <a:off x="323850" y="765175"/>
            <a:ext cx="27368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33400" indent="-533400">
              <a:spcBef>
                <a:spcPct val="20000"/>
              </a:spcBef>
            </a:pPr>
            <a:endParaRPr lang="en-US">
              <a:latin typeface="Arial Unicode MS" pitchFamily="34" charset="-128"/>
            </a:endParaRPr>
          </a:p>
        </p:txBody>
      </p:sp>
      <p:sp>
        <p:nvSpPr>
          <p:cNvPr id="8224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857750" y="785813"/>
            <a:ext cx="2428875" cy="503237"/>
          </a:xfrm>
        </p:spPr>
        <p:txBody>
          <a:bodyPr/>
          <a:lstStyle/>
          <a:p>
            <a:pPr eaLnBrk="1" hangingPunct="1"/>
            <a:r>
              <a:rPr lang="en-US" b="1" smtClean="0"/>
              <a:t>Environment</a:t>
            </a:r>
          </a:p>
        </p:txBody>
      </p:sp>
      <p:sp>
        <p:nvSpPr>
          <p:cNvPr id="8225" name="Rectangle 8"/>
          <p:cNvSpPr>
            <a:spLocks noChangeArrowheads="1"/>
          </p:cNvSpPr>
          <p:nvPr/>
        </p:nvSpPr>
        <p:spPr bwMode="auto">
          <a:xfrm>
            <a:off x="0" y="1500188"/>
            <a:ext cx="17018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Problem</a:t>
            </a:r>
          </a:p>
        </p:txBody>
      </p:sp>
      <p:sp>
        <p:nvSpPr>
          <p:cNvPr id="8226" name="Rectangle 9"/>
          <p:cNvSpPr>
            <a:spLocks noChangeArrowheads="1"/>
          </p:cNvSpPr>
          <p:nvPr/>
        </p:nvSpPr>
        <p:spPr bwMode="auto">
          <a:xfrm>
            <a:off x="1000125" y="3500438"/>
            <a:ext cx="151288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75000"/>
              </a:lnSpc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Query</a:t>
            </a:r>
          </a:p>
        </p:txBody>
      </p:sp>
      <p:sp>
        <p:nvSpPr>
          <p:cNvPr id="8227" name="Rectangle 10"/>
          <p:cNvSpPr>
            <a:spLocks noChangeArrowheads="1"/>
          </p:cNvSpPr>
          <p:nvPr/>
        </p:nvSpPr>
        <p:spPr bwMode="auto">
          <a:xfrm>
            <a:off x="928688" y="5143500"/>
            <a:ext cx="1601787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75000"/>
              </a:lnSpc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Planning</a:t>
            </a:r>
          </a:p>
        </p:txBody>
      </p:sp>
      <p:sp>
        <p:nvSpPr>
          <p:cNvPr id="8228" name="Rectangle 11"/>
          <p:cNvSpPr>
            <a:spLocks noChangeArrowheads="1"/>
          </p:cNvSpPr>
          <p:nvPr/>
        </p:nvSpPr>
        <p:spPr bwMode="auto">
          <a:xfrm>
            <a:off x="3357563" y="1214438"/>
            <a:ext cx="21590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Deterministic</a:t>
            </a:r>
          </a:p>
        </p:txBody>
      </p:sp>
      <p:sp>
        <p:nvSpPr>
          <p:cNvPr id="8229" name="Rectangle 12"/>
          <p:cNvSpPr>
            <a:spLocks noChangeArrowheads="1"/>
          </p:cNvSpPr>
          <p:nvPr/>
        </p:nvSpPr>
        <p:spPr bwMode="auto">
          <a:xfrm>
            <a:off x="6500813" y="1143000"/>
            <a:ext cx="21590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Stochastic</a:t>
            </a:r>
          </a:p>
        </p:txBody>
      </p:sp>
      <p:sp>
        <p:nvSpPr>
          <p:cNvPr id="8230" name="Rectangle 13"/>
          <p:cNvSpPr>
            <a:spLocks noChangeArrowheads="1"/>
          </p:cNvSpPr>
          <p:nvPr/>
        </p:nvSpPr>
        <p:spPr bwMode="auto">
          <a:xfrm>
            <a:off x="2786063" y="1643063"/>
            <a:ext cx="6143625" cy="457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31" name="Rectangle 9"/>
          <p:cNvSpPr>
            <a:spLocks noChangeArrowheads="1"/>
          </p:cNvSpPr>
          <p:nvPr/>
        </p:nvSpPr>
        <p:spPr bwMode="auto">
          <a:xfrm>
            <a:off x="642938" y="2214563"/>
            <a:ext cx="2214562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lnSpc>
                <a:spcPct val="75000"/>
              </a:lnSpc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Constraint Satisfaction</a:t>
            </a:r>
          </a:p>
        </p:txBody>
      </p:sp>
      <p:cxnSp>
        <p:nvCxnSpPr>
          <p:cNvPr id="31" name="Straight Connector 30"/>
          <p:cNvCxnSpPr/>
          <p:nvPr/>
        </p:nvCxnSpPr>
        <p:spPr>
          <a:xfrm>
            <a:off x="2643188" y="3000375"/>
            <a:ext cx="62865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2643188" y="4429125"/>
            <a:ext cx="6286500" cy="15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2714625" y="1643063"/>
            <a:ext cx="3117850" cy="4572000"/>
            <a:chOff x="2714625" y="1643063"/>
            <a:chExt cx="3117850" cy="4572000"/>
          </a:xfrm>
        </p:grpSpPr>
        <p:sp>
          <p:nvSpPr>
            <p:cNvPr id="8247" name="Line 14"/>
            <p:cNvSpPr>
              <a:spLocks noChangeShapeType="1"/>
            </p:cNvSpPr>
            <p:nvPr/>
          </p:nvSpPr>
          <p:spPr bwMode="auto">
            <a:xfrm flipH="1">
              <a:off x="5786438" y="1643063"/>
              <a:ext cx="46037" cy="457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8248" name="Rectangle 16"/>
            <p:cNvSpPr>
              <a:spLocks noChangeArrowheads="1"/>
            </p:cNvSpPr>
            <p:nvPr/>
          </p:nvSpPr>
          <p:spPr bwMode="auto">
            <a:xfrm>
              <a:off x="4500563" y="2500313"/>
              <a:ext cx="1295400" cy="503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latin typeface="Arial Unicode MS" pitchFamily="34" charset="-128"/>
                </a:rPr>
                <a:t>Search</a:t>
              </a:r>
            </a:p>
          </p:txBody>
        </p:sp>
        <p:sp>
          <p:nvSpPr>
            <p:cNvPr id="8249" name="Rectangle 17"/>
            <p:cNvSpPr>
              <a:spLocks noChangeArrowheads="1"/>
            </p:cNvSpPr>
            <p:nvPr/>
          </p:nvSpPr>
          <p:spPr bwMode="auto">
            <a:xfrm>
              <a:off x="3571875" y="1785938"/>
              <a:ext cx="2214563" cy="57150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 algn="ctr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dirty="0">
                  <a:solidFill>
                    <a:schemeClr val="accent2"/>
                  </a:solidFill>
                  <a:latin typeface="Arial Unicode MS" pitchFamily="34" charset="-128"/>
                </a:rPr>
                <a:t>Arc Consistency</a:t>
              </a:r>
            </a:p>
          </p:txBody>
        </p:sp>
        <p:sp>
          <p:nvSpPr>
            <p:cNvPr id="8250" name="Rectangle 18"/>
            <p:cNvSpPr>
              <a:spLocks noChangeArrowheads="1"/>
            </p:cNvSpPr>
            <p:nvPr/>
          </p:nvSpPr>
          <p:spPr bwMode="auto">
            <a:xfrm>
              <a:off x="3357563" y="3786188"/>
              <a:ext cx="1295400" cy="503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latin typeface="Arial Unicode MS" pitchFamily="34" charset="-128"/>
                </a:rPr>
                <a:t>Search</a:t>
              </a:r>
            </a:p>
          </p:txBody>
        </p:sp>
        <p:sp>
          <p:nvSpPr>
            <p:cNvPr id="8251" name="Rectangle 20"/>
            <p:cNvSpPr>
              <a:spLocks noChangeArrowheads="1"/>
            </p:cNvSpPr>
            <p:nvPr/>
          </p:nvSpPr>
          <p:spPr bwMode="auto">
            <a:xfrm>
              <a:off x="3500438" y="5357813"/>
              <a:ext cx="1176337" cy="503237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400">
                  <a:solidFill>
                    <a:schemeClr val="accent2"/>
                  </a:solidFill>
                  <a:latin typeface="Arial Unicode MS" pitchFamily="34" charset="-128"/>
                </a:rPr>
                <a:t>Search</a:t>
              </a:r>
            </a:p>
          </p:txBody>
        </p:sp>
        <p:sp>
          <p:nvSpPr>
            <p:cNvPr id="8252" name="Rectangle 9"/>
            <p:cNvSpPr>
              <a:spLocks noChangeArrowheads="1"/>
            </p:cNvSpPr>
            <p:nvPr/>
          </p:nvSpPr>
          <p:spPr bwMode="auto">
            <a:xfrm>
              <a:off x="2714625" y="3429000"/>
              <a:ext cx="1512888" cy="503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Logics</a:t>
              </a:r>
            </a:p>
          </p:txBody>
        </p:sp>
        <p:sp>
          <p:nvSpPr>
            <p:cNvPr id="8253" name="Rectangle 9"/>
            <p:cNvSpPr>
              <a:spLocks noChangeArrowheads="1"/>
            </p:cNvSpPr>
            <p:nvPr/>
          </p:nvSpPr>
          <p:spPr bwMode="auto">
            <a:xfrm>
              <a:off x="2857500" y="4643438"/>
              <a:ext cx="1512888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STRIPS</a:t>
              </a:r>
            </a:p>
          </p:txBody>
        </p:sp>
        <p:sp>
          <p:nvSpPr>
            <p:cNvPr id="8254" name="Rectangle 9"/>
            <p:cNvSpPr>
              <a:spLocks noChangeArrowheads="1"/>
            </p:cNvSpPr>
            <p:nvPr/>
          </p:nvSpPr>
          <p:spPr bwMode="auto">
            <a:xfrm>
              <a:off x="2714625" y="2286000"/>
              <a:ext cx="1785938" cy="503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Vars + </a:t>
              </a:r>
            </a:p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Constraints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715000" y="3071813"/>
            <a:ext cx="3236913" cy="3127375"/>
            <a:chOff x="5715000" y="3071813"/>
            <a:chExt cx="3236913" cy="3127375"/>
          </a:xfrm>
        </p:grpSpPr>
        <p:sp>
          <p:nvSpPr>
            <p:cNvPr id="8241" name="Rectangle 23"/>
            <p:cNvSpPr>
              <a:spLocks noChangeArrowheads="1"/>
            </p:cNvSpPr>
            <p:nvPr/>
          </p:nvSpPr>
          <p:spPr bwMode="auto">
            <a:xfrm>
              <a:off x="6286500" y="5786438"/>
              <a:ext cx="2665413" cy="41275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 algn="ctr">
                <a:lnSpc>
                  <a:spcPct val="75000"/>
                </a:lnSpc>
                <a:spcBef>
                  <a:spcPct val="20000"/>
                </a:spcBef>
              </a:pPr>
              <a:r>
                <a:rPr lang="en-US" sz="2000">
                  <a:solidFill>
                    <a:schemeClr val="accent2"/>
                  </a:solidFill>
                  <a:latin typeface="Arial Unicode MS" pitchFamily="34" charset="-128"/>
                </a:rPr>
                <a:t>Value Iteration</a:t>
              </a:r>
            </a:p>
          </p:txBody>
        </p:sp>
        <p:sp>
          <p:nvSpPr>
            <p:cNvPr id="8242" name="Rectangle 24"/>
            <p:cNvSpPr>
              <a:spLocks noChangeArrowheads="1"/>
            </p:cNvSpPr>
            <p:nvPr/>
          </p:nvSpPr>
          <p:spPr bwMode="auto">
            <a:xfrm>
              <a:off x="6660232" y="3212976"/>
              <a:ext cx="2016224" cy="36004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000" dirty="0">
                  <a:solidFill>
                    <a:schemeClr val="accent2"/>
                  </a:solidFill>
                  <a:latin typeface="Arial Unicode MS" pitchFamily="34" charset="-128"/>
                </a:rPr>
                <a:t>Var. Elimination</a:t>
              </a:r>
            </a:p>
          </p:txBody>
        </p:sp>
        <p:sp>
          <p:nvSpPr>
            <p:cNvPr id="8243" name="Rectangle 9"/>
            <p:cNvSpPr>
              <a:spLocks noChangeArrowheads="1"/>
            </p:cNvSpPr>
            <p:nvPr/>
          </p:nvSpPr>
          <p:spPr bwMode="auto">
            <a:xfrm>
              <a:off x="5715000" y="3071813"/>
              <a:ext cx="2000250" cy="5032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Belief Nets</a:t>
              </a:r>
            </a:p>
          </p:txBody>
        </p:sp>
        <p:sp>
          <p:nvSpPr>
            <p:cNvPr id="8244" name="Rectangle 9"/>
            <p:cNvSpPr>
              <a:spLocks noChangeArrowheads="1"/>
            </p:cNvSpPr>
            <p:nvPr/>
          </p:nvSpPr>
          <p:spPr bwMode="auto">
            <a:xfrm>
              <a:off x="5857875" y="4500563"/>
              <a:ext cx="2357438" cy="357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Decision Nets</a:t>
              </a:r>
            </a:p>
          </p:txBody>
        </p:sp>
        <p:sp>
          <p:nvSpPr>
            <p:cNvPr id="8245" name="Rectangle 9"/>
            <p:cNvSpPr>
              <a:spLocks noChangeArrowheads="1"/>
            </p:cNvSpPr>
            <p:nvPr/>
          </p:nvSpPr>
          <p:spPr bwMode="auto">
            <a:xfrm>
              <a:off x="5857875" y="5429250"/>
              <a:ext cx="2928938" cy="357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lnSpc>
                  <a:spcPct val="75000"/>
                </a:lnSpc>
                <a:spcBef>
                  <a:spcPct val="20000"/>
                </a:spcBef>
              </a:pPr>
              <a:r>
                <a:rPr lang="en-US" sz="2400" i="1">
                  <a:latin typeface="Arial Unicode MS" pitchFamily="34" charset="-128"/>
                </a:rPr>
                <a:t>Markov Processes</a:t>
              </a:r>
            </a:p>
          </p:txBody>
        </p:sp>
        <p:sp>
          <p:nvSpPr>
            <p:cNvPr id="8246" name="Rectangle 24"/>
            <p:cNvSpPr>
              <a:spLocks noChangeArrowheads="1"/>
            </p:cNvSpPr>
            <p:nvPr/>
          </p:nvSpPr>
          <p:spPr bwMode="auto">
            <a:xfrm>
              <a:off x="6429375" y="4857750"/>
              <a:ext cx="2031057" cy="37145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000">
                  <a:solidFill>
                    <a:schemeClr val="accent2"/>
                  </a:solidFill>
                  <a:latin typeface="Arial Unicode MS" pitchFamily="34" charset="-128"/>
                </a:rPr>
                <a:t>Var. Elimination</a:t>
              </a:r>
            </a:p>
          </p:txBody>
        </p:sp>
        <p:sp>
          <p:nvSpPr>
            <p:cNvPr id="38" name="Rectangle 24"/>
            <p:cNvSpPr>
              <a:spLocks noChangeArrowheads="1"/>
            </p:cNvSpPr>
            <p:nvPr/>
          </p:nvSpPr>
          <p:spPr bwMode="auto">
            <a:xfrm>
              <a:off x="5940152" y="3573016"/>
              <a:ext cx="2304256" cy="36004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000" dirty="0" smtClean="0">
                  <a:solidFill>
                    <a:schemeClr val="accent2"/>
                  </a:solidFill>
                  <a:latin typeface="Arial Unicode MS" pitchFamily="34" charset="-128"/>
                </a:rPr>
                <a:t>Approx. Inference</a:t>
              </a:r>
              <a:endParaRPr lang="en-US" sz="2000" dirty="0">
                <a:solidFill>
                  <a:schemeClr val="accent2"/>
                </a:solidFill>
                <a:latin typeface="Arial Unicode MS" pitchFamily="34" charset="-128"/>
              </a:endParaRPr>
            </a:p>
          </p:txBody>
        </p:sp>
        <p:sp>
          <p:nvSpPr>
            <p:cNvPr id="39" name="Rectangle 24"/>
            <p:cNvSpPr>
              <a:spLocks noChangeArrowheads="1"/>
            </p:cNvSpPr>
            <p:nvPr/>
          </p:nvSpPr>
          <p:spPr bwMode="auto">
            <a:xfrm>
              <a:off x="5940152" y="4005064"/>
              <a:ext cx="2664296" cy="360040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342900" indent="-342900">
                <a:spcBef>
                  <a:spcPct val="20000"/>
                </a:spcBef>
              </a:pPr>
              <a:r>
                <a:rPr lang="en-US" sz="2000" dirty="0" smtClean="0">
                  <a:solidFill>
                    <a:schemeClr val="accent2"/>
                  </a:solidFill>
                  <a:latin typeface="Arial Unicode MS" pitchFamily="34" charset="-128"/>
                </a:rPr>
                <a:t>Temporal. Inference</a:t>
              </a:r>
              <a:endParaRPr lang="en-US" sz="2000" dirty="0">
                <a:solidFill>
                  <a:schemeClr val="accent2"/>
                </a:solidFill>
                <a:latin typeface="Arial Unicode MS" pitchFamily="34" charset="-128"/>
              </a:endParaRPr>
            </a:p>
          </p:txBody>
        </p:sp>
      </p:grpSp>
      <p:sp>
        <p:nvSpPr>
          <p:cNvPr id="8236" name="Rectangle 8"/>
          <p:cNvSpPr>
            <a:spLocks noChangeArrowheads="1"/>
          </p:cNvSpPr>
          <p:nvPr/>
        </p:nvSpPr>
        <p:spPr bwMode="auto">
          <a:xfrm>
            <a:off x="0" y="2786063"/>
            <a:ext cx="1000125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Static</a:t>
            </a:r>
          </a:p>
        </p:txBody>
      </p:sp>
      <p:sp>
        <p:nvSpPr>
          <p:cNvPr id="8237" name="Rectangle 8"/>
          <p:cNvSpPr>
            <a:spLocks noChangeArrowheads="1"/>
          </p:cNvSpPr>
          <p:nvPr/>
        </p:nvSpPr>
        <p:spPr bwMode="auto">
          <a:xfrm>
            <a:off x="0" y="4500563"/>
            <a:ext cx="1785938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Sequential</a:t>
            </a:r>
          </a:p>
        </p:txBody>
      </p:sp>
      <p:sp>
        <p:nvSpPr>
          <p:cNvPr id="41" name="Left Brace 40"/>
          <p:cNvSpPr/>
          <p:nvPr/>
        </p:nvSpPr>
        <p:spPr>
          <a:xfrm>
            <a:off x="857250" y="2214563"/>
            <a:ext cx="142875" cy="2000250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39" name="Rectangle 9"/>
          <p:cNvSpPr>
            <a:spLocks noChangeArrowheads="1"/>
          </p:cNvSpPr>
          <p:nvPr/>
        </p:nvSpPr>
        <p:spPr bwMode="auto">
          <a:xfrm>
            <a:off x="0" y="5715000"/>
            <a:ext cx="2428875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75000"/>
              </a:lnSpc>
              <a:spcBef>
                <a:spcPct val="20000"/>
              </a:spcBef>
            </a:pPr>
            <a:r>
              <a:rPr lang="en-US" sz="2400" i="1">
                <a:latin typeface="Arial Unicode MS" pitchFamily="34" charset="-128"/>
              </a:rPr>
              <a:t>Representation</a:t>
            </a:r>
          </a:p>
        </p:txBody>
      </p:sp>
      <p:sp>
        <p:nvSpPr>
          <p:cNvPr id="8240" name="Rectangle 20"/>
          <p:cNvSpPr>
            <a:spLocks noChangeArrowheads="1"/>
          </p:cNvSpPr>
          <p:nvPr/>
        </p:nvSpPr>
        <p:spPr bwMode="auto">
          <a:xfrm>
            <a:off x="127000" y="6037263"/>
            <a:ext cx="2143125" cy="71437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ctr"/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Reasoning</a:t>
            </a:r>
          </a:p>
          <a:p>
            <a:pPr marL="342900" indent="-342900" algn="ctr"/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Technique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CPSC 502, Lecture 2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2488EA-2613-4553-A16A-4521158E598A}" type="slidenum">
              <a:rPr lang="en-US" smtClean="0"/>
              <a:pPr/>
              <a:t>3</a:t>
            </a:fld>
            <a:endParaRPr lang="en-US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Today Sept 13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Uninformed Search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Informed Search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….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….</a:t>
            </a:r>
          </a:p>
          <a:p>
            <a:pPr eaLnBrk="1" hangingPunct="1">
              <a:buFont typeface="Arial" pitchFamily="34" charset="0"/>
              <a:buChar char="•"/>
            </a:pP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776579D9-ED13-4C69-9AA3-4B413E8782B0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410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Simple Planning Agent</a:t>
            </a:r>
          </a:p>
        </p:txBody>
      </p:sp>
      <p:sp>
        <p:nvSpPr>
          <p:cNvPr id="368644" name="Rectangle 4"/>
          <p:cNvSpPr>
            <a:spLocks noChangeArrowheads="1"/>
          </p:cNvSpPr>
          <p:nvPr/>
        </p:nvSpPr>
        <p:spPr bwMode="auto">
          <a:xfrm>
            <a:off x="428625" y="1071563"/>
            <a:ext cx="84582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Deterministic, goal-driven agent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Agent is given a goal (subset of possible states)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Environment changes only when the agent acts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Agent perfectly knows: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 what actions can be applied in any given state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 the state it is going to end up in when an action is applied in a given state</a:t>
            </a:r>
          </a:p>
          <a:p>
            <a:pPr marL="800100" lvl="1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</p:txBody>
      </p:sp>
      <p:sp>
        <p:nvSpPr>
          <p:cNvPr id="4106" name="Rectangle 5"/>
          <p:cNvSpPr>
            <a:spLocks noChangeArrowheads="1"/>
          </p:cNvSpPr>
          <p:nvPr/>
        </p:nvSpPr>
        <p:spPr bwMode="auto">
          <a:xfrm>
            <a:off x="395288" y="3500438"/>
            <a:ext cx="7777162" cy="649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</p:txBody>
      </p:sp>
      <p:sp>
        <p:nvSpPr>
          <p:cNvPr id="4107" name="Rectangle 3"/>
          <p:cNvSpPr>
            <a:spLocks noChangeArrowheads="1"/>
          </p:cNvSpPr>
          <p:nvPr/>
        </p:nvSpPr>
        <p:spPr bwMode="auto">
          <a:xfrm>
            <a:off x="357188" y="4786313"/>
            <a:ext cx="8458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The sequence of actions and their appropriate ordering is the solution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DC50FEC2-9CAE-4B75-B2FD-D1DE4C68A4BB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Three examples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8"/>
            <a:ext cx="8569325" cy="4824412"/>
          </a:xfrm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dirty="0" smtClean="0"/>
              <a:t>Solving an 8-puzzle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dirty="0" smtClean="0"/>
              <a:t>Vacuum cleaner world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r>
              <a:rPr lang="en-US" dirty="0" smtClean="0"/>
              <a:t>A delivery robot planning the route it will take in a bldg. to get from one room to another </a:t>
            </a:r>
            <a:r>
              <a:rPr lang="en-US" i="1" dirty="0" smtClean="0"/>
              <a:t>(see textbook)</a:t>
            </a:r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AutoNum type="arabicPeriod"/>
            </a:pPr>
            <a:endParaRPr lang="en-US" dirty="0" smtClean="0"/>
          </a:p>
          <a:p>
            <a:pPr marL="533400" indent="-533400" eaLnBrk="1" hangingPunct="1">
              <a:lnSpc>
                <a:spcPct val="90000"/>
              </a:lnSpc>
              <a:buFontTx/>
              <a:buChar char="•"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AF78364-3F04-4428-9262-973750125A4E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61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2: 8-Puzzle?</a:t>
            </a:r>
          </a:p>
        </p:txBody>
      </p:sp>
      <p:sp>
        <p:nvSpPr>
          <p:cNvPr id="615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250825" y="1412875"/>
          <a:ext cx="8604250" cy="4033838"/>
        </p:xfrm>
        <a:graphic>
          <a:graphicData uri="http://schemas.openxmlformats.org/presentationml/2006/ole">
            <p:oleObj spid="_x0000_s209922" name="Acrobat Document" r:id="rId4" imgW="2133898" imgH="1000000" progId="AcroExch.Document.7">
              <p:embed/>
            </p:oleObj>
          </a:graphicData>
        </a:graphic>
      </p:graphicFrame>
      <p:sp>
        <p:nvSpPr>
          <p:cNvPr id="6160" name="Text Box 7"/>
          <p:cNvSpPr txBox="1">
            <a:spLocks noChangeArrowheads="1"/>
          </p:cNvSpPr>
          <p:nvPr/>
        </p:nvSpPr>
        <p:spPr bwMode="auto">
          <a:xfrm>
            <a:off x="755650" y="4941888"/>
            <a:ext cx="3190875" cy="519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Possible start state</a:t>
            </a:r>
          </a:p>
        </p:txBody>
      </p:sp>
      <p:sp>
        <p:nvSpPr>
          <p:cNvPr id="6161" name="Text Box 8"/>
          <p:cNvSpPr txBox="1">
            <a:spLocks noChangeArrowheads="1"/>
          </p:cNvSpPr>
          <p:nvPr/>
        </p:nvSpPr>
        <p:spPr bwMode="auto">
          <a:xfrm>
            <a:off x="5795963" y="4941888"/>
            <a:ext cx="1806575" cy="519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Goal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1A5E66AE-AAF4-4715-88B2-371B26636CE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72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Example: vacuum world</a:t>
            </a:r>
          </a:p>
        </p:txBody>
      </p:sp>
      <p:pic>
        <p:nvPicPr>
          <p:cNvPr id="7208" name="Picture 4" descr="vacuum2-space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 cstate="print"/>
          <a:srcRect l="8336" r="57138" b="79919"/>
          <a:stretch>
            <a:fillRect/>
          </a:stretch>
        </p:blipFill>
        <p:spPr>
          <a:xfrm>
            <a:off x="785813" y="2928938"/>
            <a:ext cx="2303462" cy="1123950"/>
          </a:xfrm>
          <a:noFill/>
        </p:spPr>
      </p:pic>
      <p:pic>
        <p:nvPicPr>
          <p:cNvPr id="7209" name="Picture 6" descr="vacuum2-space"/>
          <p:cNvPicPr>
            <a:picLocks noChangeAspect="1" noChangeArrowheads="1"/>
          </p:cNvPicPr>
          <p:nvPr/>
        </p:nvPicPr>
        <p:blipFill>
          <a:blip r:embed="rId4" cstate="print"/>
          <a:srcRect l="64967" t="78511" r="-203"/>
          <a:stretch>
            <a:fillRect/>
          </a:stretch>
        </p:blipFill>
        <p:spPr bwMode="auto">
          <a:xfrm>
            <a:off x="5286375" y="2428875"/>
            <a:ext cx="2447925" cy="1252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10" name="Text Box 7"/>
          <p:cNvSpPr txBox="1">
            <a:spLocks noChangeArrowheads="1"/>
          </p:cNvSpPr>
          <p:nvPr/>
        </p:nvSpPr>
        <p:spPr bwMode="auto">
          <a:xfrm>
            <a:off x="714375" y="4286250"/>
            <a:ext cx="3190875" cy="519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Possible start state</a:t>
            </a:r>
          </a:p>
        </p:txBody>
      </p:sp>
      <p:sp>
        <p:nvSpPr>
          <p:cNvPr id="7211" name="Text Box 8"/>
          <p:cNvSpPr txBox="1">
            <a:spLocks noChangeArrowheads="1"/>
          </p:cNvSpPr>
          <p:nvPr/>
        </p:nvSpPr>
        <p:spPr bwMode="auto">
          <a:xfrm>
            <a:off x="5754688" y="4286250"/>
            <a:ext cx="1806575" cy="5191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>
                <a:latin typeface="Arial Unicode MS" pitchFamily="34" charset="-128"/>
              </a:rPr>
              <a:t>Goal state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0DBDFC2-9BAE-49B0-A3C2-E91E9F06B80F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9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can we find a solution?</a:t>
            </a:r>
          </a:p>
        </p:txBody>
      </p:sp>
      <p:sp>
        <p:nvSpPr>
          <p:cNvPr id="9228" name="Rectangle 3"/>
          <p:cNvSpPr>
            <a:spLocks noChangeArrowheads="1"/>
          </p:cNvSpPr>
          <p:nvPr/>
        </p:nvSpPr>
        <p:spPr bwMode="auto">
          <a:xfrm>
            <a:off x="323850" y="836613"/>
            <a:ext cx="8496300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 smtClean="0">
                <a:latin typeface="Arial Unicode MS" pitchFamily="34" charset="-128"/>
              </a:rPr>
              <a:t>Define </a:t>
            </a:r>
            <a:r>
              <a:rPr lang="en-US" dirty="0">
                <a:latin typeface="Arial Unicode MS" pitchFamily="34" charset="-128"/>
              </a:rPr>
              <a:t>underlying </a:t>
            </a:r>
            <a:r>
              <a:rPr lang="en-US" b="1" dirty="0">
                <a:latin typeface="Arial Unicode MS" pitchFamily="34" charset="-128"/>
              </a:rPr>
              <a:t>search space</a:t>
            </a:r>
            <a:r>
              <a:rPr lang="en-US" dirty="0">
                <a:latin typeface="Arial Unicode MS" pitchFamily="34" charset="-128"/>
              </a:rPr>
              <a:t>.  A graph where </a:t>
            </a:r>
            <a:r>
              <a:rPr lang="en-US" b="1" dirty="0">
                <a:latin typeface="Arial Unicode MS" pitchFamily="34" charset="-128"/>
              </a:rPr>
              <a:t>nodes are states</a:t>
            </a:r>
            <a:r>
              <a:rPr lang="en-US" dirty="0">
                <a:latin typeface="Arial Unicode MS" pitchFamily="34" charset="-128"/>
              </a:rPr>
              <a:t> and </a:t>
            </a:r>
            <a:r>
              <a:rPr lang="en-US" b="1" dirty="0">
                <a:latin typeface="Arial Unicode MS" pitchFamily="34" charset="-128"/>
              </a:rPr>
              <a:t>edges are actions</a:t>
            </a:r>
            <a:r>
              <a:rPr lang="en-US" dirty="0">
                <a:latin typeface="Arial Unicode MS" pitchFamily="34" charset="-128"/>
              </a:rPr>
              <a:t>.</a:t>
            </a:r>
          </a:p>
        </p:txBody>
      </p:sp>
      <p:pic>
        <p:nvPicPr>
          <p:cNvPr id="34" name="Picture 5" descr="8puzzleSearchSpac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1898426"/>
            <a:ext cx="7272808" cy="4959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7A0037D-4501-474D-890E-4A552CE1D6D1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1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Vacuum world: Search space graph</a:t>
            </a:r>
          </a:p>
        </p:txBody>
      </p:sp>
      <p:pic>
        <p:nvPicPr>
          <p:cNvPr id="11274" name="Picture 4" descr="vacuum2-path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8313" y="981075"/>
            <a:ext cx="6300787" cy="302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4005263"/>
            <a:ext cx="7416800" cy="2403475"/>
          </a:xfrm>
        </p:spPr>
        <p:txBody>
          <a:bodyPr/>
          <a:lstStyle/>
          <a:p>
            <a:pPr eaLnBrk="1" hangingPunct="1">
              <a:defRPr/>
            </a:pPr>
            <a:r>
              <a:rPr lang="en-US" u="sng" dirty="0" smtClean="0">
                <a:solidFill>
                  <a:schemeClr val="accent6"/>
                </a:solidFill>
              </a:rPr>
              <a:t>states?</a:t>
            </a:r>
            <a:r>
              <a:rPr lang="en-US" dirty="0" smtClean="0">
                <a:solidFill>
                  <a:schemeClr val="accent6"/>
                </a:solidFill>
              </a:rPr>
              <a:t> </a:t>
            </a:r>
            <a:r>
              <a:rPr lang="en-US" dirty="0" smtClean="0"/>
              <a:t>Where it is dirty and robot location</a:t>
            </a:r>
            <a:r>
              <a:rPr lang="en-US" sz="3600" dirty="0" smtClean="0"/>
              <a:t> </a:t>
            </a:r>
            <a:endParaRPr lang="en-US" u="sng" dirty="0" smtClean="0">
              <a:solidFill>
                <a:srgbClr val="CC0099"/>
              </a:solidFill>
            </a:endParaRPr>
          </a:p>
          <a:p>
            <a:pPr eaLnBrk="1" hangingPunct="1">
              <a:defRPr/>
            </a:pPr>
            <a:r>
              <a:rPr lang="en-US" u="sng" dirty="0" smtClean="0">
                <a:solidFill>
                  <a:schemeClr val="accent6"/>
                </a:solidFill>
              </a:rPr>
              <a:t>actions?</a:t>
            </a:r>
            <a:r>
              <a:rPr lang="en-US" dirty="0" smtClean="0">
                <a:solidFill>
                  <a:schemeClr val="accent6"/>
                </a:solidFill>
              </a:rPr>
              <a:t> </a:t>
            </a:r>
            <a:r>
              <a:rPr lang="en-US" i="1" dirty="0" smtClean="0"/>
              <a:t>Left</a:t>
            </a:r>
            <a:r>
              <a:rPr lang="en-US" dirty="0" smtClean="0"/>
              <a:t>, </a:t>
            </a:r>
            <a:r>
              <a:rPr lang="en-US" i="1" dirty="0" smtClean="0"/>
              <a:t>Right</a:t>
            </a:r>
            <a:r>
              <a:rPr lang="en-US" dirty="0" smtClean="0"/>
              <a:t>, </a:t>
            </a:r>
            <a:r>
              <a:rPr lang="en-US" i="1" dirty="0" smtClean="0"/>
              <a:t>Suck</a:t>
            </a:r>
            <a:endParaRPr lang="en-US" sz="2000" u="sng" dirty="0" smtClean="0">
              <a:solidFill>
                <a:srgbClr val="CC0099"/>
              </a:solidFill>
            </a:endParaRPr>
          </a:p>
          <a:p>
            <a:pPr eaLnBrk="1" hangingPunct="1">
              <a:defRPr/>
            </a:pPr>
            <a:r>
              <a:rPr lang="en-US" u="sng" dirty="0" smtClean="0">
                <a:solidFill>
                  <a:schemeClr val="accent6"/>
                </a:solidFill>
              </a:rPr>
              <a:t>Possible goal test?</a:t>
            </a:r>
            <a:r>
              <a:rPr lang="en-US" dirty="0" smtClean="0">
                <a:solidFill>
                  <a:schemeClr val="accent6"/>
                </a:solidFill>
              </a:rPr>
              <a:t> </a:t>
            </a:r>
            <a:r>
              <a:rPr lang="en-US" dirty="0" smtClean="0"/>
              <a:t>no dirt at all locations </a:t>
            </a:r>
            <a:endParaRPr lang="en-US" sz="2000" u="sng" dirty="0" smtClean="0">
              <a:solidFill>
                <a:srgbClr val="CC009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9CC5724E-17AF-47A2-87D5-44D7BA414E56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33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Search: Abstract Definition</a:t>
            </a:r>
          </a:p>
        </p:txBody>
      </p:sp>
      <p:sp>
        <p:nvSpPr>
          <p:cNvPr id="133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3320" name="Rectangle 4"/>
          <p:cNvSpPr>
            <a:spLocks noChangeArrowheads="1"/>
          </p:cNvSpPr>
          <p:nvPr/>
        </p:nvSpPr>
        <p:spPr bwMode="auto">
          <a:xfrm>
            <a:off x="395288" y="12684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600" b="1">
                <a:latin typeface="Arial Unicode MS" pitchFamily="34" charset="-128"/>
              </a:rPr>
              <a:t>How to search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Start at the start state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Consider the effect of taking different actions starting from states that have been encountered in the search so far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Stop when a goal state is encountered</a:t>
            </a:r>
          </a:p>
          <a:p>
            <a:pPr marL="342900" indent="-342900">
              <a:spcBef>
                <a:spcPct val="20000"/>
              </a:spcBef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To make this more formal, we'll need review the </a:t>
            </a:r>
            <a:r>
              <a:rPr lang="en-US" b="1">
                <a:latin typeface="Arial Unicode MS" pitchFamily="34" charset="-128"/>
              </a:rPr>
              <a:t>formal definition of a graph</a:t>
            </a:r>
            <a:r>
              <a:rPr lang="en-US">
                <a:latin typeface="Arial Unicode MS" pitchFamily="34" charset="-128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E33E974-5E70-4389-892C-3768EADA2CF1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4345" name="Rectangle 2"/>
          <p:cNvSpPr>
            <a:spLocks noChangeArrowheads="1"/>
          </p:cNvSpPr>
          <p:nvPr/>
        </p:nvSpPr>
        <p:spPr bwMode="auto">
          <a:xfrm>
            <a:off x="323850" y="765175"/>
            <a:ext cx="882015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graph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consists of a set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of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nodes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and a set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of ordered pairs of nodes, called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arcs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20000"/>
              </a:lnSpc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Node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is 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neighbor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of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if there is an arc from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1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to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. That is, if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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1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, 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2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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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A.</a:t>
            </a:r>
          </a:p>
          <a:p>
            <a:pPr marL="342900" indent="-342900">
              <a:lnSpc>
                <a:spcPct val="30000"/>
              </a:lnSpc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path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is a sequence of nodes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0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, 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1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,..,n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k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such that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 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i-1</a:t>
            </a:r>
            <a:r>
              <a:rPr lang="en-US" sz="24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, n</a:t>
            </a:r>
            <a:r>
              <a:rPr lang="en-US" sz="2400" i="1" baseline="-25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i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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  <a:sym typeface="Symbol" pitchFamily="18" charset="2"/>
              </a:rPr>
              <a:t>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A.</a:t>
            </a:r>
          </a:p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cycle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is a non-empty path such that the start node is the same as the end node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directed acyclic graph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(DAG) is a graph with no cycles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</a:pPr>
            <a:endParaRPr lang="en-US" sz="240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Given a set of start nodes and goal nodes, a </a:t>
            </a:r>
            <a:r>
              <a:rPr lang="en-US" sz="2400" b="1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solution</a:t>
            </a: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is a path from a start node to a goal node</a:t>
            </a: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. </a:t>
            </a:r>
          </a:p>
        </p:txBody>
      </p:sp>
      <p:sp>
        <p:nvSpPr>
          <p:cNvPr id="14346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Search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35338" y="640080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64338" y="6400800"/>
            <a:ext cx="1905000" cy="457200"/>
          </a:xfrm>
        </p:spPr>
        <p:txBody>
          <a:bodyPr/>
          <a:lstStyle/>
          <a:p>
            <a:pPr>
              <a:defRPr/>
            </a:pPr>
            <a:r>
              <a:rPr lang="en-US"/>
              <a:t>Slide </a:t>
            </a:r>
            <a:fld id="{AEF5BB34-0D62-46E5-89E3-F4EB012EEDB9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53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Examples for graph formal def.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2928938" y="1581150"/>
            <a:ext cx="6426200" cy="4722813"/>
            <a:chOff x="1565" y="890"/>
            <a:chExt cx="4048" cy="2975"/>
          </a:xfrm>
        </p:grpSpPr>
        <p:pic>
          <p:nvPicPr>
            <p:cNvPr id="15370" name="Picture 5" descr="8puzzleSearchSpace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1565" y="890"/>
              <a:ext cx="4048" cy="2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71" name="Text Box 8"/>
            <p:cNvSpPr txBox="1">
              <a:spLocks noChangeArrowheads="1"/>
            </p:cNvSpPr>
            <p:nvPr/>
          </p:nvSpPr>
          <p:spPr bwMode="auto">
            <a:xfrm>
              <a:off x="3890" y="904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a</a:t>
              </a:r>
            </a:p>
          </p:txBody>
        </p:sp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2383" y="185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b</a:t>
              </a:r>
            </a:p>
          </p:txBody>
        </p:sp>
        <p:sp>
          <p:nvSpPr>
            <p:cNvPr id="15373" name="Text Box 10"/>
            <p:cNvSpPr txBox="1">
              <a:spLocks noChangeArrowheads="1"/>
            </p:cNvSpPr>
            <p:nvPr/>
          </p:nvSpPr>
          <p:spPr bwMode="auto">
            <a:xfrm>
              <a:off x="3045" y="1856"/>
              <a:ext cx="1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c</a:t>
              </a:r>
            </a:p>
          </p:txBody>
        </p:sp>
        <p:sp>
          <p:nvSpPr>
            <p:cNvPr id="15374" name="Text Box 11"/>
            <p:cNvSpPr txBox="1">
              <a:spLocks noChangeArrowheads="1"/>
            </p:cNvSpPr>
            <p:nvPr/>
          </p:nvSpPr>
          <p:spPr bwMode="auto">
            <a:xfrm>
              <a:off x="3785" y="185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d</a:t>
              </a:r>
            </a:p>
          </p:txBody>
        </p:sp>
        <p:sp>
          <p:nvSpPr>
            <p:cNvPr id="15375" name="Text Box 12"/>
            <p:cNvSpPr txBox="1">
              <a:spLocks noChangeArrowheads="1"/>
            </p:cNvSpPr>
            <p:nvPr/>
          </p:nvSpPr>
          <p:spPr bwMode="auto">
            <a:xfrm>
              <a:off x="4797" y="1813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e</a:t>
              </a:r>
            </a:p>
          </p:txBody>
        </p:sp>
        <p:sp>
          <p:nvSpPr>
            <p:cNvPr id="15376" name="Text Box 13"/>
            <p:cNvSpPr txBox="1">
              <a:spLocks noChangeArrowheads="1"/>
            </p:cNvSpPr>
            <p:nvPr/>
          </p:nvSpPr>
          <p:spPr bwMode="auto">
            <a:xfrm>
              <a:off x="1877" y="2779"/>
              <a:ext cx="15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f</a:t>
              </a:r>
            </a:p>
          </p:txBody>
        </p:sp>
        <p:sp>
          <p:nvSpPr>
            <p:cNvPr id="15377" name="Text Box 14"/>
            <p:cNvSpPr txBox="1">
              <a:spLocks noChangeArrowheads="1"/>
            </p:cNvSpPr>
            <p:nvPr/>
          </p:nvSpPr>
          <p:spPr bwMode="auto">
            <a:xfrm>
              <a:off x="2616" y="2779"/>
              <a:ext cx="23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g</a:t>
              </a:r>
            </a:p>
          </p:txBody>
        </p:sp>
        <p:sp>
          <p:nvSpPr>
            <p:cNvPr id="15378" name="Text Box 15"/>
            <p:cNvSpPr txBox="1">
              <a:spLocks noChangeArrowheads="1"/>
            </p:cNvSpPr>
            <p:nvPr/>
          </p:nvSpPr>
          <p:spPr bwMode="auto">
            <a:xfrm>
              <a:off x="2850" y="2779"/>
              <a:ext cx="23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h</a:t>
              </a:r>
            </a:p>
          </p:txBody>
        </p:sp>
        <p:sp>
          <p:nvSpPr>
            <p:cNvPr id="15379" name="Text Box 16"/>
            <p:cNvSpPr txBox="1">
              <a:spLocks noChangeArrowheads="1"/>
            </p:cNvSpPr>
            <p:nvPr/>
          </p:nvSpPr>
          <p:spPr bwMode="auto">
            <a:xfrm>
              <a:off x="3200" y="2779"/>
              <a:ext cx="23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i</a:t>
              </a:r>
            </a:p>
          </p:txBody>
        </p:sp>
        <p:sp>
          <p:nvSpPr>
            <p:cNvPr id="15380" name="Text Box 17"/>
            <p:cNvSpPr txBox="1">
              <a:spLocks noChangeArrowheads="1"/>
            </p:cNvSpPr>
            <p:nvPr/>
          </p:nvSpPr>
          <p:spPr bwMode="auto">
            <a:xfrm>
              <a:off x="3651" y="2750"/>
              <a:ext cx="23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j</a:t>
              </a:r>
            </a:p>
          </p:txBody>
        </p:sp>
        <p:sp>
          <p:nvSpPr>
            <p:cNvPr id="15381" name="Text Box 18"/>
            <p:cNvSpPr txBox="1">
              <a:spLocks noChangeArrowheads="1"/>
            </p:cNvSpPr>
            <p:nvPr/>
          </p:nvSpPr>
          <p:spPr bwMode="auto">
            <a:xfrm>
              <a:off x="4330" y="2779"/>
              <a:ext cx="23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k</a:t>
              </a:r>
            </a:p>
          </p:txBody>
        </p:sp>
        <p:sp>
          <p:nvSpPr>
            <p:cNvPr id="15382" name="Text Box 19"/>
            <p:cNvSpPr txBox="1">
              <a:spLocks noChangeArrowheads="1"/>
            </p:cNvSpPr>
            <p:nvPr/>
          </p:nvSpPr>
          <p:spPr bwMode="auto">
            <a:xfrm>
              <a:off x="4602" y="2779"/>
              <a:ext cx="23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l</a:t>
              </a:r>
            </a:p>
          </p:txBody>
        </p:sp>
        <p:sp>
          <p:nvSpPr>
            <p:cNvPr id="15383" name="Text Box 20"/>
            <p:cNvSpPr txBox="1">
              <a:spLocks noChangeArrowheads="1"/>
            </p:cNvSpPr>
            <p:nvPr/>
          </p:nvSpPr>
          <p:spPr bwMode="auto">
            <a:xfrm>
              <a:off x="5284" y="2795"/>
              <a:ext cx="23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800">
                  <a:solidFill>
                    <a:srgbClr val="33CC33"/>
                  </a:solidFill>
                  <a:latin typeface="Arial Unicode MS" pitchFamily="34" charset="-128"/>
                </a:rPr>
                <a:t>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0200BD84-CE9B-46CA-8454-499A3FAEA86F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7416" name="Rectangle 2"/>
          <p:cNvSpPr>
            <a:spLocks noChangeArrowheads="1"/>
          </p:cNvSpPr>
          <p:nvPr/>
        </p:nvSpPr>
        <p:spPr bwMode="auto">
          <a:xfrm>
            <a:off x="0" y="836712"/>
            <a:ext cx="9144000" cy="5688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Generic search algorithm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: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given a graph, start </a:t>
            </a:r>
            <a:r>
              <a:rPr lang="en-US" sz="2400" dirty="0" smtClean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node,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and goal node(s), incrementally explore paths from the start node(s).</a:t>
            </a: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Maintain a </a:t>
            </a:r>
            <a:r>
              <a:rPr lang="en-US" b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frontier of paths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from the start node that have been explored.</a:t>
            </a: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lnSpc>
                <a:spcPct val="5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As search proceeds, the frontier expands into the unexplored nodes until (hopefully!) a goal node is encountered.</a:t>
            </a:r>
          </a:p>
          <a:p>
            <a:pPr marL="342900" indent="-342900">
              <a:lnSpc>
                <a:spcPct val="6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way in which the frontier is expanded defines the search strategy</a:t>
            </a:r>
            <a:r>
              <a:rPr lang="en-US" sz="2400" dirty="0" smtClean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.</a:t>
            </a:r>
          </a:p>
          <a:p>
            <a:pPr marL="342900" indent="-342900">
              <a:spcBef>
                <a:spcPct val="20000"/>
              </a:spcBef>
            </a:pPr>
            <a:endParaRPr lang="en-US" sz="2400" dirty="0" smtClean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CA" sz="2400" dirty="0" smtClean="0">
                <a:solidFill>
                  <a:schemeClr val="accent2"/>
                </a:solidFill>
                <a:latin typeface="Arial Unicode MS" pitchFamily="34" charset="-128"/>
                <a:cs typeface="Times New Roman" pitchFamily="18" charset="0"/>
              </a:rPr>
              <a:t>For most problems, we can never actually build the whole graph</a:t>
            </a:r>
          </a:p>
          <a:p>
            <a:pPr marL="342900" indent="-342900">
              <a:spcBef>
                <a:spcPct val="20000"/>
              </a:spcBef>
            </a:pPr>
            <a:endParaRPr lang="en-US" sz="2400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1741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Graph Searching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25B65CA-1C4D-4700-BFF3-012F0191B0AD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8454" name="Rectangle 2"/>
          <p:cNvSpPr>
            <a:spLocks noChangeArrowheads="1"/>
          </p:cNvSpPr>
          <p:nvPr/>
        </p:nvSpPr>
        <p:spPr bwMode="auto">
          <a:xfrm>
            <a:off x="5334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18455" name="Rectangle 3"/>
          <p:cNvSpPr>
            <a:spLocks noChangeArrowheads="1"/>
          </p:cNvSpPr>
          <p:nvPr/>
        </p:nvSpPr>
        <p:spPr bwMode="auto">
          <a:xfrm>
            <a:off x="468313" y="908050"/>
            <a:ext cx="8280400" cy="36734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Input: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a graph, </a:t>
            </a:r>
            <a:r>
              <a:rPr lang="en-US" sz="2400" dirty="0" smtClean="0">
                <a:solidFill>
                  <a:srgbClr val="000000"/>
                </a:solidFill>
                <a:latin typeface="Arial Unicode MS" pitchFamily="34" charset="-128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start nodes, Boolean procedure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goal(n)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that tests if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is a goal node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frontier:= </a:t>
            </a:r>
            <a:r>
              <a:rPr lang="en-US" sz="2400" dirty="0">
                <a:latin typeface="Arial Unicode MS" pitchFamily="34" charset="-128"/>
              </a:rPr>
              <a:t>[&lt;</a:t>
            </a:r>
            <a:r>
              <a:rPr lang="en-US" sz="2400" i="1" dirty="0">
                <a:latin typeface="Arial Unicode MS" pitchFamily="34" charset="-128"/>
              </a:rPr>
              <a:t>s</a:t>
            </a:r>
            <a:r>
              <a:rPr lang="en-US" sz="2400" dirty="0">
                <a:latin typeface="Arial Unicode MS" pitchFamily="34" charset="-128"/>
              </a:rPr>
              <a:t>&gt;: </a:t>
            </a:r>
            <a:r>
              <a:rPr lang="en-US" sz="2400" i="1" dirty="0">
                <a:latin typeface="Arial Unicode MS" pitchFamily="34" charset="-128"/>
              </a:rPr>
              <a:t>s</a:t>
            </a:r>
            <a:r>
              <a:rPr lang="en-US" sz="2400" dirty="0">
                <a:latin typeface="Arial Unicode MS" pitchFamily="34" charset="-128"/>
              </a:rPr>
              <a:t> is a start node];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While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frontier </a:t>
            </a:r>
            <a:r>
              <a:rPr lang="en-US" sz="2400" i="1" dirty="0" smtClean="0">
                <a:solidFill>
                  <a:srgbClr val="000000"/>
                </a:solidFill>
                <a:latin typeface="Arial Unicode MS" pitchFamily="34" charset="-128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Arial Unicode MS" pitchFamily="34" charset="-128"/>
              </a:rPr>
              <a:t>is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not empty:</a:t>
            </a:r>
            <a:endParaRPr lang="en-US" sz="2400" b="1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     select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and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remove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path  &lt;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>
                <a:solidFill>
                  <a:srgbClr val="000000"/>
                </a:solidFill>
                <a:latin typeface="Arial Unicode MS" pitchFamily="34" charset="-128"/>
              </a:rPr>
              <a:t>o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,….,</a:t>
            </a:r>
            <a:r>
              <a:rPr lang="en-US" sz="2400" i="1" dirty="0" err="1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 err="1">
                <a:solidFill>
                  <a:srgbClr val="000000"/>
                </a:solidFill>
                <a:latin typeface="Arial Unicode MS" pitchFamily="34" charset="-128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&gt; from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frontier; </a:t>
            </a:r>
            <a:endParaRPr lang="en-US" sz="2400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     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goal(</a:t>
            </a:r>
            <a:r>
              <a:rPr lang="en-US" sz="2400" i="1" dirty="0" err="1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 err="1">
                <a:solidFill>
                  <a:srgbClr val="000000"/>
                </a:solidFill>
                <a:latin typeface="Arial Unicode MS" pitchFamily="34" charset="-128"/>
              </a:rPr>
              <a:t>k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             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return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&lt;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>
                <a:solidFill>
                  <a:srgbClr val="000000"/>
                </a:solidFill>
                <a:latin typeface="Arial Unicode MS" pitchFamily="34" charset="-128"/>
              </a:rPr>
              <a:t>o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,….,</a:t>
            </a:r>
            <a:r>
              <a:rPr lang="en-US" sz="2400" i="1" dirty="0" err="1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 err="1">
                <a:solidFill>
                  <a:srgbClr val="000000"/>
                </a:solidFill>
                <a:latin typeface="Arial Unicode MS" pitchFamily="34" charset="-128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&gt;; </a:t>
            </a:r>
            <a:endParaRPr lang="en-US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For every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neighbor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of</a:t>
            </a: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</a:t>
            </a:r>
            <a:r>
              <a:rPr lang="en-US" sz="2400" i="1" dirty="0" err="1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 err="1">
                <a:solidFill>
                  <a:srgbClr val="000000"/>
                </a:solidFill>
                <a:latin typeface="Arial Unicode MS" pitchFamily="34" charset="-128"/>
              </a:rPr>
              <a:t>k</a:t>
            </a:r>
            <a:endParaRPr lang="en-US" sz="2400" dirty="0">
              <a:solidFill>
                <a:srgbClr val="000000"/>
              </a:solidFill>
              <a:latin typeface="Arial Unicode MS" pitchFamily="34" charset="-128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  <a:buSzPct val="120000"/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        add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&lt;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>
                <a:solidFill>
                  <a:srgbClr val="000000"/>
                </a:solidFill>
                <a:latin typeface="Arial Unicode MS" pitchFamily="34" charset="-128"/>
              </a:rPr>
              <a:t>o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,….,</a:t>
            </a:r>
            <a:r>
              <a:rPr lang="en-US" sz="2400" i="1" dirty="0" err="1">
                <a:solidFill>
                  <a:srgbClr val="000000"/>
                </a:solidFill>
                <a:latin typeface="Arial Unicode MS" pitchFamily="34" charset="-128"/>
              </a:rPr>
              <a:t>n</a:t>
            </a:r>
            <a:r>
              <a:rPr lang="en-US" sz="2400" i="1" baseline="-25000" dirty="0" err="1">
                <a:solidFill>
                  <a:srgbClr val="000000"/>
                </a:solidFill>
                <a:latin typeface="Arial Unicode MS" pitchFamily="34" charset="-128"/>
              </a:rPr>
              <a:t>k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,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n&gt;</a:t>
            </a:r>
            <a:r>
              <a:rPr lang="en-US" sz="2400" dirty="0">
                <a:solidFill>
                  <a:srgbClr val="000000"/>
                </a:solidFill>
                <a:latin typeface="Arial Unicode MS" pitchFamily="34" charset="-128"/>
              </a:rPr>
              <a:t> to </a:t>
            </a:r>
            <a:r>
              <a:rPr lang="en-US" sz="2400" i="1" dirty="0">
                <a:solidFill>
                  <a:srgbClr val="000000"/>
                </a:solidFill>
                <a:latin typeface="Arial Unicode MS" pitchFamily="34" charset="-128"/>
              </a:rPr>
              <a:t>frontier;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400" b="1" dirty="0">
                <a:solidFill>
                  <a:srgbClr val="000000"/>
                </a:solidFill>
                <a:latin typeface="Arial Unicode MS" pitchFamily="34" charset="-128"/>
              </a:rPr>
              <a:t>end</a:t>
            </a:r>
          </a:p>
        </p:txBody>
      </p:sp>
      <p:sp>
        <p:nvSpPr>
          <p:cNvPr id="1845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Generic Search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654F678E-7589-4C26-912A-B92E14ADD0F5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9466" name="Rectangle 2"/>
          <p:cNvSpPr>
            <a:spLocks noChangeArrowheads="1"/>
          </p:cNvSpPr>
          <p:nvPr/>
        </p:nvSpPr>
        <p:spPr bwMode="auto">
          <a:xfrm>
            <a:off x="5334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19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cs typeface="Times New Roman" pitchFamily="18" charset="0"/>
              </a:rPr>
              <a:t>Problem Solving by Graph Searching</a:t>
            </a:r>
            <a:r>
              <a:rPr lang="en-US" b="0" smtClean="0">
                <a:solidFill>
                  <a:srgbClr val="000000"/>
                </a:solidFill>
                <a:latin typeface="Times-Roman"/>
              </a:rPr>
              <a:t> </a:t>
            </a:r>
          </a:p>
        </p:txBody>
      </p:sp>
      <p:pic>
        <p:nvPicPr>
          <p:cNvPr id="19468" name="Picture 4" descr="ps-as-graph-searc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906463"/>
            <a:ext cx="7848600" cy="5773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3357563" y="1214438"/>
            <a:ext cx="1920875" cy="400050"/>
          </a:xfrm>
          <a:prstGeom prst="rect">
            <a:avLst/>
          </a:prstGeom>
          <a:solidFill>
            <a:schemeClr val="accent3"/>
          </a:solidFill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Ends of frontier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9CCDCAA-71FB-4AE9-A5B5-53E73504A08B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20491" name="Rectangle 2"/>
          <p:cNvSpPr>
            <a:spLocks noChangeArrowheads="1"/>
          </p:cNvSpPr>
          <p:nvPr/>
        </p:nvSpPr>
        <p:spPr bwMode="auto">
          <a:xfrm>
            <a:off x="5334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20492" name="Rectangle 3"/>
          <p:cNvSpPr>
            <a:spLocks noChangeArrowheads="1"/>
          </p:cNvSpPr>
          <p:nvPr/>
        </p:nvSpPr>
        <p:spPr bwMode="auto">
          <a:xfrm>
            <a:off x="357188" y="85725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</a:t>
            </a:r>
            <a:r>
              <a:rPr lang="en-US" b="1" i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forward branching factor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of a node is the number of arcs going out of the node</a:t>
            </a: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</a:t>
            </a:r>
            <a:r>
              <a:rPr lang="en-US" b="1" i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backward branching factor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of a node is the number of arcs going into the node</a:t>
            </a: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If the forward branching factor of any node is </a:t>
            </a:r>
            <a:r>
              <a:rPr lang="en-US" i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and the graph is a tree, </a:t>
            </a:r>
            <a:r>
              <a:rPr lang="en-US" dirty="0" smtClean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How many nodes are </a:t>
            </a:r>
            <a:r>
              <a:rPr lang="en-US" i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steps away from </a:t>
            </a:r>
            <a:r>
              <a:rPr lang="en-US" dirty="0" smtClean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root?</a:t>
            </a: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</a:endParaRPr>
          </a:p>
        </p:txBody>
      </p:sp>
      <p:sp>
        <p:nvSpPr>
          <p:cNvPr id="2049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Branching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96BA1D5-4BB9-44B5-8C5E-E8ABD46D60A6}" type="slidenum">
              <a:rPr lang="en-US"/>
              <a:pPr>
                <a:defRPr/>
              </a:pPr>
              <a:t>17</a:t>
            </a:fld>
            <a:endParaRPr lang="en-US"/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8534400" cy="685800"/>
          </a:xfrm>
        </p:spPr>
        <p:txBody>
          <a:bodyPr/>
          <a:lstStyle/>
          <a:p>
            <a:pPr eaLnBrk="1" hangingPunct="1"/>
            <a:r>
              <a:rPr lang="en-US" sz="3200" smtClean="0"/>
              <a:t>Comparing Searching Algorithms: will it find a solution? the best one?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950" y="3933825"/>
            <a:ext cx="9144000" cy="4608513"/>
          </a:xfrm>
        </p:spPr>
        <p:txBody>
          <a:bodyPr/>
          <a:lstStyle/>
          <a:p>
            <a:pPr marL="381000" indent="-381000" eaLnBrk="1" hangingPunct="1"/>
            <a:endParaRPr lang="en-US" smtClean="0"/>
          </a:p>
          <a:p>
            <a:pPr marL="381000" indent="-381000" eaLnBrk="1" hangingPunct="1"/>
            <a:endParaRPr lang="en-US" smtClean="0"/>
          </a:p>
        </p:txBody>
      </p:sp>
      <p:sp>
        <p:nvSpPr>
          <p:cNvPr id="18438" name="Rectangle 4"/>
          <p:cNvSpPr>
            <a:spLocks noChangeArrowheads="1"/>
          </p:cNvSpPr>
          <p:nvPr/>
        </p:nvSpPr>
        <p:spPr bwMode="auto">
          <a:xfrm>
            <a:off x="179388" y="1268413"/>
            <a:ext cx="8785225" cy="208915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Def. (complete): </a:t>
            </a:r>
            <a:r>
              <a:rPr lang="en-US">
                <a:latin typeface="Arial Unicode MS" pitchFamily="34" charset="-128"/>
              </a:rPr>
              <a:t>A search algorithm is </a:t>
            </a:r>
            <a:r>
              <a:rPr lang="en-US" b="1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>
                <a:latin typeface="Arial Unicode MS" pitchFamily="34" charset="-128"/>
              </a:rPr>
              <a:t> if, whenever at least one solution exists, the algorithm </a:t>
            </a:r>
            <a:r>
              <a:rPr lang="en-US" b="1">
                <a:latin typeface="Arial Unicode MS" pitchFamily="34" charset="-128"/>
              </a:rPr>
              <a:t>is guaranteed to find a solution</a:t>
            </a:r>
            <a:r>
              <a:rPr lang="en-US">
                <a:latin typeface="Arial Unicode MS" pitchFamily="34" charset="-128"/>
              </a:rPr>
              <a:t> within a finite amount of time.</a:t>
            </a:r>
          </a:p>
          <a:p>
            <a:pPr marL="381000" indent="-381000">
              <a:spcBef>
                <a:spcPct val="20000"/>
              </a:spcBef>
            </a:pPr>
            <a:endParaRPr lang="en-US" sz="2000">
              <a:latin typeface="Arial Unicode MS" pitchFamily="34" charset="-128"/>
            </a:endParaRPr>
          </a:p>
        </p:txBody>
      </p:sp>
      <p:sp>
        <p:nvSpPr>
          <p:cNvPr id="384007" name="Rectangle 7"/>
          <p:cNvSpPr>
            <a:spLocks noChangeArrowheads="1"/>
          </p:cNvSpPr>
          <p:nvPr/>
        </p:nvSpPr>
        <p:spPr bwMode="auto">
          <a:xfrm>
            <a:off x="323850" y="4149725"/>
            <a:ext cx="8640763" cy="107950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Def. (optimal): </a:t>
            </a:r>
            <a:r>
              <a:rPr lang="en-US">
                <a:latin typeface="Arial Unicode MS" pitchFamily="34" charset="-128"/>
              </a:rPr>
              <a:t>A search algorithm is </a:t>
            </a:r>
            <a:r>
              <a:rPr lang="en-US" b="1">
                <a:solidFill>
                  <a:schemeClr val="accent2"/>
                </a:solidFill>
                <a:latin typeface="Arial Unicode MS" pitchFamily="34" charset="-128"/>
              </a:rPr>
              <a:t>optimal</a:t>
            </a:r>
            <a:r>
              <a:rPr lang="en-US">
                <a:latin typeface="Arial Unicode MS" pitchFamily="34" charset="-128"/>
              </a:rPr>
              <a:t> if, when it finds a solution , it is the best solution</a:t>
            </a:r>
            <a:endParaRPr lang="en-US" sz="200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7F463BC-742D-4259-996A-E8E4EB91E08E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Let’s look at two basic search strategies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22534" name="Rectangle 5"/>
          <p:cNvSpPr>
            <a:spLocks noChangeArrowheads="1"/>
          </p:cNvSpPr>
          <p:nvPr/>
        </p:nvSpPr>
        <p:spPr bwMode="auto">
          <a:xfrm>
            <a:off x="250825" y="1916113"/>
            <a:ext cx="84582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dirty="0">
              <a:latin typeface="Arial Unicode MS" pitchFamily="34" charset="-128"/>
            </a:endParaRPr>
          </a:p>
        </p:txBody>
      </p:sp>
      <p:sp>
        <p:nvSpPr>
          <p:cNvPr id="445449" name="Rectangle 9"/>
          <p:cNvSpPr>
            <a:spLocks noChangeArrowheads="1"/>
          </p:cNvSpPr>
          <p:nvPr/>
        </p:nvSpPr>
        <p:spPr bwMode="auto">
          <a:xfrm>
            <a:off x="0" y="2060848"/>
            <a:ext cx="9144000" cy="208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 dirty="0" smtClean="0">
                <a:latin typeface="Arial Unicode MS" pitchFamily="34" charset="-128"/>
              </a:rPr>
              <a:t>Depth First and Breath First Search:</a:t>
            </a:r>
            <a:endParaRPr lang="en-US" b="1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latin typeface="Arial Unicode MS" pitchFamily="34" charset="-128"/>
              </a:rPr>
              <a:t>To understand key properties of a search strategy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latin typeface="Arial Unicode MS" pitchFamily="34" charset="-128"/>
              </a:rPr>
              <a:t>They represent the basis for more sophisticated (heuristic / intelligent)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54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0816C10-B147-4CF5-9C37-F986E87F0416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5141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0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Depth-first Search: DFS</a:t>
            </a:r>
          </a:p>
        </p:txBody>
      </p:sp>
      <p:sp>
        <p:nvSpPr>
          <p:cNvPr id="51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5143" name="Rectangle 4"/>
          <p:cNvSpPr>
            <a:spLocks noChangeArrowheads="1"/>
          </p:cNvSpPr>
          <p:nvPr/>
        </p:nvSpPr>
        <p:spPr bwMode="auto">
          <a:xfrm>
            <a:off x="357188" y="7858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>
                <a:solidFill>
                  <a:schemeClr val="accent2"/>
                </a:solidFill>
                <a:latin typeface="Arial Unicode MS" pitchFamily="34" charset="-128"/>
              </a:rPr>
              <a:t>Depth-first search</a:t>
            </a:r>
            <a:r>
              <a:rPr lang="en-US">
                <a:latin typeface="Arial Unicode MS" pitchFamily="34" charset="-128"/>
              </a:rPr>
              <a:t> treats the frontier as a </a:t>
            </a:r>
            <a:r>
              <a:rPr lang="en-US" b="1">
                <a:latin typeface="Arial Unicode MS" pitchFamily="34" charset="-128"/>
              </a:rPr>
              <a:t>stack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It always selects one of the last elements added to the frontier.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Example: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 frontier is </a:t>
            </a:r>
            <a:r>
              <a:rPr lang="en-US" sz="2400" i="1">
                <a:latin typeface="Arial Unicode MS" pitchFamily="34" charset="-128"/>
              </a:rPr>
              <a:t>[p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 i="1">
                <a:latin typeface="Arial Unicode MS" pitchFamily="34" charset="-128"/>
              </a:rPr>
              <a:t>, p</a:t>
            </a:r>
            <a:r>
              <a:rPr lang="en-US" sz="2400" i="1" baseline="-25000">
                <a:latin typeface="Arial Unicode MS" pitchFamily="34" charset="-128"/>
              </a:rPr>
              <a:t>2</a:t>
            </a:r>
            <a:r>
              <a:rPr lang="en-US" sz="2400" i="1">
                <a:latin typeface="Arial Unicode MS" pitchFamily="34" charset="-128"/>
              </a:rPr>
              <a:t>, …, p</a:t>
            </a:r>
            <a:r>
              <a:rPr lang="en-US" sz="2400" i="1" baseline="-25000">
                <a:latin typeface="Arial Unicode MS" pitchFamily="34" charset="-128"/>
              </a:rPr>
              <a:t>r</a:t>
            </a:r>
            <a:r>
              <a:rPr lang="en-US" sz="2400" i="1">
                <a:latin typeface="Arial Unicode MS" pitchFamily="34" charset="-128"/>
              </a:rPr>
              <a:t>]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neighbors of last node of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>
                <a:latin typeface="Arial Unicode MS" pitchFamily="34" charset="-128"/>
              </a:rPr>
              <a:t> (its end) are </a:t>
            </a:r>
            <a:r>
              <a:rPr lang="en-US" sz="2400" i="1">
                <a:latin typeface="Arial Unicode MS" pitchFamily="34" charset="-128"/>
              </a:rPr>
              <a:t>{n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 i="1">
                <a:latin typeface="Arial Unicode MS" pitchFamily="34" charset="-128"/>
              </a:rPr>
              <a:t>, …, n</a:t>
            </a:r>
            <a:r>
              <a:rPr lang="en-US" sz="2400" i="1" baseline="-25000">
                <a:latin typeface="Arial Unicode MS" pitchFamily="34" charset="-128"/>
              </a:rPr>
              <a:t>k</a:t>
            </a:r>
            <a:r>
              <a:rPr lang="en-US" sz="2400" i="1">
                <a:latin typeface="Arial Unicode MS" pitchFamily="34" charset="-128"/>
              </a:rPr>
              <a:t>}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What happens?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>
                <a:latin typeface="Arial Unicode MS" pitchFamily="34" charset="-128"/>
              </a:rPr>
              <a:t> is selected, and its end is tested for being a goal.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New paths are created attaching </a:t>
            </a:r>
            <a:r>
              <a:rPr lang="en-US" sz="2000" i="1">
                <a:latin typeface="Arial Unicode MS" pitchFamily="34" charset="-128"/>
              </a:rPr>
              <a:t>{n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, …, n</a:t>
            </a:r>
            <a:r>
              <a:rPr lang="en-US" sz="2000" i="1" baseline="-25000">
                <a:latin typeface="Arial Unicode MS" pitchFamily="34" charset="-128"/>
              </a:rPr>
              <a:t>k</a:t>
            </a:r>
            <a:r>
              <a:rPr lang="en-US" sz="2000" i="1">
                <a:latin typeface="Arial Unicode MS" pitchFamily="34" charset="-128"/>
              </a:rPr>
              <a:t>} to 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endParaRPr lang="en-US" sz="2000">
              <a:latin typeface="Arial Unicode MS" pitchFamily="34" charset="-128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These “</a:t>
            </a:r>
            <a:r>
              <a:rPr lang="en-US" sz="2000">
                <a:solidFill>
                  <a:schemeClr val="accent2"/>
                </a:solidFill>
                <a:latin typeface="Arial Unicode MS" pitchFamily="34" charset="-128"/>
              </a:rPr>
              <a:t>replace”</a:t>
            </a:r>
            <a:r>
              <a:rPr lang="en-US" sz="2000">
                <a:latin typeface="Arial Unicode MS" pitchFamily="34" charset="-128"/>
              </a:rPr>
              <a:t> </a:t>
            </a: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1 </a:t>
            </a:r>
            <a:r>
              <a:rPr lang="en-US" sz="2000">
                <a:latin typeface="Arial Unicode MS" pitchFamily="34" charset="-128"/>
              </a:rPr>
              <a:t>at the beginning of the frontier.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Thus, the frontier is now </a:t>
            </a:r>
            <a:r>
              <a:rPr lang="en-US" sz="2000" i="1">
                <a:latin typeface="Arial Unicode MS" pitchFamily="34" charset="-128"/>
              </a:rPr>
              <a:t>[(p</a:t>
            </a:r>
            <a:r>
              <a:rPr lang="en-US" sz="2000" i="1" baseline="-25000">
                <a:latin typeface="Arial Unicode MS" pitchFamily="34" charset="-128"/>
              </a:rPr>
              <a:t>1, </a:t>
            </a:r>
            <a:r>
              <a:rPr lang="en-US" sz="2000" i="1">
                <a:latin typeface="Arial Unicode MS" pitchFamily="34" charset="-128"/>
              </a:rPr>
              <a:t>n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), …, (p</a:t>
            </a:r>
            <a:r>
              <a:rPr lang="en-US" sz="2000" i="1" baseline="-25000">
                <a:latin typeface="Arial Unicode MS" pitchFamily="34" charset="-128"/>
              </a:rPr>
              <a:t>1, </a:t>
            </a:r>
            <a:r>
              <a:rPr lang="en-US" sz="2000" i="1">
                <a:latin typeface="Arial Unicode MS" pitchFamily="34" charset="-128"/>
              </a:rPr>
              <a:t>n</a:t>
            </a:r>
            <a:r>
              <a:rPr lang="en-US" sz="2000" i="1" baseline="-25000">
                <a:latin typeface="Arial Unicode MS" pitchFamily="34" charset="-128"/>
              </a:rPr>
              <a:t>k</a:t>
            </a:r>
            <a:r>
              <a:rPr lang="en-US" sz="2000" i="1">
                <a:latin typeface="Arial Unicode MS" pitchFamily="34" charset="-128"/>
              </a:rPr>
              <a:t>), p</a:t>
            </a:r>
            <a:r>
              <a:rPr lang="en-US" sz="2000" i="1" baseline="-25000">
                <a:latin typeface="Arial Unicode MS" pitchFamily="34" charset="-128"/>
              </a:rPr>
              <a:t>2</a:t>
            </a:r>
            <a:r>
              <a:rPr lang="en-US" sz="2000" i="1">
                <a:latin typeface="Arial Unicode MS" pitchFamily="34" charset="-128"/>
              </a:rPr>
              <a:t>, …, p</a:t>
            </a:r>
            <a:r>
              <a:rPr lang="en-US" sz="2000" i="1" baseline="-25000">
                <a:latin typeface="Arial Unicode MS" pitchFamily="34" charset="-128"/>
              </a:rPr>
              <a:t>r</a:t>
            </a:r>
            <a:r>
              <a:rPr lang="en-US" sz="2000" i="1">
                <a:latin typeface="Arial Unicode MS" pitchFamily="34" charset="-128"/>
              </a:rPr>
              <a:t>]</a:t>
            </a:r>
            <a:r>
              <a:rPr lang="en-US" sz="2000">
                <a:latin typeface="Arial Unicode MS" pitchFamily="34" charset="-128"/>
              </a:rPr>
              <a:t> 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2</a:t>
            </a:r>
            <a:r>
              <a:rPr lang="en-US" sz="2000">
                <a:latin typeface="Arial Unicode MS" pitchFamily="34" charset="-128"/>
              </a:rPr>
              <a:t> is only selected when all paths extending </a:t>
            </a: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>
                <a:latin typeface="Arial Unicode MS" pitchFamily="34" charset="-128"/>
              </a:rPr>
              <a:t> have been explored.</a:t>
            </a:r>
          </a:p>
        </p:txBody>
      </p:sp>
      <p:sp>
        <p:nvSpPr>
          <p:cNvPr id="5144" name="Text Box 5"/>
          <p:cNvSpPr txBox="1">
            <a:spLocks noChangeArrowheads="1"/>
          </p:cNvSpPr>
          <p:nvPr/>
        </p:nvSpPr>
        <p:spPr bwMode="auto">
          <a:xfrm>
            <a:off x="1835150" y="5734050"/>
            <a:ext cx="184150" cy="519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pic>
        <p:nvPicPr>
          <p:cNvPr id="514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29313" y="6378575"/>
            <a:ext cx="12969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967C479-041D-4D92-AE04-FC10D47BA4B9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61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smtClean="0"/>
              <a:t>Depth-first search: Illustrative Graph --- Depth-first Search Frontier</a:t>
            </a:r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>
            <p:ph idx="1"/>
          </p:nvPr>
        </p:nvGraphicFramePr>
        <p:xfrm>
          <a:off x="827088" y="1052513"/>
          <a:ext cx="7632700" cy="4778375"/>
        </p:xfrm>
        <a:graphic>
          <a:graphicData uri="http://schemas.openxmlformats.org/presentationml/2006/ole">
            <p:oleObj spid="_x0000_s230402" name="Acrobat Document" r:id="rId4" imgW="3666667" imgH="2295238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746D08F5-A203-4B23-A76D-EAEEC7AD2A2C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7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Depth-first Search: Analysis of DFS</a:t>
            </a:r>
          </a:p>
        </p:txBody>
      </p:sp>
      <p:sp>
        <p:nvSpPr>
          <p:cNvPr id="7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323850" y="90805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Arial Unicode MS" pitchFamily="34" charset="-128"/>
              </a:rPr>
              <a:t>Is DFS </a:t>
            </a:r>
            <a:r>
              <a:rPr lang="en-US" sz="2400" dirty="0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 sz="2400" dirty="0">
                <a:latin typeface="Arial Unicode MS" pitchFamily="34" charset="-128"/>
              </a:rPr>
              <a:t>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Is </a:t>
            </a:r>
            <a:r>
              <a:rPr lang="en-US" sz="2400" dirty="0">
                <a:latin typeface="Arial Unicode MS" pitchFamily="34" charset="-128"/>
              </a:rPr>
              <a:t>DFS </a:t>
            </a:r>
            <a:r>
              <a:rPr lang="en-US" sz="2400" dirty="0">
                <a:solidFill>
                  <a:schemeClr val="accent2"/>
                </a:solidFill>
                <a:latin typeface="Arial Unicode MS" pitchFamily="34" charset="-128"/>
              </a:rPr>
              <a:t>optimal</a:t>
            </a:r>
            <a:r>
              <a:rPr lang="en-US" sz="2400" dirty="0">
                <a:latin typeface="Arial Unicode MS" pitchFamily="34" charset="-128"/>
              </a:rPr>
              <a:t>?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What </a:t>
            </a:r>
            <a:r>
              <a:rPr lang="en-US" sz="2400" dirty="0">
                <a:latin typeface="Arial Unicode MS" pitchFamily="34" charset="-128"/>
              </a:rPr>
              <a:t>is </a:t>
            </a:r>
            <a:r>
              <a:rPr lang="en-US" sz="2400" dirty="0" smtClean="0">
                <a:latin typeface="Arial Unicode MS" pitchFamily="34" charset="-128"/>
              </a:rPr>
              <a:t>its </a:t>
            </a:r>
            <a:r>
              <a:rPr lang="en-US" sz="2400" dirty="0" smtClean="0">
                <a:solidFill>
                  <a:schemeClr val="accent2"/>
                </a:solidFill>
                <a:latin typeface="Arial Unicode MS" pitchFamily="34" charset="-128"/>
              </a:rPr>
              <a:t>time complexity</a:t>
            </a:r>
            <a:r>
              <a:rPr lang="en-US" sz="2400" dirty="0" smtClean="0">
                <a:latin typeface="Arial Unicode MS" pitchFamily="34" charset="-128"/>
              </a:rPr>
              <a:t>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What </a:t>
            </a:r>
            <a:r>
              <a:rPr lang="en-US" sz="2400" dirty="0">
                <a:latin typeface="Arial Unicode MS" pitchFamily="34" charset="-128"/>
              </a:rPr>
              <a:t>is </a:t>
            </a:r>
            <a:r>
              <a:rPr lang="en-US" sz="2400" dirty="0" smtClean="0">
                <a:latin typeface="Arial Unicode MS" pitchFamily="34" charset="-128"/>
              </a:rPr>
              <a:t>its </a:t>
            </a:r>
            <a:r>
              <a:rPr lang="en-US" sz="2400" dirty="0" smtClean="0">
                <a:solidFill>
                  <a:schemeClr val="accent6"/>
                </a:solidFill>
                <a:latin typeface="Arial Unicode MS" pitchFamily="34" charset="-128"/>
              </a:rPr>
              <a:t>space </a:t>
            </a:r>
            <a:r>
              <a:rPr lang="en-US" sz="2400" dirty="0">
                <a:solidFill>
                  <a:schemeClr val="accent6"/>
                </a:solidFill>
                <a:latin typeface="Arial Unicode MS" pitchFamily="34" charset="-128"/>
              </a:rPr>
              <a:t>complexity</a:t>
            </a:r>
            <a:r>
              <a:rPr lang="en-US" sz="2400" dirty="0" smtClean="0">
                <a:latin typeface="Arial Unicode MS" pitchFamily="34" charset="-128"/>
              </a:rPr>
              <a:t>?</a:t>
            </a:r>
            <a:endParaRPr lang="en-US" sz="2400" dirty="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746D08F5-A203-4B23-A76D-EAEEC7AD2A2C}" type="slidenum">
              <a:rPr lang="en-US"/>
              <a:pPr>
                <a:defRPr/>
              </a:pPr>
              <a:t>22</a:t>
            </a:fld>
            <a:endParaRPr lang="en-US"/>
          </a:p>
        </p:txBody>
      </p:sp>
      <p:sp>
        <p:nvSpPr>
          <p:cNvPr id="7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smtClean="0"/>
              <a:t>Depth-first Search: Analysis of DFS</a:t>
            </a:r>
          </a:p>
        </p:txBody>
      </p:sp>
      <p:sp>
        <p:nvSpPr>
          <p:cNvPr id="7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323850" y="90805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Is DFS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Depth-first search isn't guaranteed to halt on infinite graphs or on graphs with cycles.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However, DFS </a:t>
            </a:r>
            <a:r>
              <a:rPr lang="en-US" sz="2000" b="1" i="1">
                <a:latin typeface="Arial Unicode MS" pitchFamily="34" charset="-128"/>
              </a:rPr>
              <a:t>is</a:t>
            </a:r>
            <a:r>
              <a:rPr lang="en-US" sz="2000">
                <a:latin typeface="Arial Unicode MS" pitchFamily="34" charset="-128"/>
              </a:rPr>
              <a:t> complete for finite trees.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Is DFS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optimal</a:t>
            </a:r>
            <a:r>
              <a:rPr lang="en-US" sz="2400">
                <a:latin typeface="Arial Unicode MS" pitchFamily="34" charset="-128"/>
              </a:rPr>
              <a:t>?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What is the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time complexity</a:t>
            </a:r>
            <a:r>
              <a:rPr lang="en-US" sz="2400">
                <a:latin typeface="Arial Unicode MS" pitchFamily="34" charset="-128"/>
              </a:rPr>
              <a:t>, if the maximum path length is </a:t>
            </a:r>
            <a:r>
              <a:rPr lang="en-US" sz="2400" i="1">
                <a:latin typeface="Arial Unicode MS" pitchFamily="34" charset="-128"/>
              </a:rPr>
              <a:t>m</a:t>
            </a:r>
            <a:r>
              <a:rPr lang="en-US" sz="2400">
                <a:latin typeface="Arial Unicode MS" pitchFamily="34" charset="-128"/>
              </a:rPr>
              <a:t> and the maximum branching factor is </a:t>
            </a:r>
            <a:r>
              <a:rPr lang="en-US" sz="2400" i="1">
                <a:latin typeface="Arial Unicode MS" pitchFamily="34" charset="-128"/>
              </a:rPr>
              <a:t>b 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The time complexity is </a:t>
            </a:r>
            <a:r>
              <a:rPr lang="en-US" sz="2000" i="1">
                <a:latin typeface="Arial Unicode MS" pitchFamily="34" charset="-128"/>
              </a:rPr>
              <a:t>?            ?</a:t>
            </a:r>
            <a:r>
              <a:rPr lang="en-US" sz="2000">
                <a:latin typeface="Arial Unicode MS" pitchFamily="34" charset="-128"/>
              </a:rPr>
              <a:t>: must examine every node in the tree.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Search is unconstrained by the goal until it happens to stumble on the goal.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What is the </a:t>
            </a:r>
            <a:r>
              <a:rPr lang="en-US" sz="2400" i="1">
                <a:latin typeface="Arial Unicode MS" pitchFamily="34" charset="-128"/>
              </a:rPr>
              <a:t>space complexity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Space complexity is </a:t>
            </a:r>
            <a:r>
              <a:rPr lang="en-US" sz="2000" i="1">
                <a:latin typeface="Arial Unicode MS" pitchFamily="34" charset="-128"/>
              </a:rPr>
              <a:t>?           ?</a:t>
            </a:r>
            <a:r>
              <a:rPr lang="en-US" sz="2000">
                <a:latin typeface="Arial Unicode MS" pitchFamily="34" charset="-128"/>
              </a:rPr>
              <a:t> the longest possible path is </a:t>
            </a:r>
            <a:r>
              <a:rPr lang="en-US" sz="2000" i="1">
                <a:latin typeface="Arial Unicode MS" pitchFamily="34" charset="-128"/>
              </a:rPr>
              <a:t>m</a:t>
            </a:r>
            <a:r>
              <a:rPr lang="en-US" sz="2000">
                <a:latin typeface="Arial Unicode MS" pitchFamily="34" charset="-128"/>
              </a:rPr>
              <a:t>, and for every node in that path must maintain a fringe of size </a:t>
            </a:r>
            <a:r>
              <a:rPr lang="en-US" sz="2000" i="1">
                <a:latin typeface="Arial Unicode MS" pitchFamily="34" charset="-128"/>
              </a:rPr>
              <a:t>b</a:t>
            </a:r>
            <a:r>
              <a:rPr lang="en-US" sz="2000">
                <a:latin typeface="Arial Unicode MS" pitchFamily="34" charset="-128"/>
              </a:rPr>
              <a:t>.</a:t>
            </a:r>
          </a:p>
        </p:txBody>
      </p:sp>
      <p:pic>
        <p:nvPicPr>
          <p:cNvPr id="718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143250" y="2428875"/>
            <a:ext cx="12969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81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51275" y="1628775"/>
            <a:ext cx="12969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78B475F3-9263-4E6C-9903-576398B2281B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8201" name="Rectangle 6"/>
          <p:cNvSpPr>
            <a:spLocks noChangeArrowheads="1"/>
          </p:cNvSpPr>
          <p:nvPr/>
        </p:nvSpPr>
        <p:spPr bwMode="auto">
          <a:xfrm>
            <a:off x="500063" y="928688"/>
            <a:ext cx="8458200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Appropriate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Space is restricted (complex state representation e.g., robotics)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There are many solutions, perhaps with long path lengths, particularly for the case in which all paths lead to a solution</a:t>
            </a:r>
          </a:p>
        </p:txBody>
      </p:sp>
      <p:sp>
        <p:nvSpPr>
          <p:cNvPr id="8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smtClean="0"/>
              <a:t>Depth-first Search: When it is appropriate?</a:t>
            </a:r>
          </a:p>
        </p:txBody>
      </p:sp>
      <p:sp>
        <p:nvSpPr>
          <p:cNvPr id="416772" name="Rectangle 4"/>
          <p:cNvSpPr>
            <a:spLocks noChangeArrowheads="1"/>
          </p:cNvSpPr>
          <p:nvPr/>
        </p:nvSpPr>
        <p:spPr bwMode="auto">
          <a:xfrm>
            <a:off x="428625" y="3929063"/>
            <a:ext cx="8458200" cy="165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Inappropriate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Infinite / cycles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There are shallow solutions</a:t>
            </a:r>
          </a:p>
        </p:txBody>
      </p:sp>
      <p:pic>
        <p:nvPicPr>
          <p:cNvPr id="820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95513" y="3068638"/>
            <a:ext cx="12969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2BBDDF6-6D85-490E-8389-E18A1806ED1B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839200" cy="755650"/>
          </a:xfrm>
        </p:spPr>
        <p:txBody>
          <a:bodyPr/>
          <a:lstStyle/>
          <a:p>
            <a:pPr eaLnBrk="1" hangingPunct="1"/>
            <a:r>
              <a:rPr lang="en-US" sz="3200" smtClean="0"/>
              <a:t>Why  DFS need to be studied and understood?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9223" name="Rectangle 4"/>
          <p:cNvSpPr>
            <a:spLocks noChangeArrowheads="1"/>
          </p:cNvSpPr>
          <p:nvPr/>
        </p:nvSpPr>
        <p:spPr bwMode="auto">
          <a:xfrm>
            <a:off x="323850" y="1052513"/>
            <a:ext cx="8458200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>
                <a:latin typeface="Arial Unicode MS" pitchFamily="34" charset="-128"/>
              </a:rPr>
              <a:t>It is simple enough to allow you to learn the basic aspects of searching (When compared with breadth first)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dirty="0">
              <a:latin typeface="Arial Unicode MS" pitchFamily="34" charset="-128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57188" y="3857625"/>
            <a:ext cx="8458200" cy="10001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accent6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dirty="0">
                <a:latin typeface="Arial Unicode MS" pitchFamily="34" charset="-128"/>
              </a:rPr>
              <a:t>It is the basis for a number of more sophisticated / useful search algorithms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D9D00054-35EB-4C23-BA9B-E4BE817EDD36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102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Breadth-first Search: BFS</a:t>
            </a:r>
          </a:p>
        </p:txBody>
      </p:sp>
      <p:sp>
        <p:nvSpPr>
          <p:cNvPr id="102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0249" name="Rectangle 4"/>
          <p:cNvSpPr>
            <a:spLocks noChangeArrowheads="1"/>
          </p:cNvSpPr>
          <p:nvPr/>
        </p:nvSpPr>
        <p:spPr bwMode="auto">
          <a:xfrm>
            <a:off x="357188" y="928688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Breadth-first search </a:t>
            </a:r>
            <a:r>
              <a:rPr lang="en-US" sz="2400">
                <a:latin typeface="Arial Unicode MS" pitchFamily="34" charset="-128"/>
              </a:rPr>
              <a:t>treats the frontier as a </a:t>
            </a:r>
            <a:r>
              <a:rPr lang="en-US" sz="2400" b="1">
                <a:solidFill>
                  <a:schemeClr val="accent2"/>
                </a:solidFill>
                <a:latin typeface="Arial Unicode MS" pitchFamily="34" charset="-128"/>
              </a:rPr>
              <a:t>queue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it always selects one of the earliest elements added to the frontier.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</a:pPr>
            <a:endParaRPr lang="en-US" sz="20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Example</a:t>
            </a:r>
            <a:r>
              <a:rPr lang="en-US">
                <a:latin typeface="Arial Unicode MS" pitchFamily="34" charset="-128"/>
              </a:rPr>
              <a:t>: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 frontier is </a:t>
            </a:r>
            <a:r>
              <a:rPr lang="en-US" sz="2400" i="1">
                <a:latin typeface="Arial Unicode MS" pitchFamily="34" charset="-128"/>
              </a:rPr>
              <a:t>[p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 i="1">
                <a:latin typeface="Arial Unicode MS" pitchFamily="34" charset="-128"/>
              </a:rPr>
              <a:t>,p</a:t>
            </a:r>
            <a:r>
              <a:rPr lang="en-US" sz="2400" i="1" baseline="-25000">
                <a:latin typeface="Arial Unicode MS" pitchFamily="34" charset="-128"/>
              </a:rPr>
              <a:t>2</a:t>
            </a:r>
            <a:r>
              <a:rPr lang="en-US" sz="2400" i="1">
                <a:latin typeface="Arial Unicode MS" pitchFamily="34" charset="-128"/>
              </a:rPr>
              <a:t>, …, p</a:t>
            </a:r>
            <a:r>
              <a:rPr lang="en-US" sz="2400" i="1" baseline="-25000">
                <a:latin typeface="Arial Unicode MS" pitchFamily="34" charset="-128"/>
              </a:rPr>
              <a:t>r</a:t>
            </a:r>
            <a:r>
              <a:rPr lang="en-US" sz="2400" i="1">
                <a:latin typeface="Arial Unicode MS" pitchFamily="34" charset="-128"/>
              </a:rPr>
              <a:t>]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neighbors of  the last node of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>
                <a:latin typeface="Arial Unicode MS" pitchFamily="34" charset="-128"/>
              </a:rPr>
              <a:t> are </a:t>
            </a:r>
            <a:r>
              <a:rPr lang="en-US" sz="2400" i="1">
                <a:latin typeface="Arial Unicode MS" pitchFamily="34" charset="-128"/>
              </a:rPr>
              <a:t>{n</a:t>
            </a:r>
            <a:r>
              <a:rPr lang="en-US" sz="2400" i="1" baseline="-25000">
                <a:latin typeface="Arial Unicode MS" pitchFamily="34" charset="-128"/>
              </a:rPr>
              <a:t>1</a:t>
            </a:r>
            <a:r>
              <a:rPr lang="en-US" sz="2400" i="1">
                <a:latin typeface="Arial Unicode MS" pitchFamily="34" charset="-128"/>
              </a:rPr>
              <a:t>, …, n</a:t>
            </a:r>
            <a:r>
              <a:rPr lang="en-US" sz="2400" i="1" baseline="-25000">
                <a:latin typeface="Arial Unicode MS" pitchFamily="34" charset="-128"/>
              </a:rPr>
              <a:t>k</a:t>
            </a:r>
            <a:r>
              <a:rPr lang="en-US" sz="2400" i="1">
                <a:latin typeface="Arial Unicode MS" pitchFamily="34" charset="-128"/>
              </a:rPr>
              <a:t>}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What happens?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>
                <a:latin typeface="Arial Unicode MS" pitchFamily="34" charset="-128"/>
              </a:rPr>
              <a:t> is selected, and its end tested for being a path to the goal.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New paths are created attaching </a:t>
            </a:r>
            <a:r>
              <a:rPr lang="en-US" sz="2000" i="1">
                <a:latin typeface="Arial Unicode MS" pitchFamily="34" charset="-128"/>
              </a:rPr>
              <a:t>{n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, …, n</a:t>
            </a:r>
            <a:r>
              <a:rPr lang="en-US" sz="2000" i="1" baseline="-25000">
                <a:latin typeface="Arial Unicode MS" pitchFamily="34" charset="-128"/>
              </a:rPr>
              <a:t>k</a:t>
            </a:r>
            <a:r>
              <a:rPr lang="en-US" sz="2000" i="1">
                <a:latin typeface="Arial Unicode MS" pitchFamily="34" charset="-128"/>
              </a:rPr>
              <a:t>} to 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endParaRPr lang="en-US" sz="2000">
              <a:latin typeface="Arial Unicode MS" pitchFamily="34" charset="-128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These follow </a:t>
            </a: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r</a:t>
            </a:r>
            <a:r>
              <a:rPr lang="en-US" sz="2000">
                <a:latin typeface="Arial Unicode MS" pitchFamily="34" charset="-128"/>
              </a:rPr>
              <a:t> at the end of the frontier.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Thus, the frontier is now </a:t>
            </a:r>
            <a:r>
              <a:rPr lang="en-US" sz="2000" i="1">
                <a:latin typeface="Arial Unicode MS" pitchFamily="34" charset="-128"/>
              </a:rPr>
              <a:t>[p</a:t>
            </a:r>
            <a:r>
              <a:rPr lang="en-US" sz="2000" i="1" baseline="-25000">
                <a:latin typeface="Arial Unicode MS" pitchFamily="34" charset="-128"/>
              </a:rPr>
              <a:t>2</a:t>
            </a:r>
            <a:r>
              <a:rPr lang="en-US" sz="2000" i="1">
                <a:latin typeface="Arial Unicode MS" pitchFamily="34" charset="-128"/>
              </a:rPr>
              <a:t>, …, p</a:t>
            </a:r>
            <a:r>
              <a:rPr lang="en-US" sz="2000" i="1" baseline="-25000">
                <a:latin typeface="Arial Unicode MS" pitchFamily="34" charset="-128"/>
              </a:rPr>
              <a:t>r</a:t>
            </a:r>
            <a:r>
              <a:rPr lang="en-US" sz="2000" i="1">
                <a:latin typeface="Arial Unicode MS" pitchFamily="34" charset="-128"/>
              </a:rPr>
              <a:t>, (p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, n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), …, (p</a:t>
            </a:r>
            <a:r>
              <a:rPr lang="en-US" sz="2000" i="1" baseline="-25000">
                <a:latin typeface="Arial Unicode MS" pitchFamily="34" charset="-128"/>
              </a:rPr>
              <a:t>1</a:t>
            </a:r>
            <a:r>
              <a:rPr lang="en-US" sz="2000" i="1">
                <a:latin typeface="Arial Unicode MS" pitchFamily="34" charset="-128"/>
              </a:rPr>
              <a:t>, n</a:t>
            </a:r>
            <a:r>
              <a:rPr lang="en-US" sz="2000" i="1" baseline="-25000">
                <a:latin typeface="Arial Unicode MS" pitchFamily="34" charset="-128"/>
              </a:rPr>
              <a:t>k</a:t>
            </a:r>
            <a:r>
              <a:rPr lang="en-US" sz="2000" i="1">
                <a:latin typeface="Arial Unicode MS" pitchFamily="34" charset="-128"/>
              </a:rPr>
              <a:t>)]</a:t>
            </a:r>
            <a:r>
              <a:rPr lang="en-US" sz="2000">
                <a:latin typeface="Arial Unicode MS" pitchFamily="34" charset="-128"/>
              </a:rPr>
              <a:t>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 i="1">
                <a:latin typeface="Arial Unicode MS" pitchFamily="34" charset="-128"/>
              </a:rPr>
              <a:t>p</a:t>
            </a:r>
            <a:r>
              <a:rPr lang="en-US" sz="2000" i="1" baseline="-25000">
                <a:latin typeface="Arial Unicode MS" pitchFamily="34" charset="-128"/>
              </a:rPr>
              <a:t>2</a:t>
            </a:r>
            <a:r>
              <a:rPr lang="en-US" sz="2000">
                <a:latin typeface="Arial Unicode MS" pitchFamily="34" charset="-128"/>
              </a:rPr>
              <a:t> is selected next.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1851B4D-B558-4DB0-BDA9-60857BC86F83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Illustrative Graph - Breadth-first Search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graphicFrame>
        <p:nvGraphicFramePr>
          <p:cNvPr id="11266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684213" y="1052513"/>
          <a:ext cx="7764462" cy="4860925"/>
        </p:xfrm>
        <a:graphic>
          <a:graphicData uri="http://schemas.openxmlformats.org/presentationml/2006/ole">
            <p:oleObj spid="_x0000_s235522" name="Acrobat Document" r:id="rId4" imgW="3666667" imgH="2295238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746D08F5-A203-4B23-A76D-EAEEC7AD2A2C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7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 smtClean="0"/>
              <a:t>Breadth Search: Analysis of BFS</a:t>
            </a:r>
          </a:p>
        </p:txBody>
      </p:sp>
      <p:sp>
        <p:nvSpPr>
          <p:cNvPr id="7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4342" name="Rectangle 4"/>
          <p:cNvSpPr>
            <a:spLocks noChangeArrowheads="1"/>
          </p:cNvSpPr>
          <p:nvPr/>
        </p:nvSpPr>
        <p:spPr bwMode="auto">
          <a:xfrm>
            <a:off x="323850" y="90805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>
                <a:latin typeface="Arial Unicode MS" pitchFamily="34" charset="-128"/>
              </a:rPr>
              <a:t>Is </a:t>
            </a:r>
            <a:r>
              <a:rPr lang="en-US" sz="2400" dirty="0" smtClean="0">
                <a:latin typeface="Arial Unicode MS" pitchFamily="34" charset="-128"/>
              </a:rPr>
              <a:t>BFS </a:t>
            </a:r>
            <a:r>
              <a:rPr lang="en-US" sz="2400" dirty="0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 sz="2400" dirty="0">
                <a:latin typeface="Arial Unicode MS" pitchFamily="34" charset="-128"/>
              </a:rPr>
              <a:t>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Is BFS </a:t>
            </a:r>
            <a:r>
              <a:rPr lang="en-US" sz="2400" dirty="0">
                <a:solidFill>
                  <a:schemeClr val="accent2"/>
                </a:solidFill>
                <a:latin typeface="Arial Unicode MS" pitchFamily="34" charset="-128"/>
              </a:rPr>
              <a:t>optimal</a:t>
            </a:r>
            <a:r>
              <a:rPr lang="en-US" sz="2400" dirty="0">
                <a:latin typeface="Arial Unicode MS" pitchFamily="34" charset="-128"/>
              </a:rPr>
              <a:t>?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What </a:t>
            </a:r>
            <a:r>
              <a:rPr lang="en-US" sz="2400" dirty="0">
                <a:latin typeface="Arial Unicode MS" pitchFamily="34" charset="-128"/>
              </a:rPr>
              <a:t>is </a:t>
            </a:r>
            <a:r>
              <a:rPr lang="en-US" sz="2400" dirty="0" smtClean="0">
                <a:latin typeface="Arial Unicode MS" pitchFamily="34" charset="-128"/>
              </a:rPr>
              <a:t>its </a:t>
            </a:r>
            <a:r>
              <a:rPr lang="en-US" sz="2400" dirty="0" smtClean="0">
                <a:solidFill>
                  <a:schemeClr val="accent2"/>
                </a:solidFill>
                <a:latin typeface="Arial Unicode MS" pitchFamily="34" charset="-128"/>
              </a:rPr>
              <a:t>time complexity</a:t>
            </a:r>
            <a:r>
              <a:rPr lang="en-US" sz="2400" dirty="0" smtClean="0">
                <a:latin typeface="Arial Unicode MS" pitchFamily="34" charset="-128"/>
              </a:rPr>
              <a:t>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 sz="2400" dirty="0" smtClean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latin typeface="Arial Unicode MS" pitchFamily="34" charset="-128"/>
              </a:rPr>
              <a:t>What </a:t>
            </a:r>
            <a:r>
              <a:rPr lang="en-US" sz="2400" dirty="0">
                <a:latin typeface="Arial Unicode MS" pitchFamily="34" charset="-128"/>
              </a:rPr>
              <a:t>is </a:t>
            </a:r>
            <a:r>
              <a:rPr lang="en-US" sz="2400" dirty="0" smtClean="0">
                <a:latin typeface="Arial Unicode MS" pitchFamily="34" charset="-128"/>
              </a:rPr>
              <a:t>its </a:t>
            </a:r>
            <a:r>
              <a:rPr lang="en-US" sz="2400" dirty="0" smtClean="0">
                <a:solidFill>
                  <a:schemeClr val="accent6"/>
                </a:solidFill>
                <a:latin typeface="Arial Unicode MS" pitchFamily="34" charset="-128"/>
              </a:rPr>
              <a:t>space </a:t>
            </a:r>
            <a:r>
              <a:rPr lang="en-US" sz="2400" dirty="0">
                <a:solidFill>
                  <a:schemeClr val="accent6"/>
                </a:solidFill>
                <a:latin typeface="Arial Unicode MS" pitchFamily="34" charset="-128"/>
              </a:rPr>
              <a:t>complexity</a:t>
            </a:r>
            <a:r>
              <a:rPr lang="en-US" sz="2400" dirty="0" smtClean="0">
                <a:latin typeface="Arial Unicode MS" pitchFamily="34" charset="-128"/>
              </a:rPr>
              <a:t>?</a:t>
            </a:r>
            <a:endParaRPr lang="en-US" sz="2400" dirty="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ADC02AE2-8B82-43A5-833A-DA930ADE735C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122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of Breadth-First Search</a:t>
            </a:r>
          </a:p>
        </p:txBody>
      </p:sp>
      <p:sp>
        <p:nvSpPr>
          <p:cNvPr id="122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9462" name="Rectangle 4"/>
          <p:cNvSpPr>
            <a:spLocks noChangeArrowheads="1"/>
          </p:cNvSpPr>
          <p:nvPr/>
        </p:nvSpPr>
        <p:spPr bwMode="auto">
          <a:xfrm>
            <a:off x="395288" y="908050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Is BFS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Yes (we are assuming finite branching factor)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endParaRPr lang="en-US" sz="2000">
              <a:latin typeface="Arial Unicode MS" pitchFamily="34" charset="-128"/>
            </a:endParaRP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In fact, BFS is guaranteed to find the path that involves the fewest arcs (why?)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What is the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time complexity</a:t>
            </a:r>
            <a:r>
              <a:rPr lang="en-US" sz="2400">
                <a:latin typeface="Arial Unicode MS" pitchFamily="34" charset="-128"/>
              </a:rPr>
              <a:t>, if the maximum path length is </a:t>
            </a:r>
            <a:r>
              <a:rPr lang="en-US" sz="2400" i="1">
                <a:latin typeface="Arial Unicode MS" pitchFamily="34" charset="-128"/>
              </a:rPr>
              <a:t>m</a:t>
            </a:r>
            <a:r>
              <a:rPr lang="en-US" sz="2400">
                <a:latin typeface="Arial Unicode MS" pitchFamily="34" charset="-128"/>
              </a:rPr>
              <a:t> and the maximum branching factor is </a:t>
            </a:r>
            <a:r>
              <a:rPr lang="en-US" sz="2400" i="1">
                <a:latin typeface="Arial Unicode MS" pitchFamily="34" charset="-128"/>
              </a:rPr>
              <a:t>b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The time complexity is </a:t>
            </a:r>
            <a:r>
              <a:rPr lang="en-US" sz="2000" i="1">
                <a:latin typeface="Arial Unicode MS" pitchFamily="34" charset="-128"/>
              </a:rPr>
              <a:t>?           ?</a:t>
            </a:r>
            <a:r>
              <a:rPr lang="en-US" sz="2000">
                <a:latin typeface="Arial Unicode MS" pitchFamily="34" charset="-128"/>
              </a:rPr>
              <a:t> must examine every node in the tree.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The order in which we examine nodes (BFS or DFS) makes no difference to the worst case: search is unconstrained by the goal.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What is the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space complexity</a:t>
            </a:r>
            <a:r>
              <a:rPr lang="en-US" sz="2400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Space complexity is </a:t>
            </a:r>
            <a:r>
              <a:rPr lang="en-US" sz="2000" i="1">
                <a:latin typeface="Arial Unicode MS" pitchFamily="34" charset="-128"/>
              </a:rPr>
              <a:t>?                ?</a:t>
            </a:r>
            <a:endParaRPr lang="en-US" sz="1800">
              <a:latin typeface="Arial Unicode MS" pitchFamily="34" charset="-128"/>
            </a:endParaRPr>
          </a:p>
        </p:txBody>
      </p:sp>
      <p:pic>
        <p:nvPicPr>
          <p:cNvPr id="1229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4625" y="2428875"/>
            <a:ext cx="1008063" cy="37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9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16688" y="1484313"/>
            <a:ext cx="1150937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5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406A71C-CBFA-467D-8A88-59AE6B41D75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13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Using Breadth-first Search</a:t>
            </a:r>
          </a:p>
        </p:txBody>
      </p:sp>
      <p:sp>
        <p:nvSpPr>
          <p:cNvPr id="133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3325" name="Rectangle 4"/>
          <p:cNvSpPr>
            <a:spLocks noChangeArrowheads="1"/>
          </p:cNvSpPr>
          <p:nvPr/>
        </p:nvSpPr>
        <p:spPr bwMode="auto">
          <a:xfrm>
            <a:off x="395288" y="908050"/>
            <a:ext cx="8458200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When is BFS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appropriate</a:t>
            </a:r>
            <a:r>
              <a:rPr lang="en-US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space is not a problem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it's necessary to find the solution with the fewest arcs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although all solutions may not be shallow, at least some are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there may be infinite paths</a:t>
            </a:r>
          </a:p>
        </p:txBody>
      </p:sp>
      <p:sp>
        <p:nvSpPr>
          <p:cNvPr id="440325" name="Rectangle 5"/>
          <p:cNvSpPr>
            <a:spLocks noChangeArrowheads="1"/>
          </p:cNvSpPr>
          <p:nvPr/>
        </p:nvSpPr>
        <p:spPr bwMode="auto">
          <a:xfrm>
            <a:off x="395288" y="3860800"/>
            <a:ext cx="84582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When is BFS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inappropriate</a:t>
            </a:r>
            <a:r>
              <a:rPr lang="en-US">
                <a:latin typeface="Arial Unicode MS" pitchFamily="34" charset="-128"/>
              </a:rPr>
              <a:t>?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space is limited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all solutions tend to be located deep in the tree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 branching factor is very large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5D879AB-A6DB-4E75-8975-B476BE6050C9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5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Iterative Deepening </a:t>
            </a:r>
            <a:r>
              <a:rPr lang="en-US" sz="2800" smtClean="0"/>
              <a:t>(sec 3.6.3)</a:t>
            </a:r>
            <a:endParaRPr lang="en-US" smtClean="0"/>
          </a:p>
        </p:txBody>
      </p:sp>
      <p:sp>
        <p:nvSpPr>
          <p:cNvPr id="446467" name="Rectangle 3"/>
          <p:cNvSpPr>
            <a:spLocks noChangeArrowheads="1"/>
          </p:cNvSpPr>
          <p:nvPr/>
        </p:nvSpPr>
        <p:spPr bwMode="auto">
          <a:xfrm>
            <a:off x="250825" y="1052513"/>
            <a:ext cx="820896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How can we achieve an acceptable (linear) space complexity maintaining completeness and optimality?</a:t>
            </a:r>
          </a:p>
          <a:p>
            <a:pPr marL="342900" indent="-342900">
              <a:lnSpc>
                <a:spcPct val="20000"/>
              </a:lnSpc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  <p:graphicFrame>
        <p:nvGraphicFramePr>
          <p:cNvPr id="5122" name="Object 4"/>
          <p:cNvGraphicFramePr>
            <a:graphicFrameLocks noChangeAspect="1"/>
          </p:cNvGraphicFramePr>
          <p:nvPr>
            <p:ph idx="1"/>
          </p:nvPr>
        </p:nvGraphicFramePr>
        <p:xfrm>
          <a:off x="7812088" y="549275"/>
          <a:ext cx="677862" cy="1458913"/>
        </p:xfrm>
        <a:graphic>
          <a:graphicData uri="http://schemas.openxmlformats.org/presentationml/2006/ole">
            <p:oleObj spid="_x0000_s240642" name="Clip" r:id="rId4" imgW="1857600" imgH="3995640" progId="">
              <p:embed/>
            </p:oleObj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85750" y="4929188"/>
            <a:ext cx="82089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20000"/>
              </a:lnSpc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Key Idea:</a:t>
            </a:r>
            <a:r>
              <a:rPr lang="en-US" sz="2400">
                <a:latin typeface="Arial Unicode MS" pitchFamily="34" charset="-128"/>
              </a:rPr>
              <a:t> let’s re-compute elements of the frontier rather than saving them.</a:t>
            </a:r>
          </a:p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  <p:graphicFrame>
        <p:nvGraphicFramePr>
          <p:cNvPr id="9" name="Group 38"/>
          <p:cNvGraphicFramePr>
            <a:graphicFrameLocks/>
          </p:cNvGraphicFramePr>
          <p:nvPr/>
        </p:nvGraphicFramePr>
        <p:xfrm>
          <a:off x="285750" y="2000250"/>
          <a:ext cx="8429684" cy="2928958"/>
        </p:xfrm>
        <a:graphic>
          <a:graphicData uri="http://schemas.openxmlformats.org/drawingml/2006/table">
            <a:tbl>
              <a:tblPr/>
              <a:tblGrid>
                <a:gridCol w="1685302"/>
                <a:gridCol w="1855261"/>
                <a:gridCol w="1518518"/>
                <a:gridCol w="1685301"/>
                <a:gridCol w="1685302"/>
              </a:tblGrid>
              <a:tr h="7128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Complete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Optimal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Space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035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DFS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28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BFS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28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034C856-455B-4768-B916-1A159F45489F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6150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285750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Iterative Deepening in Essence</a:t>
            </a:r>
          </a:p>
        </p:txBody>
      </p:sp>
      <p:sp>
        <p:nvSpPr>
          <p:cNvPr id="446467" name="Rectangle 3"/>
          <p:cNvSpPr>
            <a:spLocks noChangeArrowheads="1"/>
          </p:cNvSpPr>
          <p:nvPr/>
        </p:nvSpPr>
        <p:spPr bwMode="auto">
          <a:xfrm>
            <a:off x="357188" y="1071563"/>
            <a:ext cx="8208962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 sz="2400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latin typeface="Arial Unicode MS" pitchFamily="34" charset="-128"/>
              </a:rPr>
              <a:t>Look with DFS for solutions at depth </a:t>
            </a:r>
            <a:r>
              <a:rPr lang="en-US" sz="2400" dirty="0" smtClean="0">
                <a:latin typeface="Arial Unicode MS" pitchFamily="34" charset="-128"/>
              </a:rPr>
              <a:t>1</a:t>
            </a:r>
            <a:r>
              <a:rPr lang="en-US" sz="2400" dirty="0">
                <a:latin typeface="Arial Unicode MS" pitchFamily="34" charset="-128"/>
              </a:rPr>
              <a:t>, then 2, then 3, etc.</a:t>
            </a:r>
          </a:p>
          <a:p>
            <a:pPr marL="342900" indent="-342900">
              <a:lnSpc>
                <a:spcPct val="7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2400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latin typeface="Arial Unicode MS" pitchFamily="34" charset="-128"/>
              </a:rPr>
              <a:t>If a solution cannot be found at depth </a:t>
            </a:r>
            <a:r>
              <a:rPr lang="en-US" sz="2400" i="1" dirty="0">
                <a:latin typeface="Arial Unicode MS" pitchFamily="34" charset="-128"/>
              </a:rPr>
              <a:t>D</a:t>
            </a:r>
            <a:r>
              <a:rPr lang="en-US" sz="2400" dirty="0">
                <a:latin typeface="Arial Unicode MS" pitchFamily="34" charset="-128"/>
              </a:rPr>
              <a:t>, look for a solution at depth </a:t>
            </a:r>
            <a:r>
              <a:rPr lang="en-US" sz="2400" i="1" dirty="0">
                <a:latin typeface="Arial Unicode MS" pitchFamily="34" charset="-128"/>
              </a:rPr>
              <a:t>D </a:t>
            </a:r>
            <a:r>
              <a:rPr lang="en-US" sz="2400" dirty="0">
                <a:latin typeface="Arial Unicode MS" pitchFamily="34" charset="-128"/>
              </a:rPr>
              <a:t>+ 1. 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endParaRPr lang="en-US" sz="2400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latin typeface="Arial Unicode MS" pitchFamily="34" charset="-128"/>
              </a:rPr>
              <a:t>You need a </a:t>
            </a:r>
            <a:r>
              <a:rPr lang="en-US" sz="2400" dirty="0">
                <a:solidFill>
                  <a:schemeClr val="accent2"/>
                </a:solidFill>
                <a:latin typeface="Arial Unicode MS" pitchFamily="34" charset="-128"/>
              </a:rPr>
              <a:t>depth-bounded depth-first searcher</a:t>
            </a:r>
            <a:r>
              <a:rPr lang="en-US" sz="2400" dirty="0">
                <a:latin typeface="Arial Unicode MS" pitchFamily="34" charset="-128"/>
              </a:rPr>
              <a:t>.</a:t>
            </a:r>
          </a:p>
          <a:p>
            <a:pPr marL="342900" indent="-342900">
              <a:lnSpc>
                <a:spcPct val="7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2400" dirty="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dirty="0">
                <a:latin typeface="Arial Unicode MS" pitchFamily="34" charset="-128"/>
              </a:rPr>
              <a:t>Given a bound B you simply assume that paths of length B cannot be expanded….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1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D3EE1E30-C9C9-49DF-B209-614499B460F4}" type="slidenum">
              <a:rPr lang="en-US"/>
              <a:pPr>
                <a:defRPr/>
              </a:pPr>
              <a:t>32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67000" y="1871663"/>
            <a:ext cx="457200" cy="609600"/>
            <a:chOff x="1728" y="624"/>
            <a:chExt cx="288" cy="384"/>
          </a:xfrm>
        </p:grpSpPr>
        <p:sp>
          <p:nvSpPr>
            <p:cNvPr id="7290" name="Line 3"/>
            <p:cNvSpPr>
              <a:spLocks noChangeShapeType="1"/>
            </p:cNvSpPr>
            <p:nvPr/>
          </p:nvSpPr>
          <p:spPr bwMode="auto">
            <a:xfrm>
              <a:off x="1872" y="67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91" name="Line 4"/>
            <p:cNvSpPr>
              <a:spLocks noChangeShapeType="1"/>
            </p:cNvSpPr>
            <p:nvPr/>
          </p:nvSpPr>
          <p:spPr bwMode="auto">
            <a:xfrm flipH="1">
              <a:off x="1776" y="624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92" name="Oval 5"/>
            <p:cNvSpPr>
              <a:spLocks noChangeArrowheads="1"/>
            </p:cNvSpPr>
            <p:nvPr/>
          </p:nvSpPr>
          <p:spPr bwMode="auto">
            <a:xfrm>
              <a:off x="1920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93" name="Oval 6"/>
            <p:cNvSpPr>
              <a:spLocks noChangeArrowheads="1"/>
            </p:cNvSpPr>
            <p:nvPr/>
          </p:nvSpPr>
          <p:spPr bwMode="auto">
            <a:xfrm>
              <a:off x="1728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5029200" y="2481263"/>
            <a:ext cx="457200" cy="609600"/>
            <a:chOff x="1728" y="624"/>
            <a:chExt cx="288" cy="384"/>
          </a:xfrm>
        </p:grpSpPr>
        <p:sp>
          <p:nvSpPr>
            <p:cNvPr id="7286" name="Line 8"/>
            <p:cNvSpPr>
              <a:spLocks noChangeShapeType="1"/>
            </p:cNvSpPr>
            <p:nvPr/>
          </p:nvSpPr>
          <p:spPr bwMode="auto">
            <a:xfrm>
              <a:off x="1872" y="67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87" name="Line 9"/>
            <p:cNvSpPr>
              <a:spLocks noChangeShapeType="1"/>
            </p:cNvSpPr>
            <p:nvPr/>
          </p:nvSpPr>
          <p:spPr bwMode="auto">
            <a:xfrm flipH="1">
              <a:off x="1776" y="624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88" name="Oval 10"/>
            <p:cNvSpPr>
              <a:spLocks noChangeArrowheads="1"/>
            </p:cNvSpPr>
            <p:nvPr/>
          </p:nvSpPr>
          <p:spPr bwMode="auto">
            <a:xfrm>
              <a:off x="1920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89" name="Oval 11"/>
            <p:cNvSpPr>
              <a:spLocks noChangeArrowheads="1"/>
            </p:cNvSpPr>
            <p:nvPr/>
          </p:nvSpPr>
          <p:spPr bwMode="auto">
            <a:xfrm>
              <a:off x="1728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75" name="Text Box 12"/>
          <p:cNvSpPr txBox="1">
            <a:spLocks noChangeArrowheads="1"/>
          </p:cNvSpPr>
          <p:nvPr/>
        </p:nvSpPr>
        <p:spPr bwMode="auto">
          <a:xfrm>
            <a:off x="357188" y="714375"/>
            <a:ext cx="1154112" cy="298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endParaRPr lang="en-US" sz="2000"/>
          </a:p>
          <a:p>
            <a:pPr eaLnBrk="0" hangingPunct="0">
              <a:lnSpc>
                <a:spcPct val="40000"/>
              </a:lnSpc>
            </a:pPr>
            <a:r>
              <a:rPr lang="en-US" sz="2000"/>
              <a:t>depth = 1</a:t>
            </a:r>
          </a:p>
          <a:p>
            <a:pPr eaLnBrk="0" hangingPunct="0"/>
            <a:endParaRPr lang="en-US" sz="2000"/>
          </a:p>
          <a:p>
            <a:pPr eaLnBrk="0" hangingPunct="0"/>
            <a:endParaRPr lang="en-US" sz="2000"/>
          </a:p>
          <a:p>
            <a:pPr eaLnBrk="0" hangingPunct="0"/>
            <a:r>
              <a:rPr lang="en-US" sz="2000"/>
              <a:t>depth = 2</a:t>
            </a:r>
          </a:p>
          <a:p>
            <a:pPr eaLnBrk="0" hangingPunct="0"/>
            <a:endParaRPr lang="en-US" sz="2000"/>
          </a:p>
          <a:p>
            <a:pPr eaLnBrk="0" hangingPunct="0"/>
            <a:endParaRPr lang="en-US" sz="2000"/>
          </a:p>
          <a:p>
            <a:pPr eaLnBrk="0" hangingPunct="0"/>
            <a:endParaRPr lang="en-US" sz="2000"/>
          </a:p>
          <a:p>
            <a:pPr eaLnBrk="0" hangingPunct="0"/>
            <a:endParaRPr lang="en-US" sz="2000"/>
          </a:p>
          <a:p>
            <a:pPr eaLnBrk="0" hangingPunct="0"/>
            <a:r>
              <a:rPr lang="en-US" sz="2000"/>
              <a:t>depth = 3</a:t>
            </a:r>
          </a:p>
        </p:txBody>
      </p:sp>
      <p:sp>
        <p:nvSpPr>
          <p:cNvPr id="448526" name="Oval 14"/>
          <p:cNvSpPr>
            <a:spLocks noChangeArrowheads="1"/>
          </p:cNvSpPr>
          <p:nvPr/>
        </p:nvSpPr>
        <p:spPr bwMode="auto">
          <a:xfrm>
            <a:off x="1905000" y="94456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2438400" y="957263"/>
            <a:ext cx="457200" cy="685800"/>
            <a:chOff x="1536" y="603"/>
            <a:chExt cx="288" cy="432"/>
          </a:xfrm>
        </p:grpSpPr>
        <p:grpSp>
          <p:nvGrpSpPr>
            <p:cNvPr id="5" name="Group 16"/>
            <p:cNvGrpSpPr>
              <a:grpSpLocks/>
            </p:cNvGrpSpPr>
            <p:nvPr/>
          </p:nvGrpSpPr>
          <p:grpSpPr bwMode="auto">
            <a:xfrm>
              <a:off x="1536" y="651"/>
              <a:ext cx="288" cy="384"/>
              <a:chOff x="1728" y="624"/>
              <a:chExt cx="288" cy="384"/>
            </a:xfrm>
          </p:grpSpPr>
          <p:sp>
            <p:nvSpPr>
              <p:cNvPr id="7282" name="Line 17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83" name="Line 18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84" name="Oval 19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85" name="Oval 20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81" name="Oval 21"/>
            <p:cNvSpPr>
              <a:spLocks noChangeArrowheads="1"/>
            </p:cNvSpPr>
            <p:nvPr/>
          </p:nvSpPr>
          <p:spPr bwMode="auto">
            <a:xfrm>
              <a:off x="1632" y="603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48534" name="Oval 22"/>
          <p:cNvSpPr>
            <a:spLocks noChangeArrowheads="1"/>
          </p:cNvSpPr>
          <p:nvPr/>
        </p:nvSpPr>
        <p:spPr bwMode="auto">
          <a:xfrm>
            <a:off x="1905000" y="179546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3733800" y="1795463"/>
            <a:ext cx="457200" cy="685800"/>
            <a:chOff x="1728" y="576"/>
            <a:chExt cx="288" cy="432"/>
          </a:xfrm>
        </p:grpSpPr>
        <p:sp>
          <p:nvSpPr>
            <p:cNvPr id="7275" name="Line 24"/>
            <p:cNvSpPr>
              <a:spLocks noChangeShapeType="1"/>
            </p:cNvSpPr>
            <p:nvPr/>
          </p:nvSpPr>
          <p:spPr bwMode="auto">
            <a:xfrm>
              <a:off x="1872" y="67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76" name="Line 25"/>
            <p:cNvSpPr>
              <a:spLocks noChangeShapeType="1"/>
            </p:cNvSpPr>
            <p:nvPr/>
          </p:nvSpPr>
          <p:spPr bwMode="auto">
            <a:xfrm flipH="1">
              <a:off x="1776" y="624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77" name="Oval 26"/>
            <p:cNvSpPr>
              <a:spLocks noChangeArrowheads="1"/>
            </p:cNvSpPr>
            <p:nvPr/>
          </p:nvSpPr>
          <p:spPr bwMode="auto">
            <a:xfrm>
              <a:off x="1824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8" name="Oval 27"/>
            <p:cNvSpPr>
              <a:spLocks noChangeArrowheads="1"/>
            </p:cNvSpPr>
            <p:nvPr/>
          </p:nvSpPr>
          <p:spPr bwMode="auto">
            <a:xfrm>
              <a:off x="1920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9" name="Oval 28"/>
            <p:cNvSpPr>
              <a:spLocks noChangeArrowheads="1"/>
            </p:cNvSpPr>
            <p:nvPr/>
          </p:nvSpPr>
          <p:spPr bwMode="auto">
            <a:xfrm>
              <a:off x="1728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" name="Group 29"/>
          <p:cNvGrpSpPr>
            <a:grpSpLocks/>
          </p:cNvGrpSpPr>
          <p:nvPr/>
        </p:nvGrpSpPr>
        <p:grpSpPr bwMode="auto">
          <a:xfrm>
            <a:off x="3581400" y="2481263"/>
            <a:ext cx="457200" cy="609600"/>
            <a:chOff x="1728" y="624"/>
            <a:chExt cx="288" cy="384"/>
          </a:xfrm>
        </p:grpSpPr>
        <p:sp>
          <p:nvSpPr>
            <p:cNvPr id="7271" name="Line 30"/>
            <p:cNvSpPr>
              <a:spLocks noChangeShapeType="1"/>
            </p:cNvSpPr>
            <p:nvPr/>
          </p:nvSpPr>
          <p:spPr bwMode="auto">
            <a:xfrm>
              <a:off x="1872" y="67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72" name="Line 31"/>
            <p:cNvSpPr>
              <a:spLocks noChangeShapeType="1"/>
            </p:cNvSpPr>
            <p:nvPr/>
          </p:nvSpPr>
          <p:spPr bwMode="auto">
            <a:xfrm flipH="1">
              <a:off x="1776" y="624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73" name="Oval 32"/>
            <p:cNvSpPr>
              <a:spLocks noChangeArrowheads="1"/>
            </p:cNvSpPr>
            <p:nvPr/>
          </p:nvSpPr>
          <p:spPr bwMode="auto">
            <a:xfrm>
              <a:off x="1920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4" name="Oval 33"/>
            <p:cNvSpPr>
              <a:spLocks noChangeArrowheads="1"/>
            </p:cNvSpPr>
            <p:nvPr/>
          </p:nvSpPr>
          <p:spPr bwMode="auto">
            <a:xfrm>
              <a:off x="1728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34"/>
          <p:cNvGrpSpPr>
            <a:grpSpLocks/>
          </p:cNvGrpSpPr>
          <p:nvPr/>
        </p:nvGrpSpPr>
        <p:grpSpPr bwMode="auto">
          <a:xfrm>
            <a:off x="4876800" y="1871663"/>
            <a:ext cx="457200" cy="685800"/>
            <a:chOff x="1728" y="576"/>
            <a:chExt cx="288" cy="432"/>
          </a:xfrm>
        </p:grpSpPr>
        <p:sp>
          <p:nvSpPr>
            <p:cNvPr id="7266" name="Line 35"/>
            <p:cNvSpPr>
              <a:spLocks noChangeShapeType="1"/>
            </p:cNvSpPr>
            <p:nvPr/>
          </p:nvSpPr>
          <p:spPr bwMode="auto">
            <a:xfrm>
              <a:off x="1872" y="672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67" name="Line 36"/>
            <p:cNvSpPr>
              <a:spLocks noChangeShapeType="1"/>
            </p:cNvSpPr>
            <p:nvPr/>
          </p:nvSpPr>
          <p:spPr bwMode="auto">
            <a:xfrm flipH="1">
              <a:off x="1776" y="624"/>
              <a:ext cx="96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CA"/>
            </a:p>
          </p:txBody>
        </p:sp>
        <p:sp>
          <p:nvSpPr>
            <p:cNvPr id="7268" name="Oval 37"/>
            <p:cNvSpPr>
              <a:spLocks noChangeArrowheads="1"/>
            </p:cNvSpPr>
            <p:nvPr/>
          </p:nvSpPr>
          <p:spPr bwMode="auto">
            <a:xfrm>
              <a:off x="1824" y="576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69" name="Oval 38"/>
            <p:cNvSpPr>
              <a:spLocks noChangeArrowheads="1"/>
            </p:cNvSpPr>
            <p:nvPr/>
          </p:nvSpPr>
          <p:spPr bwMode="auto">
            <a:xfrm>
              <a:off x="1920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70" name="Oval 39"/>
            <p:cNvSpPr>
              <a:spLocks noChangeArrowheads="1"/>
            </p:cNvSpPr>
            <p:nvPr/>
          </p:nvSpPr>
          <p:spPr bwMode="auto">
            <a:xfrm>
              <a:off x="1728" y="912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2" name="Line 40"/>
          <p:cNvSpPr>
            <a:spLocks noChangeShapeType="1"/>
          </p:cNvSpPr>
          <p:nvPr/>
        </p:nvSpPr>
        <p:spPr bwMode="auto">
          <a:xfrm>
            <a:off x="76200" y="804863"/>
            <a:ext cx="891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183" name="Line 41"/>
          <p:cNvSpPr>
            <a:spLocks noChangeShapeType="1"/>
          </p:cNvSpPr>
          <p:nvPr/>
        </p:nvSpPr>
        <p:spPr bwMode="auto">
          <a:xfrm>
            <a:off x="0" y="1700213"/>
            <a:ext cx="891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7184" name="Line 42"/>
          <p:cNvSpPr>
            <a:spLocks noChangeShapeType="1"/>
          </p:cNvSpPr>
          <p:nvPr/>
        </p:nvSpPr>
        <p:spPr bwMode="auto">
          <a:xfrm>
            <a:off x="76200" y="3167063"/>
            <a:ext cx="891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448555" name="Oval 43"/>
          <p:cNvSpPr>
            <a:spLocks noChangeArrowheads="1"/>
          </p:cNvSpPr>
          <p:nvPr/>
        </p:nvSpPr>
        <p:spPr bwMode="auto">
          <a:xfrm>
            <a:off x="2819400" y="1795463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1905000" y="3243263"/>
            <a:ext cx="6934200" cy="1981200"/>
            <a:chOff x="1200" y="1920"/>
            <a:chExt cx="4368" cy="1248"/>
          </a:xfrm>
        </p:grpSpPr>
        <p:grpSp>
          <p:nvGrpSpPr>
            <p:cNvPr id="10" name="Group 45"/>
            <p:cNvGrpSpPr>
              <a:grpSpLocks/>
            </p:cNvGrpSpPr>
            <p:nvPr/>
          </p:nvGrpSpPr>
          <p:grpSpPr bwMode="auto">
            <a:xfrm>
              <a:off x="2880" y="2352"/>
              <a:ext cx="288" cy="384"/>
              <a:chOff x="1728" y="624"/>
              <a:chExt cx="288" cy="384"/>
            </a:xfrm>
          </p:grpSpPr>
          <p:sp>
            <p:nvSpPr>
              <p:cNvPr id="7262" name="Line 46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63" name="Line 47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64" name="Oval 48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5" name="Oval 49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189" name="Oval 50"/>
            <p:cNvSpPr>
              <a:spLocks noChangeArrowheads="1"/>
            </p:cNvSpPr>
            <p:nvPr/>
          </p:nvSpPr>
          <p:spPr bwMode="auto">
            <a:xfrm>
              <a:off x="1200" y="1920"/>
              <a:ext cx="96" cy="9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51"/>
            <p:cNvGrpSpPr>
              <a:grpSpLocks/>
            </p:cNvGrpSpPr>
            <p:nvPr/>
          </p:nvGrpSpPr>
          <p:grpSpPr bwMode="auto">
            <a:xfrm>
              <a:off x="2064" y="1920"/>
              <a:ext cx="288" cy="432"/>
              <a:chOff x="1728" y="576"/>
              <a:chExt cx="288" cy="432"/>
            </a:xfrm>
          </p:grpSpPr>
          <p:sp>
            <p:nvSpPr>
              <p:cNvPr id="7257" name="Line 52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58" name="Line 53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59" name="Oval 54"/>
              <p:cNvSpPr>
                <a:spLocks noChangeArrowheads="1"/>
              </p:cNvSpPr>
              <p:nvPr/>
            </p:nvSpPr>
            <p:spPr bwMode="auto">
              <a:xfrm>
                <a:off x="1824" y="5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0" name="Oval 55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61" name="Oval 56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2" name="Group 57"/>
            <p:cNvGrpSpPr>
              <a:grpSpLocks/>
            </p:cNvGrpSpPr>
            <p:nvPr/>
          </p:nvGrpSpPr>
          <p:grpSpPr bwMode="auto">
            <a:xfrm>
              <a:off x="1968" y="2352"/>
              <a:ext cx="288" cy="384"/>
              <a:chOff x="1728" y="624"/>
              <a:chExt cx="288" cy="384"/>
            </a:xfrm>
          </p:grpSpPr>
          <p:sp>
            <p:nvSpPr>
              <p:cNvPr id="7253" name="Line 58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54" name="Line 59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55" name="Oval 60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56" name="Oval 61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3" name="Group 62"/>
            <p:cNvGrpSpPr>
              <a:grpSpLocks/>
            </p:cNvGrpSpPr>
            <p:nvPr/>
          </p:nvGrpSpPr>
          <p:grpSpPr bwMode="auto">
            <a:xfrm>
              <a:off x="2784" y="1968"/>
              <a:ext cx="288" cy="432"/>
              <a:chOff x="1728" y="576"/>
              <a:chExt cx="288" cy="432"/>
            </a:xfrm>
          </p:grpSpPr>
          <p:sp>
            <p:nvSpPr>
              <p:cNvPr id="7248" name="Line 63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49" name="Line 64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50" name="Oval 65"/>
              <p:cNvSpPr>
                <a:spLocks noChangeArrowheads="1"/>
              </p:cNvSpPr>
              <p:nvPr/>
            </p:nvSpPr>
            <p:spPr bwMode="auto">
              <a:xfrm>
                <a:off x="1824" y="5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51" name="Oval 66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52" name="Oval 67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4" name="Group 68"/>
            <p:cNvGrpSpPr>
              <a:grpSpLocks/>
            </p:cNvGrpSpPr>
            <p:nvPr/>
          </p:nvGrpSpPr>
          <p:grpSpPr bwMode="auto">
            <a:xfrm>
              <a:off x="3504" y="1920"/>
              <a:ext cx="288" cy="432"/>
              <a:chOff x="1728" y="576"/>
              <a:chExt cx="288" cy="432"/>
            </a:xfrm>
          </p:grpSpPr>
          <p:sp>
            <p:nvSpPr>
              <p:cNvPr id="7243" name="Line 69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44" name="Line 70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45" name="Oval 71"/>
              <p:cNvSpPr>
                <a:spLocks noChangeArrowheads="1"/>
              </p:cNvSpPr>
              <p:nvPr/>
            </p:nvSpPr>
            <p:spPr bwMode="auto">
              <a:xfrm>
                <a:off x="1824" y="5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46" name="Oval 72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47" name="Oval 73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" name="Group 74"/>
            <p:cNvGrpSpPr>
              <a:grpSpLocks/>
            </p:cNvGrpSpPr>
            <p:nvPr/>
          </p:nvGrpSpPr>
          <p:grpSpPr bwMode="auto">
            <a:xfrm>
              <a:off x="3408" y="2352"/>
              <a:ext cx="288" cy="384"/>
              <a:chOff x="1728" y="624"/>
              <a:chExt cx="288" cy="384"/>
            </a:xfrm>
          </p:grpSpPr>
          <p:sp>
            <p:nvSpPr>
              <p:cNvPr id="7239" name="Line 75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40" name="Line 76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41" name="Oval 77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42" name="Oval 78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" name="Group 79"/>
            <p:cNvGrpSpPr>
              <a:grpSpLocks/>
            </p:cNvGrpSpPr>
            <p:nvPr/>
          </p:nvGrpSpPr>
          <p:grpSpPr bwMode="auto">
            <a:xfrm>
              <a:off x="3312" y="2736"/>
              <a:ext cx="288" cy="384"/>
              <a:chOff x="1728" y="624"/>
              <a:chExt cx="288" cy="384"/>
            </a:xfrm>
          </p:grpSpPr>
          <p:sp>
            <p:nvSpPr>
              <p:cNvPr id="7235" name="Line 80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36" name="Line 81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37" name="Oval 82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8" name="Oval 83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" name="Group 84"/>
            <p:cNvGrpSpPr>
              <a:grpSpLocks/>
            </p:cNvGrpSpPr>
            <p:nvPr/>
          </p:nvGrpSpPr>
          <p:grpSpPr bwMode="auto">
            <a:xfrm>
              <a:off x="4128" y="1920"/>
              <a:ext cx="288" cy="432"/>
              <a:chOff x="1728" y="576"/>
              <a:chExt cx="288" cy="432"/>
            </a:xfrm>
          </p:grpSpPr>
          <p:sp>
            <p:nvSpPr>
              <p:cNvPr id="7230" name="Line 85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31" name="Line 86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32" name="Oval 87"/>
              <p:cNvSpPr>
                <a:spLocks noChangeArrowheads="1"/>
              </p:cNvSpPr>
              <p:nvPr/>
            </p:nvSpPr>
            <p:spPr bwMode="auto">
              <a:xfrm>
                <a:off x="1824" y="5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3" name="Oval 88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4" name="Oval 89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" name="Group 90"/>
            <p:cNvGrpSpPr>
              <a:grpSpLocks/>
            </p:cNvGrpSpPr>
            <p:nvPr/>
          </p:nvGrpSpPr>
          <p:grpSpPr bwMode="auto">
            <a:xfrm>
              <a:off x="4032" y="2352"/>
              <a:ext cx="288" cy="384"/>
              <a:chOff x="1728" y="624"/>
              <a:chExt cx="288" cy="384"/>
            </a:xfrm>
          </p:grpSpPr>
          <p:sp>
            <p:nvSpPr>
              <p:cNvPr id="7226" name="Line 91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27" name="Line 92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28" name="Oval 93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9" name="Oval 94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9" name="Group 95"/>
            <p:cNvGrpSpPr>
              <a:grpSpLocks/>
            </p:cNvGrpSpPr>
            <p:nvPr/>
          </p:nvGrpSpPr>
          <p:grpSpPr bwMode="auto">
            <a:xfrm>
              <a:off x="4128" y="2736"/>
              <a:ext cx="288" cy="384"/>
              <a:chOff x="1728" y="624"/>
              <a:chExt cx="288" cy="384"/>
            </a:xfrm>
          </p:grpSpPr>
          <p:sp>
            <p:nvSpPr>
              <p:cNvPr id="7222" name="Line 96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23" name="Line 97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24" name="Oval 98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5" name="Oval 99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" name="Group 100"/>
            <p:cNvGrpSpPr>
              <a:grpSpLocks/>
            </p:cNvGrpSpPr>
            <p:nvPr/>
          </p:nvGrpSpPr>
          <p:grpSpPr bwMode="auto">
            <a:xfrm>
              <a:off x="5088" y="1968"/>
              <a:ext cx="288" cy="432"/>
              <a:chOff x="1728" y="576"/>
              <a:chExt cx="288" cy="432"/>
            </a:xfrm>
          </p:grpSpPr>
          <p:sp>
            <p:nvSpPr>
              <p:cNvPr id="7217" name="Line 101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8" name="Line 102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9" name="Oval 103"/>
              <p:cNvSpPr>
                <a:spLocks noChangeArrowheads="1"/>
              </p:cNvSpPr>
              <p:nvPr/>
            </p:nvSpPr>
            <p:spPr bwMode="auto">
              <a:xfrm>
                <a:off x="1824" y="5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0" name="Oval 104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1" name="Oval 105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" name="Group 106"/>
            <p:cNvGrpSpPr>
              <a:grpSpLocks/>
            </p:cNvGrpSpPr>
            <p:nvPr/>
          </p:nvGrpSpPr>
          <p:grpSpPr bwMode="auto">
            <a:xfrm>
              <a:off x="5184" y="2400"/>
              <a:ext cx="288" cy="384"/>
              <a:chOff x="1728" y="624"/>
              <a:chExt cx="288" cy="384"/>
            </a:xfrm>
          </p:grpSpPr>
          <p:sp>
            <p:nvSpPr>
              <p:cNvPr id="7213" name="Line 107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4" name="Line 108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5" name="Oval 109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6" name="Oval 110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2" name="Group 111"/>
            <p:cNvGrpSpPr>
              <a:grpSpLocks/>
            </p:cNvGrpSpPr>
            <p:nvPr/>
          </p:nvGrpSpPr>
          <p:grpSpPr bwMode="auto">
            <a:xfrm>
              <a:off x="5280" y="2784"/>
              <a:ext cx="288" cy="384"/>
              <a:chOff x="1728" y="624"/>
              <a:chExt cx="288" cy="384"/>
            </a:xfrm>
          </p:grpSpPr>
          <p:sp>
            <p:nvSpPr>
              <p:cNvPr id="7209" name="Line 112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0" name="Line 113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11" name="Oval 114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2" name="Oval 115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02" name="Text Box 116"/>
            <p:cNvSpPr txBox="1">
              <a:spLocks noChangeArrowheads="1"/>
            </p:cNvSpPr>
            <p:nvPr/>
          </p:nvSpPr>
          <p:spPr bwMode="auto">
            <a:xfrm>
              <a:off x="4368" y="1920"/>
              <a:ext cx="656" cy="5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5400"/>
                <a:t>. . .</a:t>
              </a:r>
            </a:p>
          </p:txBody>
        </p:sp>
        <p:grpSp>
          <p:nvGrpSpPr>
            <p:cNvPr id="23" name="Group 117"/>
            <p:cNvGrpSpPr>
              <a:grpSpLocks/>
            </p:cNvGrpSpPr>
            <p:nvPr/>
          </p:nvGrpSpPr>
          <p:grpSpPr bwMode="auto">
            <a:xfrm>
              <a:off x="1488" y="2004"/>
              <a:ext cx="288" cy="336"/>
              <a:chOff x="1728" y="624"/>
              <a:chExt cx="288" cy="384"/>
            </a:xfrm>
          </p:grpSpPr>
          <p:sp>
            <p:nvSpPr>
              <p:cNvPr id="7205" name="Line 118"/>
              <p:cNvSpPr>
                <a:spLocks noChangeShapeType="1"/>
              </p:cNvSpPr>
              <p:nvPr/>
            </p:nvSpPr>
            <p:spPr bwMode="auto">
              <a:xfrm>
                <a:off x="1872" y="672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06" name="Line 119"/>
              <p:cNvSpPr>
                <a:spLocks noChangeShapeType="1"/>
              </p:cNvSpPr>
              <p:nvPr/>
            </p:nvSpPr>
            <p:spPr bwMode="auto">
              <a:xfrm flipH="1">
                <a:off x="1776" y="624"/>
                <a:ext cx="96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7207" name="Oval 120"/>
              <p:cNvSpPr>
                <a:spLocks noChangeArrowheads="1"/>
              </p:cNvSpPr>
              <p:nvPr/>
            </p:nvSpPr>
            <p:spPr bwMode="auto">
              <a:xfrm>
                <a:off x="1920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8" name="Oval 121"/>
              <p:cNvSpPr>
                <a:spLocks noChangeArrowheads="1"/>
              </p:cNvSpPr>
              <p:nvPr/>
            </p:nvSpPr>
            <p:spPr bwMode="auto">
              <a:xfrm>
                <a:off x="1728" y="912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204" name="Oval 122"/>
            <p:cNvSpPr>
              <a:spLocks noChangeArrowheads="1"/>
            </p:cNvSpPr>
            <p:nvPr/>
          </p:nvSpPr>
          <p:spPr bwMode="auto">
            <a:xfrm>
              <a:off x="1584" y="1920"/>
              <a:ext cx="96" cy="84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7" name="Line 123"/>
          <p:cNvSpPr>
            <a:spLocks noChangeShapeType="1"/>
          </p:cNvSpPr>
          <p:nvPr/>
        </p:nvSpPr>
        <p:spPr bwMode="auto">
          <a:xfrm>
            <a:off x="0" y="5300663"/>
            <a:ext cx="891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26" grpId="0" animBg="1"/>
      <p:bldP spid="448534" grpId="0" animBg="1"/>
      <p:bldP spid="44855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(Time) Complexity of Iterative Deepening</a:t>
            </a:r>
          </a:p>
        </p:txBody>
      </p:sp>
      <p:sp>
        <p:nvSpPr>
          <p:cNvPr id="8230" name="Rectangle 3"/>
          <p:cNvSpPr>
            <a:spLocks noChangeArrowheads="1"/>
          </p:cNvSpPr>
          <p:nvPr/>
        </p:nvSpPr>
        <p:spPr bwMode="auto">
          <a:xfrm>
            <a:off x="0" y="765175"/>
            <a:ext cx="9288463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Complexity of solution at depth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  <a:cs typeface="Times New Roman" pitchFamily="18" charset="0"/>
              </a:rPr>
              <a:t>m</a:t>
            </a: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with branching factor </a:t>
            </a:r>
            <a:r>
              <a:rPr lang="en-US" i="1">
                <a:solidFill>
                  <a:schemeClr val="accent2"/>
                </a:solidFill>
                <a:latin typeface="Arial Unicode MS" pitchFamily="34" charset="-128"/>
                <a:cs typeface="Times New Roman" pitchFamily="18" charset="0"/>
              </a:rPr>
              <a:t>b</a:t>
            </a:r>
          </a:p>
          <a:p>
            <a:pPr marL="342900" indent="-342900">
              <a:spcBef>
                <a:spcPct val="20000"/>
              </a:spcBef>
            </a:pPr>
            <a:endParaRPr lang="en-US" b="1" i="1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</p:txBody>
      </p:sp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2214563" y="1500188"/>
            <a:ext cx="214312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Total # of paths at that level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4143375" y="1500188"/>
            <a:ext cx="23574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#times created by BFS (or DFS)</a:t>
            </a: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6429375" y="1571625"/>
            <a:ext cx="1857375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#times created by 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13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AFCC2B9-4266-4CE7-BA4D-744E0C67BF98}" type="slidenum">
              <a:rPr lang="en-US"/>
              <a:pPr>
                <a:defRPr/>
              </a:pPr>
              <a:t>34</a:t>
            </a:fld>
            <a:endParaRPr lang="en-US"/>
          </a:p>
        </p:txBody>
      </p:sp>
      <p:sp>
        <p:nvSpPr>
          <p:cNvPr id="92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(Time) Complexity of Iterative Deepening</a:t>
            </a:r>
          </a:p>
        </p:txBody>
      </p:sp>
      <p:sp>
        <p:nvSpPr>
          <p:cNvPr id="9231" name="Rectangle 3"/>
          <p:cNvSpPr>
            <a:spLocks noChangeArrowheads="1"/>
          </p:cNvSpPr>
          <p:nvPr/>
        </p:nvSpPr>
        <p:spPr bwMode="auto">
          <a:xfrm>
            <a:off x="0" y="765175"/>
            <a:ext cx="9288463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Complexity of solution at depth m with branching factor </a:t>
            </a:r>
            <a:r>
              <a:rPr lang="en-US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b</a:t>
            </a:r>
          </a:p>
          <a:p>
            <a:pPr marL="342900" indent="-342900">
              <a:spcBef>
                <a:spcPct val="20000"/>
              </a:spcBef>
            </a:pPr>
            <a:endParaRPr lang="en-US" b="1" i="1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</p:txBody>
      </p:sp>
      <p:sp>
        <p:nvSpPr>
          <p:cNvPr id="450568" name="Rectangle 8"/>
          <p:cNvSpPr>
            <a:spLocks noChangeArrowheads="1"/>
          </p:cNvSpPr>
          <p:nvPr/>
        </p:nvSpPr>
        <p:spPr bwMode="auto">
          <a:xfrm>
            <a:off x="428625" y="1500188"/>
            <a:ext cx="8715375" cy="178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32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Total # of paths generated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m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+ 2 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m-1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+ 3 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m-2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+ ..+ mb = </a:t>
            </a:r>
          </a:p>
          <a:p>
            <a:pPr marL="342900" indent="-342900">
              <a:spcBef>
                <a:spcPct val="20000"/>
              </a:spcBef>
            </a:pP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m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(1+ 2 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-1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+ 3 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-2</a:t>
            </a:r>
            <a:r>
              <a:rPr lang="en-US" sz="3200" i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+ ..+m b</a:t>
            </a:r>
            <a:r>
              <a:rPr lang="en-US" sz="3200" i="1" baseline="300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1-m</a:t>
            </a:r>
            <a:r>
              <a:rPr lang="en-US" sz="32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)≤</a:t>
            </a:r>
          </a:p>
        </p:txBody>
      </p:sp>
      <p:graphicFrame>
        <p:nvGraphicFramePr>
          <p:cNvPr id="450569" name="Object 9"/>
          <p:cNvGraphicFramePr>
            <a:graphicFrameLocks noChangeAspect="1"/>
          </p:cNvGraphicFramePr>
          <p:nvPr/>
        </p:nvGraphicFramePr>
        <p:xfrm>
          <a:off x="500063" y="3571875"/>
          <a:ext cx="5383212" cy="1214438"/>
        </p:xfrm>
        <a:graphic>
          <a:graphicData uri="http://schemas.openxmlformats.org/presentationml/2006/ole">
            <p:oleObj spid="_x0000_s244738" name="Equation" r:id="rId4" imgW="2082600" imgH="4698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6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6</a:t>
            </a: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0DD00E4-1FFD-4FA5-92D7-1E305162BA04}" type="slidenum">
              <a:rPr lang="en-US"/>
              <a:pPr>
                <a:defRPr/>
              </a:pPr>
              <a:t>35</a:t>
            </a:fld>
            <a:endParaRPr lang="en-US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Search with Costs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981075"/>
            <a:ext cx="9144000" cy="409575"/>
          </a:xfrm>
        </p:spPr>
        <p:txBody>
          <a:bodyPr/>
          <a:lstStyle/>
          <a:p>
            <a:pPr marL="381000" indent="-381000" eaLnBrk="1" hangingPunct="1">
              <a:lnSpc>
                <a:spcPct val="90000"/>
              </a:lnSpc>
            </a:pPr>
            <a:r>
              <a:rPr lang="en-US" sz="2400" smtClean="0"/>
              <a:t>Sometimes there are </a:t>
            </a:r>
            <a:r>
              <a:rPr lang="en-US" sz="2400" smtClean="0">
                <a:solidFill>
                  <a:schemeClr val="accent2"/>
                </a:solidFill>
              </a:rPr>
              <a:t>costs</a:t>
            </a:r>
            <a:r>
              <a:rPr lang="en-US" sz="2400" smtClean="0"/>
              <a:t> associated with arcs.</a:t>
            </a:r>
          </a:p>
        </p:txBody>
      </p:sp>
      <p:graphicFrame>
        <p:nvGraphicFramePr>
          <p:cNvPr id="10242" name="Object 9"/>
          <p:cNvGraphicFramePr>
            <a:graphicFrameLocks noChangeAspect="1"/>
          </p:cNvGraphicFramePr>
          <p:nvPr>
            <p:ph sz="half" idx="2"/>
          </p:nvPr>
        </p:nvGraphicFramePr>
        <p:xfrm>
          <a:off x="2339752" y="1628800"/>
          <a:ext cx="4152900" cy="820738"/>
        </p:xfrm>
        <a:graphic>
          <a:graphicData uri="http://schemas.openxmlformats.org/presentationml/2006/ole">
            <p:oleObj spid="_x0000_s245762" name="Equation" r:id="rId4" imgW="2184120" imgH="431640" progId="Equation.3">
              <p:embed/>
            </p:oleObj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0" y="3284984"/>
            <a:ext cx="91440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Define optimality…..</a:t>
            </a: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kern="0" dirty="0" smtClean="0">
              <a:latin typeface="+mn-lt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kern="0" dirty="0" smtClean="0">
              <a:latin typeface="+mn-lt"/>
            </a:endParaRPr>
          </a:p>
          <a:p>
            <a:pPr marL="381000" marR="0" lvl="0" indent="-3810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Design an optimal search</a:t>
            </a:r>
            <a:r>
              <a:rPr kumimoji="0" lang="en-US" sz="2400" b="0" i="0" u="none" strike="noStrike" kern="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strategy……</a:t>
            </a:r>
            <a:endParaRPr kumimoji="0" lang="en-US" sz="2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smtClean="0"/>
              <a:t>CPSC 502, Lecture 2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72488EA-2613-4553-A16A-4521158E598A}" type="slidenum">
              <a:rPr lang="en-US" smtClean="0"/>
              <a:pPr/>
              <a:t>36</a:t>
            </a:fld>
            <a:endParaRPr lang="en-US" smtClean="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1143000"/>
          </a:xfrm>
        </p:spPr>
        <p:txBody>
          <a:bodyPr/>
          <a:lstStyle/>
          <a:p>
            <a:pPr eaLnBrk="1" hangingPunct="1"/>
            <a:r>
              <a:rPr lang="en-US" dirty="0" smtClean="0"/>
              <a:t>Today Sept 13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4114800"/>
          </a:xfrm>
        </p:spPr>
        <p:txBody>
          <a:bodyPr/>
          <a:lstStyle/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Uninformed Search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b="1" dirty="0" smtClean="0"/>
              <a:t>Informed Search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….</a:t>
            </a:r>
          </a:p>
          <a:p>
            <a:pPr eaLnBrk="1" hangingPunct="1">
              <a:buFont typeface="Arial" pitchFamily="34" charset="0"/>
              <a:buChar char="•"/>
            </a:pPr>
            <a:r>
              <a:rPr lang="en-US" dirty="0" smtClean="0"/>
              <a:t>….</a:t>
            </a:r>
          </a:p>
          <a:p>
            <a:pPr eaLnBrk="1" hangingPunct="1">
              <a:buFont typeface="Arial" pitchFamily="34" charset="0"/>
              <a:buChar char="•"/>
            </a:pPr>
            <a:endParaRPr lang="en-US" dirty="0" smtClean="0"/>
          </a:p>
          <a:p>
            <a:pPr lvl="1"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49F3243-1317-4B6A-9337-B554F75D9C95}" type="slidenum">
              <a:rPr lang="en-US"/>
              <a:pPr>
                <a:defRPr/>
              </a:pPr>
              <a:t>37</a:t>
            </a:fld>
            <a:endParaRPr lang="en-US"/>
          </a:p>
        </p:txBody>
      </p:sp>
      <p:sp>
        <p:nvSpPr>
          <p:cNvPr id="25604" name="Rectangle 2"/>
          <p:cNvSpPr>
            <a:spLocks noChangeArrowheads="1"/>
          </p:cNvSpPr>
          <p:nvPr/>
        </p:nvSpPr>
        <p:spPr bwMode="auto">
          <a:xfrm>
            <a:off x="5334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25605" name="Rectangle 3"/>
          <p:cNvSpPr>
            <a:spLocks noChangeArrowheads="1"/>
          </p:cNvSpPr>
          <p:nvPr/>
        </p:nvSpPr>
        <p:spPr bwMode="auto">
          <a:xfrm>
            <a:off x="539750" y="1125538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Uninformed/Blind search algorithms do not take into account the goal until they are at a goal node.</a:t>
            </a:r>
          </a:p>
          <a:p>
            <a:pPr marL="342900" indent="-342900">
              <a:lnSpc>
                <a:spcPct val="50000"/>
              </a:lnSpc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Often there is extra knowledge that can be used to guide the search: an </a:t>
            </a:r>
            <a:r>
              <a:rPr lang="en-US" b="1" i="1" dirty="0">
                <a:solidFill>
                  <a:schemeClr val="accent2"/>
                </a:solidFill>
                <a:latin typeface="Arial Unicode MS" pitchFamily="34" charset="-128"/>
                <a:cs typeface="Times New Roman" pitchFamily="18" charset="0"/>
              </a:rPr>
              <a:t>estimate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of 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distance from node </a:t>
            </a:r>
            <a:r>
              <a:rPr lang="en-US" i="1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 to a goal node. </a:t>
            </a: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b="1" i="1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en-US" sz="3600" dirty="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This is called a </a:t>
            </a:r>
            <a:r>
              <a:rPr lang="en-US" sz="3600" b="1" i="1" dirty="0">
                <a:solidFill>
                  <a:schemeClr val="accent2"/>
                </a:solidFill>
                <a:latin typeface="Arial Unicode MS" pitchFamily="34" charset="-128"/>
                <a:cs typeface="Times New Roman" pitchFamily="18" charset="0"/>
              </a:rPr>
              <a:t>heuristic</a:t>
            </a:r>
            <a:endParaRPr lang="en-US" b="1" i="1" dirty="0">
              <a:solidFill>
                <a:schemeClr val="accent2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dirty="0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</p:txBody>
      </p:sp>
      <p:sp>
        <p:nvSpPr>
          <p:cNvPr id="256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Heuristic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DDA2079-4E37-4C62-85B4-EA880BF6FC2A}" type="slidenum">
              <a:rPr lang="en-US"/>
              <a:pPr>
                <a:defRPr/>
              </a:pPr>
              <a:t>38</a:t>
            </a:fld>
            <a:endParaRPr lang="en-US"/>
          </a:p>
        </p:txBody>
      </p:sp>
      <p:sp>
        <p:nvSpPr>
          <p:cNvPr id="71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formally</a:t>
            </a:r>
          </a:p>
        </p:txBody>
      </p:sp>
      <p:sp>
        <p:nvSpPr>
          <p:cNvPr id="7191" name="Rectangle 4"/>
          <p:cNvSpPr>
            <a:spLocks noChangeArrowheads="1"/>
          </p:cNvSpPr>
          <p:nvPr/>
        </p:nvSpPr>
        <p:spPr bwMode="auto">
          <a:xfrm>
            <a:off x="179388" y="981075"/>
            <a:ext cx="8785225" cy="1296988"/>
          </a:xfrm>
          <a:prstGeom prst="rect">
            <a:avLst/>
          </a:prstGeom>
          <a:solidFill>
            <a:srgbClr val="E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Definition (search heuristic)</a:t>
            </a:r>
          </a:p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A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search heuristic </a:t>
            </a:r>
            <a:r>
              <a:rPr lang="en-US" sz="2400" i="1">
                <a:solidFill>
                  <a:schemeClr val="accent2"/>
                </a:solidFill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 is an estimate of the cost of the shortest path from node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a goal node.</a:t>
            </a:r>
          </a:p>
        </p:txBody>
      </p:sp>
      <p:sp>
        <p:nvSpPr>
          <p:cNvPr id="7192" name="Rectangle 5"/>
          <p:cNvSpPr>
            <a:spLocks noChangeArrowheads="1"/>
          </p:cNvSpPr>
          <p:nvPr/>
        </p:nvSpPr>
        <p:spPr bwMode="auto">
          <a:xfrm>
            <a:off x="0" y="2636838"/>
            <a:ext cx="9144000" cy="158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 i="1">
                <a:latin typeface="Arial Unicode MS" pitchFamily="34" charset="-128"/>
              </a:rPr>
              <a:t>h</a:t>
            </a:r>
            <a:r>
              <a:rPr lang="en-US" sz="2400">
                <a:latin typeface="Arial Unicode MS" pitchFamily="34" charset="-128"/>
              </a:rPr>
              <a:t> can be extended to paths:  </a:t>
            </a:r>
            <a:r>
              <a:rPr lang="en-US" sz="2400" i="1">
                <a:latin typeface="Arial Unicode MS" pitchFamily="34" charset="-128"/>
              </a:rPr>
              <a:t>h(</a:t>
            </a:r>
            <a:r>
              <a:rPr lang="en-US" sz="2400" b="1" i="1">
                <a:latin typeface="Arial Unicode MS" pitchFamily="34" charset="-128"/>
                <a:sym typeface="Symbol" pitchFamily="18" charset="2"/>
              </a:rPr>
              <a:t>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 i="1" baseline="-25000">
                <a:latin typeface="Arial Unicode MS" pitchFamily="34" charset="-128"/>
              </a:rPr>
              <a:t>0</a:t>
            </a:r>
            <a:r>
              <a:rPr lang="en-US" sz="2400" i="1">
                <a:latin typeface="Arial Unicode MS" pitchFamily="34" charset="-128"/>
              </a:rPr>
              <a:t>,…,n</a:t>
            </a:r>
            <a:r>
              <a:rPr lang="en-US" sz="2400" i="1" baseline="-25000">
                <a:latin typeface="Arial Unicode MS" pitchFamily="34" charset="-128"/>
              </a:rPr>
              <a:t>k</a:t>
            </a:r>
            <a:r>
              <a:rPr lang="en-US" sz="2400" b="1" i="1">
                <a:latin typeface="Arial Unicode MS" pitchFamily="34" charset="-128"/>
                <a:sym typeface="Symbol" pitchFamily="18" charset="2"/>
              </a:rPr>
              <a:t></a:t>
            </a:r>
            <a:r>
              <a:rPr lang="en-US" sz="2400" i="1">
                <a:latin typeface="Arial Unicode MS" pitchFamily="34" charset="-128"/>
              </a:rPr>
              <a:t>)=h(n</a:t>
            </a:r>
            <a:r>
              <a:rPr lang="en-US" sz="2400" i="1" baseline="-25000">
                <a:latin typeface="Arial Unicode MS" pitchFamily="34" charset="-128"/>
              </a:rPr>
              <a:t>k</a:t>
            </a:r>
            <a:r>
              <a:rPr lang="en-US" sz="2400" i="1">
                <a:latin typeface="Arial Unicode MS" pitchFamily="34" charset="-128"/>
              </a:rPr>
              <a:t>)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 uses only readily obtainable information (that is easy to compute) about a node.</a:t>
            </a:r>
          </a:p>
        </p:txBody>
      </p:sp>
      <p:sp>
        <p:nvSpPr>
          <p:cNvPr id="7193" name="Rectangle 6"/>
          <p:cNvSpPr>
            <a:spLocks noChangeArrowheads="1"/>
          </p:cNvSpPr>
          <p:nvPr/>
        </p:nvSpPr>
        <p:spPr bwMode="auto">
          <a:xfrm>
            <a:off x="34925" y="5300663"/>
            <a:ext cx="914400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endParaRPr lang="en-US" sz="2400">
              <a:latin typeface="Arial Unicode MS" pitchFamily="34" charset="-128"/>
            </a:endParaRPr>
          </a:p>
        </p:txBody>
      </p:sp>
      <p:sp>
        <p:nvSpPr>
          <p:cNvPr id="7194" name="Text Box 7"/>
          <p:cNvSpPr txBox="1">
            <a:spLocks noChangeArrowheads="1"/>
          </p:cNvSpPr>
          <p:nvPr/>
        </p:nvSpPr>
        <p:spPr bwMode="auto">
          <a:xfrm>
            <a:off x="0" y="5300663"/>
            <a:ext cx="9144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n-US" sz="2400">
                <a:latin typeface="Arial Unicode MS" pitchFamily="34" charset="-128"/>
              </a:rPr>
              <a:t> 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1476375" y="3860800"/>
            <a:ext cx="6696075" cy="2246313"/>
            <a:chOff x="1754" y="2713"/>
            <a:chExt cx="2404" cy="1134"/>
          </a:xfrm>
        </p:grpSpPr>
        <p:sp>
          <p:nvSpPr>
            <p:cNvPr id="7196" name="Oval 9"/>
            <p:cNvSpPr>
              <a:spLocks noChangeArrowheads="1"/>
            </p:cNvSpPr>
            <p:nvPr/>
          </p:nvSpPr>
          <p:spPr bwMode="auto">
            <a:xfrm>
              <a:off x="1754" y="3303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97" name="Oval 10"/>
            <p:cNvSpPr>
              <a:spLocks noChangeArrowheads="1"/>
            </p:cNvSpPr>
            <p:nvPr/>
          </p:nvSpPr>
          <p:spPr bwMode="auto">
            <a:xfrm>
              <a:off x="2751" y="3212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98" name="Oval 11"/>
            <p:cNvSpPr>
              <a:spLocks noChangeArrowheads="1"/>
            </p:cNvSpPr>
            <p:nvPr/>
          </p:nvSpPr>
          <p:spPr bwMode="auto">
            <a:xfrm>
              <a:off x="2207" y="2985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199" name="Oval 12"/>
            <p:cNvSpPr>
              <a:spLocks noChangeArrowheads="1"/>
            </p:cNvSpPr>
            <p:nvPr/>
          </p:nvSpPr>
          <p:spPr bwMode="auto">
            <a:xfrm>
              <a:off x="2116" y="3484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00" name="Oval 13"/>
            <p:cNvSpPr>
              <a:spLocks noChangeArrowheads="1"/>
            </p:cNvSpPr>
            <p:nvPr/>
          </p:nvSpPr>
          <p:spPr bwMode="auto">
            <a:xfrm>
              <a:off x="2524" y="3620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01" name="Oval 14"/>
            <p:cNvSpPr>
              <a:spLocks noChangeArrowheads="1"/>
            </p:cNvSpPr>
            <p:nvPr/>
          </p:nvSpPr>
          <p:spPr bwMode="auto">
            <a:xfrm>
              <a:off x="2660" y="2713"/>
              <a:ext cx="227" cy="227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02" name="Line 15"/>
            <p:cNvSpPr>
              <a:spLocks noChangeShapeType="1"/>
            </p:cNvSpPr>
            <p:nvPr/>
          </p:nvSpPr>
          <p:spPr bwMode="auto">
            <a:xfrm flipV="1">
              <a:off x="1935" y="3166"/>
              <a:ext cx="272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CA"/>
            </a:p>
          </p:txBody>
        </p:sp>
        <p:sp>
          <p:nvSpPr>
            <p:cNvPr id="7203" name="Line 16"/>
            <p:cNvSpPr>
              <a:spLocks noChangeShapeType="1"/>
            </p:cNvSpPr>
            <p:nvPr/>
          </p:nvSpPr>
          <p:spPr bwMode="auto">
            <a:xfrm>
              <a:off x="1935" y="3438"/>
              <a:ext cx="227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7204" name="Line 17"/>
            <p:cNvSpPr>
              <a:spLocks noChangeShapeType="1"/>
            </p:cNvSpPr>
            <p:nvPr/>
          </p:nvSpPr>
          <p:spPr bwMode="auto">
            <a:xfrm flipV="1">
              <a:off x="2434" y="2894"/>
              <a:ext cx="272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CA"/>
            </a:p>
          </p:txBody>
        </p:sp>
        <p:sp>
          <p:nvSpPr>
            <p:cNvPr id="7205" name="Line 18"/>
            <p:cNvSpPr>
              <a:spLocks noChangeShapeType="1"/>
            </p:cNvSpPr>
            <p:nvPr/>
          </p:nvSpPr>
          <p:spPr bwMode="auto">
            <a:xfrm>
              <a:off x="2434" y="3121"/>
              <a:ext cx="317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7206" name="Line 19"/>
            <p:cNvSpPr>
              <a:spLocks noChangeShapeType="1"/>
            </p:cNvSpPr>
            <p:nvPr/>
          </p:nvSpPr>
          <p:spPr bwMode="auto">
            <a:xfrm>
              <a:off x="2343" y="3620"/>
              <a:ext cx="227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7207" name="Oval 20"/>
            <p:cNvSpPr>
              <a:spLocks noChangeArrowheads="1"/>
            </p:cNvSpPr>
            <p:nvPr/>
          </p:nvSpPr>
          <p:spPr bwMode="auto">
            <a:xfrm>
              <a:off x="3931" y="3166"/>
              <a:ext cx="227" cy="227"/>
            </a:xfrm>
            <a:prstGeom prst="ellipse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208" name="Freeform 21"/>
            <p:cNvSpPr>
              <a:spLocks/>
            </p:cNvSpPr>
            <p:nvPr/>
          </p:nvSpPr>
          <p:spPr bwMode="auto">
            <a:xfrm>
              <a:off x="2880" y="2750"/>
              <a:ext cx="1108" cy="439"/>
            </a:xfrm>
            <a:custGeom>
              <a:avLst/>
              <a:gdLst>
                <a:gd name="T0" fmla="*/ 2 w 1108"/>
                <a:gd name="T1" fmla="*/ 74 h 439"/>
                <a:gd name="T2" fmla="*/ 75 w 1108"/>
                <a:gd name="T3" fmla="*/ 46 h 439"/>
                <a:gd name="T4" fmla="*/ 212 w 1108"/>
                <a:gd name="T5" fmla="*/ 0 h 439"/>
                <a:gd name="T6" fmla="*/ 367 w 1108"/>
                <a:gd name="T7" fmla="*/ 10 h 439"/>
                <a:gd name="T8" fmla="*/ 523 w 1108"/>
                <a:gd name="T9" fmla="*/ 138 h 439"/>
                <a:gd name="T10" fmla="*/ 660 w 1108"/>
                <a:gd name="T11" fmla="*/ 165 h 439"/>
                <a:gd name="T12" fmla="*/ 733 w 1108"/>
                <a:gd name="T13" fmla="*/ 128 h 439"/>
                <a:gd name="T14" fmla="*/ 797 w 1108"/>
                <a:gd name="T15" fmla="*/ 138 h 439"/>
                <a:gd name="T16" fmla="*/ 824 w 1108"/>
                <a:gd name="T17" fmla="*/ 174 h 439"/>
                <a:gd name="T18" fmla="*/ 898 w 1108"/>
                <a:gd name="T19" fmla="*/ 256 h 439"/>
                <a:gd name="T20" fmla="*/ 1016 w 1108"/>
                <a:gd name="T21" fmla="*/ 293 h 439"/>
                <a:gd name="T22" fmla="*/ 1108 w 1108"/>
                <a:gd name="T23" fmla="*/ 439 h 4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108"/>
                <a:gd name="T37" fmla="*/ 0 h 439"/>
                <a:gd name="T38" fmla="*/ 1108 w 1108"/>
                <a:gd name="T39" fmla="*/ 439 h 4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108" h="439">
                  <a:moveTo>
                    <a:pt x="2" y="74"/>
                  </a:moveTo>
                  <a:cubicBezTo>
                    <a:pt x="38" y="36"/>
                    <a:pt x="0" y="68"/>
                    <a:pt x="75" y="46"/>
                  </a:cubicBezTo>
                  <a:cubicBezTo>
                    <a:pt x="122" y="32"/>
                    <a:pt x="164" y="11"/>
                    <a:pt x="212" y="0"/>
                  </a:cubicBezTo>
                  <a:cubicBezTo>
                    <a:pt x="264" y="3"/>
                    <a:pt x="316" y="5"/>
                    <a:pt x="367" y="10"/>
                  </a:cubicBezTo>
                  <a:cubicBezTo>
                    <a:pt x="435" y="17"/>
                    <a:pt x="472" y="104"/>
                    <a:pt x="523" y="138"/>
                  </a:cubicBezTo>
                  <a:cubicBezTo>
                    <a:pt x="559" y="191"/>
                    <a:pt x="597" y="172"/>
                    <a:pt x="660" y="165"/>
                  </a:cubicBezTo>
                  <a:cubicBezTo>
                    <a:pt x="689" y="155"/>
                    <a:pt x="704" y="139"/>
                    <a:pt x="733" y="128"/>
                  </a:cubicBezTo>
                  <a:cubicBezTo>
                    <a:pt x="754" y="131"/>
                    <a:pt x="778" y="128"/>
                    <a:pt x="797" y="138"/>
                  </a:cubicBezTo>
                  <a:cubicBezTo>
                    <a:pt x="810" y="145"/>
                    <a:pt x="814" y="163"/>
                    <a:pt x="824" y="174"/>
                  </a:cubicBezTo>
                  <a:cubicBezTo>
                    <a:pt x="846" y="200"/>
                    <a:pt x="871" y="235"/>
                    <a:pt x="898" y="256"/>
                  </a:cubicBezTo>
                  <a:cubicBezTo>
                    <a:pt x="936" y="286"/>
                    <a:pt x="967" y="286"/>
                    <a:pt x="1016" y="293"/>
                  </a:cubicBezTo>
                  <a:cubicBezTo>
                    <a:pt x="1079" y="334"/>
                    <a:pt x="1061" y="392"/>
                    <a:pt x="1108" y="43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7209" name="Freeform 22"/>
            <p:cNvSpPr>
              <a:spLocks/>
            </p:cNvSpPr>
            <p:nvPr/>
          </p:nvSpPr>
          <p:spPr bwMode="auto">
            <a:xfrm>
              <a:off x="2982" y="3336"/>
              <a:ext cx="951" cy="164"/>
            </a:xfrm>
            <a:custGeom>
              <a:avLst/>
              <a:gdLst>
                <a:gd name="T0" fmla="*/ 0 w 951"/>
                <a:gd name="T1" fmla="*/ 0 h 164"/>
                <a:gd name="T2" fmla="*/ 18 w 951"/>
                <a:gd name="T3" fmla="*/ 73 h 164"/>
                <a:gd name="T4" fmla="*/ 73 w 951"/>
                <a:gd name="T5" fmla="*/ 109 h 164"/>
                <a:gd name="T6" fmla="*/ 247 w 951"/>
                <a:gd name="T7" fmla="*/ 45 h 164"/>
                <a:gd name="T8" fmla="*/ 320 w 951"/>
                <a:gd name="T9" fmla="*/ 54 h 164"/>
                <a:gd name="T10" fmla="*/ 366 w 951"/>
                <a:gd name="T11" fmla="*/ 100 h 164"/>
                <a:gd name="T12" fmla="*/ 448 w 951"/>
                <a:gd name="T13" fmla="*/ 164 h 164"/>
                <a:gd name="T14" fmla="*/ 558 w 951"/>
                <a:gd name="T15" fmla="*/ 91 h 164"/>
                <a:gd name="T16" fmla="*/ 732 w 951"/>
                <a:gd name="T17" fmla="*/ 128 h 164"/>
                <a:gd name="T18" fmla="*/ 905 w 951"/>
                <a:gd name="T19" fmla="*/ 82 h 164"/>
                <a:gd name="T20" fmla="*/ 942 w 951"/>
                <a:gd name="T21" fmla="*/ 36 h 164"/>
                <a:gd name="T22" fmla="*/ 951 w 951"/>
                <a:gd name="T23" fmla="*/ 9 h 1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51"/>
                <a:gd name="T37" fmla="*/ 0 h 164"/>
                <a:gd name="T38" fmla="*/ 951 w 951"/>
                <a:gd name="T39" fmla="*/ 164 h 16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51" h="164">
                  <a:moveTo>
                    <a:pt x="0" y="0"/>
                  </a:moveTo>
                  <a:cubicBezTo>
                    <a:pt x="5" y="25"/>
                    <a:pt x="0" y="55"/>
                    <a:pt x="18" y="73"/>
                  </a:cubicBezTo>
                  <a:cubicBezTo>
                    <a:pt x="33" y="88"/>
                    <a:pt x="73" y="109"/>
                    <a:pt x="73" y="109"/>
                  </a:cubicBezTo>
                  <a:cubicBezTo>
                    <a:pt x="128" y="74"/>
                    <a:pt x="182" y="56"/>
                    <a:pt x="247" y="45"/>
                  </a:cubicBezTo>
                  <a:cubicBezTo>
                    <a:pt x="271" y="48"/>
                    <a:pt x="298" y="44"/>
                    <a:pt x="320" y="54"/>
                  </a:cubicBezTo>
                  <a:cubicBezTo>
                    <a:pt x="340" y="63"/>
                    <a:pt x="349" y="87"/>
                    <a:pt x="366" y="100"/>
                  </a:cubicBezTo>
                  <a:cubicBezTo>
                    <a:pt x="394" y="122"/>
                    <a:pt x="419" y="145"/>
                    <a:pt x="448" y="164"/>
                  </a:cubicBezTo>
                  <a:cubicBezTo>
                    <a:pt x="477" y="121"/>
                    <a:pt x="510" y="103"/>
                    <a:pt x="558" y="91"/>
                  </a:cubicBezTo>
                  <a:cubicBezTo>
                    <a:pt x="621" y="98"/>
                    <a:pt x="672" y="112"/>
                    <a:pt x="732" y="128"/>
                  </a:cubicBezTo>
                  <a:cubicBezTo>
                    <a:pt x="818" y="121"/>
                    <a:pt x="847" y="137"/>
                    <a:pt x="905" y="82"/>
                  </a:cubicBezTo>
                  <a:cubicBezTo>
                    <a:pt x="924" y="64"/>
                    <a:pt x="929" y="62"/>
                    <a:pt x="942" y="36"/>
                  </a:cubicBezTo>
                  <a:cubicBezTo>
                    <a:pt x="946" y="27"/>
                    <a:pt x="951" y="9"/>
                    <a:pt x="951" y="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7210" name="Freeform 23"/>
            <p:cNvSpPr>
              <a:spLocks/>
            </p:cNvSpPr>
            <p:nvPr/>
          </p:nvSpPr>
          <p:spPr bwMode="auto">
            <a:xfrm>
              <a:off x="2735" y="3381"/>
              <a:ext cx="1401" cy="461"/>
            </a:xfrm>
            <a:custGeom>
              <a:avLst/>
              <a:gdLst>
                <a:gd name="T0" fmla="*/ 0 w 1401"/>
                <a:gd name="T1" fmla="*/ 384 h 461"/>
                <a:gd name="T2" fmla="*/ 348 w 1401"/>
                <a:gd name="T3" fmla="*/ 403 h 461"/>
                <a:gd name="T4" fmla="*/ 457 w 1401"/>
                <a:gd name="T5" fmla="*/ 375 h 461"/>
                <a:gd name="T6" fmla="*/ 595 w 1401"/>
                <a:gd name="T7" fmla="*/ 384 h 461"/>
                <a:gd name="T8" fmla="*/ 640 w 1401"/>
                <a:gd name="T9" fmla="*/ 421 h 461"/>
                <a:gd name="T10" fmla="*/ 704 w 1401"/>
                <a:gd name="T11" fmla="*/ 448 h 461"/>
                <a:gd name="T12" fmla="*/ 841 w 1401"/>
                <a:gd name="T13" fmla="*/ 439 h 461"/>
                <a:gd name="T14" fmla="*/ 1015 w 1401"/>
                <a:gd name="T15" fmla="*/ 393 h 461"/>
                <a:gd name="T16" fmla="*/ 1262 w 1401"/>
                <a:gd name="T17" fmla="*/ 384 h 461"/>
                <a:gd name="T18" fmla="*/ 1381 w 1401"/>
                <a:gd name="T19" fmla="*/ 320 h 461"/>
                <a:gd name="T20" fmla="*/ 1353 w 1401"/>
                <a:gd name="T21" fmla="*/ 147 h 461"/>
                <a:gd name="T22" fmla="*/ 1335 w 1401"/>
                <a:gd name="T23" fmla="*/ 92 h 461"/>
                <a:gd name="T24" fmla="*/ 1353 w 1401"/>
                <a:gd name="T25" fmla="*/ 0 h 4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01"/>
                <a:gd name="T40" fmla="*/ 0 h 461"/>
                <a:gd name="T41" fmla="*/ 1401 w 1401"/>
                <a:gd name="T42" fmla="*/ 461 h 46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01" h="461">
                  <a:moveTo>
                    <a:pt x="0" y="384"/>
                  </a:moveTo>
                  <a:cubicBezTo>
                    <a:pt x="77" y="461"/>
                    <a:pt x="315" y="404"/>
                    <a:pt x="348" y="403"/>
                  </a:cubicBezTo>
                  <a:cubicBezTo>
                    <a:pt x="384" y="390"/>
                    <a:pt x="420" y="384"/>
                    <a:pt x="457" y="375"/>
                  </a:cubicBezTo>
                  <a:cubicBezTo>
                    <a:pt x="503" y="378"/>
                    <a:pt x="549" y="379"/>
                    <a:pt x="595" y="384"/>
                  </a:cubicBezTo>
                  <a:cubicBezTo>
                    <a:pt x="641" y="389"/>
                    <a:pt x="608" y="394"/>
                    <a:pt x="640" y="421"/>
                  </a:cubicBezTo>
                  <a:cubicBezTo>
                    <a:pt x="654" y="433"/>
                    <a:pt x="686" y="442"/>
                    <a:pt x="704" y="448"/>
                  </a:cubicBezTo>
                  <a:cubicBezTo>
                    <a:pt x="750" y="445"/>
                    <a:pt x="796" y="445"/>
                    <a:pt x="841" y="439"/>
                  </a:cubicBezTo>
                  <a:cubicBezTo>
                    <a:pt x="899" y="431"/>
                    <a:pt x="956" y="397"/>
                    <a:pt x="1015" y="393"/>
                  </a:cubicBezTo>
                  <a:cubicBezTo>
                    <a:pt x="1097" y="387"/>
                    <a:pt x="1180" y="387"/>
                    <a:pt x="1262" y="384"/>
                  </a:cubicBezTo>
                  <a:cubicBezTo>
                    <a:pt x="1328" y="373"/>
                    <a:pt x="1338" y="366"/>
                    <a:pt x="1381" y="320"/>
                  </a:cubicBezTo>
                  <a:cubicBezTo>
                    <a:pt x="1401" y="259"/>
                    <a:pt x="1389" y="198"/>
                    <a:pt x="1353" y="147"/>
                  </a:cubicBezTo>
                  <a:cubicBezTo>
                    <a:pt x="1347" y="129"/>
                    <a:pt x="1341" y="110"/>
                    <a:pt x="1335" y="92"/>
                  </a:cubicBezTo>
                  <a:cubicBezTo>
                    <a:pt x="1328" y="71"/>
                    <a:pt x="1353" y="24"/>
                    <a:pt x="1353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164FEBE-519F-4626-9CB8-83966555D55A}" type="slidenum">
              <a:rPr lang="en-US"/>
              <a:pPr>
                <a:defRPr/>
              </a:pPr>
              <a:t>39</a:t>
            </a:fld>
            <a:endParaRPr lang="en-US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More formally (cont.)</a:t>
            </a:r>
          </a:p>
        </p:txBody>
      </p:sp>
      <p:sp>
        <p:nvSpPr>
          <p:cNvPr id="8198" name="Rectangle 3"/>
          <p:cNvSpPr>
            <a:spLocks noChangeArrowheads="1"/>
          </p:cNvSpPr>
          <p:nvPr/>
        </p:nvSpPr>
        <p:spPr bwMode="auto">
          <a:xfrm>
            <a:off x="358775" y="981075"/>
            <a:ext cx="8785225" cy="1295400"/>
          </a:xfrm>
          <a:prstGeom prst="rect">
            <a:avLst/>
          </a:prstGeom>
          <a:solidFill>
            <a:srgbClr val="EF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Definition (</a:t>
            </a:r>
            <a:r>
              <a:rPr lang="en-US" sz="2400" b="1">
                <a:latin typeface="Arial Unicode MS" pitchFamily="34" charset="-128"/>
              </a:rPr>
              <a:t>admissible heuristic</a:t>
            </a:r>
            <a:r>
              <a:rPr lang="en-US" sz="2400">
                <a:latin typeface="Arial Unicode MS" pitchFamily="34" charset="-128"/>
              </a:rPr>
              <a:t>)</a:t>
            </a:r>
          </a:p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A search heuristic </a:t>
            </a: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 is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admissible </a:t>
            </a:r>
            <a:r>
              <a:rPr lang="en-US" sz="2400">
                <a:latin typeface="Arial Unicode MS" pitchFamily="34" charset="-128"/>
              </a:rPr>
              <a:t>if it is never an overestimate of the cost from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a goal.</a:t>
            </a:r>
            <a:endParaRPr lang="en-US">
              <a:latin typeface="Arial Unicode MS" pitchFamily="34" charset="-128"/>
            </a:endParaRPr>
          </a:p>
        </p:txBody>
      </p:sp>
      <p:sp>
        <p:nvSpPr>
          <p:cNvPr id="8199" name="Rectangle 6"/>
          <p:cNvSpPr>
            <a:spLocks noChangeArrowheads="1"/>
          </p:cNvSpPr>
          <p:nvPr/>
        </p:nvSpPr>
        <p:spPr bwMode="auto">
          <a:xfrm>
            <a:off x="34925" y="5300663"/>
            <a:ext cx="914400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endParaRPr lang="en-US" sz="2400">
              <a:latin typeface="Arial Unicode MS" pitchFamily="34" charset="-128"/>
            </a:endParaRPr>
          </a:p>
        </p:txBody>
      </p:sp>
      <p:sp>
        <p:nvSpPr>
          <p:cNvPr id="8200" name="Text Box 7"/>
          <p:cNvSpPr txBox="1">
            <a:spLocks noChangeArrowheads="1"/>
          </p:cNvSpPr>
          <p:nvPr/>
        </p:nvSpPr>
        <p:spPr bwMode="auto">
          <a:xfrm>
            <a:off x="0" y="5300663"/>
            <a:ext cx="91440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/>
            <a:r>
              <a:rPr lang="en-US" sz="2400">
                <a:latin typeface="Arial Unicode MS" pitchFamily="34" charset="-128"/>
              </a:rPr>
              <a:t> </a:t>
            </a:r>
          </a:p>
        </p:txBody>
      </p:sp>
      <p:sp>
        <p:nvSpPr>
          <p:cNvPr id="8201" name="Rectangle 8"/>
          <p:cNvSpPr>
            <a:spLocks noChangeArrowheads="1"/>
          </p:cNvSpPr>
          <p:nvPr/>
        </p:nvSpPr>
        <p:spPr bwMode="auto">
          <a:xfrm>
            <a:off x="0" y="2636838"/>
            <a:ext cx="9144000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There is never a path from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a goal that has path length less than </a:t>
            </a: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.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another way of saying this: </a:t>
            </a: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 is a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lower bound</a:t>
            </a:r>
            <a:r>
              <a:rPr lang="en-US" sz="2400">
                <a:latin typeface="Arial Unicode MS" pitchFamily="34" charset="-128"/>
              </a:rPr>
              <a:t> on the cost of getting from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the nearest goal.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5549063-0E4F-4F35-8F3B-BE0D5E745904}" type="slidenum">
              <a:rPr lang="en-US"/>
              <a:pPr>
                <a:defRPr/>
              </a:pPr>
              <a:t>40</a:t>
            </a:fld>
            <a:endParaRPr lang="en-US"/>
          </a:p>
        </p:txBody>
      </p:sp>
      <p:sp>
        <p:nvSpPr>
          <p:cNvPr id="9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Admissible Heuristic Functions</a:t>
            </a:r>
          </a:p>
        </p:txBody>
      </p:sp>
      <p:sp>
        <p:nvSpPr>
          <p:cNvPr id="9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9253" name="Rectangle 4"/>
          <p:cNvSpPr>
            <a:spLocks noChangeArrowheads="1"/>
          </p:cNvSpPr>
          <p:nvPr/>
        </p:nvSpPr>
        <p:spPr bwMode="auto">
          <a:xfrm>
            <a:off x="0" y="857250"/>
            <a:ext cx="9358313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 </a:t>
            </a:r>
            <a:r>
              <a:rPr lang="en-US" b="1">
                <a:latin typeface="Arial Unicode MS" pitchFamily="34" charset="-128"/>
              </a:rPr>
              <a:t>Search problem:</a:t>
            </a:r>
            <a:r>
              <a:rPr lang="en-US">
                <a:latin typeface="Arial Unicode MS" pitchFamily="34" charset="-128"/>
              </a:rPr>
              <a:t> robot has to find a route from start location to goal location on a grid  (discrete space with obstacles)</a:t>
            </a:r>
          </a:p>
          <a:p>
            <a:pPr marL="342900" indent="-3429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Final cost</a:t>
            </a:r>
            <a:r>
              <a:rPr lang="en-US">
                <a:latin typeface="Arial Unicode MS" pitchFamily="34" charset="-128"/>
              </a:rPr>
              <a:t> (quality of the solution) is the number of steps</a:t>
            </a:r>
          </a:p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If no obstacles, cost of optimal solution is…</a:t>
            </a:r>
          </a:p>
        </p:txBody>
      </p:sp>
      <p:sp>
        <p:nvSpPr>
          <p:cNvPr id="9254" name="Rectangle 5"/>
          <p:cNvSpPr>
            <a:spLocks noChangeArrowheads="1"/>
          </p:cNvSpPr>
          <p:nvPr/>
        </p:nvSpPr>
        <p:spPr bwMode="auto">
          <a:xfrm>
            <a:off x="827088" y="4076700"/>
            <a:ext cx="4249737" cy="2305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427538" y="3429000"/>
            <a:ext cx="3960812" cy="2447925"/>
            <a:chOff x="748" y="2160"/>
            <a:chExt cx="2495" cy="1542"/>
          </a:xfrm>
        </p:grpSpPr>
        <p:sp>
          <p:nvSpPr>
            <p:cNvPr id="9256" name="Rectangle 7"/>
            <p:cNvSpPr>
              <a:spLocks noChangeArrowheads="1"/>
            </p:cNvSpPr>
            <p:nvPr/>
          </p:nvSpPr>
          <p:spPr bwMode="auto">
            <a:xfrm>
              <a:off x="748" y="2160"/>
              <a:ext cx="2495" cy="154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9257" name="Line 8"/>
            <p:cNvSpPr>
              <a:spLocks noChangeShapeType="1"/>
            </p:cNvSpPr>
            <p:nvPr/>
          </p:nvSpPr>
          <p:spPr bwMode="auto">
            <a:xfrm>
              <a:off x="1202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58" name="Line 9"/>
            <p:cNvSpPr>
              <a:spLocks noChangeShapeType="1"/>
            </p:cNvSpPr>
            <p:nvPr/>
          </p:nvSpPr>
          <p:spPr bwMode="auto">
            <a:xfrm>
              <a:off x="1973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59" name="Line 10"/>
            <p:cNvSpPr>
              <a:spLocks noChangeShapeType="1"/>
            </p:cNvSpPr>
            <p:nvPr/>
          </p:nvSpPr>
          <p:spPr bwMode="auto">
            <a:xfrm>
              <a:off x="2381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60" name="Line 11"/>
            <p:cNvSpPr>
              <a:spLocks noChangeShapeType="1"/>
            </p:cNvSpPr>
            <p:nvPr/>
          </p:nvSpPr>
          <p:spPr bwMode="auto">
            <a:xfrm>
              <a:off x="2789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61" name="Line 12"/>
            <p:cNvSpPr>
              <a:spLocks noChangeShapeType="1"/>
            </p:cNvSpPr>
            <p:nvPr/>
          </p:nvSpPr>
          <p:spPr bwMode="auto">
            <a:xfrm>
              <a:off x="1610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62" name="Line 13"/>
            <p:cNvSpPr>
              <a:spLocks noChangeShapeType="1"/>
            </p:cNvSpPr>
            <p:nvPr/>
          </p:nvSpPr>
          <p:spPr bwMode="auto">
            <a:xfrm>
              <a:off x="748" y="2614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63" name="Line 14"/>
            <p:cNvSpPr>
              <a:spLocks noChangeShapeType="1"/>
            </p:cNvSpPr>
            <p:nvPr/>
          </p:nvSpPr>
          <p:spPr bwMode="auto">
            <a:xfrm>
              <a:off x="748" y="2976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9264" name="Line 15"/>
            <p:cNvSpPr>
              <a:spLocks noChangeShapeType="1"/>
            </p:cNvSpPr>
            <p:nvPr/>
          </p:nvSpPr>
          <p:spPr bwMode="auto">
            <a:xfrm>
              <a:off x="748" y="3339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2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D3B7A068-35F7-46ED-9B8F-4B6DA83212C5}" type="slidenum">
              <a:rPr lang="en-US"/>
              <a:pPr>
                <a:defRPr/>
              </a:pPr>
              <a:t>41</a:t>
            </a:fld>
            <a:endParaRPr lang="en-US"/>
          </a:p>
        </p:txBody>
      </p:sp>
      <p:sp>
        <p:nvSpPr>
          <p:cNvPr id="102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Admissible Heuristic Functions</a:t>
            </a:r>
          </a:p>
        </p:txBody>
      </p:sp>
      <p:sp>
        <p:nvSpPr>
          <p:cNvPr id="1027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sp>
        <p:nvSpPr>
          <p:cNvPr id="10278" name="Rectangle 4"/>
          <p:cNvSpPr>
            <a:spLocks noChangeArrowheads="1"/>
          </p:cNvSpPr>
          <p:nvPr/>
        </p:nvSpPr>
        <p:spPr bwMode="auto">
          <a:xfrm>
            <a:off x="323850" y="1125538"/>
            <a:ext cx="8458200" cy="130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If there are obstacle, the optimal solution without obstacles is an admissible heuristic</a:t>
            </a:r>
          </a:p>
        </p:txBody>
      </p:sp>
      <p:sp>
        <p:nvSpPr>
          <p:cNvPr id="10279" name="Rectangle 6"/>
          <p:cNvSpPr>
            <a:spLocks noChangeArrowheads="1"/>
          </p:cNvSpPr>
          <p:nvPr/>
        </p:nvSpPr>
        <p:spPr bwMode="auto">
          <a:xfrm>
            <a:off x="827088" y="4076700"/>
            <a:ext cx="4249737" cy="23050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2484438" y="3500438"/>
            <a:ext cx="3960812" cy="2447925"/>
            <a:chOff x="748" y="2160"/>
            <a:chExt cx="2495" cy="1542"/>
          </a:xfrm>
        </p:grpSpPr>
        <p:sp>
          <p:nvSpPr>
            <p:cNvPr id="10284" name="Rectangle 7"/>
            <p:cNvSpPr>
              <a:spLocks noChangeArrowheads="1"/>
            </p:cNvSpPr>
            <p:nvPr/>
          </p:nvSpPr>
          <p:spPr bwMode="auto">
            <a:xfrm>
              <a:off x="748" y="2160"/>
              <a:ext cx="2495" cy="1542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0285" name="Line 8"/>
            <p:cNvSpPr>
              <a:spLocks noChangeShapeType="1"/>
            </p:cNvSpPr>
            <p:nvPr/>
          </p:nvSpPr>
          <p:spPr bwMode="auto">
            <a:xfrm>
              <a:off x="1202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86" name="Line 9"/>
            <p:cNvSpPr>
              <a:spLocks noChangeShapeType="1"/>
            </p:cNvSpPr>
            <p:nvPr/>
          </p:nvSpPr>
          <p:spPr bwMode="auto">
            <a:xfrm>
              <a:off x="1973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87" name="Line 10"/>
            <p:cNvSpPr>
              <a:spLocks noChangeShapeType="1"/>
            </p:cNvSpPr>
            <p:nvPr/>
          </p:nvSpPr>
          <p:spPr bwMode="auto">
            <a:xfrm>
              <a:off x="2381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88" name="Line 11"/>
            <p:cNvSpPr>
              <a:spLocks noChangeShapeType="1"/>
            </p:cNvSpPr>
            <p:nvPr/>
          </p:nvSpPr>
          <p:spPr bwMode="auto">
            <a:xfrm>
              <a:off x="2789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89" name="Line 12"/>
            <p:cNvSpPr>
              <a:spLocks noChangeShapeType="1"/>
            </p:cNvSpPr>
            <p:nvPr/>
          </p:nvSpPr>
          <p:spPr bwMode="auto">
            <a:xfrm>
              <a:off x="1610" y="2160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90" name="Line 13"/>
            <p:cNvSpPr>
              <a:spLocks noChangeShapeType="1"/>
            </p:cNvSpPr>
            <p:nvPr/>
          </p:nvSpPr>
          <p:spPr bwMode="auto">
            <a:xfrm>
              <a:off x="748" y="2614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91" name="Line 16"/>
            <p:cNvSpPr>
              <a:spLocks noChangeShapeType="1"/>
            </p:cNvSpPr>
            <p:nvPr/>
          </p:nvSpPr>
          <p:spPr bwMode="auto">
            <a:xfrm>
              <a:off x="748" y="2976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  <p:sp>
          <p:nvSpPr>
            <p:cNvPr id="10292" name="Line 17"/>
            <p:cNvSpPr>
              <a:spLocks noChangeShapeType="1"/>
            </p:cNvSpPr>
            <p:nvPr/>
          </p:nvSpPr>
          <p:spPr bwMode="auto">
            <a:xfrm>
              <a:off x="748" y="3339"/>
              <a:ext cx="249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endParaRPr lang="en-CA"/>
            </a:p>
          </p:txBody>
        </p:sp>
      </p:grpSp>
      <p:sp>
        <p:nvSpPr>
          <p:cNvPr id="10281" name="Rectangle 19"/>
          <p:cNvSpPr>
            <a:spLocks noChangeArrowheads="1"/>
          </p:cNvSpPr>
          <p:nvPr/>
        </p:nvSpPr>
        <p:spPr bwMode="auto">
          <a:xfrm>
            <a:off x="3851275" y="4221163"/>
            <a:ext cx="73025" cy="1728787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82" name="Text Box 20"/>
          <p:cNvSpPr txBox="1">
            <a:spLocks noChangeArrowheads="1"/>
          </p:cNvSpPr>
          <p:nvPr/>
        </p:nvSpPr>
        <p:spPr bwMode="auto">
          <a:xfrm>
            <a:off x="5219700" y="4797425"/>
            <a:ext cx="441325" cy="519113"/>
          </a:xfrm>
          <a:prstGeom prst="rect">
            <a:avLst/>
          </a:prstGeom>
          <a:solidFill>
            <a:srgbClr val="FFFF66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G</a:t>
            </a:r>
          </a:p>
        </p:txBody>
      </p:sp>
      <p:sp>
        <p:nvSpPr>
          <p:cNvPr id="10283" name="Rectangle 21"/>
          <p:cNvSpPr>
            <a:spLocks noChangeArrowheads="1"/>
          </p:cNvSpPr>
          <p:nvPr/>
        </p:nvSpPr>
        <p:spPr bwMode="auto">
          <a:xfrm>
            <a:off x="5076825" y="4221163"/>
            <a:ext cx="1366838" cy="71437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A4B6D25-FBFC-4C5F-94A9-78B9C9D11725}" type="slidenum">
              <a:rPr lang="en-US"/>
              <a:pPr>
                <a:defRPr/>
              </a:pPr>
              <a:t>42</a:t>
            </a:fld>
            <a:endParaRPr lang="en-US"/>
          </a:p>
        </p:txBody>
      </p:sp>
      <p:sp>
        <p:nvSpPr>
          <p:cNvPr id="11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Admissible Heuristic Functions</a:t>
            </a:r>
          </a:p>
        </p:txBody>
      </p:sp>
      <p:sp>
        <p:nvSpPr>
          <p:cNvPr id="11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1292" name="Rectangle 4"/>
          <p:cNvSpPr>
            <a:spLocks noChangeArrowheads="1"/>
          </p:cNvSpPr>
          <p:nvPr/>
        </p:nvSpPr>
        <p:spPr bwMode="auto">
          <a:xfrm>
            <a:off x="323850" y="8366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Similarly, If the nodes are </a:t>
            </a:r>
            <a:r>
              <a:rPr lang="en-US" sz="2400">
                <a:solidFill>
                  <a:srgbClr val="CC0099"/>
                </a:solidFill>
                <a:latin typeface="Arial Unicode MS" pitchFamily="34" charset="-128"/>
              </a:rPr>
              <a:t>points on a Euclidean plane</a:t>
            </a:r>
            <a:r>
              <a:rPr lang="en-US" sz="2400">
                <a:latin typeface="Arial Unicode MS" pitchFamily="34" charset="-128"/>
              </a:rPr>
              <a:t> and the cost is the distance, we can use the straight-line distance from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the closest goal as the value of </a:t>
            </a: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.</a:t>
            </a:r>
          </a:p>
        </p:txBody>
      </p:sp>
      <p:sp>
        <p:nvSpPr>
          <p:cNvPr id="11293" name="Rectangle 15"/>
          <p:cNvSpPr>
            <a:spLocks noChangeArrowheads="1"/>
          </p:cNvSpPr>
          <p:nvPr/>
        </p:nvSpPr>
        <p:spPr bwMode="auto">
          <a:xfrm>
            <a:off x="4067175" y="4437063"/>
            <a:ext cx="73025" cy="1728787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4" name="Oval 18"/>
          <p:cNvSpPr>
            <a:spLocks noChangeArrowheads="1"/>
          </p:cNvSpPr>
          <p:nvPr/>
        </p:nvSpPr>
        <p:spPr bwMode="auto">
          <a:xfrm>
            <a:off x="5795963" y="5229225"/>
            <a:ext cx="71437" cy="71438"/>
          </a:xfrm>
          <a:prstGeom prst="ellipse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11295" name="Picture 19" descr="romania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625" y="2428875"/>
            <a:ext cx="8229600" cy="4033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96" name="Oval 20"/>
          <p:cNvSpPr>
            <a:spLocks noChangeArrowheads="1"/>
          </p:cNvSpPr>
          <p:nvPr/>
        </p:nvSpPr>
        <p:spPr bwMode="auto">
          <a:xfrm>
            <a:off x="4429125" y="5429250"/>
            <a:ext cx="287338" cy="287338"/>
          </a:xfrm>
          <a:prstGeom prst="ellipse">
            <a:avLst/>
          </a:prstGeom>
          <a:noFill/>
          <a:ln w="57150" algn="ctr">
            <a:solidFill>
              <a:srgbClr val="FFFF66"/>
            </a:solidFill>
            <a:round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4D816F6-3DA5-40D1-A130-F4C420816D3C}" type="slidenum">
              <a:rPr lang="en-US"/>
              <a:pPr>
                <a:defRPr/>
              </a:pPr>
              <a:t>43</a:t>
            </a:fld>
            <a:endParaRPr lang="en-US"/>
          </a:p>
        </p:txBody>
      </p:sp>
      <p:sp>
        <p:nvSpPr>
          <p:cNvPr id="123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Heuristic Functions</a:t>
            </a:r>
          </a:p>
        </p:txBody>
      </p:sp>
      <p:sp>
        <p:nvSpPr>
          <p:cNvPr id="1230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sp>
        <p:nvSpPr>
          <p:cNvPr id="12304" name="Rectangle 5"/>
          <p:cNvSpPr>
            <a:spLocks noChangeArrowheads="1"/>
          </p:cNvSpPr>
          <p:nvPr/>
        </p:nvSpPr>
        <p:spPr bwMode="auto">
          <a:xfrm>
            <a:off x="323850" y="908050"/>
            <a:ext cx="84582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In the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8-puzzle</a:t>
            </a:r>
            <a:r>
              <a:rPr lang="en-US" sz="2400">
                <a:latin typeface="Arial Unicode MS" pitchFamily="34" charset="-128"/>
              </a:rPr>
              <a:t>, we can use the number of misplaced tiles</a:t>
            </a:r>
          </a:p>
        </p:txBody>
      </p:sp>
      <p:graphicFrame>
        <p:nvGraphicFramePr>
          <p:cNvPr id="12290" name="Object 6"/>
          <p:cNvGraphicFramePr>
            <a:graphicFrameLocks noChangeAspect="1"/>
          </p:cNvGraphicFramePr>
          <p:nvPr>
            <p:ph sz="half" idx="2"/>
          </p:nvPr>
        </p:nvGraphicFramePr>
        <p:xfrm>
          <a:off x="4822825" y="1341438"/>
          <a:ext cx="4321175" cy="2024062"/>
        </p:xfrm>
        <a:graphic>
          <a:graphicData uri="http://schemas.openxmlformats.org/presentationml/2006/ole">
            <p:oleObj spid="_x0000_s251906" name="Acrobat Document" r:id="rId4" imgW="2133898" imgH="1000000" progId="AcroExch.Document.7">
              <p:embed/>
            </p:oleObj>
          </a:graphicData>
        </a:graphic>
      </p:graphicFrame>
      <p:pic>
        <p:nvPicPr>
          <p:cNvPr id="12305" name="Picture 7" descr="8puzzl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288" y="1412875"/>
            <a:ext cx="3889375" cy="1974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F5BF09C-809B-45C8-B2E5-F27D1A24028F}" type="slidenum">
              <a:rPr lang="en-US"/>
              <a:pPr>
                <a:defRPr/>
              </a:pPr>
              <a:t>44</a:t>
            </a:fld>
            <a:endParaRPr lang="en-US"/>
          </a:p>
        </p:txBody>
      </p:sp>
      <p:sp>
        <p:nvSpPr>
          <p:cNvPr id="13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 Heuristic Functions</a:t>
            </a:r>
          </a:p>
        </p:txBody>
      </p:sp>
      <p:sp>
        <p:nvSpPr>
          <p:cNvPr id="13340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sp>
        <p:nvSpPr>
          <p:cNvPr id="13341" name="Rectangle 4"/>
          <p:cNvSpPr>
            <a:spLocks noChangeArrowheads="1"/>
          </p:cNvSpPr>
          <p:nvPr/>
        </p:nvSpPr>
        <p:spPr bwMode="auto">
          <a:xfrm>
            <a:off x="250825" y="1125538"/>
            <a:ext cx="8458200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Another one we can use the number of moves between each tile's current position and its position in the solution</a:t>
            </a:r>
          </a:p>
        </p:txBody>
      </p:sp>
      <p:graphicFrame>
        <p:nvGraphicFramePr>
          <p:cNvPr id="13314" name="Object 13"/>
          <p:cNvGraphicFramePr>
            <a:graphicFrameLocks noChangeAspect="1"/>
          </p:cNvGraphicFramePr>
          <p:nvPr/>
        </p:nvGraphicFramePr>
        <p:xfrm>
          <a:off x="4749800" y="1989138"/>
          <a:ext cx="4321175" cy="2024062"/>
        </p:xfrm>
        <a:graphic>
          <a:graphicData uri="http://schemas.openxmlformats.org/presentationml/2006/ole">
            <p:oleObj spid="_x0000_s252930" name="Acrobat Document" r:id="rId4" imgW="2133898" imgH="1000000" progId="AcroExch.Document.7">
              <p:embed/>
            </p:oleObj>
          </a:graphicData>
        </a:graphic>
      </p:graphicFrame>
      <p:pic>
        <p:nvPicPr>
          <p:cNvPr id="13342" name="Picture 14" descr="8puzzl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2263" y="2060575"/>
            <a:ext cx="3889375" cy="197485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343" name="Text Box 16"/>
          <p:cNvSpPr txBox="1">
            <a:spLocks noChangeArrowheads="1"/>
          </p:cNvSpPr>
          <p:nvPr/>
        </p:nvSpPr>
        <p:spPr bwMode="auto">
          <a:xfrm>
            <a:off x="252413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1</a:t>
            </a:r>
          </a:p>
        </p:txBody>
      </p:sp>
      <p:sp>
        <p:nvSpPr>
          <p:cNvPr id="13344" name="Text Box 17"/>
          <p:cNvSpPr txBox="1">
            <a:spLocks noChangeArrowheads="1"/>
          </p:cNvSpPr>
          <p:nvPr/>
        </p:nvSpPr>
        <p:spPr bwMode="auto">
          <a:xfrm>
            <a:off x="755650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2</a:t>
            </a:r>
          </a:p>
        </p:txBody>
      </p:sp>
      <p:sp>
        <p:nvSpPr>
          <p:cNvPr id="13345" name="Text Box 18"/>
          <p:cNvSpPr txBox="1">
            <a:spLocks noChangeArrowheads="1"/>
          </p:cNvSpPr>
          <p:nvPr/>
        </p:nvSpPr>
        <p:spPr bwMode="auto">
          <a:xfrm>
            <a:off x="1260475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3</a:t>
            </a:r>
          </a:p>
        </p:txBody>
      </p:sp>
      <p:sp>
        <p:nvSpPr>
          <p:cNvPr id="13346" name="Text Box 19"/>
          <p:cNvSpPr txBox="1">
            <a:spLocks noChangeArrowheads="1"/>
          </p:cNvSpPr>
          <p:nvPr/>
        </p:nvSpPr>
        <p:spPr bwMode="auto">
          <a:xfrm>
            <a:off x="1763713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4</a:t>
            </a:r>
          </a:p>
        </p:txBody>
      </p:sp>
      <p:sp>
        <p:nvSpPr>
          <p:cNvPr id="13347" name="Text Box 20"/>
          <p:cNvSpPr txBox="1">
            <a:spLocks noChangeArrowheads="1"/>
          </p:cNvSpPr>
          <p:nvPr/>
        </p:nvSpPr>
        <p:spPr bwMode="auto">
          <a:xfrm>
            <a:off x="2339975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5</a:t>
            </a:r>
          </a:p>
        </p:txBody>
      </p:sp>
      <p:sp>
        <p:nvSpPr>
          <p:cNvPr id="13348" name="Text Box 21"/>
          <p:cNvSpPr txBox="1">
            <a:spLocks noChangeArrowheads="1"/>
          </p:cNvSpPr>
          <p:nvPr/>
        </p:nvSpPr>
        <p:spPr bwMode="auto">
          <a:xfrm>
            <a:off x="2844800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6</a:t>
            </a:r>
          </a:p>
        </p:txBody>
      </p:sp>
      <p:sp>
        <p:nvSpPr>
          <p:cNvPr id="13349" name="Text Box 22"/>
          <p:cNvSpPr txBox="1">
            <a:spLocks noChangeArrowheads="1"/>
          </p:cNvSpPr>
          <p:nvPr/>
        </p:nvSpPr>
        <p:spPr bwMode="auto">
          <a:xfrm>
            <a:off x="3419475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7</a:t>
            </a:r>
          </a:p>
        </p:txBody>
      </p:sp>
      <p:sp>
        <p:nvSpPr>
          <p:cNvPr id="13350" name="Text Box 23"/>
          <p:cNvSpPr txBox="1">
            <a:spLocks noChangeArrowheads="1"/>
          </p:cNvSpPr>
          <p:nvPr/>
        </p:nvSpPr>
        <p:spPr bwMode="auto">
          <a:xfrm>
            <a:off x="3924300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8</a:t>
            </a:r>
          </a:p>
        </p:txBody>
      </p:sp>
      <p:sp>
        <p:nvSpPr>
          <p:cNvPr id="13351" name="Text Box 24"/>
          <p:cNvSpPr txBox="1">
            <a:spLocks noChangeArrowheads="1"/>
          </p:cNvSpPr>
          <p:nvPr/>
        </p:nvSpPr>
        <p:spPr bwMode="auto">
          <a:xfrm>
            <a:off x="4787900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1</a:t>
            </a:r>
          </a:p>
        </p:txBody>
      </p:sp>
      <p:sp>
        <p:nvSpPr>
          <p:cNvPr id="13352" name="Text Box 25"/>
          <p:cNvSpPr txBox="1">
            <a:spLocks noChangeArrowheads="1"/>
          </p:cNvSpPr>
          <p:nvPr/>
        </p:nvSpPr>
        <p:spPr bwMode="auto">
          <a:xfrm>
            <a:off x="5291138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2</a:t>
            </a:r>
          </a:p>
        </p:txBody>
      </p:sp>
      <p:sp>
        <p:nvSpPr>
          <p:cNvPr id="13353" name="Text Box 26"/>
          <p:cNvSpPr txBox="1">
            <a:spLocks noChangeArrowheads="1"/>
          </p:cNvSpPr>
          <p:nvPr/>
        </p:nvSpPr>
        <p:spPr bwMode="auto">
          <a:xfrm>
            <a:off x="5795963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3</a:t>
            </a:r>
          </a:p>
        </p:txBody>
      </p:sp>
      <p:sp>
        <p:nvSpPr>
          <p:cNvPr id="13354" name="Text Box 27"/>
          <p:cNvSpPr txBox="1">
            <a:spLocks noChangeArrowheads="1"/>
          </p:cNvSpPr>
          <p:nvPr/>
        </p:nvSpPr>
        <p:spPr bwMode="auto">
          <a:xfrm>
            <a:off x="6299200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4</a:t>
            </a:r>
          </a:p>
        </p:txBody>
      </p:sp>
      <p:sp>
        <p:nvSpPr>
          <p:cNvPr id="13355" name="Text Box 28"/>
          <p:cNvSpPr txBox="1">
            <a:spLocks noChangeArrowheads="1"/>
          </p:cNvSpPr>
          <p:nvPr/>
        </p:nvSpPr>
        <p:spPr bwMode="auto">
          <a:xfrm>
            <a:off x="6875463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5</a:t>
            </a:r>
          </a:p>
        </p:txBody>
      </p:sp>
      <p:sp>
        <p:nvSpPr>
          <p:cNvPr id="13356" name="Text Box 29"/>
          <p:cNvSpPr txBox="1">
            <a:spLocks noChangeArrowheads="1"/>
          </p:cNvSpPr>
          <p:nvPr/>
        </p:nvSpPr>
        <p:spPr bwMode="auto">
          <a:xfrm>
            <a:off x="7380288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6</a:t>
            </a:r>
          </a:p>
        </p:txBody>
      </p:sp>
      <p:sp>
        <p:nvSpPr>
          <p:cNvPr id="13357" name="Text Box 30"/>
          <p:cNvSpPr txBox="1">
            <a:spLocks noChangeArrowheads="1"/>
          </p:cNvSpPr>
          <p:nvPr/>
        </p:nvSpPr>
        <p:spPr bwMode="auto">
          <a:xfrm>
            <a:off x="7954963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7</a:t>
            </a:r>
          </a:p>
        </p:txBody>
      </p:sp>
      <p:sp>
        <p:nvSpPr>
          <p:cNvPr id="13358" name="Text Box 31"/>
          <p:cNvSpPr txBox="1">
            <a:spLocks noChangeArrowheads="1"/>
          </p:cNvSpPr>
          <p:nvPr/>
        </p:nvSpPr>
        <p:spPr bwMode="auto">
          <a:xfrm>
            <a:off x="8459788" y="4508500"/>
            <a:ext cx="358775" cy="4064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>
                <a:latin typeface="Arial Unicode MS" pitchFamily="34" charset="-128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2C4113B-C5FF-4DC0-B3FD-E274C146BD16}" type="slidenum">
              <a:rPr lang="en-US"/>
              <a:pPr>
                <a:defRPr/>
              </a:pPr>
              <a:t>45</a:t>
            </a:fld>
            <a:endParaRPr lang="en-US"/>
          </a:p>
        </p:txBody>
      </p:sp>
      <p:sp>
        <p:nvSpPr>
          <p:cNvPr id="14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to Construct a Heuristic</a:t>
            </a:r>
          </a:p>
        </p:txBody>
      </p:sp>
      <p:sp>
        <p:nvSpPr>
          <p:cNvPr id="14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4347" name="Rectangle 4"/>
          <p:cNvSpPr>
            <a:spLocks noChangeArrowheads="1"/>
          </p:cNvSpPr>
          <p:nvPr/>
        </p:nvSpPr>
        <p:spPr bwMode="auto">
          <a:xfrm>
            <a:off x="323850" y="908050"/>
            <a:ext cx="856932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You identify 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relaxed version of the problem</a:t>
            </a:r>
            <a:r>
              <a:rPr lang="en-US" sz="2400">
                <a:latin typeface="Arial Unicode MS" pitchFamily="34" charset="-128"/>
              </a:rPr>
              <a:t>: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where one or more constraints have been dropped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problem with fewer restrictions on the actions</a:t>
            </a:r>
            <a:endParaRPr lang="en-US" sz="16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solidFill>
                  <a:schemeClr val="tx2"/>
                </a:solidFill>
                <a:latin typeface="Arial Unicode MS" pitchFamily="34" charset="-128"/>
              </a:rPr>
              <a:t>Robot</a:t>
            </a:r>
            <a:r>
              <a:rPr lang="en-US" sz="2400">
                <a:latin typeface="Arial Unicode MS" pitchFamily="34" charset="-128"/>
              </a:rPr>
              <a:t>: the agent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can move through walls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solidFill>
                  <a:schemeClr val="tx2"/>
                </a:solidFill>
                <a:latin typeface="Arial Unicode MS" pitchFamily="34" charset="-128"/>
              </a:rPr>
              <a:t>Driver</a:t>
            </a:r>
            <a:r>
              <a:rPr lang="en-US" sz="2400">
                <a:latin typeface="Arial Unicode MS" pitchFamily="34" charset="-128"/>
              </a:rPr>
              <a:t>: the agent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can move straight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8puzzle</a:t>
            </a:r>
            <a:r>
              <a:rPr lang="en-US" sz="2400">
                <a:latin typeface="Arial Unicode MS" pitchFamily="34" charset="-128"/>
              </a:rPr>
              <a:t>: (1) tiles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can move anywhere</a:t>
            </a:r>
            <a:r>
              <a:rPr lang="en-US" sz="2400" b="1">
                <a:latin typeface="Arial Unicode MS" pitchFamily="34" charset="-128"/>
              </a:rPr>
              <a:t>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		    </a:t>
            </a:r>
            <a:r>
              <a:rPr lang="en-US" sz="2400">
                <a:latin typeface="Arial Unicode MS" pitchFamily="34" charset="-128"/>
              </a:rPr>
              <a:t>(2) tiles can move to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any adjacent square</a:t>
            </a:r>
          </a:p>
          <a:p>
            <a:pPr marL="342900" indent="-342900"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  <p:sp>
        <p:nvSpPr>
          <p:cNvPr id="561157" name="Rectangle 5"/>
          <p:cNvSpPr>
            <a:spLocks noChangeArrowheads="1"/>
          </p:cNvSpPr>
          <p:nvPr/>
        </p:nvSpPr>
        <p:spPr bwMode="auto">
          <a:xfrm>
            <a:off x="179388" y="4229100"/>
            <a:ext cx="8569325" cy="193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b="1">
                <a:latin typeface="Arial Unicode MS" pitchFamily="34" charset="-128"/>
              </a:rPr>
              <a:t>Result:</a:t>
            </a:r>
            <a:r>
              <a:rPr lang="en-US" sz="2400">
                <a:latin typeface="Arial Unicode MS" pitchFamily="34" charset="-128"/>
              </a:rPr>
              <a:t> </a:t>
            </a:r>
            <a:r>
              <a:rPr lang="en-US">
                <a:latin typeface="Arial Unicode MS" pitchFamily="34" charset="-128"/>
              </a:rPr>
              <a:t>The cost of an optimal solution to the relaxed problem is an admissible heuristic for the original problem</a:t>
            </a:r>
            <a:r>
              <a:rPr lang="en-US" sz="2400">
                <a:latin typeface="Arial Unicode MS" pitchFamily="34" charset="-128"/>
              </a:rPr>
              <a:t> (because it is always weakly less costly to solve a less constrained problem!)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115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DBA1F221-7787-40DD-859C-1E56E8DF3719}" type="slidenum">
              <a:rPr lang="en-US"/>
              <a:pPr>
                <a:defRPr/>
              </a:pPr>
              <a:t>46</a:t>
            </a:fld>
            <a:endParaRPr lang="en-US"/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to Construct a Heuristic (cont.)</a:t>
            </a:r>
          </a:p>
        </p:txBody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26630" name="Rectangle 4"/>
          <p:cNvSpPr>
            <a:spLocks noChangeArrowheads="1"/>
          </p:cNvSpPr>
          <p:nvPr/>
        </p:nvSpPr>
        <p:spPr bwMode="auto">
          <a:xfrm>
            <a:off x="323850" y="908050"/>
            <a:ext cx="856932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  <p:sp>
        <p:nvSpPr>
          <p:cNvPr id="26631" name="Rectangle 5"/>
          <p:cNvSpPr>
            <a:spLocks noChangeArrowheads="1"/>
          </p:cNvSpPr>
          <p:nvPr/>
        </p:nvSpPr>
        <p:spPr bwMode="auto">
          <a:xfrm>
            <a:off x="250825" y="836613"/>
            <a:ext cx="8569325" cy="525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You should identify constraints which, when dropped, make the problem extremely easy to solve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000">
                <a:latin typeface="Arial Unicode MS" pitchFamily="34" charset="-128"/>
              </a:rPr>
              <a:t>this is important because heuristics are not useful if they're as hard to solve as the original problem!</a:t>
            </a:r>
          </a:p>
          <a:p>
            <a:pPr marL="342900" indent="-342900"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  <p:sp>
        <p:nvSpPr>
          <p:cNvPr id="555014" name="Rectangle 6"/>
          <p:cNvSpPr>
            <a:spLocks noChangeArrowheads="1"/>
          </p:cNvSpPr>
          <p:nvPr/>
        </p:nvSpPr>
        <p:spPr bwMode="auto">
          <a:xfrm>
            <a:off x="323850" y="2997200"/>
            <a:ext cx="8569325" cy="3744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This was the case in our examples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Robot:</a:t>
            </a:r>
            <a:r>
              <a:rPr lang="en-US" sz="2400">
                <a:latin typeface="Arial Unicode MS" pitchFamily="34" charset="-128"/>
              </a:rPr>
              <a:t> </a:t>
            </a:r>
            <a:r>
              <a:rPr lang="en-US" sz="2400" b="1" i="1">
                <a:latin typeface="Arial Unicode MS" pitchFamily="34" charset="-128"/>
              </a:rPr>
              <a:t>allowing</a:t>
            </a:r>
            <a:r>
              <a:rPr lang="en-US" sz="2400">
                <a:latin typeface="Arial Unicode MS" pitchFamily="34" charset="-128"/>
              </a:rPr>
              <a:t> the agent to move through walls. Optimal solution to this relaxed problem is Manhattan distance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Driver:</a:t>
            </a:r>
            <a:r>
              <a:rPr lang="en-US" sz="2400">
                <a:latin typeface="Arial Unicode MS" pitchFamily="34" charset="-128"/>
              </a:rPr>
              <a:t> </a:t>
            </a:r>
            <a:r>
              <a:rPr lang="en-US" sz="2400" b="1" i="1">
                <a:latin typeface="Arial Unicode MS" pitchFamily="34" charset="-128"/>
              </a:rPr>
              <a:t>allowing</a:t>
            </a:r>
            <a:r>
              <a:rPr lang="en-US" sz="2400">
                <a:latin typeface="Arial Unicode MS" pitchFamily="34" charset="-128"/>
              </a:rPr>
              <a:t> the agent to move straight. Optimal solution to this relaxed problem is straight-line distance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8puzzle:</a:t>
            </a:r>
            <a:r>
              <a:rPr lang="en-US" sz="2400">
                <a:latin typeface="Arial Unicode MS" pitchFamily="34" charset="-128"/>
              </a:rPr>
              <a:t> (1) tiles </a:t>
            </a:r>
            <a:r>
              <a:rPr lang="en-US" sz="2400" b="1">
                <a:latin typeface="Arial Unicode MS" pitchFamily="34" charset="-128"/>
              </a:rPr>
              <a:t>can move anywhere </a:t>
            </a:r>
            <a:r>
              <a:rPr lang="en-US" sz="2400">
                <a:latin typeface="Arial Unicode MS" pitchFamily="34" charset="-128"/>
              </a:rPr>
              <a:t>Optimal solution to this relaxed problem is number of misplaced tiles</a:t>
            </a:r>
            <a:endParaRPr lang="en-US" sz="2400" b="1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(2) tiles can move to </a:t>
            </a:r>
            <a:r>
              <a:rPr lang="en-US" sz="2400" b="1">
                <a:latin typeface="Arial Unicode MS" pitchFamily="34" charset="-128"/>
              </a:rPr>
              <a:t>any adjacent square….</a:t>
            </a:r>
            <a:endParaRPr lang="en-US" sz="24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endParaRPr lang="en-US" sz="240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01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8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6287B20A-A210-461A-9D15-6748E2F4A56B}" type="slidenum">
              <a:rPr lang="en-US"/>
              <a:pPr>
                <a:defRPr/>
              </a:pPr>
              <a:t>47</a:t>
            </a:fld>
            <a:endParaRPr lang="en-US"/>
          </a:p>
        </p:txBody>
      </p:sp>
      <p:sp>
        <p:nvSpPr>
          <p:cNvPr id="15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Another approach to construct heuristics</a:t>
            </a:r>
          </a:p>
        </p:txBody>
      </p:sp>
      <p:sp>
        <p:nvSpPr>
          <p:cNvPr id="1537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692275" y="836613"/>
            <a:ext cx="5472113" cy="5048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b="1" smtClean="0"/>
              <a:t>Solution cost for a subproblem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2000" b="1" smtClean="0"/>
          </a:p>
          <a:p>
            <a:pPr marL="0" indent="0" eaLnBrk="1" hangingPunct="1">
              <a:lnSpc>
                <a:spcPct val="90000"/>
              </a:lnSpc>
            </a:pPr>
            <a:endParaRPr lang="en-US" sz="1800" smtClean="0"/>
          </a:p>
        </p:txBody>
      </p:sp>
      <p:graphicFrame>
        <p:nvGraphicFramePr>
          <p:cNvPr id="567300" name="Group 4"/>
          <p:cNvGraphicFramePr>
            <a:graphicFrameLocks noGrp="1"/>
          </p:cNvGraphicFramePr>
          <p:nvPr>
            <p:ph sz="half" idx="2"/>
          </p:nvPr>
        </p:nvGraphicFramePr>
        <p:xfrm>
          <a:off x="1258888" y="2060575"/>
          <a:ext cx="1690687" cy="1565276"/>
        </p:xfrm>
        <a:graphic>
          <a:graphicData uri="http://schemas.openxmlformats.org/drawingml/2006/table">
            <a:tbl>
              <a:tblPr/>
              <a:tblGrid>
                <a:gridCol w="566737"/>
                <a:gridCol w="557213"/>
                <a:gridCol w="566737"/>
              </a:tblGrid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7339" name="Group 43"/>
          <p:cNvGraphicFramePr>
            <a:graphicFrameLocks noGrp="1"/>
          </p:cNvGraphicFramePr>
          <p:nvPr/>
        </p:nvGraphicFramePr>
        <p:xfrm>
          <a:off x="1187450" y="4581525"/>
          <a:ext cx="1690688" cy="1565276"/>
        </p:xfrm>
        <a:graphic>
          <a:graphicData uri="http://schemas.openxmlformats.org/drawingml/2006/table">
            <a:tbl>
              <a:tblPr/>
              <a:tblGrid>
                <a:gridCol w="566738"/>
                <a:gridCol w="557212"/>
                <a:gridCol w="566738"/>
              </a:tblGrid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7357" name="Group 61"/>
          <p:cNvGraphicFramePr>
            <a:graphicFrameLocks noGrp="1"/>
          </p:cNvGraphicFramePr>
          <p:nvPr/>
        </p:nvGraphicFramePr>
        <p:xfrm>
          <a:off x="5724525" y="2060575"/>
          <a:ext cx="1690688" cy="1565276"/>
        </p:xfrm>
        <a:graphic>
          <a:graphicData uri="http://schemas.openxmlformats.org/drawingml/2006/table">
            <a:tbl>
              <a:tblPr/>
              <a:tblGrid>
                <a:gridCol w="566738"/>
                <a:gridCol w="557212"/>
                <a:gridCol w="566738"/>
              </a:tblGrid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7375" name="Group 79"/>
          <p:cNvGraphicFramePr>
            <a:graphicFrameLocks noGrp="1"/>
          </p:cNvGraphicFramePr>
          <p:nvPr/>
        </p:nvGraphicFramePr>
        <p:xfrm>
          <a:off x="5795963" y="4508500"/>
          <a:ext cx="1690687" cy="1565276"/>
        </p:xfrm>
        <a:graphic>
          <a:graphicData uri="http://schemas.openxmlformats.org/drawingml/2006/table">
            <a:tbl>
              <a:tblPr/>
              <a:tblGrid>
                <a:gridCol w="566737"/>
                <a:gridCol w="557213"/>
                <a:gridCol w="566737"/>
              </a:tblGrid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22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@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443" name="Text Box 98"/>
          <p:cNvSpPr txBox="1">
            <a:spLocks noChangeArrowheads="1"/>
          </p:cNvSpPr>
          <p:nvPr/>
        </p:nvSpPr>
        <p:spPr bwMode="auto">
          <a:xfrm>
            <a:off x="303213" y="3643313"/>
            <a:ext cx="1516062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Current node</a:t>
            </a:r>
          </a:p>
        </p:txBody>
      </p:sp>
      <p:sp>
        <p:nvSpPr>
          <p:cNvPr id="15444" name="Text Box 99"/>
          <p:cNvSpPr txBox="1">
            <a:spLocks noChangeArrowheads="1"/>
          </p:cNvSpPr>
          <p:nvPr/>
        </p:nvSpPr>
        <p:spPr bwMode="auto">
          <a:xfrm>
            <a:off x="611188" y="6237288"/>
            <a:ext cx="1235075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/>
              <a:t>Goal node</a:t>
            </a:r>
          </a:p>
        </p:txBody>
      </p:sp>
      <p:sp>
        <p:nvSpPr>
          <p:cNvPr id="15445" name="Rectangle 100"/>
          <p:cNvSpPr>
            <a:spLocks noChangeArrowheads="1"/>
          </p:cNvSpPr>
          <p:nvPr/>
        </p:nvSpPr>
        <p:spPr bwMode="auto">
          <a:xfrm>
            <a:off x="468313" y="1557338"/>
            <a:ext cx="3024187" cy="5048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Original Problem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000" b="1">
              <a:latin typeface="Arial Unicode MS" pitchFamily="34" charset="-128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800">
              <a:latin typeface="Arial Unicode MS" pitchFamily="34" charset="-128"/>
            </a:endParaRPr>
          </a:p>
        </p:txBody>
      </p:sp>
      <p:sp>
        <p:nvSpPr>
          <p:cNvPr id="15446" name="Rectangle 101"/>
          <p:cNvSpPr>
            <a:spLocks noChangeArrowheads="1"/>
          </p:cNvSpPr>
          <p:nvPr/>
        </p:nvSpPr>
        <p:spPr bwMode="auto">
          <a:xfrm>
            <a:off x="5508625" y="1484313"/>
            <a:ext cx="2376488" cy="5048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SubProblem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2000" b="1">
              <a:latin typeface="Arial Unicode MS" pitchFamily="34" charset="-128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sz="180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A61DD28-295A-4773-88A8-686FCC23D5B9}" type="slidenum">
              <a:rPr lang="en-US"/>
              <a:pPr>
                <a:defRPr/>
              </a:pPr>
              <a:t>48</a:t>
            </a:fld>
            <a:endParaRPr lang="en-US"/>
          </a:p>
        </p:txBody>
      </p:sp>
      <p:sp>
        <p:nvSpPr>
          <p:cNvPr id="164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Heuristics: Dominance</a:t>
            </a:r>
          </a:p>
        </p:txBody>
      </p:sp>
      <p:sp>
        <p:nvSpPr>
          <p:cNvPr id="164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765175"/>
            <a:ext cx="8893175" cy="16573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200" smtClean="0"/>
              <a:t>If </a:t>
            </a:r>
            <a:r>
              <a:rPr lang="en-US" sz="3200" i="1" smtClean="0"/>
              <a:t>h</a:t>
            </a:r>
            <a:r>
              <a:rPr lang="en-US" sz="3200" i="1" baseline="-25000" smtClean="0"/>
              <a:t>2</a:t>
            </a:r>
            <a:r>
              <a:rPr lang="en-US" sz="3200" i="1" smtClean="0"/>
              <a:t>(n) </a:t>
            </a:r>
            <a:r>
              <a:rPr lang="en-US" sz="3200" i="1" smtClean="0">
                <a:cs typeface="Arial" pitchFamily="34" charset="0"/>
              </a:rPr>
              <a:t>≥</a:t>
            </a:r>
            <a:r>
              <a:rPr lang="en-US" sz="3200" i="1" smtClean="0"/>
              <a:t> h</a:t>
            </a:r>
            <a:r>
              <a:rPr lang="en-US" sz="3200" i="1" baseline="-25000" smtClean="0"/>
              <a:t>1</a:t>
            </a:r>
            <a:r>
              <a:rPr lang="en-US" sz="3200" i="1" smtClean="0"/>
              <a:t>(n)</a:t>
            </a:r>
            <a:r>
              <a:rPr lang="en-US" sz="3200" smtClean="0"/>
              <a:t> for all </a:t>
            </a:r>
            <a:r>
              <a:rPr lang="en-US" sz="3200" i="1" smtClean="0"/>
              <a:t>n</a:t>
            </a:r>
            <a:r>
              <a:rPr lang="en-US" sz="3200" smtClean="0"/>
              <a:t> (both admissible)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smtClean="0"/>
              <a:t>then </a:t>
            </a:r>
            <a:r>
              <a:rPr lang="en-US" sz="3200" i="1" smtClean="0"/>
              <a:t>h</a:t>
            </a:r>
            <a:r>
              <a:rPr lang="en-US" sz="3200" i="1" baseline="-25000" smtClean="0"/>
              <a:t>2</a:t>
            </a:r>
            <a:r>
              <a:rPr lang="en-US" sz="3200" i="1" smtClean="0"/>
              <a:t> </a:t>
            </a:r>
            <a:r>
              <a:rPr lang="en-US" sz="3200" smtClean="0">
                <a:solidFill>
                  <a:schemeClr val="accent2"/>
                </a:solidFill>
              </a:rPr>
              <a:t>dominates</a:t>
            </a:r>
            <a:r>
              <a:rPr lang="en-US" sz="3200" smtClean="0"/>
              <a:t> </a:t>
            </a:r>
            <a:r>
              <a:rPr lang="en-US" sz="3200" i="1" smtClean="0"/>
              <a:t>h</a:t>
            </a:r>
            <a:r>
              <a:rPr lang="en-US" sz="3200" i="1" baseline="-25000" smtClean="0"/>
              <a:t>1</a:t>
            </a:r>
            <a:r>
              <a:rPr lang="en-US" sz="3200" i="1" smtClean="0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sz="3200" b="1" i="1" smtClean="0"/>
              <a:t>h</a:t>
            </a:r>
            <a:r>
              <a:rPr lang="en-US" sz="3200" b="1" i="1" baseline="-25000" smtClean="0"/>
              <a:t>2</a:t>
            </a:r>
            <a:r>
              <a:rPr lang="en-US" sz="3200" b="1" i="1" smtClean="0"/>
              <a:t> </a:t>
            </a:r>
            <a:r>
              <a:rPr lang="en-US" sz="3200" b="1" smtClean="0"/>
              <a:t>is better for search</a:t>
            </a:r>
            <a:r>
              <a:rPr lang="en-US" sz="3200" smtClean="0"/>
              <a:t> (why?)</a:t>
            </a:r>
            <a:endParaRPr lang="en-US" sz="2400" b="1" smtClean="0"/>
          </a:p>
        </p:txBody>
      </p:sp>
      <p:sp>
        <p:nvSpPr>
          <p:cNvPr id="559108" name="Rectangle 4"/>
          <p:cNvSpPr>
            <a:spLocks noChangeArrowheads="1"/>
          </p:cNvSpPr>
          <p:nvPr/>
        </p:nvSpPr>
        <p:spPr bwMode="auto">
          <a:xfrm>
            <a:off x="250825" y="2465388"/>
            <a:ext cx="8893175" cy="1611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8puzzle</a:t>
            </a:r>
            <a:r>
              <a:rPr lang="en-US" sz="2400">
                <a:latin typeface="Arial Unicode MS" pitchFamily="34" charset="-128"/>
              </a:rPr>
              <a:t>: (1) tiles can move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 anywhere</a:t>
            </a:r>
            <a:r>
              <a:rPr lang="en-US" sz="2400" b="1">
                <a:latin typeface="Arial Unicode MS" pitchFamily="34" charset="-128"/>
              </a:rPr>
              <a:t> 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		    </a:t>
            </a:r>
            <a:r>
              <a:rPr lang="en-US" sz="2400">
                <a:latin typeface="Arial Unicode MS" pitchFamily="34" charset="-128"/>
              </a:rPr>
              <a:t>(2) tiles can move to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any adjacent square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(Original problem: tiles can move to </a:t>
            </a:r>
            <a:r>
              <a:rPr lang="en-US" sz="2400">
                <a:solidFill>
                  <a:schemeClr val="accent2"/>
                </a:solidFill>
                <a:latin typeface="Arial Unicode MS" pitchFamily="34" charset="-128"/>
              </a:rPr>
              <a:t>an adjacent square if it is empty)</a:t>
            </a:r>
            <a:endParaRPr lang="en-US" sz="2400">
              <a:latin typeface="Arial Unicode MS" pitchFamily="34" charset="-128"/>
            </a:endParaRPr>
          </a:p>
        </p:txBody>
      </p:sp>
      <p:sp>
        <p:nvSpPr>
          <p:cNvPr id="559109" name="Rectangle 5"/>
          <p:cNvSpPr>
            <a:spLocks noChangeArrowheads="1"/>
          </p:cNvSpPr>
          <p:nvPr/>
        </p:nvSpPr>
        <p:spPr bwMode="auto">
          <a:xfrm>
            <a:off x="323850" y="4076700"/>
            <a:ext cx="83883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search costs for the 8-puzzle (average number of paths expanded):</a:t>
            </a:r>
            <a:endParaRPr lang="en-US" sz="2400" i="1">
              <a:latin typeface="Arial Unicode MS" pitchFamily="34" charset="-128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i="1">
                <a:latin typeface="Arial Unicode MS" pitchFamily="34" charset="-128"/>
              </a:rPr>
              <a:t>d=12	</a:t>
            </a:r>
            <a:r>
              <a:rPr lang="en-US" sz="2000">
                <a:latin typeface="Arial Unicode MS" pitchFamily="34" charset="-128"/>
              </a:rPr>
              <a:t>IDS = 3,644,035 paths</a:t>
            </a:r>
            <a:br>
              <a:rPr lang="en-US" sz="2000">
                <a:latin typeface="Arial Unicode MS" pitchFamily="34" charset="-128"/>
              </a:rPr>
            </a:br>
            <a:r>
              <a:rPr lang="en-US" sz="2000">
                <a:latin typeface="Arial Unicode MS" pitchFamily="34" charset="-128"/>
              </a:rPr>
              <a:t>	A</a:t>
            </a:r>
            <a:r>
              <a:rPr lang="en-US" sz="2000" baseline="30000">
                <a:latin typeface="Arial Unicode MS" pitchFamily="34" charset="-128"/>
              </a:rPr>
              <a:t>*</a:t>
            </a:r>
            <a:r>
              <a:rPr lang="en-US" sz="2000">
                <a:latin typeface="Arial Unicode MS" pitchFamily="34" charset="-128"/>
              </a:rPr>
              <a:t>(h</a:t>
            </a:r>
            <a:r>
              <a:rPr lang="en-US" sz="2000" baseline="-25000">
                <a:latin typeface="Arial Unicode MS" pitchFamily="34" charset="-128"/>
              </a:rPr>
              <a:t>1</a:t>
            </a:r>
            <a:r>
              <a:rPr lang="en-US" sz="2000">
                <a:latin typeface="Arial Unicode MS" pitchFamily="34" charset="-128"/>
              </a:rPr>
              <a:t>) = 227 paths </a:t>
            </a:r>
            <a:br>
              <a:rPr lang="en-US" sz="2000">
                <a:latin typeface="Arial Unicode MS" pitchFamily="34" charset="-128"/>
              </a:rPr>
            </a:br>
            <a:r>
              <a:rPr lang="en-US" sz="2000">
                <a:latin typeface="Arial Unicode MS" pitchFamily="34" charset="-128"/>
              </a:rPr>
              <a:t>	A</a:t>
            </a:r>
            <a:r>
              <a:rPr lang="en-US" sz="2000" baseline="30000">
                <a:latin typeface="Arial Unicode MS" pitchFamily="34" charset="-128"/>
              </a:rPr>
              <a:t>*</a:t>
            </a:r>
            <a:r>
              <a:rPr lang="en-US" sz="2000">
                <a:latin typeface="Arial Unicode MS" pitchFamily="34" charset="-128"/>
              </a:rPr>
              <a:t>(h</a:t>
            </a:r>
            <a:r>
              <a:rPr lang="en-US" sz="2000" baseline="-25000">
                <a:latin typeface="Arial Unicode MS" pitchFamily="34" charset="-128"/>
              </a:rPr>
              <a:t>2</a:t>
            </a:r>
            <a:r>
              <a:rPr lang="en-US" sz="2000">
                <a:latin typeface="Arial Unicode MS" pitchFamily="34" charset="-128"/>
              </a:rPr>
              <a:t>) = 73 paths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000" i="1">
                <a:latin typeface="Arial Unicode MS" pitchFamily="34" charset="-128"/>
              </a:rPr>
              <a:t>d=24 	</a:t>
            </a:r>
            <a:r>
              <a:rPr lang="en-US" sz="2000">
                <a:latin typeface="Arial Unicode MS" pitchFamily="34" charset="-128"/>
              </a:rPr>
              <a:t>IDS = too many paths </a:t>
            </a:r>
            <a:br>
              <a:rPr lang="en-US" sz="2000">
                <a:latin typeface="Arial Unicode MS" pitchFamily="34" charset="-128"/>
              </a:rPr>
            </a:br>
            <a:r>
              <a:rPr lang="en-US" sz="2000">
                <a:latin typeface="Arial Unicode MS" pitchFamily="34" charset="-128"/>
              </a:rPr>
              <a:t>	A</a:t>
            </a:r>
            <a:r>
              <a:rPr lang="en-US" sz="2000" baseline="30000">
                <a:latin typeface="Arial Unicode MS" pitchFamily="34" charset="-128"/>
              </a:rPr>
              <a:t>*</a:t>
            </a:r>
            <a:r>
              <a:rPr lang="en-US" sz="2000">
                <a:latin typeface="Arial Unicode MS" pitchFamily="34" charset="-128"/>
              </a:rPr>
              <a:t>(h</a:t>
            </a:r>
            <a:r>
              <a:rPr lang="en-US" sz="2000" baseline="-25000">
                <a:latin typeface="Arial Unicode MS" pitchFamily="34" charset="-128"/>
              </a:rPr>
              <a:t>1</a:t>
            </a:r>
            <a:r>
              <a:rPr lang="en-US" sz="2000">
                <a:latin typeface="Arial Unicode MS" pitchFamily="34" charset="-128"/>
              </a:rPr>
              <a:t>) = 39,135 paths </a:t>
            </a:r>
            <a:br>
              <a:rPr lang="en-US" sz="2000">
                <a:latin typeface="Arial Unicode MS" pitchFamily="34" charset="-128"/>
              </a:rPr>
            </a:br>
            <a:r>
              <a:rPr lang="en-US" sz="2000">
                <a:latin typeface="Arial Unicode MS" pitchFamily="34" charset="-128"/>
              </a:rPr>
              <a:t>	A</a:t>
            </a:r>
            <a:r>
              <a:rPr lang="en-US" sz="2000" baseline="30000">
                <a:latin typeface="Arial Unicode MS" pitchFamily="34" charset="-128"/>
              </a:rPr>
              <a:t>*</a:t>
            </a:r>
            <a:r>
              <a:rPr lang="en-US" sz="2000">
                <a:latin typeface="Arial Unicode MS" pitchFamily="34" charset="-128"/>
              </a:rPr>
              <a:t>(h</a:t>
            </a:r>
            <a:r>
              <a:rPr lang="en-US" sz="2000" baseline="-25000">
                <a:latin typeface="Arial Unicode MS" pitchFamily="34" charset="-128"/>
              </a:rPr>
              <a:t>2</a:t>
            </a:r>
            <a:r>
              <a:rPr lang="en-US" sz="2000">
                <a:latin typeface="Arial Unicode MS" pitchFamily="34" charset="-128"/>
              </a:rPr>
              <a:t>) = 1,641 paths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9108" grpId="0"/>
      <p:bldP spid="55910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43B3AA0-C09C-490E-9223-130F703F7776}" type="slidenum">
              <a:rPr lang="en-US"/>
              <a:pPr>
                <a:defRPr/>
              </a:pPr>
              <a:t>49</a:t>
            </a:fld>
            <a:endParaRPr lang="en-US"/>
          </a:p>
        </p:txBody>
      </p:sp>
      <p:sp>
        <p:nvSpPr>
          <p:cNvPr id="174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Combining Heuristics</a:t>
            </a:r>
          </a:p>
        </p:txBody>
      </p:sp>
      <p:sp>
        <p:nvSpPr>
          <p:cNvPr id="174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908050"/>
            <a:ext cx="8458200" cy="4968875"/>
          </a:xfrm>
        </p:spPr>
        <p:txBody>
          <a:bodyPr/>
          <a:lstStyle/>
          <a:p>
            <a:pPr eaLnBrk="1" hangingPunct="1"/>
            <a:r>
              <a:rPr lang="en-US" b="1" smtClean="0"/>
              <a:t>How to combine heuristics when there is no dominance?</a:t>
            </a:r>
          </a:p>
          <a:p>
            <a:pPr eaLnBrk="1" hangingPunct="1"/>
            <a:r>
              <a:rPr lang="en-US" smtClean="0"/>
              <a:t>If h</a:t>
            </a:r>
            <a:r>
              <a:rPr lang="en-US" baseline="-25000" smtClean="0"/>
              <a:t>1</a:t>
            </a:r>
            <a:r>
              <a:rPr lang="en-US" smtClean="0"/>
              <a:t>(n) is admissible and h</a:t>
            </a:r>
            <a:r>
              <a:rPr lang="en-US" baseline="-25000" smtClean="0"/>
              <a:t>2</a:t>
            </a:r>
            <a:r>
              <a:rPr lang="en-US" smtClean="0"/>
              <a:t>(n) is also admissible then</a:t>
            </a:r>
          </a:p>
          <a:p>
            <a:pPr eaLnBrk="1" hangingPunct="1"/>
            <a:r>
              <a:rPr lang="en-US" smtClean="0"/>
              <a:t>h(n)= …………………  is also admissible</a:t>
            </a:r>
          </a:p>
          <a:p>
            <a:pPr eaLnBrk="1" hangingPunct="1"/>
            <a:r>
              <a:rPr lang="en-US" smtClean="0"/>
              <a:t>… and dominates all its components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0D30EACD-4D51-42F6-8D74-B8E695DD09A0}" type="slidenum">
              <a:rPr lang="en-US"/>
              <a:pPr>
                <a:defRPr/>
              </a:pPr>
              <a:t>50</a:t>
            </a:fld>
            <a:endParaRPr lang="en-US"/>
          </a:p>
        </p:txBody>
      </p:sp>
      <p:sp>
        <p:nvSpPr>
          <p:cNvPr id="184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Combining Heuristics: Example</a:t>
            </a:r>
          </a:p>
        </p:txBody>
      </p:sp>
      <p:sp>
        <p:nvSpPr>
          <p:cNvPr id="184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0825" y="1196975"/>
            <a:ext cx="8424863" cy="25193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</a:pPr>
            <a:r>
              <a:rPr lang="en-US" b="1" smtClean="0"/>
              <a:t>In 8-puzzle, solution cost for the 1,2,3,4 subproblem </a:t>
            </a:r>
            <a:r>
              <a:rPr lang="en-US" smtClean="0"/>
              <a:t>is substantially more accurate than Manhattan distance </a:t>
            </a:r>
            <a:r>
              <a:rPr lang="en-US" b="1" smtClean="0"/>
              <a:t>in some cases</a:t>
            </a:r>
          </a:p>
          <a:p>
            <a:pPr marL="0" indent="0" eaLnBrk="1" hangingPunct="1">
              <a:lnSpc>
                <a:spcPct val="90000"/>
              </a:lnSpc>
            </a:pPr>
            <a:endParaRPr lang="en-US" smtClean="0"/>
          </a:p>
          <a:p>
            <a:pPr marL="0" indent="0" eaLnBrk="1" hangingPunct="1">
              <a:lnSpc>
                <a:spcPct val="90000"/>
              </a:lnSpc>
            </a:pPr>
            <a:r>
              <a:rPr lang="en-US" smtClean="0"/>
              <a:t>So…..</a:t>
            </a:r>
          </a:p>
          <a:p>
            <a:pPr marL="0" indent="0" eaLnBrk="1" hangingPunct="1">
              <a:lnSpc>
                <a:spcPct val="90000"/>
              </a:lnSpc>
            </a:pPr>
            <a:endParaRPr lang="en-US" sz="1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A363E8F3-C37A-469A-8902-6DD2B8D0296C}" type="slidenum">
              <a:rPr lang="en-US"/>
              <a:pPr>
                <a:defRPr/>
              </a:pPr>
              <a:t>51</a:t>
            </a:fld>
            <a:endParaRPr lang="en-US"/>
          </a:p>
        </p:txBody>
      </p:sp>
      <p:sp>
        <p:nvSpPr>
          <p:cNvPr id="41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Best-First Search</a:t>
            </a:r>
          </a:p>
        </p:txBody>
      </p:sp>
      <p:sp>
        <p:nvSpPr>
          <p:cNvPr id="41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4110" name="Rectangle 4"/>
          <p:cNvSpPr>
            <a:spLocks noChangeArrowheads="1"/>
          </p:cNvSpPr>
          <p:nvPr/>
        </p:nvSpPr>
        <p:spPr bwMode="auto">
          <a:xfrm>
            <a:off x="395288" y="1196975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>
                <a:solidFill>
                  <a:schemeClr val="accent2"/>
                </a:solidFill>
                <a:latin typeface="Arial Unicode MS" pitchFamily="34" charset="-128"/>
              </a:rPr>
              <a:t>Idea:</a:t>
            </a:r>
            <a:r>
              <a:rPr lang="en-US">
                <a:latin typeface="Arial Unicode MS" pitchFamily="34" charset="-128"/>
              </a:rPr>
              <a:t> select the path whose end is closest to a goal according to the heuristic function.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b="1">
                <a:latin typeface="Arial Unicode MS" pitchFamily="34" charset="-128"/>
              </a:rPr>
              <a:t>Best-First search</a:t>
            </a:r>
            <a:r>
              <a:rPr lang="en-US">
                <a:latin typeface="Arial Unicode MS" pitchFamily="34" charset="-128"/>
              </a:rPr>
              <a:t> selects a path on the frontier with minimal </a:t>
            </a:r>
            <a:r>
              <a:rPr lang="en-US" i="1">
                <a:latin typeface="Arial Unicode MS" pitchFamily="34" charset="-128"/>
              </a:rPr>
              <a:t>h</a:t>
            </a:r>
            <a:r>
              <a:rPr lang="en-US">
                <a:latin typeface="Arial Unicode MS" pitchFamily="34" charset="-128"/>
              </a:rPr>
              <a:t>-value (for the end node).</a:t>
            </a:r>
          </a:p>
        </p:txBody>
      </p:sp>
      <p:sp>
        <p:nvSpPr>
          <p:cNvPr id="4111" name="Rectangle 5"/>
          <p:cNvSpPr>
            <a:spLocks noChangeArrowheads="1"/>
          </p:cNvSpPr>
          <p:nvPr/>
        </p:nvSpPr>
        <p:spPr bwMode="auto">
          <a:xfrm>
            <a:off x="179388" y="4005263"/>
            <a:ext cx="8856662" cy="187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It treats the frontier as a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priority queue ordered by </a:t>
            </a:r>
            <a:r>
              <a:rPr lang="en-US" i="1">
                <a:solidFill>
                  <a:schemeClr val="accent2"/>
                </a:solidFill>
                <a:latin typeface="Arial Unicode MS" pitchFamily="34" charset="-128"/>
              </a:rPr>
              <a:t>h</a:t>
            </a:r>
            <a:r>
              <a:rPr lang="en-US">
                <a:latin typeface="Arial Unicode MS" pitchFamily="34" charset="-128"/>
              </a:rPr>
              <a:t>. (similar to ?)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This is a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greedy</a:t>
            </a:r>
            <a:r>
              <a:rPr lang="en-US">
                <a:latin typeface="Arial Unicode MS" pitchFamily="34" charset="-128"/>
              </a:rPr>
              <a:t> approach: it always takes the path which appears locally best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7</a:t>
            </a:r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8F222A8A-1FFD-42CD-A245-4FFCAD9CBF62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of Best-First Search</a:t>
            </a:r>
          </a:p>
        </p:txBody>
      </p:sp>
      <p:sp>
        <p:nvSpPr>
          <p:cNvPr id="512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sp>
        <p:nvSpPr>
          <p:cNvPr id="5129" name="Rectangle 4"/>
          <p:cNvSpPr>
            <a:spLocks noChangeArrowheads="1"/>
          </p:cNvSpPr>
          <p:nvPr/>
        </p:nvSpPr>
        <p:spPr bwMode="auto">
          <a:xfrm>
            <a:off x="395288" y="10525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Complete</a:t>
            </a:r>
            <a:r>
              <a:rPr lang="en-US">
                <a:latin typeface="Arial Unicode MS" pitchFamily="34" charset="-128"/>
              </a:rPr>
              <a:t> no: a low heuristic value can mean that a cycle gets followed forever.</a:t>
            </a:r>
            <a:r>
              <a:rPr lang="en-US">
                <a:solidFill>
                  <a:srgbClr val="CC0099"/>
                </a:solidFill>
                <a:latin typeface="Arial Unicode MS" pitchFamily="34" charset="-128"/>
              </a:rPr>
              <a:t>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Optimal:</a:t>
            </a:r>
            <a:r>
              <a:rPr lang="en-US">
                <a:latin typeface="Arial Unicode MS" pitchFamily="34" charset="-128"/>
              </a:rPr>
              <a:t> no (why not?)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Time complexity</a:t>
            </a:r>
            <a:r>
              <a:rPr lang="en-US">
                <a:latin typeface="Arial Unicode MS" pitchFamily="34" charset="-128"/>
              </a:rPr>
              <a:t> is </a:t>
            </a:r>
            <a:r>
              <a:rPr lang="en-US" i="1">
                <a:latin typeface="Arial Unicode MS" pitchFamily="34" charset="-128"/>
              </a:rPr>
              <a:t>O(b</a:t>
            </a:r>
            <a:r>
              <a:rPr lang="en-US" i="1" baseline="30000">
                <a:latin typeface="Arial Unicode MS" pitchFamily="34" charset="-128"/>
              </a:rPr>
              <a:t>m</a:t>
            </a:r>
            <a:r>
              <a:rPr lang="en-US" i="1">
                <a:latin typeface="Arial Unicode MS" pitchFamily="34" charset="-128"/>
              </a:rPr>
              <a:t>)</a:t>
            </a:r>
            <a:endParaRPr lang="en-US" sz="32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Space complexity</a:t>
            </a:r>
            <a:r>
              <a:rPr lang="en-US">
                <a:latin typeface="Arial Unicode MS" pitchFamily="34" charset="-128"/>
              </a:rPr>
              <a:t> is </a:t>
            </a:r>
            <a:r>
              <a:rPr lang="en-US" i="1">
                <a:latin typeface="Arial Unicode MS" pitchFamily="34" charset="-128"/>
              </a:rPr>
              <a:t>O(b</a:t>
            </a:r>
            <a:r>
              <a:rPr lang="en-US" i="1" baseline="30000">
                <a:latin typeface="Arial Unicode MS" pitchFamily="34" charset="-128"/>
              </a:rPr>
              <a:t>m</a:t>
            </a:r>
            <a:r>
              <a:rPr lang="en-US" i="1">
                <a:latin typeface="Arial Unicode MS" pitchFamily="34" charset="-128"/>
              </a:rPr>
              <a:t>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ph sz="half" idx="2"/>
          </p:nvPr>
        </p:nvGraphicFramePr>
        <p:xfrm>
          <a:off x="2908300" y="2060575"/>
          <a:ext cx="3248025" cy="2314575"/>
        </p:xfrm>
        <a:graphic>
          <a:graphicData uri="http://schemas.openxmlformats.org/presentationml/2006/ole">
            <p:oleObj spid="_x0000_s260098" name="Acrobat Document" r:id="rId4" imgW="3247619" imgH="2314286" progId="AcroExch.Document.7">
              <p:embed/>
            </p:oleObj>
          </a:graphicData>
        </a:graphic>
      </p:graphicFrame>
      <p:pic>
        <p:nvPicPr>
          <p:cNvPr id="5130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11863" y="3141663"/>
            <a:ext cx="11525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1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16463" y="4508500"/>
            <a:ext cx="115252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Slide </a:t>
            </a:r>
            <a:fld id="{D3652F80-C88B-4513-83BC-085A220574C6}" type="slidenum">
              <a:rPr lang="en-US"/>
              <a:pPr>
                <a:defRPr/>
              </a:pPr>
              <a:t>53</a:t>
            </a:fld>
            <a:endParaRPr lang="en-US" dirty="0"/>
          </a:p>
        </p:txBody>
      </p:sp>
      <p:sp>
        <p:nvSpPr>
          <p:cNvPr id="6158" name="Rectangle 2"/>
          <p:cNvSpPr>
            <a:spLocks noChangeArrowheads="1"/>
          </p:cNvSpPr>
          <p:nvPr/>
        </p:nvSpPr>
        <p:spPr bwMode="auto">
          <a:xfrm>
            <a:off x="395288" y="12684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i="1">
                <a:latin typeface="Arial Unicode MS" pitchFamily="34" charset="-128"/>
              </a:rPr>
              <a:t>A</a:t>
            </a:r>
            <a:r>
              <a:rPr lang="en-US" i="1" baseline="30000">
                <a:latin typeface="Arial Unicode MS" pitchFamily="34" charset="-128"/>
              </a:rPr>
              <a:t>* </a:t>
            </a:r>
            <a:r>
              <a:rPr lang="en-US">
                <a:latin typeface="Arial Unicode MS" pitchFamily="34" charset="-128"/>
              </a:rPr>
              <a:t> is a mix of: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 </a:t>
            </a:r>
            <a:r>
              <a:rPr lang="en-US" sz="2400" b="1">
                <a:latin typeface="Arial Unicode MS" pitchFamily="34" charset="-128"/>
              </a:rPr>
              <a:t>lowest-cost-first</a:t>
            </a:r>
            <a:r>
              <a:rPr lang="en-US" sz="2400">
                <a:latin typeface="Arial Unicode MS" pitchFamily="34" charset="-128"/>
              </a:rPr>
              <a:t> and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 </a:t>
            </a:r>
            <a:r>
              <a:rPr lang="en-US" sz="2400" b="1">
                <a:latin typeface="Arial Unicode MS" pitchFamily="34" charset="-128"/>
              </a:rPr>
              <a:t>best-first search</a:t>
            </a:r>
            <a:endParaRPr lang="en-US" sz="24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i="1">
                <a:latin typeface="Arial Unicode MS" pitchFamily="34" charset="-128"/>
              </a:rPr>
              <a:t>A</a:t>
            </a:r>
            <a:r>
              <a:rPr lang="en-US" i="1" baseline="30000">
                <a:latin typeface="Arial Unicode MS" pitchFamily="34" charset="-128"/>
              </a:rPr>
              <a:t>*</a:t>
            </a:r>
            <a:r>
              <a:rPr lang="en-US">
                <a:latin typeface="Arial Unicode MS" pitchFamily="34" charset="-128"/>
              </a:rPr>
              <a:t> treats the frontier as a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priority queue ordered by </a:t>
            </a:r>
            <a:r>
              <a:rPr lang="en-US" i="1">
                <a:solidFill>
                  <a:schemeClr val="accent2"/>
                </a:solidFill>
                <a:latin typeface="Arial Unicode MS" pitchFamily="34" charset="-128"/>
              </a:rPr>
              <a:t>f(p)=</a:t>
            </a:r>
            <a:endParaRPr lang="en-US">
              <a:solidFill>
                <a:schemeClr val="accent2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chemeClr val="accent2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It always selects the node on the frontier with the ………….. estimated </a:t>
            </a:r>
            <a:r>
              <a:rPr lang="en-US">
                <a:solidFill>
                  <a:schemeClr val="accent2"/>
                </a:solidFill>
                <a:latin typeface="Arial Unicode MS" pitchFamily="34" charset="-128"/>
              </a:rPr>
              <a:t>…………….</a:t>
            </a:r>
            <a:r>
              <a:rPr lang="en-US">
                <a:latin typeface="Arial Unicode MS" pitchFamily="34" charset="-128"/>
              </a:rPr>
              <a:t>distance.</a:t>
            </a:r>
          </a:p>
        </p:txBody>
      </p:sp>
      <p:sp>
        <p:nvSpPr>
          <p:cNvPr id="615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Search Algorithm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0890EB1-BA50-439D-8596-9552351A41FD}" type="slidenum">
              <a:rPr lang="en-US"/>
              <a:pPr>
                <a:defRPr/>
              </a:pPr>
              <a:t>54</a:t>
            </a:fld>
            <a:endParaRPr lang="en-US"/>
          </a:p>
        </p:txBody>
      </p:sp>
      <p:sp>
        <p:nvSpPr>
          <p:cNvPr id="71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Analysis of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</a:p>
        </p:txBody>
      </p:sp>
      <p:sp>
        <p:nvSpPr>
          <p:cNvPr id="71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7177" name="Rectangle 4"/>
          <p:cNvSpPr>
            <a:spLocks noChangeArrowheads="1"/>
          </p:cNvSpPr>
          <p:nvPr/>
        </p:nvSpPr>
        <p:spPr bwMode="auto">
          <a:xfrm>
            <a:off x="357188" y="928688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Let's assume that arc costs are strictly positive.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CC0099"/>
                </a:solidFill>
                <a:latin typeface="Arial Unicode MS" pitchFamily="34" charset="-128"/>
              </a:rPr>
              <a:t>Time complexity</a:t>
            </a:r>
            <a:r>
              <a:rPr lang="en-US">
                <a:latin typeface="Arial Unicode MS" pitchFamily="34" charset="-128"/>
              </a:rPr>
              <a:t> is </a:t>
            </a:r>
            <a:r>
              <a:rPr lang="en-US" i="1">
                <a:latin typeface="Arial Unicode MS" pitchFamily="34" charset="-128"/>
              </a:rPr>
              <a:t>O(b</a:t>
            </a:r>
            <a:r>
              <a:rPr lang="en-US" i="1" baseline="30000">
                <a:latin typeface="Arial Unicode MS" pitchFamily="34" charset="-128"/>
              </a:rPr>
              <a:t>m</a:t>
            </a:r>
            <a:r>
              <a:rPr lang="en-US" i="1">
                <a:latin typeface="Arial Unicode MS" pitchFamily="34" charset="-128"/>
              </a:rPr>
              <a:t>)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 heuristic could be completely uninformative and the edge costs could all be the same, meaning that </a:t>
            </a:r>
            <a:r>
              <a:rPr lang="en-US" sz="2400" i="1">
                <a:latin typeface="Arial Unicode MS" pitchFamily="34" charset="-128"/>
              </a:rPr>
              <a:t>A</a:t>
            </a:r>
            <a:r>
              <a:rPr lang="en-US" sz="2400" i="1" baseline="30000">
                <a:latin typeface="Arial Unicode MS" pitchFamily="34" charset="-128"/>
              </a:rPr>
              <a:t>*</a:t>
            </a:r>
            <a:r>
              <a:rPr lang="en-US" sz="2400">
                <a:latin typeface="Arial Unicode MS" pitchFamily="34" charset="-128"/>
              </a:rPr>
              <a:t> does the same thing as BFS</a:t>
            </a: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CC0099"/>
                </a:solidFill>
                <a:latin typeface="Arial Unicode MS" pitchFamily="34" charset="-128"/>
              </a:rPr>
              <a:t>Space complexity</a:t>
            </a:r>
            <a:r>
              <a:rPr lang="en-US">
                <a:latin typeface="Arial Unicode MS" pitchFamily="34" charset="-128"/>
              </a:rPr>
              <a:t> is </a:t>
            </a:r>
            <a:r>
              <a:rPr lang="en-US" i="1">
                <a:latin typeface="Arial Unicode MS" pitchFamily="34" charset="-128"/>
              </a:rPr>
              <a:t>O(b</a:t>
            </a:r>
            <a:r>
              <a:rPr lang="en-US" i="1" baseline="30000">
                <a:latin typeface="Arial Unicode MS" pitchFamily="34" charset="-128"/>
              </a:rPr>
              <a:t>m</a:t>
            </a:r>
            <a:r>
              <a:rPr lang="en-US" i="1">
                <a:latin typeface="Arial Unicode MS" pitchFamily="34" charset="-128"/>
              </a:rPr>
              <a:t>) </a:t>
            </a:r>
            <a:r>
              <a:rPr lang="en-US" sz="2400">
                <a:latin typeface="Arial Unicode MS" pitchFamily="34" charset="-128"/>
              </a:rPr>
              <a:t>like BFS, </a:t>
            </a:r>
            <a:r>
              <a:rPr lang="en-US" sz="2400" i="1">
                <a:latin typeface="Arial Unicode MS" pitchFamily="34" charset="-128"/>
              </a:rPr>
              <a:t>A</a:t>
            </a:r>
            <a:r>
              <a:rPr lang="en-US" sz="2400" i="1" baseline="30000">
                <a:latin typeface="Arial Unicode MS" pitchFamily="34" charset="-128"/>
              </a:rPr>
              <a:t>*</a:t>
            </a:r>
            <a:r>
              <a:rPr lang="en-US" sz="2400">
                <a:latin typeface="Arial Unicode MS" pitchFamily="34" charset="-128"/>
              </a:rPr>
              <a:t> maintains a frontier which grows with the size of the tree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CC0099"/>
                </a:solidFill>
                <a:latin typeface="Arial Unicode MS" pitchFamily="34" charset="-128"/>
              </a:rPr>
              <a:t>Completeness:</a:t>
            </a:r>
            <a:r>
              <a:rPr lang="en-US">
                <a:latin typeface="Arial Unicode MS" pitchFamily="34" charset="-128"/>
              </a:rPr>
              <a:t> yes.</a:t>
            </a:r>
            <a:endParaRPr lang="en-US" sz="2400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CC0099"/>
              </a:solidFill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CC0099"/>
                </a:solidFill>
                <a:latin typeface="Arial Unicode MS" pitchFamily="34" charset="-128"/>
              </a:rPr>
              <a:t>Optimality:</a:t>
            </a:r>
            <a:r>
              <a:rPr lang="en-US">
                <a:latin typeface="Arial Unicode MS" pitchFamily="34" charset="-128"/>
              </a:rPr>
              <a:t> yes.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3D9ED94-F52E-4E08-B8B2-33E6DF82FC44}" type="slidenum">
              <a:rPr lang="en-US"/>
              <a:pPr>
                <a:defRPr/>
              </a:pPr>
              <a:t>55</a:t>
            </a:fld>
            <a:endParaRPr lang="en-US"/>
          </a:p>
        </p:txBody>
      </p:sp>
      <p:sp>
        <p:nvSpPr>
          <p:cNvPr id="8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Optimality of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</a:p>
        </p:txBody>
      </p:sp>
      <p:sp>
        <p:nvSpPr>
          <p:cNvPr id="8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8204" name="Rectangle 4"/>
          <p:cNvSpPr>
            <a:spLocks noChangeArrowheads="1"/>
          </p:cNvSpPr>
          <p:nvPr/>
        </p:nvSpPr>
        <p:spPr bwMode="auto">
          <a:xfrm>
            <a:off x="395288" y="981075"/>
            <a:ext cx="8458200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>
                <a:latin typeface="Arial Unicode MS" pitchFamily="34" charset="-128"/>
              </a:rPr>
              <a:t>If </a:t>
            </a:r>
            <a:r>
              <a:rPr lang="en-US" i="1">
                <a:latin typeface="Arial Unicode MS" pitchFamily="34" charset="-128"/>
              </a:rPr>
              <a:t>A</a:t>
            </a:r>
            <a:r>
              <a:rPr lang="en-US" i="1" baseline="30000">
                <a:latin typeface="Arial Unicode MS" pitchFamily="34" charset="-128"/>
              </a:rPr>
              <a:t>*</a:t>
            </a:r>
            <a:r>
              <a:rPr lang="en-US">
                <a:latin typeface="Arial Unicode MS" pitchFamily="34" charset="-128"/>
              </a:rPr>
              <a:t> returns a solution, that solution is guaranteed to be optimal, as long as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latin typeface="Arial Unicode MS" pitchFamily="34" charset="-128"/>
              </a:rPr>
              <a:t>When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the branching factor is finite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arc costs are strictly positive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2400" i="1">
                <a:latin typeface="Arial Unicode MS" pitchFamily="34" charset="-128"/>
              </a:rPr>
              <a:t>h(n)</a:t>
            </a:r>
            <a:r>
              <a:rPr lang="en-US" sz="2400">
                <a:latin typeface="Arial Unicode MS" pitchFamily="34" charset="-128"/>
              </a:rPr>
              <a:t> is an underestimate of the length of the shortest path from </a:t>
            </a:r>
            <a:r>
              <a:rPr lang="en-US" sz="2400" i="1">
                <a:latin typeface="Arial Unicode MS" pitchFamily="34" charset="-128"/>
              </a:rPr>
              <a:t>n</a:t>
            </a:r>
            <a:r>
              <a:rPr lang="en-US" sz="2400">
                <a:latin typeface="Arial Unicode MS" pitchFamily="34" charset="-128"/>
              </a:rPr>
              <a:t> to a goal node, and is non-negative</a:t>
            </a:r>
          </a:p>
        </p:txBody>
      </p:sp>
      <p:sp>
        <p:nvSpPr>
          <p:cNvPr id="8205" name="Rectangle 5"/>
          <p:cNvSpPr>
            <a:spLocks noChangeArrowheads="1"/>
          </p:cNvSpPr>
          <p:nvPr/>
        </p:nvSpPr>
        <p:spPr bwMode="auto">
          <a:xfrm>
            <a:off x="250825" y="4724400"/>
            <a:ext cx="8785225" cy="936625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</a:pPr>
            <a:r>
              <a:rPr lang="en-US" sz="2000" b="1">
                <a:latin typeface="Arial Unicode MS" pitchFamily="34" charset="-128"/>
              </a:rPr>
              <a:t>Theorem</a:t>
            </a:r>
          </a:p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 If </a:t>
            </a:r>
            <a:r>
              <a:rPr lang="en-US" sz="2400" i="1">
                <a:latin typeface="Arial Unicode MS" pitchFamily="34" charset="-128"/>
              </a:rPr>
              <a:t>A</a:t>
            </a:r>
            <a:r>
              <a:rPr lang="en-US" sz="2400" i="1" baseline="30000">
                <a:latin typeface="Arial Unicode MS" pitchFamily="34" charset="-128"/>
              </a:rPr>
              <a:t>*</a:t>
            </a:r>
            <a:r>
              <a:rPr lang="en-US" sz="2400">
                <a:latin typeface="Arial Unicode MS" pitchFamily="34" charset="-128"/>
              </a:rPr>
              <a:t> selects a path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>
                <a:latin typeface="Arial Unicode MS" pitchFamily="34" charset="-128"/>
              </a:rPr>
              <a:t>,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>
                <a:latin typeface="Arial Unicode MS" pitchFamily="34" charset="-128"/>
              </a:rPr>
              <a:t> is the shortest (i.e., lowest-cost) path.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8740CBD5-A96E-4E9C-A485-D0563FBD61B0}" type="slidenum">
              <a:rPr lang="en-US"/>
              <a:pPr>
                <a:defRPr/>
              </a:pPr>
              <a:t>56</a:t>
            </a:fld>
            <a:endParaRPr lang="en-US"/>
          </a:p>
        </p:txBody>
      </p:sp>
      <p:sp>
        <p:nvSpPr>
          <p:cNvPr id="92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is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optimal?</a:t>
            </a:r>
          </a:p>
        </p:txBody>
      </p:sp>
      <p:sp>
        <p:nvSpPr>
          <p:cNvPr id="9229" name="Rectangle 4"/>
          <p:cNvSpPr>
            <a:spLocks noChangeArrowheads="1"/>
          </p:cNvSpPr>
          <p:nvPr/>
        </p:nvSpPr>
        <p:spPr bwMode="auto">
          <a:xfrm>
            <a:off x="0" y="1052513"/>
            <a:ext cx="914400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Assume for contradiction that some other path </a:t>
            </a:r>
            <a:r>
              <a:rPr lang="en-US" sz="2400" i="1">
                <a:latin typeface="Arial Unicode MS" pitchFamily="34" charset="-128"/>
              </a:rPr>
              <a:t>p'</a:t>
            </a:r>
            <a:r>
              <a:rPr lang="en-US" sz="2400">
                <a:latin typeface="Arial Unicode MS" pitchFamily="34" charset="-128"/>
              </a:rPr>
              <a:t> is actually the shortest path to a goal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Consider the moment when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>
                <a:latin typeface="Arial Unicode MS" pitchFamily="34" charset="-128"/>
              </a:rPr>
              <a:t> is chosen from the frontier. Some part of path </a:t>
            </a:r>
            <a:r>
              <a:rPr lang="en-US" sz="2400" i="1">
                <a:latin typeface="Arial Unicode MS" pitchFamily="34" charset="-128"/>
              </a:rPr>
              <a:t>p'</a:t>
            </a:r>
            <a:r>
              <a:rPr lang="en-US" sz="2400">
                <a:latin typeface="Arial Unicode MS" pitchFamily="34" charset="-128"/>
              </a:rPr>
              <a:t> will also be on the frontier; let's call this partial path </a:t>
            </a:r>
            <a:r>
              <a:rPr lang="en-US" sz="2400" i="1">
                <a:latin typeface="Arial Unicode MS" pitchFamily="34" charset="-128"/>
              </a:rPr>
              <a:t>p''</a:t>
            </a:r>
            <a:r>
              <a:rPr lang="en-US" sz="2400">
                <a:latin typeface="Arial Unicode MS" pitchFamily="34" charset="-128"/>
              </a:rPr>
              <a:t>.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2786063" y="3357563"/>
            <a:ext cx="3887787" cy="2303462"/>
            <a:chOff x="1730" y="2705"/>
            <a:chExt cx="1828" cy="861"/>
          </a:xfrm>
        </p:grpSpPr>
        <p:sp>
          <p:nvSpPr>
            <p:cNvPr id="9231" name="Oval 6"/>
            <p:cNvSpPr>
              <a:spLocks noChangeArrowheads="1"/>
            </p:cNvSpPr>
            <p:nvPr/>
          </p:nvSpPr>
          <p:spPr bwMode="auto">
            <a:xfrm>
              <a:off x="2879" y="2705"/>
              <a:ext cx="137" cy="13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32" name="Oval 7"/>
            <p:cNvSpPr>
              <a:spLocks noChangeArrowheads="1"/>
            </p:cNvSpPr>
            <p:nvPr/>
          </p:nvSpPr>
          <p:spPr bwMode="auto">
            <a:xfrm>
              <a:off x="3378" y="3113"/>
              <a:ext cx="137" cy="136"/>
            </a:xfrm>
            <a:prstGeom prst="ellipse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33" name="Oval 8"/>
            <p:cNvSpPr>
              <a:spLocks noChangeArrowheads="1"/>
            </p:cNvSpPr>
            <p:nvPr/>
          </p:nvSpPr>
          <p:spPr bwMode="auto">
            <a:xfrm>
              <a:off x="2063" y="3430"/>
              <a:ext cx="137" cy="136"/>
            </a:xfrm>
            <a:prstGeom prst="ellipse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34" name="Oval 9"/>
            <p:cNvSpPr>
              <a:spLocks noChangeArrowheads="1"/>
            </p:cNvSpPr>
            <p:nvPr/>
          </p:nvSpPr>
          <p:spPr bwMode="auto">
            <a:xfrm>
              <a:off x="2426" y="3158"/>
              <a:ext cx="137" cy="13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235" name="Freeform 10"/>
            <p:cNvSpPr>
              <a:spLocks/>
            </p:cNvSpPr>
            <p:nvPr/>
          </p:nvSpPr>
          <p:spPr bwMode="auto">
            <a:xfrm>
              <a:off x="3000" y="2790"/>
              <a:ext cx="435" cy="338"/>
            </a:xfrm>
            <a:custGeom>
              <a:avLst/>
              <a:gdLst>
                <a:gd name="T0" fmla="*/ 5 w 435"/>
                <a:gd name="T1" fmla="*/ 0 h 338"/>
                <a:gd name="T2" fmla="*/ 14 w 435"/>
                <a:gd name="T3" fmla="*/ 64 h 338"/>
                <a:gd name="T4" fmla="*/ 51 w 435"/>
                <a:gd name="T5" fmla="*/ 54 h 338"/>
                <a:gd name="T6" fmla="*/ 106 w 435"/>
                <a:gd name="T7" fmla="*/ 36 h 338"/>
                <a:gd name="T8" fmla="*/ 215 w 435"/>
                <a:gd name="T9" fmla="*/ 164 h 338"/>
                <a:gd name="T10" fmla="*/ 352 w 435"/>
                <a:gd name="T11" fmla="*/ 155 h 338"/>
                <a:gd name="T12" fmla="*/ 398 w 435"/>
                <a:gd name="T13" fmla="*/ 246 h 338"/>
                <a:gd name="T14" fmla="*/ 435 w 435"/>
                <a:gd name="T15" fmla="*/ 338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5"/>
                <a:gd name="T25" fmla="*/ 0 h 338"/>
                <a:gd name="T26" fmla="*/ 435 w 435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5" h="338">
                  <a:moveTo>
                    <a:pt x="5" y="0"/>
                  </a:moveTo>
                  <a:cubicBezTo>
                    <a:pt x="8" y="21"/>
                    <a:pt x="0" y="48"/>
                    <a:pt x="14" y="64"/>
                  </a:cubicBezTo>
                  <a:cubicBezTo>
                    <a:pt x="22" y="74"/>
                    <a:pt x="39" y="58"/>
                    <a:pt x="51" y="54"/>
                  </a:cubicBezTo>
                  <a:cubicBezTo>
                    <a:pt x="69" y="48"/>
                    <a:pt x="106" y="36"/>
                    <a:pt x="106" y="36"/>
                  </a:cubicBezTo>
                  <a:cubicBezTo>
                    <a:pt x="146" y="78"/>
                    <a:pt x="166" y="131"/>
                    <a:pt x="215" y="164"/>
                  </a:cubicBezTo>
                  <a:cubicBezTo>
                    <a:pt x="275" y="152"/>
                    <a:pt x="287" y="146"/>
                    <a:pt x="352" y="155"/>
                  </a:cubicBezTo>
                  <a:cubicBezTo>
                    <a:pt x="361" y="205"/>
                    <a:pt x="351" y="230"/>
                    <a:pt x="398" y="246"/>
                  </a:cubicBezTo>
                  <a:cubicBezTo>
                    <a:pt x="415" y="272"/>
                    <a:pt x="435" y="305"/>
                    <a:pt x="435" y="33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9236" name="Freeform 11"/>
            <p:cNvSpPr>
              <a:spLocks/>
            </p:cNvSpPr>
            <p:nvPr/>
          </p:nvSpPr>
          <p:spPr bwMode="auto">
            <a:xfrm flipH="1">
              <a:off x="2517" y="2841"/>
              <a:ext cx="435" cy="338"/>
            </a:xfrm>
            <a:custGeom>
              <a:avLst/>
              <a:gdLst>
                <a:gd name="T0" fmla="*/ 5 w 435"/>
                <a:gd name="T1" fmla="*/ 0 h 338"/>
                <a:gd name="T2" fmla="*/ 14 w 435"/>
                <a:gd name="T3" fmla="*/ 64 h 338"/>
                <a:gd name="T4" fmla="*/ 51 w 435"/>
                <a:gd name="T5" fmla="*/ 54 h 338"/>
                <a:gd name="T6" fmla="*/ 106 w 435"/>
                <a:gd name="T7" fmla="*/ 36 h 338"/>
                <a:gd name="T8" fmla="*/ 215 w 435"/>
                <a:gd name="T9" fmla="*/ 164 h 338"/>
                <a:gd name="T10" fmla="*/ 352 w 435"/>
                <a:gd name="T11" fmla="*/ 155 h 338"/>
                <a:gd name="T12" fmla="*/ 398 w 435"/>
                <a:gd name="T13" fmla="*/ 246 h 338"/>
                <a:gd name="T14" fmla="*/ 435 w 435"/>
                <a:gd name="T15" fmla="*/ 338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5"/>
                <a:gd name="T25" fmla="*/ 0 h 338"/>
                <a:gd name="T26" fmla="*/ 435 w 435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5" h="338">
                  <a:moveTo>
                    <a:pt x="5" y="0"/>
                  </a:moveTo>
                  <a:cubicBezTo>
                    <a:pt x="8" y="21"/>
                    <a:pt x="0" y="48"/>
                    <a:pt x="14" y="64"/>
                  </a:cubicBezTo>
                  <a:cubicBezTo>
                    <a:pt x="22" y="74"/>
                    <a:pt x="39" y="58"/>
                    <a:pt x="51" y="54"/>
                  </a:cubicBezTo>
                  <a:cubicBezTo>
                    <a:pt x="69" y="48"/>
                    <a:pt x="106" y="36"/>
                    <a:pt x="106" y="36"/>
                  </a:cubicBezTo>
                  <a:cubicBezTo>
                    <a:pt x="146" y="78"/>
                    <a:pt x="166" y="131"/>
                    <a:pt x="215" y="164"/>
                  </a:cubicBezTo>
                  <a:cubicBezTo>
                    <a:pt x="275" y="152"/>
                    <a:pt x="287" y="146"/>
                    <a:pt x="352" y="155"/>
                  </a:cubicBezTo>
                  <a:cubicBezTo>
                    <a:pt x="361" y="205"/>
                    <a:pt x="351" y="230"/>
                    <a:pt x="398" y="246"/>
                  </a:cubicBezTo>
                  <a:cubicBezTo>
                    <a:pt x="415" y="272"/>
                    <a:pt x="435" y="305"/>
                    <a:pt x="435" y="33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9237" name="Text Box 12"/>
            <p:cNvSpPr txBox="1">
              <a:spLocks noChangeArrowheads="1"/>
            </p:cNvSpPr>
            <p:nvPr/>
          </p:nvSpPr>
          <p:spPr bwMode="auto">
            <a:xfrm>
              <a:off x="3378" y="2705"/>
              <a:ext cx="180" cy="19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</a:t>
              </a:r>
            </a:p>
          </p:txBody>
        </p:sp>
        <p:sp>
          <p:nvSpPr>
            <p:cNvPr id="9238" name="Text Box 13"/>
            <p:cNvSpPr txBox="1">
              <a:spLocks noChangeArrowheads="1"/>
            </p:cNvSpPr>
            <p:nvPr/>
          </p:nvSpPr>
          <p:spPr bwMode="auto">
            <a:xfrm>
              <a:off x="1730" y="3186"/>
              <a:ext cx="367" cy="19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p'</a:t>
              </a:r>
            </a:p>
          </p:txBody>
        </p:sp>
        <p:sp>
          <p:nvSpPr>
            <p:cNvPr id="9239" name="Text Box 15"/>
            <p:cNvSpPr txBox="1">
              <a:spLocks noChangeArrowheads="1"/>
            </p:cNvSpPr>
            <p:nvPr/>
          </p:nvSpPr>
          <p:spPr bwMode="auto">
            <a:xfrm>
              <a:off x="2381" y="2750"/>
              <a:ext cx="408" cy="194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p''</a:t>
              </a:r>
              <a:endParaRPr lang="en-US">
                <a:latin typeface="Arial Unicode MS" pitchFamily="34" charset="-128"/>
              </a:endParaRPr>
            </a:p>
          </p:txBody>
        </p:sp>
        <p:sp>
          <p:nvSpPr>
            <p:cNvPr id="9240" name="Freeform 16"/>
            <p:cNvSpPr>
              <a:spLocks/>
            </p:cNvSpPr>
            <p:nvPr/>
          </p:nvSpPr>
          <p:spPr bwMode="auto">
            <a:xfrm>
              <a:off x="2164" y="3283"/>
              <a:ext cx="283" cy="172"/>
            </a:xfrm>
            <a:custGeom>
              <a:avLst/>
              <a:gdLst>
                <a:gd name="T0" fmla="*/ 283 w 283"/>
                <a:gd name="T1" fmla="*/ 0 h 172"/>
                <a:gd name="T2" fmla="*/ 155 w 283"/>
                <a:gd name="T3" fmla="*/ 28 h 172"/>
                <a:gd name="T4" fmla="*/ 91 w 283"/>
                <a:gd name="T5" fmla="*/ 110 h 172"/>
                <a:gd name="T6" fmla="*/ 0 w 283"/>
                <a:gd name="T7" fmla="*/ 156 h 1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3"/>
                <a:gd name="T13" fmla="*/ 0 h 172"/>
                <a:gd name="T14" fmla="*/ 283 w 283"/>
                <a:gd name="T15" fmla="*/ 172 h 1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3" h="172">
                  <a:moveTo>
                    <a:pt x="283" y="0"/>
                  </a:moveTo>
                  <a:cubicBezTo>
                    <a:pt x="230" y="6"/>
                    <a:pt x="202" y="13"/>
                    <a:pt x="155" y="28"/>
                  </a:cubicBezTo>
                  <a:cubicBezTo>
                    <a:pt x="135" y="57"/>
                    <a:pt x="111" y="81"/>
                    <a:pt x="91" y="110"/>
                  </a:cubicBezTo>
                  <a:cubicBezTo>
                    <a:pt x="76" y="172"/>
                    <a:pt x="64" y="156"/>
                    <a:pt x="0" y="1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8</a:t>
            </a:r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4CCC870-4F83-41AE-98E8-11207A924E55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10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Why is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optimal? (cont’)</a:t>
            </a:r>
          </a:p>
        </p:txBody>
      </p:sp>
      <p:sp>
        <p:nvSpPr>
          <p:cNvPr id="10268" name="Rectangle 3"/>
          <p:cNvSpPr>
            <a:spLocks noChangeArrowheads="1"/>
          </p:cNvSpPr>
          <p:nvPr/>
        </p:nvSpPr>
        <p:spPr bwMode="auto">
          <a:xfrm>
            <a:off x="-36513" y="3789363"/>
            <a:ext cx="9180513" cy="2376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endParaRPr lang="en-US" sz="2000">
              <a:latin typeface="Arial Unicode MS" pitchFamily="34" charset="-128"/>
            </a:endParaRPr>
          </a:p>
        </p:txBody>
      </p:sp>
      <p:sp>
        <p:nvSpPr>
          <p:cNvPr id="10269" name="Rectangle 4"/>
          <p:cNvSpPr>
            <a:spLocks noChangeArrowheads="1"/>
          </p:cNvSpPr>
          <p:nvPr/>
        </p:nvSpPr>
        <p:spPr bwMode="auto">
          <a:xfrm>
            <a:off x="179388" y="3357563"/>
            <a:ext cx="9144000" cy="244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Because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>
                <a:latin typeface="Arial Unicode MS" pitchFamily="34" charset="-128"/>
              </a:rPr>
              <a:t> was expanded before </a:t>
            </a:r>
            <a:r>
              <a:rPr lang="en-US" sz="2400" i="1">
                <a:latin typeface="Arial Unicode MS" pitchFamily="34" charset="-128"/>
              </a:rPr>
              <a:t>p''</a:t>
            </a:r>
            <a:r>
              <a:rPr lang="en-US" sz="2400">
                <a:latin typeface="Arial Unicode MS" pitchFamily="34" charset="-128"/>
              </a:rPr>
              <a:t>, 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Because </a:t>
            </a:r>
            <a:r>
              <a:rPr lang="en-US" sz="2400" i="1">
                <a:latin typeface="Arial Unicode MS" pitchFamily="34" charset="-128"/>
              </a:rPr>
              <a:t>p</a:t>
            </a:r>
            <a:r>
              <a:rPr lang="en-US" sz="2400">
                <a:latin typeface="Arial Unicode MS" pitchFamily="34" charset="-128"/>
              </a:rPr>
              <a:t> is a goal, </a:t>
            </a:r>
            <a:r>
              <a:rPr lang="en-US" sz="2400" i="1">
                <a:latin typeface="Arial Unicode MS" pitchFamily="34" charset="-128"/>
              </a:rPr>
              <a:t>	</a:t>
            </a:r>
            <a:r>
              <a:rPr lang="en-US" sz="2400">
                <a:latin typeface="Arial Unicode MS" pitchFamily="34" charset="-128"/>
              </a:rPr>
              <a:t>      Thus 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Because </a:t>
            </a:r>
            <a:r>
              <a:rPr lang="en-US" sz="2400" i="1">
                <a:latin typeface="Arial Unicode MS" pitchFamily="34" charset="-128"/>
              </a:rPr>
              <a:t>h</a:t>
            </a:r>
            <a:r>
              <a:rPr lang="en-US" sz="2400">
                <a:latin typeface="Arial Unicode MS" pitchFamily="34" charset="-128"/>
              </a:rPr>
              <a:t> is admissible, </a:t>
            </a:r>
            <a:r>
              <a:rPr lang="en-US" sz="2400" i="1">
                <a:latin typeface="Arial Unicode MS" pitchFamily="34" charset="-128"/>
              </a:rPr>
              <a:t>cost(p'') + h(p'') </a:t>
            </a:r>
            <a:r>
              <a:rPr lang="en-US" sz="2400" i="1">
                <a:latin typeface="Arial Unicode MS" pitchFamily="34" charset="-128"/>
                <a:sym typeface="Symbol" pitchFamily="18" charset="2"/>
              </a:rPr>
              <a:t></a:t>
            </a:r>
            <a:r>
              <a:rPr lang="en-US" sz="2400" i="1">
                <a:latin typeface="Arial Unicode MS" pitchFamily="34" charset="-128"/>
              </a:rPr>
              <a:t> cost(p')</a:t>
            </a:r>
            <a:r>
              <a:rPr lang="en-US" sz="2400">
                <a:latin typeface="Arial Unicode MS" pitchFamily="34" charset="-128"/>
              </a:rPr>
              <a:t> for any path </a:t>
            </a:r>
            <a:r>
              <a:rPr lang="en-US" sz="2400" i="1">
                <a:latin typeface="Arial Unicode MS" pitchFamily="34" charset="-128"/>
              </a:rPr>
              <a:t>p'</a:t>
            </a:r>
            <a:r>
              <a:rPr lang="en-US" sz="2400">
                <a:latin typeface="Arial Unicode MS" pitchFamily="34" charset="-128"/>
              </a:rPr>
              <a:t> to a goal that extends </a:t>
            </a:r>
            <a:r>
              <a:rPr lang="en-US" sz="2400" i="1">
                <a:latin typeface="Arial Unicode MS" pitchFamily="34" charset="-128"/>
              </a:rPr>
              <a:t>p''</a:t>
            </a:r>
          </a:p>
          <a:p>
            <a:pPr marL="381000" indent="-381000">
              <a:spcBef>
                <a:spcPct val="20000"/>
              </a:spcBef>
              <a:buFontTx/>
              <a:buChar char="•"/>
            </a:pPr>
            <a:r>
              <a:rPr lang="en-US" sz="2400">
                <a:latin typeface="Arial Unicode MS" pitchFamily="34" charset="-128"/>
              </a:rPr>
              <a:t>Thus </a:t>
            </a:r>
            <a:r>
              <a:rPr lang="en-US" sz="2400" i="1">
                <a:latin typeface="Arial Unicode MS" pitchFamily="34" charset="-128"/>
              </a:rPr>
              <a:t>			</a:t>
            </a:r>
            <a:r>
              <a:rPr lang="en-US" sz="2400">
                <a:latin typeface="Arial Unicode MS" pitchFamily="34" charset="-128"/>
              </a:rPr>
              <a:t> for any other path </a:t>
            </a:r>
            <a:r>
              <a:rPr lang="en-US" sz="2400" i="1">
                <a:latin typeface="Arial Unicode MS" pitchFamily="34" charset="-128"/>
              </a:rPr>
              <a:t>p'</a:t>
            </a:r>
            <a:r>
              <a:rPr lang="en-US" sz="2400">
                <a:latin typeface="Arial Unicode MS" pitchFamily="34" charset="-128"/>
              </a:rPr>
              <a:t> to a goal.  </a:t>
            </a:r>
          </a:p>
          <a:p>
            <a:pPr marL="381000" indent="-381000">
              <a:spcBef>
                <a:spcPct val="20000"/>
              </a:spcBef>
            </a:pPr>
            <a:r>
              <a:rPr lang="en-US" sz="2400">
                <a:latin typeface="Arial Unicode MS" pitchFamily="34" charset="-128"/>
              </a:rPr>
              <a:t>This contradicts our assumption that </a:t>
            </a:r>
            <a:r>
              <a:rPr lang="en-US" sz="2400" i="1">
                <a:latin typeface="Arial Unicode MS" pitchFamily="34" charset="-128"/>
              </a:rPr>
              <a:t>p'</a:t>
            </a:r>
            <a:r>
              <a:rPr lang="en-US" sz="2400">
                <a:latin typeface="Arial Unicode MS" pitchFamily="34" charset="-128"/>
              </a:rPr>
              <a:t> is the shortest path.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357438" y="1052513"/>
            <a:ext cx="3668712" cy="1871662"/>
            <a:chOff x="1769" y="2705"/>
            <a:chExt cx="1796" cy="861"/>
          </a:xfrm>
        </p:grpSpPr>
        <p:sp>
          <p:nvSpPr>
            <p:cNvPr id="10271" name="Oval 16"/>
            <p:cNvSpPr>
              <a:spLocks noChangeArrowheads="1"/>
            </p:cNvSpPr>
            <p:nvPr/>
          </p:nvSpPr>
          <p:spPr bwMode="auto">
            <a:xfrm>
              <a:off x="2879" y="2705"/>
              <a:ext cx="137" cy="13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2" name="Oval 17"/>
            <p:cNvSpPr>
              <a:spLocks noChangeArrowheads="1"/>
            </p:cNvSpPr>
            <p:nvPr/>
          </p:nvSpPr>
          <p:spPr bwMode="auto">
            <a:xfrm>
              <a:off x="3378" y="3113"/>
              <a:ext cx="137" cy="136"/>
            </a:xfrm>
            <a:prstGeom prst="ellipse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3" name="Oval 18"/>
            <p:cNvSpPr>
              <a:spLocks noChangeArrowheads="1"/>
            </p:cNvSpPr>
            <p:nvPr/>
          </p:nvSpPr>
          <p:spPr bwMode="auto">
            <a:xfrm>
              <a:off x="2063" y="3430"/>
              <a:ext cx="137" cy="136"/>
            </a:xfrm>
            <a:prstGeom prst="ellipse">
              <a:avLst/>
            </a:prstGeom>
            <a:solidFill>
              <a:srgbClr val="FFFF6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4" name="Oval 19"/>
            <p:cNvSpPr>
              <a:spLocks noChangeArrowheads="1"/>
            </p:cNvSpPr>
            <p:nvPr/>
          </p:nvSpPr>
          <p:spPr bwMode="auto">
            <a:xfrm>
              <a:off x="2426" y="3158"/>
              <a:ext cx="137" cy="136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75" name="Freeform 20"/>
            <p:cNvSpPr>
              <a:spLocks/>
            </p:cNvSpPr>
            <p:nvPr/>
          </p:nvSpPr>
          <p:spPr bwMode="auto">
            <a:xfrm>
              <a:off x="3000" y="2790"/>
              <a:ext cx="435" cy="338"/>
            </a:xfrm>
            <a:custGeom>
              <a:avLst/>
              <a:gdLst>
                <a:gd name="T0" fmla="*/ 5 w 435"/>
                <a:gd name="T1" fmla="*/ 0 h 338"/>
                <a:gd name="T2" fmla="*/ 14 w 435"/>
                <a:gd name="T3" fmla="*/ 64 h 338"/>
                <a:gd name="T4" fmla="*/ 51 w 435"/>
                <a:gd name="T5" fmla="*/ 54 h 338"/>
                <a:gd name="T6" fmla="*/ 106 w 435"/>
                <a:gd name="T7" fmla="*/ 36 h 338"/>
                <a:gd name="T8" fmla="*/ 215 w 435"/>
                <a:gd name="T9" fmla="*/ 164 h 338"/>
                <a:gd name="T10" fmla="*/ 352 w 435"/>
                <a:gd name="T11" fmla="*/ 155 h 338"/>
                <a:gd name="T12" fmla="*/ 398 w 435"/>
                <a:gd name="T13" fmla="*/ 246 h 338"/>
                <a:gd name="T14" fmla="*/ 435 w 435"/>
                <a:gd name="T15" fmla="*/ 338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5"/>
                <a:gd name="T25" fmla="*/ 0 h 338"/>
                <a:gd name="T26" fmla="*/ 435 w 435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5" h="338">
                  <a:moveTo>
                    <a:pt x="5" y="0"/>
                  </a:moveTo>
                  <a:cubicBezTo>
                    <a:pt x="8" y="21"/>
                    <a:pt x="0" y="48"/>
                    <a:pt x="14" y="64"/>
                  </a:cubicBezTo>
                  <a:cubicBezTo>
                    <a:pt x="22" y="74"/>
                    <a:pt x="39" y="58"/>
                    <a:pt x="51" y="54"/>
                  </a:cubicBezTo>
                  <a:cubicBezTo>
                    <a:pt x="69" y="48"/>
                    <a:pt x="106" y="36"/>
                    <a:pt x="106" y="36"/>
                  </a:cubicBezTo>
                  <a:cubicBezTo>
                    <a:pt x="146" y="78"/>
                    <a:pt x="166" y="131"/>
                    <a:pt x="215" y="164"/>
                  </a:cubicBezTo>
                  <a:cubicBezTo>
                    <a:pt x="275" y="152"/>
                    <a:pt x="287" y="146"/>
                    <a:pt x="352" y="155"/>
                  </a:cubicBezTo>
                  <a:cubicBezTo>
                    <a:pt x="361" y="205"/>
                    <a:pt x="351" y="230"/>
                    <a:pt x="398" y="246"/>
                  </a:cubicBezTo>
                  <a:cubicBezTo>
                    <a:pt x="415" y="272"/>
                    <a:pt x="435" y="305"/>
                    <a:pt x="435" y="33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0276" name="Freeform 21"/>
            <p:cNvSpPr>
              <a:spLocks/>
            </p:cNvSpPr>
            <p:nvPr/>
          </p:nvSpPr>
          <p:spPr bwMode="auto">
            <a:xfrm flipH="1">
              <a:off x="2517" y="2841"/>
              <a:ext cx="435" cy="338"/>
            </a:xfrm>
            <a:custGeom>
              <a:avLst/>
              <a:gdLst>
                <a:gd name="T0" fmla="*/ 5 w 435"/>
                <a:gd name="T1" fmla="*/ 0 h 338"/>
                <a:gd name="T2" fmla="*/ 14 w 435"/>
                <a:gd name="T3" fmla="*/ 64 h 338"/>
                <a:gd name="T4" fmla="*/ 51 w 435"/>
                <a:gd name="T5" fmla="*/ 54 h 338"/>
                <a:gd name="T6" fmla="*/ 106 w 435"/>
                <a:gd name="T7" fmla="*/ 36 h 338"/>
                <a:gd name="T8" fmla="*/ 215 w 435"/>
                <a:gd name="T9" fmla="*/ 164 h 338"/>
                <a:gd name="T10" fmla="*/ 352 w 435"/>
                <a:gd name="T11" fmla="*/ 155 h 338"/>
                <a:gd name="T12" fmla="*/ 398 w 435"/>
                <a:gd name="T13" fmla="*/ 246 h 338"/>
                <a:gd name="T14" fmla="*/ 435 w 435"/>
                <a:gd name="T15" fmla="*/ 338 h 3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35"/>
                <a:gd name="T25" fmla="*/ 0 h 338"/>
                <a:gd name="T26" fmla="*/ 435 w 435"/>
                <a:gd name="T27" fmla="*/ 338 h 33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35" h="338">
                  <a:moveTo>
                    <a:pt x="5" y="0"/>
                  </a:moveTo>
                  <a:cubicBezTo>
                    <a:pt x="8" y="21"/>
                    <a:pt x="0" y="48"/>
                    <a:pt x="14" y="64"/>
                  </a:cubicBezTo>
                  <a:cubicBezTo>
                    <a:pt x="22" y="74"/>
                    <a:pt x="39" y="58"/>
                    <a:pt x="51" y="54"/>
                  </a:cubicBezTo>
                  <a:cubicBezTo>
                    <a:pt x="69" y="48"/>
                    <a:pt x="106" y="36"/>
                    <a:pt x="106" y="36"/>
                  </a:cubicBezTo>
                  <a:cubicBezTo>
                    <a:pt x="146" y="78"/>
                    <a:pt x="166" y="131"/>
                    <a:pt x="215" y="164"/>
                  </a:cubicBezTo>
                  <a:cubicBezTo>
                    <a:pt x="275" y="152"/>
                    <a:pt x="287" y="146"/>
                    <a:pt x="352" y="155"/>
                  </a:cubicBezTo>
                  <a:cubicBezTo>
                    <a:pt x="361" y="205"/>
                    <a:pt x="351" y="230"/>
                    <a:pt x="398" y="246"/>
                  </a:cubicBezTo>
                  <a:cubicBezTo>
                    <a:pt x="415" y="272"/>
                    <a:pt x="435" y="305"/>
                    <a:pt x="435" y="33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0277" name="Text Box 22"/>
            <p:cNvSpPr txBox="1">
              <a:spLocks noChangeArrowheads="1"/>
            </p:cNvSpPr>
            <p:nvPr/>
          </p:nvSpPr>
          <p:spPr bwMode="auto">
            <a:xfrm>
              <a:off x="3378" y="2705"/>
              <a:ext cx="187" cy="2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</a:t>
              </a:r>
            </a:p>
          </p:txBody>
        </p:sp>
        <p:sp>
          <p:nvSpPr>
            <p:cNvPr id="10278" name="Text Box 23"/>
            <p:cNvSpPr txBox="1">
              <a:spLocks noChangeArrowheads="1"/>
            </p:cNvSpPr>
            <p:nvPr/>
          </p:nvSpPr>
          <p:spPr bwMode="auto">
            <a:xfrm>
              <a:off x="1769" y="3141"/>
              <a:ext cx="367" cy="2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p'</a:t>
              </a:r>
            </a:p>
          </p:txBody>
        </p:sp>
        <p:sp>
          <p:nvSpPr>
            <p:cNvPr id="10279" name="Text Box 24"/>
            <p:cNvSpPr txBox="1">
              <a:spLocks noChangeArrowheads="1"/>
            </p:cNvSpPr>
            <p:nvPr/>
          </p:nvSpPr>
          <p:spPr bwMode="auto">
            <a:xfrm>
              <a:off x="2381" y="2750"/>
              <a:ext cx="408" cy="23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i="1">
                  <a:latin typeface="Arial Unicode MS" pitchFamily="34" charset="-128"/>
                </a:rPr>
                <a:t>p''</a:t>
              </a:r>
              <a:endParaRPr lang="en-US">
                <a:latin typeface="Arial Unicode MS" pitchFamily="34" charset="-128"/>
              </a:endParaRPr>
            </a:p>
          </p:txBody>
        </p:sp>
        <p:sp>
          <p:nvSpPr>
            <p:cNvPr id="10280" name="Freeform 25"/>
            <p:cNvSpPr>
              <a:spLocks/>
            </p:cNvSpPr>
            <p:nvPr/>
          </p:nvSpPr>
          <p:spPr bwMode="auto">
            <a:xfrm>
              <a:off x="2164" y="3283"/>
              <a:ext cx="283" cy="172"/>
            </a:xfrm>
            <a:custGeom>
              <a:avLst/>
              <a:gdLst>
                <a:gd name="T0" fmla="*/ 283 w 283"/>
                <a:gd name="T1" fmla="*/ 0 h 172"/>
                <a:gd name="T2" fmla="*/ 155 w 283"/>
                <a:gd name="T3" fmla="*/ 28 h 172"/>
                <a:gd name="T4" fmla="*/ 91 w 283"/>
                <a:gd name="T5" fmla="*/ 110 h 172"/>
                <a:gd name="T6" fmla="*/ 0 w 283"/>
                <a:gd name="T7" fmla="*/ 156 h 1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3"/>
                <a:gd name="T13" fmla="*/ 0 h 172"/>
                <a:gd name="T14" fmla="*/ 283 w 283"/>
                <a:gd name="T15" fmla="*/ 172 h 1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3" h="172">
                  <a:moveTo>
                    <a:pt x="283" y="0"/>
                  </a:moveTo>
                  <a:cubicBezTo>
                    <a:pt x="230" y="6"/>
                    <a:pt x="202" y="13"/>
                    <a:pt x="155" y="28"/>
                  </a:cubicBezTo>
                  <a:cubicBezTo>
                    <a:pt x="135" y="57"/>
                    <a:pt x="111" y="81"/>
                    <a:pt x="91" y="110"/>
                  </a:cubicBezTo>
                  <a:cubicBezTo>
                    <a:pt x="76" y="172"/>
                    <a:pt x="64" y="156"/>
                    <a:pt x="0" y="15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A5ABDA3-5AB1-40A4-8C91-075D769181C2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7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Branch-and-Bound Search</a:t>
            </a:r>
          </a:p>
        </p:txBody>
      </p:sp>
      <p:sp>
        <p:nvSpPr>
          <p:cNvPr id="7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692150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7181" name="Rectangle 4"/>
          <p:cNvSpPr>
            <a:spLocks noChangeArrowheads="1"/>
          </p:cNvSpPr>
          <p:nvPr/>
        </p:nvSpPr>
        <p:spPr bwMode="auto">
          <a:xfrm>
            <a:off x="395288" y="12684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What is the biggest advantage of A*?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What is the biggest problem with A*?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Possible Solution: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FFE2C23-9936-44F5-95AE-4A8F819FB3B2}" type="slidenum">
              <a:rPr lang="en-US"/>
              <a:pPr>
                <a:defRPr/>
              </a:pPr>
              <a:t>59</a:t>
            </a:fld>
            <a:endParaRPr lang="en-US"/>
          </a:p>
        </p:txBody>
      </p:sp>
      <p:sp>
        <p:nvSpPr>
          <p:cNvPr id="8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Branch-and-Bound Search Algorithm</a:t>
            </a:r>
          </a:p>
        </p:txBody>
      </p:sp>
      <p:sp>
        <p:nvSpPr>
          <p:cNvPr id="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08050"/>
            <a:ext cx="8458200" cy="2160588"/>
          </a:xfrm>
          <a:ln>
            <a:solidFill>
              <a:schemeClr val="accent2"/>
            </a:solidFill>
          </a:ln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400" smtClean="0"/>
              <a:t>Follow exactly the same search path as </a:t>
            </a:r>
            <a:r>
              <a:rPr lang="en-US" sz="2400" b="1" smtClean="0">
                <a:solidFill>
                  <a:schemeClr val="accent2"/>
                </a:solidFill>
              </a:rPr>
              <a:t>depth-first 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treat the frontier as a stack: expand the most-recently added path first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/>
              <a:t>the order in which neighbors are expanded can be governed by some arbitrary node-ordering heuristic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5CB1FCE0-59DF-4975-9C55-964553A74998}" type="slidenum">
              <a:rPr lang="en-US"/>
              <a:pPr>
                <a:defRPr/>
              </a:pPr>
              <a:t>60</a:t>
            </a:fld>
            <a:endParaRPr lang="en-US"/>
          </a:p>
        </p:txBody>
      </p:sp>
      <p:sp>
        <p:nvSpPr>
          <p:cNvPr id="9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Branch-and-Bound Search Algorithm</a:t>
            </a:r>
          </a:p>
        </p:txBody>
      </p:sp>
      <p:sp>
        <p:nvSpPr>
          <p:cNvPr id="9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836613"/>
            <a:ext cx="8458200" cy="4968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400" smtClean="0"/>
              <a:t>Keep track of a </a:t>
            </a:r>
            <a:r>
              <a:rPr lang="en-US" sz="2400" smtClean="0">
                <a:solidFill>
                  <a:schemeClr val="accent2"/>
                </a:solidFill>
              </a:rPr>
              <a:t>lower bound</a:t>
            </a:r>
            <a:r>
              <a:rPr lang="en-US" sz="2400" smtClean="0"/>
              <a:t> and </a:t>
            </a:r>
            <a:r>
              <a:rPr lang="en-US" sz="2400" smtClean="0">
                <a:solidFill>
                  <a:schemeClr val="accent2"/>
                </a:solidFill>
              </a:rPr>
              <a:t>upper bound</a:t>
            </a:r>
            <a:r>
              <a:rPr lang="en-US" sz="2400" smtClean="0"/>
              <a:t> on solution cost at each path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accent2"/>
                </a:solidFill>
              </a:rPr>
              <a:t>lower bound</a:t>
            </a:r>
            <a:r>
              <a:rPr lang="en-US" sz="2000" smtClean="0"/>
              <a:t>: </a:t>
            </a:r>
            <a:r>
              <a:rPr lang="en-US" sz="2000" i="1" smtClean="0"/>
              <a:t>LB(p) =  f(p) = cost(p) + h(p)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solidFill>
                  <a:schemeClr val="accent2"/>
                </a:solidFill>
              </a:rPr>
              <a:t>upper bound:</a:t>
            </a:r>
            <a:r>
              <a:rPr lang="en-US" sz="2000" smtClean="0"/>
              <a:t> </a:t>
            </a:r>
            <a:r>
              <a:rPr lang="en-US" sz="2000" i="1" smtClean="0"/>
              <a:t>UB = </a:t>
            </a:r>
            <a:r>
              <a:rPr lang="en-US" sz="2000" smtClean="0"/>
              <a:t>cost of  the best solution found so far.</a:t>
            </a:r>
          </a:p>
          <a:p>
            <a:pPr lvl="2" eaLnBrk="1" hangingPunct="1">
              <a:lnSpc>
                <a:spcPct val="90000"/>
              </a:lnSpc>
            </a:pPr>
            <a:r>
              <a:rPr lang="en-US" sz="1800" smtClean="0"/>
              <a:t>if no solution has been found yet, set the upper bound to </a:t>
            </a:r>
            <a:r>
              <a:rPr lang="en-US" sz="2400" smtClean="0">
                <a:sym typeface="Symbol" pitchFamily="18" charset="2"/>
              </a:rPr>
              <a:t></a:t>
            </a:r>
            <a:r>
              <a:rPr lang="en-US" sz="1800" smtClean="0"/>
              <a:t>.</a:t>
            </a:r>
          </a:p>
          <a:p>
            <a:pPr eaLnBrk="1" hangingPunct="1">
              <a:lnSpc>
                <a:spcPct val="90000"/>
              </a:lnSpc>
              <a:buFontTx/>
              <a:buChar char="•"/>
            </a:pPr>
            <a:r>
              <a:rPr lang="en-US" sz="2400" smtClean="0"/>
              <a:t>When a path </a:t>
            </a:r>
            <a:r>
              <a:rPr lang="en-US" sz="2400" i="1" smtClean="0"/>
              <a:t>p</a:t>
            </a:r>
            <a:r>
              <a:rPr lang="en-US" sz="2400" smtClean="0"/>
              <a:t> is selected for expansion: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if </a:t>
            </a:r>
            <a:r>
              <a:rPr lang="en-US" sz="2000" i="1" smtClean="0"/>
              <a:t>LB(p) </a:t>
            </a:r>
            <a:r>
              <a:rPr lang="en-US" sz="2000" smtClean="0">
                <a:sym typeface="Symbol" pitchFamily="18" charset="2"/>
              </a:rPr>
              <a:t></a:t>
            </a:r>
            <a:r>
              <a:rPr lang="en-US" sz="2000" i="1" smtClean="0"/>
              <a:t>UB</a:t>
            </a:r>
            <a:r>
              <a:rPr lang="en-US" sz="2000" smtClean="0"/>
              <a:t>, remove </a:t>
            </a:r>
            <a:r>
              <a:rPr lang="en-US" sz="2000" i="1" smtClean="0"/>
              <a:t>p</a:t>
            </a:r>
            <a:r>
              <a:rPr lang="en-US" sz="2000" smtClean="0"/>
              <a:t> from frontier without expanding it (pruning)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else expand </a:t>
            </a:r>
            <a:r>
              <a:rPr lang="en-US" sz="2000" i="1" smtClean="0"/>
              <a:t>p</a:t>
            </a:r>
            <a:r>
              <a:rPr lang="en-US" sz="2000" smtClean="0"/>
              <a:t>, adding all of its neighbors to the frontier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28E89F4C-880E-4E19-8F9A-7C90025D95FD}" type="slidenum">
              <a:rPr lang="en-US"/>
              <a:pPr>
                <a:defRPr/>
              </a:pPr>
              <a:t>61</a:t>
            </a:fld>
            <a:endParaRPr lang="en-US"/>
          </a:p>
        </p:txBody>
      </p:sp>
      <p:sp>
        <p:nvSpPr>
          <p:cNvPr id="102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Branch-and-Bound Analysis</a:t>
            </a:r>
          </a:p>
        </p:txBody>
      </p:sp>
      <p:sp>
        <p:nvSpPr>
          <p:cNvPr id="102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839200" cy="4924425"/>
          </a:xfrm>
        </p:spPr>
        <p:txBody>
          <a:bodyPr/>
          <a:lstStyle/>
          <a:p>
            <a:pPr eaLnBrk="1" hangingPunct="1">
              <a:buFontTx/>
              <a:buChar char="•"/>
            </a:pPr>
            <a:r>
              <a:rPr lang="en-US" smtClean="0">
                <a:solidFill>
                  <a:srgbClr val="CC0099"/>
                </a:solidFill>
              </a:rPr>
              <a:t>Completeness</a:t>
            </a:r>
            <a:r>
              <a:rPr lang="en-US" smtClean="0"/>
              <a:t>: no, for the same reasons that DFS isn't complete</a:t>
            </a:r>
          </a:p>
          <a:p>
            <a:pPr lvl="1" eaLnBrk="1" hangingPunct="1"/>
            <a:r>
              <a:rPr lang="en-US" smtClean="0"/>
              <a:t>however, for many problems of interest there are no infinite paths and no cycles</a:t>
            </a:r>
          </a:p>
          <a:p>
            <a:pPr lvl="1" eaLnBrk="1" hangingPunct="1"/>
            <a:r>
              <a:rPr lang="en-US" smtClean="0"/>
              <a:t>hence, for many problems B&amp;B is complete</a:t>
            </a:r>
          </a:p>
          <a:p>
            <a:pPr eaLnBrk="1" hangingPunct="1">
              <a:buFontTx/>
              <a:buChar char="•"/>
            </a:pPr>
            <a:r>
              <a:rPr lang="en-US" smtClean="0">
                <a:solidFill>
                  <a:srgbClr val="CC0099"/>
                </a:solidFill>
              </a:rPr>
              <a:t>Time complexity</a:t>
            </a:r>
            <a:r>
              <a:rPr lang="en-US" smtClean="0"/>
              <a:t>: </a:t>
            </a:r>
            <a:r>
              <a:rPr lang="en-US" i="1" smtClean="0"/>
              <a:t>O(b</a:t>
            </a:r>
            <a:r>
              <a:rPr lang="en-US" i="1" baseline="30000" smtClean="0"/>
              <a:t>m</a:t>
            </a:r>
            <a:r>
              <a:rPr lang="en-US" i="1" smtClean="0"/>
              <a:t>)</a:t>
            </a:r>
          </a:p>
          <a:p>
            <a:pPr eaLnBrk="1" hangingPunct="1">
              <a:buFontTx/>
              <a:buChar char="•"/>
            </a:pPr>
            <a:r>
              <a:rPr lang="en-US" smtClean="0">
                <a:solidFill>
                  <a:srgbClr val="CC0099"/>
                </a:solidFill>
              </a:rPr>
              <a:t>Space complexity</a:t>
            </a:r>
            <a:r>
              <a:rPr lang="en-US" smtClean="0"/>
              <a:t>: </a:t>
            </a:r>
            <a:r>
              <a:rPr lang="en-US" i="1" smtClean="0"/>
              <a:t>O(mb)</a:t>
            </a:r>
          </a:p>
          <a:p>
            <a:pPr lvl="1" eaLnBrk="1" hangingPunct="1"/>
            <a:r>
              <a:rPr lang="en-US" smtClean="0"/>
              <a:t>Branch &amp; Bound has the same space complexity as DFS</a:t>
            </a:r>
          </a:p>
          <a:p>
            <a:pPr lvl="1" eaLnBrk="1" hangingPunct="1"/>
            <a:r>
              <a:rPr lang="en-US" smtClean="0"/>
              <a:t>this is a big improvement over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!</a:t>
            </a:r>
          </a:p>
          <a:p>
            <a:pPr eaLnBrk="1" hangingPunct="1">
              <a:buFontTx/>
              <a:buChar char="•"/>
            </a:pPr>
            <a:r>
              <a:rPr lang="en-US" smtClean="0">
                <a:solidFill>
                  <a:srgbClr val="CC0099"/>
                </a:solidFill>
              </a:rPr>
              <a:t>Optimality</a:t>
            </a:r>
            <a:r>
              <a:rPr lang="en-US" smtClean="0"/>
              <a:t>: yes.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05C269A6-033A-4338-B268-A63B89801E71}" type="slidenum">
              <a:rPr lang="en-US"/>
              <a:pPr>
                <a:defRPr/>
              </a:pPr>
              <a:t>62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Enhancements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main problem with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is that it uses exponential space.  Branch and bound was one way around this problem.  Are there others?</a:t>
            </a:r>
          </a:p>
          <a:p>
            <a:pPr eaLnBrk="1" hangingPunct="1"/>
            <a:endParaRPr lang="en-US" smtClean="0"/>
          </a:p>
          <a:p>
            <a:pPr eaLnBrk="1" hangingPunct="1">
              <a:buFontTx/>
              <a:buChar char="•"/>
            </a:pPr>
            <a:r>
              <a:rPr lang="en-US" smtClean="0"/>
              <a:t>Iterative deepening A*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Memory-bounded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05C269A6-033A-4338-B268-A63B89801E71}" type="slidenum">
              <a:rPr lang="en-US"/>
              <a:pPr>
                <a:defRPr/>
              </a:pPr>
              <a:t>63</a:t>
            </a:fld>
            <a:endParaRPr lang="en-US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Enhancements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The main problem with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is that it uses exponential space.  Branch and bound was one way around this problem.  Are there others?</a:t>
            </a:r>
          </a:p>
          <a:p>
            <a:pPr eaLnBrk="1" hangingPunct="1"/>
            <a:endParaRPr lang="en-US" smtClean="0"/>
          </a:p>
          <a:p>
            <a:pPr eaLnBrk="1" hangingPunct="1">
              <a:buFontTx/>
              <a:buChar char="•"/>
            </a:pPr>
            <a:r>
              <a:rPr lang="en-US" smtClean="0"/>
              <a:t>Iterative deepening A*</a:t>
            </a:r>
          </a:p>
          <a:p>
            <a:pPr eaLnBrk="1" hangingPunct="1">
              <a:buFontTx/>
              <a:buChar char="•"/>
            </a:pPr>
            <a:r>
              <a:rPr lang="en-US" smtClean="0"/>
              <a:t>Memory-bounded </a:t>
            </a:r>
            <a:r>
              <a:rPr lang="en-US" i="1" smtClean="0"/>
              <a:t>A</a:t>
            </a:r>
            <a:r>
              <a:rPr lang="en-US" i="1" baseline="30000" smtClean="0"/>
              <a:t>*</a:t>
            </a:r>
            <a:r>
              <a:rPr lang="en-US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81C415AE-9C91-4349-A09C-E6783ECE9632}" type="slidenum">
              <a:rPr lang="en-US"/>
              <a:pPr>
                <a:defRPr/>
              </a:pPr>
              <a:t>64</a:t>
            </a:fld>
            <a:endParaRPr lang="en-US"/>
          </a:p>
        </p:txBody>
      </p:sp>
      <p:sp>
        <p:nvSpPr>
          <p:cNvPr id="143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Cycle Checking</a:t>
            </a:r>
          </a:p>
        </p:txBody>
      </p:sp>
      <p:sp>
        <p:nvSpPr>
          <p:cNvPr id="143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4313" y="3500438"/>
            <a:ext cx="8642350" cy="2141537"/>
          </a:xfrm>
        </p:spPr>
        <p:txBody>
          <a:bodyPr/>
          <a:lstStyle/>
          <a:p>
            <a:pPr marL="0" indent="0" eaLnBrk="1" hangingPunct="1"/>
            <a:r>
              <a:rPr lang="en-US" sz="2400" dirty="0" smtClean="0"/>
              <a:t>You can prune a path that ends in a node already on the path. This pruning cannot remove an optimal solution.</a:t>
            </a:r>
          </a:p>
          <a:p>
            <a:pPr marL="0" indent="0" eaLnBrk="1" hangingPunct="1">
              <a:buFontTx/>
              <a:buChar char="•"/>
            </a:pPr>
            <a:r>
              <a:rPr lang="en-US" sz="2400" dirty="0" smtClean="0"/>
              <a:t> The time is ………………… in path length.</a:t>
            </a: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>
            <p:ph sz="half" idx="2"/>
          </p:nvPr>
        </p:nvGraphicFramePr>
        <p:xfrm>
          <a:off x="3027363" y="908050"/>
          <a:ext cx="2330450" cy="2411413"/>
        </p:xfrm>
        <a:graphic>
          <a:graphicData uri="http://schemas.openxmlformats.org/presentationml/2006/ole">
            <p:oleObj spid="_x0000_s355330" name="Acrobat Document" r:id="rId4" imgW="1390844" imgH="1438095" progId="AcroExch.Document.7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10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B79B47E7-2555-4149-97AD-6F15322DD24A}" type="slidenum">
              <a:rPr lang="en-US"/>
              <a:pPr>
                <a:defRPr/>
              </a:pPr>
              <a:t>65</a:t>
            </a:fld>
            <a:endParaRPr lang="en-US"/>
          </a:p>
        </p:txBody>
      </p:sp>
      <p:sp>
        <p:nvSpPr>
          <p:cNvPr id="153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Repeated States / Multiple Paths</a:t>
            </a:r>
          </a:p>
        </p:txBody>
      </p:sp>
      <p:sp>
        <p:nvSpPr>
          <p:cNvPr id="153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908050"/>
            <a:ext cx="8458200" cy="4495800"/>
          </a:xfrm>
        </p:spPr>
        <p:txBody>
          <a:bodyPr/>
          <a:lstStyle/>
          <a:p>
            <a:pPr eaLnBrk="1" hangingPunct="1"/>
            <a:r>
              <a:rPr lang="en-US" dirty="0" smtClean="0"/>
              <a:t>Failure to detect repeated states can turn a linear problem into an exponential one!</a:t>
            </a:r>
          </a:p>
        </p:txBody>
      </p:sp>
      <p:pic>
        <p:nvPicPr>
          <p:cNvPr id="15371" name="Picture 4" descr="ribbon-spac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3850" y="1989138"/>
            <a:ext cx="822960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9" name="Title 1"/>
          <p:cNvSpPr>
            <a:spLocks noGrp="1"/>
          </p:cNvSpPr>
          <p:nvPr>
            <p:ph type="title"/>
          </p:nvPr>
        </p:nvSpPr>
        <p:spPr>
          <a:xfrm>
            <a:off x="2857500" y="500063"/>
            <a:ext cx="5767388" cy="685800"/>
          </a:xfrm>
        </p:spPr>
        <p:txBody>
          <a:bodyPr/>
          <a:lstStyle/>
          <a:p>
            <a:pPr eaLnBrk="1" hangingPunct="1"/>
            <a:r>
              <a:rPr lang="en-US" smtClean="0"/>
              <a:t>Pruning Cycles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FEB334ED-E241-4B7C-85AE-DCD0B499FD42}" type="slidenum">
              <a:rPr lang="en-US"/>
              <a:pPr>
                <a:defRPr/>
              </a:pPr>
              <a:t>66</a:t>
            </a:fld>
            <a:endParaRPr lang="en-US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4143375" y="3786188"/>
            <a:ext cx="5000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600" kern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Repeated States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10</a:t>
            </a:r>
          </a:p>
        </p:txBody>
      </p:sp>
      <p:sp>
        <p:nvSpPr>
          <p:cNvPr id="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E3CEC5D2-C157-4E69-88FB-990DAB85CA0E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1127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Search in Practice</a:t>
            </a:r>
          </a:p>
        </p:txBody>
      </p:sp>
      <p:sp>
        <p:nvSpPr>
          <p:cNvPr id="11273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1800" smtClean="0"/>
          </a:p>
          <a:p>
            <a:pPr marL="0" indent="0" eaLnBrk="1" hangingPunct="1">
              <a:buFontTx/>
              <a:buChar char="•"/>
            </a:pPr>
            <a:endParaRPr lang="en-US" sz="2000" smtClean="0"/>
          </a:p>
          <a:p>
            <a:pPr lvl="1" eaLnBrk="1" hangingPunct="1"/>
            <a:endParaRPr lang="en-US" sz="1800" smtClean="0"/>
          </a:p>
        </p:txBody>
      </p:sp>
      <p:graphicFrame>
        <p:nvGraphicFramePr>
          <p:cNvPr id="563204" name="Group 4"/>
          <p:cNvGraphicFramePr>
            <a:graphicFrameLocks noGrp="1"/>
          </p:cNvGraphicFramePr>
          <p:nvPr>
            <p:ph sz="half" idx="2"/>
          </p:nvPr>
        </p:nvGraphicFramePr>
        <p:xfrm>
          <a:off x="149225" y="838200"/>
          <a:ext cx="8820150" cy="5892801"/>
        </p:xfrm>
        <a:graphic>
          <a:graphicData uri="http://schemas.openxmlformats.org/drawingml/2006/table">
            <a:tbl>
              <a:tblPr/>
              <a:tblGrid>
                <a:gridCol w="1704975"/>
                <a:gridCol w="1878013"/>
                <a:gridCol w="1738312"/>
                <a:gridCol w="1503363"/>
                <a:gridCol w="1995487"/>
              </a:tblGrid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Complete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Optimal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Time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Space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DFS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Unicode MS" pitchFamily="34" charset="-128"/>
                        </a:rPr>
                        <a:t>O(mb)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8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BFS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Unicode MS" pitchFamily="34" charset="-128"/>
                        </a:rPr>
                        <a:t>IDS(C)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Unicode MS" pitchFamily="34" charset="-128"/>
                        </a:rPr>
                        <a:t>O(mb)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43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LCFS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BFS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A*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Unicode MS" pitchFamily="34" charset="-128"/>
                        </a:rPr>
                        <a:t>B&amp;B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Unicode MS" pitchFamily="34" charset="-128"/>
                        </a:rPr>
                        <a:t>O(mb)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Unicode MS" pitchFamily="34" charset="-128"/>
                        </a:rPr>
                        <a:t>IDA*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Arial Unicode MS" pitchFamily="34" charset="-128"/>
                        </a:rPr>
                        <a:t>O(mb)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 Unicode MS" pitchFamily="34" charset="-128"/>
                        </a:rPr>
                        <a:t>MBA*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BDS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Y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m/2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O(b</a:t>
                      </a:r>
                      <a:r>
                        <a:rPr kumimoji="0" lang="en-US" sz="2400" b="0" i="1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m/2</a:t>
                      </a:r>
                      <a:r>
                        <a:rPr kumimoji="0" lang="en-US" sz="24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)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10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341FAADB-29F2-4E94-9E1A-97868A12BDC7}" type="slidenum">
              <a:rPr lang="en-US"/>
              <a:pPr>
                <a:defRPr/>
              </a:pPr>
              <a:t>68</a:t>
            </a:fld>
            <a:endParaRPr lang="en-US"/>
          </a:p>
        </p:txBody>
      </p:sp>
      <p:sp>
        <p:nvSpPr>
          <p:cNvPr id="12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Search in Practice (cont’)</a:t>
            </a:r>
            <a:endParaRPr lang="en-US" i="1" baseline="30000" smtClean="0"/>
          </a:p>
        </p:txBody>
      </p:sp>
      <p:sp>
        <p:nvSpPr>
          <p:cNvPr id="1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714375"/>
            <a:ext cx="8893175" cy="5616575"/>
          </a:xfrm>
        </p:spPr>
        <p:txBody>
          <a:bodyPr/>
          <a:lstStyle/>
          <a:p>
            <a:pPr lvl="1" eaLnBrk="1" hangingPunct="1">
              <a:lnSpc>
                <a:spcPct val="60000"/>
              </a:lnSpc>
              <a:buFontTx/>
              <a:buNone/>
            </a:pPr>
            <a:endParaRPr lang="en-US" sz="2000" smtClean="0"/>
          </a:p>
          <a:p>
            <a:pPr eaLnBrk="1" hangingPunct="1">
              <a:buFontTx/>
              <a:buChar char="•"/>
            </a:pPr>
            <a:endParaRPr lang="en-US" sz="2400" smtClean="0"/>
          </a:p>
          <a:p>
            <a:pPr lvl="1" eaLnBrk="1" hangingPunct="1"/>
            <a:endParaRPr lang="en-US" sz="2000" smtClean="0"/>
          </a:p>
        </p:txBody>
      </p:sp>
      <p:sp>
        <p:nvSpPr>
          <p:cNvPr id="12308" name="Rectangle 4"/>
          <p:cNvSpPr>
            <a:spLocks noChangeArrowheads="1"/>
          </p:cNvSpPr>
          <p:nvPr/>
        </p:nvSpPr>
        <p:spPr bwMode="auto">
          <a:xfrm>
            <a:off x="0" y="620713"/>
            <a:ext cx="84582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b="0">
              <a:latin typeface="Arial Unicode MS" pitchFamily="34" charset="-128"/>
            </a:endParaRPr>
          </a:p>
        </p:txBody>
      </p:sp>
      <p:sp>
        <p:nvSpPr>
          <p:cNvPr id="12309" name="Line 9"/>
          <p:cNvSpPr>
            <a:spLocks noChangeShapeType="1"/>
          </p:cNvSpPr>
          <p:nvPr/>
        </p:nvSpPr>
        <p:spPr bwMode="auto">
          <a:xfrm flipV="1">
            <a:off x="2214563" y="1285875"/>
            <a:ext cx="27146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12310" name="Line 10"/>
          <p:cNvSpPr>
            <a:spLocks noChangeShapeType="1"/>
          </p:cNvSpPr>
          <p:nvPr/>
        </p:nvSpPr>
        <p:spPr bwMode="auto">
          <a:xfrm>
            <a:off x="2143125" y="2214563"/>
            <a:ext cx="1724025" cy="1301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12311" name="Line 11"/>
          <p:cNvSpPr>
            <a:spLocks noChangeShapeType="1"/>
          </p:cNvSpPr>
          <p:nvPr/>
        </p:nvSpPr>
        <p:spPr bwMode="auto">
          <a:xfrm flipV="1">
            <a:off x="3867150" y="2219325"/>
            <a:ext cx="2160588" cy="1296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CA"/>
          </a:p>
        </p:txBody>
      </p:sp>
      <p:sp>
        <p:nvSpPr>
          <p:cNvPr id="12312" name="Line 12"/>
          <p:cNvSpPr>
            <a:spLocks noChangeShapeType="1"/>
          </p:cNvSpPr>
          <p:nvPr/>
        </p:nvSpPr>
        <p:spPr bwMode="auto">
          <a:xfrm>
            <a:off x="3867150" y="3516313"/>
            <a:ext cx="1800225" cy="792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12313" name="Line 13"/>
          <p:cNvSpPr>
            <a:spLocks noChangeShapeType="1"/>
          </p:cNvSpPr>
          <p:nvPr/>
        </p:nvSpPr>
        <p:spPr bwMode="auto">
          <a:xfrm flipV="1">
            <a:off x="6072188" y="3357563"/>
            <a:ext cx="1801812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>
            <a:spAutoFit/>
          </a:bodyPr>
          <a:lstStyle/>
          <a:p>
            <a:endParaRPr lang="en-CA"/>
          </a:p>
        </p:txBody>
      </p:sp>
      <p:sp>
        <p:nvSpPr>
          <p:cNvPr id="12314" name="Line 14"/>
          <p:cNvSpPr>
            <a:spLocks noChangeShapeType="1"/>
          </p:cNvSpPr>
          <p:nvPr/>
        </p:nvSpPr>
        <p:spPr bwMode="auto">
          <a:xfrm>
            <a:off x="5667375" y="4308475"/>
            <a:ext cx="2449513" cy="1079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spAutoFit/>
          </a:bodyPr>
          <a:lstStyle/>
          <a:p>
            <a:endParaRPr lang="en-CA"/>
          </a:p>
        </p:txBody>
      </p:sp>
      <p:sp>
        <p:nvSpPr>
          <p:cNvPr id="12315" name="Rectangle 15"/>
          <p:cNvSpPr>
            <a:spLocks noChangeArrowheads="1"/>
          </p:cNvSpPr>
          <p:nvPr/>
        </p:nvSpPr>
        <p:spPr bwMode="auto">
          <a:xfrm>
            <a:off x="428625" y="2928938"/>
            <a:ext cx="4286250" cy="131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457200" indent="-685800">
              <a:spcAft>
                <a:spcPct val="20000"/>
              </a:spcAft>
            </a:pPr>
            <a:r>
              <a:rPr lang="en-US">
                <a:latin typeface="Arial Unicode MS" pitchFamily="34" charset="-128"/>
              </a:rPr>
              <a:t/>
            </a:r>
            <a:br>
              <a:rPr lang="en-US">
                <a:latin typeface="Arial Unicode MS" pitchFamily="34" charset="-128"/>
              </a:rPr>
            </a:br>
            <a:r>
              <a:rPr lang="en-US">
                <a:latin typeface="Arial Unicode MS" pitchFamily="34" charset="-128"/>
              </a:rPr>
              <a:t>Many paths to solution, no  </a:t>
            </a:r>
            <a:r>
              <a:rPr lang="en-US" sz="360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∞</a:t>
            </a:r>
            <a:r>
              <a:rPr lang="en-US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>
                <a:latin typeface="Arial Unicode MS" pitchFamily="34" charset="-128"/>
              </a:rPr>
              <a:t>paths?</a:t>
            </a:r>
            <a:br>
              <a:rPr lang="en-US">
                <a:latin typeface="Arial Unicode MS" pitchFamily="34" charset="-128"/>
              </a:rPr>
            </a:br>
            <a:endParaRPr lang="en-US" i="1" baseline="30000">
              <a:latin typeface="Arial Unicode MS" pitchFamily="34" charset="-128"/>
            </a:endParaRPr>
          </a:p>
        </p:txBody>
      </p:sp>
      <p:sp>
        <p:nvSpPr>
          <p:cNvPr id="12316" name="Rectangle 15"/>
          <p:cNvSpPr>
            <a:spLocks noChangeArrowheads="1"/>
          </p:cNvSpPr>
          <p:nvPr/>
        </p:nvSpPr>
        <p:spPr bwMode="auto">
          <a:xfrm>
            <a:off x="214313" y="2143125"/>
            <a:ext cx="207168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685800" indent="-685800">
              <a:spcAft>
                <a:spcPct val="20000"/>
              </a:spcAft>
            </a:pPr>
            <a:r>
              <a:rPr lang="en-US">
                <a:latin typeface="Arial Unicode MS" pitchFamily="34" charset="-128"/>
              </a:rPr>
              <a:t>Informed?</a:t>
            </a:r>
            <a:br>
              <a:rPr lang="en-US">
                <a:latin typeface="Arial Unicode MS" pitchFamily="34" charset="-128"/>
              </a:rPr>
            </a:br>
            <a:r>
              <a:rPr lang="en-US">
                <a:latin typeface="Arial Unicode MS" pitchFamily="34" charset="-128"/>
              </a:rPr>
              <a:t/>
            </a:r>
            <a:br>
              <a:rPr lang="en-US">
                <a:latin typeface="Arial Unicode MS" pitchFamily="34" charset="-128"/>
              </a:rPr>
            </a:br>
            <a:endParaRPr lang="en-US" i="1" baseline="30000">
              <a:latin typeface="Arial Unicode MS" pitchFamily="34" charset="-128"/>
            </a:endParaRPr>
          </a:p>
        </p:txBody>
      </p:sp>
      <p:sp>
        <p:nvSpPr>
          <p:cNvPr id="12317" name="Rectangle 15"/>
          <p:cNvSpPr>
            <a:spLocks noChangeArrowheads="1"/>
          </p:cNvSpPr>
          <p:nvPr/>
        </p:nvSpPr>
        <p:spPr bwMode="auto">
          <a:xfrm>
            <a:off x="2214563" y="4572000"/>
            <a:ext cx="4214812" cy="928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685800" indent="-685800">
              <a:spcAft>
                <a:spcPct val="20000"/>
              </a:spcAft>
            </a:pPr>
            <a:r>
              <a:rPr lang="en-US">
                <a:latin typeface="Arial Unicode MS" pitchFamily="34" charset="-128"/>
              </a:rPr>
              <a:t>Large branching factor?</a:t>
            </a:r>
            <a:br>
              <a:rPr lang="en-US">
                <a:latin typeface="Arial Unicode MS" pitchFamily="34" charset="-128"/>
              </a:rPr>
            </a:br>
            <a:r>
              <a:rPr lang="en-US">
                <a:latin typeface="Arial Unicode MS" pitchFamily="34" charset="-128"/>
              </a:rPr>
              <a:t/>
            </a:r>
            <a:br>
              <a:rPr lang="en-US">
                <a:latin typeface="Arial Unicode MS" pitchFamily="34" charset="-128"/>
              </a:rPr>
            </a:br>
            <a:endParaRPr lang="en-US" i="1" baseline="30000">
              <a:latin typeface="Arial Unicode MS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20" y="0"/>
            <a:ext cx="8534400" cy="685800"/>
          </a:xfrm>
        </p:spPr>
        <p:txBody>
          <a:bodyPr/>
          <a:lstStyle/>
          <a:p>
            <a:r>
              <a:rPr lang="en-US" dirty="0" smtClean="0"/>
              <a:t>Sample A*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714356"/>
            <a:ext cx="8501122" cy="4857784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b="1" dirty="0" smtClean="0"/>
              <a:t>An Efficient A* Search Algorithm For Statistical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/>
                </a:solidFill>
              </a:rPr>
              <a:t>Machine Translation</a:t>
            </a:r>
            <a:r>
              <a:rPr lang="en-US" dirty="0" smtClean="0"/>
              <a:t>. 2001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The Generalized A* Architecture</a:t>
            </a:r>
            <a:r>
              <a:rPr lang="en-US" dirty="0" smtClean="0"/>
              <a:t>. Journal of Artificial Intelligence Research (2007) 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 smtClean="0">
                <a:solidFill>
                  <a:schemeClr val="accent2"/>
                </a:solidFill>
              </a:rPr>
              <a:t>Machine Vision </a:t>
            </a:r>
            <a:r>
              <a:rPr lang="en-US" dirty="0" smtClean="0"/>
              <a:t>… Here we consider a new compositional model for finding salient curves.</a:t>
            </a:r>
            <a:r>
              <a:rPr lang="en-US" b="1" dirty="0" smtClean="0"/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b="1" dirty="0" smtClean="0"/>
              <a:t>Factored A*search for models over sequences and trees</a:t>
            </a:r>
            <a:r>
              <a:rPr lang="en-US" dirty="0" smtClean="0"/>
              <a:t> International Conference on AI. 2003…. It starts saying… </a:t>
            </a:r>
            <a:r>
              <a:rPr lang="en-US" sz="2400" i="1" dirty="0" smtClean="0"/>
              <a:t>The primary challenge when using A* search is to find heuristic functions that simultaneously are admissible, close to actual completion costs, and efficient to calculate…  </a:t>
            </a:r>
            <a:r>
              <a:rPr lang="en-US" dirty="0" smtClean="0">
                <a:solidFill>
                  <a:schemeClr val="accent2"/>
                </a:solidFill>
              </a:rPr>
              <a:t>applied to NLP and </a:t>
            </a:r>
            <a:r>
              <a:rPr lang="en-US" dirty="0" err="1" smtClean="0">
                <a:solidFill>
                  <a:schemeClr val="accent2"/>
                </a:solidFill>
              </a:rPr>
              <a:t>BioInformatics</a:t>
            </a:r>
            <a:endParaRPr lang="en-US" dirty="0" smtClean="0">
              <a:solidFill>
                <a:schemeClr val="accent2"/>
              </a:solidFill>
            </a:endParaRPr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 lvl="1">
              <a:buFont typeface="Arial" pitchFamily="34" charset="0"/>
              <a:buChar char="•"/>
            </a:pPr>
            <a:endParaRPr lang="en-US" dirty="0" smtClean="0"/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322, Lecture 9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Slide </a:t>
            </a:r>
            <a:fld id="{FC46BD6D-65F0-40C0-BE4B-1C1AFB0BAFDD}" type="slidenum">
              <a:rPr lang="en-US" smtClean="0"/>
              <a:pPr>
                <a:defRPr/>
              </a:pPr>
              <a:t>69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Class Forum: Piazza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892480" cy="4495800"/>
          </a:xfrm>
        </p:spPr>
        <p:txBody>
          <a:bodyPr/>
          <a:lstStyle/>
          <a:p>
            <a:r>
              <a:rPr lang="en-CA" sz="3200" dirty="0" smtClean="0"/>
              <a:t>Join the class </a:t>
            </a:r>
            <a:r>
              <a:rPr lang="en-CA" sz="3200" b="1" dirty="0" err="1" smtClean="0"/>
              <a:t>asap</a:t>
            </a:r>
            <a:r>
              <a:rPr lang="en-CA" sz="3200" dirty="0" smtClean="0"/>
              <a:t> via the signup link below. </a:t>
            </a:r>
          </a:p>
          <a:p>
            <a:endParaRPr lang="en-CA" sz="3200" b="1" dirty="0" smtClean="0"/>
          </a:p>
          <a:p>
            <a:r>
              <a:rPr lang="en-CA" sz="3200" b="1" dirty="0" smtClean="0"/>
              <a:t>http://www.piazza.com/ubc.ca/fall2011/cpsc502</a:t>
            </a:r>
            <a:r>
              <a:rPr lang="en-CA" sz="3200" dirty="0" smtClean="0"/>
              <a:t> </a:t>
            </a:r>
          </a:p>
          <a:p>
            <a:endParaRPr lang="en-CA" dirty="0" smtClean="0"/>
          </a:p>
          <a:p>
            <a:r>
              <a:rPr lang="en-CA" dirty="0" smtClean="0"/>
              <a:t>You need a </a:t>
            </a:r>
            <a:r>
              <a:rPr lang="en-CA" b="1" dirty="0" err="1" smtClean="0"/>
              <a:t>ubc.ca</a:t>
            </a:r>
            <a:r>
              <a:rPr lang="en-CA" b="1" dirty="0" smtClean="0"/>
              <a:t> or </a:t>
            </a:r>
            <a:r>
              <a:rPr lang="en-CA" b="1" dirty="0" err="1" smtClean="0"/>
              <a:t>cs.ubc.ca</a:t>
            </a:r>
            <a:r>
              <a:rPr lang="en-CA" dirty="0" smtClean="0"/>
              <a:t> email address to sign up. If you do not have one, please send an email to </a:t>
            </a:r>
            <a:r>
              <a:rPr lang="en-US" kern="0" dirty="0" smtClean="0">
                <a:latin typeface="+mn-lt"/>
              </a:rPr>
              <a:t>rjoty@cs.ubc.ca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Slide </a:t>
            </a:r>
            <a:fld id="{06D84F16-D10E-482D-B414-36A856B8225A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CPSC 502, Lecture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42FC9772-D8FD-465D-8B29-C034841F48F1}" type="slidenum">
              <a:rPr lang="en-US"/>
              <a:pPr>
                <a:defRPr/>
              </a:pPr>
              <a:t>71</a:t>
            </a:fld>
            <a:endParaRPr lang="en-US"/>
          </a:p>
        </p:txBody>
      </p:sp>
      <p:sp>
        <p:nvSpPr>
          <p:cNvPr id="18439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564904"/>
            <a:ext cx="8496944" cy="2664296"/>
          </a:xfrm>
        </p:spPr>
        <p:txBody>
          <a:bodyPr/>
          <a:lstStyle/>
          <a:p>
            <a:pPr algn="l" eaLnBrk="1" hangingPunct="1"/>
            <a:r>
              <a:rPr lang="en-US" sz="3200" dirty="0" smtClean="0">
                <a:solidFill>
                  <a:schemeClr val="tx2"/>
                </a:solidFill>
              </a:rPr>
              <a:t>Do all the “Graph Searching exercises” available at </a:t>
            </a:r>
            <a:r>
              <a:rPr lang="en-US" sz="3200" dirty="0" smtClean="0">
                <a:solidFill>
                  <a:schemeClr val="accent6"/>
                </a:solidFill>
                <a:hlinkClick r:id="rId4"/>
              </a:rPr>
              <a:t>http://www.aispace.org/exercises.shtml</a:t>
            </a:r>
            <a:r>
              <a:rPr lang="en-US" sz="3200" dirty="0" smtClean="0">
                <a:solidFill>
                  <a:schemeClr val="accent6"/>
                </a:solidFill>
              </a:rPr>
              <a:t/>
            </a:r>
            <a:br>
              <a:rPr lang="en-US" sz="3200" dirty="0" smtClean="0">
                <a:solidFill>
                  <a:schemeClr val="accent6"/>
                </a:solidFill>
              </a:rPr>
            </a:br>
            <a:r>
              <a:rPr lang="en-US" sz="3200" b="0" dirty="0" smtClean="0">
                <a:solidFill>
                  <a:schemeClr val="accent6"/>
                </a:solidFill>
              </a:rPr>
              <a:t>Please, look at solutions only after you have tried hard to solve them!</a:t>
            </a:r>
            <a:r>
              <a:rPr lang="en-US" sz="3200" dirty="0" smtClean="0">
                <a:solidFill>
                  <a:schemeClr val="accent6"/>
                </a:solidFill>
              </a:rPr>
              <a:t/>
            </a:r>
            <a:br>
              <a:rPr lang="en-US" sz="3200" dirty="0" smtClean="0">
                <a:solidFill>
                  <a:schemeClr val="accent6"/>
                </a:solidFill>
              </a:rPr>
            </a:br>
            <a:r>
              <a:rPr lang="en-US" sz="3200" dirty="0" smtClean="0">
                <a:solidFill>
                  <a:schemeClr val="tx1"/>
                </a:solidFill>
                <a:latin typeface="Arial Unicode MS" pitchFamily="34" charset="-128"/>
              </a:rPr>
              <a:t/>
            </a:r>
            <a:br>
              <a:rPr lang="en-US" sz="3200" dirty="0" smtClean="0">
                <a:solidFill>
                  <a:schemeClr val="tx1"/>
                </a:solidFill>
                <a:latin typeface="Arial Unicode MS" pitchFamily="34" charset="-128"/>
              </a:rPr>
            </a:br>
            <a:endParaRPr lang="en-US" sz="3200" dirty="0" smtClean="0">
              <a:solidFill>
                <a:schemeClr val="tx1"/>
              </a:solidFill>
            </a:endParaRPr>
          </a:p>
        </p:txBody>
      </p:sp>
      <p:sp>
        <p:nvSpPr>
          <p:cNvPr id="18440" name="Rectangle 3"/>
          <p:cNvSpPr>
            <a:spLocks noChangeArrowheads="1"/>
          </p:cNvSpPr>
          <p:nvPr/>
        </p:nvSpPr>
        <p:spPr bwMode="auto">
          <a:xfrm>
            <a:off x="0" y="5085184"/>
            <a:ext cx="9144000" cy="100811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b="1" dirty="0" smtClean="0">
                <a:latin typeface="Arial Unicode MS" pitchFamily="34" charset="-128"/>
              </a:rPr>
              <a:t>Join </a:t>
            </a:r>
            <a:r>
              <a:rPr lang="en-US" b="1" dirty="0" smtClean="0">
                <a:solidFill>
                  <a:schemeClr val="accent6"/>
                </a:solidFill>
                <a:latin typeface="Arial Unicode MS" pitchFamily="34" charset="-128"/>
              </a:rPr>
              <a:t>piazza</a:t>
            </a:r>
            <a:r>
              <a:rPr lang="en-US" b="1" dirty="0" smtClean="0">
                <a:latin typeface="Arial Unicode MS" pitchFamily="34" charset="-128"/>
              </a:rPr>
              <a:t> (the class discussion forum)</a:t>
            </a:r>
          </a:p>
          <a:p>
            <a:pPr marL="342900" indent="-342900">
              <a:spcBef>
                <a:spcPct val="20000"/>
              </a:spcBef>
            </a:pPr>
            <a:endParaRPr lang="en-US" b="1" dirty="0">
              <a:latin typeface="Arial Unicode MS" pitchFamily="34" charset="-128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95536" y="1268760"/>
            <a:ext cx="504252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US" sz="3200" b="1" kern="0" dirty="0" smtClean="0">
                <a:latin typeface="+mj-lt"/>
                <a:ea typeface="+mj-ea"/>
                <a:cs typeface="+mj-cs"/>
              </a:rPr>
              <a:t>Read </a:t>
            </a:r>
            <a:r>
              <a:rPr lang="en-US" sz="3200" b="1" kern="0" dirty="0" err="1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Chp</a:t>
            </a:r>
            <a:r>
              <a:rPr lang="en-US" sz="3200" b="1" kern="0" dirty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b="1" kern="0" dirty="0" smtClean="0">
                <a:solidFill>
                  <a:schemeClr val="accent6"/>
                </a:solidFill>
                <a:latin typeface="+mj-lt"/>
                <a:ea typeface="+mj-ea"/>
                <a:cs typeface="+mj-cs"/>
              </a:rPr>
              <a:t>4 of textbook</a:t>
            </a:r>
            <a:endParaRPr lang="en-US" sz="3200" b="1" kern="0" dirty="0">
              <a:solidFill>
                <a:schemeClr val="accent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91680" y="332656"/>
            <a:ext cx="5105400" cy="685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600" b="1" kern="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TODO for </a:t>
            </a:r>
            <a:r>
              <a:rPr lang="en-US" sz="3600" b="1" kern="0" dirty="0" smtClean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this Thurs</a:t>
            </a:r>
            <a:endParaRPr lang="en-US" sz="3600" b="1" kern="0" dirty="0">
              <a:solidFill>
                <a:schemeClr val="accent2"/>
              </a:solidFill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1C67746A-2C6E-4665-AD12-CA3EEBB52939}" type="slidenum">
              <a:rPr lang="en-US"/>
              <a:pPr>
                <a:defRPr/>
              </a:pPr>
              <a:t>72</a:t>
            </a:fld>
            <a:endParaRPr lang="en-US"/>
          </a:p>
        </p:txBody>
      </p:sp>
      <p:sp>
        <p:nvSpPr>
          <p:cNvPr id="21511" name="Rectangle 2"/>
          <p:cNvSpPr>
            <a:spLocks noChangeArrowheads="1"/>
          </p:cNvSpPr>
          <p:nvPr/>
        </p:nvSpPr>
        <p:spPr bwMode="auto">
          <a:xfrm>
            <a:off x="533400" y="990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Times-Roman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EBZZZZ+MTSYN"/>
            </a:endParaRPr>
          </a:p>
        </p:txBody>
      </p:sp>
      <p:sp>
        <p:nvSpPr>
          <p:cNvPr id="21512" name="Rectangle 3"/>
          <p:cNvSpPr>
            <a:spLocks noChangeArrowheads="1"/>
          </p:cNvSpPr>
          <p:nvPr/>
        </p:nvSpPr>
        <p:spPr bwMode="auto">
          <a:xfrm>
            <a:off x="395288" y="1125538"/>
            <a:ext cx="8497887" cy="417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Search is a key computational mechanism in many AI agents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We will study the basic principles of search on the simple </a:t>
            </a:r>
            <a:r>
              <a:rPr lang="en-US" b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deterministic planning agent model</a:t>
            </a:r>
          </a:p>
          <a:p>
            <a:pPr marL="342900" indent="-342900">
              <a:spcBef>
                <a:spcPct val="20000"/>
              </a:spcBef>
            </a:pPr>
            <a:r>
              <a:rPr lang="en-US" b="1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Generic search approach</a:t>
            </a: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: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define a search space graph,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start from current state, </a:t>
            </a:r>
          </a:p>
          <a:p>
            <a:pPr marL="742950" lvl="1" indent="-285750">
              <a:spcBef>
                <a:spcPct val="20000"/>
              </a:spcBef>
              <a:buClr>
                <a:schemeClr val="tx1"/>
              </a:buClr>
              <a:buSzPct val="120000"/>
              <a:buFontTx/>
              <a:buChar char="•"/>
            </a:pPr>
            <a:r>
              <a:rPr lang="en-US" sz="2400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incrementally explore paths from current state until goal state is reached.</a:t>
            </a:r>
          </a:p>
          <a:p>
            <a:pPr marL="342900" indent="-342900">
              <a:lnSpc>
                <a:spcPct val="40000"/>
              </a:lnSpc>
              <a:spcBef>
                <a:spcPct val="20000"/>
              </a:spcBef>
            </a:pPr>
            <a:endParaRPr lang="en-US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r>
              <a:rPr lang="en-US">
                <a:solidFill>
                  <a:srgbClr val="000000"/>
                </a:solidFill>
                <a:latin typeface="Arial Unicode MS" pitchFamily="34" charset="-128"/>
                <a:cs typeface="Times New Roman" pitchFamily="18" charset="0"/>
              </a:rPr>
              <a:t>The way in which the frontier is expanded defines the search strategy.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000000"/>
              </a:solidFill>
              <a:latin typeface="Arial Unicode MS" pitchFamily="34" charset="-128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solidFill>
                <a:srgbClr val="000000"/>
              </a:solidFill>
              <a:latin typeface="Arial Unicode MS" pitchFamily="34" charset="-128"/>
            </a:endParaRPr>
          </a:p>
        </p:txBody>
      </p:sp>
      <p:sp>
        <p:nvSpPr>
          <p:cNvPr id="2151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Lecture 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8DCF0DDE-B1C0-49D9-986F-D9CA1E608152}" type="slidenum">
              <a:rPr lang="en-US"/>
              <a:pPr>
                <a:defRPr/>
              </a:pPr>
              <a:t>73</a:t>
            </a:fld>
            <a:endParaRPr lang="en-US"/>
          </a:p>
        </p:txBody>
      </p:sp>
      <p:sp>
        <p:nvSpPr>
          <p:cNvPr id="513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333375"/>
            <a:ext cx="8534400" cy="685800"/>
          </a:xfrm>
        </p:spPr>
        <p:txBody>
          <a:bodyPr/>
          <a:lstStyle/>
          <a:p>
            <a:pPr eaLnBrk="1" hangingPunct="1"/>
            <a:r>
              <a:rPr lang="en-US" smtClean="0"/>
              <a:t>Example1: Delivery Robot</a:t>
            </a:r>
          </a:p>
        </p:txBody>
      </p:sp>
      <p:pic>
        <p:nvPicPr>
          <p:cNvPr id="513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92275" y="1196975"/>
            <a:ext cx="6048375" cy="4846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C0DBDFC2-9BAE-49B0-A3C2-E91E9F06B80F}" type="slidenum">
              <a:rPr lang="en-US"/>
              <a:pPr>
                <a:defRPr/>
              </a:pPr>
              <a:t>74</a:t>
            </a:fld>
            <a:endParaRPr lang="en-US"/>
          </a:p>
        </p:txBody>
      </p:sp>
      <p:sp>
        <p:nvSpPr>
          <p:cNvPr id="9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How can we find a solution?</a:t>
            </a:r>
          </a:p>
        </p:txBody>
      </p:sp>
      <p:sp>
        <p:nvSpPr>
          <p:cNvPr id="9228" name="Rectangle 3"/>
          <p:cNvSpPr>
            <a:spLocks noChangeArrowheads="1"/>
          </p:cNvSpPr>
          <p:nvPr/>
        </p:nvSpPr>
        <p:spPr bwMode="auto">
          <a:xfrm>
            <a:off x="323850" y="836613"/>
            <a:ext cx="8496300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 smtClean="0">
                <a:latin typeface="Arial Unicode MS" pitchFamily="34" charset="-128"/>
              </a:rPr>
              <a:t>How can we find a sequence of actions and their appropriate ordering that lead to the goal?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dirty="0" smtClean="0">
                <a:latin typeface="Arial Unicode MS" pitchFamily="34" charset="-128"/>
              </a:rPr>
              <a:t>Define </a:t>
            </a:r>
            <a:r>
              <a:rPr lang="en-US" dirty="0">
                <a:latin typeface="Arial Unicode MS" pitchFamily="34" charset="-128"/>
              </a:rPr>
              <a:t>underlying </a:t>
            </a:r>
            <a:r>
              <a:rPr lang="en-US" b="1" dirty="0">
                <a:latin typeface="Arial Unicode MS" pitchFamily="34" charset="-128"/>
              </a:rPr>
              <a:t>search space</a:t>
            </a:r>
            <a:r>
              <a:rPr lang="en-US" dirty="0">
                <a:latin typeface="Arial Unicode MS" pitchFamily="34" charset="-128"/>
              </a:rPr>
              <a:t>.  A graph where </a:t>
            </a:r>
            <a:r>
              <a:rPr lang="en-US" b="1" dirty="0">
                <a:latin typeface="Arial Unicode MS" pitchFamily="34" charset="-128"/>
              </a:rPr>
              <a:t>nodes are states</a:t>
            </a:r>
            <a:r>
              <a:rPr lang="en-US" dirty="0">
                <a:latin typeface="Arial Unicode MS" pitchFamily="34" charset="-128"/>
              </a:rPr>
              <a:t> and </a:t>
            </a:r>
            <a:r>
              <a:rPr lang="en-US" b="1" dirty="0">
                <a:latin typeface="Arial Unicode MS" pitchFamily="34" charset="-128"/>
              </a:rPr>
              <a:t>edges are actions</a:t>
            </a:r>
            <a:r>
              <a:rPr lang="en-US" dirty="0">
                <a:latin typeface="Arial Unicode MS" pitchFamily="34" charset="-128"/>
              </a:rPr>
              <a:t>.</a:t>
            </a:r>
          </a:p>
        </p:txBody>
      </p:sp>
      <p:pic>
        <p:nvPicPr>
          <p:cNvPr id="9229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388" y="3068638"/>
            <a:ext cx="3743325" cy="299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30" name="Rectangle 8"/>
          <p:cNvSpPr>
            <a:spLocks noChangeArrowheads="1"/>
          </p:cNvSpPr>
          <p:nvPr/>
        </p:nvSpPr>
        <p:spPr bwMode="auto">
          <a:xfrm>
            <a:off x="2627313" y="4652963"/>
            <a:ext cx="1223962" cy="13684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1" name="Text Box 10"/>
          <p:cNvSpPr txBox="1">
            <a:spLocks noChangeArrowheads="1"/>
          </p:cNvSpPr>
          <p:nvPr/>
        </p:nvSpPr>
        <p:spPr bwMode="auto">
          <a:xfrm>
            <a:off x="4572000" y="4005263"/>
            <a:ext cx="438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b4</a:t>
            </a:r>
          </a:p>
        </p:txBody>
      </p:sp>
      <p:sp>
        <p:nvSpPr>
          <p:cNvPr id="9232" name="Text Box 11"/>
          <p:cNvSpPr txBox="1">
            <a:spLocks noChangeArrowheads="1"/>
          </p:cNvSpPr>
          <p:nvPr/>
        </p:nvSpPr>
        <p:spPr bwMode="auto">
          <a:xfrm>
            <a:off x="4572000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o107</a:t>
            </a:r>
          </a:p>
        </p:txBody>
      </p:sp>
      <p:sp>
        <p:nvSpPr>
          <p:cNvPr id="9233" name="Text Box 12"/>
          <p:cNvSpPr txBox="1">
            <a:spLocks noChangeArrowheads="1"/>
          </p:cNvSpPr>
          <p:nvPr/>
        </p:nvSpPr>
        <p:spPr bwMode="auto">
          <a:xfrm>
            <a:off x="5508625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o109</a:t>
            </a:r>
          </a:p>
        </p:txBody>
      </p:sp>
      <p:sp>
        <p:nvSpPr>
          <p:cNvPr id="9234" name="Text Box 13"/>
          <p:cNvSpPr txBox="1">
            <a:spLocks noChangeArrowheads="1"/>
          </p:cNvSpPr>
          <p:nvPr/>
        </p:nvSpPr>
        <p:spPr bwMode="auto">
          <a:xfrm>
            <a:off x="6516688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o111</a:t>
            </a:r>
          </a:p>
        </p:txBody>
      </p:sp>
      <p:sp>
        <p:nvSpPr>
          <p:cNvPr id="9235" name="Text Box 14"/>
          <p:cNvSpPr txBox="1">
            <a:spLocks noChangeArrowheads="1"/>
          </p:cNvSpPr>
          <p:nvPr/>
        </p:nvSpPr>
        <p:spPr bwMode="auto">
          <a:xfrm>
            <a:off x="5580063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r109</a:t>
            </a:r>
          </a:p>
        </p:txBody>
      </p:sp>
      <p:sp>
        <p:nvSpPr>
          <p:cNvPr id="9236" name="Text Box 15"/>
          <p:cNvSpPr txBox="1">
            <a:spLocks noChangeArrowheads="1"/>
          </p:cNvSpPr>
          <p:nvPr/>
        </p:nvSpPr>
        <p:spPr bwMode="auto">
          <a:xfrm>
            <a:off x="4643438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r107</a:t>
            </a:r>
          </a:p>
        </p:txBody>
      </p:sp>
      <p:sp>
        <p:nvSpPr>
          <p:cNvPr id="9237" name="Text Box 16"/>
          <p:cNvSpPr txBox="1">
            <a:spLocks noChangeArrowheads="1"/>
          </p:cNvSpPr>
          <p:nvPr/>
        </p:nvSpPr>
        <p:spPr bwMode="auto">
          <a:xfrm>
            <a:off x="6516688" y="55895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r111</a:t>
            </a:r>
          </a:p>
        </p:txBody>
      </p:sp>
      <p:sp>
        <p:nvSpPr>
          <p:cNvPr id="9238" name="Text Box 17"/>
          <p:cNvSpPr txBox="1">
            <a:spLocks noChangeArrowheads="1"/>
          </p:cNvSpPr>
          <p:nvPr/>
        </p:nvSpPr>
        <p:spPr bwMode="auto">
          <a:xfrm>
            <a:off x="5435600" y="40767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o113</a:t>
            </a:r>
          </a:p>
        </p:txBody>
      </p:sp>
      <p:sp>
        <p:nvSpPr>
          <p:cNvPr id="9239" name="Text Box 18"/>
          <p:cNvSpPr txBox="1">
            <a:spLocks noChangeArrowheads="1"/>
          </p:cNvSpPr>
          <p:nvPr/>
        </p:nvSpPr>
        <p:spPr bwMode="auto">
          <a:xfrm>
            <a:off x="6588125" y="4076700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r113</a:t>
            </a:r>
          </a:p>
        </p:txBody>
      </p:sp>
      <p:sp>
        <p:nvSpPr>
          <p:cNvPr id="9240" name="Line 19"/>
          <p:cNvSpPr>
            <a:spLocks noChangeShapeType="1"/>
          </p:cNvSpPr>
          <p:nvPr/>
        </p:nvSpPr>
        <p:spPr bwMode="auto">
          <a:xfrm>
            <a:off x="4787900" y="43656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1" name="Line 20"/>
          <p:cNvSpPr>
            <a:spLocks noChangeShapeType="1"/>
          </p:cNvSpPr>
          <p:nvPr/>
        </p:nvSpPr>
        <p:spPr bwMode="auto">
          <a:xfrm>
            <a:off x="4859338" y="51577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2" name="Line 21"/>
          <p:cNvSpPr>
            <a:spLocks noChangeShapeType="1"/>
          </p:cNvSpPr>
          <p:nvPr/>
        </p:nvSpPr>
        <p:spPr bwMode="auto">
          <a:xfrm>
            <a:off x="5867400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3" name="Line 22"/>
          <p:cNvSpPr>
            <a:spLocks noChangeShapeType="1"/>
          </p:cNvSpPr>
          <p:nvPr/>
        </p:nvSpPr>
        <p:spPr bwMode="auto">
          <a:xfrm>
            <a:off x="6804025" y="51577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4" name="Line 23"/>
          <p:cNvSpPr>
            <a:spLocks noChangeShapeType="1"/>
          </p:cNvSpPr>
          <p:nvPr/>
        </p:nvSpPr>
        <p:spPr bwMode="auto">
          <a:xfrm flipV="1">
            <a:off x="5795963" y="4437063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5" name="Line 24"/>
          <p:cNvSpPr>
            <a:spLocks noChangeShapeType="1"/>
          </p:cNvSpPr>
          <p:nvPr/>
        </p:nvSpPr>
        <p:spPr bwMode="auto">
          <a:xfrm>
            <a:off x="5148263" y="5011738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6" name="Line 25"/>
          <p:cNvSpPr>
            <a:spLocks noChangeShapeType="1"/>
          </p:cNvSpPr>
          <p:nvPr/>
        </p:nvSpPr>
        <p:spPr bwMode="auto">
          <a:xfrm>
            <a:off x="6156325" y="5013325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7" name="Line 26"/>
          <p:cNvSpPr>
            <a:spLocks noChangeShapeType="1"/>
          </p:cNvSpPr>
          <p:nvPr/>
        </p:nvSpPr>
        <p:spPr bwMode="auto">
          <a:xfrm>
            <a:off x="6156325" y="4292600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9248" name="Line 27"/>
          <p:cNvSpPr>
            <a:spLocks noChangeShapeType="1"/>
          </p:cNvSpPr>
          <p:nvPr/>
        </p:nvSpPr>
        <p:spPr bwMode="auto">
          <a:xfrm>
            <a:off x="4859338" y="44370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49" name="Line 28"/>
          <p:cNvSpPr>
            <a:spLocks noChangeShapeType="1"/>
          </p:cNvSpPr>
          <p:nvPr/>
        </p:nvSpPr>
        <p:spPr bwMode="auto">
          <a:xfrm>
            <a:off x="4930775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0" name="Line 29"/>
          <p:cNvSpPr>
            <a:spLocks noChangeShapeType="1"/>
          </p:cNvSpPr>
          <p:nvPr/>
        </p:nvSpPr>
        <p:spPr bwMode="auto">
          <a:xfrm>
            <a:off x="5938838" y="5300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1" name="Line 30"/>
          <p:cNvSpPr>
            <a:spLocks noChangeShapeType="1"/>
          </p:cNvSpPr>
          <p:nvPr/>
        </p:nvSpPr>
        <p:spPr bwMode="auto">
          <a:xfrm>
            <a:off x="6875463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2" name="Line 31"/>
          <p:cNvSpPr>
            <a:spLocks noChangeShapeType="1"/>
          </p:cNvSpPr>
          <p:nvPr/>
        </p:nvSpPr>
        <p:spPr bwMode="auto">
          <a:xfrm flipV="1">
            <a:off x="5867400" y="4508500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3" name="Line 32"/>
          <p:cNvSpPr>
            <a:spLocks noChangeShapeType="1"/>
          </p:cNvSpPr>
          <p:nvPr/>
        </p:nvSpPr>
        <p:spPr bwMode="auto">
          <a:xfrm>
            <a:off x="5219700" y="5083175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4" name="Line 33"/>
          <p:cNvSpPr>
            <a:spLocks noChangeShapeType="1"/>
          </p:cNvSpPr>
          <p:nvPr/>
        </p:nvSpPr>
        <p:spPr bwMode="auto">
          <a:xfrm>
            <a:off x="6227763" y="5084763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9255" name="Line 34"/>
          <p:cNvSpPr>
            <a:spLocks noChangeShapeType="1"/>
          </p:cNvSpPr>
          <p:nvPr/>
        </p:nvSpPr>
        <p:spPr bwMode="auto">
          <a:xfrm>
            <a:off x="6227763" y="4364038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CPSC 322, Lecture 4</a:t>
            </a:r>
          </a:p>
        </p:txBody>
      </p:sp>
      <p:sp>
        <p:nvSpPr>
          <p:cNvPr id="3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Slide </a:t>
            </a:r>
            <a:fld id="{A4EBA986-F073-422A-BB00-E5E3DD07FE17}" type="slidenum">
              <a:rPr lang="en-US"/>
              <a:pPr>
                <a:defRPr/>
              </a:pPr>
              <a:t>75</a:t>
            </a:fld>
            <a:endParaRPr lang="en-US"/>
          </a:p>
        </p:txBody>
      </p:sp>
      <p:sp>
        <p:nvSpPr>
          <p:cNvPr id="163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Examples of solution</a:t>
            </a:r>
          </a:p>
        </p:txBody>
      </p:sp>
      <p:sp>
        <p:nvSpPr>
          <p:cNvPr id="16392" name="Rectangle 3"/>
          <p:cNvSpPr>
            <a:spLocks noChangeArrowheads="1"/>
          </p:cNvSpPr>
          <p:nvPr/>
        </p:nvSpPr>
        <p:spPr bwMode="auto">
          <a:xfrm>
            <a:off x="323850" y="836613"/>
            <a:ext cx="8496300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Start state b4, goal r113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Solution &lt;b4, o107, o109, o113, r113&gt;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>
                <a:latin typeface="Arial Unicode MS" pitchFamily="34" charset="-128"/>
              </a:rPr>
              <a:t> 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</a:pPr>
            <a:endParaRPr lang="en-US">
              <a:latin typeface="Arial Unicode MS" pitchFamily="34" charset="-128"/>
            </a:endParaRPr>
          </a:p>
        </p:txBody>
      </p:sp>
      <p:pic>
        <p:nvPicPr>
          <p:cNvPr id="16393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388" y="3068638"/>
            <a:ext cx="3743325" cy="2998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4" name="Rectangle 5"/>
          <p:cNvSpPr>
            <a:spLocks noChangeArrowheads="1"/>
          </p:cNvSpPr>
          <p:nvPr/>
        </p:nvSpPr>
        <p:spPr bwMode="auto">
          <a:xfrm>
            <a:off x="2627313" y="4652963"/>
            <a:ext cx="1223962" cy="13684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395" name="Text Box 6"/>
          <p:cNvSpPr txBox="1">
            <a:spLocks noChangeArrowheads="1"/>
          </p:cNvSpPr>
          <p:nvPr/>
        </p:nvSpPr>
        <p:spPr bwMode="auto">
          <a:xfrm>
            <a:off x="4572000" y="4005263"/>
            <a:ext cx="447675" cy="376237"/>
          </a:xfrm>
          <a:prstGeom prst="rect">
            <a:avLst/>
          </a:prstGeom>
          <a:noFill/>
          <a:ln w="9525">
            <a:solidFill>
              <a:srgbClr val="33CC33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b4</a:t>
            </a:r>
          </a:p>
        </p:txBody>
      </p:sp>
      <p:sp>
        <p:nvSpPr>
          <p:cNvPr id="16396" name="Text Box 7"/>
          <p:cNvSpPr txBox="1">
            <a:spLocks noChangeArrowheads="1"/>
          </p:cNvSpPr>
          <p:nvPr/>
        </p:nvSpPr>
        <p:spPr bwMode="auto">
          <a:xfrm>
            <a:off x="4572000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o107</a:t>
            </a:r>
          </a:p>
        </p:txBody>
      </p:sp>
      <p:sp>
        <p:nvSpPr>
          <p:cNvPr id="16397" name="Text Box 8"/>
          <p:cNvSpPr txBox="1">
            <a:spLocks noChangeArrowheads="1"/>
          </p:cNvSpPr>
          <p:nvPr/>
        </p:nvSpPr>
        <p:spPr bwMode="auto">
          <a:xfrm>
            <a:off x="5508625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o109</a:t>
            </a:r>
          </a:p>
        </p:txBody>
      </p:sp>
      <p:sp>
        <p:nvSpPr>
          <p:cNvPr id="16398" name="Text Box 9"/>
          <p:cNvSpPr txBox="1">
            <a:spLocks noChangeArrowheads="1"/>
          </p:cNvSpPr>
          <p:nvPr/>
        </p:nvSpPr>
        <p:spPr bwMode="auto">
          <a:xfrm>
            <a:off x="6516688" y="4797425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o111</a:t>
            </a:r>
          </a:p>
        </p:txBody>
      </p:sp>
      <p:sp>
        <p:nvSpPr>
          <p:cNvPr id="16399" name="Text Box 10"/>
          <p:cNvSpPr txBox="1">
            <a:spLocks noChangeArrowheads="1"/>
          </p:cNvSpPr>
          <p:nvPr/>
        </p:nvSpPr>
        <p:spPr bwMode="auto">
          <a:xfrm>
            <a:off x="5580063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r109</a:t>
            </a:r>
          </a:p>
        </p:txBody>
      </p:sp>
      <p:sp>
        <p:nvSpPr>
          <p:cNvPr id="16400" name="Text Box 11"/>
          <p:cNvSpPr txBox="1">
            <a:spLocks noChangeArrowheads="1"/>
          </p:cNvSpPr>
          <p:nvPr/>
        </p:nvSpPr>
        <p:spPr bwMode="auto">
          <a:xfrm>
            <a:off x="4643438" y="5661025"/>
            <a:ext cx="641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r107</a:t>
            </a:r>
          </a:p>
        </p:txBody>
      </p:sp>
      <p:sp>
        <p:nvSpPr>
          <p:cNvPr id="16401" name="Text Box 12"/>
          <p:cNvSpPr txBox="1">
            <a:spLocks noChangeArrowheads="1"/>
          </p:cNvSpPr>
          <p:nvPr/>
        </p:nvSpPr>
        <p:spPr bwMode="auto">
          <a:xfrm>
            <a:off x="6516688" y="5589588"/>
            <a:ext cx="641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r111</a:t>
            </a:r>
          </a:p>
        </p:txBody>
      </p:sp>
      <p:sp>
        <p:nvSpPr>
          <p:cNvPr id="16402" name="Text Box 13"/>
          <p:cNvSpPr txBox="1">
            <a:spLocks noChangeArrowheads="1"/>
          </p:cNvSpPr>
          <p:nvPr/>
        </p:nvSpPr>
        <p:spPr bwMode="auto">
          <a:xfrm>
            <a:off x="5435600" y="4076700"/>
            <a:ext cx="692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o113</a:t>
            </a:r>
          </a:p>
        </p:txBody>
      </p:sp>
      <p:sp>
        <p:nvSpPr>
          <p:cNvPr id="16403" name="Text Box 14"/>
          <p:cNvSpPr txBox="1">
            <a:spLocks noChangeArrowheads="1"/>
          </p:cNvSpPr>
          <p:nvPr/>
        </p:nvSpPr>
        <p:spPr bwMode="auto">
          <a:xfrm>
            <a:off x="6588125" y="4076700"/>
            <a:ext cx="650875" cy="376238"/>
          </a:xfrm>
          <a:prstGeom prst="rect">
            <a:avLst/>
          </a:prstGeom>
          <a:noFill/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>
                <a:latin typeface="Arial Unicode MS" pitchFamily="34" charset="-128"/>
              </a:rPr>
              <a:t>r113</a:t>
            </a:r>
          </a:p>
        </p:txBody>
      </p:sp>
      <p:sp>
        <p:nvSpPr>
          <p:cNvPr id="16404" name="Line 15"/>
          <p:cNvSpPr>
            <a:spLocks noChangeShapeType="1"/>
          </p:cNvSpPr>
          <p:nvPr/>
        </p:nvSpPr>
        <p:spPr bwMode="auto">
          <a:xfrm>
            <a:off x="4787900" y="43656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05" name="Line 16"/>
          <p:cNvSpPr>
            <a:spLocks noChangeShapeType="1"/>
          </p:cNvSpPr>
          <p:nvPr/>
        </p:nvSpPr>
        <p:spPr bwMode="auto">
          <a:xfrm>
            <a:off x="4859338" y="51577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06" name="Line 17"/>
          <p:cNvSpPr>
            <a:spLocks noChangeShapeType="1"/>
          </p:cNvSpPr>
          <p:nvPr/>
        </p:nvSpPr>
        <p:spPr bwMode="auto">
          <a:xfrm>
            <a:off x="5867400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07" name="Line 18"/>
          <p:cNvSpPr>
            <a:spLocks noChangeShapeType="1"/>
          </p:cNvSpPr>
          <p:nvPr/>
        </p:nvSpPr>
        <p:spPr bwMode="auto">
          <a:xfrm>
            <a:off x="6804025" y="515778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08" name="Line 19"/>
          <p:cNvSpPr>
            <a:spLocks noChangeShapeType="1"/>
          </p:cNvSpPr>
          <p:nvPr/>
        </p:nvSpPr>
        <p:spPr bwMode="auto">
          <a:xfrm flipV="1">
            <a:off x="5795963" y="4437063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09" name="Line 20"/>
          <p:cNvSpPr>
            <a:spLocks noChangeShapeType="1"/>
          </p:cNvSpPr>
          <p:nvPr/>
        </p:nvSpPr>
        <p:spPr bwMode="auto">
          <a:xfrm>
            <a:off x="5148263" y="5011738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10" name="Line 21"/>
          <p:cNvSpPr>
            <a:spLocks noChangeShapeType="1"/>
          </p:cNvSpPr>
          <p:nvPr/>
        </p:nvSpPr>
        <p:spPr bwMode="auto">
          <a:xfrm>
            <a:off x="6156325" y="5013325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11" name="Line 22"/>
          <p:cNvSpPr>
            <a:spLocks noChangeShapeType="1"/>
          </p:cNvSpPr>
          <p:nvPr/>
        </p:nvSpPr>
        <p:spPr bwMode="auto">
          <a:xfrm>
            <a:off x="6156325" y="4292600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CA"/>
          </a:p>
        </p:txBody>
      </p:sp>
      <p:sp>
        <p:nvSpPr>
          <p:cNvPr id="16412" name="Line 23"/>
          <p:cNvSpPr>
            <a:spLocks noChangeShapeType="1"/>
          </p:cNvSpPr>
          <p:nvPr/>
        </p:nvSpPr>
        <p:spPr bwMode="auto">
          <a:xfrm>
            <a:off x="4859338" y="44370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3" name="Line 24"/>
          <p:cNvSpPr>
            <a:spLocks noChangeShapeType="1"/>
          </p:cNvSpPr>
          <p:nvPr/>
        </p:nvSpPr>
        <p:spPr bwMode="auto">
          <a:xfrm>
            <a:off x="4930775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4" name="Line 25"/>
          <p:cNvSpPr>
            <a:spLocks noChangeShapeType="1"/>
          </p:cNvSpPr>
          <p:nvPr/>
        </p:nvSpPr>
        <p:spPr bwMode="auto">
          <a:xfrm>
            <a:off x="5938838" y="5300663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5" name="Line 26"/>
          <p:cNvSpPr>
            <a:spLocks noChangeShapeType="1"/>
          </p:cNvSpPr>
          <p:nvPr/>
        </p:nvSpPr>
        <p:spPr bwMode="auto">
          <a:xfrm>
            <a:off x="6875463" y="5229225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6" name="Line 27"/>
          <p:cNvSpPr>
            <a:spLocks noChangeShapeType="1"/>
          </p:cNvSpPr>
          <p:nvPr/>
        </p:nvSpPr>
        <p:spPr bwMode="auto">
          <a:xfrm flipV="1">
            <a:off x="5867400" y="4508500"/>
            <a:ext cx="0" cy="358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7" name="Line 28"/>
          <p:cNvSpPr>
            <a:spLocks noChangeShapeType="1"/>
          </p:cNvSpPr>
          <p:nvPr/>
        </p:nvSpPr>
        <p:spPr bwMode="auto">
          <a:xfrm>
            <a:off x="5219700" y="5083175"/>
            <a:ext cx="3603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8" name="Line 29"/>
          <p:cNvSpPr>
            <a:spLocks noChangeShapeType="1"/>
          </p:cNvSpPr>
          <p:nvPr/>
        </p:nvSpPr>
        <p:spPr bwMode="auto">
          <a:xfrm>
            <a:off x="6227763" y="5084763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  <p:sp>
        <p:nvSpPr>
          <p:cNvPr id="16419" name="Line 30"/>
          <p:cNvSpPr>
            <a:spLocks noChangeShapeType="1"/>
          </p:cNvSpPr>
          <p:nvPr/>
        </p:nvSpPr>
        <p:spPr bwMode="auto">
          <a:xfrm>
            <a:off x="6227763" y="4364038"/>
            <a:ext cx="3603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Consistency</a:t>
            </a:r>
          </a:p>
        </p:txBody>
      </p:sp>
      <p:sp>
        <p:nvSpPr>
          <p:cNvPr id="846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/>
              <a:t>Wait, how do we know parents have better f-vales than their successors?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Couldn’t we pop some node </a:t>
            </a:r>
            <a:r>
              <a:rPr lang="en-US" sz="2400" i="1" smtClean="0"/>
              <a:t>n</a:t>
            </a:r>
            <a:r>
              <a:rPr lang="en-US" sz="2400" smtClean="0"/>
              <a:t>, and find its child </a:t>
            </a:r>
            <a:r>
              <a:rPr lang="en-US" sz="2400" i="1" smtClean="0"/>
              <a:t>n’</a:t>
            </a:r>
            <a:r>
              <a:rPr lang="en-US" sz="2400" smtClean="0"/>
              <a:t> to have lower f value?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YES:</a:t>
            </a:r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What can we require to prevent these inversions?</a:t>
            </a:r>
          </a:p>
          <a:p>
            <a:pPr eaLnBrk="1" hangingPunct="1">
              <a:lnSpc>
                <a:spcPct val="80000"/>
              </a:lnSpc>
            </a:pPr>
            <a:endParaRPr lang="en-US" sz="900" smtClean="0"/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Consistency:</a:t>
            </a:r>
          </a:p>
          <a:p>
            <a:pPr eaLnBrk="1" hangingPunct="1">
              <a:lnSpc>
                <a:spcPct val="80000"/>
              </a:lnSpc>
            </a:pPr>
            <a:endParaRPr lang="en-US" sz="800" smtClean="0"/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Real cost must always exceed reduction in heuristic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smtClean="0"/>
              <a:t>Like admissibility, but better!</a:t>
            </a:r>
          </a:p>
        </p:txBody>
      </p:sp>
      <p:sp>
        <p:nvSpPr>
          <p:cNvPr id="846852" name="AutoShape 4"/>
          <p:cNvSpPr>
            <a:spLocks noChangeArrowheads="1"/>
          </p:cNvSpPr>
          <p:nvPr/>
        </p:nvSpPr>
        <p:spPr bwMode="auto">
          <a:xfrm>
            <a:off x="2895600" y="3824288"/>
            <a:ext cx="609600" cy="6858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A</a:t>
            </a:r>
          </a:p>
        </p:txBody>
      </p:sp>
      <p:sp>
        <p:nvSpPr>
          <p:cNvPr id="846854" name="AutoShape 6"/>
          <p:cNvSpPr>
            <a:spLocks noChangeArrowheads="1"/>
          </p:cNvSpPr>
          <p:nvPr/>
        </p:nvSpPr>
        <p:spPr bwMode="auto">
          <a:xfrm>
            <a:off x="4800600" y="2695575"/>
            <a:ext cx="609600" cy="6858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B</a:t>
            </a:r>
          </a:p>
        </p:txBody>
      </p:sp>
      <p:sp>
        <p:nvSpPr>
          <p:cNvPr id="846855" name="AutoShape 7"/>
          <p:cNvSpPr>
            <a:spLocks noChangeArrowheads="1"/>
          </p:cNvSpPr>
          <p:nvPr/>
        </p:nvSpPr>
        <p:spPr bwMode="auto">
          <a:xfrm>
            <a:off x="7315200" y="3609975"/>
            <a:ext cx="609600" cy="6858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G</a:t>
            </a:r>
          </a:p>
        </p:txBody>
      </p:sp>
      <p:sp>
        <p:nvSpPr>
          <p:cNvPr id="846857" name="Line 9"/>
          <p:cNvSpPr>
            <a:spLocks noChangeShapeType="1"/>
          </p:cNvSpPr>
          <p:nvPr/>
        </p:nvSpPr>
        <p:spPr bwMode="auto">
          <a:xfrm flipH="1">
            <a:off x="3581400" y="3076575"/>
            <a:ext cx="1066800" cy="7477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lg" len="med"/>
            <a:tailEnd/>
          </a:ln>
        </p:spPr>
        <p:txBody>
          <a:bodyPr/>
          <a:lstStyle/>
          <a:p>
            <a:endParaRPr lang="en-CA" sz="18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46860" name="Text Box 12"/>
          <p:cNvSpPr txBox="1">
            <a:spLocks noChangeArrowheads="1"/>
          </p:cNvSpPr>
          <p:nvPr/>
        </p:nvSpPr>
        <p:spPr bwMode="auto">
          <a:xfrm>
            <a:off x="3657600" y="2909888"/>
            <a:ext cx="457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3</a:t>
            </a:r>
          </a:p>
        </p:txBody>
      </p:sp>
      <p:sp>
        <p:nvSpPr>
          <p:cNvPr id="846865" name="Text Box 17"/>
          <p:cNvSpPr txBox="1">
            <a:spLocks noChangeArrowheads="1"/>
          </p:cNvSpPr>
          <p:nvPr/>
        </p:nvSpPr>
        <p:spPr bwMode="auto">
          <a:xfrm>
            <a:off x="5715000" y="2757488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>
                <a:solidFill>
                  <a:srgbClr val="000000"/>
                </a:solidFill>
                <a:latin typeface="Arial" charset="0"/>
                <a:cs typeface="Arial" charset="0"/>
              </a:rPr>
              <a:t>h = 0</a:t>
            </a:r>
          </a:p>
        </p:txBody>
      </p:sp>
      <p:sp>
        <p:nvSpPr>
          <p:cNvPr id="846867" name="Text Box 19"/>
          <p:cNvSpPr txBox="1">
            <a:spLocks noChangeArrowheads="1"/>
          </p:cNvSpPr>
          <p:nvPr/>
        </p:nvSpPr>
        <p:spPr bwMode="auto">
          <a:xfrm>
            <a:off x="3581400" y="4433888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>
                <a:solidFill>
                  <a:srgbClr val="000000"/>
                </a:solidFill>
                <a:latin typeface="Arial" charset="0"/>
                <a:cs typeface="Arial" charset="0"/>
              </a:rPr>
              <a:t>h = 10</a:t>
            </a:r>
          </a:p>
        </p:txBody>
      </p:sp>
      <p:sp>
        <p:nvSpPr>
          <p:cNvPr id="846868" name="Freeform 20"/>
          <p:cNvSpPr>
            <a:spLocks/>
          </p:cNvSpPr>
          <p:nvPr/>
        </p:nvSpPr>
        <p:spPr bwMode="auto">
          <a:xfrm>
            <a:off x="1270000" y="4192588"/>
            <a:ext cx="1473200" cy="254000"/>
          </a:xfrm>
          <a:custGeom>
            <a:avLst/>
            <a:gdLst>
              <a:gd name="T0" fmla="*/ 2147483647 w 928"/>
              <a:gd name="T1" fmla="*/ 2147483647 h 160"/>
              <a:gd name="T2" fmla="*/ 2147483647 w 928"/>
              <a:gd name="T3" fmla="*/ 2147483647 h 160"/>
              <a:gd name="T4" fmla="*/ 2147483647 w 928"/>
              <a:gd name="T5" fmla="*/ 2147483647 h 160"/>
              <a:gd name="T6" fmla="*/ 2147483647 w 928"/>
              <a:gd name="T7" fmla="*/ 2147483647 h 160"/>
              <a:gd name="T8" fmla="*/ 2147483647 w 928"/>
              <a:gd name="T9" fmla="*/ 2147483647 h 1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28"/>
              <a:gd name="T16" fmla="*/ 0 h 160"/>
              <a:gd name="T17" fmla="*/ 928 w 928"/>
              <a:gd name="T18" fmla="*/ 160 h 1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28" h="160">
                <a:moveTo>
                  <a:pt x="16" y="152"/>
                </a:moveTo>
                <a:cubicBezTo>
                  <a:pt x="8" y="140"/>
                  <a:pt x="0" y="128"/>
                  <a:pt x="64" y="104"/>
                </a:cubicBezTo>
                <a:cubicBezTo>
                  <a:pt x="128" y="80"/>
                  <a:pt x="288" y="0"/>
                  <a:pt x="400" y="8"/>
                </a:cubicBezTo>
                <a:cubicBezTo>
                  <a:pt x="512" y="16"/>
                  <a:pt x="648" y="144"/>
                  <a:pt x="736" y="152"/>
                </a:cubicBezTo>
                <a:cubicBezTo>
                  <a:pt x="824" y="160"/>
                  <a:pt x="876" y="108"/>
                  <a:pt x="928" y="56"/>
                </a:cubicBezTo>
              </a:path>
            </a:pathLst>
          </a:custGeom>
          <a:noFill/>
          <a:ln w="38100">
            <a:solidFill>
              <a:schemeClr val="tx1"/>
            </a:solidFill>
            <a:prstDash val="lgDash"/>
            <a:round/>
            <a:headEnd/>
            <a:tailEnd type="triangle" w="lg" len="med"/>
          </a:ln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46869" name="Freeform 21"/>
          <p:cNvSpPr>
            <a:spLocks/>
          </p:cNvSpPr>
          <p:nvPr/>
        </p:nvSpPr>
        <p:spPr bwMode="auto">
          <a:xfrm>
            <a:off x="3622675" y="3948113"/>
            <a:ext cx="3575050" cy="269875"/>
          </a:xfrm>
          <a:custGeom>
            <a:avLst/>
            <a:gdLst>
              <a:gd name="T0" fmla="*/ 2147483647 w 2252"/>
              <a:gd name="T1" fmla="*/ 2147483647 h 170"/>
              <a:gd name="T2" fmla="*/ 2147483647 w 2252"/>
              <a:gd name="T3" fmla="*/ 2147483647 h 170"/>
              <a:gd name="T4" fmla="*/ 2147483647 w 2252"/>
              <a:gd name="T5" fmla="*/ 2147483647 h 170"/>
              <a:gd name="T6" fmla="*/ 2147483647 w 2252"/>
              <a:gd name="T7" fmla="*/ 2147483647 h 170"/>
              <a:gd name="T8" fmla="*/ 2147483647 w 2252"/>
              <a:gd name="T9" fmla="*/ 0 h 17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52"/>
              <a:gd name="T16" fmla="*/ 0 h 170"/>
              <a:gd name="T17" fmla="*/ 2252 w 2252"/>
              <a:gd name="T18" fmla="*/ 170 h 17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52" h="170">
                <a:moveTo>
                  <a:pt x="38" y="170"/>
                </a:moveTo>
                <a:cubicBezTo>
                  <a:pt x="30" y="158"/>
                  <a:pt x="0" y="148"/>
                  <a:pt x="86" y="122"/>
                </a:cubicBezTo>
                <a:cubicBezTo>
                  <a:pt x="172" y="96"/>
                  <a:pt x="344" y="13"/>
                  <a:pt x="552" y="14"/>
                </a:cubicBezTo>
                <a:cubicBezTo>
                  <a:pt x="760" y="15"/>
                  <a:pt x="1049" y="129"/>
                  <a:pt x="1332" y="127"/>
                </a:cubicBezTo>
                <a:cubicBezTo>
                  <a:pt x="1615" y="125"/>
                  <a:pt x="2060" y="26"/>
                  <a:pt x="2252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lgDash"/>
            <a:round/>
            <a:headEnd/>
            <a:tailEnd type="triangle" w="lg" len="med"/>
          </a:ln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46870" name="Freeform 22"/>
          <p:cNvSpPr>
            <a:spLocks/>
          </p:cNvSpPr>
          <p:nvPr/>
        </p:nvSpPr>
        <p:spPr bwMode="auto">
          <a:xfrm>
            <a:off x="5535613" y="3157538"/>
            <a:ext cx="1627187" cy="534987"/>
          </a:xfrm>
          <a:custGeom>
            <a:avLst/>
            <a:gdLst>
              <a:gd name="T0" fmla="*/ 0 w 1025"/>
              <a:gd name="T1" fmla="*/ 0 h 337"/>
              <a:gd name="T2" fmla="*/ 2147483647 w 1025"/>
              <a:gd name="T3" fmla="*/ 2147483647 h 337"/>
              <a:gd name="T4" fmla="*/ 2147483647 w 1025"/>
              <a:gd name="T5" fmla="*/ 2147483647 h 337"/>
              <a:gd name="T6" fmla="*/ 2147483647 w 1025"/>
              <a:gd name="T7" fmla="*/ 2147483647 h 337"/>
              <a:gd name="T8" fmla="*/ 0 60000 65536"/>
              <a:gd name="T9" fmla="*/ 0 60000 65536"/>
              <a:gd name="T10" fmla="*/ 0 60000 65536"/>
              <a:gd name="T11" fmla="*/ 0 60000 65536"/>
              <a:gd name="T12" fmla="*/ 0 w 1025"/>
              <a:gd name="T13" fmla="*/ 0 h 337"/>
              <a:gd name="T14" fmla="*/ 1025 w 1025"/>
              <a:gd name="T15" fmla="*/ 337 h 3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25" h="337">
                <a:moveTo>
                  <a:pt x="0" y="0"/>
                </a:moveTo>
                <a:cubicBezTo>
                  <a:pt x="58" y="9"/>
                  <a:pt x="235" y="9"/>
                  <a:pt x="351" y="56"/>
                </a:cubicBezTo>
                <a:cubicBezTo>
                  <a:pt x="467" y="103"/>
                  <a:pt x="583" y="234"/>
                  <a:pt x="695" y="281"/>
                </a:cubicBezTo>
                <a:cubicBezTo>
                  <a:pt x="807" y="328"/>
                  <a:pt x="956" y="325"/>
                  <a:pt x="1025" y="337"/>
                </a:cubicBezTo>
              </a:path>
            </a:pathLst>
          </a:custGeom>
          <a:noFill/>
          <a:ln w="38100">
            <a:solidFill>
              <a:schemeClr val="tx1"/>
            </a:solidFill>
            <a:prstDash val="lgDash"/>
            <a:round/>
            <a:headEnd/>
            <a:tailEnd type="triangle" w="lg" len="med"/>
          </a:ln>
        </p:spPr>
        <p:txBody>
          <a:bodyPr/>
          <a:lstStyle/>
          <a:p>
            <a:endParaRPr lang="en-US" sz="1800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846871" name="Text Box 23"/>
          <p:cNvSpPr txBox="1">
            <a:spLocks noChangeArrowheads="1"/>
          </p:cNvSpPr>
          <p:nvPr/>
        </p:nvSpPr>
        <p:spPr bwMode="auto">
          <a:xfrm>
            <a:off x="1346200" y="3595688"/>
            <a:ext cx="121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g = 10</a:t>
            </a:r>
          </a:p>
        </p:txBody>
      </p:sp>
      <p:sp>
        <p:nvSpPr>
          <p:cNvPr id="846876" name="Text Box 28"/>
          <p:cNvSpPr txBox="1">
            <a:spLocks noChangeArrowheads="1"/>
          </p:cNvSpPr>
          <p:nvPr/>
        </p:nvSpPr>
        <p:spPr bwMode="auto">
          <a:xfrm>
            <a:off x="6400800" y="2757488"/>
            <a:ext cx="914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800" i="1">
                <a:solidFill>
                  <a:srgbClr val="CC0000"/>
                </a:solidFill>
                <a:latin typeface="Arial" charset="0"/>
                <a:cs typeface="Arial" charset="0"/>
              </a:rPr>
              <a:t>h = 8</a:t>
            </a:r>
          </a:p>
        </p:txBody>
      </p:sp>
      <p:pic>
        <p:nvPicPr>
          <p:cNvPr id="35856" name="Picture 32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5440363"/>
            <a:ext cx="3746500" cy="350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52" grpId="0" animBg="1"/>
      <p:bldP spid="846854" grpId="0" animBg="1"/>
      <p:bldP spid="846855" grpId="0" animBg="1"/>
      <p:bldP spid="846857" grpId="0" animBg="1"/>
      <p:bldP spid="846860" grpId="0"/>
      <p:bldP spid="846865" grpId="0"/>
      <p:bldP spid="846867" grpId="0"/>
      <p:bldP spid="846868" grpId="0" animBg="1"/>
      <p:bldP spid="846869" grpId="0" animBg="1"/>
      <p:bldP spid="846870" grpId="0" animBg="1"/>
      <p:bldP spid="846871" grpId="0"/>
      <p:bldP spid="846876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Optimality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Tree search: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A* is optimal if heuristic is admissible (and non-negative)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UCS is a special case (h = 0)</a:t>
            </a:r>
          </a:p>
          <a:p>
            <a:pPr eaLnBrk="1" hangingPunct="1">
              <a:lnSpc>
                <a:spcPct val="80000"/>
              </a:lnSpc>
            </a:pPr>
            <a:endParaRPr lang="en-US" sz="24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Graph search: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A* optimal if heuristic is consistent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000" dirty="0" smtClean="0"/>
              <a:t>UCS optimal (h = 0 is consistent)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Consistency implies admissibility</a:t>
            </a:r>
          </a:p>
          <a:p>
            <a:pPr lvl="1" eaLnBrk="1" hangingPunct="1">
              <a:lnSpc>
                <a:spcPct val="80000"/>
              </a:lnSpc>
            </a:pPr>
            <a:endParaRPr lang="en-US" sz="2000" dirty="0" smtClean="0"/>
          </a:p>
          <a:p>
            <a:pPr eaLnBrk="1" hangingPunct="1">
              <a:lnSpc>
                <a:spcPct val="80000"/>
              </a:lnSpc>
            </a:pPr>
            <a:r>
              <a:rPr lang="en-US" sz="2400" dirty="0" smtClean="0"/>
              <a:t>In general, most natural admissible heuristics tend to be consistent, especially if from relaxed problems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rickRed}{c(n, a, n') \ge h(n) - h(n'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235"/>
  <p:tag name="PICTUREFILESIZE" val="17685"/>
</p:tagLst>
</file>

<file path=ppt/theme/theme1.xml><?xml version="1.0" encoding="utf-8"?>
<a:theme xmlns:a="http://schemas.openxmlformats.org/drawingml/2006/main" name="Default Design">
  <a:themeElements>
    <a:clrScheme name="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808080"/>
      </a:hlink>
      <a:folHlink>
        <a:srgbClr val="B2B2B2"/>
      </a:folHlink>
    </a:clrScheme>
    <a:fontScheme name="Default Design">
      <a:majorFont>
        <a:latin typeface="Arial Unicode MS"/>
        <a:ea typeface=""/>
        <a:cs typeface=""/>
      </a:majorFont>
      <a:minorFont>
        <a:latin typeface="Arial Unicode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22461</TotalTime>
  <Words>6057</Words>
  <Application>Microsoft Office PowerPoint</Application>
  <PresentationFormat>On-screen Show (4:3)</PresentationFormat>
  <Paragraphs>1110</Paragraphs>
  <Slides>77</Slides>
  <Notes>74</Notes>
  <HiddenSlides>8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77</vt:i4>
      </vt:variant>
    </vt:vector>
  </HeadingPairs>
  <TitlesOfParts>
    <vt:vector size="82" baseType="lpstr">
      <vt:lpstr>Default Design</vt:lpstr>
      <vt:lpstr>dan-berkeley-nlp-v1</vt:lpstr>
      <vt:lpstr>Acrobat Document</vt:lpstr>
      <vt:lpstr>Clip</vt:lpstr>
      <vt:lpstr>Equation</vt:lpstr>
      <vt:lpstr>Slide 1</vt:lpstr>
      <vt:lpstr>R&amp;Rsys we'll cover in this course </vt:lpstr>
      <vt:lpstr>Today Sept 13</vt:lpstr>
      <vt:lpstr>Simple Planning Agent</vt:lpstr>
      <vt:lpstr>Three examples</vt:lpstr>
      <vt:lpstr>Example 2: 8-Puzzle?</vt:lpstr>
      <vt:lpstr>Example: vacuum world</vt:lpstr>
      <vt:lpstr>How can we find a solution?</vt:lpstr>
      <vt:lpstr>Vacuum world: Search space graph</vt:lpstr>
      <vt:lpstr>Search: Abstract Definition</vt:lpstr>
      <vt:lpstr>Search Graph</vt:lpstr>
      <vt:lpstr>Examples for graph formal def.</vt:lpstr>
      <vt:lpstr>Graph Searching</vt:lpstr>
      <vt:lpstr>Generic Search Algorithm</vt:lpstr>
      <vt:lpstr>Problem Solving by Graph Searching </vt:lpstr>
      <vt:lpstr>Branching Factor</vt:lpstr>
      <vt:lpstr>Comparing Searching Algorithms: will it find a solution? the best one?</vt:lpstr>
      <vt:lpstr>Let’s look at two basic search strategies</vt:lpstr>
      <vt:lpstr>Depth-first Search: DFS</vt:lpstr>
      <vt:lpstr>Depth-first search: Illustrative Graph --- Depth-first Search Frontier</vt:lpstr>
      <vt:lpstr>Depth-first Search: Analysis of DFS</vt:lpstr>
      <vt:lpstr>Depth-first Search: Analysis of DFS</vt:lpstr>
      <vt:lpstr>Depth-first Search: When it is appropriate?</vt:lpstr>
      <vt:lpstr>Why  DFS need to be studied and understood?</vt:lpstr>
      <vt:lpstr>Breadth-first Search: BFS</vt:lpstr>
      <vt:lpstr>Illustrative Graph - Breadth-first Search</vt:lpstr>
      <vt:lpstr>Breadth Search: Analysis of BFS</vt:lpstr>
      <vt:lpstr>Analysis of Breadth-First Search</vt:lpstr>
      <vt:lpstr>Using Breadth-first Search</vt:lpstr>
      <vt:lpstr>Iterative Deepening (sec 3.6.3)</vt:lpstr>
      <vt:lpstr>Iterative Deepening in Essence</vt:lpstr>
      <vt:lpstr>Slide 32</vt:lpstr>
      <vt:lpstr>(Time) Complexity of Iterative Deepening</vt:lpstr>
      <vt:lpstr>(Time) Complexity of Iterative Deepening</vt:lpstr>
      <vt:lpstr>Search with Costs</vt:lpstr>
      <vt:lpstr>Today Sept 13</vt:lpstr>
      <vt:lpstr>Heuristic Search</vt:lpstr>
      <vt:lpstr>More formally</vt:lpstr>
      <vt:lpstr>More formally (cont.)</vt:lpstr>
      <vt:lpstr>Example Admissible Heuristic Functions</vt:lpstr>
      <vt:lpstr>Example Admissible Heuristic Functions</vt:lpstr>
      <vt:lpstr>Example Admissible Heuristic Functions</vt:lpstr>
      <vt:lpstr>Example Heuristic Functions</vt:lpstr>
      <vt:lpstr>Example Heuristic Functions</vt:lpstr>
      <vt:lpstr>How to Construct a Heuristic</vt:lpstr>
      <vt:lpstr>How to Construct a Heuristic (cont.)</vt:lpstr>
      <vt:lpstr>Another approach to construct heuristics</vt:lpstr>
      <vt:lpstr>Heuristics: Dominance</vt:lpstr>
      <vt:lpstr>Combining Heuristics</vt:lpstr>
      <vt:lpstr>Combining Heuristics: Example</vt:lpstr>
      <vt:lpstr>Best-First Search</vt:lpstr>
      <vt:lpstr>Analysis of Best-First Search</vt:lpstr>
      <vt:lpstr>A* Search Algorithm</vt:lpstr>
      <vt:lpstr>Analysis of A*</vt:lpstr>
      <vt:lpstr>Optimality of A*</vt:lpstr>
      <vt:lpstr>Why is A* optimal?</vt:lpstr>
      <vt:lpstr>Why is A* optimal? (cont’)</vt:lpstr>
      <vt:lpstr>Branch-and-Bound Search</vt:lpstr>
      <vt:lpstr>Branch-and-Bound Search Algorithm</vt:lpstr>
      <vt:lpstr>Branch-and-Bound Search Algorithm</vt:lpstr>
      <vt:lpstr>Branch-and-Bound Analysis</vt:lpstr>
      <vt:lpstr>Other A* Enhancements</vt:lpstr>
      <vt:lpstr>Other A* Enhancements</vt:lpstr>
      <vt:lpstr>Cycle Checking</vt:lpstr>
      <vt:lpstr>Repeated States / Multiple Paths</vt:lpstr>
      <vt:lpstr>Pruning Cycles</vt:lpstr>
      <vt:lpstr>Search in Practice</vt:lpstr>
      <vt:lpstr>Search in Practice (cont’)</vt:lpstr>
      <vt:lpstr>Sample A* applications</vt:lpstr>
      <vt:lpstr>Class Forum: Piazza</vt:lpstr>
      <vt:lpstr>Do all the “Graph Searching exercises” available at http://www.aispace.org/exercises.shtml Please, look at solutions only after you have tried hard to solve them!  </vt:lpstr>
      <vt:lpstr>Lecture Summary</vt:lpstr>
      <vt:lpstr>Example1: Delivery Robot</vt:lpstr>
      <vt:lpstr>How can we find a solution?</vt:lpstr>
      <vt:lpstr>Examples of solution</vt:lpstr>
      <vt:lpstr>Consistency</vt:lpstr>
      <vt:lpstr>Optimality</vt:lpstr>
    </vt:vector>
  </TitlesOfParts>
  <Company>UBC Computer Sciences Department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conati</dc:creator>
  <cp:lastModifiedBy>carenini</cp:lastModifiedBy>
  <cp:revision>452</cp:revision>
  <dcterms:created xsi:type="dcterms:W3CDTF">2000-08-26T02:46:38Z</dcterms:created>
  <dcterms:modified xsi:type="dcterms:W3CDTF">2011-09-14T01:42:39Z</dcterms:modified>
</cp:coreProperties>
</file>