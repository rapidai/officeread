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bin" ContentType="application/vnd.openxmlformats-officedocument.oleObject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4" r:id="rId8"/>
    <p:sldId id="261" r:id="rId9"/>
    <p:sldId id="266" r:id="rId10"/>
    <p:sldId id="267" r:id="rId11"/>
    <p:sldId id="268" r:id="rId12"/>
    <p:sldId id="269" r:id="rId13"/>
    <p:sldId id="265" r:id="rId1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87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C87A919-FF0B-4BDA-9142-027655065EF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B6AFB8-1253-47F4-A62B-925AE086E8A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515E1D1-DAC3-438E-B18C-E1CE777BD5E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A766B1-367B-4D42-BFF7-FC7CC7F3901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CF9395-E07D-45E5-9B4C-5ECF7DBCA1D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AD8E32-0882-4801-8AD3-118D094EF29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87AE6F-07D8-498C-8F4D-825040769A8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78CAD6-7122-4209-93B7-437AEBDC218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E5A937A-F377-4D91-AAF1-8576BC75F71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D8CD052-69F5-4793-8537-167A1669928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CD73B8-1B0B-4D5B-B78E-869E0615224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48D91B95-5895-4E41-9E3D-DF23BD899B14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oleObject" Target="../embeddings/oleObject3.bin"/><Relationship Id="rId4" Type="http://schemas.openxmlformats.org/officeDocument/2006/relationships/oleObject" Target="../embeddings/oleObject2.bin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62000" y="685800"/>
            <a:ext cx="7772400" cy="1470025"/>
          </a:xfrm>
        </p:spPr>
        <p:txBody>
          <a:bodyPr/>
          <a:lstStyle/>
          <a:p>
            <a:r>
              <a:rPr lang="en-US"/>
              <a:t>Nonlinear effects in internal waves</a:t>
            </a:r>
          </a:p>
        </p:txBody>
      </p:sp>
      <p:pic>
        <p:nvPicPr>
          <p:cNvPr id="2053" name="Picture 5" descr="breakingwave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62200" y="2514600"/>
            <a:ext cx="4495800" cy="365601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Wave steepness</a:t>
            </a:r>
          </a:p>
        </p:txBody>
      </p:sp>
      <p:sp>
        <p:nvSpPr>
          <p:cNvPr id="3078" name="Line 6"/>
          <p:cNvSpPr>
            <a:spLocks noChangeShapeType="1"/>
          </p:cNvSpPr>
          <p:nvPr/>
        </p:nvSpPr>
        <p:spPr bwMode="auto">
          <a:xfrm flipV="1">
            <a:off x="1066800" y="2133600"/>
            <a:ext cx="3581400" cy="3276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79" name="Line 7"/>
          <p:cNvSpPr>
            <a:spLocks noChangeShapeType="1"/>
          </p:cNvSpPr>
          <p:nvPr/>
        </p:nvSpPr>
        <p:spPr bwMode="auto">
          <a:xfrm flipV="1">
            <a:off x="2209800" y="2209800"/>
            <a:ext cx="3581400" cy="3276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80" name="Line 8"/>
          <p:cNvSpPr>
            <a:spLocks noChangeShapeType="1"/>
          </p:cNvSpPr>
          <p:nvPr/>
        </p:nvSpPr>
        <p:spPr bwMode="auto">
          <a:xfrm flipV="1">
            <a:off x="3352800" y="2209800"/>
            <a:ext cx="3733800" cy="3429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83" name="Freeform 11"/>
          <p:cNvSpPr>
            <a:spLocks/>
          </p:cNvSpPr>
          <p:nvPr/>
        </p:nvSpPr>
        <p:spPr bwMode="auto">
          <a:xfrm>
            <a:off x="2133600" y="2895600"/>
            <a:ext cx="5029200" cy="469900"/>
          </a:xfrm>
          <a:custGeom>
            <a:avLst/>
            <a:gdLst/>
            <a:ahLst/>
            <a:cxnLst>
              <a:cxn ang="0">
                <a:pos x="0" y="296"/>
              </a:cxn>
              <a:cxn ang="0">
                <a:pos x="1008" y="8"/>
              </a:cxn>
              <a:cxn ang="0">
                <a:pos x="1488" y="248"/>
              </a:cxn>
              <a:cxn ang="0">
                <a:pos x="2592" y="8"/>
              </a:cxn>
              <a:cxn ang="0">
                <a:pos x="3168" y="296"/>
              </a:cxn>
            </a:cxnLst>
            <a:rect l="0" t="0" r="r" b="b"/>
            <a:pathLst>
              <a:path w="3168" h="296">
                <a:moveTo>
                  <a:pt x="0" y="296"/>
                </a:moveTo>
                <a:cubicBezTo>
                  <a:pt x="380" y="156"/>
                  <a:pt x="760" y="16"/>
                  <a:pt x="1008" y="8"/>
                </a:cubicBezTo>
                <a:cubicBezTo>
                  <a:pt x="1256" y="0"/>
                  <a:pt x="1224" y="248"/>
                  <a:pt x="1488" y="248"/>
                </a:cubicBezTo>
                <a:cubicBezTo>
                  <a:pt x="1752" y="248"/>
                  <a:pt x="2312" y="0"/>
                  <a:pt x="2592" y="8"/>
                </a:cubicBezTo>
                <a:cubicBezTo>
                  <a:pt x="2872" y="16"/>
                  <a:pt x="3072" y="248"/>
                  <a:pt x="3168" y="29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84" name="Freeform 12"/>
          <p:cNvSpPr>
            <a:spLocks/>
          </p:cNvSpPr>
          <p:nvPr/>
        </p:nvSpPr>
        <p:spPr bwMode="auto">
          <a:xfrm>
            <a:off x="228600" y="4430713"/>
            <a:ext cx="4840288" cy="1055687"/>
          </a:xfrm>
          <a:custGeom>
            <a:avLst/>
            <a:gdLst/>
            <a:ahLst/>
            <a:cxnLst>
              <a:cxn ang="0">
                <a:pos x="0" y="577"/>
              </a:cxn>
              <a:cxn ang="0">
                <a:pos x="1168" y="14"/>
              </a:cxn>
              <a:cxn ang="0">
                <a:pos x="1275" y="660"/>
              </a:cxn>
              <a:cxn ang="0">
                <a:pos x="2784" y="25"/>
              </a:cxn>
              <a:cxn ang="0">
                <a:pos x="2864" y="665"/>
              </a:cxn>
            </a:cxnLst>
            <a:rect l="0" t="0" r="r" b="b"/>
            <a:pathLst>
              <a:path w="3049" h="665">
                <a:moveTo>
                  <a:pt x="0" y="577"/>
                </a:moveTo>
                <a:cubicBezTo>
                  <a:pt x="195" y="483"/>
                  <a:pt x="956" y="0"/>
                  <a:pt x="1168" y="14"/>
                </a:cubicBezTo>
                <a:cubicBezTo>
                  <a:pt x="1380" y="28"/>
                  <a:pt x="1006" y="658"/>
                  <a:pt x="1275" y="660"/>
                </a:cubicBezTo>
                <a:cubicBezTo>
                  <a:pt x="1544" y="662"/>
                  <a:pt x="2519" y="24"/>
                  <a:pt x="2784" y="25"/>
                </a:cubicBezTo>
                <a:cubicBezTo>
                  <a:pt x="3049" y="26"/>
                  <a:pt x="2847" y="532"/>
                  <a:pt x="2864" y="665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87" name="Text Box 15"/>
          <p:cNvSpPr txBox="1">
            <a:spLocks noChangeArrowheads="1"/>
          </p:cNvSpPr>
          <p:nvPr/>
        </p:nvSpPr>
        <p:spPr bwMode="auto">
          <a:xfrm>
            <a:off x="4175125" y="2779713"/>
            <a:ext cx="5222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2h</a:t>
            </a:r>
            <a:r>
              <a:rPr lang="en-US" baseline="-25000"/>
              <a:t>0</a:t>
            </a:r>
            <a:endParaRPr lang="en-US"/>
          </a:p>
        </p:txBody>
      </p:sp>
      <p:sp>
        <p:nvSpPr>
          <p:cNvPr id="3088" name="Line 16"/>
          <p:cNvSpPr>
            <a:spLocks noChangeShapeType="1"/>
          </p:cNvSpPr>
          <p:nvPr/>
        </p:nvSpPr>
        <p:spPr bwMode="auto">
          <a:xfrm>
            <a:off x="4191000" y="2895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89" name="Text Box 17"/>
          <p:cNvSpPr txBox="1">
            <a:spLocks noChangeArrowheads="1"/>
          </p:cNvSpPr>
          <p:nvPr/>
        </p:nvSpPr>
        <p:spPr bwMode="auto">
          <a:xfrm>
            <a:off x="2438400" y="4724400"/>
            <a:ext cx="5222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2h</a:t>
            </a:r>
            <a:r>
              <a:rPr lang="en-US" baseline="-25000"/>
              <a:t>0</a:t>
            </a:r>
            <a:endParaRPr lang="en-US"/>
          </a:p>
        </p:txBody>
      </p:sp>
      <p:sp>
        <p:nvSpPr>
          <p:cNvPr id="3090" name="Line 18"/>
          <p:cNvSpPr>
            <a:spLocks noChangeShapeType="1"/>
          </p:cNvSpPr>
          <p:nvPr/>
        </p:nvSpPr>
        <p:spPr bwMode="auto">
          <a:xfrm>
            <a:off x="2362200" y="4419600"/>
            <a:ext cx="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91" name="Text Box 19"/>
          <p:cNvSpPr txBox="1">
            <a:spLocks noChangeArrowheads="1"/>
          </p:cNvSpPr>
          <p:nvPr/>
        </p:nvSpPr>
        <p:spPr bwMode="auto">
          <a:xfrm>
            <a:off x="3184525" y="3614738"/>
            <a:ext cx="4873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Symbol" pitchFamily="18" charset="2"/>
              </a:rPr>
              <a:t>l/2</a:t>
            </a:r>
          </a:p>
        </p:txBody>
      </p:sp>
      <p:sp>
        <p:nvSpPr>
          <p:cNvPr id="3094" name="Line 22"/>
          <p:cNvSpPr>
            <a:spLocks noChangeShapeType="1"/>
          </p:cNvSpPr>
          <p:nvPr/>
        </p:nvSpPr>
        <p:spPr bwMode="auto">
          <a:xfrm>
            <a:off x="3200400" y="3429000"/>
            <a:ext cx="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95" name="Text Box 23"/>
          <p:cNvSpPr txBox="1">
            <a:spLocks noChangeArrowheads="1"/>
          </p:cNvSpPr>
          <p:nvPr/>
        </p:nvSpPr>
        <p:spPr bwMode="auto">
          <a:xfrm>
            <a:off x="746125" y="2398713"/>
            <a:ext cx="23114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Linear wave: h0&lt;1/m</a:t>
            </a:r>
          </a:p>
        </p:txBody>
      </p:sp>
      <p:sp>
        <p:nvSpPr>
          <p:cNvPr id="3096" name="Text Box 24"/>
          <p:cNvSpPr txBox="1">
            <a:spLocks noChangeArrowheads="1"/>
          </p:cNvSpPr>
          <p:nvPr/>
        </p:nvSpPr>
        <p:spPr bwMode="auto">
          <a:xfrm>
            <a:off x="5394325" y="4760913"/>
            <a:ext cx="35623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Steep wave: h0m&gt;1.</a:t>
            </a:r>
          </a:p>
          <a:p>
            <a:r>
              <a:rPr lang="en-US"/>
              <a:t>Regions of overturned isopycnals</a:t>
            </a:r>
          </a:p>
        </p:txBody>
      </p:sp>
      <p:sp>
        <p:nvSpPr>
          <p:cNvPr id="3097" name="Oval 25"/>
          <p:cNvSpPr>
            <a:spLocks noChangeArrowheads="1"/>
          </p:cNvSpPr>
          <p:nvPr/>
        </p:nvSpPr>
        <p:spPr bwMode="auto">
          <a:xfrm>
            <a:off x="1981200" y="4343400"/>
            <a:ext cx="304800" cy="1143000"/>
          </a:xfrm>
          <a:prstGeom prst="ellips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33400"/>
            <a:ext cx="8229600" cy="1143000"/>
          </a:xfrm>
        </p:spPr>
        <p:txBody>
          <a:bodyPr/>
          <a:lstStyle/>
          <a:p>
            <a:r>
              <a:rPr lang="en-US" sz="2400"/>
              <a:t>Connection between high Froude number and wave breaking for surface waves</a:t>
            </a:r>
            <a:r>
              <a:rPr lang="en-US" sz="4000"/>
              <a:t> </a:t>
            </a:r>
          </a:p>
        </p:txBody>
      </p:sp>
      <p:grpSp>
        <p:nvGrpSpPr>
          <p:cNvPr id="4110" name="Group 14"/>
          <p:cNvGrpSpPr>
            <a:grpSpLocks/>
          </p:cNvGrpSpPr>
          <p:nvPr/>
        </p:nvGrpSpPr>
        <p:grpSpPr bwMode="auto">
          <a:xfrm>
            <a:off x="762000" y="2667000"/>
            <a:ext cx="6934200" cy="1509713"/>
            <a:chOff x="480" y="1895"/>
            <a:chExt cx="4368" cy="951"/>
          </a:xfrm>
        </p:grpSpPr>
        <p:sp>
          <p:nvSpPr>
            <p:cNvPr id="4100" name="Line 4"/>
            <p:cNvSpPr>
              <a:spLocks noChangeShapeType="1"/>
            </p:cNvSpPr>
            <p:nvPr/>
          </p:nvSpPr>
          <p:spPr bwMode="auto">
            <a:xfrm>
              <a:off x="480" y="2448"/>
              <a:ext cx="43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101" name="Freeform 5"/>
            <p:cNvSpPr>
              <a:spLocks/>
            </p:cNvSpPr>
            <p:nvPr/>
          </p:nvSpPr>
          <p:spPr bwMode="auto">
            <a:xfrm>
              <a:off x="480" y="2200"/>
              <a:ext cx="3504" cy="440"/>
            </a:xfrm>
            <a:custGeom>
              <a:avLst/>
              <a:gdLst/>
              <a:ahLst/>
              <a:cxnLst>
                <a:cxn ang="0">
                  <a:pos x="0" y="440"/>
                </a:cxn>
                <a:cxn ang="0">
                  <a:pos x="672" y="8"/>
                </a:cxn>
                <a:cxn ang="0">
                  <a:pos x="1536" y="440"/>
                </a:cxn>
                <a:cxn ang="0">
                  <a:pos x="2544" y="8"/>
                </a:cxn>
                <a:cxn ang="0">
                  <a:pos x="3504" y="392"/>
                </a:cxn>
              </a:cxnLst>
              <a:rect l="0" t="0" r="r" b="b"/>
              <a:pathLst>
                <a:path w="3504" h="440">
                  <a:moveTo>
                    <a:pt x="0" y="440"/>
                  </a:moveTo>
                  <a:cubicBezTo>
                    <a:pt x="208" y="224"/>
                    <a:pt x="416" y="8"/>
                    <a:pt x="672" y="8"/>
                  </a:cubicBezTo>
                  <a:cubicBezTo>
                    <a:pt x="928" y="8"/>
                    <a:pt x="1224" y="440"/>
                    <a:pt x="1536" y="440"/>
                  </a:cubicBezTo>
                  <a:cubicBezTo>
                    <a:pt x="1848" y="440"/>
                    <a:pt x="2216" y="16"/>
                    <a:pt x="2544" y="8"/>
                  </a:cubicBezTo>
                  <a:cubicBezTo>
                    <a:pt x="2872" y="0"/>
                    <a:pt x="3188" y="196"/>
                    <a:pt x="3504" y="392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102" name="Text Box 6"/>
            <p:cNvSpPr txBox="1">
              <a:spLocks noChangeArrowheads="1"/>
            </p:cNvSpPr>
            <p:nvPr/>
          </p:nvSpPr>
          <p:spPr bwMode="auto">
            <a:xfrm>
              <a:off x="854" y="1895"/>
              <a:ext cx="59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/>
                <a:t>C + Uw</a:t>
              </a:r>
            </a:p>
          </p:txBody>
        </p:sp>
        <p:sp>
          <p:nvSpPr>
            <p:cNvPr id="4103" name="Text Box 7"/>
            <p:cNvSpPr txBox="1">
              <a:spLocks noChangeArrowheads="1"/>
            </p:cNvSpPr>
            <p:nvPr/>
          </p:nvSpPr>
          <p:spPr bwMode="auto">
            <a:xfrm>
              <a:off x="1718" y="2615"/>
              <a:ext cx="55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/>
                <a:t>C - Uw</a:t>
              </a:r>
            </a:p>
          </p:txBody>
        </p:sp>
        <p:sp>
          <p:nvSpPr>
            <p:cNvPr id="4105" name="Line 9"/>
            <p:cNvSpPr>
              <a:spLocks noChangeShapeType="1"/>
            </p:cNvSpPr>
            <p:nvPr/>
          </p:nvSpPr>
          <p:spPr bwMode="auto">
            <a:xfrm>
              <a:off x="1152" y="2208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106" name="Line 10"/>
            <p:cNvSpPr>
              <a:spLocks noChangeShapeType="1"/>
            </p:cNvSpPr>
            <p:nvPr/>
          </p:nvSpPr>
          <p:spPr bwMode="auto">
            <a:xfrm flipH="1">
              <a:off x="1872" y="2640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107" name="Freeform 11"/>
          <p:cNvSpPr>
            <a:spLocks/>
          </p:cNvSpPr>
          <p:nvPr/>
        </p:nvSpPr>
        <p:spPr bwMode="auto">
          <a:xfrm>
            <a:off x="990600" y="3124200"/>
            <a:ext cx="5307013" cy="792163"/>
          </a:xfrm>
          <a:custGeom>
            <a:avLst/>
            <a:gdLst/>
            <a:ahLst/>
            <a:cxnLst>
              <a:cxn ang="0">
                <a:pos x="0" y="499"/>
              </a:cxn>
              <a:cxn ang="0">
                <a:pos x="1061" y="27"/>
              </a:cxn>
              <a:cxn ang="0">
                <a:pos x="1253" y="459"/>
              </a:cxn>
              <a:cxn ang="0">
                <a:pos x="3019" y="6"/>
              </a:cxn>
              <a:cxn ang="0">
                <a:pos x="3195" y="496"/>
              </a:cxn>
            </a:cxnLst>
            <a:rect l="0" t="0" r="r" b="b"/>
            <a:pathLst>
              <a:path w="3343" h="499">
                <a:moveTo>
                  <a:pt x="0" y="499"/>
                </a:moveTo>
                <a:cubicBezTo>
                  <a:pt x="177" y="420"/>
                  <a:pt x="852" y="34"/>
                  <a:pt x="1061" y="27"/>
                </a:cubicBezTo>
                <a:cubicBezTo>
                  <a:pt x="1270" y="20"/>
                  <a:pt x="927" y="462"/>
                  <a:pt x="1253" y="459"/>
                </a:cubicBezTo>
                <a:cubicBezTo>
                  <a:pt x="1579" y="456"/>
                  <a:pt x="2695" y="0"/>
                  <a:pt x="3019" y="6"/>
                </a:cubicBezTo>
                <a:cubicBezTo>
                  <a:pt x="3343" y="12"/>
                  <a:pt x="3158" y="394"/>
                  <a:pt x="3195" y="496"/>
                </a:cubicBezTo>
              </a:path>
            </a:pathLst>
          </a:custGeom>
          <a:noFill/>
          <a:ln w="9525">
            <a:solidFill>
              <a:srgbClr val="FF33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09" name="Text Box 13"/>
          <p:cNvSpPr txBox="1">
            <a:spLocks noChangeArrowheads="1"/>
          </p:cNvSpPr>
          <p:nvPr/>
        </p:nvSpPr>
        <p:spPr bwMode="auto">
          <a:xfrm>
            <a:off x="5562600" y="2133600"/>
            <a:ext cx="939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Uw &gt; C</a:t>
            </a:r>
          </a:p>
        </p:txBody>
      </p:sp>
      <p:sp>
        <p:nvSpPr>
          <p:cNvPr id="4111" name="Text Box 15"/>
          <p:cNvSpPr txBox="1">
            <a:spLocks noChangeArrowheads="1"/>
          </p:cNvSpPr>
          <p:nvPr/>
        </p:nvSpPr>
        <p:spPr bwMode="auto">
          <a:xfrm>
            <a:off x="4022725" y="2551113"/>
            <a:ext cx="2343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Initial interface height</a:t>
            </a:r>
          </a:p>
        </p:txBody>
      </p:sp>
      <p:sp>
        <p:nvSpPr>
          <p:cNvPr id="4112" name="Text Box 16"/>
          <p:cNvSpPr txBox="1">
            <a:spLocks noChangeArrowheads="1"/>
          </p:cNvSpPr>
          <p:nvPr/>
        </p:nvSpPr>
        <p:spPr bwMode="auto">
          <a:xfrm>
            <a:off x="6689725" y="3617913"/>
            <a:ext cx="207327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>
                <a:solidFill>
                  <a:srgbClr val="FF3300"/>
                </a:solidFill>
              </a:rPr>
              <a:t>Subsequent interface height</a:t>
            </a:r>
          </a:p>
        </p:txBody>
      </p:sp>
      <p:sp>
        <p:nvSpPr>
          <p:cNvPr id="4113" name="Text Box 17"/>
          <p:cNvSpPr txBox="1">
            <a:spLocks noChangeArrowheads="1"/>
          </p:cNvSpPr>
          <p:nvPr/>
        </p:nvSpPr>
        <p:spPr bwMode="auto">
          <a:xfrm>
            <a:off x="228600" y="4953000"/>
            <a:ext cx="8382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/>
              <a:t>If Uw/C is large, then wave shape is modified so that wave surface overturns.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762000"/>
          </a:xfrm>
        </p:spPr>
        <p:txBody>
          <a:bodyPr/>
          <a:lstStyle/>
          <a:p>
            <a:r>
              <a:rPr lang="en-US" sz="4000"/>
              <a:t>Nonrotating critical level example</a:t>
            </a:r>
          </a:p>
        </p:txBody>
      </p:sp>
      <p:pic>
        <p:nvPicPr>
          <p:cNvPr id="5124" name="Picture 4" descr="criticalcharacteristics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86000" y="3733800"/>
            <a:ext cx="3962400" cy="2971800"/>
          </a:xfrm>
          <a:prstGeom prst="rect">
            <a:avLst/>
          </a:prstGeom>
          <a:noFill/>
        </p:spPr>
      </p:pic>
      <p:pic>
        <p:nvPicPr>
          <p:cNvPr id="5125" name="Picture 5" descr="criticalm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724400" y="838200"/>
            <a:ext cx="3733800" cy="2800350"/>
          </a:xfrm>
          <a:prstGeom prst="rect">
            <a:avLst/>
          </a:prstGeom>
          <a:noFill/>
        </p:spPr>
      </p:pic>
      <p:pic>
        <p:nvPicPr>
          <p:cNvPr id="5126" name="Picture 6" descr="Uprofile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33400" y="914400"/>
            <a:ext cx="3581400" cy="2686050"/>
          </a:xfrm>
          <a:prstGeom prst="rect">
            <a:avLst/>
          </a:prstGeom>
          <a:noFill/>
        </p:spPr>
      </p:pic>
      <p:sp>
        <p:nvSpPr>
          <p:cNvPr id="5128" name="Text Box 8"/>
          <p:cNvSpPr txBox="1">
            <a:spLocks noChangeArrowheads="1"/>
          </p:cNvSpPr>
          <p:nvPr/>
        </p:nvSpPr>
        <p:spPr bwMode="auto">
          <a:xfrm>
            <a:off x="1371600" y="3733800"/>
            <a:ext cx="7810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U m/s</a:t>
            </a:r>
          </a:p>
        </p:txBody>
      </p:sp>
      <p:sp>
        <p:nvSpPr>
          <p:cNvPr id="5129" name="Text Box 9"/>
          <p:cNvSpPr txBox="1">
            <a:spLocks noChangeArrowheads="1"/>
          </p:cNvSpPr>
          <p:nvPr/>
        </p:nvSpPr>
        <p:spPr bwMode="auto">
          <a:xfrm>
            <a:off x="60325" y="2170113"/>
            <a:ext cx="666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Z(m)</a:t>
            </a:r>
          </a:p>
        </p:txBody>
      </p:sp>
      <p:graphicFrame>
        <p:nvGraphicFramePr>
          <p:cNvPr id="5130" name="Object 10"/>
          <p:cNvGraphicFramePr>
            <a:graphicFrameLocks noChangeAspect="1"/>
          </p:cNvGraphicFramePr>
          <p:nvPr/>
        </p:nvGraphicFramePr>
        <p:xfrm>
          <a:off x="6629400" y="3962400"/>
          <a:ext cx="1371600" cy="396875"/>
        </p:xfrm>
        <a:graphic>
          <a:graphicData uri="http://schemas.openxmlformats.org/presentationml/2006/ole">
            <p:oleObj spid="_x0000_s5130" name="Equation" r:id="rId6" imgW="482400" imgH="139680" progId="Equation.3">
              <p:embed/>
            </p:oleObj>
          </a:graphicData>
        </a:graphic>
      </p:graphicFrame>
      <p:sp>
        <p:nvSpPr>
          <p:cNvPr id="5132" name="Text Box 12"/>
          <p:cNvSpPr txBox="1">
            <a:spLocks noChangeArrowheads="1"/>
          </p:cNvSpPr>
          <p:nvPr/>
        </p:nvSpPr>
        <p:spPr bwMode="auto">
          <a:xfrm>
            <a:off x="6613525" y="4456113"/>
            <a:ext cx="16383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when U = Cp, </a:t>
            </a:r>
          </a:p>
          <a:p>
            <a:r>
              <a:rPr lang="en-US"/>
              <a:t>i.e. U=0.</a:t>
            </a:r>
          </a:p>
        </p:txBody>
      </p:sp>
      <p:sp>
        <p:nvSpPr>
          <p:cNvPr id="5133" name="Text Box 13"/>
          <p:cNvSpPr txBox="1">
            <a:spLocks noChangeArrowheads="1"/>
          </p:cNvSpPr>
          <p:nvPr/>
        </p:nvSpPr>
        <p:spPr bwMode="auto">
          <a:xfrm>
            <a:off x="3870325" y="6437313"/>
            <a:ext cx="6794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X(m)</a:t>
            </a:r>
          </a:p>
        </p:txBody>
      </p:sp>
      <p:sp>
        <p:nvSpPr>
          <p:cNvPr id="5134" name="Text Box 14"/>
          <p:cNvSpPr txBox="1">
            <a:spLocks noChangeArrowheads="1"/>
          </p:cNvSpPr>
          <p:nvPr/>
        </p:nvSpPr>
        <p:spPr bwMode="auto">
          <a:xfrm>
            <a:off x="1889125" y="4913313"/>
            <a:ext cx="666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Z(m)</a:t>
            </a:r>
          </a:p>
        </p:txBody>
      </p:sp>
      <p:sp>
        <p:nvSpPr>
          <p:cNvPr id="5135" name="Text Box 15"/>
          <p:cNvSpPr txBox="1">
            <a:spLocks noChangeArrowheads="1"/>
          </p:cNvSpPr>
          <p:nvPr/>
        </p:nvSpPr>
        <p:spPr bwMode="auto">
          <a:xfrm>
            <a:off x="1143000" y="762000"/>
            <a:ext cx="16700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Velocity profile</a:t>
            </a:r>
          </a:p>
        </p:txBody>
      </p:sp>
      <p:sp>
        <p:nvSpPr>
          <p:cNvPr id="5136" name="Text Box 16"/>
          <p:cNvSpPr txBox="1">
            <a:spLocks noChangeArrowheads="1"/>
          </p:cNvSpPr>
          <p:nvPr/>
        </p:nvSpPr>
        <p:spPr bwMode="auto">
          <a:xfrm>
            <a:off x="5410200" y="685800"/>
            <a:ext cx="2317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Vertical wavenumber</a:t>
            </a:r>
          </a:p>
        </p:txBody>
      </p:sp>
      <p:sp>
        <p:nvSpPr>
          <p:cNvPr id="5137" name="Text Box 17"/>
          <p:cNvSpPr txBox="1">
            <a:spLocks noChangeArrowheads="1"/>
          </p:cNvSpPr>
          <p:nvPr/>
        </p:nvSpPr>
        <p:spPr bwMode="auto">
          <a:xfrm>
            <a:off x="2803525" y="3617913"/>
            <a:ext cx="21780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Wave characteristic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Overturning isopycnals at a critical level (U = 0)</a:t>
            </a:r>
          </a:p>
        </p:txBody>
      </p:sp>
      <p:pic>
        <p:nvPicPr>
          <p:cNvPr id="9219" name="Picture 3"/>
          <p:cNvPicPr>
            <a:picLocks noChangeAspect="1" noChangeArrowheads="1"/>
          </p:cNvPicPr>
          <p:nvPr>
            <p:ph type="body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1066800" y="2490788"/>
            <a:ext cx="7434263" cy="2149475"/>
          </a:xfrm>
          <a:noFill/>
          <a:ln/>
        </p:spPr>
      </p:pic>
      <p:sp>
        <p:nvSpPr>
          <p:cNvPr id="9220" name="Text Box 4"/>
          <p:cNvSpPr txBox="1">
            <a:spLocks noChangeArrowheads="1"/>
          </p:cNvSpPr>
          <p:nvPr/>
        </p:nvSpPr>
        <p:spPr bwMode="auto">
          <a:xfrm>
            <a:off x="441325" y="5522913"/>
            <a:ext cx="54419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Dornbrack and Durbeck, 1998, numerical simulation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Large amplitude topography</a:t>
            </a:r>
          </a:p>
        </p:txBody>
      </p:sp>
      <p:sp>
        <p:nvSpPr>
          <p:cNvPr id="6148" name="Freeform 4"/>
          <p:cNvSpPr>
            <a:spLocks/>
          </p:cNvSpPr>
          <p:nvPr/>
        </p:nvSpPr>
        <p:spPr bwMode="auto">
          <a:xfrm>
            <a:off x="533400" y="3011488"/>
            <a:ext cx="8077200" cy="2462212"/>
          </a:xfrm>
          <a:custGeom>
            <a:avLst/>
            <a:gdLst/>
            <a:ahLst/>
            <a:cxnLst>
              <a:cxn ang="0">
                <a:pos x="0" y="1367"/>
              </a:cxn>
              <a:cxn ang="0">
                <a:pos x="1152" y="1367"/>
              </a:cxn>
              <a:cxn ang="0">
                <a:pos x="2016" y="263"/>
              </a:cxn>
              <a:cxn ang="0">
                <a:pos x="2332" y="31"/>
              </a:cxn>
              <a:cxn ang="0">
                <a:pos x="2640" y="215"/>
              </a:cxn>
              <a:cxn ang="0">
                <a:pos x="3456" y="1319"/>
              </a:cxn>
              <a:cxn ang="0">
                <a:pos x="5088" y="1367"/>
              </a:cxn>
            </a:cxnLst>
            <a:rect l="0" t="0" r="r" b="b"/>
            <a:pathLst>
              <a:path w="5088" h="1551">
                <a:moveTo>
                  <a:pt x="0" y="1367"/>
                </a:moveTo>
                <a:cubicBezTo>
                  <a:pt x="408" y="1459"/>
                  <a:pt x="816" y="1551"/>
                  <a:pt x="1152" y="1367"/>
                </a:cubicBezTo>
                <a:cubicBezTo>
                  <a:pt x="1488" y="1183"/>
                  <a:pt x="1819" y="486"/>
                  <a:pt x="2016" y="263"/>
                </a:cubicBezTo>
                <a:cubicBezTo>
                  <a:pt x="2213" y="40"/>
                  <a:pt x="2228" y="39"/>
                  <a:pt x="2332" y="31"/>
                </a:cubicBezTo>
                <a:cubicBezTo>
                  <a:pt x="2436" y="23"/>
                  <a:pt x="2453" y="0"/>
                  <a:pt x="2640" y="215"/>
                </a:cubicBezTo>
                <a:cubicBezTo>
                  <a:pt x="2827" y="430"/>
                  <a:pt x="3048" y="1127"/>
                  <a:pt x="3456" y="1319"/>
                </a:cubicBezTo>
                <a:cubicBezTo>
                  <a:pt x="3864" y="1511"/>
                  <a:pt x="4816" y="1359"/>
                  <a:pt x="5088" y="1367"/>
                </a:cubicBezTo>
              </a:path>
            </a:pathLst>
          </a:custGeom>
          <a:noFill/>
          <a:ln w="28575" cmpd="sng">
            <a:solidFill>
              <a:schemeClr val="fol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149" name="Line 5"/>
          <p:cNvSpPr>
            <a:spLocks noChangeShapeType="1"/>
          </p:cNvSpPr>
          <p:nvPr/>
        </p:nvSpPr>
        <p:spPr bwMode="auto">
          <a:xfrm>
            <a:off x="1143000" y="24384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150" name="Text Box 6"/>
          <p:cNvSpPr txBox="1">
            <a:spLocks noChangeArrowheads="1"/>
          </p:cNvSpPr>
          <p:nvPr/>
        </p:nvSpPr>
        <p:spPr bwMode="auto">
          <a:xfrm>
            <a:off x="1660525" y="1792288"/>
            <a:ext cx="4048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/>
              <a:t>U</a:t>
            </a:r>
          </a:p>
        </p:txBody>
      </p:sp>
      <p:sp>
        <p:nvSpPr>
          <p:cNvPr id="6152" name="Line 8"/>
          <p:cNvSpPr>
            <a:spLocks noChangeShapeType="1"/>
          </p:cNvSpPr>
          <p:nvPr/>
        </p:nvSpPr>
        <p:spPr bwMode="auto">
          <a:xfrm>
            <a:off x="4267200" y="3048000"/>
            <a:ext cx="0" cy="2209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153" name="Text Box 9"/>
          <p:cNvSpPr txBox="1">
            <a:spLocks noChangeArrowheads="1"/>
          </p:cNvSpPr>
          <p:nvPr/>
        </p:nvSpPr>
        <p:spPr bwMode="auto">
          <a:xfrm>
            <a:off x="4327525" y="3849688"/>
            <a:ext cx="354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/>
              <a:t>h</a:t>
            </a:r>
          </a:p>
        </p:txBody>
      </p:sp>
      <p:sp>
        <p:nvSpPr>
          <p:cNvPr id="6154" name="Text Box 10"/>
          <p:cNvSpPr txBox="1">
            <a:spLocks noChangeArrowheads="1"/>
          </p:cNvSpPr>
          <p:nvPr/>
        </p:nvSpPr>
        <p:spPr bwMode="auto">
          <a:xfrm>
            <a:off x="5775325" y="2630488"/>
            <a:ext cx="17160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/>
              <a:t>Fr = U/(Nh)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Effect of finite amplitude topography: Fr = 1</a:t>
            </a:r>
          </a:p>
        </p:txBody>
      </p:sp>
      <p:pic>
        <p:nvPicPr>
          <p:cNvPr id="10243" name="Picture 3" descr="Downslopefr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76400" y="1524000"/>
            <a:ext cx="4648200" cy="4648200"/>
          </a:xfrm>
          <a:prstGeom prst="rect">
            <a:avLst/>
          </a:prstGeom>
          <a:noFill/>
        </p:spPr>
      </p:pic>
      <p:sp>
        <p:nvSpPr>
          <p:cNvPr id="10244" name="Text Box 4"/>
          <p:cNvSpPr txBox="1">
            <a:spLocks noChangeArrowheads="1"/>
          </p:cNvSpPr>
          <p:nvPr/>
        </p:nvSpPr>
        <p:spPr bwMode="auto">
          <a:xfrm>
            <a:off x="381000" y="6248400"/>
            <a:ext cx="6940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Blue region shows reverse flow in region of overturned isentropes.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Hydraulic control</a:t>
            </a:r>
          </a:p>
        </p:txBody>
      </p:sp>
      <p:pic>
        <p:nvPicPr>
          <p:cNvPr id="7172" name="Picture 4" descr="Overflow"/>
          <p:cNvPicPr>
            <a:picLocks noChangeAspect="1" noChangeArrowheads="1"/>
          </p:cNvPicPr>
          <p:nvPr>
            <p:ph type="body"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2362200" y="2362200"/>
            <a:ext cx="4176713" cy="3830638"/>
          </a:xfrm>
          <a:noFill/>
          <a:ln/>
        </p:spPr>
      </p:pic>
      <p:sp>
        <p:nvSpPr>
          <p:cNvPr id="7173" name="Text Box 5"/>
          <p:cNvSpPr txBox="1">
            <a:spLocks noChangeArrowheads="1"/>
          </p:cNvSpPr>
          <p:nvPr/>
        </p:nvSpPr>
        <p:spPr bwMode="auto">
          <a:xfrm>
            <a:off x="1508125" y="4684713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d</a:t>
            </a:r>
          </a:p>
        </p:txBody>
      </p:sp>
      <p:sp>
        <p:nvSpPr>
          <p:cNvPr id="7174" name="Line 6"/>
          <p:cNvSpPr>
            <a:spLocks noChangeShapeType="1"/>
          </p:cNvSpPr>
          <p:nvPr/>
        </p:nvSpPr>
        <p:spPr bwMode="auto">
          <a:xfrm>
            <a:off x="1905000" y="3886200"/>
            <a:ext cx="0" cy="2209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7176" name="Object 8"/>
          <p:cNvGraphicFramePr>
            <a:graphicFrameLocks noChangeAspect="1"/>
          </p:cNvGraphicFramePr>
          <p:nvPr/>
        </p:nvGraphicFramePr>
        <p:xfrm>
          <a:off x="2057400" y="1524000"/>
          <a:ext cx="1651000" cy="635000"/>
        </p:xfrm>
        <a:graphic>
          <a:graphicData uri="http://schemas.openxmlformats.org/presentationml/2006/ole">
            <p:oleObj spid="_x0000_s7176" name="Equation" r:id="rId4" imgW="660240" imgH="253800" progId="Equation.3">
              <p:embed/>
            </p:oleObj>
          </a:graphicData>
        </a:graphic>
      </p:graphicFrame>
      <p:graphicFrame>
        <p:nvGraphicFramePr>
          <p:cNvPr id="7177" name="Object 9"/>
          <p:cNvGraphicFramePr>
            <a:graphicFrameLocks noChangeAspect="1"/>
          </p:cNvGraphicFramePr>
          <p:nvPr/>
        </p:nvGraphicFramePr>
        <p:xfrm>
          <a:off x="3962400" y="1676400"/>
          <a:ext cx="1524000" cy="585788"/>
        </p:xfrm>
        <a:graphic>
          <a:graphicData uri="http://schemas.openxmlformats.org/presentationml/2006/ole">
            <p:oleObj spid="_x0000_s7177" name="Equation" r:id="rId5" imgW="660240" imgH="253800" progId="Equation.3">
              <p:embed/>
            </p:oleObj>
          </a:graphicData>
        </a:graphic>
      </p:graphicFrame>
      <p:sp>
        <p:nvSpPr>
          <p:cNvPr id="7178" name="Oval 10"/>
          <p:cNvSpPr>
            <a:spLocks noChangeArrowheads="1"/>
          </p:cNvSpPr>
          <p:nvPr/>
        </p:nvSpPr>
        <p:spPr bwMode="auto">
          <a:xfrm>
            <a:off x="4114800" y="3581400"/>
            <a:ext cx="1447800" cy="1752600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179" name="Line 11"/>
          <p:cNvSpPr>
            <a:spLocks noChangeShapeType="1"/>
          </p:cNvSpPr>
          <p:nvPr/>
        </p:nvSpPr>
        <p:spPr bwMode="auto">
          <a:xfrm>
            <a:off x="4800600" y="2362200"/>
            <a:ext cx="76200" cy="144780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180" name="Text Box 12"/>
          <p:cNvSpPr txBox="1">
            <a:spLocks noChangeArrowheads="1"/>
          </p:cNvSpPr>
          <p:nvPr/>
        </p:nvSpPr>
        <p:spPr bwMode="auto">
          <a:xfrm>
            <a:off x="6705600" y="2057400"/>
            <a:ext cx="2438400" cy="228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/>
              <a:t>Topographic obstacle accelerates flow, reduces d, so that transition to supercritical flow occurs. </a:t>
            </a:r>
          </a:p>
          <a:p>
            <a:r>
              <a:rPr lang="en-US"/>
              <a:t>Mixing occurs in supercritical region.</a:t>
            </a:r>
          </a:p>
        </p:txBody>
      </p:sp>
      <p:sp>
        <p:nvSpPr>
          <p:cNvPr id="7181" name="Text Box 13"/>
          <p:cNvSpPr txBox="1">
            <a:spLocks noChangeArrowheads="1"/>
          </p:cNvSpPr>
          <p:nvPr/>
        </p:nvSpPr>
        <p:spPr bwMode="auto">
          <a:xfrm>
            <a:off x="746125" y="6361113"/>
            <a:ext cx="3206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(Numerical simulations, Legg)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Parametric Subharmonic Instability</a:t>
            </a:r>
          </a:p>
        </p:txBody>
      </p:sp>
      <p:pic>
        <p:nvPicPr>
          <p:cNvPr id="11267" name="Picture 3"/>
          <p:cNvPicPr>
            <a:picLocks noChangeAspect="1" noChangeArrowheads="1"/>
          </p:cNvPicPr>
          <p:nvPr>
            <p:ph type="body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2955925" y="1600200"/>
            <a:ext cx="3232150" cy="4525963"/>
          </a:xfrm>
          <a:noFill/>
          <a:ln/>
        </p:spPr>
      </p:pic>
      <p:sp>
        <p:nvSpPr>
          <p:cNvPr id="11268" name="Text Box 4"/>
          <p:cNvSpPr txBox="1">
            <a:spLocks noChangeArrowheads="1"/>
          </p:cNvSpPr>
          <p:nvPr/>
        </p:nvSpPr>
        <p:spPr bwMode="auto">
          <a:xfrm>
            <a:off x="6918325" y="2170113"/>
            <a:ext cx="1809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Initial conditions</a:t>
            </a:r>
          </a:p>
        </p:txBody>
      </p:sp>
      <p:sp>
        <p:nvSpPr>
          <p:cNvPr id="11269" name="Text Box 5"/>
          <p:cNvSpPr txBox="1">
            <a:spLocks noChangeArrowheads="1"/>
          </p:cNvSpPr>
          <p:nvPr/>
        </p:nvSpPr>
        <p:spPr bwMode="auto">
          <a:xfrm>
            <a:off x="6461125" y="4227513"/>
            <a:ext cx="2530475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/>
              <a:t>Subsequent evolution – generation of waves at twice initial frequency </a:t>
            </a:r>
          </a:p>
        </p:txBody>
      </p:sp>
      <p:sp>
        <p:nvSpPr>
          <p:cNvPr id="11270" name="Text Box 6"/>
          <p:cNvSpPr txBox="1">
            <a:spLocks noChangeArrowheads="1"/>
          </p:cNvSpPr>
          <p:nvPr/>
        </p:nvSpPr>
        <p:spPr bwMode="auto">
          <a:xfrm>
            <a:off x="365125" y="2551113"/>
            <a:ext cx="268287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/>
              <a:t>Winters et al, 2004 numerical simulations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PSI of internal tide at 21 degrees</a:t>
            </a:r>
          </a:p>
        </p:txBody>
      </p:sp>
      <p:pic>
        <p:nvPicPr>
          <p:cNvPr id="12291" name="Picture 3"/>
          <p:cNvPicPr>
            <a:picLocks noChangeAspect="1" noChangeArrowheads="1"/>
          </p:cNvPicPr>
          <p:nvPr>
            <p:ph type="body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457200" y="2944813"/>
            <a:ext cx="8229600" cy="1835150"/>
          </a:xfrm>
          <a:noFill/>
          <a:ln/>
        </p:spPr>
      </p:pic>
      <p:sp>
        <p:nvSpPr>
          <p:cNvPr id="12292" name="Text Box 4"/>
          <p:cNvSpPr txBox="1">
            <a:spLocks noChangeArrowheads="1"/>
          </p:cNvSpPr>
          <p:nvPr/>
        </p:nvSpPr>
        <p:spPr bwMode="auto">
          <a:xfrm>
            <a:off x="2590800" y="1828800"/>
            <a:ext cx="2787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KE spectra as function of </a:t>
            </a:r>
          </a:p>
        </p:txBody>
      </p:sp>
      <p:sp>
        <p:nvSpPr>
          <p:cNvPr id="12293" name="Text Box 5"/>
          <p:cNvSpPr txBox="1">
            <a:spLocks noChangeArrowheads="1"/>
          </p:cNvSpPr>
          <p:nvPr/>
        </p:nvSpPr>
        <p:spPr bwMode="auto">
          <a:xfrm>
            <a:off x="1050925" y="2398713"/>
            <a:ext cx="11874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frequency</a:t>
            </a:r>
          </a:p>
        </p:txBody>
      </p:sp>
      <p:sp>
        <p:nvSpPr>
          <p:cNvPr id="12294" name="Text Box 6"/>
          <p:cNvSpPr txBox="1">
            <a:spLocks noChangeArrowheads="1"/>
          </p:cNvSpPr>
          <p:nvPr/>
        </p:nvSpPr>
        <p:spPr bwMode="auto">
          <a:xfrm>
            <a:off x="3717925" y="2322513"/>
            <a:ext cx="25844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Horizontal wavenumber</a:t>
            </a:r>
          </a:p>
        </p:txBody>
      </p:sp>
      <p:sp>
        <p:nvSpPr>
          <p:cNvPr id="12295" name="Text Box 7"/>
          <p:cNvSpPr txBox="1">
            <a:spLocks noChangeArrowheads="1"/>
          </p:cNvSpPr>
          <p:nvPr/>
        </p:nvSpPr>
        <p:spPr bwMode="auto">
          <a:xfrm>
            <a:off x="6613525" y="2474913"/>
            <a:ext cx="2317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Vertical wavenumber</a:t>
            </a:r>
          </a:p>
        </p:txBody>
      </p:sp>
      <p:sp>
        <p:nvSpPr>
          <p:cNvPr id="12296" name="Text Box 8"/>
          <p:cNvSpPr txBox="1">
            <a:spLocks noChangeArrowheads="1"/>
          </p:cNvSpPr>
          <p:nvPr/>
        </p:nvSpPr>
        <p:spPr bwMode="auto">
          <a:xfrm>
            <a:off x="669925" y="5065713"/>
            <a:ext cx="48641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Red = 2days, green = 22 days, blue = 65 days</a:t>
            </a:r>
          </a:p>
        </p:txBody>
      </p:sp>
      <p:sp>
        <p:nvSpPr>
          <p:cNvPr id="12297" name="Text Box 9"/>
          <p:cNvSpPr txBox="1">
            <a:spLocks noChangeArrowheads="1"/>
          </p:cNvSpPr>
          <p:nvPr/>
        </p:nvSpPr>
        <p:spPr bwMode="auto">
          <a:xfrm>
            <a:off x="517525" y="5827713"/>
            <a:ext cx="56705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MacKinnon and Winters, 2006. Numerical simulations.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Garrett-Munk spectrum</a:t>
            </a:r>
          </a:p>
        </p:txBody>
      </p:sp>
      <p:pic>
        <p:nvPicPr>
          <p:cNvPr id="4100" name="Picture 4"/>
          <p:cNvPicPr>
            <a:picLocks noChangeAspect="1" noChangeArrowheads="1"/>
          </p:cNvPicPr>
          <p:nvPr>
            <p:ph type="body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533400" y="1600200"/>
            <a:ext cx="3565525" cy="5257800"/>
          </a:xfrm>
          <a:noFill/>
          <a:ln/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00600" y="1752600"/>
            <a:ext cx="3375025" cy="3754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102" name="Text Box 6"/>
          <p:cNvSpPr txBox="1">
            <a:spLocks noChangeArrowheads="1"/>
          </p:cNvSpPr>
          <p:nvPr/>
        </p:nvSpPr>
        <p:spPr bwMode="auto">
          <a:xfrm>
            <a:off x="1447800" y="1295400"/>
            <a:ext cx="22669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Frequency spectrum</a:t>
            </a:r>
          </a:p>
        </p:txBody>
      </p:sp>
      <p:sp>
        <p:nvSpPr>
          <p:cNvPr id="4103" name="Text Box 7"/>
          <p:cNvSpPr txBox="1">
            <a:spLocks noChangeArrowheads="1"/>
          </p:cNvSpPr>
          <p:nvPr/>
        </p:nvSpPr>
        <p:spPr bwMode="auto">
          <a:xfrm>
            <a:off x="5165725" y="1331913"/>
            <a:ext cx="33210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Vertical wavenumber spectrum</a:t>
            </a:r>
          </a:p>
        </p:txBody>
      </p:sp>
      <p:sp>
        <p:nvSpPr>
          <p:cNvPr id="4104" name="Text Box 8"/>
          <p:cNvSpPr txBox="1">
            <a:spLocks noChangeArrowheads="1"/>
          </p:cNvSpPr>
          <p:nvPr/>
        </p:nvSpPr>
        <p:spPr bwMode="auto">
          <a:xfrm>
            <a:off x="4784725" y="5599113"/>
            <a:ext cx="30924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(taken from Lvov et al, 2005)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Comparison of observations and wave-turbulence model for spectra</a:t>
            </a:r>
          </a:p>
        </p:txBody>
      </p:sp>
      <p:pic>
        <p:nvPicPr>
          <p:cNvPr id="5124" name="Picture 4"/>
          <p:cNvPicPr>
            <a:picLocks noChangeAspect="1" noChangeArrowheads="1"/>
          </p:cNvPicPr>
          <p:nvPr>
            <p:ph type="body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1912938" y="1600200"/>
            <a:ext cx="5935662" cy="5051425"/>
          </a:xfrm>
          <a:noFill/>
          <a:ln/>
        </p:spPr>
      </p:pic>
      <p:sp>
        <p:nvSpPr>
          <p:cNvPr id="5126" name="Text Box 6"/>
          <p:cNvSpPr txBox="1">
            <a:spLocks noChangeArrowheads="1"/>
          </p:cNvSpPr>
          <p:nvPr/>
        </p:nvSpPr>
        <p:spPr bwMode="auto">
          <a:xfrm>
            <a:off x="746125" y="1712913"/>
            <a:ext cx="19494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(Lvov et al, 2005)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3300"/>
                </a:solidFill>
              </a:rPr>
              <a:t>What have we learned?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000" dirty="0"/>
              <a:t>Nonlinearity in gravity waves can be </a:t>
            </a:r>
            <a:r>
              <a:rPr lang="en-US" sz="2000" dirty="0" err="1"/>
              <a:t>characterised</a:t>
            </a:r>
            <a:r>
              <a:rPr lang="en-US" sz="2000" dirty="0"/>
              <a:t> by wave steepness s=</a:t>
            </a:r>
            <a:r>
              <a:rPr lang="en-US" sz="2000" dirty="0" err="1"/>
              <a:t>hm</a:t>
            </a:r>
            <a:r>
              <a:rPr lang="en-US" sz="2000" dirty="0"/>
              <a:t>, or wave </a:t>
            </a:r>
            <a:r>
              <a:rPr lang="en-US" sz="2000" dirty="0" err="1"/>
              <a:t>froude</a:t>
            </a:r>
            <a:r>
              <a:rPr lang="en-US" sz="2000" dirty="0"/>
              <a:t> number Fr=U/C.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Highly nonlinear waves are associated with overturned </a:t>
            </a:r>
            <a:r>
              <a:rPr lang="en-US" sz="2000" dirty="0" err="1"/>
              <a:t>isopycnals</a:t>
            </a:r>
            <a:r>
              <a:rPr lang="en-US" sz="2000" dirty="0"/>
              <a:t>, leading to mixing.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Breaking waves can be produced at critical layers, and large amplitude topography</a:t>
            </a:r>
            <a:r>
              <a:rPr lang="en-US" sz="2000" dirty="0" smtClean="0"/>
              <a:t>.</a:t>
            </a:r>
          </a:p>
          <a:p>
            <a:pPr>
              <a:lnSpc>
                <a:spcPct val="90000"/>
              </a:lnSpc>
            </a:pPr>
            <a:r>
              <a:rPr lang="en-US" sz="2000" dirty="0" smtClean="0"/>
              <a:t>Nonlinear wave-wave interactions allow waves at new </a:t>
            </a:r>
            <a:r>
              <a:rPr lang="en-US" sz="2000" dirty="0" err="1" smtClean="0"/>
              <a:t>k,</a:t>
            </a:r>
            <a:r>
              <a:rPr lang="en-US" sz="2000" dirty="0" err="1" smtClean="0">
                <a:latin typeface="Symbol" pitchFamily="18" charset="2"/>
              </a:rPr>
              <a:t>w</a:t>
            </a:r>
            <a:r>
              <a:rPr lang="en-US" sz="2000" dirty="0" smtClean="0"/>
              <a:t> to be generated.</a:t>
            </a:r>
          </a:p>
          <a:p>
            <a:pPr>
              <a:lnSpc>
                <a:spcPct val="90000"/>
              </a:lnSpc>
            </a:pPr>
            <a:r>
              <a:rPr lang="en-US" sz="2000" dirty="0" smtClean="0"/>
              <a:t>Parametric </a:t>
            </a:r>
            <a:r>
              <a:rPr lang="en-US" sz="2000" dirty="0" err="1" smtClean="0"/>
              <a:t>Subharmonic</a:t>
            </a:r>
            <a:r>
              <a:rPr lang="en-US" sz="2000" dirty="0" smtClean="0"/>
              <a:t> Instability is a resonant wave-wave interaction where the new wave has half the frequency of the original wave, especially important when </a:t>
            </a:r>
            <a:r>
              <a:rPr lang="en-US" sz="2000" dirty="0" smtClean="0">
                <a:latin typeface="Symbol" pitchFamily="18" charset="2"/>
              </a:rPr>
              <a:t>w0</a:t>
            </a:r>
            <a:r>
              <a:rPr lang="en-US" sz="2000" dirty="0" smtClean="0"/>
              <a:t>=2f.</a:t>
            </a:r>
          </a:p>
          <a:p>
            <a:pPr>
              <a:lnSpc>
                <a:spcPct val="90000"/>
              </a:lnSpc>
            </a:pPr>
            <a:r>
              <a:rPr lang="en-US" sz="2000" dirty="0" smtClean="0"/>
              <a:t>Nonlinear wave-wave interactions are responsible for the continuous Garrett-</a:t>
            </a:r>
            <a:r>
              <a:rPr lang="en-US" sz="2000" dirty="0" err="1" smtClean="0"/>
              <a:t>Munk</a:t>
            </a:r>
            <a:r>
              <a:rPr lang="en-US" sz="2000" dirty="0" smtClean="0"/>
              <a:t> spectrum observed in the ocean.</a:t>
            </a:r>
          </a:p>
          <a:p>
            <a:pPr>
              <a:lnSpc>
                <a:spcPct val="90000"/>
              </a:lnSpc>
            </a:pPr>
            <a:endParaRPr lang="en-US" sz="2000" dirty="0"/>
          </a:p>
          <a:p>
            <a:pPr>
              <a:lnSpc>
                <a:spcPct val="90000"/>
              </a:lnSpc>
            </a:pP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368</Words>
  <Application>Microsoft Office PowerPoint</Application>
  <PresentationFormat>On-screen Show (4:3)</PresentationFormat>
  <Paragraphs>62</Paragraphs>
  <Slides>13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Symbol</vt:lpstr>
      <vt:lpstr>Default Design</vt:lpstr>
      <vt:lpstr>Microsoft Equation 3.0</vt:lpstr>
      <vt:lpstr>Nonlinear effects in internal waves</vt:lpstr>
      <vt:lpstr>Wave steepness</vt:lpstr>
      <vt:lpstr>Connection between high Froude number and wave breaking for surface waves </vt:lpstr>
      <vt:lpstr>Nonrotating critical level example</vt:lpstr>
      <vt:lpstr>Overturning isopycnals at a critical level (U = 0)</vt:lpstr>
      <vt:lpstr>Large amplitude topography</vt:lpstr>
      <vt:lpstr>Effect of finite amplitude topography: Fr = 1</vt:lpstr>
      <vt:lpstr>Hydraulic control</vt:lpstr>
      <vt:lpstr>Parametric Subharmonic Instability</vt:lpstr>
      <vt:lpstr>PSI of internal tide at 21 degrees</vt:lpstr>
      <vt:lpstr>Garrett-Munk spectrum</vt:lpstr>
      <vt:lpstr>Comparison of observations and wave-turbulence model for spectra</vt:lpstr>
      <vt:lpstr>What have we learned?</vt:lpstr>
    </vt:vector>
  </TitlesOfParts>
  <Company>NOAA-GFDL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Nonlinear effects in internal waves</dc:title>
  <dc:creator>sal</dc:creator>
  <cp:lastModifiedBy>Sonya Legg</cp:lastModifiedBy>
  <cp:revision>8</cp:revision>
  <dcterms:created xsi:type="dcterms:W3CDTF">2007-02-14T19:37:41Z</dcterms:created>
  <dcterms:modified xsi:type="dcterms:W3CDTF">2008-02-22T17:12:42Z</dcterms:modified>
</cp:coreProperties>
</file>