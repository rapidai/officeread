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2" r:id="rId1"/>
  </p:sldMasterIdLst>
  <p:sldIdLst>
    <p:sldId id="263" r:id="rId2"/>
    <p:sldId id="256" r:id="rId3"/>
    <p:sldId id="257" r:id="rId4"/>
    <p:sldId id="258" r:id="rId5"/>
    <p:sldId id="259" r:id="rId6"/>
    <p:sldId id="260" r:id="rId7"/>
    <p:sldId id="261" r:id="rId8"/>
    <p:sldId id="264" r:id="rId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1080" y="-96"/>
      </p:cViewPr>
      <p:guideLst>
        <p:guide orient="horz" pos="2160"/>
        <p:guide pos="288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228600"/>
            <a:ext cx="7772400" cy="4571999"/>
          </a:xfrm>
        </p:spPr>
        <p:txBody>
          <a:bodyPr anchor="ctr">
            <a:noAutofit/>
          </a:bodyPr>
          <a:lstStyle>
            <a:lvl1pPr>
              <a:lnSpc>
                <a:spcPct val="100000"/>
              </a:lnSpc>
              <a:defRPr sz="8800" spc="-80" baseline="0">
                <a:solidFill>
                  <a:schemeClr val="tx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457200" y="4800600"/>
            <a:ext cx="6858000" cy="914400"/>
          </a:xfrm>
        </p:spPr>
        <p:txBody>
          <a:bodyPr/>
          <a:lstStyle>
            <a:lvl1pPr marL="0" indent="0" algn="l">
              <a:buNone/>
              <a:defRPr b="0" cap="all" spc="120" baseline="0">
                <a:solidFill>
                  <a:schemeClr val="tx2"/>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E7955474-9784-4349-8E87-125026A1B072}" type="datetimeFigureOut">
              <a:rPr lang="en-US" smtClean="0"/>
              <a:pPr/>
              <a:t>4/10/2012</a:t>
            </a:fld>
            <a:endParaRPr lang="en-US"/>
          </a:p>
        </p:txBody>
      </p:sp>
      <p:sp>
        <p:nvSpPr>
          <p:cNvPr id="5" name="Footer Placeholder 4"/>
          <p:cNvSpPr>
            <a:spLocks noGrp="1"/>
          </p:cNvSpPr>
          <p:nvPr>
            <p:ph type="ftr" sz="quarter" idx="11"/>
          </p:nvPr>
        </p:nvSpPr>
        <p:spPr/>
        <p:txBody>
          <a:bodyPr/>
          <a:lstStyle/>
          <a:p>
            <a:endParaRPr lang="en-US"/>
          </a:p>
        </p:txBody>
      </p:sp>
      <p:sp>
        <p:nvSpPr>
          <p:cNvPr id="9" name="Rectangle 8"/>
          <p:cNvSpPr/>
          <p:nvPr/>
        </p:nvSpPr>
        <p:spPr>
          <a:xfrm>
            <a:off x="9001124" y="4846320"/>
            <a:ext cx="142876" cy="201168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9001124" y="0"/>
            <a:ext cx="142876" cy="48463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B8309C4B-9106-4744-8FEC-9B9645BAB8FA}"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7955474-9784-4349-8E87-125026A1B072}" type="datetimeFigureOut">
              <a:rPr lang="en-US" smtClean="0"/>
              <a:pPr/>
              <a:t>4/10/2012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309C4B-9106-4744-8FEC-9B9645BAB8FA}"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57200" y="1447800"/>
            <a:ext cx="7772400" cy="4321175"/>
          </a:xfrm>
        </p:spPr>
        <p:txBody>
          <a:bodyPr anchor="ctr">
            <a:noAutofit/>
          </a:bodyPr>
          <a:lstStyle>
            <a:lvl1pPr algn="l">
              <a:lnSpc>
                <a:spcPct val="100000"/>
              </a:lnSpc>
              <a:defRPr sz="8800" b="0" cap="all" spc="-80" baseline="0">
                <a:solidFill>
                  <a:schemeClr val="tx1"/>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457200" y="228601"/>
            <a:ext cx="7772400" cy="1066800"/>
          </a:xfrm>
        </p:spPr>
        <p:txBody>
          <a:bodyPr anchor="b"/>
          <a:lstStyle>
            <a:lvl1pPr marL="0" indent="0">
              <a:buNone/>
              <a:defRPr sz="2000" b="0" cap="all" spc="12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7" name="Date Placeholder 6"/>
          <p:cNvSpPr>
            <a:spLocks noGrp="1"/>
          </p:cNvSpPr>
          <p:nvPr>
            <p:ph type="dt" sz="half" idx="10"/>
          </p:nvPr>
        </p:nvSpPr>
        <p:spPr/>
        <p:txBody>
          <a:bodyPr/>
          <a:lstStyle/>
          <a:p>
            <a:fld id="{E7955474-9784-4349-8E87-125026A1B072}" type="datetimeFigureOut">
              <a:rPr lang="en-US" smtClean="0"/>
              <a:pPr/>
              <a:t>4/10/2012</a:t>
            </a:fld>
            <a:endParaRPr lang="en-US"/>
          </a:p>
        </p:txBody>
      </p:sp>
      <p:sp>
        <p:nvSpPr>
          <p:cNvPr id="8" name="Slide Number Placeholder 7"/>
          <p:cNvSpPr>
            <a:spLocks noGrp="1"/>
          </p:cNvSpPr>
          <p:nvPr>
            <p:ph type="sldNum" sz="quarter" idx="11"/>
          </p:nvPr>
        </p:nvSpPr>
        <p:spPr/>
        <p:txBody>
          <a:bodyPr/>
          <a:lstStyle/>
          <a:p>
            <a:fld id="{B8309C4B-9106-4744-8FEC-9B9645BAB8FA}" type="slidenum">
              <a:rPr lang="en-US" smtClean="0"/>
              <a:pPr/>
              <a:t>‹#›</a:t>
            </a:fld>
            <a:endParaRPr lang="en-US"/>
          </a:p>
        </p:txBody>
      </p:sp>
      <p:sp>
        <p:nvSpPr>
          <p:cNvPr id="9" name="Footer Placeholder 8"/>
          <p:cNvSpPr>
            <a:spLocks noGrp="1"/>
          </p:cNvSpPr>
          <p:nvPr>
            <p:ph type="ftr" sz="quarter" idx="12"/>
          </p:nvPr>
        </p:nvSpPr>
        <p:spPr/>
        <p:txBody>
          <a:bodyPr/>
          <a:lstStyle/>
          <a:p>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1630680" y="1574800"/>
            <a:ext cx="329184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90160" y="1574800"/>
            <a:ext cx="329184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E7955474-9784-4349-8E87-125026A1B072}" type="datetimeFigureOut">
              <a:rPr lang="en-US" smtClean="0"/>
              <a:pPr/>
              <a:t>4/10/2012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309C4B-9106-4744-8FEC-9B9645BAB8FA}"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1627632" y="1572768"/>
            <a:ext cx="3291840" cy="639762"/>
          </a:xfrm>
        </p:spPr>
        <p:txBody>
          <a:bodyPr anchor="b">
            <a:noAutofit/>
          </a:bodyPr>
          <a:lstStyle>
            <a:lvl1pPr marL="0" indent="0">
              <a:buNone/>
              <a:defRPr sz="1800" b="0" cap="all" spc="100" baseline="0">
                <a:solidFill>
                  <a:schemeClr val="tx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627632" y="2259366"/>
            <a:ext cx="3291840" cy="384048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93208" y="1572768"/>
            <a:ext cx="3291840" cy="639762"/>
          </a:xfrm>
        </p:spPr>
        <p:txBody>
          <a:bodyPr anchor="b">
            <a:noAutofit/>
          </a:bodyPr>
          <a:lstStyle>
            <a:lvl1pPr marL="0" indent="0">
              <a:buNone/>
              <a:defRPr lang="en-US" sz="1800" b="0" kern="1200" cap="all" spc="100" baseline="0" dirty="0" smtClean="0">
                <a:solidFill>
                  <a:schemeClr val="tx1"/>
                </a:solidFill>
                <a:latin typeface="+mj-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spcBef>
                <a:spcPct val="20000"/>
              </a:spcBef>
              <a:buFont typeface="Arial" pitchFamily="34" charset="0"/>
              <a:buNone/>
            </a:pPr>
            <a:r>
              <a:rPr lang="en-US" smtClean="0"/>
              <a:t>Click to edit Master text styles</a:t>
            </a:r>
          </a:p>
        </p:txBody>
      </p:sp>
      <p:sp>
        <p:nvSpPr>
          <p:cNvPr id="6" name="Content Placeholder 5"/>
          <p:cNvSpPr>
            <a:spLocks noGrp="1"/>
          </p:cNvSpPr>
          <p:nvPr>
            <p:ph sz="quarter" idx="4"/>
          </p:nvPr>
        </p:nvSpPr>
        <p:spPr>
          <a:xfrm>
            <a:off x="5093208" y="2259366"/>
            <a:ext cx="3291840" cy="384048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E7955474-9784-4349-8E87-125026A1B072}" type="datetimeFigureOut">
              <a:rPr lang="en-US" smtClean="0"/>
              <a:pPr/>
              <a:t>4/10/2012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8309C4B-9106-4744-8FEC-9B9645BAB8FA}"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E7955474-9784-4349-8E87-125026A1B072}" type="datetimeFigureOut">
              <a:rPr lang="en-US" smtClean="0"/>
              <a:pPr/>
              <a:t>4/10/2012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8309C4B-9106-4744-8FEC-9B9645BAB8FA}"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7955474-9784-4349-8E87-125026A1B072}" type="datetimeFigureOut">
              <a:rPr lang="en-US" smtClean="0"/>
              <a:pPr/>
              <a:t>4/10/2012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8309C4B-9106-4744-8FEC-9B9645BAB8FA}"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5050" y="1600200"/>
            <a:ext cx="5111750" cy="448056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600200"/>
            <a:ext cx="3008313" cy="448056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7955474-9784-4349-8E87-125026A1B072}" type="datetimeFigureOut">
              <a:rPr lang="en-US" smtClean="0"/>
              <a:pPr/>
              <a:t>4/10/2012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309C4B-9106-4744-8FEC-9B9645BAB8FA}" type="slidenum">
              <a:rPr lang="en-US" smtClean="0"/>
              <a:pPr/>
              <a:t>‹#›</a:t>
            </a:fld>
            <a:endParaRPr lang="en-US"/>
          </a:p>
        </p:txBody>
      </p:sp>
      <p:sp>
        <p:nvSpPr>
          <p:cNvPr id="8" name="Title 7"/>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Rectangle 8"/>
          <p:cNvSpPr/>
          <p:nvPr/>
        </p:nvSpPr>
        <p:spPr>
          <a:xfrm>
            <a:off x="9001124" y="4846320"/>
            <a:ext cx="142876" cy="201168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p:cNvSpPr>
            <a:spLocks noGrp="1"/>
          </p:cNvSpPr>
          <p:nvPr>
            <p:ph type="pic" idx="1"/>
          </p:nvPr>
        </p:nvSpPr>
        <p:spPr>
          <a:xfrm>
            <a:off x="-1" y="0"/>
            <a:ext cx="9000877" cy="4846320"/>
          </a:xfrm>
          <a:solidFill>
            <a:schemeClr val="bg1">
              <a:lumMod val="75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457200" y="5715000"/>
            <a:ext cx="8153400" cy="457200"/>
          </a:xfrm>
        </p:spPr>
        <p:txBody>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7955474-9784-4349-8E87-125026A1B072}" type="datetimeFigureOut">
              <a:rPr lang="en-US" smtClean="0"/>
              <a:pPr/>
              <a:t>4/10/2012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lstStyle>
          <a:p>
            <a:fld id="{B8309C4B-9106-4744-8FEC-9B9645BAB8FA}" type="slidenum">
              <a:rPr lang="en-US" smtClean="0"/>
              <a:pPr/>
              <a:t>‹#›</a:t>
            </a:fld>
            <a:endParaRPr lang="en-US"/>
          </a:p>
        </p:txBody>
      </p:sp>
      <p:sp>
        <p:nvSpPr>
          <p:cNvPr id="8" name="Title 7"/>
          <p:cNvSpPr>
            <a:spLocks noGrp="1"/>
          </p:cNvSpPr>
          <p:nvPr>
            <p:ph type="title"/>
          </p:nvPr>
        </p:nvSpPr>
        <p:spPr>
          <a:xfrm>
            <a:off x="457200" y="4953000"/>
            <a:ext cx="8153400" cy="762000"/>
          </a:xfrm>
        </p:spPr>
        <p:txBody>
          <a:bodyPr anchor="t">
            <a:normAutofit/>
          </a:bodyPr>
          <a:lstStyle>
            <a:lvl1pPr>
              <a:defRPr sz="3200"/>
            </a:lvl1pPr>
          </a:lstStyle>
          <a:p>
            <a:r>
              <a:rPr lang="en-US" smtClean="0"/>
              <a:t>Click to edit Master title style</a:t>
            </a:r>
            <a:endParaRPr lang="en-US" dirty="0"/>
          </a:p>
        </p:txBody>
      </p:sp>
      <p:sp>
        <p:nvSpPr>
          <p:cNvPr id="10" name="Rectangle 9"/>
          <p:cNvSpPr/>
          <p:nvPr/>
        </p:nvSpPr>
        <p:spPr>
          <a:xfrm>
            <a:off x="9001124" y="0"/>
            <a:ext cx="142876" cy="48463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7955474-9784-4349-8E87-125026A1B072}" type="datetimeFigureOut">
              <a:rPr lang="en-US" smtClean="0"/>
              <a:pPr/>
              <a:t>4/10/2012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309C4B-9106-4744-8FEC-9B9645BAB8FA}"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7955474-9784-4349-8E87-125026A1B072}" type="datetimeFigureOut">
              <a:rPr lang="en-US" smtClean="0"/>
              <a:pPr/>
              <a:t>4/10/2012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309C4B-9106-4744-8FEC-9B9645BAB8FA}"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152718"/>
            <a:ext cx="5791200" cy="1371600"/>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1752600"/>
            <a:ext cx="7620000" cy="43735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457200" y="6172201"/>
            <a:ext cx="3429000" cy="304800"/>
          </a:xfrm>
          <a:prstGeom prst="rect">
            <a:avLst/>
          </a:prstGeom>
        </p:spPr>
        <p:txBody>
          <a:bodyPr vert="horz" lIns="91440" tIns="45720" rIns="91440" bIns="0" rtlCol="0" anchor="b"/>
          <a:lstStyle>
            <a:lvl1pPr algn="l">
              <a:defRPr sz="1000">
                <a:solidFill>
                  <a:schemeClr val="tx1"/>
                </a:solidFill>
              </a:defRPr>
            </a:lvl1pPr>
          </a:lstStyle>
          <a:p>
            <a:fld id="{E7955474-9784-4349-8E87-125026A1B072}" type="datetimeFigureOut">
              <a:rPr lang="en-US" smtClean="0"/>
              <a:pPr/>
              <a:t>4/10/2012</a:t>
            </a:fld>
            <a:endParaRPr lang="en-US"/>
          </a:p>
        </p:txBody>
      </p:sp>
      <p:sp>
        <p:nvSpPr>
          <p:cNvPr id="5" name="Footer Placeholder 4"/>
          <p:cNvSpPr>
            <a:spLocks noGrp="1"/>
          </p:cNvSpPr>
          <p:nvPr>
            <p:ph type="ftr" sz="quarter" idx="3"/>
          </p:nvPr>
        </p:nvSpPr>
        <p:spPr>
          <a:xfrm>
            <a:off x="457200" y="6492875"/>
            <a:ext cx="3429000" cy="283845"/>
          </a:xfrm>
          <a:prstGeom prst="rect">
            <a:avLst/>
          </a:prstGeom>
        </p:spPr>
        <p:txBody>
          <a:bodyPr vert="horz" lIns="91440" tIns="45720" rIns="91440" bIns="45720" rtlCol="0" anchor="t"/>
          <a:lstStyle>
            <a:lvl1pPr algn="l">
              <a:defRPr sz="1000">
                <a:solidFill>
                  <a:schemeClr val="tx1"/>
                </a:solidFill>
              </a:defRPr>
            </a:lvl1pPr>
          </a:lstStyle>
          <a:p>
            <a:endParaRPr lang="en-US"/>
          </a:p>
        </p:txBody>
      </p:sp>
      <p:sp>
        <p:nvSpPr>
          <p:cNvPr id="6" name="Slide Number Placeholder 5"/>
          <p:cNvSpPr>
            <a:spLocks noGrp="1"/>
          </p:cNvSpPr>
          <p:nvPr>
            <p:ph type="sldNum" sz="quarter" idx="4"/>
          </p:nvPr>
        </p:nvSpPr>
        <p:spPr>
          <a:xfrm rot="16200000">
            <a:off x="8227377" y="5885497"/>
            <a:ext cx="1315721" cy="365125"/>
          </a:xfrm>
          <a:prstGeom prst="rect">
            <a:avLst/>
          </a:prstGeom>
        </p:spPr>
        <p:txBody>
          <a:bodyPr vert="horz" lIns="91440" tIns="45720" rIns="91440" bIns="45720" rtlCol="0" anchor="ctr"/>
          <a:lstStyle>
            <a:lvl1pPr algn="l">
              <a:defRPr sz="2400" b="1">
                <a:solidFill>
                  <a:schemeClr val="tx2"/>
                </a:solidFill>
              </a:defRPr>
            </a:lvl1pPr>
          </a:lstStyle>
          <a:p>
            <a:fld id="{B8309C4B-9106-4744-8FEC-9B9645BAB8FA}" type="slidenum">
              <a:rPr lang="en-US" smtClean="0"/>
              <a:pPr/>
              <a:t>‹#›</a:t>
            </a:fld>
            <a:endParaRPr lang="en-US"/>
          </a:p>
        </p:txBody>
      </p:sp>
      <p:sp>
        <p:nvSpPr>
          <p:cNvPr id="7" name="Rectangle 6"/>
          <p:cNvSpPr/>
          <p:nvPr/>
        </p:nvSpPr>
        <p:spPr>
          <a:xfrm>
            <a:off x="9001124" y="0"/>
            <a:ext cx="142876" cy="1371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9001124" y="1371600"/>
            <a:ext cx="142876" cy="54864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Lst>
  <p:txStyles>
    <p:titleStyle>
      <a:lvl1pPr algn="l" defTabSz="914400" rtl="0" eaLnBrk="1" latinLnBrk="0" hangingPunct="1">
        <a:spcBef>
          <a:spcPct val="0"/>
        </a:spcBef>
        <a:buNone/>
        <a:defRPr sz="3600" kern="1200" cap="all" spc="-60" baseline="0">
          <a:solidFill>
            <a:schemeClr val="tx2"/>
          </a:solidFill>
          <a:latin typeface="+mj-lt"/>
          <a:ea typeface="+mj-ea"/>
          <a:cs typeface="+mj-cs"/>
        </a:defRPr>
      </a:lvl1pPr>
    </p:titleStyle>
    <p:bodyStyle>
      <a:lvl1pPr marL="0" indent="0" algn="l" defTabSz="914400" rtl="0" eaLnBrk="1" latinLnBrk="0" hangingPunct="1">
        <a:spcBef>
          <a:spcPct val="20000"/>
        </a:spcBef>
        <a:spcAft>
          <a:spcPts val="600"/>
        </a:spcAft>
        <a:buFont typeface="Arial" pitchFamily="34" charset="0"/>
        <a:buNone/>
        <a:defRPr sz="2000" b="1" kern="1200">
          <a:solidFill>
            <a:schemeClr val="tx1"/>
          </a:solidFill>
          <a:latin typeface="+mn-lt"/>
          <a:ea typeface="+mn-ea"/>
          <a:cs typeface="+mn-cs"/>
        </a:defRPr>
      </a:lvl1pPr>
      <a:lvl2pPr marL="457200" indent="-182880" algn="l" defTabSz="914400" rtl="0" eaLnBrk="1" latinLnBrk="0" hangingPunct="1">
        <a:spcBef>
          <a:spcPct val="20000"/>
        </a:spcBef>
        <a:buClr>
          <a:schemeClr val="tx2"/>
        </a:buClr>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Font typeface="Arial" pitchFamily="34" charset="0"/>
        <a:buChar char="•"/>
        <a:defRPr sz="18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www.top-colleges.com/blog/2009/02/25/3271/" TargetMode="Externa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pPr algn="ctr"/>
            <a:r>
              <a:rPr lang="en-US" dirty="0" smtClean="0"/>
              <a:t>Earning the Grade</a:t>
            </a:r>
            <a:endParaRPr lang="en-US" dirty="0"/>
          </a:p>
        </p:txBody>
      </p:sp>
      <p:sp>
        <p:nvSpPr>
          <p:cNvPr id="5" name="Subtitle 4"/>
          <p:cNvSpPr>
            <a:spLocks noGrp="1"/>
          </p:cNvSpPr>
          <p:nvPr>
            <p:ph type="subTitle" idx="1"/>
          </p:nvPr>
        </p:nvSpPr>
        <p:spPr>
          <a:xfrm>
            <a:off x="457200" y="4800600"/>
            <a:ext cx="8077200" cy="914400"/>
          </a:xfrm>
        </p:spPr>
        <p:txBody>
          <a:bodyPr>
            <a:normAutofit fontScale="62500" lnSpcReduction="20000"/>
          </a:bodyPr>
          <a:lstStyle/>
          <a:p>
            <a:pPr algn="ctr"/>
            <a:r>
              <a:rPr lang="en-US" dirty="0" smtClean="0"/>
              <a:t>Ross Olson</a:t>
            </a:r>
          </a:p>
          <a:p>
            <a:pPr algn="ctr"/>
            <a:r>
              <a:rPr lang="en-US" dirty="0" smtClean="0"/>
              <a:t>Resident Assistant</a:t>
            </a:r>
          </a:p>
          <a:p>
            <a:pPr algn="ctr"/>
            <a:r>
              <a:rPr lang="en-US" dirty="0" smtClean="0"/>
              <a:t>Eastern Illinois University</a:t>
            </a:r>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685800"/>
            <a:ext cx="7772400" cy="4571999"/>
          </a:xfrm>
        </p:spPr>
        <p:txBody>
          <a:bodyPr/>
          <a:lstStyle/>
          <a:p>
            <a:pPr algn="ctr"/>
            <a:r>
              <a:rPr lang="en-US" b="1" dirty="0" smtClean="0"/>
              <a:t>Earning the Grade</a:t>
            </a:r>
            <a:endParaRPr lang="en-US" b="1" dirty="0"/>
          </a:p>
        </p:txBody>
      </p:sp>
      <p:sp>
        <p:nvSpPr>
          <p:cNvPr id="3" name="Subtitle 2"/>
          <p:cNvSpPr>
            <a:spLocks noGrp="1"/>
          </p:cNvSpPr>
          <p:nvPr>
            <p:ph type="subTitle" idx="1"/>
          </p:nvPr>
        </p:nvSpPr>
        <p:spPr>
          <a:xfrm>
            <a:off x="762000" y="3505200"/>
            <a:ext cx="7162800" cy="2895600"/>
          </a:xfrm>
        </p:spPr>
        <p:txBody>
          <a:bodyPr>
            <a:normAutofit/>
          </a:bodyPr>
          <a:lstStyle/>
          <a:p>
            <a:pPr algn="ctr"/>
            <a:r>
              <a:rPr lang="en-US" i="1" dirty="0" smtClean="0"/>
              <a:t>Let’s be honest: don’t you think you can improve your grades? Follow these tips and you just might see that letter grade improve.</a:t>
            </a:r>
          </a:p>
          <a:p>
            <a:pPr algn="ctr"/>
            <a:endParaRPr lang="en-US" i="1" dirty="0"/>
          </a:p>
          <a:p>
            <a:pPr algn="ctr"/>
            <a:r>
              <a:rPr lang="en-US" i="1" dirty="0" smtClean="0"/>
              <a:t>With only about a month left in the semester, can you afford </a:t>
            </a:r>
            <a:r>
              <a:rPr lang="en-US" b="1" i="1" dirty="0" smtClean="0"/>
              <a:t>not</a:t>
            </a:r>
            <a:r>
              <a:rPr lang="en-US" i="1" dirty="0" smtClean="0"/>
              <a:t> to devote more time to academics? </a:t>
            </a:r>
            <a:endParaRPr lang="en-US" i="1" dirty="0"/>
          </a:p>
        </p:txBody>
      </p:sp>
    </p:spTree>
    <p:extLst>
      <p:ext uri="{BB962C8B-B14F-4D97-AF65-F5344CB8AC3E}">
        <p14:creationId xmlns="" xmlns:p14="http://schemas.microsoft.com/office/powerpoint/2010/main" val="409572560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Make A Plan</a:t>
            </a:r>
            <a:endParaRPr lang="en-US" dirty="0"/>
          </a:p>
        </p:txBody>
      </p:sp>
      <p:sp>
        <p:nvSpPr>
          <p:cNvPr id="3" name="Content Placeholder 2"/>
          <p:cNvSpPr>
            <a:spLocks noGrp="1"/>
          </p:cNvSpPr>
          <p:nvPr>
            <p:ph idx="1"/>
          </p:nvPr>
        </p:nvSpPr>
        <p:spPr/>
        <p:txBody>
          <a:bodyPr/>
          <a:lstStyle/>
          <a:p>
            <a:r>
              <a:rPr lang="en-US" dirty="0"/>
              <a:t>One of the most important steps you can take to help with your studies is to make a study plan, which involves prioritizing your time and determining when you will attend to certain tasks. This includes creating a schedule of when you will study, when you will attend class and when you will take care of other responsibilities such as spending time with your family and working.</a:t>
            </a:r>
          </a:p>
        </p:txBody>
      </p:sp>
      <p:pic>
        <p:nvPicPr>
          <p:cNvPr id="1027" name="Picture 3"/>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5562600" y="3671454"/>
            <a:ext cx="3151910" cy="315191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371114659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solidFill>
                  <a:srgbClr val="FF0000"/>
                </a:solidFill>
              </a:rPr>
              <a:t>Give Yourself Breaks</a:t>
            </a:r>
            <a:endParaRPr lang="en-US" dirty="0">
              <a:solidFill>
                <a:srgbClr val="FF0000"/>
              </a:solidFill>
            </a:endParaRPr>
          </a:p>
        </p:txBody>
      </p:sp>
      <p:sp>
        <p:nvSpPr>
          <p:cNvPr id="3" name="Content Placeholder 2"/>
          <p:cNvSpPr>
            <a:spLocks noGrp="1"/>
          </p:cNvSpPr>
          <p:nvPr>
            <p:ph idx="1"/>
          </p:nvPr>
        </p:nvSpPr>
        <p:spPr/>
        <p:txBody>
          <a:bodyPr/>
          <a:lstStyle/>
          <a:p>
            <a:r>
              <a:rPr lang="en-US" dirty="0"/>
              <a:t>Although you may be tempted to study straight through the night, it is important for you to give yourself breaks as you study. Otherwise, your brain will simply get overloaded and you will get burnt out, which means you will forget most of what you just studied. Even if you stop every hour to take a short walk or to eat a light snack, your brain will thank you.</a:t>
            </a:r>
          </a:p>
        </p:txBody>
      </p:sp>
      <p:pic>
        <p:nvPicPr>
          <p:cNvPr id="2050" name="Picture 2"/>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2590800" y="3810000"/>
            <a:ext cx="3810000" cy="28575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306212130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57400" y="152400"/>
            <a:ext cx="5791200" cy="1371600"/>
          </a:xfrm>
        </p:spPr>
        <p:txBody>
          <a:bodyPr/>
          <a:lstStyle/>
          <a:p>
            <a:pPr algn="ctr"/>
            <a:r>
              <a:rPr lang="en-US" dirty="0" smtClean="0">
                <a:solidFill>
                  <a:srgbClr val="00B050"/>
                </a:solidFill>
              </a:rPr>
              <a:t>Don’t be afraid to ask</a:t>
            </a:r>
            <a:endParaRPr lang="en-US" dirty="0">
              <a:solidFill>
                <a:srgbClr val="00B050"/>
              </a:solidFill>
            </a:endParaRPr>
          </a:p>
        </p:txBody>
      </p:sp>
      <p:sp>
        <p:nvSpPr>
          <p:cNvPr id="3" name="Content Placeholder 2"/>
          <p:cNvSpPr>
            <a:spLocks noGrp="1"/>
          </p:cNvSpPr>
          <p:nvPr>
            <p:ph idx="1"/>
          </p:nvPr>
        </p:nvSpPr>
        <p:spPr>
          <a:xfrm>
            <a:off x="990600" y="1524000"/>
            <a:ext cx="7620000" cy="4373563"/>
          </a:xfrm>
        </p:spPr>
        <p:txBody>
          <a:bodyPr/>
          <a:lstStyle/>
          <a:p>
            <a:r>
              <a:rPr lang="en-US" dirty="0"/>
              <a:t>In order to make certain you are truly understanding the concepts you are learning, it is also important that you are not afraid to ask questions. Not only will asking questions help clarify concepts that have you confused, it will also show your teacher that you are truly interested in the topic. Showing this type of interest can go a long way when it comes to winning over favors later if needed!</a:t>
            </a:r>
          </a:p>
        </p:txBody>
      </p:sp>
      <p:pic>
        <p:nvPicPr>
          <p:cNvPr id="3074" name="Picture 2"/>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52400" y="3971059"/>
            <a:ext cx="3810000" cy="28575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252927400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7800" y="0"/>
            <a:ext cx="5791200" cy="1371600"/>
          </a:xfrm>
        </p:spPr>
        <p:txBody>
          <a:bodyPr/>
          <a:lstStyle/>
          <a:p>
            <a:pPr algn="ctr"/>
            <a:r>
              <a:rPr lang="en-US" dirty="0" smtClean="0">
                <a:solidFill>
                  <a:schemeClr val="bg2">
                    <a:lumMod val="75000"/>
                  </a:schemeClr>
                </a:solidFill>
              </a:rPr>
              <a:t>Take Care Of Your Body</a:t>
            </a:r>
            <a:endParaRPr lang="en-US" dirty="0">
              <a:solidFill>
                <a:schemeClr val="bg2">
                  <a:lumMod val="75000"/>
                </a:schemeClr>
              </a:solidFill>
            </a:endParaRPr>
          </a:p>
        </p:txBody>
      </p:sp>
      <p:sp>
        <p:nvSpPr>
          <p:cNvPr id="3" name="Content Placeholder 2"/>
          <p:cNvSpPr>
            <a:spLocks noGrp="1"/>
          </p:cNvSpPr>
          <p:nvPr>
            <p:ph idx="1"/>
          </p:nvPr>
        </p:nvSpPr>
        <p:spPr>
          <a:xfrm>
            <a:off x="685800" y="1295400"/>
            <a:ext cx="7620000" cy="4373563"/>
          </a:xfrm>
        </p:spPr>
        <p:txBody>
          <a:bodyPr/>
          <a:lstStyle/>
          <a:p>
            <a:r>
              <a:rPr lang="en-US" dirty="0"/>
              <a:t>It may sound crazy, but eating a healthy diet and getting plenty of exercise and sleep each night will also help you with your studies. A healthy body means a healthy brain, which means you will be better able to concentrate and remember the information that you have learned. Try to get at least 30 minutes of exercise 4 days per week (more is always better), eat plenty of nutritious foods and get 8 hours of sleep each night – this means no late night cram sessions!</a:t>
            </a:r>
          </a:p>
        </p:txBody>
      </p:sp>
      <p:pic>
        <p:nvPicPr>
          <p:cNvPr id="4098" name="Picture 2"/>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3276600" y="3810000"/>
            <a:ext cx="3048000" cy="30480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417796733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C000"/>
                </a:solidFill>
              </a:rPr>
              <a:t>Break it down</a:t>
            </a:r>
            <a:endParaRPr lang="en-US" dirty="0">
              <a:solidFill>
                <a:srgbClr val="FFC000"/>
              </a:solidFill>
            </a:endParaRPr>
          </a:p>
        </p:txBody>
      </p:sp>
      <p:sp>
        <p:nvSpPr>
          <p:cNvPr id="3" name="Content Placeholder 2"/>
          <p:cNvSpPr>
            <a:spLocks noGrp="1"/>
          </p:cNvSpPr>
          <p:nvPr>
            <p:ph idx="1"/>
          </p:nvPr>
        </p:nvSpPr>
        <p:spPr>
          <a:xfrm>
            <a:off x="914400" y="1447800"/>
            <a:ext cx="7620000" cy="4373563"/>
          </a:xfrm>
        </p:spPr>
        <p:txBody>
          <a:bodyPr/>
          <a:lstStyle/>
          <a:p>
            <a:r>
              <a:rPr lang="en-US" dirty="0"/>
              <a:t>Resist the temptation to do all of your studying the night before the big test. You attend classes on a regular basis for a good reason – your brain learns better when information is broken down into parts and you have had time to process through what you have learned. Devote a little bit of time to your studies every day rather than trying to learn it all in one day.</a:t>
            </a:r>
          </a:p>
        </p:txBody>
      </p:sp>
      <p:pic>
        <p:nvPicPr>
          <p:cNvPr id="5122" name="Picture 2"/>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5486400" y="3352800"/>
            <a:ext cx="3338945" cy="333894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197900156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z="2000" smtClean="0"/>
              <a:t>Please </a:t>
            </a:r>
            <a:r>
              <a:rPr lang="en-US" sz="2000" dirty="0" smtClean="0"/>
              <a:t>include the following citation along with the bulletin board: </a:t>
            </a:r>
            <a:r>
              <a:rPr lang="en-US" sz="2000" u="sng" dirty="0" smtClean="0">
                <a:hlinkClick r:id="rId2"/>
              </a:rPr>
              <a:t>http://www.top-colleges.com/blog/2009/02/25/3271/</a:t>
            </a:r>
            <a:r>
              <a:rPr lang="en-US" sz="2000" dirty="0" smtClean="0"/>
              <a:t>.</a:t>
            </a:r>
            <a:br>
              <a:rPr lang="en-US" sz="2000" dirty="0" smtClean="0"/>
            </a:br>
            <a:endParaRPr lang="en-US" sz="2000" dirty="0"/>
          </a:p>
        </p:txBody>
      </p:sp>
      <p:sp>
        <p:nvSpPr>
          <p:cNvPr id="5" name="Text Placeholder 4"/>
          <p:cNvSpPr>
            <a:spLocks noGrp="1"/>
          </p:cNvSpPr>
          <p:nvPr>
            <p:ph type="body" idx="1"/>
          </p:nvPr>
        </p:nvSpPr>
        <p:spPr/>
        <p:txBody>
          <a:bodyPr/>
          <a:lstStyle/>
          <a:p>
            <a:r>
              <a:rPr lang="en-US" dirty="0" err="1" smtClean="0"/>
              <a:t>ReFERENCE</a:t>
            </a:r>
            <a:endParaRPr lang="en-US"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ssential">
  <a:themeElements>
    <a:clrScheme name="Waveform">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Essential">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sential">
      <a:fillStyleLst>
        <a:solidFill>
          <a:schemeClr val="phClr"/>
        </a:solidFill>
        <a:gradFill rotWithShape="1">
          <a:gsLst>
            <a:gs pos="0">
              <a:schemeClr val="phClr">
                <a:tint val="60000"/>
                <a:satMod val="250000"/>
              </a:schemeClr>
            </a:gs>
            <a:gs pos="35000">
              <a:schemeClr val="phClr">
                <a:tint val="47000"/>
                <a:satMod val="275000"/>
              </a:schemeClr>
            </a:gs>
            <a:gs pos="100000">
              <a:schemeClr val="phClr">
                <a:tint val="25000"/>
                <a:satMod val="300000"/>
              </a:schemeClr>
            </a:gs>
          </a:gsLst>
          <a:lin ang="16200000" scaled="1"/>
        </a:gradFill>
        <a:solidFill>
          <a:schemeClr val="phClr">
            <a:satMod val="110000"/>
          </a:schemeClr>
        </a:solidFill>
      </a:fillStyleLst>
      <a:lnStyleLst>
        <a:ln w="12700" cap="flat" cmpd="sng" algn="ctr">
          <a:solidFill>
            <a:schemeClr val="phClr">
              <a:shade val="95000"/>
              <a:satMod val="105000"/>
            </a:schemeClr>
          </a:solidFill>
          <a:prstDash val="solid"/>
        </a:ln>
        <a:ln w="28575" cap="flat" cmpd="sng" algn="ctr">
          <a:solidFill>
            <a:schemeClr val="phClr"/>
          </a:solidFill>
          <a:prstDash val="solid"/>
        </a:ln>
        <a:ln w="41275" cap="flat" cmpd="sng" algn="ctr">
          <a:solidFill>
            <a:schemeClr val="phClr"/>
          </a:solidFill>
          <a:prstDash val="solid"/>
        </a:ln>
      </a:lnStyleLst>
      <a:effectStyleLst>
        <a:effectStyle>
          <a:effectLst/>
        </a:effectStyle>
        <a:effectStyle>
          <a:effectLst>
            <a:outerShdw blurRad="39999" dist="23000" algn="bl" rotWithShape="0">
              <a:srgbClr val="000000">
                <a:alpha val="40000"/>
              </a:srgbClr>
            </a:outerShdw>
          </a:effectLst>
        </a:effectStyle>
        <a:effectStyle>
          <a:effectLst>
            <a:outerShdw blurRad="38100" dist="19050" algn="bl" rotWithShape="0">
              <a:srgbClr val="000000">
                <a:alpha val="60000"/>
              </a:srgbClr>
            </a:outerShdw>
          </a:effectLst>
          <a:scene3d>
            <a:camera prst="orthographicFront">
              <a:rot lat="0" lon="0" rev="0"/>
            </a:camera>
            <a:lightRig rig="balanced" dir="l"/>
          </a:scene3d>
          <a:sp3d prstMaterial="plastic">
            <a:bevelT w="38100" h="31750"/>
          </a:sp3d>
        </a:effectStyle>
      </a:effectStyleLst>
      <a:bgFillStyleLst>
        <a:solidFill>
          <a:schemeClr val="phClr"/>
        </a:solidFill>
        <a:blipFill rotWithShape="1">
          <a:blip xmlns:r="http://schemas.openxmlformats.org/officeDocument/2006/relationships" r:embed="rId1">
            <a:duotone>
              <a:schemeClr val="phClr">
                <a:tint val="96000"/>
              </a:schemeClr>
              <a:schemeClr val="phClr">
                <a:shade val="94000"/>
              </a:schemeClr>
            </a:duotone>
          </a:blip>
          <a:tile tx="0" ty="0" sx="100000" sy="100000" flip="none" algn="tl"/>
        </a:blipFill>
        <a:gradFill rotWithShape="1">
          <a:gsLst>
            <a:gs pos="0">
              <a:schemeClr val="phClr">
                <a:tint val="84000"/>
                <a:satMod val="110000"/>
              </a:schemeClr>
            </a:gs>
            <a:gs pos="44000">
              <a:schemeClr val="phClr">
                <a:tint val="93000"/>
                <a:satMod val="115000"/>
              </a:schemeClr>
            </a:gs>
            <a:gs pos="100000">
              <a:schemeClr val="phClr">
                <a:tint val="100000"/>
                <a:shade val="59000"/>
                <a:satMod val="120000"/>
              </a:schemeClr>
            </a:gs>
          </a:gsLst>
          <a:path path="circle">
            <a:fillToRect l="40000" t="60000" r="60000" b="4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Essential</Template>
  <TotalTime>75</TotalTime>
  <Words>487</Words>
  <Application>Microsoft Office PowerPoint</Application>
  <PresentationFormat>On-screen Show (4:3)</PresentationFormat>
  <Paragraphs>20</Paragraphs>
  <Slides>8</Slides>
  <Notes>0</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Essential</vt:lpstr>
      <vt:lpstr>Earning the Grade</vt:lpstr>
      <vt:lpstr>Earning the Grade</vt:lpstr>
      <vt:lpstr>Make A Plan</vt:lpstr>
      <vt:lpstr>Give Yourself Breaks</vt:lpstr>
      <vt:lpstr>Don’t be afraid to ask</vt:lpstr>
      <vt:lpstr>Take Care Of Your Body</vt:lpstr>
      <vt:lpstr>Break it down</vt:lpstr>
      <vt:lpstr>Please include the following citation along with the bulletin board: http://www.top-colleges.com/blog/2009/02/25/3271/. </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Ross Olson</dc:creator>
  <cp:lastModifiedBy>owner</cp:lastModifiedBy>
  <cp:revision>7</cp:revision>
  <dcterms:created xsi:type="dcterms:W3CDTF">2011-11-05T01:16:59Z</dcterms:created>
  <dcterms:modified xsi:type="dcterms:W3CDTF">2012-04-10T19:12:23Z</dcterms:modified>
</cp:coreProperties>
</file>