
<file path=[Content_Types].xml><?xml version="1.0" encoding="utf-8"?>
<Types xmlns="http://schemas.openxmlformats.org/package/2006/content-types">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slideLayouts/slideLayout72.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notesSlides/notesSlide25.xml" ContentType="application/vnd.openxmlformats-officedocument.presentationml.notesSlide+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821" r:id="rId1"/>
    <p:sldMasterId id="2147484859" r:id="rId2"/>
  </p:sldMasterIdLst>
  <p:notesMasterIdLst>
    <p:notesMasterId r:id="rId30"/>
  </p:notesMasterIdLst>
  <p:handoutMasterIdLst>
    <p:handoutMasterId r:id="rId31"/>
  </p:handoutMasterIdLst>
  <p:sldIdLst>
    <p:sldId id="256" r:id="rId3"/>
    <p:sldId id="299" r:id="rId4"/>
    <p:sldId id="303" r:id="rId5"/>
    <p:sldId id="257" r:id="rId6"/>
    <p:sldId id="266" r:id="rId7"/>
    <p:sldId id="262" r:id="rId8"/>
    <p:sldId id="276" r:id="rId9"/>
    <p:sldId id="277" r:id="rId10"/>
    <p:sldId id="263" r:id="rId11"/>
    <p:sldId id="280" r:id="rId12"/>
    <p:sldId id="261" r:id="rId13"/>
    <p:sldId id="294" r:id="rId14"/>
    <p:sldId id="281" r:id="rId15"/>
    <p:sldId id="282" r:id="rId16"/>
    <p:sldId id="283" r:id="rId17"/>
    <p:sldId id="273" r:id="rId18"/>
    <p:sldId id="284" r:id="rId19"/>
    <p:sldId id="288" r:id="rId20"/>
    <p:sldId id="264" r:id="rId21"/>
    <p:sldId id="286" r:id="rId22"/>
    <p:sldId id="287" r:id="rId23"/>
    <p:sldId id="289" r:id="rId24"/>
    <p:sldId id="304" r:id="rId25"/>
    <p:sldId id="260" r:id="rId26"/>
    <p:sldId id="296" r:id="rId27"/>
    <p:sldId id="298" r:id="rId28"/>
    <p:sldId id="302" r:id="rId29"/>
  </p:sldIdLst>
  <p:sldSz cx="9144000" cy="6858000" type="screen4x3"/>
  <p:notesSz cx="6662738"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186" autoAdjust="0"/>
    <p:restoredTop sz="94676" autoAdjust="0"/>
  </p:normalViewPr>
  <p:slideViewPr>
    <p:cSldViewPr>
      <p:cViewPr>
        <p:scale>
          <a:sx n="70" d="100"/>
          <a:sy n="70" d="100"/>
        </p:scale>
        <p:origin x="-1146" y="-840"/>
      </p:cViewPr>
      <p:guideLst>
        <p:guide orient="horz" pos="2160"/>
        <p:guide pos="2880"/>
      </p:guideLst>
    </p:cSldViewPr>
  </p:slideViewPr>
  <p:outlineViewPr>
    <p:cViewPr>
      <p:scale>
        <a:sx n="33" d="100"/>
        <a:sy n="33" d="100"/>
      </p:scale>
      <p:origin x="0" y="262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1" d="100"/>
          <a:sy n="51" d="100"/>
        </p:scale>
        <p:origin x="-1956" y="-108"/>
      </p:cViewPr>
      <p:guideLst>
        <p:guide orient="horz" pos="3128"/>
        <p:guide pos="2099"/>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87186" cy="496332"/>
          </a:xfrm>
          <a:prstGeom prst="rect">
            <a:avLst/>
          </a:prstGeom>
        </p:spPr>
        <p:txBody>
          <a:bodyPr vert="horz" lIns="92757" tIns="46378" rIns="92757" bIns="46378" rtlCol="0"/>
          <a:lstStyle>
            <a:lvl1pPr algn="l">
              <a:defRPr sz="1200"/>
            </a:lvl1pPr>
          </a:lstStyle>
          <a:p>
            <a:endParaRPr lang="en-CA"/>
          </a:p>
        </p:txBody>
      </p:sp>
      <p:sp>
        <p:nvSpPr>
          <p:cNvPr id="3" name="Date Placeholder 2"/>
          <p:cNvSpPr>
            <a:spLocks noGrp="1"/>
          </p:cNvSpPr>
          <p:nvPr>
            <p:ph type="dt" sz="quarter" idx="1"/>
          </p:nvPr>
        </p:nvSpPr>
        <p:spPr>
          <a:xfrm>
            <a:off x="3774011" y="1"/>
            <a:ext cx="2887186" cy="496332"/>
          </a:xfrm>
          <a:prstGeom prst="rect">
            <a:avLst/>
          </a:prstGeom>
        </p:spPr>
        <p:txBody>
          <a:bodyPr vert="horz" lIns="92757" tIns="46378" rIns="92757" bIns="46378" rtlCol="0"/>
          <a:lstStyle>
            <a:lvl1pPr algn="r">
              <a:defRPr sz="1200"/>
            </a:lvl1pPr>
          </a:lstStyle>
          <a:p>
            <a:fld id="{F8595ECB-95E6-4CE4-9452-54738AD30AB2}" type="datetimeFigureOut">
              <a:rPr lang="en-CA" smtClean="0"/>
              <a:pPr/>
              <a:t>03/10/2012</a:t>
            </a:fld>
            <a:endParaRPr lang="en-CA"/>
          </a:p>
        </p:txBody>
      </p:sp>
      <p:sp>
        <p:nvSpPr>
          <p:cNvPr id="4" name="Footer Placeholder 3"/>
          <p:cNvSpPr>
            <a:spLocks noGrp="1"/>
          </p:cNvSpPr>
          <p:nvPr>
            <p:ph type="ftr" sz="quarter" idx="2"/>
          </p:nvPr>
        </p:nvSpPr>
        <p:spPr>
          <a:xfrm>
            <a:off x="1" y="9428585"/>
            <a:ext cx="2887186" cy="496332"/>
          </a:xfrm>
          <a:prstGeom prst="rect">
            <a:avLst/>
          </a:prstGeom>
        </p:spPr>
        <p:txBody>
          <a:bodyPr vert="horz" lIns="92757" tIns="46378" rIns="92757" bIns="46378" rtlCol="0" anchor="b"/>
          <a:lstStyle>
            <a:lvl1pPr algn="l">
              <a:defRPr sz="1200"/>
            </a:lvl1pPr>
          </a:lstStyle>
          <a:p>
            <a:endParaRPr lang="en-CA"/>
          </a:p>
        </p:txBody>
      </p:sp>
      <p:sp>
        <p:nvSpPr>
          <p:cNvPr id="5" name="Slide Number Placeholder 4"/>
          <p:cNvSpPr>
            <a:spLocks noGrp="1"/>
          </p:cNvSpPr>
          <p:nvPr>
            <p:ph type="sldNum" sz="quarter" idx="3"/>
          </p:nvPr>
        </p:nvSpPr>
        <p:spPr>
          <a:xfrm>
            <a:off x="3774011" y="9428585"/>
            <a:ext cx="2887186" cy="496332"/>
          </a:xfrm>
          <a:prstGeom prst="rect">
            <a:avLst/>
          </a:prstGeom>
        </p:spPr>
        <p:txBody>
          <a:bodyPr vert="horz" lIns="92757" tIns="46378" rIns="92757" bIns="46378" rtlCol="0" anchor="b"/>
          <a:lstStyle>
            <a:lvl1pPr algn="r">
              <a:defRPr sz="1200"/>
            </a:lvl1pPr>
          </a:lstStyle>
          <a:p>
            <a:fld id="{53F2448F-DA67-419E-AD11-61095CE70EB1}" type="slidenum">
              <a:rPr lang="en-CA" smtClean="0"/>
              <a:pPr/>
              <a:t>‹#›</a:t>
            </a:fld>
            <a:endParaRPr lang="en-CA"/>
          </a:p>
        </p:txBody>
      </p:sp>
    </p:spTree>
    <p:extLst>
      <p:ext uri="{BB962C8B-B14F-4D97-AF65-F5344CB8AC3E}">
        <p14:creationId xmlns:p14="http://schemas.microsoft.com/office/powerpoint/2010/main" xmlns="" val="1123897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87186" cy="496332"/>
          </a:xfrm>
          <a:prstGeom prst="rect">
            <a:avLst/>
          </a:prstGeom>
        </p:spPr>
        <p:txBody>
          <a:bodyPr vert="horz" lIns="92757" tIns="46378" rIns="92757" bIns="46378" rtlCol="0"/>
          <a:lstStyle>
            <a:lvl1pPr algn="l">
              <a:defRPr sz="1200"/>
            </a:lvl1pPr>
          </a:lstStyle>
          <a:p>
            <a:endParaRPr lang="en-CA"/>
          </a:p>
        </p:txBody>
      </p:sp>
      <p:sp>
        <p:nvSpPr>
          <p:cNvPr id="3" name="Date Placeholder 2"/>
          <p:cNvSpPr>
            <a:spLocks noGrp="1"/>
          </p:cNvSpPr>
          <p:nvPr>
            <p:ph type="dt" idx="1"/>
          </p:nvPr>
        </p:nvSpPr>
        <p:spPr>
          <a:xfrm>
            <a:off x="3774011" y="1"/>
            <a:ext cx="2887186" cy="496332"/>
          </a:xfrm>
          <a:prstGeom prst="rect">
            <a:avLst/>
          </a:prstGeom>
        </p:spPr>
        <p:txBody>
          <a:bodyPr vert="horz" lIns="92757" tIns="46378" rIns="92757" bIns="46378" rtlCol="0"/>
          <a:lstStyle>
            <a:lvl1pPr algn="r">
              <a:defRPr sz="1200"/>
            </a:lvl1pPr>
          </a:lstStyle>
          <a:p>
            <a:fld id="{8B93B846-E2D4-4717-BD54-9D28570FEE6B}" type="datetimeFigureOut">
              <a:rPr lang="en-CA" smtClean="0"/>
              <a:pPr/>
              <a:t>03/10/2012</a:t>
            </a:fld>
            <a:endParaRPr lang="en-CA"/>
          </a:p>
        </p:txBody>
      </p:sp>
      <p:sp>
        <p:nvSpPr>
          <p:cNvPr id="4" name="Slide Image Placeholder 3"/>
          <p:cNvSpPr>
            <a:spLocks noGrp="1" noRot="1" noChangeAspect="1"/>
          </p:cNvSpPr>
          <p:nvPr>
            <p:ph type="sldImg" idx="2"/>
          </p:nvPr>
        </p:nvSpPr>
        <p:spPr>
          <a:xfrm>
            <a:off x="849313" y="744538"/>
            <a:ext cx="4964112" cy="3724275"/>
          </a:xfrm>
          <a:prstGeom prst="rect">
            <a:avLst/>
          </a:prstGeom>
          <a:noFill/>
          <a:ln w="12700">
            <a:solidFill>
              <a:prstClr val="black"/>
            </a:solidFill>
          </a:ln>
        </p:spPr>
        <p:txBody>
          <a:bodyPr vert="horz" lIns="92757" tIns="46378" rIns="92757" bIns="46378" rtlCol="0" anchor="ctr"/>
          <a:lstStyle/>
          <a:p>
            <a:endParaRPr lang="en-CA"/>
          </a:p>
        </p:txBody>
      </p:sp>
      <p:sp>
        <p:nvSpPr>
          <p:cNvPr id="5" name="Notes Placeholder 4"/>
          <p:cNvSpPr>
            <a:spLocks noGrp="1"/>
          </p:cNvSpPr>
          <p:nvPr>
            <p:ph type="body" sz="quarter" idx="3"/>
          </p:nvPr>
        </p:nvSpPr>
        <p:spPr>
          <a:xfrm>
            <a:off x="666274" y="4715153"/>
            <a:ext cx="5330190" cy="4466987"/>
          </a:xfrm>
          <a:prstGeom prst="rect">
            <a:avLst/>
          </a:prstGeom>
        </p:spPr>
        <p:txBody>
          <a:bodyPr vert="horz" lIns="92757" tIns="46378" rIns="92757" bIns="46378"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1" y="9428585"/>
            <a:ext cx="2887186" cy="496332"/>
          </a:xfrm>
          <a:prstGeom prst="rect">
            <a:avLst/>
          </a:prstGeom>
        </p:spPr>
        <p:txBody>
          <a:bodyPr vert="horz" lIns="92757" tIns="46378" rIns="92757" bIns="46378" rtlCol="0" anchor="b"/>
          <a:lstStyle>
            <a:lvl1pPr algn="l">
              <a:defRPr sz="1200"/>
            </a:lvl1pPr>
          </a:lstStyle>
          <a:p>
            <a:endParaRPr lang="en-CA"/>
          </a:p>
        </p:txBody>
      </p:sp>
      <p:sp>
        <p:nvSpPr>
          <p:cNvPr id="7" name="Slide Number Placeholder 6"/>
          <p:cNvSpPr>
            <a:spLocks noGrp="1"/>
          </p:cNvSpPr>
          <p:nvPr>
            <p:ph type="sldNum" sz="quarter" idx="5"/>
          </p:nvPr>
        </p:nvSpPr>
        <p:spPr>
          <a:xfrm>
            <a:off x="3774011" y="9428585"/>
            <a:ext cx="2887186" cy="496332"/>
          </a:xfrm>
          <a:prstGeom prst="rect">
            <a:avLst/>
          </a:prstGeom>
        </p:spPr>
        <p:txBody>
          <a:bodyPr vert="horz" lIns="92757" tIns="46378" rIns="92757" bIns="46378" rtlCol="0" anchor="b"/>
          <a:lstStyle>
            <a:lvl1pPr algn="r">
              <a:defRPr sz="1200"/>
            </a:lvl1pPr>
          </a:lstStyle>
          <a:p>
            <a:fld id="{7B9A96CB-E3C7-44CD-AF0F-46EF807DBC31}" type="slidenum">
              <a:rPr lang="en-CA" smtClean="0"/>
              <a:pPr/>
              <a:t>‹#›</a:t>
            </a:fld>
            <a:endParaRPr lang="en-CA"/>
          </a:p>
        </p:txBody>
      </p:sp>
    </p:spTree>
    <p:extLst>
      <p:ext uri="{BB962C8B-B14F-4D97-AF65-F5344CB8AC3E}">
        <p14:creationId xmlns:p14="http://schemas.microsoft.com/office/powerpoint/2010/main" xmlns="" val="2288952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a:t>
            </a:fld>
            <a:endParaRPr lang="en-CA"/>
          </a:p>
        </p:txBody>
      </p:sp>
    </p:spTree>
    <p:extLst>
      <p:ext uri="{BB962C8B-B14F-4D97-AF65-F5344CB8AC3E}">
        <p14:creationId xmlns:p14="http://schemas.microsoft.com/office/powerpoint/2010/main" xmlns="" val="257905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7B9A96CB-E3C7-44CD-AF0F-46EF807DBC31}" type="slidenum">
              <a:rPr lang="en-CA" smtClean="0"/>
              <a:pPr/>
              <a:t>2</a:t>
            </a:fld>
            <a:endParaRPr lang="en-CA"/>
          </a:p>
        </p:txBody>
      </p:sp>
    </p:spTree>
    <p:extLst>
      <p:ext uri="{BB962C8B-B14F-4D97-AF65-F5344CB8AC3E}">
        <p14:creationId xmlns:p14="http://schemas.microsoft.com/office/powerpoint/2010/main" xmlns="" val="480728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Explain</a:t>
            </a:r>
            <a:r>
              <a:rPr lang="en-CA" baseline="0" dirty="0" smtClean="0"/>
              <a:t> academic and non academic settings…</a:t>
            </a: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4</a:t>
            </a:fld>
            <a:endParaRPr lang="en-CA" dirty="0"/>
          </a:p>
        </p:txBody>
      </p:sp>
    </p:spTree>
    <p:extLst>
      <p:ext uri="{BB962C8B-B14F-4D97-AF65-F5344CB8AC3E}">
        <p14:creationId xmlns:p14="http://schemas.microsoft.com/office/powerpoint/2010/main" xmlns="" val="1560435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7567">
              <a:defRPr/>
            </a:pPr>
            <a:r>
              <a:rPr lang="en-US" dirty="0"/>
              <a:t>What motivates young women planning to join a university program who speak Arabic as their first language to learn English as a second language or English for academic purposes? </a:t>
            </a:r>
          </a:p>
          <a:p>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5</a:t>
            </a:fld>
            <a:endParaRPr lang="en-CA"/>
          </a:p>
        </p:txBody>
      </p:sp>
    </p:spTree>
    <p:extLst>
      <p:ext uri="{BB962C8B-B14F-4D97-AF65-F5344CB8AC3E}">
        <p14:creationId xmlns:p14="http://schemas.microsoft.com/office/powerpoint/2010/main" xmlns="" val="2598227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7B9A96CB-E3C7-44CD-AF0F-46EF807DBC31}" type="slidenum">
              <a:rPr lang="en-CA" smtClean="0"/>
              <a:pPr/>
              <a:t>6</a:t>
            </a:fld>
            <a:endParaRPr lang="en-CA"/>
          </a:p>
        </p:txBody>
      </p:sp>
    </p:spTree>
    <p:extLst>
      <p:ext uri="{BB962C8B-B14F-4D97-AF65-F5344CB8AC3E}">
        <p14:creationId xmlns:p14="http://schemas.microsoft.com/office/powerpoint/2010/main" xmlns="" val="3902403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Out of affective and cognitive domain as teachers, we naturally emphasize the cognitive domain in our teaching. After all, students think and learn with their brains (we hope!). Yet the affective domain can significantly enhance, inhibit or even prevent student learning. The affective domain includes factors such as student motivation, attitudes, perceptions and values. Teachers can increase their effectiveness by considering the affective domain in planning courses, delivering lectures and activities, and assessing student learning.</a:t>
            </a: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7</a:t>
            </a:fld>
            <a:endParaRPr lang="en-CA"/>
          </a:p>
        </p:txBody>
      </p:sp>
    </p:spTree>
    <p:extLst>
      <p:ext uri="{BB962C8B-B14F-4D97-AF65-F5344CB8AC3E}">
        <p14:creationId xmlns:p14="http://schemas.microsoft.com/office/powerpoint/2010/main" xmlns="" val="2008815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Affective Domain:</a:t>
            </a:r>
            <a:r>
              <a:rPr lang="en-CA" baseline="0" dirty="0" smtClean="0"/>
              <a:t> values, feelings, attitudes, and stereotypes</a:t>
            </a:r>
          </a:p>
          <a:p>
            <a:r>
              <a:rPr lang="en-CA" baseline="0" dirty="0" smtClean="0"/>
              <a:t>Cognitive Domain: Synthesis, comprehension, recollection, evaluation and analysis</a:t>
            </a: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8</a:t>
            </a:fld>
            <a:endParaRPr lang="en-CA"/>
          </a:p>
        </p:txBody>
      </p:sp>
    </p:spTree>
    <p:extLst>
      <p:ext uri="{BB962C8B-B14F-4D97-AF65-F5344CB8AC3E}">
        <p14:creationId xmlns:p14="http://schemas.microsoft.com/office/powerpoint/2010/main" xmlns="" val="1566410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7567">
              <a:defRPr/>
            </a:pPr>
            <a:r>
              <a:rPr lang="en-CA" dirty="0" smtClean="0"/>
              <a:t>According to Gardner’s (4. 1985, cited in Dai: 2) theory of </a:t>
            </a:r>
            <a:r>
              <a:rPr lang="en-CA" b="1" dirty="0" smtClean="0"/>
              <a:t>‘Socio-educational Model’ </a:t>
            </a:r>
            <a:r>
              <a:rPr lang="en-CA" dirty="0" smtClean="0"/>
              <a:t>“language achievement is influenced by integrative motivation more than it is influenced by language aptitude.” </a:t>
            </a:r>
          </a:p>
          <a:p>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9</a:t>
            </a:fld>
            <a:endParaRPr lang="en-CA"/>
          </a:p>
        </p:txBody>
      </p:sp>
    </p:spTree>
    <p:extLst>
      <p:ext uri="{BB962C8B-B14F-4D97-AF65-F5344CB8AC3E}">
        <p14:creationId xmlns:p14="http://schemas.microsoft.com/office/powerpoint/2010/main" xmlns="" val="1205390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Gardner (2006), in his own words, has extensively researched motivation and its role in second language learning for over 45 years. Before we go further in what motivates the learners to learn a second language and how the motivation shifts from one point of success to the next level of  goal setting, we should look at a very comprehensive definition of motivation by Gardner* (2006) himself. </a:t>
            </a: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10</a:t>
            </a:fld>
            <a:endParaRPr lang="en-CA"/>
          </a:p>
        </p:txBody>
      </p:sp>
    </p:spTree>
    <p:extLst>
      <p:ext uri="{BB962C8B-B14F-4D97-AF65-F5344CB8AC3E}">
        <p14:creationId xmlns:p14="http://schemas.microsoft.com/office/powerpoint/2010/main" xmlns="" val="810492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7B9A96CB-E3C7-44CD-AF0F-46EF807DBC31}" type="slidenum">
              <a:rPr lang="en-CA" smtClean="0"/>
              <a:pPr/>
              <a:t>11</a:t>
            </a:fld>
            <a:endParaRPr lang="en-CA"/>
          </a:p>
        </p:txBody>
      </p:sp>
    </p:spTree>
    <p:extLst>
      <p:ext uri="{BB962C8B-B14F-4D97-AF65-F5344CB8AC3E}">
        <p14:creationId xmlns:p14="http://schemas.microsoft.com/office/powerpoint/2010/main" xmlns="" val="2597086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1892" indent="-231892" defTabSz="927567">
              <a:buFont typeface="+mj-lt"/>
              <a:buAutoNum type="arabicPeriod"/>
              <a:defRPr/>
            </a:pPr>
            <a:r>
              <a:rPr lang="en-CA" dirty="0" smtClean="0"/>
              <a:t>It can be inferred that the integrative and instrumental goals may co-exist (obviously with varying degree) and they are inseparable. In addition, the more confident and competent the learners grow in their second language the more changes occur in their language learning goals. </a:t>
            </a:r>
          </a:p>
          <a:p>
            <a:pPr marL="231892" indent="-231892" defTabSz="927567">
              <a:buFont typeface="+mj-lt"/>
              <a:buAutoNum type="arabicPeriod"/>
              <a:defRPr/>
            </a:pPr>
            <a:r>
              <a:rPr lang="en-CA" dirty="0" smtClean="0"/>
              <a:t>Attitude towards language and </a:t>
            </a:r>
            <a:r>
              <a:rPr lang="en-CA" dirty="0" err="1" smtClean="0"/>
              <a:t>culture..ME</a:t>
            </a:r>
            <a:r>
              <a:rPr lang="en-CA" baseline="0" dirty="0" smtClean="0"/>
              <a:t> compared with language speaking environment</a:t>
            </a:r>
            <a:endParaRPr lang="en-CA" dirty="0" smtClean="0"/>
          </a:p>
          <a:p>
            <a:pPr marL="231892" indent="-231892">
              <a:buFont typeface="+mj-lt"/>
              <a:buAutoNum type="arabicPeriod"/>
            </a:pP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12</a:t>
            </a:fld>
            <a:endParaRPr lang="en-CA"/>
          </a:p>
        </p:txBody>
      </p:sp>
    </p:spTree>
    <p:extLst>
      <p:ext uri="{BB962C8B-B14F-4D97-AF65-F5344CB8AC3E}">
        <p14:creationId xmlns:p14="http://schemas.microsoft.com/office/powerpoint/2010/main" xmlns="" val="2530872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1892" indent="-231892">
              <a:buFont typeface="+mj-lt"/>
              <a:buAutoNum type="arabicPeriod"/>
            </a:pPr>
            <a:r>
              <a:rPr lang="en-CA" dirty="0" smtClean="0"/>
              <a:t>Every participant in this study possesses individual traits and characteristics in addition to representing the Arab women class collectively. </a:t>
            </a:r>
          </a:p>
          <a:p>
            <a:pPr marL="231892" indent="-231892">
              <a:buFont typeface="+mj-lt"/>
              <a:buAutoNum type="arabicPeriod"/>
            </a:pPr>
            <a:r>
              <a:rPr lang="en-CA" dirty="0" smtClean="0"/>
              <a:t>conducted research ‘to investigate the relationship between attitudes and cultural background of 52 Arab students in Canada</a:t>
            </a: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13</a:t>
            </a:fld>
            <a:endParaRPr lang="en-CA"/>
          </a:p>
        </p:txBody>
      </p:sp>
    </p:spTree>
    <p:extLst>
      <p:ext uri="{BB962C8B-B14F-4D97-AF65-F5344CB8AC3E}">
        <p14:creationId xmlns:p14="http://schemas.microsoft.com/office/powerpoint/2010/main" xmlns="" val="3466929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He thinks that the process of acculturation is an important factor to facilitate or discourage the ‘social and psychological integration of the learners with the target language group’.</a:t>
            </a: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14</a:t>
            </a:fld>
            <a:endParaRPr lang="en-CA"/>
          </a:p>
        </p:txBody>
      </p:sp>
    </p:spTree>
    <p:extLst>
      <p:ext uri="{BB962C8B-B14F-4D97-AF65-F5344CB8AC3E}">
        <p14:creationId xmlns:p14="http://schemas.microsoft.com/office/powerpoint/2010/main" xmlns="" val="566986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1892" indent="-231892">
              <a:buFont typeface="+mj-lt"/>
              <a:buAutoNum type="arabicPeriod"/>
            </a:pPr>
            <a:r>
              <a:rPr lang="en-CA" dirty="0" smtClean="0"/>
              <a:t>(according to HILC report 2009, 175 participants participated in 3 hour workshops of professional series workshop which focus on workplace specific language during the months of January 2009-July 2009); </a:t>
            </a:r>
          </a:p>
          <a:p>
            <a:pPr marL="231892" indent="-231892" defTabSz="927567">
              <a:buFont typeface="+mj-lt"/>
              <a:buAutoNum type="arabicPeriod"/>
              <a:defRPr/>
            </a:pPr>
            <a:r>
              <a:rPr lang="en-CA" dirty="0" smtClean="0"/>
              <a:t>may affect the receptivity of language as well as the dynamism of redefining the language learning goals. </a:t>
            </a:r>
          </a:p>
          <a:p>
            <a:pPr marL="231892" indent="-231892">
              <a:buFont typeface="+mj-lt"/>
              <a:buAutoNum type="arabicPeriod"/>
            </a:pP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15</a:t>
            </a:fld>
            <a:endParaRPr lang="en-CA"/>
          </a:p>
        </p:txBody>
      </p:sp>
    </p:spTree>
    <p:extLst>
      <p:ext uri="{BB962C8B-B14F-4D97-AF65-F5344CB8AC3E}">
        <p14:creationId xmlns:p14="http://schemas.microsoft.com/office/powerpoint/2010/main" xmlns="" val="131350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7567">
              <a:defRPr/>
            </a:pPr>
            <a:r>
              <a:rPr lang="en-CA" dirty="0" smtClean="0"/>
              <a:t> which proves the fact why ‘motivation’ was originally initiated by social psychologists’. The social aspect might not be the only reason to motivate learners to learn English as L2, and there are number of other factors influencing motivational orientations of the learners, yet this study tries to draw attention towards this aspect as one of the strongest aspects to be considered in the bigger picture of second language acquisition, especially for the learners who cannot be classified under the terms like ‘high school students’ ‘elementary/young learners’ or ‘learners pursuing higher education at the universities’. </a:t>
            </a:r>
          </a:p>
          <a:p>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16</a:t>
            </a:fld>
            <a:endParaRPr lang="en-CA"/>
          </a:p>
        </p:txBody>
      </p:sp>
    </p:spTree>
    <p:extLst>
      <p:ext uri="{BB962C8B-B14F-4D97-AF65-F5344CB8AC3E}">
        <p14:creationId xmlns:p14="http://schemas.microsoft.com/office/powerpoint/2010/main" xmlns="" val="4280007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They also redefine their motivational orientations and linguistic goals for achieving higher levels of English language proficiency. However, the individual variables (also mentioned by Schumann(1978, 1986 cited in </a:t>
            </a:r>
            <a:r>
              <a:rPr lang="en-CA" dirty="0" err="1" smtClean="0"/>
              <a:t>Dornyei</a:t>
            </a:r>
            <a:r>
              <a:rPr lang="en-CA" dirty="0" smtClean="0"/>
              <a:t> 2001:74.).) </a:t>
            </a: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17</a:t>
            </a:fld>
            <a:endParaRPr lang="en-CA"/>
          </a:p>
        </p:txBody>
      </p:sp>
    </p:spTree>
    <p:extLst>
      <p:ext uri="{BB962C8B-B14F-4D97-AF65-F5344CB8AC3E}">
        <p14:creationId xmlns:p14="http://schemas.microsoft.com/office/powerpoint/2010/main" xmlns="" val="3610104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1892" indent="-231892">
              <a:buFont typeface="+mj-lt"/>
              <a:buAutoNum type="arabicPeriod"/>
            </a:pPr>
            <a:r>
              <a:rPr lang="en-US" dirty="0" smtClean="0"/>
              <a:t>Since the focus is an individual or a very small group of learners, the case studies provide detailed descriptions with a longitudinal approach in which ‘the observations of the phenomena under investigation are made at periodic intervals for an extended period of time’. For this study, the main data were gathered using qualitative method.</a:t>
            </a:r>
          </a:p>
          <a:p>
            <a:pPr marL="231892" indent="-231892" defTabSz="927567">
              <a:buFont typeface="+mj-lt"/>
              <a:buAutoNum type="arabicPeriod"/>
              <a:defRPr/>
            </a:pPr>
            <a:r>
              <a:rPr lang="en-US" dirty="0" smtClean="0"/>
              <a:t>Initially, at the pilot stage (Developing Research Competence EDUC7010 September 2008-Janury 2009) of the research project, close-ended questionnaire was adopted and was given to the participants at one point of time, but for this research the instrument used was interviews and in-class task participation over the period of sixteen weeks. Open ended questions were asked, and the participants responded to the questions in a non-threatening environment. The participants had one-on-one sessions with the researcher and they answered the questions freely. I succeeded to gather/infer some information during these interviews which is recorded in the vignettes.   </a:t>
            </a:r>
            <a:endParaRPr lang="en-CA" dirty="0" smtClean="0"/>
          </a:p>
          <a:p>
            <a:pPr marL="231892" indent="-231892">
              <a:buFont typeface="+mj-lt"/>
              <a:buAutoNum type="arabicPeriod"/>
            </a:pP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18</a:t>
            </a:fld>
            <a:endParaRPr lang="en-CA"/>
          </a:p>
        </p:txBody>
      </p:sp>
    </p:spTree>
    <p:extLst>
      <p:ext uri="{BB962C8B-B14F-4D97-AF65-F5344CB8AC3E}">
        <p14:creationId xmlns:p14="http://schemas.microsoft.com/office/powerpoint/2010/main" xmlns="" val="2611935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7567">
              <a:defRPr/>
            </a:pPr>
            <a:r>
              <a:rPr lang="en-US" dirty="0" smtClean="0"/>
              <a:t>These steps help measure and determine the English Language proficiency level of the learners as well as the needs and goals they expect to fulfill from a specific language course</a:t>
            </a:r>
          </a:p>
          <a:p>
            <a:pPr defTabSz="927567">
              <a:defRPr/>
            </a:pPr>
            <a:endParaRPr lang="en-US" dirty="0" smtClean="0"/>
          </a:p>
          <a:p>
            <a:pPr defTabSz="927567">
              <a:defRPr/>
            </a:pPr>
            <a:r>
              <a:rPr lang="en-CA" dirty="0" smtClean="0"/>
              <a:t>When we teach our introductory courses, we tend to focus on the cognitive domain of learning (e.g., content comprehension, assessment), however, research shows that if students' affective domain (e.g., emotion, motivation, attitude) is not addressed, learning decreases (</a:t>
            </a:r>
            <a:r>
              <a:rPr lang="en-CA" dirty="0" err="1" smtClean="0"/>
              <a:t>Pekrun</a:t>
            </a:r>
            <a:r>
              <a:rPr lang="en-CA" dirty="0" smtClean="0"/>
              <a:t>, 2002). How often do we think about this aspect of teaching when we plan our lessons? How can we increase student learning by making small shifts in how we approach our teaching? Is it possible that we might be able to increase student majors if we address these issues at the introductory level?</a:t>
            </a:r>
          </a:p>
          <a:p>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19</a:t>
            </a:fld>
            <a:endParaRPr lang="en-CA"/>
          </a:p>
        </p:txBody>
      </p:sp>
    </p:spTree>
    <p:extLst>
      <p:ext uri="{BB962C8B-B14F-4D97-AF65-F5344CB8AC3E}">
        <p14:creationId xmlns:p14="http://schemas.microsoft.com/office/powerpoint/2010/main" xmlns="" val="20960829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1892" indent="-231892">
              <a:buFont typeface="+mj-lt"/>
              <a:buAutoNum type="arabicPeriod"/>
            </a:pPr>
            <a:r>
              <a:rPr lang="en-US" dirty="0" smtClean="0"/>
              <a:t>Motivation being an ‘unobservable’ trait raises the need to be measured in a more interactive environment. </a:t>
            </a:r>
          </a:p>
          <a:p>
            <a:pPr marL="231892" indent="-231892" defTabSz="927567">
              <a:buFont typeface="+mj-lt"/>
              <a:buAutoNum type="arabicPeriod"/>
              <a:defRPr/>
            </a:pPr>
            <a:r>
              <a:rPr lang="en-US" dirty="0" smtClean="0"/>
              <a:t>It gave an insight to understand the participants’ attitudinal orientations towards learning English as a second language in particular and towards the English speaking society in general. It also helped derive theories like ‘goal orientation, and self efficacy’ etc. </a:t>
            </a:r>
            <a:endParaRPr lang="en-CA" dirty="0" smtClean="0"/>
          </a:p>
          <a:p>
            <a:pPr marL="231892" indent="-231892">
              <a:buFont typeface="+mj-lt"/>
              <a:buAutoNum type="arabicPeriod"/>
            </a:pP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20</a:t>
            </a:fld>
            <a:endParaRPr lang="en-CA"/>
          </a:p>
        </p:txBody>
      </p:sp>
    </p:spTree>
    <p:extLst>
      <p:ext uri="{BB962C8B-B14F-4D97-AF65-F5344CB8AC3E}">
        <p14:creationId xmlns:p14="http://schemas.microsoft.com/office/powerpoint/2010/main" xmlns="" val="14765255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1892" indent="-231892">
              <a:buFont typeface="+mj-lt"/>
              <a:buAutoNum type="arabicPeriod"/>
            </a:pPr>
            <a:r>
              <a:rPr lang="en-US" dirty="0" smtClean="0"/>
              <a:t>In this study the information gathered through intake interviews (Appendix 1), was converted into notes which helped me understand the learners and changing attitudes over a period of time. </a:t>
            </a:r>
          </a:p>
          <a:p>
            <a:pPr marL="231892" indent="-231892">
              <a:buFont typeface="+mj-lt"/>
              <a:buAutoNum type="arabicPeriod"/>
            </a:pPr>
            <a:r>
              <a:rPr lang="en-US" dirty="0" smtClean="0"/>
              <a:t>The interview was given once at the time of the intake and once at the end of the program (Appendix 2). </a:t>
            </a:r>
          </a:p>
          <a:p>
            <a:pPr marL="231892" indent="-231892" defTabSz="927567">
              <a:buFont typeface="+mj-lt"/>
              <a:buAutoNum type="arabicPeriod"/>
              <a:defRPr/>
            </a:pPr>
            <a:r>
              <a:rPr lang="en-US" dirty="0" smtClean="0"/>
              <a:t>As the learners stayed in close contact with the researcher (me), it was easier to record their responses holistically. I kept recording notes and reproducing them in the form of vignettes.</a:t>
            </a:r>
          </a:p>
          <a:p>
            <a:pPr marL="347838" lvl="1" indent="-347838">
              <a:buFont typeface="Arial" pitchFamily="34" charset="0"/>
              <a:buChar char="•"/>
            </a:pPr>
            <a:r>
              <a:rPr lang="en-US" sz="2400" dirty="0"/>
              <a:t>Response to role play activities</a:t>
            </a:r>
            <a:endParaRPr lang="en-CA" sz="2400" dirty="0"/>
          </a:p>
          <a:p>
            <a:pPr marL="347838" lvl="1" indent="-347838">
              <a:buFont typeface="Arial" pitchFamily="34" charset="0"/>
              <a:buChar char="•"/>
            </a:pPr>
            <a:r>
              <a:rPr lang="en-US" sz="2400" dirty="0"/>
              <a:t>Discussion on cultural scenarios/attitude towards target language culture</a:t>
            </a:r>
            <a:endParaRPr lang="en-CA" sz="2400" dirty="0"/>
          </a:p>
          <a:p>
            <a:pPr marL="347838" lvl="1" indent="-347838">
              <a:buFont typeface="Arial" pitchFamily="34" charset="0"/>
              <a:buChar char="•"/>
            </a:pPr>
            <a:r>
              <a:rPr lang="en-US" sz="2400" dirty="0"/>
              <a:t>Attitude to learning English as a second language in general</a:t>
            </a:r>
            <a:endParaRPr lang="en-CA" sz="2400" dirty="0"/>
          </a:p>
          <a:p>
            <a:pPr marL="231892" indent="-231892" defTabSz="927567">
              <a:buFont typeface="+mj-lt"/>
              <a:buAutoNum type="arabicPeriod"/>
              <a:defRPr/>
            </a:pPr>
            <a:endParaRPr lang="en-CA" dirty="0" smtClean="0"/>
          </a:p>
          <a:p>
            <a:pPr marL="231892" indent="-231892">
              <a:buFont typeface="+mj-lt"/>
              <a:buAutoNum type="arabicPeriod"/>
            </a:pP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21</a:t>
            </a:fld>
            <a:endParaRPr lang="en-CA"/>
          </a:p>
        </p:txBody>
      </p:sp>
    </p:spTree>
    <p:extLst>
      <p:ext uri="{BB962C8B-B14F-4D97-AF65-F5344CB8AC3E}">
        <p14:creationId xmlns:p14="http://schemas.microsoft.com/office/powerpoint/2010/main" xmlns="" val="4169976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1892" indent="-231892">
              <a:buFont typeface="+mj-lt"/>
              <a:buAutoNum type="arabicPeriod"/>
            </a:pPr>
            <a:r>
              <a:rPr lang="en-US" dirty="0" smtClean="0"/>
              <a:t>Under the ‘family class’ category, the principal applicant, which in most cases is the educated male member of the family, takes a language proficiency test for immigration. These women are mainly stay-at-home mothers and show no initial intention of pursuing higher education or desire to learn English as a second language in Canada or for that matter, most of them initially didn’t think that they would like to work. </a:t>
            </a: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22</a:t>
            </a:fld>
            <a:endParaRPr lang="en-CA"/>
          </a:p>
        </p:txBody>
      </p:sp>
    </p:spTree>
    <p:extLst>
      <p:ext uri="{BB962C8B-B14F-4D97-AF65-F5344CB8AC3E}">
        <p14:creationId xmlns:p14="http://schemas.microsoft.com/office/powerpoint/2010/main" xmlns="" val="1295000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1892" indent="-231892">
              <a:buFont typeface="+mj-lt"/>
              <a:buAutoNum type="arabicPeriod"/>
            </a:pPr>
            <a:endParaRPr lang="en-US" dirty="0" smtClean="0"/>
          </a:p>
          <a:p>
            <a:pPr marL="231892" indent="-231892" defTabSz="927567">
              <a:buFont typeface="+mj-lt"/>
              <a:buAutoNum type="arabicPeriod"/>
              <a:defRPr/>
            </a:pPr>
            <a:r>
              <a:rPr lang="en-US" dirty="0" smtClean="0"/>
              <a:t>Both integrative and instrumental constructs of motivation were found, but the two orientations appeared inseparable. </a:t>
            </a:r>
          </a:p>
          <a:p>
            <a:pPr marL="231892" indent="-231892">
              <a:buFont typeface="+mj-lt"/>
              <a:buAutoNum type="arabicPeriod"/>
            </a:pPr>
            <a:endParaRPr lang="en-US" dirty="0" smtClean="0"/>
          </a:p>
          <a:p>
            <a:pPr marL="231892" indent="-231892">
              <a:buFont typeface="+mj-lt"/>
              <a:buAutoNum type="arabicPeriod"/>
            </a:pPr>
            <a:r>
              <a:rPr lang="en-US" dirty="0" smtClean="0"/>
              <a:t>The study found out that while living in Canada, their psychological attitude to the local language and culture develops more positively and their desire to interact with the members of the local community grows</a:t>
            </a:r>
          </a:p>
          <a:p>
            <a:pPr marL="231892" indent="-231892" defTabSz="927567">
              <a:buFont typeface="+mj-lt"/>
              <a:buAutoNum type="arabicPeriod"/>
              <a:defRPr/>
            </a:pPr>
            <a:r>
              <a:rPr lang="en-US" dirty="0" smtClean="0"/>
              <a:t>with the local society. It becomes an influential element impacting their motivational orientations</a:t>
            </a:r>
          </a:p>
          <a:p>
            <a:pPr marL="231892" indent="-231892" defTabSz="927567">
              <a:buFont typeface="+mj-lt"/>
              <a:buAutoNum type="arabicPeriod"/>
              <a:defRPr/>
            </a:pPr>
            <a:r>
              <a:rPr lang="en-US" dirty="0" smtClean="0"/>
              <a:t>: search of a job or wish to upgrade their academic level by joining a course or a study program at a local university or school. </a:t>
            </a:r>
          </a:p>
          <a:p>
            <a:pPr marL="231892" indent="-231892" defTabSz="927567">
              <a:buFont typeface="+mj-lt"/>
              <a:buAutoNum type="arabicPeriod"/>
              <a:defRPr/>
            </a:pPr>
            <a:r>
              <a:rPr lang="en-US" dirty="0" smtClean="0"/>
              <a:t> </a:t>
            </a:r>
            <a:r>
              <a:rPr lang="en-US" dirty="0"/>
              <a:t>This desire being instrumental in nature also helps them further grow their positive attitude to learning English as a second language when they still speak their first language at home with the members of their family or the other members of their ethnic group. </a:t>
            </a:r>
            <a:endParaRPr lang="en-CA" dirty="0"/>
          </a:p>
          <a:p>
            <a:pPr marL="231892" indent="-231892" defTabSz="927567">
              <a:buFont typeface="+mj-lt"/>
              <a:buAutoNum type="arabicPeriod"/>
              <a:defRPr/>
            </a:pPr>
            <a:endParaRPr lang="en-US" dirty="0" smtClean="0"/>
          </a:p>
          <a:p>
            <a:pPr marL="231892" indent="-231892">
              <a:buFont typeface="+mj-lt"/>
              <a:buAutoNum type="arabicPeriod"/>
            </a:pP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24</a:t>
            </a:fld>
            <a:endParaRPr lang="en-CA"/>
          </a:p>
        </p:txBody>
      </p:sp>
    </p:spTree>
    <p:extLst>
      <p:ext uri="{BB962C8B-B14F-4D97-AF65-F5344CB8AC3E}">
        <p14:creationId xmlns:p14="http://schemas.microsoft.com/office/powerpoint/2010/main" xmlns="" val="2413446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7B9A96CB-E3C7-44CD-AF0F-46EF807DBC31}" type="slidenum">
              <a:rPr lang="en-CA" smtClean="0"/>
              <a:pPr/>
              <a:t>25</a:t>
            </a:fld>
            <a:endParaRPr lang="en-CA"/>
          </a:p>
        </p:txBody>
      </p:sp>
    </p:spTree>
    <p:extLst>
      <p:ext uri="{BB962C8B-B14F-4D97-AF65-F5344CB8AC3E}">
        <p14:creationId xmlns:p14="http://schemas.microsoft.com/office/powerpoint/2010/main" xmlns="" val="22374921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The second language learners need to adopt a more positive attitude towards the target language and culture in order to attain the required level of success in language learning process. </a:t>
            </a:r>
          </a:p>
          <a:p>
            <a:r>
              <a:rPr lang="en-CA" dirty="0" smtClean="0"/>
              <a:t>The learning environment and the pedagogical techniques must be tailored towards attaining higher level of motivational and learning success. </a:t>
            </a:r>
          </a:p>
          <a:p>
            <a:r>
              <a:rPr lang="en-CA" dirty="0" smtClean="0"/>
              <a:t>It should also be supportive of giving the learners more awareness of the productive changes ESL development can bring about in their individual as well as social self. </a:t>
            </a:r>
          </a:p>
          <a:p>
            <a:r>
              <a:rPr lang="en-CA" dirty="0" smtClean="0"/>
              <a:t>The language teacher should be more a facilitator with better understanding of the difficulties and challenges of the learners. </a:t>
            </a:r>
          </a:p>
          <a:p>
            <a:r>
              <a:rPr lang="en-CA" dirty="0" smtClean="0"/>
              <a:t>The teachers and educators may focus on teaching materials and awareness process that help meeting the L2 learners’ needs in terms of language development, cultural understanding, and goal orientation. </a:t>
            </a:r>
          </a:p>
          <a:p>
            <a:r>
              <a:rPr lang="en-CA" dirty="0" smtClean="0"/>
              <a:t>This would give the learners better awareness and clarity to adjust their goals and transform their initial orientation into the secondary level of orientation. </a:t>
            </a:r>
            <a:endParaRPr lang="en-CA" dirty="0"/>
          </a:p>
        </p:txBody>
      </p:sp>
      <p:sp>
        <p:nvSpPr>
          <p:cNvPr id="4" name="Slide Number Placeholder 3"/>
          <p:cNvSpPr>
            <a:spLocks noGrp="1"/>
          </p:cNvSpPr>
          <p:nvPr>
            <p:ph type="sldNum" sz="quarter" idx="10"/>
          </p:nvPr>
        </p:nvSpPr>
        <p:spPr/>
        <p:txBody>
          <a:bodyPr/>
          <a:lstStyle/>
          <a:p>
            <a:fld id="{7B9A96CB-E3C7-44CD-AF0F-46EF807DBC31}" type="slidenum">
              <a:rPr lang="en-CA" smtClean="0"/>
              <a:pPr/>
              <a:t>26</a:t>
            </a:fld>
            <a:endParaRPr lang="en-CA"/>
          </a:p>
        </p:txBody>
      </p:sp>
    </p:spTree>
    <p:extLst>
      <p:ext uri="{BB962C8B-B14F-4D97-AF65-F5344CB8AC3E}">
        <p14:creationId xmlns:p14="http://schemas.microsoft.com/office/powerpoint/2010/main" xmlns="" val="4184650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7B9A96CB-E3C7-44CD-AF0F-46EF807DBC31}" type="slidenum">
              <a:rPr lang="en-CA" smtClean="0"/>
              <a:pPr/>
              <a:t>27</a:t>
            </a:fld>
            <a:endParaRPr lang="en-CA"/>
          </a:p>
        </p:txBody>
      </p:sp>
    </p:spTree>
    <p:extLst>
      <p:ext uri="{BB962C8B-B14F-4D97-AF65-F5344CB8AC3E}">
        <p14:creationId xmlns:p14="http://schemas.microsoft.com/office/powerpoint/2010/main" xmlns="" val="6494581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6019800" y="5486400"/>
            <a:ext cx="2838450" cy="1127125"/>
            <a:chOff x="3694" y="3324"/>
            <a:chExt cx="1788" cy="710"/>
          </a:xfrm>
        </p:grpSpPr>
        <p:sp>
          <p:nvSpPr>
            <p:cNvPr id="4" name="Freeform 3"/>
            <p:cNvSpPr>
              <a:spLocks/>
            </p:cNvSpPr>
            <p:nvPr/>
          </p:nvSpPr>
          <p:spPr bwMode="auto">
            <a:xfrm>
              <a:off x="3757" y="3423"/>
              <a:ext cx="323" cy="369"/>
            </a:xfrm>
            <a:custGeom>
              <a:avLst/>
              <a:gdLst/>
              <a:ahLst/>
              <a:cxnLst>
                <a:cxn ang="0">
                  <a:pos x="16" y="15"/>
                </a:cxn>
                <a:cxn ang="0">
                  <a:pos x="250" y="17"/>
                </a:cxn>
                <a:cxn ang="0">
                  <a:pos x="322" y="25"/>
                </a:cxn>
                <a:cxn ang="0">
                  <a:pos x="306" y="177"/>
                </a:cxn>
                <a:cxn ang="0">
                  <a:pos x="282" y="255"/>
                </a:cxn>
                <a:cxn ang="0">
                  <a:pos x="261" y="303"/>
                </a:cxn>
                <a:cxn ang="0">
                  <a:pos x="229" y="327"/>
                </a:cxn>
                <a:cxn ang="0">
                  <a:pos x="210" y="343"/>
                </a:cxn>
                <a:cxn ang="0">
                  <a:pos x="165" y="369"/>
                </a:cxn>
                <a:cxn ang="0">
                  <a:pos x="98" y="337"/>
                </a:cxn>
                <a:cxn ang="0">
                  <a:pos x="77" y="308"/>
                </a:cxn>
                <a:cxn ang="0">
                  <a:pos x="66" y="295"/>
                </a:cxn>
                <a:cxn ang="0">
                  <a:pos x="50" y="271"/>
                </a:cxn>
                <a:cxn ang="0">
                  <a:pos x="34" y="239"/>
                </a:cxn>
                <a:cxn ang="0">
                  <a:pos x="18" y="196"/>
                </a:cxn>
                <a:cxn ang="0">
                  <a:pos x="16" y="129"/>
                </a:cxn>
                <a:cxn ang="0">
                  <a:pos x="13" y="65"/>
                </a:cxn>
                <a:cxn ang="0">
                  <a:pos x="16" y="15"/>
                </a:cxn>
              </a:cxnLst>
              <a:rect l="0" t="0" r="r" b="b"/>
              <a:pathLst>
                <a:path w="323" h="369">
                  <a:moveTo>
                    <a:pt x="16" y="15"/>
                  </a:moveTo>
                  <a:cubicBezTo>
                    <a:pt x="35" y="14"/>
                    <a:pt x="183" y="0"/>
                    <a:pt x="250" y="17"/>
                  </a:cubicBezTo>
                  <a:cubicBezTo>
                    <a:pt x="263" y="16"/>
                    <a:pt x="317" y="5"/>
                    <a:pt x="322" y="25"/>
                  </a:cubicBezTo>
                  <a:cubicBezTo>
                    <a:pt x="317" y="73"/>
                    <a:pt x="323" y="130"/>
                    <a:pt x="306" y="177"/>
                  </a:cubicBezTo>
                  <a:cubicBezTo>
                    <a:pt x="300" y="205"/>
                    <a:pt x="290" y="228"/>
                    <a:pt x="282" y="255"/>
                  </a:cubicBezTo>
                  <a:cubicBezTo>
                    <a:pt x="278" y="267"/>
                    <a:pt x="271" y="293"/>
                    <a:pt x="261" y="303"/>
                  </a:cubicBezTo>
                  <a:cubicBezTo>
                    <a:pt x="250" y="312"/>
                    <a:pt x="239" y="316"/>
                    <a:pt x="229" y="327"/>
                  </a:cubicBezTo>
                  <a:cubicBezTo>
                    <a:pt x="225" y="337"/>
                    <a:pt x="220" y="339"/>
                    <a:pt x="210" y="343"/>
                  </a:cubicBezTo>
                  <a:cubicBezTo>
                    <a:pt x="192" y="356"/>
                    <a:pt x="182" y="358"/>
                    <a:pt x="165" y="369"/>
                  </a:cubicBezTo>
                  <a:cubicBezTo>
                    <a:pt x="141" y="360"/>
                    <a:pt x="120" y="345"/>
                    <a:pt x="98" y="337"/>
                  </a:cubicBezTo>
                  <a:cubicBezTo>
                    <a:pt x="87" y="326"/>
                    <a:pt x="89" y="315"/>
                    <a:pt x="77" y="308"/>
                  </a:cubicBezTo>
                  <a:cubicBezTo>
                    <a:pt x="68" y="286"/>
                    <a:pt x="80" y="313"/>
                    <a:pt x="66" y="295"/>
                  </a:cubicBezTo>
                  <a:cubicBezTo>
                    <a:pt x="57" y="284"/>
                    <a:pt x="62" y="278"/>
                    <a:pt x="50" y="271"/>
                  </a:cubicBezTo>
                  <a:cubicBezTo>
                    <a:pt x="47" y="260"/>
                    <a:pt x="40" y="248"/>
                    <a:pt x="34" y="239"/>
                  </a:cubicBezTo>
                  <a:cubicBezTo>
                    <a:pt x="30" y="224"/>
                    <a:pt x="22" y="211"/>
                    <a:pt x="18" y="196"/>
                  </a:cubicBezTo>
                  <a:cubicBezTo>
                    <a:pt x="14" y="170"/>
                    <a:pt x="13" y="156"/>
                    <a:pt x="16" y="129"/>
                  </a:cubicBezTo>
                  <a:cubicBezTo>
                    <a:pt x="8" y="81"/>
                    <a:pt x="8" y="102"/>
                    <a:pt x="13" y="65"/>
                  </a:cubicBezTo>
                  <a:cubicBezTo>
                    <a:pt x="11" y="54"/>
                    <a:pt x="0" y="20"/>
                    <a:pt x="16" y="15"/>
                  </a:cubicBezTo>
                  <a:close/>
                </a:path>
              </a:pathLst>
            </a:custGeom>
            <a:solidFill>
              <a:schemeClr val="tx1"/>
            </a:solidFill>
            <a:ln w="9525">
              <a:noFill/>
              <a:round/>
              <a:headEnd/>
              <a:tailEnd/>
            </a:ln>
            <a:effectLst/>
          </p:spPr>
          <p:txBody>
            <a:bodyPr wrap="none" anchor="ctr"/>
            <a:lstStyle/>
            <a:p>
              <a:endParaRPr lang="en-US"/>
            </a:p>
          </p:txBody>
        </p:sp>
        <p:pic>
          <p:nvPicPr>
            <p:cNvPr id="5" name="Picture 5" descr="02 BlackRev-3.jpg                                              0006B25BThe Green Pearl                ABA7815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xmlns="" val="0"/>
                </a:ext>
              </a:extLst>
            </a:blip>
            <a:srcRect r="2242" b="2606"/>
            <a:stretch>
              <a:fillRect/>
            </a:stretch>
          </p:blipFill>
          <p:spPr bwMode="auto">
            <a:xfrm>
              <a:off x="3694" y="3324"/>
              <a:ext cx="1788" cy="7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75106" name="Rectangle 2"/>
          <p:cNvSpPr>
            <a:spLocks noGrp="1" noChangeArrowheads="1"/>
          </p:cNvSpPr>
          <p:nvPr>
            <p:ph type="ctrTitle"/>
          </p:nvPr>
        </p:nvSpPr>
        <p:spPr>
          <a:xfrm>
            <a:off x="685800" y="2286000"/>
            <a:ext cx="7772400" cy="1143000"/>
          </a:xfrm>
        </p:spPr>
        <p:txBody>
          <a:bodyPr/>
          <a:lstStyle>
            <a:lvl1pPr>
              <a:defRPr/>
            </a:lvl1pPr>
          </a:lstStyle>
          <a:p>
            <a:r>
              <a:rPr lang="en-US" smtClean="0"/>
              <a:t>Click to edit Master title style</a:t>
            </a:r>
            <a:endParaRPr lang="en-US"/>
          </a:p>
        </p:txBody>
      </p:sp>
    </p:spTree>
    <p:extLst>
      <p:ext uri="{BB962C8B-B14F-4D97-AF65-F5344CB8AC3E}">
        <p14:creationId xmlns:p14="http://schemas.microsoft.com/office/powerpoint/2010/main" xmlns="" val="164358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996897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763609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1783906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4127440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003647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114122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196138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170188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552808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600200"/>
            <a:ext cx="2057400" cy="45259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60198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4862781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a:prstGeom prst="rect">
            <a:avLst/>
          </a:prstGeo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a:xfrm>
            <a:off x="3581400" y="6305550"/>
            <a:ext cx="2133600" cy="476250"/>
          </a:xfrm>
          <a:prstGeom prst="rect">
            <a:avLst/>
          </a:prstGeom>
        </p:spPr>
        <p:txBody>
          <a:bodyPr/>
          <a:lstStyle>
            <a:extLst/>
          </a:lstStyle>
          <a:p>
            <a:fld id="{ADC5E3ED-F723-491A-97E6-3B8E0A8B6EA4}" type="datetime4">
              <a:rPr lang="en-US" smtClean="0"/>
              <a:t>October 3, 2012</a:t>
            </a:fld>
            <a:endParaRPr lang="en-US" dirty="0"/>
          </a:p>
        </p:txBody>
      </p:sp>
      <p:sp>
        <p:nvSpPr>
          <p:cNvPr id="20" name="Footer Placeholder 19"/>
          <p:cNvSpPr>
            <a:spLocks noGrp="1"/>
          </p:cNvSpPr>
          <p:nvPr>
            <p:ph type="ftr" sz="quarter" idx="11"/>
          </p:nvPr>
        </p:nvSpPr>
        <p:spPr>
          <a:xfrm>
            <a:off x="5715000" y="6305550"/>
            <a:ext cx="2895600" cy="476250"/>
          </a:xfrm>
          <a:prstGeom prst="rect">
            <a:avLst/>
          </a:prstGeom>
        </p:spPr>
        <p:txBody>
          <a:bodyPr/>
          <a:lstStyle>
            <a:extLst/>
          </a:lstStyle>
          <a:p>
            <a:r>
              <a:rPr lang="pl-PL" smtClean="0"/>
              <a:t>TESL 2012: Shazia Nawaz Awan</a:t>
            </a:r>
            <a:endParaRPr lang="en-US"/>
          </a:p>
        </p:txBody>
      </p:sp>
      <p:sp>
        <p:nvSpPr>
          <p:cNvPr id="10" name="Slide Number Placeholder 9"/>
          <p:cNvSpPr>
            <a:spLocks noGrp="1"/>
          </p:cNvSpPr>
          <p:nvPr>
            <p:ph type="sldNum" sz="quarter" idx="12"/>
          </p:nvPr>
        </p:nvSpPr>
        <p:spPr>
          <a:xfrm>
            <a:off x="8613648" y="6305550"/>
            <a:ext cx="457200" cy="476250"/>
          </a:xfrm>
          <a:prstGeom prst="rect">
            <a:avLst/>
          </a:prstGeom>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77E206F4-A283-4470-8B12-7B139ED7F664}"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4037FC10-CF67-4926-8ACA-8065D3399EFD}"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E1D3BA03-F923-405C-91F3-43FA9B7EB55D}"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7832BA58-C8C6-468D-BD0B-8AB0B234A064}"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B34D5B53-2585-4C52-A34D-DB0606E07792}"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808DF44E-5C36-4FC4-9D8B-76CA430057A1}"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74095BAC-CAD8-4DDB-B904-5A43333C8342}"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7F05850D-8ADB-4A15-8996-EAD6B3F5A632}"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ED14FCA6-A11F-415F-B7AA-C0D87632D5B0}"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165A0759-E51F-490F-853F-B23B992F8941}"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AC112968-CA00-4EA8-BA83-EF235BF04777}"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D7E4F195-C1D0-4089-911E-8BBA018965F8}"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44C35C8E-F1A1-4D7C-BC64-EFD7FCCC5B3E}"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6AE77FB0-9229-4D62-8C80-D7487CF2AF6C}"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CCE72D37-9BA0-41A5-A5C9-19EDC6F057D2}"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6F6C2BC3-D01B-479E-96DB-5C3D71D35112}"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3AF12134-6D33-403D-8EDD-FC128AB0C616}"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7DCBEEBF-E5DE-47F7-8DAF-3CC0FD054796}"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4B6E46CB-12BC-414B-84EB-4FE8749B63DC}"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52803FCD-B191-4909-BF72-89860A5040CE}"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5B3DA540-7E2A-47EB-A14A-4F0870A7A4CF}"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34F801B4-4F7B-481C-A179-4F199DCEB214}"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64E9E6DA-BF25-41F9-A903-4491C2F164AC}"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1D27516E-B8C8-4C8F-854B-30593643BE48}"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4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60F48E14-7B06-4DDF-BFEB-43842785F379}"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4"/>
          <p:cNvSpPr>
            <a:spLocks noChangeArrowheads="1"/>
          </p:cNvSpPr>
          <p:nvPr/>
        </p:nvSpPr>
        <p:spPr bwMode="auto">
          <a:xfrm>
            <a:off x="357188" y="2420938"/>
            <a:ext cx="8428037" cy="1666875"/>
          </a:xfrm>
          <a:prstGeom prst="rect">
            <a:avLst/>
          </a:prstGeom>
          <a:noFill/>
          <a:ln w="9525">
            <a:noFill/>
            <a:miter lim="800000"/>
            <a:headEnd/>
            <a:tailEnd/>
          </a:ln>
          <a:effectLst/>
        </p:spPr>
        <p:txBody>
          <a:bodyPr wrap="none">
            <a:spAutoFit/>
          </a:bodyPr>
          <a:lstStyle/>
          <a:p>
            <a:pPr algn="ctr"/>
            <a:r>
              <a:rPr lang="en-US" sz="3200">
                <a:solidFill>
                  <a:schemeClr val="bg1"/>
                </a:solidFill>
                <a:latin typeface="Arial Black" charset="0"/>
              </a:rPr>
              <a:t>INTEGRATED</a:t>
            </a:r>
            <a:r>
              <a:rPr lang="en-US" sz="3600">
                <a:solidFill>
                  <a:schemeClr val="bg1"/>
                </a:solidFill>
                <a:latin typeface="Arial Black" charset="0"/>
              </a:rPr>
              <a:t> </a:t>
            </a:r>
            <a:r>
              <a:rPr lang="en-US" sz="4400">
                <a:solidFill>
                  <a:schemeClr val="bg1"/>
                </a:solidFill>
                <a:latin typeface="Arial Black" charset="0"/>
              </a:rPr>
              <a:t>BRAND</a:t>
            </a:r>
            <a:r>
              <a:rPr lang="en-US" sz="3600">
                <a:solidFill>
                  <a:schemeClr val="bg1"/>
                </a:solidFill>
                <a:latin typeface="Arial Black" charset="0"/>
              </a:rPr>
              <a:t> </a:t>
            </a:r>
            <a:r>
              <a:rPr lang="en-US" sz="3200">
                <a:solidFill>
                  <a:schemeClr val="bg1"/>
                </a:solidFill>
                <a:latin typeface="Arial Black" charset="0"/>
              </a:rPr>
              <a:t>MARKETING</a:t>
            </a:r>
            <a:r>
              <a:rPr lang="en-US" sz="3600">
                <a:solidFill>
                  <a:schemeClr val="bg1"/>
                </a:solidFill>
                <a:latin typeface="Arial Black" charset="0"/>
              </a:rPr>
              <a:t/>
            </a:r>
            <a:br>
              <a:rPr lang="en-US" sz="3600">
                <a:solidFill>
                  <a:schemeClr val="bg1"/>
                </a:solidFill>
                <a:latin typeface="Arial Black" charset="0"/>
              </a:rPr>
            </a:br>
            <a:r>
              <a:rPr lang="en-US" sz="3200">
                <a:solidFill>
                  <a:schemeClr val="bg1"/>
                </a:solidFill>
                <a:latin typeface="Arial Black" charset="0"/>
              </a:rPr>
              <a:t>INTERNAL LAUNCH</a:t>
            </a:r>
            <a:r>
              <a:rPr lang="en-US" sz="3600">
                <a:solidFill>
                  <a:schemeClr val="bg1"/>
                </a:solidFill>
                <a:latin typeface="Arial Black" charset="0"/>
              </a:rPr>
              <a:t> </a:t>
            </a:r>
            <a:r>
              <a:rPr lang="en-US" sz="4400">
                <a:solidFill>
                  <a:schemeClr val="bg1"/>
                </a:solidFill>
                <a:latin typeface="Arial Black" charset="0"/>
              </a:rPr>
              <a:t>PREVIEW</a:t>
            </a:r>
          </a:p>
        </p:txBody>
      </p:sp>
      <p:sp>
        <p:nvSpPr>
          <p:cNvPr id="3" name="Rectangle 5"/>
          <p:cNvSpPr>
            <a:spLocks noChangeArrowheads="1"/>
          </p:cNvSpPr>
          <p:nvPr/>
        </p:nvSpPr>
        <p:spPr bwMode="auto">
          <a:xfrm>
            <a:off x="3195638" y="4038600"/>
            <a:ext cx="2752725" cy="593725"/>
          </a:xfrm>
          <a:prstGeom prst="rect">
            <a:avLst/>
          </a:prstGeom>
          <a:noFill/>
          <a:ln w="9525">
            <a:noFill/>
            <a:miter lim="800000"/>
            <a:headEnd/>
            <a:tailEnd/>
          </a:ln>
          <a:effectLst/>
        </p:spPr>
        <p:txBody>
          <a:bodyPr wrap="none">
            <a:spAutoFit/>
          </a:bodyPr>
          <a:lstStyle/>
          <a:p>
            <a:pPr algn="ctr">
              <a:spcBef>
                <a:spcPct val="20000"/>
              </a:spcBef>
            </a:pPr>
            <a:r>
              <a:rPr lang="en-US" sz="2800" b="1">
                <a:solidFill>
                  <a:schemeClr val="bg1"/>
                </a:solidFill>
                <a:latin typeface="Arial Black" charset="0"/>
              </a:rPr>
              <a:t>March 2004</a:t>
            </a:r>
          </a:p>
        </p:txBody>
      </p:sp>
    </p:spTree>
    <p:extLst>
      <p:ext uri="{BB962C8B-B14F-4D97-AF65-F5344CB8AC3E}">
        <p14:creationId xmlns:p14="http://schemas.microsoft.com/office/powerpoint/2010/main" xmlns="" val="41495777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A3F71AC0-6234-41F7-93AE-E25A689CAEAE}" type="datetime4">
              <a:rPr lang="en-US" smtClean="0"/>
              <a:t>October 3, 2012</a:t>
            </a:fld>
            <a:endParaRPr lang="en-US"/>
          </a:p>
        </p:txBody>
      </p:sp>
      <p:sp>
        <p:nvSpPr>
          <p:cNvPr id="5"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6" name="Rectangle 6"/>
          <p:cNvSpPr>
            <a:spLocks noGrp="1" noChangeArrowheads="1"/>
          </p:cNvSpPr>
          <p:nvPr>
            <p:ph type="sldNum" sz="quarter" idx="12"/>
          </p:nvPr>
        </p:nvSpPr>
        <p:spPr>
          <a:ln/>
        </p:spPr>
        <p:txBody>
          <a:bodyPr/>
          <a:lstStyle>
            <a:lvl1pPr>
              <a:defRPr/>
            </a:lvl1pPr>
          </a:lstStyle>
          <a:p>
            <a:fld id="{7D4DDDEF-687D-4FCA-AE08-9FBE51DF5033}" type="slidenum">
              <a:rPr lang="en-US"/>
              <a:pPr/>
              <a:t>‹#›</a:t>
            </a:fld>
            <a:endParaRPr lang="en-US"/>
          </a:p>
        </p:txBody>
      </p:sp>
    </p:spTree>
    <p:extLst>
      <p:ext uri="{BB962C8B-B14F-4D97-AF65-F5344CB8AC3E}">
        <p14:creationId xmlns:p14="http://schemas.microsoft.com/office/powerpoint/2010/main" xmlns="" val="29586834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F3D355CC-9193-49BE-BE87-3DD9339F6259}" type="datetime4">
              <a:rPr lang="en-US" smtClean="0"/>
              <a:t>October 3, 2012</a:t>
            </a:fld>
            <a:endParaRPr lang="en-US"/>
          </a:p>
        </p:txBody>
      </p:sp>
      <p:sp>
        <p:nvSpPr>
          <p:cNvPr id="5"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6" name="Rectangle 6"/>
          <p:cNvSpPr>
            <a:spLocks noGrp="1" noChangeArrowheads="1"/>
          </p:cNvSpPr>
          <p:nvPr>
            <p:ph type="sldNum" sz="quarter" idx="12"/>
          </p:nvPr>
        </p:nvSpPr>
        <p:spPr>
          <a:ln/>
        </p:spPr>
        <p:txBody>
          <a:bodyPr/>
          <a:lstStyle>
            <a:lvl1pPr>
              <a:defRPr/>
            </a:lvl1pPr>
          </a:lstStyle>
          <a:p>
            <a:fld id="{A6C9936D-AC39-4105-AB02-4598CC3F7910}" type="slidenum">
              <a:rPr lang="en-US"/>
              <a:pPr/>
              <a:t>‹#›</a:t>
            </a:fld>
            <a:endParaRPr lang="en-US"/>
          </a:p>
        </p:txBody>
      </p:sp>
    </p:spTree>
    <p:extLst>
      <p:ext uri="{BB962C8B-B14F-4D97-AF65-F5344CB8AC3E}">
        <p14:creationId xmlns:p14="http://schemas.microsoft.com/office/powerpoint/2010/main" xmlns="" val="36477793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fld id="{DF122238-0A16-407D-92F4-147AA283C86E}" type="datetime4">
              <a:rPr lang="en-US" smtClean="0"/>
              <a:t>October 3, 2012</a:t>
            </a:fld>
            <a:endParaRPr lang="en-US"/>
          </a:p>
        </p:txBody>
      </p:sp>
      <p:sp>
        <p:nvSpPr>
          <p:cNvPr id="6"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7" name="Rectangle 6"/>
          <p:cNvSpPr>
            <a:spLocks noGrp="1" noChangeArrowheads="1"/>
          </p:cNvSpPr>
          <p:nvPr>
            <p:ph type="sldNum" sz="quarter" idx="12"/>
          </p:nvPr>
        </p:nvSpPr>
        <p:spPr>
          <a:ln/>
        </p:spPr>
        <p:txBody>
          <a:bodyPr/>
          <a:lstStyle>
            <a:lvl1pPr>
              <a:defRPr/>
            </a:lvl1pPr>
          </a:lstStyle>
          <a:p>
            <a:fld id="{3BFB6E24-4D83-4EB2-AF96-88E8F998F3AE}" type="slidenum">
              <a:rPr lang="en-US"/>
              <a:pPr/>
              <a:t>‹#›</a:t>
            </a:fld>
            <a:endParaRPr lang="en-US"/>
          </a:p>
        </p:txBody>
      </p:sp>
    </p:spTree>
    <p:extLst>
      <p:ext uri="{BB962C8B-B14F-4D97-AF65-F5344CB8AC3E}">
        <p14:creationId xmlns:p14="http://schemas.microsoft.com/office/powerpoint/2010/main" xmlns="" val="16409139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fld id="{9BBF5BBD-0B48-489F-A5C1-DAC4D3CCA07B}" type="datetime4">
              <a:rPr lang="en-US" smtClean="0"/>
              <a:t>October 3, 2012</a:t>
            </a:fld>
            <a:endParaRPr lang="en-US"/>
          </a:p>
        </p:txBody>
      </p:sp>
      <p:sp>
        <p:nvSpPr>
          <p:cNvPr id="8"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9" name="Rectangle 6"/>
          <p:cNvSpPr>
            <a:spLocks noGrp="1" noChangeArrowheads="1"/>
          </p:cNvSpPr>
          <p:nvPr>
            <p:ph type="sldNum" sz="quarter" idx="12"/>
          </p:nvPr>
        </p:nvSpPr>
        <p:spPr>
          <a:ln/>
        </p:spPr>
        <p:txBody>
          <a:bodyPr/>
          <a:lstStyle>
            <a:lvl1pPr>
              <a:defRPr/>
            </a:lvl1pPr>
          </a:lstStyle>
          <a:p>
            <a:fld id="{8D680242-ED46-4E7E-A0AA-8C6D209D6941}" type="slidenum">
              <a:rPr lang="en-US"/>
              <a:pPr/>
              <a:t>‹#›</a:t>
            </a:fld>
            <a:endParaRPr lang="en-US"/>
          </a:p>
        </p:txBody>
      </p:sp>
    </p:spTree>
    <p:extLst>
      <p:ext uri="{BB962C8B-B14F-4D97-AF65-F5344CB8AC3E}">
        <p14:creationId xmlns:p14="http://schemas.microsoft.com/office/powerpoint/2010/main" xmlns="" val="2482938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fld id="{C4FFCE1B-D82C-411F-A366-5A66FAA62BC3}" type="datetime4">
              <a:rPr lang="en-US" smtClean="0"/>
              <a:t>October 3, 2012</a:t>
            </a:fld>
            <a:endParaRPr lang="en-US"/>
          </a:p>
        </p:txBody>
      </p:sp>
      <p:sp>
        <p:nvSpPr>
          <p:cNvPr id="4"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5" name="Rectangle 6"/>
          <p:cNvSpPr>
            <a:spLocks noGrp="1" noChangeArrowheads="1"/>
          </p:cNvSpPr>
          <p:nvPr>
            <p:ph type="sldNum" sz="quarter" idx="12"/>
          </p:nvPr>
        </p:nvSpPr>
        <p:spPr>
          <a:ln/>
        </p:spPr>
        <p:txBody>
          <a:bodyPr/>
          <a:lstStyle>
            <a:lvl1pPr>
              <a:defRPr/>
            </a:lvl1pPr>
          </a:lstStyle>
          <a:p>
            <a:fld id="{3ACCCE47-071C-480F-86B5-83ED35ACB5DC}" type="slidenum">
              <a:rPr lang="en-US"/>
              <a:pPr/>
              <a:t>‹#›</a:t>
            </a:fld>
            <a:endParaRPr lang="en-US"/>
          </a:p>
        </p:txBody>
      </p:sp>
    </p:spTree>
    <p:extLst>
      <p:ext uri="{BB962C8B-B14F-4D97-AF65-F5344CB8AC3E}">
        <p14:creationId xmlns:p14="http://schemas.microsoft.com/office/powerpoint/2010/main" xmlns="" val="4000667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1816F2BA-CDA4-44F5-A5CD-BAA07E7F893E}" type="datetime4">
              <a:rPr lang="en-US" smtClean="0"/>
              <a:t>October 3, 2012</a:t>
            </a:fld>
            <a:endParaRPr lang="en-US"/>
          </a:p>
        </p:txBody>
      </p:sp>
      <p:sp>
        <p:nvSpPr>
          <p:cNvPr id="3"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4" name="Rectangle 6"/>
          <p:cNvSpPr>
            <a:spLocks noGrp="1" noChangeArrowheads="1"/>
          </p:cNvSpPr>
          <p:nvPr>
            <p:ph type="sldNum" sz="quarter" idx="12"/>
          </p:nvPr>
        </p:nvSpPr>
        <p:spPr>
          <a:ln/>
        </p:spPr>
        <p:txBody>
          <a:bodyPr/>
          <a:lstStyle>
            <a:lvl1pPr>
              <a:defRPr/>
            </a:lvl1pPr>
          </a:lstStyle>
          <a:p>
            <a:fld id="{75666D59-B743-49FE-89C9-A05B35A757FA}" type="slidenum">
              <a:rPr lang="en-US"/>
              <a:pPr/>
              <a:t>‹#›</a:t>
            </a:fld>
            <a:endParaRPr lang="en-US"/>
          </a:p>
        </p:txBody>
      </p:sp>
    </p:spTree>
    <p:extLst>
      <p:ext uri="{BB962C8B-B14F-4D97-AF65-F5344CB8AC3E}">
        <p14:creationId xmlns:p14="http://schemas.microsoft.com/office/powerpoint/2010/main" xmlns="" val="3772397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EF1DA89-1431-45A7-8F0A-F0E152F6A12D}" type="datetime4">
              <a:rPr lang="en-US" smtClean="0"/>
              <a:t>October 3, 2012</a:t>
            </a:fld>
            <a:endParaRPr lang="en-US"/>
          </a:p>
        </p:txBody>
      </p:sp>
      <p:sp>
        <p:nvSpPr>
          <p:cNvPr id="6"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7" name="Rectangle 6"/>
          <p:cNvSpPr>
            <a:spLocks noGrp="1" noChangeArrowheads="1"/>
          </p:cNvSpPr>
          <p:nvPr>
            <p:ph type="sldNum" sz="quarter" idx="12"/>
          </p:nvPr>
        </p:nvSpPr>
        <p:spPr>
          <a:ln/>
        </p:spPr>
        <p:txBody>
          <a:bodyPr/>
          <a:lstStyle>
            <a:lvl1pPr>
              <a:defRPr/>
            </a:lvl1pPr>
          </a:lstStyle>
          <a:p>
            <a:fld id="{1BB3B5A4-6DFB-42C4-A65A-A73F571B3ED4}" type="slidenum">
              <a:rPr lang="en-US"/>
              <a:pPr/>
              <a:t>‹#›</a:t>
            </a:fld>
            <a:endParaRPr lang="en-US"/>
          </a:p>
        </p:txBody>
      </p:sp>
    </p:spTree>
    <p:extLst>
      <p:ext uri="{BB962C8B-B14F-4D97-AF65-F5344CB8AC3E}">
        <p14:creationId xmlns:p14="http://schemas.microsoft.com/office/powerpoint/2010/main" xmlns="" val="19404249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0BC491FF-4AC2-423A-9E80-6F9DE7406CAB}" type="datetime4">
              <a:rPr lang="en-US" smtClean="0"/>
              <a:t>October 3, 2012</a:t>
            </a:fld>
            <a:endParaRPr lang="en-US"/>
          </a:p>
        </p:txBody>
      </p:sp>
      <p:sp>
        <p:nvSpPr>
          <p:cNvPr id="6"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7" name="Rectangle 6"/>
          <p:cNvSpPr>
            <a:spLocks noGrp="1" noChangeArrowheads="1"/>
          </p:cNvSpPr>
          <p:nvPr>
            <p:ph type="sldNum" sz="quarter" idx="12"/>
          </p:nvPr>
        </p:nvSpPr>
        <p:spPr>
          <a:ln/>
        </p:spPr>
        <p:txBody>
          <a:bodyPr/>
          <a:lstStyle>
            <a:lvl1pPr>
              <a:defRPr/>
            </a:lvl1pPr>
          </a:lstStyle>
          <a:p>
            <a:fld id="{E4F85138-702A-46BD-A538-F6A6E5663472}" type="slidenum">
              <a:rPr lang="en-US"/>
              <a:pPr/>
              <a:t>‹#›</a:t>
            </a:fld>
            <a:endParaRPr lang="en-US"/>
          </a:p>
        </p:txBody>
      </p:sp>
    </p:spTree>
    <p:extLst>
      <p:ext uri="{BB962C8B-B14F-4D97-AF65-F5344CB8AC3E}">
        <p14:creationId xmlns:p14="http://schemas.microsoft.com/office/powerpoint/2010/main" xmlns="" val="2203823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7773CADA-CFD7-4048-AF07-F7FCF10CBA4F}" type="datetime4">
              <a:rPr lang="en-US" smtClean="0"/>
              <a:t>October 3, 2012</a:t>
            </a:fld>
            <a:endParaRPr lang="en-US"/>
          </a:p>
        </p:txBody>
      </p:sp>
      <p:sp>
        <p:nvSpPr>
          <p:cNvPr id="5"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6" name="Rectangle 6"/>
          <p:cNvSpPr>
            <a:spLocks noGrp="1" noChangeArrowheads="1"/>
          </p:cNvSpPr>
          <p:nvPr>
            <p:ph type="sldNum" sz="quarter" idx="12"/>
          </p:nvPr>
        </p:nvSpPr>
        <p:spPr>
          <a:ln/>
        </p:spPr>
        <p:txBody>
          <a:bodyPr/>
          <a:lstStyle>
            <a:lvl1pPr>
              <a:defRPr/>
            </a:lvl1pPr>
          </a:lstStyle>
          <a:p>
            <a:fld id="{7515315C-B95B-42EB-A0BB-380DCB084BCE}" type="slidenum">
              <a:rPr lang="en-US"/>
              <a:pPr/>
              <a:t>‹#›</a:t>
            </a:fld>
            <a:endParaRPr lang="en-US"/>
          </a:p>
        </p:txBody>
      </p:sp>
    </p:spTree>
    <p:extLst>
      <p:ext uri="{BB962C8B-B14F-4D97-AF65-F5344CB8AC3E}">
        <p14:creationId xmlns:p14="http://schemas.microsoft.com/office/powerpoint/2010/main" xmlns="" val="4358413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8213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04800"/>
            <a:ext cx="6019800" cy="58213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A0A7BFAD-4A90-4169-8AFF-492B347286BF}" type="datetime4">
              <a:rPr lang="en-US" smtClean="0"/>
              <a:t>October 3, 2012</a:t>
            </a:fld>
            <a:endParaRPr lang="en-US"/>
          </a:p>
        </p:txBody>
      </p:sp>
      <p:sp>
        <p:nvSpPr>
          <p:cNvPr id="5" name="Rectangle 5"/>
          <p:cNvSpPr>
            <a:spLocks noGrp="1" noChangeArrowheads="1"/>
          </p:cNvSpPr>
          <p:nvPr>
            <p:ph type="ftr" sz="quarter" idx="11"/>
          </p:nvPr>
        </p:nvSpPr>
        <p:spPr>
          <a:ln/>
        </p:spPr>
        <p:txBody>
          <a:bodyPr/>
          <a:lstStyle>
            <a:lvl1pPr>
              <a:defRPr/>
            </a:lvl1pPr>
          </a:lstStyle>
          <a:p>
            <a:r>
              <a:rPr lang="pl-PL" smtClean="0"/>
              <a:t>TESL 2012: Shazia Nawaz Awan</a:t>
            </a:r>
            <a:endParaRPr lang="en-US"/>
          </a:p>
        </p:txBody>
      </p:sp>
      <p:sp>
        <p:nvSpPr>
          <p:cNvPr id="6" name="Rectangle 6"/>
          <p:cNvSpPr>
            <a:spLocks noGrp="1" noChangeArrowheads="1"/>
          </p:cNvSpPr>
          <p:nvPr>
            <p:ph type="sldNum" sz="quarter" idx="12"/>
          </p:nvPr>
        </p:nvSpPr>
        <p:spPr>
          <a:ln/>
        </p:spPr>
        <p:txBody>
          <a:bodyPr/>
          <a:lstStyle>
            <a:lvl1pPr>
              <a:defRPr/>
            </a:lvl1pPr>
          </a:lstStyle>
          <a:p>
            <a:fld id="{9F0BA28F-A563-4C97-B04A-1FEDD74ED446}" type="slidenum">
              <a:rPr lang="en-US"/>
              <a:pPr/>
              <a:t>‹#›</a:t>
            </a:fld>
            <a:endParaRPr lang="en-US"/>
          </a:p>
        </p:txBody>
      </p:sp>
    </p:spTree>
    <p:extLst>
      <p:ext uri="{BB962C8B-B14F-4D97-AF65-F5344CB8AC3E}">
        <p14:creationId xmlns:p14="http://schemas.microsoft.com/office/powerpoint/2010/main" xmlns="" val="6274022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a:prstGeom prst="rect">
            <a:avLst/>
          </a:prstGeo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a:xfrm>
            <a:off x="685800" y="6248400"/>
            <a:ext cx="2133600" cy="476250"/>
          </a:xfrm>
          <a:prstGeom prst="rect">
            <a:avLst/>
          </a:prstGeom>
        </p:spPr>
        <p:txBody>
          <a:bodyPr/>
          <a:lstStyle>
            <a:extLst/>
          </a:lstStyle>
          <a:p>
            <a:fld id="{6519E911-6A3E-44A0-8D3B-11DF20312A9F}" type="datetime4">
              <a:rPr lang="en-US" smtClean="0"/>
              <a:t>October 3, 2012</a:t>
            </a:fld>
            <a:endParaRPr lang="en-US" dirty="0"/>
          </a:p>
        </p:txBody>
      </p:sp>
      <p:sp>
        <p:nvSpPr>
          <p:cNvPr id="20" name="Footer Placeholder 19"/>
          <p:cNvSpPr>
            <a:spLocks noGrp="1"/>
          </p:cNvSpPr>
          <p:nvPr>
            <p:ph type="ftr" sz="quarter" idx="11"/>
          </p:nvPr>
        </p:nvSpPr>
        <p:spPr>
          <a:xfrm>
            <a:off x="3048000" y="6248400"/>
            <a:ext cx="2895600" cy="476250"/>
          </a:xfrm>
          <a:prstGeom prst="rect">
            <a:avLst/>
          </a:prstGeom>
        </p:spPr>
        <p:txBody>
          <a:bodyPr/>
          <a:lstStyle>
            <a:extLst/>
          </a:lstStyle>
          <a:p>
            <a:r>
              <a:rPr lang="pl-PL" smtClean="0"/>
              <a:t>TESL 2012: Shazia Nawaz Awan</a:t>
            </a:r>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990600" y="6248400"/>
            <a:ext cx="2133600" cy="476250"/>
          </a:xfrm>
          <a:prstGeom prst="rect">
            <a:avLst/>
          </a:prstGeom>
        </p:spPr>
        <p:txBody>
          <a:bodyPr/>
          <a:lstStyle/>
          <a:p>
            <a:fld id="{0A4512AF-E772-4B73-B952-CEF3E35F7782}" type="datetime4">
              <a:rPr lang="en-US" smtClean="0"/>
              <a:t>October 3, 2012</a:t>
            </a:fld>
            <a:endParaRPr lang="en-US"/>
          </a:p>
        </p:txBody>
      </p:sp>
      <p:sp>
        <p:nvSpPr>
          <p:cNvPr id="5" name="Footer Placeholder 4"/>
          <p:cNvSpPr>
            <a:spLocks noGrp="1"/>
          </p:cNvSpPr>
          <p:nvPr>
            <p:ph type="ftr" sz="quarter" idx="11"/>
          </p:nvPr>
        </p:nvSpPr>
        <p:spPr>
          <a:xfrm>
            <a:off x="3352800" y="624840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2"/>
          <p:cNvSpPr>
            <a:spLocks noGrp="1"/>
          </p:cNvSpPr>
          <p:nvPr>
            <p:ph type="dt" sz="half" idx="10"/>
          </p:nvPr>
        </p:nvSpPr>
        <p:spPr/>
        <p:txBody>
          <a:bodyPr/>
          <a:lstStyle/>
          <a:p>
            <a:fld id="{C17EA7AC-CE7F-41AA-8F67-EB65FA83792D}" type="datetime4">
              <a:rPr lang="en-US" smtClean="0"/>
              <a:t>October 3, 2012</a:t>
            </a:fld>
            <a:endParaRPr lang="en-US"/>
          </a:p>
        </p:txBody>
      </p:sp>
      <p:sp>
        <p:nvSpPr>
          <p:cNvPr id="4" name="Footer Placeholder 3"/>
          <p:cNvSpPr>
            <a:spLocks noGrp="1"/>
          </p:cNvSpPr>
          <p:nvPr>
            <p:ph type="ftr" sz="quarter" idx="11"/>
          </p:nvPr>
        </p:nvSpPr>
        <p:spPr/>
        <p:txBody>
          <a:bodyPr/>
          <a:lstStyle/>
          <a:p>
            <a:r>
              <a:rPr lang="pl-PL" smtClean="0"/>
              <a:t>TESL 2012: Shazia Nawaz Awan</a:t>
            </a:r>
            <a:endParaRPr lang="en-US"/>
          </a:p>
        </p:txBody>
      </p:sp>
      <p:sp>
        <p:nvSpPr>
          <p:cNvPr id="5" name="Slide Number Placeholder 4"/>
          <p:cNvSpPr>
            <a:spLocks noGrp="1"/>
          </p:cNvSpPr>
          <p:nvPr>
            <p:ph type="sldNum" sz="quarter" idx="12"/>
          </p:nvPr>
        </p:nvSpPr>
        <p:spPr/>
        <p:txBody>
          <a:bodyPr/>
          <a:lstStyle/>
          <a:p>
            <a:fld id="{BACF41C5-A9EE-4E1C-9AC2-2F716C6CCE9F}" type="slidenum">
              <a:rPr lang="en-US" smtClean="0"/>
              <a:pPr/>
              <a:t>‹#›</a:t>
            </a:fld>
            <a:endParaRPr lang="en-US"/>
          </a:p>
        </p:txBody>
      </p:sp>
    </p:spTree>
    <p:extLst>
      <p:ext uri="{BB962C8B-B14F-4D97-AF65-F5344CB8AC3E}">
        <p14:creationId xmlns:p14="http://schemas.microsoft.com/office/powerpoint/2010/main" xmlns="" val="14350213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1219200" y="6248400"/>
            <a:ext cx="2133600" cy="476250"/>
          </a:xfrm>
          <a:prstGeom prst="rect">
            <a:avLst/>
          </a:prstGeom>
        </p:spPr>
        <p:txBody>
          <a:bodyPr/>
          <a:lstStyle/>
          <a:p>
            <a:fld id="{BE0C15F6-0CD5-4A5B-8A12-EEF555603962}" type="datetime4">
              <a:rPr lang="en-US" smtClean="0"/>
              <a:t>October 3, 2012</a:t>
            </a:fld>
            <a:endParaRPr lang="en-US"/>
          </a:p>
        </p:txBody>
      </p:sp>
      <p:sp>
        <p:nvSpPr>
          <p:cNvPr id="5" name="Footer Placeholder 4"/>
          <p:cNvSpPr>
            <a:spLocks noGrp="1"/>
          </p:cNvSpPr>
          <p:nvPr>
            <p:ph type="ftr" sz="quarter" idx="11"/>
          </p:nvPr>
        </p:nvSpPr>
        <p:spPr>
          <a:xfrm>
            <a:off x="3657600" y="624840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Tree>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13E54D47-8B5D-4D46-8239-C45F7DA81B64}"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23FFE1D4-EF99-4846-92DE-2FFB8E15CEC0}"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C128C4C2-DE0E-4F1C-880B-75D5E36688EC}"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ED3602F4-DE75-4213-9BDD-270948C92028}"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4976DAC4-D5A0-4245-A6CB-1A376E99BAF4}"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1F029D34-FF1A-4687-ACF2-C3BCCD19536D}"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76B1F8C5-BCDC-4053-AA8E-C43532A077B0}"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DC7777DE-E616-42D1-91CB-A7161336FBDD}"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882C32FD-7E8A-471E-A5C1-CDA0EC5CAC6B}"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E5BE1EA6-D7EA-4E25-9A2F-B6D7057282E1}"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66822EFE-6246-4329-B0DA-C4284F9BF2BD}"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4B61297E-864A-4FEE-893A-69288D91A34C}"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AC596780-2909-4B7D-89F7-1B9F9F742C56}"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70B7FDF5-5B7D-48C2-BDD2-9F25322B77D6}"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6949070D-05C3-4921-9585-C70260D5A099}"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A5F9344C-0A08-48D8-90D8-0FE5D4599EF3}"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EAA70411-6A1E-4387-940D-BB0173A5F733}"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EA29BBC2-4CCF-495D-83E5-ABA161F45794}"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3581400" y="6305550"/>
            <a:ext cx="2133600" cy="476250"/>
          </a:xfrm>
          <a:prstGeom prst="rect">
            <a:avLst/>
          </a:prstGeom>
        </p:spPr>
        <p:txBody>
          <a:bodyPr/>
          <a:lstStyle/>
          <a:p>
            <a:fld id="{EF939485-DC4A-4561-B2F0-786CF3B97C58}" type="datetime4">
              <a:rPr lang="en-US" smtClean="0"/>
              <a:t>October 3, 2012</a:t>
            </a:fld>
            <a:endParaRPr lang="en-US"/>
          </a:p>
        </p:txBody>
      </p:sp>
      <p:sp>
        <p:nvSpPr>
          <p:cNvPr id="5" name="Footer Placeholder 4"/>
          <p:cNvSpPr>
            <a:spLocks noGrp="1"/>
          </p:cNvSpPr>
          <p:nvPr>
            <p:ph type="ftr" sz="quarter" idx="11"/>
          </p:nvPr>
        </p:nvSpPr>
        <p:spPr>
          <a:xfrm>
            <a:off x="5715000" y="630555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4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838200" y="6096000"/>
            <a:ext cx="2133600" cy="476250"/>
          </a:xfrm>
          <a:prstGeom prst="rect">
            <a:avLst/>
          </a:prstGeom>
        </p:spPr>
        <p:txBody>
          <a:bodyPr/>
          <a:lstStyle/>
          <a:p>
            <a:fld id="{35452D39-92EA-4651-9BD4-347E1F509857}" type="datetime4">
              <a:rPr lang="en-US" smtClean="0"/>
              <a:t>October 3, 2012</a:t>
            </a:fld>
            <a:endParaRPr lang="en-US"/>
          </a:p>
        </p:txBody>
      </p:sp>
      <p:sp>
        <p:nvSpPr>
          <p:cNvPr id="5" name="Footer Placeholder 4"/>
          <p:cNvSpPr>
            <a:spLocks noGrp="1"/>
          </p:cNvSpPr>
          <p:nvPr>
            <p:ph type="ftr" sz="quarter" idx="11"/>
          </p:nvPr>
        </p:nvSpPr>
        <p:spPr>
          <a:xfrm>
            <a:off x="3200400" y="6096000"/>
            <a:ext cx="2895600" cy="476250"/>
          </a:xfrm>
          <a:prstGeom prst="rect">
            <a:avLst/>
          </a:prstGeom>
        </p:spPr>
        <p:txBody>
          <a:bodyPr/>
          <a:lstStyle/>
          <a:p>
            <a:r>
              <a:rPr lang="pl-PL" smtClean="0"/>
              <a:t>TESL 2012: Shazia Nawaz Awan</a:t>
            </a:r>
            <a:endParaRPr lang="en-US"/>
          </a:p>
        </p:txBody>
      </p:sp>
      <p:sp>
        <p:nvSpPr>
          <p:cNvPr id="6" name="Slide Number Placeholder 5"/>
          <p:cNvSpPr>
            <a:spLocks noGrp="1"/>
          </p:cNvSpPr>
          <p:nvPr>
            <p:ph type="sldNum" sz="quarter" idx="12"/>
          </p:nvPr>
        </p:nvSpPr>
        <p:spPr>
          <a:xfrm>
            <a:off x="8613648" y="6305550"/>
            <a:ext cx="457200" cy="476250"/>
          </a:xfrm>
          <a:prstGeom prst="rect">
            <a:avLst/>
          </a:prstGeo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slideLayout" Target="../slideLayouts/slideLayout63.xml"/><Relationship Id="rId39" Type="http://schemas.openxmlformats.org/officeDocument/2006/relationships/image" Target="../media/image5.png"/><Relationship Id="rId3" Type="http://schemas.openxmlformats.org/officeDocument/2006/relationships/slideLayout" Target="../slideLayouts/slideLayout40.xml"/><Relationship Id="rId21" Type="http://schemas.openxmlformats.org/officeDocument/2006/relationships/slideLayout" Target="../slideLayouts/slideLayout58.xml"/><Relationship Id="rId34" Type="http://schemas.openxmlformats.org/officeDocument/2006/relationships/slideLayout" Target="../slideLayouts/slideLayout71.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33" Type="http://schemas.openxmlformats.org/officeDocument/2006/relationships/slideLayout" Target="../slideLayouts/slideLayout70.xml"/><Relationship Id="rId38" Type="http://schemas.openxmlformats.org/officeDocument/2006/relationships/image" Target="../media/image4.jpeg"/><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29" Type="http://schemas.openxmlformats.org/officeDocument/2006/relationships/slideLayout" Target="../slideLayouts/slideLayout66.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32" Type="http://schemas.openxmlformats.org/officeDocument/2006/relationships/slideLayout" Target="../slideLayouts/slideLayout69.xml"/><Relationship Id="rId37" Type="http://schemas.openxmlformats.org/officeDocument/2006/relationships/theme" Target="../theme/theme2.xml"/><Relationship Id="rId40" Type="http://schemas.openxmlformats.org/officeDocument/2006/relationships/image" Target="../media/image6.png"/><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28" Type="http://schemas.openxmlformats.org/officeDocument/2006/relationships/slideLayout" Target="../slideLayouts/slideLayout65.xml"/><Relationship Id="rId36" Type="http://schemas.openxmlformats.org/officeDocument/2006/relationships/slideLayout" Target="../slideLayouts/slideLayout73.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31" Type="http://schemas.openxmlformats.org/officeDocument/2006/relationships/slideLayout" Target="../slideLayouts/slideLayout68.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 Id="rId27" Type="http://schemas.openxmlformats.org/officeDocument/2006/relationships/slideLayout" Target="../slideLayouts/slideLayout64.xml"/><Relationship Id="rId30" Type="http://schemas.openxmlformats.org/officeDocument/2006/relationships/slideLayout" Target="../slideLayouts/slideLayout67.xml"/><Relationship Id="rId35"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tx1"/>
            </a:gs>
            <a:gs pos="50000">
              <a:srgbClr val="EBA303"/>
            </a:gs>
            <a:gs pos="100000">
              <a:schemeClr val="tx1"/>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590800"/>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pic>
        <p:nvPicPr>
          <p:cNvPr id="1027" name="Picture 5" descr="04 DalLogoRev.eps"/>
          <p:cNvPicPr>
            <a:picLocks noChangeAspect="1"/>
          </p:cNvPicPr>
          <p:nvPr/>
        </p:nvPicPr>
        <p:blipFill>
          <a:blip r:embed="rId39" cstate="print">
            <a:extLst>
              <a:ext uri="{28A0092B-C50C-407E-A947-70E740481C1C}">
                <a14:useLocalDpi xmlns:a14="http://schemas.microsoft.com/office/drawing/2010/main" xmlns="" val="0"/>
              </a:ext>
            </a:extLst>
          </a:blip>
          <a:srcRect/>
          <a:stretch>
            <a:fillRect/>
          </a:stretch>
        </p:blipFill>
        <p:spPr bwMode="auto">
          <a:xfrm>
            <a:off x="6248400" y="5500688"/>
            <a:ext cx="2597150" cy="841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2"/>
          <p:cNvPicPr>
            <a:picLocks noChangeAspect="1" noChangeArrowheads="1"/>
          </p:cNvPicPr>
          <p:nvPr userDrawn="1"/>
        </p:nvPicPr>
        <p:blipFill>
          <a:blip r:embed="rId40" cstate="print">
            <a:extLst>
              <a:ext uri="{28A0092B-C50C-407E-A947-70E740481C1C}">
                <a14:useLocalDpi xmlns:a14="http://schemas.microsoft.com/office/drawing/2010/main" xmlns="" val="0"/>
              </a:ext>
            </a:extLst>
          </a:blip>
          <a:srcRect/>
          <a:stretch>
            <a:fillRect/>
          </a:stretch>
        </p:blipFill>
        <p:spPr bwMode="auto">
          <a:xfrm>
            <a:off x="7162800" y="5423106"/>
            <a:ext cx="1524000" cy="6354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4822" r:id="rId1"/>
    <p:sldLayoutId id="2147484823" r:id="rId2"/>
    <p:sldLayoutId id="2147484824" r:id="rId3"/>
    <p:sldLayoutId id="2147484825" r:id="rId4"/>
    <p:sldLayoutId id="2147484826" r:id="rId5"/>
    <p:sldLayoutId id="2147484827" r:id="rId6"/>
    <p:sldLayoutId id="2147484828" r:id="rId7"/>
    <p:sldLayoutId id="2147484829" r:id="rId8"/>
    <p:sldLayoutId id="2147484830" r:id="rId9"/>
    <p:sldLayoutId id="2147484831" r:id="rId10"/>
    <p:sldLayoutId id="2147484832" r:id="rId11"/>
    <p:sldLayoutId id="2147484833" r:id="rId12"/>
    <p:sldLayoutId id="2147484834" r:id="rId13"/>
    <p:sldLayoutId id="2147484835" r:id="rId14"/>
    <p:sldLayoutId id="2147484836" r:id="rId15"/>
    <p:sldLayoutId id="2147484837" r:id="rId16"/>
    <p:sldLayoutId id="2147484838" r:id="rId17"/>
    <p:sldLayoutId id="2147484839" r:id="rId18"/>
    <p:sldLayoutId id="2147484840" r:id="rId19"/>
    <p:sldLayoutId id="2147484841" r:id="rId20"/>
    <p:sldLayoutId id="2147484842" r:id="rId21"/>
    <p:sldLayoutId id="2147484843" r:id="rId22"/>
    <p:sldLayoutId id="2147484844" r:id="rId23"/>
    <p:sldLayoutId id="2147484845" r:id="rId24"/>
    <p:sldLayoutId id="2147484846" r:id="rId25"/>
    <p:sldLayoutId id="2147484847" r:id="rId26"/>
    <p:sldLayoutId id="2147484848" r:id="rId27"/>
    <p:sldLayoutId id="2147484849" r:id="rId28"/>
    <p:sldLayoutId id="2147484850" r:id="rId29"/>
    <p:sldLayoutId id="2147484851" r:id="rId30"/>
    <p:sldLayoutId id="2147484852" r:id="rId31"/>
    <p:sldLayoutId id="2147484853" r:id="rId32"/>
    <p:sldLayoutId id="2147484854" r:id="rId33"/>
    <p:sldLayoutId id="2147484855" r:id="rId34"/>
    <p:sldLayoutId id="2147484856" r:id="rId35"/>
    <p:sldLayoutId id="2147484857" r:id="rId36"/>
    <p:sldLayoutId id="2147484858" r:id="rId37"/>
  </p:sldLayoutIdLst>
  <p:hf sldNum="0" hdr="0" ftr="0" dt="0"/>
  <p:txStyles>
    <p:titleStyle>
      <a:lvl1pPr algn="ctr" rtl="0" eaLnBrk="1" fontAlgn="base" hangingPunct="1">
        <a:spcBef>
          <a:spcPct val="0"/>
        </a:spcBef>
        <a:spcAft>
          <a:spcPct val="0"/>
        </a:spcAft>
        <a:defRPr sz="3600" b="1">
          <a:solidFill>
            <a:schemeClr val="tx2"/>
          </a:solidFill>
          <a:latin typeface="+mj-lt"/>
          <a:ea typeface="ＭＳ Ｐゴシック" charset="-128"/>
          <a:cs typeface="+mj-cs"/>
        </a:defRPr>
      </a:lvl1pPr>
      <a:lvl2pPr algn="ctr" rtl="0" eaLnBrk="1" fontAlgn="base" hangingPunct="1">
        <a:spcBef>
          <a:spcPct val="0"/>
        </a:spcBef>
        <a:spcAft>
          <a:spcPct val="0"/>
        </a:spcAft>
        <a:defRPr sz="3600" b="1">
          <a:solidFill>
            <a:schemeClr val="tx2"/>
          </a:solidFill>
          <a:latin typeface="Arial" charset="0"/>
          <a:ea typeface="ＭＳ Ｐゴシック" charset="-128"/>
        </a:defRPr>
      </a:lvl2pPr>
      <a:lvl3pPr algn="ctr" rtl="0" eaLnBrk="1" fontAlgn="base" hangingPunct="1">
        <a:spcBef>
          <a:spcPct val="0"/>
        </a:spcBef>
        <a:spcAft>
          <a:spcPct val="0"/>
        </a:spcAft>
        <a:defRPr sz="3600" b="1">
          <a:solidFill>
            <a:schemeClr val="tx2"/>
          </a:solidFill>
          <a:latin typeface="Arial" charset="0"/>
          <a:ea typeface="ＭＳ Ｐゴシック" charset="-128"/>
        </a:defRPr>
      </a:lvl3pPr>
      <a:lvl4pPr algn="ctr" rtl="0" eaLnBrk="1" fontAlgn="base" hangingPunct="1">
        <a:spcBef>
          <a:spcPct val="0"/>
        </a:spcBef>
        <a:spcAft>
          <a:spcPct val="0"/>
        </a:spcAft>
        <a:defRPr sz="3600" b="1">
          <a:solidFill>
            <a:schemeClr val="tx2"/>
          </a:solidFill>
          <a:latin typeface="Arial" charset="0"/>
          <a:ea typeface="ＭＳ Ｐゴシック" charset="-128"/>
        </a:defRPr>
      </a:lvl4pPr>
      <a:lvl5pPr algn="ctr" rtl="0" eaLnBrk="1" fontAlgn="base" hangingPunct="1">
        <a:spcBef>
          <a:spcPct val="0"/>
        </a:spcBef>
        <a:spcAft>
          <a:spcPct val="0"/>
        </a:spcAft>
        <a:defRPr sz="3600" b="1">
          <a:solidFill>
            <a:schemeClr val="tx2"/>
          </a:solidFill>
          <a:latin typeface="Arial" charset="0"/>
          <a:ea typeface="ＭＳ Ｐゴシック" charset="-128"/>
        </a:defRPr>
      </a:lvl5pPr>
      <a:lvl6pPr marL="457200" algn="ctr" rtl="0" eaLnBrk="1" fontAlgn="base" hangingPunct="1">
        <a:spcBef>
          <a:spcPct val="0"/>
        </a:spcBef>
        <a:spcAft>
          <a:spcPct val="0"/>
        </a:spcAft>
        <a:defRPr sz="3600" b="1">
          <a:solidFill>
            <a:schemeClr val="tx2"/>
          </a:solidFill>
          <a:latin typeface="Arial" charset="0"/>
        </a:defRPr>
      </a:lvl6pPr>
      <a:lvl7pPr marL="914400" algn="ctr" rtl="0" eaLnBrk="1" fontAlgn="base" hangingPunct="1">
        <a:spcBef>
          <a:spcPct val="0"/>
        </a:spcBef>
        <a:spcAft>
          <a:spcPct val="0"/>
        </a:spcAft>
        <a:defRPr sz="3600" b="1">
          <a:solidFill>
            <a:schemeClr val="tx2"/>
          </a:solidFill>
          <a:latin typeface="Arial" charset="0"/>
        </a:defRPr>
      </a:lvl7pPr>
      <a:lvl8pPr marL="1371600" algn="ctr" rtl="0" eaLnBrk="1" fontAlgn="base" hangingPunct="1">
        <a:spcBef>
          <a:spcPct val="0"/>
        </a:spcBef>
        <a:spcAft>
          <a:spcPct val="0"/>
        </a:spcAft>
        <a:defRPr sz="3600" b="1">
          <a:solidFill>
            <a:schemeClr val="tx2"/>
          </a:solidFill>
          <a:latin typeface="Arial" charset="0"/>
        </a:defRPr>
      </a:lvl8pPr>
      <a:lvl9pPr marL="1828800" algn="ctr" rtl="0" eaLnBrk="1" fontAlgn="base" hangingPunct="1">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128"/>
          <a:cs typeface="+mn-cs"/>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457200" y="304800"/>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3315"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373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fld id="{1EB41C43-2DCB-444E-BD49-FF72FE5347DE}" type="datetime4">
              <a:rPr lang="en-US" smtClean="0"/>
              <a:t>October 3, 2012</a:t>
            </a:fld>
            <a:endParaRPr lang="en-US"/>
          </a:p>
        </p:txBody>
      </p:sp>
      <p:sp>
        <p:nvSpPr>
          <p:cNvPr id="7373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r>
              <a:rPr lang="pl-PL" smtClean="0"/>
              <a:t>TESL 2012: Shazia Nawaz Awan</a:t>
            </a:r>
            <a:endParaRPr lang="en-US"/>
          </a:p>
        </p:txBody>
      </p:sp>
      <p:sp>
        <p:nvSpPr>
          <p:cNvPr id="7373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ACF41C5-A9EE-4E1C-9AC2-2F716C6CCE9F}" type="slidenum">
              <a:rPr lang="en-US"/>
              <a:pPr/>
              <a:t>‹#›</a:t>
            </a:fld>
            <a:endParaRPr lang="en-US"/>
          </a:p>
        </p:txBody>
      </p:sp>
      <p:sp>
        <p:nvSpPr>
          <p:cNvPr id="73735" name="Rectangle 7"/>
          <p:cNvSpPr>
            <a:spLocks noChangeArrowheads="1"/>
          </p:cNvSpPr>
          <p:nvPr/>
        </p:nvSpPr>
        <p:spPr bwMode="auto">
          <a:xfrm rot="10800000" flipH="1" flipV="1">
            <a:off x="0" y="0"/>
            <a:ext cx="9144000" cy="685800"/>
          </a:xfrm>
          <a:prstGeom prst="rect">
            <a:avLst/>
          </a:prstGeom>
          <a:gradFill rotWithShape="0">
            <a:gsLst>
              <a:gs pos="0">
                <a:srgbClr val="EBA303">
                  <a:alpha val="49001"/>
                </a:srgbClr>
              </a:gs>
              <a:gs pos="100000">
                <a:schemeClr val="bg1">
                  <a:alpha val="0"/>
                </a:schemeClr>
              </a:gs>
            </a:gsLst>
            <a:lin ang="5400000" scaled="1"/>
          </a:gradFill>
          <a:ln w="9525">
            <a:noFill/>
            <a:miter lim="800000"/>
            <a:headEnd/>
            <a:tailEnd/>
          </a:ln>
          <a:effectLst/>
        </p:spPr>
        <p:txBody>
          <a:bodyPr wrap="none" anchor="ctr"/>
          <a:lstStyle/>
          <a:p>
            <a:endParaRPr lang="en-US"/>
          </a:p>
        </p:txBody>
      </p:sp>
      <p:sp>
        <p:nvSpPr>
          <p:cNvPr id="73736" name="Freeform 8"/>
          <p:cNvSpPr>
            <a:spLocks/>
          </p:cNvSpPr>
          <p:nvPr/>
        </p:nvSpPr>
        <p:spPr bwMode="ltGray">
          <a:xfrm rot="10800000" flipH="1">
            <a:off x="0" y="5715000"/>
            <a:ext cx="6629400" cy="1143000"/>
          </a:xfrm>
          <a:custGeom>
            <a:avLst/>
            <a:gdLst/>
            <a:ahLst/>
            <a:cxnLst>
              <a:cxn ang="0">
                <a:pos x="2" y="0"/>
              </a:cxn>
              <a:cxn ang="0">
                <a:pos x="0" y="1145"/>
              </a:cxn>
              <a:cxn ang="0">
                <a:pos x="5683" y="510"/>
              </a:cxn>
              <a:cxn ang="0">
                <a:pos x="5394" y="3"/>
              </a:cxn>
              <a:cxn ang="0">
                <a:pos x="2" y="0"/>
              </a:cxn>
            </a:cxnLst>
            <a:rect l="0" t="0" r="r" b="b"/>
            <a:pathLst>
              <a:path w="5683" h="1145">
                <a:moveTo>
                  <a:pt x="2" y="0"/>
                </a:moveTo>
                <a:lnTo>
                  <a:pt x="0" y="1145"/>
                </a:lnTo>
                <a:lnTo>
                  <a:pt x="5683" y="510"/>
                </a:lnTo>
                <a:lnTo>
                  <a:pt x="5394" y="3"/>
                </a:lnTo>
                <a:lnTo>
                  <a:pt x="2" y="0"/>
                </a:lnTo>
                <a:close/>
              </a:path>
            </a:pathLst>
          </a:custGeom>
          <a:gradFill rotWithShape="1">
            <a:gsLst>
              <a:gs pos="0">
                <a:srgbClr val="EBA303">
                  <a:alpha val="49001"/>
                </a:srgbClr>
              </a:gs>
              <a:gs pos="100000">
                <a:schemeClr val="bg1">
                  <a:alpha val="50999"/>
                </a:schemeClr>
              </a:gs>
            </a:gsLst>
            <a:lin ang="18900000" scaled="1"/>
          </a:gradFill>
          <a:ln w="9525" cap="flat" cmpd="sng">
            <a:noFill/>
            <a:prstDash val="solid"/>
            <a:round/>
            <a:headEnd type="none" w="med" len="med"/>
            <a:tailEnd type="none" w="med" len="med"/>
          </a:ln>
          <a:effectLst/>
        </p:spPr>
        <p:txBody>
          <a:bodyPr/>
          <a:lstStyle/>
          <a:p>
            <a:endParaRPr lang="en-US"/>
          </a:p>
        </p:txBody>
      </p:sp>
      <p:pic>
        <p:nvPicPr>
          <p:cNvPr id="13321" name="Picture 11" descr="01 DalLogoB&amp;131.jpg                                            0006B284The Green Pearl                ABA78158:"/>
          <p:cNvPicPr>
            <a:picLocks noChangeAspect="1" noChangeArrowheads="1"/>
          </p:cNvPicPr>
          <p:nvPr/>
        </p:nvPicPr>
        <p:blipFill>
          <a:blip r:embed="rId38" cstate="print">
            <a:extLst>
              <a:ext uri="{28A0092B-C50C-407E-A947-70E740481C1C}">
                <a14:useLocalDpi xmlns:a14="http://schemas.microsoft.com/office/drawing/2010/main" xmlns="" val="0"/>
              </a:ext>
            </a:extLst>
          </a:blip>
          <a:srcRect/>
          <a:stretch>
            <a:fillRect/>
          </a:stretch>
        </p:blipFill>
        <p:spPr bwMode="auto">
          <a:xfrm>
            <a:off x="7086600" y="6172200"/>
            <a:ext cx="1600200" cy="571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60" r:id="rId1"/>
    <p:sldLayoutId id="2147484861" r:id="rId2"/>
    <p:sldLayoutId id="2147484862" r:id="rId3"/>
    <p:sldLayoutId id="2147484863" r:id="rId4"/>
    <p:sldLayoutId id="2147484864" r:id="rId5"/>
    <p:sldLayoutId id="2147484865" r:id="rId6"/>
    <p:sldLayoutId id="2147484866" r:id="rId7"/>
    <p:sldLayoutId id="2147484867" r:id="rId8"/>
    <p:sldLayoutId id="2147484868" r:id="rId9"/>
    <p:sldLayoutId id="2147484869" r:id="rId10"/>
    <p:sldLayoutId id="2147484870" r:id="rId11"/>
    <p:sldLayoutId id="2147484871" r:id="rId12"/>
    <p:sldLayoutId id="2147484872" r:id="rId13"/>
    <p:sldLayoutId id="2147484897" r:id="rId14"/>
    <p:sldLayoutId id="2147484874" r:id="rId15"/>
    <p:sldLayoutId id="2147484875" r:id="rId16"/>
    <p:sldLayoutId id="2147484876" r:id="rId17"/>
    <p:sldLayoutId id="2147484877" r:id="rId18"/>
    <p:sldLayoutId id="2147484878" r:id="rId19"/>
    <p:sldLayoutId id="2147484879" r:id="rId20"/>
    <p:sldLayoutId id="2147484880" r:id="rId21"/>
    <p:sldLayoutId id="2147484881" r:id="rId22"/>
    <p:sldLayoutId id="2147484882" r:id="rId23"/>
    <p:sldLayoutId id="2147484883" r:id="rId24"/>
    <p:sldLayoutId id="2147484884" r:id="rId25"/>
    <p:sldLayoutId id="2147484885" r:id="rId26"/>
    <p:sldLayoutId id="2147484886" r:id="rId27"/>
    <p:sldLayoutId id="2147484887" r:id="rId28"/>
    <p:sldLayoutId id="2147484888" r:id="rId29"/>
    <p:sldLayoutId id="2147484889" r:id="rId30"/>
    <p:sldLayoutId id="2147484890" r:id="rId31"/>
    <p:sldLayoutId id="2147484891" r:id="rId32"/>
    <p:sldLayoutId id="2147484892" r:id="rId33"/>
    <p:sldLayoutId id="2147484894" r:id="rId34"/>
    <p:sldLayoutId id="2147484895" r:id="rId35"/>
    <p:sldLayoutId id="2147484896" r:id="rId36"/>
  </p:sldLayoutIdLst>
  <p:hf sldNum="0" hdr="0" ftr="0" dt="0"/>
  <p:txStyles>
    <p:titleStyle>
      <a:lvl1pPr algn="ctr" rtl="0" eaLnBrk="1" fontAlgn="base" hangingPunct="1">
        <a:spcBef>
          <a:spcPct val="0"/>
        </a:spcBef>
        <a:spcAft>
          <a:spcPct val="0"/>
        </a:spcAft>
        <a:defRPr sz="3200" b="1">
          <a:solidFill>
            <a:schemeClr val="tx2"/>
          </a:solidFill>
          <a:latin typeface="+mj-lt"/>
          <a:ea typeface="ＭＳ Ｐゴシック" charset="-128"/>
          <a:cs typeface="+mj-cs"/>
        </a:defRPr>
      </a:lvl1pPr>
      <a:lvl2pPr algn="ctr" rtl="0" eaLnBrk="1" fontAlgn="base" hangingPunct="1">
        <a:spcBef>
          <a:spcPct val="0"/>
        </a:spcBef>
        <a:spcAft>
          <a:spcPct val="0"/>
        </a:spcAft>
        <a:defRPr sz="3200" b="1">
          <a:solidFill>
            <a:schemeClr val="tx2"/>
          </a:solidFill>
          <a:latin typeface="Arial Narrow" charset="0"/>
          <a:ea typeface="ＭＳ Ｐゴシック" charset="-128"/>
        </a:defRPr>
      </a:lvl2pPr>
      <a:lvl3pPr algn="ctr" rtl="0" eaLnBrk="1" fontAlgn="base" hangingPunct="1">
        <a:spcBef>
          <a:spcPct val="0"/>
        </a:spcBef>
        <a:spcAft>
          <a:spcPct val="0"/>
        </a:spcAft>
        <a:defRPr sz="3200" b="1">
          <a:solidFill>
            <a:schemeClr val="tx2"/>
          </a:solidFill>
          <a:latin typeface="Arial Narrow" charset="0"/>
          <a:ea typeface="ＭＳ Ｐゴシック" charset="-128"/>
        </a:defRPr>
      </a:lvl3pPr>
      <a:lvl4pPr algn="ctr" rtl="0" eaLnBrk="1" fontAlgn="base" hangingPunct="1">
        <a:spcBef>
          <a:spcPct val="0"/>
        </a:spcBef>
        <a:spcAft>
          <a:spcPct val="0"/>
        </a:spcAft>
        <a:defRPr sz="3200" b="1">
          <a:solidFill>
            <a:schemeClr val="tx2"/>
          </a:solidFill>
          <a:latin typeface="Arial Narrow" charset="0"/>
          <a:ea typeface="ＭＳ Ｐゴシック" charset="-128"/>
        </a:defRPr>
      </a:lvl4pPr>
      <a:lvl5pPr algn="ctr" rtl="0" eaLnBrk="1" fontAlgn="base" hangingPunct="1">
        <a:spcBef>
          <a:spcPct val="0"/>
        </a:spcBef>
        <a:spcAft>
          <a:spcPct val="0"/>
        </a:spcAft>
        <a:defRPr sz="3200" b="1">
          <a:solidFill>
            <a:schemeClr val="tx2"/>
          </a:solidFill>
          <a:latin typeface="Arial Narrow" charset="0"/>
          <a:ea typeface="ＭＳ Ｐゴシック" charset="-128"/>
        </a:defRPr>
      </a:lvl5pPr>
      <a:lvl6pPr marL="457200" algn="ctr" rtl="0" eaLnBrk="1" fontAlgn="base" hangingPunct="1">
        <a:spcBef>
          <a:spcPct val="0"/>
        </a:spcBef>
        <a:spcAft>
          <a:spcPct val="0"/>
        </a:spcAft>
        <a:defRPr sz="3200" b="1">
          <a:solidFill>
            <a:schemeClr val="tx2"/>
          </a:solidFill>
          <a:latin typeface="Arial Narrow" charset="0"/>
        </a:defRPr>
      </a:lvl6pPr>
      <a:lvl7pPr marL="914400" algn="ctr" rtl="0" eaLnBrk="1" fontAlgn="base" hangingPunct="1">
        <a:spcBef>
          <a:spcPct val="0"/>
        </a:spcBef>
        <a:spcAft>
          <a:spcPct val="0"/>
        </a:spcAft>
        <a:defRPr sz="3200" b="1">
          <a:solidFill>
            <a:schemeClr val="tx2"/>
          </a:solidFill>
          <a:latin typeface="Arial Narrow" charset="0"/>
        </a:defRPr>
      </a:lvl7pPr>
      <a:lvl8pPr marL="1371600" algn="ctr" rtl="0" eaLnBrk="1" fontAlgn="base" hangingPunct="1">
        <a:spcBef>
          <a:spcPct val="0"/>
        </a:spcBef>
        <a:spcAft>
          <a:spcPct val="0"/>
        </a:spcAft>
        <a:defRPr sz="3200" b="1">
          <a:solidFill>
            <a:schemeClr val="tx2"/>
          </a:solidFill>
          <a:latin typeface="Arial Narrow" charset="0"/>
        </a:defRPr>
      </a:lvl8pPr>
      <a:lvl9pPr marL="1828800" algn="ctr" rtl="0" eaLnBrk="1" fontAlgn="base" hangingPunct="1">
        <a:spcBef>
          <a:spcPct val="0"/>
        </a:spcBef>
        <a:spcAft>
          <a:spcPct val="0"/>
        </a:spcAft>
        <a:defRPr sz="3200" b="1">
          <a:solidFill>
            <a:schemeClr val="tx2"/>
          </a:solidFill>
          <a:latin typeface="Arial Narrow" charset="0"/>
        </a:defRPr>
      </a:lvl9pPr>
    </p:titleStyle>
    <p:bodyStyle>
      <a:lvl1pPr marL="342900" indent="-342900" algn="l" rtl="0" eaLnBrk="1" fontAlgn="base" hangingPunct="1">
        <a:spcBef>
          <a:spcPct val="20000"/>
        </a:spcBef>
        <a:spcAft>
          <a:spcPct val="0"/>
        </a:spcAft>
        <a:buSzPct val="75000"/>
        <a:buBlip>
          <a:blip r:embed="rId39"/>
        </a:buBlip>
        <a:defRPr sz="2800" b="1">
          <a:solidFill>
            <a:schemeClr val="tx1"/>
          </a:solidFill>
          <a:latin typeface="+mn-lt"/>
          <a:ea typeface="ＭＳ Ｐゴシック" charset="-128"/>
          <a:cs typeface="+mn-cs"/>
        </a:defRPr>
      </a:lvl1pPr>
      <a:lvl2pPr marL="742950" indent="-285750" algn="l" rtl="0" eaLnBrk="1" fontAlgn="base" hangingPunct="1">
        <a:spcBef>
          <a:spcPct val="20000"/>
        </a:spcBef>
        <a:spcAft>
          <a:spcPct val="0"/>
        </a:spcAft>
        <a:buClr>
          <a:schemeClr val="accent2"/>
        </a:buClr>
        <a:buSzPct val="85000"/>
        <a:buBlip>
          <a:blip r:embed="rId40"/>
        </a:buBlip>
        <a:defRPr sz="2400" b="1">
          <a:solidFill>
            <a:schemeClr val="tx1"/>
          </a:solidFill>
          <a:latin typeface="+mn-lt"/>
          <a:ea typeface="ＭＳ Ｐゴシック" charset="-128"/>
        </a:defRPr>
      </a:lvl2pPr>
      <a:lvl3pPr marL="1143000" indent="-228600" algn="l" rtl="0" eaLnBrk="1" fontAlgn="base" hangingPunct="1">
        <a:spcBef>
          <a:spcPct val="20000"/>
        </a:spcBef>
        <a:spcAft>
          <a:spcPct val="0"/>
        </a:spcAft>
        <a:buClr>
          <a:schemeClr val="accent2"/>
        </a:buClr>
        <a:buFont typeface="Arial" charset="0"/>
        <a:buChar char="-"/>
        <a:defRPr sz="2000" b="1">
          <a:solidFill>
            <a:schemeClr val="tx1"/>
          </a:solidFill>
          <a:latin typeface="+mn-lt"/>
          <a:ea typeface="ＭＳ Ｐゴシック" charset="-128"/>
        </a:defRPr>
      </a:lvl3pPr>
      <a:lvl4pPr marL="1600200" indent="-228600" algn="l" rtl="0" eaLnBrk="1" fontAlgn="base" hangingPunct="1">
        <a:spcBef>
          <a:spcPct val="20000"/>
        </a:spcBef>
        <a:spcAft>
          <a:spcPct val="0"/>
        </a:spcAft>
        <a:buBlip>
          <a:blip r:embed="rId39"/>
        </a:buBlip>
        <a:defRPr sz="2000">
          <a:solidFill>
            <a:schemeClr val="tx1"/>
          </a:solidFill>
          <a:latin typeface="Arial" charset="0"/>
          <a:ea typeface="ＭＳ Ｐゴシック" charset="-128"/>
        </a:defRPr>
      </a:lvl4pPr>
      <a:lvl5pPr marL="2057400" indent="-228600" algn="l" rtl="0" eaLnBrk="1" fontAlgn="base" hangingPunct="1">
        <a:spcBef>
          <a:spcPct val="20000"/>
        </a:spcBef>
        <a:spcAft>
          <a:spcPct val="0"/>
        </a:spcAft>
        <a:buBlip>
          <a:blip r:embed="rId39"/>
        </a:buBlip>
        <a:defRPr sz="2000">
          <a:solidFill>
            <a:schemeClr val="tx1"/>
          </a:solidFill>
          <a:latin typeface="Arial" charset="0"/>
          <a:ea typeface="ＭＳ Ｐゴシック" charset="-128"/>
        </a:defRPr>
      </a:lvl5pPr>
      <a:lvl6pPr marL="2514600" indent="-228600" algn="l" rtl="0" eaLnBrk="1" fontAlgn="base" hangingPunct="1">
        <a:spcBef>
          <a:spcPct val="20000"/>
        </a:spcBef>
        <a:spcAft>
          <a:spcPct val="0"/>
        </a:spcAft>
        <a:buBlip>
          <a:blip r:embed="rId39"/>
        </a:buBlip>
        <a:defRPr sz="2000">
          <a:solidFill>
            <a:schemeClr val="tx1"/>
          </a:solidFill>
          <a:latin typeface="Arial" charset="0"/>
          <a:ea typeface="ＭＳ Ｐゴシック" charset="-128"/>
        </a:defRPr>
      </a:lvl6pPr>
      <a:lvl7pPr marL="2971800" indent="-228600" algn="l" rtl="0" eaLnBrk="1" fontAlgn="base" hangingPunct="1">
        <a:spcBef>
          <a:spcPct val="20000"/>
        </a:spcBef>
        <a:spcAft>
          <a:spcPct val="0"/>
        </a:spcAft>
        <a:buBlip>
          <a:blip r:embed="rId39"/>
        </a:buBlip>
        <a:defRPr sz="2000">
          <a:solidFill>
            <a:schemeClr val="tx1"/>
          </a:solidFill>
          <a:latin typeface="Arial" charset="0"/>
          <a:ea typeface="ＭＳ Ｐゴシック" charset="-128"/>
        </a:defRPr>
      </a:lvl7pPr>
      <a:lvl8pPr marL="3429000" indent="-228600" algn="l" rtl="0" eaLnBrk="1" fontAlgn="base" hangingPunct="1">
        <a:spcBef>
          <a:spcPct val="20000"/>
        </a:spcBef>
        <a:spcAft>
          <a:spcPct val="0"/>
        </a:spcAft>
        <a:buBlip>
          <a:blip r:embed="rId39"/>
        </a:buBlip>
        <a:defRPr sz="2000">
          <a:solidFill>
            <a:schemeClr val="tx1"/>
          </a:solidFill>
          <a:latin typeface="Arial" charset="0"/>
          <a:ea typeface="ＭＳ Ｐゴシック" charset="-128"/>
        </a:defRPr>
      </a:lvl8pPr>
      <a:lvl9pPr marL="3886200" indent="-228600" algn="l" rtl="0" eaLnBrk="1" fontAlgn="base" hangingPunct="1">
        <a:spcBef>
          <a:spcPct val="20000"/>
        </a:spcBef>
        <a:spcAft>
          <a:spcPct val="0"/>
        </a:spcAft>
        <a:buBlip>
          <a:blip r:embed="rId39"/>
        </a:buBlip>
        <a:defRPr sz="2000">
          <a:solidFill>
            <a:schemeClr val="tx1"/>
          </a:solidFill>
          <a:latin typeface="Arial" charset="0"/>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762000"/>
            <a:ext cx="7239000" cy="1924051"/>
          </a:xfrm>
        </p:spPr>
        <p:txBody>
          <a:bodyPr>
            <a:normAutofit fontScale="90000"/>
          </a:bodyPr>
          <a:lstStyle/>
          <a:p>
            <a:r>
              <a:rPr lang="en-CA" b="1" dirty="0" smtClean="0"/>
              <a:t/>
            </a:r>
            <a:br>
              <a:rPr lang="en-CA" b="1" dirty="0" smtClean="0"/>
            </a:br>
            <a:r>
              <a:rPr lang="en-CA" b="1" dirty="0" smtClean="0"/>
              <a:t>Motivation</a:t>
            </a:r>
            <a:r>
              <a:rPr lang="en-CA" b="1" dirty="0"/>
              <a:t>, a Driving Force in Second language Learning</a:t>
            </a:r>
            <a:r>
              <a:rPr lang="en-CA" dirty="0"/>
              <a:t/>
            </a:r>
            <a:br>
              <a:rPr lang="en-CA" dirty="0"/>
            </a:br>
            <a:endParaRPr lang="en-CA" dirty="0"/>
          </a:p>
        </p:txBody>
      </p:sp>
      <p:sp>
        <p:nvSpPr>
          <p:cNvPr id="3" name="Subtitle 2"/>
          <p:cNvSpPr>
            <a:spLocks noGrp="1"/>
          </p:cNvSpPr>
          <p:nvPr>
            <p:ph type="subTitle" idx="1"/>
          </p:nvPr>
        </p:nvSpPr>
        <p:spPr>
          <a:xfrm>
            <a:off x="1371600" y="3505200"/>
            <a:ext cx="6324600" cy="1295400"/>
          </a:xfrm>
        </p:spPr>
        <p:txBody>
          <a:bodyPr>
            <a:normAutofit/>
          </a:bodyPr>
          <a:lstStyle/>
          <a:p>
            <a:r>
              <a:rPr lang="en-CA" dirty="0" smtClean="0"/>
              <a:t>A research paper submitted for MA TESOL with the University of Manchester, UK</a:t>
            </a:r>
            <a:endParaRPr lang="en-CA" dirty="0"/>
          </a:p>
        </p:txBody>
      </p:sp>
      <p:sp>
        <p:nvSpPr>
          <p:cNvPr id="8" name="Footer Placeholder 7"/>
          <p:cNvSpPr>
            <a:spLocks noGrp="1"/>
          </p:cNvSpPr>
          <p:nvPr>
            <p:ph type="ftr" sz="quarter" idx="11"/>
          </p:nvPr>
        </p:nvSpPr>
        <p:spPr/>
        <p:txBody>
          <a:bodyPr/>
          <a:lstStyle/>
          <a:p>
            <a:r>
              <a:rPr lang="pl-PL" smtClean="0"/>
              <a:t>TESL 2012: Shazia Nawaz Awan</a:t>
            </a:r>
            <a:endParaRPr lang="en-US"/>
          </a:p>
        </p:txBody>
      </p:sp>
    </p:spTree>
    <p:extLst>
      <p:ext uri="{BB962C8B-B14F-4D97-AF65-F5344CB8AC3E}">
        <p14:creationId xmlns:p14="http://schemas.microsoft.com/office/powerpoint/2010/main" xmlns="" val="2382056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28600"/>
            <a:ext cx="7318248" cy="990600"/>
          </a:xfrm>
        </p:spPr>
        <p:txBody>
          <a:bodyPr/>
          <a:lstStyle/>
          <a:p>
            <a:r>
              <a:rPr lang="en-CA" dirty="0" smtClean="0">
                <a:solidFill>
                  <a:schemeClr val="tx1"/>
                </a:solidFill>
              </a:rPr>
              <a:t>Outline!!</a:t>
            </a:r>
            <a:endParaRPr lang="en-CA" dirty="0">
              <a:solidFill>
                <a:schemeClr val="tx1"/>
              </a:solidFill>
            </a:endParaRPr>
          </a:p>
        </p:txBody>
      </p:sp>
      <p:sp>
        <p:nvSpPr>
          <p:cNvPr id="3" name="Content Placeholder 2"/>
          <p:cNvSpPr>
            <a:spLocks noGrp="1"/>
          </p:cNvSpPr>
          <p:nvPr>
            <p:ph sz="quarter" idx="4294967295"/>
          </p:nvPr>
        </p:nvSpPr>
        <p:spPr>
          <a:xfrm>
            <a:off x="990600" y="1676400"/>
            <a:ext cx="8153400" cy="4495800"/>
          </a:xfrm>
          <a:prstGeom prst="rect">
            <a:avLst/>
          </a:prstGeom>
        </p:spPr>
        <p:txBody>
          <a:bodyPr/>
          <a:lstStyle/>
          <a:p>
            <a:r>
              <a:rPr lang="en-CA" dirty="0" smtClean="0"/>
              <a:t>Overview</a:t>
            </a:r>
          </a:p>
          <a:p>
            <a:r>
              <a:rPr lang="en-CA" dirty="0" smtClean="0"/>
              <a:t>Background</a:t>
            </a:r>
          </a:p>
          <a:p>
            <a:r>
              <a:rPr lang="en-CA" dirty="0" smtClean="0"/>
              <a:t>Research on motivation</a:t>
            </a:r>
          </a:p>
          <a:p>
            <a:r>
              <a:rPr lang="en-CA" dirty="0" smtClean="0"/>
              <a:t>My two cents</a:t>
            </a:r>
          </a:p>
          <a:p>
            <a:r>
              <a:rPr lang="en-CA" dirty="0" smtClean="0"/>
              <a:t>Findings</a:t>
            </a:r>
          </a:p>
          <a:p>
            <a:r>
              <a:rPr lang="en-CA" dirty="0" smtClean="0"/>
              <a:t>New emerging goals</a:t>
            </a:r>
          </a:p>
          <a:p>
            <a:r>
              <a:rPr lang="en-CA" dirty="0" smtClean="0"/>
              <a:t>Future Implications</a:t>
            </a:r>
          </a:p>
          <a:p>
            <a:pPr marL="82296" indent="0">
              <a:buNone/>
            </a:pPr>
            <a:endParaRPr lang="en-CA" dirty="0" smtClean="0"/>
          </a:p>
          <a:p>
            <a:endParaRPr lang="en-CA" dirty="0" smtClean="0"/>
          </a:p>
          <a:p>
            <a:endParaRPr lang="en-CA" dirty="0"/>
          </a:p>
        </p:txBody>
      </p:sp>
    </p:spTree>
    <p:extLst>
      <p:ext uri="{BB962C8B-B14F-4D97-AF65-F5344CB8AC3E}">
        <p14:creationId xmlns:p14="http://schemas.microsoft.com/office/powerpoint/2010/main" xmlns="" val="139402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Paths</a:t>
            </a:r>
            <a:r>
              <a:rPr lang="en-CA" dirty="0">
                <a:solidFill>
                  <a:schemeClr val="tx1"/>
                </a:solidFill>
              </a:rPr>
              <a:t> </a:t>
            </a:r>
            <a:r>
              <a:rPr lang="en-CA" dirty="0"/>
              <a:t>L2 learners take..</a:t>
            </a:r>
          </a:p>
        </p:txBody>
      </p:sp>
      <p:sp>
        <p:nvSpPr>
          <p:cNvPr id="3" name="Content Placeholder 2"/>
          <p:cNvSpPr>
            <a:spLocks noGrp="1"/>
          </p:cNvSpPr>
          <p:nvPr>
            <p:ph idx="1"/>
          </p:nvPr>
        </p:nvSpPr>
        <p:spPr>
          <a:xfrm>
            <a:off x="457200" y="1600201"/>
            <a:ext cx="8229600" cy="3276600"/>
          </a:xfrm>
        </p:spPr>
        <p:txBody>
          <a:bodyPr/>
          <a:lstStyle/>
          <a:p>
            <a:pPr marL="342900" lvl="2" indent="-342900">
              <a:buClrTx/>
              <a:buSzPct val="75000"/>
              <a:buBlip>
                <a:blip r:embed="rId2"/>
              </a:buBlip>
            </a:pPr>
            <a:r>
              <a:rPr lang="en-CA" b="0" dirty="0"/>
              <a:t>Improving English from communication oriented proficiency (Evening and LINC classes) to professional oriented </a:t>
            </a:r>
            <a:r>
              <a:rPr lang="en-CA" b="0" dirty="0" smtClean="0"/>
              <a:t>proficiency</a:t>
            </a:r>
          </a:p>
          <a:p>
            <a:pPr marL="342900" lvl="2" indent="-342900">
              <a:buClrTx/>
              <a:buSzPct val="75000"/>
              <a:buBlip>
                <a:blip r:embed="rId2"/>
              </a:buBlip>
            </a:pPr>
            <a:endParaRPr lang="en-CA" b="0" dirty="0" smtClean="0"/>
          </a:p>
          <a:p>
            <a:pPr marL="342900" lvl="2" indent="-342900">
              <a:buClrTx/>
              <a:buSzPct val="75000"/>
              <a:buBlip>
                <a:blip r:embed="rId2"/>
              </a:buBlip>
            </a:pPr>
            <a:r>
              <a:rPr lang="en-CA" b="0" dirty="0" smtClean="0"/>
              <a:t>Improving </a:t>
            </a:r>
            <a:r>
              <a:rPr lang="en-CA" b="0" dirty="0"/>
              <a:t>specific language or language functions needed for the workplace (ESP) (EWP)</a:t>
            </a:r>
          </a:p>
          <a:p>
            <a:pPr marL="0" lvl="2" indent="0">
              <a:buClrTx/>
              <a:buSzPct val="75000"/>
              <a:buNone/>
            </a:pPr>
            <a:endParaRPr lang="en-CA" b="0" dirty="0" smtClean="0"/>
          </a:p>
          <a:p>
            <a:pPr marL="342900" lvl="2" indent="-342900">
              <a:buClrTx/>
              <a:buSzPct val="75000"/>
              <a:buBlip>
                <a:blip r:embed="rId2"/>
              </a:buBlip>
            </a:pPr>
            <a:r>
              <a:rPr lang="en-CA" b="0" dirty="0" smtClean="0"/>
              <a:t>Improving </a:t>
            </a:r>
            <a:r>
              <a:rPr lang="en-CA" b="0" dirty="0"/>
              <a:t>English Language proficiency and score to get into university programs (EAP)</a:t>
            </a:r>
          </a:p>
          <a:p>
            <a:pPr marL="0" lvl="2" indent="0">
              <a:buClrTx/>
              <a:buSzPct val="75000"/>
              <a:buNone/>
            </a:pPr>
            <a:endParaRPr lang="en-CA" dirty="0"/>
          </a:p>
          <a:p>
            <a:endParaRPr lang="en-CA" dirty="0"/>
          </a:p>
        </p:txBody>
      </p:sp>
    </p:spTree>
    <p:extLst>
      <p:ext uri="{BB962C8B-B14F-4D97-AF65-F5344CB8AC3E}">
        <p14:creationId xmlns:p14="http://schemas.microsoft.com/office/powerpoint/2010/main" xmlns="" val="78556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546848" cy="990600"/>
          </a:xfrm>
        </p:spPr>
        <p:txBody>
          <a:bodyPr/>
          <a:lstStyle/>
          <a:p>
            <a:r>
              <a:rPr lang="en-CA" dirty="0" smtClean="0"/>
              <a:t>Overview!!</a:t>
            </a:r>
            <a:endParaRPr lang="en-CA" dirty="0"/>
          </a:p>
        </p:txBody>
      </p:sp>
      <p:sp>
        <p:nvSpPr>
          <p:cNvPr id="3" name="Content Placeholder 2"/>
          <p:cNvSpPr>
            <a:spLocks noGrp="1"/>
          </p:cNvSpPr>
          <p:nvPr>
            <p:ph sz="quarter" idx="4294967295"/>
          </p:nvPr>
        </p:nvSpPr>
        <p:spPr>
          <a:xfrm>
            <a:off x="609600" y="1676400"/>
            <a:ext cx="7924800" cy="4495800"/>
          </a:xfrm>
          <a:prstGeom prst="rect">
            <a:avLst/>
          </a:prstGeom>
        </p:spPr>
        <p:txBody>
          <a:bodyPr>
            <a:normAutofit/>
          </a:bodyPr>
          <a:lstStyle/>
          <a:p>
            <a:pPr marL="0" indent="0">
              <a:buNone/>
            </a:pPr>
            <a:r>
              <a:rPr lang="en-CA" sz="2400" dirty="0"/>
              <a:t>The </a:t>
            </a:r>
            <a:r>
              <a:rPr lang="en-CA" sz="2400" dirty="0" smtClean="0"/>
              <a:t>Focus</a:t>
            </a:r>
          </a:p>
          <a:p>
            <a:pPr marL="457200" indent="-457200"/>
            <a:r>
              <a:rPr lang="en-US" sz="2400" b="0" dirty="0" smtClean="0"/>
              <a:t>Research </a:t>
            </a:r>
            <a:r>
              <a:rPr lang="en-US" sz="2400" b="0" dirty="0"/>
              <a:t>study on </a:t>
            </a:r>
            <a:r>
              <a:rPr lang="en-US" sz="2400" b="0" dirty="0" smtClean="0"/>
              <a:t>women ESL learners </a:t>
            </a:r>
            <a:r>
              <a:rPr lang="en-US" sz="2400" b="0" dirty="0"/>
              <a:t>in Canada whose first language is </a:t>
            </a:r>
            <a:r>
              <a:rPr lang="en-US" sz="2400" b="0" dirty="0" smtClean="0"/>
              <a:t>Arabic</a:t>
            </a:r>
          </a:p>
          <a:p>
            <a:pPr marL="0" indent="0">
              <a:buNone/>
            </a:pPr>
            <a:endParaRPr lang="en-CA" sz="2400" b="0" dirty="0" smtClean="0"/>
          </a:p>
          <a:p>
            <a:r>
              <a:rPr lang="en-CA" sz="2400" b="0" dirty="0" smtClean="0"/>
              <a:t>Two </a:t>
            </a:r>
            <a:r>
              <a:rPr lang="en-CA" sz="2400" b="0" dirty="0"/>
              <a:t>different scenarios - academic and non-academic. </a:t>
            </a:r>
            <a:endParaRPr lang="en-CA" sz="2400" b="0" dirty="0" smtClean="0"/>
          </a:p>
          <a:p>
            <a:pPr>
              <a:buNone/>
            </a:pPr>
            <a:endParaRPr lang="en-CA" sz="2400" b="0" dirty="0" smtClean="0"/>
          </a:p>
          <a:p>
            <a:r>
              <a:rPr lang="en-US" sz="2400" b="0" dirty="0" smtClean="0"/>
              <a:t>The </a:t>
            </a:r>
            <a:r>
              <a:rPr lang="en-US" sz="2400" b="0" dirty="0"/>
              <a:t>qualitative research design </a:t>
            </a:r>
            <a:r>
              <a:rPr lang="en-US" sz="2400" b="0" dirty="0" smtClean="0"/>
              <a:t>using </a:t>
            </a:r>
            <a:r>
              <a:rPr lang="en-US" sz="2400" b="0" dirty="0"/>
              <a:t>two data resources: </a:t>
            </a:r>
          </a:p>
          <a:p>
            <a:pPr marL="514350" indent="-514350">
              <a:buFont typeface="+mj-lt"/>
              <a:buAutoNum type="arabicPeriod"/>
            </a:pPr>
            <a:r>
              <a:rPr lang="en-US" sz="2400" b="0" dirty="0"/>
              <a:t>observation </a:t>
            </a:r>
          </a:p>
          <a:p>
            <a:pPr marL="514350" indent="-514350">
              <a:buFont typeface="+mj-lt"/>
              <a:buAutoNum type="arabicPeriod"/>
            </a:pPr>
            <a:r>
              <a:rPr lang="en-US" sz="2400" b="0" dirty="0"/>
              <a:t>interviews</a:t>
            </a:r>
            <a:endParaRPr lang="en-CA" sz="2400" b="0" dirty="0"/>
          </a:p>
          <a:p>
            <a:endParaRPr lang="en-CA" dirty="0" smtClean="0"/>
          </a:p>
          <a:p>
            <a:endParaRPr lang="en-CA" dirty="0" smtClean="0"/>
          </a:p>
          <a:p>
            <a:pPr marL="0" indent="0">
              <a:buNone/>
            </a:pPr>
            <a:endParaRPr lang="en-CA" dirty="0"/>
          </a:p>
        </p:txBody>
      </p:sp>
    </p:spTree>
    <p:extLst>
      <p:ext uri="{BB962C8B-B14F-4D97-AF65-F5344CB8AC3E}">
        <p14:creationId xmlns:p14="http://schemas.microsoft.com/office/powerpoint/2010/main" xmlns="" val="2411438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546848" cy="990600"/>
          </a:xfrm>
        </p:spPr>
        <p:txBody>
          <a:bodyPr>
            <a:normAutofit/>
          </a:bodyPr>
          <a:lstStyle/>
          <a:p>
            <a:r>
              <a:rPr lang="en-CA" dirty="0" smtClean="0"/>
              <a:t>Questions needed to be answered!!</a:t>
            </a:r>
            <a:endParaRPr lang="en-CA" dirty="0"/>
          </a:p>
        </p:txBody>
      </p:sp>
      <p:sp>
        <p:nvSpPr>
          <p:cNvPr id="3" name="Content Placeholder 2"/>
          <p:cNvSpPr>
            <a:spLocks noGrp="1"/>
          </p:cNvSpPr>
          <p:nvPr>
            <p:ph sz="quarter" idx="4294967295"/>
          </p:nvPr>
        </p:nvSpPr>
        <p:spPr>
          <a:xfrm>
            <a:off x="990600" y="1676400"/>
            <a:ext cx="7848600" cy="4495800"/>
          </a:xfrm>
          <a:prstGeom prst="rect">
            <a:avLst/>
          </a:prstGeom>
        </p:spPr>
        <p:txBody>
          <a:bodyPr/>
          <a:lstStyle/>
          <a:p>
            <a:r>
              <a:rPr lang="en-US" sz="2400" b="0" dirty="0"/>
              <a:t>The study focuses on finding answers to </a:t>
            </a:r>
            <a:r>
              <a:rPr lang="en-US" sz="2400" b="0" dirty="0" smtClean="0"/>
              <a:t>the following  questions: </a:t>
            </a:r>
          </a:p>
          <a:p>
            <a:pPr>
              <a:buNone/>
            </a:pPr>
            <a:endParaRPr lang="en-US" sz="2400" b="0" dirty="0" smtClean="0"/>
          </a:p>
          <a:p>
            <a:pPr marL="514350" indent="-514350">
              <a:buFont typeface="+mj-lt"/>
              <a:buAutoNum type="arabicPeriod"/>
            </a:pPr>
            <a:r>
              <a:rPr lang="en-US" sz="2400" b="0" dirty="0" smtClean="0"/>
              <a:t>What </a:t>
            </a:r>
            <a:r>
              <a:rPr lang="en-US" sz="2400" b="0" dirty="0"/>
              <a:t>motivates </a:t>
            </a:r>
            <a:r>
              <a:rPr lang="en-US" sz="2400" b="0" dirty="0" smtClean="0"/>
              <a:t>immigrant women (in Canada), whose first language is Arabic, to </a:t>
            </a:r>
            <a:r>
              <a:rPr lang="en-US" sz="2400" b="0" dirty="0"/>
              <a:t>learn English as a second language? </a:t>
            </a:r>
            <a:endParaRPr lang="en-US" sz="2400" b="0" dirty="0" smtClean="0"/>
          </a:p>
          <a:p>
            <a:pPr marL="514350" indent="-514350">
              <a:buNone/>
            </a:pPr>
            <a:endParaRPr lang="en-US" sz="2400" b="0" dirty="0" smtClean="0"/>
          </a:p>
          <a:p>
            <a:pPr marL="514350" indent="-514350">
              <a:buFont typeface="+mj-lt"/>
              <a:buAutoNum type="arabicPeriod" startAt="2"/>
            </a:pPr>
            <a:r>
              <a:rPr lang="en-US" sz="2400" b="0" dirty="0" smtClean="0"/>
              <a:t>How and whether their </a:t>
            </a:r>
            <a:r>
              <a:rPr lang="en-US" sz="2400" b="0" dirty="0"/>
              <a:t>motivational orientations change over a period of time?</a:t>
            </a:r>
            <a:endParaRPr lang="en-CA" sz="2400" b="0" dirty="0"/>
          </a:p>
          <a:p>
            <a:pPr marL="82296" indent="0">
              <a:buNone/>
            </a:pPr>
            <a:endParaRPr lang="en-CA" dirty="0"/>
          </a:p>
        </p:txBody>
      </p:sp>
    </p:spTree>
    <p:extLst>
      <p:ext uri="{BB962C8B-B14F-4D97-AF65-F5344CB8AC3E}">
        <p14:creationId xmlns:p14="http://schemas.microsoft.com/office/powerpoint/2010/main" xmlns="" val="2696129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81000"/>
            <a:ext cx="7543800" cy="990600"/>
          </a:xfrm>
        </p:spPr>
        <p:txBody>
          <a:bodyPr/>
          <a:lstStyle/>
          <a:p>
            <a:r>
              <a:rPr lang="en-CA" dirty="0" smtClean="0"/>
              <a:t>   Just a Caution!!</a:t>
            </a:r>
            <a:endParaRPr lang="en-CA" dirty="0"/>
          </a:p>
        </p:txBody>
      </p:sp>
      <p:sp>
        <p:nvSpPr>
          <p:cNvPr id="3" name="Content Placeholder 2"/>
          <p:cNvSpPr>
            <a:spLocks noGrp="1"/>
          </p:cNvSpPr>
          <p:nvPr>
            <p:ph sz="quarter" idx="4294967295"/>
          </p:nvPr>
        </p:nvSpPr>
        <p:spPr>
          <a:xfrm>
            <a:off x="609600" y="1752600"/>
            <a:ext cx="7543800" cy="4419600"/>
          </a:xfrm>
          <a:prstGeom prst="rect">
            <a:avLst/>
          </a:prstGeom>
        </p:spPr>
        <p:txBody>
          <a:bodyPr>
            <a:normAutofit/>
          </a:bodyPr>
          <a:lstStyle/>
          <a:p>
            <a:r>
              <a:rPr lang="en-US" sz="2400" b="0" dirty="0"/>
              <a:t>The results </a:t>
            </a:r>
            <a:r>
              <a:rPr lang="en-US" sz="2400" b="0" dirty="0" smtClean="0"/>
              <a:t>of this </a:t>
            </a:r>
            <a:r>
              <a:rPr lang="en-US" sz="2400" b="0" dirty="0"/>
              <a:t>research are not meant to generalize the typical language learning behaviors of the whole group. </a:t>
            </a:r>
            <a:endParaRPr lang="en-US" sz="2400" b="0" dirty="0" smtClean="0"/>
          </a:p>
          <a:p>
            <a:pPr>
              <a:buNone/>
            </a:pPr>
            <a:endParaRPr lang="en-US" sz="2400" b="0" dirty="0" smtClean="0"/>
          </a:p>
          <a:p>
            <a:r>
              <a:rPr lang="en-US" sz="2400" b="0" dirty="0" smtClean="0"/>
              <a:t>However</a:t>
            </a:r>
            <a:r>
              <a:rPr lang="en-US" sz="2400" b="0" dirty="0"/>
              <a:t>, the study provides a valuable insight into certain aspects of second language learning behaviors and can be helpful in many ways.</a:t>
            </a:r>
            <a:endParaRPr lang="en-CA" sz="2400" b="0" dirty="0"/>
          </a:p>
        </p:txBody>
      </p:sp>
    </p:spTree>
    <p:extLst>
      <p:ext uri="{BB962C8B-B14F-4D97-AF65-F5344CB8AC3E}">
        <p14:creationId xmlns:p14="http://schemas.microsoft.com/office/powerpoint/2010/main" xmlns="" val="51251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09600"/>
            <a:ext cx="7924800" cy="990600"/>
          </a:xfrm>
        </p:spPr>
        <p:txBody>
          <a:bodyPr>
            <a:normAutofit/>
          </a:bodyPr>
          <a:lstStyle/>
          <a:p>
            <a:r>
              <a:rPr lang="en-CA" sz="3600" dirty="0" smtClean="0"/>
              <a:t>What is motivation…general concept</a:t>
            </a:r>
            <a:endParaRPr lang="en-CA" sz="3600" dirty="0"/>
          </a:p>
        </p:txBody>
      </p:sp>
      <p:sp>
        <p:nvSpPr>
          <p:cNvPr id="3" name="Content Placeholder 2"/>
          <p:cNvSpPr>
            <a:spLocks noGrp="1"/>
          </p:cNvSpPr>
          <p:nvPr>
            <p:ph sz="quarter" idx="4294967295"/>
          </p:nvPr>
        </p:nvSpPr>
        <p:spPr>
          <a:xfrm>
            <a:off x="457200" y="2057400"/>
            <a:ext cx="8305800" cy="4114800"/>
          </a:xfrm>
          <a:prstGeom prst="rect">
            <a:avLst/>
          </a:prstGeom>
        </p:spPr>
        <p:txBody>
          <a:bodyPr>
            <a:normAutofit lnSpcReduction="10000"/>
          </a:bodyPr>
          <a:lstStyle/>
          <a:p>
            <a:r>
              <a:rPr lang="en-CA" sz="2400" b="0" dirty="0" smtClean="0"/>
              <a:t>“The </a:t>
            </a:r>
            <a:r>
              <a:rPr lang="en-CA" sz="2400" b="0" dirty="0"/>
              <a:t>reason why somebody does something or behaves in a particular </a:t>
            </a:r>
            <a:r>
              <a:rPr lang="en-CA" sz="2400" b="0" dirty="0" smtClean="0"/>
              <a:t>way” (OALD*)</a:t>
            </a:r>
            <a:endParaRPr lang="en-CA" sz="2400" b="0" dirty="0"/>
          </a:p>
          <a:p>
            <a:pPr>
              <a:buNone/>
            </a:pPr>
            <a:endParaRPr lang="en-CA" sz="2400" b="0" dirty="0"/>
          </a:p>
          <a:p>
            <a:r>
              <a:rPr lang="en-CA" sz="2400" b="0" dirty="0" smtClean="0"/>
              <a:t>Motivation </a:t>
            </a:r>
            <a:r>
              <a:rPr lang="en-CA" sz="2400" b="0" dirty="0"/>
              <a:t>to learn a second language, not as a ‘trait’, but as a ‘characteristic’ of an </a:t>
            </a:r>
            <a:r>
              <a:rPr lang="en-CA" sz="2400" b="0" dirty="0" smtClean="0"/>
              <a:t>individual</a:t>
            </a:r>
          </a:p>
          <a:p>
            <a:endParaRPr lang="en-CA" sz="2400" b="0" dirty="0" smtClean="0"/>
          </a:p>
          <a:p>
            <a:r>
              <a:rPr lang="en-CA" sz="2400" b="0" dirty="0" smtClean="0"/>
              <a:t>“</a:t>
            </a:r>
            <a:r>
              <a:rPr lang="en-CA" sz="2400" b="0" dirty="0"/>
              <a:t>It is relatively stable, because of its presumed antecedents, but it is amenable to </a:t>
            </a:r>
            <a:r>
              <a:rPr lang="en-CA" sz="2400" b="0" dirty="0" smtClean="0"/>
              <a:t>change under </a:t>
            </a:r>
            <a:r>
              <a:rPr lang="en-CA" sz="2400" b="0" dirty="0"/>
              <a:t>certain </a:t>
            </a:r>
            <a:r>
              <a:rPr lang="en-CA" sz="2400" b="0" dirty="0" smtClean="0"/>
              <a:t>conditions.”</a:t>
            </a:r>
            <a:r>
              <a:rPr lang="en-CA" b="0" dirty="0" smtClean="0"/>
              <a:t> </a:t>
            </a:r>
            <a:r>
              <a:rPr lang="en-CA" sz="1500" b="0" dirty="0" smtClean="0"/>
              <a:t>(Gardner, 2006:2</a:t>
            </a:r>
            <a:r>
              <a:rPr lang="en-CA" sz="1500" b="0" dirty="0"/>
              <a:t>) </a:t>
            </a:r>
            <a:r>
              <a:rPr lang="en-CA" b="0" dirty="0" smtClean="0"/>
              <a:t>.</a:t>
            </a:r>
          </a:p>
          <a:p>
            <a:endParaRPr lang="en-CA" sz="1200" dirty="0" smtClean="0"/>
          </a:p>
          <a:p>
            <a:endParaRPr lang="en-CA" sz="1200" dirty="0"/>
          </a:p>
          <a:p>
            <a:endParaRPr lang="en-CA" sz="1200" dirty="0" smtClean="0"/>
          </a:p>
          <a:p>
            <a:pPr marL="82296" indent="0">
              <a:buNone/>
            </a:pPr>
            <a:r>
              <a:rPr lang="en-CA" sz="1500" dirty="0" smtClean="0"/>
              <a:t>*Oxford Advanced Learners’ Dictionary Online</a:t>
            </a:r>
            <a:endParaRPr lang="en-CA" sz="1500" dirty="0"/>
          </a:p>
        </p:txBody>
      </p:sp>
    </p:spTree>
    <p:extLst>
      <p:ext uri="{BB962C8B-B14F-4D97-AF65-F5344CB8AC3E}">
        <p14:creationId xmlns:p14="http://schemas.microsoft.com/office/powerpoint/2010/main" xmlns="" val="35869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7394448" cy="990600"/>
          </a:xfrm>
        </p:spPr>
        <p:txBody>
          <a:bodyPr>
            <a:normAutofit/>
          </a:bodyPr>
          <a:lstStyle/>
          <a:p>
            <a:r>
              <a:rPr lang="en-CA" sz="3600" dirty="0" smtClean="0"/>
              <a:t>What Researchers say!</a:t>
            </a:r>
            <a:endParaRPr lang="en-CA" sz="3600" dirty="0"/>
          </a:p>
        </p:txBody>
      </p:sp>
      <p:sp>
        <p:nvSpPr>
          <p:cNvPr id="3" name="Content Placeholder 2"/>
          <p:cNvSpPr>
            <a:spLocks noGrp="1"/>
          </p:cNvSpPr>
          <p:nvPr>
            <p:ph sz="quarter" idx="4294967295"/>
          </p:nvPr>
        </p:nvSpPr>
        <p:spPr>
          <a:xfrm>
            <a:off x="609600" y="1295400"/>
            <a:ext cx="7924800" cy="4648200"/>
          </a:xfrm>
          <a:prstGeom prst="rect">
            <a:avLst/>
          </a:prstGeom>
        </p:spPr>
        <p:txBody>
          <a:bodyPr>
            <a:normAutofit lnSpcReduction="10000"/>
          </a:bodyPr>
          <a:lstStyle/>
          <a:p>
            <a:pPr marL="0" indent="0">
              <a:buNone/>
            </a:pPr>
            <a:r>
              <a:rPr lang="en-US" b="1" dirty="0" smtClean="0"/>
              <a:t>   It is dynamic…</a:t>
            </a:r>
          </a:p>
          <a:p>
            <a:pPr>
              <a:lnSpc>
                <a:spcPct val="150000"/>
              </a:lnSpc>
            </a:pPr>
            <a:r>
              <a:rPr lang="en-US" sz="2400" b="0" dirty="0" err="1" smtClean="0"/>
              <a:t>Dornyei</a:t>
            </a:r>
            <a:r>
              <a:rPr lang="en-US" sz="2400" b="0" dirty="0" smtClean="0"/>
              <a:t> (2. 2001:9</a:t>
            </a:r>
            <a:r>
              <a:rPr lang="en-US" sz="2400" b="0" dirty="0" smtClean="0"/>
              <a:t>): </a:t>
            </a:r>
            <a:endParaRPr lang="en-US" sz="2400" b="0" dirty="0" smtClean="0"/>
          </a:p>
          <a:p>
            <a:pPr>
              <a:lnSpc>
                <a:spcPct val="150000"/>
              </a:lnSpc>
              <a:buNone/>
            </a:pPr>
            <a:r>
              <a:rPr lang="en-US" sz="2400" b="0" dirty="0" smtClean="0"/>
              <a:t>    “</a:t>
            </a:r>
            <a:r>
              <a:rPr lang="en-US" sz="2400" b="0" dirty="0"/>
              <a:t>I</a:t>
            </a:r>
            <a:r>
              <a:rPr lang="en-US" sz="2400" b="0" dirty="0" smtClean="0"/>
              <a:t>n </a:t>
            </a:r>
            <a:r>
              <a:rPr lang="en-US" sz="2400" b="0" dirty="0"/>
              <a:t>a general sense, motivation can be defined as the dynamically changing cumulative arousal in a person that initiates, directs, coordinates, amplifies, terminates, and evaluates the cognitive and motor processes whereby initial wishes and desires are selected, prioritized, </a:t>
            </a:r>
            <a:r>
              <a:rPr lang="en-US" sz="2400" b="0" dirty="0" smtClean="0"/>
              <a:t>operationalized, and </a:t>
            </a:r>
            <a:r>
              <a:rPr lang="en-US" sz="2400" b="0" dirty="0"/>
              <a:t>(successfully or unsuccessfully) acted </a:t>
            </a:r>
            <a:r>
              <a:rPr lang="en-US" sz="2400" b="0" dirty="0" smtClean="0"/>
              <a:t>out.” </a:t>
            </a:r>
          </a:p>
          <a:p>
            <a:pPr marL="0" indent="0">
              <a:buNone/>
            </a:pPr>
            <a:r>
              <a:rPr lang="en-US" sz="1200" b="0" dirty="0" smtClean="0"/>
              <a:t>                         (</a:t>
            </a:r>
            <a:r>
              <a:rPr lang="en-US" sz="1200" b="0" dirty="0" err="1"/>
              <a:t>Dornyei</a:t>
            </a:r>
            <a:r>
              <a:rPr lang="en-US" sz="1200" b="0" dirty="0"/>
              <a:t> </a:t>
            </a:r>
            <a:r>
              <a:rPr lang="en-US" sz="1200" b="0" dirty="0" smtClean="0"/>
              <a:t>&amp; Otto </a:t>
            </a:r>
            <a:r>
              <a:rPr lang="en-US" sz="1200" b="0" dirty="0"/>
              <a:t>1998:65, cited in </a:t>
            </a:r>
            <a:r>
              <a:rPr lang="en-US" sz="1200" b="0" dirty="0" err="1"/>
              <a:t>Dornyei</a:t>
            </a:r>
            <a:r>
              <a:rPr lang="en-US" sz="1200" b="0" dirty="0"/>
              <a:t> 2001:9)</a:t>
            </a:r>
            <a:endParaRPr lang="en-CA" sz="1200" b="0" dirty="0"/>
          </a:p>
          <a:p>
            <a:endParaRPr lang="en-US" dirty="0" smtClean="0"/>
          </a:p>
        </p:txBody>
      </p:sp>
    </p:spTree>
    <p:extLst>
      <p:ext uri="{BB962C8B-B14F-4D97-AF65-F5344CB8AC3E}">
        <p14:creationId xmlns:p14="http://schemas.microsoft.com/office/powerpoint/2010/main" xmlns="" val="52819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546848" cy="990600"/>
          </a:xfrm>
        </p:spPr>
        <p:txBody>
          <a:bodyPr>
            <a:normAutofit/>
          </a:bodyPr>
          <a:lstStyle/>
          <a:p>
            <a:r>
              <a:rPr lang="en-CA" sz="3600" dirty="0"/>
              <a:t>What Researchers say!</a:t>
            </a:r>
          </a:p>
        </p:txBody>
      </p:sp>
      <p:sp>
        <p:nvSpPr>
          <p:cNvPr id="3" name="Content Placeholder 2"/>
          <p:cNvSpPr>
            <a:spLocks noGrp="1"/>
          </p:cNvSpPr>
          <p:nvPr>
            <p:ph sz="quarter" idx="4294967295"/>
          </p:nvPr>
        </p:nvSpPr>
        <p:spPr>
          <a:xfrm>
            <a:off x="609600" y="1524000"/>
            <a:ext cx="7924800" cy="4495800"/>
          </a:xfrm>
          <a:prstGeom prst="rect">
            <a:avLst/>
          </a:prstGeom>
        </p:spPr>
        <p:txBody>
          <a:bodyPr/>
          <a:lstStyle/>
          <a:p>
            <a:pPr marL="0" indent="0">
              <a:buNone/>
            </a:pPr>
            <a:r>
              <a:rPr lang="en-CA" sz="2800" b="1" dirty="0" smtClean="0"/>
              <a:t>Social Dimension of ESL motivation…</a:t>
            </a:r>
          </a:p>
          <a:p>
            <a:pPr>
              <a:lnSpc>
                <a:spcPct val="150000"/>
              </a:lnSpc>
            </a:pPr>
            <a:endParaRPr lang="en-CA" sz="2400" dirty="0" smtClean="0"/>
          </a:p>
          <a:p>
            <a:pPr>
              <a:lnSpc>
                <a:spcPct val="150000"/>
              </a:lnSpc>
            </a:pPr>
            <a:r>
              <a:rPr lang="en-CA" sz="2400" b="0" dirty="0" smtClean="0"/>
              <a:t>“</a:t>
            </a:r>
            <a:r>
              <a:rPr lang="en-CA" sz="2400" b="0" dirty="0" smtClean="0"/>
              <a:t>Second </a:t>
            </a:r>
            <a:r>
              <a:rPr lang="en-CA" sz="2400" b="0" dirty="0"/>
              <a:t>Language </a:t>
            </a:r>
            <a:r>
              <a:rPr lang="en-CA" sz="2400" b="0" dirty="0" smtClean="0"/>
              <a:t>learning </a:t>
            </a:r>
            <a:r>
              <a:rPr lang="en-CA" sz="2400" b="0" dirty="0"/>
              <a:t>motivation has an inherent social dimension, and that is why it is different than learning other school subjects. While rules of grammar or lexical items can be taught explicitly, it is also socially and culturally </a:t>
            </a:r>
            <a:r>
              <a:rPr lang="en-CA" sz="2400" b="0" dirty="0" smtClean="0"/>
              <a:t>bound</a:t>
            </a:r>
            <a:r>
              <a:rPr lang="en-CA" sz="2400" b="0" dirty="0" smtClean="0"/>
              <a:t>.” </a:t>
            </a:r>
            <a:r>
              <a:rPr lang="en-CA" sz="1200" b="0" dirty="0" err="1" smtClean="0"/>
              <a:t>Dornyei</a:t>
            </a:r>
            <a:r>
              <a:rPr lang="en-CA" sz="1200" b="0" dirty="0" smtClean="0"/>
              <a:t> </a:t>
            </a:r>
            <a:r>
              <a:rPr lang="en-CA" sz="1200" b="0" dirty="0" smtClean="0"/>
              <a:t>(2003:3-4), </a:t>
            </a:r>
            <a:endParaRPr lang="en-CA" sz="1200" b="0" dirty="0"/>
          </a:p>
        </p:txBody>
      </p:sp>
    </p:spTree>
    <p:extLst>
      <p:ext uri="{BB962C8B-B14F-4D97-AF65-F5344CB8AC3E}">
        <p14:creationId xmlns:p14="http://schemas.microsoft.com/office/powerpoint/2010/main" xmlns="" val="23729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28600"/>
            <a:ext cx="7470648" cy="990600"/>
          </a:xfrm>
        </p:spPr>
        <p:txBody>
          <a:bodyPr>
            <a:normAutofit/>
          </a:bodyPr>
          <a:lstStyle/>
          <a:p>
            <a:r>
              <a:rPr lang="en-CA" sz="3600" dirty="0"/>
              <a:t>What Researchers say!</a:t>
            </a:r>
          </a:p>
        </p:txBody>
      </p:sp>
      <p:sp>
        <p:nvSpPr>
          <p:cNvPr id="3" name="Content Placeholder 2"/>
          <p:cNvSpPr>
            <a:spLocks noGrp="1"/>
          </p:cNvSpPr>
          <p:nvPr>
            <p:ph sz="quarter" idx="4294967295"/>
          </p:nvPr>
        </p:nvSpPr>
        <p:spPr>
          <a:xfrm>
            <a:off x="457200" y="1295400"/>
            <a:ext cx="8305800" cy="4876800"/>
          </a:xfrm>
          <a:prstGeom prst="rect">
            <a:avLst/>
          </a:prstGeom>
        </p:spPr>
        <p:txBody>
          <a:bodyPr>
            <a:normAutofit/>
          </a:bodyPr>
          <a:lstStyle/>
          <a:p>
            <a:pPr marL="82296" indent="0">
              <a:buNone/>
            </a:pPr>
            <a:r>
              <a:rPr lang="en-CA" sz="2400" b="1" dirty="0" smtClean="0"/>
              <a:t>Positive Attitude:</a:t>
            </a:r>
          </a:p>
          <a:p>
            <a:r>
              <a:rPr lang="en-CA" sz="2400" b="0" dirty="0" smtClean="0"/>
              <a:t>The </a:t>
            </a:r>
            <a:r>
              <a:rPr lang="en-CA" sz="2400" b="0" dirty="0"/>
              <a:t>more the learner has a positive attitude towards the target language and the culture, the higher is the achievement</a:t>
            </a:r>
            <a:r>
              <a:rPr lang="en-CA" sz="2400" b="0" dirty="0" smtClean="0"/>
              <a:t>.</a:t>
            </a:r>
          </a:p>
          <a:p>
            <a:pPr>
              <a:buNone/>
            </a:pPr>
            <a:endParaRPr lang="en-CA" sz="2400" dirty="0"/>
          </a:p>
          <a:p>
            <a:pPr marL="82296" indent="0">
              <a:buNone/>
            </a:pPr>
            <a:r>
              <a:rPr lang="en-CA" sz="2400" b="1" dirty="0" smtClean="0"/>
              <a:t>Motivation, a driving force:</a:t>
            </a:r>
          </a:p>
          <a:p>
            <a:r>
              <a:rPr lang="en-CA" sz="2400" b="0" dirty="0" smtClean="0"/>
              <a:t>“The </a:t>
            </a:r>
            <a:r>
              <a:rPr lang="en-CA" sz="2400" b="0" dirty="0"/>
              <a:t>motivated individual is goal directed, expends effort, is persistent, is attentive, has desires (wants), exhibits positive affect, is aroused, has expectancies, demonstrates self-confidence (self-efficacy), and has reasons (motives</a:t>
            </a:r>
            <a:r>
              <a:rPr lang="en-CA" sz="2400" b="0" dirty="0" smtClean="0"/>
              <a:t>)” </a:t>
            </a:r>
          </a:p>
          <a:p>
            <a:pPr>
              <a:buNone/>
            </a:pPr>
            <a:r>
              <a:rPr lang="en-CA" sz="1400" b="0" dirty="0" smtClean="0"/>
              <a:t>         </a:t>
            </a:r>
            <a:r>
              <a:rPr lang="en-CA" sz="1400" b="0" dirty="0" smtClean="0"/>
              <a:t> </a:t>
            </a:r>
            <a:r>
              <a:rPr lang="en-CA" sz="1400" b="0" dirty="0" smtClean="0"/>
              <a:t>(Gardner, 2006)</a:t>
            </a:r>
            <a:endParaRPr lang="en-CA" sz="1400" b="0" dirty="0"/>
          </a:p>
          <a:p>
            <a:endParaRPr lang="en-CA" dirty="0"/>
          </a:p>
        </p:txBody>
      </p:sp>
    </p:spTree>
    <p:extLst>
      <p:ext uri="{BB962C8B-B14F-4D97-AF65-F5344CB8AC3E}">
        <p14:creationId xmlns:p14="http://schemas.microsoft.com/office/powerpoint/2010/main" xmlns="" val="2669801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848600" cy="990600"/>
          </a:xfrm>
        </p:spPr>
        <p:txBody>
          <a:bodyPr>
            <a:noAutofit/>
          </a:bodyPr>
          <a:lstStyle/>
          <a:p>
            <a:r>
              <a:rPr lang="en-CA" sz="3200" b="1" dirty="0" smtClean="0"/>
              <a:t>Integrative </a:t>
            </a:r>
            <a:r>
              <a:rPr lang="en-CA" sz="3200" b="1" dirty="0"/>
              <a:t>and </a:t>
            </a:r>
            <a:r>
              <a:rPr lang="en-CA" sz="3200" b="1" dirty="0" smtClean="0"/>
              <a:t>instrumental constructs:</a:t>
            </a:r>
            <a:endParaRPr lang="en-CA" sz="3200" dirty="0"/>
          </a:p>
        </p:txBody>
      </p:sp>
      <p:sp>
        <p:nvSpPr>
          <p:cNvPr id="3" name="Content Placeholder 2"/>
          <p:cNvSpPr>
            <a:spLocks noGrp="1"/>
          </p:cNvSpPr>
          <p:nvPr>
            <p:ph sz="quarter" idx="4294967295"/>
          </p:nvPr>
        </p:nvSpPr>
        <p:spPr>
          <a:xfrm>
            <a:off x="1143000" y="1676400"/>
            <a:ext cx="7010400" cy="4495800"/>
          </a:xfrm>
          <a:prstGeom prst="rect">
            <a:avLst/>
          </a:prstGeom>
        </p:spPr>
        <p:txBody>
          <a:bodyPr/>
          <a:lstStyle/>
          <a:p>
            <a:r>
              <a:rPr lang="en-CA" b="0" dirty="0"/>
              <a:t>a</a:t>
            </a:r>
            <a:r>
              <a:rPr lang="en-CA" b="0" dirty="0" smtClean="0"/>
              <a:t>re inseparable in nature</a:t>
            </a:r>
          </a:p>
          <a:p>
            <a:r>
              <a:rPr lang="en-CA" b="0" dirty="0"/>
              <a:t>c</a:t>
            </a:r>
            <a:r>
              <a:rPr lang="en-CA" b="0" dirty="0" smtClean="0"/>
              <a:t>ome to the surface with passing time</a:t>
            </a:r>
          </a:p>
          <a:p>
            <a:r>
              <a:rPr lang="en-CA" b="0" dirty="0"/>
              <a:t>c</a:t>
            </a:r>
            <a:r>
              <a:rPr lang="en-CA" b="0" dirty="0" smtClean="0"/>
              <a:t>hange and alter</a:t>
            </a:r>
          </a:p>
          <a:p>
            <a:r>
              <a:rPr lang="en-CA" b="0" dirty="0"/>
              <a:t>m</a:t>
            </a:r>
            <a:r>
              <a:rPr lang="en-CA" b="0" dirty="0" smtClean="0"/>
              <a:t>odify with successful language experience</a:t>
            </a:r>
          </a:p>
          <a:p>
            <a:r>
              <a:rPr lang="en-CA" b="0" dirty="0" smtClean="0"/>
              <a:t>facilitate </a:t>
            </a:r>
            <a:r>
              <a:rPr lang="en-CA" b="0" dirty="0" smtClean="0"/>
              <a:t>new set </a:t>
            </a:r>
            <a:r>
              <a:rPr lang="en-CA" b="0" dirty="0" smtClean="0"/>
              <a:t>of goals</a:t>
            </a:r>
          </a:p>
          <a:p>
            <a:endParaRPr lang="en-CA" dirty="0" smtClean="0"/>
          </a:p>
          <a:p>
            <a:endParaRPr lang="en-CA" dirty="0" smtClean="0"/>
          </a:p>
          <a:p>
            <a:pPr marL="0" indent="0">
              <a:buNone/>
            </a:pPr>
            <a:endParaRPr lang="en-CA" dirty="0"/>
          </a:p>
        </p:txBody>
      </p:sp>
      <p:sp>
        <p:nvSpPr>
          <p:cNvPr id="7" name="Rectangle 6"/>
          <p:cNvSpPr/>
          <p:nvPr/>
        </p:nvSpPr>
        <p:spPr>
          <a:xfrm>
            <a:off x="1524000" y="1397000"/>
            <a:ext cx="6096000" cy="4064000"/>
          </a:xfrm>
          <a:prstGeom prst="rect">
            <a:avLst/>
          </a:prstGeom>
        </p:spPr>
        <p:txBody>
          <a:bodyPr/>
          <a:lstStyle/>
          <a:p>
            <a:pPr lvl="0">
              <a:buChar char="•"/>
            </a:pPr>
            <a:endParaRPr lang="en-CA" dirty="0"/>
          </a:p>
          <a:p>
            <a:pPr lvl="0">
              <a:buChar char="•"/>
            </a:pPr>
            <a:endParaRPr lang="en-CA" dirty="0"/>
          </a:p>
          <a:p>
            <a:pPr lvl="0">
              <a:buChar char="•"/>
            </a:pPr>
            <a:endParaRPr lang="en-CA" dirty="0"/>
          </a:p>
          <a:p>
            <a:pPr lvl="0">
              <a:buChar char="•"/>
            </a:pPr>
            <a:endParaRPr lang="en-CA" dirty="0"/>
          </a:p>
          <a:p>
            <a:pPr lvl="0">
              <a:buChar char="•"/>
            </a:pPr>
            <a:endParaRPr lang="en-CA" dirty="0"/>
          </a:p>
        </p:txBody>
      </p:sp>
    </p:spTree>
    <p:extLst>
      <p:ext uri="{BB962C8B-B14F-4D97-AF65-F5344CB8AC3E}">
        <p14:creationId xmlns:p14="http://schemas.microsoft.com/office/powerpoint/2010/main" xmlns="" val="278140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848600" cy="990600"/>
          </a:xfrm>
        </p:spPr>
        <p:txBody>
          <a:bodyPr>
            <a:noAutofit/>
          </a:bodyPr>
          <a:lstStyle/>
          <a:p>
            <a:r>
              <a:rPr lang="en-CA" sz="3200" b="1" dirty="0"/>
              <a:t>Integrative</a:t>
            </a:r>
            <a:r>
              <a:rPr lang="en-CA" sz="3200" b="1" dirty="0" smtClean="0">
                <a:solidFill>
                  <a:schemeClr val="tx1"/>
                </a:solidFill>
              </a:rPr>
              <a:t> </a:t>
            </a:r>
            <a:r>
              <a:rPr lang="en-CA" sz="3200" b="1" dirty="0"/>
              <a:t>and instrumental </a:t>
            </a:r>
            <a:r>
              <a:rPr lang="en-CA" sz="3200" b="1" dirty="0" smtClean="0"/>
              <a:t>goals-</a:t>
            </a:r>
            <a:br>
              <a:rPr lang="en-CA" sz="3200" b="1" dirty="0" smtClean="0"/>
            </a:br>
            <a:r>
              <a:rPr lang="en-CA" sz="3200" b="1" dirty="0" smtClean="0"/>
              <a:t>mutually </a:t>
            </a:r>
            <a:r>
              <a:rPr lang="en-CA" sz="3200" b="1" dirty="0"/>
              <a:t>influencing each other </a:t>
            </a:r>
          </a:p>
        </p:txBody>
      </p:sp>
      <p:sp>
        <p:nvSpPr>
          <p:cNvPr id="3" name="Content Placeholder 2"/>
          <p:cNvSpPr>
            <a:spLocks noGrp="1"/>
          </p:cNvSpPr>
          <p:nvPr>
            <p:ph sz="quarter" idx="4294967295"/>
          </p:nvPr>
        </p:nvSpPr>
        <p:spPr>
          <a:xfrm>
            <a:off x="609600" y="1752600"/>
            <a:ext cx="7620000" cy="4419600"/>
          </a:xfrm>
          <a:prstGeom prst="rect">
            <a:avLst/>
          </a:prstGeom>
        </p:spPr>
        <p:txBody>
          <a:bodyPr>
            <a:normAutofit/>
          </a:bodyPr>
          <a:lstStyle/>
          <a:p>
            <a:pPr lvl="0"/>
            <a:r>
              <a:rPr lang="en-CA" sz="2400" b="0" dirty="0" smtClean="0"/>
              <a:t>upgrade </a:t>
            </a:r>
            <a:r>
              <a:rPr lang="en-CA" sz="2400" b="0" dirty="0"/>
              <a:t>their personal and professional </a:t>
            </a:r>
            <a:r>
              <a:rPr lang="en-CA" sz="2400" b="0" dirty="0" smtClean="0"/>
              <a:t>profile</a:t>
            </a:r>
          </a:p>
          <a:p>
            <a:pPr marL="0" lvl="0" indent="0">
              <a:buNone/>
            </a:pPr>
            <a:endParaRPr lang="en-CA" sz="2400" b="0" dirty="0" smtClean="0"/>
          </a:p>
          <a:p>
            <a:pPr lvl="0"/>
            <a:r>
              <a:rPr lang="en-CA" sz="2400" b="0" dirty="0" smtClean="0"/>
              <a:t>reduce </a:t>
            </a:r>
            <a:r>
              <a:rPr lang="en-CA" sz="2400" b="0" dirty="0"/>
              <a:t>the social and psychological distance with the target language group by uplifting social status through linguistic improvement. </a:t>
            </a:r>
            <a:endParaRPr lang="en-CA" sz="2400" b="0" dirty="0" smtClean="0"/>
          </a:p>
          <a:p>
            <a:pPr lvl="0"/>
            <a:r>
              <a:rPr lang="en-CA" sz="2400" b="0" dirty="0"/>
              <a:t>e</a:t>
            </a:r>
            <a:r>
              <a:rPr lang="en-CA" sz="2400" b="0" dirty="0" smtClean="0"/>
              <a:t>nhance self confidence and competence</a:t>
            </a:r>
          </a:p>
          <a:p>
            <a:pPr lvl="0"/>
            <a:r>
              <a:rPr lang="en-CA" sz="2400" b="0" dirty="0" smtClean="0"/>
              <a:t>change learners’ attitude towards language and culture</a:t>
            </a:r>
          </a:p>
          <a:p>
            <a:pPr lvl="0"/>
            <a:endParaRPr lang="en-CA" sz="2400" dirty="0" smtClean="0"/>
          </a:p>
          <a:p>
            <a:pPr marL="0" indent="0">
              <a:buNone/>
            </a:pPr>
            <a:endParaRPr lang="en-CA" sz="2400" dirty="0"/>
          </a:p>
        </p:txBody>
      </p:sp>
    </p:spTree>
    <p:extLst>
      <p:ext uri="{BB962C8B-B14F-4D97-AF65-F5344CB8AC3E}">
        <p14:creationId xmlns:p14="http://schemas.microsoft.com/office/powerpoint/2010/main" xmlns="" val="124884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Autofit/>
          </a:bodyPr>
          <a:lstStyle/>
          <a:p>
            <a:pPr lvl="0"/>
            <a:r>
              <a:rPr lang="en-CA" sz="2800" b="1" dirty="0" smtClean="0"/>
              <a:t/>
            </a:r>
            <a:br>
              <a:rPr lang="en-CA" sz="2800" b="1" dirty="0" smtClean="0"/>
            </a:br>
            <a:r>
              <a:rPr lang="en-CA" sz="2800" b="1" dirty="0" smtClean="0"/>
              <a:t>The </a:t>
            </a:r>
            <a:r>
              <a:rPr lang="en-CA" sz="2800" b="1" dirty="0"/>
              <a:t>a</a:t>
            </a:r>
            <a:r>
              <a:rPr lang="en-CA" sz="2800" b="1" dirty="0" smtClean="0"/>
              <a:t>pplication </a:t>
            </a:r>
            <a:r>
              <a:rPr lang="en-CA" sz="2800" b="1" dirty="0"/>
              <a:t>of theories of </a:t>
            </a:r>
            <a:r>
              <a:rPr lang="en-CA" sz="2800" b="1" dirty="0" smtClean="0"/>
              <a:t>motivational </a:t>
            </a:r>
            <a:r>
              <a:rPr lang="en-CA" sz="2800" b="1" dirty="0"/>
              <a:t>o</a:t>
            </a:r>
            <a:r>
              <a:rPr lang="en-CA" sz="2800" b="1" dirty="0" smtClean="0"/>
              <a:t>rientations </a:t>
            </a:r>
            <a:r>
              <a:rPr lang="en-CA" sz="2800" b="1" dirty="0"/>
              <a:t>to the </a:t>
            </a:r>
            <a:r>
              <a:rPr lang="en-CA" sz="2800" b="1" dirty="0" smtClean="0"/>
              <a:t>context</a:t>
            </a:r>
            <a:r>
              <a:rPr lang="en-CA" sz="2800" dirty="0"/>
              <a:t/>
            </a:r>
            <a:br>
              <a:rPr lang="en-CA" sz="2800" dirty="0"/>
            </a:br>
            <a:endParaRPr lang="en-CA" sz="2800" dirty="0"/>
          </a:p>
        </p:txBody>
      </p:sp>
      <p:sp>
        <p:nvSpPr>
          <p:cNvPr id="3" name="Content Placeholder 2"/>
          <p:cNvSpPr>
            <a:spLocks noGrp="1"/>
          </p:cNvSpPr>
          <p:nvPr>
            <p:ph sz="quarter" idx="4294967295"/>
          </p:nvPr>
        </p:nvSpPr>
        <p:spPr>
          <a:xfrm>
            <a:off x="609600" y="2057400"/>
            <a:ext cx="7924800" cy="4114800"/>
          </a:xfrm>
          <a:prstGeom prst="rect">
            <a:avLst/>
          </a:prstGeom>
        </p:spPr>
        <p:txBody>
          <a:bodyPr>
            <a:normAutofit/>
          </a:bodyPr>
          <a:lstStyle/>
          <a:p>
            <a:pPr marL="82296" indent="0">
              <a:buNone/>
            </a:pPr>
            <a:r>
              <a:rPr lang="en-CA" dirty="0"/>
              <a:t> </a:t>
            </a:r>
          </a:p>
          <a:p>
            <a:pPr marL="82296" indent="0">
              <a:lnSpc>
                <a:spcPct val="150000"/>
              </a:lnSpc>
              <a:buNone/>
            </a:pPr>
            <a:r>
              <a:rPr lang="en-CA" sz="2400" b="0" dirty="0" smtClean="0"/>
              <a:t>“Arab-Canadian </a:t>
            </a:r>
            <a:r>
              <a:rPr lang="en-CA" sz="2400" b="0" dirty="0"/>
              <a:t>male students are primarily instrumentally motivated towards learning English as L2, while Arab-Canadian female students are </a:t>
            </a:r>
            <a:r>
              <a:rPr lang="en-CA" sz="2400" b="0" dirty="0" err="1"/>
              <a:t>integratively</a:t>
            </a:r>
            <a:r>
              <a:rPr lang="en-CA" sz="2400" b="0" dirty="0"/>
              <a:t> </a:t>
            </a:r>
            <a:r>
              <a:rPr lang="en-CA" sz="2400" b="0" dirty="0" smtClean="0"/>
              <a:t>motivated.”</a:t>
            </a:r>
            <a:r>
              <a:rPr lang="en-CA" sz="2400" dirty="0" smtClean="0"/>
              <a:t> </a:t>
            </a:r>
            <a:r>
              <a:rPr lang="en-CA" sz="1400" dirty="0" smtClean="0"/>
              <a:t>Abu-</a:t>
            </a:r>
            <a:r>
              <a:rPr lang="en-CA" sz="1400" dirty="0" err="1" smtClean="0"/>
              <a:t>Rabia</a:t>
            </a:r>
            <a:r>
              <a:rPr lang="en-CA" sz="1400" dirty="0" smtClean="0"/>
              <a:t> (1995:323)</a:t>
            </a:r>
          </a:p>
          <a:p>
            <a:pPr marL="82296" indent="0">
              <a:lnSpc>
                <a:spcPct val="150000"/>
              </a:lnSpc>
              <a:buNone/>
            </a:pPr>
            <a:endParaRPr lang="en-CA" sz="2400" dirty="0" smtClean="0"/>
          </a:p>
          <a:p>
            <a:pPr marL="82296" indent="0">
              <a:buNone/>
            </a:pPr>
            <a:endParaRPr lang="en-CA" sz="1200" dirty="0" smtClean="0"/>
          </a:p>
          <a:p>
            <a:pPr marL="82296" indent="0">
              <a:buNone/>
            </a:pPr>
            <a:endParaRPr lang="en-CA" sz="1200" dirty="0" smtClean="0"/>
          </a:p>
          <a:p>
            <a:pPr marL="82296" indent="0">
              <a:buNone/>
            </a:pPr>
            <a:endParaRPr lang="en-CA" sz="1200" dirty="0"/>
          </a:p>
          <a:p>
            <a:pPr marL="82296" indent="0">
              <a:buNone/>
            </a:pPr>
            <a:endParaRPr lang="en-CA" sz="1200" dirty="0" smtClean="0"/>
          </a:p>
          <a:p>
            <a:pPr marL="82296" indent="0">
              <a:buNone/>
            </a:pPr>
            <a:endParaRPr lang="en-CA" sz="1200" dirty="0"/>
          </a:p>
          <a:p>
            <a:pPr marL="82296" indent="0">
              <a:buNone/>
            </a:pPr>
            <a:endParaRPr lang="en-CA" sz="1200" dirty="0" smtClean="0"/>
          </a:p>
        </p:txBody>
      </p:sp>
    </p:spTree>
    <p:extLst>
      <p:ext uri="{BB962C8B-B14F-4D97-AF65-F5344CB8AC3E}">
        <p14:creationId xmlns:p14="http://schemas.microsoft.com/office/powerpoint/2010/main" xmlns="" val="202507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7391400" cy="990600"/>
          </a:xfrm>
        </p:spPr>
        <p:txBody>
          <a:bodyPr/>
          <a:lstStyle/>
          <a:p>
            <a:r>
              <a:rPr lang="en-CA" dirty="0" smtClean="0"/>
              <a:t>Acculturation Theory</a:t>
            </a:r>
            <a:endParaRPr lang="en-CA" dirty="0"/>
          </a:p>
        </p:txBody>
      </p:sp>
      <p:sp>
        <p:nvSpPr>
          <p:cNvPr id="3" name="Content Placeholder 2"/>
          <p:cNvSpPr>
            <a:spLocks noGrp="1"/>
          </p:cNvSpPr>
          <p:nvPr>
            <p:ph sz="quarter" idx="4294967295"/>
          </p:nvPr>
        </p:nvSpPr>
        <p:spPr>
          <a:xfrm>
            <a:off x="609600" y="1752600"/>
            <a:ext cx="7696200" cy="4419600"/>
          </a:xfrm>
          <a:prstGeom prst="rect">
            <a:avLst/>
          </a:prstGeom>
        </p:spPr>
        <p:txBody>
          <a:bodyPr>
            <a:normAutofit/>
          </a:bodyPr>
          <a:lstStyle/>
          <a:p>
            <a:pPr marL="0" indent="0">
              <a:buNone/>
            </a:pPr>
            <a:r>
              <a:rPr lang="en-CA" sz="2800" b="0" dirty="0" smtClean="0"/>
              <a:t>Schumann </a:t>
            </a:r>
            <a:r>
              <a:rPr lang="en-CA" sz="2800" b="0" dirty="0" smtClean="0"/>
              <a:t>uses </a:t>
            </a:r>
            <a:r>
              <a:rPr lang="en-CA" sz="2800" b="0" dirty="0"/>
              <a:t>two key concepts to explain the attitude of the minority group learning second language in </a:t>
            </a:r>
            <a:r>
              <a:rPr lang="en-CA" sz="2800" b="0" dirty="0" smtClean="0"/>
              <a:t>multi-ethnic </a:t>
            </a:r>
            <a:r>
              <a:rPr lang="en-CA" sz="2800" b="0" dirty="0" smtClean="0"/>
              <a:t>settings </a:t>
            </a:r>
            <a:r>
              <a:rPr lang="en-CA" sz="1400" b="0" dirty="0" smtClean="0"/>
              <a:t>(1978 in </a:t>
            </a:r>
            <a:r>
              <a:rPr lang="en-CA" sz="1400" b="0" dirty="0" err="1" smtClean="0"/>
              <a:t>Dornyei</a:t>
            </a:r>
            <a:r>
              <a:rPr lang="en-CA" sz="1400" b="0" dirty="0" smtClean="0"/>
              <a:t> , 2001</a:t>
            </a:r>
            <a:r>
              <a:rPr lang="en-CA" sz="1400" b="0" dirty="0" smtClean="0"/>
              <a:t>).</a:t>
            </a:r>
            <a:endParaRPr lang="en-CA" sz="1400" b="0" dirty="0" smtClean="0"/>
          </a:p>
          <a:p>
            <a:pPr marL="0" indent="0">
              <a:buNone/>
            </a:pPr>
            <a:endParaRPr lang="en-CA" sz="2800" b="0" dirty="0" smtClean="0"/>
          </a:p>
          <a:p>
            <a:r>
              <a:rPr lang="en-CA" sz="2800" b="0" dirty="0" smtClean="0"/>
              <a:t>social-distance </a:t>
            </a:r>
          </a:p>
          <a:p>
            <a:r>
              <a:rPr lang="en-CA" sz="2800" b="0" dirty="0" smtClean="0"/>
              <a:t>psychological distance. </a:t>
            </a:r>
          </a:p>
          <a:p>
            <a:pPr marL="82296" indent="0">
              <a:buNone/>
            </a:pPr>
            <a:endParaRPr lang="en-CA" dirty="0"/>
          </a:p>
        </p:txBody>
      </p:sp>
    </p:spTree>
    <p:extLst>
      <p:ext uri="{BB962C8B-B14F-4D97-AF65-F5344CB8AC3E}">
        <p14:creationId xmlns:p14="http://schemas.microsoft.com/office/powerpoint/2010/main" xmlns="" val="1314488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391400" cy="990600"/>
          </a:xfrm>
        </p:spPr>
        <p:txBody>
          <a:bodyPr/>
          <a:lstStyle/>
          <a:p>
            <a:r>
              <a:rPr lang="en-CA" dirty="0" smtClean="0"/>
              <a:t>Steps to acculturation</a:t>
            </a:r>
            <a:endParaRPr lang="en-CA" dirty="0"/>
          </a:p>
        </p:txBody>
      </p:sp>
      <p:sp>
        <p:nvSpPr>
          <p:cNvPr id="3" name="Content Placeholder 2"/>
          <p:cNvSpPr>
            <a:spLocks noGrp="1"/>
          </p:cNvSpPr>
          <p:nvPr>
            <p:ph sz="quarter" idx="4294967295"/>
          </p:nvPr>
        </p:nvSpPr>
        <p:spPr>
          <a:xfrm>
            <a:off x="457200" y="1676400"/>
            <a:ext cx="8001000" cy="4495800"/>
          </a:xfrm>
          <a:prstGeom prst="rect">
            <a:avLst/>
          </a:prstGeom>
        </p:spPr>
        <p:txBody>
          <a:bodyPr>
            <a:normAutofit/>
          </a:bodyPr>
          <a:lstStyle/>
          <a:p>
            <a:pPr>
              <a:lnSpc>
                <a:spcPct val="150000"/>
              </a:lnSpc>
            </a:pPr>
            <a:r>
              <a:rPr lang="en-CA" sz="2400" b="0" dirty="0" smtClean="0"/>
              <a:t>Seminars</a:t>
            </a:r>
            <a:r>
              <a:rPr lang="en-CA" sz="2400" b="0" dirty="0"/>
              <a:t>, </a:t>
            </a:r>
            <a:r>
              <a:rPr lang="en-CA" sz="2400" b="0" dirty="0" smtClean="0"/>
              <a:t>presentations, and workshops </a:t>
            </a:r>
          </a:p>
          <a:p>
            <a:r>
              <a:rPr lang="en-CA" sz="2400" b="0" dirty="0" smtClean="0"/>
              <a:t>Local festivals </a:t>
            </a:r>
            <a:r>
              <a:rPr lang="en-CA" sz="2400" b="0" dirty="0"/>
              <a:t>and events (multicultural potlucks, Halloween, blueberry/strawberry/apple picking, </a:t>
            </a:r>
            <a:r>
              <a:rPr lang="en-CA" sz="2400" b="0" dirty="0" smtClean="0"/>
              <a:t>Natal </a:t>
            </a:r>
            <a:r>
              <a:rPr lang="en-CA" sz="2400" b="0" dirty="0"/>
              <a:t>D</a:t>
            </a:r>
            <a:r>
              <a:rPr lang="en-CA" sz="2400" b="0" dirty="0" smtClean="0"/>
              <a:t>ay parades, etc.). </a:t>
            </a:r>
          </a:p>
          <a:p>
            <a:r>
              <a:rPr lang="en-CA" sz="2400" b="0" dirty="0" smtClean="0"/>
              <a:t>Field </a:t>
            </a:r>
            <a:r>
              <a:rPr lang="en-CA" sz="2400" b="0" dirty="0" smtClean="0"/>
              <a:t>trips</a:t>
            </a:r>
          </a:p>
          <a:p>
            <a:r>
              <a:rPr lang="en-CA" sz="2400" b="0" dirty="0" smtClean="0"/>
              <a:t>These </a:t>
            </a:r>
            <a:r>
              <a:rPr lang="en-CA" sz="2400" b="0" dirty="0"/>
              <a:t>factors affect their attitude to learn the language of the target culture and </a:t>
            </a:r>
            <a:r>
              <a:rPr lang="en-CA" sz="2400" b="0" dirty="0" smtClean="0"/>
              <a:t>help them set </a:t>
            </a:r>
            <a:r>
              <a:rPr lang="en-CA" sz="2400" b="0" dirty="0"/>
              <a:t>their personal goals for their enhanced inter-ethnic contacts. </a:t>
            </a:r>
            <a:endParaRPr lang="en-CA" sz="2400" b="0" dirty="0" smtClean="0"/>
          </a:p>
          <a:p>
            <a:pPr>
              <a:buNone/>
            </a:pPr>
            <a:endParaRPr lang="en-CA" sz="2400" dirty="0" smtClean="0"/>
          </a:p>
        </p:txBody>
      </p:sp>
    </p:spTree>
    <p:extLst>
      <p:ext uri="{BB962C8B-B14F-4D97-AF65-F5344CB8AC3E}">
        <p14:creationId xmlns:p14="http://schemas.microsoft.com/office/powerpoint/2010/main" xmlns="" val="250169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0"/>
            <a:ext cx="7315200" cy="990600"/>
          </a:xfrm>
        </p:spPr>
        <p:txBody>
          <a:bodyPr/>
          <a:lstStyle/>
          <a:p>
            <a:r>
              <a:rPr lang="en-CA" dirty="0" smtClean="0"/>
              <a:t>Requirements!</a:t>
            </a:r>
            <a:endParaRPr lang="en-CA" dirty="0"/>
          </a:p>
        </p:txBody>
      </p:sp>
      <p:sp>
        <p:nvSpPr>
          <p:cNvPr id="3" name="Content Placeholder 2"/>
          <p:cNvSpPr>
            <a:spLocks noGrp="1"/>
          </p:cNvSpPr>
          <p:nvPr>
            <p:ph sz="quarter" idx="4294967295"/>
          </p:nvPr>
        </p:nvSpPr>
        <p:spPr>
          <a:xfrm>
            <a:off x="609601" y="1676400"/>
            <a:ext cx="8000999" cy="4419600"/>
          </a:xfrm>
          <a:prstGeom prst="rect">
            <a:avLst/>
          </a:prstGeom>
        </p:spPr>
        <p:txBody>
          <a:bodyPr>
            <a:normAutofit fontScale="85000" lnSpcReduction="10000"/>
          </a:bodyPr>
          <a:lstStyle/>
          <a:p>
            <a:pPr marL="0" indent="0">
              <a:buNone/>
            </a:pPr>
            <a:r>
              <a:rPr lang="en-CA" b="0" dirty="0" smtClean="0"/>
              <a:t>L2 </a:t>
            </a:r>
            <a:r>
              <a:rPr lang="en-CA" b="0" dirty="0" smtClean="0"/>
              <a:t>learning requires inclusion of a wide range of social elements:</a:t>
            </a:r>
          </a:p>
          <a:p>
            <a:pPr marL="0" indent="0">
              <a:buNone/>
            </a:pPr>
            <a:endParaRPr lang="en-CA" b="0" dirty="0" smtClean="0"/>
          </a:p>
          <a:p>
            <a:r>
              <a:rPr lang="en-CA" b="0" dirty="0" smtClean="0"/>
              <a:t>multiculturalism</a:t>
            </a:r>
          </a:p>
          <a:p>
            <a:r>
              <a:rPr lang="en-CA" b="0" dirty="0" smtClean="0"/>
              <a:t>language globalization</a:t>
            </a:r>
          </a:p>
          <a:p>
            <a:r>
              <a:rPr lang="en-CA" b="0" dirty="0" smtClean="0"/>
              <a:t>language contact</a:t>
            </a:r>
          </a:p>
          <a:p>
            <a:r>
              <a:rPr lang="en-CA" b="0" dirty="0" smtClean="0"/>
              <a:t>power relations between different ethno-linguistic groups</a:t>
            </a:r>
          </a:p>
          <a:p>
            <a:pPr marL="0" indent="0">
              <a:buNone/>
            </a:pPr>
            <a:endParaRPr lang="en-CA" sz="1700" dirty="0" smtClean="0"/>
          </a:p>
          <a:p>
            <a:pPr marL="0" indent="0">
              <a:buNone/>
            </a:pPr>
            <a:endParaRPr lang="en-CA" sz="1700" dirty="0"/>
          </a:p>
          <a:p>
            <a:pPr marL="0" indent="0">
              <a:buNone/>
            </a:pPr>
            <a:endParaRPr lang="en-CA" sz="1700" dirty="0" smtClean="0"/>
          </a:p>
          <a:p>
            <a:pPr marL="0" indent="0">
              <a:buNone/>
            </a:pPr>
            <a:endParaRPr lang="en-CA" sz="1700" dirty="0"/>
          </a:p>
          <a:p>
            <a:pPr marL="0" indent="0">
              <a:buNone/>
            </a:pPr>
            <a:endParaRPr lang="en-CA" sz="1700" dirty="0" smtClean="0"/>
          </a:p>
          <a:p>
            <a:pPr marL="0" indent="0">
              <a:buNone/>
            </a:pPr>
            <a:endParaRPr lang="en-CA" sz="1700" dirty="0"/>
          </a:p>
          <a:p>
            <a:pPr marL="0" indent="0">
              <a:buNone/>
            </a:pPr>
            <a:endParaRPr lang="en-CA" sz="1700" dirty="0" smtClean="0"/>
          </a:p>
          <a:p>
            <a:pPr marL="0" indent="0">
              <a:buNone/>
            </a:pPr>
            <a:r>
              <a:rPr lang="en-CA" sz="1700" b="0" dirty="0" err="1" smtClean="0"/>
              <a:t>Dornyei</a:t>
            </a:r>
            <a:r>
              <a:rPr lang="en-CA" sz="1700" b="0" dirty="0" smtClean="0"/>
              <a:t> (2003:4) refers to Gardner (1979, cited in </a:t>
            </a:r>
            <a:r>
              <a:rPr lang="en-CA" sz="1700" b="0" dirty="0" err="1" smtClean="0"/>
              <a:t>Dornyei</a:t>
            </a:r>
            <a:r>
              <a:rPr lang="en-CA" sz="1700" b="0" dirty="0" smtClean="0"/>
              <a:t>, 2003) and Williams ( 1994, cited in Dornyei,2003)</a:t>
            </a:r>
            <a:endParaRPr lang="en-CA" sz="1700" b="0" dirty="0"/>
          </a:p>
        </p:txBody>
      </p:sp>
    </p:spTree>
    <p:extLst>
      <p:ext uri="{BB962C8B-B14F-4D97-AF65-F5344CB8AC3E}">
        <p14:creationId xmlns:p14="http://schemas.microsoft.com/office/powerpoint/2010/main" xmlns="" val="93505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28600"/>
            <a:ext cx="7470648" cy="990600"/>
          </a:xfrm>
        </p:spPr>
        <p:txBody>
          <a:bodyPr>
            <a:normAutofit/>
          </a:bodyPr>
          <a:lstStyle/>
          <a:p>
            <a:r>
              <a:rPr lang="en-CA" dirty="0" smtClean="0"/>
              <a:t>Factors influencing acculturation</a:t>
            </a:r>
            <a:endParaRPr lang="en-CA" dirty="0"/>
          </a:p>
        </p:txBody>
      </p:sp>
      <p:sp>
        <p:nvSpPr>
          <p:cNvPr id="3" name="Content Placeholder 2"/>
          <p:cNvSpPr>
            <a:spLocks noGrp="1"/>
          </p:cNvSpPr>
          <p:nvPr>
            <p:ph sz="quarter" idx="4294967295"/>
          </p:nvPr>
        </p:nvSpPr>
        <p:spPr>
          <a:xfrm>
            <a:off x="533400" y="1676400"/>
            <a:ext cx="8077200" cy="4495800"/>
          </a:xfrm>
          <a:prstGeom prst="rect">
            <a:avLst/>
          </a:prstGeom>
        </p:spPr>
        <p:txBody>
          <a:bodyPr>
            <a:normAutofit/>
          </a:bodyPr>
          <a:lstStyle/>
          <a:p>
            <a:r>
              <a:rPr lang="en-CA" sz="2400" b="0" dirty="0" smtClean="0"/>
              <a:t>Length </a:t>
            </a:r>
            <a:r>
              <a:rPr lang="en-CA" sz="2400" b="0" dirty="0"/>
              <a:t>of </a:t>
            </a:r>
            <a:r>
              <a:rPr lang="en-CA" sz="2400" b="0" dirty="0" smtClean="0"/>
              <a:t>residence </a:t>
            </a:r>
            <a:r>
              <a:rPr lang="en-CA" sz="2400" b="0" dirty="0"/>
              <a:t>in the target language area, </a:t>
            </a:r>
            <a:endParaRPr lang="en-CA" sz="2400" b="0" dirty="0" smtClean="0"/>
          </a:p>
          <a:p>
            <a:endParaRPr lang="en-CA" sz="2400" b="0" dirty="0" smtClean="0"/>
          </a:p>
          <a:p>
            <a:r>
              <a:rPr lang="en-CA" sz="2400" b="0" dirty="0" smtClean="0"/>
              <a:t>The </a:t>
            </a:r>
            <a:r>
              <a:rPr lang="en-CA" sz="2400" b="0" dirty="0"/>
              <a:t>amount of anxiety experienced in the new environment, </a:t>
            </a:r>
            <a:endParaRPr lang="en-CA" sz="2400" b="0" dirty="0" smtClean="0"/>
          </a:p>
          <a:p>
            <a:endParaRPr lang="en-CA" sz="2400" b="0" dirty="0" smtClean="0"/>
          </a:p>
          <a:p>
            <a:r>
              <a:rPr lang="en-CA" sz="2400" b="0" dirty="0" smtClean="0"/>
              <a:t>Personal </a:t>
            </a:r>
            <a:r>
              <a:rPr lang="en-CA" sz="2400" b="0" dirty="0"/>
              <a:t>goals for learning the target language (motivational </a:t>
            </a:r>
            <a:r>
              <a:rPr lang="en-CA" sz="2400" b="0" dirty="0" smtClean="0"/>
              <a:t>orientations/integrative and/or instrumental), </a:t>
            </a:r>
          </a:p>
          <a:p>
            <a:endParaRPr lang="en-CA" sz="2400" b="0" dirty="0" smtClean="0"/>
          </a:p>
          <a:p>
            <a:r>
              <a:rPr lang="en-CA" sz="2400" b="0" dirty="0" smtClean="0"/>
              <a:t>Egoistic </a:t>
            </a:r>
            <a:r>
              <a:rPr lang="en-CA" sz="2400" b="0" dirty="0"/>
              <a:t>rigidity of every </a:t>
            </a:r>
            <a:r>
              <a:rPr lang="en-CA" sz="2400" b="0" dirty="0" smtClean="0"/>
              <a:t>individual</a:t>
            </a:r>
            <a:endParaRPr lang="en-CA" sz="2400" b="0" dirty="0"/>
          </a:p>
        </p:txBody>
      </p:sp>
    </p:spTree>
    <p:extLst>
      <p:ext uri="{BB962C8B-B14F-4D97-AF65-F5344CB8AC3E}">
        <p14:creationId xmlns:p14="http://schemas.microsoft.com/office/powerpoint/2010/main" xmlns="" val="258390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04800"/>
            <a:ext cx="7318248" cy="990600"/>
          </a:xfrm>
        </p:spPr>
        <p:txBody>
          <a:bodyPr/>
          <a:lstStyle/>
          <a:p>
            <a:r>
              <a:rPr lang="en-CA" dirty="0" smtClean="0"/>
              <a:t>Research Method</a:t>
            </a:r>
            <a:endParaRPr lang="en-CA" dirty="0"/>
          </a:p>
        </p:txBody>
      </p:sp>
      <p:sp>
        <p:nvSpPr>
          <p:cNvPr id="3" name="Content Placeholder 2"/>
          <p:cNvSpPr>
            <a:spLocks noGrp="1"/>
          </p:cNvSpPr>
          <p:nvPr>
            <p:ph sz="quarter" idx="4294967295"/>
          </p:nvPr>
        </p:nvSpPr>
        <p:spPr>
          <a:xfrm>
            <a:off x="609600" y="1295400"/>
            <a:ext cx="7772400" cy="4648200"/>
          </a:xfrm>
          <a:prstGeom prst="rect">
            <a:avLst/>
          </a:prstGeom>
        </p:spPr>
        <p:txBody>
          <a:bodyPr>
            <a:normAutofit/>
          </a:bodyPr>
          <a:lstStyle/>
          <a:p>
            <a:pPr marL="82296" indent="0">
              <a:buNone/>
            </a:pPr>
            <a:endParaRPr lang="en-US" sz="2400" dirty="0" smtClean="0"/>
          </a:p>
          <a:p>
            <a:r>
              <a:rPr lang="en-US" sz="2400" dirty="0" smtClean="0"/>
              <a:t>Quantitative                       Close-ended questionnaire</a:t>
            </a:r>
          </a:p>
          <a:p>
            <a:pPr marL="514350" indent="-514350">
              <a:buFont typeface="+mj-lt"/>
              <a:buAutoNum type="arabicPeriod"/>
            </a:pPr>
            <a:r>
              <a:rPr lang="en-US" sz="2400" b="0" dirty="0" smtClean="0"/>
              <a:t>Controlled Information</a:t>
            </a:r>
          </a:p>
          <a:p>
            <a:pPr marL="514350" indent="-514350">
              <a:buFont typeface="+mj-lt"/>
              <a:buAutoNum type="arabicPeriod"/>
            </a:pPr>
            <a:r>
              <a:rPr lang="en-US" sz="2400" b="0" dirty="0" smtClean="0"/>
              <a:t>One point of time</a:t>
            </a:r>
          </a:p>
          <a:p>
            <a:endParaRPr lang="en-US" sz="2400" dirty="0" smtClean="0"/>
          </a:p>
          <a:p>
            <a:r>
              <a:rPr lang="en-US" sz="2400" dirty="0" smtClean="0"/>
              <a:t>Qualitative                       Case </a:t>
            </a:r>
            <a:r>
              <a:rPr lang="en-US" sz="2400" dirty="0"/>
              <a:t>Study</a:t>
            </a:r>
          </a:p>
          <a:p>
            <a:pPr marL="514350" indent="-514350">
              <a:buFont typeface="+mj-lt"/>
              <a:buAutoNum type="arabicPeriod"/>
            </a:pPr>
            <a:r>
              <a:rPr lang="en-US" sz="2400" b="0" dirty="0"/>
              <a:t>Detailed description</a:t>
            </a:r>
          </a:p>
          <a:p>
            <a:pPr marL="514350" indent="-514350">
              <a:buFont typeface="+mj-lt"/>
              <a:buAutoNum type="arabicPeriod"/>
            </a:pPr>
            <a:r>
              <a:rPr lang="en-US" sz="2400" b="0" dirty="0"/>
              <a:t>Longitudinal Approach</a:t>
            </a:r>
          </a:p>
          <a:p>
            <a:pPr marL="514350" indent="-514350">
              <a:buFont typeface="+mj-lt"/>
              <a:buAutoNum type="arabicPeriod"/>
            </a:pPr>
            <a:r>
              <a:rPr lang="en-US" sz="2400" b="0" dirty="0"/>
              <a:t>Extended period of time</a:t>
            </a:r>
          </a:p>
          <a:p>
            <a:endParaRPr lang="en-CA" dirty="0"/>
          </a:p>
        </p:txBody>
      </p:sp>
      <p:sp>
        <p:nvSpPr>
          <p:cNvPr id="6" name="Striped Right Arrow 5"/>
          <p:cNvSpPr/>
          <p:nvPr/>
        </p:nvSpPr>
        <p:spPr>
          <a:xfrm>
            <a:off x="2590800" y="1904433"/>
            <a:ext cx="1295400" cy="22860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Striped Right Arrow 7"/>
          <p:cNvSpPr/>
          <p:nvPr/>
        </p:nvSpPr>
        <p:spPr>
          <a:xfrm>
            <a:off x="2568216" y="3635426"/>
            <a:ext cx="1295400" cy="22860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606253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04800"/>
            <a:ext cx="6248400" cy="990600"/>
          </a:xfrm>
        </p:spPr>
        <p:txBody>
          <a:bodyPr>
            <a:normAutofit/>
          </a:bodyPr>
          <a:lstStyle/>
          <a:p>
            <a:r>
              <a:rPr lang="en-CA" dirty="0" smtClean="0"/>
              <a:t>What I did for my research? </a:t>
            </a:r>
            <a:endParaRPr lang="en-CA" dirty="0"/>
          </a:p>
        </p:txBody>
      </p:sp>
      <p:sp>
        <p:nvSpPr>
          <p:cNvPr id="3" name="Content Placeholder 2"/>
          <p:cNvSpPr>
            <a:spLocks noGrp="1"/>
          </p:cNvSpPr>
          <p:nvPr>
            <p:ph sz="quarter" idx="4294967295"/>
          </p:nvPr>
        </p:nvSpPr>
        <p:spPr>
          <a:xfrm>
            <a:off x="609600" y="1676400"/>
            <a:ext cx="7315200" cy="4038600"/>
          </a:xfrm>
          <a:prstGeom prst="rect">
            <a:avLst/>
          </a:prstGeom>
        </p:spPr>
        <p:txBody>
          <a:bodyPr>
            <a:normAutofit/>
          </a:bodyPr>
          <a:lstStyle/>
          <a:p>
            <a:endParaRPr lang="en-US" sz="2400" dirty="0" smtClean="0"/>
          </a:p>
          <a:p>
            <a:r>
              <a:rPr lang="en-US" sz="2400" b="0" dirty="0" smtClean="0"/>
              <a:t>Needs </a:t>
            </a:r>
            <a:r>
              <a:rPr lang="en-US" sz="2400" b="0" dirty="0"/>
              <a:t>assessment </a:t>
            </a:r>
            <a:r>
              <a:rPr lang="en-US" sz="2400" b="0" dirty="0" smtClean="0"/>
              <a:t>surveys</a:t>
            </a:r>
          </a:p>
          <a:p>
            <a:r>
              <a:rPr lang="en-US" sz="2400" b="0" dirty="0" smtClean="0"/>
              <a:t>Goal </a:t>
            </a:r>
            <a:r>
              <a:rPr lang="en-US" sz="2400" b="0" dirty="0"/>
              <a:t>orientation </a:t>
            </a:r>
            <a:r>
              <a:rPr lang="en-US" sz="2400" b="0" dirty="0" smtClean="0"/>
              <a:t>workshops</a:t>
            </a:r>
          </a:p>
          <a:p>
            <a:r>
              <a:rPr lang="en-US" sz="2400" b="0" dirty="0" smtClean="0"/>
              <a:t>Semi </a:t>
            </a:r>
            <a:r>
              <a:rPr lang="en-US" sz="2400" b="0" dirty="0"/>
              <a:t>structured </a:t>
            </a:r>
            <a:r>
              <a:rPr lang="en-US" sz="2400" b="0" dirty="0" smtClean="0"/>
              <a:t>interviews</a:t>
            </a:r>
          </a:p>
          <a:p>
            <a:r>
              <a:rPr lang="en-US" sz="2400" b="0" dirty="0" smtClean="0"/>
              <a:t>Semi </a:t>
            </a:r>
            <a:r>
              <a:rPr lang="en-US" sz="2400" b="0" dirty="0"/>
              <a:t>formal email </a:t>
            </a:r>
            <a:r>
              <a:rPr lang="en-US" sz="2400" b="0" dirty="0" smtClean="0"/>
              <a:t>communications, and</a:t>
            </a:r>
          </a:p>
          <a:p>
            <a:r>
              <a:rPr lang="en-US" sz="2400" b="0" dirty="0" smtClean="0"/>
              <a:t>Placement </a:t>
            </a:r>
            <a:r>
              <a:rPr lang="en-US" sz="2400" b="0" dirty="0"/>
              <a:t>tests or official language benchmark </a:t>
            </a:r>
            <a:r>
              <a:rPr lang="en-US" sz="2400" b="0" dirty="0" smtClean="0"/>
              <a:t>assessment</a:t>
            </a:r>
          </a:p>
        </p:txBody>
      </p:sp>
    </p:spTree>
    <p:extLst>
      <p:ext uri="{BB962C8B-B14F-4D97-AF65-F5344CB8AC3E}">
        <p14:creationId xmlns:p14="http://schemas.microsoft.com/office/powerpoint/2010/main" xmlns="" val="95577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381000"/>
            <a:ext cx="7623048" cy="990600"/>
          </a:xfrm>
        </p:spPr>
        <p:txBody>
          <a:bodyPr>
            <a:normAutofit/>
          </a:bodyPr>
          <a:lstStyle/>
          <a:p>
            <a:r>
              <a:rPr lang="en-CA" sz="3900" dirty="0"/>
              <a:t>Why I did it this way..</a:t>
            </a:r>
          </a:p>
        </p:txBody>
      </p:sp>
      <p:sp>
        <p:nvSpPr>
          <p:cNvPr id="3" name="Content Placeholder 2"/>
          <p:cNvSpPr>
            <a:spLocks noGrp="1"/>
          </p:cNvSpPr>
          <p:nvPr>
            <p:ph sz="quarter" idx="4294967295"/>
          </p:nvPr>
        </p:nvSpPr>
        <p:spPr>
          <a:xfrm>
            <a:off x="609600" y="1676400"/>
            <a:ext cx="7696200" cy="4495800"/>
          </a:xfrm>
          <a:prstGeom prst="rect">
            <a:avLst/>
          </a:prstGeom>
        </p:spPr>
        <p:txBody>
          <a:bodyPr>
            <a:normAutofit lnSpcReduction="10000"/>
          </a:bodyPr>
          <a:lstStyle/>
          <a:p>
            <a:pPr marL="82296" indent="0">
              <a:buNone/>
            </a:pPr>
            <a:r>
              <a:rPr lang="en-US" sz="2400" b="1" dirty="0" smtClean="0"/>
              <a:t>Semi </a:t>
            </a:r>
            <a:r>
              <a:rPr lang="en-US" sz="2400" b="1" dirty="0"/>
              <a:t>structured interviews </a:t>
            </a:r>
            <a:endParaRPr lang="en-US" sz="2400" b="1" dirty="0" smtClean="0"/>
          </a:p>
          <a:p>
            <a:r>
              <a:rPr lang="en-US" sz="2400" b="0" dirty="0" smtClean="0"/>
              <a:t>helped </a:t>
            </a:r>
            <a:r>
              <a:rPr lang="en-US" sz="2400" b="0" dirty="0"/>
              <a:t>elicit additional information and more detailed personalized answers through open-ended questions rather than choosing from a set of provided answers (surveys/close-ended questions). </a:t>
            </a:r>
            <a:endParaRPr lang="en-US" sz="2400" b="0" dirty="0" smtClean="0"/>
          </a:p>
          <a:p>
            <a:pPr>
              <a:buNone/>
            </a:pPr>
            <a:endParaRPr lang="en-US" sz="2400" b="1" dirty="0" smtClean="0"/>
          </a:p>
          <a:p>
            <a:pPr marL="0" indent="0">
              <a:buNone/>
            </a:pPr>
            <a:r>
              <a:rPr lang="en-US" sz="2400" dirty="0" smtClean="0"/>
              <a:t>In-class </a:t>
            </a:r>
            <a:r>
              <a:rPr lang="en-US" sz="2400" dirty="0"/>
              <a:t>observations </a:t>
            </a:r>
            <a:endParaRPr lang="en-US" sz="2400" dirty="0" smtClean="0"/>
          </a:p>
          <a:p>
            <a:r>
              <a:rPr lang="en-US" sz="2400" b="0" dirty="0" smtClean="0"/>
              <a:t>helped </a:t>
            </a:r>
            <a:r>
              <a:rPr lang="en-US" sz="2400" b="0" dirty="0"/>
              <a:t>collect data of ‘participants’ behavior and actions’ </a:t>
            </a:r>
            <a:r>
              <a:rPr lang="en-US" sz="2400" b="0" dirty="0" smtClean="0"/>
              <a:t>and reactions </a:t>
            </a:r>
            <a:r>
              <a:rPr lang="en-US" sz="2400" b="0" dirty="0"/>
              <a:t>in the learning context </a:t>
            </a:r>
            <a:r>
              <a:rPr lang="en-US" sz="1400" dirty="0" smtClean="0"/>
              <a:t>(Mackey </a:t>
            </a:r>
            <a:r>
              <a:rPr lang="en-US" sz="1400" dirty="0"/>
              <a:t>&amp; </a:t>
            </a:r>
            <a:r>
              <a:rPr lang="en-US" sz="1400" dirty="0" err="1"/>
              <a:t>Gass</a:t>
            </a:r>
            <a:r>
              <a:rPr lang="en-US" sz="1400" dirty="0"/>
              <a:t> (</a:t>
            </a:r>
            <a:r>
              <a:rPr lang="en-US" sz="1400" dirty="0" smtClean="0"/>
              <a:t>2005:176)</a:t>
            </a:r>
          </a:p>
          <a:p>
            <a:pPr marL="514350" indent="-514350">
              <a:buFont typeface="+mj-lt"/>
              <a:buAutoNum type="arabicPeriod"/>
            </a:pPr>
            <a:r>
              <a:rPr lang="en-US" sz="2400" b="0" dirty="0" smtClean="0"/>
              <a:t>Attitudinal </a:t>
            </a:r>
            <a:r>
              <a:rPr lang="en-US" sz="2400" b="0" dirty="0"/>
              <a:t>orientations </a:t>
            </a:r>
            <a:endParaRPr lang="en-US" sz="2400" b="0" dirty="0" smtClean="0"/>
          </a:p>
          <a:p>
            <a:pPr marL="514350" indent="-514350">
              <a:buFont typeface="+mj-lt"/>
              <a:buAutoNum type="arabicPeriod"/>
            </a:pPr>
            <a:r>
              <a:rPr lang="en-US" sz="2400" b="0" dirty="0" smtClean="0"/>
              <a:t>Goal </a:t>
            </a:r>
            <a:r>
              <a:rPr lang="en-US" sz="2400" b="0" dirty="0"/>
              <a:t>orientation, and self efficacy’ etc. </a:t>
            </a:r>
            <a:endParaRPr lang="en-CA" sz="2400" b="0" dirty="0"/>
          </a:p>
          <a:p>
            <a:pPr marL="82296" indent="0">
              <a:buNone/>
            </a:pPr>
            <a:endParaRPr lang="en-CA" dirty="0"/>
          </a:p>
        </p:txBody>
      </p:sp>
    </p:spTree>
    <p:extLst>
      <p:ext uri="{BB962C8B-B14F-4D97-AF65-F5344CB8AC3E}">
        <p14:creationId xmlns:p14="http://schemas.microsoft.com/office/powerpoint/2010/main" xmlns="" val="150709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543800" cy="990600"/>
          </a:xfrm>
        </p:spPr>
        <p:txBody>
          <a:bodyPr/>
          <a:lstStyle/>
          <a:p>
            <a:r>
              <a:rPr lang="en-CA" dirty="0" smtClean="0"/>
              <a:t>What happened next..</a:t>
            </a:r>
            <a:endParaRPr lang="en-CA" dirty="0"/>
          </a:p>
        </p:txBody>
      </p:sp>
      <p:sp>
        <p:nvSpPr>
          <p:cNvPr id="3" name="Content Placeholder 2"/>
          <p:cNvSpPr>
            <a:spLocks noGrp="1"/>
          </p:cNvSpPr>
          <p:nvPr>
            <p:ph sz="quarter" idx="4294967295"/>
          </p:nvPr>
        </p:nvSpPr>
        <p:spPr>
          <a:xfrm>
            <a:off x="609600" y="1676400"/>
            <a:ext cx="7162800" cy="4495800"/>
          </a:xfrm>
          <a:prstGeom prst="rect">
            <a:avLst/>
          </a:prstGeom>
        </p:spPr>
        <p:txBody>
          <a:bodyPr>
            <a:normAutofit/>
          </a:bodyPr>
          <a:lstStyle/>
          <a:p>
            <a:pPr marL="0" indent="0">
              <a:buNone/>
            </a:pPr>
            <a:r>
              <a:rPr lang="en-US" sz="3200" b="1" dirty="0" smtClean="0"/>
              <a:t>Two types of </a:t>
            </a:r>
            <a:r>
              <a:rPr lang="en-US" sz="3200" b="1" dirty="0"/>
              <a:t>Interviews</a:t>
            </a:r>
          </a:p>
          <a:p>
            <a:r>
              <a:rPr lang="en-US" sz="2400" dirty="0" smtClean="0"/>
              <a:t>Intake Interviews                           Notes</a:t>
            </a:r>
          </a:p>
          <a:p>
            <a:pPr marL="82296" indent="0">
              <a:buNone/>
            </a:pPr>
            <a:endParaRPr lang="en-US" sz="1800" b="0" dirty="0" smtClean="0"/>
          </a:p>
          <a:p>
            <a:pPr marL="82296" indent="0">
              <a:buNone/>
            </a:pPr>
            <a:r>
              <a:rPr lang="en-US" sz="1800" b="0" dirty="0" smtClean="0"/>
              <a:t>Results </a:t>
            </a:r>
            <a:r>
              <a:rPr lang="en-US" sz="1800" b="0" dirty="0"/>
              <a:t>of the intake </a:t>
            </a:r>
            <a:r>
              <a:rPr lang="en-US" sz="1800" b="0" dirty="0" smtClean="0"/>
              <a:t>interviews </a:t>
            </a:r>
            <a:r>
              <a:rPr lang="en-US" sz="1800" b="0" dirty="0"/>
              <a:t>demonstrated that more learners were interested in improving their listening and speaking skills in order to be able to communicate with the English speaking society. </a:t>
            </a:r>
            <a:endParaRPr lang="en-US" sz="1800" b="0" dirty="0" smtClean="0"/>
          </a:p>
          <a:p>
            <a:pPr marL="0" indent="0">
              <a:buNone/>
            </a:pPr>
            <a:endParaRPr lang="en-US" sz="2400" dirty="0" smtClean="0"/>
          </a:p>
          <a:p>
            <a:r>
              <a:rPr lang="en-US" sz="2400" dirty="0" smtClean="0"/>
              <a:t>In-class observations                       Vignettes</a:t>
            </a:r>
          </a:p>
          <a:p>
            <a:r>
              <a:rPr lang="en-US" sz="2400" dirty="0" smtClean="0"/>
              <a:t>Final Interviews                      Notes</a:t>
            </a:r>
          </a:p>
          <a:p>
            <a:pPr marL="0" indent="0">
              <a:buNone/>
            </a:pPr>
            <a:endParaRPr lang="en-US" dirty="0" smtClean="0"/>
          </a:p>
          <a:p>
            <a:endParaRPr lang="en-CA" dirty="0"/>
          </a:p>
        </p:txBody>
      </p:sp>
      <p:sp>
        <p:nvSpPr>
          <p:cNvPr id="6" name="Right Arrow 5"/>
          <p:cNvSpPr/>
          <p:nvPr/>
        </p:nvSpPr>
        <p:spPr>
          <a:xfrm>
            <a:off x="3733800" y="4495800"/>
            <a:ext cx="1371600" cy="1861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ight Arrow 6"/>
          <p:cNvSpPr/>
          <p:nvPr/>
        </p:nvSpPr>
        <p:spPr>
          <a:xfrm>
            <a:off x="3375710" y="2363284"/>
            <a:ext cx="1371600" cy="1861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ight Arrow 7"/>
          <p:cNvSpPr/>
          <p:nvPr/>
        </p:nvSpPr>
        <p:spPr>
          <a:xfrm>
            <a:off x="3048000" y="4953000"/>
            <a:ext cx="1371600" cy="1861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167966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7315200" cy="990600"/>
          </a:xfrm>
        </p:spPr>
        <p:txBody>
          <a:bodyPr/>
          <a:lstStyle/>
          <a:p>
            <a:r>
              <a:rPr lang="en-CA" dirty="0" smtClean="0"/>
              <a:t>Participants’ profile</a:t>
            </a:r>
            <a:endParaRPr lang="en-CA" dirty="0"/>
          </a:p>
        </p:txBody>
      </p:sp>
      <p:sp>
        <p:nvSpPr>
          <p:cNvPr id="3" name="Content Placeholder 2"/>
          <p:cNvSpPr>
            <a:spLocks noGrp="1"/>
          </p:cNvSpPr>
          <p:nvPr>
            <p:ph sz="quarter" idx="4294967295"/>
          </p:nvPr>
        </p:nvSpPr>
        <p:spPr>
          <a:xfrm>
            <a:off x="609600" y="1676400"/>
            <a:ext cx="7620000" cy="4495800"/>
          </a:xfrm>
          <a:prstGeom prst="rect">
            <a:avLst/>
          </a:prstGeom>
        </p:spPr>
        <p:txBody>
          <a:bodyPr>
            <a:normAutofit/>
          </a:bodyPr>
          <a:lstStyle/>
          <a:p>
            <a:pPr marL="0" indent="0">
              <a:buNone/>
            </a:pPr>
            <a:r>
              <a:rPr lang="en-US" sz="2800" b="1" dirty="0" smtClean="0"/>
              <a:t>   Setting </a:t>
            </a:r>
            <a:r>
              <a:rPr lang="en-US" sz="2800" b="1" dirty="0"/>
              <a:t>One: </a:t>
            </a:r>
            <a:r>
              <a:rPr lang="en-US" sz="2800" b="1" dirty="0" smtClean="0"/>
              <a:t>Non-Academic</a:t>
            </a:r>
          </a:p>
          <a:p>
            <a:pPr marL="0" indent="0">
              <a:buNone/>
            </a:pPr>
            <a:endParaRPr lang="en-US" sz="2800" b="1" dirty="0"/>
          </a:p>
          <a:p>
            <a:r>
              <a:rPr lang="en-US" sz="2400" b="0" dirty="0" smtClean="0"/>
              <a:t>six </a:t>
            </a:r>
            <a:r>
              <a:rPr lang="en-US" sz="2400" b="0" dirty="0"/>
              <a:t>adult female (women) Arab immigrants. </a:t>
            </a:r>
          </a:p>
          <a:p>
            <a:r>
              <a:rPr lang="en-US" sz="2400" b="0" dirty="0" smtClean="0"/>
              <a:t>one </a:t>
            </a:r>
            <a:r>
              <a:rPr lang="en-US" sz="2400" b="0" dirty="0"/>
              <a:t>to eight </a:t>
            </a:r>
            <a:r>
              <a:rPr lang="en-US" sz="2400" b="0" dirty="0" smtClean="0"/>
              <a:t>years of stay in Canada</a:t>
            </a:r>
          </a:p>
          <a:p>
            <a:r>
              <a:rPr lang="en-US" sz="2400" b="0" dirty="0" smtClean="0"/>
              <a:t>wide </a:t>
            </a:r>
            <a:r>
              <a:rPr lang="en-US" sz="2400" b="0" dirty="0" smtClean="0"/>
              <a:t>range of age </a:t>
            </a:r>
            <a:r>
              <a:rPr lang="en-US" sz="2400" b="0" dirty="0"/>
              <a:t>group of 27-55 years. </a:t>
            </a:r>
            <a:endParaRPr lang="en-US" sz="2400" b="0" dirty="0" smtClean="0"/>
          </a:p>
          <a:p>
            <a:r>
              <a:rPr lang="en-US" sz="2400" b="0" dirty="0" smtClean="0"/>
              <a:t>immigrated </a:t>
            </a:r>
            <a:r>
              <a:rPr lang="en-US" sz="2400" b="0" dirty="0"/>
              <a:t>to Canada under the ‘family class’ category with their spouses and children. </a:t>
            </a:r>
            <a:endParaRPr lang="en-US" sz="2400" b="0" dirty="0" smtClean="0"/>
          </a:p>
          <a:p>
            <a:r>
              <a:rPr lang="en-US" sz="2400" b="0" dirty="0" smtClean="0"/>
              <a:t>speak </a:t>
            </a:r>
            <a:r>
              <a:rPr lang="en-US" sz="2400" b="0" dirty="0"/>
              <a:t>Arabic as their first </a:t>
            </a:r>
            <a:r>
              <a:rPr lang="en-US" sz="2400" b="0" dirty="0" smtClean="0"/>
              <a:t>language </a:t>
            </a:r>
            <a:r>
              <a:rPr lang="en-US" sz="2400" b="0" dirty="0"/>
              <a:t>at home.</a:t>
            </a:r>
            <a:r>
              <a:rPr lang="en-US" sz="2400" dirty="0"/>
              <a:t> </a:t>
            </a:r>
            <a:endParaRPr lang="en-CA" sz="2400" dirty="0"/>
          </a:p>
          <a:p>
            <a:pPr marL="0" indent="0">
              <a:buNone/>
            </a:pPr>
            <a:endParaRPr lang="en-CA" dirty="0"/>
          </a:p>
        </p:txBody>
      </p:sp>
    </p:spTree>
    <p:extLst>
      <p:ext uri="{BB962C8B-B14F-4D97-AF65-F5344CB8AC3E}">
        <p14:creationId xmlns:p14="http://schemas.microsoft.com/office/powerpoint/2010/main" xmlns="" val="175096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Participants’ profile</a:t>
            </a:r>
          </a:p>
        </p:txBody>
      </p:sp>
      <p:sp>
        <p:nvSpPr>
          <p:cNvPr id="3" name="Content Placeholder 2"/>
          <p:cNvSpPr>
            <a:spLocks noGrp="1"/>
          </p:cNvSpPr>
          <p:nvPr>
            <p:ph idx="1"/>
          </p:nvPr>
        </p:nvSpPr>
        <p:spPr/>
        <p:txBody>
          <a:bodyPr/>
          <a:lstStyle/>
          <a:p>
            <a:pPr marL="0" indent="0">
              <a:buNone/>
            </a:pPr>
            <a:r>
              <a:rPr lang="en-US" dirty="0"/>
              <a:t> Setting Two: </a:t>
            </a:r>
            <a:r>
              <a:rPr lang="en-US" dirty="0" smtClean="0"/>
              <a:t>Academic</a:t>
            </a:r>
          </a:p>
          <a:p>
            <a:pPr marL="0" indent="0">
              <a:buNone/>
            </a:pPr>
            <a:endParaRPr lang="en-US" dirty="0" smtClean="0"/>
          </a:p>
          <a:p>
            <a:r>
              <a:rPr lang="en-US" sz="2400" b="0" dirty="0"/>
              <a:t>Adult female prospective students with Arabic language background </a:t>
            </a:r>
            <a:endParaRPr lang="en-US" sz="2400" b="0" dirty="0" smtClean="0"/>
          </a:p>
          <a:p>
            <a:r>
              <a:rPr lang="en-US" sz="2400" b="0" dirty="0"/>
              <a:t>The duration of their stay in Canada ranges from one week to 18 months</a:t>
            </a:r>
            <a:r>
              <a:rPr lang="en-US" sz="2400" b="0" dirty="0" smtClean="0"/>
              <a:t>.</a:t>
            </a:r>
          </a:p>
          <a:p>
            <a:r>
              <a:rPr lang="en-US" sz="2400" b="0" dirty="0"/>
              <a:t> Participants belong to the age group of 18-27 years. </a:t>
            </a:r>
            <a:endParaRPr lang="en-US" sz="2400" b="0" dirty="0" smtClean="0"/>
          </a:p>
          <a:p>
            <a:r>
              <a:rPr lang="en-US" sz="2400" b="0" dirty="0" smtClean="0"/>
              <a:t>Most </a:t>
            </a:r>
            <a:r>
              <a:rPr lang="en-US" sz="2400" b="0" dirty="0"/>
              <a:t>of them came to Canada under the ‘student visa’ category </a:t>
            </a:r>
            <a:endParaRPr lang="en-US" sz="2400" b="0" dirty="0" smtClean="0"/>
          </a:p>
          <a:p>
            <a:r>
              <a:rPr lang="en-US" sz="2400" b="0" dirty="0"/>
              <a:t>All of the learners speak Arabic as their first language    at home. </a:t>
            </a:r>
            <a:endParaRPr lang="en-CA" sz="2400" b="0" dirty="0"/>
          </a:p>
          <a:p>
            <a:pPr marL="0" indent="0">
              <a:buNone/>
            </a:pPr>
            <a:endParaRPr lang="en-US" dirty="0"/>
          </a:p>
          <a:p>
            <a:endParaRPr lang="en-US" dirty="0"/>
          </a:p>
          <a:p>
            <a:endParaRPr lang="en-US" dirty="0"/>
          </a:p>
          <a:p>
            <a:endParaRPr lang="en-US" dirty="0"/>
          </a:p>
          <a:p>
            <a:endParaRPr lang="en-US" dirty="0" smtClean="0"/>
          </a:p>
          <a:p>
            <a:endParaRPr lang="en-CA" dirty="0"/>
          </a:p>
        </p:txBody>
      </p:sp>
    </p:spTree>
    <p:extLst>
      <p:ext uri="{BB962C8B-B14F-4D97-AF65-F5344CB8AC3E}">
        <p14:creationId xmlns:p14="http://schemas.microsoft.com/office/powerpoint/2010/main" xmlns="" val="17935078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7315200" cy="990600"/>
          </a:xfrm>
        </p:spPr>
        <p:txBody>
          <a:bodyPr/>
          <a:lstStyle/>
          <a:p>
            <a:r>
              <a:rPr lang="en-CA" dirty="0" smtClean="0"/>
              <a:t>Findings!</a:t>
            </a:r>
            <a:endParaRPr lang="en-CA" dirty="0"/>
          </a:p>
        </p:txBody>
      </p:sp>
      <p:sp>
        <p:nvSpPr>
          <p:cNvPr id="3" name="Content Placeholder 2"/>
          <p:cNvSpPr>
            <a:spLocks noGrp="1"/>
          </p:cNvSpPr>
          <p:nvPr>
            <p:ph sz="quarter" idx="4294967295"/>
          </p:nvPr>
        </p:nvSpPr>
        <p:spPr>
          <a:xfrm>
            <a:off x="762000" y="1600200"/>
            <a:ext cx="7162800" cy="4572000"/>
          </a:xfrm>
          <a:prstGeom prst="rect">
            <a:avLst/>
          </a:prstGeom>
        </p:spPr>
        <p:txBody>
          <a:bodyPr>
            <a:noAutofit/>
          </a:bodyPr>
          <a:lstStyle/>
          <a:p>
            <a:pPr marL="514350" indent="-514350"/>
            <a:endParaRPr lang="en-US" sz="2400" b="0" dirty="0" smtClean="0"/>
          </a:p>
          <a:p>
            <a:pPr marL="514350" indent="-514350"/>
            <a:r>
              <a:rPr lang="en-US" sz="2400" b="0" dirty="0" smtClean="0"/>
              <a:t>Both </a:t>
            </a:r>
            <a:r>
              <a:rPr lang="en-US" sz="2400" b="0" dirty="0"/>
              <a:t>integrative and instrumental constructs of motivation were </a:t>
            </a:r>
            <a:r>
              <a:rPr lang="en-US" sz="2400" b="0" dirty="0" smtClean="0"/>
              <a:t>found.</a:t>
            </a:r>
          </a:p>
          <a:p>
            <a:pPr marL="514350" indent="-514350"/>
            <a:r>
              <a:rPr lang="en-US" sz="2400" b="0" dirty="0" smtClean="0"/>
              <a:t>The </a:t>
            </a:r>
            <a:r>
              <a:rPr lang="en-US" sz="2400" b="0" dirty="0"/>
              <a:t>two </a:t>
            </a:r>
            <a:r>
              <a:rPr lang="en-US" sz="2400" b="0" dirty="0" smtClean="0"/>
              <a:t>orientations, however,  </a:t>
            </a:r>
            <a:r>
              <a:rPr lang="en-US" sz="2400" b="0" dirty="0"/>
              <a:t>appeared inseparable</a:t>
            </a:r>
            <a:r>
              <a:rPr lang="en-US" sz="2400" b="0" dirty="0" smtClean="0"/>
              <a:t>.</a:t>
            </a:r>
            <a:endParaRPr lang="en-US" sz="2400" b="0" dirty="0"/>
          </a:p>
          <a:p>
            <a:pPr marL="514350" indent="-514350"/>
            <a:r>
              <a:rPr lang="en-US" sz="2400" b="0" dirty="0" smtClean="0"/>
              <a:t>Change in psychological </a:t>
            </a:r>
            <a:r>
              <a:rPr lang="en-US" sz="2400" b="0" dirty="0"/>
              <a:t>attitude to the local language and </a:t>
            </a:r>
            <a:r>
              <a:rPr lang="en-US" sz="2400" b="0" dirty="0" smtClean="0"/>
              <a:t>culture was observed. </a:t>
            </a:r>
          </a:p>
          <a:p>
            <a:pPr marL="514350" indent="-514350"/>
            <a:r>
              <a:rPr lang="en-US" sz="2400" b="0" dirty="0" smtClean="0"/>
              <a:t>The </a:t>
            </a:r>
            <a:r>
              <a:rPr lang="en-US" sz="2400" b="0" dirty="0"/>
              <a:t>passing time results in wider interaction and deeper </a:t>
            </a:r>
            <a:r>
              <a:rPr lang="en-US" sz="2400" b="0" dirty="0" smtClean="0"/>
              <a:t>integration.</a:t>
            </a:r>
          </a:p>
          <a:p>
            <a:pPr marL="514350" indent="-514350"/>
            <a:r>
              <a:rPr lang="en-US" sz="2400" b="0" dirty="0"/>
              <a:t>Successful language learning process helps them aim at </a:t>
            </a:r>
            <a:r>
              <a:rPr lang="en-US" sz="2400" b="0" dirty="0" smtClean="0"/>
              <a:t>a new </a:t>
            </a:r>
            <a:r>
              <a:rPr lang="en-US" sz="2400" b="0" dirty="0"/>
              <a:t>set of </a:t>
            </a:r>
            <a:r>
              <a:rPr lang="en-US" sz="2400" b="0" dirty="0" smtClean="0"/>
              <a:t>goals.</a:t>
            </a:r>
            <a:endParaRPr lang="en-US" sz="2400" b="0" dirty="0"/>
          </a:p>
          <a:p>
            <a:pPr marL="0" indent="0">
              <a:buNone/>
            </a:pPr>
            <a:endParaRPr lang="en-US" sz="2400" dirty="0" smtClean="0"/>
          </a:p>
          <a:p>
            <a:pPr marL="0" indent="0">
              <a:buNone/>
            </a:pPr>
            <a:r>
              <a:rPr lang="en-US" sz="2400" dirty="0" smtClean="0"/>
              <a:t> </a:t>
            </a:r>
            <a:endParaRPr lang="en-CA" sz="2400" dirty="0"/>
          </a:p>
        </p:txBody>
      </p:sp>
    </p:spTree>
    <p:extLst>
      <p:ext uri="{BB962C8B-B14F-4D97-AF65-F5344CB8AC3E}">
        <p14:creationId xmlns:p14="http://schemas.microsoft.com/office/powerpoint/2010/main" xmlns="" val="166499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543800" cy="990600"/>
          </a:xfrm>
        </p:spPr>
        <p:txBody>
          <a:bodyPr>
            <a:normAutofit/>
          </a:bodyPr>
          <a:lstStyle/>
          <a:p>
            <a:r>
              <a:rPr lang="en-CA" sz="3600" b="1" dirty="0" smtClean="0"/>
              <a:t>New goals emerging</a:t>
            </a:r>
            <a:endParaRPr lang="en-CA" sz="3600" dirty="0"/>
          </a:p>
        </p:txBody>
      </p:sp>
      <p:sp>
        <p:nvSpPr>
          <p:cNvPr id="3" name="Content Placeholder 2"/>
          <p:cNvSpPr>
            <a:spLocks noGrp="1"/>
          </p:cNvSpPr>
          <p:nvPr>
            <p:ph sz="quarter" idx="4294967295"/>
          </p:nvPr>
        </p:nvSpPr>
        <p:spPr>
          <a:xfrm>
            <a:off x="685800" y="1676400"/>
            <a:ext cx="7543800" cy="4495800"/>
          </a:xfrm>
          <a:prstGeom prst="rect">
            <a:avLst/>
          </a:prstGeom>
        </p:spPr>
        <p:txBody>
          <a:bodyPr>
            <a:normAutofit/>
          </a:bodyPr>
          <a:lstStyle/>
          <a:p>
            <a:pPr marL="82296" lvl="0" indent="0">
              <a:buNone/>
            </a:pPr>
            <a:r>
              <a:rPr lang="en-CA" sz="2600" b="0" dirty="0" smtClean="0"/>
              <a:t>The </a:t>
            </a:r>
            <a:r>
              <a:rPr lang="en-CA" sz="2600" b="0" dirty="0"/>
              <a:t>ESL competence helps learners in goal </a:t>
            </a:r>
            <a:r>
              <a:rPr lang="en-CA" sz="2600" b="0" dirty="0" smtClean="0"/>
              <a:t>orientation </a:t>
            </a:r>
            <a:r>
              <a:rPr lang="en-CA" sz="2600" b="0" dirty="0"/>
              <a:t>and goal </a:t>
            </a:r>
            <a:r>
              <a:rPr lang="en-CA" sz="2600" b="0" dirty="0" smtClean="0"/>
              <a:t>setting. </a:t>
            </a:r>
            <a:r>
              <a:rPr lang="en-CA" sz="2600" b="0" dirty="0" smtClean="0"/>
              <a:t>These </a:t>
            </a:r>
            <a:r>
              <a:rPr lang="en-CA" sz="2600" b="0" dirty="0"/>
              <a:t>goals may be related to </a:t>
            </a:r>
            <a:endParaRPr lang="en-CA" sz="2600" b="0" dirty="0" smtClean="0"/>
          </a:p>
          <a:p>
            <a:pPr marL="82296" lvl="0" indent="0">
              <a:buNone/>
            </a:pPr>
            <a:endParaRPr lang="en-CA" sz="2600" b="0" dirty="0" smtClean="0"/>
          </a:p>
          <a:p>
            <a:r>
              <a:rPr lang="en-CA" sz="2600" b="0" dirty="0" smtClean="0"/>
              <a:t>achieving language competence </a:t>
            </a:r>
            <a:r>
              <a:rPr lang="en-CA" sz="2600" b="0" dirty="0"/>
              <a:t>for their social integration </a:t>
            </a:r>
            <a:endParaRPr lang="en-CA" sz="2600" b="0" dirty="0" smtClean="0"/>
          </a:p>
          <a:p>
            <a:r>
              <a:rPr lang="en-CA" sz="2600" b="0" dirty="0" smtClean="0"/>
              <a:t>moving </a:t>
            </a:r>
            <a:r>
              <a:rPr lang="en-CA" sz="2600" b="0" dirty="0"/>
              <a:t>upward into the target language culture and community </a:t>
            </a:r>
            <a:endParaRPr lang="en-CA" sz="2600" b="0" dirty="0" smtClean="0"/>
          </a:p>
          <a:p>
            <a:r>
              <a:rPr lang="en-CA" sz="2600" b="0" dirty="0" smtClean="0"/>
              <a:t>seeking </a:t>
            </a:r>
            <a:r>
              <a:rPr lang="en-CA" sz="2600" b="0" dirty="0"/>
              <a:t>jobs or upgrading professional </a:t>
            </a:r>
            <a:r>
              <a:rPr lang="en-CA" sz="2600" b="0" dirty="0" smtClean="0"/>
              <a:t>qualification</a:t>
            </a:r>
          </a:p>
          <a:p>
            <a:r>
              <a:rPr lang="en-CA" sz="2600" b="0" dirty="0" smtClean="0"/>
              <a:t>understanding </a:t>
            </a:r>
            <a:r>
              <a:rPr lang="en-CA" sz="2600" b="0" dirty="0"/>
              <a:t>their needs </a:t>
            </a:r>
            <a:r>
              <a:rPr lang="en-CA" sz="2600" b="0" dirty="0" smtClean="0"/>
              <a:t>better and </a:t>
            </a:r>
            <a:r>
              <a:rPr lang="en-CA" sz="2600" b="0" dirty="0"/>
              <a:t>adjust their goals </a:t>
            </a:r>
            <a:r>
              <a:rPr lang="en-CA" sz="2600" b="0" dirty="0" smtClean="0"/>
              <a:t>accordingly  </a:t>
            </a:r>
            <a:endParaRPr lang="en-CA" sz="2600" b="0" dirty="0"/>
          </a:p>
          <a:p>
            <a:pPr marL="82296" indent="0">
              <a:buNone/>
            </a:pPr>
            <a:endParaRPr lang="en-CA" dirty="0"/>
          </a:p>
          <a:p>
            <a:endParaRPr lang="en-CA" dirty="0"/>
          </a:p>
        </p:txBody>
      </p:sp>
    </p:spTree>
    <p:extLst>
      <p:ext uri="{BB962C8B-B14F-4D97-AF65-F5344CB8AC3E}">
        <p14:creationId xmlns:p14="http://schemas.microsoft.com/office/powerpoint/2010/main" xmlns="" val="273660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467600" cy="990600"/>
          </a:xfrm>
        </p:spPr>
        <p:txBody>
          <a:bodyPr>
            <a:noAutofit/>
          </a:bodyPr>
          <a:lstStyle/>
          <a:p>
            <a:r>
              <a:rPr lang="fr-FR" sz="3200" b="1" dirty="0" smtClean="0"/>
              <a:t/>
            </a:r>
            <a:br>
              <a:rPr lang="fr-FR" sz="3200" b="1" dirty="0" smtClean="0"/>
            </a:br>
            <a:r>
              <a:rPr lang="fr-FR" sz="3200" b="1" dirty="0" smtClean="0"/>
              <a:t>Implications </a:t>
            </a:r>
            <a:r>
              <a:rPr lang="fr-FR" sz="3200" b="1" dirty="0"/>
              <a:t>for Future Practice </a:t>
            </a:r>
            <a:r>
              <a:rPr lang="en-CA" sz="3200" dirty="0"/>
              <a:t/>
            </a:r>
            <a:br>
              <a:rPr lang="en-CA" sz="3200" dirty="0"/>
            </a:br>
            <a:endParaRPr lang="en-CA" sz="3200" dirty="0"/>
          </a:p>
        </p:txBody>
      </p:sp>
      <p:sp>
        <p:nvSpPr>
          <p:cNvPr id="3" name="Content Placeholder 2"/>
          <p:cNvSpPr>
            <a:spLocks noGrp="1"/>
          </p:cNvSpPr>
          <p:nvPr>
            <p:ph sz="quarter" idx="4294967295"/>
          </p:nvPr>
        </p:nvSpPr>
        <p:spPr>
          <a:xfrm>
            <a:off x="457200" y="1219200"/>
            <a:ext cx="8229600" cy="4953000"/>
          </a:xfrm>
          <a:prstGeom prst="rect">
            <a:avLst/>
          </a:prstGeom>
        </p:spPr>
        <p:txBody>
          <a:bodyPr>
            <a:normAutofit fontScale="92500" lnSpcReduction="10000"/>
          </a:bodyPr>
          <a:lstStyle/>
          <a:p>
            <a:pPr marL="82296" indent="0">
              <a:buNone/>
            </a:pPr>
            <a:endParaRPr lang="en-CA" dirty="0"/>
          </a:p>
          <a:p>
            <a:r>
              <a:rPr lang="en-US" sz="2600" b="0" dirty="0" smtClean="0"/>
              <a:t>learners </a:t>
            </a:r>
            <a:r>
              <a:rPr lang="en-US" sz="2600" b="0" dirty="0"/>
              <a:t>need to adopt a more positive attitude towards the target language and culture </a:t>
            </a:r>
            <a:endParaRPr lang="en-US" sz="2600" b="0" dirty="0" smtClean="0"/>
          </a:p>
          <a:p>
            <a:r>
              <a:rPr lang="en-US" sz="2600" b="0" dirty="0" smtClean="0"/>
              <a:t>learning environment and the pedagogical techniques must be tailored towards attaining higher level of success. </a:t>
            </a:r>
          </a:p>
          <a:p>
            <a:r>
              <a:rPr lang="en-US" sz="2600" b="0" dirty="0"/>
              <a:t>learning environment should also be supportive of giving the learners more awareness of </a:t>
            </a:r>
            <a:r>
              <a:rPr lang="en-US" sz="2600" b="0" dirty="0" smtClean="0"/>
              <a:t>ESL </a:t>
            </a:r>
            <a:r>
              <a:rPr lang="en-US" sz="2600" b="0" dirty="0"/>
              <a:t>development </a:t>
            </a:r>
            <a:endParaRPr lang="en-US" sz="2600" b="0" dirty="0" smtClean="0"/>
          </a:p>
          <a:p>
            <a:r>
              <a:rPr lang="en-US" sz="2600" b="0" dirty="0" smtClean="0"/>
              <a:t>language teacher should have better understanding of the difficulties and challenges </a:t>
            </a:r>
            <a:r>
              <a:rPr lang="en-US" sz="2600" b="0" dirty="0" smtClean="0"/>
              <a:t>learners are usually faced with</a:t>
            </a:r>
            <a:endParaRPr lang="en-US" sz="2600" b="0" dirty="0" smtClean="0"/>
          </a:p>
          <a:p>
            <a:r>
              <a:rPr lang="en-US" sz="2600" b="0" dirty="0" smtClean="0"/>
              <a:t>teaching materials should raise help meeting the L2 learners’ needs in terms of language development, cultural understanding, and goal orientation</a:t>
            </a:r>
          </a:p>
          <a:p>
            <a:pPr marL="82296" indent="0">
              <a:buNone/>
            </a:pPr>
            <a:r>
              <a:rPr lang="en-US" dirty="0" smtClean="0"/>
              <a:t> </a:t>
            </a:r>
            <a:endParaRPr lang="en-CA" dirty="0" smtClean="0"/>
          </a:p>
          <a:p>
            <a:endParaRPr lang="en-CA" dirty="0"/>
          </a:p>
        </p:txBody>
      </p:sp>
    </p:spTree>
    <p:extLst>
      <p:ext uri="{BB962C8B-B14F-4D97-AF65-F5344CB8AC3E}">
        <p14:creationId xmlns:p14="http://schemas.microsoft.com/office/powerpoint/2010/main" xmlns="" val="33315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6477000" cy="1143000"/>
          </a:xfrm>
        </p:spPr>
        <p:txBody>
          <a:bodyPr/>
          <a:lstStyle/>
          <a:p>
            <a:r>
              <a:rPr lang="en-CA" dirty="0" smtClean="0"/>
              <a:t>References</a:t>
            </a:r>
            <a:endParaRPr lang="en-CA" dirty="0"/>
          </a:p>
        </p:txBody>
      </p:sp>
      <p:sp>
        <p:nvSpPr>
          <p:cNvPr id="3" name="Content Placeholder 2"/>
          <p:cNvSpPr>
            <a:spLocks noGrp="1"/>
          </p:cNvSpPr>
          <p:nvPr>
            <p:ph idx="1"/>
          </p:nvPr>
        </p:nvSpPr>
        <p:spPr/>
        <p:txBody>
          <a:bodyPr>
            <a:normAutofit lnSpcReduction="10000"/>
          </a:bodyPr>
          <a:lstStyle/>
          <a:p>
            <a:pPr>
              <a:buFont typeface="+mj-lt"/>
              <a:buAutoNum type="arabicPeriod"/>
            </a:pPr>
            <a:r>
              <a:rPr lang="en-CA" sz="1600" b="0" dirty="0" smtClean="0"/>
              <a:t>Abu-</a:t>
            </a:r>
            <a:r>
              <a:rPr lang="en-CA" sz="1600" b="0" dirty="0" err="1" smtClean="0"/>
              <a:t>Rabia</a:t>
            </a:r>
            <a:r>
              <a:rPr lang="en-CA" sz="1600" b="0" dirty="0" smtClean="0"/>
              <a:t>, S. (1995).  Attitudes and cultural background and their relationship to English in a multicultural social context: the case of male and female Arab immigrants in Canada. </a:t>
            </a:r>
            <a:r>
              <a:rPr lang="en-CA" sz="1600" b="0" i="1" dirty="0" smtClean="0"/>
              <a:t>Educational Psychology. </a:t>
            </a:r>
            <a:r>
              <a:rPr lang="en-CA" sz="1600" b="0" dirty="0" smtClean="0"/>
              <a:t>Vol. 15 (3) 323</a:t>
            </a:r>
          </a:p>
          <a:p>
            <a:pPr>
              <a:buFont typeface="+mj-lt"/>
              <a:buAutoNum type="arabicPeriod"/>
            </a:pPr>
            <a:r>
              <a:rPr lang="en-CA" sz="1600" b="0" dirty="0" err="1" smtClean="0"/>
              <a:t>Dornyei</a:t>
            </a:r>
            <a:r>
              <a:rPr lang="en-CA" sz="1600" b="0" dirty="0" smtClean="0"/>
              <a:t>. Z. (2003) refers to Gardner (1979, cited in </a:t>
            </a:r>
            <a:r>
              <a:rPr lang="en-CA" sz="1600" b="0" dirty="0" err="1" smtClean="0"/>
              <a:t>Dornyei</a:t>
            </a:r>
            <a:r>
              <a:rPr lang="en-CA" sz="1600" b="0" dirty="0" smtClean="0"/>
              <a:t>, 2003) and Williams ( 1994, cited in Dornyei,2003)</a:t>
            </a:r>
          </a:p>
          <a:p>
            <a:pPr>
              <a:buFont typeface="+mj-lt"/>
              <a:buAutoNum type="arabicPeriod"/>
            </a:pPr>
            <a:r>
              <a:rPr lang="en-CA" sz="1600" b="0" dirty="0" err="1" smtClean="0"/>
              <a:t>Dornyei</a:t>
            </a:r>
            <a:r>
              <a:rPr lang="en-CA" sz="1600" b="0" dirty="0" smtClean="0"/>
              <a:t>, Z. (2003).  Attitudes, orientations, and motivations in language learning: Advances in Theory, Research, and Applications University of Nottingham.</a:t>
            </a:r>
          </a:p>
          <a:p>
            <a:pPr>
              <a:buFont typeface="+mj-lt"/>
              <a:buAutoNum type="arabicPeriod"/>
            </a:pPr>
            <a:r>
              <a:rPr lang="en-CA" sz="1600" b="0" dirty="0" err="1" smtClean="0"/>
              <a:t>Dornyei</a:t>
            </a:r>
            <a:r>
              <a:rPr lang="en-CA" sz="1600" b="0" dirty="0"/>
              <a:t>, Z. (2001) </a:t>
            </a:r>
            <a:r>
              <a:rPr lang="en-US" sz="1600" b="0" i="1" dirty="0"/>
              <a:t>Teaching and Researching Motivation.</a:t>
            </a:r>
            <a:r>
              <a:rPr lang="en-US" sz="1600" b="0" dirty="0"/>
              <a:t> London: Pearson Education Limited, </a:t>
            </a:r>
            <a:r>
              <a:rPr lang="en-US" sz="1600" b="0" dirty="0" smtClean="0"/>
              <a:t>13</a:t>
            </a:r>
          </a:p>
          <a:p>
            <a:pPr>
              <a:buFont typeface="+mj-lt"/>
              <a:buAutoNum type="arabicPeriod"/>
            </a:pPr>
            <a:r>
              <a:rPr lang="en-CA" sz="1600" b="0" dirty="0" smtClean="0"/>
              <a:t>Gardner, R. C.  (2006). Motivation and second language acquisition.  University of Western Ontario. This manuscript was the basis of an address by the author to the </a:t>
            </a:r>
            <a:r>
              <a:rPr lang="en-CA" sz="1600" b="0" dirty="0" err="1" smtClean="0"/>
              <a:t>Seminario</a:t>
            </a:r>
            <a:r>
              <a:rPr lang="en-CA" sz="1600" b="0" dirty="0" smtClean="0"/>
              <a:t> </a:t>
            </a:r>
            <a:r>
              <a:rPr lang="en-CA" sz="1600" b="0" dirty="0" err="1" smtClean="0"/>
              <a:t>Sobre</a:t>
            </a:r>
            <a:r>
              <a:rPr lang="en-CA" sz="1600" b="0" dirty="0" smtClean="0"/>
              <a:t>. </a:t>
            </a:r>
            <a:r>
              <a:rPr lang="en-CA" sz="1600" b="0" dirty="0" err="1" smtClean="0"/>
              <a:t>Plurilingüismo</a:t>
            </a:r>
            <a:r>
              <a:rPr lang="en-CA" sz="1600" b="0" dirty="0" smtClean="0"/>
              <a:t>: Las </a:t>
            </a:r>
            <a:r>
              <a:rPr lang="en-CA" sz="1600" b="0" dirty="0" err="1" smtClean="0"/>
              <a:t>Aportaciones</a:t>
            </a:r>
            <a:r>
              <a:rPr lang="en-CA" sz="1600" b="0" dirty="0" smtClean="0"/>
              <a:t> Del Centro </a:t>
            </a:r>
            <a:r>
              <a:rPr lang="en-CA" sz="1600" b="0" dirty="0" err="1" smtClean="0"/>
              <a:t>Europeo</a:t>
            </a:r>
            <a:r>
              <a:rPr lang="en-CA" sz="1600" b="0" dirty="0" smtClean="0"/>
              <a:t> de </a:t>
            </a:r>
            <a:r>
              <a:rPr lang="en-CA" sz="1600" b="0" dirty="0" err="1" smtClean="0"/>
              <a:t>Lenguas</a:t>
            </a:r>
            <a:r>
              <a:rPr lang="en-CA" sz="1600" b="0" dirty="0" smtClean="0"/>
              <a:t> </a:t>
            </a:r>
            <a:r>
              <a:rPr lang="en-CA" sz="1600" b="0" dirty="0" err="1" smtClean="0"/>
              <a:t>Modernas</a:t>
            </a:r>
            <a:r>
              <a:rPr lang="en-CA" sz="1600" b="0" dirty="0" smtClean="0"/>
              <a:t> de Graz, on December 15, 2006 at the Universidad de </a:t>
            </a:r>
            <a:r>
              <a:rPr lang="en-CA" sz="1600" b="0" dirty="0" err="1" smtClean="0"/>
              <a:t>Alcalá</a:t>
            </a:r>
            <a:r>
              <a:rPr lang="en-CA" sz="1600" b="0" dirty="0" smtClean="0"/>
              <a:t>, Spain.</a:t>
            </a:r>
          </a:p>
          <a:p>
            <a:pPr>
              <a:buFont typeface="+mj-lt"/>
              <a:buAutoNum type="arabicPeriod"/>
            </a:pPr>
            <a:r>
              <a:rPr lang="en-CA" sz="1600" b="0" dirty="0" err="1" smtClean="0"/>
              <a:t>Mackey,A</a:t>
            </a:r>
            <a:r>
              <a:rPr lang="en-CA" sz="1600" b="0" dirty="0" smtClean="0"/>
              <a:t>. &amp; </a:t>
            </a:r>
            <a:r>
              <a:rPr lang="en-CA" sz="1600" b="0" dirty="0" err="1" smtClean="0"/>
              <a:t>Gass</a:t>
            </a:r>
            <a:r>
              <a:rPr lang="en-CA" sz="1600" b="0" dirty="0" smtClean="0"/>
              <a:t>, S.M. (2005) </a:t>
            </a:r>
            <a:r>
              <a:rPr lang="en-CA" sz="1600" b="0" i="1" dirty="0" smtClean="0"/>
              <a:t>Second Language Research.</a:t>
            </a:r>
            <a:r>
              <a:rPr lang="en-CA" sz="1600" b="0" dirty="0" smtClean="0"/>
              <a:t> Lawrence Erlbaum: Mahwah, New Jersey.</a:t>
            </a:r>
          </a:p>
          <a:p>
            <a:pPr>
              <a:buFont typeface="+mj-lt"/>
              <a:buAutoNum type="arabicPeriod"/>
            </a:pPr>
            <a:r>
              <a:rPr lang="en-CA" sz="1600" b="0" dirty="0"/>
              <a:t>Schumann, J. H. (1978). The acculturation model for second language acquisition. In</a:t>
            </a:r>
            <a:r>
              <a:rPr lang="en-CA" sz="1600" b="0" i="1" dirty="0"/>
              <a:t> </a:t>
            </a:r>
            <a:r>
              <a:rPr lang="en-CA" sz="1600" b="0" dirty="0" err="1"/>
              <a:t>Gingras</a:t>
            </a:r>
            <a:r>
              <a:rPr lang="en-CA" sz="1600" b="0" dirty="0"/>
              <a:t>, R. (Ed.)</a:t>
            </a:r>
            <a:r>
              <a:rPr lang="en-CA" sz="1600" b="0" i="1" dirty="0"/>
              <a:t> Second language acquisition and foreign language teaching.</a:t>
            </a:r>
            <a:r>
              <a:rPr lang="en-CA" sz="1600" b="0" dirty="0"/>
              <a:t> Centre for Applied Linguistics, Arlington, VA. </a:t>
            </a:r>
            <a:r>
              <a:rPr lang="en-CA" sz="1600" b="0" dirty="0" smtClean="0"/>
              <a:t>27-107 in </a:t>
            </a:r>
            <a:r>
              <a:rPr lang="en-CA" sz="1600" b="0" dirty="0" err="1"/>
              <a:t>Dornyei</a:t>
            </a:r>
            <a:r>
              <a:rPr lang="en-CA" sz="1600" b="0" dirty="0"/>
              <a:t>, Z. (2001) </a:t>
            </a:r>
            <a:r>
              <a:rPr lang="en-US" sz="1600" b="0" i="1" dirty="0"/>
              <a:t>Teaching and Researching Motivation.</a:t>
            </a:r>
            <a:r>
              <a:rPr lang="en-US" sz="1600" b="0" dirty="0"/>
              <a:t> London: Pearson Education Limited, </a:t>
            </a:r>
            <a:r>
              <a:rPr lang="en-US" sz="1600" b="0" dirty="0" smtClean="0"/>
              <a:t>13</a:t>
            </a:r>
            <a:endParaRPr lang="en-CA" sz="1600" b="0" dirty="0" smtClean="0"/>
          </a:p>
          <a:p>
            <a:pPr>
              <a:buFont typeface="+mj-lt"/>
              <a:buAutoNum type="arabicPeriod"/>
            </a:pPr>
            <a:endParaRPr lang="en-CA" sz="1100" dirty="0"/>
          </a:p>
          <a:p>
            <a:pPr>
              <a:buFont typeface="+mj-lt"/>
              <a:buAutoNum type="arabicPeriod"/>
            </a:pPr>
            <a:endParaRPr lang="en-CA" sz="1100" dirty="0"/>
          </a:p>
          <a:p>
            <a:pPr>
              <a:buFont typeface="+mj-lt"/>
              <a:buAutoNum type="arabicPeriod"/>
            </a:pPr>
            <a:endParaRPr lang="en-CA" sz="1100" dirty="0"/>
          </a:p>
          <a:p>
            <a:pPr>
              <a:buFont typeface="+mj-lt"/>
              <a:buAutoNum type="arabicPeriod"/>
            </a:pPr>
            <a:endParaRPr lang="en-US" sz="1100" dirty="0" smtClean="0"/>
          </a:p>
          <a:p>
            <a:pPr>
              <a:buFont typeface="+mj-lt"/>
              <a:buAutoNum type="arabicPeriod"/>
            </a:pPr>
            <a:endParaRPr lang="en-CA" sz="1100" dirty="0"/>
          </a:p>
        </p:txBody>
      </p:sp>
    </p:spTree>
    <p:extLst>
      <p:ext uri="{BB962C8B-B14F-4D97-AF65-F5344CB8AC3E}">
        <p14:creationId xmlns:p14="http://schemas.microsoft.com/office/powerpoint/2010/main" xmlns="" val="303472305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dal-powerpoint-aug2011</Template>
  <TotalTime>1486</TotalTime>
  <Words>3000</Words>
  <Application>Microsoft Office PowerPoint</Application>
  <PresentationFormat>On-screen Show (4:3)</PresentationFormat>
  <Paragraphs>277</Paragraphs>
  <Slides>27</Slides>
  <Notes>25</Notes>
  <HiddenSlides>0</HiddenSlides>
  <MMClips>0</MMClip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Custom Design</vt:lpstr>
      <vt:lpstr>Default Design</vt:lpstr>
      <vt:lpstr> Motivation, a Driving Force in Second language Learning </vt:lpstr>
      <vt:lpstr>Outline!!</vt:lpstr>
      <vt:lpstr>Paths L2 learners take..</vt:lpstr>
      <vt:lpstr>Overview!!</vt:lpstr>
      <vt:lpstr>Questions needed to be answered!!</vt:lpstr>
      <vt:lpstr>   Just a Caution!!</vt:lpstr>
      <vt:lpstr>What is motivation…general concept</vt:lpstr>
      <vt:lpstr>What Researchers say!</vt:lpstr>
      <vt:lpstr>What Researchers say!</vt:lpstr>
      <vt:lpstr>What Researchers say!</vt:lpstr>
      <vt:lpstr>Integrative and instrumental constructs:</vt:lpstr>
      <vt:lpstr>Integrative and instrumental goals- mutually influencing each other </vt:lpstr>
      <vt:lpstr> The application of theories of motivational orientations to the context </vt:lpstr>
      <vt:lpstr>Acculturation Theory</vt:lpstr>
      <vt:lpstr>Steps to acculturation</vt:lpstr>
      <vt:lpstr>Requirements!</vt:lpstr>
      <vt:lpstr>Factors influencing acculturation</vt:lpstr>
      <vt:lpstr>Research Method</vt:lpstr>
      <vt:lpstr>What I did for my research? </vt:lpstr>
      <vt:lpstr>Why I did it this way..</vt:lpstr>
      <vt:lpstr>What happened next..</vt:lpstr>
      <vt:lpstr>Participants’ profile</vt:lpstr>
      <vt:lpstr>Participants’ profile</vt:lpstr>
      <vt:lpstr>Findings!</vt:lpstr>
      <vt:lpstr>New goals emerging</vt:lpstr>
      <vt:lpstr> Implications for Future Practice  </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Motivation, a Driving Force in Second language Learning</dc:title>
  <dc:creator>HPUSER</dc:creator>
  <cp:lastModifiedBy>Lenovo User</cp:lastModifiedBy>
  <cp:revision>93</cp:revision>
  <cp:lastPrinted>2012-10-09T16:46:52Z</cp:lastPrinted>
  <dcterms:created xsi:type="dcterms:W3CDTF">2006-08-16T00:00:00Z</dcterms:created>
  <dcterms:modified xsi:type="dcterms:W3CDTF">2012-10-04T00:10:06Z</dcterms:modified>
</cp:coreProperties>
</file>