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  <p:sldMasterId id="2147483671" r:id="rId6"/>
    <p:sldMasterId id="2147483678" r:id="rId7"/>
    <p:sldMasterId id="2147483684" r:id="rId8"/>
    <p:sldMasterId id="2147483690" r:id="rId9"/>
    <p:sldMasterId id="2147483696" r:id="rId10"/>
    <p:sldMasterId id="2147483702" r:id="rId11"/>
  </p:sldMasterIdLst>
  <p:notesMasterIdLst>
    <p:notesMasterId r:id="rId20"/>
  </p:notesMasterIdLst>
  <p:handoutMasterIdLst>
    <p:handoutMasterId r:id="rId21"/>
  </p:handoutMasterIdLst>
  <p:sldIdLst>
    <p:sldId id="259" r:id="rId12"/>
    <p:sldId id="272" r:id="rId13"/>
    <p:sldId id="302" r:id="rId14"/>
    <p:sldId id="299" r:id="rId15"/>
    <p:sldId id="286" r:id="rId16"/>
    <p:sldId id="287" r:id="rId17"/>
    <p:sldId id="289" r:id="rId18"/>
    <p:sldId id="301" r:id="rId19"/>
  </p:sldIdLst>
  <p:sldSz cx="9144000" cy="6858000" type="screen4x3"/>
  <p:notesSz cx="7010400" cy="9223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mc="http://schemas.openxmlformats.org/markup-compatibility/2006" xmlns:mv="urn:schemas-microsoft-com:mac:vml" xmlns:p14="http://schemas.microsoft.com/office/powerpoint/2010/main" xmlns="">
          <a:srgbClr val="FF0000"/>
        </p14:laserClr>
      </p:ext>
      <p:ext uri="{2FDB2607-1784-4EEB-B798-7EB5836EED8A}">
        <p14:showMediaCtrls xmlns:mc="http://schemas.openxmlformats.org/markup-compatibility/2006" xmlns:mv="urn:schemas-microsoft-com:mac:vml" xmlns:p14="http://schemas.microsoft.com/office/powerpoint/2010/main" xmlns="" val="1"/>
      </p:ext>
    </p:extLst>
  </p:showPr>
  <p:clrMru>
    <a:srgbClr val="990000"/>
  </p:clrMru>
  <p:extLst>
    <p:ext uri="{E76CE94A-603C-4142-B9EB-6D1370010A27}">
      <p14:discardImageEditData xmlns:mc="http://schemas.openxmlformats.org/markup-compatibility/2006" xmlns:mv="urn:schemas-microsoft-com:mac:vml" xmlns:p14="http://schemas.microsoft.com/office/powerpoint/2010/main" xmlns="" val="0"/>
    </p:ext>
    <p:ext uri="{D31A062A-798A-4329-ABDD-BBA856620510}">
      <p14:defaultImageDpi xmlns:mc="http://schemas.openxmlformats.org/markup-compatibility/2006" xmlns:mv="urn:schemas-microsoft-com:mac:vml"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72"/>
      </p:cViewPr>
      <p:guideLst>
        <p:guide orient="horz" pos="1968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72CE4-8D50-486D-9EB3-3DDA60500843}" type="datetimeFigureOut">
              <a:rPr lang="en-US" smtClean="0"/>
              <a:pPr/>
              <a:t>1/25/2012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98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7598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58410-D38B-41B6-AAEA-8CFDB12469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280260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5418FC27-775B-4555-AC31-99C4D05BED9B}" type="datetimeFigureOut">
              <a:rPr lang="en-US" smtClean="0"/>
              <a:pPr/>
              <a:t>1/25/2012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2150"/>
            <a:ext cx="4613275" cy="3459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1103"/>
            <a:ext cx="5608320" cy="4150519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60605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60605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93372650-0F8F-4A21-9426-8C0078159C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286264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633790"/>
            <a:ext cx="9144000" cy="1143000"/>
          </a:xfrm>
          <a:prstGeom prst="rect">
            <a:avLst/>
          </a:prstGeom>
        </p:spPr>
        <p:txBody>
          <a:bodyPr/>
          <a:lstStyle>
            <a:lvl1pPr algn="ctr">
              <a:defRPr sz="44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78075" y="3813175"/>
            <a:ext cx="4552950" cy="2624138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presenter's name and contact information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72128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80512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67409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11150"/>
            <a:ext cx="9144000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edit. Alternative slides for large graphics. Center the headings.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228600"/>
            <a:ext cx="8258175" cy="12795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edit. Alternative slides for large tables. Center the headings.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martArt graph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34950"/>
            <a:ext cx="9144000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edit. Alternative slides for smart art</a:t>
            </a:r>
          </a:p>
          <a:p>
            <a:pPr lvl="0"/>
            <a:r>
              <a:rPr lang="en-US" dirty="0" smtClean="0"/>
              <a:t>Center the heading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853100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900311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400681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404075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171112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579363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592570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502154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068560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55464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8402378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4964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544026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9376541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2495416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1348033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043145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9113664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1589798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384791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 baseline="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 baseline="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 baseline="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0646375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57200" y="1655763"/>
            <a:ext cx="8256588" cy="422382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644003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table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1"/>
          </p:nvPr>
        </p:nvSpPr>
        <p:spPr>
          <a:xfrm>
            <a:off x="447675" y="1682750"/>
            <a:ext cx="8266113" cy="4197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014017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_Smar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heading-center over smart art</a:t>
            </a:r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447675" y="1655763"/>
            <a:ext cx="8258175" cy="42513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521462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9144000" cy="2065338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enter your title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801368" y="3867150"/>
            <a:ext cx="5504688" cy="2397125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baseline="0"/>
            </a:lvl1pPr>
          </a:lstStyle>
          <a:p>
            <a:pPr lvl="0"/>
            <a:r>
              <a:rPr lang="en-US" dirty="0" smtClean="0"/>
              <a:t>Click to enter subtitle and date, presenter's name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46469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7" r:id="rId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365760" y="6658547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A761-5C1D-46BB-B389-3E6F06F1A2EA}" type="slidenum">
              <a:rPr lang="en-US" sz="800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1/25/2012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365760" y="6658547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A761-5C1D-46BB-B389-3E6F06F1A2EA}" type="slidenum">
              <a:rPr lang="en-US" sz="800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12/1/11 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365760" y="6658547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A761-5C1D-46BB-B389-3E6F06F1A2EA}" type="slidenum">
              <a:rPr lang="en-US" sz="800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</a:rPr>
              <a:t>1/25/2012</a:t>
            </a:r>
            <a:endParaRPr 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20613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alpha val="29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8610600" y="6477000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>
              <a:defRPr/>
            </a:pPr>
            <a:fld id="{8EE7A761-5C1D-46BB-B389-3E6F06F1A2EA}" type="slidenum">
              <a:rPr lang="en-US" sz="1400" smtClean="0">
                <a:solidFill>
                  <a:srgbClr val="004B8D"/>
                </a:solidFill>
              </a:rPr>
              <a:pPr algn="ctr">
                <a:defRPr/>
              </a:pPr>
              <a:t>‹#›</a:t>
            </a:fld>
            <a:endParaRPr lang="en-US" sz="1400" dirty="0" smtClean="0">
              <a:solidFill>
                <a:srgbClr val="004B8D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</a:rPr>
              <a:t>1/25/2012</a:t>
            </a:r>
            <a:endParaRPr 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54686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alpha val="29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8610600" y="6477000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>
              <a:defRPr/>
            </a:pPr>
            <a:fld id="{8EE7A761-5C1D-46BB-B389-3E6F06F1A2EA}" type="slidenum">
              <a:rPr lang="en-US" sz="1400" smtClean="0">
                <a:solidFill>
                  <a:srgbClr val="004B8D"/>
                </a:solidFill>
              </a:rPr>
              <a:pPr algn="ctr">
                <a:defRPr/>
              </a:pPr>
              <a:t>‹#›</a:t>
            </a:fld>
            <a:endParaRPr lang="en-US" sz="1400" dirty="0" smtClean="0">
              <a:solidFill>
                <a:srgbClr val="004B8D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</a:rPr>
              <a:t>1/25/2012</a:t>
            </a:r>
            <a:endParaRPr 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295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365760" y="6658547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A761-5C1D-46BB-B389-3E6F06F1A2EA}" type="slidenum">
              <a:rPr lang="en-US" sz="800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</a:rPr>
              <a:t>1/25/2012</a:t>
            </a:r>
            <a:endParaRPr 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87720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owerpoint_Art_Governance_no bkgrd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>
              <a:solidFill>
                <a:srgbClr val="004B8D"/>
              </a:solidFill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365760" y="6658547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A761-5C1D-46BB-B389-3E6F06F1A2EA}" type="slidenum">
              <a:rPr lang="en-US" sz="800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739521" y="6658547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</a:rPr>
              <a:t>1/25/2012 </a:t>
            </a:r>
            <a:endParaRPr 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33430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OneMinnesota</a:t>
            </a:r>
            <a:endParaRPr lang="en-US" dirty="0" smtClean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1219200" y="3867150"/>
            <a:ext cx="6477000" cy="2397125"/>
          </a:xfrm>
        </p:spPr>
        <p:txBody>
          <a:bodyPr/>
          <a:lstStyle/>
          <a:p>
            <a:r>
              <a:rPr lang="en-US" dirty="0" smtClean="0"/>
              <a:t>January 25, 2012</a:t>
            </a:r>
          </a:p>
          <a:p>
            <a:r>
              <a:rPr lang="en-US" dirty="0" smtClean="0"/>
              <a:t>Carolyn Parnell </a:t>
            </a:r>
          </a:p>
          <a:p>
            <a:r>
              <a:rPr lang="en-US" dirty="0" smtClean="0"/>
              <a:t>OET Commissioner and State CIO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largest state government reorganization in decades</a:t>
            </a:r>
          </a:p>
          <a:p>
            <a:pPr lvl="1">
              <a:spcBef>
                <a:spcPts val="1200"/>
              </a:spcBef>
            </a:pPr>
            <a:r>
              <a:rPr lang="en-US" sz="1900" dirty="0"/>
              <a:t>Current model: State IT employees working in more than 70 separate agencies, each with its own organizational </a:t>
            </a:r>
            <a:r>
              <a:rPr lang="en-US" sz="1900" dirty="0" smtClean="0"/>
              <a:t>culture and technology solutions</a:t>
            </a:r>
          </a:p>
          <a:p>
            <a:pPr lvl="1">
              <a:spcBef>
                <a:spcPts val="1200"/>
              </a:spcBef>
            </a:pPr>
            <a:r>
              <a:rPr lang="en-US" sz="1900" dirty="0"/>
              <a:t>To: One </a:t>
            </a:r>
            <a:r>
              <a:rPr lang="en-US" sz="1900" dirty="0" smtClean="0"/>
              <a:t>organization </a:t>
            </a:r>
            <a:r>
              <a:rPr lang="en-US" sz="1900" dirty="0"/>
              <a:t>with common policies and </a:t>
            </a:r>
            <a:r>
              <a:rPr lang="en-US" sz="1900" dirty="0" smtClean="0"/>
              <a:t>standards</a:t>
            </a:r>
          </a:p>
          <a:p>
            <a:pPr marL="0" indent="0">
              <a:buNone/>
            </a:pPr>
            <a:r>
              <a:rPr lang="en-US" dirty="0" smtClean="0"/>
              <a:t>Legislative requirements</a:t>
            </a:r>
          </a:p>
          <a:p>
            <a:pPr lvl="1">
              <a:spcBef>
                <a:spcPts val="1200"/>
              </a:spcBef>
            </a:pPr>
            <a:r>
              <a:rPr lang="en-US" sz="1900" dirty="0" smtClean="0"/>
              <a:t>One centralized IT organization</a:t>
            </a:r>
          </a:p>
          <a:p>
            <a:pPr lvl="1">
              <a:spcBef>
                <a:spcPts val="1200"/>
              </a:spcBef>
            </a:pPr>
            <a:r>
              <a:rPr lang="en-US" sz="1900" dirty="0" smtClean="0"/>
              <a:t>One centralized IT budget</a:t>
            </a:r>
          </a:p>
          <a:p>
            <a:pPr lvl="1">
              <a:spcBef>
                <a:spcPts val="1200"/>
              </a:spcBef>
            </a:pPr>
            <a:r>
              <a:rPr lang="en-US" sz="1900" dirty="0" smtClean="0"/>
              <a:t>One Statewide project portfolio</a:t>
            </a:r>
          </a:p>
          <a:p>
            <a:pPr lvl="1">
              <a:spcBef>
                <a:spcPts val="1200"/>
              </a:spcBef>
            </a:pPr>
            <a:r>
              <a:rPr lang="en-US" sz="1900" dirty="0" smtClean="0"/>
              <a:t>Statewide IT efficiencies</a:t>
            </a:r>
          </a:p>
          <a:p>
            <a:pPr lvl="1">
              <a:spcBef>
                <a:spcPts val="1200"/>
              </a:spcBef>
            </a:pPr>
            <a:endParaRPr lang="en-US" sz="2000" dirty="0" smtClean="0"/>
          </a:p>
          <a:p>
            <a:pPr lvl="1">
              <a:spcBef>
                <a:spcPts val="1200"/>
              </a:spcBef>
            </a:pPr>
            <a:endParaRPr lang="en-US" sz="2000" dirty="0" smtClean="0"/>
          </a:p>
          <a:p>
            <a:pPr lvl="1">
              <a:spcBef>
                <a:spcPts val="1200"/>
              </a:spcBef>
              <a:buNone/>
            </a:pPr>
            <a:endParaRPr lang="en-US" sz="2000" dirty="0" smtClean="0"/>
          </a:p>
          <a:p>
            <a:pPr lvl="1">
              <a:spcBef>
                <a:spcPts val="1200"/>
              </a:spcBef>
            </a:pPr>
            <a:endParaRPr lang="en-US" sz="2000" dirty="0" smtClean="0"/>
          </a:p>
          <a:p>
            <a:pPr lvl="1">
              <a:spcBef>
                <a:spcPts val="1200"/>
              </a:spcBef>
            </a:pP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IT Consolidation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67202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sz="3000" dirty="0" smtClean="0"/>
              <a:t>IT Consolidation </a:t>
            </a:r>
            <a:r>
              <a:rPr lang="en-US" sz="3100" dirty="0" smtClean="0"/>
              <a:t>Planning</a:t>
            </a:r>
            <a:r>
              <a:rPr lang="en-US" sz="3000" dirty="0" smtClean="0"/>
              <a:t> and Implementation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52600"/>
            <a:ext cx="80010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Four Phases:</a:t>
            </a:r>
          </a:p>
          <a:p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HR and finance foundation – 7/11 – 9/11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 Agency and IT centralization planning – 10/11 – 1/12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 Enterprise strategic planning and governance – 11/1 – 4/12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 Service optimization – 4/12 and beyond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/>
            <a:endParaRPr lang="en-US" sz="2000" dirty="0" smtClean="0"/>
          </a:p>
          <a:p>
            <a:pPr marL="342900" indent="-342900"/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2624" y="1219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FFFFFF"/>
                </a:solidFill>
                <a:cs typeface="Arial" pitchFamily="34" charset="0"/>
              </a:rPr>
              <a:t>Agency Centralization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624" y="533400"/>
            <a:ext cx="8456575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FFFF"/>
                </a:solidFill>
                <a:cs typeface="Arial" pitchFamily="34" charset="0"/>
              </a:rPr>
              <a:t>Enterprise Consolidation Program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rgbClr val="FFFFFF"/>
                </a:solidFill>
                <a:cs typeface="Arial" pitchFamily="34" charset="0"/>
              </a:rPr>
              <a:t>Projects &amp;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1824" y="1223253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Central Org Planning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36573" y="1219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Enterprise Human Resources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55773" y="1219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Finance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68488" y="1219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Service </a:t>
            </a:r>
            <a:r>
              <a:rPr lang="en-US" sz="1200" dirty="0">
                <a:solidFill>
                  <a:srgbClr val="FFFFFF"/>
                </a:solidFill>
                <a:cs typeface="Arial" pitchFamily="34" charset="0"/>
              </a:rPr>
              <a:t>L</a:t>
            </a: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evel Agreements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82823" y="1224874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State IT Governance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96200" y="1224874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cs typeface="Arial" pitchFamily="34" charset="0"/>
              </a:rPr>
              <a:t>Strategic Planning</a:t>
            </a:r>
            <a:endParaRPr lang="en-US" sz="12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7684" y="19009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Agency Planning Toolkit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684" y="23581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Agency Centralization Plans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877" y="3424911"/>
            <a:ext cx="990600" cy="6188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“Maturity Report” – best practices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883" y="2815311"/>
            <a:ext cx="990600" cy="600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Utility Service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Migration Plans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8733" y="1900911"/>
            <a:ext cx="990600" cy="600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SLA framework for FY13 SLAs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877" y="4249434"/>
            <a:ext cx="1012490" cy="6003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Agency IT Management Standards &amp; Templates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877" y="4846966"/>
            <a:ext cx="1006928" cy="6003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Utility Service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Migrations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81976" y="2664535"/>
            <a:ext cx="990600" cy="6003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FY13 SLAs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1330" y="1884256"/>
            <a:ext cx="990600" cy="447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Common Hiring Processes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1330" y="2332220"/>
            <a:ext cx="990600" cy="447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Common Management Plan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1330" y="2789420"/>
            <a:ext cx="990600" cy="609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Enterprise Comp / Classification 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1330" y="33990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Enterprise Seniority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1330" y="38562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CIO Hiring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16712" y="43134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Interagency Transfer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1330" y="47706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Roles for Agency/OET HR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1330" y="52278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Employee Satisfaction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1330" y="5749868"/>
            <a:ext cx="990600" cy="6003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Enterprise HR Policies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2392" y="1884256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Key Financial Strategies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42392" y="2331728"/>
            <a:ext cx="995218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Common Chart of Accounts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42392" y="2788928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Asset Inventory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2392" y="3246128"/>
            <a:ext cx="990600" cy="600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Consolidated Procurement Strategy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010" y="4017861"/>
            <a:ext cx="990600" cy="6003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 Enterprise Financial Policies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8992" y="1893984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Defined Planning Goals and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8992" y="2351184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Planning Process &amp; Schedule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8992" y="2805583"/>
            <a:ext cx="996904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Change Management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8992" y="3535212"/>
            <a:ext cx="9906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004B8D"/>
                </a:solidFill>
                <a:cs typeface="Arial" pitchFamily="34" charset="0"/>
              </a:rPr>
              <a:t>Strategic and Tactical Enterprise Plan(s)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8024" y="19009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Updated Org Structure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78024" y="23581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Key Leadership Positions Filled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78024" y="28153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Internal Leadership / Governance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78024" y="32725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solidFill>
                  <a:srgbClr val="004B8D"/>
                </a:solidFill>
                <a:cs typeface="Arial" pitchFamily="34" charset="0"/>
              </a:rPr>
              <a:t>MNGeo</a:t>
            </a: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 Transfer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78024" y="37297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New Employee Processes &amp; Procedures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78024" y="4186911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Staffing Plan for OET HR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78024" y="4627948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ITC Program </a:t>
            </a:r>
            <a:r>
              <a:rPr lang="en-US" sz="900" dirty="0" err="1">
                <a:solidFill>
                  <a:srgbClr val="004B8D"/>
                </a:solidFill>
                <a:cs typeface="Arial" pitchFamily="34" charset="0"/>
              </a:rPr>
              <a:t>Mgmt</a:t>
            </a: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72652" y="32466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Agency CIOs Roles &amp; Reporting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76855" y="4161020"/>
            <a:ext cx="990600" cy="685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Clarification on Key Administrative &amp; Legal Issues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76855" y="1903712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Defined Structure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76855" y="2348383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Formation of Tech </a:t>
            </a:r>
            <a:r>
              <a:rPr lang="en-US" sz="900" dirty="0" smtClean="0">
                <a:solidFill>
                  <a:srgbClr val="004B8D"/>
                </a:solidFill>
                <a:cs typeface="Arial" pitchFamily="34" charset="0"/>
              </a:rPr>
              <a:t>Advisory Committee</a:t>
            </a:r>
            <a:endParaRPr lang="en-US" sz="900" dirty="0">
              <a:solidFill>
                <a:srgbClr val="004B8D"/>
              </a:solidFill>
              <a:cs typeface="Arial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576855" y="2798656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Launch of Governance Bodies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76855" y="3703820"/>
            <a:ext cx="99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04B8D"/>
                </a:solidFill>
                <a:cs typeface="Arial" pitchFamily="34" charset="0"/>
              </a:rPr>
              <a:t>Legislative Report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977872" y="4052924"/>
            <a:ext cx="0" cy="202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607664" y="3854309"/>
            <a:ext cx="0" cy="167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8289125" y="3277685"/>
            <a:ext cx="0" cy="244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77276" y="2504928"/>
            <a:ext cx="0" cy="167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3428916" y="5693265"/>
            <a:ext cx="0" cy="85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42499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Savings to enable reinvestment in IT solutions that increase productivity</a:t>
            </a:r>
          </a:p>
          <a:p>
            <a:r>
              <a:rPr lang="en-US" dirty="0"/>
              <a:t>Legislative / Executive Branch partnership on wise investment decisions on IT solutions</a:t>
            </a:r>
          </a:p>
          <a:p>
            <a:r>
              <a:rPr lang="en-US" dirty="0"/>
              <a:t>More responsive, convenient government</a:t>
            </a:r>
          </a:p>
          <a:p>
            <a:r>
              <a:rPr lang="en-US" dirty="0"/>
              <a:t>More productive, agile workforce </a:t>
            </a:r>
          </a:p>
          <a:p>
            <a:pPr>
              <a:spcBef>
                <a:spcPts val="1200"/>
              </a:spcBef>
            </a:pPr>
            <a:r>
              <a:rPr lang="en-US" dirty="0"/>
              <a:t>Reduced operational complexity</a:t>
            </a:r>
          </a:p>
          <a:p>
            <a:pPr>
              <a:spcBef>
                <a:spcPts val="1200"/>
              </a:spcBef>
            </a:pPr>
            <a:r>
              <a:rPr lang="en-US" dirty="0"/>
              <a:t>Next generation technologies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IT Consolidation Benefits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89843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endParaRPr lang="en-US" dirty="0" smtClean="0"/>
          </a:p>
          <a:p>
            <a:pPr>
              <a:spcBef>
                <a:spcPts val="1200"/>
              </a:spcBef>
            </a:pPr>
            <a:r>
              <a:rPr lang="en-US" dirty="0" smtClean="0"/>
              <a:t>Advantageous contracting, economies of scale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Shared services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Nimble resource deployment to adjust to changing needs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Data center efficiencies – improved security, reduced energy consumption, streamlined management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Better approach for disaster recovery and improved business continuity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IT Consolidation Benefits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93944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02875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Agency Centralization</a:t>
            </a:r>
            <a:r>
              <a:rPr lang="en-US" sz="1400" dirty="0" smtClean="0"/>
              <a:t>: All agency IT will have a common definition of services, common functional constructs for management and accounting, common employee policies and management discipline designed to improve services and minimize costs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Central Organization Planning</a:t>
            </a:r>
            <a:r>
              <a:rPr lang="en-US" sz="1400" dirty="0" smtClean="0"/>
              <a:t>: The central organization will be prepared to manage its increased role and responsibilities through careful planning and resource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Enterprise Human Resources</a:t>
            </a:r>
            <a:r>
              <a:rPr lang="en-US" sz="1400" dirty="0" smtClean="0"/>
              <a:t>: Standard enterprise employee policies and a redefined internal HR function will facilitate a smooth transition from a virtual organization to an integrated one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Finance</a:t>
            </a:r>
            <a:r>
              <a:rPr lang="en-US" sz="1400" dirty="0" smtClean="0"/>
              <a:t>: There will be a single view into state IT spending that leads to better decisions and economies of scale, through standard accounting and financial planning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Service Level Agreements</a:t>
            </a:r>
            <a:r>
              <a:rPr lang="en-US" sz="1400" dirty="0" smtClean="0"/>
              <a:t>: Agency IT services – both local and centralized – will be managed through standard service level agreements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State IT Governance</a:t>
            </a:r>
            <a:r>
              <a:rPr lang="en-US" sz="1400" dirty="0" smtClean="0"/>
              <a:t>: The State CIO will manage her mandated duties through appropriate governance that includes both business input and operational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Strategic Planning</a:t>
            </a:r>
            <a:r>
              <a:rPr lang="en-US" sz="1400" dirty="0" smtClean="0"/>
              <a:t>: State IT will operate through strategies and tactics that stem from the construct of a five-year vision for how information technology serves the business of the State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904875"/>
            <a:ext cx="8915400" cy="603250"/>
          </a:xfrm>
        </p:spPr>
        <p:txBody>
          <a:bodyPr/>
          <a:lstStyle/>
          <a:p>
            <a:r>
              <a:rPr lang="en-US" dirty="0" smtClean="0"/>
              <a:t>What will State IT look like?</a:t>
            </a:r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32347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rcRect l="13665" t="16888" r="15674" b="2847"/>
          <a:stretch/>
        </p:blipFill>
        <p:spPr bwMode="auto">
          <a:xfrm>
            <a:off x="3276600" y="1556550"/>
            <a:ext cx="5257800" cy="459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mc="http://schemas.openxmlformats.org/markup-compatibility/2006" xmlns:mv="urn:schemas-microsoft-com:mac:vml"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155655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More information: </a:t>
            </a:r>
          </a:p>
          <a:p>
            <a:r>
              <a:rPr lang="en-US" dirty="0" smtClean="0"/>
              <a:t>www.mn.gov/oet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876800" y="3760434"/>
            <a:ext cx="2057400" cy="838199"/>
          </a:xfrm>
          <a:prstGeom prst="ellipse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94481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ET PowerPoint Presentations">
  <a:themeElements>
    <a:clrScheme name="OET Colors">
      <a:dk1>
        <a:srgbClr val="363738"/>
      </a:dk1>
      <a:lt1>
        <a:srgbClr val="FFFFFF"/>
      </a:lt1>
      <a:dk2>
        <a:srgbClr val="0064A6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ank-Charts-Table-Pictur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Services_Content slide">
  <a:themeElements>
    <a:clrScheme name="OET Colors">
      <a:dk1>
        <a:srgbClr val="004B8D"/>
      </a:dk1>
      <a:lt1>
        <a:srgbClr val="FFFFFF"/>
      </a:lt1>
      <a:dk2>
        <a:srgbClr val="004B8D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FCB27BE119D846ACE102267E6C81E1" ma:contentTypeVersion="0" ma:contentTypeDescription="Create a new document." ma:contentTypeScope="" ma:versionID="64031e6635beafaaffa0e0ff4caabb8a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7F288E-D32C-4D1C-A1C2-1E7E16BA6894}">
  <ds:schemaRefs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2102926-4150-4C0B-AB0B-942915EE3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966220A5-E2C8-4407-84F1-DB0CE53462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1091</TotalTime>
  <Words>571</Words>
  <Application>Microsoft Office PowerPoint</Application>
  <PresentationFormat>On-screen Show (4:3)</PresentationFormat>
  <Paragraphs>106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OET PowerPoint Presentations</vt:lpstr>
      <vt:lpstr>Services_Content slide</vt:lpstr>
      <vt:lpstr>Blank-Charts-Table-Picture</vt:lpstr>
      <vt:lpstr>1_Services_Content slide</vt:lpstr>
      <vt:lpstr>2_Services_Content slide</vt:lpstr>
      <vt:lpstr>3_Services_Content slide</vt:lpstr>
      <vt:lpstr>4_Services_Content slide</vt:lpstr>
      <vt:lpstr>5_Services_Content slide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State of Minnesota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admin-supdike</dc:creator>
  <cp:lastModifiedBy>Kate Cimino</cp:lastModifiedBy>
  <cp:revision>96</cp:revision>
  <cp:lastPrinted>2012-01-24T22:07:24Z</cp:lastPrinted>
  <dcterms:created xsi:type="dcterms:W3CDTF">2012-01-25T11:54:30Z</dcterms:created>
  <dcterms:modified xsi:type="dcterms:W3CDTF">2012-01-25T16:01:52Z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0x010100C6FCB27BE119D846ACE102267E6C81E1</vt:lpwstr>
  </property>
</Properties>
</file>