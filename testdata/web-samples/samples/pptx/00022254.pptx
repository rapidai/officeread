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theme/themeOverride3.xml" ContentType="application/vnd.openxmlformats-officedocument.themeOverr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9" r:id="rId4"/>
    <p:sldId id="270" r:id="rId5"/>
    <p:sldId id="276" r:id="rId6"/>
    <p:sldId id="261" r:id="rId7"/>
    <p:sldId id="280" r:id="rId8"/>
    <p:sldId id="275" r:id="rId9"/>
    <p:sldId id="259" r:id="rId10"/>
    <p:sldId id="262" r:id="rId11"/>
    <p:sldId id="263" r:id="rId12"/>
    <p:sldId id="264" r:id="rId13"/>
    <p:sldId id="265" r:id="rId14"/>
    <p:sldId id="271" r:id="rId15"/>
    <p:sldId id="277" r:id="rId16"/>
    <p:sldId id="278" r:id="rId17"/>
    <p:sldId id="268" r:id="rId18"/>
    <p:sldId id="272" r:id="rId1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93" autoAdjust="0"/>
    <p:restoredTop sz="86380" autoAdjust="0"/>
  </p:normalViewPr>
  <p:slideViewPr>
    <p:cSldViewPr>
      <p:cViewPr varScale="1">
        <p:scale>
          <a:sx n="99" d="100"/>
          <a:sy n="99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David%20Evans\Desktop\Oakland2010\reviewing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Office_Excel_Worksheet2.xlsx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David%20Evans\Desktop\Oakland2010\countries3.csv" TargetMode="External"/><Relationship Id="rId1" Type="http://schemas.openxmlformats.org/officeDocument/2006/relationships/themeOverride" Target="../theme/themeOverride3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vid%20Evans\Desktop\Oakland2010\countries4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vid%20Evans\Desktop\Oakland2010\countries3.csv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vid%20Evans\Desktop\Oakland2010\topics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avid%20Evans\Desktop\Oakland2010\topic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plotArea>
      <c:layout>
        <c:manualLayout>
          <c:layoutTarget val="inner"/>
          <c:xMode val="edge"/>
          <c:yMode val="edge"/>
          <c:x val="6.9112906939264224E-2"/>
          <c:y val="2.8483202099737554E-2"/>
          <c:w val="0.91772919832389466"/>
          <c:h val="0.80360551181102369"/>
        </c:manualLayout>
      </c:layout>
      <c:barChart>
        <c:barDir val="col"/>
        <c:grouping val="stacked"/>
        <c:ser>
          <c:idx val="0"/>
          <c:order val="0"/>
          <c:tx>
            <c:strRef>
              <c:f>Sheet2!$B$1</c:f>
              <c:strCache>
                <c:ptCount val="1"/>
                <c:pt idx="0">
                  <c:v>Research</c:v>
                </c:pt>
              </c:strCache>
            </c:strRef>
          </c:tx>
          <c:spPr>
            <a:solidFill>
              <a:schemeClr val="tx2"/>
            </a:solidFill>
          </c:spPr>
          <c:dLbls>
            <c:txPr>
              <a:bodyPr/>
              <a:lstStyle/>
              <a:p>
                <a:pPr>
                  <a:defRPr sz="2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Val val="1"/>
          </c:dLbls>
          <c:cat>
            <c:strRef>
              <c:f>Sheet2!$A$2:$A$7</c:f>
              <c:strCache>
                <c:ptCount val="6"/>
                <c:pt idx="0">
                  <c:v>Submission</c:v>
                </c:pt>
                <c:pt idx="1">
                  <c:v>Round 1</c:v>
                </c:pt>
                <c:pt idx="2">
                  <c:v>Round 2</c:v>
                </c:pt>
                <c:pt idx="3">
                  <c:v>Round 3</c:v>
                </c:pt>
                <c:pt idx="4">
                  <c:v>Before PC</c:v>
                </c:pt>
                <c:pt idx="5">
                  <c:v>After PC</c:v>
                </c:pt>
              </c:strCache>
            </c:strRef>
          </c:cat>
          <c:val>
            <c:numRef>
              <c:f>Sheet2!$B$2:$B$7</c:f>
              <c:numCache>
                <c:formatCode>General</c:formatCode>
                <c:ptCount val="6"/>
                <c:pt idx="0">
                  <c:v>237</c:v>
                </c:pt>
                <c:pt idx="1">
                  <c:v>170</c:v>
                </c:pt>
                <c:pt idx="2">
                  <c:v>96</c:v>
                </c:pt>
                <c:pt idx="3">
                  <c:v>70</c:v>
                </c:pt>
                <c:pt idx="4">
                  <c:v>62</c:v>
                </c:pt>
                <c:pt idx="5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SoK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c:spPr>
          <c:dLbls>
            <c:txPr>
              <a:bodyPr anchor="t" anchorCtr="0"/>
              <a:lstStyle/>
              <a:p>
                <a:pPr>
                  <a:defRPr sz="1800">
                    <a:solidFill>
                      <a:schemeClr val="tx1"/>
                    </a:solidFill>
                  </a:defRPr>
                </a:pPr>
                <a:endParaRPr lang="en-US"/>
              </a:p>
            </c:txPr>
            <c:dLblPos val="inBase"/>
            <c:showVal val="1"/>
          </c:dLbls>
          <c:cat>
            <c:strRef>
              <c:f>Sheet2!$A$2:$A$7</c:f>
              <c:strCache>
                <c:ptCount val="6"/>
                <c:pt idx="0">
                  <c:v>Submission</c:v>
                </c:pt>
                <c:pt idx="1">
                  <c:v>Round 1</c:v>
                </c:pt>
                <c:pt idx="2">
                  <c:v>Round 2</c:v>
                </c:pt>
                <c:pt idx="3">
                  <c:v>Round 3</c:v>
                </c:pt>
                <c:pt idx="4">
                  <c:v>Before PC</c:v>
                </c:pt>
                <c:pt idx="5">
                  <c:v>After PC</c:v>
                </c:pt>
              </c:strCache>
            </c:strRef>
          </c:cat>
          <c:val>
            <c:numRef>
              <c:f>Sheet2!$C$2:$C$7</c:f>
              <c:numCache>
                <c:formatCode>General</c:formatCode>
                <c:ptCount val="6"/>
                <c:pt idx="0">
                  <c:v>30</c:v>
                </c:pt>
                <c:pt idx="1">
                  <c:v>24</c:v>
                </c:pt>
                <c:pt idx="2">
                  <c:v>22</c:v>
                </c:pt>
                <c:pt idx="3">
                  <c:v>14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gapWidth val="27"/>
        <c:overlap val="85"/>
        <c:axId val="125002112"/>
        <c:axId val="125040128"/>
      </c:barChart>
      <c:catAx>
        <c:axId val="125002112"/>
        <c:scaling>
          <c:orientation val="minMax"/>
        </c:scaling>
        <c:delete val="1"/>
        <c:axPos val="b"/>
        <c:tickLblPos val="none"/>
        <c:crossAx val="125040128"/>
        <c:crossesAt val="0"/>
        <c:auto val="1"/>
        <c:lblAlgn val="ctr"/>
        <c:lblOffset val="100"/>
      </c:catAx>
      <c:valAx>
        <c:axId val="125040128"/>
        <c:scaling>
          <c:orientation val="minMax"/>
          <c:max val="267"/>
          <c:min val="0"/>
        </c:scaling>
        <c:delete val="1"/>
        <c:axPos val="l"/>
        <c:numFmt formatCode="General" sourceLinked="1"/>
        <c:tickLblPos val="none"/>
        <c:crossAx val="125002112"/>
        <c:crosses val="autoZero"/>
        <c:crossBetween val="between"/>
        <c:majorUnit val="50"/>
        <c:minorUnit val="10"/>
      </c:valAx>
      <c:spPr>
        <a:noFill/>
        <a:ln w="25400">
          <a:noFill/>
        </a:ln>
      </c:spPr>
    </c:plotArea>
    <c:plotVisOnly val="1"/>
  </c:chart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2800" dirty="0" smtClean="0"/>
              <a:t>All Research</a:t>
            </a:r>
            <a:r>
              <a:rPr lang="en-US" sz="2800" baseline="0" dirty="0" smtClean="0"/>
              <a:t> Reviews</a:t>
            </a:r>
            <a:endParaRPr lang="en-US" sz="2800" dirty="0"/>
          </a:p>
        </c:rich>
      </c:tx>
      <c:layout>
        <c:manualLayout>
          <c:xMode val="edge"/>
          <c:yMode val="edge"/>
          <c:x val="0.23936619718309862"/>
          <c:y val="3.2418635170603678E-2"/>
        </c:manualLayout>
      </c:layout>
    </c:title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0000"/>
            </a:solidFill>
          </c:spPr>
          <c:dPt>
            <c:idx val="0"/>
            <c:spPr>
              <a:solidFill>
                <a:schemeClr val="accent2">
                  <a:lumMod val="50000"/>
                </a:schemeClr>
              </a:solidFill>
            </c:spPr>
          </c:dPt>
          <c:dPt>
            <c:idx val="1"/>
            <c:spPr>
              <a:solidFill>
                <a:schemeClr val="accent2">
                  <a:lumMod val="75000"/>
                </a:schemeClr>
              </a:solidFill>
            </c:spPr>
          </c:dPt>
          <c:dPt>
            <c:idx val="2"/>
            <c:spPr>
              <a:solidFill>
                <a:schemeClr val="accent2">
                  <a:lumMod val="40000"/>
                  <a:lumOff val="60000"/>
                </a:schemeClr>
              </a:solidFill>
            </c:spPr>
          </c:dPt>
          <c:dPt>
            <c:idx val="3"/>
            <c:spPr>
              <a:solidFill>
                <a:schemeClr val="accent3">
                  <a:lumMod val="40000"/>
                  <a:lumOff val="60000"/>
                </a:schemeClr>
              </a:solidFill>
            </c:spPr>
          </c:dPt>
          <c:dPt>
            <c:idx val="4"/>
            <c:spPr>
              <a:solidFill>
                <a:schemeClr val="accent3">
                  <a:lumMod val="75000"/>
                </a:schemeClr>
              </a:solidFill>
            </c:spPr>
          </c:dPt>
          <c:dPt>
            <c:idx val="5"/>
            <c:spPr>
              <a:solidFill>
                <a:srgbClr val="00B050"/>
              </a:solidFill>
            </c:spPr>
          </c:dPt>
          <c:dLbls>
            <c:dLbl>
              <c:idx val="2"/>
              <c:layout>
                <c:manualLayout>
                  <c:x val="8.3709474695944697E-2"/>
                  <c:y val="-0.21434456109652991"/>
                </c:manualLayout>
              </c:layout>
              <c:spPr/>
              <c:txPr>
                <a:bodyPr/>
                <a:lstStyle/>
                <a:p>
                  <a:pPr>
                    <a:defRPr sz="2400">
                      <a:solidFill>
                        <a:schemeClr val="tx1"/>
                      </a:solidFill>
                    </a:defRPr>
                  </a:pPr>
                  <a:endParaRPr lang="en-US"/>
                </a:p>
              </c:txPr>
              <c:dLblPos val="bestFit"/>
              <c:showVal val="1"/>
            </c:dLbl>
            <c:dLbl>
              <c:idx val="3"/>
              <c:spPr/>
              <c:txPr>
                <a:bodyPr/>
                <a:lstStyle/>
                <a:p>
                  <a:pPr>
                    <a:defRPr sz="2400">
                      <a:solidFill>
                        <a:schemeClr val="tx1"/>
                      </a:solidFill>
                    </a:defRPr>
                  </a:pPr>
                  <a:endParaRPr lang="en-US"/>
                </a:p>
              </c:txPr>
            </c:dLbl>
            <c:dLbl>
              <c:idx val="5"/>
              <c:spPr/>
              <c:txPr>
                <a:bodyPr/>
                <a:lstStyle/>
                <a:p>
                  <a:pPr>
                    <a:defRPr sz="2400">
                      <a:solidFill>
                        <a:srgbClr val="00B050"/>
                      </a:solidFill>
                    </a:defRPr>
                  </a:pPr>
                  <a:endParaRPr lang="en-US"/>
                </a:p>
              </c:txPr>
            </c:dLbl>
            <c:txPr>
              <a:bodyPr/>
              <a:lstStyle/>
              <a:p>
                <a:pPr>
                  <a:defRPr sz="24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bestFit"/>
            <c:showVal val="1"/>
            <c:showLeaderLines val="1"/>
          </c:dLbls>
          <c:cat>
            <c:strRef>
              <c:f>Sheet1!$A$2:$A$7</c:f>
              <c:strCache>
                <c:ptCount val="6"/>
                <c:pt idx="0">
                  <c:v>1: Hopeless</c:v>
                </c:pt>
                <c:pt idx="1">
                  <c:v>2: Strong Reject</c:v>
                </c:pt>
                <c:pt idx="2">
                  <c:v>3: Weak Reject</c:v>
                </c:pt>
                <c:pt idx="3">
                  <c:v>4: Weak Accept</c:v>
                </c:pt>
                <c:pt idx="4">
                  <c:v>5: Accept</c:v>
                </c:pt>
                <c:pt idx="5">
                  <c:v>6: Strong Accept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</c:v>
                </c:pt>
                <c:pt idx="1">
                  <c:v>289</c:v>
                </c:pt>
                <c:pt idx="2">
                  <c:v>268</c:v>
                </c:pt>
                <c:pt idx="3">
                  <c:v>155</c:v>
                </c:pt>
                <c:pt idx="4">
                  <c:v>51</c:v>
                </c:pt>
                <c:pt idx="5">
                  <c:v>3</c:v>
                </c:pt>
              </c:numCache>
            </c:numRef>
          </c:val>
        </c:ser>
        <c:firstSliceAng val="0"/>
      </c:pieChart>
    </c:plotArea>
    <c:legend>
      <c:legendPos val="r"/>
      <c:layout>
        <c:manualLayout>
          <c:xMode val="edge"/>
          <c:yMode val="edge"/>
          <c:x val="0.70393478984141056"/>
          <c:y val="6.5550743657042873E-2"/>
          <c:w val="0.18777873276403864"/>
          <c:h val="0.23801441988426214"/>
        </c:manualLayout>
      </c:layout>
      <c:spPr>
        <a:solidFill>
          <a:schemeClr val="bg1">
            <a:lumMod val="85000"/>
          </a:schemeClr>
        </a:solidFill>
      </c:spPr>
    </c:legend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sz="2400" dirty="0" smtClean="0"/>
              <a:t>All </a:t>
            </a:r>
            <a:r>
              <a:rPr lang="en-US" sz="2400" dirty="0" err="1" smtClean="0"/>
              <a:t>SoK</a:t>
            </a:r>
            <a:r>
              <a:rPr lang="en-US" sz="2400" baseline="0" dirty="0" smtClean="0"/>
              <a:t> Reviews</a:t>
            </a:r>
            <a:endParaRPr lang="en-US" sz="2400" dirty="0"/>
          </a:p>
        </c:rich>
      </c:tx>
      <c:layout>
        <c:manualLayout>
          <c:xMode val="edge"/>
          <c:yMode val="edge"/>
          <c:x val="0.33390218049666881"/>
          <c:y val="9.6865023019663557E-2"/>
        </c:manualLayout>
      </c:layout>
    </c:title>
    <c:plotArea>
      <c:layout>
        <c:manualLayout>
          <c:layoutTarget val="inner"/>
          <c:xMode val="edge"/>
          <c:yMode val="edge"/>
          <c:x val="0.27614127975382385"/>
          <c:y val="0.20418668820243624"/>
          <c:w val="0.50231514164177749"/>
          <c:h val="0.7470327747493101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C00000"/>
            </a:solidFill>
          </c:spPr>
          <c:dPt>
            <c:idx val="0"/>
            <c:spPr>
              <a:solidFill>
                <a:schemeClr val="accent2">
                  <a:lumMod val="50000"/>
                </a:schemeClr>
              </a:solidFill>
            </c:spPr>
          </c:dPt>
          <c:dPt>
            <c:idx val="1"/>
            <c:spPr>
              <a:solidFill>
                <a:schemeClr val="accent2">
                  <a:lumMod val="75000"/>
                </a:schemeClr>
              </a:solidFill>
            </c:spPr>
          </c:dPt>
          <c:dPt>
            <c:idx val="2"/>
            <c:spPr>
              <a:solidFill>
                <a:schemeClr val="accent2">
                  <a:lumMod val="40000"/>
                  <a:lumOff val="60000"/>
                </a:schemeClr>
              </a:solidFill>
            </c:spPr>
          </c:dPt>
          <c:dPt>
            <c:idx val="3"/>
            <c:spPr>
              <a:solidFill>
                <a:schemeClr val="accent3">
                  <a:lumMod val="40000"/>
                  <a:lumOff val="60000"/>
                </a:schemeClr>
              </a:solidFill>
            </c:spPr>
          </c:dPt>
          <c:dPt>
            <c:idx val="4"/>
            <c:spPr>
              <a:solidFill>
                <a:schemeClr val="accent3">
                  <a:lumMod val="75000"/>
                </a:schemeClr>
              </a:solidFill>
            </c:spPr>
          </c:dPt>
          <c:dPt>
            <c:idx val="5"/>
            <c:spPr>
              <a:solidFill>
                <a:srgbClr val="00B050"/>
              </a:solidFill>
            </c:spPr>
          </c:dPt>
          <c:dLbls>
            <c:dLbl>
              <c:idx val="0"/>
              <c:layout/>
              <c:spPr/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Val val="1"/>
            </c:dLbl>
            <c:dLbl>
              <c:idx val="1"/>
              <c:layout>
                <c:manualLayout>
                  <c:x val="-0.1494252873563226"/>
                  <c:y val="2.9914529914529909E-2"/>
                </c:manualLayout>
              </c:layout>
              <c:spPr/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Val val="1"/>
            </c:dLbl>
            <c:dLbl>
              <c:idx val="2"/>
              <c:layout>
                <c:manualLayout>
                  <c:x val="2.0114942528735656E-2"/>
                  <c:y val="-0.12393162393162428"/>
                </c:manualLayout>
              </c:layout>
              <c:dLblPos val="bestFit"/>
              <c:showVal val="1"/>
            </c:dLbl>
            <c:dLbl>
              <c:idx val="3"/>
              <c:layout>
                <c:manualLayout>
                  <c:x val="0.16379310344827591"/>
                  <c:y val="-1.7094017094017103E-2"/>
                </c:manualLayout>
              </c:layout>
              <c:dLblPos val="bestFit"/>
              <c:showVal val="1"/>
            </c:dLbl>
            <c:dLbl>
              <c:idx val="4"/>
              <c:layout>
                <c:manualLayout>
                  <c:x val="8.3333333333333343E-2"/>
                  <c:y val="0.15811965811965811"/>
                </c:manualLayout>
              </c:layout>
              <c:spPr/>
              <c:txPr>
                <a:bodyPr/>
                <a:lstStyle/>
                <a:p>
                  <a:pPr>
                    <a:defRPr>
                      <a:solidFill>
                        <a:schemeClr val="bg1"/>
                      </a:solidFill>
                    </a:defRPr>
                  </a:pPr>
                  <a:endParaRPr lang="en-US"/>
                </a:p>
              </c:txPr>
              <c:dLblPos val="bestFit"/>
              <c:showVal val="1"/>
            </c:dLbl>
            <c:dLbl>
              <c:idx val="5"/>
              <c:layout/>
              <c:spPr/>
              <c:txPr>
                <a:bodyPr/>
                <a:lstStyle/>
                <a:p>
                  <a:pPr>
                    <a:defRPr b="1">
                      <a:solidFill>
                        <a:srgbClr val="00B050"/>
                      </a:solidFill>
                    </a:defRPr>
                  </a:pPr>
                  <a:endParaRPr lang="en-US"/>
                </a:p>
              </c:txPr>
              <c:dLblPos val="bestFit"/>
              <c:showVal val="1"/>
            </c:dLbl>
            <c:dLblPos val="outEnd"/>
            <c:showVal val="1"/>
            <c:showLeaderLines val="1"/>
          </c:dLbls>
          <c:cat>
            <c:strRef>
              <c:f>Sheet1!$A$2:$A$7</c:f>
              <c:strCache>
                <c:ptCount val="6"/>
                <c:pt idx="0">
                  <c:v>1: "Hopeless"</c:v>
                </c:pt>
                <c:pt idx="1">
                  <c:v>2: "Strong Reject"</c:v>
                </c:pt>
                <c:pt idx="2">
                  <c:v>3: "Weak Reject"</c:v>
                </c:pt>
                <c:pt idx="3">
                  <c:v>4: "Weak Accept"</c:v>
                </c:pt>
                <c:pt idx="4">
                  <c:v>5: "Accept"</c:v>
                </c:pt>
                <c:pt idx="5">
                  <c:v>6: "Strong Accept"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40</c:v>
                </c:pt>
                <c:pt idx="2">
                  <c:v>22</c:v>
                </c:pt>
                <c:pt idx="3">
                  <c:v>22</c:v>
                </c:pt>
                <c:pt idx="4">
                  <c:v>18</c:v>
                </c:pt>
                <c:pt idx="5">
                  <c:v>1</c:v>
                </c:pt>
              </c:numCache>
            </c:numRef>
          </c:val>
        </c:ser>
        <c:firstSliceAng val="0"/>
      </c:pieChart>
    </c:plotArea>
    <c:plotVisOnly val="1"/>
  </c:chart>
  <c:txPr>
    <a:bodyPr/>
    <a:lstStyle/>
    <a:p>
      <a:pPr>
        <a:defRPr sz="1800"/>
      </a:pPr>
      <a:endParaRPr lang="en-US"/>
    </a:p>
  </c:txPr>
  <c:externalData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1"/>
          <c:order val="0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dPt>
            <c:idx val="1"/>
            <c:spPr>
              <a:solidFill>
                <a:schemeClr val="accent2">
                  <a:lumMod val="75000"/>
                </a:schemeClr>
              </a:solidFill>
            </c:spPr>
          </c:dPt>
          <c:dPt>
            <c:idx val="2"/>
            <c:spPr>
              <a:solidFill>
                <a:schemeClr val="accent2">
                  <a:lumMod val="40000"/>
                  <a:lumOff val="60000"/>
                </a:schemeClr>
              </a:solidFill>
            </c:spPr>
          </c:dPt>
          <c:dPt>
            <c:idx val="3"/>
            <c:spPr>
              <a:solidFill>
                <a:schemeClr val="accent3">
                  <a:lumMod val="40000"/>
                  <a:lumOff val="60000"/>
                </a:schemeClr>
              </a:solidFill>
            </c:spPr>
          </c:dPt>
          <c:dPt>
            <c:idx val="4"/>
            <c:spPr>
              <a:solidFill>
                <a:schemeClr val="accent3">
                  <a:lumMod val="75000"/>
                </a:schemeClr>
              </a:solidFill>
            </c:spPr>
          </c:dPt>
          <c:dPt>
            <c:idx val="5"/>
            <c:spPr>
              <a:solidFill>
                <a:srgbClr val="00B050"/>
              </a:solidFill>
            </c:spPr>
          </c:dPt>
          <c:dLbls>
            <c:dLbl>
              <c:idx val="3"/>
              <c:spPr/>
              <c:txPr>
                <a:bodyPr/>
                <a:lstStyle/>
                <a:p>
                  <a:pPr>
                    <a:defRPr sz="4000">
                      <a:solidFill>
                        <a:schemeClr val="tx1"/>
                      </a:solidFill>
                    </a:defRPr>
                  </a:pPr>
                  <a:endParaRPr lang="en-US"/>
                </a:p>
              </c:txPr>
            </c:dLbl>
            <c:txPr>
              <a:bodyPr/>
              <a:lstStyle/>
              <a:p>
                <a:pPr>
                  <a:defRPr sz="400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Val val="1"/>
          </c:dLbls>
          <c:cat>
            <c:strRef>
              <c:f>Sheet1!$A$2:$A$7</c:f>
              <c:strCache>
                <c:ptCount val="6"/>
                <c:pt idx="0">
                  <c:v>1: Hopeless</c:v>
                </c:pt>
                <c:pt idx="1">
                  <c:v>2: Strong Reject</c:v>
                </c:pt>
                <c:pt idx="2">
                  <c:v>3: Weak Reject</c:v>
                </c:pt>
                <c:pt idx="3">
                  <c:v>4: Weak Accept</c:v>
                </c:pt>
                <c:pt idx="4">
                  <c:v>5: Accept</c:v>
                </c:pt>
                <c:pt idx="5">
                  <c:v>6: Strong Accept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9</c:v>
                </c:pt>
                <c:pt idx="2">
                  <c:v>34</c:v>
                </c:pt>
                <c:pt idx="3">
                  <c:v>58</c:v>
                </c:pt>
                <c:pt idx="4">
                  <c:v>32</c:v>
                </c:pt>
                <c:pt idx="5">
                  <c:v>3</c:v>
                </c:pt>
              </c:numCache>
            </c:numRef>
          </c:val>
        </c:ser>
        <c:firstSliceAng val="0"/>
      </c:pieChart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70979816056050848"/>
          <c:y val="0.21517165354330708"/>
          <c:w val="0.21261089781132733"/>
          <c:h val="0.25410113735783024"/>
        </c:manualLayout>
      </c:layout>
      <c:txPr>
        <a:bodyPr/>
        <a:lstStyle/>
        <a:p>
          <a:pPr>
            <a:defRPr sz="1600"/>
          </a:pPr>
          <a:endParaRPr lang="en-US"/>
        </a:p>
      </c:txPr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lrMapOvr bg1="lt1" tx1="dk1" bg2="lt2" tx2="dk2" accent1="accent1" accent2="accent2" accent3="accent3" accent4="accent4" accent5="accent5" accent6="accent6" hlink="hlink" folHlink="folHlink"/>
  <c:chart>
    <c:plotArea>
      <c:layout>
        <c:manualLayout>
          <c:layoutTarget val="inner"/>
          <c:xMode val="edge"/>
          <c:yMode val="edge"/>
          <c:x val="7.2418635170603804E-2"/>
          <c:y val="9.5320690838498964E-2"/>
          <c:w val="0.88948612673415717"/>
          <c:h val="0.56436517955734777"/>
        </c:manualLayout>
      </c:layout>
      <c:barChart>
        <c:barDir val="col"/>
        <c:grouping val="clustered"/>
        <c:ser>
          <c:idx val="0"/>
          <c:order val="0"/>
          <c:tx>
            <c:strRef>
              <c:f>countries3!$B$33</c:f>
              <c:strCache>
                <c:ptCount val="1"/>
                <c:pt idx="0">
                  <c:v>Submitted</c:v>
                </c:pt>
              </c:strCache>
            </c:strRef>
          </c:tx>
          <c:spPr>
            <a:solidFill>
              <a:schemeClr val="tx2"/>
            </a:solidFill>
          </c:spPr>
          <c:cat>
            <c:strRef>
              <c:f>countries3!$A$34:$A$56</c:f>
              <c:strCache>
                <c:ptCount val="23"/>
                <c:pt idx="0">
                  <c:v>US Academic</c:v>
                </c:pt>
                <c:pt idx="1">
                  <c:v>Germany</c:v>
                </c:pt>
                <c:pt idx="2">
                  <c:v>US Commercial</c:v>
                </c:pt>
                <c:pt idx="3">
                  <c:v>Canada</c:v>
                </c:pt>
                <c:pt idx="4">
                  <c:v>United Kingdom</c:v>
                </c:pt>
                <c:pt idx="5">
                  <c:v>China</c:v>
                </c:pt>
                <c:pt idx="6">
                  <c:v>India</c:v>
                </c:pt>
                <c:pt idx="7">
                  <c:v>Singapore</c:v>
                </c:pt>
                <c:pt idx="8">
                  <c:v>France</c:v>
                </c:pt>
                <c:pt idx="9">
                  <c:v>Switzerland</c:v>
                </c:pt>
                <c:pt idx="10">
                  <c:v>Italy</c:v>
                </c:pt>
                <c:pt idx="11">
                  <c:v>Australia</c:v>
                </c:pt>
                <c:pt idx="12">
                  <c:v>Korea</c:v>
                </c:pt>
                <c:pt idx="13">
                  <c:v>Pakistan</c:v>
                </c:pt>
                <c:pt idx="14">
                  <c:v>Belgium</c:v>
                </c:pt>
                <c:pt idx="15">
                  <c:v>.org</c:v>
                </c:pt>
                <c:pt idx="16">
                  <c:v>Spain</c:v>
                </c:pt>
                <c:pt idx="17">
                  <c:v>Austria</c:v>
                </c:pt>
                <c:pt idx="18">
                  <c:v>Japan</c:v>
                </c:pt>
                <c:pt idx="19">
                  <c:v>Luxembourg</c:v>
                </c:pt>
                <c:pt idx="20">
                  <c:v>Iran</c:v>
                </c:pt>
                <c:pt idx="21">
                  <c:v>Israel</c:v>
                </c:pt>
                <c:pt idx="22">
                  <c:v>Netherlands</c:v>
                </c:pt>
              </c:strCache>
            </c:strRef>
          </c:cat>
          <c:val>
            <c:numRef>
              <c:f>countries3!$B$34:$B$56</c:f>
              <c:numCache>
                <c:formatCode>General</c:formatCode>
                <c:ptCount val="23"/>
                <c:pt idx="0">
                  <c:v>113.48376620000001</c:v>
                </c:pt>
                <c:pt idx="1">
                  <c:v>22.458333329999999</c:v>
                </c:pt>
                <c:pt idx="2">
                  <c:v>16.246103900000001</c:v>
                </c:pt>
                <c:pt idx="3">
                  <c:v>13.83333333</c:v>
                </c:pt>
                <c:pt idx="4">
                  <c:v>11.957575759999999</c:v>
                </c:pt>
                <c:pt idx="5">
                  <c:v>10.858333330000001</c:v>
                </c:pt>
                <c:pt idx="6">
                  <c:v>8.75</c:v>
                </c:pt>
                <c:pt idx="7">
                  <c:v>8.25</c:v>
                </c:pt>
                <c:pt idx="8">
                  <c:v>6.15</c:v>
                </c:pt>
                <c:pt idx="9">
                  <c:v>5.75</c:v>
                </c:pt>
                <c:pt idx="10">
                  <c:v>5.3333333329999997</c:v>
                </c:pt>
                <c:pt idx="11">
                  <c:v>4.5833333329999997</c:v>
                </c:pt>
                <c:pt idx="12">
                  <c:v>3.7833333329999999</c:v>
                </c:pt>
                <c:pt idx="13">
                  <c:v>3.75</c:v>
                </c:pt>
                <c:pt idx="14">
                  <c:v>3.7196969700000002</c:v>
                </c:pt>
                <c:pt idx="15">
                  <c:v>3.5333333329999999</c:v>
                </c:pt>
                <c:pt idx="16">
                  <c:v>3.1666666669999999</c:v>
                </c:pt>
                <c:pt idx="17">
                  <c:v>2.8333333330000001</c:v>
                </c:pt>
                <c:pt idx="18">
                  <c:v>2.75</c:v>
                </c:pt>
                <c:pt idx="19">
                  <c:v>2.25</c:v>
                </c:pt>
                <c:pt idx="20">
                  <c:v>2.1666666669999999</c:v>
                </c:pt>
                <c:pt idx="21">
                  <c:v>2.1428571430000001</c:v>
                </c:pt>
                <c:pt idx="22">
                  <c:v>1.35</c:v>
                </c:pt>
              </c:numCache>
            </c:numRef>
          </c:val>
        </c:ser>
        <c:ser>
          <c:idx val="1"/>
          <c:order val="1"/>
          <c:tx>
            <c:strRef>
              <c:f>countries3!$C$33</c:f>
              <c:strCache>
                <c:ptCount val="1"/>
                <c:pt idx="0">
                  <c:v>Accepted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countries3!$A$34:$A$56</c:f>
              <c:strCache>
                <c:ptCount val="23"/>
                <c:pt idx="0">
                  <c:v>US Academic</c:v>
                </c:pt>
                <c:pt idx="1">
                  <c:v>Germany</c:v>
                </c:pt>
                <c:pt idx="2">
                  <c:v>US Commercial</c:v>
                </c:pt>
                <c:pt idx="3">
                  <c:v>Canada</c:v>
                </c:pt>
                <c:pt idx="4">
                  <c:v>United Kingdom</c:v>
                </c:pt>
                <c:pt idx="5">
                  <c:v>China</c:v>
                </c:pt>
                <c:pt idx="6">
                  <c:v>India</c:v>
                </c:pt>
                <c:pt idx="7">
                  <c:v>Singapore</c:v>
                </c:pt>
                <c:pt idx="8">
                  <c:v>France</c:v>
                </c:pt>
                <c:pt idx="9">
                  <c:v>Switzerland</c:v>
                </c:pt>
                <c:pt idx="10">
                  <c:v>Italy</c:v>
                </c:pt>
                <c:pt idx="11">
                  <c:v>Australia</c:v>
                </c:pt>
                <c:pt idx="12">
                  <c:v>Korea</c:v>
                </c:pt>
                <c:pt idx="13">
                  <c:v>Pakistan</c:v>
                </c:pt>
                <c:pt idx="14">
                  <c:v>Belgium</c:v>
                </c:pt>
                <c:pt idx="15">
                  <c:v>.org</c:v>
                </c:pt>
                <c:pt idx="16">
                  <c:v>Spain</c:v>
                </c:pt>
                <c:pt idx="17">
                  <c:v>Austria</c:v>
                </c:pt>
                <c:pt idx="18">
                  <c:v>Japan</c:v>
                </c:pt>
                <c:pt idx="19">
                  <c:v>Luxembourg</c:v>
                </c:pt>
                <c:pt idx="20">
                  <c:v>Iran</c:v>
                </c:pt>
                <c:pt idx="21">
                  <c:v>Israel</c:v>
                </c:pt>
                <c:pt idx="22">
                  <c:v>Netherlands</c:v>
                </c:pt>
              </c:strCache>
            </c:strRef>
          </c:cat>
          <c:val>
            <c:numRef>
              <c:f>countries3!$C$34:$C$56</c:f>
              <c:numCache>
                <c:formatCode>General</c:formatCode>
                <c:ptCount val="23"/>
                <c:pt idx="0">
                  <c:v>167.23387099999999</c:v>
                </c:pt>
                <c:pt idx="1">
                  <c:v>0</c:v>
                </c:pt>
                <c:pt idx="2">
                  <c:v>22.106451610000001</c:v>
                </c:pt>
                <c:pt idx="3">
                  <c:v>0</c:v>
                </c:pt>
                <c:pt idx="4">
                  <c:v>17.22580645</c:v>
                </c:pt>
                <c:pt idx="5">
                  <c:v>6.4596774190000001</c:v>
                </c:pt>
                <c:pt idx="6">
                  <c:v>0</c:v>
                </c:pt>
                <c:pt idx="7">
                  <c:v>0</c:v>
                </c:pt>
                <c:pt idx="8">
                  <c:v>8.6129032260000002</c:v>
                </c:pt>
                <c:pt idx="9">
                  <c:v>0</c:v>
                </c:pt>
                <c:pt idx="10">
                  <c:v>2.8709677419999999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8.6129032260000002</c:v>
                </c:pt>
                <c:pt idx="15">
                  <c:v>8.6129032260000002</c:v>
                </c:pt>
                <c:pt idx="16">
                  <c:v>0</c:v>
                </c:pt>
                <c:pt idx="17">
                  <c:v>11.48387097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8.6129032260000002</c:v>
                </c:pt>
                <c:pt idx="22">
                  <c:v>5.1677419349999996</c:v>
                </c:pt>
              </c:numCache>
            </c:numRef>
          </c:val>
        </c:ser>
        <c:gapWidth val="42"/>
        <c:overlap val="16"/>
        <c:axId val="156331008"/>
        <c:axId val="164098816"/>
      </c:barChart>
      <c:catAx>
        <c:axId val="156331008"/>
        <c:scaling>
          <c:orientation val="minMax"/>
        </c:scaling>
        <c:axPos val="b"/>
        <c:tickLblPos val="nextTo"/>
        <c:txPr>
          <a:bodyPr/>
          <a:lstStyle/>
          <a:p>
            <a:pPr>
              <a:defRPr sz="1800"/>
            </a:pPr>
            <a:endParaRPr lang="en-US"/>
          </a:p>
        </c:txPr>
        <c:crossAx val="164098816"/>
        <c:crosses val="autoZero"/>
        <c:auto val="1"/>
        <c:lblAlgn val="ctr"/>
        <c:lblOffset val="100"/>
      </c:catAx>
      <c:valAx>
        <c:axId val="164098816"/>
        <c:scaling>
          <c:orientation val="minMax"/>
          <c:max val="170"/>
          <c:min val="0"/>
        </c:scaling>
        <c:axPos val="l"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56331008"/>
        <c:crosses val="autoZero"/>
        <c:crossBetween val="between"/>
        <c:majorUnit val="20"/>
        <c:minorUnit val="1"/>
      </c:valAx>
      <c:spPr>
        <a:noFill/>
      </c:spPr>
    </c:plotArea>
    <c:plotVisOnly val="1"/>
  </c:chart>
  <c:spPr>
    <a:noFill/>
  </c:spPr>
  <c:externalData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 sz="2800" dirty="0"/>
              <a:t>Submissions per </a:t>
            </a:r>
            <a:r>
              <a:rPr lang="en-US" sz="2800" dirty="0" smtClean="0"/>
              <a:t>Million </a:t>
            </a:r>
          </a:p>
          <a:p>
            <a:pPr>
              <a:defRPr/>
            </a:pPr>
            <a:r>
              <a:rPr lang="en-US" sz="2400" dirty="0" smtClean="0"/>
              <a:t>(shared by authors)</a:t>
            </a:r>
            <a:endParaRPr lang="en-US" sz="2400" dirty="0"/>
          </a:p>
        </c:rich>
      </c:tx>
      <c:layout>
        <c:manualLayout>
          <c:xMode val="edge"/>
          <c:yMode val="edge"/>
          <c:x val="0.12983557341499183"/>
          <c:y val="2.3389447008779117E-2"/>
        </c:manualLayout>
      </c:layout>
      <c:spPr>
        <a:solidFill>
          <a:schemeClr val="bg1"/>
        </a:solidFill>
      </c:spPr>
    </c:title>
    <c:plotArea>
      <c:layout>
        <c:manualLayout>
          <c:layoutTarget val="inner"/>
          <c:xMode val="edge"/>
          <c:yMode val="edge"/>
          <c:x val="4.1210605673310287E-2"/>
          <c:y val="2.3706433498138259E-2"/>
          <c:w val="0.94846490935183458"/>
          <c:h val="0.58120475492888968"/>
        </c:manualLayout>
      </c:layout>
      <c:barChart>
        <c:barDir val="col"/>
        <c:grouping val="clustered"/>
        <c:ser>
          <c:idx val="2"/>
          <c:order val="0"/>
          <c:tx>
            <c:strRef>
              <c:f>Sheet1!$D$1</c:f>
              <c:strCache>
                <c:ptCount val="1"/>
                <c:pt idx="0">
                  <c:v>Submissions per Million</c:v>
                </c:pt>
              </c:strCache>
            </c:strRef>
          </c:tx>
          <c:spPr>
            <a:solidFill>
              <a:schemeClr val="tx2"/>
            </a:solidFill>
          </c:spPr>
          <c:cat>
            <c:strRef>
              <c:f>Sheet1!$A$2:$A$32</c:f>
              <c:strCache>
                <c:ptCount val="31"/>
                <c:pt idx="0">
                  <c:v>Luxembourg</c:v>
                </c:pt>
                <c:pt idx="1">
                  <c:v>Singapore</c:v>
                </c:pt>
                <c:pt idx="2">
                  <c:v>Switzerland</c:v>
                </c:pt>
                <c:pt idx="3">
                  <c:v>USA</c:v>
                </c:pt>
                <c:pt idx="4">
                  <c:v>Canada</c:v>
                </c:pt>
                <c:pt idx="5">
                  <c:v>Belgium</c:v>
                </c:pt>
                <c:pt idx="6">
                  <c:v>Austria</c:v>
                </c:pt>
                <c:pt idx="7">
                  <c:v>Israel</c:v>
                </c:pt>
                <c:pt idx="8">
                  <c:v>Germany</c:v>
                </c:pt>
                <c:pt idx="9">
                  <c:v>Australia</c:v>
                </c:pt>
                <c:pt idx="10">
                  <c:v>Norway</c:v>
                </c:pt>
                <c:pt idx="11">
                  <c:v>United Kingdom</c:v>
                </c:pt>
                <c:pt idx="12">
                  <c:v>Oman</c:v>
                </c:pt>
                <c:pt idx="13">
                  <c:v>Tunisia</c:v>
                </c:pt>
                <c:pt idx="14">
                  <c:v>France</c:v>
                </c:pt>
                <c:pt idx="15">
                  <c:v>Finland</c:v>
                </c:pt>
                <c:pt idx="16">
                  <c:v>Italy</c:v>
                </c:pt>
                <c:pt idx="17">
                  <c:v>Netherlands</c:v>
                </c:pt>
                <c:pt idx="18">
                  <c:v>Korea</c:v>
                </c:pt>
                <c:pt idx="19">
                  <c:v>Spain</c:v>
                </c:pt>
                <c:pt idx="20">
                  <c:v>Slovak Republic</c:v>
                </c:pt>
                <c:pt idx="21">
                  <c:v>Greece</c:v>
                </c:pt>
                <c:pt idx="22">
                  <c:v>Taiwan</c:v>
                </c:pt>
                <c:pt idx="23">
                  <c:v>Malaysia</c:v>
                </c:pt>
                <c:pt idx="24">
                  <c:v>Iran</c:v>
                </c:pt>
                <c:pt idx="25">
                  <c:v>Hong Kong</c:v>
                </c:pt>
                <c:pt idx="26">
                  <c:v>Pakistan</c:v>
                </c:pt>
                <c:pt idx="27">
                  <c:v>Japan</c:v>
                </c:pt>
                <c:pt idx="28">
                  <c:v>Chile</c:v>
                </c:pt>
                <c:pt idx="29">
                  <c:v>China</c:v>
                </c:pt>
                <c:pt idx="30">
                  <c:v>India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4.5</c:v>
                </c:pt>
                <c:pt idx="1">
                  <c:v>1.6533066132264518</c:v>
                </c:pt>
                <c:pt idx="2">
                  <c:v>0.73907455012853585</c:v>
                </c:pt>
                <c:pt idx="3">
                  <c:v>0.44098122977346282</c:v>
                </c:pt>
                <c:pt idx="4">
                  <c:v>0.40566959921700924</c:v>
                </c:pt>
                <c:pt idx="5">
                  <c:v>0.3444163860833333</c:v>
                </c:pt>
                <c:pt idx="6">
                  <c:v>0.33730158730119103</c:v>
                </c:pt>
                <c:pt idx="7">
                  <c:v>0.2857142857146675</c:v>
                </c:pt>
                <c:pt idx="8">
                  <c:v>0.25621434392787334</c:v>
                </c:pt>
                <c:pt idx="9">
                  <c:v>0.20553064275022442</c:v>
                </c:pt>
                <c:pt idx="10">
                  <c:v>0.2040816326530612</c:v>
                </c:pt>
                <c:pt idx="11">
                  <c:v>0.19286412512258069</c:v>
                </c:pt>
                <c:pt idx="12">
                  <c:v>0.17574692442882273</c:v>
                </c:pt>
                <c:pt idx="13">
                  <c:v>9.6153846153846353E-2</c:v>
                </c:pt>
                <c:pt idx="14">
                  <c:v>9.4036697247706524E-2</c:v>
                </c:pt>
                <c:pt idx="15">
                  <c:v>9.3283582089552231E-2</c:v>
                </c:pt>
                <c:pt idx="16">
                  <c:v>8.8446655610779468E-2</c:v>
                </c:pt>
                <c:pt idx="17">
                  <c:v>8.1325301204819442E-2</c:v>
                </c:pt>
                <c:pt idx="18">
                  <c:v>7.6123407109255525E-2</c:v>
                </c:pt>
                <c:pt idx="19">
                  <c:v>6.8840579710217384E-2</c:v>
                </c:pt>
                <c:pt idx="20">
                  <c:v>6.172839506166667E-2</c:v>
                </c:pt>
                <c:pt idx="21">
                  <c:v>5.8997050147522177E-2</c:v>
                </c:pt>
                <c:pt idx="22">
                  <c:v>4.3290043290043302E-2</c:v>
                </c:pt>
                <c:pt idx="23">
                  <c:v>3.5335689045936397E-2</c:v>
                </c:pt>
                <c:pt idx="24">
                  <c:v>2.9200359389083594E-2</c:v>
                </c:pt>
                <c:pt idx="25">
                  <c:v>2.8571428571428591E-2</c:v>
                </c:pt>
                <c:pt idx="26">
                  <c:v>2.2163120567375929E-2</c:v>
                </c:pt>
                <c:pt idx="27">
                  <c:v>2.1585557299843013E-2</c:v>
                </c:pt>
                <c:pt idx="28">
                  <c:v>1.1695906432748536E-2</c:v>
                </c:pt>
                <c:pt idx="29">
                  <c:v>8.1183800622803733E-3</c:v>
                </c:pt>
                <c:pt idx="30">
                  <c:v>7.4102303523035382E-3</c:v>
                </c:pt>
              </c:numCache>
            </c:numRef>
          </c:val>
        </c:ser>
        <c:axId val="164100736"/>
        <c:axId val="95072640"/>
      </c:barChart>
      <c:catAx>
        <c:axId val="164100736"/>
        <c:scaling>
          <c:orientation val="minMax"/>
        </c:scaling>
        <c:axPos val="b"/>
        <c:numFmt formatCode="#,##0.0" sourceLinked="0"/>
        <c:majorTickMark val="none"/>
        <c:tickLblPos val="nextTo"/>
        <c:txPr>
          <a:bodyPr rot="-5400000" vert="horz"/>
          <a:lstStyle/>
          <a:p>
            <a:pPr>
              <a:defRPr sz="2400"/>
            </a:pPr>
            <a:endParaRPr lang="en-US"/>
          </a:p>
        </c:txPr>
        <c:crossAx val="95072640"/>
        <c:crosses val="autoZero"/>
        <c:auto val="1"/>
        <c:lblAlgn val="ctr"/>
        <c:lblOffset val="0"/>
        <c:tickLblSkip val="1"/>
      </c:catAx>
      <c:valAx>
        <c:axId val="95072640"/>
        <c:scaling>
          <c:orientation val="minMax"/>
        </c:scaling>
        <c:axPos val="l"/>
        <c:numFmt formatCode="#,##0.0" sourceLinked="0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64100736"/>
        <c:crosses val="autoZero"/>
        <c:crossBetween val="between"/>
      </c:valAx>
      <c:spPr>
        <a:noFill/>
        <a:ln w="25400">
          <a:noFill/>
        </a:ln>
      </c:spPr>
    </c:plotArea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defRPr/>
            </a:pPr>
            <a:r>
              <a:rPr lang="en-US" dirty="0"/>
              <a:t>Accepts per million</a:t>
            </a:r>
            <a:r>
              <a:rPr lang="en-US" baseline="0" dirty="0"/>
              <a:t> </a:t>
            </a:r>
            <a:endParaRPr lang="en-US" baseline="0" dirty="0" smtClean="0"/>
          </a:p>
          <a:p>
            <a:pPr>
              <a:defRPr/>
            </a:pPr>
            <a:r>
              <a:rPr lang="en-US" baseline="0" dirty="0" smtClean="0"/>
              <a:t>(shared by</a:t>
            </a:r>
            <a:r>
              <a:rPr lang="en-US" dirty="0" smtClean="0"/>
              <a:t> </a:t>
            </a:r>
            <a:r>
              <a:rPr lang="en-US" dirty="0"/>
              <a:t>authors)</a:t>
            </a:r>
          </a:p>
        </c:rich>
      </c:tx>
      <c:layout>
        <c:manualLayout>
          <c:xMode val="edge"/>
          <c:yMode val="edge"/>
          <c:x val="0.59848717948717867"/>
          <c:y val="2.2222222222222251E-2"/>
        </c:manualLayout>
      </c:layout>
    </c:title>
    <c:plotArea>
      <c:layout>
        <c:manualLayout>
          <c:layoutTarget val="inner"/>
          <c:xMode val="edge"/>
          <c:yMode val="edge"/>
          <c:x val="0.36873914799111629"/>
          <c:y val="6.4888888888888899E-2"/>
          <c:w val="0.63126085200888515"/>
          <c:h val="0.56149693788276456"/>
        </c:manualLayout>
      </c:layout>
      <c:barChart>
        <c:barDir val="col"/>
        <c:grouping val="clustered"/>
        <c:ser>
          <c:idx val="7"/>
          <c:order val="0"/>
          <c:tx>
            <c:strRef>
              <c:f>countries3!$I$75</c:f>
              <c:strCache>
                <c:ptCount val="1"/>
                <c:pt idx="0">
                  <c:v>accepts per million, divided authors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countries3!$A$76:$A$85</c:f>
              <c:strCache>
                <c:ptCount val="10"/>
                <c:pt idx="0">
                  <c:v>Austria</c:v>
                </c:pt>
                <c:pt idx="1">
                  <c:v>Israel</c:v>
                </c:pt>
                <c:pt idx="2">
                  <c:v>Switzerland</c:v>
                </c:pt>
                <c:pt idx="3">
                  <c:v>Belgium</c:v>
                </c:pt>
                <c:pt idx="4">
                  <c:v>USA</c:v>
                </c:pt>
                <c:pt idx="5">
                  <c:v>Netherlands</c:v>
                </c:pt>
                <c:pt idx="6">
                  <c:v>UK</c:v>
                </c:pt>
                <c:pt idx="7">
                  <c:v>France</c:v>
                </c:pt>
                <c:pt idx="8">
                  <c:v>Italy</c:v>
                </c:pt>
                <c:pt idx="9">
                  <c:v>China</c:v>
                </c:pt>
              </c:strCache>
            </c:strRef>
          </c:cat>
          <c:val>
            <c:numRef>
              <c:f>countries3!$I$76:$I$85</c:f>
              <c:numCache>
                <c:formatCode>General</c:formatCode>
                <c:ptCount val="10"/>
                <c:pt idx="0">
                  <c:v>0.15873015476190513</c:v>
                </c:pt>
                <c:pt idx="1">
                  <c:v>0.13333333333333341</c:v>
                </c:pt>
                <c:pt idx="2">
                  <c:v>0.12853470437017989</c:v>
                </c:pt>
                <c:pt idx="3">
                  <c:v>9.2592592592592851E-2</c:v>
                </c:pt>
                <c:pt idx="4">
                  <c:v>7.4368932038835128E-2</c:v>
                </c:pt>
                <c:pt idx="5">
                  <c:v>3.614457831325301E-2</c:v>
                </c:pt>
                <c:pt idx="6">
                  <c:v>3.225806451612908E-2</c:v>
                </c:pt>
                <c:pt idx="7">
                  <c:v>1.5290519877675841E-2</c:v>
                </c:pt>
                <c:pt idx="8">
                  <c:v>5.5278606965174105E-3</c:v>
                </c:pt>
                <c:pt idx="9">
                  <c:v>5.6074766355140274E-4</c:v>
                </c:pt>
              </c:numCache>
            </c:numRef>
          </c:val>
        </c:ser>
        <c:axId val="96407552"/>
        <c:axId val="96409088"/>
      </c:barChart>
      <c:catAx>
        <c:axId val="96407552"/>
        <c:scaling>
          <c:orientation val="minMax"/>
        </c:scaling>
        <c:axPos val="b"/>
        <c:majorTickMark val="none"/>
        <c:tickLblPos val="nextTo"/>
        <c:txPr>
          <a:bodyPr rot="-5400000" vert="horz"/>
          <a:lstStyle/>
          <a:p>
            <a:pPr>
              <a:defRPr sz="1600"/>
            </a:pPr>
            <a:endParaRPr lang="en-US"/>
          </a:p>
        </c:txPr>
        <c:crossAx val="96409088"/>
        <c:crosses val="autoZero"/>
        <c:auto val="1"/>
        <c:lblAlgn val="ctr"/>
        <c:lblOffset val="0"/>
      </c:catAx>
      <c:valAx>
        <c:axId val="96409088"/>
        <c:scaling>
          <c:orientation val="minMax"/>
          <c:max val="0.18000000000000024"/>
          <c:min val="0"/>
        </c:scaling>
        <c:axPos val="l"/>
        <c:numFmt formatCode="#,##0.00" sourceLinked="0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96407552"/>
        <c:crosses val="autoZero"/>
        <c:crossBetween val="between"/>
        <c:majorUnit val="0.05"/>
        <c:minorUnit val="1.0000000000000005E-2"/>
      </c:valAx>
    </c:plotArea>
    <c:plotVisOnly val="1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topics!$B$1</c:f>
              <c:strCache>
                <c:ptCount val="1"/>
                <c:pt idx="0">
                  <c:v>Submitted</c:v>
                </c:pt>
              </c:strCache>
            </c:strRef>
          </c:tx>
          <c:spPr>
            <a:solidFill>
              <a:schemeClr val="tx2"/>
            </a:solidFill>
            <a:effectLst/>
            <a:scene3d>
              <a:camera prst="orthographicFront"/>
              <a:lightRig rig="threePt" dir="t"/>
            </a:scene3d>
            <a:sp3d/>
          </c:spPr>
          <c:cat>
            <c:strRef>
              <c:f>topics!$A$2:$A$28</c:f>
              <c:strCache>
                <c:ptCount val="27"/>
                <c:pt idx="0">
                  <c:v>System security</c:v>
                </c:pt>
                <c:pt idx="1">
                  <c:v>Network security</c:v>
                </c:pt>
                <c:pt idx="2">
                  <c:v>Attacks and defenses</c:v>
                </c:pt>
                <c:pt idx="3">
                  <c:v>Application security</c:v>
                </c:pt>
                <c:pt idx="4">
                  <c:v>Cryptography</c:v>
                </c:pt>
                <c:pt idx="5">
                  <c:v>Privacy-preserving systems</c:v>
                </c:pt>
                <c:pt idx="6">
                  <c:v>Security architectures</c:v>
                </c:pt>
                <c:pt idx="7">
                  <c:v>Protocol security</c:v>
                </c:pt>
                <c:pt idx="8">
                  <c:v>Intrusion detection</c:v>
                </c:pt>
                <c:pt idx="9">
                  <c:v>Access control</c:v>
                </c:pt>
                <c:pt idx="10">
                  <c:v>Formal Methods</c:v>
                </c:pt>
                <c:pt idx="11">
                  <c:v>Malware</c:v>
                </c:pt>
                <c:pt idx="12">
                  <c:v>Web security</c:v>
                </c:pt>
                <c:pt idx="13">
                  <c:v>Distributed systems security</c:v>
                </c:pt>
                <c:pt idx="14">
                  <c:v>Secure information flow</c:v>
                </c:pt>
                <c:pt idx="15">
                  <c:v>Authentication</c:v>
                </c:pt>
                <c:pt idx="16">
                  <c:v>Security and privacy policies</c:v>
                </c:pt>
                <c:pt idx="17">
                  <c:v>Anonymity</c:v>
                </c:pt>
                <c:pt idx="18">
                  <c:v>Hardware security</c:v>
                </c:pt>
                <c:pt idx="19">
                  <c:v>Language-based security</c:v>
                </c:pt>
                <c:pt idx="20">
                  <c:v>Usability and security</c:v>
                </c:pt>
                <c:pt idx="21">
                  <c:v>Forensics</c:v>
                </c:pt>
                <c:pt idx="22">
                  <c:v>Embedded systems security</c:v>
                </c:pt>
                <c:pt idx="23">
                  <c:v>Metrics</c:v>
                </c:pt>
                <c:pt idx="24">
                  <c:v>Recovery</c:v>
                </c:pt>
                <c:pt idx="25">
                  <c:v>None</c:v>
                </c:pt>
                <c:pt idx="26">
                  <c:v>Censorship-resistance</c:v>
                </c:pt>
              </c:strCache>
            </c:strRef>
          </c:cat>
          <c:val>
            <c:numRef>
              <c:f>topics!$B$2:$B$28</c:f>
              <c:numCache>
                <c:formatCode>General</c:formatCode>
                <c:ptCount val="27"/>
                <c:pt idx="0">
                  <c:v>60</c:v>
                </c:pt>
                <c:pt idx="1">
                  <c:v>56</c:v>
                </c:pt>
                <c:pt idx="2">
                  <c:v>55</c:v>
                </c:pt>
                <c:pt idx="3">
                  <c:v>41</c:v>
                </c:pt>
                <c:pt idx="4">
                  <c:v>41</c:v>
                </c:pt>
                <c:pt idx="5">
                  <c:v>39</c:v>
                </c:pt>
                <c:pt idx="6">
                  <c:v>38</c:v>
                </c:pt>
                <c:pt idx="7">
                  <c:v>35</c:v>
                </c:pt>
                <c:pt idx="8">
                  <c:v>32</c:v>
                </c:pt>
                <c:pt idx="9">
                  <c:v>32</c:v>
                </c:pt>
                <c:pt idx="10">
                  <c:v>30</c:v>
                </c:pt>
                <c:pt idx="11">
                  <c:v>28</c:v>
                </c:pt>
                <c:pt idx="12">
                  <c:v>27</c:v>
                </c:pt>
                <c:pt idx="13">
                  <c:v>27</c:v>
                </c:pt>
                <c:pt idx="14">
                  <c:v>25</c:v>
                </c:pt>
                <c:pt idx="15">
                  <c:v>23</c:v>
                </c:pt>
                <c:pt idx="16">
                  <c:v>23</c:v>
                </c:pt>
                <c:pt idx="17">
                  <c:v>23</c:v>
                </c:pt>
                <c:pt idx="18">
                  <c:v>22</c:v>
                </c:pt>
                <c:pt idx="19">
                  <c:v>18</c:v>
                </c:pt>
                <c:pt idx="20">
                  <c:v>17</c:v>
                </c:pt>
                <c:pt idx="21">
                  <c:v>14</c:v>
                </c:pt>
                <c:pt idx="22">
                  <c:v>13</c:v>
                </c:pt>
                <c:pt idx="23">
                  <c:v>12</c:v>
                </c:pt>
                <c:pt idx="24">
                  <c:v>2</c:v>
                </c:pt>
                <c:pt idx="25">
                  <c:v>2</c:v>
                </c:pt>
                <c:pt idx="26">
                  <c:v>1</c:v>
                </c:pt>
              </c:numCache>
            </c:numRef>
          </c:val>
        </c:ser>
        <c:ser>
          <c:idx val="2"/>
          <c:order val="1"/>
          <c:tx>
            <c:strRef>
              <c:f>topics!$D$1</c:f>
              <c:strCache>
                <c:ptCount val="1"/>
                <c:pt idx="0">
                  <c:v>Accepted (Scaled)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topics!$A$2:$A$28</c:f>
              <c:strCache>
                <c:ptCount val="27"/>
                <c:pt idx="0">
                  <c:v>System security</c:v>
                </c:pt>
                <c:pt idx="1">
                  <c:v>Network security</c:v>
                </c:pt>
                <c:pt idx="2">
                  <c:v>Attacks and defenses</c:v>
                </c:pt>
                <c:pt idx="3">
                  <c:v>Application security</c:v>
                </c:pt>
                <c:pt idx="4">
                  <c:v>Cryptography</c:v>
                </c:pt>
                <c:pt idx="5">
                  <c:v>Privacy-preserving systems</c:v>
                </c:pt>
                <c:pt idx="6">
                  <c:v>Security architectures</c:v>
                </c:pt>
                <c:pt idx="7">
                  <c:v>Protocol security</c:v>
                </c:pt>
                <c:pt idx="8">
                  <c:v>Intrusion detection</c:v>
                </c:pt>
                <c:pt idx="9">
                  <c:v>Access control</c:v>
                </c:pt>
                <c:pt idx="10">
                  <c:v>Formal Methods</c:v>
                </c:pt>
                <c:pt idx="11">
                  <c:v>Malware</c:v>
                </c:pt>
                <c:pt idx="12">
                  <c:v>Web security</c:v>
                </c:pt>
                <c:pt idx="13">
                  <c:v>Distributed systems security</c:v>
                </c:pt>
                <c:pt idx="14">
                  <c:v>Secure information flow</c:v>
                </c:pt>
                <c:pt idx="15">
                  <c:v>Authentication</c:v>
                </c:pt>
                <c:pt idx="16">
                  <c:v>Security and privacy policies</c:v>
                </c:pt>
                <c:pt idx="17">
                  <c:v>Anonymity</c:v>
                </c:pt>
                <c:pt idx="18">
                  <c:v>Hardware security</c:v>
                </c:pt>
                <c:pt idx="19">
                  <c:v>Language-based security</c:v>
                </c:pt>
                <c:pt idx="20">
                  <c:v>Usability and security</c:v>
                </c:pt>
                <c:pt idx="21">
                  <c:v>Forensics</c:v>
                </c:pt>
                <c:pt idx="22">
                  <c:v>Embedded systems security</c:v>
                </c:pt>
                <c:pt idx="23">
                  <c:v>Metrics</c:v>
                </c:pt>
                <c:pt idx="24">
                  <c:v>Recovery</c:v>
                </c:pt>
                <c:pt idx="25">
                  <c:v>None</c:v>
                </c:pt>
                <c:pt idx="26">
                  <c:v>Censorship-resistance</c:v>
                </c:pt>
              </c:strCache>
            </c:strRef>
          </c:cat>
          <c:val>
            <c:numRef>
              <c:f>topics!$D$2:$D$28</c:f>
              <c:numCache>
                <c:formatCode>General</c:formatCode>
                <c:ptCount val="27"/>
                <c:pt idx="0">
                  <c:v>93.057470000000009</c:v>
                </c:pt>
                <c:pt idx="1">
                  <c:v>42.298850000000058</c:v>
                </c:pt>
                <c:pt idx="2">
                  <c:v>67.678159999999949</c:v>
                </c:pt>
                <c:pt idx="3">
                  <c:v>50.758620000000008</c:v>
                </c:pt>
                <c:pt idx="4">
                  <c:v>16.919539999999969</c:v>
                </c:pt>
                <c:pt idx="5">
                  <c:v>8.4597700000000007</c:v>
                </c:pt>
                <c:pt idx="6">
                  <c:v>33.839079999999996</c:v>
                </c:pt>
                <c:pt idx="7">
                  <c:v>16.919539999999969</c:v>
                </c:pt>
                <c:pt idx="8">
                  <c:v>16.919539999999969</c:v>
                </c:pt>
                <c:pt idx="9">
                  <c:v>16.919539999999969</c:v>
                </c:pt>
                <c:pt idx="10">
                  <c:v>42.298850000000058</c:v>
                </c:pt>
                <c:pt idx="11">
                  <c:v>25.379310000000004</c:v>
                </c:pt>
                <c:pt idx="12">
                  <c:v>76.137930000000011</c:v>
                </c:pt>
                <c:pt idx="13">
                  <c:v>0</c:v>
                </c:pt>
                <c:pt idx="14">
                  <c:v>50.758620000000008</c:v>
                </c:pt>
                <c:pt idx="15">
                  <c:v>16.919539999999969</c:v>
                </c:pt>
                <c:pt idx="16">
                  <c:v>16.919539999999969</c:v>
                </c:pt>
                <c:pt idx="17">
                  <c:v>16.919539999999969</c:v>
                </c:pt>
                <c:pt idx="18">
                  <c:v>25.379310000000004</c:v>
                </c:pt>
                <c:pt idx="19">
                  <c:v>59.218390000000056</c:v>
                </c:pt>
                <c:pt idx="20">
                  <c:v>8.4597700000000007</c:v>
                </c:pt>
                <c:pt idx="21">
                  <c:v>8.4597700000000007</c:v>
                </c:pt>
                <c:pt idx="22">
                  <c:v>16.919539999999969</c:v>
                </c:pt>
                <c:pt idx="23">
                  <c:v>8.4597700000000007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</c:ser>
        <c:gapWidth val="82"/>
        <c:overlap val="16"/>
        <c:axId val="96429952"/>
        <c:axId val="96431488"/>
      </c:barChart>
      <c:catAx>
        <c:axId val="96429952"/>
        <c:scaling>
          <c:orientation val="minMax"/>
        </c:scaling>
        <c:axPos val="b"/>
        <c:majorTickMark val="none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96431488"/>
        <c:crosses val="autoZero"/>
        <c:auto val="1"/>
        <c:lblAlgn val="ctr"/>
        <c:lblOffset val="0"/>
      </c:catAx>
      <c:valAx>
        <c:axId val="96431488"/>
        <c:scaling>
          <c:orientation val="minMax"/>
        </c:scaling>
        <c:axPos val="l"/>
        <c:numFmt formatCode="General" sourceLinked="1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96429952"/>
        <c:crosses val="autoZero"/>
        <c:crossBetween val="between"/>
      </c:valAx>
    </c:plotArea>
    <c:legend>
      <c:legendPos val="tr"/>
      <c:layout>
        <c:manualLayout>
          <c:xMode val="edge"/>
          <c:yMode val="edge"/>
          <c:x val="0.76396017345657996"/>
          <c:y val="0.13045563549160671"/>
          <c:w val="0.22589489900718931"/>
          <c:h val="0.10649476009743396"/>
        </c:manualLayout>
      </c:layout>
      <c:overlay val="1"/>
      <c:spPr>
        <a:solidFill>
          <a:schemeClr val="bg1">
            <a:lumMod val="85000"/>
          </a:schemeClr>
        </a:solidFill>
      </c:spPr>
      <c:txPr>
        <a:bodyPr/>
        <a:lstStyle/>
        <a:p>
          <a:pPr>
            <a:defRPr sz="1800"/>
          </a:pPr>
          <a:endParaRPr lang="en-US"/>
        </a:p>
      </c:txPr>
    </c:legend>
    <c:plotVisOnly val="1"/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/>
            </a:pPr>
            <a:r>
              <a:rPr lang="en-US" sz="3600" dirty="0"/>
              <a:t>Acceptance </a:t>
            </a:r>
            <a:r>
              <a:rPr lang="en-US" sz="3600" dirty="0" smtClean="0"/>
              <a:t>Rate by</a:t>
            </a:r>
            <a:r>
              <a:rPr lang="en-US" sz="3600" baseline="0" dirty="0" smtClean="0"/>
              <a:t> Topic</a:t>
            </a:r>
            <a:endParaRPr lang="en-US" sz="3600" dirty="0"/>
          </a:p>
        </c:rich>
      </c:tx>
      <c:layout>
        <c:manualLayout>
          <c:xMode val="edge"/>
          <c:yMode val="edge"/>
          <c:x val="0.26366096866096905"/>
          <c:y val="2.2988505747126436E-2"/>
        </c:manualLayout>
      </c:layout>
    </c:title>
    <c:plotArea>
      <c:layout>
        <c:manualLayout>
          <c:layoutTarget val="inner"/>
          <c:xMode val="edge"/>
          <c:yMode val="edge"/>
          <c:x val="9.1340152993696438E-2"/>
          <c:y val="3.4774941925362804E-2"/>
          <c:w val="0.89299033133678862"/>
          <c:h val="0.48179443086855522"/>
        </c:manualLayout>
      </c:layout>
      <c:barChart>
        <c:barDir val="col"/>
        <c:grouping val="clustered"/>
        <c:ser>
          <c:idx val="3"/>
          <c:order val="0"/>
          <c:tx>
            <c:strRef>
              <c:f>topics!$E$35</c:f>
              <c:strCache>
                <c:ptCount val="1"/>
                <c:pt idx="0">
                  <c:v>Acceptance Rate</c:v>
                </c:pt>
              </c:strCache>
            </c:strRef>
          </c:tx>
          <c:dPt>
            <c:idx val="9"/>
            <c:spPr>
              <a:solidFill>
                <a:schemeClr val="accent6">
                  <a:lumMod val="75000"/>
                </a:schemeClr>
              </a:solidFill>
              <a:ln w="25400">
                <a:solidFill>
                  <a:schemeClr val="tx1"/>
                </a:solidFill>
              </a:ln>
            </c:spPr>
          </c:dPt>
          <c:cat>
            <c:strRef>
              <c:f>topics!$A$36:$A$60</c:f>
              <c:strCache>
                <c:ptCount val="25"/>
                <c:pt idx="0">
                  <c:v>Language-based security</c:v>
                </c:pt>
                <c:pt idx="1">
                  <c:v>Web security</c:v>
                </c:pt>
                <c:pt idx="2">
                  <c:v>Secure information flow</c:v>
                </c:pt>
                <c:pt idx="3">
                  <c:v>System security</c:v>
                </c:pt>
                <c:pt idx="4">
                  <c:v>Formal Methods</c:v>
                </c:pt>
                <c:pt idx="5">
                  <c:v>Embedded systems security</c:v>
                </c:pt>
                <c:pt idx="6">
                  <c:v>Application security</c:v>
                </c:pt>
                <c:pt idx="7">
                  <c:v>Attacks and defenses</c:v>
                </c:pt>
                <c:pt idx="8">
                  <c:v>Hardware security</c:v>
                </c:pt>
                <c:pt idx="9">
                  <c:v>Average</c:v>
                </c:pt>
                <c:pt idx="10">
                  <c:v>Malware</c:v>
                </c:pt>
                <c:pt idx="11">
                  <c:v>Security architectures</c:v>
                </c:pt>
                <c:pt idx="12">
                  <c:v>Network security</c:v>
                </c:pt>
                <c:pt idx="13">
                  <c:v>Authentication</c:v>
                </c:pt>
                <c:pt idx="14">
                  <c:v>Security and privacy policies</c:v>
                </c:pt>
                <c:pt idx="15">
                  <c:v>Anonymity</c:v>
                </c:pt>
                <c:pt idx="16">
                  <c:v>Metrics</c:v>
                </c:pt>
                <c:pt idx="17">
                  <c:v>Forensics</c:v>
                </c:pt>
                <c:pt idx="18">
                  <c:v>Intrusion detection</c:v>
                </c:pt>
                <c:pt idx="19">
                  <c:v>Access control</c:v>
                </c:pt>
                <c:pt idx="20">
                  <c:v>Usability and security</c:v>
                </c:pt>
                <c:pt idx="21">
                  <c:v>Protocol security</c:v>
                </c:pt>
                <c:pt idx="22">
                  <c:v>Cryptography</c:v>
                </c:pt>
                <c:pt idx="23">
                  <c:v>Privacy-preserving systems</c:v>
                </c:pt>
                <c:pt idx="24">
                  <c:v>Distributed systems security</c:v>
                </c:pt>
              </c:strCache>
            </c:strRef>
          </c:cat>
          <c:val>
            <c:numRef>
              <c:f>topics!$E$36:$E$60</c:f>
              <c:numCache>
                <c:formatCode>General</c:formatCode>
                <c:ptCount val="25"/>
                <c:pt idx="0">
                  <c:v>0.38888888888889012</c:v>
                </c:pt>
                <c:pt idx="1">
                  <c:v>0.33333333333333331</c:v>
                </c:pt>
                <c:pt idx="2">
                  <c:v>0.24000000000000019</c:v>
                </c:pt>
                <c:pt idx="3">
                  <c:v>0.18333333333333357</c:v>
                </c:pt>
                <c:pt idx="4">
                  <c:v>0.16666666666666666</c:v>
                </c:pt>
                <c:pt idx="5">
                  <c:v>0.15384615384615419</c:v>
                </c:pt>
                <c:pt idx="6">
                  <c:v>0.14634146341463436</c:v>
                </c:pt>
                <c:pt idx="7">
                  <c:v>0.14545454545454545</c:v>
                </c:pt>
                <c:pt idx="8">
                  <c:v>0.13636363636363635</c:v>
                </c:pt>
                <c:pt idx="9">
                  <c:v>0.11820652173913063</c:v>
                </c:pt>
                <c:pt idx="10">
                  <c:v>0.10714285714285714</c:v>
                </c:pt>
                <c:pt idx="11">
                  <c:v>0.10526315789473686</c:v>
                </c:pt>
                <c:pt idx="12">
                  <c:v>8.9285714285714121E-2</c:v>
                </c:pt>
                <c:pt idx="13">
                  <c:v>8.6956521739130543E-2</c:v>
                </c:pt>
                <c:pt idx="14">
                  <c:v>8.6956521739130543E-2</c:v>
                </c:pt>
                <c:pt idx="15">
                  <c:v>8.6956521739130543E-2</c:v>
                </c:pt>
                <c:pt idx="16">
                  <c:v>8.3333333333333343E-2</c:v>
                </c:pt>
                <c:pt idx="17">
                  <c:v>7.1428571428571425E-2</c:v>
                </c:pt>
                <c:pt idx="18">
                  <c:v>6.25E-2</c:v>
                </c:pt>
                <c:pt idx="19">
                  <c:v>6.25E-2</c:v>
                </c:pt>
                <c:pt idx="20">
                  <c:v>5.8823529411764705E-2</c:v>
                </c:pt>
                <c:pt idx="21">
                  <c:v>5.7142857142857141E-2</c:v>
                </c:pt>
                <c:pt idx="22">
                  <c:v>4.8780487804878175E-2</c:v>
                </c:pt>
                <c:pt idx="23">
                  <c:v>2.5641025641025692E-2</c:v>
                </c:pt>
                <c:pt idx="24">
                  <c:v>0</c:v>
                </c:pt>
              </c:numCache>
            </c:numRef>
          </c:val>
        </c:ser>
        <c:gapWidth val="62"/>
        <c:axId val="96537216"/>
        <c:axId val="96547200"/>
      </c:barChart>
      <c:catAx>
        <c:axId val="96537216"/>
        <c:scaling>
          <c:orientation val="minMax"/>
        </c:scaling>
        <c:axPos val="b"/>
        <c:majorTickMark val="none"/>
        <c:tickLblPos val="nextTo"/>
        <c:txPr>
          <a:bodyPr rot="-5400000" vert="horz"/>
          <a:lstStyle/>
          <a:p>
            <a:pPr>
              <a:defRPr sz="1800"/>
            </a:pPr>
            <a:endParaRPr lang="en-US"/>
          </a:p>
        </c:txPr>
        <c:crossAx val="96547200"/>
        <c:crossesAt val="0"/>
        <c:auto val="1"/>
        <c:lblAlgn val="ctr"/>
        <c:lblOffset val="100"/>
      </c:catAx>
      <c:valAx>
        <c:axId val="96547200"/>
        <c:scaling>
          <c:orientation val="minMax"/>
          <c:max val="0.4"/>
          <c:min val="0"/>
        </c:scaling>
        <c:axPos val="l"/>
        <c:numFmt formatCode="0%" sourceLinked="0"/>
        <c:tickLblPos val="nextTo"/>
        <c:txPr>
          <a:bodyPr/>
          <a:lstStyle/>
          <a:p>
            <a:pPr>
              <a:defRPr sz="2000"/>
            </a:pPr>
            <a:endParaRPr lang="en-US"/>
          </a:p>
        </c:txPr>
        <c:crossAx val="96537216"/>
        <c:crosses val="autoZero"/>
        <c:crossBetween val="between"/>
        <c:majorUnit val="0.05"/>
        <c:minorUnit val="1.0000000000000005E-2"/>
      </c:valAx>
    </c:plotArea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470"/>
          </a:xfrm>
          <a:prstGeom prst="rect">
            <a:avLst/>
          </a:prstGeom>
        </p:spPr>
        <p:txBody>
          <a:bodyPr vert="horz" lIns="95756" tIns="47878" rIns="95756" bIns="4787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470"/>
          </a:xfrm>
          <a:prstGeom prst="rect">
            <a:avLst/>
          </a:prstGeom>
        </p:spPr>
        <p:txBody>
          <a:bodyPr vert="horz" lIns="95756" tIns="47878" rIns="95756" bIns="47878" rtlCol="0"/>
          <a:lstStyle>
            <a:lvl1pPr algn="r">
              <a:defRPr sz="1300"/>
            </a:lvl1pPr>
          </a:lstStyle>
          <a:p>
            <a:fld id="{B1ABEE93-D815-4F3C-8573-27BE8CDD2985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19138"/>
            <a:ext cx="4803775" cy="3602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56" tIns="47878" rIns="95756" bIns="4787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365"/>
            <a:ext cx="5852160" cy="4320949"/>
          </a:xfrm>
          <a:prstGeom prst="rect">
            <a:avLst/>
          </a:prstGeom>
        </p:spPr>
        <p:txBody>
          <a:bodyPr vert="horz" lIns="95756" tIns="47878" rIns="95756" bIns="4787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091"/>
            <a:ext cx="3169920" cy="480469"/>
          </a:xfrm>
          <a:prstGeom prst="rect">
            <a:avLst/>
          </a:prstGeom>
        </p:spPr>
        <p:txBody>
          <a:bodyPr vert="horz" lIns="95756" tIns="47878" rIns="95756" bIns="4787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091"/>
            <a:ext cx="3169920" cy="480469"/>
          </a:xfrm>
          <a:prstGeom prst="rect">
            <a:avLst/>
          </a:prstGeom>
        </p:spPr>
        <p:txBody>
          <a:bodyPr vert="horz" lIns="95756" tIns="47878" rIns="95756" bIns="47878" rtlCol="0" anchor="b"/>
          <a:lstStyle>
            <a:lvl1pPr algn="r">
              <a:defRPr sz="1300"/>
            </a:lvl1pPr>
          </a:lstStyle>
          <a:p>
            <a:fld id="{F6D6011A-FD52-4C7F-82BF-CDF9024076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D6011A-FD52-4C7F-82BF-CDF90240762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27F59-C1BF-496F-9D8F-AC7FDCAA3289}" type="datetimeFigureOut">
              <a:rPr lang="en-US" smtClean="0"/>
              <a:pPr/>
              <a:t>5/18/2010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5BBEE-6069-48C3-B9D9-05EF152362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905001"/>
            <a:ext cx="8763000" cy="1752600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latin typeface="Book Antiqua" pitchFamily="18" charset="0"/>
              </a:rPr>
              <a:t>Program Chairs’ Report</a:t>
            </a:r>
            <a:endParaRPr lang="en-US" sz="4800" b="1" dirty="0">
              <a:latin typeface="Book Antiqua" pitchFamily="18" charset="0"/>
            </a:endParaRPr>
          </a:p>
        </p:txBody>
      </p:sp>
      <p:pic>
        <p:nvPicPr>
          <p:cNvPr id="5" name="Picture 4" descr="magazine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0" y="-1"/>
            <a:ext cx="9144000" cy="1524001"/>
          </a:xfrm>
          <a:prstGeom prst="rect">
            <a:avLst/>
          </a:prstGeom>
        </p:spPr>
      </p:pic>
      <p:pic>
        <p:nvPicPr>
          <p:cNvPr id="6" name="Picture 5" descr="magazin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0" y="5150978"/>
            <a:ext cx="9176950" cy="17070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7480" y="3733800"/>
            <a:ext cx="41681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Book Antiqua" pitchFamily="18" charset="0"/>
              </a:rPr>
              <a:t>David Evans</a:t>
            </a:r>
          </a:p>
          <a:p>
            <a:pPr algn="ctr"/>
            <a:r>
              <a:rPr lang="en-US" sz="3200" dirty="0" smtClean="0">
                <a:latin typeface="Book Antiqua" pitchFamily="18" charset="0"/>
              </a:rPr>
              <a:t>University of Virginia</a:t>
            </a:r>
            <a:endParaRPr lang="en-US" sz="3200" dirty="0">
              <a:latin typeface="Book Antiqu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23119" y="3733800"/>
            <a:ext cx="34163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smtClean="0">
                <a:latin typeface="Book Antiqua" pitchFamily="18" charset="0"/>
              </a:rPr>
              <a:t>Giovanni </a:t>
            </a:r>
            <a:r>
              <a:rPr lang="en-US" sz="3200" b="1" dirty="0" err="1" smtClean="0">
                <a:latin typeface="Book Antiqua" pitchFamily="18" charset="0"/>
              </a:rPr>
              <a:t>Vigna</a:t>
            </a:r>
            <a:endParaRPr lang="en-US" sz="3200" b="1" dirty="0" smtClean="0">
              <a:latin typeface="Book Antiqua" pitchFamily="18" charset="0"/>
            </a:endParaRPr>
          </a:p>
          <a:p>
            <a:pPr algn="ctr"/>
            <a:r>
              <a:rPr lang="en-US" sz="3200" dirty="0" smtClean="0">
                <a:latin typeface="Book Antiqua" pitchFamily="18" charset="0"/>
              </a:rPr>
              <a:t>UC Santa Barbara</a:t>
            </a:r>
            <a:endParaRPr lang="en-US" sz="3200" dirty="0"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267200" cy="1143000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38862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 smtClean="0"/>
              <a:t>Review Process</a:t>
            </a:r>
          </a:p>
          <a:p>
            <a:pPr>
              <a:buNone/>
            </a:pPr>
            <a:endParaRPr lang="en-US" sz="3600" dirty="0" smtClean="0"/>
          </a:p>
          <a:p>
            <a:pPr>
              <a:buNone/>
            </a:pPr>
            <a:r>
              <a:rPr lang="en-US" sz="3600" dirty="0" smtClean="0"/>
              <a:t>Some Statistics on the Papers</a:t>
            </a:r>
          </a:p>
          <a:p>
            <a:pPr>
              <a:buNone/>
            </a:pPr>
            <a:endParaRPr lang="en-US" sz="3600" b="1" dirty="0" smtClean="0"/>
          </a:p>
          <a:p>
            <a:pPr>
              <a:buNone/>
            </a:pPr>
            <a:r>
              <a:rPr lang="en-US" sz="3600" b="1" dirty="0" smtClean="0"/>
              <a:t>Awards</a:t>
            </a:r>
          </a:p>
          <a:p>
            <a:endParaRPr lang="en-US" sz="3600" dirty="0"/>
          </a:p>
        </p:txBody>
      </p:sp>
      <p:pic>
        <p:nvPicPr>
          <p:cNvPr id="5" name="Picture 4" descr="pool-IMG_413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244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142999"/>
            <a:ext cx="8458200" cy="55626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 dirty="0" smtClean="0"/>
              <a:t>Giuseppe </a:t>
            </a:r>
            <a:r>
              <a:rPr lang="en-US" sz="2400" b="1" dirty="0" err="1" smtClean="0"/>
              <a:t>Ateniese</a:t>
            </a:r>
            <a:r>
              <a:rPr lang="en-US" sz="2400" dirty="0" smtClean="0"/>
              <a:t>, </a:t>
            </a:r>
            <a:r>
              <a:rPr lang="en-US" sz="2400" i="1" dirty="0" smtClean="0"/>
              <a:t>Johns Hopkins University</a:t>
            </a:r>
          </a:p>
          <a:p>
            <a:r>
              <a:rPr lang="en-US" sz="2400" b="1" dirty="0" smtClean="0"/>
              <a:t>Michael </a:t>
            </a:r>
            <a:r>
              <a:rPr lang="en-US" sz="2400" b="1" dirty="0" err="1" smtClean="0"/>
              <a:t>Backes</a:t>
            </a:r>
            <a:r>
              <a:rPr lang="en-US" sz="2400" dirty="0" smtClean="0"/>
              <a:t>, </a:t>
            </a:r>
            <a:r>
              <a:rPr lang="en-US" sz="2400" i="1" dirty="0" smtClean="0"/>
              <a:t>Saarland University / Max Planck ISS</a:t>
            </a:r>
          </a:p>
          <a:p>
            <a:r>
              <a:rPr lang="en-US" sz="2400" b="1" dirty="0" smtClean="0"/>
              <a:t>Adam Barth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Berkeley </a:t>
            </a:r>
            <a:br>
              <a:rPr lang="en-US" sz="2400" i="1" dirty="0" smtClean="0"/>
            </a:br>
            <a:r>
              <a:rPr lang="en-US" sz="2400" b="1" dirty="0" smtClean="0"/>
              <a:t>Nikita </a:t>
            </a:r>
            <a:r>
              <a:rPr lang="en-US" sz="2400" b="1" dirty="0" err="1" smtClean="0"/>
              <a:t>Borisov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Illinois at Urbana-Champaign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David </a:t>
            </a:r>
            <a:r>
              <a:rPr lang="en-US" sz="2400" b="1" dirty="0" err="1" smtClean="0"/>
              <a:t>Brumley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 </a:t>
            </a:r>
            <a:br>
              <a:rPr lang="en-US" sz="2400" i="1" dirty="0" smtClean="0"/>
            </a:br>
            <a:r>
              <a:rPr lang="en-US" sz="2400" b="1" dirty="0" err="1" smtClean="0"/>
              <a:t>Cristian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Cadar</a:t>
            </a:r>
            <a:r>
              <a:rPr lang="en-US" sz="2400" dirty="0" smtClean="0"/>
              <a:t>, </a:t>
            </a:r>
            <a:r>
              <a:rPr lang="en-US" sz="2400" i="1" dirty="0" smtClean="0"/>
              <a:t>Imperial College London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err="1" smtClean="0"/>
              <a:t>Shuo</a:t>
            </a:r>
            <a:r>
              <a:rPr lang="en-US" sz="2400" b="1" dirty="0" smtClean="0"/>
              <a:t> Chen</a:t>
            </a:r>
            <a:r>
              <a:rPr lang="en-US" sz="2400" dirty="0" smtClean="0"/>
              <a:t>, </a:t>
            </a:r>
            <a:r>
              <a:rPr lang="en-US" sz="2400" i="1" dirty="0" smtClean="0"/>
              <a:t>Microsoft Research Redmond </a:t>
            </a:r>
            <a:br>
              <a:rPr lang="en-US" sz="2400" i="1" dirty="0" smtClean="0"/>
            </a:br>
            <a:r>
              <a:rPr lang="en-US" sz="2400" b="1" dirty="0" err="1" smtClean="0"/>
              <a:t>Anupam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Datta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Nick </a:t>
            </a:r>
            <a:r>
              <a:rPr lang="en-US" sz="2400" b="1" dirty="0" err="1" smtClean="0"/>
              <a:t>Feamster</a:t>
            </a:r>
            <a:r>
              <a:rPr lang="en-US" sz="2400" dirty="0" smtClean="0"/>
              <a:t>, </a:t>
            </a:r>
            <a:r>
              <a:rPr lang="en-US" sz="2400" i="1" dirty="0" smtClean="0"/>
              <a:t>Georgia Institute of Technology </a:t>
            </a:r>
            <a:br>
              <a:rPr lang="en-US" sz="2400" i="1" dirty="0" smtClean="0"/>
            </a:br>
            <a:r>
              <a:rPr lang="en-US" sz="2400" b="1" dirty="0" err="1" smtClean="0"/>
              <a:t>Debin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Gao</a:t>
            </a:r>
            <a:r>
              <a:rPr lang="en-US" sz="2400" dirty="0" smtClean="0"/>
              <a:t>, </a:t>
            </a:r>
            <a:r>
              <a:rPr lang="en-US" sz="2400" i="1" dirty="0" smtClean="0"/>
              <a:t>Singapore Management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Jon </a:t>
            </a:r>
            <a:r>
              <a:rPr lang="en-US" sz="2400" b="1" dirty="0" err="1" smtClean="0"/>
              <a:t>Giffin</a:t>
            </a:r>
            <a:r>
              <a:rPr lang="en-US" sz="2400" dirty="0" smtClean="0"/>
              <a:t>, </a:t>
            </a:r>
            <a:r>
              <a:rPr lang="en-US" sz="2400" i="1" dirty="0" smtClean="0"/>
              <a:t>Georgia Institute of Technology</a:t>
            </a:r>
            <a:br>
              <a:rPr lang="en-US" sz="2400" i="1" dirty="0" smtClean="0"/>
            </a:br>
            <a:r>
              <a:rPr lang="en-US" sz="2400" b="1" dirty="0" smtClean="0"/>
              <a:t>Virgil </a:t>
            </a:r>
            <a:r>
              <a:rPr lang="en-US" sz="2400" b="1" dirty="0" err="1" smtClean="0"/>
              <a:t>Gligor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Michael Goodrich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Irvine </a:t>
            </a:r>
            <a:br>
              <a:rPr lang="en-US" sz="2400" i="1" dirty="0" smtClean="0"/>
            </a:br>
            <a:r>
              <a:rPr lang="en-US" sz="2400" b="1" dirty="0" smtClean="0"/>
              <a:t>J. Alex </a:t>
            </a:r>
            <a:r>
              <a:rPr lang="en-US" sz="2400" b="1" dirty="0" err="1" smtClean="0"/>
              <a:t>Halderman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Michigan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err="1" smtClean="0"/>
              <a:t>Somesh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Jha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Wisconsin </a:t>
            </a:r>
            <a:br>
              <a:rPr lang="en-US" sz="2400" i="1" dirty="0" smtClean="0"/>
            </a:br>
            <a:r>
              <a:rPr lang="en-US" sz="2400" b="1" dirty="0" smtClean="0"/>
              <a:t>Rob Johnson</a:t>
            </a:r>
            <a:r>
              <a:rPr lang="en-US" sz="2400" dirty="0" smtClean="0"/>
              <a:t>, </a:t>
            </a:r>
            <a:r>
              <a:rPr lang="en-US" sz="2400" i="1" dirty="0" smtClean="0"/>
              <a:t>Stony Brook University </a:t>
            </a:r>
            <a:br>
              <a:rPr lang="en-US" sz="2400" i="1" dirty="0" smtClean="0"/>
            </a:br>
            <a:r>
              <a:rPr lang="en-US" sz="2400" b="1" dirty="0" err="1" smtClean="0"/>
              <a:t>Engin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Kirda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Eurecom</a:t>
            </a:r>
            <a:r>
              <a:rPr lang="en-US" sz="2400" i="1" dirty="0" smtClean="0"/>
              <a:t>, France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err="1" smtClean="0"/>
              <a:t>Yoshi</a:t>
            </a:r>
            <a:r>
              <a:rPr lang="en-US" sz="2400" b="1" dirty="0" smtClean="0"/>
              <a:t> Kohno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Washington </a:t>
            </a:r>
            <a:br>
              <a:rPr lang="en-US" sz="2400" i="1" dirty="0" smtClean="0"/>
            </a:br>
            <a:r>
              <a:rPr lang="en-US" sz="2400" b="1" dirty="0" err="1" smtClean="0"/>
              <a:t>Shriram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Krishnamurthi</a:t>
            </a:r>
            <a:r>
              <a:rPr lang="en-US" sz="2400" dirty="0" smtClean="0"/>
              <a:t>, </a:t>
            </a:r>
            <a:r>
              <a:rPr lang="en-US" sz="2400" i="1" dirty="0" smtClean="0"/>
              <a:t>Brown University </a:t>
            </a:r>
            <a:br>
              <a:rPr lang="en-US" sz="2400" i="1" dirty="0" smtClean="0"/>
            </a:br>
            <a:r>
              <a:rPr lang="en-US" sz="2400" b="1" dirty="0" smtClean="0"/>
              <a:t>Christopher </a:t>
            </a:r>
            <a:r>
              <a:rPr lang="en-US" sz="2400" b="1" dirty="0" err="1" smtClean="0"/>
              <a:t>Kruegel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Santa Barbara </a:t>
            </a:r>
            <a:br>
              <a:rPr lang="en-US" sz="2400" i="1" dirty="0" smtClean="0"/>
            </a:br>
            <a:r>
              <a:rPr lang="en-US" sz="2400" b="1" dirty="0" smtClean="0"/>
              <a:t>Ruby Lee</a:t>
            </a:r>
            <a:r>
              <a:rPr lang="en-US" sz="2400" dirty="0" smtClean="0"/>
              <a:t>, </a:t>
            </a:r>
            <a:r>
              <a:rPr lang="en-US" sz="2400" i="1" dirty="0" smtClean="0"/>
              <a:t>Princeton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Michael </a:t>
            </a:r>
            <a:r>
              <a:rPr lang="en-US" sz="2400" b="1" dirty="0" err="1" smtClean="0"/>
              <a:t>Locasto</a:t>
            </a:r>
            <a:r>
              <a:rPr lang="en-US" sz="2400" dirty="0" smtClean="0"/>
              <a:t>, </a:t>
            </a:r>
            <a:r>
              <a:rPr lang="en-US" sz="2400" i="1" dirty="0" smtClean="0"/>
              <a:t>George Mason University </a:t>
            </a:r>
            <a:br>
              <a:rPr lang="en-US" sz="2400" i="1" dirty="0" smtClean="0"/>
            </a:br>
            <a:r>
              <a:rPr lang="en-US" sz="2400" b="1" dirty="0" smtClean="0"/>
              <a:t>Sergio </a:t>
            </a:r>
            <a:r>
              <a:rPr lang="en-US" sz="2400" b="1" dirty="0" err="1" smtClean="0"/>
              <a:t>Maffeis</a:t>
            </a:r>
            <a:r>
              <a:rPr lang="en-US" sz="2400" dirty="0" smtClean="0"/>
              <a:t>, </a:t>
            </a:r>
            <a:r>
              <a:rPr lang="en-US" sz="2400" i="1" dirty="0" smtClean="0"/>
              <a:t>Imperial College London </a:t>
            </a:r>
            <a:br>
              <a:rPr lang="en-US" sz="2400" i="1" dirty="0" smtClean="0"/>
            </a:br>
            <a:r>
              <a:rPr lang="en-US" sz="2400" b="1" dirty="0" smtClean="0"/>
              <a:t>Z. Morley Mao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Michigan </a:t>
            </a:r>
            <a:br>
              <a:rPr lang="en-US" sz="2400" i="1" dirty="0" smtClean="0"/>
            </a:br>
            <a:r>
              <a:rPr lang="en-US" sz="2400" b="1" dirty="0" smtClean="0"/>
              <a:t>Jonathan McCune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 </a:t>
            </a:r>
            <a:br>
              <a:rPr lang="en-US" sz="2400" i="1" dirty="0" smtClean="0"/>
            </a:br>
            <a:r>
              <a:rPr lang="en-US" sz="2400" b="1" dirty="0" smtClean="0"/>
              <a:t>David Molnar</a:t>
            </a:r>
            <a:r>
              <a:rPr lang="en-US" sz="2400" dirty="0" smtClean="0"/>
              <a:t>, </a:t>
            </a:r>
            <a:r>
              <a:rPr lang="en-US" sz="2400" i="1" dirty="0" smtClean="0"/>
              <a:t>Microsoft Research Redmond </a:t>
            </a:r>
            <a:br>
              <a:rPr lang="en-US" sz="2400" i="1" dirty="0" smtClean="0"/>
            </a:br>
            <a:r>
              <a:rPr lang="en-US" sz="2400" b="1" dirty="0" smtClean="0"/>
              <a:t>Cristina Nita-</a:t>
            </a:r>
            <a:r>
              <a:rPr lang="en-US" sz="2400" b="1" dirty="0" err="1" smtClean="0"/>
              <a:t>Rotaru</a:t>
            </a:r>
            <a:r>
              <a:rPr lang="en-US" sz="2400" dirty="0" smtClean="0"/>
              <a:t>, </a:t>
            </a:r>
            <a:r>
              <a:rPr lang="en-US" sz="2400" i="1" dirty="0" smtClean="0"/>
              <a:t>Purdue University </a:t>
            </a:r>
            <a:br>
              <a:rPr lang="en-US" sz="2400" i="1" dirty="0" smtClean="0"/>
            </a:br>
            <a:r>
              <a:rPr lang="en-US" sz="2400" b="1" dirty="0" smtClean="0"/>
              <a:t>Vern </a:t>
            </a:r>
            <a:r>
              <a:rPr lang="en-US" sz="2400" b="1" dirty="0" err="1" smtClean="0"/>
              <a:t>Paxson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Berkeley </a:t>
            </a:r>
            <a:br>
              <a:rPr lang="en-US" sz="2400" i="1" dirty="0" smtClean="0"/>
            </a:br>
            <a:r>
              <a:rPr lang="en-US" sz="2400" b="1" dirty="0" smtClean="0"/>
              <a:t>Mike Reiter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North Carolina </a:t>
            </a:r>
            <a:br>
              <a:rPr lang="en-US" sz="2400" i="1" dirty="0" smtClean="0"/>
            </a:br>
            <a:r>
              <a:rPr lang="en-US" sz="2400" b="1" dirty="0" smtClean="0"/>
              <a:t>Andrei </a:t>
            </a:r>
            <a:r>
              <a:rPr lang="en-US" sz="2400" b="1" dirty="0" err="1" smtClean="0"/>
              <a:t>Sabelfeld</a:t>
            </a:r>
            <a:r>
              <a:rPr lang="en-US" sz="2400" dirty="0" smtClean="0"/>
              <a:t>, </a:t>
            </a:r>
            <a:r>
              <a:rPr lang="en-US" sz="2400" i="1" dirty="0" smtClean="0"/>
              <a:t>Chalmers University </a:t>
            </a:r>
            <a:br>
              <a:rPr lang="en-US" sz="2400" i="1" dirty="0" smtClean="0"/>
            </a:br>
            <a:r>
              <a:rPr lang="en-US" sz="2400" b="1" dirty="0" smtClean="0"/>
              <a:t>Stuart Schechter</a:t>
            </a:r>
            <a:r>
              <a:rPr lang="en-US" sz="2400" dirty="0" smtClean="0"/>
              <a:t>, </a:t>
            </a:r>
            <a:r>
              <a:rPr lang="en-US" sz="2400" i="1" dirty="0" smtClean="0"/>
              <a:t>Microsoft Research Redmond </a:t>
            </a:r>
            <a:br>
              <a:rPr lang="en-US" sz="2400" i="1" dirty="0" smtClean="0"/>
            </a:br>
            <a:r>
              <a:rPr lang="en-US" sz="2400" b="1" dirty="0" err="1" smtClean="0"/>
              <a:t>Hovav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Shacham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San Diego </a:t>
            </a:r>
            <a:br>
              <a:rPr lang="en-US" sz="2400" i="1" dirty="0" smtClean="0"/>
            </a:br>
            <a:r>
              <a:rPr lang="en-US" sz="2400" b="1" dirty="0" err="1" smtClean="0"/>
              <a:t>Vitaly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Shmatikov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Texas at Austin </a:t>
            </a:r>
            <a:br>
              <a:rPr lang="en-US" sz="2400" i="1" dirty="0" smtClean="0"/>
            </a:br>
            <a:r>
              <a:rPr lang="en-US" sz="2400" b="1" dirty="0" err="1" smtClean="0"/>
              <a:t>Radu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Sion</a:t>
            </a:r>
            <a:r>
              <a:rPr lang="en-US" sz="2400" dirty="0" smtClean="0"/>
              <a:t>, </a:t>
            </a:r>
            <a:r>
              <a:rPr lang="en-US" sz="2400" i="1" dirty="0" smtClean="0"/>
              <a:t>Stony Brook University </a:t>
            </a:r>
            <a:br>
              <a:rPr lang="en-US" sz="2400" i="1" dirty="0" smtClean="0"/>
            </a:br>
            <a:r>
              <a:rPr lang="en-US" sz="2400" b="1" dirty="0" smtClean="0"/>
              <a:t>Sean Smith</a:t>
            </a:r>
            <a:r>
              <a:rPr lang="en-US" sz="2400" dirty="0" smtClean="0"/>
              <a:t>, </a:t>
            </a:r>
            <a:r>
              <a:rPr lang="en-US" sz="2400" i="1" dirty="0" smtClean="0"/>
              <a:t>Dartmouth College </a:t>
            </a:r>
            <a:br>
              <a:rPr lang="en-US" sz="2400" i="1" dirty="0" smtClean="0"/>
            </a:br>
            <a:r>
              <a:rPr lang="en-US" sz="2400" b="1" dirty="0" smtClean="0"/>
              <a:t>Adam Smith</a:t>
            </a:r>
            <a:r>
              <a:rPr lang="en-US" sz="2400" dirty="0" smtClean="0"/>
              <a:t>, </a:t>
            </a:r>
            <a:r>
              <a:rPr lang="en-US" sz="2400" i="1" dirty="0" smtClean="0"/>
              <a:t>Pennsylvania State University </a:t>
            </a:r>
            <a:br>
              <a:rPr lang="en-US" sz="2400" i="1" dirty="0" smtClean="0"/>
            </a:br>
            <a:r>
              <a:rPr lang="en-US" sz="2400" b="1" dirty="0" smtClean="0"/>
              <a:t>Dawn Song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Berkeley </a:t>
            </a:r>
            <a:br>
              <a:rPr lang="en-US" sz="2400" i="1" dirty="0" smtClean="0"/>
            </a:br>
            <a:r>
              <a:rPr lang="en-US" sz="2400" b="1" dirty="0" err="1" smtClean="0"/>
              <a:t>Angelos</a:t>
            </a:r>
            <a:r>
              <a:rPr lang="en-US" sz="2400" b="1" dirty="0" smtClean="0"/>
              <a:t> Stavrou</a:t>
            </a:r>
            <a:r>
              <a:rPr lang="en-US" sz="2400" dirty="0" smtClean="0"/>
              <a:t>, </a:t>
            </a:r>
            <a:r>
              <a:rPr lang="en-US" sz="2400" i="1" dirty="0" smtClean="0"/>
              <a:t>George Mason University</a:t>
            </a:r>
            <a:br>
              <a:rPr lang="en-US" sz="2400" i="1" dirty="0" smtClean="0"/>
            </a:br>
            <a:r>
              <a:rPr lang="en-US" sz="2400" b="1" dirty="0" smtClean="0"/>
              <a:t>Ed </a:t>
            </a:r>
            <a:r>
              <a:rPr lang="en-US" sz="2400" b="1" dirty="0" err="1" smtClean="0"/>
              <a:t>Suh</a:t>
            </a:r>
            <a:r>
              <a:rPr lang="en-US" sz="2400" dirty="0" smtClean="0"/>
              <a:t>, </a:t>
            </a:r>
            <a:r>
              <a:rPr lang="en-US" sz="2400" i="1" dirty="0" smtClean="0"/>
              <a:t>Cornell University </a:t>
            </a:r>
            <a:br>
              <a:rPr lang="en-US" sz="2400" i="1" dirty="0" smtClean="0"/>
            </a:br>
            <a:r>
              <a:rPr lang="en-US" sz="2400" b="1" dirty="0" smtClean="0"/>
              <a:t>Patrick </a:t>
            </a:r>
            <a:r>
              <a:rPr lang="en-US" sz="2400" b="1" dirty="0" err="1" smtClean="0"/>
              <a:t>Traynor</a:t>
            </a:r>
            <a:r>
              <a:rPr lang="en-US" sz="2400" dirty="0" smtClean="0"/>
              <a:t>, </a:t>
            </a:r>
            <a:r>
              <a:rPr lang="en-US" sz="2400" i="1" dirty="0" smtClean="0"/>
              <a:t>Georgia Institute of Technology </a:t>
            </a:r>
            <a:br>
              <a:rPr lang="en-US" sz="2400" i="1" dirty="0" smtClean="0"/>
            </a:br>
            <a:r>
              <a:rPr lang="en-US" sz="2400" b="1" dirty="0" smtClean="0"/>
              <a:t>V. N. (“</a:t>
            </a:r>
            <a:r>
              <a:rPr lang="en-US" sz="2400" b="1" dirty="0" err="1" smtClean="0"/>
              <a:t>Venkat</a:t>
            </a:r>
            <a:r>
              <a:rPr lang="en-US" sz="2400" b="1" dirty="0" smtClean="0"/>
              <a:t>”) </a:t>
            </a:r>
            <a:r>
              <a:rPr lang="en-US" sz="2400" b="1" dirty="0" err="1" smtClean="0"/>
              <a:t>Venkatakrishnan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Illinois at Chicago </a:t>
            </a:r>
            <a:br>
              <a:rPr lang="en-US" sz="2400" i="1" dirty="0" smtClean="0"/>
            </a:br>
            <a:r>
              <a:rPr lang="en-US" sz="2400" b="1" dirty="0" smtClean="0"/>
              <a:t>Dan Wallach</a:t>
            </a:r>
            <a:r>
              <a:rPr lang="en-US" sz="2400" dirty="0" smtClean="0"/>
              <a:t>, </a:t>
            </a:r>
            <a:r>
              <a:rPr lang="en-US" sz="2400" i="1" dirty="0" smtClean="0"/>
              <a:t>Rice University </a:t>
            </a:r>
            <a:br>
              <a:rPr lang="en-US" sz="2400" i="1" dirty="0" smtClean="0"/>
            </a:br>
            <a:r>
              <a:rPr lang="en-US" sz="2400" b="1" dirty="0" smtClean="0"/>
              <a:t>Brent Waters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Texas at Austin </a:t>
            </a:r>
            <a:br>
              <a:rPr lang="en-US" sz="2400" i="1" dirty="0" smtClean="0"/>
            </a:br>
            <a:r>
              <a:rPr lang="en-US" sz="2400" b="1" dirty="0" err="1" smtClean="0"/>
              <a:t>Westley</a:t>
            </a:r>
            <a:r>
              <a:rPr lang="en-US" sz="2400" b="1" dirty="0" smtClean="0"/>
              <a:t> Weimer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Virginia </a:t>
            </a:r>
            <a:br>
              <a:rPr lang="en-US" sz="2400" i="1" dirty="0" smtClean="0"/>
            </a:br>
            <a:r>
              <a:rPr lang="en-US" sz="2400" b="1" dirty="0" err="1" smtClean="0"/>
              <a:t>XiaoFeng</a:t>
            </a:r>
            <a:r>
              <a:rPr lang="en-US" sz="2400" b="1" dirty="0" smtClean="0"/>
              <a:t> Wang</a:t>
            </a:r>
            <a:r>
              <a:rPr lang="en-US" sz="2400" dirty="0" smtClean="0"/>
              <a:t>, </a:t>
            </a:r>
            <a:r>
              <a:rPr lang="en-US" sz="2400" i="1" dirty="0" smtClean="0"/>
              <a:t>Indiana University </a:t>
            </a:r>
            <a:br>
              <a:rPr lang="en-US" sz="2400" i="1" dirty="0" smtClean="0"/>
            </a:br>
            <a:r>
              <a:rPr lang="en-US" sz="2400" b="1" dirty="0" smtClean="0"/>
              <a:t>Felix Wu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Davis </a:t>
            </a:r>
            <a:br>
              <a:rPr lang="en-US" sz="2400" i="1" dirty="0" smtClean="0"/>
            </a:br>
            <a:r>
              <a:rPr lang="en-US" sz="2400" b="1" dirty="0" err="1" smtClean="0"/>
              <a:t>Dongyan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Xu</a:t>
            </a:r>
            <a:r>
              <a:rPr lang="en-US" sz="2400" dirty="0" smtClean="0"/>
              <a:t>, </a:t>
            </a:r>
            <a:r>
              <a:rPr lang="en-US" sz="2400" i="1" dirty="0" smtClean="0"/>
              <a:t>Purdue University </a:t>
            </a:r>
            <a:br>
              <a:rPr lang="en-US" sz="2400" i="1" dirty="0" smtClean="0"/>
            </a:br>
            <a:r>
              <a:rPr lang="en-US" sz="2400" b="1" dirty="0" err="1" smtClean="0"/>
              <a:t>Haifeng</a:t>
            </a:r>
            <a:r>
              <a:rPr lang="en-US" sz="2400" b="1" dirty="0" smtClean="0"/>
              <a:t> Yu</a:t>
            </a:r>
            <a:r>
              <a:rPr lang="en-US" sz="2400" dirty="0" smtClean="0"/>
              <a:t>, </a:t>
            </a:r>
            <a:r>
              <a:rPr lang="en-US" sz="2400" i="1" dirty="0" smtClean="0"/>
              <a:t>National University of Singapore </a:t>
            </a:r>
            <a:br>
              <a:rPr lang="en-US" sz="2400" i="1" dirty="0" smtClean="0"/>
            </a:br>
            <a:r>
              <a:rPr lang="en-US" sz="2400" b="1" dirty="0" err="1" smtClean="0"/>
              <a:t>Sencun</a:t>
            </a:r>
            <a:r>
              <a:rPr lang="en-US" sz="2400" b="1" dirty="0" smtClean="0"/>
              <a:t> Zhu</a:t>
            </a:r>
            <a:r>
              <a:rPr lang="en-US" sz="2400" dirty="0" smtClean="0"/>
              <a:t>, </a:t>
            </a:r>
            <a:r>
              <a:rPr lang="en-US" sz="2400" i="1" dirty="0" smtClean="0"/>
              <a:t>Pennsylvania State University</a:t>
            </a:r>
          </a:p>
          <a:p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Giuseppe </a:t>
            </a:r>
            <a:r>
              <a:rPr lang="en-US" sz="2400" b="1" dirty="0" err="1" smtClean="0"/>
              <a:t>Ateniese</a:t>
            </a:r>
            <a:r>
              <a:rPr lang="en-US" sz="2400" dirty="0" smtClean="0"/>
              <a:t>, </a:t>
            </a:r>
            <a:r>
              <a:rPr lang="en-US" sz="2400" i="1" dirty="0" smtClean="0"/>
              <a:t>Johns Hopkins University</a:t>
            </a:r>
          </a:p>
          <a:p>
            <a:r>
              <a:rPr lang="en-US" sz="2400" b="1" dirty="0" smtClean="0"/>
              <a:t>Michael </a:t>
            </a:r>
            <a:r>
              <a:rPr lang="en-US" sz="2400" b="1" dirty="0" err="1" smtClean="0"/>
              <a:t>Backes</a:t>
            </a:r>
            <a:r>
              <a:rPr lang="en-US" sz="2400" dirty="0" smtClean="0"/>
              <a:t>, </a:t>
            </a:r>
            <a:r>
              <a:rPr lang="en-US" sz="2400" i="1" dirty="0" smtClean="0"/>
              <a:t>Saarland University / Max Planck ISS</a:t>
            </a:r>
          </a:p>
          <a:p>
            <a:r>
              <a:rPr lang="en-US" sz="2400" b="1" dirty="0" smtClean="0"/>
              <a:t>Adam Barth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Berkeley </a:t>
            </a:r>
            <a:br>
              <a:rPr lang="en-US" sz="2400" i="1" dirty="0" smtClean="0"/>
            </a:br>
            <a:r>
              <a:rPr lang="en-US" sz="2400" b="1" dirty="0" smtClean="0"/>
              <a:t>Nikita </a:t>
            </a:r>
            <a:r>
              <a:rPr lang="en-US" sz="2400" b="1" dirty="0" err="1" smtClean="0"/>
              <a:t>Borisov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Illinois at Urbana-Champaign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David </a:t>
            </a:r>
            <a:r>
              <a:rPr lang="en-US" sz="2400" b="1" dirty="0" err="1" smtClean="0"/>
              <a:t>Brumley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 </a:t>
            </a:r>
            <a:br>
              <a:rPr lang="en-US" sz="2400" i="1" dirty="0" smtClean="0"/>
            </a:br>
            <a:r>
              <a:rPr lang="en-US" sz="2400" b="1" dirty="0" err="1" smtClean="0"/>
              <a:t>Cristian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Cadar</a:t>
            </a:r>
            <a:r>
              <a:rPr lang="en-US" sz="2400" dirty="0" smtClean="0"/>
              <a:t>, </a:t>
            </a:r>
            <a:r>
              <a:rPr lang="en-US" sz="2400" i="1" dirty="0" smtClean="0"/>
              <a:t>Imperial College London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err="1" smtClean="0"/>
              <a:t>Shuo</a:t>
            </a:r>
            <a:r>
              <a:rPr lang="en-US" sz="2400" b="1" dirty="0" smtClean="0"/>
              <a:t> Chen</a:t>
            </a:r>
            <a:r>
              <a:rPr lang="en-US" sz="2400" dirty="0" smtClean="0"/>
              <a:t>, </a:t>
            </a:r>
            <a:r>
              <a:rPr lang="en-US" sz="2400" i="1" dirty="0" smtClean="0"/>
              <a:t>Microsoft Research Redmond </a:t>
            </a:r>
            <a:br>
              <a:rPr lang="en-US" sz="2400" i="1" dirty="0" smtClean="0"/>
            </a:br>
            <a:r>
              <a:rPr lang="en-US" sz="2400" b="1" dirty="0" err="1" smtClean="0"/>
              <a:t>Anupam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Datta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Nick </a:t>
            </a:r>
            <a:r>
              <a:rPr lang="en-US" sz="2400" b="1" dirty="0" err="1" smtClean="0"/>
              <a:t>Feamster</a:t>
            </a:r>
            <a:r>
              <a:rPr lang="en-US" sz="2400" dirty="0" smtClean="0"/>
              <a:t>, </a:t>
            </a:r>
            <a:r>
              <a:rPr lang="en-US" sz="2400" i="1" dirty="0" smtClean="0"/>
              <a:t>Georgia Institute of Technology </a:t>
            </a:r>
            <a:br>
              <a:rPr lang="en-US" sz="2400" i="1" dirty="0" smtClean="0"/>
            </a:br>
            <a:r>
              <a:rPr lang="en-US" sz="2400" b="1" dirty="0" err="1" smtClean="0"/>
              <a:t>Debin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Gao</a:t>
            </a:r>
            <a:r>
              <a:rPr lang="en-US" sz="2400" dirty="0" smtClean="0"/>
              <a:t>, </a:t>
            </a:r>
            <a:r>
              <a:rPr lang="en-US" sz="2400" i="1" dirty="0" smtClean="0"/>
              <a:t>Singapore Management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Jon </a:t>
            </a:r>
            <a:r>
              <a:rPr lang="en-US" sz="2400" b="1" dirty="0" err="1" smtClean="0"/>
              <a:t>Giffin</a:t>
            </a:r>
            <a:r>
              <a:rPr lang="en-US" sz="2400" dirty="0" smtClean="0"/>
              <a:t>, </a:t>
            </a:r>
            <a:r>
              <a:rPr lang="en-US" sz="2400" i="1" dirty="0" smtClean="0"/>
              <a:t>Georgia Institute of Technology</a:t>
            </a:r>
            <a:br>
              <a:rPr lang="en-US" sz="2400" i="1" dirty="0" smtClean="0"/>
            </a:br>
            <a:r>
              <a:rPr lang="en-US" sz="2400" b="1" dirty="0" smtClean="0"/>
              <a:t>Virgil </a:t>
            </a:r>
            <a:r>
              <a:rPr lang="en-US" sz="2400" b="1" dirty="0" err="1" smtClean="0"/>
              <a:t>Gligor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Michael Goodrich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Irvine </a:t>
            </a:r>
            <a:br>
              <a:rPr lang="en-US" sz="2400" i="1" dirty="0" smtClean="0"/>
            </a:br>
            <a:r>
              <a:rPr lang="en-US" sz="2400" b="1" dirty="0" smtClean="0"/>
              <a:t>J. Alex </a:t>
            </a:r>
            <a:r>
              <a:rPr lang="en-US" sz="2400" b="1" dirty="0" err="1" smtClean="0"/>
              <a:t>Halderman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Michigan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err="1" smtClean="0"/>
              <a:t>Somesh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Jha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Wisconsin </a:t>
            </a:r>
            <a:br>
              <a:rPr lang="en-US" sz="2400" i="1" dirty="0" smtClean="0"/>
            </a:br>
            <a:r>
              <a:rPr lang="en-US" sz="2400" b="1" dirty="0" smtClean="0"/>
              <a:t>Rob Johnson</a:t>
            </a:r>
            <a:r>
              <a:rPr lang="en-US" sz="2400" dirty="0" smtClean="0"/>
              <a:t>, </a:t>
            </a:r>
            <a:r>
              <a:rPr lang="en-US" sz="2400" i="1" dirty="0" smtClean="0"/>
              <a:t>Stony Brook University </a:t>
            </a:r>
            <a:br>
              <a:rPr lang="en-US" sz="2400" i="1" dirty="0" smtClean="0"/>
            </a:br>
            <a:r>
              <a:rPr lang="en-US" sz="2400" b="1" dirty="0" err="1" smtClean="0"/>
              <a:t>Engin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Kirda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Eurecom</a:t>
            </a:r>
            <a:r>
              <a:rPr lang="en-US" sz="2400" i="1" dirty="0" smtClean="0"/>
              <a:t>, France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err="1" smtClean="0"/>
              <a:t>Yoshi</a:t>
            </a:r>
            <a:r>
              <a:rPr lang="en-US" sz="2400" b="1" dirty="0" smtClean="0"/>
              <a:t> Kohno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Washington </a:t>
            </a:r>
            <a:br>
              <a:rPr lang="en-US" sz="2400" i="1" dirty="0" smtClean="0"/>
            </a:br>
            <a:r>
              <a:rPr lang="en-US" sz="2400" b="1" dirty="0" err="1" smtClean="0"/>
              <a:t>Shriram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Krishnamurthi</a:t>
            </a:r>
            <a:r>
              <a:rPr lang="en-US" sz="2400" dirty="0" smtClean="0"/>
              <a:t>, </a:t>
            </a:r>
            <a:r>
              <a:rPr lang="en-US" sz="2400" i="1" dirty="0" smtClean="0"/>
              <a:t>Brown University </a:t>
            </a:r>
            <a:br>
              <a:rPr lang="en-US" sz="2400" i="1" dirty="0" smtClean="0"/>
            </a:br>
            <a:r>
              <a:rPr lang="en-US" sz="2400" b="1" dirty="0" smtClean="0"/>
              <a:t>Christopher </a:t>
            </a:r>
            <a:r>
              <a:rPr lang="en-US" sz="2400" b="1" dirty="0" err="1" smtClean="0"/>
              <a:t>Kruegel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Santa Barbara </a:t>
            </a:r>
            <a:br>
              <a:rPr lang="en-US" sz="2400" i="1" dirty="0" smtClean="0"/>
            </a:br>
            <a:r>
              <a:rPr lang="en-US" sz="2400" b="1" dirty="0" smtClean="0"/>
              <a:t>Ruby Lee</a:t>
            </a:r>
            <a:r>
              <a:rPr lang="en-US" sz="2400" dirty="0" smtClean="0"/>
              <a:t>, </a:t>
            </a:r>
            <a:r>
              <a:rPr lang="en-US" sz="2400" i="1" dirty="0" smtClean="0"/>
              <a:t>Princeton University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b="1" dirty="0" smtClean="0"/>
              <a:t>Michael </a:t>
            </a:r>
            <a:r>
              <a:rPr lang="en-US" sz="2400" b="1" dirty="0" err="1" smtClean="0"/>
              <a:t>Locasto</a:t>
            </a:r>
            <a:r>
              <a:rPr lang="en-US" sz="2400" dirty="0" smtClean="0"/>
              <a:t>, </a:t>
            </a:r>
            <a:r>
              <a:rPr lang="en-US" sz="2400" i="1" dirty="0" smtClean="0"/>
              <a:t>George Mason University </a:t>
            </a:r>
            <a:br>
              <a:rPr lang="en-US" sz="2400" i="1" dirty="0" smtClean="0"/>
            </a:br>
            <a:r>
              <a:rPr lang="en-US" sz="2400" b="1" dirty="0" smtClean="0"/>
              <a:t>Sergio </a:t>
            </a:r>
            <a:r>
              <a:rPr lang="en-US" sz="2400" b="1" dirty="0" err="1" smtClean="0"/>
              <a:t>Maffeis</a:t>
            </a:r>
            <a:r>
              <a:rPr lang="en-US" sz="2400" dirty="0" smtClean="0"/>
              <a:t>, </a:t>
            </a:r>
            <a:r>
              <a:rPr lang="en-US" sz="2400" i="1" dirty="0" smtClean="0"/>
              <a:t>Imperial College London </a:t>
            </a:r>
            <a:br>
              <a:rPr lang="en-US" sz="2400" i="1" dirty="0" smtClean="0"/>
            </a:br>
            <a:r>
              <a:rPr lang="en-US" sz="2400" b="1" dirty="0" smtClean="0"/>
              <a:t>Z. Morley Mao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Michigan </a:t>
            </a:r>
            <a:br>
              <a:rPr lang="en-US" sz="2400" i="1" dirty="0" smtClean="0"/>
            </a:br>
            <a:r>
              <a:rPr lang="en-US" sz="2400" b="1" dirty="0" smtClean="0"/>
              <a:t>Jonathan McCune</a:t>
            </a:r>
            <a:r>
              <a:rPr lang="en-US" sz="2400" dirty="0" smtClean="0"/>
              <a:t>, </a:t>
            </a:r>
            <a:r>
              <a:rPr lang="en-US" sz="2400" i="1" dirty="0" smtClean="0"/>
              <a:t>Carnegie Mellon University </a:t>
            </a:r>
            <a:br>
              <a:rPr lang="en-US" sz="2400" i="1" dirty="0" smtClean="0"/>
            </a:br>
            <a:r>
              <a:rPr lang="en-US" sz="2400" b="1" dirty="0" smtClean="0"/>
              <a:t>David Molnar</a:t>
            </a:r>
            <a:r>
              <a:rPr lang="en-US" sz="2400" dirty="0" smtClean="0"/>
              <a:t>, </a:t>
            </a:r>
            <a:r>
              <a:rPr lang="en-US" sz="2400" i="1" dirty="0" smtClean="0"/>
              <a:t>Microsoft Research Redmond </a:t>
            </a:r>
            <a:br>
              <a:rPr lang="en-US" sz="2400" i="1" dirty="0" smtClean="0"/>
            </a:br>
            <a:r>
              <a:rPr lang="en-US" sz="2400" b="1" dirty="0" smtClean="0"/>
              <a:t>Cristina Nita-</a:t>
            </a:r>
            <a:r>
              <a:rPr lang="en-US" sz="2400" b="1" dirty="0" err="1" smtClean="0"/>
              <a:t>Rotaru</a:t>
            </a:r>
            <a:r>
              <a:rPr lang="en-US" sz="2400" dirty="0" smtClean="0"/>
              <a:t>, </a:t>
            </a:r>
            <a:r>
              <a:rPr lang="en-US" sz="2400" i="1" dirty="0" smtClean="0"/>
              <a:t>Purdue University </a:t>
            </a:r>
            <a:br>
              <a:rPr lang="en-US" sz="2400" i="1" dirty="0" smtClean="0"/>
            </a:br>
            <a:r>
              <a:rPr lang="en-US" sz="2400" b="1" dirty="0" smtClean="0"/>
              <a:t>Vern </a:t>
            </a:r>
            <a:r>
              <a:rPr lang="en-US" sz="2400" b="1" dirty="0" err="1" smtClean="0"/>
              <a:t>Paxson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Berkeley </a:t>
            </a:r>
            <a:br>
              <a:rPr lang="en-US" sz="2400" i="1" dirty="0" smtClean="0"/>
            </a:br>
            <a:r>
              <a:rPr lang="en-US" sz="2400" b="1" dirty="0" smtClean="0"/>
              <a:t>Mike Reiter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North Carolina </a:t>
            </a:r>
            <a:br>
              <a:rPr lang="en-US" sz="2400" i="1" dirty="0" smtClean="0"/>
            </a:br>
            <a:r>
              <a:rPr lang="en-US" sz="2400" b="1" dirty="0" smtClean="0"/>
              <a:t>Andrei </a:t>
            </a:r>
            <a:r>
              <a:rPr lang="en-US" sz="2400" b="1" dirty="0" err="1" smtClean="0"/>
              <a:t>Sabelfeld</a:t>
            </a:r>
            <a:r>
              <a:rPr lang="en-US" sz="2400" dirty="0" smtClean="0"/>
              <a:t>, </a:t>
            </a:r>
            <a:r>
              <a:rPr lang="en-US" sz="2400" i="1" dirty="0" smtClean="0"/>
              <a:t>Chalmers University </a:t>
            </a:r>
            <a:br>
              <a:rPr lang="en-US" sz="2400" i="1" dirty="0" smtClean="0"/>
            </a:br>
            <a:r>
              <a:rPr lang="en-US" sz="2400" b="1" dirty="0" smtClean="0"/>
              <a:t>Stuart Schechter</a:t>
            </a:r>
            <a:r>
              <a:rPr lang="en-US" sz="2400" dirty="0" smtClean="0"/>
              <a:t>, </a:t>
            </a:r>
            <a:r>
              <a:rPr lang="en-US" sz="2400" i="1" dirty="0" smtClean="0"/>
              <a:t>Microsoft Research Redmond </a:t>
            </a:r>
            <a:br>
              <a:rPr lang="en-US" sz="2400" i="1" dirty="0" smtClean="0"/>
            </a:br>
            <a:r>
              <a:rPr lang="en-US" sz="2400" b="1" dirty="0" err="1" smtClean="0"/>
              <a:t>Hovav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Shacham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San Diego </a:t>
            </a:r>
            <a:br>
              <a:rPr lang="en-US" sz="2400" i="1" dirty="0" smtClean="0"/>
            </a:br>
            <a:r>
              <a:rPr lang="en-US" sz="2400" b="1" dirty="0" err="1" smtClean="0"/>
              <a:t>Vitaly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Shmatikov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Texas at Austin </a:t>
            </a:r>
            <a:br>
              <a:rPr lang="en-US" sz="2400" i="1" dirty="0" smtClean="0"/>
            </a:br>
            <a:r>
              <a:rPr lang="en-US" sz="2400" b="1" dirty="0" err="1" smtClean="0"/>
              <a:t>Radu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Sion</a:t>
            </a:r>
            <a:r>
              <a:rPr lang="en-US" sz="2400" dirty="0" smtClean="0"/>
              <a:t>, </a:t>
            </a:r>
            <a:r>
              <a:rPr lang="en-US" sz="2400" i="1" dirty="0" smtClean="0"/>
              <a:t>Stony Brook University </a:t>
            </a:r>
            <a:br>
              <a:rPr lang="en-US" sz="2400" i="1" dirty="0" smtClean="0"/>
            </a:br>
            <a:r>
              <a:rPr lang="en-US" sz="2400" b="1" dirty="0" smtClean="0"/>
              <a:t>Sean Smith</a:t>
            </a:r>
            <a:r>
              <a:rPr lang="en-US" sz="2400" dirty="0" smtClean="0"/>
              <a:t>, </a:t>
            </a:r>
            <a:r>
              <a:rPr lang="en-US" sz="2400" i="1" dirty="0" smtClean="0"/>
              <a:t>Dartmouth College </a:t>
            </a:r>
            <a:br>
              <a:rPr lang="en-US" sz="2400" i="1" dirty="0" smtClean="0"/>
            </a:br>
            <a:r>
              <a:rPr lang="en-US" sz="2400" b="1" dirty="0" smtClean="0"/>
              <a:t>Adam Smith</a:t>
            </a:r>
            <a:r>
              <a:rPr lang="en-US" sz="2400" dirty="0" smtClean="0"/>
              <a:t>, </a:t>
            </a:r>
            <a:r>
              <a:rPr lang="en-US" sz="2400" i="1" dirty="0" smtClean="0"/>
              <a:t>Pennsylvania State University </a:t>
            </a:r>
            <a:br>
              <a:rPr lang="en-US" sz="2400" i="1" dirty="0" smtClean="0"/>
            </a:br>
            <a:r>
              <a:rPr lang="en-US" sz="2400" b="1" dirty="0" smtClean="0"/>
              <a:t>Dawn Song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Berkeley </a:t>
            </a:r>
            <a:br>
              <a:rPr lang="en-US" sz="2400" i="1" dirty="0" smtClean="0"/>
            </a:br>
            <a:r>
              <a:rPr lang="en-US" sz="2400" b="1" dirty="0" err="1" smtClean="0"/>
              <a:t>Angelos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Stavrou</a:t>
            </a:r>
            <a:r>
              <a:rPr lang="en-US" sz="2400" dirty="0" smtClean="0"/>
              <a:t>, </a:t>
            </a:r>
            <a:r>
              <a:rPr lang="en-US" sz="2400" i="1" dirty="0" smtClean="0"/>
              <a:t>George Mason University</a:t>
            </a:r>
            <a:br>
              <a:rPr lang="en-US" sz="2400" i="1" dirty="0" smtClean="0"/>
            </a:br>
            <a:r>
              <a:rPr lang="en-US" sz="2400" b="1" dirty="0" smtClean="0"/>
              <a:t>Ed </a:t>
            </a:r>
            <a:r>
              <a:rPr lang="en-US" sz="2400" b="1" dirty="0" err="1" smtClean="0"/>
              <a:t>Suh</a:t>
            </a:r>
            <a:r>
              <a:rPr lang="en-US" sz="2400" dirty="0" smtClean="0"/>
              <a:t>, </a:t>
            </a:r>
            <a:r>
              <a:rPr lang="en-US" sz="2400" i="1" dirty="0" smtClean="0"/>
              <a:t>Cornell University </a:t>
            </a:r>
            <a:br>
              <a:rPr lang="en-US" sz="2400" i="1" dirty="0" smtClean="0"/>
            </a:br>
            <a:r>
              <a:rPr lang="en-US" sz="2400" b="1" dirty="0" smtClean="0"/>
              <a:t>Patrick </a:t>
            </a:r>
            <a:r>
              <a:rPr lang="en-US" sz="2400" b="1" dirty="0" err="1" smtClean="0"/>
              <a:t>Traynor</a:t>
            </a:r>
            <a:r>
              <a:rPr lang="en-US" sz="2400" dirty="0" smtClean="0"/>
              <a:t>, </a:t>
            </a:r>
            <a:r>
              <a:rPr lang="en-US" sz="2400" i="1" dirty="0" smtClean="0"/>
              <a:t>Georgia Institute of Technology </a:t>
            </a:r>
            <a:br>
              <a:rPr lang="en-US" sz="2400" i="1" dirty="0" smtClean="0"/>
            </a:br>
            <a:r>
              <a:rPr lang="en-US" sz="2400" b="1" dirty="0" smtClean="0"/>
              <a:t>V. N. (“</a:t>
            </a:r>
            <a:r>
              <a:rPr lang="en-US" sz="2400" b="1" dirty="0" err="1" smtClean="0"/>
              <a:t>Venkat</a:t>
            </a:r>
            <a:r>
              <a:rPr lang="en-US" sz="2400" b="1" dirty="0" smtClean="0"/>
              <a:t>”) </a:t>
            </a:r>
            <a:r>
              <a:rPr lang="en-US" sz="2400" b="1" dirty="0" err="1" smtClean="0"/>
              <a:t>Venkatakrishnan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Illinois at Chicago </a:t>
            </a:r>
            <a:br>
              <a:rPr lang="en-US" sz="2400" i="1" dirty="0" smtClean="0"/>
            </a:br>
            <a:r>
              <a:rPr lang="en-US" sz="2400" b="1" dirty="0" smtClean="0"/>
              <a:t>Dan Wallach</a:t>
            </a:r>
            <a:r>
              <a:rPr lang="en-US" sz="2400" dirty="0" smtClean="0"/>
              <a:t>, </a:t>
            </a:r>
            <a:r>
              <a:rPr lang="en-US" sz="2400" i="1" dirty="0" smtClean="0"/>
              <a:t>Rice University </a:t>
            </a:r>
            <a:br>
              <a:rPr lang="en-US" sz="2400" i="1" dirty="0" smtClean="0"/>
            </a:br>
            <a:r>
              <a:rPr lang="en-US" sz="2400" b="1" dirty="0" smtClean="0"/>
              <a:t>Brent Waters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Texas at Austin </a:t>
            </a:r>
            <a:br>
              <a:rPr lang="en-US" sz="2400" i="1" dirty="0" smtClean="0"/>
            </a:br>
            <a:r>
              <a:rPr lang="en-US" sz="2400" b="1" dirty="0" err="1" smtClean="0"/>
              <a:t>Westley</a:t>
            </a:r>
            <a:r>
              <a:rPr lang="en-US" sz="2400" b="1" dirty="0" smtClean="0"/>
              <a:t> Weimer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Virginia </a:t>
            </a:r>
            <a:br>
              <a:rPr lang="en-US" sz="2400" i="1" dirty="0" smtClean="0"/>
            </a:br>
            <a:r>
              <a:rPr lang="en-US" sz="2400" b="1" dirty="0" err="1" smtClean="0"/>
              <a:t>XiaoFeng</a:t>
            </a:r>
            <a:r>
              <a:rPr lang="en-US" sz="2400" b="1" dirty="0" smtClean="0"/>
              <a:t> Wang</a:t>
            </a:r>
            <a:r>
              <a:rPr lang="en-US" sz="2400" dirty="0" smtClean="0"/>
              <a:t>, </a:t>
            </a:r>
            <a:r>
              <a:rPr lang="en-US" sz="2400" i="1" dirty="0" smtClean="0"/>
              <a:t>Indiana University </a:t>
            </a:r>
            <a:br>
              <a:rPr lang="en-US" sz="2400" i="1" dirty="0" smtClean="0"/>
            </a:br>
            <a:r>
              <a:rPr lang="en-US" sz="2400" b="1" dirty="0" smtClean="0"/>
              <a:t>Felix Wu</a:t>
            </a:r>
            <a:r>
              <a:rPr lang="en-US" sz="2400" dirty="0" smtClean="0"/>
              <a:t>, </a:t>
            </a:r>
            <a:r>
              <a:rPr lang="en-US" sz="2400" i="1" dirty="0" smtClean="0"/>
              <a:t>University of California, Davis </a:t>
            </a:r>
            <a:br>
              <a:rPr lang="en-US" sz="2400" i="1" dirty="0" smtClean="0"/>
            </a:br>
            <a:r>
              <a:rPr lang="en-US" sz="2400" b="1" dirty="0" err="1" smtClean="0"/>
              <a:t>Dongyan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Xu</a:t>
            </a:r>
            <a:r>
              <a:rPr lang="en-US" sz="2400" dirty="0" smtClean="0"/>
              <a:t>, </a:t>
            </a:r>
            <a:r>
              <a:rPr lang="en-US" sz="2400" i="1" dirty="0" smtClean="0"/>
              <a:t>Purdue University </a:t>
            </a:r>
            <a:br>
              <a:rPr lang="en-US" sz="2400" i="1" dirty="0" smtClean="0"/>
            </a:br>
            <a:r>
              <a:rPr lang="en-US" sz="2400" b="1" dirty="0" err="1" smtClean="0"/>
              <a:t>Haifeng</a:t>
            </a:r>
            <a:r>
              <a:rPr lang="en-US" sz="2400" b="1" dirty="0" smtClean="0"/>
              <a:t> Yu</a:t>
            </a:r>
            <a:r>
              <a:rPr lang="en-US" sz="2400" dirty="0" smtClean="0"/>
              <a:t>, </a:t>
            </a:r>
            <a:r>
              <a:rPr lang="en-US" sz="2400" i="1" dirty="0" smtClean="0"/>
              <a:t>National University of Singapore </a:t>
            </a:r>
            <a:br>
              <a:rPr lang="en-US" sz="2400" i="1" dirty="0" smtClean="0"/>
            </a:br>
            <a:r>
              <a:rPr lang="en-US" sz="2400" b="1" dirty="0" err="1" smtClean="0"/>
              <a:t>Sencun</a:t>
            </a:r>
            <a:r>
              <a:rPr lang="en-US" sz="2400" b="1" dirty="0" smtClean="0"/>
              <a:t> Zhu</a:t>
            </a:r>
            <a:r>
              <a:rPr lang="en-US" sz="2400" dirty="0" smtClean="0"/>
              <a:t>, </a:t>
            </a:r>
            <a:r>
              <a:rPr lang="en-US" sz="2400" i="1" dirty="0" smtClean="0"/>
              <a:t>Pennsylvania State University</a:t>
            </a:r>
          </a:p>
          <a:p>
            <a:endParaRPr lang="en-US" sz="2400" i="1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Program Committee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External Reviewers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1219200"/>
            <a:ext cx="8839200" cy="5334000"/>
          </a:xfrm>
          <a:prstGeom prst="rect">
            <a:avLst/>
          </a:prstGeom>
          <a:noFill/>
        </p:spPr>
        <p:txBody>
          <a:bodyPr wrap="square" numCol="4" rtlCol="0">
            <a:spAutoFit/>
          </a:bodyPr>
          <a:lstStyle/>
          <a:p>
            <a:r>
              <a:rPr lang="en-US" sz="1600" dirty="0" err="1" smtClean="0"/>
              <a:t>Aditya</a:t>
            </a:r>
            <a:r>
              <a:rPr lang="en-US" sz="1600" dirty="0" smtClean="0"/>
              <a:t> </a:t>
            </a:r>
            <a:r>
              <a:rPr lang="en-US" sz="1600" dirty="0" err="1" smtClean="0"/>
              <a:t>Akella</a:t>
            </a:r>
            <a:endParaRPr lang="en-US" sz="1600" dirty="0" smtClean="0"/>
          </a:p>
          <a:p>
            <a:r>
              <a:rPr lang="en-US" sz="1600" dirty="0" err="1" smtClean="0"/>
              <a:t>Aslan</a:t>
            </a:r>
            <a:r>
              <a:rPr lang="en-US" sz="1600" dirty="0" smtClean="0"/>
              <a:t> </a:t>
            </a:r>
            <a:r>
              <a:rPr lang="en-US" sz="1600" dirty="0" err="1" smtClean="0"/>
              <a:t>Askarov</a:t>
            </a:r>
            <a:endParaRPr lang="en-US" sz="1600" dirty="0" smtClean="0"/>
          </a:p>
          <a:p>
            <a:r>
              <a:rPr lang="en-US" sz="1600" dirty="0" err="1" smtClean="0"/>
              <a:t>Thanassis</a:t>
            </a:r>
            <a:r>
              <a:rPr lang="en-US" sz="1600" dirty="0" smtClean="0"/>
              <a:t> Avgerinos</a:t>
            </a:r>
          </a:p>
          <a:p>
            <a:r>
              <a:rPr lang="en-US" sz="1600" dirty="0" smtClean="0"/>
              <a:t>Lucas Ballard</a:t>
            </a:r>
          </a:p>
          <a:p>
            <a:r>
              <a:rPr lang="en-US" sz="1600" dirty="0" smtClean="0"/>
              <a:t>Matthias Berg</a:t>
            </a:r>
          </a:p>
          <a:p>
            <a:r>
              <a:rPr lang="en-US" sz="1600" dirty="0" err="1" smtClean="0"/>
              <a:t>Karthikeyan</a:t>
            </a:r>
            <a:r>
              <a:rPr lang="en-US" sz="1600" dirty="0" smtClean="0"/>
              <a:t> </a:t>
            </a:r>
            <a:r>
              <a:rPr lang="en-US" sz="1600" dirty="0" err="1" smtClean="0"/>
              <a:t>Bhargavan</a:t>
            </a:r>
            <a:endParaRPr lang="en-US" sz="1600" dirty="0" smtClean="0"/>
          </a:p>
          <a:p>
            <a:r>
              <a:rPr lang="en-US" sz="1600" dirty="0" err="1" smtClean="0"/>
              <a:t>Leyla</a:t>
            </a:r>
            <a:r>
              <a:rPr lang="en-US" sz="1600" dirty="0" smtClean="0"/>
              <a:t> Bilge</a:t>
            </a:r>
          </a:p>
          <a:p>
            <a:r>
              <a:rPr lang="en-US" sz="1600" dirty="0" err="1" smtClean="0"/>
              <a:t>Arnar</a:t>
            </a:r>
            <a:r>
              <a:rPr lang="en-US" sz="1600" dirty="0" smtClean="0"/>
              <a:t> </a:t>
            </a:r>
            <a:r>
              <a:rPr lang="en-US" sz="1600" dirty="0" err="1" smtClean="0"/>
              <a:t>Birgisson</a:t>
            </a:r>
            <a:endParaRPr lang="en-US" sz="1600" dirty="0" smtClean="0"/>
          </a:p>
          <a:p>
            <a:r>
              <a:rPr lang="en-US" sz="1600" dirty="0" err="1" smtClean="0"/>
              <a:t>Prithvi</a:t>
            </a:r>
            <a:r>
              <a:rPr lang="en-US" sz="1600" dirty="0" smtClean="0"/>
              <a:t> </a:t>
            </a:r>
            <a:r>
              <a:rPr lang="en-US" sz="1600" dirty="0" err="1" smtClean="0"/>
              <a:t>Bisht</a:t>
            </a:r>
            <a:endParaRPr lang="en-US" sz="1600" dirty="0" smtClean="0"/>
          </a:p>
          <a:p>
            <a:r>
              <a:rPr lang="en-US" sz="1600" dirty="0" smtClean="0"/>
              <a:t>Raymond </a:t>
            </a:r>
            <a:r>
              <a:rPr lang="en-US" sz="1600" dirty="0" err="1" smtClean="0"/>
              <a:t>Buse</a:t>
            </a:r>
            <a:endParaRPr lang="en-US" sz="1600" dirty="0" smtClean="0"/>
          </a:p>
          <a:p>
            <a:r>
              <a:rPr lang="en-US" sz="1600" dirty="0" smtClean="0"/>
              <a:t>Juan Caballero</a:t>
            </a:r>
          </a:p>
          <a:p>
            <a:r>
              <a:rPr lang="en-US" sz="1600" dirty="0" smtClean="0"/>
              <a:t>Stephen </a:t>
            </a:r>
            <a:r>
              <a:rPr lang="en-US" sz="1600" dirty="0" err="1" smtClean="0"/>
              <a:t>Checkoway</a:t>
            </a:r>
            <a:endParaRPr lang="en-US" sz="1600" dirty="0" smtClean="0"/>
          </a:p>
          <a:p>
            <a:r>
              <a:rPr lang="en-US" sz="1600" dirty="0" smtClean="0"/>
              <a:t>Joe Cooley</a:t>
            </a:r>
          </a:p>
          <a:p>
            <a:r>
              <a:rPr lang="en-US" sz="1600" dirty="0" smtClean="0"/>
              <a:t>Scott Crosby</a:t>
            </a:r>
          </a:p>
          <a:p>
            <a:r>
              <a:rPr lang="en-US" sz="1600" dirty="0" smtClean="0"/>
              <a:t>Deepak </a:t>
            </a:r>
            <a:r>
              <a:rPr lang="en-US" sz="1600" dirty="0" err="1" smtClean="0"/>
              <a:t>D’Souza</a:t>
            </a:r>
            <a:endParaRPr lang="en-US" sz="1600" dirty="0" smtClean="0"/>
          </a:p>
          <a:p>
            <a:r>
              <a:rPr lang="en-US" sz="1600" dirty="0" smtClean="0"/>
              <a:t>Pierre </a:t>
            </a:r>
            <a:r>
              <a:rPr lang="en-US" sz="1600" dirty="0" err="1" smtClean="0"/>
              <a:t>Malo</a:t>
            </a:r>
            <a:r>
              <a:rPr lang="en-US" sz="1600" dirty="0" smtClean="0"/>
              <a:t> </a:t>
            </a:r>
            <a:r>
              <a:rPr lang="en-US" sz="1600" dirty="0" err="1" smtClean="0"/>
              <a:t>Danielou</a:t>
            </a:r>
            <a:endParaRPr lang="en-US" sz="1600" dirty="0" smtClean="0"/>
          </a:p>
          <a:p>
            <a:r>
              <a:rPr lang="en-US" sz="1600" dirty="0" smtClean="0"/>
              <a:t>Matthew Davis</a:t>
            </a:r>
          </a:p>
          <a:p>
            <a:r>
              <a:rPr lang="en-US" sz="1600" dirty="0" smtClean="0"/>
              <a:t>Manuel </a:t>
            </a:r>
            <a:r>
              <a:rPr lang="en-US" sz="1600" dirty="0" err="1" smtClean="0"/>
              <a:t>Egele</a:t>
            </a:r>
            <a:endParaRPr lang="en-US" sz="1600" dirty="0" smtClean="0"/>
          </a:p>
          <a:p>
            <a:r>
              <a:rPr lang="en-US" sz="1600" dirty="0" smtClean="0"/>
              <a:t>Jason Franklin</a:t>
            </a:r>
          </a:p>
          <a:p>
            <a:r>
              <a:rPr lang="en-US" sz="1600" dirty="0" smtClean="0"/>
              <a:t>Matt </a:t>
            </a:r>
            <a:r>
              <a:rPr lang="en-US" sz="1600" dirty="0" err="1" smtClean="0"/>
              <a:t>Fredrikson</a:t>
            </a:r>
            <a:endParaRPr lang="en-US" sz="1600" dirty="0" smtClean="0"/>
          </a:p>
          <a:p>
            <a:r>
              <a:rPr lang="en-US" sz="1600" dirty="0" smtClean="0"/>
              <a:t>Deepak </a:t>
            </a:r>
            <a:r>
              <a:rPr lang="en-US" sz="1600" dirty="0" err="1" smtClean="0"/>
              <a:t>Garg</a:t>
            </a:r>
            <a:endParaRPr lang="en-US" sz="1600" dirty="0" smtClean="0"/>
          </a:p>
          <a:p>
            <a:r>
              <a:rPr lang="en-US" sz="1600" dirty="0" smtClean="0"/>
              <a:t>Paolo </a:t>
            </a:r>
            <a:r>
              <a:rPr lang="en-US" sz="1600" dirty="0" err="1" smtClean="0"/>
              <a:t>Gasti</a:t>
            </a:r>
            <a:endParaRPr lang="en-US" sz="1600" dirty="0" smtClean="0"/>
          </a:p>
          <a:p>
            <a:r>
              <a:rPr lang="en-US" sz="1600" dirty="0" smtClean="0"/>
              <a:t>Sebastian </a:t>
            </a:r>
            <a:r>
              <a:rPr lang="en-US" sz="1600" dirty="0" err="1" smtClean="0"/>
              <a:t>Gerling</a:t>
            </a:r>
            <a:endParaRPr lang="en-US" sz="1600" dirty="0" smtClean="0"/>
          </a:p>
          <a:p>
            <a:r>
              <a:rPr lang="en-US" sz="1600" dirty="0" smtClean="0"/>
              <a:t>Steven </a:t>
            </a:r>
            <a:r>
              <a:rPr lang="en-US" sz="1600" dirty="0" err="1" smtClean="0"/>
              <a:t>Gianvecchio</a:t>
            </a:r>
            <a:endParaRPr lang="en-US" sz="1600" dirty="0" smtClean="0"/>
          </a:p>
          <a:p>
            <a:r>
              <a:rPr lang="en-US" sz="1600" dirty="0" err="1" smtClean="0"/>
              <a:t>Kalpana</a:t>
            </a:r>
            <a:r>
              <a:rPr lang="en-US" sz="1600" dirty="0" smtClean="0"/>
              <a:t> Gondi</a:t>
            </a:r>
          </a:p>
          <a:p>
            <a:r>
              <a:rPr lang="en-US" sz="1600" dirty="0" err="1" smtClean="0"/>
              <a:t>Xun</a:t>
            </a:r>
            <a:r>
              <a:rPr lang="en-US" sz="1600" dirty="0" smtClean="0"/>
              <a:t> Gong</a:t>
            </a:r>
          </a:p>
          <a:p>
            <a:r>
              <a:rPr lang="en-US" sz="1600" dirty="0" smtClean="0"/>
              <a:t>Bill Harris</a:t>
            </a:r>
          </a:p>
          <a:p>
            <a:r>
              <a:rPr lang="en-US" sz="1600" dirty="0" smtClean="0"/>
              <a:t>Pieter </a:t>
            </a:r>
            <a:r>
              <a:rPr lang="en-US" sz="1600" dirty="0" err="1" smtClean="0"/>
              <a:t>Hooimeijer</a:t>
            </a:r>
            <a:endParaRPr lang="en-US" sz="1600" dirty="0" smtClean="0"/>
          </a:p>
          <a:p>
            <a:r>
              <a:rPr lang="en-US" sz="1600" dirty="0" smtClean="0"/>
              <a:t>Amir </a:t>
            </a:r>
            <a:r>
              <a:rPr lang="en-US" sz="1600" dirty="0" err="1" smtClean="0"/>
              <a:t>Houmansadr</a:t>
            </a:r>
            <a:endParaRPr lang="en-US" sz="1600" dirty="0" smtClean="0"/>
          </a:p>
          <a:p>
            <a:r>
              <a:rPr lang="en-US" sz="1600" dirty="0" smtClean="0"/>
              <a:t>Sonia </a:t>
            </a:r>
            <a:r>
              <a:rPr lang="en-US" sz="1600" dirty="0" err="1" smtClean="0"/>
              <a:t>Jahid</a:t>
            </a:r>
            <a:endParaRPr lang="en-US" sz="1600" dirty="0" smtClean="0"/>
          </a:p>
          <a:p>
            <a:r>
              <a:rPr lang="en-US" sz="1600" dirty="0" err="1" smtClean="0"/>
              <a:t>Limin</a:t>
            </a:r>
            <a:r>
              <a:rPr lang="en-US" sz="1600" dirty="0" smtClean="0"/>
              <a:t> </a:t>
            </a:r>
            <a:r>
              <a:rPr lang="en-US" sz="1600" dirty="0" err="1" smtClean="0"/>
              <a:t>Jia</a:t>
            </a:r>
            <a:endParaRPr lang="en-US" sz="1600" dirty="0" smtClean="0"/>
          </a:p>
          <a:p>
            <a:r>
              <a:rPr lang="en-US" sz="1600" dirty="0" smtClean="0"/>
              <a:t>Aaron Johnson</a:t>
            </a:r>
          </a:p>
          <a:p>
            <a:r>
              <a:rPr lang="en-US" sz="1600" dirty="0" smtClean="0"/>
              <a:t>Deborah Johnson</a:t>
            </a:r>
          </a:p>
          <a:p>
            <a:r>
              <a:rPr lang="en-US" sz="1600" dirty="0" smtClean="0"/>
              <a:t>Joshua </a:t>
            </a:r>
            <a:r>
              <a:rPr lang="en-US" sz="1600" dirty="0" err="1" smtClean="0"/>
              <a:t>Juen</a:t>
            </a:r>
            <a:endParaRPr lang="en-US" sz="1600" dirty="0" smtClean="0"/>
          </a:p>
          <a:p>
            <a:r>
              <a:rPr lang="en-US" sz="1600" dirty="0" smtClean="0"/>
              <a:t>Boris </a:t>
            </a:r>
            <a:r>
              <a:rPr lang="en-US" sz="1600" dirty="0" err="1" smtClean="0"/>
              <a:t>Koepf</a:t>
            </a:r>
            <a:r>
              <a:rPr lang="en-US" sz="1600" dirty="0" smtClean="0"/>
              <a:t> </a:t>
            </a:r>
          </a:p>
          <a:p>
            <a:r>
              <a:rPr lang="en-US" sz="1600" dirty="0" smtClean="0"/>
              <a:t>Louis Kruger</a:t>
            </a:r>
          </a:p>
          <a:p>
            <a:r>
              <a:rPr lang="en-US" sz="1600" dirty="0" smtClean="0"/>
              <a:t>Andrea </a:t>
            </a:r>
            <a:r>
              <a:rPr lang="en-US" sz="1600" dirty="0" err="1" smtClean="0"/>
              <a:t>Lanzi</a:t>
            </a:r>
            <a:endParaRPr lang="en-US" sz="1600" dirty="0" smtClean="0"/>
          </a:p>
          <a:p>
            <a:r>
              <a:rPr lang="en-US" sz="1600" dirty="0" smtClean="0"/>
              <a:t>Claire Le </a:t>
            </a:r>
            <a:r>
              <a:rPr lang="en-US" sz="1600" dirty="0" err="1" smtClean="0"/>
              <a:t>Goues</a:t>
            </a:r>
            <a:endParaRPr lang="en-US" sz="1600" dirty="0" smtClean="0"/>
          </a:p>
          <a:p>
            <a:r>
              <a:rPr lang="en-US" sz="1600" dirty="0" err="1" smtClean="0"/>
              <a:t>JongHyup</a:t>
            </a:r>
            <a:r>
              <a:rPr lang="en-US" sz="1600" dirty="0" smtClean="0"/>
              <a:t> Lee</a:t>
            </a:r>
          </a:p>
          <a:p>
            <a:r>
              <a:rPr lang="en-US" sz="1600" dirty="0" err="1" smtClean="0"/>
              <a:t>Peng</a:t>
            </a:r>
            <a:r>
              <a:rPr lang="en-US" sz="1600" dirty="0" smtClean="0"/>
              <a:t> Li</a:t>
            </a:r>
          </a:p>
          <a:p>
            <a:r>
              <a:rPr lang="en-US" sz="1600" dirty="0" smtClean="0"/>
              <a:t>Zhou Li</a:t>
            </a:r>
          </a:p>
          <a:p>
            <a:r>
              <a:rPr lang="en-US" sz="1600" dirty="0" err="1" smtClean="0"/>
              <a:t>Zhuowei</a:t>
            </a:r>
            <a:r>
              <a:rPr lang="en-US" sz="1600" dirty="0" smtClean="0"/>
              <a:t> Li</a:t>
            </a:r>
          </a:p>
          <a:p>
            <a:r>
              <a:rPr lang="en-US" sz="1600" dirty="0" err="1" smtClean="0"/>
              <a:t>Zhiqiang</a:t>
            </a:r>
            <a:r>
              <a:rPr lang="en-US" sz="1600" dirty="0" smtClean="0"/>
              <a:t> Lin</a:t>
            </a:r>
          </a:p>
          <a:p>
            <a:r>
              <a:rPr lang="en-US" sz="1600" dirty="0" smtClean="0"/>
              <a:t>Mike </a:t>
            </a:r>
            <a:r>
              <a:rPr lang="en-US" sz="1600" dirty="0" err="1" smtClean="0"/>
              <a:t>Ter</a:t>
            </a:r>
            <a:r>
              <a:rPr lang="en-US" sz="1600" dirty="0" smtClean="0"/>
              <a:t> </a:t>
            </a:r>
            <a:r>
              <a:rPr lang="en-US" sz="1600" dirty="0" err="1" smtClean="0"/>
              <a:t>Louw</a:t>
            </a:r>
            <a:endParaRPr lang="en-US" sz="1600" dirty="0" smtClean="0"/>
          </a:p>
          <a:p>
            <a:r>
              <a:rPr lang="en-US" sz="1600" dirty="0" err="1" smtClean="0"/>
              <a:t>Matteo</a:t>
            </a:r>
            <a:r>
              <a:rPr lang="en-US" sz="1600" dirty="0" smtClean="0"/>
              <a:t> </a:t>
            </a:r>
            <a:r>
              <a:rPr lang="en-US" sz="1600" dirty="0" err="1" smtClean="0"/>
              <a:t>Maffei</a:t>
            </a:r>
            <a:endParaRPr lang="en-US" sz="1600" dirty="0" smtClean="0"/>
          </a:p>
          <a:p>
            <a:r>
              <a:rPr lang="en-US" sz="1600" dirty="0" smtClean="0"/>
              <a:t>Stephen </a:t>
            </a:r>
            <a:r>
              <a:rPr lang="en-US" sz="1600" dirty="0" err="1" smtClean="0"/>
              <a:t>McCamant</a:t>
            </a:r>
            <a:endParaRPr lang="en-US" sz="1600" dirty="0" smtClean="0"/>
          </a:p>
          <a:p>
            <a:r>
              <a:rPr lang="en-US" sz="1600" dirty="0" smtClean="0"/>
              <a:t>Kazuhiro Minami</a:t>
            </a:r>
          </a:p>
          <a:p>
            <a:r>
              <a:rPr lang="en-US" sz="1600" dirty="0" err="1" smtClean="0"/>
              <a:t>Prateek</a:t>
            </a:r>
            <a:r>
              <a:rPr lang="en-US" sz="1600" dirty="0" smtClean="0"/>
              <a:t> </a:t>
            </a:r>
            <a:r>
              <a:rPr lang="en-US" sz="1600" dirty="0" err="1" smtClean="0"/>
              <a:t>Mittal</a:t>
            </a:r>
            <a:endParaRPr lang="en-US" sz="1600" dirty="0" smtClean="0"/>
          </a:p>
          <a:p>
            <a:r>
              <a:rPr lang="en-US" sz="1600" dirty="0" err="1" smtClean="0"/>
              <a:t>Esfandiar</a:t>
            </a:r>
            <a:r>
              <a:rPr lang="en-US" sz="1600" dirty="0" smtClean="0"/>
              <a:t> </a:t>
            </a:r>
            <a:r>
              <a:rPr lang="en-US" sz="1600" dirty="0" err="1" smtClean="0"/>
              <a:t>Mohammadi</a:t>
            </a:r>
            <a:endParaRPr lang="en-US" sz="1600" dirty="0" smtClean="0"/>
          </a:p>
          <a:p>
            <a:r>
              <a:rPr lang="en-US" sz="1600" dirty="0" err="1" smtClean="0"/>
              <a:t>Madan</a:t>
            </a:r>
            <a:r>
              <a:rPr lang="en-US" sz="1600" dirty="0" smtClean="0"/>
              <a:t> </a:t>
            </a:r>
            <a:r>
              <a:rPr lang="en-US" sz="1600" dirty="0" err="1" smtClean="0"/>
              <a:t>Musuvathi</a:t>
            </a:r>
            <a:endParaRPr lang="en-US" sz="1600" dirty="0" smtClean="0"/>
          </a:p>
          <a:p>
            <a:r>
              <a:rPr lang="en-US" sz="1600" dirty="0" err="1" smtClean="0"/>
              <a:t>Chitra</a:t>
            </a:r>
            <a:r>
              <a:rPr lang="en-US" sz="1600" dirty="0" smtClean="0"/>
              <a:t> </a:t>
            </a:r>
            <a:r>
              <a:rPr lang="en-US" sz="1600" dirty="0" err="1" smtClean="0"/>
              <a:t>Muthukrishnan</a:t>
            </a:r>
            <a:endParaRPr lang="en-US" sz="1600" dirty="0" smtClean="0"/>
          </a:p>
          <a:p>
            <a:r>
              <a:rPr lang="en-US" sz="1600" dirty="0" err="1" smtClean="0"/>
              <a:t>Shishir</a:t>
            </a:r>
            <a:r>
              <a:rPr lang="en-US" sz="1600" dirty="0" smtClean="0"/>
              <a:t> </a:t>
            </a:r>
            <a:r>
              <a:rPr lang="en-US" sz="1600" dirty="0" err="1" smtClean="0"/>
              <a:t>Nagaraja</a:t>
            </a:r>
            <a:endParaRPr lang="en-US" sz="1600" dirty="0" smtClean="0"/>
          </a:p>
          <a:p>
            <a:r>
              <a:rPr lang="en-US" sz="1600" dirty="0" err="1" smtClean="0"/>
              <a:t>Arvind</a:t>
            </a:r>
            <a:r>
              <a:rPr lang="en-US" sz="1600" dirty="0" smtClean="0"/>
              <a:t> Narayanan</a:t>
            </a:r>
          </a:p>
          <a:p>
            <a:r>
              <a:rPr lang="en-US" sz="1600" dirty="0" err="1" smtClean="0"/>
              <a:t>Giang</a:t>
            </a:r>
            <a:r>
              <a:rPr lang="en-US" sz="1600" dirty="0" smtClean="0"/>
              <a:t> Nguyen</a:t>
            </a:r>
          </a:p>
          <a:p>
            <a:r>
              <a:rPr lang="en-US" sz="1600" dirty="0" smtClean="0"/>
              <a:t>Kim </a:t>
            </a:r>
            <a:r>
              <a:rPr lang="en-US" sz="1600" dirty="0" err="1" smtClean="0"/>
              <a:t>Pecina</a:t>
            </a:r>
            <a:endParaRPr lang="en-US" sz="1600" dirty="0" smtClean="0"/>
          </a:p>
          <a:p>
            <a:r>
              <a:rPr lang="en-US" sz="1600" dirty="0" smtClean="0"/>
              <a:t>Adrian </a:t>
            </a:r>
            <a:r>
              <a:rPr lang="en-US" sz="1600" dirty="0" err="1" smtClean="0"/>
              <a:t>Perrig</a:t>
            </a:r>
            <a:endParaRPr lang="en-US" sz="1600" dirty="0" smtClean="0"/>
          </a:p>
          <a:p>
            <a:r>
              <a:rPr lang="en-US" sz="1600" dirty="0" smtClean="0"/>
              <a:t>Michael </a:t>
            </a:r>
            <a:r>
              <a:rPr lang="en-US" sz="1600" dirty="0" err="1" smtClean="0"/>
              <a:t>Piatek</a:t>
            </a:r>
            <a:endParaRPr lang="en-US" sz="1600" dirty="0" smtClean="0"/>
          </a:p>
          <a:p>
            <a:r>
              <a:rPr lang="en-US" sz="1600" dirty="0" smtClean="0"/>
              <a:t>Willard </a:t>
            </a:r>
            <a:r>
              <a:rPr lang="en-US" sz="1600" dirty="0" err="1" smtClean="0"/>
              <a:t>Rafnsson</a:t>
            </a:r>
            <a:endParaRPr lang="en-US" sz="1600" dirty="0" smtClean="0"/>
          </a:p>
          <a:p>
            <a:r>
              <a:rPr lang="en-US" sz="1600" dirty="0" smtClean="0"/>
              <a:t>Raphael </a:t>
            </a:r>
            <a:r>
              <a:rPr lang="en-US" sz="1600" dirty="0" err="1" smtClean="0"/>
              <a:t>Reischuk</a:t>
            </a:r>
            <a:endParaRPr lang="en-US" sz="1600" dirty="0" smtClean="0"/>
          </a:p>
          <a:p>
            <a:r>
              <a:rPr lang="en-US" sz="1600" dirty="0" smtClean="0"/>
              <a:t>Eric </a:t>
            </a:r>
            <a:r>
              <a:rPr lang="en-US" sz="1600" dirty="0" err="1" smtClean="0"/>
              <a:t>Rescorla</a:t>
            </a:r>
            <a:endParaRPr lang="en-US" sz="1600" dirty="0" smtClean="0"/>
          </a:p>
          <a:p>
            <a:r>
              <a:rPr lang="en-US" sz="1600" dirty="0" err="1" smtClean="0"/>
              <a:t>Junghwan</a:t>
            </a:r>
            <a:r>
              <a:rPr lang="en-US" sz="1600" dirty="0" smtClean="0"/>
              <a:t> Rhee</a:t>
            </a:r>
          </a:p>
          <a:p>
            <a:r>
              <a:rPr lang="en-US" sz="1600" dirty="0" smtClean="0"/>
              <a:t>Alejandro Russo</a:t>
            </a:r>
          </a:p>
          <a:p>
            <a:r>
              <a:rPr lang="en-US" sz="1600" dirty="0" smtClean="0"/>
              <a:t>Brian Schulte</a:t>
            </a:r>
          </a:p>
          <a:p>
            <a:r>
              <a:rPr lang="en-US" sz="1600" dirty="0" smtClean="0"/>
              <a:t>Edward Schwartz</a:t>
            </a:r>
          </a:p>
          <a:p>
            <a:r>
              <a:rPr lang="en-US" sz="1600" dirty="0" err="1" smtClean="0"/>
              <a:t>Hendrik</a:t>
            </a:r>
            <a:r>
              <a:rPr lang="en-US" sz="1600" dirty="0" smtClean="0"/>
              <a:t> </a:t>
            </a:r>
            <a:r>
              <a:rPr lang="en-US" sz="1600" dirty="0" err="1" smtClean="0"/>
              <a:t>Schweppe</a:t>
            </a:r>
            <a:endParaRPr lang="en-US" sz="1600" dirty="0" smtClean="0"/>
          </a:p>
          <a:p>
            <a:r>
              <a:rPr lang="en-US" sz="1600" dirty="0" smtClean="0"/>
              <a:t>Dan Simon</a:t>
            </a:r>
          </a:p>
          <a:p>
            <a:r>
              <a:rPr lang="en-US" sz="1600" dirty="0" err="1" smtClean="0"/>
              <a:t>Yingbo</a:t>
            </a:r>
            <a:r>
              <a:rPr lang="en-US" sz="1600" dirty="0" smtClean="0"/>
              <a:t> Song</a:t>
            </a:r>
          </a:p>
          <a:p>
            <a:r>
              <a:rPr lang="en-US" sz="1600" dirty="0" err="1" smtClean="0"/>
              <a:t>Miroslava</a:t>
            </a:r>
            <a:r>
              <a:rPr lang="en-US" sz="1600" dirty="0" smtClean="0"/>
              <a:t> </a:t>
            </a:r>
            <a:r>
              <a:rPr lang="en-US" sz="1600" dirty="0" err="1" smtClean="0"/>
              <a:t>Sotakova</a:t>
            </a:r>
            <a:endParaRPr lang="en-US" sz="1600" dirty="0" smtClean="0"/>
          </a:p>
          <a:p>
            <a:r>
              <a:rPr lang="en-US" sz="1600" dirty="0" err="1" smtClean="0"/>
              <a:t>Ahren</a:t>
            </a:r>
            <a:r>
              <a:rPr lang="en-US" sz="1600" dirty="0" smtClean="0"/>
              <a:t> </a:t>
            </a:r>
            <a:r>
              <a:rPr lang="en-US" sz="1600" dirty="0" err="1" smtClean="0"/>
              <a:t>Studer</a:t>
            </a:r>
            <a:endParaRPr lang="en-US" sz="1600" dirty="0" smtClean="0"/>
          </a:p>
          <a:p>
            <a:r>
              <a:rPr lang="en-US" sz="1600" dirty="0" smtClean="0"/>
              <a:t>Christopher </a:t>
            </a:r>
            <a:r>
              <a:rPr lang="en-US" sz="1600" dirty="0" err="1" smtClean="0"/>
              <a:t>Szilagyi</a:t>
            </a:r>
            <a:endParaRPr lang="en-US" sz="1600" dirty="0" smtClean="0"/>
          </a:p>
          <a:p>
            <a:r>
              <a:rPr lang="en-US" sz="1600" dirty="0" err="1" smtClean="0"/>
              <a:t>Ankur</a:t>
            </a:r>
            <a:r>
              <a:rPr lang="en-US" sz="1600" dirty="0" smtClean="0"/>
              <a:t> </a:t>
            </a:r>
            <a:r>
              <a:rPr lang="en-US" sz="1600" dirty="0" err="1" smtClean="0"/>
              <a:t>Taly</a:t>
            </a:r>
            <a:endParaRPr lang="en-US" sz="1600" dirty="0" smtClean="0"/>
          </a:p>
          <a:p>
            <a:r>
              <a:rPr lang="en-US" sz="1600" dirty="0" smtClean="0"/>
              <a:t>Michael </a:t>
            </a:r>
            <a:r>
              <a:rPr lang="en-US" sz="1600" dirty="0" err="1" smtClean="0"/>
              <a:t>Tschantz</a:t>
            </a:r>
            <a:endParaRPr lang="en-US" sz="1600" dirty="0" smtClean="0"/>
          </a:p>
          <a:p>
            <a:r>
              <a:rPr lang="en-US" sz="1600" dirty="0" smtClean="0"/>
              <a:t>Dominique Unruh</a:t>
            </a:r>
          </a:p>
          <a:p>
            <a:r>
              <a:rPr lang="en-US" sz="1600" dirty="0" smtClean="0"/>
              <a:t>Danny Walker</a:t>
            </a:r>
          </a:p>
          <a:p>
            <a:r>
              <a:rPr lang="en-US" sz="1600" dirty="0" err="1" smtClean="0"/>
              <a:t>Qiyan</a:t>
            </a:r>
            <a:r>
              <a:rPr lang="en-US" sz="1600" dirty="0" smtClean="0"/>
              <a:t> Wang</a:t>
            </a:r>
          </a:p>
          <a:p>
            <a:r>
              <a:rPr lang="en-US" sz="1600" dirty="0" err="1" smtClean="0"/>
              <a:t>Rui</a:t>
            </a:r>
            <a:r>
              <a:rPr lang="en-US" sz="1600" dirty="0" smtClean="0"/>
              <a:t> Wang</a:t>
            </a:r>
          </a:p>
          <a:p>
            <a:r>
              <a:rPr lang="en-US" sz="1600" dirty="0" err="1" smtClean="0"/>
              <a:t>Xinran</a:t>
            </a:r>
            <a:r>
              <a:rPr lang="en-US" sz="1600" dirty="0" smtClean="0"/>
              <a:t> Wang</a:t>
            </a:r>
          </a:p>
          <a:p>
            <a:r>
              <a:rPr lang="en-US" sz="1600" dirty="0" err="1" smtClean="0"/>
              <a:t>Bogdan</a:t>
            </a:r>
            <a:r>
              <a:rPr lang="en-US" sz="1600" dirty="0" smtClean="0"/>
              <a:t> </a:t>
            </a:r>
            <a:r>
              <a:rPr lang="en-US" sz="1600" dirty="0" err="1" smtClean="0"/>
              <a:t>Warinschi</a:t>
            </a:r>
            <a:endParaRPr lang="en-US" sz="1600" dirty="0" smtClean="0"/>
          </a:p>
          <a:p>
            <a:r>
              <a:rPr lang="en-US" sz="1600" dirty="0" smtClean="0"/>
              <a:t>Nicholas Weaver</a:t>
            </a:r>
          </a:p>
          <a:p>
            <a:r>
              <a:rPr lang="en-US" sz="1600" dirty="0" err="1" smtClean="0"/>
              <a:t>Dinghao</a:t>
            </a:r>
            <a:r>
              <a:rPr lang="en-US" sz="1600" dirty="0" smtClean="0"/>
              <a:t> Wu</a:t>
            </a:r>
          </a:p>
          <a:p>
            <a:r>
              <a:rPr lang="en-US" sz="1600" dirty="0" smtClean="0"/>
              <a:t>Ting-Fang Yen</a:t>
            </a:r>
          </a:p>
          <a:p>
            <a:r>
              <a:rPr lang="en-US" sz="1600" dirty="0" err="1" smtClean="0"/>
              <a:t>Kehuan</a:t>
            </a:r>
            <a:r>
              <a:rPr lang="en-US" sz="1600" dirty="0" smtClean="0"/>
              <a:t> Zhang</a:t>
            </a:r>
          </a:p>
          <a:p>
            <a:r>
              <a:rPr lang="en-US" sz="1600" dirty="0" smtClean="0"/>
              <a:t>Michelle Zhou</a:t>
            </a:r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92628" y="4123508"/>
            <a:ext cx="7704909" cy="11430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" name="TextBox 5"/>
          <p:cNvSpPr txBox="1"/>
          <p:nvPr/>
        </p:nvSpPr>
        <p:spPr>
          <a:xfrm>
            <a:off x="71845" y="5366657"/>
            <a:ext cx="916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Nov 18</a:t>
            </a:r>
            <a:endParaRPr lang="en-US" sz="2000" dirty="0"/>
          </a:p>
        </p:txBody>
      </p:sp>
      <p:graphicFrame>
        <p:nvGraphicFramePr>
          <p:cNvPr id="14" name="Chart 13"/>
          <p:cNvGraphicFramePr/>
          <p:nvPr/>
        </p:nvGraphicFramePr>
        <p:xfrm>
          <a:off x="76200" y="0"/>
          <a:ext cx="90678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62444" y="4114800"/>
            <a:ext cx="1478282" cy="115170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Round 1: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2 reviews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80063" y="4114800"/>
            <a:ext cx="1410788" cy="115170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Round 2: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1-2 more reviews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30188" y="4114800"/>
            <a:ext cx="1319349" cy="115170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Round 3:</a:t>
            </a:r>
          </a:p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1-2 more reviews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25738" y="4116977"/>
            <a:ext cx="1478279" cy="114953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Online discussion, more reviews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91103" y="4116977"/>
            <a:ext cx="1419497" cy="1149531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PC Meeting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1663" y="4114800"/>
            <a:ext cx="751115" cy="1151708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</a:rPr>
              <a:t>Deadline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8" name="Content Placeholder 3" descr="IMG_4845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l="5741" t="22879" r="25948" b="27785"/>
          <a:stretch>
            <a:fillRect/>
          </a:stretch>
        </p:blipFill>
        <p:spPr>
          <a:xfrm>
            <a:off x="5181600" y="685800"/>
            <a:ext cx="3798277" cy="1828800"/>
          </a:xfrm>
        </p:spPr>
      </p:pic>
      <p:sp>
        <p:nvSpPr>
          <p:cNvPr id="20" name="TextBox 19"/>
          <p:cNvSpPr txBox="1"/>
          <p:nvPr/>
        </p:nvSpPr>
        <p:spPr>
          <a:xfrm>
            <a:off x="2057400" y="152400"/>
            <a:ext cx="69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SoK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7206342" y="5418909"/>
            <a:ext cx="1380309" cy="411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26-27 Jan</a:t>
            </a:r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7086600" y="2133600"/>
            <a:ext cx="1887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Charlottesville, VA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35332" y="5353594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Dec</a:t>
            </a:r>
            <a:r>
              <a:rPr lang="en-US" sz="2000" dirty="0" smtClean="0"/>
              <a:t> </a:t>
            </a:r>
            <a:r>
              <a:rPr lang="en-US" sz="2000" dirty="0" smtClean="0"/>
              <a:t>18</a:t>
            </a:r>
            <a:endParaRPr lang="en-US" sz="2000" dirty="0"/>
          </a:p>
        </p:txBody>
      </p:sp>
      <p:sp>
        <p:nvSpPr>
          <p:cNvPr id="27" name="TextBox 26"/>
          <p:cNvSpPr txBox="1"/>
          <p:nvPr/>
        </p:nvSpPr>
        <p:spPr>
          <a:xfrm>
            <a:off x="3522617" y="5353594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Jan 11</a:t>
            </a:r>
            <a:endParaRPr lang="en-US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4948645" y="5318760"/>
            <a:ext cx="841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Jan 23</a:t>
            </a:r>
            <a:endParaRPr lang="en-US" sz="2000" dirty="0"/>
          </a:p>
        </p:txBody>
      </p:sp>
      <p:cxnSp>
        <p:nvCxnSpPr>
          <p:cNvPr id="37" name="Curved Connector 36"/>
          <p:cNvCxnSpPr/>
          <p:nvPr/>
        </p:nvCxnSpPr>
        <p:spPr>
          <a:xfrm rot="10800000" flipV="1">
            <a:off x="5562600" y="1066798"/>
            <a:ext cx="1447802" cy="83820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arrow"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743200" y="5867400"/>
            <a:ext cx="36931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Review Process</a:t>
            </a:r>
            <a:endParaRPr lang="en-US" sz="4400" dirty="0"/>
          </a:p>
        </p:txBody>
      </p:sp>
      <p:sp>
        <p:nvSpPr>
          <p:cNvPr id="44" name="Rectangle 43"/>
          <p:cNvSpPr/>
          <p:nvPr/>
        </p:nvSpPr>
        <p:spPr>
          <a:xfrm>
            <a:off x="7086600" y="838200"/>
            <a:ext cx="1267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PC Meeting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-1447800" y="0"/>
          <a:ext cx="108204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4343400" y="2057400"/>
          <a:ext cx="59436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52400" y="1143000"/>
          <a:ext cx="92202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Accepted Research Papers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569344" y="167193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3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 smtClean="0"/>
              <a:t>Papers by Country</a:t>
            </a:r>
            <a:endParaRPr lang="en-US" sz="2700" dirty="0"/>
          </a:p>
        </p:txBody>
      </p:sp>
      <p:graphicFrame>
        <p:nvGraphicFramePr>
          <p:cNvPr id="7" name="Chart 6"/>
          <p:cNvGraphicFramePr/>
          <p:nvPr/>
        </p:nvGraphicFramePr>
        <p:xfrm>
          <a:off x="304800" y="990600"/>
          <a:ext cx="8839200" cy="556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19201" y="23622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Number of submissions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95400" y="1524000"/>
            <a:ext cx="32761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</a:rPr>
              <a:t># accepted </a:t>
            </a:r>
            <a:r>
              <a:rPr lang="en-US" dirty="0" smtClean="0">
                <a:solidFill>
                  <a:srgbClr val="00B050"/>
                </a:solidFill>
                <a:sym typeface="Symbol"/>
              </a:rPr>
              <a:t> 1/(acceptance rate)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47800" y="944562"/>
            <a:ext cx="64452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counting each contact author / number of authors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hart 11"/>
          <p:cNvGraphicFramePr/>
          <p:nvPr/>
        </p:nvGraphicFramePr>
        <p:xfrm>
          <a:off x="152400" y="228600"/>
          <a:ext cx="8762999" cy="662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1920240" y="4367348"/>
            <a:ext cx="699516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4419600"/>
            <a:ext cx="8382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hart 9"/>
          <p:cNvGraphicFramePr/>
          <p:nvPr/>
        </p:nvGraphicFramePr>
        <p:xfrm>
          <a:off x="3505200" y="22860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Graphic spid="10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228601" y="119062"/>
          <a:ext cx="8763000" cy="661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0" y="152400"/>
            <a:ext cx="494193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600" dirty="0" smtClean="0"/>
              <a:t>Submits/Accepts by Topic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119742" y="145868"/>
          <a:ext cx="8915400" cy="662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/>
          <p:cNvSpPr/>
          <p:nvPr/>
        </p:nvSpPr>
        <p:spPr>
          <a:xfrm>
            <a:off x="914400" y="3657600"/>
            <a:ext cx="685800" cy="274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1"/>
          <p:cNvSpPr txBox="1"/>
          <p:nvPr/>
        </p:nvSpPr>
        <p:spPr>
          <a:xfrm>
            <a:off x="2286000" y="1219200"/>
            <a:ext cx="60960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Language-based security AND Web security: 100% (3/3)</a:t>
            </a:r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ojan_Head_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99433" y="2133600"/>
            <a:ext cx="3444567" cy="3230364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b="1" dirty="0" smtClean="0"/>
              <a:t>Best Paper Awards</a:t>
            </a:r>
            <a:endParaRPr lang="en-US" b="1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33400" y="2286000"/>
            <a:ext cx="5334000" cy="26670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Paper Awards Committee</a:t>
            </a:r>
          </a:p>
          <a:p>
            <a:pPr>
              <a:spcBef>
                <a:spcPts val="0"/>
              </a:spcBef>
            </a:pPr>
            <a:r>
              <a:rPr lang="en-US" sz="2400" dirty="0" smtClean="0">
                <a:solidFill>
                  <a:schemeClr val="tx1"/>
                </a:solidFill>
              </a:rPr>
              <a:t>David Evans, </a:t>
            </a:r>
            <a:r>
              <a:rPr lang="en-US" sz="2400" i="1" dirty="0" smtClean="0">
                <a:solidFill>
                  <a:schemeClr val="tx1"/>
                </a:solidFill>
              </a:rPr>
              <a:t>University of Virginia</a:t>
            </a:r>
          </a:p>
          <a:p>
            <a:pPr>
              <a:spcBef>
                <a:spcPts val="0"/>
              </a:spcBef>
            </a:pPr>
            <a:r>
              <a:rPr lang="en-US" sz="2400" dirty="0" err="1" smtClean="0">
                <a:solidFill>
                  <a:schemeClr val="tx1"/>
                </a:solidFill>
              </a:rPr>
              <a:t>Somesh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Jha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i="1" dirty="0" smtClean="0">
                <a:solidFill>
                  <a:schemeClr val="tx1"/>
                </a:solidFill>
              </a:rPr>
              <a:t>University of Wisconsin </a:t>
            </a:r>
          </a:p>
          <a:p>
            <a:pPr>
              <a:spcBef>
                <a:spcPts val="0"/>
              </a:spcBef>
            </a:pPr>
            <a:r>
              <a:rPr lang="en-US" sz="2400" dirty="0" err="1" smtClean="0">
                <a:solidFill>
                  <a:schemeClr val="tx1"/>
                </a:solidFill>
              </a:rPr>
              <a:t>Yoshi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Kohno*, </a:t>
            </a:r>
            <a:r>
              <a:rPr lang="en-US" sz="2400" i="1" dirty="0" smtClean="0">
                <a:solidFill>
                  <a:schemeClr val="tx1"/>
                </a:solidFill>
              </a:rPr>
              <a:t>University of Washington  </a:t>
            </a:r>
          </a:p>
          <a:p>
            <a:pPr>
              <a:spcBef>
                <a:spcPts val="0"/>
              </a:spcBef>
            </a:pPr>
            <a:r>
              <a:rPr lang="en-US" sz="2400" dirty="0" smtClean="0">
                <a:solidFill>
                  <a:schemeClr val="tx1"/>
                </a:solidFill>
              </a:rPr>
              <a:t>Mike Reiter, </a:t>
            </a:r>
            <a:r>
              <a:rPr lang="en-US" sz="2400" i="1" dirty="0" smtClean="0">
                <a:solidFill>
                  <a:schemeClr val="tx1"/>
                </a:solidFill>
              </a:rPr>
              <a:t>University of North Carolina</a:t>
            </a:r>
          </a:p>
          <a:p>
            <a:pPr>
              <a:spcBef>
                <a:spcPts val="0"/>
              </a:spcBef>
            </a:pPr>
            <a:r>
              <a:rPr lang="en-US" sz="2400" dirty="0" smtClean="0">
                <a:solidFill>
                  <a:schemeClr val="tx1"/>
                </a:solidFill>
              </a:rPr>
              <a:t>Giovanni </a:t>
            </a:r>
            <a:r>
              <a:rPr lang="en-US" sz="2400" dirty="0" err="1" smtClean="0">
                <a:solidFill>
                  <a:schemeClr val="tx1"/>
                </a:solidFill>
              </a:rPr>
              <a:t>Vigna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i="1" dirty="0" smtClean="0">
                <a:solidFill>
                  <a:schemeClr val="tx1"/>
                </a:solidFill>
              </a:rPr>
              <a:t>UC Santa Barbara</a:t>
            </a:r>
            <a:endParaRPr lang="en-US" sz="2400" i="1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76800" y="6019800"/>
            <a:ext cx="3575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 Not for Best Practical Paper Award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1143000"/>
          </a:xfrm>
        </p:spPr>
        <p:txBody>
          <a:bodyPr/>
          <a:lstStyle/>
          <a:p>
            <a:r>
              <a:rPr lang="en-US" b="1" dirty="0" smtClean="0"/>
              <a:t>Best Practical Paper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1295400" y="2895600"/>
            <a:ext cx="6477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Presented by </a:t>
            </a:r>
            <a:r>
              <a:rPr lang="en-US" sz="3200" i="1" dirty="0" smtClean="0"/>
              <a:t>IEEE Security &amp; Privacy Magazine</a:t>
            </a:r>
            <a:r>
              <a:rPr lang="en-US" sz="3200" dirty="0" smtClean="0"/>
              <a:t> to the “paper most likely to immediately improve the security of current environments and systems.”</a:t>
            </a:r>
            <a:endParaRPr 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81252" cy="105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5400"/>
            <a:ext cx="8229600" cy="1143000"/>
          </a:xfrm>
        </p:spPr>
        <p:txBody>
          <a:bodyPr/>
          <a:lstStyle/>
          <a:p>
            <a:r>
              <a:rPr lang="en-US" b="1" dirty="0" smtClean="0"/>
              <a:t>Best Practical Paper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81252" cy="105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057400" y="2438400"/>
            <a:ext cx="5105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i="1" dirty="0" smtClean="0"/>
              <a:t>Chip and PIN is Broken</a:t>
            </a:r>
          </a:p>
          <a:p>
            <a:r>
              <a:rPr lang="en-US" sz="3200" dirty="0" smtClean="0"/>
              <a:t>Steven J. Murdoch</a:t>
            </a:r>
          </a:p>
          <a:p>
            <a:r>
              <a:rPr lang="en-US" sz="3200" dirty="0" smtClean="0"/>
              <a:t>Saar </a:t>
            </a:r>
            <a:r>
              <a:rPr lang="en-US" sz="3200" dirty="0" err="1" smtClean="0"/>
              <a:t>Drimer</a:t>
            </a:r>
            <a:endParaRPr lang="en-US" sz="3200" dirty="0" smtClean="0"/>
          </a:p>
          <a:p>
            <a:r>
              <a:rPr lang="en-US" sz="3200" dirty="0" smtClean="0"/>
              <a:t>Ross Anderson</a:t>
            </a:r>
          </a:p>
          <a:p>
            <a:r>
              <a:rPr lang="en-US" sz="3200" dirty="0" smtClean="0"/>
              <a:t>Mike Bond </a:t>
            </a:r>
          </a:p>
          <a:p>
            <a:r>
              <a:rPr lang="en-US" sz="3200" dirty="0" smtClean="0"/>
              <a:t>	</a:t>
            </a:r>
            <a:r>
              <a:rPr lang="en-US" sz="3200" i="1" dirty="0" smtClean="0"/>
              <a:t>University of Cambridge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Best Student Paper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1828800"/>
            <a:ext cx="7315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err="1" smtClean="0"/>
              <a:t>TaintScope</a:t>
            </a:r>
            <a:r>
              <a:rPr lang="en-US" sz="3200" b="1" i="1" dirty="0" smtClean="0"/>
              <a:t>: A Checksum-Aware Directed </a:t>
            </a:r>
            <a:r>
              <a:rPr lang="en-US" sz="3200" b="1" i="1" dirty="0" err="1" smtClean="0"/>
              <a:t>Fuzzing</a:t>
            </a:r>
            <a:r>
              <a:rPr lang="en-US" sz="3200" b="1" i="1" dirty="0" smtClean="0"/>
              <a:t> Tool for Automatic Software Vulnerability Detection</a:t>
            </a:r>
          </a:p>
          <a:p>
            <a:r>
              <a:rPr lang="en-US" sz="3200" dirty="0" err="1" smtClean="0"/>
              <a:t>Tielei</a:t>
            </a:r>
            <a:r>
              <a:rPr lang="en-US" sz="3200" dirty="0" smtClean="0"/>
              <a:t> Wang, </a:t>
            </a:r>
            <a:r>
              <a:rPr lang="en-US" sz="3200" i="1" dirty="0" smtClean="0"/>
              <a:t>Peking University</a:t>
            </a:r>
            <a:endParaRPr lang="en-US" sz="3200" dirty="0" smtClean="0"/>
          </a:p>
          <a:p>
            <a:r>
              <a:rPr lang="en-US" sz="3200" dirty="0" smtClean="0"/>
              <a:t>Tao Wei, </a:t>
            </a:r>
            <a:r>
              <a:rPr lang="en-US" sz="3200" i="1" dirty="0" smtClean="0"/>
              <a:t>Peking University</a:t>
            </a:r>
          </a:p>
          <a:p>
            <a:r>
              <a:rPr lang="en-US" sz="3200" dirty="0" err="1" smtClean="0"/>
              <a:t>Guofei</a:t>
            </a:r>
            <a:r>
              <a:rPr lang="en-US" sz="3200" dirty="0" smtClean="0"/>
              <a:t> </a:t>
            </a:r>
            <a:r>
              <a:rPr lang="en-US" sz="3200" dirty="0" err="1" smtClean="0"/>
              <a:t>Gu</a:t>
            </a:r>
            <a:r>
              <a:rPr lang="en-US" sz="3200" dirty="0" smtClean="0"/>
              <a:t>, </a:t>
            </a:r>
            <a:r>
              <a:rPr lang="en-US" sz="3200" i="1" dirty="0" smtClean="0"/>
              <a:t>Texas A &amp; M University</a:t>
            </a:r>
            <a:endParaRPr lang="en-US" sz="3200" dirty="0" smtClean="0"/>
          </a:p>
          <a:p>
            <a:r>
              <a:rPr lang="en-US" sz="3200" dirty="0" smtClean="0"/>
              <a:t>Wei </a:t>
            </a:r>
            <a:r>
              <a:rPr lang="en-US" sz="3200" dirty="0" err="1" smtClean="0"/>
              <a:t>Zou</a:t>
            </a:r>
            <a:r>
              <a:rPr lang="en-US" sz="3200" dirty="0" smtClean="0"/>
              <a:t>, </a:t>
            </a:r>
            <a:r>
              <a:rPr lang="en-US" sz="3200" i="1" dirty="0" smtClean="0"/>
              <a:t>Peking University</a:t>
            </a:r>
            <a:endParaRPr lang="en-US" sz="32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Best Paper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066800" y="1828800"/>
            <a:ext cx="7315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 err="1" smtClean="0"/>
              <a:t>SCiFI</a:t>
            </a:r>
            <a:r>
              <a:rPr lang="en-US" sz="3600" b="1" i="1" dirty="0" smtClean="0"/>
              <a:t> - A System for Secure Face Identification</a:t>
            </a:r>
          </a:p>
          <a:p>
            <a:r>
              <a:rPr lang="en-US" sz="3600" dirty="0" smtClean="0"/>
              <a:t>Margarita </a:t>
            </a:r>
            <a:r>
              <a:rPr lang="en-US" sz="3600" dirty="0" err="1" smtClean="0"/>
              <a:t>Osadchy</a:t>
            </a:r>
            <a:endParaRPr lang="en-US" sz="3600" dirty="0" smtClean="0"/>
          </a:p>
          <a:p>
            <a:r>
              <a:rPr lang="en-US" sz="3600" dirty="0" smtClean="0"/>
              <a:t>Benny </a:t>
            </a:r>
            <a:r>
              <a:rPr lang="en-US" sz="3600" dirty="0" err="1" smtClean="0"/>
              <a:t>Pinkas</a:t>
            </a:r>
            <a:endParaRPr lang="en-US" sz="3600" dirty="0" smtClean="0"/>
          </a:p>
          <a:p>
            <a:r>
              <a:rPr lang="en-US" sz="3600" dirty="0" err="1" smtClean="0"/>
              <a:t>Ayman</a:t>
            </a:r>
            <a:r>
              <a:rPr lang="en-US" sz="3600" dirty="0" smtClean="0"/>
              <a:t> </a:t>
            </a:r>
            <a:r>
              <a:rPr lang="en-US" sz="3600" dirty="0" err="1" smtClean="0"/>
              <a:t>Jarrous</a:t>
            </a:r>
            <a:endParaRPr lang="en-US" sz="3600" dirty="0" smtClean="0"/>
          </a:p>
          <a:p>
            <a:r>
              <a:rPr lang="en-US" sz="3600" dirty="0" smtClean="0"/>
              <a:t>Boaz </a:t>
            </a:r>
            <a:r>
              <a:rPr lang="en-US" sz="3600" dirty="0" err="1" smtClean="0"/>
              <a:t>Moskovich</a:t>
            </a:r>
            <a:r>
              <a:rPr lang="en-US" sz="3600" dirty="0" smtClean="0"/>
              <a:t> </a:t>
            </a:r>
          </a:p>
          <a:p>
            <a:r>
              <a:rPr lang="en-US" sz="3600" i="1" dirty="0" smtClean="0"/>
              <a:t>	</a:t>
            </a:r>
            <a:r>
              <a:rPr lang="en-US" sz="3600" i="1" dirty="0" err="1" smtClean="0"/>
              <a:t>Univesity</a:t>
            </a:r>
            <a:r>
              <a:rPr lang="en-US" sz="3600" i="1" dirty="0" smtClean="0"/>
              <a:t> of Haifa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gazine"/>
          <p:cNvPicPr>
            <a:picLocks noChangeAspect="1" noChangeArrowheads="1"/>
          </p:cNvPicPr>
          <p:nvPr/>
        </p:nvPicPr>
        <p:blipFill>
          <a:blip r:embed="rId2" cstate="print"/>
          <a:srcRect b="75079"/>
          <a:stretch>
            <a:fillRect/>
          </a:stretch>
        </p:blipFill>
        <p:spPr bwMode="auto">
          <a:xfrm>
            <a:off x="0" y="5334000"/>
            <a:ext cx="9144000" cy="154350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3962400" cy="3428999"/>
          </a:xfrm>
        </p:spPr>
        <p:txBody>
          <a:bodyPr numCol="1">
            <a:noAutofit/>
          </a:bodyPr>
          <a:lstStyle/>
          <a:p>
            <a:pPr>
              <a:buNone/>
            </a:pPr>
            <a:r>
              <a:rPr lang="en-US" sz="2800" b="1" dirty="0" smtClean="0"/>
              <a:t>Giovanni </a:t>
            </a:r>
            <a:r>
              <a:rPr lang="en-US" sz="2800" b="1" dirty="0" err="1" smtClean="0"/>
              <a:t>Vigna</a:t>
            </a:r>
            <a:endParaRPr lang="en-US" sz="2800" b="1" dirty="0" smtClean="0"/>
          </a:p>
          <a:p>
            <a:pPr>
              <a:buNone/>
            </a:pPr>
            <a:r>
              <a:rPr lang="en-US" sz="2800" b="1" dirty="0" smtClean="0"/>
              <a:t>Program Committee members</a:t>
            </a:r>
          </a:p>
          <a:p>
            <a:pPr>
              <a:buNone/>
            </a:pPr>
            <a:r>
              <a:rPr lang="en-US" sz="2800" b="1" dirty="0" smtClean="0"/>
              <a:t>External reviewers</a:t>
            </a:r>
          </a:p>
          <a:p>
            <a:pPr>
              <a:buNone/>
            </a:pPr>
            <a:r>
              <a:rPr lang="en-US" sz="2800" b="1" dirty="0" smtClean="0"/>
              <a:t>Authors</a:t>
            </a:r>
          </a:p>
          <a:p>
            <a:pPr marL="742950" lvl="2" indent="-342900">
              <a:spcBef>
                <a:spcPts val="0"/>
              </a:spcBef>
              <a:buNone/>
            </a:pPr>
            <a:endParaRPr lang="en-US" dirty="0" smtClean="0"/>
          </a:p>
          <a:p>
            <a:pPr marL="742950" lvl="2" indent="-342900">
              <a:spcBef>
                <a:spcPts val="0"/>
              </a:spcBef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57600" y="1269861"/>
            <a:ext cx="54864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 smtClean="0"/>
              <a:t>Organizers</a:t>
            </a:r>
          </a:p>
          <a:p>
            <a:pPr>
              <a:buNone/>
            </a:pPr>
            <a:r>
              <a:rPr lang="en-US" sz="2400" b="1" dirty="0" smtClean="0"/>
              <a:t>Ulf </a:t>
            </a:r>
            <a:r>
              <a:rPr lang="en-US" sz="2400" b="1" dirty="0" err="1" smtClean="0"/>
              <a:t>Lindqvist</a:t>
            </a:r>
            <a:r>
              <a:rPr lang="en-US" sz="2400" b="1" dirty="0" smtClean="0"/>
              <a:t> </a:t>
            </a:r>
            <a:r>
              <a:rPr lang="en-US" sz="2400" dirty="0" smtClean="0"/>
              <a:t>(General </a:t>
            </a:r>
            <a:r>
              <a:rPr lang="en-US" sz="2400" dirty="0" smtClean="0"/>
              <a:t>Chair)</a:t>
            </a:r>
          </a:p>
          <a:p>
            <a:pPr>
              <a:buNone/>
            </a:pPr>
            <a:r>
              <a:rPr lang="en-US" sz="2400" b="1" dirty="0" smtClean="0"/>
              <a:t>Deb </a:t>
            </a:r>
            <a:r>
              <a:rPr lang="en-US" sz="2400" b="1" dirty="0" err="1" smtClean="0"/>
              <a:t>Frincke</a:t>
            </a:r>
            <a:r>
              <a:rPr lang="en-US" sz="2400" dirty="0" smtClean="0"/>
              <a:t> (</a:t>
            </a:r>
            <a:r>
              <a:rPr lang="en-US" sz="2400" dirty="0" smtClean="0"/>
              <a:t>Registration)</a:t>
            </a:r>
          </a:p>
          <a:p>
            <a:pPr>
              <a:buNone/>
            </a:pPr>
            <a:r>
              <a:rPr lang="en-US" sz="2400" b="1" dirty="0" smtClean="0"/>
              <a:t>Al </a:t>
            </a:r>
            <a:r>
              <a:rPr lang="en-US" sz="2400" b="1" dirty="0" smtClean="0"/>
              <a:t>Shaffer</a:t>
            </a:r>
            <a:r>
              <a:rPr lang="en-US" sz="2400" dirty="0" smtClean="0"/>
              <a:t> (</a:t>
            </a:r>
            <a:r>
              <a:rPr lang="en-US" sz="2400" dirty="0" smtClean="0"/>
              <a:t>Treasurer)</a:t>
            </a:r>
          </a:p>
          <a:p>
            <a:pPr>
              <a:buNone/>
            </a:pPr>
            <a:r>
              <a:rPr lang="en-US" sz="2400" b="1" dirty="0" smtClean="0"/>
              <a:t>Jenny </a:t>
            </a:r>
            <a:r>
              <a:rPr lang="en-US" sz="2400" b="1" dirty="0" smtClean="0"/>
              <a:t>McNeill</a:t>
            </a:r>
            <a:r>
              <a:rPr lang="en-US" sz="2400" dirty="0" smtClean="0"/>
              <a:t> (Publications </a:t>
            </a:r>
            <a:r>
              <a:rPr lang="en-US" sz="2400" dirty="0" smtClean="0"/>
              <a:t>chair)</a:t>
            </a:r>
          </a:p>
          <a:p>
            <a:pPr>
              <a:buNone/>
            </a:pPr>
            <a:r>
              <a:rPr lang="en-US" sz="2400" b="1" dirty="0" smtClean="0"/>
              <a:t>Carrie </a:t>
            </a:r>
            <a:r>
              <a:rPr lang="en-US" sz="2400" b="1" dirty="0" smtClean="0"/>
              <a:t>Gates</a:t>
            </a:r>
            <a:r>
              <a:rPr lang="en-US" sz="2400" dirty="0" smtClean="0"/>
              <a:t> (Poster and workshops </a:t>
            </a:r>
            <a:r>
              <a:rPr lang="en-US" sz="2400" dirty="0" smtClean="0"/>
              <a:t>chair)</a:t>
            </a:r>
          </a:p>
          <a:p>
            <a:pPr>
              <a:buNone/>
            </a:pPr>
            <a:r>
              <a:rPr lang="en-US" sz="2400" b="1" dirty="0" smtClean="0"/>
              <a:t>Adrienne </a:t>
            </a:r>
            <a:r>
              <a:rPr lang="en-US" sz="2400" b="1" dirty="0" smtClean="0"/>
              <a:t>Felt</a:t>
            </a:r>
            <a:r>
              <a:rPr lang="en-US" sz="2400" dirty="0" smtClean="0"/>
              <a:t> (Web/design </a:t>
            </a:r>
            <a:r>
              <a:rPr lang="en-US" sz="2400" dirty="0" smtClean="0"/>
              <a:t>chair)</a:t>
            </a:r>
          </a:p>
          <a:p>
            <a:pPr>
              <a:buNone/>
            </a:pPr>
            <a:r>
              <a:rPr lang="en-US" sz="2400" b="1" dirty="0" err="1" smtClean="0"/>
              <a:t>Angelos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Stavrou</a:t>
            </a:r>
            <a:r>
              <a:rPr lang="en-US" sz="2400" b="1" dirty="0" smtClean="0"/>
              <a:t> </a:t>
            </a:r>
            <a:r>
              <a:rPr lang="en-US" sz="2400" dirty="0" smtClean="0"/>
              <a:t>(Short talks chair)</a:t>
            </a:r>
            <a:endParaRPr lang="en-US" sz="2400" b="1" dirty="0" smtClean="0"/>
          </a:p>
          <a:p>
            <a:pPr>
              <a:buNone/>
            </a:pPr>
            <a:r>
              <a:rPr lang="en-US" sz="2400" b="1" dirty="0" smtClean="0"/>
              <a:t>Peter </a:t>
            </a:r>
            <a:r>
              <a:rPr lang="en-US" sz="2400" b="1" dirty="0" smtClean="0"/>
              <a:t>Neumann</a:t>
            </a:r>
            <a:r>
              <a:rPr lang="en-US" sz="2400" dirty="0" smtClean="0"/>
              <a:t> (30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Anniversary </a:t>
            </a:r>
            <a:r>
              <a:rPr lang="en-US" sz="2400" dirty="0" smtClean="0"/>
              <a:t>papers)</a:t>
            </a:r>
          </a:p>
          <a:p>
            <a:pPr>
              <a:buNone/>
            </a:pPr>
            <a:r>
              <a:rPr lang="en-US" sz="2400" b="1" dirty="0" smtClean="0"/>
              <a:t>Technical </a:t>
            </a:r>
            <a:r>
              <a:rPr lang="en-US" sz="2400" b="1" dirty="0" smtClean="0"/>
              <a:t>Committee: </a:t>
            </a:r>
            <a:r>
              <a:rPr lang="en-US" sz="2400" b="1" dirty="0" err="1" smtClean="0"/>
              <a:t>Hilarie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Orman</a:t>
            </a:r>
            <a:r>
              <a:rPr lang="en-US" sz="2400" b="1" dirty="0" smtClean="0"/>
              <a:t>, Terry </a:t>
            </a:r>
            <a:r>
              <a:rPr lang="en-US" sz="2400" b="1" dirty="0" err="1" smtClean="0"/>
              <a:t>Benzel</a:t>
            </a:r>
            <a:r>
              <a:rPr lang="en-US" sz="2400" b="1" dirty="0" smtClean="0"/>
              <a:t>, Sven Dietrich, Cynthia Irvine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8153400" cy="6298961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13357</TotalTime>
  <Words>556</Words>
  <Application>Microsoft Office PowerPoint</Application>
  <PresentationFormat>On-screen Show (4:3)</PresentationFormat>
  <Paragraphs>191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Program Chairs’ Report</vt:lpstr>
      <vt:lpstr>Agenda</vt:lpstr>
      <vt:lpstr>Program Committee</vt:lpstr>
      <vt:lpstr>External Reviewers</vt:lpstr>
      <vt:lpstr>Slide 5</vt:lpstr>
      <vt:lpstr>Slide 6</vt:lpstr>
      <vt:lpstr>Accepted Research Papers</vt:lpstr>
      <vt:lpstr>Papers by Country</vt:lpstr>
      <vt:lpstr>Slide 9</vt:lpstr>
      <vt:lpstr>Slide 10</vt:lpstr>
      <vt:lpstr>Slide 11</vt:lpstr>
      <vt:lpstr>Best Paper Awards</vt:lpstr>
      <vt:lpstr>Best Practical Paper</vt:lpstr>
      <vt:lpstr>Best Practical Paper</vt:lpstr>
      <vt:lpstr>Best Student Paper</vt:lpstr>
      <vt:lpstr>Best Paper</vt:lpstr>
      <vt:lpstr>Thanks!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Oakland 2010 Program Committee Meeting</dc:title>
  <dc:creator>David Evans</dc:creator>
  <cp:lastModifiedBy>David Evans</cp:lastModifiedBy>
  <cp:revision>889</cp:revision>
  <dcterms:created xsi:type="dcterms:W3CDTF">2010-01-26T03:53:09Z</dcterms:created>
  <dcterms:modified xsi:type="dcterms:W3CDTF">2010-05-19T14:59:16Z</dcterms:modified>
</cp:coreProperties>
</file>