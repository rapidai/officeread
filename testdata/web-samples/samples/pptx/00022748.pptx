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emf" ContentType="image/x-emf"/>
  <Default Extension="vml" ContentType="application/vnd.openxmlformats-officedocument.vmlDrawing"/>
  <Default Extension="wdp" ContentType="image/vnd.ms-photo"/>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embeddings/oleObject1.bin" ContentType="application/vnd.openxmlformats-officedocument.oleObject"/>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embeddings/oleObject2.bin" ContentType="application/vnd.openxmlformats-officedocument.oleObject"/>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embeddings/oleObject3.bin" ContentType="application/vnd.openxmlformats-officedocument.oleObject"/>
  <Override PartName="/ppt/tags/tag6.xml" ContentType="application/vnd.openxmlformats-officedocument.presentationml.tags+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8.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10" r:id="rId3"/>
    <p:sldId id="347" r:id="rId4"/>
    <p:sldId id="590" r:id="rId5"/>
    <p:sldId id="625" r:id="rId6"/>
    <p:sldId id="636" r:id="rId7"/>
    <p:sldId id="639" r:id="rId8"/>
    <p:sldId id="627" r:id="rId9"/>
    <p:sldId id="628" r:id="rId10"/>
    <p:sldId id="629" r:id="rId11"/>
    <p:sldId id="630" r:id="rId12"/>
    <p:sldId id="631" r:id="rId13"/>
    <p:sldId id="632" r:id="rId14"/>
    <p:sldId id="616" r:id="rId15"/>
    <p:sldId id="622" r:id="rId16"/>
    <p:sldId id="572" r:id="rId17"/>
    <p:sldId id="600" r:id="rId18"/>
    <p:sldId id="621" r:id="rId19"/>
    <p:sldId id="620" r:id="rId20"/>
    <p:sldId id="582" r:id="rId21"/>
    <p:sldId id="637" r:id="rId22"/>
    <p:sldId id="607" r:id="rId23"/>
    <p:sldId id="586" r:id="rId24"/>
    <p:sldId id="529" r:id="rId25"/>
    <p:sldId id="641" r:id="rId26"/>
    <p:sldId id="526" r:id="rId27"/>
    <p:sldId id="642" r:id="rId28"/>
    <p:sldId id="546" r:id="rId29"/>
    <p:sldId id="559" r:id="rId30"/>
    <p:sldId id="533" r:id="rId31"/>
    <p:sldId id="615" r:id="rId32"/>
    <p:sldId id="393" r:id="rId33"/>
    <p:sldId id="561" r:id="rId34"/>
    <p:sldId id="563" r:id="rId35"/>
    <p:sldId id="547" r:id="rId36"/>
    <p:sldId id="618" r:id="rId37"/>
    <p:sldId id="617" r:id="rId38"/>
    <p:sldId id="623"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353" autoAdjust="0"/>
    <p:restoredTop sz="87449" autoAdjust="0"/>
  </p:normalViewPr>
  <p:slideViewPr>
    <p:cSldViewPr>
      <p:cViewPr varScale="1">
        <p:scale>
          <a:sx n="71" d="100"/>
          <a:sy n="71" d="100"/>
        </p:scale>
        <p:origin x="-2232" y="-11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7F273E-4FA4-4E75-80E6-2186E99FDCB7}" type="datetimeFigureOut">
              <a:rPr lang="en-US" smtClean="0"/>
              <a:t>10/25/12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3CD04C-67D7-442D-97C0-FECEAA0E52F5}" type="slidenum">
              <a:rPr lang="en-US" smtClean="0"/>
              <a:t>‹#›</a:t>
            </a:fld>
            <a:endParaRPr lang="en-US"/>
          </a:p>
        </p:txBody>
      </p:sp>
    </p:spTree>
    <p:extLst>
      <p:ext uri="{BB962C8B-B14F-4D97-AF65-F5344CB8AC3E}">
        <p14:creationId xmlns:p14="http://schemas.microsoft.com/office/powerpoint/2010/main" val="3255662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1</a:t>
            </a:fld>
            <a:endParaRPr lang="en-US"/>
          </a:p>
        </p:txBody>
      </p:sp>
    </p:spTree>
    <p:extLst>
      <p:ext uri="{BB962C8B-B14F-4D97-AF65-F5344CB8AC3E}">
        <p14:creationId xmlns:p14="http://schemas.microsoft.com/office/powerpoint/2010/main" val="1609309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Change center picture to something</a:t>
            </a:r>
            <a:r>
              <a:rPr lang="en-US" baseline="0" dirty="0" smtClean="0"/>
              <a:t> else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a:t>
            </a:fld>
            <a:endParaRPr lang="en-US"/>
          </a:p>
        </p:txBody>
      </p:sp>
    </p:spTree>
    <p:extLst>
      <p:ext uri="{BB962C8B-B14F-4D97-AF65-F5344CB8AC3E}">
        <p14:creationId xmlns:p14="http://schemas.microsoft.com/office/powerpoint/2010/main" val="1080894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3</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I mean</a:t>
            </a:r>
            <a:r>
              <a:rPr lang="en-US" baseline="0" dirty="0" smtClean="0"/>
              <a:t> by approximation is there is larger space of potential solutions to a problem, each with differing accuracy versus cost, where cost is in terms of time, or power, or storage.   A developer’s task is often to identify some set of solutions that gives the majority of the accuracy for some given or reasonable amount of time.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4</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 </a:t>
            </a:r>
            <a:r>
              <a:rPr lang="en-US" sz="1600" b="1" dirty="0" smtClean="0"/>
              <a:t>Function Substitution </a:t>
            </a:r>
            <a:r>
              <a:rPr lang="en-US" sz="1200" dirty="0" smtClean="0"/>
              <a:t>(Zhu, </a:t>
            </a:r>
            <a:r>
              <a:rPr lang="en-US" sz="1200" dirty="0" err="1" smtClean="0"/>
              <a:t>Misailovic</a:t>
            </a:r>
            <a:r>
              <a:rPr lang="en-US" sz="1200" dirty="0" smtClean="0"/>
              <a:t>, </a:t>
            </a:r>
            <a:r>
              <a:rPr lang="en-US" sz="1200" dirty="0" err="1" smtClean="0"/>
              <a:t>Klener</a:t>
            </a:r>
            <a:r>
              <a:rPr lang="en-US" sz="1200" dirty="0" smtClean="0"/>
              <a:t>, </a:t>
            </a:r>
            <a:r>
              <a:rPr lang="en-US" sz="1200" dirty="0" err="1" smtClean="0"/>
              <a:t>Rinard</a:t>
            </a:r>
            <a:r>
              <a:rPr lang="en-US" sz="1200" dirty="0" smtClean="0"/>
              <a:t>  POPL ’12) </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smtClean="0"/>
              <a:t>Sampling Reductions </a:t>
            </a:r>
            <a:r>
              <a:rPr lang="en-US" sz="1200" dirty="0" smtClean="0"/>
              <a:t>(Zhu, </a:t>
            </a:r>
            <a:r>
              <a:rPr lang="en-US" sz="1200" dirty="0" err="1" smtClean="0"/>
              <a:t>Misailovic</a:t>
            </a:r>
            <a:r>
              <a:rPr lang="en-US" sz="1200" dirty="0" smtClean="0"/>
              <a:t>, </a:t>
            </a:r>
            <a:r>
              <a:rPr lang="en-US" sz="1200" dirty="0" err="1" smtClean="0"/>
              <a:t>Klener</a:t>
            </a:r>
            <a:r>
              <a:rPr lang="en-US" sz="1200" dirty="0" smtClean="0"/>
              <a:t>, </a:t>
            </a:r>
            <a:r>
              <a:rPr lang="en-US" sz="1200" dirty="0" err="1" smtClean="0"/>
              <a:t>Rinard</a:t>
            </a:r>
            <a:r>
              <a:rPr lang="en-US" sz="1200" dirty="0" smtClean="0"/>
              <a:t>  POPL ’12)</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Tasking</a:t>
            </a:r>
            <a:r>
              <a:rPr lang="en-US" sz="1200" baseline="0" dirty="0" smtClean="0"/>
              <a:t> skipping. Drop tasks that are part of large, distributed computations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Function Substitution. Substitute alternative approximate implementations of a function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Approximate </a:t>
            </a:r>
            <a:r>
              <a:rPr lang="en-US" sz="1200" baseline="0" dirty="0" err="1" smtClean="0"/>
              <a:t>Memoization</a:t>
            </a:r>
            <a:r>
              <a:rPr lang="en-US" sz="1200" baseline="0" dirty="0" smtClean="0"/>
              <a:t>.  Return previously computed answers for inputs that are similar to things that we’ve seen before.</a:t>
            </a:r>
            <a:endParaRPr lang="en-US" sz="1200" dirty="0" smtClean="0"/>
          </a:p>
          <a:p>
            <a:endParaRPr lang="en-US" sz="1200" dirty="0" smtClean="0"/>
          </a:p>
          <a:p>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6</a:t>
            </a:fld>
            <a:endParaRPr lang="en-US"/>
          </a:p>
        </p:txBody>
      </p:sp>
    </p:spTree>
    <p:extLst>
      <p:ext uri="{BB962C8B-B14F-4D97-AF65-F5344CB8AC3E}">
        <p14:creationId xmlns:p14="http://schemas.microsoft.com/office/powerpoint/2010/main" val="3097959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I mean</a:t>
            </a:r>
            <a:r>
              <a:rPr lang="en-US" baseline="0" dirty="0" smtClean="0"/>
              <a:t> by approximation is there is larger space of potential solutions to a problem, each with differing accuracy versus cost, where cost is in terms of time, or power, or storage.   A developer’s task is often to identify some set of solutions that gives the majority of the accuracy for some given or reasonable amount of time.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7</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213CD04C-67D7-442D-97C0-FECEAA0E52F5}" type="slidenum">
              <a:rPr lang="en-US" smtClean="0"/>
              <a:t>14</a:t>
            </a:fld>
            <a:endParaRPr lang="en-US"/>
          </a:p>
        </p:txBody>
      </p:sp>
    </p:spTree>
    <p:extLst>
      <p:ext uri="{BB962C8B-B14F-4D97-AF65-F5344CB8AC3E}">
        <p14:creationId xmlns:p14="http://schemas.microsoft.com/office/powerpoint/2010/main" val="1752658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I mean</a:t>
            </a:r>
            <a:r>
              <a:rPr lang="en-US" baseline="0" dirty="0" smtClean="0"/>
              <a:t> by approximation is there is larger space of potential solutions to a problem, each with differing accuracy versus cost, where cost is in terms of time, or power, or storage.   A developer’s task is often to identify some set of solutions that gives the majority of the accuracy for some given or reasonable amount of time.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15</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16</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Define acceptability better</a:t>
            </a:r>
          </a:p>
        </p:txBody>
      </p:sp>
      <p:sp>
        <p:nvSpPr>
          <p:cNvPr id="4" name="Slide Number Placeholder 3"/>
          <p:cNvSpPr>
            <a:spLocks noGrp="1"/>
          </p:cNvSpPr>
          <p:nvPr>
            <p:ph type="sldNum" sz="quarter" idx="10"/>
          </p:nvPr>
        </p:nvSpPr>
        <p:spPr/>
        <p:txBody>
          <a:bodyPr/>
          <a:lstStyle/>
          <a:p>
            <a:fld id="{213CD04C-67D7-442D-97C0-FECEAA0E52F5}" type="slidenum">
              <a:rPr lang="en-US" smtClean="0"/>
              <a:t>17</a:t>
            </a:fld>
            <a:endParaRPr lang="en-US"/>
          </a:p>
        </p:txBody>
      </p:sp>
    </p:spTree>
    <p:extLst>
      <p:ext uri="{BB962C8B-B14F-4D97-AF65-F5344CB8AC3E}">
        <p14:creationId xmlns:p14="http://schemas.microsoft.com/office/powerpoint/2010/main" val="1831917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a relational program logic opens of a new avenue</a:t>
            </a:r>
            <a:r>
              <a:rPr lang="en-US" baseline="0" dirty="0" smtClean="0"/>
              <a:t> to design and specify a wide range of  relational acceptability properties for relaxed programs. These relate statement constraint the set of acceptable relaxations that may be applied.</a:t>
            </a:r>
          </a:p>
        </p:txBody>
      </p:sp>
      <p:sp>
        <p:nvSpPr>
          <p:cNvPr id="4" name="Slide Number Placeholder 3"/>
          <p:cNvSpPr>
            <a:spLocks noGrp="1"/>
          </p:cNvSpPr>
          <p:nvPr>
            <p:ph type="sldNum" sz="quarter" idx="10"/>
          </p:nvPr>
        </p:nvSpPr>
        <p:spPr/>
        <p:txBody>
          <a:bodyPr/>
          <a:lstStyle/>
          <a:p>
            <a:fld id="{213CD04C-67D7-442D-97C0-FECEAA0E52F5}" type="slidenum">
              <a:rPr lang="en-US" smtClean="0"/>
              <a:t>19</a:t>
            </a:fld>
            <a:endParaRPr lang="en-US"/>
          </a:p>
        </p:txBody>
      </p:sp>
    </p:spTree>
    <p:extLst>
      <p:ext uri="{BB962C8B-B14F-4D97-AF65-F5344CB8AC3E}">
        <p14:creationId xmlns:p14="http://schemas.microsoft.com/office/powerpoint/2010/main" val="428163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TODO: Other</a:t>
            </a:r>
            <a:r>
              <a:rPr lang="en-US" baseline="0" dirty="0" smtClean="0"/>
              <a:t> color for introduced points</a:t>
            </a:r>
          </a:p>
          <a:p>
            <a:r>
              <a:rPr lang="en-US" baseline="0" dirty="0" smtClean="0"/>
              <a:t>TODO: Function Substitution.</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20</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TODO:</a:t>
            </a:r>
            <a:r>
              <a:rPr lang="en-US" baseline="0" dirty="0" smtClean="0"/>
              <a:t> change these colors</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22</a:t>
            </a:fld>
            <a:endParaRPr lang="en-US"/>
          </a:p>
        </p:txBody>
      </p:sp>
    </p:spTree>
    <p:extLst>
      <p:ext uri="{BB962C8B-B14F-4D97-AF65-F5344CB8AC3E}">
        <p14:creationId xmlns:p14="http://schemas.microsoft.com/office/powerpoint/2010/main" val="672111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What I mean</a:t>
            </a:r>
            <a:r>
              <a:rPr lang="en-US" baseline="0" dirty="0" smtClean="0"/>
              <a:t> by approximation is there is larger space of potential solutions to a problem, each with differing accuracy versus cost, where cost is in terms of time, or power, or storage.   A developer’s task is often to identify some set of solutions that gives the majority of the accuracy for some given or reasonable amount of time.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23</a:t>
            </a:fld>
            <a:endParaRPr lang="en-US"/>
          </a:p>
        </p:txBody>
      </p:sp>
    </p:spTree>
    <p:extLst>
      <p:ext uri="{BB962C8B-B14F-4D97-AF65-F5344CB8AC3E}">
        <p14:creationId xmlns:p14="http://schemas.microsoft.com/office/powerpoint/2010/main" val="1804283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do we verify</a:t>
            </a:r>
            <a:r>
              <a:rPr lang="en-US" baseline="0" dirty="0" smtClean="0"/>
              <a:t> properties like these for relaxed programs in general?</a:t>
            </a:r>
            <a:endParaRPr lang="en-US" dirty="0" smtClean="0"/>
          </a:p>
        </p:txBody>
      </p:sp>
      <p:sp>
        <p:nvSpPr>
          <p:cNvPr id="4" name="Slide Number Placeholder 3"/>
          <p:cNvSpPr>
            <a:spLocks noGrp="1"/>
          </p:cNvSpPr>
          <p:nvPr>
            <p:ph type="sldNum" sz="quarter" idx="10"/>
          </p:nvPr>
        </p:nvSpPr>
        <p:spPr/>
        <p:txBody>
          <a:bodyPr/>
          <a:lstStyle/>
          <a:p>
            <a:fld id="{213CD04C-67D7-442D-97C0-FECEAA0E52F5}" type="slidenum">
              <a:rPr lang="en-US" smtClean="0"/>
              <a:t>24</a:t>
            </a:fld>
            <a:endParaRPr lang="en-US"/>
          </a:p>
        </p:txBody>
      </p:sp>
    </p:spTree>
    <p:extLst>
      <p:ext uri="{BB962C8B-B14F-4D97-AF65-F5344CB8AC3E}">
        <p14:creationId xmlns:p14="http://schemas.microsoft.com/office/powerpoint/2010/main" val="1752658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a:t>
            </a:r>
            <a:r>
              <a:rPr lang="en-US" baseline="0" dirty="0" smtClean="0"/>
              <a:t> we can see, it’s entirely possible to verify the program outright.  Let P, Q, and R be properties in first order logic describing states of the program.  The relax statement has the semantics of a non-deterministic assignment</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26</a:t>
            </a:fld>
            <a:endParaRPr lang="en-US"/>
          </a:p>
        </p:txBody>
      </p:sp>
    </p:spTree>
    <p:extLst>
      <p:ext uri="{BB962C8B-B14F-4D97-AF65-F5344CB8AC3E}">
        <p14:creationId xmlns:p14="http://schemas.microsoft.com/office/powerpoint/2010/main" val="2710216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Keep track of relations between original and relaxed program.</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27</a:t>
            </a:fld>
            <a:endParaRPr lang="en-US"/>
          </a:p>
        </p:txBody>
      </p:sp>
    </p:spTree>
    <p:extLst>
      <p:ext uri="{BB962C8B-B14F-4D97-AF65-F5344CB8AC3E}">
        <p14:creationId xmlns:p14="http://schemas.microsoft.com/office/powerpoint/2010/main" val="2113462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FOCUS:</a:t>
            </a:r>
            <a:r>
              <a:rPr lang="en-US" baseline="0" dirty="0" smtClean="0"/>
              <a:t> Don’t need to </a:t>
            </a:r>
            <a:r>
              <a:rPr lang="en-US" baseline="0" dirty="0" err="1" smtClean="0"/>
              <a:t>restablish</a:t>
            </a:r>
            <a:r>
              <a:rPr lang="en-US" baseline="0" dirty="0" smtClean="0"/>
              <a:t> S(y).</a:t>
            </a:r>
            <a:endParaRPr lang="en-US" dirty="0" smtClean="0"/>
          </a:p>
          <a:p>
            <a:endParaRPr lang="en-US" dirty="0" smtClean="0"/>
          </a:p>
          <a:p>
            <a:endParaRPr lang="en-US" dirty="0" smtClean="0"/>
          </a:p>
          <a:p>
            <a:endParaRPr lang="en-US" dirty="0" smtClean="0"/>
          </a:p>
          <a:p>
            <a:r>
              <a:rPr lang="en-US" dirty="0" smtClean="0"/>
              <a:t>This is great. Relational reasoning allows us to</a:t>
            </a:r>
            <a:r>
              <a:rPr lang="en-US" baseline="0" dirty="0" smtClean="0"/>
              <a:t> transfer properties we’ve proved of the original program to the relaxed program in cases where we do not interfere.</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28</a:t>
            </a:fld>
            <a:endParaRPr lang="en-US"/>
          </a:p>
        </p:txBody>
      </p:sp>
    </p:spTree>
    <p:extLst>
      <p:ext uri="{BB962C8B-B14F-4D97-AF65-F5344CB8AC3E}">
        <p14:creationId xmlns:p14="http://schemas.microsoft.com/office/powerpoint/2010/main" val="1392593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addresses the key problem.  Address how we can hope to verify large programs, because we can using whatever means necessary to </a:t>
            </a:r>
            <a:r>
              <a:rPr lang="en-US" baseline="0" dirty="0" err="1" smtClean="0"/>
              <a:t>verfy</a:t>
            </a:r>
            <a:endParaRPr lang="en-US" baseline="0" dirty="0" smtClean="0"/>
          </a:p>
        </p:txBody>
      </p:sp>
      <p:sp>
        <p:nvSpPr>
          <p:cNvPr id="4" name="Slide Number Placeholder 3"/>
          <p:cNvSpPr>
            <a:spLocks noGrp="1"/>
          </p:cNvSpPr>
          <p:nvPr>
            <p:ph type="sldNum" sz="quarter" idx="10"/>
          </p:nvPr>
        </p:nvSpPr>
        <p:spPr/>
        <p:txBody>
          <a:bodyPr/>
          <a:lstStyle/>
          <a:p>
            <a:fld id="{213CD04C-67D7-442D-97C0-FECEAA0E52F5}" type="slidenum">
              <a:rPr lang="en-US" smtClean="0"/>
              <a:t>29</a:t>
            </a:fld>
            <a:endParaRPr lang="en-US"/>
          </a:p>
        </p:txBody>
      </p:sp>
    </p:spTree>
    <p:extLst>
      <p:ext uri="{BB962C8B-B14F-4D97-AF65-F5344CB8AC3E}">
        <p14:creationId xmlns:p14="http://schemas.microsoft.com/office/powerpoint/2010/main" val="2509205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We’ve formalized each of these three strategies</a:t>
            </a:r>
          </a:p>
        </p:txBody>
      </p:sp>
      <p:sp>
        <p:nvSpPr>
          <p:cNvPr id="4" name="Slide Number Placeholder 3"/>
          <p:cNvSpPr>
            <a:spLocks noGrp="1"/>
          </p:cNvSpPr>
          <p:nvPr>
            <p:ph type="sldNum" sz="quarter" idx="10"/>
          </p:nvPr>
        </p:nvSpPr>
        <p:spPr/>
        <p:txBody>
          <a:bodyPr/>
          <a:lstStyle/>
          <a:p>
            <a:fld id="{213CD04C-67D7-442D-97C0-FECEAA0E52F5}" type="slidenum">
              <a:rPr lang="en-US" smtClean="0"/>
              <a:t>30</a:t>
            </a:fld>
            <a:endParaRPr lang="en-US"/>
          </a:p>
        </p:txBody>
      </p:sp>
    </p:spTree>
    <p:extLst>
      <p:ext uri="{BB962C8B-B14F-4D97-AF65-F5344CB8AC3E}">
        <p14:creationId xmlns:p14="http://schemas.microsoft.com/office/powerpoint/2010/main" val="17526584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Need to replace this slide. Original caused </a:t>
            </a:r>
            <a:r>
              <a:rPr lang="en-US" dirty="0" err="1" smtClean="0"/>
              <a:t>powerpoint</a:t>
            </a:r>
            <a:r>
              <a:rPr lang="en-US" baseline="0" dirty="0" smtClean="0"/>
              <a:t> to hang.</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33</a:t>
            </a:fld>
            <a:endParaRPr lang="en-US"/>
          </a:p>
        </p:txBody>
      </p:sp>
    </p:spTree>
    <p:extLst>
      <p:ext uri="{BB962C8B-B14F-4D97-AF65-F5344CB8AC3E}">
        <p14:creationId xmlns:p14="http://schemas.microsoft.com/office/powerpoint/2010/main" val="324057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Relaxation</a:t>
            </a:r>
            <a:r>
              <a:rPr lang="en-US" baseline="0" dirty="0" smtClean="0"/>
              <a:t> is a very powerful technique. We can achieve increase performance, reduced power, or dynamic adaption by adding very simple statements to the program.   What we also hope to show in this work is that relational reasoning is the key to unlocking the power of relaxed programs because it allows us to transfer properties that we have established about the original program to the </a:t>
            </a:r>
            <a:r>
              <a:rPr lang="en-US" baseline="0" smtClean="0"/>
              <a:t>relaxed program </a:t>
            </a:r>
            <a:r>
              <a:rPr lang="en-US" baseline="0" dirty="0" smtClean="0"/>
              <a:t>without the need to duplicate all the effort we put into to prove these properties for the original program.</a:t>
            </a:r>
            <a:endParaRPr lang="en-US" dirty="0"/>
          </a:p>
        </p:txBody>
      </p:sp>
      <p:sp>
        <p:nvSpPr>
          <p:cNvPr id="4" name="Slide Number Placeholder 3"/>
          <p:cNvSpPr>
            <a:spLocks noGrp="1"/>
          </p:cNvSpPr>
          <p:nvPr>
            <p:ph type="sldNum" sz="quarter" idx="10"/>
          </p:nvPr>
        </p:nvSpPr>
        <p:spPr/>
        <p:txBody>
          <a:bodyPr/>
          <a:lstStyle/>
          <a:p>
            <a:fld id="{213CD04C-67D7-442D-97C0-FECEAA0E52F5}" type="slidenum">
              <a:rPr lang="en-US" smtClean="0"/>
              <a:t>38</a:t>
            </a:fld>
            <a:endParaRPr lang="en-US"/>
          </a:p>
        </p:txBody>
      </p:sp>
    </p:spTree>
    <p:extLst>
      <p:ext uri="{BB962C8B-B14F-4D97-AF65-F5344CB8AC3E}">
        <p14:creationId xmlns:p14="http://schemas.microsoft.com/office/powerpoint/2010/main" val="1963822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03D060-3309-43A4-8B58-DA5D89D2D532}" type="datetimeFigureOut">
              <a:rPr lang="en-US" smtClean="0"/>
              <a:t>10/25/12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1109167529"/>
      </p:ext>
    </p:extLst>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503D060-3309-43A4-8B58-DA5D89D2D532}" type="datetimeFigureOut">
              <a:rPr lang="en-US" smtClean="0"/>
              <a:t>10/25/12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2694404534"/>
      </p:ext>
    </p:extLst>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03D060-3309-43A4-8B58-DA5D89D2D532}" type="datetimeFigureOut">
              <a:rPr lang="en-US" smtClean="0"/>
              <a:t>10/25/12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887911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03D060-3309-43A4-8B58-DA5D89D2D532}" type="datetimeFigureOut">
              <a:rPr lang="en-US" smtClean="0"/>
              <a:t>10/25/12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1234545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03D060-3309-43A4-8B58-DA5D89D2D532}" type="datetimeFigureOut">
              <a:rPr lang="en-US" smtClean="0"/>
              <a:t>10/25/12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3259964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03D060-3309-43A4-8B58-DA5D89D2D532}" type="datetimeFigureOut">
              <a:rPr lang="en-US" smtClean="0"/>
              <a:t>10/25/12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193140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03D060-3309-43A4-8B58-DA5D89D2D532}" type="datetimeFigureOut">
              <a:rPr lang="en-US" smtClean="0"/>
              <a:t>10/25/12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3726199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03D060-3309-43A4-8B58-DA5D89D2D532}" type="datetimeFigureOut">
              <a:rPr lang="en-US" smtClean="0"/>
              <a:t>10/25/12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3102152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503D060-3309-43A4-8B58-DA5D89D2D532}" type="datetimeFigureOut">
              <a:rPr lang="en-US" smtClean="0"/>
              <a:t>10/25/12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1171487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03D060-3309-43A4-8B58-DA5D89D2D532}" type="datetimeFigureOut">
              <a:rPr lang="en-US" smtClean="0"/>
              <a:t>10/25/12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1210931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03D060-3309-43A4-8B58-DA5D89D2D532}" type="datetimeFigureOut">
              <a:rPr lang="en-US" smtClean="0"/>
              <a:t>10/25/12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10C44E-8142-4116-9791-4C3EE701A6E0}" type="slidenum">
              <a:rPr lang="en-US" smtClean="0"/>
              <a:t>‹#›</a:t>
            </a:fld>
            <a:endParaRPr lang="en-US"/>
          </a:p>
        </p:txBody>
      </p:sp>
    </p:spTree>
    <p:extLst>
      <p:ext uri="{BB962C8B-B14F-4D97-AF65-F5344CB8AC3E}">
        <p14:creationId xmlns:p14="http://schemas.microsoft.com/office/powerpoint/2010/main" val="3902619870"/>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03D060-3309-43A4-8B58-DA5D89D2D532}" type="datetimeFigureOut">
              <a:rPr lang="en-US" smtClean="0"/>
              <a:t>10/25/12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10C44E-8142-4116-9791-4C3EE701A6E0}" type="slidenum">
              <a:rPr lang="en-US" smtClean="0"/>
              <a:t>‹#›</a:t>
            </a:fld>
            <a:endParaRPr lang="en-US"/>
          </a:p>
        </p:txBody>
      </p:sp>
    </p:spTree>
    <p:extLst>
      <p:ext uri="{BB962C8B-B14F-4D97-AF65-F5344CB8AC3E}">
        <p14:creationId xmlns:p14="http://schemas.microsoft.com/office/powerpoint/2010/main" val="3960042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xmlns:p14="http://schemas.microsoft.com/office/powerpoint/2010/main" id="1" dur="indefinite" restart="never" nodeType="tmRoot"/>
      </p:par>
    </p:tnLst>
  </p:timing>
  <p:txStyles>
    <p:titleStyle>
      <a:lvl1pPr algn="ctr" defTabSz="914400" rtl="0" eaLnBrk="1" latinLnBrk="0" hangingPunct="1">
        <a:spcBef>
          <a:spcPct val="0"/>
        </a:spcBef>
        <a:buNone/>
        <a:defRPr sz="4400" b="1" kern="1200">
          <a:solidFill>
            <a:schemeClr val="tx1"/>
          </a:solidFill>
          <a:latin typeface="Calibri" pitchFamily="34" charset="0"/>
          <a:ea typeface="+mj-ea"/>
          <a:cs typeface="Calibri"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Calibri" pitchFamily="34" charset="0"/>
          <a:ea typeface="+mn-ea"/>
          <a:cs typeface="Calibri"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Calibri" pitchFamily="34" charset="0"/>
          <a:ea typeface="+mn-ea"/>
          <a:cs typeface="Calibri"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Calibri" pitchFamily="34" charset="0"/>
          <a:ea typeface="+mn-ea"/>
          <a:cs typeface="Calibri"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alibri" pitchFamily="34" charset="0"/>
          <a:ea typeface="+mn-ea"/>
          <a:cs typeface="Calibri"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alibri" pitchFamily="34" charset="0"/>
          <a:ea typeface="+mn-ea"/>
          <a:cs typeface="Calibr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jpeg"/><Relationship Id="rId6" Type="http://schemas.openxmlformats.org/officeDocument/2006/relationships/image" Target="../media/image3.gif"/><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4" Type="http://schemas.microsoft.com/office/2007/relationships/hdphoto" Target="../media/hdphoto2.wdp"/><Relationship Id="rId5" Type="http://schemas.openxmlformats.org/officeDocument/2006/relationships/image" Target="../media/image5.jpe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6.e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4" Type="http://schemas.openxmlformats.org/officeDocument/2006/relationships/image" Target="../media/image7.png"/><Relationship Id="rId1" Type="http://schemas.openxmlformats.org/officeDocument/2006/relationships/tags" Target="../tags/tag4.xml"/><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8.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4" Type="http://schemas.openxmlformats.org/officeDocument/2006/relationships/oleObject" Target="../embeddings/oleObject3.bin"/><Relationship Id="rId5" Type="http://schemas.openxmlformats.org/officeDocument/2006/relationships/image" Target="../media/image9.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emf"/></Relationships>
</file>

<file path=ppt/slides/_rels/slide32.xml.rels><?xml version="1.0" encoding="UTF-8" standalone="yes"?>
<Relationships xmlns="http://schemas.openxmlformats.org/package/2006/relationships"><Relationship Id="rId3" Type="http://schemas.openxmlformats.org/officeDocument/2006/relationships/image" Target="../media/image12.emf"/><Relationship Id="rId4" Type="http://schemas.openxmlformats.org/officeDocument/2006/relationships/image" Target="../media/image13.emf"/><Relationship Id="rId1" Type="http://schemas.openxmlformats.org/officeDocument/2006/relationships/slideLayout" Target="../slideLayouts/slideLayout2.xml"/><Relationship Id="rId2" Type="http://schemas.openxmlformats.org/officeDocument/2006/relationships/image" Target="../media/image11.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22.png"/><Relationship Id="rId1" Type="http://schemas.openxmlformats.org/officeDocument/2006/relationships/tags" Target="../tags/tag8.xml"/><Relationship Id="rId2"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Proving Acceptability Properties of Relaxed Nondeterministic Approximate Programs</a:t>
            </a:r>
            <a:endParaRPr lang="en-US" dirty="0"/>
          </a:p>
        </p:txBody>
      </p:sp>
      <p:sp>
        <p:nvSpPr>
          <p:cNvPr id="3" name="Subtitle 2"/>
          <p:cNvSpPr>
            <a:spLocks noGrp="1"/>
          </p:cNvSpPr>
          <p:nvPr>
            <p:ph type="subTitle" idx="1"/>
          </p:nvPr>
        </p:nvSpPr>
        <p:spPr>
          <a:xfrm>
            <a:off x="1371600" y="4724400"/>
            <a:ext cx="6400800" cy="1752600"/>
          </a:xfrm>
        </p:spPr>
        <p:txBody>
          <a:bodyPr>
            <a:normAutofit fontScale="92500" lnSpcReduction="20000"/>
          </a:bodyPr>
          <a:lstStyle/>
          <a:p>
            <a:r>
              <a:rPr lang="en-US" dirty="0" smtClean="0">
                <a:solidFill>
                  <a:schemeClr val="tx1"/>
                </a:solidFill>
              </a:rPr>
              <a:t>Michael Carbin</a:t>
            </a:r>
          </a:p>
          <a:p>
            <a:endParaRPr lang="en-US" dirty="0" smtClean="0">
              <a:solidFill>
                <a:schemeClr val="tx1"/>
              </a:solidFill>
            </a:endParaRPr>
          </a:p>
          <a:p>
            <a:r>
              <a:rPr lang="en-US" dirty="0" err="1" smtClean="0">
                <a:solidFill>
                  <a:schemeClr val="tx1"/>
                </a:solidFill>
              </a:rPr>
              <a:t>Deokhwan</a:t>
            </a:r>
            <a:r>
              <a:rPr lang="en-US" dirty="0" smtClean="0">
                <a:solidFill>
                  <a:schemeClr val="tx1"/>
                </a:solidFill>
              </a:rPr>
              <a:t> Kim, </a:t>
            </a:r>
            <a:r>
              <a:rPr lang="en-US" dirty="0" err="1" smtClean="0">
                <a:solidFill>
                  <a:schemeClr val="tx1"/>
                </a:solidFill>
              </a:rPr>
              <a:t>Sasa</a:t>
            </a:r>
            <a:r>
              <a:rPr lang="en-US" dirty="0" smtClean="0">
                <a:solidFill>
                  <a:schemeClr val="tx1"/>
                </a:solidFill>
              </a:rPr>
              <a:t> </a:t>
            </a:r>
            <a:r>
              <a:rPr lang="en-US" dirty="0" err="1" smtClean="0">
                <a:solidFill>
                  <a:schemeClr val="tx1"/>
                </a:solidFill>
              </a:rPr>
              <a:t>Misailovic</a:t>
            </a:r>
            <a:r>
              <a:rPr lang="en-US" dirty="0" smtClean="0">
                <a:solidFill>
                  <a:schemeClr val="tx1"/>
                </a:solidFill>
              </a:rPr>
              <a:t>, and Martin C. </a:t>
            </a:r>
            <a:r>
              <a:rPr lang="en-US" dirty="0" err="1" smtClean="0">
                <a:solidFill>
                  <a:schemeClr val="tx1"/>
                </a:solidFill>
              </a:rPr>
              <a:t>Rinard</a:t>
            </a:r>
            <a:endParaRPr lang="en-US" dirty="0">
              <a:solidFill>
                <a:schemeClr val="tx1"/>
              </a:solidFill>
            </a:endParaRPr>
          </a:p>
        </p:txBody>
      </p:sp>
    </p:spTree>
    <p:extLst>
      <p:ext uri="{BB962C8B-B14F-4D97-AF65-F5344CB8AC3E}">
        <p14:creationId xmlns:p14="http://schemas.microsoft.com/office/powerpoint/2010/main" val="1114705728"/>
      </p:ext>
    </p:extLst>
  </p:cSld>
  <p:clrMapOvr>
    <a:masterClrMapping/>
  </p:clrMapOvr>
  <mc:AlternateContent xmlns:mc="http://schemas.openxmlformats.org/markup-compatibility/2006" xmlns:p14="http://schemas.microsoft.com/office/powerpoint/2010/main">
    <mc:Choice Requires="p14">
      <p:transition spd="slow" p14:dur="2000" advTm="57220"/>
    </mc:Choice>
    <mc:Fallback xmlns="">
      <p:transition xmlns:p14="http://schemas.microsoft.com/office/powerpoint/2010/main" spd="slow" advTm="57220"/>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lot_svm_nonlinear_1.png"/>
          <p:cNvPicPr>
            <a:picLocks noChangeAspect="1"/>
          </p:cNvPicPr>
          <p:nvPr/>
        </p:nvPicPr>
        <p:blipFill>
          <a:blip r:embed="rId3">
            <a:extLst>
              <a:ext uri="{BEBA8EAE-BF5A-486C-A8C5-ECC9F3942E4B}">
                <a14:imgProps xmlns:a14="http://schemas.microsoft.com/office/drawing/2010/main">
                  <a14:imgLayer r:embed="rId4">
                    <a14:imgEffect>
                      <a14:backgroundRemoval t="10000" b="90000" l="12875" r="90000">
                        <a14:backgroundMark x1="70625" y1="24000" x2="70625" y2="24000"/>
                      </a14:backgroundRemoval>
                    </a14:imgEffect>
                  </a14:imgLayer>
                </a14:imgProps>
              </a:ext>
              <a:ext uri="{28A0092B-C50C-407E-A947-70E740481C1C}">
                <a14:useLocalDpi xmlns:a14="http://schemas.microsoft.com/office/drawing/2010/main" val="0"/>
              </a:ext>
            </a:extLst>
          </a:blip>
          <a:stretch>
            <a:fillRect/>
          </a:stretch>
        </p:blipFill>
        <p:spPr>
          <a:xfrm>
            <a:off x="2819400" y="1371600"/>
            <a:ext cx="4026419" cy="3019814"/>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normAutofit/>
          </a:bodyPr>
          <a:lstStyle/>
          <a:p>
            <a:r>
              <a:rPr lang="en-US" dirty="0" smtClean="0"/>
              <a:t>Approximate Computing</a:t>
            </a:r>
            <a:endParaRPr lang="en-US" dirty="0"/>
          </a:p>
        </p:txBody>
      </p:sp>
      <p:sp>
        <p:nvSpPr>
          <p:cNvPr id="3" name="Content Placeholder 2"/>
          <p:cNvSpPr>
            <a:spLocks noGrp="1"/>
          </p:cNvSpPr>
          <p:nvPr>
            <p:ph idx="1"/>
          </p:nvPr>
        </p:nvSpPr>
        <p:spPr>
          <a:xfrm>
            <a:off x="457200" y="5069870"/>
            <a:ext cx="8229600" cy="1056293"/>
          </a:xfrm>
        </p:spPr>
        <p:txBody>
          <a:bodyPr anchor="ctr" anchorCtr="0">
            <a:normAutofit/>
          </a:bodyPr>
          <a:lstStyle/>
          <a:p>
            <a:pPr marL="0" indent="0" algn="ctr">
              <a:buNone/>
            </a:pPr>
            <a:r>
              <a:rPr lang="en-US" dirty="0" smtClean="0"/>
              <a:t>Media Processing, Machine Learning, Search</a:t>
            </a:r>
          </a:p>
        </p:txBody>
      </p:sp>
      <p:pic>
        <p:nvPicPr>
          <p:cNvPr id="7" name="Picture 5" descr="C:\Users\MICHAE~1\AppData\Local\Temp\VMwareDnD\f1ab6c5b\toybuzz.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0" y="2590800"/>
            <a:ext cx="3124200" cy="174734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descr="C:\Users\MICHAE~1\AppData\Local\Temp\VMwareDnD\39e92442\google-search-new-ui-screenshot-00.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2971800"/>
            <a:ext cx="3289495" cy="1752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239371"/>
      </p:ext>
    </p:extLst>
  </p:cSld>
  <p:clrMapOvr>
    <a:masterClrMapping/>
  </p:clrMapOvr>
  <mc:AlternateContent xmlns:mc="http://schemas.openxmlformats.org/markup-compatibility/2006" xmlns:p14="http://schemas.microsoft.com/office/powerpoint/2010/main">
    <mc:Choice Requires="p14">
      <p:transition spd="slow" p14:dur="2000" advTm="16619"/>
    </mc:Choice>
    <mc:Fallback xmlns="">
      <p:transition xmlns:p14="http://schemas.microsoft.com/office/powerpoint/2010/main" spd="slow" advTm="16619"/>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Solution Space: Accuracy versus Cost</a:t>
            </a:r>
            <a:endParaRPr lang="en-US" dirty="0"/>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537085" y="4885969"/>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8" name="Oval 57"/>
          <p:cNvSpPr/>
          <p:nvPr/>
        </p:nvSpPr>
        <p:spPr>
          <a:xfrm>
            <a:off x="4072953" y="2860650"/>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 name="TextBox 2"/>
          <p:cNvSpPr txBox="1"/>
          <p:nvPr/>
        </p:nvSpPr>
        <p:spPr>
          <a:xfrm>
            <a:off x="6301699" y="3276600"/>
            <a:ext cx="1881595" cy="707886"/>
          </a:xfrm>
          <a:prstGeom prst="rect">
            <a:avLst/>
          </a:prstGeom>
          <a:noFill/>
        </p:spPr>
        <p:txBody>
          <a:bodyPr wrap="none" rtlCol="0">
            <a:spAutoFit/>
          </a:bodyPr>
          <a:lstStyle/>
          <a:p>
            <a:r>
              <a:rPr lang="en-US" sz="2000" dirty="0" smtClean="0"/>
              <a:t>Highly Accurate,</a:t>
            </a:r>
          </a:p>
          <a:p>
            <a:r>
              <a:rPr lang="en-US" sz="2000" dirty="0"/>
              <a:t>Expensive</a:t>
            </a:r>
            <a:endParaRPr lang="en-US" sz="2000" dirty="0" smtClean="0"/>
          </a:p>
        </p:txBody>
      </p:sp>
      <p:sp>
        <p:nvSpPr>
          <p:cNvPr id="33" name="TextBox 32"/>
          <p:cNvSpPr txBox="1"/>
          <p:nvPr/>
        </p:nvSpPr>
        <p:spPr>
          <a:xfrm>
            <a:off x="3505200" y="4343400"/>
            <a:ext cx="1637821" cy="707886"/>
          </a:xfrm>
          <a:prstGeom prst="rect">
            <a:avLst/>
          </a:prstGeom>
          <a:noFill/>
        </p:spPr>
        <p:txBody>
          <a:bodyPr wrap="none" rtlCol="0">
            <a:spAutoFit/>
          </a:bodyPr>
          <a:lstStyle/>
          <a:p>
            <a:r>
              <a:rPr lang="en-US" sz="2000" dirty="0"/>
              <a:t>Less </a:t>
            </a:r>
            <a:r>
              <a:rPr lang="en-US" sz="2000" dirty="0" smtClean="0"/>
              <a:t>accurate,</a:t>
            </a:r>
          </a:p>
          <a:p>
            <a:r>
              <a:rPr lang="en-US" sz="2000" dirty="0" smtClean="0"/>
              <a:t>Inexpensive</a:t>
            </a:r>
          </a:p>
        </p:txBody>
      </p:sp>
      <p:cxnSp>
        <p:nvCxnSpPr>
          <p:cNvPr id="6" name="Straight Arrow Connector 5"/>
          <p:cNvCxnSpPr>
            <a:stCxn id="3" idx="0"/>
            <a:endCxn id="60" idx="2"/>
          </p:cNvCxnSpPr>
          <p:nvPr/>
        </p:nvCxnSpPr>
        <p:spPr>
          <a:xfrm flipV="1">
            <a:off x="7242497" y="2819400"/>
            <a:ext cx="0" cy="4572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6" name="Straight Arrow Connector 35"/>
          <p:cNvCxnSpPr>
            <a:stCxn id="33" idx="1"/>
            <a:endCxn id="57" idx="3"/>
          </p:cNvCxnSpPr>
          <p:nvPr/>
        </p:nvCxnSpPr>
        <p:spPr>
          <a:xfrm flipH="1" flipV="1">
            <a:off x="3131194" y="4696351"/>
            <a:ext cx="374006" cy="992"/>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pic>
        <p:nvPicPr>
          <p:cNvPr id="57" name="Picture 5" descr="C:\Users\MICHAE~1\AppData\Local\Temp\VMwareDnD\f1ab6c5b\toybuzz.jpg"/>
          <p:cNvPicPr>
            <a:picLocks noChangeAspect="1" noChangeArrowheads="1"/>
          </p:cNvPicPr>
          <p:nvPr/>
        </p:nvPicPr>
        <p:blipFill>
          <a:blip r:embed="rId3" cstate="print">
            <a:grayscl/>
            <a:extLst>
              <a:ext uri="{BEBA8EAE-BF5A-486C-A8C5-ECC9F3942E4B}">
                <a14:imgProps xmlns:a14="http://schemas.microsoft.com/office/drawing/2010/main">
                  <a14:imgLayer r:embed="rId4">
                    <a14:imgEffect>
                      <a14:artisticGlass/>
                    </a14:imgEffect>
                  </a14:imgLayer>
                </a14:imgProps>
              </a:ext>
              <a:ext uri="{28A0092B-C50C-407E-A947-70E740481C1C}">
                <a14:useLocalDpi xmlns:a14="http://schemas.microsoft.com/office/drawing/2010/main" val="0"/>
              </a:ext>
            </a:extLst>
          </a:blip>
          <a:srcRect/>
          <a:stretch>
            <a:fillRect/>
          </a:stretch>
        </p:blipFill>
        <p:spPr bwMode="auto">
          <a:xfrm>
            <a:off x="1905000" y="4353451"/>
            <a:ext cx="1226194" cy="685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0" name="Picture 5" descr="C:\Users\MICHAE~1\AppData\Local\Temp\VMwareDnD\f1ab6c5b\toybuzz.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29400" y="2133600"/>
            <a:ext cx="1226194" cy="685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27" name="Oval 26"/>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9" name="Oval 28"/>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0" name="Oval 29"/>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1" name="Oval 30"/>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5409486"/>
      </p:ext>
    </p:extLst>
  </p:cSld>
  <p:clrMapOvr>
    <a:masterClrMapping/>
  </p:clrMapOvr>
  <mc:AlternateContent xmlns:mc="http://schemas.openxmlformats.org/markup-compatibility/2006" xmlns:p14="http://schemas.microsoft.com/office/powerpoint/2010/main">
    <mc:Choice Requires="p14">
      <p:transition spd="slow" p14:dur="2000" advTm="28047"/>
    </mc:Choice>
    <mc:Fallback xmlns="">
      <p:transition xmlns:p14="http://schemas.microsoft.com/office/powerpoint/2010/main" spd="slow" advTm="28047"/>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Standard Program</a:t>
            </a:r>
            <a:endParaRPr lang="en-US" dirty="0"/>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0" name="Oval 39"/>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8" name="Oval 57"/>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4" name="Straight Arrow Connector 3"/>
          <p:cNvCxnSpPr/>
          <p:nvPr/>
        </p:nvCxnSpPr>
        <p:spPr>
          <a:xfrm>
            <a:off x="3787421" y="2456821"/>
            <a:ext cx="257673" cy="33706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8" name="TextBox 17"/>
          <p:cNvSpPr txBox="1"/>
          <p:nvPr/>
        </p:nvSpPr>
        <p:spPr>
          <a:xfrm>
            <a:off x="4319434" y="3709029"/>
            <a:ext cx="3833965" cy="461665"/>
          </a:xfrm>
          <a:prstGeom prst="rect">
            <a:avLst/>
          </a:prstGeom>
          <a:noFill/>
        </p:spPr>
        <p:txBody>
          <a:bodyPr wrap="square" rtlCol="0">
            <a:spAutoFit/>
          </a:bodyPr>
          <a:lstStyle/>
          <a:p>
            <a:pPr marL="0" lvl="1"/>
            <a:r>
              <a:rPr lang="en-US" sz="2400" dirty="0" smtClean="0"/>
              <a:t>One point in tradeoff space</a:t>
            </a:r>
            <a:endParaRPr lang="en-US" sz="2400" dirty="0"/>
          </a:p>
        </p:txBody>
      </p:sp>
      <p:sp>
        <p:nvSpPr>
          <p:cNvPr id="29" name="Oval 28"/>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0" name="Oval 29"/>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1" name="Oval 30"/>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2" name="Oval 31"/>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3464999"/>
      </p:ext>
    </p:extLst>
  </p:cSld>
  <p:clrMapOvr>
    <a:masterClrMapping/>
  </p:clrMapOvr>
  <mc:AlternateContent xmlns:mc="http://schemas.openxmlformats.org/markup-compatibility/2006" xmlns:p14="http://schemas.microsoft.com/office/powerpoint/2010/main">
    <mc:Choice Requires="p14">
      <p:transition spd="slow" p14:dur="2000" advTm="10606"/>
    </mc:Choice>
    <mc:Fallback xmlns="">
      <p:transition xmlns:p14="http://schemas.microsoft.com/office/powerpoint/2010/main" spd="slow" advTm="10606"/>
    </mc:Fallback>
  </mc:AlternateContent>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How Do I Access Other Points in Tradeoff Space?</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7173860"/>
      </p:ext>
    </p:extLst>
  </p:cSld>
  <p:clrMapOvr>
    <a:masterClrMapping/>
  </p:clrMapOvr>
  <mc:AlternateContent xmlns:mc="http://schemas.openxmlformats.org/markup-compatibility/2006" xmlns:p14="http://schemas.microsoft.com/office/powerpoint/2010/main">
    <mc:Choice Requires="p14">
      <p:transition spd="slow" p14:dur="2000" advTm="6693"/>
    </mc:Choice>
    <mc:Fallback xmlns="">
      <p:transition xmlns:p14="http://schemas.microsoft.com/office/powerpoint/2010/main" spd="slow" advTm="6693"/>
    </mc:Fallback>
  </mc:AlternateContent>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Approximate Program Transformations</a:t>
            </a:r>
            <a:endParaRPr lang="en-US" dirty="0"/>
          </a:p>
        </p:txBody>
      </p:sp>
      <p:sp>
        <p:nvSpPr>
          <p:cNvPr id="3" name="Content Placeholder 2"/>
          <p:cNvSpPr>
            <a:spLocks noGrp="1"/>
          </p:cNvSpPr>
          <p:nvPr>
            <p:ph idx="1"/>
          </p:nvPr>
        </p:nvSpPr>
        <p:spPr>
          <a:xfrm>
            <a:off x="228600" y="1676400"/>
            <a:ext cx="8686800" cy="4953000"/>
          </a:xfrm>
        </p:spPr>
        <p:txBody>
          <a:bodyPr anchor="ctr" anchorCtr="0">
            <a:normAutofit/>
          </a:bodyPr>
          <a:lstStyle/>
          <a:p>
            <a:r>
              <a:rPr lang="en-US" sz="2800" b="1" dirty="0" smtClean="0"/>
              <a:t>Task Skipping </a:t>
            </a:r>
            <a:r>
              <a:rPr lang="en-US" sz="1800" dirty="0" smtClean="0"/>
              <a:t>(</a:t>
            </a:r>
            <a:r>
              <a:rPr lang="en-US" sz="1800" dirty="0" err="1" smtClean="0"/>
              <a:t>Rinard</a:t>
            </a:r>
            <a:r>
              <a:rPr lang="en-US" sz="1800" dirty="0" smtClean="0"/>
              <a:t> ICS ‘06) </a:t>
            </a:r>
          </a:p>
          <a:p>
            <a:r>
              <a:rPr lang="en-US" sz="2800" b="1" dirty="0" smtClean="0"/>
              <a:t>Loop Perforation </a:t>
            </a:r>
            <a:r>
              <a:rPr lang="en-US" sz="1800" dirty="0" smtClean="0"/>
              <a:t>(</a:t>
            </a:r>
            <a:r>
              <a:rPr lang="en-US" sz="1800" dirty="0" err="1" smtClean="0"/>
              <a:t>Misailovic</a:t>
            </a:r>
            <a:r>
              <a:rPr lang="en-US" sz="1800" dirty="0" smtClean="0"/>
              <a:t>, Hoffmann, </a:t>
            </a:r>
            <a:r>
              <a:rPr lang="en-US" sz="1800" dirty="0" err="1" smtClean="0"/>
              <a:t>Sidiroglou</a:t>
            </a:r>
            <a:r>
              <a:rPr lang="en-US" sz="1800" dirty="0" smtClean="0"/>
              <a:t>, </a:t>
            </a:r>
            <a:r>
              <a:rPr lang="en-US" sz="1800" dirty="0" err="1" smtClean="0"/>
              <a:t>Rinard</a:t>
            </a:r>
            <a:r>
              <a:rPr lang="en-US" sz="1800" dirty="0" smtClean="0"/>
              <a:t> MIT-TR ’09; ICSE’10</a:t>
            </a:r>
            <a:r>
              <a:rPr lang="en-US" sz="1800" dirty="0"/>
              <a:t>;</a:t>
            </a:r>
            <a:r>
              <a:rPr lang="en-US" sz="1800" dirty="0" smtClean="0"/>
              <a:t> SAS’11; FSE’11</a:t>
            </a:r>
            <a:r>
              <a:rPr lang="en-US" sz="2100" dirty="0" smtClean="0"/>
              <a:t>). </a:t>
            </a:r>
          </a:p>
          <a:p>
            <a:r>
              <a:rPr lang="en-US" sz="2800" b="1" dirty="0" smtClean="0"/>
              <a:t>Dynamic Knobs </a:t>
            </a:r>
            <a:r>
              <a:rPr lang="en-US" sz="1800" dirty="0" smtClean="0"/>
              <a:t>(Hoffmann, </a:t>
            </a:r>
            <a:r>
              <a:rPr lang="en-US" sz="1800" dirty="0" err="1" smtClean="0"/>
              <a:t>Sidiroglou</a:t>
            </a:r>
            <a:r>
              <a:rPr lang="en-US" sz="1800" dirty="0" smtClean="0"/>
              <a:t>, </a:t>
            </a:r>
            <a:r>
              <a:rPr lang="en-US" sz="1800" dirty="0" err="1" smtClean="0"/>
              <a:t>Carbin</a:t>
            </a:r>
            <a:r>
              <a:rPr lang="en-US" sz="1800" dirty="0" smtClean="0"/>
              <a:t>, </a:t>
            </a:r>
            <a:r>
              <a:rPr lang="en-US" sz="1800" dirty="0" err="1" smtClean="0"/>
              <a:t>Misailovic</a:t>
            </a:r>
            <a:r>
              <a:rPr lang="en-US" sz="1800" dirty="0" smtClean="0"/>
              <a:t>, </a:t>
            </a:r>
            <a:r>
              <a:rPr lang="en-US" sz="1800" dirty="0" err="1" smtClean="0"/>
              <a:t>Rinard</a:t>
            </a:r>
            <a:r>
              <a:rPr lang="en-US" sz="1800" dirty="0" smtClean="0"/>
              <a:t>  ASPLOS</a:t>
            </a:r>
            <a:r>
              <a:rPr lang="fr-FR" sz="1800" dirty="0" smtClean="0"/>
              <a:t>’</a:t>
            </a:r>
            <a:r>
              <a:rPr lang="en-US" sz="1800" dirty="0" smtClean="0"/>
              <a:t>11)</a:t>
            </a:r>
          </a:p>
          <a:p>
            <a:r>
              <a:rPr lang="en-US" sz="2800" b="1" dirty="0" smtClean="0"/>
              <a:t>Function Substitution </a:t>
            </a:r>
            <a:r>
              <a:rPr lang="en-US" sz="1800" dirty="0" smtClean="0"/>
              <a:t>(Zhu, </a:t>
            </a:r>
            <a:r>
              <a:rPr lang="en-US" sz="1800" dirty="0" err="1" smtClean="0"/>
              <a:t>Misailovic</a:t>
            </a:r>
            <a:r>
              <a:rPr lang="en-US" sz="1800" dirty="0" smtClean="0"/>
              <a:t>, </a:t>
            </a:r>
            <a:r>
              <a:rPr lang="en-US" sz="1800" dirty="0" err="1" smtClean="0"/>
              <a:t>Kelner</a:t>
            </a:r>
            <a:r>
              <a:rPr lang="en-US" sz="1800" dirty="0" smtClean="0"/>
              <a:t>, </a:t>
            </a:r>
            <a:r>
              <a:rPr lang="en-US" sz="1800" dirty="0" err="1" smtClean="0"/>
              <a:t>Rinard</a:t>
            </a:r>
            <a:r>
              <a:rPr lang="en-US" sz="1800" dirty="0" smtClean="0"/>
              <a:t>  POPL ’12)</a:t>
            </a:r>
            <a:endParaRPr lang="en-US" sz="1800" b="1" dirty="0" smtClean="0"/>
          </a:p>
          <a:p>
            <a:r>
              <a:rPr lang="en-US" sz="2800" b="1" dirty="0" smtClean="0"/>
              <a:t>Approximate Memories </a:t>
            </a:r>
            <a:r>
              <a:rPr lang="en-US" sz="1800" dirty="0" smtClean="0"/>
              <a:t>(</a:t>
            </a:r>
            <a:r>
              <a:rPr lang="en-US" sz="1800" dirty="0" err="1" smtClean="0"/>
              <a:t>Lui</a:t>
            </a:r>
            <a:r>
              <a:rPr lang="en-US" sz="1800" dirty="0" smtClean="0"/>
              <a:t>, </a:t>
            </a:r>
            <a:r>
              <a:rPr lang="en-US" sz="1800" dirty="0" err="1" smtClean="0"/>
              <a:t>Pattabiraman</a:t>
            </a:r>
            <a:r>
              <a:rPr lang="en-US" sz="1800" dirty="0" smtClean="0"/>
              <a:t>, </a:t>
            </a:r>
            <a:r>
              <a:rPr lang="en-US" sz="1800" dirty="0" err="1" smtClean="0"/>
              <a:t>Moscibroda</a:t>
            </a:r>
            <a:r>
              <a:rPr lang="en-US" sz="1800" dirty="0" smtClean="0"/>
              <a:t>, Zorn ASPLOS</a:t>
            </a:r>
            <a:r>
              <a:rPr lang="fr-FR" sz="1800" dirty="0" smtClean="0"/>
              <a:t>’</a:t>
            </a:r>
            <a:r>
              <a:rPr lang="en-US" sz="1800" dirty="0" smtClean="0"/>
              <a:t>11; Sampson, </a:t>
            </a:r>
            <a:r>
              <a:rPr lang="en-US" sz="1800" dirty="0" err="1" smtClean="0"/>
              <a:t>Dietl</a:t>
            </a:r>
            <a:r>
              <a:rPr lang="en-US" sz="1800" dirty="0" smtClean="0"/>
              <a:t>, Fortuna, </a:t>
            </a:r>
            <a:r>
              <a:rPr lang="en-US" sz="1800" dirty="0" err="1" smtClean="0"/>
              <a:t>Gnanapragasam</a:t>
            </a:r>
            <a:r>
              <a:rPr lang="en-US" sz="1800" dirty="0" smtClean="0"/>
              <a:t>, </a:t>
            </a:r>
            <a:r>
              <a:rPr lang="en-US" sz="1800" dirty="0" err="1" smtClean="0"/>
              <a:t>Ceze</a:t>
            </a:r>
            <a:r>
              <a:rPr lang="en-US" sz="1800" dirty="0" smtClean="0"/>
              <a:t>, Grossman PLDI ‘11)</a:t>
            </a:r>
            <a:endParaRPr lang="en-US" sz="1800" dirty="0"/>
          </a:p>
          <a:p>
            <a:r>
              <a:rPr lang="en-US" sz="2800" b="1" dirty="0" smtClean="0"/>
              <a:t>Approximate </a:t>
            </a:r>
            <a:r>
              <a:rPr lang="en-US" sz="2800" b="1" dirty="0" err="1" smtClean="0"/>
              <a:t>Memoization</a:t>
            </a:r>
            <a:r>
              <a:rPr lang="en-US" sz="2800" b="1" dirty="0" smtClean="0"/>
              <a:t> </a:t>
            </a:r>
            <a:r>
              <a:rPr lang="en-US" sz="1800" dirty="0" smtClean="0"/>
              <a:t>(</a:t>
            </a:r>
            <a:r>
              <a:rPr lang="en-US" sz="1800" dirty="0" err="1" smtClean="0"/>
              <a:t>Chaudhuri</a:t>
            </a:r>
            <a:r>
              <a:rPr lang="en-US" sz="1800" dirty="0" smtClean="0"/>
              <a:t>, </a:t>
            </a:r>
            <a:r>
              <a:rPr lang="en-US" sz="1800" dirty="0" err="1" smtClean="0"/>
              <a:t>Gulwani</a:t>
            </a:r>
            <a:r>
              <a:rPr lang="en-US" sz="1800" dirty="0" smtClean="0"/>
              <a:t>, </a:t>
            </a:r>
            <a:r>
              <a:rPr lang="en-US" sz="1800" dirty="0" err="1" smtClean="0"/>
              <a:t>Lublinerman</a:t>
            </a:r>
            <a:r>
              <a:rPr lang="en-US" sz="1800" dirty="0" smtClean="0"/>
              <a:t>, </a:t>
            </a:r>
            <a:r>
              <a:rPr lang="en-US" sz="1800" dirty="0" err="1" smtClean="0"/>
              <a:t>NavidPour</a:t>
            </a:r>
            <a:r>
              <a:rPr lang="en-US" sz="1800" dirty="0" smtClean="0"/>
              <a:t> FSE ’11)</a:t>
            </a:r>
          </a:p>
          <a:p>
            <a:r>
              <a:rPr lang="en-US" sz="2800" b="1" dirty="0" smtClean="0"/>
              <a:t>Statistical Parallelization </a:t>
            </a:r>
            <a:r>
              <a:rPr lang="en-US" sz="1800" dirty="0" smtClean="0"/>
              <a:t>(</a:t>
            </a:r>
            <a:r>
              <a:rPr lang="en-US" sz="1800" dirty="0" err="1" smtClean="0"/>
              <a:t>Misailovic</a:t>
            </a:r>
            <a:r>
              <a:rPr lang="en-US" sz="1800" dirty="0" smtClean="0"/>
              <a:t> , Kim, </a:t>
            </a:r>
            <a:r>
              <a:rPr lang="en-US" sz="1800" dirty="0" err="1" smtClean="0"/>
              <a:t>Rinard</a:t>
            </a:r>
            <a:r>
              <a:rPr lang="en-US" sz="1800" dirty="0" smtClean="0"/>
              <a:t> </a:t>
            </a:r>
            <a:r>
              <a:rPr lang="en-US" sz="1800" dirty="0"/>
              <a:t> MIT-TR ’</a:t>
            </a:r>
            <a:r>
              <a:rPr lang="en-US" sz="1800" dirty="0" smtClean="0"/>
              <a:t>10,’12)</a:t>
            </a:r>
          </a:p>
        </p:txBody>
      </p:sp>
    </p:spTree>
    <p:extLst>
      <p:ext uri="{BB962C8B-B14F-4D97-AF65-F5344CB8AC3E}">
        <p14:creationId xmlns:p14="http://schemas.microsoft.com/office/powerpoint/2010/main" val="1310308224"/>
      </p:ext>
    </p:extLst>
  </p:cSld>
  <p:clrMapOvr>
    <a:masterClrMapping/>
  </p:clrMapOvr>
  <mc:AlternateContent xmlns:mc="http://schemas.openxmlformats.org/markup-compatibility/2006" xmlns:p14="http://schemas.microsoft.com/office/powerpoint/2010/main">
    <mc:Choice Requires="p14">
      <p:transition spd="slow" p14:dur="2000" advTm="56589"/>
    </mc:Choice>
    <mc:Fallback xmlns="">
      <p:transition xmlns:p14="http://schemas.microsoft.com/office/powerpoint/2010/main" spd="slow" advTm="56589"/>
    </mc:Fallback>
  </mc:AlternateContent>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Relaxed Program</a:t>
            </a:r>
            <a:endParaRPr lang="en-US" dirty="0"/>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0" name="Oval 39"/>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cxnSp>
        <p:nvCxnSpPr>
          <p:cNvPr id="4" name="Straight Arrow Connector 3"/>
          <p:cNvCxnSpPr/>
          <p:nvPr/>
        </p:nvCxnSpPr>
        <p:spPr>
          <a:xfrm>
            <a:off x="2920625" y="2844517"/>
            <a:ext cx="257673" cy="33706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Oval 21"/>
          <p:cNvSpPr/>
          <p:nvPr/>
        </p:nvSpPr>
        <p:spPr>
          <a:xfrm rot="19179164">
            <a:off x="2244951" y="3234993"/>
            <a:ext cx="2275677" cy="644767"/>
          </a:xfrm>
          <a:prstGeom prst="ellipse">
            <a:avLst/>
          </a:prstGeom>
          <a:noFill/>
          <a:ln w="57150"/>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0" name="TextBox 29"/>
          <p:cNvSpPr txBox="1"/>
          <p:nvPr/>
        </p:nvSpPr>
        <p:spPr>
          <a:xfrm>
            <a:off x="4319434" y="3709029"/>
            <a:ext cx="4082229" cy="830997"/>
          </a:xfrm>
          <a:prstGeom prst="rect">
            <a:avLst/>
          </a:prstGeom>
          <a:noFill/>
        </p:spPr>
        <p:txBody>
          <a:bodyPr wrap="square" rtlCol="0">
            <a:spAutoFit/>
          </a:bodyPr>
          <a:lstStyle/>
          <a:p>
            <a:pPr marL="0" lvl="1"/>
            <a:r>
              <a:rPr lang="en-US" sz="2400" dirty="0" smtClean="0"/>
              <a:t>Admits executions at multiple points in tradeoff space</a:t>
            </a:r>
            <a:endParaRPr lang="en-US" sz="2400" dirty="0"/>
          </a:p>
        </p:txBody>
      </p:sp>
      <p:sp>
        <p:nvSpPr>
          <p:cNvPr id="31" name="TextBox 30"/>
          <p:cNvSpPr txBox="1"/>
          <p:nvPr/>
        </p:nvSpPr>
        <p:spPr>
          <a:xfrm>
            <a:off x="858270" y="5779532"/>
            <a:ext cx="7543393" cy="461665"/>
          </a:xfrm>
          <a:prstGeom prst="rect">
            <a:avLst/>
          </a:prstGeom>
          <a:noFill/>
        </p:spPr>
        <p:txBody>
          <a:bodyPr wrap="square" rtlCol="0">
            <a:spAutoFit/>
          </a:bodyPr>
          <a:lstStyle/>
          <a:p>
            <a:pPr marL="0" lvl="1"/>
            <a:r>
              <a:rPr lang="en-US" sz="2400" dirty="0" smtClean="0"/>
              <a:t>Relaxed programs can dynamically and automatically adapt</a:t>
            </a:r>
            <a:endParaRPr lang="en-US" sz="2400" dirty="0"/>
          </a:p>
        </p:txBody>
      </p:sp>
      <p:sp>
        <p:nvSpPr>
          <p:cNvPr id="24" name="Oval 23"/>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5" name="Oval 24"/>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Oval 25"/>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7" name="Oval 26"/>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36" name="Oval 35"/>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2971800" y="3505200"/>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8507401"/>
      </p:ext>
    </p:extLst>
  </p:cSld>
  <p:clrMapOvr>
    <a:masterClrMapping/>
  </p:clrMapOvr>
  <mc:AlternateContent xmlns:mc="http://schemas.openxmlformats.org/markup-compatibility/2006" xmlns:p14="http://schemas.microsoft.com/office/powerpoint/2010/main">
    <mc:Choice Requires="p14">
      <p:transition spd="slow" p14:dur="2000" advTm="21854"/>
    </mc:Choice>
    <mc:Fallback xmlns="">
      <p:transition xmlns:p14="http://schemas.microsoft.com/office/powerpoint/2010/main" spd="slow" advTm="21854"/>
    </mc:Fallback>
  </mc:AlternateContent>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74638"/>
            <a:ext cx="8229600" cy="1401762"/>
          </a:xfrm>
        </p:spPr>
        <p:txBody>
          <a:bodyPr>
            <a:normAutofit/>
          </a:bodyPr>
          <a:lstStyle/>
          <a:p>
            <a:pPr eaLnBrk="1" hangingPunct="1"/>
            <a:r>
              <a:rPr lang="en-US" dirty="0" smtClean="0">
                <a:latin typeface="Calibri" charset="0"/>
              </a:rPr>
              <a:t>Loop Perforation</a:t>
            </a:r>
            <a:endParaRPr lang="en-US" dirty="0">
              <a:latin typeface="Calibri" charset="0"/>
            </a:endParaRPr>
          </a:p>
        </p:txBody>
      </p:sp>
      <p:sp>
        <p:nvSpPr>
          <p:cNvPr id="16387" name="Content Placeholder 2"/>
          <p:cNvSpPr>
            <a:spLocks noGrp="1"/>
          </p:cNvSpPr>
          <p:nvPr>
            <p:ph idx="1"/>
          </p:nvPr>
        </p:nvSpPr>
        <p:spPr>
          <a:xfrm>
            <a:off x="457200" y="1828800"/>
            <a:ext cx="8534400" cy="4297363"/>
          </a:xfrm>
        </p:spPr>
        <p:txBody>
          <a:bodyPr/>
          <a:lstStyle/>
          <a:p>
            <a:pPr eaLnBrk="1" hangingPunct="1"/>
            <a:r>
              <a:rPr lang="en-US" dirty="0">
                <a:latin typeface="Calibri" charset="0"/>
              </a:rPr>
              <a:t>Profile </a:t>
            </a:r>
            <a:r>
              <a:rPr lang="en-US" dirty="0" smtClean="0">
                <a:latin typeface="Calibri" charset="0"/>
              </a:rPr>
              <a:t>program, find </a:t>
            </a:r>
            <a:r>
              <a:rPr lang="en-US" dirty="0">
                <a:latin typeface="Calibri" charset="0"/>
              </a:rPr>
              <a:t>loops that take most time</a:t>
            </a:r>
          </a:p>
          <a:p>
            <a:pPr eaLnBrk="1" hangingPunct="1"/>
            <a:r>
              <a:rPr lang="en-US" dirty="0">
                <a:latin typeface="Calibri" charset="0"/>
              </a:rPr>
              <a:t>Perforate the </a:t>
            </a:r>
            <a:r>
              <a:rPr lang="en-US" dirty="0" smtClean="0">
                <a:latin typeface="Calibri" charset="0"/>
              </a:rPr>
              <a:t>loops (skip some iterations)</a:t>
            </a:r>
            <a:endParaRPr lang="en-US" dirty="0">
              <a:latin typeface="Calibri" charset="0"/>
            </a:endParaRPr>
          </a:p>
        </p:txBody>
      </p:sp>
      <p:sp>
        <p:nvSpPr>
          <p:cNvPr id="4" name="TextBox 3"/>
          <p:cNvSpPr txBox="1">
            <a:spLocks noChangeArrowheads="1"/>
          </p:cNvSpPr>
          <p:nvPr/>
        </p:nvSpPr>
        <p:spPr bwMode="auto">
          <a:xfrm>
            <a:off x="457200" y="3276600"/>
            <a:ext cx="60960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600" b="1" dirty="0">
                <a:solidFill>
                  <a:schemeClr val="tx2"/>
                </a:solidFill>
                <a:latin typeface="Consolas"/>
                <a:cs typeface="Consolas"/>
              </a:rPr>
              <a:t>for (</a:t>
            </a:r>
            <a:r>
              <a:rPr lang="en-US" sz="2600" b="1" dirty="0" err="1">
                <a:solidFill>
                  <a:schemeClr val="tx2"/>
                </a:solidFill>
                <a:latin typeface="Consolas"/>
                <a:cs typeface="Consolas"/>
              </a:rPr>
              <a:t>i</a:t>
            </a:r>
            <a:r>
              <a:rPr lang="en-US" sz="2600" b="1" dirty="0">
                <a:solidFill>
                  <a:schemeClr val="tx2"/>
                </a:solidFill>
                <a:latin typeface="Consolas"/>
                <a:cs typeface="Consolas"/>
              </a:rPr>
              <a:t> = 0; </a:t>
            </a:r>
            <a:r>
              <a:rPr lang="en-US" sz="2600" b="1" dirty="0" err="1">
                <a:solidFill>
                  <a:schemeClr val="tx2"/>
                </a:solidFill>
                <a:latin typeface="Consolas"/>
                <a:cs typeface="Consolas"/>
              </a:rPr>
              <a:t>i</a:t>
            </a:r>
            <a:r>
              <a:rPr lang="en-US" sz="2600" b="1" dirty="0">
                <a:solidFill>
                  <a:schemeClr val="tx2"/>
                </a:solidFill>
                <a:latin typeface="Consolas"/>
                <a:cs typeface="Consolas"/>
              </a:rPr>
              <a:t> &lt; n; </a:t>
            </a:r>
            <a:r>
              <a:rPr lang="en-US" sz="2600" b="1" dirty="0" err="1">
                <a:solidFill>
                  <a:schemeClr val="tx2"/>
                </a:solidFill>
                <a:latin typeface="Consolas"/>
                <a:cs typeface="Consolas"/>
              </a:rPr>
              <a:t>i</a:t>
            </a:r>
            <a:r>
              <a:rPr lang="en-US" sz="2600" b="1" dirty="0">
                <a:solidFill>
                  <a:schemeClr val="tx2"/>
                </a:solidFill>
                <a:latin typeface="Consolas"/>
                <a:cs typeface="Consolas"/>
              </a:rPr>
              <a:t>++) { … }</a:t>
            </a:r>
          </a:p>
        </p:txBody>
      </p:sp>
      <p:sp>
        <p:nvSpPr>
          <p:cNvPr id="5" name="TextBox 4"/>
          <p:cNvSpPr txBox="1">
            <a:spLocks noChangeArrowheads="1"/>
          </p:cNvSpPr>
          <p:nvPr/>
        </p:nvSpPr>
        <p:spPr bwMode="auto">
          <a:xfrm>
            <a:off x="457200" y="4681538"/>
            <a:ext cx="68199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US" sz="2600" b="1" dirty="0" smtClean="0">
                <a:solidFill>
                  <a:schemeClr val="tx2"/>
                </a:solidFill>
                <a:latin typeface="Consolas"/>
                <a:cs typeface="Consolas"/>
              </a:rPr>
              <a:t>relax </a:t>
            </a:r>
            <a:r>
              <a:rPr lang="en-US" sz="2600" b="1" dirty="0">
                <a:solidFill>
                  <a:srgbClr val="FF0000"/>
                </a:solidFill>
                <a:latin typeface="Consolas"/>
                <a:cs typeface="Consolas"/>
              </a:rPr>
              <a:t>s</a:t>
            </a:r>
            <a:r>
              <a:rPr lang="en-US" sz="2600" b="1" dirty="0" smtClean="0">
                <a:solidFill>
                  <a:schemeClr val="tx2"/>
                </a:solidFill>
                <a:latin typeface="Consolas"/>
                <a:cs typeface="Consolas"/>
              </a:rPr>
              <a:t> </a:t>
            </a:r>
            <a:r>
              <a:rPr lang="en-US" sz="2600" b="1" dirty="0" err="1" smtClean="0">
                <a:solidFill>
                  <a:schemeClr val="tx2"/>
                </a:solidFill>
                <a:latin typeface="Consolas"/>
                <a:cs typeface="Consolas"/>
              </a:rPr>
              <a:t>st</a:t>
            </a:r>
            <a:r>
              <a:rPr lang="en-US" sz="2600" b="1" dirty="0" smtClean="0">
                <a:solidFill>
                  <a:schemeClr val="tx2"/>
                </a:solidFill>
                <a:latin typeface="Consolas"/>
                <a:cs typeface="Consolas"/>
              </a:rPr>
              <a:t> (</a:t>
            </a:r>
            <a:r>
              <a:rPr lang="en-US" sz="2600" b="1" dirty="0">
                <a:solidFill>
                  <a:srgbClr val="FF0000"/>
                </a:solidFill>
                <a:latin typeface="Consolas"/>
                <a:cs typeface="Consolas"/>
              </a:rPr>
              <a:t>s</a:t>
            </a:r>
            <a:r>
              <a:rPr lang="en-US" sz="2600" b="1" dirty="0" smtClean="0">
                <a:solidFill>
                  <a:srgbClr val="FF0000"/>
                </a:solidFill>
                <a:latin typeface="Consolas"/>
                <a:cs typeface="Consolas"/>
              </a:rPr>
              <a:t> == 1 </a:t>
            </a:r>
            <a:r>
              <a:rPr lang="en-US" sz="2600" b="1" dirty="0" smtClean="0">
                <a:solidFill>
                  <a:schemeClr val="tx2"/>
                </a:solidFill>
                <a:latin typeface="Consolas"/>
                <a:cs typeface="Consolas"/>
              </a:rPr>
              <a:t>|| </a:t>
            </a:r>
            <a:r>
              <a:rPr lang="en-US" sz="2600" b="1" dirty="0">
                <a:solidFill>
                  <a:srgbClr val="FF0000"/>
                </a:solidFill>
                <a:latin typeface="Consolas"/>
                <a:cs typeface="Consolas"/>
              </a:rPr>
              <a:t>s</a:t>
            </a:r>
            <a:r>
              <a:rPr lang="en-US" sz="2600" b="1" dirty="0" smtClean="0">
                <a:solidFill>
                  <a:srgbClr val="FF0000"/>
                </a:solidFill>
                <a:latin typeface="Consolas"/>
                <a:cs typeface="Consolas"/>
              </a:rPr>
              <a:t> == 2</a:t>
            </a:r>
            <a:r>
              <a:rPr lang="en-US" sz="2600" b="1" dirty="0" smtClean="0">
                <a:solidFill>
                  <a:schemeClr val="tx2"/>
                </a:solidFill>
                <a:latin typeface="Consolas"/>
                <a:cs typeface="Consolas"/>
              </a:rPr>
              <a:t>);</a:t>
            </a:r>
          </a:p>
          <a:p>
            <a:pPr eaLnBrk="1" hangingPunct="1"/>
            <a:r>
              <a:rPr lang="en-US" sz="2600" b="1" dirty="0" smtClean="0">
                <a:solidFill>
                  <a:schemeClr val="tx2"/>
                </a:solidFill>
                <a:latin typeface="Consolas"/>
                <a:cs typeface="Consolas"/>
              </a:rPr>
              <a:t>for </a:t>
            </a:r>
            <a:r>
              <a:rPr lang="en-US" sz="2600" b="1" dirty="0">
                <a:solidFill>
                  <a:schemeClr val="tx2"/>
                </a:solidFill>
                <a:latin typeface="Consolas"/>
                <a:cs typeface="Consolas"/>
              </a:rPr>
              <a:t>(</a:t>
            </a:r>
            <a:r>
              <a:rPr lang="en-US" sz="2600" b="1" dirty="0" err="1">
                <a:solidFill>
                  <a:schemeClr val="tx2"/>
                </a:solidFill>
                <a:latin typeface="Consolas"/>
                <a:cs typeface="Consolas"/>
              </a:rPr>
              <a:t>i</a:t>
            </a:r>
            <a:r>
              <a:rPr lang="en-US" sz="2600" b="1" dirty="0">
                <a:solidFill>
                  <a:schemeClr val="tx2"/>
                </a:solidFill>
                <a:latin typeface="Consolas"/>
                <a:cs typeface="Consolas"/>
              </a:rPr>
              <a:t> = 0; </a:t>
            </a:r>
            <a:r>
              <a:rPr lang="en-US" sz="2600" b="1" dirty="0" err="1">
                <a:solidFill>
                  <a:schemeClr val="tx2"/>
                </a:solidFill>
                <a:latin typeface="Consolas"/>
                <a:cs typeface="Consolas"/>
              </a:rPr>
              <a:t>i</a:t>
            </a:r>
            <a:r>
              <a:rPr lang="en-US" sz="2600" b="1" dirty="0">
                <a:solidFill>
                  <a:schemeClr val="tx2"/>
                </a:solidFill>
                <a:latin typeface="Consolas"/>
                <a:cs typeface="Consolas"/>
              </a:rPr>
              <a:t> &lt; n; </a:t>
            </a:r>
            <a:r>
              <a:rPr lang="en-US" sz="2600" b="1" dirty="0" err="1">
                <a:solidFill>
                  <a:srgbClr val="FF0000"/>
                </a:solidFill>
                <a:latin typeface="Consolas"/>
                <a:cs typeface="Consolas"/>
              </a:rPr>
              <a:t>i</a:t>
            </a:r>
            <a:r>
              <a:rPr lang="en-US" sz="2600" b="1" dirty="0">
                <a:solidFill>
                  <a:srgbClr val="FF0000"/>
                </a:solidFill>
                <a:latin typeface="Consolas"/>
                <a:cs typeface="Consolas"/>
              </a:rPr>
              <a:t> += s</a:t>
            </a:r>
            <a:r>
              <a:rPr lang="en-US" sz="2600" b="1" dirty="0" smtClean="0">
                <a:solidFill>
                  <a:schemeClr val="tx2"/>
                </a:solidFill>
                <a:latin typeface="Consolas"/>
                <a:cs typeface="Consolas"/>
              </a:rPr>
              <a:t>)</a:t>
            </a:r>
            <a:r>
              <a:rPr lang="en-US" sz="2600" b="1" dirty="0" smtClean="0">
                <a:solidFill>
                  <a:srgbClr val="0070C0"/>
                </a:solidFill>
                <a:latin typeface="Consolas"/>
                <a:cs typeface="Consolas"/>
              </a:rPr>
              <a:t> </a:t>
            </a:r>
            <a:r>
              <a:rPr lang="en-US" sz="2600" b="1" dirty="0">
                <a:solidFill>
                  <a:schemeClr val="tx2"/>
                </a:solidFill>
                <a:latin typeface="Consolas"/>
                <a:cs typeface="Consolas"/>
              </a:rPr>
              <a:t>{ … }</a:t>
            </a:r>
          </a:p>
        </p:txBody>
      </p:sp>
      <p:sp>
        <p:nvSpPr>
          <p:cNvPr id="6" name="Down Arrow 5"/>
          <p:cNvSpPr/>
          <p:nvPr/>
        </p:nvSpPr>
        <p:spPr>
          <a:xfrm>
            <a:off x="1943100" y="3962400"/>
            <a:ext cx="609600" cy="619125"/>
          </a:xfrm>
          <a:prstGeom prst="downArrow">
            <a:avLst/>
          </a:prstGeom>
          <a:noFill/>
          <a:ln w="38100">
            <a:solidFill>
              <a:srgbClr val="008000"/>
            </a:solid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extBox 1"/>
          <p:cNvSpPr txBox="1"/>
          <p:nvPr/>
        </p:nvSpPr>
        <p:spPr>
          <a:xfrm>
            <a:off x="5943600" y="3886200"/>
            <a:ext cx="3048000" cy="830997"/>
          </a:xfrm>
          <a:prstGeom prst="rect">
            <a:avLst/>
          </a:prstGeom>
          <a:noFill/>
        </p:spPr>
        <p:txBody>
          <a:bodyPr wrap="square" rtlCol="0">
            <a:spAutoFit/>
          </a:bodyPr>
          <a:lstStyle/>
          <a:p>
            <a:r>
              <a:rPr lang="en-US" sz="2400" dirty="0" err="1" smtClean="0"/>
              <a:t>Nondeterministically</a:t>
            </a:r>
            <a:r>
              <a:rPr lang="en-US" sz="2400" dirty="0" smtClean="0"/>
              <a:t> choose loop increment</a:t>
            </a:r>
            <a:endParaRPr lang="en-US" sz="2400" dirty="0"/>
          </a:p>
        </p:txBody>
      </p:sp>
      <p:sp>
        <p:nvSpPr>
          <p:cNvPr id="8" name="TextBox 7"/>
          <p:cNvSpPr txBox="1"/>
          <p:nvPr/>
        </p:nvSpPr>
        <p:spPr>
          <a:xfrm>
            <a:off x="5943600" y="5715000"/>
            <a:ext cx="2514600" cy="830997"/>
          </a:xfrm>
          <a:prstGeom prst="rect">
            <a:avLst/>
          </a:prstGeom>
          <a:noFill/>
        </p:spPr>
        <p:txBody>
          <a:bodyPr wrap="square" rtlCol="0">
            <a:spAutoFit/>
          </a:bodyPr>
          <a:lstStyle/>
          <a:p>
            <a:r>
              <a:rPr lang="en-US" sz="2400" dirty="0" smtClean="0"/>
              <a:t>Execute subset of loop iterations</a:t>
            </a:r>
            <a:endParaRPr lang="en-US" sz="2400" dirty="0"/>
          </a:p>
        </p:txBody>
      </p:sp>
      <p:cxnSp>
        <p:nvCxnSpPr>
          <p:cNvPr id="11" name="Straight Arrow Connector 10"/>
          <p:cNvCxnSpPr/>
          <p:nvPr/>
        </p:nvCxnSpPr>
        <p:spPr>
          <a:xfrm flipH="1" flipV="1">
            <a:off x="4648200" y="5562600"/>
            <a:ext cx="1295400" cy="415500"/>
          </a:xfrm>
          <a:prstGeom prst="straightConnector1">
            <a:avLst/>
          </a:prstGeom>
          <a:ln w="381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H="1">
            <a:off x="4343400" y="4419600"/>
            <a:ext cx="1600200" cy="304800"/>
          </a:xfrm>
          <a:prstGeom prst="straightConnector1">
            <a:avLst/>
          </a:prstGeom>
          <a:ln w="381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268200803"/>
      </p:ext>
    </p:extLst>
  </p:cSld>
  <p:clrMapOvr>
    <a:masterClrMapping/>
  </p:clrMapOvr>
  <mc:AlternateContent xmlns:mc="http://schemas.openxmlformats.org/markup-compatibility/2006" xmlns:p14="http://schemas.microsoft.com/office/powerpoint/2010/main">
    <mc:Choice Requires="p14">
      <p:transition spd="slow" p14:dur="2000" advTm="40684"/>
    </mc:Choice>
    <mc:Fallback xmlns="">
      <p:transition xmlns:p14="http://schemas.microsoft.com/office/powerpoint/2010/main" spd="slow" advTm="40684"/>
    </mc:Fallback>
  </mc:AlternateContent>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2"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atin typeface="Calibri" charset="0"/>
              </a:rPr>
              <a:t>Common Reaction</a:t>
            </a:r>
          </a:p>
        </p:txBody>
      </p:sp>
      <p:sp>
        <p:nvSpPr>
          <p:cNvPr id="22531" name="Content Placeholder 2"/>
          <p:cNvSpPr>
            <a:spLocks noGrp="1"/>
          </p:cNvSpPr>
          <p:nvPr>
            <p:ph idx="1"/>
          </p:nvPr>
        </p:nvSpPr>
        <p:spPr/>
        <p:txBody>
          <a:bodyPr/>
          <a:lstStyle/>
          <a:p>
            <a:pPr eaLnBrk="1" hangingPunct="1"/>
            <a:r>
              <a:rPr lang="en-US" dirty="0">
                <a:latin typeface="Calibri" charset="0"/>
              </a:rPr>
              <a:t>OK, I agree program should run </a:t>
            </a:r>
            <a:r>
              <a:rPr lang="en-US" dirty="0" smtClean="0">
                <a:latin typeface="Calibri" charset="0"/>
              </a:rPr>
              <a:t>faster</a:t>
            </a:r>
            <a:endParaRPr lang="en-US" dirty="0">
              <a:latin typeface="Calibri" charset="0"/>
            </a:endParaRPr>
          </a:p>
          <a:p>
            <a:pPr eaLnBrk="1" hangingPunct="1"/>
            <a:r>
              <a:rPr lang="en-US" dirty="0">
                <a:latin typeface="Calibri" charset="0"/>
              </a:rPr>
              <a:t>But you can’t do this because you’ll get the wrong result!</a:t>
            </a:r>
          </a:p>
        </p:txBody>
      </p:sp>
    </p:spTree>
    <p:extLst>
      <p:ext uri="{BB962C8B-B14F-4D97-AF65-F5344CB8AC3E}">
        <p14:creationId xmlns:p14="http://schemas.microsoft.com/office/powerpoint/2010/main" val="3989020153"/>
      </p:ext>
    </p:extLst>
  </p:cSld>
  <p:clrMapOvr>
    <a:masterClrMapping/>
  </p:clrMapOvr>
  <mc:AlternateContent xmlns:mc="http://schemas.openxmlformats.org/markup-compatibility/2006" xmlns:p14="http://schemas.microsoft.com/office/powerpoint/2010/main">
    <mc:Choice Requires="p14">
      <p:transition spd="slow" p14:dur="2000" advTm="16648"/>
    </mc:Choice>
    <mc:Fallback xmlns="">
      <p:transition xmlns:p14="http://schemas.microsoft.com/office/powerpoint/2010/main" spd="slow" advTm="16648"/>
    </mc:Fallback>
  </mc:AlternateContent>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atin typeface="Calibri" charset="0"/>
              </a:rPr>
              <a:t>Our Response</a:t>
            </a:r>
          </a:p>
        </p:txBody>
      </p:sp>
      <p:sp>
        <p:nvSpPr>
          <p:cNvPr id="12291" name="Content Placeholder 2"/>
          <p:cNvSpPr>
            <a:spLocks noGrp="1"/>
          </p:cNvSpPr>
          <p:nvPr>
            <p:ph idx="1"/>
          </p:nvPr>
        </p:nvSpPr>
        <p:spPr/>
        <p:txBody>
          <a:bodyPr/>
          <a:lstStyle/>
          <a:p>
            <a:pPr eaLnBrk="1" hangingPunct="1"/>
            <a:r>
              <a:rPr lang="en-US" dirty="0">
                <a:latin typeface="Calibri" charset="0"/>
              </a:rPr>
              <a:t>OK, I agree program should run </a:t>
            </a:r>
            <a:r>
              <a:rPr lang="en-US" dirty="0" smtClean="0">
                <a:latin typeface="Calibri" charset="0"/>
              </a:rPr>
              <a:t>faster</a:t>
            </a:r>
            <a:endParaRPr lang="en-US" dirty="0">
              <a:latin typeface="Calibri" charset="0"/>
            </a:endParaRPr>
          </a:p>
          <a:p>
            <a:pPr eaLnBrk="1" hangingPunct="1"/>
            <a:r>
              <a:rPr lang="en-US" dirty="0">
                <a:latin typeface="Calibri" charset="0"/>
              </a:rPr>
              <a:t>But you can’t do this because you’ll get the wrong result!</a:t>
            </a:r>
          </a:p>
          <a:p>
            <a:pPr eaLnBrk="1" hangingPunct="1"/>
            <a:r>
              <a:rPr lang="en-US" dirty="0">
                <a:latin typeface="Calibri" charset="0"/>
              </a:rPr>
              <a:t>You </a:t>
            </a:r>
            <a:r>
              <a:rPr lang="en-US" dirty="0" smtClean="0">
                <a:latin typeface="Calibri" charset="0"/>
              </a:rPr>
              <a:t>won’</a:t>
            </a:r>
            <a:r>
              <a:rPr lang="en-US" altLang="ja-JP" dirty="0" smtClean="0">
                <a:latin typeface="Calibri" charset="0"/>
              </a:rPr>
              <a:t>t </a:t>
            </a:r>
            <a:r>
              <a:rPr lang="en-US" altLang="ja-JP" dirty="0">
                <a:latin typeface="Calibri" charset="0"/>
              </a:rPr>
              <a:t>get the wrong result 		</a:t>
            </a:r>
            <a:r>
              <a:rPr lang="en-US" altLang="ja-JP" dirty="0" smtClean="0">
                <a:latin typeface="Calibri" charset="0"/>
              </a:rPr>
              <a:t>       </a:t>
            </a:r>
            <a:endParaRPr lang="en-US" altLang="ja-JP" dirty="0">
              <a:latin typeface="Calibri" charset="0"/>
            </a:endParaRPr>
          </a:p>
          <a:p>
            <a:pPr eaLnBrk="1" hangingPunct="1"/>
            <a:r>
              <a:rPr lang="en-US" dirty="0" smtClean="0">
                <a:latin typeface="Calibri" charset="0"/>
              </a:rPr>
              <a:t>You’</a:t>
            </a:r>
            <a:r>
              <a:rPr lang="en-US" altLang="ja-JP" dirty="0" smtClean="0">
                <a:latin typeface="Calibri" charset="0"/>
              </a:rPr>
              <a:t>ll </a:t>
            </a:r>
            <a:r>
              <a:rPr lang="en-US" altLang="ja-JP" dirty="0">
                <a:latin typeface="Calibri" charset="0"/>
              </a:rPr>
              <a:t>get a </a:t>
            </a:r>
            <a:r>
              <a:rPr lang="en-US" altLang="ja-JP" b="1" dirty="0">
                <a:latin typeface="Calibri" charset="0"/>
              </a:rPr>
              <a:t>different</a:t>
            </a:r>
            <a:r>
              <a:rPr lang="en-US" altLang="ja-JP" dirty="0">
                <a:latin typeface="Calibri" charset="0"/>
              </a:rPr>
              <a:t> result</a:t>
            </a:r>
            <a:endParaRPr lang="en-US" dirty="0">
              <a:latin typeface="Calibri" charset="0"/>
            </a:endParaRPr>
          </a:p>
        </p:txBody>
      </p:sp>
      <p:cxnSp>
        <p:nvCxnSpPr>
          <p:cNvPr id="4" name="Straight Connector 3"/>
          <p:cNvCxnSpPr/>
          <p:nvPr/>
        </p:nvCxnSpPr>
        <p:spPr>
          <a:xfrm rot="10800000">
            <a:off x="928688" y="2362200"/>
            <a:ext cx="7072312" cy="762000"/>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a:xfrm rot="10800000" flipV="1">
            <a:off x="928688" y="2362200"/>
            <a:ext cx="7072312" cy="762000"/>
          </a:xfrm>
          <a:prstGeom prst="line">
            <a:avLst/>
          </a:prstGeom>
          <a:ln w="57150">
            <a:solidFill>
              <a:srgbClr val="FF0000"/>
            </a:solidFill>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20583927"/>
      </p:ext>
    </p:extLst>
  </p:cSld>
  <p:clrMapOvr>
    <a:masterClrMapping/>
  </p:clrMapOvr>
  <mc:AlternateContent xmlns:mc="http://schemas.openxmlformats.org/markup-compatibility/2006" xmlns:p14="http://schemas.microsoft.com/office/powerpoint/2010/main">
    <mc:Choice Requires="p14">
      <p:transition spd="slow" p14:dur="2000" advTm="11203"/>
    </mc:Choice>
    <mc:Fallback xmlns="">
      <p:transition xmlns:p14="http://schemas.microsoft.com/office/powerpoint/2010/main" spd="slow" advTm="11203"/>
    </mc:Fallback>
  </mc:AlternateContent>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We Tried It, And It Works!</a:t>
            </a:r>
            <a:br>
              <a:rPr lang="en-US" dirty="0" smtClean="0"/>
            </a:br>
            <a:r>
              <a:rPr lang="en-US" dirty="0" smtClean="0"/>
              <a:t>(ICSE 2010, FSE 2011)</a:t>
            </a:r>
            <a:endParaRPr lang="en-US" dirty="0"/>
          </a:p>
        </p:txBody>
      </p:sp>
      <p:sp>
        <p:nvSpPr>
          <p:cNvPr id="3" name="Content Placeholder 2"/>
          <p:cNvSpPr>
            <a:spLocks noGrp="1"/>
          </p:cNvSpPr>
          <p:nvPr>
            <p:ph sz="half" idx="1"/>
          </p:nvPr>
        </p:nvSpPr>
        <p:spPr/>
        <p:txBody>
          <a:bodyPr>
            <a:normAutofit lnSpcReduction="10000"/>
          </a:bodyPr>
          <a:lstStyle/>
          <a:p>
            <a:pPr marL="0" indent="0" algn="ctr">
              <a:lnSpc>
                <a:spcPct val="90000"/>
              </a:lnSpc>
              <a:buNone/>
              <a:defRPr/>
            </a:pPr>
            <a:r>
              <a:rPr lang="en-US" sz="3200" dirty="0" smtClean="0"/>
              <a:t>Parsec Benchmark Suite</a:t>
            </a:r>
          </a:p>
          <a:p>
            <a:pPr marL="0" indent="0">
              <a:lnSpc>
                <a:spcPct val="90000"/>
              </a:lnSpc>
              <a:buNone/>
              <a:defRPr/>
            </a:pPr>
            <a:r>
              <a:rPr lang="en-US" sz="2000" b="1" dirty="0" smtClean="0">
                <a:solidFill>
                  <a:srgbClr val="FF0000"/>
                </a:solidFill>
              </a:rPr>
              <a:t>x264</a:t>
            </a:r>
            <a:r>
              <a:rPr lang="en-US" sz="2000" dirty="0" smtClean="0"/>
              <a:t> </a:t>
            </a:r>
            <a:r>
              <a:rPr lang="en-US" sz="2000" dirty="0"/>
              <a:t>(H.264 video encoding)</a:t>
            </a:r>
          </a:p>
          <a:p>
            <a:pPr marL="0" indent="0">
              <a:lnSpc>
                <a:spcPct val="90000"/>
              </a:lnSpc>
              <a:buNone/>
              <a:defRPr/>
            </a:pPr>
            <a:r>
              <a:rPr lang="en-US" sz="2000" b="1" dirty="0" err="1">
                <a:solidFill>
                  <a:srgbClr val="FF0000"/>
                </a:solidFill>
              </a:rPr>
              <a:t>b</a:t>
            </a:r>
            <a:r>
              <a:rPr lang="en-US" sz="2000" b="1" dirty="0" err="1" smtClean="0">
                <a:solidFill>
                  <a:srgbClr val="FF0000"/>
                </a:solidFill>
              </a:rPr>
              <a:t>odytrack</a:t>
            </a:r>
            <a:r>
              <a:rPr lang="en-US" sz="2000" b="1" dirty="0" smtClean="0">
                <a:solidFill>
                  <a:srgbClr val="FF0000"/>
                </a:solidFill>
              </a:rPr>
              <a:t> </a:t>
            </a:r>
          </a:p>
          <a:p>
            <a:pPr marL="0" indent="0">
              <a:lnSpc>
                <a:spcPct val="90000"/>
              </a:lnSpc>
              <a:buNone/>
              <a:defRPr/>
            </a:pPr>
            <a:r>
              <a:rPr lang="en-US" sz="2000" dirty="0" smtClean="0"/>
              <a:t>(</a:t>
            </a:r>
            <a:r>
              <a:rPr lang="en-US" sz="2000" dirty="0"/>
              <a:t>human movement tracking)</a:t>
            </a:r>
          </a:p>
          <a:p>
            <a:pPr marL="0" indent="0">
              <a:lnSpc>
                <a:spcPct val="90000"/>
              </a:lnSpc>
              <a:buNone/>
              <a:defRPr/>
            </a:pPr>
            <a:r>
              <a:rPr lang="en-US" sz="2000" b="1" dirty="0" err="1">
                <a:solidFill>
                  <a:srgbClr val="FF0000"/>
                </a:solidFill>
              </a:rPr>
              <a:t>swaptions</a:t>
            </a:r>
            <a:r>
              <a:rPr lang="en-US" sz="2000" dirty="0">
                <a:solidFill>
                  <a:srgbClr val="FF0000"/>
                </a:solidFill>
              </a:rPr>
              <a:t> </a:t>
            </a:r>
            <a:r>
              <a:rPr lang="en-US" sz="2000" dirty="0"/>
              <a:t>(</a:t>
            </a:r>
            <a:r>
              <a:rPr lang="en-US" sz="2000" dirty="0" err="1"/>
              <a:t>swaption</a:t>
            </a:r>
            <a:r>
              <a:rPr lang="en-US" sz="2000" dirty="0"/>
              <a:t> pricing)</a:t>
            </a:r>
          </a:p>
          <a:p>
            <a:pPr marL="0" indent="0">
              <a:lnSpc>
                <a:spcPct val="90000"/>
              </a:lnSpc>
              <a:buNone/>
              <a:defRPr/>
            </a:pPr>
            <a:r>
              <a:rPr lang="en-US" sz="2000" b="1" dirty="0">
                <a:solidFill>
                  <a:srgbClr val="FF0000"/>
                </a:solidFill>
              </a:rPr>
              <a:t>ferret</a:t>
            </a:r>
            <a:r>
              <a:rPr lang="en-US" sz="2000" dirty="0"/>
              <a:t> (image search)</a:t>
            </a:r>
          </a:p>
          <a:p>
            <a:pPr marL="0" indent="0">
              <a:lnSpc>
                <a:spcPct val="90000"/>
              </a:lnSpc>
              <a:buNone/>
              <a:defRPr/>
            </a:pPr>
            <a:r>
              <a:rPr lang="en-US" sz="2000" b="1" dirty="0" err="1">
                <a:solidFill>
                  <a:srgbClr val="FF0000"/>
                </a:solidFill>
              </a:rPr>
              <a:t>canneal</a:t>
            </a:r>
            <a:r>
              <a:rPr lang="en-US" sz="2000" b="1" dirty="0">
                <a:solidFill>
                  <a:srgbClr val="FF0000"/>
                </a:solidFill>
              </a:rPr>
              <a:t> </a:t>
            </a:r>
            <a:endParaRPr lang="en-US" sz="2000" b="1" dirty="0" smtClean="0">
              <a:solidFill>
                <a:srgbClr val="FF0000"/>
              </a:solidFill>
            </a:endParaRPr>
          </a:p>
          <a:p>
            <a:pPr marL="0" indent="0">
              <a:lnSpc>
                <a:spcPct val="90000"/>
              </a:lnSpc>
              <a:buNone/>
              <a:defRPr/>
            </a:pPr>
            <a:r>
              <a:rPr lang="en-US" sz="2000" dirty="0" smtClean="0"/>
              <a:t>(</a:t>
            </a:r>
            <a:r>
              <a:rPr lang="en-US" sz="2000" dirty="0"/>
              <a:t>digital circuit place and route)</a:t>
            </a:r>
          </a:p>
          <a:p>
            <a:pPr marL="0" indent="0">
              <a:lnSpc>
                <a:spcPct val="90000"/>
              </a:lnSpc>
              <a:buNone/>
              <a:defRPr/>
            </a:pPr>
            <a:r>
              <a:rPr lang="en-US" sz="2000" b="1" dirty="0" err="1">
                <a:solidFill>
                  <a:srgbClr val="FF0000"/>
                </a:solidFill>
              </a:rPr>
              <a:t>blackscholes</a:t>
            </a:r>
            <a:r>
              <a:rPr lang="en-US" sz="2000" b="1" dirty="0">
                <a:solidFill>
                  <a:srgbClr val="FF0000"/>
                </a:solidFill>
              </a:rPr>
              <a:t> </a:t>
            </a:r>
            <a:endParaRPr lang="en-US" sz="2000" b="1" dirty="0" smtClean="0">
              <a:solidFill>
                <a:srgbClr val="FF0000"/>
              </a:solidFill>
            </a:endParaRPr>
          </a:p>
          <a:p>
            <a:pPr marL="0" indent="0">
              <a:lnSpc>
                <a:spcPct val="90000"/>
              </a:lnSpc>
              <a:buNone/>
              <a:defRPr/>
            </a:pPr>
            <a:r>
              <a:rPr lang="en-US" sz="2000" dirty="0" smtClean="0"/>
              <a:t>(</a:t>
            </a:r>
            <a:r>
              <a:rPr lang="en-US" sz="2000" dirty="0"/>
              <a:t>European option pricing)</a:t>
            </a:r>
          </a:p>
          <a:p>
            <a:pPr marL="0" indent="0">
              <a:lnSpc>
                <a:spcPct val="90000"/>
              </a:lnSpc>
              <a:buNone/>
              <a:defRPr/>
            </a:pPr>
            <a:r>
              <a:rPr lang="en-US" sz="2000" b="1" dirty="0" err="1">
                <a:solidFill>
                  <a:srgbClr val="FF0000"/>
                </a:solidFill>
              </a:rPr>
              <a:t>streamcluster</a:t>
            </a:r>
            <a:r>
              <a:rPr lang="en-US" sz="2000" b="1" dirty="0">
                <a:solidFill>
                  <a:srgbClr val="FF0000"/>
                </a:solidFill>
              </a:rPr>
              <a:t> </a:t>
            </a:r>
            <a:endParaRPr lang="en-US" sz="2000" b="1" dirty="0" smtClean="0">
              <a:solidFill>
                <a:srgbClr val="FF0000"/>
              </a:solidFill>
            </a:endParaRPr>
          </a:p>
          <a:p>
            <a:pPr marL="0" indent="0">
              <a:lnSpc>
                <a:spcPct val="90000"/>
              </a:lnSpc>
              <a:buNone/>
              <a:defRPr/>
            </a:pPr>
            <a:r>
              <a:rPr lang="en-US" sz="2000" dirty="0" smtClean="0"/>
              <a:t>(</a:t>
            </a:r>
            <a:r>
              <a:rPr lang="en-US" sz="2000" dirty="0"/>
              <a:t>online point </a:t>
            </a:r>
            <a:r>
              <a:rPr lang="en-US" sz="2000" dirty="0" smtClean="0"/>
              <a:t>clustering)</a:t>
            </a:r>
          </a:p>
          <a:p>
            <a:endParaRPr lang="en-US" dirty="0"/>
          </a:p>
        </p:txBody>
      </p:sp>
      <p:sp>
        <p:nvSpPr>
          <p:cNvPr id="4" name="Content Placeholder 3"/>
          <p:cNvSpPr>
            <a:spLocks noGrp="1"/>
          </p:cNvSpPr>
          <p:nvPr>
            <p:ph sz="half" idx="2"/>
          </p:nvPr>
        </p:nvSpPr>
        <p:spPr>
          <a:xfrm>
            <a:off x="4191000" y="1600200"/>
            <a:ext cx="4724400" cy="4525963"/>
          </a:xfrm>
        </p:spPr>
        <p:txBody>
          <a:bodyPr>
            <a:normAutofit lnSpcReduction="10000"/>
          </a:bodyPr>
          <a:lstStyle/>
          <a:p>
            <a:pPr marL="0" indent="0" algn="ctr">
              <a:lnSpc>
                <a:spcPct val="90000"/>
              </a:lnSpc>
              <a:buNone/>
              <a:defRPr/>
            </a:pPr>
            <a:r>
              <a:rPr lang="en-US" sz="3200" dirty="0" smtClean="0"/>
              <a:t>Results</a:t>
            </a:r>
          </a:p>
          <a:p>
            <a:pPr marL="0" indent="0" algn="ctr">
              <a:lnSpc>
                <a:spcPct val="90000"/>
              </a:lnSpc>
              <a:buNone/>
              <a:defRPr/>
            </a:pPr>
            <a:endParaRPr lang="en-US" sz="3200" dirty="0" smtClean="0"/>
          </a:p>
          <a:p>
            <a:pPr>
              <a:lnSpc>
                <a:spcPct val="90000"/>
              </a:lnSpc>
              <a:defRPr/>
            </a:pPr>
            <a:r>
              <a:rPr lang="en-US" dirty="0" smtClean="0"/>
              <a:t>Performance </a:t>
            </a:r>
            <a:r>
              <a:rPr lang="en-US" dirty="0"/>
              <a:t>improvement </a:t>
            </a:r>
          </a:p>
          <a:p>
            <a:pPr lvl="1"/>
            <a:r>
              <a:rPr lang="en-US" dirty="0"/>
              <a:t>Typically over a factor of two</a:t>
            </a:r>
          </a:p>
          <a:p>
            <a:pPr lvl="1"/>
            <a:r>
              <a:rPr lang="en-US" dirty="0"/>
              <a:t>Up to a factor of seven</a:t>
            </a:r>
          </a:p>
          <a:p>
            <a:r>
              <a:rPr lang="en-US" dirty="0"/>
              <a:t>Less than 10% change in </a:t>
            </a:r>
            <a:r>
              <a:rPr lang="en-US" dirty="0" smtClean="0"/>
              <a:t>output</a:t>
            </a:r>
          </a:p>
          <a:p>
            <a:r>
              <a:rPr lang="en-US" dirty="0" smtClean="0"/>
              <a:t>But no guarantees…</a:t>
            </a:r>
            <a:endParaRPr lang="en-US" dirty="0"/>
          </a:p>
          <a:p>
            <a:endParaRPr lang="en-US" dirty="0"/>
          </a:p>
        </p:txBody>
      </p:sp>
    </p:spTree>
    <p:custDataLst>
      <p:tags r:id="rId1"/>
    </p:custDataLst>
    <p:extLst>
      <p:ext uri="{BB962C8B-B14F-4D97-AF65-F5344CB8AC3E}">
        <p14:creationId xmlns:p14="http://schemas.microsoft.com/office/powerpoint/2010/main" val="469905069"/>
      </p:ext>
    </p:extLst>
  </p:cSld>
  <p:clrMapOvr>
    <a:masterClrMapping/>
  </p:clrMapOvr>
  <mc:AlternateContent xmlns:mc="http://schemas.openxmlformats.org/markup-compatibility/2006" xmlns:p14="http://schemas.microsoft.com/office/powerpoint/2010/main">
    <mc:Choice Requires="p14">
      <p:transition spd="slow" p14:dur="2000" advTm="33700"/>
    </mc:Choice>
    <mc:Fallback xmlns="">
      <p:transition xmlns:p14="http://schemas.microsoft.com/office/powerpoint/2010/main" spd="slow" advTm="33700"/>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This Paper Is About</a:t>
            </a:r>
            <a:endParaRPr lang="en-US" dirty="0"/>
          </a:p>
        </p:txBody>
      </p:sp>
      <p:sp>
        <p:nvSpPr>
          <p:cNvPr id="3" name="Content Placeholder 2"/>
          <p:cNvSpPr>
            <a:spLocks noGrp="1"/>
          </p:cNvSpPr>
          <p:nvPr>
            <p:ph idx="1"/>
          </p:nvPr>
        </p:nvSpPr>
        <p:spPr/>
        <p:txBody>
          <a:bodyPr anchor="ctr"/>
          <a:lstStyle/>
          <a:p>
            <a:r>
              <a:rPr lang="en-US" dirty="0" smtClean="0"/>
              <a:t>Expressing relaxed programs</a:t>
            </a:r>
          </a:p>
          <a:p>
            <a:endParaRPr lang="en-US" dirty="0" smtClean="0"/>
          </a:p>
          <a:p>
            <a:r>
              <a:rPr lang="en-US" dirty="0" smtClean="0"/>
              <a:t>Specifying acceptability of relaxed programs</a:t>
            </a:r>
          </a:p>
          <a:p>
            <a:endParaRPr lang="en-US" dirty="0" smtClean="0"/>
          </a:p>
          <a:p>
            <a:r>
              <a:rPr lang="en-US" dirty="0" smtClean="0"/>
              <a:t>Proving relaxed programs are acceptable</a:t>
            </a:r>
          </a:p>
        </p:txBody>
      </p:sp>
    </p:spTree>
    <p:extLst>
      <p:ext uri="{BB962C8B-B14F-4D97-AF65-F5344CB8AC3E}">
        <p14:creationId xmlns:p14="http://schemas.microsoft.com/office/powerpoint/2010/main" val="3837870468"/>
      </p:ext>
    </p:extLst>
  </p:cSld>
  <p:clrMapOvr>
    <a:masterClrMapping/>
  </p:clrMapOvr>
  <mc:AlternateContent xmlns:mc="http://schemas.openxmlformats.org/markup-compatibility/2006" xmlns:p14="http://schemas.microsoft.com/office/powerpoint/2010/main">
    <mc:Choice Requires="p14">
      <p:transition spd="slow" p14:dur="2000" advTm="26591"/>
    </mc:Choice>
    <mc:Fallback xmlns="">
      <p:transition xmlns:p14="http://schemas.microsoft.com/office/powerpoint/2010/main" spd="slow" advTm="26591"/>
    </mc:Fallback>
  </mc:AlternateContent>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Insights</a:t>
            </a:r>
            <a:endParaRPr lang="en-US" dirty="0"/>
          </a:p>
        </p:txBody>
      </p:sp>
      <p:sp>
        <p:nvSpPr>
          <p:cNvPr id="3" name="Content Placeholder 2"/>
          <p:cNvSpPr>
            <a:spLocks noGrp="1"/>
          </p:cNvSpPr>
          <p:nvPr>
            <p:ph idx="1"/>
          </p:nvPr>
        </p:nvSpPr>
        <p:spPr/>
        <p:txBody>
          <a:bodyPr anchor="ctr"/>
          <a:lstStyle/>
          <a:p>
            <a:r>
              <a:rPr lang="en-US" dirty="0" smtClean="0"/>
              <a:t>Relax statement introduces </a:t>
            </a:r>
            <a:r>
              <a:rPr lang="en-US" dirty="0" err="1" smtClean="0"/>
              <a:t>nondeterminism</a:t>
            </a:r>
            <a:r>
              <a:rPr lang="en-US" dirty="0" smtClean="0"/>
              <a:t> </a:t>
            </a:r>
          </a:p>
          <a:p>
            <a:pPr lvl="1"/>
            <a:r>
              <a:rPr lang="en-US" dirty="0" smtClean="0"/>
              <a:t>Subject to a relaxation condition </a:t>
            </a:r>
          </a:p>
          <a:p>
            <a:r>
              <a:rPr lang="en-US" dirty="0" smtClean="0"/>
              <a:t>Original and relaxed </a:t>
            </a:r>
            <a:r>
              <a:rPr lang="en-US" dirty="0"/>
              <a:t>p</a:t>
            </a:r>
            <a:r>
              <a:rPr lang="en-US" dirty="0" smtClean="0"/>
              <a:t>rograms </a:t>
            </a:r>
            <a:r>
              <a:rPr lang="en-US" dirty="0"/>
              <a:t>s</a:t>
            </a:r>
            <a:r>
              <a:rPr lang="en-US" dirty="0" smtClean="0"/>
              <a:t>hare structure</a:t>
            </a:r>
          </a:p>
          <a:p>
            <a:pPr lvl="1"/>
            <a:r>
              <a:rPr lang="en-US" dirty="0" smtClean="0"/>
              <a:t>Use relational reasoning</a:t>
            </a:r>
          </a:p>
          <a:p>
            <a:pPr lvl="1"/>
            <a:r>
              <a:rPr lang="en-US" dirty="0" smtClean="0"/>
              <a:t>To transfer specification/verification effort from original program to relaxed program</a:t>
            </a:r>
            <a:endParaRPr lang="en-US" dirty="0"/>
          </a:p>
        </p:txBody>
      </p:sp>
    </p:spTree>
    <p:extLst>
      <p:ext uri="{BB962C8B-B14F-4D97-AF65-F5344CB8AC3E}">
        <p14:creationId xmlns:p14="http://schemas.microsoft.com/office/powerpoint/2010/main" val="2600173952"/>
      </p:ext>
    </p:extLst>
  </p:cSld>
  <p:clrMapOvr>
    <a:masterClrMapping/>
  </p:clrMapOvr>
  <mc:AlternateContent xmlns:mc="http://schemas.openxmlformats.org/markup-compatibility/2006" xmlns:p14="http://schemas.microsoft.com/office/powerpoint/2010/main">
    <mc:Choice Requires="p14">
      <p:transition spd="slow" p14:dur="2000" advTm="56701"/>
    </mc:Choice>
    <mc:Fallback xmlns="">
      <p:transition xmlns:p14="http://schemas.microsoft.com/office/powerpoint/2010/main" spd="slow" advTm="56701"/>
    </mc:Fallback>
  </mc:AlternateContent>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020" y="2362200"/>
            <a:ext cx="9004360" cy="1754327"/>
          </a:xfrm>
          <a:prstGeom prst="rect">
            <a:avLst/>
          </a:prstGeom>
          <a:noFill/>
        </p:spPr>
        <p:txBody>
          <a:bodyPr wrap="square" rtlCol="0">
            <a:spAutoFit/>
          </a:bodyPr>
          <a:lstStyle/>
          <a:p>
            <a:pPr algn="ctr"/>
            <a:r>
              <a:rPr lang="en-US" sz="5400" b="1" dirty="0" smtClean="0"/>
              <a:t>Methodology for Safe and Acceptable Relaxed </a:t>
            </a:r>
            <a:r>
              <a:rPr lang="en-US" sz="5400" b="1" dirty="0"/>
              <a:t>P</a:t>
            </a:r>
            <a:r>
              <a:rPr lang="en-US" sz="5400" b="1" dirty="0" smtClean="0"/>
              <a:t>rograms</a:t>
            </a:r>
            <a:endParaRPr lang="en-US" sz="5400" b="1" dirty="0">
              <a:latin typeface="Calibri"/>
              <a:cs typeface="Calibri"/>
            </a:endParaRPr>
          </a:p>
        </p:txBody>
      </p:sp>
    </p:spTree>
    <p:extLst>
      <p:ext uri="{BB962C8B-B14F-4D97-AF65-F5344CB8AC3E}">
        <p14:creationId xmlns:p14="http://schemas.microsoft.com/office/powerpoint/2010/main" val="1128370062"/>
      </p:ext>
    </p:extLst>
  </p:cSld>
  <p:clrMapOvr>
    <a:masterClrMapping/>
  </p:clrMapOvr>
  <mc:AlternateContent xmlns:mc="http://schemas.openxmlformats.org/markup-compatibility/2006" xmlns:p14="http://schemas.microsoft.com/office/powerpoint/2010/main">
    <mc:Choice Requires="p14">
      <p:transition spd="slow" p14:dur="2000" advTm="6844"/>
    </mc:Choice>
    <mc:Fallback xmlns="">
      <p:transition xmlns:p14="http://schemas.microsoft.com/office/powerpoint/2010/main" spd="slow" advTm="6844"/>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Step #1: Develop a Program</a:t>
            </a:r>
            <a:endParaRPr lang="en-US" dirty="0"/>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0" name="Oval 39"/>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8" name="Oval 17"/>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9" name="Straight Arrow Connector 18"/>
          <p:cNvCxnSpPr/>
          <p:nvPr/>
        </p:nvCxnSpPr>
        <p:spPr>
          <a:xfrm>
            <a:off x="3787421" y="2456821"/>
            <a:ext cx="257673" cy="33706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2" name="Oval 21"/>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4" name="Oval 23"/>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5" name="Oval 24"/>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Oval 25"/>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866872"/>
      </p:ext>
    </p:extLst>
  </p:cSld>
  <p:clrMapOvr>
    <a:masterClrMapping/>
  </p:clrMapOvr>
  <mc:AlternateContent xmlns:mc="http://schemas.openxmlformats.org/markup-compatibility/2006" xmlns:p14="http://schemas.microsoft.com/office/powerpoint/2010/main">
    <mc:Choice Requires="p14">
      <p:transition spd="slow" p14:dur="2000" advTm="6800"/>
    </mc:Choice>
    <mc:Fallback xmlns="">
      <p:transition xmlns:p14="http://schemas.microsoft.com/office/powerpoint/2010/main" spd="slow" advTm="6800"/>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rot="19179164">
            <a:off x="1679749" y="3379752"/>
            <a:ext cx="2908996" cy="7801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Step #2: Define and Verify/Validate Acceptability</a:t>
            </a:r>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0" name="Oval 39"/>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9" name="Oval 18"/>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ight Brace 5"/>
          <p:cNvSpPr/>
          <p:nvPr/>
        </p:nvSpPr>
        <p:spPr>
          <a:xfrm>
            <a:off x="4478059" y="2791732"/>
            <a:ext cx="151908" cy="2020961"/>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TextBox 6"/>
          <p:cNvSpPr txBox="1"/>
          <p:nvPr/>
        </p:nvSpPr>
        <p:spPr>
          <a:xfrm>
            <a:off x="4949449" y="3386713"/>
            <a:ext cx="2541722" cy="1200329"/>
          </a:xfrm>
          <a:prstGeom prst="rect">
            <a:avLst/>
          </a:prstGeom>
          <a:noFill/>
        </p:spPr>
        <p:txBody>
          <a:bodyPr wrap="square" rtlCol="0">
            <a:spAutoFit/>
          </a:bodyPr>
          <a:lstStyle/>
          <a:p>
            <a:r>
              <a:rPr lang="en-US" sz="2400" dirty="0" smtClean="0"/>
              <a:t>Define safety and acceptable levels of accuracy</a:t>
            </a:r>
            <a:endParaRPr lang="en-US" sz="2400" dirty="0"/>
          </a:p>
        </p:txBody>
      </p:sp>
      <p:sp>
        <p:nvSpPr>
          <p:cNvPr id="22" name="Oval 21"/>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5" name="Oval 24"/>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Oval 25"/>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7" name="Oval 26"/>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771191"/>
      </p:ext>
    </p:extLst>
  </p:cSld>
  <p:clrMapOvr>
    <a:masterClrMapping/>
  </p:clrMapOvr>
  <mc:AlternateContent xmlns:mc="http://schemas.openxmlformats.org/markup-compatibility/2006" xmlns:p14="http://schemas.microsoft.com/office/powerpoint/2010/main">
    <mc:Choice Requires="p14">
      <p:transition p14:dur="0" advTm="21369"/>
    </mc:Choice>
    <mc:Fallback xmlns="">
      <p:transition xmlns:p14="http://schemas.microsoft.com/office/powerpoint/2010/main" advTm="21369"/>
    </mc:Fallback>
  </mc:AlternateContent>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609600" y="1981200"/>
            <a:ext cx="7848600" cy="3200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 name="Title 1"/>
          <p:cNvSpPr>
            <a:spLocks noGrp="1"/>
          </p:cNvSpPr>
          <p:nvPr>
            <p:ph type="title"/>
          </p:nvPr>
        </p:nvSpPr>
        <p:spPr>
          <a:xfrm>
            <a:off x="419100" y="228600"/>
            <a:ext cx="8229600" cy="1143000"/>
          </a:xfrm>
        </p:spPr>
        <p:txBody>
          <a:bodyPr>
            <a:normAutofit/>
          </a:bodyPr>
          <a:lstStyle/>
          <a:p>
            <a:r>
              <a:rPr lang="en-US" dirty="0" smtClean="0"/>
              <a:t>Defining Acceptable</a:t>
            </a:r>
            <a:endParaRPr lang="en-US" dirty="0"/>
          </a:p>
        </p:txBody>
      </p:sp>
      <p:sp>
        <p:nvSpPr>
          <p:cNvPr id="4" name="Rounded Rectangle 3"/>
          <p:cNvSpPr/>
          <p:nvPr/>
        </p:nvSpPr>
        <p:spPr>
          <a:xfrm>
            <a:off x="1125038" y="2971800"/>
            <a:ext cx="1828800"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smtClean="0"/>
              <a:t>Safety</a:t>
            </a:r>
            <a:endParaRPr lang="en-US" sz="3600" b="1" dirty="0"/>
          </a:p>
        </p:txBody>
      </p:sp>
      <p:sp>
        <p:nvSpPr>
          <p:cNvPr id="5" name="Rounded Rectangle 4"/>
          <p:cNvSpPr/>
          <p:nvPr/>
        </p:nvSpPr>
        <p:spPr>
          <a:xfrm>
            <a:off x="3168401" y="2971800"/>
            <a:ext cx="2209800"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smtClean="0"/>
              <a:t>Integrity</a:t>
            </a:r>
            <a:endParaRPr lang="en-US" sz="3600" b="1" dirty="0"/>
          </a:p>
        </p:txBody>
      </p:sp>
      <p:sp>
        <p:nvSpPr>
          <p:cNvPr id="6" name="Rounded Rectangle 5"/>
          <p:cNvSpPr/>
          <p:nvPr/>
        </p:nvSpPr>
        <p:spPr>
          <a:xfrm>
            <a:off x="5570706" y="2971800"/>
            <a:ext cx="2362200"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smtClean="0"/>
              <a:t>Accuracy</a:t>
            </a:r>
            <a:endParaRPr lang="en-US" sz="3600" b="1" dirty="0"/>
          </a:p>
        </p:txBody>
      </p:sp>
      <p:sp>
        <p:nvSpPr>
          <p:cNvPr id="3" name="TextBox 2"/>
          <p:cNvSpPr txBox="1"/>
          <p:nvPr/>
        </p:nvSpPr>
        <p:spPr>
          <a:xfrm>
            <a:off x="1028700" y="5334000"/>
            <a:ext cx="7200900" cy="1015663"/>
          </a:xfrm>
          <a:prstGeom prst="rect">
            <a:avLst/>
          </a:prstGeom>
          <a:noFill/>
        </p:spPr>
        <p:txBody>
          <a:bodyPr wrap="square" rtlCol="0">
            <a:spAutoFit/>
          </a:bodyPr>
          <a:lstStyle/>
          <a:p>
            <a:pPr algn="ctr"/>
            <a:r>
              <a:rPr lang="en-US" sz="3000" dirty="0" smtClean="0">
                <a:latin typeface="Calibri" pitchFamily="34" charset="0"/>
                <a:cs typeface="Calibri" pitchFamily="34" charset="0"/>
              </a:rPr>
              <a:t>Key: any implementation that satisfies the stated acceptability properties is acceptable</a:t>
            </a:r>
            <a:endParaRPr lang="en-US" sz="3000" dirty="0">
              <a:latin typeface="Calibri" pitchFamily="34" charset="0"/>
              <a:cs typeface="Calibri" pitchFamily="34" charset="0"/>
            </a:endParaRPr>
          </a:p>
        </p:txBody>
      </p:sp>
      <p:sp>
        <p:nvSpPr>
          <p:cNvPr id="8" name="Rectangle 7"/>
          <p:cNvSpPr/>
          <p:nvPr/>
        </p:nvSpPr>
        <p:spPr>
          <a:xfrm>
            <a:off x="2773193" y="2209800"/>
            <a:ext cx="3746438" cy="523220"/>
          </a:xfrm>
          <a:prstGeom prst="rect">
            <a:avLst/>
          </a:prstGeom>
        </p:spPr>
        <p:txBody>
          <a:bodyPr wrap="none">
            <a:spAutoFit/>
          </a:bodyPr>
          <a:lstStyle/>
          <a:p>
            <a:r>
              <a:rPr lang="en-US" sz="2800" b="1" dirty="0"/>
              <a:t>Acceptability</a:t>
            </a:r>
            <a:r>
              <a:rPr lang="en-US" sz="2400" b="1" dirty="0"/>
              <a:t> </a:t>
            </a:r>
            <a:r>
              <a:rPr lang="en-US" sz="2800" b="1" dirty="0"/>
              <a:t>Properties</a:t>
            </a:r>
          </a:p>
        </p:txBody>
      </p:sp>
    </p:spTree>
    <p:extLst>
      <p:ext uri="{BB962C8B-B14F-4D97-AF65-F5344CB8AC3E}">
        <p14:creationId xmlns:p14="http://schemas.microsoft.com/office/powerpoint/2010/main" val="3256506616"/>
      </p:ext>
    </p:extLst>
  </p:cSld>
  <p:clrMapOvr>
    <a:masterClrMapping/>
  </p:clrMapOvr>
  <mc:AlternateContent xmlns:mc="http://schemas.openxmlformats.org/markup-compatibility/2006" xmlns:p14="http://schemas.microsoft.com/office/powerpoint/2010/main">
    <mc:Choice Requires="p14">
      <p:transition spd="slow" p14:dur="2000" advTm="54784"/>
    </mc:Choice>
    <mc:Fallback xmlns="">
      <p:transition xmlns:p14="http://schemas.microsoft.com/office/powerpoint/2010/main" spd="slow" advTm="54784"/>
    </mc:Fallback>
  </mc:AlternateContent>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Acceptability Specification</a:t>
            </a:r>
            <a:endParaRPr lang="en-US" dirty="0"/>
          </a:p>
        </p:txBody>
      </p:sp>
      <p:sp>
        <p:nvSpPr>
          <p:cNvPr id="3" name="Content Placeholder 2"/>
          <p:cNvSpPr>
            <a:spLocks noGrp="1"/>
          </p:cNvSpPr>
          <p:nvPr>
            <p:ph idx="1"/>
          </p:nvPr>
        </p:nvSpPr>
        <p:spPr>
          <a:xfrm>
            <a:off x="381000" y="1600200"/>
            <a:ext cx="8229600" cy="4525963"/>
          </a:xfrm>
        </p:spPr>
        <p:txBody>
          <a:bodyPr anchor="ctr">
            <a:normAutofit/>
          </a:bodyPr>
          <a:lstStyle/>
          <a:p>
            <a:r>
              <a:rPr lang="en-US" b="1" dirty="0" smtClean="0">
                <a:latin typeface="Consolas"/>
                <a:cs typeface="Consolas"/>
              </a:rPr>
              <a:t>assert</a:t>
            </a:r>
            <a:r>
              <a:rPr lang="en-US" dirty="0" smtClean="0">
                <a:latin typeface="Consolas"/>
                <a:cs typeface="Consolas"/>
              </a:rPr>
              <a:t> </a:t>
            </a:r>
            <a:r>
              <a:rPr lang="en-US" b="1" dirty="0" smtClean="0">
                <a:latin typeface="Consolas"/>
                <a:cs typeface="Consolas"/>
              </a:rPr>
              <a:t>P</a:t>
            </a:r>
            <a:r>
              <a:rPr lang="en-US" dirty="0" smtClean="0"/>
              <a:t>:  verified assertion</a:t>
            </a:r>
          </a:p>
          <a:p>
            <a:endParaRPr lang="en-US" dirty="0"/>
          </a:p>
          <a:p>
            <a:r>
              <a:rPr lang="en-US" b="1" dirty="0">
                <a:latin typeface="Consolas"/>
                <a:cs typeface="Consolas"/>
              </a:rPr>
              <a:t>a</a:t>
            </a:r>
            <a:r>
              <a:rPr lang="en-US" b="1" dirty="0" smtClean="0">
                <a:latin typeface="Consolas"/>
                <a:cs typeface="Consolas"/>
              </a:rPr>
              <a:t>ssume P</a:t>
            </a:r>
            <a:r>
              <a:rPr lang="en-US" dirty="0" smtClean="0">
                <a:latin typeface="Calibri"/>
                <a:cs typeface="Calibri"/>
              </a:rPr>
              <a:t>: assumption</a:t>
            </a:r>
          </a:p>
          <a:p>
            <a:pPr lvl="1"/>
            <a:r>
              <a:rPr lang="en-US" dirty="0" smtClean="0"/>
              <a:t>Original program: </a:t>
            </a:r>
            <a:r>
              <a:rPr lang="en-US" dirty="0"/>
              <a:t>e</a:t>
            </a:r>
            <a:r>
              <a:rPr lang="en-US" dirty="0" smtClean="0"/>
              <a:t>stablished through any means </a:t>
            </a:r>
          </a:p>
          <a:p>
            <a:pPr lvl="1"/>
            <a:r>
              <a:rPr lang="en-US" dirty="0" smtClean="0"/>
              <a:t>Relaxed program: must be preserved </a:t>
            </a:r>
          </a:p>
          <a:p>
            <a:pPr lvl="1"/>
            <a:endParaRPr lang="en-US" dirty="0" smtClean="0"/>
          </a:p>
          <a:p>
            <a:r>
              <a:rPr lang="en-US" b="1" dirty="0" smtClean="0">
                <a:latin typeface="Consolas"/>
                <a:cs typeface="Consolas"/>
              </a:rPr>
              <a:t>relate    </a:t>
            </a:r>
            <a:r>
              <a:rPr lang="en-US" dirty="0" smtClean="0">
                <a:latin typeface="Calibri"/>
                <a:cs typeface="Calibri"/>
              </a:rPr>
              <a:t>: relational assertion</a:t>
            </a:r>
          </a:p>
          <a:p>
            <a:pPr lvl="1"/>
            <a:r>
              <a:rPr lang="en-US" dirty="0" smtClean="0"/>
              <a:t>Relates values in relaxed program to original</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435433300"/>
              </p:ext>
            </p:extLst>
          </p:nvPr>
        </p:nvGraphicFramePr>
        <p:xfrm>
          <a:off x="2362200" y="5029200"/>
          <a:ext cx="676275" cy="576262"/>
        </p:xfrm>
        <a:graphic>
          <a:graphicData uri="http://schemas.openxmlformats.org/presentationml/2006/ole">
            <mc:AlternateContent xmlns:mc="http://schemas.openxmlformats.org/markup-compatibility/2006">
              <mc:Choice xmlns:v="urn:schemas-microsoft-com:vml" Requires="v">
                <p:oleObj spid="_x0000_s4274" name="Equation" r:id="rId3" imgW="254000" imgH="215900" progId="Equation.3">
                  <p:embed/>
                </p:oleObj>
              </mc:Choice>
              <mc:Fallback>
                <p:oleObj name="Equation" r:id="rId3" imgW="254000" imgH="215900" progId="Equation.3">
                  <p:embed/>
                  <p:pic>
                    <p:nvPicPr>
                      <p:cNvPr id="0" name=""/>
                      <p:cNvPicPr/>
                      <p:nvPr/>
                    </p:nvPicPr>
                    <p:blipFill>
                      <a:blip r:embed="rId4"/>
                      <a:stretch>
                        <a:fillRect/>
                      </a:stretch>
                    </p:blipFill>
                    <p:spPr>
                      <a:xfrm>
                        <a:off x="2362200" y="5029200"/>
                        <a:ext cx="676275" cy="576262"/>
                      </a:xfrm>
                      <a:prstGeom prst="rect">
                        <a:avLst/>
                      </a:prstGeom>
                    </p:spPr>
                  </p:pic>
                </p:oleObj>
              </mc:Fallback>
            </mc:AlternateContent>
          </a:graphicData>
        </a:graphic>
      </p:graphicFrame>
    </p:spTree>
    <p:extLst>
      <p:ext uri="{BB962C8B-B14F-4D97-AF65-F5344CB8AC3E}">
        <p14:creationId xmlns:p14="http://schemas.microsoft.com/office/powerpoint/2010/main" val="2354842543"/>
      </p:ext>
    </p:extLst>
  </p:cSld>
  <p:clrMapOvr>
    <a:masterClrMapping/>
  </p:clrMapOvr>
  <mc:AlternateContent xmlns:mc="http://schemas.openxmlformats.org/markup-compatibility/2006" xmlns:p14="http://schemas.microsoft.com/office/powerpoint/2010/main">
    <mc:Choice Requires="p14">
      <p:transition spd="slow" p14:dur="2000" advTm="61385"/>
    </mc:Choice>
    <mc:Fallback xmlns="">
      <p:transition xmlns:p14="http://schemas.microsoft.com/office/powerpoint/2010/main" spd="slow" advTm="61385"/>
    </mc:Fallback>
  </mc:AlternateContent>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Example Acceptability Properties</a:t>
            </a:r>
            <a:endParaRPr lang="en-US" dirty="0"/>
          </a:p>
        </p:txBody>
      </p:sp>
      <p:sp>
        <p:nvSpPr>
          <p:cNvPr id="4" name="Rectangle 3"/>
          <p:cNvSpPr/>
          <p:nvPr/>
        </p:nvSpPr>
        <p:spPr>
          <a:xfrm>
            <a:off x="228600" y="5715000"/>
            <a:ext cx="8686800" cy="584776"/>
          </a:xfrm>
          <a:prstGeom prst="rect">
            <a:avLst/>
          </a:prstGeom>
        </p:spPr>
        <p:txBody>
          <a:bodyPr wrap="square">
            <a:spAutoFit/>
          </a:bodyPr>
          <a:lstStyle/>
          <a:p>
            <a:pPr algn="ctr"/>
            <a:r>
              <a:rPr lang="en-US" sz="3200" dirty="0" smtClean="0">
                <a:latin typeface="Consolas" pitchFamily="49" charset="0"/>
                <a:cs typeface="Consolas" pitchFamily="49" charset="0"/>
              </a:rPr>
              <a:t>relate |z&lt;r&gt; </a:t>
            </a:r>
            <a:r>
              <a:rPr lang="en-US" sz="3200" dirty="0">
                <a:latin typeface="Consolas" pitchFamily="49" charset="0"/>
                <a:cs typeface="Consolas" pitchFamily="49" charset="0"/>
              </a:rPr>
              <a:t>- </a:t>
            </a:r>
            <a:r>
              <a:rPr lang="en-US" sz="3200" dirty="0" smtClean="0">
                <a:latin typeface="Consolas" pitchFamily="49" charset="0"/>
                <a:cs typeface="Consolas" pitchFamily="49" charset="0"/>
              </a:rPr>
              <a:t>z&lt;o&gt;| </a:t>
            </a:r>
            <a:r>
              <a:rPr lang="en-US" sz="3200" dirty="0">
                <a:latin typeface="Consolas" pitchFamily="49" charset="0"/>
                <a:cs typeface="Consolas" pitchFamily="49" charset="0"/>
              </a:rPr>
              <a:t>&lt;= </a:t>
            </a:r>
            <a:r>
              <a:rPr lang="en-US" sz="3200" dirty="0" smtClean="0">
                <a:latin typeface="Consolas" pitchFamily="49" charset="0"/>
                <a:cs typeface="Consolas" pitchFamily="49" charset="0"/>
              </a:rPr>
              <a:t>.1 * z&lt;o&gt;</a:t>
            </a:r>
          </a:p>
        </p:txBody>
      </p:sp>
      <p:sp>
        <p:nvSpPr>
          <p:cNvPr id="12" name="Rectangle 11"/>
          <p:cNvSpPr/>
          <p:nvPr/>
        </p:nvSpPr>
        <p:spPr>
          <a:xfrm>
            <a:off x="1394342" y="3886200"/>
            <a:ext cx="6477000" cy="584776"/>
          </a:xfrm>
          <a:prstGeom prst="rect">
            <a:avLst/>
          </a:prstGeom>
        </p:spPr>
        <p:txBody>
          <a:bodyPr wrap="square">
            <a:spAutoFit/>
          </a:bodyPr>
          <a:lstStyle/>
          <a:p>
            <a:pPr algn="ctr"/>
            <a:r>
              <a:rPr lang="en-US" sz="3200" dirty="0">
                <a:latin typeface="Consolas"/>
                <a:cs typeface="Consolas"/>
              </a:rPr>
              <a:t>relate </a:t>
            </a:r>
            <a:r>
              <a:rPr lang="en-US" sz="3200" dirty="0" smtClean="0">
                <a:latin typeface="Consolas"/>
                <a:cs typeface="Consolas"/>
              </a:rPr>
              <a:t>y&lt;r&gt; </a:t>
            </a:r>
            <a:r>
              <a:rPr lang="en-US" sz="3200" dirty="0">
                <a:latin typeface="Consolas"/>
                <a:cs typeface="Consolas"/>
              </a:rPr>
              <a:t>== </a:t>
            </a:r>
            <a:r>
              <a:rPr lang="en-US" sz="3200" dirty="0" smtClean="0">
                <a:latin typeface="Consolas"/>
                <a:cs typeface="Consolas"/>
              </a:rPr>
              <a:t>y&lt;o&gt;</a:t>
            </a:r>
            <a:endParaRPr lang="en-US" sz="3200" dirty="0">
              <a:latin typeface="+mj-lt"/>
              <a:cs typeface="Consolas"/>
            </a:endParaRPr>
          </a:p>
        </p:txBody>
      </p:sp>
      <p:sp>
        <p:nvSpPr>
          <p:cNvPr id="5" name="Rectangle 4"/>
          <p:cNvSpPr/>
          <p:nvPr/>
        </p:nvSpPr>
        <p:spPr>
          <a:xfrm>
            <a:off x="645461" y="2362200"/>
            <a:ext cx="3886200" cy="584776"/>
          </a:xfrm>
          <a:prstGeom prst="rect">
            <a:avLst/>
          </a:prstGeom>
        </p:spPr>
        <p:txBody>
          <a:bodyPr wrap="square">
            <a:spAutoFit/>
          </a:bodyPr>
          <a:lstStyle/>
          <a:p>
            <a:pPr algn="ctr"/>
            <a:r>
              <a:rPr lang="en-US" sz="3200" dirty="0" smtClean="0">
                <a:latin typeface="Consolas"/>
                <a:cs typeface="Consolas"/>
              </a:rPr>
              <a:t>assert x != 0</a:t>
            </a:r>
            <a:endParaRPr lang="en-US" sz="3200" dirty="0">
              <a:latin typeface="+mj-lt"/>
              <a:cs typeface="Consolas"/>
            </a:endParaRPr>
          </a:p>
        </p:txBody>
      </p:sp>
      <p:sp>
        <p:nvSpPr>
          <p:cNvPr id="6" name="Rectangle 5"/>
          <p:cNvSpPr/>
          <p:nvPr/>
        </p:nvSpPr>
        <p:spPr>
          <a:xfrm>
            <a:off x="4684061" y="2362200"/>
            <a:ext cx="3886200" cy="584776"/>
          </a:xfrm>
          <a:prstGeom prst="rect">
            <a:avLst/>
          </a:prstGeom>
        </p:spPr>
        <p:txBody>
          <a:bodyPr wrap="square">
            <a:spAutoFit/>
          </a:bodyPr>
          <a:lstStyle/>
          <a:p>
            <a:pPr algn="ctr"/>
            <a:r>
              <a:rPr lang="en-US" sz="3200" dirty="0">
                <a:latin typeface="Consolas"/>
                <a:cs typeface="Consolas"/>
              </a:rPr>
              <a:t>a</a:t>
            </a:r>
            <a:r>
              <a:rPr lang="en-US" sz="3200" dirty="0" smtClean="0">
                <a:latin typeface="Consolas"/>
                <a:cs typeface="Consolas"/>
              </a:rPr>
              <a:t>ssume</a:t>
            </a:r>
            <a:r>
              <a:rPr lang="en-US" sz="3200" b="1" dirty="0" smtClean="0">
                <a:latin typeface="Consolas"/>
                <a:cs typeface="Consolas"/>
              </a:rPr>
              <a:t> </a:t>
            </a:r>
            <a:r>
              <a:rPr lang="en-US" sz="3200" dirty="0" smtClean="0">
                <a:latin typeface="Consolas"/>
                <a:cs typeface="Consolas"/>
              </a:rPr>
              <a:t>x &gt;= 0</a:t>
            </a:r>
            <a:endParaRPr lang="en-US" sz="3200" dirty="0">
              <a:latin typeface="+mj-lt"/>
              <a:cs typeface="Consolas"/>
            </a:endParaRPr>
          </a:p>
        </p:txBody>
      </p:sp>
      <p:sp>
        <p:nvSpPr>
          <p:cNvPr id="7" name="Rectangle 6"/>
          <p:cNvSpPr/>
          <p:nvPr/>
        </p:nvSpPr>
        <p:spPr>
          <a:xfrm>
            <a:off x="381000" y="1676400"/>
            <a:ext cx="1367482" cy="584776"/>
          </a:xfrm>
          <a:prstGeom prst="rect">
            <a:avLst/>
          </a:prstGeom>
        </p:spPr>
        <p:txBody>
          <a:bodyPr wrap="none">
            <a:spAutoFit/>
          </a:bodyPr>
          <a:lstStyle/>
          <a:p>
            <a:pPr algn="ctr"/>
            <a:r>
              <a:rPr lang="en-US" sz="3200" b="1" dirty="0"/>
              <a:t>Safety:</a:t>
            </a:r>
          </a:p>
        </p:txBody>
      </p:sp>
      <p:sp>
        <p:nvSpPr>
          <p:cNvPr id="13" name="Rectangle 12"/>
          <p:cNvSpPr/>
          <p:nvPr/>
        </p:nvSpPr>
        <p:spPr>
          <a:xfrm>
            <a:off x="381000" y="3352800"/>
            <a:ext cx="1754206" cy="584776"/>
          </a:xfrm>
          <a:prstGeom prst="rect">
            <a:avLst/>
          </a:prstGeom>
        </p:spPr>
        <p:txBody>
          <a:bodyPr wrap="none">
            <a:spAutoFit/>
          </a:bodyPr>
          <a:lstStyle/>
          <a:p>
            <a:pPr algn="ctr"/>
            <a:r>
              <a:rPr lang="en-US" sz="3200" b="1" dirty="0" smtClean="0"/>
              <a:t>Integrity:</a:t>
            </a:r>
            <a:endParaRPr lang="en-US" sz="3200" b="1" dirty="0"/>
          </a:p>
        </p:txBody>
      </p:sp>
      <p:sp>
        <p:nvSpPr>
          <p:cNvPr id="14" name="Rectangle 13"/>
          <p:cNvSpPr/>
          <p:nvPr/>
        </p:nvSpPr>
        <p:spPr>
          <a:xfrm>
            <a:off x="367074" y="4876800"/>
            <a:ext cx="1821332" cy="584776"/>
          </a:xfrm>
          <a:prstGeom prst="rect">
            <a:avLst/>
          </a:prstGeom>
        </p:spPr>
        <p:txBody>
          <a:bodyPr wrap="none">
            <a:spAutoFit/>
          </a:bodyPr>
          <a:lstStyle/>
          <a:p>
            <a:pPr algn="ctr"/>
            <a:r>
              <a:rPr lang="en-US" sz="3200" b="1" dirty="0" smtClean="0"/>
              <a:t>Accuracy:</a:t>
            </a:r>
            <a:endParaRPr lang="en-US" sz="3200" b="1" dirty="0"/>
          </a:p>
        </p:txBody>
      </p:sp>
    </p:spTree>
    <p:extLst>
      <p:ext uri="{BB962C8B-B14F-4D97-AF65-F5344CB8AC3E}">
        <p14:creationId xmlns:p14="http://schemas.microsoft.com/office/powerpoint/2010/main" val="1267770958"/>
      </p:ext>
    </p:extLst>
  </p:cSld>
  <p:clrMapOvr>
    <a:masterClrMapping/>
  </p:clrMapOvr>
  <mc:AlternateContent xmlns:mc="http://schemas.openxmlformats.org/markup-compatibility/2006" xmlns:p14="http://schemas.microsoft.com/office/powerpoint/2010/main">
    <mc:Choice Requires="p14">
      <p:transition spd="slow" p14:dur="2000" advTm="76161"/>
    </mc:Choice>
    <mc:Fallback xmlns="">
      <p:transition xmlns:p14="http://schemas.microsoft.com/office/powerpoint/2010/main" spd="slow" advTm="76161"/>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rot="19179164">
            <a:off x="1679749" y="3379752"/>
            <a:ext cx="2908996" cy="7801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Step #3: Relax Program</a:t>
            </a:r>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2" name="Oval 21"/>
          <p:cNvSpPr/>
          <p:nvPr/>
        </p:nvSpPr>
        <p:spPr>
          <a:xfrm rot="19179164">
            <a:off x="2244951" y="3234993"/>
            <a:ext cx="2275677" cy="644767"/>
          </a:xfrm>
          <a:prstGeom prst="ellipse">
            <a:avLst/>
          </a:prstGeom>
          <a:noFill/>
          <a:ln w="57150"/>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 name="TextBox 2"/>
          <p:cNvSpPr txBox="1"/>
          <p:nvPr/>
        </p:nvSpPr>
        <p:spPr>
          <a:xfrm>
            <a:off x="4319434" y="3709029"/>
            <a:ext cx="3833965" cy="1200328"/>
          </a:xfrm>
          <a:prstGeom prst="rect">
            <a:avLst/>
          </a:prstGeom>
          <a:noFill/>
        </p:spPr>
        <p:txBody>
          <a:bodyPr wrap="square" rtlCol="0">
            <a:spAutoFit/>
          </a:bodyPr>
          <a:lstStyle/>
          <a:p>
            <a:r>
              <a:rPr lang="en-US" sz="2400" dirty="0" smtClean="0"/>
              <a:t>Insert relax statements to introduce nondeterministic behaviors at other points</a:t>
            </a:r>
            <a:endParaRPr lang="en-US" sz="2400" i="1" dirty="0"/>
          </a:p>
        </p:txBody>
      </p:sp>
      <p:sp>
        <p:nvSpPr>
          <p:cNvPr id="30" name="Oval 29"/>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Oval 30"/>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4" name="Oval 23"/>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5" name="Oval 24"/>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Oval 25"/>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7" name="Oval 26"/>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1607464"/>
      </p:ext>
    </p:extLst>
  </p:cSld>
  <p:clrMapOvr>
    <a:masterClrMapping/>
  </p:clrMapOvr>
  <mc:AlternateContent xmlns:mc="http://schemas.openxmlformats.org/markup-compatibility/2006" xmlns:p14="http://schemas.microsoft.com/office/powerpoint/2010/main">
    <mc:Choice Requires="p14">
      <p:transition p14:dur="0" advTm="10735"/>
    </mc:Choice>
    <mc:Fallback xmlns="">
      <p:transition xmlns:p14="http://schemas.microsoft.com/office/powerpoint/2010/main" advTm="10735"/>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Relax Statement</a:t>
            </a:r>
            <a:endParaRPr lang="en-US" dirty="0"/>
          </a:p>
        </p:txBody>
      </p:sp>
      <p:sp>
        <p:nvSpPr>
          <p:cNvPr id="3" name="Content Placeholder 2"/>
          <p:cNvSpPr>
            <a:spLocks noGrp="1"/>
          </p:cNvSpPr>
          <p:nvPr>
            <p:ph idx="1"/>
          </p:nvPr>
        </p:nvSpPr>
        <p:spPr>
          <a:xfrm>
            <a:off x="1066800" y="2895600"/>
            <a:ext cx="7391400" cy="762000"/>
          </a:xfrm>
        </p:spPr>
        <p:txBody>
          <a:bodyPr/>
          <a:lstStyle/>
          <a:p>
            <a:pPr marL="0" indent="0">
              <a:buNone/>
            </a:pPr>
            <a:r>
              <a:rPr lang="en-US" b="1" dirty="0">
                <a:latin typeface="Consolas"/>
                <a:cs typeface="Consolas"/>
              </a:rPr>
              <a:t>relax </a:t>
            </a:r>
            <a:r>
              <a:rPr lang="en-US" b="1" dirty="0" smtClean="0">
                <a:latin typeface="Consolas"/>
                <a:cs typeface="Consolas"/>
              </a:rPr>
              <a:t>(s) </a:t>
            </a:r>
            <a:r>
              <a:rPr lang="en-US" b="1" dirty="0" err="1">
                <a:latin typeface="Consolas"/>
                <a:cs typeface="Consolas"/>
              </a:rPr>
              <a:t>st</a:t>
            </a:r>
            <a:r>
              <a:rPr lang="en-US" b="1" dirty="0">
                <a:latin typeface="Consolas"/>
                <a:cs typeface="Consolas"/>
              </a:rPr>
              <a:t> </a:t>
            </a:r>
            <a:r>
              <a:rPr lang="en-US" b="1" dirty="0" smtClean="0">
                <a:latin typeface="Consolas"/>
                <a:cs typeface="Consolas"/>
              </a:rPr>
              <a:t>(s == 1 || s == 2)</a:t>
            </a:r>
            <a:endParaRPr lang="en-US" dirty="0"/>
          </a:p>
        </p:txBody>
      </p:sp>
      <p:sp>
        <p:nvSpPr>
          <p:cNvPr id="4" name="Rounded Rectangle 3"/>
          <p:cNvSpPr/>
          <p:nvPr/>
        </p:nvSpPr>
        <p:spPr>
          <a:xfrm>
            <a:off x="1676400" y="4191000"/>
            <a:ext cx="24003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Modified Variables</a:t>
            </a:r>
            <a:endParaRPr lang="en-US" sz="2000" dirty="0"/>
          </a:p>
        </p:txBody>
      </p:sp>
      <p:cxnSp>
        <p:nvCxnSpPr>
          <p:cNvPr id="5" name="Straight Arrow Connector 4"/>
          <p:cNvCxnSpPr>
            <a:stCxn id="4" idx="0"/>
          </p:cNvCxnSpPr>
          <p:nvPr/>
        </p:nvCxnSpPr>
        <p:spPr>
          <a:xfrm flipV="1">
            <a:off x="2876550" y="3505200"/>
            <a:ext cx="19050" cy="6858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 name="Rounded Rectangle 5"/>
          <p:cNvSpPr/>
          <p:nvPr/>
        </p:nvSpPr>
        <p:spPr>
          <a:xfrm>
            <a:off x="4800600" y="4191000"/>
            <a:ext cx="2400300" cy="76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smtClean="0"/>
              <a:t>Relaxation Predicate</a:t>
            </a:r>
            <a:endParaRPr lang="en-US" sz="2000" dirty="0"/>
          </a:p>
        </p:txBody>
      </p:sp>
      <p:cxnSp>
        <p:nvCxnSpPr>
          <p:cNvPr id="7" name="Straight Arrow Connector 6"/>
          <p:cNvCxnSpPr>
            <a:stCxn id="6" idx="0"/>
          </p:cNvCxnSpPr>
          <p:nvPr/>
        </p:nvCxnSpPr>
        <p:spPr>
          <a:xfrm flipV="1">
            <a:off x="6000750" y="3505200"/>
            <a:ext cx="19050" cy="6858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58866596"/>
      </p:ext>
    </p:extLst>
  </p:cSld>
  <p:clrMapOvr>
    <a:masterClrMapping/>
  </p:clrMapOvr>
  <mc:AlternateContent xmlns:mc="http://schemas.openxmlformats.org/markup-compatibility/2006" xmlns:p14="http://schemas.microsoft.com/office/powerpoint/2010/main">
    <mc:Choice Requires="p14">
      <p:transition spd="slow" p14:dur="2000" advTm="21447"/>
    </mc:Choice>
    <mc:Fallback xmlns="">
      <p:transition xmlns:p14="http://schemas.microsoft.com/office/powerpoint/2010/main" spd="slow" advTm="21447"/>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Relaxed Program Semantics</a:t>
            </a:r>
            <a:endParaRPr lang="en-US" dirty="0"/>
          </a:p>
        </p:txBody>
      </p:sp>
      <p:sp>
        <p:nvSpPr>
          <p:cNvPr id="3" name="Content Placeholder 2"/>
          <p:cNvSpPr>
            <a:spLocks noGrp="1"/>
          </p:cNvSpPr>
          <p:nvPr>
            <p:ph idx="1"/>
          </p:nvPr>
        </p:nvSpPr>
        <p:spPr>
          <a:xfrm>
            <a:off x="457200" y="1600200"/>
            <a:ext cx="4038600" cy="5105400"/>
          </a:xfrm>
        </p:spPr>
        <p:txBody>
          <a:bodyPr anchor="ctr">
            <a:normAutofit/>
          </a:bodyPr>
          <a:lstStyle/>
          <a:p>
            <a:r>
              <a:rPr lang="en-US" dirty="0" smtClean="0"/>
              <a:t>Shared Structure, Two Semantics</a:t>
            </a:r>
          </a:p>
          <a:p>
            <a:pPr lvl="1"/>
            <a:r>
              <a:rPr lang="en-US" b="1" i="1" dirty="0"/>
              <a:t>O</a:t>
            </a:r>
            <a:r>
              <a:rPr lang="en-US" b="1" i="1" dirty="0" smtClean="0"/>
              <a:t>riginal semantics </a:t>
            </a:r>
            <a:r>
              <a:rPr lang="en-US" dirty="0" smtClean="0"/>
              <a:t>(</a:t>
            </a:r>
            <a:r>
              <a:rPr lang="en-US" dirty="0" smtClean="0">
                <a:latin typeface="Consolas" pitchFamily="49" charset="0"/>
                <a:cs typeface="Consolas" pitchFamily="49" charset="0"/>
              </a:rPr>
              <a:t>relax</a:t>
            </a:r>
            <a:r>
              <a:rPr lang="en-US" dirty="0" smtClean="0"/>
              <a:t> statements have no effect)</a:t>
            </a:r>
          </a:p>
          <a:p>
            <a:pPr lvl="1"/>
            <a:r>
              <a:rPr lang="en-US" b="1" i="1" dirty="0"/>
              <a:t>R</a:t>
            </a:r>
            <a:r>
              <a:rPr lang="en-US" b="1" i="1" dirty="0" smtClean="0"/>
              <a:t>elaxed semantics</a:t>
            </a:r>
            <a:r>
              <a:rPr lang="en-US" i="1" dirty="0" smtClean="0"/>
              <a:t> </a:t>
            </a:r>
            <a:r>
              <a:rPr lang="en-US" dirty="0" smtClean="0"/>
              <a:t>(</a:t>
            </a:r>
            <a:r>
              <a:rPr lang="en-US" dirty="0" smtClean="0">
                <a:latin typeface="Consolas" pitchFamily="49" charset="0"/>
                <a:cs typeface="Consolas" pitchFamily="49" charset="0"/>
              </a:rPr>
              <a:t>relax</a:t>
            </a:r>
            <a:r>
              <a:rPr lang="en-US" dirty="0" smtClean="0"/>
              <a:t> statements modify state</a:t>
            </a:r>
            <a:r>
              <a:rPr lang="en-US" dirty="0"/>
              <a:t>)</a:t>
            </a:r>
            <a:endParaRPr lang="en-US" dirty="0" smtClean="0"/>
          </a:p>
          <a:p>
            <a:pPr lvl="1"/>
            <a:endParaRPr lang="en-US" dirty="0"/>
          </a:p>
        </p:txBody>
      </p:sp>
      <p:sp>
        <p:nvSpPr>
          <p:cNvPr id="6" name="Rounded Rectangle 5"/>
          <p:cNvSpPr/>
          <p:nvPr/>
        </p:nvSpPr>
        <p:spPr>
          <a:xfrm>
            <a:off x="5016653" y="4749671"/>
            <a:ext cx="533400" cy="4572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7" name="Group 6"/>
          <p:cNvGrpSpPr/>
          <p:nvPr/>
        </p:nvGrpSpPr>
        <p:grpSpPr>
          <a:xfrm>
            <a:off x="5702453" y="4749671"/>
            <a:ext cx="1905000" cy="457200"/>
            <a:chOff x="5791200" y="3352800"/>
            <a:chExt cx="1905000" cy="457200"/>
          </a:xfrm>
        </p:grpSpPr>
        <p:pic>
          <p:nvPicPr>
            <p:cNvPr id="8" name="Picture 7"/>
            <p:cNvPicPr>
              <a:picLocks noChangeAspect="1"/>
            </p:cNvPicPr>
            <p:nvPr/>
          </p:nvPicPr>
          <p:blipFill>
            <a:blip r:embed="rId4"/>
            <a:stretch>
              <a:fillRect/>
            </a:stretch>
          </p:blipFill>
          <p:spPr>
            <a:xfrm>
              <a:off x="5867400" y="3352800"/>
              <a:ext cx="1828800" cy="457200"/>
            </a:xfrm>
            <a:prstGeom prst="rect">
              <a:avLst/>
            </a:prstGeom>
          </p:spPr>
        </p:pic>
        <p:sp>
          <p:nvSpPr>
            <p:cNvPr id="9" name="Rectangle 8"/>
            <p:cNvSpPr/>
            <p:nvPr/>
          </p:nvSpPr>
          <p:spPr>
            <a:xfrm>
              <a:off x="5791200" y="3352800"/>
              <a:ext cx="762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sp>
        <p:nvSpPr>
          <p:cNvPr id="10" name="Rounded Rectangle 9"/>
          <p:cNvSpPr/>
          <p:nvPr/>
        </p:nvSpPr>
        <p:spPr>
          <a:xfrm>
            <a:off x="5016653" y="3551606"/>
            <a:ext cx="533400" cy="4572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Oval 10"/>
          <p:cNvSpPr/>
          <p:nvPr/>
        </p:nvSpPr>
        <p:spPr>
          <a:xfrm>
            <a:off x="7860116" y="3551606"/>
            <a:ext cx="533400" cy="457200"/>
          </a:xfrm>
          <a:prstGeom prst="ellipse">
            <a:avLst/>
          </a:prstGeom>
          <a:effectLst/>
        </p:spPr>
        <p:style>
          <a:lnRef idx="2">
            <a:schemeClr val="accent4">
              <a:shade val="50000"/>
            </a:schemeClr>
          </a:lnRef>
          <a:fillRef idx="1">
            <a:schemeClr val="accent4"/>
          </a:fillRef>
          <a:effectRef idx="0">
            <a:schemeClr val="accent4"/>
          </a:effectRef>
          <a:fontRef idx="minor">
            <a:schemeClr val="lt1"/>
          </a:fontRef>
        </p:style>
        <p:txBody>
          <a:bodyPr lIns="91440" rtlCol="0" anchor="ctr"/>
          <a:lstStyle/>
          <a:p>
            <a:pPr algn="ctr"/>
            <a:endParaRPr lang="en-US"/>
          </a:p>
        </p:txBody>
      </p:sp>
      <p:grpSp>
        <p:nvGrpSpPr>
          <p:cNvPr id="12" name="Group 11"/>
          <p:cNvGrpSpPr/>
          <p:nvPr/>
        </p:nvGrpSpPr>
        <p:grpSpPr>
          <a:xfrm>
            <a:off x="5702453" y="3551606"/>
            <a:ext cx="1905000" cy="457200"/>
            <a:chOff x="5791200" y="3352800"/>
            <a:chExt cx="1905000" cy="457200"/>
          </a:xfrm>
        </p:grpSpPr>
        <p:pic>
          <p:nvPicPr>
            <p:cNvPr id="13" name="Picture 12"/>
            <p:cNvPicPr>
              <a:picLocks noChangeAspect="1"/>
            </p:cNvPicPr>
            <p:nvPr/>
          </p:nvPicPr>
          <p:blipFill>
            <a:blip r:embed="rId4"/>
            <a:stretch>
              <a:fillRect/>
            </a:stretch>
          </p:blipFill>
          <p:spPr>
            <a:xfrm>
              <a:off x="5867400" y="3352800"/>
              <a:ext cx="1828800" cy="457200"/>
            </a:xfrm>
            <a:prstGeom prst="rect">
              <a:avLst/>
            </a:prstGeom>
          </p:spPr>
        </p:pic>
        <p:sp>
          <p:nvSpPr>
            <p:cNvPr id="14" name="Rectangle 13"/>
            <p:cNvSpPr/>
            <p:nvPr/>
          </p:nvSpPr>
          <p:spPr>
            <a:xfrm>
              <a:off x="5791200" y="3352800"/>
              <a:ext cx="762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sp>
        <p:nvSpPr>
          <p:cNvPr id="15" name="Rounded Rectangle 14"/>
          <p:cNvSpPr/>
          <p:nvPr/>
        </p:nvSpPr>
        <p:spPr>
          <a:xfrm>
            <a:off x="5016653" y="4174600"/>
            <a:ext cx="533400" cy="4572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6" name="Oval 15"/>
          <p:cNvSpPr/>
          <p:nvPr/>
        </p:nvSpPr>
        <p:spPr>
          <a:xfrm>
            <a:off x="7860116" y="4174600"/>
            <a:ext cx="533400" cy="457200"/>
          </a:xfrm>
          <a:prstGeom prst="ellipse">
            <a:avLst/>
          </a:prstGeom>
          <a:solidFill>
            <a:schemeClr val="accent4"/>
          </a:solidFill>
          <a:effectLst>
            <a:softEdge rad="63500"/>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17" name="Group 16"/>
          <p:cNvGrpSpPr/>
          <p:nvPr/>
        </p:nvGrpSpPr>
        <p:grpSpPr>
          <a:xfrm>
            <a:off x="5702453" y="4174600"/>
            <a:ext cx="1905000" cy="457200"/>
            <a:chOff x="5791200" y="3352800"/>
            <a:chExt cx="1905000" cy="457200"/>
          </a:xfrm>
        </p:grpSpPr>
        <p:pic>
          <p:nvPicPr>
            <p:cNvPr id="18" name="Picture 17"/>
            <p:cNvPicPr>
              <a:picLocks noChangeAspect="1"/>
            </p:cNvPicPr>
            <p:nvPr/>
          </p:nvPicPr>
          <p:blipFill>
            <a:blip r:embed="rId4"/>
            <a:stretch>
              <a:fillRect/>
            </a:stretch>
          </p:blipFill>
          <p:spPr>
            <a:xfrm>
              <a:off x="5867400" y="3352800"/>
              <a:ext cx="1828800" cy="457200"/>
            </a:xfrm>
            <a:prstGeom prst="rect">
              <a:avLst/>
            </a:prstGeom>
          </p:spPr>
        </p:pic>
        <p:sp>
          <p:nvSpPr>
            <p:cNvPr id="19" name="Rectangle 18"/>
            <p:cNvSpPr/>
            <p:nvPr/>
          </p:nvSpPr>
          <p:spPr>
            <a:xfrm>
              <a:off x="5791200" y="3352800"/>
              <a:ext cx="762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sp>
        <p:nvSpPr>
          <p:cNvPr id="20" name="Rounded Rectangle 19"/>
          <p:cNvSpPr/>
          <p:nvPr/>
        </p:nvSpPr>
        <p:spPr>
          <a:xfrm>
            <a:off x="7712883" y="3464918"/>
            <a:ext cx="804889" cy="180708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 name="Rounded Rectangle 20"/>
          <p:cNvSpPr/>
          <p:nvPr/>
        </p:nvSpPr>
        <p:spPr>
          <a:xfrm>
            <a:off x="5029200" y="1981200"/>
            <a:ext cx="533400" cy="4572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Oval 21"/>
          <p:cNvSpPr/>
          <p:nvPr/>
        </p:nvSpPr>
        <p:spPr>
          <a:xfrm>
            <a:off x="7872663" y="1981200"/>
            <a:ext cx="533400" cy="457200"/>
          </a:xfrm>
          <a:prstGeom prst="ellipse">
            <a:avLst/>
          </a:prstGeom>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23" name="Group 22"/>
          <p:cNvGrpSpPr/>
          <p:nvPr/>
        </p:nvGrpSpPr>
        <p:grpSpPr>
          <a:xfrm>
            <a:off x="5715000" y="1981200"/>
            <a:ext cx="1905000" cy="457200"/>
            <a:chOff x="5791200" y="3352800"/>
            <a:chExt cx="1905000" cy="457200"/>
          </a:xfrm>
        </p:grpSpPr>
        <p:pic>
          <p:nvPicPr>
            <p:cNvPr id="24" name="Picture 23"/>
            <p:cNvPicPr>
              <a:picLocks noChangeAspect="1"/>
            </p:cNvPicPr>
            <p:nvPr/>
          </p:nvPicPr>
          <p:blipFill>
            <a:blip r:embed="rId4"/>
            <a:stretch>
              <a:fillRect/>
            </a:stretch>
          </p:blipFill>
          <p:spPr>
            <a:xfrm>
              <a:off x="5867400" y="3352800"/>
              <a:ext cx="1828800" cy="457200"/>
            </a:xfrm>
            <a:prstGeom prst="rect">
              <a:avLst/>
            </a:prstGeom>
          </p:spPr>
        </p:pic>
        <p:sp>
          <p:nvSpPr>
            <p:cNvPr id="25" name="Rectangle 24"/>
            <p:cNvSpPr/>
            <p:nvPr/>
          </p:nvSpPr>
          <p:spPr>
            <a:xfrm>
              <a:off x="5791200" y="3352800"/>
              <a:ext cx="76200" cy="4572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grpSp>
      <p:sp>
        <p:nvSpPr>
          <p:cNvPr id="26" name="Rounded Rectangle 25"/>
          <p:cNvSpPr/>
          <p:nvPr/>
        </p:nvSpPr>
        <p:spPr>
          <a:xfrm>
            <a:off x="4893483" y="3464918"/>
            <a:ext cx="2743200" cy="1807090"/>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7860116" y="4749671"/>
            <a:ext cx="533400" cy="457200"/>
          </a:xfrm>
          <a:prstGeom prst="ellipse">
            <a:avLst/>
          </a:prstGeom>
          <a:solidFill>
            <a:schemeClr val="accent4"/>
          </a:solidFill>
          <a:effectLst>
            <a:softEdge rad="127000"/>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cxnSp>
        <p:nvCxnSpPr>
          <p:cNvPr id="28" name="Straight Arrow Connector 27"/>
          <p:cNvCxnSpPr/>
          <p:nvPr/>
        </p:nvCxnSpPr>
        <p:spPr>
          <a:xfrm>
            <a:off x="6629400" y="2590800"/>
            <a:ext cx="0" cy="685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2" name="Rounded Rectangle 51"/>
          <p:cNvSpPr/>
          <p:nvPr/>
        </p:nvSpPr>
        <p:spPr>
          <a:xfrm>
            <a:off x="6770436" y="5652492"/>
            <a:ext cx="1754633" cy="5722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smtClean="0"/>
              <a:t>Approximate</a:t>
            </a:r>
            <a:endParaRPr lang="en-US" b="1" dirty="0"/>
          </a:p>
        </p:txBody>
      </p:sp>
      <p:sp>
        <p:nvSpPr>
          <p:cNvPr id="53" name="Rounded Rectangle 52"/>
          <p:cNvSpPr/>
          <p:nvPr/>
        </p:nvSpPr>
        <p:spPr>
          <a:xfrm>
            <a:off x="4692308" y="5652492"/>
            <a:ext cx="2003997" cy="57225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b="1" dirty="0" smtClean="0"/>
              <a:t>Nondeterministic</a:t>
            </a:r>
            <a:endParaRPr lang="en-US" b="1" dirty="0"/>
          </a:p>
        </p:txBody>
      </p:sp>
    </p:spTree>
    <p:custDataLst>
      <p:tags r:id="rId1"/>
    </p:custDataLst>
    <p:extLst>
      <p:ext uri="{BB962C8B-B14F-4D97-AF65-F5344CB8AC3E}">
        <p14:creationId xmlns:p14="http://schemas.microsoft.com/office/powerpoint/2010/main" val="54361483"/>
      </p:ext>
    </p:extLst>
  </p:cSld>
  <p:clrMapOvr>
    <a:masterClrMapping/>
  </p:clrMapOvr>
  <mc:AlternateContent xmlns:mc="http://schemas.openxmlformats.org/markup-compatibility/2006" xmlns:p14="http://schemas.microsoft.com/office/powerpoint/2010/main">
    <mc:Choice Requires="p14">
      <p:transition spd="slow" p14:dur="2000" advTm="45904"/>
    </mc:Choice>
    <mc:Fallback xmlns="">
      <p:transition xmlns:p14="http://schemas.microsoft.com/office/powerpoint/2010/main" spd="slow" advTm="45904"/>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52" grpId="0" animBg="1"/>
      <p:bldP spid="5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rot="19179164">
            <a:off x="1679749" y="3379752"/>
            <a:ext cx="2908996" cy="7801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dirty="0"/>
              <a:t>Step #4: Verify that </a:t>
            </a:r>
            <a:r>
              <a:rPr lang="en-US" dirty="0" smtClean="0"/>
              <a:t>Relaxation Preserves Acceptability </a:t>
            </a:r>
            <a:endParaRPr lang="en-US" dirty="0"/>
          </a:p>
        </p:txBody>
      </p:sp>
      <p:cxnSp>
        <p:nvCxnSpPr>
          <p:cNvPr id="5" name="Straight Arrow Connector 4"/>
          <p:cNvCxnSpPr/>
          <p:nvPr/>
        </p:nvCxnSpPr>
        <p:spPr>
          <a:xfrm flipV="1">
            <a:off x="1676400" y="2293495"/>
            <a:ext cx="0" cy="3200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a:off x="1404079" y="5265295"/>
            <a:ext cx="6477000"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9" name="TextBox 8"/>
          <p:cNvSpPr txBox="1"/>
          <p:nvPr/>
        </p:nvSpPr>
        <p:spPr>
          <a:xfrm>
            <a:off x="384479" y="3709029"/>
            <a:ext cx="1047082" cy="369332"/>
          </a:xfrm>
          <a:prstGeom prst="rect">
            <a:avLst/>
          </a:prstGeom>
          <a:noFill/>
        </p:spPr>
        <p:txBody>
          <a:bodyPr wrap="none" rtlCol="0">
            <a:spAutoFit/>
          </a:bodyPr>
          <a:lstStyle/>
          <a:p>
            <a:r>
              <a:rPr lang="en-US" b="1" dirty="0" smtClean="0">
                <a:latin typeface="Calibri" pitchFamily="34" charset="0"/>
                <a:cs typeface="Calibri" pitchFamily="34" charset="0"/>
              </a:rPr>
              <a:t>Accuracy</a:t>
            </a:r>
            <a:endParaRPr lang="en-US" b="1" dirty="0">
              <a:latin typeface="Calibri" pitchFamily="34" charset="0"/>
              <a:cs typeface="Calibri" pitchFamily="34" charset="0"/>
            </a:endParaRPr>
          </a:p>
        </p:txBody>
      </p:sp>
      <p:sp>
        <p:nvSpPr>
          <p:cNvPr id="12" name="TextBox 11"/>
          <p:cNvSpPr txBox="1"/>
          <p:nvPr/>
        </p:nvSpPr>
        <p:spPr>
          <a:xfrm>
            <a:off x="3505200" y="5410200"/>
            <a:ext cx="2249534" cy="369332"/>
          </a:xfrm>
          <a:prstGeom prst="rect">
            <a:avLst/>
          </a:prstGeom>
          <a:noFill/>
        </p:spPr>
        <p:txBody>
          <a:bodyPr wrap="none" rtlCol="0">
            <a:spAutoFit/>
          </a:bodyPr>
          <a:lstStyle/>
          <a:p>
            <a:r>
              <a:rPr lang="en-US" b="1" dirty="0">
                <a:latin typeface="Calibri" pitchFamily="34" charset="0"/>
                <a:cs typeface="Calibri" pitchFamily="34" charset="0"/>
              </a:rPr>
              <a:t>Time/</a:t>
            </a:r>
            <a:r>
              <a:rPr lang="en-US" b="1" dirty="0" smtClean="0">
                <a:latin typeface="Calibri" pitchFamily="34" charset="0"/>
                <a:cs typeface="Calibri" pitchFamily="34" charset="0"/>
              </a:rPr>
              <a:t>Resources/Cost</a:t>
            </a:r>
            <a:endParaRPr lang="en-US" b="1" dirty="0">
              <a:latin typeface="Calibri" pitchFamily="34" charset="0"/>
              <a:cs typeface="Calibri" pitchFamily="34" charset="0"/>
            </a:endParaRPr>
          </a:p>
        </p:txBody>
      </p:sp>
      <p:sp>
        <p:nvSpPr>
          <p:cNvPr id="20" name="TextBox 19"/>
          <p:cNvSpPr txBox="1"/>
          <p:nvPr/>
        </p:nvSpPr>
        <p:spPr>
          <a:xfrm>
            <a:off x="1119245" y="4812693"/>
            <a:ext cx="470000" cy="369332"/>
          </a:xfrm>
          <a:prstGeom prst="rect">
            <a:avLst/>
          </a:prstGeom>
          <a:noFill/>
        </p:spPr>
        <p:txBody>
          <a:bodyPr wrap="none" rtlCol="0">
            <a:spAutoFit/>
          </a:bodyPr>
          <a:lstStyle/>
          <a:p>
            <a:pPr algn="r"/>
            <a:r>
              <a:rPr lang="en-US" b="1" dirty="0" smtClean="0">
                <a:latin typeface="Calibri" pitchFamily="34" charset="0"/>
                <a:cs typeface="Calibri" pitchFamily="34" charset="0"/>
              </a:rPr>
              <a:t>0%</a:t>
            </a:r>
            <a:endParaRPr lang="en-US" b="1" dirty="0">
              <a:latin typeface="Calibri" pitchFamily="34" charset="0"/>
              <a:cs typeface="Calibri" pitchFamily="34" charset="0"/>
            </a:endParaRPr>
          </a:p>
        </p:txBody>
      </p:sp>
      <p:sp>
        <p:nvSpPr>
          <p:cNvPr id="21" name="TextBox 20"/>
          <p:cNvSpPr txBox="1"/>
          <p:nvPr/>
        </p:nvSpPr>
        <p:spPr>
          <a:xfrm>
            <a:off x="915515" y="2422400"/>
            <a:ext cx="704039" cy="369332"/>
          </a:xfrm>
          <a:prstGeom prst="rect">
            <a:avLst/>
          </a:prstGeom>
          <a:noFill/>
        </p:spPr>
        <p:txBody>
          <a:bodyPr wrap="none" rtlCol="0">
            <a:spAutoFit/>
          </a:bodyPr>
          <a:lstStyle/>
          <a:p>
            <a:pPr algn="r"/>
            <a:r>
              <a:rPr lang="en-US" b="1" dirty="0" smtClean="0">
                <a:latin typeface="Calibri" pitchFamily="34" charset="0"/>
                <a:cs typeface="Calibri" pitchFamily="34" charset="0"/>
              </a:rPr>
              <a:t>100%</a:t>
            </a:r>
            <a:endParaRPr lang="en-US" b="1" dirty="0">
              <a:latin typeface="Calibri" pitchFamily="34" charset="0"/>
              <a:cs typeface="Calibri" pitchFamily="34" charset="0"/>
            </a:endParaRPr>
          </a:p>
        </p:txBody>
      </p:sp>
      <p:cxnSp>
        <p:nvCxnSpPr>
          <p:cNvPr id="23" name="Straight Connector 22"/>
          <p:cNvCxnSpPr/>
          <p:nvPr/>
        </p:nvCxnSpPr>
        <p:spPr>
          <a:xfrm>
            <a:off x="1589245" y="2607066"/>
            <a:ext cx="190500" cy="0"/>
          </a:xfrm>
          <a:prstGeom prst="line">
            <a:avLst/>
          </a:prstGeom>
        </p:spPr>
        <p:style>
          <a:lnRef idx="3">
            <a:schemeClr val="dk1"/>
          </a:lnRef>
          <a:fillRef idx="0">
            <a:schemeClr val="dk1"/>
          </a:fillRef>
          <a:effectRef idx="2">
            <a:schemeClr val="dk1"/>
          </a:effectRef>
          <a:fontRef idx="minor">
            <a:schemeClr val="tx1"/>
          </a:fontRef>
        </p:style>
      </p:cxnSp>
      <p:cxnSp>
        <p:nvCxnSpPr>
          <p:cNvPr id="28" name="Straight Connector 27"/>
          <p:cNvCxnSpPr/>
          <p:nvPr/>
        </p:nvCxnSpPr>
        <p:spPr>
          <a:xfrm>
            <a:off x="1582687" y="3882293"/>
            <a:ext cx="190500" cy="0"/>
          </a:xfrm>
          <a:prstGeom prst="line">
            <a:avLst/>
          </a:prstGeom>
        </p:spPr>
        <p:style>
          <a:lnRef idx="3">
            <a:schemeClr val="dk1"/>
          </a:lnRef>
          <a:fillRef idx="0">
            <a:schemeClr val="dk1"/>
          </a:fillRef>
          <a:effectRef idx="2">
            <a:schemeClr val="dk1"/>
          </a:effectRef>
          <a:fontRef idx="minor">
            <a:schemeClr val="tx1"/>
          </a:fontRef>
        </p:style>
      </p:cxnSp>
      <p:sp>
        <p:nvSpPr>
          <p:cNvPr id="43" name="Oval 42"/>
          <p:cNvSpPr/>
          <p:nvPr/>
        </p:nvSpPr>
        <p:spPr>
          <a:xfrm>
            <a:off x="7414971" y="25308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4" name="Oval 43"/>
          <p:cNvSpPr/>
          <p:nvPr/>
        </p:nvSpPr>
        <p:spPr>
          <a:xfrm>
            <a:off x="2085622" y="4519253"/>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45" name="Oval 44"/>
          <p:cNvSpPr/>
          <p:nvPr/>
        </p:nvSpPr>
        <p:spPr>
          <a:xfrm>
            <a:off x="5715000" y="260706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50" name="Oval 49"/>
          <p:cNvSpPr/>
          <p:nvPr/>
        </p:nvSpPr>
        <p:spPr>
          <a:xfrm>
            <a:off x="1600200" y="5189095"/>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2" name="Oval 21"/>
          <p:cNvSpPr/>
          <p:nvPr/>
        </p:nvSpPr>
        <p:spPr>
          <a:xfrm rot="19179164">
            <a:off x="2244951" y="3234993"/>
            <a:ext cx="2275677" cy="644767"/>
          </a:xfrm>
          <a:prstGeom prst="ellipse">
            <a:avLst/>
          </a:prstGeom>
          <a:noFill/>
          <a:ln w="57150"/>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 name="TextBox 2"/>
          <p:cNvSpPr txBox="1"/>
          <p:nvPr/>
        </p:nvSpPr>
        <p:spPr>
          <a:xfrm>
            <a:off x="4358639" y="3729224"/>
            <a:ext cx="2270761" cy="461665"/>
          </a:xfrm>
          <a:prstGeom prst="rect">
            <a:avLst/>
          </a:prstGeom>
          <a:noFill/>
        </p:spPr>
        <p:txBody>
          <a:bodyPr wrap="square" rtlCol="0">
            <a:spAutoFit/>
          </a:bodyPr>
          <a:lstStyle/>
          <a:p>
            <a:r>
              <a:rPr lang="en-US" sz="2400" dirty="0" smtClean="0"/>
              <a:t>Verify that  </a:t>
            </a:r>
            <a:endParaRPr lang="en-US" sz="2400" i="1" dirty="0"/>
          </a:p>
        </p:txBody>
      </p:sp>
      <p:sp>
        <p:nvSpPr>
          <p:cNvPr id="29" name="Oval 28"/>
          <p:cNvSpPr/>
          <p:nvPr/>
        </p:nvSpPr>
        <p:spPr>
          <a:xfrm rot="19179164">
            <a:off x="5723306" y="3876247"/>
            <a:ext cx="1104632" cy="283294"/>
          </a:xfrm>
          <a:prstGeom prst="ellipse">
            <a:avLst/>
          </a:prstGeom>
          <a:noFill/>
          <a:ln w="57150"/>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30" name="TextBox 29"/>
          <p:cNvSpPr txBox="1"/>
          <p:nvPr/>
        </p:nvSpPr>
        <p:spPr>
          <a:xfrm>
            <a:off x="4458693" y="4371729"/>
            <a:ext cx="2270761" cy="461665"/>
          </a:xfrm>
          <a:prstGeom prst="rect">
            <a:avLst/>
          </a:prstGeom>
          <a:noFill/>
        </p:spPr>
        <p:txBody>
          <a:bodyPr wrap="square" rtlCol="0">
            <a:spAutoFit/>
          </a:bodyPr>
          <a:lstStyle/>
          <a:p>
            <a:r>
              <a:rPr lang="en-US" sz="2400" dirty="0" smtClean="0"/>
              <a:t>is a subset of </a:t>
            </a:r>
            <a:endParaRPr lang="en-US" sz="2400" i="1" dirty="0"/>
          </a:p>
        </p:txBody>
      </p:sp>
      <p:sp>
        <p:nvSpPr>
          <p:cNvPr id="31" name="Oval 30"/>
          <p:cNvSpPr/>
          <p:nvPr/>
        </p:nvSpPr>
        <p:spPr>
          <a:xfrm rot="19179164">
            <a:off x="6191187" y="4133084"/>
            <a:ext cx="1728061" cy="50242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2" name="Oval 31"/>
          <p:cNvSpPr/>
          <p:nvPr/>
        </p:nvSpPr>
        <p:spPr>
          <a:xfrm>
            <a:off x="4072953" y="2860650"/>
            <a:ext cx="152400" cy="152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Oval 32"/>
          <p:cNvSpPr/>
          <p:nvPr/>
        </p:nvSpPr>
        <p:spPr>
          <a:xfrm>
            <a:off x="2973262" y="3508428"/>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4" name="Oval 23"/>
          <p:cNvSpPr/>
          <p:nvPr/>
        </p:nvSpPr>
        <p:spPr>
          <a:xfrm>
            <a:off x="3430979" y="3135086"/>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5" name="Oval 24"/>
          <p:cNvSpPr/>
          <p:nvPr/>
        </p:nvSpPr>
        <p:spPr>
          <a:xfrm>
            <a:off x="4832268" y="2696172"/>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6" name="Oval 25"/>
          <p:cNvSpPr/>
          <p:nvPr/>
        </p:nvSpPr>
        <p:spPr>
          <a:xfrm>
            <a:off x="2572535" y="3910231"/>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27" name="Oval 26"/>
          <p:cNvSpPr/>
          <p:nvPr/>
        </p:nvSpPr>
        <p:spPr>
          <a:xfrm>
            <a:off x="6539345" y="2545257"/>
            <a:ext cx="152400" cy="15240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686237"/>
      </p:ext>
    </p:extLst>
  </p:cSld>
  <p:clrMapOvr>
    <a:masterClrMapping/>
  </p:clrMapOvr>
  <mc:AlternateContent xmlns:mc="http://schemas.openxmlformats.org/markup-compatibility/2006" xmlns:p14="http://schemas.microsoft.com/office/powerpoint/2010/main">
    <mc:Choice Requires="p14">
      <p:transition p14:dur="0" advTm="18289"/>
    </mc:Choice>
    <mc:Fallback xmlns="">
      <p:transition xmlns:p14="http://schemas.microsoft.com/office/powerpoint/2010/main" advTm="18289"/>
    </mc:Fallback>
  </mc:AlternateContent>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071" y="2667000"/>
            <a:ext cx="9004360" cy="2585323"/>
          </a:xfrm>
          <a:prstGeom prst="rect">
            <a:avLst/>
          </a:prstGeom>
          <a:noFill/>
        </p:spPr>
        <p:txBody>
          <a:bodyPr wrap="square" rtlCol="0">
            <a:spAutoFit/>
          </a:bodyPr>
          <a:lstStyle/>
          <a:p>
            <a:pPr algn="ctr"/>
            <a:r>
              <a:rPr lang="en-US" sz="5400" b="1" dirty="0" smtClean="0">
                <a:latin typeface="Calibri"/>
                <a:cs typeface="Calibri"/>
              </a:rPr>
              <a:t>How do we verify relaxed programs?</a:t>
            </a:r>
            <a:endParaRPr lang="en-US" sz="5400" b="1" dirty="0">
              <a:latin typeface="Calibri"/>
              <a:cs typeface="Calibri"/>
            </a:endParaRPr>
          </a:p>
          <a:p>
            <a:pPr algn="ctr"/>
            <a:r>
              <a:rPr lang="en-US" sz="5400" b="1" dirty="0" smtClean="0">
                <a:latin typeface="Calibri"/>
                <a:cs typeface="Calibri"/>
              </a:rPr>
              <a:t>(Verification Strategies)</a:t>
            </a:r>
            <a:endParaRPr lang="en-US" sz="5400" b="1" dirty="0">
              <a:latin typeface="Calibri"/>
              <a:cs typeface="Calibri"/>
            </a:endParaRPr>
          </a:p>
        </p:txBody>
      </p:sp>
    </p:spTree>
    <p:extLst>
      <p:ext uri="{BB962C8B-B14F-4D97-AF65-F5344CB8AC3E}">
        <p14:creationId xmlns:p14="http://schemas.microsoft.com/office/powerpoint/2010/main" val="2983825182"/>
      </p:ext>
    </p:extLst>
  </p:cSld>
  <p:clrMapOvr>
    <a:masterClrMapping/>
  </p:clrMapOvr>
  <mc:AlternateContent xmlns:mc="http://schemas.openxmlformats.org/markup-compatibility/2006" xmlns:p14="http://schemas.microsoft.com/office/powerpoint/2010/main">
    <mc:Choice Requires="p14">
      <p:transition spd="slow" p14:dur="2000" advTm="10356"/>
    </mc:Choice>
    <mc:Fallback xmlns="">
      <p:transition xmlns:p14="http://schemas.microsoft.com/office/powerpoint/2010/main" spd="slow" advTm="10356"/>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Program Logic (Hoare Logic)</a:t>
            </a:r>
            <a:endParaRPr lang="en-US" dirty="0"/>
          </a:p>
        </p:txBody>
      </p:sp>
      <p:sp>
        <p:nvSpPr>
          <p:cNvPr id="4" name="Rectangle 3"/>
          <p:cNvSpPr/>
          <p:nvPr/>
        </p:nvSpPr>
        <p:spPr>
          <a:xfrm>
            <a:off x="1828800" y="5105400"/>
            <a:ext cx="5562600" cy="553998"/>
          </a:xfrm>
          <a:prstGeom prst="rect">
            <a:avLst/>
          </a:prstGeom>
          <a:ln w="28575" cmpd="sng">
            <a:noFill/>
          </a:ln>
        </p:spPr>
        <p:txBody>
          <a:bodyPr wrap="square">
            <a:spAutoFit/>
          </a:bodyPr>
          <a:lstStyle/>
          <a:p>
            <a:r>
              <a:rPr lang="en-US" sz="3000" dirty="0" smtClean="0">
                <a:latin typeface="Consolas"/>
                <a:cs typeface="Consolas"/>
              </a:rPr>
              <a:t>{</a:t>
            </a:r>
            <a:r>
              <a:rPr lang="en-US" sz="3000" dirty="0" smtClean="0">
                <a:solidFill>
                  <a:srgbClr val="000000"/>
                </a:solidFill>
                <a:latin typeface="Consolas"/>
                <a:cs typeface="Consolas"/>
              </a:rPr>
              <a:t>x = 1</a:t>
            </a:r>
            <a:r>
              <a:rPr lang="en-US" sz="3000" dirty="0" smtClean="0">
                <a:latin typeface="Consolas"/>
                <a:cs typeface="Consolas"/>
              </a:rPr>
              <a:t>} x = x + 1 {</a:t>
            </a:r>
            <a:r>
              <a:rPr lang="en-US" sz="3000" dirty="0" smtClean="0">
                <a:solidFill>
                  <a:srgbClr val="000000"/>
                </a:solidFill>
                <a:latin typeface="Consolas"/>
                <a:cs typeface="Consolas"/>
              </a:rPr>
              <a:t>x = 2</a:t>
            </a:r>
            <a:r>
              <a:rPr lang="en-US" sz="3000" dirty="0" smtClean="0">
                <a:latin typeface="Consolas"/>
                <a:cs typeface="Consolas"/>
              </a:rPr>
              <a:t>}</a:t>
            </a:r>
            <a:endParaRPr lang="en-US" sz="3000" dirty="0">
              <a:latin typeface="Consolas"/>
              <a:cs typeface="Consolas"/>
            </a:endParaRPr>
          </a:p>
        </p:txBody>
      </p:sp>
      <p:sp>
        <p:nvSpPr>
          <p:cNvPr id="5" name="Rectangle 4"/>
          <p:cNvSpPr/>
          <p:nvPr/>
        </p:nvSpPr>
        <p:spPr>
          <a:xfrm>
            <a:off x="1447800" y="3505200"/>
            <a:ext cx="6324600" cy="1015663"/>
          </a:xfrm>
          <a:prstGeom prst="rect">
            <a:avLst/>
          </a:prstGeom>
        </p:spPr>
        <p:txBody>
          <a:bodyPr wrap="square">
            <a:spAutoFit/>
          </a:bodyPr>
          <a:lstStyle/>
          <a:p>
            <a:pPr algn="ctr"/>
            <a:r>
              <a:rPr lang="en-US" sz="3000" dirty="0"/>
              <a:t>If we </a:t>
            </a:r>
            <a:r>
              <a:rPr lang="en-US" sz="3000" dirty="0" smtClean="0"/>
              <a:t>know P </a:t>
            </a:r>
            <a:r>
              <a:rPr lang="en-US" sz="3000" dirty="0"/>
              <a:t>is </a:t>
            </a:r>
            <a:r>
              <a:rPr lang="en-US" sz="3000" dirty="0" smtClean="0"/>
              <a:t>true of the program, </a:t>
            </a:r>
            <a:r>
              <a:rPr lang="en-US" sz="3000" dirty="0"/>
              <a:t>then after execution of s, Q is also </a:t>
            </a:r>
            <a:r>
              <a:rPr lang="en-US" sz="3000" dirty="0" smtClean="0"/>
              <a:t>true</a:t>
            </a:r>
            <a:endParaRPr lang="en-US" sz="3000" dirty="0"/>
          </a:p>
        </p:txBody>
      </p:sp>
      <p:graphicFrame>
        <p:nvGraphicFramePr>
          <p:cNvPr id="7" name="Object 6"/>
          <p:cNvGraphicFramePr>
            <a:graphicFrameLocks noChangeAspect="1"/>
          </p:cNvGraphicFramePr>
          <p:nvPr>
            <p:extLst>
              <p:ext uri="{D42A27DB-BD31-4B8C-83A1-F6EECF244321}">
                <p14:modId xmlns:p14="http://schemas.microsoft.com/office/powerpoint/2010/main" val="3355774187"/>
              </p:ext>
            </p:extLst>
          </p:nvPr>
        </p:nvGraphicFramePr>
        <p:xfrm>
          <a:off x="3063875" y="2233613"/>
          <a:ext cx="2784475" cy="754062"/>
        </p:xfrm>
        <a:graphic>
          <a:graphicData uri="http://schemas.openxmlformats.org/presentationml/2006/ole">
            <mc:AlternateContent xmlns:mc="http://schemas.openxmlformats.org/markup-compatibility/2006">
              <mc:Choice xmlns:v="urn:schemas-microsoft-com:vml" Requires="v">
                <p:oleObj spid="_x0000_s5140" name="Equation" r:id="rId3" imgW="749160" imgH="203040" progId="Equation.3">
                  <p:embed/>
                </p:oleObj>
              </mc:Choice>
              <mc:Fallback>
                <p:oleObj name="Equation" r:id="rId3" imgW="749160" imgH="203040" progId="Equation.3">
                  <p:embed/>
                  <p:pic>
                    <p:nvPicPr>
                      <p:cNvPr id="0" name=""/>
                      <p:cNvPicPr/>
                      <p:nvPr/>
                    </p:nvPicPr>
                    <p:blipFill>
                      <a:blip r:embed="rId4"/>
                      <a:stretch>
                        <a:fillRect/>
                      </a:stretch>
                    </p:blipFill>
                    <p:spPr>
                      <a:xfrm>
                        <a:off x="3063875" y="2233613"/>
                        <a:ext cx="2784475" cy="754062"/>
                      </a:xfrm>
                      <a:prstGeom prst="rect">
                        <a:avLst/>
                      </a:prstGeom>
                    </p:spPr>
                  </p:pic>
                </p:oleObj>
              </mc:Fallback>
            </mc:AlternateContent>
          </a:graphicData>
        </a:graphic>
      </p:graphicFrame>
    </p:spTree>
    <p:extLst>
      <p:ext uri="{BB962C8B-B14F-4D97-AF65-F5344CB8AC3E}">
        <p14:creationId xmlns:p14="http://schemas.microsoft.com/office/powerpoint/2010/main" val="2705483939"/>
      </p:ext>
    </p:extLst>
  </p:cSld>
  <p:clrMapOvr>
    <a:masterClrMapping/>
  </p:clrMapOvr>
  <mc:AlternateContent xmlns:mc="http://schemas.openxmlformats.org/markup-compatibility/2006" xmlns:p14="http://schemas.microsoft.com/office/powerpoint/2010/main">
    <mc:Choice Requires="p14">
      <p:transition spd="slow" p14:dur="2000" advTm="28260"/>
    </mc:Choice>
    <mc:Fallback xmlns="">
      <p:transition xmlns:p14="http://schemas.microsoft.com/office/powerpoint/2010/main" spd="slow" advTm="28260"/>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Strategy #1: Verify Relaxed Program Outright</a:t>
            </a:r>
            <a:endParaRPr lang="en-US" dirty="0"/>
          </a:p>
        </p:txBody>
      </p:sp>
      <p:sp>
        <p:nvSpPr>
          <p:cNvPr id="3" name="Content Placeholder 2"/>
          <p:cNvSpPr>
            <a:spLocks noGrp="1"/>
          </p:cNvSpPr>
          <p:nvPr>
            <p:ph idx="1"/>
          </p:nvPr>
        </p:nvSpPr>
        <p:spPr>
          <a:xfrm>
            <a:off x="457200" y="4876800"/>
            <a:ext cx="8458200" cy="1676400"/>
          </a:xfrm>
        </p:spPr>
        <p:txBody>
          <a:bodyPr>
            <a:normAutofit/>
          </a:bodyPr>
          <a:lstStyle/>
          <a:p>
            <a:r>
              <a:rPr lang="en-US" dirty="0" smtClean="0"/>
              <a:t>Note: relaxation doesn’t modify y</a:t>
            </a:r>
          </a:p>
          <a:p>
            <a:r>
              <a:rPr lang="en-US" dirty="0" smtClean="0"/>
              <a:t> </a:t>
            </a:r>
            <a:r>
              <a:rPr lang="en-US" dirty="0"/>
              <a:t>I</a:t>
            </a:r>
            <a:r>
              <a:rPr lang="en-US" dirty="0" smtClean="0"/>
              <a:t>f S(y) is true in the original program, then it’s also true in relaxed</a:t>
            </a:r>
          </a:p>
        </p:txBody>
      </p:sp>
      <p:sp>
        <p:nvSpPr>
          <p:cNvPr id="4" name="TextBox 3"/>
          <p:cNvSpPr txBox="1"/>
          <p:nvPr/>
        </p:nvSpPr>
        <p:spPr>
          <a:xfrm>
            <a:off x="533400" y="1828800"/>
            <a:ext cx="4343400" cy="289925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10000"/>
              </a:lnSpc>
            </a:pPr>
            <a:r>
              <a:rPr lang="en-US" sz="2400" dirty="0" smtClean="0">
                <a:latin typeface="Consolas"/>
                <a:cs typeface="Consolas"/>
              </a:rPr>
              <a:t>&lt;...&gt;</a:t>
            </a:r>
          </a:p>
          <a:p>
            <a:pPr>
              <a:lnSpc>
                <a:spcPct val="110000"/>
              </a:lnSpc>
            </a:pPr>
            <a:r>
              <a:rPr lang="en-US" sz="2400" dirty="0" smtClean="0">
                <a:latin typeface="Consolas"/>
                <a:cs typeface="Consolas"/>
              </a:rPr>
              <a:t>{ P(x, y) &amp;&amp; Q(y) }</a:t>
            </a:r>
          </a:p>
          <a:p>
            <a:pPr>
              <a:lnSpc>
                <a:spcPct val="110000"/>
              </a:lnSpc>
            </a:pPr>
            <a:r>
              <a:rPr lang="en-US" sz="2400" dirty="0" smtClean="0">
                <a:latin typeface="Consolas"/>
                <a:cs typeface="Consolas"/>
              </a:rPr>
              <a:t>relax (x) </a:t>
            </a:r>
            <a:r>
              <a:rPr lang="en-US" sz="2400" dirty="0" err="1" smtClean="0">
                <a:latin typeface="Consolas"/>
                <a:cs typeface="Consolas"/>
              </a:rPr>
              <a:t>st</a:t>
            </a:r>
            <a:r>
              <a:rPr lang="en-US" sz="2400" dirty="0" smtClean="0">
                <a:latin typeface="Consolas"/>
                <a:cs typeface="Consolas"/>
              </a:rPr>
              <a:t> (true);</a:t>
            </a:r>
          </a:p>
          <a:p>
            <a:pPr>
              <a:lnSpc>
                <a:spcPct val="110000"/>
              </a:lnSpc>
            </a:pPr>
            <a:r>
              <a:rPr lang="en-US" sz="2400" dirty="0">
                <a:latin typeface="Consolas"/>
                <a:cs typeface="Consolas"/>
              </a:rPr>
              <a:t>{ </a:t>
            </a:r>
            <a:r>
              <a:rPr lang="en-US" sz="2400" dirty="0" smtClean="0">
                <a:latin typeface="Consolas"/>
                <a:cs typeface="Consolas"/>
              </a:rPr>
              <a:t>Q(y) }</a:t>
            </a:r>
          </a:p>
          <a:p>
            <a:pPr>
              <a:lnSpc>
                <a:spcPct val="110000"/>
              </a:lnSpc>
            </a:pPr>
            <a:r>
              <a:rPr lang="en-US" sz="2400" dirty="0" smtClean="0">
                <a:latin typeface="Consolas"/>
                <a:cs typeface="Consolas"/>
              </a:rPr>
              <a:t>&lt;...&gt;</a:t>
            </a:r>
          </a:p>
          <a:p>
            <a:pPr>
              <a:lnSpc>
                <a:spcPct val="110000"/>
              </a:lnSpc>
            </a:pPr>
            <a:r>
              <a:rPr lang="en-US" sz="2400" dirty="0" smtClean="0">
                <a:latin typeface="Consolas"/>
                <a:cs typeface="Consolas"/>
              </a:rPr>
              <a:t>{ R(x, y) &amp;&amp; S(y)}</a:t>
            </a:r>
          </a:p>
          <a:p>
            <a:r>
              <a:rPr lang="en-US" sz="2400" dirty="0">
                <a:latin typeface="Consolas"/>
                <a:cs typeface="Consolas"/>
              </a:rPr>
              <a:t>a</a:t>
            </a:r>
            <a:r>
              <a:rPr lang="en-US" sz="2400" dirty="0" smtClean="0">
                <a:latin typeface="Consolas"/>
                <a:cs typeface="Consolas"/>
              </a:rPr>
              <a:t>ssert R(x, y)</a:t>
            </a:r>
            <a:r>
              <a:rPr lang="en-US" sz="2400" dirty="0">
                <a:latin typeface="Consolas"/>
                <a:cs typeface="Consolas"/>
              </a:rPr>
              <a:t> </a:t>
            </a:r>
            <a:r>
              <a:rPr lang="en-US" sz="2400" dirty="0" smtClean="0">
                <a:latin typeface="Consolas"/>
                <a:cs typeface="Consolas"/>
              </a:rPr>
              <a:t>&amp;&amp; S(y);</a:t>
            </a:r>
          </a:p>
        </p:txBody>
      </p:sp>
      <p:sp>
        <p:nvSpPr>
          <p:cNvPr id="5" name="Rounded Rectangle 4"/>
          <p:cNvSpPr/>
          <p:nvPr/>
        </p:nvSpPr>
        <p:spPr>
          <a:xfrm>
            <a:off x="5638800" y="2011041"/>
            <a:ext cx="2667001" cy="10978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Lose P because x is modified</a:t>
            </a:r>
            <a:endParaRPr lang="en-US" dirty="0"/>
          </a:p>
        </p:txBody>
      </p:sp>
      <p:sp>
        <p:nvSpPr>
          <p:cNvPr id="19" name="Rounded Rectangle 18"/>
          <p:cNvSpPr/>
          <p:nvPr/>
        </p:nvSpPr>
        <p:spPr>
          <a:xfrm>
            <a:off x="5875865" y="3588803"/>
            <a:ext cx="2192867" cy="10978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Prove both R and S</a:t>
            </a:r>
            <a:endParaRPr lang="en-US" dirty="0"/>
          </a:p>
        </p:txBody>
      </p:sp>
      <p:cxnSp>
        <p:nvCxnSpPr>
          <p:cNvPr id="20" name="Straight Arrow Connector 19"/>
          <p:cNvCxnSpPr>
            <a:stCxn id="19" idx="1"/>
          </p:cNvCxnSpPr>
          <p:nvPr/>
        </p:nvCxnSpPr>
        <p:spPr>
          <a:xfrm flipH="1">
            <a:off x="3924299" y="4137725"/>
            <a:ext cx="195156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0" name="Elbow Connector 29"/>
          <p:cNvCxnSpPr>
            <a:stCxn id="5" idx="1"/>
          </p:cNvCxnSpPr>
          <p:nvPr/>
        </p:nvCxnSpPr>
        <p:spPr>
          <a:xfrm rot="10800000" flipV="1">
            <a:off x="2209800" y="2559963"/>
            <a:ext cx="3429000" cy="718464"/>
          </a:xfrm>
          <a:prstGeom prst="bentConnector3">
            <a:avLst>
              <a:gd name="adj1" fmla="val 17078"/>
            </a:avLst>
          </a:prstGeom>
          <a:ln>
            <a:tailEnd type="arrow"/>
          </a:ln>
        </p:spPr>
        <p:style>
          <a:lnRef idx="2">
            <a:schemeClr val="dk1"/>
          </a:lnRef>
          <a:fillRef idx="0">
            <a:schemeClr val="dk1"/>
          </a:fillRef>
          <a:effectRef idx="1">
            <a:schemeClr val="dk1"/>
          </a:effectRef>
          <a:fontRef idx="minor">
            <a:schemeClr val="tx1"/>
          </a:fontRef>
        </p:style>
      </p:cxnSp>
    </p:spTree>
    <p:custDataLst>
      <p:tags r:id="rId1"/>
    </p:custDataLst>
    <p:extLst>
      <p:ext uri="{BB962C8B-B14F-4D97-AF65-F5344CB8AC3E}">
        <p14:creationId xmlns:p14="http://schemas.microsoft.com/office/powerpoint/2010/main" val="3932929373"/>
      </p:ext>
    </p:extLst>
  </p:cSld>
  <p:clrMapOvr>
    <a:masterClrMapping/>
  </p:clrMapOvr>
  <mc:AlternateContent xmlns:mc="http://schemas.openxmlformats.org/markup-compatibility/2006" xmlns:p14="http://schemas.microsoft.com/office/powerpoint/2010/main">
    <mc:Choice Requires="p14">
      <p:transition spd="slow" p14:dur="2000" advTm="83455"/>
    </mc:Choice>
    <mc:Fallback xmlns="">
      <p:transition xmlns:p14="http://schemas.microsoft.com/office/powerpoint/2010/main" spd="slow" advTm="83455"/>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par>
                          <p:cTn id="7" fill="hold">
                            <p:stCondLst>
                              <p:cond delay="0"/>
                            </p:stCondLst>
                            <p:childTnLst>
                              <p:par>
                                <p:cTn id="8" presetID="15" presetClass="emph" presetSubtype="0" nodeType="afterEffect">
                                  <p:stCondLst>
                                    <p:cond delay="0"/>
                                  </p:stCondLst>
                                  <p:endCondLst>
                                    <p:cond evt="onNext" delay="0">
                                      <p:tgtEl>
                                        <p:sldTgt/>
                                      </p:tgtEl>
                                    </p:cond>
                                  </p:endCondLst>
                                  <p:childTnLst>
                                    <p:set>
                                      <p:cBhvr override="childStyle">
                                        <p:cTn id="9" dur="indefinite"/>
                                        <p:tgtEl>
                                          <p:spTgt spid="4">
                                            <p:txEl>
                                              <p:pRg st="1" end="1"/>
                                            </p:txEl>
                                          </p:spTgt>
                                        </p:tgtEl>
                                        <p:attrNameLst>
                                          <p:attrName>style.fontWeight</p:attrName>
                                        </p:attrNameLst>
                                      </p:cBhvr>
                                      <p:to>
                                        <p:strVal val="bol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childTnLst>
                                </p:cTn>
                              </p:par>
                            </p:childTnLst>
                          </p:cTn>
                        </p:par>
                        <p:par>
                          <p:cTn id="14" fill="hold">
                            <p:stCondLst>
                              <p:cond delay="0"/>
                            </p:stCondLst>
                            <p:childTnLst>
                              <p:par>
                                <p:cTn id="15" presetID="15" presetClass="emph" presetSubtype="0" nodeType="afterEffect">
                                  <p:stCondLst>
                                    <p:cond delay="0"/>
                                  </p:stCondLst>
                                  <p:endCondLst>
                                    <p:cond evt="onNext" delay="0">
                                      <p:tgtEl>
                                        <p:sldTgt/>
                                      </p:tgtEl>
                                    </p:cond>
                                  </p:endCondLst>
                                  <p:childTnLst>
                                    <p:set>
                                      <p:cBhvr override="childStyle">
                                        <p:cTn id="16" dur="indefinite"/>
                                        <p:tgtEl>
                                          <p:spTgt spid="4">
                                            <p:txEl>
                                              <p:pRg st="3" end="3"/>
                                            </p:txEl>
                                          </p:spTgt>
                                        </p:tgtEl>
                                        <p:attrNameLst>
                                          <p:attrName>style.fontWeight</p:attrName>
                                        </p:attrNameLst>
                                      </p:cBhvr>
                                      <p:to>
                                        <p:strVal val="bold"/>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par>
                          <p:cTn id="25" fill="hold">
                            <p:stCondLst>
                              <p:cond delay="0"/>
                            </p:stCondLst>
                            <p:childTnLst>
                              <p:par>
                                <p:cTn id="26" presetID="15" presetClass="emph" presetSubtype="0" nodeType="afterEffect">
                                  <p:stCondLst>
                                    <p:cond delay="0"/>
                                  </p:stCondLst>
                                  <p:endCondLst>
                                    <p:cond evt="onNext" delay="0">
                                      <p:tgtEl>
                                        <p:sldTgt/>
                                      </p:tgtEl>
                                    </p:cond>
                                  </p:endCondLst>
                                  <p:childTnLst>
                                    <p:set>
                                      <p:cBhvr override="childStyle">
                                        <p:cTn id="27" dur="indefinite"/>
                                        <p:tgtEl>
                                          <p:spTgt spid="4">
                                            <p:txEl>
                                              <p:pRg st="5" end="5"/>
                                            </p:txEl>
                                          </p:spTgt>
                                        </p:tgtEl>
                                        <p:attrNameLst>
                                          <p:attrName>style.fontWeight</p:attrName>
                                        </p:attrNameLst>
                                      </p:cBhvr>
                                      <p:to>
                                        <p:strVal val="bold"/>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
                                            <p:txEl>
                                              <p:pRg st="1" end="1"/>
                                            </p:txEl>
                                          </p:spTgt>
                                        </p:tgtEl>
                                        <p:attrNameLst>
                                          <p:attrName>style.visibility</p:attrName>
                                        </p:attrNameLst>
                                      </p:cBhvr>
                                      <p:to>
                                        <p:strVal val="visible"/>
                                      </p:to>
                                    </p:set>
                                  </p:childTnLst>
                                </p:cTn>
                              </p:par>
                              <p:par>
                                <p:cTn id="38" presetID="15" presetClass="emph" presetSubtype="0" nodeType="withEffect">
                                  <p:stCondLst>
                                    <p:cond delay="0"/>
                                  </p:stCondLst>
                                  <p:endCondLst>
                                    <p:cond evt="onNext" delay="0">
                                      <p:tgtEl>
                                        <p:sldTgt/>
                                      </p:tgtEl>
                                    </p:cond>
                                  </p:endCondLst>
                                  <p:childTnLst>
                                    <p:set>
                                      <p:cBhvr override="childStyle">
                                        <p:cTn id="39" dur="indefinite"/>
                                        <p:tgtEl>
                                          <p:spTgt spid="4">
                                            <p:txEl>
                                              <p:pRg st="6" end="6"/>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Relational Program Logic</a:t>
            </a:r>
            <a:endParaRPr lang="en-US" dirty="0"/>
          </a:p>
        </p:txBody>
      </p:sp>
      <p:sp>
        <p:nvSpPr>
          <p:cNvPr id="4" name="Rectangle 3"/>
          <p:cNvSpPr/>
          <p:nvPr/>
        </p:nvSpPr>
        <p:spPr>
          <a:xfrm>
            <a:off x="1828800" y="4495800"/>
            <a:ext cx="5638800" cy="1292662"/>
          </a:xfrm>
          <a:prstGeom prst="rect">
            <a:avLst/>
          </a:prstGeom>
          <a:ln w="28575" cmpd="sng">
            <a:solidFill>
              <a:schemeClr val="tx1"/>
            </a:solidFill>
          </a:ln>
        </p:spPr>
        <p:txBody>
          <a:bodyPr wrap="square">
            <a:spAutoFit/>
          </a:bodyPr>
          <a:lstStyle/>
          <a:p>
            <a:r>
              <a:rPr lang="en-US" sz="2600" dirty="0" smtClean="0">
                <a:latin typeface="Consolas"/>
                <a:cs typeface="Consolas"/>
              </a:rPr>
              <a:t>{</a:t>
            </a:r>
            <a:r>
              <a:rPr lang="en-US" sz="2600" dirty="0" smtClean="0">
                <a:solidFill>
                  <a:srgbClr val="953735"/>
                </a:solidFill>
                <a:latin typeface="Consolas"/>
                <a:cs typeface="Consolas"/>
              </a:rPr>
              <a:t>x&lt;r&gt; </a:t>
            </a:r>
            <a:r>
              <a:rPr lang="en-US" sz="2600" dirty="0" smtClean="0">
                <a:latin typeface="Consolas"/>
                <a:cs typeface="Consolas"/>
              </a:rPr>
              <a:t>== </a:t>
            </a:r>
            <a:r>
              <a:rPr lang="en-US" sz="2600" dirty="0">
                <a:solidFill>
                  <a:schemeClr val="tx2">
                    <a:lumMod val="60000"/>
                    <a:lumOff val="40000"/>
                  </a:schemeClr>
                </a:solidFill>
                <a:latin typeface="Consolas"/>
                <a:cs typeface="Consolas"/>
              </a:rPr>
              <a:t>x&lt;o</a:t>
            </a:r>
            <a:r>
              <a:rPr lang="en-US" sz="2600" dirty="0" smtClean="0">
                <a:solidFill>
                  <a:schemeClr val="tx2">
                    <a:lumMod val="60000"/>
                    <a:lumOff val="40000"/>
                  </a:schemeClr>
                </a:solidFill>
                <a:latin typeface="Consolas"/>
                <a:cs typeface="Consolas"/>
              </a:rPr>
              <a:t>&gt;</a:t>
            </a:r>
            <a:r>
              <a:rPr lang="en-US" sz="2600" dirty="0" smtClean="0">
                <a:latin typeface="Consolas"/>
                <a:cs typeface="Consolas"/>
              </a:rPr>
              <a:t> &amp;&amp; </a:t>
            </a:r>
            <a:r>
              <a:rPr lang="en-US" sz="2600" dirty="0" smtClean="0">
                <a:solidFill>
                  <a:schemeClr val="accent2">
                    <a:lumMod val="75000"/>
                  </a:schemeClr>
                </a:solidFill>
                <a:latin typeface="Consolas"/>
                <a:cs typeface="Consolas"/>
              </a:rPr>
              <a:t>y&lt;r&gt;</a:t>
            </a:r>
            <a:r>
              <a:rPr lang="en-US" sz="2600" dirty="0" smtClean="0">
                <a:latin typeface="Consolas"/>
                <a:cs typeface="Consolas"/>
              </a:rPr>
              <a:t> == </a:t>
            </a:r>
            <a:r>
              <a:rPr lang="en-US" sz="2600" dirty="0" smtClean="0">
                <a:solidFill>
                  <a:schemeClr val="tx2">
                    <a:lumMod val="60000"/>
                    <a:lumOff val="40000"/>
                  </a:schemeClr>
                </a:solidFill>
                <a:latin typeface="Consolas"/>
                <a:cs typeface="Consolas"/>
              </a:rPr>
              <a:t>y&lt;o&gt;</a:t>
            </a:r>
            <a:r>
              <a:rPr lang="en-US" sz="2600" dirty="0" smtClean="0">
                <a:latin typeface="Consolas"/>
                <a:cs typeface="Consolas"/>
              </a:rPr>
              <a:t>} </a:t>
            </a:r>
            <a:endParaRPr lang="en-US" sz="2600" dirty="0">
              <a:latin typeface="Consolas"/>
              <a:cs typeface="Consolas"/>
            </a:endParaRPr>
          </a:p>
          <a:p>
            <a:r>
              <a:rPr lang="en-US" sz="2600" dirty="0">
                <a:latin typeface="Consolas"/>
                <a:cs typeface="Consolas"/>
              </a:rPr>
              <a:t>relax (x) </a:t>
            </a:r>
            <a:r>
              <a:rPr lang="en-US" sz="2600" dirty="0" err="1">
                <a:latin typeface="Consolas"/>
                <a:cs typeface="Consolas"/>
              </a:rPr>
              <a:t>st</a:t>
            </a:r>
            <a:r>
              <a:rPr lang="en-US" sz="2600" dirty="0">
                <a:latin typeface="Consolas"/>
                <a:cs typeface="Consolas"/>
              </a:rPr>
              <a:t> </a:t>
            </a:r>
            <a:r>
              <a:rPr lang="en-US" sz="2600" dirty="0" smtClean="0">
                <a:latin typeface="Consolas"/>
                <a:cs typeface="Consolas"/>
              </a:rPr>
              <a:t>(true);</a:t>
            </a:r>
            <a:endParaRPr lang="en-US" sz="2600" dirty="0">
              <a:latin typeface="Consolas"/>
              <a:cs typeface="Consolas"/>
            </a:endParaRPr>
          </a:p>
          <a:p>
            <a:r>
              <a:rPr lang="en-US" sz="2600" dirty="0">
                <a:latin typeface="Consolas"/>
                <a:cs typeface="Consolas"/>
              </a:rPr>
              <a:t>{</a:t>
            </a:r>
            <a:r>
              <a:rPr lang="en-US" sz="2600" dirty="0">
                <a:solidFill>
                  <a:schemeClr val="accent2">
                    <a:lumMod val="75000"/>
                  </a:schemeClr>
                </a:solidFill>
                <a:latin typeface="Consolas"/>
                <a:cs typeface="Consolas"/>
              </a:rPr>
              <a:t>y&lt;r&gt;</a:t>
            </a:r>
            <a:r>
              <a:rPr lang="en-US" sz="2600" dirty="0">
                <a:latin typeface="Consolas"/>
                <a:cs typeface="Consolas"/>
              </a:rPr>
              <a:t> == </a:t>
            </a:r>
            <a:r>
              <a:rPr lang="en-US" sz="2600" dirty="0">
                <a:solidFill>
                  <a:schemeClr val="tx2">
                    <a:lumMod val="60000"/>
                    <a:lumOff val="40000"/>
                  </a:schemeClr>
                </a:solidFill>
                <a:latin typeface="Consolas"/>
                <a:cs typeface="Consolas"/>
              </a:rPr>
              <a:t>y&lt;o</a:t>
            </a:r>
            <a:r>
              <a:rPr lang="en-US" sz="2600" dirty="0" smtClean="0">
                <a:solidFill>
                  <a:schemeClr val="tx2">
                    <a:lumMod val="60000"/>
                    <a:lumOff val="40000"/>
                  </a:schemeClr>
                </a:solidFill>
                <a:latin typeface="Consolas"/>
                <a:cs typeface="Consolas"/>
              </a:rPr>
              <a:t>&gt;</a:t>
            </a:r>
            <a:r>
              <a:rPr lang="en-US" sz="2600" dirty="0" smtClean="0">
                <a:latin typeface="Consolas"/>
                <a:cs typeface="Consolas"/>
              </a:rPr>
              <a:t>}</a:t>
            </a:r>
            <a:endParaRPr lang="en-US" sz="2600" dirty="0">
              <a:latin typeface="Consolas"/>
              <a:cs typeface="Consolas"/>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769060972"/>
              </p:ext>
            </p:extLst>
          </p:nvPr>
        </p:nvGraphicFramePr>
        <p:xfrm>
          <a:off x="2895600" y="2286000"/>
          <a:ext cx="3349625" cy="850900"/>
        </p:xfrm>
        <a:graphic>
          <a:graphicData uri="http://schemas.openxmlformats.org/presentationml/2006/ole">
            <mc:AlternateContent xmlns:mc="http://schemas.openxmlformats.org/markup-compatibility/2006">
              <mc:Choice xmlns:v="urn:schemas-microsoft-com:vml" Requires="v">
                <p:oleObj spid="_x0000_s6164" name="Equation" r:id="rId4" imgW="901440" imgH="228600" progId="Equation.3">
                  <p:embed/>
                </p:oleObj>
              </mc:Choice>
              <mc:Fallback>
                <p:oleObj name="Equation" r:id="rId4" imgW="901440" imgH="228600" progId="Equation.3">
                  <p:embed/>
                  <p:pic>
                    <p:nvPicPr>
                      <p:cNvPr id="0" name=""/>
                      <p:cNvPicPr/>
                      <p:nvPr/>
                    </p:nvPicPr>
                    <p:blipFill>
                      <a:blip r:embed="rId5"/>
                      <a:stretch>
                        <a:fillRect/>
                      </a:stretch>
                    </p:blipFill>
                    <p:spPr>
                      <a:xfrm>
                        <a:off x="2895600" y="2286000"/>
                        <a:ext cx="3349625" cy="850900"/>
                      </a:xfrm>
                      <a:prstGeom prst="rect">
                        <a:avLst/>
                      </a:prstGeom>
                    </p:spPr>
                  </p:pic>
                </p:oleObj>
              </mc:Fallback>
            </mc:AlternateContent>
          </a:graphicData>
        </a:graphic>
      </p:graphicFrame>
      <p:cxnSp>
        <p:nvCxnSpPr>
          <p:cNvPr id="6" name="Straight Arrow Connector 5"/>
          <p:cNvCxnSpPr/>
          <p:nvPr/>
        </p:nvCxnSpPr>
        <p:spPr>
          <a:xfrm>
            <a:off x="4495800" y="3505200"/>
            <a:ext cx="0" cy="6096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12702667"/>
      </p:ext>
    </p:extLst>
  </p:cSld>
  <p:clrMapOvr>
    <a:masterClrMapping/>
  </p:clrMapOvr>
  <mc:AlternateContent xmlns:mc="http://schemas.openxmlformats.org/markup-compatibility/2006" xmlns:p14="http://schemas.microsoft.com/office/powerpoint/2010/main">
    <mc:Choice Requires="p14">
      <p:transition spd="slow" p14:dur="2000" advTm="37320"/>
    </mc:Choice>
    <mc:Fallback xmlns="">
      <p:transition xmlns:p14="http://schemas.microsoft.com/office/powerpoint/2010/main" spd="slow" advTm="37320"/>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Strategy #2: Relational Reasoning</a:t>
            </a:r>
            <a:endParaRPr lang="en-US" dirty="0"/>
          </a:p>
        </p:txBody>
      </p:sp>
      <p:sp>
        <p:nvSpPr>
          <p:cNvPr id="4" name="TextBox 3"/>
          <p:cNvSpPr txBox="1"/>
          <p:nvPr/>
        </p:nvSpPr>
        <p:spPr>
          <a:xfrm>
            <a:off x="609600" y="1761225"/>
            <a:ext cx="5791200" cy="26776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smtClean="0">
                <a:latin typeface="Consolas"/>
                <a:cs typeface="Consolas"/>
              </a:rPr>
              <a:t>&lt;...&gt;</a:t>
            </a:r>
          </a:p>
          <a:p>
            <a:r>
              <a:rPr lang="en-US" sz="2400" dirty="0" smtClean="0">
                <a:latin typeface="Consolas"/>
                <a:cs typeface="Consolas"/>
              </a:rPr>
              <a:t>{</a:t>
            </a:r>
            <a:r>
              <a:rPr lang="en-US" sz="2400" dirty="0" smtClean="0">
                <a:solidFill>
                  <a:schemeClr val="tx1"/>
                </a:solidFill>
                <a:latin typeface="Consolas"/>
                <a:cs typeface="Consolas"/>
              </a:rPr>
              <a:t>x&lt;r&gt; == x&lt;o&gt; </a:t>
            </a:r>
            <a:r>
              <a:rPr lang="en-US" sz="2400" dirty="0">
                <a:solidFill>
                  <a:schemeClr val="tx1"/>
                </a:solidFill>
                <a:latin typeface="Consolas"/>
                <a:cs typeface="Consolas"/>
              </a:rPr>
              <a:t>&amp;&amp; </a:t>
            </a:r>
            <a:r>
              <a:rPr lang="en-US" sz="2400" dirty="0" smtClean="0">
                <a:solidFill>
                  <a:schemeClr val="tx1"/>
                </a:solidFill>
                <a:latin typeface="Consolas"/>
                <a:cs typeface="Consolas"/>
              </a:rPr>
              <a:t>y&lt;r&gt; </a:t>
            </a:r>
            <a:r>
              <a:rPr lang="en-US" sz="2400" dirty="0">
                <a:solidFill>
                  <a:schemeClr val="tx1"/>
                </a:solidFill>
                <a:latin typeface="Consolas"/>
                <a:cs typeface="Consolas"/>
              </a:rPr>
              <a:t>== </a:t>
            </a:r>
            <a:r>
              <a:rPr lang="en-US" sz="2400" dirty="0" smtClean="0">
                <a:solidFill>
                  <a:schemeClr val="tx1"/>
                </a:solidFill>
                <a:latin typeface="Consolas"/>
                <a:cs typeface="Consolas"/>
              </a:rPr>
              <a:t>y&lt;o&gt;</a:t>
            </a:r>
            <a:r>
              <a:rPr lang="en-US" sz="2400" dirty="0" smtClean="0">
                <a:latin typeface="Consolas"/>
                <a:cs typeface="Consolas"/>
              </a:rPr>
              <a:t>}</a:t>
            </a:r>
          </a:p>
          <a:p>
            <a:r>
              <a:rPr lang="en-US" sz="2400" dirty="0" smtClean="0">
                <a:latin typeface="Consolas"/>
                <a:cs typeface="Consolas"/>
              </a:rPr>
              <a:t>relax (x) </a:t>
            </a:r>
            <a:r>
              <a:rPr lang="en-US" sz="2400" dirty="0" err="1" smtClean="0">
                <a:latin typeface="Consolas"/>
                <a:cs typeface="Consolas"/>
              </a:rPr>
              <a:t>st</a:t>
            </a:r>
            <a:r>
              <a:rPr lang="en-US" sz="2400" dirty="0" smtClean="0">
                <a:latin typeface="Consolas"/>
                <a:cs typeface="Consolas"/>
              </a:rPr>
              <a:t> (true);</a:t>
            </a:r>
          </a:p>
          <a:p>
            <a:r>
              <a:rPr lang="en-US" sz="2400" dirty="0" smtClean="0">
                <a:solidFill>
                  <a:schemeClr val="tx1"/>
                </a:solidFill>
                <a:latin typeface="Consolas"/>
                <a:cs typeface="Consolas"/>
              </a:rPr>
              <a:t>{ y&lt;r&gt; == y&lt;o&gt; }</a:t>
            </a:r>
          </a:p>
          <a:p>
            <a:r>
              <a:rPr lang="en-US" sz="2400" dirty="0" smtClean="0">
                <a:solidFill>
                  <a:schemeClr val="tx1"/>
                </a:solidFill>
                <a:latin typeface="Consolas"/>
                <a:cs typeface="Consolas"/>
              </a:rPr>
              <a:t>&lt;...&gt;</a:t>
            </a:r>
          </a:p>
          <a:p>
            <a:r>
              <a:rPr lang="en-US" sz="2400" dirty="0" smtClean="0">
                <a:solidFill>
                  <a:schemeClr val="tx1"/>
                </a:solidFill>
                <a:latin typeface="Consolas"/>
                <a:cs typeface="Consolas"/>
              </a:rPr>
              <a:t>{R(x&lt;r&gt;, </a:t>
            </a:r>
            <a:r>
              <a:rPr lang="en-US" sz="2400" dirty="0">
                <a:solidFill>
                  <a:schemeClr val="tx1"/>
                </a:solidFill>
                <a:latin typeface="Consolas"/>
                <a:cs typeface="Consolas"/>
              </a:rPr>
              <a:t>y&lt;r&gt;) &amp;&amp; y&lt;r&gt; == y&lt;o</a:t>
            </a:r>
            <a:r>
              <a:rPr lang="en-US" sz="2400" dirty="0" smtClean="0">
                <a:solidFill>
                  <a:schemeClr val="tx1"/>
                </a:solidFill>
                <a:latin typeface="Consolas"/>
                <a:cs typeface="Consolas"/>
              </a:rPr>
              <a:t>&gt; }</a:t>
            </a:r>
          </a:p>
          <a:p>
            <a:r>
              <a:rPr lang="en-US" sz="2400" dirty="0" smtClean="0">
                <a:solidFill>
                  <a:schemeClr val="tx1"/>
                </a:solidFill>
                <a:latin typeface="Consolas"/>
                <a:cs typeface="Consolas"/>
              </a:rPr>
              <a:t>assert R(x, y) &amp;&amp; S(y) ;</a:t>
            </a:r>
          </a:p>
        </p:txBody>
      </p:sp>
      <p:sp>
        <p:nvSpPr>
          <p:cNvPr id="3" name="Rounded Rectangle 2"/>
          <p:cNvSpPr/>
          <p:nvPr/>
        </p:nvSpPr>
        <p:spPr>
          <a:xfrm>
            <a:off x="6858000" y="1806381"/>
            <a:ext cx="1676400" cy="10978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x</a:t>
            </a:r>
            <a:r>
              <a:rPr lang="en-US" dirty="0" smtClean="0"/>
              <a:t> different but y the same</a:t>
            </a:r>
            <a:endParaRPr lang="en-US" dirty="0"/>
          </a:p>
        </p:txBody>
      </p:sp>
      <p:cxnSp>
        <p:nvCxnSpPr>
          <p:cNvPr id="11" name="Straight Arrow Connector 10"/>
          <p:cNvCxnSpPr>
            <a:stCxn id="3" idx="1"/>
          </p:cNvCxnSpPr>
          <p:nvPr/>
        </p:nvCxnSpPr>
        <p:spPr>
          <a:xfrm flipH="1">
            <a:off x="3810000" y="2355303"/>
            <a:ext cx="3048000" cy="7447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2" name="Rounded Rectangle 11"/>
          <p:cNvSpPr/>
          <p:nvPr/>
        </p:nvSpPr>
        <p:spPr>
          <a:xfrm>
            <a:off x="6858000" y="3260591"/>
            <a:ext cx="1676400" cy="109784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Only prove R</a:t>
            </a:r>
            <a:endParaRPr lang="en-US" dirty="0"/>
          </a:p>
        </p:txBody>
      </p:sp>
      <p:cxnSp>
        <p:nvCxnSpPr>
          <p:cNvPr id="13" name="Straight Arrow Connector 12"/>
          <p:cNvCxnSpPr>
            <a:stCxn id="12" idx="1"/>
          </p:cNvCxnSpPr>
          <p:nvPr/>
        </p:nvCxnSpPr>
        <p:spPr>
          <a:xfrm flipH="1">
            <a:off x="6096000" y="3809513"/>
            <a:ext cx="7620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629258" y="5008747"/>
            <a:ext cx="2369559" cy="430887"/>
          </a:xfrm>
          <a:prstGeom prst="rect">
            <a:avLst/>
          </a:prstGeom>
          <a:noFill/>
        </p:spPr>
        <p:txBody>
          <a:bodyPr wrap="none" rtlCol="0">
            <a:spAutoFit/>
          </a:bodyPr>
          <a:lstStyle/>
          <a:p>
            <a:r>
              <a:rPr lang="en-US" sz="2200" dirty="0" smtClean="0"/>
              <a:t>If </a:t>
            </a:r>
            <a:r>
              <a:rPr lang="en-US" sz="2200" dirty="0" smtClean="0">
                <a:latin typeface="Consolas" pitchFamily="49" charset="0"/>
                <a:cs typeface="Consolas" pitchFamily="49" charset="0"/>
              </a:rPr>
              <a:t>S(y&lt;o&gt;) </a:t>
            </a:r>
            <a:r>
              <a:rPr lang="en-US" sz="2200" dirty="0" smtClean="0"/>
              <a:t>is true</a:t>
            </a:r>
            <a:endParaRPr lang="en-US" sz="2200" dirty="0"/>
          </a:p>
        </p:txBody>
      </p:sp>
      <p:sp>
        <p:nvSpPr>
          <p:cNvPr id="17" name="TextBox 16"/>
          <p:cNvSpPr txBox="1"/>
          <p:nvPr/>
        </p:nvSpPr>
        <p:spPr>
          <a:xfrm>
            <a:off x="3269037" y="4733068"/>
            <a:ext cx="2544286" cy="430887"/>
          </a:xfrm>
          <a:prstGeom prst="rect">
            <a:avLst/>
          </a:prstGeom>
          <a:noFill/>
        </p:spPr>
        <p:txBody>
          <a:bodyPr wrap="none" rtlCol="0">
            <a:spAutoFit/>
          </a:bodyPr>
          <a:lstStyle/>
          <a:p>
            <a:r>
              <a:rPr lang="en-US" sz="2200" dirty="0"/>
              <a:t>a</a:t>
            </a:r>
            <a:r>
              <a:rPr lang="en-US" sz="2200" dirty="0" smtClean="0"/>
              <a:t>nd </a:t>
            </a:r>
            <a:r>
              <a:rPr lang="en-US" sz="2200" dirty="0" smtClean="0">
                <a:latin typeface="Consolas" pitchFamily="49" charset="0"/>
                <a:cs typeface="Consolas" pitchFamily="49" charset="0"/>
              </a:rPr>
              <a:t>y&lt;r&gt; == y&lt;o&gt;</a:t>
            </a:r>
            <a:endParaRPr lang="en-US" sz="2200" dirty="0">
              <a:latin typeface="Consolas" pitchFamily="49" charset="0"/>
              <a:cs typeface="Consolas" pitchFamily="49" charset="0"/>
            </a:endParaRPr>
          </a:p>
        </p:txBody>
      </p:sp>
      <p:sp>
        <p:nvSpPr>
          <p:cNvPr id="18" name="TextBox 17"/>
          <p:cNvSpPr txBox="1"/>
          <p:nvPr/>
        </p:nvSpPr>
        <p:spPr>
          <a:xfrm>
            <a:off x="6023045" y="4983676"/>
            <a:ext cx="2807179" cy="430887"/>
          </a:xfrm>
          <a:prstGeom prst="rect">
            <a:avLst/>
          </a:prstGeom>
          <a:noFill/>
        </p:spPr>
        <p:txBody>
          <a:bodyPr wrap="none" rtlCol="0">
            <a:spAutoFit/>
          </a:bodyPr>
          <a:lstStyle/>
          <a:p>
            <a:r>
              <a:rPr lang="en-US" sz="2200" dirty="0"/>
              <a:t>t</a:t>
            </a:r>
            <a:r>
              <a:rPr lang="en-US" sz="2200" dirty="0" smtClean="0"/>
              <a:t>hen  </a:t>
            </a:r>
            <a:r>
              <a:rPr lang="en-US" sz="2200" dirty="0" smtClean="0">
                <a:latin typeface="Consolas" pitchFamily="49" charset="0"/>
                <a:cs typeface="Consolas" pitchFamily="49" charset="0"/>
              </a:rPr>
              <a:t>S(y&lt;r&gt;) </a:t>
            </a:r>
            <a:r>
              <a:rPr lang="en-US" sz="2200" dirty="0" smtClean="0"/>
              <a:t>is true</a:t>
            </a:r>
            <a:endParaRPr lang="en-US" sz="2200" dirty="0"/>
          </a:p>
        </p:txBody>
      </p:sp>
      <p:cxnSp>
        <p:nvCxnSpPr>
          <p:cNvPr id="20" name="Straight Arrow Connector 19"/>
          <p:cNvCxnSpPr>
            <a:stCxn id="16" idx="3"/>
            <a:endCxn id="17" idx="1"/>
          </p:cNvCxnSpPr>
          <p:nvPr/>
        </p:nvCxnSpPr>
        <p:spPr>
          <a:xfrm flipV="1">
            <a:off x="2998817" y="4948512"/>
            <a:ext cx="270220" cy="275679"/>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3" name="Straight Arrow Connector 22"/>
          <p:cNvCxnSpPr>
            <a:stCxn id="17" idx="3"/>
            <a:endCxn id="18" idx="1"/>
          </p:cNvCxnSpPr>
          <p:nvPr/>
        </p:nvCxnSpPr>
        <p:spPr>
          <a:xfrm>
            <a:off x="5813323" y="4948512"/>
            <a:ext cx="209722" cy="25060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1" name="Left Brace 30"/>
          <p:cNvSpPr/>
          <p:nvPr/>
        </p:nvSpPr>
        <p:spPr>
          <a:xfrm rot="16200000">
            <a:off x="4368038" y="4239175"/>
            <a:ext cx="223916" cy="246546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2" name="TextBox 31"/>
          <p:cNvSpPr txBox="1"/>
          <p:nvPr/>
        </p:nvSpPr>
        <p:spPr>
          <a:xfrm>
            <a:off x="2372381" y="5619041"/>
            <a:ext cx="4337598" cy="461665"/>
          </a:xfrm>
          <a:prstGeom prst="rect">
            <a:avLst/>
          </a:prstGeom>
          <a:noFill/>
        </p:spPr>
        <p:txBody>
          <a:bodyPr wrap="none" rtlCol="0">
            <a:spAutoFit/>
          </a:bodyPr>
          <a:lstStyle/>
          <a:p>
            <a:r>
              <a:rPr lang="en-US" sz="2400" dirty="0" smtClean="0"/>
              <a:t>Relational reasoning is the bridge</a:t>
            </a:r>
            <a:endParaRPr lang="en-US" sz="2400" dirty="0"/>
          </a:p>
        </p:txBody>
      </p:sp>
    </p:spTree>
    <p:custDataLst>
      <p:tags r:id="rId1"/>
    </p:custDataLst>
    <p:extLst>
      <p:ext uri="{BB962C8B-B14F-4D97-AF65-F5344CB8AC3E}">
        <p14:creationId xmlns:p14="http://schemas.microsoft.com/office/powerpoint/2010/main" val="1390672052"/>
      </p:ext>
    </p:extLst>
  </p:cSld>
  <p:clrMapOvr>
    <a:masterClrMapping/>
  </p:clrMapOvr>
  <mc:AlternateContent xmlns:mc="http://schemas.openxmlformats.org/markup-compatibility/2006" xmlns:p14="http://schemas.microsoft.com/office/powerpoint/2010/main">
    <mc:Choice Requires="p14">
      <p:transition spd="slow" p14:dur="2000" advTm="82236"/>
    </mc:Choice>
    <mc:Fallback xmlns="">
      <p:transition xmlns:p14="http://schemas.microsoft.com/office/powerpoint/2010/main" spd="slow" advTm="82236"/>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5" presetClass="emph" presetSubtype="0" nodeType="withEffect">
                                  <p:stCondLst>
                                    <p:cond delay="0"/>
                                  </p:stCondLst>
                                  <p:endCondLst>
                                    <p:cond evt="onNext" delay="0">
                                      <p:tgtEl>
                                        <p:sldTgt/>
                                      </p:tgtEl>
                                    </p:cond>
                                  </p:endCondLst>
                                  <p:childTnLst>
                                    <p:set>
                                      <p:cBhvr override="childStyle">
                                        <p:cTn id="8" dur="indefinite"/>
                                        <p:tgtEl>
                                          <p:spTgt spid="4">
                                            <p:txEl>
                                              <p:pRg st="1" end="1"/>
                                            </p:txEl>
                                          </p:spTgt>
                                        </p:tgtEl>
                                        <p:attrNameLst>
                                          <p:attrName>style.fontWeight</p:attrName>
                                        </p:attrNameLst>
                                      </p:cBhvr>
                                      <p:to>
                                        <p:strVal val="bold"/>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5" presetClass="emph" presetSubtype="0" nodeType="withEffect">
                                  <p:stCondLst>
                                    <p:cond delay="0"/>
                                  </p:stCondLst>
                                  <p:endCondLst>
                                    <p:cond evt="onNext" delay="0">
                                      <p:tgtEl>
                                        <p:sldTgt/>
                                      </p:tgtEl>
                                    </p:cond>
                                  </p:endCondLst>
                                  <p:childTnLst>
                                    <p:set>
                                      <p:cBhvr override="childStyle">
                                        <p:cTn id="14" dur="indefinite"/>
                                        <p:tgtEl>
                                          <p:spTgt spid="4">
                                            <p:txEl>
                                              <p:pRg st="3" end="3"/>
                                            </p:txEl>
                                          </p:spTgt>
                                        </p:tgtEl>
                                        <p:attrNameLst>
                                          <p:attrName>style.fontWeight</p:attrName>
                                        </p:attrNameLst>
                                      </p:cBhvr>
                                      <p:to>
                                        <p:strVal val="bold"/>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5" presetClass="emph" presetSubtype="0" nodeType="withEffect">
                                  <p:stCondLst>
                                    <p:cond delay="0"/>
                                  </p:stCondLst>
                                  <p:endCondLst>
                                    <p:cond evt="onNext" delay="0">
                                      <p:tgtEl>
                                        <p:sldTgt/>
                                      </p:tgtEl>
                                    </p:cond>
                                  </p:endCondLst>
                                  <p:childTnLst>
                                    <p:set>
                                      <p:cBhvr override="childStyle">
                                        <p:cTn id="24" dur="indefinite"/>
                                        <p:tgtEl>
                                          <p:spTgt spid="4">
                                            <p:txEl>
                                              <p:pRg st="5" end="5"/>
                                            </p:txEl>
                                          </p:spTgt>
                                        </p:tgtEl>
                                        <p:attrNameLst>
                                          <p:attrName>style.fontWeight</p:attrName>
                                        </p:attrNameLst>
                                      </p:cBhvr>
                                      <p:to>
                                        <p:strVal val="bold"/>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5" presetClass="emph" presetSubtype="0" nodeType="clickEffect">
                                  <p:stCondLst>
                                    <p:cond delay="0"/>
                                  </p:stCondLst>
                                  <p:endCondLst>
                                    <p:cond evt="onNext" delay="0">
                                      <p:tgtEl>
                                        <p:sldTgt/>
                                      </p:tgtEl>
                                    </p:cond>
                                  </p:endCondLst>
                                  <p:childTnLst>
                                    <p:set>
                                      <p:cBhvr override="childStyle">
                                        <p:cTn id="32" dur="indefinite"/>
                                        <p:tgtEl>
                                          <p:spTgt spid="4">
                                            <p:txEl>
                                              <p:pRg st="6" end="6"/>
                                            </p:txEl>
                                          </p:spTgt>
                                        </p:tgtEl>
                                        <p:attrNameLst>
                                          <p:attrName>style.fontWeight</p:attrName>
                                        </p:attrNameLst>
                                      </p:cBhvr>
                                      <p:to>
                                        <p:strVal val="bold"/>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6" grpId="0"/>
      <p:bldP spid="17" grpId="0"/>
      <p:bldP spid="18" grpId="0"/>
      <p:bldP spid="31" grpId="0" animBg="1"/>
      <p:bldP spid="3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52400" y="3276600"/>
            <a:ext cx="7696200" cy="6096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normAutofit/>
          </a:bodyPr>
          <a:lstStyle/>
          <a:p>
            <a:pPr marL="0" indent="0"/>
            <a:r>
              <a:rPr lang="en-US" dirty="0" smtClean="0"/>
              <a:t>Guarantee: Relative Progress</a:t>
            </a:r>
            <a:endParaRPr lang="en-US" dirty="0"/>
          </a:p>
        </p:txBody>
      </p:sp>
      <p:sp>
        <p:nvSpPr>
          <p:cNvPr id="3" name="Content Placeholder 2"/>
          <p:cNvSpPr>
            <a:spLocks noGrp="1"/>
          </p:cNvSpPr>
          <p:nvPr>
            <p:ph idx="1"/>
          </p:nvPr>
        </p:nvSpPr>
        <p:spPr>
          <a:xfrm>
            <a:off x="0" y="2396698"/>
            <a:ext cx="8991600" cy="2895600"/>
          </a:xfrm>
        </p:spPr>
        <p:txBody>
          <a:bodyPr anchor="ctr">
            <a:normAutofit/>
          </a:bodyPr>
          <a:lstStyle/>
          <a:p>
            <a:pPr marL="57150" indent="0" algn="ctr">
              <a:buNone/>
            </a:pPr>
            <a:r>
              <a:rPr lang="en-US" sz="3600" dirty="0" smtClean="0"/>
              <a:t>If original program satisfies all assertions, then</a:t>
            </a:r>
          </a:p>
          <a:p>
            <a:pPr marL="57150" indent="0" algn="ctr">
              <a:buNone/>
            </a:pPr>
            <a:r>
              <a:rPr lang="en-US" sz="3600" dirty="0" smtClean="0"/>
              <a:t> the relaxed program satisfies all assertions</a:t>
            </a:r>
          </a:p>
        </p:txBody>
      </p:sp>
      <p:sp>
        <p:nvSpPr>
          <p:cNvPr id="4" name="TextBox 3"/>
          <p:cNvSpPr txBox="1"/>
          <p:nvPr/>
        </p:nvSpPr>
        <p:spPr>
          <a:xfrm>
            <a:off x="4038600" y="1828800"/>
            <a:ext cx="4648200" cy="892552"/>
          </a:xfrm>
          <a:prstGeom prst="rect">
            <a:avLst/>
          </a:prstGeom>
          <a:noFill/>
        </p:spPr>
        <p:txBody>
          <a:bodyPr wrap="square" rtlCol="0">
            <a:spAutoFit/>
          </a:bodyPr>
          <a:lstStyle/>
          <a:p>
            <a:pPr algn="ctr"/>
            <a:r>
              <a:rPr lang="en-US" sz="2600" dirty="0" smtClean="0"/>
              <a:t>Established through any means: verification, testing, code review</a:t>
            </a:r>
            <a:endParaRPr lang="en-US" sz="2600" dirty="0"/>
          </a:p>
        </p:txBody>
      </p:sp>
      <p:cxnSp>
        <p:nvCxnSpPr>
          <p:cNvPr id="6" name="Straight Arrow Connector 5"/>
          <p:cNvCxnSpPr>
            <a:stCxn id="4" idx="2"/>
          </p:cNvCxnSpPr>
          <p:nvPr/>
        </p:nvCxnSpPr>
        <p:spPr>
          <a:xfrm flipH="1">
            <a:off x="4038600" y="2721352"/>
            <a:ext cx="2324100" cy="5552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 name="Rectangle 10"/>
          <p:cNvSpPr/>
          <p:nvPr/>
        </p:nvSpPr>
        <p:spPr>
          <a:xfrm>
            <a:off x="533400" y="3962400"/>
            <a:ext cx="8077200" cy="533400"/>
          </a:xfrm>
          <a:prstGeom prst="rect">
            <a:avLst/>
          </a:prstGeom>
          <a:solidFill>
            <a:schemeClr val="lt1">
              <a:alpha val="86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Rectangle 11"/>
          <p:cNvSpPr/>
          <p:nvPr/>
        </p:nvSpPr>
        <p:spPr>
          <a:xfrm>
            <a:off x="7924800" y="3276600"/>
            <a:ext cx="990600" cy="533400"/>
          </a:xfrm>
          <a:prstGeom prst="rect">
            <a:avLst/>
          </a:prstGeom>
          <a:solidFill>
            <a:schemeClr val="lt1">
              <a:alpha val="86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1337627131"/>
      </p:ext>
    </p:extLst>
  </p:cSld>
  <p:clrMapOvr>
    <a:masterClrMapping/>
  </p:clrMapOvr>
  <mc:AlternateContent xmlns:mc="http://schemas.openxmlformats.org/markup-compatibility/2006" xmlns:p14="http://schemas.microsoft.com/office/powerpoint/2010/main">
    <mc:Choice Requires="p14">
      <p:transition spd="slow" p14:dur="2000" advTm="49972"/>
    </mc:Choice>
    <mc:Fallback xmlns="">
      <p:transition xmlns:p14="http://schemas.microsoft.com/office/powerpoint/2010/main" spd="slow" advTm="49972"/>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071" y="2667000"/>
            <a:ext cx="9004360" cy="923330"/>
          </a:xfrm>
          <a:prstGeom prst="rect">
            <a:avLst/>
          </a:prstGeom>
          <a:noFill/>
        </p:spPr>
        <p:txBody>
          <a:bodyPr wrap="square" rtlCol="0">
            <a:spAutoFit/>
          </a:bodyPr>
          <a:lstStyle/>
          <a:p>
            <a:pPr algn="ctr"/>
            <a:r>
              <a:rPr lang="en-US" sz="5400" b="1" dirty="0" smtClean="0">
                <a:latin typeface="Calibri"/>
                <a:cs typeface="Calibri"/>
              </a:rPr>
              <a:t>Formalization</a:t>
            </a:r>
            <a:endParaRPr lang="en-US" sz="5400" b="1" dirty="0">
              <a:latin typeface="Calibri"/>
              <a:cs typeface="Calibri"/>
            </a:endParaRPr>
          </a:p>
        </p:txBody>
      </p:sp>
    </p:spTree>
    <p:extLst>
      <p:ext uri="{BB962C8B-B14F-4D97-AF65-F5344CB8AC3E}">
        <p14:creationId xmlns:p14="http://schemas.microsoft.com/office/powerpoint/2010/main" val="3265120180"/>
      </p:ext>
    </p:extLst>
  </p:cSld>
  <p:clrMapOvr>
    <a:masterClrMapping/>
  </p:clrMapOvr>
  <mc:AlternateContent xmlns:mc="http://schemas.openxmlformats.org/markup-compatibility/2006" xmlns:p14="http://schemas.microsoft.com/office/powerpoint/2010/main">
    <mc:Choice Requires="p14">
      <p:transition spd="slow" p14:dur="2000" advTm="3621"/>
    </mc:Choice>
    <mc:Fallback xmlns="">
      <p:transition xmlns:p14="http://schemas.microsoft.com/office/powerpoint/2010/main" spd="slow" advTm="3621"/>
    </mc:Fallback>
  </mc:AlternateContent>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a:t>
            </a:r>
            <a:endParaRPr lang="en-US" dirty="0"/>
          </a:p>
        </p:txBody>
      </p:sp>
      <p:pic>
        <p:nvPicPr>
          <p:cNvPr id="4" name="Content Placeholder 3"/>
          <p:cNvPicPr>
            <a:picLocks noGrp="1" noChangeAspect="1"/>
          </p:cNvPicPr>
          <p:nvPr>
            <p:ph idx="1"/>
          </p:nvPr>
        </p:nvPicPr>
        <p:blipFill rotWithShape="1">
          <a:blip r:embed="rId2"/>
          <a:srcRect l="-489" r="-489"/>
          <a:stretch/>
        </p:blipFill>
        <p:spPr>
          <a:xfrm>
            <a:off x="0" y="2819400"/>
            <a:ext cx="9144000" cy="2025557"/>
          </a:xfrm>
        </p:spPr>
      </p:pic>
    </p:spTree>
    <p:extLst>
      <p:ext uri="{BB962C8B-B14F-4D97-AF65-F5344CB8AC3E}">
        <p14:creationId xmlns:p14="http://schemas.microsoft.com/office/powerpoint/2010/main" val="1262372528"/>
      </p:ext>
    </p:extLst>
  </p:cSld>
  <p:clrMapOvr>
    <a:masterClrMapping/>
  </p:clrMapOvr>
  <mc:AlternateContent xmlns:mc="http://schemas.openxmlformats.org/markup-compatibility/2006" xmlns:p14="http://schemas.microsoft.com/office/powerpoint/2010/main">
    <mc:Choice Requires="p14">
      <p:transition spd="slow" p14:dur="2000" advTm="4477"/>
    </mc:Choice>
    <mc:Fallback xmlns="">
      <p:transition xmlns:p14="http://schemas.microsoft.com/office/powerpoint/2010/main" spd="slow" advTm="4477"/>
    </mc:Fallback>
  </mc:AlternateContent>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Rules</a:t>
            </a:r>
            <a:endParaRPr lang="en-US" dirty="0"/>
          </a:p>
        </p:txBody>
      </p:sp>
      <p:pic>
        <p:nvPicPr>
          <p:cNvPr id="4" name="Content Placeholder 3"/>
          <p:cNvPicPr>
            <a:picLocks noGrp="1" noChangeAspect="1"/>
          </p:cNvPicPr>
          <p:nvPr>
            <p:ph idx="1"/>
          </p:nvPr>
        </p:nvPicPr>
        <p:blipFill rotWithShape="1">
          <a:blip r:embed="rId2"/>
          <a:srcRect l="98" r="223"/>
          <a:stretch/>
        </p:blipFill>
        <p:spPr>
          <a:xfrm>
            <a:off x="533400" y="1600200"/>
            <a:ext cx="8077199" cy="2182227"/>
          </a:xfrm>
        </p:spPr>
      </p:pic>
      <p:pic>
        <p:nvPicPr>
          <p:cNvPr id="5" name="Picture 4"/>
          <p:cNvPicPr>
            <a:picLocks noChangeAspect="1"/>
          </p:cNvPicPr>
          <p:nvPr/>
        </p:nvPicPr>
        <p:blipFill>
          <a:blip r:embed="rId3"/>
          <a:stretch>
            <a:fillRect/>
          </a:stretch>
        </p:blipFill>
        <p:spPr>
          <a:xfrm>
            <a:off x="228600" y="4114800"/>
            <a:ext cx="7334358" cy="1979112"/>
          </a:xfrm>
          <a:prstGeom prst="rect">
            <a:avLst/>
          </a:prstGeom>
        </p:spPr>
      </p:pic>
      <p:pic>
        <p:nvPicPr>
          <p:cNvPr id="7" name="Picture 6"/>
          <p:cNvPicPr>
            <a:picLocks noChangeAspect="1"/>
          </p:cNvPicPr>
          <p:nvPr/>
        </p:nvPicPr>
        <p:blipFill>
          <a:blip r:embed="rId4"/>
          <a:stretch>
            <a:fillRect/>
          </a:stretch>
        </p:blipFill>
        <p:spPr>
          <a:xfrm rot="16200000">
            <a:off x="6703542" y="4870450"/>
            <a:ext cx="2705100" cy="736600"/>
          </a:xfrm>
          <a:prstGeom prst="rect">
            <a:avLst/>
          </a:prstGeom>
        </p:spPr>
      </p:pic>
    </p:spTree>
    <p:extLst>
      <p:ext uri="{BB962C8B-B14F-4D97-AF65-F5344CB8AC3E}">
        <p14:creationId xmlns:p14="http://schemas.microsoft.com/office/powerpoint/2010/main" val="4084270662"/>
      </p:ext>
    </p:extLst>
  </p:cSld>
  <p:clrMapOvr>
    <a:masterClrMapping/>
  </p:clrMapOvr>
  <mc:AlternateContent xmlns:mc="http://schemas.openxmlformats.org/markup-compatibility/2006" xmlns:p14="http://schemas.microsoft.com/office/powerpoint/2010/main">
    <mc:Choice Requires="p14">
      <p:transition spd="slow" p14:dur="2000" advTm="5107"/>
    </mc:Choice>
    <mc:Fallback xmlns="">
      <p:transition xmlns:p14="http://schemas.microsoft.com/office/powerpoint/2010/main" spd="slow" advTm="5107"/>
    </mc:Fallback>
  </mc:AlternateContent>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Coq Formalization</a:t>
            </a:r>
            <a:endParaRPr lang="en-US" dirty="0"/>
          </a:p>
        </p:txBody>
      </p:sp>
      <p:pic>
        <p:nvPicPr>
          <p:cNvPr id="3" name="Picture 2" descr="Screen Shot 2012-06-06 at 11.05.58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523999"/>
            <a:ext cx="8077200" cy="5061031"/>
          </a:xfrm>
          <a:prstGeom prst="rect">
            <a:avLst/>
          </a:prstGeom>
        </p:spPr>
      </p:pic>
    </p:spTree>
    <p:extLst>
      <p:ext uri="{BB962C8B-B14F-4D97-AF65-F5344CB8AC3E}">
        <p14:creationId xmlns:p14="http://schemas.microsoft.com/office/powerpoint/2010/main" val="3545973506"/>
      </p:ext>
    </p:extLst>
  </p:cSld>
  <p:clrMapOvr>
    <a:masterClrMapping/>
  </p:clrMapOvr>
  <mc:AlternateContent xmlns:mc="http://schemas.openxmlformats.org/markup-compatibility/2006" xmlns:p14="http://schemas.microsoft.com/office/powerpoint/2010/main">
    <mc:Choice Requires="p14">
      <p:transition spd="slow" p14:dur="2000" advTm="2972"/>
    </mc:Choice>
    <mc:Fallback xmlns="">
      <p:transition xmlns:p14="http://schemas.microsoft.com/office/powerpoint/2010/main" spd="slow" advTm="2972"/>
    </mc:Fallback>
  </mc:AlternateContent>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L</a:t>
            </a:r>
            <a:r>
              <a:rPr lang="en-US" dirty="0" smtClean="0"/>
              <a:t>ot of Coq</a:t>
            </a:r>
            <a:endParaRPr lang="en-US" dirty="0"/>
          </a:p>
        </p:txBody>
      </p:sp>
      <p:pic>
        <p:nvPicPr>
          <p:cNvPr id="3" name="Picture 2" descr="Screen Shot 2012-06-06 at 11.10.34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362200"/>
            <a:ext cx="2994582" cy="1828800"/>
          </a:xfrm>
          <a:prstGeom prst="rect">
            <a:avLst/>
          </a:prstGeom>
        </p:spPr>
      </p:pic>
      <p:pic>
        <p:nvPicPr>
          <p:cNvPr id="4" name="Picture 3" descr="Screen Shot 2012-06-06 at 11.12.46 AM.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76600" y="2362200"/>
            <a:ext cx="2842055" cy="1752600"/>
          </a:xfrm>
          <a:prstGeom prst="rect">
            <a:avLst/>
          </a:prstGeom>
        </p:spPr>
      </p:pic>
      <p:pic>
        <p:nvPicPr>
          <p:cNvPr id="5" name="Content Placeholder 3" descr="Screen Shot 2012-06-06 at 11.15.24 AM.png"/>
          <p:cNvPicPr>
            <a:picLocks noChangeAspect="1"/>
          </p:cNvPicPr>
          <p:nvPr/>
        </p:nvPicPr>
        <p:blipFill>
          <a:blip r:embed="rId5" cstate="print">
            <a:extLst>
              <a:ext uri="{28A0092B-C50C-407E-A947-70E740481C1C}">
                <a14:useLocalDpi xmlns:a14="http://schemas.microsoft.com/office/drawing/2010/main" val="0"/>
              </a:ext>
            </a:extLst>
          </a:blip>
          <a:srcRect t="4896" b="4896"/>
          <a:stretch>
            <a:fillRect/>
          </a:stretch>
        </p:blipFill>
        <p:spPr>
          <a:xfrm>
            <a:off x="2533" y="4648200"/>
            <a:ext cx="3186768" cy="1752600"/>
          </a:xfrm>
          <a:prstGeom prst="rect">
            <a:avLst/>
          </a:prstGeom>
        </p:spPr>
      </p:pic>
      <p:pic>
        <p:nvPicPr>
          <p:cNvPr id="7" name="Picture 6" descr="Screen Shot 2012-06-06 at 11.28.05 AM.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00400" y="4419600"/>
            <a:ext cx="3276600" cy="1985411"/>
          </a:xfrm>
          <a:prstGeom prst="rect">
            <a:avLst/>
          </a:prstGeom>
        </p:spPr>
      </p:pic>
      <p:pic>
        <p:nvPicPr>
          <p:cNvPr id="8" name="Picture 7" descr="Screen Shot 2012-06-06 at 11.29.34 AM.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02181" y="2362200"/>
            <a:ext cx="2841819" cy="1752600"/>
          </a:xfrm>
          <a:prstGeom prst="rect">
            <a:avLst/>
          </a:prstGeom>
        </p:spPr>
      </p:pic>
      <p:pic>
        <p:nvPicPr>
          <p:cNvPr id="9" name="Picture 8" descr="Screen Shot 2012-06-06 at 11.30.23 AM.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477000" y="4876800"/>
            <a:ext cx="2528048" cy="1524000"/>
          </a:xfrm>
          <a:prstGeom prst="rect">
            <a:avLst/>
          </a:prstGeom>
        </p:spPr>
      </p:pic>
      <p:sp>
        <p:nvSpPr>
          <p:cNvPr id="10" name="Rounded Rectangle 9"/>
          <p:cNvSpPr/>
          <p:nvPr/>
        </p:nvSpPr>
        <p:spPr>
          <a:xfrm>
            <a:off x="1752600" y="2438400"/>
            <a:ext cx="6096000" cy="2819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dirty="0" smtClean="0"/>
              <a:t>Formalization is sound.</a:t>
            </a:r>
            <a:endParaRPr lang="en-US" sz="3600" dirty="0"/>
          </a:p>
          <a:p>
            <a:pPr algn="ctr"/>
            <a:r>
              <a:rPr lang="en-US" sz="3600" dirty="0" smtClean="0"/>
              <a:t>Relative progress guaranteed</a:t>
            </a:r>
          </a:p>
        </p:txBody>
      </p:sp>
      <p:pic>
        <p:nvPicPr>
          <p:cNvPr id="11" name="Picture 10" descr="Screen Shot 2012-06-06 at 11.09.25 AM.png"/>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19083" y="304800"/>
            <a:ext cx="3024917" cy="1828800"/>
          </a:xfrm>
          <a:prstGeom prst="rect">
            <a:avLst/>
          </a:prstGeom>
        </p:spPr>
      </p:pic>
      <p:pic>
        <p:nvPicPr>
          <p:cNvPr id="12" name="Picture 11" descr="Screen Shot 2012-06-06 at 11.05.58 AM.png"/>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304800"/>
            <a:ext cx="2918690" cy="1828800"/>
          </a:xfrm>
          <a:prstGeom prst="rect">
            <a:avLst/>
          </a:prstGeom>
        </p:spPr>
      </p:pic>
    </p:spTree>
    <p:custDataLst>
      <p:tags r:id="rId1"/>
    </p:custDataLst>
    <p:extLst>
      <p:ext uri="{BB962C8B-B14F-4D97-AF65-F5344CB8AC3E}">
        <p14:creationId xmlns:p14="http://schemas.microsoft.com/office/powerpoint/2010/main" val="2696105570"/>
      </p:ext>
    </p:extLst>
  </p:cSld>
  <p:clrMapOvr>
    <a:masterClrMapping/>
  </p:clrMapOvr>
  <mc:AlternateContent xmlns:mc="http://schemas.openxmlformats.org/markup-compatibility/2006" xmlns:p14="http://schemas.microsoft.com/office/powerpoint/2010/main">
    <mc:Choice Requires="p14">
      <p:transition spd="slow" p14:dur="2000" advTm="13949"/>
    </mc:Choice>
    <mc:Fallback xmlns="">
      <p:transition xmlns:p14="http://schemas.microsoft.com/office/powerpoint/2010/main" spd="slow" advTm="13949"/>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Case Studies</a:t>
            </a:r>
            <a:endParaRPr lang="en-US" dirty="0"/>
          </a:p>
        </p:txBody>
      </p:sp>
      <p:sp>
        <p:nvSpPr>
          <p:cNvPr id="3" name="Content Placeholder 2"/>
          <p:cNvSpPr>
            <a:spLocks noGrp="1"/>
          </p:cNvSpPr>
          <p:nvPr>
            <p:ph idx="1"/>
          </p:nvPr>
        </p:nvSpPr>
        <p:spPr/>
        <p:txBody>
          <a:bodyPr anchor="ctr"/>
          <a:lstStyle/>
          <a:p>
            <a:r>
              <a:rPr lang="en-US" b="1" dirty="0" smtClean="0"/>
              <a:t>Dynamic Knobs</a:t>
            </a:r>
          </a:p>
          <a:p>
            <a:pPr lvl="1"/>
            <a:r>
              <a:rPr lang="en-US" dirty="0" smtClean="0"/>
              <a:t>Dynamically choose different implementations</a:t>
            </a:r>
          </a:p>
          <a:p>
            <a:r>
              <a:rPr lang="en-US" b="1" dirty="0" smtClean="0"/>
              <a:t>Statistical Parallelization</a:t>
            </a:r>
          </a:p>
          <a:p>
            <a:pPr lvl="1"/>
            <a:r>
              <a:rPr lang="en-US" dirty="0"/>
              <a:t>R</a:t>
            </a:r>
            <a:r>
              <a:rPr lang="en-US" dirty="0" smtClean="0"/>
              <a:t>educe synchronization of parallelized algorithm</a:t>
            </a:r>
          </a:p>
          <a:p>
            <a:r>
              <a:rPr lang="en-US" b="1" dirty="0" smtClean="0"/>
              <a:t>Approximate Memory</a:t>
            </a:r>
          </a:p>
          <a:p>
            <a:pPr lvl="1"/>
            <a:r>
              <a:rPr lang="en-US" dirty="0" smtClean="0"/>
              <a:t>Relax memory integrity of a stored matrix</a:t>
            </a:r>
            <a:endParaRPr lang="en-US" dirty="0"/>
          </a:p>
        </p:txBody>
      </p:sp>
      <p:sp>
        <p:nvSpPr>
          <p:cNvPr id="4" name="TextBox 3"/>
          <p:cNvSpPr txBox="1"/>
          <p:nvPr/>
        </p:nvSpPr>
        <p:spPr>
          <a:xfrm>
            <a:off x="5328356" y="1813832"/>
            <a:ext cx="2971800" cy="523220"/>
          </a:xfrm>
          <a:prstGeom prst="rect">
            <a:avLst/>
          </a:prstGeom>
          <a:ln w="38100" cmpd="sng">
            <a:solidFill>
              <a:srgbClr val="008000"/>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2800" dirty="0" smtClean="0">
                <a:latin typeface="Calibri"/>
                <a:cs typeface="Calibri"/>
              </a:rPr>
              <a:t>In the paper!</a:t>
            </a:r>
            <a:endParaRPr lang="en-US" sz="2800" dirty="0">
              <a:latin typeface="Calibri"/>
              <a:cs typeface="Calibri"/>
            </a:endParaRPr>
          </a:p>
        </p:txBody>
      </p:sp>
    </p:spTree>
    <p:extLst>
      <p:ext uri="{BB962C8B-B14F-4D97-AF65-F5344CB8AC3E}">
        <p14:creationId xmlns:p14="http://schemas.microsoft.com/office/powerpoint/2010/main" val="3912969603"/>
      </p:ext>
    </p:extLst>
  </p:cSld>
  <p:clrMapOvr>
    <a:masterClrMapping/>
  </p:clrMapOvr>
  <mc:AlternateContent xmlns:mc="http://schemas.openxmlformats.org/markup-compatibility/2006" xmlns:p14="http://schemas.microsoft.com/office/powerpoint/2010/main">
    <mc:Choice Requires="p14">
      <p:transition spd="slow" p14:dur="2000" advTm="14805"/>
    </mc:Choice>
    <mc:Fallback xmlns="">
      <p:transition xmlns:p14="http://schemas.microsoft.com/office/powerpoint/2010/main" spd="slow" advTm="14805"/>
    </mc:Fallback>
  </mc:AlternateContent>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Future Work </a:t>
            </a:r>
            <a:br>
              <a:rPr lang="en-US" dirty="0" smtClean="0"/>
            </a:br>
            <a:r>
              <a:rPr lang="en-US" dirty="0" smtClean="0"/>
              <a:t>(In Progress/Submission)</a:t>
            </a:r>
            <a:endParaRPr lang="en-US" dirty="0"/>
          </a:p>
        </p:txBody>
      </p:sp>
      <p:sp>
        <p:nvSpPr>
          <p:cNvPr id="3" name="Content Placeholder 2"/>
          <p:cNvSpPr>
            <a:spLocks noGrp="1"/>
          </p:cNvSpPr>
          <p:nvPr>
            <p:ph idx="1"/>
          </p:nvPr>
        </p:nvSpPr>
        <p:spPr/>
        <p:txBody>
          <a:bodyPr anchor="ctr">
            <a:normAutofit/>
          </a:bodyPr>
          <a:lstStyle/>
          <a:p>
            <a:r>
              <a:rPr lang="en-US" b="1" dirty="0" smtClean="0"/>
              <a:t>Termination</a:t>
            </a:r>
          </a:p>
          <a:p>
            <a:pPr lvl="1"/>
            <a:r>
              <a:rPr lang="en-US" dirty="0" smtClean="0"/>
              <a:t>Relaxation may interfere</a:t>
            </a:r>
            <a:endParaRPr lang="en-US" dirty="0"/>
          </a:p>
          <a:p>
            <a:pPr lvl="1"/>
            <a:r>
              <a:rPr lang="en-US" dirty="0" smtClean="0"/>
              <a:t>Relative termination perhaps powerful</a:t>
            </a:r>
          </a:p>
          <a:p>
            <a:r>
              <a:rPr lang="en-US" b="1" dirty="0" smtClean="0"/>
              <a:t>Scalability</a:t>
            </a:r>
          </a:p>
          <a:p>
            <a:pPr lvl="1"/>
            <a:r>
              <a:rPr lang="en-US" dirty="0" smtClean="0"/>
              <a:t>Larger language; verified with static analysis</a:t>
            </a:r>
          </a:p>
          <a:p>
            <a:r>
              <a:rPr lang="en-US" b="1" dirty="0" smtClean="0"/>
              <a:t>Synthesizing Relaxations</a:t>
            </a:r>
            <a:endParaRPr lang="en-US" dirty="0" smtClean="0"/>
          </a:p>
          <a:p>
            <a:pPr lvl="1"/>
            <a:r>
              <a:rPr lang="en-US" dirty="0" smtClean="0"/>
              <a:t>Derive relaxations from acceptability properties</a:t>
            </a:r>
          </a:p>
        </p:txBody>
      </p:sp>
    </p:spTree>
    <p:extLst>
      <p:ext uri="{BB962C8B-B14F-4D97-AF65-F5344CB8AC3E}">
        <p14:creationId xmlns:p14="http://schemas.microsoft.com/office/powerpoint/2010/main" val="581366247"/>
      </p:ext>
    </p:extLst>
  </p:cSld>
  <p:clrMapOvr>
    <a:masterClrMapping/>
  </p:clrMapOvr>
  <mc:AlternateContent xmlns:mc="http://schemas.openxmlformats.org/markup-compatibility/2006" xmlns:p14="http://schemas.microsoft.com/office/powerpoint/2010/main">
    <mc:Choice Requires="p14">
      <p:transition spd="slow" p14:dur="2000" advTm="48603"/>
    </mc:Choice>
    <mc:Fallback xmlns="">
      <p:transition xmlns:p14="http://schemas.microsoft.com/office/powerpoint/2010/main" spd="slow" advTm="48603"/>
    </mc:Fallback>
  </mc:AlternateContent>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Related Work</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Executable Specifications</a:t>
            </a:r>
          </a:p>
          <a:p>
            <a:pPr lvl="1"/>
            <a:r>
              <a:rPr lang="en-US" dirty="0" smtClean="0"/>
              <a:t>Specification Statement (Morgan TOPLAS ‘88)</a:t>
            </a:r>
          </a:p>
          <a:p>
            <a:r>
              <a:rPr lang="en-US" b="1" dirty="0" smtClean="0"/>
              <a:t>Relational Reasoning/Program Logics</a:t>
            </a:r>
          </a:p>
          <a:p>
            <a:pPr lvl="1"/>
            <a:r>
              <a:rPr lang="en-US" dirty="0" smtClean="0"/>
              <a:t>Translation </a:t>
            </a:r>
            <a:r>
              <a:rPr lang="en-US" dirty="0"/>
              <a:t>Validation (</a:t>
            </a:r>
            <a:r>
              <a:rPr lang="en-US" dirty="0" err="1"/>
              <a:t>Pnueli</a:t>
            </a:r>
            <a:r>
              <a:rPr lang="en-US" dirty="0"/>
              <a:t> TACAS </a:t>
            </a:r>
            <a:r>
              <a:rPr lang="fr-FR" dirty="0"/>
              <a:t>’</a:t>
            </a:r>
            <a:r>
              <a:rPr lang="en-US" dirty="0"/>
              <a:t>98) </a:t>
            </a:r>
            <a:endParaRPr lang="en-US" dirty="0" smtClean="0"/>
          </a:p>
          <a:p>
            <a:pPr lvl="1"/>
            <a:r>
              <a:rPr lang="en-US" dirty="0"/>
              <a:t>Relational Hoare Logic (Benton POPL </a:t>
            </a:r>
            <a:r>
              <a:rPr lang="fr-FR" dirty="0"/>
              <a:t>’</a:t>
            </a:r>
            <a:r>
              <a:rPr lang="en-US"/>
              <a:t>04</a:t>
            </a:r>
            <a:r>
              <a:rPr lang="en-US" smtClean="0"/>
              <a:t>)</a:t>
            </a:r>
            <a:endParaRPr lang="en-US" dirty="0" smtClean="0"/>
          </a:p>
          <a:p>
            <a:pPr lvl="1"/>
            <a:r>
              <a:rPr lang="en-US" dirty="0" smtClean="0"/>
              <a:t>Developed for verifying traditional compiler optimizations – i.e., semantic equivalence</a:t>
            </a:r>
            <a:endParaRPr lang="en-US" dirty="0"/>
          </a:p>
          <a:p>
            <a:r>
              <a:rPr lang="en-US" b="1" dirty="0" smtClean="0"/>
              <a:t>Safe Approximate Computations</a:t>
            </a:r>
          </a:p>
          <a:p>
            <a:pPr lvl="1"/>
            <a:r>
              <a:rPr lang="en-US" dirty="0" smtClean="0"/>
              <a:t>Critical Region Identification (</a:t>
            </a:r>
            <a:r>
              <a:rPr lang="en-US" dirty="0" err="1" smtClean="0"/>
              <a:t>Carbin</a:t>
            </a:r>
            <a:r>
              <a:rPr lang="en-US" dirty="0" smtClean="0"/>
              <a:t> ISSTA ‘10)</a:t>
            </a:r>
          </a:p>
          <a:p>
            <a:pPr lvl="1"/>
            <a:r>
              <a:rPr lang="en-US" dirty="0" err="1" smtClean="0"/>
              <a:t>EnerJ</a:t>
            </a:r>
            <a:r>
              <a:rPr lang="en-US" dirty="0" smtClean="0"/>
              <a:t>: Approximate Data Types (Sampson  PLDI </a:t>
            </a:r>
            <a:r>
              <a:rPr lang="fr-FR" dirty="0" smtClean="0"/>
              <a:t>’</a:t>
            </a:r>
            <a:r>
              <a:rPr lang="en-US" dirty="0" smtClean="0"/>
              <a:t>11)</a:t>
            </a:r>
          </a:p>
        </p:txBody>
      </p:sp>
    </p:spTree>
    <p:extLst>
      <p:ext uri="{BB962C8B-B14F-4D97-AF65-F5344CB8AC3E}">
        <p14:creationId xmlns:p14="http://schemas.microsoft.com/office/powerpoint/2010/main" val="2986700934"/>
      </p:ext>
    </p:extLst>
  </p:cSld>
  <p:clrMapOvr>
    <a:masterClrMapping/>
  </p:clrMapOvr>
  <mc:AlternateContent xmlns:mc="http://schemas.openxmlformats.org/markup-compatibility/2006" xmlns:p14="http://schemas.microsoft.com/office/powerpoint/2010/main">
    <mc:Choice Requires="p14">
      <p:transition spd="slow" p14:dur="2000" advTm="10544"/>
    </mc:Choice>
    <mc:Fallback xmlns="">
      <p:transition xmlns:p14="http://schemas.microsoft.com/office/powerpoint/2010/main" spd="slow" advTm="10544"/>
    </mc:Fallback>
  </mc:AlternateContent>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Takeaway</a:t>
            </a:r>
            <a:endParaRPr lang="en-US" dirty="0"/>
          </a:p>
        </p:txBody>
      </p:sp>
      <p:sp>
        <p:nvSpPr>
          <p:cNvPr id="3" name="Content Placeholder 2"/>
          <p:cNvSpPr>
            <a:spLocks noGrp="1"/>
          </p:cNvSpPr>
          <p:nvPr>
            <p:ph idx="1"/>
          </p:nvPr>
        </p:nvSpPr>
        <p:spPr/>
        <p:txBody>
          <a:bodyPr anchor="ctr">
            <a:normAutofit/>
          </a:bodyPr>
          <a:lstStyle/>
          <a:p>
            <a:r>
              <a:rPr lang="en-US" b="1" dirty="0" smtClean="0"/>
              <a:t>Relaxation</a:t>
            </a:r>
            <a:r>
              <a:rPr lang="en-US" dirty="0" smtClean="0"/>
              <a:t> is a powerful technique</a:t>
            </a:r>
          </a:p>
          <a:p>
            <a:pPr lvl="1"/>
            <a:r>
              <a:rPr lang="en-US" dirty="0" smtClean="0"/>
              <a:t>Increased performance</a:t>
            </a:r>
          </a:p>
          <a:p>
            <a:pPr lvl="1"/>
            <a:r>
              <a:rPr lang="en-US" dirty="0" smtClean="0"/>
              <a:t>Reduced power</a:t>
            </a:r>
          </a:p>
          <a:p>
            <a:pPr lvl="1"/>
            <a:r>
              <a:rPr lang="en-US" dirty="0" smtClean="0"/>
              <a:t>Dynamic adaptation</a:t>
            </a:r>
          </a:p>
          <a:p>
            <a:r>
              <a:rPr lang="en-US" b="1" dirty="0" smtClean="0"/>
              <a:t>Relational reasoning </a:t>
            </a:r>
            <a:r>
              <a:rPr lang="en-US" dirty="0" smtClean="0"/>
              <a:t>is the key to verifying acceptability of relaxed programs</a:t>
            </a:r>
            <a:endParaRPr lang="en-US" dirty="0"/>
          </a:p>
        </p:txBody>
      </p:sp>
    </p:spTree>
    <p:extLst>
      <p:ext uri="{BB962C8B-B14F-4D97-AF65-F5344CB8AC3E}">
        <p14:creationId xmlns:p14="http://schemas.microsoft.com/office/powerpoint/2010/main" val="3253929640"/>
      </p:ext>
    </p:extLst>
  </p:cSld>
  <p:clrMapOvr>
    <a:masterClrMapping/>
  </p:clrMapOvr>
  <mc:AlternateContent xmlns:mc="http://schemas.openxmlformats.org/markup-compatibility/2006" xmlns:p14="http://schemas.microsoft.com/office/powerpoint/2010/main">
    <mc:Choice Requires="p14">
      <p:transition spd="slow" p14:dur="2000" advTm="64799"/>
    </mc:Choice>
    <mc:Fallback xmlns="">
      <p:transition xmlns:p14="http://schemas.microsoft.com/office/powerpoint/2010/main" spd="slow" advTm="64799"/>
    </mc:Fallback>
  </mc:AlternateContent>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7|7.7|10.4|8.7"/>
</p:tagLst>
</file>

<file path=ppt/tags/tag2.xml><?xml version="1.0" encoding="utf-8"?>
<p:tagLst xmlns:a="http://schemas.openxmlformats.org/drawingml/2006/main" xmlns:r="http://schemas.openxmlformats.org/officeDocument/2006/relationships" xmlns:p="http://schemas.openxmlformats.org/presentationml/2006/main">
  <p:tag name="TIMING" val="|4.1"/>
</p:tagLst>
</file>

<file path=ppt/tags/tag3.xml><?xml version="1.0" encoding="utf-8"?>
<p:tagLst xmlns:a="http://schemas.openxmlformats.org/drawingml/2006/main" xmlns:r="http://schemas.openxmlformats.org/officeDocument/2006/relationships" xmlns:p="http://schemas.openxmlformats.org/presentationml/2006/main">
  <p:tag name="TIMING" val="|30.9"/>
</p:tagLst>
</file>

<file path=ppt/tags/tag4.xml><?xml version="1.0" encoding="utf-8"?>
<p:tagLst xmlns:a="http://schemas.openxmlformats.org/drawingml/2006/main" xmlns:r="http://schemas.openxmlformats.org/officeDocument/2006/relationships" xmlns:p="http://schemas.openxmlformats.org/presentationml/2006/main">
  <p:tag name="TIMING" val="|27.5|7.8"/>
</p:tagLst>
</file>

<file path=ppt/tags/tag5.xml><?xml version="1.0" encoding="utf-8"?>
<p:tagLst xmlns:a="http://schemas.openxmlformats.org/drawingml/2006/main" xmlns:r="http://schemas.openxmlformats.org/officeDocument/2006/relationships" xmlns:p="http://schemas.openxmlformats.org/presentationml/2006/main">
  <p:tag name="TIMING" val="|28.1|9.1|13|12.7"/>
</p:tagLst>
</file>

<file path=ppt/tags/tag6.xml><?xml version="1.0" encoding="utf-8"?>
<p:tagLst xmlns:a="http://schemas.openxmlformats.org/drawingml/2006/main" xmlns:r="http://schemas.openxmlformats.org/officeDocument/2006/relationships" xmlns:p="http://schemas.openxmlformats.org/presentationml/2006/main">
  <p:tag name="TIMING" val="|15.8|15.2|6.3|14.9"/>
</p:tagLst>
</file>

<file path=ppt/tags/tag7.xml><?xml version="1.0" encoding="utf-8"?>
<p:tagLst xmlns:a="http://schemas.openxmlformats.org/drawingml/2006/main" xmlns:r="http://schemas.openxmlformats.org/officeDocument/2006/relationships" xmlns:p="http://schemas.openxmlformats.org/presentationml/2006/main">
  <p:tag name="TIMING" val="|29"/>
</p:tagLst>
</file>

<file path=ppt/tags/tag8.xml><?xml version="1.0" encoding="utf-8"?>
<p:tagLst xmlns:a="http://schemas.openxmlformats.org/drawingml/2006/main" xmlns:r="http://schemas.openxmlformats.org/officeDocument/2006/relationships" xmlns:p="http://schemas.openxmlformats.org/presentationml/2006/main">
  <p:tag name="TIMING" val="|4.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19730</TotalTime>
  <Words>1964</Words>
  <Application>Microsoft Macintosh PowerPoint</Application>
  <PresentationFormat>On-screen Show (4:3)</PresentationFormat>
  <Paragraphs>271</Paragraphs>
  <Slides>38</Slides>
  <Notes>22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Office Theme</vt:lpstr>
      <vt:lpstr>Equation</vt:lpstr>
      <vt:lpstr>Proving Acceptability Properties of Relaxed Nondeterministic Approximate Programs</vt:lpstr>
      <vt:lpstr>Approximate Computing</vt:lpstr>
      <vt:lpstr>Solution Space: Accuracy versus Cost</vt:lpstr>
      <vt:lpstr>Standard Program</vt:lpstr>
      <vt:lpstr>How Do I Access Other Points in Tradeoff Space?</vt:lpstr>
      <vt:lpstr>Approximate Program Transformations</vt:lpstr>
      <vt:lpstr>Relaxed Program</vt:lpstr>
      <vt:lpstr>Loop Perforation</vt:lpstr>
      <vt:lpstr>Common Reaction</vt:lpstr>
      <vt:lpstr>Our Response</vt:lpstr>
      <vt:lpstr>We Tried It, And It Works! (ICSE 2010, FSE 2011)</vt:lpstr>
      <vt:lpstr>What This Paper Is About</vt:lpstr>
      <vt:lpstr>Key Insights</vt:lpstr>
      <vt:lpstr>PowerPoint Presentation</vt:lpstr>
      <vt:lpstr>Step #1: Develop a Program</vt:lpstr>
      <vt:lpstr>Step #2: Define and Verify/Validate Acceptability</vt:lpstr>
      <vt:lpstr>Defining Acceptable</vt:lpstr>
      <vt:lpstr>Acceptability Specification</vt:lpstr>
      <vt:lpstr>Example Acceptability Properties</vt:lpstr>
      <vt:lpstr>Step #3: Relax Program</vt:lpstr>
      <vt:lpstr>Relax Statement</vt:lpstr>
      <vt:lpstr>Relaxed Program Semantics</vt:lpstr>
      <vt:lpstr>Step #4: Verify that Relaxation Preserves Acceptability </vt:lpstr>
      <vt:lpstr>PowerPoint Presentation</vt:lpstr>
      <vt:lpstr>Program Logic (Hoare Logic)</vt:lpstr>
      <vt:lpstr>Strategy #1: Verify Relaxed Program Outright</vt:lpstr>
      <vt:lpstr>Relational Program Logic</vt:lpstr>
      <vt:lpstr>Strategy #2: Relational Reasoning</vt:lpstr>
      <vt:lpstr>Guarantee: Relative Progress</vt:lpstr>
      <vt:lpstr>PowerPoint Presentation</vt:lpstr>
      <vt:lpstr>Language</vt:lpstr>
      <vt:lpstr>Inference Rules</vt:lpstr>
      <vt:lpstr>Coq Formalization</vt:lpstr>
      <vt:lpstr>A Lot of Coq</vt:lpstr>
      <vt:lpstr>Case Studies</vt:lpstr>
      <vt:lpstr>Future Work  (In Progress/Submission)</vt:lpstr>
      <vt:lpstr>Related Work</vt:lpstr>
      <vt:lpstr>Takeaway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Reasoning about Relaxed Programs</dc:title>
  <dc:creator>Windows User</dc:creator>
  <cp:lastModifiedBy>M</cp:lastModifiedBy>
  <cp:revision>3526</cp:revision>
  <dcterms:created xsi:type="dcterms:W3CDTF">2011-12-04T17:13:20Z</dcterms:created>
  <dcterms:modified xsi:type="dcterms:W3CDTF">2012-10-25T08:31:38Z</dcterms:modified>
</cp:coreProperties>
</file>