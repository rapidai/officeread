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25"/>
  </p:notesMasterIdLst>
  <p:handoutMasterIdLst>
    <p:handoutMasterId r:id="rId26"/>
  </p:handoutMasterIdLst>
  <p:sldIdLst>
    <p:sldId id="256" r:id="rId2"/>
    <p:sldId id="283" r:id="rId3"/>
    <p:sldId id="282" r:id="rId4"/>
    <p:sldId id="259" r:id="rId5"/>
    <p:sldId id="257" r:id="rId6"/>
    <p:sldId id="258" r:id="rId7"/>
    <p:sldId id="261" r:id="rId8"/>
    <p:sldId id="262" r:id="rId9"/>
    <p:sldId id="260" r:id="rId10"/>
    <p:sldId id="264" r:id="rId11"/>
    <p:sldId id="263" r:id="rId12"/>
    <p:sldId id="265" r:id="rId13"/>
    <p:sldId id="267" r:id="rId14"/>
    <p:sldId id="274" r:id="rId15"/>
    <p:sldId id="275" r:id="rId16"/>
    <p:sldId id="272" r:id="rId17"/>
    <p:sldId id="273" r:id="rId18"/>
    <p:sldId id="266" r:id="rId19"/>
    <p:sldId id="268" r:id="rId20"/>
    <p:sldId id="270" r:id="rId21"/>
    <p:sldId id="271" r:id="rId22"/>
    <p:sldId id="284" r:id="rId23"/>
    <p:sldId id="285"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clrMru>
    <a:srgbClr val="E4AC0E"/>
    <a:srgbClr val="F4C74A"/>
    <a:srgbClr val="FCF89E"/>
    <a:srgbClr val="FAF3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622" autoAdjust="0"/>
    <p:restoredTop sz="86404" autoAdjust="0"/>
  </p:normalViewPr>
  <p:slideViewPr>
    <p:cSldViewPr snapToGrid="0" snapToObjects="1">
      <p:cViewPr>
        <p:scale>
          <a:sx n="110" d="100"/>
          <a:sy n="110" d="100"/>
        </p:scale>
        <p:origin x="562" y="-58"/>
      </p:cViewPr>
      <p:guideLst>
        <p:guide orient="horz" pos="2160"/>
        <p:guide pos="2880"/>
      </p:guideLst>
    </p:cSldViewPr>
  </p:slideViewPr>
  <p:outlineViewPr>
    <p:cViewPr>
      <p:scale>
        <a:sx n="33" d="100"/>
        <a:sy n="33" d="100"/>
      </p:scale>
      <p:origin x="0" y="2692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2CD9DA-B370-2141-A3FE-A57F31D9775E}" type="datetimeFigureOut">
              <a:rPr lang="en-US" smtClean="0"/>
              <a:t>8/23/2012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48B8708-0295-8D4B-B432-93524F8CF648}" type="slidenum">
              <a:rPr lang="en-US" smtClean="0"/>
              <a:t>‹#›</a:t>
            </a:fld>
            <a:endParaRPr lang="en-US"/>
          </a:p>
        </p:txBody>
      </p:sp>
    </p:spTree>
    <p:extLst>
      <p:ext uri="{BB962C8B-B14F-4D97-AF65-F5344CB8AC3E}">
        <p14:creationId xmlns:p14="http://schemas.microsoft.com/office/powerpoint/2010/main" val="36836179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4D3868-F2E5-7042-AF74-0E49A42AA8E4}" type="datetimeFigureOut">
              <a:rPr lang="en-US" smtClean="0"/>
              <a:pPr/>
              <a:t>8/23/2012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9214E0-9C1A-6343-BB8B-6EE20C2FF8AA}" type="slidenum">
              <a:rPr lang="en-US" smtClean="0"/>
              <a:pPr/>
              <a:t>‹#›</a:t>
            </a:fld>
            <a:endParaRPr lang="en-US"/>
          </a:p>
        </p:txBody>
      </p:sp>
    </p:spTree>
    <p:extLst>
      <p:ext uri="{BB962C8B-B14F-4D97-AF65-F5344CB8AC3E}">
        <p14:creationId xmlns:p14="http://schemas.microsoft.com/office/powerpoint/2010/main" val="178084896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a:t>
            </a:r>
            <a:r>
              <a:rPr lang="en-US" dirty="0" err="1" smtClean="0"/>
              <a:t>www.healthcare.gov/law/timeline/index.html</a:t>
            </a:r>
            <a:endParaRPr lang="en-US" dirty="0" smtClean="0"/>
          </a:p>
          <a:p>
            <a:r>
              <a:rPr lang="en-US" dirty="0" smtClean="0"/>
              <a:t>http://</a:t>
            </a:r>
            <a:r>
              <a:rPr lang="en-US" dirty="0" err="1" smtClean="0"/>
              <a:t>www.healthreform.gov/about/grandfathering.html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http://www.healthcare.gov/law/features/rights/bill-of-rights/index.html</a:t>
            </a:r>
            <a:endParaRPr lang="en-US" dirty="0" smtClean="0"/>
          </a:p>
          <a:p>
            <a:r>
              <a:rPr lang="en-US" dirty="0" err="1" smtClean="0"/>
              <a:t>http://www.healthcare.gov/law/features/rights/doctor-choice/index.html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err="1" smtClean="0"/>
              <a:t>http://www.healthcare.gov/law/features/rights/bill-of-rights/index.html</a:t>
            </a: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err="1" smtClean="0"/>
              <a:t>http://www.healthcare.gov/law/features/rights/cancellations/index.html</a:t>
            </a: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http://www.healthcare.gov/news/factsheets/2011/05/ratereview05192011a.html</a:t>
            </a:r>
          </a:p>
          <a:p>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err="1" smtClean="0"/>
              <a:t>http://www.healthcare.gov/law/features/rights/bill-of-rights/index.html</a:t>
            </a: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err="1" smtClean="0"/>
              <a:t>http://www.healthcare.gov/law/features/costs/value-for-premium/index.html</a:t>
            </a: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http://</a:t>
            </a:r>
            <a:r>
              <a:rPr lang="en-US" dirty="0" err="1" smtClean="0"/>
              <a:t>www.healthcare.gov/law/features/costs/limits/index.html</a:t>
            </a: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err="1" smtClean="0"/>
              <a:t>http://www.healthcare.gov/law/features/rights/doctor-choice/index.html</a:t>
            </a:r>
            <a:endParaRPr lang="en-US" dirty="0" smtClean="0"/>
          </a:p>
          <a:p>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http://www.healthcare.gov/law/features/rights/bill-of-rights/index.html</a:t>
            </a:r>
            <a:endParaRPr lang="en-US" dirty="0" smtClean="0"/>
          </a:p>
          <a:p>
            <a:r>
              <a:rPr lang="en-US" dirty="0" err="1" smtClean="0"/>
              <a:t>http://www.healthcare.gov/law/features/rights/preventive-care/index.html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http://www.healthcare.gov/law/features/choices/pre-existing-condition-insurance-plan/index.html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http://www.healthcare.gov/law/features/65-older/drug-discounts/index.html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i="0" dirty="0" smtClean="0"/>
              <a:t>http://www.healthcare.gov/law/features/65-older/medicare-preventive-services/index.html</a:t>
            </a:r>
          </a:p>
          <a:p>
            <a:pPr marL="0" marR="0" indent="0" algn="l" defTabSz="457200" rtl="0" eaLnBrk="1" fontAlgn="auto" latinLnBrk="0" hangingPunct="1">
              <a:lnSpc>
                <a:spcPct val="100000"/>
              </a:lnSpc>
              <a:spcBef>
                <a:spcPts val="0"/>
              </a:spcBef>
              <a:spcAft>
                <a:spcPts val="0"/>
              </a:spcAft>
              <a:buClrTx/>
              <a:buSzTx/>
              <a:buFontTx/>
              <a:buNone/>
              <a:tabLst/>
              <a:defRPr/>
            </a:pPr>
            <a:r>
              <a:rPr lang="en-US" i="0" dirty="0" smtClean="0"/>
              <a:t>http://www.medicare.gov/%28S%28541pbh45lvkqjp45eavio445%29%29/navigation/manage-your-health/preventive-services/preventive-service-overview.aspx</a:t>
            </a:r>
          </a:p>
          <a:p>
            <a:pPr marL="0" marR="0" indent="0" algn="l" defTabSz="457200" rtl="0" eaLnBrk="1" fontAlgn="auto" latinLnBrk="0" hangingPunct="1">
              <a:lnSpc>
                <a:spcPct val="100000"/>
              </a:lnSpc>
              <a:spcBef>
                <a:spcPts val="0"/>
              </a:spcBef>
              <a:spcAft>
                <a:spcPts val="0"/>
              </a:spcAft>
              <a:buClrTx/>
              <a:buSzTx/>
              <a:buFontTx/>
              <a:buNone/>
              <a:tabLst/>
              <a:defRPr/>
            </a:pPr>
            <a:r>
              <a:rPr lang="en-US" i="0" dirty="0" smtClean="0"/>
              <a:t> </a:t>
            </a:r>
            <a:endParaRPr lang="en-US" i="0"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ACA § 2502</a:t>
            </a:r>
          </a:p>
          <a:p>
            <a:pPr marL="0" marR="0" indent="0" algn="l" defTabSz="457200" rtl="0" eaLnBrk="1" fontAlgn="auto" latinLnBrk="0" hangingPunct="1">
              <a:lnSpc>
                <a:spcPct val="100000"/>
              </a:lnSpc>
              <a:spcBef>
                <a:spcPts val="0"/>
              </a:spcBef>
              <a:spcAft>
                <a:spcPts val="0"/>
              </a:spcAft>
              <a:buClrTx/>
              <a:buSzTx/>
              <a:buFontTx/>
              <a:buNone/>
              <a:tabLst/>
              <a:defRPr/>
            </a:pPr>
            <a:r>
              <a:rPr lang="en-US" i="0" dirty="0" err="1" smtClean="0"/>
              <a:t>www.gpo.gov/fdsys/pkg/BILLS</a:t>
            </a:r>
            <a:r>
              <a:rPr lang="en-US" i="0" dirty="0" smtClean="0"/>
              <a:t>.../pdf/BILLS-110hr6331enr.pdf</a:t>
            </a:r>
          </a:p>
          <a:p>
            <a:pPr marL="0" marR="0" indent="0" algn="l" defTabSz="457200" rtl="0" eaLnBrk="1" fontAlgn="auto" latinLnBrk="0" hangingPunct="1">
              <a:lnSpc>
                <a:spcPct val="100000"/>
              </a:lnSpc>
              <a:spcBef>
                <a:spcPts val="0"/>
              </a:spcBef>
              <a:spcAft>
                <a:spcPts val="0"/>
              </a:spcAft>
              <a:buClrTx/>
              <a:buSzTx/>
              <a:buFontTx/>
              <a:buNone/>
              <a:tabLst/>
              <a:defRPr/>
            </a:pPr>
            <a:r>
              <a:rPr lang="en-US" i="0" dirty="0" smtClean="0"/>
              <a:t>https://www.federalregister.gov/articles/2012/04/12/2012-8071/medicare-program-changes-to-the-medicare-advantage-and-the-medicare-prescription-drug-benefit</a:t>
            </a:r>
          </a:p>
          <a:p>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http://www.healthcare.gov/news/factsheets/2010/11/affordable-care-act-americans-disabilities.html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http://www.healthcare.gov/news/factsheets/2010/07/preventive-services-list.html#CoveredPreventiveServicesforAdults</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http://www.healthcare.gov/news/factsheets/2010/07/preventive-services-list.html#CoveredPreventiveServicesforAdults</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http://www.healthcare.gov/news/factsheets/2010/07/preventive-services-list.html#CoveredPreventiveServicesforWomenIncludingPregnantWomen</a:t>
            </a:r>
          </a:p>
          <a:p>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http://www.healthcare.gov/news/factsheets/2010/07/preventive-services-list.html#CoveredPreventiveServicesforWomenIncludingPregnantWomen</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http://www.healthcare.gov/news/factsheets/2011/08/womensprevention08012011a.html</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http://www.healthcare.gov/news/factsheets/2011/08/womensprevention08012011a.html</a:t>
            </a:r>
          </a:p>
          <a:p>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http://www.healthcare.gov/news/factsheets/2011/08/womensprevention08012011a.html</a:t>
            </a:r>
          </a:p>
          <a:p>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http://www.healthcare.gov/news/factsheets/2010/07/preventive-services-list.html#CoveredPreventiveServicesforChildren</a:t>
            </a:r>
            <a:endParaRPr lang="en-US" dirty="0"/>
          </a:p>
        </p:txBody>
      </p:sp>
      <p:sp>
        <p:nvSpPr>
          <p:cNvPr id="4" name="Slide Number Placeholder 3"/>
          <p:cNvSpPr>
            <a:spLocks noGrp="1"/>
          </p:cNvSpPr>
          <p:nvPr>
            <p:ph type="sldNum" sz="quarter" idx="10"/>
          </p:nvPr>
        </p:nvSpPr>
        <p:spPr/>
        <p:txBody>
          <a:bodyPr/>
          <a:lstStyle/>
          <a:p>
            <a:fld id="{8B9214E0-9C1A-6343-BB8B-6EE20C2FF8AA}"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C6F916-62B1-4B26-B77B-6891FDCDD270}" type="datetimeFigureOut">
              <a:rPr lang="en-US" smtClean="0"/>
              <a:t>8/23/2012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2440993883"/>
      </p:ext>
    </p:extLst>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C6F916-62B1-4B26-B77B-6891FDCDD270}" type="datetimeFigureOut">
              <a:rPr lang="en-US" smtClean="0"/>
              <a:t>8/23/2012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2015395947"/>
      </p:ext>
    </p:extLst>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C6F916-62B1-4B26-B77B-6891FDCDD270}" type="datetimeFigureOut">
              <a:rPr lang="en-US" smtClean="0"/>
              <a:t>8/23/2012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436488660"/>
      </p:ext>
    </p:extLst>
  </p:cSld>
  <p:clrMapOvr>
    <a:masterClrMapping/>
  </p:clrMapOvr>
  <p:transition>
    <p:rand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C6F916-62B1-4B26-B77B-6891FDCDD270}" type="datetimeFigureOut">
              <a:rPr lang="en-US" smtClean="0"/>
              <a:t>8/23/2012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729052473"/>
      </p:ext>
    </p:extLst>
  </p:cSld>
  <p:clrMapOvr>
    <a:masterClrMapping/>
  </p:clrMapOvr>
  <p:transition>
    <p:rand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C6F916-62B1-4B26-B77B-6891FDCDD270}" type="datetimeFigureOut">
              <a:rPr lang="en-US" smtClean="0"/>
              <a:t>8/23/2012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4186448449"/>
      </p:ext>
    </p:extLst>
  </p:cSld>
  <p:clrMapOvr>
    <a:masterClrMapping/>
  </p:clrMapOvr>
  <p:transition>
    <p:rand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C6F916-62B1-4B26-B77B-6891FDCDD270}" type="datetimeFigureOut">
              <a:rPr lang="en-US" smtClean="0"/>
              <a:t>8/23/2012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3666687781"/>
      </p:ext>
    </p:extLst>
  </p:cSld>
  <p:clrMapOvr>
    <a:masterClrMapping/>
  </p:clrMapOvr>
  <p:transition>
    <p:rand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C6F916-62B1-4B26-B77B-6891FDCDD270}" type="datetimeFigureOut">
              <a:rPr lang="en-US" smtClean="0"/>
              <a:t>8/23/2012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3411389078"/>
      </p:ext>
    </p:extLst>
  </p:cSld>
  <p:clrMapOvr>
    <a:masterClrMapping/>
  </p:clrMapOvr>
  <p:transition>
    <p:rand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C6F916-62B1-4B26-B77B-6891FDCDD270}" type="datetimeFigureOut">
              <a:rPr lang="en-US" smtClean="0"/>
              <a:t>8/23/2012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776531950"/>
      </p:ext>
    </p:extLst>
  </p:cSld>
  <p:clrMapOvr>
    <a:masterClrMapping/>
  </p:clrMapOvr>
  <p:transition>
    <p:rand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C6F916-62B1-4B26-B77B-6891FDCDD270}" type="datetimeFigureOut">
              <a:rPr lang="en-US" smtClean="0"/>
              <a:t>8/23/2012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2311615807"/>
      </p:ext>
    </p:extLst>
  </p:cSld>
  <p:clrMapOvr>
    <a:masterClrMapping/>
  </p:clrMapOvr>
  <p:transition>
    <p:rand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C6F916-62B1-4B26-B77B-6891FDCDD270}" type="datetimeFigureOut">
              <a:rPr lang="en-US" smtClean="0"/>
              <a:t>8/23/2012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2133234973"/>
      </p:ext>
    </p:extLst>
  </p:cSld>
  <p:clrMapOvr>
    <a:masterClrMapping/>
  </p:clrMapOvr>
  <p:transition>
    <p:rand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C6F916-62B1-4B26-B77B-6891FDCDD270}" type="datetimeFigureOut">
              <a:rPr lang="en-US" smtClean="0"/>
              <a:t>8/23/2012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3824D-6E28-42F4-8CB2-D84A54007AE1}" type="slidenum">
              <a:rPr lang="en-US" smtClean="0"/>
              <a:t>‹#›</a:t>
            </a:fld>
            <a:endParaRPr lang="en-US"/>
          </a:p>
        </p:txBody>
      </p:sp>
    </p:spTree>
    <p:extLst>
      <p:ext uri="{BB962C8B-B14F-4D97-AF65-F5344CB8AC3E}">
        <p14:creationId xmlns:p14="http://schemas.microsoft.com/office/powerpoint/2010/main" val="1671906408"/>
      </p:ext>
    </p:extLst>
  </p:cSld>
  <p:clrMapOvr>
    <a:masterClrMapping/>
  </p:clrMapOvr>
  <p:transition>
    <p:rand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6F916-62B1-4B26-B77B-6891FDCDD270}" type="datetimeFigureOut">
              <a:rPr lang="en-US" smtClean="0"/>
              <a:t>8/23/2012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D3824D-6E28-42F4-8CB2-D84A54007AE1}" type="slidenum">
              <a:rPr lang="en-US" smtClean="0"/>
              <a:t>‹#›</a:t>
            </a:fld>
            <a:endParaRPr lang="en-US"/>
          </a:p>
        </p:txBody>
      </p:sp>
    </p:spTree>
    <p:extLst>
      <p:ext uri="{BB962C8B-B14F-4D97-AF65-F5344CB8AC3E}">
        <p14:creationId xmlns:p14="http://schemas.microsoft.com/office/powerpoint/2010/main" val="244067492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p:random/>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elopez\Desktop\ScreenHunter_01 Aug. 20 10.03.jpg"/>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20304" y="162639"/>
            <a:ext cx="7772400" cy="1470025"/>
          </a:xfrm>
        </p:spPr>
        <p:txBody>
          <a:bodyPr>
            <a:normAutofit/>
          </a:bodyPr>
          <a:lstStyle/>
          <a:p>
            <a:r>
              <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Don’t Know Much About</a:t>
            </a:r>
            <a:r>
              <a:rPr lang="en-US"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 the Affordable Care Act? </a:t>
            </a:r>
            <a:endPar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sp>
        <p:nvSpPr>
          <p:cNvPr id="3" name="Subtitle 2"/>
          <p:cNvSpPr>
            <a:spLocks noGrp="1"/>
          </p:cNvSpPr>
          <p:nvPr>
            <p:ph type="subTitle" idx="1"/>
          </p:nvPr>
        </p:nvSpPr>
        <p:spPr>
          <a:xfrm>
            <a:off x="685800" y="2174134"/>
            <a:ext cx="7965141" cy="1768138"/>
          </a:xfrm>
        </p:spPr>
        <p:txBody>
          <a:bodyPr/>
          <a:lstStyle/>
          <a:p>
            <a:r>
              <a:rPr lang="en-US" sz="2800" b="1" spc="50" dirty="0" smtClean="0">
                <a:ln w="13500">
                  <a:solidFill>
                    <a:schemeClr val="accent1">
                      <a:shade val="2500"/>
                      <a:alpha val="6500"/>
                    </a:schemeClr>
                  </a:solidFill>
                  <a:prstDash val="solid"/>
                </a:ln>
                <a:solidFill>
                  <a:schemeClr val="accent1">
                    <a:tint val="3000"/>
                    <a:alpha val="95000"/>
                  </a:schemeClr>
                </a:solidFill>
                <a:effectLst>
                  <a:glow rad="63500">
                    <a:schemeClr val="accent2">
                      <a:satMod val="175000"/>
                      <a:alpha val="40000"/>
                    </a:schemeClr>
                  </a:glow>
                  <a:innerShdw blurRad="50900" dist="38500" dir="13500000">
                    <a:srgbClr val="000000">
                      <a:alpha val="60000"/>
                    </a:srgbClr>
                  </a:innerShdw>
                </a:effectLst>
              </a:rPr>
              <a:t>A Webinar for Women with Disabilities</a:t>
            </a:r>
          </a:p>
          <a:p>
            <a:endParaRPr lang="en-US" sz="1200" b="1" spc="50" dirty="0" smtClean="0">
              <a:ln w="13500">
                <a:solidFill>
                  <a:schemeClr val="accent1">
                    <a:shade val="2500"/>
                    <a:alpha val="6500"/>
                  </a:schemeClr>
                </a:solidFill>
                <a:prstDash val="solid"/>
              </a:ln>
              <a:solidFill>
                <a:schemeClr val="accent1">
                  <a:tint val="3000"/>
                  <a:alpha val="95000"/>
                </a:schemeClr>
              </a:solidFill>
              <a:effectLst>
                <a:glow rad="63500">
                  <a:schemeClr val="accent2">
                    <a:satMod val="175000"/>
                    <a:alpha val="40000"/>
                  </a:schemeClr>
                </a:glow>
                <a:innerShdw blurRad="50900" dist="38500" dir="13500000">
                  <a:srgbClr val="000000">
                    <a:alpha val="60000"/>
                  </a:srgbClr>
                </a:innerShdw>
              </a:effectLst>
            </a:endParaRPr>
          </a:p>
          <a:p>
            <a:r>
              <a:rPr lang="en-US" sz="2400" b="1" spc="50" dirty="0" smtClean="0">
                <a:ln w="13500">
                  <a:solidFill>
                    <a:schemeClr val="accent1">
                      <a:shade val="2500"/>
                      <a:alpha val="6500"/>
                    </a:schemeClr>
                  </a:solidFill>
                  <a:prstDash val="solid"/>
                </a:ln>
                <a:solidFill>
                  <a:schemeClr val="accent1">
                    <a:tint val="3000"/>
                    <a:alpha val="95000"/>
                  </a:schemeClr>
                </a:solidFill>
                <a:effectLst>
                  <a:glow rad="63500">
                    <a:schemeClr val="accent2">
                      <a:satMod val="175000"/>
                      <a:alpha val="40000"/>
                    </a:schemeClr>
                  </a:glow>
                  <a:innerShdw blurRad="50900" dist="38500" dir="13500000">
                    <a:srgbClr val="000000">
                      <a:alpha val="60000"/>
                    </a:srgbClr>
                  </a:innerShdw>
                </a:effectLst>
              </a:rPr>
              <a:t>American Association on Health &amp; Disability</a:t>
            </a:r>
          </a:p>
          <a:p>
            <a:r>
              <a:rPr lang="en-US" sz="2400" b="1" spc="50" dirty="0" smtClean="0">
                <a:ln w="13500">
                  <a:solidFill>
                    <a:schemeClr val="accent1">
                      <a:shade val="2500"/>
                      <a:alpha val="6500"/>
                    </a:schemeClr>
                  </a:solidFill>
                  <a:prstDash val="solid"/>
                </a:ln>
                <a:solidFill>
                  <a:schemeClr val="accent1">
                    <a:tint val="3000"/>
                    <a:alpha val="95000"/>
                  </a:schemeClr>
                </a:solidFill>
                <a:effectLst>
                  <a:glow rad="63500">
                    <a:schemeClr val="accent2">
                      <a:satMod val="175000"/>
                      <a:alpha val="40000"/>
                    </a:schemeClr>
                  </a:glow>
                  <a:innerShdw blurRad="50900" dist="38500" dir="13500000">
                    <a:srgbClr val="000000">
                      <a:alpha val="60000"/>
                    </a:srgbClr>
                  </a:innerShdw>
                </a:effectLst>
              </a:rPr>
              <a:t>Barbara L. Kornblau, JD, OTR, Consultant</a:t>
            </a:r>
          </a:p>
          <a:p>
            <a:endParaRPr lang="en-US" b="1" spc="50" dirty="0">
              <a:ln w="13500">
                <a:solidFill>
                  <a:schemeClr val="accent1">
                    <a:shade val="2500"/>
                    <a:alpha val="6500"/>
                  </a:schemeClr>
                </a:solidFill>
                <a:prstDash val="solid"/>
              </a:ln>
              <a:solidFill>
                <a:schemeClr val="accent1">
                  <a:tint val="3000"/>
                  <a:alpha val="95000"/>
                </a:schemeClr>
              </a:solidFill>
              <a:effectLst>
                <a:glow rad="63500">
                  <a:schemeClr val="accent2">
                    <a:satMod val="175000"/>
                    <a:alpha val="40000"/>
                  </a:schemeClr>
                </a:glow>
                <a:innerShdw blurRad="50900" dist="38500" dir="13500000">
                  <a:srgbClr val="000000">
                    <a:alpha val="60000"/>
                  </a:srgbClr>
                </a:innerShdw>
              </a:effectLst>
            </a:endParaRPr>
          </a:p>
        </p:txBody>
      </p:sp>
      <p:pic>
        <p:nvPicPr>
          <p:cNvPr id="4" name="Picture 3" descr="AAHDLoga.jpg"/>
          <p:cNvPicPr>
            <a:picLocks noChangeAspect="1"/>
          </p:cNvPicPr>
          <p:nvPr/>
        </p:nvPicPr>
        <p:blipFill>
          <a:blip r:embed="rId4"/>
          <a:stretch>
            <a:fillRect/>
          </a:stretch>
        </p:blipFill>
        <p:spPr>
          <a:xfrm>
            <a:off x="2127615" y="4593053"/>
            <a:ext cx="1742579" cy="1760180"/>
          </a:xfrm>
          <a:prstGeom prst="rect">
            <a:avLst/>
          </a:prstGeom>
        </p:spPr>
      </p:pic>
      <p:pic>
        <p:nvPicPr>
          <p:cNvPr id="1027" name="Picture 3" descr="C:\Users\elopez\Desktop\nscia_logo.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6488" y="4593053"/>
            <a:ext cx="2799262" cy="17601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elopez\Desktop\ScreenHunter_01 Aug. 20 10.03.jpg"/>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title"/>
          </p:nvPr>
        </p:nvSpPr>
        <p:spPr>
          <a:xfrm>
            <a:off x="457200" y="-27272"/>
            <a:ext cx="8229600" cy="1143000"/>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Questions</a:t>
            </a:r>
          </a:p>
        </p:txBody>
      </p:sp>
      <p:sp>
        <p:nvSpPr>
          <p:cNvPr id="5" name="TextBox 4"/>
          <p:cNvSpPr txBox="1"/>
          <p:nvPr/>
        </p:nvSpPr>
        <p:spPr>
          <a:xfrm>
            <a:off x="1409700" y="4816396"/>
            <a:ext cx="6400800" cy="954107"/>
          </a:xfrm>
          <a:prstGeom prst="rect">
            <a:avLst/>
          </a:prstGeom>
          <a:noFill/>
        </p:spPr>
        <p:txBody>
          <a:bodyPr wrap="square" rtlCol="0">
            <a:spAutoFit/>
          </a:bodyPr>
          <a:lstStyle>
            <a:defPPr>
              <a:defRPr lang="en-US"/>
            </a:defPPr>
            <a:lvl1pPr algn="ctr">
              <a:defRPr sz="2800" b="1" spc="5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defRPr>
            </a:lvl1pPr>
          </a:lstStyle>
          <a:p>
            <a:r>
              <a:rPr lang="en-US" dirty="0"/>
              <a:t>To ask a question or make a comment </a:t>
            </a:r>
          </a:p>
          <a:p>
            <a:r>
              <a:rPr lang="en-US" dirty="0"/>
              <a:t>please type it in the “Questions” box</a:t>
            </a:r>
          </a:p>
        </p:txBody>
      </p:sp>
      <p:pic>
        <p:nvPicPr>
          <p:cNvPr id="6" name="Picture 2" descr="C:\Users\afitzsimmons\AppData\Local\Microsoft\Windows\Temporary Internet Files\Content.Outlook\BFSTWS4H\Screen shot 2012-07-23 at 3 46 52 P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5538" y="1440211"/>
            <a:ext cx="3730688" cy="2961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198904"/>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elopez\Desktop\ScreenHunter_01 Aug. 20 10.03.jpg"/>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02168" y="1753657"/>
            <a:ext cx="7366000" cy="4832093"/>
          </a:xfrm>
          <a:prstGeom prst="rect">
            <a:avLst/>
          </a:prstGeom>
          <a:noFill/>
        </p:spPr>
        <p:txBody>
          <a:bodyPr wrap="square" rtlCol="0">
            <a:spAutoFit/>
          </a:bodyPr>
          <a:lstStyle/>
          <a:p>
            <a:pPr algn="ctr"/>
            <a:r>
              <a:rPr lang="en-US" sz="28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Funding for this activity was made possible in part by the HHS, Office on Women’s Health. The views expressed in written materials or publications and by speakers and moderators at HHS-sponsored, do not necessarily reflect the official policies of the Department of Health and Human Services; nor does the mention of trade names, commercial practices, or organizations imply endorsement by the U.S. Government</a:t>
            </a:r>
          </a:p>
          <a:p>
            <a:pPr algn="ctr">
              <a:buFont typeface="Arial"/>
              <a:buChar char="•"/>
            </a:pPr>
            <a:endParaRPr lang="en-US"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5" name="Title 4"/>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Acknowledgement of Support </a:t>
            </a: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Affordable Care Act (ACA)</a:t>
            </a:r>
          </a:p>
        </p:txBody>
      </p:sp>
      <p:sp>
        <p:nvSpPr>
          <p:cNvPr id="3" name="Content Placeholder 2"/>
          <p:cNvSpPr>
            <a:spLocks noGrp="1"/>
          </p:cNvSpPr>
          <p:nvPr>
            <p:ph idx="1"/>
          </p:nvPr>
        </p:nvSpPr>
        <p:spPr/>
        <p:txBody>
          <a:bodyPr vert="horz" lIns="91440" tIns="45720" rIns="91440" bIns="45720" rtlCol="0" anchor="ctr">
            <a:normAutofit/>
          </a:bodyPr>
          <a:lstStyle/>
          <a:p>
            <a:pPr>
              <a:spcBef>
                <a:spcPct val="0"/>
              </a:spcBef>
            </a:pPr>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Phased-in over time starting September 23, </a:t>
            </a:r>
            <a:r>
              <a:rPr lang="en-US" sz="36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2010.</a:t>
            </a:r>
          </a:p>
          <a:p>
            <a:pPr>
              <a:spcBef>
                <a:spcPct val="0"/>
              </a:spcBef>
            </a:pPr>
            <a:r>
              <a:rPr lang="en-US" sz="36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Most </a:t>
            </a:r>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features are phased-in by 2014</a:t>
            </a:r>
          </a:p>
          <a:p>
            <a:pPr>
              <a:spcBef>
                <a:spcPct val="0"/>
              </a:spcBef>
            </a:pPr>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Some Medicare features phase in later</a:t>
            </a:r>
          </a:p>
          <a:p>
            <a:pPr lvl="1"/>
            <a:r>
              <a:rPr lang="en-US"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Closing the donut hole by 2020. </a:t>
            </a:r>
          </a:p>
          <a:p>
            <a:pPr>
              <a:spcBef>
                <a:spcPct val="0"/>
              </a:spcBef>
            </a:pPr>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New plans vs. grandfathered plans.</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ACA Consumer Protection</a:t>
            </a:r>
          </a:p>
        </p:txBody>
      </p:sp>
      <p:sp>
        <p:nvSpPr>
          <p:cNvPr id="3" name="Content Placeholder 2"/>
          <p:cNvSpPr>
            <a:spLocks noGrp="1"/>
          </p:cNvSpPr>
          <p:nvPr>
            <p:ph idx="1"/>
          </p:nvPr>
        </p:nvSpPr>
        <p:spPr>
          <a:xfrm>
            <a:off x="457200" y="1600200"/>
            <a:ext cx="8229600" cy="4748842"/>
          </a:xfrm>
        </p:spPr>
        <p:txBody>
          <a:bodyPr vert="horz" lIns="91440" tIns="45720" rIns="91440" bIns="45720" rtlCol="0" anchor="ctr">
            <a:normAutofit fontScale="700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Provides coverage to Americans with pre-existing conditions </a:t>
            </a:r>
            <a:endPar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Choose the primary care doctor you want from your plan’s network and no longer </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require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 referral to see an OB-GYN</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Keeps most young adults covered on their parent’s health plans until they are 26</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Ends lifetime limits on coverage on most benefits for all new health insurance plans. </a:t>
            </a: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ACA Consumer Protection</a:t>
            </a:r>
          </a:p>
        </p:txBody>
      </p:sp>
      <p:sp>
        <p:nvSpPr>
          <p:cNvPr id="3" name="Content Placeholder 2"/>
          <p:cNvSpPr>
            <a:spLocks noGrp="1"/>
          </p:cNvSpPr>
          <p:nvPr>
            <p:ph idx="1"/>
          </p:nvPr>
        </p:nvSpPr>
        <p:spPr/>
        <p:txBody>
          <a:bodyPr vert="horz" lIns="91440" tIns="45720" rIns="91440" bIns="45720" rtlCol="0" anchor="ctr">
            <a:normAutofit fontScale="775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Health plans can no longer limit or deny benefits to children under 19 due to pre-existing conditions</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Insurers can no longer cancel coverage just because you made an honest mistake on you application for insurance</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Insurance companies must now publicly justify any unreasonable rate hikes.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ACA Consumer Protection</a:t>
            </a:r>
          </a:p>
        </p:txBody>
      </p:sp>
      <p:sp>
        <p:nvSpPr>
          <p:cNvPr id="3" name="Content Placeholder 2"/>
          <p:cNvSpPr>
            <a:spLocks noGrp="1"/>
          </p:cNvSpPr>
          <p:nvPr>
            <p:ph idx="1"/>
          </p:nvPr>
        </p:nvSpPr>
        <p:spPr/>
        <p:txBody>
          <a:bodyPr vert="horz" lIns="91440" tIns="45720" rIns="91440" bIns="45720" rtlCol="0" anchor="ctr">
            <a:normAutofit fontScale="775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Your premium dollars (80% +) must be spent primarily on health care – not administrative costs</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Annual limits on your health benefits will be phased out by 2014</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You can seek emergency care at a hospital outside of your health plan’s network.</a:t>
            </a:r>
          </a:p>
        </p:txBody>
      </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Additional Protections</a:t>
            </a:r>
          </a:p>
        </p:txBody>
      </p:sp>
      <p:sp>
        <p:nvSpPr>
          <p:cNvPr id="3" name="Content Placeholder 2"/>
          <p:cNvSpPr>
            <a:spLocks noGrp="1"/>
          </p:cNvSpPr>
          <p:nvPr>
            <p:ph idx="1"/>
          </p:nvPr>
        </p:nvSpPr>
        <p:spPr/>
        <p:txBody>
          <a:bodyPr vert="horz" lIns="91440" tIns="45720" rIns="91440" bIns="45720" rtlCol="0" anchor="ctr">
            <a:normAutofit fontScale="925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You may be eligible for recommended preventive health services – some without  copayment</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You now have the right to ask that your plan reconsider its denial of payment. (Appeal</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fontScale="90000"/>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Pre-existing Condition Insurance Plans (</a:t>
            </a:r>
            <a:r>
              <a:rPr lang="en-US" b="1" spc="50" dirty="0" err="1">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PCIPs</a:t>
            </a:r>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t>
            </a:r>
          </a:p>
        </p:txBody>
      </p:sp>
      <p:sp>
        <p:nvSpPr>
          <p:cNvPr id="3" name="Content Placeholder 2"/>
          <p:cNvSpPr>
            <a:spLocks noGrp="1"/>
          </p:cNvSpPr>
          <p:nvPr>
            <p:ph idx="1"/>
          </p:nvPr>
        </p:nvSpPr>
        <p:spPr/>
        <p:txBody>
          <a:bodyPr vert="horz" lIns="91440" tIns="45720" rIns="91440" bIns="45720" rtlCol="0" anchor="ctr">
            <a:normAutofit fontScale="550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Must be a U.S. citizen or reside here </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legally</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Must have been denied health insurance because of a pre-existing condition, and </a:t>
            </a:r>
            <a:endPar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Must have been uninsured for at least six </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months</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PCIPs</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 cover </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primary and specialty care, (including OT, PT, &amp; SLP)</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hospital care, and</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prescription drugs. </a:t>
            </a:r>
            <a:r>
              <a:rPr lang="en-US" dirty="0"/>
              <a:t> </a:t>
            </a:r>
            <a:endParaRPr lang="en-US" dirty="0" smtClean="0"/>
          </a:p>
          <a:p>
            <a:pPr lvl="1"/>
            <a:endParaRPr lang="en-US" dirty="0"/>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To find a PCIP in your state go to  </a:t>
            </a:r>
            <a:r>
              <a:rPr lang="en-US" sz="44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pcip.gov</a:t>
            </a: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p:txBody>
      </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ACA - Medicare Benefits</a:t>
            </a:r>
          </a:p>
        </p:txBody>
      </p:sp>
      <p:sp>
        <p:nvSpPr>
          <p:cNvPr id="3" name="Content Placeholder 2"/>
          <p:cNvSpPr>
            <a:spLocks noGrp="1"/>
          </p:cNvSpPr>
          <p:nvPr>
            <p:ph idx="1"/>
          </p:nvPr>
        </p:nvSpPr>
        <p:spPr/>
        <p:txBody>
          <a:bodyPr vert="horz" lIns="91440" tIns="45720" rIns="91440" bIns="45720" rtlCol="0" anchor="ctr">
            <a:normAutofit fontScale="775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Part D Medicare closes the donut hole by 2020</a:t>
            </a:r>
          </a:p>
          <a:p>
            <a:pPr lvl="1"/>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2012 - 50% discount on covered brand-name drugs in the donut hole  </a:t>
            </a:r>
          </a:p>
          <a:p>
            <a:pPr lvl="1"/>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2013 – You pay 47.5% for brand-names and 79% for generics.</a:t>
            </a:r>
          </a:p>
          <a:p>
            <a:pPr lvl="1"/>
            <a:endParaRPr lang="en-US" dirty="0"/>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Your cost of prescriptions decreases until </a:t>
            </a:r>
          </a:p>
          <a:p>
            <a:pPr lvl="1"/>
            <a:r>
              <a:rPr lang="en-US" sz="3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2020 when you pay 25% for brand-names and 25% for generics</a:t>
            </a:r>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694426" y="-273563"/>
            <a:ext cx="7772400" cy="1658471"/>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ACA - Medicare Benefits*</a:t>
            </a:r>
          </a:p>
        </p:txBody>
      </p:sp>
      <p:sp>
        <p:nvSpPr>
          <p:cNvPr id="3" name="Content Placeholder 2"/>
          <p:cNvSpPr>
            <a:spLocks noGrp="1"/>
          </p:cNvSpPr>
          <p:nvPr>
            <p:ph idx="1"/>
          </p:nvPr>
        </p:nvSpPr>
        <p:spPr>
          <a:xfrm>
            <a:off x="210871" y="1117660"/>
            <a:ext cx="8621058" cy="5662706"/>
          </a:xfrm>
        </p:spPr>
        <p:txBody>
          <a:bodyPr vert="horz" lIns="91440" tIns="45720" rIns="91440" bIns="45720" rtlCol="0" anchor="ctr">
            <a:normAutofit fontScale="55000" lnSpcReduction="20000"/>
          </a:bodyPr>
          <a:lstStyle/>
          <a:p>
            <a:pPr algn="ctr">
              <a:spcBef>
                <a:spcPct val="0"/>
              </a:spcBef>
              <a:buNone/>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Medicare covers a Yearly Wellness Visit with preventive services (Part B coverage):</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Bone mass measurement</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Cervical cancer screening, Pap smears &amp; pelvic exams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Cholesterol and other cardiovascular screenings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Colorectal cancer screening (except for barium enemas)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Diabetes screening</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Flu shot, pneumonia shot, and the hepatitis B shot</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HIV screening for people at </a:t>
            </a:r>
            <a:r>
              <a:rPr lang="en-US" sz="44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 risk or who ask for the test</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Mammograms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Medical nutrition therapy to help people manage diabetes or kidney disease</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Prostate cancer screening (except digital rectal examinations)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(Check with your Medicare Advantage Plan to see if these are free services)</a:t>
            </a:r>
          </a:p>
        </p:txBody>
      </p:sp>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ACA - Medicare Benefits</a:t>
            </a:r>
          </a:p>
        </p:txBody>
      </p:sp>
      <p:sp>
        <p:nvSpPr>
          <p:cNvPr id="3" name="Content Placeholder 2"/>
          <p:cNvSpPr>
            <a:spLocks noGrp="1"/>
          </p:cNvSpPr>
          <p:nvPr>
            <p:ph idx="1"/>
          </p:nvPr>
        </p:nvSpPr>
        <p:spPr/>
        <p:txBody>
          <a:bodyPr vert="horz" lIns="91440" tIns="45720" rIns="91440" bIns="45720" rtlCol="0" anchor="ctr">
            <a:normAutofit fontScale="85000" lnSpcReduction="10000"/>
          </a:bodyPr>
          <a:lstStyle/>
          <a:p>
            <a:pPr algn="ctr">
              <a:spcBef>
                <a:spcPct val="0"/>
              </a:spcBef>
              <a:buNone/>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Medicare covers smoking cessation counseling as a covered service.</a:t>
            </a:r>
          </a:p>
          <a:p>
            <a:pPr algn="ctr">
              <a:spcBef>
                <a:spcPct val="0"/>
              </a:spcBef>
              <a:buNone/>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Medicare Part D will cover smoking cessation agents, barbiturates “used in the treatment of epilepsy, cancer, or a chronic mental health disorder” and benzodiazepines. (January 1, 2013)</a:t>
            </a:r>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Reducing Health Disparities</a:t>
            </a:r>
          </a:p>
        </p:txBody>
      </p:sp>
      <p:sp>
        <p:nvSpPr>
          <p:cNvPr id="3" name="Content Placeholder 2"/>
          <p:cNvSpPr>
            <a:spLocks noGrp="1"/>
          </p:cNvSpPr>
          <p:nvPr>
            <p:ph idx="1"/>
          </p:nvPr>
        </p:nvSpPr>
        <p:spPr>
          <a:xfrm>
            <a:off x="457200" y="1600200"/>
            <a:ext cx="8229600" cy="4789796"/>
          </a:xfrm>
        </p:spPr>
        <p:txBody>
          <a:bodyPr vert="horz" lIns="91440" tIns="45720" rIns="91440" bIns="45720" rtlCol="0" anchor="ctr">
            <a:normAutofit fontScale="55000" lnSpcReduction="20000"/>
          </a:bodyPr>
          <a:lstStyle/>
          <a:p>
            <a:pPr algn="ctr">
              <a:spcBef>
                <a:spcPct val="0"/>
              </a:spcBef>
              <a:buNone/>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ACA reduces health disparities for women with disabilities through:</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Coverage of preventive services without cost sharing requirements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Developing standards for accessible medical equipment</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Training health care workers to treat people with disabilities and in a culturally competent manner</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Improving public health data collection for people with disabilities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Improving care coordination for people with chronic conditions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Anti-discrimination provisions</a:t>
            </a:r>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All Adults</a:t>
            </a:r>
          </a:p>
        </p:txBody>
      </p:sp>
      <p:sp>
        <p:nvSpPr>
          <p:cNvPr id="3" name="Content Placeholder 2"/>
          <p:cNvSpPr>
            <a:spLocks noGrp="1"/>
          </p:cNvSpPr>
          <p:nvPr>
            <p:ph idx="1"/>
          </p:nvPr>
        </p:nvSpPr>
        <p:spPr/>
        <p:txBody>
          <a:bodyPr vert="horz" lIns="91440" tIns="45720" rIns="91440" bIns="45720" rtlCol="0" anchor="ctr">
            <a:normAutofit fontScale="62500" lnSpcReduction="20000"/>
          </a:bodyPr>
          <a:lstStyle/>
          <a:p>
            <a:pPr algn="ct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Of these services, the following apply to women:	</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Adult immunization vaccines </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Screenings for blood pressure, cholesterol (depending on age and risk), depression, type 2 diabetes (for those with high blood pressure) diet counseling (for those at risk of chronic conditions)</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For high risk adults: HIV screening,  syphilis screening, and sexually transmitted infection (STI) prevention counseling</a:t>
            </a:r>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All Adults</a:t>
            </a:r>
          </a:p>
        </p:txBody>
      </p:sp>
      <p:sp>
        <p:nvSpPr>
          <p:cNvPr id="3" name="Content Placeholder 2"/>
          <p:cNvSpPr>
            <a:spLocks noGrp="1"/>
          </p:cNvSpPr>
          <p:nvPr>
            <p:ph idx="1"/>
          </p:nvPr>
        </p:nvSpPr>
        <p:spPr/>
        <p:txBody>
          <a:bodyPr vert="horz" lIns="91440" tIns="45720" rIns="91440" bIns="45720" rtlCol="0" anchor="ctr">
            <a:normAutofit fontScale="92500" lnSpcReduction="1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 and counseling for:</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Alcohol misuse</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Obesity screening</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Tobacco use screening for all adults and counseling for users</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Colorectal cancer for adults over 50</a:t>
            </a: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Aspirin use for men &amp; women of certain ages</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Women</a:t>
            </a:r>
          </a:p>
        </p:txBody>
      </p:sp>
      <p:sp>
        <p:nvSpPr>
          <p:cNvPr id="3" name="Content Placeholder 2"/>
          <p:cNvSpPr>
            <a:spLocks noGrp="1"/>
          </p:cNvSpPr>
          <p:nvPr>
            <p:ph idx="1"/>
          </p:nvPr>
        </p:nvSpPr>
        <p:spPr>
          <a:xfrm>
            <a:off x="457200" y="1600200"/>
            <a:ext cx="8229600" cy="4829485"/>
          </a:xfrm>
        </p:spPr>
        <p:txBody>
          <a:bodyPr vert="horz" lIns="91440" tIns="45720" rIns="91440" bIns="45720" rtlCol="0" anchor="ctr">
            <a:normAutofit fontScale="62500" lnSpcReduction="20000"/>
          </a:bodyPr>
          <a:lstStyle/>
          <a:p>
            <a:pPr>
              <a:spcBef>
                <a:spcPct val="0"/>
              </a:spcBef>
            </a:pPr>
            <a:r>
              <a:rPr lang="en-US" sz="51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There are 22 preventive services specifically covered for women. These include:</a:t>
            </a:r>
          </a:p>
          <a:p>
            <a:pPr lvl="1"/>
            <a:r>
              <a:rPr lang="en-US" sz="4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Screenings for pregnant women for anemia, urinary tract and other infections, Hepatitis B, </a:t>
            </a:r>
            <a:r>
              <a:rPr lang="en-US" sz="45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Rh</a:t>
            </a:r>
            <a:r>
              <a:rPr lang="en-US" sz="4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 Incompatibility, and tobacco use and tobacco counseling; and folic acid supplements for pregnant women</a:t>
            </a:r>
          </a:p>
          <a:p>
            <a:pPr lvl="1"/>
            <a:r>
              <a:rPr lang="en-US" sz="4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Mammograms every 1-2 yrs for women over 40, BRCA counseling about genetic testing and breast cancer chemoprevention counseling for high risk women, and osteoporosis screening for women over 60 depending on risk factors</a:t>
            </a:r>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Women</a:t>
            </a:r>
          </a:p>
        </p:txBody>
      </p:sp>
      <p:sp>
        <p:nvSpPr>
          <p:cNvPr id="3" name="Content Placeholder 2"/>
          <p:cNvSpPr>
            <a:spLocks noGrp="1"/>
          </p:cNvSpPr>
          <p:nvPr>
            <p:ph idx="1"/>
          </p:nvPr>
        </p:nvSpPr>
        <p:spPr/>
        <p:txBody>
          <a:bodyPr vert="horz" lIns="91440" tIns="45720" rIns="91440" bIns="45720" rtlCol="0" anchor="ctr">
            <a:normAutofit fontScale="850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Screenings for </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Cervical cancer for all sexually active women</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Chlamydia Infection for younger women and other women at higher risk</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Gonorrhea for all women at higher risk</a:t>
            </a:r>
          </a:p>
          <a:p>
            <a:pPr lvl="1"/>
            <a:r>
              <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Syphilis for all pregnant women or other women at increased </a:t>
            </a:r>
            <a:r>
              <a:rPr lang="en-US" sz="33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risk</a:t>
            </a:r>
          </a:p>
          <a:p>
            <a:pPr marL="457200" lvl="1" indent="0">
              <a:buNone/>
            </a:pPr>
            <a:r>
              <a:rPr lang="en-US" sz="33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 </a:t>
            </a:r>
            <a:endParaRPr lang="en-US" sz="33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8 of the 22 preventive services for women were added August 1, 2012</a:t>
            </a: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39059" y="254000"/>
            <a:ext cx="8635999" cy="1498600"/>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New Preventive Services </a:t>
            </a:r>
            <a:b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br>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for Women</a:t>
            </a:r>
          </a:p>
        </p:txBody>
      </p:sp>
      <p:sp>
        <p:nvSpPr>
          <p:cNvPr id="3" name="Content Placeholder 2"/>
          <p:cNvSpPr>
            <a:spLocks noGrp="1"/>
          </p:cNvSpPr>
          <p:nvPr>
            <p:ph idx="1"/>
          </p:nvPr>
        </p:nvSpPr>
        <p:spPr>
          <a:xfrm>
            <a:off x="457200" y="1752600"/>
            <a:ext cx="8229600" cy="4851400"/>
          </a:xfrm>
        </p:spPr>
        <p:txBody>
          <a:bodyPr vert="horz" lIns="91440" tIns="45720" rIns="91440" bIns="45720" rtlCol="0" anchor="ctr">
            <a:normAutofit fontScale="62500" lnSpcReduction="20000"/>
          </a:bodyPr>
          <a:lstStyle/>
          <a:p>
            <a:pPr>
              <a:spcBef>
                <a:spcPct val="0"/>
              </a:spcBef>
            </a:pP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These are based on recommendations from the Institute of Medicine and are covered with No cost-sharing</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a:spcBef>
                <a:spcPct val="0"/>
              </a:spcBef>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457200" lvl="1" indent="0">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1. Well-woman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visits: an annual well-woman preventive care visit for adult women to obtain the recommended preventive services</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marL="1200150" lvl="1" indent="-742950">
              <a:buFont typeface="+mj-lt"/>
              <a:buAutoNum type="arabicPeriod"/>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457200" lvl="1" indent="0">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2. Gestational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diabetes screening: This screening is for women 24 to 28 weeks pregnant, and those at high risk of developing gestational </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diabetes.</a:t>
            </a:r>
            <a:r>
              <a:rPr lang="en-US" dirty="0" smtClean="0"/>
              <a:t>  </a:t>
            </a:r>
            <a:endParaRPr lang="en-US" dirty="0"/>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78119" y="212785"/>
            <a:ext cx="8352116" cy="1143000"/>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Women</a:t>
            </a:r>
          </a:p>
        </p:txBody>
      </p:sp>
      <p:sp>
        <p:nvSpPr>
          <p:cNvPr id="3" name="Content Placeholder 2"/>
          <p:cNvSpPr>
            <a:spLocks noGrp="1"/>
          </p:cNvSpPr>
          <p:nvPr>
            <p:ph idx="1"/>
          </p:nvPr>
        </p:nvSpPr>
        <p:spPr>
          <a:xfrm>
            <a:off x="888520" y="1600200"/>
            <a:ext cx="7453223" cy="4525963"/>
          </a:xfrm>
        </p:spPr>
        <p:txBody>
          <a:bodyPr vert="horz" lIns="91440" tIns="45720" rIns="91440" bIns="45720" rtlCol="0" anchor="ctr">
            <a:normAutofit fontScale="55000" lnSpcReduction="20000"/>
          </a:bodyPr>
          <a:lstStyle/>
          <a:p>
            <a:pPr marL="0" indent="0">
              <a:spcBef>
                <a:spcPct val="0"/>
              </a:spcBef>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3.  HPV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DNA testing: Women who are 30 or older will have access to high-risk human papillomavirus (HPV) DNA testing every three years. Early screening, detection, and treatment have been shown to help reduce the prevalence of cervical cancer</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marL="742950" indent="-742950">
              <a:spcBef>
                <a:spcPct val="0"/>
              </a:spcBef>
              <a:buFont typeface="+mj-lt"/>
              <a:buAutoNum type="arabicPeriod"/>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0" indent="0">
              <a:spcBef>
                <a:spcPct val="0"/>
              </a:spcBef>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4.  STI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counseling for Sexually Active Women: access to annual counseling on sexually transmitted infections (STIs). </a:t>
            </a:r>
            <a:endPar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742950" indent="-742950">
              <a:spcBef>
                <a:spcPct val="0"/>
              </a:spcBef>
              <a:buFont typeface="+mj-lt"/>
              <a:buAutoNum type="arabicPeriod"/>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0" indent="0">
              <a:spcBef>
                <a:spcPct val="0"/>
              </a:spcBef>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5.  HIV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 and counseling: Sexually-active women will have access to annual counseling on HIV.  </a:t>
            </a: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93059" y="-104775"/>
            <a:ext cx="8262469" cy="1364129"/>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Women</a:t>
            </a:r>
          </a:p>
        </p:txBody>
      </p:sp>
      <p:sp>
        <p:nvSpPr>
          <p:cNvPr id="3" name="Content Placeholder 2"/>
          <p:cNvSpPr>
            <a:spLocks noGrp="1"/>
          </p:cNvSpPr>
          <p:nvPr>
            <p:ph idx="1"/>
          </p:nvPr>
        </p:nvSpPr>
        <p:spPr>
          <a:xfrm>
            <a:off x="802257" y="1568824"/>
            <a:ext cx="7625751" cy="4855882"/>
          </a:xfrm>
        </p:spPr>
        <p:txBody>
          <a:bodyPr vert="horz" lIns="91440" tIns="45720" rIns="91440" bIns="45720" rtlCol="0" anchor="ctr">
            <a:normAutofit fontScale="55000" lnSpcReduction="20000"/>
          </a:bodyPr>
          <a:lstStyle/>
          <a:p>
            <a:pPr marL="0" indent="0">
              <a:spcBef>
                <a:spcPct val="0"/>
              </a:spcBef>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6.  Contraception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and contraceptive counseling: Women will have access to all FDA-approved contraceptive methods, sterilization procedures, and patient education &amp; counseling. These recommendations do not include </a:t>
            </a:r>
            <a:r>
              <a:rPr lang="en-US" sz="44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abortifacient</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 drugs. </a:t>
            </a:r>
            <a:endPar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742950" indent="-742950">
              <a:spcBef>
                <a:spcPct val="0"/>
              </a:spcBef>
              <a:buFont typeface="+mj-lt"/>
              <a:buAutoNum type="arabicPeriod"/>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0" indent="0">
              <a:spcBef>
                <a:spcPct val="0"/>
              </a:spcBef>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7.  Breastfeeding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support, supplies, and counseling: Pregnant and postpartum women will have access to comprehensive lactation support and counseling from trained providers, as well as breastfeeding equipment</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marL="742950" indent="-742950">
              <a:spcBef>
                <a:spcPct val="0"/>
              </a:spcBef>
              <a:buFont typeface="+mj-lt"/>
              <a:buAutoNum type="arabicPeriod"/>
            </a:pPr>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marL="0" indent="0">
              <a:spcBef>
                <a:spcPct val="0"/>
              </a:spcBef>
              <a:buNone/>
            </a:pP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8.  Interpersonal </a:t>
            </a:r>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and domestic violence screening and counseling: Screening and counseling for interpersonal and domestic violence should be provided for all adolescent and adult women.  </a:t>
            </a: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3">
            <a:extLst>
              <a:ext uri="{BEBA8EAE-BF5A-486C-A8C5-ECC9F3942E4B}">
                <a14:imgProps xmlns:a14="http://schemas.microsoft.com/office/drawing/2010/main">
                  <a14:imgLayer r:embed="rId4">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84657"/>
            <a:ext cx="8229600" cy="1752600"/>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Preventive Services for Children</a:t>
            </a:r>
          </a:p>
        </p:txBody>
      </p:sp>
      <p:sp>
        <p:nvSpPr>
          <p:cNvPr id="3" name="Content Placeholder 2"/>
          <p:cNvSpPr>
            <a:spLocks noGrp="1"/>
          </p:cNvSpPr>
          <p:nvPr>
            <p:ph idx="1"/>
          </p:nvPr>
        </p:nvSpPr>
        <p:spPr>
          <a:xfrm>
            <a:off x="457200" y="1138687"/>
            <a:ext cx="8229600" cy="5589917"/>
          </a:xfrm>
        </p:spPr>
        <p:txBody>
          <a:bodyPr vert="horz" lIns="91440" tIns="45720" rIns="91440" bIns="45720" rtlCol="0" anchor="ctr">
            <a:normAutofit fontScale="40000" lnSpcReduction="20000"/>
          </a:bodyPr>
          <a:lstStyle/>
          <a:p>
            <a:pPr>
              <a:spcBef>
                <a:spcPct val="0"/>
              </a:spcBef>
            </a:pPr>
            <a:r>
              <a:rPr lang="en-US" sz="5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There are 27 Covered Preventive Services for Children, which include:</a:t>
            </a: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Immunizations for influenza, meningitis, tetanus, HPV, hepatitis A &amp; B, measles, mumps, rubella, &amp; </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varicella</a:t>
            </a:r>
          </a:p>
          <a:p>
            <a:pPr lvl="1"/>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Behavioral and developmental assessments, </a:t>
            </a:r>
            <a:endPar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Iron and fluoride supplements, </a:t>
            </a:r>
            <a:endPar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Oral health risk assessment for young children and hearing and other screenings for newborns</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a:t>
            </a:r>
          </a:p>
          <a:p>
            <a:pPr lvl="1"/>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Screenings for autism, vision impairment, lipid disorders, tuberculosis, lead exposure, obesity (includes counseling), and certain genetic </a:t>
            </a:r>
            <a:r>
              <a:rPr lang="en-US" sz="4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diseases</a:t>
            </a:r>
          </a:p>
          <a:p>
            <a:pPr lvl="1"/>
            <a:endPar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endParaRPr>
          </a:p>
          <a:p>
            <a:pPr lvl="1"/>
            <a:r>
              <a:rPr lang="en-US" sz="4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ea typeface="+mj-ea"/>
                <a:cs typeface="+mj-cs"/>
              </a:rPr>
              <a:t>Screening of adolescents for depression, HIV and sexually transmitted infections, cervical dysplasia (if sexually active), and alcohol and drug use. </a:t>
            </a: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elopez\Desktop\ScreenHunter_01 Aug. 20 10.03.jpg"/>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title"/>
          </p:nvPr>
        </p:nvSpPr>
        <p:spPr>
          <a:xfrm>
            <a:off x="457200" y="-27272"/>
            <a:ext cx="8229600" cy="1143000"/>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Questions</a:t>
            </a:r>
          </a:p>
        </p:txBody>
      </p:sp>
      <p:sp>
        <p:nvSpPr>
          <p:cNvPr id="5" name="TextBox 4"/>
          <p:cNvSpPr txBox="1"/>
          <p:nvPr/>
        </p:nvSpPr>
        <p:spPr>
          <a:xfrm>
            <a:off x="1409700" y="4816396"/>
            <a:ext cx="6400800" cy="954107"/>
          </a:xfrm>
          <a:prstGeom prst="rect">
            <a:avLst/>
          </a:prstGeom>
          <a:noFill/>
        </p:spPr>
        <p:txBody>
          <a:bodyPr wrap="square" rtlCol="0">
            <a:spAutoFit/>
          </a:bodyPr>
          <a:lstStyle>
            <a:defPPr>
              <a:defRPr lang="en-US"/>
            </a:defPPr>
            <a:lvl1pPr algn="ctr">
              <a:defRPr sz="2800" b="1" spc="5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defRPr>
            </a:lvl1pPr>
          </a:lstStyle>
          <a:p>
            <a:r>
              <a:rPr lang="en-US" dirty="0"/>
              <a:t>To ask a question or make a comment </a:t>
            </a:r>
          </a:p>
          <a:p>
            <a:r>
              <a:rPr lang="en-US" dirty="0"/>
              <a:t>please type it in the “Questions” box</a:t>
            </a:r>
          </a:p>
        </p:txBody>
      </p:sp>
      <p:pic>
        <p:nvPicPr>
          <p:cNvPr id="6" name="Picture 2" descr="C:\Users\afitzsimmons\AppData\Local\Microsoft\Windows\Temporary Internet Files\Content.Outlook\BFSTWS4H\Screen shot 2012-07-23 at 3 46 52 P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5538" y="1440211"/>
            <a:ext cx="3730688" cy="2961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168313"/>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elopez\Desktop\ScreenHunter_01 Aug. 20 10.03.jpg"/>
          <p:cNvPicPr>
            <a:picLocks noChangeAspect="1" noChangeArrowheads="1"/>
          </p:cNvPicPr>
          <p:nvPr/>
        </p:nvPicPr>
        <p:blipFill>
          <a:blip r:embed="rId2">
            <a:extLst>
              <a:ext uri="{BEBA8EAE-BF5A-486C-A8C5-ECC9F3942E4B}">
                <a14:imgProps xmlns:a14="http://schemas.microsoft.com/office/drawing/2010/main">
                  <a14:imgLayer r:embed="rId3">
                    <a14:imgEffect>
                      <a14:artisticTexturizer trans="23000" scaling="1"/>
                    </a14:imgEffect>
                    <a14:imgEffect>
                      <a14:colorTemperature colorTemp="3250"/>
                    </a14:imgEffect>
                    <a14:imgEffect>
                      <a14:saturation sat="75000"/>
                    </a14:imgEffect>
                    <a14:imgEffect>
                      <a14:brightnessContrast bright="18000"/>
                    </a14:imgEffect>
                  </a14:imgLayer>
                </a14:imgProps>
              </a:ext>
              <a:ext uri="{28A0092B-C50C-407E-A947-70E740481C1C}">
                <a14:useLocalDpi xmlns:a14="http://schemas.microsoft.com/office/drawing/2010/main" val="0"/>
              </a:ext>
            </a:extLst>
          </a:blip>
          <a:srcRect/>
          <a:stretch>
            <a:fillRect/>
          </a:stretch>
        </p:blipFill>
        <p:spPr bwMode="auto">
          <a:xfrm>
            <a:off x="-114301" y="-104775"/>
            <a:ext cx="9317406" cy="700722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457200" y="274638"/>
            <a:ext cx="8229600" cy="1143000"/>
          </a:xfrm>
        </p:spPr>
        <p:txBody>
          <a:bodyPr vert="horz" lIns="91440" tIns="45720" rIns="91440" bIns="45720" rtlCol="0" anchor="ctr">
            <a:normAutofit/>
          </a:bodyPr>
          <a:lstStyle/>
          <a:p>
            <a:r>
              <a:rPr lang="en-US" b="1" spc="50" dirty="0">
                <a:ln w="13500">
                  <a:solidFill>
                    <a:schemeClr val="accent1">
                      <a:shade val="2500"/>
                      <a:alpha val="6500"/>
                    </a:schemeClr>
                  </a:solidFill>
                  <a:prstDash val="solid"/>
                </a:ln>
                <a:solidFill>
                  <a:srgbClr val="E4AC0E"/>
                </a:solidFill>
                <a:effectLst>
                  <a:innerShdw blurRad="50900" dist="38500" dir="13500000">
                    <a:srgbClr val="000000">
                      <a:alpha val="60000"/>
                    </a:srgbClr>
                  </a:innerShdw>
                </a:effectLst>
              </a:rPr>
              <a:t>For More Information</a:t>
            </a:r>
          </a:p>
        </p:txBody>
      </p:sp>
      <p:sp>
        <p:nvSpPr>
          <p:cNvPr id="6" name="Content Placeholder 3"/>
          <p:cNvSpPr>
            <a:spLocks noGrp="1"/>
          </p:cNvSpPr>
          <p:nvPr>
            <p:ph idx="1"/>
          </p:nvPr>
        </p:nvSpPr>
        <p:spPr>
          <a:xfrm>
            <a:off x="457200" y="2103407"/>
            <a:ext cx="8229600" cy="2800767"/>
          </a:xfrm>
          <a:noFill/>
        </p:spPr>
        <p:txBody>
          <a:bodyPr wrap="square" rtlCol="0">
            <a:spAutoFit/>
          </a:bodyPr>
          <a:lstStyle/>
          <a:p>
            <a:pPr marL="0" algn="ctr" defTabSz="457200"/>
            <a:endParaRPr lang="en-US"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a:p>
            <a:pPr marL="0" algn="ctr" defTabSz="457200"/>
            <a:r>
              <a:rPr lang="en-US" sz="28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This webinars Recording, PDF and Transcription will be available </a:t>
            </a:r>
            <a:r>
              <a:rPr lang="en-US"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by visiting</a:t>
            </a:r>
          </a:p>
          <a:p>
            <a:pPr marL="0" indent="0" algn="ctr" defTabSz="457200">
              <a:buNone/>
            </a:pPr>
            <a:r>
              <a:rPr lang="en-US" sz="44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mj-lt"/>
                <a:ea typeface="+mj-ea"/>
                <a:cs typeface="+mj-cs"/>
              </a:rPr>
              <a:t>www.spinalcord.org</a:t>
            </a:r>
          </a:p>
          <a:p>
            <a:pPr marL="0" indent="0" algn="ctr" defTabSz="457200">
              <a:buNone/>
            </a:pPr>
            <a:r>
              <a:rPr lang="en-US"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and clicking on Webinar Archive</a:t>
            </a:r>
          </a:p>
        </p:txBody>
      </p:sp>
    </p:spTree>
    <p:extLst>
      <p:ext uri="{BB962C8B-B14F-4D97-AF65-F5344CB8AC3E}">
        <p14:creationId xmlns:p14="http://schemas.microsoft.com/office/powerpoint/2010/main" val="946544804"/>
      </p:ext>
    </p:extLst>
  </p:cSld>
  <p:clrMapOvr>
    <a:masterClrMapping/>
  </p:clrMapOvr>
  <p:transition>
    <p:rand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1391</TotalTime>
  <Words>1412</Words>
  <Application>Microsoft Office PowerPoint</Application>
  <PresentationFormat>On-screen Show (4:3)</PresentationFormat>
  <Paragraphs>195</Paragraphs>
  <Slides>23</Slides>
  <Notes>18</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Don’t Know Much About the Affordable Care Act? </vt:lpstr>
      <vt:lpstr>Questions</vt:lpstr>
      <vt:lpstr>Acknowledgement of Support </vt:lpstr>
      <vt:lpstr>Affordable Care Act (ACA)</vt:lpstr>
      <vt:lpstr>ACA Consumer Protection</vt:lpstr>
      <vt:lpstr>ACA Consumer Protection</vt:lpstr>
      <vt:lpstr>ACA Consumer Protection</vt:lpstr>
      <vt:lpstr>Additional Protections</vt:lpstr>
      <vt:lpstr>Pre-existing Condition Insurance Plans (PCIPs)</vt:lpstr>
      <vt:lpstr>ACA - Medicare Benefits</vt:lpstr>
      <vt:lpstr>ACA - Medicare Benefits*</vt:lpstr>
      <vt:lpstr>ACA - Medicare Benefits</vt:lpstr>
      <vt:lpstr>Reducing Health Disparities</vt:lpstr>
      <vt:lpstr>Preventive Services for All Adults</vt:lpstr>
      <vt:lpstr>Preventive Services for All Adults</vt:lpstr>
      <vt:lpstr>Preventive Services for Women</vt:lpstr>
      <vt:lpstr>Preventive Services for Women</vt:lpstr>
      <vt:lpstr>New Preventive Services  for Women</vt:lpstr>
      <vt:lpstr>Preventive Services for Women</vt:lpstr>
      <vt:lpstr>Preventive Services for Women</vt:lpstr>
      <vt:lpstr>Preventive Services for Children</vt:lpstr>
      <vt:lpstr>Questions</vt:lpstr>
      <vt:lpstr>For More Information</vt:lpstr>
    </vt:vector>
  </TitlesOfParts>
  <Company>U of M - Flint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Don’t Know Much About the Affordable Care Act?</dc:title>
  <dc:creator>dcs</dc:creator>
  <cp:lastModifiedBy>Maria Manolatos</cp:lastModifiedBy>
  <cp:revision>53</cp:revision>
  <cp:lastPrinted>2012-08-20T00:01:37Z</cp:lastPrinted>
  <dcterms:created xsi:type="dcterms:W3CDTF">2012-08-19T23:59:11Z</dcterms:created>
  <dcterms:modified xsi:type="dcterms:W3CDTF">2012-08-23T16:31:14Z</dcterms:modified>
</cp:coreProperties>
</file>