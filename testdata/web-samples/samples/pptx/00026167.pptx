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6" r:id="rId4"/>
    <p:sldId id="287" r:id="rId5"/>
    <p:sldId id="288" r:id="rId6"/>
    <p:sldId id="259" r:id="rId7"/>
    <p:sldId id="267" r:id="rId8"/>
    <p:sldId id="268" r:id="rId9"/>
    <p:sldId id="261" r:id="rId10"/>
    <p:sldId id="269" r:id="rId11"/>
    <p:sldId id="265" r:id="rId12"/>
    <p:sldId id="270" r:id="rId13"/>
    <p:sldId id="262" r:id="rId14"/>
    <p:sldId id="263" r:id="rId15"/>
    <p:sldId id="271" r:id="rId16"/>
    <p:sldId id="266" r:id="rId17"/>
    <p:sldId id="272" r:id="rId18"/>
    <p:sldId id="264" r:id="rId19"/>
    <p:sldId id="273" r:id="rId20"/>
    <p:sldId id="274" r:id="rId21"/>
    <p:sldId id="281" r:id="rId22"/>
    <p:sldId id="282" r:id="rId23"/>
    <p:sldId id="283" r:id="rId24"/>
    <p:sldId id="284" r:id="rId25"/>
    <p:sldId id="285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55" autoAdjust="0"/>
    <p:restoredTop sz="74760" autoAdjust="0"/>
  </p:normalViewPr>
  <p:slideViewPr>
    <p:cSldViewPr>
      <p:cViewPr varScale="1">
        <p:scale>
          <a:sx n="97" d="100"/>
          <a:sy n="97" d="100"/>
        </p:scale>
        <p:origin x="-94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65A5CE39-6983-42A7-939A-372B9C41C282}" type="datetimeFigureOut">
              <a:rPr lang="en-US"/>
              <a:pPr>
                <a:defRPr/>
              </a:pPr>
              <a:t>9/7/2009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4FB3DE8-F9EB-4891-B056-15E68DCACF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9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3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GB" smtClean="0"/>
              <a:t>Based on work that we did for the University of Bolton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0412C1E-4D8F-4223-B238-CFB56C6936E8}" type="slidenum">
              <a:rPr lang="en-GB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GB">
              <a:cs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GB" smtClean="0"/>
              <a:t>Slightly simplified version of the model that we produced of the induction process at Bolton.  I will explain the parts of the model and why they are there</a:t>
            </a: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F54711A-21ED-4AE4-88C3-9210CB9E9517}" type="slidenum">
              <a:rPr lang="en-GB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GB">
              <a:cs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smtClean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1DFFEAF-03CC-42E0-AF32-2E70A9FC6DAE}" type="slidenum">
              <a:rPr lang="en-GB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GB">
              <a:cs typeface="Arial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GB" smtClean="0"/>
              <a:t>Issues and process improvement aspects</a:t>
            </a: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979765F-5269-4F7D-B9A4-2C2E72D0F0D8}" type="slidenum">
              <a:rPr lang="en-GB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GB">
              <a:cs typeface="Arial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GB" smtClean="0"/>
              <a:t>About the students</a:t>
            </a:r>
          </a:p>
        </p:txBody>
      </p:sp>
      <p:sp>
        <p:nvSpPr>
          <p:cNvPr id="2765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BC2C52B-B9E7-42CF-A990-4DB3D9DDB98C}" type="slidenum">
              <a:rPr lang="en-GB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GB">
              <a:cs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GB" smtClean="0"/>
              <a:t>The context for induction</a:t>
            </a:r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2FEC2BF-D928-480C-871C-6FA0D6E4532B}" type="slidenum">
              <a:rPr lang="en-GB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GB">
              <a:cs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GB" smtClean="0"/>
              <a:t>The roles (people) that are involved in the provision of induction</a:t>
            </a:r>
          </a:p>
        </p:txBody>
      </p:sp>
      <p:sp>
        <p:nvSpPr>
          <p:cNvPr id="3481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E341F98-35E8-4AB0-804B-631C5D52CCA8}" type="slidenum">
              <a:rPr lang="en-GB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GB">
              <a:cs typeface="Arial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GB" smtClean="0"/>
              <a:t>Ways in which induction is delivered</a:t>
            </a:r>
          </a:p>
        </p:txBody>
      </p:sp>
      <p:sp>
        <p:nvSpPr>
          <p:cNvPr id="3789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48644C9-39CD-44CC-AE41-8D5EC38672C8}" type="slidenum">
              <a:rPr lang="en-GB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GB">
              <a:cs typeface="Arial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B187E-CD2F-416E-A1B7-324A7B517087}" type="datetimeFigureOut">
              <a:rPr lang="en-US"/>
              <a:pPr>
                <a:defRPr/>
              </a:pPr>
              <a:t>9/7/2009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E316A-D957-4B5F-8842-9B17CAFE164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4F31F-9810-473F-9BDF-0C04C4A661EB}" type="datetimeFigureOut">
              <a:rPr lang="en-US"/>
              <a:pPr>
                <a:defRPr/>
              </a:pPr>
              <a:t>9/7/2009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20EFD0-3132-409E-9754-E238875662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056540-B083-4BBB-8547-A7B7D3DE2A4C}" type="datetimeFigureOut">
              <a:rPr lang="en-US"/>
              <a:pPr>
                <a:defRPr/>
              </a:pPr>
              <a:t>9/7/2009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D08B70-3288-46EF-9517-7D3B6A99A3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988ACD-0679-436E-8135-F7683AB7B21C}" type="datetimeFigureOut">
              <a:rPr lang="en-US"/>
              <a:pPr>
                <a:defRPr/>
              </a:pPr>
              <a:t>9/7/2009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AA681E-7FB0-468A-8C01-760EB061AE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6F66CD-DE4A-4A6A-B850-9168506A03D8}" type="datetimeFigureOut">
              <a:rPr lang="en-US"/>
              <a:pPr>
                <a:defRPr/>
              </a:pPr>
              <a:t>9/7/2009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4EB509-5166-452D-A93E-5CF2AE7CAE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F65623-F820-4A50-9720-9305B989EBF0}" type="datetimeFigureOut">
              <a:rPr lang="en-US"/>
              <a:pPr>
                <a:defRPr/>
              </a:pPr>
              <a:t>9/7/2009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8F38F6-A1FE-4603-B019-484AB0B902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24DE8C-5252-4E86-92E8-A96494CFA336}" type="datetimeFigureOut">
              <a:rPr lang="en-US"/>
              <a:pPr>
                <a:defRPr/>
              </a:pPr>
              <a:t>9/7/2009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B50DAE-8EC6-47ED-B153-D679FB6ADD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121753-DEDF-4938-B6D7-3D56C2126C31}" type="datetimeFigureOut">
              <a:rPr lang="en-US"/>
              <a:pPr>
                <a:defRPr/>
              </a:pPr>
              <a:t>9/7/2009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1D0773-1D30-4379-B436-225C6D400E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9E7F0-B68C-4FC3-AEDA-14BD439943F1}" type="datetimeFigureOut">
              <a:rPr lang="en-US"/>
              <a:pPr>
                <a:defRPr/>
              </a:pPr>
              <a:t>9/7/2009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232B2-7321-4417-8338-B7099E7FF5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1B3967-8E3C-4812-AD8F-C9D2ED3B7E86}" type="datetimeFigureOut">
              <a:rPr lang="en-US"/>
              <a:pPr>
                <a:defRPr/>
              </a:pPr>
              <a:t>9/7/2009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6A1578-B240-49CE-82CE-4C053CF442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7E31C9-1E8E-4D82-B0D3-2925F627990D}" type="datetimeFigureOut">
              <a:rPr lang="en-US"/>
              <a:pPr>
                <a:defRPr/>
              </a:pPr>
              <a:t>9/7/2009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989C5B-D98F-4CF6-89ED-9BE534DCAB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GB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6F17C7C-8D63-41DA-ACFF-962ACA9B5AD6}" type="datetimeFigureOut">
              <a:rPr lang="en-US"/>
              <a:pPr>
                <a:defRPr/>
              </a:pPr>
              <a:t>9/7/2009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63B3510-1C2B-431F-8404-2411A1FFFC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mtClean="0"/>
              <a:t>Sharing lessons through effective modelling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92500" lnSpcReduction="20000"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smtClean="0">
                <a:solidFill>
                  <a:schemeClr val="tx1"/>
                </a:solidFill>
              </a:rPr>
              <a:t>Hilary Dexter</a:t>
            </a:r>
            <a:br>
              <a:rPr lang="en-GB" dirty="0" smtClean="0">
                <a:solidFill>
                  <a:schemeClr val="tx1"/>
                </a:solidFill>
              </a:rPr>
            </a:br>
            <a:r>
              <a:rPr lang="en-GB" dirty="0" smtClean="0">
                <a:solidFill>
                  <a:schemeClr val="tx1"/>
                </a:solidFill>
              </a:rPr>
              <a:t>University of Manchester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 smtClean="0">
                <a:solidFill>
                  <a:schemeClr val="tx1"/>
                </a:solidFill>
              </a:rPr>
              <a:t>Tom Franklin</a:t>
            </a:r>
            <a:br>
              <a:rPr lang="en-GB" dirty="0" smtClean="0">
                <a:solidFill>
                  <a:schemeClr val="tx1"/>
                </a:solidFill>
              </a:rPr>
            </a:br>
            <a:r>
              <a:rPr lang="en-GB" dirty="0" smtClean="0">
                <a:solidFill>
                  <a:schemeClr val="tx1"/>
                </a:solidFill>
              </a:rPr>
              <a:t>Franklin Consulting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Workshop Outline</a:t>
            </a:r>
          </a:p>
        </p:txBody>
      </p:sp>
      <p:sp>
        <p:nvSpPr>
          <p:cNvPr id="15362" name="Content Placeholder 2"/>
          <p:cNvSpPr>
            <a:spLocks noGrp="1"/>
          </p:cNvSpPr>
          <p:nvPr>
            <p:ph idx="1"/>
          </p:nvPr>
        </p:nvSpPr>
        <p:spPr>
          <a:xfrm>
            <a:off x="468313" y="1628775"/>
            <a:ext cx="8229600" cy="4525963"/>
          </a:xfrm>
        </p:spPr>
        <p:txBody>
          <a:bodyPr/>
          <a:lstStyle/>
          <a:p>
            <a:r>
              <a:rPr lang="en-GB" smtClean="0"/>
              <a:t>Introduction</a:t>
            </a:r>
          </a:p>
          <a:p>
            <a:pPr lvl="1"/>
            <a:r>
              <a:rPr lang="en-GB" smtClean="0"/>
              <a:t>What is modelling</a:t>
            </a:r>
          </a:p>
          <a:p>
            <a:pPr lvl="1"/>
            <a:r>
              <a:rPr lang="en-GB" smtClean="0"/>
              <a:t>An example of modelling</a:t>
            </a:r>
          </a:p>
          <a:p>
            <a:r>
              <a:rPr lang="en-GB" smtClean="0"/>
              <a:t>Exercise 1: Modelling a problem</a:t>
            </a:r>
          </a:p>
          <a:p>
            <a:r>
              <a:rPr lang="en-GB" smtClean="0"/>
              <a:t>Feedback </a:t>
            </a:r>
          </a:p>
          <a:p>
            <a:r>
              <a:rPr lang="en-GB" smtClean="0"/>
              <a:t>Exercise 2: Building a scenario and identifying solutions</a:t>
            </a:r>
          </a:p>
          <a:p>
            <a:r>
              <a:rPr lang="en-GB" smtClean="0"/>
              <a:t>Feedback and concluding comments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6" name="Rectangle 4"/>
          <p:cNvSpPr>
            <a:spLocks noGrp="1"/>
          </p:cNvSpPr>
          <p:nvPr>
            <p:ph type="title"/>
          </p:nvPr>
        </p:nvSpPr>
        <p:spPr>
          <a:xfrm>
            <a:off x="0" y="0"/>
            <a:ext cx="8675688" cy="620713"/>
          </a:xfrm>
        </p:spPr>
        <p:txBody>
          <a:bodyPr/>
          <a:lstStyle/>
          <a:p>
            <a:pPr algn="l"/>
            <a:r>
              <a:rPr lang="en-GB" sz="4000" smtClean="0"/>
              <a:t>Modelling and shared knowledge</a:t>
            </a:r>
          </a:p>
        </p:txBody>
      </p:sp>
      <p:pic>
        <p:nvPicPr>
          <p:cNvPr id="90121" name="Picture 9" descr="shared knowledge centr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81300"/>
            <a:ext cx="9039225" cy="2590800"/>
          </a:xfrm>
          <a:prstGeom prst="rect">
            <a:avLst/>
          </a:prstGeom>
          <a:noFill/>
        </p:spPr>
      </p:pic>
      <p:sp>
        <p:nvSpPr>
          <p:cNvPr id="90122" name="Text Box 10"/>
          <p:cNvSpPr txBox="1">
            <a:spLocks noChangeArrowheads="1"/>
          </p:cNvSpPr>
          <p:nvPr/>
        </p:nvSpPr>
        <p:spPr bwMode="auto">
          <a:xfrm>
            <a:off x="1763713" y="765175"/>
            <a:ext cx="5688012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en-GB" sz="2000">
                <a:solidFill>
                  <a:schemeClr val="folHlink"/>
                </a:solidFill>
              </a:rPr>
              <a:t>What is a model?</a:t>
            </a:r>
          </a:p>
          <a:p>
            <a:pPr>
              <a:lnSpc>
                <a:spcPct val="80000"/>
              </a:lnSpc>
            </a:pPr>
            <a:r>
              <a:rPr lang="en-GB" sz="2000">
                <a:solidFill>
                  <a:schemeClr val="folHlink"/>
                </a:solidFill>
              </a:rPr>
              <a:t>A model is an abstraction, which allows people to concentrate on the essentials of a (complex) problem by keeping out non-essential details.</a:t>
            </a:r>
          </a:p>
          <a:p>
            <a:pPr>
              <a:lnSpc>
                <a:spcPct val="80000"/>
              </a:lnSpc>
            </a:pPr>
            <a:endParaRPr lang="en-GB" sz="2000">
              <a:solidFill>
                <a:schemeClr val="folHlink"/>
              </a:solidFill>
            </a:endParaRPr>
          </a:p>
          <a:p>
            <a:pPr>
              <a:lnSpc>
                <a:spcPct val="80000"/>
              </a:lnSpc>
            </a:pPr>
            <a:r>
              <a:rPr lang="en-GB" sz="2000">
                <a:solidFill>
                  <a:schemeClr val="folHlink"/>
                </a:solidFill>
              </a:rPr>
              <a:t>Modelling is about building representations of things in the ‘real world’ and allowing ideas to be investigated</a:t>
            </a:r>
          </a:p>
        </p:txBody>
      </p:sp>
      <p:sp>
        <p:nvSpPr>
          <p:cNvPr id="90124" name="Text Box 12"/>
          <p:cNvSpPr txBox="1">
            <a:spLocks noChangeArrowheads="1"/>
          </p:cNvSpPr>
          <p:nvPr/>
        </p:nvSpPr>
        <p:spPr bwMode="auto">
          <a:xfrm>
            <a:off x="179388" y="5516563"/>
            <a:ext cx="3657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>
                <a:solidFill>
                  <a:schemeClr val="folHlink"/>
                </a:solidFill>
              </a:rPr>
              <a:t>What is a modelling language?</a:t>
            </a:r>
          </a:p>
        </p:txBody>
      </p:sp>
      <p:sp>
        <p:nvSpPr>
          <p:cNvPr id="90125" name="Text Box 13"/>
          <p:cNvSpPr txBox="1">
            <a:spLocks noChangeArrowheads="1"/>
          </p:cNvSpPr>
          <p:nvPr/>
        </p:nvSpPr>
        <p:spPr bwMode="auto">
          <a:xfrm>
            <a:off x="5292725" y="6165850"/>
            <a:ext cx="35147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>
                <a:solidFill>
                  <a:schemeClr val="folHlink"/>
                </a:solidFill>
              </a:rPr>
              <a:t>What is a modelling medium?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8" name="Rectangle 4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620713"/>
          </a:xfrm>
        </p:spPr>
        <p:txBody>
          <a:bodyPr/>
          <a:lstStyle/>
          <a:p>
            <a:pPr algn="l"/>
            <a:r>
              <a:rPr lang="en-GB" sz="3200" smtClean="0"/>
              <a:t>What is a modelling Language?</a:t>
            </a:r>
          </a:p>
        </p:txBody>
      </p:sp>
      <p:sp>
        <p:nvSpPr>
          <p:cNvPr id="93189" name="Text Box 5"/>
          <p:cNvSpPr txBox="1">
            <a:spLocks noChangeArrowheads="1"/>
          </p:cNvSpPr>
          <p:nvPr/>
        </p:nvSpPr>
        <p:spPr bwMode="auto">
          <a:xfrm>
            <a:off x="179388" y="692150"/>
            <a:ext cx="8713787" cy="582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  <a:buFontTx/>
              <a:buChar char="•"/>
            </a:pPr>
            <a:r>
              <a:rPr lang="en-GB" b="1">
                <a:solidFill>
                  <a:schemeClr val="folHlink"/>
                </a:solidFill>
              </a:rPr>
              <a:t>Text</a:t>
            </a:r>
            <a:r>
              <a:rPr lang="en-GB"/>
              <a:t> - descriptions of the issues and their context. These documents may be completely free of any structure or may conform to an agreed template. </a:t>
            </a:r>
          </a:p>
          <a:p>
            <a:pPr>
              <a:lnSpc>
                <a:spcPct val="110000"/>
              </a:lnSpc>
              <a:buFontTx/>
              <a:buChar char="•"/>
            </a:pPr>
            <a:r>
              <a:rPr lang="en-GB" b="1">
                <a:solidFill>
                  <a:schemeClr val="folHlink"/>
                </a:solidFill>
              </a:rPr>
              <a:t>Rich pictures</a:t>
            </a:r>
            <a:r>
              <a:rPr lang="en-GB"/>
              <a:t> - attempt to encapsulate the real situation through a cartoon representation. They are often used to describe a domain of interest, workflow or interactions between people.</a:t>
            </a:r>
          </a:p>
          <a:p>
            <a:pPr>
              <a:lnSpc>
                <a:spcPct val="110000"/>
              </a:lnSpc>
              <a:buFontTx/>
              <a:buChar char="•"/>
            </a:pPr>
            <a:r>
              <a:rPr lang="en-GB" b="1">
                <a:solidFill>
                  <a:schemeClr val="folHlink"/>
                </a:solidFill>
              </a:rPr>
              <a:t>Visual modelling notation</a:t>
            </a:r>
            <a:r>
              <a:rPr lang="en-GB"/>
              <a:t> - allows us to draw our systems of interest with a graphic language – a vocabulary of icons, shapes and lines. Examples are UML, SysML, BPMN and Archimate.</a:t>
            </a:r>
          </a:p>
          <a:p>
            <a:pPr>
              <a:lnSpc>
                <a:spcPct val="110000"/>
              </a:lnSpc>
              <a:buFontTx/>
              <a:buChar char="•"/>
            </a:pPr>
            <a:r>
              <a:rPr lang="en-GB" b="1">
                <a:solidFill>
                  <a:schemeClr val="folHlink"/>
                </a:solidFill>
              </a:rPr>
              <a:t>Markup languages</a:t>
            </a:r>
            <a:r>
              <a:rPr lang="en-GB"/>
              <a:t> - for describing data structures. Most widely used of these languages is XML from which have been derived many others, such as RSS, Atom, SOAP, and XHTML. </a:t>
            </a:r>
          </a:p>
          <a:p>
            <a:pPr>
              <a:lnSpc>
                <a:spcPct val="110000"/>
              </a:lnSpc>
              <a:buFontTx/>
              <a:buChar char="•"/>
            </a:pPr>
            <a:r>
              <a:rPr lang="en-GB" b="1">
                <a:solidFill>
                  <a:schemeClr val="folHlink"/>
                </a:solidFill>
              </a:rPr>
              <a:t>Mathematical notation</a:t>
            </a:r>
            <a:r>
              <a:rPr lang="en-GB"/>
              <a:t> - describes a system by a set of variables and a set of equations that establish relationships between the variables. </a:t>
            </a:r>
          </a:p>
          <a:p>
            <a:pPr>
              <a:lnSpc>
                <a:spcPct val="110000"/>
              </a:lnSpc>
              <a:buFontTx/>
              <a:buChar char="•"/>
            </a:pPr>
            <a:r>
              <a:rPr lang="en-GB" b="1">
                <a:solidFill>
                  <a:schemeClr val="folHlink"/>
                </a:solidFill>
              </a:rPr>
              <a:t>Ontology languages</a:t>
            </a:r>
            <a:r>
              <a:rPr lang="en-GB"/>
              <a:t> - a formal description of the meaning of the information stored in a system – it provides a shared vocabulary which can be used to model a domain i.e. the type of objects and/or concepts that exist and their properties and relations. Examples: RDF, OWL and OBO</a:t>
            </a:r>
          </a:p>
          <a:p>
            <a:pPr>
              <a:lnSpc>
                <a:spcPct val="110000"/>
              </a:lnSpc>
              <a:buFontTx/>
              <a:buChar char="•"/>
            </a:pPr>
            <a:r>
              <a:rPr lang="en-GB" b="1">
                <a:solidFill>
                  <a:schemeClr val="folHlink"/>
                </a:solidFill>
              </a:rPr>
              <a:t>Programming languages</a:t>
            </a:r>
            <a:r>
              <a:rPr lang="en-GB"/>
              <a:t>: Modelling in code e.g. the Java Modeling Language (JML)</a:t>
            </a:r>
          </a:p>
        </p:txBody>
      </p:sp>
      <p:pic>
        <p:nvPicPr>
          <p:cNvPr id="93190" name="Picture 6" descr="text model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119063"/>
            <a:ext cx="3810000" cy="6619875"/>
          </a:xfrm>
          <a:prstGeom prst="rect">
            <a:avLst/>
          </a:prstGeom>
          <a:noFill/>
        </p:spPr>
      </p:pic>
      <p:pic>
        <p:nvPicPr>
          <p:cNvPr id="93191" name="Picture 7" descr="uml model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388" y="765175"/>
            <a:ext cx="6335712" cy="5119688"/>
          </a:xfrm>
          <a:prstGeom prst="rect">
            <a:avLst/>
          </a:prstGeom>
          <a:noFill/>
        </p:spPr>
      </p:pic>
      <p:pic>
        <p:nvPicPr>
          <p:cNvPr id="93192" name="Picture 8" descr="rich pictur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16013" y="549275"/>
            <a:ext cx="6048375" cy="5838825"/>
          </a:xfrm>
          <a:prstGeom prst="rect">
            <a:avLst/>
          </a:prstGeom>
          <a:noFill/>
        </p:spPr>
      </p:pic>
      <p:pic>
        <p:nvPicPr>
          <p:cNvPr id="93193" name="Picture 9" descr="xml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009775" y="666750"/>
            <a:ext cx="5124450" cy="5524500"/>
          </a:xfrm>
          <a:prstGeom prst="rect">
            <a:avLst/>
          </a:prstGeom>
          <a:noFill/>
        </p:spPr>
      </p:pic>
      <p:pic>
        <p:nvPicPr>
          <p:cNvPr id="93194" name="Picture 10" descr="math model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409825" y="1866900"/>
            <a:ext cx="4324350" cy="3124200"/>
          </a:xfrm>
          <a:prstGeom prst="rect">
            <a:avLst/>
          </a:prstGeom>
          <a:noFill/>
        </p:spPr>
      </p:pic>
      <p:pic>
        <p:nvPicPr>
          <p:cNvPr id="93195" name="Picture 11" descr="ontology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619250" y="1652588"/>
            <a:ext cx="5905500" cy="3552825"/>
          </a:xfrm>
          <a:prstGeom prst="rect">
            <a:avLst/>
          </a:prstGeom>
          <a:noFill/>
        </p:spPr>
      </p:pic>
      <p:pic>
        <p:nvPicPr>
          <p:cNvPr id="93196" name="Picture 12" descr="code model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952625" y="938213"/>
            <a:ext cx="5238750" cy="49815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7" dur="500"/>
                                        <p:tgtEl>
                                          <p:spTgt spid="93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0" name="Rectangle 4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490538"/>
          </a:xfrm>
        </p:spPr>
        <p:txBody>
          <a:bodyPr/>
          <a:lstStyle/>
          <a:p>
            <a:pPr algn="l"/>
            <a:r>
              <a:rPr lang="en-GB" sz="4000" smtClean="0"/>
              <a:t>What is a modelling medium?</a:t>
            </a:r>
          </a:p>
        </p:txBody>
      </p:sp>
      <p:pic>
        <p:nvPicPr>
          <p:cNvPr id="9626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850" y="3933825"/>
            <a:ext cx="2881313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6263" name="Text Box 7"/>
          <p:cNvSpPr txBox="1">
            <a:spLocks noChangeArrowheads="1"/>
          </p:cNvSpPr>
          <p:nvPr/>
        </p:nvSpPr>
        <p:spPr bwMode="auto">
          <a:xfrm>
            <a:off x="179388" y="692150"/>
            <a:ext cx="5400675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/>
              <a:t>Models may be created on paper, in electronic text or graphics documents, in computer visual modelling tools, on whiteboards (photographed), on smartboards (snapshots) or with cards and post-its. The medium does not determine the modelling language. For example, if you have used a white board to concept map, label and comment things, a snapshot of the board will deliver a modelling output that is a mixture of visual notation (rich picture or boxes and lines) and accompanying text. </a:t>
            </a:r>
          </a:p>
        </p:txBody>
      </p:sp>
      <p:pic>
        <p:nvPicPr>
          <p:cNvPr id="96264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7400" y="549275"/>
            <a:ext cx="3067050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6265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00563" y="3429000"/>
            <a:ext cx="4286250" cy="307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An example of modelling</a:t>
            </a: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mtClean="0"/>
              <a:t>Induction process</a:t>
            </a:r>
          </a:p>
          <a:p>
            <a:r>
              <a:rPr lang="en-GB" smtClean="0"/>
              <a:t>Motivation</a:t>
            </a:r>
          </a:p>
          <a:p>
            <a:pPr lvl="1"/>
            <a:r>
              <a:rPr lang="en-GB" smtClean="0"/>
              <a:t>High drop out rate of students</a:t>
            </a:r>
          </a:p>
          <a:p>
            <a:pPr lvl="1"/>
            <a:r>
              <a:rPr lang="en-GB" smtClean="0"/>
              <a:t>Different experience for distance and part-time students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313" y="142875"/>
            <a:ext cx="7437437" cy="657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6429388" y="214290"/>
            <a:ext cx="2313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Induction process at </a:t>
            </a:r>
          </a:p>
          <a:p>
            <a:pPr algn="ctr"/>
            <a:r>
              <a:rPr lang="en-GB" dirty="0" smtClean="0"/>
              <a:t>Bolton university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14375" y="0"/>
            <a:ext cx="4929188" cy="19288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pic>
        <p:nvPicPr>
          <p:cNvPr id="2150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313" y="142875"/>
            <a:ext cx="7437437" cy="657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429388" y="214290"/>
            <a:ext cx="2313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Induction process at </a:t>
            </a:r>
          </a:p>
          <a:p>
            <a:pPr algn="ctr"/>
            <a:r>
              <a:rPr lang="en-GB" dirty="0" smtClean="0"/>
              <a:t>Bolton university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850" y="1668463"/>
            <a:ext cx="8496300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1857356" y="285728"/>
            <a:ext cx="5170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Quality issues for </a:t>
            </a:r>
          </a:p>
          <a:p>
            <a:pPr algn="ctr"/>
            <a:r>
              <a:rPr lang="en-GB" dirty="0" smtClean="0"/>
              <a:t>The </a:t>
            </a:r>
            <a:r>
              <a:rPr lang="en-GB" dirty="0" smtClean="0"/>
              <a:t>i</a:t>
            </a:r>
            <a:r>
              <a:rPr lang="en-GB" dirty="0" smtClean="0"/>
              <a:t>nduction process at Bolton university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00063" y="4714875"/>
            <a:ext cx="4929187" cy="19288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pic>
        <p:nvPicPr>
          <p:cNvPr id="2560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313" y="142875"/>
            <a:ext cx="7437437" cy="657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6429388" y="214290"/>
            <a:ext cx="2313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Induction process at </a:t>
            </a:r>
          </a:p>
          <a:p>
            <a:pPr algn="ctr"/>
            <a:r>
              <a:rPr lang="en-GB" dirty="0" smtClean="0"/>
              <a:t>Bolton university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" y="1520825"/>
            <a:ext cx="8915400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1857356" y="285728"/>
            <a:ext cx="5170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Student context for</a:t>
            </a:r>
          </a:p>
          <a:p>
            <a:pPr algn="ctr"/>
            <a:r>
              <a:rPr lang="en-GB" dirty="0" smtClean="0"/>
              <a:t>The </a:t>
            </a:r>
            <a:r>
              <a:rPr lang="en-GB" dirty="0" smtClean="0"/>
              <a:t>i</a:t>
            </a:r>
            <a:r>
              <a:rPr lang="en-GB" dirty="0" smtClean="0"/>
              <a:t>nduction process at Bolton university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00063" y="2071688"/>
            <a:ext cx="3857625" cy="21431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pic>
        <p:nvPicPr>
          <p:cNvPr id="2867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313" y="142875"/>
            <a:ext cx="7437437" cy="657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6429388" y="214290"/>
            <a:ext cx="2313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Induction process at </a:t>
            </a:r>
          </a:p>
          <a:p>
            <a:pPr algn="ctr"/>
            <a:r>
              <a:rPr lang="en-GB" dirty="0" smtClean="0"/>
              <a:t>Bolton university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1063" y="1216025"/>
            <a:ext cx="7381875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1857356" y="285728"/>
            <a:ext cx="5170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Induction components for</a:t>
            </a:r>
          </a:p>
          <a:p>
            <a:pPr algn="ctr"/>
            <a:r>
              <a:rPr lang="en-GB" dirty="0" smtClean="0"/>
              <a:t>The </a:t>
            </a:r>
            <a:r>
              <a:rPr lang="en-GB" dirty="0" smtClean="0"/>
              <a:t>i</a:t>
            </a:r>
            <a:r>
              <a:rPr lang="en-GB" dirty="0" smtClean="0"/>
              <a:t>nduction process at Bolton university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50" y="98425"/>
            <a:ext cx="8507413" cy="661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000500" y="1857375"/>
            <a:ext cx="3714750" cy="20716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pic>
        <p:nvPicPr>
          <p:cNvPr id="3277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313" y="142875"/>
            <a:ext cx="7437437" cy="657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6429388" y="214290"/>
            <a:ext cx="2313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Induction process at </a:t>
            </a:r>
          </a:p>
          <a:p>
            <a:pPr algn="ctr"/>
            <a:r>
              <a:rPr lang="en-GB" dirty="0" smtClean="0"/>
              <a:t>Bolton university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09688" y="1344613"/>
            <a:ext cx="6524625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1857356" y="285728"/>
            <a:ext cx="5170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Providers of</a:t>
            </a:r>
          </a:p>
          <a:p>
            <a:pPr algn="ctr"/>
            <a:r>
              <a:rPr lang="en-GB" dirty="0" smtClean="0"/>
              <a:t>The </a:t>
            </a:r>
            <a:r>
              <a:rPr lang="en-GB" dirty="0" smtClean="0"/>
              <a:t>i</a:t>
            </a:r>
            <a:r>
              <a:rPr lang="en-GB" dirty="0" smtClean="0"/>
              <a:t>nduction process at Bolton university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429250" y="4572000"/>
            <a:ext cx="3500438" cy="19288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pic>
        <p:nvPicPr>
          <p:cNvPr id="3584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313" y="142875"/>
            <a:ext cx="7437437" cy="657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6429388" y="214290"/>
            <a:ext cx="2313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Induction process at </a:t>
            </a:r>
          </a:p>
          <a:p>
            <a:pPr algn="ctr"/>
            <a:r>
              <a:rPr lang="en-GB" dirty="0" smtClean="0"/>
              <a:t>Bolton university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43088" y="1997075"/>
            <a:ext cx="5457825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1857356" y="285728"/>
            <a:ext cx="5170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Delivery channels for </a:t>
            </a:r>
          </a:p>
          <a:p>
            <a:pPr algn="ctr"/>
            <a:r>
              <a:rPr lang="en-GB" dirty="0" smtClean="0"/>
              <a:t>The </a:t>
            </a:r>
            <a:r>
              <a:rPr lang="en-GB" dirty="0" smtClean="0"/>
              <a:t>i</a:t>
            </a:r>
            <a:r>
              <a:rPr lang="en-GB" dirty="0" smtClean="0"/>
              <a:t>nduction process at Bolton university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Exercise 1</a:t>
            </a:r>
          </a:p>
        </p:txBody>
      </p:sp>
      <p:sp>
        <p:nvSpPr>
          <p:cNvPr id="38914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Consider a problem that you are currently interested in (such as induction</a:t>
            </a:r>
            <a:r>
              <a:rPr lang="en-GB" dirty="0" smtClean="0"/>
              <a:t>)</a:t>
            </a:r>
          </a:p>
          <a:p>
            <a:r>
              <a:rPr lang="en-GB" dirty="0" smtClean="0"/>
              <a:t>Outline some of the key aspects using the cards provided</a:t>
            </a:r>
            <a:endParaRPr lang="en-GB" dirty="0" smtClean="0"/>
          </a:p>
          <a:p>
            <a:endParaRPr lang="en-GB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95" name="Picture 59" descr="org car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313" y="333375"/>
            <a:ext cx="2411412" cy="3789363"/>
          </a:xfrm>
          <a:prstGeom prst="rect">
            <a:avLst/>
          </a:prstGeom>
          <a:noFill/>
        </p:spPr>
      </p:pic>
      <p:pic>
        <p:nvPicPr>
          <p:cNvPr id="39999" name="Picture 63" descr="motivation card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40200" y="908050"/>
            <a:ext cx="2335213" cy="3384550"/>
          </a:xfrm>
          <a:prstGeom prst="rect">
            <a:avLst/>
          </a:prstGeom>
          <a:noFill/>
        </p:spPr>
      </p:pic>
      <p:grpSp>
        <p:nvGrpSpPr>
          <p:cNvPr id="39938" name="Group 35"/>
          <p:cNvGrpSpPr>
            <a:grpSpLocks/>
          </p:cNvGrpSpPr>
          <p:nvPr/>
        </p:nvGrpSpPr>
        <p:grpSpPr bwMode="auto">
          <a:xfrm>
            <a:off x="0" y="0"/>
            <a:ext cx="2428875" cy="3778250"/>
            <a:chOff x="928662" y="0"/>
            <a:chExt cx="2357422" cy="3667116"/>
          </a:xfrm>
        </p:grpSpPr>
        <p:sp>
          <p:nvSpPr>
            <p:cNvPr id="39964" name="Rectangle 5"/>
            <p:cNvSpPr>
              <a:spLocks noChangeArrowheads="1"/>
            </p:cNvSpPr>
            <p:nvPr/>
          </p:nvSpPr>
          <p:spPr bwMode="auto">
            <a:xfrm>
              <a:off x="928662" y="0"/>
              <a:ext cx="2357422" cy="3667116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39965" name="Rectangle 6"/>
            <p:cNvSpPr>
              <a:spLocks noChangeArrowheads="1"/>
            </p:cNvSpPr>
            <p:nvPr/>
          </p:nvSpPr>
          <p:spPr bwMode="auto">
            <a:xfrm>
              <a:off x="1018157" y="100493"/>
              <a:ext cx="2178433" cy="346613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39966" name="Text Box 6"/>
            <p:cNvSpPr txBox="1">
              <a:spLocks noChangeArrowheads="1"/>
            </p:cNvSpPr>
            <p:nvPr/>
          </p:nvSpPr>
          <p:spPr bwMode="auto">
            <a:xfrm>
              <a:off x="2142811" y="143295"/>
              <a:ext cx="958377" cy="3852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2000" b="1">
                  <a:solidFill>
                    <a:srgbClr val="FF6600"/>
                  </a:solidFill>
                  <a:latin typeface="Calibri" pitchFamily="34" charset="0"/>
                </a:rPr>
                <a:t>domain</a:t>
              </a:r>
              <a:endParaRPr lang="en-US" sz="1400" b="1">
                <a:solidFill>
                  <a:srgbClr val="FF6600"/>
                </a:solidFill>
                <a:latin typeface="Calibri" pitchFamily="34" charset="0"/>
              </a:endParaRPr>
            </a:p>
          </p:txBody>
        </p:sp>
        <p:sp>
          <p:nvSpPr>
            <p:cNvPr id="39967" name="Text Box 7"/>
            <p:cNvSpPr txBox="1">
              <a:spLocks noChangeArrowheads="1"/>
            </p:cNvSpPr>
            <p:nvPr/>
          </p:nvSpPr>
          <p:spPr bwMode="auto">
            <a:xfrm>
              <a:off x="1091987" y="3095477"/>
              <a:ext cx="2109353" cy="4160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1100">
                  <a:solidFill>
                    <a:srgbClr val="FF6600"/>
                  </a:solidFill>
                  <a:latin typeface="Calibri" pitchFamily="34" charset="0"/>
                </a:rPr>
                <a:t>[Topic, area of interest, </a:t>
              </a:r>
            </a:p>
            <a:p>
              <a:r>
                <a:rPr lang="en-GB" sz="1100">
                  <a:solidFill>
                    <a:srgbClr val="FF6600"/>
                  </a:solidFill>
                  <a:latin typeface="Calibri" pitchFamily="34" charset="0"/>
                </a:rPr>
                <a:t>discipline, environment]</a:t>
              </a:r>
              <a:endParaRPr lang="en-US" sz="1100">
                <a:solidFill>
                  <a:srgbClr val="FF6600"/>
                </a:solidFill>
                <a:latin typeface="Calibri" pitchFamily="34" charset="0"/>
              </a:endParaRPr>
            </a:p>
          </p:txBody>
        </p:sp>
        <p:pic>
          <p:nvPicPr>
            <p:cNvPr id="39968" name="Picture 9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018157" y="100493"/>
              <a:ext cx="602999" cy="8092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39997" name="Picture 61" descr="rule card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16688" y="188913"/>
            <a:ext cx="2232025" cy="3455987"/>
          </a:xfrm>
          <a:prstGeom prst="rect">
            <a:avLst/>
          </a:prstGeom>
          <a:noFill/>
        </p:spPr>
      </p:pic>
      <p:grpSp>
        <p:nvGrpSpPr>
          <p:cNvPr id="39942" name="Group 38"/>
          <p:cNvGrpSpPr>
            <a:grpSpLocks/>
          </p:cNvGrpSpPr>
          <p:nvPr/>
        </p:nvGrpSpPr>
        <p:grpSpPr bwMode="auto">
          <a:xfrm>
            <a:off x="6156325" y="2133600"/>
            <a:ext cx="2214563" cy="3408363"/>
            <a:chOff x="3214678" y="2571744"/>
            <a:chExt cx="2428892" cy="3738554"/>
          </a:xfrm>
        </p:grpSpPr>
        <p:sp>
          <p:nvSpPr>
            <p:cNvPr id="39943" name="Rectangle 2"/>
            <p:cNvSpPr>
              <a:spLocks noChangeArrowheads="1"/>
            </p:cNvSpPr>
            <p:nvPr/>
          </p:nvSpPr>
          <p:spPr bwMode="auto">
            <a:xfrm>
              <a:off x="3214678" y="2571744"/>
              <a:ext cx="2428892" cy="3738554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39944" name="Rectangle 3"/>
            <p:cNvSpPr>
              <a:spLocks noChangeArrowheads="1"/>
            </p:cNvSpPr>
            <p:nvPr/>
          </p:nvSpPr>
          <p:spPr bwMode="auto">
            <a:xfrm>
              <a:off x="3306886" y="2674195"/>
              <a:ext cx="2244476" cy="35336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39945" name="Text Box 4"/>
            <p:cNvSpPr txBox="1">
              <a:spLocks noChangeArrowheads="1"/>
            </p:cNvSpPr>
            <p:nvPr/>
          </p:nvSpPr>
          <p:spPr bwMode="auto">
            <a:xfrm>
              <a:off x="4224540" y="2704082"/>
              <a:ext cx="1025532" cy="7034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3600" b="1">
                  <a:solidFill>
                    <a:srgbClr val="00CC00"/>
                  </a:solidFill>
                  <a:latin typeface="Calibri" pitchFamily="34" charset="0"/>
                </a:rPr>
                <a:t>role</a:t>
              </a:r>
              <a:endParaRPr lang="en-US" sz="3600" b="1">
                <a:solidFill>
                  <a:srgbClr val="00CC00"/>
                </a:solidFill>
                <a:latin typeface="Calibri" pitchFamily="34" charset="0"/>
              </a:endParaRPr>
            </a:p>
          </p:txBody>
        </p:sp>
        <p:sp>
          <p:nvSpPr>
            <p:cNvPr id="39946" name="Text Box 5"/>
            <p:cNvSpPr txBox="1">
              <a:spLocks noChangeArrowheads="1"/>
            </p:cNvSpPr>
            <p:nvPr/>
          </p:nvSpPr>
          <p:spPr bwMode="auto">
            <a:xfrm>
              <a:off x="3790996" y="6000348"/>
              <a:ext cx="201972" cy="3012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GB" sz="1200">
                <a:solidFill>
                  <a:srgbClr val="00CC00"/>
                </a:solidFill>
                <a:latin typeface="Calibri" pitchFamily="34" charset="0"/>
              </a:endParaRPr>
            </a:p>
          </p:txBody>
        </p:sp>
        <p:pic>
          <p:nvPicPr>
            <p:cNvPr id="39947" name="Picture 7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306886" y="2674195"/>
              <a:ext cx="628027" cy="8249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9948" name="Rectangle 34"/>
            <p:cNvSpPr>
              <a:spLocks noChangeArrowheads="1"/>
            </p:cNvSpPr>
            <p:nvPr/>
          </p:nvSpPr>
          <p:spPr bwMode="auto">
            <a:xfrm>
              <a:off x="3456697" y="5667761"/>
              <a:ext cx="2024947" cy="5014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1200">
                  <a:solidFill>
                    <a:srgbClr val="00CC00"/>
                  </a:solidFill>
                  <a:latin typeface="Calibri" pitchFamily="34" charset="0"/>
                </a:rPr>
                <a:t>[set of responsibilities, position, job]</a:t>
              </a:r>
              <a:endParaRPr lang="en-US" sz="1200">
                <a:solidFill>
                  <a:srgbClr val="00CC00"/>
                </a:solidFill>
                <a:latin typeface="Calibri" pitchFamily="34" charset="0"/>
              </a:endParaRPr>
            </a:p>
          </p:txBody>
        </p:sp>
      </p:grpSp>
      <p:grpSp>
        <p:nvGrpSpPr>
          <p:cNvPr id="39939" name="Group 36"/>
          <p:cNvGrpSpPr>
            <a:grpSpLocks/>
          </p:cNvGrpSpPr>
          <p:nvPr/>
        </p:nvGrpSpPr>
        <p:grpSpPr bwMode="auto">
          <a:xfrm>
            <a:off x="2916238" y="2565400"/>
            <a:ext cx="2428875" cy="3508375"/>
            <a:chOff x="4500562" y="0"/>
            <a:chExt cx="2621208" cy="3786190"/>
          </a:xfrm>
        </p:grpSpPr>
        <p:sp>
          <p:nvSpPr>
            <p:cNvPr id="39959" name="Rectangle 2"/>
            <p:cNvSpPr>
              <a:spLocks noChangeArrowheads="1"/>
            </p:cNvSpPr>
            <p:nvPr/>
          </p:nvSpPr>
          <p:spPr bwMode="auto">
            <a:xfrm>
              <a:off x="4500562" y="0"/>
              <a:ext cx="2621208" cy="3786190"/>
            </a:xfrm>
            <a:prstGeom prst="rect">
              <a:avLst/>
            </a:prstGeom>
            <a:solidFill>
              <a:srgbClr val="9900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39960" name="Rectangle 3"/>
            <p:cNvSpPr>
              <a:spLocks noChangeArrowheads="1"/>
            </p:cNvSpPr>
            <p:nvPr/>
          </p:nvSpPr>
          <p:spPr bwMode="auto">
            <a:xfrm>
              <a:off x="4600071" y="103756"/>
              <a:ext cx="2422190" cy="357867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>
                <a:latin typeface="Calibri" pitchFamily="34" charset="0"/>
              </a:endParaRPr>
            </a:p>
          </p:txBody>
        </p:sp>
        <p:sp>
          <p:nvSpPr>
            <p:cNvPr id="39961" name="Text Box 4"/>
            <p:cNvSpPr txBox="1">
              <a:spLocks noChangeArrowheads="1"/>
            </p:cNvSpPr>
            <p:nvPr/>
          </p:nvSpPr>
          <p:spPr bwMode="auto">
            <a:xfrm>
              <a:off x="5564464" y="133630"/>
              <a:ext cx="1278053" cy="493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2400" b="1">
                  <a:solidFill>
                    <a:srgbClr val="990099"/>
                  </a:solidFill>
                  <a:latin typeface="Calibri" pitchFamily="34" charset="0"/>
                </a:rPr>
                <a:t>artefact</a:t>
              </a:r>
              <a:endParaRPr lang="en-US" sz="3600" b="1">
                <a:solidFill>
                  <a:srgbClr val="990099"/>
                </a:solidFill>
                <a:latin typeface="Calibri" pitchFamily="34" charset="0"/>
              </a:endParaRPr>
            </a:p>
          </p:txBody>
        </p:sp>
        <p:sp>
          <p:nvSpPr>
            <p:cNvPr id="39962" name="Text Box 5"/>
            <p:cNvSpPr txBox="1">
              <a:spLocks noChangeArrowheads="1"/>
            </p:cNvSpPr>
            <p:nvPr/>
          </p:nvSpPr>
          <p:spPr bwMode="auto">
            <a:xfrm>
              <a:off x="4599928" y="3265375"/>
              <a:ext cx="2472159" cy="493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sz="1200">
                  <a:solidFill>
                    <a:srgbClr val="990099"/>
                  </a:solidFill>
                  <a:latin typeface="Calibri" pitchFamily="34" charset="0"/>
                </a:rPr>
                <a:t>[things in the domain, resources, </a:t>
              </a:r>
            </a:p>
            <a:p>
              <a:r>
                <a:rPr lang="en-GB" sz="1200">
                  <a:solidFill>
                    <a:srgbClr val="990099"/>
                  </a:solidFill>
                  <a:latin typeface="Calibri" pitchFamily="34" charset="0"/>
                </a:rPr>
                <a:t>outputs, documents]</a:t>
              </a:r>
              <a:endParaRPr lang="en-US" sz="1200">
                <a:solidFill>
                  <a:srgbClr val="990099"/>
                </a:solidFill>
                <a:latin typeface="Calibri" pitchFamily="34" charset="0"/>
              </a:endParaRPr>
            </a:p>
          </p:txBody>
        </p:sp>
        <p:pic>
          <p:nvPicPr>
            <p:cNvPr id="39963" name="Picture 9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4600071" y="134094"/>
              <a:ext cx="851286" cy="7748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39998" name="Picture 62" descr="tech card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716463" y="3141663"/>
            <a:ext cx="2379662" cy="3455987"/>
          </a:xfrm>
          <a:prstGeom prst="rect">
            <a:avLst/>
          </a:prstGeom>
          <a:noFill/>
        </p:spPr>
      </p:pic>
      <p:pic>
        <p:nvPicPr>
          <p:cNvPr id="40000" name="Picture 64" descr="work card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900113" y="3213100"/>
            <a:ext cx="2355850" cy="36449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Exercise 2</a:t>
            </a:r>
          </a:p>
        </p:txBody>
      </p:sp>
      <p:sp>
        <p:nvSpPr>
          <p:cNvPr id="4710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Process enhancement</a:t>
            </a:r>
          </a:p>
          <a:p>
            <a:r>
              <a:rPr lang="en-GB" dirty="0" smtClean="0"/>
              <a:t>Improving student induction – </a:t>
            </a:r>
            <a:br>
              <a:rPr lang="en-GB" dirty="0" smtClean="0"/>
            </a:br>
            <a:r>
              <a:rPr lang="en-GB" dirty="0" smtClean="0"/>
              <a:t>modelling the aspects</a:t>
            </a:r>
            <a:endParaRPr lang="en-GB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2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762000"/>
            <a:ext cx="91440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79663" y="0"/>
            <a:ext cx="43846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9763" y="828675"/>
            <a:ext cx="5324475" cy="520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3500" y="0"/>
            <a:ext cx="6477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670</Words>
  <Application>Microsoft Office PowerPoint</Application>
  <PresentationFormat>On-screen Show (4:3)</PresentationFormat>
  <Paragraphs>84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Sharing lessons through effective modelling</vt:lpstr>
      <vt:lpstr>Workshop Outline</vt:lpstr>
      <vt:lpstr>Modelling and shared knowledge</vt:lpstr>
      <vt:lpstr>What is a modelling Language?</vt:lpstr>
      <vt:lpstr>What is a modelling medium?</vt:lpstr>
      <vt:lpstr>An example of modelling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Exercise 1</vt:lpstr>
      <vt:lpstr>Slide 20</vt:lpstr>
      <vt:lpstr>Exercise 2</vt:lpstr>
      <vt:lpstr>Slide 22</vt:lpstr>
      <vt:lpstr>Slide 23</vt:lpstr>
      <vt:lpstr>Slide 24</vt:lpstr>
      <vt:lpstr>Slide 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Sharing lessons through effective modelling</dc:title>
  <dc:creator>Tom Franklin</dc:creator>
  <cp:lastModifiedBy>Tom Franklin</cp:lastModifiedBy>
  <cp:revision>76</cp:revision>
  <dcterms:created xsi:type="dcterms:W3CDTF">2009-09-05T12:45:05Z</dcterms:created>
  <dcterms:modified xsi:type="dcterms:W3CDTF">2009-09-07T13:23:39Z</dcterms:modified>
</cp:coreProperties>
</file>