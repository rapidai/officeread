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0.xml" ContentType="application/vnd.openxmlformats-officedocument.presentationml.slideLayout+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notesMasterIdLst>
    <p:notesMasterId r:id="rId6"/>
  </p:notesMasterIdLst>
  <p:handoutMasterIdLst>
    <p:handoutMasterId r:id="rId7"/>
  </p:handoutMasterIdLst>
  <p:sldIdLst>
    <p:sldId id="279" r:id="rId2"/>
    <p:sldId id="281" r:id="rId3"/>
    <p:sldId id="280" r:id="rId4"/>
    <p:sldId id="282" r:id="rId5"/>
  </p:sldIdLst>
  <p:sldSz cx="9144000" cy="6858000" type="screen4x3"/>
  <p:notesSz cx="6997700" cy="92837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457200" rtl="0" eaLnBrk="1" latinLnBrk="0" hangingPunct="1">
      <a:defRPr kern="1200">
        <a:solidFill>
          <a:schemeClr val="tx1"/>
        </a:solidFill>
        <a:latin typeface="Arial" charset="0"/>
        <a:ea typeface="+mn-ea"/>
        <a:cs typeface="+mn-cs"/>
      </a:defRPr>
    </a:lvl6pPr>
    <a:lvl7pPr marL="2743200" algn="l" defTabSz="457200" rtl="0" eaLnBrk="1" latinLnBrk="0" hangingPunct="1">
      <a:defRPr kern="1200">
        <a:solidFill>
          <a:schemeClr val="tx1"/>
        </a:solidFill>
        <a:latin typeface="Arial" charset="0"/>
        <a:ea typeface="+mn-ea"/>
        <a:cs typeface="+mn-cs"/>
      </a:defRPr>
    </a:lvl7pPr>
    <a:lvl8pPr marL="3200400" algn="l" defTabSz="457200" rtl="0" eaLnBrk="1" latinLnBrk="0" hangingPunct="1">
      <a:defRPr kern="1200">
        <a:solidFill>
          <a:schemeClr val="tx1"/>
        </a:solidFill>
        <a:latin typeface="Arial" charset="0"/>
        <a:ea typeface="+mn-ea"/>
        <a:cs typeface="+mn-cs"/>
      </a:defRPr>
    </a:lvl8pPr>
    <a:lvl9pPr marL="3657600" algn="l" defTabSz="4572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CC00FF"/>
    <a:srgbClr val="DDDDDD"/>
    <a:srgbClr val="FB6DA6"/>
    <a:srgbClr val="FC6C7A"/>
    <a:srgbClr val="FE6A83"/>
    <a:srgbClr val="1BFF8D"/>
    <a:srgbClr val="FFFF66"/>
    <a:srgbClr val="00CC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286" autoAdjust="0"/>
  </p:normalViewPr>
  <p:slideViewPr>
    <p:cSldViewPr>
      <p:cViewPr>
        <p:scale>
          <a:sx n="75" d="100"/>
          <a:sy n="75" d="100"/>
        </p:scale>
        <p:origin x="-930" y="-6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handoutMaster" Target="handoutMasters/handout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5650" name="Rectangle 2"/>
          <p:cNvSpPr>
            <a:spLocks noGrp="1" noChangeArrowheads="1"/>
          </p:cNvSpPr>
          <p:nvPr>
            <p:ph type="hdr" sz="quarter"/>
          </p:nvPr>
        </p:nvSpPr>
        <p:spPr bwMode="auto">
          <a:xfrm>
            <a:off x="0" y="0"/>
            <a:ext cx="3032125" cy="465138"/>
          </a:xfrm>
          <a:prstGeom prst="rect">
            <a:avLst/>
          </a:prstGeom>
          <a:noFill/>
          <a:ln w="9525">
            <a:noFill/>
            <a:miter lim="800000"/>
            <a:headEnd/>
            <a:tailEnd/>
          </a:ln>
          <a:effectLst/>
        </p:spPr>
        <p:txBody>
          <a:bodyPr vert="horz" wrap="square" lIns="93029" tIns="46514" rIns="93029" bIns="46514" numCol="1" anchor="t" anchorCtr="0" compatLnSpc="1">
            <a:prstTxWarp prst="textNoShape">
              <a:avLst/>
            </a:prstTxWarp>
          </a:bodyPr>
          <a:lstStyle>
            <a:lvl1pPr defTabSz="930275">
              <a:defRPr sz="1200"/>
            </a:lvl1pPr>
          </a:lstStyle>
          <a:p>
            <a:pPr>
              <a:defRPr/>
            </a:pPr>
            <a:endParaRPr lang="en-US"/>
          </a:p>
        </p:txBody>
      </p:sp>
      <p:sp>
        <p:nvSpPr>
          <p:cNvPr id="155651" name="Rectangle 3"/>
          <p:cNvSpPr>
            <a:spLocks noGrp="1" noChangeArrowheads="1"/>
          </p:cNvSpPr>
          <p:nvPr>
            <p:ph type="dt" sz="quarter" idx="1"/>
          </p:nvPr>
        </p:nvSpPr>
        <p:spPr bwMode="auto">
          <a:xfrm>
            <a:off x="3963988" y="0"/>
            <a:ext cx="3032125" cy="465138"/>
          </a:xfrm>
          <a:prstGeom prst="rect">
            <a:avLst/>
          </a:prstGeom>
          <a:noFill/>
          <a:ln w="9525">
            <a:noFill/>
            <a:miter lim="800000"/>
            <a:headEnd/>
            <a:tailEnd/>
          </a:ln>
          <a:effectLst/>
        </p:spPr>
        <p:txBody>
          <a:bodyPr vert="horz" wrap="square" lIns="93029" tIns="46514" rIns="93029" bIns="46514" numCol="1" anchor="t" anchorCtr="0" compatLnSpc="1">
            <a:prstTxWarp prst="textNoShape">
              <a:avLst/>
            </a:prstTxWarp>
          </a:bodyPr>
          <a:lstStyle>
            <a:lvl1pPr algn="r" defTabSz="930275">
              <a:defRPr sz="1200"/>
            </a:lvl1pPr>
          </a:lstStyle>
          <a:p>
            <a:pPr>
              <a:defRPr/>
            </a:pPr>
            <a:endParaRPr lang="en-US"/>
          </a:p>
        </p:txBody>
      </p:sp>
      <p:sp>
        <p:nvSpPr>
          <p:cNvPr id="155652" name="Rectangle 4"/>
          <p:cNvSpPr>
            <a:spLocks noGrp="1" noChangeArrowheads="1"/>
          </p:cNvSpPr>
          <p:nvPr>
            <p:ph type="ftr" sz="quarter" idx="2"/>
          </p:nvPr>
        </p:nvSpPr>
        <p:spPr bwMode="auto">
          <a:xfrm>
            <a:off x="0" y="8816975"/>
            <a:ext cx="3032125" cy="465138"/>
          </a:xfrm>
          <a:prstGeom prst="rect">
            <a:avLst/>
          </a:prstGeom>
          <a:noFill/>
          <a:ln w="9525">
            <a:noFill/>
            <a:miter lim="800000"/>
            <a:headEnd/>
            <a:tailEnd/>
          </a:ln>
          <a:effectLst/>
        </p:spPr>
        <p:txBody>
          <a:bodyPr vert="horz" wrap="square" lIns="93029" tIns="46514" rIns="93029" bIns="46514" numCol="1" anchor="b" anchorCtr="0" compatLnSpc="1">
            <a:prstTxWarp prst="textNoShape">
              <a:avLst/>
            </a:prstTxWarp>
          </a:bodyPr>
          <a:lstStyle>
            <a:lvl1pPr defTabSz="930275">
              <a:defRPr sz="1200"/>
            </a:lvl1pPr>
          </a:lstStyle>
          <a:p>
            <a:pPr>
              <a:defRPr/>
            </a:pPr>
            <a:endParaRPr lang="en-US"/>
          </a:p>
        </p:txBody>
      </p:sp>
      <p:sp>
        <p:nvSpPr>
          <p:cNvPr id="155653" name="Rectangle 5"/>
          <p:cNvSpPr>
            <a:spLocks noGrp="1" noChangeArrowheads="1"/>
          </p:cNvSpPr>
          <p:nvPr>
            <p:ph type="sldNum" sz="quarter" idx="3"/>
          </p:nvPr>
        </p:nvSpPr>
        <p:spPr bwMode="auto">
          <a:xfrm>
            <a:off x="3963988" y="8816975"/>
            <a:ext cx="3032125" cy="465138"/>
          </a:xfrm>
          <a:prstGeom prst="rect">
            <a:avLst/>
          </a:prstGeom>
          <a:noFill/>
          <a:ln w="9525">
            <a:noFill/>
            <a:miter lim="800000"/>
            <a:headEnd/>
            <a:tailEnd/>
          </a:ln>
          <a:effectLst/>
        </p:spPr>
        <p:txBody>
          <a:bodyPr vert="horz" wrap="square" lIns="93029" tIns="46514" rIns="93029" bIns="46514" numCol="1" anchor="b" anchorCtr="0" compatLnSpc="1">
            <a:prstTxWarp prst="textNoShape">
              <a:avLst/>
            </a:prstTxWarp>
          </a:bodyPr>
          <a:lstStyle>
            <a:lvl1pPr algn="r" defTabSz="930275">
              <a:defRPr sz="1200"/>
            </a:lvl1pPr>
          </a:lstStyle>
          <a:p>
            <a:fld id="{B66A513C-391F-5A4B-BBC7-09AA3EBC2928}" type="slidenum">
              <a:rPr lang="en-US"/>
              <a:pPr/>
              <a:t>‹#›</a:t>
            </a:fld>
            <a:endParaRPr lang="en-US"/>
          </a:p>
        </p:txBody>
      </p:sp>
    </p:spTree>
    <p:extLst>
      <p:ext uri="{BB962C8B-B14F-4D97-AF65-F5344CB8AC3E}">
        <p14:creationId xmlns="" xmlns:p14="http://schemas.microsoft.com/office/powerpoint/2010/main" val="2225702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0770" name="Rectangle 2"/>
          <p:cNvSpPr>
            <a:spLocks noGrp="1" noChangeArrowheads="1"/>
          </p:cNvSpPr>
          <p:nvPr>
            <p:ph type="hdr" sz="quarter"/>
          </p:nvPr>
        </p:nvSpPr>
        <p:spPr bwMode="auto">
          <a:xfrm>
            <a:off x="0" y="0"/>
            <a:ext cx="2998788" cy="460375"/>
          </a:xfrm>
          <a:prstGeom prst="rect">
            <a:avLst/>
          </a:prstGeom>
          <a:noFill/>
          <a:ln w="9525">
            <a:noFill/>
            <a:miter lim="800000"/>
            <a:headEnd/>
            <a:tailEnd/>
          </a:ln>
          <a:effectLst/>
        </p:spPr>
        <p:txBody>
          <a:bodyPr vert="horz" wrap="square" lIns="92080" tIns="46040" rIns="92080" bIns="46040" numCol="1" anchor="t" anchorCtr="0" compatLnSpc="1">
            <a:prstTxWarp prst="textNoShape">
              <a:avLst/>
            </a:prstTxWarp>
          </a:bodyPr>
          <a:lstStyle>
            <a:lvl1pPr defTabSz="920750">
              <a:defRPr sz="1200"/>
            </a:lvl1pPr>
          </a:lstStyle>
          <a:p>
            <a:pPr>
              <a:defRPr/>
            </a:pPr>
            <a:endParaRPr lang="en-US"/>
          </a:p>
        </p:txBody>
      </p:sp>
      <p:sp>
        <p:nvSpPr>
          <p:cNvPr id="160771" name="Rectangle 3"/>
          <p:cNvSpPr>
            <a:spLocks noGrp="1" noChangeArrowheads="1"/>
          </p:cNvSpPr>
          <p:nvPr>
            <p:ph type="dt" idx="1"/>
          </p:nvPr>
        </p:nvSpPr>
        <p:spPr bwMode="auto">
          <a:xfrm>
            <a:off x="3998913" y="0"/>
            <a:ext cx="2998787" cy="460375"/>
          </a:xfrm>
          <a:prstGeom prst="rect">
            <a:avLst/>
          </a:prstGeom>
          <a:noFill/>
          <a:ln w="9525">
            <a:noFill/>
            <a:miter lim="800000"/>
            <a:headEnd/>
            <a:tailEnd/>
          </a:ln>
          <a:effectLst/>
        </p:spPr>
        <p:txBody>
          <a:bodyPr vert="horz" wrap="square" lIns="92080" tIns="46040" rIns="92080" bIns="46040" numCol="1" anchor="t" anchorCtr="0" compatLnSpc="1">
            <a:prstTxWarp prst="textNoShape">
              <a:avLst/>
            </a:prstTxWarp>
          </a:bodyPr>
          <a:lstStyle>
            <a:lvl1pPr algn="r" defTabSz="920750">
              <a:defRPr sz="1200"/>
            </a:lvl1pPr>
          </a:lstStyle>
          <a:p>
            <a:pPr>
              <a:defRPr/>
            </a:pPr>
            <a:endParaRPr lang="en-US"/>
          </a:p>
        </p:txBody>
      </p:sp>
      <p:sp>
        <p:nvSpPr>
          <p:cNvPr id="6148" name="Rectangle 4"/>
          <p:cNvSpPr>
            <a:spLocks noGrp="1" noRot="1" noChangeAspect="1" noChangeArrowheads="1" noTextEdit="1"/>
          </p:cNvSpPr>
          <p:nvPr>
            <p:ph type="sldImg" idx="2"/>
          </p:nvPr>
        </p:nvSpPr>
        <p:spPr bwMode="auto">
          <a:xfrm>
            <a:off x="1147763" y="688975"/>
            <a:ext cx="4702175" cy="3525838"/>
          </a:xfrm>
          <a:prstGeom prst="rect">
            <a:avLst/>
          </a:prstGeom>
          <a:noFill/>
          <a:ln w="9525">
            <a:solidFill>
              <a:srgbClr val="000000"/>
            </a:solidFill>
            <a:miter lim="800000"/>
            <a:headEnd/>
            <a:tailEnd/>
          </a:ln>
        </p:spPr>
      </p:sp>
      <p:sp>
        <p:nvSpPr>
          <p:cNvPr id="160773" name="Rectangle 5"/>
          <p:cNvSpPr>
            <a:spLocks noGrp="1" noChangeArrowheads="1"/>
          </p:cNvSpPr>
          <p:nvPr>
            <p:ph type="body" sz="quarter" idx="3"/>
          </p:nvPr>
        </p:nvSpPr>
        <p:spPr bwMode="auto">
          <a:xfrm>
            <a:off x="922338" y="4443413"/>
            <a:ext cx="5153025" cy="4138612"/>
          </a:xfrm>
          <a:prstGeom prst="rect">
            <a:avLst/>
          </a:prstGeom>
          <a:noFill/>
          <a:ln w="9525">
            <a:noFill/>
            <a:miter lim="800000"/>
            <a:headEnd/>
            <a:tailEnd/>
          </a:ln>
          <a:effectLst/>
        </p:spPr>
        <p:txBody>
          <a:bodyPr vert="horz" wrap="square" lIns="92080" tIns="46040" rIns="92080" bIns="4604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60774" name="Rectangle 6"/>
          <p:cNvSpPr>
            <a:spLocks noGrp="1" noChangeArrowheads="1"/>
          </p:cNvSpPr>
          <p:nvPr>
            <p:ph type="ftr" sz="quarter" idx="4"/>
          </p:nvPr>
        </p:nvSpPr>
        <p:spPr bwMode="auto">
          <a:xfrm>
            <a:off x="0" y="8810625"/>
            <a:ext cx="2998788" cy="460375"/>
          </a:xfrm>
          <a:prstGeom prst="rect">
            <a:avLst/>
          </a:prstGeom>
          <a:noFill/>
          <a:ln w="9525">
            <a:noFill/>
            <a:miter lim="800000"/>
            <a:headEnd/>
            <a:tailEnd/>
          </a:ln>
          <a:effectLst/>
        </p:spPr>
        <p:txBody>
          <a:bodyPr vert="horz" wrap="square" lIns="92080" tIns="46040" rIns="92080" bIns="46040" numCol="1" anchor="b" anchorCtr="0" compatLnSpc="1">
            <a:prstTxWarp prst="textNoShape">
              <a:avLst/>
            </a:prstTxWarp>
          </a:bodyPr>
          <a:lstStyle>
            <a:lvl1pPr defTabSz="920750">
              <a:defRPr sz="1200"/>
            </a:lvl1pPr>
          </a:lstStyle>
          <a:p>
            <a:pPr>
              <a:defRPr/>
            </a:pPr>
            <a:endParaRPr lang="en-US"/>
          </a:p>
        </p:txBody>
      </p:sp>
      <p:sp>
        <p:nvSpPr>
          <p:cNvPr id="160775" name="Rectangle 7"/>
          <p:cNvSpPr>
            <a:spLocks noGrp="1" noChangeArrowheads="1"/>
          </p:cNvSpPr>
          <p:nvPr>
            <p:ph type="sldNum" sz="quarter" idx="5"/>
          </p:nvPr>
        </p:nvSpPr>
        <p:spPr bwMode="auto">
          <a:xfrm>
            <a:off x="3998913" y="8810625"/>
            <a:ext cx="2998787" cy="460375"/>
          </a:xfrm>
          <a:prstGeom prst="rect">
            <a:avLst/>
          </a:prstGeom>
          <a:noFill/>
          <a:ln w="9525">
            <a:noFill/>
            <a:miter lim="800000"/>
            <a:headEnd/>
            <a:tailEnd/>
          </a:ln>
          <a:effectLst/>
        </p:spPr>
        <p:txBody>
          <a:bodyPr vert="horz" wrap="square" lIns="92080" tIns="46040" rIns="92080" bIns="46040" numCol="1" anchor="b" anchorCtr="0" compatLnSpc="1">
            <a:prstTxWarp prst="textNoShape">
              <a:avLst/>
            </a:prstTxWarp>
          </a:bodyPr>
          <a:lstStyle>
            <a:lvl1pPr algn="r" defTabSz="920750">
              <a:defRPr sz="1200"/>
            </a:lvl1pPr>
          </a:lstStyle>
          <a:p>
            <a:fld id="{FD92E344-C229-224E-AB05-D8A364EB0F6A}" type="slidenum">
              <a:rPr lang="en-US"/>
              <a:pPr/>
              <a:t>‹#›</a:t>
            </a:fld>
            <a:endParaRPr lang="en-US"/>
          </a:p>
        </p:txBody>
      </p:sp>
    </p:spTree>
    <p:extLst>
      <p:ext uri="{BB962C8B-B14F-4D97-AF65-F5344CB8AC3E}">
        <p14:creationId xmlns="" xmlns:p14="http://schemas.microsoft.com/office/powerpoint/2010/main" val="315448429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p>
            <a:fld id="{66C7BD91-8105-024B-855C-963B898116ED}" type="slidenum">
              <a:rPr lang="en-US"/>
              <a:pPr/>
              <a:t>1</a:t>
            </a:fld>
            <a:endParaRPr lang="en-US"/>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3733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3733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04800"/>
            <a:ext cx="2057400" cy="5029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304800"/>
            <a:ext cx="6019800" cy="5029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304800"/>
            <a:ext cx="8229600" cy="11398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3733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8244" name="Rectangle 4"/>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Garamond" pitchFamily="1" charset="0"/>
              </a:defRPr>
            </a:lvl1pPr>
          </a:lstStyle>
          <a:p>
            <a:pPr>
              <a:defRPr/>
            </a:pPr>
            <a:endParaRPr lang="en-US"/>
          </a:p>
        </p:txBody>
      </p:sp>
      <p:sp>
        <p:nvSpPr>
          <p:cNvPr id="138247" name="Freeform 7"/>
          <p:cNvSpPr>
            <a:spLocks noChangeArrowheads="1"/>
          </p:cNvSpPr>
          <p:nvPr/>
        </p:nvSpPr>
        <p:spPr bwMode="auto">
          <a:xfrm>
            <a:off x="381000" y="228600"/>
            <a:ext cx="8229600" cy="6096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38100" cap="flat" cmpd="sng">
            <a:solidFill>
              <a:schemeClr val="accent1"/>
            </a:solidFill>
            <a:prstDash val="solid"/>
            <a:miter lim="800000"/>
            <a:headEnd/>
            <a:tailEnd/>
          </a:ln>
        </p:spPr>
        <p:txBody>
          <a:bodyPr/>
          <a:lstStyle/>
          <a:p>
            <a:pPr>
              <a:defRPr/>
            </a:pPr>
            <a:endParaRPr lang="en-US" dirty="0"/>
          </a:p>
        </p:txBody>
      </p:sp>
      <p:sp>
        <p:nvSpPr>
          <p:cNvPr id="138248" name="Line 8"/>
          <p:cNvSpPr>
            <a:spLocks noChangeShapeType="1"/>
          </p:cNvSpPr>
          <p:nvPr/>
        </p:nvSpPr>
        <p:spPr bwMode="auto">
          <a:xfrm>
            <a:off x="457200" y="6172200"/>
            <a:ext cx="8229600" cy="0"/>
          </a:xfrm>
          <a:prstGeom prst="line">
            <a:avLst/>
          </a:prstGeom>
          <a:noFill/>
          <a:ln w="38100">
            <a:solidFill>
              <a:schemeClr val="accent1"/>
            </a:solidFill>
            <a:round/>
            <a:headEnd/>
            <a:tailEnd/>
          </a:ln>
          <a:effectLst/>
        </p:spPr>
        <p:txBody>
          <a:bodyPr/>
          <a:lstStyle/>
          <a:p>
            <a:pPr>
              <a:defRPr/>
            </a:pPr>
            <a:endParaRPr lang="en-US" dirty="0"/>
          </a:p>
        </p:txBody>
      </p:sp>
      <p:sp>
        <p:nvSpPr>
          <p:cNvPr id="138250" name="Rectangle 10"/>
          <p:cNvSpPr>
            <a:spLocks noChangeArrowheads="1"/>
          </p:cNvSpPr>
          <p:nvPr userDrawn="1"/>
        </p:nvSpPr>
        <p:spPr bwMode="auto">
          <a:xfrm>
            <a:off x="4572000" y="6248400"/>
            <a:ext cx="4214813" cy="304800"/>
          </a:xfrm>
          <a:prstGeom prst="rect">
            <a:avLst/>
          </a:prstGeom>
          <a:noFill/>
          <a:ln w="9525">
            <a:noFill/>
            <a:miter lim="800000"/>
            <a:headEnd/>
            <a:tailEnd/>
          </a:ln>
          <a:effectLst/>
        </p:spPr>
        <p:txBody>
          <a:bodyPr wrap="none">
            <a:spAutoFit/>
          </a:bodyPr>
          <a:lstStyle/>
          <a:p>
            <a:pPr>
              <a:defRPr/>
            </a:pPr>
            <a:r>
              <a:rPr lang="en-US" sz="1400" b="1" i="1" dirty="0">
                <a:solidFill>
                  <a:schemeClr val="hlink"/>
                </a:solidFill>
                <a:latin typeface="Verdana" pitchFamily="1" charset="0"/>
              </a:rPr>
              <a:t>National Geospatial Advisory Committee</a:t>
            </a:r>
          </a:p>
        </p:txBody>
      </p:sp>
    </p:spTree>
  </p:cSld>
  <p:clrMap bg1="lt1" tx1="dk1" bg2="lt2" tx2="dk2" accent1="accent1" accent2="accent2" accent3="accent3" accent4="accent4" accent5="accent5" accent6="accent6" hlink="hlink" folHlink="folHlink"/>
  <p:sldLayoutIdLst>
    <p:sldLayoutId id="2147483772" r:id="rId1"/>
    <p:sldLayoutId id="2147483771" r:id="rId2"/>
    <p:sldLayoutId id="2147483770" r:id="rId3"/>
    <p:sldLayoutId id="2147483769" r:id="rId4"/>
    <p:sldLayoutId id="2147483768" r:id="rId5"/>
    <p:sldLayoutId id="2147483767" r:id="rId6"/>
    <p:sldLayoutId id="2147483766" r:id="rId7"/>
    <p:sldLayoutId id="2147483765" r:id="rId8"/>
    <p:sldLayoutId id="2147483764" r:id="rId9"/>
    <p:sldLayoutId id="2147483763" r:id="rId10"/>
  </p:sldLayoutIdLst>
  <p:timing>
    <p:tnLst>
      <p:par>
        <p:cTn id="1" dur="indefinite" restart="never" nodeType="tmRoot"/>
      </p:par>
    </p:tnLst>
  </p:timing>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Arial" charset="0"/>
        </a:defRPr>
      </a:lvl2pPr>
      <a:lvl3pPr algn="l" rtl="0" eaLnBrk="0" fontAlgn="base" hangingPunct="0">
        <a:spcBef>
          <a:spcPct val="0"/>
        </a:spcBef>
        <a:spcAft>
          <a:spcPct val="0"/>
        </a:spcAft>
        <a:defRPr sz="4200">
          <a:solidFill>
            <a:schemeClr val="tx2"/>
          </a:solidFill>
          <a:latin typeface="Arial" charset="0"/>
        </a:defRPr>
      </a:lvl3pPr>
      <a:lvl4pPr algn="l" rtl="0" eaLnBrk="0" fontAlgn="base" hangingPunct="0">
        <a:spcBef>
          <a:spcPct val="0"/>
        </a:spcBef>
        <a:spcAft>
          <a:spcPct val="0"/>
        </a:spcAft>
        <a:defRPr sz="4200">
          <a:solidFill>
            <a:schemeClr val="tx2"/>
          </a:solidFill>
          <a:latin typeface="Arial" charset="0"/>
        </a:defRPr>
      </a:lvl4pPr>
      <a:lvl5pPr algn="l" rtl="0" eaLnBrk="0" fontAlgn="base" hangingPunct="0">
        <a:spcBef>
          <a:spcPct val="0"/>
        </a:spcBef>
        <a:spcAft>
          <a:spcPct val="0"/>
        </a:spcAft>
        <a:defRPr sz="4200">
          <a:solidFill>
            <a:schemeClr val="tx2"/>
          </a:solidFill>
          <a:latin typeface="Arial" charset="0"/>
        </a:defRPr>
      </a:lvl5pPr>
      <a:lvl6pPr marL="457200" algn="l" rtl="0" fontAlgn="base">
        <a:spcBef>
          <a:spcPct val="0"/>
        </a:spcBef>
        <a:spcAft>
          <a:spcPct val="0"/>
        </a:spcAft>
        <a:defRPr sz="4200">
          <a:solidFill>
            <a:schemeClr val="tx2"/>
          </a:solidFill>
          <a:latin typeface="Arial" charset="0"/>
        </a:defRPr>
      </a:lvl6pPr>
      <a:lvl7pPr marL="914400" algn="l" rtl="0" fontAlgn="base">
        <a:spcBef>
          <a:spcPct val="0"/>
        </a:spcBef>
        <a:spcAft>
          <a:spcPct val="0"/>
        </a:spcAft>
        <a:defRPr sz="4200">
          <a:solidFill>
            <a:schemeClr val="tx2"/>
          </a:solidFill>
          <a:latin typeface="Arial" charset="0"/>
        </a:defRPr>
      </a:lvl7pPr>
      <a:lvl8pPr marL="1371600" algn="l" rtl="0" fontAlgn="base">
        <a:spcBef>
          <a:spcPct val="0"/>
        </a:spcBef>
        <a:spcAft>
          <a:spcPct val="0"/>
        </a:spcAft>
        <a:defRPr sz="4200">
          <a:solidFill>
            <a:schemeClr val="tx2"/>
          </a:solidFill>
          <a:latin typeface="Arial" charset="0"/>
        </a:defRPr>
      </a:lvl8pPr>
      <a:lvl9pPr marL="1828800" algn="l" rtl="0" fontAlgn="base">
        <a:spcBef>
          <a:spcPct val="0"/>
        </a:spcBef>
        <a:spcAft>
          <a:spcPct val="0"/>
        </a:spcAft>
        <a:defRPr sz="4200">
          <a:solidFill>
            <a:schemeClr val="tx2"/>
          </a:solidFill>
          <a:latin typeface="Arial" charset="0"/>
        </a:defRPr>
      </a:lvl9pPr>
    </p:titleStyle>
    <p:bodyStyle>
      <a:lvl1pPr marL="342900" indent="-342900" algn="l" rtl="0" eaLnBrk="0" fontAlgn="base" hangingPunct="0">
        <a:spcBef>
          <a:spcPct val="20000"/>
        </a:spcBef>
        <a:spcAft>
          <a:spcPct val="0"/>
        </a:spcAft>
        <a:buClr>
          <a:schemeClr val="accent1"/>
        </a:buClr>
        <a:buSzPct val="65000"/>
        <a:buFont typeface="Wingdings"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charset="2"/>
        <a:buChar char="q"/>
        <a:defRPr sz="2600">
          <a:solidFill>
            <a:schemeClr val="tx1"/>
          </a:solidFill>
          <a:latin typeface="+mn-lt"/>
          <a:ea typeface="ＭＳ Ｐゴシック" charset="-128"/>
        </a:defRPr>
      </a:lvl2pPr>
      <a:lvl3pPr marL="1022350" indent="-350838" algn="l" rtl="0" eaLnBrk="0" fontAlgn="base" hangingPunct="0">
        <a:spcBef>
          <a:spcPct val="20000"/>
        </a:spcBef>
        <a:spcAft>
          <a:spcPct val="0"/>
        </a:spcAft>
        <a:buClr>
          <a:schemeClr val="accent1"/>
        </a:buClr>
        <a:buSzPct val="65000"/>
        <a:buFont typeface="Wingdings" charset="2"/>
        <a:buChar char="n"/>
        <a:defRPr sz="2200">
          <a:solidFill>
            <a:schemeClr val="tx1"/>
          </a:solidFill>
          <a:latin typeface="+mn-lt"/>
          <a:ea typeface="ＭＳ Ｐゴシック" charset="-128"/>
        </a:defRPr>
      </a:lvl3pPr>
      <a:lvl4pPr marL="1339850" indent="-315913" algn="l" rtl="0" eaLnBrk="0" fontAlgn="base" hangingPunct="0">
        <a:spcBef>
          <a:spcPct val="20000"/>
        </a:spcBef>
        <a:spcAft>
          <a:spcPct val="0"/>
        </a:spcAft>
        <a:buClr>
          <a:schemeClr val="accent2"/>
        </a:buClr>
        <a:buSzPct val="70000"/>
        <a:buFont typeface="Wingdings" charset="2"/>
        <a:buChar char="q"/>
        <a:defRPr sz="2000">
          <a:solidFill>
            <a:schemeClr val="tx1"/>
          </a:solidFill>
          <a:latin typeface="+mn-lt"/>
          <a:ea typeface="ＭＳ Ｐゴシック" charset="-128"/>
        </a:defRPr>
      </a:lvl4pPr>
      <a:lvl5pPr marL="1681163" indent="-339725" algn="l" rtl="0" eaLnBrk="0" fontAlgn="base" hangingPunct="0">
        <a:spcBef>
          <a:spcPct val="20000"/>
        </a:spcBef>
        <a:spcAft>
          <a:spcPct val="0"/>
        </a:spcAft>
        <a:buClr>
          <a:schemeClr val="accent1"/>
        </a:buClr>
        <a:buSzPct val="75000"/>
        <a:buFont typeface="Wingdings" charset="2"/>
        <a:buChar char="§"/>
        <a:defRPr sz="2000">
          <a:solidFill>
            <a:schemeClr val="tx1"/>
          </a:solidFill>
          <a:latin typeface="+mn-lt"/>
          <a:ea typeface="ＭＳ Ｐゴシック" charset="-128"/>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dirty="0" smtClean="0"/>
              <a:t>Address Data </a:t>
            </a:r>
            <a:r>
              <a:rPr lang="en-US" dirty="0" smtClean="0"/>
              <a:t>/ A common need</a:t>
            </a:r>
            <a:endParaRPr lang="en-US" dirty="0"/>
          </a:p>
        </p:txBody>
      </p:sp>
      <p:sp>
        <p:nvSpPr>
          <p:cNvPr id="3075" name="Rectangle 3"/>
          <p:cNvSpPr>
            <a:spLocks noGrp="1" noChangeArrowheads="1"/>
          </p:cNvSpPr>
          <p:nvPr>
            <p:ph idx="1"/>
          </p:nvPr>
        </p:nvSpPr>
        <p:spPr>
          <a:xfrm>
            <a:off x="457200" y="1143000"/>
            <a:ext cx="8610600" cy="4724400"/>
          </a:xfrm>
        </p:spPr>
        <p:txBody>
          <a:bodyPr/>
          <a:lstStyle/>
          <a:p>
            <a:r>
              <a:rPr lang="en-US" sz="2000" b="1" dirty="0" smtClean="0"/>
              <a:t>Program Contact</a:t>
            </a:r>
          </a:p>
          <a:p>
            <a:pPr marL="742950" lvl="1" indent="-285750">
              <a:lnSpc>
                <a:spcPct val="90000"/>
              </a:lnSpc>
            </a:pPr>
            <a:r>
              <a:rPr lang="en-US" sz="2000" dirty="0" smtClean="0">
                <a:ea typeface="ＭＳ Ｐゴシック"/>
              </a:rPr>
              <a:t>Federal </a:t>
            </a:r>
            <a:r>
              <a:rPr lang="en-US" sz="2000" dirty="0">
                <a:ea typeface="ＭＳ Ｐゴシック"/>
              </a:rPr>
              <a:t>Contact: Randy </a:t>
            </a:r>
            <a:r>
              <a:rPr lang="en-US" sz="2000" dirty="0" err="1" smtClean="0">
                <a:ea typeface="ＭＳ Ｐゴシック"/>
              </a:rPr>
              <a:t>Fusaro</a:t>
            </a:r>
            <a:endParaRPr lang="en-US" sz="2000" dirty="0" smtClean="0">
              <a:ea typeface="ＭＳ Ｐゴシック"/>
            </a:endParaRPr>
          </a:p>
          <a:p>
            <a:pPr marL="742950" lvl="1" indent="-285750">
              <a:lnSpc>
                <a:spcPct val="90000"/>
              </a:lnSpc>
            </a:pPr>
            <a:r>
              <a:rPr lang="en-US" sz="2000" dirty="0" err="1" smtClean="0">
                <a:ea typeface="ＭＳ Ｐゴシック"/>
              </a:rPr>
              <a:t>NGAC</a:t>
            </a:r>
            <a:r>
              <a:rPr lang="en-US" sz="2000" dirty="0" smtClean="0">
                <a:ea typeface="ＭＳ Ｐゴシック"/>
              </a:rPr>
              <a:t> </a:t>
            </a:r>
            <a:r>
              <a:rPr lang="en-US" sz="2000" dirty="0">
                <a:ea typeface="ＭＳ Ｐゴシック"/>
              </a:rPr>
              <a:t>Contact: </a:t>
            </a:r>
            <a:r>
              <a:rPr lang="en-US" sz="2000" dirty="0" smtClean="0">
                <a:ea typeface="ＭＳ Ｐゴシック"/>
              </a:rPr>
              <a:t>Barney Krucoff</a:t>
            </a:r>
            <a:endParaRPr lang="en-US" sz="2000" dirty="0">
              <a:ea typeface="ＭＳ Ｐゴシック"/>
            </a:endParaRPr>
          </a:p>
          <a:p>
            <a:r>
              <a:rPr lang="en-US" sz="2000" b="1" dirty="0" smtClean="0"/>
              <a:t>Current Activities of the Program</a:t>
            </a:r>
          </a:p>
          <a:p>
            <a:pPr lvl="1"/>
            <a:r>
              <a:rPr lang="en-US" sz="2000" dirty="0" err="1" smtClean="0"/>
              <a:t>NTIA</a:t>
            </a:r>
            <a:r>
              <a:rPr lang="en-US" sz="2000" dirty="0" smtClean="0"/>
              <a:t> funding development of address points in rural areas within some states</a:t>
            </a:r>
          </a:p>
          <a:p>
            <a:pPr lvl="1"/>
            <a:r>
              <a:rPr lang="en-US" sz="2000" dirty="0" smtClean="0"/>
              <a:t>Census surveying federal agencies as to use of address points and geocoding, building case for common data/service.</a:t>
            </a:r>
          </a:p>
          <a:p>
            <a:pPr lvl="1"/>
            <a:r>
              <a:rPr lang="en-US" sz="2000" dirty="0" smtClean="0"/>
              <a:t>HUD showing some interest in addresses (more interest in parcels which are related)</a:t>
            </a:r>
          </a:p>
          <a:p>
            <a:pPr lvl="1"/>
            <a:r>
              <a:rPr lang="en-US" sz="2000" dirty="0" smtClean="0"/>
              <a:t>DOT proceeding with </a:t>
            </a:r>
            <a:r>
              <a:rPr lang="en-US" sz="2000" dirty="0" err="1" smtClean="0"/>
              <a:t>IFTN</a:t>
            </a:r>
            <a:r>
              <a:rPr lang="en-US" sz="2000" dirty="0" smtClean="0"/>
              <a:t> (streets are related</a:t>
            </a:r>
            <a:r>
              <a:rPr lang="en-US" sz="2400" dirty="0" smtClean="0"/>
              <a:t>)</a:t>
            </a:r>
          </a:p>
          <a:p>
            <a:pPr marL="0" indent="0">
              <a:buNone/>
            </a:pPr>
            <a:endParaRPr lang="en-US" dirty="0" smtClean="0"/>
          </a:p>
          <a:p>
            <a:pPr>
              <a:buNone/>
            </a:pPr>
            <a:r>
              <a:rPr lang="en-US" sz="1800" dirty="0" smtClean="0"/>
              <a:t>Submitted by:</a:t>
            </a:r>
            <a:r>
              <a:rPr lang="en-US" sz="1800" dirty="0" smtClean="0"/>
              <a:t> </a:t>
            </a:r>
            <a:r>
              <a:rPr lang="en-US" sz="1800" dirty="0" smtClean="0"/>
              <a:t>Barney </a:t>
            </a:r>
            <a:r>
              <a:rPr lang="en-US" sz="1800" dirty="0" err="1" smtClean="0"/>
              <a:t>Krucoff</a:t>
            </a:r>
            <a:r>
              <a:rPr lang="en-US" sz="1800" dirty="0" smtClean="0"/>
              <a:t>			June 2011 NGAC Meeting</a:t>
            </a:r>
            <a:endParaRPr lang="en-US" sz="1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Addresses continued</a:t>
            </a:r>
            <a:endParaRPr lang="en-US" dirty="0"/>
          </a:p>
        </p:txBody>
      </p:sp>
      <p:sp>
        <p:nvSpPr>
          <p:cNvPr id="5" name="Content Placeholder 4"/>
          <p:cNvSpPr>
            <a:spLocks noGrp="1"/>
          </p:cNvSpPr>
          <p:nvPr>
            <p:ph sz="half" idx="1"/>
          </p:nvPr>
        </p:nvSpPr>
        <p:spPr>
          <a:xfrm>
            <a:off x="457200" y="1600200"/>
            <a:ext cx="8153400" cy="3733800"/>
          </a:xfrm>
        </p:spPr>
        <p:txBody>
          <a:bodyPr/>
          <a:lstStyle/>
          <a:p>
            <a:r>
              <a:rPr lang="en-US" b="1" dirty="0"/>
              <a:t>Emerging Issues</a:t>
            </a:r>
          </a:p>
          <a:p>
            <a:pPr lvl="1"/>
            <a:r>
              <a:rPr lang="en-US" dirty="0" smtClean="0"/>
              <a:t>NSGIC has published brochure with descriptions and recommendations</a:t>
            </a:r>
          </a:p>
          <a:p>
            <a:pPr lvl="1"/>
            <a:r>
              <a:rPr lang="en-US" dirty="0" smtClean="0"/>
              <a:t>Census, HUD, and DOT all present at this meeting </a:t>
            </a:r>
            <a:endParaRPr lang="en-US" dirty="0"/>
          </a:p>
        </p:txBody>
      </p:sp>
      <p:sp>
        <p:nvSpPr>
          <p:cNvPr id="7" name="Rectangle 6"/>
          <p:cNvSpPr/>
          <p:nvPr/>
        </p:nvSpPr>
        <p:spPr>
          <a:xfrm>
            <a:off x="838200" y="5498068"/>
            <a:ext cx="7696200" cy="369332"/>
          </a:xfrm>
          <a:prstGeom prst="rect">
            <a:avLst/>
          </a:prstGeom>
        </p:spPr>
        <p:txBody>
          <a:bodyPr wrap="square">
            <a:spAutoFit/>
          </a:bodyPr>
          <a:lstStyle/>
          <a:p>
            <a:pPr>
              <a:buFont typeface="Wingdings" pitchFamily="2" charset="2"/>
              <a:buNone/>
            </a:pPr>
            <a:r>
              <a:rPr lang="en-US" dirty="0"/>
              <a:t>Submitted </a:t>
            </a:r>
            <a:r>
              <a:rPr lang="en-US" dirty="0" smtClean="0"/>
              <a:t>by: Barney Krucoff</a:t>
            </a:r>
            <a:endParaRPr lang="en-US" dirty="0"/>
          </a:p>
        </p:txBody>
      </p:sp>
    </p:spTree>
    <p:extLst>
      <p:ext uri="{BB962C8B-B14F-4D97-AF65-F5344CB8AC3E}">
        <p14:creationId xmlns="" xmlns:p14="http://schemas.microsoft.com/office/powerpoint/2010/main" val="2869733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 xmlns:p14="http://schemas.microsoft.com/office/powerpoint/2010/main" val="2495490660"/>
              </p:ext>
            </p:extLst>
          </p:nvPr>
        </p:nvGraphicFramePr>
        <p:xfrm>
          <a:off x="457200" y="1524000"/>
          <a:ext cx="8305800" cy="4720202"/>
        </p:xfrm>
        <a:graphic>
          <a:graphicData uri="http://schemas.openxmlformats.org/drawingml/2006/table">
            <a:tbl>
              <a:tblPr firstRow="1" bandRow="1">
                <a:tableStyleId>{5C22544A-7EE6-4342-B048-85BDC9FD1C3A}</a:tableStyleId>
              </a:tblPr>
              <a:tblGrid>
                <a:gridCol w="6934200"/>
                <a:gridCol w="1371600"/>
              </a:tblGrid>
              <a:tr h="403086">
                <a:tc>
                  <a:txBody>
                    <a:bodyPr/>
                    <a:lstStyle/>
                    <a:p>
                      <a:r>
                        <a:rPr lang="en-US" dirty="0" smtClean="0"/>
                        <a:t>Activity</a:t>
                      </a:r>
                      <a:endParaRPr lang="en-US" dirty="0"/>
                    </a:p>
                  </a:txBody>
                  <a:tcPr/>
                </a:tc>
                <a:tc>
                  <a:txBody>
                    <a:bodyPr/>
                    <a:lstStyle/>
                    <a:p>
                      <a:r>
                        <a:rPr lang="en-US" dirty="0" smtClean="0"/>
                        <a:t>Timeframe</a:t>
                      </a:r>
                      <a:endParaRPr lang="en-US" dirty="0"/>
                    </a:p>
                  </a:txBody>
                  <a:tcPr/>
                </a:tc>
              </a:tr>
              <a:tr h="1289878">
                <a:tc>
                  <a:txBody>
                    <a:bodyPr/>
                    <a:lstStyle/>
                    <a:p>
                      <a:r>
                        <a:rPr lang="en-US" sz="1800" b="0" i="0" u="none" strike="noStrike" kern="1200" baseline="0" dirty="0" smtClean="0">
                          <a:solidFill>
                            <a:schemeClr val="dk1"/>
                          </a:solidFill>
                          <a:latin typeface="+mn-lt"/>
                          <a:ea typeface="+mn-ea"/>
                          <a:cs typeface="+mn-cs"/>
                        </a:rPr>
                        <a:t>Congress should remove addresses and address point locations from Federal privacy restrictions in all relevant Titles (e.g. Title 13 and Title 39). </a:t>
                      </a:r>
                    </a:p>
                  </a:txBody>
                  <a:tcPr/>
                </a:tc>
                <a:tc>
                  <a:txBody>
                    <a:bodyPr/>
                    <a:lstStyle/>
                    <a:p>
                      <a:endParaRPr lang="en-US" dirty="0"/>
                    </a:p>
                  </a:txBody>
                  <a:tcPr/>
                </a:tc>
              </a:tr>
              <a:tr h="1289878">
                <a:tc>
                  <a:txBody>
                    <a:bodyPr/>
                    <a:lstStyle/>
                    <a:p>
                      <a:r>
                        <a:rPr lang="en-US" sz="1800" b="0" i="0" u="none" strike="noStrike" kern="1200" baseline="0" smtClean="0">
                          <a:solidFill>
                            <a:schemeClr val="dk1"/>
                          </a:solidFill>
                          <a:latin typeface="+mn-lt"/>
                          <a:ea typeface="+mn-ea"/>
                          <a:cs typeface="+mn-cs"/>
                        </a:rPr>
                        <a:t>Congress and or OMB should instruct Federal agencies to jointly develop a common address point file in cooperation with state and local governments.</a:t>
                      </a:r>
                      <a:endParaRPr lang="en-US" dirty="0"/>
                    </a:p>
                  </a:txBody>
                  <a:tcPr/>
                </a:tc>
                <a:tc>
                  <a:txBody>
                    <a:bodyPr/>
                    <a:lstStyle/>
                    <a:p>
                      <a:endParaRPr lang="en-US" dirty="0"/>
                    </a:p>
                  </a:txBody>
                  <a:tcPr/>
                </a:tc>
              </a:tr>
              <a:tr h="1048026">
                <a:tc>
                  <a:txBody>
                    <a:bodyPr/>
                    <a:lstStyle/>
                    <a:p>
                      <a:r>
                        <a:rPr lang="en-US" sz="1800" b="0" i="0" u="none" strike="noStrike" kern="1200" baseline="0" dirty="0" smtClean="0">
                          <a:solidFill>
                            <a:schemeClr val="dk1"/>
                          </a:solidFill>
                          <a:latin typeface="+mn-lt"/>
                          <a:ea typeface="+mn-ea"/>
                          <a:cs typeface="+mn-cs"/>
                        </a:rPr>
                        <a:t>If a national address point file can be publicly shareable, the U.S. Census Bureau should become the data steward addresses. If existing privacy constraints cannot be addressed, another Federal agency without such constraints should become the custodian of address points. </a:t>
                      </a:r>
                    </a:p>
                    <a:p>
                      <a:endParaRPr lang="en-US" dirty="0"/>
                    </a:p>
                  </a:txBody>
                  <a:tcPr/>
                </a:tc>
                <a:tc>
                  <a:txBody>
                    <a:bodyPr/>
                    <a:lstStyle/>
                    <a:p>
                      <a:endParaRPr lang="en-US" dirty="0"/>
                    </a:p>
                  </a:txBody>
                  <a:tcPr/>
                </a:tc>
              </a:tr>
            </a:tbl>
          </a:graphicData>
        </a:graphic>
      </p:graphicFrame>
      <p:sp>
        <p:nvSpPr>
          <p:cNvPr id="5" name="Title 3"/>
          <p:cNvSpPr>
            <a:spLocks noGrp="1"/>
          </p:cNvSpPr>
          <p:nvPr>
            <p:ph type="title"/>
          </p:nvPr>
        </p:nvSpPr>
        <p:spPr/>
        <p:txBody>
          <a:bodyPr/>
          <a:lstStyle/>
          <a:p>
            <a:r>
              <a:rPr lang="en-US" sz="3200" dirty="0" smtClean="0"/>
              <a:t>NSGIC recommendations</a:t>
            </a:r>
            <a:r>
              <a:rPr lang="en-US" sz="2400" dirty="0" smtClean="0"/>
              <a:t>:</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04801"/>
            <a:ext cx="8229600" cy="685800"/>
          </a:xfrm>
        </p:spPr>
        <p:txBody>
          <a:bodyPr/>
          <a:lstStyle/>
          <a:p>
            <a:r>
              <a:rPr lang="en-US" sz="3200" dirty="0" smtClean="0"/>
              <a:t>NSGIC recommendations:</a:t>
            </a:r>
            <a:endParaRPr lang="en-US" sz="3200" dirty="0"/>
          </a:p>
        </p:txBody>
      </p:sp>
      <p:graphicFrame>
        <p:nvGraphicFramePr>
          <p:cNvPr id="6" name="Content Placeholder 5"/>
          <p:cNvGraphicFramePr>
            <a:graphicFrameLocks noGrp="1"/>
          </p:cNvGraphicFramePr>
          <p:nvPr>
            <p:ph idx="1"/>
            <p:extLst>
              <p:ext uri="{D42A27DB-BD31-4B8C-83A1-F6EECF244321}">
                <p14:modId xmlns="" xmlns:p14="http://schemas.microsoft.com/office/powerpoint/2010/main" val="2692016972"/>
              </p:ext>
            </p:extLst>
          </p:nvPr>
        </p:nvGraphicFramePr>
        <p:xfrm>
          <a:off x="457200" y="1676400"/>
          <a:ext cx="8305800" cy="4253284"/>
        </p:xfrm>
        <a:graphic>
          <a:graphicData uri="http://schemas.openxmlformats.org/drawingml/2006/table">
            <a:tbl>
              <a:tblPr firstRow="1" bandRow="1">
                <a:tableStyleId>{5C22544A-7EE6-4342-B048-85BDC9FD1C3A}</a:tableStyleId>
              </a:tblPr>
              <a:tblGrid>
                <a:gridCol w="6934200"/>
                <a:gridCol w="1371600"/>
              </a:tblGrid>
              <a:tr h="403086">
                <a:tc>
                  <a:txBody>
                    <a:bodyPr/>
                    <a:lstStyle/>
                    <a:p>
                      <a:r>
                        <a:rPr lang="en-US" dirty="0" smtClean="0"/>
                        <a:t>Activity</a:t>
                      </a:r>
                      <a:endParaRPr lang="en-US" dirty="0"/>
                    </a:p>
                  </a:txBody>
                  <a:tcPr/>
                </a:tc>
                <a:tc>
                  <a:txBody>
                    <a:bodyPr/>
                    <a:lstStyle/>
                    <a:p>
                      <a:r>
                        <a:rPr lang="en-US" dirty="0" smtClean="0"/>
                        <a:t>Timeframe</a:t>
                      </a:r>
                      <a:endParaRPr lang="en-US" dirty="0"/>
                    </a:p>
                  </a:txBody>
                  <a:tcPr/>
                </a:tc>
              </a:tr>
              <a:tr h="1289878">
                <a:tc>
                  <a:txBody>
                    <a:bodyPr/>
                    <a:lstStyle/>
                    <a:p>
                      <a:endParaRPr lang="en-US" sz="1800" b="0" i="0" u="none" strike="noStrike" kern="1200" baseline="0" dirty="0" smtClean="0">
                        <a:solidFill>
                          <a:schemeClr val="dk1"/>
                        </a:solidFill>
                        <a:latin typeface="+mn-lt"/>
                        <a:ea typeface="+mn-ea"/>
                        <a:cs typeface="+mn-cs"/>
                      </a:endParaRPr>
                    </a:p>
                    <a:p>
                      <a:r>
                        <a:rPr lang="en-US" sz="1800" b="0" i="0" u="none" strike="noStrike" kern="1200" baseline="0" dirty="0" smtClean="0">
                          <a:solidFill>
                            <a:schemeClr val="dk1"/>
                          </a:solidFill>
                          <a:latin typeface="+mn-lt"/>
                          <a:ea typeface="+mn-ea"/>
                          <a:cs typeface="+mn-cs"/>
                        </a:rPr>
                        <a:t>States must coordinate the development of address point files working with local governments. In anticipation of the 2020 decennial Census, and to support the American Community Survey, the U.S. Census Bureau should contract with willing States to coordinate state and local government address data activity and to provide pass-through funding to maintain local address point files.</a:t>
                      </a:r>
                    </a:p>
                    <a:p>
                      <a:endParaRPr lang="en-US" dirty="0"/>
                    </a:p>
                  </a:txBody>
                  <a:tcPr/>
                </a:tc>
                <a:tc>
                  <a:txBody>
                    <a:bodyPr/>
                    <a:lstStyle/>
                    <a:p>
                      <a:endParaRPr lang="en-US" dirty="0"/>
                    </a:p>
                  </a:txBody>
                  <a:tcPr/>
                </a:tc>
              </a:tr>
              <a:tr h="1289878">
                <a:tc>
                  <a:txBody>
                    <a:bodyPr/>
                    <a:lstStyle/>
                    <a:p>
                      <a:endParaRPr lang="en-US" dirty="0" smtClean="0"/>
                    </a:p>
                    <a:p>
                      <a:r>
                        <a:rPr lang="en-US" dirty="0" err="1" smtClean="0"/>
                        <a:t>NGAC</a:t>
                      </a:r>
                      <a:r>
                        <a:rPr lang="en-US" dirty="0" smtClean="0"/>
                        <a:t> should advise on the degree that Addresses, Parcels, and street centerline development </a:t>
                      </a:r>
                      <a:r>
                        <a:rPr lang="en-US" smtClean="0"/>
                        <a:t>needs to be </a:t>
                      </a:r>
                      <a:r>
                        <a:rPr lang="en-US" dirty="0" smtClean="0"/>
                        <a:t>coordinated/integrated. (not from NSGIC)</a:t>
                      </a:r>
                      <a:endParaRPr lang="en-US" dirty="0"/>
                    </a:p>
                  </a:txBody>
                  <a:tcPr/>
                </a:tc>
                <a:tc>
                  <a:txBody>
                    <a:bodyPr/>
                    <a:lstStyle/>
                    <a:p>
                      <a:endParaRPr lang="en-US" dirty="0"/>
                    </a:p>
                  </a:txBody>
                  <a:tcPr/>
                </a:tc>
              </a:tr>
            </a:tbl>
          </a:graphicData>
        </a:graphic>
      </p:graphicFrame>
    </p:spTree>
    <p:extLst>
      <p:ext uri="{BB962C8B-B14F-4D97-AF65-F5344CB8AC3E}">
        <p14:creationId xmlns="" xmlns:p14="http://schemas.microsoft.com/office/powerpoint/2010/main" val="1872306397"/>
      </p:ext>
    </p:extLst>
  </p:cSld>
  <p:clrMapOvr>
    <a:masterClrMapping/>
  </p:clrMapOvr>
</p:sld>
</file>

<file path=ppt/theme/theme1.xml><?xml version="1.0" encoding="utf-8"?>
<a:theme xmlns:a="http://schemas.openxmlformats.org/drawingml/2006/main" name="Edge">
  <a:themeElements>
    <a:clrScheme name="">
      <a:dk1>
        <a:srgbClr val="000000"/>
      </a:dk1>
      <a:lt1>
        <a:srgbClr val="FFFFFF"/>
      </a:lt1>
      <a:dk2>
        <a:srgbClr val="003399"/>
      </a:dk2>
      <a:lt2>
        <a:srgbClr val="666699"/>
      </a:lt2>
      <a:accent1>
        <a:srgbClr val="009999"/>
      </a:accent1>
      <a:accent2>
        <a:srgbClr val="4083A2"/>
      </a:accent2>
      <a:accent3>
        <a:srgbClr val="FFFFFF"/>
      </a:accent3>
      <a:accent4>
        <a:srgbClr val="000000"/>
      </a:accent4>
      <a:accent5>
        <a:srgbClr val="AACACA"/>
      </a:accent5>
      <a:accent6>
        <a:srgbClr val="397692"/>
      </a:accent6>
      <a:hlink>
        <a:srgbClr val="4C6D80"/>
      </a:hlink>
      <a:folHlink>
        <a:srgbClr val="B2B2B2"/>
      </a:folHlink>
    </a:clrScheme>
    <a:fontScheme name="Edg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Edge</Template>
  <TotalTime>1547</TotalTime>
  <Words>302</Words>
  <Application>Microsoft Office PowerPoint</Application>
  <PresentationFormat>On-screen Show (4:3)</PresentationFormat>
  <Paragraphs>30</Paragraphs>
  <Slides>4</Slides>
  <Notes>1</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Edge</vt:lpstr>
      <vt:lpstr>Address Data / A common need</vt:lpstr>
      <vt:lpstr>Addresses continued</vt:lpstr>
      <vt:lpstr>NSGIC recommendations:</vt:lpstr>
      <vt:lpstr>NSGIC recommendations:</vt:lpstr>
    </vt:vector>
  </TitlesOfParts>
  <Company>USGS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NGAC Discussion – Toward a National Geospatial Strategy</dc:title>
  <dc:creator>jmahoney</dc:creator>
  <cp:lastModifiedBy>USGS</cp:lastModifiedBy>
  <cp:revision>93</cp:revision>
  <cp:lastPrinted>2008-10-08T20:42:54Z</cp:lastPrinted>
  <dcterms:created xsi:type="dcterms:W3CDTF">2011-05-25T12:19:12Z</dcterms:created>
  <dcterms:modified xsi:type="dcterms:W3CDTF">2011-06-16T18:25:20Z</dcterms:modified>
</cp:coreProperties>
</file>