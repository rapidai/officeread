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61" r:id="rId3"/>
    <p:sldId id="308" r:id="rId4"/>
    <p:sldId id="290" r:id="rId5"/>
    <p:sldId id="291" r:id="rId6"/>
    <p:sldId id="292" r:id="rId7"/>
    <p:sldId id="293" r:id="rId8"/>
    <p:sldId id="294" r:id="rId9"/>
    <p:sldId id="288" r:id="rId10"/>
    <p:sldId id="295" r:id="rId11"/>
    <p:sldId id="296" r:id="rId12"/>
    <p:sldId id="304" r:id="rId13"/>
    <p:sldId id="297" r:id="rId14"/>
    <p:sldId id="298" r:id="rId15"/>
    <p:sldId id="300" r:id="rId16"/>
    <p:sldId id="303" r:id="rId17"/>
    <p:sldId id="301" r:id="rId18"/>
    <p:sldId id="302" r:id="rId19"/>
    <p:sldId id="307" r:id="rId20"/>
    <p:sldId id="309" r:id="rId21"/>
    <p:sldId id="311" r:id="rId22"/>
    <p:sldId id="299" r:id="rId23"/>
    <p:sldId id="310" r:id="rId24"/>
    <p:sldId id="314" r:id="rId25"/>
    <p:sldId id="312" r:id="rId26"/>
    <p:sldId id="313" r:id="rId27"/>
    <p:sldId id="315" r:id="rId28"/>
    <p:sldId id="316" r:id="rId29"/>
    <p:sldId id="286" r:id="rId3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a:cs typeface="ＭＳ Ｐゴシック"/>
      </a:defRPr>
    </a:lvl1pPr>
    <a:lvl2pPr marL="457200" algn="l" defTabSz="457200" rtl="0" fontAlgn="base">
      <a:spcBef>
        <a:spcPct val="0"/>
      </a:spcBef>
      <a:spcAft>
        <a:spcPct val="0"/>
      </a:spcAft>
      <a:defRPr kern="1200">
        <a:solidFill>
          <a:schemeClr val="tx1"/>
        </a:solidFill>
        <a:latin typeface="Arial" charset="0"/>
        <a:ea typeface="ＭＳ Ｐゴシック"/>
        <a:cs typeface="ＭＳ Ｐゴシック"/>
      </a:defRPr>
    </a:lvl2pPr>
    <a:lvl3pPr marL="914400" algn="l" defTabSz="457200" rtl="0" fontAlgn="base">
      <a:spcBef>
        <a:spcPct val="0"/>
      </a:spcBef>
      <a:spcAft>
        <a:spcPct val="0"/>
      </a:spcAft>
      <a:defRPr kern="1200">
        <a:solidFill>
          <a:schemeClr val="tx1"/>
        </a:solidFill>
        <a:latin typeface="Arial" charset="0"/>
        <a:ea typeface="ＭＳ Ｐゴシック"/>
        <a:cs typeface="ＭＳ Ｐゴシック"/>
      </a:defRPr>
    </a:lvl3pPr>
    <a:lvl4pPr marL="1371600" algn="l" defTabSz="457200" rtl="0" fontAlgn="base">
      <a:spcBef>
        <a:spcPct val="0"/>
      </a:spcBef>
      <a:spcAft>
        <a:spcPct val="0"/>
      </a:spcAft>
      <a:defRPr kern="1200">
        <a:solidFill>
          <a:schemeClr val="tx1"/>
        </a:solidFill>
        <a:latin typeface="Arial" charset="0"/>
        <a:ea typeface="ＭＳ Ｐゴシック"/>
        <a:cs typeface="ＭＳ Ｐゴシック"/>
      </a:defRPr>
    </a:lvl4pPr>
    <a:lvl5pPr marL="1828800" algn="l" defTabSz="457200" rtl="0" fontAlgn="base">
      <a:spcBef>
        <a:spcPct val="0"/>
      </a:spcBef>
      <a:spcAft>
        <a:spcPct val="0"/>
      </a:spcAft>
      <a:defRPr kern="1200">
        <a:solidFill>
          <a:schemeClr val="tx1"/>
        </a:solidFill>
        <a:latin typeface="Arial" charset="0"/>
        <a:ea typeface="ＭＳ Ｐゴシック"/>
        <a:cs typeface="ＭＳ Ｐゴシック"/>
      </a:defRPr>
    </a:lvl5pPr>
    <a:lvl6pPr marL="2286000" algn="l" defTabSz="914400" rtl="0" eaLnBrk="1" latinLnBrk="0" hangingPunct="1">
      <a:defRPr kern="1200">
        <a:solidFill>
          <a:schemeClr val="tx1"/>
        </a:solidFill>
        <a:latin typeface="Arial" charset="0"/>
        <a:ea typeface="ＭＳ Ｐゴシック"/>
        <a:cs typeface="ＭＳ Ｐゴシック"/>
      </a:defRPr>
    </a:lvl6pPr>
    <a:lvl7pPr marL="2743200" algn="l" defTabSz="914400" rtl="0" eaLnBrk="1" latinLnBrk="0" hangingPunct="1">
      <a:defRPr kern="1200">
        <a:solidFill>
          <a:schemeClr val="tx1"/>
        </a:solidFill>
        <a:latin typeface="Arial" charset="0"/>
        <a:ea typeface="ＭＳ Ｐゴシック"/>
        <a:cs typeface="ＭＳ Ｐゴシック"/>
      </a:defRPr>
    </a:lvl7pPr>
    <a:lvl8pPr marL="3200400" algn="l" defTabSz="914400" rtl="0" eaLnBrk="1" latinLnBrk="0" hangingPunct="1">
      <a:defRPr kern="1200">
        <a:solidFill>
          <a:schemeClr val="tx1"/>
        </a:solidFill>
        <a:latin typeface="Arial" charset="0"/>
        <a:ea typeface="ＭＳ Ｐゴシック"/>
        <a:cs typeface="ＭＳ Ｐゴシック"/>
      </a:defRPr>
    </a:lvl8pPr>
    <a:lvl9pPr marL="3657600" algn="l" defTabSz="914400" rtl="0" eaLnBrk="1" latinLnBrk="0" hangingPunct="1">
      <a:defRPr kern="1200">
        <a:solidFill>
          <a:schemeClr val="tx1"/>
        </a:solidFill>
        <a:latin typeface="Arial" charset="0"/>
        <a:ea typeface="ＭＳ Ｐゴシック"/>
        <a:cs typeface="ＭＳ Ｐゴシック"/>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287"/>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p:scale>
          <a:sx n="70" d="100"/>
          <a:sy n="70" d="100"/>
        </p:scale>
        <p:origin x="-2178" y="-89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19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F5839A5D-82DA-4F0C-A82C-49274983FC0F}" type="datetimeFigureOut">
              <a:rPr lang="en-US"/>
              <a:pPr>
                <a:defRPr/>
              </a:pPr>
              <a:t>2/15/2011</a:t>
            </a:fld>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9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9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19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873F5D8-2CCD-43F4-A71B-1600C86570F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AU"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D1D32822-534B-494E-BAAC-962B9BCD0AF3}" type="datetime1">
              <a:rPr lang="en-US"/>
              <a:pPr>
                <a:defRPr/>
              </a:pPr>
              <a:t>2/15/2011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F88EF10-5A03-46EF-9271-796FF87CA914}" type="slidenum">
              <a:rPr lang="en-US"/>
              <a:pPr>
                <a:defRPr/>
              </a:pPr>
              <a:t>‹#›</a:t>
            </a:fld>
            <a:endParaRPr lang="en-US"/>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AD5DC54-AB91-4163-B5CF-0BB0D98CBF62}" type="datetime1">
              <a:rPr lang="en-US"/>
              <a:pPr>
                <a:defRPr/>
              </a:pPr>
              <a:t>2/15/2011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B95B979-6CD5-4C38-8FDB-469704C2C685}" type="slidenum">
              <a:rPr lang="en-US"/>
              <a:pPr>
                <a:defRPr/>
              </a:pPr>
              <a:t>‹#›</a:t>
            </a:fld>
            <a:endParaRPr lang="en-US"/>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383E79B1-6E54-4450-A5CC-B420EBA94447}" type="datetime1">
              <a:rPr lang="en-US"/>
              <a:pPr>
                <a:defRPr/>
              </a:pPr>
              <a:t>2/15/2011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5E26D6B-5ED1-40D8-99B5-314B374C7FFA}" type="slidenum">
              <a:rPr lang="en-US"/>
              <a:pPr>
                <a:defRPr/>
              </a:pPr>
              <a:t>‹#›</a:t>
            </a:fld>
            <a:endParaRPr lang="en-US"/>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2B3F6CFF-7763-4108-B64B-813585E39B32}" type="datetime1">
              <a:rPr lang="en-US"/>
              <a:pPr>
                <a:defRPr/>
              </a:pPr>
              <a:t>2/15/2011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7EA5D9A-2E7E-4A04-8334-972C144526FE}" type="slidenum">
              <a:rPr lang="en-US"/>
              <a:pPr>
                <a:defRPr/>
              </a:pPr>
              <a:t>‹#›</a:t>
            </a:fld>
            <a:endParaRPr lang="en-US"/>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56FEFAA-21A2-4E1F-A23E-3228DDB61B6B}" type="datetime1">
              <a:rPr lang="en-US"/>
              <a:pPr>
                <a:defRPr/>
              </a:pPr>
              <a:t>2/15/2011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8C125BD9-0A12-4026-A44B-CC9EE8B30BA8}" type="slidenum">
              <a:rPr lang="en-US"/>
              <a:pPr>
                <a:defRPr/>
              </a:pPr>
              <a:t>‹#›</a:t>
            </a:fld>
            <a:endParaRPr lang="en-US"/>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67D00AD-966A-4204-9564-03E222CE571C}" type="datetime1">
              <a:rPr lang="en-US"/>
              <a:pPr>
                <a:defRPr/>
              </a:pPr>
              <a:t>2/15/2011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CF8CD91-861C-4F67-9374-186D7F9E6FD9}" type="slidenum">
              <a:rPr lang="en-US"/>
              <a:pPr>
                <a:defRPr/>
              </a:pPr>
              <a:t>‹#›</a:t>
            </a:fld>
            <a:endParaRPr lang="en-US"/>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55B02F0-5445-488A-AAB8-2DA496F12272}" type="datetime1">
              <a:rPr lang="en-US"/>
              <a:pPr>
                <a:defRPr/>
              </a:pPr>
              <a:t>2/15/2011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45B9F57-6508-4C66-B05D-638A1F5337B9}" type="slidenum">
              <a:rPr lang="en-US"/>
              <a:pPr>
                <a:defRPr/>
              </a:pPr>
              <a:t>‹#›</a:t>
            </a:fld>
            <a:endParaRPr lang="en-US"/>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5FDC684-E968-4240-9B4B-065ADDCA158D}" type="datetime1">
              <a:rPr lang="en-US"/>
              <a:pPr>
                <a:defRPr/>
              </a:pPr>
              <a:t>2/15/2011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357AF15-D891-4728-9A66-AB06CFEB54DD}" type="slidenum">
              <a:rPr lang="en-US"/>
              <a:pPr>
                <a:defRPr/>
              </a:pPr>
              <a:t>‹#›</a:t>
            </a:fld>
            <a:endParaRPr lang="en-US"/>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28A209-EF3C-4F2A-AB19-DAF0809DCF5D}" type="datetime1">
              <a:rPr lang="en-US"/>
              <a:pPr>
                <a:defRPr/>
              </a:pPr>
              <a:t>2/15/2011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58F2EDD-D6D9-4645-AB27-531C8F98B92B}" type="slidenum">
              <a:rPr lang="en-US"/>
              <a:pPr>
                <a:defRPr/>
              </a:pPr>
              <a:t>‹#›</a:t>
            </a:fld>
            <a:endParaRPr lang="en-US"/>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1E9D87C-276B-46B9-A54B-CCFFFDE7D58E}" type="datetime1">
              <a:rPr lang="en-US"/>
              <a:pPr>
                <a:defRPr/>
              </a:pPr>
              <a:t>2/15/2011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FF087F2-7985-477B-AE4B-BEF4AB35E491}" type="slidenum">
              <a:rPr lang="en-US"/>
              <a:pPr>
                <a:defRPr/>
              </a:pPr>
              <a:t>‹#›</a:t>
            </a:fld>
            <a:endParaRPr lang="en-US"/>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6D7D1E8-C7FC-4527-9810-367BBFBA4A00}" type="datetime1">
              <a:rPr lang="en-US"/>
              <a:pPr>
                <a:defRPr/>
              </a:pPr>
              <a:t>2/15/2011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5D7D900-FFC5-4800-8798-484E1832DEA7}" type="slidenum">
              <a:rPr lang="en-US"/>
              <a:pPr>
                <a:defRPr/>
              </a:pPr>
              <a:t>‹#›</a:t>
            </a:fld>
            <a:endParaRPr lang="en-US"/>
          </a:p>
        </p:txBody>
      </p:sp>
    </p:spTree>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98B0"/>
                </a:solidFill>
                <a:ea typeface="ＭＳ Ｐゴシック" pitchFamily="-109" charset="-128"/>
                <a:cs typeface="+mn-cs"/>
              </a:defRPr>
            </a:lvl1pPr>
          </a:lstStyle>
          <a:p>
            <a:pPr>
              <a:defRPr/>
            </a:pPr>
            <a:fld id="{30144288-F042-4BB7-9AF2-6D6AD0CEA4AC}" type="datetime1">
              <a:rPr lang="en-US"/>
              <a:pPr>
                <a:defRPr/>
              </a:pPr>
              <a:t>2/15/2011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98B0"/>
                </a:solidFill>
                <a:ea typeface="ＭＳ Ｐゴシック" pitchFamily="-109" charset="-128"/>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98B0"/>
                </a:solidFill>
                <a:ea typeface="ＭＳ Ｐゴシック" pitchFamily="-109" charset="-128"/>
                <a:cs typeface="+mn-cs"/>
              </a:defRPr>
            </a:lvl1pPr>
          </a:lstStyle>
          <a:p>
            <a:pPr>
              <a:defRPr/>
            </a:pPr>
            <a:fld id="{E994D7A7-D4FD-4210-ADA6-79C04A739E3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dissolve/>
  </p:transition>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09" charset="-128"/>
          <a:cs typeface="ＭＳ Ｐゴシック" pitchFamily="-109" charset="-128"/>
        </a:defRPr>
      </a:lvl1pPr>
      <a:lvl2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2pPr>
      <a:lvl3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3pPr>
      <a:lvl4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4pPr>
      <a:lvl5pPr algn="ctr" defTabSz="457200" rtl="0" eaLnBrk="0" fontAlgn="base" hangingPunct="0">
        <a:spcBef>
          <a:spcPct val="0"/>
        </a:spcBef>
        <a:spcAft>
          <a:spcPct val="0"/>
        </a:spcAft>
        <a:defRPr sz="4400">
          <a:solidFill>
            <a:schemeClr val="tx1"/>
          </a:solidFill>
          <a:latin typeface="Arial" charset="0"/>
          <a:ea typeface="ＭＳ Ｐゴシック" pitchFamily="-109" charset="-128"/>
          <a:cs typeface="ＭＳ Ｐゴシック" pitchFamily="-109" charset="-128"/>
        </a:defRPr>
      </a:lvl5pPr>
      <a:lvl6pPr marL="4572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6pPr>
      <a:lvl7pPr marL="9144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7pPr>
      <a:lvl8pPr marL="13716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8pPr>
      <a:lvl9pPr marL="1828800" algn="ctr" defTabSz="457200" rtl="0" fontAlgn="base">
        <a:spcBef>
          <a:spcPct val="0"/>
        </a:spcBef>
        <a:spcAft>
          <a:spcPct val="0"/>
        </a:spcAft>
        <a:defRPr sz="4400">
          <a:solidFill>
            <a:schemeClr val="tx1"/>
          </a:solidFill>
          <a:latin typeface="Calibri" pitchFamily="-109" charset="0"/>
          <a:ea typeface="ＭＳ Ｐゴシック" pitchFamily="-109" charset="-128"/>
          <a:cs typeface="ＭＳ Ｐゴシック" pitchFamily="-109"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itchFamily="-109" charset="-128"/>
          <a:cs typeface="ＭＳ Ｐゴシック" pitchFamily="-109"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itchFamily="-109" charset="-128"/>
          <a:cs typeface="ＭＳ Ｐゴシック"/>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itchFamily="-109" charset="-128"/>
          <a:cs typeface="ＭＳ Ｐゴシック"/>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ＭＳ Ｐゴシック"/>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9" charset="-128"/>
          <a:cs typeface="ＭＳ Ｐゴシック"/>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4338" name="TextBox 3"/>
          <p:cNvSpPr txBox="1">
            <a:spLocks noChangeArrowheads="1"/>
          </p:cNvSpPr>
          <p:nvPr/>
        </p:nvSpPr>
        <p:spPr bwMode="auto">
          <a:xfrm>
            <a:off x="7429500" y="6611938"/>
            <a:ext cx="1714500" cy="246062"/>
          </a:xfrm>
          <a:prstGeom prst="rect">
            <a:avLst/>
          </a:prstGeom>
          <a:noFill/>
          <a:ln w="9525">
            <a:noFill/>
            <a:miter lim="800000"/>
            <a:headEnd/>
            <a:tailEnd/>
          </a:ln>
        </p:spPr>
        <p:txBody>
          <a:bodyPr>
            <a:spAutoFit/>
          </a:bodyPr>
          <a:lstStyle/>
          <a:p>
            <a:r>
              <a:rPr lang="en-AU" sz="1000">
                <a:solidFill>
                  <a:schemeClr val="bg1"/>
                </a:solidFill>
              </a:rPr>
              <a:t>CRICOS No. 00213J</a:t>
            </a:r>
          </a:p>
        </p:txBody>
      </p:sp>
      <p:sp>
        <p:nvSpPr>
          <p:cNvPr id="14339" name="Title 1"/>
          <p:cNvSpPr txBox="1">
            <a:spLocks/>
          </p:cNvSpPr>
          <p:nvPr/>
        </p:nvSpPr>
        <p:spPr bwMode="auto">
          <a:xfrm>
            <a:off x="714375" y="2743200"/>
            <a:ext cx="8286750" cy="1981200"/>
          </a:xfrm>
          <a:prstGeom prst="rect">
            <a:avLst/>
          </a:prstGeom>
          <a:noFill/>
          <a:ln w="9525">
            <a:noFill/>
            <a:miter lim="800000"/>
            <a:headEnd/>
            <a:tailEnd/>
          </a:ln>
        </p:spPr>
        <p:txBody>
          <a:bodyPr lIns="0" rIns="0" anchor="ctr"/>
          <a:lstStyle/>
          <a:p>
            <a:pPr algn="r"/>
            <a:r>
              <a:rPr lang="en-AU" sz="4000">
                <a:latin typeface="Cambria" pitchFamily="18" charset="0"/>
              </a:rPr>
              <a:t>Psychiatric and Substance Abuse Comorbidity among a Large Sample of Texas Offenders</a:t>
            </a:r>
            <a:endParaRPr lang="en-US" sz="4000">
              <a:solidFill>
                <a:schemeClr val="tx2"/>
              </a:solidFill>
              <a:latin typeface="Cambria" pitchFamily="18" charset="0"/>
            </a:endParaRPr>
          </a:p>
        </p:txBody>
      </p:sp>
      <p:sp>
        <p:nvSpPr>
          <p:cNvPr id="14340" name="Subtitle 2"/>
          <p:cNvSpPr>
            <a:spLocks noGrp="1"/>
          </p:cNvSpPr>
          <p:nvPr>
            <p:ph type="subTitle" idx="1"/>
          </p:nvPr>
        </p:nvSpPr>
        <p:spPr>
          <a:xfrm>
            <a:off x="857250" y="4267200"/>
            <a:ext cx="8143875" cy="1295400"/>
          </a:xfrm>
        </p:spPr>
        <p:txBody>
          <a:bodyPr lIns="0" rIns="0" anchor="ctr"/>
          <a:lstStyle/>
          <a:p>
            <a:pPr algn="r" eaLnBrk="1" hangingPunct="1"/>
            <a:r>
              <a:rPr lang="en-AU" sz="2000" smtClean="0">
                <a:solidFill>
                  <a:schemeClr val="tx1"/>
                </a:solidFill>
                <a:latin typeface="Cambria" pitchFamily="18" charset="0"/>
                <a:ea typeface="ＭＳ Ｐゴシック"/>
                <a:cs typeface="Arial" charset="0"/>
              </a:rPr>
              <a:t>Dr James Freeman, Prof Jane Maxwell &amp; Prof Jeremy Davey  </a:t>
            </a:r>
            <a:endParaRPr lang="en-US" sz="2000" smtClean="0">
              <a:solidFill>
                <a:schemeClr val="tx1"/>
              </a:solidFill>
              <a:latin typeface="Cambria" pitchFamily="18" charset="0"/>
              <a:ea typeface="ＭＳ Ｐゴシック"/>
              <a:cs typeface="Arial" charset="0"/>
            </a:endParaRPr>
          </a:p>
          <a:p>
            <a:pPr algn="r" eaLnBrk="1" hangingPunct="1"/>
            <a:r>
              <a:rPr lang="en-AU" sz="1400" smtClean="0">
                <a:solidFill>
                  <a:srgbClr val="8998B0"/>
                </a:solidFill>
                <a:latin typeface="Cambria" pitchFamily="18" charset="0"/>
                <a:ea typeface="ＭＳ Ｐゴシック"/>
                <a:cs typeface="ＭＳ Ｐゴシック"/>
              </a:rPr>
              <a:t>ICADTS Oslo August 2010 </a:t>
            </a:r>
            <a:endParaRPr lang="en-US" sz="1800" smtClean="0">
              <a:solidFill>
                <a:schemeClr val="tx1"/>
              </a:solidFill>
              <a:ea typeface="ＭＳ Ｐゴシック"/>
              <a:cs typeface="Arial" charset="0"/>
            </a:endParaRPr>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p:cNvSpPr>
          <p:nvPr>
            <p:ph type="title"/>
          </p:nvPr>
        </p:nvSpPr>
        <p:spPr/>
        <p:txBody>
          <a:bodyPr/>
          <a:lstStyle/>
          <a:p>
            <a:r>
              <a:rPr lang="en-AU" smtClean="0">
                <a:ea typeface="ＭＳ Ｐゴシック"/>
                <a:cs typeface="ＭＳ Ｐゴシック"/>
              </a:rPr>
              <a:t>Summary</a:t>
            </a:r>
            <a:endParaRPr lang="en-US" smtClean="0">
              <a:ea typeface="ＭＳ Ｐゴシック"/>
              <a:cs typeface="ＭＳ Ｐゴシック"/>
            </a:endParaRPr>
          </a:p>
        </p:txBody>
      </p:sp>
      <p:sp>
        <p:nvSpPr>
          <p:cNvPr id="15362" name="Rectangle 3"/>
          <p:cNvSpPr>
            <a:spLocks noGrp="1"/>
          </p:cNvSpPr>
          <p:nvPr>
            <p:ph type="body" idx="1"/>
          </p:nvPr>
        </p:nvSpPr>
        <p:spPr/>
        <p:txBody>
          <a:bodyPr/>
          <a:lstStyle/>
          <a:p>
            <a:pPr marL="609600" indent="-609600">
              <a:lnSpc>
                <a:spcPct val="90000"/>
              </a:lnSpc>
              <a:buFont typeface="Arial" charset="0"/>
              <a:buAutoNum type="arabicPeriod"/>
            </a:pPr>
            <a:r>
              <a:rPr lang="en-AU" smtClean="0">
                <a:ea typeface="ＭＳ Ｐゴシック"/>
                <a:cs typeface="ＭＳ Ｐゴシック"/>
              </a:rPr>
              <a:t>Overview of problem </a:t>
            </a:r>
          </a:p>
          <a:p>
            <a:pPr marL="609600" indent="-609600">
              <a:lnSpc>
                <a:spcPct val="90000"/>
              </a:lnSpc>
              <a:buFont typeface="Arial" charset="0"/>
              <a:buAutoNum type="arabicPeriod"/>
            </a:pPr>
            <a:r>
              <a:rPr lang="en-AU" smtClean="0">
                <a:ea typeface="ＭＳ Ｐゴシック"/>
                <a:cs typeface="ＭＳ Ｐゴシック"/>
              </a:rPr>
              <a:t>Aim of study: examine the extent of psychiatric problems among a large sample of DUI offenders entering treatment </a:t>
            </a:r>
          </a:p>
          <a:p>
            <a:pPr marL="609600" indent="-609600">
              <a:lnSpc>
                <a:spcPct val="90000"/>
              </a:lnSpc>
              <a:buFont typeface="Arial" charset="0"/>
              <a:buAutoNum type="arabicPeriod"/>
            </a:pPr>
            <a:r>
              <a:rPr lang="en-AU" smtClean="0">
                <a:ea typeface="ＭＳ Ｐゴシック"/>
                <a:cs typeface="ＭＳ Ｐゴシック"/>
              </a:rPr>
              <a:t>Results: It’s fairly high!</a:t>
            </a:r>
          </a:p>
          <a:p>
            <a:pPr marL="609600" indent="-609600">
              <a:lnSpc>
                <a:spcPct val="90000"/>
              </a:lnSpc>
              <a:buFont typeface="Arial" charset="0"/>
              <a:buAutoNum type="arabicPeriod"/>
            </a:pPr>
            <a:r>
              <a:rPr lang="en-AU" smtClean="0">
                <a:ea typeface="ＭＳ Ｐゴシック"/>
                <a:cs typeface="ＭＳ Ｐゴシック"/>
              </a:rPr>
              <a:t>Implications</a:t>
            </a:r>
          </a:p>
          <a:p>
            <a:pPr marL="609600" indent="-609600">
              <a:lnSpc>
                <a:spcPct val="90000"/>
              </a:lnSpc>
              <a:buFont typeface="Arial" charset="0"/>
              <a:buAutoNum type="arabicPeriod"/>
            </a:pPr>
            <a:r>
              <a:rPr lang="en-AU" smtClean="0">
                <a:ea typeface="ＭＳ Ｐゴシック"/>
                <a:cs typeface="ＭＳ Ｐゴシック"/>
              </a:rPr>
              <a:t>Warning: This is a straight forward presentation</a:t>
            </a:r>
          </a:p>
          <a:p>
            <a:pPr marL="609600" indent="-609600" algn="ctr">
              <a:lnSpc>
                <a:spcPct val="90000"/>
              </a:lnSpc>
              <a:buFont typeface="Arial" charset="0"/>
              <a:buNone/>
            </a:pPr>
            <a:endParaRPr lang="en-US" smtClean="0">
              <a:ea typeface="ＭＳ Ｐゴシック"/>
              <a:cs typeface="ＭＳ Ｐゴシック"/>
            </a:endParaRPr>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a:lstStyle/>
          <a:p>
            <a:r>
              <a:rPr lang="en-AU" smtClean="0">
                <a:ea typeface="ＭＳ Ｐゴシック"/>
                <a:cs typeface="ＭＳ Ｐゴシック"/>
              </a:rPr>
              <a:t>Acknowledgements</a:t>
            </a:r>
            <a:endParaRPr lang="en-US" smtClean="0">
              <a:ea typeface="ＭＳ Ｐゴシック"/>
              <a:cs typeface="ＭＳ Ｐゴシック"/>
            </a:endParaRPr>
          </a:p>
        </p:txBody>
      </p:sp>
      <p:sp>
        <p:nvSpPr>
          <p:cNvPr id="16386" name="Rectangle 3"/>
          <p:cNvSpPr>
            <a:spLocks noGrp="1"/>
          </p:cNvSpPr>
          <p:nvPr>
            <p:ph type="body" idx="1"/>
          </p:nvPr>
        </p:nvSpPr>
        <p:spPr/>
        <p:txBody>
          <a:bodyPr/>
          <a:lstStyle/>
          <a:p>
            <a:r>
              <a:rPr lang="en-AU" smtClean="0">
                <a:ea typeface="ＭＳ Ｐゴシック"/>
                <a:cs typeface="ＭＳ Ｐゴシック"/>
              </a:rPr>
              <a:t>Texas Department of State Health Services for the use of their data</a:t>
            </a:r>
            <a:r>
              <a:rPr lang="en-US" smtClean="0">
                <a:ea typeface="ＭＳ Ｐゴシック"/>
                <a:cs typeface="ＭＳ Ｐゴシック"/>
              </a:rPr>
              <a:t> </a:t>
            </a:r>
          </a:p>
          <a:p>
            <a:r>
              <a:rPr lang="en-AU" smtClean="0">
                <a:ea typeface="ＭＳ Ｐゴシック"/>
                <a:cs typeface="ＭＳ Ｐゴシック"/>
              </a:rPr>
              <a:t>Motor Accident Insurance Commission (MAIC)</a:t>
            </a:r>
            <a:endParaRPr lang="en-US" smtClean="0">
              <a:ea typeface="ＭＳ Ｐゴシック"/>
              <a:cs typeface="ＭＳ Ｐゴシック"/>
            </a:endParaRPr>
          </a:p>
          <a:p>
            <a:endParaRPr lang="en-US" smtClean="0">
              <a:ea typeface="ＭＳ Ｐゴシック"/>
              <a:cs typeface="ＭＳ Ｐゴシック"/>
            </a:endParaRPr>
          </a:p>
        </p:txBody>
      </p:sp>
    </p:spTree>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type="title"/>
          </p:nvPr>
        </p:nvSpPr>
        <p:spPr/>
        <p:txBody>
          <a:bodyPr/>
          <a:lstStyle/>
          <a:p>
            <a:r>
              <a:rPr lang="en-AU" smtClean="0">
                <a:ea typeface="ＭＳ Ｐゴシック"/>
                <a:cs typeface="ＭＳ Ｐゴシック"/>
              </a:rPr>
              <a:t>Current Context</a:t>
            </a:r>
            <a:endParaRPr lang="en-US" smtClean="0">
              <a:ea typeface="ＭＳ Ｐゴシック"/>
              <a:cs typeface="ＭＳ Ｐゴシック"/>
            </a:endParaRPr>
          </a:p>
        </p:txBody>
      </p:sp>
      <p:sp>
        <p:nvSpPr>
          <p:cNvPr id="17410" name="Rectangle 3"/>
          <p:cNvSpPr>
            <a:spLocks noGrp="1"/>
          </p:cNvSpPr>
          <p:nvPr>
            <p:ph type="body" idx="1"/>
          </p:nvPr>
        </p:nvSpPr>
        <p:spPr/>
        <p:txBody>
          <a:bodyPr/>
          <a:lstStyle/>
          <a:p>
            <a:r>
              <a:rPr lang="en-AU" sz="2400" smtClean="0">
                <a:ea typeface="ＭＳ Ｐゴシック"/>
                <a:cs typeface="ＭＳ Ｐゴシック"/>
              </a:rPr>
              <a:t>Research has generally demonstrated a strong link between substance abuse and comorbid psychiatric disorders </a:t>
            </a:r>
            <a:r>
              <a:rPr lang="en-AU" sz="1600" smtClean="0">
                <a:ea typeface="ＭＳ Ｐゴシック"/>
                <a:cs typeface="ＭＳ Ｐゴシック"/>
              </a:rPr>
              <a:t>(Grant et al., 2004),</a:t>
            </a:r>
            <a:r>
              <a:rPr lang="en-AU" sz="2400" smtClean="0">
                <a:ea typeface="ＭＳ Ｐゴシック"/>
                <a:cs typeface="ＭＳ Ｐゴシック"/>
              </a:rPr>
              <a:t> in particular, among those with alcohol abuse problems </a:t>
            </a:r>
            <a:r>
              <a:rPr lang="en-AU" sz="1600" smtClean="0">
                <a:ea typeface="ＭＳ Ｐゴシック"/>
                <a:cs typeface="ＭＳ Ｐゴシック"/>
              </a:rPr>
              <a:t>(Kessler et al., 2005).</a:t>
            </a:r>
          </a:p>
          <a:p>
            <a:endParaRPr lang="en-AU" sz="1600" smtClean="0">
              <a:ea typeface="ＭＳ Ｐゴシック"/>
              <a:cs typeface="ＭＳ Ｐゴシック"/>
            </a:endParaRPr>
          </a:p>
          <a:p>
            <a:r>
              <a:rPr lang="en-AU" sz="2400" smtClean="0">
                <a:ea typeface="ＭＳ Ｐゴシック"/>
                <a:cs typeface="ＭＳ Ｐゴシック"/>
              </a:rPr>
              <a:t>Comorbid issues often predict poor treatment outcomes as such individuals usually require a greater frequency of hospitalisations and are less compliant with treatment. </a:t>
            </a:r>
            <a:endParaRPr lang="en-US" sz="2400" smtClean="0">
              <a:ea typeface="ＭＳ Ｐゴシック"/>
              <a:cs typeface="ＭＳ Ｐゴシック"/>
            </a:endParaRPr>
          </a:p>
        </p:txBody>
      </p:sp>
    </p:spTree>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p:txBody>
          <a:bodyPr/>
          <a:lstStyle/>
          <a:p>
            <a:r>
              <a:rPr lang="en-AU" smtClean="0">
                <a:ea typeface="ＭＳ Ｐゴシック"/>
                <a:cs typeface="ＭＳ Ｐゴシック"/>
              </a:rPr>
              <a:t>Current Context</a:t>
            </a:r>
            <a:endParaRPr lang="en-US" smtClean="0">
              <a:ea typeface="ＭＳ Ｐゴシック"/>
              <a:cs typeface="ＭＳ Ｐゴシック"/>
            </a:endParaRPr>
          </a:p>
        </p:txBody>
      </p:sp>
      <p:sp>
        <p:nvSpPr>
          <p:cNvPr id="18434" name="Rectangle 3"/>
          <p:cNvSpPr>
            <a:spLocks noGrp="1"/>
          </p:cNvSpPr>
          <p:nvPr>
            <p:ph type="body" idx="1"/>
          </p:nvPr>
        </p:nvSpPr>
        <p:spPr/>
        <p:txBody>
          <a:bodyPr/>
          <a:lstStyle/>
          <a:p>
            <a:r>
              <a:rPr lang="en-AU" sz="2400" smtClean="0">
                <a:ea typeface="ＭＳ Ｐゴシック"/>
                <a:cs typeface="ＭＳ Ｐゴシック"/>
              </a:rPr>
              <a:t>The negative symptoms associated with psychiatric disorders can often be amplified through alcohol abuse and dependence, and this comorbid group is believed to be at an increased risk of relapse </a:t>
            </a:r>
            <a:r>
              <a:rPr lang="en-AU" sz="1600" smtClean="0">
                <a:ea typeface="ＭＳ Ｐゴシック"/>
                <a:cs typeface="ＭＳ Ｐゴシック"/>
              </a:rPr>
              <a:t>(Petrakis et al., 2002).</a:t>
            </a:r>
            <a:r>
              <a:rPr lang="en-AU" sz="2400" smtClean="0">
                <a:ea typeface="ＭＳ Ｐゴシック"/>
                <a:cs typeface="ＭＳ Ｐゴシック"/>
              </a:rPr>
              <a:t> </a:t>
            </a:r>
          </a:p>
          <a:p>
            <a:endParaRPr lang="en-AU" sz="2400" smtClean="0">
              <a:ea typeface="ＭＳ Ｐゴシック"/>
              <a:cs typeface="ＭＳ Ｐゴシック"/>
            </a:endParaRPr>
          </a:p>
          <a:p>
            <a:r>
              <a:rPr lang="en-AU" sz="2400" smtClean="0">
                <a:ea typeface="ＭＳ Ｐゴシック"/>
                <a:cs typeface="ＭＳ Ｐゴシック"/>
              </a:rPr>
              <a:t>Within the (DUI) population, it is generally accepted that alcohol and drug</a:t>
            </a:r>
            <a:r>
              <a:rPr lang="en-AU" sz="2400" smtClean="0">
                <a:solidFill>
                  <a:srgbClr val="FF0000"/>
                </a:solidFill>
                <a:ea typeface="ＭＳ Ｐゴシック"/>
                <a:cs typeface="ＭＳ Ｐゴシック"/>
              </a:rPr>
              <a:t> </a:t>
            </a:r>
            <a:r>
              <a:rPr lang="en-AU" sz="2400" smtClean="0">
                <a:ea typeface="ＭＳ Ｐゴシック"/>
                <a:cs typeface="ＭＳ Ｐゴシック"/>
              </a:rPr>
              <a:t>dependence and severe alcohol abuse problems remain core issues that are likely to be found within impaired driving cohorts</a:t>
            </a:r>
          </a:p>
          <a:p>
            <a:pPr>
              <a:buFont typeface="Arial" charset="0"/>
              <a:buNone/>
            </a:pPr>
            <a:endParaRPr lang="en-AU" sz="2400" smtClean="0">
              <a:ea typeface="ＭＳ Ｐゴシック"/>
              <a:cs typeface="ＭＳ Ｐゴシック"/>
            </a:endParaRPr>
          </a:p>
          <a:p>
            <a:r>
              <a:rPr lang="en-AU" sz="2400" smtClean="0">
                <a:ea typeface="ＭＳ Ｐゴシック"/>
                <a:cs typeface="ＭＳ Ｐゴシック"/>
              </a:rPr>
              <a:t>Such issues are also predictive of relapse</a:t>
            </a:r>
            <a:endParaRPr lang="en-US" smtClean="0">
              <a:ea typeface="ＭＳ Ｐゴシック"/>
              <a:cs typeface="ＭＳ Ｐゴシック"/>
            </a:endParaRPr>
          </a:p>
        </p:txBody>
      </p:sp>
    </p:spTree>
  </p:cSld>
  <p:clrMapOvr>
    <a:masterClrMapping/>
  </p:clrMapOvr>
  <p:transition>
    <p:dissolv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title"/>
          </p:nvPr>
        </p:nvSpPr>
        <p:spPr/>
        <p:txBody>
          <a:bodyPr/>
          <a:lstStyle/>
          <a:p>
            <a:r>
              <a:rPr lang="en-AU" smtClean="0">
                <a:ea typeface="ＭＳ Ｐゴシック"/>
                <a:cs typeface="ＭＳ Ｐゴシック"/>
              </a:rPr>
              <a:t>Current Context</a:t>
            </a:r>
            <a:endParaRPr lang="en-US" smtClean="0">
              <a:ea typeface="ＭＳ Ｐゴシック"/>
              <a:cs typeface="ＭＳ Ｐゴシック"/>
            </a:endParaRPr>
          </a:p>
        </p:txBody>
      </p:sp>
      <p:sp>
        <p:nvSpPr>
          <p:cNvPr id="19458" name="Rectangle 3"/>
          <p:cNvSpPr>
            <a:spLocks noGrp="1"/>
          </p:cNvSpPr>
          <p:nvPr>
            <p:ph type="body" idx="1"/>
          </p:nvPr>
        </p:nvSpPr>
        <p:spPr/>
        <p:txBody>
          <a:bodyPr/>
          <a:lstStyle/>
          <a:p>
            <a:pPr>
              <a:lnSpc>
                <a:spcPct val="90000"/>
              </a:lnSpc>
            </a:pPr>
            <a:r>
              <a:rPr lang="en-AU" sz="2400" smtClean="0">
                <a:ea typeface="ＭＳ Ｐゴシック"/>
                <a:cs typeface="ＭＳ Ｐゴシック"/>
              </a:rPr>
              <a:t>Research has also begun to demonstrate the complex nature of the DUI problem, as offenders are increasingly likely to also present with drug problems in addition to alcohol, and that females are also susceptible to such poly substance use problems </a:t>
            </a:r>
          </a:p>
          <a:p>
            <a:pPr>
              <a:lnSpc>
                <a:spcPct val="90000"/>
              </a:lnSpc>
            </a:pPr>
            <a:endParaRPr lang="en-AU" sz="2400" smtClean="0">
              <a:ea typeface="ＭＳ Ｐゴシック"/>
              <a:cs typeface="ＭＳ Ｐゴシック"/>
            </a:endParaRPr>
          </a:p>
          <a:p>
            <a:pPr>
              <a:lnSpc>
                <a:spcPct val="90000"/>
              </a:lnSpc>
            </a:pPr>
            <a:r>
              <a:rPr lang="en-AU" sz="2400" smtClean="0">
                <a:ea typeface="ＭＳ Ｐゴシック"/>
                <a:cs typeface="ＭＳ Ｐゴシック"/>
              </a:rPr>
              <a:t>Given the strong link between substance abuse and comorbid psychiatric disorders, as well as that DUI offenders often present with elevated levels of substance abuse problems, it appears warranted to examine the extent of such comorbid psychiatric issues among DUI offenders. </a:t>
            </a:r>
            <a:endParaRPr lang="en-US" sz="2400" smtClean="0">
              <a:ea typeface="ＭＳ Ｐゴシック"/>
              <a:cs typeface="ＭＳ Ｐゴシック"/>
            </a:endParaRPr>
          </a:p>
        </p:txBody>
      </p:sp>
    </p:spTree>
  </p:cSld>
  <p:clrMapOvr>
    <a:masterClrMapping/>
  </p:clrMapOvr>
  <p:transition>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p:txBody>
          <a:bodyPr/>
          <a:lstStyle/>
          <a:p>
            <a:r>
              <a:rPr lang="en-AU" smtClean="0">
                <a:ea typeface="ＭＳ Ｐゴシック"/>
                <a:cs typeface="ＭＳ Ｐゴシック"/>
              </a:rPr>
              <a:t>Psychiatric Disorders</a:t>
            </a:r>
            <a:endParaRPr lang="en-US" smtClean="0">
              <a:ea typeface="ＭＳ Ｐゴシック"/>
              <a:cs typeface="ＭＳ Ｐゴシック"/>
            </a:endParaRPr>
          </a:p>
        </p:txBody>
      </p:sp>
      <p:sp>
        <p:nvSpPr>
          <p:cNvPr id="20482" name="Rectangle 3"/>
          <p:cNvSpPr>
            <a:spLocks noGrp="1"/>
          </p:cNvSpPr>
          <p:nvPr>
            <p:ph type="body" idx="1"/>
          </p:nvPr>
        </p:nvSpPr>
        <p:spPr/>
        <p:txBody>
          <a:bodyPr/>
          <a:lstStyle/>
          <a:p>
            <a:r>
              <a:rPr lang="en-AU" sz="2400" smtClean="0">
                <a:ea typeface="ＭＳ Ｐゴシック"/>
                <a:cs typeface="ＭＳ Ｐゴシック"/>
              </a:rPr>
              <a:t>Preliminary research into this issue has started to provide some very interesting results.</a:t>
            </a:r>
          </a:p>
          <a:p>
            <a:pPr lvl="1"/>
            <a:r>
              <a:rPr lang="en-AU" sz="2400" smtClean="0">
                <a:ea typeface="ＭＳ Ｐゴシック"/>
              </a:rPr>
              <a:t>The elevated presence of bipolar disorder among a sample of repeat offenders </a:t>
            </a:r>
            <a:r>
              <a:rPr lang="en-AU" sz="2400" i="1" smtClean="0">
                <a:ea typeface="ＭＳ Ｐゴシック"/>
              </a:rPr>
              <a:t>N</a:t>
            </a:r>
            <a:r>
              <a:rPr lang="en-AU" sz="2400" smtClean="0">
                <a:ea typeface="ＭＳ Ｐゴシック"/>
              </a:rPr>
              <a:t> = 729 </a:t>
            </a:r>
            <a:r>
              <a:rPr lang="en-AU" sz="1600" smtClean="0">
                <a:ea typeface="ＭＳ Ｐゴシック"/>
              </a:rPr>
              <a:t>Albanese et al. (2010)</a:t>
            </a:r>
          </a:p>
          <a:p>
            <a:pPr lvl="1"/>
            <a:r>
              <a:rPr lang="en-AU" sz="2400" smtClean="0">
                <a:ea typeface="ＭＳ Ｐゴシック"/>
              </a:rPr>
              <a:t>DUI offenders (</a:t>
            </a:r>
            <a:r>
              <a:rPr lang="en-AU" sz="2400" i="1" smtClean="0">
                <a:ea typeface="ＭＳ Ｐゴシック"/>
              </a:rPr>
              <a:t>N</a:t>
            </a:r>
            <a:r>
              <a:rPr lang="en-AU" sz="2400" smtClean="0">
                <a:ea typeface="ＭＳ Ｐゴシック"/>
              </a:rPr>
              <a:t> = 2714) entering treatment also reported the elevated presence of a range of psychiatric disorders, including Major Depressive Episode, Panic Disorder, PTSD </a:t>
            </a:r>
            <a:r>
              <a:rPr lang="en-AU" sz="1600" smtClean="0">
                <a:ea typeface="ＭＳ Ｐゴシック"/>
              </a:rPr>
              <a:t>(McCutcheon et al. 2009) </a:t>
            </a:r>
          </a:p>
          <a:p>
            <a:pPr lvl="1"/>
            <a:r>
              <a:rPr lang="en-AU" sz="2400" smtClean="0">
                <a:ea typeface="ＭＳ Ｐゴシック"/>
              </a:rPr>
              <a:t>Psychiatric symptoms associated with early drink driving experiences </a:t>
            </a:r>
            <a:r>
              <a:rPr lang="en-AU" sz="1600" smtClean="0">
                <a:ea typeface="ＭＳ Ｐゴシック"/>
              </a:rPr>
              <a:t>(Marczynski &amp; Wieczorek, 2010)</a:t>
            </a:r>
            <a:endParaRPr lang="en-AU" sz="2400" smtClean="0">
              <a:ea typeface="ＭＳ Ｐゴシック"/>
            </a:endParaRPr>
          </a:p>
        </p:txBody>
      </p:sp>
    </p:spTree>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AU" smtClean="0">
                <a:ea typeface="ＭＳ Ｐゴシック"/>
                <a:cs typeface="ＭＳ Ｐゴシック"/>
              </a:rPr>
              <a:t>Psychiatric Disorders</a:t>
            </a:r>
            <a:endParaRPr lang="en-US" smtClean="0">
              <a:ea typeface="ＭＳ Ｐゴシック"/>
              <a:cs typeface="ＭＳ Ｐゴシック"/>
            </a:endParaRPr>
          </a:p>
        </p:txBody>
      </p:sp>
      <p:sp>
        <p:nvSpPr>
          <p:cNvPr id="21506" name="Rectangle 3"/>
          <p:cNvSpPr>
            <a:spLocks noGrp="1"/>
          </p:cNvSpPr>
          <p:nvPr>
            <p:ph type="body" idx="1"/>
          </p:nvPr>
        </p:nvSpPr>
        <p:spPr/>
        <p:txBody>
          <a:bodyPr/>
          <a:lstStyle/>
          <a:p>
            <a:pPr>
              <a:spcBef>
                <a:spcPct val="0"/>
              </a:spcBef>
            </a:pPr>
            <a:r>
              <a:rPr lang="en-AU" sz="2400" smtClean="0">
                <a:ea typeface="ＭＳ Ｐゴシック"/>
                <a:cs typeface="ＭＳ Ｐゴシック"/>
              </a:rPr>
              <a:t>Another concern is that preliminary research shows that DUI offenders who are presenting for treatment with comorbidity issues are </a:t>
            </a:r>
            <a:r>
              <a:rPr lang="en-AU" sz="2400" smtClean="0">
                <a:solidFill>
                  <a:schemeClr val="accent1"/>
                </a:solidFill>
                <a:ea typeface="ＭＳ Ｐゴシック"/>
                <a:cs typeface="ＭＳ Ｐゴシック"/>
              </a:rPr>
              <a:t>not disclosing</a:t>
            </a:r>
            <a:r>
              <a:rPr lang="en-AU" sz="2400" smtClean="0">
                <a:ea typeface="ＭＳ Ｐゴシック"/>
                <a:cs typeface="ＭＳ Ｐゴシック"/>
              </a:rPr>
              <a:t> the severity of their symptoms to justice officials at sentencing and also not receiving appropriate treatment </a:t>
            </a:r>
            <a:r>
              <a:rPr lang="en-AU" sz="1600" smtClean="0">
                <a:ea typeface="ＭＳ Ｐゴシック"/>
                <a:cs typeface="ＭＳ Ｐゴシック"/>
              </a:rPr>
              <a:t>(Albanese et al., 2010).</a:t>
            </a:r>
            <a:r>
              <a:rPr lang="en-AU" smtClean="0">
                <a:ea typeface="ＭＳ Ｐゴシック"/>
                <a:cs typeface="ＭＳ Ｐゴシック"/>
              </a:rPr>
              <a:t> </a:t>
            </a:r>
          </a:p>
          <a:p>
            <a:pPr>
              <a:buFont typeface="Arial" charset="0"/>
              <a:buNone/>
            </a:pPr>
            <a:endParaRPr lang="en-AU" smtClean="0">
              <a:ea typeface="ＭＳ Ｐゴシック"/>
              <a:cs typeface="ＭＳ Ｐゴシック"/>
            </a:endParaRPr>
          </a:p>
          <a:p>
            <a:r>
              <a:rPr lang="en-AU" sz="2400" smtClean="0">
                <a:ea typeface="ＭＳ Ｐゴシック"/>
                <a:cs typeface="ＭＳ Ｐゴシック"/>
              </a:rPr>
              <a:t>Despite this delay, it is well recognised that accurate identification of psychiatric disorders naturally improves treatment outcomes. </a:t>
            </a:r>
            <a:endParaRPr lang="en-US" sz="2400" smtClean="0">
              <a:ea typeface="ＭＳ Ｐゴシック"/>
              <a:cs typeface="ＭＳ Ｐゴシック"/>
            </a:endParaRPr>
          </a:p>
        </p:txBody>
      </p:sp>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type="title"/>
          </p:nvPr>
        </p:nvSpPr>
        <p:spPr/>
        <p:txBody>
          <a:bodyPr/>
          <a:lstStyle/>
          <a:p>
            <a:r>
              <a:rPr lang="en-AU" smtClean="0">
                <a:ea typeface="ＭＳ Ｐゴシック"/>
                <a:cs typeface="ＭＳ Ｐゴシック"/>
              </a:rPr>
              <a:t>AIM OF THE STUDY</a:t>
            </a:r>
            <a:endParaRPr lang="en-US" smtClean="0">
              <a:ea typeface="ＭＳ Ｐゴシック"/>
              <a:cs typeface="ＭＳ Ｐゴシック"/>
            </a:endParaRPr>
          </a:p>
        </p:txBody>
      </p:sp>
      <p:sp>
        <p:nvSpPr>
          <p:cNvPr id="22530" name="Rectangle 3"/>
          <p:cNvSpPr>
            <a:spLocks noGrp="1"/>
          </p:cNvSpPr>
          <p:nvPr>
            <p:ph type="body" idx="1"/>
          </p:nvPr>
        </p:nvSpPr>
        <p:spPr/>
        <p:txBody>
          <a:bodyPr/>
          <a:lstStyle/>
          <a:p>
            <a:pPr marL="990600" lvl="1" indent="-533400">
              <a:buFont typeface="Arial" charset="0"/>
              <a:buAutoNum type="arabicPeriod"/>
            </a:pPr>
            <a:r>
              <a:rPr lang="en-AU" smtClean="0">
                <a:ea typeface="ＭＳ Ｐゴシック"/>
              </a:rPr>
              <a:t>The prevalence of psychiatric comorbidity issues in a sample of DUI offenders in treatment;</a:t>
            </a:r>
          </a:p>
          <a:p>
            <a:pPr marL="990600" lvl="1" indent="-533400">
              <a:buFont typeface="Wingdings" pitchFamily="2" charset="2"/>
              <a:buAutoNum type="arabicPeriod"/>
            </a:pPr>
            <a:r>
              <a:rPr lang="en-AU" smtClean="0">
                <a:ea typeface="ＭＳ Ｐゴシック"/>
              </a:rPr>
              <a:t>Whether recidivist offenders present with more complex psychiatric and substance abuse needs; and</a:t>
            </a:r>
            <a:endParaRPr lang="en-US" smtClean="0">
              <a:ea typeface="ＭＳ Ｐゴシック"/>
            </a:endParaRPr>
          </a:p>
          <a:p>
            <a:pPr marL="990600" lvl="1" indent="-533400">
              <a:buFont typeface="Arial" charset="0"/>
              <a:buAutoNum type="arabicPeriod"/>
            </a:pPr>
            <a:r>
              <a:rPr lang="en-AU" smtClean="0">
                <a:ea typeface="ＭＳ Ｐゴシック"/>
              </a:rPr>
              <a:t>The levels of complexity of psychiatric and substance abuse comorbidity issues among females as compared to male DUI clients.</a:t>
            </a:r>
            <a:endParaRPr lang="en-US" smtClean="0">
              <a:ea typeface="ＭＳ Ｐゴシック"/>
            </a:endParaRPr>
          </a:p>
          <a:p>
            <a:pPr marL="990600" lvl="1" indent="-533400">
              <a:buFont typeface="Arial" charset="0"/>
              <a:buAutoNum type="arabicPeriod"/>
            </a:pPr>
            <a:endParaRPr lang="en-US" smtClean="0">
              <a:ea typeface="ＭＳ Ｐゴシック"/>
            </a:endParaRPr>
          </a:p>
          <a:p>
            <a:pPr marL="990600" lvl="1" indent="-533400">
              <a:buFont typeface="Arial" charset="0"/>
              <a:buAutoNum type="arabicPeriod"/>
            </a:pPr>
            <a:endParaRPr lang="en-US" smtClean="0">
              <a:ea typeface="ＭＳ Ｐゴシック"/>
            </a:endParaRPr>
          </a:p>
        </p:txBody>
      </p:sp>
    </p:spTree>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p:txBody>
          <a:bodyPr/>
          <a:lstStyle/>
          <a:p>
            <a:r>
              <a:rPr lang="en-AU" smtClean="0">
                <a:ea typeface="ＭＳ Ｐゴシック"/>
                <a:cs typeface="ＭＳ Ｐゴシック"/>
              </a:rPr>
              <a:t>SAMPLE</a:t>
            </a:r>
            <a:endParaRPr lang="en-US" smtClean="0">
              <a:ea typeface="ＭＳ Ｐゴシック"/>
              <a:cs typeface="ＭＳ Ｐゴシック"/>
            </a:endParaRPr>
          </a:p>
        </p:txBody>
      </p:sp>
      <p:sp>
        <p:nvSpPr>
          <p:cNvPr id="23554" name="Rectangle 3"/>
          <p:cNvSpPr>
            <a:spLocks noGrp="1"/>
          </p:cNvSpPr>
          <p:nvPr>
            <p:ph type="body" idx="1"/>
          </p:nvPr>
        </p:nvSpPr>
        <p:spPr/>
        <p:txBody>
          <a:bodyPr/>
          <a:lstStyle/>
          <a:p>
            <a:r>
              <a:rPr lang="en-AU" sz="2800" smtClean="0">
                <a:ea typeface="ＭＳ Ｐゴシック"/>
                <a:cs typeface="ＭＳ Ｐゴシック"/>
              </a:rPr>
              <a:t>This is a secondary analysis of an administrative dataset containing records on all individuals admitted to treatment programs funded by the Texas Department of State Health Services (DSHS) between 2005 and 2008. These programs are non-profit community-based programs that may offer residential and outpatient services; they do not offer inpatient hospitalization.</a:t>
            </a:r>
            <a:r>
              <a:rPr lang="en-AU" smtClean="0">
                <a:ea typeface="ＭＳ Ｐゴシック"/>
                <a:cs typeface="ＭＳ Ｐゴシック"/>
              </a:rPr>
              <a:t> </a:t>
            </a:r>
            <a:endParaRPr lang="en-US" smtClean="0">
              <a:ea typeface="ＭＳ Ｐゴシック"/>
              <a:cs typeface="ＭＳ Ｐゴシック"/>
            </a:endParaRPr>
          </a:p>
        </p:txBody>
      </p:sp>
    </p:spTree>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p:txBody>
          <a:bodyPr/>
          <a:lstStyle/>
          <a:p>
            <a:r>
              <a:rPr lang="en-AU" smtClean="0">
                <a:ea typeface="ＭＳ Ｐゴシック"/>
                <a:cs typeface="ＭＳ Ｐゴシック"/>
              </a:rPr>
              <a:t>SAMPLE</a:t>
            </a:r>
            <a:endParaRPr lang="en-US" smtClean="0">
              <a:ea typeface="ＭＳ Ｐゴシック"/>
              <a:cs typeface="ＭＳ Ｐゴシック"/>
            </a:endParaRPr>
          </a:p>
        </p:txBody>
      </p:sp>
      <p:sp>
        <p:nvSpPr>
          <p:cNvPr id="24578" name="Rectangle 3"/>
          <p:cNvSpPr>
            <a:spLocks noGrp="1"/>
          </p:cNvSpPr>
          <p:nvPr>
            <p:ph type="body" idx="1"/>
          </p:nvPr>
        </p:nvSpPr>
        <p:spPr/>
        <p:txBody>
          <a:bodyPr/>
          <a:lstStyle/>
          <a:p>
            <a:r>
              <a:rPr lang="en-AU" smtClean="0">
                <a:ea typeface="ＭＳ Ｐゴシック"/>
                <a:cs typeface="ＭＳ Ｐゴシック"/>
              </a:rPr>
              <a:t>Records of 36,372  clients who had a DUI offence in the past 12 months were selected to be compared to all the remaining 308,714  clients who were admitted to the same treatment programs but had no past-year DUI status. </a:t>
            </a:r>
            <a:endParaRPr lang="en-US" smtClean="0">
              <a:ea typeface="ＭＳ Ｐゴシック"/>
              <a:cs typeface="ＭＳ Ｐゴシック"/>
            </a:endParaRPr>
          </a:p>
        </p:txBody>
      </p:sp>
    </p:spTree>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p:txBody>
          <a:bodyPr/>
          <a:lstStyle/>
          <a:p>
            <a:r>
              <a:rPr lang="en-AU" smtClean="0">
                <a:ea typeface="ＭＳ Ｐゴシック"/>
                <a:cs typeface="ＭＳ Ｐゴシック"/>
              </a:rPr>
              <a:t>SAMPLE DUI’s</a:t>
            </a:r>
            <a:endParaRPr lang="en-US" smtClean="0">
              <a:ea typeface="ＭＳ Ｐゴシック"/>
              <a:cs typeface="ＭＳ Ｐゴシック"/>
            </a:endParaRPr>
          </a:p>
        </p:txBody>
      </p:sp>
      <p:sp>
        <p:nvSpPr>
          <p:cNvPr id="25602" name="Rectangle 3"/>
          <p:cNvSpPr>
            <a:spLocks noGrp="1"/>
          </p:cNvSpPr>
          <p:nvPr>
            <p:ph type="body" idx="1"/>
          </p:nvPr>
        </p:nvSpPr>
        <p:spPr/>
        <p:txBody>
          <a:bodyPr/>
          <a:lstStyle/>
          <a:p>
            <a:r>
              <a:rPr lang="en-AU" smtClean="0">
                <a:ea typeface="ＭＳ Ｐゴシック"/>
                <a:cs typeface="ＭＳ Ｐゴシック"/>
              </a:rPr>
              <a:t>Age 								</a:t>
            </a:r>
            <a:r>
              <a:rPr lang="en-AU" i="1" smtClean="0">
                <a:ea typeface="ＭＳ Ｐゴシック"/>
                <a:cs typeface="ＭＳ Ｐゴシック"/>
              </a:rPr>
              <a:t>M</a:t>
            </a:r>
            <a:r>
              <a:rPr lang="en-AU" smtClean="0">
                <a:ea typeface="ＭＳ Ｐゴシック"/>
                <a:cs typeface="ＭＳ Ｐゴシック"/>
              </a:rPr>
              <a:t> = 33</a:t>
            </a:r>
          </a:p>
          <a:p>
            <a:r>
              <a:rPr lang="en-AU" smtClean="0">
                <a:ea typeface="ＭＳ Ｐゴシック"/>
                <a:cs typeface="ＭＳ Ｐゴシック"/>
              </a:rPr>
              <a:t>Male 71.8%   Female 	28.2%</a:t>
            </a:r>
          </a:p>
          <a:p>
            <a:r>
              <a:rPr lang="en-US" smtClean="0">
                <a:ea typeface="ＭＳ Ｐゴシック"/>
                <a:cs typeface="ＭＳ Ｐゴシック"/>
              </a:rPr>
              <a:t>Employed Past Year 	6.3% </a:t>
            </a:r>
          </a:p>
          <a:p>
            <a:r>
              <a:rPr lang="en-US" smtClean="0">
                <a:ea typeface="ＭＳ Ｐゴシック"/>
                <a:cs typeface="ＭＳ Ｐゴシック"/>
              </a:rPr>
              <a:t>Homeless						4.6% </a:t>
            </a:r>
          </a:p>
          <a:p>
            <a:pPr>
              <a:buFontTx/>
              <a:buChar char="•"/>
            </a:pPr>
            <a:r>
              <a:rPr lang="en-US" smtClean="0">
                <a:ea typeface="ＭＳ Ｐゴシック"/>
                <a:cs typeface="ＭＳ Ｐゴシック"/>
              </a:rPr>
              <a:t>Placed on Medication at Admission	21.9%</a:t>
            </a:r>
          </a:p>
          <a:p>
            <a:pPr>
              <a:buFontTx/>
              <a:buChar char="•"/>
            </a:pPr>
            <a:r>
              <a:rPr lang="en-US" smtClean="0">
                <a:ea typeface="ＭＳ Ｐゴシック"/>
                <a:cs typeface="ＭＳ Ｐゴシック"/>
              </a:rPr>
              <a:t>Past Month Emergency Room Visit	24.4%</a:t>
            </a:r>
          </a:p>
          <a:p>
            <a:endParaRPr lang="en-AU" smtClean="0">
              <a:ea typeface="ＭＳ Ｐゴシック"/>
              <a:cs typeface="ＭＳ Ｐゴシック"/>
            </a:endParaRPr>
          </a:p>
          <a:p>
            <a:endParaRPr lang="en-US" smtClean="0">
              <a:ea typeface="ＭＳ Ｐゴシック"/>
              <a:cs typeface="ＭＳ Ｐゴシック"/>
            </a:endParaRPr>
          </a:p>
        </p:txBody>
      </p:sp>
    </p:spTree>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p:txBody>
          <a:bodyPr/>
          <a:lstStyle/>
          <a:p>
            <a:r>
              <a:rPr lang="en-AU" smtClean="0">
                <a:ea typeface="ＭＳ Ｐゴシック"/>
                <a:cs typeface="ＭＳ Ｐゴシック"/>
              </a:rPr>
              <a:t>PROCEDURE</a:t>
            </a:r>
            <a:endParaRPr lang="en-US" smtClean="0">
              <a:ea typeface="ＭＳ Ｐゴシック"/>
              <a:cs typeface="ＭＳ Ｐゴシック"/>
            </a:endParaRPr>
          </a:p>
        </p:txBody>
      </p:sp>
      <p:sp>
        <p:nvSpPr>
          <p:cNvPr id="26626" name="Rectangle 3"/>
          <p:cNvSpPr>
            <a:spLocks noGrp="1"/>
          </p:cNvSpPr>
          <p:nvPr>
            <p:ph type="body" idx="1"/>
          </p:nvPr>
        </p:nvSpPr>
        <p:spPr/>
        <p:txBody>
          <a:bodyPr/>
          <a:lstStyle/>
          <a:p>
            <a:r>
              <a:rPr lang="en-AU" smtClean="0">
                <a:ea typeface="ＭＳ Ｐゴシック"/>
                <a:cs typeface="ＭＳ Ｐゴシック"/>
              </a:rPr>
              <a:t>Assessment and data collection were completed by intake counsellors in 79 public treatment programs across the state. Only programs who had personnel trained to diagnose clients using the Diagnostic and Statistical Manual of Mental Disorders (DSM-IV-TR, 2000) could report the mental health diagnoses of their clients. </a:t>
            </a:r>
            <a:endParaRPr lang="en-US" smtClean="0">
              <a:ea typeface="ＭＳ Ｐゴシック"/>
              <a:cs typeface="ＭＳ Ｐゴシック"/>
            </a:endParaRPr>
          </a:p>
        </p:txBody>
      </p:sp>
    </p:spTree>
  </p:cSld>
  <p:clrMapOvr>
    <a:masterClrMapping/>
  </p:clrMapOvr>
  <p:transition>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p:txBody>
          <a:bodyPr/>
          <a:lstStyle/>
          <a:p>
            <a:r>
              <a:rPr lang="en-AU" smtClean="0">
                <a:ea typeface="ＭＳ Ｐゴシック"/>
                <a:cs typeface="ＭＳ Ｐゴシック"/>
              </a:rPr>
              <a:t>ANALYSIS</a:t>
            </a:r>
            <a:endParaRPr lang="en-US" smtClean="0">
              <a:ea typeface="ＭＳ Ｐゴシック"/>
              <a:cs typeface="ＭＳ Ｐゴシック"/>
            </a:endParaRPr>
          </a:p>
        </p:txBody>
      </p:sp>
      <p:sp>
        <p:nvSpPr>
          <p:cNvPr id="27650" name="Rectangle 3"/>
          <p:cNvSpPr>
            <a:spLocks noGrp="1"/>
          </p:cNvSpPr>
          <p:nvPr>
            <p:ph type="body" idx="1"/>
          </p:nvPr>
        </p:nvSpPr>
        <p:spPr/>
        <p:txBody>
          <a:bodyPr/>
          <a:lstStyle/>
          <a:p>
            <a:r>
              <a:rPr lang="en-AU" sz="2800" smtClean="0">
                <a:ea typeface="ＭＳ Ｐゴシック"/>
                <a:cs typeface="ＭＳ Ｐゴシック"/>
              </a:rPr>
              <a:t>The specific diagnoses were collapsed into four major diagnostic groups (</a:t>
            </a:r>
            <a:r>
              <a:rPr lang="en-AU" sz="2800" smtClean="0">
                <a:solidFill>
                  <a:schemeClr val="tx2"/>
                </a:solidFill>
                <a:ea typeface="ＭＳ Ｐゴシック"/>
                <a:cs typeface="ＭＳ Ｐゴシック"/>
              </a:rPr>
              <a:t>depression, bipolar, anxiety and schizophrenia-related disorders)</a:t>
            </a:r>
            <a:r>
              <a:rPr lang="en-AU" sz="2800" smtClean="0">
                <a:ea typeface="ＭＳ Ｐゴシック"/>
                <a:cs typeface="ＭＳ Ｐゴシック"/>
              </a:rPr>
              <a:t> for reasons of parsimony to facilitate analysis </a:t>
            </a:r>
          </a:p>
          <a:p>
            <a:r>
              <a:rPr lang="en-AU" sz="2800" smtClean="0">
                <a:ea typeface="ＭＳ Ｐゴシック"/>
                <a:cs typeface="ＭＳ Ｐゴシック"/>
              </a:rPr>
              <a:t>For example, the depression diagnostic category included a range of Major Depressive Disorders such as Single Episodes as well as Recurrent, with and without psychotic features, ranging from mild to severe. </a:t>
            </a:r>
            <a:endParaRPr lang="en-US" sz="2800" smtClean="0">
              <a:ea typeface="ＭＳ Ｐゴシック"/>
              <a:cs typeface="ＭＳ Ｐゴシック"/>
            </a:endParaRPr>
          </a:p>
        </p:txBody>
      </p:sp>
    </p:spTree>
  </p:cSld>
  <p:clrMapOvr>
    <a:masterClrMapping/>
  </p:clrMapOvr>
  <p:transition>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p:txBody>
          <a:bodyPr/>
          <a:lstStyle/>
          <a:p>
            <a:r>
              <a:rPr lang="en-AU" sz="4000" smtClean="0">
                <a:ea typeface="ＭＳ Ｐゴシック"/>
                <a:cs typeface="ＭＳ Ｐゴシック"/>
              </a:rPr>
              <a:t>For those interested in the Statistics</a:t>
            </a:r>
            <a:endParaRPr lang="en-US" sz="4000" smtClean="0">
              <a:ea typeface="ＭＳ Ｐゴシック"/>
              <a:cs typeface="ＭＳ Ｐゴシック"/>
            </a:endParaRPr>
          </a:p>
        </p:txBody>
      </p:sp>
      <p:sp>
        <p:nvSpPr>
          <p:cNvPr id="28674" name="Rectangle 3"/>
          <p:cNvSpPr>
            <a:spLocks noGrp="1"/>
          </p:cNvSpPr>
          <p:nvPr>
            <p:ph type="body" idx="1"/>
          </p:nvPr>
        </p:nvSpPr>
        <p:spPr/>
        <p:txBody>
          <a:bodyPr/>
          <a:lstStyle/>
          <a:p>
            <a:pPr>
              <a:buFont typeface="Arial" charset="0"/>
              <a:buNone/>
            </a:pPr>
            <a:r>
              <a:rPr lang="en-AU" smtClean="0">
                <a:ea typeface="ＭＳ Ｐゴシック"/>
                <a:cs typeface="ＭＳ Ｐゴシック"/>
              </a:rPr>
              <a:t>   Freeman, J., Maxwell, J., &amp; Davey, J. (in press). </a:t>
            </a:r>
            <a:r>
              <a:rPr lang="en-US" smtClean="0">
                <a:ea typeface="ＭＳ Ｐゴシック"/>
                <a:cs typeface="ＭＳ Ｐゴシック"/>
              </a:rPr>
              <a:t>Unraveling the Complexity of Driving While Intoxicated: a Study into the Prevalence of Psychiatric and Substance Abuse Comorbidity.  </a:t>
            </a:r>
            <a:r>
              <a:rPr lang="en-US" i="1" smtClean="0">
                <a:ea typeface="ＭＳ Ｐゴシック"/>
                <a:cs typeface="ＭＳ Ｐゴシック"/>
              </a:rPr>
              <a:t>Accident Analysis and Prevention. </a:t>
            </a:r>
          </a:p>
        </p:txBody>
      </p:sp>
    </p:spTree>
  </p:cSld>
  <p:clrMapOvr>
    <a:masterClrMapping/>
  </p:clrMapOvr>
  <p:transition>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p:cNvSpPr>
          <p:nvPr>
            <p:ph type="title"/>
          </p:nvPr>
        </p:nvSpPr>
        <p:spPr/>
        <p:txBody>
          <a:bodyPr/>
          <a:lstStyle/>
          <a:p>
            <a:r>
              <a:rPr lang="en-AU" smtClean="0">
                <a:ea typeface="ＭＳ Ｐゴシック"/>
                <a:cs typeface="ＭＳ Ｐゴシック"/>
              </a:rPr>
              <a:t>SUBSTANCE PROBLEM</a:t>
            </a:r>
            <a:endParaRPr lang="en-US" smtClean="0">
              <a:ea typeface="ＭＳ Ｐゴシック"/>
              <a:cs typeface="ＭＳ Ｐゴシック"/>
            </a:endParaRPr>
          </a:p>
        </p:txBody>
      </p:sp>
      <p:sp>
        <p:nvSpPr>
          <p:cNvPr id="29698" name="Rectangle 3"/>
          <p:cNvSpPr>
            <a:spLocks noGrp="1"/>
          </p:cNvSpPr>
          <p:nvPr>
            <p:ph type="body" idx="1"/>
          </p:nvPr>
        </p:nvSpPr>
        <p:spPr/>
        <p:txBody>
          <a:bodyPr/>
          <a:lstStyle/>
          <a:p>
            <a:r>
              <a:rPr lang="en-US" smtClean="0">
                <a:ea typeface="ＭＳ Ｐゴシック"/>
                <a:cs typeface="ＭＳ Ｐゴシック"/>
              </a:rPr>
              <a:t>Primary Alcohol Problem 					65.9% </a:t>
            </a:r>
          </a:p>
          <a:p>
            <a:r>
              <a:rPr lang="en-US" smtClean="0">
                <a:ea typeface="ＭＳ Ｐゴシック"/>
                <a:cs typeface="ＭＳ Ｐゴシック"/>
              </a:rPr>
              <a:t>Primary Cannabis Problem				12.5%</a:t>
            </a:r>
          </a:p>
          <a:p>
            <a:r>
              <a:rPr lang="en-US" smtClean="0">
                <a:ea typeface="ＭＳ Ｐゴシック"/>
                <a:cs typeface="ＭＳ Ｐゴシック"/>
              </a:rPr>
              <a:t>Primary Cocaine Problem					8.6%</a:t>
            </a:r>
          </a:p>
          <a:p>
            <a:r>
              <a:rPr lang="en-US" smtClean="0">
                <a:ea typeface="ＭＳ Ｐゴシック"/>
                <a:cs typeface="ＭＳ Ｐゴシック"/>
              </a:rPr>
              <a:t>Primary Methamphetamine Problem4.7%</a:t>
            </a:r>
          </a:p>
          <a:p>
            <a:r>
              <a:rPr lang="en-US" smtClean="0">
                <a:ea typeface="ＭＳ Ｐゴシック"/>
                <a:cs typeface="ＭＳ Ｐゴシック"/>
              </a:rPr>
              <a:t>No Secondary Drug Problem			52.6%</a:t>
            </a:r>
          </a:p>
        </p:txBody>
      </p:sp>
    </p:spTree>
  </p:cSld>
  <p:clrMapOvr>
    <a:masterClrMapping/>
  </p:clrMapOvr>
  <p:transition>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p:txBody>
          <a:bodyPr/>
          <a:lstStyle/>
          <a:p>
            <a:r>
              <a:rPr lang="en-AU" smtClean="0">
                <a:ea typeface="ＭＳ Ｐゴシック"/>
                <a:cs typeface="ＭＳ Ｐゴシック"/>
              </a:rPr>
              <a:t>QUESTION 1</a:t>
            </a:r>
            <a:endParaRPr lang="en-US" smtClean="0">
              <a:ea typeface="ＭＳ Ｐゴシック"/>
              <a:cs typeface="ＭＳ Ｐゴシック"/>
            </a:endParaRPr>
          </a:p>
        </p:txBody>
      </p:sp>
      <p:sp>
        <p:nvSpPr>
          <p:cNvPr id="30722" name="Rectangle 3"/>
          <p:cNvSpPr>
            <a:spLocks noGrp="1"/>
          </p:cNvSpPr>
          <p:nvPr>
            <p:ph type="body" idx="1"/>
          </p:nvPr>
        </p:nvSpPr>
        <p:spPr/>
        <p:txBody>
          <a:bodyPr/>
          <a:lstStyle/>
          <a:p>
            <a:r>
              <a:rPr lang="en-AU" smtClean="0">
                <a:ea typeface="ＭＳ Ｐゴシック"/>
                <a:cs typeface="ＭＳ Ｐゴシック"/>
              </a:rPr>
              <a:t>85% had no diagnosis or condition on the DSM-IV Axis I or II</a:t>
            </a:r>
          </a:p>
          <a:p>
            <a:endParaRPr lang="en-AU" smtClean="0">
              <a:ea typeface="ＭＳ Ｐゴシック"/>
              <a:cs typeface="ＭＳ Ｐゴシック"/>
            </a:endParaRPr>
          </a:p>
          <a:p>
            <a:r>
              <a:rPr lang="en-AU" smtClean="0">
                <a:ea typeface="ＭＳ Ｐゴシック"/>
                <a:cs typeface="ＭＳ Ｐゴシック"/>
              </a:rPr>
              <a:t>15% received a DSM-IV diagnosis </a:t>
            </a:r>
          </a:p>
          <a:p>
            <a:pPr>
              <a:buFont typeface="Arial" charset="0"/>
              <a:buNone/>
            </a:pPr>
            <a:endParaRPr lang="en-AU" smtClean="0">
              <a:ea typeface="ＭＳ Ｐゴシック"/>
              <a:cs typeface="ＭＳ Ｐゴシック"/>
            </a:endParaRPr>
          </a:p>
          <a:p>
            <a:r>
              <a:rPr lang="en-AU" smtClean="0">
                <a:ea typeface="ＭＳ Ｐゴシック"/>
                <a:cs typeface="ＭＳ Ｐゴシック"/>
              </a:rPr>
              <a:t>Depression was the most common psychiatric problem experienced by all the clients</a:t>
            </a:r>
            <a:endParaRPr lang="en-US" smtClean="0">
              <a:ea typeface="ＭＳ Ｐゴシック"/>
              <a:cs typeface="ＭＳ Ｐゴシック"/>
            </a:endParaRPr>
          </a:p>
        </p:txBody>
      </p:sp>
    </p:spTree>
  </p:cSld>
  <p:clrMapOvr>
    <a:masterClrMapping/>
  </p:clrMapOvr>
  <p:transition>
    <p:dissolv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p:nvPr>
        </p:nvSpPr>
        <p:spPr/>
        <p:txBody>
          <a:bodyPr/>
          <a:lstStyle/>
          <a:p>
            <a:r>
              <a:rPr lang="en-AU" smtClean="0">
                <a:ea typeface="ＭＳ Ｐゴシック"/>
                <a:cs typeface="ＭＳ Ｐゴシック"/>
              </a:rPr>
              <a:t>QUESTION 1</a:t>
            </a:r>
            <a:endParaRPr lang="en-US" smtClean="0">
              <a:ea typeface="ＭＳ Ｐゴシック"/>
              <a:cs typeface="ＭＳ Ｐゴシック"/>
            </a:endParaRPr>
          </a:p>
        </p:txBody>
      </p:sp>
      <p:sp>
        <p:nvSpPr>
          <p:cNvPr id="31746" name="Rectangle 3"/>
          <p:cNvSpPr>
            <a:spLocks noGrp="1"/>
          </p:cNvSpPr>
          <p:nvPr>
            <p:ph type="body" idx="1"/>
          </p:nvPr>
        </p:nvSpPr>
        <p:spPr/>
        <p:txBody>
          <a:bodyPr/>
          <a:lstStyle/>
          <a:p>
            <a:pPr lvl="2">
              <a:buFont typeface="Arial" charset="0"/>
              <a:buNone/>
            </a:pPr>
            <a:r>
              <a:rPr lang="en-AU" sz="3200" smtClean="0">
                <a:ea typeface="ＭＳ Ｐゴシック"/>
              </a:rPr>
              <a:t>    DUI							  Non-DUI</a:t>
            </a:r>
            <a:endParaRPr lang="en-US" sz="3200" smtClean="0">
              <a:ea typeface="ＭＳ Ｐゴシック"/>
            </a:endParaRPr>
          </a:p>
          <a:p>
            <a:r>
              <a:rPr lang="en-US" sz="2800" smtClean="0">
                <a:ea typeface="ＭＳ Ｐゴシック"/>
                <a:cs typeface="ＭＳ Ｐゴシック"/>
              </a:rPr>
              <a:t>Depression			8.6%		Depression		11.8%</a:t>
            </a:r>
          </a:p>
          <a:p>
            <a:r>
              <a:rPr lang="en-US" sz="2800" smtClean="0">
                <a:ea typeface="ＭＳ Ｐゴシック"/>
                <a:cs typeface="ＭＳ Ｐゴシック"/>
              </a:rPr>
              <a:t>Bipolar				4.2% 		Bipolar			6.1%</a:t>
            </a:r>
          </a:p>
          <a:p>
            <a:r>
              <a:rPr lang="en-US" sz="2800" smtClean="0">
                <a:ea typeface="ＭＳ Ｐゴシック"/>
                <a:cs typeface="ＭＳ Ｐゴシック"/>
              </a:rPr>
              <a:t>Anxiety				1.7% 		Anxiety			1.7%</a:t>
            </a:r>
          </a:p>
          <a:p>
            <a:r>
              <a:rPr lang="en-US" sz="2800" smtClean="0">
                <a:ea typeface="ＭＳ Ｐゴシック"/>
                <a:cs typeface="ＭＳ Ｐゴシック"/>
              </a:rPr>
              <a:t>Schizophrenia		1.0%		Schizophrenia	2.5%</a:t>
            </a:r>
          </a:p>
          <a:p>
            <a:endParaRPr lang="en-AU" sz="2800" smtClean="0">
              <a:ea typeface="ＭＳ Ｐゴシック"/>
              <a:cs typeface="ＭＳ Ｐゴシック"/>
            </a:endParaRPr>
          </a:p>
          <a:p>
            <a:r>
              <a:rPr lang="en-AU" sz="2800" smtClean="0">
                <a:ea typeface="ＭＳ Ｐゴシック"/>
                <a:cs typeface="ＭＳ Ｐゴシック"/>
              </a:rPr>
              <a:t>DUI’s Program Completion 		59.7%</a:t>
            </a:r>
            <a:endParaRPr lang="en-US" sz="2800" smtClean="0">
              <a:ea typeface="ＭＳ Ｐゴシック"/>
              <a:cs typeface="ＭＳ Ｐゴシック"/>
            </a:endParaRPr>
          </a:p>
          <a:p>
            <a:r>
              <a:rPr lang="en-AU" sz="2800" smtClean="0">
                <a:ea typeface="ＭＳ Ｐゴシック"/>
                <a:cs typeface="ＭＳ Ｐゴシック"/>
              </a:rPr>
              <a:t>Non-DUI’s Program Completion 	69.1%</a:t>
            </a:r>
            <a:endParaRPr lang="en-US" sz="2800" smtClean="0">
              <a:ea typeface="ＭＳ Ｐゴシック"/>
              <a:cs typeface="ＭＳ Ｐゴシック"/>
            </a:endParaRPr>
          </a:p>
        </p:txBody>
      </p:sp>
    </p:spTree>
  </p:cSld>
  <p:clrMapOvr>
    <a:masterClrMapping/>
  </p:clrMapOvr>
  <p:transition>
    <p:dissolv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p:cNvSpPr>
          <p:nvPr>
            <p:ph type="title"/>
          </p:nvPr>
        </p:nvSpPr>
        <p:spPr/>
        <p:txBody>
          <a:bodyPr/>
          <a:lstStyle/>
          <a:p>
            <a:r>
              <a:rPr lang="en-AU" smtClean="0">
                <a:ea typeface="ＭＳ Ｐゴシック"/>
                <a:cs typeface="ＭＳ Ｐゴシック"/>
              </a:rPr>
              <a:t>SYMPTOMS </a:t>
            </a:r>
            <a:endParaRPr lang="en-US" smtClean="0">
              <a:ea typeface="ＭＳ Ｐゴシック"/>
              <a:cs typeface="ＭＳ Ｐゴシック"/>
            </a:endParaRPr>
          </a:p>
        </p:txBody>
      </p:sp>
      <p:sp>
        <p:nvSpPr>
          <p:cNvPr id="32770" name="Rectangle 3"/>
          <p:cNvSpPr>
            <a:spLocks noGrp="1"/>
          </p:cNvSpPr>
          <p:nvPr>
            <p:ph type="body" idx="1"/>
          </p:nvPr>
        </p:nvSpPr>
        <p:spPr/>
        <p:txBody>
          <a:bodyPr/>
          <a:lstStyle/>
          <a:p>
            <a:pPr>
              <a:lnSpc>
                <a:spcPct val="80000"/>
              </a:lnSpc>
              <a:buFont typeface="Arial" charset="0"/>
              <a:buNone/>
            </a:pPr>
            <a:r>
              <a:rPr lang="en-AU" sz="2000" smtClean="0">
                <a:solidFill>
                  <a:schemeClr val="accent1"/>
                </a:solidFill>
                <a:ea typeface="ＭＳ Ｐゴシック"/>
                <a:cs typeface="ＭＳ Ｐゴシック"/>
              </a:rPr>
              <a:t>Depression</a:t>
            </a:r>
          </a:p>
          <a:p>
            <a:pPr>
              <a:lnSpc>
                <a:spcPct val="80000"/>
              </a:lnSpc>
              <a:buFont typeface="Arial" charset="0"/>
              <a:buNone/>
            </a:pPr>
            <a:r>
              <a:rPr lang="en-AU" sz="2000" smtClean="0">
                <a:ea typeface="ＭＳ Ｐゴシック"/>
                <a:cs typeface="ＭＳ Ｐゴシック"/>
              </a:rPr>
              <a:t>- 	Sustained depressed mood, significant weight loss, insomnia or hypersomnia, fatigue, diminished ability to think or concentrate as well as suicide ideation </a:t>
            </a:r>
          </a:p>
          <a:p>
            <a:pPr>
              <a:lnSpc>
                <a:spcPct val="80000"/>
              </a:lnSpc>
              <a:buFont typeface="Arial" charset="0"/>
              <a:buNone/>
            </a:pPr>
            <a:endParaRPr lang="en-AU" sz="2000" smtClean="0">
              <a:solidFill>
                <a:schemeClr val="accent1"/>
              </a:solidFill>
              <a:ea typeface="ＭＳ Ｐゴシック"/>
              <a:cs typeface="ＭＳ Ｐゴシック"/>
            </a:endParaRPr>
          </a:p>
          <a:p>
            <a:pPr>
              <a:lnSpc>
                <a:spcPct val="80000"/>
              </a:lnSpc>
              <a:buFont typeface="Arial" charset="0"/>
              <a:buNone/>
            </a:pPr>
            <a:r>
              <a:rPr lang="en-AU" sz="2000" smtClean="0">
                <a:solidFill>
                  <a:schemeClr val="accent1"/>
                </a:solidFill>
                <a:ea typeface="ＭＳ Ｐゴシック"/>
                <a:cs typeface="ＭＳ Ｐゴシック"/>
              </a:rPr>
              <a:t>Anxiety</a:t>
            </a:r>
          </a:p>
          <a:p>
            <a:pPr>
              <a:lnSpc>
                <a:spcPct val="80000"/>
              </a:lnSpc>
              <a:buFont typeface="Arial" charset="0"/>
              <a:buNone/>
            </a:pPr>
            <a:r>
              <a:rPr lang="en-AU" sz="2000" smtClean="0">
                <a:ea typeface="ＭＳ Ｐゴシック"/>
                <a:cs typeface="ＭＳ Ｐゴシック"/>
              </a:rPr>
              <a:t>-    Uncontrollable worry that is extremely upsetting and stressful, anxiety significantly affects social and vocational functioning, is ongoing</a:t>
            </a:r>
          </a:p>
          <a:p>
            <a:pPr>
              <a:lnSpc>
                <a:spcPct val="80000"/>
              </a:lnSpc>
              <a:buFont typeface="Arial" charset="0"/>
              <a:buNone/>
            </a:pPr>
            <a:r>
              <a:rPr lang="en-AU" sz="2000" smtClean="0">
                <a:solidFill>
                  <a:schemeClr val="accent1"/>
                </a:solidFill>
                <a:ea typeface="ＭＳ Ｐゴシック"/>
                <a:cs typeface="ＭＳ Ｐゴシック"/>
              </a:rPr>
              <a:t>Bipolar</a:t>
            </a:r>
          </a:p>
          <a:p>
            <a:pPr>
              <a:lnSpc>
                <a:spcPct val="80000"/>
              </a:lnSpc>
              <a:buFont typeface="Arial" charset="0"/>
              <a:buNone/>
            </a:pPr>
            <a:r>
              <a:rPr lang="en-AU" sz="2000" smtClean="0">
                <a:ea typeface="ＭＳ Ｐゴシック"/>
                <a:cs typeface="ＭＳ Ｐゴシック"/>
              </a:rPr>
              <a:t>- Extreme mood instability, self-destructive habits, suicide ideation, etc</a:t>
            </a:r>
          </a:p>
          <a:p>
            <a:pPr>
              <a:lnSpc>
                <a:spcPct val="80000"/>
              </a:lnSpc>
              <a:buFont typeface="Arial" charset="0"/>
              <a:buNone/>
            </a:pPr>
            <a:endParaRPr lang="en-AU" sz="2000" smtClean="0">
              <a:ea typeface="ＭＳ Ｐゴシック"/>
              <a:cs typeface="ＭＳ Ｐゴシック"/>
            </a:endParaRPr>
          </a:p>
          <a:p>
            <a:pPr>
              <a:lnSpc>
                <a:spcPct val="80000"/>
              </a:lnSpc>
              <a:buFontTx/>
              <a:buNone/>
            </a:pPr>
            <a:r>
              <a:rPr lang="en-AU" sz="2000" smtClean="0">
                <a:solidFill>
                  <a:schemeClr val="accent1"/>
                </a:solidFill>
                <a:ea typeface="ＭＳ Ｐゴシック"/>
                <a:cs typeface="ＭＳ Ｐゴシック"/>
              </a:rPr>
              <a:t>Schizophrenia</a:t>
            </a:r>
          </a:p>
          <a:p>
            <a:pPr>
              <a:lnSpc>
                <a:spcPct val="80000"/>
              </a:lnSpc>
              <a:buFontTx/>
              <a:buChar char="-"/>
            </a:pPr>
            <a:r>
              <a:rPr lang="en-AU" sz="2000" smtClean="0">
                <a:ea typeface="ＭＳ Ｐゴシック"/>
                <a:cs typeface="ＭＳ Ｐゴシック"/>
              </a:rPr>
              <a:t>Formal thought disorder, perceptual disturbances (visual, auditory),</a:t>
            </a:r>
          </a:p>
          <a:p>
            <a:pPr>
              <a:lnSpc>
                <a:spcPct val="80000"/>
              </a:lnSpc>
              <a:buFontTx/>
              <a:buChar char="-"/>
            </a:pPr>
            <a:r>
              <a:rPr lang="en-AU" sz="2000" smtClean="0">
                <a:ea typeface="ＭＳ Ｐゴシック"/>
                <a:cs typeface="ＭＳ Ｐゴシック"/>
              </a:rPr>
              <a:t>Tremendous vocational and social impact  </a:t>
            </a:r>
            <a:endParaRPr lang="en-US" sz="2000" smtClean="0">
              <a:ea typeface="ＭＳ Ｐゴシック"/>
              <a:cs typeface="ＭＳ Ｐゴシック"/>
            </a:endParaRPr>
          </a:p>
        </p:txBody>
      </p:sp>
    </p:spTree>
  </p:cSld>
  <p:clrMapOvr>
    <a:masterClrMapping/>
  </p:clrMapOvr>
  <p:transition>
    <p:dissolv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type="title"/>
          </p:nvPr>
        </p:nvSpPr>
        <p:spPr/>
        <p:txBody>
          <a:bodyPr/>
          <a:lstStyle/>
          <a:p>
            <a:r>
              <a:rPr lang="en-AU" smtClean="0">
                <a:ea typeface="ＭＳ Ｐゴシック"/>
                <a:cs typeface="ＭＳ Ｐゴシック"/>
              </a:rPr>
              <a:t>QUESTION 1</a:t>
            </a:r>
            <a:endParaRPr lang="en-US" smtClean="0">
              <a:ea typeface="ＭＳ Ｐゴシック"/>
              <a:cs typeface="ＭＳ Ｐゴシック"/>
            </a:endParaRPr>
          </a:p>
        </p:txBody>
      </p:sp>
      <p:sp>
        <p:nvSpPr>
          <p:cNvPr id="33794" name="Rectangle 3"/>
          <p:cNvSpPr>
            <a:spLocks noGrp="1"/>
          </p:cNvSpPr>
          <p:nvPr>
            <p:ph type="body" idx="1"/>
          </p:nvPr>
        </p:nvSpPr>
        <p:spPr/>
        <p:txBody>
          <a:bodyPr/>
          <a:lstStyle/>
          <a:p>
            <a:r>
              <a:rPr lang="en-AU" smtClean="0">
                <a:ea typeface="ＭＳ Ｐゴシック"/>
                <a:cs typeface="ＭＳ Ｐゴシック"/>
              </a:rPr>
              <a:t>Of particular concern is that a Bipolar Disorder diagnosis was also associated with an:</a:t>
            </a:r>
          </a:p>
          <a:p>
            <a:pPr lvl="1"/>
            <a:r>
              <a:rPr lang="en-AU" smtClean="0">
                <a:ea typeface="ＭＳ Ｐゴシック"/>
              </a:rPr>
              <a:t>increased likelihood of not completing treatment; and</a:t>
            </a:r>
          </a:p>
          <a:p>
            <a:pPr lvl="1"/>
            <a:r>
              <a:rPr lang="en-AU" smtClean="0">
                <a:ea typeface="ＭＳ Ｐゴシック"/>
              </a:rPr>
              <a:t>Primary problems with opiates. </a:t>
            </a:r>
            <a:endParaRPr lang="en-US" smtClean="0">
              <a:ea typeface="ＭＳ Ｐゴシック"/>
            </a:endParaRPr>
          </a:p>
        </p:txBody>
      </p:sp>
    </p:spTree>
  </p:cSld>
  <p:clrMapOvr>
    <a:masterClrMapping/>
  </p:clrMapOvr>
  <p:transition>
    <p:dissolv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p:txBody>
          <a:bodyPr/>
          <a:lstStyle/>
          <a:p>
            <a:r>
              <a:rPr lang="en-AU" smtClean="0">
                <a:ea typeface="ＭＳ Ｐゴシック"/>
                <a:cs typeface="ＭＳ Ｐゴシック"/>
              </a:rPr>
              <a:t>SYMPTOMS OF BIPOLAR</a:t>
            </a:r>
            <a:endParaRPr lang="en-US" smtClean="0">
              <a:ea typeface="ＭＳ Ｐゴシック"/>
              <a:cs typeface="ＭＳ Ｐゴシック"/>
            </a:endParaRPr>
          </a:p>
        </p:txBody>
      </p:sp>
      <p:sp>
        <p:nvSpPr>
          <p:cNvPr id="34818" name="Rectangle 3"/>
          <p:cNvSpPr>
            <a:spLocks noGrp="1"/>
          </p:cNvSpPr>
          <p:nvPr>
            <p:ph type="body" idx="1"/>
          </p:nvPr>
        </p:nvSpPr>
        <p:spPr/>
        <p:txBody>
          <a:bodyPr/>
          <a:lstStyle/>
          <a:p>
            <a:pPr>
              <a:buFontTx/>
              <a:buChar char="•"/>
            </a:pPr>
            <a:r>
              <a:rPr lang="en-AU" smtClean="0">
                <a:ea typeface="ＭＳ Ｐゴシック"/>
                <a:cs typeface="ＭＳ Ｐゴシック"/>
              </a:rPr>
              <a:t>Extreme mood instability</a:t>
            </a:r>
          </a:p>
          <a:p>
            <a:pPr>
              <a:buFontTx/>
              <a:buChar char="•"/>
            </a:pPr>
            <a:r>
              <a:rPr lang="en-AU" smtClean="0">
                <a:ea typeface="ＭＳ Ｐゴシック"/>
                <a:cs typeface="ＭＳ Ｐゴシック"/>
              </a:rPr>
              <a:t>Manic Episodes &amp; Depressed Episodes</a:t>
            </a:r>
          </a:p>
          <a:p>
            <a:pPr>
              <a:buFontTx/>
              <a:buChar char="•"/>
            </a:pPr>
            <a:r>
              <a:rPr lang="en-AU" smtClean="0">
                <a:ea typeface="ＭＳ Ｐゴシック"/>
                <a:cs typeface="ＭＳ Ｐゴシック"/>
              </a:rPr>
              <a:t>Clinically significant distress or impairment in vocational, social and personal functioning</a:t>
            </a:r>
          </a:p>
          <a:p>
            <a:pPr>
              <a:buFontTx/>
              <a:buChar char="•"/>
            </a:pPr>
            <a:r>
              <a:rPr lang="en-AU" smtClean="0">
                <a:ea typeface="ＭＳ Ｐゴシック"/>
                <a:cs typeface="ＭＳ Ｐゴシック"/>
              </a:rPr>
              <a:t>Use substances to manage mood instability</a:t>
            </a:r>
            <a:endParaRPr lang="en-US" smtClean="0">
              <a:ea typeface="ＭＳ Ｐゴシック"/>
              <a:cs typeface="ＭＳ Ｐゴシック"/>
            </a:endParaRPr>
          </a:p>
        </p:txBody>
      </p:sp>
    </p:spTree>
  </p:cSld>
  <p:clrMapOvr>
    <a:masterClrMapping/>
  </p:clrMapOvr>
  <p:transition>
    <p:dissolv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p:cNvSpPr>
          <p:nvPr>
            <p:ph type="title"/>
          </p:nvPr>
        </p:nvSpPr>
        <p:spPr/>
        <p:txBody>
          <a:bodyPr/>
          <a:lstStyle/>
          <a:p>
            <a:r>
              <a:rPr lang="en-AU" smtClean="0">
                <a:ea typeface="ＭＳ Ｐゴシック"/>
                <a:cs typeface="ＭＳ Ｐゴシック"/>
              </a:rPr>
              <a:t>QUESTION 2</a:t>
            </a:r>
            <a:endParaRPr lang="en-US" smtClean="0">
              <a:ea typeface="ＭＳ Ｐゴシック"/>
              <a:cs typeface="ＭＳ Ｐゴシック"/>
            </a:endParaRPr>
          </a:p>
        </p:txBody>
      </p:sp>
      <p:sp>
        <p:nvSpPr>
          <p:cNvPr id="35842" name="Rectangle 3"/>
          <p:cNvSpPr>
            <a:spLocks noGrp="1"/>
          </p:cNvSpPr>
          <p:nvPr>
            <p:ph type="body" idx="1"/>
          </p:nvPr>
        </p:nvSpPr>
        <p:spPr/>
        <p:txBody>
          <a:bodyPr/>
          <a:lstStyle/>
          <a:p>
            <a:r>
              <a:rPr lang="en-AU" smtClean="0">
                <a:ea typeface="ＭＳ Ｐゴシック"/>
                <a:cs typeface="ＭＳ Ｐゴシック"/>
              </a:rPr>
              <a:t>First vs Repeat offenders</a:t>
            </a:r>
          </a:p>
          <a:p>
            <a:pPr lvl="1"/>
            <a:r>
              <a:rPr lang="en-AU" smtClean="0">
                <a:ea typeface="ＭＳ Ｐゴシック"/>
              </a:rPr>
              <a:t>Repeat offenders were more impaired than those with only one DUI arrest</a:t>
            </a:r>
            <a:r>
              <a:rPr lang="en-US" smtClean="0">
                <a:ea typeface="ＭＳ Ｐゴシック"/>
              </a:rPr>
              <a:t> in regards to the Addiction Severity Index (ASI)</a:t>
            </a:r>
          </a:p>
          <a:p>
            <a:pPr lvl="1"/>
            <a:r>
              <a:rPr lang="en-AU" smtClean="0">
                <a:ea typeface="ＭＳ Ｐゴシック"/>
              </a:rPr>
              <a:t>Were more likely to have a history of injection drug use and to have used daily</a:t>
            </a:r>
            <a:r>
              <a:rPr lang="en-US" smtClean="0">
                <a:ea typeface="ＭＳ Ｐゴシック"/>
              </a:rPr>
              <a:t> </a:t>
            </a:r>
          </a:p>
          <a:p>
            <a:pPr lvl="1"/>
            <a:r>
              <a:rPr lang="en-AU" smtClean="0">
                <a:ea typeface="ＭＳ Ｐゴシック"/>
              </a:rPr>
              <a:t>First offenders more likely to have cannabis problems while recidivist offenders had alcohol problems</a:t>
            </a:r>
            <a:endParaRPr lang="en-US" smtClean="0">
              <a:ea typeface="ＭＳ Ｐゴシック"/>
            </a:endParaRPr>
          </a:p>
        </p:txBody>
      </p:sp>
    </p:spTree>
  </p:cSld>
  <p:clrMapOvr>
    <a:masterClrMapping/>
  </p:clrMapOvr>
  <p:transition>
    <p:dissolv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p:cNvSpPr>
          <p:nvPr>
            <p:ph type="title" idx="4294967295"/>
          </p:nvPr>
        </p:nvSpPr>
        <p:spPr/>
        <p:txBody>
          <a:bodyPr/>
          <a:lstStyle/>
          <a:p>
            <a:r>
              <a:rPr lang="en-AU" smtClean="0">
                <a:ea typeface="ＭＳ Ｐゴシック"/>
                <a:cs typeface="ＭＳ Ｐゴシック"/>
              </a:rPr>
              <a:t>QUESTION 3</a:t>
            </a:r>
            <a:endParaRPr lang="en-US" smtClean="0">
              <a:ea typeface="ＭＳ Ｐゴシック"/>
              <a:cs typeface="ＭＳ Ｐゴシック"/>
            </a:endParaRPr>
          </a:p>
        </p:txBody>
      </p:sp>
      <p:sp>
        <p:nvSpPr>
          <p:cNvPr id="36866" name="Rectangle 3"/>
          <p:cNvSpPr>
            <a:spLocks noGrp="1"/>
          </p:cNvSpPr>
          <p:nvPr>
            <p:ph type="body" idx="4294967295"/>
          </p:nvPr>
        </p:nvSpPr>
        <p:spPr/>
        <p:txBody>
          <a:bodyPr/>
          <a:lstStyle/>
          <a:p>
            <a:pPr lvl="2">
              <a:buFont typeface="Arial" charset="0"/>
              <a:buNone/>
            </a:pPr>
            <a:r>
              <a:rPr lang="en-AU" sz="3200" smtClean="0">
                <a:ea typeface="ＭＳ Ｐゴシック"/>
              </a:rPr>
              <a:t>FEMALES						MALES</a:t>
            </a:r>
            <a:endParaRPr lang="en-US" sz="3200" smtClean="0">
              <a:ea typeface="ＭＳ Ｐゴシック"/>
            </a:endParaRPr>
          </a:p>
          <a:p>
            <a:r>
              <a:rPr lang="en-US" sz="2800" smtClean="0">
                <a:ea typeface="ＭＳ Ｐゴシック"/>
                <a:cs typeface="ＭＳ Ｐゴシック"/>
              </a:rPr>
              <a:t>Depression		   13.7%		Depression		6.3%</a:t>
            </a:r>
          </a:p>
          <a:p>
            <a:r>
              <a:rPr lang="en-US" sz="2800" smtClean="0">
                <a:ea typeface="ＭＳ Ｐゴシック"/>
                <a:cs typeface="ＭＳ Ｐゴシック"/>
              </a:rPr>
              <a:t>Bipolar				7.8% 		Bipolar			2.8%</a:t>
            </a:r>
          </a:p>
          <a:p>
            <a:r>
              <a:rPr lang="en-US" sz="2800" smtClean="0">
                <a:ea typeface="ＭＳ Ｐゴシック"/>
                <a:cs typeface="ＭＳ Ｐゴシック"/>
              </a:rPr>
              <a:t>Anxiety				2.7% 		Anxiety			1.2%</a:t>
            </a:r>
          </a:p>
          <a:p>
            <a:r>
              <a:rPr lang="en-US" sz="2800" smtClean="0">
                <a:ea typeface="ＭＳ Ｐゴシック"/>
                <a:cs typeface="ＭＳ Ｐゴシック"/>
              </a:rPr>
              <a:t>Schizophrenia		0.9%		Schizophrenia	1.0%</a:t>
            </a:r>
          </a:p>
          <a:p>
            <a:endParaRPr lang="en-AU" sz="2800" smtClean="0">
              <a:ea typeface="ＭＳ Ｐゴシック"/>
              <a:cs typeface="ＭＳ Ｐゴシック"/>
            </a:endParaRPr>
          </a:p>
          <a:p>
            <a:endParaRPr lang="en-US" smtClean="0">
              <a:ea typeface="ＭＳ Ｐゴシック"/>
              <a:cs typeface="ＭＳ Ｐゴシック"/>
            </a:endParaRPr>
          </a:p>
        </p:txBody>
      </p:sp>
    </p:spTree>
  </p:cSld>
  <p:clrMapOvr>
    <a:masterClrMapping/>
  </p:clrMapOvr>
  <p:transition>
    <p:dissolv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p:nvPr>
        </p:nvSpPr>
        <p:spPr/>
        <p:txBody>
          <a:bodyPr/>
          <a:lstStyle/>
          <a:p>
            <a:r>
              <a:rPr lang="en-AU" smtClean="0">
                <a:ea typeface="ＭＳ Ｐゴシック"/>
                <a:cs typeface="ＭＳ Ｐゴシック"/>
              </a:rPr>
              <a:t>QUESTION 3</a:t>
            </a:r>
            <a:endParaRPr lang="en-US" smtClean="0">
              <a:ea typeface="ＭＳ Ｐゴシック"/>
              <a:cs typeface="ＭＳ Ｐゴシック"/>
            </a:endParaRPr>
          </a:p>
        </p:txBody>
      </p:sp>
      <p:sp>
        <p:nvSpPr>
          <p:cNvPr id="37890" name="Rectangle 3"/>
          <p:cNvSpPr>
            <a:spLocks noGrp="1"/>
          </p:cNvSpPr>
          <p:nvPr>
            <p:ph type="body" idx="1"/>
          </p:nvPr>
        </p:nvSpPr>
        <p:spPr/>
        <p:txBody>
          <a:bodyPr/>
          <a:lstStyle/>
          <a:p>
            <a:r>
              <a:rPr lang="en-AU" smtClean="0">
                <a:ea typeface="ＭＳ Ｐゴシック"/>
                <a:cs typeface="ＭＳ Ｐゴシック"/>
              </a:rPr>
              <a:t>Female DUIs were more likely than males to have problems with methamphetamine, cocaine, and opiates</a:t>
            </a:r>
          </a:p>
          <a:p>
            <a:r>
              <a:rPr lang="en-AU" smtClean="0">
                <a:ea typeface="ＭＳ Ｐゴシック"/>
                <a:cs typeface="ＭＳ Ｐゴシック"/>
              </a:rPr>
              <a:t>Females were also more likely to be placed on medication at treatment commencement.</a:t>
            </a:r>
            <a:endParaRPr lang="en-US" smtClean="0">
              <a:ea typeface="ＭＳ Ｐゴシック"/>
              <a:cs typeface="ＭＳ Ｐゴシック"/>
            </a:endParaRPr>
          </a:p>
        </p:txBody>
      </p:sp>
    </p:spTree>
  </p:cSld>
  <p:clrMapOvr>
    <a:masterClrMapping/>
  </p:clrMapOvr>
  <p:transition>
    <p:dissolv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p:cNvSpPr>
          <p:nvPr>
            <p:ph type="title"/>
          </p:nvPr>
        </p:nvSpPr>
        <p:spPr/>
        <p:txBody>
          <a:bodyPr/>
          <a:lstStyle/>
          <a:p>
            <a:r>
              <a:rPr lang="en-AU" smtClean="0">
                <a:ea typeface="ＭＳ Ｐゴシック"/>
                <a:cs typeface="ＭＳ Ｐゴシック"/>
              </a:rPr>
              <a:t>OVERVIEW </a:t>
            </a:r>
            <a:endParaRPr lang="en-US" smtClean="0">
              <a:ea typeface="ＭＳ Ｐゴシック"/>
              <a:cs typeface="ＭＳ Ｐゴシック"/>
            </a:endParaRPr>
          </a:p>
        </p:txBody>
      </p:sp>
      <p:sp>
        <p:nvSpPr>
          <p:cNvPr id="38914" name="Rectangle 3"/>
          <p:cNvSpPr>
            <a:spLocks noGrp="1"/>
          </p:cNvSpPr>
          <p:nvPr>
            <p:ph type="body" idx="1"/>
          </p:nvPr>
        </p:nvSpPr>
        <p:spPr>
          <a:xfrm>
            <a:off x="374650" y="1176338"/>
            <a:ext cx="8229600" cy="4525962"/>
          </a:xfrm>
        </p:spPr>
        <p:txBody>
          <a:bodyPr/>
          <a:lstStyle/>
          <a:p>
            <a:pPr>
              <a:buFontTx/>
              <a:buChar char="•"/>
            </a:pPr>
            <a:r>
              <a:rPr lang="en-AU" sz="2400" smtClean="0">
                <a:ea typeface="ＭＳ Ｐゴシック"/>
                <a:cs typeface="ＭＳ Ｐゴシック"/>
              </a:rPr>
              <a:t>DUI clients were most likely to have a primary problem with alcohol.</a:t>
            </a:r>
          </a:p>
          <a:p>
            <a:pPr>
              <a:buFontTx/>
              <a:buChar char="•"/>
            </a:pPr>
            <a:r>
              <a:rPr lang="en-AU" sz="2400" smtClean="0">
                <a:ea typeface="ＭＳ Ｐゴシック"/>
                <a:cs typeface="ＭＳ Ｐゴシック"/>
              </a:rPr>
              <a:t>However, an increasing proportion of DUI offenders entering treatment had a primary drug-related problem e.g., cannabis</a:t>
            </a:r>
          </a:p>
          <a:p>
            <a:r>
              <a:rPr lang="en-AU" sz="2400" smtClean="0">
                <a:ea typeface="ＭＳ Ｐゴシック"/>
                <a:cs typeface="ＭＳ Ｐゴシック"/>
              </a:rPr>
              <a:t>DUI population is at risk of presenting with a psychiatric disorder, in particular, a mood disorder</a:t>
            </a:r>
          </a:p>
          <a:p>
            <a:r>
              <a:rPr lang="en-AU" sz="2400" smtClean="0">
                <a:ea typeface="ＭＳ Ｐゴシック"/>
                <a:cs typeface="ＭＳ Ｐゴシック"/>
              </a:rPr>
              <a:t>In regards to co-morbid psychiatric conditions, it is noteworthy that Depression was the most common psychiatric condition recorded by DUI clients, although Bipolar and Anxiety-based disorders were substantial </a:t>
            </a:r>
          </a:p>
          <a:p>
            <a:r>
              <a:rPr lang="en-AU" sz="2400" smtClean="0">
                <a:ea typeface="ＭＳ Ｐゴシック"/>
                <a:cs typeface="ＭＳ Ｐゴシック"/>
              </a:rPr>
              <a:t>Females were more likely to be diagnosed with a mental health problem, have substance abuse problems and be medicated.</a:t>
            </a:r>
          </a:p>
          <a:p>
            <a:endParaRPr lang="en-US" sz="2400" smtClean="0">
              <a:ea typeface="ＭＳ Ｐゴシック"/>
              <a:cs typeface="ＭＳ Ｐゴシック"/>
            </a:endParaRPr>
          </a:p>
        </p:txBody>
      </p:sp>
    </p:spTree>
  </p:cSld>
  <p:clrMapOvr>
    <a:masterClrMapping/>
  </p:clrMapOvr>
  <p:transition>
    <p:dissolv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p:cNvSpPr>
          <p:nvPr>
            <p:ph type="title"/>
          </p:nvPr>
        </p:nvSpPr>
        <p:spPr/>
        <p:txBody>
          <a:bodyPr/>
          <a:lstStyle/>
          <a:p>
            <a:r>
              <a:rPr lang="en-AU" smtClean="0">
                <a:ea typeface="ＭＳ Ｐゴシック"/>
                <a:cs typeface="ＭＳ Ｐゴシック"/>
              </a:rPr>
              <a:t>DISCUSSION</a:t>
            </a:r>
            <a:endParaRPr lang="en-US" smtClean="0">
              <a:ea typeface="ＭＳ Ｐゴシック"/>
              <a:cs typeface="ＭＳ Ｐゴシック"/>
            </a:endParaRPr>
          </a:p>
        </p:txBody>
      </p:sp>
      <p:sp>
        <p:nvSpPr>
          <p:cNvPr id="39938" name="Rectangle 3"/>
          <p:cNvSpPr>
            <a:spLocks noGrp="1"/>
          </p:cNvSpPr>
          <p:nvPr>
            <p:ph type="body" idx="1"/>
          </p:nvPr>
        </p:nvSpPr>
        <p:spPr/>
        <p:txBody>
          <a:bodyPr/>
          <a:lstStyle/>
          <a:p>
            <a:pPr lvl="1">
              <a:buFontTx/>
              <a:buChar char="•"/>
            </a:pPr>
            <a:r>
              <a:rPr lang="en-AU" smtClean="0">
                <a:ea typeface="ＭＳ Ｐゴシック"/>
              </a:rPr>
              <a:t>We need to screen, identify and treat the clinically significant impairment of such disorders </a:t>
            </a:r>
          </a:p>
          <a:p>
            <a:pPr lvl="1">
              <a:buFontTx/>
              <a:buChar char="•"/>
            </a:pPr>
            <a:r>
              <a:rPr lang="en-AU" smtClean="0">
                <a:ea typeface="ＭＳ Ｐゴシック"/>
              </a:rPr>
              <a:t>Such individuals are at an increased risk of non-program completion, which increases risk of recidivism </a:t>
            </a:r>
          </a:p>
          <a:p>
            <a:pPr lvl="1">
              <a:buFontTx/>
              <a:buChar char="•"/>
            </a:pPr>
            <a:r>
              <a:rPr lang="en-AU" smtClean="0">
                <a:ea typeface="ＭＳ Ｐゴシック"/>
              </a:rPr>
              <a:t>Need to recognise that females are just at risk (or more) of substance or psychiatric impairment </a:t>
            </a:r>
          </a:p>
          <a:p>
            <a:pPr lvl="1">
              <a:buFontTx/>
              <a:buChar char="•"/>
            </a:pPr>
            <a:endParaRPr lang="en-AU" smtClean="0">
              <a:ea typeface="ＭＳ Ｐゴシック"/>
            </a:endParaRPr>
          </a:p>
          <a:p>
            <a:pPr lvl="1">
              <a:buFontTx/>
              <a:buChar char="•"/>
            </a:pPr>
            <a:endParaRPr lang="en-US" smtClean="0">
              <a:ea typeface="ＭＳ Ｐゴシック"/>
            </a:endParaRPr>
          </a:p>
          <a:p>
            <a:endParaRPr lang="en-AU" smtClean="0">
              <a:ea typeface="ＭＳ Ｐゴシック"/>
              <a:cs typeface="ＭＳ Ｐゴシック"/>
            </a:endParaRPr>
          </a:p>
          <a:p>
            <a:endParaRPr lang="en-US" smtClean="0">
              <a:ea typeface="ＭＳ Ｐゴシック"/>
              <a:cs typeface="ＭＳ Ｐゴシック"/>
            </a:endParaRPr>
          </a:p>
        </p:txBody>
      </p:sp>
    </p:spTree>
  </p:cSld>
  <p:clrMapOvr>
    <a:masterClrMapping/>
  </p:clrMapOvr>
  <p:transition>
    <p:dissolv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p:cNvSpPr>
          <p:nvPr>
            <p:ph type="title" idx="4294967295"/>
          </p:nvPr>
        </p:nvSpPr>
        <p:spPr/>
        <p:txBody>
          <a:bodyPr/>
          <a:lstStyle/>
          <a:p>
            <a:r>
              <a:rPr lang="en-AU" smtClean="0">
                <a:ea typeface="ＭＳ Ｐゴシック"/>
                <a:cs typeface="ＭＳ Ｐゴシック"/>
              </a:rPr>
              <a:t>DISCUSSION</a:t>
            </a:r>
            <a:endParaRPr lang="en-US" smtClean="0">
              <a:ea typeface="ＭＳ Ｐゴシック"/>
              <a:cs typeface="ＭＳ Ｐゴシック"/>
            </a:endParaRPr>
          </a:p>
        </p:txBody>
      </p:sp>
      <p:sp>
        <p:nvSpPr>
          <p:cNvPr id="40962" name="Rectangle 3"/>
          <p:cNvSpPr>
            <a:spLocks noGrp="1"/>
          </p:cNvSpPr>
          <p:nvPr>
            <p:ph type="body" idx="4294967295"/>
          </p:nvPr>
        </p:nvSpPr>
        <p:spPr/>
        <p:txBody>
          <a:bodyPr/>
          <a:lstStyle/>
          <a:p>
            <a:pPr lvl="1">
              <a:buFontTx/>
              <a:buChar char="•"/>
            </a:pPr>
            <a:r>
              <a:rPr lang="en-AU" sz="2000" smtClean="0">
                <a:ea typeface="ＭＳ Ｐゴシック"/>
              </a:rPr>
              <a:t>Need to ensure the use of effective and widely-used mental health and substance abuse screening methods for individuals who are first arrested for a DUI offence, rather than delay such processes until those at risk re-offend and/or possibly experience a deterioration in their condition;</a:t>
            </a:r>
            <a:r>
              <a:rPr lang="en-US" sz="2000" smtClean="0">
                <a:ea typeface="ＭＳ Ｐゴシック"/>
              </a:rPr>
              <a:t> </a:t>
            </a:r>
          </a:p>
          <a:p>
            <a:pPr lvl="1">
              <a:buFontTx/>
              <a:buChar char="•"/>
            </a:pPr>
            <a:r>
              <a:rPr lang="en-AU" sz="2000" smtClean="0">
                <a:ea typeface="ＭＳ Ｐゴシック"/>
              </a:rPr>
              <a:t>Under diagnosis of mental health issues remains a concern</a:t>
            </a:r>
          </a:p>
          <a:p>
            <a:pPr lvl="2">
              <a:buFontTx/>
              <a:buChar char="•"/>
            </a:pPr>
            <a:r>
              <a:rPr lang="en-AU" sz="2000" smtClean="0">
                <a:ea typeface="ＭＳ Ｐゴシック"/>
              </a:rPr>
              <a:t>8 year lag between symptom onset and diagnosis </a:t>
            </a:r>
          </a:p>
          <a:p>
            <a:pPr lvl="2">
              <a:buFontTx/>
              <a:buChar char="•"/>
            </a:pPr>
            <a:r>
              <a:rPr lang="en-AU" sz="2000" smtClean="0">
                <a:ea typeface="ＭＳ Ｐゴシック"/>
              </a:rPr>
              <a:t>Under diagnosis has clear implications for relapse</a:t>
            </a:r>
          </a:p>
          <a:p>
            <a:pPr lvl="2">
              <a:buFontTx/>
              <a:buChar char="•"/>
            </a:pPr>
            <a:r>
              <a:rPr lang="en-AU" sz="2000" smtClean="0">
                <a:ea typeface="ＭＳ Ｐゴシック"/>
              </a:rPr>
              <a:t>Shorter periods of untreated illness have better outcomes</a:t>
            </a:r>
          </a:p>
          <a:p>
            <a:pPr lvl="1">
              <a:buFontTx/>
              <a:buChar char="•"/>
            </a:pPr>
            <a:r>
              <a:rPr lang="en-AU" sz="2000" smtClean="0">
                <a:ea typeface="ＭＳ Ｐゴシック"/>
              </a:rPr>
              <a:t>In regards to DUI treatment, we need to ensure we look beyond just alcohol-related issues to identify and treat other factors</a:t>
            </a:r>
          </a:p>
          <a:p>
            <a:pPr lvl="1">
              <a:buFontTx/>
              <a:buNone/>
            </a:pPr>
            <a:r>
              <a:rPr lang="en-AU" smtClean="0">
                <a:ea typeface="ＭＳ Ｐゴシック"/>
              </a:rPr>
              <a:t> </a:t>
            </a:r>
          </a:p>
          <a:p>
            <a:pPr lvl="1">
              <a:buFontTx/>
              <a:buChar char="•"/>
            </a:pPr>
            <a:endParaRPr lang="en-US" smtClean="0">
              <a:ea typeface="ＭＳ Ｐゴシック"/>
            </a:endParaRPr>
          </a:p>
          <a:p>
            <a:endParaRPr lang="en-AU" smtClean="0">
              <a:ea typeface="ＭＳ Ｐゴシック"/>
              <a:cs typeface="ＭＳ Ｐゴシック"/>
            </a:endParaRPr>
          </a:p>
          <a:p>
            <a:endParaRPr lang="en-US" smtClean="0">
              <a:ea typeface="ＭＳ Ｐゴシック"/>
              <a:cs typeface="ＭＳ Ｐゴシック"/>
            </a:endParaRPr>
          </a:p>
        </p:txBody>
      </p:sp>
    </p:spTree>
  </p:cSld>
  <p:clrMapOvr>
    <a:masterClrMapping/>
  </p:clrMapOvr>
  <p:transition>
    <p:dissolv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p:cNvSpPr>
          <p:nvPr>
            <p:ph type="title"/>
          </p:nvPr>
        </p:nvSpPr>
        <p:spPr/>
        <p:txBody>
          <a:bodyPr/>
          <a:lstStyle/>
          <a:p>
            <a:r>
              <a:rPr lang="en-AU" smtClean="0">
                <a:ea typeface="ＭＳ Ｐゴシック"/>
                <a:cs typeface="ＭＳ Ｐゴシック"/>
              </a:rPr>
              <a:t>TREATMENT</a:t>
            </a:r>
            <a:endParaRPr lang="en-US" smtClean="0">
              <a:ea typeface="ＭＳ Ｐゴシック"/>
              <a:cs typeface="ＭＳ Ｐゴシック"/>
            </a:endParaRPr>
          </a:p>
        </p:txBody>
      </p:sp>
      <p:sp>
        <p:nvSpPr>
          <p:cNvPr id="41986" name="Rectangle 3"/>
          <p:cNvSpPr>
            <a:spLocks noGrp="1"/>
          </p:cNvSpPr>
          <p:nvPr>
            <p:ph type="body" idx="1"/>
          </p:nvPr>
        </p:nvSpPr>
        <p:spPr/>
        <p:txBody>
          <a:bodyPr/>
          <a:lstStyle/>
          <a:p>
            <a:r>
              <a:rPr lang="en-AU" smtClean="0">
                <a:ea typeface="ＭＳ Ｐゴシック"/>
                <a:cs typeface="ＭＳ Ｐゴシック"/>
              </a:rPr>
              <a:t>While there is scant research that has focused on the impact that such mood disorders have on the driving task, treating the negative symptoms associated with mental health problems can only improve an individual’s driving capacity.</a:t>
            </a:r>
            <a:endParaRPr lang="en-US" smtClean="0">
              <a:ea typeface="ＭＳ Ｐゴシック"/>
              <a:cs typeface="ＭＳ Ｐゴシック"/>
            </a:endParaRPr>
          </a:p>
        </p:txBody>
      </p:sp>
    </p:spTree>
  </p:cSld>
  <p:clrMapOvr>
    <a:masterClrMapping/>
  </p:clrMapOvr>
  <p:transition>
    <p:dissolv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Content Placeholder 2"/>
          <p:cNvSpPr>
            <a:spLocks noGrp="1"/>
          </p:cNvSpPr>
          <p:nvPr>
            <p:ph idx="4294967295"/>
          </p:nvPr>
        </p:nvSpPr>
        <p:spPr>
          <a:xfrm>
            <a:off x="457200" y="1143000"/>
            <a:ext cx="8229600" cy="5000625"/>
          </a:xfrm>
        </p:spPr>
        <p:txBody>
          <a:bodyPr/>
          <a:lstStyle/>
          <a:p>
            <a:pPr algn="ctr">
              <a:buFont typeface="Arial" charset="0"/>
              <a:buNone/>
            </a:pPr>
            <a:endParaRPr lang="en-AU" smtClean="0">
              <a:ea typeface="ＭＳ Ｐゴシック"/>
              <a:cs typeface="ＭＳ Ｐゴシック"/>
            </a:endParaRPr>
          </a:p>
          <a:p>
            <a:pPr algn="ctr">
              <a:buFont typeface="Arial" charset="0"/>
              <a:buNone/>
            </a:pPr>
            <a:endParaRPr lang="en-AU" smtClean="0">
              <a:ea typeface="ＭＳ Ｐゴシック"/>
              <a:cs typeface="ＭＳ Ｐゴシック"/>
            </a:endParaRPr>
          </a:p>
          <a:p>
            <a:pPr algn="ctr">
              <a:buFont typeface="Arial" charset="0"/>
              <a:buNone/>
            </a:pPr>
            <a:r>
              <a:rPr lang="en-AU" sz="4800" b="1" smtClean="0">
                <a:ea typeface="ＭＳ Ｐゴシック"/>
                <a:cs typeface="ＭＳ Ｐゴシック"/>
              </a:rPr>
              <a:t>Questions?</a:t>
            </a:r>
          </a:p>
          <a:p>
            <a:pPr>
              <a:buFont typeface="Arial" charset="0"/>
              <a:buNone/>
            </a:pPr>
            <a:endParaRPr lang="en-AU" smtClean="0">
              <a:ea typeface="ＭＳ Ｐゴシック"/>
              <a:cs typeface="ＭＳ Ｐゴシック"/>
            </a:endParaRPr>
          </a:p>
          <a:p>
            <a:pPr>
              <a:buFont typeface="Arial" charset="0"/>
              <a:buNone/>
            </a:pPr>
            <a:endParaRPr lang="en-AU" smtClean="0">
              <a:ea typeface="ＭＳ Ｐゴシック"/>
              <a:cs typeface="ＭＳ Ｐゴシック"/>
            </a:endParaRPr>
          </a:p>
          <a:p>
            <a:pPr algn="ctr">
              <a:buFont typeface="Arial" charset="0"/>
              <a:buNone/>
            </a:pPr>
            <a:r>
              <a:rPr lang="en-AU" sz="2400" b="1" i="1" smtClean="0">
                <a:ea typeface="ＭＳ Ｐゴシック"/>
                <a:cs typeface="ＭＳ Ｐゴシック"/>
              </a:rPr>
              <a:t>Mark your Diaries!</a:t>
            </a:r>
          </a:p>
          <a:p>
            <a:pPr algn="ctr">
              <a:buFont typeface="Arial" charset="0"/>
              <a:buNone/>
            </a:pPr>
            <a:r>
              <a:rPr lang="en-AU" sz="2400" i="1" smtClean="0">
                <a:ea typeface="ＭＳ Ｐゴシック"/>
                <a:cs typeface="ＭＳ Ｐゴシック"/>
              </a:rPr>
              <a:t>International Council on Alcohol, Drugs and Traffic Safety Conference (T2013)</a:t>
            </a:r>
          </a:p>
          <a:p>
            <a:pPr algn="ctr">
              <a:buFont typeface="Arial" charset="0"/>
              <a:buNone/>
            </a:pPr>
            <a:r>
              <a:rPr lang="en-AU" sz="2400" i="1" smtClean="0">
                <a:ea typeface="ＭＳ Ｐゴシック"/>
                <a:cs typeface="ＭＳ Ｐゴシック"/>
              </a:rPr>
              <a:t>August 2013, Brisbane Convention and Exhibition Centre</a:t>
            </a:r>
          </a:p>
        </p:txBody>
      </p:sp>
    </p:spTree>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3">
      <a:dk1>
        <a:srgbClr val="005287"/>
      </a:dk1>
      <a:lt1>
        <a:sysClr val="window" lastClr="FFFFFF"/>
      </a:lt1>
      <a:dk2>
        <a:srgbClr val="CD1140"/>
      </a:dk2>
      <a:lt2>
        <a:srgbClr val="FFFFFF"/>
      </a:lt2>
      <a:accent1>
        <a:srgbClr val="CD1140"/>
      </a:accent1>
      <a:accent2>
        <a:srgbClr val="E2C54D"/>
      </a:accent2>
      <a:accent3>
        <a:srgbClr val="9BBB59"/>
      </a:accent3>
      <a:accent4>
        <a:srgbClr val="8064A2"/>
      </a:accent4>
      <a:accent5>
        <a:srgbClr val="4BACC6"/>
      </a:accent5>
      <a:accent6>
        <a:srgbClr val="F79646"/>
      </a:accent6>
      <a:hlink>
        <a:srgbClr val="CD1140"/>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853</TotalTime>
  <Words>1312</Words>
  <Application>Microsoft Office PowerPoint</Application>
  <PresentationFormat>On-screen Show (4:3)</PresentationFormat>
  <Paragraphs>145</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Slide 1</vt:lpstr>
      <vt:lpstr>Summary</vt:lpstr>
      <vt:lpstr>Acknowledgements</vt:lpstr>
      <vt:lpstr>Current Context</vt:lpstr>
      <vt:lpstr>Current Context</vt:lpstr>
      <vt:lpstr>Current Context</vt:lpstr>
      <vt:lpstr>Psychiatric Disorders</vt:lpstr>
      <vt:lpstr>Psychiatric Disorders</vt:lpstr>
      <vt:lpstr>AIM OF THE STUDY</vt:lpstr>
      <vt:lpstr>SAMPLE</vt:lpstr>
      <vt:lpstr>SAMPLE</vt:lpstr>
      <vt:lpstr>SAMPLE DUI’s</vt:lpstr>
      <vt:lpstr>PROCEDURE</vt:lpstr>
      <vt:lpstr>ANALYSIS</vt:lpstr>
      <vt:lpstr>For those interested in the Statistics</vt:lpstr>
      <vt:lpstr>SUBSTANCE PROBLEM</vt:lpstr>
      <vt:lpstr>QUESTION 1</vt:lpstr>
      <vt:lpstr>QUESTION 1</vt:lpstr>
      <vt:lpstr>SYMPTOMS </vt:lpstr>
      <vt:lpstr>QUESTION 1</vt:lpstr>
      <vt:lpstr>SYMPTOMS OF BIPOLAR</vt:lpstr>
      <vt:lpstr>QUESTION 2</vt:lpstr>
      <vt:lpstr>QUESTION 3</vt:lpstr>
      <vt:lpstr>QUESTION 3</vt:lpstr>
      <vt:lpstr>OVERVIEW </vt:lpstr>
      <vt:lpstr>DISCUSSION</vt:lpstr>
      <vt:lpstr>DISCUSSION</vt:lpstr>
      <vt:lpstr>TREATMENT</vt:lpstr>
      <vt:lpstr>Slide 29</vt:lpstr>
    </vt:vector>
  </TitlesOfParts>
  <Company>Evans and Hartshorn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Meredith Evans</dc:creator>
  <cp:lastModifiedBy>leebm</cp:lastModifiedBy>
  <cp:revision>69</cp:revision>
  <dcterms:created xsi:type="dcterms:W3CDTF">2009-02-16T00:16:40Z</dcterms:created>
  <dcterms:modified xsi:type="dcterms:W3CDTF">2011-02-15T03:53:04Z</dcterms:modified>
</cp:coreProperties>
</file>