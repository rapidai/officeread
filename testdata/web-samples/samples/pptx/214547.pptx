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6" d="100"/>
          <a:sy n="106" d="100"/>
        </p:scale>
        <p:origin x="-1344" y="-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4D897-763A-4E53-8E37-46C0D0039E76}" type="datetimeFigureOut">
              <a:rPr lang="en-US" smtClean="0"/>
              <a:pPr/>
              <a:t>12/16/2008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F925B-EBF9-4C4D-88B2-336D5915A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relight title.png"/>
          <p:cNvPicPr>
            <a:picLocks noChangeAspect="1"/>
          </p:cNvPicPr>
          <p:nvPr/>
        </p:nvPicPr>
        <p:blipFill>
          <a:blip r:embed="rId2"/>
          <a:srcRect l="43431" t="21353" b="20413"/>
          <a:stretch>
            <a:fillRect/>
          </a:stretch>
        </p:blipFill>
        <p:spPr>
          <a:xfrm>
            <a:off x="0" y="0"/>
            <a:ext cx="367230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219200"/>
            <a:ext cx="6400800" cy="1600200"/>
          </a:xfrm>
        </p:spPr>
        <p:txBody>
          <a:bodyPr anchor="b" anchorCtr="0"/>
          <a:lstStyle>
            <a:lvl1pPr algn="l">
              <a:defRPr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2971800"/>
            <a:ext cx="5715000" cy="1295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5943600"/>
            <a:ext cx="2133600" cy="228600"/>
          </a:xfrm>
        </p:spPr>
        <p:txBody>
          <a:bodyPr/>
          <a:lstStyle>
            <a:lvl1pPr algn="l">
              <a:defRPr/>
            </a:lvl1pPr>
          </a:lstStyle>
          <a:p>
            <a:fld id="{42F12EF9-7E05-413A-A75B-0E7F7C3F89D5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5715000"/>
            <a:ext cx="2667000" cy="228600"/>
          </a:xfrm>
        </p:spPr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6248400"/>
            <a:ext cx="533400" cy="228600"/>
          </a:xfrm>
        </p:spPr>
        <p:txBody>
          <a:bodyPr/>
          <a:lstStyle>
            <a:lvl1pPr algn="l">
              <a:defRPr/>
            </a:lvl1pPr>
          </a:lstStyle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64C0-8E54-4A32-8785-D2EE1DE620AC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relight section.png"/>
          <p:cNvPicPr>
            <a:picLocks noChangeAspect="1"/>
          </p:cNvPicPr>
          <p:nvPr/>
        </p:nvPicPr>
        <p:blipFill>
          <a:blip r:embed="rId2"/>
          <a:srcRect l="7678" r="8563" b="31688"/>
          <a:stretch>
            <a:fillRect/>
          </a:stretch>
        </p:blipFill>
        <p:spPr>
          <a:xfrm>
            <a:off x="0" y="3048000"/>
            <a:ext cx="9144000" cy="381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057400"/>
            <a:ext cx="7391400" cy="1590675"/>
          </a:xfrm>
        </p:spPr>
        <p:txBody>
          <a:bodyPr anchor="b" anchorCtr="0">
            <a:normAutofit/>
          </a:bodyPr>
          <a:lstStyle>
            <a:lvl1pPr algn="ctr">
              <a:defRPr sz="4400" b="0" i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7546" y="3810000"/>
            <a:ext cx="5388909" cy="142398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1500"/>
              </a:spcBef>
              <a:buFontTx/>
              <a:buNone/>
              <a:defRPr sz="1800" kern="120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A6E-B1BE-4DEB-BA31-4DCD47757489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057401"/>
            <a:ext cx="2743200" cy="3898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2057401"/>
            <a:ext cx="2743200" cy="3898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7C8F-5C72-4A99-9486-6C12BA947177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967753"/>
            <a:ext cx="2743200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819400"/>
            <a:ext cx="2743200" cy="3136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1967753"/>
            <a:ext cx="2743200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2819400"/>
            <a:ext cx="2743200" cy="3136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E65-E364-4289-8965-16EA53FC94FC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D560-AEA7-45C7-A4E0-39D879442B47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D27AA-99C4-4701-86FC-EBA849E00835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ontent caption.png"/>
          <p:cNvPicPr>
            <a:picLocks noChangeAspect="1"/>
          </p:cNvPicPr>
          <p:nvPr/>
        </p:nvPicPr>
        <p:blipFill>
          <a:blip r:embed="rId2"/>
          <a:srcRect l="11342" t="23079" r="13047"/>
          <a:stretch>
            <a:fillRect/>
          </a:stretch>
        </p:blipFill>
        <p:spPr>
          <a:xfrm>
            <a:off x="0" y="0"/>
            <a:ext cx="9144000" cy="60953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25" y="438150"/>
            <a:ext cx="2743200" cy="1618488"/>
          </a:xfrm>
        </p:spPr>
        <p:txBody>
          <a:bodyPr anchor="ctr" anchorCtr="0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438150"/>
            <a:ext cx="4419600" cy="5118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439" y="2514600"/>
            <a:ext cx="1985962" cy="23622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32420-413E-4929-B427-D7B23335603D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ntent caption.png"/>
          <p:cNvPicPr>
            <a:picLocks noChangeAspect="1"/>
          </p:cNvPicPr>
          <p:nvPr/>
        </p:nvPicPr>
        <p:blipFill>
          <a:blip r:embed="rId2"/>
          <a:srcRect l="11342" t="23079" r="13047"/>
          <a:stretch>
            <a:fillRect/>
          </a:stretch>
        </p:blipFill>
        <p:spPr>
          <a:xfrm>
            <a:off x="0" y="0"/>
            <a:ext cx="9144000" cy="60953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25" y="438150"/>
            <a:ext cx="2743200" cy="161925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75050" y="685800"/>
            <a:ext cx="5264150" cy="4648200"/>
          </a:xfrm>
          <a:prstGeom prst="ellipse">
            <a:avLst/>
          </a:prstGeom>
          <a:ln w="127000">
            <a:solidFill>
              <a:schemeClr val="tx1">
                <a:alpha val="10000"/>
              </a:schemeClr>
            </a:solidFill>
          </a:ln>
          <a:effectLst>
            <a:innerShdw blurRad="190500">
              <a:prstClr val="black">
                <a:alpha val="75000"/>
              </a:prstClr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2104" y="2514600"/>
            <a:ext cx="1984248" cy="2359152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sz="1400" kern="1200"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15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E7A7-A0FD-4704-B1D5-7CB5D641D7B7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4209" y="2057400"/>
            <a:ext cx="5678424" cy="3886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C17F-B16F-432E-A128-CA24DFD16699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4200" y="533400"/>
            <a:ext cx="1752600" cy="43433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7800" y="533401"/>
            <a:ext cx="5029200" cy="5422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9E0C9-4578-4389-95A9-29FC5D05D046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irelight content.png"/>
          <p:cNvPicPr>
            <a:picLocks noChangeAspect="1"/>
          </p:cNvPicPr>
          <p:nvPr/>
        </p:nvPicPr>
        <p:blipFill>
          <a:blip r:embed="rId13"/>
          <a:srcRect l="10260" t="11518" r="6261" b="874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2057400"/>
            <a:ext cx="50292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0" y="64770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100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j-ea"/>
                <a:cs typeface="+mj-cs"/>
              </a:defRPr>
            </a:lvl1pPr>
          </a:lstStyle>
          <a:p>
            <a:fld id="{DA187D5E-2308-423A-ABC7-8C03C58F8822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770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00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248400"/>
            <a:ext cx="533400" cy="228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110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j-ea"/>
                <a:cs typeface="+mj-cs"/>
              </a:defRPr>
            </a:lvl1pPr>
          </a:lstStyle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 spc="0" baseline="0">
          <a:gradFill flip="none" rotWithShape="1"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  <a:tileRect/>
          </a:gra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1500"/>
        </a:spcBef>
        <a:buFontTx/>
        <a:buBlip>
          <a:blip r:embed="rId14"/>
        </a:buBlip>
        <a:defRPr sz="20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1500"/>
        </a:spcBef>
        <a:buFontTx/>
        <a:buBlip>
          <a:blip r:embed="rId15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1500"/>
        </a:spcBef>
        <a:buFontTx/>
        <a:buBlip>
          <a:blip r:embed="rId15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1400" y="2209800"/>
            <a:ext cx="5410200" cy="2895600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Ancillary </a:t>
            </a:r>
            <a:r>
              <a:rPr lang="en-US" sz="5400" dirty="0"/>
              <a:t>R</a:t>
            </a:r>
            <a:r>
              <a:rPr lang="en-US" sz="5400" dirty="0" smtClean="0"/>
              <a:t>adiation Safety Training</a:t>
            </a:r>
            <a:endParaRPr lang="en-US" sz="5400" dirty="0"/>
          </a:p>
        </p:txBody>
      </p:sp>
      <p:pic>
        <p:nvPicPr>
          <p:cNvPr id="4" name="Picture 3" descr="NOAA-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0" y="381000"/>
            <a:ext cx="161131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 descr="http://images.inmagine.com/img/corbis/crbs035/crbs0351519.jpg"/>
          <p:cNvPicPr>
            <a:picLocks noChangeAspect="1" noChangeArrowheads="1"/>
          </p:cNvPicPr>
          <p:nvPr/>
        </p:nvPicPr>
        <p:blipFill>
          <a:blip r:embed="rId3"/>
          <a:srcRect t="14000"/>
          <a:stretch>
            <a:fillRect/>
          </a:stretch>
        </p:blipFill>
        <p:spPr bwMode="auto">
          <a:xfrm>
            <a:off x="304800" y="1752600"/>
            <a:ext cx="3389128" cy="3886200"/>
          </a:xfrm>
          <a:prstGeom prst="rect">
            <a:avLst/>
          </a:prstGeom>
          <a:noFill/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2667000" cy="228600"/>
          </a:xfrm>
        </p:spPr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7162800" cy="3886200"/>
          </a:xfrm>
        </p:spPr>
        <p:txBody>
          <a:bodyPr>
            <a:noAutofit/>
          </a:bodyPr>
          <a:lstStyle/>
          <a:p>
            <a:r>
              <a:rPr lang="en-US" sz="3200" dirty="0" smtClean="0"/>
              <a:t>Recognize the radiation symbol and warning signs or postings</a:t>
            </a:r>
          </a:p>
          <a:p>
            <a:r>
              <a:rPr lang="en-US" sz="3200" dirty="0" smtClean="0"/>
              <a:t>Understand safety rules for working radioactive materials (RAM) laboratories. </a:t>
            </a:r>
          </a:p>
          <a:p>
            <a:r>
              <a:rPr lang="en-US" sz="3200" dirty="0" smtClean="0"/>
              <a:t>Understanding the basic principles of ionizing radiation.</a:t>
            </a:r>
          </a:p>
          <a:p>
            <a:r>
              <a:rPr lang="en-US" sz="3200" dirty="0" smtClean="0"/>
              <a:t>Important point of contacts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Radiation Warning Signs and Labels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752600"/>
            <a:ext cx="30480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Door posting and label for fume hoods, refrigerators, freezers, and other large equipment used for handling radioactive materials.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53200" y="2971800"/>
            <a:ext cx="2590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+mn-ea"/>
                <a:cs typeface="+mn-cs"/>
              </a:rPr>
              <a:t>Radioactive materials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+mn-ea"/>
                <a:cs typeface="+mn-cs"/>
              </a:rPr>
              <a:t> waste container.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alpha val="70000"/>
                    </a:schemeClr>
                  </a:gs>
                  <a:gs pos="50000">
                    <a:schemeClr val="tx1">
                      <a:alpha val="80000"/>
                    </a:schemeClr>
                  </a:gs>
                  <a:gs pos="100000">
                    <a:schemeClr val="tx1">
                      <a:alpha val="90000"/>
                    </a:schemeClr>
                  </a:gs>
                </a:gsLst>
                <a:lin ang="0" scaled="0"/>
              </a:gra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39000" y="4267200"/>
            <a:ext cx="1905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+mn-ea"/>
                <a:cs typeface="+mn-cs"/>
              </a:rPr>
              <a:t>Radiation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+mn-ea"/>
                <a:cs typeface="+mn-cs"/>
              </a:rPr>
              <a:t> waste labels – attached to each radioactive material waste container.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alpha val="70000"/>
                    </a:schemeClr>
                  </a:gs>
                  <a:gs pos="50000">
                    <a:schemeClr val="tx1">
                      <a:alpha val="80000"/>
                    </a:schemeClr>
                  </a:gs>
                  <a:gs pos="100000">
                    <a:schemeClr val="tx1">
                      <a:alpha val="90000"/>
                    </a:schemeClr>
                  </a:gs>
                </a:gsLst>
                <a:lin ang="0" scaled="0"/>
              </a:gra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5410200"/>
            <a:ext cx="39624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+mn-ea"/>
                <a:cs typeface="+mn-cs"/>
              </a:rPr>
              <a:t>Radioactive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+mn-ea"/>
                <a:cs typeface="+mn-cs"/>
              </a:rPr>
              <a:t> material tape – posted on small lab equipment used for handling radioactive materials.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alpha val="70000"/>
                    </a:schemeClr>
                  </a:gs>
                  <a:gs pos="50000">
                    <a:schemeClr val="tx1">
                      <a:alpha val="80000"/>
                    </a:schemeClr>
                  </a:gs>
                  <a:gs pos="100000">
                    <a:schemeClr val="tx1">
                      <a:alpha val="90000"/>
                    </a:schemeClr>
                  </a:gs>
                </a:gsLst>
                <a:lin ang="0" scaled="0"/>
              </a:gra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http://www.unitednuclear.com/taperoll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0"/>
            <a:ext cx="2857500" cy="1590675"/>
          </a:xfrm>
          <a:prstGeom prst="rect">
            <a:avLst/>
          </a:prstGeom>
          <a:noFill/>
        </p:spPr>
      </p:pic>
      <p:pic>
        <p:nvPicPr>
          <p:cNvPr id="1028" name="Picture 4" descr="http://www.safety-direct.com.au/LImage.aspx?i=239&amp;t=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600200"/>
            <a:ext cx="1332199" cy="2133600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4724400" y="4038600"/>
            <a:ext cx="2347752" cy="2362200"/>
            <a:chOff x="6172200" y="3429000"/>
            <a:chExt cx="2347752" cy="2362200"/>
          </a:xfrm>
        </p:grpSpPr>
        <p:pic>
          <p:nvPicPr>
            <p:cNvPr id="1030" name="Picture 6" descr="http://www.purdue.edu/rem/home/graphics/RadMatInf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172200" y="3429000"/>
              <a:ext cx="2347752" cy="2362200"/>
            </a:xfrm>
            <a:prstGeom prst="rect">
              <a:avLst/>
            </a:prstGeom>
            <a:noFill/>
          </p:spPr>
        </p:pic>
        <p:sp>
          <p:nvSpPr>
            <p:cNvPr id="10" name="Rectangle 9"/>
            <p:cNvSpPr/>
            <p:nvPr/>
          </p:nvSpPr>
          <p:spPr>
            <a:xfrm>
              <a:off x="6858000" y="3505200"/>
              <a:ext cx="914400" cy="10260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32" name="Picture 8" descr="http://www.chem.harvard.edu/safety/waste_con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86600" y="1066800"/>
            <a:ext cx="1488281" cy="1905000"/>
          </a:xfrm>
          <a:prstGeom prst="rect">
            <a:avLst/>
          </a:prstGeom>
          <a:noFill/>
        </p:spPr>
      </p:pic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924800" cy="1477962"/>
          </a:xfrm>
        </p:spPr>
        <p:txBody>
          <a:bodyPr>
            <a:normAutofit/>
          </a:bodyPr>
          <a:lstStyle/>
          <a:p>
            <a:r>
              <a:rPr lang="en-US" dirty="0" smtClean="0"/>
              <a:t>Principle Rule When Working </a:t>
            </a:r>
            <a:r>
              <a:rPr lang="en-US" u="sng" dirty="0" smtClean="0"/>
              <a:t>in</a:t>
            </a:r>
            <a:r>
              <a:rPr lang="en-US" dirty="0" smtClean="0"/>
              <a:t> a Lab with Radioactive 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752600"/>
            <a:ext cx="5257800" cy="259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i="1" u="sng" dirty="0" smtClean="0"/>
              <a:t>Avoid</a:t>
            </a:r>
            <a:r>
              <a:rPr lang="en-US" sz="4000" dirty="0" smtClean="0"/>
              <a:t> </a:t>
            </a:r>
            <a:r>
              <a:rPr lang="en-US" sz="4000" u="sng" dirty="0" smtClean="0"/>
              <a:t>contact with any objects that are labeled with the radiation sign</a:t>
            </a:r>
            <a:endParaRPr lang="en-US" sz="4000" u="sng" dirty="0"/>
          </a:p>
        </p:txBody>
      </p:sp>
      <p:pic>
        <p:nvPicPr>
          <p:cNvPr id="16386" name="Picture 2" descr="http://www.kinectrics.com/images/RadioBubbl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3581400"/>
            <a:ext cx="2089858" cy="2955925"/>
          </a:xfrm>
          <a:prstGeom prst="rect">
            <a:avLst/>
          </a:prstGeom>
          <a:noFill/>
        </p:spPr>
      </p:pic>
      <p:pic>
        <p:nvPicPr>
          <p:cNvPr id="16388" name="Picture 4" descr="http://ehs.virginia.edu/tree/jugs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648200"/>
            <a:ext cx="2627587" cy="1905000"/>
          </a:xfrm>
          <a:prstGeom prst="rect">
            <a:avLst/>
          </a:prstGeom>
          <a:noFill/>
        </p:spPr>
      </p:pic>
      <p:pic>
        <p:nvPicPr>
          <p:cNvPr id="16390" name="Picture 6" descr="http://cache.daylife.com/imageserve/0dafd6I6PFe67/610x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4648200"/>
            <a:ext cx="3441700" cy="1901398"/>
          </a:xfrm>
          <a:prstGeom prst="rect">
            <a:avLst/>
          </a:prstGeom>
          <a:noFill/>
        </p:spPr>
      </p:pic>
      <p:pic>
        <p:nvPicPr>
          <p:cNvPr id="16392" name="Picture 8" descr="http://www.ehs.psu.edu/images/rad_sign02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2133600"/>
            <a:ext cx="2133600" cy="2361946"/>
          </a:xfrm>
          <a:prstGeom prst="rect">
            <a:avLst/>
          </a:prstGeom>
          <a:noFill/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4191000"/>
            <a:ext cx="5410200" cy="2209800"/>
          </a:xfrm>
        </p:spPr>
        <p:txBody>
          <a:bodyPr>
            <a:normAutofit/>
          </a:bodyPr>
          <a:lstStyle/>
          <a:p>
            <a:r>
              <a:rPr lang="en-US" dirty="0" smtClean="0"/>
              <a:t>What is Radiation?</a:t>
            </a:r>
            <a:br>
              <a:rPr lang="en-US" dirty="0" smtClean="0"/>
            </a:br>
            <a:r>
              <a:rPr lang="en-US" i="1" dirty="0" smtClean="0"/>
              <a:t>Radiation is the transfer of energy</a:t>
            </a:r>
            <a:endParaRPr lang="en-US" i="1" dirty="0"/>
          </a:p>
        </p:txBody>
      </p:sp>
      <p:grpSp>
        <p:nvGrpSpPr>
          <p:cNvPr id="6" name="Group 5"/>
          <p:cNvGrpSpPr/>
          <p:nvPr/>
        </p:nvGrpSpPr>
        <p:grpSpPr>
          <a:xfrm>
            <a:off x="5321300" y="2667000"/>
            <a:ext cx="3822700" cy="3886200"/>
            <a:chOff x="4876800" y="2362200"/>
            <a:chExt cx="3822700" cy="3886200"/>
          </a:xfrm>
        </p:grpSpPr>
        <p:pic>
          <p:nvPicPr>
            <p:cNvPr id="17410" name="Picture 2" descr="http://www.uraniumsa.org/about/images/radiation_hand.gif"/>
            <p:cNvPicPr>
              <a:picLocks noChangeAspect="1" noChangeArrowheads="1"/>
            </p:cNvPicPr>
            <p:nvPr/>
          </p:nvPicPr>
          <p:blipFill>
            <a:blip r:embed="rId2"/>
            <a:srcRect t="7303"/>
            <a:stretch>
              <a:fillRect/>
            </a:stretch>
          </p:blipFill>
          <p:spPr bwMode="auto">
            <a:xfrm>
              <a:off x="4876800" y="2362200"/>
              <a:ext cx="3822700" cy="3868606"/>
            </a:xfrm>
            <a:prstGeom prst="rect">
              <a:avLst/>
            </a:prstGeom>
            <a:noFill/>
          </p:spPr>
        </p:pic>
        <p:pic>
          <p:nvPicPr>
            <p:cNvPr id="17412" name="Picture 4" descr="http://images.google.com/url?q=http://upload.wikimedia.org/wikipedia/commons/thumb/a/ae/RadiationPenetration2-pn.png/300px-RadiationPenetration2-pn.png&amp;usg=AFQjCNEr4NMJW-EUAelLtyWTIdxEKYUYfQ"/>
            <p:cNvPicPr>
              <a:picLocks noChangeAspect="1" noChangeArrowheads="1"/>
            </p:cNvPicPr>
            <p:nvPr/>
          </p:nvPicPr>
          <p:blipFill>
            <a:blip r:embed="rId3"/>
            <a:srcRect r="79654"/>
            <a:stretch>
              <a:fillRect/>
            </a:stretch>
          </p:blipFill>
          <p:spPr bwMode="auto">
            <a:xfrm>
              <a:off x="4876800" y="3124200"/>
              <a:ext cx="654050" cy="3124200"/>
            </a:xfrm>
            <a:prstGeom prst="rect">
              <a:avLst/>
            </a:prstGeom>
            <a:noFill/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3276600"/>
            <a:ext cx="2514600" cy="533400"/>
          </a:xfr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chemeClr val="bg1"/>
                </a:solidFill>
              </a:rPr>
              <a:t>Types of Ionizing Radiation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7414" name="Picture 6" descr="http://www.rerf.or.jp/general/image/gen_01_e.jpg"/>
          <p:cNvPicPr>
            <a:picLocks noChangeAspect="1" noChangeArrowheads="1"/>
          </p:cNvPicPr>
          <p:nvPr/>
        </p:nvPicPr>
        <p:blipFill>
          <a:blip r:embed="rId4"/>
          <a:srcRect l="3093" t="3412" r="3093" b="5670"/>
          <a:stretch>
            <a:fillRect/>
          </a:stretch>
        </p:blipFill>
        <p:spPr bwMode="auto">
          <a:xfrm>
            <a:off x="0" y="0"/>
            <a:ext cx="7194396" cy="3200400"/>
          </a:xfrm>
          <a:prstGeom prst="rect">
            <a:avLst/>
          </a:prstGeom>
          <a:noFill/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990600"/>
          </a:xfrm>
        </p:spPr>
        <p:txBody>
          <a:bodyPr/>
          <a:lstStyle/>
          <a:p>
            <a:r>
              <a:rPr lang="en-US" dirty="0" smtClean="0"/>
              <a:t>Where is Radiation Found?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1219200"/>
            <a:ext cx="41910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Radiation is found all around us and even inside our bodies.  It is found in the air, water, ground, building materials, and even some foods.</a:t>
            </a:r>
            <a:endParaRPr lang="en-US" sz="2800" dirty="0"/>
          </a:p>
        </p:txBody>
      </p:sp>
      <p:pic>
        <p:nvPicPr>
          <p:cNvPr id="5" name="Picture 4" descr="http://www.stoller-eser.com/images/Background_Radiation_Graph.jpg"/>
          <p:cNvPicPr>
            <a:picLocks noChangeAspect="1" noChangeArrowheads="1"/>
          </p:cNvPicPr>
          <p:nvPr/>
        </p:nvPicPr>
        <p:blipFill>
          <a:blip r:embed="rId2"/>
          <a:srcRect r="33767"/>
          <a:stretch>
            <a:fillRect/>
          </a:stretch>
        </p:blipFill>
        <p:spPr bwMode="auto">
          <a:xfrm>
            <a:off x="152400" y="2667000"/>
            <a:ext cx="4847863" cy="3752850"/>
          </a:xfrm>
          <a:prstGeom prst="rect">
            <a:avLst/>
          </a:prstGeom>
          <a:noFill/>
        </p:spPr>
      </p:pic>
      <p:pic>
        <p:nvPicPr>
          <p:cNvPr id="6" name="Picture 5" descr="http://www.stoller-eser.com/images/Background_Radiation_Graph.jpg"/>
          <p:cNvPicPr>
            <a:picLocks noChangeAspect="1" noChangeArrowheads="1"/>
          </p:cNvPicPr>
          <p:nvPr/>
        </p:nvPicPr>
        <p:blipFill>
          <a:blip r:embed="rId2"/>
          <a:srcRect l="65126" t="24365" b="8629"/>
          <a:stretch>
            <a:fillRect/>
          </a:stretch>
        </p:blipFill>
        <p:spPr bwMode="auto">
          <a:xfrm>
            <a:off x="4936051" y="3903240"/>
            <a:ext cx="2552547" cy="2514600"/>
          </a:xfrm>
          <a:prstGeom prst="rect">
            <a:avLst/>
          </a:prstGeom>
          <a:noFill/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7315200" cy="1477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Background and Manufactured Radiation In the U.S. Contributes 250-400 mrems per year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 descr="http://www.nukeworker.com/study/gert/gertFig1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057400"/>
            <a:ext cx="5029200" cy="401042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600200" y="61722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38200" y="5966619"/>
            <a:ext cx="7543800" cy="89138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Radioactive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material and sources at NOAA facilities </a:t>
            </a:r>
            <a:r>
              <a:rPr kumimoji="0" lang="en-US" sz="2400" b="0" i="0" u="sng" strike="noStrike" kern="1200" cap="none" spc="0" normalizeH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do not</a:t>
            </a:r>
            <a:r>
              <a:rPr kumimoji="0" lang="en-US" sz="2400" b="0" i="0" strike="noStrike" kern="1200" cap="none" spc="0" normalizeH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represent an exposure issue for ancillary staff.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chemeClr val="tx1">
                      <a:alpha val="70000"/>
                    </a:schemeClr>
                  </a:gs>
                  <a:gs pos="50000">
                    <a:schemeClr val="tx1">
                      <a:alpha val="80000"/>
                    </a:schemeClr>
                  </a:gs>
                  <a:gs pos="100000">
                    <a:schemeClr val="tx1">
                      <a:alpha val="90000"/>
                    </a:schemeClr>
                  </a:gs>
                </a:gsLst>
                <a:lin ang="0" scaled="0"/>
                <a:tileRect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382000" cy="1477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Basic Rules for Working in Laboratories with Radioactive 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05000"/>
            <a:ext cx="7467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 Before you start work and enter the area, contact the Radiation Safety Officer.</a:t>
            </a:r>
          </a:p>
          <a:p>
            <a:r>
              <a:rPr lang="en-US" sz="2400" dirty="0" smtClean="0"/>
              <a:t>Read all room postings before performing your work.</a:t>
            </a:r>
          </a:p>
          <a:p>
            <a:r>
              <a:rPr lang="en-US" sz="2400" dirty="0" smtClean="0"/>
              <a:t>Announce yourself and purpose for being in the lab.</a:t>
            </a:r>
          </a:p>
          <a:p>
            <a:r>
              <a:rPr lang="en-US" sz="2400" dirty="0" smtClean="0"/>
              <a:t>Contact the Radiation Safety Officer if no one is present in the lab.</a:t>
            </a:r>
          </a:p>
          <a:p>
            <a:r>
              <a:rPr lang="en-US" sz="2400" dirty="0" smtClean="0"/>
              <a:t>Ask lab personnel which areas should be avoided.</a:t>
            </a:r>
          </a:p>
          <a:p>
            <a:r>
              <a:rPr lang="en-US" sz="2400" u="sng" dirty="0" smtClean="0"/>
              <a:t>DO NOT </a:t>
            </a:r>
            <a:r>
              <a:rPr lang="en-US" sz="2400" dirty="0" smtClean="0"/>
              <a:t>handle anything labeled with the radioactive sign until you are given clearance to do so from the Radiation Safety Officer.</a:t>
            </a:r>
          </a:p>
          <a:p>
            <a:r>
              <a:rPr lang="en-US" sz="2400" dirty="0" smtClean="0"/>
              <a:t>For assistance contact the Radiation Safety Officer during business hours.</a:t>
            </a:r>
            <a:endParaRPr lang="en-US" sz="2400" dirty="0"/>
          </a:p>
        </p:txBody>
      </p:sp>
      <p:pic>
        <p:nvPicPr>
          <p:cNvPr id="22530" name="Picture 2" descr="http://www.uchsc.edu/safety/Images/RadiationSymbol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0" y="4648200"/>
            <a:ext cx="510530" cy="476250"/>
          </a:xfrm>
          <a:prstGeom prst="rect">
            <a:avLst/>
          </a:prstGeom>
          <a:noFill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848600" cy="1477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Emergency Procedures for Work-Related Accidents, Injuries and Spills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600200"/>
          <a:ext cx="67818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/>
                <a:gridCol w="3390900"/>
              </a:tblGrid>
              <a:tr h="45809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</a:t>
                      </a:r>
                      <a:r>
                        <a:rPr lang="en-US" baseline="0" dirty="0" smtClean="0"/>
                        <a:t> OF EMERGENCY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CONTACT</a:t>
                      </a:r>
                      <a:endParaRPr lang="en-US" dirty="0"/>
                    </a:p>
                  </a:txBody>
                  <a:tcPr/>
                </a:tc>
              </a:tr>
              <a:tr h="112955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Accidents or spills with injuries that require urgent medical attention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911</a:t>
                      </a:r>
                      <a:endParaRPr lang="en-US" dirty="0"/>
                    </a:p>
                  </a:txBody>
                  <a:tcPr/>
                </a:tc>
              </a:tr>
              <a:tr h="214615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Accident or spills without injuries or with injuries that do not require urgent</a:t>
                      </a:r>
                      <a:r>
                        <a:rPr lang="en-US" baseline="0" dirty="0" smtClean="0"/>
                        <a:t> medical attention (i.e. on site first aid only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DURING</a:t>
                      </a:r>
                      <a:r>
                        <a:rPr lang="en-US" baseline="0" dirty="0" smtClean="0"/>
                        <a:t> NORMAL BUSINESS HOURS:  XXX-XXX-XXXX</a:t>
                      </a:r>
                    </a:p>
                    <a:p>
                      <a:pPr algn="ctr"/>
                      <a:endParaRPr lang="en-US" baseline="0" dirty="0" smtClean="0"/>
                    </a:p>
                    <a:p>
                      <a:pPr algn="ctr"/>
                      <a:r>
                        <a:rPr lang="en-US" baseline="0" dirty="0" smtClean="0"/>
                        <a:t>AFTER HOURS, WEEKENDS AND HOLIDAYS: </a:t>
                      </a:r>
                    </a:p>
                    <a:p>
                      <a:pPr algn="ctr"/>
                      <a:r>
                        <a:rPr lang="en-US" baseline="0" dirty="0" smtClean="0"/>
                        <a:t>XXX-XXX-XXXX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85800" y="5105400"/>
            <a:ext cx="7848600" cy="14779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5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sng" strike="noStrike" kern="1200" cap="none" spc="0" normalizeH="0" baseline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Important Note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: If radioactive material is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involved, </a:t>
            </a:r>
            <a:r>
              <a:rPr kumimoji="0" lang="en-US" sz="4400" b="0" i="0" u="sng" strike="noStrike" kern="1200" cap="none" spc="0" normalizeH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do not leave the area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unless it is unsafe to remain there.  Contact the Radiation Safety Officer and wait for assistance to arrive.  This will prevent the spread of contamination.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chemeClr val="tx1">
                      <a:alpha val="70000"/>
                    </a:schemeClr>
                  </a:gs>
                  <a:gs pos="50000">
                    <a:schemeClr val="tx1">
                      <a:alpha val="80000"/>
                    </a:schemeClr>
                  </a:gs>
                  <a:gs pos="100000">
                    <a:schemeClr val="tx1">
                      <a:alpha val="90000"/>
                    </a:schemeClr>
                  </a:gs>
                </a:gsLst>
                <a:lin ang="0" scaled="0"/>
                <a:tileRect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9144000" cy="6858000"/>
            <a:chOff x="304800" y="152400"/>
            <a:chExt cx="8534400" cy="6477000"/>
          </a:xfrm>
        </p:grpSpPr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2"/>
            <a:srcRect l="10407" t="15292" r="8822" b="3710"/>
            <a:stretch>
              <a:fillRect/>
            </a:stretch>
          </p:blipFill>
          <p:spPr bwMode="auto">
            <a:xfrm>
              <a:off x="304800" y="152400"/>
              <a:ext cx="8534400" cy="647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6705600" y="5029200"/>
              <a:ext cx="1066800" cy="533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676400" y="2362200"/>
            <a:ext cx="5943600" cy="181588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u="sng" dirty="0" smtClean="0">
                <a:solidFill>
                  <a:schemeClr val="bg1"/>
                </a:solidFill>
              </a:rPr>
              <a:t>Points to Remember:</a:t>
            </a:r>
          </a:p>
          <a:p>
            <a:pPr>
              <a:buFont typeface="Arial" charset="0"/>
              <a:buChar char="•"/>
            </a:pPr>
            <a:r>
              <a:rPr lang="en-US" sz="1600" dirty="0" smtClean="0">
                <a:solidFill>
                  <a:schemeClr val="bg1"/>
                </a:solidFill>
              </a:rPr>
              <a:t> Do not work with, disassemble, or remove  placarded equipment unless previously cleared by the Radiation Safety Officer (</a:t>
            </a:r>
            <a:r>
              <a:rPr lang="en-US" sz="1600" dirty="0" err="1" smtClean="0">
                <a:solidFill>
                  <a:schemeClr val="bg1"/>
                </a:solidFill>
              </a:rPr>
              <a:t>RSO</a:t>
            </a:r>
            <a:r>
              <a:rPr lang="en-US" sz="1600" dirty="0" smtClean="0">
                <a:solidFill>
                  <a:schemeClr val="bg1"/>
                </a:solidFill>
              </a:rPr>
              <a:t>) or the laboratory staff.</a:t>
            </a:r>
          </a:p>
          <a:p>
            <a:pPr>
              <a:buFont typeface="Arial" charset="0"/>
              <a:buChar char="•"/>
            </a:pPr>
            <a:r>
              <a:rPr lang="en-US" sz="1600" dirty="0" smtClean="0">
                <a:solidFill>
                  <a:schemeClr val="bg1"/>
                </a:solidFill>
              </a:rPr>
              <a:t> If you are uncertain regarding precautions to follow, ask the laboratory staff or contact the Radiation Safety Officer for appropriate guidelines.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47800" y="1143000"/>
            <a:ext cx="6283708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Ancillary Radiation Safety Training Certificate</a:t>
            </a:r>
            <a:endParaRPr lang="en-US" sz="36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551008" y="2310114"/>
            <a:ext cx="59436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relight">
  <a:themeElements>
    <a:clrScheme name="Firelight">
      <a:dk1>
        <a:sysClr val="windowText" lastClr="000000"/>
      </a:dk1>
      <a:lt1>
        <a:sysClr val="window" lastClr="FFFFFF"/>
      </a:lt1>
      <a:dk2>
        <a:srgbClr val="9F1C00"/>
      </a:dk2>
      <a:lt2>
        <a:srgbClr val="EEECE1"/>
      </a:lt2>
      <a:accent1>
        <a:srgbClr val="FF881F"/>
      </a:accent1>
      <a:accent2>
        <a:srgbClr val="771C00"/>
      </a:accent2>
      <a:accent3>
        <a:srgbClr val="576A2C"/>
      </a:accent3>
      <a:accent4>
        <a:srgbClr val="A24D00"/>
      </a:accent4>
      <a:accent5>
        <a:srgbClr val="244872"/>
      </a:accent5>
      <a:accent6>
        <a:srgbClr val="5E341C"/>
      </a:accent6>
      <a:hlink>
        <a:srgbClr val="FF912E"/>
      </a:hlink>
      <a:folHlink>
        <a:srgbClr val="B5CB83"/>
      </a:folHlink>
    </a:clrScheme>
    <a:fontScheme name="Firelight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ireligh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50000"/>
              </a:schemeClr>
            </a:gs>
            <a:gs pos="100000">
              <a:schemeClr val="phClr">
                <a:tint val="100000"/>
                <a:shade val="80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circle">
            <a:fillToRect l="25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8100" cap="flat" cmpd="sng" algn="ctr">
          <a:solidFill>
            <a:schemeClr val="phClr">
              <a:shade val="95000"/>
              <a:alpha val="90000"/>
            </a:schemeClr>
          </a:solidFill>
          <a:prstDash val="solid"/>
        </a:ln>
        <a:ln w="76200" cap="flat" cmpd="sng" algn="ctr">
          <a:solidFill>
            <a:schemeClr val="phClr">
              <a:shade val="95000"/>
              <a:alpha val="50000"/>
            </a:schemeClr>
          </a:solidFill>
          <a:prstDash val="solid"/>
        </a:ln>
      </a:lnStyleLst>
      <a:effectStyleLst>
        <a:effectStyle>
          <a:effectLst>
            <a:innerShdw blurRad="63500">
              <a:srgbClr val="000000">
                <a:alpha val="60000"/>
              </a:srgbClr>
            </a:innerShdw>
          </a:effectLst>
        </a:effectStyle>
        <a:effectStyle>
          <a:effectLst>
            <a:innerShdw blurRad="63500">
              <a:srgbClr val="000000">
                <a:alpha val="50000"/>
              </a:srgbClr>
            </a:innerShdw>
            <a:outerShdw blurRad="76200" dist="38100" sx="101000" sy="101000" rotWithShape="0">
              <a:srgbClr val="000000">
                <a:alpha val="60000"/>
              </a:srgbClr>
            </a:outerShdw>
          </a:effectLst>
        </a:effectStyle>
        <a:effectStyle>
          <a:effectLst>
            <a:innerShdw blurRad="63500">
              <a:srgbClr val="000000">
                <a:alpha val="50000"/>
              </a:srgbClr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4200000"/>
            </a:lightRig>
          </a:scene3d>
          <a:sp3d prstMaterial="softmetal">
            <a:bevelT w="63500" h="25400" prst="softRound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accent1">
                <a:shade val="45000"/>
                <a:satMod val="125000"/>
              </a:schemeClr>
            </a:gs>
            <a:gs pos="100000">
              <a:schemeClr val="phClr">
                <a:shade val="55000"/>
                <a:satMod val="125000"/>
              </a:schemeClr>
            </a:gs>
          </a:gsLst>
          <a:lin ang="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Firelight</Template>
  <TotalTime>284</TotalTime>
  <Words>539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Firelight</vt:lpstr>
      <vt:lpstr>Ancillary Radiation Safety Training</vt:lpstr>
      <vt:lpstr>Course Objectives</vt:lpstr>
      <vt:lpstr>Radiation Warning Signs and Labels</vt:lpstr>
      <vt:lpstr>Principle Rule When Working in a Lab with Radioactive Materials</vt:lpstr>
      <vt:lpstr>What is Radiation? Radiation is the transfer of energy</vt:lpstr>
      <vt:lpstr>Where is Radiation Found?</vt:lpstr>
      <vt:lpstr>Background and Manufactured Radiation In the U.S. Contributes 250-400 mrems per year</vt:lpstr>
      <vt:lpstr>Basic Rules for Working in Laboratories with Radioactive Materials</vt:lpstr>
      <vt:lpstr>Emergency Procedures for Work-Related Accidents, Injuries and Spills</vt:lpstr>
      <vt:lpstr>Slide 10</vt:lpstr>
    </vt:vector>
  </TitlesOfParts>
  <Company>NOAA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Great Radiation-Man</dc:title>
  <dc:creator>William L Freeman</dc:creator>
  <cp:lastModifiedBy>William L Freeman</cp:lastModifiedBy>
  <cp:revision>5</cp:revision>
  <dcterms:created xsi:type="dcterms:W3CDTF">2008-11-21T17:37:12Z</dcterms:created>
  <dcterms:modified xsi:type="dcterms:W3CDTF">2008-12-16T20:46:32Z</dcterms:modified>
</cp:coreProperties>
</file>