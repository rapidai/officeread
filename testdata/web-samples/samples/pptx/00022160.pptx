
<file path=[Content_Types].xml><?xml version="1.0" encoding="utf-8"?>
<Types xmlns="http://schemas.openxmlformats.org/package/2006/content-types">
  <Override PartName="/ppt/slides/slide41.xml" ContentType="application/vnd.openxmlformats-officedocument.presentationml.slide+xml"/>
  <Override PartName="/ppt/notesSlides/notesSlide16.xml" ContentType="application/vnd.openxmlformats-officedocument.presentationml.notesSlide+xml"/>
  <Override PartName="/ppt/slides/slide18.xml" ContentType="application/vnd.openxmlformats-officedocument.presentationml.slide+xml"/>
  <Override PartName="/ppt/notesSlides/notesSlide26.xml" ContentType="application/vnd.openxmlformats-officedocument.presentationml.notesSlide+xml"/>
  <Override PartName="/ppt/slides/slide28.xml" ContentType="application/vnd.openxmlformats-officedocument.presentationml.slide+xml"/>
  <Override PartName="/ppt/charts/chart11.xml" ContentType="application/vnd.openxmlformats-officedocument.drawingml.chart+xml"/>
  <Override PartName="/ppt/slides/slide37.xml" ContentType="application/vnd.openxmlformats-officedocument.presentationml.slide+xml"/>
  <Override PartName="/ppt/charts/chart20.xml" ContentType="application/vnd.openxmlformats-officedocument.drawingml.chart+xml"/>
  <Override PartName="/ppt/slides/slide9.xml" ContentType="application/vnd.openxmlformats-officedocument.presentationml.slide+xml"/>
  <Override PartName="/ppt/slides/slide47.xml" ContentType="application/vnd.openxmlformats-officedocument.presentationml.slide+xml"/>
  <Override PartName="/ppt/charts/chart30.xml" ContentType="application/vnd.openxmlformats-officedocument.drawingml.chart+xml"/>
  <Override PartName="/ppt/notesMasters/notesMaster1.xml" ContentType="application/vnd.openxmlformats-officedocument.presentationml.notesMaster+xml"/>
  <Override PartName="/ppt/theme/theme1.xml" ContentType="application/vnd.openxmlformats-officedocument.theme+xml"/>
  <Override PartName="/ppt/charts/chart17.xml" ContentType="application/vnd.openxmlformats-officedocument.drawingml.chart+xml"/>
  <Override PartName="/ppt/notesSlides/notesSlide2.xml" ContentType="application/vnd.openxmlformats-officedocument.presentationml.notesSlide+xml"/>
  <Override PartName="/ppt/charts/chart26.xml" ContentType="application/vnd.openxmlformats-officedocument.drawingml.chart+xml"/>
  <Override PartName="/ppt/charts/chart36.xml" ContentType="application/vnd.openxmlformats-officedocument.drawingml.chart+xml"/>
  <Default Extension="jpeg" ContentType="image/jpeg"/>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21.xml" ContentType="application/vnd.openxmlformats-officedocument.presentationml.notesSlide+xml"/>
  <Override PartName="/ppt/slides/slide23.xml" ContentType="application/vnd.openxmlformats-officedocument.presentationml.slide+xml"/>
  <Override PartName="/ppt/charts/chart6.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slides/slide4.xml" ContentType="application/vnd.openxmlformats-officedocument.presentationml.slide+xml"/>
  <Override PartName="/ppt/slideLayouts/slideLayout5.xml" ContentType="application/vnd.openxmlformats-officedocument.presentationml.slideLayout+xml"/>
  <Override PartName="/ppt/slides/slide42.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notesSlides/notesSlide27.xml" ContentType="application/vnd.openxmlformats-officedocument.presentationml.notesSlide+xml"/>
  <Override PartName="/ppt/slideLayouts/slideLayout10.xml" ContentType="application/vnd.openxmlformats-officedocument.presentationml.slideLayout+xml"/>
  <Override PartName="/ppt/slides/slide29.xml" ContentType="application/vnd.openxmlformats-officedocument.presentationml.slide+xml"/>
  <Override PartName="/ppt/notesSlides/notesSlide36.xml" ContentType="application/vnd.openxmlformats-officedocument.presentationml.notesSlide+xml"/>
  <Override PartName="/ppt/charts/chart12.xml" ContentType="application/vnd.openxmlformats-officedocument.drawingml.chart+xml"/>
  <Override PartName="/ppt/slides/slide38.xml" ContentType="application/vnd.openxmlformats-officedocument.presentationml.slide+xml"/>
  <Override PartName="/ppt/charts/chart21.xml" ContentType="application/vnd.openxmlformats-officedocument.drawingml.chart+xml"/>
  <Override PartName="/ppt/slides/slide48.xml" ContentType="application/vnd.openxmlformats-officedocument.presentationml.slide+xml"/>
  <Override PartName="/ppt/charts/chart31.xml" ContentType="application/vnd.openxmlformats-officedocument.drawingml.chart+xml"/>
  <Override PartName="/ppt/charts/chart40.xml" ContentType="application/vnd.openxmlformats-officedocument.drawingml.chart+xml"/>
  <Override PartName="/ppt/theme/theme2.xml" ContentType="application/vnd.openxmlformats-officedocument.theme+xml"/>
  <Override PartName="/ppt/charts/chart18.xml" ContentType="application/vnd.openxmlformats-officedocument.drawingml.chart+xml"/>
  <Override PartName="/ppt/notesSlides/notesSlide3.xml" ContentType="application/vnd.openxmlformats-officedocument.presentationml.notesSlide+xml"/>
  <Override PartName="/ppt/charts/chart27.xml" ContentType="application/vnd.openxmlformats-officedocument.drawingml.chart+xml"/>
  <Override PartName="/ppt/charts/chart37.xml" ContentType="application/vnd.openxmlformats-officedocument.drawingml.chart+xml"/>
  <Override PartName="/ppt/charts/chart1.xml" ContentType="application/vnd.openxmlformats-officedocument.drawingml.chart+xml"/>
  <Override PartName="/ppt/notesSlides/notesSlide8.xml" ContentType="application/vnd.openxmlformats-officedocument.presentationml.notes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22.xml" ContentType="application/vnd.openxmlformats-officedocument.presentationml.notesSlide+xml"/>
  <Override PartName="/ppt/charts/chart7.xml" ContentType="application/vnd.openxmlformats-officedocument.drawingml.chart+xml"/>
  <Default Extension="bin" ContentType="application/vnd.openxmlformats-officedocument.presentationml.printerSettings"/>
  <Override PartName="/ppt/slides/slide24.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slide5.xml" ContentType="application/vnd.openxmlformats-officedocument.presentationml.slide+xml"/>
  <Default Extension="xml" ContentType="application/xml"/>
  <Override PartName="/ppt/slideLayouts/slideLayout6.xml" ContentType="application/vnd.openxmlformats-officedocument.presentationml.slideLayout+xml"/>
  <Override PartName="/ppt/tableStyles.xml" ContentType="application/vnd.openxmlformats-officedocument.presentationml.tableStyles+xml"/>
  <Override PartName="/ppt/slides/slide43.xml" ContentType="application/vnd.openxmlformats-officedocument.presentationml.slide+xml"/>
  <Override PartName="/ppt/notesSlides/notesSlide18.xml" ContentType="application/vnd.openxmlformats-officedocument.presentationml.notesSlide+xml"/>
  <Override PartName="/ppt/notesSlides/notesSlide28.xml" ContentType="application/vnd.openxmlformats-officedocument.presentationml.notesSlide+xml"/>
  <Override PartName="/ppt/slideLayouts/slideLayout11.xml" ContentType="application/vnd.openxmlformats-officedocument.presentationml.slideLayout+xml"/>
  <Override PartName="/ppt/notesSlides/notesSlide37.xml" ContentType="application/vnd.openxmlformats-officedocument.presentationml.notesSlide+xml"/>
  <Override PartName="/ppt/charts/chart13.xml" ContentType="application/vnd.openxmlformats-officedocument.drawingml.chart+xml"/>
  <Override PartName="/docProps/app.xml" ContentType="application/vnd.openxmlformats-officedocument.extended-properties+xml"/>
  <Override PartName="/ppt/slides/slide39.xml" ContentType="application/vnd.openxmlformats-officedocument.presentationml.slide+xml"/>
  <Override PartName="/ppt/charts/chart22.xml" ContentType="application/vnd.openxmlformats-officedocument.drawingml.chart+xml"/>
  <Override PartName="/ppt/slides/slide49.xml" ContentType="application/vnd.openxmlformats-officedocument.presentationml.slide+xml"/>
  <Override PartName="/ppt/charts/chart32.xml" ContentType="application/vnd.openxmlformats-officedocument.drawingml.chart+xml"/>
  <Override PartName="/docProps/core.xml" ContentType="application/vnd.openxmlformats-package.core-properties+xml"/>
  <Override PartName="/ppt/theme/theme3.xml" ContentType="application/vnd.openxmlformats-officedocument.theme+xml"/>
  <Override PartName="/ppt/charts/chart19.xml" ContentType="application/vnd.openxmlformats-officedocument.drawingml.chart+xml"/>
  <Override PartName="/ppt/notesSlides/notesSlide4.xml" ContentType="application/vnd.openxmlformats-officedocument.presentationml.notesSlide+xml"/>
  <Override PartName="/ppt/charts/chart28.xml" ContentType="application/vnd.openxmlformats-officedocument.drawingml.chart+xml"/>
  <Override PartName="/ppt/charts/chart38.xml" ContentType="application/vnd.openxmlformats-officedocument.drawingml.chart+xml"/>
  <Override PartName="/ppt/charts/chart2.xml" ContentType="application/vnd.openxmlformats-officedocument.drawingml.chart+xml"/>
  <Default Extension="xlsx" ContentType="application/vnd.openxmlformats-officedocument.spreadsheetml.sheet"/>
  <Override PartName="/ppt/slideLayouts/slideLayout1.xml" ContentType="application/vnd.openxmlformats-officedocument.presentationml.slideLayout+xml"/>
  <Override PartName="/ppt/notesSlides/notesSlide9.xml" ContentType="application/vnd.openxmlformats-officedocument.presentationml.notesSlide+xml"/>
  <Override PartName="/ppt/notesSlides/notesSlide13.xml" ContentType="application/vnd.openxmlformats-officedocument.presentationml.notesSlide+xml"/>
  <Override PartName="/ppt/slides/slide15.xml" ContentType="application/vnd.openxmlformats-officedocument.presentationml.slide+xml"/>
  <Override PartName="/ppt/notesSlides/notesSlide23.xml" ContentType="application/vnd.openxmlformats-officedocument.presentationml.notesSlide+xml"/>
  <Override PartName="/ppt/charts/chart8.xml" ContentType="application/vnd.openxmlformats-officedocument.drawingml.chart+xml"/>
  <Override PartName="/ppt/slides/slide25.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slide6.xml" ContentType="application/vnd.openxmlformats-officedocument.presentationml.slide+xml"/>
  <Default Extension="png" ContentType="image/png"/>
  <Override PartName="/ppt/slideLayouts/slideLayout7.xml" ContentType="application/vnd.openxmlformats-officedocument.presentationml.slideLayout+xml"/>
  <Override PartName="/ppt/slides/slide44.xml" ContentType="application/vnd.openxmlformats-officedocument.presentationml.slide+xml"/>
  <Override PartName="/ppt/notesSlides/notesSlide19.xml" ContentType="application/vnd.openxmlformats-officedocument.presentationml.notesSlide+xml"/>
  <Override PartName="/ppt/notesSlides/notesSlide29.xml" ContentType="application/vnd.openxmlformats-officedocument.presentationml.notesSlide+xml"/>
  <Override PartName="/ppt/notesSlides/notesSlide38.xml" ContentType="application/vnd.openxmlformats-officedocument.presentationml.notesSlide+xml"/>
  <Override PartName="/ppt/charts/chart14.xml" ContentType="application/vnd.openxmlformats-officedocument.drawingml.chart+xml"/>
  <Override PartName="/ppt/charts/chart23.xml" ContentType="application/vnd.openxmlformats-officedocument.drawingml.chart+xml"/>
  <Override PartName="/ppt/charts/chart33.xml" ContentType="application/vnd.openxmlformats-officedocument.drawingml.chart+xml"/>
  <Override PartName="/ppt/notesSlides/notesSlide5.xml" ContentType="application/vnd.openxmlformats-officedocument.presentationml.notesSlide+xml"/>
  <Override PartName="/ppt/charts/chart29.xml" ContentType="application/vnd.openxmlformats-officedocument.drawingml.chart+xml"/>
  <Override PartName="/ppt/slides/slide10.xml" ContentType="application/vnd.openxmlformats-officedocument.presentationml.slide+xml"/>
  <Override PartName="/ppt/slides/slide20.xml" ContentType="application/vnd.openxmlformats-officedocument.presentationml.slide+xml"/>
  <Override PartName="/ppt/charts/chart39.xml" ContentType="application/vnd.openxmlformats-officedocument.drawingml.chart+xml"/>
  <Override PartName="/ppt/charts/chart3.xml" ContentType="application/vnd.openxmlformats-officedocument.drawingml.chart+xml"/>
  <Override PartName="/ppt/slides/slide1.xml" ContentType="application/vnd.openxmlformats-officedocument.presentationml.slide+xml"/>
  <Override PartName="/ppt/slideLayouts/slideLayout2.xml" ContentType="application/vnd.openxmlformats-officedocument.presentationml.slideLayout+xml"/>
  <Override PartName="/ppt/notesSlides/notesSlide14.xml" ContentType="application/vnd.openxmlformats-officedocument.presentationml.notesSlide+xml"/>
  <Override PartName="/ppt/slides/slide16.xml" ContentType="application/vnd.openxmlformats-officedocument.presentationml.slide+xml"/>
  <Override PartName="/ppt/notesSlides/notesSlide24.xml" ContentType="application/vnd.openxmlformats-officedocument.presentationml.notesSlide+xml"/>
  <Override PartName="/ppt/viewProps.xml" ContentType="application/vnd.openxmlformats-officedocument.presentationml.viewProps+xml"/>
  <Default Extension="rels" ContentType="application/vnd.openxmlformats-package.relationships+xml"/>
  <Override PartName="/ppt/charts/chart9.xml" ContentType="application/vnd.openxmlformats-officedocument.drawingml.chart+xml"/>
  <Override PartName="/ppt/slides/slide26.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slide7.xml" ContentType="application/vnd.openxmlformats-officedocument.presentationml.slide+xml"/>
  <Override PartName="/ppt/slideLayouts/slideLayout8.xml" ContentType="application/vnd.openxmlformats-officedocument.presentationml.slideLayout+xml"/>
  <Override PartName="/ppt/slides/slide45.xml" ContentType="application/vnd.openxmlformats-officedocument.presentationml.slide+xml"/>
  <Override PartName="/ppt/presProps.xml" ContentType="application/vnd.openxmlformats-officedocument.presentationml.presProps+xml"/>
  <Override PartName="/ppt/charts/chart15.xml" ContentType="application/vnd.openxmlformats-officedocument.drawingml.chart+xml"/>
  <Override PartName="/ppt/charts/chart24.xml" ContentType="application/vnd.openxmlformats-officedocument.drawingml.chart+xml"/>
  <Override PartName="/ppt/presentation.xml" ContentType="application/vnd.openxmlformats-officedocument.presentationml.presentation.main+xml"/>
  <Override PartName="/ppt/charts/chart34.xml" ContentType="application/vnd.openxmlformats-officedocument.drawingml.chart+xml"/>
  <Override PartName="/ppt/notesSlides/notesSlide6.xml" ContentType="application/vnd.openxmlformats-officedocument.presentationml.notesSlide+xml"/>
  <Override PartName="/ppt/notesSlides/notesSlide10.xml" ContentType="application/vnd.openxmlformats-officedocument.presentationml.notesSlide+xml"/>
  <Override PartName="/ppt/slides/slide11.xml" ContentType="application/vnd.openxmlformats-officedocument.presentationml.slide+xml"/>
  <Override PartName="/ppt/charts/chart4.xml" ContentType="application/vnd.openxmlformats-officedocument.drawingml.chart+xml"/>
  <Override PartName="/ppt/slides/slide21.xml" ContentType="application/vnd.openxmlformats-officedocument.presentationml.slide+xml"/>
  <Override PartName="/ppt/slides/slide30.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slideLayouts/slideLayout3.xml" ContentType="application/vnd.openxmlformats-officedocument.presentationml.slideLayout+xml"/>
  <Override PartName="/ppt/slides/slide40.xml" ContentType="application/vnd.openxmlformats-officedocument.presentationml.slide+xml"/>
  <Override PartName="/ppt/notesSlides/notesSlide15.xml" ContentType="application/vnd.openxmlformats-officedocument.presentationml.notesSlide+xml"/>
  <Override PartName="/ppt/slides/slide17.xml" ContentType="application/vnd.openxmlformats-officedocument.presentationml.slide+xml"/>
  <Override PartName="/ppt/notesSlides/notesSlide25.xml" ContentType="application/vnd.openxmlformats-officedocument.presentationml.notesSlide+xml"/>
  <Override PartName="/ppt/slides/slide27.xml" ContentType="application/vnd.openxmlformats-officedocument.presentationml.slide+xml"/>
  <Override PartName="/ppt/charts/chart10.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slides/slide8.xml" ContentType="application/vnd.openxmlformats-officedocument.presentationml.slide+xml"/>
  <Override PartName="/ppt/slideLayouts/slideLayout9.xml" ContentType="application/vnd.openxmlformats-officedocument.presentationml.slideLayout+xml"/>
  <Override PartName="/ppt/slides/slide46.xml" ContentType="application/vnd.openxmlformats-officedocument.presentationml.slide+xml"/>
  <Override PartName="/ppt/charts/chart16.xml" ContentType="application/vnd.openxmlformats-officedocument.drawingml.chart+xml"/>
  <Override PartName="/ppt/notesSlides/notesSlide1.xml" ContentType="application/vnd.openxmlformats-officedocument.presentationml.notesSlide+xml"/>
  <Override PartName="/ppt/charts/chart25.xml" ContentType="application/vnd.openxmlformats-officedocument.drawingml.chart+xml"/>
  <Override PartName="/ppt/charts/chart35.xml" ContentType="application/vnd.openxmlformats-officedocument.drawingml.chart+xml"/>
  <Override PartName="/ppt/notesSlides/notesSlide7.xml" ContentType="application/vnd.openxmlformats-officedocument.presentationml.notesSlide+xml"/>
  <Override PartName="/ppt/slides/slide12.xml" ContentType="application/vnd.openxmlformats-officedocument.presentationml.slide+xml"/>
  <Override PartName="/ppt/notesSlides/notesSlide20.xml" ContentType="application/vnd.openxmlformats-officedocument.presentationml.notesSlide+xml"/>
  <Override PartName="/ppt/charts/chart5.xml" ContentType="application/vnd.openxmlformats-officedocument.drawingml.chart+xml"/>
  <Override PartName="/ppt/slides/slide22.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slide3.xml" ContentType="application/vnd.openxmlformats-officedocument.presentationml.slide+xml"/>
  <Override PartName="/ppt/slideLayouts/slideLayout4.xml" ContentType="application/vnd.openxmlformats-officedocument.presentationml.slideLayout+xml"/>
  <Override PartName="/ppt/slideMasters/slideMaster1.xml" ContentType="application/vnd.openxmlformats-officedocument.presentationml.slideMaster+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8" r:id="rId1"/>
  </p:sldMasterIdLst>
  <p:notesMasterIdLst>
    <p:notesMasterId r:id="rId51"/>
  </p:notesMasterIdLst>
  <p:handoutMasterIdLst>
    <p:handoutMasterId r:id="rId52"/>
  </p:handoutMasterIdLst>
  <p:sldIdLst>
    <p:sldId id="528" r:id="rId2"/>
    <p:sldId id="547" r:id="rId3"/>
    <p:sldId id="542" r:id="rId4"/>
    <p:sldId id="529" r:id="rId5"/>
    <p:sldId id="541" r:id="rId6"/>
    <p:sldId id="539" r:id="rId7"/>
    <p:sldId id="517" r:id="rId8"/>
    <p:sldId id="498" r:id="rId9"/>
    <p:sldId id="499" r:id="rId10"/>
    <p:sldId id="456" r:id="rId11"/>
    <p:sldId id="451" r:id="rId12"/>
    <p:sldId id="458" r:id="rId13"/>
    <p:sldId id="518" r:id="rId14"/>
    <p:sldId id="502" r:id="rId15"/>
    <p:sldId id="467" r:id="rId16"/>
    <p:sldId id="509" r:id="rId17"/>
    <p:sldId id="510" r:id="rId18"/>
    <p:sldId id="511" r:id="rId19"/>
    <p:sldId id="512" r:id="rId20"/>
    <p:sldId id="496" r:id="rId21"/>
    <p:sldId id="472" r:id="rId22"/>
    <p:sldId id="513" r:id="rId23"/>
    <p:sldId id="514" r:id="rId24"/>
    <p:sldId id="519" r:id="rId25"/>
    <p:sldId id="524" r:id="rId26"/>
    <p:sldId id="544" r:id="rId27"/>
    <p:sldId id="545" r:id="rId28"/>
    <p:sldId id="486" r:id="rId29"/>
    <p:sldId id="487" r:id="rId30"/>
    <p:sldId id="493" r:id="rId31"/>
    <p:sldId id="490" r:id="rId32"/>
    <p:sldId id="546" r:id="rId33"/>
    <p:sldId id="540" r:id="rId34"/>
    <p:sldId id="530" r:id="rId35"/>
    <p:sldId id="531" r:id="rId36"/>
    <p:sldId id="532" r:id="rId37"/>
    <p:sldId id="533" r:id="rId38"/>
    <p:sldId id="534" r:id="rId39"/>
    <p:sldId id="535" r:id="rId40"/>
    <p:sldId id="536" r:id="rId41"/>
    <p:sldId id="494" r:id="rId42"/>
    <p:sldId id="538" r:id="rId43"/>
    <p:sldId id="543" r:id="rId44"/>
    <p:sldId id="501" r:id="rId45"/>
    <p:sldId id="489" r:id="rId46"/>
    <p:sldId id="463" r:id="rId47"/>
    <p:sldId id="491" r:id="rId48"/>
    <p:sldId id="504" r:id="rId49"/>
    <p:sldId id="505"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horzBarState="maximized">
    <p:restoredLeft sz="16268" autoAdjust="0"/>
    <p:restoredTop sz="82410" autoAdjust="0"/>
  </p:normalViewPr>
  <p:slideViewPr>
    <p:cSldViewPr snapToGrid="0" snapToObjects="1">
      <p:cViewPr varScale="1">
        <p:scale>
          <a:sx n="138" d="100"/>
          <a:sy n="138" d="100"/>
        </p:scale>
        <p:origin x="-1176" y="-104"/>
      </p:cViewPr>
      <p:guideLst>
        <p:guide orient="horz" pos="2160"/>
        <p:guide pos="2880"/>
      </p:guideLst>
    </p:cSldViewPr>
  </p:slideViewPr>
  <p:outlineViewPr>
    <p:cViewPr>
      <p:scale>
        <a:sx n="33" d="100"/>
        <a:sy n="33" d="100"/>
      </p:scale>
      <p:origin x="0" y="2484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handoutMaster" Target="handoutMasters/handoutMaster1.xml"/><Relationship Id="rId53" Type="http://schemas.openxmlformats.org/officeDocument/2006/relationships/printerSettings" Target="printerSettings/printerSettings1.bin"/><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arraghav:work:emc2:hpca_talk:graphs:power.xls"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Macintosh%20HD:Users:arraghav:work:emc2:hpca_talk:graphs:temp.xls"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Macintosh%20HD:Users:arraghav:work:emc2:hpca_talk:graphs:temp.xls"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Macintosh%20HD:Users:arraghav:work:emc2:model:graphing:sprint.xls" TargetMode="External"/></Relationships>
</file>

<file path=ppt/charts/_rels/chart20.xml.rels><?xml version="1.0" encoding="UTF-8" standalone="yes"?>
<Relationships xmlns="http://schemas.openxmlformats.org/package/2006/relationships"><Relationship Id="rId1" Type="http://schemas.openxmlformats.org/officeDocument/2006/relationships/oleObject" Target="Macintosh%20HD:Users:arraghav:work:emc2:model:graphing:adrenaline-rise-temp-talk.xls" TargetMode="External"/></Relationships>
</file>

<file path=ppt/charts/_rels/chart21.xml.rels><?xml version="1.0" encoding="UTF-8" standalone="yes"?>
<Relationships xmlns="http://schemas.openxmlformats.org/package/2006/relationships"><Relationship Id="rId1" Type="http://schemas.openxmlformats.org/officeDocument/2006/relationships/oleObject" Target="Macintosh%20HD:Users:arraghav:work:emc2:model:graphing:adrenaline-fall-temp-talk.xls" TargetMode="External"/></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3.xml.rels><?xml version="1.0" encoding="UTF-8" standalone="yes"?>
<Relationships xmlns="http://schemas.openxmlformats.org/package/2006/relationships"><Relationship Id="rId1" Type="http://schemas.openxmlformats.org/officeDocument/2006/relationships/oleObject" Target="Macintosh%20HD:Users:arraghav:work:emc2:adrenaline:proposal:presentation:proposal-graph-largest-input-16p.trace" TargetMode="External"/></Relationships>
</file>

<file path=ppt/charts/_rels/chart24.xml.rels><?xml version="1.0" encoding="UTF-8" standalone="yes"?>
<Relationships xmlns="http://schemas.openxmlformats.org/package/2006/relationships"><Relationship Id="rId1" Type="http://schemas.openxmlformats.org/officeDocument/2006/relationships/oleObject" Target="Macintosh%20HD:Users:arraghav:work:emc2:adrenaline:proposal:presentation:proposal-graph2-speedup.trace" TargetMode="External"/></Relationships>
</file>

<file path=ppt/charts/_rels/chart25.xml.rels><?xml version="1.0" encoding="UTF-8" standalone="yes"?>
<Relationships xmlns="http://schemas.openxmlformats.org/package/2006/relationships"><Relationship Id="rId1" Type="http://schemas.openxmlformats.org/officeDocument/2006/relationships/oleObject" Target="Macintosh%20HD:Users:arraghav:work:emc2:adrenaline:proposal:presentation:proposal-graph2-energy.trace" TargetMode="External"/></Relationships>
</file>

<file path=ppt/charts/_rels/chart26.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DaSi-cores-energy_1600.txt" TargetMode="External"/></Relationships>
</file>

<file path=ppt/charts/_rels/chart27.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DaSi-cores-speedup_1600.txt" TargetMode="External"/></Relationships>
</file>

<file path=ppt/charts/_rels/chart28.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DaSi-cores-power_1600.txt" TargetMode="External"/></Relationships>
</file>

<file path=ppt/charts/_rels/chart29.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DaSi-freq-energy_1.txt" TargetMode="External"/></Relationships>
</file>

<file path=ppt/charts/_rels/chart30.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DaSi-freq-speedup_1.txt" TargetMode="External"/></Relationships>
</file>

<file path=ppt/charts/_rels/chart31.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DaSi-freq-power_1.txt" TargetMode="External"/></Relationships>
</file>

<file path=ppt/charts/_rels/chart32.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DaSi-freq-energy_1.txt" TargetMode="External"/></Relationships>
</file>

<file path=ppt/charts/_rels/chart33.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scatter-speedup-energy_barnes.txt" TargetMode="External"/></Relationships>
</file>

<file path=ppt/charts/_rels/chart34.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scatter-speedup-power_barnes.txt" TargetMode="External"/></Relationships>
</file>

<file path=ppt/charts/_rels/chart35.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sprint_speedup_barnes.txt" TargetMode="External"/></Relationships>
</file>

<file path=ppt/charts/_rels/chart36.xml.rels><?xml version="1.0" encoding="UTF-8" standalone="yes"?>
<Relationships xmlns="http://schemas.openxmlformats.org/package/2006/relationships"><Relationship Id="rId1" Type="http://schemas.openxmlformats.org/officeDocument/2006/relationships/oleObject" Target="Macintosh%20HD:Users:arraghav:work:emc2:sprint:dark-silicon-workshop:talk:sprint_energy_barnes.txt" TargetMode="External"/></Relationships>
</file>

<file path=ppt/charts/_rels/chart37.xml.rels><?xml version="1.0" encoding="UTF-8" standalone="yes"?>
<Relationships xmlns="http://schemas.openxmlformats.org/package/2006/relationships"><Relationship Id="rId1" Type="http://schemas.openxmlformats.org/officeDocument/2006/relationships/oleObject" Target="Macintosh%20HD:Users:arraghav:work:emc2:adrenaline:proposal:presentation:proposal-graph-largest-input-16p.trace" TargetMode="External"/></Relationships>
</file>

<file path=ppt/charts/_rels/chart38.xml.rels><?xml version="1.0" encoding="UTF-8" standalone="yes"?>
<Relationships xmlns="http://schemas.openxmlformats.org/package/2006/relationships"><Relationship Id="rId1" Type="http://schemas.openxmlformats.org/officeDocument/2006/relationships/oleObject" Target="Macintosh%20HD:Users:arraghav:work:emc2:hpca_talk:graphs:temp-bursty.xls" TargetMode="External"/></Relationships>
</file>

<file path=ppt/charts/_rels/chart39.xml.rels><?xml version="1.0" encoding="UTF-8" standalone="yes"?>
<Relationships xmlns="http://schemas.openxmlformats.org/package/2006/relationships"><Relationship Id="rId1" Type="http://schemas.openxmlformats.org/officeDocument/2006/relationships/oleObject" Target="Macintosh%20HD:Users:arraghav:work:emc2:hpca_talk:graphs:power-bursty.xls" TargetMode="External"/></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scatterChart>
        <c:scatterStyle val="smoothMarker"/>
        <c:ser>
          <c:idx val="1"/>
          <c:order val="0"/>
          <c:spPr>
            <a:ln>
              <a:solidFill>
                <a:schemeClr val="tx1"/>
              </a:solidFill>
            </a:ln>
          </c:spPr>
          <c:marker>
            <c:symbol val="none"/>
          </c:marker>
          <c:xVal>
            <c:numRef>
              <c:f>'power.xls'!$A$1:$A$49</c:f>
              <c:numCache>
                <c:formatCode>General</c:formatCode>
                <c:ptCount val="49"/>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numCache>
            </c:numRef>
          </c:xVal>
          <c:yVal>
            <c:numRef>
              <c:f>'power.xls'!$C$1:$C$49</c:f>
              <c:numCache>
                <c:formatCode>General</c:formatCode>
                <c:ptCount val="49"/>
                <c:pt idx="0">
                  <c:v>0.0</c:v>
                </c:pt>
                <c:pt idx="1">
                  <c:v>0.0</c:v>
                </c:pt>
                <c:pt idx="2">
                  <c:v>0.0</c:v>
                </c:pt>
                <c:pt idx="3">
                  <c:v>0.0</c:v>
                </c:pt>
                <c:pt idx="4">
                  <c:v>0.0</c:v>
                </c:pt>
                <c:pt idx="5">
                  <c:v>0.0</c:v>
                </c:pt>
                <c:pt idx="6">
                  <c:v>0.0</c:v>
                </c:pt>
                <c:pt idx="7">
                  <c:v>0.0</c:v>
                </c:pt>
                <c:pt idx="8">
                  <c:v>0.0</c:v>
                </c:pt>
                <c:pt idx="9">
                  <c:v>0.0</c:v>
                </c:pt>
                <c:pt idx="10">
                  <c:v>0.0</c:v>
                </c:pt>
                <c:pt idx="11">
                  <c:v>2.0</c:v>
                </c:pt>
                <c:pt idx="12">
                  <c:v>2.0</c:v>
                </c:pt>
                <c:pt idx="13">
                  <c:v>2.0</c:v>
                </c:pt>
                <c:pt idx="14">
                  <c:v>2.0</c:v>
                </c:pt>
                <c:pt idx="15">
                  <c:v>2.0</c:v>
                </c:pt>
                <c:pt idx="16">
                  <c:v>2.0</c:v>
                </c:pt>
                <c:pt idx="17">
                  <c:v>2.0</c:v>
                </c:pt>
                <c:pt idx="18">
                  <c:v>2.0</c:v>
                </c:pt>
                <c:pt idx="19">
                  <c:v>2.0</c:v>
                </c:pt>
                <c:pt idx="20">
                  <c:v>2.0</c:v>
                </c:pt>
                <c:pt idx="21">
                  <c:v>2.0</c:v>
                </c:pt>
                <c:pt idx="22">
                  <c:v>2.0</c:v>
                </c:pt>
                <c:pt idx="23">
                  <c:v>2.0</c:v>
                </c:pt>
                <c:pt idx="24">
                  <c:v>2.0</c:v>
                </c:pt>
                <c:pt idx="25">
                  <c:v>2.0</c:v>
                </c:pt>
                <c:pt idx="26">
                  <c:v>2.0</c:v>
                </c:pt>
                <c:pt idx="27">
                  <c:v>2.0</c:v>
                </c:pt>
                <c:pt idx="28">
                  <c:v>2.0</c:v>
                </c:pt>
                <c:pt idx="29">
                  <c:v>2.0</c:v>
                </c:pt>
                <c:pt idx="30">
                  <c:v>2.0</c:v>
                </c:pt>
                <c:pt idx="31">
                  <c:v>2.0</c:v>
                </c:pt>
                <c:pt idx="32">
                  <c:v>2.0</c:v>
                </c:pt>
                <c:pt idx="33">
                  <c:v>2.0</c:v>
                </c:pt>
                <c:pt idx="34">
                  <c:v>2.0</c:v>
                </c:pt>
                <c:pt idx="35">
                  <c:v>2.0</c:v>
                </c:pt>
                <c:pt idx="36">
                  <c:v>2.0</c:v>
                </c:pt>
                <c:pt idx="37">
                  <c:v>2.0</c:v>
                </c:pt>
                <c:pt idx="38">
                  <c:v>2.0</c:v>
                </c:pt>
                <c:pt idx="39">
                  <c:v>2.0</c:v>
                </c:pt>
                <c:pt idx="40">
                  <c:v>2.0</c:v>
                </c:pt>
                <c:pt idx="41">
                  <c:v>2.0</c:v>
                </c:pt>
                <c:pt idx="42">
                  <c:v>2.0</c:v>
                </c:pt>
                <c:pt idx="43">
                  <c:v>2.0</c:v>
                </c:pt>
                <c:pt idx="44">
                  <c:v>2.0</c:v>
                </c:pt>
                <c:pt idx="45">
                  <c:v>2.0</c:v>
                </c:pt>
                <c:pt idx="46">
                  <c:v>2.0</c:v>
                </c:pt>
                <c:pt idx="47">
                  <c:v>2.0</c:v>
                </c:pt>
                <c:pt idx="48">
                  <c:v>2.0</c:v>
                </c:pt>
              </c:numCache>
            </c:numRef>
          </c:yVal>
        </c:ser>
        <c:ser>
          <c:idx val="3"/>
          <c:order val="1"/>
          <c:spPr>
            <a:ln>
              <a:solidFill>
                <a:schemeClr val="accent6"/>
              </a:solidFill>
            </a:ln>
          </c:spPr>
          <c:marker>
            <c:symbol val="none"/>
          </c:marker>
          <c:xVal>
            <c:numRef>
              <c:f>'power.xls'!$A$1:$A$49</c:f>
              <c:numCache>
                <c:formatCode>General</c:formatCode>
                <c:ptCount val="49"/>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numCache>
            </c:numRef>
          </c:xVal>
          <c:yVal>
            <c:numRef>
              <c:f>'power.xls'!$E$1:$E$49</c:f>
              <c:numCache>
                <c:formatCode>General</c:formatCode>
                <c:ptCount val="49"/>
                <c:pt idx="0">
                  <c:v>0.0</c:v>
                </c:pt>
                <c:pt idx="1">
                  <c:v>0.0</c:v>
                </c:pt>
                <c:pt idx="2">
                  <c:v>0.0</c:v>
                </c:pt>
                <c:pt idx="3">
                  <c:v>0.0</c:v>
                </c:pt>
                <c:pt idx="4">
                  <c:v>0.0</c:v>
                </c:pt>
                <c:pt idx="5">
                  <c:v>0.0</c:v>
                </c:pt>
                <c:pt idx="6">
                  <c:v>0.0</c:v>
                </c:pt>
                <c:pt idx="7">
                  <c:v>0.0</c:v>
                </c:pt>
                <c:pt idx="8">
                  <c:v>0.0</c:v>
                </c:pt>
                <c:pt idx="9">
                  <c:v>0.0</c:v>
                </c:pt>
                <c:pt idx="10">
                  <c:v>0.0</c:v>
                </c:pt>
                <c:pt idx="11">
                  <c:v>8.0</c:v>
                </c:pt>
                <c:pt idx="12">
                  <c:v>8.0</c:v>
                </c:pt>
                <c:pt idx="13">
                  <c:v>8.0</c:v>
                </c:pt>
                <c:pt idx="14">
                  <c:v>8.0</c:v>
                </c:pt>
                <c:pt idx="15">
                  <c:v>8.0</c:v>
                </c:pt>
                <c:pt idx="16">
                  <c:v>8.0</c:v>
                </c:pt>
                <c:pt idx="17">
                  <c:v>8.0</c:v>
                </c:pt>
                <c:pt idx="18">
                  <c:v>8.0</c:v>
                </c:pt>
                <c:pt idx="19">
                  <c:v>8.0</c:v>
                </c:pt>
                <c:pt idx="20">
                  <c:v>8.0</c:v>
                </c:pt>
                <c:pt idx="21">
                  <c:v>8.0</c:v>
                </c:pt>
                <c:pt idx="22">
                  <c:v>8.0</c:v>
                </c:pt>
                <c:pt idx="23">
                  <c:v>8.0</c:v>
                </c:pt>
                <c:pt idx="24">
                  <c:v>8.0</c:v>
                </c:pt>
                <c:pt idx="25">
                  <c:v>8.0</c:v>
                </c:pt>
                <c:pt idx="26">
                  <c:v>8.0</c:v>
                </c:pt>
                <c:pt idx="27">
                  <c:v>8.0</c:v>
                </c:pt>
                <c:pt idx="28">
                  <c:v>8.0</c:v>
                </c:pt>
                <c:pt idx="29">
                  <c:v>8.0</c:v>
                </c:pt>
                <c:pt idx="30">
                  <c:v>8.0</c:v>
                </c:pt>
                <c:pt idx="31">
                  <c:v>8.0</c:v>
                </c:pt>
                <c:pt idx="32">
                  <c:v>8.0</c:v>
                </c:pt>
                <c:pt idx="33">
                  <c:v>8.0</c:v>
                </c:pt>
                <c:pt idx="34">
                  <c:v>8.0</c:v>
                </c:pt>
                <c:pt idx="35">
                  <c:v>8.0</c:v>
                </c:pt>
                <c:pt idx="36">
                  <c:v>8.0</c:v>
                </c:pt>
                <c:pt idx="37">
                  <c:v>8.0</c:v>
                </c:pt>
                <c:pt idx="38">
                  <c:v>8.0</c:v>
                </c:pt>
                <c:pt idx="39">
                  <c:v>8.0</c:v>
                </c:pt>
                <c:pt idx="40">
                  <c:v>8.0</c:v>
                </c:pt>
                <c:pt idx="41">
                  <c:v>8.0</c:v>
                </c:pt>
                <c:pt idx="42">
                  <c:v>8.0</c:v>
                </c:pt>
                <c:pt idx="43">
                  <c:v>8.0</c:v>
                </c:pt>
                <c:pt idx="44">
                  <c:v>8.0</c:v>
                </c:pt>
                <c:pt idx="45">
                  <c:v>8.0</c:v>
                </c:pt>
                <c:pt idx="46">
                  <c:v>8.0</c:v>
                </c:pt>
                <c:pt idx="47">
                  <c:v>8.0</c:v>
                </c:pt>
                <c:pt idx="48">
                  <c:v>8.0</c:v>
                </c:pt>
              </c:numCache>
            </c:numRef>
          </c:yVal>
        </c:ser>
        <c:ser>
          <c:idx val="4"/>
          <c:order val="2"/>
          <c:spPr>
            <a:ln>
              <a:solidFill>
                <a:schemeClr val="tx2"/>
              </a:solidFill>
            </a:ln>
          </c:spPr>
          <c:marker>
            <c:symbol val="none"/>
          </c:marker>
          <c:xVal>
            <c:numRef>
              <c:f>'power.xls'!$A$1:$A$49</c:f>
              <c:numCache>
                <c:formatCode>General</c:formatCode>
                <c:ptCount val="49"/>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numCache>
            </c:numRef>
          </c:xVal>
          <c:yVal>
            <c:numRef>
              <c:f>'power.xls'!$F$1:$F$49</c:f>
              <c:numCache>
                <c:formatCode>General</c:formatCode>
                <c:ptCount val="49"/>
                <c:pt idx="0">
                  <c:v>0.0</c:v>
                </c:pt>
                <c:pt idx="1">
                  <c:v>0.0</c:v>
                </c:pt>
                <c:pt idx="2">
                  <c:v>0.0</c:v>
                </c:pt>
                <c:pt idx="3">
                  <c:v>0.0</c:v>
                </c:pt>
                <c:pt idx="4">
                  <c:v>0.0</c:v>
                </c:pt>
                <c:pt idx="5">
                  <c:v>0.0</c:v>
                </c:pt>
                <c:pt idx="6">
                  <c:v>0.0</c:v>
                </c:pt>
                <c:pt idx="7">
                  <c:v>0.0</c:v>
                </c:pt>
                <c:pt idx="8">
                  <c:v>0.0</c:v>
                </c:pt>
                <c:pt idx="9">
                  <c:v>0.0</c:v>
                </c:pt>
                <c:pt idx="10">
                  <c:v>0.0</c:v>
                </c:pt>
                <c:pt idx="11">
                  <c:v>16.0</c:v>
                </c:pt>
                <c:pt idx="12">
                  <c:v>16.0</c:v>
                </c:pt>
                <c:pt idx="13">
                  <c:v>16.0</c:v>
                </c:pt>
                <c:pt idx="14">
                  <c:v>16.0</c:v>
                </c:pt>
                <c:pt idx="15">
                  <c:v>16.0</c:v>
                </c:pt>
                <c:pt idx="16">
                  <c:v>16.0</c:v>
                </c:pt>
                <c:pt idx="17">
                  <c:v>16.0</c:v>
                </c:pt>
                <c:pt idx="18">
                  <c:v>16.0</c:v>
                </c:pt>
                <c:pt idx="19">
                  <c:v>16.0</c:v>
                </c:pt>
                <c:pt idx="20">
                  <c:v>16.0</c:v>
                </c:pt>
                <c:pt idx="21">
                  <c:v>16.0</c:v>
                </c:pt>
                <c:pt idx="22">
                  <c:v>16.0</c:v>
                </c:pt>
                <c:pt idx="23">
                  <c:v>16.0</c:v>
                </c:pt>
                <c:pt idx="24">
                  <c:v>16.0</c:v>
                </c:pt>
                <c:pt idx="25">
                  <c:v>16.0</c:v>
                </c:pt>
                <c:pt idx="26">
                  <c:v>16.0</c:v>
                </c:pt>
                <c:pt idx="27">
                  <c:v>16.0</c:v>
                </c:pt>
                <c:pt idx="28">
                  <c:v>16.0</c:v>
                </c:pt>
                <c:pt idx="29">
                  <c:v>16.0</c:v>
                </c:pt>
                <c:pt idx="30">
                  <c:v>16.0</c:v>
                </c:pt>
                <c:pt idx="31">
                  <c:v>16.0</c:v>
                </c:pt>
                <c:pt idx="32">
                  <c:v>16.0</c:v>
                </c:pt>
                <c:pt idx="33">
                  <c:v>16.0</c:v>
                </c:pt>
                <c:pt idx="34">
                  <c:v>16.0</c:v>
                </c:pt>
                <c:pt idx="35">
                  <c:v>16.0</c:v>
                </c:pt>
                <c:pt idx="36">
                  <c:v>16.0</c:v>
                </c:pt>
                <c:pt idx="37">
                  <c:v>16.0</c:v>
                </c:pt>
                <c:pt idx="38">
                  <c:v>16.0</c:v>
                </c:pt>
                <c:pt idx="39">
                  <c:v>16.0</c:v>
                </c:pt>
                <c:pt idx="40">
                  <c:v>16.0</c:v>
                </c:pt>
                <c:pt idx="41">
                  <c:v>16.0</c:v>
                </c:pt>
                <c:pt idx="42">
                  <c:v>16.0</c:v>
                </c:pt>
                <c:pt idx="43">
                  <c:v>16.0</c:v>
                </c:pt>
                <c:pt idx="44">
                  <c:v>16.0</c:v>
                </c:pt>
                <c:pt idx="45">
                  <c:v>16.0</c:v>
                </c:pt>
                <c:pt idx="46">
                  <c:v>16.0</c:v>
                </c:pt>
                <c:pt idx="47">
                  <c:v>16.0</c:v>
                </c:pt>
                <c:pt idx="48">
                  <c:v>16.0</c:v>
                </c:pt>
              </c:numCache>
            </c:numRef>
          </c:yVal>
        </c:ser>
        <c:axId val="212722888"/>
        <c:axId val="212725832"/>
      </c:scatterChart>
      <c:valAx>
        <c:axId val="212722888"/>
        <c:scaling>
          <c:orientation val="minMax"/>
          <c:max val="200.0"/>
          <c:min val="0.0"/>
        </c:scaling>
        <c:delete val="1"/>
        <c:axPos val="b"/>
        <c:numFmt formatCode="General" sourceLinked="1"/>
        <c:tickLblPos val="nextTo"/>
        <c:crossAx val="212725832"/>
        <c:crossesAt val="0.0"/>
        <c:crossBetween val="midCat"/>
        <c:majorUnit val="5000.0"/>
        <c:minorUnit val="1000.0"/>
      </c:valAx>
      <c:valAx>
        <c:axId val="212725832"/>
        <c:scaling>
          <c:orientation val="minMax"/>
          <c:max val="17.0"/>
          <c:min val="0.0"/>
        </c:scaling>
        <c:axPos val="l"/>
        <c:majorGridlines/>
        <c:numFmt formatCode="General" sourceLinked="1"/>
        <c:tickLblPos val="nextTo"/>
        <c:crossAx val="212722888"/>
        <c:crossesAt val="0.0"/>
        <c:crossBetween val="midCat"/>
        <c:minorUnit val="100.0"/>
      </c:valAx>
    </c:plotArea>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scatterChart>
        <c:scatterStyle val="smoothMarker"/>
        <c:ser>
          <c:idx val="1"/>
          <c:order val="0"/>
          <c:spPr>
            <a:ln>
              <a:solidFill>
                <a:schemeClr val="tx1"/>
              </a:solidFill>
            </a:ln>
          </c:spPr>
          <c:marker>
            <c:symbol val="none"/>
          </c:marker>
          <c:xVal>
            <c:numRef>
              <c:f>'temp.xls'!$A$1:$A$49</c:f>
              <c:numCache>
                <c:formatCode>General</c:formatCode>
                <c:ptCount val="49"/>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numCache>
            </c:numRef>
          </c:xVal>
          <c:yVal>
            <c:numRef>
              <c:f>'temp.xls'!$C$1:$C$49</c:f>
              <c:numCache>
                <c:formatCode>General</c:formatCode>
                <c:ptCount val="49"/>
                <c:pt idx="0">
                  <c:v>25.0</c:v>
                </c:pt>
                <c:pt idx="1">
                  <c:v>25.0</c:v>
                </c:pt>
                <c:pt idx="2">
                  <c:v>25.0</c:v>
                </c:pt>
                <c:pt idx="3">
                  <c:v>25.0</c:v>
                </c:pt>
                <c:pt idx="4">
                  <c:v>25.0</c:v>
                </c:pt>
                <c:pt idx="5">
                  <c:v>25.0</c:v>
                </c:pt>
                <c:pt idx="6">
                  <c:v>25.0</c:v>
                </c:pt>
                <c:pt idx="7">
                  <c:v>25.0</c:v>
                </c:pt>
                <c:pt idx="8">
                  <c:v>25.0</c:v>
                </c:pt>
                <c:pt idx="9">
                  <c:v>25.0</c:v>
                </c:pt>
                <c:pt idx="10">
                  <c:v>25.0</c:v>
                </c:pt>
                <c:pt idx="11">
                  <c:v>27.0</c:v>
                </c:pt>
                <c:pt idx="12">
                  <c:v>36.3527601172</c:v>
                </c:pt>
                <c:pt idx="13">
                  <c:v>44.7114961229</c:v>
                </c:pt>
                <c:pt idx="14">
                  <c:v>52.1818542565</c:v>
                </c:pt>
                <c:pt idx="15">
                  <c:v>58.8582525309</c:v>
                </c:pt>
                <c:pt idx="16">
                  <c:v>64.82507408359963</c:v>
                </c:pt>
                <c:pt idx="17">
                  <c:v>70.1577336972</c:v>
                </c:pt>
                <c:pt idx="18">
                  <c:v>74.9236309681</c:v>
                </c:pt>
                <c:pt idx="19">
                  <c:v>79.18300217179961</c:v>
                </c:pt>
                <c:pt idx="20">
                  <c:v>82.98968159</c:v>
                </c:pt>
                <c:pt idx="21">
                  <c:v>86.39178192369975</c:v>
                </c:pt>
                <c:pt idx="22">
                  <c:v>89.43230239019969</c:v>
                </c:pt>
                <c:pt idx="23">
                  <c:v>92.1496721912</c:v>
                </c:pt>
                <c:pt idx="24">
                  <c:v>94.57823622070001</c:v>
                </c:pt>
                <c:pt idx="25">
                  <c:v>96.74868915019998</c:v>
                </c:pt>
                <c:pt idx="26">
                  <c:v>98.6884633798</c:v>
                </c:pt>
                <c:pt idx="27">
                  <c:v>100.422075757</c:v>
                </c:pt>
                <c:pt idx="28">
                  <c:v>101.971437444</c:v>
                </c:pt>
                <c:pt idx="29">
                  <c:v>103.356130856</c:v>
                </c:pt>
                <c:pt idx="30">
                  <c:v>104.593657162</c:v>
                </c:pt>
                <c:pt idx="31">
                  <c:v>105.699657483</c:v>
                </c:pt>
                <c:pt idx="32">
                  <c:v>106.68811058</c:v>
                </c:pt>
                <c:pt idx="33">
                  <c:v>107.571509533</c:v>
                </c:pt>
                <c:pt idx="34">
                  <c:v>108.36101964</c:v>
                </c:pt>
                <c:pt idx="35">
                  <c:v>109.066619534</c:v>
                </c:pt>
                <c:pt idx="36">
                  <c:v>109.697227309</c:v>
                </c:pt>
                <c:pt idx="37">
                  <c:v>110.260813229</c:v>
                </c:pt>
                <c:pt idx="38">
                  <c:v>110.764500468</c:v>
                </c:pt>
                <c:pt idx="39">
                  <c:v>111.214655139</c:v>
                </c:pt>
                <c:pt idx="40">
                  <c:v>111.616966758</c:v>
                </c:pt>
                <c:pt idx="41">
                  <c:v>111.976520149</c:v>
                </c:pt>
                <c:pt idx="42">
                  <c:v>112.297859714</c:v>
                </c:pt>
                <c:pt idx="43">
                  <c:v>112.585046872</c:v>
                </c:pt>
                <c:pt idx="44">
                  <c:v>112.841711387</c:v>
                </c:pt>
                <c:pt idx="45">
                  <c:v>113.071097247</c:v>
                </c:pt>
                <c:pt idx="46">
                  <c:v>113.276103664</c:v>
                </c:pt>
                <c:pt idx="47">
                  <c:v>113.45932172</c:v>
                </c:pt>
                <c:pt idx="48">
                  <c:v>113.62306711</c:v>
                </c:pt>
              </c:numCache>
            </c:numRef>
          </c:yVal>
          <c:smooth val="1"/>
        </c:ser>
        <c:ser>
          <c:idx val="3"/>
          <c:order val="1"/>
          <c:spPr>
            <a:ln>
              <a:solidFill>
                <a:schemeClr val="accent6"/>
              </a:solidFill>
            </a:ln>
          </c:spPr>
          <c:marker>
            <c:symbol val="none"/>
          </c:marker>
          <c:xVal>
            <c:numRef>
              <c:f>'temp.xls'!$A$1:$A$49</c:f>
              <c:numCache>
                <c:formatCode>General</c:formatCode>
                <c:ptCount val="49"/>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numCache>
            </c:numRef>
          </c:xVal>
          <c:yVal>
            <c:numRef>
              <c:f>'temp.xls'!$E$1:$E$49</c:f>
              <c:numCache>
                <c:formatCode>General</c:formatCode>
                <c:ptCount val="49"/>
                <c:pt idx="0">
                  <c:v>25.0</c:v>
                </c:pt>
                <c:pt idx="1">
                  <c:v>25.0</c:v>
                </c:pt>
                <c:pt idx="2">
                  <c:v>25.0</c:v>
                </c:pt>
                <c:pt idx="3">
                  <c:v>25.0</c:v>
                </c:pt>
                <c:pt idx="4">
                  <c:v>25.0</c:v>
                </c:pt>
                <c:pt idx="5">
                  <c:v>25.0</c:v>
                </c:pt>
                <c:pt idx="6">
                  <c:v>25.0</c:v>
                </c:pt>
                <c:pt idx="7">
                  <c:v>25.0</c:v>
                </c:pt>
                <c:pt idx="8">
                  <c:v>25.0</c:v>
                </c:pt>
                <c:pt idx="9">
                  <c:v>25.0</c:v>
                </c:pt>
                <c:pt idx="10">
                  <c:v>25.0</c:v>
                </c:pt>
                <c:pt idx="11">
                  <c:v>33.0</c:v>
                </c:pt>
                <c:pt idx="12">
                  <c:v>70.4110404688</c:v>
                </c:pt>
                <c:pt idx="13">
                  <c:v>103.845984492</c:v>
                </c:pt>
                <c:pt idx="14">
                  <c:v>133.727417026</c:v>
                </c:pt>
                <c:pt idx="15">
                  <c:v>160.433010124</c:v>
                </c:pt>
                <c:pt idx="16">
                  <c:v>184.300296334</c:v>
                </c:pt>
                <c:pt idx="17">
                  <c:v>205.630934789</c:v>
                </c:pt>
                <c:pt idx="18">
                  <c:v>224.694523872</c:v>
                </c:pt>
                <c:pt idx="19">
                  <c:v>241.732008687</c:v>
                </c:pt>
                <c:pt idx="20">
                  <c:v>256.95872636</c:v>
                </c:pt>
                <c:pt idx="21">
                  <c:v>270.567127695</c:v>
                </c:pt>
                <c:pt idx="22">
                  <c:v>282.7292095609992</c:v>
                </c:pt>
                <c:pt idx="23">
                  <c:v>293.598688765</c:v>
                </c:pt>
                <c:pt idx="24">
                  <c:v>303.312944883</c:v>
                </c:pt>
                <c:pt idx="25">
                  <c:v>311.9947566009996</c:v>
                </c:pt>
                <c:pt idx="26">
                  <c:v>319.753853519</c:v>
                </c:pt>
                <c:pt idx="27">
                  <c:v>326.688303026</c:v>
                </c:pt>
                <c:pt idx="28">
                  <c:v>332.885749774</c:v>
                </c:pt>
                <c:pt idx="29">
                  <c:v>338.4245234219989</c:v>
                </c:pt>
                <c:pt idx="30">
                  <c:v>343.374628647</c:v>
                </c:pt>
                <c:pt idx="31">
                  <c:v>347.7986299319986</c:v>
                </c:pt>
                <c:pt idx="32">
                  <c:v>351.752442321</c:v>
                </c:pt>
                <c:pt idx="33">
                  <c:v>355.286038133</c:v>
                </c:pt>
                <c:pt idx="34">
                  <c:v>358.444078559</c:v>
                </c:pt>
                <c:pt idx="35">
                  <c:v>361.266478138</c:v>
                </c:pt>
                <c:pt idx="36">
                  <c:v>363.7889092369986</c:v>
                </c:pt>
                <c:pt idx="37">
                  <c:v>366.043252916</c:v>
                </c:pt>
                <c:pt idx="38">
                  <c:v>368.058001871</c:v>
                </c:pt>
                <c:pt idx="39">
                  <c:v>369.858620557</c:v>
                </c:pt>
                <c:pt idx="40">
                  <c:v>371.467867032</c:v>
                </c:pt>
                <c:pt idx="41">
                  <c:v>372.906080595</c:v>
                </c:pt>
                <c:pt idx="42">
                  <c:v>374.1914388569986</c:v>
                </c:pt>
                <c:pt idx="43">
                  <c:v>375.340187489</c:v>
                </c:pt>
                <c:pt idx="44">
                  <c:v>376.366845548</c:v>
                </c:pt>
                <c:pt idx="45">
                  <c:v>377.2843889869989</c:v>
                </c:pt>
                <c:pt idx="46">
                  <c:v>378.104414657</c:v>
                </c:pt>
                <c:pt idx="47">
                  <c:v>378.837286879</c:v>
                </c:pt>
                <c:pt idx="48">
                  <c:v>379.4922684419986</c:v>
                </c:pt>
              </c:numCache>
            </c:numRef>
          </c:yVal>
          <c:smooth val="1"/>
        </c:ser>
        <c:ser>
          <c:idx val="4"/>
          <c:order val="2"/>
          <c:spPr>
            <a:ln>
              <a:solidFill>
                <a:schemeClr val="tx2"/>
              </a:solidFill>
            </a:ln>
          </c:spPr>
          <c:marker>
            <c:symbol val="none"/>
          </c:marker>
          <c:xVal>
            <c:numRef>
              <c:f>'temp.xls'!$A$1:$A$49</c:f>
              <c:numCache>
                <c:formatCode>General</c:formatCode>
                <c:ptCount val="49"/>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numCache>
            </c:numRef>
          </c:xVal>
          <c:yVal>
            <c:numRef>
              <c:f>'temp.xls'!$F$1:$F$49</c:f>
              <c:numCache>
                <c:formatCode>General</c:formatCode>
                <c:ptCount val="49"/>
                <c:pt idx="0">
                  <c:v>25.0</c:v>
                </c:pt>
                <c:pt idx="1">
                  <c:v>25.0</c:v>
                </c:pt>
                <c:pt idx="2">
                  <c:v>25.0</c:v>
                </c:pt>
                <c:pt idx="3">
                  <c:v>25.0</c:v>
                </c:pt>
                <c:pt idx="4">
                  <c:v>25.0</c:v>
                </c:pt>
                <c:pt idx="5">
                  <c:v>25.0</c:v>
                </c:pt>
                <c:pt idx="6">
                  <c:v>25.0</c:v>
                </c:pt>
                <c:pt idx="7">
                  <c:v>25.0</c:v>
                </c:pt>
                <c:pt idx="8">
                  <c:v>25.0</c:v>
                </c:pt>
                <c:pt idx="9">
                  <c:v>25.0</c:v>
                </c:pt>
                <c:pt idx="10">
                  <c:v>25.0</c:v>
                </c:pt>
                <c:pt idx="11">
                  <c:v>41.0</c:v>
                </c:pt>
                <c:pt idx="12">
                  <c:v>115.822080938</c:v>
                </c:pt>
                <c:pt idx="13">
                  <c:v>182.691968983</c:v>
                </c:pt>
                <c:pt idx="14">
                  <c:v>242.454834052</c:v>
                </c:pt>
                <c:pt idx="15">
                  <c:v>295.8660202469989</c:v>
                </c:pt>
                <c:pt idx="16">
                  <c:v>343.600592669</c:v>
                </c:pt>
                <c:pt idx="17">
                  <c:v>386.261869577</c:v>
                </c:pt>
                <c:pt idx="18">
                  <c:v>424.389047745</c:v>
                </c:pt>
                <c:pt idx="19">
                  <c:v>458.464017374</c:v>
                </c:pt>
                <c:pt idx="20">
                  <c:v>488.91745272</c:v>
                </c:pt>
                <c:pt idx="21">
                  <c:v>516.1342553899983</c:v>
                </c:pt>
                <c:pt idx="22">
                  <c:v>540.4584191209983</c:v>
                </c:pt>
                <c:pt idx="23">
                  <c:v>562.19737753</c:v>
                </c:pt>
                <c:pt idx="24">
                  <c:v>581.625889766</c:v>
                </c:pt>
                <c:pt idx="25">
                  <c:v>598.989513202</c:v>
                </c:pt>
                <c:pt idx="26">
                  <c:v>614.507707038</c:v>
                </c:pt>
                <c:pt idx="27">
                  <c:v>628.3766060520001</c:v>
                </c:pt>
                <c:pt idx="28">
                  <c:v>640.771499548</c:v>
                </c:pt>
                <c:pt idx="29">
                  <c:v>651.8490468449978</c:v>
                </c:pt>
                <c:pt idx="30">
                  <c:v>661.7492572939983</c:v>
                </c:pt>
                <c:pt idx="31">
                  <c:v>670.5972598639977</c:v>
                </c:pt>
                <c:pt idx="32">
                  <c:v>678.504884643</c:v>
                </c:pt>
                <c:pt idx="33">
                  <c:v>685.572076266</c:v>
                </c:pt>
                <c:pt idx="34">
                  <c:v>691.888157118</c:v>
                </c:pt>
                <c:pt idx="35">
                  <c:v>697.532956276</c:v>
                </c:pt>
                <c:pt idx="36">
                  <c:v>702.577818474</c:v>
                </c:pt>
                <c:pt idx="37">
                  <c:v>707.086505831</c:v>
                </c:pt>
                <c:pt idx="38">
                  <c:v>711.116003742</c:v>
                </c:pt>
                <c:pt idx="39">
                  <c:v>714.717241114998</c:v>
                </c:pt>
                <c:pt idx="40">
                  <c:v>717.935734064</c:v>
                </c:pt>
                <c:pt idx="41">
                  <c:v>720.8121611899967</c:v>
                </c:pt>
                <c:pt idx="42">
                  <c:v>723.382877714</c:v>
                </c:pt>
                <c:pt idx="43">
                  <c:v>725.680374977</c:v>
                </c:pt>
                <c:pt idx="44">
                  <c:v>727.7336910949994</c:v>
                </c:pt>
                <c:pt idx="45">
                  <c:v>729.568777974</c:v>
                </c:pt>
                <c:pt idx="46">
                  <c:v>731.208829314</c:v>
                </c:pt>
                <c:pt idx="47">
                  <c:v>732.674573759</c:v>
                </c:pt>
                <c:pt idx="48">
                  <c:v>733.9845368839983</c:v>
                </c:pt>
              </c:numCache>
            </c:numRef>
          </c:yVal>
          <c:smooth val="1"/>
        </c:ser>
        <c:axId val="212787128"/>
        <c:axId val="212790072"/>
      </c:scatterChart>
      <c:valAx>
        <c:axId val="212787128"/>
        <c:scaling>
          <c:orientation val="minMax"/>
          <c:max val="200.0"/>
          <c:min val="0.0"/>
        </c:scaling>
        <c:delete val="1"/>
        <c:axPos val="b"/>
        <c:numFmt formatCode="General" sourceLinked="1"/>
        <c:tickLblPos val="nextTo"/>
        <c:crossAx val="212790072"/>
        <c:crossesAt val="0.0"/>
        <c:crossBetween val="midCat"/>
        <c:majorUnit val="50.0"/>
        <c:minorUnit val="10.0"/>
      </c:valAx>
      <c:valAx>
        <c:axId val="212790072"/>
        <c:scaling>
          <c:orientation val="minMax"/>
          <c:max val="800.0"/>
          <c:min val="0.0"/>
        </c:scaling>
        <c:axPos val="l"/>
        <c:majorGridlines/>
        <c:numFmt formatCode="General" sourceLinked="1"/>
        <c:tickLblPos val="nextTo"/>
        <c:crossAx val="212787128"/>
        <c:crossesAt val="0.0"/>
        <c:crossBetween val="midCat"/>
        <c:minorUnit val="2000.0"/>
      </c:valAx>
    </c:plotArea>
    <c:plotVisOnly val="1"/>
  </c:chart>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scatterChart>
        <c:scatterStyle val="smoothMarker"/>
        <c:ser>
          <c:idx val="0"/>
          <c:order val="2"/>
          <c:spPr>
            <a:ln>
              <a:solidFill>
                <a:schemeClr val="tx2"/>
              </a:solidFill>
            </a:ln>
          </c:spPr>
          <c:marker>
            <c:symbol val="none"/>
          </c:marker>
          <c:xVal>
            <c:numRef>
              <c:f>'temp.xls'!$A$1:$A$49</c:f>
              <c:numCache>
                <c:formatCode>General</c:formatCode>
                <c:ptCount val="49"/>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numCache>
            </c:numRef>
          </c:xVal>
          <c:yVal>
            <c:numRef>
              <c:f>'temp.xls'!$C$1:$C$49</c:f>
              <c:numCache>
                <c:formatCode>General</c:formatCode>
                <c:ptCount val="49"/>
                <c:pt idx="0">
                  <c:v>25.0</c:v>
                </c:pt>
                <c:pt idx="1">
                  <c:v>25.0</c:v>
                </c:pt>
                <c:pt idx="2">
                  <c:v>25.0</c:v>
                </c:pt>
                <c:pt idx="3">
                  <c:v>25.0</c:v>
                </c:pt>
                <c:pt idx="4">
                  <c:v>25.0</c:v>
                </c:pt>
                <c:pt idx="5">
                  <c:v>25.0</c:v>
                </c:pt>
                <c:pt idx="6">
                  <c:v>25.0</c:v>
                </c:pt>
                <c:pt idx="7">
                  <c:v>25.0</c:v>
                </c:pt>
                <c:pt idx="8">
                  <c:v>25.0</c:v>
                </c:pt>
                <c:pt idx="9">
                  <c:v>25.0</c:v>
                </c:pt>
                <c:pt idx="10">
                  <c:v>25.0</c:v>
                </c:pt>
                <c:pt idx="11">
                  <c:v>27.0</c:v>
                </c:pt>
                <c:pt idx="12">
                  <c:v>36.3527601172</c:v>
                </c:pt>
                <c:pt idx="13">
                  <c:v>44.7114961229</c:v>
                </c:pt>
                <c:pt idx="14">
                  <c:v>52.1818542565</c:v>
                </c:pt>
                <c:pt idx="15">
                  <c:v>58.8582525309</c:v>
                </c:pt>
                <c:pt idx="16">
                  <c:v>64.82507408359963</c:v>
                </c:pt>
                <c:pt idx="17">
                  <c:v>70.1577336972</c:v>
                </c:pt>
                <c:pt idx="18">
                  <c:v>74.9236309681</c:v>
                </c:pt>
                <c:pt idx="19">
                  <c:v>79.18300217179961</c:v>
                </c:pt>
                <c:pt idx="20">
                  <c:v>82.98968159</c:v>
                </c:pt>
                <c:pt idx="21">
                  <c:v>86.39178192369975</c:v>
                </c:pt>
                <c:pt idx="22">
                  <c:v>89.43230239019969</c:v>
                </c:pt>
                <c:pt idx="23">
                  <c:v>92.1496721912</c:v>
                </c:pt>
                <c:pt idx="24">
                  <c:v>94.57823622070001</c:v>
                </c:pt>
                <c:pt idx="25">
                  <c:v>96.74868915019998</c:v>
                </c:pt>
                <c:pt idx="26">
                  <c:v>98.6884633798</c:v>
                </c:pt>
                <c:pt idx="27">
                  <c:v>100.422075757</c:v>
                </c:pt>
                <c:pt idx="28">
                  <c:v>101.971437444</c:v>
                </c:pt>
                <c:pt idx="29">
                  <c:v>103.356130856</c:v>
                </c:pt>
                <c:pt idx="30">
                  <c:v>104.593657162</c:v>
                </c:pt>
                <c:pt idx="31">
                  <c:v>105.699657483</c:v>
                </c:pt>
                <c:pt idx="32">
                  <c:v>106.68811058</c:v>
                </c:pt>
                <c:pt idx="33">
                  <c:v>107.571509533</c:v>
                </c:pt>
                <c:pt idx="34">
                  <c:v>108.36101964</c:v>
                </c:pt>
                <c:pt idx="35">
                  <c:v>109.066619534</c:v>
                </c:pt>
                <c:pt idx="36">
                  <c:v>109.697227309</c:v>
                </c:pt>
                <c:pt idx="37">
                  <c:v>110.260813229</c:v>
                </c:pt>
                <c:pt idx="38">
                  <c:v>110.764500468</c:v>
                </c:pt>
                <c:pt idx="39">
                  <c:v>111.214655139</c:v>
                </c:pt>
                <c:pt idx="40">
                  <c:v>111.616966758</c:v>
                </c:pt>
                <c:pt idx="41">
                  <c:v>111.976520149</c:v>
                </c:pt>
                <c:pt idx="42">
                  <c:v>112.297859714</c:v>
                </c:pt>
                <c:pt idx="43">
                  <c:v>112.585046872</c:v>
                </c:pt>
                <c:pt idx="44">
                  <c:v>112.841711387</c:v>
                </c:pt>
                <c:pt idx="45">
                  <c:v>113.071097247</c:v>
                </c:pt>
                <c:pt idx="46">
                  <c:v>113.276103664</c:v>
                </c:pt>
                <c:pt idx="47">
                  <c:v>113.45932172</c:v>
                </c:pt>
                <c:pt idx="48">
                  <c:v>113.62306711</c:v>
                </c:pt>
              </c:numCache>
            </c:numRef>
          </c:yVal>
          <c:smooth val="1"/>
        </c:ser>
        <c:ser>
          <c:idx val="7"/>
          <c:order val="3"/>
          <c:spPr>
            <a:ln>
              <a:solidFill>
                <a:schemeClr val="tx1"/>
              </a:solidFill>
            </a:ln>
          </c:spPr>
          <c:marker>
            <c:symbol val="none"/>
          </c:marker>
          <c:xVal>
            <c:numRef>
              <c:f>'temp.xls'!$A$1:$A$49</c:f>
              <c:numCache>
                <c:formatCode>General</c:formatCode>
                <c:ptCount val="49"/>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numCache>
            </c:numRef>
          </c:xVal>
          <c:yVal>
            <c:numRef>
              <c:f>'temp.xls'!$F$1:$F$49</c:f>
              <c:numCache>
                <c:formatCode>General</c:formatCode>
                <c:ptCount val="49"/>
                <c:pt idx="0">
                  <c:v>25.0</c:v>
                </c:pt>
                <c:pt idx="1">
                  <c:v>25.0</c:v>
                </c:pt>
                <c:pt idx="2">
                  <c:v>25.0</c:v>
                </c:pt>
                <c:pt idx="3">
                  <c:v>25.0</c:v>
                </c:pt>
                <c:pt idx="4">
                  <c:v>25.0</c:v>
                </c:pt>
                <c:pt idx="5">
                  <c:v>25.0</c:v>
                </c:pt>
                <c:pt idx="6">
                  <c:v>25.0</c:v>
                </c:pt>
                <c:pt idx="7">
                  <c:v>25.0</c:v>
                </c:pt>
                <c:pt idx="8">
                  <c:v>25.0</c:v>
                </c:pt>
                <c:pt idx="9">
                  <c:v>25.0</c:v>
                </c:pt>
                <c:pt idx="10">
                  <c:v>25.0</c:v>
                </c:pt>
                <c:pt idx="11">
                  <c:v>41.0</c:v>
                </c:pt>
                <c:pt idx="12">
                  <c:v>115.822080938</c:v>
                </c:pt>
                <c:pt idx="13">
                  <c:v>182.691968983</c:v>
                </c:pt>
                <c:pt idx="14">
                  <c:v>242.454834052</c:v>
                </c:pt>
                <c:pt idx="15">
                  <c:v>295.8660202469989</c:v>
                </c:pt>
                <c:pt idx="16">
                  <c:v>343.600592669</c:v>
                </c:pt>
                <c:pt idx="17">
                  <c:v>386.261869577</c:v>
                </c:pt>
                <c:pt idx="18">
                  <c:v>424.389047745</c:v>
                </c:pt>
                <c:pt idx="19">
                  <c:v>458.464017374</c:v>
                </c:pt>
                <c:pt idx="20">
                  <c:v>488.91745272</c:v>
                </c:pt>
                <c:pt idx="21">
                  <c:v>516.1342553899983</c:v>
                </c:pt>
                <c:pt idx="22">
                  <c:v>540.4584191209983</c:v>
                </c:pt>
                <c:pt idx="23">
                  <c:v>562.19737753</c:v>
                </c:pt>
                <c:pt idx="24">
                  <c:v>581.625889766</c:v>
                </c:pt>
                <c:pt idx="25">
                  <c:v>598.989513202</c:v>
                </c:pt>
                <c:pt idx="26">
                  <c:v>614.507707038</c:v>
                </c:pt>
                <c:pt idx="27">
                  <c:v>628.3766060520001</c:v>
                </c:pt>
                <c:pt idx="28">
                  <c:v>640.771499548</c:v>
                </c:pt>
                <c:pt idx="29">
                  <c:v>651.8490468449978</c:v>
                </c:pt>
                <c:pt idx="30">
                  <c:v>661.7492572939983</c:v>
                </c:pt>
                <c:pt idx="31">
                  <c:v>670.5972598639977</c:v>
                </c:pt>
                <c:pt idx="32">
                  <c:v>678.504884643</c:v>
                </c:pt>
                <c:pt idx="33">
                  <c:v>685.572076266</c:v>
                </c:pt>
                <c:pt idx="34">
                  <c:v>691.888157118</c:v>
                </c:pt>
                <c:pt idx="35">
                  <c:v>697.532956276</c:v>
                </c:pt>
                <c:pt idx="36">
                  <c:v>702.577818474</c:v>
                </c:pt>
                <c:pt idx="37">
                  <c:v>707.086505831</c:v>
                </c:pt>
                <c:pt idx="38">
                  <c:v>711.116003742</c:v>
                </c:pt>
                <c:pt idx="39">
                  <c:v>714.717241114998</c:v>
                </c:pt>
                <c:pt idx="40">
                  <c:v>717.935734064</c:v>
                </c:pt>
                <c:pt idx="41">
                  <c:v>720.8121611899967</c:v>
                </c:pt>
                <c:pt idx="42">
                  <c:v>723.382877714</c:v>
                </c:pt>
                <c:pt idx="43">
                  <c:v>725.680374977</c:v>
                </c:pt>
                <c:pt idx="44">
                  <c:v>727.7336910949994</c:v>
                </c:pt>
                <c:pt idx="45">
                  <c:v>729.568777974</c:v>
                </c:pt>
                <c:pt idx="46">
                  <c:v>731.208829314</c:v>
                </c:pt>
                <c:pt idx="47">
                  <c:v>732.674573759</c:v>
                </c:pt>
                <c:pt idx="48">
                  <c:v>733.9845368839983</c:v>
                </c:pt>
              </c:numCache>
            </c:numRef>
          </c:yVal>
          <c:smooth val="1"/>
        </c:ser>
        <c:ser>
          <c:idx val="1"/>
          <c:order val="0"/>
          <c:spPr>
            <a:ln>
              <a:solidFill>
                <a:schemeClr val="tx1"/>
              </a:solidFill>
            </a:ln>
          </c:spPr>
          <c:marker>
            <c:symbol val="none"/>
          </c:marker>
          <c:xVal>
            <c:numRef>
              <c:f>'temp.xls'!$A$1:$A$49</c:f>
              <c:numCache>
                <c:formatCode>General</c:formatCode>
                <c:ptCount val="49"/>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numCache>
            </c:numRef>
          </c:xVal>
          <c:yVal>
            <c:numRef>
              <c:f>'temp.xls'!$C$1:$C$49</c:f>
              <c:numCache>
                <c:formatCode>General</c:formatCode>
                <c:ptCount val="49"/>
                <c:pt idx="0">
                  <c:v>25.0</c:v>
                </c:pt>
                <c:pt idx="1">
                  <c:v>25.0</c:v>
                </c:pt>
                <c:pt idx="2">
                  <c:v>25.0</c:v>
                </c:pt>
                <c:pt idx="3">
                  <c:v>25.0</c:v>
                </c:pt>
                <c:pt idx="4">
                  <c:v>25.0</c:v>
                </c:pt>
                <c:pt idx="5">
                  <c:v>25.0</c:v>
                </c:pt>
                <c:pt idx="6">
                  <c:v>25.0</c:v>
                </c:pt>
                <c:pt idx="7">
                  <c:v>25.0</c:v>
                </c:pt>
                <c:pt idx="8">
                  <c:v>25.0</c:v>
                </c:pt>
                <c:pt idx="9">
                  <c:v>25.0</c:v>
                </c:pt>
                <c:pt idx="10">
                  <c:v>25.0</c:v>
                </c:pt>
                <c:pt idx="11">
                  <c:v>27.0</c:v>
                </c:pt>
                <c:pt idx="12">
                  <c:v>36.3527601172</c:v>
                </c:pt>
                <c:pt idx="13">
                  <c:v>44.7114961229</c:v>
                </c:pt>
                <c:pt idx="14">
                  <c:v>52.1818542565</c:v>
                </c:pt>
                <c:pt idx="15">
                  <c:v>58.8582525309</c:v>
                </c:pt>
                <c:pt idx="16">
                  <c:v>64.82507408359963</c:v>
                </c:pt>
                <c:pt idx="17">
                  <c:v>70.1577336972</c:v>
                </c:pt>
                <c:pt idx="18">
                  <c:v>74.9236309681</c:v>
                </c:pt>
                <c:pt idx="19">
                  <c:v>79.18300217179961</c:v>
                </c:pt>
                <c:pt idx="20">
                  <c:v>82.98968159</c:v>
                </c:pt>
                <c:pt idx="21">
                  <c:v>86.39178192369975</c:v>
                </c:pt>
                <c:pt idx="22">
                  <c:v>89.43230239019969</c:v>
                </c:pt>
                <c:pt idx="23">
                  <c:v>92.1496721912</c:v>
                </c:pt>
                <c:pt idx="24">
                  <c:v>94.57823622070001</c:v>
                </c:pt>
                <c:pt idx="25">
                  <c:v>96.74868915019998</c:v>
                </c:pt>
                <c:pt idx="26">
                  <c:v>98.6884633798</c:v>
                </c:pt>
                <c:pt idx="27">
                  <c:v>100.422075757</c:v>
                </c:pt>
                <c:pt idx="28">
                  <c:v>101.971437444</c:v>
                </c:pt>
                <c:pt idx="29">
                  <c:v>103.356130856</c:v>
                </c:pt>
                <c:pt idx="30">
                  <c:v>104.593657162</c:v>
                </c:pt>
                <c:pt idx="31">
                  <c:v>105.699657483</c:v>
                </c:pt>
                <c:pt idx="32">
                  <c:v>106.68811058</c:v>
                </c:pt>
                <c:pt idx="33">
                  <c:v>107.571509533</c:v>
                </c:pt>
                <c:pt idx="34">
                  <c:v>108.36101964</c:v>
                </c:pt>
                <c:pt idx="35">
                  <c:v>109.066619534</c:v>
                </c:pt>
                <c:pt idx="36">
                  <c:v>109.697227309</c:v>
                </c:pt>
                <c:pt idx="37">
                  <c:v>110.260813229</c:v>
                </c:pt>
                <c:pt idx="38">
                  <c:v>110.764500468</c:v>
                </c:pt>
                <c:pt idx="39">
                  <c:v>111.214655139</c:v>
                </c:pt>
                <c:pt idx="40">
                  <c:v>111.616966758</c:v>
                </c:pt>
                <c:pt idx="41">
                  <c:v>111.976520149</c:v>
                </c:pt>
                <c:pt idx="42">
                  <c:v>112.297859714</c:v>
                </c:pt>
                <c:pt idx="43">
                  <c:v>112.585046872</c:v>
                </c:pt>
                <c:pt idx="44">
                  <c:v>112.841711387</c:v>
                </c:pt>
                <c:pt idx="45">
                  <c:v>113.071097247</c:v>
                </c:pt>
                <c:pt idx="46">
                  <c:v>113.276103664</c:v>
                </c:pt>
                <c:pt idx="47">
                  <c:v>113.45932172</c:v>
                </c:pt>
                <c:pt idx="48">
                  <c:v>113.62306711</c:v>
                </c:pt>
              </c:numCache>
            </c:numRef>
          </c:yVal>
          <c:smooth val="1"/>
        </c:ser>
        <c:ser>
          <c:idx val="4"/>
          <c:order val="1"/>
          <c:spPr>
            <a:ln>
              <a:solidFill>
                <a:schemeClr val="tx1"/>
              </a:solidFill>
            </a:ln>
          </c:spPr>
          <c:marker>
            <c:symbol val="none"/>
          </c:marker>
          <c:xVal>
            <c:numRef>
              <c:f>'temp.xls'!$A$1:$A$49</c:f>
              <c:numCache>
                <c:formatCode>General</c:formatCode>
                <c:ptCount val="49"/>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numCache>
            </c:numRef>
          </c:xVal>
          <c:yVal>
            <c:numRef>
              <c:f>'temp.xls'!$F$1:$F$49</c:f>
              <c:numCache>
                <c:formatCode>General</c:formatCode>
                <c:ptCount val="49"/>
                <c:pt idx="0">
                  <c:v>25.0</c:v>
                </c:pt>
                <c:pt idx="1">
                  <c:v>25.0</c:v>
                </c:pt>
                <c:pt idx="2">
                  <c:v>25.0</c:v>
                </c:pt>
                <c:pt idx="3">
                  <c:v>25.0</c:v>
                </c:pt>
                <c:pt idx="4">
                  <c:v>25.0</c:v>
                </c:pt>
                <c:pt idx="5">
                  <c:v>25.0</c:v>
                </c:pt>
                <c:pt idx="6">
                  <c:v>25.0</c:v>
                </c:pt>
                <c:pt idx="7">
                  <c:v>25.0</c:v>
                </c:pt>
                <c:pt idx="8">
                  <c:v>25.0</c:v>
                </c:pt>
                <c:pt idx="9">
                  <c:v>25.0</c:v>
                </c:pt>
                <c:pt idx="10">
                  <c:v>25.0</c:v>
                </c:pt>
                <c:pt idx="11">
                  <c:v>41.0</c:v>
                </c:pt>
                <c:pt idx="12">
                  <c:v>115.822080938</c:v>
                </c:pt>
                <c:pt idx="13">
                  <c:v>182.691968983</c:v>
                </c:pt>
                <c:pt idx="14">
                  <c:v>242.454834052</c:v>
                </c:pt>
                <c:pt idx="15">
                  <c:v>295.8660202469989</c:v>
                </c:pt>
                <c:pt idx="16">
                  <c:v>343.600592669</c:v>
                </c:pt>
                <c:pt idx="17">
                  <c:v>386.261869577</c:v>
                </c:pt>
                <c:pt idx="18">
                  <c:v>424.389047745</c:v>
                </c:pt>
                <c:pt idx="19">
                  <c:v>458.464017374</c:v>
                </c:pt>
                <c:pt idx="20">
                  <c:v>488.91745272</c:v>
                </c:pt>
                <c:pt idx="21">
                  <c:v>516.1342553899983</c:v>
                </c:pt>
                <c:pt idx="22">
                  <c:v>540.4584191209983</c:v>
                </c:pt>
                <c:pt idx="23">
                  <c:v>562.19737753</c:v>
                </c:pt>
                <c:pt idx="24">
                  <c:v>581.625889766</c:v>
                </c:pt>
                <c:pt idx="25">
                  <c:v>598.989513202</c:v>
                </c:pt>
                <c:pt idx="26">
                  <c:v>614.507707038</c:v>
                </c:pt>
                <c:pt idx="27">
                  <c:v>628.3766060520001</c:v>
                </c:pt>
                <c:pt idx="28">
                  <c:v>640.771499548</c:v>
                </c:pt>
                <c:pt idx="29">
                  <c:v>651.8490468449978</c:v>
                </c:pt>
                <c:pt idx="30">
                  <c:v>661.7492572939983</c:v>
                </c:pt>
                <c:pt idx="31">
                  <c:v>670.5972598639977</c:v>
                </c:pt>
                <c:pt idx="32">
                  <c:v>678.504884643</c:v>
                </c:pt>
                <c:pt idx="33">
                  <c:v>685.572076266</c:v>
                </c:pt>
                <c:pt idx="34">
                  <c:v>691.888157118</c:v>
                </c:pt>
                <c:pt idx="35">
                  <c:v>697.532956276</c:v>
                </c:pt>
                <c:pt idx="36">
                  <c:v>702.577818474</c:v>
                </c:pt>
                <c:pt idx="37">
                  <c:v>707.086505831</c:v>
                </c:pt>
                <c:pt idx="38">
                  <c:v>711.116003742</c:v>
                </c:pt>
                <c:pt idx="39">
                  <c:v>714.717241114998</c:v>
                </c:pt>
                <c:pt idx="40">
                  <c:v>717.935734064</c:v>
                </c:pt>
                <c:pt idx="41">
                  <c:v>720.8121611899967</c:v>
                </c:pt>
                <c:pt idx="42">
                  <c:v>723.382877714</c:v>
                </c:pt>
                <c:pt idx="43">
                  <c:v>725.680374977</c:v>
                </c:pt>
                <c:pt idx="44">
                  <c:v>727.7336910949994</c:v>
                </c:pt>
                <c:pt idx="45">
                  <c:v>729.568777974</c:v>
                </c:pt>
                <c:pt idx="46">
                  <c:v>731.208829314</c:v>
                </c:pt>
                <c:pt idx="47">
                  <c:v>732.674573759</c:v>
                </c:pt>
                <c:pt idx="48">
                  <c:v>733.9845368839983</c:v>
                </c:pt>
              </c:numCache>
            </c:numRef>
          </c:yVal>
          <c:smooth val="1"/>
        </c:ser>
        <c:axId val="212681480"/>
        <c:axId val="239114776"/>
      </c:scatterChart>
      <c:valAx>
        <c:axId val="212681480"/>
        <c:scaling>
          <c:orientation val="minMax"/>
          <c:max val="200.0"/>
          <c:min val="0.0"/>
        </c:scaling>
        <c:delete val="1"/>
        <c:axPos val="b"/>
        <c:numFmt formatCode="General" sourceLinked="1"/>
        <c:tickLblPos val="nextTo"/>
        <c:crossAx val="239114776"/>
        <c:crossesAt val="0.0"/>
        <c:crossBetween val="midCat"/>
        <c:majorUnit val="50.0"/>
        <c:minorUnit val="10.0"/>
      </c:valAx>
      <c:valAx>
        <c:axId val="239114776"/>
        <c:scaling>
          <c:orientation val="minMax"/>
          <c:max val="800.0"/>
          <c:min val="0.0"/>
        </c:scaling>
        <c:axPos val="l"/>
        <c:majorGridlines/>
        <c:numFmt formatCode="General" sourceLinked="1"/>
        <c:tickLblPos val="nextTo"/>
        <c:crossAx val="212681480"/>
        <c:crossesAt val="0.0"/>
        <c:crossBetween val="midCat"/>
        <c:minorUnit val="2000.0"/>
      </c:valAx>
    </c:plotArea>
    <c:plotVisOnly val="1"/>
  </c:chart>
  <c:txPr>
    <a:bodyPr/>
    <a:lstStyle/>
    <a:p>
      <a:pPr>
        <a:defRPr>
          <a:latin typeface="Wingdings"/>
          <a:ea typeface="Wingdings"/>
          <a:cs typeface="Wingdings"/>
        </a:defRPr>
      </a:pPr>
      <a:endParaRPr lang="en-US"/>
    </a:p>
  </c:tx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1"/>
          <c:order val="0"/>
          <c:spPr>
            <a:ln>
              <a:solidFill>
                <a:schemeClr val="tx2"/>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'sprint.xls'!$L$1:$L$130</c:f>
              <c:numCache>
                <c:formatCode>General</c:formatCode>
                <c:ptCount val="130"/>
                <c:pt idx="0">
                  <c:v>0.0</c:v>
                </c:pt>
                <c:pt idx="1">
                  <c:v>0.0</c:v>
                </c:pt>
                <c:pt idx="2">
                  <c:v>0.0</c:v>
                </c:pt>
                <c:pt idx="3">
                  <c:v>0.0</c:v>
                </c:pt>
                <c:pt idx="4">
                  <c:v>0.0</c:v>
                </c:pt>
                <c:pt idx="5">
                  <c:v>0.0</c:v>
                </c:pt>
                <c:pt idx="6">
                  <c:v>0.0</c:v>
                </c:pt>
                <c:pt idx="7">
                  <c:v>0.0</c:v>
                </c:pt>
                <c:pt idx="8">
                  <c:v>0.0</c:v>
                </c:pt>
                <c:pt idx="9">
                  <c:v>0.0</c:v>
                </c:pt>
                <c:pt idx="10">
                  <c:v>0.0</c:v>
                </c:pt>
                <c:pt idx="11">
                  <c:v>3.0</c:v>
                </c:pt>
                <c:pt idx="12">
                  <c:v>3.0</c:v>
                </c:pt>
                <c:pt idx="13">
                  <c:v>3.0</c:v>
                </c:pt>
                <c:pt idx="14">
                  <c:v>3.0</c:v>
                </c:pt>
                <c:pt idx="15">
                  <c:v>3.0</c:v>
                </c:pt>
                <c:pt idx="16">
                  <c:v>3.0</c:v>
                </c:pt>
                <c:pt idx="17">
                  <c:v>3.0</c:v>
                </c:pt>
                <c:pt idx="18">
                  <c:v>3.0</c:v>
                </c:pt>
                <c:pt idx="19">
                  <c:v>3.0</c:v>
                </c:pt>
                <c:pt idx="20">
                  <c:v>3.0</c:v>
                </c:pt>
                <c:pt idx="21">
                  <c:v>3.0</c:v>
                </c:pt>
                <c:pt idx="22">
                  <c:v>3.0</c:v>
                </c:pt>
                <c:pt idx="23">
                  <c:v>3.0</c:v>
                </c:pt>
                <c:pt idx="24">
                  <c:v>3.0</c:v>
                </c:pt>
                <c:pt idx="25">
                  <c:v>3.0</c:v>
                </c:pt>
                <c:pt idx="26">
                  <c:v>3.0</c:v>
                </c:pt>
                <c:pt idx="27">
                  <c:v>3.0</c:v>
                </c:pt>
                <c:pt idx="28">
                  <c:v>3.0</c:v>
                </c:pt>
                <c:pt idx="29">
                  <c:v>3.0</c:v>
                </c:pt>
                <c:pt idx="30">
                  <c:v>3.0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1.0</c:v>
                </c:pt>
                <c:pt idx="50">
                  <c:v>1.0</c:v>
                </c:pt>
                <c:pt idx="51">
                  <c:v>1.0</c:v>
                </c:pt>
                <c:pt idx="52">
                  <c:v>1.0</c:v>
                </c:pt>
                <c:pt idx="53">
                  <c:v>1.0</c:v>
                </c:pt>
                <c:pt idx="54">
                  <c:v>1.0</c:v>
                </c:pt>
                <c:pt idx="55">
                  <c:v>1.0</c:v>
                </c:pt>
                <c:pt idx="56">
                  <c:v>1.0</c:v>
                </c:pt>
                <c:pt idx="57">
                  <c:v>1.0</c:v>
                </c:pt>
                <c:pt idx="58">
                  <c:v>1.0</c:v>
                </c:pt>
                <c:pt idx="59">
                  <c:v>1.0</c:v>
                </c:pt>
                <c:pt idx="60">
                  <c:v>1.0</c:v>
                </c:pt>
                <c:pt idx="61">
                  <c:v>1.0</c:v>
                </c:pt>
                <c:pt idx="62">
                  <c:v>1.0</c:v>
                </c:pt>
                <c:pt idx="63">
                  <c:v>1.0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pt idx="82">
                  <c:v>1.0</c:v>
                </c:pt>
                <c:pt idx="83">
                  <c:v>1.0</c:v>
                </c:pt>
                <c:pt idx="84">
                  <c:v>1.0</c:v>
                </c:pt>
                <c:pt idx="85">
                  <c:v>1.0</c:v>
                </c:pt>
                <c:pt idx="86">
                  <c:v>1.0</c:v>
                </c:pt>
                <c:pt idx="87">
                  <c:v>1.0</c:v>
                </c:pt>
                <c:pt idx="88">
                  <c:v>1.0</c:v>
                </c:pt>
                <c:pt idx="89">
                  <c:v>1.0</c:v>
                </c:pt>
                <c:pt idx="90">
                  <c:v>0.0</c:v>
                </c:pt>
                <c:pt idx="91">
                  <c:v>0.0</c:v>
                </c:pt>
                <c:pt idx="92">
                  <c:v>0.0</c:v>
                </c:pt>
                <c:pt idx="93">
                  <c:v>0.0</c:v>
                </c:pt>
                <c:pt idx="94">
                  <c:v>0.0</c:v>
                </c:pt>
                <c:pt idx="95">
                  <c:v>0.0</c:v>
                </c:pt>
                <c:pt idx="96">
                  <c:v>0.0</c:v>
                </c:pt>
                <c:pt idx="97">
                  <c:v>0.0</c:v>
                </c:pt>
                <c:pt idx="98">
                  <c:v>0.0</c:v>
                </c:pt>
                <c:pt idx="99">
                  <c:v>0.0</c:v>
                </c:pt>
                <c:pt idx="100">
                  <c:v>0.0</c:v>
                </c:pt>
                <c:pt idx="101">
                  <c:v>0.0</c:v>
                </c:pt>
                <c:pt idx="102">
                  <c:v>0.0</c:v>
                </c:pt>
                <c:pt idx="103">
                  <c:v>0.0</c:v>
                </c:pt>
                <c:pt idx="104">
                  <c:v>0.0</c:v>
                </c:pt>
                <c:pt idx="105">
                  <c:v>0.0</c:v>
                </c:pt>
                <c:pt idx="106">
                  <c:v>0.0</c:v>
                </c:pt>
                <c:pt idx="107">
                  <c:v>0.0</c:v>
                </c:pt>
                <c:pt idx="108">
                  <c:v>0.0</c:v>
                </c:pt>
                <c:pt idx="109">
                  <c:v>0.0</c:v>
                </c:pt>
                <c:pt idx="110">
                  <c:v>0.0</c:v>
                </c:pt>
                <c:pt idx="111">
                  <c:v>0.0</c:v>
                </c:pt>
                <c:pt idx="112">
                  <c:v>0.0</c:v>
                </c:pt>
                <c:pt idx="113">
                  <c:v>0.0</c:v>
                </c:pt>
                <c:pt idx="114">
                  <c:v>0.0</c:v>
                </c:pt>
                <c:pt idx="115">
                  <c:v>0.0</c:v>
                </c:pt>
                <c:pt idx="116">
                  <c:v>0.0</c:v>
                </c:pt>
                <c:pt idx="117">
                  <c:v>0.0</c:v>
                </c:pt>
                <c:pt idx="118">
                  <c:v>0.0</c:v>
                </c:pt>
                <c:pt idx="119">
                  <c:v>0.0</c:v>
                </c:pt>
                <c:pt idx="120">
                  <c:v>0.0</c:v>
                </c:pt>
                <c:pt idx="121">
                  <c:v>0.0</c:v>
                </c:pt>
                <c:pt idx="122">
                  <c:v>0.0</c:v>
                </c:pt>
                <c:pt idx="123">
                  <c:v>0.0</c:v>
                </c:pt>
                <c:pt idx="124">
                  <c:v>0.0</c:v>
                </c:pt>
                <c:pt idx="125">
                  <c:v>0.0</c:v>
                </c:pt>
                <c:pt idx="126">
                  <c:v>0.0</c:v>
                </c:pt>
                <c:pt idx="127">
                  <c:v>0.0</c:v>
                </c:pt>
                <c:pt idx="128">
                  <c:v>0.0</c:v>
                </c:pt>
                <c:pt idx="129">
                  <c:v>0.0</c:v>
                </c:pt>
              </c:numCache>
            </c:numRef>
          </c:yVal>
        </c:ser>
        <c:axId val="239344296"/>
        <c:axId val="239351464"/>
      </c:scatterChart>
      <c:valAx>
        <c:axId val="239344296"/>
        <c:scaling>
          <c:orientation val="minMax"/>
        </c:scaling>
        <c:axPos val="b"/>
        <c:numFmt formatCode="General" sourceLinked="1"/>
        <c:tickLblPos val="none"/>
        <c:crossAx val="239351464"/>
        <c:crosses val="autoZero"/>
        <c:crossBetween val="midCat"/>
      </c:valAx>
      <c:valAx>
        <c:axId val="239351464"/>
        <c:scaling>
          <c:orientation val="minMax"/>
          <c:max val="3.0"/>
          <c:min val="0.0"/>
        </c:scaling>
        <c:axPos val="l"/>
        <c:majorGridlines/>
        <c:numFmt formatCode="General" sourceLinked="1"/>
        <c:tickLblPos val="none"/>
        <c:crossAx val="239344296"/>
        <c:crosses val="autoZero"/>
        <c:crossBetween val="midCat"/>
        <c:majorUnit val="10.0"/>
        <c:minorUnit val="0.1"/>
      </c:valAx>
    </c:plotArea>
    <c:plotVisOnly val="1"/>
  </c:chart>
  <c:externalData r:id="rId1"/>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1"/>
          <c:order val="0"/>
          <c:spPr>
            <a:ln>
              <a:solidFill>
                <a:schemeClr val="tx2"/>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'sprint.xls'!$N$1:$N$130</c:f>
              <c:numCache>
                <c:formatCode>General</c:formatCode>
                <c:ptCount val="130"/>
                <c:pt idx="0">
                  <c:v>30.0</c:v>
                </c:pt>
                <c:pt idx="1">
                  <c:v>30.0</c:v>
                </c:pt>
                <c:pt idx="2">
                  <c:v>30.0</c:v>
                </c:pt>
                <c:pt idx="3">
                  <c:v>30.0</c:v>
                </c:pt>
                <c:pt idx="4">
                  <c:v>30.0</c:v>
                </c:pt>
                <c:pt idx="5">
                  <c:v>30.0</c:v>
                </c:pt>
                <c:pt idx="6">
                  <c:v>30.0</c:v>
                </c:pt>
                <c:pt idx="7">
                  <c:v>30.0</c:v>
                </c:pt>
                <c:pt idx="8">
                  <c:v>30.0</c:v>
                </c:pt>
                <c:pt idx="9">
                  <c:v>30.0</c:v>
                </c:pt>
                <c:pt idx="10">
                  <c:v>30.0</c:v>
                </c:pt>
                <c:pt idx="11">
                  <c:v>32.3744</c:v>
                </c:pt>
                <c:pt idx="12">
                  <c:v>34.701</c:v>
                </c:pt>
                <c:pt idx="13">
                  <c:v>36.9808</c:v>
                </c:pt>
                <c:pt idx="14">
                  <c:v>39.2148</c:v>
                </c:pt>
                <c:pt idx="15">
                  <c:v>41.4038</c:v>
                </c:pt>
                <c:pt idx="16">
                  <c:v>43.5487</c:v>
                </c:pt>
                <c:pt idx="17">
                  <c:v>45.6505</c:v>
                </c:pt>
                <c:pt idx="18">
                  <c:v>47.71</c:v>
                </c:pt>
                <c:pt idx="19">
                  <c:v>49.728</c:v>
                </c:pt>
                <c:pt idx="20">
                  <c:v>51.7054</c:v>
                </c:pt>
                <c:pt idx="21">
                  <c:v>53.6431</c:v>
                </c:pt>
                <c:pt idx="22">
                  <c:v>55.5417</c:v>
                </c:pt>
                <c:pt idx="23">
                  <c:v>57.4022</c:v>
                </c:pt>
                <c:pt idx="24">
                  <c:v>59.2252</c:v>
                </c:pt>
                <c:pt idx="25">
                  <c:v>61.0115</c:v>
                </c:pt>
                <c:pt idx="26">
                  <c:v>62.7619</c:v>
                </c:pt>
                <c:pt idx="27">
                  <c:v>64.4771</c:v>
                </c:pt>
                <c:pt idx="28">
                  <c:v>66.15770000000001</c:v>
                </c:pt>
                <c:pt idx="29">
                  <c:v>67.8046</c:v>
                </c:pt>
                <c:pt idx="30">
                  <c:v>69.4183</c:v>
                </c:pt>
                <c:pt idx="31">
                  <c:v>69.9561</c:v>
                </c:pt>
                <c:pt idx="32">
                  <c:v>69.87649999999998</c:v>
                </c:pt>
                <c:pt idx="33">
                  <c:v>69.7985</c:v>
                </c:pt>
                <c:pt idx="34">
                  <c:v>69.722</c:v>
                </c:pt>
                <c:pt idx="35">
                  <c:v>69.6471</c:v>
                </c:pt>
                <c:pt idx="36">
                  <c:v>69.57380000000001</c:v>
                </c:pt>
                <c:pt idx="37">
                  <c:v>69.5018</c:v>
                </c:pt>
                <c:pt idx="38">
                  <c:v>69.4314</c:v>
                </c:pt>
                <c:pt idx="39">
                  <c:v>69.3623</c:v>
                </c:pt>
                <c:pt idx="40">
                  <c:v>69.2947</c:v>
                </c:pt>
                <c:pt idx="41">
                  <c:v>69.22839999999998</c:v>
                </c:pt>
                <c:pt idx="42">
                  <c:v>69.1634</c:v>
                </c:pt>
                <c:pt idx="43">
                  <c:v>69.0998</c:v>
                </c:pt>
                <c:pt idx="44">
                  <c:v>69.0374</c:v>
                </c:pt>
                <c:pt idx="45">
                  <c:v>68.9763</c:v>
                </c:pt>
                <c:pt idx="46">
                  <c:v>68.9164</c:v>
                </c:pt>
                <c:pt idx="47">
                  <c:v>68.8577</c:v>
                </c:pt>
                <c:pt idx="48">
                  <c:v>68.8002</c:v>
                </c:pt>
                <c:pt idx="49">
                  <c:v>68.7439</c:v>
                </c:pt>
                <c:pt idx="50">
                  <c:v>68.68859999999998</c:v>
                </c:pt>
                <c:pt idx="51">
                  <c:v>68.6345</c:v>
                </c:pt>
                <c:pt idx="52">
                  <c:v>68.5815</c:v>
                </c:pt>
                <c:pt idx="53">
                  <c:v>68.5296</c:v>
                </c:pt>
                <c:pt idx="54">
                  <c:v>68.47869999999998</c:v>
                </c:pt>
                <c:pt idx="55">
                  <c:v>68.4288</c:v>
                </c:pt>
                <c:pt idx="56">
                  <c:v>68.37990000000001</c:v>
                </c:pt>
                <c:pt idx="57">
                  <c:v>68.332</c:v>
                </c:pt>
                <c:pt idx="58">
                  <c:v>68.2851</c:v>
                </c:pt>
                <c:pt idx="59">
                  <c:v>68.2391</c:v>
                </c:pt>
                <c:pt idx="60">
                  <c:v>68.1941</c:v>
                </c:pt>
                <c:pt idx="61">
                  <c:v>68.1499</c:v>
                </c:pt>
                <c:pt idx="62">
                  <c:v>68.10669999999998</c:v>
                </c:pt>
                <c:pt idx="63">
                  <c:v>68.0643</c:v>
                </c:pt>
                <c:pt idx="64">
                  <c:v>68.02269999999998</c:v>
                </c:pt>
                <c:pt idx="65">
                  <c:v>67.982</c:v>
                </c:pt>
                <c:pt idx="66">
                  <c:v>67.9422</c:v>
                </c:pt>
                <c:pt idx="67">
                  <c:v>67.9031</c:v>
                </c:pt>
                <c:pt idx="68">
                  <c:v>67.8648</c:v>
                </c:pt>
                <c:pt idx="69">
                  <c:v>67.8273</c:v>
                </c:pt>
                <c:pt idx="70">
                  <c:v>67.7905</c:v>
                </c:pt>
                <c:pt idx="71">
                  <c:v>67.7545</c:v>
                </c:pt>
                <c:pt idx="72">
                  <c:v>67.7192</c:v>
                </c:pt>
                <c:pt idx="73">
                  <c:v>67.6846</c:v>
                </c:pt>
                <c:pt idx="74">
                  <c:v>67.65069999999998</c:v>
                </c:pt>
                <c:pt idx="75">
                  <c:v>67.6175</c:v>
                </c:pt>
                <c:pt idx="76">
                  <c:v>67.5849</c:v>
                </c:pt>
                <c:pt idx="77">
                  <c:v>67.553</c:v>
                </c:pt>
                <c:pt idx="78">
                  <c:v>67.5218</c:v>
                </c:pt>
                <c:pt idx="79">
                  <c:v>67.4911</c:v>
                </c:pt>
                <c:pt idx="80">
                  <c:v>67.4611</c:v>
                </c:pt>
                <c:pt idx="81">
                  <c:v>67.4317</c:v>
                </c:pt>
                <c:pt idx="82">
                  <c:v>67.4029</c:v>
                </c:pt>
                <c:pt idx="83">
                  <c:v>67.37469999999998</c:v>
                </c:pt>
                <c:pt idx="84">
                  <c:v>67.347</c:v>
                </c:pt>
                <c:pt idx="85">
                  <c:v>67.3199</c:v>
                </c:pt>
                <c:pt idx="86">
                  <c:v>67.2934</c:v>
                </c:pt>
                <c:pt idx="87">
                  <c:v>67.2673</c:v>
                </c:pt>
                <c:pt idx="88">
                  <c:v>67.2418</c:v>
                </c:pt>
                <c:pt idx="89">
                  <c:v>67.2169</c:v>
                </c:pt>
                <c:pt idx="90">
                  <c:v>67.184</c:v>
                </c:pt>
                <c:pt idx="91">
                  <c:v>66.3352</c:v>
                </c:pt>
                <c:pt idx="92">
                  <c:v>65.5035</c:v>
                </c:pt>
                <c:pt idx="93">
                  <c:v>64.68839999999985</c:v>
                </c:pt>
                <c:pt idx="94">
                  <c:v>63.8898</c:v>
                </c:pt>
                <c:pt idx="95">
                  <c:v>63.1073</c:v>
                </c:pt>
                <c:pt idx="96">
                  <c:v>62.3405</c:v>
                </c:pt>
                <c:pt idx="97">
                  <c:v>61.5891</c:v>
                </c:pt>
                <c:pt idx="98">
                  <c:v>60.8529</c:v>
                </c:pt>
                <c:pt idx="99">
                  <c:v>60.1314</c:v>
                </c:pt>
                <c:pt idx="100">
                  <c:v>59.4245</c:v>
                </c:pt>
                <c:pt idx="101">
                  <c:v>58.7318</c:v>
                </c:pt>
                <c:pt idx="102">
                  <c:v>58.0531</c:v>
                </c:pt>
                <c:pt idx="103">
                  <c:v>57.388</c:v>
                </c:pt>
                <c:pt idx="104">
                  <c:v>56.7363</c:v>
                </c:pt>
                <c:pt idx="105">
                  <c:v>56.0977</c:v>
                </c:pt>
                <c:pt idx="106">
                  <c:v>55.4719</c:v>
                </c:pt>
                <c:pt idx="107">
                  <c:v>54.8588</c:v>
                </c:pt>
                <c:pt idx="108">
                  <c:v>54.2579</c:v>
                </c:pt>
                <c:pt idx="109">
                  <c:v>53.6692</c:v>
                </c:pt>
                <c:pt idx="110">
                  <c:v>53.0923</c:v>
                </c:pt>
                <c:pt idx="111">
                  <c:v>52.5271</c:v>
                </c:pt>
                <c:pt idx="112">
                  <c:v>51.9732</c:v>
                </c:pt>
                <c:pt idx="113">
                  <c:v>51.4304</c:v>
                </c:pt>
                <c:pt idx="114">
                  <c:v>50.8986</c:v>
                </c:pt>
                <c:pt idx="115">
                  <c:v>50.3774</c:v>
                </c:pt>
                <c:pt idx="116">
                  <c:v>49.8668</c:v>
                </c:pt>
                <c:pt idx="117">
                  <c:v>49.3664</c:v>
                </c:pt>
                <c:pt idx="118">
                  <c:v>48.8761</c:v>
                </c:pt>
                <c:pt idx="119">
                  <c:v>48.3957</c:v>
                </c:pt>
                <c:pt idx="120">
                  <c:v>47.9249</c:v>
                </c:pt>
                <c:pt idx="121">
                  <c:v>47.4636</c:v>
                </c:pt>
                <c:pt idx="122">
                  <c:v>47.0116</c:v>
                </c:pt>
                <c:pt idx="123">
                  <c:v>46.5687</c:v>
                </c:pt>
                <c:pt idx="124">
                  <c:v>46.1347</c:v>
                </c:pt>
                <c:pt idx="125">
                  <c:v>45.7094</c:v>
                </c:pt>
                <c:pt idx="126">
                  <c:v>45.2927</c:v>
                </c:pt>
                <c:pt idx="127">
                  <c:v>44.8844</c:v>
                </c:pt>
                <c:pt idx="128">
                  <c:v>44.4842</c:v>
                </c:pt>
                <c:pt idx="129">
                  <c:v>44.0922</c:v>
                </c:pt>
              </c:numCache>
            </c:numRef>
          </c:yVal>
          <c:smooth val="1"/>
        </c:ser>
        <c:axId val="212833304"/>
        <c:axId val="212829512"/>
      </c:scatterChart>
      <c:valAx>
        <c:axId val="212833304"/>
        <c:scaling>
          <c:orientation val="minMax"/>
        </c:scaling>
        <c:axPos val="b"/>
        <c:numFmt formatCode="General" sourceLinked="1"/>
        <c:tickLblPos val="none"/>
        <c:crossAx val="212829512"/>
        <c:crosses val="autoZero"/>
        <c:crossBetween val="midCat"/>
      </c:valAx>
      <c:valAx>
        <c:axId val="212829512"/>
        <c:scaling>
          <c:orientation val="minMax"/>
          <c:max val="80.0"/>
          <c:min val="10.0"/>
        </c:scaling>
        <c:axPos val="l"/>
        <c:majorGridlines/>
        <c:numFmt formatCode="General" sourceLinked="1"/>
        <c:tickLblPos val="none"/>
        <c:crossAx val="212833304"/>
        <c:crosses val="autoZero"/>
        <c:crossBetween val="midCat"/>
        <c:majorUnit val="80.0"/>
        <c:minorUnit val="16.0"/>
      </c:valAx>
    </c:plotArea>
    <c:plotVisOnly val="1"/>
  </c:chart>
  <c:externalData r:id="rId1"/>
</c:chartSpace>
</file>

<file path=ppt/charts/chart6.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1"/>
          <c:order val="0"/>
          <c:spPr>
            <a:ln>
              <a:solidFill>
                <a:schemeClr val="tx1"/>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'sprint.xls'!$L$1:$L$130</c:f>
              <c:numCache>
                <c:formatCode>General</c:formatCode>
                <c:ptCount val="130"/>
                <c:pt idx="0">
                  <c:v>0.0</c:v>
                </c:pt>
                <c:pt idx="1">
                  <c:v>0.0</c:v>
                </c:pt>
                <c:pt idx="2">
                  <c:v>0.0</c:v>
                </c:pt>
                <c:pt idx="3">
                  <c:v>0.0</c:v>
                </c:pt>
                <c:pt idx="4">
                  <c:v>0.0</c:v>
                </c:pt>
                <c:pt idx="5">
                  <c:v>0.0</c:v>
                </c:pt>
                <c:pt idx="6">
                  <c:v>0.0</c:v>
                </c:pt>
                <c:pt idx="7">
                  <c:v>0.0</c:v>
                </c:pt>
                <c:pt idx="8">
                  <c:v>0.0</c:v>
                </c:pt>
                <c:pt idx="9">
                  <c:v>0.0</c:v>
                </c:pt>
                <c:pt idx="10">
                  <c:v>0.0</c:v>
                </c:pt>
                <c:pt idx="11">
                  <c:v>3.0</c:v>
                </c:pt>
                <c:pt idx="12">
                  <c:v>3.0</c:v>
                </c:pt>
                <c:pt idx="13">
                  <c:v>3.0</c:v>
                </c:pt>
                <c:pt idx="14">
                  <c:v>3.0</c:v>
                </c:pt>
                <c:pt idx="15">
                  <c:v>3.0</c:v>
                </c:pt>
                <c:pt idx="16">
                  <c:v>3.0</c:v>
                </c:pt>
                <c:pt idx="17">
                  <c:v>3.0</c:v>
                </c:pt>
                <c:pt idx="18">
                  <c:v>3.0</c:v>
                </c:pt>
                <c:pt idx="19">
                  <c:v>3.0</c:v>
                </c:pt>
                <c:pt idx="20">
                  <c:v>3.0</c:v>
                </c:pt>
                <c:pt idx="21">
                  <c:v>3.0</c:v>
                </c:pt>
                <c:pt idx="22">
                  <c:v>3.0</c:v>
                </c:pt>
                <c:pt idx="23">
                  <c:v>3.0</c:v>
                </c:pt>
                <c:pt idx="24">
                  <c:v>3.0</c:v>
                </c:pt>
                <c:pt idx="25">
                  <c:v>3.0</c:v>
                </c:pt>
                <c:pt idx="26">
                  <c:v>3.0</c:v>
                </c:pt>
                <c:pt idx="27">
                  <c:v>3.0</c:v>
                </c:pt>
                <c:pt idx="28">
                  <c:v>3.0</c:v>
                </c:pt>
                <c:pt idx="29">
                  <c:v>3.0</c:v>
                </c:pt>
                <c:pt idx="30">
                  <c:v>3.0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1.0</c:v>
                </c:pt>
                <c:pt idx="50">
                  <c:v>1.0</c:v>
                </c:pt>
                <c:pt idx="51">
                  <c:v>1.0</c:v>
                </c:pt>
                <c:pt idx="52">
                  <c:v>1.0</c:v>
                </c:pt>
                <c:pt idx="53">
                  <c:v>1.0</c:v>
                </c:pt>
                <c:pt idx="54">
                  <c:v>1.0</c:v>
                </c:pt>
                <c:pt idx="55">
                  <c:v>1.0</c:v>
                </c:pt>
                <c:pt idx="56">
                  <c:v>1.0</c:v>
                </c:pt>
                <c:pt idx="57">
                  <c:v>1.0</c:v>
                </c:pt>
                <c:pt idx="58">
                  <c:v>1.0</c:v>
                </c:pt>
                <c:pt idx="59">
                  <c:v>1.0</c:v>
                </c:pt>
                <c:pt idx="60">
                  <c:v>1.0</c:v>
                </c:pt>
                <c:pt idx="61">
                  <c:v>1.0</c:v>
                </c:pt>
                <c:pt idx="62">
                  <c:v>1.0</c:v>
                </c:pt>
                <c:pt idx="63">
                  <c:v>1.0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pt idx="82">
                  <c:v>1.0</c:v>
                </c:pt>
                <c:pt idx="83">
                  <c:v>1.0</c:v>
                </c:pt>
                <c:pt idx="84">
                  <c:v>1.0</c:v>
                </c:pt>
                <c:pt idx="85">
                  <c:v>1.0</c:v>
                </c:pt>
                <c:pt idx="86">
                  <c:v>1.0</c:v>
                </c:pt>
                <c:pt idx="87">
                  <c:v>1.0</c:v>
                </c:pt>
                <c:pt idx="88">
                  <c:v>1.0</c:v>
                </c:pt>
                <c:pt idx="89">
                  <c:v>1.0</c:v>
                </c:pt>
                <c:pt idx="90">
                  <c:v>0.0</c:v>
                </c:pt>
                <c:pt idx="91">
                  <c:v>0.0</c:v>
                </c:pt>
                <c:pt idx="92">
                  <c:v>0.0</c:v>
                </c:pt>
                <c:pt idx="93">
                  <c:v>0.0</c:v>
                </c:pt>
                <c:pt idx="94">
                  <c:v>0.0</c:v>
                </c:pt>
                <c:pt idx="95">
                  <c:v>0.0</c:v>
                </c:pt>
                <c:pt idx="96">
                  <c:v>0.0</c:v>
                </c:pt>
                <c:pt idx="97">
                  <c:v>0.0</c:v>
                </c:pt>
                <c:pt idx="98">
                  <c:v>0.0</c:v>
                </c:pt>
                <c:pt idx="99">
                  <c:v>0.0</c:v>
                </c:pt>
                <c:pt idx="100">
                  <c:v>0.0</c:v>
                </c:pt>
                <c:pt idx="101">
                  <c:v>0.0</c:v>
                </c:pt>
                <c:pt idx="102">
                  <c:v>0.0</c:v>
                </c:pt>
                <c:pt idx="103">
                  <c:v>0.0</c:v>
                </c:pt>
                <c:pt idx="104">
                  <c:v>0.0</c:v>
                </c:pt>
                <c:pt idx="105">
                  <c:v>0.0</c:v>
                </c:pt>
                <c:pt idx="106">
                  <c:v>0.0</c:v>
                </c:pt>
                <c:pt idx="107">
                  <c:v>0.0</c:v>
                </c:pt>
                <c:pt idx="108">
                  <c:v>0.0</c:v>
                </c:pt>
                <c:pt idx="109">
                  <c:v>0.0</c:v>
                </c:pt>
                <c:pt idx="110">
                  <c:v>0.0</c:v>
                </c:pt>
                <c:pt idx="111">
                  <c:v>0.0</c:v>
                </c:pt>
                <c:pt idx="112">
                  <c:v>0.0</c:v>
                </c:pt>
                <c:pt idx="113">
                  <c:v>0.0</c:v>
                </c:pt>
                <c:pt idx="114">
                  <c:v>0.0</c:v>
                </c:pt>
                <c:pt idx="115">
                  <c:v>0.0</c:v>
                </c:pt>
                <c:pt idx="116">
                  <c:v>0.0</c:v>
                </c:pt>
                <c:pt idx="117">
                  <c:v>0.0</c:v>
                </c:pt>
                <c:pt idx="118">
                  <c:v>0.0</c:v>
                </c:pt>
                <c:pt idx="119">
                  <c:v>0.0</c:v>
                </c:pt>
                <c:pt idx="120">
                  <c:v>0.0</c:v>
                </c:pt>
                <c:pt idx="121">
                  <c:v>0.0</c:v>
                </c:pt>
                <c:pt idx="122">
                  <c:v>0.0</c:v>
                </c:pt>
                <c:pt idx="123">
                  <c:v>0.0</c:v>
                </c:pt>
                <c:pt idx="124">
                  <c:v>0.0</c:v>
                </c:pt>
                <c:pt idx="125">
                  <c:v>0.0</c:v>
                </c:pt>
                <c:pt idx="126">
                  <c:v>0.0</c:v>
                </c:pt>
                <c:pt idx="127">
                  <c:v>0.0</c:v>
                </c:pt>
                <c:pt idx="128">
                  <c:v>0.0</c:v>
                </c:pt>
                <c:pt idx="129">
                  <c:v>0.0</c:v>
                </c:pt>
              </c:numCache>
            </c:numRef>
          </c:yVal>
          <c:smooth val="1"/>
        </c:ser>
        <c:axId val="212733544"/>
        <c:axId val="212736648"/>
      </c:scatterChart>
      <c:valAx>
        <c:axId val="212733544"/>
        <c:scaling>
          <c:orientation val="minMax"/>
        </c:scaling>
        <c:axPos val="b"/>
        <c:numFmt formatCode="General" sourceLinked="1"/>
        <c:tickLblPos val="none"/>
        <c:crossAx val="212736648"/>
        <c:crosses val="autoZero"/>
        <c:crossBetween val="midCat"/>
      </c:valAx>
      <c:valAx>
        <c:axId val="212736648"/>
        <c:scaling>
          <c:orientation val="minMax"/>
          <c:max val="3.0"/>
          <c:min val="0.0"/>
        </c:scaling>
        <c:axPos val="l"/>
        <c:majorGridlines/>
        <c:numFmt formatCode="General" sourceLinked="1"/>
        <c:tickLblPos val="none"/>
        <c:crossAx val="212733544"/>
        <c:crosses val="autoZero"/>
        <c:crossBetween val="midCat"/>
        <c:majorUnit val="10.0"/>
        <c:minorUnit val="0.1"/>
      </c:valAx>
    </c:plotArea>
    <c:plotVisOnly val="1"/>
  </c:chart>
  <c:externalData r:id="rId1"/>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1"/>
          <c:order val="0"/>
          <c:spPr>
            <a:ln>
              <a:solidFill>
                <a:schemeClr val="tx1"/>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'sprint.xls'!$N$1:$N$130</c:f>
              <c:numCache>
                <c:formatCode>General</c:formatCode>
                <c:ptCount val="130"/>
                <c:pt idx="0">
                  <c:v>30.0</c:v>
                </c:pt>
                <c:pt idx="1">
                  <c:v>30.0</c:v>
                </c:pt>
                <c:pt idx="2">
                  <c:v>30.0</c:v>
                </c:pt>
                <c:pt idx="3">
                  <c:v>30.0</c:v>
                </c:pt>
                <c:pt idx="4">
                  <c:v>30.0</c:v>
                </c:pt>
                <c:pt idx="5">
                  <c:v>30.0</c:v>
                </c:pt>
                <c:pt idx="6">
                  <c:v>30.0</c:v>
                </c:pt>
                <c:pt idx="7">
                  <c:v>30.0</c:v>
                </c:pt>
                <c:pt idx="8">
                  <c:v>30.0</c:v>
                </c:pt>
                <c:pt idx="9">
                  <c:v>30.0</c:v>
                </c:pt>
                <c:pt idx="10">
                  <c:v>30.0</c:v>
                </c:pt>
                <c:pt idx="11">
                  <c:v>32.3744</c:v>
                </c:pt>
                <c:pt idx="12">
                  <c:v>34.701</c:v>
                </c:pt>
                <c:pt idx="13">
                  <c:v>36.9808</c:v>
                </c:pt>
                <c:pt idx="14">
                  <c:v>39.2148</c:v>
                </c:pt>
                <c:pt idx="15">
                  <c:v>41.4038</c:v>
                </c:pt>
                <c:pt idx="16">
                  <c:v>43.5487</c:v>
                </c:pt>
                <c:pt idx="17">
                  <c:v>45.6505</c:v>
                </c:pt>
                <c:pt idx="18">
                  <c:v>47.71</c:v>
                </c:pt>
                <c:pt idx="19">
                  <c:v>49.728</c:v>
                </c:pt>
                <c:pt idx="20">
                  <c:v>51.7054</c:v>
                </c:pt>
                <c:pt idx="21">
                  <c:v>53.6431</c:v>
                </c:pt>
                <c:pt idx="22">
                  <c:v>55.5417</c:v>
                </c:pt>
                <c:pt idx="23">
                  <c:v>57.4022</c:v>
                </c:pt>
                <c:pt idx="24">
                  <c:v>59.2252</c:v>
                </c:pt>
                <c:pt idx="25">
                  <c:v>61.0115</c:v>
                </c:pt>
                <c:pt idx="26">
                  <c:v>62.7619</c:v>
                </c:pt>
                <c:pt idx="27">
                  <c:v>64.4771</c:v>
                </c:pt>
                <c:pt idx="28">
                  <c:v>66.15770000000001</c:v>
                </c:pt>
                <c:pt idx="29">
                  <c:v>67.8046</c:v>
                </c:pt>
                <c:pt idx="30">
                  <c:v>69.4183</c:v>
                </c:pt>
                <c:pt idx="31">
                  <c:v>69.9561</c:v>
                </c:pt>
                <c:pt idx="32">
                  <c:v>69.87649999999998</c:v>
                </c:pt>
                <c:pt idx="33">
                  <c:v>69.7985</c:v>
                </c:pt>
                <c:pt idx="34">
                  <c:v>69.722</c:v>
                </c:pt>
                <c:pt idx="35">
                  <c:v>69.6471</c:v>
                </c:pt>
                <c:pt idx="36">
                  <c:v>69.57380000000001</c:v>
                </c:pt>
                <c:pt idx="37">
                  <c:v>69.5018</c:v>
                </c:pt>
                <c:pt idx="38">
                  <c:v>69.4314</c:v>
                </c:pt>
                <c:pt idx="39">
                  <c:v>69.3623</c:v>
                </c:pt>
                <c:pt idx="40">
                  <c:v>69.2947</c:v>
                </c:pt>
                <c:pt idx="41">
                  <c:v>69.22839999999998</c:v>
                </c:pt>
                <c:pt idx="42">
                  <c:v>69.1634</c:v>
                </c:pt>
                <c:pt idx="43">
                  <c:v>69.0998</c:v>
                </c:pt>
                <c:pt idx="44">
                  <c:v>69.0374</c:v>
                </c:pt>
                <c:pt idx="45">
                  <c:v>68.9763</c:v>
                </c:pt>
                <c:pt idx="46">
                  <c:v>68.9164</c:v>
                </c:pt>
                <c:pt idx="47">
                  <c:v>68.8577</c:v>
                </c:pt>
                <c:pt idx="48">
                  <c:v>68.8002</c:v>
                </c:pt>
                <c:pt idx="49">
                  <c:v>68.7439</c:v>
                </c:pt>
                <c:pt idx="50">
                  <c:v>68.68859999999998</c:v>
                </c:pt>
                <c:pt idx="51">
                  <c:v>68.6345</c:v>
                </c:pt>
                <c:pt idx="52">
                  <c:v>68.5815</c:v>
                </c:pt>
                <c:pt idx="53">
                  <c:v>68.5296</c:v>
                </c:pt>
                <c:pt idx="54">
                  <c:v>68.47869999999998</c:v>
                </c:pt>
                <c:pt idx="55">
                  <c:v>68.4288</c:v>
                </c:pt>
                <c:pt idx="56">
                  <c:v>68.37990000000001</c:v>
                </c:pt>
                <c:pt idx="57">
                  <c:v>68.332</c:v>
                </c:pt>
                <c:pt idx="58">
                  <c:v>68.2851</c:v>
                </c:pt>
                <c:pt idx="59">
                  <c:v>68.2391</c:v>
                </c:pt>
                <c:pt idx="60">
                  <c:v>68.1941</c:v>
                </c:pt>
                <c:pt idx="61">
                  <c:v>68.1499</c:v>
                </c:pt>
                <c:pt idx="62">
                  <c:v>68.10669999999998</c:v>
                </c:pt>
                <c:pt idx="63">
                  <c:v>68.0643</c:v>
                </c:pt>
                <c:pt idx="64">
                  <c:v>68.02269999999998</c:v>
                </c:pt>
                <c:pt idx="65">
                  <c:v>67.982</c:v>
                </c:pt>
                <c:pt idx="66">
                  <c:v>67.9422</c:v>
                </c:pt>
                <c:pt idx="67">
                  <c:v>67.9031</c:v>
                </c:pt>
                <c:pt idx="68">
                  <c:v>67.8648</c:v>
                </c:pt>
                <c:pt idx="69">
                  <c:v>67.8273</c:v>
                </c:pt>
                <c:pt idx="70">
                  <c:v>67.7905</c:v>
                </c:pt>
                <c:pt idx="71">
                  <c:v>67.7545</c:v>
                </c:pt>
                <c:pt idx="72">
                  <c:v>67.7192</c:v>
                </c:pt>
                <c:pt idx="73">
                  <c:v>67.6846</c:v>
                </c:pt>
                <c:pt idx="74">
                  <c:v>67.65069999999998</c:v>
                </c:pt>
                <c:pt idx="75">
                  <c:v>67.6175</c:v>
                </c:pt>
                <c:pt idx="76">
                  <c:v>67.5849</c:v>
                </c:pt>
                <c:pt idx="77">
                  <c:v>67.553</c:v>
                </c:pt>
                <c:pt idx="78">
                  <c:v>67.5218</c:v>
                </c:pt>
                <c:pt idx="79">
                  <c:v>67.4911</c:v>
                </c:pt>
                <c:pt idx="80">
                  <c:v>67.4611</c:v>
                </c:pt>
                <c:pt idx="81">
                  <c:v>67.4317</c:v>
                </c:pt>
                <c:pt idx="82">
                  <c:v>67.4029</c:v>
                </c:pt>
                <c:pt idx="83">
                  <c:v>67.37469999999998</c:v>
                </c:pt>
                <c:pt idx="84">
                  <c:v>67.347</c:v>
                </c:pt>
                <c:pt idx="85">
                  <c:v>67.3199</c:v>
                </c:pt>
                <c:pt idx="86">
                  <c:v>67.2934</c:v>
                </c:pt>
                <c:pt idx="87">
                  <c:v>67.2673</c:v>
                </c:pt>
                <c:pt idx="88">
                  <c:v>67.2418</c:v>
                </c:pt>
                <c:pt idx="89">
                  <c:v>67.2169</c:v>
                </c:pt>
                <c:pt idx="90">
                  <c:v>67.184</c:v>
                </c:pt>
                <c:pt idx="91">
                  <c:v>66.3352</c:v>
                </c:pt>
                <c:pt idx="92">
                  <c:v>65.5035</c:v>
                </c:pt>
                <c:pt idx="93">
                  <c:v>64.68839999999985</c:v>
                </c:pt>
                <c:pt idx="94">
                  <c:v>63.8898</c:v>
                </c:pt>
                <c:pt idx="95">
                  <c:v>63.1073</c:v>
                </c:pt>
                <c:pt idx="96">
                  <c:v>62.3405</c:v>
                </c:pt>
                <c:pt idx="97">
                  <c:v>61.5891</c:v>
                </c:pt>
                <c:pt idx="98">
                  <c:v>60.8529</c:v>
                </c:pt>
                <c:pt idx="99">
                  <c:v>60.1314</c:v>
                </c:pt>
                <c:pt idx="100">
                  <c:v>59.4245</c:v>
                </c:pt>
                <c:pt idx="101">
                  <c:v>58.7318</c:v>
                </c:pt>
                <c:pt idx="102">
                  <c:v>58.0531</c:v>
                </c:pt>
                <c:pt idx="103">
                  <c:v>57.388</c:v>
                </c:pt>
                <c:pt idx="104">
                  <c:v>56.7363</c:v>
                </c:pt>
                <c:pt idx="105">
                  <c:v>56.0977</c:v>
                </c:pt>
                <c:pt idx="106">
                  <c:v>55.4719</c:v>
                </c:pt>
                <c:pt idx="107">
                  <c:v>54.8588</c:v>
                </c:pt>
                <c:pt idx="108">
                  <c:v>54.2579</c:v>
                </c:pt>
                <c:pt idx="109">
                  <c:v>53.6692</c:v>
                </c:pt>
                <c:pt idx="110">
                  <c:v>53.0923</c:v>
                </c:pt>
                <c:pt idx="111">
                  <c:v>52.5271</c:v>
                </c:pt>
                <c:pt idx="112">
                  <c:v>51.9732</c:v>
                </c:pt>
                <c:pt idx="113">
                  <c:v>51.4304</c:v>
                </c:pt>
                <c:pt idx="114">
                  <c:v>50.8986</c:v>
                </c:pt>
                <c:pt idx="115">
                  <c:v>50.3774</c:v>
                </c:pt>
                <c:pt idx="116">
                  <c:v>49.8668</c:v>
                </c:pt>
                <c:pt idx="117">
                  <c:v>49.3664</c:v>
                </c:pt>
                <c:pt idx="118">
                  <c:v>48.8761</c:v>
                </c:pt>
                <c:pt idx="119">
                  <c:v>48.3957</c:v>
                </c:pt>
                <c:pt idx="120">
                  <c:v>47.9249</c:v>
                </c:pt>
                <c:pt idx="121">
                  <c:v>47.4636</c:v>
                </c:pt>
                <c:pt idx="122">
                  <c:v>47.0116</c:v>
                </c:pt>
                <c:pt idx="123">
                  <c:v>46.5687</c:v>
                </c:pt>
                <c:pt idx="124">
                  <c:v>46.1347</c:v>
                </c:pt>
                <c:pt idx="125">
                  <c:v>45.7094</c:v>
                </c:pt>
                <c:pt idx="126">
                  <c:v>45.2927</c:v>
                </c:pt>
                <c:pt idx="127">
                  <c:v>44.8844</c:v>
                </c:pt>
                <c:pt idx="128">
                  <c:v>44.4842</c:v>
                </c:pt>
                <c:pt idx="129">
                  <c:v>44.0922</c:v>
                </c:pt>
              </c:numCache>
            </c:numRef>
          </c:yVal>
          <c:smooth val="1"/>
        </c:ser>
        <c:axId val="239306632"/>
        <c:axId val="239270856"/>
      </c:scatterChart>
      <c:valAx>
        <c:axId val="239306632"/>
        <c:scaling>
          <c:orientation val="minMax"/>
        </c:scaling>
        <c:axPos val="b"/>
        <c:numFmt formatCode="General" sourceLinked="1"/>
        <c:tickLblPos val="none"/>
        <c:crossAx val="239270856"/>
        <c:crosses val="autoZero"/>
        <c:crossBetween val="midCat"/>
      </c:valAx>
      <c:valAx>
        <c:axId val="239270856"/>
        <c:scaling>
          <c:orientation val="minMax"/>
          <c:max val="80.0"/>
          <c:min val="10.0"/>
        </c:scaling>
        <c:axPos val="l"/>
        <c:majorGridlines/>
        <c:numFmt formatCode="General" sourceLinked="1"/>
        <c:tickLblPos val="none"/>
        <c:crossAx val="239306632"/>
        <c:crosses val="autoZero"/>
        <c:crossBetween val="midCat"/>
        <c:majorUnit val="80.0"/>
        <c:minorUnit val="16.0"/>
      </c:valAx>
    </c:plotArea>
    <c:plotVisOnly val="1"/>
  </c:chart>
  <c:externalData r:id="rId1"/>
</c:chartSpace>
</file>

<file path=ppt/charts/chart8.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1"/>
          <c:order val="0"/>
          <c:spPr>
            <a:ln>
              <a:solidFill>
                <a:schemeClr val="tx1"/>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'sprint.xls'!$N$1:$N$130</c:f>
              <c:numCache>
                <c:formatCode>General</c:formatCode>
                <c:ptCount val="130"/>
                <c:pt idx="0">
                  <c:v>30.0</c:v>
                </c:pt>
                <c:pt idx="1">
                  <c:v>30.0</c:v>
                </c:pt>
                <c:pt idx="2">
                  <c:v>30.0</c:v>
                </c:pt>
                <c:pt idx="3">
                  <c:v>30.0</c:v>
                </c:pt>
                <c:pt idx="4">
                  <c:v>30.0</c:v>
                </c:pt>
                <c:pt idx="5">
                  <c:v>30.0</c:v>
                </c:pt>
                <c:pt idx="6">
                  <c:v>30.0</c:v>
                </c:pt>
                <c:pt idx="7">
                  <c:v>30.0</c:v>
                </c:pt>
                <c:pt idx="8">
                  <c:v>30.0</c:v>
                </c:pt>
                <c:pt idx="9">
                  <c:v>30.0</c:v>
                </c:pt>
                <c:pt idx="10">
                  <c:v>30.0</c:v>
                </c:pt>
                <c:pt idx="11">
                  <c:v>32.3744</c:v>
                </c:pt>
                <c:pt idx="12">
                  <c:v>34.701</c:v>
                </c:pt>
                <c:pt idx="13">
                  <c:v>36.9808</c:v>
                </c:pt>
                <c:pt idx="14">
                  <c:v>39.2148</c:v>
                </c:pt>
                <c:pt idx="15">
                  <c:v>41.4038</c:v>
                </c:pt>
                <c:pt idx="16">
                  <c:v>43.5487</c:v>
                </c:pt>
                <c:pt idx="17">
                  <c:v>45.6505</c:v>
                </c:pt>
                <c:pt idx="18">
                  <c:v>47.71</c:v>
                </c:pt>
                <c:pt idx="19">
                  <c:v>49.728</c:v>
                </c:pt>
                <c:pt idx="20">
                  <c:v>51.7054</c:v>
                </c:pt>
                <c:pt idx="21">
                  <c:v>53.6431</c:v>
                </c:pt>
                <c:pt idx="22">
                  <c:v>55.5417</c:v>
                </c:pt>
                <c:pt idx="23">
                  <c:v>57.4022</c:v>
                </c:pt>
                <c:pt idx="24">
                  <c:v>59.2252</c:v>
                </c:pt>
                <c:pt idx="25">
                  <c:v>61.0115</c:v>
                </c:pt>
                <c:pt idx="26">
                  <c:v>62.7619</c:v>
                </c:pt>
                <c:pt idx="27">
                  <c:v>64.4771</c:v>
                </c:pt>
                <c:pt idx="28">
                  <c:v>66.15770000000001</c:v>
                </c:pt>
                <c:pt idx="29">
                  <c:v>67.8046</c:v>
                </c:pt>
                <c:pt idx="30">
                  <c:v>69.4183</c:v>
                </c:pt>
                <c:pt idx="31">
                  <c:v>69.9561</c:v>
                </c:pt>
                <c:pt idx="32">
                  <c:v>69.87649999999998</c:v>
                </c:pt>
                <c:pt idx="33">
                  <c:v>69.7985</c:v>
                </c:pt>
                <c:pt idx="34">
                  <c:v>69.722</c:v>
                </c:pt>
                <c:pt idx="35">
                  <c:v>69.6471</c:v>
                </c:pt>
                <c:pt idx="36">
                  <c:v>69.57380000000001</c:v>
                </c:pt>
                <c:pt idx="37">
                  <c:v>69.5018</c:v>
                </c:pt>
                <c:pt idx="38">
                  <c:v>69.4314</c:v>
                </c:pt>
                <c:pt idx="39">
                  <c:v>69.3623</c:v>
                </c:pt>
                <c:pt idx="40">
                  <c:v>69.2947</c:v>
                </c:pt>
                <c:pt idx="41">
                  <c:v>69.22839999999998</c:v>
                </c:pt>
                <c:pt idx="42">
                  <c:v>69.1634</c:v>
                </c:pt>
                <c:pt idx="43">
                  <c:v>69.0998</c:v>
                </c:pt>
                <c:pt idx="44">
                  <c:v>69.0374</c:v>
                </c:pt>
                <c:pt idx="45">
                  <c:v>68.9763</c:v>
                </c:pt>
                <c:pt idx="46">
                  <c:v>68.9164</c:v>
                </c:pt>
                <c:pt idx="47">
                  <c:v>68.8577</c:v>
                </c:pt>
                <c:pt idx="48">
                  <c:v>68.8002</c:v>
                </c:pt>
                <c:pt idx="49">
                  <c:v>68.7439</c:v>
                </c:pt>
                <c:pt idx="50">
                  <c:v>68.68859999999998</c:v>
                </c:pt>
                <c:pt idx="51">
                  <c:v>68.6345</c:v>
                </c:pt>
                <c:pt idx="52">
                  <c:v>68.5815</c:v>
                </c:pt>
                <c:pt idx="53">
                  <c:v>68.5296</c:v>
                </c:pt>
                <c:pt idx="54">
                  <c:v>68.47869999999998</c:v>
                </c:pt>
                <c:pt idx="55">
                  <c:v>68.4288</c:v>
                </c:pt>
                <c:pt idx="56">
                  <c:v>68.37990000000001</c:v>
                </c:pt>
                <c:pt idx="57">
                  <c:v>68.332</c:v>
                </c:pt>
                <c:pt idx="58">
                  <c:v>68.2851</c:v>
                </c:pt>
                <c:pt idx="59">
                  <c:v>68.2391</c:v>
                </c:pt>
                <c:pt idx="60">
                  <c:v>68.1941</c:v>
                </c:pt>
                <c:pt idx="61">
                  <c:v>68.1499</c:v>
                </c:pt>
                <c:pt idx="62">
                  <c:v>68.10669999999998</c:v>
                </c:pt>
                <c:pt idx="63">
                  <c:v>68.0643</c:v>
                </c:pt>
                <c:pt idx="64">
                  <c:v>68.02269999999998</c:v>
                </c:pt>
                <c:pt idx="65">
                  <c:v>67.982</c:v>
                </c:pt>
                <c:pt idx="66">
                  <c:v>67.9422</c:v>
                </c:pt>
                <c:pt idx="67">
                  <c:v>67.9031</c:v>
                </c:pt>
                <c:pt idx="68">
                  <c:v>67.8648</c:v>
                </c:pt>
                <c:pt idx="69">
                  <c:v>67.8273</c:v>
                </c:pt>
                <c:pt idx="70">
                  <c:v>67.7905</c:v>
                </c:pt>
                <c:pt idx="71">
                  <c:v>67.7545</c:v>
                </c:pt>
                <c:pt idx="72">
                  <c:v>67.7192</c:v>
                </c:pt>
                <c:pt idx="73">
                  <c:v>67.6846</c:v>
                </c:pt>
                <c:pt idx="74">
                  <c:v>67.65069999999998</c:v>
                </c:pt>
                <c:pt idx="75">
                  <c:v>67.6175</c:v>
                </c:pt>
                <c:pt idx="76">
                  <c:v>67.5849</c:v>
                </c:pt>
                <c:pt idx="77">
                  <c:v>67.553</c:v>
                </c:pt>
                <c:pt idx="78">
                  <c:v>67.5218</c:v>
                </c:pt>
                <c:pt idx="79">
                  <c:v>67.4911</c:v>
                </c:pt>
                <c:pt idx="80">
                  <c:v>67.4611</c:v>
                </c:pt>
                <c:pt idx="81">
                  <c:v>67.4317</c:v>
                </c:pt>
                <c:pt idx="82">
                  <c:v>67.4029</c:v>
                </c:pt>
                <c:pt idx="83">
                  <c:v>67.37469999999998</c:v>
                </c:pt>
                <c:pt idx="84">
                  <c:v>67.347</c:v>
                </c:pt>
                <c:pt idx="85">
                  <c:v>67.3199</c:v>
                </c:pt>
                <c:pt idx="86">
                  <c:v>67.2934</c:v>
                </c:pt>
                <c:pt idx="87">
                  <c:v>67.2673</c:v>
                </c:pt>
                <c:pt idx="88">
                  <c:v>67.2418</c:v>
                </c:pt>
                <c:pt idx="89">
                  <c:v>67.2169</c:v>
                </c:pt>
                <c:pt idx="90">
                  <c:v>67.184</c:v>
                </c:pt>
                <c:pt idx="91">
                  <c:v>66.3352</c:v>
                </c:pt>
                <c:pt idx="92">
                  <c:v>65.5035</c:v>
                </c:pt>
                <c:pt idx="93">
                  <c:v>64.68839999999985</c:v>
                </c:pt>
                <c:pt idx="94">
                  <c:v>63.8898</c:v>
                </c:pt>
                <c:pt idx="95">
                  <c:v>63.1073</c:v>
                </c:pt>
                <c:pt idx="96">
                  <c:v>62.3405</c:v>
                </c:pt>
                <c:pt idx="97">
                  <c:v>61.5891</c:v>
                </c:pt>
                <c:pt idx="98">
                  <c:v>60.8529</c:v>
                </c:pt>
                <c:pt idx="99">
                  <c:v>60.1314</c:v>
                </c:pt>
                <c:pt idx="100">
                  <c:v>59.4245</c:v>
                </c:pt>
                <c:pt idx="101">
                  <c:v>58.7318</c:v>
                </c:pt>
                <c:pt idx="102">
                  <c:v>58.0531</c:v>
                </c:pt>
                <c:pt idx="103">
                  <c:v>57.388</c:v>
                </c:pt>
                <c:pt idx="104">
                  <c:v>56.7363</c:v>
                </c:pt>
                <c:pt idx="105">
                  <c:v>56.0977</c:v>
                </c:pt>
                <c:pt idx="106">
                  <c:v>55.4719</c:v>
                </c:pt>
                <c:pt idx="107">
                  <c:v>54.8588</c:v>
                </c:pt>
                <c:pt idx="108">
                  <c:v>54.2579</c:v>
                </c:pt>
                <c:pt idx="109">
                  <c:v>53.6692</c:v>
                </c:pt>
                <c:pt idx="110">
                  <c:v>53.0923</c:v>
                </c:pt>
                <c:pt idx="111">
                  <c:v>52.5271</c:v>
                </c:pt>
                <c:pt idx="112">
                  <c:v>51.9732</c:v>
                </c:pt>
                <c:pt idx="113">
                  <c:v>51.4304</c:v>
                </c:pt>
                <c:pt idx="114">
                  <c:v>50.8986</c:v>
                </c:pt>
                <c:pt idx="115">
                  <c:v>50.3774</c:v>
                </c:pt>
                <c:pt idx="116">
                  <c:v>49.8668</c:v>
                </c:pt>
                <c:pt idx="117">
                  <c:v>49.3664</c:v>
                </c:pt>
                <c:pt idx="118">
                  <c:v>48.8761</c:v>
                </c:pt>
                <c:pt idx="119">
                  <c:v>48.3957</c:v>
                </c:pt>
                <c:pt idx="120">
                  <c:v>47.9249</c:v>
                </c:pt>
                <c:pt idx="121">
                  <c:v>47.4636</c:v>
                </c:pt>
                <c:pt idx="122">
                  <c:v>47.0116</c:v>
                </c:pt>
                <c:pt idx="123">
                  <c:v>46.5687</c:v>
                </c:pt>
                <c:pt idx="124">
                  <c:v>46.1347</c:v>
                </c:pt>
                <c:pt idx="125">
                  <c:v>45.7094</c:v>
                </c:pt>
                <c:pt idx="126">
                  <c:v>45.2927</c:v>
                </c:pt>
                <c:pt idx="127">
                  <c:v>44.8844</c:v>
                </c:pt>
                <c:pt idx="128">
                  <c:v>44.4842</c:v>
                </c:pt>
                <c:pt idx="129">
                  <c:v>44.0922</c:v>
                </c:pt>
              </c:numCache>
            </c:numRef>
          </c:yVal>
          <c:smooth val="1"/>
        </c:ser>
        <c:axId val="239726920"/>
        <c:axId val="239738536"/>
      </c:scatterChart>
      <c:valAx>
        <c:axId val="239726920"/>
        <c:scaling>
          <c:orientation val="minMax"/>
        </c:scaling>
        <c:axPos val="b"/>
        <c:numFmt formatCode="General" sourceLinked="1"/>
        <c:tickLblPos val="none"/>
        <c:crossAx val="239738536"/>
        <c:crosses val="autoZero"/>
        <c:crossBetween val="midCat"/>
      </c:valAx>
      <c:valAx>
        <c:axId val="239738536"/>
        <c:scaling>
          <c:orientation val="minMax"/>
          <c:max val="80.0"/>
          <c:min val="10.0"/>
        </c:scaling>
        <c:axPos val="l"/>
        <c:majorGridlines/>
        <c:numFmt formatCode="General" sourceLinked="1"/>
        <c:tickLblPos val="none"/>
        <c:crossAx val="239726920"/>
        <c:crosses val="autoZero"/>
        <c:crossBetween val="midCat"/>
        <c:majorUnit val="80.0"/>
        <c:minorUnit val="16.0"/>
      </c:valAx>
    </c:plotArea>
    <c:plotVisOnly val="1"/>
  </c:chart>
  <c:externalData r:id="rId1"/>
</c:chartSpace>
</file>

<file path=ppt/charts/chart9.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1"/>
          <c:order val="0"/>
          <c:spPr>
            <a:ln>
              <a:solidFill>
                <a:schemeClr val="tx1"/>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'sprint.xls'!$L$1:$L$130</c:f>
              <c:numCache>
                <c:formatCode>General</c:formatCode>
                <c:ptCount val="130"/>
                <c:pt idx="0">
                  <c:v>0.0</c:v>
                </c:pt>
                <c:pt idx="1">
                  <c:v>0.0</c:v>
                </c:pt>
                <c:pt idx="2">
                  <c:v>0.0</c:v>
                </c:pt>
                <c:pt idx="3">
                  <c:v>0.0</c:v>
                </c:pt>
                <c:pt idx="4">
                  <c:v>0.0</c:v>
                </c:pt>
                <c:pt idx="5">
                  <c:v>0.0</c:v>
                </c:pt>
                <c:pt idx="6">
                  <c:v>0.0</c:v>
                </c:pt>
                <c:pt idx="7">
                  <c:v>0.0</c:v>
                </c:pt>
                <c:pt idx="8">
                  <c:v>0.0</c:v>
                </c:pt>
                <c:pt idx="9">
                  <c:v>0.0</c:v>
                </c:pt>
                <c:pt idx="10">
                  <c:v>0.0</c:v>
                </c:pt>
                <c:pt idx="11">
                  <c:v>3.0</c:v>
                </c:pt>
                <c:pt idx="12">
                  <c:v>3.0</c:v>
                </c:pt>
                <c:pt idx="13">
                  <c:v>3.0</c:v>
                </c:pt>
                <c:pt idx="14">
                  <c:v>3.0</c:v>
                </c:pt>
                <c:pt idx="15">
                  <c:v>3.0</c:v>
                </c:pt>
                <c:pt idx="16">
                  <c:v>3.0</c:v>
                </c:pt>
                <c:pt idx="17">
                  <c:v>3.0</c:v>
                </c:pt>
                <c:pt idx="18">
                  <c:v>3.0</c:v>
                </c:pt>
                <c:pt idx="19">
                  <c:v>3.0</c:v>
                </c:pt>
                <c:pt idx="20">
                  <c:v>3.0</c:v>
                </c:pt>
                <c:pt idx="21">
                  <c:v>3.0</c:v>
                </c:pt>
                <c:pt idx="22">
                  <c:v>3.0</c:v>
                </c:pt>
                <c:pt idx="23">
                  <c:v>3.0</c:v>
                </c:pt>
                <c:pt idx="24">
                  <c:v>3.0</c:v>
                </c:pt>
                <c:pt idx="25">
                  <c:v>3.0</c:v>
                </c:pt>
                <c:pt idx="26">
                  <c:v>3.0</c:v>
                </c:pt>
                <c:pt idx="27">
                  <c:v>3.0</c:v>
                </c:pt>
                <c:pt idx="28">
                  <c:v>3.0</c:v>
                </c:pt>
                <c:pt idx="29">
                  <c:v>3.0</c:v>
                </c:pt>
                <c:pt idx="30">
                  <c:v>3.0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1.0</c:v>
                </c:pt>
                <c:pt idx="50">
                  <c:v>1.0</c:v>
                </c:pt>
                <c:pt idx="51">
                  <c:v>1.0</c:v>
                </c:pt>
                <c:pt idx="52">
                  <c:v>1.0</c:v>
                </c:pt>
                <c:pt idx="53">
                  <c:v>1.0</c:v>
                </c:pt>
                <c:pt idx="54">
                  <c:v>1.0</c:v>
                </c:pt>
                <c:pt idx="55">
                  <c:v>1.0</c:v>
                </c:pt>
                <c:pt idx="56">
                  <c:v>1.0</c:v>
                </c:pt>
                <c:pt idx="57">
                  <c:v>1.0</c:v>
                </c:pt>
                <c:pt idx="58">
                  <c:v>1.0</c:v>
                </c:pt>
                <c:pt idx="59">
                  <c:v>1.0</c:v>
                </c:pt>
                <c:pt idx="60">
                  <c:v>1.0</c:v>
                </c:pt>
                <c:pt idx="61">
                  <c:v>1.0</c:v>
                </c:pt>
                <c:pt idx="62">
                  <c:v>1.0</c:v>
                </c:pt>
                <c:pt idx="63">
                  <c:v>1.0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pt idx="82">
                  <c:v>1.0</c:v>
                </c:pt>
                <c:pt idx="83">
                  <c:v>1.0</c:v>
                </c:pt>
                <c:pt idx="84">
                  <c:v>1.0</c:v>
                </c:pt>
                <c:pt idx="85">
                  <c:v>1.0</c:v>
                </c:pt>
                <c:pt idx="86">
                  <c:v>1.0</c:v>
                </c:pt>
                <c:pt idx="87">
                  <c:v>1.0</c:v>
                </c:pt>
                <c:pt idx="88">
                  <c:v>1.0</c:v>
                </c:pt>
                <c:pt idx="89">
                  <c:v>1.0</c:v>
                </c:pt>
                <c:pt idx="90">
                  <c:v>0.0</c:v>
                </c:pt>
                <c:pt idx="91">
                  <c:v>0.0</c:v>
                </c:pt>
                <c:pt idx="92">
                  <c:v>0.0</c:v>
                </c:pt>
                <c:pt idx="93">
                  <c:v>0.0</c:v>
                </c:pt>
                <c:pt idx="94">
                  <c:v>0.0</c:v>
                </c:pt>
                <c:pt idx="95">
                  <c:v>0.0</c:v>
                </c:pt>
                <c:pt idx="96">
                  <c:v>0.0</c:v>
                </c:pt>
                <c:pt idx="97">
                  <c:v>0.0</c:v>
                </c:pt>
                <c:pt idx="98">
                  <c:v>0.0</c:v>
                </c:pt>
                <c:pt idx="99">
                  <c:v>0.0</c:v>
                </c:pt>
                <c:pt idx="100">
                  <c:v>0.0</c:v>
                </c:pt>
                <c:pt idx="101">
                  <c:v>0.0</c:v>
                </c:pt>
                <c:pt idx="102">
                  <c:v>0.0</c:v>
                </c:pt>
                <c:pt idx="103">
                  <c:v>0.0</c:v>
                </c:pt>
                <c:pt idx="104">
                  <c:v>0.0</c:v>
                </c:pt>
                <c:pt idx="105">
                  <c:v>0.0</c:v>
                </c:pt>
                <c:pt idx="106">
                  <c:v>0.0</c:v>
                </c:pt>
                <c:pt idx="107">
                  <c:v>0.0</c:v>
                </c:pt>
                <c:pt idx="108">
                  <c:v>0.0</c:v>
                </c:pt>
                <c:pt idx="109">
                  <c:v>0.0</c:v>
                </c:pt>
                <c:pt idx="110">
                  <c:v>0.0</c:v>
                </c:pt>
                <c:pt idx="111">
                  <c:v>0.0</c:v>
                </c:pt>
                <c:pt idx="112">
                  <c:v>0.0</c:v>
                </c:pt>
                <c:pt idx="113">
                  <c:v>0.0</c:v>
                </c:pt>
                <c:pt idx="114">
                  <c:v>0.0</c:v>
                </c:pt>
                <c:pt idx="115">
                  <c:v>0.0</c:v>
                </c:pt>
                <c:pt idx="116">
                  <c:v>0.0</c:v>
                </c:pt>
                <c:pt idx="117">
                  <c:v>0.0</c:v>
                </c:pt>
                <c:pt idx="118">
                  <c:v>0.0</c:v>
                </c:pt>
                <c:pt idx="119">
                  <c:v>0.0</c:v>
                </c:pt>
                <c:pt idx="120">
                  <c:v>0.0</c:v>
                </c:pt>
                <c:pt idx="121">
                  <c:v>0.0</c:v>
                </c:pt>
                <c:pt idx="122">
                  <c:v>0.0</c:v>
                </c:pt>
                <c:pt idx="123">
                  <c:v>0.0</c:v>
                </c:pt>
                <c:pt idx="124">
                  <c:v>0.0</c:v>
                </c:pt>
                <c:pt idx="125">
                  <c:v>0.0</c:v>
                </c:pt>
                <c:pt idx="126">
                  <c:v>0.0</c:v>
                </c:pt>
                <c:pt idx="127">
                  <c:v>0.0</c:v>
                </c:pt>
                <c:pt idx="128">
                  <c:v>0.0</c:v>
                </c:pt>
                <c:pt idx="129">
                  <c:v>0.0</c:v>
                </c:pt>
              </c:numCache>
            </c:numRef>
          </c:yVal>
          <c:smooth val="1"/>
        </c:ser>
        <c:axId val="239673576"/>
        <c:axId val="239671400"/>
      </c:scatterChart>
      <c:valAx>
        <c:axId val="239673576"/>
        <c:scaling>
          <c:orientation val="minMax"/>
        </c:scaling>
        <c:axPos val="b"/>
        <c:numFmt formatCode="General" sourceLinked="1"/>
        <c:tickLblPos val="none"/>
        <c:crossAx val="239671400"/>
        <c:crosses val="autoZero"/>
        <c:crossBetween val="midCat"/>
      </c:valAx>
      <c:valAx>
        <c:axId val="239671400"/>
        <c:scaling>
          <c:orientation val="minMax"/>
          <c:max val="3.0"/>
          <c:min val="0.0"/>
        </c:scaling>
        <c:axPos val="l"/>
        <c:majorGridlines/>
        <c:numFmt formatCode="General" sourceLinked="1"/>
        <c:tickLblPos val="none"/>
        <c:crossAx val="239673576"/>
        <c:crosses val="autoZero"/>
        <c:crossBetween val="midCat"/>
        <c:majorUnit val="10.0"/>
        <c:minorUnit val="0.1"/>
      </c:valAx>
    </c:plotArea>
    <c:plotVisOnly val="1"/>
  </c:chart>
  <c:externalData r:id="rId1"/>
</c:chartSpace>
</file>

<file path=ppt/charts/chart10.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1"/>
          <c:order val="0"/>
          <c:spPr>
            <a:ln>
              <a:solidFill>
                <a:schemeClr val="tx1"/>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'sprint.xls'!$N$1:$N$130</c:f>
              <c:numCache>
                <c:formatCode>General</c:formatCode>
                <c:ptCount val="130"/>
                <c:pt idx="0">
                  <c:v>30.0</c:v>
                </c:pt>
                <c:pt idx="1">
                  <c:v>30.0</c:v>
                </c:pt>
                <c:pt idx="2">
                  <c:v>30.0</c:v>
                </c:pt>
                <c:pt idx="3">
                  <c:v>30.0</c:v>
                </c:pt>
                <c:pt idx="4">
                  <c:v>30.0</c:v>
                </c:pt>
                <c:pt idx="5">
                  <c:v>30.0</c:v>
                </c:pt>
                <c:pt idx="6">
                  <c:v>30.0</c:v>
                </c:pt>
                <c:pt idx="7">
                  <c:v>30.0</c:v>
                </c:pt>
                <c:pt idx="8">
                  <c:v>30.0</c:v>
                </c:pt>
                <c:pt idx="9">
                  <c:v>30.0</c:v>
                </c:pt>
                <c:pt idx="10">
                  <c:v>30.0</c:v>
                </c:pt>
                <c:pt idx="11">
                  <c:v>32.3744</c:v>
                </c:pt>
                <c:pt idx="12">
                  <c:v>34.701</c:v>
                </c:pt>
                <c:pt idx="13">
                  <c:v>36.9808</c:v>
                </c:pt>
                <c:pt idx="14">
                  <c:v>39.2148</c:v>
                </c:pt>
                <c:pt idx="15">
                  <c:v>41.4038</c:v>
                </c:pt>
                <c:pt idx="16">
                  <c:v>43.5487</c:v>
                </c:pt>
                <c:pt idx="17">
                  <c:v>45.6505</c:v>
                </c:pt>
                <c:pt idx="18">
                  <c:v>47.71</c:v>
                </c:pt>
                <c:pt idx="19">
                  <c:v>49.728</c:v>
                </c:pt>
                <c:pt idx="20">
                  <c:v>51.7054</c:v>
                </c:pt>
                <c:pt idx="21">
                  <c:v>53.6431</c:v>
                </c:pt>
                <c:pt idx="22">
                  <c:v>55.5417</c:v>
                </c:pt>
                <c:pt idx="23">
                  <c:v>57.4022</c:v>
                </c:pt>
                <c:pt idx="24">
                  <c:v>59.2252</c:v>
                </c:pt>
                <c:pt idx="25">
                  <c:v>61.0115</c:v>
                </c:pt>
                <c:pt idx="26">
                  <c:v>62.7619</c:v>
                </c:pt>
                <c:pt idx="27">
                  <c:v>64.4771</c:v>
                </c:pt>
                <c:pt idx="28">
                  <c:v>66.15770000000001</c:v>
                </c:pt>
                <c:pt idx="29">
                  <c:v>67.8046</c:v>
                </c:pt>
                <c:pt idx="30">
                  <c:v>69.4183</c:v>
                </c:pt>
                <c:pt idx="31">
                  <c:v>69.9561</c:v>
                </c:pt>
                <c:pt idx="32">
                  <c:v>69.87649999999998</c:v>
                </c:pt>
                <c:pt idx="33">
                  <c:v>69.7985</c:v>
                </c:pt>
                <c:pt idx="34">
                  <c:v>69.722</c:v>
                </c:pt>
                <c:pt idx="35">
                  <c:v>69.6471</c:v>
                </c:pt>
                <c:pt idx="36">
                  <c:v>69.57380000000001</c:v>
                </c:pt>
                <c:pt idx="37">
                  <c:v>69.5018</c:v>
                </c:pt>
                <c:pt idx="38">
                  <c:v>69.4314</c:v>
                </c:pt>
                <c:pt idx="39">
                  <c:v>69.3623</c:v>
                </c:pt>
                <c:pt idx="40">
                  <c:v>69.2947</c:v>
                </c:pt>
                <c:pt idx="41">
                  <c:v>69.22839999999998</c:v>
                </c:pt>
                <c:pt idx="42">
                  <c:v>69.1634</c:v>
                </c:pt>
                <c:pt idx="43">
                  <c:v>69.0998</c:v>
                </c:pt>
                <c:pt idx="44">
                  <c:v>69.0374</c:v>
                </c:pt>
                <c:pt idx="45">
                  <c:v>68.9763</c:v>
                </c:pt>
                <c:pt idx="46">
                  <c:v>68.9164</c:v>
                </c:pt>
                <c:pt idx="47">
                  <c:v>68.8577</c:v>
                </c:pt>
                <c:pt idx="48">
                  <c:v>68.8002</c:v>
                </c:pt>
                <c:pt idx="49">
                  <c:v>68.7439</c:v>
                </c:pt>
                <c:pt idx="50">
                  <c:v>68.68859999999998</c:v>
                </c:pt>
                <c:pt idx="51">
                  <c:v>68.6345</c:v>
                </c:pt>
                <c:pt idx="52">
                  <c:v>68.5815</c:v>
                </c:pt>
                <c:pt idx="53">
                  <c:v>68.5296</c:v>
                </c:pt>
                <c:pt idx="54">
                  <c:v>68.47869999999998</c:v>
                </c:pt>
                <c:pt idx="55">
                  <c:v>68.4288</c:v>
                </c:pt>
                <c:pt idx="56">
                  <c:v>68.37990000000001</c:v>
                </c:pt>
                <c:pt idx="57">
                  <c:v>68.332</c:v>
                </c:pt>
                <c:pt idx="58">
                  <c:v>68.2851</c:v>
                </c:pt>
                <c:pt idx="59">
                  <c:v>68.2391</c:v>
                </c:pt>
                <c:pt idx="60">
                  <c:v>68.1941</c:v>
                </c:pt>
                <c:pt idx="61">
                  <c:v>68.1499</c:v>
                </c:pt>
                <c:pt idx="62">
                  <c:v>68.10669999999998</c:v>
                </c:pt>
                <c:pt idx="63">
                  <c:v>68.0643</c:v>
                </c:pt>
                <c:pt idx="64">
                  <c:v>68.02269999999998</c:v>
                </c:pt>
                <c:pt idx="65">
                  <c:v>67.982</c:v>
                </c:pt>
                <c:pt idx="66">
                  <c:v>67.9422</c:v>
                </c:pt>
                <c:pt idx="67">
                  <c:v>67.9031</c:v>
                </c:pt>
                <c:pt idx="68">
                  <c:v>67.8648</c:v>
                </c:pt>
                <c:pt idx="69">
                  <c:v>67.8273</c:v>
                </c:pt>
                <c:pt idx="70">
                  <c:v>67.7905</c:v>
                </c:pt>
                <c:pt idx="71">
                  <c:v>67.7545</c:v>
                </c:pt>
                <c:pt idx="72">
                  <c:v>67.7192</c:v>
                </c:pt>
                <c:pt idx="73">
                  <c:v>67.6846</c:v>
                </c:pt>
                <c:pt idx="74">
                  <c:v>67.65069999999998</c:v>
                </c:pt>
                <c:pt idx="75">
                  <c:v>67.6175</c:v>
                </c:pt>
                <c:pt idx="76">
                  <c:v>67.5849</c:v>
                </c:pt>
                <c:pt idx="77">
                  <c:v>67.553</c:v>
                </c:pt>
                <c:pt idx="78">
                  <c:v>67.5218</c:v>
                </c:pt>
                <c:pt idx="79">
                  <c:v>67.4911</c:v>
                </c:pt>
                <c:pt idx="80">
                  <c:v>67.4611</c:v>
                </c:pt>
                <c:pt idx="81">
                  <c:v>67.4317</c:v>
                </c:pt>
                <c:pt idx="82">
                  <c:v>67.4029</c:v>
                </c:pt>
                <c:pt idx="83">
                  <c:v>67.37469999999998</c:v>
                </c:pt>
                <c:pt idx="84">
                  <c:v>67.347</c:v>
                </c:pt>
                <c:pt idx="85">
                  <c:v>67.3199</c:v>
                </c:pt>
                <c:pt idx="86">
                  <c:v>67.2934</c:v>
                </c:pt>
                <c:pt idx="87">
                  <c:v>67.2673</c:v>
                </c:pt>
                <c:pt idx="88">
                  <c:v>67.2418</c:v>
                </c:pt>
                <c:pt idx="89">
                  <c:v>67.2169</c:v>
                </c:pt>
                <c:pt idx="90">
                  <c:v>67.184</c:v>
                </c:pt>
                <c:pt idx="91">
                  <c:v>66.3352</c:v>
                </c:pt>
                <c:pt idx="92">
                  <c:v>65.5035</c:v>
                </c:pt>
                <c:pt idx="93">
                  <c:v>64.68839999999985</c:v>
                </c:pt>
                <c:pt idx="94">
                  <c:v>63.8898</c:v>
                </c:pt>
                <c:pt idx="95">
                  <c:v>63.1073</c:v>
                </c:pt>
                <c:pt idx="96">
                  <c:v>62.3405</c:v>
                </c:pt>
                <c:pt idx="97">
                  <c:v>61.5891</c:v>
                </c:pt>
                <c:pt idx="98">
                  <c:v>60.8529</c:v>
                </c:pt>
                <c:pt idx="99">
                  <c:v>60.1314</c:v>
                </c:pt>
                <c:pt idx="100">
                  <c:v>59.4245</c:v>
                </c:pt>
                <c:pt idx="101">
                  <c:v>58.7318</c:v>
                </c:pt>
                <c:pt idx="102">
                  <c:v>58.0531</c:v>
                </c:pt>
                <c:pt idx="103">
                  <c:v>57.388</c:v>
                </c:pt>
                <c:pt idx="104">
                  <c:v>56.7363</c:v>
                </c:pt>
                <c:pt idx="105">
                  <c:v>56.0977</c:v>
                </c:pt>
                <c:pt idx="106">
                  <c:v>55.4719</c:v>
                </c:pt>
                <c:pt idx="107">
                  <c:v>54.8588</c:v>
                </c:pt>
                <c:pt idx="108">
                  <c:v>54.2579</c:v>
                </c:pt>
                <c:pt idx="109">
                  <c:v>53.6692</c:v>
                </c:pt>
                <c:pt idx="110">
                  <c:v>53.0923</c:v>
                </c:pt>
                <c:pt idx="111">
                  <c:v>52.5271</c:v>
                </c:pt>
                <c:pt idx="112">
                  <c:v>51.9732</c:v>
                </c:pt>
                <c:pt idx="113">
                  <c:v>51.4304</c:v>
                </c:pt>
                <c:pt idx="114">
                  <c:v>50.8986</c:v>
                </c:pt>
                <c:pt idx="115">
                  <c:v>50.3774</c:v>
                </c:pt>
                <c:pt idx="116">
                  <c:v>49.8668</c:v>
                </c:pt>
                <c:pt idx="117">
                  <c:v>49.3664</c:v>
                </c:pt>
                <c:pt idx="118">
                  <c:v>48.8761</c:v>
                </c:pt>
                <c:pt idx="119">
                  <c:v>48.3957</c:v>
                </c:pt>
                <c:pt idx="120">
                  <c:v>47.9249</c:v>
                </c:pt>
                <c:pt idx="121">
                  <c:v>47.4636</c:v>
                </c:pt>
                <c:pt idx="122">
                  <c:v>47.0116</c:v>
                </c:pt>
                <c:pt idx="123">
                  <c:v>46.5687</c:v>
                </c:pt>
                <c:pt idx="124">
                  <c:v>46.1347</c:v>
                </c:pt>
                <c:pt idx="125">
                  <c:v>45.7094</c:v>
                </c:pt>
                <c:pt idx="126">
                  <c:v>45.2927</c:v>
                </c:pt>
                <c:pt idx="127">
                  <c:v>44.8844</c:v>
                </c:pt>
                <c:pt idx="128">
                  <c:v>44.4842</c:v>
                </c:pt>
                <c:pt idx="129">
                  <c:v>44.0922</c:v>
                </c:pt>
              </c:numCache>
            </c:numRef>
          </c:yVal>
          <c:smooth val="1"/>
        </c:ser>
        <c:axId val="240007448"/>
        <c:axId val="240017016"/>
      </c:scatterChart>
      <c:valAx>
        <c:axId val="240007448"/>
        <c:scaling>
          <c:orientation val="minMax"/>
        </c:scaling>
        <c:axPos val="b"/>
        <c:numFmt formatCode="General" sourceLinked="1"/>
        <c:tickLblPos val="none"/>
        <c:crossAx val="240017016"/>
        <c:crosses val="autoZero"/>
        <c:crossBetween val="midCat"/>
      </c:valAx>
      <c:valAx>
        <c:axId val="240017016"/>
        <c:scaling>
          <c:orientation val="minMax"/>
          <c:max val="80.0"/>
          <c:min val="10.0"/>
        </c:scaling>
        <c:axPos val="l"/>
        <c:majorGridlines/>
        <c:numFmt formatCode="General" sourceLinked="1"/>
        <c:tickLblPos val="none"/>
        <c:crossAx val="240007448"/>
        <c:crosses val="autoZero"/>
        <c:crossBetween val="midCat"/>
        <c:majorUnit val="80.0"/>
        <c:minorUnit val="16.0"/>
      </c:valAx>
    </c:plotArea>
    <c:plotVisOnly val="1"/>
  </c:chart>
  <c:externalData r:id="rId1"/>
</c:chartSpace>
</file>

<file path=ppt/charts/chart11.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1"/>
          <c:order val="0"/>
          <c:spPr>
            <a:ln>
              <a:solidFill>
                <a:schemeClr val="tx1"/>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'sprint.xls'!$L$1:$L$130</c:f>
              <c:numCache>
                <c:formatCode>General</c:formatCode>
                <c:ptCount val="130"/>
                <c:pt idx="0">
                  <c:v>0.0</c:v>
                </c:pt>
                <c:pt idx="1">
                  <c:v>0.0</c:v>
                </c:pt>
                <c:pt idx="2">
                  <c:v>0.0</c:v>
                </c:pt>
                <c:pt idx="3">
                  <c:v>0.0</c:v>
                </c:pt>
                <c:pt idx="4">
                  <c:v>0.0</c:v>
                </c:pt>
                <c:pt idx="5">
                  <c:v>0.0</c:v>
                </c:pt>
                <c:pt idx="6">
                  <c:v>0.0</c:v>
                </c:pt>
                <c:pt idx="7">
                  <c:v>0.0</c:v>
                </c:pt>
                <c:pt idx="8">
                  <c:v>0.0</c:v>
                </c:pt>
                <c:pt idx="9">
                  <c:v>0.0</c:v>
                </c:pt>
                <c:pt idx="10">
                  <c:v>0.0</c:v>
                </c:pt>
                <c:pt idx="11">
                  <c:v>3.0</c:v>
                </c:pt>
                <c:pt idx="12">
                  <c:v>3.0</c:v>
                </c:pt>
                <c:pt idx="13">
                  <c:v>3.0</c:v>
                </c:pt>
                <c:pt idx="14">
                  <c:v>3.0</c:v>
                </c:pt>
                <c:pt idx="15">
                  <c:v>3.0</c:v>
                </c:pt>
                <c:pt idx="16">
                  <c:v>3.0</c:v>
                </c:pt>
                <c:pt idx="17">
                  <c:v>3.0</c:v>
                </c:pt>
                <c:pt idx="18">
                  <c:v>3.0</c:v>
                </c:pt>
                <c:pt idx="19">
                  <c:v>3.0</c:v>
                </c:pt>
                <c:pt idx="20">
                  <c:v>3.0</c:v>
                </c:pt>
                <c:pt idx="21">
                  <c:v>3.0</c:v>
                </c:pt>
                <c:pt idx="22">
                  <c:v>3.0</c:v>
                </c:pt>
                <c:pt idx="23">
                  <c:v>3.0</c:v>
                </c:pt>
                <c:pt idx="24">
                  <c:v>3.0</c:v>
                </c:pt>
                <c:pt idx="25">
                  <c:v>3.0</c:v>
                </c:pt>
                <c:pt idx="26">
                  <c:v>3.0</c:v>
                </c:pt>
                <c:pt idx="27">
                  <c:v>3.0</c:v>
                </c:pt>
                <c:pt idx="28">
                  <c:v>3.0</c:v>
                </c:pt>
                <c:pt idx="29">
                  <c:v>3.0</c:v>
                </c:pt>
                <c:pt idx="30">
                  <c:v>3.0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1.0</c:v>
                </c:pt>
                <c:pt idx="50">
                  <c:v>1.0</c:v>
                </c:pt>
                <c:pt idx="51">
                  <c:v>1.0</c:v>
                </c:pt>
                <c:pt idx="52">
                  <c:v>1.0</c:v>
                </c:pt>
                <c:pt idx="53">
                  <c:v>1.0</c:v>
                </c:pt>
                <c:pt idx="54">
                  <c:v>1.0</c:v>
                </c:pt>
                <c:pt idx="55">
                  <c:v>1.0</c:v>
                </c:pt>
                <c:pt idx="56">
                  <c:v>1.0</c:v>
                </c:pt>
                <c:pt idx="57">
                  <c:v>1.0</c:v>
                </c:pt>
                <c:pt idx="58">
                  <c:v>1.0</c:v>
                </c:pt>
                <c:pt idx="59">
                  <c:v>1.0</c:v>
                </c:pt>
                <c:pt idx="60">
                  <c:v>1.0</c:v>
                </c:pt>
                <c:pt idx="61">
                  <c:v>1.0</c:v>
                </c:pt>
                <c:pt idx="62">
                  <c:v>1.0</c:v>
                </c:pt>
                <c:pt idx="63">
                  <c:v>1.0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pt idx="82">
                  <c:v>1.0</c:v>
                </c:pt>
                <c:pt idx="83">
                  <c:v>1.0</c:v>
                </c:pt>
                <c:pt idx="84">
                  <c:v>1.0</c:v>
                </c:pt>
                <c:pt idx="85">
                  <c:v>1.0</c:v>
                </c:pt>
                <c:pt idx="86">
                  <c:v>1.0</c:v>
                </c:pt>
                <c:pt idx="87">
                  <c:v>1.0</c:v>
                </c:pt>
                <c:pt idx="88">
                  <c:v>1.0</c:v>
                </c:pt>
                <c:pt idx="89">
                  <c:v>1.0</c:v>
                </c:pt>
                <c:pt idx="90">
                  <c:v>0.0</c:v>
                </c:pt>
                <c:pt idx="91">
                  <c:v>0.0</c:v>
                </c:pt>
                <c:pt idx="92">
                  <c:v>0.0</c:v>
                </c:pt>
                <c:pt idx="93">
                  <c:v>0.0</c:v>
                </c:pt>
                <c:pt idx="94">
                  <c:v>0.0</c:v>
                </c:pt>
                <c:pt idx="95">
                  <c:v>0.0</c:v>
                </c:pt>
                <c:pt idx="96">
                  <c:v>0.0</c:v>
                </c:pt>
                <c:pt idx="97">
                  <c:v>0.0</c:v>
                </c:pt>
                <c:pt idx="98">
                  <c:v>0.0</c:v>
                </c:pt>
                <c:pt idx="99">
                  <c:v>0.0</c:v>
                </c:pt>
                <c:pt idx="100">
                  <c:v>0.0</c:v>
                </c:pt>
                <c:pt idx="101">
                  <c:v>0.0</c:v>
                </c:pt>
                <c:pt idx="102">
                  <c:v>0.0</c:v>
                </c:pt>
                <c:pt idx="103">
                  <c:v>0.0</c:v>
                </c:pt>
                <c:pt idx="104">
                  <c:v>0.0</c:v>
                </c:pt>
                <c:pt idx="105">
                  <c:v>0.0</c:v>
                </c:pt>
                <c:pt idx="106">
                  <c:v>0.0</c:v>
                </c:pt>
                <c:pt idx="107">
                  <c:v>0.0</c:v>
                </c:pt>
                <c:pt idx="108">
                  <c:v>0.0</c:v>
                </c:pt>
                <c:pt idx="109">
                  <c:v>0.0</c:v>
                </c:pt>
                <c:pt idx="110">
                  <c:v>0.0</c:v>
                </c:pt>
                <c:pt idx="111">
                  <c:v>0.0</c:v>
                </c:pt>
                <c:pt idx="112">
                  <c:v>0.0</c:v>
                </c:pt>
                <c:pt idx="113">
                  <c:v>0.0</c:v>
                </c:pt>
                <c:pt idx="114">
                  <c:v>0.0</c:v>
                </c:pt>
                <c:pt idx="115">
                  <c:v>0.0</c:v>
                </c:pt>
                <c:pt idx="116">
                  <c:v>0.0</c:v>
                </c:pt>
                <c:pt idx="117">
                  <c:v>0.0</c:v>
                </c:pt>
                <c:pt idx="118">
                  <c:v>0.0</c:v>
                </c:pt>
                <c:pt idx="119">
                  <c:v>0.0</c:v>
                </c:pt>
                <c:pt idx="120">
                  <c:v>0.0</c:v>
                </c:pt>
                <c:pt idx="121">
                  <c:v>0.0</c:v>
                </c:pt>
                <c:pt idx="122">
                  <c:v>0.0</c:v>
                </c:pt>
                <c:pt idx="123">
                  <c:v>0.0</c:v>
                </c:pt>
                <c:pt idx="124">
                  <c:v>0.0</c:v>
                </c:pt>
                <c:pt idx="125">
                  <c:v>0.0</c:v>
                </c:pt>
                <c:pt idx="126">
                  <c:v>0.0</c:v>
                </c:pt>
                <c:pt idx="127">
                  <c:v>0.0</c:v>
                </c:pt>
                <c:pt idx="128">
                  <c:v>0.0</c:v>
                </c:pt>
                <c:pt idx="129">
                  <c:v>0.0</c:v>
                </c:pt>
              </c:numCache>
            </c:numRef>
          </c:yVal>
          <c:smooth val="1"/>
        </c:ser>
        <c:axId val="239896552"/>
        <c:axId val="239899848"/>
      </c:scatterChart>
      <c:valAx>
        <c:axId val="239896552"/>
        <c:scaling>
          <c:orientation val="minMax"/>
        </c:scaling>
        <c:axPos val="b"/>
        <c:numFmt formatCode="General" sourceLinked="1"/>
        <c:tickLblPos val="none"/>
        <c:crossAx val="239899848"/>
        <c:crosses val="autoZero"/>
        <c:crossBetween val="midCat"/>
      </c:valAx>
      <c:valAx>
        <c:axId val="239899848"/>
        <c:scaling>
          <c:orientation val="minMax"/>
          <c:max val="3.0"/>
          <c:min val="0.0"/>
        </c:scaling>
        <c:delete val="1"/>
        <c:axPos val="l"/>
        <c:majorGridlines/>
        <c:numFmt formatCode="General" sourceLinked="1"/>
        <c:tickLblPos val="none"/>
        <c:crossAx val="239896552"/>
        <c:crosses val="autoZero"/>
        <c:crossBetween val="midCat"/>
        <c:majorUnit val="10.0"/>
        <c:minorUnit val="0.1"/>
      </c:valAx>
    </c:plotArea>
    <c:plotVisOnly val="1"/>
  </c:chart>
  <c:externalData r:id="rId1"/>
</c:chartSpace>
</file>

<file path=ppt/charts/chart12.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1"/>
          <c:order val="0"/>
          <c:spPr>
            <a:ln>
              <a:solidFill>
                <a:schemeClr val="tx1"/>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'sprint.xls'!$N$1:$N$130</c:f>
              <c:numCache>
                <c:formatCode>General</c:formatCode>
                <c:ptCount val="130"/>
                <c:pt idx="0">
                  <c:v>30.0</c:v>
                </c:pt>
                <c:pt idx="1">
                  <c:v>30.0</c:v>
                </c:pt>
                <c:pt idx="2">
                  <c:v>30.0</c:v>
                </c:pt>
                <c:pt idx="3">
                  <c:v>30.0</c:v>
                </c:pt>
                <c:pt idx="4">
                  <c:v>30.0</c:v>
                </c:pt>
                <c:pt idx="5">
                  <c:v>30.0</c:v>
                </c:pt>
                <c:pt idx="6">
                  <c:v>30.0</c:v>
                </c:pt>
                <c:pt idx="7">
                  <c:v>30.0</c:v>
                </c:pt>
                <c:pt idx="8">
                  <c:v>30.0</c:v>
                </c:pt>
                <c:pt idx="9">
                  <c:v>30.0</c:v>
                </c:pt>
                <c:pt idx="10">
                  <c:v>30.0</c:v>
                </c:pt>
                <c:pt idx="11">
                  <c:v>32.3744</c:v>
                </c:pt>
                <c:pt idx="12">
                  <c:v>34.701</c:v>
                </c:pt>
                <c:pt idx="13">
                  <c:v>36.9808</c:v>
                </c:pt>
                <c:pt idx="14">
                  <c:v>39.2148</c:v>
                </c:pt>
                <c:pt idx="15">
                  <c:v>41.4038</c:v>
                </c:pt>
                <c:pt idx="16">
                  <c:v>43.5487</c:v>
                </c:pt>
                <c:pt idx="17">
                  <c:v>45.6505</c:v>
                </c:pt>
                <c:pt idx="18">
                  <c:v>47.71</c:v>
                </c:pt>
                <c:pt idx="19">
                  <c:v>49.728</c:v>
                </c:pt>
                <c:pt idx="20">
                  <c:v>51.7054</c:v>
                </c:pt>
                <c:pt idx="21">
                  <c:v>53.6431</c:v>
                </c:pt>
                <c:pt idx="22">
                  <c:v>55.5417</c:v>
                </c:pt>
                <c:pt idx="23">
                  <c:v>57.4022</c:v>
                </c:pt>
                <c:pt idx="24">
                  <c:v>59.2252</c:v>
                </c:pt>
                <c:pt idx="25">
                  <c:v>61.0115</c:v>
                </c:pt>
                <c:pt idx="26">
                  <c:v>62.7619</c:v>
                </c:pt>
                <c:pt idx="27">
                  <c:v>64.4771</c:v>
                </c:pt>
                <c:pt idx="28">
                  <c:v>66.15770000000001</c:v>
                </c:pt>
                <c:pt idx="29">
                  <c:v>67.8046</c:v>
                </c:pt>
                <c:pt idx="30">
                  <c:v>69.4183</c:v>
                </c:pt>
                <c:pt idx="31">
                  <c:v>69.9561</c:v>
                </c:pt>
                <c:pt idx="32">
                  <c:v>69.87649999999998</c:v>
                </c:pt>
                <c:pt idx="33">
                  <c:v>69.7985</c:v>
                </c:pt>
                <c:pt idx="34">
                  <c:v>69.722</c:v>
                </c:pt>
                <c:pt idx="35">
                  <c:v>69.6471</c:v>
                </c:pt>
                <c:pt idx="36">
                  <c:v>69.57380000000001</c:v>
                </c:pt>
                <c:pt idx="37">
                  <c:v>69.5018</c:v>
                </c:pt>
                <c:pt idx="38">
                  <c:v>69.4314</c:v>
                </c:pt>
                <c:pt idx="39">
                  <c:v>69.3623</c:v>
                </c:pt>
                <c:pt idx="40">
                  <c:v>69.2947</c:v>
                </c:pt>
                <c:pt idx="41">
                  <c:v>69.22839999999998</c:v>
                </c:pt>
                <c:pt idx="42">
                  <c:v>69.1634</c:v>
                </c:pt>
                <c:pt idx="43">
                  <c:v>69.0998</c:v>
                </c:pt>
                <c:pt idx="44">
                  <c:v>69.0374</c:v>
                </c:pt>
                <c:pt idx="45">
                  <c:v>68.9763</c:v>
                </c:pt>
                <c:pt idx="46">
                  <c:v>68.9164</c:v>
                </c:pt>
                <c:pt idx="47">
                  <c:v>68.8577</c:v>
                </c:pt>
                <c:pt idx="48">
                  <c:v>68.8002</c:v>
                </c:pt>
                <c:pt idx="49">
                  <c:v>68.7439</c:v>
                </c:pt>
                <c:pt idx="50">
                  <c:v>68.68859999999998</c:v>
                </c:pt>
                <c:pt idx="51">
                  <c:v>68.6345</c:v>
                </c:pt>
                <c:pt idx="52">
                  <c:v>68.5815</c:v>
                </c:pt>
                <c:pt idx="53">
                  <c:v>68.5296</c:v>
                </c:pt>
                <c:pt idx="54">
                  <c:v>68.47869999999998</c:v>
                </c:pt>
                <c:pt idx="55">
                  <c:v>68.4288</c:v>
                </c:pt>
                <c:pt idx="56">
                  <c:v>68.37990000000001</c:v>
                </c:pt>
                <c:pt idx="57">
                  <c:v>68.332</c:v>
                </c:pt>
                <c:pt idx="58">
                  <c:v>68.2851</c:v>
                </c:pt>
                <c:pt idx="59">
                  <c:v>68.2391</c:v>
                </c:pt>
                <c:pt idx="60">
                  <c:v>68.1941</c:v>
                </c:pt>
                <c:pt idx="61">
                  <c:v>68.1499</c:v>
                </c:pt>
                <c:pt idx="62">
                  <c:v>68.10669999999998</c:v>
                </c:pt>
                <c:pt idx="63">
                  <c:v>68.0643</c:v>
                </c:pt>
                <c:pt idx="64">
                  <c:v>68.02269999999998</c:v>
                </c:pt>
                <c:pt idx="65">
                  <c:v>67.982</c:v>
                </c:pt>
                <c:pt idx="66">
                  <c:v>67.9422</c:v>
                </c:pt>
                <c:pt idx="67">
                  <c:v>67.9031</c:v>
                </c:pt>
                <c:pt idx="68">
                  <c:v>67.8648</c:v>
                </c:pt>
                <c:pt idx="69">
                  <c:v>67.8273</c:v>
                </c:pt>
                <c:pt idx="70">
                  <c:v>67.7905</c:v>
                </c:pt>
                <c:pt idx="71">
                  <c:v>67.7545</c:v>
                </c:pt>
                <c:pt idx="72">
                  <c:v>67.7192</c:v>
                </c:pt>
                <c:pt idx="73">
                  <c:v>67.6846</c:v>
                </c:pt>
                <c:pt idx="74">
                  <c:v>67.65069999999998</c:v>
                </c:pt>
                <c:pt idx="75">
                  <c:v>67.6175</c:v>
                </c:pt>
                <c:pt idx="76">
                  <c:v>67.5849</c:v>
                </c:pt>
                <c:pt idx="77">
                  <c:v>67.553</c:v>
                </c:pt>
                <c:pt idx="78">
                  <c:v>67.5218</c:v>
                </c:pt>
                <c:pt idx="79">
                  <c:v>67.4911</c:v>
                </c:pt>
                <c:pt idx="80">
                  <c:v>67.4611</c:v>
                </c:pt>
                <c:pt idx="81">
                  <c:v>67.4317</c:v>
                </c:pt>
                <c:pt idx="82">
                  <c:v>67.4029</c:v>
                </c:pt>
                <c:pt idx="83">
                  <c:v>67.37469999999998</c:v>
                </c:pt>
                <c:pt idx="84">
                  <c:v>67.347</c:v>
                </c:pt>
                <c:pt idx="85">
                  <c:v>67.3199</c:v>
                </c:pt>
                <c:pt idx="86">
                  <c:v>67.2934</c:v>
                </c:pt>
                <c:pt idx="87">
                  <c:v>67.2673</c:v>
                </c:pt>
                <c:pt idx="88">
                  <c:v>67.2418</c:v>
                </c:pt>
                <c:pt idx="89">
                  <c:v>67.2169</c:v>
                </c:pt>
                <c:pt idx="90">
                  <c:v>67.184</c:v>
                </c:pt>
                <c:pt idx="91">
                  <c:v>66.3352</c:v>
                </c:pt>
                <c:pt idx="92">
                  <c:v>65.5035</c:v>
                </c:pt>
                <c:pt idx="93">
                  <c:v>64.68839999999985</c:v>
                </c:pt>
                <c:pt idx="94">
                  <c:v>63.8898</c:v>
                </c:pt>
                <c:pt idx="95">
                  <c:v>63.1073</c:v>
                </c:pt>
                <c:pt idx="96">
                  <c:v>62.3405</c:v>
                </c:pt>
                <c:pt idx="97">
                  <c:v>61.5891</c:v>
                </c:pt>
                <c:pt idx="98">
                  <c:v>60.8529</c:v>
                </c:pt>
                <c:pt idx="99">
                  <c:v>60.1314</c:v>
                </c:pt>
                <c:pt idx="100">
                  <c:v>59.4245</c:v>
                </c:pt>
                <c:pt idx="101">
                  <c:v>58.7318</c:v>
                </c:pt>
                <c:pt idx="102">
                  <c:v>58.0531</c:v>
                </c:pt>
                <c:pt idx="103">
                  <c:v>57.388</c:v>
                </c:pt>
                <c:pt idx="104">
                  <c:v>56.7363</c:v>
                </c:pt>
                <c:pt idx="105">
                  <c:v>56.0977</c:v>
                </c:pt>
                <c:pt idx="106">
                  <c:v>55.4719</c:v>
                </c:pt>
                <c:pt idx="107">
                  <c:v>54.8588</c:v>
                </c:pt>
                <c:pt idx="108">
                  <c:v>54.2579</c:v>
                </c:pt>
                <c:pt idx="109">
                  <c:v>53.6692</c:v>
                </c:pt>
                <c:pt idx="110">
                  <c:v>53.0923</c:v>
                </c:pt>
                <c:pt idx="111">
                  <c:v>52.5271</c:v>
                </c:pt>
                <c:pt idx="112">
                  <c:v>51.9732</c:v>
                </c:pt>
                <c:pt idx="113">
                  <c:v>51.4304</c:v>
                </c:pt>
                <c:pt idx="114">
                  <c:v>50.8986</c:v>
                </c:pt>
                <c:pt idx="115">
                  <c:v>50.3774</c:v>
                </c:pt>
                <c:pt idx="116">
                  <c:v>49.8668</c:v>
                </c:pt>
                <c:pt idx="117">
                  <c:v>49.3664</c:v>
                </c:pt>
                <c:pt idx="118">
                  <c:v>48.8761</c:v>
                </c:pt>
                <c:pt idx="119">
                  <c:v>48.3957</c:v>
                </c:pt>
                <c:pt idx="120">
                  <c:v>47.9249</c:v>
                </c:pt>
                <c:pt idx="121">
                  <c:v>47.4636</c:v>
                </c:pt>
                <c:pt idx="122">
                  <c:v>47.0116</c:v>
                </c:pt>
                <c:pt idx="123">
                  <c:v>46.5687</c:v>
                </c:pt>
                <c:pt idx="124">
                  <c:v>46.1347</c:v>
                </c:pt>
                <c:pt idx="125">
                  <c:v>45.7094</c:v>
                </c:pt>
                <c:pt idx="126">
                  <c:v>45.2927</c:v>
                </c:pt>
                <c:pt idx="127">
                  <c:v>44.8844</c:v>
                </c:pt>
                <c:pt idx="128">
                  <c:v>44.4842</c:v>
                </c:pt>
                <c:pt idx="129">
                  <c:v>44.0922</c:v>
                </c:pt>
              </c:numCache>
            </c:numRef>
          </c:yVal>
          <c:smooth val="1"/>
        </c:ser>
        <c:axId val="240207560"/>
        <c:axId val="240220248"/>
      </c:scatterChart>
      <c:valAx>
        <c:axId val="240207560"/>
        <c:scaling>
          <c:orientation val="minMax"/>
        </c:scaling>
        <c:axPos val="b"/>
        <c:numFmt formatCode="General" sourceLinked="1"/>
        <c:tickLblPos val="none"/>
        <c:crossAx val="240220248"/>
        <c:crosses val="autoZero"/>
        <c:crossBetween val="midCat"/>
      </c:valAx>
      <c:valAx>
        <c:axId val="240220248"/>
        <c:scaling>
          <c:orientation val="minMax"/>
          <c:max val="80.0"/>
          <c:min val="10.0"/>
        </c:scaling>
        <c:axPos val="l"/>
        <c:majorGridlines/>
        <c:numFmt formatCode="General" sourceLinked="1"/>
        <c:tickLblPos val="none"/>
        <c:crossAx val="240207560"/>
        <c:crosses val="autoZero"/>
        <c:crossBetween val="midCat"/>
        <c:majorUnit val="80.0"/>
        <c:minorUnit val="16.0"/>
      </c:valAx>
    </c:plotArea>
    <c:plotVisOnly val="1"/>
  </c:chart>
  <c:externalData r:id="rId1"/>
</c:chartSpace>
</file>

<file path=ppt/charts/chart13.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1"/>
          <c:order val="0"/>
          <c:spPr>
            <a:ln>
              <a:solidFill>
                <a:schemeClr val="tx1"/>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'sprint.xls'!$L$1:$L$130</c:f>
              <c:numCache>
                <c:formatCode>General</c:formatCode>
                <c:ptCount val="130"/>
                <c:pt idx="0">
                  <c:v>0.0</c:v>
                </c:pt>
                <c:pt idx="1">
                  <c:v>0.0</c:v>
                </c:pt>
                <c:pt idx="2">
                  <c:v>0.0</c:v>
                </c:pt>
                <c:pt idx="3">
                  <c:v>0.0</c:v>
                </c:pt>
                <c:pt idx="4">
                  <c:v>0.0</c:v>
                </c:pt>
                <c:pt idx="5">
                  <c:v>0.0</c:v>
                </c:pt>
                <c:pt idx="6">
                  <c:v>0.0</c:v>
                </c:pt>
                <c:pt idx="7">
                  <c:v>0.0</c:v>
                </c:pt>
                <c:pt idx="8">
                  <c:v>0.0</c:v>
                </c:pt>
                <c:pt idx="9">
                  <c:v>0.0</c:v>
                </c:pt>
                <c:pt idx="10">
                  <c:v>0.0</c:v>
                </c:pt>
                <c:pt idx="11">
                  <c:v>3.0</c:v>
                </c:pt>
                <c:pt idx="12">
                  <c:v>3.0</c:v>
                </c:pt>
                <c:pt idx="13">
                  <c:v>3.0</c:v>
                </c:pt>
                <c:pt idx="14">
                  <c:v>3.0</c:v>
                </c:pt>
                <c:pt idx="15">
                  <c:v>3.0</c:v>
                </c:pt>
                <c:pt idx="16">
                  <c:v>3.0</c:v>
                </c:pt>
                <c:pt idx="17">
                  <c:v>3.0</c:v>
                </c:pt>
                <c:pt idx="18">
                  <c:v>3.0</c:v>
                </c:pt>
                <c:pt idx="19">
                  <c:v>3.0</c:v>
                </c:pt>
                <c:pt idx="20">
                  <c:v>3.0</c:v>
                </c:pt>
                <c:pt idx="21">
                  <c:v>3.0</c:v>
                </c:pt>
                <c:pt idx="22">
                  <c:v>3.0</c:v>
                </c:pt>
                <c:pt idx="23">
                  <c:v>3.0</c:v>
                </c:pt>
                <c:pt idx="24">
                  <c:v>3.0</c:v>
                </c:pt>
                <c:pt idx="25">
                  <c:v>3.0</c:v>
                </c:pt>
                <c:pt idx="26">
                  <c:v>3.0</c:v>
                </c:pt>
                <c:pt idx="27">
                  <c:v>3.0</c:v>
                </c:pt>
                <c:pt idx="28">
                  <c:v>3.0</c:v>
                </c:pt>
                <c:pt idx="29">
                  <c:v>3.0</c:v>
                </c:pt>
                <c:pt idx="30">
                  <c:v>3.0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1.0</c:v>
                </c:pt>
                <c:pt idx="50">
                  <c:v>1.0</c:v>
                </c:pt>
                <c:pt idx="51">
                  <c:v>1.0</c:v>
                </c:pt>
                <c:pt idx="52">
                  <c:v>1.0</c:v>
                </c:pt>
                <c:pt idx="53">
                  <c:v>1.0</c:v>
                </c:pt>
                <c:pt idx="54">
                  <c:v>1.0</c:v>
                </c:pt>
                <c:pt idx="55">
                  <c:v>1.0</c:v>
                </c:pt>
                <c:pt idx="56">
                  <c:v>1.0</c:v>
                </c:pt>
                <c:pt idx="57">
                  <c:v>1.0</c:v>
                </c:pt>
                <c:pt idx="58">
                  <c:v>1.0</c:v>
                </c:pt>
                <c:pt idx="59">
                  <c:v>1.0</c:v>
                </c:pt>
                <c:pt idx="60">
                  <c:v>1.0</c:v>
                </c:pt>
                <c:pt idx="61">
                  <c:v>1.0</c:v>
                </c:pt>
                <c:pt idx="62">
                  <c:v>1.0</c:v>
                </c:pt>
                <c:pt idx="63">
                  <c:v>1.0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pt idx="82">
                  <c:v>1.0</c:v>
                </c:pt>
                <c:pt idx="83">
                  <c:v>1.0</c:v>
                </c:pt>
                <c:pt idx="84">
                  <c:v>1.0</c:v>
                </c:pt>
                <c:pt idx="85">
                  <c:v>1.0</c:v>
                </c:pt>
                <c:pt idx="86">
                  <c:v>1.0</c:v>
                </c:pt>
                <c:pt idx="87">
                  <c:v>1.0</c:v>
                </c:pt>
                <c:pt idx="88">
                  <c:v>1.0</c:v>
                </c:pt>
                <c:pt idx="89">
                  <c:v>1.0</c:v>
                </c:pt>
                <c:pt idx="90">
                  <c:v>0.0</c:v>
                </c:pt>
                <c:pt idx="91">
                  <c:v>0.0</c:v>
                </c:pt>
                <c:pt idx="92">
                  <c:v>0.0</c:v>
                </c:pt>
                <c:pt idx="93">
                  <c:v>0.0</c:v>
                </c:pt>
                <c:pt idx="94">
                  <c:v>0.0</c:v>
                </c:pt>
                <c:pt idx="95">
                  <c:v>0.0</c:v>
                </c:pt>
                <c:pt idx="96">
                  <c:v>0.0</c:v>
                </c:pt>
                <c:pt idx="97">
                  <c:v>0.0</c:v>
                </c:pt>
                <c:pt idx="98">
                  <c:v>0.0</c:v>
                </c:pt>
                <c:pt idx="99">
                  <c:v>0.0</c:v>
                </c:pt>
                <c:pt idx="100">
                  <c:v>0.0</c:v>
                </c:pt>
                <c:pt idx="101">
                  <c:v>0.0</c:v>
                </c:pt>
                <c:pt idx="102">
                  <c:v>0.0</c:v>
                </c:pt>
                <c:pt idx="103">
                  <c:v>0.0</c:v>
                </c:pt>
                <c:pt idx="104">
                  <c:v>0.0</c:v>
                </c:pt>
                <c:pt idx="105">
                  <c:v>0.0</c:v>
                </c:pt>
                <c:pt idx="106">
                  <c:v>0.0</c:v>
                </c:pt>
                <c:pt idx="107">
                  <c:v>0.0</c:v>
                </c:pt>
                <c:pt idx="108">
                  <c:v>0.0</c:v>
                </c:pt>
                <c:pt idx="109">
                  <c:v>0.0</c:v>
                </c:pt>
                <c:pt idx="110">
                  <c:v>0.0</c:v>
                </c:pt>
                <c:pt idx="111">
                  <c:v>0.0</c:v>
                </c:pt>
                <c:pt idx="112">
                  <c:v>0.0</c:v>
                </c:pt>
                <c:pt idx="113">
                  <c:v>0.0</c:v>
                </c:pt>
                <c:pt idx="114">
                  <c:v>0.0</c:v>
                </c:pt>
                <c:pt idx="115">
                  <c:v>0.0</c:v>
                </c:pt>
                <c:pt idx="116">
                  <c:v>0.0</c:v>
                </c:pt>
                <c:pt idx="117">
                  <c:v>0.0</c:v>
                </c:pt>
                <c:pt idx="118">
                  <c:v>0.0</c:v>
                </c:pt>
                <c:pt idx="119">
                  <c:v>0.0</c:v>
                </c:pt>
                <c:pt idx="120">
                  <c:v>0.0</c:v>
                </c:pt>
                <c:pt idx="121">
                  <c:v>0.0</c:v>
                </c:pt>
                <c:pt idx="122">
                  <c:v>0.0</c:v>
                </c:pt>
                <c:pt idx="123">
                  <c:v>0.0</c:v>
                </c:pt>
                <c:pt idx="124">
                  <c:v>0.0</c:v>
                </c:pt>
                <c:pt idx="125">
                  <c:v>0.0</c:v>
                </c:pt>
                <c:pt idx="126">
                  <c:v>0.0</c:v>
                </c:pt>
                <c:pt idx="127">
                  <c:v>0.0</c:v>
                </c:pt>
                <c:pt idx="128">
                  <c:v>0.0</c:v>
                </c:pt>
                <c:pt idx="129">
                  <c:v>0.0</c:v>
                </c:pt>
              </c:numCache>
            </c:numRef>
          </c:yVal>
          <c:smooth val="1"/>
        </c:ser>
        <c:axId val="240086264"/>
        <c:axId val="240069848"/>
      </c:scatterChart>
      <c:valAx>
        <c:axId val="240086264"/>
        <c:scaling>
          <c:orientation val="minMax"/>
        </c:scaling>
        <c:axPos val="b"/>
        <c:numFmt formatCode="General" sourceLinked="1"/>
        <c:tickLblPos val="none"/>
        <c:crossAx val="240069848"/>
        <c:crosses val="autoZero"/>
        <c:crossBetween val="midCat"/>
      </c:valAx>
      <c:valAx>
        <c:axId val="240069848"/>
        <c:scaling>
          <c:orientation val="minMax"/>
          <c:max val="3.0"/>
          <c:min val="0.0"/>
        </c:scaling>
        <c:axPos val="l"/>
        <c:majorGridlines/>
        <c:numFmt formatCode="General" sourceLinked="1"/>
        <c:tickLblPos val="none"/>
        <c:crossAx val="240086264"/>
        <c:crosses val="autoZero"/>
        <c:crossBetween val="midCat"/>
        <c:majorUnit val="10.0"/>
        <c:minorUnit val="0.1"/>
      </c:valAx>
    </c:plotArea>
    <c:plotVisOnly val="1"/>
  </c:chart>
  <c:externalData r:id="rId1"/>
</c:chartSpace>
</file>

<file path=ppt/charts/chart14.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2"/>
          <c:order val="0"/>
          <c:spPr>
            <a:ln>
              <a:solidFill>
                <a:schemeClr val="tx2"/>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'sprint.xls'!$S$1:$S$130</c:f>
              <c:numCache>
                <c:formatCode>General</c:formatCode>
                <c:ptCount val="130"/>
                <c:pt idx="0">
                  <c:v>30.0</c:v>
                </c:pt>
                <c:pt idx="1">
                  <c:v>30.0</c:v>
                </c:pt>
                <c:pt idx="2">
                  <c:v>30.0</c:v>
                </c:pt>
                <c:pt idx="3">
                  <c:v>30.0</c:v>
                </c:pt>
                <c:pt idx="4">
                  <c:v>30.0</c:v>
                </c:pt>
                <c:pt idx="5">
                  <c:v>30.0</c:v>
                </c:pt>
                <c:pt idx="6">
                  <c:v>30.0</c:v>
                </c:pt>
                <c:pt idx="7">
                  <c:v>30.0</c:v>
                </c:pt>
                <c:pt idx="8">
                  <c:v>30.0</c:v>
                </c:pt>
                <c:pt idx="9">
                  <c:v>30.0</c:v>
                </c:pt>
                <c:pt idx="10">
                  <c:v>30.0</c:v>
                </c:pt>
                <c:pt idx="11">
                  <c:v>32.3744</c:v>
                </c:pt>
                <c:pt idx="12">
                  <c:v>34.701</c:v>
                </c:pt>
                <c:pt idx="13">
                  <c:v>36.9808</c:v>
                </c:pt>
                <c:pt idx="14">
                  <c:v>39.2148</c:v>
                </c:pt>
                <c:pt idx="15">
                  <c:v>41.4038</c:v>
                </c:pt>
                <c:pt idx="16">
                  <c:v>43.5487</c:v>
                </c:pt>
                <c:pt idx="17">
                  <c:v>45.6505</c:v>
                </c:pt>
                <c:pt idx="18">
                  <c:v>47.71</c:v>
                </c:pt>
                <c:pt idx="19">
                  <c:v>49.728</c:v>
                </c:pt>
                <c:pt idx="20">
                  <c:v>51.7054</c:v>
                </c:pt>
                <c:pt idx="21">
                  <c:v>53.6431</c:v>
                </c:pt>
                <c:pt idx="22">
                  <c:v>55.5417</c:v>
                </c:pt>
                <c:pt idx="23">
                  <c:v>57.4022</c:v>
                </c:pt>
                <c:pt idx="24">
                  <c:v>59.2252</c:v>
                </c:pt>
                <c:pt idx="25">
                  <c:v>60.0157</c:v>
                </c:pt>
                <c:pt idx="26">
                  <c:v>60.0157</c:v>
                </c:pt>
                <c:pt idx="27">
                  <c:v>60.0157</c:v>
                </c:pt>
                <c:pt idx="28">
                  <c:v>60.0157</c:v>
                </c:pt>
                <c:pt idx="29">
                  <c:v>60.0157</c:v>
                </c:pt>
                <c:pt idx="30">
                  <c:v>60.0157</c:v>
                </c:pt>
                <c:pt idx="31">
                  <c:v>60.0157</c:v>
                </c:pt>
                <c:pt idx="32">
                  <c:v>60.0157</c:v>
                </c:pt>
                <c:pt idx="33">
                  <c:v>60.0157</c:v>
                </c:pt>
                <c:pt idx="34">
                  <c:v>60.0157</c:v>
                </c:pt>
                <c:pt idx="35">
                  <c:v>60.0157</c:v>
                </c:pt>
                <c:pt idx="36">
                  <c:v>60.0157</c:v>
                </c:pt>
                <c:pt idx="37">
                  <c:v>60.0157</c:v>
                </c:pt>
                <c:pt idx="38">
                  <c:v>60.0157</c:v>
                </c:pt>
                <c:pt idx="39">
                  <c:v>60.0157</c:v>
                </c:pt>
                <c:pt idx="40">
                  <c:v>60.0157</c:v>
                </c:pt>
                <c:pt idx="41">
                  <c:v>60.0157</c:v>
                </c:pt>
                <c:pt idx="42">
                  <c:v>60.0157</c:v>
                </c:pt>
                <c:pt idx="43">
                  <c:v>60.0157</c:v>
                </c:pt>
                <c:pt idx="44">
                  <c:v>60.0157</c:v>
                </c:pt>
                <c:pt idx="45">
                  <c:v>60.0157</c:v>
                </c:pt>
                <c:pt idx="46">
                  <c:v>60.0157</c:v>
                </c:pt>
                <c:pt idx="47">
                  <c:v>60.0157</c:v>
                </c:pt>
                <c:pt idx="48">
                  <c:v>60.0157</c:v>
                </c:pt>
                <c:pt idx="49">
                  <c:v>60.0157</c:v>
                </c:pt>
                <c:pt idx="50">
                  <c:v>60.0157</c:v>
                </c:pt>
                <c:pt idx="51">
                  <c:v>60.0157</c:v>
                </c:pt>
                <c:pt idx="52">
                  <c:v>60.0157</c:v>
                </c:pt>
                <c:pt idx="53">
                  <c:v>60.0157</c:v>
                </c:pt>
                <c:pt idx="54">
                  <c:v>60.0157</c:v>
                </c:pt>
                <c:pt idx="55">
                  <c:v>60.0157</c:v>
                </c:pt>
                <c:pt idx="56">
                  <c:v>60.0157</c:v>
                </c:pt>
                <c:pt idx="57">
                  <c:v>60.0157</c:v>
                </c:pt>
                <c:pt idx="58">
                  <c:v>60.4082</c:v>
                </c:pt>
                <c:pt idx="59">
                  <c:v>62.1708</c:v>
                </c:pt>
                <c:pt idx="60">
                  <c:v>63.8978</c:v>
                </c:pt>
                <c:pt idx="61">
                  <c:v>65.5901</c:v>
                </c:pt>
                <c:pt idx="62">
                  <c:v>67.2484</c:v>
                </c:pt>
                <c:pt idx="63">
                  <c:v>68.87329999999998</c:v>
                </c:pt>
                <c:pt idx="64">
                  <c:v>69.9835</c:v>
                </c:pt>
                <c:pt idx="65">
                  <c:v>69.9034</c:v>
                </c:pt>
                <c:pt idx="66">
                  <c:v>69.8248</c:v>
                </c:pt>
                <c:pt idx="67">
                  <c:v>69.7479</c:v>
                </c:pt>
                <c:pt idx="68">
                  <c:v>69.67239999999967</c:v>
                </c:pt>
                <c:pt idx="69">
                  <c:v>69.5985</c:v>
                </c:pt>
                <c:pt idx="70">
                  <c:v>69.5261</c:v>
                </c:pt>
                <c:pt idx="71">
                  <c:v>69.4552</c:v>
                </c:pt>
                <c:pt idx="72">
                  <c:v>69.38569999999998</c:v>
                </c:pt>
                <c:pt idx="73">
                  <c:v>69.3175</c:v>
                </c:pt>
                <c:pt idx="74">
                  <c:v>69.2508</c:v>
                </c:pt>
                <c:pt idx="75">
                  <c:v>69.18539999999975</c:v>
                </c:pt>
                <c:pt idx="76">
                  <c:v>69.12130000000001</c:v>
                </c:pt>
                <c:pt idx="77">
                  <c:v>69.0585</c:v>
                </c:pt>
                <c:pt idx="78">
                  <c:v>68.9969</c:v>
                </c:pt>
                <c:pt idx="79">
                  <c:v>68.9366</c:v>
                </c:pt>
                <c:pt idx="80">
                  <c:v>68.8775</c:v>
                </c:pt>
                <c:pt idx="81">
                  <c:v>68.8196</c:v>
                </c:pt>
                <c:pt idx="82">
                  <c:v>68.7629</c:v>
                </c:pt>
                <c:pt idx="83">
                  <c:v>68.7073</c:v>
                </c:pt>
                <c:pt idx="84">
                  <c:v>68.65279999999969</c:v>
                </c:pt>
                <c:pt idx="85">
                  <c:v>68.5994</c:v>
                </c:pt>
                <c:pt idx="86">
                  <c:v>68.5471</c:v>
                </c:pt>
                <c:pt idx="87">
                  <c:v>68.4959</c:v>
                </c:pt>
                <c:pt idx="88">
                  <c:v>68.4457</c:v>
                </c:pt>
                <c:pt idx="89">
                  <c:v>68.3964</c:v>
                </c:pt>
                <c:pt idx="90">
                  <c:v>68.3399</c:v>
                </c:pt>
                <c:pt idx="91">
                  <c:v>67.4678</c:v>
                </c:pt>
                <c:pt idx="92">
                  <c:v>66.6133</c:v>
                </c:pt>
                <c:pt idx="93">
                  <c:v>65.77589999999998</c:v>
                </c:pt>
                <c:pt idx="94">
                  <c:v>64.9554</c:v>
                </c:pt>
                <c:pt idx="95">
                  <c:v>64.1514</c:v>
                </c:pt>
                <c:pt idx="96">
                  <c:v>63.3636</c:v>
                </c:pt>
                <c:pt idx="97">
                  <c:v>62.5917</c:v>
                </c:pt>
                <c:pt idx="98">
                  <c:v>61.8352</c:v>
                </c:pt>
                <c:pt idx="99">
                  <c:v>61.094</c:v>
                </c:pt>
                <c:pt idx="100">
                  <c:v>60.3678</c:v>
                </c:pt>
                <c:pt idx="101">
                  <c:v>59.9959</c:v>
                </c:pt>
                <c:pt idx="102">
                  <c:v>59.9959</c:v>
                </c:pt>
                <c:pt idx="103">
                  <c:v>59.9959</c:v>
                </c:pt>
                <c:pt idx="104">
                  <c:v>59.9959</c:v>
                </c:pt>
                <c:pt idx="105">
                  <c:v>59.9959</c:v>
                </c:pt>
                <c:pt idx="106">
                  <c:v>59.9959</c:v>
                </c:pt>
                <c:pt idx="107">
                  <c:v>59.9959</c:v>
                </c:pt>
                <c:pt idx="108">
                  <c:v>59.9959</c:v>
                </c:pt>
                <c:pt idx="109">
                  <c:v>59.9959</c:v>
                </c:pt>
                <c:pt idx="110">
                  <c:v>59.9959</c:v>
                </c:pt>
                <c:pt idx="111">
                  <c:v>59.9959</c:v>
                </c:pt>
                <c:pt idx="112">
                  <c:v>59.9959</c:v>
                </c:pt>
                <c:pt idx="113">
                  <c:v>59.9959</c:v>
                </c:pt>
                <c:pt idx="114">
                  <c:v>59.9959</c:v>
                </c:pt>
                <c:pt idx="115">
                  <c:v>59.9959</c:v>
                </c:pt>
                <c:pt idx="116">
                  <c:v>59.9959</c:v>
                </c:pt>
                <c:pt idx="117">
                  <c:v>59.9959</c:v>
                </c:pt>
                <c:pt idx="118">
                  <c:v>59.9959</c:v>
                </c:pt>
                <c:pt idx="119">
                  <c:v>59.9959</c:v>
                </c:pt>
                <c:pt idx="120">
                  <c:v>59.9959</c:v>
                </c:pt>
                <c:pt idx="121">
                  <c:v>59.9959</c:v>
                </c:pt>
                <c:pt idx="122">
                  <c:v>59.9959</c:v>
                </c:pt>
                <c:pt idx="123">
                  <c:v>59.9959</c:v>
                </c:pt>
                <c:pt idx="124">
                  <c:v>59.9959</c:v>
                </c:pt>
                <c:pt idx="125">
                  <c:v>59.9959</c:v>
                </c:pt>
                <c:pt idx="126">
                  <c:v>59.9959</c:v>
                </c:pt>
                <c:pt idx="127">
                  <c:v>59.9959</c:v>
                </c:pt>
                <c:pt idx="128">
                  <c:v>59.9959</c:v>
                </c:pt>
                <c:pt idx="129">
                  <c:v>59.9959</c:v>
                </c:pt>
              </c:numCache>
            </c:numRef>
          </c:yVal>
          <c:smooth val="1"/>
        </c:ser>
        <c:axId val="240386776"/>
        <c:axId val="240399224"/>
      </c:scatterChart>
      <c:valAx>
        <c:axId val="240386776"/>
        <c:scaling>
          <c:orientation val="minMax"/>
        </c:scaling>
        <c:axPos val="b"/>
        <c:numFmt formatCode="General" sourceLinked="1"/>
        <c:tickLblPos val="none"/>
        <c:crossAx val="240399224"/>
        <c:crosses val="autoZero"/>
        <c:crossBetween val="midCat"/>
      </c:valAx>
      <c:valAx>
        <c:axId val="240399224"/>
        <c:scaling>
          <c:orientation val="minMax"/>
          <c:max val="70.0"/>
          <c:min val="0.0"/>
        </c:scaling>
        <c:axPos val="l"/>
        <c:majorGridlines/>
        <c:numFmt formatCode="General" sourceLinked="1"/>
        <c:tickLblPos val="none"/>
        <c:crossAx val="240386776"/>
        <c:crosses val="autoZero"/>
        <c:crossBetween val="midCat"/>
        <c:majorUnit val="100.0"/>
      </c:valAx>
    </c:plotArea>
    <c:plotVisOnly val="1"/>
  </c:chart>
  <c:externalData r:id="rId1"/>
</c:chartSpace>
</file>

<file path=ppt/charts/chart15.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2"/>
          <c:order val="0"/>
          <c:spPr>
            <a:ln>
              <a:solidFill>
                <a:schemeClr val="tx2"/>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'sprint.xls'!$Q$1:$Q$130</c:f>
              <c:numCache>
                <c:formatCode>General</c:formatCode>
                <c:ptCount val="130"/>
                <c:pt idx="0">
                  <c:v>0.0</c:v>
                </c:pt>
                <c:pt idx="1">
                  <c:v>0.0</c:v>
                </c:pt>
                <c:pt idx="2">
                  <c:v>0.0</c:v>
                </c:pt>
                <c:pt idx="3">
                  <c:v>0.0</c:v>
                </c:pt>
                <c:pt idx="4">
                  <c:v>0.0</c:v>
                </c:pt>
                <c:pt idx="5">
                  <c:v>0.0</c:v>
                </c:pt>
                <c:pt idx="6">
                  <c:v>0.0</c:v>
                </c:pt>
                <c:pt idx="7">
                  <c:v>0.0</c:v>
                </c:pt>
                <c:pt idx="8">
                  <c:v>0.0</c:v>
                </c:pt>
                <c:pt idx="9">
                  <c:v>0.0</c:v>
                </c:pt>
                <c:pt idx="10">
                  <c:v>0.0</c:v>
                </c:pt>
                <c:pt idx="11">
                  <c:v>3.0</c:v>
                </c:pt>
                <c:pt idx="12">
                  <c:v>3.0</c:v>
                </c:pt>
                <c:pt idx="13">
                  <c:v>3.0</c:v>
                </c:pt>
                <c:pt idx="14">
                  <c:v>3.0</c:v>
                </c:pt>
                <c:pt idx="15">
                  <c:v>3.0</c:v>
                </c:pt>
                <c:pt idx="16">
                  <c:v>3.0</c:v>
                </c:pt>
                <c:pt idx="17">
                  <c:v>3.0</c:v>
                </c:pt>
                <c:pt idx="18">
                  <c:v>3.0</c:v>
                </c:pt>
                <c:pt idx="19">
                  <c:v>3.0</c:v>
                </c:pt>
                <c:pt idx="20">
                  <c:v>3.0</c:v>
                </c:pt>
                <c:pt idx="21">
                  <c:v>3.0</c:v>
                </c:pt>
                <c:pt idx="22">
                  <c:v>3.0</c:v>
                </c:pt>
                <c:pt idx="23">
                  <c:v>3.0</c:v>
                </c:pt>
                <c:pt idx="24">
                  <c:v>3.0</c:v>
                </c:pt>
                <c:pt idx="25">
                  <c:v>3.0</c:v>
                </c:pt>
                <c:pt idx="26">
                  <c:v>3.0</c:v>
                </c:pt>
                <c:pt idx="27">
                  <c:v>3.0</c:v>
                </c:pt>
                <c:pt idx="28">
                  <c:v>3.0</c:v>
                </c:pt>
                <c:pt idx="29">
                  <c:v>3.0</c:v>
                </c:pt>
                <c:pt idx="30">
                  <c:v>3.0</c:v>
                </c:pt>
                <c:pt idx="31">
                  <c:v>3.0</c:v>
                </c:pt>
                <c:pt idx="32">
                  <c:v>3.0</c:v>
                </c:pt>
                <c:pt idx="33">
                  <c:v>3.0</c:v>
                </c:pt>
                <c:pt idx="34">
                  <c:v>3.0</c:v>
                </c:pt>
                <c:pt idx="35">
                  <c:v>3.0</c:v>
                </c:pt>
                <c:pt idx="36">
                  <c:v>3.0</c:v>
                </c:pt>
                <c:pt idx="37">
                  <c:v>3.0</c:v>
                </c:pt>
                <c:pt idx="38">
                  <c:v>3.0</c:v>
                </c:pt>
                <c:pt idx="39">
                  <c:v>3.0</c:v>
                </c:pt>
                <c:pt idx="40">
                  <c:v>3.0</c:v>
                </c:pt>
                <c:pt idx="41">
                  <c:v>3.0</c:v>
                </c:pt>
                <c:pt idx="42">
                  <c:v>3.0</c:v>
                </c:pt>
                <c:pt idx="43">
                  <c:v>3.0</c:v>
                </c:pt>
                <c:pt idx="44">
                  <c:v>3.0</c:v>
                </c:pt>
                <c:pt idx="45">
                  <c:v>3.0</c:v>
                </c:pt>
                <c:pt idx="46">
                  <c:v>3.0</c:v>
                </c:pt>
                <c:pt idx="47">
                  <c:v>3.0</c:v>
                </c:pt>
                <c:pt idx="48">
                  <c:v>3.0</c:v>
                </c:pt>
                <c:pt idx="49">
                  <c:v>3.0</c:v>
                </c:pt>
                <c:pt idx="50">
                  <c:v>3.0</c:v>
                </c:pt>
                <c:pt idx="51">
                  <c:v>3.0</c:v>
                </c:pt>
                <c:pt idx="52">
                  <c:v>3.0</c:v>
                </c:pt>
                <c:pt idx="53">
                  <c:v>3.0</c:v>
                </c:pt>
                <c:pt idx="54">
                  <c:v>3.0</c:v>
                </c:pt>
                <c:pt idx="55">
                  <c:v>3.0</c:v>
                </c:pt>
                <c:pt idx="56">
                  <c:v>3.0</c:v>
                </c:pt>
                <c:pt idx="57">
                  <c:v>3.0</c:v>
                </c:pt>
                <c:pt idx="58">
                  <c:v>3.0</c:v>
                </c:pt>
                <c:pt idx="59">
                  <c:v>3.0</c:v>
                </c:pt>
                <c:pt idx="60">
                  <c:v>3.0</c:v>
                </c:pt>
                <c:pt idx="61">
                  <c:v>3.0</c:v>
                </c:pt>
                <c:pt idx="62">
                  <c:v>3.0</c:v>
                </c:pt>
                <c:pt idx="63">
                  <c:v>3.0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pt idx="82">
                  <c:v>1.0</c:v>
                </c:pt>
                <c:pt idx="83">
                  <c:v>1.0</c:v>
                </c:pt>
                <c:pt idx="84">
                  <c:v>1.0</c:v>
                </c:pt>
                <c:pt idx="85">
                  <c:v>1.0</c:v>
                </c:pt>
                <c:pt idx="86">
                  <c:v>1.0</c:v>
                </c:pt>
                <c:pt idx="87">
                  <c:v>1.0</c:v>
                </c:pt>
                <c:pt idx="88">
                  <c:v>1.0</c:v>
                </c:pt>
                <c:pt idx="89">
                  <c:v>1.0</c:v>
                </c:pt>
                <c:pt idx="90">
                  <c:v>0.0</c:v>
                </c:pt>
                <c:pt idx="91">
                  <c:v>0.0</c:v>
                </c:pt>
                <c:pt idx="92">
                  <c:v>0.0</c:v>
                </c:pt>
                <c:pt idx="93">
                  <c:v>0.0</c:v>
                </c:pt>
                <c:pt idx="94">
                  <c:v>0.0</c:v>
                </c:pt>
                <c:pt idx="95">
                  <c:v>0.0</c:v>
                </c:pt>
                <c:pt idx="96">
                  <c:v>0.0</c:v>
                </c:pt>
                <c:pt idx="97">
                  <c:v>0.0</c:v>
                </c:pt>
                <c:pt idx="98">
                  <c:v>0.0</c:v>
                </c:pt>
                <c:pt idx="99">
                  <c:v>0.0</c:v>
                </c:pt>
                <c:pt idx="100">
                  <c:v>0.0</c:v>
                </c:pt>
                <c:pt idx="101">
                  <c:v>0.0</c:v>
                </c:pt>
                <c:pt idx="102">
                  <c:v>0.0</c:v>
                </c:pt>
                <c:pt idx="103">
                  <c:v>0.0</c:v>
                </c:pt>
                <c:pt idx="104">
                  <c:v>0.0</c:v>
                </c:pt>
                <c:pt idx="105">
                  <c:v>0.0</c:v>
                </c:pt>
                <c:pt idx="106">
                  <c:v>0.0</c:v>
                </c:pt>
                <c:pt idx="107">
                  <c:v>0.0</c:v>
                </c:pt>
                <c:pt idx="108">
                  <c:v>0.0</c:v>
                </c:pt>
                <c:pt idx="109">
                  <c:v>0.0</c:v>
                </c:pt>
                <c:pt idx="110">
                  <c:v>0.0</c:v>
                </c:pt>
                <c:pt idx="111">
                  <c:v>0.0</c:v>
                </c:pt>
                <c:pt idx="112">
                  <c:v>0.0</c:v>
                </c:pt>
                <c:pt idx="113">
                  <c:v>0.0</c:v>
                </c:pt>
                <c:pt idx="114">
                  <c:v>0.0</c:v>
                </c:pt>
                <c:pt idx="115">
                  <c:v>0.0</c:v>
                </c:pt>
                <c:pt idx="116">
                  <c:v>0.0</c:v>
                </c:pt>
                <c:pt idx="117">
                  <c:v>0.0</c:v>
                </c:pt>
                <c:pt idx="118">
                  <c:v>0.0</c:v>
                </c:pt>
                <c:pt idx="119">
                  <c:v>0.0</c:v>
                </c:pt>
                <c:pt idx="120">
                  <c:v>0.0</c:v>
                </c:pt>
                <c:pt idx="121">
                  <c:v>0.0</c:v>
                </c:pt>
                <c:pt idx="122">
                  <c:v>0.0</c:v>
                </c:pt>
                <c:pt idx="123">
                  <c:v>0.0</c:v>
                </c:pt>
                <c:pt idx="124">
                  <c:v>0.0</c:v>
                </c:pt>
                <c:pt idx="125">
                  <c:v>0.0</c:v>
                </c:pt>
                <c:pt idx="126">
                  <c:v>0.0</c:v>
                </c:pt>
                <c:pt idx="127">
                  <c:v>0.0</c:v>
                </c:pt>
                <c:pt idx="128">
                  <c:v>0.0</c:v>
                </c:pt>
                <c:pt idx="129">
                  <c:v>0.0</c:v>
                </c:pt>
              </c:numCache>
            </c:numRef>
          </c:yVal>
          <c:smooth val="1"/>
        </c:ser>
        <c:axId val="240359384"/>
        <c:axId val="240412680"/>
      </c:scatterChart>
      <c:valAx>
        <c:axId val="240359384"/>
        <c:scaling>
          <c:orientation val="minMax"/>
        </c:scaling>
        <c:axPos val="b"/>
        <c:numFmt formatCode="General" sourceLinked="1"/>
        <c:tickLblPos val="none"/>
        <c:crossAx val="240412680"/>
        <c:crosses val="autoZero"/>
        <c:crossBetween val="midCat"/>
      </c:valAx>
      <c:valAx>
        <c:axId val="240412680"/>
        <c:scaling>
          <c:orientation val="minMax"/>
          <c:max val="3.0"/>
          <c:min val="0.0"/>
        </c:scaling>
        <c:axPos val="l"/>
        <c:majorGridlines/>
        <c:numFmt formatCode="General" sourceLinked="1"/>
        <c:tickLblPos val="none"/>
        <c:crossAx val="240359384"/>
        <c:crosses val="autoZero"/>
        <c:crossBetween val="midCat"/>
        <c:majorUnit val="10.0"/>
      </c:valAx>
    </c:plotArea>
    <c:plotVisOnly val="1"/>
  </c:chart>
  <c:externalData r:id="rId1"/>
</c:chartSpace>
</file>

<file path=ppt/charts/chart16.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2"/>
          <c:order val="0"/>
          <c:spPr>
            <a:ln>
              <a:solidFill>
                <a:schemeClr val="tx2"/>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'sprint.xls'!$S$1:$S$130</c:f>
              <c:numCache>
                <c:formatCode>General</c:formatCode>
                <c:ptCount val="130"/>
                <c:pt idx="0">
                  <c:v>30.0</c:v>
                </c:pt>
                <c:pt idx="1">
                  <c:v>30.0</c:v>
                </c:pt>
                <c:pt idx="2">
                  <c:v>30.0</c:v>
                </c:pt>
                <c:pt idx="3">
                  <c:v>30.0</c:v>
                </c:pt>
                <c:pt idx="4">
                  <c:v>30.0</c:v>
                </c:pt>
                <c:pt idx="5">
                  <c:v>30.0</c:v>
                </c:pt>
                <c:pt idx="6">
                  <c:v>30.0</c:v>
                </c:pt>
                <c:pt idx="7">
                  <c:v>30.0</c:v>
                </c:pt>
                <c:pt idx="8">
                  <c:v>30.0</c:v>
                </c:pt>
                <c:pt idx="9">
                  <c:v>30.0</c:v>
                </c:pt>
                <c:pt idx="10">
                  <c:v>30.0</c:v>
                </c:pt>
                <c:pt idx="11">
                  <c:v>32.3744</c:v>
                </c:pt>
                <c:pt idx="12">
                  <c:v>34.701</c:v>
                </c:pt>
                <c:pt idx="13">
                  <c:v>36.9808</c:v>
                </c:pt>
                <c:pt idx="14">
                  <c:v>39.2148</c:v>
                </c:pt>
                <c:pt idx="15">
                  <c:v>41.4038</c:v>
                </c:pt>
                <c:pt idx="16">
                  <c:v>43.5487</c:v>
                </c:pt>
                <c:pt idx="17">
                  <c:v>45.6505</c:v>
                </c:pt>
                <c:pt idx="18">
                  <c:v>47.71</c:v>
                </c:pt>
                <c:pt idx="19">
                  <c:v>49.728</c:v>
                </c:pt>
                <c:pt idx="20">
                  <c:v>51.7054</c:v>
                </c:pt>
                <c:pt idx="21">
                  <c:v>53.6431</c:v>
                </c:pt>
                <c:pt idx="22">
                  <c:v>55.5417</c:v>
                </c:pt>
                <c:pt idx="23">
                  <c:v>57.4022</c:v>
                </c:pt>
                <c:pt idx="24">
                  <c:v>59.2252</c:v>
                </c:pt>
                <c:pt idx="25">
                  <c:v>60.0157</c:v>
                </c:pt>
                <c:pt idx="26">
                  <c:v>60.0157</c:v>
                </c:pt>
                <c:pt idx="27">
                  <c:v>60.0157</c:v>
                </c:pt>
                <c:pt idx="28">
                  <c:v>60.0157</c:v>
                </c:pt>
                <c:pt idx="29">
                  <c:v>60.0157</c:v>
                </c:pt>
                <c:pt idx="30">
                  <c:v>60.0157</c:v>
                </c:pt>
                <c:pt idx="31">
                  <c:v>60.0157</c:v>
                </c:pt>
                <c:pt idx="32">
                  <c:v>60.0157</c:v>
                </c:pt>
                <c:pt idx="33">
                  <c:v>60.0157</c:v>
                </c:pt>
                <c:pt idx="34">
                  <c:v>60.0157</c:v>
                </c:pt>
                <c:pt idx="35">
                  <c:v>60.0157</c:v>
                </c:pt>
                <c:pt idx="36">
                  <c:v>60.0157</c:v>
                </c:pt>
                <c:pt idx="37">
                  <c:v>60.0157</c:v>
                </c:pt>
                <c:pt idx="38">
                  <c:v>60.0157</c:v>
                </c:pt>
                <c:pt idx="39">
                  <c:v>60.0157</c:v>
                </c:pt>
                <c:pt idx="40">
                  <c:v>60.0157</c:v>
                </c:pt>
                <c:pt idx="41">
                  <c:v>60.0157</c:v>
                </c:pt>
                <c:pt idx="42">
                  <c:v>60.0157</c:v>
                </c:pt>
                <c:pt idx="43">
                  <c:v>60.0157</c:v>
                </c:pt>
                <c:pt idx="44">
                  <c:v>60.0157</c:v>
                </c:pt>
                <c:pt idx="45">
                  <c:v>60.0157</c:v>
                </c:pt>
                <c:pt idx="46">
                  <c:v>60.0157</c:v>
                </c:pt>
                <c:pt idx="47">
                  <c:v>60.0157</c:v>
                </c:pt>
                <c:pt idx="48">
                  <c:v>60.0157</c:v>
                </c:pt>
                <c:pt idx="49">
                  <c:v>60.0157</c:v>
                </c:pt>
                <c:pt idx="50">
                  <c:v>60.0157</c:v>
                </c:pt>
                <c:pt idx="51">
                  <c:v>60.0157</c:v>
                </c:pt>
                <c:pt idx="52">
                  <c:v>60.0157</c:v>
                </c:pt>
                <c:pt idx="53">
                  <c:v>60.0157</c:v>
                </c:pt>
                <c:pt idx="54">
                  <c:v>60.0157</c:v>
                </c:pt>
                <c:pt idx="55">
                  <c:v>60.0157</c:v>
                </c:pt>
                <c:pt idx="56">
                  <c:v>60.0157</c:v>
                </c:pt>
                <c:pt idx="57">
                  <c:v>60.0157</c:v>
                </c:pt>
                <c:pt idx="58">
                  <c:v>60.4082</c:v>
                </c:pt>
                <c:pt idx="59">
                  <c:v>62.1708</c:v>
                </c:pt>
                <c:pt idx="60">
                  <c:v>63.8978</c:v>
                </c:pt>
                <c:pt idx="61">
                  <c:v>65.5901</c:v>
                </c:pt>
                <c:pt idx="62">
                  <c:v>67.2484</c:v>
                </c:pt>
                <c:pt idx="63">
                  <c:v>68.87329999999998</c:v>
                </c:pt>
                <c:pt idx="64">
                  <c:v>69.9835</c:v>
                </c:pt>
                <c:pt idx="65">
                  <c:v>69.9034</c:v>
                </c:pt>
                <c:pt idx="66">
                  <c:v>69.8248</c:v>
                </c:pt>
                <c:pt idx="67">
                  <c:v>69.7479</c:v>
                </c:pt>
                <c:pt idx="68">
                  <c:v>69.67239999999964</c:v>
                </c:pt>
                <c:pt idx="69">
                  <c:v>69.5985</c:v>
                </c:pt>
                <c:pt idx="70">
                  <c:v>69.5261</c:v>
                </c:pt>
                <c:pt idx="71">
                  <c:v>69.4552</c:v>
                </c:pt>
                <c:pt idx="72">
                  <c:v>69.38569999999998</c:v>
                </c:pt>
                <c:pt idx="73">
                  <c:v>69.3175</c:v>
                </c:pt>
                <c:pt idx="74">
                  <c:v>69.2508</c:v>
                </c:pt>
                <c:pt idx="75">
                  <c:v>69.18539999999975</c:v>
                </c:pt>
                <c:pt idx="76">
                  <c:v>69.12130000000001</c:v>
                </c:pt>
                <c:pt idx="77">
                  <c:v>69.0585</c:v>
                </c:pt>
                <c:pt idx="78">
                  <c:v>68.9969</c:v>
                </c:pt>
                <c:pt idx="79">
                  <c:v>68.9366</c:v>
                </c:pt>
                <c:pt idx="80">
                  <c:v>68.8775</c:v>
                </c:pt>
                <c:pt idx="81">
                  <c:v>68.8196</c:v>
                </c:pt>
                <c:pt idx="82">
                  <c:v>68.7629</c:v>
                </c:pt>
                <c:pt idx="83">
                  <c:v>68.7073</c:v>
                </c:pt>
                <c:pt idx="84">
                  <c:v>68.65279999999966</c:v>
                </c:pt>
                <c:pt idx="85">
                  <c:v>68.5994</c:v>
                </c:pt>
                <c:pt idx="86">
                  <c:v>68.5471</c:v>
                </c:pt>
                <c:pt idx="87">
                  <c:v>68.4959</c:v>
                </c:pt>
                <c:pt idx="88">
                  <c:v>68.4457</c:v>
                </c:pt>
                <c:pt idx="89">
                  <c:v>68.3964</c:v>
                </c:pt>
                <c:pt idx="90">
                  <c:v>68.3399</c:v>
                </c:pt>
                <c:pt idx="91">
                  <c:v>67.4678</c:v>
                </c:pt>
                <c:pt idx="92">
                  <c:v>66.6133</c:v>
                </c:pt>
                <c:pt idx="93">
                  <c:v>65.77589999999998</c:v>
                </c:pt>
                <c:pt idx="94">
                  <c:v>64.9554</c:v>
                </c:pt>
                <c:pt idx="95">
                  <c:v>64.1514</c:v>
                </c:pt>
                <c:pt idx="96">
                  <c:v>63.3636</c:v>
                </c:pt>
                <c:pt idx="97">
                  <c:v>62.5917</c:v>
                </c:pt>
                <c:pt idx="98">
                  <c:v>61.8352</c:v>
                </c:pt>
                <c:pt idx="99">
                  <c:v>61.094</c:v>
                </c:pt>
                <c:pt idx="100">
                  <c:v>60.3678</c:v>
                </c:pt>
                <c:pt idx="101">
                  <c:v>59.9959</c:v>
                </c:pt>
                <c:pt idx="102">
                  <c:v>59.9959</c:v>
                </c:pt>
                <c:pt idx="103">
                  <c:v>59.9959</c:v>
                </c:pt>
                <c:pt idx="104">
                  <c:v>59.9959</c:v>
                </c:pt>
                <c:pt idx="105">
                  <c:v>59.9959</c:v>
                </c:pt>
                <c:pt idx="106">
                  <c:v>59.9959</c:v>
                </c:pt>
                <c:pt idx="107">
                  <c:v>59.9959</c:v>
                </c:pt>
                <c:pt idx="108">
                  <c:v>59.9959</c:v>
                </c:pt>
                <c:pt idx="109">
                  <c:v>59.9959</c:v>
                </c:pt>
                <c:pt idx="110">
                  <c:v>59.9959</c:v>
                </c:pt>
                <c:pt idx="111">
                  <c:v>59.9959</c:v>
                </c:pt>
                <c:pt idx="112">
                  <c:v>59.9959</c:v>
                </c:pt>
                <c:pt idx="113">
                  <c:v>59.9959</c:v>
                </c:pt>
                <c:pt idx="114">
                  <c:v>59.9959</c:v>
                </c:pt>
                <c:pt idx="115">
                  <c:v>59.9959</c:v>
                </c:pt>
                <c:pt idx="116">
                  <c:v>59.9959</c:v>
                </c:pt>
                <c:pt idx="117">
                  <c:v>59.9959</c:v>
                </c:pt>
                <c:pt idx="118">
                  <c:v>59.9959</c:v>
                </c:pt>
                <c:pt idx="119">
                  <c:v>59.9959</c:v>
                </c:pt>
                <c:pt idx="120">
                  <c:v>59.9959</c:v>
                </c:pt>
                <c:pt idx="121">
                  <c:v>59.9959</c:v>
                </c:pt>
                <c:pt idx="122">
                  <c:v>59.9959</c:v>
                </c:pt>
                <c:pt idx="123">
                  <c:v>59.9959</c:v>
                </c:pt>
                <c:pt idx="124">
                  <c:v>59.9959</c:v>
                </c:pt>
                <c:pt idx="125">
                  <c:v>59.9959</c:v>
                </c:pt>
                <c:pt idx="126">
                  <c:v>59.9959</c:v>
                </c:pt>
                <c:pt idx="127">
                  <c:v>59.9959</c:v>
                </c:pt>
                <c:pt idx="128">
                  <c:v>59.9959</c:v>
                </c:pt>
                <c:pt idx="129">
                  <c:v>59.9959</c:v>
                </c:pt>
              </c:numCache>
            </c:numRef>
          </c:yVal>
          <c:smooth val="1"/>
        </c:ser>
        <c:axId val="240705800"/>
        <c:axId val="240708872"/>
      </c:scatterChart>
      <c:valAx>
        <c:axId val="240705800"/>
        <c:scaling>
          <c:orientation val="minMax"/>
        </c:scaling>
        <c:axPos val="b"/>
        <c:numFmt formatCode="General" sourceLinked="1"/>
        <c:tickLblPos val="none"/>
        <c:crossAx val="240708872"/>
        <c:crosses val="autoZero"/>
        <c:crossBetween val="midCat"/>
      </c:valAx>
      <c:valAx>
        <c:axId val="240708872"/>
        <c:scaling>
          <c:orientation val="minMax"/>
          <c:max val="70.0"/>
          <c:min val="0.0"/>
        </c:scaling>
        <c:axPos val="l"/>
        <c:majorGridlines/>
        <c:numFmt formatCode="General" sourceLinked="1"/>
        <c:tickLblPos val="none"/>
        <c:crossAx val="240705800"/>
        <c:crosses val="autoZero"/>
        <c:crossBetween val="midCat"/>
        <c:majorUnit val="100.0"/>
      </c:valAx>
    </c:plotArea>
    <c:plotVisOnly val="1"/>
  </c:chart>
  <c:externalData r:id="rId1"/>
</c:chartSpace>
</file>

<file path=ppt/charts/chart17.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2"/>
          <c:order val="0"/>
          <c:spPr>
            <a:ln>
              <a:solidFill>
                <a:schemeClr val="tx2"/>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'sprint.xls'!$Q$1:$Q$130</c:f>
              <c:numCache>
                <c:formatCode>General</c:formatCode>
                <c:ptCount val="130"/>
                <c:pt idx="0">
                  <c:v>0.0</c:v>
                </c:pt>
                <c:pt idx="1">
                  <c:v>0.0</c:v>
                </c:pt>
                <c:pt idx="2">
                  <c:v>0.0</c:v>
                </c:pt>
                <c:pt idx="3">
                  <c:v>0.0</c:v>
                </c:pt>
                <c:pt idx="4">
                  <c:v>0.0</c:v>
                </c:pt>
                <c:pt idx="5">
                  <c:v>0.0</c:v>
                </c:pt>
                <c:pt idx="6">
                  <c:v>0.0</c:v>
                </c:pt>
                <c:pt idx="7">
                  <c:v>0.0</c:v>
                </c:pt>
                <c:pt idx="8">
                  <c:v>0.0</c:v>
                </c:pt>
                <c:pt idx="9">
                  <c:v>0.0</c:v>
                </c:pt>
                <c:pt idx="10">
                  <c:v>0.0</c:v>
                </c:pt>
                <c:pt idx="11">
                  <c:v>3.0</c:v>
                </c:pt>
                <c:pt idx="12">
                  <c:v>3.0</c:v>
                </c:pt>
                <c:pt idx="13">
                  <c:v>3.0</c:v>
                </c:pt>
                <c:pt idx="14">
                  <c:v>3.0</c:v>
                </c:pt>
                <c:pt idx="15">
                  <c:v>3.0</c:v>
                </c:pt>
                <c:pt idx="16">
                  <c:v>3.0</c:v>
                </c:pt>
                <c:pt idx="17">
                  <c:v>3.0</c:v>
                </c:pt>
                <c:pt idx="18">
                  <c:v>3.0</c:v>
                </c:pt>
                <c:pt idx="19">
                  <c:v>3.0</c:v>
                </c:pt>
                <c:pt idx="20">
                  <c:v>3.0</c:v>
                </c:pt>
                <c:pt idx="21">
                  <c:v>3.0</c:v>
                </c:pt>
                <c:pt idx="22">
                  <c:v>3.0</c:v>
                </c:pt>
                <c:pt idx="23">
                  <c:v>3.0</c:v>
                </c:pt>
                <c:pt idx="24">
                  <c:v>3.0</c:v>
                </c:pt>
                <c:pt idx="25">
                  <c:v>3.0</c:v>
                </c:pt>
                <c:pt idx="26">
                  <c:v>3.0</c:v>
                </c:pt>
                <c:pt idx="27">
                  <c:v>3.0</c:v>
                </c:pt>
                <c:pt idx="28">
                  <c:v>3.0</c:v>
                </c:pt>
                <c:pt idx="29">
                  <c:v>3.0</c:v>
                </c:pt>
                <c:pt idx="30">
                  <c:v>3.0</c:v>
                </c:pt>
                <c:pt idx="31">
                  <c:v>3.0</c:v>
                </c:pt>
                <c:pt idx="32">
                  <c:v>3.0</c:v>
                </c:pt>
                <c:pt idx="33">
                  <c:v>3.0</c:v>
                </c:pt>
                <c:pt idx="34">
                  <c:v>3.0</c:v>
                </c:pt>
                <c:pt idx="35">
                  <c:v>3.0</c:v>
                </c:pt>
                <c:pt idx="36">
                  <c:v>3.0</c:v>
                </c:pt>
                <c:pt idx="37">
                  <c:v>3.0</c:v>
                </c:pt>
                <c:pt idx="38">
                  <c:v>3.0</c:v>
                </c:pt>
                <c:pt idx="39">
                  <c:v>3.0</c:v>
                </c:pt>
                <c:pt idx="40">
                  <c:v>3.0</c:v>
                </c:pt>
                <c:pt idx="41">
                  <c:v>3.0</c:v>
                </c:pt>
                <c:pt idx="42">
                  <c:v>3.0</c:v>
                </c:pt>
                <c:pt idx="43">
                  <c:v>3.0</c:v>
                </c:pt>
                <c:pt idx="44">
                  <c:v>3.0</c:v>
                </c:pt>
                <c:pt idx="45">
                  <c:v>3.0</c:v>
                </c:pt>
                <c:pt idx="46">
                  <c:v>3.0</c:v>
                </c:pt>
                <c:pt idx="47">
                  <c:v>3.0</c:v>
                </c:pt>
                <c:pt idx="48">
                  <c:v>3.0</c:v>
                </c:pt>
                <c:pt idx="49">
                  <c:v>3.0</c:v>
                </c:pt>
                <c:pt idx="50">
                  <c:v>3.0</c:v>
                </c:pt>
                <c:pt idx="51">
                  <c:v>3.0</c:v>
                </c:pt>
                <c:pt idx="52">
                  <c:v>3.0</c:v>
                </c:pt>
                <c:pt idx="53">
                  <c:v>3.0</c:v>
                </c:pt>
                <c:pt idx="54">
                  <c:v>3.0</c:v>
                </c:pt>
                <c:pt idx="55">
                  <c:v>3.0</c:v>
                </c:pt>
                <c:pt idx="56">
                  <c:v>3.0</c:v>
                </c:pt>
                <c:pt idx="57">
                  <c:v>3.0</c:v>
                </c:pt>
                <c:pt idx="58">
                  <c:v>3.0</c:v>
                </c:pt>
                <c:pt idx="59">
                  <c:v>3.0</c:v>
                </c:pt>
                <c:pt idx="60">
                  <c:v>3.0</c:v>
                </c:pt>
                <c:pt idx="61">
                  <c:v>3.0</c:v>
                </c:pt>
                <c:pt idx="62">
                  <c:v>3.0</c:v>
                </c:pt>
                <c:pt idx="63">
                  <c:v>3.0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pt idx="82">
                  <c:v>1.0</c:v>
                </c:pt>
                <c:pt idx="83">
                  <c:v>1.0</c:v>
                </c:pt>
                <c:pt idx="84">
                  <c:v>1.0</c:v>
                </c:pt>
                <c:pt idx="85">
                  <c:v>1.0</c:v>
                </c:pt>
                <c:pt idx="86">
                  <c:v>1.0</c:v>
                </c:pt>
                <c:pt idx="87">
                  <c:v>1.0</c:v>
                </c:pt>
                <c:pt idx="88">
                  <c:v>1.0</c:v>
                </c:pt>
                <c:pt idx="89">
                  <c:v>1.0</c:v>
                </c:pt>
                <c:pt idx="90">
                  <c:v>0.0</c:v>
                </c:pt>
                <c:pt idx="91">
                  <c:v>0.0</c:v>
                </c:pt>
                <c:pt idx="92">
                  <c:v>0.0</c:v>
                </c:pt>
                <c:pt idx="93">
                  <c:v>0.0</c:v>
                </c:pt>
                <c:pt idx="94">
                  <c:v>0.0</c:v>
                </c:pt>
                <c:pt idx="95">
                  <c:v>0.0</c:v>
                </c:pt>
                <c:pt idx="96">
                  <c:v>0.0</c:v>
                </c:pt>
                <c:pt idx="97">
                  <c:v>0.0</c:v>
                </c:pt>
                <c:pt idx="98">
                  <c:v>0.0</c:v>
                </c:pt>
                <c:pt idx="99">
                  <c:v>0.0</c:v>
                </c:pt>
                <c:pt idx="100">
                  <c:v>0.0</c:v>
                </c:pt>
                <c:pt idx="101">
                  <c:v>0.0</c:v>
                </c:pt>
                <c:pt idx="102">
                  <c:v>0.0</c:v>
                </c:pt>
                <c:pt idx="103">
                  <c:v>0.0</c:v>
                </c:pt>
                <c:pt idx="104">
                  <c:v>0.0</c:v>
                </c:pt>
                <c:pt idx="105">
                  <c:v>0.0</c:v>
                </c:pt>
                <c:pt idx="106">
                  <c:v>0.0</c:v>
                </c:pt>
                <c:pt idx="107">
                  <c:v>0.0</c:v>
                </c:pt>
                <c:pt idx="108">
                  <c:v>0.0</c:v>
                </c:pt>
                <c:pt idx="109">
                  <c:v>0.0</c:v>
                </c:pt>
                <c:pt idx="110">
                  <c:v>0.0</c:v>
                </c:pt>
                <c:pt idx="111">
                  <c:v>0.0</c:v>
                </c:pt>
                <c:pt idx="112">
                  <c:v>0.0</c:v>
                </c:pt>
                <c:pt idx="113">
                  <c:v>0.0</c:v>
                </c:pt>
                <c:pt idx="114">
                  <c:v>0.0</c:v>
                </c:pt>
                <c:pt idx="115">
                  <c:v>0.0</c:v>
                </c:pt>
                <c:pt idx="116">
                  <c:v>0.0</c:v>
                </c:pt>
                <c:pt idx="117">
                  <c:v>0.0</c:v>
                </c:pt>
                <c:pt idx="118">
                  <c:v>0.0</c:v>
                </c:pt>
                <c:pt idx="119">
                  <c:v>0.0</c:v>
                </c:pt>
                <c:pt idx="120">
                  <c:v>0.0</c:v>
                </c:pt>
                <c:pt idx="121">
                  <c:v>0.0</c:v>
                </c:pt>
                <c:pt idx="122">
                  <c:v>0.0</c:v>
                </c:pt>
                <c:pt idx="123">
                  <c:v>0.0</c:v>
                </c:pt>
                <c:pt idx="124">
                  <c:v>0.0</c:v>
                </c:pt>
                <c:pt idx="125">
                  <c:v>0.0</c:v>
                </c:pt>
                <c:pt idx="126">
                  <c:v>0.0</c:v>
                </c:pt>
                <c:pt idx="127">
                  <c:v>0.0</c:v>
                </c:pt>
                <c:pt idx="128">
                  <c:v>0.0</c:v>
                </c:pt>
                <c:pt idx="129">
                  <c:v>0.0</c:v>
                </c:pt>
              </c:numCache>
            </c:numRef>
          </c:yVal>
          <c:smooth val="1"/>
        </c:ser>
        <c:axId val="240768648"/>
        <c:axId val="240771720"/>
      </c:scatterChart>
      <c:valAx>
        <c:axId val="240768648"/>
        <c:scaling>
          <c:orientation val="minMax"/>
        </c:scaling>
        <c:axPos val="b"/>
        <c:numFmt formatCode="General" sourceLinked="1"/>
        <c:tickLblPos val="none"/>
        <c:crossAx val="240771720"/>
        <c:crosses val="autoZero"/>
        <c:crossBetween val="midCat"/>
      </c:valAx>
      <c:valAx>
        <c:axId val="240771720"/>
        <c:scaling>
          <c:orientation val="minMax"/>
          <c:max val="3.0"/>
          <c:min val="0.0"/>
        </c:scaling>
        <c:axPos val="l"/>
        <c:majorGridlines/>
        <c:numFmt formatCode="General" sourceLinked="1"/>
        <c:tickLblPos val="none"/>
        <c:crossAx val="240768648"/>
        <c:crosses val="autoZero"/>
        <c:crossBetween val="midCat"/>
        <c:majorUnit val="10.0"/>
      </c:valAx>
    </c:plotArea>
    <c:plotVisOnly val="1"/>
  </c:chart>
  <c:externalData r:id="rId1"/>
</c:chartSpace>
</file>

<file path=ppt/charts/chart18.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2"/>
          <c:order val="0"/>
          <c:spPr>
            <a:ln>
              <a:solidFill>
                <a:schemeClr val="tx2"/>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'sprint.xls'!$S$1:$S$130</c:f>
              <c:numCache>
                <c:formatCode>General</c:formatCode>
                <c:ptCount val="130"/>
                <c:pt idx="0">
                  <c:v>30.0</c:v>
                </c:pt>
                <c:pt idx="1">
                  <c:v>30.0</c:v>
                </c:pt>
                <c:pt idx="2">
                  <c:v>30.0</c:v>
                </c:pt>
                <c:pt idx="3">
                  <c:v>30.0</c:v>
                </c:pt>
                <c:pt idx="4">
                  <c:v>30.0</c:v>
                </c:pt>
                <c:pt idx="5">
                  <c:v>30.0</c:v>
                </c:pt>
                <c:pt idx="6">
                  <c:v>30.0</c:v>
                </c:pt>
                <c:pt idx="7">
                  <c:v>30.0</c:v>
                </c:pt>
                <c:pt idx="8">
                  <c:v>30.0</c:v>
                </c:pt>
                <c:pt idx="9">
                  <c:v>30.0</c:v>
                </c:pt>
                <c:pt idx="10">
                  <c:v>30.0</c:v>
                </c:pt>
                <c:pt idx="11">
                  <c:v>32.3744</c:v>
                </c:pt>
                <c:pt idx="12">
                  <c:v>34.701</c:v>
                </c:pt>
                <c:pt idx="13">
                  <c:v>36.9808</c:v>
                </c:pt>
                <c:pt idx="14">
                  <c:v>39.2148</c:v>
                </c:pt>
                <c:pt idx="15">
                  <c:v>41.4038</c:v>
                </c:pt>
                <c:pt idx="16">
                  <c:v>43.5487</c:v>
                </c:pt>
                <c:pt idx="17">
                  <c:v>45.6505</c:v>
                </c:pt>
                <c:pt idx="18">
                  <c:v>47.71</c:v>
                </c:pt>
                <c:pt idx="19">
                  <c:v>49.728</c:v>
                </c:pt>
                <c:pt idx="20">
                  <c:v>51.7054</c:v>
                </c:pt>
                <c:pt idx="21">
                  <c:v>53.6431</c:v>
                </c:pt>
                <c:pt idx="22">
                  <c:v>55.5417</c:v>
                </c:pt>
                <c:pt idx="23">
                  <c:v>57.4022</c:v>
                </c:pt>
                <c:pt idx="24">
                  <c:v>59.2252</c:v>
                </c:pt>
                <c:pt idx="25">
                  <c:v>60.0157</c:v>
                </c:pt>
                <c:pt idx="26">
                  <c:v>60.0157</c:v>
                </c:pt>
                <c:pt idx="27">
                  <c:v>60.0157</c:v>
                </c:pt>
                <c:pt idx="28">
                  <c:v>60.0157</c:v>
                </c:pt>
                <c:pt idx="29">
                  <c:v>60.0157</c:v>
                </c:pt>
                <c:pt idx="30">
                  <c:v>60.0157</c:v>
                </c:pt>
                <c:pt idx="31">
                  <c:v>60.0157</c:v>
                </c:pt>
                <c:pt idx="32">
                  <c:v>60.0157</c:v>
                </c:pt>
                <c:pt idx="33">
                  <c:v>60.0157</c:v>
                </c:pt>
                <c:pt idx="34">
                  <c:v>60.0157</c:v>
                </c:pt>
                <c:pt idx="35">
                  <c:v>60.0157</c:v>
                </c:pt>
                <c:pt idx="36">
                  <c:v>60.0157</c:v>
                </c:pt>
                <c:pt idx="37">
                  <c:v>60.0157</c:v>
                </c:pt>
                <c:pt idx="38">
                  <c:v>60.0157</c:v>
                </c:pt>
                <c:pt idx="39">
                  <c:v>60.0157</c:v>
                </c:pt>
                <c:pt idx="40">
                  <c:v>60.0157</c:v>
                </c:pt>
                <c:pt idx="41">
                  <c:v>60.0157</c:v>
                </c:pt>
                <c:pt idx="42">
                  <c:v>60.0157</c:v>
                </c:pt>
                <c:pt idx="43">
                  <c:v>60.0157</c:v>
                </c:pt>
                <c:pt idx="44">
                  <c:v>60.0157</c:v>
                </c:pt>
                <c:pt idx="45">
                  <c:v>60.0157</c:v>
                </c:pt>
                <c:pt idx="46">
                  <c:v>60.0157</c:v>
                </c:pt>
                <c:pt idx="47">
                  <c:v>60.0157</c:v>
                </c:pt>
                <c:pt idx="48">
                  <c:v>60.0157</c:v>
                </c:pt>
                <c:pt idx="49">
                  <c:v>60.0157</c:v>
                </c:pt>
                <c:pt idx="50">
                  <c:v>60.0157</c:v>
                </c:pt>
                <c:pt idx="51">
                  <c:v>60.0157</c:v>
                </c:pt>
                <c:pt idx="52">
                  <c:v>60.0157</c:v>
                </c:pt>
                <c:pt idx="53">
                  <c:v>60.0157</c:v>
                </c:pt>
                <c:pt idx="54">
                  <c:v>60.0157</c:v>
                </c:pt>
                <c:pt idx="55">
                  <c:v>60.0157</c:v>
                </c:pt>
                <c:pt idx="56">
                  <c:v>60.0157</c:v>
                </c:pt>
                <c:pt idx="57">
                  <c:v>60.0157</c:v>
                </c:pt>
                <c:pt idx="58">
                  <c:v>60.4082</c:v>
                </c:pt>
                <c:pt idx="59">
                  <c:v>62.1708</c:v>
                </c:pt>
                <c:pt idx="60">
                  <c:v>63.8978</c:v>
                </c:pt>
                <c:pt idx="61">
                  <c:v>65.5901</c:v>
                </c:pt>
                <c:pt idx="62">
                  <c:v>67.2484</c:v>
                </c:pt>
                <c:pt idx="63">
                  <c:v>68.87329999999998</c:v>
                </c:pt>
                <c:pt idx="64">
                  <c:v>69.9835</c:v>
                </c:pt>
                <c:pt idx="65">
                  <c:v>69.9034</c:v>
                </c:pt>
                <c:pt idx="66">
                  <c:v>69.8248</c:v>
                </c:pt>
                <c:pt idx="67">
                  <c:v>69.7479</c:v>
                </c:pt>
                <c:pt idx="68">
                  <c:v>69.67239999999961</c:v>
                </c:pt>
                <c:pt idx="69">
                  <c:v>69.5985</c:v>
                </c:pt>
                <c:pt idx="70">
                  <c:v>69.5261</c:v>
                </c:pt>
                <c:pt idx="71">
                  <c:v>69.4552</c:v>
                </c:pt>
                <c:pt idx="72">
                  <c:v>69.38569999999998</c:v>
                </c:pt>
                <c:pt idx="73">
                  <c:v>69.3175</c:v>
                </c:pt>
                <c:pt idx="74">
                  <c:v>69.2508</c:v>
                </c:pt>
                <c:pt idx="75">
                  <c:v>69.18539999999975</c:v>
                </c:pt>
                <c:pt idx="76">
                  <c:v>69.12130000000001</c:v>
                </c:pt>
                <c:pt idx="77">
                  <c:v>69.0585</c:v>
                </c:pt>
                <c:pt idx="78">
                  <c:v>68.9969</c:v>
                </c:pt>
                <c:pt idx="79">
                  <c:v>68.9366</c:v>
                </c:pt>
                <c:pt idx="80">
                  <c:v>68.8775</c:v>
                </c:pt>
                <c:pt idx="81">
                  <c:v>68.8196</c:v>
                </c:pt>
                <c:pt idx="82">
                  <c:v>68.7629</c:v>
                </c:pt>
                <c:pt idx="83">
                  <c:v>68.7073</c:v>
                </c:pt>
                <c:pt idx="84">
                  <c:v>68.65279999999963</c:v>
                </c:pt>
                <c:pt idx="85">
                  <c:v>68.5994</c:v>
                </c:pt>
                <c:pt idx="86">
                  <c:v>68.5471</c:v>
                </c:pt>
                <c:pt idx="87">
                  <c:v>68.4959</c:v>
                </c:pt>
                <c:pt idx="88">
                  <c:v>68.4457</c:v>
                </c:pt>
                <c:pt idx="89">
                  <c:v>68.3964</c:v>
                </c:pt>
                <c:pt idx="90">
                  <c:v>68.3399</c:v>
                </c:pt>
                <c:pt idx="91">
                  <c:v>67.4678</c:v>
                </c:pt>
                <c:pt idx="92">
                  <c:v>66.6133</c:v>
                </c:pt>
                <c:pt idx="93">
                  <c:v>65.77589999999998</c:v>
                </c:pt>
                <c:pt idx="94">
                  <c:v>64.9554</c:v>
                </c:pt>
                <c:pt idx="95">
                  <c:v>64.1514</c:v>
                </c:pt>
                <c:pt idx="96">
                  <c:v>63.3636</c:v>
                </c:pt>
                <c:pt idx="97">
                  <c:v>62.5917</c:v>
                </c:pt>
                <c:pt idx="98">
                  <c:v>61.8352</c:v>
                </c:pt>
                <c:pt idx="99">
                  <c:v>61.094</c:v>
                </c:pt>
                <c:pt idx="100">
                  <c:v>60.3678</c:v>
                </c:pt>
                <c:pt idx="101">
                  <c:v>59.9959</c:v>
                </c:pt>
                <c:pt idx="102">
                  <c:v>59.9959</c:v>
                </c:pt>
                <c:pt idx="103">
                  <c:v>59.9959</c:v>
                </c:pt>
                <c:pt idx="104">
                  <c:v>59.9959</c:v>
                </c:pt>
                <c:pt idx="105">
                  <c:v>59.9959</c:v>
                </c:pt>
                <c:pt idx="106">
                  <c:v>59.9959</c:v>
                </c:pt>
                <c:pt idx="107">
                  <c:v>59.9959</c:v>
                </c:pt>
                <c:pt idx="108">
                  <c:v>59.9959</c:v>
                </c:pt>
                <c:pt idx="109">
                  <c:v>59.9959</c:v>
                </c:pt>
                <c:pt idx="110">
                  <c:v>59.9959</c:v>
                </c:pt>
                <c:pt idx="111">
                  <c:v>59.9959</c:v>
                </c:pt>
                <c:pt idx="112">
                  <c:v>59.9959</c:v>
                </c:pt>
                <c:pt idx="113">
                  <c:v>59.9959</c:v>
                </c:pt>
                <c:pt idx="114">
                  <c:v>59.9959</c:v>
                </c:pt>
                <c:pt idx="115">
                  <c:v>59.9959</c:v>
                </c:pt>
                <c:pt idx="116">
                  <c:v>59.9959</c:v>
                </c:pt>
                <c:pt idx="117">
                  <c:v>59.9959</c:v>
                </c:pt>
                <c:pt idx="118">
                  <c:v>59.9959</c:v>
                </c:pt>
                <c:pt idx="119">
                  <c:v>59.9959</c:v>
                </c:pt>
                <c:pt idx="120">
                  <c:v>59.9959</c:v>
                </c:pt>
                <c:pt idx="121">
                  <c:v>59.9959</c:v>
                </c:pt>
                <c:pt idx="122">
                  <c:v>59.9959</c:v>
                </c:pt>
                <c:pt idx="123">
                  <c:v>59.9959</c:v>
                </c:pt>
                <c:pt idx="124">
                  <c:v>59.9959</c:v>
                </c:pt>
                <c:pt idx="125">
                  <c:v>59.9959</c:v>
                </c:pt>
                <c:pt idx="126">
                  <c:v>59.9959</c:v>
                </c:pt>
                <c:pt idx="127">
                  <c:v>59.9959</c:v>
                </c:pt>
                <c:pt idx="128">
                  <c:v>59.9959</c:v>
                </c:pt>
                <c:pt idx="129">
                  <c:v>59.9959</c:v>
                </c:pt>
              </c:numCache>
            </c:numRef>
          </c:yVal>
          <c:smooth val="1"/>
        </c:ser>
        <c:axId val="240802360"/>
        <c:axId val="240836040"/>
      </c:scatterChart>
      <c:valAx>
        <c:axId val="240802360"/>
        <c:scaling>
          <c:orientation val="minMax"/>
        </c:scaling>
        <c:axPos val="b"/>
        <c:numFmt formatCode="General" sourceLinked="1"/>
        <c:tickLblPos val="none"/>
        <c:crossAx val="240836040"/>
        <c:crosses val="autoZero"/>
        <c:crossBetween val="midCat"/>
      </c:valAx>
      <c:valAx>
        <c:axId val="240836040"/>
        <c:scaling>
          <c:orientation val="minMax"/>
          <c:max val="70.0"/>
          <c:min val="0.0"/>
        </c:scaling>
        <c:axPos val="l"/>
        <c:majorGridlines/>
        <c:numFmt formatCode="General" sourceLinked="1"/>
        <c:tickLblPos val="none"/>
        <c:crossAx val="240802360"/>
        <c:crosses val="autoZero"/>
        <c:crossBetween val="midCat"/>
        <c:majorUnit val="100.0"/>
      </c:valAx>
    </c:plotArea>
    <c:plotVisOnly val="1"/>
  </c:chart>
  <c:externalData r:id="rId1"/>
</c:chartSpace>
</file>

<file path=ppt/charts/chart19.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scatterChart>
        <c:scatterStyle val="smoothMarker"/>
        <c:ser>
          <c:idx val="2"/>
          <c:order val="0"/>
          <c:spPr>
            <a:ln>
              <a:solidFill>
                <a:schemeClr val="tx2"/>
              </a:solidFill>
            </a:ln>
          </c:spPr>
          <c:marker>
            <c:symbol val="none"/>
          </c:marker>
          <c:xVal>
            <c:numRef>
              <c:f>'sprint.xls'!$A$1:$A$130</c:f>
              <c:numCache>
                <c:formatCode>General</c:formatCode>
                <c:ptCount val="130"/>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numCache>
            </c:numRef>
          </c:xVal>
          <c:yVal>
            <c:numRef>
              <c:f>'sprint.xls'!$Q$1:$Q$130</c:f>
              <c:numCache>
                <c:formatCode>General</c:formatCode>
                <c:ptCount val="130"/>
                <c:pt idx="0">
                  <c:v>0.0</c:v>
                </c:pt>
                <c:pt idx="1">
                  <c:v>0.0</c:v>
                </c:pt>
                <c:pt idx="2">
                  <c:v>0.0</c:v>
                </c:pt>
                <c:pt idx="3">
                  <c:v>0.0</c:v>
                </c:pt>
                <c:pt idx="4">
                  <c:v>0.0</c:v>
                </c:pt>
                <c:pt idx="5">
                  <c:v>0.0</c:v>
                </c:pt>
                <c:pt idx="6">
                  <c:v>0.0</c:v>
                </c:pt>
                <c:pt idx="7">
                  <c:v>0.0</c:v>
                </c:pt>
                <c:pt idx="8">
                  <c:v>0.0</c:v>
                </c:pt>
                <c:pt idx="9">
                  <c:v>0.0</c:v>
                </c:pt>
                <c:pt idx="10">
                  <c:v>0.0</c:v>
                </c:pt>
                <c:pt idx="11">
                  <c:v>3.0</c:v>
                </c:pt>
                <c:pt idx="12">
                  <c:v>3.0</c:v>
                </c:pt>
                <c:pt idx="13">
                  <c:v>3.0</c:v>
                </c:pt>
                <c:pt idx="14">
                  <c:v>3.0</c:v>
                </c:pt>
                <c:pt idx="15">
                  <c:v>3.0</c:v>
                </c:pt>
                <c:pt idx="16">
                  <c:v>3.0</c:v>
                </c:pt>
                <c:pt idx="17">
                  <c:v>3.0</c:v>
                </c:pt>
                <c:pt idx="18">
                  <c:v>3.0</c:v>
                </c:pt>
                <c:pt idx="19">
                  <c:v>3.0</c:v>
                </c:pt>
                <c:pt idx="20">
                  <c:v>3.0</c:v>
                </c:pt>
                <c:pt idx="21">
                  <c:v>3.0</c:v>
                </c:pt>
                <c:pt idx="22">
                  <c:v>3.0</c:v>
                </c:pt>
                <c:pt idx="23">
                  <c:v>3.0</c:v>
                </c:pt>
                <c:pt idx="24">
                  <c:v>3.0</c:v>
                </c:pt>
                <c:pt idx="25">
                  <c:v>3.0</c:v>
                </c:pt>
                <c:pt idx="26">
                  <c:v>3.0</c:v>
                </c:pt>
                <c:pt idx="27">
                  <c:v>3.0</c:v>
                </c:pt>
                <c:pt idx="28">
                  <c:v>3.0</c:v>
                </c:pt>
                <c:pt idx="29">
                  <c:v>3.0</c:v>
                </c:pt>
                <c:pt idx="30">
                  <c:v>3.0</c:v>
                </c:pt>
                <c:pt idx="31">
                  <c:v>3.0</c:v>
                </c:pt>
                <c:pt idx="32">
                  <c:v>3.0</c:v>
                </c:pt>
                <c:pt idx="33">
                  <c:v>3.0</c:v>
                </c:pt>
                <c:pt idx="34">
                  <c:v>3.0</c:v>
                </c:pt>
                <c:pt idx="35">
                  <c:v>3.0</c:v>
                </c:pt>
                <c:pt idx="36">
                  <c:v>3.0</c:v>
                </c:pt>
                <c:pt idx="37">
                  <c:v>3.0</c:v>
                </c:pt>
                <c:pt idx="38">
                  <c:v>3.0</c:v>
                </c:pt>
                <c:pt idx="39">
                  <c:v>3.0</c:v>
                </c:pt>
                <c:pt idx="40">
                  <c:v>3.0</c:v>
                </c:pt>
                <c:pt idx="41">
                  <c:v>3.0</c:v>
                </c:pt>
                <c:pt idx="42">
                  <c:v>3.0</c:v>
                </c:pt>
                <c:pt idx="43">
                  <c:v>3.0</c:v>
                </c:pt>
                <c:pt idx="44">
                  <c:v>3.0</c:v>
                </c:pt>
                <c:pt idx="45">
                  <c:v>3.0</c:v>
                </c:pt>
                <c:pt idx="46">
                  <c:v>3.0</c:v>
                </c:pt>
                <c:pt idx="47">
                  <c:v>3.0</c:v>
                </c:pt>
                <c:pt idx="48">
                  <c:v>3.0</c:v>
                </c:pt>
                <c:pt idx="49">
                  <c:v>3.0</c:v>
                </c:pt>
                <c:pt idx="50">
                  <c:v>3.0</c:v>
                </c:pt>
                <c:pt idx="51">
                  <c:v>3.0</c:v>
                </c:pt>
                <c:pt idx="52">
                  <c:v>3.0</c:v>
                </c:pt>
                <c:pt idx="53">
                  <c:v>3.0</c:v>
                </c:pt>
                <c:pt idx="54">
                  <c:v>3.0</c:v>
                </c:pt>
                <c:pt idx="55">
                  <c:v>3.0</c:v>
                </c:pt>
                <c:pt idx="56">
                  <c:v>3.0</c:v>
                </c:pt>
                <c:pt idx="57">
                  <c:v>3.0</c:v>
                </c:pt>
                <c:pt idx="58">
                  <c:v>3.0</c:v>
                </c:pt>
                <c:pt idx="59">
                  <c:v>3.0</c:v>
                </c:pt>
                <c:pt idx="60">
                  <c:v>3.0</c:v>
                </c:pt>
                <c:pt idx="61">
                  <c:v>3.0</c:v>
                </c:pt>
                <c:pt idx="62">
                  <c:v>3.0</c:v>
                </c:pt>
                <c:pt idx="63">
                  <c:v>3.0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pt idx="82">
                  <c:v>1.0</c:v>
                </c:pt>
                <c:pt idx="83">
                  <c:v>1.0</c:v>
                </c:pt>
                <c:pt idx="84">
                  <c:v>1.0</c:v>
                </c:pt>
                <c:pt idx="85">
                  <c:v>1.0</c:v>
                </c:pt>
                <c:pt idx="86">
                  <c:v>1.0</c:v>
                </c:pt>
                <c:pt idx="87">
                  <c:v>1.0</c:v>
                </c:pt>
                <c:pt idx="88">
                  <c:v>1.0</c:v>
                </c:pt>
                <c:pt idx="89">
                  <c:v>1.0</c:v>
                </c:pt>
                <c:pt idx="90">
                  <c:v>0.0</c:v>
                </c:pt>
                <c:pt idx="91">
                  <c:v>0.0</c:v>
                </c:pt>
                <c:pt idx="92">
                  <c:v>0.0</c:v>
                </c:pt>
                <c:pt idx="93">
                  <c:v>0.0</c:v>
                </c:pt>
                <c:pt idx="94">
                  <c:v>0.0</c:v>
                </c:pt>
                <c:pt idx="95">
                  <c:v>0.0</c:v>
                </c:pt>
                <c:pt idx="96">
                  <c:v>0.0</c:v>
                </c:pt>
                <c:pt idx="97">
                  <c:v>0.0</c:v>
                </c:pt>
                <c:pt idx="98">
                  <c:v>0.0</c:v>
                </c:pt>
                <c:pt idx="99">
                  <c:v>0.0</c:v>
                </c:pt>
                <c:pt idx="100">
                  <c:v>0.0</c:v>
                </c:pt>
                <c:pt idx="101">
                  <c:v>0.0</c:v>
                </c:pt>
                <c:pt idx="102">
                  <c:v>0.0</c:v>
                </c:pt>
                <c:pt idx="103">
                  <c:v>0.0</c:v>
                </c:pt>
                <c:pt idx="104">
                  <c:v>0.0</c:v>
                </c:pt>
                <c:pt idx="105">
                  <c:v>0.0</c:v>
                </c:pt>
                <c:pt idx="106">
                  <c:v>0.0</c:v>
                </c:pt>
                <c:pt idx="107">
                  <c:v>0.0</c:v>
                </c:pt>
                <c:pt idx="108">
                  <c:v>0.0</c:v>
                </c:pt>
                <c:pt idx="109">
                  <c:v>0.0</c:v>
                </c:pt>
                <c:pt idx="110">
                  <c:v>0.0</c:v>
                </c:pt>
                <c:pt idx="111">
                  <c:v>0.0</c:v>
                </c:pt>
                <c:pt idx="112">
                  <c:v>0.0</c:v>
                </c:pt>
                <c:pt idx="113">
                  <c:v>0.0</c:v>
                </c:pt>
                <c:pt idx="114">
                  <c:v>0.0</c:v>
                </c:pt>
                <c:pt idx="115">
                  <c:v>0.0</c:v>
                </c:pt>
                <c:pt idx="116">
                  <c:v>0.0</c:v>
                </c:pt>
                <c:pt idx="117">
                  <c:v>0.0</c:v>
                </c:pt>
                <c:pt idx="118">
                  <c:v>0.0</c:v>
                </c:pt>
                <c:pt idx="119">
                  <c:v>0.0</c:v>
                </c:pt>
                <c:pt idx="120">
                  <c:v>0.0</c:v>
                </c:pt>
                <c:pt idx="121">
                  <c:v>0.0</c:v>
                </c:pt>
                <c:pt idx="122">
                  <c:v>0.0</c:v>
                </c:pt>
                <c:pt idx="123">
                  <c:v>0.0</c:v>
                </c:pt>
                <c:pt idx="124">
                  <c:v>0.0</c:v>
                </c:pt>
                <c:pt idx="125">
                  <c:v>0.0</c:v>
                </c:pt>
                <c:pt idx="126">
                  <c:v>0.0</c:v>
                </c:pt>
                <c:pt idx="127">
                  <c:v>0.0</c:v>
                </c:pt>
                <c:pt idx="128">
                  <c:v>0.0</c:v>
                </c:pt>
                <c:pt idx="129">
                  <c:v>0.0</c:v>
                </c:pt>
              </c:numCache>
            </c:numRef>
          </c:yVal>
          <c:smooth val="1"/>
        </c:ser>
        <c:axId val="240831576"/>
        <c:axId val="240281816"/>
      </c:scatterChart>
      <c:valAx>
        <c:axId val="240831576"/>
        <c:scaling>
          <c:orientation val="minMax"/>
        </c:scaling>
        <c:axPos val="b"/>
        <c:numFmt formatCode="General" sourceLinked="1"/>
        <c:tickLblPos val="none"/>
        <c:crossAx val="240281816"/>
        <c:crosses val="autoZero"/>
        <c:crossBetween val="midCat"/>
      </c:valAx>
      <c:valAx>
        <c:axId val="240281816"/>
        <c:scaling>
          <c:orientation val="minMax"/>
          <c:max val="3.0"/>
          <c:min val="0.0"/>
        </c:scaling>
        <c:axPos val="l"/>
        <c:majorGridlines/>
        <c:numFmt formatCode="General" sourceLinked="1"/>
        <c:tickLblPos val="none"/>
        <c:crossAx val="240831576"/>
        <c:crosses val="autoZero"/>
        <c:crossBetween val="midCat"/>
        <c:majorUnit val="10.0"/>
      </c:valAx>
    </c:plotArea>
    <c:plotVisOnly val="1"/>
  </c:chart>
  <c:externalData r:id="rId1"/>
</c:chartSpace>
</file>

<file path=ppt/charts/chart20.xml><?xml version="1.0" encoding="utf-8"?>
<c:chartSpace xmlns:c="http://schemas.openxmlformats.org/drawingml/2006/chart" xmlns:a="http://schemas.openxmlformats.org/drawingml/2006/main" xmlns:r="http://schemas.openxmlformats.org/officeDocument/2006/relationships">
  <c:date1904 val="1"/>
  <c:lang val="en-US"/>
  <c:style val="30"/>
  <c:chart>
    <c:plotArea>
      <c:layout/>
      <c:scatterChart>
        <c:scatterStyle val="smoothMarker"/>
        <c:ser>
          <c:idx val="0"/>
          <c:order val="0"/>
          <c:spPr>
            <a:ln w="25400">
              <a:solidFill>
                <a:schemeClr val="tx2"/>
              </a:solidFill>
            </a:ln>
          </c:spPr>
          <c:marker>
            <c:symbol val="none"/>
          </c:marker>
          <c:xVal>
            <c:numRef>
              <c:f>'[adrenaline-rise-temp-talk.xls]adrenaline-rise-temp-talk.xls'!$A$1:$A$46</c:f>
              <c:numCache>
                <c:formatCode>General</c:formatCode>
                <c:ptCount val="46"/>
                <c:pt idx="0">
                  <c:v>0.0</c:v>
                </c:pt>
                <c:pt idx="1">
                  <c:v>0.0014</c:v>
                </c:pt>
                <c:pt idx="2">
                  <c:v>0.0028</c:v>
                </c:pt>
                <c:pt idx="3">
                  <c:v>0.0042</c:v>
                </c:pt>
                <c:pt idx="4">
                  <c:v>0.0056</c:v>
                </c:pt>
                <c:pt idx="5">
                  <c:v>0.007</c:v>
                </c:pt>
                <c:pt idx="6">
                  <c:v>0.0084</c:v>
                </c:pt>
                <c:pt idx="7">
                  <c:v>0.0098</c:v>
                </c:pt>
                <c:pt idx="8">
                  <c:v>0.0112</c:v>
                </c:pt>
                <c:pt idx="9">
                  <c:v>0.0126</c:v>
                </c:pt>
                <c:pt idx="10">
                  <c:v>0.014</c:v>
                </c:pt>
                <c:pt idx="11">
                  <c:v>0.0154</c:v>
                </c:pt>
                <c:pt idx="12">
                  <c:v>0.0168</c:v>
                </c:pt>
                <c:pt idx="13">
                  <c:v>0.0182</c:v>
                </c:pt>
                <c:pt idx="14">
                  <c:v>0.0196</c:v>
                </c:pt>
                <c:pt idx="15">
                  <c:v>0.021</c:v>
                </c:pt>
                <c:pt idx="16">
                  <c:v>0.0224</c:v>
                </c:pt>
                <c:pt idx="17">
                  <c:v>0.0238</c:v>
                </c:pt>
                <c:pt idx="18">
                  <c:v>0.0252</c:v>
                </c:pt>
                <c:pt idx="19">
                  <c:v>0.0266</c:v>
                </c:pt>
                <c:pt idx="20">
                  <c:v>0.028</c:v>
                </c:pt>
                <c:pt idx="21">
                  <c:v>0.0294</c:v>
                </c:pt>
                <c:pt idx="22">
                  <c:v>0.0309</c:v>
                </c:pt>
                <c:pt idx="23">
                  <c:v>0.0324</c:v>
                </c:pt>
                <c:pt idx="24">
                  <c:v>0.0339</c:v>
                </c:pt>
                <c:pt idx="25">
                  <c:v>0.0354</c:v>
                </c:pt>
                <c:pt idx="26">
                  <c:v>0.0369</c:v>
                </c:pt>
                <c:pt idx="27">
                  <c:v>0.0384</c:v>
                </c:pt>
                <c:pt idx="28">
                  <c:v>0.0399</c:v>
                </c:pt>
                <c:pt idx="29">
                  <c:v>0.0414</c:v>
                </c:pt>
                <c:pt idx="30">
                  <c:v>0.0429</c:v>
                </c:pt>
                <c:pt idx="31">
                  <c:v>0.0444</c:v>
                </c:pt>
                <c:pt idx="32">
                  <c:v>0.0459</c:v>
                </c:pt>
                <c:pt idx="33">
                  <c:v>0.0474</c:v>
                </c:pt>
                <c:pt idx="34">
                  <c:v>0.9865</c:v>
                </c:pt>
                <c:pt idx="35">
                  <c:v>0.988</c:v>
                </c:pt>
                <c:pt idx="36">
                  <c:v>0.9895</c:v>
                </c:pt>
                <c:pt idx="37">
                  <c:v>0.991</c:v>
                </c:pt>
                <c:pt idx="38">
                  <c:v>0.9925</c:v>
                </c:pt>
                <c:pt idx="39">
                  <c:v>0.994</c:v>
                </c:pt>
                <c:pt idx="40">
                  <c:v>0.9955</c:v>
                </c:pt>
                <c:pt idx="41">
                  <c:v>0.997</c:v>
                </c:pt>
                <c:pt idx="42">
                  <c:v>0.9985</c:v>
                </c:pt>
                <c:pt idx="43">
                  <c:v>1.0</c:v>
                </c:pt>
                <c:pt idx="44">
                  <c:v>1.8935</c:v>
                </c:pt>
                <c:pt idx="45">
                  <c:v>2.0</c:v>
                </c:pt>
              </c:numCache>
            </c:numRef>
          </c:xVal>
          <c:yVal>
            <c:numRef>
              <c:f>'[adrenaline-rise-temp-talk.xls]adrenaline-rise-temp-talk.xls'!$B$1:$B$46</c:f>
              <c:numCache>
                <c:formatCode>General</c:formatCode>
                <c:ptCount val="46"/>
                <c:pt idx="0">
                  <c:v>25.0736</c:v>
                </c:pt>
                <c:pt idx="1">
                  <c:v>26.1032</c:v>
                </c:pt>
                <c:pt idx="2">
                  <c:v>27.1314</c:v>
                </c:pt>
                <c:pt idx="3">
                  <c:v>28.1582</c:v>
                </c:pt>
                <c:pt idx="4">
                  <c:v>29.1835</c:v>
                </c:pt>
                <c:pt idx="5">
                  <c:v>30.2074</c:v>
                </c:pt>
                <c:pt idx="6">
                  <c:v>31.2298</c:v>
                </c:pt>
                <c:pt idx="7">
                  <c:v>32.2508</c:v>
                </c:pt>
                <c:pt idx="8">
                  <c:v>33.2704</c:v>
                </c:pt>
                <c:pt idx="9">
                  <c:v>34.2886</c:v>
                </c:pt>
                <c:pt idx="10">
                  <c:v>35.3053</c:v>
                </c:pt>
                <c:pt idx="11">
                  <c:v>36.3206</c:v>
                </c:pt>
                <c:pt idx="12">
                  <c:v>37.3345</c:v>
                </c:pt>
                <c:pt idx="13">
                  <c:v>38.347</c:v>
                </c:pt>
                <c:pt idx="14">
                  <c:v>39.358</c:v>
                </c:pt>
                <c:pt idx="15">
                  <c:v>40.3677</c:v>
                </c:pt>
                <c:pt idx="16">
                  <c:v>41.3759</c:v>
                </c:pt>
                <c:pt idx="17">
                  <c:v>42.3827</c:v>
                </c:pt>
                <c:pt idx="18">
                  <c:v>43.3881</c:v>
                </c:pt>
                <c:pt idx="19">
                  <c:v>44.3921</c:v>
                </c:pt>
                <c:pt idx="20">
                  <c:v>45.3947</c:v>
                </c:pt>
                <c:pt idx="21">
                  <c:v>46.3959</c:v>
                </c:pt>
                <c:pt idx="22">
                  <c:v>47.4671</c:v>
                </c:pt>
                <c:pt idx="23">
                  <c:v>48.5366</c:v>
                </c:pt>
                <c:pt idx="24">
                  <c:v>49.6046</c:v>
                </c:pt>
                <c:pt idx="25">
                  <c:v>50.6709</c:v>
                </c:pt>
                <c:pt idx="26">
                  <c:v>51.7357</c:v>
                </c:pt>
                <c:pt idx="27">
                  <c:v>52.7988</c:v>
                </c:pt>
                <c:pt idx="28">
                  <c:v>53.8604</c:v>
                </c:pt>
                <c:pt idx="29">
                  <c:v>54.9204</c:v>
                </c:pt>
                <c:pt idx="30">
                  <c:v>55.9787</c:v>
                </c:pt>
                <c:pt idx="31">
                  <c:v>57.0355</c:v>
                </c:pt>
                <c:pt idx="32">
                  <c:v>58.0907</c:v>
                </c:pt>
                <c:pt idx="33">
                  <c:v>59.1444</c:v>
                </c:pt>
                <c:pt idx="34">
                  <c:v>60.1964</c:v>
                </c:pt>
                <c:pt idx="35">
                  <c:v>61.2469</c:v>
                </c:pt>
                <c:pt idx="36">
                  <c:v>62.2958</c:v>
                </c:pt>
                <c:pt idx="37">
                  <c:v>63.3431</c:v>
                </c:pt>
                <c:pt idx="38">
                  <c:v>64.38879999999995</c:v>
                </c:pt>
                <c:pt idx="39">
                  <c:v>65.433</c:v>
                </c:pt>
                <c:pt idx="40">
                  <c:v>66.47569999999998</c:v>
                </c:pt>
                <c:pt idx="41">
                  <c:v>67.5167</c:v>
                </c:pt>
                <c:pt idx="42">
                  <c:v>68.5562</c:v>
                </c:pt>
                <c:pt idx="43">
                  <c:v>69.5941</c:v>
                </c:pt>
                <c:pt idx="44">
                  <c:v>70.5942</c:v>
                </c:pt>
                <c:pt idx="45">
                  <c:v>70.6352</c:v>
                </c:pt>
              </c:numCache>
            </c:numRef>
          </c:yVal>
        </c:ser>
        <c:axId val="240852712"/>
        <c:axId val="240294008"/>
      </c:scatterChart>
      <c:valAx>
        <c:axId val="240852712"/>
        <c:scaling>
          <c:orientation val="minMax"/>
          <c:max val="1.2"/>
          <c:min val="0.0"/>
        </c:scaling>
        <c:axPos val="b"/>
        <c:numFmt formatCode="General" sourceLinked="1"/>
        <c:tickLblPos val="nextTo"/>
        <c:spPr>
          <a:ln w="38100">
            <a:solidFill>
              <a:schemeClr val="tx1"/>
            </a:solidFill>
          </a:ln>
        </c:spPr>
        <c:txPr>
          <a:bodyPr/>
          <a:lstStyle/>
          <a:p>
            <a:pPr>
              <a:defRPr sz="1600"/>
            </a:pPr>
            <a:endParaRPr lang="en-US"/>
          </a:p>
        </c:txPr>
        <c:crossAx val="240294008"/>
        <c:crosses val="autoZero"/>
        <c:crossBetween val="midCat"/>
        <c:majorUnit val="0.2"/>
      </c:valAx>
      <c:valAx>
        <c:axId val="240294008"/>
        <c:scaling>
          <c:orientation val="minMax"/>
        </c:scaling>
        <c:axPos val="l"/>
        <c:majorGridlines/>
        <c:numFmt formatCode="General" sourceLinked="1"/>
        <c:tickLblPos val="nextTo"/>
        <c:spPr>
          <a:ln w="38100">
            <a:solidFill>
              <a:schemeClr val="tx1"/>
            </a:solidFill>
          </a:ln>
        </c:spPr>
        <c:txPr>
          <a:bodyPr/>
          <a:lstStyle/>
          <a:p>
            <a:pPr>
              <a:defRPr sz="1600"/>
            </a:pPr>
            <a:endParaRPr lang="en-US"/>
          </a:p>
        </c:txPr>
        <c:crossAx val="240852712"/>
        <c:crosses val="autoZero"/>
        <c:crossBetween val="midCat"/>
      </c:valAx>
    </c:plotArea>
    <c:plotVisOnly val="1"/>
  </c:chart>
  <c:txPr>
    <a:bodyPr/>
    <a:lstStyle/>
    <a:p>
      <a:pPr>
        <a:defRPr sz="1800"/>
      </a:pPr>
      <a:endParaRPr lang="en-US"/>
    </a:p>
  </c:txPr>
  <c:externalData r:id="rId1"/>
</c:chartSpace>
</file>

<file path=ppt/charts/chart21.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scatterChart>
        <c:scatterStyle val="smoothMarker"/>
        <c:ser>
          <c:idx val="0"/>
          <c:order val="0"/>
          <c:spPr>
            <a:ln w="38100">
              <a:solidFill>
                <a:srgbClr val="800000"/>
              </a:solidFill>
            </a:ln>
          </c:spPr>
          <c:marker>
            <c:symbol val="none"/>
          </c:marker>
          <c:xVal>
            <c:numRef>
              <c:f>'[adrenaline-fall-temp-talk.xls]adrenaline-fall-temp-talk.xls'!$A$1:$A$42</c:f>
              <c:numCache>
                <c:formatCode>General</c:formatCode>
                <c:ptCount val="42"/>
                <c:pt idx="0">
                  <c:v>0.0001</c:v>
                </c:pt>
                <c:pt idx="1">
                  <c:v>0.0301</c:v>
                </c:pt>
                <c:pt idx="2">
                  <c:v>0.0601</c:v>
                </c:pt>
                <c:pt idx="3">
                  <c:v>0.0901</c:v>
                </c:pt>
                <c:pt idx="4">
                  <c:v>0.1201</c:v>
                </c:pt>
                <c:pt idx="5">
                  <c:v>0.1501</c:v>
                </c:pt>
                <c:pt idx="6">
                  <c:v>0.1801</c:v>
                </c:pt>
                <c:pt idx="7">
                  <c:v>0.2101</c:v>
                </c:pt>
                <c:pt idx="8">
                  <c:v>0.2401</c:v>
                </c:pt>
                <c:pt idx="9">
                  <c:v>19.9901</c:v>
                </c:pt>
                <c:pt idx="10">
                  <c:v>20.0201</c:v>
                </c:pt>
                <c:pt idx="11">
                  <c:v>20.0601</c:v>
                </c:pt>
                <c:pt idx="12">
                  <c:v>20.1001</c:v>
                </c:pt>
                <c:pt idx="13">
                  <c:v>20.1401</c:v>
                </c:pt>
                <c:pt idx="14">
                  <c:v>20.1801</c:v>
                </c:pt>
                <c:pt idx="15">
                  <c:v>20.2201</c:v>
                </c:pt>
                <c:pt idx="16">
                  <c:v>20.2601</c:v>
                </c:pt>
                <c:pt idx="17">
                  <c:v>20.3001</c:v>
                </c:pt>
                <c:pt idx="18">
                  <c:v>20.3501</c:v>
                </c:pt>
                <c:pt idx="19">
                  <c:v>20.4001</c:v>
                </c:pt>
                <c:pt idx="20">
                  <c:v>20.4501</c:v>
                </c:pt>
                <c:pt idx="21">
                  <c:v>20.5001</c:v>
                </c:pt>
                <c:pt idx="22">
                  <c:v>20.5501</c:v>
                </c:pt>
                <c:pt idx="23">
                  <c:v>20.6101</c:v>
                </c:pt>
                <c:pt idx="24">
                  <c:v>20.6701</c:v>
                </c:pt>
                <c:pt idx="25">
                  <c:v>20.7301</c:v>
                </c:pt>
                <c:pt idx="26">
                  <c:v>20.8001</c:v>
                </c:pt>
                <c:pt idx="27">
                  <c:v>20.8701</c:v>
                </c:pt>
                <c:pt idx="28">
                  <c:v>20.9501</c:v>
                </c:pt>
                <c:pt idx="29">
                  <c:v>21.0301</c:v>
                </c:pt>
                <c:pt idx="30">
                  <c:v>21.1201</c:v>
                </c:pt>
                <c:pt idx="31">
                  <c:v>21.2201</c:v>
                </c:pt>
                <c:pt idx="32">
                  <c:v>21.3301</c:v>
                </c:pt>
                <c:pt idx="33">
                  <c:v>21.4501</c:v>
                </c:pt>
                <c:pt idx="34">
                  <c:v>21.5901</c:v>
                </c:pt>
                <c:pt idx="35">
                  <c:v>21.7501</c:v>
                </c:pt>
                <c:pt idx="36">
                  <c:v>21.9401</c:v>
                </c:pt>
                <c:pt idx="37">
                  <c:v>22.1701</c:v>
                </c:pt>
                <c:pt idx="38">
                  <c:v>22.4701</c:v>
                </c:pt>
                <c:pt idx="39">
                  <c:v>22.9001</c:v>
                </c:pt>
                <c:pt idx="40">
                  <c:v>23.6601</c:v>
                </c:pt>
                <c:pt idx="41">
                  <c:v>39.9901</c:v>
                </c:pt>
              </c:numCache>
            </c:numRef>
          </c:xVal>
          <c:yVal>
            <c:numRef>
              <c:f>'[adrenaline-fall-temp-talk.xls]adrenaline-fall-temp-talk.xls'!$B$1:$B$42</c:f>
              <c:numCache>
                <c:formatCode>General</c:formatCode>
                <c:ptCount val="42"/>
                <c:pt idx="0">
                  <c:v>70.6306</c:v>
                </c:pt>
                <c:pt idx="1">
                  <c:v>69.282</c:v>
                </c:pt>
                <c:pt idx="2">
                  <c:v>67.9732</c:v>
                </c:pt>
                <c:pt idx="3">
                  <c:v>66.7031</c:v>
                </c:pt>
                <c:pt idx="4">
                  <c:v>65.4705</c:v>
                </c:pt>
                <c:pt idx="5">
                  <c:v>64.2743</c:v>
                </c:pt>
                <c:pt idx="6">
                  <c:v>63.1136</c:v>
                </c:pt>
                <c:pt idx="7">
                  <c:v>61.9871</c:v>
                </c:pt>
                <c:pt idx="8">
                  <c:v>60.8939</c:v>
                </c:pt>
                <c:pt idx="9">
                  <c:v>59.694</c:v>
                </c:pt>
                <c:pt idx="10">
                  <c:v>58.6685</c:v>
                </c:pt>
                <c:pt idx="11">
                  <c:v>57.3483</c:v>
                </c:pt>
                <c:pt idx="12">
                  <c:v>56.0799</c:v>
                </c:pt>
                <c:pt idx="13">
                  <c:v>54.8611</c:v>
                </c:pt>
                <c:pt idx="14">
                  <c:v>53.6902</c:v>
                </c:pt>
                <c:pt idx="15">
                  <c:v>52.5652</c:v>
                </c:pt>
                <c:pt idx="16">
                  <c:v>51.4843</c:v>
                </c:pt>
                <c:pt idx="17">
                  <c:v>50.4458</c:v>
                </c:pt>
                <c:pt idx="18">
                  <c:v>49.2047</c:v>
                </c:pt>
                <c:pt idx="19">
                  <c:v>48.0242</c:v>
                </c:pt>
                <c:pt idx="20">
                  <c:v>46.9012</c:v>
                </c:pt>
                <c:pt idx="21">
                  <c:v>45.833</c:v>
                </c:pt>
                <c:pt idx="22">
                  <c:v>44.8169</c:v>
                </c:pt>
                <c:pt idx="23">
                  <c:v>43.6628</c:v>
                </c:pt>
                <c:pt idx="24">
                  <c:v>42.5759</c:v>
                </c:pt>
                <c:pt idx="25">
                  <c:v>41.5524</c:v>
                </c:pt>
                <c:pt idx="26">
                  <c:v>40.4333</c:v>
                </c:pt>
                <c:pt idx="27">
                  <c:v>39.3898</c:v>
                </c:pt>
                <c:pt idx="28">
                  <c:v>38.2834</c:v>
                </c:pt>
                <c:pt idx="29">
                  <c:v>37.2621</c:v>
                </c:pt>
                <c:pt idx="30">
                  <c:v>36.2067</c:v>
                </c:pt>
                <c:pt idx="31">
                  <c:v>35.1402</c:v>
                </c:pt>
                <c:pt idx="32">
                  <c:v>34.0839</c:v>
                </c:pt>
                <c:pt idx="33">
                  <c:v>33.0566</c:v>
                </c:pt>
                <c:pt idx="34">
                  <c:v>32.004</c:v>
                </c:pt>
                <c:pt idx="35">
                  <c:v>30.9684</c:v>
                </c:pt>
                <c:pt idx="36">
                  <c:v>29.9356</c:v>
                </c:pt>
                <c:pt idx="37">
                  <c:v>28.9214</c:v>
                </c:pt>
                <c:pt idx="38">
                  <c:v>27.905</c:v>
                </c:pt>
                <c:pt idx="39">
                  <c:v>26.8897</c:v>
                </c:pt>
                <c:pt idx="40">
                  <c:v>25.8837</c:v>
                </c:pt>
                <c:pt idx="41">
                  <c:v>25.0</c:v>
                </c:pt>
              </c:numCache>
            </c:numRef>
          </c:yVal>
        </c:ser>
        <c:axId val="240733288"/>
        <c:axId val="240154184"/>
      </c:scatterChart>
      <c:valAx>
        <c:axId val="240733288"/>
        <c:scaling>
          <c:orientation val="minMax"/>
          <c:max val="25.0"/>
          <c:min val="0.0"/>
        </c:scaling>
        <c:axPos val="b"/>
        <c:numFmt formatCode="General" sourceLinked="1"/>
        <c:tickLblPos val="nextTo"/>
        <c:spPr>
          <a:ln w="38100">
            <a:solidFill>
              <a:schemeClr val="tx1"/>
            </a:solidFill>
          </a:ln>
        </c:spPr>
        <c:crossAx val="240154184"/>
        <c:crosses val="autoZero"/>
        <c:crossBetween val="midCat"/>
        <c:majorUnit val="5.0"/>
      </c:valAx>
      <c:valAx>
        <c:axId val="240154184"/>
        <c:scaling>
          <c:orientation val="minMax"/>
        </c:scaling>
        <c:axPos val="l"/>
        <c:majorGridlines/>
        <c:numFmt formatCode="General" sourceLinked="1"/>
        <c:tickLblPos val="nextTo"/>
        <c:spPr>
          <a:ln w="38100">
            <a:solidFill>
              <a:schemeClr val="tx1"/>
            </a:solidFill>
          </a:ln>
        </c:spPr>
        <c:crossAx val="240733288"/>
        <c:crosses val="autoZero"/>
        <c:crossBetween val="midCat"/>
        <c:majorUnit val="20.0"/>
      </c:valAx>
    </c:plotArea>
    <c:plotVisOnly val="1"/>
  </c:chart>
  <c:txPr>
    <a:bodyPr/>
    <a:lstStyle/>
    <a:p>
      <a:pPr>
        <a:defRPr sz="1600"/>
      </a:pPr>
      <a:endParaRPr lang="en-US"/>
    </a:p>
  </c:txPr>
  <c:externalData r:id="rId1"/>
</c:chartSpace>
</file>

<file path=ppt/charts/chart22.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lineChart>
        <c:grouping val="standard"/>
        <c:ser>
          <c:idx val="0"/>
          <c:order val="0"/>
          <c:tx>
            <c:strRef>
              <c:f>Sheet1!$B$1</c:f>
              <c:strCache>
                <c:ptCount val="1"/>
                <c:pt idx="0">
                  <c:v>1-core</c:v>
                </c:pt>
              </c:strCache>
            </c:strRef>
          </c:tx>
          <c:spPr>
            <a:ln>
              <a:solidFill>
                <a:schemeClr val="tx1"/>
              </a:solidFill>
              <a:prstDash val="sysDash"/>
            </a:ln>
          </c:spPr>
          <c:marker>
            <c:spPr>
              <a:solidFill>
                <a:schemeClr val="tx1"/>
              </a:solidFill>
              <a:ln>
                <a:solidFill>
                  <a:schemeClr val="tx1"/>
                </a:solidFill>
              </a:ln>
            </c:spPr>
          </c:marker>
          <c:cat>
            <c:numRef>
              <c:f>Sheet1!$A$2:$A$21</c:f>
              <c:numCache>
                <c:formatCode>General</c:formatCode>
                <c:ptCount val="20"/>
                <c:pt idx="0">
                  <c:v>0.1</c:v>
                </c:pt>
                <c:pt idx="1">
                  <c:v>0.2</c:v>
                </c:pt>
                <c:pt idx="2">
                  <c:v>0.3</c:v>
                </c:pt>
                <c:pt idx="3">
                  <c:v>0.4</c:v>
                </c:pt>
                <c:pt idx="4">
                  <c:v>0.5</c:v>
                </c:pt>
                <c:pt idx="5">
                  <c:v>0.7</c:v>
                </c:pt>
                <c:pt idx="6">
                  <c:v>0.8</c:v>
                </c:pt>
                <c:pt idx="7">
                  <c:v>0.9</c:v>
                </c:pt>
                <c:pt idx="8">
                  <c:v>1.0</c:v>
                </c:pt>
                <c:pt idx="9">
                  <c:v>2.0</c:v>
                </c:pt>
                <c:pt idx="10">
                  <c:v>3.0</c:v>
                </c:pt>
                <c:pt idx="11">
                  <c:v>4.0</c:v>
                </c:pt>
                <c:pt idx="12">
                  <c:v>5.0</c:v>
                </c:pt>
                <c:pt idx="13">
                  <c:v>6.0</c:v>
                </c:pt>
                <c:pt idx="14">
                  <c:v>7.0</c:v>
                </c:pt>
                <c:pt idx="15">
                  <c:v>8.0</c:v>
                </c:pt>
                <c:pt idx="16">
                  <c:v>9.0</c:v>
                </c:pt>
                <c:pt idx="17">
                  <c:v>10.0</c:v>
                </c:pt>
                <c:pt idx="18">
                  <c:v>11.0</c:v>
                </c:pt>
                <c:pt idx="19">
                  <c:v>12.0</c:v>
                </c:pt>
              </c:numCache>
            </c:numRef>
          </c:cat>
          <c:val>
            <c:numRef>
              <c:f>Sheet1!$B$2:$B$21</c:f>
              <c:numCache>
                <c:formatCode>General</c:formatCode>
                <c:ptCount val="20"/>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pt idx="16">
                  <c:v>1.0</c:v>
                </c:pt>
                <c:pt idx="17">
                  <c:v>1.0</c:v>
                </c:pt>
                <c:pt idx="18">
                  <c:v>1.0</c:v>
                </c:pt>
                <c:pt idx="19">
                  <c:v>1.0</c:v>
                </c:pt>
              </c:numCache>
            </c:numRef>
          </c:val>
        </c:ser>
        <c:ser>
          <c:idx val="1"/>
          <c:order val="1"/>
          <c:tx>
            <c:strRef>
              <c:f>Sheet1!$C$1</c:f>
              <c:strCache>
                <c:ptCount val="1"/>
                <c:pt idx="0">
                  <c:v>Par-Sprint-150mg</c:v>
                </c:pt>
              </c:strCache>
            </c:strRef>
          </c:tx>
          <c:spPr>
            <a:ln>
              <a:solidFill>
                <a:schemeClr val="accent6">
                  <a:lumMod val="50000"/>
                </a:schemeClr>
              </a:solidFill>
            </a:ln>
          </c:spPr>
          <c:marker>
            <c:spPr>
              <a:solidFill>
                <a:schemeClr val="accent6">
                  <a:lumMod val="50000"/>
                </a:schemeClr>
              </a:solidFill>
              <a:ln>
                <a:solidFill>
                  <a:schemeClr val="accent6">
                    <a:lumMod val="50000"/>
                  </a:schemeClr>
                </a:solidFill>
              </a:ln>
            </c:spPr>
          </c:marker>
          <c:cat>
            <c:numRef>
              <c:f>Sheet1!$A$2:$A$21</c:f>
              <c:numCache>
                <c:formatCode>General</c:formatCode>
                <c:ptCount val="20"/>
                <c:pt idx="0">
                  <c:v>0.1</c:v>
                </c:pt>
                <c:pt idx="1">
                  <c:v>0.2</c:v>
                </c:pt>
                <c:pt idx="2">
                  <c:v>0.3</c:v>
                </c:pt>
                <c:pt idx="3">
                  <c:v>0.4</c:v>
                </c:pt>
                <c:pt idx="4">
                  <c:v>0.5</c:v>
                </c:pt>
                <c:pt idx="5">
                  <c:v>0.7</c:v>
                </c:pt>
                <c:pt idx="6">
                  <c:v>0.8</c:v>
                </c:pt>
                <c:pt idx="7">
                  <c:v>0.9</c:v>
                </c:pt>
                <c:pt idx="8">
                  <c:v>1.0</c:v>
                </c:pt>
                <c:pt idx="9">
                  <c:v>2.0</c:v>
                </c:pt>
                <c:pt idx="10">
                  <c:v>3.0</c:v>
                </c:pt>
                <c:pt idx="11">
                  <c:v>4.0</c:v>
                </c:pt>
                <c:pt idx="12">
                  <c:v>5.0</c:v>
                </c:pt>
                <c:pt idx="13">
                  <c:v>6.0</c:v>
                </c:pt>
                <c:pt idx="14">
                  <c:v>7.0</c:v>
                </c:pt>
                <c:pt idx="15">
                  <c:v>8.0</c:v>
                </c:pt>
                <c:pt idx="16">
                  <c:v>9.0</c:v>
                </c:pt>
                <c:pt idx="17">
                  <c:v>10.0</c:v>
                </c:pt>
                <c:pt idx="18">
                  <c:v>11.0</c:v>
                </c:pt>
                <c:pt idx="19">
                  <c:v>12.0</c:v>
                </c:pt>
              </c:numCache>
            </c:numRef>
          </c:cat>
          <c:val>
            <c:numRef>
              <c:f>Sheet1!$C$2:$C$21</c:f>
              <c:numCache>
                <c:formatCode>General</c:formatCode>
                <c:ptCount val="20"/>
                <c:pt idx="0">
                  <c:v>0.768178159378</c:v>
                </c:pt>
                <c:pt idx="1">
                  <c:v>0.994032921811</c:v>
                </c:pt>
                <c:pt idx="2">
                  <c:v>2.74626145683</c:v>
                </c:pt>
                <c:pt idx="3">
                  <c:v>5.18142254862</c:v>
                </c:pt>
                <c:pt idx="4">
                  <c:v>7.09383847917</c:v>
                </c:pt>
                <c:pt idx="5">
                  <c:v>11.889856076</c:v>
                </c:pt>
                <c:pt idx="6">
                  <c:v>13.7378458013</c:v>
                </c:pt>
                <c:pt idx="7">
                  <c:v>14.7294096133</c:v>
                </c:pt>
                <c:pt idx="8">
                  <c:v>15.4889441933</c:v>
                </c:pt>
                <c:pt idx="9">
                  <c:v>15.5304467764</c:v>
                </c:pt>
                <c:pt idx="10">
                  <c:v>15.5332271772</c:v>
                </c:pt>
                <c:pt idx="11">
                  <c:v>15.5349981872</c:v>
                </c:pt>
                <c:pt idx="12">
                  <c:v>15.5437732619</c:v>
                </c:pt>
                <c:pt idx="13">
                  <c:v>15.5406003841</c:v>
                </c:pt>
                <c:pt idx="14">
                  <c:v>15.5702495224</c:v>
                </c:pt>
                <c:pt idx="15">
                  <c:v>15.5469796626</c:v>
                </c:pt>
                <c:pt idx="16">
                  <c:v>15.5099689051</c:v>
                </c:pt>
                <c:pt idx="17">
                  <c:v>15.5636657534</c:v>
                </c:pt>
                <c:pt idx="18">
                  <c:v>15.5328224722</c:v>
                </c:pt>
                <c:pt idx="19">
                  <c:v>15.524070364</c:v>
                </c:pt>
              </c:numCache>
            </c:numRef>
          </c:val>
        </c:ser>
        <c:ser>
          <c:idx val="3"/>
          <c:order val="2"/>
          <c:tx>
            <c:strRef>
              <c:f>Sheet1!$E$1</c:f>
              <c:strCache>
                <c:ptCount val="1"/>
                <c:pt idx="0">
                  <c:v>Par-Sprint-1.5mg</c:v>
                </c:pt>
              </c:strCache>
            </c:strRef>
          </c:tx>
          <c:spPr>
            <a:ln>
              <a:solidFill>
                <a:schemeClr val="tx2"/>
              </a:solidFill>
            </a:ln>
          </c:spPr>
          <c:marker>
            <c:spPr>
              <a:ln>
                <a:solidFill>
                  <a:schemeClr val="tx2"/>
                </a:solidFill>
              </a:ln>
            </c:spPr>
          </c:marker>
          <c:cat>
            <c:numRef>
              <c:f>Sheet1!$A$2:$A$21</c:f>
              <c:numCache>
                <c:formatCode>General</c:formatCode>
                <c:ptCount val="20"/>
                <c:pt idx="0">
                  <c:v>0.1</c:v>
                </c:pt>
                <c:pt idx="1">
                  <c:v>0.2</c:v>
                </c:pt>
                <c:pt idx="2">
                  <c:v>0.3</c:v>
                </c:pt>
                <c:pt idx="3">
                  <c:v>0.4</c:v>
                </c:pt>
                <c:pt idx="4">
                  <c:v>0.5</c:v>
                </c:pt>
                <c:pt idx="5">
                  <c:v>0.7</c:v>
                </c:pt>
                <c:pt idx="6">
                  <c:v>0.8</c:v>
                </c:pt>
                <c:pt idx="7">
                  <c:v>0.9</c:v>
                </c:pt>
                <c:pt idx="8">
                  <c:v>1.0</c:v>
                </c:pt>
                <c:pt idx="9">
                  <c:v>2.0</c:v>
                </c:pt>
                <c:pt idx="10">
                  <c:v>3.0</c:v>
                </c:pt>
                <c:pt idx="11">
                  <c:v>4.0</c:v>
                </c:pt>
                <c:pt idx="12">
                  <c:v>5.0</c:v>
                </c:pt>
                <c:pt idx="13">
                  <c:v>6.0</c:v>
                </c:pt>
                <c:pt idx="14">
                  <c:v>7.0</c:v>
                </c:pt>
                <c:pt idx="15">
                  <c:v>8.0</c:v>
                </c:pt>
                <c:pt idx="16">
                  <c:v>9.0</c:v>
                </c:pt>
                <c:pt idx="17">
                  <c:v>10.0</c:v>
                </c:pt>
                <c:pt idx="18">
                  <c:v>11.0</c:v>
                </c:pt>
                <c:pt idx="19">
                  <c:v>12.0</c:v>
                </c:pt>
              </c:numCache>
            </c:numRef>
          </c:cat>
          <c:val>
            <c:numRef>
              <c:f>Sheet1!$E$2:$E$21</c:f>
              <c:numCache>
                <c:formatCode>General</c:formatCode>
                <c:ptCount val="20"/>
                <c:pt idx="0">
                  <c:v>0.768178159378</c:v>
                </c:pt>
                <c:pt idx="1">
                  <c:v>0.994032921811</c:v>
                </c:pt>
                <c:pt idx="2">
                  <c:v>2.74626145683</c:v>
                </c:pt>
                <c:pt idx="3">
                  <c:v>5.18142254862</c:v>
                </c:pt>
                <c:pt idx="4">
                  <c:v>7.09383847917</c:v>
                </c:pt>
                <c:pt idx="5">
                  <c:v>11.889856076</c:v>
                </c:pt>
                <c:pt idx="6">
                  <c:v>13.7378458013</c:v>
                </c:pt>
                <c:pt idx="7">
                  <c:v>14.7294096133</c:v>
                </c:pt>
                <c:pt idx="8">
                  <c:v>15.4889441933</c:v>
                </c:pt>
                <c:pt idx="9">
                  <c:v>15.5304467764</c:v>
                </c:pt>
                <c:pt idx="10">
                  <c:v>12.0681163189</c:v>
                </c:pt>
                <c:pt idx="11">
                  <c:v>5.424233247609995</c:v>
                </c:pt>
                <c:pt idx="12">
                  <c:v>2.72655611514</c:v>
                </c:pt>
                <c:pt idx="13">
                  <c:v>2.12772504082</c:v>
                </c:pt>
                <c:pt idx="14">
                  <c:v>1.82371546687</c:v>
                </c:pt>
                <c:pt idx="15">
                  <c:v>1.67943424559</c:v>
                </c:pt>
                <c:pt idx="16">
                  <c:v>1.56377661533</c:v>
                </c:pt>
                <c:pt idx="17">
                  <c:v>1.49732449974</c:v>
                </c:pt>
                <c:pt idx="18">
                  <c:v>1.44</c:v>
                </c:pt>
                <c:pt idx="19">
                  <c:v>1.39137323447</c:v>
                </c:pt>
              </c:numCache>
            </c:numRef>
          </c:val>
        </c:ser>
        <c:marker val="1"/>
        <c:axId val="245261272"/>
        <c:axId val="245266472"/>
      </c:lineChart>
      <c:catAx>
        <c:axId val="245261272"/>
        <c:scaling>
          <c:orientation val="minMax"/>
        </c:scaling>
        <c:axPos val="b"/>
        <c:numFmt formatCode="General" sourceLinked="1"/>
        <c:tickLblPos val="none"/>
        <c:crossAx val="245266472"/>
        <c:crossesAt val="0.5"/>
        <c:auto val="1"/>
        <c:lblAlgn val="ctr"/>
        <c:lblOffset val="100"/>
        <c:tickLblSkip val="4"/>
        <c:tickMarkSkip val="1"/>
      </c:catAx>
      <c:valAx>
        <c:axId val="245266472"/>
        <c:scaling>
          <c:logBase val="10.0"/>
          <c:orientation val="minMax"/>
          <c:max val="16.0"/>
          <c:min val="0.5"/>
        </c:scaling>
        <c:axPos val="l"/>
        <c:majorGridlines/>
        <c:numFmt formatCode="General" sourceLinked="1"/>
        <c:majorTickMark val="none"/>
        <c:tickLblPos val="nextTo"/>
        <c:crossAx val="245261272"/>
        <c:crosses val="autoZero"/>
        <c:crossBetween val="midCat"/>
        <c:majorUnit val="2.0"/>
      </c:valAx>
    </c:plotArea>
    <c:legend>
      <c:legendPos val="r"/>
      <c:layout>
        <c:manualLayout>
          <c:xMode val="edge"/>
          <c:yMode val="edge"/>
          <c:x val="0.722905001458151"/>
          <c:y val="0.426000660688424"/>
          <c:w val="0.277094998541849"/>
          <c:h val="0.275776211080449"/>
        </c:manualLayout>
      </c:layout>
    </c:legend>
    <c:plotVisOnly val="1"/>
  </c:chart>
  <c:txPr>
    <a:bodyPr/>
    <a:lstStyle/>
    <a:p>
      <a:pPr>
        <a:defRPr sz="1800"/>
      </a:pPr>
      <a:endParaRPr lang="en-US"/>
    </a:p>
  </c:txPr>
  <c:externalData r:id="rId1"/>
</c:chartSpace>
</file>

<file path=ppt/charts/chart23.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barChart>
        <c:barDir val="col"/>
        <c:grouping val="stacked"/>
        <c:ser>
          <c:idx val="0"/>
          <c:order val="0"/>
          <c:tx>
            <c:v>"Par. Sprint 3mg"</c:v>
          </c:tx>
          <c:spPr>
            <a:solidFill>
              <a:schemeClr val="accent6">
                <a:lumMod val="50000"/>
              </a:schemeClr>
            </a:solidFill>
            <a:ln w="38100" cap="flat" cmpd="sng" algn="ctr">
              <a:solidFill>
                <a:schemeClr val="accent6">
                  <a:lumMod val="50000"/>
                </a:schemeClr>
              </a:solidFill>
              <a:prstDash val="solid"/>
              <a:round/>
              <a:headEnd type="none" w="med" len="med"/>
              <a:tailEnd type="none" w="med" len="med"/>
            </a:ln>
          </c:spPr>
          <c:val>
            <c:numRef>
              <c:f>'proposal-graph-largest-input-16'!$A$3:$A$24</c:f>
              <c:numCache>
                <c:formatCode>General</c:formatCode>
                <c:ptCount val="22"/>
                <c:pt idx="0">
                  <c:v>1.84887086246</c:v>
                </c:pt>
                <c:pt idx="1">
                  <c:v>0.0</c:v>
                </c:pt>
                <c:pt idx="4">
                  <c:v>1.18235950943</c:v>
                </c:pt>
                <c:pt idx="5">
                  <c:v>0.0</c:v>
                </c:pt>
                <c:pt idx="8">
                  <c:v>1.67943424559</c:v>
                </c:pt>
                <c:pt idx="9">
                  <c:v>0.0</c:v>
                </c:pt>
                <c:pt idx="12">
                  <c:v>3.79705774031</c:v>
                </c:pt>
                <c:pt idx="13">
                  <c:v>0.0</c:v>
                </c:pt>
                <c:pt idx="16">
                  <c:v>2.017678193489997</c:v>
                </c:pt>
                <c:pt idx="17">
                  <c:v>0.0</c:v>
                </c:pt>
                <c:pt idx="20">
                  <c:v>4.63660591808</c:v>
                </c:pt>
                <c:pt idx="21">
                  <c:v>0.0</c:v>
                </c:pt>
              </c:numCache>
            </c:numRef>
          </c:val>
        </c:ser>
        <c:ser>
          <c:idx val="1"/>
          <c:order val="1"/>
          <c:tx>
            <c:v>"Par. Sprint 300mg"</c:v>
          </c:tx>
          <c:spPr>
            <a:solidFill>
              <a:schemeClr val="accent6">
                <a:lumMod val="50000"/>
              </a:schemeClr>
            </a:solidFill>
            <a:ln w="38100" cap="flat" cmpd="sng" algn="ctr">
              <a:solidFill>
                <a:schemeClr val="accent6">
                  <a:lumMod val="50000"/>
                </a:schemeClr>
              </a:solidFill>
              <a:prstDash val="solid"/>
              <a:round/>
              <a:headEnd type="none" w="med" len="med"/>
              <a:tailEnd type="none" w="med" len="med"/>
            </a:ln>
          </c:spPr>
          <c:val>
            <c:numRef>
              <c:f>'proposal-graph-largest-input-16'!$B$3:$B$24</c:f>
              <c:numCache>
                <c:formatCode>General</c:formatCode>
                <c:ptCount val="22"/>
                <c:pt idx="0">
                  <c:v>5.59363644304</c:v>
                </c:pt>
                <c:pt idx="1">
                  <c:v>0.0</c:v>
                </c:pt>
                <c:pt idx="4">
                  <c:v>9.87751449094</c:v>
                </c:pt>
                <c:pt idx="5">
                  <c:v>0.0</c:v>
                </c:pt>
                <c:pt idx="8">
                  <c:v>13.867545417</c:v>
                </c:pt>
                <c:pt idx="9">
                  <c:v>0.0</c:v>
                </c:pt>
                <c:pt idx="12">
                  <c:v>5.37585138298</c:v>
                </c:pt>
                <c:pt idx="13">
                  <c:v>0.0</c:v>
                </c:pt>
                <c:pt idx="16">
                  <c:v>4.60729681526</c:v>
                </c:pt>
                <c:pt idx="17">
                  <c:v>0.0</c:v>
                </c:pt>
                <c:pt idx="20">
                  <c:v>7.09403389453</c:v>
                </c:pt>
                <c:pt idx="21">
                  <c:v>0.0</c:v>
                </c:pt>
              </c:numCache>
            </c:numRef>
          </c:val>
        </c:ser>
        <c:gapWidth val="0"/>
        <c:overlap val="100"/>
        <c:axId val="241283256"/>
        <c:axId val="241286248"/>
      </c:barChart>
      <c:catAx>
        <c:axId val="241283256"/>
        <c:scaling>
          <c:orientation val="minMax"/>
        </c:scaling>
        <c:delete val="1"/>
        <c:axPos val="b"/>
        <c:tickLblPos val="nextTo"/>
        <c:crossAx val="241286248"/>
        <c:crossesAt val="0.5"/>
        <c:auto val="1"/>
        <c:lblAlgn val="ctr"/>
        <c:lblOffset val="100"/>
      </c:catAx>
      <c:valAx>
        <c:axId val="241286248"/>
        <c:scaling>
          <c:logBase val="10.0"/>
          <c:orientation val="minMax"/>
          <c:max val="16.0"/>
          <c:min val="1.0"/>
        </c:scaling>
        <c:axPos val="l"/>
        <c:majorGridlines/>
        <c:numFmt formatCode="General" sourceLinked="1"/>
        <c:tickLblPos val="nextTo"/>
        <c:txPr>
          <a:bodyPr/>
          <a:lstStyle/>
          <a:p>
            <a:pPr>
              <a:defRPr sz="1800"/>
            </a:pPr>
            <a:endParaRPr lang="en-US"/>
          </a:p>
        </c:txPr>
        <c:crossAx val="241283256"/>
        <c:crosses val="autoZero"/>
        <c:crossBetween val="between"/>
        <c:majorUnit val="2.0"/>
        <c:minorUnit val="1.0"/>
      </c:valAx>
    </c:plotArea>
    <c:plotVisOnly val="1"/>
  </c:chart>
  <c:txPr>
    <a:bodyPr/>
    <a:lstStyle/>
    <a:p>
      <a:pPr>
        <a:defRPr sz="1600">
          <a:latin typeface="+mn-lt"/>
        </a:defRPr>
      </a:pPr>
      <a:endParaRPr lang="en-US"/>
    </a:p>
  </c:txPr>
  <c:externalData r:id="rId1"/>
</c:chartSpace>
</file>

<file path=ppt/charts/chart24.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barChart>
        <c:barDir val="col"/>
        <c:grouping val="clustered"/>
        <c:ser>
          <c:idx val="0"/>
          <c:order val="0"/>
          <c:spPr>
            <a:solidFill>
              <a:schemeClr val="accent6">
                <a:lumMod val="50000"/>
              </a:schemeClr>
            </a:solidFill>
          </c:spPr>
          <c:val>
            <c:numRef>
              <c:f>'proposal-graph2-speedup.trace'!$C$2:$C$53</c:f>
              <c:numCache>
                <c:formatCode>General</c:formatCode>
                <c:ptCount val="52"/>
                <c:pt idx="0">
                  <c:v>1.0</c:v>
                </c:pt>
                <c:pt idx="1">
                  <c:v>1.8502415691</c:v>
                </c:pt>
                <c:pt idx="2">
                  <c:v>3.19516858679</c:v>
                </c:pt>
                <c:pt idx="3">
                  <c:v>5.168486221249938</c:v>
                </c:pt>
                <c:pt idx="4">
                  <c:v>7.4425073055</c:v>
                </c:pt>
                <c:pt idx="5">
                  <c:v>9.60666020069</c:v>
                </c:pt>
                <c:pt idx="6">
                  <c:v>9.237983080029997</c:v>
                </c:pt>
                <c:pt idx="9">
                  <c:v>1.0</c:v>
                </c:pt>
                <c:pt idx="10">
                  <c:v>1.80923653936</c:v>
                </c:pt>
                <c:pt idx="11">
                  <c:v>3.18471392681</c:v>
                </c:pt>
                <c:pt idx="12">
                  <c:v>5.75912860406</c:v>
                </c:pt>
                <c:pt idx="13">
                  <c:v>11.0598740004</c:v>
                </c:pt>
                <c:pt idx="14">
                  <c:v>10.9599683276</c:v>
                </c:pt>
                <c:pt idx="15">
                  <c:v>9.50419995359</c:v>
                </c:pt>
                <c:pt idx="18">
                  <c:v>1.0</c:v>
                </c:pt>
                <c:pt idx="19">
                  <c:v>1.99626102158</c:v>
                </c:pt>
                <c:pt idx="20">
                  <c:v>3.98551753877</c:v>
                </c:pt>
                <c:pt idx="21">
                  <c:v>7.929986230659964</c:v>
                </c:pt>
                <c:pt idx="22">
                  <c:v>15.5469796626</c:v>
                </c:pt>
                <c:pt idx="23">
                  <c:v>23.6749494379</c:v>
                </c:pt>
                <c:pt idx="24">
                  <c:v>41.4067544215</c:v>
                </c:pt>
                <c:pt idx="27">
                  <c:v>1.0</c:v>
                </c:pt>
                <c:pt idx="28">
                  <c:v>1.5013192117</c:v>
                </c:pt>
                <c:pt idx="29">
                  <c:v>2.77457472702</c:v>
                </c:pt>
                <c:pt idx="30">
                  <c:v>5.58929405736</c:v>
                </c:pt>
                <c:pt idx="31">
                  <c:v>8.16168239334</c:v>
                </c:pt>
                <c:pt idx="32">
                  <c:v>8.60669435158</c:v>
                </c:pt>
                <c:pt idx="33">
                  <c:v>8.204079662529998</c:v>
                </c:pt>
                <c:pt idx="36">
                  <c:v>1.0</c:v>
                </c:pt>
                <c:pt idx="37">
                  <c:v>1.99998038022</c:v>
                </c:pt>
                <c:pt idx="38">
                  <c:v>3.99630748803</c:v>
                </c:pt>
                <c:pt idx="39">
                  <c:v>5.73987808281</c:v>
                </c:pt>
                <c:pt idx="40">
                  <c:v>6.624975008749926</c:v>
                </c:pt>
                <c:pt idx="41">
                  <c:v>7.178406366869964</c:v>
                </c:pt>
                <c:pt idx="42">
                  <c:v>7.49125851752</c:v>
                </c:pt>
                <c:pt idx="45">
                  <c:v>1.0</c:v>
                </c:pt>
                <c:pt idx="46">
                  <c:v>1.91153822362</c:v>
                </c:pt>
                <c:pt idx="47">
                  <c:v>3.12003908672</c:v>
                </c:pt>
                <c:pt idx="48">
                  <c:v>7.552086160879965</c:v>
                </c:pt>
                <c:pt idx="49">
                  <c:v>11.7306398126</c:v>
                </c:pt>
                <c:pt idx="50">
                  <c:v>17.8213536197</c:v>
                </c:pt>
                <c:pt idx="51">
                  <c:v>29.6656645622</c:v>
                </c:pt>
              </c:numCache>
            </c:numRef>
          </c:val>
        </c:ser>
        <c:gapWidth val="10"/>
        <c:axId val="240977592"/>
        <c:axId val="240844824"/>
      </c:barChart>
      <c:catAx>
        <c:axId val="240977592"/>
        <c:scaling>
          <c:orientation val="minMax"/>
        </c:scaling>
        <c:delete val="1"/>
        <c:axPos val="b"/>
        <c:tickLblPos val="nextTo"/>
        <c:crossAx val="240844824"/>
        <c:crossesAt val="0.5"/>
        <c:auto val="1"/>
        <c:lblAlgn val="ctr"/>
        <c:lblOffset val="100"/>
      </c:catAx>
      <c:valAx>
        <c:axId val="240844824"/>
        <c:scaling>
          <c:logBase val="10.0"/>
          <c:orientation val="minMax"/>
          <c:max val="64.0"/>
          <c:min val="0.5"/>
        </c:scaling>
        <c:axPos val="l"/>
        <c:majorGridlines/>
        <c:numFmt formatCode="General" sourceLinked="1"/>
        <c:tickLblPos val="nextTo"/>
        <c:txPr>
          <a:bodyPr/>
          <a:lstStyle/>
          <a:p>
            <a:pPr>
              <a:defRPr sz="1800"/>
            </a:pPr>
            <a:endParaRPr lang="en-US"/>
          </a:p>
        </c:txPr>
        <c:crossAx val="240977592"/>
        <c:crosses val="autoZero"/>
        <c:crossBetween val="between"/>
        <c:majorUnit val="2.0"/>
        <c:minorUnit val="1.0"/>
      </c:valAx>
    </c:plotArea>
    <c:plotVisOnly val="1"/>
  </c:chart>
  <c:externalData r:id="rId1"/>
</c:chartSpace>
</file>

<file path=ppt/charts/chart25.xml><?xml version="1.0" encoding="utf-8"?>
<c:chartSpace xmlns:c="http://schemas.openxmlformats.org/drawingml/2006/chart" xmlns:a="http://schemas.openxmlformats.org/drawingml/2006/main" xmlns:r="http://schemas.openxmlformats.org/officeDocument/2006/relationships">
  <c:date1904 val="1"/>
  <c:lang val="en-US"/>
  <c:style val="18"/>
  <c:chart>
    <c:autoTitleDeleted val="1"/>
    <c:plotArea>
      <c:layout/>
      <c:barChart>
        <c:barDir val="col"/>
        <c:grouping val="clustered"/>
        <c:ser>
          <c:idx val="0"/>
          <c:order val="0"/>
          <c:tx>
            <c:strRef>
              <c:f>'proposal-graph2-energy.trace'!$C$1</c:f>
              <c:strCache>
                <c:ptCount val="1"/>
                <c:pt idx="0">
                  <c:v>sobel</c:v>
                </c:pt>
              </c:strCache>
            </c:strRef>
          </c:tx>
          <c:spPr>
            <a:solidFill>
              <a:schemeClr val="accent6">
                <a:lumMod val="50000"/>
              </a:schemeClr>
            </a:solidFill>
          </c:spPr>
          <c:val>
            <c:numRef>
              <c:f>'proposal-graph2-energy.trace'!$C$2:$C$53</c:f>
              <c:numCache>
                <c:formatCode>General</c:formatCode>
                <c:ptCount val="52"/>
                <c:pt idx="0">
                  <c:v>1.0</c:v>
                </c:pt>
                <c:pt idx="1">
                  <c:v>1.0246676641</c:v>
                </c:pt>
                <c:pt idx="2">
                  <c:v>1.02360612258</c:v>
                </c:pt>
                <c:pt idx="3">
                  <c:v>1.00535385736</c:v>
                </c:pt>
                <c:pt idx="4">
                  <c:v>1.05415298342</c:v>
                </c:pt>
                <c:pt idx="5">
                  <c:v>1.11584718305</c:v>
                </c:pt>
                <c:pt idx="6">
                  <c:v>1.35134011846</c:v>
                </c:pt>
                <c:pt idx="9">
                  <c:v>1.0</c:v>
                </c:pt>
                <c:pt idx="10">
                  <c:v>1.02744720021</c:v>
                </c:pt>
                <c:pt idx="11">
                  <c:v>1.04907164986</c:v>
                </c:pt>
                <c:pt idx="12">
                  <c:v>1.0879366007</c:v>
                </c:pt>
                <c:pt idx="13">
                  <c:v>1.1439354913</c:v>
                </c:pt>
                <c:pt idx="14">
                  <c:v>1.32506752396</c:v>
                </c:pt>
                <c:pt idx="15">
                  <c:v>1.79875329061</c:v>
                </c:pt>
                <c:pt idx="18">
                  <c:v>1.0</c:v>
                </c:pt>
                <c:pt idx="19">
                  <c:v>1.01486440114</c:v>
                </c:pt>
                <c:pt idx="20">
                  <c:v>1.02262894204</c:v>
                </c:pt>
                <c:pt idx="21">
                  <c:v>1.02646359741</c:v>
                </c:pt>
                <c:pt idx="22">
                  <c:v>1.02824417531</c:v>
                </c:pt>
                <c:pt idx="23">
                  <c:v>1.02820247618</c:v>
                </c:pt>
                <c:pt idx="24">
                  <c:v>1.02816788405</c:v>
                </c:pt>
                <c:pt idx="27">
                  <c:v>1.0</c:v>
                </c:pt>
                <c:pt idx="28">
                  <c:v>1.08113062295</c:v>
                </c:pt>
                <c:pt idx="29">
                  <c:v>1.111009906</c:v>
                </c:pt>
                <c:pt idx="30">
                  <c:v>1.21840454402</c:v>
                </c:pt>
                <c:pt idx="31">
                  <c:v>1.30205721718</c:v>
                </c:pt>
                <c:pt idx="32">
                  <c:v>1.54089189243</c:v>
                </c:pt>
                <c:pt idx="33">
                  <c:v>1.66388291805</c:v>
                </c:pt>
                <c:pt idx="36">
                  <c:v>1.0</c:v>
                </c:pt>
                <c:pt idx="37">
                  <c:v>1.00374494981</c:v>
                </c:pt>
                <c:pt idx="38">
                  <c:v>1.01086830051</c:v>
                </c:pt>
                <c:pt idx="39">
                  <c:v>1.03928900822</c:v>
                </c:pt>
                <c:pt idx="40">
                  <c:v>1.02095472836</c:v>
                </c:pt>
                <c:pt idx="41">
                  <c:v>1.29185350126</c:v>
                </c:pt>
                <c:pt idx="42">
                  <c:v>1.6176606227</c:v>
                </c:pt>
                <c:pt idx="45">
                  <c:v>1.0</c:v>
                </c:pt>
                <c:pt idx="46">
                  <c:v>1.003025732</c:v>
                </c:pt>
                <c:pt idx="47">
                  <c:v>1.00477265422</c:v>
                </c:pt>
                <c:pt idx="48">
                  <c:v>1.01545399237</c:v>
                </c:pt>
                <c:pt idx="49">
                  <c:v>1.03376888621</c:v>
                </c:pt>
                <c:pt idx="50">
                  <c:v>1.12690398195</c:v>
                </c:pt>
                <c:pt idx="51">
                  <c:v>1.16633219327</c:v>
                </c:pt>
              </c:numCache>
            </c:numRef>
          </c:val>
        </c:ser>
        <c:gapWidth val="10"/>
        <c:axId val="241380648"/>
        <c:axId val="241383736"/>
      </c:barChart>
      <c:catAx>
        <c:axId val="241380648"/>
        <c:scaling>
          <c:orientation val="minMax"/>
        </c:scaling>
        <c:delete val="1"/>
        <c:axPos val="b"/>
        <c:tickLblPos val="nextTo"/>
        <c:crossAx val="241383736"/>
        <c:crossesAt val="0.5"/>
        <c:auto val="1"/>
        <c:lblAlgn val="ctr"/>
        <c:lblOffset val="100"/>
      </c:catAx>
      <c:valAx>
        <c:axId val="241383736"/>
        <c:scaling>
          <c:orientation val="minMax"/>
          <c:max val="2.0"/>
          <c:min val="0.5"/>
        </c:scaling>
        <c:axPos val="l"/>
        <c:majorGridlines/>
        <c:numFmt formatCode="General" sourceLinked="1"/>
        <c:tickLblPos val="nextTo"/>
        <c:txPr>
          <a:bodyPr/>
          <a:lstStyle/>
          <a:p>
            <a:pPr>
              <a:defRPr sz="1800"/>
            </a:pPr>
            <a:endParaRPr lang="en-US"/>
          </a:p>
        </c:txPr>
        <c:crossAx val="241380648"/>
        <c:crosses val="autoZero"/>
        <c:crossBetween val="between"/>
        <c:majorUnit val="0.25"/>
      </c:valAx>
    </c:plotArea>
    <c:plotVisOnly val="1"/>
  </c:chart>
  <c:externalData r:id="rId1"/>
</c:chartSpace>
</file>

<file path=ppt/charts/chart26.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manualLayout>
          <c:layoutTarget val="inner"/>
          <c:xMode val="edge"/>
          <c:yMode val="edge"/>
          <c:x val="0.105559930008749"/>
          <c:y val="0.0847222222222222"/>
          <c:w val="0.541668197725284"/>
          <c:h val="0.667222222222222"/>
        </c:manualLayout>
      </c:layout>
      <c:scatterChart>
        <c:scatterStyle val="lineMarker"/>
        <c:ser>
          <c:idx val="0"/>
          <c:order val="0"/>
          <c:tx>
            <c:strRef>
              <c:f>'DaSi-cores-energy_1600.txt'!$B$1</c:f>
              <c:strCache>
                <c:ptCount val="1"/>
                <c:pt idx="0">
                  <c:v>feature</c:v>
                </c:pt>
              </c:strCache>
            </c:strRef>
          </c:tx>
          <c:spPr>
            <a:ln>
              <a:solidFill>
                <a:schemeClr val="tx2"/>
              </a:solidFill>
            </a:ln>
          </c:spPr>
          <c:marker>
            <c:spPr>
              <a:solidFill>
                <a:schemeClr val="tx2"/>
              </a:solidFill>
              <a:ln>
                <a:noFill/>
              </a:ln>
            </c:spPr>
          </c:marker>
          <c:xVal>
            <c:numRef>
              <c:f>'DaSi-cores-energy_1600.txt'!$A$2:$A$4</c:f>
              <c:numCache>
                <c:formatCode>General</c:formatCode>
                <c:ptCount val="3"/>
                <c:pt idx="0">
                  <c:v>1.0</c:v>
                </c:pt>
                <c:pt idx="1">
                  <c:v>2.0</c:v>
                </c:pt>
                <c:pt idx="2">
                  <c:v>4.0</c:v>
                </c:pt>
              </c:numCache>
            </c:numRef>
          </c:xVal>
          <c:yVal>
            <c:numRef>
              <c:f>'DaSi-cores-energy_1600.txt'!$B$2:$B$4</c:f>
              <c:numCache>
                <c:formatCode>General</c:formatCode>
                <c:ptCount val="3"/>
                <c:pt idx="0">
                  <c:v>1.0</c:v>
                </c:pt>
                <c:pt idx="1">
                  <c:v>0.684013911258</c:v>
                </c:pt>
                <c:pt idx="2">
                  <c:v>0.537117132367</c:v>
                </c:pt>
              </c:numCache>
            </c:numRef>
          </c:yVal>
        </c:ser>
        <c:ser>
          <c:idx val="1"/>
          <c:order val="1"/>
          <c:tx>
            <c:strRef>
              <c:f>'DaSi-cores-energy_1600.txt'!$C$1</c:f>
              <c:strCache>
                <c:ptCount val="1"/>
                <c:pt idx="0">
                  <c:v>disparity</c:v>
                </c:pt>
              </c:strCache>
            </c:strRef>
          </c:tx>
          <c:xVal>
            <c:numRef>
              <c:f>'DaSi-cores-energy_1600.txt'!$A$2:$A$4</c:f>
              <c:numCache>
                <c:formatCode>General</c:formatCode>
                <c:ptCount val="3"/>
                <c:pt idx="0">
                  <c:v>1.0</c:v>
                </c:pt>
                <c:pt idx="1">
                  <c:v>2.0</c:v>
                </c:pt>
                <c:pt idx="2">
                  <c:v>4.0</c:v>
                </c:pt>
              </c:numCache>
            </c:numRef>
          </c:xVal>
          <c:yVal>
            <c:numRef>
              <c:f>'DaSi-cores-energy_1600.txt'!$C$2:$C$4</c:f>
              <c:numCache>
                <c:formatCode>General</c:formatCode>
                <c:ptCount val="3"/>
                <c:pt idx="0">
                  <c:v>1.0</c:v>
                </c:pt>
                <c:pt idx="1">
                  <c:v>0.718598376864</c:v>
                </c:pt>
                <c:pt idx="2">
                  <c:v>0.61667951384</c:v>
                </c:pt>
              </c:numCache>
            </c:numRef>
          </c:yVal>
        </c:ser>
        <c:ser>
          <c:idx val="2"/>
          <c:order val="2"/>
          <c:tx>
            <c:strRef>
              <c:f>'DaSi-cores-energy_1600.txt'!$D$1</c:f>
              <c:strCache>
                <c:ptCount val="1"/>
                <c:pt idx="0">
                  <c:v>segment</c:v>
                </c:pt>
              </c:strCache>
            </c:strRef>
          </c:tx>
          <c:spPr>
            <a:ln>
              <a:solidFill>
                <a:srgbClr val="FF6600"/>
              </a:solidFill>
            </a:ln>
          </c:spPr>
          <c:marker>
            <c:spPr>
              <a:solidFill>
                <a:srgbClr val="FF6600"/>
              </a:solidFill>
              <a:ln>
                <a:noFill/>
              </a:ln>
            </c:spPr>
          </c:marker>
          <c:xVal>
            <c:numRef>
              <c:f>'DaSi-cores-energy_1600.txt'!$A$2:$A$4</c:f>
              <c:numCache>
                <c:formatCode>General</c:formatCode>
                <c:ptCount val="3"/>
                <c:pt idx="0">
                  <c:v>1.0</c:v>
                </c:pt>
                <c:pt idx="1">
                  <c:v>2.0</c:v>
                </c:pt>
                <c:pt idx="2">
                  <c:v>4.0</c:v>
                </c:pt>
              </c:numCache>
            </c:numRef>
          </c:xVal>
          <c:yVal>
            <c:numRef>
              <c:f>'DaSi-cores-energy_1600.txt'!$D$2:$D$4</c:f>
              <c:numCache>
                <c:formatCode>General</c:formatCode>
                <c:ptCount val="3"/>
                <c:pt idx="0">
                  <c:v>1.0</c:v>
                </c:pt>
                <c:pt idx="1">
                  <c:v>0.758585422338</c:v>
                </c:pt>
                <c:pt idx="2">
                  <c:v>0.641064550672</c:v>
                </c:pt>
              </c:numCache>
            </c:numRef>
          </c:yVal>
        </c:ser>
        <c:axId val="241532376"/>
        <c:axId val="241537528"/>
      </c:scatterChart>
      <c:valAx>
        <c:axId val="241532376"/>
        <c:scaling>
          <c:orientation val="minMax"/>
          <c:max val="4.0"/>
          <c:min val="1.0"/>
        </c:scaling>
        <c:delete val="1"/>
        <c:axPos val="b"/>
        <c:numFmt formatCode="General" sourceLinked="1"/>
        <c:tickLblPos val="nextTo"/>
        <c:crossAx val="241537528"/>
        <c:crosses val="autoZero"/>
        <c:crossBetween val="midCat"/>
        <c:majorUnit val="1.0"/>
      </c:valAx>
      <c:valAx>
        <c:axId val="241537528"/>
        <c:scaling>
          <c:orientation val="minMax"/>
          <c:min val="0.0"/>
        </c:scaling>
        <c:axPos val="l"/>
        <c:majorGridlines/>
        <c:numFmt formatCode="General" sourceLinked="1"/>
        <c:tickLblPos val="nextTo"/>
        <c:crossAx val="241532376"/>
        <c:crosses val="autoZero"/>
        <c:crossBetween val="midCat"/>
        <c:majorUnit val="0.2"/>
      </c:valAx>
    </c:plotArea>
    <c:legend>
      <c:legendPos val="r"/>
      <c:layout/>
    </c:legend>
    <c:plotVisOnly val="1"/>
  </c:chart>
  <c:txPr>
    <a:bodyPr/>
    <a:lstStyle/>
    <a:p>
      <a:pPr>
        <a:defRPr sz="1600"/>
      </a:pPr>
      <a:endParaRPr lang="en-US"/>
    </a:p>
  </c:txPr>
  <c:externalData r:id="rId1"/>
</c:chartSpace>
</file>

<file path=ppt/charts/chart27.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manualLayout>
          <c:layoutTarget val="inner"/>
          <c:xMode val="edge"/>
          <c:yMode val="edge"/>
          <c:x val="0.077760498687664"/>
          <c:y val="0.0847222222222222"/>
          <c:w val="0.555502405949256"/>
          <c:h val="0.670833333333333"/>
        </c:manualLayout>
      </c:layout>
      <c:scatterChart>
        <c:scatterStyle val="lineMarker"/>
        <c:ser>
          <c:idx val="0"/>
          <c:order val="0"/>
          <c:tx>
            <c:strRef>
              <c:f>'[DaSi-cores-speedup_1600.txt]DaSi-cores-speedup_1600.txt'!$B$1</c:f>
              <c:strCache>
                <c:ptCount val="1"/>
                <c:pt idx="0">
                  <c:v>feature</c:v>
                </c:pt>
              </c:strCache>
            </c:strRef>
          </c:tx>
          <c:spPr>
            <a:ln>
              <a:solidFill>
                <a:schemeClr val="tx2"/>
              </a:solidFill>
            </a:ln>
          </c:spPr>
          <c:marker>
            <c:symbol val="diamond"/>
            <c:size val="9"/>
            <c:spPr>
              <a:solidFill>
                <a:schemeClr val="tx2"/>
              </a:solidFill>
              <a:ln>
                <a:noFill/>
              </a:ln>
            </c:spPr>
          </c:marker>
          <c:xVal>
            <c:numRef>
              <c:f>'[DaSi-cores-speedup_1600.txt]DaSi-cores-speedup_1600.txt'!$A$2:$A$4</c:f>
              <c:numCache>
                <c:formatCode>General</c:formatCode>
                <c:ptCount val="3"/>
                <c:pt idx="0">
                  <c:v>1.0</c:v>
                </c:pt>
                <c:pt idx="1">
                  <c:v>2.0</c:v>
                </c:pt>
                <c:pt idx="2">
                  <c:v>4.0</c:v>
                </c:pt>
              </c:numCache>
            </c:numRef>
          </c:xVal>
          <c:yVal>
            <c:numRef>
              <c:f>'[DaSi-cores-speedup_1600.txt]DaSi-cores-speedup_1600.txt'!$B$2:$B$4</c:f>
              <c:numCache>
                <c:formatCode>General</c:formatCode>
                <c:ptCount val="3"/>
                <c:pt idx="0">
                  <c:v>1.0</c:v>
                </c:pt>
                <c:pt idx="1">
                  <c:v>1.99934206451</c:v>
                </c:pt>
                <c:pt idx="2">
                  <c:v>3.93362458522</c:v>
                </c:pt>
              </c:numCache>
            </c:numRef>
          </c:yVal>
        </c:ser>
        <c:ser>
          <c:idx val="1"/>
          <c:order val="1"/>
          <c:tx>
            <c:strRef>
              <c:f>'[DaSi-cores-speedup_1600.txt]DaSi-cores-speedup_1600.txt'!$C$1</c:f>
              <c:strCache>
                <c:ptCount val="1"/>
                <c:pt idx="0">
                  <c:v>disparity</c:v>
                </c:pt>
              </c:strCache>
            </c:strRef>
          </c:tx>
          <c:spPr>
            <a:ln>
              <a:solidFill>
                <a:schemeClr val="accent6"/>
              </a:solidFill>
            </a:ln>
          </c:spPr>
          <c:xVal>
            <c:numRef>
              <c:f>'[DaSi-cores-speedup_1600.txt]DaSi-cores-speedup_1600.txt'!$A$2:$A$4</c:f>
              <c:numCache>
                <c:formatCode>General</c:formatCode>
                <c:ptCount val="3"/>
                <c:pt idx="0">
                  <c:v>1.0</c:v>
                </c:pt>
                <c:pt idx="1">
                  <c:v>2.0</c:v>
                </c:pt>
                <c:pt idx="2">
                  <c:v>4.0</c:v>
                </c:pt>
              </c:numCache>
            </c:numRef>
          </c:xVal>
          <c:yVal>
            <c:numRef>
              <c:f>'[DaSi-cores-speedup_1600.txt]DaSi-cores-speedup_1600.txt'!$C$2:$C$4</c:f>
              <c:numCache>
                <c:formatCode>General</c:formatCode>
                <c:ptCount val="3"/>
                <c:pt idx="0">
                  <c:v>1.0</c:v>
                </c:pt>
                <c:pt idx="1">
                  <c:v>1.9526815218</c:v>
                </c:pt>
                <c:pt idx="2">
                  <c:v>3.310254196399998</c:v>
                </c:pt>
              </c:numCache>
            </c:numRef>
          </c:yVal>
        </c:ser>
        <c:ser>
          <c:idx val="2"/>
          <c:order val="2"/>
          <c:tx>
            <c:strRef>
              <c:f>'[DaSi-cores-speedup_1600.txt]DaSi-cores-speedup_1600.txt'!$D$1</c:f>
              <c:strCache>
                <c:ptCount val="1"/>
                <c:pt idx="0">
                  <c:v>segment</c:v>
                </c:pt>
              </c:strCache>
            </c:strRef>
          </c:tx>
          <c:spPr>
            <a:ln>
              <a:solidFill>
                <a:srgbClr val="FF6600"/>
              </a:solidFill>
            </a:ln>
          </c:spPr>
          <c:marker>
            <c:spPr>
              <a:solidFill>
                <a:srgbClr val="FF6600"/>
              </a:solidFill>
              <a:ln>
                <a:noFill/>
              </a:ln>
            </c:spPr>
          </c:marker>
          <c:xVal>
            <c:numRef>
              <c:f>'[DaSi-cores-speedup_1600.txt]DaSi-cores-speedup_1600.txt'!$A$2:$A$4</c:f>
              <c:numCache>
                <c:formatCode>General</c:formatCode>
                <c:ptCount val="3"/>
                <c:pt idx="0">
                  <c:v>1.0</c:v>
                </c:pt>
                <c:pt idx="1">
                  <c:v>2.0</c:v>
                </c:pt>
                <c:pt idx="2">
                  <c:v>4.0</c:v>
                </c:pt>
              </c:numCache>
            </c:numRef>
          </c:xVal>
          <c:yVal>
            <c:numRef>
              <c:f>'[DaSi-cores-speedup_1600.txt]DaSi-cores-speedup_1600.txt'!$D$2:$D$4</c:f>
              <c:numCache>
                <c:formatCode>General</c:formatCode>
                <c:ptCount val="3"/>
                <c:pt idx="0">
                  <c:v>1.0</c:v>
                </c:pt>
                <c:pt idx="1">
                  <c:v>1.65757466662</c:v>
                </c:pt>
                <c:pt idx="2">
                  <c:v>3.10379997607</c:v>
                </c:pt>
              </c:numCache>
            </c:numRef>
          </c:yVal>
        </c:ser>
        <c:axId val="241570664"/>
        <c:axId val="241576008"/>
      </c:scatterChart>
      <c:valAx>
        <c:axId val="241570664"/>
        <c:scaling>
          <c:orientation val="minMax"/>
          <c:max val="4.0"/>
          <c:min val="1.0"/>
        </c:scaling>
        <c:delete val="1"/>
        <c:axPos val="b"/>
        <c:numFmt formatCode="General" sourceLinked="1"/>
        <c:tickLblPos val="nextTo"/>
        <c:crossAx val="241576008"/>
        <c:crosses val="autoZero"/>
        <c:crossBetween val="midCat"/>
        <c:majorUnit val="2.0"/>
      </c:valAx>
      <c:valAx>
        <c:axId val="241576008"/>
        <c:scaling>
          <c:orientation val="minMax"/>
          <c:max val="4.0"/>
          <c:min val="0.0"/>
        </c:scaling>
        <c:axPos val="l"/>
        <c:majorGridlines/>
        <c:numFmt formatCode="General" sourceLinked="1"/>
        <c:tickLblPos val="nextTo"/>
        <c:txPr>
          <a:bodyPr/>
          <a:lstStyle/>
          <a:p>
            <a:pPr>
              <a:defRPr sz="1600"/>
            </a:pPr>
            <a:endParaRPr lang="en-US"/>
          </a:p>
        </c:txPr>
        <c:crossAx val="241570664"/>
        <c:crosses val="autoZero"/>
        <c:crossBetween val="midCat"/>
        <c:majorUnit val="1.0"/>
      </c:valAx>
    </c:plotArea>
    <c:legend>
      <c:legendPos val="r"/>
      <c:layout/>
      <c:txPr>
        <a:bodyPr/>
        <a:lstStyle/>
        <a:p>
          <a:pPr>
            <a:defRPr sz="1200"/>
          </a:pPr>
          <a:endParaRPr lang="en-US"/>
        </a:p>
      </c:txPr>
    </c:legend>
    <c:plotVisOnly val="1"/>
  </c:chart>
  <c:externalData r:id="rId1"/>
</c:chartSpace>
</file>

<file path=ppt/charts/chart28.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manualLayout>
          <c:layoutTarget val="inner"/>
          <c:xMode val="edge"/>
          <c:yMode val="edge"/>
          <c:x val="0.0962989938757655"/>
          <c:y val="0.0847222222222222"/>
          <c:w val="0.549533464566929"/>
          <c:h val="0.692940179352581"/>
        </c:manualLayout>
      </c:layout>
      <c:scatterChart>
        <c:scatterStyle val="lineMarker"/>
        <c:ser>
          <c:idx val="0"/>
          <c:order val="0"/>
          <c:tx>
            <c:strRef>
              <c:f>'DaSi-cores-power_1600.txt'!$B$1</c:f>
              <c:strCache>
                <c:ptCount val="1"/>
                <c:pt idx="0">
                  <c:v>feature</c:v>
                </c:pt>
              </c:strCache>
            </c:strRef>
          </c:tx>
          <c:spPr>
            <a:ln>
              <a:solidFill>
                <a:schemeClr val="tx2"/>
              </a:solidFill>
            </a:ln>
          </c:spPr>
          <c:marker>
            <c:spPr>
              <a:solidFill>
                <a:schemeClr val="tx2"/>
              </a:solidFill>
              <a:ln>
                <a:noFill/>
              </a:ln>
            </c:spPr>
          </c:marker>
          <c:xVal>
            <c:numRef>
              <c:f>'DaSi-cores-power_1600.txt'!$A$2:$A$4</c:f>
              <c:numCache>
                <c:formatCode>General</c:formatCode>
                <c:ptCount val="3"/>
                <c:pt idx="0">
                  <c:v>1.0</c:v>
                </c:pt>
                <c:pt idx="1">
                  <c:v>2.0</c:v>
                </c:pt>
                <c:pt idx="2">
                  <c:v>4.0</c:v>
                </c:pt>
              </c:numCache>
            </c:numRef>
          </c:xVal>
          <c:yVal>
            <c:numRef>
              <c:f>'DaSi-cores-power_1600.txt'!$B$2:$B$4</c:f>
              <c:numCache>
                <c:formatCode>General</c:formatCode>
                <c:ptCount val="3"/>
                <c:pt idx="0">
                  <c:v>8.499697123</c:v>
                </c:pt>
                <c:pt idx="1">
                  <c:v>11.63114592</c:v>
                </c:pt>
                <c:pt idx="2">
                  <c:v>17.95215264</c:v>
                </c:pt>
              </c:numCache>
            </c:numRef>
          </c:yVal>
        </c:ser>
        <c:ser>
          <c:idx val="1"/>
          <c:order val="1"/>
          <c:tx>
            <c:strRef>
              <c:f>'DaSi-cores-power_1600.txt'!$C$1</c:f>
              <c:strCache>
                <c:ptCount val="1"/>
                <c:pt idx="0">
                  <c:v>disparity</c:v>
                </c:pt>
              </c:strCache>
            </c:strRef>
          </c:tx>
          <c:xVal>
            <c:numRef>
              <c:f>'DaSi-cores-power_1600.txt'!$A$2:$A$4</c:f>
              <c:numCache>
                <c:formatCode>General</c:formatCode>
                <c:ptCount val="3"/>
                <c:pt idx="0">
                  <c:v>1.0</c:v>
                </c:pt>
                <c:pt idx="1">
                  <c:v>2.0</c:v>
                </c:pt>
                <c:pt idx="2">
                  <c:v>4.0</c:v>
                </c:pt>
              </c:numCache>
            </c:numRef>
          </c:xVal>
          <c:yVal>
            <c:numRef>
              <c:f>'DaSi-cores-power_1600.txt'!$C$2:$C$4</c:f>
              <c:numCache>
                <c:formatCode>General</c:formatCode>
                <c:ptCount val="3"/>
                <c:pt idx="0">
                  <c:v>8.729100202</c:v>
                </c:pt>
                <c:pt idx="1">
                  <c:v>12.36670532</c:v>
                </c:pt>
                <c:pt idx="2">
                  <c:v>18.28688338</c:v>
                </c:pt>
              </c:numCache>
            </c:numRef>
          </c:yVal>
        </c:ser>
        <c:ser>
          <c:idx val="2"/>
          <c:order val="2"/>
          <c:tx>
            <c:strRef>
              <c:f>'DaSi-cores-power_1600.txt'!$D$1</c:f>
              <c:strCache>
                <c:ptCount val="1"/>
                <c:pt idx="0">
                  <c:v>segment</c:v>
                </c:pt>
              </c:strCache>
            </c:strRef>
          </c:tx>
          <c:spPr>
            <a:ln>
              <a:solidFill>
                <a:srgbClr val="FF6600"/>
              </a:solidFill>
            </a:ln>
          </c:spPr>
          <c:marker>
            <c:spPr>
              <a:solidFill>
                <a:srgbClr val="FF6600"/>
              </a:solidFill>
              <a:ln>
                <a:noFill/>
              </a:ln>
            </c:spPr>
          </c:marker>
          <c:xVal>
            <c:numRef>
              <c:f>'DaSi-cores-power_1600.txt'!$A$2:$A$4</c:f>
              <c:numCache>
                <c:formatCode>General</c:formatCode>
                <c:ptCount val="3"/>
                <c:pt idx="0">
                  <c:v>1.0</c:v>
                </c:pt>
                <c:pt idx="1">
                  <c:v>2.0</c:v>
                </c:pt>
                <c:pt idx="2">
                  <c:v>4.0</c:v>
                </c:pt>
              </c:numCache>
            </c:numRef>
          </c:xVal>
          <c:yVal>
            <c:numRef>
              <c:f>'DaSi-cores-power_1600.txt'!$D$2:$D$4</c:f>
              <c:numCache>
                <c:formatCode>General</c:formatCode>
                <c:ptCount val="3"/>
                <c:pt idx="0">
                  <c:v>8.615050132</c:v>
                </c:pt>
                <c:pt idx="1">
                  <c:v>10.86826518</c:v>
                </c:pt>
                <c:pt idx="2">
                  <c:v>17.31002543</c:v>
                </c:pt>
              </c:numCache>
            </c:numRef>
          </c:yVal>
        </c:ser>
        <c:axId val="316681256"/>
        <c:axId val="223388552"/>
      </c:scatterChart>
      <c:valAx>
        <c:axId val="316681256"/>
        <c:scaling>
          <c:orientation val="minMax"/>
          <c:max val="4.0"/>
          <c:min val="1.0"/>
        </c:scaling>
        <c:delete val="1"/>
        <c:axPos val="b"/>
        <c:numFmt formatCode="General" sourceLinked="1"/>
        <c:tickLblPos val="nextTo"/>
        <c:crossAx val="223388552"/>
        <c:crosses val="autoZero"/>
        <c:crossBetween val="midCat"/>
        <c:majorUnit val="1.0"/>
      </c:valAx>
      <c:valAx>
        <c:axId val="223388552"/>
        <c:scaling>
          <c:orientation val="minMax"/>
          <c:min val="0.0"/>
        </c:scaling>
        <c:axPos val="l"/>
        <c:majorGridlines/>
        <c:numFmt formatCode="General" sourceLinked="1"/>
        <c:tickLblPos val="nextTo"/>
        <c:txPr>
          <a:bodyPr/>
          <a:lstStyle/>
          <a:p>
            <a:pPr>
              <a:defRPr sz="1600"/>
            </a:pPr>
            <a:endParaRPr lang="en-US"/>
          </a:p>
        </c:txPr>
        <c:crossAx val="316681256"/>
        <c:crosses val="autoZero"/>
        <c:crossBetween val="midCat"/>
        <c:majorUnit val="5.0"/>
      </c:valAx>
    </c:plotArea>
    <c:legend>
      <c:legendPos val="r"/>
      <c:layout/>
      <c:txPr>
        <a:bodyPr/>
        <a:lstStyle/>
        <a:p>
          <a:pPr>
            <a:defRPr sz="1200"/>
          </a:pPr>
          <a:endParaRPr lang="en-US"/>
        </a:p>
      </c:txPr>
    </c:legend>
    <c:plotVisOnly val="1"/>
  </c:chart>
  <c:externalData r:id="rId1"/>
</c:chartSpace>
</file>

<file path=ppt/charts/chart29.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manualLayout>
          <c:layoutTarget val="inner"/>
          <c:xMode val="edge"/>
          <c:yMode val="edge"/>
          <c:x val="0.102244129627303"/>
          <c:y val="0.04"/>
          <c:w val="0.613010142849849"/>
          <c:h val="0.789333333333333"/>
        </c:manualLayout>
      </c:layout>
      <c:scatterChart>
        <c:scatterStyle val="lineMarker"/>
        <c:ser>
          <c:idx val="0"/>
          <c:order val="0"/>
          <c:tx>
            <c:strRef>
              <c:f>'DaSi-freq-energy_1.txt'!$B$1</c:f>
              <c:strCache>
                <c:ptCount val="1"/>
                <c:pt idx="0">
                  <c:v>feature</c:v>
                </c:pt>
              </c:strCache>
            </c:strRef>
          </c:tx>
          <c:spPr>
            <a:ln>
              <a:solidFill>
                <a:schemeClr val="tx2"/>
              </a:solidFill>
            </a:ln>
          </c:spPr>
          <c:marker>
            <c:spPr>
              <a:solidFill>
                <a:schemeClr val="tx2"/>
              </a:solidFill>
              <a:ln>
                <a:noFill/>
              </a:ln>
            </c:spPr>
          </c:marker>
          <c:xVal>
            <c:numRef>
              <c:f>'DaSi-freq-energy_1.txt'!$A$2:$A$6</c:f>
              <c:numCache>
                <c:formatCode>General</c:formatCode>
                <c:ptCount val="5"/>
                <c:pt idx="0">
                  <c:v>1.6</c:v>
                </c:pt>
                <c:pt idx="1">
                  <c:v>2.0</c:v>
                </c:pt>
                <c:pt idx="2">
                  <c:v>2.4</c:v>
                </c:pt>
                <c:pt idx="3">
                  <c:v>2.8</c:v>
                </c:pt>
                <c:pt idx="4">
                  <c:v>3.2</c:v>
                </c:pt>
              </c:numCache>
            </c:numRef>
          </c:xVal>
          <c:yVal>
            <c:numRef>
              <c:f>'DaSi-freq-energy_1.txt'!$B$2:$B$6</c:f>
              <c:numCache>
                <c:formatCode>General</c:formatCode>
                <c:ptCount val="5"/>
                <c:pt idx="0">
                  <c:v>1.0</c:v>
                </c:pt>
                <c:pt idx="1">
                  <c:v>0.958686314</c:v>
                </c:pt>
                <c:pt idx="2">
                  <c:v>0.946377087</c:v>
                </c:pt>
                <c:pt idx="3">
                  <c:v>0.940643575</c:v>
                </c:pt>
                <c:pt idx="4">
                  <c:v>0.960787993</c:v>
                </c:pt>
              </c:numCache>
            </c:numRef>
          </c:yVal>
        </c:ser>
        <c:ser>
          <c:idx val="1"/>
          <c:order val="1"/>
          <c:tx>
            <c:strRef>
              <c:f>'DaSi-freq-energy_1.txt'!$C$1</c:f>
              <c:strCache>
                <c:ptCount val="1"/>
                <c:pt idx="0">
                  <c:v>disparity</c:v>
                </c:pt>
              </c:strCache>
            </c:strRef>
          </c:tx>
          <c:xVal>
            <c:numRef>
              <c:f>'DaSi-freq-energy_1.txt'!$A$2:$A$6</c:f>
              <c:numCache>
                <c:formatCode>General</c:formatCode>
                <c:ptCount val="5"/>
                <c:pt idx="0">
                  <c:v>1.6</c:v>
                </c:pt>
                <c:pt idx="1">
                  <c:v>2.0</c:v>
                </c:pt>
                <c:pt idx="2">
                  <c:v>2.4</c:v>
                </c:pt>
                <c:pt idx="3">
                  <c:v>2.8</c:v>
                </c:pt>
                <c:pt idx="4">
                  <c:v>3.2</c:v>
                </c:pt>
              </c:numCache>
            </c:numRef>
          </c:xVal>
          <c:yVal>
            <c:numRef>
              <c:f>'DaSi-freq-energy_1.txt'!$C$2:$C$6</c:f>
              <c:numCache>
                <c:formatCode>General</c:formatCode>
                <c:ptCount val="5"/>
                <c:pt idx="0">
                  <c:v>1.0</c:v>
                </c:pt>
                <c:pt idx="1">
                  <c:v>0.952670106</c:v>
                </c:pt>
                <c:pt idx="2">
                  <c:v>0.939728372</c:v>
                </c:pt>
                <c:pt idx="3">
                  <c:v>0.960084694</c:v>
                </c:pt>
                <c:pt idx="4">
                  <c:v>0.995676313</c:v>
                </c:pt>
              </c:numCache>
            </c:numRef>
          </c:yVal>
        </c:ser>
        <c:ser>
          <c:idx val="2"/>
          <c:order val="2"/>
          <c:tx>
            <c:strRef>
              <c:f>'DaSi-freq-energy_1.txt'!$D$1</c:f>
              <c:strCache>
                <c:ptCount val="1"/>
                <c:pt idx="0">
                  <c:v>segment</c:v>
                </c:pt>
              </c:strCache>
            </c:strRef>
          </c:tx>
          <c:spPr>
            <a:ln>
              <a:solidFill>
                <a:srgbClr val="FF6600"/>
              </a:solidFill>
            </a:ln>
          </c:spPr>
          <c:marker>
            <c:spPr>
              <a:solidFill>
                <a:srgbClr val="FF6600"/>
              </a:solidFill>
              <a:ln>
                <a:noFill/>
              </a:ln>
            </c:spPr>
          </c:marker>
          <c:xVal>
            <c:numRef>
              <c:f>'DaSi-freq-energy_1.txt'!$A$2:$A$6</c:f>
              <c:numCache>
                <c:formatCode>General</c:formatCode>
                <c:ptCount val="5"/>
                <c:pt idx="0">
                  <c:v>1.6</c:v>
                </c:pt>
                <c:pt idx="1">
                  <c:v>2.0</c:v>
                </c:pt>
                <c:pt idx="2">
                  <c:v>2.4</c:v>
                </c:pt>
                <c:pt idx="3">
                  <c:v>2.8</c:v>
                </c:pt>
                <c:pt idx="4">
                  <c:v>3.2</c:v>
                </c:pt>
              </c:numCache>
            </c:numRef>
          </c:xVal>
          <c:yVal>
            <c:numRef>
              <c:f>'DaSi-freq-energy_1.txt'!$D$2:$D$6</c:f>
              <c:numCache>
                <c:formatCode>General</c:formatCode>
                <c:ptCount val="5"/>
                <c:pt idx="0">
                  <c:v>1.0</c:v>
                </c:pt>
                <c:pt idx="1">
                  <c:v>0.986703941</c:v>
                </c:pt>
                <c:pt idx="2">
                  <c:v>1.009555606</c:v>
                </c:pt>
                <c:pt idx="3">
                  <c:v>1.039863299</c:v>
                </c:pt>
                <c:pt idx="4">
                  <c:v>1.107755248</c:v>
                </c:pt>
              </c:numCache>
            </c:numRef>
          </c:yVal>
        </c:ser>
        <c:axId val="241488616"/>
        <c:axId val="241483368"/>
      </c:scatterChart>
      <c:valAx>
        <c:axId val="241488616"/>
        <c:scaling>
          <c:orientation val="minMax"/>
          <c:max val="3.4"/>
          <c:min val="1.6"/>
        </c:scaling>
        <c:axPos val="b"/>
        <c:numFmt formatCode="General" sourceLinked="1"/>
        <c:tickLblPos val="nextTo"/>
        <c:spPr>
          <a:solidFill>
            <a:srgbClr val="FFFFFF"/>
          </a:solidFill>
        </c:spPr>
        <c:crossAx val="241483368"/>
        <c:crosses val="autoZero"/>
        <c:crossBetween val="midCat"/>
        <c:majorUnit val="0.4"/>
      </c:valAx>
      <c:valAx>
        <c:axId val="241483368"/>
        <c:scaling>
          <c:orientation val="minMax"/>
        </c:scaling>
        <c:axPos val="l"/>
        <c:majorGridlines/>
        <c:numFmt formatCode="General" sourceLinked="1"/>
        <c:tickLblPos val="nextTo"/>
        <c:spPr>
          <a:noFill/>
        </c:spPr>
        <c:crossAx val="241488616"/>
        <c:crosses val="autoZero"/>
        <c:crossBetween val="midCat"/>
        <c:majorUnit val="0.1"/>
        <c:minorUnit val="0.01"/>
      </c:valAx>
      <c:spPr>
        <a:noFill/>
        <a:ln w="25400">
          <a:noFill/>
        </a:ln>
      </c:spPr>
    </c:plotArea>
    <c:legend>
      <c:legendPos val="r"/>
      <c:layout/>
    </c:legend>
    <c:plotVisOnly val="1"/>
  </c:chart>
  <c:txPr>
    <a:bodyPr/>
    <a:lstStyle/>
    <a:p>
      <a:pPr>
        <a:defRPr sz="1600"/>
      </a:pPr>
      <a:endParaRPr lang="en-US"/>
    </a:p>
  </c:txPr>
  <c:externalData r:id="rId1"/>
</c:chartSpace>
</file>

<file path=ppt/charts/chart30.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scatterChart>
        <c:scatterStyle val="lineMarker"/>
        <c:ser>
          <c:idx val="0"/>
          <c:order val="0"/>
          <c:tx>
            <c:strRef>
              <c:f>'DaSi-freq-speedup_1.txt'!$B$1</c:f>
              <c:strCache>
                <c:ptCount val="1"/>
                <c:pt idx="0">
                  <c:v>feature</c:v>
                </c:pt>
              </c:strCache>
            </c:strRef>
          </c:tx>
          <c:spPr>
            <a:ln>
              <a:solidFill>
                <a:schemeClr val="tx2"/>
              </a:solidFill>
            </a:ln>
          </c:spPr>
          <c:marker>
            <c:spPr>
              <a:solidFill>
                <a:schemeClr val="tx2"/>
              </a:solidFill>
              <a:ln>
                <a:noFill/>
              </a:ln>
            </c:spPr>
          </c:marker>
          <c:xVal>
            <c:numRef>
              <c:f>'DaSi-freq-speedup_1.txt'!$A$2:$A$6</c:f>
              <c:numCache>
                <c:formatCode>General</c:formatCode>
                <c:ptCount val="5"/>
                <c:pt idx="0">
                  <c:v>1.6</c:v>
                </c:pt>
                <c:pt idx="1">
                  <c:v>2.0</c:v>
                </c:pt>
                <c:pt idx="2">
                  <c:v>2.4</c:v>
                </c:pt>
                <c:pt idx="3">
                  <c:v>2.8</c:v>
                </c:pt>
                <c:pt idx="4">
                  <c:v>3.2</c:v>
                </c:pt>
              </c:numCache>
            </c:numRef>
          </c:xVal>
          <c:yVal>
            <c:numRef>
              <c:f>'DaSi-freq-speedup_1.txt'!$B$2:$B$6</c:f>
              <c:numCache>
                <c:formatCode>General</c:formatCode>
                <c:ptCount val="5"/>
                <c:pt idx="0">
                  <c:v>1.0</c:v>
                </c:pt>
                <c:pt idx="1">
                  <c:v>1.255108947</c:v>
                </c:pt>
                <c:pt idx="2">
                  <c:v>1.475475625</c:v>
                </c:pt>
                <c:pt idx="3">
                  <c:v>1.760268635</c:v>
                </c:pt>
                <c:pt idx="4">
                  <c:v>2.000468313999999</c:v>
                </c:pt>
              </c:numCache>
            </c:numRef>
          </c:yVal>
        </c:ser>
        <c:ser>
          <c:idx val="1"/>
          <c:order val="1"/>
          <c:tx>
            <c:strRef>
              <c:f>'DaSi-freq-speedup_1.txt'!$C$1</c:f>
              <c:strCache>
                <c:ptCount val="1"/>
                <c:pt idx="0">
                  <c:v>disparity</c:v>
                </c:pt>
              </c:strCache>
            </c:strRef>
          </c:tx>
          <c:xVal>
            <c:numRef>
              <c:f>'DaSi-freq-speedup_1.txt'!$A$2:$A$6</c:f>
              <c:numCache>
                <c:formatCode>General</c:formatCode>
                <c:ptCount val="5"/>
                <c:pt idx="0">
                  <c:v>1.6</c:v>
                </c:pt>
                <c:pt idx="1">
                  <c:v>2.0</c:v>
                </c:pt>
                <c:pt idx="2">
                  <c:v>2.4</c:v>
                </c:pt>
                <c:pt idx="3">
                  <c:v>2.8</c:v>
                </c:pt>
                <c:pt idx="4">
                  <c:v>3.2</c:v>
                </c:pt>
              </c:numCache>
            </c:numRef>
          </c:xVal>
          <c:yVal>
            <c:numRef>
              <c:f>'DaSi-freq-speedup_1.txt'!$C$2:$C$6</c:f>
              <c:numCache>
                <c:formatCode>General</c:formatCode>
                <c:ptCount val="5"/>
                <c:pt idx="0">
                  <c:v>1.0</c:v>
                </c:pt>
                <c:pt idx="1">
                  <c:v>1.249134304</c:v>
                </c:pt>
                <c:pt idx="2">
                  <c:v>1.497279095</c:v>
                </c:pt>
                <c:pt idx="3">
                  <c:v>1.68811385</c:v>
                </c:pt>
                <c:pt idx="4">
                  <c:v>2.086810444</c:v>
                </c:pt>
              </c:numCache>
            </c:numRef>
          </c:yVal>
        </c:ser>
        <c:ser>
          <c:idx val="2"/>
          <c:order val="2"/>
          <c:tx>
            <c:strRef>
              <c:f>'DaSi-freq-speedup_1.txt'!$D$1</c:f>
              <c:strCache>
                <c:ptCount val="1"/>
                <c:pt idx="0">
                  <c:v>segment</c:v>
                </c:pt>
              </c:strCache>
            </c:strRef>
          </c:tx>
          <c:spPr>
            <a:ln>
              <a:solidFill>
                <a:srgbClr val="FF6600"/>
              </a:solidFill>
            </a:ln>
          </c:spPr>
          <c:marker>
            <c:spPr>
              <a:solidFill>
                <a:srgbClr val="FF6600"/>
              </a:solidFill>
              <a:ln>
                <a:noFill/>
              </a:ln>
            </c:spPr>
          </c:marker>
          <c:xVal>
            <c:numRef>
              <c:f>'DaSi-freq-speedup_1.txt'!$A$2:$A$6</c:f>
              <c:numCache>
                <c:formatCode>General</c:formatCode>
                <c:ptCount val="5"/>
                <c:pt idx="0">
                  <c:v>1.6</c:v>
                </c:pt>
                <c:pt idx="1">
                  <c:v>2.0</c:v>
                </c:pt>
                <c:pt idx="2">
                  <c:v>2.4</c:v>
                </c:pt>
                <c:pt idx="3">
                  <c:v>2.8</c:v>
                </c:pt>
                <c:pt idx="4">
                  <c:v>3.2</c:v>
                </c:pt>
              </c:numCache>
            </c:numRef>
          </c:xVal>
          <c:yVal>
            <c:numRef>
              <c:f>'DaSi-freq-speedup_1.txt'!$D$2:$D$6</c:f>
              <c:numCache>
                <c:formatCode>General</c:formatCode>
                <c:ptCount val="5"/>
                <c:pt idx="0">
                  <c:v>1.0</c:v>
                </c:pt>
                <c:pt idx="1">
                  <c:v>1.206908892</c:v>
                </c:pt>
                <c:pt idx="2">
                  <c:v>1.365233556</c:v>
                </c:pt>
                <c:pt idx="3">
                  <c:v>1.53622112</c:v>
                </c:pt>
                <c:pt idx="4">
                  <c:v>1.670713323</c:v>
                </c:pt>
              </c:numCache>
            </c:numRef>
          </c:yVal>
        </c:ser>
        <c:axId val="241633656"/>
        <c:axId val="241638840"/>
      </c:scatterChart>
      <c:valAx>
        <c:axId val="241633656"/>
        <c:scaling>
          <c:orientation val="minMax"/>
          <c:max val="3.4"/>
          <c:min val="1.6"/>
        </c:scaling>
        <c:axPos val="b"/>
        <c:numFmt formatCode="General" sourceLinked="1"/>
        <c:tickLblPos val="nextTo"/>
        <c:crossAx val="241638840"/>
        <c:crosses val="autoZero"/>
        <c:crossBetween val="midCat"/>
        <c:majorUnit val="0.4"/>
      </c:valAx>
      <c:valAx>
        <c:axId val="241638840"/>
        <c:scaling>
          <c:orientation val="minMax"/>
          <c:max val="2.5"/>
          <c:min val="0.0"/>
        </c:scaling>
        <c:axPos val="l"/>
        <c:majorGridlines/>
        <c:numFmt formatCode="General" sourceLinked="1"/>
        <c:tickLblPos val="nextTo"/>
        <c:crossAx val="241633656"/>
        <c:crosses val="autoZero"/>
        <c:crossBetween val="midCat"/>
        <c:majorUnit val="0.5"/>
      </c:valAx>
    </c:plotArea>
    <c:legend>
      <c:legendPos val="r"/>
      <c:layout/>
    </c:legend>
    <c:plotVisOnly val="1"/>
  </c:chart>
  <c:txPr>
    <a:bodyPr/>
    <a:lstStyle/>
    <a:p>
      <a:pPr>
        <a:defRPr sz="1600"/>
      </a:pPr>
      <a:endParaRPr lang="en-US"/>
    </a:p>
  </c:txPr>
  <c:externalData r:id="rId1"/>
</c:chartSpace>
</file>

<file path=ppt/charts/chart31.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scatterChart>
        <c:scatterStyle val="lineMarker"/>
        <c:ser>
          <c:idx val="0"/>
          <c:order val="0"/>
          <c:tx>
            <c:strRef>
              <c:f>'DaSi-freq-power_1.txt'!$B$1</c:f>
              <c:strCache>
                <c:ptCount val="1"/>
                <c:pt idx="0">
                  <c:v>feature</c:v>
                </c:pt>
              </c:strCache>
            </c:strRef>
          </c:tx>
          <c:spPr>
            <a:ln>
              <a:solidFill>
                <a:schemeClr val="tx2"/>
              </a:solidFill>
            </a:ln>
          </c:spPr>
          <c:marker>
            <c:spPr>
              <a:solidFill>
                <a:schemeClr val="tx2"/>
              </a:solidFill>
              <a:ln>
                <a:noFill/>
              </a:ln>
            </c:spPr>
          </c:marker>
          <c:xVal>
            <c:numRef>
              <c:f>'DaSi-freq-power_1.txt'!$A$2:$A$6</c:f>
              <c:numCache>
                <c:formatCode>General</c:formatCode>
                <c:ptCount val="5"/>
                <c:pt idx="0">
                  <c:v>1.6</c:v>
                </c:pt>
                <c:pt idx="1">
                  <c:v>2.0</c:v>
                </c:pt>
                <c:pt idx="2">
                  <c:v>2.4</c:v>
                </c:pt>
                <c:pt idx="3">
                  <c:v>2.8</c:v>
                </c:pt>
                <c:pt idx="4">
                  <c:v>3.2</c:v>
                </c:pt>
              </c:numCache>
            </c:numRef>
          </c:xVal>
          <c:yVal>
            <c:numRef>
              <c:f>'DaSi-freq-power_1.txt'!$B$2:$B$6</c:f>
              <c:numCache>
                <c:formatCode>General</c:formatCode>
                <c:ptCount val="5"/>
                <c:pt idx="0">
                  <c:v>8.499697123</c:v>
                </c:pt>
                <c:pt idx="1">
                  <c:v>10.22762403</c:v>
                </c:pt>
                <c:pt idx="2">
                  <c:v>11.86398068</c:v>
                </c:pt>
                <c:pt idx="3">
                  <c:v>14.08359219</c:v>
                </c:pt>
                <c:pt idx="4">
                  <c:v>16.34606849</c:v>
                </c:pt>
              </c:numCache>
            </c:numRef>
          </c:yVal>
        </c:ser>
        <c:ser>
          <c:idx val="1"/>
          <c:order val="1"/>
          <c:tx>
            <c:strRef>
              <c:f>'DaSi-freq-power_1.txt'!$C$1</c:f>
              <c:strCache>
                <c:ptCount val="1"/>
                <c:pt idx="0">
                  <c:v>disparity</c:v>
                </c:pt>
              </c:strCache>
            </c:strRef>
          </c:tx>
          <c:xVal>
            <c:numRef>
              <c:f>'DaSi-freq-power_1.txt'!$A$2:$A$6</c:f>
              <c:numCache>
                <c:formatCode>General</c:formatCode>
                <c:ptCount val="5"/>
                <c:pt idx="0">
                  <c:v>1.6</c:v>
                </c:pt>
                <c:pt idx="1">
                  <c:v>2.0</c:v>
                </c:pt>
                <c:pt idx="2">
                  <c:v>2.4</c:v>
                </c:pt>
                <c:pt idx="3">
                  <c:v>2.8</c:v>
                </c:pt>
                <c:pt idx="4">
                  <c:v>3.2</c:v>
                </c:pt>
              </c:numCache>
            </c:numRef>
          </c:xVal>
          <c:yVal>
            <c:numRef>
              <c:f>'DaSi-freq-power_1.txt'!$C$2:$C$6</c:f>
              <c:numCache>
                <c:formatCode>General</c:formatCode>
                <c:ptCount val="5"/>
                <c:pt idx="0">
                  <c:v>8.729100202</c:v>
                </c:pt>
                <c:pt idx="1">
                  <c:v>10.4117694</c:v>
                </c:pt>
                <c:pt idx="2">
                  <c:v>12.28215381</c:v>
                </c:pt>
                <c:pt idx="3">
                  <c:v>14.23274219</c:v>
                </c:pt>
                <c:pt idx="4">
                  <c:v>18.2780081</c:v>
                </c:pt>
              </c:numCache>
            </c:numRef>
          </c:yVal>
        </c:ser>
        <c:ser>
          <c:idx val="2"/>
          <c:order val="2"/>
          <c:tx>
            <c:strRef>
              <c:f>'DaSi-freq-power_1.txt'!$D$1</c:f>
              <c:strCache>
                <c:ptCount val="1"/>
                <c:pt idx="0">
                  <c:v>segment</c:v>
                </c:pt>
              </c:strCache>
            </c:strRef>
          </c:tx>
          <c:spPr>
            <a:ln>
              <a:solidFill>
                <a:srgbClr val="FF6600"/>
              </a:solidFill>
            </a:ln>
          </c:spPr>
          <c:marker>
            <c:spPr>
              <a:solidFill>
                <a:srgbClr val="FF6600"/>
              </a:solidFill>
              <a:ln>
                <a:noFill/>
              </a:ln>
            </c:spPr>
          </c:marker>
          <c:xVal>
            <c:numRef>
              <c:f>'DaSi-freq-power_1.txt'!$A$2:$A$6</c:f>
              <c:numCache>
                <c:formatCode>General</c:formatCode>
                <c:ptCount val="5"/>
                <c:pt idx="0">
                  <c:v>1.6</c:v>
                </c:pt>
                <c:pt idx="1">
                  <c:v>2.0</c:v>
                </c:pt>
                <c:pt idx="2">
                  <c:v>2.4</c:v>
                </c:pt>
                <c:pt idx="3">
                  <c:v>2.8</c:v>
                </c:pt>
                <c:pt idx="4">
                  <c:v>3.2</c:v>
                </c:pt>
              </c:numCache>
            </c:numRef>
          </c:xVal>
          <c:yVal>
            <c:numRef>
              <c:f>'DaSi-freq-power_1.txt'!$D$2:$D$6</c:f>
              <c:numCache>
                <c:formatCode>General</c:formatCode>
                <c:ptCount val="5"/>
                <c:pt idx="0">
                  <c:v>8.615050132</c:v>
                </c:pt>
                <c:pt idx="1">
                  <c:v>10.27090455</c:v>
                </c:pt>
                <c:pt idx="2">
                  <c:v>11.88424071</c:v>
                </c:pt>
                <c:pt idx="3">
                  <c:v>13.76480071</c:v>
                </c:pt>
                <c:pt idx="4">
                  <c:v>15.97951502</c:v>
                </c:pt>
              </c:numCache>
            </c:numRef>
          </c:yVal>
        </c:ser>
        <c:axId val="241678888"/>
        <c:axId val="241684024"/>
      </c:scatterChart>
      <c:valAx>
        <c:axId val="241678888"/>
        <c:scaling>
          <c:orientation val="minMax"/>
          <c:max val="3.4"/>
          <c:min val="1.6"/>
        </c:scaling>
        <c:axPos val="b"/>
        <c:numFmt formatCode="General" sourceLinked="1"/>
        <c:tickLblPos val="nextTo"/>
        <c:crossAx val="241684024"/>
        <c:crosses val="autoZero"/>
        <c:crossBetween val="midCat"/>
        <c:majorUnit val="0.4"/>
      </c:valAx>
      <c:valAx>
        <c:axId val="241684024"/>
        <c:scaling>
          <c:orientation val="minMax"/>
          <c:min val="0.0"/>
        </c:scaling>
        <c:axPos val="l"/>
        <c:majorGridlines/>
        <c:numFmt formatCode="General" sourceLinked="1"/>
        <c:tickLblPos val="nextTo"/>
        <c:crossAx val="241678888"/>
        <c:crosses val="autoZero"/>
        <c:crossBetween val="midCat"/>
        <c:majorUnit val="5.0"/>
      </c:valAx>
    </c:plotArea>
    <c:legend>
      <c:legendPos val="r"/>
      <c:layout/>
    </c:legend>
    <c:plotVisOnly val="1"/>
  </c:chart>
  <c:txPr>
    <a:bodyPr/>
    <a:lstStyle/>
    <a:p>
      <a:pPr>
        <a:defRPr sz="1600"/>
      </a:pPr>
      <a:endParaRPr lang="en-US"/>
    </a:p>
  </c:txPr>
  <c:externalData r:id="rId1"/>
</c:chartSpace>
</file>

<file path=ppt/charts/chart32.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scatterChart>
        <c:scatterStyle val="lineMarker"/>
        <c:ser>
          <c:idx val="0"/>
          <c:order val="0"/>
          <c:tx>
            <c:strRef>
              <c:f>'DaSi-freq-energy_1.txt'!$B$1</c:f>
              <c:strCache>
                <c:ptCount val="1"/>
                <c:pt idx="0">
                  <c:v>feature</c:v>
                </c:pt>
              </c:strCache>
            </c:strRef>
          </c:tx>
          <c:spPr>
            <a:ln>
              <a:solidFill>
                <a:schemeClr val="tx2"/>
              </a:solidFill>
            </a:ln>
          </c:spPr>
          <c:marker>
            <c:spPr>
              <a:solidFill>
                <a:schemeClr val="tx2"/>
              </a:solidFill>
              <a:ln>
                <a:noFill/>
              </a:ln>
            </c:spPr>
          </c:marker>
          <c:xVal>
            <c:numRef>
              <c:f>'DaSi-freq-energy_1.txt'!$A$2:$A$6</c:f>
              <c:numCache>
                <c:formatCode>General</c:formatCode>
                <c:ptCount val="5"/>
                <c:pt idx="0">
                  <c:v>1.6</c:v>
                </c:pt>
                <c:pt idx="1">
                  <c:v>2.0</c:v>
                </c:pt>
                <c:pt idx="2">
                  <c:v>2.4</c:v>
                </c:pt>
                <c:pt idx="3">
                  <c:v>2.8</c:v>
                </c:pt>
                <c:pt idx="4">
                  <c:v>3.2</c:v>
                </c:pt>
              </c:numCache>
            </c:numRef>
          </c:xVal>
          <c:yVal>
            <c:numRef>
              <c:f>'DaSi-freq-energy_1.txt'!$B$2:$B$6</c:f>
              <c:numCache>
                <c:formatCode>General</c:formatCode>
                <c:ptCount val="5"/>
                <c:pt idx="0">
                  <c:v>1.0</c:v>
                </c:pt>
                <c:pt idx="1">
                  <c:v>0.958686314</c:v>
                </c:pt>
                <c:pt idx="2">
                  <c:v>0.946377087</c:v>
                </c:pt>
                <c:pt idx="3">
                  <c:v>0.940643575</c:v>
                </c:pt>
                <c:pt idx="4">
                  <c:v>0.960787993</c:v>
                </c:pt>
              </c:numCache>
            </c:numRef>
          </c:yVal>
        </c:ser>
        <c:ser>
          <c:idx val="1"/>
          <c:order val="1"/>
          <c:tx>
            <c:strRef>
              <c:f>'DaSi-freq-energy_1.txt'!$C$1</c:f>
              <c:strCache>
                <c:ptCount val="1"/>
                <c:pt idx="0">
                  <c:v>disparity</c:v>
                </c:pt>
              </c:strCache>
            </c:strRef>
          </c:tx>
          <c:xVal>
            <c:numRef>
              <c:f>'DaSi-freq-energy_1.txt'!$A$2:$A$6</c:f>
              <c:numCache>
                <c:formatCode>General</c:formatCode>
                <c:ptCount val="5"/>
                <c:pt idx="0">
                  <c:v>1.6</c:v>
                </c:pt>
                <c:pt idx="1">
                  <c:v>2.0</c:v>
                </c:pt>
                <c:pt idx="2">
                  <c:v>2.4</c:v>
                </c:pt>
                <c:pt idx="3">
                  <c:v>2.8</c:v>
                </c:pt>
                <c:pt idx="4">
                  <c:v>3.2</c:v>
                </c:pt>
              </c:numCache>
            </c:numRef>
          </c:xVal>
          <c:yVal>
            <c:numRef>
              <c:f>'DaSi-freq-energy_1.txt'!$C$2:$C$6</c:f>
              <c:numCache>
                <c:formatCode>General</c:formatCode>
                <c:ptCount val="5"/>
                <c:pt idx="0">
                  <c:v>1.0</c:v>
                </c:pt>
                <c:pt idx="1">
                  <c:v>0.952670106</c:v>
                </c:pt>
                <c:pt idx="2">
                  <c:v>0.939728372</c:v>
                </c:pt>
                <c:pt idx="3">
                  <c:v>0.960084694</c:v>
                </c:pt>
                <c:pt idx="4">
                  <c:v>0.995676313</c:v>
                </c:pt>
              </c:numCache>
            </c:numRef>
          </c:yVal>
        </c:ser>
        <c:ser>
          <c:idx val="2"/>
          <c:order val="2"/>
          <c:tx>
            <c:strRef>
              <c:f>'DaSi-freq-energy_1.txt'!$D$1</c:f>
              <c:strCache>
                <c:ptCount val="1"/>
                <c:pt idx="0">
                  <c:v>segment</c:v>
                </c:pt>
              </c:strCache>
            </c:strRef>
          </c:tx>
          <c:spPr>
            <a:ln>
              <a:solidFill>
                <a:srgbClr val="FF6600"/>
              </a:solidFill>
            </a:ln>
          </c:spPr>
          <c:marker>
            <c:spPr>
              <a:solidFill>
                <a:srgbClr val="FF6600"/>
              </a:solidFill>
              <a:ln>
                <a:noFill/>
              </a:ln>
            </c:spPr>
          </c:marker>
          <c:xVal>
            <c:numRef>
              <c:f>'DaSi-freq-energy_1.txt'!$A$2:$A$6</c:f>
              <c:numCache>
                <c:formatCode>General</c:formatCode>
                <c:ptCount val="5"/>
                <c:pt idx="0">
                  <c:v>1.6</c:v>
                </c:pt>
                <c:pt idx="1">
                  <c:v>2.0</c:v>
                </c:pt>
                <c:pt idx="2">
                  <c:v>2.4</c:v>
                </c:pt>
                <c:pt idx="3">
                  <c:v>2.8</c:v>
                </c:pt>
                <c:pt idx="4">
                  <c:v>3.2</c:v>
                </c:pt>
              </c:numCache>
            </c:numRef>
          </c:xVal>
          <c:yVal>
            <c:numRef>
              <c:f>'DaSi-freq-energy_1.txt'!$D$2:$D$6</c:f>
              <c:numCache>
                <c:formatCode>General</c:formatCode>
                <c:ptCount val="5"/>
                <c:pt idx="0">
                  <c:v>1.0</c:v>
                </c:pt>
                <c:pt idx="1">
                  <c:v>0.986703941</c:v>
                </c:pt>
                <c:pt idx="2">
                  <c:v>1.009555606</c:v>
                </c:pt>
                <c:pt idx="3">
                  <c:v>1.039863299</c:v>
                </c:pt>
                <c:pt idx="4">
                  <c:v>1.107755248</c:v>
                </c:pt>
              </c:numCache>
            </c:numRef>
          </c:yVal>
        </c:ser>
        <c:axId val="241744824"/>
        <c:axId val="241750120"/>
      </c:scatterChart>
      <c:valAx>
        <c:axId val="241744824"/>
        <c:scaling>
          <c:orientation val="minMax"/>
          <c:max val="3.4"/>
          <c:min val="1.6"/>
        </c:scaling>
        <c:axPos val="b"/>
        <c:numFmt formatCode="General" sourceLinked="1"/>
        <c:tickLblPos val="nextTo"/>
        <c:crossAx val="241750120"/>
        <c:crosses val="autoZero"/>
        <c:crossBetween val="midCat"/>
        <c:majorUnit val="0.4"/>
      </c:valAx>
      <c:valAx>
        <c:axId val="241750120"/>
        <c:scaling>
          <c:orientation val="minMax"/>
          <c:min val="0.0"/>
        </c:scaling>
        <c:axPos val="l"/>
        <c:majorGridlines/>
        <c:numFmt formatCode="General" sourceLinked="1"/>
        <c:tickLblPos val="nextTo"/>
        <c:crossAx val="241744824"/>
        <c:crosses val="autoZero"/>
        <c:crossBetween val="midCat"/>
        <c:majorUnit val="0.2"/>
        <c:minorUnit val="0.01"/>
      </c:valAx>
    </c:plotArea>
    <c:plotVisOnly val="1"/>
  </c:chart>
  <c:txPr>
    <a:bodyPr/>
    <a:lstStyle/>
    <a:p>
      <a:pPr>
        <a:defRPr sz="1600"/>
      </a:pPr>
      <a:endParaRPr lang="en-US"/>
    </a:p>
  </c:txPr>
  <c:externalData r:id="rId1"/>
</c:chartSpace>
</file>

<file path=ppt/charts/chart33.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manualLayout>
          <c:layoutTarget val="inner"/>
          <c:xMode val="edge"/>
          <c:yMode val="edge"/>
          <c:x val="0.0816591676040495"/>
          <c:y val="0.0462962962962963"/>
          <c:w val="0.849620672415948"/>
          <c:h val="0.800849008457276"/>
        </c:manualLayout>
      </c:layout>
      <c:scatterChart>
        <c:scatterStyle val="lineMarker"/>
        <c:ser>
          <c:idx val="0"/>
          <c:order val="0"/>
          <c:tx>
            <c:strRef>
              <c:f>'scatter-speedup-energy_barnes.t'!$B$1</c:f>
              <c:strCache>
                <c:ptCount val="1"/>
                <c:pt idx="0">
                  <c:v>1p-1600</c:v>
                </c:pt>
              </c:strCache>
            </c:strRef>
          </c:tx>
          <c:spPr>
            <a:ln w="47625">
              <a:noFill/>
            </a:ln>
          </c:spPr>
          <c:marker>
            <c:symbol val="square"/>
            <c:size val="9"/>
            <c:spPr>
              <a:solidFill>
                <a:srgbClr val="FF0000"/>
              </a:solidFill>
              <a:ln>
                <a:noFill/>
              </a:ln>
            </c:spPr>
          </c:marker>
          <c:xVal>
            <c:numRef>
              <c:f>'scatter-speedup-energy_barnes.t'!$A$2:$A$16</c:f>
              <c:numCache>
                <c:formatCode>General</c:formatCode>
                <c:ptCount val="15"/>
                <c:pt idx="0">
                  <c:v>0.537117132367</c:v>
                </c:pt>
                <c:pt idx="1">
                  <c:v>0.545758731473</c:v>
                </c:pt>
                <c:pt idx="2">
                  <c:v>0.581023319815</c:v>
                </c:pt>
                <c:pt idx="3">
                  <c:v>0.61070814057</c:v>
                </c:pt>
                <c:pt idx="4">
                  <c:v>0.666117604518</c:v>
                </c:pt>
                <c:pt idx="5">
                  <c:v>0.668674235447</c:v>
                </c:pt>
                <c:pt idx="6">
                  <c:v>0.674166284239</c:v>
                </c:pt>
                <c:pt idx="7">
                  <c:v>0.684013911258</c:v>
                </c:pt>
                <c:pt idx="8">
                  <c:v>0.698631197516</c:v>
                </c:pt>
                <c:pt idx="9">
                  <c:v>0.731852045194</c:v>
                </c:pt>
                <c:pt idx="10">
                  <c:v>0.940643575435</c:v>
                </c:pt>
                <c:pt idx="11">
                  <c:v>0.946377086664</c:v>
                </c:pt>
                <c:pt idx="12">
                  <c:v>0.958686314337</c:v>
                </c:pt>
                <c:pt idx="13">
                  <c:v>0.960787993013</c:v>
                </c:pt>
                <c:pt idx="14">
                  <c:v>1.0</c:v>
                </c:pt>
              </c:numCache>
            </c:numRef>
          </c:xVal>
          <c:yVal>
            <c:numRef>
              <c:f>'scatter-speedup-energy_barnes.t'!$B$2:$B$16</c:f>
              <c:numCache>
                <c:formatCode>General</c:formatCode>
                <c:ptCount val="15"/>
                <c:pt idx="14">
                  <c:v>1.0</c:v>
                </c:pt>
              </c:numCache>
            </c:numRef>
          </c:yVal>
        </c:ser>
        <c:ser>
          <c:idx val="4"/>
          <c:order val="1"/>
          <c:tx>
            <c:strRef>
              <c:f>'scatter-speedup-energy_barnes.t'!$F$1</c:f>
              <c:strCache>
                <c:ptCount val="1"/>
                <c:pt idx="0">
                  <c:v>1p-3200</c:v>
                </c:pt>
              </c:strCache>
            </c:strRef>
          </c:tx>
          <c:spPr>
            <a:ln w="47625">
              <a:noFill/>
            </a:ln>
          </c:spPr>
          <c:marker>
            <c:symbol val="circle"/>
            <c:size val="9"/>
            <c:spPr>
              <a:solidFill>
                <a:srgbClr val="FF0000"/>
              </a:solidFill>
              <a:ln>
                <a:noFill/>
              </a:ln>
            </c:spPr>
          </c:marker>
          <c:xVal>
            <c:numRef>
              <c:f>'scatter-speedup-energy_barnes.t'!$A$2:$A$16</c:f>
              <c:numCache>
                <c:formatCode>General</c:formatCode>
                <c:ptCount val="15"/>
                <c:pt idx="0">
                  <c:v>0.537117132367</c:v>
                </c:pt>
                <c:pt idx="1">
                  <c:v>0.545758731473</c:v>
                </c:pt>
                <c:pt idx="2">
                  <c:v>0.581023319815</c:v>
                </c:pt>
                <c:pt idx="3">
                  <c:v>0.61070814057</c:v>
                </c:pt>
                <c:pt idx="4">
                  <c:v>0.666117604518</c:v>
                </c:pt>
                <c:pt idx="5">
                  <c:v>0.668674235447</c:v>
                </c:pt>
                <c:pt idx="6">
                  <c:v>0.674166284239</c:v>
                </c:pt>
                <c:pt idx="7">
                  <c:v>0.684013911258</c:v>
                </c:pt>
                <c:pt idx="8">
                  <c:v>0.698631197516</c:v>
                </c:pt>
                <c:pt idx="9">
                  <c:v>0.731852045194</c:v>
                </c:pt>
                <c:pt idx="10">
                  <c:v>0.940643575435</c:v>
                </c:pt>
                <c:pt idx="11">
                  <c:v>0.946377086664</c:v>
                </c:pt>
                <c:pt idx="12">
                  <c:v>0.958686314337</c:v>
                </c:pt>
                <c:pt idx="13">
                  <c:v>0.960787993013</c:v>
                </c:pt>
                <c:pt idx="14">
                  <c:v>1.0</c:v>
                </c:pt>
              </c:numCache>
            </c:numRef>
          </c:xVal>
          <c:yVal>
            <c:numRef>
              <c:f>'scatter-speedup-energy_barnes.t'!$F$2:$F$16</c:f>
              <c:numCache>
                <c:formatCode>General</c:formatCode>
                <c:ptCount val="15"/>
                <c:pt idx="13">
                  <c:v>2.000468314059999</c:v>
                </c:pt>
              </c:numCache>
            </c:numRef>
          </c:yVal>
        </c:ser>
        <c:ser>
          <c:idx val="10"/>
          <c:order val="2"/>
          <c:tx>
            <c:strRef>
              <c:f>'scatter-speedup-energy_barnes.t'!$L$1</c:f>
              <c:strCache>
                <c:ptCount val="1"/>
                <c:pt idx="0">
                  <c:v>4p-1600</c:v>
                </c:pt>
              </c:strCache>
            </c:strRef>
          </c:tx>
          <c:spPr>
            <a:ln w="47625">
              <a:noFill/>
            </a:ln>
          </c:spPr>
          <c:marker>
            <c:symbol val="square"/>
            <c:size val="9"/>
            <c:spPr>
              <a:solidFill>
                <a:srgbClr val="FF0000"/>
              </a:solidFill>
              <a:ln>
                <a:noFill/>
              </a:ln>
            </c:spPr>
          </c:marker>
          <c:xVal>
            <c:numRef>
              <c:f>'scatter-speedup-energy_barnes.t'!$A$2:$A$16</c:f>
              <c:numCache>
                <c:formatCode>General</c:formatCode>
                <c:ptCount val="15"/>
                <c:pt idx="0">
                  <c:v>0.537117132367</c:v>
                </c:pt>
                <c:pt idx="1">
                  <c:v>0.545758731473</c:v>
                </c:pt>
                <c:pt idx="2">
                  <c:v>0.581023319815</c:v>
                </c:pt>
                <c:pt idx="3">
                  <c:v>0.61070814057</c:v>
                </c:pt>
                <c:pt idx="4">
                  <c:v>0.666117604518</c:v>
                </c:pt>
                <c:pt idx="5">
                  <c:v>0.668674235447</c:v>
                </c:pt>
                <c:pt idx="6">
                  <c:v>0.674166284239</c:v>
                </c:pt>
                <c:pt idx="7">
                  <c:v>0.684013911258</c:v>
                </c:pt>
                <c:pt idx="8">
                  <c:v>0.698631197516</c:v>
                </c:pt>
                <c:pt idx="9">
                  <c:v>0.731852045194</c:v>
                </c:pt>
                <c:pt idx="10">
                  <c:v>0.940643575435</c:v>
                </c:pt>
                <c:pt idx="11">
                  <c:v>0.946377086664</c:v>
                </c:pt>
                <c:pt idx="12">
                  <c:v>0.958686314337</c:v>
                </c:pt>
                <c:pt idx="13">
                  <c:v>0.960787993013</c:v>
                </c:pt>
                <c:pt idx="14">
                  <c:v>1.0</c:v>
                </c:pt>
              </c:numCache>
            </c:numRef>
          </c:xVal>
          <c:yVal>
            <c:numRef>
              <c:f>'scatter-speedup-energy_barnes.t'!$L$2:$L$16</c:f>
              <c:numCache>
                <c:formatCode>General</c:formatCode>
                <c:ptCount val="15"/>
                <c:pt idx="0">
                  <c:v>3.93362458522</c:v>
                </c:pt>
              </c:numCache>
            </c:numRef>
          </c:yVal>
        </c:ser>
        <c:ser>
          <c:idx val="14"/>
          <c:order val="3"/>
          <c:tx>
            <c:strRef>
              <c:f>'scatter-speedup-energy_barnes.t'!$P$1</c:f>
              <c:strCache>
                <c:ptCount val="1"/>
                <c:pt idx="0">
                  <c:v>4p-3200</c:v>
                </c:pt>
              </c:strCache>
            </c:strRef>
          </c:tx>
          <c:spPr>
            <a:ln w="47625">
              <a:noFill/>
            </a:ln>
          </c:spPr>
          <c:marker>
            <c:symbol val="circle"/>
            <c:size val="9"/>
            <c:spPr>
              <a:solidFill>
                <a:srgbClr val="FF0000"/>
              </a:solidFill>
              <a:ln>
                <a:noFill/>
              </a:ln>
            </c:spPr>
          </c:marker>
          <c:xVal>
            <c:numRef>
              <c:f>'scatter-speedup-energy_barnes.t'!$A$2:$A$16</c:f>
              <c:numCache>
                <c:formatCode>General</c:formatCode>
                <c:ptCount val="15"/>
                <c:pt idx="0">
                  <c:v>0.537117132367</c:v>
                </c:pt>
                <c:pt idx="1">
                  <c:v>0.545758731473</c:v>
                </c:pt>
                <c:pt idx="2">
                  <c:v>0.581023319815</c:v>
                </c:pt>
                <c:pt idx="3">
                  <c:v>0.61070814057</c:v>
                </c:pt>
                <c:pt idx="4">
                  <c:v>0.666117604518</c:v>
                </c:pt>
                <c:pt idx="5">
                  <c:v>0.668674235447</c:v>
                </c:pt>
                <c:pt idx="6">
                  <c:v>0.674166284239</c:v>
                </c:pt>
                <c:pt idx="7">
                  <c:v>0.684013911258</c:v>
                </c:pt>
                <c:pt idx="8">
                  <c:v>0.698631197516</c:v>
                </c:pt>
                <c:pt idx="9">
                  <c:v>0.731852045194</c:v>
                </c:pt>
                <c:pt idx="10">
                  <c:v>0.940643575435</c:v>
                </c:pt>
                <c:pt idx="11">
                  <c:v>0.946377086664</c:v>
                </c:pt>
                <c:pt idx="12">
                  <c:v>0.958686314337</c:v>
                </c:pt>
                <c:pt idx="13">
                  <c:v>0.960787993013</c:v>
                </c:pt>
                <c:pt idx="14">
                  <c:v>1.0</c:v>
                </c:pt>
              </c:numCache>
            </c:numRef>
          </c:xVal>
          <c:yVal>
            <c:numRef>
              <c:f>'scatter-speedup-energy_barnes.t'!$P$2:$P$16</c:f>
              <c:numCache>
                <c:formatCode>General</c:formatCode>
                <c:ptCount val="15"/>
                <c:pt idx="4">
                  <c:v>7.86242368311</c:v>
                </c:pt>
              </c:numCache>
            </c:numRef>
          </c:yVal>
        </c:ser>
        <c:axId val="241431880"/>
        <c:axId val="241850104"/>
      </c:scatterChart>
      <c:valAx>
        <c:axId val="241431880"/>
        <c:scaling>
          <c:orientation val="minMax"/>
          <c:max val="1.5"/>
        </c:scaling>
        <c:axPos val="b"/>
        <c:numFmt formatCode="General" sourceLinked="1"/>
        <c:tickLblPos val="nextTo"/>
        <c:txPr>
          <a:bodyPr/>
          <a:lstStyle/>
          <a:p>
            <a:pPr>
              <a:defRPr sz="1600"/>
            </a:pPr>
            <a:endParaRPr lang="en-US"/>
          </a:p>
        </c:txPr>
        <c:crossAx val="241850104"/>
        <c:crosses val="autoZero"/>
        <c:crossBetween val="midCat"/>
        <c:majorUnit val="0.5"/>
        <c:minorUnit val="0.1"/>
      </c:valAx>
      <c:valAx>
        <c:axId val="241850104"/>
        <c:scaling>
          <c:orientation val="minMax"/>
          <c:max val="8.0"/>
        </c:scaling>
        <c:axPos val="l"/>
        <c:majorGridlines/>
        <c:numFmt formatCode="General" sourceLinked="1"/>
        <c:tickLblPos val="nextTo"/>
        <c:txPr>
          <a:bodyPr/>
          <a:lstStyle/>
          <a:p>
            <a:pPr>
              <a:defRPr sz="1600"/>
            </a:pPr>
            <a:endParaRPr lang="en-US"/>
          </a:p>
        </c:txPr>
        <c:crossAx val="241431880"/>
        <c:crosses val="autoZero"/>
        <c:crossBetween val="midCat"/>
      </c:valAx>
    </c:plotArea>
    <c:plotVisOnly val="1"/>
  </c:chart>
  <c:externalData r:id="rId1"/>
</c:chartSpace>
</file>

<file path=ppt/charts/chart34.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scatterChart>
        <c:scatterStyle val="lineMarker"/>
        <c:ser>
          <c:idx val="0"/>
          <c:order val="0"/>
          <c:tx>
            <c:strRef>
              <c:f>'scatter-speedup-power_barnes.tx'!$B$1</c:f>
              <c:strCache>
                <c:ptCount val="1"/>
                <c:pt idx="0">
                  <c:v>1p-1600</c:v>
                </c:pt>
              </c:strCache>
            </c:strRef>
          </c:tx>
          <c:spPr>
            <a:ln w="47625">
              <a:noFill/>
            </a:ln>
          </c:spPr>
          <c:marker>
            <c:symbol val="square"/>
            <c:size val="9"/>
            <c:spPr>
              <a:solidFill>
                <a:srgbClr val="FF0000"/>
              </a:solidFill>
              <a:ln>
                <a:noFill/>
              </a:ln>
            </c:spPr>
          </c:marker>
          <c:xVal>
            <c:numRef>
              <c:f>'scatter-speedup-power_barnes.tx'!$A$2:$A$16</c:f>
              <c:numCache>
                <c:formatCode>General</c:formatCode>
                <c:ptCount val="15"/>
                <c:pt idx="0">
                  <c:v>1.0</c:v>
                </c:pt>
                <c:pt idx="1">
                  <c:v>1.20329276251</c:v>
                </c:pt>
                <c:pt idx="2">
                  <c:v>1.36841886851</c:v>
                </c:pt>
                <c:pt idx="3">
                  <c:v>1.39581216967</c:v>
                </c:pt>
                <c:pt idx="4">
                  <c:v>1.6569522403</c:v>
                </c:pt>
                <c:pt idx="5">
                  <c:v>1.6812990752</c:v>
                </c:pt>
                <c:pt idx="6">
                  <c:v>1.92313540711</c:v>
                </c:pt>
                <c:pt idx="7">
                  <c:v>1.99154253476</c:v>
                </c:pt>
                <c:pt idx="8">
                  <c:v>2.11209321675</c:v>
                </c:pt>
                <c:pt idx="9">
                  <c:v>2.50229399822</c:v>
                </c:pt>
                <c:pt idx="10">
                  <c:v>2.69957396163</c:v>
                </c:pt>
                <c:pt idx="11">
                  <c:v>3.0869731415</c:v>
                </c:pt>
                <c:pt idx="12">
                  <c:v>3.61862152686</c:v>
                </c:pt>
                <c:pt idx="13">
                  <c:v>4.30202019684</c:v>
                </c:pt>
                <c:pt idx="14">
                  <c:v>5.23551144418</c:v>
                </c:pt>
              </c:numCache>
            </c:numRef>
          </c:xVal>
          <c:yVal>
            <c:numRef>
              <c:f>'scatter-speedup-power_barnes.tx'!$B$2:$B$16</c:f>
              <c:numCache>
                <c:formatCode>General</c:formatCode>
                <c:ptCount val="15"/>
                <c:pt idx="0">
                  <c:v>1.0</c:v>
                </c:pt>
              </c:numCache>
            </c:numRef>
          </c:yVal>
        </c:ser>
        <c:ser>
          <c:idx val="4"/>
          <c:order val="1"/>
          <c:tx>
            <c:strRef>
              <c:f>'scatter-speedup-power_barnes.tx'!$F$1</c:f>
              <c:strCache>
                <c:ptCount val="1"/>
                <c:pt idx="0">
                  <c:v>1p-3200</c:v>
                </c:pt>
              </c:strCache>
            </c:strRef>
          </c:tx>
          <c:spPr>
            <a:ln w="47625">
              <a:noFill/>
            </a:ln>
          </c:spPr>
          <c:marker>
            <c:symbol val="circle"/>
            <c:size val="9"/>
            <c:spPr>
              <a:solidFill>
                <a:srgbClr val="FF0000"/>
              </a:solidFill>
              <a:ln>
                <a:solidFill>
                  <a:srgbClr val="FF0000"/>
                </a:solidFill>
              </a:ln>
            </c:spPr>
          </c:marker>
          <c:xVal>
            <c:numRef>
              <c:f>'scatter-speedup-power_barnes.tx'!$A$2:$A$16</c:f>
              <c:numCache>
                <c:formatCode>General</c:formatCode>
                <c:ptCount val="15"/>
                <c:pt idx="0">
                  <c:v>1.0</c:v>
                </c:pt>
                <c:pt idx="1">
                  <c:v>1.20329276251</c:v>
                </c:pt>
                <c:pt idx="2">
                  <c:v>1.36841886851</c:v>
                </c:pt>
                <c:pt idx="3">
                  <c:v>1.39581216967</c:v>
                </c:pt>
                <c:pt idx="4">
                  <c:v>1.6569522403</c:v>
                </c:pt>
                <c:pt idx="5">
                  <c:v>1.6812990752</c:v>
                </c:pt>
                <c:pt idx="6">
                  <c:v>1.92313540711</c:v>
                </c:pt>
                <c:pt idx="7">
                  <c:v>1.99154253476</c:v>
                </c:pt>
                <c:pt idx="8">
                  <c:v>2.11209321675</c:v>
                </c:pt>
                <c:pt idx="9">
                  <c:v>2.50229399822</c:v>
                </c:pt>
                <c:pt idx="10">
                  <c:v>2.69957396163</c:v>
                </c:pt>
                <c:pt idx="11">
                  <c:v>3.0869731415</c:v>
                </c:pt>
                <c:pt idx="12">
                  <c:v>3.61862152686</c:v>
                </c:pt>
                <c:pt idx="13">
                  <c:v>4.30202019684</c:v>
                </c:pt>
                <c:pt idx="14">
                  <c:v>5.23551144418</c:v>
                </c:pt>
              </c:numCache>
            </c:numRef>
          </c:xVal>
          <c:yVal>
            <c:numRef>
              <c:f>'scatter-speedup-power_barnes.tx'!$F$2:$F$16</c:f>
              <c:numCache>
                <c:formatCode>General</c:formatCode>
                <c:ptCount val="15"/>
                <c:pt idx="6">
                  <c:v>2.000468314059999</c:v>
                </c:pt>
              </c:numCache>
            </c:numRef>
          </c:yVal>
        </c:ser>
        <c:ser>
          <c:idx val="10"/>
          <c:order val="2"/>
          <c:tx>
            <c:strRef>
              <c:f>'scatter-speedup-power_barnes.tx'!$L$1</c:f>
              <c:strCache>
                <c:ptCount val="1"/>
                <c:pt idx="0">
                  <c:v>4p-1600</c:v>
                </c:pt>
              </c:strCache>
            </c:strRef>
          </c:tx>
          <c:spPr>
            <a:ln w="47625">
              <a:noFill/>
            </a:ln>
          </c:spPr>
          <c:marker>
            <c:symbol val="square"/>
            <c:size val="9"/>
            <c:spPr>
              <a:solidFill>
                <a:srgbClr val="FF0000"/>
              </a:solidFill>
              <a:ln>
                <a:noFill/>
              </a:ln>
            </c:spPr>
          </c:marker>
          <c:xVal>
            <c:numRef>
              <c:f>'scatter-speedup-power_barnes.tx'!$A$2:$A$16</c:f>
              <c:numCache>
                <c:formatCode>General</c:formatCode>
                <c:ptCount val="15"/>
                <c:pt idx="0">
                  <c:v>1.0</c:v>
                </c:pt>
                <c:pt idx="1">
                  <c:v>1.20329276251</c:v>
                </c:pt>
                <c:pt idx="2">
                  <c:v>1.36841886851</c:v>
                </c:pt>
                <c:pt idx="3">
                  <c:v>1.39581216967</c:v>
                </c:pt>
                <c:pt idx="4">
                  <c:v>1.6569522403</c:v>
                </c:pt>
                <c:pt idx="5">
                  <c:v>1.6812990752</c:v>
                </c:pt>
                <c:pt idx="6">
                  <c:v>1.92313540711</c:v>
                </c:pt>
                <c:pt idx="7">
                  <c:v>1.99154253476</c:v>
                </c:pt>
                <c:pt idx="8">
                  <c:v>2.11209321675</c:v>
                </c:pt>
                <c:pt idx="9">
                  <c:v>2.50229399822</c:v>
                </c:pt>
                <c:pt idx="10">
                  <c:v>2.69957396163</c:v>
                </c:pt>
                <c:pt idx="11">
                  <c:v>3.0869731415</c:v>
                </c:pt>
                <c:pt idx="12">
                  <c:v>3.61862152686</c:v>
                </c:pt>
                <c:pt idx="13">
                  <c:v>4.30202019684</c:v>
                </c:pt>
                <c:pt idx="14">
                  <c:v>5.23551144418</c:v>
                </c:pt>
              </c:numCache>
            </c:numRef>
          </c:xVal>
          <c:yVal>
            <c:numRef>
              <c:f>'scatter-speedup-power_barnes.tx'!$L$2:$L$16</c:f>
              <c:numCache>
                <c:formatCode>General</c:formatCode>
                <c:ptCount val="15"/>
                <c:pt idx="8">
                  <c:v>3.93362458522</c:v>
                </c:pt>
              </c:numCache>
            </c:numRef>
          </c:yVal>
        </c:ser>
        <c:ser>
          <c:idx val="14"/>
          <c:order val="3"/>
          <c:tx>
            <c:strRef>
              <c:f>'scatter-speedup-power_barnes.tx'!$P$1</c:f>
              <c:strCache>
                <c:ptCount val="1"/>
                <c:pt idx="0">
                  <c:v>4p-3200</c:v>
                </c:pt>
              </c:strCache>
            </c:strRef>
          </c:tx>
          <c:spPr>
            <a:ln w="47625">
              <a:noFill/>
            </a:ln>
          </c:spPr>
          <c:marker>
            <c:symbol val="circle"/>
            <c:size val="9"/>
            <c:spPr>
              <a:solidFill>
                <a:srgbClr val="FF0000"/>
              </a:solidFill>
              <a:ln>
                <a:noFill/>
              </a:ln>
            </c:spPr>
          </c:marker>
          <c:xVal>
            <c:numRef>
              <c:f>'scatter-speedup-power_barnes.tx'!$A$2:$A$16</c:f>
              <c:numCache>
                <c:formatCode>General</c:formatCode>
                <c:ptCount val="15"/>
                <c:pt idx="0">
                  <c:v>1.0</c:v>
                </c:pt>
                <c:pt idx="1">
                  <c:v>1.20329276251</c:v>
                </c:pt>
                <c:pt idx="2">
                  <c:v>1.36841886851</c:v>
                </c:pt>
                <c:pt idx="3">
                  <c:v>1.39581216967</c:v>
                </c:pt>
                <c:pt idx="4">
                  <c:v>1.6569522403</c:v>
                </c:pt>
                <c:pt idx="5">
                  <c:v>1.6812990752</c:v>
                </c:pt>
                <c:pt idx="6">
                  <c:v>1.92313540711</c:v>
                </c:pt>
                <c:pt idx="7">
                  <c:v>1.99154253476</c:v>
                </c:pt>
                <c:pt idx="8">
                  <c:v>2.11209321675</c:v>
                </c:pt>
                <c:pt idx="9">
                  <c:v>2.50229399822</c:v>
                </c:pt>
                <c:pt idx="10">
                  <c:v>2.69957396163</c:v>
                </c:pt>
                <c:pt idx="11">
                  <c:v>3.0869731415</c:v>
                </c:pt>
                <c:pt idx="12">
                  <c:v>3.61862152686</c:v>
                </c:pt>
                <c:pt idx="13">
                  <c:v>4.30202019684</c:v>
                </c:pt>
                <c:pt idx="14">
                  <c:v>5.23551144418</c:v>
                </c:pt>
              </c:numCache>
            </c:numRef>
          </c:xVal>
          <c:yVal>
            <c:numRef>
              <c:f>'scatter-speedup-power_barnes.tx'!$P$2:$P$16</c:f>
              <c:numCache>
                <c:formatCode>General</c:formatCode>
                <c:ptCount val="15"/>
                <c:pt idx="14">
                  <c:v>7.86242368311</c:v>
                </c:pt>
              </c:numCache>
            </c:numRef>
          </c:yVal>
        </c:ser>
        <c:axId val="241885752"/>
        <c:axId val="241891688"/>
      </c:scatterChart>
      <c:valAx>
        <c:axId val="241885752"/>
        <c:scaling>
          <c:orientation val="minMax"/>
        </c:scaling>
        <c:axPos val="b"/>
        <c:numFmt formatCode="General" sourceLinked="1"/>
        <c:tickLblPos val="nextTo"/>
        <c:txPr>
          <a:bodyPr/>
          <a:lstStyle/>
          <a:p>
            <a:pPr>
              <a:defRPr sz="1600"/>
            </a:pPr>
            <a:endParaRPr lang="en-US"/>
          </a:p>
        </c:txPr>
        <c:crossAx val="241891688"/>
        <c:crosses val="autoZero"/>
        <c:crossBetween val="midCat"/>
      </c:valAx>
      <c:valAx>
        <c:axId val="241891688"/>
        <c:scaling>
          <c:orientation val="minMax"/>
          <c:max val="8.0"/>
        </c:scaling>
        <c:axPos val="l"/>
        <c:majorGridlines/>
        <c:numFmt formatCode="General" sourceLinked="1"/>
        <c:tickLblPos val="nextTo"/>
        <c:txPr>
          <a:bodyPr/>
          <a:lstStyle/>
          <a:p>
            <a:pPr>
              <a:defRPr sz="1600"/>
            </a:pPr>
            <a:endParaRPr lang="en-US"/>
          </a:p>
        </c:txPr>
        <c:crossAx val="241885752"/>
        <c:crosses val="autoZero"/>
        <c:crossBetween val="midCat"/>
      </c:valAx>
    </c:plotArea>
    <c:plotVisOnly val="1"/>
  </c:chart>
  <c:externalData r:id="rId1"/>
</c:chartSpace>
</file>

<file path=ppt/charts/chart35.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manualLayout>
          <c:layoutTarget val="inner"/>
          <c:xMode val="edge"/>
          <c:yMode val="edge"/>
          <c:x val="0.101145888013998"/>
          <c:y val="0.0740740740740741"/>
          <c:w val="0.856986001749781"/>
          <c:h val="0.799648950131234"/>
        </c:manualLayout>
      </c:layout>
      <c:scatterChart>
        <c:scatterStyle val="lineMarker"/>
        <c:ser>
          <c:idx val="1"/>
          <c:order val="0"/>
          <c:tx>
            <c:strRef>
              <c:f>'sprint_speedup_barnes.txt'!$C$1</c:f>
              <c:strCache>
                <c:ptCount val="1"/>
                <c:pt idx="0">
                  <c:v>4p-3200</c:v>
                </c:pt>
              </c:strCache>
            </c:strRef>
          </c:tx>
          <c:spPr>
            <a:ln>
              <a:solidFill>
                <a:schemeClr val="tx2"/>
              </a:solidFill>
            </a:ln>
          </c:spPr>
          <c:marker>
            <c:spPr>
              <a:solidFill>
                <a:schemeClr val="tx2"/>
              </a:solidFill>
              <a:ln>
                <a:noFill/>
              </a:ln>
            </c:spPr>
          </c:marker>
          <c:xVal>
            <c:numRef>
              <c:f>'sprint_speedup_barnes.txt'!$A$2:$A$12</c:f>
              <c:numCache>
                <c:formatCode>General</c:formatCode>
                <c:ptCount val="11"/>
                <c:pt idx="0">
                  <c:v>0.0</c:v>
                </c:pt>
                <c:pt idx="1">
                  <c:v>10.0</c:v>
                </c:pt>
                <c:pt idx="2">
                  <c:v>20.0</c:v>
                </c:pt>
                <c:pt idx="3">
                  <c:v>30.0</c:v>
                </c:pt>
                <c:pt idx="4">
                  <c:v>40.0</c:v>
                </c:pt>
                <c:pt idx="5">
                  <c:v>50.0</c:v>
                </c:pt>
                <c:pt idx="6">
                  <c:v>60.0</c:v>
                </c:pt>
                <c:pt idx="7">
                  <c:v>70.0</c:v>
                </c:pt>
                <c:pt idx="8">
                  <c:v>80.0</c:v>
                </c:pt>
                <c:pt idx="9">
                  <c:v>90.0</c:v>
                </c:pt>
                <c:pt idx="10">
                  <c:v>1000.0</c:v>
                </c:pt>
              </c:numCache>
            </c:numRef>
          </c:xVal>
          <c:yVal>
            <c:numRef>
              <c:f>'sprint_speedup_barnes.txt'!$C$2:$C$12</c:f>
              <c:numCache>
                <c:formatCode>General</c:formatCode>
                <c:ptCount val="11"/>
                <c:pt idx="0">
                  <c:v>0.909897393439</c:v>
                </c:pt>
                <c:pt idx="1">
                  <c:v>1.06199131105</c:v>
                </c:pt>
                <c:pt idx="2">
                  <c:v>1.27498994558</c:v>
                </c:pt>
                <c:pt idx="3">
                  <c:v>1.59261316826</c:v>
                </c:pt>
                <c:pt idx="4">
                  <c:v>2.12092277049</c:v>
                </c:pt>
                <c:pt idx="5">
                  <c:v>3.1778015188</c:v>
                </c:pt>
                <c:pt idx="6">
                  <c:v>6.29819540708</c:v>
                </c:pt>
                <c:pt idx="7">
                  <c:v>7.29</c:v>
                </c:pt>
                <c:pt idx="8">
                  <c:v>7.343055760139993</c:v>
                </c:pt>
                <c:pt idx="9">
                  <c:v>7.50125413416</c:v>
                </c:pt>
                <c:pt idx="10">
                  <c:v>9.91297333418</c:v>
                </c:pt>
              </c:numCache>
            </c:numRef>
          </c:yVal>
        </c:ser>
        <c:ser>
          <c:idx val="2"/>
          <c:order val="1"/>
          <c:tx>
            <c:strRef>
              <c:f>'sprint_speedup_barnes.txt'!$D$1</c:f>
              <c:strCache>
                <c:ptCount val="1"/>
                <c:pt idx="0">
                  <c:v>1p-1600</c:v>
                </c:pt>
              </c:strCache>
            </c:strRef>
          </c:tx>
          <c:xVal>
            <c:numRef>
              <c:f>'sprint_speedup_barnes.txt'!$A$2:$A$12</c:f>
              <c:numCache>
                <c:formatCode>General</c:formatCode>
                <c:ptCount val="11"/>
                <c:pt idx="0">
                  <c:v>0.0</c:v>
                </c:pt>
                <c:pt idx="1">
                  <c:v>10.0</c:v>
                </c:pt>
                <c:pt idx="2">
                  <c:v>20.0</c:v>
                </c:pt>
                <c:pt idx="3">
                  <c:v>30.0</c:v>
                </c:pt>
                <c:pt idx="4">
                  <c:v>40.0</c:v>
                </c:pt>
                <c:pt idx="5">
                  <c:v>50.0</c:v>
                </c:pt>
                <c:pt idx="6">
                  <c:v>60.0</c:v>
                </c:pt>
                <c:pt idx="7">
                  <c:v>70.0</c:v>
                </c:pt>
                <c:pt idx="8">
                  <c:v>80.0</c:v>
                </c:pt>
                <c:pt idx="9">
                  <c:v>90.0</c:v>
                </c:pt>
                <c:pt idx="10">
                  <c:v>1000.0</c:v>
                </c:pt>
              </c:numCache>
            </c:numRef>
          </c:xVal>
          <c:yVal>
            <c:numRef>
              <c:f>'sprint_speedup_barnes.txt'!$D$2:$D$12</c:f>
              <c:numCache>
                <c:formatCode>General</c:formatCode>
                <c:ptCount val="11"/>
                <c:pt idx="10">
                  <c:v>1.0</c:v>
                </c:pt>
              </c:numCache>
            </c:numRef>
          </c:yVal>
        </c:ser>
        <c:axId val="242054520"/>
        <c:axId val="242057592"/>
      </c:scatterChart>
      <c:valAx>
        <c:axId val="242054520"/>
        <c:scaling>
          <c:orientation val="minMax"/>
          <c:max val="100.0"/>
        </c:scaling>
        <c:axPos val="b"/>
        <c:numFmt formatCode="General" sourceLinked="1"/>
        <c:tickLblPos val="nextTo"/>
        <c:crossAx val="242057592"/>
        <c:crosses val="autoZero"/>
        <c:crossBetween val="midCat"/>
      </c:valAx>
      <c:valAx>
        <c:axId val="242057592"/>
        <c:scaling>
          <c:orientation val="minMax"/>
          <c:max val="8.0"/>
          <c:min val="0.0"/>
        </c:scaling>
        <c:axPos val="l"/>
        <c:majorGridlines/>
        <c:numFmt formatCode="General" sourceLinked="1"/>
        <c:tickLblPos val="nextTo"/>
        <c:crossAx val="242054520"/>
        <c:crosses val="autoZero"/>
        <c:crossBetween val="midCat"/>
        <c:majorUnit val="2.0"/>
      </c:valAx>
    </c:plotArea>
    <c:plotVisOnly val="1"/>
  </c:chart>
  <c:txPr>
    <a:bodyPr/>
    <a:lstStyle/>
    <a:p>
      <a:pPr>
        <a:defRPr sz="1600"/>
      </a:pPr>
      <a:endParaRPr lang="en-US"/>
    </a:p>
  </c:txPr>
  <c:externalData r:id="rId1"/>
</c:chartSpace>
</file>

<file path=ppt/charts/chart36.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manualLayout>
          <c:layoutTarget val="inner"/>
          <c:xMode val="edge"/>
          <c:yMode val="edge"/>
          <c:x val="0.0991336917611096"/>
          <c:y val="0.0763888888888889"/>
          <c:w val="0.864558204307206"/>
          <c:h val="0.701273512685914"/>
        </c:manualLayout>
      </c:layout>
      <c:scatterChart>
        <c:scatterStyle val="lineMarker"/>
        <c:ser>
          <c:idx val="1"/>
          <c:order val="0"/>
          <c:tx>
            <c:strRef>
              <c:f>'sprint_energy_barnes.txt'!$C$1</c:f>
              <c:strCache>
                <c:ptCount val="1"/>
                <c:pt idx="0">
                  <c:v>4p-3200</c:v>
                </c:pt>
              </c:strCache>
            </c:strRef>
          </c:tx>
          <c:spPr>
            <a:ln>
              <a:solidFill>
                <a:schemeClr val="tx2"/>
              </a:solidFill>
            </a:ln>
          </c:spPr>
          <c:marker>
            <c:spPr>
              <a:solidFill>
                <a:schemeClr val="tx2"/>
              </a:solidFill>
              <a:ln>
                <a:noFill/>
              </a:ln>
            </c:spPr>
          </c:marker>
          <c:xVal>
            <c:numRef>
              <c:f>'sprint_energy_barnes.txt'!$A$2:$A$12</c:f>
              <c:numCache>
                <c:formatCode>General</c:formatCode>
                <c:ptCount val="11"/>
                <c:pt idx="0">
                  <c:v>0.0</c:v>
                </c:pt>
                <c:pt idx="1">
                  <c:v>10.0</c:v>
                </c:pt>
                <c:pt idx="2">
                  <c:v>20.0</c:v>
                </c:pt>
                <c:pt idx="3">
                  <c:v>30.0</c:v>
                </c:pt>
                <c:pt idx="4">
                  <c:v>40.0</c:v>
                </c:pt>
                <c:pt idx="5">
                  <c:v>50.0</c:v>
                </c:pt>
                <c:pt idx="6">
                  <c:v>60.0</c:v>
                </c:pt>
                <c:pt idx="7">
                  <c:v>70.0</c:v>
                </c:pt>
                <c:pt idx="8">
                  <c:v>80.0</c:v>
                </c:pt>
                <c:pt idx="9">
                  <c:v>90.0</c:v>
                </c:pt>
                <c:pt idx="10">
                  <c:v>1000.0</c:v>
                </c:pt>
              </c:numCache>
            </c:numRef>
          </c:xVal>
          <c:yVal>
            <c:numRef>
              <c:f>'sprint_energy_barnes.txt'!$C$2:$C$12</c:f>
              <c:numCache>
                <c:formatCode>General</c:formatCode>
                <c:ptCount val="11"/>
                <c:pt idx="0">
                  <c:v>1.20655265</c:v>
                </c:pt>
                <c:pt idx="1">
                  <c:v>1.156165208</c:v>
                </c:pt>
                <c:pt idx="2">
                  <c:v>1.070660722</c:v>
                </c:pt>
                <c:pt idx="3">
                  <c:v>0.894004051</c:v>
                </c:pt>
                <c:pt idx="4">
                  <c:v>0.815211077</c:v>
                </c:pt>
                <c:pt idx="5">
                  <c:v>0.736520938</c:v>
                </c:pt>
                <c:pt idx="6">
                  <c:v>0.66159349</c:v>
                </c:pt>
                <c:pt idx="7">
                  <c:v>0.626067664</c:v>
                </c:pt>
                <c:pt idx="8">
                  <c:v>0.630013919</c:v>
                </c:pt>
                <c:pt idx="9">
                  <c:v>0.631443939</c:v>
                </c:pt>
                <c:pt idx="10">
                  <c:v>0.63370588</c:v>
                </c:pt>
              </c:numCache>
            </c:numRef>
          </c:yVal>
        </c:ser>
        <c:ser>
          <c:idx val="2"/>
          <c:order val="1"/>
          <c:tx>
            <c:strRef>
              <c:f>'sprint_energy_barnes.txt'!$D$1</c:f>
              <c:strCache>
                <c:ptCount val="1"/>
                <c:pt idx="0">
                  <c:v>1p-1600</c:v>
                </c:pt>
              </c:strCache>
            </c:strRef>
          </c:tx>
          <c:xVal>
            <c:numRef>
              <c:f>'sprint_energy_barnes.txt'!$A$2:$A$12</c:f>
              <c:numCache>
                <c:formatCode>General</c:formatCode>
                <c:ptCount val="11"/>
                <c:pt idx="0">
                  <c:v>0.0</c:v>
                </c:pt>
                <c:pt idx="1">
                  <c:v>10.0</c:v>
                </c:pt>
                <c:pt idx="2">
                  <c:v>20.0</c:v>
                </c:pt>
                <c:pt idx="3">
                  <c:v>30.0</c:v>
                </c:pt>
                <c:pt idx="4">
                  <c:v>40.0</c:v>
                </c:pt>
                <c:pt idx="5">
                  <c:v>50.0</c:v>
                </c:pt>
                <c:pt idx="6">
                  <c:v>60.0</c:v>
                </c:pt>
                <c:pt idx="7">
                  <c:v>70.0</c:v>
                </c:pt>
                <c:pt idx="8">
                  <c:v>80.0</c:v>
                </c:pt>
                <c:pt idx="9">
                  <c:v>90.0</c:v>
                </c:pt>
                <c:pt idx="10">
                  <c:v>1000.0</c:v>
                </c:pt>
              </c:numCache>
            </c:numRef>
          </c:xVal>
          <c:yVal>
            <c:numRef>
              <c:f>'sprint_energy_barnes.txt'!$D$2:$D$12</c:f>
              <c:numCache>
                <c:formatCode>General</c:formatCode>
                <c:ptCount val="11"/>
                <c:pt idx="10">
                  <c:v>1.0</c:v>
                </c:pt>
              </c:numCache>
            </c:numRef>
          </c:yVal>
        </c:ser>
        <c:axId val="242100296"/>
        <c:axId val="242103368"/>
      </c:scatterChart>
      <c:valAx>
        <c:axId val="242100296"/>
        <c:scaling>
          <c:orientation val="minMax"/>
          <c:max val="100.0"/>
        </c:scaling>
        <c:axPos val="b"/>
        <c:numFmt formatCode="General" sourceLinked="1"/>
        <c:tickLblPos val="nextTo"/>
        <c:crossAx val="242103368"/>
        <c:crosses val="autoZero"/>
        <c:crossBetween val="midCat"/>
      </c:valAx>
      <c:valAx>
        <c:axId val="242103368"/>
        <c:scaling>
          <c:orientation val="minMax"/>
          <c:max val="1.5"/>
          <c:min val="0.0"/>
        </c:scaling>
        <c:axPos val="l"/>
        <c:majorGridlines/>
        <c:numFmt formatCode="General" sourceLinked="1"/>
        <c:tickLblPos val="nextTo"/>
        <c:crossAx val="242100296"/>
        <c:crosses val="autoZero"/>
        <c:crossBetween val="midCat"/>
      </c:valAx>
      <c:spPr>
        <a:noFill/>
        <a:ln w="25400">
          <a:noFill/>
        </a:ln>
      </c:spPr>
    </c:plotArea>
    <c:plotVisOnly val="1"/>
  </c:chart>
  <c:txPr>
    <a:bodyPr/>
    <a:lstStyle/>
    <a:p>
      <a:pPr>
        <a:defRPr sz="1600"/>
      </a:pPr>
      <a:endParaRPr lang="en-US"/>
    </a:p>
  </c:txPr>
  <c:externalData r:id="rId1"/>
</c:chartSpace>
</file>

<file path=ppt/charts/chart37.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barChart>
        <c:barDir val="col"/>
        <c:grouping val="stacked"/>
        <c:ser>
          <c:idx val="0"/>
          <c:order val="0"/>
          <c:tx>
            <c:v>"Par. Sprint 3mg"</c:v>
          </c:tx>
          <c:spPr>
            <a:solidFill>
              <a:schemeClr val="accent1"/>
            </a:solidFill>
          </c:spPr>
          <c:val>
            <c:numRef>
              <c:f>'proposal-graph-largest-input-16'!$A$3:$A$24</c:f>
              <c:numCache>
                <c:formatCode>General</c:formatCode>
                <c:ptCount val="22"/>
                <c:pt idx="0">
                  <c:v>1.84887086246</c:v>
                </c:pt>
                <c:pt idx="1">
                  <c:v>0.0</c:v>
                </c:pt>
                <c:pt idx="4">
                  <c:v>1.18235950943</c:v>
                </c:pt>
                <c:pt idx="5">
                  <c:v>0.0</c:v>
                </c:pt>
                <c:pt idx="8">
                  <c:v>1.67943424559</c:v>
                </c:pt>
                <c:pt idx="9">
                  <c:v>0.0</c:v>
                </c:pt>
                <c:pt idx="12">
                  <c:v>3.79705774031</c:v>
                </c:pt>
                <c:pt idx="13">
                  <c:v>0.0</c:v>
                </c:pt>
                <c:pt idx="16">
                  <c:v>2.017678193489997</c:v>
                </c:pt>
                <c:pt idx="17">
                  <c:v>0.0</c:v>
                </c:pt>
                <c:pt idx="20">
                  <c:v>4.63660591808</c:v>
                </c:pt>
                <c:pt idx="21">
                  <c:v>0.0</c:v>
                </c:pt>
              </c:numCache>
            </c:numRef>
          </c:val>
        </c:ser>
        <c:ser>
          <c:idx val="1"/>
          <c:order val="1"/>
          <c:tx>
            <c:v>"Par. Sprint 300mg"</c:v>
          </c:tx>
          <c:spPr>
            <a:solidFill>
              <a:schemeClr val="accent6">
                <a:lumMod val="50000"/>
              </a:schemeClr>
            </a:solidFill>
          </c:spPr>
          <c:val>
            <c:numRef>
              <c:f>'proposal-graph-largest-input-16'!$B$3:$B$24</c:f>
              <c:numCache>
                <c:formatCode>General</c:formatCode>
                <c:ptCount val="22"/>
                <c:pt idx="0">
                  <c:v>5.59363644304</c:v>
                </c:pt>
                <c:pt idx="1">
                  <c:v>0.0</c:v>
                </c:pt>
                <c:pt idx="4">
                  <c:v>9.87751449094</c:v>
                </c:pt>
                <c:pt idx="5">
                  <c:v>0.0</c:v>
                </c:pt>
                <c:pt idx="8">
                  <c:v>13.867545417</c:v>
                </c:pt>
                <c:pt idx="9">
                  <c:v>0.0</c:v>
                </c:pt>
                <c:pt idx="12">
                  <c:v>5.37585138298</c:v>
                </c:pt>
                <c:pt idx="13">
                  <c:v>0.0</c:v>
                </c:pt>
                <c:pt idx="16">
                  <c:v>4.60729681526</c:v>
                </c:pt>
                <c:pt idx="17">
                  <c:v>0.0</c:v>
                </c:pt>
                <c:pt idx="20">
                  <c:v>7.09403389453</c:v>
                </c:pt>
                <c:pt idx="21">
                  <c:v>0.0</c:v>
                </c:pt>
              </c:numCache>
            </c:numRef>
          </c:val>
        </c:ser>
        <c:gapWidth val="15"/>
        <c:overlap val="100"/>
        <c:axId val="241198760"/>
        <c:axId val="241195720"/>
      </c:barChart>
      <c:catAx>
        <c:axId val="241198760"/>
        <c:scaling>
          <c:orientation val="minMax"/>
        </c:scaling>
        <c:delete val="1"/>
        <c:axPos val="b"/>
        <c:tickLblPos val="nextTo"/>
        <c:crossAx val="241195720"/>
        <c:crossesAt val="0.5"/>
        <c:auto val="1"/>
        <c:lblAlgn val="ctr"/>
        <c:lblOffset val="100"/>
      </c:catAx>
      <c:valAx>
        <c:axId val="241195720"/>
        <c:scaling>
          <c:logBase val="10.0"/>
          <c:orientation val="minMax"/>
          <c:max val="16.0"/>
          <c:min val="0.5"/>
        </c:scaling>
        <c:axPos val="l"/>
        <c:majorGridlines/>
        <c:numFmt formatCode="General" sourceLinked="1"/>
        <c:tickLblPos val="nextTo"/>
        <c:txPr>
          <a:bodyPr/>
          <a:lstStyle/>
          <a:p>
            <a:pPr>
              <a:defRPr sz="2000"/>
            </a:pPr>
            <a:endParaRPr lang="en-US"/>
          </a:p>
        </c:txPr>
        <c:crossAx val="241198760"/>
        <c:crosses val="autoZero"/>
        <c:crossBetween val="between"/>
        <c:majorUnit val="2.0"/>
        <c:minorUnit val="1.0"/>
      </c:valAx>
    </c:plotArea>
    <c:legend>
      <c:legendPos val="r"/>
      <c:layout/>
      <c:txPr>
        <a:bodyPr/>
        <a:lstStyle/>
        <a:p>
          <a:pPr>
            <a:defRPr sz="2000"/>
          </a:pPr>
          <a:endParaRPr lang="en-US"/>
        </a:p>
      </c:txPr>
    </c:legend>
    <c:plotVisOnly val="1"/>
  </c:chart>
  <c:txPr>
    <a:bodyPr/>
    <a:lstStyle/>
    <a:p>
      <a:pPr>
        <a:defRPr sz="1600">
          <a:latin typeface="+mn-lt"/>
        </a:defRPr>
      </a:pPr>
      <a:endParaRPr lang="en-US"/>
    </a:p>
  </c:txPr>
  <c:externalData r:id="rId1"/>
</c:chartSpace>
</file>

<file path=ppt/charts/chart38.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scatterChart>
        <c:scatterStyle val="smoothMarker"/>
        <c:ser>
          <c:idx val="0"/>
          <c:order val="0"/>
          <c:spPr>
            <a:ln>
              <a:solidFill>
                <a:schemeClr val="tx1"/>
              </a:solidFill>
            </a:ln>
          </c:spPr>
          <c:marker>
            <c:symbol val="none"/>
          </c:marker>
          <c:xVal>
            <c:numRef>
              <c:f>'[temp-bursty.xls]temp-bursty.xls'!$A$1:$A$71</c:f>
              <c:numCache>
                <c:formatCode>General</c:formatCode>
                <c:ptCount val="71"/>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pt idx="49">
                  <c:v>200.0</c:v>
                </c:pt>
                <c:pt idx="50">
                  <c:v>205.0</c:v>
                </c:pt>
                <c:pt idx="51">
                  <c:v>210.0</c:v>
                </c:pt>
                <c:pt idx="52">
                  <c:v>215.0</c:v>
                </c:pt>
                <c:pt idx="53">
                  <c:v>220.0</c:v>
                </c:pt>
                <c:pt idx="54">
                  <c:v>225.0</c:v>
                </c:pt>
                <c:pt idx="55">
                  <c:v>230.0</c:v>
                </c:pt>
                <c:pt idx="56">
                  <c:v>235.0</c:v>
                </c:pt>
                <c:pt idx="57">
                  <c:v>240.0</c:v>
                </c:pt>
                <c:pt idx="58">
                  <c:v>245.0</c:v>
                </c:pt>
                <c:pt idx="59">
                  <c:v>250.0</c:v>
                </c:pt>
                <c:pt idx="60">
                  <c:v>255.0</c:v>
                </c:pt>
                <c:pt idx="61">
                  <c:v>260.0</c:v>
                </c:pt>
                <c:pt idx="62">
                  <c:v>265.0</c:v>
                </c:pt>
                <c:pt idx="63">
                  <c:v>270.0</c:v>
                </c:pt>
                <c:pt idx="64">
                  <c:v>275.0</c:v>
                </c:pt>
                <c:pt idx="65">
                  <c:v>280.0</c:v>
                </c:pt>
                <c:pt idx="66">
                  <c:v>285.0</c:v>
                </c:pt>
                <c:pt idx="67">
                  <c:v>290.0</c:v>
                </c:pt>
                <c:pt idx="68">
                  <c:v>295.0</c:v>
                </c:pt>
                <c:pt idx="69">
                  <c:v>300.0</c:v>
                </c:pt>
                <c:pt idx="70">
                  <c:v>305.0</c:v>
                </c:pt>
              </c:numCache>
            </c:numRef>
          </c:xVal>
          <c:yVal>
            <c:numRef>
              <c:f>'[temp-bursty.xls]temp-bursty.xls'!$B$1:$B$71</c:f>
              <c:numCache>
                <c:formatCode>General</c:formatCode>
                <c:ptCount val="71"/>
                <c:pt idx="0">
                  <c:v>25.0</c:v>
                </c:pt>
                <c:pt idx="1">
                  <c:v>25.0</c:v>
                </c:pt>
                <c:pt idx="2">
                  <c:v>25.0</c:v>
                </c:pt>
                <c:pt idx="3">
                  <c:v>25.0</c:v>
                </c:pt>
                <c:pt idx="4">
                  <c:v>25.0</c:v>
                </c:pt>
                <c:pt idx="5">
                  <c:v>25.0</c:v>
                </c:pt>
                <c:pt idx="6">
                  <c:v>25.0</c:v>
                </c:pt>
                <c:pt idx="7">
                  <c:v>25.0</c:v>
                </c:pt>
                <c:pt idx="8">
                  <c:v>25.0</c:v>
                </c:pt>
                <c:pt idx="9">
                  <c:v>25.0</c:v>
                </c:pt>
                <c:pt idx="10">
                  <c:v>25.0</c:v>
                </c:pt>
                <c:pt idx="11">
                  <c:v>25.0</c:v>
                </c:pt>
                <c:pt idx="12">
                  <c:v>33.9668168687</c:v>
                </c:pt>
                <c:pt idx="13">
                  <c:v>41.1468825207</c:v>
                </c:pt>
                <c:pt idx="14">
                  <c:v>46.8962296435</c:v>
                </c:pt>
                <c:pt idx="15">
                  <c:v>51.4999469272</c:v>
                </c:pt>
                <c:pt idx="16">
                  <c:v>55.1863155486</c:v>
                </c:pt>
                <c:pt idx="17">
                  <c:v>58.1381287848</c:v>
                </c:pt>
                <c:pt idx="18">
                  <c:v>60.5017560494</c:v>
                </c:pt>
                <c:pt idx="19">
                  <c:v>62.3944008067</c:v>
                </c:pt>
                <c:pt idx="20">
                  <c:v>63.9099122544</c:v>
                </c:pt>
                <c:pt idx="21">
                  <c:v>64.9018143986</c:v>
                </c:pt>
                <c:pt idx="22">
                  <c:v>45.48627459269994</c:v>
                </c:pt>
                <c:pt idx="23">
                  <c:v>28.4624531892</c:v>
                </c:pt>
                <c:pt idx="24">
                  <c:v>25.1926439646</c:v>
                </c:pt>
                <c:pt idx="25">
                  <c:v>25.0035283973</c:v>
                </c:pt>
                <c:pt idx="26">
                  <c:v>25.000021274</c:v>
                </c:pt>
                <c:pt idx="27">
                  <c:v>25.0000000422</c:v>
                </c:pt>
                <c:pt idx="28">
                  <c:v>25.0</c:v>
                </c:pt>
                <c:pt idx="29">
                  <c:v>25.0</c:v>
                </c:pt>
                <c:pt idx="30">
                  <c:v>25.0</c:v>
                </c:pt>
                <c:pt idx="31">
                  <c:v>25.0</c:v>
                </c:pt>
                <c:pt idx="32">
                  <c:v>25.0</c:v>
                </c:pt>
                <c:pt idx="33">
                  <c:v>25.0</c:v>
                </c:pt>
                <c:pt idx="34">
                  <c:v>25.0</c:v>
                </c:pt>
                <c:pt idx="35">
                  <c:v>25.0</c:v>
                </c:pt>
                <c:pt idx="36">
                  <c:v>25.0</c:v>
                </c:pt>
                <c:pt idx="37">
                  <c:v>25.0</c:v>
                </c:pt>
                <c:pt idx="38">
                  <c:v>25.0</c:v>
                </c:pt>
                <c:pt idx="39">
                  <c:v>25.0</c:v>
                </c:pt>
                <c:pt idx="40">
                  <c:v>25.0</c:v>
                </c:pt>
                <c:pt idx="41">
                  <c:v>25.0</c:v>
                </c:pt>
                <c:pt idx="42">
                  <c:v>33.9668168687</c:v>
                </c:pt>
                <c:pt idx="43">
                  <c:v>41.1468825207</c:v>
                </c:pt>
                <c:pt idx="44">
                  <c:v>46.8962296435</c:v>
                </c:pt>
                <c:pt idx="45">
                  <c:v>51.4999469272</c:v>
                </c:pt>
                <c:pt idx="46">
                  <c:v>55.1863155486</c:v>
                </c:pt>
                <c:pt idx="47">
                  <c:v>58.1381287848</c:v>
                </c:pt>
                <c:pt idx="48">
                  <c:v>60.5017560494</c:v>
                </c:pt>
                <c:pt idx="49">
                  <c:v>62.3944008067</c:v>
                </c:pt>
                <c:pt idx="50">
                  <c:v>63.9099122544</c:v>
                </c:pt>
                <c:pt idx="51">
                  <c:v>64.9018143986</c:v>
                </c:pt>
                <c:pt idx="52">
                  <c:v>45.48627459269994</c:v>
                </c:pt>
                <c:pt idx="53">
                  <c:v>28.4624531892</c:v>
                </c:pt>
                <c:pt idx="54">
                  <c:v>25.1926439646</c:v>
                </c:pt>
                <c:pt idx="55">
                  <c:v>25.0035283973</c:v>
                </c:pt>
                <c:pt idx="56">
                  <c:v>25.000021274</c:v>
                </c:pt>
                <c:pt idx="57">
                  <c:v>25.0000000422</c:v>
                </c:pt>
                <c:pt idx="58">
                  <c:v>25.0</c:v>
                </c:pt>
                <c:pt idx="59">
                  <c:v>25.0</c:v>
                </c:pt>
                <c:pt idx="60">
                  <c:v>25.0</c:v>
                </c:pt>
                <c:pt idx="61">
                  <c:v>25.0</c:v>
                </c:pt>
                <c:pt idx="62">
                  <c:v>25.0</c:v>
                </c:pt>
                <c:pt idx="63">
                  <c:v>25.0</c:v>
                </c:pt>
                <c:pt idx="64">
                  <c:v>25.0</c:v>
                </c:pt>
                <c:pt idx="65">
                  <c:v>25.0</c:v>
                </c:pt>
                <c:pt idx="66">
                  <c:v>25.0</c:v>
                </c:pt>
                <c:pt idx="67">
                  <c:v>25.0</c:v>
                </c:pt>
                <c:pt idx="68">
                  <c:v>25.0</c:v>
                </c:pt>
                <c:pt idx="69">
                  <c:v>25.0</c:v>
                </c:pt>
                <c:pt idx="70">
                  <c:v>25.0</c:v>
                </c:pt>
              </c:numCache>
            </c:numRef>
          </c:yVal>
          <c:smooth val="1"/>
        </c:ser>
        <c:axId val="241177080"/>
        <c:axId val="241174008"/>
      </c:scatterChart>
      <c:valAx>
        <c:axId val="241177080"/>
        <c:scaling>
          <c:orientation val="minMax"/>
          <c:max val="200.0"/>
        </c:scaling>
        <c:delete val="1"/>
        <c:axPos val="b"/>
        <c:numFmt formatCode="General" sourceLinked="1"/>
        <c:tickLblPos val="nextTo"/>
        <c:crossAx val="241174008"/>
        <c:crosses val="autoZero"/>
        <c:crossBetween val="midCat"/>
      </c:valAx>
      <c:valAx>
        <c:axId val="241174008"/>
        <c:scaling>
          <c:orientation val="minMax"/>
          <c:max val="80.0"/>
          <c:min val="0.0"/>
        </c:scaling>
        <c:axPos val="l"/>
        <c:majorGridlines/>
        <c:numFmt formatCode="General" sourceLinked="1"/>
        <c:tickLblPos val="nextTo"/>
        <c:crossAx val="241177080"/>
        <c:crosses val="autoZero"/>
        <c:crossBetween val="midCat"/>
        <c:majorUnit val="100.0"/>
        <c:minorUnit val="100.0"/>
      </c:valAx>
    </c:plotArea>
    <c:plotVisOnly val="1"/>
  </c:chart>
  <c:externalData r:id="rId1"/>
</c:chartSpace>
</file>

<file path=ppt/charts/chart39.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scatterChart>
        <c:scatterStyle val="smoothMarker"/>
        <c:ser>
          <c:idx val="0"/>
          <c:order val="0"/>
          <c:spPr>
            <a:ln>
              <a:solidFill>
                <a:schemeClr val="tx1"/>
              </a:solidFill>
            </a:ln>
          </c:spPr>
          <c:marker>
            <c:symbol val="none"/>
          </c:marker>
          <c:xVal>
            <c:numRef>
              <c:f>'power-bursty.xls'!$A$1:$A$71</c:f>
              <c:numCache>
                <c:formatCode>General</c:formatCode>
                <c:ptCount val="71"/>
                <c:pt idx="0">
                  <c:v>0.0</c:v>
                </c:pt>
                <c:pt idx="1">
                  <c:v>1.0</c:v>
                </c:pt>
                <c:pt idx="2">
                  <c:v>2.0</c:v>
                </c:pt>
                <c:pt idx="3">
                  <c:v>3.0</c:v>
                </c:pt>
                <c:pt idx="4">
                  <c:v>4.0</c:v>
                </c:pt>
                <c:pt idx="5">
                  <c:v>5.0</c:v>
                </c:pt>
                <c:pt idx="6">
                  <c:v>6.0</c:v>
                </c:pt>
                <c:pt idx="7">
                  <c:v>7.0</c:v>
                </c:pt>
                <c:pt idx="8">
                  <c:v>8.0</c:v>
                </c:pt>
                <c:pt idx="9">
                  <c:v>9.0</c:v>
                </c:pt>
                <c:pt idx="10">
                  <c:v>10.0</c:v>
                </c:pt>
                <c:pt idx="11">
                  <c:v>10.0</c:v>
                </c:pt>
                <c:pt idx="12">
                  <c:v>15.0</c:v>
                </c:pt>
                <c:pt idx="13">
                  <c:v>20.0</c:v>
                </c:pt>
                <c:pt idx="14">
                  <c:v>25.0</c:v>
                </c:pt>
                <c:pt idx="15">
                  <c:v>30.0</c:v>
                </c:pt>
                <c:pt idx="16">
                  <c:v>35.0</c:v>
                </c:pt>
                <c:pt idx="17">
                  <c:v>40.0</c:v>
                </c:pt>
                <c:pt idx="18">
                  <c:v>45.0</c:v>
                </c:pt>
                <c:pt idx="19">
                  <c:v>50.0</c:v>
                </c:pt>
                <c:pt idx="20">
                  <c:v>55.0</c:v>
                </c:pt>
                <c:pt idx="21">
                  <c:v>60.0</c:v>
                </c:pt>
                <c:pt idx="22">
                  <c:v>65.0</c:v>
                </c:pt>
                <c:pt idx="23">
                  <c:v>70.0</c:v>
                </c:pt>
                <c:pt idx="24">
                  <c:v>75.0</c:v>
                </c:pt>
                <c:pt idx="25">
                  <c:v>80.0</c:v>
                </c:pt>
                <c:pt idx="26">
                  <c:v>85.0</c:v>
                </c:pt>
                <c:pt idx="27">
                  <c:v>90.0</c:v>
                </c:pt>
                <c:pt idx="28">
                  <c:v>95.0</c:v>
                </c:pt>
                <c:pt idx="29">
                  <c:v>100.0</c:v>
                </c:pt>
                <c:pt idx="30">
                  <c:v>105.0</c:v>
                </c:pt>
                <c:pt idx="31">
                  <c:v>110.0</c:v>
                </c:pt>
                <c:pt idx="32">
                  <c:v>115.0</c:v>
                </c:pt>
                <c:pt idx="33">
                  <c:v>120.0</c:v>
                </c:pt>
                <c:pt idx="34">
                  <c:v>125.0</c:v>
                </c:pt>
                <c:pt idx="35">
                  <c:v>130.0</c:v>
                </c:pt>
                <c:pt idx="36">
                  <c:v>135.0</c:v>
                </c:pt>
                <c:pt idx="37">
                  <c:v>140.0</c:v>
                </c:pt>
                <c:pt idx="38">
                  <c:v>145.0</c:v>
                </c:pt>
                <c:pt idx="39">
                  <c:v>150.0</c:v>
                </c:pt>
                <c:pt idx="40">
                  <c:v>155.0</c:v>
                </c:pt>
                <c:pt idx="41">
                  <c:v>160.0</c:v>
                </c:pt>
                <c:pt idx="42">
                  <c:v>165.0</c:v>
                </c:pt>
                <c:pt idx="43">
                  <c:v>170.0</c:v>
                </c:pt>
                <c:pt idx="44">
                  <c:v>175.0</c:v>
                </c:pt>
                <c:pt idx="45">
                  <c:v>180.0</c:v>
                </c:pt>
                <c:pt idx="46">
                  <c:v>185.0</c:v>
                </c:pt>
                <c:pt idx="47">
                  <c:v>190.0</c:v>
                </c:pt>
                <c:pt idx="48">
                  <c:v>195.0</c:v>
                </c:pt>
                <c:pt idx="49">
                  <c:v>200.0</c:v>
                </c:pt>
                <c:pt idx="50">
                  <c:v>205.0</c:v>
                </c:pt>
                <c:pt idx="51">
                  <c:v>210.0</c:v>
                </c:pt>
                <c:pt idx="52">
                  <c:v>215.0</c:v>
                </c:pt>
                <c:pt idx="53">
                  <c:v>220.0</c:v>
                </c:pt>
                <c:pt idx="54">
                  <c:v>225.0</c:v>
                </c:pt>
                <c:pt idx="55">
                  <c:v>230.0</c:v>
                </c:pt>
                <c:pt idx="56">
                  <c:v>235.0</c:v>
                </c:pt>
                <c:pt idx="57">
                  <c:v>240.0</c:v>
                </c:pt>
                <c:pt idx="58">
                  <c:v>245.0</c:v>
                </c:pt>
                <c:pt idx="59">
                  <c:v>250.0</c:v>
                </c:pt>
                <c:pt idx="60">
                  <c:v>255.0</c:v>
                </c:pt>
                <c:pt idx="61">
                  <c:v>260.0</c:v>
                </c:pt>
                <c:pt idx="62">
                  <c:v>265.0</c:v>
                </c:pt>
                <c:pt idx="63">
                  <c:v>270.0</c:v>
                </c:pt>
                <c:pt idx="64">
                  <c:v>275.0</c:v>
                </c:pt>
                <c:pt idx="65">
                  <c:v>280.0</c:v>
                </c:pt>
                <c:pt idx="66">
                  <c:v>285.0</c:v>
                </c:pt>
                <c:pt idx="67">
                  <c:v>290.0</c:v>
                </c:pt>
                <c:pt idx="68">
                  <c:v>295.0</c:v>
                </c:pt>
                <c:pt idx="69">
                  <c:v>300.0</c:v>
                </c:pt>
                <c:pt idx="70">
                  <c:v>305.0</c:v>
                </c:pt>
              </c:numCache>
            </c:numRef>
          </c:xVal>
          <c:yVal>
            <c:numRef>
              <c:f>'power-bursty.xls'!$B$1:$B$71</c:f>
              <c:numCache>
                <c:formatCode>General</c:formatCode>
                <c:ptCount val="71"/>
                <c:pt idx="0">
                  <c:v>0.0</c:v>
                </c:pt>
                <c:pt idx="1">
                  <c:v>0.0</c:v>
                </c:pt>
                <c:pt idx="2">
                  <c:v>0.0</c:v>
                </c:pt>
                <c:pt idx="3">
                  <c:v>0.0</c:v>
                </c:pt>
                <c:pt idx="4">
                  <c:v>0.0</c:v>
                </c:pt>
                <c:pt idx="5">
                  <c:v>0.0</c:v>
                </c:pt>
                <c:pt idx="6">
                  <c:v>0.0</c:v>
                </c:pt>
                <c:pt idx="7">
                  <c:v>0.0</c:v>
                </c:pt>
                <c:pt idx="8">
                  <c:v>0.0</c:v>
                </c:pt>
                <c:pt idx="9">
                  <c:v>0.0</c:v>
                </c:pt>
                <c:pt idx="10">
                  <c:v>0.0</c:v>
                </c:pt>
                <c:pt idx="11">
                  <c:v>16.0</c:v>
                </c:pt>
                <c:pt idx="12">
                  <c:v>16.0</c:v>
                </c:pt>
                <c:pt idx="13">
                  <c:v>16.0</c:v>
                </c:pt>
                <c:pt idx="14">
                  <c:v>16.0</c:v>
                </c:pt>
                <c:pt idx="15">
                  <c:v>16.0</c:v>
                </c:pt>
                <c:pt idx="16">
                  <c:v>16.0</c:v>
                </c:pt>
                <c:pt idx="17">
                  <c:v>16.0</c:v>
                </c:pt>
                <c:pt idx="18">
                  <c:v>16.0</c:v>
                </c:pt>
                <c:pt idx="19">
                  <c:v>16.0</c:v>
                </c:pt>
                <c:pt idx="20">
                  <c:v>16.0</c:v>
                </c:pt>
                <c:pt idx="21">
                  <c:v>0.0</c:v>
                </c:pt>
                <c:pt idx="22">
                  <c:v>0.0</c:v>
                </c:pt>
                <c:pt idx="23">
                  <c:v>0.0</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pt idx="40">
                  <c:v>0.0</c:v>
                </c:pt>
                <c:pt idx="41">
                  <c:v>16.0</c:v>
                </c:pt>
                <c:pt idx="42">
                  <c:v>16.0</c:v>
                </c:pt>
                <c:pt idx="43">
                  <c:v>16.0</c:v>
                </c:pt>
                <c:pt idx="44">
                  <c:v>16.0</c:v>
                </c:pt>
                <c:pt idx="45">
                  <c:v>16.0</c:v>
                </c:pt>
                <c:pt idx="46">
                  <c:v>16.0</c:v>
                </c:pt>
                <c:pt idx="47">
                  <c:v>16.0</c:v>
                </c:pt>
                <c:pt idx="48">
                  <c:v>16.0</c:v>
                </c:pt>
                <c:pt idx="49">
                  <c:v>16.0</c:v>
                </c:pt>
                <c:pt idx="50">
                  <c:v>16.0</c:v>
                </c:pt>
                <c:pt idx="51">
                  <c:v>0.0</c:v>
                </c:pt>
                <c:pt idx="52">
                  <c:v>0.0</c:v>
                </c:pt>
                <c:pt idx="53">
                  <c:v>0.0</c:v>
                </c:pt>
                <c:pt idx="54">
                  <c:v>0.0</c:v>
                </c:pt>
                <c:pt idx="55">
                  <c:v>0.0</c:v>
                </c:pt>
                <c:pt idx="56">
                  <c:v>0.0</c:v>
                </c:pt>
                <c:pt idx="57">
                  <c:v>0.0</c:v>
                </c:pt>
                <c:pt idx="58">
                  <c:v>0.0</c:v>
                </c:pt>
                <c:pt idx="59">
                  <c:v>0.0</c:v>
                </c:pt>
                <c:pt idx="60">
                  <c:v>0.0</c:v>
                </c:pt>
                <c:pt idx="61">
                  <c:v>0.0</c:v>
                </c:pt>
                <c:pt idx="62">
                  <c:v>0.0</c:v>
                </c:pt>
                <c:pt idx="63">
                  <c:v>0.0</c:v>
                </c:pt>
                <c:pt idx="64">
                  <c:v>0.0</c:v>
                </c:pt>
                <c:pt idx="65">
                  <c:v>0.0</c:v>
                </c:pt>
                <c:pt idx="66">
                  <c:v>0.0</c:v>
                </c:pt>
                <c:pt idx="67">
                  <c:v>0.0</c:v>
                </c:pt>
                <c:pt idx="68">
                  <c:v>0.0</c:v>
                </c:pt>
                <c:pt idx="69">
                  <c:v>0.0</c:v>
                </c:pt>
                <c:pt idx="70">
                  <c:v>0.0</c:v>
                </c:pt>
              </c:numCache>
            </c:numRef>
          </c:yVal>
        </c:ser>
        <c:axId val="242330008"/>
        <c:axId val="242333080"/>
      </c:scatterChart>
      <c:valAx>
        <c:axId val="242330008"/>
        <c:scaling>
          <c:orientation val="minMax"/>
          <c:max val="180.0"/>
          <c:min val="0.0"/>
        </c:scaling>
        <c:delete val="1"/>
        <c:axPos val="b"/>
        <c:numFmt formatCode="General" sourceLinked="1"/>
        <c:tickLblPos val="nextTo"/>
        <c:crossAx val="242333080"/>
        <c:crossesAt val="0.0"/>
        <c:crossBetween val="midCat"/>
        <c:minorUnit val="1000.0"/>
      </c:valAx>
      <c:valAx>
        <c:axId val="242333080"/>
        <c:scaling>
          <c:orientation val="minMax"/>
          <c:max val="17.0"/>
          <c:min val="0.0"/>
        </c:scaling>
        <c:axPos val="l"/>
        <c:majorGridlines/>
        <c:numFmt formatCode="General" sourceLinked="1"/>
        <c:tickLblPos val="nextTo"/>
        <c:crossAx val="242330008"/>
        <c:crossesAt val="0.0"/>
        <c:crossBetween val="midCat"/>
        <c:minorUnit val="90.0"/>
      </c:valAx>
    </c:plotArea>
    <c:plotVisOnly val="1"/>
  </c:chart>
  <c:externalData r:id="rId1"/>
</c:chartSpace>
</file>

<file path=ppt/charts/chart40.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lineChart>
        <c:grouping val="standard"/>
        <c:ser>
          <c:idx val="0"/>
          <c:order val="0"/>
          <c:tx>
            <c:strRef>
              <c:f>Sheet1!$B$1</c:f>
              <c:strCache>
                <c:ptCount val="1"/>
                <c:pt idx="0">
                  <c:v>1-core</c:v>
                </c:pt>
              </c:strCache>
            </c:strRef>
          </c:tx>
          <c:spPr>
            <a:ln>
              <a:solidFill>
                <a:schemeClr val="tx1"/>
              </a:solidFill>
              <a:prstDash val="sysDash"/>
            </a:ln>
          </c:spPr>
          <c:marker>
            <c:spPr>
              <a:solidFill>
                <a:schemeClr val="tx1"/>
              </a:solidFill>
              <a:ln>
                <a:solidFill>
                  <a:schemeClr val="tx1"/>
                </a:solidFill>
              </a:ln>
            </c:spPr>
          </c:marker>
          <c:cat>
            <c:numRef>
              <c:f>Sheet1!$A$2:$A$21</c:f>
              <c:numCache>
                <c:formatCode>General</c:formatCode>
                <c:ptCount val="20"/>
                <c:pt idx="0">
                  <c:v>0.1</c:v>
                </c:pt>
                <c:pt idx="1">
                  <c:v>0.2</c:v>
                </c:pt>
                <c:pt idx="2">
                  <c:v>0.3</c:v>
                </c:pt>
                <c:pt idx="3">
                  <c:v>0.4</c:v>
                </c:pt>
                <c:pt idx="4">
                  <c:v>0.5</c:v>
                </c:pt>
                <c:pt idx="5">
                  <c:v>0.7</c:v>
                </c:pt>
                <c:pt idx="6">
                  <c:v>0.8</c:v>
                </c:pt>
                <c:pt idx="7">
                  <c:v>0.9</c:v>
                </c:pt>
                <c:pt idx="8">
                  <c:v>1.0</c:v>
                </c:pt>
                <c:pt idx="9">
                  <c:v>2.0</c:v>
                </c:pt>
                <c:pt idx="10">
                  <c:v>3.0</c:v>
                </c:pt>
                <c:pt idx="11">
                  <c:v>4.0</c:v>
                </c:pt>
                <c:pt idx="12">
                  <c:v>5.0</c:v>
                </c:pt>
                <c:pt idx="13">
                  <c:v>6.0</c:v>
                </c:pt>
                <c:pt idx="14">
                  <c:v>7.0</c:v>
                </c:pt>
                <c:pt idx="15">
                  <c:v>8.0</c:v>
                </c:pt>
                <c:pt idx="16">
                  <c:v>9.0</c:v>
                </c:pt>
                <c:pt idx="17">
                  <c:v>10.0</c:v>
                </c:pt>
                <c:pt idx="18">
                  <c:v>11.0</c:v>
                </c:pt>
                <c:pt idx="19">
                  <c:v>12.0</c:v>
                </c:pt>
              </c:numCache>
            </c:numRef>
          </c:cat>
          <c:val>
            <c:numRef>
              <c:f>Sheet1!$B$2:$B$21</c:f>
              <c:numCache>
                <c:formatCode>General</c:formatCode>
                <c:ptCount val="20"/>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pt idx="16">
                  <c:v>1.0</c:v>
                </c:pt>
                <c:pt idx="17">
                  <c:v>1.0</c:v>
                </c:pt>
                <c:pt idx="18">
                  <c:v>1.0</c:v>
                </c:pt>
                <c:pt idx="19">
                  <c:v>1.0</c:v>
                </c:pt>
              </c:numCache>
            </c:numRef>
          </c:val>
        </c:ser>
        <c:ser>
          <c:idx val="1"/>
          <c:order val="1"/>
          <c:tx>
            <c:strRef>
              <c:f>Sheet1!$C$1</c:f>
              <c:strCache>
                <c:ptCount val="1"/>
                <c:pt idx="0">
                  <c:v>Par-Sprint-150mg</c:v>
                </c:pt>
              </c:strCache>
            </c:strRef>
          </c:tx>
          <c:spPr>
            <a:ln>
              <a:solidFill>
                <a:schemeClr val="accent6">
                  <a:lumMod val="50000"/>
                </a:schemeClr>
              </a:solidFill>
            </a:ln>
          </c:spPr>
          <c:marker>
            <c:spPr>
              <a:solidFill>
                <a:schemeClr val="accent6">
                  <a:lumMod val="50000"/>
                </a:schemeClr>
              </a:solidFill>
              <a:ln>
                <a:solidFill>
                  <a:schemeClr val="accent6">
                    <a:lumMod val="50000"/>
                  </a:schemeClr>
                </a:solidFill>
              </a:ln>
            </c:spPr>
          </c:marker>
          <c:cat>
            <c:numRef>
              <c:f>Sheet1!$A$2:$A$21</c:f>
              <c:numCache>
                <c:formatCode>General</c:formatCode>
                <c:ptCount val="20"/>
                <c:pt idx="0">
                  <c:v>0.1</c:v>
                </c:pt>
                <c:pt idx="1">
                  <c:v>0.2</c:v>
                </c:pt>
                <c:pt idx="2">
                  <c:v>0.3</c:v>
                </c:pt>
                <c:pt idx="3">
                  <c:v>0.4</c:v>
                </c:pt>
                <c:pt idx="4">
                  <c:v>0.5</c:v>
                </c:pt>
                <c:pt idx="5">
                  <c:v>0.7</c:v>
                </c:pt>
                <c:pt idx="6">
                  <c:v>0.8</c:v>
                </c:pt>
                <c:pt idx="7">
                  <c:v>0.9</c:v>
                </c:pt>
                <c:pt idx="8">
                  <c:v>1.0</c:v>
                </c:pt>
                <c:pt idx="9">
                  <c:v>2.0</c:v>
                </c:pt>
                <c:pt idx="10">
                  <c:v>3.0</c:v>
                </c:pt>
                <c:pt idx="11">
                  <c:v>4.0</c:v>
                </c:pt>
                <c:pt idx="12">
                  <c:v>5.0</c:v>
                </c:pt>
                <c:pt idx="13">
                  <c:v>6.0</c:v>
                </c:pt>
                <c:pt idx="14">
                  <c:v>7.0</c:v>
                </c:pt>
                <c:pt idx="15">
                  <c:v>8.0</c:v>
                </c:pt>
                <c:pt idx="16">
                  <c:v>9.0</c:v>
                </c:pt>
                <c:pt idx="17">
                  <c:v>10.0</c:v>
                </c:pt>
                <c:pt idx="18">
                  <c:v>11.0</c:v>
                </c:pt>
                <c:pt idx="19">
                  <c:v>12.0</c:v>
                </c:pt>
              </c:numCache>
            </c:numRef>
          </c:cat>
          <c:val>
            <c:numRef>
              <c:f>Sheet1!$C$2:$C$21</c:f>
              <c:numCache>
                <c:formatCode>General</c:formatCode>
                <c:ptCount val="20"/>
                <c:pt idx="0">
                  <c:v>0.768178159378</c:v>
                </c:pt>
                <c:pt idx="1">
                  <c:v>0.994032921811</c:v>
                </c:pt>
                <c:pt idx="2">
                  <c:v>2.74626145683</c:v>
                </c:pt>
                <c:pt idx="3">
                  <c:v>5.18142254862</c:v>
                </c:pt>
                <c:pt idx="4">
                  <c:v>7.09383847917</c:v>
                </c:pt>
                <c:pt idx="5">
                  <c:v>11.889856076</c:v>
                </c:pt>
                <c:pt idx="6">
                  <c:v>13.7378458013</c:v>
                </c:pt>
                <c:pt idx="7">
                  <c:v>14.7294096133</c:v>
                </c:pt>
                <c:pt idx="8">
                  <c:v>15.4889441933</c:v>
                </c:pt>
                <c:pt idx="9">
                  <c:v>15.5304467764</c:v>
                </c:pt>
                <c:pt idx="10">
                  <c:v>15.5332271772</c:v>
                </c:pt>
                <c:pt idx="11">
                  <c:v>15.5349981872</c:v>
                </c:pt>
                <c:pt idx="12">
                  <c:v>15.5437732619</c:v>
                </c:pt>
                <c:pt idx="13">
                  <c:v>15.5406003841</c:v>
                </c:pt>
                <c:pt idx="14">
                  <c:v>15.5702495224</c:v>
                </c:pt>
                <c:pt idx="15">
                  <c:v>15.5469796626</c:v>
                </c:pt>
                <c:pt idx="16">
                  <c:v>15.5099689051</c:v>
                </c:pt>
                <c:pt idx="17">
                  <c:v>15.5636657534</c:v>
                </c:pt>
                <c:pt idx="18">
                  <c:v>15.5328224722</c:v>
                </c:pt>
                <c:pt idx="19">
                  <c:v>15.524070364</c:v>
                </c:pt>
              </c:numCache>
            </c:numRef>
          </c:val>
        </c:ser>
        <c:ser>
          <c:idx val="3"/>
          <c:order val="2"/>
          <c:tx>
            <c:strRef>
              <c:f>Sheet1!$E$1</c:f>
              <c:strCache>
                <c:ptCount val="1"/>
                <c:pt idx="0">
                  <c:v>Par-Sprint-1.5mg</c:v>
                </c:pt>
              </c:strCache>
            </c:strRef>
          </c:tx>
          <c:spPr>
            <a:ln>
              <a:solidFill>
                <a:schemeClr val="accent1"/>
              </a:solidFill>
            </a:ln>
          </c:spPr>
          <c:marker>
            <c:spPr>
              <a:ln>
                <a:solidFill>
                  <a:schemeClr val="accent1">
                    <a:lumMod val="90000"/>
                  </a:schemeClr>
                </a:solidFill>
              </a:ln>
            </c:spPr>
          </c:marker>
          <c:cat>
            <c:numRef>
              <c:f>Sheet1!$A$2:$A$21</c:f>
              <c:numCache>
                <c:formatCode>General</c:formatCode>
                <c:ptCount val="20"/>
                <c:pt idx="0">
                  <c:v>0.1</c:v>
                </c:pt>
                <c:pt idx="1">
                  <c:v>0.2</c:v>
                </c:pt>
                <c:pt idx="2">
                  <c:v>0.3</c:v>
                </c:pt>
                <c:pt idx="3">
                  <c:v>0.4</c:v>
                </c:pt>
                <c:pt idx="4">
                  <c:v>0.5</c:v>
                </c:pt>
                <c:pt idx="5">
                  <c:v>0.7</c:v>
                </c:pt>
                <c:pt idx="6">
                  <c:v>0.8</c:v>
                </c:pt>
                <c:pt idx="7">
                  <c:v>0.9</c:v>
                </c:pt>
                <c:pt idx="8">
                  <c:v>1.0</c:v>
                </c:pt>
                <c:pt idx="9">
                  <c:v>2.0</c:v>
                </c:pt>
                <c:pt idx="10">
                  <c:v>3.0</c:v>
                </c:pt>
                <c:pt idx="11">
                  <c:v>4.0</c:v>
                </c:pt>
                <c:pt idx="12">
                  <c:v>5.0</c:v>
                </c:pt>
                <c:pt idx="13">
                  <c:v>6.0</c:v>
                </c:pt>
                <c:pt idx="14">
                  <c:v>7.0</c:v>
                </c:pt>
                <c:pt idx="15">
                  <c:v>8.0</c:v>
                </c:pt>
                <c:pt idx="16">
                  <c:v>9.0</c:v>
                </c:pt>
                <c:pt idx="17">
                  <c:v>10.0</c:v>
                </c:pt>
                <c:pt idx="18">
                  <c:v>11.0</c:v>
                </c:pt>
                <c:pt idx="19">
                  <c:v>12.0</c:v>
                </c:pt>
              </c:numCache>
            </c:numRef>
          </c:cat>
          <c:val>
            <c:numRef>
              <c:f>Sheet1!$E$2:$E$21</c:f>
              <c:numCache>
                <c:formatCode>General</c:formatCode>
                <c:ptCount val="20"/>
                <c:pt idx="0">
                  <c:v>0.768178159378</c:v>
                </c:pt>
                <c:pt idx="1">
                  <c:v>0.994032921811</c:v>
                </c:pt>
                <c:pt idx="2">
                  <c:v>2.74626145683</c:v>
                </c:pt>
                <c:pt idx="3">
                  <c:v>5.18142254862</c:v>
                </c:pt>
                <c:pt idx="4">
                  <c:v>7.09383847917</c:v>
                </c:pt>
                <c:pt idx="5">
                  <c:v>11.889856076</c:v>
                </c:pt>
                <c:pt idx="6">
                  <c:v>13.7378458013</c:v>
                </c:pt>
                <c:pt idx="7">
                  <c:v>14.7294096133</c:v>
                </c:pt>
                <c:pt idx="8">
                  <c:v>15.4889441933</c:v>
                </c:pt>
                <c:pt idx="9">
                  <c:v>15.5304467764</c:v>
                </c:pt>
                <c:pt idx="10">
                  <c:v>12.0681163189</c:v>
                </c:pt>
                <c:pt idx="11">
                  <c:v>5.424233247609995</c:v>
                </c:pt>
                <c:pt idx="12">
                  <c:v>2.72655611514</c:v>
                </c:pt>
                <c:pt idx="13">
                  <c:v>2.12772504082</c:v>
                </c:pt>
                <c:pt idx="14">
                  <c:v>1.82371546687</c:v>
                </c:pt>
                <c:pt idx="15">
                  <c:v>1.67943424559</c:v>
                </c:pt>
                <c:pt idx="16">
                  <c:v>1.56377661533</c:v>
                </c:pt>
                <c:pt idx="17">
                  <c:v>1.49732449974</c:v>
                </c:pt>
                <c:pt idx="18">
                  <c:v>1.44</c:v>
                </c:pt>
                <c:pt idx="19">
                  <c:v>1.39137323447</c:v>
                </c:pt>
              </c:numCache>
            </c:numRef>
          </c:val>
        </c:ser>
        <c:ser>
          <c:idx val="2"/>
          <c:order val="3"/>
          <c:tx>
            <c:strRef>
              <c:f>Sheet1!$D$1</c:f>
              <c:strCache>
                <c:ptCount val="1"/>
                <c:pt idx="0">
                  <c:v>DVFS-Sprint-3mg</c:v>
                </c:pt>
              </c:strCache>
            </c:strRef>
          </c:tx>
          <c:spPr>
            <a:ln>
              <a:solidFill>
                <a:schemeClr val="tx2"/>
              </a:solidFill>
            </a:ln>
          </c:spPr>
          <c:marker>
            <c:spPr>
              <a:solidFill>
                <a:schemeClr val="tx2"/>
              </a:solidFill>
            </c:spPr>
          </c:marker>
          <c:cat>
            <c:numRef>
              <c:f>Sheet1!$A$2:$A$21</c:f>
              <c:numCache>
                <c:formatCode>General</c:formatCode>
                <c:ptCount val="20"/>
                <c:pt idx="0">
                  <c:v>0.1</c:v>
                </c:pt>
                <c:pt idx="1">
                  <c:v>0.2</c:v>
                </c:pt>
                <c:pt idx="2">
                  <c:v>0.3</c:v>
                </c:pt>
                <c:pt idx="3">
                  <c:v>0.4</c:v>
                </c:pt>
                <c:pt idx="4">
                  <c:v>0.5</c:v>
                </c:pt>
                <c:pt idx="5">
                  <c:v>0.7</c:v>
                </c:pt>
                <c:pt idx="6">
                  <c:v>0.8</c:v>
                </c:pt>
                <c:pt idx="7">
                  <c:v>0.9</c:v>
                </c:pt>
                <c:pt idx="8">
                  <c:v>1.0</c:v>
                </c:pt>
                <c:pt idx="9">
                  <c:v>2.0</c:v>
                </c:pt>
                <c:pt idx="10">
                  <c:v>3.0</c:v>
                </c:pt>
                <c:pt idx="11">
                  <c:v>4.0</c:v>
                </c:pt>
                <c:pt idx="12">
                  <c:v>5.0</c:v>
                </c:pt>
                <c:pt idx="13">
                  <c:v>6.0</c:v>
                </c:pt>
                <c:pt idx="14">
                  <c:v>7.0</c:v>
                </c:pt>
                <c:pt idx="15">
                  <c:v>8.0</c:v>
                </c:pt>
                <c:pt idx="16">
                  <c:v>9.0</c:v>
                </c:pt>
                <c:pt idx="17">
                  <c:v>10.0</c:v>
                </c:pt>
                <c:pt idx="18">
                  <c:v>11.0</c:v>
                </c:pt>
                <c:pt idx="19">
                  <c:v>12.0</c:v>
                </c:pt>
              </c:numCache>
            </c:numRef>
          </c:cat>
          <c:val>
            <c:numRef>
              <c:f>Sheet1!$D$2:$D$21</c:f>
              <c:numCache>
                <c:formatCode>General</c:formatCode>
                <c:ptCount val="20"/>
                <c:pt idx="0">
                  <c:v>2.519842099789996</c:v>
                </c:pt>
                <c:pt idx="1">
                  <c:v>2.519842099789996</c:v>
                </c:pt>
                <c:pt idx="2">
                  <c:v>2.519842099789996</c:v>
                </c:pt>
                <c:pt idx="3">
                  <c:v>2.519842099789996</c:v>
                </c:pt>
                <c:pt idx="4">
                  <c:v>2.519842099789996</c:v>
                </c:pt>
                <c:pt idx="5">
                  <c:v>2.519842099789996</c:v>
                </c:pt>
                <c:pt idx="6">
                  <c:v>2.519842099789996</c:v>
                </c:pt>
                <c:pt idx="7">
                  <c:v>2.519842099789996</c:v>
                </c:pt>
                <c:pt idx="8">
                  <c:v>1.43409957543</c:v>
                </c:pt>
                <c:pt idx="9">
                  <c:v>1.24007621059</c:v>
                </c:pt>
                <c:pt idx="10">
                  <c:v>1.13390712898</c:v>
                </c:pt>
                <c:pt idx="11">
                  <c:v>1.10950675558</c:v>
                </c:pt>
                <c:pt idx="12">
                  <c:v>1.08172171699</c:v>
                </c:pt>
                <c:pt idx="13">
                  <c:v>1.06658311846</c:v>
                </c:pt>
                <c:pt idx="14">
                  <c:v>1.05535203193</c:v>
                </c:pt>
                <c:pt idx="15">
                  <c:v>1.04871932376</c:v>
                </c:pt>
                <c:pt idx="16">
                  <c:v>1.04267434411</c:v>
                </c:pt>
                <c:pt idx="17">
                  <c:v>1.03862144806</c:v>
                </c:pt>
                <c:pt idx="18">
                  <c:v>1.033</c:v>
                </c:pt>
                <c:pt idx="19">
                  <c:v>1.03191227224</c:v>
                </c:pt>
              </c:numCache>
            </c:numRef>
          </c:val>
        </c:ser>
        <c:marker val="1"/>
        <c:axId val="314842840"/>
        <c:axId val="314848200"/>
      </c:lineChart>
      <c:catAx>
        <c:axId val="314842840"/>
        <c:scaling>
          <c:orientation val="minMax"/>
        </c:scaling>
        <c:axPos val="b"/>
        <c:numFmt formatCode="General" sourceLinked="1"/>
        <c:tickLblPos val="none"/>
        <c:crossAx val="314848200"/>
        <c:crossesAt val="0.5"/>
        <c:auto val="1"/>
        <c:lblAlgn val="ctr"/>
        <c:lblOffset val="100"/>
        <c:tickLblSkip val="4"/>
        <c:tickMarkSkip val="1"/>
      </c:catAx>
      <c:valAx>
        <c:axId val="314848200"/>
        <c:scaling>
          <c:logBase val="10.0"/>
          <c:orientation val="minMax"/>
          <c:max val="16.0"/>
          <c:min val="0.5"/>
        </c:scaling>
        <c:axPos val="l"/>
        <c:majorGridlines/>
        <c:numFmt formatCode="General" sourceLinked="1"/>
        <c:majorTickMark val="none"/>
        <c:tickLblPos val="nextTo"/>
        <c:crossAx val="314842840"/>
        <c:crosses val="autoZero"/>
        <c:crossBetween val="midCat"/>
        <c:majorUnit val="2.0"/>
      </c:valAx>
    </c:plotArea>
    <c:legend>
      <c:legendPos val="r"/>
      <c:layout>
        <c:manualLayout>
          <c:xMode val="edge"/>
          <c:yMode val="edge"/>
          <c:x val="0.722905001458151"/>
          <c:y val="0.380038098581197"/>
          <c:w val="0.277094998541849"/>
          <c:h val="0.367701614773932"/>
        </c:manualLayout>
      </c:layout>
    </c:legend>
    <c:plotVisOnly val="1"/>
  </c:chart>
  <c:txPr>
    <a:bodyPr/>
    <a:lstStyle/>
    <a:p>
      <a:pPr>
        <a:defRPr sz="1800"/>
      </a:pPr>
      <a:endParaRPr lang="en-US"/>
    </a:p>
  </c:txPr>
  <c:externalData r:id="rId1"/>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8ED680C-0686-374A-9939-0E7ADC8499C3}" type="datetime1">
              <a:rPr lang="en-US" smtClean="0"/>
              <a:pPr/>
              <a:t>6/21/12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F3F9E78-360F-8D4C-BEA0-D2F7CD08F1CF}"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B449AC-71A5-B943-A575-AED161E5E285}" type="datetime1">
              <a:rPr lang="en-US" smtClean="0"/>
              <a:pPr/>
              <a:t>6/21/12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3D5D6B-5D86-1045-BBDF-7525F8238F97}"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602EB589-19C2-45DB-A3DE-84D9789B1AB4}"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103D5D6B-5D86-1045-BBDF-7525F8238F97}"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Transition</a:t>
            </a:r>
          </a:p>
        </p:txBody>
      </p:sp>
      <p:sp>
        <p:nvSpPr>
          <p:cNvPr id="4" name="Slide Number Placeholder 3"/>
          <p:cNvSpPr>
            <a:spLocks noGrp="1"/>
          </p:cNvSpPr>
          <p:nvPr>
            <p:ph type="sldNum" sz="quarter" idx="10"/>
          </p:nvPr>
        </p:nvSpPr>
        <p:spPr/>
        <p:txBody>
          <a:bodyPr/>
          <a:lstStyle/>
          <a:p>
            <a:fld id="{103D5D6B-5D86-1045-BBDF-7525F8238F97}"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2222841-8AF2-AB43-80A6-CFCD4675389E}" type="slidenum">
              <a:rPr lang="en-US" smtClean="0"/>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2222841-8AF2-AB43-80A6-CFCD4675389E}"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2222841-8AF2-AB43-80A6-CFCD4675389E}" type="slidenum">
              <a:rPr lang="en-US" smtClean="0"/>
              <a:pPr/>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103D5D6B-5D86-1045-BBDF-7525F8238F97}" type="slidenum">
              <a:rPr lang="en-US" smtClean="0"/>
              <a:pPr/>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30</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31</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32</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34</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35</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36</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41</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44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45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46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103D5D6B-5D86-1045-BBDF-7525F8238F97}" type="slidenum">
              <a:rPr lang="en-US" smtClean="0"/>
              <a:pPr/>
              <a:t>48</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3D5D6B-5D86-1045-BBDF-7525F8238F97}" type="slidenum">
              <a:rPr lang="en-US" smtClean="0"/>
              <a:pPr/>
              <a:t>49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spTree>
      <p:nvGrpSpPr>
        <p:cNvPr id="1" name=""/>
        <p:cNvGrpSpPr/>
        <p:nvPr/>
      </p:nvGrpSpPr>
      <p:grpSpPr>
        <a:xfrm>
          <a:off x="0" y="0"/>
          <a:ext cx="0" cy="0"/>
          <a:chOff x="0" y="0"/>
          <a:chExt cx="0" cy="0"/>
        </a:xfrm>
      </p:grpSpPr>
      <p:sp>
        <p:nvSpPr>
          <p:cNvPr id="4098" name="Rectangle 1026"/>
          <p:cNvSpPr>
            <a:spLocks noGrp="1" noChangeArrowheads="1"/>
          </p:cNvSpPr>
          <p:nvPr>
            <p:ph type="ctrTitle"/>
          </p:nvPr>
        </p:nvSpPr>
        <p:spPr>
          <a:xfrm>
            <a:off x="533400" y="1447800"/>
            <a:ext cx="7772400" cy="1143000"/>
          </a:xfrm>
        </p:spPr>
        <p:txBody>
          <a:bodyPr/>
          <a:lstStyle>
            <a:lvl1pPr>
              <a:defRPr/>
            </a:lvl1pPr>
          </a:lstStyle>
          <a:p>
            <a:r>
              <a:rPr lang="en-US" dirty="0" smtClean="0"/>
              <a:t>Click to edit Master title style</a:t>
            </a:r>
            <a:endParaRPr lang="en-US" dirty="0"/>
          </a:p>
        </p:txBody>
      </p:sp>
      <p:sp>
        <p:nvSpPr>
          <p:cNvPr id="4099" name="Rectangle 1027"/>
          <p:cNvSpPr>
            <a:spLocks noGrp="1" noChangeArrowheads="1"/>
          </p:cNvSpPr>
          <p:nvPr>
            <p:ph type="subTitle" idx="1"/>
          </p:nvPr>
        </p:nvSpPr>
        <p:spPr>
          <a:xfrm>
            <a:off x="533400" y="2895600"/>
            <a:ext cx="7772400" cy="1752600"/>
          </a:xfrm>
        </p:spPr>
        <p:txBody>
          <a:bodyPr/>
          <a:lstStyle>
            <a:lvl1pPr marL="0" indent="0" algn="ctr">
              <a:buFont typeface="Arial" charset="0"/>
              <a:buNone/>
              <a:defRPr sz="2400"/>
            </a:lvl1pPr>
          </a:lstStyle>
          <a:p>
            <a:r>
              <a:rPr lang="en-US" smtClean="0"/>
              <a:t>Click to edit Master subtitle style</a:t>
            </a:r>
            <a:endParaRPr lang="en-US"/>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FDA0CC57-CE7D-8143-BD13-67094D272EE6}" type="slidenum">
              <a:rPr lang="en-US" smtClean="0"/>
              <a:pPr/>
              <a:t>‹#›</a:t>
            </a:fld>
            <a:endParaRPr lang="en-US"/>
          </a:p>
        </p:txBody>
      </p:sp>
      <p:sp>
        <p:nvSpPr>
          <p:cNvPr id="5" name="Footer Placeholder 4"/>
          <p:cNvSpPr>
            <a:spLocks noGrp="1"/>
          </p:cNvSpPr>
          <p:nvPr>
            <p:ph type="ftr" sz="quarter" idx="11"/>
          </p:nvPr>
        </p:nvSpPr>
        <p:spPr/>
        <p:txBody>
          <a:bodyPr/>
          <a:lstStyle>
            <a:lvl1pPr>
              <a:defRPr/>
            </a:lvl1pPr>
          </a:lstStyle>
          <a:p>
            <a:r>
              <a:rPr lang="en-US" smtClean="0"/>
              <a:t>Computational Sprinting</a:t>
            </a:r>
            <a:endParaRPr lang="en-US" dirty="0"/>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none"/>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a:lvl1pPr>
          </a:lstStyle>
          <a:p>
            <a:fld id="{FDA0CC57-CE7D-8143-BD13-67094D272EE6}" type="slidenum">
              <a:rPr lang="en-US" smtClean="0"/>
              <a:pPr/>
              <a:t>‹#›</a:t>
            </a:fld>
            <a:endParaRPr lang="en-US"/>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990600"/>
            <a:ext cx="4038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990600"/>
            <a:ext cx="4038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lvl1pPr>
              <a:defRPr/>
            </a:lvl1pPr>
          </a:lstStyle>
          <a:p>
            <a:fld id="{FDA0CC57-CE7D-8143-BD13-67094D272EE6}" type="slidenum">
              <a:rPr lang="en-US" smtClean="0"/>
              <a:pPr/>
              <a:t>‹#›</a:t>
            </a:fld>
            <a:endParaRPr lang="en-US"/>
          </a:p>
        </p:txBody>
      </p:sp>
      <p:sp>
        <p:nvSpPr>
          <p:cNvPr id="7" name="Rectangle 7"/>
          <p:cNvSpPr txBox="1">
            <a:spLocks noChangeArrowheads="1"/>
          </p:cNvSpPr>
          <p:nvPr userDrawn="1"/>
        </p:nvSpPr>
        <p:spPr bwMode="auto">
          <a:xfrm>
            <a:off x="4953000" y="6400800"/>
            <a:ext cx="3733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sz="12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tx2"/>
                </a:solidFill>
                <a:effectLst/>
                <a:uLnTx/>
                <a:uFillTx/>
                <a:latin typeface="+mn-lt"/>
                <a:ea typeface="+mn-ea"/>
                <a:cs typeface="+mn-cs"/>
              </a:rPr>
              <a:t>Computational Sprinting</a:t>
            </a:r>
            <a:endParaRPr kumimoji="0" lang="en-US" sz="12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lvl1pPr>
              <a:defRPr/>
            </a:lvl1pPr>
          </a:lstStyle>
          <a:p>
            <a:fld id="{FDA0CC57-CE7D-8143-BD13-67094D272EE6}" type="slidenum">
              <a:rPr lang="en-US" smtClean="0"/>
              <a:pPr/>
              <a:t>‹#›</a:t>
            </a:fld>
            <a:endParaRPr lang="en-US"/>
          </a:p>
        </p:txBody>
      </p:sp>
      <p:sp>
        <p:nvSpPr>
          <p:cNvPr id="9" name="Rectangle 7"/>
          <p:cNvSpPr txBox="1">
            <a:spLocks noChangeArrowheads="1"/>
          </p:cNvSpPr>
          <p:nvPr userDrawn="1"/>
        </p:nvSpPr>
        <p:spPr bwMode="auto">
          <a:xfrm>
            <a:off x="4953000" y="6400800"/>
            <a:ext cx="3733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sz="12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tx2"/>
                </a:solidFill>
                <a:effectLst/>
                <a:uLnTx/>
                <a:uFillTx/>
                <a:latin typeface="+mn-lt"/>
                <a:ea typeface="+mn-ea"/>
                <a:cs typeface="+mn-cs"/>
              </a:rPr>
              <a:t>Computational Sprinting</a:t>
            </a:r>
            <a:endParaRPr kumimoji="0" lang="en-US" sz="12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FDA0CC57-CE7D-8143-BD13-67094D272EE6}" type="slidenum">
              <a:rPr lang="en-US" smtClean="0"/>
              <a:pPr/>
              <a:t>‹#›</a:t>
            </a:fld>
            <a:endParaRPr lang="en-US"/>
          </a:p>
        </p:txBody>
      </p:sp>
      <p:sp>
        <p:nvSpPr>
          <p:cNvPr id="5" name="Rectangle 7"/>
          <p:cNvSpPr txBox="1">
            <a:spLocks noChangeArrowheads="1"/>
          </p:cNvSpPr>
          <p:nvPr userDrawn="1"/>
        </p:nvSpPr>
        <p:spPr bwMode="auto">
          <a:xfrm>
            <a:off x="4953000" y="6400800"/>
            <a:ext cx="3733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sz="12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tx2"/>
                </a:solidFill>
                <a:effectLst/>
                <a:uLnTx/>
                <a:uFillTx/>
                <a:latin typeface="+mn-lt"/>
                <a:ea typeface="+mn-ea"/>
                <a:cs typeface="+mn-cs"/>
              </a:rPr>
              <a:t>Computational Sprinting</a:t>
            </a:r>
            <a:endParaRPr kumimoji="0" lang="en-US" sz="12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FDA0CC57-CE7D-8143-BD13-67094D272EE6}" type="slidenum">
              <a:rPr lang="en-US" smtClean="0"/>
              <a:pPr/>
              <a:t>‹#›</a:t>
            </a:fld>
            <a:endParaRPr lang="en-US"/>
          </a:p>
        </p:txBody>
      </p:sp>
      <p:sp>
        <p:nvSpPr>
          <p:cNvPr id="4" name="Rectangle 7"/>
          <p:cNvSpPr txBox="1">
            <a:spLocks noChangeArrowheads="1"/>
          </p:cNvSpPr>
          <p:nvPr userDrawn="1"/>
        </p:nvSpPr>
        <p:spPr bwMode="auto">
          <a:xfrm>
            <a:off x="4953000" y="6400800"/>
            <a:ext cx="3733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sz="12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tx2"/>
                </a:solidFill>
                <a:effectLst/>
                <a:uLnTx/>
                <a:uFillTx/>
                <a:latin typeface="+mn-lt"/>
                <a:ea typeface="+mn-ea"/>
                <a:cs typeface="+mn-cs"/>
              </a:rPr>
              <a:t>Computational Sprinting</a:t>
            </a:r>
            <a:endParaRPr kumimoji="0" lang="en-US" sz="12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FDA0CC57-CE7D-8143-BD13-67094D272EE6}" type="slidenum">
              <a:rPr lang="en-US" smtClean="0"/>
              <a:pPr/>
              <a:t>‹#›</a:t>
            </a:fld>
            <a:endParaRPr lang="en-US"/>
          </a:p>
        </p:txBody>
      </p:sp>
      <p:sp>
        <p:nvSpPr>
          <p:cNvPr id="7" name="Rectangle 7"/>
          <p:cNvSpPr txBox="1">
            <a:spLocks noChangeArrowheads="1"/>
          </p:cNvSpPr>
          <p:nvPr userDrawn="1"/>
        </p:nvSpPr>
        <p:spPr bwMode="auto">
          <a:xfrm>
            <a:off x="4953000" y="6400800"/>
            <a:ext cx="3733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sz="12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tx2"/>
                </a:solidFill>
                <a:effectLst/>
                <a:uLnTx/>
                <a:uFillTx/>
                <a:latin typeface="+mn-lt"/>
                <a:ea typeface="+mn-ea"/>
                <a:cs typeface="+mn-cs"/>
              </a:rPr>
              <a:t>Computational Sprinting</a:t>
            </a:r>
            <a:endParaRPr kumimoji="0" lang="en-US" sz="12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FDA0CC57-CE7D-8143-BD13-67094D272EE6}" type="slidenum">
              <a:rPr lang="en-US" smtClean="0"/>
              <a:pPr/>
              <a:t>‹#›</a:t>
            </a:fld>
            <a:endParaRPr lang="en-US"/>
          </a:p>
        </p:txBody>
      </p:sp>
      <p:sp>
        <p:nvSpPr>
          <p:cNvPr id="7" name="Rectangle 7"/>
          <p:cNvSpPr txBox="1">
            <a:spLocks noChangeArrowheads="1"/>
          </p:cNvSpPr>
          <p:nvPr userDrawn="1"/>
        </p:nvSpPr>
        <p:spPr bwMode="auto">
          <a:xfrm>
            <a:off x="4953000" y="6400800"/>
            <a:ext cx="3733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sz="12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tx2"/>
                </a:solidFill>
                <a:effectLst/>
                <a:uLnTx/>
                <a:uFillTx/>
                <a:latin typeface="+mn-lt"/>
                <a:ea typeface="+mn-ea"/>
                <a:cs typeface="+mn-cs"/>
              </a:rPr>
              <a:t>Computational Sprinting</a:t>
            </a:r>
            <a:endParaRPr kumimoji="0" lang="en-US" sz="12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FDA0CC57-CE7D-8143-BD13-67094D272EE6}" type="slidenum">
              <a:rPr lang="en-US" smtClean="0"/>
              <a:pPr/>
              <a:t>‹#›</a:t>
            </a:fld>
            <a:endParaRPr lang="en-US"/>
          </a:p>
        </p:txBody>
      </p:sp>
      <p:sp>
        <p:nvSpPr>
          <p:cNvPr id="6" name="Rectangle 7"/>
          <p:cNvSpPr txBox="1">
            <a:spLocks noChangeArrowheads="1"/>
          </p:cNvSpPr>
          <p:nvPr userDrawn="1"/>
        </p:nvSpPr>
        <p:spPr bwMode="auto">
          <a:xfrm>
            <a:off x="4953000" y="6400800"/>
            <a:ext cx="3733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sz="12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tx2"/>
                </a:solidFill>
                <a:effectLst/>
                <a:uLnTx/>
                <a:uFillTx/>
                <a:latin typeface="+mn-lt"/>
                <a:ea typeface="+mn-ea"/>
                <a:cs typeface="+mn-cs"/>
              </a:rPr>
              <a:t>Computational Sprinting</a:t>
            </a:r>
            <a:endParaRPr kumimoji="0" lang="en-US" sz="12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943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04800"/>
            <a:ext cx="6019800" cy="5943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FDA0CC57-CE7D-8143-BD13-67094D272EE6}" type="slidenum">
              <a:rPr lang="en-US" smtClean="0"/>
              <a:pPr/>
              <a:t>‹#›</a:t>
            </a:fld>
            <a:endParaRPr lang="en-US"/>
          </a:p>
        </p:txBody>
      </p:sp>
      <p:sp>
        <p:nvSpPr>
          <p:cNvPr id="6" name="Rectangle 7"/>
          <p:cNvSpPr txBox="1">
            <a:spLocks noChangeArrowheads="1"/>
          </p:cNvSpPr>
          <p:nvPr userDrawn="1"/>
        </p:nvSpPr>
        <p:spPr bwMode="auto">
          <a:xfrm>
            <a:off x="4953000" y="6400800"/>
            <a:ext cx="3733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sz="12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tx2"/>
                </a:solidFill>
                <a:effectLst/>
                <a:uLnTx/>
                <a:uFillTx/>
                <a:latin typeface="+mn-lt"/>
                <a:ea typeface="+mn-ea"/>
                <a:cs typeface="+mn-cs"/>
              </a:rPr>
              <a:t>Computational Sprinting</a:t>
            </a:r>
            <a:endParaRPr kumimoji="0" lang="en-US" sz="12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304800"/>
            <a:ext cx="8229600" cy="533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3075" name="Rectangle 3"/>
          <p:cNvSpPr>
            <a:spLocks noGrp="1" noChangeArrowheads="1"/>
          </p:cNvSpPr>
          <p:nvPr>
            <p:ph type="body" idx="1"/>
          </p:nvPr>
        </p:nvSpPr>
        <p:spPr bwMode="auto">
          <a:xfrm>
            <a:off x="457200" y="990600"/>
            <a:ext cx="8229600" cy="5257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3076" name="Rectangle 4"/>
          <p:cNvSpPr>
            <a:spLocks noGrp="1" noChangeArrowheads="1"/>
          </p:cNvSpPr>
          <p:nvPr>
            <p:ph type="sldNum" sz="quarter" idx="4"/>
          </p:nvPr>
        </p:nvSpPr>
        <p:spPr bwMode="auto">
          <a:xfrm>
            <a:off x="454367" y="6394457"/>
            <a:ext cx="609600" cy="457200"/>
          </a:xfrm>
          <a:prstGeom prst="rect">
            <a:avLst/>
          </a:prstGeom>
          <a:noFill/>
          <a:ln w="9525">
            <a:noFill/>
            <a:miter lim="800000"/>
            <a:headEnd/>
            <a:tailEnd/>
          </a:ln>
          <a:effectLst>
            <a:prstShdw prst="shdw17" dist="17961" dir="2700000">
              <a:schemeClr val="accent1">
                <a:gamma/>
                <a:shade val="60000"/>
                <a:invGamma/>
              </a:schemeClr>
            </a:prstShdw>
          </a:effectLst>
        </p:spPr>
        <p:txBody>
          <a:bodyPr vert="horz" wrap="square" lIns="91440" tIns="45720" rIns="91440" bIns="45720" numCol="1" anchor="ctr" anchorCtr="0" compatLnSpc="1">
            <a:prstTxWarp prst="textNoShape">
              <a:avLst/>
            </a:prstTxWarp>
          </a:bodyPr>
          <a:lstStyle>
            <a:lvl1pPr>
              <a:defRPr sz="1000">
                <a:solidFill>
                  <a:schemeClr val="tx2"/>
                </a:solidFill>
              </a:defRPr>
            </a:lvl1pPr>
          </a:lstStyle>
          <a:p>
            <a:r>
              <a:rPr lang="en-US" smtClean="0"/>
              <a:t>[</a:t>
            </a:r>
            <a:fld id="{FDA0CC57-CE7D-8143-BD13-67094D272EE6}" type="slidenum">
              <a:rPr lang="en-US" sz="1400" smtClean="0"/>
              <a:pPr/>
              <a:t>‹#›</a:t>
            </a:fld>
            <a:r>
              <a:rPr lang="en-US" smtClean="0"/>
              <a:t>]</a:t>
            </a:r>
            <a:endParaRPr lang="en-US" dirty="0"/>
          </a:p>
        </p:txBody>
      </p:sp>
      <p:sp>
        <p:nvSpPr>
          <p:cNvPr id="3079" name="Rectangle 7"/>
          <p:cNvSpPr>
            <a:spLocks noGrp="1" noChangeArrowheads="1"/>
          </p:cNvSpPr>
          <p:nvPr>
            <p:ph type="ftr" sz="quarter" idx="3"/>
          </p:nvPr>
        </p:nvSpPr>
        <p:spPr bwMode="auto">
          <a:xfrm>
            <a:off x="4800600" y="6394457"/>
            <a:ext cx="38862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sz="1200">
                <a:solidFill>
                  <a:schemeClr val="tx2"/>
                </a:solidFill>
              </a:defRPr>
            </a:lvl1pPr>
          </a:lstStyle>
          <a:p>
            <a:r>
              <a:rPr lang="en-US" smtClean="0"/>
              <a:t>Computational Sprinting</a:t>
            </a:r>
            <a:endParaRPr lang="en-US" dirty="0"/>
          </a:p>
        </p:txBody>
      </p:sp>
      <p:sp>
        <p:nvSpPr>
          <p:cNvPr id="7" name="Isosceles Triangle 6"/>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Isosceles Triangle 8"/>
          <p:cNvSpPr>
            <a:spLocks noChangeAspect="1"/>
          </p:cNvSpPr>
          <p:nvPr userDrawn="1"/>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nLst>
      <p:par>
        <p:cTn id="1" dur="indefinite" restart="never" nodeType="tmRoot"/>
      </p:par>
    </p:tnLst>
  </p:timing>
  <p:hf hdr="0" dt="0"/>
  <p:txStyles>
    <p:titleStyle>
      <a:lvl1pPr algn="ctr" rtl="0" eaLnBrk="1" fontAlgn="base" hangingPunct="1">
        <a:spcBef>
          <a:spcPct val="0"/>
        </a:spcBef>
        <a:spcAft>
          <a:spcPct val="0"/>
        </a:spcAft>
        <a:defRPr sz="3200">
          <a:solidFill>
            <a:srgbClr val="780000"/>
          </a:solidFill>
          <a:latin typeface="Calibri"/>
          <a:ea typeface="+mj-ea"/>
          <a:cs typeface="Calibri"/>
        </a:defRPr>
      </a:lvl1pPr>
      <a:lvl2pPr algn="ctr" rtl="0" eaLnBrk="1" fontAlgn="base" hangingPunct="1">
        <a:spcBef>
          <a:spcPct val="0"/>
        </a:spcBef>
        <a:spcAft>
          <a:spcPct val="0"/>
        </a:spcAft>
        <a:defRPr sz="3200">
          <a:solidFill>
            <a:srgbClr val="780000"/>
          </a:solidFill>
          <a:latin typeface="Arial" charset="0"/>
        </a:defRPr>
      </a:lvl2pPr>
      <a:lvl3pPr algn="ctr" rtl="0" eaLnBrk="1" fontAlgn="base" hangingPunct="1">
        <a:spcBef>
          <a:spcPct val="0"/>
        </a:spcBef>
        <a:spcAft>
          <a:spcPct val="0"/>
        </a:spcAft>
        <a:defRPr sz="3200">
          <a:solidFill>
            <a:srgbClr val="780000"/>
          </a:solidFill>
          <a:latin typeface="Arial" charset="0"/>
        </a:defRPr>
      </a:lvl3pPr>
      <a:lvl4pPr algn="ctr" rtl="0" eaLnBrk="1" fontAlgn="base" hangingPunct="1">
        <a:spcBef>
          <a:spcPct val="0"/>
        </a:spcBef>
        <a:spcAft>
          <a:spcPct val="0"/>
        </a:spcAft>
        <a:defRPr sz="3200">
          <a:solidFill>
            <a:srgbClr val="780000"/>
          </a:solidFill>
          <a:latin typeface="Arial" charset="0"/>
        </a:defRPr>
      </a:lvl4pPr>
      <a:lvl5pPr algn="ctr" rtl="0" eaLnBrk="1" fontAlgn="base" hangingPunct="1">
        <a:spcBef>
          <a:spcPct val="0"/>
        </a:spcBef>
        <a:spcAft>
          <a:spcPct val="0"/>
        </a:spcAft>
        <a:defRPr sz="3200">
          <a:solidFill>
            <a:srgbClr val="780000"/>
          </a:solidFill>
          <a:latin typeface="Arial" charset="0"/>
        </a:defRPr>
      </a:lvl5pPr>
      <a:lvl6pPr marL="457200" algn="ctr" rtl="0" eaLnBrk="1" fontAlgn="base" hangingPunct="1">
        <a:spcBef>
          <a:spcPct val="0"/>
        </a:spcBef>
        <a:spcAft>
          <a:spcPct val="0"/>
        </a:spcAft>
        <a:defRPr sz="3200">
          <a:solidFill>
            <a:srgbClr val="780000"/>
          </a:solidFill>
          <a:latin typeface="Arial" charset="0"/>
        </a:defRPr>
      </a:lvl6pPr>
      <a:lvl7pPr marL="914400" algn="ctr" rtl="0" eaLnBrk="1" fontAlgn="base" hangingPunct="1">
        <a:spcBef>
          <a:spcPct val="0"/>
        </a:spcBef>
        <a:spcAft>
          <a:spcPct val="0"/>
        </a:spcAft>
        <a:defRPr sz="3200">
          <a:solidFill>
            <a:srgbClr val="780000"/>
          </a:solidFill>
          <a:latin typeface="Arial" charset="0"/>
        </a:defRPr>
      </a:lvl7pPr>
      <a:lvl8pPr marL="1371600" algn="ctr" rtl="0" eaLnBrk="1" fontAlgn="base" hangingPunct="1">
        <a:spcBef>
          <a:spcPct val="0"/>
        </a:spcBef>
        <a:spcAft>
          <a:spcPct val="0"/>
        </a:spcAft>
        <a:defRPr sz="3200">
          <a:solidFill>
            <a:srgbClr val="780000"/>
          </a:solidFill>
          <a:latin typeface="Arial" charset="0"/>
        </a:defRPr>
      </a:lvl8pPr>
      <a:lvl9pPr marL="1828800" algn="ctr" rtl="0" eaLnBrk="1" fontAlgn="base" hangingPunct="1">
        <a:spcBef>
          <a:spcPct val="0"/>
        </a:spcBef>
        <a:spcAft>
          <a:spcPct val="0"/>
        </a:spcAft>
        <a:defRPr sz="3200">
          <a:solidFill>
            <a:srgbClr val="780000"/>
          </a:solidFill>
          <a:latin typeface="Arial" charset="0"/>
        </a:defRPr>
      </a:lvl9pPr>
    </p:titleStyle>
    <p:bodyStyle>
      <a:lvl1pPr marL="227013" indent="-227013" algn="l" rtl="0" eaLnBrk="1" fontAlgn="base" hangingPunct="1">
        <a:spcBef>
          <a:spcPct val="20000"/>
        </a:spcBef>
        <a:spcAft>
          <a:spcPct val="0"/>
        </a:spcAft>
        <a:buSzPct val="100000"/>
        <a:buFont typeface="Arial" charset="0"/>
        <a:buChar char="•"/>
        <a:defRPr sz="2800">
          <a:solidFill>
            <a:schemeClr val="tx1"/>
          </a:solidFill>
          <a:latin typeface="Calibri"/>
          <a:ea typeface="+mn-ea"/>
          <a:cs typeface="Calibri"/>
        </a:defRPr>
      </a:lvl1pPr>
      <a:lvl2pPr marL="682625" indent="-223838" algn="l" rtl="0" eaLnBrk="1" fontAlgn="base" hangingPunct="1">
        <a:spcBef>
          <a:spcPct val="20000"/>
        </a:spcBef>
        <a:spcAft>
          <a:spcPct val="0"/>
        </a:spcAft>
        <a:buFont typeface="Arial" charset="0"/>
        <a:buChar char="•"/>
        <a:defRPr sz="2400">
          <a:solidFill>
            <a:schemeClr val="tx1"/>
          </a:solidFill>
          <a:latin typeface="Calibri"/>
          <a:cs typeface="Calibri"/>
        </a:defRPr>
      </a:lvl2pPr>
      <a:lvl3pPr marL="1144588" indent="-227013" algn="l" rtl="0" eaLnBrk="1" fontAlgn="base" hangingPunct="1">
        <a:spcBef>
          <a:spcPct val="20000"/>
        </a:spcBef>
        <a:spcAft>
          <a:spcPct val="0"/>
        </a:spcAft>
        <a:buFont typeface="Arial" charset="0"/>
        <a:buChar char="•"/>
        <a:defRPr sz="2400">
          <a:solidFill>
            <a:schemeClr val="tx1"/>
          </a:solidFill>
          <a:latin typeface="Calibri"/>
          <a:cs typeface="Calibri"/>
        </a:defRPr>
      </a:lvl3pPr>
      <a:lvl4pPr marL="1600200" indent="-227013" algn="l" rtl="0" eaLnBrk="1" fontAlgn="base" hangingPunct="1">
        <a:spcBef>
          <a:spcPct val="20000"/>
        </a:spcBef>
        <a:spcAft>
          <a:spcPct val="0"/>
        </a:spcAft>
        <a:buFont typeface="Arial" charset="0"/>
        <a:buChar char="•"/>
        <a:defRPr sz="2000">
          <a:solidFill>
            <a:schemeClr val="tx1"/>
          </a:solidFill>
          <a:latin typeface="Calibri"/>
          <a:cs typeface="Calibri"/>
        </a:defRPr>
      </a:lvl4pPr>
      <a:lvl5pPr marL="2055813" indent="-228600" algn="l" rtl="0" eaLnBrk="1" fontAlgn="base" hangingPunct="1">
        <a:spcBef>
          <a:spcPct val="20000"/>
        </a:spcBef>
        <a:spcAft>
          <a:spcPct val="0"/>
        </a:spcAft>
        <a:buFont typeface="Arial" charset="0"/>
        <a:buChar char="•"/>
        <a:defRPr sz="2000">
          <a:solidFill>
            <a:schemeClr val="tx1"/>
          </a:solidFill>
          <a:latin typeface="Calibri"/>
          <a:cs typeface="Calibri"/>
        </a:defRPr>
      </a:lvl5pPr>
      <a:lvl6pPr marL="2513013" indent="-228600" algn="l" rtl="0" eaLnBrk="1" fontAlgn="base" hangingPunct="1">
        <a:spcBef>
          <a:spcPct val="20000"/>
        </a:spcBef>
        <a:spcAft>
          <a:spcPct val="0"/>
        </a:spcAft>
        <a:buFont typeface="Arial" charset="0"/>
        <a:buChar char="•"/>
        <a:defRPr sz="2000">
          <a:solidFill>
            <a:schemeClr val="tx1"/>
          </a:solidFill>
          <a:latin typeface="+mn-lt"/>
        </a:defRPr>
      </a:lvl6pPr>
      <a:lvl7pPr marL="2970213" indent="-228600" algn="l" rtl="0" eaLnBrk="1" fontAlgn="base" hangingPunct="1">
        <a:spcBef>
          <a:spcPct val="20000"/>
        </a:spcBef>
        <a:spcAft>
          <a:spcPct val="0"/>
        </a:spcAft>
        <a:buFont typeface="Arial" charset="0"/>
        <a:buChar char="•"/>
        <a:defRPr sz="2000">
          <a:solidFill>
            <a:schemeClr val="tx1"/>
          </a:solidFill>
          <a:latin typeface="+mn-lt"/>
        </a:defRPr>
      </a:lvl7pPr>
      <a:lvl8pPr marL="3427413" indent="-228600" algn="l" rtl="0" eaLnBrk="1" fontAlgn="base" hangingPunct="1">
        <a:spcBef>
          <a:spcPct val="20000"/>
        </a:spcBef>
        <a:spcAft>
          <a:spcPct val="0"/>
        </a:spcAft>
        <a:buFont typeface="Arial" charset="0"/>
        <a:buChar char="•"/>
        <a:defRPr sz="2000">
          <a:solidFill>
            <a:schemeClr val="tx1"/>
          </a:solidFill>
          <a:latin typeface="+mn-lt"/>
        </a:defRPr>
      </a:lvl8pPr>
      <a:lvl9pPr marL="3884613" indent="-228600" algn="l"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3.0/us/" TargetMode="External"/><Relationship Id="rId4" Type="http://schemas.openxmlformats.org/officeDocument/2006/relationships/image" Target="../media/image3.png"/><Relationship Id="rId5"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4" Type="http://schemas.openxmlformats.org/officeDocument/2006/relationships/image" Target="../media/image10.jpeg"/><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14.png"/><Relationship Id="rId7" Type="http://schemas.openxmlformats.org/officeDocument/2006/relationships/image" Target="../media/image15.jpeg"/><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3" Type="http://schemas.openxmlformats.org/officeDocument/2006/relationships/chart" Target="../charts/chart12.xml"/><Relationship Id="rId4" Type="http://schemas.openxmlformats.org/officeDocument/2006/relationships/chart" Target="../charts/chart13.xml"/><Relationship Id="rId5"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jpeg"/></Relationships>
</file>

<file path=ppt/slides/_rels/slide21.xml.rels><?xml version="1.0" encoding="UTF-8" standalone="yes"?>
<Relationships xmlns="http://schemas.openxmlformats.org/package/2006/relationships"><Relationship Id="rId3" Type="http://schemas.openxmlformats.org/officeDocument/2006/relationships/chart" Target="../charts/chart14.xml"/><Relationship Id="rId4" Type="http://schemas.openxmlformats.org/officeDocument/2006/relationships/chart" Target="../charts/chart15.xml"/><Relationship Id="rId5"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3" Type="http://schemas.openxmlformats.org/officeDocument/2006/relationships/chart" Target="../charts/chart16.xml"/><Relationship Id="rId4" Type="http://schemas.openxmlformats.org/officeDocument/2006/relationships/chart" Target="../charts/chart17.xml"/><Relationship Id="rId5"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3" Type="http://schemas.openxmlformats.org/officeDocument/2006/relationships/chart" Target="../charts/chart18.xml"/><Relationship Id="rId4" Type="http://schemas.openxmlformats.org/officeDocument/2006/relationships/chart" Target="../charts/chart19.xml"/><Relationship Id="rId5"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3" Type="http://schemas.openxmlformats.org/officeDocument/2006/relationships/chart" Target="../charts/chart20.xml"/><Relationship Id="rId4" Type="http://schemas.openxmlformats.org/officeDocument/2006/relationships/chart" Target="../charts/chart21.xml"/><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chart" Target="../charts/char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chart" Target="../charts/char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4.xml"/><Relationship Id="rId3" Type="http://schemas.openxmlformats.org/officeDocument/2006/relationships/chart" Target="../charts/char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chart" Target="../charts/chart28.xml"/><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chart" Target="../charts/chart32.xml"/><Relationship Id="rId1" Type="http://schemas.openxmlformats.org/officeDocument/2006/relationships/slideLayout" Target="../slideLayouts/slideLayout2.xml"/><Relationship Id="rId2" Type="http://schemas.openxmlformats.org/officeDocument/2006/relationships/chart" Target="../charts/chart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3.xml"/><Relationship Id="rId3" Type="http://schemas.openxmlformats.org/officeDocument/2006/relationships/chart" Target="../charts/chart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5.xml"/><Relationship Id="rId3" Type="http://schemas.openxmlformats.org/officeDocument/2006/relationships/chart" Target="../charts/chart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6.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chart" Target="../charts/chart37.xml"/></Relationships>
</file>

<file path=ppt/slides/_rels/slide46.xml.rels><?xml version="1.0" encoding="UTF-8" standalone="yes"?>
<Relationships xmlns="http://schemas.openxmlformats.org/package/2006/relationships"><Relationship Id="rId3" Type="http://schemas.openxmlformats.org/officeDocument/2006/relationships/chart" Target="../charts/chart38.xml"/><Relationship Id="rId4" Type="http://schemas.openxmlformats.org/officeDocument/2006/relationships/image" Target="../media/image13.jpeg"/><Relationship Id="rId5" Type="http://schemas.openxmlformats.org/officeDocument/2006/relationships/image" Target="../media/image15.jpeg"/><Relationship Id="rId6" Type="http://schemas.openxmlformats.org/officeDocument/2006/relationships/image" Target="../media/image11.jpeg"/><Relationship Id="rId7" Type="http://schemas.openxmlformats.org/officeDocument/2006/relationships/image" Target="../media/image14.png"/><Relationship Id="rId8" Type="http://schemas.openxmlformats.org/officeDocument/2006/relationships/image" Target="../media/image12.jpeg"/><Relationship Id="rId9" Type="http://schemas.openxmlformats.org/officeDocument/2006/relationships/chart" Target="../charts/chart39.xml"/><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Computational Sprinting</a:t>
            </a:r>
            <a:endParaRPr lang="en-US" dirty="0"/>
          </a:p>
        </p:txBody>
      </p:sp>
      <p:sp>
        <p:nvSpPr>
          <p:cNvPr id="4" name="Rectangle 3"/>
          <p:cNvSpPr>
            <a:spLocks noGrp="1" noChangeArrowheads="1"/>
          </p:cNvSpPr>
          <p:nvPr>
            <p:ph type="subTitle" idx="1"/>
          </p:nvPr>
        </p:nvSpPr>
        <p:spPr/>
        <p:txBody>
          <a:bodyPr wrap="none"/>
          <a:lstStyle/>
          <a:p>
            <a:r>
              <a:rPr lang="en-US" dirty="0" smtClean="0"/>
              <a:t>Arun Raghavan</a:t>
            </a:r>
            <a:r>
              <a:rPr lang="en-US" sz="3200" baseline="30000" dirty="0" smtClean="0"/>
              <a:t>*</a:t>
            </a:r>
            <a:r>
              <a:rPr lang="en-US" dirty="0" smtClean="0"/>
              <a:t>, </a:t>
            </a:r>
            <a:r>
              <a:rPr lang="en-US" dirty="0" err="1" smtClean="0"/>
              <a:t>Yixin</a:t>
            </a:r>
            <a:r>
              <a:rPr lang="en-US" dirty="0" smtClean="0"/>
              <a:t> </a:t>
            </a:r>
            <a:r>
              <a:rPr lang="en-US" dirty="0" err="1" smtClean="0"/>
              <a:t>Luo</a:t>
            </a:r>
            <a:r>
              <a:rPr lang="en-US" sz="3200" baseline="30000" dirty="0" smtClean="0"/>
              <a:t>+</a:t>
            </a:r>
            <a:r>
              <a:rPr lang="en-US" dirty="0" smtClean="0"/>
              <a:t>, </a:t>
            </a:r>
            <a:r>
              <a:rPr lang="en-US" dirty="0" err="1" smtClean="0"/>
              <a:t>Anuj</a:t>
            </a:r>
            <a:r>
              <a:rPr lang="en-US" dirty="0" smtClean="0"/>
              <a:t> </a:t>
            </a:r>
            <a:r>
              <a:rPr lang="en-US" dirty="0" err="1" smtClean="0"/>
              <a:t>Chandawalla</a:t>
            </a:r>
            <a:r>
              <a:rPr lang="en-US" sz="3200" baseline="30000" dirty="0" smtClean="0"/>
              <a:t>+</a:t>
            </a:r>
            <a:r>
              <a:rPr lang="en-US" dirty="0" smtClean="0"/>
              <a:t>, </a:t>
            </a:r>
            <a:br>
              <a:rPr lang="en-US" dirty="0" smtClean="0"/>
            </a:br>
            <a:r>
              <a:rPr lang="en-US" dirty="0" err="1" smtClean="0"/>
              <a:t>Marios</a:t>
            </a:r>
            <a:r>
              <a:rPr lang="en-US" dirty="0" smtClean="0"/>
              <a:t> Papaefthymiou</a:t>
            </a:r>
            <a:r>
              <a:rPr lang="en-US" sz="3200" baseline="30000" dirty="0" smtClean="0"/>
              <a:t>+</a:t>
            </a:r>
            <a:r>
              <a:rPr lang="en-US" dirty="0" smtClean="0"/>
              <a:t>, Kevin P. Pipe</a:t>
            </a:r>
            <a:r>
              <a:rPr lang="en-US" sz="3200" baseline="30000" dirty="0" smtClean="0"/>
              <a:t>+#</a:t>
            </a:r>
            <a:r>
              <a:rPr lang="en-US" dirty="0" smtClean="0"/>
              <a:t>, </a:t>
            </a:r>
          </a:p>
          <a:p>
            <a:r>
              <a:rPr lang="en-US" dirty="0" smtClean="0"/>
              <a:t>Thomas F. Wenisch</a:t>
            </a:r>
            <a:r>
              <a:rPr lang="en-US" sz="3200" baseline="30000" dirty="0" smtClean="0"/>
              <a:t>+</a:t>
            </a:r>
            <a:r>
              <a:rPr lang="en-US" dirty="0" smtClean="0"/>
              <a:t>, </a:t>
            </a:r>
            <a:r>
              <a:rPr lang="en-US" b="1" dirty="0" smtClean="0">
                <a:solidFill>
                  <a:schemeClr val="accent2"/>
                </a:solidFill>
              </a:rPr>
              <a:t>Milo M. K. Martin</a:t>
            </a:r>
            <a:r>
              <a:rPr lang="en-US" sz="3200" b="1" baseline="30000" dirty="0" smtClean="0">
                <a:solidFill>
                  <a:schemeClr val="accent2"/>
                </a:solidFill>
              </a:rPr>
              <a:t>*</a:t>
            </a:r>
          </a:p>
          <a:p>
            <a:endParaRPr lang="en-US" dirty="0" smtClean="0"/>
          </a:p>
          <a:p>
            <a:r>
              <a:rPr lang="en-US" dirty="0" smtClean="0"/>
              <a:t>University of Pennsylvania, Computer and Information Science</a:t>
            </a:r>
            <a:r>
              <a:rPr lang="en-US" sz="3200" baseline="30000" dirty="0" smtClean="0"/>
              <a:t>*</a:t>
            </a:r>
          </a:p>
          <a:p>
            <a:r>
              <a:rPr lang="en-US" dirty="0" smtClean="0"/>
              <a:t>University of Michigan, Electrical Eng. and Computer Science</a:t>
            </a:r>
            <a:r>
              <a:rPr lang="en-US" sz="3200" baseline="30000" dirty="0" smtClean="0"/>
              <a:t>+</a:t>
            </a:r>
            <a:r>
              <a:rPr lang="en-US" dirty="0" smtClean="0"/>
              <a:t/>
            </a:r>
            <a:br>
              <a:rPr lang="en-US" dirty="0" smtClean="0"/>
            </a:br>
            <a:r>
              <a:rPr lang="en-US" dirty="0" smtClean="0"/>
              <a:t> University of Michigan, Mechanical Engineering</a:t>
            </a:r>
            <a:r>
              <a:rPr lang="en-US" sz="3200" baseline="30000" dirty="0" smtClean="0"/>
              <a:t>#</a:t>
            </a:r>
            <a:endParaRPr lang="en-US" dirty="0" smtClean="0"/>
          </a:p>
        </p:txBody>
      </p:sp>
      <p:grpSp>
        <p:nvGrpSpPr>
          <p:cNvPr id="3" name="Group 5"/>
          <p:cNvGrpSpPr/>
          <p:nvPr/>
        </p:nvGrpSpPr>
        <p:grpSpPr>
          <a:xfrm>
            <a:off x="666750" y="317500"/>
            <a:ext cx="7810500" cy="914400"/>
            <a:chOff x="314325" y="317500"/>
            <a:chExt cx="7810500" cy="914400"/>
          </a:xfrm>
        </p:grpSpPr>
        <p:pic>
          <p:nvPicPr>
            <p:cNvPr id="12" name="Picture 11"/>
            <p:cNvPicPr>
              <a:picLocks/>
            </p:cNvPicPr>
            <p:nvPr/>
          </p:nvPicPr>
          <p:blipFill>
            <a:blip r:embed="rId3"/>
            <a:stretch>
              <a:fillRect/>
            </a:stretch>
          </p:blipFill>
          <p:spPr>
            <a:xfrm>
              <a:off x="6397625" y="317500"/>
              <a:ext cx="1727200" cy="914400"/>
            </a:xfrm>
            <a:prstGeom prst="rect">
              <a:avLst/>
            </a:prstGeom>
          </p:spPr>
        </p:pic>
        <p:pic>
          <p:nvPicPr>
            <p:cNvPr id="13" name="Picture 12"/>
            <p:cNvPicPr>
              <a:picLocks/>
            </p:cNvPicPr>
            <p:nvPr/>
          </p:nvPicPr>
          <p:blipFill>
            <a:blip r:embed="rId4"/>
            <a:stretch>
              <a:fillRect/>
            </a:stretch>
          </p:blipFill>
          <p:spPr>
            <a:xfrm>
              <a:off x="314325" y="317500"/>
              <a:ext cx="2315921" cy="914400"/>
            </a:xfrm>
            <a:prstGeom prst="rect">
              <a:avLst/>
            </a:prstGeom>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smtClean="0"/>
              <a:t>This work licensed under the Creative Commons </a:t>
            </a:r>
            <a:br>
              <a:rPr lang="en-US" sz="2000" smtClean="0"/>
            </a:br>
            <a:r>
              <a:rPr lang="en-US" sz="2400" b="1" smtClean="0"/>
              <a:t>Attribution-Share Alike 3.0 United States</a:t>
            </a:r>
            <a:r>
              <a:rPr lang="en-US" sz="2400" smtClean="0"/>
              <a:t> License</a:t>
            </a:r>
            <a:endParaRPr lang="en-US" sz="2400" dirty="0"/>
          </a:p>
        </p:txBody>
      </p:sp>
      <p:sp>
        <p:nvSpPr>
          <p:cNvPr id="3" name="Content Placeholder 2"/>
          <p:cNvSpPr>
            <a:spLocks noGrp="1"/>
          </p:cNvSpPr>
          <p:nvPr>
            <p:ph idx="1"/>
          </p:nvPr>
        </p:nvSpPr>
        <p:spPr/>
        <p:txBody>
          <a:bodyPr/>
          <a:lstStyle/>
          <a:p>
            <a:r>
              <a:rPr lang="en-US" sz="2000" b="1" smtClean="0"/>
              <a:t>You are free:</a:t>
            </a:r>
          </a:p>
          <a:p>
            <a:pPr lvl="1"/>
            <a:r>
              <a:rPr lang="en-US" sz="1600" smtClean="0"/>
              <a:t>to </a:t>
            </a:r>
            <a:r>
              <a:rPr lang="en-US" sz="1600" b="1" smtClean="0"/>
              <a:t>Share</a:t>
            </a:r>
            <a:r>
              <a:rPr lang="en-US" sz="1600" smtClean="0"/>
              <a:t> — to copy, distribute, display, and perform the work</a:t>
            </a:r>
          </a:p>
          <a:p>
            <a:pPr lvl="1"/>
            <a:r>
              <a:rPr lang="en-US" sz="1600" smtClean="0"/>
              <a:t>to </a:t>
            </a:r>
            <a:r>
              <a:rPr lang="en-US" sz="1600" b="1" smtClean="0"/>
              <a:t>Remix </a:t>
            </a:r>
            <a:r>
              <a:rPr lang="en-US" sz="1600" smtClean="0"/>
              <a:t>— to make derivative works</a:t>
            </a:r>
          </a:p>
          <a:p>
            <a:r>
              <a:rPr lang="en-US" sz="2000" b="1" smtClean="0"/>
              <a:t>Under the following conditions:</a:t>
            </a:r>
          </a:p>
          <a:p>
            <a:pPr lvl="1"/>
            <a:r>
              <a:rPr lang="en-US" sz="1600" b="1" smtClean="0"/>
              <a:t>Attribution</a:t>
            </a:r>
            <a:r>
              <a:rPr lang="en-US" sz="1600" smtClean="0"/>
              <a:t>. You must attribute the work in the manner specified by the author or licensor (but not in any way that suggests that they endorse you or your use of the work). </a:t>
            </a:r>
          </a:p>
          <a:p>
            <a:pPr lvl="1"/>
            <a:r>
              <a:rPr lang="en-US" sz="1600" b="1" smtClean="0"/>
              <a:t>Share Alike</a:t>
            </a:r>
            <a:r>
              <a:rPr lang="en-US" sz="1600" smtClean="0"/>
              <a:t>. If you alter, transform, or build upon this work, you may distribute the resulting work only under the same, similar or a compatible license. </a:t>
            </a:r>
          </a:p>
          <a:p>
            <a:pPr lvl="1"/>
            <a:endParaRPr lang="en-US" sz="1600" smtClean="0"/>
          </a:p>
          <a:p>
            <a:r>
              <a:rPr lang="en-US" sz="2000" smtClean="0"/>
              <a:t>For any reuse or distribution, you must make clear to others the license terms of this work. The best way to do this is with a link to:</a:t>
            </a:r>
          </a:p>
          <a:p>
            <a:pPr algn="ctr">
              <a:buNone/>
            </a:pPr>
            <a:r>
              <a:rPr lang="en-US" sz="2000" b="1" smtClean="0">
                <a:hlinkClick r:id="rId3"/>
              </a:rPr>
              <a:t>http://creativecommons.org/licenses/by-sa/3.0/us/</a:t>
            </a:r>
            <a:r>
              <a:rPr lang="en-US" sz="2000" b="1" smtClean="0"/>
              <a:t> </a:t>
            </a:r>
            <a:endParaRPr lang="en-US" sz="2000" smtClean="0"/>
          </a:p>
          <a:p>
            <a:r>
              <a:rPr lang="en-US" sz="2000" smtClean="0"/>
              <a:t>Any of the above conditions can be waived if you get permission from the copyright holder.</a:t>
            </a:r>
          </a:p>
          <a:p>
            <a:r>
              <a:rPr lang="en-US" sz="2000" smtClean="0"/>
              <a:t>Apart from the remix rights granted under this license, nothing in this license impairs or restricts the author's moral rights.</a:t>
            </a:r>
            <a:endParaRPr lang="en-US" sz="2000" dirty="0"/>
          </a:p>
        </p:txBody>
      </p:sp>
      <p:pic>
        <p:nvPicPr>
          <p:cNvPr id="6" name="Picture 5" descr="88x31.png"/>
          <p:cNvPicPr>
            <a:picLocks noChangeAspect="1"/>
          </p:cNvPicPr>
          <p:nvPr/>
        </p:nvPicPr>
        <p:blipFill>
          <a:blip r:embed="rId4"/>
          <a:stretch>
            <a:fillRect/>
          </a:stretch>
        </p:blipFill>
        <p:spPr>
          <a:xfrm>
            <a:off x="7772400" y="152400"/>
            <a:ext cx="1117460" cy="393651"/>
          </a:xfrm>
          <a:prstGeom prst="rect">
            <a:avLst/>
          </a:prstGeom>
        </p:spPr>
      </p:pic>
      <p:pic>
        <p:nvPicPr>
          <p:cNvPr id="7" name="Picture 6" descr="somerights20.png"/>
          <p:cNvPicPr>
            <a:picLocks noChangeAspect="1"/>
          </p:cNvPicPr>
          <p:nvPr/>
        </p:nvPicPr>
        <p:blipFill>
          <a:blip r:embed="rId5"/>
          <a:stretch>
            <a:fillRect/>
          </a:stretch>
        </p:blipFill>
        <p:spPr>
          <a:xfrm>
            <a:off x="254000" y="152400"/>
            <a:ext cx="1117600" cy="393700"/>
          </a:xfrm>
          <a:prstGeom prst="rect">
            <a:avLst/>
          </a:prstGeom>
        </p:spPr>
      </p:pic>
      <p:sp>
        <p:nvSpPr>
          <p:cNvPr id="10" name="Slide Number Placeholder 3"/>
          <p:cNvSpPr>
            <a:spLocks noGrp="1"/>
          </p:cNvSpPr>
          <p:nvPr>
            <p:ph type="sldNum" sz="quarter" idx="10"/>
          </p:nvPr>
        </p:nvSpPr>
        <p:spPr>
          <a:xfrm>
            <a:off x="454367" y="6394457"/>
            <a:ext cx="609600" cy="457200"/>
          </a:xfrm>
        </p:spPr>
        <p:txBody>
          <a:bodyPr/>
          <a:lstStyle/>
          <a:p>
            <a:fld id="{FDA0CC57-CE7D-8143-BD13-67094D272EE6}" type="slidenum">
              <a:rPr lang="en-US" smtClean="0"/>
              <a:pPr/>
              <a:t>2</a:t>
            </a:fld>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My (Other) Research</a:t>
            </a:r>
            <a:endParaRPr lang="en-US" dirty="0"/>
          </a:p>
        </p:txBody>
      </p:sp>
      <p:sp>
        <p:nvSpPr>
          <p:cNvPr id="3" name="Content Placeholder 2"/>
          <p:cNvSpPr>
            <a:spLocks noGrp="1"/>
          </p:cNvSpPr>
          <p:nvPr>
            <p:ph idx="1"/>
          </p:nvPr>
        </p:nvSpPr>
        <p:spPr/>
        <p:txBody>
          <a:bodyPr/>
          <a:lstStyle/>
          <a:p>
            <a:r>
              <a:rPr lang="en-US" b="1" dirty="0" err="1" smtClean="0">
                <a:solidFill>
                  <a:srgbClr val="005EA7"/>
                </a:solidFill>
              </a:rPr>
              <a:t>Multicore</a:t>
            </a:r>
            <a:r>
              <a:rPr lang="en-US" b="1" dirty="0" smtClean="0">
                <a:solidFill>
                  <a:srgbClr val="005EA7"/>
                </a:solidFill>
              </a:rPr>
              <a:t> memory systems</a:t>
            </a:r>
          </a:p>
          <a:p>
            <a:pPr lvl="1"/>
            <a:r>
              <a:rPr lang="en-US" dirty="0" smtClean="0"/>
              <a:t>Adaptive cache coherence protocols</a:t>
            </a:r>
          </a:p>
          <a:p>
            <a:pPr lvl="1"/>
            <a:r>
              <a:rPr lang="en-US" dirty="0" smtClean="0"/>
              <a:t>Memory consistency: specification &amp; implementation</a:t>
            </a:r>
          </a:p>
          <a:p>
            <a:pPr lvl="1"/>
            <a:r>
              <a:rPr lang="en-US" dirty="0" smtClean="0"/>
              <a:t>“Why On-chip Cache Coherence is Here to Stay”</a:t>
            </a:r>
            <a:br>
              <a:rPr lang="en-US" dirty="0" smtClean="0"/>
            </a:br>
            <a:r>
              <a:rPr lang="en-US" i="1" dirty="0" smtClean="0"/>
              <a:t>Communications of the ACM</a:t>
            </a:r>
            <a:r>
              <a:rPr lang="en-US" dirty="0" smtClean="0"/>
              <a:t>, July 2012</a:t>
            </a:r>
          </a:p>
          <a:p>
            <a:r>
              <a:rPr lang="en-US" b="1" dirty="0" smtClean="0">
                <a:solidFill>
                  <a:srgbClr val="005EA7"/>
                </a:solidFill>
              </a:rPr>
              <a:t>Transactional memory</a:t>
            </a:r>
          </a:p>
          <a:p>
            <a:pPr lvl="1"/>
            <a:r>
              <a:rPr lang="en-US" dirty="0" smtClean="0"/>
              <a:t>Semantics (what does “atomic” really mean?)</a:t>
            </a:r>
          </a:p>
          <a:p>
            <a:pPr lvl="1"/>
            <a:r>
              <a:rPr lang="en-US" dirty="0" smtClean="0"/>
              <a:t>Extending transaction sizes &amp; handling overflow</a:t>
            </a:r>
          </a:p>
          <a:p>
            <a:pPr lvl="1"/>
            <a:r>
              <a:rPr lang="en-US" dirty="0" smtClean="0"/>
              <a:t>Conflict avoiding hardware via repair (true &amp; false sharing)</a:t>
            </a:r>
          </a:p>
          <a:p>
            <a:r>
              <a:rPr lang="en-US" b="1" dirty="0" smtClean="0">
                <a:solidFill>
                  <a:srgbClr val="005EA7"/>
                </a:solidFill>
              </a:rPr>
              <a:t>Hardware support for security</a:t>
            </a:r>
          </a:p>
          <a:p>
            <a:pPr lvl="1"/>
            <a:r>
              <a:rPr lang="en-US" dirty="0" smtClean="0"/>
              <a:t>Goal: C/C++ as safe and secure as Java</a:t>
            </a:r>
          </a:p>
          <a:p>
            <a:pPr lvl="1"/>
            <a:r>
              <a:rPr lang="en-US" dirty="0" smtClean="0"/>
              <a:t>Hardware/compiler co-design to provide memory safety </a:t>
            </a:r>
          </a:p>
          <a:p>
            <a:pPr lvl="1"/>
            <a:endParaRPr lang="en-US" dirty="0" smtClean="0"/>
          </a:p>
        </p:txBody>
      </p:sp>
      <p:sp>
        <p:nvSpPr>
          <p:cNvPr id="4" name="Slide Number Placeholder 3"/>
          <p:cNvSpPr>
            <a:spLocks noGrp="1"/>
          </p:cNvSpPr>
          <p:nvPr>
            <p:ph type="sldNum" sz="quarter" idx="10"/>
          </p:nvPr>
        </p:nvSpPr>
        <p:spPr/>
        <p:txBody>
          <a:bodyPr/>
          <a:lstStyle/>
          <a:p>
            <a:fld id="{FDA0CC57-CE7D-8143-BD13-67094D272EE6}" type="slidenum">
              <a:rPr lang="en-US" smtClean="0"/>
              <a:pPr/>
              <a:t>3</a:t>
            </a:fld>
            <a:endParaRPr lang="en-US" dirty="0"/>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r>
              <a:rPr lang="en-US" dirty="0" smtClean="0"/>
              <a:t>Talk Overview: Computational Sprinting</a:t>
            </a:r>
            <a:endParaRPr lang="en-US" dirty="0"/>
          </a:p>
        </p:txBody>
      </p:sp>
      <p:sp>
        <p:nvSpPr>
          <p:cNvPr id="30" name="Slide Number Placeholder 29"/>
          <p:cNvSpPr>
            <a:spLocks noGrp="1"/>
          </p:cNvSpPr>
          <p:nvPr>
            <p:ph type="sldNum" sz="quarter" idx="10"/>
          </p:nvPr>
        </p:nvSpPr>
        <p:spPr/>
        <p:txBody>
          <a:bodyPr/>
          <a:lstStyle/>
          <a:p>
            <a:fld id="{FDA0CC57-CE7D-8143-BD13-67094D272EE6}" type="slidenum">
              <a:rPr lang="en-US" smtClean="0"/>
              <a:pPr/>
              <a:t>4</a:t>
            </a:fld>
            <a:endParaRPr lang="en-US"/>
          </a:p>
        </p:txBody>
      </p:sp>
      <p:sp>
        <p:nvSpPr>
          <p:cNvPr id="31" name="Footer Placeholder 30"/>
          <p:cNvSpPr>
            <a:spLocks noGrp="1"/>
          </p:cNvSpPr>
          <p:nvPr>
            <p:ph type="ftr" sz="quarter" idx="11"/>
          </p:nvPr>
        </p:nvSpPr>
        <p:spPr/>
        <p:txBody>
          <a:bodyPr/>
          <a:lstStyle/>
          <a:p>
            <a:r>
              <a:rPr lang="en-US" smtClean="0">
                <a:solidFill>
                  <a:schemeClr val="tx2"/>
                </a:solidFill>
              </a:rPr>
              <a:t>Computational Sprinting</a:t>
            </a:r>
            <a:endParaRPr lang="en-US" dirty="0">
              <a:solidFill>
                <a:schemeClr val="tx2"/>
              </a:solidFill>
            </a:endParaRPr>
          </a:p>
        </p:txBody>
      </p:sp>
      <p:sp>
        <p:nvSpPr>
          <p:cNvPr id="7" name="Content Placeholder 6"/>
          <p:cNvSpPr>
            <a:spLocks noGrp="1"/>
          </p:cNvSpPr>
          <p:nvPr>
            <p:ph idx="1"/>
          </p:nvPr>
        </p:nvSpPr>
        <p:spPr>
          <a:xfrm>
            <a:off x="457200" y="1066234"/>
            <a:ext cx="8686800" cy="4361284"/>
          </a:xfrm>
        </p:spPr>
        <p:txBody>
          <a:bodyPr/>
          <a:lstStyle/>
          <a:p>
            <a:r>
              <a:rPr lang="en-US" dirty="0" smtClean="0"/>
              <a:t>Computational Sprinting</a:t>
            </a:r>
          </a:p>
          <a:p>
            <a:pPr lvl="1"/>
            <a:r>
              <a:rPr lang="en-US" b="1" dirty="0" smtClean="0">
                <a:solidFill>
                  <a:schemeClr val="accent6"/>
                </a:solidFill>
              </a:rPr>
              <a:t>Unsustainable power for short, intense bursts of compute</a:t>
            </a:r>
          </a:p>
          <a:p>
            <a:endParaRPr lang="en-US" sz="1000" dirty="0" smtClean="0"/>
          </a:p>
          <a:p>
            <a:r>
              <a:rPr lang="en-US" dirty="0" smtClean="0"/>
              <a:t>Feasibility study [HPCA’12]</a:t>
            </a:r>
          </a:p>
          <a:p>
            <a:pPr lvl="1"/>
            <a:r>
              <a:rPr lang="en-US" dirty="0" smtClean="0"/>
              <a:t>Explored thermal, electrical, and architectural feasibility</a:t>
            </a:r>
          </a:p>
          <a:p>
            <a:pPr lvl="1"/>
            <a:r>
              <a:rPr lang="en-US" dirty="0" smtClean="0"/>
              <a:t>Simulation results:</a:t>
            </a:r>
          </a:p>
          <a:p>
            <a:pPr lvl="2"/>
            <a:r>
              <a:rPr lang="en-US" dirty="0" smtClean="0"/>
              <a:t>Significant responsiveness improvements in short bursts</a:t>
            </a:r>
          </a:p>
          <a:p>
            <a:pPr lvl="2"/>
            <a:r>
              <a:rPr lang="en-US" dirty="0" smtClean="0"/>
              <a:t>With same dynamic energy consumption</a:t>
            </a:r>
          </a:p>
          <a:p>
            <a:pPr lvl="2"/>
            <a:endParaRPr lang="en-US" sz="1000" dirty="0" smtClean="0"/>
          </a:p>
          <a:p>
            <a:r>
              <a:rPr lang="en-US" dirty="0" smtClean="0"/>
              <a:t>Preliminary results with sprinting on prototype-proxy</a:t>
            </a:r>
          </a:p>
          <a:p>
            <a:pPr lvl="1"/>
            <a:r>
              <a:rPr lang="en-US" dirty="0" smtClean="0"/>
              <a:t>Characterize real energy/performance behavior</a:t>
            </a:r>
          </a:p>
          <a:p>
            <a:pPr lvl="1"/>
            <a:r>
              <a:rPr lang="en-US" dirty="0" smtClean="0"/>
              <a:t>Sprinting can improve energy efficiency due to race to halt  </a:t>
            </a:r>
          </a:p>
          <a:p>
            <a:pPr lvl="1"/>
            <a:endParaRPr lang="en-US" dirty="0" smtClean="0"/>
          </a:p>
          <a:p>
            <a:endParaRPr lang="en-US" dirty="0" smtClean="0"/>
          </a:p>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r>
              <a:rPr lang="en-US" dirty="0" smtClean="0"/>
              <a:t>Computational Sprinting and Dark Silicon </a:t>
            </a:r>
            <a:endParaRPr lang="en-US" dirty="0"/>
          </a:p>
        </p:txBody>
      </p:sp>
      <p:sp>
        <p:nvSpPr>
          <p:cNvPr id="29" name="Content Placeholder 28"/>
          <p:cNvSpPr>
            <a:spLocks noGrp="1"/>
          </p:cNvSpPr>
          <p:nvPr>
            <p:ph idx="1"/>
          </p:nvPr>
        </p:nvSpPr>
        <p:spPr>
          <a:xfrm>
            <a:off x="388175" y="995363"/>
            <a:ext cx="8593796" cy="4867275"/>
          </a:xfrm>
        </p:spPr>
        <p:txBody>
          <a:bodyPr/>
          <a:lstStyle/>
          <a:p>
            <a:pPr>
              <a:spcAft>
                <a:spcPts val="0"/>
              </a:spcAft>
            </a:pPr>
            <a:r>
              <a:rPr lang="en-US" dirty="0" smtClean="0">
                <a:solidFill>
                  <a:srgbClr val="005EA7"/>
                </a:solidFill>
              </a:rPr>
              <a:t>A Problem: “Dark Silicon” a.k.a. “The Utilization Wall” </a:t>
            </a:r>
            <a:endParaRPr lang="en-US" dirty="0" smtClean="0">
              <a:solidFill>
                <a:srgbClr val="005EA7"/>
              </a:solidFill>
              <a:ea typeface="Wingdings"/>
              <a:cs typeface="Wingdings"/>
            </a:endParaRPr>
          </a:p>
          <a:p>
            <a:pPr lvl="1">
              <a:spcAft>
                <a:spcPts val="0"/>
              </a:spcAft>
            </a:pPr>
            <a:r>
              <a:rPr lang="en-US" dirty="0" smtClean="0"/>
              <a:t>Increasing power density; can’t use all transistors all the time</a:t>
            </a:r>
          </a:p>
          <a:p>
            <a:pPr lvl="1">
              <a:spcAft>
                <a:spcPts val="600"/>
              </a:spcAft>
            </a:pPr>
            <a:r>
              <a:rPr lang="en-US" dirty="0" smtClean="0"/>
              <a:t>Cooling constraints limit mobile systems </a:t>
            </a:r>
          </a:p>
          <a:p>
            <a:pPr>
              <a:spcAft>
                <a:spcPts val="0"/>
              </a:spcAft>
            </a:pPr>
            <a:r>
              <a:rPr lang="en-US" dirty="0" smtClean="0">
                <a:solidFill>
                  <a:srgbClr val="005EA7"/>
                </a:solidFill>
              </a:rPr>
              <a:t>One approach: Use few transistors for long durations</a:t>
            </a:r>
          </a:p>
          <a:p>
            <a:pPr lvl="1">
              <a:spcAft>
                <a:spcPts val="0"/>
              </a:spcAft>
            </a:pPr>
            <a:r>
              <a:rPr lang="en-US" dirty="0" smtClean="0">
                <a:solidFill>
                  <a:srgbClr val="000000"/>
                </a:solidFill>
              </a:rPr>
              <a:t>Specialized functional units [Accelerators, </a:t>
            </a:r>
            <a:r>
              <a:rPr lang="en-US" dirty="0" err="1" smtClean="0">
                <a:solidFill>
                  <a:srgbClr val="000000"/>
                </a:solidFill>
              </a:rPr>
              <a:t>GreenDroid</a:t>
            </a:r>
            <a:r>
              <a:rPr lang="en-US" dirty="0" smtClean="0">
                <a:solidFill>
                  <a:srgbClr val="000000"/>
                </a:solidFill>
              </a:rPr>
              <a:t>]</a:t>
            </a:r>
          </a:p>
          <a:p>
            <a:pPr lvl="1">
              <a:spcAft>
                <a:spcPts val="600"/>
              </a:spcAft>
            </a:pPr>
            <a:r>
              <a:rPr lang="en-US" dirty="0" smtClean="0">
                <a:solidFill>
                  <a:srgbClr val="000000"/>
                </a:solidFill>
              </a:rPr>
              <a:t>Targeted towards sustained compute, e.g. media playback</a:t>
            </a:r>
            <a:endParaRPr lang="en-US" dirty="0" smtClean="0"/>
          </a:p>
          <a:p>
            <a:pPr>
              <a:spcAft>
                <a:spcPts val="0"/>
              </a:spcAft>
            </a:pPr>
            <a:r>
              <a:rPr lang="en-US" dirty="0" smtClean="0">
                <a:solidFill>
                  <a:srgbClr val="005EA7"/>
                </a:solidFill>
              </a:rPr>
              <a:t>Our approach: Use many transistors for short durations</a:t>
            </a:r>
          </a:p>
          <a:p>
            <a:pPr lvl="1">
              <a:spcAft>
                <a:spcPts val="0"/>
              </a:spcAft>
            </a:pPr>
            <a:r>
              <a:rPr lang="en-US" dirty="0" smtClean="0"/>
              <a:t>Computational Sprinting by activating many “dark cores” </a:t>
            </a:r>
            <a:endParaRPr lang="en-US" dirty="0" smtClean="0">
              <a:solidFill>
                <a:srgbClr val="FF0000"/>
              </a:solidFill>
            </a:endParaRPr>
          </a:p>
          <a:p>
            <a:pPr lvl="1">
              <a:spcAft>
                <a:spcPts val="0"/>
              </a:spcAft>
            </a:pPr>
            <a:r>
              <a:rPr lang="en-US" b="1" dirty="0" smtClean="0">
                <a:solidFill>
                  <a:srgbClr val="000000"/>
                </a:solidFill>
              </a:rPr>
              <a:t>Unsustainable power for short, intense bursts of compute</a:t>
            </a:r>
          </a:p>
          <a:p>
            <a:pPr lvl="1">
              <a:spcAft>
                <a:spcPts val="600"/>
              </a:spcAft>
            </a:pPr>
            <a:r>
              <a:rPr lang="en-US" dirty="0" smtClean="0"/>
              <a:t>Responsiveness for bursty/interactive applications</a:t>
            </a:r>
          </a:p>
          <a:p>
            <a:pPr>
              <a:spcAft>
                <a:spcPts val="600"/>
              </a:spcAft>
            </a:pPr>
            <a:r>
              <a:rPr lang="en-US" dirty="0" smtClean="0">
                <a:solidFill>
                  <a:srgbClr val="005EA7"/>
                </a:solidFill>
              </a:rPr>
              <a:t>Our goal: responsiveness of 16W chip in 1W platform</a:t>
            </a:r>
          </a:p>
        </p:txBody>
      </p:sp>
      <p:sp>
        <p:nvSpPr>
          <p:cNvPr id="30" name="Slide Number Placeholder 29"/>
          <p:cNvSpPr>
            <a:spLocks noGrp="1"/>
          </p:cNvSpPr>
          <p:nvPr>
            <p:ph type="sldNum" sz="quarter" idx="10"/>
          </p:nvPr>
        </p:nvSpPr>
        <p:spPr/>
        <p:txBody>
          <a:bodyPr/>
          <a:lstStyle/>
          <a:p>
            <a:fld id="{FDA0CC57-CE7D-8143-BD13-67094D272EE6}" type="slidenum">
              <a:rPr lang="en-US" smtClean="0"/>
              <a:pPr/>
              <a:t>5</a:t>
            </a:fld>
            <a:endParaRPr lang="en-US"/>
          </a:p>
        </p:txBody>
      </p:sp>
      <p:sp>
        <p:nvSpPr>
          <p:cNvPr id="31" name="Footer Placeholder 30"/>
          <p:cNvSpPr>
            <a:spLocks noGrp="1"/>
          </p:cNvSpPr>
          <p:nvPr>
            <p:ph type="ftr" sz="quarter" idx="11"/>
          </p:nvPr>
        </p:nvSpPr>
        <p:spPr/>
        <p:txBody>
          <a:bodyPr/>
          <a:lstStyle/>
          <a:p>
            <a:r>
              <a:rPr lang="en-US" dirty="0" smtClean="0">
                <a:solidFill>
                  <a:schemeClr val="tx2"/>
                </a:solidFill>
              </a:rPr>
              <a:t>Computational Sprinting</a:t>
            </a:r>
            <a:endParaRPr lang="en-US" dirty="0">
              <a:solidFill>
                <a:schemeClr val="tx2"/>
              </a:solidFill>
            </a:endParaRPr>
          </a:p>
        </p:txBody>
      </p:sp>
      <p:sp>
        <p:nvSpPr>
          <p:cNvPr id="6" name="TextBox 5"/>
          <p:cNvSpPr txBox="1"/>
          <p:nvPr/>
        </p:nvSpPr>
        <p:spPr>
          <a:xfrm>
            <a:off x="998189" y="6243719"/>
            <a:ext cx="7147622" cy="523220"/>
          </a:xfrm>
          <a:prstGeom prst="rect">
            <a:avLst/>
          </a:prstGeom>
          <a:noFill/>
        </p:spPr>
        <p:txBody>
          <a:bodyPr wrap="square" rtlCol="0">
            <a:spAutoFit/>
          </a:bodyPr>
          <a:lstStyle/>
          <a:p>
            <a:pPr algn="ctr"/>
            <a:r>
              <a:rPr lang="en-US" sz="2800" b="1" dirty="0" smtClean="0">
                <a:solidFill>
                  <a:schemeClr val="accent6"/>
                </a:solidFill>
              </a:rPr>
              <a:t>Is this feasible?</a:t>
            </a:r>
            <a:endParaRPr lang="en-US" sz="2800" b="1" dirty="0">
              <a:solidFill>
                <a:schemeClr val="accent6"/>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6" grpId="0"/>
    </p:bld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r>
              <a:rPr lang="en-US" dirty="0" smtClean="0"/>
              <a:t>Sprinting Challenges and Opportunities</a:t>
            </a:r>
            <a:endParaRPr lang="en-US" dirty="0"/>
          </a:p>
        </p:txBody>
      </p:sp>
      <p:sp>
        <p:nvSpPr>
          <p:cNvPr id="29" name="Content Placeholder 28"/>
          <p:cNvSpPr>
            <a:spLocks noGrp="1"/>
          </p:cNvSpPr>
          <p:nvPr>
            <p:ph idx="1"/>
          </p:nvPr>
        </p:nvSpPr>
        <p:spPr>
          <a:xfrm>
            <a:off x="388175" y="990600"/>
            <a:ext cx="8548096" cy="5257800"/>
          </a:xfrm>
        </p:spPr>
        <p:txBody>
          <a:bodyPr/>
          <a:lstStyle/>
          <a:p>
            <a:r>
              <a:rPr lang="en-US" dirty="0" smtClean="0"/>
              <a:t>Thermal challenges</a:t>
            </a:r>
          </a:p>
          <a:p>
            <a:pPr lvl="1"/>
            <a:r>
              <a:rPr lang="en-US" dirty="0" smtClean="0"/>
              <a:t>How to extend sprint duration and intensity?</a:t>
            </a:r>
          </a:p>
          <a:p>
            <a:pPr lvl="1">
              <a:spcAft>
                <a:spcPts val="1200"/>
              </a:spcAft>
              <a:buNone/>
            </a:pPr>
            <a:r>
              <a:rPr lang="en-US" i="1" dirty="0" smtClean="0"/>
              <a:t>   </a:t>
            </a:r>
            <a:r>
              <a:rPr lang="en-US" b="1" dirty="0" smtClean="0">
                <a:solidFill>
                  <a:srgbClr val="005EA7"/>
                </a:solidFill>
              </a:rPr>
              <a:t>Latent heat from </a:t>
            </a:r>
            <a:r>
              <a:rPr lang="en-US" b="1" i="1" dirty="0" smtClean="0">
                <a:solidFill>
                  <a:srgbClr val="005EA7"/>
                </a:solidFill>
              </a:rPr>
              <a:t>phase change material</a:t>
            </a:r>
            <a:r>
              <a:rPr lang="en-US" b="1" dirty="0" smtClean="0">
                <a:solidFill>
                  <a:srgbClr val="005EA7"/>
                </a:solidFill>
              </a:rPr>
              <a:t> close to the die</a:t>
            </a:r>
          </a:p>
          <a:p>
            <a:r>
              <a:rPr lang="en-US" dirty="0" smtClean="0"/>
              <a:t>Electrical challenges</a:t>
            </a:r>
          </a:p>
          <a:p>
            <a:pPr lvl="1"/>
            <a:r>
              <a:rPr lang="en-US" dirty="0" smtClean="0"/>
              <a:t>How to supply peak currents? </a:t>
            </a:r>
            <a:r>
              <a:rPr lang="en-US" b="1" dirty="0" smtClean="0">
                <a:solidFill>
                  <a:srgbClr val="005EA7"/>
                </a:solidFill>
              </a:rPr>
              <a:t>Ultracapacitor/battery hybrid</a:t>
            </a:r>
          </a:p>
          <a:p>
            <a:pPr lvl="1">
              <a:spcAft>
                <a:spcPts val="1200"/>
              </a:spcAft>
            </a:pPr>
            <a:r>
              <a:rPr lang="en-US" dirty="0" smtClean="0"/>
              <a:t>How to ensure power stability? </a:t>
            </a:r>
            <a:r>
              <a:rPr lang="en-US" b="1" dirty="0" smtClean="0">
                <a:solidFill>
                  <a:srgbClr val="005EA7"/>
                </a:solidFill>
              </a:rPr>
              <a:t>Ramped activation (~100μs)</a:t>
            </a:r>
            <a:r>
              <a:rPr lang="en-US" b="1" i="1" dirty="0" smtClean="0">
                <a:solidFill>
                  <a:srgbClr val="005EA7"/>
                </a:solidFill>
              </a:rPr>
              <a:t> </a:t>
            </a:r>
            <a:r>
              <a:rPr lang="en-US" b="1" dirty="0" smtClean="0">
                <a:solidFill>
                  <a:srgbClr val="005EA7"/>
                </a:solidFill>
              </a:rPr>
              <a:t>  </a:t>
            </a:r>
          </a:p>
          <a:p>
            <a:r>
              <a:rPr lang="en-US" dirty="0" smtClean="0"/>
              <a:t>Architectural challenges</a:t>
            </a:r>
          </a:p>
          <a:p>
            <a:pPr lvl="1"/>
            <a:r>
              <a:rPr lang="en-US" dirty="0" smtClean="0"/>
              <a:t>How to control sprints? </a:t>
            </a:r>
            <a:r>
              <a:rPr lang="en-US" b="1" dirty="0" smtClean="0">
                <a:solidFill>
                  <a:schemeClr val="accent6"/>
                </a:solidFill>
              </a:rPr>
              <a:t>Thermal resource management</a:t>
            </a:r>
          </a:p>
          <a:p>
            <a:pPr lvl="1"/>
            <a:r>
              <a:rPr lang="en-US" dirty="0" smtClean="0"/>
              <a:t>How do applications benefit from sprinting?</a:t>
            </a:r>
          </a:p>
          <a:p>
            <a:pPr algn="ctr">
              <a:buNone/>
            </a:pPr>
            <a:r>
              <a:rPr lang="en-US" sz="2400" b="1" dirty="0" smtClean="0">
                <a:solidFill>
                  <a:srgbClr val="005EA7"/>
                </a:solidFill>
              </a:rPr>
              <a:t>10.2x responsiveness for vision workloads</a:t>
            </a:r>
            <a:br>
              <a:rPr lang="en-US" sz="2400" b="1" dirty="0" smtClean="0">
                <a:solidFill>
                  <a:srgbClr val="005EA7"/>
                </a:solidFill>
              </a:rPr>
            </a:br>
            <a:r>
              <a:rPr lang="en-US" sz="2400" b="1" dirty="0" smtClean="0">
                <a:solidFill>
                  <a:srgbClr val="005EA7"/>
                </a:solidFill>
              </a:rPr>
              <a:t>via a 16-core sprint within 1W TDP</a:t>
            </a:r>
          </a:p>
          <a:p>
            <a:pPr lvl="2">
              <a:buNone/>
            </a:pPr>
            <a:endParaRPr lang="en-US" dirty="0" smtClean="0"/>
          </a:p>
          <a:p>
            <a:pPr lvl="1"/>
            <a:endParaRPr lang="en-US" dirty="0" smtClean="0"/>
          </a:p>
          <a:p>
            <a:endParaRPr lang="en-US" dirty="0" smtClean="0"/>
          </a:p>
          <a:p>
            <a:endParaRPr lang="en-US" dirty="0" smtClean="0"/>
          </a:p>
          <a:p>
            <a:endParaRPr lang="en-US" dirty="0" smtClean="0"/>
          </a:p>
          <a:p>
            <a:endParaRPr lang="en-US" dirty="0"/>
          </a:p>
        </p:txBody>
      </p:sp>
      <p:sp>
        <p:nvSpPr>
          <p:cNvPr id="30" name="Slide Number Placeholder 29"/>
          <p:cNvSpPr>
            <a:spLocks noGrp="1"/>
          </p:cNvSpPr>
          <p:nvPr>
            <p:ph type="sldNum" sz="quarter" idx="10"/>
          </p:nvPr>
        </p:nvSpPr>
        <p:spPr/>
        <p:txBody>
          <a:bodyPr/>
          <a:lstStyle/>
          <a:p>
            <a:fld id="{FDA0CC57-CE7D-8143-BD13-67094D272EE6}" type="slidenum">
              <a:rPr lang="en-US" smtClean="0"/>
              <a:pPr/>
              <a:t>6</a:t>
            </a:fld>
            <a:endParaRPr lang="en-US"/>
          </a:p>
        </p:txBody>
      </p:sp>
      <p:sp>
        <p:nvSpPr>
          <p:cNvPr id="31" name="Footer Placeholder 30"/>
          <p:cNvSpPr>
            <a:spLocks noGrp="1"/>
          </p:cNvSpPr>
          <p:nvPr>
            <p:ph type="ftr" sz="quarter" idx="11"/>
          </p:nvPr>
        </p:nvSpPr>
        <p:spPr/>
        <p:txBody>
          <a:bodyPr/>
          <a:lstStyle/>
          <a:p>
            <a:r>
              <a:rPr lang="en-US" smtClean="0">
                <a:solidFill>
                  <a:schemeClr val="tx2"/>
                </a:solidFill>
              </a:rPr>
              <a:t>Computational Sprinting</a:t>
            </a:r>
            <a:endParaRPr lang="en-US" dirty="0">
              <a:solidFill>
                <a:schemeClr val="tx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r>
              <a:rPr lang="en-US" dirty="0" smtClean="0"/>
              <a:t>Outline</a:t>
            </a:r>
            <a:endParaRPr lang="en-US" dirty="0"/>
          </a:p>
        </p:txBody>
      </p:sp>
      <p:sp>
        <p:nvSpPr>
          <p:cNvPr id="30" name="Slide Number Placeholder 29"/>
          <p:cNvSpPr>
            <a:spLocks noGrp="1"/>
          </p:cNvSpPr>
          <p:nvPr>
            <p:ph type="sldNum" sz="quarter" idx="10"/>
          </p:nvPr>
        </p:nvSpPr>
        <p:spPr/>
        <p:txBody>
          <a:bodyPr/>
          <a:lstStyle/>
          <a:p>
            <a:fld id="{FDA0CC57-CE7D-8143-BD13-67094D272EE6}" type="slidenum">
              <a:rPr lang="en-US" smtClean="0"/>
              <a:pPr/>
              <a:t>7</a:t>
            </a:fld>
            <a:endParaRPr lang="en-US"/>
          </a:p>
        </p:txBody>
      </p:sp>
      <p:sp>
        <p:nvSpPr>
          <p:cNvPr id="31" name="Footer Placeholder 30"/>
          <p:cNvSpPr>
            <a:spLocks noGrp="1"/>
          </p:cNvSpPr>
          <p:nvPr>
            <p:ph type="ftr" sz="quarter" idx="11"/>
          </p:nvPr>
        </p:nvSpPr>
        <p:spPr/>
        <p:txBody>
          <a:bodyPr/>
          <a:lstStyle/>
          <a:p>
            <a:r>
              <a:rPr lang="en-US" smtClean="0">
                <a:solidFill>
                  <a:schemeClr val="tx2"/>
                </a:solidFill>
              </a:rPr>
              <a:t>Computational Sprinting</a:t>
            </a:r>
            <a:endParaRPr lang="en-US" dirty="0">
              <a:solidFill>
                <a:schemeClr val="tx2"/>
              </a:solidFill>
            </a:endParaRPr>
          </a:p>
        </p:txBody>
      </p:sp>
      <p:sp>
        <p:nvSpPr>
          <p:cNvPr id="7" name="Content Placeholder 6"/>
          <p:cNvSpPr>
            <a:spLocks noGrp="1"/>
          </p:cNvSpPr>
          <p:nvPr>
            <p:ph idx="1"/>
          </p:nvPr>
        </p:nvSpPr>
        <p:spPr>
          <a:xfrm>
            <a:off x="457200" y="1243263"/>
            <a:ext cx="8229600" cy="5005137"/>
          </a:xfrm>
        </p:spPr>
        <p:txBody>
          <a:bodyPr anchor="ctr"/>
          <a:lstStyle/>
          <a:p>
            <a:r>
              <a:rPr lang="en-US" b="1" dirty="0" smtClean="0">
                <a:solidFill>
                  <a:schemeClr val="tx2"/>
                </a:solidFill>
              </a:rPr>
              <a:t>Motivation: “Dark Silicon” and interactive apps</a:t>
            </a:r>
          </a:p>
          <a:p>
            <a:r>
              <a:rPr lang="en-US" dirty="0" smtClean="0"/>
              <a:t>Computational Sprinting</a:t>
            </a:r>
          </a:p>
          <a:p>
            <a:r>
              <a:rPr lang="en-US" dirty="0" smtClean="0"/>
              <a:t>Feasibility Study</a:t>
            </a:r>
          </a:p>
          <a:p>
            <a:r>
              <a:rPr lang="en-US" dirty="0" smtClean="0"/>
              <a:t>Performance Evaluation</a:t>
            </a:r>
          </a:p>
          <a:p>
            <a:pPr lvl="1"/>
            <a:r>
              <a:rPr lang="en-US" dirty="0" smtClean="0"/>
              <a:t>Simulation results</a:t>
            </a:r>
          </a:p>
          <a:p>
            <a:pPr lvl="1"/>
            <a:r>
              <a:rPr lang="en-US" dirty="0" smtClean="0"/>
              <a:t>Characterization of a real system</a:t>
            </a:r>
          </a:p>
          <a:p>
            <a:r>
              <a:rPr lang="en-US" dirty="0" smtClean="0"/>
              <a:t>Conclusion</a:t>
            </a:r>
          </a:p>
          <a:p>
            <a:endParaRPr lang="en-US" dirty="0" smtClean="0"/>
          </a:p>
          <a:p>
            <a:endParaRPr lang="en-US"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44" name="Chart 43"/>
          <p:cNvGraphicFramePr/>
          <p:nvPr/>
        </p:nvGraphicFramePr>
        <p:xfrm>
          <a:off x="945946" y="916740"/>
          <a:ext cx="365760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a:xfrm>
            <a:off x="228600" y="304800"/>
            <a:ext cx="8686800" cy="533400"/>
          </a:xfrm>
        </p:spPr>
        <p:txBody>
          <a:bodyPr/>
          <a:lstStyle/>
          <a:p>
            <a:r>
              <a:rPr lang="en-US" dirty="0" smtClean="0"/>
              <a:t>Power Density Trends for Sustained Compute</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8</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graphicFrame>
        <p:nvGraphicFramePr>
          <p:cNvPr id="39" name="Chart 38"/>
          <p:cNvGraphicFramePr/>
          <p:nvPr/>
        </p:nvGraphicFramePr>
        <p:xfrm>
          <a:off x="837850" y="3644745"/>
          <a:ext cx="365760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40" name="TextBox 39"/>
          <p:cNvSpPr txBox="1"/>
          <p:nvPr/>
        </p:nvSpPr>
        <p:spPr>
          <a:xfrm rot="16200000">
            <a:off x="681336" y="1523573"/>
            <a:ext cx="813369" cy="369332"/>
          </a:xfrm>
          <a:prstGeom prst="rect">
            <a:avLst/>
          </a:prstGeom>
          <a:noFill/>
        </p:spPr>
        <p:txBody>
          <a:bodyPr wrap="none" rtlCol="0">
            <a:spAutoFit/>
          </a:bodyPr>
          <a:lstStyle/>
          <a:p>
            <a:r>
              <a:rPr lang="en-US" dirty="0" smtClean="0"/>
              <a:t>power</a:t>
            </a:r>
            <a:endParaRPr lang="en-US" dirty="0"/>
          </a:p>
        </p:txBody>
      </p:sp>
      <p:sp>
        <p:nvSpPr>
          <p:cNvPr id="41" name="TextBox 40"/>
          <p:cNvSpPr txBox="1"/>
          <p:nvPr/>
        </p:nvSpPr>
        <p:spPr>
          <a:xfrm>
            <a:off x="2611201" y="2644930"/>
            <a:ext cx="620745" cy="369332"/>
          </a:xfrm>
          <a:prstGeom prst="rect">
            <a:avLst/>
          </a:prstGeom>
          <a:noFill/>
        </p:spPr>
        <p:txBody>
          <a:bodyPr wrap="none" rtlCol="0">
            <a:spAutoFit/>
          </a:bodyPr>
          <a:lstStyle/>
          <a:p>
            <a:r>
              <a:rPr lang="en-US" dirty="0" smtClean="0"/>
              <a:t>time</a:t>
            </a:r>
            <a:endParaRPr lang="en-US" dirty="0"/>
          </a:p>
        </p:txBody>
      </p:sp>
      <p:sp>
        <p:nvSpPr>
          <p:cNvPr id="42" name="TextBox 41"/>
          <p:cNvSpPr txBox="1"/>
          <p:nvPr/>
        </p:nvSpPr>
        <p:spPr>
          <a:xfrm>
            <a:off x="2611201" y="5366601"/>
            <a:ext cx="620745" cy="369332"/>
          </a:xfrm>
          <a:prstGeom prst="rect">
            <a:avLst/>
          </a:prstGeom>
          <a:noFill/>
        </p:spPr>
        <p:txBody>
          <a:bodyPr wrap="none" rtlCol="0">
            <a:spAutoFit/>
          </a:bodyPr>
          <a:lstStyle/>
          <a:p>
            <a:r>
              <a:rPr lang="en-US" dirty="0" smtClean="0"/>
              <a:t>time</a:t>
            </a:r>
            <a:endParaRPr lang="en-US" dirty="0"/>
          </a:p>
        </p:txBody>
      </p:sp>
      <p:sp>
        <p:nvSpPr>
          <p:cNvPr id="43" name="TextBox 42"/>
          <p:cNvSpPr txBox="1"/>
          <p:nvPr/>
        </p:nvSpPr>
        <p:spPr>
          <a:xfrm rot="16200000">
            <a:off x="373410" y="4106277"/>
            <a:ext cx="1429222" cy="369332"/>
          </a:xfrm>
          <a:prstGeom prst="rect">
            <a:avLst/>
          </a:prstGeom>
          <a:noFill/>
        </p:spPr>
        <p:txBody>
          <a:bodyPr wrap="none" rtlCol="0">
            <a:spAutoFit/>
          </a:bodyPr>
          <a:lstStyle/>
          <a:p>
            <a:r>
              <a:rPr lang="en-US" dirty="0" smtClean="0"/>
              <a:t>temperature</a:t>
            </a:r>
            <a:endParaRPr lang="en-US" dirty="0"/>
          </a:p>
        </p:txBody>
      </p:sp>
      <p:sp>
        <p:nvSpPr>
          <p:cNvPr id="45" name="TextBox 44"/>
          <p:cNvSpPr txBox="1"/>
          <p:nvPr/>
        </p:nvSpPr>
        <p:spPr>
          <a:xfrm>
            <a:off x="511459" y="4824842"/>
            <a:ext cx="760294" cy="461665"/>
          </a:xfrm>
          <a:prstGeom prst="rect">
            <a:avLst/>
          </a:prstGeom>
          <a:noFill/>
        </p:spPr>
        <p:txBody>
          <a:bodyPr wrap="none" rtlCol="0">
            <a:spAutoFit/>
          </a:bodyPr>
          <a:lstStyle/>
          <a:p>
            <a:r>
              <a:rPr lang="en-US" sz="2400" dirty="0" smtClean="0"/>
              <a:t>T</a:t>
            </a:r>
            <a:r>
              <a:rPr lang="en-US" sz="2400" baseline="-25000" dirty="0" smtClean="0"/>
              <a:t>max</a:t>
            </a:r>
            <a:endParaRPr lang="en-US" sz="2400" dirty="0"/>
          </a:p>
        </p:txBody>
      </p:sp>
      <p:cxnSp>
        <p:nvCxnSpPr>
          <p:cNvPr id="46" name="Straight Connector 45"/>
          <p:cNvCxnSpPr/>
          <p:nvPr/>
        </p:nvCxnSpPr>
        <p:spPr bwMode="auto">
          <a:xfrm flipV="1">
            <a:off x="1474826" y="5000148"/>
            <a:ext cx="4043120" cy="33816"/>
          </a:xfrm>
          <a:prstGeom prst="line">
            <a:avLst/>
          </a:prstGeom>
          <a:noFill/>
          <a:ln w="38100" cap="flat" cmpd="sng" algn="ctr">
            <a:solidFill>
              <a:srgbClr val="FF0000"/>
            </a:solidFill>
            <a:prstDash val="dash"/>
            <a:round/>
            <a:headEnd type="none" w="med" len="med"/>
            <a:tailEnd type="none" w="med" len="med"/>
          </a:ln>
          <a:effectLst/>
        </p:spPr>
      </p:cxnSp>
      <p:sp>
        <p:nvSpPr>
          <p:cNvPr id="51" name="TextBox 50"/>
          <p:cNvSpPr txBox="1"/>
          <p:nvPr/>
        </p:nvSpPr>
        <p:spPr>
          <a:xfrm>
            <a:off x="3668732" y="4597361"/>
            <a:ext cx="1954381" cy="461665"/>
          </a:xfrm>
          <a:prstGeom prst="rect">
            <a:avLst/>
          </a:prstGeom>
          <a:noFill/>
        </p:spPr>
        <p:txBody>
          <a:bodyPr wrap="none" rtlCol="0">
            <a:spAutoFit/>
          </a:bodyPr>
          <a:lstStyle/>
          <a:p>
            <a:r>
              <a:rPr lang="en-US" sz="2400" dirty="0" smtClean="0"/>
              <a:t>Thermal limit</a:t>
            </a:r>
            <a:endParaRPr lang="en-US" sz="2400" dirty="0"/>
          </a:p>
        </p:txBody>
      </p:sp>
      <p:grpSp>
        <p:nvGrpSpPr>
          <p:cNvPr id="59" name="Group 58"/>
          <p:cNvGrpSpPr/>
          <p:nvPr/>
        </p:nvGrpSpPr>
        <p:grpSpPr>
          <a:xfrm>
            <a:off x="4317068" y="1301555"/>
            <a:ext cx="1428134" cy="1040229"/>
            <a:chOff x="3598232" y="1301555"/>
            <a:chExt cx="1428134" cy="1834855"/>
          </a:xfrm>
        </p:grpSpPr>
        <p:sp>
          <p:nvSpPr>
            <p:cNvPr id="47" name="Right Brace 46"/>
            <p:cNvSpPr/>
            <p:nvPr/>
          </p:nvSpPr>
          <p:spPr bwMode="auto">
            <a:xfrm>
              <a:off x="3598232" y="1301555"/>
              <a:ext cx="518636" cy="1834855"/>
            </a:xfrm>
            <a:prstGeom prst="rightBrace">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8" name="TextBox 47"/>
            <p:cNvSpPr txBox="1"/>
            <p:nvPr/>
          </p:nvSpPr>
          <p:spPr>
            <a:xfrm>
              <a:off x="4080224" y="1880119"/>
              <a:ext cx="946142" cy="461665"/>
            </a:xfrm>
            <a:prstGeom prst="rect">
              <a:avLst/>
            </a:prstGeom>
            <a:noFill/>
          </p:spPr>
          <p:txBody>
            <a:bodyPr wrap="none" rtlCol="0">
              <a:spAutoFit/>
            </a:bodyPr>
            <a:lstStyle/>
            <a:p>
              <a:r>
                <a:rPr lang="en-US" sz="2400" dirty="0" smtClean="0">
                  <a:solidFill>
                    <a:srgbClr val="FF0000"/>
                  </a:solidFill>
                </a:rPr>
                <a:t>&gt; 10x</a:t>
              </a:r>
              <a:endParaRPr lang="en-US" sz="2400" dirty="0">
                <a:solidFill>
                  <a:srgbClr val="FF0000"/>
                </a:solidFill>
              </a:endParaRPr>
            </a:p>
          </p:txBody>
        </p:sp>
      </p:grpSp>
      <p:sp>
        <p:nvSpPr>
          <p:cNvPr id="60" name="TextBox 59"/>
          <p:cNvSpPr txBox="1"/>
          <p:nvPr/>
        </p:nvSpPr>
        <p:spPr>
          <a:xfrm>
            <a:off x="1472223" y="5651060"/>
            <a:ext cx="6199554" cy="1384995"/>
          </a:xfrm>
          <a:prstGeom prst="rect">
            <a:avLst/>
          </a:prstGeom>
          <a:noFill/>
        </p:spPr>
        <p:txBody>
          <a:bodyPr wrap="none" rtlCol="0">
            <a:noAutofit/>
          </a:bodyPr>
          <a:lstStyle/>
          <a:p>
            <a:pPr algn="ctr"/>
            <a:r>
              <a:rPr lang="en-US" sz="2800" b="1" dirty="0" smtClean="0">
                <a:solidFill>
                  <a:schemeClr val="accent6"/>
                </a:solidFill>
                <a:latin typeface="Calibri"/>
                <a:cs typeface="Calibri"/>
              </a:rPr>
              <a:t>How to meet thermal limit despite </a:t>
            </a:r>
          </a:p>
          <a:p>
            <a:pPr algn="ctr"/>
            <a:r>
              <a:rPr lang="en-US" sz="2800" b="1" dirty="0" smtClean="0">
                <a:solidFill>
                  <a:schemeClr val="accent6"/>
                </a:solidFill>
                <a:latin typeface="Calibri"/>
                <a:cs typeface="Calibri"/>
              </a:rPr>
              <a:t>power density increase?</a:t>
            </a:r>
            <a:endParaRPr lang="en-US" sz="2800" b="1" dirty="0">
              <a:solidFill>
                <a:schemeClr val="accent6"/>
              </a:solidFill>
              <a:latin typeface="Calibri"/>
              <a:cs typeface="Calibri"/>
            </a:endParaRPr>
          </a:p>
        </p:txBody>
      </p:sp>
      <p:sp>
        <p:nvSpPr>
          <p:cNvPr id="62" name="Rectangle 61"/>
          <p:cNvSpPr/>
          <p:nvPr/>
        </p:nvSpPr>
        <p:spPr bwMode="auto">
          <a:xfrm>
            <a:off x="1197647" y="2453470"/>
            <a:ext cx="140946" cy="461665"/>
          </a:xfrm>
          <a:prstGeom prst="rect">
            <a:avLst/>
          </a:prstGeom>
          <a:solidFill>
            <a:srgbClr val="FFFFFF"/>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3" name="Rectangle 62"/>
          <p:cNvSpPr/>
          <p:nvPr/>
        </p:nvSpPr>
        <p:spPr bwMode="auto">
          <a:xfrm>
            <a:off x="1170911" y="5214752"/>
            <a:ext cx="166032" cy="461665"/>
          </a:xfrm>
          <a:prstGeom prst="rect">
            <a:avLst/>
          </a:prstGeom>
          <a:solidFill>
            <a:srgbClr val="FFFFFF"/>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69" name="Group 68"/>
          <p:cNvGrpSpPr/>
          <p:nvPr/>
        </p:nvGrpSpPr>
        <p:grpSpPr>
          <a:xfrm>
            <a:off x="7157329" y="916740"/>
            <a:ext cx="1371600" cy="1371600"/>
            <a:chOff x="3200400" y="990600"/>
            <a:chExt cx="1371600" cy="1371600"/>
          </a:xfrm>
        </p:grpSpPr>
        <p:sp>
          <p:nvSpPr>
            <p:cNvPr id="70" name="Rectangle 69"/>
            <p:cNvSpPr/>
            <p:nvPr/>
          </p:nvSpPr>
          <p:spPr bwMode="auto">
            <a:xfrm>
              <a:off x="3200400" y="990600"/>
              <a:ext cx="1371600" cy="1371600"/>
            </a:xfrm>
            <a:prstGeom prst="rect">
              <a:avLst/>
            </a:prstGeom>
            <a:noFill/>
            <a:ln w="762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pic>
          <p:nvPicPr>
            <p:cNvPr id="71" name="Picture 70"/>
            <p:cNvPicPr>
              <a:picLocks/>
            </p:cNvPicPr>
            <p:nvPr/>
          </p:nvPicPr>
          <p:blipFill>
            <a:blip r:embed="rId5"/>
            <a:stretch>
              <a:fillRect/>
            </a:stretch>
          </p:blipFill>
          <p:spPr>
            <a:xfrm>
              <a:off x="3291840" y="1082040"/>
              <a:ext cx="1188720" cy="1188720"/>
            </a:xfrm>
            <a:prstGeom prst="rect">
              <a:avLst/>
            </a:prstGeom>
          </p:spPr>
        </p:pic>
      </p:grpSp>
      <p:grpSp>
        <p:nvGrpSpPr>
          <p:cNvPr id="72" name="Group 71"/>
          <p:cNvGrpSpPr/>
          <p:nvPr/>
        </p:nvGrpSpPr>
        <p:grpSpPr>
          <a:xfrm>
            <a:off x="7157329" y="2568887"/>
            <a:ext cx="1371600" cy="1371600"/>
            <a:chOff x="5174357" y="990600"/>
            <a:chExt cx="1371600" cy="1371600"/>
          </a:xfrm>
        </p:grpSpPr>
        <p:sp>
          <p:nvSpPr>
            <p:cNvPr id="73" name="Rectangle 72"/>
            <p:cNvSpPr/>
            <p:nvPr/>
          </p:nvSpPr>
          <p:spPr bwMode="auto">
            <a:xfrm>
              <a:off x="5174357" y="990600"/>
              <a:ext cx="1371600" cy="1371600"/>
            </a:xfrm>
            <a:prstGeom prst="rect">
              <a:avLst/>
            </a:prstGeom>
            <a:noFill/>
            <a:ln w="76200" cap="flat" cmpd="sng" algn="ctr">
              <a:solidFill>
                <a:srgbClr val="005EA7"/>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74" name="Group 35"/>
            <p:cNvGrpSpPr/>
            <p:nvPr/>
          </p:nvGrpSpPr>
          <p:grpSpPr>
            <a:xfrm>
              <a:off x="5252570" y="1082040"/>
              <a:ext cx="1188721" cy="1188721"/>
              <a:chOff x="3805161" y="1335405"/>
              <a:chExt cx="2450592" cy="2450592"/>
            </a:xfrm>
            <a:noFill/>
          </p:grpSpPr>
          <p:pic>
            <p:nvPicPr>
              <p:cNvPr id="75" name="Picture 74"/>
              <p:cNvPicPr>
                <a:picLocks/>
              </p:cNvPicPr>
              <p:nvPr/>
            </p:nvPicPr>
            <p:blipFill>
              <a:blip r:embed="rId5"/>
              <a:stretch>
                <a:fillRect/>
              </a:stretch>
            </p:blipFill>
            <p:spPr>
              <a:xfrm>
                <a:off x="3805161" y="1335405"/>
                <a:ext cx="1170431" cy="1170431"/>
              </a:xfrm>
              <a:prstGeom prst="rect">
                <a:avLst/>
              </a:prstGeom>
              <a:grpFill/>
            </p:spPr>
          </p:pic>
          <p:pic>
            <p:nvPicPr>
              <p:cNvPr id="76" name="Picture 75"/>
              <p:cNvPicPr>
                <a:picLocks/>
              </p:cNvPicPr>
              <p:nvPr/>
            </p:nvPicPr>
            <p:blipFill>
              <a:blip r:embed="rId5"/>
              <a:stretch>
                <a:fillRect/>
              </a:stretch>
            </p:blipFill>
            <p:spPr>
              <a:xfrm>
                <a:off x="3805161" y="2615566"/>
                <a:ext cx="1170431" cy="1170431"/>
              </a:xfrm>
              <a:prstGeom prst="rect">
                <a:avLst/>
              </a:prstGeom>
              <a:grpFill/>
            </p:spPr>
          </p:pic>
          <p:pic>
            <p:nvPicPr>
              <p:cNvPr id="77" name="Picture 76"/>
              <p:cNvPicPr>
                <a:picLocks/>
              </p:cNvPicPr>
              <p:nvPr/>
            </p:nvPicPr>
            <p:blipFill>
              <a:blip r:embed="rId5"/>
              <a:stretch>
                <a:fillRect/>
              </a:stretch>
            </p:blipFill>
            <p:spPr>
              <a:xfrm>
                <a:off x="5085322" y="1335405"/>
                <a:ext cx="1170431" cy="1170431"/>
              </a:xfrm>
              <a:prstGeom prst="rect">
                <a:avLst/>
              </a:prstGeom>
              <a:grpFill/>
            </p:spPr>
          </p:pic>
          <p:pic>
            <p:nvPicPr>
              <p:cNvPr id="78" name="Picture 77"/>
              <p:cNvPicPr>
                <a:picLocks/>
              </p:cNvPicPr>
              <p:nvPr/>
            </p:nvPicPr>
            <p:blipFill>
              <a:blip r:embed="rId5"/>
              <a:stretch>
                <a:fillRect/>
              </a:stretch>
            </p:blipFill>
            <p:spPr>
              <a:xfrm>
                <a:off x="5085322" y="2615566"/>
                <a:ext cx="1170431" cy="1170431"/>
              </a:xfrm>
              <a:prstGeom prst="rect">
                <a:avLst/>
              </a:prstGeom>
              <a:grpFill/>
            </p:spPr>
          </p:pic>
        </p:grpSp>
      </p:grpSp>
      <p:grpSp>
        <p:nvGrpSpPr>
          <p:cNvPr id="79" name="Group 78"/>
          <p:cNvGrpSpPr/>
          <p:nvPr/>
        </p:nvGrpSpPr>
        <p:grpSpPr>
          <a:xfrm>
            <a:off x="7157329" y="4221033"/>
            <a:ext cx="1371600" cy="1371600"/>
            <a:chOff x="6933465" y="990600"/>
            <a:chExt cx="1371600" cy="1371600"/>
          </a:xfrm>
        </p:grpSpPr>
        <p:sp>
          <p:nvSpPr>
            <p:cNvPr id="80" name="Rectangle 79"/>
            <p:cNvSpPr/>
            <p:nvPr/>
          </p:nvSpPr>
          <p:spPr bwMode="auto">
            <a:xfrm>
              <a:off x="6933465" y="990600"/>
              <a:ext cx="1371600" cy="1371600"/>
            </a:xfrm>
            <a:prstGeom prst="rect">
              <a:avLst/>
            </a:prstGeom>
            <a:noFill/>
            <a:ln w="762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81" name="Group 63"/>
            <p:cNvGrpSpPr/>
            <p:nvPr/>
          </p:nvGrpSpPr>
          <p:grpSpPr>
            <a:xfrm>
              <a:off x="7024936" y="1083120"/>
              <a:ext cx="1188658" cy="1186561"/>
              <a:chOff x="7038131" y="4082720"/>
              <a:chExt cx="1188658" cy="1186561"/>
            </a:xfrm>
          </p:grpSpPr>
          <p:pic>
            <p:nvPicPr>
              <p:cNvPr id="82" name="Picture 81"/>
              <p:cNvPicPr>
                <a:picLocks/>
              </p:cNvPicPr>
              <p:nvPr/>
            </p:nvPicPr>
            <p:blipFill>
              <a:blip r:embed="rId5"/>
              <a:stretch>
                <a:fillRect/>
              </a:stretch>
            </p:blipFill>
            <p:spPr>
              <a:xfrm>
                <a:off x="7038131" y="4082720"/>
                <a:ext cx="270162" cy="269133"/>
              </a:xfrm>
              <a:prstGeom prst="rect">
                <a:avLst/>
              </a:prstGeom>
            </p:spPr>
          </p:pic>
          <p:pic>
            <p:nvPicPr>
              <p:cNvPr id="83" name="Picture 82"/>
              <p:cNvPicPr>
                <a:picLocks/>
              </p:cNvPicPr>
              <p:nvPr/>
            </p:nvPicPr>
            <p:blipFill>
              <a:blip r:embed="rId5"/>
              <a:stretch>
                <a:fillRect/>
              </a:stretch>
            </p:blipFill>
            <p:spPr>
              <a:xfrm>
                <a:off x="7344318" y="4082720"/>
                <a:ext cx="270162" cy="269133"/>
              </a:xfrm>
              <a:prstGeom prst="rect">
                <a:avLst/>
              </a:prstGeom>
            </p:spPr>
          </p:pic>
          <p:pic>
            <p:nvPicPr>
              <p:cNvPr id="84" name="Picture 83"/>
              <p:cNvPicPr>
                <a:picLocks/>
              </p:cNvPicPr>
              <p:nvPr/>
            </p:nvPicPr>
            <p:blipFill>
              <a:blip r:embed="rId5"/>
              <a:stretch>
                <a:fillRect/>
              </a:stretch>
            </p:blipFill>
            <p:spPr>
              <a:xfrm>
                <a:off x="7038131" y="4387741"/>
                <a:ext cx="270162" cy="269133"/>
              </a:xfrm>
              <a:prstGeom prst="rect">
                <a:avLst/>
              </a:prstGeom>
            </p:spPr>
          </p:pic>
          <p:pic>
            <p:nvPicPr>
              <p:cNvPr id="85" name="Picture 84"/>
              <p:cNvPicPr>
                <a:picLocks/>
              </p:cNvPicPr>
              <p:nvPr/>
            </p:nvPicPr>
            <p:blipFill>
              <a:blip r:embed="rId5"/>
              <a:stretch>
                <a:fillRect/>
              </a:stretch>
            </p:blipFill>
            <p:spPr>
              <a:xfrm>
                <a:off x="7344318" y="4387741"/>
                <a:ext cx="270162" cy="269133"/>
              </a:xfrm>
              <a:prstGeom prst="rect">
                <a:avLst/>
              </a:prstGeom>
            </p:spPr>
          </p:pic>
          <p:pic>
            <p:nvPicPr>
              <p:cNvPr id="86" name="Picture 85"/>
              <p:cNvPicPr>
                <a:picLocks/>
              </p:cNvPicPr>
              <p:nvPr/>
            </p:nvPicPr>
            <p:blipFill>
              <a:blip r:embed="rId5"/>
              <a:stretch>
                <a:fillRect/>
              </a:stretch>
            </p:blipFill>
            <p:spPr>
              <a:xfrm>
                <a:off x="7038131" y="4695127"/>
                <a:ext cx="270162" cy="269133"/>
              </a:xfrm>
              <a:prstGeom prst="rect">
                <a:avLst/>
              </a:prstGeom>
            </p:spPr>
          </p:pic>
          <p:pic>
            <p:nvPicPr>
              <p:cNvPr id="87" name="Picture 86"/>
              <p:cNvPicPr>
                <a:picLocks/>
              </p:cNvPicPr>
              <p:nvPr/>
            </p:nvPicPr>
            <p:blipFill>
              <a:blip r:embed="rId5"/>
              <a:stretch>
                <a:fillRect/>
              </a:stretch>
            </p:blipFill>
            <p:spPr>
              <a:xfrm>
                <a:off x="7344318" y="4695127"/>
                <a:ext cx="270162" cy="269133"/>
              </a:xfrm>
              <a:prstGeom prst="rect">
                <a:avLst/>
              </a:prstGeom>
            </p:spPr>
          </p:pic>
          <p:pic>
            <p:nvPicPr>
              <p:cNvPr id="88" name="Picture 87"/>
              <p:cNvPicPr>
                <a:picLocks/>
              </p:cNvPicPr>
              <p:nvPr/>
            </p:nvPicPr>
            <p:blipFill>
              <a:blip r:embed="rId5"/>
              <a:stretch>
                <a:fillRect/>
              </a:stretch>
            </p:blipFill>
            <p:spPr>
              <a:xfrm>
                <a:off x="7038131" y="5000148"/>
                <a:ext cx="270162" cy="269133"/>
              </a:xfrm>
              <a:prstGeom prst="rect">
                <a:avLst/>
              </a:prstGeom>
            </p:spPr>
          </p:pic>
          <p:pic>
            <p:nvPicPr>
              <p:cNvPr id="89" name="Picture 88"/>
              <p:cNvPicPr>
                <a:picLocks/>
              </p:cNvPicPr>
              <p:nvPr/>
            </p:nvPicPr>
            <p:blipFill>
              <a:blip r:embed="rId5"/>
              <a:stretch>
                <a:fillRect/>
              </a:stretch>
            </p:blipFill>
            <p:spPr>
              <a:xfrm>
                <a:off x="7344318" y="5000148"/>
                <a:ext cx="270162" cy="269133"/>
              </a:xfrm>
              <a:prstGeom prst="rect">
                <a:avLst/>
              </a:prstGeom>
            </p:spPr>
          </p:pic>
          <p:pic>
            <p:nvPicPr>
              <p:cNvPr id="90" name="Picture 89"/>
              <p:cNvPicPr>
                <a:picLocks/>
              </p:cNvPicPr>
              <p:nvPr/>
            </p:nvPicPr>
            <p:blipFill>
              <a:blip r:embed="rId5"/>
              <a:stretch>
                <a:fillRect/>
              </a:stretch>
            </p:blipFill>
            <p:spPr>
              <a:xfrm>
                <a:off x="7650439" y="4082720"/>
                <a:ext cx="270162" cy="269133"/>
              </a:xfrm>
              <a:prstGeom prst="rect">
                <a:avLst/>
              </a:prstGeom>
            </p:spPr>
          </p:pic>
          <p:pic>
            <p:nvPicPr>
              <p:cNvPr id="91" name="Picture 90"/>
              <p:cNvPicPr>
                <a:picLocks/>
              </p:cNvPicPr>
              <p:nvPr/>
            </p:nvPicPr>
            <p:blipFill>
              <a:blip r:embed="rId5"/>
              <a:stretch>
                <a:fillRect/>
              </a:stretch>
            </p:blipFill>
            <p:spPr>
              <a:xfrm>
                <a:off x="7956626" y="4082720"/>
                <a:ext cx="270162" cy="269133"/>
              </a:xfrm>
              <a:prstGeom prst="rect">
                <a:avLst/>
              </a:prstGeom>
            </p:spPr>
          </p:pic>
          <p:pic>
            <p:nvPicPr>
              <p:cNvPr id="92" name="Picture 91"/>
              <p:cNvPicPr>
                <a:picLocks/>
              </p:cNvPicPr>
              <p:nvPr/>
            </p:nvPicPr>
            <p:blipFill>
              <a:blip r:embed="rId5"/>
              <a:stretch>
                <a:fillRect/>
              </a:stretch>
            </p:blipFill>
            <p:spPr>
              <a:xfrm>
                <a:off x="7650439" y="4387741"/>
                <a:ext cx="270162" cy="269133"/>
              </a:xfrm>
              <a:prstGeom prst="rect">
                <a:avLst/>
              </a:prstGeom>
            </p:spPr>
          </p:pic>
          <p:pic>
            <p:nvPicPr>
              <p:cNvPr id="93" name="Picture 92"/>
              <p:cNvPicPr>
                <a:picLocks/>
              </p:cNvPicPr>
              <p:nvPr/>
            </p:nvPicPr>
            <p:blipFill>
              <a:blip r:embed="rId5"/>
              <a:stretch>
                <a:fillRect/>
              </a:stretch>
            </p:blipFill>
            <p:spPr>
              <a:xfrm>
                <a:off x="7956626" y="4387741"/>
                <a:ext cx="270162" cy="269133"/>
              </a:xfrm>
              <a:prstGeom prst="rect">
                <a:avLst/>
              </a:prstGeom>
            </p:spPr>
          </p:pic>
          <p:pic>
            <p:nvPicPr>
              <p:cNvPr id="94" name="Picture 93"/>
              <p:cNvPicPr>
                <a:picLocks/>
              </p:cNvPicPr>
              <p:nvPr/>
            </p:nvPicPr>
            <p:blipFill>
              <a:blip r:embed="rId5"/>
              <a:stretch>
                <a:fillRect/>
              </a:stretch>
            </p:blipFill>
            <p:spPr>
              <a:xfrm>
                <a:off x="7650439" y="4695127"/>
                <a:ext cx="270162" cy="269133"/>
              </a:xfrm>
              <a:prstGeom prst="rect">
                <a:avLst/>
              </a:prstGeom>
            </p:spPr>
          </p:pic>
          <p:pic>
            <p:nvPicPr>
              <p:cNvPr id="95" name="Picture 94"/>
              <p:cNvPicPr>
                <a:picLocks/>
              </p:cNvPicPr>
              <p:nvPr/>
            </p:nvPicPr>
            <p:blipFill>
              <a:blip r:embed="rId5"/>
              <a:stretch>
                <a:fillRect/>
              </a:stretch>
            </p:blipFill>
            <p:spPr>
              <a:xfrm>
                <a:off x="7956626" y="4695127"/>
                <a:ext cx="270162" cy="269133"/>
              </a:xfrm>
              <a:prstGeom prst="rect">
                <a:avLst/>
              </a:prstGeom>
            </p:spPr>
          </p:pic>
          <p:pic>
            <p:nvPicPr>
              <p:cNvPr id="96" name="Picture 95"/>
              <p:cNvPicPr>
                <a:picLocks/>
              </p:cNvPicPr>
              <p:nvPr/>
            </p:nvPicPr>
            <p:blipFill>
              <a:blip r:embed="rId5"/>
              <a:stretch>
                <a:fillRect/>
              </a:stretch>
            </p:blipFill>
            <p:spPr>
              <a:xfrm>
                <a:off x="7650441" y="5000148"/>
                <a:ext cx="270162" cy="269133"/>
              </a:xfrm>
              <a:prstGeom prst="rect">
                <a:avLst/>
              </a:prstGeom>
            </p:spPr>
          </p:pic>
          <p:pic>
            <p:nvPicPr>
              <p:cNvPr id="97" name="Picture 96"/>
              <p:cNvPicPr>
                <a:picLocks/>
              </p:cNvPicPr>
              <p:nvPr/>
            </p:nvPicPr>
            <p:blipFill>
              <a:blip r:embed="rId5"/>
              <a:stretch>
                <a:fillRect/>
              </a:stretch>
            </p:blipFill>
            <p:spPr>
              <a:xfrm>
                <a:off x="7956627" y="5000148"/>
                <a:ext cx="270162" cy="269133"/>
              </a:xfrm>
              <a:prstGeom prst="rect">
                <a:avLst/>
              </a:prstGeom>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4">
                                            <p:graphicEl>
                                              <a:chart seriesIdx="0" categoryIdx="-4" bldStep="series"/>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graphicEl>
                                              <a:chart seriesIdx="0" categoryIdx="-4" bldStep="series"/>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graphicEl>
                                              <a:chart seriesIdx="1" categoryIdx="-4" bldStep="series"/>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graphicEl>
                                              <a:chart seriesIdx="1" categoryIdx="-4" bldStep="series"/>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graphicEl>
                                              <a:chart seriesIdx="2" categoryIdx="-4" bldStep="series"/>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graphicEl>
                                              <a:chart seriesIdx="2" categoryIdx="-4" bldStep="series"/>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4" grpId="0" uiExpand="1">
        <p:bldSub>
          <a:bldChart bld="series"/>
        </p:bldSub>
      </p:bldGraphic>
      <p:bldGraphic spid="39" grpId="0" uiExpand="1">
        <p:bldSub>
          <a:bldChart bld="series"/>
        </p:bldSub>
      </p:bldGraphic>
      <p:bldP spid="45" grpId="0"/>
      <p:bldP spid="51" grpId="0"/>
      <p:bldP spid="60" grpId="0"/>
    </p:bld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14451" y="304800"/>
            <a:ext cx="8229600" cy="533400"/>
          </a:xfrm>
        </p:spPr>
        <p:txBody>
          <a:bodyPr>
            <a:normAutofit fontScale="90000"/>
          </a:bodyPr>
          <a:lstStyle/>
          <a:p>
            <a:r>
              <a:rPr lang="en-US" dirty="0" smtClean="0"/>
              <a:t>Option 1: Enhance Cooling?</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9</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
        <p:nvSpPr>
          <p:cNvPr id="31" name="TextBox 30"/>
          <p:cNvSpPr txBox="1"/>
          <p:nvPr/>
        </p:nvSpPr>
        <p:spPr>
          <a:xfrm>
            <a:off x="995841" y="5830332"/>
            <a:ext cx="7152318" cy="584776"/>
          </a:xfrm>
          <a:prstGeom prst="rect">
            <a:avLst/>
          </a:prstGeom>
          <a:noFill/>
        </p:spPr>
        <p:txBody>
          <a:bodyPr wrap="none" rtlCol="0">
            <a:spAutoFit/>
          </a:bodyPr>
          <a:lstStyle/>
          <a:p>
            <a:r>
              <a:rPr lang="en-US" sz="3200" b="1" dirty="0" smtClean="0">
                <a:solidFill>
                  <a:srgbClr val="005EA7"/>
                </a:solidFill>
                <a:latin typeface="Calibri"/>
                <a:cs typeface="Calibri"/>
              </a:rPr>
              <a:t>Mobile devices limited to passive cooling</a:t>
            </a:r>
            <a:endParaRPr lang="en-US" sz="3200" b="1" dirty="0">
              <a:solidFill>
                <a:srgbClr val="005EA7"/>
              </a:solidFill>
              <a:latin typeface="Calibri"/>
              <a:cs typeface="Calibri"/>
            </a:endParaRPr>
          </a:p>
        </p:txBody>
      </p:sp>
      <p:grpSp>
        <p:nvGrpSpPr>
          <p:cNvPr id="53" name="Group 52"/>
          <p:cNvGrpSpPr/>
          <p:nvPr/>
        </p:nvGrpSpPr>
        <p:grpSpPr>
          <a:xfrm>
            <a:off x="-111760" y="1969258"/>
            <a:ext cx="3024515" cy="2933908"/>
            <a:chOff x="5579507" y="2008348"/>
            <a:chExt cx="3024515" cy="2933908"/>
          </a:xfrm>
        </p:grpSpPr>
        <p:graphicFrame>
          <p:nvGraphicFramePr>
            <p:cNvPr id="34" name="Chart 33"/>
            <p:cNvGraphicFramePr/>
            <p:nvPr/>
          </p:nvGraphicFramePr>
          <p:xfrm>
            <a:off x="5579507" y="2008348"/>
            <a:ext cx="2997344" cy="2743200"/>
          </p:xfrm>
          <a:graphic>
            <a:graphicData uri="http://schemas.openxmlformats.org/drawingml/2006/chart">
              <c:chart xmlns:c="http://schemas.openxmlformats.org/drawingml/2006/chart" xmlns:r="http://schemas.openxmlformats.org/officeDocument/2006/relationships" r:id="rId3"/>
            </a:graphicData>
          </a:graphic>
        </p:graphicFrame>
        <p:grpSp>
          <p:nvGrpSpPr>
            <p:cNvPr id="42" name="Group 41"/>
            <p:cNvGrpSpPr/>
            <p:nvPr/>
          </p:nvGrpSpPr>
          <p:grpSpPr>
            <a:xfrm>
              <a:off x="5786477" y="2333942"/>
              <a:ext cx="2817545" cy="2608314"/>
              <a:chOff x="5786477" y="2307206"/>
              <a:chExt cx="2817545" cy="2608314"/>
            </a:xfrm>
          </p:grpSpPr>
          <p:sp>
            <p:nvSpPr>
              <p:cNvPr id="37" name="Rectangle 36"/>
              <p:cNvSpPr/>
              <p:nvPr/>
            </p:nvSpPr>
            <p:spPr>
              <a:xfrm flipV="1">
                <a:off x="7670954" y="2307206"/>
                <a:ext cx="933068" cy="1569660"/>
              </a:xfrm>
              <a:prstGeom prst="rect">
                <a:avLst/>
              </a:prstGeom>
            </p:spPr>
            <p:txBody>
              <a:bodyPr wrap="square">
                <a:spAutoFit/>
              </a:bodyPr>
              <a:lstStyle/>
              <a:p>
                <a:r>
                  <a:rPr lang="en-US" sz="9600" dirty="0" smtClean="0">
                    <a:latin typeface="Wingdings"/>
                    <a:ea typeface="Wingdings"/>
                    <a:cs typeface="Wingdings"/>
                  </a:rPr>
                  <a:t></a:t>
                </a:r>
                <a:endParaRPr lang="en-US" sz="9600" dirty="0"/>
              </a:p>
            </p:txBody>
          </p:sp>
          <p:grpSp>
            <p:nvGrpSpPr>
              <p:cNvPr id="39" name="Group 38"/>
              <p:cNvGrpSpPr/>
              <p:nvPr/>
            </p:nvGrpSpPr>
            <p:grpSpPr>
              <a:xfrm>
                <a:off x="5786477" y="2526136"/>
                <a:ext cx="2741188" cy="2389384"/>
                <a:chOff x="5786477" y="2526136"/>
                <a:chExt cx="2741188" cy="2389384"/>
              </a:xfrm>
            </p:grpSpPr>
            <p:sp>
              <p:nvSpPr>
                <p:cNvPr id="36" name="TextBox 35"/>
                <p:cNvSpPr txBox="1"/>
                <p:nvPr/>
              </p:nvSpPr>
              <p:spPr>
                <a:xfrm rot="16200000">
                  <a:off x="5497977" y="3056081"/>
                  <a:ext cx="1429222" cy="369332"/>
                </a:xfrm>
                <a:prstGeom prst="rect">
                  <a:avLst/>
                </a:prstGeom>
                <a:noFill/>
              </p:spPr>
              <p:txBody>
                <a:bodyPr wrap="none" rtlCol="0">
                  <a:spAutoFit/>
                </a:bodyPr>
                <a:lstStyle/>
                <a:p>
                  <a:r>
                    <a:rPr lang="en-US" dirty="0" smtClean="0"/>
                    <a:t>temperature</a:t>
                  </a:r>
                  <a:endParaRPr lang="en-US" dirty="0"/>
                </a:p>
              </p:txBody>
            </p:sp>
            <p:sp>
              <p:nvSpPr>
                <p:cNvPr id="40" name="TextBox 39"/>
                <p:cNvSpPr txBox="1"/>
                <p:nvPr/>
              </p:nvSpPr>
              <p:spPr>
                <a:xfrm>
                  <a:off x="7265331" y="4546188"/>
                  <a:ext cx="620745" cy="369332"/>
                </a:xfrm>
                <a:prstGeom prst="rect">
                  <a:avLst/>
                </a:prstGeom>
                <a:noFill/>
              </p:spPr>
              <p:txBody>
                <a:bodyPr wrap="none" rtlCol="0">
                  <a:spAutoFit/>
                </a:bodyPr>
                <a:lstStyle/>
                <a:p>
                  <a:r>
                    <a:rPr lang="en-US" dirty="0" smtClean="0"/>
                    <a:t>time</a:t>
                  </a:r>
                  <a:endParaRPr lang="en-US" dirty="0"/>
                </a:p>
              </p:txBody>
            </p:sp>
            <p:sp>
              <p:nvSpPr>
                <p:cNvPr id="41" name="TextBox 40"/>
                <p:cNvSpPr txBox="1"/>
                <p:nvPr/>
              </p:nvSpPr>
              <p:spPr>
                <a:xfrm>
                  <a:off x="5786477" y="3894125"/>
                  <a:ext cx="760294" cy="461665"/>
                </a:xfrm>
                <a:prstGeom prst="rect">
                  <a:avLst/>
                </a:prstGeom>
                <a:noFill/>
              </p:spPr>
              <p:txBody>
                <a:bodyPr wrap="none" rtlCol="0">
                  <a:spAutoFit/>
                </a:bodyPr>
                <a:lstStyle/>
                <a:p>
                  <a:r>
                    <a:rPr lang="en-US" sz="2400" dirty="0" smtClean="0"/>
                    <a:t>T</a:t>
                  </a:r>
                  <a:r>
                    <a:rPr lang="en-US" sz="2400" baseline="-25000" dirty="0" smtClean="0"/>
                    <a:t>max</a:t>
                  </a:r>
                  <a:endParaRPr lang="en-US" sz="2400" dirty="0"/>
                </a:p>
              </p:txBody>
            </p:sp>
            <p:cxnSp>
              <p:nvCxnSpPr>
                <p:cNvPr id="43" name="Straight Connector 42"/>
                <p:cNvCxnSpPr/>
                <p:nvPr/>
              </p:nvCxnSpPr>
              <p:spPr bwMode="auto">
                <a:xfrm>
                  <a:off x="6555990" y="4116758"/>
                  <a:ext cx="1971675" cy="1588"/>
                </a:xfrm>
                <a:prstGeom prst="line">
                  <a:avLst/>
                </a:prstGeom>
                <a:noFill/>
                <a:ln w="38100" cap="flat" cmpd="sng" algn="ctr">
                  <a:solidFill>
                    <a:srgbClr val="FF0000"/>
                  </a:solidFill>
                  <a:prstDash val="dash"/>
                  <a:round/>
                  <a:headEnd type="none" w="med" len="med"/>
                  <a:tailEnd type="none" w="med" len="med"/>
                </a:ln>
                <a:effectLst/>
              </p:spPr>
            </p:cxnSp>
          </p:grpSp>
        </p:grpSp>
      </p:grpSp>
      <p:sp>
        <p:nvSpPr>
          <p:cNvPr id="54" name="Rectangle 53"/>
          <p:cNvSpPr/>
          <p:nvPr/>
        </p:nvSpPr>
        <p:spPr bwMode="auto">
          <a:xfrm>
            <a:off x="574867" y="4441501"/>
            <a:ext cx="166032" cy="461665"/>
          </a:xfrm>
          <a:prstGeom prst="rect">
            <a:avLst/>
          </a:prstGeom>
          <a:solidFill>
            <a:srgbClr val="FFFFFF"/>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56" name="Rectangle 55"/>
          <p:cNvSpPr/>
          <p:nvPr/>
        </p:nvSpPr>
        <p:spPr bwMode="auto">
          <a:xfrm>
            <a:off x="4299168" y="4824733"/>
            <a:ext cx="572628" cy="461665"/>
          </a:xfrm>
          <a:prstGeom prst="rect">
            <a:avLst/>
          </a:prstGeom>
          <a:solidFill>
            <a:srgbClr val="FFFFFF"/>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110" name="Group 109"/>
          <p:cNvGrpSpPr/>
          <p:nvPr/>
        </p:nvGrpSpPr>
        <p:grpSpPr>
          <a:xfrm>
            <a:off x="3188855" y="990600"/>
            <a:ext cx="1611745" cy="4161074"/>
            <a:chOff x="3188855" y="990600"/>
            <a:chExt cx="1611745" cy="4161074"/>
          </a:xfrm>
        </p:grpSpPr>
        <p:pic>
          <p:nvPicPr>
            <p:cNvPr id="46" name="Picture 45"/>
            <p:cNvPicPr>
              <a:picLocks noChangeAspect="1"/>
            </p:cNvPicPr>
            <p:nvPr/>
          </p:nvPicPr>
          <p:blipFill>
            <a:blip r:embed="rId4"/>
            <a:stretch>
              <a:fillRect/>
            </a:stretch>
          </p:blipFill>
          <p:spPr>
            <a:xfrm>
              <a:off x="3188855" y="3406684"/>
              <a:ext cx="1611745" cy="1744990"/>
            </a:xfrm>
            <a:prstGeom prst="rect">
              <a:avLst/>
            </a:prstGeom>
          </p:spPr>
        </p:pic>
        <p:grpSp>
          <p:nvGrpSpPr>
            <p:cNvPr id="107" name="Group 106"/>
            <p:cNvGrpSpPr/>
            <p:nvPr/>
          </p:nvGrpSpPr>
          <p:grpSpPr>
            <a:xfrm>
              <a:off x="3200400" y="990600"/>
              <a:ext cx="1371600" cy="1371600"/>
              <a:chOff x="3200400" y="990600"/>
              <a:chExt cx="1371600" cy="1371600"/>
            </a:xfrm>
          </p:grpSpPr>
          <p:sp>
            <p:nvSpPr>
              <p:cNvPr id="58" name="Rectangle 57"/>
              <p:cNvSpPr/>
              <p:nvPr/>
            </p:nvSpPr>
            <p:spPr bwMode="auto">
              <a:xfrm>
                <a:off x="3200400" y="990600"/>
                <a:ext cx="1371600" cy="1371600"/>
              </a:xfrm>
              <a:prstGeom prst="rect">
                <a:avLst/>
              </a:prstGeom>
              <a:noFill/>
              <a:ln w="762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pic>
            <p:nvPicPr>
              <p:cNvPr id="59" name="Picture 58"/>
              <p:cNvPicPr>
                <a:picLocks/>
              </p:cNvPicPr>
              <p:nvPr/>
            </p:nvPicPr>
            <p:blipFill>
              <a:blip r:embed="rId5"/>
              <a:stretch>
                <a:fillRect/>
              </a:stretch>
            </p:blipFill>
            <p:spPr>
              <a:xfrm>
                <a:off x="3291840" y="1082040"/>
                <a:ext cx="1188720" cy="1188720"/>
              </a:xfrm>
              <a:prstGeom prst="rect">
                <a:avLst/>
              </a:prstGeom>
            </p:spPr>
          </p:pic>
        </p:grpSp>
      </p:grpSp>
      <p:grpSp>
        <p:nvGrpSpPr>
          <p:cNvPr id="111" name="Group 110"/>
          <p:cNvGrpSpPr/>
          <p:nvPr/>
        </p:nvGrpSpPr>
        <p:grpSpPr>
          <a:xfrm>
            <a:off x="4871796" y="990600"/>
            <a:ext cx="1855587" cy="4429077"/>
            <a:chOff x="4871796" y="990600"/>
            <a:chExt cx="1855587" cy="4429077"/>
          </a:xfrm>
        </p:grpSpPr>
        <p:pic>
          <p:nvPicPr>
            <p:cNvPr id="47" name="Picture 46"/>
            <p:cNvPicPr>
              <a:picLocks noChangeAspect="1"/>
            </p:cNvPicPr>
            <p:nvPr/>
          </p:nvPicPr>
          <p:blipFill>
            <a:blip r:embed="rId6"/>
            <a:stretch>
              <a:fillRect/>
            </a:stretch>
          </p:blipFill>
          <p:spPr>
            <a:xfrm>
              <a:off x="4871796" y="3260773"/>
              <a:ext cx="1855587" cy="2158904"/>
            </a:xfrm>
            <a:prstGeom prst="rect">
              <a:avLst/>
            </a:prstGeom>
          </p:spPr>
        </p:pic>
        <p:grpSp>
          <p:nvGrpSpPr>
            <p:cNvPr id="108" name="Group 107"/>
            <p:cNvGrpSpPr/>
            <p:nvPr/>
          </p:nvGrpSpPr>
          <p:grpSpPr>
            <a:xfrm>
              <a:off x="5174357" y="990600"/>
              <a:ext cx="1371600" cy="1371600"/>
              <a:chOff x="5174357" y="990600"/>
              <a:chExt cx="1371600" cy="1371600"/>
            </a:xfrm>
          </p:grpSpPr>
          <p:sp>
            <p:nvSpPr>
              <p:cNvPr id="61" name="Rectangle 60"/>
              <p:cNvSpPr/>
              <p:nvPr/>
            </p:nvSpPr>
            <p:spPr bwMode="auto">
              <a:xfrm>
                <a:off x="5174357" y="990600"/>
                <a:ext cx="1371600" cy="1371600"/>
              </a:xfrm>
              <a:prstGeom prst="rect">
                <a:avLst/>
              </a:prstGeom>
              <a:noFill/>
              <a:ln w="76200" cap="flat" cmpd="sng" algn="ctr">
                <a:solidFill>
                  <a:srgbClr val="005EA7"/>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62" name="Group 35"/>
              <p:cNvGrpSpPr/>
              <p:nvPr/>
            </p:nvGrpSpPr>
            <p:grpSpPr>
              <a:xfrm>
                <a:off x="5252570" y="1082040"/>
                <a:ext cx="1188721" cy="1188721"/>
                <a:chOff x="3805161" y="1335405"/>
                <a:chExt cx="2450592" cy="2450592"/>
              </a:xfrm>
              <a:noFill/>
            </p:grpSpPr>
            <p:pic>
              <p:nvPicPr>
                <p:cNvPr id="63" name="Picture 62"/>
                <p:cNvPicPr>
                  <a:picLocks/>
                </p:cNvPicPr>
                <p:nvPr/>
              </p:nvPicPr>
              <p:blipFill>
                <a:blip r:embed="rId5"/>
                <a:stretch>
                  <a:fillRect/>
                </a:stretch>
              </p:blipFill>
              <p:spPr>
                <a:xfrm>
                  <a:off x="3805161" y="1335405"/>
                  <a:ext cx="1170431" cy="1170431"/>
                </a:xfrm>
                <a:prstGeom prst="rect">
                  <a:avLst/>
                </a:prstGeom>
                <a:grpFill/>
              </p:spPr>
            </p:pic>
            <p:pic>
              <p:nvPicPr>
                <p:cNvPr id="64" name="Picture 63"/>
                <p:cNvPicPr>
                  <a:picLocks/>
                </p:cNvPicPr>
                <p:nvPr/>
              </p:nvPicPr>
              <p:blipFill>
                <a:blip r:embed="rId5"/>
                <a:stretch>
                  <a:fillRect/>
                </a:stretch>
              </p:blipFill>
              <p:spPr>
                <a:xfrm>
                  <a:off x="3805161" y="2615566"/>
                  <a:ext cx="1170431" cy="1170431"/>
                </a:xfrm>
                <a:prstGeom prst="rect">
                  <a:avLst/>
                </a:prstGeom>
                <a:grpFill/>
              </p:spPr>
            </p:pic>
            <p:pic>
              <p:nvPicPr>
                <p:cNvPr id="65" name="Picture 64"/>
                <p:cNvPicPr>
                  <a:picLocks/>
                </p:cNvPicPr>
                <p:nvPr/>
              </p:nvPicPr>
              <p:blipFill>
                <a:blip r:embed="rId5"/>
                <a:stretch>
                  <a:fillRect/>
                </a:stretch>
              </p:blipFill>
              <p:spPr>
                <a:xfrm>
                  <a:off x="5085322" y="1335405"/>
                  <a:ext cx="1170431" cy="1170431"/>
                </a:xfrm>
                <a:prstGeom prst="rect">
                  <a:avLst/>
                </a:prstGeom>
                <a:grpFill/>
              </p:spPr>
            </p:pic>
            <p:pic>
              <p:nvPicPr>
                <p:cNvPr id="66" name="Picture 65"/>
                <p:cNvPicPr>
                  <a:picLocks/>
                </p:cNvPicPr>
                <p:nvPr/>
              </p:nvPicPr>
              <p:blipFill>
                <a:blip r:embed="rId5"/>
                <a:stretch>
                  <a:fillRect/>
                </a:stretch>
              </p:blipFill>
              <p:spPr>
                <a:xfrm>
                  <a:off x="5085322" y="2615566"/>
                  <a:ext cx="1170431" cy="1170431"/>
                </a:xfrm>
                <a:prstGeom prst="rect">
                  <a:avLst/>
                </a:prstGeom>
                <a:grpFill/>
              </p:spPr>
            </p:pic>
          </p:grpSp>
        </p:grpSp>
      </p:grpSp>
      <p:grpSp>
        <p:nvGrpSpPr>
          <p:cNvPr id="112" name="Group 111"/>
          <p:cNvGrpSpPr/>
          <p:nvPr/>
        </p:nvGrpSpPr>
        <p:grpSpPr>
          <a:xfrm>
            <a:off x="6921920" y="990600"/>
            <a:ext cx="1536211" cy="4459406"/>
            <a:chOff x="6921920" y="990600"/>
            <a:chExt cx="1536211" cy="4459406"/>
          </a:xfrm>
        </p:grpSpPr>
        <p:pic>
          <p:nvPicPr>
            <p:cNvPr id="48" name="Picture 47"/>
            <p:cNvPicPr>
              <a:picLocks noChangeAspect="1"/>
            </p:cNvPicPr>
            <p:nvPr/>
          </p:nvPicPr>
          <p:blipFill>
            <a:blip r:embed="rId7"/>
            <a:stretch>
              <a:fillRect/>
            </a:stretch>
          </p:blipFill>
          <p:spPr>
            <a:xfrm>
              <a:off x="6921920" y="3269462"/>
              <a:ext cx="1536211" cy="2180544"/>
            </a:xfrm>
            <a:prstGeom prst="rect">
              <a:avLst/>
            </a:prstGeom>
          </p:spPr>
        </p:pic>
        <p:grpSp>
          <p:nvGrpSpPr>
            <p:cNvPr id="109" name="Group 108"/>
            <p:cNvGrpSpPr/>
            <p:nvPr/>
          </p:nvGrpSpPr>
          <p:grpSpPr>
            <a:xfrm>
              <a:off x="6933465" y="990600"/>
              <a:ext cx="1371600" cy="1371600"/>
              <a:chOff x="6933465" y="990600"/>
              <a:chExt cx="1371600" cy="1371600"/>
            </a:xfrm>
          </p:grpSpPr>
          <p:sp>
            <p:nvSpPr>
              <p:cNvPr id="68" name="Rectangle 67"/>
              <p:cNvSpPr/>
              <p:nvPr/>
            </p:nvSpPr>
            <p:spPr bwMode="auto">
              <a:xfrm>
                <a:off x="6933465" y="990600"/>
                <a:ext cx="1371600" cy="1371600"/>
              </a:xfrm>
              <a:prstGeom prst="rect">
                <a:avLst/>
              </a:prstGeom>
              <a:noFill/>
              <a:ln w="762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77" name="Group 63"/>
              <p:cNvGrpSpPr/>
              <p:nvPr/>
            </p:nvGrpSpPr>
            <p:grpSpPr>
              <a:xfrm>
                <a:off x="7024936" y="1083120"/>
                <a:ext cx="1188658" cy="1186561"/>
                <a:chOff x="7038131" y="4082720"/>
                <a:chExt cx="1188658" cy="1186561"/>
              </a:xfrm>
            </p:grpSpPr>
            <p:pic>
              <p:nvPicPr>
                <p:cNvPr id="88" name="Picture 87"/>
                <p:cNvPicPr>
                  <a:picLocks/>
                </p:cNvPicPr>
                <p:nvPr/>
              </p:nvPicPr>
              <p:blipFill>
                <a:blip r:embed="rId5"/>
                <a:stretch>
                  <a:fillRect/>
                </a:stretch>
              </p:blipFill>
              <p:spPr>
                <a:xfrm>
                  <a:off x="7038131" y="4082720"/>
                  <a:ext cx="270162" cy="269133"/>
                </a:xfrm>
                <a:prstGeom prst="rect">
                  <a:avLst/>
                </a:prstGeom>
              </p:spPr>
            </p:pic>
            <p:pic>
              <p:nvPicPr>
                <p:cNvPr id="89" name="Picture 88"/>
                <p:cNvPicPr>
                  <a:picLocks/>
                </p:cNvPicPr>
                <p:nvPr/>
              </p:nvPicPr>
              <p:blipFill>
                <a:blip r:embed="rId5"/>
                <a:stretch>
                  <a:fillRect/>
                </a:stretch>
              </p:blipFill>
              <p:spPr>
                <a:xfrm>
                  <a:off x="7344318" y="4082720"/>
                  <a:ext cx="270162" cy="269133"/>
                </a:xfrm>
                <a:prstGeom prst="rect">
                  <a:avLst/>
                </a:prstGeom>
              </p:spPr>
            </p:pic>
            <p:pic>
              <p:nvPicPr>
                <p:cNvPr id="90" name="Picture 89"/>
                <p:cNvPicPr>
                  <a:picLocks/>
                </p:cNvPicPr>
                <p:nvPr/>
              </p:nvPicPr>
              <p:blipFill>
                <a:blip r:embed="rId5"/>
                <a:stretch>
                  <a:fillRect/>
                </a:stretch>
              </p:blipFill>
              <p:spPr>
                <a:xfrm>
                  <a:off x="7038131" y="4387741"/>
                  <a:ext cx="270162" cy="269133"/>
                </a:xfrm>
                <a:prstGeom prst="rect">
                  <a:avLst/>
                </a:prstGeom>
              </p:spPr>
            </p:pic>
            <p:pic>
              <p:nvPicPr>
                <p:cNvPr id="91" name="Picture 90"/>
                <p:cNvPicPr>
                  <a:picLocks/>
                </p:cNvPicPr>
                <p:nvPr/>
              </p:nvPicPr>
              <p:blipFill>
                <a:blip r:embed="rId5"/>
                <a:stretch>
                  <a:fillRect/>
                </a:stretch>
              </p:blipFill>
              <p:spPr>
                <a:xfrm>
                  <a:off x="7344318" y="4387741"/>
                  <a:ext cx="270162" cy="269133"/>
                </a:xfrm>
                <a:prstGeom prst="rect">
                  <a:avLst/>
                </a:prstGeom>
              </p:spPr>
            </p:pic>
            <p:pic>
              <p:nvPicPr>
                <p:cNvPr id="92" name="Picture 91"/>
                <p:cNvPicPr>
                  <a:picLocks/>
                </p:cNvPicPr>
                <p:nvPr/>
              </p:nvPicPr>
              <p:blipFill>
                <a:blip r:embed="rId5"/>
                <a:stretch>
                  <a:fillRect/>
                </a:stretch>
              </p:blipFill>
              <p:spPr>
                <a:xfrm>
                  <a:off x="7038131" y="4695127"/>
                  <a:ext cx="270162" cy="269133"/>
                </a:xfrm>
                <a:prstGeom prst="rect">
                  <a:avLst/>
                </a:prstGeom>
              </p:spPr>
            </p:pic>
            <p:pic>
              <p:nvPicPr>
                <p:cNvPr id="93" name="Picture 92"/>
                <p:cNvPicPr>
                  <a:picLocks/>
                </p:cNvPicPr>
                <p:nvPr/>
              </p:nvPicPr>
              <p:blipFill>
                <a:blip r:embed="rId5"/>
                <a:stretch>
                  <a:fillRect/>
                </a:stretch>
              </p:blipFill>
              <p:spPr>
                <a:xfrm>
                  <a:off x="7344318" y="4695127"/>
                  <a:ext cx="270162" cy="269133"/>
                </a:xfrm>
                <a:prstGeom prst="rect">
                  <a:avLst/>
                </a:prstGeom>
              </p:spPr>
            </p:pic>
            <p:pic>
              <p:nvPicPr>
                <p:cNvPr id="94" name="Picture 93"/>
                <p:cNvPicPr>
                  <a:picLocks/>
                </p:cNvPicPr>
                <p:nvPr/>
              </p:nvPicPr>
              <p:blipFill>
                <a:blip r:embed="rId5"/>
                <a:stretch>
                  <a:fillRect/>
                </a:stretch>
              </p:blipFill>
              <p:spPr>
                <a:xfrm>
                  <a:off x="7038131" y="5000148"/>
                  <a:ext cx="270162" cy="269133"/>
                </a:xfrm>
                <a:prstGeom prst="rect">
                  <a:avLst/>
                </a:prstGeom>
              </p:spPr>
            </p:pic>
            <p:pic>
              <p:nvPicPr>
                <p:cNvPr id="95" name="Picture 94"/>
                <p:cNvPicPr>
                  <a:picLocks/>
                </p:cNvPicPr>
                <p:nvPr/>
              </p:nvPicPr>
              <p:blipFill>
                <a:blip r:embed="rId5"/>
                <a:stretch>
                  <a:fillRect/>
                </a:stretch>
              </p:blipFill>
              <p:spPr>
                <a:xfrm>
                  <a:off x="7344318" y="5000148"/>
                  <a:ext cx="270162" cy="269133"/>
                </a:xfrm>
                <a:prstGeom prst="rect">
                  <a:avLst/>
                </a:prstGeom>
              </p:spPr>
            </p:pic>
            <p:pic>
              <p:nvPicPr>
                <p:cNvPr id="96" name="Picture 95"/>
                <p:cNvPicPr>
                  <a:picLocks/>
                </p:cNvPicPr>
                <p:nvPr/>
              </p:nvPicPr>
              <p:blipFill>
                <a:blip r:embed="rId5"/>
                <a:stretch>
                  <a:fillRect/>
                </a:stretch>
              </p:blipFill>
              <p:spPr>
                <a:xfrm>
                  <a:off x="7650439" y="4082720"/>
                  <a:ext cx="270162" cy="269133"/>
                </a:xfrm>
                <a:prstGeom prst="rect">
                  <a:avLst/>
                </a:prstGeom>
              </p:spPr>
            </p:pic>
            <p:pic>
              <p:nvPicPr>
                <p:cNvPr id="97" name="Picture 96"/>
                <p:cNvPicPr>
                  <a:picLocks/>
                </p:cNvPicPr>
                <p:nvPr/>
              </p:nvPicPr>
              <p:blipFill>
                <a:blip r:embed="rId5"/>
                <a:stretch>
                  <a:fillRect/>
                </a:stretch>
              </p:blipFill>
              <p:spPr>
                <a:xfrm>
                  <a:off x="7956626" y="4082720"/>
                  <a:ext cx="270162" cy="269133"/>
                </a:xfrm>
                <a:prstGeom prst="rect">
                  <a:avLst/>
                </a:prstGeom>
              </p:spPr>
            </p:pic>
            <p:pic>
              <p:nvPicPr>
                <p:cNvPr id="98" name="Picture 97"/>
                <p:cNvPicPr>
                  <a:picLocks/>
                </p:cNvPicPr>
                <p:nvPr/>
              </p:nvPicPr>
              <p:blipFill>
                <a:blip r:embed="rId5"/>
                <a:stretch>
                  <a:fillRect/>
                </a:stretch>
              </p:blipFill>
              <p:spPr>
                <a:xfrm>
                  <a:off x="7650439" y="4387741"/>
                  <a:ext cx="270162" cy="269133"/>
                </a:xfrm>
                <a:prstGeom prst="rect">
                  <a:avLst/>
                </a:prstGeom>
              </p:spPr>
            </p:pic>
            <p:pic>
              <p:nvPicPr>
                <p:cNvPr id="99" name="Picture 98"/>
                <p:cNvPicPr>
                  <a:picLocks/>
                </p:cNvPicPr>
                <p:nvPr/>
              </p:nvPicPr>
              <p:blipFill>
                <a:blip r:embed="rId5"/>
                <a:stretch>
                  <a:fillRect/>
                </a:stretch>
              </p:blipFill>
              <p:spPr>
                <a:xfrm>
                  <a:off x="7956626" y="4387741"/>
                  <a:ext cx="270162" cy="269133"/>
                </a:xfrm>
                <a:prstGeom prst="rect">
                  <a:avLst/>
                </a:prstGeom>
              </p:spPr>
            </p:pic>
            <p:pic>
              <p:nvPicPr>
                <p:cNvPr id="100" name="Picture 99"/>
                <p:cNvPicPr>
                  <a:picLocks/>
                </p:cNvPicPr>
                <p:nvPr/>
              </p:nvPicPr>
              <p:blipFill>
                <a:blip r:embed="rId5"/>
                <a:stretch>
                  <a:fillRect/>
                </a:stretch>
              </p:blipFill>
              <p:spPr>
                <a:xfrm>
                  <a:off x="7650439" y="4695127"/>
                  <a:ext cx="270162" cy="269133"/>
                </a:xfrm>
                <a:prstGeom prst="rect">
                  <a:avLst/>
                </a:prstGeom>
              </p:spPr>
            </p:pic>
            <p:pic>
              <p:nvPicPr>
                <p:cNvPr id="101" name="Picture 100"/>
                <p:cNvPicPr>
                  <a:picLocks/>
                </p:cNvPicPr>
                <p:nvPr/>
              </p:nvPicPr>
              <p:blipFill>
                <a:blip r:embed="rId5"/>
                <a:stretch>
                  <a:fillRect/>
                </a:stretch>
              </p:blipFill>
              <p:spPr>
                <a:xfrm>
                  <a:off x="7956626" y="4695127"/>
                  <a:ext cx="270162" cy="269133"/>
                </a:xfrm>
                <a:prstGeom prst="rect">
                  <a:avLst/>
                </a:prstGeom>
              </p:spPr>
            </p:pic>
            <p:pic>
              <p:nvPicPr>
                <p:cNvPr id="102" name="Picture 101"/>
                <p:cNvPicPr>
                  <a:picLocks/>
                </p:cNvPicPr>
                <p:nvPr/>
              </p:nvPicPr>
              <p:blipFill>
                <a:blip r:embed="rId5"/>
                <a:stretch>
                  <a:fillRect/>
                </a:stretch>
              </p:blipFill>
              <p:spPr>
                <a:xfrm>
                  <a:off x="7650441" y="5000148"/>
                  <a:ext cx="270162" cy="269133"/>
                </a:xfrm>
                <a:prstGeom prst="rect">
                  <a:avLst/>
                </a:prstGeom>
              </p:spPr>
            </p:pic>
            <p:pic>
              <p:nvPicPr>
                <p:cNvPr id="103" name="Picture 102"/>
                <p:cNvPicPr>
                  <a:picLocks/>
                </p:cNvPicPr>
                <p:nvPr/>
              </p:nvPicPr>
              <p:blipFill>
                <a:blip r:embed="rId5"/>
                <a:stretch>
                  <a:fillRect/>
                </a:stretch>
              </p:blipFill>
              <p:spPr>
                <a:xfrm>
                  <a:off x="7956627" y="5000148"/>
                  <a:ext cx="270162" cy="269133"/>
                </a:xfrm>
                <a:prstGeom prst="rect">
                  <a:avLst/>
                </a:prstGeom>
              </p:spPr>
            </p:pic>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Option 2: Decrease Chip Area?</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10</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
        <p:nvSpPr>
          <p:cNvPr id="31" name="TextBox 30"/>
          <p:cNvSpPr txBox="1"/>
          <p:nvPr/>
        </p:nvSpPr>
        <p:spPr>
          <a:xfrm>
            <a:off x="703041" y="4759057"/>
            <a:ext cx="7737918" cy="1569660"/>
          </a:xfrm>
          <a:prstGeom prst="rect">
            <a:avLst/>
          </a:prstGeom>
          <a:noFill/>
        </p:spPr>
        <p:txBody>
          <a:bodyPr wrap="square" rtlCol="0">
            <a:spAutoFit/>
          </a:bodyPr>
          <a:lstStyle/>
          <a:p>
            <a:pPr algn="ctr"/>
            <a:r>
              <a:rPr lang="en-US" sz="3200" b="1" dirty="0" smtClean="0">
                <a:solidFill>
                  <a:srgbClr val="005EA7"/>
                </a:solidFill>
                <a:latin typeface="Calibri"/>
                <a:cs typeface="Calibri"/>
              </a:rPr>
              <a:t>Reduces cost, but sacrifices </a:t>
            </a:r>
          </a:p>
          <a:p>
            <a:pPr algn="ctr"/>
            <a:r>
              <a:rPr lang="en-US" sz="3200" b="1" dirty="0" smtClean="0">
                <a:solidFill>
                  <a:srgbClr val="005EA7"/>
                </a:solidFill>
                <a:latin typeface="Calibri"/>
                <a:cs typeface="Calibri"/>
              </a:rPr>
              <a:t>benefits from Moore’s law  </a:t>
            </a:r>
          </a:p>
          <a:p>
            <a:pPr algn="ctr">
              <a:buFontTx/>
              <a:buChar char="-"/>
            </a:pPr>
            <a:endParaRPr lang="en-US" sz="3200" b="1" dirty="0">
              <a:solidFill>
                <a:srgbClr val="005EA7"/>
              </a:solidFill>
              <a:latin typeface="Calibri"/>
              <a:cs typeface="Calibri"/>
            </a:endParaRPr>
          </a:p>
        </p:txBody>
      </p:sp>
      <p:pic>
        <p:nvPicPr>
          <p:cNvPr id="29" name="Picture 28"/>
          <p:cNvPicPr>
            <a:picLocks/>
          </p:cNvPicPr>
          <p:nvPr/>
        </p:nvPicPr>
        <p:blipFill>
          <a:blip r:embed="rId2"/>
          <a:stretch>
            <a:fillRect/>
          </a:stretch>
        </p:blipFill>
        <p:spPr>
          <a:xfrm>
            <a:off x="4002900" y="1121790"/>
            <a:ext cx="1135494" cy="1135494"/>
          </a:xfrm>
          <a:prstGeom prst="rect">
            <a:avLst/>
          </a:prstGeom>
        </p:spPr>
      </p:pic>
      <p:pic>
        <p:nvPicPr>
          <p:cNvPr id="37" name="Picture 36"/>
          <p:cNvPicPr>
            <a:picLocks/>
          </p:cNvPicPr>
          <p:nvPr/>
        </p:nvPicPr>
        <p:blipFill>
          <a:blip r:embed="rId2"/>
          <a:stretch>
            <a:fillRect/>
          </a:stretch>
        </p:blipFill>
        <p:spPr>
          <a:xfrm>
            <a:off x="6309487" y="1162201"/>
            <a:ext cx="540324" cy="538267"/>
          </a:xfrm>
          <a:prstGeom prst="rect">
            <a:avLst/>
          </a:prstGeom>
        </p:spPr>
      </p:pic>
      <p:pic>
        <p:nvPicPr>
          <p:cNvPr id="9" name="Picture 8"/>
          <p:cNvPicPr>
            <a:picLocks/>
          </p:cNvPicPr>
          <p:nvPr/>
        </p:nvPicPr>
        <p:blipFill>
          <a:blip r:embed="rId2"/>
          <a:stretch>
            <a:fillRect/>
          </a:stretch>
        </p:blipFill>
        <p:spPr>
          <a:xfrm>
            <a:off x="545806" y="1123949"/>
            <a:ext cx="2194560" cy="219456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533400"/>
          </a:xfrm>
        </p:spPr>
        <p:txBody>
          <a:bodyPr/>
          <a:lstStyle/>
          <a:p>
            <a:r>
              <a:rPr lang="en-US" dirty="0" smtClean="0"/>
              <a:t>Option 3: Decrease Active Fraction?</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11</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
        <p:nvSpPr>
          <p:cNvPr id="34" name="TextBox 33"/>
          <p:cNvSpPr txBox="1"/>
          <p:nvPr/>
        </p:nvSpPr>
        <p:spPr>
          <a:xfrm>
            <a:off x="740663" y="4783723"/>
            <a:ext cx="7662675" cy="1077218"/>
          </a:xfrm>
          <a:prstGeom prst="rect">
            <a:avLst/>
          </a:prstGeom>
          <a:noFill/>
        </p:spPr>
        <p:txBody>
          <a:bodyPr wrap="none" rtlCol="0">
            <a:spAutoFit/>
          </a:bodyPr>
          <a:lstStyle/>
          <a:p>
            <a:pPr algn="ctr"/>
            <a:r>
              <a:rPr lang="en-US" sz="3200" b="1" dirty="0" smtClean="0">
                <a:solidFill>
                  <a:schemeClr val="accent6"/>
                </a:solidFill>
                <a:latin typeface="Calibri"/>
                <a:cs typeface="Calibri"/>
              </a:rPr>
              <a:t>How do we extract application performance </a:t>
            </a:r>
          </a:p>
          <a:p>
            <a:pPr algn="ctr"/>
            <a:r>
              <a:rPr lang="en-US" sz="3200" b="1" dirty="0" smtClean="0">
                <a:solidFill>
                  <a:schemeClr val="accent6"/>
                </a:solidFill>
                <a:latin typeface="Calibri"/>
                <a:cs typeface="Calibri"/>
              </a:rPr>
              <a:t>from this “dark silicon”? </a:t>
            </a:r>
            <a:endParaRPr lang="en-US" sz="3200" b="1" dirty="0">
              <a:solidFill>
                <a:schemeClr val="accent6"/>
              </a:solidFill>
              <a:latin typeface="Calibri"/>
              <a:cs typeface="Calibri"/>
            </a:endParaRPr>
          </a:p>
        </p:txBody>
      </p:sp>
      <p:grpSp>
        <p:nvGrpSpPr>
          <p:cNvPr id="33" name="Group 32"/>
          <p:cNvGrpSpPr/>
          <p:nvPr/>
        </p:nvGrpSpPr>
        <p:grpSpPr>
          <a:xfrm>
            <a:off x="454367" y="1032509"/>
            <a:ext cx="2377440" cy="2377440"/>
            <a:chOff x="454367" y="1032509"/>
            <a:chExt cx="2377440" cy="2377440"/>
          </a:xfrm>
        </p:grpSpPr>
        <p:sp>
          <p:nvSpPr>
            <p:cNvPr id="30" name="Rectangle 29"/>
            <p:cNvSpPr/>
            <p:nvPr/>
          </p:nvSpPr>
          <p:spPr bwMode="auto">
            <a:xfrm>
              <a:off x="454367" y="1032509"/>
              <a:ext cx="2377440" cy="2377440"/>
            </a:xfrm>
            <a:prstGeom prst="rect">
              <a:avLst/>
            </a:prstGeom>
            <a:noFill/>
            <a:ln w="762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pic>
          <p:nvPicPr>
            <p:cNvPr id="36" name="Picture 35"/>
            <p:cNvPicPr>
              <a:picLocks/>
            </p:cNvPicPr>
            <p:nvPr/>
          </p:nvPicPr>
          <p:blipFill>
            <a:blip r:embed="rId3"/>
            <a:stretch>
              <a:fillRect/>
            </a:stretch>
          </p:blipFill>
          <p:spPr>
            <a:xfrm>
              <a:off x="545806" y="1123949"/>
              <a:ext cx="2194560" cy="2194560"/>
            </a:xfrm>
            <a:prstGeom prst="rect">
              <a:avLst/>
            </a:prstGeom>
          </p:spPr>
        </p:pic>
      </p:grpSp>
      <p:grpSp>
        <p:nvGrpSpPr>
          <p:cNvPr id="37" name="Group 36"/>
          <p:cNvGrpSpPr/>
          <p:nvPr/>
        </p:nvGrpSpPr>
        <p:grpSpPr>
          <a:xfrm>
            <a:off x="6025898" y="1032509"/>
            <a:ext cx="2377440" cy="2377440"/>
            <a:chOff x="6025898" y="1032509"/>
            <a:chExt cx="2377440" cy="2377440"/>
          </a:xfrm>
        </p:grpSpPr>
        <p:sp>
          <p:nvSpPr>
            <p:cNvPr id="31" name="Rectangle 30"/>
            <p:cNvSpPr/>
            <p:nvPr/>
          </p:nvSpPr>
          <p:spPr bwMode="auto">
            <a:xfrm>
              <a:off x="6025898" y="1032509"/>
              <a:ext cx="2377440" cy="2377440"/>
            </a:xfrm>
            <a:prstGeom prst="rect">
              <a:avLst/>
            </a:prstGeom>
            <a:noFill/>
            <a:ln w="76200" cap="flat" cmpd="sng" algn="ctr">
              <a:solidFill>
                <a:srgbClr val="78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100" name="Group 99"/>
            <p:cNvGrpSpPr/>
            <p:nvPr/>
          </p:nvGrpSpPr>
          <p:grpSpPr>
            <a:xfrm>
              <a:off x="6117331" y="1123949"/>
              <a:ext cx="2194574" cy="2194561"/>
              <a:chOff x="8799849" y="1160972"/>
              <a:chExt cx="2378858" cy="2375580"/>
            </a:xfrm>
          </p:grpSpPr>
          <p:sp>
            <p:nvSpPr>
              <p:cNvPr id="80" name="Rectangle 79"/>
              <p:cNvSpPr/>
              <p:nvPr/>
            </p:nvSpPr>
            <p:spPr bwMode="auto">
              <a:xfrm>
                <a:off x="9413763" y="1160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1" name="Rectangle 80"/>
              <p:cNvSpPr/>
              <p:nvPr/>
            </p:nvSpPr>
            <p:spPr bwMode="auto">
              <a:xfrm>
                <a:off x="10026835" y="1160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2" name="Rectangle 81"/>
              <p:cNvSpPr/>
              <p:nvPr/>
            </p:nvSpPr>
            <p:spPr bwMode="auto">
              <a:xfrm>
                <a:off x="10639210" y="1160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7" name="Rectangle 86"/>
              <p:cNvSpPr/>
              <p:nvPr/>
            </p:nvSpPr>
            <p:spPr bwMode="auto">
              <a:xfrm>
                <a:off x="9413763" y="2997055"/>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8" name="Rectangle 87"/>
              <p:cNvSpPr/>
              <p:nvPr/>
            </p:nvSpPr>
            <p:spPr bwMode="auto">
              <a:xfrm>
                <a:off x="10026835" y="2997055"/>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9" name="Rectangle 88"/>
              <p:cNvSpPr/>
              <p:nvPr/>
            </p:nvSpPr>
            <p:spPr bwMode="auto">
              <a:xfrm>
                <a:off x="10639211" y="2997055"/>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0" name="Rectangle 89"/>
              <p:cNvSpPr/>
              <p:nvPr/>
            </p:nvSpPr>
            <p:spPr bwMode="auto">
              <a:xfrm>
                <a:off x="8801390" y="299705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1" name="Rectangle 90"/>
              <p:cNvSpPr/>
              <p:nvPr/>
            </p:nvSpPr>
            <p:spPr bwMode="auto">
              <a:xfrm>
                <a:off x="9413066" y="2387013"/>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2" name="Rectangle 91"/>
              <p:cNvSpPr/>
              <p:nvPr/>
            </p:nvSpPr>
            <p:spPr bwMode="auto">
              <a:xfrm>
                <a:off x="10026139" y="2387013"/>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3" name="Rectangle 92"/>
              <p:cNvSpPr/>
              <p:nvPr/>
            </p:nvSpPr>
            <p:spPr bwMode="auto">
              <a:xfrm>
                <a:off x="10638513" y="2387013"/>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4" name="Rectangle 93"/>
              <p:cNvSpPr/>
              <p:nvPr/>
            </p:nvSpPr>
            <p:spPr bwMode="auto">
              <a:xfrm>
                <a:off x="8800692" y="2387014"/>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5" name="Rectangle 94"/>
              <p:cNvSpPr/>
              <p:nvPr/>
            </p:nvSpPr>
            <p:spPr bwMode="auto">
              <a:xfrm>
                <a:off x="9413764" y="1771014"/>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6" name="Rectangle 95"/>
              <p:cNvSpPr/>
              <p:nvPr/>
            </p:nvSpPr>
            <p:spPr bwMode="auto">
              <a:xfrm>
                <a:off x="10026837" y="1771014"/>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7" name="Rectangle 96"/>
              <p:cNvSpPr/>
              <p:nvPr/>
            </p:nvSpPr>
            <p:spPr bwMode="auto">
              <a:xfrm>
                <a:off x="10639209" y="1771014"/>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8" name="Rectangle 97"/>
              <p:cNvSpPr/>
              <p:nvPr/>
            </p:nvSpPr>
            <p:spPr bwMode="auto">
              <a:xfrm>
                <a:off x="8801381" y="1771014"/>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pic>
            <p:nvPicPr>
              <p:cNvPr id="99" name="Picture 98"/>
              <p:cNvPicPr>
                <a:picLocks/>
              </p:cNvPicPr>
              <p:nvPr/>
            </p:nvPicPr>
            <p:blipFill>
              <a:blip r:embed="rId3"/>
              <a:stretch>
                <a:fillRect/>
              </a:stretch>
            </p:blipFill>
            <p:spPr>
              <a:xfrm>
                <a:off x="8799849" y="1160972"/>
                <a:ext cx="540324" cy="538267"/>
              </a:xfrm>
              <a:prstGeom prst="rect">
                <a:avLst/>
              </a:prstGeom>
            </p:spPr>
          </p:pic>
        </p:grpSp>
      </p:grpSp>
      <p:grpSp>
        <p:nvGrpSpPr>
          <p:cNvPr id="35" name="Group 34"/>
          <p:cNvGrpSpPr/>
          <p:nvPr/>
        </p:nvGrpSpPr>
        <p:grpSpPr>
          <a:xfrm>
            <a:off x="3245825" y="1032509"/>
            <a:ext cx="2377440" cy="2377440"/>
            <a:chOff x="3245825" y="1057969"/>
            <a:chExt cx="2377440" cy="2377440"/>
          </a:xfrm>
        </p:grpSpPr>
        <p:sp>
          <p:nvSpPr>
            <p:cNvPr id="32" name="Rectangle 31"/>
            <p:cNvSpPr/>
            <p:nvPr/>
          </p:nvSpPr>
          <p:spPr bwMode="auto">
            <a:xfrm>
              <a:off x="3245825" y="1057969"/>
              <a:ext cx="2377440" cy="2377440"/>
            </a:xfrm>
            <a:prstGeom prst="rect">
              <a:avLst/>
            </a:prstGeom>
            <a:noFill/>
            <a:ln w="76200" cap="flat" cmpd="sng" algn="ctr">
              <a:solidFill>
                <a:schemeClr val="accent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105" name="Group 104"/>
            <p:cNvGrpSpPr/>
            <p:nvPr/>
          </p:nvGrpSpPr>
          <p:grpSpPr>
            <a:xfrm>
              <a:off x="3337265" y="1149409"/>
              <a:ext cx="2194560" cy="2194560"/>
              <a:chOff x="770349" y="1114284"/>
              <a:chExt cx="2377440" cy="2376548"/>
            </a:xfrm>
          </p:grpSpPr>
          <p:sp>
            <p:nvSpPr>
              <p:cNvPr id="101" name="Rectangle 100"/>
              <p:cNvSpPr/>
              <p:nvPr/>
            </p:nvSpPr>
            <p:spPr bwMode="auto">
              <a:xfrm>
                <a:off x="770349" y="2347832"/>
                <a:ext cx="1135494" cy="1143000"/>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02" name="Rectangle 101"/>
              <p:cNvSpPr/>
              <p:nvPr/>
            </p:nvSpPr>
            <p:spPr bwMode="auto">
              <a:xfrm>
                <a:off x="2012295" y="2347832"/>
                <a:ext cx="1135494" cy="1143000"/>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03" name="Rectangle 102"/>
              <p:cNvSpPr/>
              <p:nvPr/>
            </p:nvSpPr>
            <p:spPr bwMode="auto">
              <a:xfrm>
                <a:off x="2012295" y="1114284"/>
                <a:ext cx="1135494" cy="1143000"/>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pic>
            <p:nvPicPr>
              <p:cNvPr id="104" name="Picture 103"/>
              <p:cNvPicPr>
                <a:picLocks/>
              </p:cNvPicPr>
              <p:nvPr/>
            </p:nvPicPr>
            <p:blipFill>
              <a:blip r:embed="rId3"/>
              <a:stretch>
                <a:fillRect/>
              </a:stretch>
            </p:blipFill>
            <p:spPr>
              <a:xfrm>
                <a:off x="770349" y="1121790"/>
                <a:ext cx="1135494" cy="1135494"/>
              </a:xfrm>
              <a:prstGeom prst="rect">
                <a:avLst/>
              </a:prstGeom>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pic>
        <p:nvPicPr>
          <p:cNvPr id="6" name="Picture 5" descr="apple_A5_backside.jpg"/>
          <p:cNvPicPr>
            <a:picLocks noChangeAspect="1"/>
          </p:cNvPicPr>
          <p:nvPr/>
        </p:nvPicPr>
        <p:blipFill>
          <a:blip r:embed="rId3"/>
          <a:stretch>
            <a:fillRect/>
          </a:stretch>
        </p:blipFill>
        <p:spPr>
          <a:xfrm>
            <a:off x="4904152" y="2861441"/>
            <a:ext cx="3739489" cy="3105841"/>
          </a:xfrm>
          <a:prstGeom prst="rect">
            <a:avLst/>
          </a:prstGeom>
        </p:spPr>
      </p:pic>
      <p:sp>
        <p:nvSpPr>
          <p:cNvPr id="18" name="Rectangle 17"/>
          <p:cNvSpPr/>
          <p:nvPr/>
        </p:nvSpPr>
        <p:spPr bwMode="auto">
          <a:xfrm>
            <a:off x="5209784" y="2941609"/>
            <a:ext cx="1786045" cy="2204785"/>
          </a:xfrm>
          <a:prstGeom prst="rect">
            <a:avLst/>
          </a:prstGeom>
          <a:solidFill>
            <a:schemeClr val="bg1">
              <a:alpha val="32000"/>
            </a:schemeClr>
          </a:solidFill>
          <a:ln w="38100" cap="flat" cmpd="sng" algn="ctr">
            <a:solidFill>
              <a:schemeClr val="accent3"/>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pic>
        <p:nvPicPr>
          <p:cNvPr id="7" name="Picture 6" descr="tegra2.jpg"/>
          <p:cNvPicPr>
            <a:picLocks noChangeAspect="1"/>
          </p:cNvPicPr>
          <p:nvPr/>
        </p:nvPicPr>
        <p:blipFill>
          <a:blip r:embed="rId4"/>
          <a:stretch>
            <a:fillRect/>
          </a:stretch>
        </p:blipFill>
        <p:spPr>
          <a:xfrm>
            <a:off x="922092" y="2796389"/>
            <a:ext cx="3356307" cy="3239286"/>
          </a:xfrm>
          <a:prstGeom prst="rect">
            <a:avLst/>
          </a:prstGeom>
        </p:spPr>
      </p:pic>
      <p:sp>
        <p:nvSpPr>
          <p:cNvPr id="17" name="Rectangle 16"/>
          <p:cNvSpPr/>
          <p:nvPr/>
        </p:nvSpPr>
        <p:spPr bwMode="auto">
          <a:xfrm>
            <a:off x="2692101" y="2941609"/>
            <a:ext cx="1475849" cy="2866275"/>
          </a:xfrm>
          <a:prstGeom prst="rect">
            <a:avLst/>
          </a:prstGeom>
          <a:solidFill>
            <a:schemeClr val="bg1">
              <a:alpha val="32000"/>
            </a:schemeClr>
          </a:solidFill>
          <a:ln w="38100" cap="flat" cmpd="sng" algn="ctr">
            <a:solidFill>
              <a:schemeClr val="accent3"/>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2" name="Title 1"/>
          <p:cNvSpPr>
            <a:spLocks noGrp="1"/>
          </p:cNvSpPr>
          <p:nvPr>
            <p:ph type="title"/>
          </p:nvPr>
        </p:nvSpPr>
        <p:spPr/>
        <p:txBody>
          <a:bodyPr/>
          <a:lstStyle/>
          <a:p>
            <a:r>
              <a:rPr lang="en-US" dirty="0" smtClean="0"/>
              <a:t>Accelerator Cores?</a:t>
            </a:r>
            <a:endParaRPr lang="en-US" dirty="0"/>
          </a:p>
        </p:txBody>
      </p:sp>
      <p:sp>
        <p:nvSpPr>
          <p:cNvPr id="3" name="Content Placeholder 2"/>
          <p:cNvSpPr>
            <a:spLocks noGrp="1"/>
          </p:cNvSpPr>
          <p:nvPr>
            <p:ph idx="1"/>
          </p:nvPr>
        </p:nvSpPr>
        <p:spPr/>
        <p:txBody>
          <a:bodyPr/>
          <a:lstStyle/>
          <a:p>
            <a:pPr>
              <a:spcBef>
                <a:spcPts val="576"/>
              </a:spcBef>
            </a:pPr>
            <a:r>
              <a:rPr lang="en-US" b="1" dirty="0" smtClean="0">
                <a:solidFill>
                  <a:srgbClr val="005EA7"/>
                </a:solidFill>
              </a:rPr>
              <a:t>Heterogeneous cores</a:t>
            </a:r>
            <a:r>
              <a:rPr lang="en-US" sz="1600" b="1" dirty="0" smtClean="0"/>
              <a:t/>
            </a:r>
            <a:br>
              <a:rPr lang="en-US" sz="1600" b="1" dirty="0" smtClean="0"/>
            </a:br>
            <a:r>
              <a:rPr lang="en-US" sz="1600" dirty="0" smtClean="0"/>
              <a:t>[Conservation Cores ASPLOS’10, </a:t>
            </a:r>
            <a:r>
              <a:rPr lang="en-US" sz="1600" dirty="0" err="1" smtClean="0"/>
              <a:t>GreenDroid</a:t>
            </a:r>
            <a:r>
              <a:rPr lang="en-US" sz="1600" dirty="0" smtClean="0"/>
              <a:t> IEEE Comm., </a:t>
            </a:r>
            <a:r>
              <a:rPr lang="en-US" sz="1600" dirty="0" err="1" smtClean="0"/>
              <a:t>QsCores</a:t>
            </a:r>
            <a:r>
              <a:rPr lang="en-US" sz="1600" dirty="0" smtClean="0"/>
              <a:t> MICRO’11] </a:t>
            </a:r>
          </a:p>
          <a:p>
            <a:pPr lvl="1">
              <a:spcBef>
                <a:spcPts val="576"/>
              </a:spcBef>
            </a:pPr>
            <a:r>
              <a:rPr lang="en-US" dirty="0" smtClean="0"/>
              <a:t>Activate different parts of chip based on application</a:t>
            </a:r>
          </a:p>
          <a:p>
            <a:pPr>
              <a:spcBef>
                <a:spcPts val="576"/>
              </a:spcBef>
            </a:pPr>
            <a:r>
              <a:rPr lang="en-US" b="1" dirty="0" smtClean="0">
                <a:solidFill>
                  <a:srgbClr val="005EA7"/>
                </a:solidFill>
              </a:rPr>
              <a:t>Mobile chips already employ accelerators</a:t>
            </a:r>
          </a:p>
          <a:p>
            <a:pPr>
              <a:spcBef>
                <a:spcPts val="576"/>
              </a:spcBef>
            </a:pPr>
            <a:endParaRPr lang="en-US" dirty="0" smtClean="0"/>
          </a:p>
        </p:txBody>
      </p:sp>
      <p:sp>
        <p:nvSpPr>
          <p:cNvPr id="4" name="Slide Number Placeholder 3"/>
          <p:cNvSpPr>
            <a:spLocks noGrp="1"/>
          </p:cNvSpPr>
          <p:nvPr>
            <p:ph type="sldNum" sz="quarter" idx="10"/>
          </p:nvPr>
        </p:nvSpPr>
        <p:spPr/>
        <p:txBody>
          <a:bodyPr/>
          <a:lstStyle/>
          <a:p>
            <a:fld id="{FDA0CC57-CE7D-8143-BD13-67094D272EE6}" type="slidenum">
              <a:rPr lang="en-US" smtClean="0"/>
              <a:pPr/>
              <a:t>12</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
        <p:nvSpPr>
          <p:cNvPr id="19" name="L-Shape 18"/>
          <p:cNvSpPr/>
          <p:nvPr/>
        </p:nvSpPr>
        <p:spPr bwMode="auto">
          <a:xfrm flipH="1">
            <a:off x="5209779" y="2941609"/>
            <a:ext cx="3140738" cy="2866275"/>
          </a:xfrm>
          <a:prstGeom prst="corner">
            <a:avLst>
              <a:gd name="adj1" fmla="val 18354"/>
              <a:gd name="adj2" fmla="val 39209"/>
            </a:avLst>
          </a:prstGeom>
          <a:solidFill>
            <a:srgbClr val="FFFF00">
              <a:alpha val="32000"/>
            </a:srgbClr>
          </a:solidFill>
          <a:ln w="38100" cap="flat" cmpd="sng" algn="ctr">
            <a:solidFill>
              <a:srgbClr val="FFFF0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4" name="TextBox 13"/>
          <p:cNvSpPr txBox="1"/>
          <p:nvPr/>
        </p:nvSpPr>
        <p:spPr>
          <a:xfrm>
            <a:off x="728296" y="5967400"/>
            <a:ext cx="3854466" cy="523220"/>
          </a:xfrm>
          <a:prstGeom prst="rect">
            <a:avLst/>
          </a:prstGeom>
          <a:noFill/>
        </p:spPr>
        <p:txBody>
          <a:bodyPr wrap="none" rtlCol="0">
            <a:spAutoFit/>
          </a:bodyPr>
          <a:lstStyle/>
          <a:p>
            <a:pPr algn="ctr"/>
            <a:r>
              <a:rPr lang="en-US" sz="2800" dirty="0" smtClean="0">
                <a:latin typeface="Calibri"/>
                <a:cs typeface="Calibri"/>
              </a:rPr>
              <a:t>NVIDIA </a:t>
            </a:r>
            <a:r>
              <a:rPr lang="en-US" sz="2800" dirty="0" err="1" smtClean="0">
                <a:latin typeface="Calibri"/>
                <a:cs typeface="Calibri"/>
              </a:rPr>
              <a:t>Tegra</a:t>
            </a:r>
            <a:r>
              <a:rPr lang="en-US" sz="2800" dirty="0" smtClean="0">
                <a:latin typeface="Calibri"/>
                <a:cs typeface="Calibri"/>
              </a:rPr>
              <a:t> 2 (49 mm</a:t>
            </a:r>
            <a:r>
              <a:rPr lang="en-US" sz="2800" baseline="30000" dirty="0" smtClean="0">
                <a:latin typeface="Calibri"/>
                <a:cs typeface="Calibri"/>
              </a:rPr>
              <a:t>2</a:t>
            </a:r>
            <a:r>
              <a:rPr lang="en-US" sz="2800" dirty="0" smtClean="0">
                <a:latin typeface="Calibri"/>
                <a:cs typeface="Calibri"/>
              </a:rPr>
              <a:t>)</a:t>
            </a:r>
          </a:p>
          <a:p>
            <a:pPr algn="ctr"/>
            <a:endParaRPr lang="en-US" sz="2800" dirty="0" smtClean="0">
              <a:latin typeface="Calibri"/>
              <a:cs typeface="Calibri"/>
            </a:endParaRPr>
          </a:p>
        </p:txBody>
      </p:sp>
      <p:sp>
        <p:nvSpPr>
          <p:cNvPr id="15" name="TextBox 14"/>
          <p:cNvSpPr txBox="1"/>
          <p:nvPr/>
        </p:nvSpPr>
        <p:spPr>
          <a:xfrm>
            <a:off x="5182154" y="5967400"/>
            <a:ext cx="3183484" cy="523220"/>
          </a:xfrm>
          <a:prstGeom prst="rect">
            <a:avLst/>
          </a:prstGeom>
          <a:noFill/>
        </p:spPr>
        <p:txBody>
          <a:bodyPr wrap="none" rtlCol="0">
            <a:spAutoFit/>
          </a:bodyPr>
          <a:lstStyle/>
          <a:p>
            <a:pPr algn="ctr"/>
            <a:r>
              <a:rPr lang="en-US" sz="2800" dirty="0" smtClean="0">
                <a:latin typeface="Calibri"/>
                <a:cs typeface="Calibri"/>
              </a:rPr>
              <a:t>Apple A5 (122 mm</a:t>
            </a:r>
            <a:r>
              <a:rPr lang="en-US" sz="2800" baseline="30000" dirty="0" smtClean="0">
                <a:latin typeface="Calibri"/>
                <a:cs typeface="Calibri"/>
              </a:rPr>
              <a:t>2</a:t>
            </a:r>
            <a:r>
              <a:rPr lang="en-US" sz="2800" dirty="0" smtClean="0">
                <a:latin typeface="Calibri"/>
                <a:cs typeface="Calibri"/>
              </a:rPr>
              <a:t>)</a:t>
            </a:r>
          </a:p>
          <a:p>
            <a:pPr algn="ctr"/>
            <a:endParaRPr lang="en-US" sz="2800" dirty="0" smtClean="0">
              <a:latin typeface="Calibri"/>
              <a:cs typeface="Calibri"/>
            </a:endParaRPr>
          </a:p>
        </p:txBody>
      </p:sp>
      <p:sp>
        <p:nvSpPr>
          <p:cNvPr id="16" name="Rectangle 15"/>
          <p:cNvSpPr/>
          <p:nvPr/>
        </p:nvSpPr>
        <p:spPr bwMode="auto">
          <a:xfrm>
            <a:off x="1156563" y="2941609"/>
            <a:ext cx="1475849" cy="2866275"/>
          </a:xfrm>
          <a:prstGeom prst="rect">
            <a:avLst/>
          </a:prstGeom>
          <a:solidFill>
            <a:srgbClr val="FFFF00">
              <a:alpha val="32000"/>
            </a:srgbClr>
          </a:solidFill>
          <a:ln w="38100" cap="flat" cmpd="sng" algn="ctr">
            <a:solidFill>
              <a:srgbClr val="FFFF0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7" grpId="0" animBg="1"/>
      <p:bldP spid="19" grpId="0" animBg="1"/>
      <p:bldP spid="14" grpId="0"/>
      <p:bldP spid="15" grpId="0"/>
      <p:bldP spid="16" grpId="0" animBg="1"/>
    </p:bld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1" name="Picture 10" descr="feature-extraction.jpg"/>
          <p:cNvPicPr>
            <a:picLocks noChangeAspect="1"/>
          </p:cNvPicPr>
          <p:nvPr/>
        </p:nvPicPr>
        <p:blipFill>
          <a:blip r:embed="rId3"/>
          <a:stretch>
            <a:fillRect/>
          </a:stretch>
        </p:blipFill>
        <p:spPr>
          <a:xfrm>
            <a:off x="3655102" y="3496443"/>
            <a:ext cx="1534799" cy="2271147"/>
          </a:xfrm>
          <a:prstGeom prst="rect">
            <a:avLst/>
          </a:prstGeom>
        </p:spPr>
      </p:pic>
      <p:pic>
        <p:nvPicPr>
          <p:cNvPr id="9" name="Picture 8" descr="iphone_graffiti_1.jpg"/>
          <p:cNvPicPr>
            <a:picLocks noChangeAspect="1"/>
          </p:cNvPicPr>
          <p:nvPr/>
        </p:nvPicPr>
        <p:blipFill>
          <a:blip r:embed="rId4"/>
          <a:stretch>
            <a:fillRect/>
          </a:stretch>
        </p:blipFill>
        <p:spPr>
          <a:xfrm>
            <a:off x="5991492" y="3496444"/>
            <a:ext cx="2250570" cy="2382050"/>
          </a:xfrm>
          <a:prstGeom prst="rect">
            <a:avLst/>
          </a:prstGeom>
        </p:spPr>
      </p:pic>
      <p:sp>
        <p:nvSpPr>
          <p:cNvPr id="2" name="Title 1"/>
          <p:cNvSpPr>
            <a:spLocks noGrp="1"/>
          </p:cNvSpPr>
          <p:nvPr>
            <p:ph type="title"/>
          </p:nvPr>
        </p:nvSpPr>
        <p:spPr/>
        <p:txBody>
          <a:bodyPr/>
          <a:lstStyle/>
          <a:p>
            <a:r>
              <a:rPr lang="en-US" dirty="0" smtClean="0"/>
              <a:t>Design for Responsiveness</a:t>
            </a:r>
            <a:endParaRPr lang="en-US" dirty="0"/>
          </a:p>
        </p:txBody>
      </p:sp>
      <p:sp>
        <p:nvSpPr>
          <p:cNvPr id="3" name="Content Placeholder 2"/>
          <p:cNvSpPr>
            <a:spLocks noGrp="1"/>
          </p:cNvSpPr>
          <p:nvPr>
            <p:ph idx="1"/>
          </p:nvPr>
        </p:nvSpPr>
        <p:spPr>
          <a:xfrm>
            <a:off x="457200" y="990600"/>
            <a:ext cx="8686800" cy="5257800"/>
          </a:xfrm>
        </p:spPr>
        <p:txBody>
          <a:bodyPr/>
          <a:lstStyle/>
          <a:p>
            <a:r>
              <a:rPr lang="en-US" b="1" dirty="0" smtClean="0">
                <a:solidFill>
                  <a:srgbClr val="005EA7"/>
                </a:solidFill>
              </a:rPr>
              <a:t>Observation: today, design for sustained performance</a:t>
            </a:r>
          </a:p>
          <a:p>
            <a:r>
              <a:rPr lang="en-US" b="1" dirty="0" smtClean="0">
                <a:solidFill>
                  <a:srgbClr val="005EA7"/>
                </a:solidFill>
              </a:rPr>
              <a:t>But, consider emerging interactive mobile apps…</a:t>
            </a:r>
            <a:r>
              <a:rPr lang="en-US" dirty="0" smtClean="0"/>
              <a:t/>
            </a:r>
            <a:br>
              <a:rPr lang="en-US" dirty="0" smtClean="0"/>
            </a:br>
            <a:r>
              <a:rPr lang="en-US" sz="2000" dirty="0" smtClean="0"/>
              <a:t>[Clemons+ DAC’11,  </a:t>
            </a:r>
            <a:r>
              <a:rPr lang="en-US" sz="2000" dirty="0" err="1" smtClean="0"/>
              <a:t>Hartl</a:t>
            </a:r>
            <a:r>
              <a:rPr lang="en-US" sz="2000" dirty="0" smtClean="0"/>
              <a:t>+ ECV’11, </a:t>
            </a:r>
            <a:r>
              <a:rPr lang="en-US" sz="2000" dirty="0" err="1" smtClean="0"/>
              <a:t>Girod</a:t>
            </a:r>
            <a:r>
              <a:rPr lang="en-US" sz="2000" dirty="0" smtClean="0"/>
              <a:t>+ IEEE Signal Processing’11]</a:t>
            </a:r>
          </a:p>
          <a:p>
            <a:pPr lvl="1"/>
            <a:r>
              <a:rPr lang="en-US" dirty="0" smtClean="0"/>
              <a:t>Intense compute bursts in response to user input, then idle</a:t>
            </a:r>
          </a:p>
          <a:p>
            <a:pPr lvl="1"/>
            <a:r>
              <a:rPr lang="en-US" dirty="0" smtClean="0"/>
              <a:t>Humans demand sub-second response times</a:t>
            </a:r>
            <a:br>
              <a:rPr lang="en-US" dirty="0" smtClean="0"/>
            </a:br>
            <a:r>
              <a:rPr lang="en-US" sz="2000" dirty="0" smtClean="0"/>
              <a:t>[Doherty+ IBM TR ‘82, Yan+ DAC’05, </a:t>
            </a:r>
            <a:r>
              <a:rPr lang="en-US" sz="2000" dirty="0" err="1" smtClean="0"/>
              <a:t>Shye</a:t>
            </a:r>
            <a:r>
              <a:rPr lang="en-US" sz="2000" dirty="0" smtClean="0"/>
              <a:t>+ MICRO’09, Blake+ ISCA’10]</a:t>
            </a:r>
          </a:p>
          <a:p>
            <a:pPr>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13</a:t>
            </a:fld>
            <a:endParaRPr lang="en-US"/>
          </a:p>
        </p:txBody>
      </p:sp>
      <p:sp>
        <p:nvSpPr>
          <p:cNvPr id="5" name="Footer Placeholder 4"/>
          <p:cNvSpPr>
            <a:spLocks noGrp="1"/>
          </p:cNvSpPr>
          <p:nvPr>
            <p:ph type="ftr" sz="quarter" idx="11"/>
          </p:nvPr>
        </p:nvSpPr>
        <p:spPr/>
        <p:txBody>
          <a:bodyPr/>
          <a:lstStyle/>
          <a:p>
            <a:r>
              <a:rPr lang="en-US" dirty="0" smtClean="0"/>
              <a:t>Computational Sprinting</a:t>
            </a:r>
            <a:endParaRPr lang="en-US" dirty="0"/>
          </a:p>
        </p:txBody>
      </p:sp>
      <p:pic>
        <p:nvPicPr>
          <p:cNvPr id="8" name="Picture 7" descr="intuitive-object-recognition.jpg"/>
          <p:cNvPicPr>
            <a:picLocks noChangeAspect="1"/>
          </p:cNvPicPr>
          <p:nvPr/>
        </p:nvPicPr>
        <p:blipFill>
          <a:blip r:embed="rId5"/>
          <a:stretch>
            <a:fillRect/>
          </a:stretch>
        </p:blipFill>
        <p:spPr>
          <a:xfrm>
            <a:off x="1961204" y="4545196"/>
            <a:ext cx="2401673" cy="2010834"/>
          </a:xfrm>
          <a:prstGeom prst="rect">
            <a:avLst/>
          </a:prstGeom>
        </p:spPr>
      </p:pic>
      <p:pic>
        <p:nvPicPr>
          <p:cNvPr id="12" name="Picture 11"/>
          <p:cNvPicPr>
            <a:picLocks noChangeAspect="1"/>
          </p:cNvPicPr>
          <p:nvPr/>
        </p:nvPicPr>
        <p:blipFill>
          <a:blip r:embed="rId6"/>
          <a:stretch>
            <a:fillRect/>
          </a:stretch>
        </p:blipFill>
        <p:spPr>
          <a:xfrm>
            <a:off x="4362877" y="4058873"/>
            <a:ext cx="2614186" cy="2335584"/>
          </a:xfrm>
          <a:prstGeom prst="rect">
            <a:avLst/>
          </a:prstGeom>
        </p:spPr>
      </p:pic>
      <p:pic>
        <p:nvPicPr>
          <p:cNvPr id="10" name="Picture 9" descr="mobile-augmented-reality-auf-dem-iphone1.jpg"/>
          <p:cNvPicPr>
            <a:picLocks noChangeAspect="1"/>
          </p:cNvPicPr>
          <p:nvPr/>
        </p:nvPicPr>
        <p:blipFill>
          <a:blip r:embed="rId7"/>
          <a:stretch>
            <a:fillRect/>
          </a:stretch>
        </p:blipFill>
        <p:spPr>
          <a:xfrm>
            <a:off x="821941" y="3530342"/>
            <a:ext cx="2278525" cy="1671066"/>
          </a:xfrm>
          <a:prstGeom prst="rect">
            <a:avLst/>
          </a:prstGeom>
        </p:spPr>
      </p:pic>
      <p:sp>
        <p:nvSpPr>
          <p:cNvPr id="13" name="TextBox 12"/>
          <p:cNvSpPr txBox="1"/>
          <p:nvPr/>
        </p:nvSpPr>
        <p:spPr>
          <a:xfrm>
            <a:off x="271783" y="4006587"/>
            <a:ext cx="8600434" cy="1077218"/>
          </a:xfrm>
          <a:prstGeom prst="rect">
            <a:avLst/>
          </a:prstGeom>
          <a:solidFill>
            <a:schemeClr val="bg1"/>
          </a:solidFill>
        </p:spPr>
        <p:txBody>
          <a:bodyPr wrap="square" rtlCol="0">
            <a:noAutofit/>
          </a:bodyPr>
          <a:lstStyle/>
          <a:p>
            <a:pPr algn="ctr"/>
            <a:r>
              <a:rPr lang="en-US" sz="3200" b="1" dirty="0" smtClean="0">
                <a:solidFill>
                  <a:schemeClr val="accent6"/>
                </a:solidFill>
                <a:latin typeface="Calibri"/>
                <a:cs typeface="Calibri"/>
              </a:rPr>
              <a:t>Peak performance during bursts</a:t>
            </a:r>
            <a:br>
              <a:rPr lang="en-US" sz="3200" b="1" dirty="0" smtClean="0">
                <a:solidFill>
                  <a:schemeClr val="accent6"/>
                </a:solidFill>
                <a:latin typeface="Calibri"/>
                <a:cs typeface="Calibri"/>
              </a:rPr>
            </a:br>
            <a:r>
              <a:rPr lang="en-US" sz="3200" b="1" dirty="0" smtClean="0">
                <a:solidFill>
                  <a:schemeClr val="accent6"/>
                </a:solidFill>
                <a:latin typeface="Calibri"/>
                <a:cs typeface="Calibri"/>
              </a:rPr>
              <a:t>limits what applications can do </a:t>
            </a:r>
          </a:p>
          <a:p>
            <a:pPr algn="ctr"/>
            <a:endParaRPr lang="en-US" sz="3200" dirty="0" smtClean="0">
              <a:solidFill>
                <a:schemeClr val="tx2"/>
              </a:solidFill>
              <a:latin typeface="Calibri"/>
              <a:cs typeface="Calibri"/>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9" presetClass="emph" presetSubtype="0" nodeType="clickEffect">
                                  <p:stCondLst>
                                    <p:cond delay="0"/>
                                  </p:stCondLst>
                                  <p:childTnLst>
                                    <p:set>
                                      <p:cBhvr rctx="PPT">
                                        <p:cTn id="26" dur="indefinite"/>
                                        <p:tgtEl>
                                          <p:spTgt spid="8"/>
                                        </p:tgtEl>
                                        <p:attrNameLst>
                                          <p:attrName>style.opacity</p:attrName>
                                        </p:attrNameLst>
                                      </p:cBhvr>
                                      <p:to>
                                        <p:strVal val="0.5"/>
                                      </p:to>
                                    </p:set>
                                    <p:animEffect filter="image" prLst="opacity: 0.5">
                                      <p:cBhvr rctx="IE">
                                        <p:cTn id="27" dur="indefinite"/>
                                        <p:tgtEl>
                                          <p:spTgt spid="8"/>
                                        </p:tgtEl>
                                      </p:cBhvr>
                                    </p:animEffect>
                                  </p:childTnLst>
                                </p:cTn>
                              </p:par>
                              <p:par>
                                <p:cTn id="28" presetID="9" presetClass="emph" presetSubtype="0" nodeType="withEffect">
                                  <p:stCondLst>
                                    <p:cond delay="0"/>
                                  </p:stCondLst>
                                  <p:childTnLst>
                                    <p:set>
                                      <p:cBhvr rctx="PPT">
                                        <p:cTn id="29" dur="indefinite"/>
                                        <p:tgtEl>
                                          <p:spTgt spid="9"/>
                                        </p:tgtEl>
                                        <p:attrNameLst>
                                          <p:attrName>style.opacity</p:attrName>
                                        </p:attrNameLst>
                                      </p:cBhvr>
                                      <p:to>
                                        <p:strVal val="0.5"/>
                                      </p:to>
                                    </p:set>
                                    <p:animEffect filter="image" prLst="opacity: 0.5">
                                      <p:cBhvr rctx="IE">
                                        <p:cTn id="30" dur="indefinite"/>
                                        <p:tgtEl>
                                          <p:spTgt spid="9"/>
                                        </p:tgtEl>
                                      </p:cBhvr>
                                    </p:animEffect>
                                  </p:childTnLst>
                                </p:cTn>
                              </p:par>
                              <p:par>
                                <p:cTn id="31" presetID="9" presetClass="emph" presetSubtype="0" nodeType="withEffect">
                                  <p:stCondLst>
                                    <p:cond delay="0"/>
                                  </p:stCondLst>
                                  <p:childTnLst>
                                    <p:set>
                                      <p:cBhvr rctx="PPT">
                                        <p:cTn id="32" dur="indefinite"/>
                                        <p:tgtEl>
                                          <p:spTgt spid="10"/>
                                        </p:tgtEl>
                                        <p:attrNameLst>
                                          <p:attrName>style.opacity</p:attrName>
                                        </p:attrNameLst>
                                      </p:cBhvr>
                                      <p:to>
                                        <p:strVal val="0.5"/>
                                      </p:to>
                                    </p:set>
                                    <p:animEffect filter="image" prLst="opacity: 0.5">
                                      <p:cBhvr rctx="IE">
                                        <p:cTn id="33" dur="indefinite"/>
                                        <p:tgtEl>
                                          <p:spTgt spid="10"/>
                                        </p:tgtEl>
                                      </p:cBhvr>
                                    </p:animEffect>
                                  </p:childTnLst>
                                </p:cTn>
                              </p:par>
                              <p:par>
                                <p:cTn id="34" presetID="9" presetClass="emph" presetSubtype="0" nodeType="withEffect">
                                  <p:stCondLst>
                                    <p:cond delay="0"/>
                                  </p:stCondLst>
                                  <p:childTnLst>
                                    <p:set>
                                      <p:cBhvr rctx="PPT">
                                        <p:cTn id="35" dur="indefinite"/>
                                        <p:tgtEl>
                                          <p:spTgt spid="11"/>
                                        </p:tgtEl>
                                        <p:attrNameLst>
                                          <p:attrName>style.opacity</p:attrName>
                                        </p:attrNameLst>
                                      </p:cBhvr>
                                      <p:to>
                                        <p:strVal val="0.5"/>
                                      </p:to>
                                    </p:set>
                                    <p:animEffect filter="image" prLst="opacity: 0.5">
                                      <p:cBhvr rctx="IE">
                                        <p:cTn id="36" dur="indefinite"/>
                                        <p:tgtEl>
                                          <p:spTgt spid="11"/>
                                        </p:tgtEl>
                                      </p:cBhvr>
                                    </p:animEffect>
                                  </p:childTnLst>
                                </p:cTn>
                              </p:par>
                              <p:par>
                                <p:cTn id="37" presetID="9" presetClass="emph" presetSubtype="0" nodeType="withEffect">
                                  <p:stCondLst>
                                    <p:cond delay="0"/>
                                  </p:stCondLst>
                                  <p:childTnLst>
                                    <p:set>
                                      <p:cBhvr rctx="PPT">
                                        <p:cTn id="38" dur="indefinite"/>
                                        <p:tgtEl>
                                          <p:spTgt spid="12"/>
                                        </p:tgtEl>
                                        <p:attrNameLst>
                                          <p:attrName>style.opacity</p:attrName>
                                        </p:attrNameLst>
                                      </p:cBhvr>
                                      <p:to>
                                        <p:strVal val="0.5"/>
                                      </p:to>
                                    </p:set>
                                    <p:animEffect filter="image" prLst="opacity: 0.5">
                                      <p:cBhvr rctx="IE">
                                        <p:cTn id="39" dur="indefinite"/>
                                        <p:tgtEl>
                                          <p:spTgt spid="12"/>
                                        </p:tgtEl>
                                      </p:cBhvr>
                                    </p:animEffec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Computational Sprinting</a:t>
            </a:r>
            <a:endParaRPr lang="en-US" dirty="0"/>
          </a:p>
        </p:txBody>
      </p:sp>
      <p:sp>
        <p:nvSpPr>
          <p:cNvPr id="7" name="Text Placeholder 6"/>
          <p:cNvSpPr>
            <a:spLocks noGrp="1"/>
          </p:cNvSpPr>
          <p:nvPr>
            <p:ph type="body" idx="1"/>
          </p:nvPr>
        </p:nvSpPr>
        <p:spPr/>
        <p:txBody>
          <a:bodyPr/>
          <a:lstStyle/>
          <a:p>
            <a:r>
              <a:rPr lang="en-US" sz="2400" dirty="0" smtClean="0"/>
              <a:t>Designing for Responsiveness</a:t>
            </a:r>
            <a:endParaRPr lang="en-US" sz="2400"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14</a:t>
            </a:fld>
            <a:endParaRPr lang="en-US"/>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graphicFrame>
        <p:nvGraphicFramePr>
          <p:cNvPr id="40" name="Chart 39"/>
          <p:cNvGraphicFramePr/>
          <p:nvPr/>
        </p:nvGraphicFramePr>
        <p:xfrm>
          <a:off x="4051299" y="1003156"/>
          <a:ext cx="4572000" cy="2140094"/>
        </p:xfrm>
        <a:graphic>
          <a:graphicData uri="http://schemas.openxmlformats.org/drawingml/2006/chart">
            <c:chart xmlns:c="http://schemas.openxmlformats.org/drawingml/2006/chart" xmlns:r="http://schemas.openxmlformats.org/officeDocument/2006/relationships" r:id="rId3"/>
          </a:graphicData>
        </a:graphic>
      </p:graphicFrame>
      <p:sp>
        <p:nvSpPr>
          <p:cNvPr id="47" name="Rectangle 46"/>
          <p:cNvSpPr/>
          <p:nvPr/>
        </p:nvSpPr>
        <p:spPr bwMode="auto">
          <a:xfrm>
            <a:off x="4476749" y="1064150"/>
            <a:ext cx="4146550" cy="1933718"/>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cxnSp>
        <p:nvCxnSpPr>
          <p:cNvPr id="130" name="Straight Connector 129"/>
          <p:cNvCxnSpPr/>
          <p:nvPr/>
        </p:nvCxnSpPr>
        <p:spPr bwMode="auto">
          <a:xfrm rot="5400000">
            <a:off x="3172002" y="1981461"/>
            <a:ext cx="2062450" cy="1588"/>
          </a:xfrm>
          <a:prstGeom prst="line">
            <a:avLst/>
          </a:prstGeom>
          <a:noFill/>
          <a:ln w="38100" cap="flat" cmpd="sng" algn="ctr">
            <a:solidFill>
              <a:srgbClr val="000000"/>
            </a:solidFill>
            <a:prstDash val="solid"/>
            <a:round/>
            <a:headEnd type="none" w="med" len="med"/>
            <a:tailEnd type="none" w="med" len="med"/>
          </a:ln>
          <a:effectLst/>
        </p:spPr>
      </p:cxnSp>
      <p:cxnSp>
        <p:nvCxnSpPr>
          <p:cNvPr id="132" name="Straight Connector 131"/>
          <p:cNvCxnSpPr/>
          <p:nvPr/>
        </p:nvCxnSpPr>
        <p:spPr bwMode="auto">
          <a:xfrm>
            <a:off x="4185253" y="3011892"/>
            <a:ext cx="4365482" cy="1588"/>
          </a:xfrm>
          <a:prstGeom prst="line">
            <a:avLst/>
          </a:prstGeom>
          <a:noFill/>
          <a:ln w="38100" cap="flat" cmpd="sng" algn="ctr">
            <a:solidFill>
              <a:srgbClr val="000000"/>
            </a:solidFill>
            <a:prstDash val="solid"/>
            <a:round/>
            <a:headEnd type="none" w="med" len="med"/>
            <a:tailEnd type="none" w="med" len="med"/>
          </a:ln>
          <a:effectLst/>
        </p:spPr>
      </p:cxnSp>
      <p:sp>
        <p:nvSpPr>
          <p:cNvPr id="2" name="Title 1"/>
          <p:cNvSpPr>
            <a:spLocks noGrp="1"/>
          </p:cNvSpPr>
          <p:nvPr>
            <p:ph type="title"/>
          </p:nvPr>
        </p:nvSpPr>
        <p:spPr/>
        <p:txBody>
          <a:bodyPr/>
          <a:lstStyle/>
          <a:p>
            <a:r>
              <a:rPr lang="en-US" dirty="0" smtClean="0"/>
              <a:t>Parallel Computational Sprinting</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15</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graphicFrame>
        <p:nvGraphicFramePr>
          <p:cNvPr id="39" name="Chart 38"/>
          <p:cNvGraphicFramePr/>
          <p:nvPr/>
        </p:nvGraphicFramePr>
        <p:xfrm>
          <a:off x="4108450" y="3786384"/>
          <a:ext cx="4572000" cy="2361298"/>
        </p:xfrm>
        <a:graphic>
          <a:graphicData uri="http://schemas.openxmlformats.org/drawingml/2006/chart">
            <c:chart xmlns:c="http://schemas.openxmlformats.org/drawingml/2006/chart" xmlns:r="http://schemas.openxmlformats.org/officeDocument/2006/relationships" r:id="rId4"/>
          </a:graphicData>
        </a:graphic>
      </p:graphicFrame>
      <p:sp>
        <p:nvSpPr>
          <p:cNvPr id="84" name="Rectangle 83"/>
          <p:cNvSpPr/>
          <p:nvPr/>
        </p:nvSpPr>
        <p:spPr bwMode="auto">
          <a:xfrm>
            <a:off x="4476749" y="3930182"/>
            <a:ext cx="3857626" cy="1933718"/>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5" name="TextBox 64"/>
          <p:cNvSpPr txBox="1"/>
          <p:nvPr/>
        </p:nvSpPr>
        <p:spPr>
          <a:xfrm>
            <a:off x="3574531" y="3628336"/>
            <a:ext cx="760294" cy="461665"/>
          </a:xfrm>
          <a:prstGeom prst="rect">
            <a:avLst/>
          </a:prstGeom>
          <a:noFill/>
        </p:spPr>
        <p:txBody>
          <a:bodyPr wrap="square" rtlCol="0">
            <a:spAutoFit/>
          </a:bodyPr>
          <a:lstStyle/>
          <a:p>
            <a:r>
              <a:rPr lang="en-US" sz="2400" dirty="0" smtClean="0"/>
              <a:t>T</a:t>
            </a:r>
            <a:r>
              <a:rPr lang="en-US" sz="2400" baseline="-25000" dirty="0" smtClean="0"/>
              <a:t>max</a:t>
            </a:r>
            <a:endParaRPr lang="en-US" sz="2400" dirty="0"/>
          </a:p>
        </p:txBody>
      </p:sp>
      <p:cxnSp>
        <p:nvCxnSpPr>
          <p:cNvPr id="66" name="Straight Connector 65"/>
          <p:cNvCxnSpPr/>
          <p:nvPr/>
        </p:nvCxnSpPr>
        <p:spPr bwMode="auto">
          <a:xfrm>
            <a:off x="4257817" y="4132600"/>
            <a:ext cx="4422633" cy="1588"/>
          </a:xfrm>
          <a:prstGeom prst="line">
            <a:avLst/>
          </a:prstGeom>
          <a:noFill/>
          <a:ln w="38100" cap="flat" cmpd="sng" algn="ctr">
            <a:solidFill>
              <a:srgbClr val="FF0000"/>
            </a:solidFill>
            <a:prstDash val="solid"/>
            <a:round/>
            <a:headEnd type="none" w="med" len="med"/>
            <a:tailEnd type="none" w="med" len="med"/>
          </a:ln>
          <a:effectLst/>
        </p:spPr>
      </p:cxnSp>
      <p:pic>
        <p:nvPicPr>
          <p:cNvPr id="122" name="Picture 121"/>
          <p:cNvPicPr>
            <a:picLocks/>
          </p:cNvPicPr>
          <p:nvPr/>
        </p:nvPicPr>
        <p:blipFill>
          <a:blip r:embed="rId5"/>
          <a:stretch>
            <a:fillRect/>
          </a:stretch>
        </p:blipFill>
        <p:spPr>
          <a:xfrm>
            <a:off x="452252" y="1002248"/>
            <a:ext cx="540747" cy="538824"/>
          </a:xfrm>
          <a:prstGeom prst="rect">
            <a:avLst/>
          </a:prstGeom>
        </p:spPr>
      </p:pic>
      <p:sp>
        <p:nvSpPr>
          <p:cNvPr id="123" name="Rectangle 122"/>
          <p:cNvSpPr/>
          <p:nvPr/>
        </p:nvSpPr>
        <p:spPr bwMode="auto">
          <a:xfrm>
            <a:off x="364604" y="913428"/>
            <a:ext cx="2560320" cy="2560320"/>
          </a:xfrm>
          <a:prstGeom prst="rect">
            <a:avLst/>
          </a:prstGeom>
          <a:noFill/>
          <a:ln w="76200" cap="flat" cmpd="sng" algn="ctr">
            <a:solidFill>
              <a:srgbClr val="78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126" name="Group 125"/>
          <p:cNvGrpSpPr/>
          <p:nvPr/>
        </p:nvGrpSpPr>
        <p:grpSpPr>
          <a:xfrm>
            <a:off x="454814" y="1001576"/>
            <a:ext cx="2380397" cy="2375580"/>
            <a:chOff x="454814" y="1001576"/>
            <a:chExt cx="2380397" cy="2375580"/>
          </a:xfrm>
        </p:grpSpPr>
        <p:sp>
          <p:nvSpPr>
            <p:cNvPr id="107" name="Rectangle 106"/>
            <p:cNvSpPr/>
            <p:nvPr/>
          </p:nvSpPr>
          <p:spPr bwMode="auto">
            <a:xfrm>
              <a:off x="1070271"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08" name="Rectangle 107"/>
            <p:cNvSpPr/>
            <p:nvPr/>
          </p:nvSpPr>
          <p:spPr bwMode="auto">
            <a:xfrm>
              <a:off x="1683342"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09" name="Rectangle 108"/>
            <p:cNvSpPr/>
            <p:nvPr/>
          </p:nvSpPr>
          <p:spPr bwMode="auto">
            <a:xfrm>
              <a:off x="2295715"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0" name="Rectangle 109"/>
            <p:cNvSpPr/>
            <p:nvPr/>
          </p:nvSpPr>
          <p:spPr bwMode="auto">
            <a:xfrm>
              <a:off x="1070271"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1" name="Rectangle 110"/>
            <p:cNvSpPr/>
            <p:nvPr/>
          </p:nvSpPr>
          <p:spPr bwMode="auto">
            <a:xfrm>
              <a:off x="1683342"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2" name="Rectangle 111"/>
            <p:cNvSpPr/>
            <p:nvPr/>
          </p:nvSpPr>
          <p:spPr bwMode="auto">
            <a:xfrm>
              <a:off x="2295715"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3" name="Rectangle 112"/>
            <p:cNvSpPr/>
            <p:nvPr/>
          </p:nvSpPr>
          <p:spPr bwMode="auto">
            <a:xfrm>
              <a:off x="457898"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4" name="Rectangle 113"/>
            <p:cNvSpPr/>
            <p:nvPr/>
          </p:nvSpPr>
          <p:spPr bwMode="auto">
            <a:xfrm>
              <a:off x="1069573"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5" name="Rectangle 114"/>
            <p:cNvSpPr/>
            <p:nvPr/>
          </p:nvSpPr>
          <p:spPr bwMode="auto">
            <a:xfrm>
              <a:off x="1682644"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6" name="Rectangle 115"/>
            <p:cNvSpPr/>
            <p:nvPr/>
          </p:nvSpPr>
          <p:spPr bwMode="auto">
            <a:xfrm>
              <a:off x="2295017"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7" name="Rectangle 116"/>
            <p:cNvSpPr/>
            <p:nvPr/>
          </p:nvSpPr>
          <p:spPr bwMode="auto">
            <a:xfrm>
              <a:off x="457200"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8" name="Rectangle 117"/>
            <p:cNvSpPr/>
            <p:nvPr/>
          </p:nvSpPr>
          <p:spPr bwMode="auto">
            <a:xfrm>
              <a:off x="1070271"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9" name="Rectangle 118"/>
            <p:cNvSpPr/>
            <p:nvPr/>
          </p:nvSpPr>
          <p:spPr bwMode="auto">
            <a:xfrm>
              <a:off x="1683342"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0" name="Rectangle 119"/>
            <p:cNvSpPr/>
            <p:nvPr/>
          </p:nvSpPr>
          <p:spPr bwMode="auto">
            <a:xfrm>
              <a:off x="2295715"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1" name="Rectangle 120"/>
            <p:cNvSpPr/>
            <p:nvPr/>
          </p:nvSpPr>
          <p:spPr bwMode="auto">
            <a:xfrm>
              <a:off x="457898"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4" name="Rectangle 123"/>
            <p:cNvSpPr/>
            <p:nvPr/>
          </p:nvSpPr>
          <p:spPr bwMode="auto">
            <a:xfrm>
              <a:off x="454814"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sp>
        <p:nvSpPr>
          <p:cNvPr id="127" name="TextBox 126"/>
          <p:cNvSpPr txBox="1"/>
          <p:nvPr/>
        </p:nvSpPr>
        <p:spPr>
          <a:xfrm rot="16200000">
            <a:off x="3353985" y="1749189"/>
            <a:ext cx="1142372" cy="369332"/>
          </a:xfrm>
          <a:prstGeom prst="rect">
            <a:avLst/>
          </a:prstGeom>
          <a:noFill/>
        </p:spPr>
        <p:txBody>
          <a:bodyPr wrap="square" rtlCol="0">
            <a:spAutoFit/>
          </a:bodyPr>
          <a:lstStyle/>
          <a:p>
            <a:r>
              <a:rPr lang="en-US" b="1" dirty="0" smtClean="0"/>
              <a:t>power</a:t>
            </a:r>
            <a:endParaRPr lang="en-US" b="1" dirty="0"/>
          </a:p>
        </p:txBody>
      </p:sp>
      <p:sp>
        <p:nvSpPr>
          <p:cNvPr id="128" name="TextBox 127"/>
          <p:cNvSpPr txBox="1"/>
          <p:nvPr/>
        </p:nvSpPr>
        <p:spPr>
          <a:xfrm rot="16200000">
            <a:off x="3165757" y="4870335"/>
            <a:ext cx="1518828" cy="369332"/>
          </a:xfrm>
          <a:prstGeom prst="rect">
            <a:avLst/>
          </a:prstGeom>
          <a:noFill/>
        </p:spPr>
        <p:txBody>
          <a:bodyPr wrap="none" rtlCol="0">
            <a:spAutoFit/>
          </a:bodyPr>
          <a:lstStyle/>
          <a:p>
            <a:r>
              <a:rPr lang="en-US" b="1" dirty="0" smtClean="0"/>
              <a:t>temperature</a:t>
            </a:r>
            <a:endParaRPr lang="en-US" b="1" dirty="0"/>
          </a:p>
        </p:txBody>
      </p:sp>
      <p:cxnSp>
        <p:nvCxnSpPr>
          <p:cNvPr id="135" name="Straight Connector 134"/>
          <p:cNvCxnSpPr/>
          <p:nvPr/>
        </p:nvCxnSpPr>
        <p:spPr bwMode="auto">
          <a:xfrm rot="5400000">
            <a:off x="3204882" y="4966239"/>
            <a:ext cx="2062450" cy="1588"/>
          </a:xfrm>
          <a:prstGeom prst="line">
            <a:avLst/>
          </a:prstGeom>
          <a:noFill/>
          <a:ln w="38100" cap="flat" cmpd="sng" algn="ctr">
            <a:solidFill>
              <a:srgbClr val="000000"/>
            </a:solidFill>
            <a:prstDash val="solid"/>
            <a:round/>
            <a:headEnd type="none" w="med" len="med"/>
            <a:tailEnd type="none" w="med" len="med"/>
          </a:ln>
          <a:effectLst/>
        </p:spPr>
      </p:cxnSp>
      <p:cxnSp>
        <p:nvCxnSpPr>
          <p:cNvPr id="136" name="Straight Connector 135"/>
          <p:cNvCxnSpPr/>
          <p:nvPr/>
        </p:nvCxnSpPr>
        <p:spPr bwMode="auto">
          <a:xfrm>
            <a:off x="4218133" y="5996670"/>
            <a:ext cx="4365482" cy="1588"/>
          </a:xfrm>
          <a:prstGeom prst="line">
            <a:avLst/>
          </a:prstGeom>
          <a:noFill/>
          <a:ln w="38100" cap="flat" cmpd="sng" algn="ctr">
            <a:solidFill>
              <a:srgbClr val="000000"/>
            </a:solidFill>
            <a:prstDash val="solid"/>
            <a:round/>
            <a:headEnd type="none" w="med" len="med"/>
            <a:tailEnd type="none" w="med" len="med"/>
          </a:ln>
          <a:effectLst/>
        </p:spPr>
      </p:cxn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40" name="Chart 39"/>
          <p:cNvGraphicFramePr/>
          <p:nvPr/>
        </p:nvGraphicFramePr>
        <p:xfrm>
          <a:off x="4051299" y="1003156"/>
          <a:ext cx="4572000" cy="21400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9" name="Chart 38"/>
          <p:cNvGraphicFramePr/>
          <p:nvPr/>
        </p:nvGraphicFramePr>
        <p:xfrm>
          <a:off x="4108450" y="3786384"/>
          <a:ext cx="4572000" cy="2361298"/>
        </p:xfrm>
        <a:graphic>
          <a:graphicData uri="http://schemas.openxmlformats.org/drawingml/2006/chart">
            <c:chart xmlns:c="http://schemas.openxmlformats.org/drawingml/2006/chart" xmlns:r="http://schemas.openxmlformats.org/officeDocument/2006/relationships" r:id="rId4"/>
          </a:graphicData>
        </a:graphic>
      </p:graphicFrame>
      <p:sp>
        <p:nvSpPr>
          <p:cNvPr id="84" name="Rectangle 83"/>
          <p:cNvSpPr/>
          <p:nvPr/>
        </p:nvSpPr>
        <p:spPr bwMode="auto">
          <a:xfrm>
            <a:off x="5116763" y="3930182"/>
            <a:ext cx="3159125" cy="1933718"/>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7" name="Rectangle 46"/>
          <p:cNvSpPr/>
          <p:nvPr/>
        </p:nvSpPr>
        <p:spPr bwMode="auto">
          <a:xfrm>
            <a:off x="5094059" y="1090886"/>
            <a:ext cx="3529240" cy="1906982"/>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2" name="Title 1"/>
          <p:cNvSpPr>
            <a:spLocks noGrp="1"/>
          </p:cNvSpPr>
          <p:nvPr>
            <p:ph type="title"/>
          </p:nvPr>
        </p:nvSpPr>
        <p:spPr/>
        <p:txBody>
          <a:bodyPr/>
          <a:lstStyle/>
          <a:p>
            <a:r>
              <a:rPr lang="en-US" dirty="0" smtClean="0"/>
              <a:t>Parallel Computational Sprinting</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16</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
        <p:nvSpPr>
          <p:cNvPr id="81" name="Rectangle 80"/>
          <p:cNvSpPr/>
          <p:nvPr/>
        </p:nvSpPr>
        <p:spPr bwMode="auto">
          <a:xfrm>
            <a:off x="4476750" y="1050782"/>
            <a:ext cx="649224" cy="1933718"/>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2" name="Rectangle 81"/>
          <p:cNvSpPr/>
          <p:nvPr/>
        </p:nvSpPr>
        <p:spPr bwMode="auto">
          <a:xfrm>
            <a:off x="4476749" y="3930182"/>
            <a:ext cx="649224" cy="1933718"/>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3" name="TextBox 42"/>
          <p:cNvSpPr txBox="1"/>
          <p:nvPr/>
        </p:nvSpPr>
        <p:spPr>
          <a:xfrm>
            <a:off x="3574531" y="3628336"/>
            <a:ext cx="760294" cy="461665"/>
          </a:xfrm>
          <a:prstGeom prst="rect">
            <a:avLst/>
          </a:prstGeom>
          <a:noFill/>
        </p:spPr>
        <p:txBody>
          <a:bodyPr wrap="square" rtlCol="0">
            <a:spAutoFit/>
          </a:bodyPr>
          <a:lstStyle/>
          <a:p>
            <a:r>
              <a:rPr lang="en-US" sz="2400" dirty="0" smtClean="0"/>
              <a:t>T</a:t>
            </a:r>
            <a:r>
              <a:rPr lang="en-US" sz="2400" baseline="-25000" dirty="0" smtClean="0"/>
              <a:t>max</a:t>
            </a:r>
            <a:endParaRPr lang="en-US" sz="2400" dirty="0"/>
          </a:p>
        </p:txBody>
      </p:sp>
      <p:cxnSp>
        <p:nvCxnSpPr>
          <p:cNvPr id="44" name="Straight Connector 43"/>
          <p:cNvCxnSpPr/>
          <p:nvPr/>
        </p:nvCxnSpPr>
        <p:spPr bwMode="auto">
          <a:xfrm>
            <a:off x="4257817" y="4132600"/>
            <a:ext cx="4422633" cy="1588"/>
          </a:xfrm>
          <a:prstGeom prst="line">
            <a:avLst/>
          </a:prstGeom>
          <a:noFill/>
          <a:ln w="38100" cap="flat" cmpd="sng" algn="ctr">
            <a:solidFill>
              <a:srgbClr val="FF0000"/>
            </a:solidFill>
            <a:prstDash val="solid"/>
            <a:round/>
            <a:headEnd type="none" w="med" len="med"/>
            <a:tailEnd type="none" w="med" len="med"/>
          </a:ln>
          <a:effectLst/>
        </p:spPr>
      </p:cxnSp>
      <p:grpSp>
        <p:nvGrpSpPr>
          <p:cNvPr id="123" name="Group 65"/>
          <p:cNvGrpSpPr/>
          <p:nvPr/>
        </p:nvGrpSpPr>
        <p:grpSpPr>
          <a:xfrm>
            <a:off x="452254" y="1002250"/>
            <a:ext cx="2379175" cy="2375580"/>
            <a:chOff x="5886955" y="1335405"/>
            <a:chExt cx="2413889" cy="2418842"/>
          </a:xfrm>
        </p:grpSpPr>
        <p:pic>
          <p:nvPicPr>
            <p:cNvPr id="124" name="Picture 123"/>
            <p:cNvPicPr>
              <a:picLocks/>
            </p:cNvPicPr>
            <p:nvPr/>
          </p:nvPicPr>
          <p:blipFill>
            <a:blip r:embed="rId5"/>
            <a:stretch>
              <a:fillRect/>
            </a:stretch>
          </p:blipFill>
          <p:spPr>
            <a:xfrm>
              <a:off x="5886955" y="1335405"/>
              <a:ext cx="548637" cy="548637"/>
            </a:xfrm>
            <a:prstGeom prst="rect">
              <a:avLst/>
            </a:prstGeom>
          </p:spPr>
        </p:pic>
        <p:pic>
          <p:nvPicPr>
            <p:cNvPr id="125" name="Picture 124"/>
            <p:cNvPicPr>
              <a:picLocks/>
            </p:cNvPicPr>
            <p:nvPr/>
          </p:nvPicPr>
          <p:blipFill>
            <a:blip r:embed="rId5"/>
            <a:stretch>
              <a:fillRect/>
            </a:stretch>
          </p:blipFill>
          <p:spPr>
            <a:xfrm>
              <a:off x="6508750" y="1335405"/>
              <a:ext cx="548637" cy="548637"/>
            </a:xfrm>
            <a:prstGeom prst="rect">
              <a:avLst/>
            </a:prstGeom>
          </p:spPr>
        </p:pic>
        <p:pic>
          <p:nvPicPr>
            <p:cNvPr id="126" name="Picture 125"/>
            <p:cNvPicPr>
              <a:picLocks/>
            </p:cNvPicPr>
            <p:nvPr/>
          </p:nvPicPr>
          <p:blipFill>
            <a:blip r:embed="rId5"/>
            <a:stretch>
              <a:fillRect/>
            </a:stretch>
          </p:blipFill>
          <p:spPr>
            <a:xfrm>
              <a:off x="5886955" y="1957200"/>
              <a:ext cx="548637" cy="548637"/>
            </a:xfrm>
            <a:prstGeom prst="rect">
              <a:avLst/>
            </a:prstGeom>
          </p:spPr>
        </p:pic>
        <p:pic>
          <p:nvPicPr>
            <p:cNvPr id="127" name="Picture 126"/>
            <p:cNvPicPr>
              <a:picLocks/>
            </p:cNvPicPr>
            <p:nvPr/>
          </p:nvPicPr>
          <p:blipFill>
            <a:blip r:embed="rId5"/>
            <a:stretch>
              <a:fillRect/>
            </a:stretch>
          </p:blipFill>
          <p:spPr>
            <a:xfrm>
              <a:off x="6508750" y="1957200"/>
              <a:ext cx="548637" cy="548637"/>
            </a:xfrm>
            <a:prstGeom prst="rect">
              <a:avLst/>
            </a:prstGeom>
          </p:spPr>
        </p:pic>
        <p:pic>
          <p:nvPicPr>
            <p:cNvPr id="128" name="Picture 127"/>
            <p:cNvPicPr>
              <a:picLocks/>
            </p:cNvPicPr>
            <p:nvPr/>
          </p:nvPicPr>
          <p:blipFill>
            <a:blip r:embed="rId5"/>
            <a:stretch>
              <a:fillRect/>
            </a:stretch>
          </p:blipFill>
          <p:spPr>
            <a:xfrm>
              <a:off x="5886955" y="2583815"/>
              <a:ext cx="548637" cy="548637"/>
            </a:xfrm>
            <a:prstGeom prst="rect">
              <a:avLst/>
            </a:prstGeom>
          </p:spPr>
        </p:pic>
        <p:pic>
          <p:nvPicPr>
            <p:cNvPr id="129" name="Picture 128"/>
            <p:cNvPicPr>
              <a:picLocks/>
            </p:cNvPicPr>
            <p:nvPr/>
          </p:nvPicPr>
          <p:blipFill>
            <a:blip r:embed="rId5"/>
            <a:stretch>
              <a:fillRect/>
            </a:stretch>
          </p:blipFill>
          <p:spPr>
            <a:xfrm>
              <a:off x="6508750" y="2583815"/>
              <a:ext cx="548637" cy="548637"/>
            </a:xfrm>
            <a:prstGeom prst="rect">
              <a:avLst/>
            </a:prstGeom>
          </p:spPr>
        </p:pic>
        <p:pic>
          <p:nvPicPr>
            <p:cNvPr id="130" name="Picture 129"/>
            <p:cNvPicPr>
              <a:picLocks/>
            </p:cNvPicPr>
            <p:nvPr/>
          </p:nvPicPr>
          <p:blipFill>
            <a:blip r:embed="rId5"/>
            <a:stretch>
              <a:fillRect/>
            </a:stretch>
          </p:blipFill>
          <p:spPr>
            <a:xfrm>
              <a:off x="5886955" y="3205610"/>
              <a:ext cx="548637" cy="548637"/>
            </a:xfrm>
            <a:prstGeom prst="rect">
              <a:avLst/>
            </a:prstGeom>
          </p:spPr>
        </p:pic>
        <p:pic>
          <p:nvPicPr>
            <p:cNvPr id="131" name="Picture 130"/>
            <p:cNvPicPr>
              <a:picLocks/>
            </p:cNvPicPr>
            <p:nvPr/>
          </p:nvPicPr>
          <p:blipFill>
            <a:blip r:embed="rId5"/>
            <a:stretch>
              <a:fillRect/>
            </a:stretch>
          </p:blipFill>
          <p:spPr>
            <a:xfrm>
              <a:off x="6508750" y="3205610"/>
              <a:ext cx="548637" cy="548637"/>
            </a:xfrm>
            <a:prstGeom prst="rect">
              <a:avLst/>
            </a:prstGeom>
          </p:spPr>
        </p:pic>
        <p:pic>
          <p:nvPicPr>
            <p:cNvPr id="132" name="Picture 131"/>
            <p:cNvPicPr>
              <a:picLocks/>
            </p:cNvPicPr>
            <p:nvPr/>
          </p:nvPicPr>
          <p:blipFill>
            <a:blip r:embed="rId5"/>
            <a:stretch>
              <a:fillRect/>
            </a:stretch>
          </p:blipFill>
          <p:spPr>
            <a:xfrm>
              <a:off x="7130412" y="1335405"/>
              <a:ext cx="548637" cy="548637"/>
            </a:xfrm>
            <a:prstGeom prst="rect">
              <a:avLst/>
            </a:prstGeom>
          </p:spPr>
        </p:pic>
        <p:pic>
          <p:nvPicPr>
            <p:cNvPr id="133" name="Picture 132"/>
            <p:cNvPicPr>
              <a:picLocks/>
            </p:cNvPicPr>
            <p:nvPr/>
          </p:nvPicPr>
          <p:blipFill>
            <a:blip r:embed="rId5"/>
            <a:stretch>
              <a:fillRect/>
            </a:stretch>
          </p:blipFill>
          <p:spPr>
            <a:xfrm>
              <a:off x="7752207" y="1335405"/>
              <a:ext cx="548637" cy="548637"/>
            </a:xfrm>
            <a:prstGeom prst="rect">
              <a:avLst/>
            </a:prstGeom>
          </p:spPr>
        </p:pic>
        <p:pic>
          <p:nvPicPr>
            <p:cNvPr id="134" name="Picture 133"/>
            <p:cNvPicPr>
              <a:picLocks/>
            </p:cNvPicPr>
            <p:nvPr/>
          </p:nvPicPr>
          <p:blipFill>
            <a:blip r:embed="rId5"/>
            <a:stretch>
              <a:fillRect/>
            </a:stretch>
          </p:blipFill>
          <p:spPr>
            <a:xfrm>
              <a:off x="7130412" y="1957200"/>
              <a:ext cx="548637" cy="548637"/>
            </a:xfrm>
            <a:prstGeom prst="rect">
              <a:avLst/>
            </a:prstGeom>
          </p:spPr>
        </p:pic>
        <p:pic>
          <p:nvPicPr>
            <p:cNvPr id="135" name="Picture 134"/>
            <p:cNvPicPr>
              <a:picLocks/>
            </p:cNvPicPr>
            <p:nvPr/>
          </p:nvPicPr>
          <p:blipFill>
            <a:blip r:embed="rId5"/>
            <a:stretch>
              <a:fillRect/>
            </a:stretch>
          </p:blipFill>
          <p:spPr>
            <a:xfrm>
              <a:off x="7752207" y="1957200"/>
              <a:ext cx="548637" cy="548637"/>
            </a:xfrm>
            <a:prstGeom prst="rect">
              <a:avLst/>
            </a:prstGeom>
          </p:spPr>
        </p:pic>
        <p:pic>
          <p:nvPicPr>
            <p:cNvPr id="136" name="Picture 135"/>
            <p:cNvPicPr>
              <a:picLocks/>
            </p:cNvPicPr>
            <p:nvPr/>
          </p:nvPicPr>
          <p:blipFill>
            <a:blip r:embed="rId5"/>
            <a:stretch>
              <a:fillRect/>
            </a:stretch>
          </p:blipFill>
          <p:spPr>
            <a:xfrm>
              <a:off x="7130412" y="2583815"/>
              <a:ext cx="548637" cy="548637"/>
            </a:xfrm>
            <a:prstGeom prst="rect">
              <a:avLst/>
            </a:prstGeom>
          </p:spPr>
        </p:pic>
        <p:pic>
          <p:nvPicPr>
            <p:cNvPr id="137" name="Picture 136"/>
            <p:cNvPicPr>
              <a:picLocks/>
            </p:cNvPicPr>
            <p:nvPr/>
          </p:nvPicPr>
          <p:blipFill>
            <a:blip r:embed="rId5"/>
            <a:stretch>
              <a:fillRect/>
            </a:stretch>
          </p:blipFill>
          <p:spPr>
            <a:xfrm>
              <a:off x="7752207" y="2583815"/>
              <a:ext cx="548637" cy="548637"/>
            </a:xfrm>
            <a:prstGeom prst="rect">
              <a:avLst/>
            </a:prstGeom>
          </p:spPr>
        </p:pic>
        <p:pic>
          <p:nvPicPr>
            <p:cNvPr id="138" name="Picture 137"/>
            <p:cNvPicPr>
              <a:picLocks/>
            </p:cNvPicPr>
            <p:nvPr/>
          </p:nvPicPr>
          <p:blipFill>
            <a:blip r:embed="rId5"/>
            <a:stretch>
              <a:fillRect/>
            </a:stretch>
          </p:blipFill>
          <p:spPr>
            <a:xfrm>
              <a:off x="7130412" y="3205610"/>
              <a:ext cx="548637" cy="548637"/>
            </a:xfrm>
            <a:prstGeom prst="rect">
              <a:avLst/>
            </a:prstGeom>
          </p:spPr>
        </p:pic>
        <p:pic>
          <p:nvPicPr>
            <p:cNvPr id="139" name="Picture 138"/>
            <p:cNvPicPr>
              <a:picLocks/>
            </p:cNvPicPr>
            <p:nvPr/>
          </p:nvPicPr>
          <p:blipFill>
            <a:blip r:embed="rId5"/>
            <a:stretch>
              <a:fillRect/>
            </a:stretch>
          </p:blipFill>
          <p:spPr>
            <a:xfrm>
              <a:off x="7752207" y="3205610"/>
              <a:ext cx="548637" cy="548637"/>
            </a:xfrm>
            <a:prstGeom prst="rect">
              <a:avLst/>
            </a:prstGeom>
          </p:spPr>
        </p:pic>
      </p:grpSp>
      <p:sp>
        <p:nvSpPr>
          <p:cNvPr id="140" name="Rectangle 139"/>
          <p:cNvSpPr/>
          <p:nvPr/>
        </p:nvSpPr>
        <p:spPr bwMode="auto">
          <a:xfrm>
            <a:off x="364604" y="913428"/>
            <a:ext cx="2560320" cy="2560320"/>
          </a:xfrm>
          <a:prstGeom prst="rect">
            <a:avLst/>
          </a:prstGeom>
          <a:noFill/>
          <a:ln w="76200" cap="flat" cmpd="sng" algn="ctr">
            <a:solidFill>
              <a:srgbClr val="78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161" name="Group 160"/>
          <p:cNvGrpSpPr/>
          <p:nvPr/>
        </p:nvGrpSpPr>
        <p:grpSpPr>
          <a:xfrm>
            <a:off x="454814" y="1001576"/>
            <a:ext cx="2380397" cy="2375580"/>
            <a:chOff x="454814" y="1001576"/>
            <a:chExt cx="2380397" cy="2375580"/>
          </a:xfrm>
        </p:grpSpPr>
        <p:sp>
          <p:nvSpPr>
            <p:cNvPr id="162" name="Rectangle 161"/>
            <p:cNvSpPr/>
            <p:nvPr/>
          </p:nvSpPr>
          <p:spPr bwMode="auto">
            <a:xfrm>
              <a:off x="1070271"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63" name="Rectangle 162"/>
            <p:cNvSpPr/>
            <p:nvPr/>
          </p:nvSpPr>
          <p:spPr bwMode="auto">
            <a:xfrm>
              <a:off x="1683342"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64" name="Rectangle 163"/>
            <p:cNvSpPr/>
            <p:nvPr/>
          </p:nvSpPr>
          <p:spPr bwMode="auto">
            <a:xfrm>
              <a:off x="2295715"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65" name="Rectangle 164"/>
            <p:cNvSpPr/>
            <p:nvPr/>
          </p:nvSpPr>
          <p:spPr bwMode="auto">
            <a:xfrm>
              <a:off x="1070271"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66" name="Rectangle 165"/>
            <p:cNvSpPr/>
            <p:nvPr/>
          </p:nvSpPr>
          <p:spPr bwMode="auto">
            <a:xfrm>
              <a:off x="1683342"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67" name="Rectangle 166"/>
            <p:cNvSpPr/>
            <p:nvPr/>
          </p:nvSpPr>
          <p:spPr bwMode="auto">
            <a:xfrm>
              <a:off x="2295715"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68" name="Rectangle 167"/>
            <p:cNvSpPr/>
            <p:nvPr/>
          </p:nvSpPr>
          <p:spPr bwMode="auto">
            <a:xfrm>
              <a:off x="457898"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69" name="Rectangle 168"/>
            <p:cNvSpPr/>
            <p:nvPr/>
          </p:nvSpPr>
          <p:spPr bwMode="auto">
            <a:xfrm>
              <a:off x="1069573"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70" name="Rectangle 169"/>
            <p:cNvSpPr/>
            <p:nvPr/>
          </p:nvSpPr>
          <p:spPr bwMode="auto">
            <a:xfrm>
              <a:off x="1682644"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71" name="Rectangle 170"/>
            <p:cNvSpPr/>
            <p:nvPr/>
          </p:nvSpPr>
          <p:spPr bwMode="auto">
            <a:xfrm>
              <a:off x="2295017"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72" name="Rectangle 171"/>
            <p:cNvSpPr/>
            <p:nvPr/>
          </p:nvSpPr>
          <p:spPr bwMode="auto">
            <a:xfrm>
              <a:off x="457200"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73" name="Rectangle 172"/>
            <p:cNvSpPr/>
            <p:nvPr/>
          </p:nvSpPr>
          <p:spPr bwMode="auto">
            <a:xfrm>
              <a:off x="1070271"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74" name="Rectangle 173"/>
            <p:cNvSpPr/>
            <p:nvPr/>
          </p:nvSpPr>
          <p:spPr bwMode="auto">
            <a:xfrm>
              <a:off x="1683342"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75" name="Rectangle 174"/>
            <p:cNvSpPr/>
            <p:nvPr/>
          </p:nvSpPr>
          <p:spPr bwMode="auto">
            <a:xfrm>
              <a:off x="2295715"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76" name="Rectangle 175"/>
            <p:cNvSpPr/>
            <p:nvPr/>
          </p:nvSpPr>
          <p:spPr bwMode="auto">
            <a:xfrm>
              <a:off x="457898"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77" name="Rectangle 176"/>
            <p:cNvSpPr/>
            <p:nvPr/>
          </p:nvSpPr>
          <p:spPr bwMode="auto">
            <a:xfrm>
              <a:off x="454814"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sp>
        <p:nvSpPr>
          <p:cNvPr id="178" name="TextBox 177"/>
          <p:cNvSpPr txBox="1"/>
          <p:nvPr/>
        </p:nvSpPr>
        <p:spPr>
          <a:xfrm rot="16200000">
            <a:off x="3353985" y="1749189"/>
            <a:ext cx="1142372" cy="369332"/>
          </a:xfrm>
          <a:prstGeom prst="rect">
            <a:avLst/>
          </a:prstGeom>
          <a:noFill/>
        </p:spPr>
        <p:txBody>
          <a:bodyPr wrap="square" rtlCol="0">
            <a:spAutoFit/>
          </a:bodyPr>
          <a:lstStyle/>
          <a:p>
            <a:r>
              <a:rPr lang="en-US" b="1" dirty="0" smtClean="0"/>
              <a:t>power</a:t>
            </a:r>
            <a:endParaRPr lang="en-US" b="1" dirty="0"/>
          </a:p>
        </p:txBody>
      </p:sp>
      <p:sp>
        <p:nvSpPr>
          <p:cNvPr id="179" name="TextBox 178"/>
          <p:cNvSpPr txBox="1"/>
          <p:nvPr/>
        </p:nvSpPr>
        <p:spPr>
          <a:xfrm rot="16200000">
            <a:off x="3165757" y="4870335"/>
            <a:ext cx="1518828" cy="369332"/>
          </a:xfrm>
          <a:prstGeom prst="rect">
            <a:avLst/>
          </a:prstGeom>
          <a:noFill/>
        </p:spPr>
        <p:txBody>
          <a:bodyPr wrap="none" rtlCol="0">
            <a:spAutoFit/>
          </a:bodyPr>
          <a:lstStyle/>
          <a:p>
            <a:r>
              <a:rPr lang="en-US" b="1" dirty="0" smtClean="0"/>
              <a:t>temperature</a:t>
            </a:r>
            <a:endParaRPr lang="en-US" b="1" dirty="0"/>
          </a:p>
        </p:txBody>
      </p:sp>
      <p:cxnSp>
        <p:nvCxnSpPr>
          <p:cNvPr id="180" name="Straight Connector 179"/>
          <p:cNvCxnSpPr/>
          <p:nvPr/>
        </p:nvCxnSpPr>
        <p:spPr bwMode="auto">
          <a:xfrm rot="5400000">
            <a:off x="3172002" y="1981461"/>
            <a:ext cx="2062450" cy="1588"/>
          </a:xfrm>
          <a:prstGeom prst="line">
            <a:avLst/>
          </a:prstGeom>
          <a:noFill/>
          <a:ln w="38100" cap="flat" cmpd="sng" algn="ctr">
            <a:solidFill>
              <a:srgbClr val="000000"/>
            </a:solidFill>
            <a:prstDash val="solid"/>
            <a:round/>
            <a:headEnd type="none" w="med" len="med"/>
            <a:tailEnd type="none" w="med" len="med"/>
          </a:ln>
          <a:effectLst/>
        </p:spPr>
      </p:cxnSp>
      <p:cxnSp>
        <p:nvCxnSpPr>
          <p:cNvPr id="181" name="Straight Connector 180"/>
          <p:cNvCxnSpPr/>
          <p:nvPr/>
        </p:nvCxnSpPr>
        <p:spPr bwMode="auto">
          <a:xfrm>
            <a:off x="4185253" y="3011892"/>
            <a:ext cx="4365482" cy="1588"/>
          </a:xfrm>
          <a:prstGeom prst="line">
            <a:avLst/>
          </a:prstGeom>
          <a:noFill/>
          <a:ln w="38100" cap="flat" cmpd="sng" algn="ctr">
            <a:solidFill>
              <a:srgbClr val="000000"/>
            </a:solidFill>
            <a:prstDash val="solid"/>
            <a:round/>
            <a:headEnd type="none" w="med" len="med"/>
            <a:tailEnd type="none" w="med" len="med"/>
          </a:ln>
          <a:effectLst/>
        </p:spPr>
      </p:cxnSp>
      <p:cxnSp>
        <p:nvCxnSpPr>
          <p:cNvPr id="182" name="Straight Connector 181"/>
          <p:cNvCxnSpPr/>
          <p:nvPr/>
        </p:nvCxnSpPr>
        <p:spPr bwMode="auto">
          <a:xfrm rot="5400000">
            <a:off x="3204882" y="4966239"/>
            <a:ext cx="2062450" cy="1588"/>
          </a:xfrm>
          <a:prstGeom prst="line">
            <a:avLst/>
          </a:prstGeom>
          <a:noFill/>
          <a:ln w="38100" cap="flat" cmpd="sng" algn="ctr">
            <a:solidFill>
              <a:srgbClr val="000000"/>
            </a:solidFill>
            <a:prstDash val="solid"/>
            <a:round/>
            <a:headEnd type="none" w="med" len="med"/>
            <a:tailEnd type="none" w="med" len="med"/>
          </a:ln>
          <a:effectLst/>
        </p:spPr>
      </p:cxnSp>
      <p:cxnSp>
        <p:nvCxnSpPr>
          <p:cNvPr id="183" name="Straight Connector 182"/>
          <p:cNvCxnSpPr/>
          <p:nvPr/>
        </p:nvCxnSpPr>
        <p:spPr bwMode="auto">
          <a:xfrm>
            <a:off x="4218133" y="5996670"/>
            <a:ext cx="4365482" cy="1588"/>
          </a:xfrm>
          <a:prstGeom prst="line">
            <a:avLst/>
          </a:prstGeom>
          <a:noFill/>
          <a:ln w="38100" cap="flat" cmpd="sng" algn="ctr">
            <a:solidFill>
              <a:srgbClr val="000000"/>
            </a:solidFill>
            <a:prstDash val="solid"/>
            <a:round/>
            <a:headEnd type="none" w="med" len="med"/>
            <a:tailEnd type="none" w="med" len="med"/>
          </a:ln>
          <a:effectLst/>
        </p:spPr>
      </p:cxnSp>
      <p:sp>
        <p:nvSpPr>
          <p:cNvPr id="54" name="TextBox 53"/>
          <p:cNvSpPr txBox="1"/>
          <p:nvPr/>
        </p:nvSpPr>
        <p:spPr>
          <a:xfrm>
            <a:off x="3431628" y="3481995"/>
            <a:ext cx="5765800" cy="461665"/>
          </a:xfrm>
          <a:prstGeom prst="rect">
            <a:avLst/>
          </a:prstGeom>
          <a:noFill/>
        </p:spPr>
        <p:txBody>
          <a:bodyPr wrap="square" rtlCol="0">
            <a:spAutoFit/>
          </a:bodyPr>
          <a:lstStyle/>
          <a:p>
            <a:pPr algn="ctr"/>
            <a:r>
              <a:rPr lang="en-US" sz="2400" dirty="0" smtClean="0">
                <a:solidFill>
                  <a:srgbClr val="005EA7"/>
                </a:solidFill>
              </a:rPr>
              <a:t>Effect of</a:t>
            </a:r>
            <a:r>
              <a:rPr lang="en-US" sz="2400" i="1" dirty="0" smtClean="0">
                <a:solidFill>
                  <a:srgbClr val="005EA7"/>
                </a:solidFill>
              </a:rPr>
              <a:t> thermal capacitance</a:t>
            </a:r>
            <a:endParaRPr lang="en-US" sz="2400" dirty="0" smtClean="0">
              <a:solidFill>
                <a:srgbClr val="005EA7"/>
              </a:solidFill>
            </a:endParaRPr>
          </a:p>
        </p:txBody>
      </p:sp>
      <p:sp>
        <p:nvSpPr>
          <p:cNvPr id="55" name="Rectangle 54"/>
          <p:cNvSpPr/>
          <p:nvPr/>
        </p:nvSpPr>
        <p:spPr bwMode="auto">
          <a:xfrm>
            <a:off x="4524047" y="4011830"/>
            <a:ext cx="674639" cy="1984840"/>
          </a:xfrm>
          <a:prstGeom prst="rect">
            <a:avLst/>
          </a:prstGeom>
          <a:solidFill>
            <a:schemeClr val="accent6">
              <a:alpha val="54000"/>
            </a:schemeClr>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500"/>
                                        <p:tgtEl>
                                          <p:spTgt spid="123"/>
                                        </p:tgtEl>
                                      </p:cBhvr>
                                    </p:animEffect>
                                  </p:childTnLst>
                                </p:cTn>
                              </p:par>
                              <p:par>
                                <p:cTn id="8" presetID="10" presetClass="exit" presetSubtype="0" fill="hold" nodeType="withEffect">
                                  <p:stCondLst>
                                    <p:cond delay="0"/>
                                  </p:stCondLst>
                                  <p:childTnLst>
                                    <p:animEffect transition="out" filter="fade">
                                      <p:cBhvr>
                                        <p:cTn id="9" dur="500"/>
                                        <p:tgtEl>
                                          <p:spTgt spid="161"/>
                                        </p:tgtEl>
                                      </p:cBhvr>
                                    </p:animEffect>
                                    <p:set>
                                      <p:cBhvr>
                                        <p:cTn id="10" dur="1" fill="hold">
                                          <p:stCondLst>
                                            <p:cond delay="499"/>
                                          </p:stCondLst>
                                        </p:cTn>
                                        <p:tgtEl>
                                          <p:spTgt spid="161"/>
                                        </p:tgtEl>
                                        <p:attrNameLst>
                                          <p:attrName>style.visibility</p:attrName>
                                        </p:attrNameLst>
                                      </p:cBhvr>
                                      <p:to>
                                        <p:strVal val="hidden"/>
                                      </p:to>
                                    </p:set>
                                  </p:childTnLst>
                                </p:cTn>
                              </p:par>
                              <p:par>
                                <p:cTn id="11" presetID="22" presetClass="exit" presetSubtype="8" fill="hold" grpId="0" nodeType="withEffect">
                                  <p:stCondLst>
                                    <p:cond delay="0"/>
                                  </p:stCondLst>
                                  <p:childTnLst>
                                    <p:animEffect transition="out" filter="wipe(left)">
                                      <p:cBhvr>
                                        <p:cTn id="12" dur="500"/>
                                        <p:tgtEl>
                                          <p:spTgt spid="81"/>
                                        </p:tgtEl>
                                      </p:cBhvr>
                                    </p:animEffect>
                                    <p:set>
                                      <p:cBhvr>
                                        <p:cTn id="13" dur="1" fill="hold">
                                          <p:stCondLst>
                                            <p:cond delay="499"/>
                                          </p:stCondLst>
                                        </p:cTn>
                                        <p:tgtEl>
                                          <p:spTgt spid="81"/>
                                        </p:tgtEl>
                                        <p:attrNameLst>
                                          <p:attrName>style.visibility</p:attrName>
                                        </p:attrNameLst>
                                      </p:cBhvr>
                                      <p:to>
                                        <p:strVal val="hidden"/>
                                      </p:to>
                                    </p:set>
                                  </p:childTnLst>
                                </p:cTn>
                              </p:par>
                              <p:par>
                                <p:cTn id="14" presetID="22" presetClass="exit" presetSubtype="8" fill="hold" grpId="0" nodeType="withEffect">
                                  <p:stCondLst>
                                    <p:cond delay="0"/>
                                  </p:stCondLst>
                                  <p:childTnLst>
                                    <p:animEffect transition="out" filter="wipe(left)">
                                      <p:cBhvr>
                                        <p:cTn id="15" dur="500"/>
                                        <p:tgtEl>
                                          <p:spTgt spid="82"/>
                                        </p:tgtEl>
                                      </p:cBhvr>
                                    </p:animEffect>
                                    <p:set>
                                      <p:cBhvr>
                                        <p:cTn id="16" dur="1" fill="hold">
                                          <p:stCondLst>
                                            <p:cond delay="499"/>
                                          </p:stCondLst>
                                        </p:cTn>
                                        <p:tgtEl>
                                          <p:spTgt spid="82"/>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2" grpId="0" animBg="1"/>
      <p:bldP spid="54" grpId="0"/>
      <p:bldP spid="55" grpId="0" animBg="1"/>
    </p:bld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39" name="Chart 38"/>
          <p:cNvGraphicFramePr/>
          <p:nvPr/>
        </p:nvGraphicFramePr>
        <p:xfrm>
          <a:off x="4108450" y="3786384"/>
          <a:ext cx="4572000" cy="236129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0" name="Chart 39"/>
          <p:cNvGraphicFramePr/>
          <p:nvPr/>
        </p:nvGraphicFramePr>
        <p:xfrm>
          <a:off x="4051299" y="1003156"/>
          <a:ext cx="4572000" cy="2140094"/>
        </p:xfrm>
        <a:graphic>
          <a:graphicData uri="http://schemas.openxmlformats.org/drawingml/2006/chart">
            <c:chart xmlns:c="http://schemas.openxmlformats.org/drawingml/2006/chart" xmlns:r="http://schemas.openxmlformats.org/officeDocument/2006/relationships" r:id="rId4"/>
          </a:graphicData>
        </a:graphic>
      </p:graphicFrame>
      <p:sp>
        <p:nvSpPr>
          <p:cNvPr id="84" name="Rectangle 83"/>
          <p:cNvSpPr/>
          <p:nvPr/>
        </p:nvSpPr>
        <p:spPr bwMode="auto">
          <a:xfrm>
            <a:off x="6952982" y="3844649"/>
            <a:ext cx="1349641" cy="1933718"/>
          </a:xfrm>
          <a:prstGeom prst="rect">
            <a:avLst/>
          </a:prstGeom>
          <a:solidFill>
            <a:srgbClr val="FFFFFF"/>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7" name="Rectangle 46"/>
          <p:cNvSpPr/>
          <p:nvPr/>
        </p:nvSpPr>
        <p:spPr bwMode="auto">
          <a:xfrm>
            <a:off x="6906359" y="1064150"/>
            <a:ext cx="1716939" cy="1933718"/>
          </a:xfrm>
          <a:prstGeom prst="rect">
            <a:avLst/>
          </a:prstGeom>
          <a:solidFill>
            <a:srgbClr val="FFFFFF"/>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6" name="Rectangle 115"/>
          <p:cNvSpPr/>
          <p:nvPr/>
        </p:nvSpPr>
        <p:spPr bwMode="auto">
          <a:xfrm>
            <a:off x="5143500" y="3930182"/>
            <a:ext cx="1865503" cy="1933718"/>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7" name="Rectangle 116"/>
          <p:cNvSpPr/>
          <p:nvPr/>
        </p:nvSpPr>
        <p:spPr bwMode="auto">
          <a:xfrm>
            <a:off x="5094058" y="1064150"/>
            <a:ext cx="1858924" cy="1933718"/>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2" name="Title 1"/>
          <p:cNvSpPr>
            <a:spLocks noGrp="1"/>
          </p:cNvSpPr>
          <p:nvPr>
            <p:ph type="title"/>
          </p:nvPr>
        </p:nvSpPr>
        <p:spPr/>
        <p:txBody>
          <a:bodyPr/>
          <a:lstStyle/>
          <a:p>
            <a:r>
              <a:rPr lang="en-US" dirty="0" smtClean="0"/>
              <a:t>Parallel Computational Sprinting</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17</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
        <p:nvSpPr>
          <p:cNvPr id="53" name="TextBox 52"/>
          <p:cNvSpPr txBox="1"/>
          <p:nvPr/>
        </p:nvSpPr>
        <p:spPr>
          <a:xfrm>
            <a:off x="3574531" y="3628336"/>
            <a:ext cx="760294" cy="461665"/>
          </a:xfrm>
          <a:prstGeom prst="rect">
            <a:avLst/>
          </a:prstGeom>
          <a:noFill/>
        </p:spPr>
        <p:txBody>
          <a:bodyPr wrap="square" rtlCol="0">
            <a:spAutoFit/>
          </a:bodyPr>
          <a:lstStyle/>
          <a:p>
            <a:r>
              <a:rPr lang="en-US" sz="2400" dirty="0" smtClean="0"/>
              <a:t>T</a:t>
            </a:r>
            <a:r>
              <a:rPr lang="en-US" sz="2400" baseline="-25000" dirty="0" smtClean="0"/>
              <a:t>max</a:t>
            </a:r>
            <a:endParaRPr lang="en-US" sz="2400" dirty="0"/>
          </a:p>
        </p:txBody>
      </p:sp>
      <p:cxnSp>
        <p:nvCxnSpPr>
          <p:cNvPr id="54" name="Straight Connector 53"/>
          <p:cNvCxnSpPr/>
          <p:nvPr/>
        </p:nvCxnSpPr>
        <p:spPr bwMode="auto">
          <a:xfrm>
            <a:off x="4257817" y="4132600"/>
            <a:ext cx="4422633" cy="1588"/>
          </a:xfrm>
          <a:prstGeom prst="line">
            <a:avLst/>
          </a:prstGeom>
          <a:noFill/>
          <a:ln w="38100" cap="flat" cmpd="sng" algn="ctr">
            <a:solidFill>
              <a:srgbClr val="FF0000"/>
            </a:solidFill>
            <a:prstDash val="solid"/>
            <a:round/>
            <a:headEnd type="none" w="med" len="med"/>
            <a:tailEnd type="none" w="med" len="med"/>
          </a:ln>
          <a:effectLst/>
        </p:spPr>
      </p:cxnSp>
      <p:pic>
        <p:nvPicPr>
          <p:cNvPr id="76" name="Picture 75"/>
          <p:cNvPicPr>
            <a:picLocks/>
          </p:cNvPicPr>
          <p:nvPr/>
        </p:nvPicPr>
        <p:blipFill>
          <a:blip r:embed="rId5"/>
          <a:stretch>
            <a:fillRect/>
          </a:stretch>
        </p:blipFill>
        <p:spPr>
          <a:xfrm>
            <a:off x="452252" y="1002248"/>
            <a:ext cx="540747" cy="538824"/>
          </a:xfrm>
          <a:prstGeom prst="rect">
            <a:avLst/>
          </a:prstGeom>
        </p:spPr>
      </p:pic>
      <p:pic>
        <p:nvPicPr>
          <p:cNvPr id="77" name="Picture 76"/>
          <p:cNvPicPr>
            <a:picLocks/>
          </p:cNvPicPr>
          <p:nvPr/>
        </p:nvPicPr>
        <p:blipFill>
          <a:blip r:embed="rId5"/>
          <a:stretch>
            <a:fillRect/>
          </a:stretch>
        </p:blipFill>
        <p:spPr>
          <a:xfrm>
            <a:off x="1065105" y="1002248"/>
            <a:ext cx="540747" cy="538824"/>
          </a:xfrm>
          <a:prstGeom prst="rect">
            <a:avLst/>
          </a:prstGeom>
        </p:spPr>
      </p:pic>
      <p:pic>
        <p:nvPicPr>
          <p:cNvPr id="78" name="Picture 77"/>
          <p:cNvPicPr>
            <a:picLocks/>
          </p:cNvPicPr>
          <p:nvPr/>
        </p:nvPicPr>
        <p:blipFill>
          <a:blip r:embed="rId5"/>
          <a:stretch>
            <a:fillRect/>
          </a:stretch>
        </p:blipFill>
        <p:spPr>
          <a:xfrm>
            <a:off x="452252" y="1612921"/>
            <a:ext cx="540747" cy="538824"/>
          </a:xfrm>
          <a:prstGeom prst="rect">
            <a:avLst/>
          </a:prstGeom>
        </p:spPr>
      </p:pic>
      <p:pic>
        <p:nvPicPr>
          <p:cNvPr id="79" name="Picture 78"/>
          <p:cNvPicPr>
            <a:picLocks/>
          </p:cNvPicPr>
          <p:nvPr/>
        </p:nvPicPr>
        <p:blipFill>
          <a:blip r:embed="rId5"/>
          <a:stretch>
            <a:fillRect/>
          </a:stretch>
        </p:blipFill>
        <p:spPr>
          <a:xfrm>
            <a:off x="1065105" y="1612921"/>
            <a:ext cx="540747" cy="538824"/>
          </a:xfrm>
          <a:prstGeom prst="rect">
            <a:avLst/>
          </a:prstGeom>
        </p:spPr>
      </p:pic>
      <p:pic>
        <p:nvPicPr>
          <p:cNvPr id="81" name="Picture 80"/>
          <p:cNvPicPr>
            <a:picLocks/>
          </p:cNvPicPr>
          <p:nvPr/>
        </p:nvPicPr>
        <p:blipFill>
          <a:blip r:embed="rId5"/>
          <a:stretch>
            <a:fillRect/>
          </a:stretch>
        </p:blipFill>
        <p:spPr>
          <a:xfrm>
            <a:off x="452252" y="2228328"/>
            <a:ext cx="540747" cy="538824"/>
          </a:xfrm>
          <a:prstGeom prst="rect">
            <a:avLst/>
          </a:prstGeom>
        </p:spPr>
      </p:pic>
      <p:pic>
        <p:nvPicPr>
          <p:cNvPr id="82" name="Picture 81"/>
          <p:cNvPicPr>
            <a:picLocks/>
          </p:cNvPicPr>
          <p:nvPr/>
        </p:nvPicPr>
        <p:blipFill>
          <a:blip r:embed="rId5"/>
          <a:stretch>
            <a:fillRect/>
          </a:stretch>
        </p:blipFill>
        <p:spPr>
          <a:xfrm>
            <a:off x="1065105" y="2228328"/>
            <a:ext cx="540747" cy="538824"/>
          </a:xfrm>
          <a:prstGeom prst="rect">
            <a:avLst/>
          </a:prstGeom>
        </p:spPr>
      </p:pic>
      <p:pic>
        <p:nvPicPr>
          <p:cNvPr id="83" name="Picture 82"/>
          <p:cNvPicPr>
            <a:picLocks/>
          </p:cNvPicPr>
          <p:nvPr/>
        </p:nvPicPr>
        <p:blipFill>
          <a:blip r:embed="rId5"/>
          <a:stretch>
            <a:fillRect/>
          </a:stretch>
        </p:blipFill>
        <p:spPr>
          <a:xfrm>
            <a:off x="452252" y="2839001"/>
            <a:ext cx="540747" cy="538824"/>
          </a:xfrm>
          <a:prstGeom prst="rect">
            <a:avLst/>
          </a:prstGeom>
        </p:spPr>
      </p:pic>
      <p:pic>
        <p:nvPicPr>
          <p:cNvPr id="85" name="Picture 84"/>
          <p:cNvPicPr>
            <a:picLocks/>
          </p:cNvPicPr>
          <p:nvPr/>
        </p:nvPicPr>
        <p:blipFill>
          <a:blip r:embed="rId5"/>
          <a:stretch>
            <a:fillRect/>
          </a:stretch>
        </p:blipFill>
        <p:spPr>
          <a:xfrm>
            <a:off x="1065105" y="2839001"/>
            <a:ext cx="540747" cy="538824"/>
          </a:xfrm>
          <a:prstGeom prst="rect">
            <a:avLst/>
          </a:prstGeom>
        </p:spPr>
      </p:pic>
      <p:pic>
        <p:nvPicPr>
          <p:cNvPr id="86" name="Picture 85"/>
          <p:cNvPicPr>
            <a:picLocks/>
          </p:cNvPicPr>
          <p:nvPr/>
        </p:nvPicPr>
        <p:blipFill>
          <a:blip r:embed="rId5"/>
          <a:stretch>
            <a:fillRect/>
          </a:stretch>
        </p:blipFill>
        <p:spPr>
          <a:xfrm>
            <a:off x="1677827" y="1002248"/>
            <a:ext cx="540747" cy="538824"/>
          </a:xfrm>
          <a:prstGeom prst="rect">
            <a:avLst/>
          </a:prstGeom>
        </p:spPr>
      </p:pic>
      <p:pic>
        <p:nvPicPr>
          <p:cNvPr id="87" name="Picture 86"/>
          <p:cNvPicPr>
            <a:picLocks/>
          </p:cNvPicPr>
          <p:nvPr/>
        </p:nvPicPr>
        <p:blipFill>
          <a:blip r:embed="rId5"/>
          <a:stretch>
            <a:fillRect/>
          </a:stretch>
        </p:blipFill>
        <p:spPr>
          <a:xfrm>
            <a:off x="2290680" y="1002248"/>
            <a:ext cx="540747" cy="538824"/>
          </a:xfrm>
          <a:prstGeom prst="rect">
            <a:avLst/>
          </a:prstGeom>
        </p:spPr>
      </p:pic>
      <p:pic>
        <p:nvPicPr>
          <p:cNvPr id="88" name="Picture 87"/>
          <p:cNvPicPr>
            <a:picLocks/>
          </p:cNvPicPr>
          <p:nvPr/>
        </p:nvPicPr>
        <p:blipFill>
          <a:blip r:embed="rId5"/>
          <a:stretch>
            <a:fillRect/>
          </a:stretch>
        </p:blipFill>
        <p:spPr>
          <a:xfrm>
            <a:off x="1677827" y="1612921"/>
            <a:ext cx="540747" cy="538824"/>
          </a:xfrm>
          <a:prstGeom prst="rect">
            <a:avLst/>
          </a:prstGeom>
        </p:spPr>
      </p:pic>
      <p:pic>
        <p:nvPicPr>
          <p:cNvPr id="89" name="Picture 88"/>
          <p:cNvPicPr>
            <a:picLocks/>
          </p:cNvPicPr>
          <p:nvPr/>
        </p:nvPicPr>
        <p:blipFill>
          <a:blip r:embed="rId5"/>
          <a:stretch>
            <a:fillRect/>
          </a:stretch>
        </p:blipFill>
        <p:spPr>
          <a:xfrm>
            <a:off x="2290680" y="1612921"/>
            <a:ext cx="540747" cy="538824"/>
          </a:xfrm>
          <a:prstGeom prst="rect">
            <a:avLst/>
          </a:prstGeom>
        </p:spPr>
      </p:pic>
      <p:pic>
        <p:nvPicPr>
          <p:cNvPr id="90" name="Picture 89"/>
          <p:cNvPicPr>
            <a:picLocks/>
          </p:cNvPicPr>
          <p:nvPr/>
        </p:nvPicPr>
        <p:blipFill>
          <a:blip r:embed="rId5"/>
          <a:stretch>
            <a:fillRect/>
          </a:stretch>
        </p:blipFill>
        <p:spPr>
          <a:xfrm>
            <a:off x="1677827" y="2228328"/>
            <a:ext cx="540747" cy="538824"/>
          </a:xfrm>
          <a:prstGeom prst="rect">
            <a:avLst/>
          </a:prstGeom>
        </p:spPr>
      </p:pic>
      <p:pic>
        <p:nvPicPr>
          <p:cNvPr id="91" name="Picture 90"/>
          <p:cNvPicPr>
            <a:picLocks/>
          </p:cNvPicPr>
          <p:nvPr/>
        </p:nvPicPr>
        <p:blipFill>
          <a:blip r:embed="rId5"/>
          <a:stretch>
            <a:fillRect/>
          </a:stretch>
        </p:blipFill>
        <p:spPr>
          <a:xfrm>
            <a:off x="2290680" y="2228328"/>
            <a:ext cx="540747" cy="538824"/>
          </a:xfrm>
          <a:prstGeom prst="rect">
            <a:avLst/>
          </a:prstGeom>
        </p:spPr>
      </p:pic>
      <p:pic>
        <p:nvPicPr>
          <p:cNvPr id="92" name="Picture 91"/>
          <p:cNvPicPr>
            <a:picLocks/>
          </p:cNvPicPr>
          <p:nvPr/>
        </p:nvPicPr>
        <p:blipFill>
          <a:blip r:embed="rId5"/>
          <a:stretch>
            <a:fillRect/>
          </a:stretch>
        </p:blipFill>
        <p:spPr>
          <a:xfrm>
            <a:off x="1677827" y="2839001"/>
            <a:ext cx="540747" cy="538824"/>
          </a:xfrm>
          <a:prstGeom prst="rect">
            <a:avLst/>
          </a:prstGeom>
        </p:spPr>
      </p:pic>
      <p:pic>
        <p:nvPicPr>
          <p:cNvPr id="93" name="Picture 92"/>
          <p:cNvPicPr>
            <a:picLocks/>
          </p:cNvPicPr>
          <p:nvPr/>
        </p:nvPicPr>
        <p:blipFill>
          <a:blip r:embed="rId5"/>
          <a:stretch>
            <a:fillRect/>
          </a:stretch>
        </p:blipFill>
        <p:spPr>
          <a:xfrm>
            <a:off x="2290680" y="2839001"/>
            <a:ext cx="540747" cy="538824"/>
          </a:xfrm>
          <a:prstGeom prst="rect">
            <a:avLst/>
          </a:prstGeom>
        </p:spPr>
      </p:pic>
      <p:sp>
        <p:nvSpPr>
          <p:cNvPr id="75" name="Rectangle 74"/>
          <p:cNvSpPr/>
          <p:nvPr/>
        </p:nvSpPr>
        <p:spPr bwMode="auto">
          <a:xfrm>
            <a:off x="364604" y="913428"/>
            <a:ext cx="2560320" cy="2560320"/>
          </a:xfrm>
          <a:prstGeom prst="rect">
            <a:avLst/>
          </a:prstGeom>
          <a:noFill/>
          <a:ln w="76200" cap="flat" cmpd="sng" algn="ctr">
            <a:solidFill>
              <a:srgbClr val="78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95" name="Group 94"/>
          <p:cNvGrpSpPr/>
          <p:nvPr/>
        </p:nvGrpSpPr>
        <p:grpSpPr>
          <a:xfrm>
            <a:off x="457200" y="1001576"/>
            <a:ext cx="2378011" cy="2375580"/>
            <a:chOff x="457200" y="1001576"/>
            <a:chExt cx="2378011" cy="2375580"/>
          </a:xfrm>
        </p:grpSpPr>
        <p:sp>
          <p:nvSpPr>
            <p:cNvPr id="96" name="Rectangle 95"/>
            <p:cNvSpPr/>
            <p:nvPr/>
          </p:nvSpPr>
          <p:spPr bwMode="auto">
            <a:xfrm>
              <a:off x="1070271"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7" name="Rectangle 96"/>
            <p:cNvSpPr/>
            <p:nvPr/>
          </p:nvSpPr>
          <p:spPr bwMode="auto">
            <a:xfrm>
              <a:off x="1683342"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8" name="Rectangle 97"/>
            <p:cNvSpPr/>
            <p:nvPr/>
          </p:nvSpPr>
          <p:spPr bwMode="auto">
            <a:xfrm>
              <a:off x="2295715"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9" name="Rectangle 118"/>
            <p:cNvSpPr/>
            <p:nvPr/>
          </p:nvSpPr>
          <p:spPr bwMode="auto">
            <a:xfrm>
              <a:off x="1070271"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0" name="Rectangle 119"/>
            <p:cNvSpPr/>
            <p:nvPr/>
          </p:nvSpPr>
          <p:spPr bwMode="auto">
            <a:xfrm>
              <a:off x="1683342"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1" name="Rectangle 120"/>
            <p:cNvSpPr/>
            <p:nvPr/>
          </p:nvSpPr>
          <p:spPr bwMode="auto">
            <a:xfrm>
              <a:off x="2295715"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2" name="Rectangle 121"/>
            <p:cNvSpPr/>
            <p:nvPr/>
          </p:nvSpPr>
          <p:spPr bwMode="auto">
            <a:xfrm>
              <a:off x="457898"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3" name="Rectangle 122"/>
            <p:cNvSpPr/>
            <p:nvPr/>
          </p:nvSpPr>
          <p:spPr bwMode="auto">
            <a:xfrm>
              <a:off x="1069573"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4" name="Rectangle 123"/>
            <p:cNvSpPr/>
            <p:nvPr/>
          </p:nvSpPr>
          <p:spPr bwMode="auto">
            <a:xfrm>
              <a:off x="1682644"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5" name="Rectangle 124"/>
            <p:cNvSpPr/>
            <p:nvPr/>
          </p:nvSpPr>
          <p:spPr bwMode="auto">
            <a:xfrm>
              <a:off x="2295017"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6" name="Rectangle 125"/>
            <p:cNvSpPr/>
            <p:nvPr/>
          </p:nvSpPr>
          <p:spPr bwMode="auto">
            <a:xfrm>
              <a:off x="457200"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7" name="Rectangle 126"/>
            <p:cNvSpPr/>
            <p:nvPr/>
          </p:nvSpPr>
          <p:spPr bwMode="auto">
            <a:xfrm>
              <a:off x="1070271"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8" name="Rectangle 127"/>
            <p:cNvSpPr/>
            <p:nvPr/>
          </p:nvSpPr>
          <p:spPr bwMode="auto">
            <a:xfrm>
              <a:off x="1683342"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9" name="Rectangle 128"/>
            <p:cNvSpPr/>
            <p:nvPr/>
          </p:nvSpPr>
          <p:spPr bwMode="auto">
            <a:xfrm>
              <a:off x="2295715"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30" name="Rectangle 129"/>
            <p:cNvSpPr/>
            <p:nvPr/>
          </p:nvSpPr>
          <p:spPr bwMode="auto">
            <a:xfrm>
              <a:off x="457898"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sp>
        <p:nvSpPr>
          <p:cNvPr id="132" name="TextBox 131"/>
          <p:cNvSpPr txBox="1"/>
          <p:nvPr/>
        </p:nvSpPr>
        <p:spPr>
          <a:xfrm rot="16200000">
            <a:off x="3353985" y="1749189"/>
            <a:ext cx="1142372" cy="369332"/>
          </a:xfrm>
          <a:prstGeom prst="rect">
            <a:avLst/>
          </a:prstGeom>
          <a:noFill/>
        </p:spPr>
        <p:txBody>
          <a:bodyPr wrap="square" rtlCol="0">
            <a:spAutoFit/>
          </a:bodyPr>
          <a:lstStyle/>
          <a:p>
            <a:r>
              <a:rPr lang="en-US" b="1" dirty="0" smtClean="0"/>
              <a:t>power</a:t>
            </a:r>
            <a:endParaRPr lang="en-US" b="1" dirty="0"/>
          </a:p>
        </p:txBody>
      </p:sp>
      <p:sp>
        <p:nvSpPr>
          <p:cNvPr id="133" name="TextBox 132"/>
          <p:cNvSpPr txBox="1"/>
          <p:nvPr/>
        </p:nvSpPr>
        <p:spPr>
          <a:xfrm rot="16200000">
            <a:off x="3165757" y="4870335"/>
            <a:ext cx="1518828" cy="369332"/>
          </a:xfrm>
          <a:prstGeom prst="rect">
            <a:avLst/>
          </a:prstGeom>
          <a:noFill/>
        </p:spPr>
        <p:txBody>
          <a:bodyPr wrap="none" rtlCol="0">
            <a:spAutoFit/>
          </a:bodyPr>
          <a:lstStyle/>
          <a:p>
            <a:r>
              <a:rPr lang="en-US" b="1" dirty="0" smtClean="0"/>
              <a:t>temperature</a:t>
            </a:r>
            <a:endParaRPr lang="en-US" b="1" dirty="0"/>
          </a:p>
        </p:txBody>
      </p:sp>
      <p:cxnSp>
        <p:nvCxnSpPr>
          <p:cNvPr id="134" name="Straight Connector 133"/>
          <p:cNvCxnSpPr/>
          <p:nvPr/>
        </p:nvCxnSpPr>
        <p:spPr bwMode="auto">
          <a:xfrm rot="5400000">
            <a:off x="3172002" y="1981461"/>
            <a:ext cx="2062450" cy="1588"/>
          </a:xfrm>
          <a:prstGeom prst="line">
            <a:avLst/>
          </a:prstGeom>
          <a:noFill/>
          <a:ln w="38100" cap="flat" cmpd="sng" algn="ctr">
            <a:solidFill>
              <a:srgbClr val="000000"/>
            </a:solidFill>
            <a:prstDash val="solid"/>
            <a:round/>
            <a:headEnd type="none" w="med" len="med"/>
            <a:tailEnd type="none" w="med" len="med"/>
          </a:ln>
          <a:effectLst/>
        </p:spPr>
      </p:cxnSp>
      <p:cxnSp>
        <p:nvCxnSpPr>
          <p:cNvPr id="135" name="Straight Connector 134"/>
          <p:cNvCxnSpPr/>
          <p:nvPr/>
        </p:nvCxnSpPr>
        <p:spPr bwMode="auto">
          <a:xfrm>
            <a:off x="4185253" y="3011892"/>
            <a:ext cx="4365482" cy="1588"/>
          </a:xfrm>
          <a:prstGeom prst="line">
            <a:avLst/>
          </a:prstGeom>
          <a:noFill/>
          <a:ln w="38100" cap="flat" cmpd="sng" algn="ctr">
            <a:solidFill>
              <a:srgbClr val="000000"/>
            </a:solidFill>
            <a:prstDash val="solid"/>
            <a:round/>
            <a:headEnd type="none" w="med" len="med"/>
            <a:tailEnd type="none" w="med" len="med"/>
          </a:ln>
          <a:effectLst/>
        </p:spPr>
      </p:cxnSp>
      <p:cxnSp>
        <p:nvCxnSpPr>
          <p:cNvPr id="136" name="Straight Connector 135"/>
          <p:cNvCxnSpPr/>
          <p:nvPr/>
        </p:nvCxnSpPr>
        <p:spPr bwMode="auto">
          <a:xfrm rot="5400000">
            <a:off x="3204882" y="4966239"/>
            <a:ext cx="2062450" cy="1588"/>
          </a:xfrm>
          <a:prstGeom prst="line">
            <a:avLst/>
          </a:prstGeom>
          <a:noFill/>
          <a:ln w="38100" cap="flat" cmpd="sng" algn="ctr">
            <a:solidFill>
              <a:srgbClr val="000000"/>
            </a:solidFill>
            <a:prstDash val="solid"/>
            <a:round/>
            <a:headEnd type="none" w="med" len="med"/>
            <a:tailEnd type="none" w="med" len="med"/>
          </a:ln>
          <a:effectLst/>
        </p:spPr>
      </p:cxnSp>
      <p:cxnSp>
        <p:nvCxnSpPr>
          <p:cNvPr id="137" name="Straight Connector 136"/>
          <p:cNvCxnSpPr/>
          <p:nvPr/>
        </p:nvCxnSpPr>
        <p:spPr bwMode="auto">
          <a:xfrm>
            <a:off x="4218133" y="5996670"/>
            <a:ext cx="4365482" cy="1588"/>
          </a:xfrm>
          <a:prstGeom prst="line">
            <a:avLst/>
          </a:prstGeom>
          <a:noFill/>
          <a:ln w="38100" cap="flat" cmpd="sng" algn="ctr">
            <a:solidFill>
              <a:srgbClr val="000000"/>
            </a:solidFill>
            <a:prstDash val="solid"/>
            <a:round/>
            <a:headEnd type="none" w="med" len="med"/>
            <a:tailEnd type="none" w="med" len="med"/>
          </a:ln>
          <a:effectLst/>
        </p:spPr>
      </p:cxnSp>
      <p:sp>
        <p:nvSpPr>
          <p:cNvPr id="56" name="TextBox 55"/>
          <p:cNvSpPr txBox="1"/>
          <p:nvPr/>
        </p:nvSpPr>
        <p:spPr>
          <a:xfrm>
            <a:off x="3431628" y="3481995"/>
            <a:ext cx="5765800" cy="461665"/>
          </a:xfrm>
          <a:prstGeom prst="rect">
            <a:avLst/>
          </a:prstGeom>
          <a:noFill/>
        </p:spPr>
        <p:txBody>
          <a:bodyPr wrap="square" rtlCol="0">
            <a:spAutoFit/>
          </a:bodyPr>
          <a:lstStyle/>
          <a:p>
            <a:pPr algn="ctr"/>
            <a:r>
              <a:rPr lang="en-US" sz="2400" dirty="0" smtClean="0">
                <a:solidFill>
                  <a:srgbClr val="005EA7"/>
                </a:solidFill>
              </a:rPr>
              <a:t>Effect of</a:t>
            </a:r>
            <a:r>
              <a:rPr lang="en-US" sz="2400" i="1" dirty="0" smtClean="0">
                <a:solidFill>
                  <a:srgbClr val="005EA7"/>
                </a:solidFill>
              </a:rPr>
              <a:t> thermal capacitance</a:t>
            </a:r>
            <a:endParaRPr lang="en-US" sz="2400" dirty="0" smtClean="0">
              <a:solidFill>
                <a:srgbClr val="005EA7"/>
              </a:solidFill>
            </a:endParaRPr>
          </a:p>
        </p:txBody>
      </p:sp>
      <p:sp>
        <p:nvSpPr>
          <p:cNvPr id="57" name="Rectangle 56"/>
          <p:cNvSpPr/>
          <p:nvPr/>
        </p:nvSpPr>
        <p:spPr bwMode="auto">
          <a:xfrm>
            <a:off x="4524047" y="4011830"/>
            <a:ext cx="674639" cy="1984840"/>
          </a:xfrm>
          <a:prstGeom prst="rect">
            <a:avLst/>
          </a:prstGeom>
          <a:solidFill>
            <a:schemeClr val="accent6">
              <a:alpha val="54000"/>
            </a:schemeClr>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fade">
                                      <p:cBhvr>
                                        <p:cTn id="7" dur="500"/>
                                        <p:tgtEl>
                                          <p:spTgt spid="95"/>
                                        </p:tgtEl>
                                      </p:cBhvr>
                                    </p:animEffect>
                                  </p:childTnLst>
                                </p:cTn>
                              </p:par>
                              <p:par>
                                <p:cTn id="8" presetID="22" presetClass="exit" presetSubtype="8" fill="hold" grpId="0" nodeType="withEffect">
                                  <p:stCondLst>
                                    <p:cond delay="0"/>
                                  </p:stCondLst>
                                  <p:childTnLst>
                                    <p:animEffect transition="out" filter="wipe(left)">
                                      <p:cBhvr>
                                        <p:cTn id="9" dur="500"/>
                                        <p:tgtEl>
                                          <p:spTgt spid="117"/>
                                        </p:tgtEl>
                                      </p:cBhvr>
                                    </p:animEffect>
                                    <p:set>
                                      <p:cBhvr>
                                        <p:cTn id="10" dur="1" fill="hold">
                                          <p:stCondLst>
                                            <p:cond delay="499"/>
                                          </p:stCondLst>
                                        </p:cTn>
                                        <p:tgtEl>
                                          <p:spTgt spid="117"/>
                                        </p:tgtEl>
                                        <p:attrNameLst>
                                          <p:attrName>style.visibility</p:attrName>
                                        </p:attrNameLst>
                                      </p:cBhvr>
                                      <p:to>
                                        <p:strVal val="hidden"/>
                                      </p:to>
                                    </p:set>
                                  </p:childTnLst>
                                </p:cTn>
                              </p:par>
                              <p:par>
                                <p:cTn id="11" presetID="22" presetClass="exit" presetSubtype="8" fill="hold" grpId="0" nodeType="withEffect">
                                  <p:stCondLst>
                                    <p:cond delay="0"/>
                                  </p:stCondLst>
                                  <p:childTnLst>
                                    <p:animEffect transition="out" filter="wipe(left)">
                                      <p:cBhvr>
                                        <p:cTn id="12" dur="500"/>
                                        <p:tgtEl>
                                          <p:spTgt spid="116"/>
                                        </p:tgtEl>
                                      </p:cBhvr>
                                    </p:animEffect>
                                    <p:set>
                                      <p:cBhvr>
                                        <p:cTn id="13" dur="1" fill="hold">
                                          <p:stCondLst>
                                            <p:cond delay="499"/>
                                          </p:stCondLst>
                                        </p:cTn>
                                        <p:tgtEl>
                                          <p:spTgt spid="1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117" grpId="0" animBg="1"/>
    </p:bld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39" name="Chart 38"/>
          <p:cNvGraphicFramePr/>
          <p:nvPr/>
        </p:nvGraphicFramePr>
        <p:xfrm>
          <a:off x="4108450" y="3786384"/>
          <a:ext cx="4572000" cy="236129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0" name="Chart 39"/>
          <p:cNvGraphicFramePr/>
          <p:nvPr/>
        </p:nvGraphicFramePr>
        <p:xfrm>
          <a:off x="4051299" y="1003156"/>
          <a:ext cx="4572000" cy="2140094"/>
        </p:xfrm>
        <a:graphic>
          <a:graphicData uri="http://schemas.openxmlformats.org/drawingml/2006/chart">
            <c:chart xmlns:c="http://schemas.openxmlformats.org/drawingml/2006/chart" xmlns:r="http://schemas.openxmlformats.org/officeDocument/2006/relationships" r:id="rId4"/>
          </a:graphicData>
        </a:graphic>
      </p:graphicFrame>
      <p:sp>
        <p:nvSpPr>
          <p:cNvPr id="84" name="Rectangle 83"/>
          <p:cNvSpPr/>
          <p:nvPr/>
        </p:nvSpPr>
        <p:spPr bwMode="auto">
          <a:xfrm>
            <a:off x="6952982" y="3930182"/>
            <a:ext cx="1349641" cy="1933718"/>
          </a:xfrm>
          <a:prstGeom prst="rect">
            <a:avLst/>
          </a:prstGeom>
          <a:solidFill>
            <a:srgbClr val="FFFFFF"/>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7" name="Rectangle 46"/>
          <p:cNvSpPr/>
          <p:nvPr/>
        </p:nvSpPr>
        <p:spPr bwMode="auto">
          <a:xfrm>
            <a:off x="6906359" y="1077518"/>
            <a:ext cx="1716939" cy="1933718"/>
          </a:xfrm>
          <a:prstGeom prst="rect">
            <a:avLst/>
          </a:prstGeom>
          <a:solidFill>
            <a:srgbClr val="FFFFFF"/>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2" name="Title 1"/>
          <p:cNvSpPr>
            <a:spLocks noGrp="1"/>
          </p:cNvSpPr>
          <p:nvPr>
            <p:ph type="title"/>
          </p:nvPr>
        </p:nvSpPr>
        <p:spPr/>
        <p:txBody>
          <a:bodyPr/>
          <a:lstStyle/>
          <a:p>
            <a:r>
              <a:rPr lang="en-US" dirty="0" smtClean="0"/>
              <a:t>Parallel Computational Sprinting</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18</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
        <p:nvSpPr>
          <p:cNvPr id="53" name="TextBox 52"/>
          <p:cNvSpPr txBox="1"/>
          <p:nvPr/>
        </p:nvSpPr>
        <p:spPr>
          <a:xfrm>
            <a:off x="3574531" y="3628336"/>
            <a:ext cx="760294" cy="461665"/>
          </a:xfrm>
          <a:prstGeom prst="rect">
            <a:avLst/>
          </a:prstGeom>
          <a:noFill/>
        </p:spPr>
        <p:txBody>
          <a:bodyPr wrap="square" rtlCol="0">
            <a:spAutoFit/>
          </a:bodyPr>
          <a:lstStyle/>
          <a:p>
            <a:r>
              <a:rPr lang="en-US" sz="2400" dirty="0" smtClean="0"/>
              <a:t>T</a:t>
            </a:r>
            <a:r>
              <a:rPr lang="en-US" sz="2400" baseline="-25000" dirty="0" smtClean="0"/>
              <a:t>max</a:t>
            </a:r>
            <a:endParaRPr lang="en-US" sz="2400" dirty="0"/>
          </a:p>
        </p:txBody>
      </p:sp>
      <p:cxnSp>
        <p:nvCxnSpPr>
          <p:cNvPr id="54" name="Straight Connector 53"/>
          <p:cNvCxnSpPr/>
          <p:nvPr/>
        </p:nvCxnSpPr>
        <p:spPr bwMode="auto">
          <a:xfrm>
            <a:off x="4257817" y="4132600"/>
            <a:ext cx="4422633" cy="1588"/>
          </a:xfrm>
          <a:prstGeom prst="line">
            <a:avLst/>
          </a:prstGeom>
          <a:noFill/>
          <a:ln w="38100" cap="flat" cmpd="sng" algn="ctr">
            <a:solidFill>
              <a:srgbClr val="FF0000"/>
            </a:solidFill>
            <a:prstDash val="solid"/>
            <a:round/>
            <a:headEnd type="none" w="med" len="med"/>
            <a:tailEnd type="none" w="med" len="med"/>
          </a:ln>
          <a:effectLst/>
        </p:spPr>
      </p:cxnSp>
      <p:sp>
        <p:nvSpPr>
          <p:cNvPr id="92" name="Rectangle 91"/>
          <p:cNvSpPr/>
          <p:nvPr/>
        </p:nvSpPr>
        <p:spPr bwMode="auto">
          <a:xfrm>
            <a:off x="457898" y="100315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95" name="Group 94"/>
          <p:cNvGrpSpPr/>
          <p:nvPr/>
        </p:nvGrpSpPr>
        <p:grpSpPr>
          <a:xfrm>
            <a:off x="457200" y="1001576"/>
            <a:ext cx="2378011" cy="2375580"/>
            <a:chOff x="457200" y="1001576"/>
            <a:chExt cx="2378011" cy="2375580"/>
          </a:xfrm>
        </p:grpSpPr>
        <p:sp>
          <p:nvSpPr>
            <p:cNvPr id="96" name="Rectangle 95"/>
            <p:cNvSpPr/>
            <p:nvPr/>
          </p:nvSpPr>
          <p:spPr bwMode="auto">
            <a:xfrm>
              <a:off x="1070271"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7" name="Rectangle 96"/>
            <p:cNvSpPr/>
            <p:nvPr/>
          </p:nvSpPr>
          <p:spPr bwMode="auto">
            <a:xfrm>
              <a:off x="1683342"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8" name="Rectangle 97"/>
            <p:cNvSpPr/>
            <p:nvPr/>
          </p:nvSpPr>
          <p:spPr bwMode="auto">
            <a:xfrm>
              <a:off x="2295715"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9" name="Rectangle 98"/>
            <p:cNvSpPr/>
            <p:nvPr/>
          </p:nvSpPr>
          <p:spPr bwMode="auto">
            <a:xfrm>
              <a:off x="1070271"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5" name="Rectangle 114"/>
            <p:cNvSpPr/>
            <p:nvPr/>
          </p:nvSpPr>
          <p:spPr bwMode="auto">
            <a:xfrm>
              <a:off x="1683342"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6" name="Rectangle 115"/>
            <p:cNvSpPr/>
            <p:nvPr/>
          </p:nvSpPr>
          <p:spPr bwMode="auto">
            <a:xfrm>
              <a:off x="2295715"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7" name="Rectangle 116"/>
            <p:cNvSpPr/>
            <p:nvPr/>
          </p:nvSpPr>
          <p:spPr bwMode="auto">
            <a:xfrm>
              <a:off x="457898"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8" name="Rectangle 117"/>
            <p:cNvSpPr/>
            <p:nvPr/>
          </p:nvSpPr>
          <p:spPr bwMode="auto">
            <a:xfrm>
              <a:off x="1069573"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19" name="Rectangle 118"/>
            <p:cNvSpPr/>
            <p:nvPr/>
          </p:nvSpPr>
          <p:spPr bwMode="auto">
            <a:xfrm>
              <a:off x="1682644"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0" name="Rectangle 119"/>
            <p:cNvSpPr/>
            <p:nvPr/>
          </p:nvSpPr>
          <p:spPr bwMode="auto">
            <a:xfrm>
              <a:off x="2295017"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1" name="Rectangle 120"/>
            <p:cNvSpPr/>
            <p:nvPr/>
          </p:nvSpPr>
          <p:spPr bwMode="auto">
            <a:xfrm>
              <a:off x="457200"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2" name="Rectangle 121"/>
            <p:cNvSpPr/>
            <p:nvPr/>
          </p:nvSpPr>
          <p:spPr bwMode="auto">
            <a:xfrm>
              <a:off x="1070271"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3" name="Rectangle 122"/>
            <p:cNvSpPr/>
            <p:nvPr/>
          </p:nvSpPr>
          <p:spPr bwMode="auto">
            <a:xfrm>
              <a:off x="1683342"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4" name="Rectangle 123"/>
            <p:cNvSpPr/>
            <p:nvPr/>
          </p:nvSpPr>
          <p:spPr bwMode="auto">
            <a:xfrm>
              <a:off x="2295715"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5" name="Rectangle 124"/>
            <p:cNvSpPr/>
            <p:nvPr/>
          </p:nvSpPr>
          <p:spPr bwMode="auto">
            <a:xfrm>
              <a:off x="457898"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pic>
        <p:nvPicPr>
          <p:cNvPr id="126" name="Picture 125"/>
          <p:cNvPicPr>
            <a:picLocks/>
          </p:cNvPicPr>
          <p:nvPr/>
        </p:nvPicPr>
        <p:blipFill>
          <a:blip r:embed="rId5"/>
          <a:stretch>
            <a:fillRect/>
          </a:stretch>
        </p:blipFill>
        <p:spPr>
          <a:xfrm>
            <a:off x="452252" y="1002248"/>
            <a:ext cx="540747" cy="538824"/>
          </a:xfrm>
          <a:prstGeom prst="rect">
            <a:avLst/>
          </a:prstGeom>
        </p:spPr>
      </p:pic>
      <p:sp>
        <p:nvSpPr>
          <p:cNvPr id="127" name="Rectangle 126"/>
          <p:cNvSpPr/>
          <p:nvPr/>
        </p:nvSpPr>
        <p:spPr bwMode="auto">
          <a:xfrm>
            <a:off x="364604" y="913428"/>
            <a:ext cx="2560320" cy="2560320"/>
          </a:xfrm>
          <a:prstGeom prst="rect">
            <a:avLst/>
          </a:prstGeom>
          <a:noFill/>
          <a:ln w="76200" cap="flat" cmpd="sng" algn="ctr">
            <a:solidFill>
              <a:srgbClr val="78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8" name="TextBox 127"/>
          <p:cNvSpPr txBox="1"/>
          <p:nvPr/>
        </p:nvSpPr>
        <p:spPr>
          <a:xfrm rot="16200000">
            <a:off x="3353985" y="1749189"/>
            <a:ext cx="1142372" cy="369332"/>
          </a:xfrm>
          <a:prstGeom prst="rect">
            <a:avLst/>
          </a:prstGeom>
          <a:noFill/>
        </p:spPr>
        <p:txBody>
          <a:bodyPr wrap="square" rtlCol="0">
            <a:spAutoFit/>
          </a:bodyPr>
          <a:lstStyle/>
          <a:p>
            <a:r>
              <a:rPr lang="en-US" b="1" dirty="0" smtClean="0"/>
              <a:t>power</a:t>
            </a:r>
            <a:endParaRPr lang="en-US" b="1" dirty="0"/>
          </a:p>
        </p:txBody>
      </p:sp>
      <p:sp>
        <p:nvSpPr>
          <p:cNvPr id="129" name="TextBox 128"/>
          <p:cNvSpPr txBox="1"/>
          <p:nvPr/>
        </p:nvSpPr>
        <p:spPr>
          <a:xfrm rot="16200000">
            <a:off x="3165757" y="4870335"/>
            <a:ext cx="1518828" cy="369332"/>
          </a:xfrm>
          <a:prstGeom prst="rect">
            <a:avLst/>
          </a:prstGeom>
          <a:noFill/>
        </p:spPr>
        <p:txBody>
          <a:bodyPr wrap="none" rtlCol="0">
            <a:spAutoFit/>
          </a:bodyPr>
          <a:lstStyle/>
          <a:p>
            <a:r>
              <a:rPr lang="en-US" b="1" dirty="0" smtClean="0"/>
              <a:t>temperature</a:t>
            </a:r>
            <a:endParaRPr lang="en-US" b="1" dirty="0"/>
          </a:p>
        </p:txBody>
      </p:sp>
      <p:cxnSp>
        <p:nvCxnSpPr>
          <p:cNvPr id="130" name="Straight Connector 129"/>
          <p:cNvCxnSpPr/>
          <p:nvPr/>
        </p:nvCxnSpPr>
        <p:spPr bwMode="auto">
          <a:xfrm rot="5400000">
            <a:off x="3172002" y="1981461"/>
            <a:ext cx="2062450" cy="1588"/>
          </a:xfrm>
          <a:prstGeom prst="line">
            <a:avLst/>
          </a:prstGeom>
          <a:noFill/>
          <a:ln w="38100" cap="flat" cmpd="sng" algn="ctr">
            <a:solidFill>
              <a:srgbClr val="000000"/>
            </a:solidFill>
            <a:prstDash val="solid"/>
            <a:round/>
            <a:headEnd type="none" w="med" len="med"/>
            <a:tailEnd type="none" w="med" len="med"/>
          </a:ln>
          <a:effectLst/>
        </p:spPr>
      </p:cxnSp>
      <p:cxnSp>
        <p:nvCxnSpPr>
          <p:cNvPr id="131" name="Straight Connector 130"/>
          <p:cNvCxnSpPr/>
          <p:nvPr/>
        </p:nvCxnSpPr>
        <p:spPr bwMode="auto">
          <a:xfrm>
            <a:off x="4185253" y="3011892"/>
            <a:ext cx="4365482" cy="1588"/>
          </a:xfrm>
          <a:prstGeom prst="line">
            <a:avLst/>
          </a:prstGeom>
          <a:noFill/>
          <a:ln w="38100" cap="flat" cmpd="sng" algn="ctr">
            <a:solidFill>
              <a:srgbClr val="000000"/>
            </a:solidFill>
            <a:prstDash val="solid"/>
            <a:round/>
            <a:headEnd type="none" w="med" len="med"/>
            <a:tailEnd type="none" w="med" len="med"/>
          </a:ln>
          <a:effectLst/>
        </p:spPr>
      </p:cxnSp>
      <p:cxnSp>
        <p:nvCxnSpPr>
          <p:cNvPr id="132" name="Straight Connector 131"/>
          <p:cNvCxnSpPr/>
          <p:nvPr/>
        </p:nvCxnSpPr>
        <p:spPr bwMode="auto">
          <a:xfrm rot="5400000">
            <a:off x="3204882" y="4966239"/>
            <a:ext cx="2062450" cy="1588"/>
          </a:xfrm>
          <a:prstGeom prst="line">
            <a:avLst/>
          </a:prstGeom>
          <a:noFill/>
          <a:ln w="38100" cap="flat" cmpd="sng" algn="ctr">
            <a:solidFill>
              <a:srgbClr val="000000"/>
            </a:solidFill>
            <a:prstDash val="solid"/>
            <a:round/>
            <a:headEnd type="none" w="med" len="med"/>
            <a:tailEnd type="none" w="med" len="med"/>
          </a:ln>
          <a:effectLst/>
        </p:spPr>
      </p:cxnSp>
      <p:cxnSp>
        <p:nvCxnSpPr>
          <p:cNvPr id="133" name="Straight Connector 132"/>
          <p:cNvCxnSpPr/>
          <p:nvPr/>
        </p:nvCxnSpPr>
        <p:spPr bwMode="auto">
          <a:xfrm>
            <a:off x="4218133" y="5996670"/>
            <a:ext cx="4365482" cy="1588"/>
          </a:xfrm>
          <a:prstGeom prst="line">
            <a:avLst/>
          </a:prstGeom>
          <a:noFill/>
          <a:ln w="38100" cap="flat" cmpd="sng" algn="ctr">
            <a:solidFill>
              <a:srgbClr val="000000"/>
            </a:solidFill>
            <a:prstDash val="solid"/>
            <a:round/>
            <a:headEnd type="none" w="med" len="med"/>
            <a:tailEnd type="none" w="med" len="med"/>
          </a:ln>
          <a:effectLst/>
        </p:spPr>
      </p:cxnSp>
      <p:sp>
        <p:nvSpPr>
          <p:cNvPr id="36" name="TextBox 35"/>
          <p:cNvSpPr txBox="1"/>
          <p:nvPr/>
        </p:nvSpPr>
        <p:spPr>
          <a:xfrm>
            <a:off x="3431628" y="3481995"/>
            <a:ext cx="5765800" cy="461665"/>
          </a:xfrm>
          <a:prstGeom prst="rect">
            <a:avLst/>
          </a:prstGeom>
          <a:noFill/>
        </p:spPr>
        <p:txBody>
          <a:bodyPr wrap="square" rtlCol="0">
            <a:spAutoFit/>
          </a:bodyPr>
          <a:lstStyle/>
          <a:p>
            <a:pPr algn="ctr"/>
            <a:r>
              <a:rPr lang="en-US" sz="2400" dirty="0" smtClean="0">
                <a:solidFill>
                  <a:srgbClr val="005EA7"/>
                </a:solidFill>
              </a:rPr>
              <a:t>Effect of</a:t>
            </a:r>
            <a:r>
              <a:rPr lang="en-US" sz="2400" i="1" dirty="0" smtClean="0">
                <a:solidFill>
                  <a:srgbClr val="005EA7"/>
                </a:solidFill>
              </a:rPr>
              <a:t> thermal capacitance</a:t>
            </a:r>
            <a:endParaRPr lang="en-US" sz="2400" dirty="0" smtClean="0">
              <a:solidFill>
                <a:srgbClr val="005EA7"/>
              </a:solidFill>
            </a:endParaRPr>
          </a:p>
        </p:txBody>
      </p:sp>
      <p:sp>
        <p:nvSpPr>
          <p:cNvPr id="37" name="Rectangle 36"/>
          <p:cNvSpPr/>
          <p:nvPr/>
        </p:nvSpPr>
        <p:spPr bwMode="auto">
          <a:xfrm>
            <a:off x="4524047" y="4011830"/>
            <a:ext cx="674639" cy="1984840"/>
          </a:xfrm>
          <a:prstGeom prst="rect">
            <a:avLst/>
          </a:prstGeom>
          <a:solidFill>
            <a:schemeClr val="accent6">
              <a:alpha val="54000"/>
            </a:schemeClr>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xit" presetSubtype="8" fill="hold" grpId="0" nodeType="withEffect">
                                  <p:stCondLst>
                                    <p:cond delay="0"/>
                                  </p:stCondLst>
                                  <p:childTnLst>
                                    <p:animEffect transition="out" filter="wipe(left)">
                                      <p:cBhvr>
                                        <p:cTn id="6" dur="500"/>
                                        <p:tgtEl>
                                          <p:spTgt spid="47"/>
                                        </p:tgtEl>
                                      </p:cBhvr>
                                    </p:animEffect>
                                    <p:set>
                                      <p:cBhvr>
                                        <p:cTn id="7" dur="1" fill="hold">
                                          <p:stCondLst>
                                            <p:cond delay="499"/>
                                          </p:stCondLst>
                                        </p:cTn>
                                        <p:tgtEl>
                                          <p:spTgt spid="47"/>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
                                        <p:tgtEl>
                                          <p:spTgt spid="84"/>
                                        </p:tgtEl>
                                      </p:cBhvr>
                                    </p:animEffect>
                                    <p:set>
                                      <p:cBhvr>
                                        <p:cTn id="10" dur="1" fill="hold">
                                          <p:stCondLst>
                                            <p:cond delay="499"/>
                                          </p:stCondLst>
                                        </p:cTn>
                                        <p:tgtEl>
                                          <p:spTgt spid="84"/>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26"/>
                                        </p:tgtEl>
                                      </p:cBhvr>
                                    </p:animEffect>
                                    <p:set>
                                      <p:cBhvr>
                                        <p:cTn id="13" dur="1" fill="hold">
                                          <p:stCondLst>
                                            <p:cond delay="499"/>
                                          </p:stCondLst>
                                        </p:cTn>
                                        <p:tgtEl>
                                          <p:spTgt spid="126"/>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92"/>
                                        </p:tgtEl>
                                        <p:attrNameLst>
                                          <p:attrName>style.visibility</p:attrName>
                                        </p:attrNameLst>
                                      </p:cBhvr>
                                      <p:to>
                                        <p:strVal val="visible"/>
                                      </p:to>
                                    </p:set>
                                    <p:animEffect transition="in" filter="fade">
                                      <p:cBhvr>
                                        <p:cTn id="16"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47" grpId="0" animBg="1"/>
      <p:bldP spid="92" grpId="0" animBg="1"/>
    </p:bld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39" name="Chart 38"/>
          <p:cNvGraphicFramePr/>
          <p:nvPr/>
        </p:nvGraphicFramePr>
        <p:xfrm>
          <a:off x="4108450" y="3786384"/>
          <a:ext cx="4572000" cy="236129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0" name="Chart 39"/>
          <p:cNvGraphicFramePr/>
          <p:nvPr/>
        </p:nvGraphicFramePr>
        <p:xfrm>
          <a:off x="4051299" y="1003156"/>
          <a:ext cx="4572000" cy="2140094"/>
        </p:xfrm>
        <a:graphic>
          <a:graphicData uri="http://schemas.openxmlformats.org/drawingml/2006/chart">
            <c:chart xmlns:c="http://schemas.openxmlformats.org/drawingml/2006/chart" xmlns:r="http://schemas.openxmlformats.org/officeDocument/2006/relationships" r:id="rId4"/>
          </a:graphicData>
        </a:graphic>
      </p:graphicFrame>
      <p:sp>
        <p:nvSpPr>
          <p:cNvPr id="2" name="Title 1"/>
          <p:cNvSpPr>
            <a:spLocks noGrp="1"/>
          </p:cNvSpPr>
          <p:nvPr>
            <p:ph type="title"/>
          </p:nvPr>
        </p:nvSpPr>
        <p:spPr/>
        <p:txBody>
          <a:bodyPr/>
          <a:lstStyle/>
          <a:p>
            <a:r>
              <a:rPr lang="en-US" dirty="0" smtClean="0"/>
              <a:t>Parallel Computational Sprinting</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19</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
        <p:nvSpPr>
          <p:cNvPr id="52" name="TextBox 51"/>
          <p:cNvSpPr txBox="1"/>
          <p:nvPr/>
        </p:nvSpPr>
        <p:spPr>
          <a:xfrm>
            <a:off x="3574531" y="3628336"/>
            <a:ext cx="760294" cy="461665"/>
          </a:xfrm>
          <a:prstGeom prst="rect">
            <a:avLst/>
          </a:prstGeom>
          <a:noFill/>
        </p:spPr>
        <p:txBody>
          <a:bodyPr wrap="square" rtlCol="0">
            <a:spAutoFit/>
          </a:bodyPr>
          <a:lstStyle/>
          <a:p>
            <a:r>
              <a:rPr lang="en-US" sz="2400" dirty="0" smtClean="0"/>
              <a:t>T</a:t>
            </a:r>
            <a:r>
              <a:rPr lang="en-US" sz="2400" baseline="-25000" dirty="0" smtClean="0"/>
              <a:t>max</a:t>
            </a:r>
            <a:endParaRPr lang="en-US" sz="2400" dirty="0"/>
          </a:p>
        </p:txBody>
      </p:sp>
      <p:cxnSp>
        <p:nvCxnSpPr>
          <p:cNvPr id="53" name="Straight Connector 52"/>
          <p:cNvCxnSpPr/>
          <p:nvPr/>
        </p:nvCxnSpPr>
        <p:spPr bwMode="auto">
          <a:xfrm>
            <a:off x="4257817" y="4132600"/>
            <a:ext cx="4422633" cy="1588"/>
          </a:xfrm>
          <a:prstGeom prst="line">
            <a:avLst/>
          </a:prstGeom>
          <a:noFill/>
          <a:ln w="38100" cap="flat" cmpd="sng" algn="ctr">
            <a:solidFill>
              <a:srgbClr val="FF0000"/>
            </a:solidFill>
            <a:prstDash val="solid"/>
            <a:round/>
            <a:headEnd type="none" w="med" len="med"/>
            <a:tailEnd type="none" w="med" len="med"/>
          </a:ln>
          <a:effectLst/>
        </p:spPr>
      </p:cxnSp>
      <p:grpSp>
        <p:nvGrpSpPr>
          <p:cNvPr id="70" name="Group 69"/>
          <p:cNvGrpSpPr/>
          <p:nvPr/>
        </p:nvGrpSpPr>
        <p:grpSpPr>
          <a:xfrm>
            <a:off x="457200" y="1001576"/>
            <a:ext cx="2378011" cy="2375580"/>
            <a:chOff x="723166" y="4403888"/>
            <a:chExt cx="2378011" cy="2375580"/>
          </a:xfrm>
        </p:grpSpPr>
        <p:sp>
          <p:nvSpPr>
            <p:cNvPr id="71" name="Rectangle 70"/>
            <p:cNvSpPr/>
            <p:nvPr/>
          </p:nvSpPr>
          <p:spPr bwMode="auto">
            <a:xfrm>
              <a:off x="1336237" y="440388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2" name="Rectangle 71"/>
            <p:cNvSpPr/>
            <p:nvPr/>
          </p:nvSpPr>
          <p:spPr bwMode="auto">
            <a:xfrm>
              <a:off x="1949308" y="440388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3" name="Rectangle 72"/>
            <p:cNvSpPr/>
            <p:nvPr/>
          </p:nvSpPr>
          <p:spPr bwMode="auto">
            <a:xfrm>
              <a:off x="2561681" y="440388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4" name="Rectangle 73"/>
            <p:cNvSpPr/>
            <p:nvPr/>
          </p:nvSpPr>
          <p:spPr bwMode="auto">
            <a:xfrm>
              <a:off x="1336237" y="6239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5" name="Rectangle 74"/>
            <p:cNvSpPr/>
            <p:nvPr/>
          </p:nvSpPr>
          <p:spPr bwMode="auto">
            <a:xfrm>
              <a:off x="1949308" y="6239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6" name="Rectangle 75"/>
            <p:cNvSpPr/>
            <p:nvPr/>
          </p:nvSpPr>
          <p:spPr bwMode="auto">
            <a:xfrm>
              <a:off x="2561681" y="6239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7" name="Rectangle 76"/>
            <p:cNvSpPr/>
            <p:nvPr/>
          </p:nvSpPr>
          <p:spPr bwMode="auto">
            <a:xfrm>
              <a:off x="723864" y="6239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8" name="Rectangle 77"/>
            <p:cNvSpPr/>
            <p:nvPr/>
          </p:nvSpPr>
          <p:spPr bwMode="auto">
            <a:xfrm>
              <a:off x="1335539" y="5629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9" name="Rectangle 78"/>
            <p:cNvSpPr/>
            <p:nvPr/>
          </p:nvSpPr>
          <p:spPr bwMode="auto">
            <a:xfrm>
              <a:off x="1948610" y="5629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1" name="Rectangle 80"/>
            <p:cNvSpPr/>
            <p:nvPr/>
          </p:nvSpPr>
          <p:spPr bwMode="auto">
            <a:xfrm>
              <a:off x="2560983" y="5629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2" name="Rectangle 81"/>
            <p:cNvSpPr/>
            <p:nvPr/>
          </p:nvSpPr>
          <p:spPr bwMode="auto">
            <a:xfrm>
              <a:off x="723166" y="5629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3" name="Rectangle 82"/>
            <p:cNvSpPr/>
            <p:nvPr/>
          </p:nvSpPr>
          <p:spPr bwMode="auto">
            <a:xfrm>
              <a:off x="1336237" y="5013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4" name="Rectangle 83"/>
            <p:cNvSpPr/>
            <p:nvPr/>
          </p:nvSpPr>
          <p:spPr bwMode="auto">
            <a:xfrm>
              <a:off x="1949308" y="5013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5" name="Rectangle 84"/>
            <p:cNvSpPr/>
            <p:nvPr/>
          </p:nvSpPr>
          <p:spPr bwMode="auto">
            <a:xfrm>
              <a:off x="2561681" y="5013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6" name="Rectangle 85"/>
            <p:cNvSpPr/>
            <p:nvPr/>
          </p:nvSpPr>
          <p:spPr bwMode="auto">
            <a:xfrm>
              <a:off x="723864" y="5013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pic>
        <p:nvPicPr>
          <p:cNvPr id="87" name="Picture 86"/>
          <p:cNvPicPr>
            <a:picLocks/>
          </p:cNvPicPr>
          <p:nvPr/>
        </p:nvPicPr>
        <p:blipFill>
          <a:blip r:embed="rId5"/>
          <a:stretch>
            <a:fillRect/>
          </a:stretch>
        </p:blipFill>
        <p:spPr>
          <a:xfrm>
            <a:off x="452252" y="1002248"/>
            <a:ext cx="540747" cy="538824"/>
          </a:xfrm>
          <a:prstGeom prst="rect">
            <a:avLst/>
          </a:prstGeom>
        </p:spPr>
      </p:pic>
      <p:sp>
        <p:nvSpPr>
          <p:cNvPr id="119" name="Rectangle 118"/>
          <p:cNvSpPr/>
          <p:nvPr/>
        </p:nvSpPr>
        <p:spPr bwMode="auto">
          <a:xfrm>
            <a:off x="364604" y="913428"/>
            <a:ext cx="2560320" cy="2560320"/>
          </a:xfrm>
          <a:prstGeom prst="rect">
            <a:avLst/>
          </a:prstGeom>
          <a:noFill/>
          <a:ln w="76200" cap="flat" cmpd="sng" algn="ctr">
            <a:solidFill>
              <a:srgbClr val="78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0" name="Rectangle 119"/>
          <p:cNvSpPr/>
          <p:nvPr/>
        </p:nvSpPr>
        <p:spPr bwMode="auto">
          <a:xfrm>
            <a:off x="454814"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22" name="TextBox 121"/>
          <p:cNvSpPr txBox="1"/>
          <p:nvPr/>
        </p:nvSpPr>
        <p:spPr>
          <a:xfrm rot="16200000">
            <a:off x="3353985" y="1749189"/>
            <a:ext cx="1142372" cy="369332"/>
          </a:xfrm>
          <a:prstGeom prst="rect">
            <a:avLst/>
          </a:prstGeom>
          <a:noFill/>
        </p:spPr>
        <p:txBody>
          <a:bodyPr wrap="square" rtlCol="0">
            <a:spAutoFit/>
          </a:bodyPr>
          <a:lstStyle/>
          <a:p>
            <a:r>
              <a:rPr lang="en-US" b="1" dirty="0" smtClean="0"/>
              <a:t>power</a:t>
            </a:r>
            <a:endParaRPr lang="en-US" b="1" dirty="0"/>
          </a:p>
        </p:txBody>
      </p:sp>
      <p:sp>
        <p:nvSpPr>
          <p:cNvPr id="123" name="TextBox 122"/>
          <p:cNvSpPr txBox="1"/>
          <p:nvPr/>
        </p:nvSpPr>
        <p:spPr>
          <a:xfrm rot="16200000">
            <a:off x="3165757" y="4870335"/>
            <a:ext cx="1518828" cy="369332"/>
          </a:xfrm>
          <a:prstGeom prst="rect">
            <a:avLst/>
          </a:prstGeom>
          <a:noFill/>
        </p:spPr>
        <p:txBody>
          <a:bodyPr wrap="none" rtlCol="0">
            <a:spAutoFit/>
          </a:bodyPr>
          <a:lstStyle/>
          <a:p>
            <a:r>
              <a:rPr lang="en-US" b="1" dirty="0" smtClean="0"/>
              <a:t>temperature</a:t>
            </a:r>
            <a:endParaRPr lang="en-US" b="1" dirty="0"/>
          </a:p>
        </p:txBody>
      </p:sp>
      <p:cxnSp>
        <p:nvCxnSpPr>
          <p:cNvPr id="124" name="Straight Connector 123"/>
          <p:cNvCxnSpPr/>
          <p:nvPr/>
        </p:nvCxnSpPr>
        <p:spPr bwMode="auto">
          <a:xfrm rot="5400000">
            <a:off x="3172002" y="1981461"/>
            <a:ext cx="2062450" cy="1588"/>
          </a:xfrm>
          <a:prstGeom prst="line">
            <a:avLst/>
          </a:prstGeom>
          <a:noFill/>
          <a:ln w="38100" cap="flat" cmpd="sng" algn="ctr">
            <a:solidFill>
              <a:srgbClr val="000000"/>
            </a:solidFill>
            <a:prstDash val="solid"/>
            <a:round/>
            <a:headEnd type="none" w="med" len="med"/>
            <a:tailEnd type="none" w="med" len="med"/>
          </a:ln>
          <a:effectLst/>
        </p:spPr>
      </p:cxnSp>
      <p:cxnSp>
        <p:nvCxnSpPr>
          <p:cNvPr id="125" name="Straight Connector 124"/>
          <p:cNvCxnSpPr/>
          <p:nvPr/>
        </p:nvCxnSpPr>
        <p:spPr bwMode="auto">
          <a:xfrm>
            <a:off x="4185253" y="3011892"/>
            <a:ext cx="4365482" cy="1588"/>
          </a:xfrm>
          <a:prstGeom prst="line">
            <a:avLst/>
          </a:prstGeom>
          <a:noFill/>
          <a:ln w="38100" cap="flat" cmpd="sng" algn="ctr">
            <a:solidFill>
              <a:srgbClr val="000000"/>
            </a:solidFill>
            <a:prstDash val="solid"/>
            <a:round/>
            <a:headEnd type="none" w="med" len="med"/>
            <a:tailEnd type="none" w="med" len="med"/>
          </a:ln>
          <a:effectLst/>
        </p:spPr>
      </p:cxnSp>
      <p:cxnSp>
        <p:nvCxnSpPr>
          <p:cNvPr id="126" name="Straight Connector 125"/>
          <p:cNvCxnSpPr/>
          <p:nvPr/>
        </p:nvCxnSpPr>
        <p:spPr bwMode="auto">
          <a:xfrm rot="5400000">
            <a:off x="3204882" y="4966239"/>
            <a:ext cx="2062450" cy="1588"/>
          </a:xfrm>
          <a:prstGeom prst="line">
            <a:avLst/>
          </a:prstGeom>
          <a:noFill/>
          <a:ln w="38100" cap="flat" cmpd="sng" algn="ctr">
            <a:solidFill>
              <a:srgbClr val="000000"/>
            </a:solidFill>
            <a:prstDash val="solid"/>
            <a:round/>
            <a:headEnd type="none" w="med" len="med"/>
            <a:tailEnd type="none" w="med" len="med"/>
          </a:ln>
          <a:effectLst/>
        </p:spPr>
      </p:cxnSp>
      <p:cxnSp>
        <p:nvCxnSpPr>
          <p:cNvPr id="127" name="Straight Connector 126"/>
          <p:cNvCxnSpPr/>
          <p:nvPr/>
        </p:nvCxnSpPr>
        <p:spPr bwMode="auto">
          <a:xfrm>
            <a:off x="4218133" y="5996670"/>
            <a:ext cx="4365482" cy="1588"/>
          </a:xfrm>
          <a:prstGeom prst="line">
            <a:avLst/>
          </a:prstGeom>
          <a:noFill/>
          <a:ln w="38100" cap="flat" cmpd="sng" algn="ctr">
            <a:solidFill>
              <a:srgbClr val="000000"/>
            </a:solidFill>
            <a:prstDash val="solid"/>
            <a:round/>
            <a:headEnd type="none" w="med" len="med"/>
            <a:tailEnd type="none" w="med" len="med"/>
          </a:ln>
          <a:effectLst/>
        </p:spPr>
      </p:cxnSp>
      <p:sp>
        <p:nvSpPr>
          <p:cNvPr id="36" name="TextBox 35"/>
          <p:cNvSpPr txBox="1"/>
          <p:nvPr/>
        </p:nvSpPr>
        <p:spPr>
          <a:xfrm>
            <a:off x="3431628" y="3481995"/>
            <a:ext cx="5765800" cy="461665"/>
          </a:xfrm>
          <a:prstGeom prst="rect">
            <a:avLst/>
          </a:prstGeom>
          <a:noFill/>
        </p:spPr>
        <p:txBody>
          <a:bodyPr wrap="square" rtlCol="0">
            <a:spAutoFit/>
          </a:bodyPr>
          <a:lstStyle/>
          <a:p>
            <a:pPr algn="ctr"/>
            <a:r>
              <a:rPr lang="en-US" sz="2400" dirty="0" smtClean="0">
                <a:solidFill>
                  <a:srgbClr val="005EA7"/>
                </a:solidFill>
              </a:rPr>
              <a:t>Effect of</a:t>
            </a:r>
            <a:r>
              <a:rPr lang="en-US" sz="2400" i="1" dirty="0" smtClean="0">
                <a:solidFill>
                  <a:srgbClr val="005EA7"/>
                </a:solidFill>
              </a:rPr>
              <a:t> thermal capacitance</a:t>
            </a:r>
            <a:endParaRPr lang="en-US" sz="2400" dirty="0" smtClean="0">
              <a:solidFill>
                <a:srgbClr val="005EA7"/>
              </a:solidFill>
            </a:endParaRPr>
          </a:p>
        </p:txBody>
      </p:sp>
      <p:sp>
        <p:nvSpPr>
          <p:cNvPr id="37" name="Rectangle 36"/>
          <p:cNvSpPr/>
          <p:nvPr/>
        </p:nvSpPr>
        <p:spPr bwMode="auto">
          <a:xfrm>
            <a:off x="4524047" y="4011830"/>
            <a:ext cx="674639" cy="1984840"/>
          </a:xfrm>
          <a:prstGeom prst="rect">
            <a:avLst/>
          </a:prstGeom>
          <a:solidFill>
            <a:schemeClr val="accent6">
              <a:alpha val="54000"/>
            </a:schemeClr>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sp>
        <p:nvSpPr>
          <p:cNvPr id="38" name="TextBox 37"/>
          <p:cNvSpPr txBox="1"/>
          <p:nvPr/>
        </p:nvSpPr>
        <p:spPr>
          <a:xfrm>
            <a:off x="464680" y="3781501"/>
            <a:ext cx="2935272" cy="2677656"/>
          </a:xfrm>
          <a:prstGeom prst="rect">
            <a:avLst/>
          </a:prstGeom>
          <a:noFill/>
        </p:spPr>
        <p:txBody>
          <a:bodyPr wrap="square" rtlCol="0">
            <a:spAutoFit/>
          </a:bodyPr>
          <a:lstStyle/>
          <a:p>
            <a:pPr algn="ctr"/>
            <a:r>
              <a:rPr lang="en-US" sz="2400" dirty="0" smtClean="0">
                <a:solidFill>
                  <a:srgbClr val="005EA7"/>
                </a:solidFill>
              </a:rPr>
              <a:t>State of the art:</a:t>
            </a:r>
          </a:p>
          <a:p>
            <a:pPr algn="ctr"/>
            <a:r>
              <a:rPr lang="en-US" sz="2400" dirty="0" smtClean="0">
                <a:solidFill>
                  <a:srgbClr val="005EA7"/>
                </a:solidFill>
              </a:rPr>
              <a:t>Turbo Boost 2.0 exceeds sustainable power with DVFS</a:t>
            </a:r>
            <a:br>
              <a:rPr lang="en-US" sz="2400" dirty="0" smtClean="0">
                <a:solidFill>
                  <a:srgbClr val="005EA7"/>
                </a:solidFill>
              </a:rPr>
            </a:br>
            <a:r>
              <a:rPr lang="en-US" sz="2400" dirty="0" smtClean="0">
                <a:solidFill>
                  <a:srgbClr val="005EA7"/>
                </a:solidFill>
              </a:rPr>
              <a:t> (~25% for 25s)</a:t>
            </a:r>
          </a:p>
          <a:p>
            <a:pPr algn="ctr"/>
            <a:r>
              <a:rPr lang="en-US" sz="2400" dirty="0" smtClean="0">
                <a:solidFill>
                  <a:srgbClr val="005EA7"/>
                </a:solidFill>
              </a:rPr>
              <a:t>Our goal: 10x, ~1s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Extending Sprint Intensity &amp; Duration: </a:t>
            </a:r>
            <a:br>
              <a:rPr lang="en-US" dirty="0" smtClean="0"/>
            </a:br>
            <a:r>
              <a:rPr lang="en-US" dirty="0" smtClean="0"/>
              <a:t>Role of Thermal Capacitance</a:t>
            </a:r>
            <a:endParaRPr lang="en-US" dirty="0"/>
          </a:p>
        </p:txBody>
      </p:sp>
      <p:sp>
        <p:nvSpPr>
          <p:cNvPr id="55" name="Content Placeholder 2"/>
          <p:cNvSpPr>
            <a:spLocks noGrp="1"/>
          </p:cNvSpPr>
          <p:nvPr>
            <p:ph idx="1"/>
          </p:nvPr>
        </p:nvSpPr>
        <p:spPr>
          <a:xfrm>
            <a:off x="457199" y="1164223"/>
            <a:ext cx="5685221" cy="5131974"/>
          </a:xfrm>
        </p:spPr>
        <p:txBody>
          <a:bodyPr>
            <a:normAutofit/>
          </a:bodyPr>
          <a:lstStyle/>
          <a:p>
            <a:pPr>
              <a:spcBef>
                <a:spcPts val="576"/>
              </a:spcBef>
            </a:pPr>
            <a:r>
              <a:rPr lang="en-US" dirty="0" smtClean="0"/>
              <a:t>Current systems designed for thermal </a:t>
            </a:r>
            <a:r>
              <a:rPr lang="en-US" b="1" i="1" dirty="0" smtClean="0">
                <a:solidFill>
                  <a:srgbClr val="005EA7"/>
                </a:solidFill>
              </a:rPr>
              <a:t>conductivity</a:t>
            </a:r>
          </a:p>
          <a:p>
            <a:pPr lvl="1">
              <a:spcBef>
                <a:spcPts val="576"/>
              </a:spcBef>
            </a:pPr>
            <a:r>
              <a:rPr lang="en-US" dirty="0" smtClean="0"/>
              <a:t>Limited capacitance close to die</a:t>
            </a:r>
          </a:p>
          <a:p>
            <a:pPr lvl="1">
              <a:spcBef>
                <a:spcPts val="576"/>
              </a:spcBef>
            </a:pPr>
            <a:endParaRPr lang="en-US" dirty="0" smtClean="0"/>
          </a:p>
          <a:p>
            <a:pPr lvl="1">
              <a:spcBef>
                <a:spcPts val="576"/>
              </a:spcBef>
              <a:buNone/>
            </a:pPr>
            <a:r>
              <a:rPr lang="en-US" dirty="0" smtClean="0"/>
              <a:t> </a:t>
            </a:r>
          </a:p>
          <a:p>
            <a:pPr>
              <a:spcBef>
                <a:spcPts val="576"/>
              </a:spcBef>
            </a:pPr>
            <a:r>
              <a:rPr lang="en-US" dirty="0" smtClean="0"/>
              <a:t>To explicitly design for sprinting,</a:t>
            </a:r>
            <a:br>
              <a:rPr lang="en-US" dirty="0" smtClean="0"/>
            </a:br>
            <a:r>
              <a:rPr lang="en-US" dirty="0" smtClean="0"/>
              <a:t>add thermal</a:t>
            </a:r>
            <a:r>
              <a:rPr lang="en-US" dirty="0" smtClean="0">
                <a:solidFill>
                  <a:srgbClr val="FF0000"/>
                </a:solidFill>
              </a:rPr>
              <a:t> </a:t>
            </a:r>
            <a:r>
              <a:rPr lang="en-US" b="1" i="1" dirty="0" smtClean="0">
                <a:solidFill>
                  <a:srgbClr val="005EA7"/>
                </a:solidFill>
              </a:rPr>
              <a:t>capacitance </a:t>
            </a:r>
            <a:r>
              <a:rPr lang="en-US" dirty="0" smtClean="0">
                <a:solidFill>
                  <a:srgbClr val="000000"/>
                </a:solidFill>
              </a:rPr>
              <a:t>near die</a:t>
            </a:r>
            <a:endParaRPr lang="en-US" i="1" dirty="0" smtClean="0">
              <a:solidFill>
                <a:srgbClr val="FF0000"/>
              </a:solidFill>
            </a:endParaRPr>
          </a:p>
          <a:p>
            <a:pPr lvl="1">
              <a:spcBef>
                <a:spcPts val="576"/>
              </a:spcBef>
            </a:pPr>
            <a:r>
              <a:rPr lang="en-US" dirty="0" smtClean="0"/>
              <a:t>Exploit latent heat from </a:t>
            </a:r>
            <a:br>
              <a:rPr lang="en-US" dirty="0" smtClean="0"/>
            </a:br>
            <a:r>
              <a:rPr lang="en-US" dirty="0" smtClean="0"/>
              <a:t>phase change material (PCM)</a:t>
            </a:r>
          </a:p>
          <a:p>
            <a:pPr>
              <a:spcBef>
                <a:spcPts val="576"/>
              </a:spcBef>
              <a:buNone/>
            </a:pPr>
            <a:r>
              <a:rPr lang="en-US" sz="1600" b="1" dirty="0" smtClean="0"/>
              <a:t>    	</a:t>
            </a:r>
            <a:endParaRPr lang="en-US" dirty="0" smtClean="0"/>
          </a:p>
        </p:txBody>
      </p:sp>
      <p:sp>
        <p:nvSpPr>
          <p:cNvPr id="4" name="Slide Number Placeholder 3"/>
          <p:cNvSpPr>
            <a:spLocks noGrp="1"/>
          </p:cNvSpPr>
          <p:nvPr>
            <p:ph type="sldNum" sz="quarter" idx="10"/>
          </p:nvPr>
        </p:nvSpPr>
        <p:spPr/>
        <p:txBody>
          <a:bodyPr/>
          <a:lstStyle/>
          <a:p>
            <a:fld id="{FDA0CC57-CE7D-8143-BD13-67094D272EE6}" type="slidenum">
              <a:rPr lang="en-US" smtClean="0"/>
              <a:pPr/>
              <a:t>20</a:t>
            </a:fld>
            <a:endParaRPr lang="en-US"/>
          </a:p>
        </p:txBody>
      </p:sp>
      <p:sp>
        <p:nvSpPr>
          <p:cNvPr id="5" name="Footer Placeholder 4"/>
          <p:cNvSpPr>
            <a:spLocks noGrp="1"/>
          </p:cNvSpPr>
          <p:nvPr>
            <p:ph type="ftr" sz="quarter" idx="11"/>
          </p:nvPr>
        </p:nvSpPr>
        <p:spPr/>
        <p:txBody>
          <a:bodyPr/>
          <a:lstStyle/>
          <a:p>
            <a:r>
              <a:rPr lang="en-US" dirty="0" smtClean="0"/>
              <a:t>Computational Sprinting</a:t>
            </a:r>
            <a:endParaRPr lang="en-US" dirty="0"/>
          </a:p>
        </p:txBody>
      </p:sp>
      <p:grpSp>
        <p:nvGrpSpPr>
          <p:cNvPr id="47" name="Group 46"/>
          <p:cNvGrpSpPr/>
          <p:nvPr/>
        </p:nvGrpSpPr>
        <p:grpSpPr>
          <a:xfrm>
            <a:off x="6016214" y="1356328"/>
            <a:ext cx="2571411" cy="1337058"/>
            <a:chOff x="1079842" y="2031268"/>
            <a:chExt cx="2571411" cy="1337058"/>
          </a:xfrm>
        </p:grpSpPr>
        <p:sp>
          <p:nvSpPr>
            <p:cNvPr id="11" name="Rectangle 10"/>
            <p:cNvSpPr/>
            <p:nvPr/>
          </p:nvSpPr>
          <p:spPr bwMode="auto">
            <a:xfrm>
              <a:off x="1425756" y="2529956"/>
              <a:ext cx="1990704" cy="838370"/>
            </a:xfrm>
            <a:prstGeom prst="rec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sp>
          <p:nvSpPr>
            <p:cNvPr id="16" name="Rectangle 15"/>
            <p:cNvSpPr/>
            <p:nvPr/>
          </p:nvSpPr>
          <p:spPr bwMode="auto">
            <a:xfrm>
              <a:off x="1971075" y="2529955"/>
              <a:ext cx="900066" cy="626010"/>
            </a:xfrm>
            <a:prstGeom prst="rect">
              <a:avLst/>
            </a:prstGeom>
            <a:solidFill>
              <a:schemeClr val="tx1">
                <a:lumMod val="65000"/>
                <a:lumOff val="35000"/>
              </a:scheme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accent3"/>
                  </a:solidFill>
                  <a:effectLst/>
                  <a:latin typeface="Arial" charset="0"/>
                  <a:ea typeface="ＭＳ Ｐゴシック" pitchFamily="32" charset="-128"/>
                </a:rPr>
                <a:t>Die</a:t>
              </a:r>
            </a:p>
          </p:txBody>
        </p:sp>
        <p:cxnSp>
          <p:nvCxnSpPr>
            <p:cNvPr id="61" name="Straight Connector 60"/>
            <p:cNvCxnSpPr/>
            <p:nvPr/>
          </p:nvCxnSpPr>
          <p:spPr bwMode="auto">
            <a:xfrm flipV="1">
              <a:off x="1079842" y="2529955"/>
              <a:ext cx="2571409" cy="3"/>
            </a:xfrm>
            <a:prstGeom prst="line">
              <a:avLst/>
            </a:prstGeom>
            <a:noFill/>
            <a:ln w="38100" cap="flat" cmpd="sng" algn="ctr">
              <a:solidFill>
                <a:schemeClr val="tx1"/>
              </a:solidFill>
              <a:prstDash val="solid"/>
              <a:round/>
              <a:headEnd type="none" w="med" len="med"/>
              <a:tailEnd type="none" w="med" len="med"/>
            </a:ln>
            <a:effectLst/>
          </p:spPr>
        </p:cxnSp>
        <p:grpSp>
          <p:nvGrpSpPr>
            <p:cNvPr id="71" name="Group 70"/>
            <p:cNvGrpSpPr/>
            <p:nvPr/>
          </p:nvGrpSpPr>
          <p:grpSpPr>
            <a:xfrm>
              <a:off x="1094924" y="2048610"/>
              <a:ext cx="123035" cy="482139"/>
              <a:chOff x="1063174" y="2048610"/>
              <a:chExt cx="123035" cy="482139"/>
            </a:xfrm>
          </p:grpSpPr>
          <p:cxnSp>
            <p:nvCxnSpPr>
              <p:cNvPr id="63" name="Straight Connector 62"/>
              <p:cNvCxnSpPr/>
              <p:nvPr/>
            </p:nvCxnSpPr>
            <p:spPr bwMode="auto">
              <a:xfrm rot="5400000" flipH="1" flipV="1">
                <a:off x="822898" y="2288886"/>
                <a:ext cx="482139" cy="1588"/>
              </a:xfrm>
              <a:prstGeom prst="line">
                <a:avLst/>
              </a:prstGeom>
              <a:noFill/>
              <a:ln w="38100" cap="flat" cmpd="sng" algn="ctr">
                <a:solidFill>
                  <a:schemeClr val="tx1"/>
                </a:solidFill>
                <a:prstDash val="solid"/>
                <a:round/>
                <a:headEnd type="none" w="med" len="med"/>
                <a:tailEnd type="none" w="med" len="med"/>
              </a:ln>
              <a:effectLst/>
            </p:spPr>
          </p:cxnSp>
          <p:cxnSp>
            <p:nvCxnSpPr>
              <p:cNvPr id="66" name="Straight Connector 65"/>
              <p:cNvCxnSpPr/>
              <p:nvPr/>
            </p:nvCxnSpPr>
            <p:spPr bwMode="auto">
              <a:xfrm rot="5400000" flipH="1" flipV="1">
                <a:off x="988996" y="2245029"/>
                <a:ext cx="392837" cy="1588"/>
              </a:xfrm>
              <a:prstGeom prst="line">
                <a:avLst/>
              </a:prstGeom>
              <a:noFill/>
              <a:ln w="38100" cap="flat" cmpd="sng" algn="ctr">
                <a:solidFill>
                  <a:schemeClr val="tx1"/>
                </a:solidFill>
                <a:prstDash val="solid"/>
                <a:round/>
                <a:headEnd type="none" w="med" len="med"/>
                <a:tailEnd type="none" w="med" len="med"/>
              </a:ln>
              <a:effectLst/>
            </p:spPr>
          </p:cxnSp>
        </p:grpSp>
        <p:grpSp>
          <p:nvGrpSpPr>
            <p:cNvPr id="72" name="Group 71"/>
            <p:cNvGrpSpPr/>
            <p:nvPr/>
          </p:nvGrpSpPr>
          <p:grpSpPr>
            <a:xfrm flipH="1">
              <a:off x="3512340" y="2031268"/>
              <a:ext cx="123035" cy="482139"/>
              <a:chOff x="1063174" y="2048610"/>
              <a:chExt cx="123035" cy="482139"/>
            </a:xfrm>
          </p:grpSpPr>
          <p:cxnSp>
            <p:nvCxnSpPr>
              <p:cNvPr id="73" name="Straight Connector 72"/>
              <p:cNvCxnSpPr/>
              <p:nvPr/>
            </p:nvCxnSpPr>
            <p:spPr bwMode="auto">
              <a:xfrm rot="5400000" flipH="1" flipV="1">
                <a:off x="822898" y="2288886"/>
                <a:ext cx="482139" cy="1588"/>
              </a:xfrm>
              <a:prstGeom prst="line">
                <a:avLst/>
              </a:prstGeom>
              <a:noFill/>
              <a:ln w="38100" cap="flat" cmpd="sng" algn="ctr">
                <a:solidFill>
                  <a:schemeClr val="tx1"/>
                </a:solidFill>
                <a:prstDash val="solid"/>
                <a:round/>
                <a:headEnd type="none" w="med" len="med"/>
                <a:tailEnd type="none" w="med" len="med"/>
              </a:ln>
              <a:effectLst/>
            </p:spPr>
          </p:cxnSp>
          <p:cxnSp>
            <p:nvCxnSpPr>
              <p:cNvPr id="74" name="Straight Connector 73"/>
              <p:cNvCxnSpPr/>
              <p:nvPr/>
            </p:nvCxnSpPr>
            <p:spPr bwMode="auto">
              <a:xfrm rot="5400000" flipH="1" flipV="1">
                <a:off x="988996" y="2245029"/>
                <a:ext cx="392837" cy="1588"/>
              </a:xfrm>
              <a:prstGeom prst="line">
                <a:avLst/>
              </a:prstGeom>
              <a:noFill/>
              <a:ln w="38100" cap="flat" cmpd="sng" algn="ctr">
                <a:solidFill>
                  <a:schemeClr val="tx1"/>
                </a:solidFill>
                <a:prstDash val="solid"/>
                <a:round/>
                <a:headEnd type="none" w="med" len="med"/>
                <a:tailEnd type="none" w="med" len="med"/>
              </a:ln>
              <a:effectLst/>
            </p:spPr>
          </p:cxnSp>
        </p:grpSp>
        <p:cxnSp>
          <p:nvCxnSpPr>
            <p:cNvPr id="76" name="Straight Connector 75"/>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81" name="Straight Connector 80"/>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119" name="Straight Connector 118"/>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nvGrpSpPr>
            <p:cNvPr id="130" name="Group 129"/>
            <p:cNvGrpSpPr/>
            <p:nvPr/>
          </p:nvGrpSpPr>
          <p:grpSpPr>
            <a:xfrm>
              <a:off x="1771831" y="2035039"/>
              <a:ext cx="123036" cy="393630"/>
              <a:chOff x="1425756" y="2035039"/>
              <a:chExt cx="123036" cy="393630"/>
            </a:xfrm>
          </p:grpSpPr>
          <p:cxnSp>
            <p:nvCxnSpPr>
              <p:cNvPr id="131" name="Straight Connector 130"/>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132" name="Straight Connector 131"/>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133" name="Straight Connector 132"/>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grpSp>
          <p:nvGrpSpPr>
            <p:cNvPr id="134" name="Group 133"/>
            <p:cNvGrpSpPr/>
            <p:nvPr/>
          </p:nvGrpSpPr>
          <p:grpSpPr>
            <a:xfrm>
              <a:off x="2117906" y="2035039"/>
              <a:ext cx="123036" cy="393630"/>
              <a:chOff x="1425756" y="2035039"/>
              <a:chExt cx="123036" cy="393630"/>
            </a:xfrm>
          </p:grpSpPr>
          <p:cxnSp>
            <p:nvCxnSpPr>
              <p:cNvPr id="135" name="Straight Connector 134"/>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136" name="Straight Connector 135"/>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137" name="Straight Connector 136"/>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grpSp>
          <p:nvGrpSpPr>
            <p:cNvPr id="138" name="Group 137"/>
            <p:cNvGrpSpPr/>
            <p:nvPr/>
          </p:nvGrpSpPr>
          <p:grpSpPr>
            <a:xfrm>
              <a:off x="2463981" y="2035039"/>
              <a:ext cx="123036" cy="393630"/>
              <a:chOff x="1425756" y="2035039"/>
              <a:chExt cx="123036" cy="393630"/>
            </a:xfrm>
          </p:grpSpPr>
          <p:cxnSp>
            <p:nvCxnSpPr>
              <p:cNvPr id="139" name="Straight Connector 138"/>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140" name="Straight Connector 139"/>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141" name="Straight Connector 140"/>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grpSp>
          <p:nvGrpSpPr>
            <p:cNvPr id="142" name="Group 141"/>
            <p:cNvGrpSpPr/>
            <p:nvPr/>
          </p:nvGrpSpPr>
          <p:grpSpPr>
            <a:xfrm>
              <a:off x="2810056" y="2035039"/>
              <a:ext cx="123036" cy="393630"/>
              <a:chOff x="1425756" y="2035039"/>
              <a:chExt cx="123036" cy="393630"/>
            </a:xfrm>
          </p:grpSpPr>
          <p:cxnSp>
            <p:nvCxnSpPr>
              <p:cNvPr id="143" name="Straight Connector 142"/>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144" name="Straight Connector 143"/>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145" name="Straight Connector 144"/>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grpSp>
          <p:nvGrpSpPr>
            <p:cNvPr id="146" name="Group 145"/>
            <p:cNvGrpSpPr/>
            <p:nvPr/>
          </p:nvGrpSpPr>
          <p:grpSpPr>
            <a:xfrm>
              <a:off x="3156131" y="2035039"/>
              <a:ext cx="123036" cy="393630"/>
              <a:chOff x="1425756" y="2035039"/>
              <a:chExt cx="123036" cy="393630"/>
            </a:xfrm>
          </p:grpSpPr>
          <p:cxnSp>
            <p:nvCxnSpPr>
              <p:cNvPr id="147" name="Straight Connector 146"/>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148" name="Straight Connector 147"/>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149" name="Straight Connector 148"/>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cxnSp>
          <p:nvCxnSpPr>
            <p:cNvPr id="151" name="Straight Connector 150"/>
            <p:cNvCxnSpPr/>
            <p:nvPr/>
          </p:nvCxnSpPr>
          <p:spPr bwMode="auto">
            <a:xfrm>
              <a:off x="1206049" y="2424900"/>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154" name="Straight Connector 153"/>
            <p:cNvCxnSpPr/>
            <p:nvPr/>
          </p:nvCxnSpPr>
          <p:spPr bwMode="auto">
            <a:xfrm>
              <a:off x="1533074" y="2418550"/>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155" name="Straight Connector 154"/>
            <p:cNvCxnSpPr/>
            <p:nvPr/>
          </p:nvCxnSpPr>
          <p:spPr bwMode="auto">
            <a:xfrm>
              <a:off x="1891849" y="2428075"/>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156" name="Straight Connector 155"/>
            <p:cNvCxnSpPr/>
            <p:nvPr/>
          </p:nvCxnSpPr>
          <p:spPr bwMode="auto">
            <a:xfrm>
              <a:off x="2241099" y="2428075"/>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157" name="Straight Connector 156"/>
            <p:cNvCxnSpPr/>
            <p:nvPr/>
          </p:nvCxnSpPr>
          <p:spPr bwMode="auto">
            <a:xfrm>
              <a:off x="2583999" y="2437600"/>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158" name="Straight Connector 157"/>
            <p:cNvCxnSpPr/>
            <p:nvPr/>
          </p:nvCxnSpPr>
          <p:spPr bwMode="auto">
            <a:xfrm>
              <a:off x="2942774" y="2447125"/>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159" name="Straight Connector 158"/>
            <p:cNvCxnSpPr/>
            <p:nvPr/>
          </p:nvCxnSpPr>
          <p:spPr bwMode="auto">
            <a:xfrm>
              <a:off x="3285674" y="2424900"/>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161" name="Straight Connector 160"/>
            <p:cNvCxnSpPr/>
            <p:nvPr/>
          </p:nvCxnSpPr>
          <p:spPr bwMode="auto">
            <a:xfrm rot="10800000">
              <a:off x="1079844" y="2047821"/>
              <a:ext cx="153990" cy="1585"/>
            </a:xfrm>
            <a:prstGeom prst="line">
              <a:avLst/>
            </a:prstGeom>
            <a:noFill/>
            <a:ln w="38100" cap="flat" cmpd="sng" algn="ctr">
              <a:solidFill>
                <a:schemeClr val="tx1"/>
              </a:solidFill>
              <a:prstDash val="solid"/>
              <a:round/>
              <a:headEnd type="none" w="med" len="med"/>
              <a:tailEnd type="none" w="med" len="med"/>
            </a:ln>
            <a:effectLst/>
          </p:spPr>
        </p:cxnSp>
        <p:cxnSp>
          <p:nvCxnSpPr>
            <p:cNvPr id="164" name="Straight Connector 163"/>
            <p:cNvCxnSpPr/>
            <p:nvPr/>
          </p:nvCxnSpPr>
          <p:spPr bwMode="auto">
            <a:xfrm rot="10800000">
              <a:off x="3505381" y="2037923"/>
              <a:ext cx="145872" cy="1588"/>
            </a:xfrm>
            <a:prstGeom prst="line">
              <a:avLst/>
            </a:prstGeom>
            <a:noFill/>
            <a:ln w="38100" cap="flat" cmpd="sng" algn="ctr">
              <a:solidFill>
                <a:schemeClr val="tx1"/>
              </a:solidFill>
              <a:prstDash val="solid"/>
              <a:round/>
              <a:headEnd type="none" w="med" len="med"/>
              <a:tailEnd type="none" w="med" len="med"/>
            </a:ln>
            <a:effectLst/>
          </p:spPr>
        </p:cxnSp>
      </p:grpSp>
      <p:grpSp>
        <p:nvGrpSpPr>
          <p:cNvPr id="48" name="Group 47"/>
          <p:cNvGrpSpPr/>
          <p:nvPr/>
        </p:nvGrpSpPr>
        <p:grpSpPr>
          <a:xfrm>
            <a:off x="6016214" y="3415931"/>
            <a:ext cx="2571411" cy="1683482"/>
            <a:chOff x="1079842" y="2031268"/>
            <a:chExt cx="2571411" cy="1683482"/>
          </a:xfrm>
        </p:grpSpPr>
        <p:sp>
          <p:nvSpPr>
            <p:cNvPr id="49" name="Rectangle 48"/>
            <p:cNvSpPr/>
            <p:nvPr/>
          </p:nvSpPr>
          <p:spPr bwMode="auto">
            <a:xfrm>
              <a:off x="1425756" y="2529956"/>
              <a:ext cx="1990704" cy="1184794"/>
            </a:xfrm>
            <a:prstGeom prst="rec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sp>
          <p:nvSpPr>
            <p:cNvPr id="50" name="Rectangle 49"/>
            <p:cNvSpPr/>
            <p:nvPr/>
          </p:nvSpPr>
          <p:spPr bwMode="auto">
            <a:xfrm>
              <a:off x="1959300" y="2879205"/>
              <a:ext cx="900066" cy="626010"/>
            </a:xfrm>
            <a:prstGeom prst="rect">
              <a:avLst/>
            </a:prstGeom>
            <a:solidFill>
              <a:schemeClr val="tx1">
                <a:lumMod val="65000"/>
                <a:lumOff val="35000"/>
              </a:scheme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accent3"/>
                  </a:solidFill>
                  <a:effectLst/>
                  <a:latin typeface="Arial" charset="0"/>
                  <a:ea typeface="ＭＳ Ｐゴシック" pitchFamily="32" charset="-128"/>
                </a:rPr>
                <a:t>Die</a:t>
              </a:r>
            </a:p>
          </p:txBody>
        </p:sp>
        <p:cxnSp>
          <p:nvCxnSpPr>
            <p:cNvPr id="51" name="Straight Connector 50"/>
            <p:cNvCxnSpPr/>
            <p:nvPr/>
          </p:nvCxnSpPr>
          <p:spPr bwMode="auto">
            <a:xfrm flipV="1">
              <a:off x="1079842" y="2529955"/>
              <a:ext cx="2571409" cy="3"/>
            </a:xfrm>
            <a:prstGeom prst="line">
              <a:avLst/>
            </a:prstGeom>
            <a:noFill/>
            <a:ln w="38100" cap="flat" cmpd="sng" algn="ctr">
              <a:solidFill>
                <a:schemeClr val="tx1"/>
              </a:solidFill>
              <a:prstDash val="solid"/>
              <a:round/>
              <a:headEnd type="none" w="med" len="med"/>
              <a:tailEnd type="none" w="med" len="med"/>
            </a:ln>
            <a:effectLst/>
          </p:spPr>
        </p:cxnSp>
        <p:grpSp>
          <p:nvGrpSpPr>
            <p:cNvPr id="52" name="Group 70"/>
            <p:cNvGrpSpPr/>
            <p:nvPr/>
          </p:nvGrpSpPr>
          <p:grpSpPr>
            <a:xfrm>
              <a:off x="1094924" y="2048610"/>
              <a:ext cx="123035" cy="482139"/>
              <a:chOff x="1063174" y="2048610"/>
              <a:chExt cx="123035" cy="482139"/>
            </a:xfrm>
          </p:grpSpPr>
          <p:cxnSp>
            <p:nvCxnSpPr>
              <p:cNvPr id="100" name="Straight Connector 99"/>
              <p:cNvCxnSpPr/>
              <p:nvPr/>
            </p:nvCxnSpPr>
            <p:spPr bwMode="auto">
              <a:xfrm rot="5400000" flipH="1" flipV="1">
                <a:off x="822898" y="2288886"/>
                <a:ext cx="482139" cy="1588"/>
              </a:xfrm>
              <a:prstGeom prst="line">
                <a:avLst/>
              </a:prstGeom>
              <a:noFill/>
              <a:ln w="38100" cap="flat" cmpd="sng" algn="ctr">
                <a:solidFill>
                  <a:schemeClr val="tx1"/>
                </a:solidFill>
                <a:prstDash val="solid"/>
                <a:round/>
                <a:headEnd type="none" w="med" len="med"/>
                <a:tailEnd type="none" w="med" len="med"/>
              </a:ln>
              <a:effectLst/>
            </p:spPr>
          </p:cxnSp>
          <p:cxnSp>
            <p:nvCxnSpPr>
              <p:cNvPr id="101" name="Straight Connector 100"/>
              <p:cNvCxnSpPr/>
              <p:nvPr/>
            </p:nvCxnSpPr>
            <p:spPr bwMode="auto">
              <a:xfrm rot="5400000" flipH="1" flipV="1">
                <a:off x="988996" y="2245029"/>
                <a:ext cx="392837" cy="1588"/>
              </a:xfrm>
              <a:prstGeom prst="line">
                <a:avLst/>
              </a:prstGeom>
              <a:noFill/>
              <a:ln w="38100" cap="flat" cmpd="sng" algn="ctr">
                <a:solidFill>
                  <a:schemeClr val="tx1"/>
                </a:solidFill>
                <a:prstDash val="solid"/>
                <a:round/>
                <a:headEnd type="none" w="med" len="med"/>
                <a:tailEnd type="none" w="med" len="med"/>
              </a:ln>
              <a:effectLst/>
            </p:spPr>
          </p:cxnSp>
        </p:grpSp>
        <p:grpSp>
          <p:nvGrpSpPr>
            <p:cNvPr id="53" name="Group 71"/>
            <p:cNvGrpSpPr/>
            <p:nvPr/>
          </p:nvGrpSpPr>
          <p:grpSpPr>
            <a:xfrm flipH="1">
              <a:off x="3512340" y="2031268"/>
              <a:ext cx="123035" cy="482139"/>
              <a:chOff x="1063174" y="2048610"/>
              <a:chExt cx="123035" cy="482139"/>
            </a:xfrm>
          </p:grpSpPr>
          <p:cxnSp>
            <p:nvCxnSpPr>
              <p:cNvPr id="98" name="Straight Connector 97"/>
              <p:cNvCxnSpPr/>
              <p:nvPr/>
            </p:nvCxnSpPr>
            <p:spPr bwMode="auto">
              <a:xfrm rot="5400000" flipH="1" flipV="1">
                <a:off x="822898" y="2288886"/>
                <a:ext cx="482139" cy="1588"/>
              </a:xfrm>
              <a:prstGeom prst="line">
                <a:avLst/>
              </a:prstGeom>
              <a:noFill/>
              <a:ln w="38100" cap="flat" cmpd="sng" algn="ctr">
                <a:solidFill>
                  <a:schemeClr val="tx1"/>
                </a:solidFill>
                <a:prstDash val="solid"/>
                <a:round/>
                <a:headEnd type="none" w="med" len="med"/>
                <a:tailEnd type="none" w="med" len="med"/>
              </a:ln>
              <a:effectLst/>
            </p:spPr>
          </p:cxnSp>
          <p:cxnSp>
            <p:nvCxnSpPr>
              <p:cNvPr id="99" name="Straight Connector 98"/>
              <p:cNvCxnSpPr/>
              <p:nvPr/>
            </p:nvCxnSpPr>
            <p:spPr bwMode="auto">
              <a:xfrm rot="5400000" flipH="1" flipV="1">
                <a:off x="988996" y="2245029"/>
                <a:ext cx="392837" cy="1588"/>
              </a:xfrm>
              <a:prstGeom prst="line">
                <a:avLst/>
              </a:prstGeom>
              <a:noFill/>
              <a:ln w="38100" cap="flat" cmpd="sng" algn="ctr">
                <a:solidFill>
                  <a:schemeClr val="tx1"/>
                </a:solidFill>
                <a:prstDash val="solid"/>
                <a:round/>
                <a:headEnd type="none" w="med" len="med"/>
                <a:tailEnd type="none" w="med" len="med"/>
              </a:ln>
              <a:effectLst/>
            </p:spPr>
          </p:cxnSp>
        </p:grpSp>
        <p:cxnSp>
          <p:nvCxnSpPr>
            <p:cNvPr id="54" name="Straight Connector 53"/>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56" name="Straight Connector 55"/>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57" name="Straight Connector 56"/>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nvGrpSpPr>
            <p:cNvPr id="58" name="Group 129"/>
            <p:cNvGrpSpPr/>
            <p:nvPr/>
          </p:nvGrpSpPr>
          <p:grpSpPr>
            <a:xfrm>
              <a:off x="1771831" y="2035039"/>
              <a:ext cx="123036" cy="393630"/>
              <a:chOff x="1425756" y="2035039"/>
              <a:chExt cx="123036" cy="393630"/>
            </a:xfrm>
          </p:grpSpPr>
          <p:cxnSp>
            <p:nvCxnSpPr>
              <p:cNvPr id="95" name="Straight Connector 94"/>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96" name="Straight Connector 95"/>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97" name="Straight Connector 96"/>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grpSp>
          <p:nvGrpSpPr>
            <p:cNvPr id="59" name="Group 133"/>
            <p:cNvGrpSpPr/>
            <p:nvPr/>
          </p:nvGrpSpPr>
          <p:grpSpPr>
            <a:xfrm>
              <a:off x="2117906" y="2035039"/>
              <a:ext cx="123036" cy="393630"/>
              <a:chOff x="1425756" y="2035039"/>
              <a:chExt cx="123036" cy="393630"/>
            </a:xfrm>
          </p:grpSpPr>
          <p:cxnSp>
            <p:nvCxnSpPr>
              <p:cNvPr id="92" name="Straight Connector 91"/>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93" name="Straight Connector 92"/>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94" name="Straight Connector 93"/>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grpSp>
          <p:nvGrpSpPr>
            <p:cNvPr id="60" name="Group 137"/>
            <p:cNvGrpSpPr/>
            <p:nvPr/>
          </p:nvGrpSpPr>
          <p:grpSpPr>
            <a:xfrm>
              <a:off x="2463981" y="2035039"/>
              <a:ext cx="123036" cy="393630"/>
              <a:chOff x="1425756" y="2035039"/>
              <a:chExt cx="123036" cy="393630"/>
            </a:xfrm>
          </p:grpSpPr>
          <p:cxnSp>
            <p:nvCxnSpPr>
              <p:cNvPr id="89" name="Straight Connector 88"/>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90" name="Straight Connector 89"/>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91" name="Straight Connector 90"/>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grpSp>
          <p:nvGrpSpPr>
            <p:cNvPr id="62" name="Group 141"/>
            <p:cNvGrpSpPr/>
            <p:nvPr/>
          </p:nvGrpSpPr>
          <p:grpSpPr>
            <a:xfrm>
              <a:off x="2810056" y="2035039"/>
              <a:ext cx="123036" cy="393630"/>
              <a:chOff x="1425756" y="2035039"/>
              <a:chExt cx="123036" cy="393630"/>
            </a:xfrm>
          </p:grpSpPr>
          <p:cxnSp>
            <p:nvCxnSpPr>
              <p:cNvPr id="86" name="Straight Connector 85"/>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87" name="Straight Connector 86"/>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88" name="Straight Connector 87"/>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grpSp>
          <p:nvGrpSpPr>
            <p:cNvPr id="64" name="Group 145"/>
            <p:cNvGrpSpPr/>
            <p:nvPr/>
          </p:nvGrpSpPr>
          <p:grpSpPr>
            <a:xfrm>
              <a:off x="3156131" y="2035039"/>
              <a:ext cx="123036" cy="393630"/>
              <a:chOff x="1425756" y="2035039"/>
              <a:chExt cx="123036" cy="393630"/>
            </a:xfrm>
          </p:grpSpPr>
          <p:cxnSp>
            <p:nvCxnSpPr>
              <p:cNvPr id="83" name="Straight Connector 82"/>
              <p:cNvCxnSpPr/>
              <p:nvPr/>
            </p:nvCxnSpPr>
            <p:spPr bwMode="auto">
              <a:xfrm rot="5400000" flipH="1" flipV="1">
                <a:off x="1229954" y="2230841"/>
                <a:ext cx="393192" cy="1588"/>
              </a:xfrm>
              <a:prstGeom prst="line">
                <a:avLst/>
              </a:prstGeom>
              <a:noFill/>
              <a:ln w="38100" cap="flat" cmpd="sng" algn="ctr">
                <a:solidFill>
                  <a:schemeClr val="tx1"/>
                </a:solidFill>
                <a:prstDash val="solid"/>
                <a:round/>
                <a:headEnd type="none" w="med" len="med"/>
                <a:tailEnd type="none" w="med" len="med"/>
              </a:ln>
              <a:effectLst/>
            </p:spPr>
          </p:cxnSp>
          <p:cxnSp>
            <p:nvCxnSpPr>
              <p:cNvPr id="84" name="Straight Connector 83"/>
              <p:cNvCxnSpPr/>
              <p:nvPr/>
            </p:nvCxnSpPr>
            <p:spPr bwMode="auto">
              <a:xfrm rot="5400000" flipH="1" flipV="1">
                <a:off x="1351579" y="2231457"/>
                <a:ext cx="392837" cy="1588"/>
              </a:xfrm>
              <a:prstGeom prst="line">
                <a:avLst/>
              </a:prstGeom>
              <a:noFill/>
              <a:ln w="38100" cap="flat" cmpd="sng" algn="ctr">
                <a:solidFill>
                  <a:schemeClr val="tx1"/>
                </a:solidFill>
                <a:prstDash val="solid"/>
                <a:round/>
                <a:headEnd type="none" w="med" len="med"/>
                <a:tailEnd type="none" w="med" len="med"/>
              </a:ln>
              <a:effectLst/>
            </p:spPr>
          </p:cxnSp>
          <p:cxnSp>
            <p:nvCxnSpPr>
              <p:cNvPr id="85" name="Straight Connector 84"/>
              <p:cNvCxnSpPr/>
              <p:nvPr/>
            </p:nvCxnSpPr>
            <p:spPr bwMode="auto">
              <a:xfrm rot="10800000" flipV="1">
                <a:off x="1425757" y="2047820"/>
                <a:ext cx="121451" cy="1584"/>
              </a:xfrm>
              <a:prstGeom prst="line">
                <a:avLst/>
              </a:prstGeom>
              <a:noFill/>
              <a:ln w="38100" cap="flat" cmpd="sng" algn="ctr">
                <a:solidFill>
                  <a:schemeClr val="tx1"/>
                </a:solidFill>
                <a:prstDash val="solid"/>
                <a:round/>
                <a:headEnd type="none" w="med" len="med"/>
                <a:tailEnd type="none" w="med" len="med"/>
              </a:ln>
              <a:effectLst/>
            </p:spPr>
          </p:cxnSp>
        </p:grpSp>
        <p:cxnSp>
          <p:nvCxnSpPr>
            <p:cNvPr id="65" name="Straight Connector 64"/>
            <p:cNvCxnSpPr/>
            <p:nvPr/>
          </p:nvCxnSpPr>
          <p:spPr bwMode="auto">
            <a:xfrm>
              <a:off x="1206049" y="2424900"/>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67" name="Straight Connector 66"/>
            <p:cNvCxnSpPr/>
            <p:nvPr/>
          </p:nvCxnSpPr>
          <p:spPr bwMode="auto">
            <a:xfrm>
              <a:off x="1533074" y="2418550"/>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68" name="Straight Connector 67"/>
            <p:cNvCxnSpPr/>
            <p:nvPr/>
          </p:nvCxnSpPr>
          <p:spPr bwMode="auto">
            <a:xfrm>
              <a:off x="1891849" y="2428075"/>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69" name="Straight Connector 68"/>
            <p:cNvCxnSpPr/>
            <p:nvPr/>
          </p:nvCxnSpPr>
          <p:spPr bwMode="auto">
            <a:xfrm>
              <a:off x="2241099" y="2428075"/>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70" name="Straight Connector 69"/>
            <p:cNvCxnSpPr/>
            <p:nvPr/>
          </p:nvCxnSpPr>
          <p:spPr bwMode="auto">
            <a:xfrm>
              <a:off x="2583999" y="2437600"/>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75" name="Straight Connector 74"/>
            <p:cNvCxnSpPr/>
            <p:nvPr/>
          </p:nvCxnSpPr>
          <p:spPr bwMode="auto">
            <a:xfrm>
              <a:off x="2942774" y="2447125"/>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77" name="Straight Connector 76"/>
            <p:cNvCxnSpPr/>
            <p:nvPr/>
          </p:nvCxnSpPr>
          <p:spPr bwMode="auto">
            <a:xfrm>
              <a:off x="3285674" y="2424900"/>
              <a:ext cx="219707" cy="1"/>
            </a:xfrm>
            <a:prstGeom prst="line">
              <a:avLst/>
            </a:prstGeom>
            <a:noFill/>
            <a:ln w="38100" cap="flat" cmpd="sng" algn="ctr">
              <a:solidFill>
                <a:schemeClr val="tx1"/>
              </a:solidFill>
              <a:prstDash val="solid"/>
              <a:round/>
              <a:headEnd type="none" w="med" len="med"/>
              <a:tailEnd type="none" w="med" len="med"/>
            </a:ln>
            <a:effectLst/>
          </p:spPr>
        </p:cxnSp>
        <p:cxnSp>
          <p:nvCxnSpPr>
            <p:cNvPr id="78" name="Straight Connector 77"/>
            <p:cNvCxnSpPr/>
            <p:nvPr/>
          </p:nvCxnSpPr>
          <p:spPr bwMode="auto">
            <a:xfrm rot="10800000">
              <a:off x="1079844" y="2047821"/>
              <a:ext cx="153990" cy="1585"/>
            </a:xfrm>
            <a:prstGeom prst="line">
              <a:avLst/>
            </a:prstGeom>
            <a:noFill/>
            <a:ln w="38100" cap="flat" cmpd="sng" algn="ctr">
              <a:solidFill>
                <a:schemeClr val="tx1"/>
              </a:solidFill>
              <a:prstDash val="solid"/>
              <a:round/>
              <a:headEnd type="none" w="med" len="med"/>
              <a:tailEnd type="none" w="med" len="med"/>
            </a:ln>
            <a:effectLst/>
          </p:spPr>
        </p:cxnSp>
        <p:cxnSp>
          <p:nvCxnSpPr>
            <p:cNvPr id="79" name="Straight Connector 78"/>
            <p:cNvCxnSpPr/>
            <p:nvPr/>
          </p:nvCxnSpPr>
          <p:spPr bwMode="auto">
            <a:xfrm rot="10800000">
              <a:off x="3505381" y="2037923"/>
              <a:ext cx="145872" cy="1588"/>
            </a:xfrm>
            <a:prstGeom prst="line">
              <a:avLst/>
            </a:prstGeom>
            <a:noFill/>
            <a:ln w="38100" cap="flat" cmpd="sng" algn="ctr">
              <a:solidFill>
                <a:schemeClr val="tx1"/>
              </a:solidFill>
              <a:prstDash val="solid"/>
              <a:round/>
              <a:headEnd type="none" w="med" len="med"/>
              <a:tailEnd type="none" w="med" len="med"/>
            </a:ln>
            <a:effectLst/>
          </p:spPr>
        </p:cxnSp>
        <p:sp>
          <p:nvSpPr>
            <p:cNvPr id="80" name="Trapezoid 79"/>
            <p:cNvSpPr/>
            <p:nvPr/>
          </p:nvSpPr>
          <p:spPr bwMode="auto">
            <a:xfrm flipV="1">
              <a:off x="1889666" y="2545158"/>
              <a:ext cx="1027414" cy="320554"/>
            </a:xfrm>
            <a:prstGeom prst="trapezoid">
              <a:avLst/>
            </a:prstGeom>
            <a:blipFill rotWithShape="1">
              <a:blip r:embed="rId3">
                <a:alphaModFix amt="70000"/>
              </a:blip>
              <a:tile tx="0" ty="0" sx="100000" sy="100000" flip="none" algn="tl"/>
            </a:blip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sp>
          <p:nvSpPr>
            <p:cNvPr id="82" name="TextBox 81"/>
            <p:cNvSpPr txBox="1"/>
            <p:nvPr/>
          </p:nvSpPr>
          <p:spPr>
            <a:xfrm>
              <a:off x="1959160" y="2471068"/>
              <a:ext cx="868597" cy="461665"/>
            </a:xfrm>
            <a:prstGeom prst="rect">
              <a:avLst/>
            </a:prstGeom>
            <a:noFill/>
          </p:spPr>
          <p:txBody>
            <a:bodyPr wrap="square" rtlCol="0">
              <a:spAutoFit/>
            </a:bodyPr>
            <a:lstStyle/>
            <a:p>
              <a:r>
                <a:rPr lang="en-US" sz="2400" dirty="0" smtClean="0">
                  <a:solidFill>
                    <a:schemeClr val="tx2"/>
                  </a:solidFill>
                </a:rPr>
                <a:t>PCM</a:t>
              </a:r>
              <a:endParaRPr lang="en-US" sz="2400" dirty="0">
                <a:solidFill>
                  <a:schemeClr val="tx2"/>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uild="p"/>
    </p:bld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graphicFrame>
        <p:nvGraphicFramePr>
          <p:cNvPr id="33" name="Chart 32"/>
          <p:cNvGraphicFramePr/>
          <p:nvPr/>
        </p:nvGraphicFramePr>
        <p:xfrm>
          <a:off x="3867598" y="3794125"/>
          <a:ext cx="4572000" cy="2299582"/>
        </p:xfrm>
        <a:graphic>
          <a:graphicData uri="http://schemas.openxmlformats.org/drawingml/2006/chart">
            <c:chart xmlns:c="http://schemas.openxmlformats.org/drawingml/2006/chart" xmlns:r="http://schemas.openxmlformats.org/officeDocument/2006/relationships" r:id="rId3"/>
          </a:graphicData>
        </a:graphic>
      </p:graphicFrame>
      <p:sp>
        <p:nvSpPr>
          <p:cNvPr id="17" name="Rectangle 16"/>
          <p:cNvSpPr/>
          <p:nvPr/>
        </p:nvSpPr>
        <p:spPr bwMode="auto">
          <a:xfrm>
            <a:off x="4850242" y="3794125"/>
            <a:ext cx="3589355"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aphicFrame>
        <p:nvGraphicFramePr>
          <p:cNvPr id="25" name="Chart 24"/>
          <p:cNvGraphicFramePr/>
          <p:nvPr/>
        </p:nvGraphicFramePr>
        <p:xfrm>
          <a:off x="3862818" y="1174432"/>
          <a:ext cx="4572000" cy="2000568"/>
        </p:xfrm>
        <a:graphic>
          <a:graphicData uri="http://schemas.openxmlformats.org/drawingml/2006/chart">
            <c:chart xmlns:c="http://schemas.openxmlformats.org/drawingml/2006/chart" xmlns:r="http://schemas.openxmlformats.org/officeDocument/2006/relationships" r:id="rId4"/>
          </a:graphicData>
        </a:graphic>
      </p:graphicFrame>
      <p:sp>
        <p:nvSpPr>
          <p:cNvPr id="2" name="Title 1"/>
          <p:cNvSpPr>
            <a:spLocks noGrp="1"/>
          </p:cNvSpPr>
          <p:nvPr>
            <p:ph type="title"/>
          </p:nvPr>
        </p:nvSpPr>
        <p:spPr/>
        <p:txBody>
          <a:bodyPr/>
          <a:lstStyle/>
          <a:p>
            <a:r>
              <a:rPr lang="en-US" dirty="0" smtClean="0"/>
              <a:t>Augmented Sprinting with PCM</a:t>
            </a:r>
            <a:endParaRPr lang="en-US" dirty="0"/>
          </a:p>
        </p:txBody>
      </p:sp>
      <p:sp>
        <p:nvSpPr>
          <p:cNvPr id="19" name="Slide Number Placeholder 18"/>
          <p:cNvSpPr>
            <a:spLocks noGrp="1"/>
          </p:cNvSpPr>
          <p:nvPr>
            <p:ph type="sldNum" sz="quarter" idx="10"/>
          </p:nvPr>
        </p:nvSpPr>
        <p:spPr/>
        <p:txBody>
          <a:bodyPr/>
          <a:lstStyle/>
          <a:p>
            <a:fld id="{F095543E-C052-B94D-8CA8-5BD72BC98389}" type="slidenum">
              <a:rPr lang="en-US" smtClean="0"/>
              <a:pPr/>
              <a:t>21</a:t>
            </a:fld>
            <a:endParaRPr lang="en-US"/>
          </a:p>
        </p:txBody>
      </p:sp>
      <p:sp>
        <p:nvSpPr>
          <p:cNvPr id="52" name="Footer Placeholder 51"/>
          <p:cNvSpPr>
            <a:spLocks noGrp="1"/>
          </p:cNvSpPr>
          <p:nvPr>
            <p:ph type="ftr" sz="quarter" idx="11"/>
          </p:nvPr>
        </p:nvSpPr>
        <p:spPr/>
        <p:txBody>
          <a:bodyPr/>
          <a:lstStyle/>
          <a:p>
            <a:r>
              <a:rPr lang="en-US" smtClean="0"/>
              <a:t>Computational Sprinting</a:t>
            </a:r>
            <a:endParaRPr lang="en-US" dirty="0"/>
          </a:p>
        </p:txBody>
      </p:sp>
      <p:sp>
        <p:nvSpPr>
          <p:cNvPr id="54" name="Rectangle 53"/>
          <p:cNvSpPr/>
          <p:nvPr/>
        </p:nvSpPr>
        <p:spPr bwMode="auto">
          <a:xfrm>
            <a:off x="4021569" y="1174433"/>
            <a:ext cx="828674"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55" name="Rectangle 54"/>
          <p:cNvSpPr/>
          <p:nvPr/>
        </p:nvSpPr>
        <p:spPr bwMode="auto">
          <a:xfrm>
            <a:off x="4866118" y="1174432"/>
            <a:ext cx="3568700"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8" name="Rectangle 17"/>
          <p:cNvSpPr/>
          <p:nvPr/>
        </p:nvSpPr>
        <p:spPr bwMode="auto">
          <a:xfrm>
            <a:off x="4329928" y="3794125"/>
            <a:ext cx="963731"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21" name="Group 20"/>
          <p:cNvGrpSpPr/>
          <p:nvPr/>
        </p:nvGrpSpPr>
        <p:grpSpPr>
          <a:xfrm>
            <a:off x="3238514" y="3552958"/>
            <a:ext cx="4810125" cy="461665"/>
            <a:chOff x="555625" y="3619798"/>
            <a:chExt cx="4810125" cy="461665"/>
          </a:xfrm>
        </p:grpSpPr>
        <p:sp>
          <p:nvSpPr>
            <p:cNvPr id="43" name="TextBox 42"/>
            <p:cNvSpPr txBox="1"/>
            <p:nvPr/>
          </p:nvSpPr>
          <p:spPr>
            <a:xfrm>
              <a:off x="555625" y="3619798"/>
              <a:ext cx="760294" cy="461665"/>
            </a:xfrm>
            <a:prstGeom prst="rect">
              <a:avLst/>
            </a:prstGeom>
            <a:noFill/>
          </p:spPr>
          <p:txBody>
            <a:bodyPr wrap="square" rtlCol="0">
              <a:spAutoFit/>
            </a:bodyPr>
            <a:lstStyle/>
            <a:p>
              <a:r>
                <a:rPr lang="en-US" sz="2400" dirty="0" smtClean="0"/>
                <a:t>T</a:t>
              </a:r>
              <a:r>
                <a:rPr lang="en-US" sz="2400" baseline="-25000" dirty="0" smtClean="0"/>
                <a:t>max</a:t>
              </a:r>
              <a:endParaRPr lang="en-US" sz="2400" dirty="0"/>
            </a:p>
          </p:txBody>
        </p:sp>
        <p:cxnSp>
          <p:nvCxnSpPr>
            <p:cNvPr id="45" name="Straight Connector 44"/>
            <p:cNvCxnSpPr/>
            <p:nvPr/>
          </p:nvCxnSpPr>
          <p:spPr bwMode="auto">
            <a:xfrm>
              <a:off x="1298575" y="3921125"/>
              <a:ext cx="4067175" cy="1588"/>
            </a:xfrm>
            <a:prstGeom prst="line">
              <a:avLst/>
            </a:prstGeom>
            <a:noFill/>
            <a:ln w="38100" cap="flat" cmpd="sng" algn="ctr">
              <a:solidFill>
                <a:srgbClr val="FF0000"/>
              </a:solidFill>
              <a:prstDash val="solid"/>
              <a:round/>
              <a:headEnd type="none" w="med" len="med"/>
              <a:tailEnd type="none" w="med" len="med"/>
            </a:ln>
            <a:effectLst/>
          </p:spPr>
        </p:cxnSp>
      </p:grpSp>
      <p:sp>
        <p:nvSpPr>
          <p:cNvPr id="20" name="TextBox 19"/>
          <p:cNvSpPr txBox="1"/>
          <p:nvPr/>
        </p:nvSpPr>
        <p:spPr>
          <a:xfrm>
            <a:off x="4462564" y="4206709"/>
            <a:ext cx="1866917" cy="830997"/>
          </a:xfrm>
          <a:prstGeom prst="rect">
            <a:avLst/>
          </a:prstGeom>
          <a:noFill/>
          <a:ln>
            <a:noFill/>
          </a:ln>
        </p:spPr>
        <p:txBody>
          <a:bodyPr wrap="square" rtlCol="0" anchor="ctr">
            <a:spAutoFit/>
          </a:bodyPr>
          <a:lstStyle/>
          <a:p>
            <a:pPr algn="ctr"/>
            <a:r>
              <a:rPr lang="en-US" sz="2400" dirty="0" smtClean="0">
                <a:solidFill>
                  <a:schemeClr val="accent6"/>
                </a:solidFill>
                <a:latin typeface="Calibri"/>
                <a:cs typeface="Calibri"/>
              </a:rPr>
              <a:t>Melting </a:t>
            </a:r>
          </a:p>
          <a:p>
            <a:pPr algn="ctr"/>
            <a:r>
              <a:rPr lang="en-US" sz="2400" dirty="0" smtClean="0">
                <a:solidFill>
                  <a:schemeClr val="accent6"/>
                </a:solidFill>
                <a:latin typeface="Calibri"/>
                <a:cs typeface="Calibri"/>
              </a:rPr>
              <a:t>Point</a:t>
            </a:r>
            <a:endParaRPr lang="en-US" sz="2400" dirty="0">
              <a:solidFill>
                <a:schemeClr val="accent6"/>
              </a:solidFill>
              <a:latin typeface="Calibri"/>
              <a:cs typeface="Calibri"/>
            </a:endParaRPr>
          </a:p>
        </p:txBody>
      </p:sp>
      <p:grpSp>
        <p:nvGrpSpPr>
          <p:cNvPr id="26" name="Group 65"/>
          <p:cNvGrpSpPr/>
          <p:nvPr/>
        </p:nvGrpSpPr>
        <p:grpSpPr>
          <a:xfrm>
            <a:off x="452254" y="1002250"/>
            <a:ext cx="2379175" cy="2375580"/>
            <a:chOff x="5886955" y="1335405"/>
            <a:chExt cx="2413889" cy="2418842"/>
          </a:xfrm>
        </p:grpSpPr>
        <p:pic>
          <p:nvPicPr>
            <p:cNvPr id="27" name="Picture 26"/>
            <p:cNvPicPr>
              <a:picLocks/>
            </p:cNvPicPr>
            <p:nvPr/>
          </p:nvPicPr>
          <p:blipFill>
            <a:blip r:embed="rId5"/>
            <a:stretch>
              <a:fillRect/>
            </a:stretch>
          </p:blipFill>
          <p:spPr>
            <a:xfrm>
              <a:off x="5886955" y="1335405"/>
              <a:ext cx="548637" cy="548637"/>
            </a:xfrm>
            <a:prstGeom prst="rect">
              <a:avLst/>
            </a:prstGeom>
          </p:spPr>
        </p:pic>
        <p:pic>
          <p:nvPicPr>
            <p:cNvPr id="29" name="Picture 28"/>
            <p:cNvPicPr>
              <a:picLocks/>
            </p:cNvPicPr>
            <p:nvPr/>
          </p:nvPicPr>
          <p:blipFill>
            <a:blip r:embed="rId5"/>
            <a:stretch>
              <a:fillRect/>
            </a:stretch>
          </p:blipFill>
          <p:spPr>
            <a:xfrm>
              <a:off x="6508750" y="1335405"/>
              <a:ext cx="548637" cy="548637"/>
            </a:xfrm>
            <a:prstGeom prst="rect">
              <a:avLst/>
            </a:prstGeom>
          </p:spPr>
        </p:pic>
        <p:pic>
          <p:nvPicPr>
            <p:cNvPr id="31" name="Picture 30"/>
            <p:cNvPicPr>
              <a:picLocks/>
            </p:cNvPicPr>
            <p:nvPr/>
          </p:nvPicPr>
          <p:blipFill>
            <a:blip r:embed="rId5"/>
            <a:stretch>
              <a:fillRect/>
            </a:stretch>
          </p:blipFill>
          <p:spPr>
            <a:xfrm>
              <a:off x="5886955" y="1957200"/>
              <a:ext cx="548637" cy="548637"/>
            </a:xfrm>
            <a:prstGeom prst="rect">
              <a:avLst/>
            </a:prstGeom>
          </p:spPr>
        </p:pic>
        <p:pic>
          <p:nvPicPr>
            <p:cNvPr id="32" name="Picture 31"/>
            <p:cNvPicPr>
              <a:picLocks/>
            </p:cNvPicPr>
            <p:nvPr/>
          </p:nvPicPr>
          <p:blipFill>
            <a:blip r:embed="rId5"/>
            <a:stretch>
              <a:fillRect/>
            </a:stretch>
          </p:blipFill>
          <p:spPr>
            <a:xfrm>
              <a:off x="6508750" y="1957200"/>
              <a:ext cx="548637" cy="548637"/>
            </a:xfrm>
            <a:prstGeom prst="rect">
              <a:avLst/>
            </a:prstGeom>
          </p:spPr>
        </p:pic>
        <p:pic>
          <p:nvPicPr>
            <p:cNvPr id="34" name="Picture 33"/>
            <p:cNvPicPr>
              <a:picLocks/>
            </p:cNvPicPr>
            <p:nvPr/>
          </p:nvPicPr>
          <p:blipFill>
            <a:blip r:embed="rId5"/>
            <a:stretch>
              <a:fillRect/>
            </a:stretch>
          </p:blipFill>
          <p:spPr>
            <a:xfrm>
              <a:off x="5886955" y="2583815"/>
              <a:ext cx="548637" cy="548637"/>
            </a:xfrm>
            <a:prstGeom prst="rect">
              <a:avLst/>
            </a:prstGeom>
          </p:spPr>
        </p:pic>
        <p:pic>
          <p:nvPicPr>
            <p:cNvPr id="35" name="Picture 34"/>
            <p:cNvPicPr>
              <a:picLocks/>
            </p:cNvPicPr>
            <p:nvPr/>
          </p:nvPicPr>
          <p:blipFill>
            <a:blip r:embed="rId5"/>
            <a:stretch>
              <a:fillRect/>
            </a:stretch>
          </p:blipFill>
          <p:spPr>
            <a:xfrm>
              <a:off x="6508750" y="2583815"/>
              <a:ext cx="548637" cy="548637"/>
            </a:xfrm>
            <a:prstGeom prst="rect">
              <a:avLst/>
            </a:prstGeom>
          </p:spPr>
        </p:pic>
        <p:pic>
          <p:nvPicPr>
            <p:cNvPr id="36" name="Picture 35"/>
            <p:cNvPicPr>
              <a:picLocks/>
            </p:cNvPicPr>
            <p:nvPr/>
          </p:nvPicPr>
          <p:blipFill>
            <a:blip r:embed="rId5"/>
            <a:stretch>
              <a:fillRect/>
            </a:stretch>
          </p:blipFill>
          <p:spPr>
            <a:xfrm>
              <a:off x="5886955" y="3205610"/>
              <a:ext cx="548637" cy="548637"/>
            </a:xfrm>
            <a:prstGeom prst="rect">
              <a:avLst/>
            </a:prstGeom>
          </p:spPr>
        </p:pic>
        <p:pic>
          <p:nvPicPr>
            <p:cNvPr id="37" name="Picture 36"/>
            <p:cNvPicPr>
              <a:picLocks/>
            </p:cNvPicPr>
            <p:nvPr/>
          </p:nvPicPr>
          <p:blipFill>
            <a:blip r:embed="rId5"/>
            <a:stretch>
              <a:fillRect/>
            </a:stretch>
          </p:blipFill>
          <p:spPr>
            <a:xfrm>
              <a:off x="6508750" y="3205610"/>
              <a:ext cx="548637" cy="548637"/>
            </a:xfrm>
            <a:prstGeom prst="rect">
              <a:avLst/>
            </a:prstGeom>
          </p:spPr>
        </p:pic>
        <p:pic>
          <p:nvPicPr>
            <p:cNvPr id="38" name="Picture 37"/>
            <p:cNvPicPr>
              <a:picLocks/>
            </p:cNvPicPr>
            <p:nvPr/>
          </p:nvPicPr>
          <p:blipFill>
            <a:blip r:embed="rId5"/>
            <a:stretch>
              <a:fillRect/>
            </a:stretch>
          </p:blipFill>
          <p:spPr>
            <a:xfrm>
              <a:off x="7130412" y="1335405"/>
              <a:ext cx="548637" cy="548637"/>
            </a:xfrm>
            <a:prstGeom prst="rect">
              <a:avLst/>
            </a:prstGeom>
          </p:spPr>
        </p:pic>
        <p:pic>
          <p:nvPicPr>
            <p:cNvPr id="40" name="Picture 39"/>
            <p:cNvPicPr>
              <a:picLocks/>
            </p:cNvPicPr>
            <p:nvPr/>
          </p:nvPicPr>
          <p:blipFill>
            <a:blip r:embed="rId5"/>
            <a:stretch>
              <a:fillRect/>
            </a:stretch>
          </p:blipFill>
          <p:spPr>
            <a:xfrm>
              <a:off x="7752207" y="1335405"/>
              <a:ext cx="548637" cy="548637"/>
            </a:xfrm>
            <a:prstGeom prst="rect">
              <a:avLst/>
            </a:prstGeom>
          </p:spPr>
        </p:pic>
        <p:pic>
          <p:nvPicPr>
            <p:cNvPr id="42" name="Picture 41"/>
            <p:cNvPicPr>
              <a:picLocks/>
            </p:cNvPicPr>
            <p:nvPr/>
          </p:nvPicPr>
          <p:blipFill>
            <a:blip r:embed="rId5"/>
            <a:stretch>
              <a:fillRect/>
            </a:stretch>
          </p:blipFill>
          <p:spPr>
            <a:xfrm>
              <a:off x="7130412" y="1957200"/>
              <a:ext cx="548637" cy="548637"/>
            </a:xfrm>
            <a:prstGeom prst="rect">
              <a:avLst/>
            </a:prstGeom>
          </p:spPr>
        </p:pic>
        <p:pic>
          <p:nvPicPr>
            <p:cNvPr id="46" name="Picture 45"/>
            <p:cNvPicPr>
              <a:picLocks/>
            </p:cNvPicPr>
            <p:nvPr/>
          </p:nvPicPr>
          <p:blipFill>
            <a:blip r:embed="rId5"/>
            <a:stretch>
              <a:fillRect/>
            </a:stretch>
          </p:blipFill>
          <p:spPr>
            <a:xfrm>
              <a:off x="7752207" y="1957200"/>
              <a:ext cx="548637" cy="548637"/>
            </a:xfrm>
            <a:prstGeom prst="rect">
              <a:avLst/>
            </a:prstGeom>
          </p:spPr>
        </p:pic>
        <p:pic>
          <p:nvPicPr>
            <p:cNvPr id="47" name="Picture 46"/>
            <p:cNvPicPr>
              <a:picLocks/>
            </p:cNvPicPr>
            <p:nvPr/>
          </p:nvPicPr>
          <p:blipFill>
            <a:blip r:embed="rId5"/>
            <a:stretch>
              <a:fillRect/>
            </a:stretch>
          </p:blipFill>
          <p:spPr>
            <a:xfrm>
              <a:off x="7130412" y="2583815"/>
              <a:ext cx="548637" cy="548637"/>
            </a:xfrm>
            <a:prstGeom prst="rect">
              <a:avLst/>
            </a:prstGeom>
          </p:spPr>
        </p:pic>
        <p:pic>
          <p:nvPicPr>
            <p:cNvPr id="49" name="Picture 48"/>
            <p:cNvPicPr>
              <a:picLocks/>
            </p:cNvPicPr>
            <p:nvPr/>
          </p:nvPicPr>
          <p:blipFill>
            <a:blip r:embed="rId5"/>
            <a:stretch>
              <a:fillRect/>
            </a:stretch>
          </p:blipFill>
          <p:spPr>
            <a:xfrm>
              <a:off x="7752207" y="2583815"/>
              <a:ext cx="548637" cy="548637"/>
            </a:xfrm>
            <a:prstGeom prst="rect">
              <a:avLst/>
            </a:prstGeom>
          </p:spPr>
        </p:pic>
        <p:pic>
          <p:nvPicPr>
            <p:cNvPr id="50" name="Picture 49"/>
            <p:cNvPicPr>
              <a:picLocks/>
            </p:cNvPicPr>
            <p:nvPr/>
          </p:nvPicPr>
          <p:blipFill>
            <a:blip r:embed="rId5"/>
            <a:stretch>
              <a:fillRect/>
            </a:stretch>
          </p:blipFill>
          <p:spPr>
            <a:xfrm>
              <a:off x="7130412" y="3205610"/>
              <a:ext cx="548637" cy="548637"/>
            </a:xfrm>
            <a:prstGeom prst="rect">
              <a:avLst/>
            </a:prstGeom>
          </p:spPr>
        </p:pic>
        <p:pic>
          <p:nvPicPr>
            <p:cNvPr id="51" name="Picture 50"/>
            <p:cNvPicPr>
              <a:picLocks/>
            </p:cNvPicPr>
            <p:nvPr/>
          </p:nvPicPr>
          <p:blipFill>
            <a:blip r:embed="rId5"/>
            <a:stretch>
              <a:fillRect/>
            </a:stretch>
          </p:blipFill>
          <p:spPr>
            <a:xfrm>
              <a:off x="7752207" y="3205610"/>
              <a:ext cx="548637" cy="548637"/>
            </a:xfrm>
            <a:prstGeom prst="rect">
              <a:avLst/>
            </a:prstGeom>
          </p:spPr>
        </p:pic>
      </p:grpSp>
      <p:sp>
        <p:nvSpPr>
          <p:cNvPr id="53" name="Rectangle 52"/>
          <p:cNvSpPr/>
          <p:nvPr/>
        </p:nvSpPr>
        <p:spPr bwMode="auto">
          <a:xfrm>
            <a:off x="364604" y="913428"/>
            <a:ext cx="2560320" cy="2560320"/>
          </a:xfrm>
          <a:prstGeom prst="rect">
            <a:avLst/>
          </a:prstGeom>
          <a:noFill/>
          <a:ln w="76200" cap="flat" cmpd="sng" algn="ctr">
            <a:solidFill>
              <a:srgbClr val="78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56" name="Group 55"/>
          <p:cNvGrpSpPr/>
          <p:nvPr/>
        </p:nvGrpSpPr>
        <p:grpSpPr>
          <a:xfrm>
            <a:off x="454814" y="1001576"/>
            <a:ext cx="2380397" cy="2375580"/>
            <a:chOff x="454814" y="1001576"/>
            <a:chExt cx="2380397" cy="2375580"/>
          </a:xfrm>
        </p:grpSpPr>
        <p:sp>
          <p:nvSpPr>
            <p:cNvPr id="57" name="Rectangle 56"/>
            <p:cNvSpPr/>
            <p:nvPr/>
          </p:nvSpPr>
          <p:spPr bwMode="auto">
            <a:xfrm>
              <a:off x="1070271"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58" name="Rectangle 57"/>
            <p:cNvSpPr/>
            <p:nvPr/>
          </p:nvSpPr>
          <p:spPr bwMode="auto">
            <a:xfrm>
              <a:off x="1683342"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59" name="Rectangle 58"/>
            <p:cNvSpPr/>
            <p:nvPr/>
          </p:nvSpPr>
          <p:spPr bwMode="auto">
            <a:xfrm>
              <a:off x="2295715"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0" name="Rectangle 59"/>
            <p:cNvSpPr/>
            <p:nvPr/>
          </p:nvSpPr>
          <p:spPr bwMode="auto">
            <a:xfrm>
              <a:off x="1070271"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1" name="Rectangle 60"/>
            <p:cNvSpPr/>
            <p:nvPr/>
          </p:nvSpPr>
          <p:spPr bwMode="auto">
            <a:xfrm>
              <a:off x="1683342"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2" name="Rectangle 61"/>
            <p:cNvSpPr/>
            <p:nvPr/>
          </p:nvSpPr>
          <p:spPr bwMode="auto">
            <a:xfrm>
              <a:off x="2295715"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3" name="Rectangle 62"/>
            <p:cNvSpPr/>
            <p:nvPr/>
          </p:nvSpPr>
          <p:spPr bwMode="auto">
            <a:xfrm>
              <a:off x="457898"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4" name="Rectangle 63"/>
            <p:cNvSpPr/>
            <p:nvPr/>
          </p:nvSpPr>
          <p:spPr bwMode="auto">
            <a:xfrm>
              <a:off x="1069573"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5" name="Rectangle 64"/>
            <p:cNvSpPr/>
            <p:nvPr/>
          </p:nvSpPr>
          <p:spPr bwMode="auto">
            <a:xfrm>
              <a:off x="1682644"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6" name="Rectangle 65"/>
            <p:cNvSpPr/>
            <p:nvPr/>
          </p:nvSpPr>
          <p:spPr bwMode="auto">
            <a:xfrm>
              <a:off x="2295017"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7" name="Rectangle 66"/>
            <p:cNvSpPr/>
            <p:nvPr/>
          </p:nvSpPr>
          <p:spPr bwMode="auto">
            <a:xfrm>
              <a:off x="457200"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8" name="Rectangle 67"/>
            <p:cNvSpPr/>
            <p:nvPr/>
          </p:nvSpPr>
          <p:spPr bwMode="auto">
            <a:xfrm>
              <a:off x="1070271"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9" name="Rectangle 68"/>
            <p:cNvSpPr/>
            <p:nvPr/>
          </p:nvSpPr>
          <p:spPr bwMode="auto">
            <a:xfrm>
              <a:off x="1683342"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0" name="Rectangle 69"/>
            <p:cNvSpPr/>
            <p:nvPr/>
          </p:nvSpPr>
          <p:spPr bwMode="auto">
            <a:xfrm>
              <a:off x="2295715"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1" name="Rectangle 70"/>
            <p:cNvSpPr/>
            <p:nvPr/>
          </p:nvSpPr>
          <p:spPr bwMode="auto">
            <a:xfrm>
              <a:off x="457898"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2" name="Rectangle 71"/>
            <p:cNvSpPr/>
            <p:nvPr/>
          </p:nvSpPr>
          <p:spPr bwMode="auto">
            <a:xfrm>
              <a:off x="454814"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cxnSp>
        <p:nvCxnSpPr>
          <p:cNvPr id="48" name="Straight Connector 47"/>
          <p:cNvCxnSpPr/>
          <p:nvPr/>
        </p:nvCxnSpPr>
        <p:spPr bwMode="auto">
          <a:xfrm>
            <a:off x="4142218" y="4216400"/>
            <a:ext cx="4025900" cy="1588"/>
          </a:xfrm>
          <a:prstGeom prst="line">
            <a:avLst/>
          </a:prstGeom>
          <a:noFill/>
          <a:ln w="22225" cap="flat" cmpd="sng" algn="ctr">
            <a:solidFill>
              <a:srgbClr val="000000"/>
            </a:solidFill>
            <a:prstDash val="dash"/>
            <a:round/>
            <a:headEnd type="none" w="med" len="med"/>
            <a:tailEnd type="none" w="med" len="med"/>
          </a:ln>
          <a:effectLst/>
        </p:spPr>
      </p:cxnSp>
      <p:sp>
        <p:nvSpPr>
          <p:cNvPr id="73" name="TextBox 72"/>
          <p:cNvSpPr txBox="1"/>
          <p:nvPr/>
        </p:nvSpPr>
        <p:spPr>
          <a:xfrm rot="16200000">
            <a:off x="3195249" y="1749189"/>
            <a:ext cx="1142372" cy="369332"/>
          </a:xfrm>
          <a:prstGeom prst="rect">
            <a:avLst/>
          </a:prstGeom>
          <a:noFill/>
        </p:spPr>
        <p:txBody>
          <a:bodyPr wrap="square" rtlCol="0">
            <a:spAutoFit/>
          </a:bodyPr>
          <a:lstStyle/>
          <a:p>
            <a:r>
              <a:rPr lang="en-US" b="1" dirty="0" smtClean="0"/>
              <a:t>power</a:t>
            </a:r>
            <a:endParaRPr lang="en-US" b="1" dirty="0"/>
          </a:p>
        </p:txBody>
      </p:sp>
      <p:sp>
        <p:nvSpPr>
          <p:cNvPr id="74" name="TextBox 73"/>
          <p:cNvSpPr txBox="1"/>
          <p:nvPr/>
        </p:nvSpPr>
        <p:spPr>
          <a:xfrm rot="16200000">
            <a:off x="3007021" y="4870335"/>
            <a:ext cx="1518828" cy="369332"/>
          </a:xfrm>
          <a:prstGeom prst="rect">
            <a:avLst/>
          </a:prstGeom>
          <a:noFill/>
        </p:spPr>
        <p:txBody>
          <a:bodyPr wrap="none" rtlCol="0">
            <a:spAutoFit/>
          </a:bodyPr>
          <a:lstStyle/>
          <a:p>
            <a:r>
              <a:rPr lang="en-US" b="1" dirty="0" smtClean="0"/>
              <a:t>temperature</a:t>
            </a:r>
            <a:endParaRPr lang="en-US" b="1" dirty="0"/>
          </a:p>
        </p:txBody>
      </p:sp>
      <p:cxnSp>
        <p:nvCxnSpPr>
          <p:cNvPr id="75" name="Straight Connector 74"/>
          <p:cNvCxnSpPr/>
          <p:nvPr/>
        </p:nvCxnSpPr>
        <p:spPr bwMode="auto">
          <a:xfrm rot="5400000">
            <a:off x="2792744" y="4757434"/>
            <a:ext cx="2408953" cy="1588"/>
          </a:xfrm>
          <a:prstGeom prst="line">
            <a:avLst/>
          </a:prstGeom>
          <a:noFill/>
          <a:ln w="38100" cap="flat" cmpd="sng" algn="ctr">
            <a:solidFill>
              <a:srgbClr val="000000"/>
            </a:solidFill>
            <a:prstDash val="solid"/>
            <a:round/>
            <a:headEnd type="none" w="med" len="med"/>
            <a:tailEnd type="none" w="med" len="med"/>
          </a:ln>
          <a:effectLst/>
        </p:spPr>
      </p:cxnSp>
      <p:cxnSp>
        <p:nvCxnSpPr>
          <p:cNvPr id="76" name="Straight Connector 75"/>
          <p:cNvCxnSpPr/>
          <p:nvPr/>
        </p:nvCxnSpPr>
        <p:spPr bwMode="auto">
          <a:xfrm>
            <a:off x="3980040" y="5960323"/>
            <a:ext cx="4365482" cy="1588"/>
          </a:xfrm>
          <a:prstGeom prst="line">
            <a:avLst/>
          </a:prstGeom>
          <a:noFill/>
          <a:ln w="38100" cap="flat" cmpd="sng" algn="ctr">
            <a:solidFill>
              <a:srgbClr val="000000"/>
            </a:solidFill>
            <a:prstDash val="solid"/>
            <a:round/>
            <a:headEnd type="none" w="med" len="med"/>
            <a:tailEnd type="none" w="med" len="med"/>
          </a:ln>
          <a:effectLst/>
        </p:spPr>
      </p:cxnSp>
      <p:cxnSp>
        <p:nvCxnSpPr>
          <p:cNvPr id="79" name="Straight Connector 78"/>
          <p:cNvCxnSpPr/>
          <p:nvPr/>
        </p:nvCxnSpPr>
        <p:spPr bwMode="auto">
          <a:xfrm rot="16200000" flipH="1">
            <a:off x="2992218" y="2031601"/>
            <a:ext cx="2058701" cy="1"/>
          </a:xfrm>
          <a:prstGeom prst="line">
            <a:avLst/>
          </a:prstGeom>
          <a:noFill/>
          <a:ln w="38100" cap="flat" cmpd="sng" algn="ctr">
            <a:solidFill>
              <a:srgbClr val="000000"/>
            </a:solidFill>
            <a:prstDash val="solid"/>
            <a:round/>
            <a:headEnd type="none" w="med" len="med"/>
            <a:tailEnd type="none" w="med" len="med"/>
          </a:ln>
          <a:effectLst/>
        </p:spPr>
      </p:cxnSp>
      <p:cxnSp>
        <p:nvCxnSpPr>
          <p:cNvPr id="80" name="Straight Connector 79"/>
          <p:cNvCxnSpPr/>
          <p:nvPr/>
        </p:nvCxnSpPr>
        <p:spPr bwMode="auto">
          <a:xfrm>
            <a:off x="4005182" y="3058572"/>
            <a:ext cx="4365482" cy="1588"/>
          </a:xfrm>
          <a:prstGeom prst="line">
            <a:avLst/>
          </a:prstGeom>
          <a:noFill/>
          <a:ln w="38100" cap="flat" cmpd="sng" algn="ctr">
            <a:solidFill>
              <a:srgbClr val="000000"/>
            </a:solidFill>
            <a:prstDash val="solid"/>
            <a:round/>
            <a:headEnd type="none" w="med" len="med"/>
            <a:tailEnd type="none" w="med" len="med"/>
          </a:ln>
          <a:effec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xit" presetSubtype="0" fill="hold" nodeType="withEffect">
                                  <p:stCondLst>
                                    <p:cond delay="0"/>
                                  </p:stCondLst>
                                  <p:childTnLst>
                                    <p:animEffect transition="out" filter="fade">
                                      <p:cBhvr>
                                        <p:cTn id="9" dur="500"/>
                                        <p:tgtEl>
                                          <p:spTgt spid="56"/>
                                        </p:tgtEl>
                                      </p:cBhvr>
                                    </p:animEffect>
                                    <p:set>
                                      <p:cBhvr>
                                        <p:cTn id="10" dur="1" fill="hold">
                                          <p:stCondLst>
                                            <p:cond delay="499"/>
                                          </p:stCondLst>
                                        </p:cTn>
                                        <p:tgtEl>
                                          <p:spTgt spid="56"/>
                                        </p:tgtEl>
                                        <p:attrNameLst>
                                          <p:attrName>style.visibility</p:attrName>
                                        </p:attrNameLst>
                                      </p:cBhvr>
                                      <p:to>
                                        <p:strVal val="hidden"/>
                                      </p:to>
                                    </p:set>
                                  </p:childTnLst>
                                </p:cTn>
                              </p:par>
                              <p:par>
                                <p:cTn id="11" presetID="22" presetClass="exit" presetSubtype="8" fill="hold" grpId="0" nodeType="withEffect">
                                  <p:stCondLst>
                                    <p:cond delay="0"/>
                                  </p:stCondLst>
                                  <p:childTnLst>
                                    <p:animEffect transition="out" filter="wipe(left)">
                                      <p:cBhvr>
                                        <p:cTn id="12" dur="1000"/>
                                        <p:tgtEl>
                                          <p:spTgt spid="54"/>
                                        </p:tgtEl>
                                      </p:cBhvr>
                                    </p:animEffect>
                                    <p:set>
                                      <p:cBhvr>
                                        <p:cTn id="13" dur="1" fill="hold">
                                          <p:stCondLst>
                                            <p:cond delay="999"/>
                                          </p:stCondLst>
                                        </p:cTn>
                                        <p:tgtEl>
                                          <p:spTgt spid="54"/>
                                        </p:tgtEl>
                                        <p:attrNameLst>
                                          <p:attrName>style.visibility</p:attrName>
                                        </p:attrNameLst>
                                      </p:cBhvr>
                                      <p:to>
                                        <p:strVal val="hidden"/>
                                      </p:to>
                                    </p:set>
                                  </p:childTnLst>
                                </p:cTn>
                              </p:par>
                              <p:par>
                                <p:cTn id="14" presetID="22" presetClass="exit" presetSubtype="8" fill="hold" grpId="0" nodeType="withEffect">
                                  <p:stCondLst>
                                    <p:cond delay="0"/>
                                  </p:stCondLst>
                                  <p:childTnLst>
                                    <p:animEffect transition="out" filter="wipe(left)">
                                      <p:cBhvr>
                                        <p:cTn id="15" dur="1000"/>
                                        <p:tgtEl>
                                          <p:spTgt spid="18"/>
                                        </p:tgtEl>
                                      </p:cBhvr>
                                    </p:animEffect>
                                    <p:set>
                                      <p:cBhvr>
                                        <p:cTn id="16" dur="1" fill="hold">
                                          <p:stCondLst>
                                            <p:cond delay="999"/>
                                          </p:stCondLst>
                                        </p:cTn>
                                        <p:tgtEl>
                                          <p:spTgt spid="18"/>
                                        </p:tgtEl>
                                        <p:attrNameLst>
                                          <p:attrName>style.visibility</p:attrName>
                                        </p:attrNameLst>
                                      </p:cBhvr>
                                      <p:to>
                                        <p:strVal val="hidden"/>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18" grpId="0" animBg="1"/>
      <p:bldP spid="20" grpId="0"/>
    </p:bld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pSp>
        <p:nvGrpSpPr>
          <p:cNvPr id="90" name="Group 89"/>
          <p:cNvGrpSpPr/>
          <p:nvPr/>
        </p:nvGrpSpPr>
        <p:grpSpPr>
          <a:xfrm>
            <a:off x="457200" y="1001576"/>
            <a:ext cx="2378011" cy="2375580"/>
            <a:chOff x="457200" y="1001576"/>
            <a:chExt cx="2378011" cy="2375580"/>
          </a:xfrm>
        </p:grpSpPr>
        <p:sp>
          <p:nvSpPr>
            <p:cNvPr id="74" name="Rectangle 73"/>
            <p:cNvSpPr/>
            <p:nvPr/>
          </p:nvSpPr>
          <p:spPr bwMode="auto">
            <a:xfrm>
              <a:off x="1070271"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5" name="Rectangle 74"/>
            <p:cNvSpPr/>
            <p:nvPr/>
          </p:nvSpPr>
          <p:spPr bwMode="auto">
            <a:xfrm>
              <a:off x="1683342"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6" name="Rectangle 75"/>
            <p:cNvSpPr/>
            <p:nvPr/>
          </p:nvSpPr>
          <p:spPr bwMode="auto">
            <a:xfrm>
              <a:off x="2295715"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7" name="Rectangle 76"/>
            <p:cNvSpPr/>
            <p:nvPr/>
          </p:nvSpPr>
          <p:spPr bwMode="auto">
            <a:xfrm>
              <a:off x="1070271"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8" name="Rectangle 77"/>
            <p:cNvSpPr/>
            <p:nvPr/>
          </p:nvSpPr>
          <p:spPr bwMode="auto">
            <a:xfrm>
              <a:off x="1683342"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9" name="Rectangle 78"/>
            <p:cNvSpPr/>
            <p:nvPr/>
          </p:nvSpPr>
          <p:spPr bwMode="auto">
            <a:xfrm>
              <a:off x="2295715"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0" name="Rectangle 79"/>
            <p:cNvSpPr/>
            <p:nvPr/>
          </p:nvSpPr>
          <p:spPr bwMode="auto">
            <a:xfrm>
              <a:off x="457898" y="283766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1" name="Rectangle 80"/>
            <p:cNvSpPr/>
            <p:nvPr/>
          </p:nvSpPr>
          <p:spPr bwMode="auto">
            <a:xfrm>
              <a:off x="1069573"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2" name="Rectangle 81"/>
            <p:cNvSpPr/>
            <p:nvPr/>
          </p:nvSpPr>
          <p:spPr bwMode="auto">
            <a:xfrm>
              <a:off x="1682644"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3" name="Rectangle 82"/>
            <p:cNvSpPr/>
            <p:nvPr/>
          </p:nvSpPr>
          <p:spPr bwMode="auto">
            <a:xfrm>
              <a:off x="2295017"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4" name="Rectangle 83"/>
            <p:cNvSpPr/>
            <p:nvPr/>
          </p:nvSpPr>
          <p:spPr bwMode="auto">
            <a:xfrm>
              <a:off x="457200" y="2227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5" name="Rectangle 84"/>
            <p:cNvSpPr/>
            <p:nvPr/>
          </p:nvSpPr>
          <p:spPr bwMode="auto">
            <a:xfrm>
              <a:off x="1070271"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6" name="Rectangle 85"/>
            <p:cNvSpPr/>
            <p:nvPr/>
          </p:nvSpPr>
          <p:spPr bwMode="auto">
            <a:xfrm>
              <a:off x="1683342"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7" name="Rectangle 86"/>
            <p:cNvSpPr/>
            <p:nvPr/>
          </p:nvSpPr>
          <p:spPr bwMode="auto">
            <a:xfrm>
              <a:off x="2295715"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8" name="Rectangle 87"/>
            <p:cNvSpPr/>
            <p:nvPr/>
          </p:nvSpPr>
          <p:spPr bwMode="auto">
            <a:xfrm>
              <a:off x="457898" y="161161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graphicFrame>
        <p:nvGraphicFramePr>
          <p:cNvPr id="33" name="Chart 32"/>
          <p:cNvGraphicFramePr/>
          <p:nvPr/>
        </p:nvGraphicFramePr>
        <p:xfrm>
          <a:off x="3872380" y="3794126"/>
          <a:ext cx="4572000" cy="2299582"/>
        </p:xfrm>
        <a:graphic>
          <a:graphicData uri="http://schemas.openxmlformats.org/drawingml/2006/chart">
            <c:chart xmlns:c="http://schemas.openxmlformats.org/drawingml/2006/chart" xmlns:r="http://schemas.openxmlformats.org/officeDocument/2006/relationships" r:id="rId3"/>
          </a:graphicData>
        </a:graphic>
      </p:graphicFrame>
      <p:sp>
        <p:nvSpPr>
          <p:cNvPr id="17" name="Rectangle 16"/>
          <p:cNvSpPr/>
          <p:nvPr/>
        </p:nvSpPr>
        <p:spPr bwMode="auto">
          <a:xfrm>
            <a:off x="6145149" y="3794126"/>
            <a:ext cx="2299230"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aphicFrame>
        <p:nvGraphicFramePr>
          <p:cNvPr id="25" name="Chart 24"/>
          <p:cNvGraphicFramePr/>
          <p:nvPr/>
        </p:nvGraphicFramePr>
        <p:xfrm>
          <a:off x="3867600" y="1174433"/>
          <a:ext cx="4572000" cy="2000568"/>
        </p:xfrm>
        <a:graphic>
          <a:graphicData uri="http://schemas.openxmlformats.org/drawingml/2006/chart">
            <c:chart xmlns:c="http://schemas.openxmlformats.org/drawingml/2006/chart" xmlns:r="http://schemas.openxmlformats.org/officeDocument/2006/relationships" r:id="rId4"/>
          </a:graphicData>
        </a:graphic>
      </p:graphicFrame>
      <p:sp>
        <p:nvSpPr>
          <p:cNvPr id="2" name="Title 1"/>
          <p:cNvSpPr>
            <a:spLocks noGrp="1"/>
          </p:cNvSpPr>
          <p:nvPr>
            <p:ph type="title"/>
          </p:nvPr>
        </p:nvSpPr>
        <p:spPr/>
        <p:txBody>
          <a:bodyPr/>
          <a:lstStyle/>
          <a:p>
            <a:r>
              <a:rPr lang="en-US" dirty="0" smtClean="0"/>
              <a:t>Augmented Sprinting with PCM</a:t>
            </a:r>
            <a:endParaRPr lang="en-US" dirty="0"/>
          </a:p>
        </p:txBody>
      </p:sp>
      <p:sp>
        <p:nvSpPr>
          <p:cNvPr id="19" name="Slide Number Placeholder 18"/>
          <p:cNvSpPr>
            <a:spLocks noGrp="1"/>
          </p:cNvSpPr>
          <p:nvPr>
            <p:ph type="sldNum" sz="quarter" idx="10"/>
          </p:nvPr>
        </p:nvSpPr>
        <p:spPr/>
        <p:txBody>
          <a:bodyPr/>
          <a:lstStyle/>
          <a:p>
            <a:fld id="{F095543E-C052-B94D-8CA8-5BD72BC98389}" type="slidenum">
              <a:rPr lang="en-US" smtClean="0"/>
              <a:pPr/>
              <a:t>22</a:t>
            </a:fld>
            <a:endParaRPr lang="en-US"/>
          </a:p>
        </p:txBody>
      </p:sp>
      <p:sp>
        <p:nvSpPr>
          <p:cNvPr id="52" name="Footer Placeholder 51"/>
          <p:cNvSpPr>
            <a:spLocks noGrp="1"/>
          </p:cNvSpPr>
          <p:nvPr>
            <p:ph type="ftr" sz="quarter" idx="11"/>
          </p:nvPr>
        </p:nvSpPr>
        <p:spPr/>
        <p:txBody>
          <a:bodyPr/>
          <a:lstStyle/>
          <a:p>
            <a:r>
              <a:rPr lang="en-US" smtClean="0"/>
              <a:t>Computational Sprinting</a:t>
            </a:r>
            <a:endParaRPr lang="en-US" dirty="0"/>
          </a:p>
        </p:txBody>
      </p:sp>
      <p:sp>
        <p:nvSpPr>
          <p:cNvPr id="54" name="Rectangle 53"/>
          <p:cNvSpPr/>
          <p:nvPr/>
        </p:nvSpPr>
        <p:spPr bwMode="auto">
          <a:xfrm flipH="1">
            <a:off x="4855025" y="1174434"/>
            <a:ext cx="1290124"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55" name="Rectangle 54"/>
          <p:cNvSpPr/>
          <p:nvPr/>
        </p:nvSpPr>
        <p:spPr bwMode="auto">
          <a:xfrm>
            <a:off x="6153600" y="1174433"/>
            <a:ext cx="2285999"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0" name="TextBox 29"/>
          <p:cNvSpPr txBox="1"/>
          <p:nvPr/>
        </p:nvSpPr>
        <p:spPr>
          <a:xfrm>
            <a:off x="4870900" y="1528385"/>
            <a:ext cx="4127233" cy="830997"/>
          </a:xfrm>
          <a:prstGeom prst="rect">
            <a:avLst/>
          </a:prstGeom>
          <a:noFill/>
          <a:ln>
            <a:noFill/>
          </a:ln>
        </p:spPr>
        <p:txBody>
          <a:bodyPr wrap="square" rtlCol="0" anchor="ctr">
            <a:spAutoFit/>
          </a:bodyPr>
          <a:lstStyle/>
          <a:p>
            <a:pPr algn="ctr"/>
            <a:r>
              <a:rPr lang="en-US" sz="2400" dirty="0" smtClean="0">
                <a:solidFill>
                  <a:schemeClr val="accent6"/>
                </a:solidFill>
              </a:rPr>
              <a:t>Sustainable</a:t>
            </a:r>
          </a:p>
          <a:p>
            <a:pPr algn="ctr"/>
            <a:r>
              <a:rPr lang="en-US" sz="2400" dirty="0" smtClean="0">
                <a:solidFill>
                  <a:schemeClr val="accent6"/>
                </a:solidFill>
              </a:rPr>
              <a:t>(single core)</a:t>
            </a:r>
            <a:endParaRPr lang="en-US" sz="2400" dirty="0">
              <a:solidFill>
                <a:schemeClr val="accent6"/>
              </a:solidFill>
            </a:endParaRPr>
          </a:p>
        </p:txBody>
      </p:sp>
      <p:sp>
        <p:nvSpPr>
          <p:cNvPr id="18" name="Rectangle 17"/>
          <p:cNvSpPr/>
          <p:nvPr/>
        </p:nvSpPr>
        <p:spPr bwMode="auto">
          <a:xfrm flipH="1">
            <a:off x="4870900" y="3794126"/>
            <a:ext cx="1274249"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20" name="TextBox 19"/>
          <p:cNvSpPr txBox="1"/>
          <p:nvPr/>
        </p:nvSpPr>
        <p:spPr>
          <a:xfrm>
            <a:off x="4467346" y="4206710"/>
            <a:ext cx="1866917" cy="830997"/>
          </a:xfrm>
          <a:prstGeom prst="rect">
            <a:avLst/>
          </a:prstGeom>
          <a:noFill/>
          <a:ln>
            <a:noFill/>
          </a:ln>
        </p:spPr>
        <p:txBody>
          <a:bodyPr wrap="square" rtlCol="0" anchor="ctr">
            <a:spAutoFit/>
          </a:bodyPr>
          <a:lstStyle/>
          <a:p>
            <a:pPr algn="ctr"/>
            <a:r>
              <a:rPr lang="en-US" sz="2400" dirty="0" smtClean="0">
                <a:solidFill>
                  <a:schemeClr val="accent6"/>
                </a:solidFill>
                <a:latin typeface="Calibri"/>
                <a:cs typeface="Calibri"/>
              </a:rPr>
              <a:t>Melting </a:t>
            </a:r>
          </a:p>
          <a:p>
            <a:pPr algn="ctr"/>
            <a:r>
              <a:rPr lang="en-US" sz="2400" dirty="0" smtClean="0">
                <a:solidFill>
                  <a:schemeClr val="accent6"/>
                </a:solidFill>
                <a:latin typeface="Calibri"/>
                <a:cs typeface="Calibri"/>
              </a:rPr>
              <a:t>Point</a:t>
            </a:r>
            <a:endParaRPr lang="en-US" sz="2400" dirty="0">
              <a:solidFill>
                <a:schemeClr val="accent6"/>
              </a:solidFill>
              <a:latin typeface="Calibri"/>
              <a:cs typeface="Calibri"/>
            </a:endParaRPr>
          </a:p>
        </p:txBody>
      </p:sp>
      <p:grpSp>
        <p:nvGrpSpPr>
          <p:cNvPr id="21" name="Group 20"/>
          <p:cNvGrpSpPr/>
          <p:nvPr/>
        </p:nvGrpSpPr>
        <p:grpSpPr>
          <a:xfrm>
            <a:off x="3243296" y="3552959"/>
            <a:ext cx="4810125" cy="461665"/>
            <a:chOff x="555625" y="3619798"/>
            <a:chExt cx="4810125" cy="461665"/>
          </a:xfrm>
        </p:grpSpPr>
        <p:sp>
          <p:nvSpPr>
            <p:cNvPr id="22" name="TextBox 21"/>
            <p:cNvSpPr txBox="1"/>
            <p:nvPr/>
          </p:nvSpPr>
          <p:spPr>
            <a:xfrm>
              <a:off x="555625" y="3619798"/>
              <a:ext cx="760294" cy="461665"/>
            </a:xfrm>
            <a:prstGeom prst="rect">
              <a:avLst/>
            </a:prstGeom>
            <a:noFill/>
          </p:spPr>
          <p:txBody>
            <a:bodyPr wrap="square" rtlCol="0">
              <a:spAutoFit/>
            </a:bodyPr>
            <a:lstStyle/>
            <a:p>
              <a:r>
                <a:rPr lang="en-US" sz="2400" dirty="0" smtClean="0"/>
                <a:t>T</a:t>
              </a:r>
              <a:r>
                <a:rPr lang="en-US" sz="2400" baseline="-25000" dirty="0" smtClean="0"/>
                <a:t>max</a:t>
              </a:r>
              <a:endParaRPr lang="en-US" sz="2400" dirty="0"/>
            </a:p>
          </p:txBody>
        </p:sp>
        <p:cxnSp>
          <p:nvCxnSpPr>
            <p:cNvPr id="23" name="Straight Connector 22"/>
            <p:cNvCxnSpPr/>
            <p:nvPr/>
          </p:nvCxnSpPr>
          <p:spPr bwMode="auto">
            <a:xfrm>
              <a:off x="1298575" y="3921125"/>
              <a:ext cx="4067175" cy="1588"/>
            </a:xfrm>
            <a:prstGeom prst="line">
              <a:avLst/>
            </a:prstGeom>
            <a:noFill/>
            <a:ln w="38100" cap="flat" cmpd="sng" algn="ctr">
              <a:solidFill>
                <a:srgbClr val="FF0000"/>
              </a:solidFill>
              <a:prstDash val="solid"/>
              <a:round/>
              <a:headEnd type="none" w="med" len="med"/>
              <a:tailEnd type="none" w="med" len="med"/>
            </a:ln>
            <a:effectLst/>
          </p:spPr>
        </p:cxnSp>
      </p:grpSp>
      <p:cxnSp>
        <p:nvCxnSpPr>
          <p:cNvPr id="48" name="Straight Connector 47"/>
          <p:cNvCxnSpPr/>
          <p:nvPr/>
        </p:nvCxnSpPr>
        <p:spPr bwMode="auto">
          <a:xfrm>
            <a:off x="4147000" y="4216401"/>
            <a:ext cx="4025900" cy="1588"/>
          </a:xfrm>
          <a:prstGeom prst="line">
            <a:avLst/>
          </a:prstGeom>
          <a:noFill/>
          <a:ln w="22225" cap="flat" cmpd="sng" algn="ctr">
            <a:solidFill>
              <a:srgbClr val="000000"/>
            </a:solidFill>
            <a:prstDash val="dash"/>
            <a:round/>
            <a:headEnd type="none" w="med" len="med"/>
            <a:tailEnd type="none" w="med" len="med"/>
          </a:ln>
          <a:effectLst/>
        </p:spPr>
      </p:cxnSp>
      <p:pic>
        <p:nvPicPr>
          <p:cNvPr id="56" name="Picture 55"/>
          <p:cNvPicPr>
            <a:picLocks/>
          </p:cNvPicPr>
          <p:nvPr/>
        </p:nvPicPr>
        <p:blipFill>
          <a:blip r:embed="rId5"/>
          <a:stretch>
            <a:fillRect/>
          </a:stretch>
        </p:blipFill>
        <p:spPr>
          <a:xfrm>
            <a:off x="452254" y="1002250"/>
            <a:ext cx="540747" cy="538824"/>
          </a:xfrm>
          <a:prstGeom prst="rect">
            <a:avLst/>
          </a:prstGeom>
        </p:spPr>
      </p:pic>
      <p:grpSp>
        <p:nvGrpSpPr>
          <p:cNvPr id="91" name="Group 90"/>
          <p:cNvGrpSpPr/>
          <p:nvPr/>
        </p:nvGrpSpPr>
        <p:grpSpPr>
          <a:xfrm>
            <a:off x="452254" y="1002250"/>
            <a:ext cx="2379175" cy="2375580"/>
            <a:chOff x="452254" y="1002250"/>
            <a:chExt cx="2379175" cy="2375580"/>
          </a:xfrm>
        </p:grpSpPr>
        <p:pic>
          <p:nvPicPr>
            <p:cNvPr id="57" name="Picture 56"/>
            <p:cNvPicPr>
              <a:picLocks/>
            </p:cNvPicPr>
            <p:nvPr/>
          </p:nvPicPr>
          <p:blipFill>
            <a:blip r:embed="rId5"/>
            <a:stretch>
              <a:fillRect/>
            </a:stretch>
          </p:blipFill>
          <p:spPr>
            <a:xfrm>
              <a:off x="1065107" y="1002250"/>
              <a:ext cx="540747" cy="538824"/>
            </a:xfrm>
            <a:prstGeom prst="rect">
              <a:avLst/>
            </a:prstGeom>
          </p:spPr>
        </p:pic>
        <p:pic>
          <p:nvPicPr>
            <p:cNvPr id="58" name="Picture 57"/>
            <p:cNvPicPr>
              <a:picLocks/>
            </p:cNvPicPr>
            <p:nvPr/>
          </p:nvPicPr>
          <p:blipFill>
            <a:blip r:embed="rId5"/>
            <a:stretch>
              <a:fillRect/>
            </a:stretch>
          </p:blipFill>
          <p:spPr>
            <a:xfrm>
              <a:off x="452254" y="1612924"/>
              <a:ext cx="540747" cy="538824"/>
            </a:xfrm>
            <a:prstGeom prst="rect">
              <a:avLst/>
            </a:prstGeom>
          </p:spPr>
        </p:pic>
        <p:pic>
          <p:nvPicPr>
            <p:cNvPr id="59" name="Picture 58"/>
            <p:cNvPicPr>
              <a:picLocks/>
            </p:cNvPicPr>
            <p:nvPr/>
          </p:nvPicPr>
          <p:blipFill>
            <a:blip r:embed="rId5"/>
            <a:stretch>
              <a:fillRect/>
            </a:stretch>
          </p:blipFill>
          <p:spPr>
            <a:xfrm>
              <a:off x="1065107" y="1612924"/>
              <a:ext cx="540747" cy="538824"/>
            </a:xfrm>
            <a:prstGeom prst="rect">
              <a:avLst/>
            </a:prstGeom>
          </p:spPr>
        </p:pic>
        <p:pic>
          <p:nvPicPr>
            <p:cNvPr id="60" name="Picture 59"/>
            <p:cNvPicPr>
              <a:picLocks/>
            </p:cNvPicPr>
            <p:nvPr/>
          </p:nvPicPr>
          <p:blipFill>
            <a:blip r:embed="rId5"/>
            <a:stretch>
              <a:fillRect/>
            </a:stretch>
          </p:blipFill>
          <p:spPr>
            <a:xfrm>
              <a:off x="452254" y="2228332"/>
              <a:ext cx="540747" cy="538824"/>
            </a:xfrm>
            <a:prstGeom prst="rect">
              <a:avLst/>
            </a:prstGeom>
          </p:spPr>
        </p:pic>
        <p:pic>
          <p:nvPicPr>
            <p:cNvPr id="61" name="Picture 60"/>
            <p:cNvPicPr>
              <a:picLocks/>
            </p:cNvPicPr>
            <p:nvPr/>
          </p:nvPicPr>
          <p:blipFill>
            <a:blip r:embed="rId5"/>
            <a:stretch>
              <a:fillRect/>
            </a:stretch>
          </p:blipFill>
          <p:spPr>
            <a:xfrm>
              <a:off x="1065107" y="2228332"/>
              <a:ext cx="540747" cy="538824"/>
            </a:xfrm>
            <a:prstGeom prst="rect">
              <a:avLst/>
            </a:prstGeom>
          </p:spPr>
        </p:pic>
        <p:pic>
          <p:nvPicPr>
            <p:cNvPr id="62" name="Picture 61"/>
            <p:cNvPicPr>
              <a:picLocks/>
            </p:cNvPicPr>
            <p:nvPr/>
          </p:nvPicPr>
          <p:blipFill>
            <a:blip r:embed="rId5"/>
            <a:stretch>
              <a:fillRect/>
            </a:stretch>
          </p:blipFill>
          <p:spPr>
            <a:xfrm>
              <a:off x="452254" y="2839006"/>
              <a:ext cx="540747" cy="538824"/>
            </a:xfrm>
            <a:prstGeom prst="rect">
              <a:avLst/>
            </a:prstGeom>
          </p:spPr>
        </p:pic>
        <p:pic>
          <p:nvPicPr>
            <p:cNvPr id="63" name="Picture 62"/>
            <p:cNvPicPr>
              <a:picLocks/>
            </p:cNvPicPr>
            <p:nvPr/>
          </p:nvPicPr>
          <p:blipFill>
            <a:blip r:embed="rId5"/>
            <a:stretch>
              <a:fillRect/>
            </a:stretch>
          </p:blipFill>
          <p:spPr>
            <a:xfrm>
              <a:off x="1065107" y="2839006"/>
              <a:ext cx="540747" cy="538824"/>
            </a:xfrm>
            <a:prstGeom prst="rect">
              <a:avLst/>
            </a:prstGeom>
          </p:spPr>
        </p:pic>
        <p:pic>
          <p:nvPicPr>
            <p:cNvPr id="64" name="Picture 63"/>
            <p:cNvPicPr>
              <a:picLocks/>
            </p:cNvPicPr>
            <p:nvPr/>
          </p:nvPicPr>
          <p:blipFill>
            <a:blip r:embed="rId5"/>
            <a:stretch>
              <a:fillRect/>
            </a:stretch>
          </p:blipFill>
          <p:spPr>
            <a:xfrm>
              <a:off x="1677829" y="1002250"/>
              <a:ext cx="540747" cy="538824"/>
            </a:xfrm>
            <a:prstGeom prst="rect">
              <a:avLst/>
            </a:prstGeom>
          </p:spPr>
        </p:pic>
        <p:pic>
          <p:nvPicPr>
            <p:cNvPr id="65" name="Picture 64"/>
            <p:cNvPicPr>
              <a:picLocks/>
            </p:cNvPicPr>
            <p:nvPr/>
          </p:nvPicPr>
          <p:blipFill>
            <a:blip r:embed="rId5"/>
            <a:stretch>
              <a:fillRect/>
            </a:stretch>
          </p:blipFill>
          <p:spPr>
            <a:xfrm>
              <a:off x="2290682" y="1002250"/>
              <a:ext cx="540747" cy="538824"/>
            </a:xfrm>
            <a:prstGeom prst="rect">
              <a:avLst/>
            </a:prstGeom>
          </p:spPr>
        </p:pic>
        <p:pic>
          <p:nvPicPr>
            <p:cNvPr id="66" name="Picture 65"/>
            <p:cNvPicPr>
              <a:picLocks/>
            </p:cNvPicPr>
            <p:nvPr/>
          </p:nvPicPr>
          <p:blipFill>
            <a:blip r:embed="rId5"/>
            <a:stretch>
              <a:fillRect/>
            </a:stretch>
          </p:blipFill>
          <p:spPr>
            <a:xfrm>
              <a:off x="1677829" y="1612924"/>
              <a:ext cx="540747" cy="538824"/>
            </a:xfrm>
            <a:prstGeom prst="rect">
              <a:avLst/>
            </a:prstGeom>
          </p:spPr>
        </p:pic>
        <p:pic>
          <p:nvPicPr>
            <p:cNvPr id="67" name="Picture 66"/>
            <p:cNvPicPr>
              <a:picLocks/>
            </p:cNvPicPr>
            <p:nvPr/>
          </p:nvPicPr>
          <p:blipFill>
            <a:blip r:embed="rId5"/>
            <a:stretch>
              <a:fillRect/>
            </a:stretch>
          </p:blipFill>
          <p:spPr>
            <a:xfrm>
              <a:off x="2290682" y="1612924"/>
              <a:ext cx="540747" cy="538824"/>
            </a:xfrm>
            <a:prstGeom prst="rect">
              <a:avLst/>
            </a:prstGeom>
          </p:spPr>
        </p:pic>
        <p:pic>
          <p:nvPicPr>
            <p:cNvPr id="68" name="Picture 67"/>
            <p:cNvPicPr>
              <a:picLocks/>
            </p:cNvPicPr>
            <p:nvPr/>
          </p:nvPicPr>
          <p:blipFill>
            <a:blip r:embed="rId5"/>
            <a:stretch>
              <a:fillRect/>
            </a:stretch>
          </p:blipFill>
          <p:spPr>
            <a:xfrm>
              <a:off x="1677829" y="2228332"/>
              <a:ext cx="540747" cy="538824"/>
            </a:xfrm>
            <a:prstGeom prst="rect">
              <a:avLst/>
            </a:prstGeom>
          </p:spPr>
        </p:pic>
        <p:pic>
          <p:nvPicPr>
            <p:cNvPr id="69" name="Picture 68"/>
            <p:cNvPicPr>
              <a:picLocks/>
            </p:cNvPicPr>
            <p:nvPr/>
          </p:nvPicPr>
          <p:blipFill>
            <a:blip r:embed="rId5"/>
            <a:stretch>
              <a:fillRect/>
            </a:stretch>
          </p:blipFill>
          <p:spPr>
            <a:xfrm>
              <a:off x="2290682" y="2228332"/>
              <a:ext cx="540747" cy="538824"/>
            </a:xfrm>
            <a:prstGeom prst="rect">
              <a:avLst/>
            </a:prstGeom>
          </p:spPr>
        </p:pic>
        <p:pic>
          <p:nvPicPr>
            <p:cNvPr id="70" name="Picture 69"/>
            <p:cNvPicPr>
              <a:picLocks/>
            </p:cNvPicPr>
            <p:nvPr/>
          </p:nvPicPr>
          <p:blipFill>
            <a:blip r:embed="rId5"/>
            <a:stretch>
              <a:fillRect/>
            </a:stretch>
          </p:blipFill>
          <p:spPr>
            <a:xfrm>
              <a:off x="1677829" y="2839006"/>
              <a:ext cx="540747" cy="538824"/>
            </a:xfrm>
            <a:prstGeom prst="rect">
              <a:avLst/>
            </a:prstGeom>
          </p:spPr>
        </p:pic>
        <p:pic>
          <p:nvPicPr>
            <p:cNvPr id="71" name="Picture 70"/>
            <p:cNvPicPr>
              <a:picLocks/>
            </p:cNvPicPr>
            <p:nvPr/>
          </p:nvPicPr>
          <p:blipFill>
            <a:blip r:embed="rId5"/>
            <a:stretch>
              <a:fillRect/>
            </a:stretch>
          </p:blipFill>
          <p:spPr>
            <a:xfrm>
              <a:off x="2290682" y="2839006"/>
              <a:ext cx="540747" cy="538824"/>
            </a:xfrm>
            <a:prstGeom prst="rect">
              <a:avLst/>
            </a:prstGeom>
          </p:spPr>
        </p:pic>
      </p:grpSp>
      <p:sp>
        <p:nvSpPr>
          <p:cNvPr id="72" name="Rectangle 71"/>
          <p:cNvSpPr/>
          <p:nvPr/>
        </p:nvSpPr>
        <p:spPr bwMode="auto">
          <a:xfrm>
            <a:off x="364604" y="913428"/>
            <a:ext cx="2560320" cy="2560320"/>
          </a:xfrm>
          <a:prstGeom prst="rect">
            <a:avLst/>
          </a:prstGeom>
          <a:noFill/>
          <a:ln w="76200" cap="flat" cmpd="sng" algn="ctr">
            <a:solidFill>
              <a:srgbClr val="78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92" name="TextBox 91"/>
          <p:cNvSpPr txBox="1"/>
          <p:nvPr/>
        </p:nvSpPr>
        <p:spPr>
          <a:xfrm rot="16200000">
            <a:off x="3195249" y="1749189"/>
            <a:ext cx="1142372" cy="369332"/>
          </a:xfrm>
          <a:prstGeom prst="rect">
            <a:avLst/>
          </a:prstGeom>
          <a:noFill/>
        </p:spPr>
        <p:txBody>
          <a:bodyPr wrap="square" rtlCol="0">
            <a:spAutoFit/>
          </a:bodyPr>
          <a:lstStyle/>
          <a:p>
            <a:r>
              <a:rPr lang="en-US" b="1" dirty="0" smtClean="0"/>
              <a:t>power</a:t>
            </a:r>
            <a:endParaRPr lang="en-US" b="1" dirty="0"/>
          </a:p>
        </p:txBody>
      </p:sp>
      <p:sp>
        <p:nvSpPr>
          <p:cNvPr id="93" name="TextBox 92"/>
          <p:cNvSpPr txBox="1"/>
          <p:nvPr/>
        </p:nvSpPr>
        <p:spPr>
          <a:xfrm rot="16200000">
            <a:off x="3007021" y="4870335"/>
            <a:ext cx="1518828" cy="369332"/>
          </a:xfrm>
          <a:prstGeom prst="rect">
            <a:avLst/>
          </a:prstGeom>
          <a:noFill/>
        </p:spPr>
        <p:txBody>
          <a:bodyPr wrap="none" rtlCol="0">
            <a:spAutoFit/>
          </a:bodyPr>
          <a:lstStyle/>
          <a:p>
            <a:r>
              <a:rPr lang="en-US" b="1" dirty="0" smtClean="0"/>
              <a:t>temperature</a:t>
            </a:r>
            <a:endParaRPr lang="en-US" b="1" dirty="0"/>
          </a:p>
        </p:txBody>
      </p:sp>
      <p:cxnSp>
        <p:nvCxnSpPr>
          <p:cNvPr id="94" name="Straight Connector 93"/>
          <p:cNvCxnSpPr/>
          <p:nvPr/>
        </p:nvCxnSpPr>
        <p:spPr bwMode="auto">
          <a:xfrm rot="5400000">
            <a:off x="2792744" y="4757434"/>
            <a:ext cx="2408953" cy="1588"/>
          </a:xfrm>
          <a:prstGeom prst="line">
            <a:avLst/>
          </a:prstGeom>
          <a:noFill/>
          <a:ln w="38100" cap="flat" cmpd="sng" algn="ctr">
            <a:solidFill>
              <a:srgbClr val="000000"/>
            </a:solidFill>
            <a:prstDash val="solid"/>
            <a:round/>
            <a:headEnd type="none" w="med" len="med"/>
            <a:tailEnd type="none" w="med" len="med"/>
          </a:ln>
          <a:effectLst/>
        </p:spPr>
      </p:cxnSp>
      <p:cxnSp>
        <p:nvCxnSpPr>
          <p:cNvPr id="95" name="Straight Connector 94"/>
          <p:cNvCxnSpPr/>
          <p:nvPr/>
        </p:nvCxnSpPr>
        <p:spPr bwMode="auto">
          <a:xfrm>
            <a:off x="3980040" y="5960323"/>
            <a:ext cx="4365482" cy="1588"/>
          </a:xfrm>
          <a:prstGeom prst="line">
            <a:avLst/>
          </a:prstGeom>
          <a:noFill/>
          <a:ln w="38100" cap="flat" cmpd="sng" algn="ctr">
            <a:solidFill>
              <a:srgbClr val="000000"/>
            </a:solidFill>
            <a:prstDash val="solid"/>
            <a:round/>
            <a:headEnd type="none" w="med" len="med"/>
            <a:tailEnd type="none" w="med" len="med"/>
          </a:ln>
          <a:effectLst/>
        </p:spPr>
      </p:cxnSp>
      <p:cxnSp>
        <p:nvCxnSpPr>
          <p:cNvPr id="96" name="Straight Connector 95"/>
          <p:cNvCxnSpPr/>
          <p:nvPr/>
        </p:nvCxnSpPr>
        <p:spPr bwMode="auto">
          <a:xfrm rot="16200000" flipH="1">
            <a:off x="2992218" y="2031601"/>
            <a:ext cx="2058701" cy="1"/>
          </a:xfrm>
          <a:prstGeom prst="line">
            <a:avLst/>
          </a:prstGeom>
          <a:noFill/>
          <a:ln w="38100" cap="flat" cmpd="sng" algn="ctr">
            <a:solidFill>
              <a:srgbClr val="000000"/>
            </a:solidFill>
            <a:prstDash val="solid"/>
            <a:round/>
            <a:headEnd type="none" w="med" len="med"/>
            <a:tailEnd type="none" w="med" len="med"/>
          </a:ln>
          <a:effectLst/>
        </p:spPr>
      </p:cxnSp>
      <p:cxnSp>
        <p:nvCxnSpPr>
          <p:cNvPr id="97" name="Straight Connector 96"/>
          <p:cNvCxnSpPr/>
          <p:nvPr/>
        </p:nvCxnSpPr>
        <p:spPr bwMode="auto">
          <a:xfrm>
            <a:off x="4005182" y="3058572"/>
            <a:ext cx="4365482" cy="1588"/>
          </a:xfrm>
          <a:prstGeom prst="line">
            <a:avLst/>
          </a:prstGeom>
          <a:noFill/>
          <a:ln w="38100" cap="flat" cmpd="sng" algn="ctr">
            <a:solidFill>
              <a:srgbClr val="000000"/>
            </a:solidFill>
            <a:prstDash val="solid"/>
            <a:round/>
            <a:headEnd type="none" w="med" len="med"/>
            <a:tailEnd type="none" w="med" len="med"/>
          </a:ln>
          <a:effec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xit" presetSubtype="8" fill="hold" grpId="0" nodeType="withEffect">
                                  <p:stCondLst>
                                    <p:cond delay="0"/>
                                  </p:stCondLst>
                                  <p:childTnLst>
                                    <p:animEffect transition="out" filter="wipe(left)">
                                      <p:cBhvr>
                                        <p:cTn id="6" dur="1000"/>
                                        <p:tgtEl>
                                          <p:spTgt spid="54"/>
                                        </p:tgtEl>
                                      </p:cBhvr>
                                    </p:animEffect>
                                    <p:set>
                                      <p:cBhvr>
                                        <p:cTn id="7" dur="1" fill="hold">
                                          <p:stCondLst>
                                            <p:cond delay="999"/>
                                          </p:stCondLst>
                                        </p:cTn>
                                        <p:tgtEl>
                                          <p:spTgt spid="5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1000"/>
                                        <p:tgtEl>
                                          <p:spTgt spid="18"/>
                                        </p:tgtEl>
                                      </p:cBhvr>
                                    </p:animEffect>
                                    <p:set>
                                      <p:cBhvr>
                                        <p:cTn id="10" dur="1" fill="hold">
                                          <p:stCondLst>
                                            <p:cond delay="999"/>
                                          </p:stCondLst>
                                        </p:cTn>
                                        <p:tgtEl>
                                          <p:spTgt spid="18"/>
                                        </p:tgtEl>
                                        <p:attrNameLst>
                                          <p:attrName>style.visibility</p:attrName>
                                        </p:attrNameLst>
                                      </p:cBhvr>
                                      <p:to>
                                        <p:strVal val="hidden"/>
                                      </p:to>
                                    </p:se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90"/>
                                        </p:tgtEl>
                                        <p:attrNameLst>
                                          <p:attrName>style.visibility</p:attrName>
                                        </p:attrNameLst>
                                      </p:cBhvr>
                                      <p:to>
                                        <p:strVal val="visible"/>
                                      </p:to>
                                    </p:set>
                                    <p:animEffect transition="in" filter="fade">
                                      <p:cBhvr>
                                        <p:cTn id="14" dur="500"/>
                                        <p:tgtEl>
                                          <p:spTgt spid="90"/>
                                        </p:tgtEl>
                                      </p:cBhvr>
                                    </p:animEffect>
                                  </p:childTnLst>
                                  <p:subTnLst>
                                    <p:animClr>
                                      <p:cBhvr override="childStyle">
                                        <p:cTn dur="1" fill="hold" display="0" masterRel="nextClick" afterEffect="1"/>
                                        <p:tgtEl>
                                          <p:spTgt spid="90"/>
                                        </p:tgtEl>
                                        <p:attrNameLst>
                                          <p:attrName>ppt_c</p:attrName>
                                        </p:attrNameLst>
                                      </p:cBhvr>
                                      <p:to>
                                        <a:schemeClr val="tx1"/>
                                      </p:to>
                                    </p:animClr>
                                  </p:subTnLst>
                                </p:cTn>
                              </p:par>
                              <p:par>
                                <p:cTn id="15" presetID="10" presetClass="exit" presetSubtype="0" fill="hold" nodeType="withEffect">
                                  <p:stCondLst>
                                    <p:cond delay="0"/>
                                  </p:stCondLst>
                                  <p:childTnLst>
                                    <p:animEffect transition="out" filter="fade">
                                      <p:cBhvr>
                                        <p:cTn id="16" dur="500"/>
                                        <p:tgtEl>
                                          <p:spTgt spid="91"/>
                                        </p:tgtEl>
                                      </p:cBhvr>
                                    </p:animEffect>
                                    <p:set>
                                      <p:cBhvr>
                                        <p:cTn id="17" dur="1" fill="hold">
                                          <p:stCondLst>
                                            <p:cond delay="499"/>
                                          </p:stCondLst>
                                        </p:cTn>
                                        <p:tgtEl>
                                          <p:spTgt spid="91"/>
                                        </p:tgtEl>
                                        <p:attrNameLst>
                                          <p:attrName>style.visibility</p:attrName>
                                        </p:attrNameLst>
                                      </p:cBhvr>
                                      <p:to>
                                        <p:strVal val="hidden"/>
                                      </p:to>
                                    </p:set>
                                  </p:childTnLst>
                                </p:cTn>
                              </p:par>
                            </p:childTnLst>
                          </p:cTn>
                        </p:par>
                        <p:par>
                          <p:cTn id="18" fill="hold">
                            <p:stCondLst>
                              <p:cond delay="1500"/>
                            </p:stCondLst>
                            <p:childTnLst>
                              <p:par>
                                <p:cTn id="19" presetID="1" presetClass="entr" presetSubtype="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30" grpId="0"/>
      <p:bldP spid="18" grpId="0" animBg="1"/>
    </p:bld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cxnSp>
        <p:nvCxnSpPr>
          <p:cNvPr id="48" name="Straight Connector 47"/>
          <p:cNvCxnSpPr/>
          <p:nvPr/>
        </p:nvCxnSpPr>
        <p:spPr bwMode="auto">
          <a:xfrm>
            <a:off x="4146998" y="4216401"/>
            <a:ext cx="4025900" cy="1588"/>
          </a:xfrm>
          <a:prstGeom prst="line">
            <a:avLst/>
          </a:prstGeom>
          <a:noFill/>
          <a:ln w="22225" cap="flat" cmpd="sng" algn="ctr">
            <a:solidFill>
              <a:srgbClr val="000000"/>
            </a:solidFill>
            <a:prstDash val="dash"/>
            <a:round/>
            <a:headEnd type="none" w="med" len="med"/>
            <a:tailEnd type="none" w="med" len="med"/>
          </a:ln>
          <a:effectLst/>
        </p:spPr>
      </p:cxnSp>
      <p:graphicFrame>
        <p:nvGraphicFramePr>
          <p:cNvPr id="33" name="Chart 32"/>
          <p:cNvGraphicFramePr/>
          <p:nvPr/>
        </p:nvGraphicFramePr>
        <p:xfrm>
          <a:off x="3872378" y="3794126"/>
          <a:ext cx="4572000" cy="2299582"/>
        </p:xfrm>
        <a:graphic>
          <a:graphicData uri="http://schemas.openxmlformats.org/drawingml/2006/chart">
            <c:chart xmlns:c="http://schemas.openxmlformats.org/drawingml/2006/chart" xmlns:r="http://schemas.openxmlformats.org/officeDocument/2006/relationships" r:id="rId3"/>
          </a:graphicData>
        </a:graphic>
      </p:graphicFrame>
      <p:sp>
        <p:nvSpPr>
          <p:cNvPr id="17" name="Rectangle 16"/>
          <p:cNvSpPr/>
          <p:nvPr/>
        </p:nvSpPr>
        <p:spPr bwMode="auto">
          <a:xfrm>
            <a:off x="7152720" y="3794126"/>
            <a:ext cx="1291656"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aphicFrame>
        <p:nvGraphicFramePr>
          <p:cNvPr id="25" name="Chart 24"/>
          <p:cNvGraphicFramePr/>
          <p:nvPr/>
        </p:nvGraphicFramePr>
        <p:xfrm>
          <a:off x="3867598" y="1174433"/>
          <a:ext cx="4572000" cy="2000568"/>
        </p:xfrm>
        <a:graphic>
          <a:graphicData uri="http://schemas.openxmlformats.org/drawingml/2006/chart">
            <c:chart xmlns:c="http://schemas.openxmlformats.org/drawingml/2006/chart" xmlns:r="http://schemas.openxmlformats.org/officeDocument/2006/relationships" r:id="rId4"/>
          </a:graphicData>
        </a:graphic>
      </p:graphicFrame>
      <p:sp>
        <p:nvSpPr>
          <p:cNvPr id="2" name="Title 1"/>
          <p:cNvSpPr>
            <a:spLocks noGrp="1"/>
          </p:cNvSpPr>
          <p:nvPr>
            <p:ph type="title"/>
          </p:nvPr>
        </p:nvSpPr>
        <p:spPr/>
        <p:txBody>
          <a:bodyPr/>
          <a:lstStyle/>
          <a:p>
            <a:r>
              <a:rPr lang="en-US" dirty="0" smtClean="0"/>
              <a:t>Augmented Sprinting with PCM</a:t>
            </a:r>
            <a:endParaRPr lang="en-US" dirty="0"/>
          </a:p>
        </p:txBody>
      </p:sp>
      <p:sp>
        <p:nvSpPr>
          <p:cNvPr id="19" name="Slide Number Placeholder 18"/>
          <p:cNvSpPr>
            <a:spLocks noGrp="1"/>
          </p:cNvSpPr>
          <p:nvPr>
            <p:ph type="sldNum" sz="quarter" idx="10"/>
          </p:nvPr>
        </p:nvSpPr>
        <p:spPr/>
        <p:txBody>
          <a:bodyPr/>
          <a:lstStyle/>
          <a:p>
            <a:fld id="{F095543E-C052-B94D-8CA8-5BD72BC98389}" type="slidenum">
              <a:rPr lang="en-US" smtClean="0"/>
              <a:pPr/>
              <a:t>23</a:t>
            </a:fld>
            <a:endParaRPr lang="en-US"/>
          </a:p>
        </p:txBody>
      </p:sp>
      <p:sp>
        <p:nvSpPr>
          <p:cNvPr id="52" name="Footer Placeholder 51"/>
          <p:cNvSpPr>
            <a:spLocks noGrp="1"/>
          </p:cNvSpPr>
          <p:nvPr>
            <p:ph type="ftr" sz="quarter" idx="11"/>
          </p:nvPr>
        </p:nvSpPr>
        <p:spPr/>
        <p:txBody>
          <a:bodyPr/>
          <a:lstStyle/>
          <a:p>
            <a:r>
              <a:rPr lang="en-US" smtClean="0"/>
              <a:t>Computational Sprinting</a:t>
            </a:r>
            <a:endParaRPr lang="en-US" dirty="0"/>
          </a:p>
        </p:txBody>
      </p:sp>
      <p:sp>
        <p:nvSpPr>
          <p:cNvPr id="39" name="TextBox 38"/>
          <p:cNvSpPr txBox="1"/>
          <p:nvPr/>
        </p:nvSpPr>
        <p:spPr>
          <a:xfrm rot="16200000">
            <a:off x="3195249" y="1749189"/>
            <a:ext cx="1142372" cy="369332"/>
          </a:xfrm>
          <a:prstGeom prst="rect">
            <a:avLst/>
          </a:prstGeom>
          <a:noFill/>
        </p:spPr>
        <p:txBody>
          <a:bodyPr wrap="square" rtlCol="0">
            <a:spAutoFit/>
          </a:bodyPr>
          <a:lstStyle/>
          <a:p>
            <a:r>
              <a:rPr lang="en-US" b="1" dirty="0" smtClean="0"/>
              <a:t>power</a:t>
            </a:r>
            <a:endParaRPr lang="en-US" b="1" dirty="0"/>
          </a:p>
        </p:txBody>
      </p:sp>
      <p:sp>
        <p:nvSpPr>
          <p:cNvPr id="41" name="TextBox 40"/>
          <p:cNvSpPr txBox="1"/>
          <p:nvPr/>
        </p:nvSpPr>
        <p:spPr>
          <a:xfrm rot="16200000">
            <a:off x="3007021" y="4870335"/>
            <a:ext cx="1518828" cy="369332"/>
          </a:xfrm>
          <a:prstGeom prst="rect">
            <a:avLst/>
          </a:prstGeom>
          <a:noFill/>
        </p:spPr>
        <p:txBody>
          <a:bodyPr wrap="none" rtlCol="0">
            <a:spAutoFit/>
          </a:bodyPr>
          <a:lstStyle/>
          <a:p>
            <a:r>
              <a:rPr lang="en-US" b="1" dirty="0" smtClean="0"/>
              <a:t>temperature</a:t>
            </a:r>
            <a:endParaRPr lang="en-US" b="1" dirty="0"/>
          </a:p>
        </p:txBody>
      </p:sp>
      <p:sp>
        <p:nvSpPr>
          <p:cNvPr id="54" name="Rectangle 53"/>
          <p:cNvSpPr/>
          <p:nvPr/>
        </p:nvSpPr>
        <p:spPr bwMode="auto">
          <a:xfrm>
            <a:off x="6145146" y="1174434"/>
            <a:ext cx="1007573"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55" name="Rectangle 54"/>
          <p:cNvSpPr/>
          <p:nvPr/>
        </p:nvSpPr>
        <p:spPr bwMode="auto">
          <a:xfrm>
            <a:off x="7152720" y="1174433"/>
            <a:ext cx="1286877"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8" name="Rectangle 17"/>
          <p:cNvSpPr/>
          <p:nvPr/>
        </p:nvSpPr>
        <p:spPr bwMode="auto">
          <a:xfrm>
            <a:off x="6145147" y="3794126"/>
            <a:ext cx="1007572" cy="18468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22" name="TextBox 21"/>
          <p:cNvSpPr txBox="1"/>
          <p:nvPr/>
        </p:nvSpPr>
        <p:spPr>
          <a:xfrm>
            <a:off x="4467344" y="4206710"/>
            <a:ext cx="1866917" cy="830997"/>
          </a:xfrm>
          <a:prstGeom prst="rect">
            <a:avLst/>
          </a:prstGeom>
          <a:noFill/>
          <a:ln>
            <a:noFill/>
          </a:ln>
        </p:spPr>
        <p:txBody>
          <a:bodyPr wrap="square" rtlCol="0" anchor="ctr">
            <a:spAutoFit/>
          </a:bodyPr>
          <a:lstStyle/>
          <a:p>
            <a:pPr algn="ctr"/>
            <a:r>
              <a:rPr lang="en-US" sz="2400" dirty="0" smtClean="0">
                <a:solidFill>
                  <a:schemeClr val="accent6"/>
                </a:solidFill>
                <a:latin typeface="Calibri"/>
                <a:cs typeface="Calibri"/>
              </a:rPr>
              <a:t>Melting </a:t>
            </a:r>
          </a:p>
          <a:p>
            <a:pPr algn="ctr"/>
            <a:r>
              <a:rPr lang="en-US" sz="2400" dirty="0" smtClean="0">
                <a:solidFill>
                  <a:schemeClr val="accent6"/>
                </a:solidFill>
                <a:latin typeface="Calibri"/>
                <a:cs typeface="Calibri"/>
              </a:rPr>
              <a:t>Point</a:t>
            </a:r>
            <a:endParaRPr lang="en-US" sz="2400" dirty="0">
              <a:solidFill>
                <a:schemeClr val="accent6"/>
              </a:solidFill>
              <a:latin typeface="Calibri"/>
              <a:cs typeface="Calibri"/>
            </a:endParaRPr>
          </a:p>
        </p:txBody>
      </p:sp>
      <p:sp>
        <p:nvSpPr>
          <p:cNvPr id="23" name="TextBox 22"/>
          <p:cNvSpPr txBox="1"/>
          <p:nvPr/>
        </p:nvSpPr>
        <p:spPr>
          <a:xfrm>
            <a:off x="6249712" y="4206710"/>
            <a:ext cx="2270273" cy="461665"/>
          </a:xfrm>
          <a:prstGeom prst="rect">
            <a:avLst/>
          </a:prstGeom>
          <a:noFill/>
          <a:ln>
            <a:noFill/>
          </a:ln>
        </p:spPr>
        <p:txBody>
          <a:bodyPr wrap="none" rtlCol="0" anchor="ctr">
            <a:spAutoFit/>
          </a:bodyPr>
          <a:lstStyle/>
          <a:p>
            <a:pPr algn="ctr"/>
            <a:r>
              <a:rPr lang="en-US" sz="2400" dirty="0" smtClean="0">
                <a:solidFill>
                  <a:schemeClr val="accent6"/>
                </a:solidFill>
              </a:rPr>
              <a:t>Re-</a:t>
            </a:r>
            <a:r>
              <a:rPr lang="en-US" sz="2400" dirty="0" smtClean="0">
                <a:solidFill>
                  <a:schemeClr val="accent6"/>
                </a:solidFill>
                <a:latin typeface="Calibri"/>
                <a:cs typeface="Calibri"/>
              </a:rPr>
              <a:t>solidification</a:t>
            </a:r>
            <a:endParaRPr lang="en-US" sz="2400" dirty="0">
              <a:solidFill>
                <a:schemeClr val="accent6"/>
              </a:solidFill>
              <a:latin typeface="Calibri"/>
              <a:cs typeface="Calibri"/>
            </a:endParaRPr>
          </a:p>
        </p:txBody>
      </p:sp>
      <p:sp>
        <p:nvSpPr>
          <p:cNvPr id="24" name="TextBox 23"/>
          <p:cNvSpPr txBox="1"/>
          <p:nvPr/>
        </p:nvSpPr>
        <p:spPr>
          <a:xfrm>
            <a:off x="4870898" y="1528385"/>
            <a:ext cx="4127233" cy="830997"/>
          </a:xfrm>
          <a:prstGeom prst="rect">
            <a:avLst/>
          </a:prstGeom>
          <a:noFill/>
          <a:ln>
            <a:noFill/>
          </a:ln>
        </p:spPr>
        <p:txBody>
          <a:bodyPr wrap="square" rtlCol="0" anchor="ctr">
            <a:spAutoFit/>
          </a:bodyPr>
          <a:lstStyle/>
          <a:p>
            <a:pPr algn="ctr"/>
            <a:r>
              <a:rPr lang="en-US" sz="2400" dirty="0" smtClean="0">
                <a:solidFill>
                  <a:schemeClr val="accent6"/>
                </a:solidFill>
              </a:rPr>
              <a:t>Sustainable</a:t>
            </a:r>
          </a:p>
          <a:p>
            <a:pPr algn="ctr"/>
            <a:r>
              <a:rPr lang="en-US" sz="2400" dirty="0" smtClean="0">
                <a:solidFill>
                  <a:schemeClr val="accent6"/>
                </a:solidFill>
              </a:rPr>
              <a:t>(single core)</a:t>
            </a:r>
            <a:endParaRPr lang="en-US" sz="2400" dirty="0">
              <a:solidFill>
                <a:schemeClr val="accent6"/>
              </a:solidFill>
            </a:endParaRPr>
          </a:p>
        </p:txBody>
      </p:sp>
      <p:grpSp>
        <p:nvGrpSpPr>
          <p:cNvPr id="26" name="Group 25"/>
          <p:cNvGrpSpPr/>
          <p:nvPr/>
        </p:nvGrpSpPr>
        <p:grpSpPr>
          <a:xfrm>
            <a:off x="3243294" y="3552959"/>
            <a:ext cx="4810125" cy="461665"/>
            <a:chOff x="555625" y="3619798"/>
            <a:chExt cx="4810125" cy="461665"/>
          </a:xfrm>
        </p:grpSpPr>
        <p:sp>
          <p:nvSpPr>
            <p:cNvPr id="27" name="TextBox 26"/>
            <p:cNvSpPr txBox="1"/>
            <p:nvPr/>
          </p:nvSpPr>
          <p:spPr>
            <a:xfrm>
              <a:off x="555625" y="3619798"/>
              <a:ext cx="760294" cy="461665"/>
            </a:xfrm>
            <a:prstGeom prst="rect">
              <a:avLst/>
            </a:prstGeom>
            <a:noFill/>
          </p:spPr>
          <p:txBody>
            <a:bodyPr wrap="square" rtlCol="0">
              <a:spAutoFit/>
            </a:bodyPr>
            <a:lstStyle/>
            <a:p>
              <a:r>
                <a:rPr lang="en-US" sz="2400" dirty="0" smtClean="0"/>
                <a:t>T</a:t>
              </a:r>
              <a:r>
                <a:rPr lang="en-US" sz="2400" baseline="-25000" dirty="0" smtClean="0"/>
                <a:t>max</a:t>
              </a:r>
              <a:endParaRPr lang="en-US" sz="2400" dirty="0"/>
            </a:p>
          </p:txBody>
        </p:sp>
        <p:cxnSp>
          <p:nvCxnSpPr>
            <p:cNvPr id="28" name="Straight Connector 27"/>
            <p:cNvCxnSpPr/>
            <p:nvPr/>
          </p:nvCxnSpPr>
          <p:spPr bwMode="auto">
            <a:xfrm>
              <a:off x="1298575" y="3921125"/>
              <a:ext cx="4067175" cy="1588"/>
            </a:xfrm>
            <a:prstGeom prst="line">
              <a:avLst/>
            </a:prstGeom>
            <a:noFill/>
            <a:ln w="38100" cap="flat" cmpd="sng" algn="ctr">
              <a:solidFill>
                <a:srgbClr val="FF0000"/>
              </a:solidFill>
              <a:prstDash val="solid"/>
              <a:round/>
              <a:headEnd type="none" w="med" len="med"/>
              <a:tailEnd type="none" w="med" len="med"/>
            </a:ln>
            <a:effectLst/>
          </p:spPr>
        </p:cxnSp>
      </p:grpSp>
      <p:grpSp>
        <p:nvGrpSpPr>
          <p:cNvPr id="30" name="Group 29"/>
          <p:cNvGrpSpPr/>
          <p:nvPr/>
        </p:nvGrpSpPr>
        <p:grpSpPr>
          <a:xfrm>
            <a:off x="457200" y="1001576"/>
            <a:ext cx="2378011" cy="2375580"/>
            <a:chOff x="723166" y="4403888"/>
            <a:chExt cx="2378011" cy="2375580"/>
          </a:xfrm>
        </p:grpSpPr>
        <p:sp>
          <p:nvSpPr>
            <p:cNvPr id="31" name="Rectangle 30"/>
            <p:cNvSpPr/>
            <p:nvPr/>
          </p:nvSpPr>
          <p:spPr bwMode="auto">
            <a:xfrm>
              <a:off x="1336237" y="440388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2" name="Rectangle 31"/>
            <p:cNvSpPr/>
            <p:nvPr/>
          </p:nvSpPr>
          <p:spPr bwMode="auto">
            <a:xfrm>
              <a:off x="1949308" y="440388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4" name="Rectangle 33"/>
            <p:cNvSpPr/>
            <p:nvPr/>
          </p:nvSpPr>
          <p:spPr bwMode="auto">
            <a:xfrm>
              <a:off x="2561681" y="4403888"/>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5" name="Rectangle 34"/>
            <p:cNvSpPr/>
            <p:nvPr/>
          </p:nvSpPr>
          <p:spPr bwMode="auto">
            <a:xfrm>
              <a:off x="1336237" y="6239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6" name="Rectangle 35"/>
            <p:cNvSpPr/>
            <p:nvPr/>
          </p:nvSpPr>
          <p:spPr bwMode="auto">
            <a:xfrm>
              <a:off x="1949308" y="6239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7" name="Rectangle 36"/>
            <p:cNvSpPr/>
            <p:nvPr/>
          </p:nvSpPr>
          <p:spPr bwMode="auto">
            <a:xfrm>
              <a:off x="2561681" y="6239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8" name="Rectangle 37"/>
            <p:cNvSpPr/>
            <p:nvPr/>
          </p:nvSpPr>
          <p:spPr bwMode="auto">
            <a:xfrm>
              <a:off x="723864" y="6239972"/>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0" name="Rectangle 39"/>
            <p:cNvSpPr/>
            <p:nvPr/>
          </p:nvSpPr>
          <p:spPr bwMode="auto">
            <a:xfrm>
              <a:off x="1335539" y="5629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2" name="Rectangle 41"/>
            <p:cNvSpPr/>
            <p:nvPr/>
          </p:nvSpPr>
          <p:spPr bwMode="auto">
            <a:xfrm>
              <a:off x="1948610" y="5629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6" name="Rectangle 45"/>
            <p:cNvSpPr/>
            <p:nvPr/>
          </p:nvSpPr>
          <p:spPr bwMode="auto">
            <a:xfrm>
              <a:off x="2560983" y="5629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7" name="Rectangle 46"/>
            <p:cNvSpPr/>
            <p:nvPr/>
          </p:nvSpPr>
          <p:spPr bwMode="auto">
            <a:xfrm>
              <a:off x="723166" y="5629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9" name="Rectangle 48"/>
            <p:cNvSpPr/>
            <p:nvPr/>
          </p:nvSpPr>
          <p:spPr bwMode="auto">
            <a:xfrm>
              <a:off x="1336237" y="5013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50" name="Rectangle 49"/>
            <p:cNvSpPr/>
            <p:nvPr/>
          </p:nvSpPr>
          <p:spPr bwMode="auto">
            <a:xfrm>
              <a:off x="1949308" y="5013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51" name="Rectangle 50"/>
            <p:cNvSpPr/>
            <p:nvPr/>
          </p:nvSpPr>
          <p:spPr bwMode="auto">
            <a:xfrm>
              <a:off x="2561681" y="5013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53" name="Rectangle 52"/>
            <p:cNvSpPr/>
            <p:nvPr/>
          </p:nvSpPr>
          <p:spPr bwMode="auto">
            <a:xfrm>
              <a:off x="723864" y="5013930"/>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pic>
        <p:nvPicPr>
          <p:cNvPr id="56" name="Picture 55"/>
          <p:cNvPicPr>
            <a:picLocks/>
          </p:cNvPicPr>
          <p:nvPr/>
        </p:nvPicPr>
        <p:blipFill>
          <a:blip r:embed="rId5"/>
          <a:stretch>
            <a:fillRect/>
          </a:stretch>
        </p:blipFill>
        <p:spPr>
          <a:xfrm>
            <a:off x="452252" y="1002248"/>
            <a:ext cx="540747" cy="538824"/>
          </a:xfrm>
          <a:prstGeom prst="rect">
            <a:avLst/>
          </a:prstGeom>
        </p:spPr>
      </p:pic>
      <p:sp>
        <p:nvSpPr>
          <p:cNvPr id="73" name="Rectangle 72"/>
          <p:cNvSpPr/>
          <p:nvPr/>
        </p:nvSpPr>
        <p:spPr bwMode="auto">
          <a:xfrm>
            <a:off x="364604" y="913428"/>
            <a:ext cx="2560320" cy="2560320"/>
          </a:xfrm>
          <a:prstGeom prst="rect">
            <a:avLst/>
          </a:prstGeom>
          <a:noFill/>
          <a:ln w="76200" cap="flat" cmpd="sng" algn="ctr">
            <a:solidFill>
              <a:srgbClr val="78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4" name="Rectangle 73"/>
          <p:cNvSpPr/>
          <p:nvPr/>
        </p:nvSpPr>
        <p:spPr bwMode="auto">
          <a:xfrm>
            <a:off x="454814" y="1001576"/>
            <a:ext cx="539496" cy="539496"/>
          </a:xfrm>
          <a:prstGeom prst="rect">
            <a:avLst/>
          </a:prstGeom>
          <a:solidFill>
            <a:srgbClr val="0000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pic>
        <p:nvPicPr>
          <p:cNvPr id="75" name="Picture 74"/>
          <p:cNvPicPr>
            <a:picLocks/>
          </p:cNvPicPr>
          <p:nvPr/>
        </p:nvPicPr>
        <p:blipFill>
          <a:blip r:embed="rId5"/>
          <a:stretch>
            <a:fillRect/>
          </a:stretch>
        </p:blipFill>
        <p:spPr>
          <a:xfrm>
            <a:off x="452254" y="1002250"/>
            <a:ext cx="540747" cy="538824"/>
          </a:xfrm>
          <a:prstGeom prst="rect">
            <a:avLst/>
          </a:prstGeom>
        </p:spPr>
      </p:pic>
      <p:cxnSp>
        <p:nvCxnSpPr>
          <p:cNvPr id="76" name="Straight Connector 75"/>
          <p:cNvCxnSpPr/>
          <p:nvPr/>
        </p:nvCxnSpPr>
        <p:spPr bwMode="auto">
          <a:xfrm rot="5400000">
            <a:off x="2792744" y="4757434"/>
            <a:ext cx="2408953" cy="1588"/>
          </a:xfrm>
          <a:prstGeom prst="line">
            <a:avLst/>
          </a:prstGeom>
          <a:noFill/>
          <a:ln w="38100" cap="flat" cmpd="sng" algn="ctr">
            <a:solidFill>
              <a:srgbClr val="000000"/>
            </a:solidFill>
            <a:prstDash val="solid"/>
            <a:round/>
            <a:headEnd type="none" w="med" len="med"/>
            <a:tailEnd type="none" w="med" len="med"/>
          </a:ln>
          <a:effectLst/>
        </p:spPr>
      </p:cxnSp>
      <p:cxnSp>
        <p:nvCxnSpPr>
          <p:cNvPr id="77" name="Straight Connector 76"/>
          <p:cNvCxnSpPr/>
          <p:nvPr/>
        </p:nvCxnSpPr>
        <p:spPr bwMode="auto">
          <a:xfrm>
            <a:off x="3980040" y="5960323"/>
            <a:ext cx="4365482" cy="1588"/>
          </a:xfrm>
          <a:prstGeom prst="line">
            <a:avLst/>
          </a:prstGeom>
          <a:noFill/>
          <a:ln w="38100" cap="flat" cmpd="sng" algn="ctr">
            <a:solidFill>
              <a:srgbClr val="000000"/>
            </a:solidFill>
            <a:prstDash val="solid"/>
            <a:round/>
            <a:headEnd type="none" w="med" len="med"/>
            <a:tailEnd type="none" w="med" len="med"/>
          </a:ln>
          <a:effectLst/>
        </p:spPr>
      </p:cxnSp>
      <p:cxnSp>
        <p:nvCxnSpPr>
          <p:cNvPr id="78" name="Straight Connector 77"/>
          <p:cNvCxnSpPr/>
          <p:nvPr/>
        </p:nvCxnSpPr>
        <p:spPr bwMode="auto">
          <a:xfrm rot="16200000" flipH="1">
            <a:off x="2992218" y="2031601"/>
            <a:ext cx="2058701" cy="1"/>
          </a:xfrm>
          <a:prstGeom prst="line">
            <a:avLst/>
          </a:prstGeom>
          <a:noFill/>
          <a:ln w="38100" cap="flat" cmpd="sng" algn="ctr">
            <a:solidFill>
              <a:srgbClr val="000000"/>
            </a:solidFill>
            <a:prstDash val="solid"/>
            <a:round/>
            <a:headEnd type="none" w="med" len="med"/>
            <a:tailEnd type="none" w="med" len="med"/>
          </a:ln>
          <a:effectLst/>
        </p:spPr>
      </p:cxnSp>
      <p:cxnSp>
        <p:nvCxnSpPr>
          <p:cNvPr id="79" name="Straight Connector 78"/>
          <p:cNvCxnSpPr/>
          <p:nvPr/>
        </p:nvCxnSpPr>
        <p:spPr bwMode="auto">
          <a:xfrm>
            <a:off x="4005182" y="3058572"/>
            <a:ext cx="4365482" cy="1588"/>
          </a:xfrm>
          <a:prstGeom prst="line">
            <a:avLst/>
          </a:prstGeom>
          <a:noFill/>
          <a:ln w="38100" cap="flat" cmpd="sng" algn="ctr">
            <a:solidFill>
              <a:srgbClr val="000000"/>
            </a:solidFill>
            <a:prstDash val="solid"/>
            <a:round/>
            <a:headEnd type="none" w="med" len="med"/>
            <a:tailEnd type="none" w="med" len="med"/>
          </a:ln>
          <a:effec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xit" presetSubtype="8" fill="hold" grpId="0" nodeType="withEffect">
                                  <p:stCondLst>
                                    <p:cond delay="0"/>
                                  </p:stCondLst>
                                  <p:childTnLst>
                                    <p:animEffect transition="out" filter="wipe(left)">
                                      <p:cBhvr>
                                        <p:cTn id="6" dur="1000"/>
                                        <p:tgtEl>
                                          <p:spTgt spid="54"/>
                                        </p:tgtEl>
                                      </p:cBhvr>
                                    </p:animEffect>
                                    <p:set>
                                      <p:cBhvr>
                                        <p:cTn id="7" dur="1" fill="hold">
                                          <p:stCondLst>
                                            <p:cond delay="999"/>
                                          </p:stCondLst>
                                        </p:cTn>
                                        <p:tgtEl>
                                          <p:spTgt spid="5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1000"/>
                                        <p:tgtEl>
                                          <p:spTgt spid="18"/>
                                        </p:tgtEl>
                                      </p:cBhvr>
                                    </p:animEffect>
                                    <p:set>
                                      <p:cBhvr>
                                        <p:cTn id="10" dur="1" fill="hold">
                                          <p:stCondLst>
                                            <p:cond delay="999"/>
                                          </p:stCondLst>
                                        </p:cTn>
                                        <p:tgtEl>
                                          <p:spTgt spid="18"/>
                                        </p:tgtEl>
                                        <p:attrNameLst>
                                          <p:attrName>style.visibility</p:attrName>
                                        </p:attrNameLst>
                                      </p:cBhvr>
                                      <p:to>
                                        <p:strVal val="hidden"/>
                                      </p:to>
                                    </p:se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23"/>
                                        </p:tgtEl>
                                        <p:attrNameLst>
                                          <p:attrName>style.visibility</p:attrName>
                                        </p:attrNameLst>
                                      </p:cBhvr>
                                      <p:to>
                                        <p:strVal val="visible"/>
                                      </p:to>
                                    </p:set>
                                  </p:childTnLst>
                                </p:cTn>
                              </p:par>
                              <p:par>
                                <p:cTn id="14" presetID="10" presetClass="entr" presetSubtype="0" fill="hold" grpId="0" nodeType="withEffect">
                                  <p:stCondLst>
                                    <p:cond delay="0"/>
                                  </p:stCondLst>
                                  <p:childTnLst>
                                    <p:set>
                                      <p:cBhvr>
                                        <p:cTn id="15" dur="1" fill="hold">
                                          <p:stCondLst>
                                            <p:cond delay="0"/>
                                          </p:stCondLst>
                                        </p:cTn>
                                        <p:tgtEl>
                                          <p:spTgt spid="74"/>
                                        </p:tgtEl>
                                        <p:attrNameLst>
                                          <p:attrName>style.visibility</p:attrName>
                                        </p:attrNameLst>
                                      </p:cBhvr>
                                      <p:to>
                                        <p:strVal val="visible"/>
                                      </p:to>
                                    </p:set>
                                    <p:animEffect transition="in" filter="fade">
                                      <p:cBhvr>
                                        <p:cTn id="16" dur="500"/>
                                        <p:tgtEl>
                                          <p:spTgt spid="74"/>
                                        </p:tgtEl>
                                      </p:cBhvr>
                                    </p:animEffect>
                                  </p:childTnLst>
                                </p:cTn>
                              </p:par>
                              <p:par>
                                <p:cTn id="17" presetID="10" presetClass="exit" presetSubtype="0" fill="hold" nodeType="withEffect">
                                  <p:stCondLst>
                                    <p:cond delay="0"/>
                                  </p:stCondLst>
                                  <p:childTnLst>
                                    <p:animEffect transition="out" filter="fade">
                                      <p:cBhvr>
                                        <p:cTn id="18" dur="500"/>
                                        <p:tgtEl>
                                          <p:spTgt spid="75"/>
                                        </p:tgtEl>
                                      </p:cBhvr>
                                    </p:animEffect>
                                    <p:set>
                                      <p:cBhvr>
                                        <p:cTn id="19" dur="1" fill="hold">
                                          <p:stCondLst>
                                            <p:cond delay="499"/>
                                          </p:stCondLst>
                                        </p:cTn>
                                        <p:tgtEl>
                                          <p:spTgt spid="75"/>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2" presetClass="exit" presetSubtype="8" fill="hold" grpId="0" nodeType="clickEffect">
                                  <p:stCondLst>
                                    <p:cond delay="0"/>
                                  </p:stCondLst>
                                  <p:childTnLst>
                                    <p:animEffect transition="out" filter="wipe(left)">
                                      <p:cBhvr>
                                        <p:cTn id="23" dur="500"/>
                                        <p:tgtEl>
                                          <p:spTgt spid="17"/>
                                        </p:tgtEl>
                                      </p:cBhvr>
                                    </p:animEffect>
                                    <p:set>
                                      <p:cBhvr>
                                        <p:cTn id="24"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54" grpId="0" animBg="1"/>
      <p:bldP spid="18" grpId="0" animBg="1"/>
      <p:bldP spid="23" grpId="0"/>
      <p:bldP spid="74" grpId="0" animBg="1"/>
    </p:bld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r>
              <a:rPr lang="en-US" dirty="0" smtClean="0"/>
              <a:t>Outline</a:t>
            </a:r>
            <a:endParaRPr lang="en-US" dirty="0"/>
          </a:p>
        </p:txBody>
      </p:sp>
      <p:sp>
        <p:nvSpPr>
          <p:cNvPr id="30" name="Slide Number Placeholder 29"/>
          <p:cNvSpPr>
            <a:spLocks noGrp="1"/>
          </p:cNvSpPr>
          <p:nvPr>
            <p:ph type="sldNum" sz="quarter" idx="10"/>
          </p:nvPr>
        </p:nvSpPr>
        <p:spPr/>
        <p:txBody>
          <a:bodyPr/>
          <a:lstStyle/>
          <a:p>
            <a:fld id="{FDA0CC57-CE7D-8143-BD13-67094D272EE6}" type="slidenum">
              <a:rPr lang="en-US" smtClean="0"/>
              <a:pPr/>
              <a:t>24</a:t>
            </a:fld>
            <a:endParaRPr lang="en-US"/>
          </a:p>
        </p:txBody>
      </p:sp>
      <p:sp>
        <p:nvSpPr>
          <p:cNvPr id="31" name="Footer Placeholder 30"/>
          <p:cNvSpPr>
            <a:spLocks noGrp="1"/>
          </p:cNvSpPr>
          <p:nvPr>
            <p:ph type="ftr" sz="quarter" idx="11"/>
          </p:nvPr>
        </p:nvSpPr>
        <p:spPr/>
        <p:txBody>
          <a:bodyPr/>
          <a:lstStyle/>
          <a:p>
            <a:r>
              <a:rPr lang="en-US" smtClean="0">
                <a:solidFill>
                  <a:schemeClr val="tx2"/>
                </a:solidFill>
              </a:rPr>
              <a:t>Computational Sprinting</a:t>
            </a:r>
            <a:endParaRPr lang="en-US" dirty="0">
              <a:solidFill>
                <a:schemeClr val="tx2"/>
              </a:solidFill>
            </a:endParaRPr>
          </a:p>
        </p:txBody>
      </p:sp>
      <p:sp>
        <p:nvSpPr>
          <p:cNvPr id="7" name="Content Placeholder 6"/>
          <p:cNvSpPr>
            <a:spLocks noGrp="1"/>
          </p:cNvSpPr>
          <p:nvPr>
            <p:ph idx="1"/>
          </p:nvPr>
        </p:nvSpPr>
        <p:spPr>
          <a:xfrm>
            <a:off x="457200" y="1430482"/>
            <a:ext cx="8229600" cy="3997036"/>
          </a:xfrm>
        </p:spPr>
        <p:txBody>
          <a:bodyPr/>
          <a:lstStyle/>
          <a:p>
            <a:r>
              <a:rPr lang="en-US" dirty="0" smtClean="0">
                <a:solidFill>
                  <a:srgbClr val="000000"/>
                </a:solidFill>
              </a:rPr>
              <a:t>Motivation</a:t>
            </a:r>
          </a:p>
          <a:p>
            <a:r>
              <a:rPr lang="en-US" dirty="0" smtClean="0"/>
              <a:t>Computational Sprinting</a:t>
            </a:r>
          </a:p>
          <a:p>
            <a:r>
              <a:rPr lang="en-US" b="1" dirty="0" smtClean="0">
                <a:solidFill>
                  <a:schemeClr val="tx2"/>
                </a:solidFill>
              </a:rPr>
              <a:t>Feasibility Study</a:t>
            </a:r>
          </a:p>
          <a:p>
            <a:pPr lvl="1"/>
            <a:r>
              <a:rPr lang="en-US" b="1" dirty="0" smtClean="0">
                <a:solidFill>
                  <a:schemeClr val="tx2"/>
                </a:solidFill>
              </a:rPr>
              <a:t>Thermal </a:t>
            </a:r>
          </a:p>
          <a:p>
            <a:pPr lvl="1"/>
            <a:r>
              <a:rPr lang="en-US" b="1" dirty="0" smtClean="0">
                <a:solidFill>
                  <a:schemeClr val="tx2"/>
                </a:solidFill>
              </a:rPr>
              <a:t>Electrical</a:t>
            </a:r>
          </a:p>
          <a:p>
            <a:pPr lvl="1"/>
            <a:r>
              <a:rPr lang="en-US" b="1" dirty="0" smtClean="0">
                <a:solidFill>
                  <a:schemeClr val="tx2"/>
                </a:solidFill>
              </a:rPr>
              <a:t>Hardware/software </a:t>
            </a:r>
          </a:p>
          <a:p>
            <a:r>
              <a:rPr lang="en-US" dirty="0" smtClean="0"/>
              <a:t>Performance Evaluation</a:t>
            </a:r>
          </a:p>
          <a:p>
            <a:r>
              <a:rPr lang="en-US" dirty="0" smtClean="0"/>
              <a:t>Conclusion</a:t>
            </a:r>
          </a:p>
          <a:p>
            <a:endParaRPr lang="en-US" dirty="0" smtClean="0"/>
          </a:p>
          <a:p>
            <a:endParaRPr lang="en-US" dirty="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Thermal Challenges</a:t>
            </a:r>
            <a:endParaRPr lang="en-US" dirty="0"/>
          </a:p>
        </p:txBody>
      </p:sp>
      <p:sp>
        <p:nvSpPr>
          <p:cNvPr id="3" name="Content Placeholder 2"/>
          <p:cNvSpPr>
            <a:spLocks noGrp="1"/>
          </p:cNvSpPr>
          <p:nvPr>
            <p:ph idx="1"/>
          </p:nvPr>
        </p:nvSpPr>
        <p:spPr>
          <a:xfrm>
            <a:off x="457199" y="990600"/>
            <a:ext cx="8480425" cy="2766665"/>
          </a:xfrm>
        </p:spPr>
        <p:txBody>
          <a:bodyPr/>
          <a:lstStyle/>
          <a:p>
            <a:r>
              <a:rPr lang="en-US" dirty="0" smtClean="0"/>
              <a:t>Goal: 1s of 16x sprinting (16 1W cores)</a:t>
            </a:r>
          </a:p>
          <a:p>
            <a:r>
              <a:rPr lang="en-US" dirty="0" smtClean="0"/>
              <a:t>How much thermal capacitance does sprinting need? </a:t>
            </a:r>
          </a:p>
          <a:p>
            <a:pPr lvl="1"/>
            <a:r>
              <a:rPr lang="en-US" dirty="0" smtClean="0"/>
              <a:t>16W for 1s = 16J of heat, for PCM with latent heat 100J/g</a:t>
            </a:r>
          </a:p>
          <a:p>
            <a:pPr lvl="1"/>
            <a:r>
              <a:rPr lang="en-US" dirty="0" smtClean="0"/>
              <a:t>150mg, which is 2mm thick on 64mm</a:t>
            </a:r>
            <a:r>
              <a:rPr lang="en-US" baseline="30000" dirty="0" smtClean="0"/>
              <a:t>2</a:t>
            </a:r>
            <a:r>
              <a:rPr lang="en-US" dirty="0" smtClean="0"/>
              <a:t> die</a:t>
            </a:r>
          </a:p>
          <a:p>
            <a:r>
              <a:rPr lang="en-US" dirty="0" smtClean="0"/>
              <a:t>Study based on thermal model of mobile phone</a:t>
            </a:r>
          </a:p>
          <a:p>
            <a:pPr algn="ctr">
              <a:buNone/>
            </a:pPr>
            <a:endParaRPr lang="en-US" dirty="0" smtClean="0">
              <a:solidFill>
                <a:schemeClr val="accent6"/>
              </a:solidFill>
            </a:endParaRPr>
          </a:p>
          <a:p>
            <a:pPr algn="ctr">
              <a:buNone/>
            </a:pPr>
            <a:endParaRPr lang="en-US" b="1" dirty="0" smtClean="0">
              <a:solidFill>
                <a:schemeClr val="accent6"/>
              </a:solidFill>
            </a:endParaRPr>
          </a:p>
          <a:p>
            <a:pPr algn="ctr">
              <a:buNone/>
            </a:pPr>
            <a:endParaRPr lang="en-US" b="1" dirty="0" smtClean="0">
              <a:solidFill>
                <a:schemeClr val="accent6"/>
              </a:solidFill>
            </a:endParaRPr>
          </a:p>
          <a:p>
            <a:pPr algn="ctr">
              <a:buNone/>
            </a:pPr>
            <a:endParaRPr lang="en-US" dirty="0">
              <a:solidFill>
                <a:schemeClr val="accent6"/>
              </a:solidFill>
            </a:endParaRPr>
          </a:p>
        </p:txBody>
      </p:sp>
      <p:sp>
        <p:nvSpPr>
          <p:cNvPr id="4" name="Slide Number Placeholder 3"/>
          <p:cNvSpPr>
            <a:spLocks noGrp="1"/>
          </p:cNvSpPr>
          <p:nvPr>
            <p:ph type="sldNum" sz="quarter" idx="10"/>
          </p:nvPr>
        </p:nvSpPr>
        <p:spPr/>
        <p:txBody>
          <a:bodyPr/>
          <a:lstStyle/>
          <a:p>
            <a:fld id="{FDA0CC57-CE7D-8143-BD13-67094D272EE6}" type="slidenum">
              <a:rPr lang="en-US" smtClean="0"/>
              <a:pPr/>
              <a:t>25</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graphicFrame>
        <p:nvGraphicFramePr>
          <p:cNvPr id="7" name="Chart 6"/>
          <p:cNvGraphicFramePr/>
          <p:nvPr/>
        </p:nvGraphicFramePr>
        <p:xfrm>
          <a:off x="457200" y="3386830"/>
          <a:ext cx="365760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p:cNvGraphicFramePr/>
          <p:nvPr/>
        </p:nvGraphicFramePr>
        <p:xfrm>
          <a:off x="4365624" y="3386830"/>
          <a:ext cx="365760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rot="16200000">
            <a:off x="-636927" y="4213418"/>
            <a:ext cx="1997399" cy="369332"/>
          </a:xfrm>
          <a:prstGeom prst="rect">
            <a:avLst/>
          </a:prstGeom>
          <a:noFill/>
        </p:spPr>
        <p:txBody>
          <a:bodyPr wrap="none" rtlCol="0">
            <a:spAutoFit/>
          </a:bodyPr>
          <a:lstStyle/>
          <a:p>
            <a:r>
              <a:rPr lang="en-US" b="1" dirty="0" smtClean="0"/>
              <a:t>temperature (</a:t>
            </a:r>
            <a:r>
              <a:rPr lang="en-US" b="1" baseline="30000" dirty="0" smtClean="0"/>
              <a:t>o</a:t>
            </a:r>
            <a:r>
              <a:rPr lang="en-US" b="1" dirty="0" smtClean="0"/>
              <a:t>C)</a:t>
            </a:r>
            <a:endParaRPr lang="en-US" b="1" dirty="0"/>
          </a:p>
        </p:txBody>
      </p:sp>
      <p:sp>
        <p:nvSpPr>
          <p:cNvPr id="10" name="TextBox 9"/>
          <p:cNvSpPr txBox="1"/>
          <p:nvPr/>
        </p:nvSpPr>
        <p:spPr>
          <a:xfrm>
            <a:off x="1783230" y="5488164"/>
            <a:ext cx="1005541" cy="369332"/>
          </a:xfrm>
          <a:prstGeom prst="rect">
            <a:avLst/>
          </a:prstGeom>
          <a:noFill/>
        </p:spPr>
        <p:txBody>
          <a:bodyPr wrap="none" rtlCol="0">
            <a:spAutoFit/>
          </a:bodyPr>
          <a:lstStyle/>
          <a:p>
            <a:r>
              <a:rPr lang="en-US" b="1" dirty="0" smtClean="0"/>
              <a:t>time (s)</a:t>
            </a:r>
            <a:endParaRPr lang="en-US" b="1" dirty="0"/>
          </a:p>
        </p:txBody>
      </p:sp>
      <p:sp>
        <p:nvSpPr>
          <p:cNvPr id="11" name="TextBox 10"/>
          <p:cNvSpPr txBox="1"/>
          <p:nvPr/>
        </p:nvSpPr>
        <p:spPr>
          <a:xfrm>
            <a:off x="5691654" y="5488164"/>
            <a:ext cx="1005541" cy="369332"/>
          </a:xfrm>
          <a:prstGeom prst="rect">
            <a:avLst/>
          </a:prstGeom>
          <a:noFill/>
        </p:spPr>
        <p:txBody>
          <a:bodyPr wrap="none" rtlCol="0">
            <a:spAutoFit/>
          </a:bodyPr>
          <a:lstStyle/>
          <a:p>
            <a:r>
              <a:rPr lang="en-US" b="1" dirty="0" smtClean="0"/>
              <a:t>time (s)</a:t>
            </a:r>
            <a:endParaRPr lang="en-US" b="1" dirty="0"/>
          </a:p>
        </p:txBody>
      </p:sp>
      <p:sp>
        <p:nvSpPr>
          <p:cNvPr id="12" name="TextBox 11"/>
          <p:cNvSpPr txBox="1"/>
          <p:nvPr/>
        </p:nvSpPr>
        <p:spPr>
          <a:xfrm>
            <a:off x="938768" y="3488625"/>
            <a:ext cx="2561819" cy="461665"/>
          </a:xfrm>
          <a:prstGeom prst="rect">
            <a:avLst/>
          </a:prstGeom>
          <a:noFill/>
        </p:spPr>
        <p:txBody>
          <a:bodyPr wrap="none" rtlCol="0">
            <a:spAutoFit/>
          </a:bodyPr>
          <a:lstStyle/>
          <a:p>
            <a:r>
              <a:rPr lang="en-US" sz="2400" b="1" dirty="0" smtClean="0">
                <a:solidFill>
                  <a:srgbClr val="005EA7"/>
                </a:solidFill>
              </a:rPr>
              <a:t>1s of sprint time</a:t>
            </a:r>
            <a:endParaRPr lang="en-US" sz="2400" b="1" dirty="0">
              <a:solidFill>
                <a:srgbClr val="005EA7"/>
              </a:solidFill>
            </a:endParaRPr>
          </a:p>
        </p:txBody>
      </p:sp>
      <p:sp>
        <p:nvSpPr>
          <p:cNvPr id="13" name="TextBox 12"/>
          <p:cNvSpPr txBox="1"/>
          <p:nvPr/>
        </p:nvSpPr>
        <p:spPr>
          <a:xfrm>
            <a:off x="5111610" y="3502280"/>
            <a:ext cx="3203371" cy="461665"/>
          </a:xfrm>
          <a:prstGeom prst="rect">
            <a:avLst/>
          </a:prstGeom>
          <a:noFill/>
        </p:spPr>
        <p:txBody>
          <a:bodyPr wrap="none" rtlCol="0">
            <a:spAutoFit/>
          </a:bodyPr>
          <a:lstStyle/>
          <a:p>
            <a:r>
              <a:rPr lang="en-US" sz="2400" b="1" dirty="0" smtClean="0">
                <a:solidFill>
                  <a:srgbClr val="005EA7"/>
                </a:solidFill>
              </a:rPr>
              <a:t>~22s cool down time</a:t>
            </a:r>
            <a:endParaRPr lang="en-US" sz="2400" b="1" dirty="0">
              <a:solidFill>
                <a:srgbClr val="005EA7"/>
              </a:solidFill>
            </a:endParaRPr>
          </a:p>
        </p:txBody>
      </p:sp>
      <p:sp>
        <p:nvSpPr>
          <p:cNvPr id="14" name="TextBox 13"/>
          <p:cNvSpPr txBox="1"/>
          <p:nvPr/>
        </p:nvSpPr>
        <p:spPr>
          <a:xfrm>
            <a:off x="439223" y="5898762"/>
            <a:ext cx="8265554" cy="523220"/>
          </a:xfrm>
          <a:prstGeom prst="rect">
            <a:avLst/>
          </a:prstGeom>
          <a:noFill/>
        </p:spPr>
        <p:txBody>
          <a:bodyPr wrap="none" rtlCol="0">
            <a:spAutoFit/>
          </a:bodyPr>
          <a:lstStyle/>
          <a:p>
            <a:r>
              <a:rPr lang="en-US" sz="2800" b="1" dirty="0" smtClean="0">
                <a:solidFill>
                  <a:srgbClr val="005EA7"/>
                </a:solidFill>
              </a:rPr>
              <a:t>Heat flux and transient similar to desktop chips</a:t>
            </a:r>
            <a:endParaRPr lang="en-US" sz="2800" b="1" dirty="0">
              <a:solidFill>
                <a:srgbClr val="005EA7"/>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7" grpId="0">
        <p:bldAsOne/>
      </p:bldGraphic>
      <p:bldGraphic spid="8" grpId="0">
        <p:bldAsOne/>
      </p:bldGraphic>
      <p:bldP spid="9" grpId="0"/>
      <p:bldP spid="10" grpId="0"/>
      <p:bldP spid="11" grpId="0"/>
      <p:bldP spid="12" grpId="1"/>
      <p:bldP spid="13" grpId="0"/>
      <p:bldP spid="14" grpId="0"/>
    </p:bld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686800" cy="4477084"/>
          </a:xfrm>
        </p:spPr>
        <p:txBody>
          <a:bodyPr/>
          <a:lstStyle/>
          <a:p>
            <a:r>
              <a:rPr lang="en-US" dirty="0" smtClean="0"/>
              <a:t>16x sprinting exceeds limits of today’s phone batteries</a:t>
            </a:r>
          </a:p>
          <a:p>
            <a:pPr lvl="1">
              <a:spcAft>
                <a:spcPts val="0"/>
              </a:spcAft>
            </a:pPr>
            <a:r>
              <a:rPr lang="en-US" dirty="0" smtClean="0"/>
              <a:t>Requires 16x peak current over baseline</a:t>
            </a:r>
          </a:p>
          <a:p>
            <a:r>
              <a:rPr lang="en-US" dirty="0" smtClean="0"/>
              <a:t>In contrast, ultracapacitors have high peak currents</a:t>
            </a:r>
          </a:p>
          <a:p>
            <a:pPr lvl="1"/>
            <a:r>
              <a:rPr lang="en-US" dirty="0" smtClean="0"/>
              <a:t>Promising for sprinting (25F, 6.5g, 182J)</a:t>
            </a:r>
          </a:p>
          <a:p>
            <a:pPr lvl="1">
              <a:spcAft>
                <a:spcPts val="0"/>
              </a:spcAft>
            </a:pPr>
            <a:r>
              <a:rPr lang="en-US" dirty="0" smtClean="0"/>
              <a:t>But today, lower energy density than batteries</a:t>
            </a:r>
          </a:p>
          <a:p>
            <a:pPr lvl="1">
              <a:spcAft>
                <a:spcPts val="0"/>
              </a:spcAft>
            </a:pPr>
            <a:endParaRPr lang="en-US" dirty="0" smtClean="0"/>
          </a:p>
          <a:p>
            <a:pPr lvl="1">
              <a:spcAft>
                <a:spcPts val="0"/>
              </a:spcAft>
            </a:pPr>
            <a:endParaRPr lang="en-US" dirty="0" smtClean="0"/>
          </a:p>
          <a:p>
            <a:pPr lvl="1">
              <a:spcAft>
                <a:spcPts val="0"/>
              </a:spcAft>
              <a:buNone/>
            </a:pPr>
            <a:endParaRPr lang="en-US" dirty="0" smtClean="0"/>
          </a:p>
          <a:p>
            <a:r>
              <a:rPr lang="en-US" dirty="0" smtClean="0"/>
              <a:t>Leverage recent research on battery-ultracap hybrids</a:t>
            </a:r>
            <a:br>
              <a:rPr lang="en-US" dirty="0" smtClean="0"/>
            </a:br>
            <a:r>
              <a:rPr lang="en-US" sz="2000" dirty="0" smtClean="0"/>
              <a:t>[Mirhoseini+ ‘11, Palma+ ‘03, Pedram+ ’10]</a:t>
            </a:r>
          </a:p>
          <a:p>
            <a:pPr lvl="1">
              <a:spcAft>
                <a:spcPts val="0"/>
              </a:spcAft>
            </a:pPr>
            <a:r>
              <a:rPr lang="en-US" dirty="0" smtClean="0"/>
              <a:t>Active research at all levels (batteries, ultracaps, hybrids)</a:t>
            </a:r>
          </a:p>
          <a:p>
            <a:pPr>
              <a:buFont typeface="Arial"/>
              <a:buChar char="•"/>
            </a:pPr>
            <a:r>
              <a:rPr lang="en-US" dirty="0" smtClean="0">
                <a:solidFill>
                  <a:srgbClr val="000000"/>
                </a:solidFill>
              </a:rPr>
              <a:t>Cost of extra power/ground pins</a:t>
            </a:r>
          </a:p>
        </p:txBody>
      </p:sp>
      <p:sp>
        <p:nvSpPr>
          <p:cNvPr id="2" name="Title 1"/>
          <p:cNvSpPr>
            <a:spLocks noGrp="1"/>
          </p:cNvSpPr>
          <p:nvPr>
            <p:ph type="title"/>
          </p:nvPr>
        </p:nvSpPr>
        <p:spPr/>
        <p:txBody>
          <a:bodyPr/>
          <a:lstStyle/>
          <a:p>
            <a:r>
              <a:rPr lang="en-US" dirty="0" smtClean="0"/>
              <a:t>Electrical Challenge #1: Peak Current Demands</a:t>
            </a:r>
            <a:endParaRPr lang="en-US" dirty="0"/>
          </a:p>
        </p:txBody>
      </p:sp>
      <p:sp>
        <p:nvSpPr>
          <p:cNvPr id="4" name="Slide Number Placeholder 3"/>
          <p:cNvSpPr>
            <a:spLocks noGrp="1"/>
          </p:cNvSpPr>
          <p:nvPr>
            <p:ph type="sldNum" sz="quarter" idx="10"/>
          </p:nvPr>
        </p:nvSpPr>
        <p:spPr/>
        <p:txBody>
          <a:bodyPr/>
          <a:lstStyle/>
          <a:p>
            <a:fld id="{F095543E-C052-B94D-8CA8-5BD72BC98389}" type="slidenum">
              <a:rPr lang="en-US" smtClean="0"/>
              <a:pPr/>
              <a:t>26</a:t>
            </a:fld>
            <a:endParaRPr lang="en-US" dirty="0"/>
          </a:p>
        </p:txBody>
      </p:sp>
      <p:sp>
        <p:nvSpPr>
          <p:cNvPr id="5" name="Footer Placeholder 4"/>
          <p:cNvSpPr>
            <a:spLocks noGrp="1"/>
          </p:cNvSpPr>
          <p:nvPr>
            <p:ph type="ftr" sz="quarter" idx="11"/>
          </p:nvPr>
        </p:nvSpPr>
        <p:spPr/>
        <p:txBody>
          <a:bodyPr/>
          <a:lstStyle/>
          <a:p>
            <a:r>
              <a:rPr lang="en-US" dirty="0" smtClean="0"/>
              <a:t>Computational Sprinting</a:t>
            </a:r>
            <a:endParaRPr lang="en-US" dirty="0"/>
          </a:p>
        </p:txBody>
      </p:sp>
      <p:grpSp>
        <p:nvGrpSpPr>
          <p:cNvPr id="6" name="Group 128"/>
          <p:cNvGrpSpPr/>
          <p:nvPr/>
        </p:nvGrpSpPr>
        <p:grpSpPr>
          <a:xfrm>
            <a:off x="1994612" y="3386832"/>
            <a:ext cx="5889402" cy="1246635"/>
            <a:chOff x="1426521" y="5080247"/>
            <a:chExt cx="6515632" cy="1549530"/>
          </a:xfrm>
        </p:grpSpPr>
        <p:sp>
          <p:nvSpPr>
            <p:cNvPr id="117" name="TextBox 116"/>
            <p:cNvSpPr txBox="1"/>
            <p:nvPr/>
          </p:nvSpPr>
          <p:spPr>
            <a:xfrm>
              <a:off x="1721018" y="5948699"/>
              <a:ext cx="287158" cy="461665"/>
            </a:xfrm>
            <a:prstGeom prst="rect">
              <a:avLst/>
            </a:prstGeom>
            <a:noFill/>
          </p:spPr>
          <p:txBody>
            <a:bodyPr wrap="none" rtlCol="0">
              <a:spAutoFit/>
            </a:bodyPr>
            <a:lstStyle/>
            <a:p>
              <a:r>
                <a:rPr lang="en-US" sz="2400" dirty="0" smtClean="0"/>
                <a:t>-</a:t>
              </a:r>
              <a:endParaRPr lang="en-US" sz="2400" dirty="0"/>
            </a:p>
          </p:txBody>
        </p:sp>
        <p:sp>
          <p:nvSpPr>
            <p:cNvPr id="122" name="Rectangle 121"/>
            <p:cNvSpPr>
              <a:spLocks/>
            </p:cNvSpPr>
            <p:nvPr/>
          </p:nvSpPr>
          <p:spPr bwMode="auto">
            <a:xfrm>
              <a:off x="1782163" y="6311392"/>
              <a:ext cx="181397" cy="86752"/>
            </a:xfrm>
            <a:prstGeom prst="rect">
              <a:avLst/>
            </a:prstGeom>
            <a:noFill/>
            <a:ln w="381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8" name="Rectangle 47"/>
            <p:cNvSpPr/>
            <p:nvPr/>
          </p:nvSpPr>
          <p:spPr bwMode="auto">
            <a:xfrm>
              <a:off x="1426521" y="5406307"/>
              <a:ext cx="939203" cy="895541"/>
            </a:xfrm>
            <a:prstGeom prst="rect">
              <a:avLst/>
            </a:prstGeom>
            <a:noFill/>
            <a:ln w="381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charset="0"/>
                  <a:ea typeface="ＭＳ Ｐゴシック" pitchFamily="32" charset="-128"/>
                </a:rPr>
                <a:t>Battery</a:t>
              </a:r>
            </a:p>
          </p:txBody>
        </p:sp>
        <p:sp>
          <p:nvSpPr>
            <p:cNvPr id="68" name="TextBox 67"/>
            <p:cNvSpPr txBox="1">
              <a:spLocks/>
            </p:cNvSpPr>
            <p:nvPr/>
          </p:nvSpPr>
          <p:spPr>
            <a:xfrm>
              <a:off x="4913761" y="5080247"/>
              <a:ext cx="1185541" cy="1549530"/>
            </a:xfrm>
            <a:prstGeom prst="rect">
              <a:avLst/>
            </a:prstGeom>
            <a:noFill/>
            <a:ln w="38100" cap="flat" cmpd="sng" algn="ctr">
              <a:solidFill>
                <a:srgbClr val="000000"/>
              </a:solidFill>
              <a:prstDash val="solid"/>
              <a:round/>
              <a:headEnd type="none" w="med" len="med"/>
              <a:tailEnd type="none" w="med" len="med"/>
            </a:ln>
          </p:spPr>
          <p:txBody>
            <a:bodyPr wrap="none" rtlCol="0" anchor="ctr">
              <a:noAutofit/>
            </a:bodyPr>
            <a:lstStyle/>
            <a:p>
              <a:pPr algn="ctr"/>
              <a:r>
                <a:rPr lang="en-US" dirty="0" smtClean="0"/>
                <a:t>Voltage </a:t>
              </a:r>
            </a:p>
            <a:p>
              <a:pPr algn="ctr"/>
              <a:r>
                <a:rPr lang="en-US" dirty="0" smtClean="0"/>
                <a:t>Regulator</a:t>
              </a:r>
              <a:endParaRPr lang="en-US" dirty="0"/>
            </a:p>
          </p:txBody>
        </p:sp>
        <p:sp>
          <p:nvSpPr>
            <p:cNvPr id="70" name="Rectangle 69"/>
            <p:cNvSpPr/>
            <p:nvPr/>
          </p:nvSpPr>
          <p:spPr bwMode="auto">
            <a:xfrm>
              <a:off x="3077117" y="5498917"/>
              <a:ext cx="1263508" cy="685766"/>
            </a:xfrm>
            <a:prstGeom prst="rect">
              <a:avLst/>
            </a:prstGeom>
            <a:noFill/>
            <a:ln w="381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charset="0"/>
                  <a:ea typeface="ＭＳ Ｐゴシック" pitchFamily="32" charset="-128"/>
                </a:rPr>
                <a:t>Ultracap</a:t>
              </a:r>
            </a:p>
          </p:txBody>
        </p:sp>
        <p:sp>
          <p:nvSpPr>
            <p:cNvPr id="82" name="TextBox 81"/>
            <p:cNvSpPr txBox="1"/>
            <p:nvPr/>
          </p:nvSpPr>
          <p:spPr>
            <a:xfrm>
              <a:off x="6639083" y="5433139"/>
              <a:ext cx="1303070" cy="803370"/>
            </a:xfrm>
            <a:prstGeom prst="rect">
              <a:avLst/>
            </a:prstGeom>
            <a:noFill/>
            <a:ln w="38100" cap="flat" cmpd="sng" algn="ctr">
              <a:solidFill>
                <a:srgbClr val="000000"/>
              </a:solidFill>
              <a:prstDash val="solid"/>
              <a:round/>
              <a:headEnd type="none" w="med" len="med"/>
              <a:tailEnd type="none" w="med" len="med"/>
            </a:ln>
          </p:spPr>
          <p:txBody>
            <a:bodyPr wrap="square" rtlCol="0">
              <a:spAutoFit/>
            </a:bodyPr>
            <a:lstStyle/>
            <a:p>
              <a:pPr algn="ctr"/>
              <a:r>
                <a:rPr lang="en-US" dirty="0" smtClean="0"/>
                <a:t>Sprinting</a:t>
              </a:r>
            </a:p>
            <a:p>
              <a:pPr algn="ctr"/>
              <a:r>
                <a:rPr lang="en-US" dirty="0" smtClean="0"/>
                <a:t>Chip</a:t>
              </a:r>
              <a:endParaRPr lang="en-US" dirty="0"/>
            </a:p>
          </p:txBody>
        </p:sp>
        <p:cxnSp>
          <p:nvCxnSpPr>
            <p:cNvPr id="83" name="Straight Connector 82"/>
            <p:cNvCxnSpPr/>
            <p:nvPr/>
          </p:nvCxnSpPr>
          <p:spPr bwMode="auto">
            <a:xfrm flipV="1">
              <a:off x="1872862" y="5200943"/>
              <a:ext cx="26447" cy="1590"/>
            </a:xfrm>
            <a:prstGeom prst="line">
              <a:avLst/>
            </a:prstGeom>
            <a:noFill/>
            <a:ln w="38100" cap="flat" cmpd="sng" algn="ctr">
              <a:solidFill>
                <a:schemeClr val="tx1"/>
              </a:solidFill>
              <a:prstDash val="solid"/>
              <a:round/>
              <a:headEnd type="none" w="med" len="med"/>
              <a:tailEnd type="none" w="med" len="med"/>
            </a:ln>
            <a:effectLst/>
          </p:spPr>
        </p:cxnSp>
        <p:cxnSp>
          <p:nvCxnSpPr>
            <p:cNvPr id="84" name="Straight Connector 83"/>
            <p:cNvCxnSpPr/>
            <p:nvPr/>
          </p:nvCxnSpPr>
          <p:spPr bwMode="auto">
            <a:xfrm rot="16200000" flipV="1">
              <a:off x="1807537" y="6485068"/>
              <a:ext cx="130645" cy="10"/>
            </a:xfrm>
            <a:prstGeom prst="line">
              <a:avLst/>
            </a:prstGeom>
            <a:noFill/>
            <a:ln w="38100" cap="flat" cmpd="sng" algn="ctr">
              <a:solidFill>
                <a:schemeClr val="tx1"/>
              </a:solidFill>
              <a:prstDash val="solid"/>
              <a:round/>
              <a:headEnd type="none" w="med" len="med"/>
              <a:tailEnd type="none" w="med" len="med"/>
            </a:ln>
            <a:effectLst/>
          </p:spPr>
        </p:cxnSp>
        <p:cxnSp>
          <p:nvCxnSpPr>
            <p:cNvPr id="85" name="Straight Connector 84"/>
            <p:cNvCxnSpPr/>
            <p:nvPr/>
          </p:nvCxnSpPr>
          <p:spPr bwMode="auto">
            <a:xfrm rot="16200000" flipV="1">
              <a:off x="3528496" y="6371769"/>
              <a:ext cx="372581" cy="2"/>
            </a:xfrm>
            <a:prstGeom prst="line">
              <a:avLst/>
            </a:prstGeom>
            <a:noFill/>
            <a:ln w="38100" cap="flat" cmpd="sng" algn="ctr">
              <a:solidFill>
                <a:schemeClr val="tx1"/>
              </a:solidFill>
              <a:prstDash val="solid"/>
              <a:round/>
              <a:headEnd type="none" w="med" len="med"/>
              <a:tailEnd type="none" w="med" len="med"/>
            </a:ln>
            <a:effectLst/>
          </p:spPr>
        </p:cxnSp>
        <p:cxnSp>
          <p:nvCxnSpPr>
            <p:cNvPr id="89" name="Straight Connector 88"/>
            <p:cNvCxnSpPr/>
            <p:nvPr/>
          </p:nvCxnSpPr>
          <p:spPr bwMode="auto">
            <a:xfrm rot="16200000" flipV="1">
              <a:off x="7173067" y="6368697"/>
              <a:ext cx="269395" cy="5021"/>
            </a:xfrm>
            <a:prstGeom prst="line">
              <a:avLst/>
            </a:prstGeom>
            <a:noFill/>
            <a:ln w="38100" cap="flat" cmpd="sng" algn="ctr">
              <a:solidFill>
                <a:schemeClr val="tx1"/>
              </a:solidFill>
              <a:prstDash val="solid"/>
              <a:round/>
              <a:headEnd type="none" w="med" len="med"/>
              <a:tailEnd type="none" w="med" len="med"/>
            </a:ln>
            <a:effectLst/>
          </p:spPr>
        </p:cxnSp>
        <p:cxnSp>
          <p:nvCxnSpPr>
            <p:cNvPr id="92" name="Straight Connector 91"/>
            <p:cNvCxnSpPr/>
            <p:nvPr/>
          </p:nvCxnSpPr>
          <p:spPr bwMode="auto">
            <a:xfrm rot="16200000" flipV="1">
              <a:off x="7180505" y="5274589"/>
              <a:ext cx="259542" cy="3"/>
            </a:xfrm>
            <a:prstGeom prst="line">
              <a:avLst/>
            </a:prstGeom>
            <a:noFill/>
            <a:ln w="38100" cap="flat" cmpd="sng" algn="ctr">
              <a:solidFill>
                <a:schemeClr val="tx1"/>
              </a:solidFill>
              <a:prstDash val="solid"/>
              <a:round/>
              <a:headEnd type="none" w="med" len="med"/>
              <a:tailEnd type="none" w="med" len="med"/>
            </a:ln>
            <a:effectLst/>
          </p:spPr>
        </p:cxnSp>
        <p:cxnSp>
          <p:nvCxnSpPr>
            <p:cNvPr id="93" name="Straight Connector 92"/>
            <p:cNvCxnSpPr/>
            <p:nvPr/>
          </p:nvCxnSpPr>
          <p:spPr bwMode="auto">
            <a:xfrm rot="10800000" flipH="1">
              <a:off x="1872863" y="5200943"/>
              <a:ext cx="3040900" cy="1589"/>
            </a:xfrm>
            <a:prstGeom prst="line">
              <a:avLst/>
            </a:prstGeom>
            <a:noFill/>
            <a:ln w="38100" cap="flat" cmpd="sng" algn="ctr">
              <a:solidFill>
                <a:schemeClr val="tx1"/>
              </a:solidFill>
              <a:prstDash val="solid"/>
              <a:round/>
              <a:headEnd type="none" w="med" len="med"/>
              <a:tailEnd type="arrow" w="med" len="med"/>
            </a:ln>
            <a:effectLst/>
          </p:spPr>
        </p:cxnSp>
        <p:cxnSp>
          <p:nvCxnSpPr>
            <p:cNvPr id="94" name="Straight Connector 93"/>
            <p:cNvCxnSpPr/>
            <p:nvPr/>
          </p:nvCxnSpPr>
          <p:spPr bwMode="auto">
            <a:xfrm rot="10800000">
              <a:off x="1865015" y="6549850"/>
              <a:ext cx="3048749" cy="8209"/>
            </a:xfrm>
            <a:prstGeom prst="line">
              <a:avLst/>
            </a:prstGeom>
            <a:noFill/>
            <a:ln w="38100" cap="flat" cmpd="sng" algn="ctr">
              <a:solidFill>
                <a:schemeClr val="tx1"/>
              </a:solidFill>
              <a:prstDash val="solid"/>
              <a:round/>
              <a:headEnd type="none" w="med" len="med"/>
              <a:tailEnd type="arrow" w="med" len="med"/>
            </a:ln>
            <a:effectLst/>
          </p:spPr>
        </p:cxnSp>
        <p:cxnSp>
          <p:nvCxnSpPr>
            <p:cNvPr id="100" name="Straight Connector 99"/>
            <p:cNvCxnSpPr/>
            <p:nvPr/>
          </p:nvCxnSpPr>
          <p:spPr bwMode="auto">
            <a:xfrm rot="10800000" flipH="1">
              <a:off x="6099304" y="5164433"/>
              <a:ext cx="1225160" cy="1588"/>
            </a:xfrm>
            <a:prstGeom prst="line">
              <a:avLst/>
            </a:prstGeom>
            <a:noFill/>
            <a:ln w="38100" cap="flat" cmpd="sng" algn="ctr">
              <a:solidFill>
                <a:schemeClr val="tx1"/>
              </a:solidFill>
              <a:prstDash val="solid"/>
              <a:round/>
              <a:headEnd type="none" w="med" len="med"/>
              <a:tailEnd type="arrow" w="med" len="med"/>
            </a:ln>
            <a:effectLst/>
          </p:spPr>
        </p:cxnSp>
        <p:cxnSp>
          <p:nvCxnSpPr>
            <p:cNvPr id="102" name="Straight Connector 101"/>
            <p:cNvCxnSpPr/>
            <p:nvPr/>
          </p:nvCxnSpPr>
          <p:spPr bwMode="auto">
            <a:xfrm rot="10800000">
              <a:off x="6099678" y="6522348"/>
              <a:ext cx="1225160" cy="1588"/>
            </a:xfrm>
            <a:prstGeom prst="line">
              <a:avLst/>
            </a:prstGeom>
            <a:noFill/>
            <a:ln w="38100" cap="flat" cmpd="sng" algn="ctr">
              <a:solidFill>
                <a:schemeClr val="tx1"/>
              </a:solidFill>
              <a:prstDash val="solid"/>
              <a:round/>
              <a:headEnd type="none" w="med" len="med"/>
              <a:tailEnd type="arrow" w="med" len="med"/>
            </a:ln>
            <a:effectLst/>
          </p:spPr>
        </p:cxnSp>
        <p:cxnSp>
          <p:nvCxnSpPr>
            <p:cNvPr id="113" name="Straight Connector 112"/>
            <p:cNvCxnSpPr/>
            <p:nvPr/>
          </p:nvCxnSpPr>
          <p:spPr bwMode="auto">
            <a:xfrm rot="5400000" flipH="1" flipV="1">
              <a:off x="3547782" y="5332700"/>
              <a:ext cx="297974" cy="1594"/>
            </a:xfrm>
            <a:prstGeom prst="line">
              <a:avLst/>
            </a:prstGeom>
            <a:noFill/>
            <a:ln w="38100" cap="flat" cmpd="sng" algn="ctr">
              <a:solidFill>
                <a:schemeClr val="tx1"/>
              </a:solidFill>
              <a:prstDash val="solid"/>
              <a:round/>
              <a:headEnd type="none" w="med" len="med"/>
              <a:tailEnd type="none" w="med" len="med"/>
            </a:ln>
            <a:effectLst/>
          </p:spPr>
        </p:cxnSp>
        <p:sp>
          <p:nvSpPr>
            <p:cNvPr id="116" name="TextBox 115"/>
            <p:cNvSpPr txBox="1"/>
            <p:nvPr/>
          </p:nvSpPr>
          <p:spPr>
            <a:xfrm>
              <a:off x="1714126" y="5334833"/>
              <a:ext cx="325730" cy="369332"/>
            </a:xfrm>
            <a:prstGeom prst="rect">
              <a:avLst/>
            </a:prstGeom>
            <a:noFill/>
          </p:spPr>
          <p:txBody>
            <a:bodyPr wrap="none" rtlCol="0">
              <a:spAutoFit/>
            </a:bodyPr>
            <a:lstStyle/>
            <a:p>
              <a:r>
                <a:rPr lang="en-US" dirty="0" smtClean="0"/>
                <a:t>+</a:t>
              </a:r>
              <a:endParaRPr lang="en-US" dirty="0"/>
            </a:p>
          </p:txBody>
        </p:sp>
        <p:sp>
          <p:nvSpPr>
            <p:cNvPr id="121" name="Rectangle 120"/>
            <p:cNvSpPr>
              <a:spLocks/>
            </p:cNvSpPr>
            <p:nvPr/>
          </p:nvSpPr>
          <p:spPr bwMode="auto">
            <a:xfrm>
              <a:off x="1782163" y="5317611"/>
              <a:ext cx="181397" cy="86752"/>
            </a:xfrm>
            <a:prstGeom prst="rect">
              <a:avLst/>
            </a:prstGeom>
            <a:noFill/>
            <a:ln w="381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cxnSp>
          <p:nvCxnSpPr>
            <p:cNvPr id="125" name="Straight Connector 124"/>
            <p:cNvCxnSpPr/>
            <p:nvPr/>
          </p:nvCxnSpPr>
          <p:spPr bwMode="auto">
            <a:xfrm rot="16200000" flipV="1">
              <a:off x="1807537" y="5261548"/>
              <a:ext cx="130645" cy="10"/>
            </a:xfrm>
            <a:prstGeom prst="line">
              <a:avLst/>
            </a:prstGeom>
            <a:noFill/>
            <a:ln w="38100" cap="flat" cmpd="sng" algn="ctr">
              <a:solidFill>
                <a:schemeClr val="tx1"/>
              </a:solidFill>
              <a:prstDash val="solid"/>
              <a:round/>
              <a:headEnd type="none" w="med" len="med"/>
              <a:tailEnd type="none" w="med" len="med"/>
            </a:ln>
            <a:effectLst/>
          </p:spPr>
        </p:cxnSp>
      </p:gr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pSp>
        <p:nvGrpSpPr>
          <p:cNvPr id="6" name="Group 16"/>
          <p:cNvGrpSpPr/>
          <p:nvPr/>
        </p:nvGrpSpPr>
        <p:grpSpPr>
          <a:xfrm>
            <a:off x="346916" y="3506464"/>
            <a:ext cx="4070500" cy="2231178"/>
            <a:chOff x="346916" y="3546154"/>
            <a:chExt cx="4070500" cy="2231178"/>
          </a:xfrm>
        </p:grpSpPr>
        <p:pic>
          <p:nvPicPr>
            <p:cNvPr id="16" name="Picture 15" descr="abrupt.png"/>
            <p:cNvPicPr>
              <a:picLocks noChangeAspect="1"/>
            </p:cNvPicPr>
            <p:nvPr/>
          </p:nvPicPr>
          <p:blipFill>
            <a:blip r:embed="rId3"/>
            <a:stretch>
              <a:fillRect/>
            </a:stretch>
          </p:blipFill>
          <p:spPr>
            <a:xfrm>
              <a:off x="747869" y="3546154"/>
              <a:ext cx="3669547" cy="2023737"/>
            </a:xfrm>
            <a:prstGeom prst="rect">
              <a:avLst/>
            </a:prstGeom>
          </p:spPr>
        </p:pic>
        <p:sp>
          <p:nvSpPr>
            <p:cNvPr id="9" name="TextBox 8"/>
            <p:cNvSpPr txBox="1"/>
            <p:nvPr/>
          </p:nvSpPr>
          <p:spPr>
            <a:xfrm rot="16200000">
              <a:off x="12696" y="3947215"/>
              <a:ext cx="1314772" cy="646331"/>
            </a:xfrm>
            <a:prstGeom prst="rect">
              <a:avLst/>
            </a:prstGeom>
            <a:noFill/>
          </p:spPr>
          <p:txBody>
            <a:bodyPr wrap="square" rtlCol="0">
              <a:spAutoFit/>
            </a:bodyPr>
            <a:lstStyle/>
            <a:p>
              <a:r>
                <a:rPr lang="en-US" dirty="0" smtClean="0"/>
                <a:t>supply voltage</a:t>
              </a:r>
              <a:endParaRPr lang="en-US" dirty="0"/>
            </a:p>
          </p:txBody>
        </p:sp>
        <p:sp>
          <p:nvSpPr>
            <p:cNvPr id="12" name="TextBox 11"/>
            <p:cNvSpPr txBox="1"/>
            <p:nvPr/>
          </p:nvSpPr>
          <p:spPr>
            <a:xfrm rot="10800000" flipV="1">
              <a:off x="2941654" y="5408000"/>
              <a:ext cx="620745" cy="369332"/>
            </a:xfrm>
            <a:prstGeom prst="rect">
              <a:avLst/>
            </a:prstGeom>
            <a:noFill/>
          </p:spPr>
          <p:txBody>
            <a:bodyPr wrap="square" rtlCol="0">
              <a:spAutoFit/>
            </a:bodyPr>
            <a:lstStyle/>
            <a:p>
              <a:r>
                <a:rPr lang="en-US" dirty="0" smtClean="0"/>
                <a:t>time</a:t>
              </a:r>
              <a:endParaRPr lang="en-US" dirty="0"/>
            </a:p>
          </p:txBody>
        </p:sp>
        <p:sp>
          <p:nvSpPr>
            <p:cNvPr id="20" name="TextBox 1"/>
            <p:cNvSpPr txBox="1"/>
            <p:nvPr/>
          </p:nvSpPr>
          <p:spPr>
            <a:xfrm>
              <a:off x="1815858" y="4651141"/>
              <a:ext cx="1746541" cy="369332"/>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800" dirty="0" smtClean="0"/>
                <a:t>Instantaneous</a:t>
              </a:r>
              <a:endParaRPr lang="en-US" sz="1800" dirty="0"/>
            </a:p>
          </p:txBody>
        </p:sp>
      </p:grpSp>
      <p:sp>
        <p:nvSpPr>
          <p:cNvPr id="15" name="TextBox 14"/>
          <p:cNvSpPr txBox="1"/>
          <p:nvPr/>
        </p:nvSpPr>
        <p:spPr>
          <a:xfrm>
            <a:off x="0" y="5736145"/>
            <a:ext cx="9144000" cy="523220"/>
          </a:xfrm>
          <a:prstGeom prst="rect">
            <a:avLst/>
          </a:prstGeom>
          <a:noFill/>
          <a:ln>
            <a:noFill/>
          </a:ln>
        </p:spPr>
        <p:txBody>
          <a:bodyPr wrap="square" rtlCol="0" anchor="ctr">
            <a:spAutoFit/>
          </a:bodyPr>
          <a:lstStyle/>
          <a:p>
            <a:pPr algn="ctr"/>
            <a:r>
              <a:rPr lang="en-US" sz="2800" b="1" dirty="0" smtClean="0">
                <a:solidFill>
                  <a:schemeClr val="accent6"/>
                </a:solidFill>
                <a:latin typeface="Calibri"/>
                <a:cs typeface="Calibri"/>
              </a:rPr>
              <a:t>Core activation latency &lt;&lt; sprint duration </a:t>
            </a:r>
            <a:endParaRPr lang="en-US" sz="2800" b="1" dirty="0">
              <a:solidFill>
                <a:schemeClr val="accent6"/>
              </a:solidFill>
              <a:latin typeface="Calibri"/>
              <a:cs typeface="Calibri"/>
            </a:endParaRPr>
          </a:p>
        </p:txBody>
      </p:sp>
      <p:sp>
        <p:nvSpPr>
          <p:cNvPr id="2" name="Title 1"/>
          <p:cNvSpPr>
            <a:spLocks noGrp="1"/>
          </p:cNvSpPr>
          <p:nvPr>
            <p:ph type="title"/>
          </p:nvPr>
        </p:nvSpPr>
        <p:spPr/>
        <p:txBody>
          <a:bodyPr/>
          <a:lstStyle/>
          <a:p>
            <a:r>
              <a:rPr lang="en-US" dirty="0" smtClean="0"/>
              <a:t>Electrical Challenge #2: On-chip Voltage Stability</a:t>
            </a:r>
            <a:endParaRPr lang="en-US" dirty="0"/>
          </a:p>
        </p:txBody>
      </p:sp>
      <p:sp>
        <p:nvSpPr>
          <p:cNvPr id="3" name="Content Placeholder 2"/>
          <p:cNvSpPr>
            <a:spLocks noGrp="1"/>
          </p:cNvSpPr>
          <p:nvPr>
            <p:ph idx="1"/>
          </p:nvPr>
        </p:nvSpPr>
        <p:spPr>
          <a:xfrm>
            <a:off x="457200" y="990600"/>
            <a:ext cx="8392696" cy="2295525"/>
          </a:xfrm>
        </p:spPr>
        <p:txBody>
          <a:bodyPr/>
          <a:lstStyle/>
          <a:p>
            <a:r>
              <a:rPr lang="en-US" dirty="0" smtClean="0"/>
              <a:t>16x current spike can cause supply voltage instability</a:t>
            </a:r>
          </a:p>
          <a:p>
            <a:pPr lvl="1"/>
            <a:r>
              <a:rPr lang="en-US" dirty="0" smtClean="0"/>
              <a:t>Potential timing errors and state loss</a:t>
            </a:r>
          </a:p>
          <a:p>
            <a:r>
              <a:rPr lang="en-US" dirty="0" smtClean="0"/>
              <a:t>Study of core activation induced instability </a:t>
            </a:r>
          </a:p>
          <a:p>
            <a:pPr lvl="1"/>
            <a:r>
              <a:rPr lang="en-US" dirty="0" smtClean="0"/>
              <a:t>SPICE model of board, package, chip</a:t>
            </a:r>
          </a:p>
          <a:p>
            <a:pPr lvl="1"/>
            <a:r>
              <a:rPr lang="en-US" dirty="0" smtClean="0"/>
              <a:t>Abrupt activation violates; gradual activation ok</a:t>
            </a:r>
          </a:p>
        </p:txBody>
      </p:sp>
      <p:sp>
        <p:nvSpPr>
          <p:cNvPr id="4" name="Slide Number Placeholder 3"/>
          <p:cNvSpPr>
            <a:spLocks noGrp="1"/>
          </p:cNvSpPr>
          <p:nvPr>
            <p:ph type="sldNum" sz="quarter" idx="10"/>
          </p:nvPr>
        </p:nvSpPr>
        <p:spPr/>
        <p:txBody>
          <a:bodyPr/>
          <a:lstStyle/>
          <a:p>
            <a:fld id="{FDA0CC57-CE7D-8143-BD13-67094D272EE6}" type="slidenum">
              <a:rPr lang="en-US" smtClean="0"/>
              <a:pPr/>
              <a:t>27</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
        <p:nvSpPr>
          <p:cNvPr id="11" name="Oval 10"/>
          <p:cNvSpPr/>
          <p:nvPr/>
        </p:nvSpPr>
        <p:spPr bwMode="auto">
          <a:xfrm>
            <a:off x="1590097" y="4195810"/>
            <a:ext cx="495636" cy="502956"/>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nvGrpSpPr>
          <p:cNvPr id="7" name="Group 18"/>
          <p:cNvGrpSpPr/>
          <p:nvPr/>
        </p:nvGrpSpPr>
        <p:grpSpPr>
          <a:xfrm>
            <a:off x="4840069" y="3506464"/>
            <a:ext cx="3797904" cy="2231178"/>
            <a:chOff x="4840069" y="3546154"/>
            <a:chExt cx="3797904" cy="2231178"/>
          </a:xfrm>
        </p:grpSpPr>
        <p:sp>
          <p:nvSpPr>
            <p:cNvPr id="14" name="TextBox 13"/>
            <p:cNvSpPr txBox="1"/>
            <p:nvPr/>
          </p:nvSpPr>
          <p:spPr>
            <a:xfrm rot="10800000" flipV="1">
              <a:off x="7350404" y="5408000"/>
              <a:ext cx="620745" cy="369332"/>
            </a:xfrm>
            <a:prstGeom prst="rect">
              <a:avLst/>
            </a:prstGeom>
            <a:noFill/>
          </p:spPr>
          <p:txBody>
            <a:bodyPr wrap="square" rtlCol="0">
              <a:spAutoFit/>
            </a:bodyPr>
            <a:lstStyle/>
            <a:p>
              <a:r>
                <a:rPr lang="en-US" dirty="0" smtClean="0"/>
                <a:t>time</a:t>
              </a:r>
              <a:endParaRPr lang="en-US" dirty="0"/>
            </a:p>
          </p:txBody>
        </p:sp>
        <p:sp>
          <p:nvSpPr>
            <p:cNvPr id="21" name="TextBox 20"/>
            <p:cNvSpPr txBox="1"/>
            <p:nvPr/>
          </p:nvSpPr>
          <p:spPr>
            <a:xfrm rot="16200000">
              <a:off x="4505849" y="3947215"/>
              <a:ext cx="1314772" cy="646331"/>
            </a:xfrm>
            <a:prstGeom prst="rect">
              <a:avLst/>
            </a:prstGeom>
            <a:noFill/>
          </p:spPr>
          <p:txBody>
            <a:bodyPr wrap="square" rtlCol="0">
              <a:spAutoFit/>
            </a:bodyPr>
            <a:lstStyle/>
            <a:p>
              <a:r>
                <a:rPr lang="en-US" dirty="0" smtClean="0"/>
                <a:t>supply voltage</a:t>
              </a:r>
              <a:endParaRPr lang="en-US" dirty="0"/>
            </a:p>
          </p:txBody>
        </p:sp>
        <p:pic>
          <p:nvPicPr>
            <p:cNvPr id="18" name="Picture 17" descr="linear-128us.png"/>
            <p:cNvPicPr>
              <a:picLocks noChangeAspect="1"/>
            </p:cNvPicPr>
            <p:nvPr/>
          </p:nvPicPr>
          <p:blipFill>
            <a:blip r:embed="rId4"/>
            <a:stretch>
              <a:fillRect/>
            </a:stretch>
          </p:blipFill>
          <p:spPr>
            <a:xfrm>
              <a:off x="5425595" y="3546154"/>
              <a:ext cx="3212378" cy="2023737"/>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build="p"/>
      <p:bldP spid="11" grpId="0" animBg="1"/>
    </p:bld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Hardware/Software Challenges</a:t>
            </a:r>
            <a:endParaRPr lang="en-US" dirty="0"/>
          </a:p>
        </p:txBody>
      </p:sp>
      <p:sp>
        <p:nvSpPr>
          <p:cNvPr id="3" name="Content Placeholder 2"/>
          <p:cNvSpPr>
            <a:spLocks noGrp="1"/>
          </p:cNvSpPr>
          <p:nvPr>
            <p:ph idx="1"/>
          </p:nvPr>
        </p:nvSpPr>
        <p:spPr>
          <a:xfrm>
            <a:off x="457199" y="990600"/>
            <a:ext cx="8480425" cy="5257800"/>
          </a:xfrm>
        </p:spPr>
        <p:txBody>
          <a:bodyPr/>
          <a:lstStyle/>
          <a:p>
            <a:pPr>
              <a:spcAft>
                <a:spcPts val="0"/>
              </a:spcAft>
            </a:pPr>
            <a:r>
              <a:rPr lang="en-US" dirty="0" smtClean="0"/>
              <a:t>Activation</a:t>
            </a:r>
          </a:p>
          <a:p>
            <a:pPr lvl="1">
              <a:spcAft>
                <a:spcPts val="0"/>
              </a:spcAft>
            </a:pPr>
            <a:r>
              <a:rPr lang="en-US" dirty="0" smtClean="0"/>
              <a:t>Sprinting activated when parallel work available</a:t>
            </a:r>
          </a:p>
          <a:p>
            <a:pPr lvl="1">
              <a:spcAft>
                <a:spcPts val="0"/>
              </a:spcAft>
            </a:pPr>
            <a:endParaRPr lang="en-US" dirty="0" smtClean="0"/>
          </a:p>
          <a:p>
            <a:pPr>
              <a:spcAft>
                <a:spcPts val="0"/>
              </a:spcAft>
            </a:pPr>
            <a:r>
              <a:rPr lang="en-US" dirty="0" smtClean="0"/>
              <a:t>Deactivation</a:t>
            </a:r>
          </a:p>
          <a:p>
            <a:pPr lvl="1">
              <a:spcAft>
                <a:spcPts val="0"/>
              </a:spcAft>
            </a:pPr>
            <a:r>
              <a:rPr lang="en-US" dirty="0" smtClean="0"/>
              <a:t>Hardware detects impending overheating</a:t>
            </a:r>
          </a:p>
          <a:p>
            <a:pPr lvl="2">
              <a:spcAft>
                <a:spcPts val="0"/>
              </a:spcAft>
            </a:pPr>
            <a:r>
              <a:rPr lang="en-US" dirty="0" smtClean="0"/>
              <a:t>Monitor thermal budget </a:t>
            </a:r>
          </a:p>
          <a:p>
            <a:pPr lvl="2">
              <a:spcAft>
                <a:spcPts val="0"/>
              </a:spcAft>
            </a:pPr>
            <a:r>
              <a:rPr lang="en-US" dirty="0" smtClean="0"/>
              <a:t>Energy from activity count + thermal model of system</a:t>
            </a:r>
          </a:p>
          <a:p>
            <a:pPr lvl="1">
              <a:spcAft>
                <a:spcPts val="0"/>
              </a:spcAft>
            </a:pPr>
            <a:r>
              <a:rPr lang="en-US" dirty="0" smtClean="0"/>
              <a:t>If thermal budget nearing, ask runtime to migrate</a:t>
            </a:r>
          </a:p>
          <a:p>
            <a:pPr lvl="1">
              <a:spcAft>
                <a:spcPts val="0"/>
              </a:spcAft>
            </a:pPr>
            <a:r>
              <a:rPr lang="en-US" dirty="0" smtClean="0"/>
              <a:t>If software is unable to respond</a:t>
            </a:r>
          </a:p>
          <a:p>
            <a:pPr lvl="2">
              <a:spcAft>
                <a:spcPts val="0"/>
              </a:spcAft>
            </a:pPr>
            <a:r>
              <a:rPr lang="en-US" dirty="0" smtClean="0"/>
              <a:t>Drastically cut frequency to sustainable</a:t>
            </a:r>
          </a:p>
          <a:p>
            <a:pPr lvl="2">
              <a:spcAft>
                <a:spcPts val="0"/>
              </a:spcAft>
            </a:pPr>
            <a:r>
              <a:rPr lang="en-US" dirty="0" smtClean="0"/>
              <a:t>Throttle by factor of “number of cores”</a:t>
            </a:r>
          </a:p>
          <a:p>
            <a:pPr lvl="1">
              <a:spcAft>
                <a:spcPts val="0"/>
              </a:spcAft>
              <a:buNone/>
            </a:pPr>
            <a:r>
              <a:rPr lang="en-US" dirty="0" smtClean="0"/>
              <a:t>		 </a:t>
            </a:r>
          </a:p>
          <a:p>
            <a:pPr>
              <a:spcAft>
                <a:spcPts val="0"/>
              </a:spcAft>
            </a:pP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28</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Evaluation</a:t>
            </a:r>
            <a:endParaRPr lang="en-US" dirty="0"/>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A0CC57-CE7D-8143-BD13-67094D272EE6}" type="slidenum">
              <a:rPr lang="en-US" smtClean="0"/>
              <a:pPr/>
              <a:t>29</a:t>
            </a:fld>
            <a:endParaRPr lang="en-US"/>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a:t>
            </a:r>
            <a:endParaRPr lang="en-US" dirty="0"/>
          </a:p>
        </p:txBody>
      </p:sp>
      <p:sp>
        <p:nvSpPr>
          <p:cNvPr id="3" name="Content Placeholder 2"/>
          <p:cNvSpPr>
            <a:spLocks noGrp="1"/>
          </p:cNvSpPr>
          <p:nvPr>
            <p:ph idx="1"/>
          </p:nvPr>
        </p:nvSpPr>
        <p:spPr>
          <a:xfrm>
            <a:off x="457199" y="990600"/>
            <a:ext cx="8686801" cy="5257800"/>
          </a:xfrm>
        </p:spPr>
        <p:txBody>
          <a:bodyPr/>
          <a:lstStyle/>
          <a:p>
            <a:r>
              <a:rPr lang="en-US" dirty="0" smtClean="0"/>
              <a:t>In-order x86 many-core simulator</a:t>
            </a:r>
          </a:p>
          <a:p>
            <a:pPr lvl="1"/>
            <a:r>
              <a:rPr lang="en-US" dirty="0" smtClean="0"/>
              <a:t>16 cores</a:t>
            </a:r>
          </a:p>
          <a:p>
            <a:pPr lvl="1">
              <a:spcAft>
                <a:spcPts val="3000"/>
              </a:spcAft>
            </a:pPr>
            <a:r>
              <a:rPr lang="en-US" dirty="0" smtClean="0"/>
              <a:t>32K, 8-way L1, 4MB 16-way shared LLC, </a:t>
            </a:r>
            <a:br>
              <a:rPr lang="en-US" dirty="0" smtClean="0"/>
            </a:br>
            <a:r>
              <a:rPr lang="en-US" dirty="0" smtClean="0"/>
              <a:t>directory cache coherence, 60ns memory latency, </a:t>
            </a:r>
            <a:br>
              <a:rPr lang="en-US" dirty="0" smtClean="0"/>
            </a:br>
            <a:r>
              <a:rPr lang="en-US" dirty="0" smtClean="0"/>
              <a:t>dual-channel 4GB/s memory interface</a:t>
            </a:r>
          </a:p>
          <a:p>
            <a:r>
              <a:rPr lang="en-US" dirty="0" smtClean="0"/>
              <a:t>Energy estimates from </a:t>
            </a:r>
            <a:r>
              <a:rPr lang="en-US" dirty="0" err="1" smtClean="0"/>
              <a:t>McPAT</a:t>
            </a:r>
            <a:r>
              <a:rPr lang="en-US" dirty="0" smtClean="0"/>
              <a:t> (1GHz, 1W, LOP)</a:t>
            </a:r>
          </a:p>
          <a:p>
            <a:pPr lvl="1"/>
            <a:r>
              <a:rPr lang="en-US" dirty="0" smtClean="0"/>
              <a:t>Used to drive thermal model </a:t>
            </a:r>
          </a:p>
          <a:p>
            <a:endParaRPr lang="en-US" dirty="0" smtClean="0"/>
          </a:p>
          <a:p>
            <a:r>
              <a:rPr lang="en-US" dirty="0" smtClean="0"/>
              <a:t>Workloads: </a:t>
            </a:r>
          </a:p>
          <a:p>
            <a:pPr lvl="1"/>
            <a:r>
              <a:rPr lang="en-US" dirty="0" smtClean="0"/>
              <a:t>Vision kernels </a:t>
            </a:r>
            <a:r>
              <a:rPr lang="en-US" sz="2000" dirty="0" smtClean="0"/>
              <a:t>[SD-VBS]</a:t>
            </a:r>
            <a:r>
              <a:rPr lang="en-US" dirty="0" smtClean="0"/>
              <a:t>, feature extraction app. </a:t>
            </a:r>
            <a:r>
              <a:rPr lang="en-US" sz="2000" dirty="0" smtClean="0"/>
              <a:t>[</a:t>
            </a:r>
            <a:r>
              <a:rPr lang="en-US" sz="2000" dirty="0" err="1" smtClean="0"/>
              <a:t>MEVBench</a:t>
            </a:r>
            <a:r>
              <a:rPr lang="en-US" sz="2000" dirty="0" smtClean="0"/>
              <a:t>]</a:t>
            </a:r>
          </a:p>
        </p:txBody>
      </p:sp>
      <p:sp>
        <p:nvSpPr>
          <p:cNvPr id="4" name="Slide Number Placeholder 3"/>
          <p:cNvSpPr>
            <a:spLocks noGrp="1"/>
          </p:cNvSpPr>
          <p:nvPr>
            <p:ph type="sldNum" sz="quarter" idx="10"/>
          </p:nvPr>
        </p:nvSpPr>
        <p:spPr/>
        <p:txBody>
          <a:bodyPr/>
          <a:lstStyle/>
          <a:p>
            <a:fld id="{FDA0CC57-CE7D-8143-BD13-67094D272EE6}" type="slidenum">
              <a:rPr lang="en-US" smtClean="0"/>
              <a:pPr/>
              <a:t>30</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Sprinting Responsiveness</a:t>
            </a:r>
            <a:endParaRPr lang="en-US" dirty="0"/>
          </a:p>
        </p:txBody>
      </p:sp>
      <p:graphicFrame>
        <p:nvGraphicFramePr>
          <p:cNvPr id="6" name="Content Placeholder 5"/>
          <p:cNvGraphicFramePr>
            <a:graphicFrameLocks noGrp="1"/>
          </p:cNvGraphicFramePr>
          <p:nvPr>
            <p:ph idx="1"/>
          </p:nvPr>
        </p:nvGraphicFramePr>
        <p:xfrm>
          <a:off x="742073" y="838200"/>
          <a:ext cx="8229600" cy="3578086"/>
        </p:xfrm>
        <a:graphic>
          <a:graphicData uri="http://schemas.openxmlformats.org/drawingml/2006/chart">
            <c:chart xmlns:c="http://schemas.openxmlformats.org/drawingml/2006/chart" xmlns:r="http://schemas.openxmlformats.org/officeDocument/2006/relationships" r:id="rId3"/>
          </a:graphicData>
        </a:graphic>
      </p:graphicFrame>
      <p:sp>
        <p:nvSpPr>
          <p:cNvPr id="14" name="Slide Number Placeholder 13"/>
          <p:cNvSpPr>
            <a:spLocks noGrp="1"/>
          </p:cNvSpPr>
          <p:nvPr>
            <p:ph type="sldNum" sz="quarter" idx="10"/>
          </p:nvPr>
        </p:nvSpPr>
        <p:spPr/>
        <p:txBody>
          <a:bodyPr/>
          <a:lstStyle/>
          <a:p>
            <a:fld id="{F095543E-C052-B94D-8CA8-5BD72BC98389}" type="slidenum">
              <a:rPr lang="en-US" smtClean="0"/>
              <a:pPr/>
              <a:t>31</a:t>
            </a:fld>
            <a:endParaRPr lang="en-US"/>
          </a:p>
        </p:txBody>
      </p:sp>
      <p:sp>
        <p:nvSpPr>
          <p:cNvPr id="15" name="Footer Placeholder 14"/>
          <p:cNvSpPr>
            <a:spLocks noGrp="1"/>
          </p:cNvSpPr>
          <p:nvPr>
            <p:ph type="ftr" sz="quarter" idx="11"/>
          </p:nvPr>
        </p:nvSpPr>
        <p:spPr/>
        <p:txBody>
          <a:bodyPr/>
          <a:lstStyle/>
          <a:p>
            <a:r>
              <a:rPr lang="en-US" smtClean="0"/>
              <a:t>Computational Sprinting</a:t>
            </a:r>
            <a:endParaRPr lang="en-US" dirty="0"/>
          </a:p>
        </p:txBody>
      </p:sp>
      <p:sp>
        <p:nvSpPr>
          <p:cNvPr id="7" name="TextBox 6"/>
          <p:cNvSpPr txBox="1"/>
          <p:nvPr/>
        </p:nvSpPr>
        <p:spPr>
          <a:xfrm>
            <a:off x="2952674" y="4289920"/>
            <a:ext cx="2673441" cy="369332"/>
          </a:xfrm>
          <a:prstGeom prst="rect">
            <a:avLst/>
          </a:prstGeom>
          <a:noFill/>
        </p:spPr>
        <p:txBody>
          <a:bodyPr wrap="none" rtlCol="0">
            <a:spAutoFit/>
          </a:bodyPr>
          <a:lstStyle/>
          <a:p>
            <a:r>
              <a:rPr lang="en-US" dirty="0" smtClean="0"/>
              <a:t>image size (Megapixels)</a:t>
            </a:r>
            <a:endParaRPr lang="en-US" dirty="0"/>
          </a:p>
        </p:txBody>
      </p:sp>
      <p:sp>
        <p:nvSpPr>
          <p:cNvPr id="8" name="TextBox 7"/>
          <p:cNvSpPr txBox="1"/>
          <p:nvPr/>
        </p:nvSpPr>
        <p:spPr>
          <a:xfrm rot="16200000">
            <a:off x="-574348" y="2209004"/>
            <a:ext cx="2263510" cy="369332"/>
          </a:xfrm>
          <a:prstGeom prst="rect">
            <a:avLst/>
          </a:prstGeom>
          <a:noFill/>
        </p:spPr>
        <p:txBody>
          <a:bodyPr wrap="none" rtlCol="0">
            <a:spAutoFit/>
          </a:bodyPr>
          <a:lstStyle/>
          <a:p>
            <a:r>
              <a:rPr lang="en-US" dirty="0" smtClean="0"/>
              <a:t>normalized speedup</a:t>
            </a:r>
            <a:endParaRPr lang="en-US" dirty="0"/>
          </a:p>
        </p:txBody>
      </p:sp>
      <p:sp>
        <p:nvSpPr>
          <p:cNvPr id="12" name="Oval 11"/>
          <p:cNvSpPr/>
          <p:nvPr/>
        </p:nvSpPr>
        <p:spPr bwMode="auto">
          <a:xfrm>
            <a:off x="1156825" y="3361238"/>
            <a:ext cx="665951" cy="587807"/>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6" name="TextBox 15"/>
          <p:cNvSpPr txBox="1"/>
          <p:nvPr/>
        </p:nvSpPr>
        <p:spPr>
          <a:xfrm>
            <a:off x="1705678" y="3748990"/>
            <a:ext cx="1904012" cy="400110"/>
          </a:xfrm>
          <a:prstGeom prst="rect">
            <a:avLst/>
          </a:prstGeom>
          <a:noFill/>
        </p:spPr>
        <p:txBody>
          <a:bodyPr wrap="none" rtlCol="0">
            <a:spAutoFit/>
          </a:bodyPr>
          <a:lstStyle/>
          <a:p>
            <a:r>
              <a:rPr lang="en-US" sz="2000" b="1" dirty="0" smtClean="0">
                <a:solidFill>
                  <a:schemeClr val="accent6"/>
                </a:solidFill>
              </a:rPr>
              <a:t>Too little work</a:t>
            </a:r>
            <a:endParaRPr lang="en-US" sz="2000" b="1" dirty="0">
              <a:solidFill>
                <a:schemeClr val="accent6"/>
              </a:solidFill>
            </a:endParaRPr>
          </a:p>
        </p:txBody>
      </p:sp>
      <p:sp>
        <p:nvSpPr>
          <p:cNvPr id="19" name="TextBox 18"/>
          <p:cNvSpPr txBox="1"/>
          <p:nvPr/>
        </p:nvSpPr>
        <p:spPr>
          <a:xfrm>
            <a:off x="3305815" y="3178235"/>
            <a:ext cx="3185487" cy="400110"/>
          </a:xfrm>
          <a:prstGeom prst="rect">
            <a:avLst/>
          </a:prstGeom>
          <a:noFill/>
        </p:spPr>
        <p:txBody>
          <a:bodyPr wrap="none" rtlCol="0">
            <a:spAutoFit/>
          </a:bodyPr>
          <a:lstStyle/>
          <a:p>
            <a:r>
              <a:rPr lang="en-US" sz="2000" b="1" dirty="0" smtClean="0">
                <a:solidFill>
                  <a:srgbClr val="005EA7"/>
                </a:solidFill>
              </a:rPr>
              <a:t>Lack of thermal capacity</a:t>
            </a:r>
            <a:endParaRPr lang="en-US" sz="2000" b="1" dirty="0">
              <a:solidFill>
                <a:srgbClr val="005EA7"/>
              </a:solidFill>
            </a:endParaRPr>
          </a:p>
        </p:txBody>
      </p:sp>
      <p:sp>
        <p:nvSpPr>
          <p:cNvPr id="13" name="TextBox 12"/>
          <p:cNvSpPr txBox="1"/>
          <p:nvPr/>
        </p:nvSpPr>
        <p:spPr>
          <a:xfrm>
            <a:off x="1243452" y="4790294"/>
            <a:ext cx="1932252" cy="369332"/>
          </a:xfrm>
          <a:prstGeom prst="rect">
            <a:avLst/>
          </a:prstGeom>
          <a:noFill/>
        </p:spPr>
        <p:txBody>
          <a:bodyPr wrap="none" rtlCol="0">
            <a:spAutoFit/>
          </a:bodyPr>
          <a:lstStyle/>
          <a:p>
            <a:r>
              <a:rPr lang="en-US" dirty="0" smtClean="0">
                <a:latin typeface="Wingdings"/>
                <a:ea typeface="Wingdings"/>
                <a:cs typeface="Wingdings"/>
              </a:rPr>
              <a:t></a:t>
            </a:r>
            <a:r>
              <a:rPr lang="en-US" dirty="0" smtClean="0">
                <a:ea typeface="Wingdings"/>
                <a:cs typeface="Wingdings"/>
              </a:rPr>
              <a:t> </a:t>
            </a:r>
            <a:r>
              <a:rPr lang="en-US" dirty="0" smtClean="0"/>
              <a:t>Less compute</a:t>
            </a:r>
            <a:endParaRPr lang="en-US" dirty="0"/>
          </a:p>
        </p:txBody>
      </p:sp>
      <p:sp>
        <p:nvSpPr>
          <p:cNvPr id="17" name="TextBox 16"/>
          <p:cNvSpPr txBox="1"/>
          <p:nvPr/>
        </p:nvSpPr>
        <p:spPr>
          <a:xfrm>
            <a:off x="5653657" y="4790294"/>
            <a:ext cx="1970574" cy="369332"/>
          </a:xfrm>
          <a:prstGeom prst="rect">
            <a:avLst/>
          </a:prstGeom>
          <a:noFill/>
        </p:spPr>
        <p:txBody>
          <a:bodyPr wrap="none" rtlCol="0">
            <a:spAutoFit/>
          </a:bodyPr>
          <a:lstStyle/>
          <a:p>
            <a:r>
              <a:rPr lang="en-US" dirty="0" smtClean="0"/>
              <a:t>More compute </a:t>
            </a:r>
            <a:r>
              <a:rPr lang="en-US" dirty="0" smtClean="0">
                <a:latin typeface="Wingdings"/>
                <a:ea typeface="Wingdings"/>
                <a:cs typeface="Wingdings"/>
              </a:rPr>
              <a:t></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chart seriesIdx="0" categoryIdx="-4" bldStep="series"/>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chart seriesIdx="1" categoryIdx="-4" bldStep="series"/>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graphicEl>
                                              <a:chart seriesIdx="2" categoryIdx="-4" bldStep="series"/>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Chart bld="series"/>
        </p:bldSub>
      </p:bldGraphic>
      <p:bldP spid="16" grpId="0"/>
      <p:bldP spid="19" grpId="0"/>
    </p:bld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Responsiveness Evaluation</a:t>
            </a:r>
            <a:endParaRPr lang="en-US" dirty="0"/>
          </a:p>
        </p:txBody>
      </p:sp>
      <p:sp>
        <p:nvSpPr>
          <p:cNvPr id="3" name="Content Placeholder 2"/>
          <p:cNvSpPr>
            <a:spLocks noGrp="1"/>
          </p:cNvSpPr>
          <p:nvPr>
            <p:ph idx="1"/>
          </p:nvPr>
        </p:nvSpPr>
        <p:spPr>
          <a:xfrm>
            <a:off x="457200" y="4422053"/>
            <a:ext cx="8229600" cy="1032264"/>
          </a:xfrm>
        </p:spPr>
        <p:txBody>
          <a:bodyPr/>
          <a:lstStyle/>
          <a:p>
            <a:pPr algn="ctr">
              <a:buNone/>
            </a:pPr>
            <a:r>
              <a:rPr lang="en-US" b="1" dirty="0" smtClean="0">
                <a:solidFill>
                  <a:srgbClr val="005EA7"/>
                </a:solidFill>
              </a:rPr>
              <a:t>Average 10.2x improvement in responsiveness</a:t>
            </a:r>
          </a:p>
          <a:p>
            <a:pPr lvl="2"/>
            <a:endParaRPr lang="en-US" b="1"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32</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graphicFrame>
        <p:nvGraphicFramePr>
          <p:cNvPr id="6" name="Chart 5"/>
          <p:cNvGraphicFramePr/>
          <p:nvPr/>
        </p:nvGraphicFramePr>
        <p:xfrm>
          <a:off x="457200" y="1177207"/>
          <a:ext cx="8229600" cy="2567643"/>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2040822" y="3555303"/>
            <a:ext cx="1044201" cy="369332"/>
          </a:xfrm>
          <a:prstGeom prst="rect">
            <a:avLst/>
          </a:prstGeom>
          <a:noFill/>
        </p:spPr>
        <p:txBody>
          <a:bodyPr wrap="none" rtlCol="0">
            <a:spAutoFit/>
          </a:bodyPr>
          <a:lstStyle/>
          <a:p>
            <a:r>
              <a:rPr lang="en-US" dirty="0" smtClean="0"/>
              <a:t>disparity</a:t>
            </a:r>
            <a:endParaRPr lang="en-US" dirty="0"/>
          </a:p>
        </p:txBody>
      </p:sp>
      <p:sp>
        <p:nvSpPr>
          <p:cNvPr id="9" name="TextBox 8"/>
          <p:cNvSpPr txBox="1"/>
          <p:nvPr/>
        </p:nvSpPr>
        <p:spPr>
          <a:xfrm>
            <a:off x="3575829" y="3555303"/>
            <a:ext cx="736500" cy="369332"/>
          </a:xfrm>
          <a:prstGeom prst="rect">
            <a:avLst/>
          </a:prstGeom>
          <a:noFill/>
        </p:spPr>
        <p:txBody>
          <a:bodyPr wrap="none" rtlCol="0">
            <a:spAutoFit/>
          </a:bodyPr>
          <a:lstStyle/>
          <a:p>
            <a:r>
              <a:rPr lang="en-US" dirty="0" smtClean="0"/>
              <a:t>sobel</a:t>
            </a:r>
            <a:endParaRPr lang="en-US" dirty="0"/>
          </a:p>
        </p:txBody>
      </p:sp>
      <p:sp>
        <p:nvSpPr>
          <p:cNvPr id="10" name="TextBox 9"/>
          <p:cNvSpPr txBox="1"/>
          <p:nvPr/>
        </p:nvSpPr>
        <p:spPr>
          <a:xfrm>
            <a:off x="4830571" y="3555303"/>
            <a:ext cx="890350" cy="369332"/>
          </a:xfrm>
          <a:prstGeom prst="rect">
            <a:avLst/>
          </a:prstGeom>
          <a:noFill/>
        </p:spPr>
        <p:txBody>
          <a:bodyPr wrap="none" rtlCol="0">
            <a:spAutoFit/>
          </a:bodyPr>
          <a:lstStyle/>
          <a:p>
            <a:r>
              <a:rPr lang="en-US" dirty="0" smtClean="0"/>
              <a:t>texture</a:t>
            </a:r>
            <a:endParaRPr lang="en-US" dirty="0"/>
          </a:p>
        </p:txBody>
      </p:sp>
      <p:sp>
        <p:nvSpPr>
          <p:cNvPr id="11" name="TextBox 10"/>
          <p:cNvSpPr txBox="1"/>
          <p:nvPr/>
        </p:nvSpPr>
        <p:spPr>
          <a:xfrm>
            <a:off x="6131379" y="3555303"/>
            <a:ext cx="1070012" cy="369332"/>
          </a:xfrm>
          <a:prstGeom prst="rect">
            <a:avLst/>
          </a:prstGeom>
          <a:noFill/>
        </p:spPr>
        <p:txBody>
          <a:bodyPr wrap="none" rtlCol="0">
            <a:spAutoFit/>
          </a:bodyPr>
          <a:lstStyle/>
          <a:p>
            <a:r>
              <a:rPr lang="en-US" dirty="0" smtClean="0"/>
              <a:t>segment</a:t>
            </a:r>
            <a:endParaRPr lang="en-US" dirty="0"/>
          </a:p>
        </p:txBody>
      </p:sp>
      <p:sp>
        <p:nvSpPr>
          <p:cNvPr id="12" name="TextBox 11"/>
          <p:cNvSpPr txBox="1"/>
          <p:nvPr/>
        </p:nvSpPr>
        <p:spPr>
          <a:xfrm>
            <a:off x="7533461" y="3539091"/>
            <a:ext cx="992918" cy="369332"/>
          </a:xfrm>
          <a:prstGeom prst="rect">
            <a:avLst/>
          </a:prstGeom>
          <a:noFill/>
        </p:spPr>
        <p:txBody>
          <a:bodyPr wrap="none" rtlCol="0">
            <a:spAutoFit/>
          </a:bodyPr>
          <a:lstStyle/>
          <a:p>
            <a:r>
              <a:rPr lang="en-US" dirty="0" err="1" smtClean="0"/>
              <a:t>kmeans</a:t>
            </a:r>
            <a:endParaRPr lang="en-US" dirty="0"/>
          </a:p>
        </p:txBody>
      </p:sp>
      <p:sp>
        <p:nvSpPr>
          <p:cNvPr id="14" name="Oval 13"/>
          <p:cNvSpPr/>
          <p:nvPr/>
        </p:nvSpPr>
        <p:spPr bwMode="auto">
          <a:xfrm>
            <a:off x="1058451" y="1324256"/>
            <a:ext cx="7467928" cy="1136772"/>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13" name="TextBox 12"/>
          <p:cNvSpPr txBox="1"/>
          <p:nvPr/>
        </p:nvSpPr>
        <p:spPr>
          <a:xfrm rot="16200000">
            <a:off x="-661936" y="2301496"/>
            <a:ext cx="2263510" cy="369332"/>
          </a:xfrm>
          <a:prstGeom prst="rect">
            <a:avLst/>
          </a:prstGeom>
          <a:noFill/>
        </p:spPr>
        <p:txBody>
          <a:bodyPr wrap="none" rtlCol="0">
            <a:spAutoFit/>
          </a:bodyPr>
          <a:lstStyle/>
          <a:p>
            <a:r>
              <a:rPr lang="en-US" dirty="0" smtClean="0"/>
              <a:t>normalized speedup</a:t>
            </a:r>
            <a:endParaRPr lang="en-US" dirty="0"/>
          </a:p>
        </p:txBody>
      </p:sp>
      <p:sp>
        <p:nvSpPr>
          <p:cNvPr id="7" name="TextBox 6"/>
          <p:cNvSpPr txBox="1"/>
          <p:nvPr/>
        </p:nvSpPr>
        <p:spPr>
          <a:xfrm>
            <a:off x="767296" y="3556669"/>
            <a:ext cx="903312" cy="367966"/>
          </a:xfrm>
          <a:prstGeom prst="rect">
            <a:avLst/>
          </a:prstGeom>
          <a:noFill/>
        </p:spPr>
        <p:txBody>
          <a:bodyPr wrap="square" rtlCol="0">
            <a:spAutoFit/>
          </a:bodyPr>
          <a:lstStyle/>
          <a:p>
            <a:r>
              <a:rPr lang="en-US" dirty="0" smtClean="0"/>
              <a:t>feature</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4" grpId="0" animBg="1"/>
    </p:bld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25" name="Chart 24"/>
          <p:cNvGraphicFramePr/>
          <p:nvPr/>
        </p:nvGraphicFramePr>
        <p:xfrm>
          <a:off x="901718" y="1034085"/>
          <a:ext cx="7315200" cy="182880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p:txBody>
          <a:bodyPr/>
          <a:lstStyle/>
          <a:p>
            <a:r>
              <a:rPr lang="en-US" dirty="0" smtClean="0"/>
              <a:t>Parallelism &amp; Energy</a:t>
            </a:r>
            <a:endParaRPr lang="en-US" dirty="0"/>
          </a:p>
        </p:txBody>
      </p:sp>
      <p:sp>
        <p:nvSpPr>
          <p:cNvPr id="33" name="Content Placeholder 2"/>
          <p:cNvSpPr>
            <a:spLocks noGrp="1"/>
          </p:cNvSpPr>
          <p:nvPr>
            <p:ph idx="1"/>
          </p:nvPr>
        </p:nvSpPr>
        <p:spPr>
          <a:xfrm>
            <a:off x="1111001" y="5048928"/>
            <a:ext cx="7622833" cy="1411196"/>
          </a:xfrm>
        </p:spPr>
        <p:txBody>
          <a:bodyPr/>
          <a:lstStyle/>
          <a:p>
            <a:r>
              <a:rPr lang="en-US" dirty="0" smtClean="0"/>
              <a:t>No dynamic energy penalty when speedup linear</a:t>
            </a:r>
          </a:p>
          <a:p>
            <a:r>
              <a:rPr lang="en-US" dirty="0" smtClean="0"/>
              <a:t>Overall, 12% average dynamic energy increase</a:t>
            </a:r>
          </a:p>
          <a:p>
            <a:pPr lvl="4">
              <a:buNone/>
            </a:pPr>
            <a:endParaRPr lang="en-US" dirty="0" smtClean="0"/>
          </a:p>
          <a:p>
            <a:pPr lvl="2"/>
            <a:endParaRPr lang="en-US" dirty="0"/>
          </a:p>
        </p:txBody>
      </p:sp>
      <p:sp>
        <p:nvSpPr>
          <p:cNvPr id="14" name="Slide Number Placeholder 13"/>
          <p:cNvSpPr>
            <a:spLocks noGrp="1"/>
          </p:cNvSpPr>
          <p:nvPr>
            <p:ph type="sldNum" sz="quarter" idx="10"/>
          </p:nvPr>
        </p:nvSpPr>
        <p:spPr/>
        <p:txBody>
          <a:bodyPr/>
          <a:lstStyle/>
          <a:p>
            <a:fld id="{F095543E-C052-B94D-8CA8-5BD72BC98389}" type="slidenum">
              <a:rPr lang="en-US" smtClean="0"/>
              <a:pPr/>
              <a:t>33</a:t>
            </a:fld>
            <a:endParaRPr lang="en-US"/>
          </a:p>
        </p:txBody>
      </p:sp>
      <p:sp>
        <p:nvSpPr>
          <p:cNvPr id="24" name="Footer Placeholder 23"/>
          <p:cNvSpPr>
            <a:spLocks noGrp="1"/>
          </p:cNvSpPr>
          <p:nvPr>
            <p:ph type="ftr" sz="quarter" idx="11"/>
          </p:nvPr>
        </p:nvSpPr>
        <p:spPr/>
        <p:txBody>
          <a:bodyPr/>
          <a:lstStyle/>
          <a:p>
            <a:r>
              <a:rPr lang="en-US" smtClean="0"/>
              <a:t>Computational Sprinting</a:t>
            </a:r>
            <a:endParaRPr lang="en-US" dirty="0"/>
          </a:p>
        </p:txBody>
      </p:sp>
      <p:graphicFrame>
        <p:nvGraphicFramePr>
          <p:cNvPr id="4" name="Chart 3"/>
          <p:cNvGraphicFramePr/>
          <p:nvPr/>
        </p:nvGraphicFramePr>
        <p:xfrm>
          <a:off x="742073" y="2868083"/>
          <a:ext cx="7315200" cy="2074538"/>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rot="16200000">
            <a:off x="-198285" y="3766825"/>
            <a:ext cx="1439141" cy="707886"/>
          </a:xfrm>
          <a:prstGeom prst="rect">
            <a:avLst/>
          </a:prstGeom>
          <a:noFill/>
        </p:spPr>
        <p:txBody>
          <a:bodyPr wrap="none" rtlCol="0">
            <a:spAutoFit/>
          </a:bodyPr>
          <a:lstStyle/>
          <a:p>
            <a:pPr algn="ctr"/>
            <a:r>
              <a:rPr lang="en-US" sz="2000" dirty="0" smtClean="0"/>
              <a:t>normalized</a:t>
            </a:r>
            <a:br>
              <a:rPr lang="en-US" sz="2000" dirty="0" smtClean="0"/>
            </a:br>
            <a:r>
              <a:rPr lang="en-US" sz="2000" dirty="0" smtClean="0"/>
              <a:t> energy</a:t>
            </a:r>
            <a:endParaRPr lang="en-US" sz="2000" dirty="0"/>
          </a:p>
        </p:txBody>
      </p:sp>
      <p:sp>
        <p:nvSpPr>
          <p:cNvPr id="26" name="TextBox 25"/>
          <p:cNvSpPr txBox="1"/>
          <p:nvPr/>
        </p:nvSpPr>
        <p:spPr>
          <a:xfrm>
            <a:off x="1500600" y="838200"/>
            <a:ext cx="903312" cy="369332"/>
          </a:xfrm>
          <a:prstGeom prst="rect">
            <a:avLst/>
          </a:prstGeom>
          <a:noFill/>
        </p:spPr>
        <p:txBody>
          <a:bodyPr wrap="none" rtlCol="0">
            <a:spAutoFit/>
          </a:bodyPr>
          <a:lstStyle/>
          <a:p>
            <a:r>
              <a:rPr lang="en-US" dirty="0" smtClean="0"/>
              <a:t>feature</a:t>
            </a:r>
            <a:endParaRPr lang="en-US" dirty="0"/>
          </a:p>
        </p:txBody>
      </p:sp>
      <p:sp>
        <p:nvSpPr>
          <p:cNvPr id="27" name="TextBox 26"/>
          <p:cNvSpPr txBox="1"/>
          <p:nvPr/>
        </p:nvSpPr>
        <p:spPr>
          <a:xfrm>
            <a:off x="2523501" y="838200"/>
            <a:ext cx="1044201" cy="369332"/>
          </a:xfrm>
          <a:prstGeom prst="rect">
            <a:avLst/>
          </a:prstGeom>
          <a:noFill/>
        </p:spPr>
        <p:txBody>
          <a:bodyPr wrap="none" rtlCol="0">
            <a:spAutoFit/>
          </a:bodyPr>
          <a:lstStyle/>
          <a:p>
            <a:r>
              <a:rPr lang="en-US" dirty="0" smtClean="0"/>
              <a:t>disparity</a:t>
            </a:r>
            <a:endParaRPr lang="en-US" dirty="0"/>
          </a:p>
        </p:txBody>
      </p:sp>
      <p:sp>
        <p:nvSpPr>
          <p:cNvPr id="28" name="TextBox 27"/>
          <p:cNvSpPr txBox="1"/>
          <p:nvPr/>
        </p:nvSpPr>
        <p:spPr>
          <a:xfrm>
            <a:off x="3770779" y="838200"/>
            <a:ext cx="736500" cy="369332"/>
          </a:xfrm>
          <a:prstGeom prst="rect">
            <a:avLst/>
          </a:prstGeom>
          <a:noFill/>
        </p:spPr>
        <p:txBody>
          <a:bodyPr wrap="none" rtlCol="0">
            <a:spAutoFit/>
          </a:bodyPr>
          <a:lstStyle/>
          <a:p>
            <a:r>
              <a:rPr lang="en-US" dirty="0" err="1" smtClean="0"/>
              <a:t>sobel</a:t>
            </a:r>
            <a:endParaRPr lang="en-US" dirty="0"/>
          </a:p>
        </p:txBody>
      </p:sp>
      <p:sp>
        <p:nvSpPr>
          <p:cNvPr id="29" name="TextBox 28"/>
          <p:cNvSpPr txBox="1"/>
          <p:nvPr/>
        </p:nvSpPr>
        <p:spPr>
          <a:xfrm>
            <a:off x="4799691" y="838200"/>
            <a:ext cx="890350" cy="369332"/>
          </a:xfrm>
          <a:prstGeom prst="rect">
            <a:avLst/>
          </a:prstGeom>
          <a:noFill/>
        </p:spPr>
        <p:txBody>
          <a:bodyPr wrap="none" rtlCol="0">
            <a:spAutoFit/>
          </a:bodyPr>
          <a:lstStyle/>
          <a:p>
            <a:r>
              <a:rPr lang="en-US" dirty="0" smtClean="0"/>
              <a:t>texture</a:t>
            </a:r>
            <a:endParaRPr lang="en-US" dirty="0"/>
          </a:p>
        </p:txBody>
      </p:sp>
      <p:sp>
        <p:nvSpPr>
          <p:cNvPr id="30" name="TextBox 29"/>
          <p:cNvSpPr txBox="1"/>
          <p:nvPr/>
        </p:nvSpPr>
        <p:spPr>
          <a:xfrm>
            <a:off x="5840560" y="838200"/>
            <a:ext cx="1070012" cy="369332"/>
          </a:xfrm>
          <a:prstGeom prst="rect">
            <a:avLst/>
          </a:prstGeom>
          <a:noFill/>
        </p:spPr>
        <p:txBody>
          <a:bodyPr wrap="none" rtlCol="0">
            <a:spAutoFit/>
          </a:bodyPr>
          <a:lstStyle/>
          <a:p>
            <a:r>
              <a:rPr lang="en-US" dirty="0" smtClean="0"/>
              <a:t>segment</a:t>
            </a:r>
            <a:endParaRPr lang="en-US" dirty="0"/>
          </a:p>
        </p:txBody>
      </p:sp>
      <p:sp>
        <p:nvSpPr>
          <p:cNvPr id="31" name="TextBox 30"/>
          <p:cNvSpPr txBox="1"/>
          <p:nvPr/>
        </p:nvSpPr>
        <p:spPr>
          <a:xfrm>
            <a:off x="6984192" y="838200"/>
            <a:ext cx="992918" cy="369332"/>
          </a:xfrm>
          <a:prstGeom prst="rect">
            <a:avLst/>
          </a:prstGeom>
          <a:noFill/>
        </p:spPr>
        <p:txBody>
          <a:bodyPr wrap="none" rtlCol="0">
            <a:spAutoFit/>
          </a:bodyPr>
          <a:lstStyle/>
          <a:p>
            <a:r>
              <a:rPr lang="en-US" dirty="0" err="1" smtClean="0"/>
              <a:t>kmeans</a:t>
            </a:r>
            <a:endParaRPr lang="en-US" dirty="0"/>
          </a:p>
        </p:txBody>
      </p:sp>
      <p:sp>
        <p:nvSpPr>
          <p:cNvPr id="32" name="TextBox 31"/>
          <p:cNvSpPr txBox="1"/>
          <p:nvPr/>
        </p:nvSpPr>
        <p:spPr>
          <a:xfrm rot="16200000">
            <a:off x="-193520" y="1616012"/>
            <a:ext cx="1439141" cy="707886"/>
          </a:xfrm>
          <a:prstGeom prst="rect">
            <a:avLst/>
          </a:prstGeom>
          <a:noFill/>
        </p:spPr>
        <p:txBody>
          <a:bodyPr wrap="none" rtlCol="0">
            <a:spAutoFit/>
          </a:bodyPr>
          <a:lstStyle/>
          <a:p>
            <a:pPr algn="ctr"/>
            <a:r>
              <a:rPr lang="en-US" sz="2000" dirty="0" smtClean="0"/>
              <a:t>normalized </a:t>
            </a:r>
            <a:br>
              <a:rPr lang="en-US" sz="2000" dirty="0" smtClean="0"/>
            </a:br>
            <a:r>
              <a:rPr lang="en-US" sz="2000" dirty="0" smtClean="0"/>
              <a:t>speedup</a:t>
            </a:r>
            <a:endParaRPr lang="en-US" sz="2000" dirty="0"/>
          </a:p>
        </p:txBody>
      </p:sp>
      <p:sp>
        <p:nvSpPr>
          <p:cNvPr id="34" name="Oval 33"/>
          <p:cNvSpPr/>
          <p:nvPr/>
        </p:nvSpPr>
        <p:spPr bwMode="auto">
          <a:xfrm>
            <a:off x="1569175" y="4064000"/>
            <a:ext cx="6130200" cy="254000"/>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5" name="Oval 34"/>
          <p:cNvSpPr/>
          <p:nvPr/>
        </p:nvSpPr>
        <p:spPr bwMode="auto">
          <a:xfrm>
            <a:off x="2746375" y="3216274"/>
            <a:ext cx="5105400" cy="593827"/>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graphicEl>
                                              <a:chart seriesIdx="-3" categoryIdx="-3" bldStep="gridLegend"/>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graphicEl>
                                              <a:chart seriesIdx="0" categoryIdx="-4" bldStep="series"/>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chart seriesIdx="-3" categoryIdx="-3" bldStep="gridLegen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chart seriesIdx="0" categoryIdx="-4" bldStep="series"/>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34"/>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5" grpId="0">
        <p:bldSub>
          <a:bldChart bld="series"/>
        </p:bldSub>
      </p:bldGraphic>
      <p:bldP spid="33" grpId="0" uiExpand="1" build="p"/>
      <p:bldGraphic spid="4" grpId="0">
        <p:bldSub>
          <a:bldChart bld="series"/>
        </p:bldSub>
      </p:bldGraphic>
      <p:bldP spid="13" grpId="0"/>
      <p:bldP spid="32" grpId="0"/>
      <p:bldP spid="34" grpId="0" animBg="1"/>
    </p:bld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Moving Beyond Simulation: </a:t>
            </a:r>
            <a:br>
              <a:rPr lang="en-US" dirty="0" smtClean="0"/>
            </a:br>
            <a:r>
              <a:rPr lang="en-US" dirty="0" smtClean="0"/>
              <a:t>Can we make a real system sprint?</a:t>
            </a:r>
            <a:br>
              <a:rPr lang="en-US" dirty="0" smtClean="0"/>
            </a:br>
            <a:endParaRPr lang="en-US" dirty="0"/>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A0CC57-CE7D-8143-BD13-67094D272EE6}" type="slidenum">
              <a:rPr lang="en-US" smtClean="0"/>
              <a:pPr/>
              <a:t>34</a:t>
            </a:fld>
            <a:endParaRPr lang="en-US"/>
          </a:p>
        </p:txBody>
      </p:sp>
      <p:pic>
        <p:nvPicPr>
          <p:cNvPr id="9" name="Picture 8"/>
          <p:cNvPicPr>
            <a:picLocks noChangeAspect="1"/>
          </p:cNvPicPr>
          <p:nvPr/>
        </p:nvPicPr>
        <p:blipFill>
          <a:blip r:embed="rId3"/>
          <a:stretch>
            <a:fillRect/>
          </a:stretch>
        </p:blipFill>
        <p:spPr>
          <a:xfrm>
            <a:off x="1236424" y="110306"/>
            <a:ext cx="6586735" cy="4296594"/>
          </a:xfrm>
          <a:prstGeom prst="rect">
            <a:avLst/>
          </a:prstGeom>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A0CC57-CE7D-8143-BD13-67094D272EE6}" type="slidenum">
              <a:rPr lang="en-US" smtClean="0"/>
              <a:pPr/>
              <a:t>35</a:t>
            </a:fld>
            <a:endParaRPr lang="en-US"/>
          </a:p>
        </p:txBody>
      </p:sp>
      <p:sp>
        <p:nvSpPr>
          <p:cNvPr id="7" name="Content Placeholder 2"/>
          <p:cNvSpPr txBox="1">
            <a:spLocks/>
          </p:cNvSpPr>
          <p:nvPr/>
        </p:nvSpPr>
        <p:spPr bwMode="auto">
          <a:xfrm>
            <a:off x="211648" y="4644939"/>
            <a:ext cx="8743847" cy="135463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227013" indent="-227013" defTabSz="914400" fontAlgn="base">
              <a:spcBef>
                <a:spcPct val="20000"/>
              </a:spcBef>
              <a:spcAft>
                <a:spcPct val="0"/>
              </a:spcAft>
              <a:buSzPct val="100000"/>
            </a:pPr>
            <a:r>
              <a:rPr lang="en-US" sz="2800" b="1" dirty="0" smtClean="0">
                <a:solidFill>
                  <a:schemeClr val="accent6"/>
                </a:solidFill>
              </a:rPr>
              <a:t>Characterize real system energy/performance</a:t>
            </a:r>
          </a:p>
          <a:p>
            <a:pPr marL="227013" indent="-227013" defTabSz="914400" fontAlgn="base">
              <a:spcBef>
                <a:spcPct val="20000"/>
              </a:spcBef>
              <a:spcAft>
                <a:spcPct val="0"/>
              </a:spcAft>
              <a:buSzPct val="100000"/>
            </a:pPr>
            <a:r>
              <a:rPr lang="en-US" sz="2800" b="1" dirty="0" smtClean="0">
                <a:solidFill>
                  <a:schemeClr val="accent6"/>
                </a:solidFill>
              </a:rPr>
              <a:t>How might sprinting behave on real system?</a:t>
            </a:r>
          </a:p>
          <a:p>
            <a:pPr marL="227013" marR="0" lvl="0" indent="-227013" defTabSz="914400" rtl="0" eaLnBrk="1" fontAlgn="base" latinLnBrk="0" hangingPunct="1">
              <a:lnSpc>
                <a:spcPct val="100000"/>
              </a:lnSpc>
              <a:spcBef>
                <a:spcPct val="20000"/>
              </a:spcBef>
              <a:spcAft>
                <a:spcPct val="0"/>
              </a:spcAft>
              <a:buClrTx/>
              <a:buSzPct val="100000"/>
              <a:buFont typeface="Arial" charset="0"/>
              <a:buNone/>
              <a:tabLst/>
              <a:defRPr/>
            </a:pPr>
            <a:endParaRPr kumimoji="0" lang="en-US" sz="2800" b="1" i="0" u="none" strike="noStrike" kern="0" cap="none" spc="0" normalizeH="0" baseline="0" noProof="0" dirty="0" smtClean="0">
              <a:ln>
                <a:noFill/>
              </a:ln>
              <a:solidFill>
                <a:srgbClr val="005EA7"/>
              </a:solidFill>
              <a:effectLst/>
              <a:uLnTx/>
              <a:uFillTx/>
              <a:latin typeface="Calibri"/>
              <a:ea typeface="+mn-ea"/>
              <a:cs typeface="Calibri"/>
            </a:endParaRPr>
          </a:p>
          <a:p>
            <a:pPr marL="227013" marR="0" lvl="0" indent="-227013" defTabSz="914400" rtl="0" eaLnBrk="1" fontAlgn="base" latinLnBrk="0" hangingPunct="1">
              <a:lnSpc>
                <a:spcPct val="100000"/>
              </a:lnSpc>
              <a:spcBef>
                <a:spcPct val="20000"/>
              </a:spcBef>
              <a:spcAft>
                <a:spcPct val="0"/>
              </a:spcAft>
              <a:buClrTx/>
              <a:buSzPct val="100000"/>
              <a:buFont typeface="Arial" charset="0"/>
              <a:buNone/>
              <a:tabLst/>
              <a:defRPr/>
            </a:pPr>
            <a:endParaRPr kumimoji="0" lang="en-US" sz="2800" b="1" i="0" u="none" strike="noStrike" kern="0" cap="none" spc="0" normalizeH="0" baseline="0" noProof="0" dirty="0" smtClean="0">
              <a:ln>
                <a:noFill/>
              </a:ln>
              <a:solidFill>
                <a:srgbClr val="005EA7"/>
              </a:solidFill>
              <a:effectLst/>
              <a:uLnTx/>
              <a:uFillTx/>
              <a:latin typeface="Calibri"/>
              <a:ea typeface="+mn-ea"/>
              <a:cs typeface="Calibri"/>
            </a:endParaRPr>
          </a:p>
          <a:p>
            <a:pPr marL="1144588" marR="0" lvl="2" indent="-227013" defTabSz="914400" rtl="0" eaLnBrk="1" fontAlgn="base" latinLnBrk="0" hangingPunct="1">
              <a:lnSpc>
                <a:spcPct val="100000"/>
              </a:lnSpc>
              <a:spcBef>
                <a:spcPct val="20000"/>
              </a:spcBef>
              <a:spcAft>
                <a:spcPct val="0"/>
              </a:spcAft>
              <a:buClrTx/>
              <a:buSzTx/>
              <a:buFont typeface="Arial" charset="0"/>
              <a:buChar char="•"/>
              <a:tabLst/>
              <a:defRPr/>
            </a:pPr>
            <a:endParaRPr kumimoji="0" lang="en-US" sz="2400" b="1" i="0" u="none" strike="noStrike" kern="0" cap="none" spc="0" normalizeH="0" baseline="0" noProof="0" dirty="0">
              <a:ln>
                <a:noFill/>
              </a:ln>
              <a:solidFill>
                <a:schemeClr val="tx1"/>
              </a:solidFill>
              <a:effectLst/>
              <a:uLnTx/>
              <a:uFillTx/>
              <a:latin typeface="Calibri"/>
              <a:cs typeface="Calibri"/>
            </a:endParaRPr>
          </a:p>
        </p:txBody>
      </p:sp>
      <p:pic>
        <p:nvPicPr>
          <p:cNvPr id="8" name="Picture 7"/>
          <p:cNvPicPr>
            <a:picLocks noChangeAspect="1"/>
          </p:cNvPicPr>
          <p:nvPr/>
        </p:nvPicPr>
        <p:blipFill>
          <a:blip r:embed="rId3"/>
          <a:stretch>
            <a:fillRect/>
          </a:stretch>
        </p:blipFill>
        <p:spPr>
          <a:xfrm>
            <a:off x="1236424" y="110306"/>
            <a:ext cx="6586735" cy="429659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Cores: Energy and Performance </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36</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grpSp>
        <p:nvGrpSpPr>
          <p:cNvPr id="3" name="Group 26"/>
          <p:cNvGrpSpPr/>
          <p:nvPr/>
        </p:nvGrpSpPr>
        <p:grpSpPr>
          <a:xfrm>
            <a:off x="893758" y="6255957"/>
            <a:ext cx="3257494" cy="338554"/>
            <a:chOff x="893758" y="6255957"/>
            <a:chExt cx="3257494" cy="338554"/>
          </a:xfrm>
        </p:grpSpPr>
        <p:sp>
          <p:nvSpPr>
            <p:cNvPr id="23" name="TextBox 22"/>
            <p:cNvSpPr txBox="1"/>
            <p:nvPr/>
          </p:nvSpPr>
          <p:spPr>
            <a:xfrm>
              <a:off x="893758" y="6255957"/>
              <a:ext cx="754934" cy="338554"/>
            </a:xfrm>
            <a:prstGeom prst="rect">
              <a:avLst/>
            </a:prstGeom>
            <a:noFill/>
          </p:spPr>
          <p:txBody>
            <a:bodyPr wrap="none" rtlCol="0">
              <a:spAutoFit/>
            </a:bodyPr>
            <a:lstStyle/>
            <a:p>
              <a:r>
                <a:rPr lang="en-US" sz="1600" dirty="0" smtClean="0"/>
                <a:t>1 core</a:t>
              </a:r>
              <a:endParaRPr lang="en-US" sz="1600" dirty="0"/>
            </a:p>
          </p:txBody>
        </p:sp>
        <p:sp>
          <p:nvSpPr>
            <p:cNvPr id="24" name="TextBox 23"/>
            <p:cNvSpPr txBox="1"/>
            <p:nvPr/>
          </p:nvSpPr>
          <p:spPr>
            <a:xfrm>
              <a:off x="1696355" y="6255957"/>
              <a:ext cx="857526" cy="338554"/>
            </a:xfrm>
            <a:prstGeom prst="rect">
              <a:avLst/>
            </a:prstGeom>
            <a:noFill/>
          </p:spPr>
          <p:txBody>
            <a:bodyPr wrap="none" rtlCol="0">
              <a:spAutoFit/>
            </a:bodyPr>
            <a:lstStyle/>
            <a:p>
              <a:r>
                <a:rPr lang="en-US" sz="1600" dirty="0" smtClean="0"/>
                <a:t>2 cores</a:t>
              </a:r>
              <a:endParaRPr lang="en-US" sz="1600" dirty="0"/>
            </a:p>
          </p:txBody>
        </p:sp>
        <p:sp>
          <p:nvSpPr>
            <p:cNvPr id="25" name="TextBox 24"/>
            <p:cNvSpPr txBox="1"/>
            <p:nvPr/>
          </p:nvSpPr>
          <p:spPr>
            <a:xfrm>
              <a:off x="3293726" y="6255957"/>
              <a:ext cx="857526" cy="338554"/>
            </a:xfrm>
            <a:prstGeom prst="rect">
              <a:avLst/>
            </a:prstGeom>
            <a:noFill/>
          </p:spPr>
          <p:txBody>
            <a:bodyPr wrap="none" rtlCol="0">
              <a:spAutoFit/>
            </a:bodyPr>
            <a:lstStyle/>
            <a:p>
              <a:r>
                <a:rPr lang="en-US" sz="1600" dirty="0" smtClean="0"/>
                <a:t>4 cores</a:t>
              </a:r>
              <a:endParaRPr lang="en-US" sz="1600" dirty="0"/>
            </a:p>
          </p:txBody>
        </p:sp>
      </p:grpSp>
      <p:graphicFrame>
        <p:nvGraphicFramePr>
          <p:cNvPr id="12" name="Chart 11"/>
          <p:cNvGraphicFramePr/>
          <p:nvPr/>
        </p:nvGraphicFramePr>
        <p:xfrm>
          <a:off x="439854" y="4901534"/>
          <a:ext cx="457200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29" name="TextBox 28"/>
          <p:cNvSpPr txBox="1"/>
          <p:nvPr/>
        </p:nvSpPr>
        <p:spPr>
          <a:xfrm rot="16200000">
            <a:off x="-552627" y="5449903"/>
            <a:ext cx="1872628" cy="338554"/>
          </a:xfrm>
          <a:prstGeom prst="rect">
            <a:avLst/>
          </a:prstGeom>
          <a:noFill/>
        </p:spPr>
        <p:txBody>
          <a:bodyPr wrap="none" rtlCol="0">
            <a:spAutoFit/>
          </a:bodyPr>
          <a:lstStyle/>
          <a:p>
            <a:r>
              <a:rPr lang="en-US" sz="1600" dirty="0" smtClean="0"/>
              <a:t>normalized energy</a:t>
            </a:r>
            <a:endParaRPr lang="en-US" sz="1600" dirty="0"/>
          </a:p>
        </p:txBody>
      </p:sp>
      <p:graphicFrame>
        <p:nvGraphicFramePr>
          <p:cNvPr id="7" name="Chart 6"/>
          <p:cNvGraphicFramePr/>
          <p:nvPr/>
        </p:nvGraphicFramePr>
        <p:xfrm>
          <a:off x="627409" y="1191558"/>
          <a:ext cx="4572000" cy="1828800"/>
        </p:xfrm>
        <a:graphic>
          <a:graphicData uri="http://schemas.openxmlformats.org/drawingml/2006/chart">
            <c:chart xmlns:c="http://schemas.openxmlformats.org/drawingml/2006/chart" xmlns:r="http://schemas.openxmlformats.org/officeDocument/2006/relationships" r:id="rId4"/>
          </a:graphicData>
        </a:graphic>
      </p:graphicFrame>
      <p:grpSp>
        <p:nvGrpSpPr>
          <p:cNvPr id="6" name="Group 27"/>
          <p:cNvGrpSpPr/>
          <p:nvPr/>
        </p:nvGrpSpPr>
        <p:grpSpPr>
          <a:xfrm>
            <a:off x="893758" y="2618807"/>
            <a:ext cx="3257494" cy="338554"/>
            <a:chOff x="768599" y="2618807"/>
            <a:chExt cx="3257494" cy="338554"/>
          </a:xfrm>
        </p:grpSpPr>
        <p:sp>
          <p:nvSpPr>
            <p:cNvPr id="17" name="TextBox 16"/>
            <p:cNvSpPr txBox="1"/>
            <p:nvPr/>
          </p:nvSpPr>
          <p:spPr>
            <a:xfrm>
              <a:off x="768599" y="2618807"/>
              <a:ext cx="754934" cy="338554"/>
            </a:xfrm>
            <a:prstGeom prst="rect">
              <a:avLst/>
            </a:prstGeom>
            <a:noFill/>
          </p:spPr>
          <p:txBody>
            <a:bodyPr wrap="none" rtlCol="0">
              <a:spAutoFit/>
            </a:bodyPr>
            <a:lstStyle/>
            <a:p>
              <a:r>
                <a:rPr lang="en-US" sz="1600" dirty="0" smtClean="0"/>
                <a:t>1 core</a:t>
              </a:r>
              <a:endParaRPr lang="en-US" sz="1600" dirty="0"/>
            </a:p>
          </p:txBody>
        </p:sp>
        <p:sp>
          <p:nvSpPr>
            <p:cNvPr id="18" name="TextBox 17"/>
            <p:cNvSpPr txBox="1"/>
            <p:nvPr/>
          </p:nvSpPr>
          <p:spPr>
            <a:xfrm>
              <a:off x="1571196" y="2618807"/>
              <a:ext cx="857526" cy="338554"/>
            </a:xfrm>
            <a:prstGeom prst="rect">
              <a:avLst/>
            </a:prstGeom>
            <a:noFill/>
          </p:spPr>
          <p:txBody>
            <a:bodyPr wrap="none" rtlCol="0">
              <a:spAutoFit/>
            </a:bodyPr>
            <a:lstStyle/>
            <a:p>
              <a:r>
                <a:rPr lang="en-US" sz="1600" dirty="0" smtClean="0"/>
                <a:t>2 cores</a:t>
              </a:r>
              <a:endParaRPr lang="en-US" sz="1600" dirty="0"/>
            </a:p>
          </p:txBody>
        </p:sp>
        <p:sp>
          <p:nvSpPr>
            <p:cNvPr id="19" name="TextBox 18"/>
            <p:cNvSpPr txBox="1"/>
            <p:nvPr/>
          </p:nvSpPr>
          <p:spPr>
            <a:xfrm>
              <a:off x="3168567" y="2618807"/>
              <a:ext cx="857526" cy="338554"/>
            </a:xfrm>
            <a:prstGeom prst="rect">
              <a:avLst/>
            </a:prstGeom>
            <a:noFill/>
          </p:spPr>
          <p:txBody>
            <a:bodyPr wrap="none" rtlCol="0">
              <a:spAutoFit/>
            </a:bodyPr>
            <a:lstStyle/>
            <a:p>
              <a:r>
                <a:rPr lang="en-US" sz="1600" dirty="0" smtClean="0"/>
                <a:t>4 cores</a:t>
              </a:r>
              <a:endParaRPr lang="en-US" sz="1600" dirty="0"/>
            </a:p>
          </p:txBody>
        </p:sp>
      </p:grpSp>
      <p:sp>
        <p:nvSpPr>
          <p:cNvPr id="30" name="TextBox 29"/>
          <p:cNvSpPr txBox="1"/>
          <p:nvPr/>
        </p:nvSpPr>
        <p:spPr>
          <a:xfrm rot="16200000">
            <a:off x="-593297" y="1824836"/>
            <a:ext cx="2032528" cy="338554"/>
          </a:xfrm>
          <a:prstGeom prst="rect">
            <a:avLst/>
          </a:prstGeom>
          <a:noFill/>
        </p:spPr>
        <p:txBody>
          <a:bodyPr wrap="none" rtlCol="0">
            <a:spAutoFit/>
          </a:bodyPr>
          <a:lstStyle/>
          <a:p>
            <a:r>
              <a:rPr lang="en-US" sz="1600" dirty="0" smtClean="0"/>
              <a:t>normalized speedup</a:t>
            </a:r>
            <a:endParaRPr lang="en-US" sz="1600" dirty="0"/>
          </a:p>
        </p:txBody>
      </p:sp>
      <p:grpSp>
        <p:nvGrpSpPr>
          <p:cNvPr id="8" name="Group 34"/>
          <p:cNvGrpSpPr/>
          <p:nvPr/>
        </p:nvGrpSpPr>
        <p:grpSpPr>
          <a:xfrm>
            <a:off x="253691" y="3020358"/>
            <a:ext cx="4836721" cy="1851073"/>
            <a:chOff x="384621" y="3020358"/>
            <a:chExt cx="4836721" cy="1851073"/>
          </a:xfrm>
        </p:grpSpPr>
        <p:graphicFrame>
          <p:nvGraphicFramePr>
            <p:cNvPr id="11" name="Chart 10"/>
            <p:cNvGraphicFramePr/>
            <p:nvPr/>
          </p:nvGraphicFramePr>
          <p:xfrm>
            <a:off x="649342" y="3020358"/>
            <a:ext cx="4572000" cy="1828800"/>
          </p:xfrm>
          <a:graphic>
            <a:graphicData uri="http://schemas.openxmlformats.org/drawingml/2006/chart">
              <c:chart xmlns:c="http://schemas.openxmlformats.org/drawingml/2006/chart" xmlns:r="http://schemas.openxmlformats.org/officeDocument/2006/relationships" r:id="rId5"/>
            </a:graphicData>
          </a:graphic>
        </p:graphicFrame>
        <p:grpSp>
          <p:nvGrpSpPr>
            <p:cNvPr id="9" name="Group 25"/>
            <p:cNvGrpSpPr/>
            <p:nvPr/>
          </p:nvGrpSpPr>
          <p:grpSpPr>
            <a:xfrm>
              <a:off x="893758" y="4532877"/>
              <a:ext cx="3257494" cy="338554"/>
              <a:chOff x="880271" y="4532877"/>
              <a:chExt cx="3257494" cy="338554"/>
            </a:xfrm>
          </p:grpSpPr>
          <p:sp>
            <p:nvSpPr>
              <p:cNvPr id="20" name="TextBox 19"/>
              <p:cNvSpPr txBox="1"/>
              <p:nvPr/>
            </p:nvSpPr>
            <p:spPr>
              <a:xfrm>
                <a:off x="880271" y="4532877"/>
                <a:ext cx="754934" cy="338554"/>
              </a:xfrm>
              <a:prstGeom prst="rect">
                <a:avLst/>
              </a:prstGeom>
              <a:noFill/>
            </p:spPr>
            <p:txBody>
              <a:bodyPr wrap="none" rtlCol="0">
                <a:spAutoFit/>
              </a:bodyPr>
              <a:lstStyle/>
              <a:p>
                <a:r>
                  <a:rPr lang="en-US" sz="1600" dirty="0" smtClean="0"/>
                  <a:t>1 core</a:t>
                </a:r>
                <a:endParaRPr lang="en-US" sz="1600" dirty="0"/>
              </a:p>
            </p:txBody>
          </p:sp>
          <p:sp>
            <p:nvSpPr>
              <p:cNvPr id="21" name="TextBox 20"/>
              <p:cNvSpPr txBox="1"/>
              <p:nvPr/>
            </p:nvSpPr>
            <p:spPr>
              <a:xfrm>
                <a:off x="1682868" y="4532877"/>
                <a:ext cx="857526" cy="338554"/>
              </a:xfrm>
              <a:prstGeom prst="rect">
                <a:avLst/>
              </a:prstGeom>
              <a:noFill/>
            </p:spPr>
            <p:txBody>
              <a:bodyPr wrap="none" rtlCol="0">
                <a:spAutoFit/>
              </a:bodyPr>
              <a:lstStyle/>
              <a:p>
                <a:r>
                  <a:rPr lang="en-US" sz="1600" dirty="0" smtClean="0"/>
                  <a:t>2 cores</a:t>
                </a:r>
                <a:endParaRPr lang="en-US" sz="1600" dirty="0"/>
              </a:p>
            </p:txBody>
          </p:sp>
          <p:sp>
            <p:nvSpPr>
              <p:cNvPr id="22" name="TextBox 21"/>
              <p:cNvSpPr txBox="1"/>
              <p:nvPr/>
            </p:nvSpPr>
            <p:spPr>
              <a:xfrm>
                <a:off x="3280239" y="4532877"/>
                <a:ext cx="857526" cy="338554"/>
              </a:xfrm>
              <a:prstGeom prst="rect">
                <a:avLst/>
              </a:prstGeom>
              <a:noFill/>
            </p:spPr>
            <p:txBody>
              <a:bodyPr wrap="none" rtlCol="0">
                <a:spAutoFit/>
              </a:bodyPr>
              <a:lstStyle/>
              <a:p>
                <a:r>
                  <a:rPr lang="en-US" sz="1600" dirty="0" smtClean="0"/>
                  <a:t>4 cores</a:t>
                </a:r>
                <a:endParaRPr lang="en-US" sz="1600" dirty="0"/>
              </a:p>
            </p:txBody>
          </p:sp>
        </p:grpSp>
        <p:sp>
          <p:nvSpPr>
            <p:cNvPr id="31" name="TextBox 30"/>
            <p:cNvSpPr txBox="1"/>
            <p:nvPr/>
          </p:nvSpPr>
          <p:spPr>
            <a:xfrm rot="16200000">
              <a:off x="182141" y="3662126"/>
              <a:ext cx="743513" cy="338554"/>
            </a:xfrm>
            <a:prstGeom prst="rect">
              <a:avLst/>
            </a:prstGeom>
            <a:noFill/>
          </p:spPr>
          <p:txBody>
            <a:bodyPr wrap="none" rtlCol="0">
              <a:spAutoFit/>
            </a:bodyPr>
            <a:lstStyle/>
            <a:p>
              <a:r>
                <a:rPr lang="en-US" sz="1600" dirty="0" smtClean="0"/>
                <a:t>power</a:t>
              </a:r>
              <a:endParaRPr lang="en-US" sz="1600" dirty="0"/>
            </a:p>
          </p:txBody>
        </p:sp>
      </p:grpSp>
      <p:sp>
        <p:nvSpPr>
          <p:cNvPr id="32" name="Content Placeholder 2"/>
          <p:cNvSpPr>
            <a:spLocks noGrp="1"/>
          </p:cNvSpPr>
          <p:nvPr>
            <p:ph idx="1"/>
          </p:nvPr>
        </p:nvSpPr>
        <p:spPr>
          <a:xfrm>
            <a:off x="5039839" y="2458378"/>
            <a:ext cx="4064882" cy="1354633"/>
          </a:xfrm>
        </p:spPr>
        <p:txBody>
          <a:bodyPr/>
          <a:lstStyle/>
          <a:p>
            <a:pPr algn="ctr">
              <a:buNone/>
            </a:pPr>
            <a:r>
              <a:rPr lang="en-US" b="1" dirty="0" smtClean="0">
                <a:solidFill>
                  <a:srgbClr val="005EA7"/>
                </a:solidFill>
              </a:rPr>
              <a:t>Power increases with </a:t>
            </a:r>
            <a:br>
              <a:rPr lang="en-US" b="1" dirty="0" smtClean="0">
                <a:solidFill>
                  <a:srgbClr val="005EA7"/>
                </a:solidFill>
              </a:rPr>
            </a:br>
            <a:r>
              <a:rPr lang="en-US" b="1" dirty="0" smtClean="0">
                <a:solidFill>
                  <a:srgbClr val="005EA7"/>
                </a:solidFill>
              </a:rPr>
              <a:t>core count </a:t>
            </a:r>
            <a:endParaRPr lang="en-US" dirty="0" smtClean="0">
              <a:solidFill>
                <a:schemeClr val="accent6"/>
              </a:solidFill>
            </a:endParaRPr>
          </a:p>
          <a:p>
            <a:pPr algn="ctr">
              <a:buNone/>
            </a:pPr>
            <a:r>
              <a:rPr lang="en-US" b="1" dirty="0" smtClean="0">
                <a:solidFill>
                  <a:schemeClr val="accent6"/>
                </a:solidFill>
              </a:rPr>
              <a:t>But </a:t>
            </a:r>
            <a:r>
              <a:rPr lang="en-US" b="1" dirty="0" smtClean="0">
                <a:solidFill>
                  <a:srgbClr val="005EA7"/>
                </a:solidFill>
              </a:rPr>
              <a:t>&lt; 2x for 4 cores</a:t>
            </a:r>
          </a:p>
          <a:p>
            <a:pPr algn="ctr">
              <a:buNone/>
            </a:pPr>
            <a:r>
              <a:rPr lang="en-US" b="1" dirty="0" smtClean="0">
                <a:solidFill>
                  <a:srgbClr val="FF0000"/>
                </a:solidFill>
              </a:rPr>
              <a:t>Why? background power</a:t>
            </a:r>
            <a:r>
              <a:rPr lang="en-US" b="1" dirty="0" smtClean="0">
                <a:solidFill>
                  <a:srgbClr val="005EA7"/>
                </a:solidFill>
              </a:rPr>
              <a:t> </a:t>
            </a:r>
          </a:p>
          <a:p>
            <a:pPr algn="ctr">
              <a:buNone/>
            </a:pPr>
            <a:endParaRPr lang="en-US" b="1" dirty="0" smtClean="0">
              <a:solidFill>
                <a:srgbClr val="005EA7"/>
              </a:solidFill>
            </a:endParaRPr>
          </a:p>
          <a:p>
            <a:pPr lvl="2"/>
            <a:endParaRPr lang="en-US" b="1" dirty="0"/>
          </a:p>
        </p:txBody>
      </p:sp>
      <p:sp>
        <p:nvSpPr>
          <p:cNvPr id="33" name="Content Placeholder 2"/>
          <p:cNvSpPr txBox="1">
            <a:spLocks/>
          </p:cNvSpPr>
          <p:nvPr/>
        </p:nvSpPr>
        <p:spPr bwMode="auto">
          <a:xfrm>
            <a:off x="5388457" y="4562240"/>
            <a:ext cx="3229069" cy="2862322"/>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p>
            <a:pPr marL="227013" marR="0" lvl="0" indent="-227013" algn="ctr" defTabSz="914400" rtl="0" eaLnBrk="1" fontAlgn="base" latinLnBrk="0" hangingPunct="1">
              <a:lnSpc>
                <a:spcPct val="100000"/>
              </a:lnSpc>
              <a:spcBef>
                <a:spcPct val="20000"/>
              </a:spcBef>
              <a:spcAft>
                <a:spcPct val="0"/>
              </a:spcAft>
              <a:buClrTx/>
              <a:buSzPct val="100000"/>
              <a:buFont typeface="Arial" charset="0"/>
              <a:buNone/>
              <a:tabLst/>
              <a:defRPr/>
            </a:pPr>
            <a:r>
              <a:rPr kumimoji="0" lang="en-US" sz="2800" b="1" i="0" u="none" strike="noStrike" kern="0" cap="none" spc="0" normalizeH="0" baseline="0" noProof="0" dirty="0" smtClean="0">
                <a:ln>
                  <a:noFill/>
                </a:ln>
                <a:solidFill>
                  <a:srgbClr val="005EA7"/>
                </a:solidFill>
                <a:effectLst/>
                <a:uLnTx/>
                <a:uFillTx/>
                <a:latin typeface="Calibri"/>
                <a:ea typeface="+mn-ea"/>
                <a:cs typeface="Calibri"/>
              </a:rPr>
              <a:t>Energy</a:t>
            </a:r>
            <a:r>
              <a:rPr kumimoji="0" lang="en-US" sz="2800" b="1" i="0" u="none" strike="noStrike" kern="0" cap="none" spc="0" normalizeH="0" noProof="0" dirty="0" smtClean="0">
                <a:ln>
                  <a:noFill/>
                </a:ln>
                <a:solidFill>
                  <a:srgbClr val="005EA7"/>
                </a:solidFill>
                <a:effectLst/>
                <a:uLnTx/>
                <a:uFillTx/>
                <a:latin typeface="Calibri"/>
                <a:ea typeface="+mn-ea"/>
                <a:cs typeface="Calibri"/>
              </a:rPr>
              <a:t> consumption </a:t>
            </a:r>
            <a:br>
              <a:rPr kumimoji="0" lang="en-US" sz="2800" b="1" i="0" u="none" strike="noStrike" kern="0" cap="none" spc="0" normalizeH="0" noProof="0" dirty="0" smtClean="0">
                <a:ln>
                  <a:noFill/>
                </a:ln>
                <a:solidFill>
                  <a:srgbClr val="005EA7"/>
                </a:solidFill>
                <a:effectLst/>
                <a:uLnTx/>
                <a:uFillTx/>
                <a:latin typeface="Calibri"/>
                <a:ea typeface="+mn-ea"/>
                <a:cs typeface="Calibri"/>
              </a:rPr>
            </a:br>
            <a:r>
              <a:rPr kumimoji="0" lang="en-US" sz="2800" b="1" i="0" u="none" strike="noStrike" kern="0" cap="none" spc="0" normalizeH="0" noProof="0" dirty="0" smtClean="0">
                <a:ln>
                  <a:noFill/>
                </a:ln>
                <a:solidFill>
                  <a:srgbClr val="005EA7"/>
                </a:solidFill>
                <a:effectLst/>
                <a:uLnTx/>
                <a:uFillTx/>
                <a:latin typeface="Calibri"/>
                <a:ea typeface="+mn-ea"/>
                <a:cs typeface="Calibri"/>
              </a:rPr>
              <a:t>improves due to </a:t>
            </a:r>
            <a:br>
              <a:rPr kumimoji="0" lang="en-US" sz="2800" b="1" i="0" u="none" strike="noStrike" kern="0" cap="none" spc="0" normalizeH="0" noProof="0" dirty="0" smtClean="0">
                <a:ln>
                  <a:noFill/>
                </a:ln>
                <a:solidFill>
                  <a:srgbClr val="005EA7"/>
                </a:solidFill>
                <a:effectLst/>
                <a:uLnTx/>
                <a:uFillTx/>
                <a:latin typeface="Calibri"/>
                <a:ea typeface="+mn-ea"/>
                <a:cs typeface="Calibri"/>
              </a:rPr>
            </a:br>
            <a:r>
              <a:rPr kumimoji="0" lang="en-US" sz="2800" b="1" i="0" u="none" strike="noStrike" kern="0" cap="none" spc="0" normalizeH="0" noProof="0" dirty="0" smtClean="0">
                <a:ln>
                  <a:noFill/>
                </a:ln>
                <a:solidFill>
                  <a:srgbClr val="005EA7"/>
                </a:solidFill>
                <a:effectLst/>
                <a:uLnTx/>
                <a:uFillTx/>
                <a:latin typeface="Calibri"/>
                <a:ea typeface="+mn-ea"/>
                <a:cs typeface="Calibri"/>
              </a:rPr>
              <a:t>early completion</a:t>
            </a:r>
          </a:p>
          <a:p>
            <a:pPr marL="227013" marR="0" lvl="0" indent="-227013" algn="ctr" defTabSz="914400" rtl="0" eaLnBrk="1" fontAlgn="base" latinLnBrk="0" hangingPunct="1">
              <a:lnSpc>
                <a:spcPct val="100000"/>
              </a:lnSpc>
              <a:spcBef>
                <a:spcPct val="20000"/>
              </a:spcBef>
              <a:spcAft>
                <a:spcPct val="0"/>
              </a:spcAft>
              <a:buClrTx/>
              <a:buSzPct val="100000"/>
              <a:buFont typeface="Arial" charset="0"/>
              <a:buNone/>
              <a:tabLst/>
              <a:defRPr/>
            </a:pPr>
            <a:r>
              <a:rPr lang="en-US" sz="2800" b="1" dirty="0" smtClean="0">
                <a:solidFill>
                  <a:srgbClr val="FF1515"/>
                </a:solidFill>
              </a:rPr>
              <a:t>Race to halt</a:t>
            </a:r>
            <a:endParaRPr kumimoji="0" lang="en-US" sz="2800" b="1" i="0" u="none" strike="noStrike" kern="0" cap="none" spc="0" normalizeH="0" baseline="0" noProof="0" dirty="0" smtClean="0">
              <a:ln>
                <a:noFill/>
              </a:ln>
              <a:solidFill>
                <a:srgbClr val="005EA7"/>
              </a:solidFill>
              <a:effectLst/>
              <a:uLnTx/>
              <a:uFillTx/>
              <a:latin typeface="Calibri"/>
              <a:ea typeface="+mn-ea"/>
              <a:cs typeface="Calibri"/>
            </a:endParaRPr>
          </a:p>
          <a:p>
            <a:pPr marL="227013" marR="0" lvl="0" indent="-227013" algn="ctr" defTabSz="914400" rtl="0" eaLnBrk="1" fontAlgn="base" latinLnBrk="0" hangingPunct="1">
              <a:lnSpc>
                <a:spcPct val="100000"/>
              </a:lnSpc>
              <a:spcBef>
                <a:spcPct val="20000"/>
              </a:spcBef>
              <a:spcAft>
                <a:spcPct val="0"/>
              </a:spcAft>
              <a:buClrTx/>
              <a:buSzPct val="100000"/>
              <a:buFont typeface="Arial" charset="0"/>
              <a:buNone/>
              <a:tabLst/>
              <a:defRPr/>
            </a:pPr>
            <a:endParaRPr kumimoji="0" lang="en-US" sz="2800" b="1" i="0" u="none" strike="noStrike" kern="0" cap="none" spc="0" normalizeH="0" baseline="0" noProof="0" dirty="0" smtClean="0">
              <a:ln>
                <a:noFill/>
              </a:ln>
              <a:solidFill>
                <a:srgbClr val="005EA7"/>
              </a:solidFill>
              <a:effectLst/>
              <a:uLnTx/>
              <a:uFillTx/>
              <a:latin typeface="Calibri"/>
              <a:ea typeface="+mn-ea"/>
              <a:cs typeface="Calibri"/>
            </a:endParaRPr>
          </a:p>
          <a:p>
            <a:pPr marL="1144588" marR="0" lvl="2" indent="-227013"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400" b="1" i="0" u="none" strike="noStrike" kern="0" cap="none" spc="0" normalizeH="0" baseline="0" noProof="0" dirty="0">
              <a:ln>
                <a:noFill/>
              </a:ln>
              <a:solidFill>
                <a:schemeClr val="tx1"/>
              </a:solidFill>
              <a:effectLst/>
              <a:uLnTx/>
              <a:uFillTx/>
              <a:latin typeface="Calibri"/>
              <a:cs typeface="Calibri"/>
            </a:endParaRPr>
          </a:p>
        </p:txBody>
      </p:sp>
      <p:grpSp>
        <p:nvGrpSpPr>
          <p:cNvPr id="10" name="Group 40"/>
          <p:cNvGrpSpPr/>
          <p:nvPr/>
        </p:nvGrpSpPr>
        <p:grpSpPr>
          <a:xfrm>
            <a:off x="3574505" y="1301430"/>
            <a:ext cx="751728" cy="971492"/>
            <a:chOff x="3574505" y="1301430"/>
            <a:chExt cx="751728" cy="971492"/>
          </a:xfrm>
        </p:grpSpPr>
        <p:sp>
          <p:nvSpPr>
            <p:cNvPr id="37" name="Right Brace 36"/>
            <p:cNvSpPr/>
            <p:nvPr/>
          </p:nvSpPr>
          <p:spPr bwMode="auto">
            <a:xfrm>
              <a:off x="3574505" y="1316999"/>
              <a:ext cx="343559" cy="955923"/>
            </a:xfrm>
            <a:prstGeom prst="rightBrace">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8" name="TextBox 37"/>
            <p:cNvSpPr txBox="1"/>
            <p:nvPr/>
          </p:nvSpPr>
          <p:spPr>
            <a:xfrm>
              <a:off x="3816508" y="1301430"/>
              <a:ext cx="509725" cy="461665"/>
            </a:xfrm>
            <a:prstGeom prst="rect">
              <a:avLst/>
            </a:prstGeom>
            <a:noFill/>
          </p:spPr>
          <p:txBody>
            <a:bodyPr wrap="none" rtlCol="0">
              <a:spAutoFit/>
            </a:bodyPr>
            <a:lstStyle/>
            <a:p>
              <a:r>
                <a:rPr lang="en-US" sz="2400" dirty="0" smtClean="0"/>
                <a:t>4x</a:t>
              </a:r>
              <a:endParaRPr lang="en-US" sz="2400" dirty="0"/>
            </a:p>
          </p:txBody>
        </p:sp>
      </p:grpSp>
      <p:grpSp>
        <p:nvGrpSpPr>
          <p:cNvPr id="13" name="Group 41"/>
          <p:cNvGrpSpPr/>
          <p:nvPr/>
        </p:nvGrpSpPr>
        <p:grpSpPr>
          <a:xfrm>
            <a:off x="3632837" y="3131591"/>
            <a:ext cx="819617" cy="819837"/>
            <a:chOff x="3632837" y="3131591"/>
            <a:chExt cx="819617" cy="819837"/>
          </a:xfrm>
        </p:grpSpPr>
        <p:sp>
          <p:nvSpPr>
            <p:cNvPr id="39" name="Right Brace 38"/>
            <p:cNvSpPr/>
            <p:nvPr/>
          </p:nvSpPr>
          <p:spPr bwMode="auto">
            <a:xfrm>
              <a:off x="3632837" y="3256917"/>
              <a:ext cx="343559" cy="694511"/>
            </a:xfrm>
            <a:prstGeom prst="rightBrace">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0" name="TextBox 39"/>
            <p:cNvSpPr txBox="1"/>
            <p:nvPr/>
          </p:nvSpPr>
          <p:spPr>
            <a:xfrm>
              <a:off x="3718060" y="3131591"/>
              <a:ext cx="734394" cy="461665"/>
            </a:xfrm>
            <a:prstGeom prst="rect">
              <a:avLst/>
            </a:prstGeom>
            <a:noFill/>
          </p:spPr>
          <p:txBody>
            <a:bodyPr wrap="square" rtlCol="0">
              <a:spAutoFit/>
            </a:bodyPr>
            <a:lstStyle/>
            <a:p>
              <a:r>
                <a:rPr lang="en-US" sz="2400" dirty="0" smtClean="0"/>
                <a:t> 2x</a:t>
              </a:r>
              <a:endParaRPr lang="en-US" sz="24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graphicEl>
                                              <a:chart seriesIdx="0" categoryIdx="-4" bldStep="series"/>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graphicEl>
                                              <a:chart seriesIdx="1" categoryIdx="-4" bldStep="series"/>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graphicEl>
                                              <a:chart seriesIdx="2" categoryIdx="-4" bldStep="series"/>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P spid="29" grpId="0"/>
      <p:bldGraphic spid="7" grpId="0">
        <p:bldSub>
          <a:bldChart bld="series"/>
        </p:bldSub>
      </p:bldGraphic>
      <p:bldP spid="32" grpId="0" build="p"/>
      <p:bldP spid="33" grpId="0"/>
    </p:bld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 name="Rectangle 19"/>
          <p:cNvSpPr/>
          <p:nvPr/>
        </p:nvSpPr>
        <p:spPr bwMode="auto">
          <a:xfrm>
            <a:off x="1286548" y="5041538"/>
            <a:ext cx="2418846" cy="494507"/>
          </a:xfrm>
          <a:prstGeom prst="rect">
            <a:avLst/>
          </a:prstGeom>
          <a:solidFill>
            <a:schemeClr val="bg1">
              <a:lumMod val="75000"/>
            </a:schemeClr>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aphicFrame>
        <p:nvGraphicFramePr>
          <p:cNvPr id="15" name="Chart 14"/>
          <p:cNvGraphicFramePr/>
          <p:nvPr/>
        </p:nvGraphicFramePr>
        <p:xfrm>
          <a:off x="4202935" y="4315571"/>
          <a:ext cx="4692839" cy="2440951"/>
        </p:xfrm>
        <a:graphic>
          <a:graphicData uri="http://schemas.openxmlformats.org/drawingml/2006/chart">
            <c:chart xmlns:c="http://schemas.openxmlformats.org/drawingml/2006/chart" xmlns:r="http://schemas.openxmlformats.org/officeDocument/2006/relationships" r:id="rId2"/>
          </a:graphicData>
        </a:graphic>
      </p:graphicFrame>
      <p:sp>
        <p:nvSpPr>
          <p:cNvPr id="21" name="Trapezoid 20"/>
          <p:cNvSpPr/>
          <p:nvPr/>
        </p:nvSpPr>
        <p:spPr bwMode="auto">
          <a:xfrm rot="16200000">
            <a:off x="2988259" y="5064351"/>
            <a:ext cx="1931812" cy="497542"/>
          </a:xfrm>
          <a:prstGeom prst="trapezoid">
            <a:avLst>
              <a:gd name="adj" fmla="val 135908"/>
            </a:avLst>
          </a:prstGeom>
          <a:solidFill>
            <a:schemeClr val="bg2">
              <a:lumMod val="60000"/>
              <a:lumOff val="40000"/>
              <a:alpha val="88000"/>
            </a:schemeClr>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w="12700">
                <a:solidFill>
                  <a:schemeClr val="tx1"/>
                </a:solidFill>
              </a:ln>
              <a:solidFill>
                <a:schemeClr val="tx1"/>
              </a:solidFill>
              <a:effectLst/>
              <a:latin typeface="Arial" charset="0"/>
              <a:ea typeface="ＭＳ Ｐゴシック" pitchFamily="32" charset="-128"/>
            </a:endParaRPr>
          </a:p>
        </p:txBody>
      </p:sp>
      <p:sp>
        <p:nvSpPr>
          <p:cNvPr id="27" name="TextBox 26"/>
          <p:cNvSpPr txBox="1"/>
          <p:nvPr/>
        </p:nvSpPr>
        <p:spPr>
          <a:xfrm>
            <a:off x="2175185" y="4702984"/>
            <a:ext cx="1085754" cy="338554"/>
          </a:xfrm>
          <a:prstGeom prst="rect">
            <a:avLst/>
          </a:prstGeom>
          <a:noFill/>
        </p:spPr>
        <p:txBody>
          <a:bodyPr wrap="none" rtlCol="0">
            <a:spAutoFit/>
          </a:bodyPr>
          <a:lstStyle/>
          <a:p>
            <a:r>
              <a:rPr lang="en-US" sz="1600" dirty="0" smtClean="0"/>
              <a:t>frequency</a:t>
            </a:r>
            <a:endParaRPr lang="en-US" sz="1600" dirty="0"/>
          </a:p>
        </p:txBody>
      </p:sp>
      <p:sp>
        <p:nvSpPr>
          <p:cNvPr id="2" name="Title 1"/>
          <p:cNvSpPr>
            <a:spLocks noGrp="1"/>
          </p:cNvSpPr>
          <p:nvPr>
            <p:ph type="title"/>
          </p:nvPr>
        </p:nvSpPr>
        <p:spPr/>
        <p:txBody>
          <a:bodyPr/>
          <a:lstStyle/>
          <a:p>
            <a:r>
              <a:rPr lang="en-US" dirty="0" smtClean="0"/>
              <a:t>DVFS: Energy and Performance</a:t>
            </a:r>
            <a:endParaRPr lang="en-US" dirty="0"/>
          </a:p>
        </p:txBody>
      </p:sp>
      <p:sp>
        <p:nvSpPr>
          <p:cNvPr id="4" name="Slide Number Placeholder 3"/>
          <p:cNvSpPr>
            <a:spLocks noGrp="1"/>
          </p:cNvSpPr>
          <p:nvPr>
            <p:ph type="sldNum" sz="quarter" idx="10"/>
          </p:nvPr>
        </p:nvSpPr>
        <p:spPr>
          <a:xfrm>
            <a:off x="676948" y="6394457"/>
            <a:ext cx="609600" cy="457200"/>
          </a:xfrm>
        </p:spPr>
        <p:txBody>
          <a:bodyPr/>
          <a:lstStyle/>
          <a:p>
            <a:fld id="{FDA0CC57-CE7D-8143-BD13-67094D272EE6}" type="slidenum">
              <a:rPr lang="en-US" smtClean="0"/>
              <a:pPr/>
              <a:t>37</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graphicFrame>
        <p:nvGraphicFramePr>
          <p:cNvPr id="6" name="Chart 5"/>
          <p:cNvGraphicFramePr/>
          <p:nvPr/>
        </p:nvGraphicFramePr>
        <p:xfrm>
          <a:off x="758339" y="1191558"/>
          <a:ext cx="457200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rot="16200000">
            <a:off x="-344530" y="1824836"/>
            <a:ext cx="2032528" cy="338554"/>
          </a:xfrm>
          <a:prstGeom prst="rect">
            <a:avLst/>
          </a:prstGeom>
          <a:noFill/>
        </p:spPr>
        <p:txBody>
          <a:bodyPr wrap="none" rtlCol="0">
            <a:spAutoFit/>
          </a:bodyPr>
          <a:lstStyle/>
          <a:p>
            <a:r>
              <a:rPr lang="en-US" sz="1600" dirty="0" smtClean="0"/>
              <a:t>normalized speedup</a:t>
            </a:r>
            <a:endParaRPr lang="en-US" sz="1600" dirty="0"/>
          </a:p>
        </p:txBody>
      </p:sp>
      <p:grpSp>
        <p:nvGrpSpPr>
          <p:cNvPr id="3" name="Group 21"/>
          <p:cNvGrpSpPr/>
          <p:nvPr/>
        </p:nvGrpSpPr>
        <p:grpSpPr>
          <a:xfrm>
            <a:off x="502458" y="3020358"/>
            <a:ext cx="4849818" cy="1828800"/>
            <a:chOff x="502458" y="3020358"/>
            <a:chExt cx="4849818" cy="1828800"/>
          </a:xfrm>
        </p:grpSpPr>
        <p:graphicFrame>
          <p:nvGraphicFramePr>
            <p:cNvPr id="8" name="Chart 7"/>
            <p:cNvGraphicFramePr/>
            <p:nvPr/>
          </p:nvGraphicFramePr>
          <p:xfrm>
            <a:off x="780276" y="3020358"/>
            <a:ext cx="457200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rot="16200000">
              <a:off x="299978" y="3662126"/>
              <a:ext cx="743513" cy="338554"/>
            </a:xfrm>
            <a:prstGeom prst="rect">
              <a:avLst/>
            </a:prstGeom>
            <a:noFill/>
          </p:spPr>
          <p:txBody>
            <a:bodyPr wrap="none" rtlCol="0">
              <a:spAutoFit/>
            </a:bodyPr>
            <a:lstStyle/>
            <a:p>
              <a:r>
                <a:rPr lang="en-US" sz="1600" dirty="0" smtClean="0"/>
                <a:t>power</a:t>
              </a:r>
              <a:endParaRPr lang="en-US" sz="1600" dirty="0"/>
            </a:p>
          </p:txBody>
        </p:sp>
      </p:grpSp>
      <p:sp>
        <p:nvSpPr>
          <p:cNvPr id="13" name="Content Placeholder 2"/>
          <p:cNvSpPr>
            <a:spLocks noGrp="1"/>
          </p:cNvSpPr>
          <p:nvPr>
            <p:ph idx="1"/>
          </p:nvPr>
        </p:nvSpPr>
        <p:spPr>
          <a:xfrm>
            <a:off x="5039839" y="1073226"/>
            <a:ext cx="4064882" cy="1354633"/>
          </a:xfrm>
        </p:spPr>
        <p:txBody>
          <a:bodyPr/>
          <a:lstStyle/>
          <a:p>
            <a:pPr algn="ctr">
              <a:buNone/>
            </a:pPr>
            <a:r>
              <a:rPr lang="en-US" b="1" dirty="0" smtClean="0">
                <a:solidFill>
                  <a:srgbClr val="005EA7"/>
                </a:solidFill>
              </a:rPr>
              <a:t>Power increases by ~3x for 2x speedup</a:t>
            </a:r>
          </a:p>
          <a:p>
            <a:pPr algn="ctr">
              <a:buNone/>
            </a:pPr>
            <a:endParaRPr lang="en-US" b="1" dirty="0" smtClean="0">
              <a:solidFill>
                <a:srgbClr val="005EA7"/>
              </a:solidFill>
            </a:endParaRPr>
          </a:p>
          <a:p>
            <a:pPr lvl="2"/>
            <a:endParaRPr lang="en-US" b="1" dirty="0"/>
          </a:p>
        </p:txBody>
      </p:sp>
      <p:sp>
        <p:nvSpPr>
          <p:cNvPr id="23" name="TextBox 22"/>
          <p:cNvSpPr txBox="1"/>
          <p:nvPr/>
        </p:nvSpPr>
        <p:spPr>
          <a:xfrm>
            <a:off x="2175185" y="2842576"/>
            <a:ext cx="1085754" cy="338554"/>
          </a:xfrm>
          <a:prstGeom prst="rect">
            <a:avLst/>
          </a:prstGeom>
          <a:noFill/>
        </p:spPr>
        <p:txBody>
          <a:bodyPr wrap="none" rtlCol="0">
            <a:spAutoFit/>
          </a:bodyPr>
          <a:lstStyle/>
          <a:p>
            <a:r>
              <a:rPr lang="en-US" sz="1600" dirty="0" smtClean="0"/>
              <a:t>frequency</a:t>
            </a:r>
            <a:endParaRPr lang="en-US" sz="1600" dirty="0"/>
          </a:p>
        </p:txBody>
      </p:sp>
      <p:grpSp>
        <p:nvGrpSpPr>
          <p:cNvPr id="7" name="Group 21"/>
          <p:cNvGrpSpPr/>
          <p:nvPr/>
        </p:nvGrpSpPr>
        <p:grpSpPr>
          <a:xfrm>
            <a:off x="502456" y="4682866"/>
            <a:ext cx="3700479" cy="2195146"/>
            <a:chOff x="502456" y="4682866"/>
            <a:chExt cx="3700479" cy="2195146"/>
          </a:xfrm>
        </p:grpSpPr>
        <p:graphicFrame>
          <p:nvGraphicFramePr>
            <p:cNvPr id="9" name="Chart 8"/>
            <p:cNvGraphicFramePr/>
            <p:nvPr/>
          </p:nvGraphicFramePr>
          <p:xfrm>
            <a:off x="675533" y="4849158"/>
            <a:ext cx="3527402" cy="1828800"/>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9"/>
            <p:cNvSpPr txBox="1"/>
            <p:nvPr/>
          </p:nvSpPr>
          <p:spPr>
            <a:xfrm rot="16200000">
              <a:off x="-264581" y="5449903"/>
              <a:ext cx="1872628" cy="338554"/>
            </a:xfrm>
            <a:prstGeom prst="rect">
              <a:avLst/>
            </a:prstGeom>
            <a:noFill/>
          </p:spPr>
          <p:txBody>
            <a:bodyPr wrap="none" rtlCol="0">
              <a:spAutoFit/>
            </a:bodyPr>
            <a:lstStyle/>
            <a:p>
              <a:r>
                <a:rPr lang="en-US" sz="1600" dirty="0" smtClean="0"/>
                <a:t>normalized energy</a:t>
              </a:r>
              <a:endParaRPr lang="en-US" sz="1600" dirty="0"/>
            </a:p>
          </p:txBody>
        </p:sp>
        <p:sp>
          <p:nvSpPr>
            <p:cNvPr id="25" name="TextBox 24"/>
            <p:cNvSpPr txBox="1"/>
            <p:nvPr/>
          </p:nvSpPr>
          <p:spPr>
            <a:xfrm>
              <a:off x="2175185" y="6539458"/>
              <a:ext cx="1085754" cy="338554"/>
            </a:xfrm>
            <a:prstGeom prst="rect">
              <a:avLst/>
            </a:prstGeom>
            <a:noFill/>
          </p:spPr>
          <p:txBody>
            <a:bodyPr wrap="none" rtlCol="0">
              <a:spAutoFit/>
            </a:bodyPr>
            <a:lstStyle/>
            <a:p>
              <a:r>
                <a:rPr lang="en-US" sz="1600" dirty="0" smtClean="0"/>
                <a:t>frequency</a:t>
              </a:r>
              <a:endParaRPr lang="en-US" sz="1600" dirty="0"/>
            </a:p>
          </p:txBody>
        </p:sp>
      </p:grpSp>
      <p:graphicFrame>
        <p:nvGraphicFramePr>
          <p:cNvPr id="24" name="Table 23"/>
          <p:cNvGraphicFramePr>
            <a:graphicFrameLocks noGrp="1"/>
          </p:cNvGraphicFramePr>
          <p:nvPr/>
        </p:nvGraphicFramePr>
        <p:xfrm>
          <a:off x="5502797" y="2189566"/>
          <a:ext cx="3237970" cy="1112520"/>
        </p:xfrm>
        <a:graphic>
          <a:graphicData uri="http://schemas.openxmlformats.org/drawingml/2006/table">
            <a:tbl>
              <a:tblPr firstRow="1" bandRow="1">
                <a:tableStyleId>{5940675A-B579-460E-94D1-54222C63F5DA}</a:tableStyleId>
              </a:tblPr>
              <a:tblGrid>
                <a:gridCol w="1618985"/>
                <a:gridCol w="1618985"/>
              </a:tblGrid>
              <a:tr h="370840">
                <a:tc>
                  <a:txBody>
                    <a:bodyPr/>
                    <a:lstStyle/>
                    <a:p>
                      <a:r>
                        <a:rPr lang="en-US" b="1" dirty="0" smtClean="0"/>
                        <a:t>Frequency</a:t>
                      </a:r>
                      <a:endParaRPr lang="en-US" b="1" dirty="0"/>
                    </a:p>
                  </a:txBody>
                  <a:tcPr/>
                </a:tc>
                <a:tc>
                  <a:txBody>
                    <a:bodyPr/>
                    <a:lstStyle/>
                    <a:p>
                      <a:r>
                        <a:rPr lang="en-US" b="1" dirty="0" smtClean="0"/>
                        <a:t>Voltage</a:t>
                      </a:r>
                      <a:endParaRPr lang="en-US" b="1" dirty="0"/>
                    </a:p>
                  </a:txBody>
                  <a:tcPr/>
                </a:tc>
              </a:tr>
              <a:tr h="370840">
                <a:tc>
                  <a:txBody>
                    <a:bodyPr/>
                    <a:lstStyle/>
                    <a:p>
                      <a:r>
                        <a:rPr lang="en-US" dirty="0" smtClean="0"/>
                        <a:t>1.6</a:t>
                      </a:r>
                      <a:r>
                        <a:rPr lang="en-US" baseline="0" dirty="0" smtClean="0"/>
                        <a:t> GHz</a:t>
                      </a:r>
                      <a:endParaRPr lang="en-US" dirty="0"/>
                    </a:p>
                  </a:txBody>
                  <a:tcPr/>
                </a:tc>
                <a:tc>
                  <a:txBody>
                    <a:bodyPr/>
                    <a:lstStyle/>
                    <a:p>
                      <a:r>
                        <a:rPr lang="en-US" dirty="0" smtClean="0"/>
                        <a:t>0.95V</a:t>
                      </a:r>
                      <a:endParaRPr lang="en-US" dirty="0"/>
                    </a:p>
                  </a:txBody>
                  <a:tcPr/>
                </a:tc>
              </a:tr>
              <a:tr h="370840">
                <a:tc>
                  <a:txBody>
                    <a:bodyPr/>
                    <a:lstStyle/>
                    <a:p>
                      <a:r>
                        <a:rPr lang="en-US" dirty="0" smtClean="0"/>
                        <a:t>3.2</a:t>
                      </a:r>
                      <a:r>
                        <a:rPr lang="en-US" baseline="0" dirty="0" smtClean="0"/>
                        <a:t> GHz</a:t>
                      </a:r>
                      <a:endParaRPr lang="en-US" dirty="0"/>
                    </a:p>
                  </a:txBody>
                  <a:tcPr/>
                </a:tc>
                <a:tc>
                  <a:txBody>
                    <a:bodyPr/>
                    <a:lstStyle/>
                    <a:p>
                      <a:r>
                        <a:rPr lang="en-US" dirty="0" smtClean="0"/>
                        <a:t>1.25V</a:t>
                      </a:r>
                      <a:endParaRPr lang="en-US" dirty="0"/>
                    </a:p>
                  </a:txBody>
                  <a:tcPr/>
                </a:tc>
              </a:tr>
            </a:tbl>
          </a:graphicData>
        </a:graphic>
      </p:graphicFrame>
      <p:sp>
        <p:nvSpPr>
          <p:cNvPr id="28" name="Content Placeholder 2"/>
          <p:cNvSpPr txBox="1">
            <a:spLocks/>
          </p:cNvSpPr>
          <p:nvPr/>
        </p:nvSpPr>
        <p:spPr bwMode="auto">
          <a:xfrm>
            <a:off x="5079118" y="3433280"/>
            <a:ext cx="4064882" cy="135463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227013" marR="0" lvl="0" indent="-227013" algn="ctr" defTabSz="914400" rtl="0" eaLnBrk="1" fontAlgn="base" latinLnBrk="0" hangingPunct="1">
              <a:lnSpc>
                <a:spcPct val="100000"/>
              </a:lnSpc>
              <a:spcBef>
                <a:spcPct val="20000"/>
              </a:spcBef>
              <a:spcAft>
                <a:spcPct val="0"/>
              </a:spcAft>
              <a:buClrTx/>
              <a:buSzPct val="100000"/>
              <a:buFont typeface="Arial" charset="0"/>
              <a:buNone/>
              <a:tabLst/>
              <a:defRPr/>
            </a:pPr>
            <a:r>
              <a:rPr kumimoji="0" lang="en-US" sz="2800" b="1" i="0" u="none" strike="noStrike" kern="0" cap="none" spc="0" normalizeH="0" baseline="0" noProof="0" dirty="0" smtClean="0">
                <a:ln>
                  <a:noFill/>
                </a:ln>
                <a:solidFill>
                  <a:srgbClr val="005EA7"/>
                </a:solidFill>
                <a:effectLst/>
                <a:uLnTx/>
                <a:uFillTx/>
                <a:latin typeface="Calibri"/>
                <a:ea typeface="+mn-ea"/>
                <a:cs typeface="Calibri"/>
              </a:rPr>
              <a:t>Min frequency is not</a:t>
            </a:r>
            <a:r>
              <a:rPr kumimoji="0" lang="en-US" sz="2800" b="1" i="0" u="none" strike="noStrike" kern="0" cap="none" spc="0" normalizeH="0" noProof="0" dirty="0" smtClean="0">
                <a:ln>
                  <a:noFill/>
                </a:ln>
                <a:solidFill>
                  <a:srgbClr val="005EA7"/>
                </a:solidFill>
                <a:effectLst/>
                <a:uLnTx/>
                <a:uFillTx/>
                <a:latin typeface="Calibri"/>
                <a:ea typeface="+mn-ea"/>
                <a:cs typeface="Calibri"/>
              </a:rPr>
              <a:t> always min energy</a:t>
            </a:r>
            <a:endParaRPr kumimoji="0" lang="en-US" sz="2800" b="1" i="0" u="none" strike="noStrike" kern="0" cap="none" spc="0" normalizeH="0" baseline="0" noProof="0" dirty="0" smtClean="0">
              <a:ln>
                <a:noFill/>
              </a:ln>
              <a:solidFill>
                <a:srgbClr val="005EA7"/>
              </a:solidFill>
              <a:effectLst/>
              <a:uLnTx/>
              <a:uFillTx/>
              <a:latin typeface="Calibri"/>
              <a:ea typeface="+mn-ea"/>
              <a:cs typeface="Calibri"/>
            </a:endParaRPr>
          </a:p>
          <a:p>
            <a:pPr marL="227013" marR="0" lvl="0" indent="-227013" algn="ctr" defTabSz="914400" rtl="0" eaLnBrk="1" fontAlgn="base" latinLnBrk="0" hangingPunct="1">
              <a:lnSpc>
                <a:spcPct val="100000"/>
              </a:lnSpc>
              <a:spcBef>
                <a:spcPct val="20000"/>
              </a:spcBef>
              <a:spcAft>
                <a:spcPct val="0"/>
              </a:spcAft>
              <a:buClrTx/>
              <a:buSzPct val="100000"/>
              <a:buFont typeface="Arial" charset="0"/>
              <a:buNone/>
              <a:tabLst/>
              <a:defRPr/>
            </a:pPr>
            <a:endParaRPr kumimoji="0" lang="en-US" sz="2800" b="1" i="0" u="none" strike="noStrike" kern="0" cap="none" spc="0" normalizeH="0" baseline="0" noProof="0" dirty="0" smtClean="0">
              <a:ln>
                <a:noFill/>
              </a:ln>
              <a:solidFill>
                <a:srgbClr val="005EA7"/>
              </a:solidFill>
              <a:effectLst/>
              <a:uLnTx/>
              <a:uFillTx/>
              <a:latin typeface="Calibri"/>
              <a:ea typeface="+mn-ea"/>
              <a:cs typeface="Calibri"/>
            </a:endParaRPr>
          </a:p>
          <a:p>
            <a:pPr marL="1144588" marR="0" lvl="2" indent="-227013"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400" b="1" i="0" u="none" strike="noStrike" kern="0" cap="none" spc="0" normalizeH="0" baseline="0" noProof="0" dirty="0">
              <a:ln>
                <a:noFill/>
              </a:ln>
              <a:solidFill>
                <a:schemeClr val="tx1"/>
              </a:solidFill>
              <a:effectLst/>
              <a:uLnTx/>
              <a:uFillTx/>
              <a:latin typeface="Calibri"/>
              <a:cs typeface="Calibri"/>
            </a:endParaRPr>
          </a:p>
        </p:txBody>
      </p:sp>
      <p:grpSp>
        <p:nvGrpSpPr>
          <p:cNvPr id="14" name="Group 28"/>
          <p:cNvGrpSpPr/>
          <p:nvPr/>
        </p:nvGrpSpPr>
        <p:grpSpPr>
          <a:xfrm>
            <a:off x="3637217" y="1348470"/>
            <a:ext cx="751728" cy="675192"/>
            <a:chOff x="3574505" y="1044732"/>
            <a:chExt cx="751728" cy="1228190"/>
          </a:xfrm>
        </p:grpSpPr>
        <p:sp>
          <p:nvSpPr>
            <p:cNvPr id="30" name="Right Brace 29"/>
            <p:cNvSpPr/>
            <p:nvPr/>
          </p:nvSpPr>
          <p:spPr bwMode="auto">
            <a:xfrm>
              <a:off x="3574505" y="1316999"/>
              <a:ext cx="343559" cy="955923"/>
            </a:xfrm>
            <a:prstGeom prst="rightBrace">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1" name="TextBox 30"/>
            <p:cNvSpPr txBox="1"/>
            <p:nvPr/>
          </p:nvSpPr>
          <p:spPr>
            <a:xfrm>
              <a:off x="3816508" y="1044732"/>
              <a:ext cx="509725" cy="461665"/>
            </a:xfrm>
            <a:prstGeom prst="rect">
              <a:avLst/>
            </a:prstGeom>
            <a:noFill/>
          </p:spPr>
          <p:txBody>
            <a:bodyPr wrap="none" rtlCol="0">
              <a:spAutoFit/>
            </a:bodyPr>
            <a:lstStyle/>
            <a:p>
              <a:r>
                <a:rPr lang="en-US" sz="2400" dirty="0" smtClean="0"/>
                <a:t>2x</a:t>
              </a:r>
              <a:endParaRPr lang="en-US" sz="2400" dirty="0"/>
            </a:p>
          </p:txBody>
        </p:sp>
      </p:grpSp>
      <p:grpSp>
        <p:nvGrpSpPr>
          <p:cNvPr id="16" name="Group 31"/>
          <p:cNvGrpSpPr/>
          <p:nvPr/>
        </p:nvGrpSpPr>
        <p:grpSpPr>
          <a:xfrm>
            <a:off x="3674038" y="3122050"/>
            <a:ext cx="704694" cy="765668"/>
            <a:chOff x="3543149" y="1044732"/>
            <a:chExt cx="704694" cy="1157102"/>
          </a:xfrm>
        </p:grpSpPr>
        <p:sp>
          <p:nvSpPr>
            <p:cNvPr id="33" name="Right Brace 32"/>
            <p:cNvSpPr/>
            <p:nvPr/>
          </p:nvSpPr>
          <p:spPr bwMode="auto">
            <a:xfrm>
              <a:off x="3543149" y="1245910"/>
              <a:ext cx="343559" cy="955924"/>
            </a:xfrm>
            <a:prstGeom prst="rightBrace">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4" name="TextBox 33"/>
            <p:cNvSpPr txBox="1"/>
            <p:nvPr/>
          </p:nvSpPr>
          <p:spPr>
            <a:xfrm>
              <a:off x="3738118" y="1044732"/>
              <a:ext cx="509725" cy="697683"/>
            </a:xfrm>
            <a:prstGeom prst="rect">
              <a:avLst/>
            </a:prstGeom>
            <a:noFill/>
          </p:spPr>
          <p:txBody>
            <a:bodyPr wrap="none" rtlCol="0">
              <a:spAutoFit/>
            </a:bodyPr>
            <a:lstStyle/>
            <a:p>
              <a:r>
                <a:rPr lang="en-US" sz="2400" dirty="0" smtClean="0"/>
                <a:t>3x</a:t>
              </a:r>
              <a:endParaRPr lang="en-US" sz="2400" dirty="0"/>
            </a:p>
          </p:txBody>
        </p:sp>
      </p:grpSp>
      <p:grpSp>
        <p:nvGrpSpPr>
          <p:cNvPr id="17" name="Group 40"/>
          <p:cNvGrpSpPr/>
          <p:nvPr/>
        </p:nvGrpSpPr>
        <p:grpSpPr>
          <a:xfrm>
            <a:off x="5220590" y="5583084"/>
            <a:ext cx="1603440" cy="611963"/>
            <a:chOff x="5220590" y="5583084"/>
            <a:chExt cx="1603440" cy="611963"/>
          </a:xfrm>
        </p:grpSpPr>
        <p:sp>
          <p:nvSpPr>
            <p:cNvPr id="38" name="Oval 37"/>
            <p:cNvSpPr/>
            <p:nvPr/>
          </p:nvSpPr>
          <p:spPr bwMode="auto">
            <a:xfrm>
              <a:off x="5220590" y="5583084"/>
              <a:ext cx="326604" cy="322843"/>
            </a:xfrm>
            <a:prstGeom prst="ellipse">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39" name="Oval 38"/>
            <p:cNvSpPr/>
            <p:nvPr/>
          </p:nvSpPr>
          <p:spPr bwMode="auto">
            <a:xfrm>
              <a:off x="5859008" y="5860924"/>
              <a:ext cx="326604" cy="322843"/>
            </a:xfrm>
            <a:prstGeom prst="ellipse">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40" name="Oval 39"/>
            <p:cNvSpPr/>
            <p:nvPr/>
          </p:nvSpPr>
          <p:spPr bwMode="auto">
            <a:xfrm>
              <a:off x="6497426" y="5872204"/>
              <a:ext cx="326604" cy="322843"/>
            </a:xfrm>
            <a:prstGeom prst="ellipse">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chart seriesIdx="0" categoryIdx="-4" bldStep="series"/>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chart seriesIdx="1" categoryIdx="-4" bldStep="series"/>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chart seriesIdx="2" categoryIdx="-4" bldStep="series"/>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Graphic spid="15" grpId="0">
        <p:bldAsOne/>
      </p:bldGraphic>
      <p:bldP spid="21" grpId="0" animBg="1"/>
      <p:bldP spid="27" grpId="0"/>
      <p:bldGraphic spid="6" grpId="0">
        <p:bldSub>
          <a:bldChart bld="series"/>
        </p:bldSub>
      </p:bldGraphic>
      <p:bldP spid="13" grpId="0" build="p"/>
      <p:bldP spid="28" grpId="0"/>
    </p:bld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Energy/Performance/Power Tradeoffs</a:t>
            </a:r>
            <a:endParaRPr lang="en-US" dirty="0"/>
          </a:p>
        </p:txBody>
      </p:sp>
      <p:sp>
        <p:nvSpPr>
          <p:cNvPr id="4" name="Slide Number Placeholder 3"/>
          <p:cNvSpPr>
            <a:spLocks noGrp="1"/>
          </p:cNvSpPr>
          <p:nvPr>
            <p:ph type="sldNum" sz="quarter" idx="10"/>
          </p:nvPr>
        </p:nvSpPr>
        <p:spPr>
          <a:xfrm>
            <a:off x="375809" y="6394457"/>
            <a:ext cx="609600" cy="457200"/>
          </a:xfrm>
        </p:spPr>
        <p:txBody>
          <a:bodyPr/>
          <a:lstStyle/>
          <a:p>
            <a:fld id="{FDA0CC57-CE7D-8143-BD13-67094D272EE6}" type="slidenum">
              <a:rPr lang="en-US" smtClean="0"/>
              <a:pPr/>
              <a:t>38</a:t>
            </a:fld>
            <a:endParaRPr lang="en-US"/>
          </a:p>
        </p:txBody>
      </p:sp>
      <p:sp>
        <p:nvSpPr>
          <p:cNvPr id="5" name="Footer Placeholder 4"/>
          <p:cNvSpPr>
            <a:spLocks noGrp="1"/>
          </p:cNvSpPr>
          <p:nvPr>
            <p:ph type="ftr" sz="quarter" idx="11"/>
          </p:nvPr>
        </p:nvSpPr>
        <p:spPr/>
        <p:txBody>
          <a:bodyPr/>
          <a:lstStyle/>
          <a:p>
            <a:r>
              <a:rPr lang="en-US" dirty="0" smtClean="0"/>
              <a:t>Computational Sprinting</a:t>
            </a:r>
            <a:endParaRPr lang="en-US" dirty="0"/>
          </a:p>
        </p:txBody>
      </p:sp>
      <p:graphicFrame>
        <p:nvGraphicFramePr>
          <p:cNvPr id="22" name="Chart 21"/>
          <p:cNvGraphicFramePr/>
          <p:nvPr/>
        </p:nvGraphicFramePr>
        <p:xfrm>
          <a:off x="1164938" y="876464"/>
          <a:ext cx="36576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3" name="Chart 22"/>
          <p:cNvGraphicFramePr/>
          <p:nvPr/>
        </p:nvGraphicFramePr>
        <p:xfrm>
          <a:off x="1086380" y="3843761"/>
          <a:ext cx="3657600" cy="2743200"/>
        </p:xfrm>
        <a:graphic>
          <a:graphicData uri="http://schemas.openxmlformats.org/drawingml/2006/chart">
            <c:chart xmlns:c="http://schemas.openxmlformats.org/drawingml/2006/chart" xmlns:r="http://schemas.openxmlformats.org/officeDocument/2006/relationships" r:id="rId3"/>
          </a:graphicData>
        </a:graphic>
      </p:graphicFrame>
      <p:grpSp>
        <p:nvGrpSpPr>
          <p:cNvPr id="3" name="Group 37"/>
          <p:cNvGrpSpPr/>
          <p:nvPr/>
        </p:nvGrpSpPr>
        <p:grpSpPr>
          <a:xfrm>
            <a:off x="852400" y="1022626"/>
            <a:ext cx="3382315" cy="2789478"/>
            <a:chOff x="5011038" y="971663"/>
            <a:chExt cx="3382315" cy="2789478"/>
          </a:xfrm>
        </p:grpSpPr>
        <p:sp>
          <p:nvSpPr>
            <p:cNvPr id="24" name="TextBox 23"/>
            <p:cNvSpPr txBox="1"/>
            <p:nvPr/>
          </p:nvSpPr>
          <p:spPr>
            <a:xfrm rot="16200000">
              <a:off x="4164051" y="1818650"/>
              <a:ext cx="2032528" cy="338554"/>
            </a:xfrm>
            <a:prstGeom prst="rect">
              <a:avLst/>
            </a:prstGeom>
            <a:noFill/>
          </p:spPr>
          <p:txBody>
            <a:bodyPr wrap="none" rtlCol="0">
              <a:spAutoFit/>
            </a:bodyPr>
            <a:lstStyle/>
            <a:p>
              <a:r>
                <a:rPr lang="en-US" sz="1600" dirty="0" smtClean="0"/>
                <a:t>normalized speedup</a:t>
              </a:r>
              <a:endParaRPr lang="en-US" sz="1600" dirty="0"/>
            </a:p>
          </p:txBody>
        </p:sp>
        <p:sp>
          <p:nvSpPr>
            <p:cNvPr id="25" name="TextBox 24"/>
            <p:cNvSpPr txBox="1"/>
            <p:nvPr/>
          </p:nvSpPr>
          <p:spPr>
            <a:xfrm>
              <a:off x="6520725" y="3422587"/>
              <a:ext cx="1872628" cy="338554"/>
            </a:xfrm>
            <a:prstGeom prst="rect">
              <a:avLst/>
            </a:prstGeom>
            <a:noFill/>
          </p:spPr>
          <p:txBody>
            <a:bodyPr wrap="none" rtlCol="0">
              <a:spAutoFit/>
            </a:bodyPr>
            <a:lstStyle/>
            <a:p>
              <a:r>
                <a:rPr lang="en-US" sz="1600" dirty="0" smtClean="0"/>
                <a:t>normalized energy</a:t>
              </a:r>
              <a:endParaRPr lang="en-US" sz="1600" dirty="0"/>
            </a:p>
          </p:txBody>
        </p:sp>
      </p:grpSp>
      <p:grpSp>
        <p:nvGrpSpPr>
          <p:cNvPr id="6" name="Group 38"/>
          <p:cNvGrpSpPr/>
          <p:nvPr/>
        </p:nvGrpSpPr>
        <p:grpSpPr>
          <a:xfrm>
            <a:off x="803187" y="4152279"/>
            <a:ext cx="2593022" cy="2584505"/>
            <a:chOff x="5115783" y="3902761"/>
            <a:chExt cx="2593022" cy="2584505"/>
          </a:xfrm>
        </p:grpSpPr>
        <p:sp>
          <p:nvSpPr>
            <p:cNvPr id="26" name="TextBox 25"/>
            <p:cNvSpPr txBox="1"/>
            <p:nvPr/>
          </p:nvSpPr>
          <p:spPr>
            <a:xfrm rot="16200000">
              <a:off x="4275922" y="4742622"/>
              <a:ext cx="2018276" cy="338554"/>
            </a:xfrm>
            <a:prstGeom prst="rect">
              <a:avLst/>
            </a:prstGeom>
            <a:noFill/>
          </p:spPr>
          <p:txBody>
            <a:bodyPr wrap="none" rtlCol="0">
              <a:spAutoFit/>
            </a:bodyPr>
            <a:lstStyle/>
            <a:p>
              <a:r>
                <a:rPr lang="en-US" sz="1600" dirty="0" smtClean="0"/>
                <a:t>normalized</a:t>
              </a:r>
              <a:r>
                <a:rPr lang="en-US" sz="1200" dirty="0" smtClean="0"/>
                <a:t> </a:t>
              </a:r>
              <a:r>
                <a:rPr lang="en-US" sz="1600" dirty="0" smtClean="0"/>
                <a:t>speedup</a:t>
              </a:r>
              <a:endParaRPr lang="en-US" sz="1600" dirty="0"/>
            </a:p>
          </p:txBody>
        </p:sp>
        <p:sp>
          <p:nvSpPr>
            <p:cNvPr id="27" name="TextBox 26"/>
            <p:cNvSpPr txBox="1"/>
            <p:nvPr/>
          </p:nvSpPr>
          <p:spPr>
            <a:xfrm>
              <a:off x="6965292" y="6148712"/>
              <a:ext cx="743513" cy="338554"/>
            </a:xfrm>
            <a:prstGeom prst="rect">
              <a:avLst/>
            </a:prstGeom>
            <a:noFill/>
          </p:spPr>
          <p:txBody>
            <a:bodyPr wrap="none" rtlCol="0">
              <a:spAutoFit/>
            </a:bodyPr>
            <a:lstStyle/>
            <a:p>
              <a:r>
                <a:rPr lang="en-US" sz="1600" dirty="0" smtClean="0"/>
                <a:t>power</a:t>
              </a:r>
              <a:endParaRPr lang="en-US" sz="1600" dirty="0"/>
            </a:p>
          </p:txBody>
        </p:sp>
      </p:grpSp>
      <p:sp>
        <p:nvSpPr>
          <p:cNvPr id="62" name="TextBox 61"/>
          <p:cNvSpPr txBox="1"/>
          <p:nvPr/>
        </p:nvSpPr>
        <p:spPr>
          <a:xfrm>
            <a:off x="2656951" y="1709746"/>
            <a:ext cx="1916585" cy="369332"/>
          </a:xfrm>
          <a:prstGeom prst="rect">
            <a:avLst/>
          </a:prstGeom>
          <a:noFill/>
        </p:spPr>
        <p:txBody>
          <a:bodyPr wrap="none" rtlCol="0">
            <a:spAutoFit/>
          </a:bodyPr>
          <a:lstStyle/>
          <a:p>
            <a:r>
              <a:rPr lang="en-US" dirty="0" smtClean="0"/>
              <a:t>4 cores, 1.6 GHz</a:t>
            </a:r>
            <a:endParaRPr lang="en-US" dirty="0"/>
          </a:p>
        </p:txBody>
      </p:sp>
      <p:sp>
        <p:nvSpPr>
          <p:cNvPr id="63" name="TextBox 62"/>
          <p:cNvSpPr txBox="1"/>
          <p:nvPr/>
        </p:nvSpPr>
        <p:spPr>
          <a:xfrm>
            <a:off x="2993711" y="912866"/>
            <a:ext cx="1916585" cy="369332"/>
          </a:xfrm>
          <a:prstGeom prst="rect">
            <a:avLst/>
          </a:prstGeom>
          <a:noFill/>
        </p:spPr>
        <p:txBody>
          <a:bodyPr wrap="none" rtlCol="0">
            <a:spAutoFit/>
          </a:bodyPr>
          <a:lstStyle/>
          <a:p>
            <a:r>
              <a:rPr lang="en-US" dirty="0" smtClean="0"/>
              <a:t>4 cores, 3.2 GHz</a:t>
            </a:r>
            <a:endParaRPr lang="en-US" dirty="0"/>
          </a:p>
        </p:txBody>
      </p:sp>
      <p:sp>
        <p:nvSpPr>
          <p:cNvPr id="64" name="TextBox 63"/>
          <p:cNvSpPr txBox="1"/>
          <p:nvPr/>
        </p:nvSpPr>
        <p:spPr>
          <a:xfrm>
            <a:off x="3541008" y="2795958"/>
            <a:ext cx="1801169" cy="369332"/>
          </a:xfrm>
          <a:prstGeom prst="rect">
            <a:avLst/>
          </a:prstGeom>
          <a:noFill/>
        </p:spPr>
        <p:txBody>
          <a:bodyPr wrap="none" rtlCol="0">
            <a:spAutoFit/>
          </a:bodyPr>
          <a:lstStyle/>
          <a:p>
            <a:r>
              <a:rPr lang="en-US" dirty="0" smtClean="0"/>
              <a:t>1 core, 1.6 GHz</a:t>
            </a:r>
            <a:endParaRPr lang="en-US" dirty="0"/>
          </a:p>
        </p:txBody>
      </p:sp>
      <p:sp>
        <p:nvSpPr>
          <p:cNvPr id="65" name="TextBox 64"/>
          <p:cNvSpPr txBox="1"/>
          <p:nvPr/>
        </p:nvSpPr>
        <p:spPr>
          <a:xfrm>
            <a:off x="3486668" y="2279066"/>
            <a:ext cx="1801169" cy="369332"/>
          </a:xfrm>
          <a:prstGeom prst="rect">
            <a:avLst/>
          </a:prstGeom>
          <a:noFill/>
        </p:spPr>
        <p:txBody>
          <a:bodyPr wrap="none" rtlCol="0">
            <a:spAutoFit/>
          </a:bodyPr>
          <a:lstStyle/>
          <a:p>
            <a:r>
              <a:rPr lang="en-US" dirty="0" smtClean="0"/>
              <a:t>1 core, 3.2 GHz</a:t>
            </a:r>
            <a:endParaRPr lang="en-US" dirty="0"/>
          </a:p>
        </p:txBody>
      </p:sp>
      <p:sp>
        <p:nvSpPr>
          <p:cNvPr id="66" name="TextBox 65"/>
          <p:cNvSpPr txBox="1"/>
          <p:nvPr/>
        </p:nvSpPr>
        <p:spPr>
          <a:xfrm>
            <a:off x="1968199" y="5704387"/>
            <a:ext cx="1801169" cy="369332"/>
          </a:xfrm>
          <a:prstGeom prst="rect">
            <a:avLst/>
          </a:prstGeom>
          <a:noFill/>
        </p:spPr>
        <p:txBody>
          <a:bodyPr wrap="none" rtlCol="0">
            <a:spAutoFit/>
          </a:bodyPr>
          <a:lstStyle/>
          <a:p>
            <a:r>
              <a:rPr lang="en-US" dirty="0" smtClean="0"/>
              <a:t>1 core, 1.6 GHz</a:t>
            </a:r>
            <a:endParaRPr lang="en-US" dirty="0"/>
          </a:p>
        </p:txBody>
      </p:sp>
      <p:sp>
        <p:nvSpPr>
          <p:cNvPr id="67" name="TextBox 66"/>
          <p:cNvSpPr txBox="1"/>
          <p:nvPr/>
        </p:nvSpPr>
        <p:spPr>
          <a:xfrm>
            <a:off x="2509623" y="5203175"/>
            <a:ext cx="1801169" cy="369332"/>
          </a:xfrm>
          <a:prstGeom prst="rect">
            <a:avLst/>
          </a:prstGeom>
          <a:noFill/>
        </p:spPr>
        <p:txBody>
          <a:bodyPr wrap="none" rtlCol="0">
            <a:spAutoFit/>
          </a:bodyPr>
          <a:lstStyle/>
          <a:p>
            <a:r>
              <a:rPr lang="en-US" dirty="0" smtClean="0"/>
              <a:t>1 core, 3.2 GHz</a:t>
            </a:r>
            <a:endParaRPr lang="en-US" dirty="0"/>
          </a:p>
        </p:txBody>
      </p:sp>
      <p:sp>
        <p:nvSpPr>
          <p:cNvPr id="68" name="TextBox 67"/>
          <p:cNvSpPr txBox="1"/>
          <p:nvPr/>
        </p:nvSpPr>
        <p:spPr>
          <a:xfrm>
            <a:off x="2533706" y="4682321"/>
            <a:ext cx="1916585" cy="369332"/>
          </a:xfrm>
          <a:prstGeom prst="rect">
            <a:avLst/>
          </a:prstGeom>
          <a:noFill/>
        </p:spPr>
        <p:txBody>
          <a:bodyPr wrap="none" rtlCol="0">
            <a:spAutoFit/>
          </a:bodyPr>
          <a:lstStyle/>
          <a:p>
            <a:r>
              <a:rPr lang="en-US" dirty="0" smtClean="0"/>
              <a:t>4 cores, 1.6 GHz</a:t>
            </a:r>
            <a:endParaRPr lang="en-US" dirty="0"/>
          </a:p>
        </p:txBody>
      </p:sp>
      <p:sp>
        <p:nvSpPr>
          <p:cNvPr id="69" name="TextBox 68"/>
          <p:cNvSpPr txBox="1"/>
          <p:nvPr/>
        </p:nvSpPr>
        <p:spPr>
          <a:xfrm>
            <a:off x="2385298" y="3930229"/>
            <a:ext cx="1916585" cy="369332"/>
          </a:xfrm>
          <a:prstGeom prst="rect">
            <a:avLst/>
          </a:prstGeom>
          <a:noFill/>
        </p:spPr>
        <p:txBody>
          <a:bodyPr wrap="none" rtlCol="0">
            <a:spAutoFit/>
          </a:bodyPr>
          <a:lstStyle/>
          <a:p>
            <a:r>
              <a:rPr lang="en-US" dirty="0" smtClean="0"/>
              <a:t>4 cores, 3.2 GHz</a:t>
            </a:r>
            <a:endParaRPr lang="en-US" dirty="0"/>
          </a:p>
        </p:txBody>
      </p:sp>
      <p:sp>
        <p:nvSpPr>
          <p:cNvPr id="70" name="Content Placeholder 2"/>
          <p:cNvSpPr txBox="1">
            <a:spLocks/>
          </p:cNvSpPr>
          <p:nvPr/>
        </p:nvSpPr>
        <p:spPr bwMode="auto">
          <a:xfrm>
            <a:off x="4565054" y="3400055"/>
            <a:ext cx="4625980" cy="177151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227013" marR="0" lvl="0" indent="-227013" defTabSz="914400" rtl="0" eaLnBrk="1" fontAlgn="base" latinLnBrk="0" hangingPunct="1">
              <a:lnSpc>
                <a:spcPct val="100000"/>
              </a:lnSpc>
              <a:spcBef>
                <a:spcPct val="20000"/>
              </a:spcBef>
              <a:spcAft>
                <a:spcPct val="0"/>
              </a:spcAft>
              <a:buClrTx/>
              <a:buSzPct val="100000"/>
              <a:buFont typeface="Arial" charset="0"/>
              <a:buNone/>
              <a:tabLst/>
              <a:defRPr/>
            </a:pPr>
            <a:endParaRPr kumimoji="0" lang="en-US" sz="2400" b="1" i="0" u="none" strike="noStrike" kern="0" cap="none" spc="0" normalizeH="0" baseline="0" noProof="0" dirty="0">
              <a:ln>
                <a:noFill/>
              </a:ln>
              <a:solidFill>
                <a:schemeClr val="tx1"/>
              </a:solidFill>
              <a:effectLst/>
              <a:uLnTx/>
              <a:uFillTx/>
              <a:latin typeface="Calibri"/>
              <a:cs typeface="Calibri"/>
            </a:endParaRPr>
          </a:p>
        </p:txBody>
      </p:sp>
      <p:sp>
        <p:nvSpPr>
          <p:cNvPr id="71" name="Content Placeholder 2"/>
          <p:cNvSpPr txBox="1">
            <a:spLocks/>
          </p:cNvSpPr>
          <p:nvPr/>
        </p:nvSpPr>
        <p:spPr bwMode="auto">
          <a:xfrm>
            <a:off x="4415192" y="3473550"/>
            <a:ext cx="4625980" cy="11797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227013" marR="0" lvl="0" indent="-227013" algn="ctr" defTabSz="914400" rtl="0" eaLnBrk="1" fontAlgn="base" latinLnBrk="0" hangingPunct="1">
              <a:lnSpc>
                <a:spcPct val="100000"/>
              </a:lnSpc>
              <a:spcBef>
                <a:spcPct val="20000"/>
              </a:spcBef>
              <a:spcAft>
                <a:spcPct val="0"/>
              </a:spcAft>
              <a:buClrTx/>
              <a:buSzPct val="100000"/>
              <a:buFont typeface="Arial" charset="0"/>
              <a:buNone/>
              <a:tabLst/>
              <a:defRPr/>
            </a:pPr>
            <a:r>
              <a:rPr lang="en-US" sz="2800" b="1" kern="0" dirty="0" smtClean="0">
                <a:solidFill>
                  <a:srgbClr val="005EA7"/>
                </a:solidFill>
                <a:latin typeface="Calibri"/>
                <a:cs typeface="Calibri"/>
              </a:rPr>
              <a:t>What if this is the maximum sustainable power?</a:t>
            </a:r>
          </a:p>
          <a:p>
            <a:pPr marL="1144588" marR="0" lvl="2" indent="-227013" algn="ctr" defTabSz="914400" rtl="0" eaLnBrk="1" fontAlgn="base" latinLnBrk="0" hangingPunct="1">
              <a:lnSpc>
                <a:spcPct val="100000"/>
              </a:lnSpc>
              <a:spcBef>
                <a:spcPct val="20000"/>
              </a:spcBef>
              <a:spcAft>
                <a:spcPct val="0"/>
              </a:spcAft>
              <a:buClrTx/>
              <a:buSzTx/>
              <a:tabLst/>
              <a:defRPr/>
            </a:pPr>
            <a:endParaRPr kumimoji="0" lang="en-US" sz="2400" b="1" i="0" u="none" strike="noStrike" kern="0" cap="none" spc="0" normalizeH="0" baseline="0" noProof="0" dirty="0">
              <a:ln>
                <a:noFill/>
              </a:ln>
              <a:solidFill>
                <a:schemeClr val="tx1"/>
              </a:solidFill>
              <a:effectLst/>
              <a:uLnTx/>
              <a:uFillTx/>
              <a:latin typeface="Calibri"/>
              <a:cs typeface="Calibri"/>
            </a:endParaRPr>
          </a:p>
        </p:txBody>
      </p:sp>
      <p:sp>
        <p:nvSpPr>
          <p:cNvPr id="72" name="Content Placeholder 2"/>
          <p:cNvSpPr txBox="1">
            <a:spLocks/>
          </p:cNvSpPr>
          <p:nvPr/>
        </p:nvSpPr>
        <p:spPr bwMode="auto">
          <a:xfrm>
            <a:off x="4415192" y="4755415"/>
            <a:ext cx="4625980" cy="11797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227013" marR="0" lvl="0" indent="-227013" algn="ctr" defTabSz="914400" rtl="0" eaLnBrk="1" fontAlgn="base" latinLnBrk="0" hangingPunct="1">
              <a:lnSpc>
                <a:spcPct val="100000"/>
              </a:lnSpc>
              <a:spcBef>
                <a:spcPct val="20000"/>
              </a:spcBef>
              <a:spcAft>
                <a:spcPct val="0"/>
              </a:spcAft>
              <a:buClrTx/>
              <a:buSzPct val="100000"/>
              <a:buFont typeface="Arial" charset="0"/>
              <a:buNone/>
              <a:tabLst/>
              <a:defRPr/>
            </a:pPr>
            <a:r>
              <a:rPr lang="en-US" sz="2800" b="1" kern="0" dirty="0" smtClean="0">
                <a:solidFill>
                  <a:srgbClr val="005EA7"/>
                </a:solidFill>
                <a:latin typeface="Calibri"/>
                <a:cs typeface="Calibri"/>
              </a:rPr>
              <a:t>Sprinting enables higher responsiveness and greater energy efficiency</a:t>
            </a:r>
          </a:p>
          <a:p>
            <a:pPr marL="1144588" marR="0" lvl="2" indent="-227013" algn="ctr" defTabSz="914400" rtl="0" eaLnBrk="1" fontAlgn="base" latinLnBrk="0" hangingPunct="1">
              <a:lnSpc>
                <a:spcPct val="100000"/>
              </a:lnSpc>
              <a:spcBef>
                <a:spcPct val="20000"/>
              </a:spcBef>
              <a:spcAft>
                <a:spcPct val="0"/>
              </a:spcAft>
              <a:buClrTx/>
              <a:buSzTx/>
              <a:tabLst/>
              <a:defRPr/>
            </a:pPr>
            <a:endParaRPr kumimoji="0" lang="en-US" sz="2400" b="1" i="0" u="none" strike="noStrike" kern="0" cap="none" spc="0" normalizeH="0" baseline="0" noProof="0" dirty="0">
              <a:ln>
                <a:noFill/>
              </a:ln>
              <a:solidFill>
                <a:srgbClr val="005EA7"/>
              </a:solidFill>
              <a:effectLst/>
              <a:uLnTx/>
              <a:uFillTx/>
              <a:latin typeface="Calibri"/>
              <a:cs typeface="Calibri"/>
            </a:endParaRPr>
          </a:p>
        </p:txBody>
      </p:sp>
      <p:grpSp>
        <p:nvGrpSpPr>
          <p:cNvPr id="7" name="Group 80"/>
          <p:cNvGrpSpPr/>
          <p:nvPr/>
        </p:nvGrpSpPr>
        <p:grpSpPr>
          <a:xfrm>
            <a:off x="1630701" y="876464"/>
            <a:ext cx="1646980" cy="667825"/>
            <a:chOff x="1630701" y="876464"/>
            <a:chExt cx="1646980" cy="667825"/>
          </a:xfrm>
        </p:grpSpPr>
        <p:sp>
          <p:nvSpPr>
            <p:cNvPr id="28" name="TextBox 27"/>
            <p:cNvSpPr txBox="1"/>
            <p:nvPr/>
          </p:nvSpPr>
          <p:spPr>
            <a:xfrm>
              <a:off x="1630701" y="1174957"/>
              <a:ext cx="1646980" cy="369332"/>
            </a:xfrm>
            <a:prstGeom prst="rect">
              <a:avLst/>
            </a:prstGeom>
            <a:noFill/>
          </p:spPr>
          <p:txBody>
            <a:bodyPr wrap="none" rtlCol="0">
              <a:spAutoFit/>
            </a:bodyPr>
            <a:lstStyle/>
            <a:p>
              <a:r>
                <a:rPr lang="en-US" b="1" dirty="0" smtClean="0"/>
                <a:t>Max speedup</a:t>
              </a:r>
              <a:endParaRPr lang="en-US" b="1" dirty="0"/>
            </a:p>
          </p:txBody>
        </p:sp>
        <p:sp>
          <p:nvSpPr>
            <p:cNvPr id="77" name="Oval 76"/>
            <p:cNvSpPr/>
            <p:nvPr/>
          </p:nvSpPr>
          <p:spPr bwMode="auto">
            <a:xfrm>
              <a:off x="2748526" y="876464"/>
              <a:ext cx="326604" cy="322843"/>
            </a:xfrm>
            <a:prstGeom prst="ellipse">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smtClean="0">
                <a:ln>
                  <a:noFill/>
                </a:ln>
                <a:solidFill>
                  <a:schemeClr val="tx1"/>
                </a:solidFill>
                <a:effectLst/>
                <a:latin typeface="Arial" charset="0"/>
                <a:ea typeface="ＭＳ Ｐゴシック" pitchFamily="32" charset="-128"/>
              </a:endParaRPr>
            </a:p>
          </p:txBody>
        </p:sp>
      </p:grpSp>
      <p:grpSp>
        <p:nvGrpSpPr>
          <p:cNvPr id="8" name="Group 81"/>
          <p:cNvGrpSpPr/>
          <p:nvPr/>
        </p:nvGrpSpPr>
        <p:grpSpPr>
          <a:xfrm>
            <a:off x="1436468" y="1917656"/>
            <a:ext cx="1428596" cy="648629"/>
            <a:chOff x="1436468" y="1917656"/>
            <a:chExt cx="1428596" cy="648629"/>
          </a:xfrm>
        </p:grpSpPr>
        <p:sp>
          <p:nvSpPr>
            <p:cNvPr id="78" name="Oval 77"/>
            <p:cNvSpPr/>
            <p:nvPr/>
          </p:nvSpPr>
          <p:spPr bwMode="auto">
            <a:xfrm>
              <a:off x="2486672" y="1917656"/>
              <a:ext cx="326604" cy="322843"/>
            </a:xfrm>
            <a:prstGeom prst="ellipse">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9" name="TextBox 78"/>
            <p:cNvSpPr txBox="1"/>
            <p:nvPr/>
          </p:nvSpPr>
          <p:spPr>
            <a:xfrm>
              <a:off x="1436468" y="2196953"/>
              <a:ext cx="1428596" cy="369332"/>
            </a:xfrm>
            <a:prstGeom prst="rect">
              <a:avLst/>
            </a:prstGeom>
            <a:noFill/>
          </p:spPr>
          <p:txBody>
            <a:bodyPr wrap="none" rtlCol="0">
              <a:spAutoFit/>
            </a:bodyPr>
            <a:lstStyle/>
            <a:p>
              <a:r>
                <a:rPr lang="en-US" b="1" dirty="0" smtClean="0"/>
                <a:t>Min energy</a:t>
              </a:r>
              <a:endParaRPr lang="en-US" b="1" dirty="0"/>
            </a:p>
          </p:txBody>
        </p:sp>
      </p:grpSp>
      <p:grpSp>
        <p:nvGrpSpPr>
          <p:cNvPr id="9" name="Group 82"/>
          <p:cNvGrpSpPr/>
          <p:nvPr/>
        </p:nvGrpSpPr>
        <p:grpSpPr>
          <a:xfrm>
            <a:off x="1435172" y="5004613"/>
            <a:ext cx="1326004" cy="918175"/>
            <a:chOff x="1435172" y="5004613"/>
            <a:chExt cx="1326004" cy="918175"/>
          </a:xfrm>
        </p:grpSpPr>
        <p:sp>
          <p:nvSpPr>
            <p:cNvPr id="74" name="Oval 73"/>
            <p:cNvSpPr/>
            <p:nvPr/>
          </p:nvSpPr>
          <p:spPr bwMode="auto">
            <a:xfrm>
              <a:off x="1855231" y="5599945"/>
              <a:ext cx="326604" cy="322843"/>
            </a:xfrm>
            <a:prstGeom prst="ellipse">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0" name="TextBox 79"/>
            <p:cNvSpPr txBox="1"/>
            <p:nvPr/>
          </p:nvSpPr>
          <p:spPr>
            <a:xfrm>
              <a:off x="1435172" y="5004613"/>
              <a:ext cx="1326004" cy="369332"/>
            </a:xfrm>
            <a:prstGeom prst="rect">
              <a:avLst/>
            </a:prstGeom>
            <a:noFill/>
          </p:spPr>
          <p:txBody>
            <a:bodyPr wrap="none" rtlCol="0">
              <a:spAutoFit/>
            </a:bodyPr>
            <a:lstStyle/>
            <a:p>
              <a:r>
                <a:rPr lang="en-US" b="1" dirty="0" smtClean="0"/>
                <a:t>Min power</a:t>
              </a:r>
              <a:endParaRPr lang="en-US" b="1"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graphicEl>
                                              <a:chart seriesIdx="0" categoryIdx="-4" bldStep="series"/>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graphicEl>
                                              <a:chart seriesIdx="1" categoryIdx="-4" bldStep="series"/>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graphicEl>
                                              <a:chart seriesIdx="2" categoryIdx="-4" bldStep="series"/>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graphicEl>
                                              <a:chart seriesIdx="3" categoryIdx="-4" bldStep="series"/>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2" grpId="0">
        <p:bldSub>
          <a:bldChart bld="series"/>
        </p:bldSub>
      </p:bldGraphic>
      <p:bldGraphic spid="23" grpId="0">
        <p:bldAsOne/>
      </p:bldGraphic>
      <p:bldP spid="62" grpId="0"/>
      <p:bldP spid="63" grpId="0"/>
      <p:bldP spid="64" grpId="0"/>
      <p:bldP spid="65" grpId="0"/>
      <p:bldP spid="66" grpId="0"/>
      <p:bldP spid="67" grpId="0"/>
      <p:bldP spid="68" grpId="0"/>
      <p:bldP spid="69" grpId="0"/>
      <p:bldP spid="71" grpId="0"/>
      <p:bldP spid="72" grpId="0"/>
    </p:bld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Emulating Sprinting with Limited Energy Budget</a:t>
            </a:r>
            <a:endParaRPr lang="en-US" dirty="0"/>
          </a:p>
        </p:txBody>
      </p:sp>
      <p:sp>
        <p:nvSpPr>
          <p:cNvPr id="3" name="Content Placeholder 2"/>
          <p:cNvSpPr>
            <a:spLocks noGrp="1"/>
          </p:cNvSpPr>
          <p:nvPr>
            <p:ph idx="1"/>
          </p:nvPr>
        </p:nvSpPr>
        <p:spPr>
          <a:xfrm>
            <a:off x="457200" y="990600"/>
            <a:ext cx="8686800" cy="5257800"/>
          </a:xfrm>
        </p:spPr>
        <p:txBody>
          <a:bodyPr/>
          <a:lstStyle/>
          <a:p>
            <a:r>
              <a:rPr lang="en-US" dirty="0" smtClean="0"/>
              <a:t>Emulate effect of being thermally constrained </a:t>
            </a:r>
          </a:p>
          <a:p>
            <a:pPr lvl="1"/>
            <a:r>
              <a:rPr lang="en-US" dirty="0" smtClean="0"/>
              <a:t>Not currently physically limiting cooling constraints</a:t>
            </a:r>
          </a:p>
          <a:p>
            <a:pPr lvl="1"/>
            <a:r>
              <a:rPr lang="en-US" dirty="0" smtClean="0"/>
              <a:t>Estimate thermal capacity for sprinting based on energy</a:t>
            </a:r>
          </a:p>
          <a:p>
            <a:pPr lvl="1"/>
            <a:endParaRPr lang="en-US" dirty="0" smtClean="0"/>
          </a:p>
          <a:p>
            <a:r>
              <a:rPr lang="en-US" dirty="0" smtClean="0"/>
              <a:t>Sprint operation:</a:t>
            </a:r>
          </a:p>
          <a:p>
            <a:pPr lvl="1">
              <a:spcAft>
                <a:spcPts val="0"/>
              </a:spcAft>
            </a:pPr>
            <a:r>
              <a:rPr lang="en-US" dirty="0" smtClean="0"/>
              <a:t>Execute with all cores at maximum frequency</a:t>
            </a:r>
          </a:p>
          <a:p>
            <a:pPr lvl="1">
              <a:spcAft>
                <a:spcPts val="0"/>
              </a:spcAft>
            </a:pPr>
            <a:r>
              <a:rPr lang="en-US" dirty="0" smtClean="0"/>
              <a:t>Monitor energy consumption via MSR</a:t>
            </a:r>
          </a:p>
          <a:p>
            <a:pPr lvl="1"/>
            <a:r>
              <a:rPr lang="en-US" dirty="0" smtClean="0"/>
              <a:t>Terminate sprinting when energy capacity is exceeded</a:t>
            </a:r>
          </a:p>
          <a:p>
            <a:pPr lvl="2"/>
            <a:r>
              <a:rPr lang="en-US" dirty="0" smtClean="0"/>
              <a:t>Migrate threads to single core</a:t>
            </a:r>
          </a:p>
          <a:p>
            <a:pPr lvl="2"/>
            <a:r>
              <a:rPr lang="en-US" dirty="0" smtClean="0"/>
              <a:t>Shutdown additional cores </a:t>
            </a:r>
          </a:p>
          <a:p>
            <a:pPr lvl="2">
              <a:spcAft>
                <a:spcPts val="1200"/>
              </a:spcAft>
            </a:pPr>
            <a:r>
              <a:rPr lang="en-US" dirty="0" smtClean="0"/>
              <a:t>Lower frequency to minimum</a:t>
            </a:r>
          </a:p>
          <a:p>
            <a:pPr lvl="1">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39</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6" name="Oval 15"/>
          <p:cNvSpPr/>
          <p:nvPr/>
        </p:nvSpPr>
        <p:spPr bwMode="auto">
          <a:xfrm rot="2893453">
            <a:off x="2903831" y="1164525"/>
            <a:ext cx="549917" cy="1643914"/>
          </a:xfrm>
          <a:prstGeom prst="ellipse">
            <a:avLst/>
          </a:prstGeom>
          <a:solidFill>
            <a:schemeClr val="tx2">
              <a:lumMod val="20000"/>
              <a:lumOff val="80000"/>
            </a:schemeClr>
          </a:solidFill>
          <a:ln w="38100" cap="flat" cmpd="sng" algn="ctr">
            <a:solidFill>
              <a:schemeClr val="tx2">
                <a:lumMod val="60000"/>
                <a:lumOff val="4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graphicFrame>
        <p:nvGraphicFramePr>
          <p:cNvPr id="6" name="Chart 5"/>
          <p:cNvGraphicFramePr/>
          <p:nvPr/>
        </p:nvGraphicFramePr>
        <p:xfrm>
          <a:off x="521297" y="1335772"/>
          <a:ext cx="4650558" cy="182880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p:txBody>
          <a:bodyPr/>
          <a:lstStyle/>
          <a:p>
            <a:r>
              <a:rPr lang="en-US" dirty="0" smtClean="0"/>
              <a:t>Effect of Thermal Capacity </a:t>
            </a:r>
            <a:endParaRPr lang="en-US" dirty="0"/>
          </a:p>
        </p:txBody>
      </p:sp>
      <p:sp>
        <p:nvSpPr>
          <p:cNvPr id="4" name="Slide Number Placeholder 3"/>
          <p:cNvSpPr>
            <a:spLocks noGrp="1"/>
          </p:cNvSpPr>
          <p:nvPr>
            <p:ph type="sldNum" sz="quarter" idx="10"/>
          </p:nvPr>
        </p:nvSpPr>
        <p:spPr>
          <a:xfrm>
            <a:off x="454367" y="5988543"/>
            <a:ext cx="609600" cy="457200"/>
          </a:xfrm>
        </p:spPr>
        <p:txBody>
          <a:bodyPr/>
          <a:lstStyle/>
          <a:p>
            <a:fld id="{FDA0CC57-CE7D-8143-BD13-67094D272EE6}" type="slidenum">
              <a:rPr lang="en-US" smtClean="0"/>
              <a:pPr/>
              <a:t>40</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graphicFrame>
        <p:nvGraphicFramePr>
          <p:cNvPr id="8" name="Chart 7"/>
          <p:cNvGraphicFramePr/>
          <p:nvPr/>
        </p:nvGraphicFramePr>
        <p:xfrm>
          <a:off x="482018" y="4400688"/>
          <a:ext cx="4742192"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rot="16200000">
            <a:off x="-539534" y="5096365"/>
            <a:ext cx="1872628" cy="338554"/>
          </a:xfrm>
          <a:prstGeom prst="rect">
            <a:avLst/>
          </a:prstGeom>
          <a:noFill/>
        </p:spPr>
        <p:txBody>
          <a:bodyPr wrap="none" rtlCol="0">
            <a:spAutoFit/>
          </a:bodyPr>
          <a:lstStyle/>
          <a:p>
            <a:r>
              <a:rPr lang="en-US" sz="1600" dirty="0" smtClean="0"/>
              <a:t>normalized energy</a:t>
            </a:r>
            <a:endParaRPr lang="en-US" sz="1600" dirty="0"/>
          </a:p>
        </p:txBody>
      </p:sp>
      <p:sp>
        <p:nvSpPr>
          <p:cNvPr id="10" name="TextBox 9"/>
          <p:cNvSpPr txBox="1"/>
          <p:nvPr/>
        </p:nvSpPr>
        <p:spPr>
          <a:xfrm rot="16200000">
            <a:off x="-632576" y="2008152"/>
            <a:ext cx="2032528" cy="338554"/>
          </a:xfrm>
          <a:prstGeom prst="rect">
            <a:avLst/>
          </a:prstGeom>
          <a:noFill/>
        </p:spPr>
        <p:txBody>
          <a:bodyPr wrap="none" rtlCol="0">
            <a:spAutoFit/>
          </a:bodyPr>
          <a:lstStyle/>
          <a:p>
            <a:r>
              <a:rPr lang="en-US" sz="1600" dirty="0" smtClean="0"/>
              <a:t>normalized speedup</a:t>
            </a:r>
            <a:endParaRPr lang="en-US" sz="1600" dirty="0"/>
          </a:p>
        </p:txBody>
      </p:sp>
      <p:sp>
        <p:nvSpPr>
          <p:cNvPr id="12" name="TextBox 11"/>
          <p:cNvSpPr txBox="1"/>
          <p:nvPr/>
        </p:nvSpPr>
        <p:spPr>
          <a:xfrm>
            <a:off x="2239615" y="3172214"/>
            <a:ext cx="2088733" cy="338554"/>
          </a:xfrm>
          <a:prstGeom prst="rect">
            <a:avLst/>
          </a:prstGeom>
          <a:noFill/>
        </p:spPr>
        <p:txBody>
          <a:bodyPr wrap="none" rtlCol="0">
            <a:spAutoFit/>
          </a:bodyPr>
          <a:lstStyle/>
          <a:p>
            <a:r>
              <a:rPr lang="en-US" sz="1600" dirty="0" smtClean="0"/>
              <a:t>Thermal Capacity (J)</a:t>
            </a:r>
            <a:endParaRPr lang="en-US" sz="1600" dirty="0"/>
          </a:p>
        </p:txBody>
      </p:sp>
      <p:sp>
        <p:nvSpPr>
          <p:cNvPr id="14" name="TextBox 13"/>
          <p:cNvSpPr txBox="1"/>
          <p:nvPr/>
        </p:nvSpPr>
        <p:spPr>
          <a:xfrm>
            <a:off x="2239615" y="6155650"/>
            <a:ext cx="2088733" cy="338554"/>
          </a:xfrm>
          <a:prstGeom prst="rect">
            <a:avLst/>
          </a:prstGeom>
          <a:noFill/>
        </p:spPr>
        <p:txBody>
          <a:bodyPr wrap="none" rtlCol="0">
            <a:spAutoFit/>
          </a:bodyPr>
          <a:lstStyle/>
          <a:p>
            <a:r>
              <a:rPr lang="en-US" sz="1600" dirty="0" smtClean="0"/>
              <a:t>Thermal Capacity (J)</a:t>
            </a:r>
            <a:endParaRPr lang="en-US" sz="1600" dirty="0"/>
          </a:p>
        </p:txBody>
      </p:sp>
      <p:sp>
        <p:nvSpPr>
          <p:cNvPr id="15" name="Content Placeholder 2"/>
          <p:cNvSpPr>
            <a:spLocks noGrp="1"/>
          </p:cNvSpPr>
          <p:nvPr>
            <p:ph idx="1"/>
          </p:nvPr>
        </p:nvSpPr>
        <p:spPr>
          <a:xfrm>
            <a:off x="5039839" y="1230474"/>
            <a:ext cx="4064882" cy="1771518"/>
          </a:xfrm>
        </p:spPr>
        <p:txBody>
          <a:bodyPr/>
          <a:lstStyle/>
          <a:p>
            <a:pPr algn="ctr">
              <a:buNone/>
            </a:pPr>
            <a:r>
              <a:rPr lang="en-US" b="1" dirty="0" smtClean="0">
                <a:solidFill>
                  <a:srgbClr val="005EA7"/>
                </a:solidFill>
              </a:rPr>
              <a:t>Speedup sensitive to amount of computation within sprint</a:t>
            </a:r>
            <a:endParaRPr lang="en-US" b="1" dirty="0"/>
          </a:p>
        </p:txBody>
      </p:sp>
      <p:sp>
        <p:nvSpPr>
          <p:cNvPr id="17" name="Content Placeholder 2"/>
          <p:cNvSpPr txBox="1">
            <a:spLocks/>
          </p:cNvSpPr>
          <p:nvPr/>
        </p:nvSpPr>
        <p:spPr bwMode="auto">
          <a:xfrm>
            <a:off x="5039839" y="2773805"/>
            <a:ext cx="4064882" cy="177151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227013" marR="0" lvl="0" indent="-227013" algn="ctr" defTabSz="914400" rtl="0" eaLnBrk="1" fontAlgn="base" latinLnBrk="0" hangingPunct="1">
              <a:lnSpc>
                <a:spcPct val="100000"/>
              </a:lnSpc>
              <a:spcBef>
                <a:spcPct val="20000"/>
              </a:spcBef>
              <a:spcAft>
                <a:spcPct val="0"/>
              </a:spcAft>
              <a:buClrTx/>
              <a:buSzPct val="100000"/>
              <a:buFont typeface="Arial" charset="0"/>
              <a:buNone/>
              <a:tabLst/>
              <a:defRPr/>
            </a:pPr>
            <a:r>
              <a:rPr kumimoji="0" lang="en-US" sz="2800" b="1" i="0" u="none" strike="noStrike" kern="0" cap="none" spc="0" normalizeH="0" baseline="0" noProof="0" dirty="0" smtClean="0">
                <a:ln>
                  <a:noFill/>
                </a:ln>
                <a:solidFill>
                  <a:srgbClr val="005EA7"/>
                </a:solidFill>
                <a:effectLst/>
                <a:uLnTx/>
                <a:uFillTx/>
                <a:latin typeface="Calibri"/>
                <a:ea typeface="+mn-ea"/>
                <a:cs typeface="Calibri"/>
              </a:rPr>
              <a:t>Longer sprints enable greater energy saving</a:t>
            </a:r>
          </a:p>
          <a:p>
            <a:pPr marL="1144588" marR="0" lvl="2" indent="-227013"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400" b="1" i="0" u="none" strike="noStrike" kern="0" cap="none" spc="0" normalizeH="0" baseline="0" noProof="0" dirty="0">
              <a:ln>
                <a:noFill/>
              </a:ln>
              <a:solidFill>
                <a:schemeClr val="tx1"/>
              </a:solidFill>
              <a:effectLst/>
              <a:uLnTx/>
              <a:uFillTx/>
              <a:latin typeface="Calibri"/>
              <a:cs typeface="Calibri"/>
            </a:endParaRPr>
          </a:p>
        </p:txBody>
      </p:sp>
      <p:sp>
        <p:nvSpPr>
          <p:cNvPr id="18" name="Content Placeholder 2"/>
          <p:cNvSpPr txBox="1">
            <a:spLocks/>
          </p:cNvSpPr>
          <p:nvPr/>
        </p:nvSpPr>
        <p:spPr bwMode="auto">
          <a:xfrm>
            <a:off x="997991" y="3542539"/>
            <a:ext cx="4064882" cy="177151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227013" marR="0" lvl="0" indent="-227013" algn="ctr" defTabSz="914400" rtl="0" eaLnBrk="1" fontAlgn="base" latinLnBrk="0" hangingPunct="1">
              <a:lnSpc>
                <a:spcPct val="100000"/>
              </a:lnSpc>
              <a:spcBef>
                <a:spcPct val="20000"/>
              </a:spcBef>
              <a:spcAft>
                <a:spcPct val="0"/>
              </a:spcAft>
              <a:buClrTx/>
              <a:buSzPct val="100000"/>
              <a:buFont typeface="Arial" charset="0"/>
              <a:buNone/>
              <a:tabLst/>
              <a:defRPr/>
            </a:pPr>
            <a:r>
              <a:rPr lang="en-US" sz="2800" b="1" kern="0" dirty="0" smtClean="0">
                <a:solidFill>
                  <a:srgbClr val="005EA7"/>
                </a:solidFill>
                <a:latin typeface="Calibri"/>
                <a:cs typeface="Calibri"/>
              </a:rPr>
              <a:t>Energy</a:t>
            </a:r>
            <a:r>
              <a:rPr kumimoji="0" lang="en-US" sz="2800" b="1" i="0" u="none" strike="noStrike" kern="0" cap="none" spc="0" normalizeH="0" noProof="0" dirty="0" smtClean="0">
                <a:ln>
                  <a:noFill/>
                </a:ln>
                <a:solidFill>
                  <a:srgbClr val="005EA7"/>
                </a:solidFill>
                <a:effectLst/>
                <a:uLnTx/>
                <a:uFillTx/>
                <a:latin typeface="Calibri"/>
                <a:ea typeface="+mn-ea"/>
                <a:cs typeface="Calibri"/>
              </a:rPr>
              <a:t> </a:t>
            </a:r>
            <a:r>
              <a:rPr kumimoji="0" lang="en-US" sz="2800" b="1" i="0" u="none" strike="noStrike" kern="0" cap="none" spc="0" normalizeH="0" baseline="0" noProof="0" dirty="0" smtClean="0">
                <a:ln>
                  <a:noFill/>
                </a:ln>
                <a:solidFill>
                  <a:srgbClr val="005EA7"/>
                </a:solidFill>
                <a:effectLst/>
                <a:uLnTx/>
                <a:uFillTx/>
                <a:latin typeface="Calibri"/>
                <a:ea typeface="+mn-ea"/>
                <a:cs typeface="Calibri"/>
              </a:rPr>
              <a:t>overhead from</a:t>
            </a:r>
            <a:br>
              <a:rPr kumimoji="0" lang="en-US" sz="2800" b="1" i="0" u="none" strike="noStrike" kern="0" cap="none" spc="0" normalizeH="0" baseline="0" noProof="0" dirty="0" smtClean="0">
                <a:ln>
                  <a:noFill/>
                </a:ln>
                <a:solidFill>
                  <a:srgbClr val="005EA7"/>
                </a:solidFill>
                <a:effectLst/>
                <a:uLnTx/>
                <a:uFillTx/>
                <a:latin typeface="Calibri"/>
                <a:ea typeface="+mn-ea"/>
                <a:cs typeface="Calibri"/>
              </a:rPr>
            </a:br>
            <a:r>
              <a:rPr kumimoji="0" lang="en-US" sz="2800" b="1" i="0" u="none" strike="noStrike" kern="0" cap="none" spc="0" normalizeH="0" baseline="0" noProof="0" dirty="0" smtClean="0">
                <a:ln>
                  <a:noFill/>
                </a:ln>
                <a:solidFill>
                  <a:srgbClr val="005EA7"/>
                </a:solidFill>
                <a:effectLst/>
                <a:uLnTx/>
                <a:uFillTx/>
                <a:latin typeface="Calibri"/>
                <a:ea typeface="+mn-ea"/>
                <a:cs typeface="Calibri"/>
              </a:rPr>
              <a:t>extremely</a:t>
            </a:r>
            <a:r>
              <a:rPr kumimoji="0" lang="en-US" sz="2800" b="1" i="0" u="none" strike="noStrike" kern="0" cap="none" spc="0" normalizeH="0" noProof="0" dirty="0" smtClean="0">
                <a:ln>
                  <a:noFill/>
                </a:ln>
                <a:solidFill>
                  <a:srgbClr val="005EA7"/>
                </a:solidFill>
                <a:effectLst/>
                <a:uLnTx/>
                <a:uFillTx/>
                <a:latin typeface="Calibri"/>
                <a:ea typeface="+mn-ea"/>
                <a:cs typeface="Calibri"/>
              </a:rPr>
              <a:t> short sprints</a:t>
            </a:r>
            <a:endParaRPr kumimoji="0" lang="en-US" sz="2800" b="1" i="0" u="none" strike="noStrike" kern="0" cap="none" spc="0" normalizeH="0" baseline="0" noProof="0" dirty="0" smtClean="0">
              <a:ln>
                <a:noFill/>
              </a:ln>
              <a:solidFill>
                <a:srgbClr val="005EA7"/>
              </a:solidFill>
              <a:effectLst/>
              <a:uLnTx/>
              <a:uFillTx/>
              <a:latin typeface="Calibri"/>
              <a:ea typeface="+mn-ea"/>
              <a:cs typeface="Calibri"/>
            </a:endParaRPr>
          </a:p>
        </p:txBody>
      </p:sp>
      <p:sp>
        <p:nvSpPr>
          <p:cNvPr id="19" name="Oval 18"/>
          <p:cNvSpPr/>
          <p:nvPr/>
        </p:nvSpPr>
        <p:spPr bwMode="auto">
          <a:xfrm>
            <a:off x="907187" y="4685982"/>
            <a:ext cx="1115232" cy="235201"/>
          </a:xfrm>
          <a:prstGeom prst="ellipse">
            <a:avLst/>
          </a:prstGeom>
          <a:solidFill>
            <a:srgbClr val="FF0000">
              <a:alpha val="25000"/>
            </a:srgbClr>
          </a:solidFill>
          <a:ln w="38100" cap="flat" cmpd="sng" algn="ctr">
            <a:solidFill>
              <a:srgbClr val="FF000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20" name="Oval 19"/>
          <p:cNvSpPr/>
          <p:nvPr/>
        </p:nvSpPr>
        <p:spPr bwMode="auto">
          <a:xfrm>
            <a:off x="3281010" y="4874143"/>
            <a:ext cx="1047337" cy="640518"/>
          </a:xfrm>
          <a:prstGeom prst="ellipse">
            <a:avLst/>
          </a:prstGeom>
          <a:solidFill>
            <a:srgbClr val="FF0000">
              <a:alpha val="25000"/>
            </a:srgbClr>
          </a:solidFill>
          <a:ln w="38100" cap="flat" cmpd="sng" algn="ctr">
            <a:solidFill>
              <a:srgbClr val="FF000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22" name="Content Placeholder 2"/>
          <p:cNvSpPr txBox="1">
            <a:spLocks/>
          </p:cNvSpPr>
          <p:nvPr/>
        </p:nvSpPr>
        <p:spPr bwMode="auto">
          <a:xfrm>
            <a:off x="4894668" y="5514661"/>
            <a:ext cx="4373425" cy="10216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227013" lvl="0" indent="-227013" algn="ctr" defTabSz="914400" fontAlgn="base">
              <a:spcBef>
                <a:spcPct val="20000"/>
              </a:spcBef>
              <a:spcAft>
                <a:spcPct val="0"/>
              </a:spcAft>
              <a:buSzPct val="100000"/>
              <a:defRPr/>
            </a:pPr>
            <a:r>
              <a:rPr lang="en-US" sz="2800" b="1" kern="0" dirty="0" smtClean="0">
                <a:solidFill>
                  <a:srgbClr val="005EA7"/>
                </a:solidFill>
                <a:latin typeface="Calibri"/>
                <a:cs typeface="Calibri"/>
              </a:rPr>
              <a:t>Work in progress: </a:t>
            </a:r>
            <a:br>
              <a:rPr lang="en-US" sz="2800" b="1" kern="0" dirty="0" smtClean="0">
                <a:solidFill>
                  <a:srgbClr val="005EA7"/>
                </a:solidFill>
                <a:latin typeface="Calibri"/>
                <a:cs typeface="Calibri"/>
              </a:rPr>
            </a:br>
            <a:r>
              <a:rPr lang="en-US" sz="2800" b="1" kern="0" dirty="0" smtClean="0">
                <a:solidFill>
                  <a:srgbClr val="005EA7"/>
                </a:solidFill>
                <a:latin typeface="Calibri"/>
                <a:cs typeface="Calibri"/>
              </a:rPr>
              <a:t>constrain cooling system</a:t>
            </a:r>
            <a:endParaRPr kumimoji="0" lang="en-US" sz="2800" b="1" i="0" u="none" strike="noStrike" kern="0" cap="none" spc="0" normalizeH="0" baseline="0" noProof="0" dirty="0" smtClean="0">
              <a:ln>
                <a:noFill/>
              </a:ln>
              <a:solidFill>
                <a:srgbClr val="005EA7"/>
              </a:solidFill>
              <a:effectLst/>
              <a:uLnTx/>
              <a:uFillTx/>
              <a:latin typeface="Calibri"/>
              <a:ea typeface="+mn-ea"/>
              <a:cs typeface="Calibri"/>
            </a:endParaRPr>
          </a:p>
          <a:p>
            <a:pPr marL="1144588" marR="0" lvl="2" indent="-227013"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400" b="1" i="0" u="none" strike="noStrike" kern="0" cap="none" spc="0" normalizeH="0" baseline="0" noProof="0" dirty="0">
              <a:ln>
                <a:noFill/>
              </a:ln>
              <a:solidFill>
                <a:schemeClr val="tx1"/>
              </a:solidFill>
              <a:effectLst/>
              <a:uLnTx/>
              <a:uFillTx/>
              <a:latin typeface="Calibri"/>
              <a:cs typeface="Calibri"/>
            </a:endParaRPr>
          </a:p>
        </p:txBody>
      </p:sp>
      <p:sp>
        <p:nvSpPr>
          <p:cNvPr id="21" name="Content Placeholder 2"/>
          <p:cNvSpPr txBox="1">
            <a:spLocks/>
          </p:cNvSpPr>
          <p:nvPr/>
        </p:nvSpPr>
        <p:spPr bwMode="auto">
          <a:xfrm>
            <a:off x="4746222" y="3935155"/>
            <a:ext cx="4373425" cy="153385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227013" lvl="0" indent="-227013" algn="ctr" defTabSz="914400" fontAlgn="base">
              <a:spcBef>
                <a:spcPct val="20000"/>
              </a:spcBef>
              <a:spcAft>
                <a:spcPct val="0"/>
              </a:spcAft>
              <a:buSzPct val="100000"/>
              <a:defRPr/>
            </a:pPr>
            <a:r>
              <a:rPr lang="en-US" sz="1600" b="1" kern="0" dirty="0" smtClean="0">
                <a:solidFill>
                  <a:srgbClr val="005EA7"/>
                </a:solidFill>
                <a:latin typeface="Calibri"/>
                <a:cs typeface="Calibri"/>
              </a:rPr>
              <a:t>	</a:t>
            </a:r>
            <a:r>
              <a:rPr kumimoji="0" lang="en-US" sz="2800" b="1" i="0" u="none" strike="noStrike" kern="0" cap="none" spc="0" normalizeH="0" baseline="0" noProof="0" dirty="0" smtClean="0">
                <a:ln>
                  <a:noFill/>
                </a:ln>
                <a:solidFill>
                  <a:srgbClr val="005EA7"/>
                </a:solidFill>
                <a:effectLst/>
                <a:uLnTx/>
                <a:uFillTx/>
                <a:latin typeface="Calibri"/>
                <a:ea typeface="+mn-ea"/>
                <a:cs typeface="Calibri"/>
              </a:rPr>
              <a:t>Caveat:</a:t>
            </a:r>
            <a:r>
              <a:rPr kumimoji="0" lang="en-US" sz="2800" b="1" i="0" u="none" strike="noStrike" kern="0" cap="none" spc="0" normalizeH="0" noProof="0" dirty="0" smtClean="0">
                <a:ln>
                  <a:noFill/>
                </a:ln>
                <a:solidFill>
                  <a:srgbClr val="005EA7"/>
                </a:solidFill>
                <a:effectLst/>
                <a:uLnTx/>
                <a:uFillTx/>
                <a:latin typeface="Calibri"/>
                <a:ea typeface="+mn-ea"/>
                <a:cs typeface="Calibri"/>
              </a:rPr>
              <a:t> mobile system </a:t>
            </a:r>
            <a:r>
              <a:rPr lang="en-US" sz="2800" b="1" kern="0" dirty="0" smtClean="0">
                <a:solidFill>
                  <a:srgbClr val="005EA7"/>
                </a:solidFill>
                <a:latin typeface="Calibri"/>
                <a:cs typeface="Calibri"/>
              </a:rPr>
              <a:t>background power characteristics likely differ</a:t>
            </a:r>
            <a:r>
              <a:rPr kumimoji="0" lang="en-US" sz="2800" b="1" i="0" u="none" strike="noStrike" kern="0" cap="none" spc="0" normalizeH="0" noProof="0" dirty="0" smtClean="0">
                <a:ln>
                  <a:noFill/>
                </a:ln>
                <a:solidFill>
                  <a:srgbClr val="005EA7"/>
                </a:solidFill>
                <a:effectLst/>
                <a:uLnTx/>
                <a:uFillTx/>
                <a:latin typeface="Calibri"/>
                <a:ea typeface="+mn-ea"/>
                <a:cs typeface="Calibri"/>
              </a:rPr>
              <a:t> </a:t>
            </a:r>
            <a:endParaRPr kumimoji="0" lang="en-US" sz="2800" b="1" i="0" u="none" strike="noStrike" kern="0" cap="none" spc="0" normalizeH="0" baseline="0" noProof="0" dirty="0" smtClean="0">
              <a:ln>
                <a:noFill/>
              </a:ln>
              <a:solidFill>
                <a:srgbClr val="005EA7"/>
              </a:solidFill>
              <a:effectLst/>
              <a:uLnTx/>
              <a:uFillTx/>
              <a:latin typeface="Calibri"/>
              <a:ea typeface="+mn-ea"/>
              <a:cs typeface="Calibri"/>
            </a:endParaRPr>
          </a:p>
          <a:p>
            <a:pPr marL="1144588" marR="0" lvl="2" indent="-227013"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400" b="1" i="0" u="none" strike="noStrike" kern="0" cap="none" spc="0" normalizeH="0" baseline="0" noProof="0" dirty="0">
              <a:ln>
                <a:noFill/>
              </a:ln>
              <a:solidFill>
                <a:schemeClr val="tx1"/>
              </a:solidFill>
              <a:effectLst/>
              <a:uLnTx/>
              <a:uFillTx/>
              <a:latin typeface="Calibri"/>
              <a:cs typeface="Calibri"/>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chart seriesIdx="0" categoryIdx="-4" bldStep="series"/>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graphicEl>
                                              <a:chart seriesIdx="-3" categoryIdx="-3" bldStep="gridLegend"/>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graphicEl>
                                              <a:chart seriesIdx="0" categoryIdx="-4" bldStep="series"/>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Graphic spid="6" grpId="0">
        <p:bldSub>
          <a:bldChart bld="series"/>
        </p:bldSub>
      </p:bldGraphic>
      <p:bldGraphic spid="8" grpId="0">
        <p:bldSub>
          <a:bldChart bld="series"/>
        </p:bldSub>
      </p:bldGraphic>
      <p:bldP spid="9" grpId="0"/>
      <p:bldP spid="14" grpId="0"/>
      <p:bldP spid="15" grpId="0" build="p"/>
      <p:bldP spid="17" grpId="0"/>
      <p:bldP spid="18" grpId="0"/>
      <p:bldP spid="19" grpId="0" animBg="1"/>
      <p:bldP spid="20" grpId="0" animBg="1"/>
      <p:bldP spid="22" grpId="0"/>
      <p:bldP spid="21" grpId="0"/>
    </p:bld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Conclusions</a:t>
            </a:r>
            <a:endParaRPr lang="en-US" dirty="0"/>
          </a:p>
        </p:txBody>
      </p:sp>
      <p:sp>
        <p:nvSpPr>
          <p:cNvPr id="3" name="Content Placeholder 2"/>
          <p:cNvSpPr>
            <a:spLocks noGrp="1"/>
          </p:cNvSpPr>
          <p:nvPr>
            <p:ph idx="1"/>
          </p:nvPr>
        </p:nvSpPr>
        <p:spPr>
          <a:xfrm>
            <a:off x="457200" y="990600"/>
            <a:ext cx="8686800" cy="5257800"/>
          </a:xfrm>
        </p:spPr>
        <p:txBody>
          <a:bodyPr/>
          <a:lstStyle/>
          <a:p>
            <a:r>
              <a:rPr lang="en-US" b="1" dirty="0" smtClean="0">
                <a:solidFill>
                  <a:schemeClr val="accent6"/>
                </a:solidFill>
              </a:rPr>
              <a:t>Computational Sprinting</a:t>
            </a:r>
          </a:p>
          <a:p>
            <a:pPr lvl="1"/>
            <a:r>
              <a:rPr lang="en-US" dirty="0" smtClean="0"/>
              <a:t>Targets responsiveness by far exceeding sustainable operation</a:t>
            </a:r>
          </a:p>
          <a:p>
            <a:pPr lvl="1">
              <a:spcAft>
                <a:spcPts val="1200"/>
              </a:spcAft>
            </a:pPr>
            <a:r>
              <a:rPr lang="en-US" dirty="0" smtClean="0"/>
              <a:t>Exploit phase change material as thermal buffer</a:t>
            </a:r>
          </a:p>
          <a:p>
            <a:r>
              <a:rPr lang="en-US" b="1" dirty="0" smtClean="0">
                <a:solidFill>
                  <a:srgbClr val="005EA7"/>
                </a:solidFill>
              </a:rPr>
              <a:t>Explored feasibility of sprinting</a:t>
            </a:r>
          </a:p>
          <a:p>
            <a:pPr lvl="1">
              <a:spcAft>
                <a:spcPts val="1200"/>
              </a:spcAft>
            </a:pPr>
            <a:r>
              <a:rPr lang="en-US" dirty="0" smtClean="0"/>
              <a:t>Promising avenues for managing electrical, thermal and architectural barriers to sprinting</a:t>
            </a:r>
          </a:p>
          <a:p>
            <a:r>
              <a:rPr lang="en-US" b="1" dirty="0" smtClean="0">
                <a:solidFill>
                  <a:srgbClr val="005EA7"/>
                </a:solidFill>
              </a:rPr>
              <a:t>Order-of-magnitude improvements in responsiveness</a:t>
            </a:r>
          </a:p>
          <a:p>
            <a:pPr lvl="1">
              <a:spcAft>
                <a:spcPts val="1200"/>
              </a:spcAft>
            </a:pPr>
            <a:r>
              <a:rPr lang="en-US" dirty="0" smtClean="0"/>
              <a:t>Within the constraints of a 1W device</a:t>
            </a:r>
          </a:p>
          <a:p>
            <a:r>
              <a:rPr lang="en-US" b="1" dirty="0" smtClean="0">
                <a:solidFill>
                  <a:srgbClr val="005EA7"/>
                </a:solidFill>
              </a:rPr>
              <a:t>Opportunity to rethink the stack around responsiveness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41</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DA0CC57-CE7D-8143-BD13-67094D272EE6}" type="slidenum">
              <a:rPr lang="en-US" smtClean="0"/>
              <a:pPr/>
              <a:t>42</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pic>
        <p:nvPicPr>
          <p:cNvPr id="6" name="Picture 5"/>
          <p:cNvPicPr>
            <a:picLocks noChangeAspect="1"/>
          </p:cNvPicPr>
          <p:nvPr/>
        </p:nvPicPr>
        <p:blipFill>
          <a:blip r:embed="rId2"/>
          <a:stretch>
            <a:fillRect/>
          </a:stretch>
        </p:blipFill>
        <p:spPr>
          <a:xfrm>
            <a:off x="1716290" y="1938440"/>
            <a:ext cx="4952697" cy="2981120"/>
          </a:xfrm>
          <a:prstGeom prst="rect">
            <a:avLst/>
          </a:prstGeom>
        </p:spPr>
      </p:pic>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Backup</a:t>
            </a:r>
            <a:endParaRPr lang="en-US" dirty="0"/>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A0CC57-CE7D-8143-BD13-67094D272EE6}" type="slidenum">
              <a:rPr lang="en-US" smtClean="0"/>
              <a:pPr/>
              <a:t>43</a:t>
            </a:fld>
            <a:endParaRPr lang="en-US"/>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Thermal Design Considerations</a:t>
            </a:r>
            <a:endParaRPr lang="en-US" dirty="0"/>
          </a:p>
        </p:txBody>
      </p:sp>
      <p:sp>
        <p:nvSpPr>
          <p:cNvPr id="75" name="Content Placeholder 2"/>
          <p:cNvSpPr>
            <a:spLocks noGrp="1"/>
          </p:cNvSpPr>
          <p:nvPr>
            <p:ph idx="1"/>
          </p:nvPr>
        </p:nvSpPr>
        <p:spPr>
          <a:xfrm>
            <a:off x="457200" y="4944490"/>
            <a:ext cx="8229600" cy="775580"/>
          </a:xfrm>
        </p:spPr>
        <p:txBody>
          <a:bodyPr wrap="square">
            <a:normAutofit fontScale="25000" lnSpcReduction="20000"/>
          </a:bodyPr>
          <a:lstStyle/>
          <a:p>
            <a:pPr marL="227013" lvl="1" indent="-227013">
              <a:spcBef>
                <a:spcPts val="576"/>
              </a:spcBef>
              <a:buSzPct val="100000"/>
            </a:pPr>
            <a:r>
              <a:rPr lang="en-US" sz="9600" dirty="0" smtClean="0"/>
              <a:t>150mg of PCM close to die allows for sprints ~1s</a:t>
            </a:r>
          </a:p>
          <a:p>
            <a:pPr marL="227013" lvl="1" indent="-227013">
              <a:spcBef>
                <a:spcPts val="576"/>
              </a:spcBef>
              <a:buSzPct val="100000"/>
            </a:pPr>
            <a:r>
              <a:rPr lang="en-US" sz="9600" dirty="0" smtClean="0"/>
              <a:t>16x wait time between sprints</a:t>
            </a:r>
          </a:p>
          <a:p>
            <a:pPr marL="227013" lvl="1">
              <a:spcBef>
                <a:spcPts val="576"/>
              </a:spcBef>
              <a:buSzPct val="100000"/>
              <a:buNone/>
            </a:pPr>
            <a:r>
              <a:rPr lang="en-US" sz="4364" dirty="0" smtClean="0"/>
              <a:t>Model based on [</a:t>
            </a:r>
            <a:r>
              <a:rPr lang="en-US" sz="4364" dirty="0" err="1" smtClean="0"/>
              <a:t>Luoa</a:t>
            </a:r>
            <a:r>
              <a:rPr lang="en-US" sz="4364" dirty="0" smtClean="0"/>
              <a:t>+ </a:t>
            </a:r>
            <a:r>
              <a:rPr lang="en-US" sz="4364" dirty="0" err="1" smtClean="0"/>
              <a:t>Appll</a:t>
            </a:r>
            <a:r>
              <a:rPr lang="en-US" sz="4364" dirty="0" smtClean="0"/>
              <a:t>. Thermal Eng’08] </a:t>
            </a:r>
          </a:p>
          <a:p>
            <a:pPr marL="227013" lvl="1">
              <a:spcBef>
                <a:spcPts val="576"/>
              </a:spcBef>
              <a:buSzPct val="100000"/>
              <a:buNone/>
            </a:pPr>
            <a:r>
              <a:rPr lang="en-US" sz="4364" dirty="0" smtClean="0"/>
              <a:t>PCM parameters based on [</a:t>
            </a:r>
            <a:r>
              <a:rPr lang="en-US" sz="4364" dirty="0" err="1" smtClean="0"/>
              <a:t>Alawadhi</a:t>
            </a:r>
            <a:r>
              <a:rPr lang="en-US" sz="4364" dirty="0" smtClean="0"/>
              <a:t>+ IEEE Trans. Comp. Pack.’03, Chiu+ ISAPM’00,Wirtz+ SEMITHERM’99]</a:t>
            </a:r>
          </a:p>
          <a:p>
            <a:pPr>
              <a:spcBef>
                <a:spcPts val="576"/>
              </a:spcBef>
            </a:pPr>
            <a:endParaRPr lang="en-US" dirty="0" smtClean="0"/>
          </a:p>
        </p:txBody>
      </p:sp>
      <p:sp>
        <p:nvSpPr>
          <p:cNvPr id="4" name="Slide Number Placeholder 3"/>
          <p:cNvSpPr>
            <a:spLocks noGrp="1"/>
          </p:cNvSpPr>
          <p:nvPr>
            <p:ph type="sldNum" sz="quarter" idx="10"/>
          </p:nvPr>
        </p:nvSpPr>
        <p:spPr/>
        <p:txBody>
          <a:bodyPr/>
          <a:lstStyle/>
          <a:p>
            <a:fld id="{FDA0CC57-CE7D-8143-BD13-67094D272EE6}" type="slidenum">
              <a:rPr lang="en-US" smtClean="0"/>
              <a:pPr/>
              <a:t>44</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sp>
        <p:nvSpPr>
          <p:cNvPr id="54" name="Rectangle 53"/>
          <p:cNvSpPr/>
          <p:nvPr/>
        </p:nvSpPr>
        <p:spPr bwMode="auto">
          <a:xfrm>
            <a:off x="739781" y="1057964"/>
            <a:ext cx="2465936" cy="3000253"/>
          </a:xfrm>
          <a:prstGeom prst="rec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sp>
        <p:nvSpPr>
          <p:cNvPr id="55" name="Rectangle 54"/>
          <p:cNvSpPr/>
          <p:nvPr/>
        </p:nvSpPr>
        <p:spPr bwMode="auto">
          <a:xfrm>
            <a:off x="739781" y="1589651"/>
            <a:ext cx="2465936" cy="443844"/>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sp>
        <p:nvSpPr>
          <p:cNvPr id="56" name="Rectangle 55"/>
          <p:cNvSpPr/>
          <p:nvPr/>
        </p:nvSpPr>
        <p:spPr bwMode="auto">
          <a:xfrm>
            <a:off x="739781" y="3549960"/>
            <a:ext cx="2465936" cy="508257"/>
          </a:xfrm>
          <a:prstGeom prst="rec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sp>
        <p:nvSpPr>
          <p:cNvPr id="57" name="Rectangle 56"/>
          <p:cNvSpPr/>
          <p:nvPr/>
        </p:nvSpPr>
        <p:spPr bwMode="auto">
          <a:xfrm>
            <a:off x="977397" y="2033495"/>
            <a:ext cx="1990704" cy="1158925"/>
          </a:xfrm>
          <a:prstGeom prst="rec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cxnSp>
        <p:nvCxnSpPr>
          <p:cNvPr id="58" name="Straight Connector 57"/>
          <p:cNvCxnSpPr/>
          <p:nvPr/>
        </p:nvCxnSpPr>
        <p:spPr bwMode="auto">
          <a:xfrm>
            <a:off x="977394" y="3463656"/>
            <a:ext cx="1990707" cy="1"/>
          </a:xfrm>
          <a:prstGeom prst="line">
            <a:avLst/>
          </a:prstGeom>
          <a:noFill/>
          <a:ln w="98425" cap="flat" cmpd="sng" algn="ctr">
            <a:solidFill>
              <a:srgbClr val="000000"/>
            </a:solidFill>
            <a:prstDash val="solid"/>
            <a:round/>
            <a:headEnd type="none" w="med" len="med"/>
            <a:tailEnd type="none" w="med" len="med"/>
          </a:ln>
          <a:effectLst/>
        </p:spPr>
      </p:cxnSp>
      <p:sp>
        <p:nvSpPr>
          <p:cNvPr id="59" name="Rectangle 58"/>
          <p:cNvSpPr/>
          <p:nvPr/>
        </p:nvSpPr>
        <p:spPr bwMode="auto">
          <a:xfrm>
            <a:off x="1522716" y="2354049"/>
            <a:ext cx="900066" cy="626010"/>
          </a:xfrm>
          <a:prstGeom prst="rect">
            <a:avLst/>
          </a:prstGeom>
          <a:solidFill>
            <a:schemeClr val="tx1">
              <a:lumMod val="65000"/>
              <a:lumOff val="35000"/>
            </a:scheme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accent3"/>
                </a:solidFill>
                <a:effectLst/>
                <a:latin typeface="Arial" charset="0"/>
                <a:ea typeface="ＭＳ Ｐゴシック" pitchFamily="32" charset="-128"/>
              </a:rPr>
              <a:t>Die</a:t>
            </a:r>
          </a:p>
        </p:txBody>
      </p:sp>
      <p:sp>
        <p:nvSpPr>
          <p:cNvPr id="60" name="Oval 59"/>
          <p:cNvSpPr/>
          <p:nvPr/>
        </p:nvSpPr>
        <p:spPr bwMode="auto">
          <a:xfrm>
            <a:off x="1498057" y="2988992"/>
            <a:ext cx="187215" cy="191100"/>
          </a:xfrm>
          <a:prstGeom prst="ellipse">
            <a:avLst/>
          </a:prstGeom>
          <a:no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1" name="Oval 60"/>
          <p:cNvSpPr/>
          <p:nvPr/>
        </p:nvSpPr>
        <p:spPr bwMode="auto">
          <a:xfrm>
            <a:off x="1753207" y="2988992"/>
            <a:ext cx="187215" cy="191100"/>
          </a:xfrm>
          <a:prstGeom prst="ellipse">
            <a:avLst/>
          </a:prstGeom>
          <a:no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2" name="Oval 61"/>
          <p:cNvSpPr/>
          <p:nvPr/>
        </p:nvSpPr>
        <p:spPr bwMode="auto">
          <a:xfrm>
            <a:off x="2008357" y="2988992"/>
            <a:ext cx="187215" cy="191100"/>
          </a:xfrm>
          <a:prstGeom prst="ellipse">
            <a:avLst/>
          </a:prstGeom>
          <a:no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3" name="Oval 62"/>
          <p:cNvSpPr/>
          <p:nvPr/>
        </p:nvSpPr>
        <p:spPr bwMode="auto">
          <a:xfrm>
            <a:off x="2263507" y="2988992"/>
            <a:ext cx="187215" cy="191100"/>
          </a:xfrm>
          <a:prstGeom prst="ellipse">
            <a:avLst/>
          </a:prstGeom>
          <a:no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4" name="Oval 63"/>
          <p:cNvSpPr>
            <a:spLocks noChangeAspect="1"/>
          </p:cNvSpPr>
          <p:nvPr/>
        </p:nvSpPr>
        <p:spPr bwMode="auto">
          <a:xfrm>
            <a:off x="1228981" y="3192421"/>
            <a:ext cx="252563" cy="248327"/>
          </a:xfrm>
          <a:prstGeom prst="ellipse">
            <a:avLst/>
          </a:prstGeom>
          <a:no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5" name="Oval 64"/>
          <p:cNvSpPr>
            <a:spLocks noChangeAspect="1"/>
          </p:cNvSpPr>
          <p:nvPr/>
        </p:nvSpPr>
        <p:spPr bwMode="auto">
          <a:xfrm>
            <a:off x="2508958" y="3192421"/>
            <a:ext cx="252563" cy="248327"/>
          </a:xfrm>
          <a:prstGeom prst="ellipse">
            <a:avLst/>
          </a:prstGeom>
          <a:no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6" name="Oval 65"/>
          <p:cNvSpPr>
            <a:spLocks noChangeAspect="1"/>
          </p:cNvSpPr>
          <p:nvPr/>
        </p:nvSpPr>
        <p:spPr bwMode="auto">
          <a:xfrm>
            <a:off x="1868969" y="3192421"/>
            <a:ext cx="252563" cy="248327"/>
          </a:xfrm>
          <a:prstGeom prst="ellipse">
            <a:avLst/>
          </a:prstGeom>
          <a:no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67" name="TextBox 66"/>
          <p:cNvSpPr txBox="1"/>
          <p:nvPr/>
        </p:nvSpPr>
        <p:spPr>
          <a:xfrm>
            <a:off x="799178" y="3614911"/>
            <a:ext cx="903162" cy="461665"/>
          </a:xfrm>
          <a:prstGeom prst="rect">
            <a:avLst/>
          </a:prstGeom>
          <a:noFill/>
        </p:spPr>
        <p:txBody>
          <a:bodyPr wrap="none" rtlCol="0">
            <a:spAutoFit/>
          </a:bodyPr>
          <a:lstStyle/>
          <a:p>
            <a:r>
              <a:rPr lang="en-US" sz="2400" dirty="0" smtClean="0"/>
              <a:t>Case</a:t>
            </a:r>
            <a:endParaRPr lang="en-US" sz="2400" dirty="0"/>
          </a:p>
        </p:txBody>
      </p:sp>
      <p:sp>
        <p:nvSpPr>
          <p:cNvPr id="68" name="TextBox 67"/>
          <p:cNvSpPr txBox="1"/>
          <p:nvPr/>
        </p:nvSpPr>
        <p:spPr>
          <a:xfrm>
            <a:off x="799178" y="1057964"/>
            <a:ext cx="903162" cy="461665"/>
          </a:xfrm>
          <a:prstGeom prst="rect">
            <a:avLst/>
          </a:prstGeom>
          <a:noFill/>
        </p:spPr>
        <p:txBody>
          <a:bodyPr wrap="none" rtlCol="0">
            <a:spAutoFit/>
          </a:bodyPr>
          <a:lstStyle/>
          <a:p>
            <a:r>
              <a:rPr lang="en-US" sz="2400" dirty="0" smtClean="0"/>
              <a:t>Case</a:t>
            </a:r>
            <a:endParaRPr lang="en-US" sz="2400" dirty="0"/>
          </a:p>
        </p:txBody>
      </p:sp>
      <p:sp>
        <p:nvSpPr>
          <p:cNvPr id="69" name="TextBox 68"/>
          <p:cNvSpPr txBox="1"/>
          <p:nvPr/>
        </p:nvSpPr>
        <p:spPr>
          <a:xfrm>
            <a:off x="1753207" y="1057964"/>
            <a:ext cx="1382410" cy="461665"/>
          </a:xfrm>
          <a:prstGeom prst="rect">
            <a:avLst/>
          </a:prstGeom>
          <a:noFill/>
        </p:spPr>
        <p:txBody>
          <a:bodyPr wrap="none" rtlCol="0">
            <a:spAutoFit/>
          </a:bodyPr>
          <a:lstStyle/>
          <a:p>
            <a:r>
              <a:rPr lang="en-US" sz="2400" dirty="0" smtClean="0"/>
              <a:t>Package</a:t>
            </a:r>
            <a:endParaRPr lang="en-US" sz="2400" dirty="0"/>
          </a:p>
        </p:txBody>
      </p:sp>
      <p:sp>
        <p:nvSpPr>
          <p:cNvPr id="70" name="TextBox 69"/>
          <p:cNvSpPr txBox="1"/>
          <p:nvPr/>
        </p:nvSpPr>
        <p:spPr>
          <a:xfrm>
            <a:off x="2352770" y="3500644"/>
            <a:ext cx="817501" cy="461665"/>
          </a:xfrm>
          <a:prstGeom prst="rect">
            <a:avLst/>
          </a:prstGeom>
          <a:noFill/>
        </p:spPr>
        <p:txBody>
          <a:bodyPr wrap="none" rtlCol="0">
            <a:spAutoFit/>
          </a:bodyPr>
          <a:lstStyle/>
          <a:p>
            <a:r>
              <a:rPr lang="en-US" sz="2400" dirty="0" smtClean="0"/>
              <a:t>PCB</a:t>
            </a:r>
            <a:endParaRPr lang="en-US" sz="2400" dirty="0"/>
          </a:p>
        </p:txBody>
      </p:sp>
      <p:cxnSp>
        <p:nvCxnSpPr>
          <p:cNvPr id="71" name="Curved Connector 70"/>
          <p:cNvCxnSpPr/>
          <p:nvPr/>
        </p:nvCxnSpPr>
        <p:spPr bwMode="auto">
          <a:xfrm rot="5400000">
            <a:off x="1082560" y="2733320"/>
            <a:ext cx="554807" cy="338740"/>
          </a:xfrm>
          <a:prstGeom prst="curvedConnector3">
            <a:avLst>
              <a:gd name="adj1" fmla="val 50000"/>
            </a:avLst>
          </a:prstGeom>
          <a:noFill/>
          <a:ln w="12700" cap="flat" cmpd="sng" algn="ctr">
            <a:solidFill>
              <a:srgbClr val="000000"/>
            </a:solidFill>
            <a:prstDash val="solid"/>
            <a:round/>
            <a:headEnd type="none" w="med" len="med"/>
            <a:tailEnd type="none" w="med" len="med"/>
          </a:ln>
          <a:effectLst/>
        </p:spPr>
      </p:cxnSp>
      <p:cxnSp>
        <p:nvCxnSpPr>
          <p:cNvPr id="72" name="Curved Connector 71"/>
          <p:cNvCxnSpPr/>
          <p:nvPr/>
        </p:nvCxnSpPr>
        <p:spPr bwMode="auto">
          <a:xfrm rot="16200000" flipH="1">
            <a:off x="2307670" y="2733320"/>
            <a:ext cx="554807" cy="338740"/>
          </a:xfrm>
          <a:prstGeom prst="curvedConnector3">
            <a:avLst>
              <a:gd name="adj1" fmla="val 50000"/>
            </a:avLst>
          </a:prstGeom>
          <a:noFill/>
          <a:ln w="12700" cap="flat" cmpd="sng" algn="ctr">
            <a:solidFill>
              <a:srgbClr val="000000"/>
            </a:solidFill>
            <a:prstDash val="solid"/>
            <a:round/>
            <a:headEnd type="none" w="med" len="med"/>
            <a:tailEnd type="none" w="med" len="med"/>
          </a:ln>
          <a:effectLst/>
        </p:spPr>
      </p:cxnSp>
      <p:sp>
        <p:nvSpPr>
          <p:cNvPr id="73" name="Freeform 72"/>
          <p:cNvSpPr/>
          <p:nvPr/>
        </p:nvSpPr>
        <p:spPr bwMode="auto">
          <a:xfrm rot="6484944">
            <a:off x="2315499" y="1896925"/>
            <a:ext cx="1168423" cy="75874"/>
          </a:xfrm>
          <a:custGeom>
            <a:avLst/>
            <a:gdLst>
              <a:gd name="connsiteX0" fmla="*/ 0 w 1861782"/>
              <a:gd name="connsiteY0" fmla="*/ 0 h 271237"/>
              <a:gd name="connsiteX1" fmla="*/ 1861782 w 1861782"/>
              <a:gd name="connsiteY1" fmla="*/ 271237 h 271237"/>
              <a:gd name="connsiteX0" fmla="*/ 0 w 2080779"/>
              <a:gd name="connsiteY0" fmla="*/ 0 h 36987"/>
              <a:gd name="connsiteX1" fmla="*/ 2080779 w 2080779"/>
              <a:gd name="connsiteY1" fmla="*/ 36987 h 36987"/>
              <a:gd name="connsiteX0" fmla="*/ 0 w 2080779"/>
              <a:gd name="connsiteY0" fmla="*/ 517818 h 554805"/>
              <a:gd name="connsiteX1" fmla="*/ 2080779 w 2080779"/>
              <a:gd name="connsiteY1" fmla="*/ 554805 h 554805"/>
              <a:gd name="connsiteX0" fmla="*/ 0 w 2080779"/>
              <a:gd name="connsiteY0" fmla="*/ 517818 h 554805"/>
              <a:gd name="connsiteX1" fmla="*/ 2080779 w 2080779"/>
              <a:gd name="connsiteY1" fmla="*/ 554805 h 554805"/>
              <a:gd name="connsiteX0" fmla="*/ 0 w 2080779"/>
              <a:gd name="connsiteY0" fmla="*/ 468502 h 505489"/>
              <a:gd name="connsiteX1" fmla="*/ 2080779 w 2080779"/>
              <a:gd name="connsiteY1" fmla="*/ 505489 h 505489"/>
              <a:gd name="connsiteX0" fmla="*/ 0 w 2080779"/>
              <a:gd name="connsiteY0" fmla="*/ 456173 h 493160"/>
              <a:gd name="connsiteX1" fmla="*/ 2080779 w 2080779"/>
              <a:gd name="connsiteY1" fmla="*/ 493160 h 493160"/>
              <a:gd name="connsiteX0" fmla="*/ 0 w 2080779"/>
              <a:gd name="connsiteY0" fmla="*/ 271238 h 308225"/>
              <a:gd name="connsiteX1" fmla="*/ 2080779 w 2080779"/>
              <a:gd name="connsiteY1" fmla="*/ 308225 h 308225"/>
              <a:gd name="connsiteX0" fmla="*/ 0 w 2080779"/>
              <a:gd name="connsiteY0" fmla="*/ 422377 h 422377"/>
              <a:gd name="connsiteX1" fmla="*/ 2080779 w 2080779"/>
              <a:gd name="connsiteY1" fmla="*/ 308225 h 422377"/>
              <a:gd name="connsiteX0" fmla="*/ 0 w 1938972"/>
              <a:gd name="connsiteY0" fmla="*/ 1118309 h 1118309"/>
              <a:gd name="connsiteX1" fmla="*/ 1938972 w 1938972"/>
              <a:gd name="connsiteY1" fmla="*/ 308225 h 1118309"/>
              <a:gd name="connsiteX0" fmla="*/ 0 w 1938972"/>
              <a:gd name="connsiteY0" fmla="*/ 810084 h 810084"/>
              <a:gd name="connsiteX1" fmla="*/ 1938972 w 1938972"/>
              <a:gd name="connsiteY1" fmla="*/ 0 h 810084"/>
              <a:gd name="connsiteX0" fmla="*/ 0 w 6688508"/>
              <a:gd name="connsiteY0" fmla="*/ 810084 h 810084"/>
              <a:gd name="connsiteX1" fmla="*/ 1938972 w 6688508"/>
              <a:gd name="connsiteY1" fmla="*/ 0 h 810084"/>
              <a:gd name="connsiteX0" fmla="*/ 0 w 6769691"/>
              <a:gd name="connsiteY0" fmla="*/ 810084 h 810084"/>
              <a:gd name="connsiteX1" fmla="*/ 1938972 w 6769691"/>
              <a:gd name="connsiteY1" fmla="*/ 0 h 810084"/>
              <a:gd name="connsiteX0" fmla="*/ 0 w 10027063"/>
              <a:gd name="connsiteY0" fmla="*/ 792278 h 792278"/>
              <a:gd name="connsiteX1" fmla="*/ 5196344 w 10027063"/>
              <a:gd name="connsiteY1" fmla="*/ 0 h 792278"/>
              <a:gd name="connsiteX0" fmla="*/ 0 w 10027063"/>
              <a:gd name="connsiteY0" fmla="*/ 792278 h 792278"/>
              <a:gd name="connsiteX1" fmla="*/ 5196344 w 10027063"/>
              <a:gd name="connsiteY1" fmla="*/ 0 h 792278"/>
              <a:gd name="connsiteX0" fmla="*/ 0 w 13485515"/>
              <a:gd name="connsiteY0" fmla="*/ 786468 h 786468"/>
              <a:gd name="connsiteX1" fmla="*/ 8654798 w 13485515"/>
              <a:gd name="connsiteY1" fmla="*/ 0 h 786468"/>
              <a:gd name="connsiteX0" fmla="*/ 3926648 w 12938216"/>
              <a:gd name="connsiteY0" fmla="*/ 791876 h 791876"/>
              <a:gd name="connsiteX1" fmla="*/ 0 w 12938216"/>
              <a:gd name="connsiteY1" fmla="*/ 0 h 791876"/>
              <a:gd name="connsiteX0" fmla="*/ 32161106 w 32161106"/>
              <a:gd name="connsiteY0" fmla="*/ 878224 h 878224"/>
              <a:gd name="connsiteX1" fmla="*/ 0 w 32161106"/>
              <a:gd name="connsiteY1" fmla="*/ 0 h 878224"/>
              <a:gd name="connsiteX0" fmla="*/ 31981426 w 31981426"/>
              <a:gd name="connsiteY0" fmla="*/ 892631 h 892631"/>
              <a:gd name="connsiteX1" fmla="*/ 0 w 31981426"/>
              <a:gd name="connsiteY1" fmla="*/ 0 h 892631"/>
              <a:gd name="connsiteX0" fmla="*/ 35200438 w 35200438"/>
              <a:gd name="connsiteY0" fmla="*/ 892631 h 892631"/>
              <a:gd name="connsiteX1" fmla="*/ 3219012 w 35200438"/>
              <a:gd name="connsiteY1" fmla="*/ 0 h 892631"/>
              <a:gd name="connsiteX0" fmla="*/ 35200438 w 35200438"/>
              <a:gd name="connsiteY0" fmla="*/ 892631 h 892631"/>
              <a:gd name="connsiteX1" fmla="*/ 3219012 w 35200438"/>
              <a:gd name="connsiteY1" fmla="*/ 0 h 892631"/>
              <a:gd name="connsiteX0" fmla="*/ 35200438 w 35200438"/>
              <a:gd name="connsiteY0" fmla="*/ 892631 h 892631"/>
              <a:gd name="connsiteX1" fmla="*/ 3219012 w 35200438"/>
              <a:gd name="connsiteY1" fmla="*/ 0 h 892631"/>
              <a:gd name="connsiteX0" fmla="*/ 34099684 w 34099684"/>
              <a:gd name="connsiteY0" fmla="*/ 889800 h 889800"/>
              <a:gd name="connsiteX1" fmla="*/ 16916826 w 34099684"/>
              <a:gd name="connsiteY1" fmla="*/ 0 h 889800"/>
              <a:gd name="connsiteX0" fmla="*/ 34099684 w 94407699"/>
              <a:gd name="connsiteY0" fmla="*/ 889800 h 889800"/>
              <a:gd name="connsiteX1" fmla="*/ 16916826 w 94407699"/>
              <a:gd name="connsiteY1" fmla="*/ 0 h 889800"/>
              <a:gd name="connsiteX0" fmla="*/ 34099685 w 93706735"/>
              <a:gd name="connsiteY0" fmla="*/ 884688 h 884688"/>
              <a:gd name="connsiteX1" fmla="*/ 16215862 w 93706735"/>
              <a:gd name="connsiteY1" fmla="*/ 0 h 884688"/>
              <a:gd name="connsiteX0" fmla="*/ 17883824 w 77490874"/>
              <a:gd name="connsiteY0" fmla="*/ 884688 h 884688"/>
              <a:gd name="connsiteX1" fmla="*/ 1 w 77490874"/>
              <a:gd name="connsiteY1" fmla="*/ 0 h 884688"/>
              <a:gd name="connsiteX0" fmla="*/ 47989955 w 47989955"/>
              <a:gd name="connsiteY0" fmla="*/ 913855 h 913855"/>
              <a:gd name="connsiteX1" fmla="*/ 1 w 47989955"/>
              <a:gd name="connsiteY1" fmla="*/ 0 h 913855"/>
              <a:gd name="connsiteX0" fmla="*/ 82733844 w 82733844"/>
              <a:gd name="connsiteY0" fmla="*/ 913855 h 913855"/>
              <a:gd name="connsiteX1" fmla="*/ 34743890 w 82733844"/>
              <a:gd name="connsiteY1" fmla="*/ 0 h 913855"/>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0 w 230506251"/>
              <a:gd name="connsiteY0" fmla="*/ 779281 h 779281"/>
              <a:gd name="connsiteX1" fmla="*/ 230506252 w 230506251"/>
              <a:gd name="connsiteY1" fmla="*/ 0 h 779281"/>
              <a:gd name="connsiteX0" fmla="*/ 0 w 157201420"/>
              <a:gd name="connsiteY0" fmla="*/ 675805 h 675805"/>
              <a:gd name="connsiteX1" fmla="*/ 157201420 w 157201420"/>
              <a:gd name="connsiteY1" fmla="*/ 0 h 675805"/>
              <a:gd name="connsiteX0" fmla="*/ 0 w 157201420"/>
              <a:gd name="connsiteY0" fmla="*/ 675805 h 675805"/>
              <a:gd name="connsiteX1" fmla="*/ 157201420 w 157201420"/>
              <a:gd name="connsiteY1" fmla="*/ 0 h 675805"/>
              <a:gd name="connsiteX0" fmla="*/ 0 w 157201420"/>
              <a:gd name="connsiteY0" fmla="*/ 675805 h 675805"/>
              <a:gd name="connsiteX1" fmla="*/ 157201420 w 157201420"/>
              <a:gd name="connsiteY1" fmla="*/ 0 h 675805"/>
              <a:gd name="connsiteX0" fmla="*/ 0 w 128763447"/>
              <a:gd name="connsiteY0" fmla="*/ 541758 h 541758"/>
              <a:gd name="connsiteX1" fmla="*/ 128763447 w 128763447"/>
              <a:gd name="connsiteY1" fmla="*/ 0 h 541758"/>
              <a:gd name="connsiteX0" fmla="*/ 0 w 142973845"/>
              <a:gd name="connsiteY0" fmla="*/ 564335 h 564335"/>
              <a:gd name="connsiteX1" fmla="*/ 142973845 w 142973845"/>
              <a:gd name="connsiteY1" fmla="*/ 0 h 564335"/>
            </a:gdLst>
            <a:ahLst/>
            <a:cxnLst>
              <a:cxn ang="0">
                <a:pos x="connsiteX0" y="connsiteY0"/>
              </a:cxn>
              <a:cxn ang="0">
                <a:pos x="connsiteX1" y="connsiteY1"/>
              </a:cxn>
            </a:cxnLst>
            <a:rect l="l" t="t" r="r" b="b"/>
            <a:pathLst>
              <a:path w="142973845" h="564335">
                <a:moveTo>
                  <a:pt x="0" y="564335"/>
                </a:moveTo>
                <a:cubicBezTo>
                  <a:pt x="1118819" y="369982"/>
                  <a:pt x="20772870" y="125062"/>
                  <a:pt x="142973845" y="0"/>
                </a:cubicBezTo>
              </a:path>
            </a:pathLst>
          </a:custGeom>
          <a:noFill/>
          <a:ln w="12700" cap="flat" cmpd="sng" algn="ctr">
            <a:solidFill>
              <a:srgbClr val="000000"/>
            </a:solidFill>
            <a:prstDash val="solid"/>
            <a:round/>
            <a:headEnd type="none" w="lg" len="lg"/>
            <a:tailEnd type="stealth" w="lg" len="lg"/>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4" name="Trapezoid 73"/>
          <p:cNvSpPr/>
          <p:nvPr/>
        </p:nvSpPr>
        <p:spPr bwMode="auto">
          <a:xfrm flipV="1">
            <a:off x="1456884" y="2033495"/>
            <a:ext cx="1027414" cy="320554"/>
          </a:xfrm>
          <a:prstGeom prst="trapezoid">
            <a:avLst/>
          </a:prstGeom>
          <a:blipFill rotWithShape="1">
            <a:blip r:embed="rId3">
              <a:alphaModFix amt="70000"/>
            </a:blip>
            <a:tile tx="0" ty="0" sx="100000" sy="100000" flip="none" algn="tl"/>
          </a:blip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a typeface="ＭＳ Ｐゴシック" pitchFamily="32" charset="-128"/>
            </a:endParaRPr>
          </a:p>
        </p:txBody>
      </p:sp>
      <p:sp>
        <p:nvSpPr>
          <p:cNvPr id="76" name="TextBox 75"/>
          <p:cNvSpPr txBox="1"/>
          <p:nvPr/>
        </p:nvSpPr>
        <p:spPr>
          <a:xfrm>
            <a:off x="1534776" y="1947193"/>
            <a:ext cx="868597" cy="461665"/>
          </a:xfrm>
          <a:prstGeom prst="rect">
            <a:avLst/>
          </a:prstGeom>
          <a:noFill/>
        </p:spPr>
        <p:txBody>
          <a:bodyPr wrap="square" rtlCol="0">
            <a:spAutoFit/>
          </a:bodyPr>
          <a:lstStyle/>
          <a:p>
            <a:r>
              <a:rPr lang="en-US" sz="2400" dirty="0" smtClean="0">
                <a:solidFill>
                  <a:schemeClr val="tx2"/>
                </a:solidFill>
              </a:rPr>
              <a:t>PCM</a:t>
            </a:r>
            <a:endParaRPr lang="en-US" sz="2400" dirty="0">
              <a:solidFill>
                <a:schemeClr val="tx2"/>
              </a:solidFill>
            </a:endParaRPr>
          </a:p>
        </p:txBody>
      </p:sp>
      <p:cxnSp>
        <p:nvCxnSpPr>
          <p:cNvPr id="94" name="Straight Connector 93"/>
          <p:cNvCxnSpPr/>
          <p:nvPr/>
        </p:nvCxnSpPr>
        <p:spPr bwMode="auto">
          <a:xfrm rot="5400000">
            <a:off x="7273895" y="2566655"/>
            <a:ext cx="2559984" cy="1589"/>
          </a:xfrm>
          <a:prstGeom prst="line">
            <a:avLst/>
          </a:prstGeom>
          <a:noFill/>
          <a:ln w="12700" cap="flat" cmpd="sng" algn="ctr">
            <a:solidFill>
              <a:srgbClr val="000000"/>
            </a:solidFill>
            <a:prstDash val="solid"/>
            <a:round/>
            <a:headEnd type="none" w="med" len="med"/>
            <a:tailEnd type="none" w="med" len="med"/>
          </a:ln>
          <a:effectLst/>
        </p:spPr>
      </p:cxnSp>
      <p:cxnSp>
        <p:nvCxnSpPr>
          <p:cNvPr id="95" name="Straight Connector 94"/>
          <p:cNvCxnSpPr/>
          <p:nvPr/>
        </p:nvCxnSpPr>
        <p:spPr bwMode="auto">
          <a:xfrm rot="5400000">
            <a:off x="6127174" y="3598824"/>
            <a:ext cx="512157" cy="1588"/>
          </a:xfrm>
          <a:prstGeom prst="line">
            <a:avLst/>
          </a:prstGeom>
          <a:noFill/>
          <a:ln w="12700" cap="flat" cmpd="sng" algn="ctr">
            <a:solidFill>
              <a:srgbClr val="000000"/>
            </a:solidFill>
            <a:prstDash val="solid"/>
            <a:round/>
            <a:headEnd type="none" w="med" len="med"/>
            <a:tailEnd type="none" w="med" len="med"/>
          </a:ln>
          <a:effectLst/>
        </p:spPr>
      </p:cxnSp>
      <p:cxnSp>
        <p:nvCxnSpPr>
          <p:cNvPr id="96" name="Straight Connector 95"/>
          <p:cNvCxnSpPr/>
          <p:nvPr/>
        </p:nvCxnSpPr>
        <p:spPr bwMode="auto">
          <a:xfrm flipV="1">
            <a:off x="6371534" y="3328826"/>
            <a:ext cx="1002646" cy="2"/>
          </a:xfrm>
          <a:prstGeom prst="line">
            <a:avLst/>
          </a:prstGeom>
          <a:noFill/>
          <a:ln w="12700" cap="flat" cmpd="sng" algn="ctr">
            <a:solidFill>
              <a:srgbClr val="000000"/>
            </a:solidFill>
            <a:prstDash val="solid"/>
            <a:round/>
            <a:headEnd type="none" w="med" len="med"/>
            <a:tailEnd type="none" w="med" len="med"/>
          </a:ln>
          <a:effectLst/>
        </p:spPr>
      </p:cxnSp>
      <p:grpSp>
        <p:nvGrpSpPr>
          <p:cNvPr id="3" name="Group 96"/>
          <p:cNvGrpSpPr/>
          <p:nvPr/>
        </p:nvGrpSpPr>
        <p:grpSpPr>
          <a:xfrm>
            <a:off x="7361848" y="3182523"/>
            <a:ext cx="201723" cy="292608"/>
            <a:chOff x="3912949" y="5849969"/>
            <a:chExt cx="201723" cy="292608"/>
          </a:xfrm>
        </p:grpSpPr>
        <p:cxnSp>
          <p:nvCxnSpPr>
            <p:cNvPr id="98" name="Straight Connector 97"/>
            <p:cNvCxnSpPr/>
            <p:nvPr/>
          </p:nvCxnSpPr>
          <p:spPr bwMode="auto">
            <a:xfrm rot="16200000" flipH="1">
              <a:off x="3772811" y="5990107"/>
              <a:ext cx="292608" cy="12331"/>
            </a:xfrm>
            <a:prstGeom prst="line">
              <a:avLst/>
            </a:prstGeom>
            <a:noFill/>
            <a:ln w="15875" cap="flat" cmpd="sng" algn="ctr">
              <a:solidFill>
                <a:srgbClr val="002F53"/>
              </a:solidFill>
              <a:prstDash val="solid"/>
              <a:round/>
              <a:headEnd type="none" w="med" len="med"/>
              <a:tailEnd type="none" w="med" len="med"/>
            </a:ln>
            <a:effectLst/>
          </p:spPr>
        </p:cxnSp>
        <p:cxnSp>
          <p:nvCxnSpPr>
            <p:cNvPr id="99" name="Straight Connector 98"/>
            <p:cNvCxnSpPr/>
            <p:nvPr/>
          </p:nvCxnSpPr>
          <p:spPr bwMode="auto">
            <a:xfrm rot="16200000" flipH="1">
              <a:off x="3962203" y="5990107"/>
              <a:ext cx="292608" cy="12331"/>
            </a:xfrm>
            <a:prstGeom prst="line">
              <a:avLst/>
            </a:prstGeom>
            <a:noFill/>
            <a:ln w="15875" cap="flat" cmpd="sng" algn="ctr">
              <a:solidFill>
                <a:srgbClr val="002F53"/>
              </a:solidFill>
              <a:prstDash val="solid"/>
              <a:round/>
              <a:headEnd type="none" w="med" len="med"/>
              <a:tailEnd type="none" w="med" len="med"/>
            </a:ln>
            <a:effectLst/>
          </p:spPr>
        </p:cxnSp>
      </p:grpSp>
      <p:cxnSp>
        <p:nvCxnSpPr>
          <p:cNvPr id="100" name="Straight Connector 99"/>
          <p:cNvCxnSpPr/>
          <p:nvPr/>
        </p:nvCxnSpPr>
        <p:spPr bwMode="auto">
          <a:xfrm flipV="1">
            <a:off x="7563570" y="3328825"/>
            <a:ext cx="1002646" cy="2"/>
          </a:xfrm>
          <a:prstGeom prst="line">
            <a:avLst/>
          </a:prstGeom>
          <a:noFill/>
          <a:ln w="12700" cap="flat" cmpd="sng" algn="ctr">
            <a:solidFill>
              <a:srgbClr val="000000"/>
            </a:solidFill>
            <a:prstDash val="solid"/>
            <a:round/>
            <a:headEnd type="none" w="med" len="med"/>
            <a:tailEnd type="none" w="med" len="med"/>
          </a:ln>
          <a:effectLst/>
        </p:spPr>
      </p:cxnSp>
      <p:cxnSp>
        <p:nvCxnSpPr>
          <p:cNvPr id="101" name="Straight Connector 100"/>
          <p:cNvCxnSpPr/>
          <p:nvPr/>
        </p:nvCxnSpPr>
        <p:spPr bwMode="auto">
          <a:xfrm flipV="1">
            <a:off x="6371534" y="1947978"/>
            <a:ext cx="1002646" cy="2"/>
          </a:xfrm>
          <a:prstGeom prst="line">
            <a:avLst/>
          </a:prstGeom>
          <a:noFill/>
          <a:ln w="12700" cap="flat" cmpd="sng" algn="ctr">
            <a:solidFill>
              <a:srgbClr val="000000"/>
            </a:solidFill>
            <a:prstDash val="solid"/>
            <a:round/>
            <a:headEnd type="none" w="med" len="med"/>
            <a:tailEnd type="none" w="med" len="med"/>
          </a:ln>
          <a:effectLst/>
        </p:spPr>
      </p:cxnSp>
      <p:grpSp>
        <p:nvGrpSpPr>
          <p:cNvPr id="6" name="Group 101"/>
          <p:cNvGrpSpPr/>
          <p:nvPr/>
        </p:nvGrpSpPr>
        <p:grpSpPr>
          <a:xfrm>
            <a:off x="7361848" y="1801675"/>
            <a:ext cx="201723" cy="292608"/>
            <a:chOff x="3912949" y="5849969"/>
            <a:chExt cx="201723" cy="292608"/>
          </a:xfrm>
        </p:grpSpPr>
        <p:cxnSp>
          <p:nvCxnSpPr>
            <p:cNvPr id="103" name="Straight Connector 102"/>
            <p:cNvCxnSpPr/>
            <p:nvPr/>
          </p:nvCxnSpPr>
          <p:spPr bwMode="auto">
            <a:xfrm rot="16200000" flipH="1">
              <a:off x="3772811" y="5990107"/>
              <a:ext cx="292608" cy="12331"/>
            </a:xfrm>
            <a:prstGeom prst="line">
              <a:avLst/>
            </a:prstGeom>
            <a:noFill/>
            <a:ln w="15875" cap="flat" cmpd="sng" algn="ctr">
              <a:solidFill>
                <a:srgbClr val="002F53"/>
              </a:solidFill>
              <a:prstDash val="solid"/>
              <a:round/>
              <a:headEnd type="none" w="med" len="med"/>
              <a:tailEnd type="none" w="med" len="med"/>
            </a:ln>
            <a:effectLst/>
          </p:spPr>
        </p:cxnSp>
        <p:cxnSp>
          <p:nvCxnSpPr>
            <p:cNvPr id="104" name="Straight Connector 103"/>
            <p:cNvCxnSpPr/>
            <p:nvPr/>
          </p:nvCxnSpPr>
          <p:spPr bwMode="auto">
            <a:xfrm rot="16200000" flipH="1">
              <a:off x="3962203" y="5990107"/>
              <a:ext cx="292608" cy="12331"/>
            </a:xfrm>
            <a:prstGeom prst="line">
              <a:avLst/>
            </a:prstGeom>
            <a:noFill/>
            <a:ln w="15875" cap="flat" cmpd="sng" algn="ctr">
              <a:solidFill>
                <a:srgbClr val="002F53"/>
              </a:solidFill>
              <a:prstDash val="solid"/>
              <a:round/>
              <a:headEnd type="none" w="med" len="med"/>
              <a:tailEnd type="none" w="med" len="med"/>
            </a:ln>
            <a:effectLst/>
          </p:spPr>
        </p:cxnSp>
      </p:grpSp>
      <p:cxnSp>
        <p:nvCxnSpPr>
          <p:cNvPr id="105" name="Straight Connector 104"/>
          <p:cNvCxnSpPr/>
          <p:nvPr/>
        </p:nvCxnSpPr>
        <p:spPr bwMode="auto">
          <a:xfrm flipV="1">
            <a:off x="7563570" y="1947977"/>
            <a:ext cx="1002646" cy="2"/>
          </a:xfrm>
          <a:prstGeom prst="line">
            <a:avLst/>
          </a:prstGeom>
          <a:noFill/>
          <a:ln w="12700" cap="flat" cmpd="sng" algn="ctr">
            <a:solidFill>
              <a:srgbClr val="000000"/>
            </a:solidFill>
            <a:prstDash val="solid"/>
            <a:round/>
            <a:headEnd type="none" w="med" len="med"/>
            <a:tailEnd type="none" w="med" len="med"/>
          </a:ln>
          <a:effectLst/>
        </p:spPr>
      </p:cxnSp>
      <p:cxnSp>
        <p:nvCxnSpPr>
          <p:cNvPr id="106" name="Straight Connector 105"/>
          <p:cNvCxnSpPr/>
          <p:nvPr/>
        </p:nvCxnSpPr>
        <p:spPr bwMode="auto">
          <a:xfrm flipV="1">
            <a:off x="6371536" y="2638402"/>
            <a:ext cx="1002646" cy="2"/>
          </a:xfrm>
          <a:prstGeom prst="line">
            <a:avLst/>
          </a:prstGeom>
          <a:noFill/>
          <a:ln w="12700" cap="flat" cmpd="sng" algn="ctr">
            <a:solidFill>
              <a:srgbClr val="000000"/>
            </a:solidFill>
            <a:prstDash val="solid"/>
            <a:round/>
            <a:headEnd type="none" w="med" len="med"/>
            <a:tailEnd type="none" w="med" len="med"/>
          </a:ln>
          <a:effectLst/>
        </p:spPr>
      </p:cxnSp>
      <p:grpSp>
        <p:nvGrpSpPr>
          <p:cNvPr id="7" name="Group 106"/>
          <p:cNvGrpSpPr/>
          <p:nvPr/>
        </p:nvGrpSpPr>
        <p:grpSpPr>
          <a:xfrm>
            <a:off x="7361850" y="2492099"/>
            <a:ext cx="201723" cy="292608"/>
            <a:chOff x="3912949" y="5849969"/>
            <a:chExt cx="201723" cy="292608"/>
          </a:xfrm>
        </p:grpSpPr>
        <p:cxnSp>
          <p:nvCxnSpPr>
            <p:cNvPr id="108" name="Straight Connector 107"/>
            <p:cNvCxnSpPr/>
            <p:nvPr/>
          </p:nvCxnSpPr>
          <p:spPr bwMode="auto">
            <a:xfrm rot="16200000" flipH="1">
              <a:off x="3772811" y="5990107"/>
              <a:ext cx="292608" cy="12331"/>
            </a:xfrm>
            <a:prstGeom prst="line">
              <a:avLst/>
            </a:prstGeom>
            <a:noFill/>
            <a:ln w="15875" cap="flat" cmpd="sng" algn="ctr">
              <a:solidFill>
                <a:schemeClr val="accent6">
                  <a:lumMod val="50000"/>
                </a:schemeClr>
              </a:solidFill>
              <a:prstDash val="solid"/>
              <a:round/>
              <a:headEnd type="none" w="med" len="med"/>
              <a:tailEnd type="none" w="med" len="med"/>
            </a:ln>
            <a:effectLst/>
          </p:spPr>
        </p:cxnSp>
        <p:cxnSp>
          <p:nvCxnSpPr>
            <p:cNvPr id="109" name="Straight Connector 108"/>
            <p:cNvCxnSpPr/>
            <p:nvPr/>
          </p:nvCxnSpPr>
          <p:spPr bwMode="auto">
            <a:xfrm rot="16200000" flipH="1">
              <a:off x="3962203" y="5990107"/>
              <a:ext cx="292608" cy="12331"/>
            </a:xfrm>
            <a:prstGeom prst="line">
              <a:avLst/>
            </a:prstGeom>
            <a:noFill/>
            <a:ln w="15875" cap="flat" cmpd="sng" algn="ctr">
              <a:solidFill>
                <a:schemeClr val="accent6">
                  <a:lumMod val="50000"/>
                </a:schemeClr>
              </a:solidFill>
              <a:prstDash val="solid"/>
              <a:round/>
              <a:headEnd type="none" w="med" len="med"/>
              <a:tailEnd type="none" w="med" len="med"/>
            </a:ln>
            <a:effectLst/>
          </p:spPr>
        </p:cxnSp>
      </p:grpSp>
      <p:cxnSp>
        <p:nvCxnSpPr>
          <p:cNvPr id="110" name="Straight Connector 109"/>
          <p:cNvCxnSpPr/>
          <p:nvPr/>
        </p:nvCxnSpPr>
        <p:spPr bwMode="auto">
          <a:xfrm flipV="1">
            <a:off x="7563572" y="2638401"/>
            <a:ext cx="1002646" cy="2"/>
          </a:xfrm>
          <a:prstGeom prst="line">
            <a:avLst/>
          </a:prstGeom>
          <a:noFill/>
          <a:ln w="12700" cap="flat" cmpd="sng" algn="ctr">
            <a:solidFill>
              <a:srgbClr val="000000"/>
            </a:solidFill>
            <a:prstDash val="solid"/>
            <a:round/>
            <a:headEnd type="none" w="med" len="med"/>
            <a:tailEnd type="none" w="med" len="med"/>
          </a:ln>
          <a:effectLst/>
        </p:spPr>
      </p:cxnSp>
      <p:sp>
        <p:nvSpPr>
          <p:cNvPr id="111" name="Freeform 12"/>
          <p:cNvSpPr>
            <a:spLocks/>
          </p:cNvSpPr>
          <p:nvPr/>
        </p:nvSpPr>
        <p:spPr bwMode="auto">
          <a:xfrm rot="10800000">
            <a:off x="6256556" y="2650729"/>
            <a:ext cx="250212" cy="667411"/>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12700" cap="flat" cmpd="sng" algn="ctr">
            <a:solidFill>
              <a:srgbClr val="800000"/>
            </a:solidFill>
            <a:prstDash val="solid"/>
            <a:round/>
            <a:headEnd type="none" w="med" len="med"/>
            <a:tailEnd type="none" w="med" len="med"/>
          </a:ln>
          <a:effectLst/>
        </p:spPr>
        <p:txBody>
          <a:bodyPr>
            <a:prstTxWarp prst="textNoShape">
              <a:avLst/>
            </a:prstTxWarp>
          </a:bodyPr>
          <a:lstStyle/>
          <a:p>
            <a:endParaRPr lang="en-US"/>
          </a:p>
        </p:txBody>
      </p:sp>
      <p:sp>
        <p:nvSpPr>
          <p:cNvPr id="112" name="Freeform 12"/>
          <p:cNvSpPr>
            <a:spLocks/>
          </p:cNvSpPr>
          <p:nvPr/>
        </p:nvSpPr>
        <p:spPr bwMode="auto">
          <a:xfrm rot="10800000">
            <a:off x="6256556" y="1960306"/>
            <a:ext cx="250212" cy="667411"/>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12700" cap="flat" cmpd="sng" algn="ctr">
            <a:solidFill>
              <a:srgbClr val="800000"/>
            </a:solidFill>
            <a:prstDash val="solid"/>
            <a:round/>
            <a:headEnd type="none" w="med" len="med"/>
            <a:tailEnd type="none" w="med" len="med"/>
          </a:ln>
          <a:effectLst/>
        </p:spPr>
        <p:txBody>
          <a:bodyPr>
            <a:prstTxWarp prst="textNoShape">
              <a:avLst/>
            </a:prstTxWarp>
          </a:bodyPr>
          <a:lstStyle/>
          <a:p>
            <a:endParaRPr lang="en-US"/>
          </a:p>
        </p:txBody>
      </p:sp>
      <p:sp>
        <p:nvSpPr>
          <p:cNvPr id="113" name="Freeform 12"/>
          <p:cNvSpPr>
            <a:spLocks/>
          </p:cNvSpPr>
          <p:nvPr/>
        </p:nvSpPr>
        <p:spPr bwMode="auto">
          <a:xfrm rot="10800000">
            <a:off x="6260996" y="1286663"/>
            <a:ext cx="250212" cy="667411"/>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12700" cap="flat" cmpd="sng" algn="ctr">
            <a:solidFill>
              <a:srgbClr val="800000"/>
            </a:solidFill>
            <a:prstDash val="solid"/>
            <a:round/>
            <a:headEnd type="none" w="med" len="med"/>
            <a:tailEnd type="none" w="med" len="med"/>
          </a:ln>
          <a:effectLst/>
        </p:spPr>
        <p:txBody>
          <a:bodyPr>
            <a:prstTxWarp prst="textNoShape">
              <a:avLst/>
            </a:prstTxWarp>
          </a:bodyPr>
          <a:lstStyle/>
          <a:p>
            <a:endParaRPr lang="en-US"/>
          </a:p>
        </p:txBody>
      </p:sp>
      <p:cxnSp>
        <p:nvCxnSpPr>
          <p:cNvPr id="114" name="Straight Connector 113"/>
          <p:cNvCxnSpPr>
            <a:endCxn id="116" idx="2"/>
          </p:cNvCxnSpPr>
          <p:nvPr/>
        </p:nvCxnSpPr>
        <p:spPr bwMode="auto">
          <a:xfrm>
            <a:off x="6383252" y="3853315"/>
            <a:ext cx="851358" cy="1588"/>
          </a:xfrm>
          <a:prstGeom prst="line">
            <a:avLst/>
          </a:prstGeom>
          <a:noFill/>
          <a:ln w="12700" cap="flat" cmpd="sng" algn="ctr">
            <a:solidFill>
              <a:srgbClr val="000000"/>
            </a:solidFill>
            <a:prstDash val="solid"/>
            <a:round/>
            <a:headEnd type="none" w="med" len="med"/>
            <a:tailEnd type="none" w="med" len="med"/>
          </a:ln>
          <a:effectLst/>
        </p:spPr>
      </p:cxnSp>
      <p:cxnSp>
        <p:nvCxnSpPr>
          <p:cNvPr id="115" name="Straight Connector 114"/>
          <p:cNvCxnSpPr>
            <a:stCxn id="116" idx="6"/>
          </p:cNvCxnSpPr>
          <p:nvPr/>
        </p:nvCxnSpPr>
        <p:spPr bwMode="auto">
          <a:xfrm>
            <a:off x="7691806" y="3853315"/>
            <a:ext cx="874412" cy="1588"/>
          </a:xfrm>
          <a:prstGeom prst="line">
            <a:avLst/>
          </a:prstGeom>
          <a:noFill/>
          <a:ln w="12700" cap="flat" cmpd="sng" algn="ctr">
            <a:solidFill>
              <a:srgbClr val="000000"/>
            </a:solidFill>
            <a:prstDash val="solid"/>
            <a:round/>
            <a:headEnd type="none" w="med" len="med"/>
            <a:tailEnd type="none" w="med" len="med"/>
          </a:ln>
          <a:effectLst/>
        </p:spPr>
      </p:cxnSp>
      <p:sp>
        <p:nvSpPr>
          <p:cNvPr id="116" name="Oval 115"/>
          <p:cNvSpPr>
            <a:spLocks noChangeAspect="1"/>
          </p:cNvSpPr>
          <p:nvPr/>
        </p:nvSpPr>
        <p:spPr bwMode="auto">
          <a:xfrm>
            <a:off x="7234610" y="3624717"/>
            <a:ext cx="457196" cy="457196"/>
          </a:xfrm>
          <a:prstGeom prst="ellipse">
            <a:avLst/>
          </a:prstGeom>
          <a:no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cxnSp>
        <p:nvCxnSpPr>
          <p:cNvPr id="117" name="Straight Arrow Connector 116"/>
          <p:cNvCxnSpPr/>
          <p:nvPr/>
        </p:nvCxnSpPr>
        <p:spPr bwMode="auto">
          <a:xfrm rot="10800000" flipV="1">
            <a:off x="7283930" y="3851098"/>
            <a:ext cx="328964" cy="2"/>
          </a:xfrm>
          <a:prstGeom prst="straightConnector1">
            <a:avLst/>
          </a:prstGeom>
          <a:noFill/>
          <a:ln w="38100" cap="flat" cmpd="sng" algn="ctr">
            <a:solidFill>
              <a:srgbClr val="000000"/>
            </a:solidFill>
            <a:prstDash val="solid"/>
            <a:round/>
            <a:headEnd type="none" w="med" len="med"/>
            <a:tailEnd type="arrow"/>
          </a:ln>
          <a:effectLst/>
        </p:spPr>
      </p:cxnSp>
      <p:sp>
        <p:nvSpPr>
          <p:cNvPr id="118" name="Oval 117"/>
          <p:cNvSpPr>
            <a:spLocks noChangeAspect="1"/>
          </p:cNvSpPr>
          <p:nvPr/>
        </p:nvSpPr>
        <p:spPr bwMode="auto">
          <a:xfrm>
            <a:off x="6344684" y="3283109"/>
            <a:ext cx="88683" cy="91437"/>
          </a:xfrm>
          <a:prstGeom prst="ellipse">
            <a:avLst/>
          </a:prstGeom>
          <a:solidFill>
            <a:schemeClr val="tx1"/>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solidFill>
                  <a:srgbClr val="000000"/>
                </a:solidFill>
              </a:ln>
              <a:solidFill>
                <a:schemeClr val="tx1"/>
              </a:solidFill>
              <a:effectLst/>
              <a:latin typeface="Arial" charset="0"/>
              <a:ea typeface="ＭＳ Ｐゴシック" pitchFamily="32" charset="-128"/>
            </a:endParaRPr>
          </a:p>
        </p:txBody>
      </p:sp>
      <p:sp>
        <p:nvSpPr>
          <p:cNvPr id="119" name="Oval 118"/>
          <p:cNvSpPr>
            <a:spLocks noChangeAspect="1"/>
          </p:cNvSpPr>
          <p:nvPr/>
        </p:nvSpPr>
        <p:spPr bwMode="auto">
          <a:xfrm>
            <a:off x="6349124" y="2584808"/>
            <a:ext cx="88683" cy="91437"/>
          </a:xfrm>
          <a:prstGeom prst="ellipse">
            <a:avLst/>
          </a:prstGeom>
          <a:solidFill>
            <a:schemeClr val="tx1"/>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solidFill>
                  <a:srgbClr val="000000"/>
                </a:solidFill>
              </a:ln>
              <a:solidFill>
                <a:schemeClr val="tx1"/>
              </a:solidFill>
              <a:effectLst/>
              <a:latin typeface="Arial" charset="0"/>
              <a:ea typeface="ＭＳ Ｐゴシック" pitchFamily="32" charset="-128"/>
            </a:endParaRPr>
          </a:p>
        </p:txBody>
      </p:sp>
      <p:sp>
        <p:nvSpPr>
          <p:cNvPr id="120" name="Oval 119"/>
          <p:cNvSpPr>
            <a:spLocks noChangeAspect="1"/>
          </p:cNvSpPr>
          <p:nvPr/>
        </p:nvSpPr>
        <p:spPr bwMode="auto">
          <a:xfrm>
            <a:off x="6341234" y="1886507"/>
            <a:ext cx="88683" cy="91437"/>
          </a:xfrm>
          <a:prstGeom prst="ellipse">
            <a:avLst/>
          </a:prstGeom>
          <a:solidFill>
            <a:schemeClr val="tx1"/>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solidFill>
                  <a:srgbClr val="000000"/>
                </a:solidFill>
              </a:ln>
              <a:solidFill>
                <a:schemeClr val="tx1"/>
              </a:solidFill>
              <a:effectLst/>
              <a:latin typeface="Arial" charset="0"/>
              <a:ea typeface="ＭＳ Ｐゴシック" pitchFamily="32" charset="-128"/>
            </a:endParaRPr>
          </a:p>
        </p:txBody>
      </p:sp>
      <p:sp>
        <p:nvSpPr>
          <p:cNvPr id="121" name="Oval 120"/>
          <p:cNvSpPr>
            <a:spLocks noChangeAspect="1"/>
          </p:cNvSpPr>
          <p:nvPr/>
        </p:nvSpPr>
        <p:spPr bwMode="auto">
          <a:xfrm>
            <a:off x="6358004" y="1237522"/>
            <a:ext cx="88683" cy="91437"/>
          </a:xfrm>
          <a:prstGeom prst="ellipse">
            <a:avLst/>
          </a:prstGeom>
          <a:solidFill>
            <a:schemeClr val="tx1"/>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solidFill>
                  <a:srgbClr val="000000"/>
                </a:solidFill>
              </a:ln>
              <a:solidFill>
                <a:schemeClr val="tx1"/>
              </a:solidFill>
              <a:effectLst/>
              <a:latin typeface="Arial" charset="0"/>
              <a:ea typeface="ＭＳ Ｐゴシック" pitchFamily="32" charset="-128"/>
            </a:endParaRPr>
          </a:p>
        </p:txBody>
      </p:sp>
      <p:sp>
        <p:nvSpPr>
          <p:cNvPr id="122" name="TextBox 121"/>
          <p:cNvSpPr txBox="1"/>
          <p:nvPr/>
        </p:nvSpPr>
        <p:spPr>
          <a:xfrm>
            <a:off x="7140410" y="1328959"/>
            <a:ext cx="840344" cy="461665"/>
          </a:xfrm>
          <a:prstGeom prst="rect">
            <a:avLst/>
          </a:prstGeom>
          <a:noFill/>
        </p:spPr>
        <p:txBody>
          <a:bodyPr wrap="none" rtlCol="0">
            <a:spAutoFit/>
          </a:bodyPr>
          <a:lstStyle/>
          <a:p>
            <a:r>
              <a:rPr lang="en-US" sz="2400" dirty="0" smtClean="0">
                <a:solidFill>
                  <a:schemeClr val="accent6">
                    <a:lumMod val="50000"/>
                  </a:schemeClr>
                </a:solidFill>
              </a:rPr>
              <a:t>C</a:t>
            </a:r>
            <a:r>
              <a:rPr lang="en-US" sz="2400" baseline="-25000" dirty="0" smtClean="0">
                <a:solidFill>
                  <a:schemeClr val="accent6">
                    <a:lumMod val="50000"/>
                  </a:schemeClr>
                </a:solidFill>
              </a:rPr>
              <a:t>case</a:t>
            </a:r>
            <a:endParaRPr lang="en-US" sz="2400" baseline="-25000" dirty="0">
              <a:solidFill>
                <a:schemeClr val="accent6">
                  <a:lumMod val="50000"/>
                </a:schemeClr>
              </a:solidFill>
            </a:endParaRPr>
          </a:p>
        </p:txBody>
      </p:sp>
      <p:sp>
        <p:nvSpPr>
          <p:cNvPr id="123" name="TextBox 122"/>
          <p:cNvSpPr txBox="1"/>
          <p:nvPr/>
        </p:nvSpPr>
        <p:spPr>
          <a:xfrm>
            <a:off x="7140410" y="2060822"/>
            <a:ext cx="862886" cy="461665"/>
          </a:xfrm>
          <a:prstGeom prst="rect">
            <a:avLst/>
          </a:prstGeom>
          <a:noFill/>
        </p:spPr>
        <p:txBody>
          <a:bodyPr wrap="none" rtlCol="0">
            <a:spAutoFit/>
          </a:bodyPr>
          <a:lstStyle/>
          <a:p>
            <a:r>
              <a:rPr lang="en-US" sz="2400" dirty="0" smtClean="0">
                <a:solidFill>
                  <a:schemeClr val="accent6">
                    <a:lumMod val="50000"/>
                  </a:schemeClr>
                </a:solidFill>
              </a:rPr>
              <a:t>C</a:t>
            </a:r>
            <a:r>
              <a:rPr lang="en-US" sz="2400" baseline="-25000" dirty="0" smtClean="0">
                <a:solidFill>
                  <a:schemeClr val="accent6">
                    <a:lumMod val="50000"/>
                  </a:schemeClr>
                </a:solidFill>
              </a:rPr>
              <a:t>PCM</a:t>
            </a:r>
            <a:endParaRPr lang="en-US" sz="2400" baseline="-25000" dirty="0">
              <a:solidFill>
                <a:schemeClr val="accent6">
                  <a:lumMod val="50000"/>
                </a:schemeClr>
              </a:solidFill>
            </a:endParaRPr>
          </a:p>
        </p:txBody>
      </p:sp>
      <p:sp>
        <p:nvSpPr>
          <p:cNvPr id="124" name="TextBox 123"/>
          <p:cNvSpPr txBox="1"/>
          <p:nvPr/>
        </p:nvSpPr>
        <p:spPr>
          <a:xfrm>
            <a:off x="7140410" y="2757844"/>
            <a:ext cx="1114157" cy="461665"/>
          </a:xfrm>
          <a:prstGeom prst="rect">
            <a:avLst/>
          </a:prstGeom>
          <a:noFill/>
        </p:spPr>
        <p:txBody>
          <a:bodyPr wrap="none" rtlCol="0">
            <a:spAutoFit/>
          </a:bodyPr>
          <a:lstStyle/>
          <a:p>
            <a:r>
              <a:rPr lang="en-US" sz="2400" dirty="0" smtClean="0">
                <a:solidFill>
                  <a:schemeClr val="accent6">
                    <a:lumMod val="50000"/>
                  </a:schemeClr>
                </a:solidFill>
              </a:rPr>
              <a:t>C</a:t>
            </a:r>
            <a:r>
              <a:rPr lang="en-US" sz="2400" baseline="-25000" dirty="0" smtClean="0">
                <a:solidFill>
                  <a:schemeClr val="accent6">
                    <a:lumMod val="50000"/>
                  </a:schemeClr>
                </a:solidFill>
              </a:rPr>
              <a:t>junction</a:t>
            </a:r>
            <a:endParaRPr lang="en-US" sz="2400" baseline="-25000" dirty="0">
              <a:solidFill>
                <a:schemeClr val="accent6">
                  <a:lumMod val="50000"/>
                </a:schemeClr>
              </a:solidFill>
            </a:endParaRPr>
          </a:p>
        </p:txBody>
      </p:sp>
      <p:sp>
        <p:nvSpPr>
          <p:cNvPr id="125" name="TextBox 124"/>
          <p:cNvSpPr txBox="1"/>
          <p:nvPr/>
        </p:nvSpPr>
        <p:spPr>
          <a:xfrm rot="16200000">
            <a:off x="5598721" y="2951689"/>
            <a:ext cx="862886" cy="461665"/>
          </a:xfrm>
          <a:prstGeom prst="rect">
            <a:avLst/>
          </a:prstGeom>
          <a:noFill/>
        </p:spPr>
        <p:txBody>
          <a:bodyPr wrap="none" rtlCol="0">
            <a:spAutoFit/>
          </a:bodyPr>
          <a:lstStyle/>
          <a:p>
            <a:r>
              <a:rPr lang="en-US" sz="2400" dirty="0" smtClean="0">
                <a:solidFill>
                  <a:srgbClr val="780000"/>
                </a:solidFill>
              </a:rPr>
              <a:t>R</a:t>
            </a:r>
            <a:r>
              <a:rPr lang="en-US" sz="2400" baseline="-25000" dirty="0" smtClean="0">
                <a:solidFill>
                  <a:srgbClr val="780000"/>
                </a:solidFill>
              </a:rPr>
              <a:t>PCM</a:t>
            </a:r>
            <a:endParaRPr lang="en-US" sz="2400" baseline="-25000" dirty="0">
              <a:solidFill>
                <a:srgbClr val="780000"/>
              </a:solidFill>
            </a:endParaRPr>
          </a:p>
        </p:txBody>
      </p:sp>
      <p:sp>
        <p:nvSpPr>
          <p:cNvPr id="126" name="TextBox 125"/>
          <p:cNvSpPr txBox="1"/>
          <p:nvPr/>
        </p:nvSpPr>
        <p:spPr>
          <a:xfrm rot="16200000">
            <a:off x="5544498" y="2122808"/>
            <a:ext cx="897351" cy="461665"/>
          </a:xfrm>
          <a:prstGeom prst="rect">
            <a:avLst/>
          </a:prstGeom>
          <a:noFill/>
        </p:spPr>
        <p:txBody>
          <a:bodyPr wrap="none" rtlCol="0">
            <a:spAutoFit/>
          </a:bodyPr>
          <a:lstStyle/>
          <a:p>
            <a:r>
              <a:rPr lang="en-US" sz="2400" dirty="0" smtClean="0">
                <a:solidFill>
                  <a:srgbClr val="780000"/>
                </a:solidFill>
              </a:rPr>
              <a:t>R</a:t>
            </a:r>
            <a:r>
              <a:rPr lang="en-US" sz="2400" baseline="-25000" dirty="0" smtClean="0">
                <a:solidFill>
                  <a:srgbClr val="780000"/>
                </a:solidFill>
              </a:rPr>
              <a:t>pack.</a:t>
            </a:r>
            <a:endParaRPr lang="en-US" sz="2400" baseline="-25000" dirty="0">
              <a:solidFill>
                <a:srgbClr val="780000"/>
              </a:solidFill>
            </a:endParaRPr>
          </a:p>
        </p:txBody>
      </p:sp>
      <p:sp>
        <p:nvSpPr>
          <p:cNvPr id="127" name="TextBox 126"/>
          <p:cNvSpPr txBox="1"/>
          <p:nvPr/>
        </p:nvSpPr>
        <p:spPr>
          <a:xfrm rot="16200000">
            <a:off x="5552112" y="1371187"/>
            <a:ext cx="882122" cy="461665"/>
          </a:xfrm>
          <a:prstGeom prst="rect">
            <a:avLst/>
          </a:prstGeom>
          <a:noFill/>
        </p:spPr>
        <p:txBody>
          <a:bodyPr wrap="none" rtlCol="0">
            <a:spAutoFit/>
          </a:bodyPr>
          <a:lstStyle/>
          <a:p>
            <a:r>
              <a:rPr lang="en-US" sz="2400" dirty="0" smtClean="0">
                <a:solidFill>
                  <a:srgbClr val="780000"/>
                </a:solidFill>
              </a:rPr>
              <a:t>R</a:t>
            </a:r>
            <a:r>
              <a:rPr lang="en-US" sz="2400" baseline="-25000" dirty="0" smtClean="0">
                <a:solidFill>
                  <a:srgbClr val="780000"/>
                </a:solidFill>
              </a:rPr>
              <a:t>conv.</a:t>
            </a:r>
            <a:endParaRPr lang="en-US" sz="2400" baseline="-25000" dirty="0">
              <a:solidFill>
                <a:srgbClr val="780000"/>
              </a:solidFill>
            </a:endParaRPr>
          </a:p>
        </p:txBody>
      </p:sp>
      <p:sp>
        <p:nvSpPr>
          <p:cNvPr id="77" name="Oval 76"/>
          <p:cNvSpPr/>
          <p:nvPr/>
        </p:nvSpPr>
        <p:spPr bwMode="auto">
          <a:xfrm>
            <a:off x="6198359" y="2676245"/>
            <a:ext cx="373891" cy="787411"/>
          </a:xfrm>
          <a:prstGeom prst="ellipse">
            <a:avLst/>
          </a:prstGeom>
          <a:no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8" name="Oval 77"/>
          <p:cNvSpPr/>
          <p:nvPr/>
        </p:nvSpPr>
        <p:spPr bwMode="auto">
          <a:xfrm>
            <a:off x="5762340" y="1081584"/>
            <a:ext cx="1175035" cy="1489770"/>
          </a:xfrm>
          <a:prstGeom prst="ellipse">
            <a:avLst/>
          </a:prstGeom>
          <a:no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79" name="Oval 78"/>
          <p:cNvSpPr/>
          <p:nvPr/>
        </p:nvSpPr>
        <p:spPr bwMode="auto">
          <a:xfrm>
            <a:off x="6937375" y="2060822"/>
            <a:ext cx="1317192" cy="919237"/>
          </a:xfrm>
          <a:prstGeom prst="ellipse">
            <a:avLst/>
          </a:prstGeom>
          <a:no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2" name="TextBox 81"/>
          <p:cNvSpPr txBox="1"/>
          <p:nvPr/>
        </p:nvSpPr>
        <p:spPr>
          <a:xfrm>
            <a:off x="217412" y="4161288"/>
            <a:ext cx="5455409" cy="523220"/>
          </a:xfrm>
          <a:prstGeom prst="rect">
            <a:avLst/>
          </a:prstGeom>
          <a:noFill/>
          <a:ln>
            <a:noFill/>
          </a:ln>
        </p:spPr>
        <p:txBody>
          <a:bodyPr wrap="square" rtlCol="0" anchor="ctr">
            <a:spAutoFit/>
          </a:bodyPr>
          <a:lstStyle/>
          <a:p>
            <a:pPr algn="ctr"/>
            <a:r>
              <a:rPr lang="en-US" sz="2800" dirty="0" smtClean="0">
                <a:solidFill>
                  <a:schemeClr val="accent6"/>
                </a:solidFill>
              </a:rPr>
              <a:t>Maximum sprint power</a:t>
            </a:r>
            <a:endParaRPr lang="en-US" sz="2800" dirty="0">
              <a:solidFill>
                <a:schemeClr val="accent6"/>
              </a:solidFill>
            </a:endParaRPr>
          </a:p>
        </p:txBody>
      </p:sp>
      <p:sp>
        <p:nvSpPr>
          <p:cNvPr id="83" name="Freeform 82"/>
          <p:cNvSpPr/>
          <p:nvPr/>
        </p:nvSpPr>
        <p:spPr bwMode="auto">
          <a:xfrm rot="4315056" flipH="1">
            <a:off x="5165606" y="2685558"/>
            <a:ext cx="186892" cy="2437655"/>
          </a:xfrm>
          <a:custGeom>
            <a:avLst/>
            <a:gdLst>
              <a:gd name="connsiteX0" fmla="*/ 0 w 1861782"/>
              <a:gd name="connsiteY0" fmla="*/ 0 h 271237"/>
              <a:gd name="connsiteX1" fmla="*/ 1861782 w 1861782"/>
              <a:gd name="connsiteY1" fmla="*/ 271237 h 271237"/>
              <a:gd name="connsiteX0" fmla="*/ 0 w 2080779"/>
              <a:gd name="connsiteY0" fmla="*/ 0 h 36987"/>
              <a:gd name="connsiteX1" fmla="*/ 2080779 w 2080779"/>
              <a:gd name="connsiteY1" fmla="*/ 36987 h 36987"/>
              <a:gd name="connsiteX0" fmla="*/ 0 w 2080779"/>
              <a:gd name="connsiteY0" fmla="*/ 517818 h 554805"/>
              <a:gd name="connsiteX1" fmla="*/ 2080779 w 2080779"/>
              <a:gd name="connsiteY1" fmla="*/ 554805 h 554805"/>
              <a:gd name="connsiteX0" fmla="*/ 0 w 2080779"/>
              <a:gd name="connsiteY0" fmla="*/ 517818 h 554805"/>
              <a:gd name="connsiteX1" fmla="*/ 2080779 w 2080779"/>
              <a:gd name="connsiteY1" fmla="*/ 554805 h 554805"/>
              <a:gd name="connsiteX0" fmla="*/ 0 w 2080779"/>
              <a:gd name="connsiteY0" fmla="*/ 468502 h 505489"/>
              <a:gd name="connsiteX1" fmla="*/ 2080779 w 2080779"/>
              <a:gd name="connsiteY1" fmla="*/ 505489 h 505489"/>
              <a:gd name="connsiteX0" fmla="*/ 0 w 2080779"/>
              <a:gd name="connsiteY0" fmla="*/ 456173 h 493160"/>
              <a:gd name="connsiteX1" fmla="*/ 2080779 w 2080779"/>
              <a:gd name="connsiteY1" fmla="*/ 493160 h 493160"/>
              <a:gd name="connsiteX0" fmla="*/ 0 w 2080779"/>
              <a:gd name="connsiteY0" fmla="*/ 271238 h 308225"/>
              <a:gd name="connsiteX1" fmla="*/ 2080779 w 2080779"/>
              <a:gd name="connsiteY1" fmla="*/ 308225 h 308225"/>
              <a:gd name="connsiteX0" fmla="*/ 0 w 2080779"/>
              <a:gd name="connsiteY0" fmla="*/ 422377 h 422377"/>
              <a:gd name="connsiteX1" fmla="*/ 2080779 w 2080779"/>
              <a:gd name="connsiteY1" fmla="*/ 308225 h 422377"/>
              <a:gd name="connsiteX0" fmla="*/ 0 w 1938972"/>
              <a:gd name="connsiteY0" fmla="*/ 1118309 h 1118309"/>
              <a:gd name="connsiteX1" fmla="*/ 1938972 w 1938972"/>
              <a:gd name="connsiteY1" fmla="*/ 308225 h 1118309"/>
              <a:gd name="connsiteX0" fmla="*/ 0 w 1938972"/>
              <a:gd name="connsiteY0" fmla="*/ 810084 h 810084"/>
              <a:gd name="connsiteX1" fmla="*/ 1938972 w 1938972"/>
              <a:gd name="connsiteY1" fmla="*/ 0 h 810084"/>
              <a:gd name="connsiteX0" fmla="*/ 0 w 6688508"/>
              <a:gd name="connsiteY0" fmla="*/ 810084 h 810084"/>
              <a:gd name="connsiteX1" fmla="*/ 1938972 w 6688508"/>
              <a:gd name="connsiteY1" fmla="*/ 0 h 810084"/>
              <a:gd name="connsiteX0" fmla="*/ 0 w 6769691"/>
              <a:gd name="connsiteY0" fmla="*/ 810084 h 810084"/>
              <a:gd name="connsiteX1" fmla="*/ 1938972 w 6769691"/>
              <a:gd name="connsiteY1" fmla="*/ 0 h 810084"/>
              <a:gd name="connsiteX0" fmla="*/ 0 w 10027063"/>
              <a:gd name="connsiteY0" fmla="*/ 792278 h 792278"/>
              <a:gd name="connsiteX1" fmla="*/ 5196344 w 10027063"/>
              <a:gd name="connsiteY1" fmla="*/ 0 h 792278"/>
              <a:gd name="connsiteX0" fmla="*/ 0 w 10027063"/>
              <a:gd name="connsiteY0" fmla="*/ 792278 h 792278"/>
              <a:gd name="connsiteX1" fmla="*/ 5196344 w 10027063"/>
              <a:gd name="connsiteY1" fmla="*/ 0 h 792278"/>
              <a:gd name="connsiteX0" fmla="*/ 0 w 13485515"/>
              <a:gd name="connsiteY0" fmla="*/ 786468 h 786468"/>
              <a:gd name="connsiteX1" fmla="*/ 8654798 w 13485515"/>
              <a:gd name="connsiteY1" fmla="*/ 0 h 786468"/>
              <a:gd name="connsiteX0" fmla="*/ 3926648 w 12938216"/>
              <a:gd name="connsiteY0" fmla="*/ 791876 h 791876"/>
              <a:gd name="connsiteX1" fmla="*/ 0 w 12938216"/>
              <a:gd name="connsiteY1" fmla="*/ 0 h 791876"/>
              <a:gd name="connsiteX0" fmla="*/ 32161106 w 32161106"/>
              <a:gd name="connsiteY0" fmla="*/ 878224 h 878224"/>
              <a:gd name="connsiteX1" fmla="*/ 0 w 32161106"/>
              <a:gd name="connsiteY1" fmla="*/ 0 h 878224"/>
              <a:gd name="connsiteX0" fmla="*/ 31981426 w 31981426"/>
              <a:gd name="connsiteY0" fmla="*/ 892631 h 892631"/>
              <a:gd name="connsiteX1" fmla="*/ 0 w 31981426"/>
              <a:gd name="connsiteY1" fmla="*/ 0 h 892631"/>
              <a:gd name="connsiteX0" fmla="*/ 35200438 w 35200438"/>
              <a:gd name="connsiteY0" fmla="*/ 892631 h 892631"/>
              <a:gd name="connsiteX1" fmla="*/ 3219012 w 35200438"/>
              <a:gd name="connsiteY1" fmla="*/ 0 h 892631"/>
              <a:gd name="connsiteX0" fmla="*/ 35200438 w 35200438"/>
              <a:gd name="connsiteY0" fmla="*/ 892631 h 892631"/>
              <a:gd name="connsiteX1" fmla="*/ 3219012 w 35200438"/>
              <a:gd name="connsiteY1" fmla="*/ 0 h 892631"/>
              <a:gd name="connsiteX0" fmla="*/ 35200438 w 35200438"/>
              <a:gd name="connsiteY0" fmla="*/ 892631 h 892631"/>
              <a:gd name="connsiteX1" fmla="*/ 3219012 w 35200438"/>
              <a:gd name="connsiteY1" fmla="*/ 0 h 892631"/>
              <a:gd name="connsiteX0" fmla="*/ 34099684 w 34099684"/>
              <a:gd name="connsiteY0" fmla="*/ 889800 h 889800"/>
              <a:gd name="connsiteX1" fmla="*/ 16916826 w 34099684"/>
              <a:gd name="connsiteY1" fmla="*/ 0 h 889800"/>
              <a:gd name="connsiteX0" fmla="*/ 34099684 w 94407699"/>
              <a:gd name="connsiteY0" fmla="*/ 889800 h 889800"/>
              <a:gd name="connsiteX1" fmla="*/ 16916826 w 94407699"/>
              <a:gd name="connsiteY1" fmla="*/ 0 h 889800"/>
              <a:gd name="connsiteX0" fmla="*/ 34099685 w 93706735"/>
              <a:gd name="connsiteY0" fmla="*/ 884688 h 884688"/>
              <a:gd name="connsiteX1" fmla="*/ 16215862 w 93706735"/>
              <a:gd name="connsiteY1" fmla="*/ 0 h 884688"/>
              <a:gd name="connsiteX0" fmla="*/ 17883824 w 77490874"/>
              <a:gd name="connsiteY0" fmla="*/ 884688 h 884688"/>
              <a:gd name="connsiteX1" fmla="*/ 1 w 77490874"/>
              <a:gd name="connsiteY1" fmla="*/ 0 h 884688"/>
              <a:gd name="connsiteX0" fmla="*/ 47989955 w 47989955"/>
              <a:gd name="connsiteY0" fmla="*/ 913855 h 913855"/>
              <a:gd name="connsiteX1" fmla="*/ 1 w 47989955"/>
              <a:gd name="connsiteY1" fmla="*/ 0 h 913855"/>
              <a:gd name="connsiteX0" fmla="*/ 82733844 w 82733844"/>
              <a:gd name="connsiteY0" fmla="*/ 913855 h 913855"/>
              <a:gd name="connsiteX1" fmla="*/ 34743890 w 82733844"/>
              <a:gd name="connsiteY1" fmla="*/ 0 h 913855"/>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0 w 230506251"/>
              <a:gd name="connsiteY0" fmla="*/ 779281 h 779281"/>
              <a:gd name="connsiteX1" fmla="*/ 230506252 w 230506251"/>
              <a:gd name="connsiteY1" fmla="*/ 0 h 779281"/>
              <a:gd name="connsiteX0" fmla="*/ 0 w 157201420"/>
              <a:gd name="connsiteY0" fmla="*/ 675805 h 675805"/>
              <a:gd name="connsiteX1" fmla="*/ 157201420 w 157201420"/>
              <a:gd name="connsiteY1" fmla="*/ 0 h 675805"/>
              <a:gd name="connsiteX0" fmla="*/ 0 w 157201420"/>
              <a:gd name="connsiteY0" fmla="*/ 675805 h 675805"/>
              <a:gd name="connsiteX1" fmla="*/ 157201420 w 157201420"/>
              <a:gd name="connsiteY1" fmla="*/ 0 h 675805"/>
              <a:gd name="connsiteX0" fmla="*/ 0 w 157201420"/>
              <a:gd name="connsiteY0" fmla="*/ 675805 h 675805"/>
              <a:gd name="connsiteX1" fmla="*/ 157201420 w 157201420"/>
              <a:gd name="connsiteY1" fmla="*/ 0 h 675805"/>
            </a:gdLst>
            <a:ahLst/>
            <a:cxnLst>
              <a:cxn ang="0">
                <a:pos x="connsiteX0" y="connsiteY0"/>
              </a:cxn>
              <a:cxn ang="0">
                <a:pos x="connsiteX1" y="connsiteY1"/>
              </a:cxn>
            </a:cxnLst>
            <a:rect l="l" t="t" r="r" b="b"/>
            <a:pathLst>
              <a:path w="157201420" h="675805">
                <a:moveTo>
                  <a:pt x="0" y="675805"/>
                </a:moveTo>
                <a:cubicBezTo>
                  <a:pt x="1118819" y="481452"/>
                  <a:pt x="35000445" y="125062"/>
                  <a:pt x="157201420" y="0"/>
                </a:cubicBezTo>
              </a:path>
            </a:pathLst>
          </a:custGeom>
          <a:noFill/>
          <a:ln w="12700" cap="flat" cmpd="sng" algn="ctr">
            <a:solidFill>
              <a:srgbClr val="000000"/>
            </a:solidFill>
            <a:prstDash val="solid"/>
            <a:round/>
            <a:headEnd type="none" w="lg" len="lg"/>
            <a:tailEnd type="stealth" w="lg" len="lg"/>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4" name="TextBox 83"/>
          <p:cNvSpPr txBox="1"/>
          <p:nvPr/>
        </p:nvSpPr>
        <p:spPr>
          <a:xfrm>
            <a:off x="4887279" y="3986663"/>
            <a:ext cx="4193221" cy="954107"/>
          </a:xfrm>
          <a:prstGeom prst="rect">
            <a:avLst/>
          </a:prstGeom>
          <a:noFill/>
          <a:ln>
            <a:noFill/>
          </a:ln>
        </p:spPr>
        <p:txBody>
          <a:bodyPr wrap="square" rtlCol="0" anchor="ctr">
            <a:spAutoFit/>
          </a:bodyPr>
          <a:lstStyle/>
          <a:p>
            <a:pPr algn="ctr"/>
            <a:r>
              <a:rPr lang="en-US" sz="2800" dirty="0" smtClean="0">
                <a:solidFill>
                  <a:schemeClr val="accent6"/>
                </a:solidFill>
              </a:rPr>
              <a:t>Maximum sprint </a:t>
            </a:r>
          </a:p>
          <a:p>
            <a:pPr algn="ctr"/>
            <a:r>
              <a:rPr lang="en-US" sz="2800" dirty="0" smtClean="0">
                <a:solidFill>
                  <a:schemeClr val="accent6"/>
                </a:solidFill>
              </a:rPr>
              <a:t>duration</a:t>
            </a:r>
            <a:endParaRPr lang="en-US" sz="2800" dirty="0">
              <a:solidFill>
                <a:schemeClr val="accent6"/>
              </a:solidFill>
            </a:endParaRPr>
          </a:p>
        </p:txBody>
      </p:sp>
      <p:sp>
        <p:nvSpPr>
          <p:cNvPr id="85" name="Freeform 84"/>
          <p:cNvSpPr/>
          <p:nvPr/>
        </p:nvSpPr>
        <p:spPr bwMode="auto">
          <a:xfrm rot="3633524" flipH="1">
            <a:off x="7436208" y="2969912"/>
            <a:ext cx="1636715" cy="923796"/>
          </a:xfrm>
          <a:custGeom>
            <a:avLst/>
            <a:gdLst>
              <a:gd name="connsiteX0" fmla="*/ 0 w 1861782"/>
              <a:gd name="connsiteY0" fmla="*/ 0 h 271237"/>
              <a:gd name="connsiteX1" fmla="*/ 1861782 w 1861782"/>
              <a:gd name="connsiteY1" fmla="*/ 271237 h 271237"/>
              <a:gd name="connsiteX0" fmla="*/ 0 w 2080779"/>
              <a:gd name="connsiteY0" fmla="*/ 0 h 36987"/>
              <a:gd name="connsiteX1" fmla="*/ 2080779 w 2080779"/>
              <a:gd name="connsiteY1" fmla="*/ 36987 h 36987"/>
              <a:gd name="connsiteX0" fmla="*/ 0 w 2080779"/>
              <a:gd name="connsiteY0" fmla="*/ 517818 h 554805"/>
              <a:gd name="connsiteX1" fmla="*/ 2080779 w 2080779"/>
              <a:gd name="connsiteY1" fmla="*/ 554805 h 554805"/>
              <a:gd name="connsiteX0" fmla="*/ 0 w 2080779"/>
              <a:gd name="connsiteY0" fmla="*/ 517818 h 554805"/>
              <a:gd name="connsiteX1" fmla="*/ 2080779 w 2080779"/>
              <a:gd name="connsiteY1" fmla="*/ 554805 h 554805"/>
              <a:gd name="connsiteX0" fmla="*/ 0 w 2080779"/>
              <a:gd name="connsiteY0" fmla="*/ 468502 h 505489"/>
              <a:gd name="connsiteX1" fmla="*/ 2080779 w 2080779"/>
              <a:gd name="connsiteY1" fmla="*/ 505489 h 505489"/>
              <a:gd name="connsiteX0" fmla="*/ 0 w 2080779"/>
              <a:gd name="connsiteY0" fmla="*/ 456173 h 493160"/>
              <a:gd name="connsiteX1" fmla="*/ 2080779 w 2080779"/>
              <a:gd name="connsiteY1" fmla="*/ 493160 h 493160"/>
              <a:gd name="connsiteX0" fmla="*/ 0 w 2080779"/>
              <a:gd name="connsiteY0" fmla="*/ 271238 h 308225"/>
              <a:gd name="connsiteX1" fmla="*/ 2080779 w 2080779"/>
              <a:gd name="connsiteY1" fmla="*/ 308225 h 308225"/>
              <a:gd name="connsiteX0" fmla="*/ 0 w 2080779"/>
              <a:gd name="connsiteY0" fmla="*/ 422377 h 422377"/>
              <a:gd name="connsiteX1" fmla="*/ 2080779 w 2080779"/>
              <a:gd name="connsiteY1" fmla="*/ 308225 h 422377"/>
              <a:gd name="connsiteX0" fmla="*/ 0 w 1938972"/>
              <a:gd name="connsiteY0" fmla="*/ 1118309 h 1118309"/>
              <a:gd name="connsiteX1" fmla="*/ 1938972 w 1938972"/>
              <a:gd name="connsiteY1" fmla="*/ 308225 h 1118309"/>
              <a:gd name="connsiteX0" fmla="*/ 0 w 1938972"/>
              <a:gd name="connsiteY0" fmla="*/ 810084 h 810084"/>
              <a:gd name="connsiteX1" fmla="*/ 1938972 w 1938972"/>
              <a:gd name="connsiteY1" fmla="*/ 0 h 810084"/>
              <a:gd name="connsiteX0" fmla="*/ 0 w 6688508"/>
              <a:gd name="connsiteY0" fmla="*/ 810084 h 810084"/>
              <a:gd name="connsiteX1" fmla="*/ 1938972 w 6688508"/>
              <a:gd name="connsiteY1" fmla="*/ 0 h 810084"/>
              <a:gd name="connsiteX0" fmla="*/ 0 w 6769691"/>
              <a:gd name="connsiteY0" fmla="*/ 810084 h 810084"/>
              <a:gd name="connsiteX1" fmla="*/ 1938972 w 6769691"/>
              <a:gd name="connsiteY1" fmla="*/ 0 h 810084"/>
              <a:gd name="connsiteX0" fmla="*/ 0 w 10027063"/>
              <a:gd name="connsiteY0" fmla="*/ 792278 h 792278"/>
              <a:gd name="connsiteX1" fmla="*/ 5196344 w 10027063"/>
              <a:gd name="connsiteY1" fmla="*/ 0 h 792278"/>
              <a:gd name="connsiteX0" fmla="*/ 0 w 10027063"/>
              <a:gd name="connsiteY0" fmla="*/ 792278 h 792278"/>
              <a:gd name="connsiteX1" fmla="*/ 5196344 w 10027063"/>
              <a:gd name="connsiteY1" fmla="*/ 0 h 792278"/>
              <a:gd name="connsiteX0" fmla="*/ 0 w 13485515"/>
              <a:gd name="connsiteY0" fmla="*/ 786468 h 786468"/>
              <a:gd name="connsiteX1" fmla="*/ 8654798 w 13485515"/>
              <a:gd name="connsiteY1" fmla="*/ 0 h 786468"/>
              <a:gd name="connsiteX0" fmla="*/ 3926648 w 12938216"/>
              <a:gd name="connsiteY0" fmla="*/ 791876 h 791876"/>
              <a:gd name="connsiteX1" fmla="*/ 0 w 12938216"/>
              <a:gd name="connsiteY1" fmla="*/ 0 h 791876"/>
              <a:gd name="connsiteX0" fmla="*/ 32161106 w 32161106"/>
              <a:gd name="connsiteY0" fmla="*/ 878224 h 878224"/>
              <a:gd name="connsiteX1" fmla="*/ 0 w 32161106"/>
              <a:gd name="connsiteY1" fmla="*/ 0 h 878224"/>
              <a:gd name="connsiteX0" fmla="*/ 31981426 w 31981426"/>
              <a:gd name="connsiteY0" fmla="*/ 892631 h 892631"/>
              <a:gd name="connsiteX1" fmla="*/ 0 w 31981426"/>
              <a:gd name="connsiteY1" fmla="*/ 0 h 892631"/>
              <a:gd name="connsiteX0" fmla="*/ 35200438 w 35200438"/>
              <a:gd name="connsiteY0" fmla="*/ 892631 h 892631"/>
              <a:gd name="connsiteX1" fmla="*/ 3219012 w 35200438"/>
              <a:gd name="connsiteY1" fmla="*/ 0 h 892631"/>
              <a:gd name="connsiteX0" fmla="*/ 35200438 w 35200438"/>
              <a:gd name="connsiteY0" fmla="*/ 892631 h 892631"/>
              <a:gd name="connsiteX1" fmla="*/ 3219012 w 35200438"/>
              <a:gd name="connsiteY1" fmla="*/ 0 h 892631"/>
              <a:gd name="connsiteX0" fmla="*/ 35200438 w 35200438"/>
              <a:gd name="connsiteY0" fmla="*/ 892631 h 892631"/>
              <a:gd name="connsiteX1" fmla="*/ 3219012 w 35200438"/>
              <a:gd name="connsiteY1" fmla="*/ 0 h 892631"/>
              <a:gd name="connsiteX0" fmla="*/ 34099684 w 34099684"/>
              <a:gd name="connsiteY0" fmla="*/ 889800 h 889800"/>
              <a:gd name="connsiteX1" fmla="*/ 16916826 w 34099684"/>
              <a:gd name="connsiteY1" fmla="*/ 0 h 889800"/>
              <a:gd name="connsiteX0" fmla="*/ 34099684 w 94407699"/>
              <a:gd name="connsiteY0" fmla="*/ 889800 h 889800"/>
              <a:gd name="connsiteX1" fmla="*/ 16916826 w 94407699"/>
              <a:gd name="connsiteY1" fmla="*/ 0 h 889800"/>
              <a:gd name="connsiteX0" fmla="*/ 34099685 w 93706735"/>
              <a:gd name="connsiteY0" fmla="*/ 884688 h 884688"/>
              <a:gd name="connsiteX1" fmla="*/ 16215862 w 93706735"/>
              <a:gd name="connsiteY1" fmla="*/ 0 h 884688"/>
              <a:gd name="connsiteX0" fmla="*/ 17883824 w 77490874"/>
              <a:gd name="connsiteY0" fmla="*/ 884688 h 884688"/>
              <a:gd name="connsiteX1" fmla="*/ 1 w 77490874"/>
              <a:gd name="connsiteY1" fmla="*/ 0 h 884688"/>
              <a:gd name="connsiteX0" fmla="*/ 47989955 w 47989955"/>
              <a:gd name="connsiteY0" fmla="*/ 913855 h 913855"/>
              <a:gd name="connsiteX1" fmla="*/ 1 w 47989955"/>
              <a:gd name="connsiteY1" fmla="*/ 0 h 913855"/>
              <a:gd name="connsiteX0" fmla="*/ 82733844 w 82733844"/>
              <a:gd name="connsiteY0" fmla="*/ 913855 h 913855"/>
              <a:gd name="connsiteX1" fmla="*/ 34743890 w 82733844"/>
              <a:gd name="connsiteY1" fmla="*/ 0 h 913855"/>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0 w 230506251"/>
              <a:gd name="connsiteY0" fmla="*/ 779281 h 779281"/>
              <a:gd name="connsiteX1" fmla="*/ 230506252 w 230506251"/>
              <a:gd name="connsiteY1" fmla="*/ 0 h 779281"/>
              <a:gd name="connsiteX0" fmla="*/ 0 w 157201420"/>
              <a:gd name="connsiteY0" fmla="*/ 675805 h 675805"/>
              <a:gd name="connsiteX1" fmla="*/ 157201420 w 157201420"/>
              <a:gd name="connsiteY1" fmla="*/ 0 h 675805"/>
              <a:gd name="connsiteX0" fmla="*/ 0 w 157201420"/>
              <a:gd name="connsiteY0" fmla="*/ 675805 h 675805"/>
              <a:gd name="connsiteX1" fmla="*/ 157201420 w 157201420"/>
              <a:gd name="connsiteY1" fmla="*/ 0 h 675805"/>
              <a:gd name="connsiteX0" fmla="*/ 0 w 157201420"/>
              <a:gd name="connsiteY0" fmla="*/ 675805 h 675805"/>
              <a:gd name="connsiteX1" fmla="*/ 157201420 w 157201420"/>
              <a:gd name="connsiteY1" fmla="*/ 0 h 675805"/>
            </a:gdLst>
            <a:ahLst/>
            <a:cxnLst>
              <a:cxn ang="0">
                <a:pos x="connsiteX0" y="connsiteY0"/>
              </a:cxn>
              <a:cxn ang="0">
                <a:pos x="connsiteX1" y="connsiteY1"/>
              </a:cxn>
            </a:cxnLst>
            <a:rect l="l" t="t" r="r" b="b"/>
            <a:pathLst>
              <a:path w="157201420" h="675805">
                <a:moveTo>
                  <a:pt x="0" y="675805"/>
                </a:moveTo>
                <a:cubicBezTo>
                  <a:pt x="1118819" y="481452"/>
                  <a:pt x="35000445" y="125062"/>
                  <a:pt x="157201420" y="0"/>
                </a:cubicBezTo>
              </a:path>
            </a:pathLst>
          </a:custGeom>
          <a:noFill/>
          <a:ln w="12700" cap="flat" cmpd="sng" algn="ctr">
            <a:solidFill>
              <a:srgbClr val="000000"/>
            </a:solidFill>
            <a:prstDash val="solid"/>
            <a:round/>
            <a:headEnd type="none" w="lg" len="lg"/>
            <a:tailEnd type="stealth" w="lg" len="lg"/>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86" name="TextBox 85"/>
          <p:cNvSpPr txBox="1"/>
          <p:nvPr/>
        </p:nvSpPr>
        <p:spPr>
          <a:xfrm>
            <a:off x="3202816" y="2512388"/>
            <a:ext cx="2819502" cy="954107"/>
          </a:xfrm>
          <a:prstGeom prst="rect">
            <a:avLst/>
          </a:prstGeom>
          <a:noFill/>
          <a:ln>
            <a:noFill/>
          </a:ln>
        </p:spPr>
        <p:txBody>
          <a:bodyPr wrap="none" rtlCol="0" anchor="ctr">
            <a:spAutoFit/>
          </a:bodyPr>
          <a:lstStyle/>
          <a:p>
            <a:pPr algn="ctr"/>
            <a:r>
              <a:rPr lang="en-US" sz="2800" dirty="0" smtClean="0">
                <a:solidFill>
                  <a:schemeClr val="accent6"/>
                </a:solidFill>
              </a:rPr>
              <a:t>Interval between</a:t>
            </a:r>
          </a:p>
          <a:p>
            <a:pPr algn="ctr"/>
            <a:r>
              <a:rPr lang="en-US" sz="2800" dirty="0" smtClean="0">
                <a:solidFill>
                  <a:schemeClr val="accent6"/>
                </a:solidFill>
              </a:rPr>
              <a:t> sprints</a:t>
            </a:r>
          </a:p>
        </p:txBody>
      </p:sp>
      <p:sp>
        <p:nvSpPr>
          <p:cNvPr id="87" name="Freeform 86"/>
          <p:cNvSpPr/>
          <p:nvPr/>
        </p:nvSpPr>
        <p:spPr bwMode="auto">
          <a:xfrm rot="4315056" flipH="1">
            <a:off x="5033833" y="1586634"/>
            <a:ext cx="45719" cy="1468714"/>
          </a:xfrm>
          <a:custGeom>
            <a:avLst/>
            <a:gdLst>
              <a:gd name="connsiteX0" fmla="*/ 0 w 1861782"/>
              <a:gd name="connsiteY0" fmla="*/ 0 h 271237"/>
              <a:gd name="connsiteX1" fmla="*/ 1861782 w 1861782"/>
              <a:gd name="connsiteY1" fmla="*/ 271237 h 271237"/>
              <a:gd name="connsiteX0" fmla="*/ 0 w 2080779"/>
              <a:gd name="connsiteY0" fmla="*/ 0 h 36987"/>
              <a:gd name="connsiteX1" fmla="*/ 2080779 w 2080779"/>
              <a:gd name="connsiteY1" fmla="*/ 36987 h 36987"/>
              <a:gd name="connsiteX0" fmla="*/ 0 w 2080779"/>
              <a:gd name="connsiteY0" fmla="*/ 517818 h 554805"/>
              <a:gd name="connsiteX1" fmla="*/ 2080779 w 2080779"/>
              <a:gd name="connsiteY1" fmla="*/ 554805 h 554805"/>
              <a:gd name="connsiteX0" fmla="*/ 0 w 2080779"/>
              <a:gd name="connsiteY0" fmla="*/ 517818 h 554805"/>
              <a:gd name="connsiteX1" fmla="*/ 2080779 w 2080779"/>
              <a:gd name="connsiteY1" fmla="*/ 554805 h 554805"/>
              <a:gd name="connsiteX0" fmla="*/ 0 w 2080779"/>
              <a:gd name="connsiteY0" fmla="*/ 468502 h 505489"/>
              <a:gd name="connsiteX1" fmla="*/ 2080779 w 2080779"/>
              <a:gd name="connsiteY1" fmla="*/ 505489 h 505489"/>
              <a:gd name="connsiteX0" fmla="*/ 0 w 2080779"/>
              <a:gd name="connsiteY0" fmla="*/ 456173 h 493160"/>
              <a:gd name="connsiteX1" fmla="*/ 2080779 w 2080779"/>
              <a:gd name="connsiteY1" fmla="*/ 493160 h 493160"/>
              <a:gd name="connsiteX0" fmla="*/ 0 w 2080779"/>
              <a:gd name="connsiteY0" fmla="*/ 271238 h 308225"/>
              <a:gd name="connsiteX1" fmla="*/ 2080779 w 2080779"/>
              <a:gd name="connsiteY1" fmla="*/ 308225 h 308225"/>
              <a:gd name="connsiteX0" fmla="*/ 0 w 2080779"/>
              <a:gd name="connsiteY0" fmla="*/ 422377 h 422377"/>
              <a:gd name="connsiteX1" fmla="*/ 2080779 w 2080779"/>
              <a:gd name="connsiteY1" fmla="*/ 308225 h 422377"/>
              <a:gd name="connsiteX0" fmla="*/ 0 w 1938972"/>
              <a:gd name="connsiteY0" fmla="*/ 1118309 h 1118309"/>
              <a:gd name="connsiteX1" fmla="*/ 1938972 w 1938972"/>
              <a:gd name="connsiteY1" fmla="*/ 308225 h 1118309"/>
              <a:gd name="connsiteX0" fmla="*/ 0 w 1938972"/>
              <a:gd name="connsiteY0" fmla="*/ 810084 h 810084"/>
              <a:gd name="connsiteX1" fmla="*/ 1938972 w 1938972"/>
              <a:gd name="connsiteY1" fmla="*/ 0 h 810084"/>
              <a:gd name="connsiteX0" fmla="*/ 0 w 6688508"/>
              <a:gd name="connsiteY0" fmla="*/ 810084 h 810084"/>
              <a:gd name="connsiteX1" fmla="*/ 1938972 w 6688508"/>
              <a:gd name="connsiteY1" fmla="*/ 0 h 810084"/>
              <a:gd name="connsiteX0" fmla="*/ 0 w 6769691"/>
              <a:gd name="connsiteY0" fmla="*/ 810084 h 810084"/>
              <a:gd name="connsiteX1" fmla="*/ 1938972 w 6769691"/>
              <a:gd name="connsiteY1" fmla="*/ 0 h 810084"/>
              <a:gd name="connsiteX0" fmla="*/ 0 w 10027063"/>
              <a:gd name="connsiteY0" fmla="*/ 792278 h 792278"/>
              <a:gd name="connsiteX1" fmla="*/ 5196344 w 10027063"/>
              <a:gd name="connsiteY1" fmla="*/ 0 h 792278"/>
              <a:gd name="connsiteX0" fmla="*/ 0 w 10027063"/>
              <a:gd name="connsiteY0" fmla="*/ 792278 h 792278"/>
              <a:gd name="connsiteX1" fmla="*/ 5196344 w 10027063"/>
              <a:gd name="connsiteY1" fmla="*/ 0 h 792278"/>
              <a:gd name="connsiteX0" fmla="*/ 0 w 13485515"/>
              <a:gd name="connsiteY0" fmla="*/ 786468 h 786468"/>
              <a:gd name="connsiteX1" fmla="*/ 8654798 w 13485515"/>
              <a:gd name="connsiteY1" fmla="*/ 0 h 786468"/>
              <a:gd name="connsiteX0" fmla="*/ 3926648 w 12938216"/>
              <a:gd name="connsiteY0" fmla="*/ 791876 h 791876"/>
              <a:gd name="connsiteX1" fmla="*/ 0 w 12938216"/>
              <a:gd name="connsiteY1" fmla="*/ 0 h 791876"/>
              <a:gd name="connsiteX0" fmla="*/ 32161106 w 32161106"/>
              <a:gd name="connsiteY0" fmla="*/ 878224 h 878224"/>
              <a:gd name="connsiteX1" fmla="*/ 0 w 32161106"/>
              <a:gd name="connsiteY1" fmla="*/ 0 h 878224"/>
              <a:gd name="connsiteX0" fmla="*/ 31981426 w 31981426"/>
              <a:gd name="connsiteY0" fmla="*/ 892631 h 892631"/>
              <a:gd name="connsiteX1" fmla="*/ 0 w 31981426"/>
              <a:gd name="connsiteY1" fmla="*/ 0 h 892631"/>
              <a:gd name="connsiteX0" fmla="*/ 35200438 w 35200438"/>
              <a:gd name="connsiteY0" fmla="*/ 892631 h 892631"/>
              <a:gd name="connsiteX1" fmla="*/ 3219012 w 35200438"/>
              <a:gd name="connsiteY1" fmla="*/ 0 h 892631"/>
              <a:gd name="connsiteX0" fmla="*/ 35200438 w 35200438"/>
              <a:gd name="connsiteY0" fmla="*/ 892631 h 892631"/>
              <a:gd name="connsiteX1" fmla="*/ 3219012 w 35200438"/>
              <a:gd name="connsiteY1" fmla="*/ 0 h 892631"/>
              <a:gd name="connsiteX0" fmla="*/ 35200438 w 35200438"/>
              <a:gd name="connsiteY0" fmla="*/ 892631 h 892631"/>
              <a:gd name="connsiteX1" fmla="*/ 3219012 w 35200438"/>
              <a:gd name="connsiteY1" fmla="*/ 0 h 892631"/>
              <a:gd name="connsiteX0" fmla="*/ 34099684 w 34099684"/>
              <a:gd name="connsiteY0" fmla="*/ 889800 h 889800"/>
              <a:gd name="connsiteX1" fmla="*/ 16916826 w 34099684"/>
              <a:gd name="connsiteY1" fmla="*/ 0 h 889800"/>
              <a:gd name="connsiteX0" fmla="*/ 34099684 w 94407699"/>
              <a:gd name="connsiteY0" fmla="*/ 889800 h 889800"/>
              <a:gd name="connsiteX1" fmla="*/ 16916826 w 94407699"/>
              <a:gd name="connsiteY1" fmla="*/ 0 h 889800"/>
              <a:gd name="connsiteX0" fmla="*/ 34099685 w 93706735"/>
              <a:gd name="connsiteY0" fmla="*/ 884688 h 884688"/>
              <a:gd name="connsiteX1" fmla="*/ 16215862 w 93706735"/>
              <a:gd name="connsiteY1" fmla="*/ 0 h 884688"/>
              <a:gd name="connsiteX0" fmla="*/ 17883824 w 77490874"/>
              <a:gd name="connsiteY0" fmla="*/ 884688 h 884688"/>
              <a:gd name="connsiteX1" fmla="*/ 1 w 77490874"/>
              <a:gd name="connsiteY1" fmla="*/ 0 h 884688"/>
              <a:gd name="connsiteX0" fmla="*/ 47989955 w 47989955"/>
              <a:gd name="connsiteY0" fmla="*/ 913855 h 913855"/>
              <a:gd name="connsiteX1" fmla="*/ 1 w 47989955"/>
              <a:gd name="connsiteY1" fmla="*/ 0 h 913855"/>
              <a:gd name="connsiteX0" fmla="*/ 82733844 w 82733844"/>
              <a:gd name="connsiteY0" fmla="*/ 913855 h 913855"/>
              <a:gd name="connsiteX1" fmla="*/ 34743890 w 82733844"/>
              <a:gd name="connsiteY1" fmla="*/ 0 h 913855"/>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84951541 w 84951541"/>
              <a:gd name="connsiteY0" fmla="*/ 940197 h 940197"/>
              <a:gd name="connsiteX1" fmla="*/ 1 w 84951541"/>
              <a:gd name="connsiteY1" fmla="*/ 0 h 940197"/>
              <a:gd name="connsiteX0" fmla="*/ 0 w 230506251"/>
              <a:gd name="connsiteY0" fmla="*/ 779281 h 779281"/>
              <a:gd name="connsiteX1" fmla="*/ 230506252 w 230506251"/>
              <a:gd name="connsiteY1" fmla="*/ 0 h 779281"/>
              <a:gd name="connsiteX0" fmla="*/ 0 w 157201420"/>
              <a:gd name="connsiteY0" fmla="*/ 675805 h 675805"/>
              <a:gd name="connsiteX1" fmla="*/ 157201420 w 157201420"/>
              <a:gd name="connsiteY1" fmla="*/ 0 h 675805"/>
              <a:gd name="connsiteX0" fmla="*/ 0 w 157201420"/>
              <a:gd name="connsiteY0" fmla="*/ 675805 h 675805"/>
              <a:gd name="connsiteX1" fmla="*/ 157201420 w 157201420"/>
              <a:gd name="connsiteY1" fmla="*/ 0 h 675805"/>
              <a:gd name="connsiteX0" fmla="*/ 0 w 157201420"/>
              <a:gd name="connsiteY0" fmla="*/ 675805 h 675805"/>
              <a:gd name="connsiteX1" fmla="*/ 157201420 w 157201420"/>
              <a:gd name="connsiteY1" fmla="*/ 0 h 675805"/>
            </a:gdLst>
            <a:ahLst/>
            <a:cxnLst>
              <a:cxn ang="0">
                <a:pos x="connsiteX0" y="connsiteY0"/>
              </a:cxn>
              <a:cxn ang="0">
                <a:pos x="connsiteX1" y="connsiteY1"/>
              </a:cxn>
            </a:cxnLst>
            <a:rect l="l" t="t" r="r" b="b"/>
            <a:pathLst>
              <a:path w="157201420" h="675805">
                <a:moveTo>
                  <a:pt x="0" y="675805"/>
                </a:moveTo>
                <a:cubicBezTo>
                  <a:pt x="1118819" y="481452"/>
                  <a:pt x="35000445" y="125062"/>
                  <a:pt x="157201420" y="0"/>
                </a:cubicBezTo>
              </a:path>
            </a:pathLst>
          </a:custGeom>
          <a:noFill/>
          <a:ln w="12700" cap="flat" cmpd="sng" algn="ctr">
            <a:solidFill>
              <a:srgbClr val="000000"/>
            </a:solidFill>
            <a:prstDash val="solid"/>
            <a:round/>
            <a:headEnd type="none" w="lg" len="lg"/>
            <a:tailEnd type="stealth" w="lg" len="lg"/>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5">
                                            <p:txEl>
                                              <p:pRg st="1" end="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5">
                                            <p:txEl>
                                              <p:pRg st="2" end="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build="p"/>
      <p:bldP spid="77" grpId="0" animBg="1"/>
      <p:bldP spid="78" grpId="0" animBg="1"/>
      <p:bldP spid="79" grpId="0" animBg="1"/>
      <p:bldP spid="82" grpId="0"/>
      <p:bldP spid="83" grpId="0" animBg="1"/>
      <p:bldP spid="84" grpId="0"/>
      <p:bldP spid="85" grpId="0" animBg="1"/>
      <p:bldP spid="86" grpId="0"/>
      <p:bldP spid="87" grpId="0" animBg="1"/>
    </p:bld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Responsiveness Evaluation</a:t>
            </a:r>
            <a:endParaRPr lang="en-US" dirty="0"/>
          </a:p>
        </p:txBody>
      </p:sp>
      <p:sp>
        <p:nvSpPr>
          <p:cNvPr id="3" name="Content Placeholder 2"/>
          <p:cNvSpPr>
            <a:spLocks noGrp="1"/>
          </p:cNvSpPr>
          <p:nvPr>
            <p:ph idx="1"/>
          </p:nvPr>
        </p:nvSpPr>
        <p:spPr>
          <a:xfrm>
            <a:off x="457200" y="3818794"/>
            <a:ext cx="8229600" cy="2429605"/>
          </a:xfrm>
        </p:spPr>
        <p:txBody>
          <a:bodyPr/>
          <a:lstStyle/>
          <a:p>
            <a:r>
              <a:rPr lang="en-US" dirty="0" smtClean="0"/>
              <a:t>Average 10.2x improvement in responsiveness</a:t>
            </a:r>
          </a:p>
          <a:p>
            <a:r>
              <a:rPr lang="en-US" dirty="0" smtClean="0"/>
              <a:t>Smaller capacity results in smaller speedups</a:t>
            </a:r>
          </a:p>
          <a:p>
            <a:pPr lvl="1"/>
            <a:r>
              <a:rPr lang="en-US" dirty="0" smtClean="0"/>
              <a:t>Only small part of computation carried out in parallel</a:t>
            </a:r>
          </a:p>
          <a:p>
            <a:pPr lvl="2"/>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45</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graphicFrame>
        <p:nvGraphicFramePr>
          <p:cNvPr id="6" name="Chart 5"/>
          <p:cNvGraphicFramePr/>
          <p:nvPr/>
        </p:nvGraphicFramePr>
        <p:xfrm>
          <a:off x="457200" y="1177207"/>
          <a:ext cx="8229600" cy="2567643"/>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898036" y="3449463"/>
            <a:ext cx="903312" cy="369332"/>
          </a:xfrm>
          <a:prstGeom prst="rect">
            <a:avLst/>
          </a:prstGeom>
          <a:noFill/>
        </p:spPr>
        <p:txBody>
          <a:bodyPr wrap="none" rtlCol="0">
            <a:spAutoFit/>
          </a:bodyPr>
          <a:lstStyle/>
          <a:p>
            <a:r>
              <a:rPr lang="en-US" dirty="0" smtClean="0"/>
              <a:t>feature</a:t>
            </a:r>
            <a:endParaRPr lang="en-US" dirty="0"/>
          </a:p>
        </p:txBody>
      </p:sp>
      <p:sp>
        <p:nvSpPr>
          <p:cNvPr id="8" name="TextBox 7"/>
          <p:cNvSpPr txBox="1"/>
          <p:nvPr/>
        </p:nvSpPr>
        <p:spPr>
          <a:xfrm>
            <a:off x="1781545" y="3449463"/>
            <a:ext cx="1044201" cy="369332"/>
          </a:xfrm>
          <a:prstGeom prst="rect">
            <a:avLst/>
          </a:prstGeom>
          <a:noFill/>
        </p:spPr>
        <p:txBody>
          <a:bodyPr wrap="none" rtlCol="0">
            <a:spAutoFit/>
          </a:bodyPr>
          <a:lstStyle/>
          <a:p>
            <a:r>
              <a:rPr lang="en-US" dirty="0" smtClean="0"/>
              <a:t>disparity</a:t>
            </a:r>
            <a:endParaRPr lang="en-US" dirty="0"/>
          </a:p>
        </p:txBody>
      </p:sp>
      <p:sp>
        <p:nvSpPr>
          <p:cNvPr id="9" name="TextBox 8"/>
          <p:cNvSpPr txBox="1"/>
          <p:nvPr/>
        </p:nvSpPr>
        <p:spPr>
          <a:xfrm>
            <a:off x="2765527" y="3449463"/>
            <a:ext cx="736500" cy="369332"/>
          </a:xfrm>
          <a:prstGeom prst="rect">
            <a:avLst/>
          </a:prstGeom>
          <a:noFill/>
        </p:spPr>
        <p:txBody>
          <a:bodyPr wrap="none" rtlCol="0">
            <a:spAutoFit/>
          </a:bodyPr>
          <a:lstStyle/>
          <a:p>
            <a:r>
              <a:rPr lang="en-US" dirty="0" err="1" smtClean="0"/>
              <a:t>sobel</a:t>
            </a:r>
            <a:endParaRPr lang="en-US" dirty="0"/>
          </a:p>
        </p:txBody>
      </p:sp>
      <p:sp>
        <p:nvSpPr>
          <p:cNvPr id="10" name="TextBox 9"/>
          <p:cNvSpPr txBox="1"/>
          <p:nvPr/>
        </p:nvSpPr>
        <p:spPr>
          <a:xfrm>
            <a:off x="3562119" y="3449463"/>
            <a:ext cx="890350" cy="369332"/>
          </a:xfrm>
          <a:prstGeom prst="rect">
            <a:avLst/>
          </a:prstGeom>
          <a:noFill/>
        </p:spPr>
        <p:txBody>
          <a:bodyPr wrap="none" rtlCol="0">
            <a:spAutoFit/>
          </a:bodyPr>
          <a:lstStyle/>
          <a:p>
            <a:r>
              <a:rPr lang="en-US" dirty="0" smtClean="0"/>
              <a:t>texture</a:t>
            </a:r>
            <a:endParaRPr lang="en-US" dirty="0"/>
          </a:p>
        </p:txBody>
      </p:sp>
      <p:sp>
        <p:nvSpPr>
          <p:cNvPr id="11" name="TextBox 10"/>
          <p:cNvSpPr txBox="1"/>
          <p:nvPr/>
        </p:nvSpPr>
        <p:spPr>
          <a:xfrm>
            <a:off x="4401644" y="3449463"/>
            <a:ext cx="1070012" cy="369332"/>
          </a:xfrm>
          <a:prstGeom prst="rect">
            <a:avLst/>
          </a:prstGeom>
          <a:noFill/>
        </p:spPr>
        <p:txBody>
          <a:bodyPr wrap="none" rtlCol="0">
            <a:spAutoFit/>
          </a:bodyPr>
          <a:lstStyle/>
          <a:p>
            <a:r>
              <a:rPr lang="en-US" dirty="0" smtClean="0"/>
              <a:t>segment</a:t>
            </a:r>
            <a:endParaRPr lang="en-US" dirty="0"/>
          </a:p>
        </p:txBody>
      </p:sp>
      <p:sp>
        <p:nvSpPr>
          <p:cNvPr id="12" name="TextBox 11"/>
          <p:cNvSpPr txBox="1"/>
          <p:nvPr/>
        </p:nvSpPr>
        <p:spPr>
          <a:xfrm>
            <a:off x="5452348" y="3449463"/>
            <a:ext cx="992918" cy="369332"/>
          </a:xfrm>
          <a:prstGeom prst="rect">
            <a:avLst/>
          </a:prstGeom>
          <a:noFill/>
        </p:spPr>
        <p:txBody>
          <a:bodyPr wrap="none" rtlCol="0">
            <a:spAutoFit/>
          </a:bodyPr>
          <a:lstStyle/>
          <a:p>
            <a:r>
              <a:rPr lang="en-US" dirty="0" err="1" smtClean="0"/>
              <a:t>kmeans</a:t>
            </a:r>
            <a:endParaRPr lang="en-US" dirty="0"/>
          </a:p>
        </p:txBody>
      </p:sp>
      <p:sp>
        <p:nvSpPr>
          <p:cNvPr id="13" name="TextBox 12"/>
          <p:cNvSpPr txBox="1"/>
          <p:nvPr/>
        </p:nvSpPr>
        <p:spPr>
          <a:xfrm rot="16200000">
            <a:off x="-647338" y="2301496"/>
            <a:ext cx="2263510" cy="369332"/>
          </a:xfrm>
          <a:prstGeom prst="rect">
            <a:avLst/>
          </a:prstGeom>
          <a:noFill/>
        </p:spPr>
        <p:txBody>
          <a:bodyPr wrap="none" rtlCol="0">
            <a:spAutoFit/>
          </a:bodyPr>
          <a:lstStyle/>
          <a:p>
            <a:r>
              <a:rPr lang="en-US" dirty="0" smtClean="0"/>
              <a:t>normalized speedup</a:t>
            </a:r>
            <a:endParaRPr lang="en-US" dirty="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graphicFrame>
        <p:nvGraphicFramePr>
          <p:cNvPr id="22" name="Chart 21"/>
          <p:cNvGraphicFramePr/>
          <p:nvPr/>
        </p:nvGraphicFramePr>
        <p:xfrm>
          <a:off x="4094024" y="3121536"/>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p:txBody>
          <a:bodyPr/>
          <a:lstStyle/>
          <a:p>
            <a:r>
              <a:rPr lang="en-US" dirty="0" smtClean="0"/>
              <a:t>Bursty Applications</a:t>
            </a:r>
            <a:endParaRPr lang="en-US" dirty="0"/>
          </a:p>
        </p:txBody>
      </p:sp>
      <p:sp>
        <p:nvSpPr>
          <p:cNvPr id="4" name="Slide Number Placeholder 3"/>
          <p:cNvSpPr>
            <a:spLocks noGrp="1"/>
          </p:cNvSpPr>
          <p:nvPr>
            <p:ph type="sldNum" sz="quarter" idx="10"/>
          </p:nvPr>
        </p:nvSpPr>
        <p:spPr/>
        <p:txBody>
          <a:bodyPr/>
          <a:lstStyle/>
          <a:p>
            <a:fld id="{FDA0CC57-CE7D-8143-BD13-67094D272EE6}" type="slidenum">
              <a:rPr lang="en-US" smtClean="0"/>
              <a:pPr/>
              <a:t>46</a:t>
            </a:fld>
            <a:endParaRPr lang="en-US"/>
          </a:p>
        </p:txBody>
      </p:sp>
      <p:sp>
        <p:nvSpPr>
          <p:cNvPr id="5" name="Footer Placeholder 4"/>
          <p:cNvSpPr>
            <a:spLocks noGrp="1"/>
          </p:cNvSpPr>
          <p:nvPr>
            <p:ph type="ftr" sz="quarter" idx="11"/>
          </p:nvPr>
        </p:nvSpPr>
        <p:spPr/>
        <p:txBody>
          <a:bodyPr/>
          <a:lstStyle/>
          <a:p>
            <a:r>
              <a:rPr lang="en-US" smtClean="0"/>
              <a:t>Computational Sprinting</a:t>
            </a:r>
            <a:endParaRPr lang="en-US" dirty="0"/>
          </a:p>
        </p:txBody>
      </p:sp>
      <p:grpSp>
        <p:nvGrpSpPr>
          <p:cNvPr id="12" name="Group 11"/>
          <p:cNvGrpSpPr/>
          <p:nvPr/>
        </p:nvGrpSpPr>
        <p:grpSpPr>
          <a:xfrm>
            <a:off x="1062127" y="2301337"/>
            <a:ext cx="1906047" cy="2006588"/>
            <a:chOff x="1104462" y="2024261"/>
            <a:chExt cx="5626538" cy="4401482"/>
          </a:xfrm>
        </p:grpSpPr>
        <p:pic>
          <p:nvPicPr>
            <p:cNvPr id="6" name="Picture 5" descr="intuitive-object-recognition.jpg"/>
            <p:cNvPicPr>
              <a:picLocks noChangeAspect="1"/>
            </p:cNvPicPr>
            <p:nvPr/>
          </p:nvPicPr>
          <p:blipFill>
            <a:blip r:embed="rId4"/>
            <a:stretch>
              <a:fillRect/>
            </a:stretch>
          </p:blipFill>
          <p:spPr>
            <a:xfrm>
              <a:off x="1294962" y="2024261"/>
              <a:ext cx="2578538" cy="2158917"/>
            </a:xfrm>
            <a:prstGeom prst="rect">
              <a:avLst/>
            </a:prstGeom>
          </p:spPr>
        </p:pic>
        <p:pic>
          <p:nvPicPr>
            <p:cNvPr id="8" name="Picture 7" descr="mobile-augmented-reality-auf-dem-iphone1.jpg"/>
            <p:cNvPicPr>
              <a:picLocks noChangeAspect="1"/>
            </p:cNvPicPr>
            <p:nvPr/>
          </p:nvPicPr>
          <p:blipFill>
            <a:blip r:embed="rId5"/>
            <a:stretch>
              <a:fillRect/>
            </a:stretch>
          </p:blipFill>
          <p:spPr>
            <a:xfrm>
              <a:off x="1104462" y="3918161"/>
              <a:ext cx="3121152" cy="2289048"/>
            </a:xfrm>
            <a:prstGeom prst="rect">
              <a:avLst/>
            </a:prstGeom>
          </p:spPr>
        </p:pic>
        <p:pic>
          <p:nvPicPr>
            <p:cNvPr id="9" name="Picture 8" descr="feature-extraction.jpg"/>
            <p:cNvPicPr>
              <a:picLocks noChangeAspect="1"/>
            </p:cNvPicPr>
            <p:nvPr/>
          </p:nvPicPr>
          <p:blipFill>
            <a:blip r:embed="rId6"/>
            <a:stretch>
              <a:fillRect/>
            </a:stretch>
          </p:blipFill>
          <p:spPr>
            <a:xfrm>
              <a:off x="3157898" y="2024261"/>
              <a:ext cx="1647825" cy="2438400"/>
            </a:xfrm>
            <a:prstGeom prst="rect">
              <a:avLst/>
            </a:prstGeom>
          </p:spPr>
        </p:pic>
        <p:pic>
          <p:nvPicPr>
            <p:cNvPr id="10" name="Picture 9"/>
            <p:cNvPicPr>
              <a:picLocks noChangeAspect="1"/>
            </p:cNvPicPr>
            <p:nvPr/>
          </p:nvPicPr>
          <p:blipFill>
            <a:blip r:embed="rId7"/>
            <a:stretch>
              <a:fillRect/>
            </a:stretch>
          </p:blipFill>
          <p:spPr>
            <a:xfrm>
              <a:off x="2911343" y="3918161"/>
              <a:ext cx="2806700" cy="2507582"/>
            </a:xfrm>
            <a:prstGeom prst="rect">
              <a:avLst/>
            </a:prstGeom>
          </p:spPr>
        </p:pic>
        <p:pic>
          <p:nvPicPr>
            <p:cNvPr id="7" name="Picture 6" descr="iphone_graffiti_1.jpg"/>
            <p:cNvPicPr>
              <a:picLocks noChangeAspect="1"/>
            </p:cNvPicPr>
            <p:nvPr/>
          </p:nvPicPr>
          <p:blipFill>
            <a:blip r:embed="rId8"/>
            <a:stretch>
              <a:fillRect/>
            </a:stretch>
          </p:blipFill>
          <p:spPr>
            <a:xfrm>
              <a:off x="4314693" y="2614483"/>
              <a:ext cx="2416307" cy="2557469"/>
            </a:xfrm>
            <a:prstGeom prst="rect">
              <a:avLst/>
            </a:prstGeom>
          </p:spPr>
        </p:pic>
      </p:grpSp>
      <p:graphicFrame>
        <p:nvGraphicFramePr>
          <p:cNvPr id="13" name="Chart 12"/>
          <p:cNvGraphicFramePr/>
          <p:nvPr/>
        </p:nvGraphicFramePr>
        <p:xfrm>
          <a:off x="4114800" y="990600"/>
          <a:ext cx="4572000" cy="2152650"/>
        </p:xfrm>
        <a:graphic>
          <a:graphicData uri="http://schemas.openxmlformats.org/drawingml/2006/chart">
            <c:chart xmlns:c="http://schemas.openxmlformats.org/drawingml/2006/chart" xmlns:r="http://schemas.openxmlformats.org/officeDocument/2006/relationships" r:id="rId9"/>
          </a:graphicData>
        </a:graphic>
      </p:graphicFrame>
      <p:sp>
        <p:nvSpPr>
          <p:cNvPr id="15" name="TextBox 14"/>
          <p:cNvSpPr txBox="1"/>
          <p:nvPr/>
        </p:nvSpPr>
        <p:spPr>
          <a:xfrm rot="16200000">
            <a:off x="3908657" y="2025134"/>
            <a:ext cx="813369" cy="369332"/>
          </a:xfrm>
          <a:prstGeom prst="rect">
            <a:avLst/>
          </a:prstGeom>
          <a:noFill/>
        </p:spPr>
        <p:txBody>
          <a:bodyPr wrap="none" rtlCol="0">
            <a:spAutoFit/>
          </a:bodyPr>
          <a:lstStyle/>
          <a:p>
            <a:r>
              <a:rPr lang="en-US" dirty="0" smtClean="0"/>
              <a:t>power</a:t>
            </a:r>
            <a:endParaRPr lang="en-US" dirty="0"/>
          </a:p>
        </p:txBody>
      </p:sp>
      <p:sp>
        <p:nvSpPr>
          <p:cNvPr id="16" name="TextBox 15"/>
          <p:cNvSpPr txBox="1"/>
          <p:nvPr/>
        </p:nvSpPr>
        <p:spPr>
          <a:xfrm rot="16200000">
            <a:off x="3616734" y="4508463"/>
            <a:ext cx="1429222" cy="369332"/>
          </a:xfrm>
          <a:prstGeom prst="rect">
            <a:avLst/>
          </a:prstGeom>
          <a:noFill/>
        </p:spPr>
        <p:txBody>
          <a:bodyPr wrap="none" rtlCol="0">
            <a:spAutoFit/>
          </a:bodyPr>
          <a:lstStyle/>
          <a:p>
            <a:r>
              <a:rPr lang="en-US" dirty="0" smtClean="0"/>
              <a:t>temperature </a:t>
            </a:r>
            <a:endParaRPr lang="en-US" dirty="0"/>
          </a:p>
        </p:txBody>
      </p:sp>
      <p:sp>
        <p:nvSpPr>
          <p:cNvPr id="17" name="TextBox 16"/>
          <p:cNvSpPr txBox="1"/>
          <p:nvPr/>
        </p:nvSpPr>
        <p:spPr>
          <a:xfrm>
            <a:off x="3784773" y="3443797"/>
            <a:ext cx="760294" cy="461665"/>
          </a:xfrm>
          <a:prstGeom prst="rect">
            <a:avLst/>
          </a:prstGeom>
          <a:noFill/>
        </p:spPr>
        <p:txBody>
          <a:bodyPr wrap="none" rtlCol="0">
            <a:spAutoFit/>
          </a:bodyPr>
          <a:lstStyle/>
          <a:p>
            <a:r>
              <a:rPr lang="en-US" sz="2400" dirty="0" smtClean="0"/>
              <a:t>T</a:t>
            </a:r>
            <a:r>
              <a:rPr lang="en-US" sz="2400" baseline="-25000" dirty="0" smtClean="0"/>
              <a:t>max</a:t>
            </a:r>
            <a:endParaRPr lang="en-US" sz="2400" dirty="0"/>
          </a:p>
        </p:txBody>
      </p:sp>
      <p:cxnSp>
        <p:nvCxnSpPr>
          <p:cNvPr id="18" name="Straight Connector 17"/>
          <p:cNvCxnSpPr/>
          <p:nvPr/>
        </p:nvCxnSpPr>
        <p:spPr bwMode="auto">
          <a:xfrm>
            <a:off x="4626154" y="3610308"/>
            <a:ext cx="4043120" cy="1588"/>
          </a:xfrm>
          <a:prstGeom prst="line">
            <a:avLst/>
          </a:prstGeom>
          <a:noFill/>
          <a:ln w="38100" cap="flat" cmpd="sng" algn="ctr">
            <a:solidFill>
              <a:schemeClr val="tx1"/>
            </a:solidFill>
            <a:prstDash val="dash"/>
            <a:round/>
            <a:headEnd type="none" w="med" len="med"/>
            <a:tailEnd type="none" w="med" len="med"/>
          </a:ln>
          <a:effectLst/>
        </p:spPr>
      </p:cxnSp>
      <p:sp>
        <p:nvSpPr>
          <p:cNvPr id="19" name="Freeform 18"/>
          <p:cNvSpPr/>
          <p:nvPr/>
        </p:nvSpPr>
        <p:spPr bwMode="auto">
          <a:xfrm rot="8819719" flipH="1">
            <a:off x="3932599" y="1612814"/>
            <a:ext cx="521810" cy="2777067"/>
          </a:xfrm>
          <a:custGeom>
            <a:avLst/>
            <a:gdLst>
              <a:gd name="connsiteX0" fmla="*/ 0 w 1861782"/>
              <a:gd name="connsiteY0" fmla="*/ 0 h 271237"/>
              <a:gd name="connsiteX1" fmla="*/ 1861782 w 1861782"/>
              <a:gd name="connsiteY1" fmla="*/ 271237 h 271237"/>
              <a:gd name="connsiteX0" fmla="*/ 0 w 2080779"/>
              <a:gd name="connsiteY0" fmla="*/ 0 h 36987"/>
              <a:gd name="connsiteX1" fmla="*/ 2080779 w 2080779"/>
              <a:gd name="connsiteY1" fmla="*/ 36987 h 36987"/>
              <a:gd name="connsiteX0" fmla="*/ 0 w 2080779"/>
              <a:gd name="connsiteY0" fmla="*/ 517818 h 554805"/>
              <a:gd name="connsiteX1" fmla="*/ 2080779 w 2080779"/>
              <a:gd name="connsiteY1" fmla="*/ 554805 h 554805"/>
              <a:gd name="connsiteX0" fmla="*/ 0 w 2080779"/>
              <a:gd name="connsiteY0" fmla="*/ 517818 h 554805"/>
              <a:gd name="connsiteX1" fmla="*/ 2080779 w 2080779"/>
              <a:gd name="connsiteY1" fmla="*/ 554805 h 554805"/>
              <a:gd name="connsiteX0" fmla="*/ 0 w 2080779"/>
              <a:gd name="connsiteY0" fmla="*/ 468502 h 505489"/>
              <a:gd name="connsiteX1" fmla="*/ 2080779 w 2080779"/>
              <a:gd name="connsiteY1" fmla="*/ 505489 h 505489"/>
              <a:gd name="connsiteX0" fmla="*/ 0 w 2080779"/>
              <a:gd name="connsiteY0" fmla="*/ 456173 h 493160"/>
              <a:gd name="connsiteX1" fmla="*/ 2080779 w 2080779"/>
              <a:gd name="connsiteY1" fmla="*/ 493160 h 493160"/>
              <a:gd name="connsiteX0" fmla="*/ 0 w 2080779"/>
              <a:gd name="connsiteY0" fmla="*/ 271238 h 308225"/>
              <a:gd name="connsiteX1" fmla="*/ 2080779 w 2080779"/>
              <a:gd name="connsiteY1" fmla="*/ 308225 h 308225"/>
              <a:gd name="connsiteX0" fmla="*/ 0 w 2080779"/>
              <a:gd name="connsiteY0" fmla="*/ 422377 h 422377"/>
              <a:gd name="connsiteX1" fmla="*/ 2080779 w 2080779"/>
              <a:gd name="connsiteY1" fmla="*/ 308225 h 422377"/>
              <a:gd name="connsiteX0" fmla="*/ 0 w 1938972"/>
              <a:gd name="connsiteY0" fmla="*/ 1118309 h 1118309"/>
              <a:gd name="connsiteX1" fmla="*/ 1938972 w 1938972"/>
              <a:gd name="connsiteY1" fmla="*/ 308225 h 1118309"/>
              <a:gd name="connsiteX0" fmla="*/ 0 w 1938972"/>
              <a:gd name="connsiteY0" fmla="*/ 810084 h 810084"/>
              <a:gd name="connsiteX1" fmla="*/ 1938972 w 1938972"/>
              <a:gd name="connsiteY1" fmla="*/ 0 h 810084"/>
            </a:gdLst>
            <a:ahLst/>
            <a:cxnLst>
              <a:cxn ang="0">
                <a:pos x="connsiteX0" y="connsiteY0"/>
              </a:cxn>
              <a:cxn ang="0">
                <a:pos x="connsiteX1" y="connsiteY1"/>
              </a:cxn>
            </a:cxnLst>
            <a:rect l="l" t="t" r="r" b="b"/>
            <a:pathLst>
              <a:path w="1938972" h="810084">
                <a:moveTo>
                  <a:pt x="0" y="810084"/>
                </a:moveTo>
                <a:cubicBezTo>
                  <a:pt x="693593" y="674464"/>
                  <a:pt x="1449563" y="452584"/>
                  <a:pt x="1938972" y="0"/>
                </a:cubicBezTo>
              </a:path>
            </a:pathLst>
          </a:custGeom>
          <a:noFill/>
          <a:ln w="12700" cap="flat" cmpd="sng" algn="ctr">
            <a:solidFill>
              <a:srgbClr val="000000"/>
            </a:solidFill>
            <a:prstDash val="solid"/>
            <a:round/>
            <a:headEnd type="none" w="lg" len="lg"/>
            <a:tailEnd type="stealth" w="lg" len="lg"/>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32" charset="-128"/>
            </a:endParaRPr>
          </a:p>
        </p:txBody>
      </p:sp>
      <p:sp>
        <p:nvSpPr>
          <p:cNvPr id="20" name="TextBox 19"/>
          <p:cNvSpPr txBox="1"/>
          <p:nvPr/>
        </p:nvSpPr>
        <p:spPr>
          <a:xfrm>
            <a:off x="119926" y="1028199"/>
            <a:ext cx="4476750" cy="954107"/>
          </a:xfrm>
          <a:prstGeom prst="rect">
            <a:avLst/>
          </a:prstGeom>
          <a:noFill/>
        </p:spPr>
        <p:txBody>
          <a:bodyPr wrap="square" rtlCol="0">
            <a:spAutoFit/>
          </a:bodyPr>
          <a:lstStyle/>
          <a:p>
            <a:r>
              <a:rPr lang="en-US" sz="2400" dirty="0" smtClean="0">
                <a:solidFill>
                  <a:srgbClr val="FF0000"/>
                </a:solidFill>
                <a:latin typeface="Calibri"/>
                <a:cs typeface="Calibri"/>
              </a:rPr>
              <a:t>Temperature rises transiently</a:t>
            </a:r>
          </a:p>
          <a:p>
            <a:r>
              <a:rPr lang="en-US" sz="2400" dirty="0" smtClean="0">
                <a:solidFill>
                  <a:srgbClr val="FF0000"/>
                </a:solidFill>
                <a:latin typeface="Calibri"/>
                <a:cs typeface="Calibri"/>
              </a:rPr>
              <a:t> at rate </a:t>
            </a:r>
            <a:r>
              <a:rPr lang="en-US" sz="3200" dirty="0" err="1" smtClean="0">
                <a:solidFill>
                  <a:srgbClr val="FF0000"/>
                </a:solidFill>
                <a:latin typeface="Calibri"/>
                <a:cs typeface="Calibri"/>
              </a:rPr>
              <a:t>α</a:t>
            </a:r>
            <a:r>
              <a:rPr lang="en-US" sz="2400" dirty="0" smtClean="0">
                <a:solidFill>
                  <a:srgbClr val="FF0000"/>
                </a:solidFill>
                <a:latin typeface="Calibri"/>
                <a:cs typeface="Calibri"/>
              </a:rPr>
              <a:t> thermal capacitance</a:t>
            </a:r>
            <a:endParaRPr lang="en-US" sz="2000" dirty="0" smtClean="0">
              <a:solidFill>
                <a:srgbClr val="FF0000"/>
              </a:solidFill>
              <a:latin typeface="Calibri"/>
              <a:cs typeface="Calibri"/>
            </a:endParaRPr>
          </a:p>
          <a:p>
            <a:endParaRPr lang="en-US" sz="2000" dirty="0">
              <a:solidFill>
                <a:srgbClr val="FF0000"/>
              </a:solidFill>
              <a:latin typeface="Calibri"/>
              <a:cs typeface="Calibri"/>
            </a:endParaRPr>
          </a:p>
        </p:txBody>
      </p:sp>
      <p:sp>
        <p:nvSpPr>
          <p:cNvPr id="21" name="TextBox 20"/>
          <p:cNvSpPr txBox="1"/>
          <p:nvPr/>
        </p:nvSpPr>
        <p:spPr>
          <a:xfrm>
            <a:off x="136030" y="5875620"/>
            <a:ext cx="8871940" cy="584776"/>
          </a:xfrm>
          <a:prstGeom prst="rect">
            <a:avLst/>
          </a:prstGeom>
          <a:noFill/>
        </p:spPr>
        <p:txBody>
          <a:bodyPr wrap="none" rtlCol="0">
            <a:spAutoFit/>
          </a:bodyPr>
          <a:lstStyle/>
          <a:p>
            <a:r>
              <a:rPr lang="en-US" sz="3200" b="1" dirty="0" smtClean="0">
                <a:solidFill>
                  <a:srgbClr val="005EA7"/>
                </a:solidFill>
                <a:latin typeface="Calibri"/>
                <a:cs typeface="Calibri"/>
              </a:rPr>
              <a:t>Exploit thermal transient for bursts of computation</a:t>
            </a:r>
          </a:p>
          <a:p>
            <a:endParaRPr lang="en-US" sz="3200" b="1" dirty="0">
              <a:solidFill>
                <a:srgbClr val="005EA7"/>
              </a:solidFill>
              <a:latin typeface="Calibri"/>
              <a:cs typeface="Calibri"/>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P spid="15" grpId="0"/>
      <p:bldP spid="16" grpId="0"/>
      <p:bldP spid="17" grpId="0"/>
      <p:bldP spid="19" grpId="0" animBg="1"/>
      <p:bldP spid="20" grpId="0"/>
      <p:bldP spid="21" grpId="0"/>
    </p:bld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Responsiveness Evaluation</a:t>
            </a:r>
            <a:endParaRPr lang="en-US" dirty="0"/>
          </a:p>
        </p:txBody>
      </p:sp>
      <p:sp>
        <p:nvSpPr>
          <p:cNvPr id="14" name="Slide Number Placeholder 13"/>
          <p:cNvSpPr>
            <a:spLocks noGrp="1"/>
          </p:cNvSpPr>
          <p:nvPr>
            <p:ph type="sldNum" sz="quarter" idx="10"/>
          </p:nvPr>
        </p:nvSpPr>
        <p:spPr/>
        <p:txBody>
          <a:bodyPr/>
          <a:lstStyle/>
          <a:p>
            <a:fld id="{F095543E-C052-B94D-8CA8-5BD72BC98389}" type="slidenum">
              <a:rPr lang="en-US" smtClean="0"/>
              <a:pPr/>
              <a:t>47</a:t>
            </a:fld>
            <a:endParaRPr lang="en-US"/>
          </a:p>
        </p:txBody>
      </p:sp>
      <p:sp>
        <p:nvSpPr>
          <p:cNvPr id="15" name="Footer Placeholder 14"/>
          <p:cNvSpPr>
            <a:spLocks noGrp="1"/>
          </p:cNvSpPr>
          <p:nvPr>
            <p:ph type="ftr" sz="quarter" idx="11"/>
          </p:nvPr>
        </p:nvSpPr>
        <p:spPr/>
        <p:txBody>
          <a:bodyPr/>
          <a:lstStyle/>
          <a:p>
            <a:r>
              <a:rPr lang="en-US" smtClean="0"/>
              <a:t>Computational Sprinting</a:t>
            </a:r>
            <a:endParaRPr lang="en-US" dirty="0"/>
          </a:p>
        </p:txBody>
      </p:sp>
      <p:sp>
        <p:nvSpPr>
          <p:cNvPr id="7" name="TextBox 6"/>
          <p:cNvSpPr txBox="1"/>
          <p:nvPr/>
        </p:nvSpPr>
        <p:spPr>
          <a:xfrm>
            <a:off x="2952674" y="4289920"/>
            <a:ext cx="2673441" cy="369332"/>
          </a:xfrm>
          <a:prstGeom prst="rect">
            <a:avLst/>
          </a:prstGeom>
          <a:noFill/>
        </p:spPr>
        <p:txBody>
          <a:bodyPr wrap="none" rtlCol="0">
            <a:spAutoFit/>
          </a:bodyPr>
          <a:lstStyle/>
          <a:p>
            <a:r>
              <a:rPr lang="en-US" dirty="0" smtClean="0"/>
              <a:t>image size (Megapixels)</a:t>
            </a:r>
            <a:endParaRPr lang="en-US" dirty="0"/>
          </a:p>
        </p:txBody>
      </p:sp>
      <p:sp>
        <p:nvSpPr>
          <p:cNvPr id="8" name="TextBox 7"/>
          <p:cNvSpPr txBox="1"/>
          <p:nvPr/>
        </p:nvSpPr>
        <p:spPr>
          <a:xfrm rot="16200000">
            <a:off x="-574348" y="2209004"/>
            <a:ext cx="2263510" cy="369332"/>
          </a:xfrm>
          <a:prstGeom prst="rect">
            <a:avLst/>
          </a:prstGeom>
          <a:noFill/>
        </p:spPr>
        <p:txBody>
          <a:bodyPr wrap="none" rtlCol="0">
            <a:spAutoFit/>
          </a:bodyPr>
          <a:lstStyle/>
          <a:p>
            <a:r>
              <a:rPr lang="en-US" dirty="0" smtClean="0"/>
              <a:t>normalized speedup</a:t>
            </a:r>
            <a:endParaRPr lang="en-US" dirty="0"/>
          </a:p>
        </p:txBody>
      </p:sp>
      <p:sp>
        <p:nvSpPr>
          <p:cNvPr id="10" name="TextBox 9"/>
          <p:cNvSpPr txBox="1"/>
          <p:nvPr/>
        </p:nvSpPr>
        <p:spPr>
          <a:xfrm>
            <a:off x="4302237" y="1750329"/>
            <a:ext cx="2969082" cy="369332"/>
          </a:xfrm>
          <a:prstGeom prst="rect">
            <a:avLst/>
          </a:prstGeom>
          <a:noFill/>
        </p:spPr>
        <p:txBody>
          <a:bodyPr wrap="none" rtlCol="0">
            <a:spAutoFit/>
          </a:bodyPr>
          <a:lstStyle/>
          <a:p>
            <a:r>
              <a:rPr lang="en-US" dirty="0" err="1" smtClean="0"/>
              <a:t>sobel</a:t>
            </a:r>
            <a:r>
              <a:rPr lang="en-US" dirty="0" smtClean="0"/>
              <a:t> (edge detection filter)</a:t>
            </a:r>
            <a:endParaRPr lang="en-US" dirty="0"/>
          </a:p>
        </p:txBody>
      </p:sp>
      <p:sp>
        <p:nvSpPr>
          <p:cNvPr id="19" name="TextBox 18"/>
          <p:cNvSpPr txBox="1"/>
          <p:nvPr/>
        </p:nvSpPr>
        <p:spPr>
          <a:xfrm>
            <a:off x="861476" y="5103635"/>
            <a:ext cx="7421049" cy="830997"/>
          </a:xfrm>
          <a:prstGeom prst="rect">
            <a:avLst/>
          </a:prstGeom>
          <a:noFill/>
        </p:spPr>
        <p:txBody>
          <a:bodyPr wrap="square" rtlCol="0">
            <a:spAutoFit/>
          </a:bodyPr>
          <a:lstStyle/>
          <a:p>
            <a:pPr algn="ctr"/>
            <a:r>
              <a:rPr lang="en-US" sz="2400" dirty="0" smtClean="0">
                <a:latin typeface="Calibri"/>
                <a:cs typeface="Calibri"/>
              </a:rPr>
              <a:t>DVFS Model: Voltage proportional to frequency</a:t>
            </a:r>
          </a:p>
          <a:p>
            <a:pPr algn="ctr"/>
            <a:r>
              <a:rPr lang="en-US" sz="2400" dirty="0" smtClean="0">
                <a:latin typeface="Calibri"/>
                <a:cs typeface="Calibri"/>
              </a:rPr>
              <a:t>Equivalent power = </a:t>
            </a:r>
            <a:r>
              <a:rPr lang="en-US" sz="2400" baseline="30000" dirty="0" smtClean="0">
                <a:latin typeface="Calibri"/>
                <a:cs typeface="Calibri"/>
              </a:rPr>
              <a:t>3</a:t>
            </a:r>
            <a:r>
              <a:rPr lang="en-US" sz="2400" dirty="0" smtClean="0">
                <a:latin typeface="Calibri"/>
                <a:cs typeface="Calibri"/>
              </a:rPr>
              <a:t>√16</a:t>
            </a:r>
            <a:endParaRPr lang="en-US" sz="2400" dirty="0">
              <a:latin typeface="Calibri"/>
              <a:cs typeface="Calibri"/>
            </a:endParaRPr>
          </a:p>
        </p:txBody>
      </p:sp>
      <p:sp>
        <p:nvSpPr>
          <p:cNvPr id="21" name="TextBox 20"/>
          <p:cNvSpPr txBox="1"/>
          <p:nvPr/>
        </p:nvSpPr>
        <p:spPr>
          <a:xfrm>
            <a:off x="2276907" y="2227133"/>
            <a:ext cx="4228867" cy="400110"/>
          </a:xfrm>
          <a:prstGeom prst="rect">
            <a:avLst/>
          </a:prstGeom>
          <a:noFill/>
        </p:spPr>
        <p:txBody>
          <a:bodyPr wrap="none" rtlCol="0">
            <a:spAutoFit/>
          </a:bodyPr>
          <a:lstStyle/>
          <a:p>
            <a:r>
              <a:rPr lang="en-US" sz="2000" b="1" dirty="0" smtClean="0">
                <a:solidFill>
                  <a:srgbClr val="005EA7"/>
                </a:solidFill>
                <a:latin typeface="Calibri"/>
                <a:cs typeface="Calibri"/>
              </a:rPr>
              <a:t>DVFS exhausts thermal capacity faster</a:t>
            </a:r>
            <a:endParaRPr lang="en-US" sz="2000" b="1" dirty="0">
              <a:solidFill>
                <a:srgbClr val="005EA7"/>
              </a:solidFill>
              <a:latin typeface="Calibri"/>
              <a:cs typeface="Calibri"/>
            </a:endParaRPr>
          </a:p>
        </p:txBody>
      </p:sp>
      <p:graphicFrame>
        <p:nvGraphicFramePr>
          <p:cNvPr id="18" name="Content Placeholder 5"/>
          <p:cNvGraphicFramePr>
            <a:graphicFrameLocks noGrp="1"/>
          </p:cNvGraphicFramePr>
          <p:nvPr>
            <p:ph idx="1"/>
          </p:nvPr>
        </p:nvGraphicFramePr>
        <p:xfrm>
          <a:off x="742073" y="838200"/>
          <a:ext cx="8229600" cy="3578086"/>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8466055" y="3168215"/>
            <a:ext cx="641552" cy="369332"/>
          </a:xfrm>
          <a:prstGeom prst="rect">
            <a:avLst/>
          </a:prstGeom>
          <a:solidFill>
            <a:srgbClr val="FFFFFF"/>
          </a:solidFill>
        </p:spPr>
        <p:txBody>
          <a:bodyPr wrap="none" lIns="0" rIns="0" rtlCol="0">
            <a:spAutoFit/>
          </a:bodyPr>
          <a:lstStyle/>
          <a:p>
            <a:r>
              <a:rPr lang="en-US" dirty="0" smtClean="0"/>
              <a:t>1.5mg</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graphicEl>
                                              <a:chart seriesIdx="3" categoryIdx="-4" bldStep="series"/>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Graphic spid="18" grpId="0" uiExpand="1">
        <p:bldSub>
          <a:bldChart bld="series"/>
        </p:bldSub>
      </p:bldGraphic>
      <p:bldP spid="17" grpId="0" animBg="1"/>
    </p:bld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r>
              <a:rPr lang="en-US" dirty="0" smtClean="0"/>
              <a:t>Technology and Mobile Application Trends</a:t>
            </a:r>
            <a:endParaRPr lang="en-US" dirty="0"/>
          </a:p>
        </p:txBody>
      </p:sp>
      <p:sp>
        <p:nvSpPr>
          <p:cNvPr id="29" name="Content Placeholder 28"/>
          <p:cNvSpPr>
            <a:spLocks noGrp="1"/>
          </p:cNvSpPr>
          <p:nvPr>
            <p:ph idx="1"/>
          </p:nvPr>
        </p:nvSpPr>
        <p:spPr>
          <a:xfrm>
            <a:off x="388175" y="995363"/>
            <a:ext cx="8298625" cy="4867275"/>
          </a:xfrm>
        </p:spPr>
        <p:txBody>
          <a:bodyPr/>
          <a:lstStyle/>
          <a:p>
            <a:r>
              <a:rPr lang="en-US" dirty="0" smtClean="0"/>
              <a:t>Technology trends </a:t>
            </a:r>
            <a:r>
              <a:rPr lang="en-US" dirty="0" smtClean="0">
                <a:latin typeface="Wingdings"/>
                <a:ea typeface="Wingdings"/>
                <a:cs typeface="Wingdings"/>
              </a:rPr>
              <a:t></a:t>
            </a:r>
            <a:r>
              <a:rPr lang="en-US" dirty="0" smtClean="0">
                <a:ea typeface="Wingdings"/>
                <a:cs typeface="Wingdings"/>
              </a:rPr>
              <a:t> </a:t>
            </a:r>
            <a:r>
              <a:rPr lang="en-US" dirty="0" smtClean="0">
                <a:solidFill>
                  <a:srgbClr val="005EA7"/>
                </a:solidFill>
                <a:ea typeface="Wingdings"/>
                <a:cs typeface="Wingdings"/>
              </a:rPr>
              <a:t>Increasing power density</a:t>
            </a:r>
          </a:p>
          <a:p>
            <a:pPr lvl="1">
              <a:spcAft>
                <a:spcPts val="0"/>
              </a:spcAft>
            </a:pPr>
            <a:r>
              <a:rPr lang="en-US" dirty="0" smtClean="0"/>
              <a:t>10x increase over next few generations (“dark silicon”)</a:t>
            </a:r>
          </a:p>
          <a:p>
            <a:pPr lvl="1">
              <a:spcAft>
                <a:spcPts val="3000"/>
              </a:spcAft>
            </a:pPr>
            <a:r>
              <a:rPr lang="en-US" dirty="0" smtClean="0"/>
              <a:t>Limited to passive cooling in mobile devices</a:t>
            </a:r>
          </a:p>
          <a:p>
            <a:pPr>
              <a:spcAft>
                <a:spcPts val="0"/>
              </a:spcAft>
            </a:pPr>
            <a:r>
              <a:rPr lang="en-US" dirty="0" smtClean="0"/>
              <a:t>Application trends </a:t>
            </a:r>
            <a:r>
              <a:rPr lang="en-US" dirty="0" smtClean="0">
                <a:latin typeface="Wingdings"/>
                <a:ea typeface="Wingdings"/>
                <a:cs typeface="Wingdings"/>
              </a:rPr>
              <a:t></a:t>
            </a:r>
            <a:r>
              <a:rPr lang="en-US" dirty="0" smtClean="0">
                <a:ea typeface="Wingdings"/>
                <a:cs typeface="Wingdings"/>
              </a:rPr>
              <a:t> </a:t>
            </a:r>
            <a:r>
              <a:rPr lang="en-US" dirty="0" smtClean="0">
                <a:solidFill>
                  <a:srgbClr val="005EA7"/>
                </a:solidFill>
              </a:rPr>
              <a:t>Bursty applications</a:t>
            </a:r>
          </a:p>
          <a:p>
            <a:pPr lvl="1"/>
            <a:r>
              <a:rPr lang="en-US" dirty="0" smtClean="0">
                <a:solidFill>
                  <a:srgbClr val="000000"/>
                </a:solidFill>
              </a:rPr>
              <a:t>Interactive, separated by relatively long idle durations</a:t>
            </a:r>
          </a:p>
          <a:p>
            <a:pPr lvl="1">
              <a:spcAft>
                <a:spcPts val="3000"/>
              </a:spcAft>
            </a:pPr>
            <a:r>
              <a:rPr lang="en-US" dirty="0" smtClean="0">
                <a:solidFill>
                  <a:srgbClr val="000000"/>
                </a:solidFill>
              </a:rPr>
              <a:t>Need fast response times</a:t>
            </a:r>
            <a:endParaRPr lang="en-US" dirty="0" smtClean="0"/>
          </a:p>
          <a:p>
            <a:r>
              <a:rPr lang="en-US" dirty="0" smtClean="0"/>
              <a:t>But, conventional designs focus on sustained perf.</a:t>
            </a:r>
          </a:p>
          <a:p>
            <a:pPr lvl="1">
              <a:buNone/>
            </a:pPr>
            <a:endParaRPr lang="en-US" sz="2800" dirty="0" smtClean="0">
              <a:solidFill>
                <a:srgbClr val="000000"/>
              </a:solidFill>
            </a:endParaRPr>
          </a:p>
          <a:p>
            <a:pPr lvl="1"/>
            <a:endParaRPr lang="en-US" dirty="0" smtClean="0">
              <a:solidFill>
                <a:srgbClr val="000000"/>
              </a:solidFill>
            </a:endParaRPr>
          </a:p>
          <a:p>
            <a:endParaRPr lang="en-US" dirty="0" smtClean="0"/>
          </a:p>
          <a:p>
            <a:endParaRPr lang="en-US" dirty="0" smtClean="0"/>
          </a:p>
          <a:p>
            <a:endParaRPr lang="en-US" dirty="0" smtClean="0"/>
          </a:p>
          <a:p>
            <a:endParaRPr lang="en-US" dirty="0"/>
          </a:p>
        </p:txBody>
      </p:sp>
      <p:sp>
        <p:nvSpPr>
          <p:cNvPr id="30" name="Slide Number Placeholder 29"/>
          <p:cNvSpPr>
            <a:spLocks noGrp="1"/>
          </p:cNvSpPr>
          <p:nvPr>
            <p:ph type="sldNum" sz="quarter" idx="10"/>
          </p:nvPr>
        </p:nvSpPr>
        <p:spPr/>
        <p:txBody>
          <a:bodyPr/>
          <a:lstStyle/>
          <a:p>
            <a:fld id="{FDA0CC57-CE7D-8143-BD13-67094D272EE6}" type="slidenum">
              <a:rPr lang="en-US" smtClean="0"/>
              <a:pPr/>
              <a:t>48</a:t>
            </a:fld>
            <a:endParaRPr lang="en-US"/>
          </a:p>
        </p:txBody>
      </p:sp>
      <p:sp>
        <p:nvSpPr>
          <p:cNvPr id="31" name="Footer Placeholder 30"/>
          <p:cNvSpPr>
            <a:spLocks noGrp="1"/>
          </p:cNvSpPr>
          <p:nvPr>
            <p:ph type="ftr" sz="quarter" idx="11"/>
          </p:nvPr>
        </p:nvSpPr>
        <p:spPr/>
        <p:txBody>
          <a:bodyPr/>
          <a:lstStyle/>
          <a:p>
            <a:r>
              <a:rPr lang="en-US" smtClean="0">
                <a:solidFill>
                  <a:schemeClr val="tx2"/>
                </a:solidFill>
              </a:rPr>
              <a:t>Computational Sprinting</a:t>
            </a:r>
            <a:endParaRPr lang="en-US" dirty="0">
              <a:solidFill>
                <a:schemeClr val="tx2"/>
              </a:solidFill>
            </a:endParaRPr>
          </a:p>
        </p:txBody>
      </p:sp>
      <p:sp>
        <p:nvSpPr>
          <p:cNvPr id="6" name="TextBox 5"/>
          <p:cNvSpPr txBox="1"/>
          <p:nvPr/>
        </p:nvSpPr>
        <p:spPr>
          <a:xfrm>
            <a:off x="998189" y="5355704"/>
            <a:ext cx="7147622" cy="954107"/>
          </a:xfrm>
          <a:prstGeom prst="rect">
            <a:avLst/>
          </a:prstGeom>
          <a:noFill/>
        </p:spPr>
        <p:txBody>
          <a:bodyPr wrap="square" rtlCol="0">
            <a:spAutoFit/>
          </a:bodyPr>
          <a:lstStyle/>
          <a:p>
            <a:pPr algn="ctr"/>
            <a:r>
              <a:rPr lang="en-US" sz="2800" b="1" dirty="0" smtClean="0">
                <a:solidFill>
                  <a:schemeClr val="accent6"/>
                </a:solidFill>
                <a:latin typeface="Calibri"/>
                <a:cs typeface="Calibri"/>
              </a:rPr>
              <a:t>How would we design systems differently to focus on responsiveness?</a:t>
            </a:r>
            <a:endParaRPr lang="en-US" sz="2800" b="1" dirty="0">
              <a:solidFill>
                <a:schemeClr val="accent6"/>
              </a:solidFill>
              <a:latin typeface="Calibri"/>
              <a:cs typeface="Calibri"/>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r>
              <a:rPr lang="en-US" dirty="0" smtClean="0"/>
              <a:t>Designing for Responsiveness</a:t>
            </a:r>
            <a:endParaRPr lang="en-US" dirty="0"/>
          </a:p>
        </p:txBody>
      </p:sp>
      <p:sp>
        <p:nvSpPr>
          <p:cNvPr id="29" name="Content Placeholder 28"/>
          <p:cNvSpPr>
            <a:spLocks noGrp="1"/>
          </p:cNvSpPr>
          <p:nvPr>
            <p:ph idx="1"/>
          </p:nvPr>
        </p:nvSpPr>
        <p:spPr>
          <a:xfrm>
            <a:off x="388175" y="990599"/>
            <a:ext cx="8298626" cy="4295775"/>
          </a:xfrm>
        </p:spPr>
        <p:txBody>
          <a:bodyPr/>
          <a:lstStyle/>
          <a:p>
            <a:r>
              <a:rPr lang="en-US" dirty="0" smtClean="0"/>
              <a:t>Computational Sprinting</a:t>
            </a:r>
          </a:p>
          <a:p>
            <a:pPr lvl="1"/>
            <a:r>
              <a:rPr lang="en-US" dirty="0" smtClean="0"/>
              <a:t>Briefly exceed Thermal Design Power (TDP)</a:t>
            </a:r>
          </a:p>
          <a:p>
            <a:pPr lvl="1">
              <a:spcAft>
                <a:spcPts val="600"/>
              </a:spcAft>
            </a:pPr>
            <a:r>
              <a:rPr lang="en-US" dirty="0" smtClean="0"/>
              <a:t>Exploit transient via </a:t>
            </a:r>
            <a:r>
              <a:rPr lang="en-US" b="1" i="1" dirty="0" smtClean="0">
                <a:solidFill>
                  <a:srgbClr val="005EA7"/>
                </a:solidFill>
              </a:rPr>
              <a:t>thermal capacitance</a:t>
            </a:r>
          </a:p>
          <a:p>
            <a:r>
              <a:rPr lang="en-US" dirty="0" smtClean="0"/>
              <a:t>State of the art: boost voltage (and frequency)</a:t>
            </a:r>
          </a:p>
          <a:p>
            <a:pPr lvl="1"/>
            <a:r>
              <a:rPr lang="en-US" dirty="0" smtClean="0"/>
              <a:t>Limit boost in recent designs (e.g., Sandy Bridge)</a:t>
            </a:r>
          </a:p>
          <a:p>
            <a:pPr lvl="1">
              <a:spcAft>
                <a:spcPts val="600"/>
              </a:spcAft>
            </a:pPr>
            <a:r>
              <a:rPr lang="en-US" dirty="0" smtClean="0"/>
              <a:t>But, limited benefit and energy inefficient</a:t>
            </a:r>
          </a:p>
          <a:p>
            <a:r>
              <a:rPr lang="en-US" dirty="0" smtClean="0"/>
              <a:t>Alternative: </a:t>
            </a:r>
            <a:r>
              <a:rPr lang="en-US" b="1" i="1" dirty="0" smtClean="0">
                <a:solidFill>
                  <a:srgbClr val="005EA7"/>
                </a:solidFill>
              </a:rPr>
              <a:t>parallel </a:t>
            </a:r>
            <a:r>
              <a:rPr lang="en-US" dirty="0" smtClean="0"/>
              <a:t>sprinting</a:t>
            </a:r>
          </a:p>
          <a:p>
            <a:pPr lvl="1"/>
            <a:r>
              <a:rPr lang="en-US" dirty="0" smtClean="0"/>
              <a:t>Sustained operation of 1 core</a:t>
            </a:r>
          </a:p>
          <a:p>
            <a:pPr lvl="1">
              <a:spcAft>
                <a:spcPts val="600"/>
              </a:spcAft>
            </a:pPr>
            <a:r>
              <a:rPr lang="en-US" dirty="0" smtClean="0"/>
              <a:t>Sprint by activating 10s of otherwise idle cores</a:t>
            </a:r>
          </a:p>
          <a:p>
            <a:r>
              <a:rPr lang="en-US" dirty="0" smtClean="0">
                <a:solidFill>
                  <a:srgbClr val="005EA7"/>
                </a:solidFill>
              </a:rPr>
              <a:t>Our goal: responsiveness of 16W chip in 1W platform	</a:t>
            </a:r>
          </a:p>
          <a:p>
            <a:endParaRPr lang="en-US" dirty="0" smtClean="0"/>
          </a:p>
          <a:p>
            <a:endParaRPr lang="en-US" dirty="0" smtClean="0"/>
          </a:p>
          <a:p>
            <a:endParaRPr lang="en-US" dirty="0" smtClean="0"/>
          </a:p>
          <a:p>
            <a:endParaRPr lang="en-US" dirty="0" smtClean="0"/>
          </a:p>
          <a:p>
            <a:endParaRPr lang="en-US" dirty="0"/>
          </a:p>
        </p:txBody>
      </p:sp>
      <p:sp>
        <p:nvSpPr>
          <p:cNvPr id="30" name="Slide Number Placeholder 29"/>
          <p:cNvSpPr>
            <a:spLocks noGrp="1"/>
          </p:cNvSpPr>
          <p:nvPr>
            <p:ph type="sldNum" sz="quarter" idx="10"/>
          </p:nvPr>
        </p:nvSpPr>
        <p:spPr/>
        <p:txBody>
          <a:bodyPr/>
          <a:lstStyle/>
          <a:p>
            <a:fld id="{FDA0CC57-CE7D-8143-BD13-67094D272EE6}" type="slidenum">
              <a:rPr lang="en-US" smtClean="0"/>
              <a:pPr/>
              <a:t>49</a:t>
            </a:fld>
            <a:endParaRPr lang="en-US"/>
          </a:p>
        </p:txBody>
      </p:sp>
      <p:sp>
        <p:nvSpPr>
          <p:cNvPr id="31" name="Footer Placeholder 30"/>
          <p:cNvSpPr>
            <a:spLocks noGrp="1"/>
          </p:cNvSpPr>
          <p:nvPr>
            <p:ph type="ftr" sz="quarter" idx="11"/>
          </p:nvPr>
        </p:nvSpPr>
        <p:spPr/>
        <p:txBody>
          <a:bodyPr/>
          <a:lstStyle/>
          <a:p>
            <a:r>
              <a:rPr lang="en-US" smtClean="0">
                <a:solidFill>
                  <a:schemeClr val="tx2"/>
                </a:solidFill>
              </a:rPr>
              <a:t>Computational Sprinting</a:t>
            </a:r>
            <a:endParaRPr lang="en-US" dirty="0">
              <a:solidFill>
                <a:schemeClr val="tx2"/>
              </a:solidFill>
            </a:endParaRPr>
          </a:p>
        </p:txBody>
      </p:sp>
      <p:sp>
        <p:nvSpPr>
          <p:cNvPr id="6" name="TextBox 5"/>
          <p:cNvSpPr txBox="1"/>
          <p:nvPr/>
        </p:nvSpPr>
        <p:spPr>
          <a:xfrm>
            <a:off x="998189" y="5973844"/>
            <a:ext cx="7147622" cy="523220"/>
          </a:xfrm>
          <a:prstGeom prst="rect">
            <a:avLst/>
          </a:prstGeom>
          <a:noFill/>
        </p:spPr>
        <p:txBody>
          <a:bodyPr wrap="square" rtlCol="0">
            <a:spAutoFit/>
          </a:bodyPr>
          <a:lstStyle/>
          <a:p>
            <a:pPr algn="ctr"/>
            <a:r>
              <a:rPr lang="en-US" sz="2800" b="1" dirty="0" smtClean="0">
                <a:solidFill>
                  <a:schemeClr val="accent6"/>
                </a:solidFill>
              </a:rPr>
              <a:t>Is this feasible?</a:t>
            </a:r>
            <a:endParaRPr lang="en-US" sz="2800" b="1" dirty="0">
              <a:solidFill>
                <a:schemeClr val="accent6"/>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xEl>
                                              <p:pRg st="9" end="9"/>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uiExpand="1" build="p"/>
      <p:bldP spid="6" grpId="0"/>
    </p:bldLst>
  </p:timing>
</p:sld>
</file>

<file path=ppt/theme/theme1.xml><?xml version="1.0" encoding="utf-8"?>
<a:theme xmlns:a="http://schemas.openxmlformats.org/drawingml/2006/main" name="arun_hpca_2012_sent">
  <a:themeElements>
    <a:clrScheme name="acg-template 13">
      <a:dk1>
        <a:srgbClr val="000000"/>
      </a:dk1>
      <a:lt1>
        <a:srgbClr val="FFFFFF"/>
      </a:lt1>
      <a:dk2>
        <a:srgbClr val="780000"/>
      </a:dk2>
      <a:lt2>
        <a:srgbClr val="808080"/>
      </a:lt2>
      <a:accent1>
        <a:srgbClr val="9AD7FF"/>
      </a:accent1>
      <a:accent2>
        <a:srgbClr val="0069B9"/>
      </a:accent2>
      <a:accent3>
        <a:srgbClr val="FFFFFF"/>
      </a:accent3>
      <a:accent4>
        <a:srgbClr val="000000"/>
      </a:accent4>
      <a:accent5>
        <a:srgbClr val="CAE8FF"/>
      </a:accent5>
      <a:accent6>
        <a:srgbClr val="005EA7"/>
      </a:accent6>
      <a:hlink>
        <a:srgbClr val="00A5F6"/>
      </a:hlink>
      <a:folHlink>
        <a:srgbClr val="780000"/>
      </a:folHlink>
    </a:clrScheme>
    <a:fontScheme name="acg-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2" charset="-128"/>
          </a:defRPr>
        </a:defPPr>
      </a:lstStyle>
    </a:spDef>
    <a:lnDef>
      <a:spPr bwMode="auto">
        <a:xfrm>
          <a:off x="0" y="0"/>
          <a:ext cx="1" cy="1"/>
        </a:xfrm>
        <a:custGeom>
          <a:avLst/>
          <a:gdLst/>
          <a:ahLst/>
          <a:cxnLst/>
          <a:rect l="0" t="0" r="0" b="0"/>
          <a:pathLst/>
        </a:custGeom>
        <a:noFill/>
        <a:ln w="38100"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2" charset="-128"/>
          </a:defRPr>
        </a:defPPr>
      </a:lstStyle>
    </a:lnDef>
  </a:objectDefaults>
  <a:extraClrSchemeLst>
    <a:extraClrScheme>
      <a:clrScheme name="acg-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cg-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cg-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cg-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cg-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cg-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cg-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cg-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cg-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cg-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cg-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cg-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acg-template 13">
        <a:dk1>
          <a:srgbClr val="000000"/>
        </a:dk1>
        <a:lt1>
          <a:srgbClr val="FFFFFF"/>
        </a:lt1>
        <a:dk2>
          <a:srgbClr val="780000"/>
        </a:dk2>
        <a:lt2>
          <a:srgbClr val="808080"/>
        </a:lt2>
        <a:accent1>
          <a:srgbClr val="9AD7FF"/>
        </a:accent1>
        <a:accent2>
          <a:srgbClr val="0069B9"/>
        </a:accent2>
        <a:accent3>
          <a:srgbClr val="FFFFFF"/>
        </a:accent3>
        <a:accent4>
          <a:srgbClr val="000000"/>
        </a:accent4>
        <a:accent5>
          <a:srgbClr val="CAE8FF"/>
        </a:accent5>
        <a:accent6>
          <a:srgbClr val="005EA7"/>
        </a:accent6>
        <a:hlink>
          <a:srgbClr val="00A5F6"/>
        </a:hlink>
        <a:folHlink>
          <a:srgbClr val="78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arun_hpca_2012_sent.thmx</Template>
  <TotalTime>26045</TotalTime>
  <Words>2366</Words>
  <Application>Microsoft Macintosh PowerPoint</Application>
  <PresentationFormat>On-screen Show (4:3)</PresentationFormat>
  <Paragraphs>579</Paragraphs>
  <Slides>49</Slides>
  <Notes>38</Notes>
  <HiddenSlides>0</HiddenSlides>
  <MMClips>0</MMClips>
  <ScaleCrop>false</ScaleCrop>
  <HeadingPairs>
    <vt:vector size="4" baseType="variant">
      <vt:variant>
        <vt:lpstr>Design Template</vt:lpstr>
      </vt:variant>
      <vt:variant>
        <vt:i4>1</vt:i4>
      </vt:variant>
      <vt:variant>
        <vt:lpstr>Slide Titles</vt:lpstr>
      </vt:variant>
      <vt:variant>
        <vt:i4>49</vt:i4>
      </vt:variant>
    </vt:vector>
  </HeadingPairs>
  <TitlesOfParts>
    <vt:vector size="50" baseType="lpstr">
      <vt:lpstr>arun_hpca_2012_sent</vt:lpstr>
      <vt:lpstr>Computational Sprinting</vt:lpstr>
      <vt:lpstr>This work licensed under the Creative Commons  Attribution-Share Alike 3.0 United States License</vt:lpstr>
      <vt:lpstr>Overview of My (Other) Research</vt:lpstr>
      <vt:lpstr>Talk Overview: Computational Sprinting</vt:lpstr>
      <vt:lpstr>Computational Sprinting and Dark Silicon </vt:lpstr>
      <vt:lpstr>Sprinting Challenges and Opportunities</vt:lpstr>
      <vt:lpstr>Outline</vt:lpstr>
      <vt:lpstr>Power Density Trends for Sustained Compute</vt:lpstr>
      <vt:lpstr>Option 1: Enhance Cooling?</vt:lpstr>
      <vt:lpstr>Option 2: Decrease Chip Area?</vt:lpstr>
      <vt:lpstr>Option 3: Decrease Active Fraction?</vt:lpstr>
      <vt:lpstr>Accelerator Cores?</vt:lpstr>
      <vt:lpstr>Design for Responsiveness</vt:lpstr>
      <vt:lpstr>Computational Sprinting</vt:lpstr>
      <vt:lpstr>Parallel Computational Sprinting</vt:lpstr>
      <vt:lpstr>Parallel Computational Sprinting</vt:lpstr>
      <vt:lpstr>Parallel Computational Sprinting</vt:lpstr>
      <vt:lpstr>Parallel Computational Sprinting</vt:lpstr>
      <vt:lpstr>Parallel Computational Sprinting</vt:lpstr>
      <vt:lpstr>Extending Sprint Intensity &amp; Duration:  Role of Thermal Capacitance</vt:lpstr>
      <vt:lpstr>Augmented Sprinting with PCM</vt:lpstr>
      <vt:lpstr>Augmented Sprinting with PCM</vt:lpstr>
      <vt:lpstr>Augmented Sprinting with PCM</vt:lpstr>
      <vt:lpstr>Outline</vt:lpstr>
      <vt:lpstr>Thermal Challenges</vt:lpstr>
      <vt:lpstr>Electrical Challenge #1: Peak Current Demands</vt:lpstr>
      <vt:lpstr>Electrical Challenge #2: On-chip Voltage Stability</vt:lpstr>
      <vt:lpstr>Hardware/Software Challenges</vt:lpstr>
      <vt:lpstr>Performance Evaluation</vt:lpstr>
      <vt:lpstr>Methodology</vt:lpstr>
      <vt:lpstr>Sprinting Responsiveness</vt:lpstr>
      <vt:lpstr>Responsiveness Evaluation</vt:lpstr>
      <vt:lpstr>Parallelism &amp; Energy</vt:lpstr>
      <vt:lpstr>Moving Beyond Simulation:  Can we make a real system sprint? </vt:lpstr>
      <vt:lpstr>Slide 35</vt:lpstr>
      <vt:lpstr>Multiple Cores: Energy and Performance </vt:lpstr>
      <vt:lpstr>DVFS: Energy and Performance</vt:lpstr>
      <vt:lpstr>Energy/Performance/Power Tradeoffs</vt:lpstr>
      <vt:lpstr>Emulating Sprinting with Limited Energy Budget</vt:lpstr>
      <vt:lpstr>Effect of Thermal Capacity </vt:lpstr>
      <vt:lpstr>Conclusions</vt:lpstr>
      <vt:lpstr>Slide 42</vt:lpstr>
      <vt:lpstr>Backup</vt:lpstr>
      <vt:lpstr>Thermal Design Considerations</vt:lpstr>
      <vt:lpstr>Responsiveness Evaluation</vt:lpstr>
      <vt:lpstr>Bursty Applications</vt:lpstr>
      <vt:lpstr>Responsiveness Evaluation</vt:lpstr>
      <vt:lpstr>Technology and Mobile Application Trends</vt:lpstr>
      <vt:lpstr>Designing for Responsiveness</vt:lpstr>
    </vt:vector>
  </TitlesOfParts>
  <Company>University of Pennsylvania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Architecture and Runtime Mechanisms for Energy Efficient Computational Sprinting</dc:title>
  <dc:creator>Arun Raghavan</dc:creator>
  <cp:lastModifiedBy>Milo Martin</cp:lastModifiedBy>
  <cp:revision>1149</cp:revision>
  <dcterms:created xsi:type="dcterms:W3CDTF">2012-06-21T20:02:35Z</dcterms:created>
  <dcterms:modified xsi:type="dcterms:W3CDTF">2012-06-21T20:05:18Z</dcterms:modified>
</cp:coreProperties>
</file>