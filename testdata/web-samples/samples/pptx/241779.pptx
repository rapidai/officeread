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4" r:id="rId9"/>
    <p:sldId id="263" r:id="rId10"/>
    <p:sldId id="265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71" d="100"/>
          <a:sy n="71" d="100"/>
        </p:scale>
        <p:origin x="-48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ltGray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black">
          <a:xfrm>
            <a:off x="762000" y="4038600"/>
            <a:ext cx="7772400" cy="990600"/>
          </a:xfrm>
          <a:effectLst>
            <a:outerShdw dist="53882" dir="2700000" algn="ctr" rotWithShape="0">
              <a:srgbClr val="000000"/>
            </a:outerShdw>
          </a:effectLst>
        </p:spPr>
        <p:txBody>
          <a:bodyPr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black">
          <a:xfrm>
            <a:off x="1371600" y="5105400"/>
            <a:ext cx="6400800" cy="685800"/>
          </a:xfrm>
        </p:spPr>
        <p:txBody>
          <a:bodyPr/>
          <a:lstStyle>
            <a:lvl1pPr marL="0" indent="0" algn="ctr"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black"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41D428A-3EC4-47E0-9D7E-7428DB50DD71}" type="datetimeFigureOut">
              <a:rPr lang="en-US"/>
              <a:pPr>
                <a:defRPr/>
              </a:pPr>
              <a:t>4/21/2008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 bwMode="black"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 bwMode="black"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30C95F7-1D65-4E55-9B9E-15313AD9EA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8DE0C6-8D36-4ABF-9BD4-846C77330F41}" type="datetimeFigureOut">
              <a:rPr lang="en-US"/>
              <a:pPr>
                <a:defRPr/>
              </a:pPr>
              <a:t>4/21/2008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120DAE-5CEE-45E0-94C6-90E143237B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7D8A60-4497-4FCF-88D7-F3A24DBB8586}" type="datetimeFigureOut">
              <a:rPr lang="en-US"/>
              <a:pPr>
                <a:defRPr/>
              </a:pPr>
              <a:t>4/21/2008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AD5884-FBAC-48F4-8A04-059013BFBD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4830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4830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ABFED-BCD7-4205-96A4-18FE4F0DC43B}" type="datetimeFigureOut">
              <a:rPr lang="en-US"/>
              <a:pPr>
                <a:defRPr/>
              </a:pPr>
              <a:t>4/21/2008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0332B7-A18E-4CE8-A2E8-3E6A2D01ED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090134-9EA3-4A5B-B542-BF779967368A}" type="datetimeFigureOut">
              <a:rPr lang="en-US"/>
              <a:pPr>
                <a:defRPr/>
              </a:pPr>
              <a:t>4/21/2008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9AEB4E-CCE9-4A4F-B204-6E43BE1B15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8DB3FC-9014-435B-BCCD-CE9302BCA3B5}" type="datetimeFigureOut">
              <a:rPr lang="en-US"/>
              <a:pPr>
                <a:defRPr/>
              </a:pPr>
              <a:t>4/21/2008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A52A0-70AE-4ED7-8239-4AE2AE833C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DB9355-1822-47A5-9286-D589AC31A909}" type="datetimeFigureOut">
              <a:rPr lang="en-US"/>
              <a:pPr>
                <a:defRPr/>
              </a:pPr>
              <a:t>4/21/2008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BF440C-2D79-4B8F-A68A-23DA45958C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A097D9-CA01-445D-ACA0-2E171377C381}" type="datetimeFigureOut">
              <a:rPr lang="en-US"/>
              <a:pPr>
                <a:defRPr/>
              </a:pPr>
              <a:t>4/21/2008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F57638-3E81-40F8-BC56-35915B0290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084068-622D-44D8-ABCA-4090D249D603}" type="datetimeFigureOut">
              <a:rPr lang="en-US"/>
              <a:pPr>
                <a:defRPr/>
              </a:pPr>
              <a:t>4/21/2008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E61399-E654-4F47-B4F8-BEEB1633B4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E4512C-97D7-4F5E-9AC7-79367740FC27}" type="datetimeFigureOut">
              <a:rPr lang="en-US"/>
              <a:pPr>
                <a:defRPr/>
              </a:pPr>
              <a:t>4/21/2008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11BDF4-A7B2-4F47-9AD7-2DE5367636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7B8D0F-487D-441A-AF1A-613A2580F5A9}" type="datetimeFigureOut">
              <a:rPr lang="en-US"/>
              <a:pPr>
                <a:defRPr/>
              </a:pPr>
              <a:t>4/21/2008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95AE92-75FE-47E3-AEF3-D7E2951709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lvl="0"/>
            <a:r>
              <a:rPr lang="en-US" noProof="0" smtClean="0"/>
              <a:t>Click icon to add table</a:t>
            </a:r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45493C-E5E3-4A86-8D1A-920DC6DD5448}" type="datetimeFigureOut">
              <a:rPr lang="en-US"/>
              <a:pPr>
                <a:defRPr/>
              </a:pPr>
              <a:t>4/21/2008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5BD0F9-3AA8-4255-B5C4-B14516C7D6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868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71842" dir="2700000" algn="ctr" rotWithShape="0">
              <a:srgbClr val="000000">
                <a:alpha val="50000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95400"/>
            <a:ext cx="8229600" cy="483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77000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fontAlgn="auto">
              <a:spcBef>
                <a:spcPts val="0"/>
              </a:spcBef>
              <a:spcAft>
                <a:spcPts val="0"/>
              </a:spcAft>
              <a:defRPr sz="1400" smtClean="0">
                <a:latin typeface="+mn-lt"/>
              </a:defRPr>
            </a:lvl1pPr>
          </a:lstStyle>
          <a:p>
            <a:pPr>
              <a:defRPr/>
            </a:pPr>
            <a:fld id="{154833B8-385A-424F-AF30-B29785C6D3BE}" type="datetimeFigureOut">
              <a:rPr lang="en-US"/>
              <a:pPr>
                <a:defRPr/>
              </a:pPr>
              <a:t>4/21/2008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77000"/>
            <a:ext cx="2895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auto">
              <a:spcBef>
                <a:spcPts val="0"/>
              </a:spcBef>
              <a:spcAft>
                <a:spcPts val="0"/>
              </a:spcAft>
              <a:defRPr sz="1400" smtClean="0">
                <a:latin typeface="+mn-lt"/>
              </a:defRPr>
            </a:lvl1pPr>
          </a:lstStyle>
          <a:p>
            <a:pPr>
              <a:defRPr/>
            </a:pPr>
            <a:fld id="{BFFECFAC-F56F-41C8-A0BD-AA024BCB2B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97" r:id="rId1"/>
    <p:sldLayoutId id="2147483696" r:id="rId2"/>
    <p:sldLayoutId id="2147483695" r:id="rId3"/>
    <p:sldLayoutId id="2147483694" r:id="rId4"/>
    <p:sldLayoutId id="2147483693" r:id="rId5"/>
    <p:sldLayoutId id="2147483692" r:id="rId6"/>
    <p:sldLayoutId id="2147483691" r:id="rId7"/>
    <p:sldLayoutId id="2147483690" r:id="rId8"/>
    <p:sldLayoutId id="2147483689" r:id="rId9"/>
    <p:sldLayoutId id="2147483688" r:id="rId10"/>
    <p:sldLayoutId id="2147483687" r:id="rId11"/>
    <p:sldLayoutId id="2147483686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Times New Roman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Times New Roman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Times New Roman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133600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Great Idea: Now Keep It Going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05200"/>
            <a:ext cx="6400800" cy="1752600"/>
          </a:xfrm>
        </p:spPr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en-US" dirty="0" smtClean="0"/>
              <a:t>Daniel Armstrong, Ph.D.</a:t>
            </a:r>
          </a:p>
          <a:p>
            <a:pPr>
              <a:defRPr/>
            </a:pPr>
            <a:r>
              <a:rPr lang="en-US" dirty="0" smtClean="0"/>
              <a:t>Mailman Center for Child Development</a:t>
            </a:r>
          </a:p>
          <a:p>
            <a:pPr>
              <a:defRPr/>
            </a:pPr>
            <a:r>
              <a:rPr lang="en-US" dirty="0" smtClean="0"/>
              <a:t>Department of Pediatrics</a:t>
            </a:r>
          </a:p>
          <a:p>
            <a:pPr>
              <a:defRPr/>
            </a:pPr>
            <a:r>
              <a:rPr lang="en-US" dirty="0" smtClean="0"/>
              <a:t>University of Miami Miller School of Medicine </a:t>
            </a:r>
          </a:p>
          <a:p>
            <a:pPr>
              <a:defRPr/>
            </a:pPr>
            <a:r>
              <a:rPr lang="en-US" dirty="0" smtClean="0"/>
              <a:t>And</a:t>
            </a:r>
          </a:p>
          <a:p>
            <a:pPr>
              <a:defRPr/>
            </a:pPr>
            <a:r>
              <a:rPr lang="en-US" dirty="0" smtClean="0"/>
              <a:t>Holtz Children’s Hospital at UM/Jackson Memorial Medical Center</a:t>
            </a:r>
            <a:endParaRPr lang="en-US" dirty="0"/>
          </a:p>
        </p:txBody>
      </p:sp>
      <p:pic>
        <p:nvPicPr>
          <p:cNvPr id="14339" name="Picture 4" descr="MailManLogo_b2.bmp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86400" y="381000"/>
            <a:ext cx="3124200" cy="189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0" name="Picture 5" descr="JackHoltzLogo 1-12-04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77000" y="5791200"/>
            <a:ext cx="1905000" cy="896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1" name="Picture 6" descr="Miller wUM 349 Greem.bmp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90600" y="5791200"/>
            <a:ext cx="1895475" cy="903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2" name="Picture 7" descr="UM Child Health Institute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352800" y="5791200"/>
            <a:ext cx="265747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 smtClean="0"/>
              <a:t>Strategies to Support Training</a:t>
            </a:r>
            <a:endParaRPr lang="en-US" dirty="0"/>
          </a:p>
        </p:txBody>
      </p:sp>
      <p:sp>
        <p:nvSpPr>
          <p:cNvPr id="15362" name="Content Placeholder 2"/>
          <p:cNvSpPr>
            <a:spLocks noGrp="1"/>
          </p:cNvSpPr>
          <p:nvPr>
            <p:ph idx="1"/>
          </p:nvPr>
        </p:nvSpPr>
        <p:spPr>
          <a:xfrm>
            <a:off x="533400" y="1524000"/>
            <a:ext cx="8229600" cy="4830763"/>
          </a:xfrm>
        </p:spPr>
        <p:txBody>
          <a:bodyPr/>
          <a:lstStyle/>
          <a:p>
            <a:r>
              <a:rPr lang="en-US" sz="4800" smtClean="0"/>
              <a:t>Research and Demonstration Funding</a:t>
            </a:r>
          </a:p>
          <a:p>
            <a:r>
              <a:rPr lang="en-US" sz="4800" smtClean="0"/>
              <a:t>Philanthropy</a:t>
            </a:r>
          </a:p>
          <a:p>
            <a:r>
              <a:rPr lang="en-US" sz="4800" smtClean="0"/>
              <a:t>Partnerships with other agencies, programs</a:t>
            </a:r>
          </a:p>
        </p:txBody>
      </p:sp>
      <p:pic>
        <p:nvPicPr>
          <p:cNvPr id="15363" name="Picture 3" descr="MailManLogo_b2.bmp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67600" y="5791200"/>
            <a:ext cx="1565275" cy="947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Research and Demonstration Projects</a:t>
            </a:r>
            <a:endParaRPr lang="en-US" dirty="0"/>
          </a:p>
        </p:txBody>
      </p:sp>
      <p:sp>
        <p:nvSpPr>
          <p:cNvPr id="16386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8382000" cy="4449763"/>
          </a:xfrm>
        </p:spPr>
        <p:txBody>
          <a:bodyPr/>
          <a:lstStyle/>
          <a:p>
            <a:r>
              <a:rPr lang="en-US" smtClean="0"/>
              <a:t>NIH, MCHB, Foundation-Funded Research on Maternal &amp; Child topics</a:t>
            </a:r>
          </a:p>
          <a:p>
            <a:pPr lvl="1"/>
            <a:r>
              <a:rPr lang="en-US" smtClean="0"/>
              <a:t>NIH R01, R21, U54 support </a:t>
            </a:r>
          </a:p>
          <a:p>
            <a:pPr lvl="1"/>
            <a:r>
              <a:rPr lang="en-US" smtClean="0"/>
              <a:t>Community Pediatrics Training Initiative-CHAMP	</a:t>
            </a:r>
          </a:p>
          <a:p>
            <a:pPr lvl="2"/>
            <a:r>
              <a:rPr lang="en-US" smtClean="0"/>
              <a:t>Funded by Dyson Foundation &amp; AAP</a:t>
            </a:r>
          </a:p>
          <a:p>
            <a:pPr lvl="2"/>
            <a:r>
              <a:rPr lang="en-US" smtClean="0"/>
              <a:t>Advocacy Curriculum</a:t>
            </a:r>
          </a:p>
          <a:p>
            <a:pPr lvl="2"/>
            <a:r>
              <a:rPr lang="en-US" smtClean="0"/>
              <a:t>Legislative Advocacy Training Module linked to LEND</a:t>
            </a:r>
          </a:p>
          <a:p>
            <a:pPr lvl="2"/>
            <a:r>
              <a:rPr lang="en-US" smtClean="0"/>
              <a:t>Community-based organization involvement</a:t>
            </a:r>
          </a:p>
        </p:txBody>
      </p:sp>
      <p:pic>
        <p:nvPicPr>
          <p:cNvPr id="16387" name="Picture 3" descr="JackHoltzLogo 1-12-04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53325" y="6019800"/>
            <a:ext cx="1455738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Research and Demonstration Projects</a:t>
            </a:r>
            <a:endParaRPr lang="en-US" dirty="0"/>
          </a:p>
        </p:txBody>
      </p:sp>
      <p:sp>
        <p:nvSpPr>
          <p:cNvPr id="17410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373563"/>
          </a:xfrm>
        </p:spPr>
        <p:txBody>
          <a:bodyPr/>
          <a:lstStyle/>
          <a:p>
            <a:r>
              <a:rPr lang="en-US" smtClean="0"/>
              <a:t>CHAMP</a:t>
            </a:r>
          </a:p>
          <a:p>
            <a:pPr lvl="1"/>
            <a:r>
              <a:rPr lang="en-US" smtClean="0"/>
              <a:t>$600,000 invested in student-faculty-CBO projects</a:t>
            </a:r>
          </a:p>
          <a:p>
            <a:pPr lvl="1"/>
            <a:r>
              <a:rPr lang="en-US" smtClean="0"/>
              <a:t>29 funded over 5 years</a:t>
            </a:r>
          </a:p>
          <a:p>
            <a:pPr lvl="1"/>
            <a:r>
              <a:rPr lang="en-US" smtClean="0"/>
              <a:t>$4.2M in local, state, and federal support for 2008 alone</a:t>
            </a:r>
          </a:p>
        </p:txBody>
      </p:sp>
      <p:pic>
        <p:nvPicPr>
          <p:cNvPr id="17411" name="Picture 3" descr="UM Child Health Institut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86600" y="6096000"/>
            <a:ext cx="1938338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Research and Demonstration Projects</a:t>
            </a:r>
            <a:endParaRPr lang="en-US" dirty="0"/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373563"/>
          </a:xfrm>
        </p:spPr>
        <p:txBody>
          <a:bodyPr/>
          <a:lstStyle/>
          <a:p>
            <a:r>
              <a:rPr lang="en-US" smtClean="0"/>
              <a:t>Multiple Outcomes</a:t>
            </a:r>
          </a:p>
          <a:p>
            <a:pPr lvl="1"/>
            <a:r>
              <a:rPr lang="en-US" smtClean="0"/>
              <a:t>Contribute to scientific knowledge &amp; best practice </a:t>
            </a:r>
          </a:p>
          <a:p>
            <a:pPr lvl="1"/>
            <a:r>
              <a:rPr lang="en-US" smtClean="0"/>
              <a:t>Often provide a direct community benefit </a:t>
            </a:r>
          </a:p>
          <a:p>
            <a:pPr lvl="2"/>
            <a:r>
              <a:rPr lang="en-US" smtClean="0"/>
              <a:t>Improved services, structure, access</a:t>
            </a:r>
          </a:p>
          <a:p>
            <a:pPr lvl="1"/>
            <a:r>
              <a:rPr lang="en-US" smtClean="0"/>
              <a:t>Provide training site</a:t>
            </a:r>
          </a:p>
          <a:p>
            <a:pPr lvl="1"/>
            <a:r>
              <a:rPr lang="en-US" smtClean="0"/>
              <a:t>Provide supplemental support for training programs</a:t>
            </a:r>
          </a:p>
          <a:p>
            <a:pPr lvl="1"/>
            <a:endParaRPr lang="en-US" smtClean="0"/>
          </a:p>
        </p:txBody>
      </p:sp>
      <p:pic>
        <p:nvPicPr>
          <p:cNvPr id="18435" name="Picture 3" descr="MailManLogo_b2.bmp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48600" y="6019800"/>
            <a:ext cx="1204913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Philanthropy</a:t>
            </a:r>
            <a:endParaRPr lang="en-US" dirty="0"/>
          </a:p>
        </p:txBody>
      </p:sp>
      <p:sp>
        <p:nvSpPr>
          <p:cNvPr id="1945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Work closely with institution advancement &amp; development office</a:t>
            </a:r>
          </a:p>
          <a:p>
            <a:pPr lvl="1"/>
            <a:r>
              <a:rPr lang="en-US" smtClean="0"/>
              <a:t>Develop clear and focused capital statement</a:t>
            </a:r>
          </a:p>
          <a:p>
            <a:pPr lvl="1"/>
            <a:r>
              <a:rPr lang="en-US" smtClean="0"/>
              <a:t>Provide support for salary of staff in development office</a:t>
            </a:r>
          </a:p>
          <a:p>
            <a:pPr lvl="1"/>
            <a:r>
              <a:rPr lang="en-US" smtClean="0"/>
              <a:t>Train and involve faculty and staff in development activities</a:t>
            </a:r>
          </a:p>
          <a:p>
            <a:pPr lvl="2"/>
            <a:r>
              <a:rPr lang="en-US" smtClean="0"/>
              <a:t>How to present programs</a:t>
            </a:r>
          </a:p>
          <a:p>
            <a:pPr lvl="2"/>
            <a:r>
              <a:rPr lang="en-US" smtClean="0"/>
              <a:t>How to ask for support</a:t>
            </a:r>
          </a:p>
          <a:p>
            <a:pPr lvl="1"/>
            <a:r>
              <a:rPr lang="en-US" smtClean="0"/>
              <a:t>Diversify</a:t>
            </a:r>
          </a:p>
          <a:p>
            <a:pPr lvl="2"/>
            <a:endParaRPr lang="en-US" smtClean="0"/>
          </a:p>
        </p:txBody>
      </p:sp>
      <p:pic>
        <p:nvPicPr>
          <p:cNvPr id="19459" name="Picture 3" descr="Miller wUM 349 Greem.bmp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0" y="6096000"/>
            <a:ext cx="1416050" cy="67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Philanthropy</a:t>
            </a:r>
            <a:endParaRPr lang="en-US" dirty="0"/>
          </a:p>
        </p:txBody>
      </p:sp>
      <p:sp>
        <p:nvSpPr>
          <p:cNvPr id="204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Support for Specific Projects </a:t>
            </a:r>
          </a:p>
          <a:p>
            <a:pPr lvl="1"/>
            <a:r>
              <a:rPr lang="en-US" smtClean="0"/>
              <a:t>Ongoing effort, usually smaller gifts</a:t>
            </a:r>
          </a:p>
          <a:p>
            <a:r>
              <a:rPr lang="en-US" smtClean="0"/>
              <a:t>Sustainable support</a:t>
            </a:r>
          </a:p>
          <a:p>
            <a:pPr lvl="1"/>
            <a:r>
              <a:rPr lang="en-US" smtClean="0"/>
              <a:t>Multi-year gifts</a:t>
            </a:r>
          </a:p>
          <a:p>
            <a:pPr lvl="2"/>
            <a:r>
              <a:rPr lang="en-US" smtClean="0"/>
              <a:t>Example:  $1M for training over 5 years</a:t>
            </a:r>
          </a:p>
          <a:p>
            <a:r>
              <a:rPr lang="en-US" smtClean="0"/>
              <a:t>Endowment &amp; Trusts</a:t>
            </a:r>
          </a:p>
          <a:p>
            <a:pPr lvl="1"/>
            <a:r>
              <a:rPr lang="en-US" smtClean="0"/>
              <a:t>For faculty positions</a:t>
            </a:r>
          </a:p>
          <a:p>
            <a:pPr lvl="1"/>
            <a:r>
              <a:rPr lang="en-US" smtClean="0"/>
              <a:t>For trainee slots</a:t>
            </a:r>
          </a:p>
          <a:p>
            <a:pPr lvl="1"/>
            <a:r>
              <a:rPr lang="en-US" smtClean="0"/>
              <a:t>For program support</a:t>
            </a:r>
          </a:p>
        </p:txBody>
      </p:sp>
      <p:pic>
        <p:nvPicPr>
          <p:cNvPr id="20483" name="Picture 3" descr="MailManLogo_b2.bmp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43800" y="5867400"/>
            <a:ext cx="1462088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Partnerships</a:t>
            </a:r>
            <a:endParaRPr lang="en-US" dirty="0"/>
          </a:p>
        </p:txBody>
      </p:sp>
      <p:sp>
        <p:nvSpPr>
          <p:cNvPr id="21506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297363"/>
          </a:xfrm>
        </p:spPr>
        <p:txBody>
          <a:bodyPr/>
          <a:lstStyle/>
          <a:p>
            <a:r>
              <a:rPr lang="en-US" smtClean="0"/>
              <a:t>Identify ways to make all partners benefit</a:t>
            </a:r>
          </a:p>
          <a:p>
            <a:r>
              <a:rPr lang="en-US" smtClean="0"/>
              <a:t>Assure that they do through cross-promotion and marketing</a:t>
            </a:r>
          </a:p>
          <a:p>
            <a:r>
              <a:rPr lang="en-US" smtClean="0"/>
              <a:t>Build on each partner’s strengths and show funders the relationships</a:t>
            </a:r>
          </a:p>
        </p:txBody>
      </p:sp>
      <p:pic>
        <p:nvPicPr>
          <p:cNvPr id="21507" name="Picture 3" descr="nav_logo.gi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5867400"/>
            <a:ext cx="946150" cy="728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08" name="Picture 4" descr="logo_mari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62200" y="5867400"/>
            <a:ext cx="1071563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09" name="Picture 6" descr="uw_4s_ful_Miami-Dade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43600" y="5867400"/>
            <a:ext cx="112077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10" name="Picture 7" descr="cms network logox 2005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962400" y="5867400"/>
            <a:ext cx="1524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11" name="Picture 8" descr="The Children's Trust logo.jp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467600" y="5791200"/>
            <a:ext cx="1366838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Partnerships</a:t>
            </a:r>
            <a:endParaRPr lang="en-US" dirty="0"/>
          </a:p>
        </p:txBody>
      </p:sp>
      <p:sp>
        <p:nvSpPr>
          <p:cNvPr id="2253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State Title V Programs and targeted state funding</a:t>
            </a:r>
          </a:p>
          <a:p>
            <a:pPr lvl="1"/>
            <a:r>
              <a:rPr lang="en-US" sz="2400" smtClean="0"/>
              <a:t>Contract with Children’s Medical Services in the Florida Department of Health</a:t>
            </a:r>
          </a:p>
          <a:p>
            <a:pPr lvl="1"/>
            <a:r>
              <a:rPr lang="en-US" sz="2400" smtClean="0"/>
              <a:t>Legislative funding for Fragile X Newborn Screening</a:t>
            </a:r>
          </a:p>
          <a:p>
            <a:r>
              <a:rPr lang="en-US" smtClean="0"/>
              <a:t>Philanthropic funding for in perpetuity partnerships (United Way of Miami-Dade)</a:t>
            </a:r>
          </a:p>
          <a:p>
            <a:r>
              <a:rPr lang="en-US" smtClean="0"/>
              <a:t>Bi-directional support for The Children’s Trust</a:t>
            </a:r>
          </a:p>
          <a:p>
            <a:pPr lvl="1"/>
            <a:r>
              <a:rPr lang="en-US" sz="2400" smtClean="0"/>
              <a:t>Families First</a:t>
            </a:r>
          </a:p>
          <a:p>
            <a:pPr lvl="1"/>
            <a:r>
              <a:rPr lang="en-US" sz="2400" smtClean="0"/>
              <a:t>Health Connect</a:t>
            </a:r>
          </a:p>
          <a:p>
            <a:endParaRPr lang="en-US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8229600" cy="868363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23554" name="Content Placeholder 2"/>
          <p:cNvSpPr>
            <a:spLocks noGrp="1"/>
          </p:cNvSpPr>
          <p:nvPr>
            <p:ph idx="1"/>
          </p:nvPr>
        </p:nvSpPr>
        <p:spPr>
          <a:xfrm>
            <a:off x="457200" y="2286000"/>
            <a:ext cx="5410200" cy="2286000"/>
          </a:xfrm>
        </p:spPr>
        <p:txBody>
          <a:bodyPr/>
          <a:lstStyle/>
          <a:p>
            <a:r>
              <a:rPr lang="en-US" smtClean="0"/>
              <a:t>Diversify</a:t>
            </a:r>
          </a:p>
          <a:p>
            <a:r>
              <a:rPr lang="en-US" smtClean="0"/>
              <a:t>Be creative</a:t>
            </a:r>
          </a:p>
          <a:p>
            <a:r>
              <a:rPr lang="en-US" smtClean="0"/>
              <a:t>Support others: Sustain</a:t>
            </a:r>
          </a:p>
          <a:p>
            <a:endParaRPr lang="en-US" smtClean="0"/>
          </a:p>
        </p:txBody>
      </p:sp>
      <p:pic>
        <p:nvPicPr>
          <p:cNvPr id="23555" name="Picture 3" descr="JackHoltzLogo 1-12-04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2800" y="4648200"/>
            <a:ext cx="1955800" cy="92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6" name="Picture 4" descr="MailManLogo_b2.bmp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81400" y="228600"/>
            <a:ext cx="1905000" cy="1154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7" name="Picture 5" descr="UM Child Health Institute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600200" y="5791200"/>
            <a:ext cx="265747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8" name="Picture 6" descr="Miller wUM 349 Greem.bmp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57200" y="4648200"/>
            <a:ext cx="1895475" cy="903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D_BusPres_01_TP01136794 ">
  <a:themeElements>
    <a:clrScheme name="GD_BusPres_01_TP01136794  3">
      <a:dk1>
        <a:srgbClr val="0000C0"/>
      </a:dk1>
      <a:lt1>
        <a:srgbClr val="FFFFFF"/>
      </a:lt1>
      <a:dk2>
        <a:srgbClr val="0066CC"/>
      </a:dk2>
      <a:lt2>
        <a:srgbClr val="9ADCF6"/>
      </a:lt2>
      <a:accent1>
        <a:srgbClr val="BE9932"/>
      </a:accent1>
      <a:accent2>
        <a:srgbClr val="2A99EC"/>
      </a:accent2>
      <a:accent3>
        <a:srgbClr val="AAB8E2"/>
      </a:accent3>
      <a:accent4>
        <a:srgbClr val="DADADA"/>
      </a:accent4>
      <a:accent5>
        <a:srgbClr val="DBCAAD"/>
      </a:accent5>
      <a:accent6>
        <a:srgbClr val="258AD6"/>
      </a:accent6>
      <a:hlink>
        <a:srgbClr val="70B040"/>
      </a:hlink>
      <a:folHlink>
        <a:srgbClr val="6B8ED3"/>
      </a:folHlink>
    </a:clrScheme>
    <a:fontScheme name="GD_BusPres_01_TP01136794 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GD_BusPres_01_TP01136794  1">
        <a:dk1>
          <a:srgbClr val="000066"/>
        </a:dk1>
        <a:lt1>
          <a:srgbClr val="FFFFFF"/>
        </a:lt1>
        <a:dk2>
          <a:srgbClr val="006699"/>
        </a:dk2>
        <a:lt2>
          <a:srgbClr val="EEE378"/>
        </a:lt2>
        <a:accent1>
          <a:srgbClr val="69C828"/>
        </a:accent1>
        <a:accent2>
          <a:srgbClr val="E68B30"/>
        </a:accent2>
        <a:accent3>
          <a:srgbClr val="AAB8CA"/>
        </a:accent3>
        <a:accent4>
          <a:srgbClr val="DADADA"/>
        </a:accent4>
        <a:accent5>
          <a:srgbClr val="B9E0AC"/>
        </a:accent5>
        <a:accent6>
          <a:srgbClr val="D07D2A"/>
        </a:accent6>
        <a:hlink>
          <a:srgbClr val="0FAAE1"/>
        </a:hlink>
        <a:folHlink>
          <a:srgbClr val="547FE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D_BusPres_01_TP01136794  2">
        <a:dk1>
          <a:srgbClr val="0F4334"/>
        </a:dk1>
        <a:lt1>
          <a:srgbClr val="FFFFFF"/>
        </a:lt1>
        <a:dk2>
          <a:srgbClr val="43BD4C"/>
        </a:dk2>
        <a:lt2>
          <a:srgbClr val="F0F7BD"/>
        </a:lt2>
        <a:accent1>
          <a:srgbClr val="B2B838"/>
        </a:accent1>
        <a:accent2>
          <a:srgbClr val="E68B30"/>
        </a:accent2>
        <a:accent3>
          <a:srgbClr val="B0DBB2"/>
        </a:accent3>
        <a:accent4>
          <a:srgbClr val="DADADA"/>
        </a:accent4>
        <a:accent5>
          <a:srgbClr val="D5D8AE"/>
        </a:accent5>
        <a:accent6>
          <a:srgbClr val="D07D2A"/>
        </a:accent6>
        <a:hlink>
          <a:srgbClr val="3FB180"/>
        </a:hlink>
        <a:folHlink>
          <a:srgbClr val="3BA7E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D_BusPres_01_TP01136794  3">
        <a:dk1>
          <a:srgbClr val="0000C0"/>
        </a:dk1>
        <a:lt1>
          <a:srgbClr val="FFFFFF"/>
        </a:lt1>
        <a:dk2>
          <a:srgbClr val="0066CC"/>
        </a:dk2>
        <a:lt2>
          <a:srgbClr val="9ADCF6"/>
        </a:lt2>
        <a:accent1>
          <a:srgbClr val="BE9932"/>
        </a:accent1>
        <a:accent2>
          <a:srgbClr val="2A99EC"/>
        </a:accent2>
        <a:accent3>
          <a:srgbClr val="AAB8E2"/>
        </a:accent3>
        <a:accent4>
          <a:srgbClr val="DADADA"/>
        </a:accent4>
        <a:accent5>
          <a:srgbClr val="DBCAAD"/>
        </a:accent5>
        <a:accent6>
          <a:srgbClr val="258AD6"/>
        </a:accent6>
        <a:hlink>
          <a:srgbClr val="70B040"/>
        </a:hlink>
        <a:folHlink>
          <a:srgbClr val="6B8ED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Sample presentation slides</Template>
  <TotalTime>72</TotalTime>
  <Words>295</Words>
  <Application>Microsoft Office PowerPoint</Application>
  <PresentationFormat>On-screen Show (4:3)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Design Template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Times New Roman</vt:lpstr>
      <vt:lpstr>Calibri</vt:lpstr>
      <vt:lpstr>GD_BusPres_01_TP01136794 </vt:lpstr>
      <vt:lpstr>GD_BusPres_01_TP01136794 </vt:lpstr>
      <vt:lpstr>Great Idea: Now Keep It Going</vt:lpstr>
      <vt:lpstr>Strategies to Support Training</vt:lpstr>
      <vt:lpstr>Research and Demonstration Projects</vt:lpstr>
      <vt:lpstr>Research and Demonstration Projects</vt:lpstr>
      <vt:lpstr>Research and Demonstration Projects</vt:lpstr>
      <vt:lpstr>Philanthropy</vt:lpstr>
      <vt:lpstr>Philanthropy</vt:lpstr>
      <vt:lpstr>Partnerships</vt:lpstr>
      <vt:lpstr>Partnerships</vt:lpstr>
      <vt:lpstr>Summary</vt:lpstr>
    </vt:vector>
  </TitlesOfParts>
  <Company>Miller School Of Medicine (University Of Miami)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Armstrong, Daniel</dc:creator>
  <cp:lastModifiedBy>Sheryl Mathis</cp:lastModifiedBy>
  <cp:revision>69</cp:revision>
  <dcterms:created xsi:type="dcterms:W3CDTF">2008-04-18T11:36:55Z</dcterms:created>
  <dcterms:modified xsi:type="dcterms:W3CDTF">2008-04-21T17:42:53Z</dcterms:modified>
</cp:coreProperties>
</file>