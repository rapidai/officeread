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Slides/notesSlide18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Default Extension="jpeg" ContentType="image/jpeg"/>
  <Default Extension="emf" ContentType="image/x-emf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Default Extension="vml" ContentType="application/vnd.openxmlformats-officedocument.vmlDrawing"/>
  <Override PartName="/ppt/notesSlides/notesSlide20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28"/>
  </p:notesMasterIdLst>
  <p:sldIdLst>
    <p:sldId id="390" r:id="rId2"/>
    <p:sldId id="408" r:id="rId3"/>
    <p:sldId id="428" r:id="rId4"/>
    <p:sldId id="427" r:id="rId5"/>
    <p:sldId id="424" r:id="rId6"/>
    <p:sldId id="412" r:id="rId7"/>
    <p:sldId id="410" r:id="rId8"/>
    <p:sldId id="413" r:id="rId9"/>
    <p:sldId id="403" r:id="rId10"/>
    <p:sldId id="404" r:id="rId11"/>
    <p:sldId id="405" r:id="rId12"/>
    <p:sldId id="406" r:id="rId13"/>
    <p:sldId id="407" r:id="rId14"/>
    <p:sldId id="402" r:id="rId15"/>
    <p:sldId id="429" r:id="rId16"/>
    <p:sldId id="430" r:id="rId17"/>
    <p:sldId id="398" r:id="rId18"/>
    <p:sldId id="399" r:id="rId19"/>
    <p:sldId id="400" r:id="rId20"/>
    <p:sldId id="278" r:id="rId21"/>
    <p:sldId id="431" r:id="rId22"/>
    <p:sldId id="393" r:id="rId23"/>
    <p:sldId id="425" r:id="rId24"/>
    <p:sldId id="415" r:id="rId25"/>
    <p:sldId id="416" r:id="rId26"/>
    <p:sldId id="432" r:id="rId27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Garamond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Garamond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Garamond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Garamond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Garamond" pitchFamily="18" charset="0"/>
        <a:ea typeface="+mn-ea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Garamond" pitchFamily="18" charset="0"/>
        <a:ea typeface="+mn-ea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Garamond" pitchFamily="18" charset="0"/>
        <a:ea typeface="+mn-ea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Garamond" pitchFamily="18" charset="0"/>
        <a:ea typeface="+mn-ea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Garamond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FFFF"/>
    <a:srgbClr val="FFFF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19" autoAdjust="0"/>
    <p:restoredTop sz="64117" autoAdjust="0"/>
  </p:normalViewPr>
  <p:slideViewPr>
    <p:cSldViewPr>
      <p:cViewPr>
        <p:scale>
          <a:sx n="50" d="100"/>
          <a:sy n="50" d="100"/>
        </p:scale>
        <p:origin x="-1086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843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28676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286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286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286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Arial" charset="0"/>
              </a:defRPr>
            </a:lvl1pPr>
          </a:lstStyle>
          <a:p>
            <a:fld id="{672DF61B-5417-4387-B9FA-D7EE9A1FA78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E1AE8C2-9616-44AC-A8BC-BC55460AB7A2}" type="slidenum">
              <a:rPr lang="en-US"/>
              <a:pPr/>
              <a:t>1</a:t>
            </a:fld>
            <a:endParaRPr lang="en-US"/>
          </a:p>
        </p:txBody>
      </p:sp>
      <p:sp>
        <p:nvSpPr>
          <p:cNvPr id="270338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0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VA Heart Failure and IHI’s Five Million Lives Campaign</a:t>
            </a:r>
          </a:p>
          <a:p>
            <a:endParaRPr lang="en-US" b="1"/>
          </a:p>
          <a:p>
            <a:r>
              <a:rPr lang="en-US"/>
              <a:t>Paul Heidenreich MD, MS</a:t>
            </a:r>
          </a:p>
          <a:p>
            <a:r>
              <a:rPr lang="en-US"/>
              <a:t>Barry Massie MD</a:t>
            </a:r>
          </a:p>
          <a:p>
            <a:r>
              <a:rPr lang="en-US"/>
              <a:t>Anju Sahay PhD</a:t>
            </a:r>
          </a:p>
          <a:p>
            <a:r>
              <a:rPr lang="en-US"/>
              <a:t>Robert Jesse MD, PhD</a:t>
            </a:r>
          </a:p>
          <a:p>
            <a:r>
              <a:rPr lang="en-US"/>
              <a:t>7/9/2007</a:t>
            </a:r>
          </a:p>
          <a:p>
            <a:endParaRPr lang="en-US" b="1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21D9229-6C0F-4AEC-B845-85436E699215}" type="slidenum">
              <a:rPr lang="en-US"/>
              <a:pPr/>
              <a:t>2</a:t>
            </a:fld>
            <a:endParaRPr lang="en-US"/>
          </a:p>
        </p:txBody>
      </p:sp>
      <p:sp>
        <p:nvSpPr>
          <p:cNvPr id="340994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09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000" b="1"/>
              <a:t>The Institute for Healthcare Improvement (IHI)</a:t>
            </a:r>
          </a:p>
          <a:p>
            <a:endParaRPr lang="en-US" sz="1000" b="1"/>
          </a:p>
          <a:p>
            <a:r>
              <a:rPr lang="en-US"/>
              <a:t>Save 100,000 lives campaign</a:t>
            </a:r>
          </a:p>
          <a:p>
            <a:r>
              <a:rPr lang="en-US" sz="1400"/>
              <a:t>Reduce hospital mortality</a:t>
            </a:r>
          </a:p>
          <a:p>
            <a:r>
              <a:rPr lang="en-US" sz="1600"/>
              <a:t>Rapid response teams</a:t>
            </a:r>
          </a:p>
          <a:p>
            <a:r>
              <a:rPr lang="en-US" sz="1600"/>
              <a:t>Better acute MI Care</a:t>
            </a:r>
          </a:p>
          <a:p>
            <a:r>
              <a:rPr lang="en-US" sz="1600"/>
              <a:t>Prevent adverse drug events</a:t>
            </a:r>
          </a:p>
          <a:p>
            <a:r>
              <a:rPr lang="en-US" sz="1600"/>
              <a:t>Prevent central line infections</a:t>
            </a:r>
          </a:p>
          <a:p>
            <a:r>
              <a:rPr lang="en-US" sz="1600"/>
              <a:t>Prevent ventilator-associated pneumonia</a:t>
            </a:r>
          </a:p>
          <a:p>
            <a:r>
              <a:rPr lang="en-US" sz="1600"/>
              <a:t>Prevent surgical site infections</a:t>
            </a:r>
            <a:endParaRPr lang="en-US" sz="1600">
              <a:solidFill>
                <a:srgbClr val="000066"/>
              </a:solidFill>
            </a:endParaRPr>
          </a:p>
          <a:p>
            <a:endParaRPr lang="en-US" sz="1000" b="1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1373F07-2B05-4C02-98E0-2ABDBCA69299}" type="slidenum">
              <a:rPr lang="en-US"/>
              <a:pPr/>
              <a:t>3</a:t>
            </a:fld>
            <a:endParaRPr lang="en-US"/>
          </a:p>
        </p:txBody>
      </p:sp>
      <p:sp>
        <p:nvSpPr>
          <p:cNvPr id="342018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20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100K Lives Campaign</a:t>
            </a:r>
          </a:p>
          <a:p>
            <a:endParaRPr lang="en-US" b="1"/>
          </a:p>
          <a:p>
            <a:r>
              <a:rPr lang="en-US"/>
              <a:t>3100 Hospitals participated</a:t>
            </a:r>
          </a:p>
          <a:p>
            <a:r>
              <a:rPr lang="en-US"/>
              <a:t>18 months</a:t>
            </a:r>
          </a:p>
          <a:p>
            <a:r>
              <a:rPr lang="en-US"/>
              <a:t>124,000 lives saved</a:t>
            </a:r>
          </a:p>
          <a:p>
            <a:endParaRPr lang="en-US" b="1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91E72E9-7B0A-46DC-B263-1EC82464B787}" type="slidenum">
              <a:rPr lang="en-US"/>
              <a:pPr/>
              <a:t>4</a:t>
            </a:fld>
            <a:endParaRPr lang="en-US"/>
          </a:p>
        </p:txBody>
      </p:sp>
      <p:sp>
        <p:nvSpPr>
          <p:cNvPr id="343042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30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IMPACT</a:t>
            </a:r>
            <a:r>
              <a:rPr lang="en-US"/>
              <a:t> 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4629EAA-219F-4F64-8E76-4FF25CD8CBC2}" type="slidenum">
              <a:rPr lang="en-US"/>
              <a:pPr/>
              <a:t>5</a:t>
            </a:fld>
            <a:endParaRPr lang="en-US"/>
          </a:p>
        </p:txBody>
      </p:sp>
      <p:sp>
        <p:nvSpPr>
          <p:cNvPr id="344066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40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5 Million Lives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7719053-FD27-4E66-A0B5-60B89000C9BF}" type="slidenum">
              <a:rPr lang="en-US"/>
              <a:pPr/>
              <a:t>6</a:t>
            </a:fld>
            <a:endParaRPr lang="en-US"/>
          </a:p>
        </p:txBody>
      </p:sp>
      <p:sp>
        <p:nvSpPr>
          <p:cNvPr id="345090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50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The Institute for Healthcare Improvement</a:t>
            </a:r>
          </a:p>
          <a:p>
            <a:endParaRPr lang="en-US" b="1"/>
          </a:p>
          <a:p>
            <a:r>
              <a:rPr lang="en-US"/>
              <a:t>Many more patients are </a:t>
            </a:r>
            <a:r>
              <a:rPr lang="en-US" b="1" u="sng"/>
              <a:t>harmed</a:t>
            </a:r>
            <a:r>
              <a:rPr lang="en-US"/>
              <a:t> than killed</a:t>
            </a:r>
          </a:p>
          <a:p>
            <a:r>
              <a:rPr lang="en-US"/>
              <a:t>37 million hospitalizations/year in the US</a:t>
            </a:r>
          </a:p>
          <a:p>
            <a:r>
              <a:rPr lang="en-US"/>
              <a:t>40-50 injuries/100 admissions</a:t>
            </a:r>
          </a:p>
          <a:p>
            <a:r>
              <a:rPr lang="en-US"/>
              <a:t>15 million are harmed/year in US hospitals</a:t>
            </a:r>
          </a:p>
          <a:p>
            <a:r>
              <a:rPr lang="en-US"/>
              <a:t>40,000 / day</a:t>
            </a:r>
          </a:p>
          <a:p>
            <a:pPr lvl="1"/>
            <a:endParaRPr lang="en-US"/>
          </a:p>
          <a:p>
            <a:r>
              <a:rPr lang="en-US" b="1"/>
              <a:t>Goal: Eliminate harm to 5 million patients over the next two years</a:t>
            </a:r>
          </a:p>
          <a:p>
            <a:endParaRPr lang="en-US" b="1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0495519-943E-4122-A6E9-143468C52320}" type="slidenum">
              <a:rPr lang="en-US"/>
              <a:pPr/>
              <a:t>7</a:t>
            </a:fld>
            <a:endParaRPr lang="en-US"/>
          </a:p>
        </p:txBody>
      </p:sp>
      <p:sp>
        <p:nvSpPr>
          <p:cNvPr id="302082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2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000" b="1"/>
              <a:t>IHI Definition of Medical Harm</a:t>
            </a:r>
          </a:p>
          <a:p>
            <a:endParaRPr lang="en-US" sz="1000" b="1"/>
          </a:p>
          <a:p>
            <a:pPr>
              <a:lnSpc>
                <a:spcPct val="110000"/>
              </a:lnSpc>
            </a:pPr>
            <a:r>
              <a:rPr lang="en-US"/>
              <a:t>Unintended physical injury resulting from or contributed to by medical care (including the absence of indicated medical treatment), that requires additional monitoring, treatment or hospitalization, or that results in death.</a:t>
            </a:r>
          </a:p>
          <a:p>
            <a:pPr>
              <a:lnSpc>
                <a:spcPct val="110000"/>
              </a:lnSpc>
            </a:pPr>
            <a:endParaRPr lang="en-US"/>
          </a:p>
          <a:p>
            <a:endParaRPr lang="en-US" sz="1000" b="1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CCEB2F8-BFF9-4725-A240-724D1A06189E}" type="slidenum">
              <a:rPr lang="en-US"/>
              <a:pPr/>
              <a:t>8</a:t>
            </a:fld>
            <a:endParaRPr lang="en-US"/>
          </a:p>
        </p:txBody>
      </p:sp>
      <p:sp>
        <p:nvSpPr>
          <p:cNvPr id="346114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61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IHI Save 5 Million Lives From Harm</a:t>
            </a:r>
          </a:p>
          <a:p>
            <a:endParaRPr lang="en-US" b="1"/>
          </a:p>
          <a:p>
            <a:r>
              <a:rPr lang="en-US"/>
              <a:t>Prevent pressure ulcers</a:t>
            </a:r>
          </a:p>
          <a:p>
            <a:r>
              <a:rPr lang="en-US"/>
              <a:t>Reduce MRSA</a:t>
            </a:r>
          </a:p>
          <a:p>
            <a:r>
              <a:rPr lang="en-US"/>
              <a:t>Prevent harm from high-alert medications</a:t>
            </a:r>
          </a:p>
          <a:p>
            <a:r>
              <a:rPr lang="en-US"/>
              <a:t>Reduce Surgical Complications</a:t>
            </a:r>
          </a:p>
          <a:p>
            <a:r>
              <a:rPr lang="en-US" b="1">
                <a:solidFill>
                  <a:srgbClr val="66FFFF"/>
                </a:solidFill>
              </a:rPr>
              <a:t>Deliver reliable </a:t>
            </a:r>
            <a:r>
              <a:rPr lang="en-US" b="1" u="sng">
                <a:solidFill>
                  <a:srgbClr val="66FFFF"/>
                </a:solidFill>
              </a:rPr>
              <a:t>evidence</a:t>
            </a:r>
            <a:r>
              <a:rPr lang="en-US" b="1">
                <a:solidFill>
                  <a:srgbClr val="66FFFF"/>
                </a:solidFill>
              </a:rPr>
              <a:t>-</a:t>
            </a:r>
            <a:r>
              <a:rPr lang="en-US" b="1" u="sng">
                <a:solidFill>
                  <a:srgbClr val="66FFFF"/>
                </a:solidFill>
              </a:rPr>
              <a:t>based</a:t>
            </a:r>
            <a:r>
              <a:rPr lang="en-US" b="1">
                <a:solidFill>
                  <a:srgbClr val="66FFFF"/>
                </a:solidFill>
              </a:rPr>
              <a:t> care for heart failure</a:t>
            </a:r>
          </a:p>
          <a:p>
            <a:r>
              <a:rPr lang="en-US"/>
              <a:t>Get boards on board</a:t>
            </a:r>
          </a:p>
          <a:p>
            <a:endParaRPr lang="en-US" b="1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4B1EC3F-FECB-4F0D-A548-ACB44F1755AE}" type="slidenum">
              <a:rPr lang="en-US"/>
              <a:pPr/>
              <a:t>9</a:t>
            </a:fld>
            <a:endParaRPr lang="en-US"/>
          </a:p>
        </p:txBody>
      </p:sp>
      <p:sp>
        <p:nvSpPr>
          <p:cNvPr id="347138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7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IHI 5 Million Lives Campaign: Heart Failure</a:t>
            </a:r>
          </a:p>
          <a:p>
            <a:endParaRPr lang="en-US" b="1"/>
          </a:p>
          <a:p>
            <a:r>
              <a:rPr lang="en-US"/>
              <a:t>Goal:  Deliver reliable evidence-based care for congestive heart failure … to reduce admissions.</a:t>
            </a:r>
          </a:p>
          <a:p>
            <a:r>
              <a:rPr lang="en-US"/>
              <a:t>Reduce the readmission rate by 50% by December 2008</a:t>
            </a:r>
          </a:p>
          <a:p>
            <a:endParaRPr lang="en-US" b="1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B9996FD-7F6F-4DE7-B20A-95E075661C2B}" type="slidenum">
              <a:rPr lang="en-US"/>
              <a:pPr/>
              <a:t>10</a:t>
            </a:fld>
            <a:endParaRPr lang="en-US"/>
          </a:p>
        </p:txBody>
      </p:sp>
      <p:sp>
        <p:nvSpPr>
          <p:cNvPr id="348162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Heart Failure Key Interventions</a:t>
            </a:r>
          </a:p>
          <a:p>
            <a:endParaRPr lang="en-US" b="1"/>
          </a:p>
          <a:p>
            <a:r>
              <a:rPr lang="en-US"/>
              <a:t>Measure Left Ventricular Ejection Fraction (EF)</a:t>
            </a:r>
          </a:p>
          <a:p>
            <a:r>
              <a:rPr lang="en-US"/>
              <a:t>ACE inhibitor or ARB at Discharge if EF&lt;40%</a:t>
            </a:r>
          </a:p>
          <a:p>
            <a:r>
              <a:rPr lang="en-US"/>
              <a:t>Anticoagulation if Atrial Fib. at Discharge</a:t>
            </a:r>
          </a:p>
          <a:p>
            <a:r>
              <a:rPr lang="en-US"/>
              <a:t>Influenza vaccine</a:t>
            </a:r>
          </a:p>
          <a:p>
            <a:r>
              <a:rPr lang="en-US"/>
              <a:t>Pneumoccocal vaccine</a:t>
            </a:r>
          </a:p>
          <a:p>
            <a:r>
              <a:rPr lang="en-US"/>
              <a:t>Smoking Cessation counseling</a:t>
            </a:r>
          </a:p>
          <a:p>
            <a:r>
              <a:rPr lang="en-US"/>
              <a:t>Discharge instructions</a:t>
            </a:r>
          </a:p>
          <a:p>
            <a:endParaRPr lang="en-US" b="1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BF5ACCE-209E-4DE7-BDC9-4072B972600A}" type="slidenum">
              <a:rPr lang="en-US"/>
              <a:pPr/>
              <a:t>11</a:t>
            </a:fld>
            <a:endParaRPr lang="en-US"/>
          </a:p>
        </p:txBody>
      </p:sp>
      <p:sp>
        <p:nvSpPr>
          <p:cNvPr id="349186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91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Heart Failure Other Interventions to Consider</a:t>
            </a:r>
          </a:p>
          <a:p>
            <a:endParaRPr lang="en-US" b="1"/>
          </a:p>
          <a:p>
            <a:r>
              <a:rPr lang="en-US"/>
              <a:t>Beta-Blocker at Discharge if EF&lt;40%</a:t>
            </a:r>
          </a:p>
          <a:p>
            <a:r>
              <a:rPr lang="en-US"/>
              <a:t>Discharge Contract</a:t>
            </a:r>
          </a:p>
          <a:p>
            <a:r>
              <a:rPr lang="en-US"/>
              <a:t>Statins for coronary disease</a:t>
            </a:r>
          </a:p>
          <a:p>
            <a:r>
              <a:rPr lang="en-US"/>
              <a:t>Spironolactone for certain high risk patients</a:t>
            </a:r>
          </a:p>
          <a:p>
            <a:endParaRPr lang="en-US"/>
          </a:p>
          <a:p>
            <a:endParaRPr lang="en-US" b="1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E198B9A-0F0F-4C5E-A978-A4E7E5F3AA56}" type="slidenum">
              <a:rPr lang="en-US"/>
              <a:pPr/>
              <a:t>12</a:t>
            </a:fld>
            <a:endParaRPr lang="en-US"/>
          </a:p>
        </p:txBody>
      </p:sp>
      <p:sp>
        <p:nvSpPr>
          <p:cNvPr id="350210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02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Getting Started</a:t>
            </a:r>
          </a:p>
          <a:p>
            <a:endParaRPr lang="en-US" b="1"/>
          </a:p>
          <a:p>
            <a:r>
              <a:rPr lang="en-US"/>
              <a:t>Form a team</a:t>
            </a:r>
          </a:p>
          <a:p>
            <a:r>
              <a:rPr lang="en-US"/>
              <a:t>Focus on a specific cohort (e.g. those being discharged home)</a:t>
            </a:r>
          </a:p>
          <a:p>
            <a:r>
              <a:rPr lang="en-US"/>
              <a:t>Standardize Protocols</a:t>
            </a:r>
          </a:p>
          <a:p>
            <a:r>
              <a:rPr lang="en-US"/>
              <a:t>Nursing</a:t>
            </a:r>
          </a:p>
          <a:p>
            <a:r>
              <a:rPr lang="en-US"/>
              <a:t>Discharge</a:t>
            </a:r>
          </a:p>
          <a:p>
            <a:r>
              <a:rPr lang="en-US"/>
              <a:t>Link treatment orders to results of EF testing</a:t>
            </a:r>
          </a:p>
          <a:p>
            <a:r>
              <a:rPr lang="en-US"/>
              <a:t>Need to capture the LVEF numerically</a:t>
            </a:r>
          </a:p>
          <a:p>
            <a:r>
              <a:rPr lang="en-US"/>
              <a:t>Use Case Managers</a:t>
            </a:r>
          </a:p>
          <a:p>
            <a:endParaRPr lang="en-US" b="1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275C469-DA9E-4A41-AF6A-E89749753D22}" type="slidenum">
              <a:rPr lang="en-US"/>
              <a:pPr/>
              <a:t>13</a:t>
            </a:fld>
            <a:endParaRPr lang="en-US"/>
          </a:p>
        </p:txBody>
      </p:sp>
      <p:sp>
        <p:nvSpPr>
          <p:cNvPr id="351234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12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Discharge Checklist</a:t>
            </a:r>
          </a:p>
          <a:p>
            <a:endParaRPr lang="en-US" b="1"/>
          </a:p>
          <a:p>
            <a:r>
              <a:rPr lang="en-US"/>
              <a:t>Reconcile Medications</a:t>
            </a:r>
          </a:p>
          <a:p>
            <a:r>
              <a:rPr lang="en-US"/>
              <a:t>Teach Back</a:t>
            </a:r>
          </a:p>
          <a:p>
            <a:r>
              <a:rPr lang="en-US"/>
              <a:t>Follow up phone call in 48 hours</a:t>
            </a:r>
          </a:p>
          <a:p>
            <a:r>
              <a:rPr lang="en-US"/>
              <a:t>Medication check</a:t>
            </a:r>
          </a:p>
          <a:p>
            <a:r>
              <a:rPr lang="en-US"/>
              <a:t>Physician visit</a:t>
            </a:r>
          </a:p>
          <a:p>
            <a:r>
              <a:rPr lang="en-US"/>
              <a:t>1 week for average risk patients</a:t>
            </a:r>
          </a:p>
          <a:p>
            <a:r>
              <a:rPr lang="en-US"/>
              <a:t>48 hours for high risk patients</a:t>
            </a:r>
          </a:p>
          <a:p>
            <a:r>
              <a:rPr lang="en-US"/>
              <a:t>Case management for high risk patients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2B30BD0-848F-4288-9C30-F8EF73EF4733}" type="slidenum">
              <a:rPr lang="en-US"/>
              <a:pPr/>
              <a:t>14</a:t>
            </a:fld>
            <a:endParaRPr lang="en-US"/>
          </a:p>
        </p:txBody>
      </p:sp>
      <p:sp>
        <p:nvSpPr>
          <p:cNvPr id="352258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22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IHI:  Recommended Actions</a:t>
            </a:r>
          </a:p>
          <a:p>
            <a:endParaRPr lang="en-US" b="1"/>
          </a:p>
          <a:p>
            <a:r>
              <a:rPr lang="en-US"/>
              <a:t>Identify population of patients with CHF</a:t>
            </a:r>
          </a:p>
          <a:p>
            <a:r>
              <a:rPr lang="en-US"/>
              <a:t>Develop standard order sets/protocols </a:t>
            </a:r>
          </a:p>
          <a:p>
            <a:r>
              <a:rPr lang="en-US"/>
              <a:t>Implement process for reliably providing automatic smoking cessation counseling for all patients identified on admission with smoking history</a:t>
            </a:r>
          </a:p>
          <a:p>
            <a:r>
              <a:rPr lang="en-US"/>
              <a:t>Implement process for automatically providing pneumococcal and influenza vaccine</a:t>
            </a:r>
          </a:p>
          <a:p>
            <a:endParaRPr lang="en-US" b="1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D9A131B-4C42-4FA0-BF56-409A748BD617}" type="slidenum">
              <a:rPr lang="en-US"/>
              <a:pPr/>
              <a:t>15</a:t>
            </a:fld>
            <a:endParaRPr lang="en-US"/>
          </a:p>
        </p:txBody>
      </p:sp>
      <p:sp>
        <p:nvSpPr>
          <p:cNvPr id="353282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32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IHI:  Recommended Actions</a:t>
            </a:r>
          </a:p>
          <a:p>
            <a:endParaRPr lang="en-US" b="1"/>
          </a:p>
          <a:p>
            <a:r>
              <a:rPr lang="en-US"/>
              <a:t>Begin discharge assessment and teaching on admission</a:t>
            </a:r>
          </a:p>
          <a:p>
            <a:r>
              <a:rPr lang="en-US"/>
              <a:t>Standardize CHF teaching elements and ensure skill of staff who are teaching patients</a:t>
            </a:r>
          </a:p>
          <a:p>
            <a:r>
              <a:rPr lang="en-US"/>
              <a:t>Use “Ask Me 3” and Teachback methods to ensure “same pageness” with patient</a:t>
            </a:r>
          </a:p>
          <a:p>
            <a:r>
              <a:rPr lang="en-US"/>
              <a:t>Establish linkages with home health and primary care for each patient</a:t>
            </a:r>
          </a:p>
          <a:p>
            <a:r>
              <a:rPr lang="en-US"/>
              <a:t>Assess each patient’s situation for ability to follow through on discharge instructions and ensure barriers are addressed</a:t>
            </a:r>
          </a:p>
          <a:p>
            <a:endParaRPr lang="en-US" b="1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FFAA408-D9A3-46BA-B58A-20D9CDC558D5}" type="slidenum">
              <a:rPr lang="en-US"/>
              <a:pPr/>
              <a:t>16</a:t>
            </a:fld>
            <a:endParaRPr lang="en-US"/>
          </a:p>
        </p:txBody>
      </p:sp>
      <p:sp>
        <p:nvSpPr>
          <p:cNvPr id="354306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43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Process of Care VA and CMS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06773E1-7120-41DB-80B2-85A58F41D134}" type="slidenum">
              <a:rPr lang="en-US"/>
              <a:pPr/>
              <a:t>17</a:t>
            </a:fld>
            <a:endParaRPr lang="en-US"/>
          </a:p>
        </p:txBody>
      </p:sp>
      <p:sp>
        <p:nvSpPr>
          <p:cNvPr id="286722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LVEF Measurement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A927541-B579-42DB-8012-9E1D0500C17C}" type="slidenum">
              <a:rPr lang="en-US"/>
              <a:pPr/>
              <a:t>18</a:t>
            </a:fld>
            <a:endParaRPr lang="en-US"/>
          </a:p>
        </p:txBody>
      </p:sp>
      <p:sp>
        <p:nvSpPr>
          <p:cNvPr id="288770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8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ACE Inhibitors or ARBs (EF&lt;40%)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3C54E73-6F11-455B-AE49-3662900E7EB0}" type="slidenum">
              <a:rPr lang="en-US"/>
              <a:pPr/>
              <a:t>19</a:t>
            </a:fld>
            <a:endParaRPr lang="en-US"/>
          </a:p>
        </p:txBody>
      </p:sp>
      <p:sp>
        <p:nvSpPr>
          <p:cNvPr id="290818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0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Discharge Instructions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B4B40BE-D1C6-4496-94BF-662E054B0CA6}" type="slidenum">
              <a:rPr lang="en-US"/>
              <a:pPr/>
              <a:t>20</a:t>
            </a:fld>
            <a:endParaRPr lang="en-US"/>
          </a:p>
        </p:txBody>
      </p:sp>
      <p:sp>
        <p:nvSpPr>
          <p:cNvPr id="64514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VA CHF Performance 2004-2005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B5C6D9C-60BC-4BBB-9F42-E08B67BC492B}" type="slidenum">
              <a:rPr lang="en-US"/>
              <a:pPr/>
              <a:t>21</a:t>
            </a:fld>
            <a:endParaRPr lang="en-US"/>
          </a:p>
        </p:txBody>
      </p:sp>
      <p:sp>
        <p:nvSpPr>
          <p:cNvPr id="355330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53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Outcome: VA and CMS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0C11E65-9D92-4DE5-967A-9748CBF6A01D}" type="slidenum">
              <a:rPr lang="en-US"/>
              <a:pPr/>
              <a:t>22</a:t>
            </a:fld>
            <a:endParaRPr lang="en-US"/>
          </a:p>
        </p:txBody>
      </p:sp>
      <p:sp>
        <p:nvSpPr>
          <p:cNvPr id="356354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6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Mortality Rating: CMS</a:t>
            </a:r>
          </a:p>
          <a:p>
            <a:endParaRPr lang="en-US" b="1"/>
          </a:p>
          <a:p>
            <a:r>
              <a:rPr lang="en-US"/>
              <a:t>	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B187CFF-3F8B-4395-99EE-F65C08D07AF3}" type="slidenum">
              <a:rPr lang="en-US"/>
              <a:pPr/>
              <a:t>23</a:t>
            </a:fld>
            <a:endParaRPr lang="en-US"/>
          </a:p>
        </p:txBody>
      </p:sp>
      <p:sp>
        <p:nvSpPr>
          <p:cNvPr id="357378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7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VA Trends</a:t>
            </a:r>
          </a:p>
          <a:p>
            <a:endParaRPr lang="en-US" b="1"/>
          </a:p>
          <a:p>
            <a:r>
              <a:rPr lang="en-US"/>
              <a:t>VA Admissions with principal diagnosis of heart failure.</a:t>
            </a:r>
          </a:p>
          <a:p>
            <a:r>
              <a:rPr lang="en-US"/>
              <a:t>1998-2005</a:t>
            </a:r>
          </a:p>
          <a:p>
            <a:endParaRPr lang="en-US" b="1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FC71658-EA83-4377-A190-3A8D84ECC666}" type="slidenum">
              <a:rPr lang="en-US"/>
              <a:pPr/>
              <a:t>24</a:t>
            </a:fld>
            <a:endParaRPr lang="en-US"/>
          </a:p>
        </p:txBody>
      </p:sp>
      <p:sp>
        <p:nvSpPr>
          <p:cNvPr id="358402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VA Heart Failure 30-Day Readmission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0178FAD-8F87-4A1F-AB41-E29EF9D24E30}" type="slidenum">
              <a:rPr lang="en-US"/>
              <a:pPr/>
              <a:t>25</a:t>
            </a:fld>
            <a:endParaRPr lang="en-US"/>
          </a:p>
        </p:txBody>
      </p:sp>
      <p:sp>
        <p:nvSpPr>
          <p:cNvPr id="359426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94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VA Heart Failure 30-Day Mortality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C78E866-3137-4B16-A871-333931C0E939}" type="slidenum">
              <a:rPr lang="en-US"/>
              <a:pPr/>
              <a:t>26</a:t>
            </a:fld>
            <a:endParaRPr lang="en-US"/>
          </a:p>
        </p:txBody>
      </p:sp>
      <p:sp>
        <p:nvSpPr>
          <p:cNvPr id="360450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04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Summary</a:t>
            </a:r>
          </a:p>
          <a:p>
            <a:endParaRPr lang="en-US" b="1"/>
          </a:p>
          <a:p>
            <a:r>
              <a:rPr lang="en-US"/>
              <a:t>Process of care is good compared to CMS, but has room for improvement.</a:t>
            </a:r>
          </a:p>
          <a:p>
            <a:r>
              <a:rPr lang="en-US"/>
              <a:t>Difficult to judge outcome measures.</a:t>
            </a:r>
          </a:p>
          <a:p>
            <a:r>
              <a:rPr lang="en-US"/>
              <a:t>Focus area: discharge-handoff</a:t>
            </a:r>
          </a:p>
          <a:p>
            <a:r>
              <a:rPr lang="en-US"/>
              <a:t>Patient contract</a:t>
            </a:r>
          </a:p>
          <a:p>
            <a:r>
              <a:rPr lang="en-US"/>
              <a:t>Early Follow-up</a:t>
            </a:r>
          </a:p>
          <a:p>
            <a:endParaRPr lang="en-US" b="1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2" name="Group 2"/>
          <p:cNvGrpSpPr>
            <a:grpSpLocks/>
          </p:cNvGrpSpPr>
          <p:nvPr/>
        </p:nvGrpSpPr>
        <p:grpSpPr bwMode="auto">
          <a:xfrm>
            <a:off x="0" y="0"/>
            <a:ext cx="9140825" cy="6850063"/>
            <a:chOff x="0" y="0"/>
            <a:chExt cx="5758" cy="4315"/>
          </a:xfrm>
        </p:grpSpPr>
        <p:grpSp>
          <p:nvGrpSpPr>
            <p:cNvPr id="5123" name="Group 3"/>
            <p:cNvGrpSpPr>
              <a:grpSpLocks/>
            </p:cNvGrpSpPr>
            <p:nvPr userDrawn="1"/>
          </p:nvGrpSpPr>
          <p:grpSpPr bwMode="auto">
            <a:xfrm>
              <a:off x="1728" y="2230"/>
              <a:ext cx="4027" cy="2085"/>
              <a:chOff x="1728" y="2230"/>
              <a:chExt cx="4027" cy="2085"/>
            </a:xfrm>
          </p:grpSpPr>
          <p:sp>
            <p:nvSpPr>
              <p:cNvPr id="5124" name="Freeform 4"/>
              <p:cNvSpPr>
                <a:spLocks/>
              </p:cNvSpPr>
              <p:nvPr/>
            </p:nvSpPr>
            <p:spPr bwMode="hidden">
              <a:xfrm>
                <a:off x="1728" y="2644"/>
                <a:ext cx="2882" cy="1671"/>
              </a:xfrm>
              <a:custGeom>
                <a:avLst/>
                <a:gdLst/>
                <a:ahLst/>
                <a:cxnLst>
                  <a:cxn ang="0">
                    <a:pos x="2740" y="528"/>
                  </a:cxn>
                  <a:cxn ang="0">
                    <a:pos x="2632" y="484"/>
                  </a:cxn>
                  <a:cxn ang="0">
                    <a:pos x="2480" y="424"/>
                  </a:cxn>
                  <a:cxn ang="0">
                    <a:pos x="2203" y="343"/>
                  </a:cxn>
                  <a:cxn ang="0">
                    <a:pos x="1970" y="277"/>
                  </a:cxn>
                  <a:cxn ang="0">
                    <a:pos x="1807" y="212"/>
                  </a:cxn>
                  <a:cxn ang="0">
                    <a:pos x="1693" y="152"/>
                  </a:cxn>
                  <a:cxn ang="0">
                    <a:pos x="1628" y="103"/>
                  </a:cxn>
                  <a:cxn ang="0">
                    <a:pos x="1590" y="60"/>
                  </a:cxn>
                  <a:cxn ang="0">
                    <a:pos x="1579" y="27"/>
                  </a:cxn>
                  <a:cxn ang="0">
                    <a:pos x="1585" y="0"/>
                  </a:cxn>
                  <a:cxn ang="0">
                    <a:pos x="1557" y="49"/>
                  </a:cxn>
                  <a:cxn ang="0">
                    <a:pos x="1568" y="98"/>
                  </a:cxn>
                  <a:cxn ang="0">
                    <a:pos x="1617" y="141"/>
                  </a:cxn>
                  <a:cxn ang="0">
                    <a:pos x="1688" y="185"/>
                  </a:cxn>
                  <a:cxn ang="0">
                    <a:pos x="1791" y="228"/>
                  </a:cxn>
                  <a:cxn ang="0">
                    <a:pos x="2040" y="310"/>
                  </a:cxn>
                  <a:cxn ang="0">
                    <a:pos x="2285" y="381"/>
                  </a:cxn>
                  <a:cxn ang="0">
                    <a:pos x="2464" y="435"/>
                  </a:cxn>
                  <a:cxn ang="0">
                    <a:pos x="2605" y="484"/>
                  </a:cxn>
                  <a:cxn ang="0">
                    <a:pos x="2708" y="528"/>
                  </a:cxn>
                  <a:cxn ang="0">
                    <a:pos x="2768" y="560"/>
                  </a:cxn>
                  <a:cxn ang="0">
                    <a:pos x="2795" y="593"/>
                  </a:cxn>
                  <a:cxn ang="0">
                    <a:pos x="2795" y="642"/>
                  </a:cxn>
                  <a:cxn ang="0">
                    <a:pos x="2762" y="691"/>
                  </a:cxn>
                  <a:cxn ang="0">
                    <a:pos x="2692" y="735"/>
                  </a:cxn>
                  <a:cxn ang="0">
                    <a:pos x="2589" y="778"/>
                  </a:cxn>
                  <a:cxn ang="0">
                    <a:pos x="2458" y="822"/>
                  </a:cxn>
                  <a:cxn ang="0">
                    <a:pos x="2301" y="865"/>
                  </a:cxn>
                  <a:cxn ang="0">
                    <a:pos x="2030" y="930"/>
                  </a:cxn>
                  <a:cxn ang="0">
                    <a:pos x="1606" y="1034"/>
                  </a:cxn>
                  <a:cxn ang="0">
                    <a:pos x="1145" y="1164"/>
                  </a:cxn>
                  <a:cxn ang="0">
                    <a:pos x="673" y="1328"/>
                  </a:cxn>
                  <a:cxn ang="0">
                    <a:pos x="217" y="1545"/>
                  </a:cxn>
                  <a:cxn ang="0">
                    <a:pos x="353" y="1671"/>
                  </a:cxn>
                  <a:cxn ang="0">
                    <a:pos x="754" y="1469"/>
                  </a:cxn>
                  <a:cxn ang="0">
                    <a:pos x="1145" y="1311"/>
                  </a:cxn>
                  <a:cxn ang="0">
                    <a:pos x="1519" y="1186"/>
                  </a:cxn>
                  <a:cxn ang="0">
                    <a:pos x="1861" y="1083"/>
                  </a:cxn>
                  <a:cxn ang="0">
                    <a:pos x="2165" y="1007"/>
                  </a:cxn>
                  <a:cxn ang="0">
                    <a:pos x="2426" y="947"/>
                  </a:cxn>
                  <a:cxn ang="0">
                    <a:pos x="2626" y="892"/>
                  </a:cxn>
                  <a:cxn ang="0">
                    <a:pos x="2762" y="838"/>
                  </a:cxn>
                  <a:cxn ang="0">
                    <a:pos x="2827" y="794"/>
                  </a:cxn>
                  <a:cxn ang="0">
                    <a:pos x="2865" y="745"/>
                  </a:cxn>
                  <a:cxn ang="0">
                    <a:pos x="2882" y="702"/>
                  </a:cxn>
                  <a:cxn ang="0">
                    <a:pos x="2854" y="620"/>
                  </a:cxn>
                  <a:cxn ang="0">
                    <a:pos x="2800" y="560"/>
                  </a:cxn>
                  <a:cxn ang="0">
                    <a:pos x="2773" y="544"/>
                  </a:cxn>
                </a:cxnLst>
                <a:rect l="0" t="0" r="r" b="b"/>
                <a:pathLst>
                  <a:path w="2882" h="1671">
                    <a:moveTo>
                      <a:pt x="2773" y="544"/>
                    </a:moveTo>
                    <a:lnTo>
                      <a:pt x="2740" y="528"/>
                    </a:lnTo>
                    <a:lnTo>
                      <a:pt x="2692" y="506"/>
                    </a:lnTo>
                    <a:lnTo>
                      <a:pt x="2632" y="484"/>
                    </a:lnTo>
                    <a:lnTo>
                      <a:pt x="2561" y="457"/>
                    </a:lnTo>
                    <a:lnTo>
                      <a:pt x="2480" y="424"/>
                    </a:lnTo>
                    <a:lnTo>
                      <a:pt x="2388" y="397"/>
                    </a:lnTo>
                    <a:lnTo>
                      <a:pt x="2203" y="343"/>
                    </a:lnTo>
                    <a:lnTo>
                      <a:pt x="2078" y="310"/>
                    </a:lnTo>
                    <a:lnTo>
                      <a:pt x="1970" y="277"/>
                    </a:lnTo>
                    <a:lnTo>
                      <a:pt x="1878" y="245"/>
                    </a:lnTo>
                    <a:lnTo>
                      <a:pt x="1807" y="212"/>
                    </a:lnTo>
                    <a:lnTo>
                      <a:pt x="1742" y="179"/>
                    </a:lnTo>
                    <a:lnTo>
                      <a:pt x="1693" y="152"/>
                    </a:lnTo>
                    <a:lnTo>
                      <a:pt x="1655" y="125"/>
                    </a:lnTo>
                    <a:lnTo>
                      <a:pt x="1628" y="103"/>
                    </a:lnTo>
                    <a:lnTo>
                      <a:pt x="1606" y="81"/>
                    </a:lnTo>
                    <a:lnTo>
                      <a:pt x="1590" y="60"/>
                    </a:lnTo>
                    <a:lnTo>
                      <a:pt x="1585" y="43"/>
                    </a:lnTo>
                    <a:lnTo>
                      <a:pt x="1579" y="27"/>
                    </a:lnTo>
                    <a:lnTo>
                      <a:pt x="1585" y="5"/>
                    </a:lnTo>
                    <a:lnTo>
                      <a:pt x="1585" y="0"/>
                    </a:lnTo>
                    <a:lnTo>
                      <a:pt x="1568" y="27"/>
                    </a:lnTo>
                    <a:lnTo>
                      <a:pt x="1557" y="49"/>
                    </a:lnTo>
                    <a:lnTo>
                      <a:pt x="1557" y="76"/>
                    </a:lnTo>
                    <a:lnTo>
                      <a:pt x="1568" y="98"/>
                    </a:lnTo>
                    <a:lnTo>
                      <a:pt x="1590" y="120"/>
                    </a:lnTo>
                    <a:lnTo>
                      <a:pt x="1617" y="141"/>
                    </a:lnTo>
                    <a:lnTo>
                      <a:pt x="1650" y="163"/>
                    </a:lnTo>
                    <a:lnTo>
                      <a:pt x="1688" y="185"/>
                    </a:lnTo>
                    <a:lnTo>
                      <a:pt x="1737" y="207"/>
                    </a:lnTo>
                    <a:lnTo>
                      <a:pt x="1791" y="228"/>
                    </a:lnTo>
                    <a:lnTo>
                      <a:pt x="1905" y="267"/>
                    </a:lnTo>
                    <a:lnTo>
                      <a:pt x="2040" y="310"/>
                    </a:lnTo>
                    <a:lnTo>
                      <a:pt x="2182" y="348"/>
                    </a:lnTo>
                    <a:lnTo>
                      <a:pt x="2285" y="381"/>
                    </a:lnTo>
                    <a:lnTo>
                      <a:pt x="2382" y="408"/>
                    </a:lnTo>
                    <a:lnTo>
                      <a:pt x="2464" y="435"/>
                    </a:lnTo>
                    <a:lnTo>
                      <a:pt x="2540" y="462"/>
                    </a:lnTo>
                    <a:lnTo>
                      <a:pt x="2605" y="484"/>
                    </a:lnTo>
                    <a:lnTo>
                      <a:pt x="2659" y="506"/>
                    </a:lnTo>
                    <a:lnTo>
                      <a:pt x="2708" y="528"/>
                    </a:lnTo>
                    <a:lnTo>
                      <a:pt x="2740" y="544"/>
                    </a:lnTo>
                    <a:lnTo>
                      <a:pt x="2768" y="560"/>
                    </a:lnTo>
                    <a:lnTo>
                      <a:pt x="2784" y="577"/>
                    </a:lnTo>
                    <a:lnTo>
                      <a:pt x="2795" y="593"/>
                    </a:lnTo>
                    <a:lnTo>
                      <a:pt x="2800" y="615"/>
                    </a:lnTo>
                    <a:lnTo>
                      <a:pt x="2795" y="642"/>
                    </a:lnTo>
                    <a:lnTo>
                      <a:pt x="2784" y="664"/>
                    </a:lnTo>
                    <a:lnTo>
                      <a:pt x="2762" y="691"/>
                    </a:lnTo>
                    <a:lnTo>
                      <a:pt x="2730" y="713"/>
                    </a:lnTo>
                    <a:lnTo>
                      <a:pt x="2692" y="735"/>
                    </a:lnTo>
                    <a:lnTo>
                      <a:pt x="2643" y="756"/>
                    </a:lnTo>
                    <a:lnTo>
                      <a:pt x="2589" y="778"/>
                    </a:lnTo>
                    <a:lnTo>
                      <a:pt x="2529" y="800"/>
                    </a:lnTo>
                    <a:lnTo>
                      <a:pt x="2458" y="822"/>
                    </a:lnTo>
                    <a:lnTo>
                      <a:pt x="2382" y="843"/>
                    </a:lnTo>
                    <a:lnTo>
                      <a:pt x="2301" y="865"/>
                    </a:lnTo>
                    <a:lnTo>
                      <a:pt x="2214" y="887"/>
                    </a:lnTo>
                    <a:lnTo>
                      <a:pt x="2030" y="930"/>
                    </a:lnTo>
                    <a:lnTo>
                      <a:pt x="1823" y="979"/>
                    </a:lnTo>
                    <a:lnTo>
                      <a:pt x="1606" y="1034"/>
                    </a:lnTo>
                    <a:lnTo>
                      <a:pt x="1378" y="1094"/>
                    </a:lnTo>
                    <a:lnTo>
                      <a:pt x="1145" y="1164"/>
                    </a:lnTo>
                    <a:lnTo>
                      <a:pt x="912" y="1241"/>
                    </a:lnTo>
                    <a:lnTo>
                      <a:pt x="673" y="1328"/>
                    </a:lnTo>
                    <a:lnTo>
                      <a:pt x="440" y="1431"/>
                    </a:lnTo>
                    <a:lnTo>
                      <a:pt x="217" y="1545"/>
                    </a:lnTo>
                    <a:lnTo>
                      <a:pt x="0" y="1671"/>
                    </a:lnTo>
                    <a:lnTo>
                      <a:pt x="353" y="1671"/>
                    </a:lnTo>
                    <a:lnTo>
                      <a:pt x="554" y="1567"/>
                    </a:lnTo>
                    <a:lnTo>
                      <a:pt x="754" y="1469"/>
                    </a:lnTo>
                    <a:lnTo>
                      <a:pt x="955" y="1388"/>
                    </a:lnTo>
                    <a:lnTo>
                      <a:pt x="1145" y="1311"/>
                    </a:lnTo>
                    <a:lnTo>
                      <a:pt x="1335" y="1241"/>
                    </a:lnTo>
                    <a:lnTo>
                      <a:pt x="1519" y="1186"/>
                    </a:lnTo>
                    <a:lnTo>
                      <a:pt x="1693" y="1132"/>
                    </a:lnTo>
                    <a:lnTo>
                      <a:pt x="1861" y="1083"/>
                    </a:lnTo>
                    <a:lnTo>
                      <a:pt x="2019" y="1045"/>
                    </a:lnTo>
                    <a:lnTo>
                      <a:pt x="2165" y="1007"/>
                    </a:lnTo>
                    <a:lnTo>
                      <a:pt x="2301" y="974"/>
                    </a:lnTo>
                    <a:lnTo>
                      <a:pt x="2426" y="947"/>
                    </a:lnTo>
                    <a:lnTo>
                      <a:pt x="2534" y="914"/>
                    </a:lnTo>
                    <a:lnTo>
                      <a:pt x="2626" y="892"/>
                    </a:lnTo>
                    <a:lnTo>
                      <a:pt x="2702" y="865"/>
                    </a:lnTo>
                    <a:lnTo>
                      <a:pt x="2762" y="838"/>
                    </a:lnTo>
                    <a:lnTo>
                      <a:pt x="2800" y="816"/>
                    </a:lnTo>
                    <a:lnTo>
                      <a:pt x="2827" y="794"/>
                    </a:lnTo>
                    <a:lnTo>
                      <a:pt x="2849" y="767"/>
                    </a:lnTo>
                    <a:lnTo>
                      <a:pt x="2865" y="745"/>
                    </a:lnTo>
                    <a:lnTo>
                      <a:pt x="2876" y="724"/>
                    </a:lnTo>
                    <a:lnTo>
                      <a:pt x="2882" y="702"/>
                    </a:lnTo>
                    <a:lnTo>
                      <a:pt x="2876" y="658"/>
                    </a:lnTo>
                    <a:lnTo>
                      <a:pt x="2854" y="620"/>
                    </a:lnTo>
                    <a:lnTo>
                      <a:pt x="2833" y="588"/>
                    </a:lnTo>
                    <a:lnTo>
                      <a:pt x="2800" y="560"/>
                    </a:lnTo>
                    <a:lnTo>
                      <a:pt x="2773" y="544"/>
                    </a:lnTo>
                    <a:lnTo>
                      <a:pt x="2773" y="54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25" name="Freeform 5"/>
              <p:cNvSpPr>
                <a:spLocks/>
              </p:cNvSpPr>
              <p:nvPr/>
            </p:nvSpPr>
            <p:spPr bwMode="hidden">
              <a:xfrm>
                <a:off x="4170" y="2671"/>
                <a:ext cx="1259" cy="811"/>
              </a:xfrm>
              <a:custGeom>
                <a:avLst/>
                <a:gdLst/>
                <a:ahLst/>
                <a:cxnLst>
                  <a:cxn ang="0">
                    <a:pos x="1259" y="615"/>
                  </a:cxn>
                  <a:cxn ang="0">
                    <a:pos x="1248" y="588"/>
                  </a:cxn>
                  <a:cxn ang="0">
                    <a:pos x="1237" y="566"/>
                  </a:cxn>
                  <a:cxn ang="0">
                    <a:pos x="1216" y="539"/>
                  </a:cxn>
                  <a:cxn ang="0">
                    <a:pos x="1188" y="517"/>
                  </a:cxn>
                  <a:cxn ang="0">
                    <a:pos x="1123" y="479"/>
                  </a:cxn>
                  <a:cxn ang="0">
                    <a:pos x="1042" y="441"/>
                  </a:cxn>
                  <a:cxn ang="0">
                    <a:pos x="944" y="408"/>
                  </a:cxn>
                  <a:cxn ang="0">
                    <a:pos x="841" y="381"/>
                  </a:cxn>
                  <a:cxn ang="0">
                    <a:pos x="727" y="348"/>
                  </a:cxn>
                  <a:cxn ang="0">
                    <a:pos x="613" y="321"/>
                  </a:cxn>
                  <a:cxn ang="0">
                    <a:pos x="499" y="294"/>
                  </a:cxn>
                  <a:cxn ang="0">
                    <a:pos x="391" y="261"/>
                  </a:cxn>
                  <a:cxn ang="0">
                    <a:pos x="288" y="229"/>
                  </a:cxn>
                  <a:cxn ang="0">
                    <a:pos x="195" y="196"/>
                  </a:cxn>
                  <a:cxn ang="0">
                    <a:pos x="119" y="152"/>
                  </a:cxn>
                  <a:cxn ang="0">
                    <a:pos x="54" y="109"/>
                  </a:cxn>
                  <a:cxn ang="0">
                    <a:pos x="33" y="87"/>
                  </a:cxn>
                  <a:cxn ang="0">
                    <a:pos x="16" y="60"/>
                  </a:cxn>
                  <a:cxn ang="0">
                    <a:pos x="5" y="33"/>
                  </a:cxn>
                  <a:cxn ang="0">
                    <a:pos x="0" y="0"/>
                  </a:cxn>
                  <a:cxn ang="0">
                    <a:pos x="0" y="6"/>
                  </a:cxn>
                  <a:cxn ang="0">
                    <a:pos x="0" y="11"/>
                  </a:cxn>
                  <a:cxn ang="0">
                    <a:pos x="0" y="38"/>
                  </a:cxn>
                  <a:cxn ang="0">
                    <a:pos x="5" y="60"/>
                  </a:cxn>
                  <a:cxn ang="0">
                    <a:pos x="16" y="87"/>
                  </a:cxn>
                  <a:cxn ang="0">
                    <a:pos x="33" y="114"/>
                  </a:cxn>
                  <a:cxn ang="0">
                    <a:pos x="54" y="142"/>
                  </a:cxn>
                  <a:cxn ang="0">
                    <a:pos x="87" y="174"/>
                  </a:cxn>
                  <a:cxn ang="0">
                    <a:pos x="125" y="207"/>
                  </a:cxn>
                  <a:cxn ang="0">
                    <a:pos x="179" y="240"/>
                  </a:cxn>
                  <a:cxn ang="0">
                    <a:pos x="244" y="278"/>
                  </a:cxn>
                  <a:cxn ang="0">
                    <a:pos x="326" y="310"/>
                  </a:cxn>
                  <a:cxn ang="0">
                    <a:pos x="418" y="348"/>
                  </a:cxn>
                  <a:cxn ang="0">
                    <a:pos x="526" y="381"/>
                  </a:cxn>
                  <a:cxn ang="0">
                    <a:pos x="657" y="414"/>
                  </a:cxn>
                  <a:cxn ang="0">
                    <a:pos x="749" y="435"/>
                  </a:cxn>
                  <a:cxn ang="0">
                    <a:pos x="830" y="463"/>
                  </a:cxn>
                  <a:cxn ang="0">
                    <a:pos x="901" y="490"/>
                  </a:cxn>
                  <a:cxn ang="0">
                    <a:pos x="966" y="512"/>
                  </a:cxn>
                  <a:cxn ang="0">
                    <a:pos x="1015" y="539"/>
                  </a:cxn>
                  <a:cxn ang="0">
                    <a:pos x="1053" y="566"/>
                  </a:cxn>
                  <a:cxn ang="0">
                    <a:pos x="1080" y="593"/>
                  </a:cxn>
                  <a:cxn ang="0">
                    <a:pos x="1102" y="620"/>
                  </a:cxn>
                  <a:cxn ang="0">
                    <a:pos x="1112" y="648"/>
                  </a:cxn>
                  <a:cxn ang="0">
                    <a:pos x="1118" y="675"/>
                  </a:cxn>
                  <a:cxn ang="0">
                    <a:pos x="1112" y="697"/>
                  </a:cxn>
                  <a:cxn ang="0">
                    <a:pos x="1096" y="724"/>
                  </a:cxn>
                  <a:cxn ang="0">
                    <a:pos x="1080" y="746"/>
                  </a:cxn>
                  <a:cxn ang="0">
                    <a:pos x="1053" y="767"/>
                  </a:cxn>
                  <a:cxn ang="0">
                    <a:pos x="1015" y="789"/>
                  </a:cxn>
                  <a:cxn ang="0">
                    <a:pos x="977" y="811"/>
                  </a:cxn>
                  <a:cxn ang="0">
                    <a:pos x="1047" y="789"/>
                  </a:cxn>
                  <a:cxn ang="0">
                    <a:pos x="1107" y="767"/>
                  </a:cxn>
                  <a:cxn ang="0">
                    <a:pos x="1156" y="746"/>
                  </a:cxn>
                  <a:cxn ang="0">
                    <a:pos x="1199" y="724"/>
                  </a:cxn>
                  <a:cxn ang="0">
                    <a:pos x="1226" y="702"/>
                  </a:cxn>
                  <a:cxn ang="0">
                    <a:pos x="1248" y="675"/>
                  </a:cxn>
                  <a:cxn ang="0">
                    <a:pos x="1259" y="648"/>
                  </a:cxn>
                  <a:cxn ang="0">
                    <a:pos x="1259" y="615"/>
                  </a:cxn>
                  <a:cxn ang="0">
                    <a:pos x="1259" y="615"/>
                  </a:cxn>
                </a:cxnLst>
                <a:rect l="0" t="0" r="r" b="b"/>
                <a:pathLst>
                  <a:path w="1259" h="811">
                    <a:moveTo>
                      <a:pt x="1259" y="615"/>
                    </a:moveTo>
                    <a:lnTo>
                      <a:pt x="1248" y="588"/>
                    </a:lnTo>
                    <a:lnTo>
                      <a:pt x="1237" y="566"/>
                    </a:lnTo>
                    <a:lnTo>
                      <a:pt x="1216" y="539"/>
                    </a:lnTo>
                    <a:lnTo>
                      <a:pt x="1188" y="517"/>
                    </a:lnTo>
                    <a:lnTo>
                      <a:pt x="1123" y="479"/>
                    </a:lnTo>
                    <a:lnTo>
                      <a:pt x="1042" y="441"/>
                    </a:lnTo>
                    <a:lnTo>
                      <a:pt x="944" y="408"/>
                    </a:lnTo>
                    <a:lnTo>
                      <a:pt x="841" y="381"/>
                    </a:lnTo>
                    <a:lnTo>
                      <a:pt x="727" y="348"/>
                    </a:lnTo>
                    <a:lnTo>
                      <a:pt x="613" y="321"/>
                    </a:lnTo>
                    <a:lnTo>
                      <a:pt x="499" y="294"/>
                    </a:lnTo>
                    <a:lnTo>
                      <a:pt x="391" y="261"/>
                    </a:lnTo>
                    <a:lnTo>
                      <a:pt x="288" y="229"/>
                    </a:lnTo>
                    <a:lnTo>
                      <a:pt x="195" y="196"/>
                    </a:lnTo>
                    <a:lnTo>
                      <a:pt x="119" y="152"/>
                    </a:lnTo>
                    <a:lnTo>
                      <a:pt x="54" y="109"/>
                    </a:lnTo>
                    <a:lnTo>
                      <a:pt x="33" y="87"/>
                    </a:lnTo>
                    <a:lnTo>
                      <a:pt x="16" y="60"/>
                    </a:lnTo>
                    <a:lnTo>
                      <a:pt x="5" y="33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11"/>
                    </a:lnTo>
                    <a:lnTo>
                      <a:pt x="0" y="38"/>
                    </a:lnTo>
                    <a:lnTo>
                      <a:pt x="5" y="60"/>
                    </a:lnTo>
                    <a:lnTo>
                      <a:pt x="16" y="87"/>
                    </a:lnTo>
                    <a:lnTo>
                      <a:pt x="33" y="114"/>
                    </a:lnTo>
                    <a:lnTo>
                      <a:pt x="54" y="142"/>
                    </a:lnTo>
                    <a:lnTo>
                      <a:pt x="87" y="174"/>
                    </a:lnTo>
                    <a:lnTo>
                      <a:pt x="125" y="207"/>
                    </a:lnTo>
                    <a:lnTo>
                      <a:pt x="179" y="240"/>
                    </a:lnTo>
                    <a:lnTo>
                      <a:pt x="244" y="278"/>
                    </a:lnTo>
                    <a:lnTo>
                      <a:pt x="326" y="310"/>
                    </a:lnTo>
                    <a:lnTo>
                      <a:pt x="418" y="348"/>
                    </a:lnTo>
                    <a:lnTo>
                      <a:pt x="526" y="381"/>
                    </a:lnTo>
                    <a:lnTo>
                      <a:pt x="657" y="414"/>
                    </a:lnTo>
                    <a:lnTo>
                      <a:pt x="749" y="435"/>
                    </a:lnTo>
                    <a:lnTo>
                      <a:pt x="830" y="463"/>
                    </a:lnTo>
                    <a:lnTo>
                      <a:pt x="901" y="490"/>
                    </a:lnTo>
                    <a:lnTo>
                      <a:pt x="966" y="512"/>
                    </a:lnTo>
                    <a:lnTo>
                      <a:pt x="1015" y="539"/>
                    </a:lnTo>
                    <a:lnTo>
                      <a:pt x="1053" y="566"/>
                    </a:lnTo>
                    <a:lnTo>
                      <a:pt x="1080" y="593"/>
                    </a:lnTo>
                    <a:lnTo>
                      <a:pt x="1102" y="620"/>
                    </a:lnTo>
                    <a:lnTo>
                      <a:pt x="1112" y="648"/>
                    </a:lnTo>
                    <a:lnTo>
                      <a:pt x="1118" y="675"/>
                    </a:lnTo>
                    <a:lnTo>
                      <a:pt x="1112" y="697"/>
                    </a:lnTo>
                    <a:lnTo>
                      <a:pt x="1096" y="724"/>
                    </a:lnTo>
                    <a:lnTo>
                      <a:pt x="1080" y="746"/>
                    </a:lnTo>
                    <a:lnTo>
                      <a:pt x="1053" y="767"/>
                    </a:lnTo>
                    <a:lnTo>
                      <a:pt x="1015" y="789"/>
                    </a:lnTo>
                    <a:lnTo>
                      <a:pt x="977" y="811"/>
                    </a:lnTo>
                    <a:lnTo>
                      <a:pt x="1047" y="789"/>
                    </a:lnTo>
                    <a:lnTo>
                      <a:pt x="1107" y="767"/>
                    </a:lnTo>
                    <a:lnTo>
                      <a:pt x="1156" y="746"/>
                    </a:lnTo>
                    <a:lnTo>
                      <a:pt x="1199" y="724"/>
                    </a:lnTo>
                    <a:lnTo>
                      <a:pt x="1226" y="702"/>
                    </a:lnTo>
                    <a:lnTo>
                      <a:pt x="1248" y="675"/>
                    </a:lnTo>
                    <a:lnTo>
                      <a:pt x="1259" y="648"/>
                    </a:lnTo>
                    <a:lnTo>
                      <a:pt x="1259" y="615"/>
                    </a:lnTo>
                    <a:lnTo>
                      <a:pt x="1259" y="61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26" name="Freeform 6"/>
              <p:cNvSpPr>
                <a:spLocks/>
              </p:cNvSpPr>
              <p:nvPr/>
            </p:nvSpPr>
            <p:spPr bwMode="hidden">
              <a:xfrm>
                <a:off x="2900" y="3346"/>
                <a:ext cx="2849" cy="969"/>
              </a:xfrm>
              <a:custGeom>
                <a:avLst/>
                <a:gdLst/>
                <a:ahLst/>
                <a:cxnLst>
                  <a:cxn ang="0">
                    <a:pos x="92" y="958"/>
                  </a:cxn>
                  <a:cxn ang="0">
                    <a:pos x="0" y="969"/>
                  </a:cxn>
                  <a:cxn ang="0">
                    <a:pos x="391" y="969"/>
                  </a:cxn>
                  <a:cxn ang="0">
                    <a:pos x="434" y="947"/>
                  </a:cxn>
                  <a:cxn ang="0">
                    <a:pos x="483" y="914"/>
                  </a:cxn>
                  <a:cxn ang="0">
                    <a:pos x="554" y="876"/>
                  </a:cxn>
                  <a:cxn ang="0">
                    <a:pos x="635" y="838"/>
                  </a:cxn>
                  <a:cxn ang="0">
                    <a:pos x="727" y="794"/>
                  </a:cxn>
                  <a:cxn ang="0">
                    <a:pos x="836" y="745"/>
                  </a:cxn>
                  <a:cxn ang="0">
                    <a:pos x="961" y="696"/>
                  </a:cxn>
                  <a:cxn ang="0">
                    <a:pos x="1102" y="642"/>
                  </a:cxn>
                  <a:cxn ang="0">
                    <a:pos x="1259" y="582"/>
                  </a:cxn>
                  <a:cxn ang="0">
                    <a:pos x="1433" y="522"/>
                  </a:cxn>
                  <a:cxn ang="0">
                    <a:pos x="1623" y="462"/>
                  </a:cxn>
                  <a:cxn ang="0">
                    <a:pos x="1829" y="403"/>
                  </a:cxn>
                  <a:cxn ang="0">
                    <a:pos x="2057" y="343"/>
                  </a:cxn>
                  <a:cxn ang="0">
                    <a:pos x="2301" y="283"/>
                  </a:cxn>
                  <a:cxn ang="0">
                    <a:pos x="2567" y="223"/>
                  </a:cxn>
                  <a:cxn ang="0">
                    <a:pos x="2849" y="163"/>
                  </a:cxn>
                  <a:cxn ang="0">
                    <a:pos x="2849" y="0"/>
                  </a:cxn>
                  <a:cxn ang="0">
                    <a:pos x="2817" y="16"/>
                  </a:cxn>
                  <a:cxn ang="0">
                    <a:pos x="2773" y="33"/>
                  </a:cxn>
                  <a:cxn ang="0">
                    <a:pos x="2719" y="54"/>
                  </a:cxn>
                  <a:cxn ang="0">
                    <a:pos x="2648" y="76"/>
                  </a:cxn>
                  <a:cxn ang="0">
                    <a:pos x="2572" y="98"/>
                  </a:cxn>
                  <a:cxn ang="0">
                    <a:pos x="2491" y="120"/>
                  </a:cxn>
                  <a:cxn ang="0">
                    <a:pos x="2399" y="147"/>
                  </a:cxn>
                  <a:cxn ang="0">
                    <a:pos x="2301" y="169"/>
                  </a:cxn>
                  <a:cxn ang="0">
                    <a:pos x="2095" y="223"/>
                  </a:cxn>
                  <a:cxn ang="0">
                    <a:pos x="1889" y="277"/>
                  </a:cxn>
                  <a:cxn ang="0">
                    <a:pos x="1688" y="326"/>
                  </a:cxn>
                  <a:cxn ang="0">
                    <a:pos x="1590" y="354"/>
                  </a:cxn>
                  <a:cxn ang="0">
                    <a:pos x="1503" y="381"/>
                  </a:cxn>
                  <a:cxn ang="0">
                    <a:pos x="1107" y="506"/>
                  </a:cxn>
                  <a:cxn ang="0">
                    <a:pos x="912" y="577"/>
                  </a:cxn>
                  <a:cxn ang="0">
                    <a:pos x="727" y="647"/>
                  </a:cxn>
                  <a:cxn ang="0">
                    <a:pos x="548" y="718"/>
                  </a:cxn>
                  <a:cxn ang="0">
                    <a:pos x="380" y="794"/>
                  </a:cxn>
                  <a:cxn ang="0">
                    <a:pos x="228" y="876"/>
                  </a:cxn>
                  <a:cxn ang="0">
                    <a:pos x="92" y="958"/>
                  </a:cxn>
                  <a:cxn ang="0">
                    <a:pos x="92" y="958"/>
                  </a:cxn>
                </a:cxnLst>
                <a:rect l="0" t="0" r="r" b="b"/>
                <a:pathLst>
                  <a:path w="2849" h="969">
                    <a:moveTo>
                      <a:pt x="92" y="958"/>
                    </a:moveTo>
                    <a:lnTo>
                      <a:pt x="0" y="969"/>
                    </a:lnTo>
                    <a:lnTo>
                      <a:pt x="391" y="969"/>
                    </a:lnTo>
                    <a:lnTo>
                      <a:pt x="434" y="947"/>
                    </a:lnTo>
                    <a:lnTo>
                      <a:pt x="483" y="914"/>
                    </a:lnTo>
                    <a:lnTo>
                      <a:pt x="554" y="876"/>
                    </a:lnTo>
                    <a:lnTo>
                      <a:pt x="635" y="838"/>
                    </a:lnTo>
                    <a:lnTo>
                      <a:pt x="727" y="794"/>
                    </a:lnTo>
                    <a:lnTo>
                      <a:pt x="836" y="745"/>
                    </a:lnTo>
                    <a:lnTo>
                      <a:pt x="961" y="696"/>
                    </a:lnTo>
                    <a:lnTo>
                      <a:pt x="1102" y="642"/>
                    </a:lnTo>
                    <a:lnTo>
                      <a:pt x="1259" y="582"/>
                    </a:lnTo>
                    <a:lnTo>
                      <a:pt x="1433" y="522"/>
                    </a:lnTo>
                    <a:lnTo>
                      <a:pt x="1623" y="462"/>
                    </a:lnTo>
                    <a:lnTo>
                      <a:pt x="1829" y="403"/>
                    </a:lnTo>
                    <a:lnTo>
                      <a:pt x="2057" y="343"/>
                    </a:lnTo>
                    <a:lnTo>
                      <a:pt x="2301" y="283"/>
                    </a:lnTo>
                    <a:lnTo>
                      <a:pt x="2567" y="223"/>
                    </a:lnTo>
                    <a:lnTo>
                      <a:pt x="2849" y="163"/>
                    </a:lnTo>
                    <a:lnTo>
                      <a:pt x="2849" y="0"/>
                    </a:lnTo>
                    <a:lnTo>
                      <a:pt x="2817" y="16"/>
                    </a:lnTo>
                    <a:lnTo>
                      <a:pt x="2773" y="33"/>
                    </a:lnTo>
                    <a:lnTo>
                      <a:pt x="2719" y="54"/>
                    </a:lnTo>
                    <a:lnTo>
                      <a:pt x="2648" y="76"/>
                    </a:lnTo>
                    <a:lnTo>
                      <a:pt x="2572" y="98"/>
                    </a:lnTo>
                    <a:lnTo>
                      <a:pt x="2491" y="120"/>
                    </a:lnTo>
                    <a:lnTo>
                      <a:pt x="2399" y="147"/>
                    </a:lnTo>
                    <a:lnTo>
                      <a:pt x="2301" y="169"/>
                    </a:lnTo>
                    <a:lnTo>
                      <a:pt x="2095" y="223"/>
                    </a:lnTo>
                    <a:lnTo>
                      <a:pt x="1889" y="277"/>
                    </a:lnTo>
                    <a:lnTo>
                      <a:pt x="1688" y="326"/>
                    </a:lnTo>
                    <a:lnTo>
                      <a:pt x="1590" y="354"/>
                    </a:lnTo>
                    <a:lnTo>
                      <a:pt x="1503" y="381"/>
                    </a:lnTo>
                    <a:lnTo>
                      <a:pt x="1107" y="506"/>
                    </a:lnTo>
                    <a:lnTo>
                      <a:pt x="912" y="577"/>
                    </a:lnTo>
                    <a:lnTo>
                      <a:pt x="727" y="647"/>
                    </a:lnTo>
                    <a:lnTo>
                      <a:pt x="548" y="718"/>
                    </a:lnTo>
                    <a:lnTo>
                      <a:pt x="380" y="794"/>
                    </a:lnTo>
                    <a:lnTo>
                      <a:pt x="228" y="876"/>
                    </a:lnTo>
                    <a:lnTo>
                      <a:pt x="92" y="958"/>
                    </a:lnTo>
                    <a:lnTo>
                      <a:pt x="92" y="95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1961"/>
                      <a:invGamma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27" name="Freeform 7"/>
              <p:cNvSpPr>
                <a:spLocks/>
              </p:cNvSpPr>
              <p:nvPr/>
            </p:nvSpPr>
            <p:spPr bwMode="hidden">
              <a:xfrm>
                <a:off x="2748" y="2230"/>
                <a:ext cx="3007" cy="2085"/>
              </a:xfrm>
              <a:custGeom>
                <a:avLst/>
                <a:gdLst/>
                <a:ahLst/>
                <a:cxnLst>
                  <a:cxn ang="0">
                    <a:pos x="1433" y="474"/>
                  </a:cxn>
                  <a:cxn ang="0">
                    <a:pos x="1460" y="528"/>
                  </a:cxn>
                  <a:cxn ang="0">
                    <a:pos x="1541" y="593"/>
                  </a:cxn>
                  <a:cxn ang="0">
                    <a:pos x="1715" y="670"/>
                  </a:cxn>
                  <a:cxn ang="0">
                    <a:pos x="1927" y="735"/>
                  </a:cxn>
                  <a:cxn ang="0">
                    <a:pos x="2155" y="789"/>
                  </a:cxn>
                  <a:cxn ang="0">
                    <a:pos x="2372" y="849"/>
                  </a:cxn>
                  <a:cxn ang="0">
                    <a:pos x="2551" y="920"/>
                  </a:cxn>
                  <a:cxn ang="0">
                    <a:pos x="2638" y="980"/>
                  </a:cxn>
                  <a:cxn ang="0">
                    <a:pos x="2676" y="1029"/>
                  </a:cxn>
                  <a:cxn ang="0">
                    <a:pos x="2681" y="1083"/>
                  </a:cxn>
                  <a:cxn ang="0">
                    <a:pos x="2665" y="1127"/>
                  </a:cxn>
                  <a:cxn ang="0">
                    <a:pos x="2616" y="1170"/>
                  </a:cxn>
                  <a:cxn ang="0">
                    <a:pos x="2545" y="1208"/>
                  </a:cxn>
                  <a:cxn ang="0">
                    <a:pos x="2448" y="1241"/>
                  </a:cxn>
                  <a:cxn ang="0">
                    <a:pos x="2328" y="1274"/>
                  </a:cxn>
                  <a:cxn ang="0">
                    <a:pos x="2106" y="1328"/>
                  </a:cxn>
                  <a:cxn ang="0">
                    <a:pos x="1742" y="1421"/>
                  </a:cxn>
                  <a:cxn ang="0">
                    <a:pos x="1308" y="1540"/>
                  </a:cxn>
                  <a:cxn ang="0">
                    <a:pos x="820" y="1709"/>
                  </a:cxn>
                  <a:cxn ang="0">
                    <a:pos x="282" y="1943"/>
                  </a:cxn>
                  <a:cxn ang="0">
                    <a:pos x="152" y="2085"/>
                  </a:cxn>
                  <a:cxn ang="0">
                    <a:pos x="386" y="1992"/>
                  </a:cxn>
                  <a:cxn ang="0">
                    <a:pos x="700" y="1834"/>
                  </a:cxn>
                  <a:cxn ang="0">
                    <a:pos x="1064" y="1693"/>
                  </a:cxn>
                  <a:cxn ang="0">
                    <a:pos x="1661" y="1497"/>
                  </a:cxn>
                  <a:cxn ang="0">
                    <a:pos x="1845" y="1442"/>
                  </a:cxn>
                  <a:cxn ang="0">
                    <a:pos x="2252" y="1339"/>
                  </a:cxn>
                  <a:cxn ang="0">
                    <a:pos x="2551" y="1263"/>
                  </a:cxn>
                  <a:cxn ang="0">
                    <a:pos x="2730" y="1214"/>
                  </a:cxn>
                  <a:cxn ang="0">
                    <a:pos x="2876" y="1170"/>
                  </a:cxn>
                  <a:cxn ang="0">
                    <a:pos x="2974" y="1132"/>
                  </a:cxn>
                  <a:cxn ang="0">
                    <a:pos x="3007" y="871"/>
                  </a:cxn>
                  <a:cxn ang="0">
                    <a:pos x="2860" y="844"/>
                  </a:cxn>
                  <a:cxn ang="0">
                    <a:pos x="2670" y="806"/>
                  </a:cxn>
                  <a:cxn ang="0">
                    <a:pos x="2458" y="757"/>
                  </a:cxn>
                  <a:cxn ang="0">
                    <a:pos x="2138" y="670"/>
                  </a:cxn>
                  <a:cxn ang="0">
                    <a:pos x="1959" y="604"/>
                  </a:cxn>
                  <a:cxn ang="0">
                    <a:pos x="1824" y="534"/>
                  </a:cxn>
                  <a:cxn ang="0">
                    <a:pos x="1769" y="474"/>
                  </a:cxn>
                  <a:cxn ang="0">
                    <a:pos x="1753" y="436"/>
                  </a:cxn>
                  <a:cxn ang="0">
                    <a:pos x="1780" y="381"/>
                  </a:cxn>
                  <a:cxn ang="0">
                    <a:pos x="1862" y="316"/>
                  </a:cxn>
                  <a:cxn ang="0">
                    <a:pos x="1986" y="267"/>
                  </a:cxn>
                  <a:cxn ang="0">
                    <a:pos x="2149" y="229"/>
                  </a:cxn>
                  <a:cxn ang="0">
                    <a:pos x="2431" y="180"/>
                  </a:cxn>
                  <a:cxn ang="0">
                    <a:pos x="2827" y="125"/>
                  </a:cxn>
                  <a:cxn ang="0">
                    <a:pos x="3007" y="87"/>
                  </a:cxn>
                  <a:cxn ang="0">
                    <a:pos x="2909" y="22"/>
                  </a:cxn>
                  <a:cxn ang="0">
                    <a:pos x="2676" y="66"/>
                  </a:cxn>
                  <a:cxn ang="0">
                    <a:pos x="2285" y="120"/>
                  </a:cxn>
                  <a:cxn ang="0">
                    <a:pos x="2030" y="158"/>
                  </a:cxn>
                  <a:cxn ang="0">
                    <a:pos x="1791" y="202"/>
                  </a:cxn>
                  <a:cxn ang="0">
                    <a:pos x="1601" y="261"/>
                  </a:cxn>
                  <a:cxn ang="0">
                    <a:pos x="1471" y="338"/>
                  </a:cxn>
                  <a:cxn ang="0">
                    <a:pos x="1438" y="387"/>
                  </a:cxn>
                  <a:cxn ang="0">
                    <a:pos x="1427" y="441"/>
                  </a:cxn>
                </a:cxnLst>
                <a:rect l="0" t="0" r="r" b="b"/>
                <a:pathLst>
                  <a:path w="3007" h="2085">
                    <a:moveTo>
                      <a:pt x="1427" y="441"/>
                    </a:moveTo>
                    <a:lnTo>
                      <a:pt x="1433" y="474"/>
                    </a:lnTo>
                    <a:lnTo>
                      <a:pt x="1444" y="501"/>
                    </a:lnTo>
                    <a:lnTo>
                      <a:pt x="1460" y="528"/>
                    </a:lnTo>
                    <a:lnTo>
                      <a:pt x="1482" y="550"/>
                    </a:lnTo>
                    <a:lnTo>
                      <a:pt x="1541" y="593"/>
                    </a:lnTo>
                    <a:lnTo>
                      <a:pt x="1623" y="637"/>
                    </a:lnTo>
                    <a:lnTo>
                      <a:pt x="1715" y="670"/>
                    </a:lnTo>
                    <a:lnTo>
                      <a:pt x="1818" y="702"/>
                    </a:lnTo>
                    <a:lnTo>
                      <a:pt x="1927" y="735"/>
                    </a:lnTo>
                    <a:lnTo>
                      <a:pt x="2041" y="762"/>
                    </a:lnTo>
                    <a:lnTo>
                      <a:pt x="2155" y="789"/>
                    </a:lnTo>
                    <a:lnTo>
                      <a:pt x="2269" y="822"/>
                    </a:lnTo>
                    <a:lnTo>
                      <a:pt x="2372" y="849"/>
                    </a:lnTo>
                    <a:lnTo>
                      <a:pt x="2464" y="882"/>
                    </a:lnTo>
                    <a:lnTo>
                      <a:pt x="2551" y="920"/>
                    </a:lnTo>
                    <a:lnTo>
                      <a:pt x="2616" y="958"/>
                    </a:lnTo>
                    <a:lnTo>
                      <a:pt x="2638" y="980"/>
                    </a:lnTo>
                    <a:lnTo>
                      <a:pt x="2659" y="1007"/>
                    </a:lnTo>
                    <a:lnTo>
                      <a:pt x="2676" y="1029"/>
                    </a:lnTo>
                    <a:lnTo>
                      <a:pt x="2681" y="1056"/>
                    </a:lnTo>
                    <a:lnTo>
                      <a:pt x="2681" y="1083"/>
                    </a:lnTo>
                    <a:lnTo>
                      <a:pt x="2676" y="1105"/>
                    </a:lnTo>
                    <a:lnTo>
                      <a:pt x="2665" y="1127"/>
                    </a:lnTo>
                    <a:lnTo>
                      <a:pt x="2643" y="1149"/>
                    </a:lnTo>
                    <a:lnTo>
                      <a:pt x="2616" y="1170"/>
                    </a:lnTo>
                    <a:lnTo>
                      <a:pt x="2583" y="1187"/>
                    </a:lnTo>
                    <a:lnTo>
                      <a:pt x="2545" y="1208"/>
                    </a:lnTo>
                    <a:lnTo>
                      <a:pt x="2502" y="1225"/>
                    </a:lnTo>
                    <a:lnTo>
                      <a:pt x="2448" y="1241"/>
                    </a:lnTo>
                    <a:lnTo>
                      <a:pt x="2388" y="1257"/>
                    </a:lnTo>
                    <a:lnTo>
                      <a:pt x="2328" y="1274"/>
                    </a:lnTo>
                    <a:lnTo>
                      <a:pt x="2258" y="1290"/>
                    </a:lnTo>
                    <a:lnTo>
                      <a:pt x="2106" y="1328"/>
                    </a:lnTo>
                    <a:lnTo>
                      <a:pt x="1932" y="1372"/>
                    </a:lnTo>
                    <a:lnTo>
                      <a:pt x="1742" y="1421"/>
                    </a:lnTo>
                    <a:lnTo>
                      <a:pt x="1531" y="1475"/>
                    </a:lnTo>
                    <a:lnTo>
                      <a:pt x="1308" y="1540"/>
                    </a:lnTo>
                    <a:lnTo>
                      <a:pt x="1069" y="1617"/>
                    </a:lnTo>
                    <a:lnTo>
                      <a:pt x="820" y="1709"/>
                    </a:lnTo>
                    <a:lnTo>
                      <a:pt x="554" y="1818"/>
                    </a:lnTo>
                    <a:lnTo>
                      <a:pt x="282" y="1943"/>
                    </a:lnTo>
                    <a:lnTo>
                      <a:pt x="0" y="2085"/>
                    </a:lnTo>
                    <a:lnTo>
                      <a:pt x="152" y="2085"/>
                    </a:lnTo>
                    <a:lnTo>
                      <a:pt x="244" y="2074"/>
                    </a:lnTo>
                    <a:lnTo>
                      <a:pt x="386" y="1992"/>
                    </a:lnTo>
                    <a:lnTo>
                      <a:pt x="537" y="1910"/>
                    </a:lnTo>
                    <a:lnTo>
                      <a:pt x="700" y="1834"/>
                    </a:lnTo>
                    <a:lnTo>
                      <a:pt x="879" y="1763"/>
                    </a:lnTo>
                    <a:lnTo>
                      <a:pt x="1064" y="1693"/>
                    </a:lnTo>
                    <a:lnTo>
                      <a:pt x="1259" y="1622"/>
                    </a:lnTo>
                    <a:lnTo>
                      <a:pt x="1661" y="1497"/>
                    </a:lnTo>
                    <a:lnTo>
                      <a:pt x="1748" y="1470"/>
                    </a:lnTo>
                    <a:lnTo>
                      <a:pt x="1845" y="1442"/>
                    </a:lnTo>
                    <a:lnTo>
                      <a:pt x="2046" y="1393"/>
                    </a:lnTo>
                    <a:lnTo>
                      <a:pt x="2252" y="1339"/>
                    </a:lnTo>
                    <a:lnTo>
                      <a:pt x="2458" y="1285"/>
                    </a:lnTo>
                    <a:lnTo>
                      <a:pt x="2551" y="1263"/>
                    </a:lnTo>
                    <a:lnTo>
                      <a:pt x="2643" y="1236"/>
                    </a:lnTo>
                    <a:lnTo>
                      <a:pt x="2730" y="1214"/>
                    </a:lnTo>
                    <a:lnTo>
                      <a:pt x="2806" y="1192"/>
                    </a:lnTo>
                    <a:lnTo>
                      <a:pt x="2876" y="1170"/>
                    </a:lnTo>
                    <a:lnTo>
                      <a:pt x="2931" y="1149"/>
                    </a:lnTo>
                    <a:lnTo>
                      <a:pt x="2974" y="1132"/>
                    </a:lnTo>
                    <a:lnTo>
                      <a:pt x="3007" y="1116"/>
                    </a:lnTo>
                    <a:lnTo>
                      <a:pt x="3007" y="871"/>
                    </a:lnTo>
                    <a:lnTo>
                      <a:pt x="2941" y="860"/>
                    </a:lnTo>
                    <a:lnTo>
                      <a:pt x="2860" y="844"/>
                    </a:lnTo>
                    <a:lnTo>
                      <a:pt x="2773" y="827"/>
                    </a:lnTo>
                    <a:lnTo>
                      <a:pt x="2670" y="806"/>
                    </a:lnTo>
                    <a:lnTo>
                      <a:pt x="2567" y="784"/>
                    </a:lnTo>
                    <a:lnTo>
                      <a:pt x="2458" y="757"/>
                    </a:lnTo>
                    <a:lnTo>
                      <a:pt x="2241" y="702"/>
                    </a:lnTo>
                    <a:lnTo>
                      <a:pt x="2138" y="670"/>
                    </a:lnTo>
                    <a:lnTo>
                      <a:pt x="2046" y="637"/>
                    </a:lnTo>
                    <a:lnTo>
                      <a:pt x="1959" y="604"/>
                    </a:lnTo>
                    <a:lnTo>
                      <a:pt x="1883" y="566"/>
                    </a:lnTo>
                    <a:lnTo>
                      <a:pt x="1824" y="534"/>
                    </a:lnTo>
                    <a:lnTo>
                      <a:pt x="1780" y="495"/>
                    </a:lnTo>
                    <a:lnTo>
                      <a:pt x="1769" y="474"/>
                    </a:lnTo>
                    <a:lnTo>
                      <a:pt x="1758" y="457"/>
                    </a:lnTo>
                    <a:lnTo>
                      <a:pt x="1753" y="436"/>
                    </a:lnTo>
                    <a:lnTo>
                      <a:pt x="1758" y="419"/>
                    </a:lnTo>
                    <a:lnTo>
                      <a:pt x="1780" y="381"/>
                    </a:lnTo>
                    <a:lnTo>
                      <a:pt x="1813" y="343"/>
                    </a:lnTo>
                    <a:lnTo>
                      <a:pt x="1862" y="316"/>
                    </a:lnTo>
                    <a:lnTo>
                      <a:pt x="1921" y="289"/>
                    </a:lnTo>
                    <a:lnTo>
                      <a:pt x="1986" y="267"/>
                    </a:lnTo>
                    <a:lnTo>
                      <a:pt x="2062" y="245"/>
                    </a:lnTo>
                    <a:lnTo>
                      <a:pt x="2149" y="229"/>
                    </a:lnTo>
                    <a:lnTo>
                      <a:pt x="2236" y="213"/>
                    </a:lnTo>
                    <a:lnTo>
                      <a:pt x="2431" y="180"/>
                    </a:lnTo>
                    <a:lnTo>
                      <a:pt x="2627" y="158"/>
                    </a:lnTo>
                    <a:lnTo>
                      <a:pt x="2827" y="125"/>
                    </a:lnTo>
                    <a:lnTo>
                      <a:pt x="2920" y="109"/>
                    </a:lnTo>
                    <a:lnTo>
                      <a:pt x="3007" y="87"/>
                    </a:lnTo>
                    <a:lnTo>
                      <a:pt x="3007" y="0"/>
                    </a:lnTo>
                    <a:lnTo>
                      <a:pt x="2909" y="22"/>
                    </a:lnTo>
                    <a:lnTo>
                      <a:pt x="2795" y="44"/>
                    </a:lnTo>
                    <a:lnTo>
                      <a:pt x="2676" y="66"/>
                    </a:lnTo>
                    <a:lnTo>
                      <a:pt x="2551" y="82"/>
                    </a:lnTo>
                    <a:lnTo>
                      <a:pt x="2285" y="120"/>
                    </a:lnTo>
                    <a:lnTo>
                      <a:pt x="2155" y="136"/>
                    </a:lnTo>
                    <a:lnTo>
                      <a:pt x="2030" y="158"/>
                    </a:lnTo>
                    <a:lnTo>
                      <a:pt x="1905" y="174"/>
                    </a:lnTo>
                    <a:lnTo>
                      <a:pt x="1791" y="202"/>
                    </a:lnTo>
                    <a:lnTo>
                      <a:pt x="1688" y="229"/>
                    </a:lnTo>
                    <a:lnTo>
                      <a:pt x="1601" y="261"/>
                    </a:lnTo>
                    <a:lnTo>
                      <a:pt x="1525" y="300"/>
                    </a:lnTo>
                    <a:lnTo>
                      <a:pt x="1471" y="338"/>
                    </a:lnTo>
                    <a:lnTo>
                      <a:pt x="1455" y="359"/>
                    </a:lnTo>
                    <a:lnTo>
                      <a:pt x="1438" y="387"/>
                    </a:lnTo>
                    <a:lnTo>
                      <a:pt x="1427" y="414"/>
                    </a:lnTo>
                    <a:lnTo>
                      <a:pt x="1427" y="441"/>
                    </a:lnTo>
                    <a:lnTo>
                      <a:pt x="1427" y="441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28" name="Freeform 8"/>
              <p:cNvSpPr>
                <a:spLocks/>
              </p:cNvSpPr>
              <p:nvPr/>
            </p:nvSpPr>
            <p:spPr bwMode="hidden">
              <a:xfrm>
                <a:off x="4501" y="2317"/>
                <a:ext cx="1248" cy="539"/>
              </a:xfrm>
              <a:custGeom>
                <a:avLst/>
                <a:gdLst/>
                <a:ahLst/>
                <a:cxnLst>
                  <a:cxn ang="0">
                    <a:pos x="0" y="332"/>
                  </a:cxn>
                  <a:cxn ang="0">
                    <a:pos x="0" y="360"/>
                  </a:cxn>
                  <a:cxn ang="0">
                    <a:pos x="5" y="387"/>
                  </a:cxn>
                  <a:cxn ang="0">
                    <a:pos x="27" y="414"/>
                  </a:cxn>
                  <a:cxn ang="0">
                    <a:pos x="54" y="436"/>
                  </a:cxn>
                  <a:cxn ang="0">
                    <a:pos x="92" y="463"/>
                  </a:cxn>
                  <a:cxn ang="0">
                    <a:pos x="141" y="490"/>
                  </a:cxn>
                  <a:cxn ang="0">
                    <a:pos x="195" y="512"/>
                  </a:cxn>
                  <a:cxn ang="0">
                    <a:pos x="255" y="539"/>
                  </a:cxn>
                  <a:cxn ang="0">
                    <a:pos x="212" y="517"/>
                  </a:cxn>
                  <a:cxn ang="0">
                    <a:pos x="179" y="490"/>
                  </a:cxn>
                  <a:cxn ang="0">
                    <a:pos x="157" y="468"/>
                  </a:cxn>
                  <a:cxn ang="0">
                    <a:pos x="141" y="447"/>
                  </a:cxn>
                  <a:cxn ang="0">
                    <a:pos x="136" y="425"/>
                  </a:cxn>
                  <a:cxn ang="0">
                    <a:pos x="136" y="403"/>
                  </a:cxn>
                  <a:cxn ang="0">
                    <a:pos x="141" y="381"/>
                  </a:cxn>
                  <a:cxn ang="0">
                    <a:pos x="157" y="365"/>
                  </a:cxn>
                  <a:cxn ang="0">
                    <a:pos x="179" y="343"/>
                  </a:cxn>
                  <a:cxn ang="0">
                    <a:pos x="201" y="327"/>
                  </a:cxn>
                  <a:cxn ang="0">
                    <a:pos x="266" y="294"/>
                  </a:cxn>
                  <a:cxn ang="0">
                    <a:pos x="353" y="262"/>
                  </a:cxn>
                  <a:cxn ang="0">
                    <a:pos x="445" y="234"/>
                  </a:cxn>
                  <a:cxn ang="0">
                    <a:pos x="554" y="213"/>
                  </a:cxn>
                  <a:cxn ang="0">
                    <a:pos x="662" y="191"/>
                  </a:cxn>
                  <a:cxn ang="0">
                    <a:pos x="890" y="153"/>
                  </a:cxn>
                  <a:cxn ang="0">
                    <a:pos x="993" y="136"/>
                  </a:cxn>
                  <a:cxn ang="0">
                    <a:pos x="1091" y="120"/>
                  </a:cxn>
                  <a:cxn ang="0">
                    <a:pos x="1178" y="115"/>
                  </a:cxn>
                  <a:cxn ang="0">
                    <a:pos x="1248" y="104"/>
                  </a:cxn>
                  <a:cxn ang="0">
                    <a:pos x="1248" y="0"/>
                  </a:cxn>
                  <a:cxn ang="0">
                    <a:pos x="1161" y="22"/>
                  </a:cxn>
                  <a:cxn ang="0">
                    <a:pos x="1069" y="38"/>
                  </a:cxn>
                  <a:cxn ang="0">
                    <a:pos x="874" y="71"/>
                  </a:cxn>
                  <a:cxn ang="0">
                    <a:pos x="673" y="93"/>
                  </a:cxn>
                  <a:cxn ang="0">
                    <a:pos x="483" y="126"/>
                  </a:cxn>
                  <a:cxn ang="0">
                    <a:pos x="391" y="142"/>
                  </a:cxn>
                  <a:cxn ang="0">
                    <a:pos x="309" y="158"/>
                  </a:cxn>
                  <a:cxn ang="0">
                    <a:pos x="228" y="180"/>
                  </a:cxn>
                  <a:cxn ang="0">
                    <a:pos x="163" y="202"/>
                  </a:cxn>
                  <a:cxn ang="0">
                    <a:pos x="103" y="229"/>
                  </a:cxn>
                  <a:cxn ang="0">
                    <a:pos x="54" y="256"/>
                  </a:cxn>
                  <a:cxn ang="0">
                    <a:pos x="22" y="294"/>
                  </a:cxn>
                  <a:cxn ang="0">
                    <a:pos x="0" y="332"/>
                  </a:cxn>
                  <a:cxn ang="0">
                    <a:pos x="0" y="332"/>
                  </a:cxn>
                </a:cxnLst>
                <a:rect l="0" t="0" r="r" b="b"/>
                <a:pathLst>
                  <a:path w="1248" h="539">
                    <a:moveTo>
                      <a:pt x="0" y="332"/>
                    </a:moveTo>
                    <a:lnTo>
                      <a:pt x="0" y="360"/>
                    </a:lnTo>
                    <a:lnTo>
                      <a:pt x="5" y="387"/>
                    </a:lnTo>
                    <a:lnTo>
                      <a:pt x="27" y="414"/>
                    </a:lnTo>
                    <a:lnTo>
                      <a:pt x="54" y="436"/>
                    </a:lnTo>
                    <a:lnTo>
                      <a:pt x="92" y="463"/>
                    </a:lnTo>
                    <a:lnTo>
                      <a:pt x="141" y="490"/>
                    </a:lnTo>
                    <a:lnTo>
                      <a:pt x="195" y="512"/>
                    </a:lnTo>
                    <a:lnTo>
                      <a:pt x="255" y="539"/>
                    </a:lnTo>
                    <a:lnTo>
                      <a:pt x="212" y="517"/>
                    </a:lnTo>
                    <a:lnTo>
                      <a:pt x="179" y="490"/>
                    </a:lnTo>
                    <a:lnTo>
                      <a:pt x="157" y="468"/>
                    </a:lnTo>
                    <a:lnTo>
                      <a:pt x="141" y="447"/>
                    </a:lnTo>
                    <a:lnTo>
                      <a:pt x="136" y="425"/>
                    </a:lnTo>
                    <a:lnTo>
                      <a:pt x="136" y="403"/>
                    </a:lnTo>
                    <a:lnTo>
                      <a:pt x="141" y="381"/>
                    </a:lnTo>
                    <a:lnTo>
                      <a:pt x="157" y="365"/>
                    </a:lnTo>
                    <a:lnTo>
                      <a:pt x="179" y="343"/>
                    </a:lnTo>
                    <a:lnTo>
                      <a:pt x="201" y="327"/>
                    </a:lnTo>
                    <a:lnTo>
                      <a:pt x="266" y="294"/>
                    </a:lnTo>
                    <a:lnTo>
                      <a:pt x="353" y="262"/>
                    </a:lnTo>
                    <a:lnTo>
                      <a:pt x="445" y="234"/>
                    </a:lnTo>
                    <a:lnTo>
                      <a:pt x="554" y="213"/>
                    </a:lnTo>
                    <a:lnTo>
                      <a:pt x="662" y="191"/>
                    </a:lnTo>
                    <a:lnTo>
                      <a:pt x="890" y="153"/>
                    </a:lnTo>
                    <a:lnTo>
                      <a:pt x="993" y="136"/>
                    </a:lnTo>
                    <a:lnTo>
                      <a:pt x="1091" y="120"/>
                    </a:lnTo>
                    <a:lnTo>
                      <a:pt x="1178" y="115"/>
                    </a:lnTo>
                    <a:lnTo>
                      <a:pt x="1248" y="104"/>
                    </a:lnTo>
                    <a:lnTo>
                      <a:pt x="1248" y="0"/>
                    </a:lnTo>
                    <a:lnTo>
                      <a:pt x="1161" y="22"/>
                    </a:lnTo>
                    <a:lnTo>
                      <a:pt x="1069" y="38"/>
                    </a:lnTo>
                    <a:lnTo>
                      <a:pt x="874" y="71"/>
                    </a:lnTo>
                    <a:lnTo>
                      <a:pt x="673" y="93"/>
                    </a:lnTo>
                    <a:lnTo>
                      <a:pt x="483" y="126"/>
                    </a:lnTo>
                    <a:lnTo>
                      <a:pt x="391" y="142"/>
                    </a:lnTo>
                    <a:lnTo>
                      <a:pt x="309" y="158"/>
                    </a:lnTo>
                    <a:lnTo>
                      <a:pt x="228" y="180"/>
                    </a:lnTo>
                    <a:lnTo>
                      <a:pt x="163" y="202"/>
                    </a:lnTo>
                    <a:lnTo>
                      <a:pt x="103" y="229"/>
                    </a:lnTo>
                    <a:lnTo>
                      <a:pt x="54" y="256"/>
                    </a:lnTo>
                    <a:lnTo>
                      <a:pt x="22" y="294"/>
                    </a:lnTo>
                    <a:lnTo>
                      <a:pt x="0" y="332"/>
                    </a:lnTo>
                    <a:lnTo>
                      <a:pt x="0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7843"/>
                      <a:invGamma/>
                    </a:schemeClr>
                  </a:gs>
                  <a:gs pos="100000">
                    <a:schemeClr val="bg1"/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129" name="Freeform 9"/>
            <p:cNvSpPr>
              <a:spLocks/>
            </p:cNvSpPr>
            <p:nvPr/>
          </p:nvSpPr>
          <p:spPr bwMode="hidden">
            <a:xfrm>
              <a:off x="3322" y="1341"/>
              <a:ext cx="1825" cy="1537"/>
            </a:xfrm>
            <a:custGeom>
              <a:avLst/>
              <a:gdLst/>
              <a:ahLst/>
              <a:cxnLst>
                <a:cxn ang="0">
                  <a:pos x="982" y="1061"/>
                </a:cxn>
                <a:cxn ang="0">
                  <a:pos x="1357" y="1012"/>
                </a:cxn>
                <a:cxn ang="0">
                  <a:pos x="1666" y="957"/>
                </a:cxn>
                <a:cxn ang="0">
                  <a:pos x="1916" y="897"/>
                </a:cxn>
                <a:cxn ang="0">
                  <a:pos x="2100" y="832"/>
                </a:cxn>
                <a:cxn ang="0">
                  <a:pos x="2220" y="756"/>
                </a:cxn>
                <a:cxn ang="0">
                  <a:pos x="2285" y="669"/>
                </a:cxn>
                <a:cxn ang="0">
                  <a:pos x="2290" y="560"/>
                </a:cxn>
                <a:cxn ang="0">
                  <a:pos x="2241" y="457"/>
                </a:cxn>
                <a:cxn ang="0">
                  <a:pos x="2144" y="364"/>
                </a:cxn>
                <a:cxn ang="0">
                  <a:pos x="2008" y="277"/>
                </a:cxn>
                <a:cxn ang="0">
                  <a:pos x="1769" y="157"/>
                </a:cxn>
                <a:cxn ang="0">
                  <a:pos x="1612" y="92"/>
                </a:cxn>
                <a:cxn ang="0">
                  <a:pos x="1476" y="43"/>
                </a:cxn>
                <a:cxn ang="0">
                  <a:pos x="1384" y="10"/>
                </a:cxn>
                <a:cxn ang="0">
                  <a:pos x="1346" y="0"/>
                </a:cxn>
                <a:cxn ang="0">
                  <a:pos x="1655" y="119"/>
                </a:cxn>
                <a:cxn ang="0">
                  <a:pos x="1948" y="255"/>
                </a:cxn>
                <a:cxn ang="0">
                  <a:pos x="2068" y="326"/>
                </a:cxn>
                <a:cxn ang="0">
                  <a:pos x="2171" y="402"/>
                </a:cxn>
                <a:cxn ang="0">
                  <a:pos x="2236" y="478"/>
                </a:cxn>
                <a:cxn ang="0">
                  <a:pos x="2263" y="560"/>
                </a:cxn>
                <a:cxn ang="0">
                  <a:pos x="2241" y="636"/>
                </a:cxn>
                <a:cxn ang="0">
                  <a:pos x="2171" y="702"/>
                </a:cxn>
                <a:cxn ang="0">
                  <a:pos x="2062" y="756"/>
                </a:cxn>
                <a:cxn ang="0">
                  <a:pos x="1921" y="800"/>
                </a:cxn>
                <a:cxn ang="0">
                  <a:pos x="1748" y="843"/>
                </a:cxn>
                <a:cxn ang="0">
                  <a:pos x="1351" y="908"/>
                </a:cxn>
                <a:cxn ang="0">
                  <a:pos x="923" y="968"/>
                </a:cxn>
                <a:cxn ang="0">
                  <a:pos x="521" y="1028"/>
                </a:cxn>
                <a:cxn ang="0">
                  <a:pos x="353" y="1066"/>
                </a:cxn>
                <a:cxn ang="0">
                  <a:pos x="206" y="1104"/>
                </a:cxn>
                <a:cxn ang="0">
                  <a:pos x="92" y="1148"/>
                </a:cxn>
                <a:cxn ang="0">
                  <a:pos x="22" y="1202"/>
                </a:cxn>
                <a:cxn ang="0">
                  <a:pos x="0" y="1262"/>
                </a:cxn>
                <a:cxn ang="0">
                  <a:pos x="27" y="1327"/>
                </a:cxn>
                <a:cxn ang="0">
                  <a:pos x="98" y="1382"/>
                </a:cxn>
                <a:cxn ang="0">
                  <a:pos x="196" y="1425"/>
                </a:cxn>
                <a:cxn ang="0">
                  <a:pos x="326" y="1469"/>
                </a:cxn>
                <a:cxn ang="0">
                  <a:pos x="217" y="1414"/>
                </a:cxn>
                <a:cxn ang="0">
                  <a:pos x="147" y="1360"/>
                </a:cxn>
                <a:cxn ang="0">
                  <a:pos x="120" y="1306"/>
                </a:cxn>
                <a:cxn ang="0">
                  <a:pos x="141" y="1257"/>
                </a:cxn>
                <a:cxn ang="0">
                  <a:pos x="212" y="1208"/>
                </a:cxn>
                <a:cxn ang="0">
                  <a:pos x="342" y="1164"/>
                </a:cxn>
                <a:cxn ang="0">
                  <a:pos x="527" y="1121"/>
                </a:cxn>
                <a:cxn ang="0">
                  <a:pos x="771" y="1088"/>
                </a:cxn>
              </a:cxnLst>
              <a:rect l="0" t="0" r="r" b="b"/>
              <a:pathLst>
                <a:path w="2296" h="1469">
                  <a:moveTo>
                    <a:pt x="771" y="1088"/>
                  </a:moveTo>
                  <a:lnTo>
                    <a:pt x="982" y="1061"/>
                  </a:lnTo>
                  <a:lnTo>
                    <a:pt x="1178" y="1034"/>
                  </a:lnTo>
                  <a:lnTo>
                    <a:pt x="1357" y="1012"/>
                  </a:lnTo>
                  <a:lnTo>
                    <a:pt x="1520" y="985"/>
                  </a:lnTo>
                  <a:lnTo>
                    <a:pt x="1666" y="957"/>
                  </a:lnTo>
                  <a:lnTo>
                    <a:pt x="1796" y="930"/>
                  </a:lnTo>
                  <a:lnTo>
                    <a:pt x="1916" y="897"/>
                  </a:lnTo>
                  <a:lnTo>
                    <a:pt x="2013" y="870"/>
                  </a:lnTo>
                  <a:lnTo>
                    <a:pt x="2100" y="832"/>
                  </a:lnTo>
                  <a:lnTo>
                    <a:pt x="2171" y="800"/>
                  </a:lnTo>
                  <a:lnTo>
                    <a:pt x="2220" y="756"/>
                  </a:lnTo>
                  <a:lnTo>
                    <a:pt x="2263" y="712"/>
                  </a:lnTo>
                  <a:lnTo>
                    <a:pt x="2285" y="669"/>
                  </a:lnTo>
                  <a:lnTo>
                    <a:pt x="2296" y="614"/>
                  </a:lnTo>
                  <a:lnTo>
                    <a:pt x="2290" y="560"/>
                  </a:lnTo>
                  <a:lnTo>
                    <a:pt x="2269" y="500"/>
                  </a:lnTo>
                  <a:lnTo>
                    <a:pt x="2241" y="457"/>
                  </a:lnTo>
                  <a:lnTo>
                    <a:pt x="2198" y="408"/>
                  </a:lnTo>
                  <a:lnTo>
                    <a:pt x="2144" y="364"/>
                  </a:lnTo>
                  <a:lnTo>
                    <a:pt x="2079" y="321"/>
                  </a:lnTo>
                  <a:lnTo>
                    <a:pt x="2008" y="277"/>
                  </a:lnTo>
                  <a:lnTo>
                    <a:pt x="1927" y="234"/>
                  </a:lnTo>
                  <a:lnTo>
                    <a:pt x="1769" y="157"/>
                  </a:lnTo>
                  <a:lnTo>
                    <a:pt x="1688" y="125"/>
                  </a:lnTo>
                  <a:lnTo>
                    <a:pt x="1612" y="92"/>
                  </a:lnTo>
                  <a:lnTo>
                    <a:pt x="1536" y="65"/>
                  </a:lnTo>
                  <a:lnTo>
                    <a:pt x="1476" y="43"/>
                  </a:lnTo>
                  <a:lnTo>
                    <a:pt x="1422" y="27"/>
                  </a:lnTo>
                  <a:lnTo>
                    <a:pt x="1384" y="10"/>
                  </a:lnTo>
                  <a:lnTo>
                    <a:pt x="1357" y="5"/>
                  </a:lnTo>
                  <a:lnTo>
                    <a:pt x="1346" y="0"/>
                  </a:lnTo>
                  <a:lnTo>
                    <a:pt x="1498" y="54"/>
                  </a:lnTo>
                  <a:lnTo>
                    <a:pt x="1655" y="119"/>
                  </a:lnTo>
                  <a:lnTo>
                    <a:pt x="1807" y="185"/>
                  </a:lnTo>
                  <a:lnTo>
                    <a:pt x="1948" y="255"/>
                  </a:lnTo>
                  <a:lnTo>
                    <a:pt x="2013" y="288"/>
                  </a:lnTo>
                  <a:lnTo>
                    <a:pt x="2068" y="326"/>
                  </a:lnTo>
                  <a:lnTo>
                    <a:pt x="2122" y="364"/>
                  </a:lnTo>
                  <a:lnTo>
                    <a:pt x="2171" y="402"/>
                  </a:lnTo>
                  <a:lnTo>
                    <a:pt x="2209" y="440"/>
                  </a:lnTo>
                  <a:lnTo>
                    <a:pt x="2236" y="478"/>
                  </a:lnTo>
                  <a:lnTo>
                    <a:pt x="2252" y="522"/>
                  </a:lnTo>
                  <a:lnTo>
                    <a:pt x="2263" y="560"/>
                  </a:lnTo>
                  <a:lnTo>
                    <a:pt x="2258" y="598"/>
                  </a:lnTo>
                  <a:lnTo>
                    <a:pt x="2241" y="636"/>
                  </a:lnTo>
                  <a:lnTo>
                    <a:pt x="2214" y="669"/>
                  </a:lnTo>
                  <a:lnTo>
                    <a:pt x="2171" y="702"/>
                  </a:lnTo>
                  <a:lnTo>
                    <a:pt x="2122" y="729"/>
                  </a:lnTo>
                  <a:lnTo>
                    <a:pt x="2062" y="756"/>
                  </a:lnTo>
                  <a:lnTo>
                    <a:pt x="1997" y="778"/>
                  </a:lnTo>
                  <a:lnTo>
                    <a:pt x="1921" y="800"/>
                  </a:lnTo>
                  <a:lnTo>
                    <a:pt x="1834" y="821"/>
                  </a:lnTo>
                  <a:lnTo>
                    <a:pt x="1748" y="843"/>
                  </a:lnTo>
                  <a:lnTo>
                    <a:pt x="1552" y="876"/>
                  </a:lnTo>
                  <a:lnTo>
                    <a:pt x="1351" y="908"/>
                  </a:lnTo>
                  <a:lnTo>
                    <a:pt x="1134" y="941"/>
                  </a:lnTo>
                  <a:lnTo>
                    <a:pt x="923" y="968"/>
                  </a:lnTo>
                  <a:lnTo>
                    <a:pt x="716" y="995"/>
                  </a:lnTo>
                  <a:lnTo>
                    <a:pt x="521" y="1028"/>
                  </a:lnTo>
                  <a:lnTo>
                    <a:pt x="434" y="1044"/>
                  </a:lnTo>
                  <a:lnTo>
                    <a:pt x="353" y="1066"/>
                  </a:lnTo>
                  <a:lnTo>
                    <a:pt x="277" y="1082"/>
                  </a:lnTo>
                  <a:lnTo>
                    <a:pt x="206" y="1104"/>
                  </a:lnTo>
                  <a:lnTo>
                    <a:pt x="147" y="1126"/>
                  </a:lnTo>
                  <a:lnTo>
                    <a:pt x="92" y="1148"/>
                  </a:lnTo>
                  <a:lnTo>
                    <a:pt x="54" y="1175"/>
                  </a:lnTo>
                  <a:lnTo>
                    <a:pt x="22" y="1202"/>
                  </a:lnTo>
                  <a:lnTo>
                    <a:pt x="6" y="1229"/>
                  </a:lnTo>
                  <a:lnTo>
                    <a:pt x="0" y="1262"/>
                  </a:lnTo>
                  <a:lnTo>
                    <a:pt x="11" y="1295"/>
                  </a:lnTo>
                  <a:lnTo>
                    <a:pt x="27" y="1327"/>
                  </a:lnTo>
                  <a:lnTo>
                    <a:pt x="54" y="1355"/>
                  </a:lnTo>
                  <a:lnTo>
                    <a:pt x="98" y="1382"/>
                  </a:lnTo>
                  <a:lnTo>
                    <a:pt x="141" y="1404"/>
                  </a:lnTo>
                  <a:lnTo>
                    <a:pt x="196" y="1425"/>
                  </a:lnTo>
                  <a:lnTo>
                    <a:pt x="261" y="1447"/>
                  </a:lnTo>
                  <a:lnTo>
                    <a:pt x="326" y="1469"/>
                  </a:lnTo>
                  <a:lnTo>
                    <a:pt x="266" y="1442"/>
                  </a:lnTo>
                  <a:lnTo>
                    <a:pt x="217" y="1414"/>
                  </a:lnTo>
                  <a:lnTo>
                    <a:pt x="174" y="1387"/>
                  </a:lnTo>
                  <a:lnTo>
                    <a:pt x="147" y="1360"/>
                  </a:lnTo>
                  <a:lnTo>
                    <a:pt x="125" y="1333"/>
                  </a:lnTo>
                  <a:lnTo>
                    <a:pt x="120" y="1306"/>
                  </a:lnTo>
                  <a:lnTo>
                    <a:pt x="125" y="1278"/>
                  </a:lnTo>
                  <a:lnTo>
                    <a:pt x="141" y="1257"/>
                  </a:lnTo>
                  <a:lnTo>
                    <a:pt x="174" y="1229"/>
                  </a:lnTo>
                  <a:lnTo>
                    <a:pt x="212" y="1208"/>
                  </a:lnTo>
                  <a:lnTo>
                    <a:pt x="272" y="1186"/>
                  </a:lnTo>
                  <a:lnTo>
                    <a:pt x="342" y="1164"/>
                  </a:lnTo>
                  <a:lnTo>
                    <a:pt x="423" y="1142"/>
                  </a:lnTo>
                  <a:lnTo>
                    <a:pt x="527" y="1121"/>
                  </a:lnTo>
                  <a:lnTo>
                    <a:pt x="641" y="1104"/>
                  </a:lnTo>
                  <a:lnTo>
                    <a:pt x="771" y="1088"/>
                  </a:lnTo>
                  <a:lnTo>
                    <a:pt x="771" y="108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30" name="Freeform 10"/>
            <p:cNvSpPr>
              <a:spLocks/>
            </p:cNvSpPr>
            <p:nvPr/>
          </p:nvSpPr>
          <p:spPr bwMode="hidden">
            <a:xfrm>
              <a:off x="0" y="0"/>
              <a:ext cx="5758" cy="177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906"/>
                </a:cxn>
                <a:cxn ang="0">
                  <a:pos x="5740" y="1906"/>
                </a:cxn>
                <a:cxn ang="0">
                  <a:pos x="574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740" h="1906">
                  <a:moveTo>
                    <a:pt x="0" y="0"/>
                  </a:moveTo>
                  <a:lnTo>
                    <a:pt x="0" y="1906"/>
                  </a:lnTo>
                  <a:lnTo>
                    <a:pt x="5740" y="1906"/>
                  </a:lnTo>
                  <a:lnTo>
                    <a:pt x="574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131" name="Rectangle 11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736725"/>
            <a:ext cx="7772400" cy="1920875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132" name="Rectangle 1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133" name="Rectangle 13"/>
          <p:cNvSpPr>
            <a:spLocks noGrp="1" noChangeArrowheads="1"/>
          </p:cNvSpPr>
          <p:nvPr>
            <p:ph type="dt" sz="quarter" idx="2"/>
          </p:nvPr>
        </p:nvSpPr>
        <p:spPr>
          <a:xfrm>
            <a:off x="457200" y="6248400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134" name="Rectangle 14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5157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135" name="Rectangle 15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254750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98379B7A-C77A-4F11-B1B4-4252ADC1D37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17C8A05-BB52-4426-9883-0738E44C4876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1929243-F407-4043-9919-7ABECEA2331F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21AF559-E689-4E01-AECD-FC8AA04E4184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D4E352A-6FCC-4817-A906-CDDD6CD5F55A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6710916-1E16-42C7-B55A-900AECD66BBE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E61117F-D5AB-47AB-B7AE-324DFFA4CA40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C3030A7-DD22-4EFF-AF1B-C72D42464EF8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3B900E2-19DB-4E3C-AD10-0CC5BDB8EE24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372BB68-AFF7-445B-A7EE-67834CFC8BE1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5FA04A7-D396-4384-AF73-A99206728C8C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5157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553200" y="6248400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05244853-1D91-46A6-ADB3-0C0EEA5F7BFC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>
          <a:xfrm>
            <a:off x="3124200" y="6248400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25157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>
          <a:xfrm>
            <a:off x="6553200" y="6248400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85ABD5BF-B6A0-4CF1-9A77-4BF1B834F633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>
          <a:xfrm>
            <a:off x="3124200" y="6248400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25157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6553200" y="6248400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EA57E325-49FE-448D-95D6-A3DEE321E688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>
          <a:xfrm>
            <a:off x="3124200" y="6248400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25157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6553200" y="6248400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B3017E86-BC43-4E5D-99DA-4970E7C83930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>
          <a:xfrm>
            <a:off x="3124200" y="6248400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25157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6553200" y="6248400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BCADB4D1-8F9C-4CAB-B022-625F885AD1CC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>
          <a:xfrm>
            <a:off x="3124200" y="6248400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5157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+mn-lt"/>
              </a:defRPr>
            </a:lvl1pPr>
          </a:lstStyle>
          <a:p>
            <a:fld id="{BC335A60-413E-4491-9150-B377D84B22BA}" type="slidenum">
              <a:rPr lang="en-US"/>
              <a:pPr/>
              <a:t>‹#›</a:t>
            </a:fld>
            <a:endParaRPr lang="en-US"/>
          </a:p>
        </p:txBody>
      </p:sp>
      <p:grpSp>
        <p:nvGrpSpPr>
          <p:cNvPr id="4100" name="Group 4"/>
          <p:cNvGrpSpPr>
            <a:grpSpLocks/>
          </p:cNvGrpSpPr>
          <p:nvPr/>
        </p:nvGrpSpPr>
        <p:grpSpPr bwMode="auto">
          <a:xfrm>
            <a:off x="0" y="0"/>
            <a:ext cx="9140825" cy="6850063"/>
            <a:chOff x="0" y="0"/>
            <a:chExt cx="5758" cy="4315"/>
          </a:xfrm>
        </p:grpSpPr>
        <p:grpSp>
          <p:nvGrpSpPr>
            <p:cNvPr id="4101" name="Group 5"/>
            <p:cNvGrpSpPr>
              <a:grpSpLocks/>
            </p:cNvGrpSpPr>
            <p:nvPr userDrawn="1"/>
          </p:nvGrpSpPr>
          <p:grpSpPr bwMode="auto">
            <a:xfrm>
              <a:off x="1728" y="2230"/>
              <a:ext cx="4027" cy="2085"/>
              <a:chOff x="1728" y="2230"/>
              <a:chExt cx="4027" cy="2085"/>
            </a:xfrm>
          </p:grpSpPr>
          <p:sp>
            <p:nvSpPr>
              <p:cNvPr id="4102" name="Freeform 6"/>
              <p:cNvSpPr>
                <a:spLocks/>
              </p:cNvSpPr>
              <p:nvPr/>
            </p:nvSpPr>
            <p:spPr bwMode="hidden">
              <a:xfrm>
                <a:off x="1728" y="2644"/>
                <a:ext cx="2882" cy="1671"/>
              </a:xfrm>
              <a:custGeom>
                <a:avLst/>
                <a:gdLst/>
                <a:ahLst/>
                <a:cxnLst>
                  <a:cxn ang="0">
                    <a:pos x="2740" y="528"/>
                  </a:cxn>
                  <a:cxn ang="0">
                    <a:pos x="2632" y="484"/>
                  </a:cxn>
                  <a:cxn ang="0">
                    <a:pos x="2480" y="424"/>
                  </a:cxn>
                  <a:cxn ang="0">
                    <a:pos x="2203" y="343"/>
                  </a:cxn>
                  <a:cxn ang="0">
                    <a:pos x="1970" y="277"/>
                  </a:cxn>
                  <a:cxn ang="0">
                    <a:pos x="1807" y="212"/>
                  </a:cxn>
                  <a:cxn ang="0">
                    <a:pos x="1693" y="152"/>
                  </a:cxn>
                  <a:cxn ang="0">
                    <a:pos x="1628" y="103"/>
                  </a:cxn>
                  <a:cxn ang="0">
                    <a:pos x="1590" y="60"/>
                  </a:cxn>
                  <a:cxn ang="0">
                    <a:pos x="1579" y="27"/>
                  </a:cxn>
                  <a:cxn ang="0">
                    <a:pos x="1585" y="0"/>
                  </a:cxn>
                  <a:cxn ang="0">
                    <a:pos x="1557" y="49"/>
                  </a:cxn>
                  <a:cxn ang="0">
                    <a:pos x="1568" y="98"/>
                  </a:cxn>
                  <a:cxn ang="0">
                    <a:pos x="1617" y="141"/>
                  </a:cxn>
                  <a:cxn ang="0">
                    <a:pos x="1688" y="185"/>
                  </a:cxn>
                  <a:cxn ang="0">
                    <a:pos x="1791" y="228"/>
                  </a:cxn>
                  <a:cxn ang="0">
                    <a:pos x="2040" y="310"/>
                  </a:cxn>
                  <a:cxn ang="0">
                    <a:pos x="2285" y="381"/>
                  </a:cxn>
                  <a:cxn ang="0">
                    <a:pos x="2464" y="435"/>
                  </a:cxn>
                  <a:cxn ang="0">
                    <a:pos x="2605" y="484"/>
                  </a:cxn>
                  <a:cxn ang="0">
                    <a:pos x="2708" y="528"/>
                  </a:cxn>
                  <a:cxn ang="0">
                    <a:pos x="2768" y="560"/>
                  </a:cxn>
                  <a:cxn ang="0">
                    <a:pos x="2795" y="593"/>
                  </a:cxn>
                  <a:cxn ang="0">
                    <a:pos x="2795" y="642"/>
                  </a:cxn>
                  <a:cxn ang="0">
                    <a:pos x="2762" y="691"/>
                  </a:cxn>
                  <a:cxn ang="0">
                    <a:pos x="2692" y="735"/>
                  </a:cxn>
                  <a:cxn ang="0">
                    <a:pos x="2589" y="778"/>
                  </a:cxn>
                  <a:cxn ang="0">
                    <a:pos x="2458" y="822"/>
                  </a:cxn>
                  <a:cxn ang="0">
                    <a:pos x="2301" y="865"/>
                  </a:cxn>
                  <a:cxn ang="0">
                    <a:pos x="2030" y="930"/>
                  </a:cxn>
                  <a:cxn ang="0">
                    <a:pos x="1606" y="1034"/>
                  </a:cxn>
                  <a:cxn ang="0">
                    <a:pos x="1145" y="1164"/>
                  </a:cxn>
                  <a:cxn ang="0">
                    <a:pos x="673" y="1328"/>
                  </a:cxn>
                  <a:cxn ang="0">
                    <a:pos x="217" y="1545"/>
                  </a:cxn>
                  <a:cxn ang="0">
                    <a:pos x="353" y="1671"/>
                  </a:cxn>
                  <a:cxn ang="0">
                    <a:pos x="754" y="1469"/>
                  </a:cxn>
                  <a:cxn ang="0">
                    <a:pos x="1145" y="1311"/>
                  </a:cxn>
                  <a:cxn ang="0">
                    <a:pos x="1519" y="1186"/>
                  </a:cxn>
                  <a:cxn ang="0">
                    <a:pos x="1861" y="1083"/>
                  </a:cxn>
                  <a:cxn ang="0">
                    <a:pos x="2165" y="1007"/>
                  </a:cxn>
                  <a:cxn ang="0">
                    <a:pos x="2426" y="947"/>
                  </a:cxn>
                  <a:cxn ang="0">
                    <a:pos x="2626" y="892"/>
                  </a:cxn>
                  <a:cxn ang="0">
                    <a:pos x="2762" y="838"/>
                  </a:cxn>
                  <a:cxn ang="0">
                    <a:pos x="2827" y="794"/>
                  </a:cxn>
                  <a:cxn ang="0">
                    <a:pos x="2865" y="745"/>
                  </a:cxn>
                  <a:cxn ang="0">
                    <a:pos x="2882" y="702"/>
                  </a:cxn>
                  <a:cxn ang="0">
                    <a:pos x="2854" y="620"/>
                  </a:cxn>
                  <a:cxn ang="0">
                    <a:pos x="2800" y="560"/>
                  </a:cxn>
                  <a:cxn ang="0">
                    <a:pos x="2773" y="544"/>
                  </a:cxn>
                </a:cxnLst>
                <a:rect l="0" t="0" r="r" b="b"/>
                <a:pathLst>
                  <a:path w="2882" h="1671">
                    <a:moveTo>
                      <a:pt x="2773" y="544"/>
                    </a:moveTo>
                    <a:lnTo>
                      <a:pt x="2740" y="528"/>
                    </a:lnTo>
                    <a:lnTo>
                      <a:pt x="2692" y="506"/>
                    </a:lnTo>
                    <a:lnTo>
                      <a:pt x="2632" y="484"/>
                    </a:lnTo>
                    <a:lnTo>
                      <a:pt x="2561" y="457"/>
                    </a:lnTo>
                    <a:lnTo>
                      <a:pt x="2480" y="424"/>
                    </a:lnTo>
                    <a:lnTo>
                      <a:pt x="2388" y="397"/>
                    </a:lnTo>
                    <a:lnTo>
                      <a:pt x="2203" y="343"/>
                    </a:lnTo>
                    <a:lnTo>
                      <a:pt x="2078" y="310"/>
                    </a:lnTo>
                    <a:lnTo>
                      <a:pt x="1970" y="277"/>
                    </a:lnTo>
                    <a:lnTo>
                      <a:pt x="1878" y="245"/>
                    </a:lnTo>
                    <a:lnTo>
                      <a:pt x="1807" y="212"/>
                    </a:lnTo>
                    <a:lnTo>
                      <a:pt x="1742" y="179"/>
                    </a:lnTo>
                    <a:lnTo>
                      <a:pt x="1693" y="152"/>
                    </a:lnTo>
                    <a:lnTo>
                      <a:pt x="1655" y="125"/>
                    </a:lnTo>
                    <a:lnTo>
                      <a:pt x="1628" y="103"/>
                    </a:lnTo>
                    <a:lnTo>
                      <a:pt x="1606" y="81"/>
                    </a:lnTo>
                    <a:lnTo>
                      <a:pt x="1590" y="60"/>
                    </a:lnTo>
                    <a:lnTo>
                      <a:pt x="1585" y="43"/>
                    </a:lnTo>
                    <a:lnTo>
                      <a:pt x="1579" y="27"/>
                    </a:lnTo>
                    <a:lnTo>
                      <a:pt x="1585" y="5"/>
                    </a:lnTo>
                    <a:lnTo>
                      <a:pt x="1585" y="0"/>
                    </a:lnTo>
                    <a:lnTo>
                      <a:pt x="1568" y="27"/>
                    </a:lnTo>
                    <a:lnTo>
                      <a:pt x="1557" y="49"/>
                    </a:lnTo>
                    <a:lnTo>
                      <a:pt x="1557" y="76"/>
                    </a:lnTo>
                    <a:lnTo>
                      <a:pt x="1568" y="98"/>
                    </a:lnTo>
                    <a:lnTo>
                      <a:pt x="1590" y="120"/>
                    </a:lnTo>
                    <a:lnTo>
                      <a:pt x="1617" y="141"/>
                    </a:lnTo>
                    <a:lnTo>
                      <a:pt x="1650" y="163"/>
                    </a:lnTo>
                    <a:lnTo>
                      <a:pt x="1688" y="185"/>
                    </a:lnTo>
                    <a:lnTo>
                      <a:pt x="1737" y="207"/>
                    </a:lnTo>
                    <a:lnTo>
                      <a:pt x="1791" y="228"/>
                    </a:lnTo>
                    <a:lnTo>
                      <a:pt x="1905" y="267"/>
                    </a:lnTo>
                    <a:lnTo>
                      <a:pt x="2040" y="310"/>
                    </a:lnTo>
                    <a:lnTo>
                      <a:pt x="2182" y="348"/>
                    </a:lnTo>
                    <a:lnTo>
                      <a:pt x="2285" y="381"/>
                    </a:lnTo>
                    <a:lnTo>
                      <a:pt x="2382" y="408"/>
                    </a:lnTo>
                    <a:lnTo>
                      <a:pt x="2464" y="435"/>
                    </a:lnTo>
                    <a:lnTo>
                      <a:pt x="2540" y="462"/>
                    </a:lnTo>
                    <a:lnTo>
                      <a:pt x="2605" y="484"/>
                    </a:lnTo>
                    <a:lnTo>
                      <a:pt x="2659" y="506"/>
                    </a:lnTo>
                    <a:lnTo>
                      <a:pt x="2708" y="528"/>
                    </a:lnTo>
                    <a:lnTo>
                      <a:pt x="2740" y="544"/>
                    </a:lnTo>
                    <a:lnTo>
                      <a:pt x="2768" y="560"/>
                    </a:lnTo>
                    <a:lnTo>
                      <a:pt x="2784" y="577"/>
                    </a:lnTo>
                    <a:lnTo>
                      <a:pt x="2795" y="593"/>
                    </a:lnTo>
                    <a:lnTo>
                      <a:pt x="2800" y="615"/>
                    </a:lnTo>
                    <a:lnTo>
                      <a:pt x="2795" y="642"/>
                    </a:lnTo>
                    <a:lnTo>
                      <a:pt x="2784" y="664"/>
                    </a:lnTo>
                    <a:lnTo>
                      <a:pt x="2762" y="691"/>
                    </a:lnTo>
                    <a:lnTo>
                      <a:pt x="2730" y="713"/>
                    </a:lnTo>
                    <a:lnTo>
                      <a:pt x="2692" y="735"/>
                    </a:lnTo>
                    <a:lnTo>
                      <a:pt x="2643" y="756"/>
                    </a:lnTo>
                    <a:lnTo>
                      <a:pt x="2589" y="778"/>
                    </a:lnTo>
                    <a:lnTo>
                      <a:pt x="2529" y="800"/>
                    </a:lnTo>
                    <a:lnTo>
                      <a:pt x="2458" y="822"/>
                    </a:lnTo>
                    <a:lnTo>
                      <a:pt x="2382" y="843"/>
                    </a:lnTo>
                    <a:lnTo>
                      <a:pt x="2301" y="865"/>
                    </a:lnTo>
                    <a:lnTo>
                      <a:pt x="2214" y="887"/>
                    </a:lnTo>
                    <a:lnTo>
                      <a:pt x="2030" y="930"/>
                    </a:lnTo>
                    <a:lnTo>
                      <a:pt x="1823" y="979"/>
                    </a:lnTo>
                    <a:lnTo>
                      <a:pt x="1606" y="1034"/>
                    </a:lnTo>
                    <a:lnTo>
                      <a:pt x="1378" y="1094"/>
                    </a:lnTo>
                    <a:lnTo>
                      <a:pt x="1145" y="1164"/>
                    </a:lnTo>
                    <a:lnTo>
                      <a:pt x="912" y="1241"/>
                    </a:lnTo>
                    <a:lnTo>
                      <a:pt x="673" y="1328"/>
                    </a:lnTo>
                    <a:lnTo>
                      <a:pt x="440" y="1431"/>
                    </a:lnTo>
                    <a:lnTo>
                      <a:pt x="217" y="1545"/>
                    </a:lnTo>
                    <a:lnTo>
                      <a:pt x="0" y="1671"/>
                    </a:lnTo>
                    <a:lnTo>
                      <a:pt x="353" y="1671"/>
                    </a:lnTo>
                    <a:lnTo>
                      <a:pt x="554" y="1567"/>
                    </a:lnTo>
                    <a:lnTo>
                      <a:pt x="754" y="1469"/>
                    </a:lnTo>
                    <a:lnTo>
                      <a:pt x="955" y="1388"/>
                    </a:lnTo>
                    <a:lnTo>
                      <a:pt x="1145" y="1311"/>
                    </a:lnTo>
                    <a:lnTo>
                      <a:pt x="1335" y="1241"/>
                    </a:lnTo>
                    <a:lnTo>
                      <a:pt x="1519" y="1186"/>
                    </a:lnTo>
                    <a:lnTo>
                      <a:pt x="1693" y="1132"/>
                    </a:lnTo>
                    <a:lnTo>
                      <a:pt x="1861" y="1083"/>
                    </a:lnTo>
                    <a:lnTo>
                      <a:pt x="2019" y="1045"/>
                    </a:lnTo>
                    <a:lnTo>
                      <a:pt x="2165" y="1007"/>
                    </a:lnTo>
                    <a:lnTo>
                      <a:pt x="2301" y="974"/>
                    </a:lnTo>
                    <a:lnTo>
                      <a:pt x="2426" y="947"/>
                    </a:lnTo>
                    <a:lnTo>
                      <a:pt x="2534" y="914"/>
                    </a:lnTo>
                    <a:lnTo>
                      <a:pt x="2626" y="892"/>
                    </a:lnTo>
                    <a:lnTo>
                      <a:pt x="2702" y="865"/>
                    </a:lnTo>
                    <a:lnTo>
                      <a:pt x="2762" y="838"/>
                    </a:lnTo>
                    <a:lnTo>
                      <a:pt x="2800" y="816"/>
                    </a:lnTo>
                    <a:lnTo>
                      <a:pt x="2827" y="794"/>
                    </a:lnTo>
                    <a:lnTo>
                      <a:pt x="2849" y="767"/>
                    </a:lnTo>
                    <a:lnTo>
                      <a:pt x="2865" y="745"/>
                    </a:lnTo>
                    <a:lnTo>
                      <a:pt x="2876" y="724"/>
                    </a:lnTo>
                    <a:lnTo>
                      <a:pt x="2882" y="702"/>
                    </a:lnTo>
                    <a:lnTo>
                      <a:pt x="2876" y="658"/>
                    </a:lnTo>
                    <a:lnTo>
                      <a:pt x="2854" y="620"/>
                    </a:lnTo>
                    <a:lnTo>
                      <a:pt x="2833" y="588"/>
                    </a:lnTo>
                    <a:lnTo>
                      <a:pt x="2800" y="560"/>
                    </a:lnTo>
                    <a:lnTo>
                      <a:pt x="2773" y="544"/>
                    </a:lnTo>
                    <a:lnTo>
                      <a:pt x="2773" y="54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03" name="Freeform 7"/>
              <p:cNvSpPr>
                <a:spLocks/>
              </p:cNvSpPr>
              <p:nvPr/>
            </p:nvSpPr>
            <p:spPr bwMode="hidden">
              <a:xfrm>
                <a:off x="4170" y="2671"/>
                <a:ext cx="1259" cy="811"/>
              </a:xfrm>
              <a:custGeom>
                <a:avLst/>
                <a:gdLst/>
                <a:ahLst/>
                <a:cxnLst>
                  <a:cxn ang="0">
                    <a:pos x="1259" y="615"/>
                  </a:cxn>
                  <a:cxn ang="0">
                    <a:pos x="1248" y="588"/>
                  </a:cxn>
                  <a:cxn ang="0">
                    <a:pos x="1237" y="566"/>
                  </a:cxn>
                  <a:cxn ang="0">
                    <a:pos x="1216" y="539"/>
                  </a:cxn>
                  <a:cxn ang="0">
                    <a:pos x="1188" y="517"/>
                  </a:cxn>
                  <a:cxn ang="0">
                    <a:pos x="1123" y="479"/>
                  </a:cxn>
                  <a:cxn ang="0">
                    <a:pos x="1042" y="441"/>
                  </a:cxn>
                  <a:cxn ang="0">
                    <a:pos x="944" y="408"/>
                  </a:cxn>
                  <a:cxn ang="0">
                    <a:pos x="841" y="381"/>
                  </a:cxn>
                  <a:cxn ang="0">
                    <a:pos x="727" y="348"/>
                  </a:cxn>
                  <a:cxn ang="0">
                    <a:pos x="613" y="321"/>
                  </a:cxn>
                  <a:cxn ang="0">
                    <a:pos x="499" y="294"/>
                  </a:cxn>
                  <a:cxn ang="0">
                    <a:pos x="391" y="261"/>
                  </a:cxn>
                  <a:cxn ang="0">
                    <a:pos x="288" y="229"/>
                  </a:cxn>
                  <a:cxn ang="0">
                    <a:pos x="195" y="196"/>
                  </a:cxn>
                  <a:cxn ang="0">
                    <a:pos x="119" y="152"/>
                  </a:cxn>
                  <a:cxn ang="0">
                    <a:pos x="54" y="109"/>
                  </a:cxn>
                  <a:cxn ang="0">
                    <a:pos x="33" y="87"/>
                  </a:cxn>
                  <a:cxn ang="0">
                    <a:pos x="16" y="60"/>
                  </a:cxn>
                  <a:cxn ang="0">
                    <a:pos x="5" y="33"/>
                  </a:cxn>
                  <a:cxn ang="0">
                    <a:pos x="0" y="0"/>
                  </a:cxn>
                  <a:cxn ang="0">
                    <a:pos x="0" y="6"/>
                  </a:cxn>
                  <a:cxn ang="0">
                    <a:pos x="0" y="11"/>
                  </a:cxn>
                  <a:cxn ang="0">
                    <a:pos x="0" y="38"/>
                  </a:cxn>
                  <a:cxn ang="0">
                    <a:pos x="5" y="60"/>
                  </a:cxn>
                  <a:cxn ang="0">
                    <a:pos x="16" y="87"/>
                  </a:cxn>
                  <a:cxn ang="0">
                    <a:pos x="33" y="114"/>
                  </a:cxn>
                  <a:cxn ang="0">
                    <a:pos x="54" y="142"/>
                  </a:cxn>
                  <a:cxn ang="0">
                    <a:pos x="87" y="174"/>
                  </a:cxn>
                  <a:cxn ang="0">
                    <a:pos x="125" y="207"/>
                  </a:cxn>
                  <a:cxn ang="0">
                    <a:pos x="179" y="240"/>
                  </a:cxn>
                  <a:cxn ang="0">
                    <a:pos x="244" y="278"/>
                  </a:cxn>
                  <a:cxn ang="0">
                    <a:pos x="326" y="310"/>
                  </a:cxn>
                  <a:cxn ang="0">
                    <a:pos x="418" y="348"/>
                  </a:cxn>
                  <a:cxn ang="0">
                    <a:pos x="526" y="381"/>
                  </a:cxn>
                  <a:cxn ang="0">
                    <a:pos x="657" y="414"/>
                  </a:cxn>
                  <a:cxn ang="0">
                    <a:pos x="749" y="435"/>
                  </a:cxn>
                  <a:cxn ang="0">
                    <a:pos x="830" y="463"/>
                  </a:cxn>
                  <a:cxn ang="0">
                    <a:pos x="901" y="490"/>
                  </a:cxn>
                  <a:cxn ang="0">
                    <a:pos x="966" y="512"/>
                  </a:cxn>
                  <a:cxn ang="0">
                    <a:pos x="1015" y="539"/>
                  </a:cxn>
                  <a:cxn ang="0">
                    <a:pos x="1053" y="566"/>
                  </a:cxn>
                  <a:cxn ang="0">
                    <a:pos x="1080" y="593"/>
                  </a:cxn>
                  <a:cxn ang="0">
                    <a:pos x="1102" y="620"/>
                  </a:cxn>
                  <a:cxn ang="0">
                    <a:pos x="1112" y="648"/>
                  </a:cxn>
                  <a:cxn ang="0">
                    <a:pos x="1118" y="675"/>
                  </a:cxn>
                  <a:cxn ang="0">
                    <a:pos x="1112" y="697"/>
                  </a:cxn>
                  <a:cxn ang="0">
                    <a:pos x="1096" y="724"/>
                  </a:cxn>
                  <a:cxn ang="0">
                    <a:pos x="1080" y="746"/>
                  </a:cxn>
                  <a:cxn ang="0">
                    <a:pos x="1053" y="767"/>
                  </a:cxn>
                  <a:cxn ang="0">
                    <a:pos x="1015" y="789"/>
                  </a:cxn>
                  <a:cxn ang="0">
                    <a:pos x="977" y="811"/>
                  </a:cxn>
                  <a:cxn ang="0">
                    <a:pos x="1047" y="789"/>
                  </a:cxn>
                  <a:cxn ang="0">
                    <a:pos x="1107" y="767"/>
                  </a:cxn>
                  <a:cxn ang="0">
                    <a:pos x="1156" y="746"/>
                  </a:cxn>
                  <a:cxn ang="0">
                    <a:pos x="1199" y="724"/>
                  </a:cxn>
                  <a:cxn ang="0">
                    <a:pos x="1226" y="702"/>
                  </a:cxn>
                  <a:cxn ang="0">
                    <a:pos x="1248" y="675"/>
                  </a:cxn>
                  <a:cxn ang="0">
                    <a:pos x="1259" y="648"/>
                  </a:cxn>
                  <a:cxn ang="0">
                    <a:pos x="1259" y="615"/>
                  </a:cxn>
                  <a:cxn ang="0">
                    <a:pos x="1259" y="615"/>
                  </a:cxn>
                </a:cxnLst>
                <a:rect l="0" t="0" r="r" b="b"/>
                <a:pathLst>
                  <a:path w="1259" h="811">
                    <a:moveTo>
                      <a:pt x="1259" y="615"/>
                    </a:moveTo>
                    <a:lnTo>
                      <a:pt x="1248" y="588"/>
                    </a:lnTo>
                    <a:lnTo>
                      <a:pt x="1237" y="566"/>
                    </a:lnTo>
                    <a:lnTo>
                      <a:pt x="1216" y="539"/>
                    </a:lnTo>
                    <a:lnTo>
                      <a:pt x="1188" y="517"/>
                    </a:lnTo>
                    <a:lnTo>
                      <a:pt x="1123" y="479"/>
                    </a:lnTo>
                    <a:lnTo>
                      <a:pt x="1042" y="441"/>
                    </a:lnTo>
                    <a:lnTo>
                      <a:pt x="944" y="408"/>
                    </a:lnTo>
                    <a:lnTo>
                      <a:pt x="841" y="381"/>
                    </a:lnTo>
                    <a:lnTo>
                      <a:pt x="727" y="348"/>
                    </a:lnTo>
                    <a:lnTo>
                      <a:pt x="613" y="321"/>
                    </a:lnTo>
                    <a:lnTo>
                      <a:pt x="499" y="294"/>
                    </a:lnTo>
                    <a:lnTo>
                      <a:pt x="391" y="261"/>
                    </a:lnTo>
                    <a:lnTo>
                      <a:pt x="288" y="229"/>
                    </a:lnTo>
                    <a:lnTo>
                      <a:pt x="195" y="196"/>
                    </a:lnTo>
                    <a:lnTo>
                      <a:pt x="119" y="152"/>
                    </a:lnTo>
                    <a:lnTo>
                      <a:pt x="54" y="109"/>
                    </a:lnTo>
                    <a:lnTo>
                      <a:pt x="33" y="87"/>
                    </a:lnTo>
                    <a:lnTo>
                      <a:pt x="16" y="60"/>
                    </a:lnTo>
                    <a:lnTo>
                      <a:pt x="5" y="33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11"/>
                    </a:lnTo>
                    <a:lnTo>
                      <a:pt x="0" y="38"/>
                    </a:lnTo>
                    <a:lnTo>
                      <a:pt x="5" y="60"/>
                    </a:lnTo>
                    <a:lnTo>
                      <a:pt x="16" y="87"/>
                    </a:lnTo>
                    <a:lnTo>
                      <a:pt x="33" y="114"/>
                    </a:lnTo>
                    <a:lnTo>
                      <a:pt x="54" y="142"/>
                    </a:lnTo>
                    <a:lnTo>
                      <a:pt x="87" y="174"/>
                    </a:lnTo>
                    <a:lnTo>
                      <a:pt x="125" y="207"/>
                    </a:lnTo>
                    <a:lnTo>
                      <a:pt x="179" y="240"/>
                    </a:lnTo>
                    <a:lnTo>
                      <a:pt x="244" y="278"/>
                    </a:lnTo>
                    <a:lnTo>
                      <a:pt x="326" y="310"/>
                    </a:lnTo>
                    <a:lnTo>
                      <a:pt x="418" y="348"/>
                    </a:lnTo>
                    <a:lnTo>
                      <a:pt x="526" y="381"/>
                    </a:lnTo>
                    <a:lnTo>
                      <a:pt x="657" y="414"/>
                    </a:lnTo>
                    <a:lnTo>
                      <a:pt x="749" y="435"/>
                    </a:lnTo>
                    <a:lnTo>
                      <a:pt x="830" y="463"/>
                    </a:lnTo>
                    <a:lnTo>
                      <a:pt x="901" y="490"/>
                    </a:lnTo>
                    <a:lnTo>
                      <a:pt x="966" y="512"/>
                    </a:lnTo>
                    <a:lnTo>
                      <a:pt x="1015" y="539"/>
                    </a:lnTo>
                    <a:lnTo>
                      <a:pt x="1053" y="566"/>
                    </a:lnTo>
                    <a:lnTo>
                      <a:pt x="1080" y="593"/>
                    </a:lnTo>
                    <a:lnTo>
                      <a:pt x="1102" y="620"/>
                    </a:lnTo>
                    <a:lnTo>
                      <a:pt x="1112" y="648"/>
                    </a:lnTo>
                    <a:lnTo>
                      <a:pt x="1118" y="675"/>
                    </a:lnTo>
                    <a:lnTo>
                      <a:pt x="1112" y="697"/>
                    </a:lnTo>
                    <a:lnTo>
                      <a:pt x="1096" y="724"/>
                    </a:lnTo>
                    <a:lnTo>
                      <a:pt x="1080" y="746"/>
                    </a:lnTo>
                    <a:lnTo>
                      <a:pt x="1053" y="767"/>
                    </a:lnTo>
                    <a:lnTo>
                      <a:pt x="1015" y="789"/>
                    </a:lnTo>
                    <a:lnTo>
                      <a:pt x="977" y="811"/>
                    </a:lnTo>
                    <a:lnTo>
                      <a:pt x="1047" y="789"/>
                    </a:lnTo>
                    <a:lnTo>
                      <a:pt x="1107" y="767"/>
                    </a:lnTo>
                    <a:lnTo>
                      <a:pt x="1156" y="746"/>
                    </a:lnTo>
                    <a:lnTo>
                      <a:pt x="1199" y="724"/>
                    </a:lnTo>
                    <a:lnTo>
                      <a:pt x="1226" y="702"/>
                    </a:lnTo>
                    <a:lnTo>
                      <a:pt x="1248" y="675"/>
                    </a:lnTo>
                    <a:lnTo>
                      <a:pt x="1259" y="648"/>
                    </a:lnTo>
                    <a:lnTo>
                      <a:pt x="1259" y="615"/>
                    </a:lnTo>
                    <a:lnTo>
                      <a:pt x="1259" y="61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04" name="Freeform 8"/>
              <p:cNvSpPr>
                <a:spLocks/>
              </p:cNvSpPr>
              <p:nvPr/>
            </p:nvSpPr>
            <p:spPr bwMode="hidden">
              <a:xfrm>
                <a:off x="2900" y="3346"/>
                <a:ext cx="2849" cy="969"/>
              </a:xfrm>
              <a:custGeom>
                <a:avLst/>
                <a:gdLst/>
                <a:ahLst/>
                <a:cxnLst>
                  <a:cxn ang="0">
                    <a:pos x="92" y="958"/>
                  </a:cxn>
                  <a:cxn ang="0">
                    <a:pos x="0" y="969"/>
                  </a:cxn>
                  <a:cxn ang="0">
                    <a:pos x="391" y="969"/>
                  </a:cxn>
                  <a:cxn ang="0">
                    <a:pos x="434" y="947"/>
                  </a:cxn>
                  <a:cxn ang="0">
                    <a:pos x="483" y="914"/>
                  </a:cxn>
                  <a:cxn ang="0">
                    <a:pos x="554" y="876"/>
                  </a:cxn>
                  <a:cxn ang="0">
                    <a:pos x="635" y="838"/>
                  </a:cxn>
                  <a:cxn ang="0">
                    <a:pos x="727" y="794"/>
                  </a:cxn>
                  <a:cxn ang="0">
                    <a:pos x="836" y="745"/>
                  </a:cxn>
                  <a:cxn ang="0">
                    <a:pos x="961" y="696"/>
                  </a:cxn>
                  <a:cxn ang="0">
                    <a:pos x="1102" y="642"/>
                  </a:cxn>
                  <a:cxn ang="0">
                    <a:pos x="1259" y="582"/>
                  </a:cxn>
                  <a:cxn ang="0">
                    <a:pos x="1433" y="522"/>
                  </a:cxn>
                  <a:cxn ang="0">
                    <a:pos x="1623" y="462"/>
                  </a:cxn>
                  <a:cxn ang="0">
                    <a:pos x="1829" y="403"/>
                  </a:cxn>
                  <a:cxn ang="0">
                    <a:pos x="2057" y="343"/>
                  </a:cxn>
                  <a:cxn ang="0">
                    <a:pos x="2301" y="283"/>
                  </a:cxn>
                  <a:cxn ang="0">
                    <a:pos x="2567" y="223"/>
                  </a:cxn>
                  <a:cxn ang="0">
                    <a:pos x="2849" y="163"/>
                  </a:cxn>
                  <a:cxn ang="0">
                    <a:pos x="2849" y="0"/>
                  </a:cxn>
                  <a:cxn ang="0">
                    <a:pos x="2817" y="16"/>
                  </a:cxn>
                  <a:cxn ang="0">
                    <a:pos x="2773" y="33"/>
                  </a:cxn>
                  <a:cxn ang="0">
                    <a:pos x="2719" y="54"/>
                  </a:cxn>
                  <a:cxn ang="0">
                    <a:pos x="2648" y="76"/>
                  </a:cxn>
                  <a:cxn ang="0">
                    <a:pos x="2572" y="98"/>
                  </a:cxn>
                  <a:cxn ang="0">
                    <a:pos x="2491" y="120"/>
                  </a:cxn>
                  <a:cxn ang="0">
                    <a:pos x="2399" y="147"/>
                  </a:cxn>
                  <a:cxn ang="0">
                    <a:pos x="2301" y="169"/>
                  </a:cxn>
                  <a:cxn ang="0">
                    <a:pos x="2095" y="223"/>
                  </a:cxn>
                  <a:cxn ang="0">
                    <a:pos x="1889" y="277"/>
                  </a:cxn>
                  <a:cxn ang="0">
                    <a:pos x="1688" y="326"/>
                  </a:cxn>
                  <a:cxn ang="0">
                    <a:pos x="1590" y="354"/>
                  </a:cxn>
                  <a:cxn ang="0">
                    <a:pos x="1503" y="381"/>
                  </a:cxn>
                  <a:cxn ang="0">
                    <a:pos x="1107" y="506"/>
                  </a:cxn>
                  <a:cxn ang="0">
                    <a:pos x="912" y="577"/>
                  </a:cxn>
                  <a:cxn ang="0">
                    <a:pos x="727" y="647"/>
                  </a:cxn>
                  <a:cxn ang="0">
                    <a:pos x="548" y="718"/>
                  </a:cxn>
                  <a:cxn ang="0">
                    <a:pos x="380" y="794"/>
                  </a:cxn>
                  <a:cxn ang="0">
                    <a:pos x="228" y="876"/>
                  </a:cxn>
                  <a:cxn ang="0">
                    <a:pos x="92" y="958"/>
                  </a:cxn>
                  <a:cxn ang="0">
                    <a:pos x="92" y="958"/>
                  </a:cxn>
                </a:cxnLst>
                <a:rect l="0" t="0" r="r" b="b"/>
                <a:pathLst>
                  <a:path w="2849" h="969">
                    <a:moveTo>
                      <a:pt x="92" y="958"/>
                    </a:moveTo>
                    <a:lnTo>
                      <a:pt x="0" y="969"/>
                    </a:lnTo>
                    <a:lnTo>
                      <a:pt x="391" y="969"/>
                    </a:lnTo>
                    <a:lnTo>
                      <a:pt x="434" y="947"/>
                    </a:lnTo>
                    <a:lnTo>
                      <a:pt x="483" y="914"/>
                    </a:lnTo>
                    <a:lnTo>
                      <a:pt x="554" y="876"/>
                    </a:lnTo>
                    <a:lnTo>
                      <a:pt x="635" y="838"/>
                    </a:lnTo>
                    <a:lnTo>
                      <a:pt x="727" y="794"/>
                    </a:lnTo>
                    <a:lnTo>
                      <a:pt x="836" y="745"/>
                    </a:lnTo>
                    <a:lnTo>
                      <a:pt x="961" y="696"/>
                    </a:lnTo>
                    <a:lnTo>
                      <a:pt x="1102" y="642"/>
                    </a:lnTo>
                    <a:lnTo>
                      <a:pt x="1259" y="582"/>
                    </a:lnTo>
                    <a:lnTo>
                      <a:pt x="1433" y="522"/>
                    </a:lnTo>
                    <a:lnTo>
                      <a:pt x="1623" y="462"/>
                    </a:lnTo>
                    <a:lnTo>
                      <a:pt x="1829" y="403"/>
                    </a:lnTo>
                    <a:lnTo>
                      <a:pt x="2057" y="343"/>
                    </a:lnTo>
                    <a:lnTo>
                      <a:pt x="2301" y="283"/>
                    </a:lnTo>
                    <a:lnTo>
                      <a:pt x="2567" y="223"/>
                    </a:lnTo>
                    <a:lnTo>
                      <a:pt x="2849" y="163"/>
                    </a:lnTo>
                    <a:lnTo>
                      <a:pt x="2849" y="0"/>
                    </a:lnTo>
                    <a:lnTo>
                      <a:pt x="2817" y="16"/>
                    </a:lnTo>
                    <a:lnTo>
                      <a:pt x="2773" y="33"/>
                    </a:lnTo>
                    <a:lnTo>
                      <a:pt x="2719" y="54"/>
                    </a:lnTo>
                    <a:lnTo>
                      <a:pt x="2648" y="76"/>
                    </a:lnTo>
                    <a:lnTo>
                      <a:pt x="2572" y="98"/>
                    </a:lnTo>
                    <a:lnTo>
                      <a:pt x="2491" y="120"/>
                    </a:lnTo>
                    <a:lnTo>
                      <a:pt x="2399" y="147"/>
                    </a:lnTo>
                    <a:lnTo>
                      <a:pt x="2301" y="169"/>
                    </a:lnTo>
                    <a:lnTo>
                      <a:pt x="2095" y="223"/>
                    </a:lnTo>
                    <a:lnTo>
                      <a:pt x="1889" y="277"/>
                    </a:lnTo>
                    <a:lnTo>
                      <a:pt x="1688" y="326"/>
                    </a:lnTo>
                    <a:lnTo>
                      <a:pt x="1590" y="354"/>
                    </a:lnTo>
                    <a:lnTo>
                      <a:pt x="1503" y="381"/>
                    </a:lnTo>
                    <a:lnTo>
                      <a:pt x="1107" y="506"/>
                    </a:lnTo>
                    <a:lnTo>
                      <a:pt x="912" y="577"/>
                    </a:lnTo>
                    <a:lnTo>
                      <a:pt x="727" y="647"/>
                    </a:lnTo>
                    <a:lnTo>
                      <a:pt x="548" y="718"/>
                    </a:lnTo>
                    <a:lnTo>
                      <a:pt x="380" y="794"/>
                    </a:lnTo>
                    <a:lnTo>
                      <a:pt x="228" y="876"/>
                    </a:lnTo>
                    <a:lnTo>
                      <a:pt x="92" y="958"/>
                    </a:lnTo>
                    <a:lnTo>
                      <a:pt x="92" y="95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1961"/>
                      <a:invGamma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05" name="Freeform 9"/>
              <p:cNvSpPr>
                <a:spLocks/>
              </p:cNvSpPr>
              <p:nvPr/>
            </p:nvSpPr>
            <p:spPr bwMode="hidden">
              <a:xfrm>
                <a:off x="2748" y="2230"/>
                <a:ext cx="3007" cy="2085"/>
              </a:xfrm>
              <a:custGeom>
                <a:avLst/>
                <a:gdLst/>
                <a:ahLst/>
                <a:cxnLst>
                  <a:cxn ang="0">
                    <a:pos x="1433" y="474"/>
                  </a:cxn>
                  <a:cxn ang="0">
                    <a:pos x="1460" y="528"/>
                  </a:cxn>
                  <a:cxn ang="0">
                    <a:pos x="1541" y="593"/>
                  </a:cxn>
                  <a:cxn ang="0">
                    <a:pos x="1715" y="670"/>
                  </a:cxn>
                  <a:cxn ang="0">
                    <a:pos x="1927" y="735"/>
                  </a:cxn>
                  <a:cxn ang="0">
                    <a:pos x="2155" y="789"/>
                  </a:cxn>
                  <a:cxn ang="0">
                    <a:pos x="2372" y="849"/>
                  </a:cxn>
                  <a:cxn ang="0">
                    <a:pos x="2551" y="920"/>
                  </a:cxn>
                  <a:cxn ang="0">
                    <a:pos x="2638" y="980"/>
                  </a:cxn>
                  <a:cxn ang="0">
                    <a:pos x="2676" y="1029"/>
                  </a:cxn>
                  <a:cxn ang="0">
                    <a:pos x="2681" y="1083"/>
                  </a:cxn>
                  <a:cxn ang="0">
                    <a:pos x="2665" y="1127"/>
                  </a:cxn>
                  <a:cxn ang="0">
                    <a:pos x="2616" y="1170"/>
                  </a:cxn>
                  <a:cxn ang="0">
                    <a:pos x="2545" y="1208"/>
                  </a:cxn>
                  <a:cxn ang="0">
                    <a:pos x="2448" y="1241"/>
                  </a:cxn>
                  <a:cxn ang="0">
                    <a:pos x="2328" y="1274"/>
                  </a:cxn>
                  <a:cxn ang="0">
                    <a:pos x="2106" y="1328"/>
                  </a:cxn>
                  <a:cxn ang="0">
                    <a:pos x="1742" y="1421"/>
                  </a:cxn>
                  <a:cxn ang="0">
                    <a:pos x="1308" y="1540"/>
                  </a:cxn>
                  <a:cxn ang="0">
                    <a:pos x="820" y="1709"/>
                  </a:cxn>
                  <a:cxn ang="0">
                    <a:pos x="282" y="1943"/>
                  </a:cxn>
                  <a:cxn ang="0">
                    <a:pos x="152" y="2085"/>
                  </a:cxn>
                  <a:cxn ang="0">
                    <a:pos x="386" y="1992"/>
                  </a:cxn>
                  <a:cxn ang="0">
                    <a:pos x="700" y="1834"/>
                  </a:cxn>
                  <a:cxn ang="0">
                    <a:pos x="1064" y="1693"/>
                  </a:cxn>
                  <a:cxn ang="0">
                    <a:pos x="1661" y="1497"/>
                  </a:cxn>
                  <a:cxn ang="0">
                    <a:pos x="1845" y="1442"/>
                  </a:cxn>
                  <a:cxn ang="0">
                    <a:pos x="2252" y="1339"/>
                  </a:cxn>
                  <a:cxn ang="0">
                    <a:pos x="2551" y="1263"/>
                  </a:cxn>
                  <a:cxn ang="0">
                    <a:pos x="2730" y="1214"/>
                  </a:cxn>
                  <a:cxn ang="0">
                    <a:pos x="2876" y="1170"/>
                  </a:cxn>
                  <a:cxn ang="0">
                    <a:pos x="2974" y="1132"/>
                  </a:cxn>
                  <a:cxn ang="0">
                    <a:pos x="3007" y="871"/>
                  </a:cxn>
                  <a:cxn ang="0">
                    <a:pos x="2860" y="844"/>
                  </a:cxn>
                  <a:cxn ang="0">
                    <a:pos x="2670" y="806"/>
                  </a:cxn>
                  <a:cxn ang="0">
                    <a:pos x="2458" y="757"/>
                  </a:cxn>
                  <a:cxn ang="0">
                    <a:pos x="2138" y="670"/>
                  </a:cxn>
                  <a:cxn ang="0">
                    <a:pos x="1959" y="604"/>
                  </a:cxn>
                  <a:cxn ang="0">
                    <a:pos x="1824" y="534"/>
                  </a:cxn>
                  <a:cxn ang="0">
                    <a:pos x="1769" y="474"/>
                  </a:cxn>
                  <a:cxn ang="0">
                    <a:pos x="1753" y="436"/>
                  </a:cxn>
                  <a:cxn ang="0">
                    <a:pos x="1780" y="381"/>
                  </a:cxn>
                  <a:cxn ang="0">
                    <a:pos x="1862" y="316"/>
                  </a:cxn>
                  <a:cxn ang="0">
                    <a:pos x="1986" y="267"/>
                  </a:cxn>
                  <a:cxn ang="0">
                    <a:pos x="2149" y="229"/>
                  </a:cxn>
                  <a:cxn ang="0">
                    <a:pos x="2431" y="180"/>
                  </a:cxn>
                  <a:cxn ang="0">
                    <a:pos x="2827" y="125"/>
                  </a:cxn>
                  <a:cxn ang="0">
                    <a:pos x="3007" y="87"/>
                  </a:cxn>
                  <a:cxn ang="0">
                    <a:pos x="2909" y="22"/>
                  </a:cxn>
                  <a:cxn ang="0">
                    <a:pos x="2676" y="66"/>
                  </a:cxn>
                  <a:cxn ang="0">
                    <a:pos x="2285" y="120"/>
                  </a:cxn>
                  <a:cxn ang="0">
                    <a:pos x="2030" y="158"/>
                  </a:cxn>
                  <a:cxn ang="0">
                    <a:pos x="1791" y="202"/>
                  </a:cxn>
                  <a:cxn ang="0">
                    <a:pos x="1601" y="261"/>
                  </a:cxn>
                  <a:cxn ang="0">
                    <a:pos x="1471" y="338"/>
                  </a:cxn>
                  <a:cxn ang="0">
                    <a:pos x="1438" y="387"/>
                  </a:cxn>
                  <a:cxn ang="0">
                    <a:pos x="1427" y="441"/>
                  </a:cxn>
                </a:cxnLst>
                <a:rect l="0" t="0" r="r" b="b"/>
                <a:pathLst>
                  <a:path w="3007" h="2085">
                    <a:moveTo>
                      <a:pt x="1427" y="441"/>
                    </a:moveTo>
                    <a:lnTo>
                      <a:pt x="1433" y="474"/>
                    </a:lnTo>
                    <a:lnTo>
                      <a:pt x="1444" y="501"/>
                    </a:lnTo>
                    <a:lnTo>
                      <a:pt x="1460" y="528"/>
                    </a:lnTo>
                    <a:lnTo>
                      <a:pt x="1482" y="550"/>
                    </a:lnTo>
                    <a:lnTo>
                      <a:pt x="1541" y="593"/>
                    </a:lnTo>
                    <a:lnTo>
                      <a:pt x="1623" y="637"/>
                    </a:lnTo>
                    <a:lnTo>
                      <a:pt x="1715" y="670"/>
                    </a:lnTo>
                    <a:lnTo>
                      <a:pt x="1818" y="702"/>
                    </a:lnTo>
                    <a:lnTo>
                      <a:pt x="1927" y="735"/>
                    </a:lnTo>
                    <a:lnTo>
                      <a:pt x="2041" y="762"/>
                    </a:lnTo>
                    <a:lnTo>
                      <a:pt x="2155" y="789"/>
                    </a:lnTo>
                    <a:lnTo>
                      <a:pt x="2269" y="822"/>
                    </a:lnTo>
                    <a:lnTo>
                      <a:pt x="2372" y="849"/>
                    </a:lnTo>
                    <a:lnTo>
                      <a:pt x="2464" y="882"/>
                    </a:lnTo>
                    <a:lnTo>
                      <a:pt x="2551" y="920"/>
                    </a:lnTo>
                    <a:lnTo>
                      <a:pt x="2616" y="958"/>
                    </a:lnTo>
                    <a:lnTo>
                      <a:pt x="2638" y="980"/>
                    </a:lnTo>
                    <a:lnTo>
                      <a:pt x="2659" y="1007"/>
                    </a:lnTo>
                    <a:lnTo>
                      <a:pt x="2676" y="1029"/>
                    </a:lnTo>
                    <a:lnTo>
                      <a:pt x="2681" y="1056"/>
                    </a:lnTo>
                    <a:lnTo>
                      <a:pt x="2681" y="1083"/>
                    </a:lnTo>
                    <a:lnTo>
                      <a:pt x="2676" y="1105"/>
                    </a:lnTo>
                    <a:lnTo>
                      <a:pt x="2665" y="1127"/>
                    </a:lnTo>
                    <a:lnTo>
                      <a:pt x="2643" y="1149"/>
                    </a:lnTo>
                    <a:lnTo>
                      <a:pt x="2616" y="1170"/>
                    </a:lnTo>
                    <a:lnTo>
                      <a:pt x="2583" y="1187"/>
                    </a:lnTo>
                    <a:lnTo>
                      <a:pt x="2545" y="1208"/>
                    </a:lnTo>
                    <a:lnTo>
                      <a:pt x="2502" y="1225"/>
                    </a:lnTo>
                    <a:lnTo>
                      <a:pt x="2448" y="1241"/>
                    </a:lnTo>
                    <a:lnTo>
                      <a:pt x="2388" y="1257"/>
                    </a:lnTo>
                    <a:lnTo>
                      <a:pt x="2328" y="1274"/>
                    </a:lnTo>
                    <a:lnTo>
                      <a:pt x="2258" y="1290"/>
                    </a:lnTo>
                    <a:lnTo>
                      <a:pt x="2106" y="1328"/>
                    </a:lnTo>
                    <a:lnTo>
                      <a:pt x="1932" y="1372"/>
                    </a:lnTo>
                    <a:lnTo>
                      <a:pt x="1742" y="1421"/>
                    </a:lnTo>
                    <a:lnTo>
                      <a:pt x="1531" y="1475"/>
                    </a:lnTo>
                    <a:lnTo>
                      <a:pt x="1308" y="1540"/>
                    </a:lnTo>
                    <a:lnTo>
                      <a:pt x="1069" y="1617"/>
                    </a:lnTo>
                    <a:lnTo>
                      <a:pt x="820" y="1709"/>
                    </a:lnTo>
                    <a:lnTo>
                      <a:pt x="554" y="1818"/>
                    </a:lnTo>
                    <a:lnTo>
                      <a:pt x="282" y="1943"/>
                    </a:lnTo>
                    <a:lnTo>
                      <a:pt x="0" y="2085"/>
                    </a:lnTo>
                    <a:lnTo>
                      <a:pt x="152" y="2085"/>
                    </a:lnTo>
                    <a:lnTo>
                      <a:pt x="244" y="2074"/>
                    </a:lnTo>
                    <a:lnTo>
                      <a:pt x="386" y="1992"/>
                    </a:lnTo>
                    <a:lnTo>
                      <a:pt x="537" y="1910"/>
                    </a:lnTo>
                    <a:lnTo>
                      <a:pt x="700" y="1834"/>
                    </a:lnTo>
                    <a:lnTo>
                      <a:pt x="879" y="1763"/>
                    </a:lnTo>
                    <a:lnTo>
                      <a:pt x="1064" y="1693"/>
                    </a:lnTo>
                    <a:lnTo>
                      <a:pt x="1259" y="1622"/>
                    </a:lnTo>
                    <a:lnTo>
                      <a:pt x="1661" y="1497"/>
                    </a:lnTo>
                    <a:lnTo>
                      <a:pt x="1748" y="1470"/>
                    </a:lnTo>
                    <a:lnTo>
                      <a:pt x="1845" y="1442"/>
                    </a:lnTo>
                    <a:lnTo>
                      <a:pt x="2046" y="1393"/>
                    </a:lnTo>
                    <a:lnTo>
                      <a:pt x="2252" y="1339"/>
                    </a:lnTo>
                    <a:lnTo>
                      <a:pt x="2458" y="1285"/>
                    </a:lnTo>
                    <a:lnTo>
                      <a:pt x="2551" y="1263"/>
                    </a:lnTo>
                    <a:lnTo>
                      <a:pt x="2643" y="1236"/>
                    </a:lnTo>
                    <a:lnTo>
                      <a:pt x="2730" y="1214"/>
                    </a:lnTo>
                    <a:lnTo>
                      <a:pt x="2806" y="1192"/>
                    </a:lnTo>
                    <a:lnTo>
                      <a:pt x="2876" y="1170"/>
                    </a:lnTo>
                    <a:lnTo>
                      <a:pt x="2931" y="1149"/>
                    </a:lnTo>
                    <a:lnTo>
                      <a:pt x="2974" y="1132"/>
                    </a:lnTo>
                    <a:lnTo>
                      <a:pt x="3007" y="1116"/>
                    </a:lnTo>
                    <a:lnTo>
                      <a:pt x="3007" y="871"/>
                    </a:lnTo>
                    <a:lnTo>
                      <a:pt x="2941" y="860"/>
                    </a:lnTo>
                    <a:lnTo>
                      <a:pt x="2860" y="844"/>
                    </a:lnTo>
                    <a:lnTo>
                      <a:pt x="2773" y="827"/>
                    </a:lnTo>
                    <a:lnTo>
                      <a:pt x="2670" y="806"/>
                    </a:lnTo>
                    <a:lnTo>
                      <a:pt x="2567" y="784"/>
                    </a:lnTo>
                    <a:lnTo>
                      <a:pt x="2458" y="757"/>
                    </a:lnTo>
                    <a:lnTo>
                      <a:pt x="2241" y="702"/>
                    </a:lnTo>
                    <a:lnTo>
                      <a:pt x="2138" y="670"/>
                    </a:lnTo>
                    <a:lnTo>
                      <a:pt x="2046" y="637"/>
                    </a:lnTo>
                    <a:lnTo>
                      <a:pt x="1959" y="604"/>
                    </a:lnTo>
                    <a:lnTo>
                      <a:pt x="1883" y="566"/>
                    </a:lnTo>
                    <a:lnTo>
                      <a:pt x="1824" y="534"/>
                    </a:lnTo>
                    <a:lnTo>
                      <a:pt x="1780" y="495"/>
                    </a:lnTo>
                    <a:lnTo>
                      <a:pt x="1769" y="474"/>
                    </a:lnTo>
                    <a:lnTo>
                      <a:pt x="1758" y="457"/>
                    </a:lnTo>
                    <a:lnTo>
                      <a:pt x="1753" y="436"/>
                    </a:lnTo>
                    <a:lnTo>
                      <a:pt x="1758" y="419"/>
                    </a:lnTo>
                    <a:lnTo>
                      <a:pt x="1780" y="381"/>
                    </a:lnTo>
                    <a:lnTo>
                      <a:pt x="1813" y="343"/>
                    </a:lnTo>
                    <a:lnTo>
                      <a:pt x="1862" y="316"/>
                    </a:lnTo>
                    <a:lnTo>
                      <a:pt x="1921" y="289"/>
                    </a:lnTo>
                    <a:lnTo>
                      <a:pt x="1986" y="267"/>
                    </a:lnTo>
                    <a:lnTo>
                      <a:pt x="2062" y="245"/>
                    </a:lnTo>
                    <a:lnTo>
                      <a:pt x="2149" y="229"/>
                    </a:lnTo>
                    <a:lnTo>
                      <a:pt x="2236" y="213"/>
                    </a:lnTo>
                    <a:lnTo>
                      <a:pt x="2431" y="180"/>
                    </a:lnTo>
                    <a:lnTo>
                      <a:pt x="2627" y="158"/>
                    </a:lnTo>
                    <a:lnTo>
                      <a:pt x="2827" y="125"/>
                    </a:lnTo>
                    <a:lnTo>
                      <a:pt x="2920" y="109"/>
                    </a:lnTo>
                    <a:lnTo>
                      <a:pt x="3007" y="87"/>
                    </a:lnTo>
                    <a:lnTo>
                      <a:pt x="3007" y="0"/>
                    </a:lnTo>
                    <a:lnTo>
                      <a:pt x="2909" y="22"/>
                    </a:lnTo>
                    <a:lnTo>
                      <a:pt x="2795" y="44"/>
                    </a:lnTo>
                    <a:lnTo>
                      <a:pt x="2676" y="66"/>
                    </a:lnTo>
                    <a:lnTo>
                      <a:pt x="2551" y="82"/>
                    </a:lnTo>
                    <a:lnTo>
                      <a:pt x="2285" y="120"/>
                    </a:lnTo>
                    <a:lnTo>
                      <a:pt x="2155" y="136"/>
                    </a:lnTo>
                    <a:lnTo>
                      <a:pt x="2030" y="158"/>
                    </a:lnTo>
                    <a:lnTo>
                      <a:pt x="1905" y="174"/>
                    </a:lnTo>
                    <a:lnTo>
                      <a:pt x="1791" y="202"/>
                    </a:lnTo>
                    <a:lnTo>
                      <a:pt x="1688" y="229"/>
                    </a:lnTo>
                    <a:lnTo>
                      <a:pt x="1601" y="261"/>
                    </a:lnTo>
                    <a:lnTo>
                      <a:pt x="1525" y="300"/>
                    </a:lnTo>
                    <a:lnTo>
                      <a:pt x="1471" y="338"/>
                    </a:lnTo>
                    <a:lnTo>
                      <a:pt x="1455" y="359"/>
                    </a:lnTo>
                    <a:lnTo>
                      <a:pt x="1438" y="387"/>
                    </a:lnTo>
                    <a:lnTo>
                      <a:pt x="1427" y="414"/>
                    </a:lnTo>
                    <a:lnTo>
                      <a:pt x="1427" y="441"/>
                    </a:lnTo>
                    <a:lnTo>
                      <a:pt x="1427" y="441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06" name="Freeform 10"/>
              <p:cNvSpPr>
                <a:spLocks/>
              </p:cNvSpPr>
              <p:nvPr/>
            </p:nvSpPr>
            <p:spPr bwMode="hidden">
              <a:xfrm>
                <a:off x="4501" y="2317"/>
                <a:ext cx="1248" cy="539"/>
              </a:xfrm>
              <a:custGeom>
                <a:avLst/>
                <a:gdLst/>
                <a:ahLst/>
                <a:cxnLst>
                  <a:cxn ang="0">
                    <a:pos x="0" y="332"/>
                  </a:cxn>
                  <a:cxn ang="0">
                    <a:pos x="0" y="360"/>
                  </a:cxn>
                  <a:cxn ang="0">
                    <a:pos x="5" y="387"/>
                  </a:cxn>
                  <a:cxn ang="0">
                    <a:pos x="27" y="414"/>
                  </a:cxn>
                  <a:cxn ang="0">
                    <a:pos x="54" y="436"/>
                  </a:cxn>
                  <a:cxn ang="0">
                    <a:pos x="92" y="463"/>
                  </a:cxn>
                  <a:cxn ang="0">
                    <a:pos x="141" y="490"/>
                  </a:cxn>
                  <a:cxn ang="0">
                    <a:pos x="195" y="512"/>
                  </a:cxn>
                  <a:cxn ang="0">
                    <a:pos x="255" y="539"/>
                  </a:cxn>
                  <a:cxn ang="0">
                    <a:pos x="212" y="517"/>
                  </a:cxn>
                  <a:cxn ang="0">
                    <a:pos x="179" y="490"/>
                  </a:cxn>
                  <a:cxn ang="0">
                    <a:pos x="157" y="468"/>
                  </a:cxn>
                  <a:cxn ang="0">
                    <a:pos x="141" y="447"/>
                  </a:cxn>
                  <a:cxn ang="0">
                    <a:pos x="136" y="425"/>
                  </a:cxn>
                  <a:cxn ang="0">
                    <a:pos x="136" y="403"/>
                  </a:cxn>
                  <a:cxn ang="0">
                    <a:pos x="141" y="381"/>
                  </a:cxn>
                  <a:cxn ang="0">
                    <a:pos x="157" y="365"/>
                  </a:cxn>
                  <a:cxn ang="0">
                    <a:pos x="179" y="343"/>
                  </a:cxn>
                  <a:cxn ang="0">
                    <a:pos x="201" y="327"/>
                  </a:cxn>
                  <a:cxn ang="0">
                    <a:pos x="266" y="294"/>
                  </a:cxn>
                  <a:cxn ang="0">
                    <a:pos x="353" y="262"/>
                  </a:cxn>
                  <a:cxn ang="0">
                    <a:pos x="445" y="234"/>
                  </a:cxn>
                  <a:cxn ang="0">
                    <a:pos x="554" y="213"/>
                  </a:cxn>
                  <a:cxn ang="0">
                    <a:pos x="662" y="191"/>
                  </a:cxn>
                  <a:cxn ang="0">
                    <a:pos x="890" y="153"/>
                  </a:cxn>
                  <a:cxn ang="0">
                    <a:pos x="993" y="136"/>
                  </a:cxn>
                  <a:cxn ang="0">
                    <a:pos x="1091" y="120"/>
                  </a:cxn>
                  <a:cxn ang="0">
                    <a:pos x="1178" y="115"/>
                  </a:cxn>
                  <a:cxn ang="0">
                    <a:pos x="1248" y="104"/>
                  </a:cxn>
                  <a:cxn ang="0">
                    <a:pos x="1248" y="0"/>
                  </a:cxn>
                  <a:cxn ang="0">
                    <a:pos x="1161" y="22"/>
                  </a:cxn>
                  <a:cxn ang="0">
                    <a:pos x="1069" y="38"/>
                  </a:cxn>
                  <a:cxn ang="0">
                    <a:pos x="874" y="71"/>
                  </a:cxn>
                  <a:cxn ang="0">
                    <a:pos x="673" y="93"/>
                  </a:cxn>
                  <a:cxn ang="0">
                    <a:pos x="483" y="126"/>
                  </a:cxn>
                  <a:cxn ang="0">
                    <a:pos x="391" y="142"/>
                  </a:cxn>
                  <a:cxn ang="0">
                    <a:pos x="309" y="158"/>
                  </a:cxn>
                  <a:cxn ang="0">
                    <a:pos x="228" y="180"/>
                  </a:cxn>
                  <a:cxn ang="0">
                    <a:pos x="163" y="202"/>
                  </a:cxn>
                  <a:cxn ang="0">
                    <a:pos x="103" y="229"/>
                  </a:cxn>
                  <a:cxn ang="0">
                    <a:pos x="54" y="256"/>
                  </a:cxn>
                  <a:cxn ang="0">
                    <a:pos x="22" y="294"/>
                  </a:cxn>
                  <a:cxn ang="0">
                    <a:pos x="0" y="332"/>
                  </a:cxn>
                  <a:cxn ang="0">
                    <a:pos x="0" y="332"/>
                  </a:cxn>
                </a:cxnLst>
                <a:rect l="0" t="0" r="r" b="b"/>
                <a:pathLst>
                  <a:path w="1248" h="539">
                    <a:moveTo>
                      <a:pt x="0" y="332"/>
                    </a:moveTo>
                    <a:lnTo>
                      <a:pt x="0" y="360"/>
                    </a:lnTo>
                    <a:lnTo>
                      <a:pt x="5" y="387"/>
                    </a:lnTo>
                    <a:lnTo>
                      <a:pt x="27" y="414"/>
                    </a:lnTo>
                    <a:lnTo>
                      <a:pt x="54" y="436"/>
                    </a:lnTo>
                    <a:lnTo>
                      <a:pt x="92" y="463"/>
                    </a:lnTo>
                    <a:lnTo>
                      <a:pt x="141" y="490"/>
                    </a:lnTo>
                    <a:lnTo>
                      <a:pt x="195" y="512"/>
                    </a:lnTo>
                    <a:lnTo>
                      <a:pt x="255" y="539"/>
                    </a:lnTo>
                    <a:lnTo>
                      <a:pt x="212" y="517"/>
                    </a:lnTo>
                    <a:lnTo>
                      <a:pt x="179" y="490"/>
                    </a:lnTo>
                    <a:lnTo>
                      <a:pt x="157" y="468"/>
                    </a:lnTo>
                    <a:lnTo>
                      <a:pt x="141" y="447"/>
                    </a:lnTo>
                    <a:lnTo>
                      <a:pt x="136" y="425"/>
                    </a:lnTo>
                    <a:lnTo>
                      <a:pt x="136" y="403"/>
                    </a:lnTo>
                    <a:lnTo>
                      <a:pt x="141" y="381"/>
                    </a:lnTo>
                    <a:lnTo>
                      <a:pt x="157" y="365"/>
                    </a:lnTo>
                    <a:lnTo>
                      <a:pt x="179" y="343"/>
                    </a:lnTo>
                    <a:lnTo>
                      <a:pt x="201" y="327"/>
                    </a:lnTo>
                    <a:lnTo>
                      <a:pt x="266" y="294"/>
                    </a:lnTo>
                    <a:lnTo>
                      <a:pt x="353" y="262"/>
                    </a:lnTo>
                    <a:lnTo>
                      <a:pt x="445" y="234"/>
                    </a:lnTo>
                    <a:lnTo>
                      <a:pt x="554" y="213"/>
                    </a:lnTo>
                    <a:lnTo>
                      <a:pt x="662" y="191"/>
                    </a:lnTo>
                    <a:lnTo>
                      <a:pt x="890" y="153"/>
                    </a:lnTo>
                    <a:lnTo>
                      <a:pt x="993" y="136"/>
                    </a:lnTo>
                    <a:lnTo>
                      <a:pt x="1091" y="120"/>
                    </a:lnTo>
                    <a:lnTo>
                      <a:pt x="1178" y="115"/>
                    </a:lnTo>
                    <a:lnTo>
                      <a:pt x="1248" y="104"/>
                    </a:lnTo>
                    <a:lnTo>
                      <a:pt x="1248" y="0"/>
                    </a:lnTo>
                    <a:lnTo>
                      <a:pt x="1161" y="22"/>
                    </a:lnTo>
                    <a:lnTo>
                      <a:pt x="1069" y="38"/>
                    </a:lnTo>
                    <a:lnTo>
                      <a:pt x="874" y="71"/>
                    </a:lnTo>
                    <a:lnTo>
                      <a:pt x="673" y="93"/>
                    </a:lnTo>
                    <a:lnTo>
                      <a:pt x="483" y="126"/>
                    </a:lnTo>
                    <a:lnTo>
                      <a:pt x="391" y="142"/>
                    </a:lnTo>
                    <a:lnTo>
                      <a:pt x="309" y="158"/>
                    </a:lnTo>
                    <a:lnTo>
                      <a:pt x="228" y="180"/>
                    </a:lnTo>
                    <a:lnTo>
                      <a:pt x="163" y="202"/>
                    </a:lnTo>
                    <a:lnTo>
                      <a:pt x="103" y="229"/>
                    </a:lnTo>
                    <a:lnTo>
                      <a:pt x="54" y="256"/>
                    </a:lnTo>
                    <a:lnTo>
                      <a:pt x="22" y="294"/>
                    </a:lnTo>
                    <a:lnTo>
                      <a:pt x="0" y="332"/>
                    </a:lnTo>
                    <a:lnTo>
                      <a:pt x="0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7843"/>
                      <a:invGamma/>
                    </a:schemeClr>
                  </a:gs>
                  <a:gs pos="100000">
                    <a:schemeClr val="bg1"/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107" name="Freeform 11"/>
            <p:cNvSpPr>
              <a:spLocks/>
            </p:cNvSpPr>
            <p:nvPr/>
          </p:nvSpPr>
          <p:spPr bwMode="hidden">
            <a:xfrm>
              <a:off x="3322" y="1341"/>
              <a:ext cx="1825" cy="1537"/>
            </a:xfrm>
            <a:custGeom>
              <a:avLst/>
              <a:gdLst/>
              <a:ahLst/>
              <a:cxnLst>
                <a:cxn ang="0">
                  <a:pos x="982" y="1061"/>
                </a:cxn>
                <a:cxn ang="0">
                  <a:pos x="1357" y="1012"/>
                </a:cxn>
                <a:cxn ang="0">
                  <a:pos x="1666" y="957"/>
                </a:cxn>
                <a:cxn ang="0">
                  <a:pos x="1916" y="897"/>
                </a:cxn>
                <a:cxn ang="0">
                  <a:pos x="2100" y="832"/>
                </a:cxn>
                <a:cxn ang="0">
                  <a:pos x="2220" y="756"/>
                </a:cxn>
                <a:cxn ang="0">
                  <a:pos x="2285" y="669"/>
                </a:cxn>
                <a:cxn ang="0">
                  <a:pos x="2290" y="560"/>
                </a:cxn>
                <a:cxn ang="0">
                  <a:pos x="2241" y="457"/>
                </a:cxn>
                <a:cxn ang="0">
                  <a:pos x="2144" y="364"/>
                </a:cxn>
                <a:cxn ang="0">
                  <a:pos x="2008" y="277"/>
                </a:cxn>
                <a:cxn ang="0">
                  <a:pos x="1769" y="157"/>
                </a:cxn>
                <a:cxn ang="0">
                  <a:pos x="1612" y="92"/>
                </a:cxn>
                <a:cxn ang="0">
                  <a:pos x="1476" y="43"/>
                </a:cxn>
                <a:cxn ang="0">
                  <a:pos x="1384" y="10"/>
                </a:cxn>
                <a:cxn ang="0">
                  <a:pos x="1346" y="0"/>
                </a:cxn>
                <a:cxn ang="0">
                  <a:pos x="1655" y="119"/>
                </a:cxn>
                <a:cxn ang="0">
                  <a:pos x="1948" y="255"/>
                </a:cxn>
                <a:cxn ang="0">
                  <a:pos x="2068" y="326"/>
                </a:cxn>
                <a:cxn ang="0">
                  <a:pos x="2171" y="402"/>
                </a:cxn>
                <a:cxn ang="0">
                  <a:pos x="2236" y="478"/>
                </a:cxn>
                <a:cxn ang="0">
                  <a:pos x="2263" y="560"/>
                </a:cxn>
                <a:cxn ang="0">
                  <a:pos x="2241" y="636"/>
                </a:cxn>
                <a:cxn ang="0">
                  <a:pos x="2171" y="702"/>
                </a:cxn>
                <a:cxn ang="0">
                  <a:pos x="2062" y="756"/>
                </a:cxn>
                <a:cxn ang="0">
                  <a:pos x="1921" y="800"/>
                </a:cxn>
                <a:cxn ang="0">
                  <a:pos x="1748" y="843"/>
                </a:cxn>
                <a:cxn ang="0">
                  <a:pos x="1351" y="908"/>
                </a:cxn>
                <a:cxn ang="0">
                  <a:pos x="923" y="968"/>
                </a:cxn>
                <a:cxn ang="0">
                  <a:pos x="521" y="1028"/>
                </a:cxn>
                <a:cxn ang="0">
                  <a:pos x="353" y="1066"/>
                </a:cxn>
                <a:cxn ang="0">
                  <a:pos x="206" y="1104"/>
                </a:cxn>
                <a:cxn ang="0">
                  <a:pos x="92" y="1148"/>
                </a:cxn>
                <a:cxn ang="0">
                  <a:pos x="22" y="1202"/>
                </a:cxn>
                <a:cxn ang="0">
                  <a:pos x="0" y="1262"/>
                </a:cxn>
                <a:cxn ang="0">
                  <a:pos x="27" y="1327"/>
                </a:cxn>
                <a:cxn ang="0">
                  <a:pos x="98" y="1382"/>
                </a:cxn>
                <a:cxn ang="0">
                  <a:pos x="196" y="1425"/>
                </a:cxn>
                <a:cxn ang="0">
                  <a:pos x="326" y="1469"/>
                </a:cxn>
                <a:cxn ang="0">
                  <a:pos x="217" y="1414"/>
                </a:cxn>
                <a:cxn ang="0">
                  <a:pos x="147" y="1360"/>
                </a:cxn>
                <a:cxn ang="0">
                  <a:pos x="120" y="1306"/>
                </a:cxn>
                <a:cxn ang="0">
                  <a:pos x="141" y="1257"/>
                </a:cxn>
                <a:cxn ang="0">
                  <a:pos x="212" y="1208"/>
                </a:cxn>
                <a:cxn ang="0">
                  <a:pos x="342" y="1164"/>
                </a:cxn>
                <a:cxn ang="0">
                  <a:pos x="527" y="1121"/>
                </a:cxn>
                <a:cxn ang="0">
                  <a:pos x="771" y="1088"/>
                </a:cxn>
              </a:cxnLst>
              <a:rect l="0" t="0" r="r" b="b"/>
              <a:pathLst>
                <a:path w="2296" h="1469">
                  <a:moveTo>
                    <a:pt x="771" y="1088"/>
                  </a:moveTo>
                  <a:lnTo>
                    <a:pt x="982" y="1061"/>
                  </a:lnTo>
                  <a:lnTo>
                    <a:pt x="1178" y="1034"/>
                  </a:lnTo>
                  <a:lnTo>
                    <a:pt x="1357" y="1012"/>
                  </a:lnTo>
                  <a:lnTo>
                    <a:pt x="1520" y="985"/>
                  </a:lnTo>
                  <a:lnTo>
                    <a:pt x="1666" y="957"/>
                  </a:lnTo>
                  <a:lnTo>
                    <a:pt x="1796" y="930"/>
                  </a:lnTo>
                  <a:lnTo>
                    <a:pt x="1916" y="897"/>
                  </a:lnTo>
                  <a:lnTo>
                    <a:pt x="2013" y="870"/>
                  </a:lnTo>
                  <a:lnTo>
                    <a:pt x="2100" y="832"/>
                  </a:lnTo>
                  <a:lnTo>
                    <a:pt x="2171" y="800"/>
                  </a:lnTo>
                  <a:lnTo>
                    <a:pt x="2220" y="756"/>
                  </a:lnTo>
                  <a:lnTo>
                    <a:pt x="2263" y="712"/>
                  </a:lnTo>
                  <a:lnTo>
                    <a:pt x="2285" y="669"/>
                  </a:lnTo>
                  <a:lnTo>
                    <a:pt x="2296" y="614"/>
                  </a:lnTo>
                  <a:lnTo>
                    <a:pt x="2290" y="560"/>
                  </a:lnTo>
                  <a:lnTo>
                    <a:pt x="2269" y="500"/>
                  </a:lnTo>
                  <a:lnTo>
                    <a:pt x="2241" y="457"/>
                  </a:lnTo>
                  <a:lnTo>
                    <a:pt x="2198" y="408"/>
                  </a:lnTo>
                  <a:lnTo>
                    <a:pt x="2144" y="364"/>
                  </a:lnTo>
                  <a:lnTo>
                    <a:pt x="2079" y="321"/>
                  </a:lnTo>
                  <a:lnTo>
                    <a:pt x="2008" y="277"/>
                  </a:lnTo>
                  <a:lnTo>
                    <a:pt x="1927" y="234"/>
                  </a:lnTo>
                  <a:lnTo>
                    <a:pt x="1769" y="157"/>
                  </a:lnTo>
                  <a:lnTo>
                    <a:pt x="1688" y="125"/>
                  </a:lnTo>
                  <a:lnTo>
                    <a:pt x="1612" y="92"/>
                  </a:lnTo>
                  <a:lnTo>
                    <a:pt x="1536" y="65"/>
                  </a:lnTo>
                  <a:lnTo>
                    <a:pt x="1476" y="43"/>
                  </a:lnTo>
                  <a:lnTo>
                    <a:pt x="1422" y="27"/>
                  </a:lnTo>
                  <a:lnTo>
                    <a:pt x="1384" y="10"/>
                  </a:lnTo>
                  <a:lnTo>
                    <a:pt x="1357" y="5"/>
                  </a:lnTo>
                  <a:lnTo>
                    <a:pt x="1346" y="0"/>
                  </a:lnTo>
                  <a:lnTo>
                    <a:pt x="1498" y="54"/>
                  </a:lnTo>
                  <a:lnTo>
                    <a:pt x="1655" y="119"/>
                  </a:lnTo>
                  <a:lnTo>
                    <a:pt x="1807" y="185"/>
                  </a:lnTo>
                  <a:lnTo>
                    <a:pt x="1948" y="255"/>
                  </a:lnTo>
                  <a:lnTo>
                    <a:pt x="2013" y="288"/>
                  </a:lnTo>
                  <a:lnTo>
                    <a:pt x="2068" y="326"/>
                  </a:lnTo>
                  <a:lnTo>
                    <a:pt x="2122" y="364"/>
                  </a:lnTo>
                  <a:lnTo>
                    <a:pt x="2171" y="402"/>
                  </a:lnTo>
                  <a:lnTo>
                    <a:pt x="2209" y="440"/>
                  </a:lnTo>
                  <a:lnTo>
                    <a:pt x="2236" y="478"/>
                  </a:lnTo>
                  <a:lnTo>
                    <a:pt x="2252" y="522"/>
                  </a:lnTo>
                  <a:lnTo>
                    <a:pt x="2263" y="560"/>
                  </a:lnTo>
                  <a:lnTo>
                    <a:pt x="2258" y="598"/>
                  </a:lnTo>
                  <a:lnTo>
                    <a:pt x="2241" y="636"/>
                  </a:lnTo>
                  <a:lnTo>
                    <a:pt x="2214" y="669"/>
                  </a:lnTo>
                  <a:lnTo>
                    <a:pt x="2171" y="702"/>
                  </a:lnTo>
                  <a:lnTo>
                    <a:pt x="2122" y="729"/>
                  </a:lnTo>
                  <a:lnTo>
                    <a:pt x="2062" y="756"/>
                  </a:lnTo>
                  <a:lnTo>
                    <a:pt x="1997" y="778"/>
                  </a:lnTo>
                  <a:lnTo>
                    <a:pt x="1921" y="800"/>
                  </a:lnTo>
                  <a:lnTo>
                    <a:pt x="1834" y="821"/>
                  </a:lnTo>
                  <a:lnTo>
                    <a:pt x="1748" y="843"/>
                  </a:lnTo>
                  <a:lnTo>
                    <a:pt x="1552" y="876"/>
                  </a:lnTo>
                  <a:lnTo>
                    <a:pt x="1351" y="908"/>
                  </a:lnTo>
                  <a:lnTo>
                    <a:pt x="1134" y="941"/>
                  </a:lnTo>
                  <a:lnTo>
                    <a:pt x="923" y="968"/>
                  </a:lnTo>
                  <a:lnTo>
                    <a:pt x="716" y="995"/>
                  </a:lnTo>
                  <a:lnTo>
                    <a:pt x="521" y="1028"/>
                  </a:lnTo>
                  <a:lnTo>
                    <a:pt x="434" y="1044"/>
                  </a:lnTo>
                  <a:lnTo>
                    <a:pt x="353" y="1066"/>
                  </a:lnTo>
                  <a:lnTo>
                    <a:pt x="277" y="1082"/>
                  </a:lnTo>
                  <a:lnTo>
                    <a:pt x="206" y="1104"/>
                  </a:lnTo>
                  <a:lnTo>
                    <a:pt x="147" y="1126"/>
                  </a:lnTo>
                  <a:lnTo>
                    <a:pt x="92" y="1148"/>
                  </a:lnTo>
                  <a:lnTo>
                    <a:pt x="54" y="1175"/>
                  </a:lnTo>
                  <a:lnTo>
                    <a:pt x="22" y="1202"/>
                  </a:lnTo>
                  <a:lnTo>
                    <a:pt x="6" y="1229"/>
                  </a:lnTo>
                  <a:lnTo>
                    <a:pt x="0" y="1262"/>
                  </a:lnTo>
                  <a:lnTo>
                    <a:pt x="11" y="1295"/>
                  </a:lnTo>
                  <a:lnTo>
                    <a:pt x="27" y="1327"/>
                  </a:lnTo>
                  <a:lnTo>
                    <a:pt x="54" y="1355"/>
                  </a:lnTo>
                  <a:lnTo>
                    <a:pt x="98" y="1382"/>
                  </a:lnTo>
                  <a:lnTo>
                    <a:pt x="141" y="1404"/>
                  </a:lnTo>
                  <a:lnTo>
                    <a:pt x="196" y="1425"/>
                  </a:lnTo>
                  <a:lnTo>
                    <a:pt x="261" y="1447"/>
                  </a:lnTo>
                  <a:lnTo>
                    <a:pt x="326" y="1469"/>
                  </a:lnTo>
                  <a:lnTo>
                    <a:pt x="266" y="1442"/>
                  </a:lnTo>
                  <a:lnTo>
                    <a:pt x="217" y="1414"/>
                  </a:lnTo>
                  <a:lnTo>
                    <a:pt x="174" y="1387"/>
                  </a:lnTo>
                  <a:lnTo>
                    <a:pt x="147" y="1360"/>
                  </a:lnTo>
                  <a:lnTo>
                    <a:pt x="125" y="1333"/>
                  </a:lnTo>
                  <a:lnTo>
                    <a:pt x="120" y="1306"/>
                  </a:lnTo>
                  <a:lnTo>
                    <a:pt x="125" y="1278"/>
                  </a:lnTo>
                  <a:lnTo>
                    <a:pt x="141" y="1257"/>
                  </a:lnTo>
                  <a:lnTo>
                    <a:pt x="174" y="1229"/>
                  </a:lnTo>
                  <a:lnTo>
                    <a:pt x="212" y="1208"/>
                  </a:lnTo>
                  <a:lnTo>
                    <a:pt x="272" y="1186"/>
                  </a:lnTo>
                  <a:lnTo>
                    <a:pt x="342" y="1164"/>
                  </a:lnTo>
                  <a:lnTo>
                    <a:pt x="423" y="1142"/>
                  </a:lnTo>
                  <a:lnTo>
                    <a:pt x="527" y="1121"/>
                  </a:lnTo>
                  <a:lnTo>
                    <a:pt x="641" y="1104"/>
                  </a:lnTo>
                  <a:lnTo>
                    <a:pt x="771" y="1088"/>
                  </a:lnTo>
                  <a:lnTo>
                    <a:pt x="771" y="108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8" name="Freeform 12"/>
            <p:cNvSpPr>
              <a:spLocks/>
            </p:cNvSpPr>
            <p:nvPr/>
          </p:nvSpPr>
          <p:spPr bwMode="hidden">
            <a:xfrm>
              <a:off x="0" y="0"/>
              <a:ext cx="5758" cy="177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906"/>
                </a:cxn>
                <a:cxn ang="0">
                  <a:pos x="5740" y="1906"/>
                </a:cxn>
                <a:cxn ang="0">
                  <a:pos x="574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740" h="1906">
                  <a:moveTo>
                    <a:pt x="0" y="0"/>
                  </a:moveTo>
                  <a:lnTo>
                    <a:pt x="0" y="1906"/>
                  </a:lnTo>
                  <a:lnTo>
                    <a:pt x="5740" y="1906"/>
                  </a:lnTo>
                  <a:lnTo>
                    <a:pt x="574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109" name="Rectangle 13"/>
          <p:cNvSpPr>
            <a:spLocks noGrp="1" noRot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4110" name="Rectangle 1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 b="0"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4111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</p:sldLayoutIdLst>
  <p:timing>
    <p:tnLst>
      <p:par>
        <p:cTn id="1" dur="indefinite" restart="never" nodeType="tmRoot"/>
      </p:par>
    </p:tnLst>
  </p:timing>
  <p:txStyles>
    <p:titleStyle>
      <a:lvl1pPr algn="ctr" rtl="0" fontAlgn="base">
        <a:spcBef>
          <a:spcPct val="0"/>
        </a:spcBef>
        <a:spcAft>
          <a:spcPct val="0"/>
        </a:spcAft>
        <a:defRPr sz="4400" b="1">
          <a:solidFill>
            <a:schemeClr val="hlink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 b="1">
          <a:solidFill>
            <a:schemeClr val="hlink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4400" b="1">
          <a:solidFill>
            <a:schemeClr val="hlink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4400" b="1">
          <a:solidFill>
            <a:schemeClr val="hlink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4400" b="1">
          <a:solidFill>
            <a:schemeClr val="hlink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chemeClr val="hlink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chemeClr val="hlink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chemeClr val="hlink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chemeClr val="hlink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n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itchFamily="2" charset="2"/>
        <a:buChar char="n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1.vml"/><Relationship Id="rId4" Type="http://schemas.openxmlformats.org/officeDocument/2006/relationships/oleObject" Target="../embeddings/oleObject1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2.vml"/><Relationship Id="rId4" Type="http://schemas.openxmlformats.org/officeDocument/2006/relationships/oleObject" Target="../embeddings/oleObject2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3.vml"/><Relationship Id="rId4" Type="http://schemas.openxmlformats.org/officeDocument/2006/relationships/oleObject" Target="../embeddings/oleObject3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4.vml"/><Relationship Id="rId4" Type="http://schemas.openxmlformats.org/officeDocument/2006/relationships/oleObject" Target="../embeddings/oleObject4.bin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6.xml"/><Relationship Id="rId1" Type="http://schemas.openxmlformats.org/officeDocument/2006/relationships/vmlDrawing" Target="../drawings/vmlDrawing5.vml"/><Relationship Id="rId4" Type="http://schemas.openxmlformats.org/officeDocument/2006/relationships/oleObject" Target="../embeddings/oleObject5.bin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6.xml"/><Relationship Id="rId1" Type="http://schemas.openxmlformats.org/officeDocument/2006/relationships/vmlDrawing" Target="../drawings/vmlDrawing6.vml"/><Relationship Id="rId4" Type="http://schemas.openxmlformats.org/officeDocument/2006/relationships/oleObject" Target="../embeddings/oleObject6.bin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31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143000"/>
            <a:ext cx="7772400" cy="1920875"/>
          </a:xfrm>
        </p:spPr>
        <p:txBody>
          <a:bodyPr/>
          <a:lstStyle/>
          <a:p>
            <a:r>
              <a:rPr lang="en-US" sz="5400"/>
              <a:t>VA Heart Failure and IHI’s Five Million Lives Campaign</a:t>
            </a:r>
          </a:p>
        </p:txBody>
      </p:sp>
      <p:sp>
        <p:nvSpPr>
          <p:cNvPr id="26931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21336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800"/>
              <a:t>Paul Heidenreich MD, MS</a:t>
            </a:r>
          </a:p>
          <a:p>
            <a:pPr>
              <a:lnSpc>
                <a:spcPct val="90000"/>
              </a:lnSpc>
            </a:pPr>
            <a:r>
              <a:rPr lang="en-US" sz="2800"/>
              <a:t>Barry Massie MD</a:t>
            </a:r>
          </a:p>
          <a:p>
            <a:pPr>
              <a:lnSpc>
                <a:spcPct val="90000"/>
              </a:lnSpc>
            </a:pPr>
            <a:r>
              <a:rPr lang="en-US" sz="2800"/>
              <a:t>Anju Sahay PhD</a:t>
            </a:r>
          </a:p>
          <a:p>
            <a:pPr>
              <a:lnSpc>
                <a:spcPct val="90000"/>
              </a:lnSpc>
            </a:pPr>
            <a:r>
              <a:rPr lang="en-US" sz="2800"/>
              <a:t>Robert Jesse MD, PhD</a:t>
            </a:r>
          </a:p>
          <a:p>
            <a:pPr>
              <a:lnSpc>
                <a:spcPct val="90000"/>
              </a:lnSpc>
            </a:pPr>
            <a:r>
              <a:rPr lang="en-US" sz="2800"/>
              <a:t>7/9/2007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010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/>
              <a:t>The Institute for Healthcare Improvement (IHI)</a:t>
            </a:r>
            <a:endParaRPr lang="en-US" sz="3600" b="0"/>
          </a:p>
        </p:txBody>
      </p:sp>
      <p:sp>
        <p:nvSpPr>
          <p:cNvPr id="29901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 lang="en-US" sz="2800"/>
              <a:t>Save 100,000 lives campaign</a:t>
            </a:r>
          </a:p>
          <a:p>
            <a:pPr lvl="1"/>
            <a:r>
              <a:rPr lang="en-US"/>
              <a:t>Reduce hospital mortality</a:t>
            </a:r>
          </a:p>
          <a:p>
            <a:pPr lvl="2"/>
            <a:r>
              <a:rPr lang="en-US" sz="2800"/>
              <a:t>Rapid response teams</a:t>
            </a:r>
          </a:p>
          <a:p>
            <a:pPr lvl="2"/>
            <a:r>
              <a:rPr lang="en-US" sz="2800"/>
              <a:t>Better acute MI Care</a:t>
            </a:r>
          </a:p>
          <a:p>
            <a:pPr lvl="2"/>
            <a:r>
              <a:rPr lang="en-US" sz="2800"/>
              <a:t>Prevent adverse drug events</a:t>
            </a:r>
          </a:p>
          <a:p>
            <a:pPr lvl="2"/>
            <a:r>
              <a:rPr lang="en-US" sz="2800"/>
              <a:t>Prevent central line infections</a:t>
            </a:r>
          </a:p>
          <a:p>
            <a:pPr lvl="2"/>
            <a:r>
              <a:rPr lang="en-US" sz="2800"/>
              <a:t>Prevent ventilator-associated pneumonia</a:t>
            </a:r>
          </a:p>
          <a:p>
            <a:pPr lvl="2"/>
            <a:r>
              <a:rPr lang="en-US" sz="2800"/>
              <a:t>Prevent surgical site infections</a:t>
            </a:r>
            <a:endParaRPr lang="en-US" sz="2800">
              <a:solidFill>
                <a:srgbClr val="000066"/>
              </a:solidFill>
            </a:endParaRPr>
          </a:p>
        </p:txBody>
      </p:sp>
      <p:pic>
        <p:nvPicPr>
          <p:cNvPr id="299015" name="Picture 7" descr="100k lives logo, 500px wide"/>
          <p:cNvPicPr>
            <a:picLocks noChangeAspect="1" noChangeArrowheads="1"/>
          </p:cNvPicPr>
          <p:nvPr>
            <p:ph sz="half" idx="2"/>
          </p:nvPr>
        </p:nvPicPr>
        <p:blipFill>
          <a:blip r:embed="rId3"/>
          <a:srcRect/>
          <a:stretch>
            <a:fillRect/>
          </a:stretch>
        </p:blipFill>
        <p:spPr>
          <a:xfrm>
            <a:off x="5105400" y="5719763"/>
            <a:ext cx="4038600" cy="1138237"/>
          </a:xfrm>
          <a:noFill/>
          <a:ln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658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100K Lives Campaign</a:t>
            </a:r>
            <a:endParaRPr lang="en-US" b="0"/>
          </a:p>
        </p:txBody>
      </p:sp>
      <p:sp>
        <p:nvSpPr>
          <p:cNvPr id="32665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2438400"/>
            <a:ext cx="8153400" cy="2209800"/>
          </a:xfrm>
        </p:spPr>
        <p:txBody>
          <a:bodyPr/>
          <a:lstStyle/>
          <a:p>
            <a:r>
              <a:rPr lang="en-US" sz="2800"/>
              <a:t>3100 Hospitals participated</a:t>
            </a:r>
          </a:p>
          <a:p>
            <a:pPr lvl="1"/>
            <a:r>
              <a:rPr lang="en-US" sz="2400"/>
              <a:t>18 months</a:t>
            </a:r>
          </a:p>
          <a:p>
            <a:r>
              <a:rPr lang="en-US" sz="2800"/>
              <a:t>124,000 lives saved</a:t>
            </a:r>
          </a:p>
        </p:txBody>
      </p:sp>
      <p:pic>
        <p:nvPicPr>
          <p:cNvPr id="326662" name="Picture 6" descr="100k lives logo, 500px wide"/>
          <p:cNvPicPr>
            <a:picLocks noChangeAspect="1" noChangeArrowheads="1"/>
          </p:cNvPicPr>
          <p:nvPr>
            <p:ph sz="quarter" idx="3"/>
          </p:nvPr>
        </p:nvPicPr>
        <p:blipFill>
          <a:blip r:embed="rId3"/>
          <a:srcRect/>
          <a:stretch>
            <a:fillRect/>
          </a:stretch>
        </p:blipFill>
        <p:spPr>
          <a:xfrm>
            <a:off x="5105400" y="5719763"/>
            <a:ext cx="4038600" cy="1138237"/>
          </a:xfrm>
          <a:noFill/>
          <a:ln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3590" name="Picture 6" descr="IMPACT_new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371600" y="382588"/>
            <a:ext cx="6934200" cy="1958975"/>
          </a:xfrm>
          <a:prstGeom prst="rect">
            <a:avLst/>
          </a:prstGeom>
          <a:noFill/>
        </p:spPr>
      </p:pic>
      <p:pic>
        <p:nvPicPr>
          <p:cNvPr id="323592" name="Picture 8" descr="IMPACT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04800" y="2546350"/>
            <a:ext cx="6553200" cy="4311650"/>
          </a:xfrm>
          <a:prstGeom prst="rect">
            <a:avLst/>
          </a:prstGeom>
          <a:noFill/>
        </p:spPr>
      </p:pic>
      <p:sp>
        <p:nvSpPr>
          <p:cNvPr id="323593" name="Text Box 9"/>
          <p:cNvSpPr txBox="1">
            <a:spLocks noChangeArrowheads="1"/>
          </p:cNvSpPr>
          <p:nvPr/>
        </p:nvSpPr>
        <p:spPr bwMode="auto">
          <a:xfrm>
            <a:off x="7010400" y="3048000"/>
            <a:ext cx="1885950" cy="1552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u="sng">
                <a:solidFill>
                  <a:schemeClr val="hlink"/>
                </a:solidFill>
              </a:rPr>
              <a:t>VA Members</a:t>
            </a:r>
          </a:p>
          <a:p>
            <a:r>
              <a:rPr lang="en-US" sz="2400" b="0">
                <a:solidFill>
                  <a:schemeClr val="hlink"/>
                </a:solidFill>
              </a:rPr>
              <a:t>West Roxbury</a:t>
            </a:r>
          </a:p>
          <a:p>
            <a:r>
              <a:rPr lang="en-US" sz="2400" b="0">
                <a:solidFill>
                  <a:schemeClr val="hlink"/>
                </a:solidFill>
              </a:rPr>
              <a:t>Tampa</a:t>
            </a:r>
          </a:p>
          <a:p>
            <a:r>
              <a:rPr lang="en-US" sz="2400" b="0">
                <a:solidFill>
                  <a:schemeClr val="hlink"/>
                </a:solidFill>
              </a:rPr>
              <a:t>VISN 23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051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09600" y="762000"/>
            <a:ext cx="8039100" cy="3789363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130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4000"/>
              <a:t>The Institute for Healthcare Improvement</a:t>
            </a:r>
            <a:endParaRPr lang="en-US" sz="4000" b="0"/>
          </a:p>
        </p:txBody>
      </p:sp>
      <p:sp>
        <p:nvSpPr>
          <p:cNvPr id="304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951038"/>
            <a:ext cx="8458200" cy="452596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Many more patients are </a:t>
            </a:r>
            <a:r>
              <a:rPr lang="en-US" b="1" u="sng"/>
              <a:t>harmed</a:t>
            </a:r>
            <a:r>
              <a:rPr lang="en-US"/>
              <a:t> than killed</a:t>
            </a:r>
          </a:p>
          <a:p>
            <a:pPr lvl="1">
              <a:lnSpc>
                <a:spcPct val="90000"/>
              </a:lnSpc>
            </a:pPr>
            <a:endParaRPr lang="en-US"/>
          </a:p>
          <a:p>
            <a:pPr lvl="1">
              <a:lnSpc>
                <a:spcPct val="90000"/>
              </a:lnSpc>
            </a:pPr>
            <a:r>
              <a:rPr lang="en-US"/>
              <a:t>37 million hospitalizations/year in the US</a:t>
            </a:r>
          </a:p>
          <a:p>
            <a:pPr lvl="1">
              <a:lnSpc>
                <a:spcPct val="90000"/>
              </a:lnSpc>
            </a:pPr>
            <a:r>
              <a:rPr lang="en-US"/>
              <a:t>40-50 injuries/100 admissions</a:t>
            </a:r>
          </a:p>
          <a:p>
            <a:pPr lvl="1">
              <a:lnSpc>
                <a:spcPct val="90000"/>
              </a:lnSpc>
            </a:pPr>
            <a:r>
              <a:rPr lang="en-US"/>
              <a:t>15 million are harmed/year in US hospitals</a:t>
            </a:r>
          </a:p>
          <a:p>
            <a:pPr lvl="2">
              <a:lnSpc>
                <a:spcPct val="90000"/>
              </a:lnSpc>
            </a:pPr>
            <a:r>
              <a:rPr lang="en-US"/>
              <a:t>40,000 / day</a:t>
            </a:r>
          </a:p>
          <a:p>
            <a:pPr lvl="1">
              <a:lnSpc>
                <a:spcPct val="90000"/>
              </a:lnSpc>
            </a:pPr>
            <a:endParaRPr lang="en-US"/>
          </a:p>
          <a:p>
            <a:pPr>
              <a:lnSpc>
                <a:spcPct val="90000"/>
              </a:lnSpc>
            </a:pPr>
            <a:r>
              <a:rPr lang="en-US" b="1"/>
              <a:t>Goal:  	Eliminate harm to 5 million 				patients over the next two years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058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/>
              <a:t>IHI Definition of Medical Harm</a:t>
            </a:r>
          </a:p>
        </p:txBody>
      </p:sp>
      <p:sp>
        <p:nvSpPr>
          <p:cNvPr id="30105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8077200" cy="3200400"/>
          </a:xfrm>
        </p:spPr>
        <p:txBody>
          <a:bodyPr/>
          <a:lstStyle/>
          <a:p>
            <a:pPr>
              <a:lnSpc>
                <a:spcPct val="110000"/>
              </a:lnSpc>
              <a:buFont typeface="Wingdings" pitchFamily="2" charset="2"/>
              <a:buNone/>
            </a:pPr>
            <a:r>
              <a:rPr lang="en-US" sz="2800"/>
              <a:t>	Unintended physical injury resulting from or contributed to by medical care (including the absence of indicated medical treatment), that requires additional monitoring, treatment or hospitalization, or that results in death.</a:t>
            </a:r>
          </a:p>
          <a:p>
            <a:pPr>
              <a:lnSpc>
                <a:spcPct val="110000"/>
              </a:lnSpc>
              <a:buFont typeface="Wingdings" pitchFamily="2" charset="2"/>
              <a:buNone/>
            </a:pPr>
            <a:endParaRPr lang="en-US" sz="2800"/>
          </a:p>
        </p:txBody>
      </p:sp>
      <p:pic>
        <p:nvPicPr>
          <p:cNvPr id="301060" name="Picture 4"/>
          <p:cNvPicPr>
            <a:picLocks noChangeAspect="1" noChangeArrowheads="1"/>
          </p:cNvPicPr>
          <p:nvPr>
            <p:ph sz="half" idx="2"/>
          </p:nvPr>
        </p:nvPicPr>
        <p:blipFill>
          <a:blip r:embed="rId3"/>
          <a:srcRect/>
          <a:stretch>
            <a:fillRect/>
          </a:stretch>
        </p:blipFill>
        <p:spPr>
          <a:xfrm>
            <a:off x="6477000" y="5600700"/>
            <a:ext cx="2667000" cy="1257300"/>
          </a:xfrm>
          <a:noFill/>
          <a:ln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IHI</a:t>
            </a:r>
            <a:br>
              <a:rPr lang="en-US" sz="4000"/>
            </a:br>
            <a:r>
              <a:rPr lang="en-US" sz="4000"/>
              <a:t>Save 5 Million Lives From Harm </a:t>
            </a:r>
          </a:p>
        </p:txBody>
      </p:sp>
      <p:sp>
        <p:nvSpPr>
          <p:cNvPr id="30515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7543800" cy="35052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800"/>
              <a:t>Prevent pressure ulcers</a:t>
            </a:r>
          </a:p>
          <a:p>
            <a:pPr>
              <a:lnSpc>
                <a:spcPct val="90000"/>
              </a:lnSpc>
            </a:pPr>
            <a:r>
              <a:rPr lang="en-US" sz="2800"/>
              <a:t>Reduce MRSA</a:t>
            </a:r>
          </a:p>
          <a:p>
            <a:pPr>
              <a:lnSpc>
                <a:spcPct val="90000"/>
              </a:lnSpc>
            </a:pPr>
            <a:r>
              <a:rPr lang="en-US" sz="2800"/>
              <a:t>Prevent harm from high-alert medications</a:t>
            </a:r>
          </a:p>
          <a:p>
            <a:pPr>
              <a:lnSpc>
                <a:spcPct val="90000"/>
              </a:lnSpc>
            </a:pPr>
            <a:r>
              <a:rPr lang="en-US" sz="2800"/>
              <a:t>Reduce Surgical Complications</a:t>
            </a:r>
          </a:p>
          <a:p>
            <a:pPr>
              <a:lnSpc>
                <a:spcPct val="90000"/>
              </a:lnSpc>
            </a:pPr>
            <a:r>
              <a:rPr lang="en-US" sz="2800" b="1">
                <a:solidFill>
                  <a:srgbClr val="66FFFF"/>
                </a:solidFill>
              </a:rPr>
              <a:t>Deliver reliable </a:t>
            </a:r>
            <a:r>
              <a:rPr lang="en-US" sz="2800" b="1" u="sng">
                <a:solidFill>
                  <a:srgbClr val="66FFFF"/>
                </a:solidFill>
              </a:rPr>
              <a:t>evidence</a:t>
            </a:r>
            <a:r>
              <a:rPr lang="en-US" sz="2800" b="1">
                <a:solidFill>
                  <a:srgbClr val="66FFFF"/>
                </a:solidFill>
              </a:rPr>
              <a:t>-</a:t>
            </a:r>
            <a:r>
              <a:rPr lang="en-US" sz="2800" b="1" u="sng">
                <a:solidFill>
                  <a:srgbClr val="66FFFF"/>
                </a:solidFill>
              </a:rPr>
              <a:t>based</a:t>
            </a:r>
            <a:r>
              <a:rPr lang="en-US" sz="2800" b="1">
                <a:solidFill>
                  <a:srgbClr val="66FFFF"/>
                </a:solidFill>
              </a:rPr>
              <a:t> care for heart failure</a:t>
            </a:r>
          </a:p>
          <a:p>
            <a:pPr>
              <a:lnSpc>
                <a:spcPct val="90000"/>
              </a:lnSpc>
            </a:pPr>
            <a:r>
              <a:rPr lang="en-US" sz="2800"/>
              <a:t>Get boards on board</a:t>
            </a:r>
          </a:p>
        </p:txBody>
      </p:sp>
      <p:pic>
        <p:nvPicPr>
          <p:cNvPr id="305158" name="Picture 6"/>
          <p:cNvPicPr>
            <a:picLocks noChangeAspect="1" noChangeArrowheads="1"/>
          </p:cNvPicPr>
          <p:nvPr>
            <p:ph sz="half" idx="2"/>
          </p:nvPr>
        </p:nvPicPr>
        <p:blipFill>
          <a:blip r:embed="rId3"/>
          <a:srcRect/>
          <a:stretch>
            <a:fillRect/>
          </a:stretch>
        </p:blipFill>
        <p:spPr>
          <a:xfrm>
            <a:off x="6324600" y="5529263"/>
            <a:ext cx="2819400" cy="1328737"/>
          </a:xfrm>
          <a:noFill/>
          <a:ln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890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IHI 5 Million Lives Campaign: </a:t>
            </a:r>
            <a:br>
              <a:rPr lang="en-US" sz="4000"/>
            </a:br>
            <a:r>
              <a:rPr lang="en-US" sz="4000"/>
              <a:t>Heart Failure</a:t>
            </a:r>
          </a:p>
        </p:txBody>
      </p:sp>
      <p:sp>
        <p:nvSpPr>
          <p:cNvPr id="29389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8229600" cy="3124200"/>
          </a:xfrm>
        </p:spPr>
        <p:txBody>
          <a:bodyPr/>
          <a:lstStyle/>
          <a:p>
            <a:r>
              <a:rPr lang="en-US" sz="2800"/>
              <a:t>Goal:  Deliver reliable evidence-based care for congestive heart failure … to reduce admissions.</a:t>
            </a:r>
          </a:p>
          <a:p>
            <a:pPr lvl="1"/>
            <a:r>
              <a:rPr lang="en-US" sz="2400"/>
              <a:t>Reduce the readmission rate by 50% by December 2008</a:t>
            </a:r>
          </a:p>
        </p:txBody>
      </p:sp>
      <p:pic>
        <p:nvPicPr>
          <p:cNvPr id="293895" name="Picture 7"/>
          <p:cNvPicPr>
            <a:picLocks noChangeAspect="1" noChangeArrowheads="1"/>
          </p:cNvPicPr>
          <p:nvPr>
            <p:ph sz="half" idx="2"/>
          </p:nvPr>
        </p:nvPicPr>
        <p:blipFill>
          <a:blip r:embed="rId3"/>
          <a:srcRect/>
          <a:stretch>
            <a:fillRect/>
          </a:stretch>
        </p:blipFill>
        <p:spPr>
          <a:xfrm>
            <a:off x="6629400" y="5672138"/>
            <a:ext cx="2514600" cy="1185862"/>
          </a:xfrm>
          <a:noFill/>
          <a:ln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91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Heart Failure Key Interventions</a:t>
            </a:r>
          </a:p>
        </p:txBody>
      </p:sp>
      <p:sp>
        <p:nvSpPr>
          <p:cNvPr id="294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/>
              <a:t>Measure Left Ventricular Ejection Fraction (EF)</a:t>
            </a:r>
          </a:p>
          <a:p>
            <a:r>
              <a:rPr lang="en-US" sz="2800"/>
              <a:t>ACE inhibitor or ARB at Discharge if EF&lt;40%</a:t>
            </a:r>
          </a:p>
          <a:p>
            <a:r>
              <a:rPr lang="en-US" sz="2800"/>
              <a:t>Anticoagulation if Atrial Fib. at Discharge</a:t>
            </a:r>
          </a:p>
          <a:p>
            <a:r>
              <a:rPr lang="en-US" sz="2800"/>
              <a:t>Influenza vaccine</a:t>
            </a:r>
          </a:p>
          <a:p>
            <a:r>
              <a:rPr lang="en-US" sz="2800"/>
              <a:t>Pneumoccocal vaccine</a:t>
            </a:r>
          </a:p>
          <a:p>
            <a:r>
              <a:rPr lang="en-US" sz="2800"/>
              <a:t>Smoking Cessation counseling</a:t>
            </a:r>
          </a:p>
          <a:p>
            <a:r>
              <a:rPr lang="en-US" sz="2800"/>
              <a:t>Discharge instructions</a:t>
            </a:r>
          </a:p>
        </p:txBody>
      </p:sp>
      <p:sp>
        <p:nvSpPr>
          <p:cNvPr id="294916" name="Text Box 4"/>
          <p:cNvSpPr txBox="1">
            <a:spLocks noChangeArrowheads="1"/>
          </p:cNvSpPr>
          <p:nvPr/>
        </p:nvSpPr>
        <p:spPr bwMode="auto">
          <a:xfrm>
            <a:off x="1143000" y="6172200"/>
            <a:ext cx="75374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latin typeface="Arial" charset="0"/>
              </a:rPr>
              <a:t>CMS: in 2005 only 54% of eligible patients received all interventions</a:t>
            </a:r>
          </a:p>
        </p:txBody>
      </p:sp>
      <p:sp>
        <p:nvSpPr>
          <p:cNvPr id="294917" name="Text Box 5"/>
          <p:cNvSpPr txBox="1">
            <a:spLocks noChangeArrowheads="1"/>
          </p:cNvSpPr>
          <p:nvPr/>
        </p:nvSpPr>
        <p:spPr bwMode="auto">
          <a:xfrm>
            <a:off x="5638800" y="152400"/>
            <a:ext cx="32702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latin typeface="Arial" charset="0"/>
              </a:rPr>
              <a:t>IHI 5 Million Lives Campaign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938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Heart Failure </a:t>
            </a:r>
            <a:br>
              <a:rPr lang="en-US" sz="4000"/>
            </a:br>
            <a:r>
              <a:rPr lang="en-US" sz="4000"/>
              <a:t>Other Interventions to Consider</a:t>
            </a:r>
          </a:p>
        </p:txBody>
      </p:sp>
      <p:sp>
        <p:nvSpPr>
          <p:cNvPr id="2959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Beta-Blocker at Discharge if EF&lt;40%</a:t>
            </a:r>
          </a:p>
          <a:p>
            <a:r>
              <a:rPr lang="en-US"/>
              <a:t>Discharge Contract</a:t>
            </a:r>
          </a:p>
          <a:p>
            <a:r>
              <a:rPr lang="en-US"/>
              <a:t>Statins for coronary disease</a:t>
            </a:r>
          </a:p>
          <a:p>
            <a:r>
              <a:rPr lang="en-US"/>
              <a:t>Spironolactone for certain high risk patients</a:t>
            </a:r>
          </a:p>
          <a:p>
            <a:pPr>
              <a:buFont typeface="Wingdings" pitchFamily="2" charset="2"/>
              <a:buNone/>
            </a:pPr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62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Getting Started</a:t>
            </a:r>
          </a:p>
        </p:txBody>
      </p:sp>
      <p:sp>
        <p:nvSpPr>
          <p:cNvPr id="296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/>
              <a:t>Form a team</a:t>
            </a:r>
          </a:p>
          <a:p>
            <a:pPr lvl="1"/>
            <a:r>
              <a:rPr lang="en-US" sz="2400"/>
              <a:t>Focus on a specific cohort (e.g. those being discharged home)</a:t>
            </a:r>
          </a:p>
          <a:p>
            <a:r>
              <a:rPr lang="en-US" sz="2800"/>
              <a:t>Standardize Protocols</a:t>
            </a:r>
          </a:p>
          <a:p>
            <a:pPr lvl="1"/>
            <a:r>
              <a:rPr lang="en-US" sz="2400"/>
              <a:t>Nursing</a:t>
            </a:r>
          </a:p>
          <a:p>
            <a:pPr lvl="1"/>
            <a:r>
              <a:rPr lang="en-US" sz="2400"/>
              <a:t>Discharge</a:t>
            </a:r>
          </a:p>
          <a:p>
            <a:r>
              <a:rPr lang="en-US" sz="2800"/>
              <a:t>Link treatment orders to results of EF testing</a:t>
            </a:r>
          </a:p>
          <a:p>
            <a:pPr lvl="1"/>
            <a:r>
              <a:rPr lang="en-US" sz="2400"/>
              <a:t>Need to capture the LVEF numerically</a:t>
            </a:r>
          </a:p>
          <a:p>
            <a:r>
              <a:rPr lang="en-US" sz="2800"/>
              <a:t>Use Case Managers</a:t>
            </a:r>
          </a:p>
        </p:txBody>
      </p:sp>
      <p:sp>
        <p:nvSpPr>
          <p:cNvPr id="296964" name="Text Box 4"/>
          <p:cNvSpPr txBox="1">
            <a:spLocks noChangeArrowheads="1"/>
          </p:cNvSpPr>
          <p:nvPr/>
        </p:nvSpPr>
        <p:spPr bwMode="auto">
          <a:xfrm>
            <a:off x="5638800" y="152400"/>
            <a:ext cx="32702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latin typeface="Arial" charset="0"/>
              </a:rPr>
              <a:t>IHI 5 Million Lives Campaign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986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Discharge Checklist</a:t>
            </a:r>
          </a:p>
        </p:txBody>
      </p:sp>
      <p:sp>
        <p:nvSpPr>
          <p:cNvPr id="297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Reconcile Medications</a:t>
            </a:r>
          </a:p>
          <a:p>
            <a:pPr>
              <a:lnSpc>
                <a:spcPct val="90000"/>
              </a:lnSpc>
            </a:pPr>
            <a:r>
              <a:rPr lang="en-US"/>
              <a:t>Teach Back</a:t>
            </a:r>
          </a:p>
          <a:p>
            <a:pPr>
              <a:lnSpc>
                <a:spcPct val="90000"/>
              </a:lnSpc>
            </a:pPr>
            <a:r>
              <a:rPr lang="en-US"/>
              <a:t>Follow up phone call in 48 hours</a:t>
            </a:r>
          </a:p>
          <a:p>
            <a:pPr lvl="1">
              <a:lnSpc>
                <a:spcPct val="90000"/>
              </a:lnSpc>
            </a:pPr>
            <a:r>
              <a:rPr lang="en-US"/>
              <a:t>Medication check</a:t>
            </a:r>
          </a:p>
          <a:p>
            <a:pPr>
              <a:lnSpc>
                <a:spcPct val="90000"/>
              </a:lnSpc>
            </a:pPr>
            <a:r>
              <a:rPr lang="en-US"/>
              <a:t>Physician visit</a:t>
            </a:r>
          </a:p>
          <a:p>
            <a:pPr lvl="1">
              <a:lnSpc>
                <a:spcPct val="90000"/>
              </a:lnSpc>
            </a:pPr>
            <a:r>
              <a:rPr lang="en-US"/>
              <a:t>1 week for average risk patients</a:t>
            </a:r>
          </a:p>
          <a:p>
            <a:pPr lvl="1">
              <a:lnSpc>
                <a:spcPct val="90000"/>
              </a:lnSpc>
            </a:pPr>
            <a:r>
              <a:rPr lang="en-US"/>
              <a:t>48 hours for high risk patients</a:t>
            </a:r>
          </a:p>
          <a:p>
            <a:pPr>
              <a:lnSpc>
                <a:spcPct val="90000"/>
              </a:lnSpc>
            </a:pPr>
            <a:r>
              <a:rPr lang="en-US"/>
              <a:t>Case management for high risk patients</a:t>
            </a:r>
          </a:p>
        </p:txBody>
      </p:sp>
      <p:sp>
        <p:nvSpPr>
          <p:cNvPr id="297988" name="Text Box 4"/>
          <p:cNvSpPr txBox="1">
            <a:spLocks noChangeArrowheads="1"/>
          </p:cNvSpPr>
          <p:nvPr/>
        </p:nvSpPr>
        <p:spPr bwMode="auto">
          <a:xfrm>
            <a:off x="5638800" y="152400"/>
            <a:ext cx="32702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latin typeface="Arial" charset="0"/>
              </a:rPr>
              <a:t>IHI 5 Million Lives Campaign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866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IHI:  Recommended Actions</a:t>
            </a:r>
          </a:p>
        </p:txBody>
      </p:sp>
      <p:sp>
        <p:nvSpPr>
          <p:cNvPr id="29286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905000"/>
            <a:ext cx="7924800" cy="35814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Identify population of patients with CHF</a:t>
            </a:r>
          </a:p>
          <a:p>
            <a:pPr>
              <a:lnSpc>
                <a:spcPct val="90000"/>
              </a:lnSpc>
            </a:pPr>
            <a:r>
              <a:rPr lang="en-US"/>
              <a:t>Develop standard order sets/protocols </a:t>
            </a:r>
          </a:p>
          <a:p>
            <a:pPr>
              <a:lnSpc>
                <a:spcPct val="90000"/>
              </a:lnSpc>
            </a:pPr>
            <a:r>
              <a:rPr lang="en-US"/>
              <a:t>Implement process for reliably providing automatic smoking cessation counseling for all patients identified on admission with smoking history</a:t>
            </a:r>
          </a:p>
          <a:p>
            <a:pPr>
              <a:lnSpc>
                <a:spcPct val="90000"/>
              </a:lnSpc>
            </a:pPr>
            <a:r>
              <a:rPr lang="en-US"/>
              <a:t>Implement process for automatically providing pneumococcal and influenza vaccine</a:t>
            </a:r>
          </a:p>
        </p:txBody>
      </p:sp>
      <p:pic>
        <p:nvPicPr>
          <p:cNvPr id="292869" name="Picture 5" descr="IHI_LogoColor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239000" y="6019800"/>
            <a:ext cx="1676400" cy="65881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706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IHI:  Recommended Actions</a:t>
            </a:r>
          </a:p>
        </p:txBody>
      </p:sp>
      <p:sp>
        <p:nvSpPr>
          <p:cNvPr id="328708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57200" y="1295400"/>
            <a:ext cx="7924800" cy="4648200"/>
          </a:xfrm>
        </p:spPr>
        <p:txBody>
          <a:bodyPr/>
          <a:lstStyle/>
          <a:p>
            <a:r>
              <a:rPr lang="en-US"/>
              <a:t>Begin discharge assessment and teaching on admission</a:t>
            </a:r>
          </a:p>
          <a:p>
            <a:r>
              <a:rPr lang="en-US"/>
              <a:t>Standardize CHF teaching elements and ensure skill of staff who are teaching patients</a:t>
            </a:r>
          </a:p>
          <a:p>
            <a:r>
              <a:rPr lang="en-US"/>
              <a:t>Use “Ask Me 3” and Teachback methods to ensure “same pageness” with patient</a:t>
            </a:r>
          </a:p>
          <a:p>
            <a:r>
              <a:rPr lang="en-US"/>
              <a:t>Establish linkages with home health and primary care for each patient</a:t>
            </a:r>
          </a:p>
          <a:p>
            <a:r>
              <a:rPr lang="en-US"/>
              <a:t>Assess each patient’s situation for ability to follow through on discharge instructions and ensure barriers are addressed</a:t>
            </a:r>
          </a:p>
          <a:p>
            <a:endParaRPr lang="en-US"/>
          </a:p>
        </p:txBody>
      </p:sp>
      <p:pic>
        <p:nvPicPr>
          <p:cNvPr id="328709" name="Picture 5" descr="IHI_LogoColor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239000" y="6019800"/>
            <a:ext cx="1676400" cy="65881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22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Process of Care VA and CMS</a:t>
            </a:r>
          </a:p>
        </p:txBody>
      </p:sp>
      <p:sp>
        <p:nvSpPr>
          <p:cNvPr id="3379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5698" name="Object 2"/>
          <p:cNvGraphicFramePr>
            <a:graphicFrameLocks noChangeAspect="1"/>
          </p:cNvGraphicFramePr>
          <p:nvPr>
            <p:ph/>
          </p:nvPr>
        </p:nvGraphicFramePr>
        <p:xfrm>
          <a:off x="1241425" y="1295400"/>
          <a:ext cx="7421563" cy="5314950"/>
        </p:xfrm>
        <a:graphic>
          <a:graphicData uri="http://schemas.openxmlformats.org/presentationml/2006/ole">
            <p:oleObj spid="_x0000_s285698" name="Chart" r:id="rId4" imgW="8220151" imgH="5886602" progId="MSGraph.Chart.8">
              <p:embed followColorScheme="full"/>
            </p:oleObj>
          </a:graphicData>
        </a:graphic>
      </p:graphicFrame>
      <p:sp>
        <p:nvSpPr>
          <p:cNvPr id="285699" name="Text Box 3"/>
          <p:cNvSpPr txBox="1">
            <a:spLocks noChangeArrowheads="1"/>
          </p:cNvSpPr>
          <p:nvPr/>
        </p:nvSpPr>
        <p:spPr bwMode="auto">
          <a:xfrm rot="-5400000">
            <a:off x="-1130300" y="3416300"/>
            <a:ext cx="3784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/>
              <a:t>% of  Heart Failure Patients</a:t>
            </a:r>
          </a:p>
        </p:txBody>
      </p:sp>
      <p:sp>
        <p:nvSpPr>
          <p:cNvPr id="285700" name="Rectangle 4"/>
          <p:cNvSpPr>
            <a:spLocks noRot="1" noChangeArrowheads="1"/>
          </p:cNvSpPr>
          <p:nvPr/>
        </p:nvSpPr>
        <p:spPr bwMode="auto">
          <a:xfrm>
            <a:off x="457200" y="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/>
            <a:r>
              <a:rPr lang="en-US" sz="4400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LVEF Measurement</a:t>
            </a:r>
          </a:p>
        </p:txBody>
      </p:sp>
      <p:sp>
        <p:nvSpPr>
          <p:cNvPr id="285702" name="Line 6"/>
          <p:cNvSpPr>
            <a:spLocks noChangeShapeType="1"/>
          </p:cNvSpPr>
          <p:nvPr/>
        </p:nvSpPr>
        <p:spPr bwMode="auto">
          <a:xfrm>
            <a:off x="2667000" y="2057400"/>
            <a:ext cx="381000" cy="0"/>
          </a:xfrm>
          <a:prstGeom prst="line">
            <a:avLst/>
          </a:prstGeom>
          <a:noFill/>
          <a:ln w="76200">
            <a:solidFill>
              <a:srgbClr val="FFFF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85703" name="Text Box 7"/>
          <p:cNvSpPr txBox="1">
            <a:spLocks noChangeArrowheads="1"/>
          </p:cNvSpPr>
          <p:nvPr/>
        </p:nvSpPr>
        <p:spPr bwMode="auto">
          <a:xfrm>
            <a:off x="2270125" y="2182813"/>
            <a:ext cx="103346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FF00"/>
                </a:solidFill>
              </a:rPr>
              <a:t>Top 10%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7746" name="Object 2"/>
          <p:cNvGraphicFramePr>
            <a:graphicFrameLocks noChangeAspect="1"/>
          </p:cNvGraphicFramePr>
          <p:nvPr>
            <p:ph/>
          </p:nvPr>
        </p:nvGraphicFramePr>
        <p:xfrm>
          <a:off x="1241425" y="1295400"/>
          <a:ext cx="7421563" cy="5314950"/>
        </p:xfrm>
        <a:graphic>
          <a:graphicData uri="http://schemas.openxmlformats.org/presentationml/2006/ole">
            <p:oleObj spid="_x0000_s287746" name="Chart" r:id="rId4" imgW="8220151" imgH="5886602" progId="MSGraph.Chart.8">
              <p:embed followColorScheme="full"/>
            </p:oleObj>
          </a:graphicData>
        </a:graphic>
      </p:graphicFrame>
      <p:sp>
        <p:nvSpPr>
          <p:cNvPr id="287747" name="Text Box 3"/>
          <p:cNvSpPr txBox="1">
            <a:spLocks noChangeArrowheads="1"/>
          </p:cNvSpPr>
          <p:nvPr/>
        </p:nvSpPr>
        <p:spPr bwMode="auto">
          <a:xfrm rot="-5400000">
            <a:off x="-1084263" y="3675063"/>
            <a:ext cx="36925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/>
              <a:t>% of  HF Low EF  Patients</a:t>
            </a:r>
          </a:p>
        </p:txBody>
      </p:sp>
      <p:sp>
        <p:nvSpPr>
          <p:cNvPr id="287748" name="Rectangle 4"/>
          <p:cNvSpPr>
            <a:spLocks noRot="1" noChangeArrowheads="1"/>
          </p:cNvSpPr>
          <p:nvPr/>
        </p:nvSpPr>
        <p:spPr bwMode="auto">
          <a:xfrm>
            <a:off x="228600" y="76200"/>
            <a:ext cx="8686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/>
            <a:r>
              <a:rPr lang="en-US" sz="4400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ACE Inhibitors or ARBs (EF&lt;40%)</a:t>
            </a:r>
          </a:p>
        </p:txBody>
      </p:sp>
      <p:sp>
        <p:nvSpPr>
          <p:cNvPr id="287750" name="Line 6"/>
          <p:cNvSpPr>
            <a:spLocks noChangeShapeType="1"/>
          </p:cNvSpPr>
          <p:nvPr/>
        </p:nvSpPr>
        <p:spPr bwMode="auto">
          <a:xfrm>
            <a:off x="2667000" y="2057400"/>
            <a:ext cx="381000" cy="0"/>
          </a:xfrm>
          <a:prstGeom prst="line">
            <a:avLst/>
          </a:prstGeom>
          <a:noFill/>
          <a:ln w="76200">
            <a:solidFill>
              <a:srgbClr val="FFFF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87751" name="Text Box 7"/>
          <p:cNvSpPr txBox="1">
            <a:spLocks noChangeArrowheads="1"/>
          </p:cNvSpPr>
          <p:nvPr/>
        </p:nvSpPr>
        <p:spPr bwMode="auto">
          <a:xfrm>
            <a:off x="2270125" y="2182813"/>
            <a:ext cx="103346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FF00"/>
                </a:solidFill>
              </a:rPr>
              <a:t>Top 10%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9794" name="Object 2"/>
          <p:cNvGraphicFramePr>
            <a:graphicFrameLocks noChangeAspect="1"/>
          </p:cNvGraphicFramePr>
          <p:nvPr>
            <p:ph/>
          </p:nvPr>
        </p:nvGraphicFramePr>
        <p:xfrm>
          <a:off x="1219200" y="1295400"/>
          <a:ext cx="7421563" cy="5314950"/>
        </p:xfrm>
        <a:graphic>
          <a:graphicData uri="http://schemas.openxmlformats.org/presentationml/2006/ole">
            <p:oleObj spid="_x0000_s289794" name="Chart" r:id="rId4" imgW="8220151" imgH="5886602" progId="MSGraph.Chart.8">
              <p:embed followColorScheme="full"/>
            </p:oleObj>
          </a:graphicData>
        </a:graphic>
      </p:graphicFrame>
      <p:sp>
        <p:nvSpPr>
          <p:cNvPr id="289795" name="Text Box 3"/>
          <p:cNvSpPr txBox="1">
            <a:spLocks noChangeArrowheads="1"/>
          </p:cNvSpPr>
          <p:nvPr/>
        </p:nvSpPr>
        <p:spPr bwMode="auto">
          <a:xfrm rot="-5400000">
            <a:off x="-1130300" y="3416300"/>
            <a:ext cx="3784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/>
              <a:t>% of  Heart Failure Patients</a:t>
            </a:r>
          </a:p>
        </p:txBody>
      </p:sp>
      <p:sp>
        <p:nvSpPr>
          <p:cNvPr id="289796" name="Rectangle 4"/>
          <p:cNvSpPr>
            <a:spLocks noRot="1" noChangeArrowheads="1"/>
          </p:cNvSpPr>
          <p:nvPr/>
        </p:nvSpPr>
        <p:spPr bwMode="auto">
          <a:xfrm>
            <a:off x="457200" y="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/>
            <a:r>
              <a:rPr lang="en-US" sz="4400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Discharge Instructions</a:t>
            </a:r>
          </a:p>
        </p:txBody>
      </p:sp>
      <p:sp>
        <p:nvSpPr>
          <p:cNvPr id="289798" name="Text Box 6"/>
          <p:cNvSpPr txBox="1">
            <a:spLocks noChangeArrowheads="1"/>
          </p:cNvSpPr>
          <p:nvPr/>
        </p:nvSpPr>
        <p:spPr bwMode="auto">
          <a:xfrm>
            <a:off x="533400" y="6491288"/>
            <a:ext cx="76073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0">
                <a:solidFill>
                  <a:schemeClr val="hlink"/>
                </a:solidFill>
              </a:rPr>
              <a:t>Hospital Compare 10/2005 to 9/2006,  U. Michigan N=549, Ann Arbor VA N=89</a:t>
            </a:r>
          </a:p>
        </p:txBody>
      </p:sp>
      <p:sp>
        <p:nvSpPr>
          <p:cNvPr id="289799" name="Line 7"/>
          <p:cNvSpPr>
            <a:spLocks noChangeShapeType="1"/>
          </p:cNvSpPr>
          <p:nvPr/>
        </p:nvSpPr>
        <p:spPr bwMode="auto">
          <a:xfrm>
            <a:off x="2682875" y="2327275"/>
            <a:ext cx="381000" cy="0"/>
          </a:xfrm>
          <a:prstGeom prst="line">
            <a:avLst/>
          </a:prstGeom>
          <a:noFill/>
          <a:ln w="76200">
            <a:solidFill>
              <a:srgbClr val="FFFF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89800" name="Text Box 8"/>
          <p:cNvSpPr txBox="1">
            <a:spLocks noChangeArrowheads="1"/>
          </p:cNvSpPr>
          <p:nvPr/>
        </p:nvSpPr>
        <p:spPr bwMode="auto">
          <a:xfrm>
            <a:off x="2286000" y="2452688"/>
            <a:ext cx="103346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FF00"/>
                </a:solidFill>
              </a:rPr>
              <a:t>Top 10%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490" name="Object 2"/>
          <p:cNvGraphicFramePr>
            <a:graphicFrameLocks noChangeAspect="1"/>
          </p:cNvGraphicFramePr>
          <p:nvPr>
            <p:ph/>
          </p:nvPr>
        </p:nvGraphicFramePr>
        <p:xfrm>
          <a:off x="1230313" y="1225550"/>
          <a:ext cx="7913687" cy="5632450"/>
        </p:xfrm>
        <a:graphic>
          <a:graphicData uri="http://schemas.openxmlformats.org/presentationml/2006/ole">
            <p:oleObj spid="_x0000_s63490" name="Chart" r:id="rId4" imgW="8229600" imgH="5857951" progId="MSGraph.Chart.8">
              <p:embed followColorScheme="full"/>
            </p:oleObj>
          </a:graphicData>
        </a:graphic>
      </p:graphicFrame>
      <p:sp>
        <p:nvSpPr>
          <p:cNvPr id="63491" name="Text Box 3"/>
          <p:cNvSpPr txBox="1">
            <a:spLocks noChangeArrowheads="1"/>
          </p:cNvSpPr>
          <p:nvPr/>
        </p:nvSpPr>
        <p:spPr bwMode="auto">
          <a:xfrm rot="-5400000">
            <a:off x="-1092200" y="3454400"/>
            <a:ext cx="3708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/>
              <a:t>% of Heart Failure Patients</a:t>
            </a:r>
          </a:p>
        </p:txBody>
      </p:sp>
      <p:sp>
        <p:nvSpPr>
          <p:cNvPr id="63493" name="Rectangle 5"/>
          <p:cNvSpPr>
            <a:spLocks noRot="1" noChangeArrowheads="1"/>
          </p:cNvSpPr>
          <p:nvPr/>
        </p:nvSpPr>
        <p:spPr bwMode="auto">
          <a:xfrm>
            <a:off x="457200" y="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/>
            <a:r>
              <a:rPr lang="en-US" sz="4400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VA CHF Performance 2004-2005 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946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Outcome: VA and CMS</a:t>
            </a:r>
          </a:p>
        </p:txBody>
      </p:sp>
      <p:sp>
        <p:nvSpPr>
          <p:cNvPr id="3389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460" name="Rectangle 4"/>
          <p:cNvSpPr>
            <a:spLocks noGrp="1" noRot="1" noChangeArrowheads="1"/>
          </p:cNvSpPr>
          <p:nvPr>
            <p:ph type="title"/>
          </p:nvPr>
        </p:nvSpPr>
        <p:spPr>
          <a:xfrm>
            <a:off x="457200" y="-76200"/>
            <a:ext cx="8229600" cy="1143000"/>
          </a:xfrm>
        </p:spPr>
        <p:txBody>
          <a:bodyPr/>
          <a:lstStyle/>
          <a:p>
            <a:r>
              <a:rPr lang="en-US"/>
              <a:t>Mortality Rating: CMS</a:t>
            </a:r>
          </a:p>
        </p:txBody>
      </p:sp>
      <p:graphicFrame>
        <p:nvGraphicFramePr>
          <p:cNvPr id="275546" name="Group 90"/>
          <p:cNvGraphicFramePr>
            <a:graphicFrameLocks noGrp="1"/>
          </p:cNvGraphicFramePr>
          <p:nvPr/>
        </p:nvGraphicFramePr>
        <p:xfrm>
          <a:off x="762000" y="1295400"/>
          <a:ext cx="7620000" cy="3233738"/>
        </p:xfrm>
        <a:graphic>
          <a:graphicData uri="http://schemas.openxmlformats.org/drawingml/2006/table">
            <a:tbl>
              <a:tblPr/>
              <a:tblGrid>
                <a:gridCol w="3276600"/>
                <a:gridCol w="1371600"/>
                <a:gridCol w="1676400"/>
                <a:gridCol w="1295400"/>
              </a:tblGrid>
              <a:tr h="6461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rPr>
                        <a:t>Number of Hospitals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647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rPr>
                        <a:t>Heart Failure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rPr>
                        <a:t>Below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rPr>
                        <a:t>Average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rPr>
                        <a:t>Above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46113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rPr>
                        <a:t>U.S. (30d 11%)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rPr>
                        <a:t>35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rPr>
                        <a:t>4734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rPr>
                        <a:t>38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461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rPr>
                        <a:t>Acute MI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rPr>
                        <a:t>U.S. (30d 16%)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rPr>
                        <a:t>4453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rPr>
                        <a:t>17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8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VA Trends</a:t>
            </a:r>
          </a:p>
        </p:txBody>
      </p:sp>
      <p:sp>
        <p:nvSpPr>
          <p:cNvPr id="3215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VA Admissions with principal diagnosis of heart failure.</a:t>
            </a:r>
          </a:p>
          <a:p>
            <a:r>
              <a:rPr lang="en-US"/>
              <a:t>1998-2005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0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57200" y="533400"/>
            <a:ext cx="8229600" cy="1143000"/>
          </a:xfrm>
        </p:spPr>
        <p:txBody>
          <a:bodyPr/>
          <a:lstStyle/>
          <a:p>
            <a:r>
              <a:rPr lang="en-US" sz="4000"/>
              <a:t>VA Heart Failure 30-Day Readmission</a:t>
            </a:r>
          </a:p>
        </p:txBody>
      </p:sp>
      <p:graphicFrame>
        <p:nvGraphicFramePr>
          <p:cNvPr id="307204" name="Object 4"/>
          <p:cNvGraphicFramePr>
            <a:graphicFrameLocks noChangeAspect="1"/>
          </p:cNvGraphicFramePr>
          <p:nvPr>
            <p:ph idx="1"/>
          </p:nvPr>
        </p:nvGraphicFramePr>
        <p:xfrm>
          <a:off x="685800" y="1752600"/>
          <a:ext cx="7353300" cy="4819650"/>
        </p:xfrm>
        <a:graphic>
          <a:graphicData uri="http://schemas.openxmlformats.org/presentationml/2006/ole">
            <p:oleObj spid="_x0000_s307204" name="Chart" r:id="rId4" imgW="7353300" imgH="4819802" progId="MSGraph.Chart.8">
              <p:embed followColorScheme="full"/>
            </p:oleObj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250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57200" y="533400"/>
            <a:ext cx="8229600" cy="1143000"/>
          </a:xfrm>
        </p:spPr>
        <p:txBody>
          <a:bodyPr/>
          <a:lstStyle/>
          <a:p>
            <a:r>
              <a:rPr lang="en-US" sz="4000"/>
              <a:t>VA Heart Failure 30-Day Mortality</a:t>
            </a:r>
          </a:p>
        </p:txBody>
      </p:sp>
      <p:graphicFrame>
        <p:nvGraphicFramePr>
          <p:cNvPr id="309251" name="Object 3"/>
          <p:cNvGraphicFramePr>
            <a:graphicFrameLocks noChangeAspect="1"/>
          </p:cNvGraphicFramePr>
          <p:nvPr>
            <p:ph idx="1"/>
          </p:nvPr>
        </p:nvGraphicFramePr>
        <p:xfrm>
          <a:off x="685800" y="1752600"/>
          <a:ext cx="7353300" cy="4819650"/>
        </p:xfrm>
        <a:graphic>
          <a:graphicData uri="http://schemas.openxmlformats.org/presentationml/2006/ole">
            <p:oleObj spid="_x0000_s309251" name="Chart" r:id="rId4" imgW="7353300" imgH="4819802" progId="MSGraph.Chart.8">
              <p:embed followColorScheme="full"/>
            </p:oleObj>
          </a:graphicData>
        </a:graphic>
      </p:graphicFrame>
      <p:sp>
        <p:nvSpPr>
          <p:cNvPr id="309252" name="Text Box 4"/>
          <p:cNvSpPr txBox="1">
            <a:spLocks noChangeArrowheads="1"/>
          </p:cNvSpPr>
          <p:nvPr/>
        </p:nvSpPr>
        <p:spPr bwMode="auto">
          <a:xfrm>
            <a:off x="6781800" y="1447800"/>
            <a:ext cx="1397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>
                <a:solidFill>
                  <a:schemeClr val="hlink"/>
                </a:solidFill>
              </a:rPr>
              <a:t>CMS 11%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970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Summary</a:t>
            </a:r>
          </a:p>
        </p:txBody>
      </p:sp>
      <p:sp>
        <p:nvSpPr>
          <p:cNvPr id="339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Process of care is good compared to CMS, but has room for improvement.</a:t>
            </a:r>
          </a:p>
          <a:p>
            <a:r>
              <a:rPr lang="en-US"/>
              <a:t>Difficult to judge outcome measures.</a:t>
            </a:r>
          </a:p>
          <a:p>
            <a:r>
              <a:rPr lang="en-US"/>
              <a:t>Focus area: discharge-handoff</a:t>
            </a:r>
          </a:p>
          <a:p>
            <a:pPr lvl="1"/>
            <a:r>
              <a:rPr lang="en-US"/>
              <a:t>Patient contract</a:t>
            </a:r>
          </a:p>
          <a:p>
            <a:pPr lvl="1"/>
            <a:r>
              <a:rPr lang="en-US"/>
              <a:t>Early Follow-up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ream">
  <a:themeElements>
    <a:clrScheme name="Stream 1">
      <a:dk1>
        <a:srgbClr val="000514"/>
      </a:dk1>
      <a:lt1>
        <a:srgbClr val="FFFFFF"/>
      </a:lt1>
      <a:dk2>
        <a:srgbClr val="003399"/>
      </a:dk2>
      <a:lt2>
        <a:srgbClr val="E5E5FF"/>
      </a:lt2>
      <a:accent1>
        <a:srgbClr val="0099CC"/>
      </a:accent1>
      <a:accent2>
        <a:srgbClr val="A886E0"/>
      </a:accent2>
      <a:accent3>
        <a:srgbClr val="AAADCA"/>
      </a:accent3>
      <a:accent4>
        <a:srgbClr val="DADADA"/>
      </a:accent4>
      <a:accent5>
        <a:srgbClr val="AACAE2"/>
      </a:accent5>
      <a:accent6>
        <a:srgbClr val="9879CB"/>
      </a:accent6>
      <a:hlink>
        <a:srgbClr val="FFCC00"/>
      </a:hlink>
      <a:folHlink>
        <a:srgbClr val="FFFFCC"/>
      </a:folHlink>
    </a:clrScheme>
    <a:fontScheme name="Stream">
      <a:majorFont>
        <a:latin typeface="Garamond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Garamond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Garamond" pitchFamily="18" charset="0"/>
          </a:defRPr>
        </a:defPPr>
      </a:lstStyle>
    </a:lnDef>
  </a:objectDefaults>
  <a:extraClrSchemeLst>
    <a:extraClrScheme>
      <a:clrScheme name="Stream 1">
        <a:dk1>
          <a:srgbClr val="000514"/>
        </a:dk1>
        <a:lt1>
          <a:srgbClr val="FFFFFF"/>
        </a:lt1>
        <a:dk2>
          <a:srgbClr val="003399"/>
        </a:dk2>
        <a:lt2>
          <a:srgbClr val="E5E5FF"/>
        </a:lt2>
        <a:accent1>
          <a:srgbClr val="0099CC"/>
        </a:accent1>
        <a:accent2>
          <a:srgbClr val="A886E0"/>
        </a:accent2>
        <a:accent3>
          <a:srgbClr val="AAADCA"/>
        </a:accent3>
        <a:accent4>
          <a:srgbClr val="DADADA"/>
        </a:accent4>
        <a:accent5>
          <a:srgbClr val="AACAE2"/>
        </a:accent5>
        <a:accent6>
          <a:srgbClr val="9879CB"/>
        </a:accent6>
        <a:hlink>
          <a:srgbClr val="FF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2">
        <a:dk1>
          <a:srgbClr val="3E3E5C"/>
        </a:dk1>
        <a:lt1>
          <a:srgbClr val="FFFFFF"/>
        </a:lt1>
        <a:dk2>
          <a:srgbClr val="666699"/>
        </a:dk2>
        <a:lt2>
          <a:srgbClr val="DFDFE9"/>
        </a:lt2>
        <a:accent1>
          <a:srgbClr val="CC66FF"/>
        </a:accent1>
        <a:accent2>
          <a:srgbClr val="679ACD"/>
        </a:accent2>
        <a:accent3>
          <a:srgbClr val="B8B8CA"/>
        </a:accent3>
        <a:accent4>
          <a:srgbClr val="DADADA"/>
        </a:accent4>
        <a:accent5>
          <a:srgbClr val="E2B8FF"/>
        </a:accent5>
        <a:accent6>
          <a:srgbClr val="5D8BBA"/>
        </a:accent6>
        <a:hlink>
          <a:srgbClr val="CCECFF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3">
        <a:dk1>
          <a:srgbClr val="2A5400"/>
        </a:dk1>
        <a:lt1>
          <a:srgbClr val="FFFFFF"/>
        </a:lt1>
        <a:dk2>
          <a:srgbClr val="4A9400"/>
        </a:dk2>
        <a:lt2>
          <a:srgbClr val="BAE8BA"/>
        </a:lt2>
        <a:accent1>
          <a:srgbClr val="33CC33"/>
        </a:accent1>
        <a:accent2>
          <a:srgbClr val="99CC00"/>
        </a:accent2>
        <a:accent3>
          <a:srgbClr val="B1C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99FF33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4">
        <a:dk1>
          <a:srgbClr val="000000"/>
        </a:dk1>
        <a:lt1>
          <a:srgbClr val="FFFFFF"/>
        </a:lt1>
        <a:dk2>
          <a:srgbClr val="51596D"/>
        </a:dk2>
        <a:lt2>
          <a:srgbClr val="DDDDDD"/>
        </a:lt2>
        <a:accent1>
          <a:srgbClr val="787E8A"/>
        </a:accent1>
        <a:accent2>
          <a:srgbClr val="339966"/>
        </a:accent2>
        <a:accent3>
          <a:srgbClr val="B3B5BA"/>
        </a:accent3>
        <a:accent4>
          <a:srgbClr val="DADADA"/>
        </a:accent4>
        <a:accent5>
          <a:srgbClr val="BEC0C4"/>
        </a:accent5>
        <a:accent6>
          <a:srgbClr val="2D8A5C"/>
        </a:accent6>
        <a:hlink>
          <a:srgbClr val="00FFFF"/>
        </a:hlink>
        <a:folHlink>
          <a:srgbClr val="74B6D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5">
        <a:dk1>
          <a:srgbClr val="5C1F00"/>
        </a:dk1>
        <a:lt1>
          <a:srgbClr val="FFFFFF"/>
        </a:lt1>
        <a:dk2>
          <a:srgbClr val="8C0000"/>
        </a:dk2>
        <a:lt2>
          <a:srgbClr val="DFD293"/>
        </a:lt2>
        <a:accent1>
          <a:srgbClr val="FF6845"/>
        </a:accent1>
        <a:accent2>
          <a:srgbClr val="BE7960"/>
        </a:accent2>
        <a:accent3>
          <a:srgbClr val="C5AAAA"/>
        </a:accent3>
        <a:accent4>
          <a:srgbClr val="DADADA"/>
        </a:accent4>
        <a:accent5>
          <a:srgbClr val="FFB9B0"/>
        </a:accent5>
        <a:accent6>
          <a:srgbClr val="AC6D56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6">
        <a:dk1>
          <a:srgbClr val="5E4444"/>
        </a:dk1>
        <a:lt1>
          <a:srgbClr val="F7F3F3"/>
        </a:lt1>
        <a:dk2>
          <a:srgbClr val="8A6362"/>
        </a:dk2>
        <a:lt2>
          <a:srgbClr val="D8C1BA"/>
        </a:lt2>
        <a:accent1>
          <a:srgbClr val="CC6600"/>
        </a:accent1>
        <a:accent2>
          <a:srgbClr val="C16059"/>
        </a:accent2>
        <a:accent3>
          <a:srgbClr val="C4B7B7"/>
        </a:accent3>
        <a:accent4>
          <a:srgbClr val="D3D0D0"/>
        </a:accent4>
        <a:accent5>
          <a:srgbClr val="E2B8AA"/>
        </a:accent5>
        <a:accent6>
          <a:srgbClr val="AF5650"/>
        </a:accent6>
        <a:hlink>
          <a:srgbClr val="FFCC00"/>
        </a:hlink>
        <a:folHlink>
          <a:srgbClr val="CBB55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7">
        <a:dk1>
          <a:srgbClr val="7F6737"/>
        </a:dk1>
        <a:lt1>
          <a:srgbClr val="FFFFFF"/>
        </a:lt1>
        <a:dk2>
          <a:srgbClr val="BFA673"/>
        </a:dk2>
        <a:lt2>
          <a:srgbClr val="E6E3AA"/>
        </a:lt2>
        <a:accent1>
          <a:srgbClr val="FFCC00"/>
        </a:accent1>
        <a:accent2>
          <a:srgbClr val="808000"/>
        </a:accent2>
        <a:accent3>
          <a:srgbClr val="DCD0BC"/>
        </a:accent3>
        <a:accent4>
          <a:srgbClr val="DADADA"/>
        </a:accent4>
        <a:accent5>
          <a:srgbClr val="FFE2AA"/>
        </a:accent5>
        <a:accent6>
          <a:srgbClr val="737300"/>
        </a:accent6>
        <a:hlink>
          <a:srgbClr val="784700"/>
        </a:hlink>
        <a:folHlink>
          <a:srgbClr val="9A7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8">
        <a:dk1>
          <a:srgbClr val="4B2500"/>
        </a:dk1>
        <a:lt1>
          <a:srgbClr val="F9F0D3"/>
        </a:lt1>
        <a:dk2>
          <a:srgbClr val="A69564"/>
        </a:dk2>
        <a:lt2>
          <a:srgbClr val="EFDEAF"/>
        </a:lt2>
        <a:accent1>
          <a:srgbClr val="FFFFE3"/>
        </a:accent1>
        <a:accent2>
          <a:srgbClr val="BFBFA7"/>
        </a:accent2>
        <a:accent3>
          <a:srgbClr val="FBF6E6"/>
        </a:accent3>
        <a:accent4>
          <a:srgbClr val="3F1E00"/>
        </a:accent4>
        <a:accent5>
          <a:srgbClr val="FFFFEF"/>
        </a:accent5>
        <a:accent6>
          <a:srgbClr val="ADAD97"/>
        </a:accent6>
        <a:hlink>
          <a:srgbClr val="7B6D47"/>
        </a:hlink>
        <a:folHlink>
          <a:srgbClr val="A99D2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eam 9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CECFF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2F4FF"/>
        </a:accent5>
        <a:accent6>
          <a:srgbClr val="2D2D8A"/>
        </a:accent6>
        <a:hlink>
          <a:srgbClr val="6600FF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Stream</Template>
  <TotalTime>4976</TotalTime>
  <Words>1116</Words>
  <Application>Microsoft PowerPoint</Application>
  <PresentationFormat>On-screen Show (4:3)</PresentationFormat>
  <Paragraphs>249</Paragraphs>
  <Slides>26</Slides>
  <Notes>26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Design Template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Arial</vt:lpstr>
      <vt:lpstr>Garamond</vt:lpstr>
      <vt:lpstr>Times New Roman</vt:lpstr>
      <vt:lpstr>Wingdings</vt:lpstr>
      <vt:lpstr>Stream</vt:lpstr>
      <vt:lpstr>Microsoft Graph Chart</vt:lpstr>
      <vt:lpstr>VA Heart Failure and IHI’s Five Million Lives Campaign</vt:lpstr>
      <vt:lpstr>The Institute for Healthcare Improvement (IHI)</vt:lpstr>
      <vt:lpstr>100K Lives Campaign</vt:lpstr>
      <vt:lpstr>Slide 4</vt:lpstr>
      <vt:lpstr>Slide 5</vt:lpstr>
      <vt:lpstr>The Institute for Healthcare Improvement</vt:lpstr>
      <vt:lpstr>IHI Definition of Medical Harm</vt:lpstr>
      <vt:lpstr>IHI Save 5 Million Lives From Harm </vt:lpstr>
      <vt:lpstr>IHI 5 Million Lives Campaign:  Heart Failure</vt:lpstr>
      <vt:lpstr>Heart Failure Key Interventions</vt:lpstr>
      <vt:lpstr>Heart Failure  Other Interventions to Consider</vt:lpstr>
      <vt:lpstr>Getting Started</vt:lpstr>
      <vt:lpstr>Discharge Checklist</vt:lpstr>
      <vt:lpstr>IHI:  Recommended Actions</vt:lpstr>
      <vt:lpstr>IHI:  Recommended Actions</vt:lpstr>
      <vt:lpstr>Process of Care VA and CMS</vt:lpstr>
      <vt:lpstr>Slide 17</vt:lpstr>
      <vt:lpstr>Slide 18</vt:lpstr>
      <vt:lpstr>Slide 19</vt:lpstr>
      <vt:lpstr>Slide 20</vt:lpstr>
      <vt:lpstr>Outcome: VA and CMS</vt:lpstr>
      <vt:lpstr>Mortality Rating: CMS</vt:lpstr>
      <vt:lpstr>VA Trends</vt:lpstr>
      <vt:lpstr>VA Heart Failure 30-Day Readmission</vt:lpstr>
      <vt:lpstr>VA Heart Failure 30-Day Mortality</vt:lpstr>
      <vt:lpstr>Summary</vt:lpstr>
    </vt:vector>
  </TitlesOfParts>
  <Company>DEPT. OF VETERANS AFFAIRS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Cost of Heart Failure Care</dc:title>
  <dc:creator>vhapalheidep</dc:creator>
  <cp:lastModifiedBy>vhapalsahaya</cp:lastModifiedBy>
  <cp:revision>142</cp:revision>
  <dcterms:created xsi:type="dcterms:W3CDTF">2006-09-08T17:31:06Z</dcterms:created>
  <dcterms:modified xsi:type="dcterms:W3CDTF">2007-11-01T22:44:32Z</dcterms:modified>
</cp:coreProperties>
</file>