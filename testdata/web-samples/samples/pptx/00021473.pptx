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9" r:id="rId2"/>
    <p:sldId id="260" r:id="rId3"/>
    <p:sldId id="261" r:id="rId4"/>
    <p:sldId id="258" r:id="rId5"/>
    <p:sldId id="257" r:id="rId6"/>
    <p:sldId id="280" r:id="rId7"/>
    <p:sldId id="262" r:id="rId8"/>
    <p:sldId id="263" r:id="rId9"/>
    <p:sldId id="264" r:id="rId10"/>
    <p:sldId id="265" r:id="rId11"/>
    <p:sldId id="266" r:id="rId12"/>
    <p:sldId id="267" r:id="rId13"/>
    <p:sldId id="279" r:id="rId14"/>
    <p:sldId id="268" r:id="rId15"/>
    <p:sldId id="269" r:id="rId16"/>
    <p:sldId id="270" r:id="rId17"/>
    <p:sldId id="271" r:id="rId18"/>
    <p:sldId id="272" r:id="rId19"/>
    <p:sldId id="273" r:id="rId20"/>
    <p:sldId id="274" r:id="rId21"/>
    <p:sldId id="275" r:id="rId22"/>
    <p:sldId id="276" r:id="rId23"/>
    <p:sldId id="281" r:id="rId24"/>
    <p:sldId id="282"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848" autoAdjust="0"/>
  </p:normalViewPr>
  <p:slideViewPr>
    <p:cSldViewPr>
      <p:cViewPr varScale="1">
        <p:scale>
          <a:sx n="76" d="100"/>
          <a:sy n="76" d="100"/>
        </p:scale>
        <p:origin x="-900" y="-96"/>
      </p:cViewPr>
      <p:guideLst>
        <p:guide orient="horz" pos="2160"/>
        <p:guide pos="2880"/>
      </p:guideLst>
    </p:cSldViewPr>
  </p:slideViewPr>
  <p:notesTextViewPr>
    <p:cViewPr>
      <p:scale>
        <a:sx n="100" d="100"/>
        <a:sy n="100" d="100"/>
      </p:scale>
      <p:origin x="18"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4FC5316-36A3-41B0-BDF0-B92D986D4FA2}" type="datetimeFigureOut">
              <a:rPr lang="en-US" smtClean="0"/>
              <a:pPr/>
              <a:t>11/14/2011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EE605F-4582-4D41-87D1-2E8D5E0A424B}" type="slidenum">
              <a:rPr lang="en-US" smtClean="0"/>
              <a:pPr/>
              <a:t>‹#›</a:t>
            </a:fld>
            <a:endParaRPr lang="en-US"/>
          </a:p>
        </p:txBody>
      </p:sp>
    </p:spTree>
    <p:extLst>
      <p:ext uri="{BB962C8B-B14F-4D97-AF65-F5344CB8AC3E}">
        <p14:creationId xmlns:p14="http://schemas.microsoft.com/office/powerpoint/2010/main" xmlns="" val="1142232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1</a:t>
            </a:fld>
            <a:endParaRPr lang="en-US"/>
          </a:p>
        </p:txBody>
      </p:sp>
    </p:spTree>
    <p:extLst>
      <p:ext uri="{BB962C8B-B14F-4D97-AF65-F5344CB8AC3E}">
        <p14:creationId xmlns:p14="http://schemas.microsoft.com/office/powerpoint/2010/main" xmlns="" val="1950818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dirty="0" smtClean="0">
                <a:solidFill>
                  <a:schemeClr val="tx1"/>
                </a:solidFill>
                <a:latin typeface="+mn-lt"/>
                <a:ea typeface="+mn-ea"/>
                <a:cs typeface="+mn-cs"/>
              </a:rPr>
              <a:t>Welcome to the second webinar in a series based on the Handbook on Family and Community Engagement.</a:t>
            </a:r>
          </a:p>
          <a:p>
            <a:r>
              <a:rPr lang="en-US" sz="1200" kern="1200" dirty="0" smtClean="0">
                <a:solidFill>
                  <a:schemeClr val="tx1"/>
                </a:solidFill>
                <a:latin typeface="+mn-lt"/>
                <a:ea typeface="+mn-ea"/>
                <a:cs typeface="+mn-cs"/>
              </a:rPr>
              <a:t>In this webinar, we will take a walk through the second two Parts of the Handbook, explaining how the Handbook is organized and a little about its authors. We will hit the high points of the Handbook, its themes, and how you might apply the Handbook in your work or with your children. Then we will engage you—the participants—in discussion. We are eager to learn about your work or your role with children and how the Handbook might be useful to you.</a:t>
            </a:r>
          </a:p>
          <a:p>
            <a:r>
              <a:rPr lang="en-US" sz="1200" kern="1200" dirty="0" smtClean="0">
                <a:solidFill>
                  <a:schemeClr val="tx1"/>
                </a:solidFill>
                <a:latin typeface="+mn-lt"/>
                <a:ea typeface="+mn-ea"/>
                <a:cs typeface="+mn-cs"/>
              </a:rPr>
              <a:t>Our first discussion question will be: So, after walking through the pages of the Handbook, which topic resonates most with you? Which chapter are you just itching to dive into? Why?</a:t>
            </a:r>
          </a:p>
          <a:p>
            <a:endParaRPr lang="en-US" baseline="0" dirty="0" smtClean="0"/>
          </a:p>
        </p:txBody>
      </p:sp>
      <p:sp>
        <p:nvSpPr>
          <p:cNvPr id="4" name="Slide Number Placeholder 3"/>
          <p:cNvSpPr>
            <a:spLocks noGrp="1"/>
          </p:cNvSpPr>
          <p:nvPr>
            <p:ph type="sldNum" sz="quarter" idx="10"/>
          </p:nvPr>
        </p:nvSpPr>
        <p:spPr/>
        <p:txBody>
          <a:bodyPr/>
          <a:lstStyle/>
          <a:p>
            <a:fld id="{2B564424-2BD1-4E9C-ADA1-AC5997CB7EAE}"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There are four Parts to the Handbook. Part I: Framing the Discussion, Part II: Families and Learning, Part III: Families and Schools, and Part IV Checklist of Suggested Practices.</a:t>
            </a:r>
          </a:p>
          <a:p>
            <a:r>
              <a:rPr lang="en-US" sz="1200" kern="1200" dirty="0" smtClean="0">
                <a:solidFill>
                  <a:schemeClr val="tx1"/>
                </a:solidFill>
                <a:latin typeface="+mn-lt"/>
                <a:ea typeface="+mn-ea"/>
                <a:cs typeface="+mn-cs"/>
              </a:rPr>
              <a:t>In the first webinar in this series, we covered Parts I and II. In this webinar, we will cover Parts III and IV.</a:t>
            </a:r>
          </a:p>
          <a:p>
            <a:r>
              <a:rPr lang="en-US" sz="1200" kern="1200" dirty="0" smtClean="0">
                <a:solidFill>
                  <a:schemeClr val="tx1"/>
                </a:solidFill>
                <a:latin typeface="+mn-lt"/>
                <a:ea typeface="+mn-ea"/>
                <a:cs typeface="+mn-cs"/>
              </a:rPr>
              <a:t>This Handbook was made possible through the foresight and funding of our friends in Title 1 at the Office of Elementary and Secondary Education at the U.S. Department of Education. Pat McKee, the interim director of Title 1, will explain why the Handbook came to be. Pat.</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aseline="0" dirty="0" smtClean="0"/>
              <a:t>Pat McKee: Since 1965, the Elementary and Secondary Education Act, primarily through Title I, has considered family engagement as a cornerstone of school efforts to enrich the lives of children. </a:t>
            </a:r>
            <a:r>
              <a:rPr lang="en-US" dirty="0" smtClean="0"/>
              <a:t>Through the years, interest in the relationships among families,</a:t>
            </a:r>
            <a:r>
              <a:rPr lang="en-US" baseline="0" dirty="0" smtClean="0"/>
              <a:t> communities, and schools has grown steadily, and in recent years the quality and breadth of research and practice have greatly expanded. This seems like a good time to cast a wide topical net and gather in the many schools of thought that swim the scholarly sea. Some of the high interest in families, communities, and schools arises from concern about the condition of all three: Families have changed significantly in size, composition, and permanency over the last half century, and communities have been become less stable and more diverse. Schools are more varied now, reflecting the diversity and mobility of families and the changing nature of communities. While sociologists and psychologists have stroked their beards and theorized on the causes and consequences of all this change, educators have strived valiantly to keep pace. This seems like a good time to collect our best thoughts and set down what we think we know. </a:t>
            </a:r>
          </a:p>
          <a:p>
            <a:endParaRPr lang="en-US" baseline="0" dirty="0" smtClean="0"/>
          </a:p>
          <a:p>
            <a:r>
              <a:rPr lang="en-US" baseline="0" dirty="0" smtClean="0"/>
              <a:t>Thirty-six of the best thinkers on family and community engagement were assembled to produce this Handbook, and they come to the task with varied backgrounds and lines of endeavor. Each could write volumes on the topics they address in the Handbook, and quite a few have. Our charge to them was to give tell us what they know in plain language, succinctly presented in short chapters with practical suggestions for states, districts, and schools at the end. </a:t>
            </a:r>
          </a:p>
          <a:p>
            <a:endParaRPr lang="en-US" baseline="0" dirty="0" smtClean="0"/>
          </a:p>
          <a:p>
            <a:r>
              <a:rPr lang="en-US" baseline="0" dirty="0" smtClean="0"/>
              <a:t>At some point in putting the Handbook together, we yearned for a different mode of expression. All of the writers bring to their scholarly work great hearts for what they do. We wanted to give some of them a forum to reveal that heart. The vignettes in the Handbook are fictional, although we suspect that most are derived from real-life experience. They give us vivid pictures of the real life of parents, teachers, and kids. In all, their portrayal is one of optimism and celebration of the goodness that encompasses the diversity of families, schools, and communities across our nation. They remind us that families, teachers, and children are ready to receive and benefit from the good advice we might throw their way. That is an inspiration to us at Title I and to all the authors and editors of the Handbook.</a:t>
            </a:r>
          </a:p>
          <a:p>
            <a:endParaRPr lang="en-US" baseline="0" dirty="0" smtClean="0"/>
          </a:p>
          <a:p>
            <a:r>
              <a:rPr lang="en-US" baseline="0" dirty="0" smtClean="0"/>
              <a:t>We are eager to hear how you apply the knowledge and suggestions contained in the Handbook to your important work with families, communities, and schools. We are also interested in how the Handbook might be a good resources for families.</a:t>
            </a:r>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n-lt"/>
                <a:ea typeface="+mn-ea"/>
                <a:cs typeface="+mn-cs"/>
              </a:rPr>
              <a:t>Thank you, Pat.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i="0" kern="1200" baseline="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i="0" kern="1200" baseline="0" smtClean="0">
                <a:solidFill>
                  <a:schemeClr val="tx1"/>
                </a:solidFill>
                <a:latin typeface="+mn-lt"/>
                <a:ea typeface="+mn-ea"/>
                <a:cs typeface="+mn-cs"/>
              </a:rPr>
              <a:t>Part </a:t>
            </a:r>
            <a:r>
              <a:rPr lang="en-US" sz="1200" i="0" kern="1200" baseline="0" dirty="0" smtClean="0">
                <a:solidFill>
                  <a:schemeClr val="tx1"/>
                </a:solidFill>
                <a:latin typeface="+mn-lt"/>
                <a:ea typeface="+mn-ea"/>
                <a:cs typeface="+mn-cs"/>
              </a:rPr>
              <a:t>III in the Handbook includes 13 topics related to the important relationship between families and schools and what schools can do to engage families in students’ learning and development. The first seven chapters in Part III are shown here.</a:t>
            </a:r>
          </a:p>
          <a:p>
            <a:endParaRPr lang="en-US" sz="1200" i="0" kern="1200" baseline="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endParaRPr lang="en-US" i="0"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US" baseline="0" dirty="0" smtClean="0"/>
          </a:p>
          <a:p>
            <a:r>
              <a:rPr lang="en-US" dirty="0" smtClean="0"/>
              <a:t>The</a:t>
            </a:r>
            <a:r>
              <a:rPr lang="en-US" baseline="0" dirty="0" smtClean="0"/>
              <a:t> remaining six chapters in Part III are shown here. Let’s talk a walk through the chapters and hit the authors’ main points.</a:t>
            </a:r>
            <a:endParaRPr lang="en-US" dirty="0" smtClean="0"/>
          </a:p>
          <a:p>
            <a:endParaRPr lang="en-US" sz="1200" i="0" kern="1200" baseline="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endParaRPr lang="en-US" i="0"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a:t>
            </a:r>
            <a:r>
              <a:rPr lang="en-US" baseline="0" dirty="0" smtClean="0"/>
              <a:t> A Framework for Partnerships, Steven Sheldon outlines the organizational requirements for building strong family-school-community partnerships. Random acts of family engagement, however well-intentioned, do not yield the results needed in children’s lives. Partnerships must be well-planned, purposeful, and well-coordinated. Sheldon explains how schools can organize their partnerships to engage families in the six types of parent involvement in the Epstein framework.</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Anne Henderson and Sam Redding describe 13 ways that parents can be engaged in leadership roles in the school. They then provide the basics for a good parent leadership program. Beyond the initial training of parents for leadership roles, they explain, the school must provide coaching, mentoring, and follow-up support. </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EEE605F-4582-4D41-87D1-2E8D5E0A424B}"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a:t>
            </a:r>
            <a:r>
              <a:rPr lang="en-US" baseline="0" dirty="0" smtClean="0"/>
              <a:t> Part II of the Handbook, Lee </a:t>
            </a:r>
            <a:r>
              <a:rPr lang="en-US" baseline="0" dirty="0" err="1" smtClean="0"/>
              <a:t>Shumow</a:t>
            </a:r>
            <a:r>
              <a:rPr lang="en-US" baseline="0" dirty="0" smtClean="0"/>
              <a:t> addressed homework from the perspective of the family. In this chapter, Frances Van </a:t>
            </a:r>
            <a:r>
              <a:rPr lang="en-US" baseline="0" dirty="0" err="1" smtClean="0"/>
              <a:t>Voorhis</a:t>
            </a:r>
            <a:r>
              <a:rPr lang="en-US" baseline="0" dirty="0" smtClean="0"/>
              <a:t> explains the critical role of teachers in assigning appropriate homework and developing the skills and attitudes of both students and their families. Teachers must know how much homework is the right amount, the purpose of the homework, and what is expected of students and their parents. Teachers can benefit from sharing successful homework practices with each other.</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Patricia Edwards encourages</a:t>
            </a:r>
            <a:r>
              <a:rPr lang="en-US" baseline="0" dirty="0" smtClean="0"/>
              <a:t> educators to listen to each family’s story and to vary their approach to parents based on this greater understanding of the family’s history, situation, and characteristics. “</a:t>
            </a:r>
            <a:r>
              <a:rPr lang="en-US" sz="1200" kern="1200" baseline="0" dirty="0" smtClean="0">
                <a:solidFill>
                  <a:schemeClr val="tx1"/>
                </a:solidFill>
                <a:latin typeface="+mn-lt"/>
                <a:ea typeface="+mn-ea"/>
                <a:cs typeface="+mn-cs"/>
              </a:rPr>
              <a:t>The point I make, she says, “is more subtle and significant than merely matching the school’s request of parents with each parent’s ability to respond. The greater point is that parents, like students, are best served when treated individually. “</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Patricia  </a:t>
            </a:r>
            <a:r>
              <a:rPr lang="en-US" sz="1200" dirty="0" err="1" smtClean="0"/>
              <a:t>Gándara</a:t>
            </a:r>
            <a:r>
              <a:rPr lang="en-US" dirty="0" smtClean="0"/>
              <a:t> reminds us that </a:t>
            </a:r>
            <a:r>
              <a:rPr lang="en-US" sz="1200" kern="1200" baseline="0" dirty="0" smtClean="0">
                <a:solidFill>
                  <a:schemeClr val="tx1"/>
                </a:solidFill>
                <a:latin typeface="+mn-lt"/>
                <a:ea typeface="+mn-ea"/>
                <a:cs typeface="+mn-cs"/>
              </a:rPr>
              <a:t>there are “extremely large variations in the characteristics and needs of immigrant families and students depending on their countries of origin. The children of very well-educated immigrant parents, and especially those who have been recruited into good jobs in the U.S., have very different needs than those of extremely poor and undereducated parents. </a:t>
            </a:r>
            <a:r>
              <a:rPr lang="en-US" sz="1200" dirty="0" err="1" smtClean="0"/>
              <a:t>Gándara</a:t>
            </a:r>
            <a:r>
              <a:rPr lang="en-US" sz="1200" dirty="0" smtClean="0"/>
              <a:t> describes</a:t>
            </a:r>
            <a:r>
              <a:rPr lang="en-US" sz="1200" baseline="0" dirty="0" smtClean="0"/>
              <a:t> methods and programs for reaching out to parents who because they do not speak English language and may be socially isolated are reluctant to engage with the school. </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Susan</a:t>
            </a:r>
            <a:r>
              <a:rPr lang="en-US" baseline="0" dirty="0" smtClean="0"/>
              <a:t> Paik reviews the research on minority families and provides concrete suggestions for how schools can do a better job of meeting their educational needs. “</a:t>
            </a:r>
            <a:r>
              <a:rPr lang="en-US" sz="1200" kern="1200" baseline="0" dirty="0" smtClean="0">
                <a:solidFill>
                  <a:schemeClr val="tx1"/>
                </a:solidFill>
                <a:latin typeface="+mn-lt"/>
                <a:ea typeface="+mn-ea"/>
                <a:cs typeface="+mn-cs"/>
              </a:rPr>
              <a:t>Cultivating a partnership with minority families,” she affirms, “schools can reinforce the importance of parent participation in the school and home. To build this bridge, it is important for schools to understand the home culture and ethnic community.”</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We have scanned about half of the Part</a:t>
            </a:r>
            <a:r>
              <a:rPr lang="en-US" baseline="0" dirty="0" smtClean="0"/>
              <a:t> III chapters in the Handbook, and they cover a range of topics. We will pause for a minute for you to jot a couple notes of what struck a chord with you. These notes will prompt your thoughts in our discussion later.</a:t>
            </a:r>
          </a:p>
          <a:p>
            <a:endParaRPr lang="en-US" dirty="0" smtClean="0"/>
          </a:p>
          <a:p>
            <a:r>
              <a:rPr lang="en-US" dirty="0" smtClean="0"/>
              <a:t>[Pause for one minute, then continue.]</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Ronald Taylor traces the psychological</a:t>
            </a:r>
            <a:r>
              <a:rPr lang="en-US" baseline="0" dirty="0" smtClean="0"/>
              <a:t> burdens that poverty places on families and the damaging effects this can have on children. He describes the Family Economic Stress model that helps us understand the life pressures of families in poverty. He goes on to explain </a:t>
            </a:r>
            <a:r>
              <a:rPr lang="en-US" sz="1200" kern="1200" baseline="0" dirty="0" smtClean="0">
                <a:solidFill>
                  <a:schemeClr val="tx1"/>
                </a:solidFill>
                <a:latin typeface="+mn-lt"/>
                <a:ea typeface="+mn-ea"/>
                <a:cs typeface="+mn-cs"/>
              </a:rPr>
              <a:t>the “social resources and relations that may attenuate the impact of economic strain and neighborhood stressors on parents’ and children’s adjustment.” Taylor provides recommendations for states, districts, and schools to improve life prospects for children in poverty.” </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“Home–school partnerships have been established as an effective practice across the developmental span,” Eva </a:t>
            </a:r>
            <a:r>
              <a:rPr lang="en-US" sz="1200" kern="1200" baseline="0" dirty="0" err="1" smtClean="0">
                <a:solidFill>
                  <a:schemeClr val="tx1"/>
                </a:solidFill>
                <a:latin typeface="+mn-lt"/>
                <a:ea typeface="+mn-ea"/>
                <a:cs typeface="+mn-cs"/>
              </a:rPr>
              <a:t>Patrikakou</a:t>
            </a:r>
            <a:r>
              <a:rPr lang="en-US" sz="1200" kern="1200" baseline="0" dirty="0" smtClean="0">
                <a:solidFill>
                  <a:schemeClr val="tx1"/>
                </a:solidFill>
                <a:latin typeface="+mn-lt"/>
                <a:ea typeface="+mn-ea"/>
                <a:cs typeface="+mn-cs"/>
              </a:rPr>
              <a:t> writes. “Collaboration between parents and families of children with disabilities must serve as the cornerstone for providing students with quality services and for ensuring the continuity of practices across settings.” She goes on to explain the importance of establishing trust with the families of children with disabilities, respecting them, and avoiding stereotypes about them.</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Kate </a:t>
            </a:r>
            <a:r>
              <a:rPr lang="en-US" sz="1200" kern="1200" dirty="0" err="1" smtClean="0">
                <a:solidFill>
                  <a:schemeClr val="tx1"/>
                </a:solidFill>
                <a:latin typeface="+mn-lt"/>
                <a:ea typeface="+mn-ea"/>
                <a:cs typeface="+mn-cs"/>
              </a:rPr>
              <a:t>McGilly</a:t>
            </a:r>
            <a:r>
              <a:rPr lang="en-US" sz="1200" kern="1200" dirty="0" smtClean="0">
                <a:solidFill>
                  <a:schemeClr val="tx1"/>
                </a:solidFill>
                <a:latin typeface="+mn-lt"/>
                <a:ea typeface="+mn-ea"/>
                <a:cs typeface="+mn-cs"/>
              </a:rPr>
              <a:t> describes successful programs for engaging parents of children from birth to school age. She encourages parents to link with the programs and support them so that children arrive ready for schooling. She especially recommends programs that reach out and engage families in their homes. These programs are provided by people with solid training and consistent procedures and practices for their work.</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EEE605F-4582-4D41-87D1-2E8D5E0A424B}"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Family engagement in high schools</a:t>
            </a:r>
            <a:r>
              <a:rPr lang="en-US" baseline="0" dirty="0" smtClean="0"/>
              <a:t> too often falls off or is focused only on extra-curricular activities. Mavis Sanders explains that during the high school years, adolescents need the continued involvement of their parents in their lives, and their parents need guidance and support from their schools. Sanders state that high schools can mitigate declining family engagement through proactive outreach practices. She describes specific ways high schools can engage the families of their students.</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With more than 4,000 charter schools in the country, and more forming every day, attention has been drawn</a:t>
            </a:r>
            <a:r>
              <a:rPr lang="en-US" baseline="0" dirty="0" smtClean="0"/>
              <a:t> to the place of family engagement in these schools. Brian </a:t>
            </a:r>
            <a:r>
              <a:rPr lang="en-US" baseline="0" dirty="0" err="1" smtClean="0"/>
              <a:t>Beabout</a:t>
            </a:r>
            <a:r>
              <a:rPr lang="en-US" baseline="0" dirty="0" smtClean="0"/>
              <a:t> and Lindsay </a:t>
            </a:r>
            <a:r>
              <a:rPr lang="en-US" baseline="0" dirty="0" err="1" smtClean="0"/>
              <a:t>Jakiel</a:t>
            </a:r>
            <a:r>
              <a:rPr lang="en-US" baseline="0" dirty="0" smtClean="0"/>
              <a:t> explain that family engagement does not come naturally by virtue of a school operating under a charter. It is something the school must intentionally nurture. </a:t>
            </a:r>
            <a:r>
              <a:rPr lang="en-US" baseline="0" dirty="0" err="1" smtClean="0"/>
              <a:t>Beabout</a:t>
            </a:r>
            <a:r>
              <a:rPr lang="en-US" baseline="0" dirty="0" smtClean="0"/>
              <a:t> and </a:t>
            </a:r>
            <a:r>
              <a:rPr lang="en-US" baseline="0" dirty="0" err="1" smtClean="0"/>
              <a:t>Jakiel</a:t>
            </a:r>
            <a:r>
              <a:rPr lang="en-US" baseline="0" dirty="0" smtClean="0"/>
              <a:t> believe that too many charter schools have a “go-it-alone” approach and must more actively engage the community around them and the families that choose their school.</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Amanda</a:t>
            </a:r>
            <a:r>
              <a:rPr lang="en-US" baseline="0" dirty="0" smtClean="0"/>
              <a:t> Witte and Susan Sheridan describe the difficulties that many r</a:t>
            </a:r>
            <a:r>
              <a:rPr lang="en-US" sz="1200" kern="1200" baseline="0" dirty="0" smtClean="0">
                <a:solidFill>
                  <a:schemeClr val="tx1"/>
                </a:solidFill>
                <a:latin typeface="+mn-lt"/>
                <a:ea typeface="+mn-ea"/>
                <a:cs typeface="+mn-cs"/>
              </a:rPr>
              <a:t>ural schools face -- high teacher turnover, newly credentialed teachers, and inadequate resources, for example. But these obstacles are more than offset by the rural school’s closeness to its community and its families. Still, family and community engagement do not arise automatically by virtue of a school’s rural setting. The school must intentionally develop its connections with the community and with families and make those connections purposeful. </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Pamela Sheley focuses</a:t>
            </a:r>
            <a:r>
              <a:rPr lang="en-US" baseline="0" dirty="0" smtClean="0"/>
              <a:t> her chapter on Native American families on reservations, describing the conditions of reservation life, the importance of maintaining Native culture, and ways to engage families. “</a:t>
            </a:r>
            <a:r>
              <a:rPr lang="en-US" sz="1200" kern="1200" baseline="0" dirty="0" smtClean="0">
                <a:solidFill>
                  <a:schemeClr val="tx1"/>
                </a:solidFill>
                <a:latin typeface="+mn-lt"/>
                <a:ea typeface="+mn-ea"/>
                <a:cs typeface="+mn-cs"/>
              </a:rPr>
              <a:t>Bridging the gap between the school and the families it serves is not easy work,” she explains, “ but it is essential work that requires ingenuity, sensitivity, and persistence. Indian children must learn to successfully navigate two worlds, in many ways, and this creates both a challenge and an exciting opportunity for their schools.”</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Let’s pause for a minute while you reflect</a:t>
            </a:r>
            <a:r>
              <a:rPr lang="en-US" baseline="0" dirty="0" smtClean="0"/>
              <a:t> on this last set of chapters from Part III of the Handbook. Jot some notes for the discussion.</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 Parts II and III</a:t>
            </a:r>
            <a:r>
              <a:rPr lang="en-US" baseline="0" dirty="0" smtClean="0"/>
              <a:t> of the Handbook, each author concluded the chapter with a list of Action Principles for State Education Agencies, Local Education Agencies, and schools. In Part IV, Sam Redding compiles these Action Principles into a checklist of suggested practices. The practices are organized within six categories, with sub-sections for State Education Agencies, Local Education Agencies, and schools. The six categories are:</a:t>
            </a:r>
          </a:p>
          <a:p>
            <a:endParaRPr lang="en-US" baseline="0" dirty="0" smtClean="0"/>
          </a:p>
          <a:p>
            <a:pPr marL="228600" indent="-228600">
              <a:buFont typeface="+mj-lt"/>
              <a:buAutoNum type="arabicPeriod"/>
            </a:pPr>
            <a:r>
              <a:rPr lang="en-US" sz="1200" b="1" kern="1200" dirty="0" smtClean="0">
                <a:solidFill>
                  <a:schemeClr val="tx1"/>
                </a:solidFill>
                <a:latin typeface="+mn-lt"/>
                <a:ea typeface="+mn-ea"/>
                <a:cs typeface="+mn-cs"/>
              </a:rPr>
              <a:t>Shared Leadership</a:t>
            </a:r>
            <a:endParaRPr lang="en-US" sz="1200" kern="1200" dirty="0" smtClean="0">
              <a:solidFill>
                <a:schemeClr val="tx1"/>
              </a:solidFill>
              <a:latin typeface="+mn-lt"/>
              <a:ea typeface="+mn-ea"/>
              <a:cs typeface="+mn-cs"/>
            </a:endParaRPr>
          </a:p>
          <a:p>
            <a:pPr marL="228600" indent="-228600">
              <a:buFont typeface="+mj-lt"/>
              <a:buAutoNum type="arabicPeriod"/>
            </a:pPr>
            <a:r>
              <a:rPr lang="en-US" sz="1200" b="1" kern="1200" dirty="0" smtClean="0">
                <a:solidFill>
                  <a:schemeClr val="tx1"/>
                </a:solidFill>
                <a:latin typeface="+mn-lt"/>
                <a:ea typeface="+mn-ea"/>
                <a:cs typeface="+mn-cs"/>
              </a:rPr>
              <a:t>Goals and Roles</a:t>
            </a:r>
            <a:endParaRPr lang="en-US" sz="1200" kern="1200" dirty="0" smtClean="0">
              <a:solidFill>
                <a:schemeClr val="tx1"/>
              </a:solidFill>
              <a:latin typeface="+mn-lt"/>
              <a:ea typeface="+mn-ea"/>
              <a:cs typeface="+mn-cs"/>
            </a:endParaRPr>
          </a:p>
          <a:p>
            <a:pPr marL="228600" indent="-228600">
              <a:buFont typeface="+mj-lt"/>
              <a:buAutoNum type="arabicPeriod"/>
            </a:pPr>
            <a:r>
              <a:rPr lang="en-US" sz="1200" b="1" kern="1200" dirty="0" smtClean="0">
                <a:solidFill>
                  <a:schemeClr val="tx1"/>
                </a:solidFill>
                <a:latin typeface="+mn-lt"/>
                <a:ea typeface="+mn-ea"/>
                <a:cs typeface="+mn-cs"/>
              </a:rPr>
              <a:t>Communication</a:t>
            </a:r>
            <a:endParaRPr lang="en-US" sz="1200" kern="1200" dirty="0" smtClean="0">
              <a:solidFill>
                <a:schemeClr val="tx1"/>
              </a:solidFill>
              <a:latin typeface="+mn-lt"/>
              <a:ea typeface="+mn-ea"/>
              <a:cs typeface="+mn-cs"/>
            </a:endParaRPr>
          </a:p>
          <a:p>
            <a:pPr marL="228600" indent="-228600">
              <a:buFont typeface="+mj-lt"/>
              <a:buAutoNum type="arabicPeriod"/>
            </a:pPr>
            <a:r>
              <a:rPr lang="en-US" sz="1200" b="1" kern="1200" dirty="0" smtClean="0">
                <a:solidFill>
                  <a:schemeClr val="tx1"/>
                </a:solidFill>
                <a:latin typeface="+mn-lt"/>
                <a:ea typeface="+mn-ea"/>
                <a:cs typeface="+mn-cs"/>
              </a:rPr>
              <a:t>Education</a:t>
            </a:r>
            <a:endParaRPr lang="en-US" sz="1200" kern="1200" dirty="0" smtClean="0">
              <a:solidFill>
                <a:schemeClr val="tx1"/>
              </a:solidFill>
              <a:latin typeface="+mn-lt"/>
              <a:ea typeface="+mn-ea"/>
              <a:cs typeface="+mn-cs"/>
            </a:endParaRPr>
          </a:p>
          <a:p>
            <a:pPr marL="228600" indent="-228600">
              <a:buFont typeface="+mj-lt"/>
              <a:buAutoNum type="arabicPeriod"/>
            </a:pPr>
            <a:r>
              <a:rPr lang="en-US" sz="1200" b="1" kern="1200" dirty="0" smtClean="0">
                <a:solidFill>
                  <a:schemeClr val="tx1"/>
                </a:solidFill>
                <a:latin typeface="+mn-lt"/>
                <a:ea typeface="+mn-ea"/>
                <a:cs typeface="+mn-cs"/>
              </a:rPr>
              <a:t>Connection</a:t>
            </a:r>
            <a:endParaRPr lang="en-US" sz="1200" kern="1200" dirty="0" smtClean="0">
              <a:solidFill>
                <a:schemeClr val="tx1"/>
              </a:solidFill>
              <a:latin typeface="+mn-lt"/>
              <a:ea typeface="+mn-ea"/>
              <a:cs typeface="+mn-cs"/>
            </a:endParaRPr>
          </a:p>
          <a:p>
            <a:pPr marL="228600" indent="-228600">
              <a:buFont typeface="+mj-lt"/>
              <a:buAutoNum type="arabicPeriod"/>
            </a:pPr>
            <a:r>
              <a:rPr lang="en-US" sz="1200" b="1" kern="1200" dirty="0" smtClean="0">
                <a:solidFill>
                  <a:schemeClr val="tx1"/>
                </a:solidFill>
                <a:latin typeface="+mn-lt"/>
                <a:ea typeface="+mn-ea"/>
                <a:cs typeface="+mn-cs"/>
              </a:rPr>
              <a:t>Continuous Improvement</a:t>
            </a:r>
            <a:endParaRPr lang="en-US" sz="1200" kern="1200" dirty="0" smtClean="0">
              <a:solidFill>
                <a:schemeClr val="tx1"/>
              </a:solidFill>
              <a:latin typeface="+mn-lt"/>
              <a:ea typeface="+mn-ea"/>
              <a:cs typeface="+mn-cs"/>
            </a:endParaRPr>
          </a:p>
          <a:p>
            <a:endParaRPr lang="en-US" dirty="0" smtClean="0"/>
          </a:p>
          <a:p>
            <a:r>
              <a:rPr lang="en-US" dirty="0" smtClean="0"/>
              <a:t>Redding encourages</a:t>
            </a:r>
            <a:r>
              <a:rPr lang="en-US" baseline="0" dirty="0" smtClean="0"/>
              <a:t> the reader to refer to the preceding chapters for a more thorough understanding of each practice included in the checklist.</a:t>
            </a:r>
            <a:endParaRPr lang="en-US" dirty="0"/>
          </a:p>
        </p:txBody>
      </p:sp>
      <p:sp>
        <p:nvSpPr>
          <p:cNvPr id="4" name="Slide Number Placeholder 3"/>
          <p:cNvSpPr>
            <a:spLocks noGrp="1"/>
          </p:cNvSpPr>
          <p:nvPr>
            <p:ph type="sldNum" sz="quarter" idx="10"/>
          </p:nvPr>
        </p:nvSpPr>
        <p:spPr/>
        <p:txBody>
          <a:bodyPr/>
          <a:lstStyle/>
          <a:p>
            <a:fld id="{0EEE605F-4582-4D41-87D1-2E8D5E0A424B}"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smtClean="0">
                <a:solidFill>
                  <a:schemeClr val="tx1"/>
                </a:solidFill>
                <a:latin typeface="+mn-lt"/>
                <a:ea typeface="+mn-ea"/>
                <a:cs typeface="+mn-cs"/>
              </a:rPr>
              <a:t>Part </a:t>
            </a:r>
            <a:r>
              <a:rPr lang="en-US" sz="1200" kern="1200" dirty="0" smtClean="0">
                <a:solidFill>
                  <a:schemeClr val="tx1"/>
                </a:solidFill>
                <a:latin typeface="+mn-lt"/>
                <a:ea typeface="+mn-ea"/>
                <a:cs typeface="+mn-cs"/>
              </a:rPr>
              <a:t>III of the Handbook includes four vignettes, each a portrayal of people the Handbook is meant to serve.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Angela is the vignette Patricia Edwards tells of a frustrated mother and how a teacher, Mrs. Colvin, gains a new understanding of Angela and her family when she hears the family’s story.</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Sam Redding’s story of Billy is about a grown man who learns how his mother and fourth-grade teacher put their heads together to save him from loneliness when he was a boy.</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Tony, in Lori Thomas’s vignette, is a story about a little boy with special needs and his family’s struggles to do what is best for him.</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In Marie, Pam Sheley describes life on an Indian reservation and lessons a new principal learns about the families in her school.</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2B564424-2BD1-4E9C-ADA1-AC5997CB7EAE}"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will now end the narrated portion of this webinar so that your webinar facilitators can</a:t>
            </a:r>
            <a:r>
              <a:rPr lang="en-US" baseline="0" dirty="0" smtClean="0"/>
              <a:t> engage you in discussion. Thank you for participating in the two webinars on the Handbook on Family and Community Engagement.</a:t>
            </a:r>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BF70826-921D-4AC7-9BAB-D9FCA1A13DF7}"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538E67-7185-495B-84C9-96F855531AE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F70826-921D-4AC7-9BAB-D9FCA1A13DF7}"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538E67-7185-495B-84C9-96F855531AE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BF70826-921D-4AC7-9BAB-D9FCA1A13DF7}"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538E67-7185-495B-84C9-96F855531AE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BF70826-921D-4AC7-9BAB-D9FCA1A13DF7}" type="datetimeFigureOut">
              <a:rPr lang="en-US" smtClean="0"/>
              <a:pPr/>
              <a:t>11/14/2011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538E67-7185-495B-84C9-96F855531AE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F70826-921D-4AC7-9BAB-D9FCA1A13DF7}" type="datetimeFigureOut">
              <a:rPr lang="en-US" smtClean="0"/>
              <a:pPr/>
              <a:t>11/14/2011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538E67-7185-495B-84C9-96F855531AE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BF70826-921D-4AC7-9BAB-D9FCA1A13DF7}" type="datetimeFigureOut">
              <a:rPr lang="en-US" smtClean="0"/>
              <a:pPr/>
              <a:t>11/14/2011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538E67-7185-495B-84C9-96F855531AE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F70826-921D-4AC7-9BAB-D9FCA1A13DF7}" type="datetimeFigureOut">
              <a:rPr lang="en-US" smtClean="0"/>
              <a:pPr/>
              <a:t>11/14/2011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538E67-7185-495B-84C9-96F855531AE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F70826-921D-4AC7-9BAB-D9FCA1A13DF7}" type="datetimeFigureOut">
              <a:rPr lang="en-US" smtClean="0"/>
              <a:pPr/>
              <a:t>11/14/2011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538E67-7185-495B-84C9-96F855531AE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F70826-921D-4AC7-9BAB-D9FCA1A13DF7}" type="datetimeFigureOut">
              <a:rPr lang="en-US" smtClean="0"/>
              <a:pPr/>
              <a:t>11/14/2011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538E67-7185-495B-84C9-96F855531AE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F70826-921D-4AC7-9BAB-D9FCA1A13DF7}"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538E67-7185-495B-84C9-96F855531AE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F70826-921D-4AC7-9BAB-D9FCA1A13DF7}"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538E67-7185-495B-84C9-96F855531AE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F70826-921D-4AC7-9BAB-D9FCA1A13DF7}" type="datetimeFigureOut">
              <a:rPr lang="en-US" smtClean="0"/>
              <a:pPr/>
              <a:t>11/14/2011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538E67-7185-495B-84C9-96F855531AE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families-schools.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www.infoagepub.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295400"/>
            <a:ext cx="7924800" cy="838200"/>
          </a:xfrm>
        </p:spPr>
        <p:style>
          <a:lnRef idx="2">
            <a:schemeClr val="accent2"/>
          </a:lnRef>
          <a:fillRef idx="1">
            <a:schemeClr val="lt1"/>
          </a:fillRef>
          <a:effectRef idx="0">
            <a:schemeClr val="accent2"/>
          </a:effectRef>
          <a:fontRef idx="minor">
            <a:schemeClr val="dk1"/>
          </a:fontRef>
        </p:style>
        <p:txBody>
          <a:bodyPr>
            <a:normAutofit fontScale="90000"/>
          </a:bodyPr>
          <a:lstStyle/>
          <a:p>
            <a:r>
              <a:rPr lang="en-US" b="1" dirty="0" smtClean="0"/>
              <a:t>Family and Community Engagement</a:t>
            </a:r>
            <a:endParaRPr lang="en-US" b="1" dirty="0"/>
          </a:p>
        </p:txBody>
      </p:sp>
      <p:sp>
        <p:nvSpPr>
          <p:cNvPr id="3" name="Subtitle 2"/>
          <p:cNvSpPr>
            <a:spLocks noGrp="1"/>
          </p:cNvSpPr>
          <p:nvPr>
            <p:ph type="subTitle" idx="1"/>
          </p:nvPr>
        </p:nvSpPr>
        <p:spPr>
          <a:xfrm>
            <a:off x="2667000" y="4572000"/>
            <a:ext cx="5257800" cy="1066800"/>
          </a:xfrm>
        </p:spPr>
        <p:txBody>
          <a:bodyPr>
            <a:normAutofit fontScale="62500" lnSpcReduction="20000"/>
          </a:bodyPr>
          <a:lstStyle/>
          <a:p>
            <a:r>
              <a:rPr lang="en-US" dirty="0" smtClean="0">
                <a:solidFill>
                  <a:schemeClr val="tx1"/>
                </a:solidFill>
              </a:rPr>
              <a:t>Center on Innovation &amp; Improvement</a:t>
            </a:r>
          </a:p>
          <a:p>
            <a:r>
              <a:rPr lang="en-US" dirty="0" smtClean="0">
                <a:solidFill>
                  <a:schemeClr val="tx1"/>
                </a:solidFill>
              </a:rPr>
              <a:t>Office of Elementary and Secondary Education</a:t>
            </a:r>
          </a:p>
          <a:p>
            <a:r>
              <a:rPr lang="en-US" dirty="0" smtClean="0">
                <a:solidFill>
                  <a:schemeClr val="tx1"/>
                </a:solidFill>
              </a:rPr>
              <a:t>U. S. Department of Education</a:t>
            </a:r>
            <a:endParaRPr lang="en-US" dirty="0">
              <a:solidFill>
                <a:schemeClr val="tx1"/>
              </a:solidFill>
            </a:endParaRPr>
          </a:p>
        </p:txBody>
      </p:sp>
      <p:sp>
        <p:nvSpPr>
          <p:cNvPr id="4" name="TextBox 3"/>
          <p:cNvSpPr txBox="1"/>
          <p:nvPr/>
        </p:nvSpPr>
        <p:spPr>
          <a:xfrm>
            <a:off x="1447800" y="2590800"/>
            <a:ext cx="6477000" cy="138499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2800" dirty="0" smtClean="0"/>
              <a:t>Webinar 2: A Walk Through the Handbook</a:t>
            </a:r>
          </a:p>
          <a:p>
            <a:pPr algn="ctr"/>
            <a:r>
              <a:rPr lang="en-US" sz="2800" dirty="0" smtClean="0"/>
              <a:t>Families and Schools</a:t>
            </a:r>
          </a:p>
          <a:p>
            <a:pPr algn="ctr"/>
            <a:r>
              <a:rPr lang="en-US" sz="2800" dirty="0" smtClean="0"/>
              <a:t>Checklist of Recommended Practices</a:t>
            </a:r>
            <a:endParaRPr lang="en-US" sz="2800" dirty="0"/>
          </a:p>
        </p:txBody>
      </p:sp>
      <p:pic>
        <p:nvPicPr>
          <p:cNvPr id="5" name="Picture 4" descr="C:\Users\Sam Redding\Documents\CURRENT WORK JUNE\OCTOBER\FACE - Phase II\Handbook Cover IAP.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38200" y="4191000"/>
            <a:ext cx="1695519" cy="2292533"/>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Welcome!</a:t>
            </a:r>
            <a:endParaRPr lang="en-US"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lstStyle/>
          <a:p>
            <a:pPr algn="ctr">
              <a:buNone/>
            </a:pPr>
            <a:endParaRPr lang="en-US" dirty="0" smtClean="0"/>
          </a:p>
          <a:p>
            <a:pPr algn="ctr">
              <a:buNone/>
            </a:pPr>
            <a:r>
              <a:rPr lang="en-US" dirty="0" smtClean="0"/>
              <a:t>Download the Handbook free from: </a:t>
            </a:r>
          </a:p>
          <a:p>
            <a:pPr algn="ctr">
              <a:buNone/>
            </a:pPr>
            <a:r>
              <a:rPr lang="en-US" dirty="0" smtClean="0">
                <a:hlinkClick r:id="rId3"/>
              </a:rPr>
              <a:t>www.families-schools.org</a:t>
            </a:r>
            <a:endParaRPr lang="en-US" dirty="0" smtClean="0"/>
          </a:p>
          <a:p>
            <a:pPr algn="ctr">
              <a:buNone/>
            </a:pPr>
            <a:endParaRPr lang="en-US" dirty="0" smtClean="0"/>
          </a:p>
          <a:p>
            <a:pPr algn="ctr">
              <a:buNone/>
            </a:pPr>
            <a:r>
              <a:rPr lang="en-US" dirty="0" smtClean="0"/>
              <a:t>Or purchase the published version from:</a:t>
            </a:r>
          </a:p>
          <a:p>
            <a:pPr algn="ctr">
              <a:buNone/>
            </a:pPr>
            <a:r>
              <a:rPr lang="en-US" dirty="0" smtClean="0"/>
              <a:t>Information Age Publishing</a:t>
            </a:r>
          </a:p>
          <a:p>
            <a:pPr algn="ctr">
              <a:buNone/>
            </a:pPr>
            <a:r>
              <a:rPr lang="en-US" smtClean="0">
                <a:solidFill>
                  <a:schemeClr val="tx1"/>
                </a:solidFill>
                <a:hlinkClick r:id="rId4"/>
              </a:rPr>
              <a:t>www.infoagepub.com</a:t>
            </a:r>
            <a:r>
              <a:rPr lang="en-US" smtClean="0">
                <a:solidFill>
                  <a:schemeClr val="tx1"/>
                </a:solidFill>
              </a:rPr>
              <a:t> </a:t>
            </a:r>
            <a:endParaRPr lang="en-US" dirty="0" smtClean="0">
              <a:solidFill>
                <a:schemeClr val="tx1"/>
              </a:solidFill>
            </a:endParaRPr>
          </a:p>
          <a:p>
            <a:pPr algn="ctr">
              <a:buNone/>
            </a:pPr>
            <a:endParaRPr lang="en-US" dirty="0" smtClean="0"/>
          </a:p>
          <a:p>
            <a:pPr algn="ct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How the Handbook is Organized?</a:t>
            </a:r>
            <a:endParaRPr lang="en-US" dirty="0"/>
          </a:p>
        </p:txBody>
      </p:sp>
      <p:sp>
        <p:nvSpPr>
          <p:cNvPr id="3" name="Content Placeholder 2"/>
          <p:cNvSpPr>
            <a:spLocks noGrp="1"/>
          </p:cNvSpPr>
          <p:nvPr>
            <p:ph idx="1"/>
          </p:nvPr>
        </p:nvSpPr>
        <p:spPr/>
        <p:txBody>
          <a:bodyPr/>
          <a:lstStyle/>
          <a:p>
            <a:r>
              <a:rPr lang="en-US" dirty="0" smtClean="0"/>
              <a:t>Part I: Framing the Discussion</a:t>
            </a:r>
          </a:p>
          <a:p>
            <a:r>
              <a:rPr lang="en-US" dirty="0" smtClean="0"/>
              <a:t>Part II: Families and Learning</a:t>
            </a:r>
          </a:p>
          <a:p>
            <a:r>
              <a:rPr lang="en-US" dirty="0" smtClean="0"/>
              <a:t>Part III: Families and Schools</a:t>
            </a:r>
          </a:p>
          <a:p>
            <a:r>
              <a:rPr lang="en-US" dirty="0" smtClean="0"/>
              <a:t>Part IV: Checklist of Suggested Practices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Why the Handbook?</a:t>
            </a:r>
            <a:endParaRPr lang="en-US"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lstStyle/>
          <a:p>
            <a:r>
              <a:rPr lang="en-US" dirty="0" smtClean="0"/>
              <a:t>Bring best research together in one place</a:t>
            </a:r>
          </a:p>
          <a:p>
            <a:r>
              <a:rPr lang="en-US" dirty="0" smtClean="0"/>
              <a:t>Add the wisdom of many voices</a:t>
            </a:r>
          </a:p>
          <a:p>
            <a:r>
              <a:rPr lang="en-US" dirty="0" smtClean="0"/>
              <a:t>Present in a straight-forward manner</a:t>
            </a:r>
          </a:p>
          <a:p>
            <a:r>
              <a:rPr lang="en-US" dirty="0" smtClean="0"/>
              <a:t>Provide practical application</a:t>
            </a:r>
          </a:p>
          <a:p>
            <a:r>
              <a:rPr lang="en-US" dirty="0" smtClean="0"/>
              <a:t>Include ample references and resources</a:t>
            </a:r>
          </a:p>
          <a:p>
            <a:r>
              <a:rPr lang="en-US" dirty="0" smtClean="0"/>
              <a:t>Leaven with a dash of reality with vignettes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Part III: Families and Schools</a:t>
            </a:r>
            <a:endParaRPr lang="en-US"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normAutofit fontScale="92500" lnSpcReduction="20000"/>
          </a:bodyPr>
          <a:lstStyle/>
          <a:p>
            <a:r>
              <a:rPr lang="en-US" dirty="0" smtClean="0"/>
              <a:t>A Framework for Partnerships</a:t>
            </a:r>
          </a:p>
          <a:p>
            <a:r>
              <a:rPr lang="en-US" dirty="0" smtClean="0"/>
              <a:t>Parent Leadership</a:t>
            </a:r>
          </a:p>
          <a:p>
            <a:r>
              <a:rPr lang="en-US" dirty="0" smtClean="0"/>
              <a:t>Maximum Homework Impact: Optimizing Time, Purpose, Communication, and Collaboration</a:t>
            </a:r>
          </a:p>
          <a:p>
            <a:r>
              <a:rPr lang="en-US" dirty="0" smtClean="0"/>
              <a:t>Differentiating Family Supports</a:t>
            </a:r>
          </a:p>
          <a:p>
            <a:r>
              <a:rPr lang="en-US" dirty="0" smtClean="0"/>
              <a:t>Bridging Language and Culture</a:t>
            </a:r>
          </a:p>
          <a:p>
            <a:r>
              <a:rPr lang="en-US" dirty="0" smtClean="0"/>
              <a:t>Minority Families and Schooling</a:t>
            </a:r>
          </a:p>
          <a:p>
            <a:r>
              <a:rPr lang="en-US" dirty="0" smtClean="0"/>
              <a:t>Association of Poverty with Family Relations and Children’s and Adolescents’ Socio-emotional Adjustment</a:t>
            </a:r>
          </a:p>
          <a:p>
            <a:endParaRPr lang="en-US" dirty="0" smtClean="0"/>
          </a:p>
          <a:p>
            <a:endParaRPr lang="en-US" dirty="0" smtClean="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Part III: Families and Schools</a:t>
            </a:r>
            <a:endParaRPr lang="en-US"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normAutofit fontScale="92500"/>
          </a:bodyPr>
          <a:lstStyle/>
          <a:p>
            <a:r>
              <a:rPr lang="en-US" dirty="0" smtClean="0"/>
              <a:t>Families of Children with Disabilities: Building School-Family Partnerships</a:t>
            </a:r>
          </a:p>
          <a:p>
            <a:r>
              <a:rPr lang="en-US" dirty="0" smtClean="0"/>
              <a:t>Linking Schools to Early Childhood</a:t>
            </a:r>
          </a:p>
          <a:p>
            <a:r>
              <a:rPr lang="en-US" dirty="0" smtClean="0"/>
              <a:t>Family Engagement in High Schools</a:t>
            </a:r>
          </a:p>
          <a:p>
            <a:r>
              <a:rPr lang="en-US" dirty="0" smtClean="0"/>
              <a:t>Family and Community Engagement in Charter Schools</a:t>
            </a:r>
          </a:p>
          <a:p>
            <a:r>
              <a:rPr lang="en-US" dirty="0" smtClean="0"/>
              <a:t>Family Engagement in Rural Schools</a:t>
            </a:r>
          </a:p>
          <a:p>
            <a:r>
              <a:rPr lang="en-US" dirty="0" smtClean="0"/>
              <a:t>Bridging Two Worlds for Native American Families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A Framework for Partnerships</a:t>
            </a:r>
            <a:br>
              <a:rPr lang="en-US" sz="3200" dirty="0" smtClean="0"/>
            </a:br>
            <a:r>
              <a:rPr lang="en-US" sz="3200" dirty="0" smtClean="0"/>
              <a:t>Steven B. Sheldon</a:t>
            </a:r>
            <a:endParaRPr lang="en-US" sz="3200" dirty="0"/>
          </a:p>
        </p:txBody>
      </p:sp>
      <p:sp>
        <p:nvSpPr>
          <p:cNvPr id="3" name="Content Placeholder 2"/>
          <p:cNvSpPr>
            <a:spLocks noGrp="1"/>
          </p:cNvSpPr>
          <p:nvPr>
            <p:ph idx="1"/>
          </p:nvPr>
        </p:nvSpPr>
        <p:spPr>
          <a:xfrm>
            <a:off x="457200" y="2209800"/>
            <a:ext cx="8229600" cy="3276600"/>
          </a:xfrm>
        </p:spPr>
        <p:style>
          <a:lnRef idx="2">
            <a:schemeClr val="accent2"/>
          </a:lnRef>
          <a:fillRef idx="1">
            <a:schemeClr val="lt1"/>
          </a:fillRef>
          <a:effectRef idx="0">
            <a:schemeClr val="accent2"/>
          </a:effectRef>
          <a:fontRef idx="minor">
            <a:schemeClr val="dk1"/>
          </a:fontRef>
        </p:style>
        <p:txBody>
          <a:bodyPr>
            <a:normAutofit/>
          </a:bodyPr>
          <a:lstStyle/>
          <a:p>
            <a:pPr>
              <a:buNone/>
            </a:pPr>
            <a:r>
              <a:rPr lang="en-US" dirty="0" smtClean="0"/>
              <a:t>“The four organizational principles for a strong partnership program are: (1) employing teamwork; (2) writing annual, goal-oriented action plans; (3) using a multidimensional definition of involvement or engagement; and (4) evaluating partnership practices.”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3600" dirty="0" smtClean="0"/>
              <a:t>Parent Leadership</a:t>
            </a:r>
            <a:br>
              <a:rPr lang="en-US" sz="3600" dirty="0" smtClean="0"/>
            </a:br>
            <a:r>
              <a:rPr lang="en-US" sz="3600" dirty="0" smtClean="0"/>
              <a:t>Anne T. Henderson &amp; Sam Redding</a:t>
            </a:r>
            <a:endParaRPr lang="en-US" dirty="0"/>
          </a:p>
        </p:txBody>
      </p:sp>
      <p:sp>
        <p:nvSpPr>
          <p:cNvPr id="3" name="Content Placeholder 2"/>
          <p:cNvSpPr>
            <a:spLocks noGrp="1"/>
          </p:cNvSpPr>
          <p:nvPr>
            <p:ph idx="1"/>
          </p:nvPr>
        </p:nvSpPr>
        <p:spPr>
          <a:xfrm>
            <a:off x="457200" y="2209800"/>
            <a:ext cx="8229600" cy="27432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“Where leadership is shared with parents, research demonstrates its power in boosting school improvement. It also accesses an untapped resource and lifts the life prospects of the parent leaders themselves.”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600200"/>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3600" dirty="0" smtClean="0"/>
              <a:t>Maximum Homework Impact: Optimizing Time, Purpose, Communication, and Collaboration—Frances Van </a:t>
            </a:r>
            <a:r>
              <a:rPr lang="en-US" sz="3600" dirty="0" err="1" smtClean="0"/>
              <a:t>Voorhis</a:t>
            </a:r>
            <a:endParaRPr lang="en-US" dirty="0"/>
          </a:p>
        </p:txBody>
      </p:sp>
      <p:sp>
        <p:nvSpPr>
          <p:cNvPr id="3" name="Content Placeholder 2"/>
          <p:cNvSpPr>
            <a:spLocks noGrp="1"/>
          </p:cNvSpPr>
          <p:nvPr>
            <p:ph idx="1"/>
          </p:nvPr>
        </p:nvSpPr>
        <p:spPr>
          <a:xfrm>
            <a:off x="457200" y="2971801"/>
            <a:ext cx="8229600" cy="16764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“Teachers play critical roles in homework design, student perception, and encouraging appropriate levels of family involvement.”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Differentiating Family Supports</a:t>
            </a:r>
            <a:br>
              <a:rPr lang="en-US" sz="3200" dirty="0" smtClean="0"/>
            </a:br>
            <a:r>
              <a:rPr lang="en-US" sz="3200" dirty="0" smtClean="0"/>
              <a:t>Patricia Edwards </a:t>
            </a:r>
            <a:endParaRPr lang="en-US" sz="3200"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“The rationale for differentiating family supports comes from theory, research, and educational common sense. Educators must understand that parents are not all the same. They have their own strengths and weaknesses, complexities, problems, and questions, and we must work with them and see them as more than ‘just parents.’”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Bridging Language and Culture</a:t>
            </a:r>
            <a:br>
              <a:rPr lang="en-US" sz="3200" dirty="0" smtClean="0"/>
            </a:br>
            <a:r>
              <a:rPr lang="en-US" sz="3200" dirty="0" smtClean="0"/>
              <a:t>Patricia </a:t>
            </a:r>
            <a:r>
              <a:rPr lang="en-US" sz="3200" dirty="0" err="1" smtClean="0"/>
              <a:t>Gándara</a:t>
            </a:r>
            <a:endParaRPr lang="en-US" sz="3200" dirty="0"/>
          </a:p>
        </p:txBody>
      </p:sp>
      <p:sp>
        <p:nvSpPr>
          <p:cNvPr id="3" name="Content Placeholder 2"/>
          <p:cNvSpPr>
            <a:spLocks noGrp="1"/>
          </p:cNvSpPr>
          <p:nvPr>
            <p:ph idx="1"/>
          </p:nvPr>
        </p:nvSpPr>
        <p:spPr>
          <a:xfrm>
            <a:off x="457200" y="2133600"/>
            <a:ext cx="8229600" cy="22098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“Our greatest concern must be with those parents and children who do not have the social capital or the English skills to be able to navigate the education system.”</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Minority Families and Schooling</a:t>
            </a:r>
            <a:br>
              <a:rPr lang="en-US" sz="3200" dirty="0" smtClean="0"/>
            </a:br>
            <a:r>
              <a:rPr lang="en-US" sz="3200" dirty="0" smtClean="0"/>
              <a:t>Susan Paik</a:t>
            </a:r>
            <a:endParaRPr lang="en-US" sz="3200" dirty="0"/>
          </a:p>
        </p:txBody>
      </p:sp>
      <p:sp>
        <p:nvSpPr>
          <p:cNvPr id="3" name="Content Placeholder 2"/>
          <p:cNvSpPr>
            <a:spLocks noGrp="1"/>
          </p:cNvSpPr>
          <p:nvPr>
            <p:ph idx="1"/>
          </p:nvPr>
        </p:nvSpPr>
        <p:spPr>
          <a:xfrm>
            <a:off x="457200" y="2133601"/>
            <a:ext cx="8229600" cy="2362199"/>
          </a:xfrm>
        </p:spPr>
        <p:style>
          <a:lnRef idx="2">
            <a:schemeClr val="accent2"/>
          </a:lnRef>
          <a:fillRef idx="1">
            <a:schemeClr val="lt1"/>
          </a:fillRef>
          <a:effectRef idx="0">
            <a:schemeClr val="accent2"/>
          </a:effectRef>
          <a:fontRef idx="minor">
            <a:schemeClr val="dk1"/>
          </a:fontRef>
        </p:style>
        <p:txBody>
          <a:bodyPr>
            <a:normAutofit lnSpcReduction="10000"/>
          </a:bodyPr>
          <a:lstStyle/>
          <a:p>
            <a:pPr>
              <a:buNone/>
            </a:pPr>
            <a:r>
              <a:rPr lang="en-US" dirty="0" smtClean="0"/>
              <a:t>“Many minority families tend to reside in poor neighborhoods. Facing cultural, language, and economic barriers, their children’s achievement gap widens throughout the school years.”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Pause to Reflect</a:t>
            </a:r>
            <a:endParaRPr lang="en-US" dirty="0"/>
          </a:p>
        </p:txBody>
      </p:sp>
      <p:sp>
        <p:nvSpPr>
          <p:cNvPr id="4" name="Content Placeholder 2"/>
          <p:cNvSpPr>
            <a:spLocks noGrp="1"/>
          </p:cNvSpPr>
          <p:nvPr>
            <p:ph idx="1"/>
          </p:nvPr>
        </p:nvSpPr>
        <p:spPr>
          <a:xfrm>
            <a:off x="457200" y="2286001"/>
            <a:ext cx="8229600" cy="18288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What struck a chord with you in these Part III chapters? – Jot a couple notes for the discussion later.</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6764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2600" dirty="0" smtClean="0"/>
              <a:t>Association of Poverty with Family Relations and Children’s and Adolescents’ Socio-emotional Adjustment</a:t>
            </a:r>
            <a:br>
              <a:rPr lang="en-US" sz="2600" dirty="0" smtClean="0"/>
            </a:br>
            <a:r>
              <a:rPr lang="en-US" sz="2600" dirty="0" smtClean="0"/>
              <a:t>Ronald Taylor </a:t>
            </a:r>
            <a:endParaRPr lang="en-US" sz="2600" dirty="0"/>
          </a:p>
        </p:txBody>
      </p:sp>
      <p:sp>
        <p:nvSpPr>
          <p:cNvPr id="3" name="Content Placeholder 2"/>
          <p:cNvSpPr>
            <a:spLocks noGrp="1"/>
          </p:cNvSpPr>
          <p:nvPr>
            <p:ph idx="1"/>
          </p:nvPr>
        </p:nvSpPr>
        <p:spPr>
          <a:xfrm>
            <a:off x="457200" y="2667000"/>
            <a:ext cx="8229600" cy="27432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“The effects of poverty and economic problems on children are indirect and operate through their impact on parents’ adjustment, interpersonal relations, and parenting practices.”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524000"/>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3600" dirty="0" smtClean="0"/>
              <a:t>Families of Children with Disabilities: Building School-Family Partnerships</a:t>
            </a:r>
            <a:br>
              <a:rPr lang="en-US" sz="3600" dirty="0" smtClean="0"/>
            </a:br>
            <a:r>
              <a:rPr lang="en-US" sz="3600" dirty="0" smtClean="0"/>
              <a:t>Eva </a:t>
            </a:r>
            <a:r>
              <a:rPr lang="en-US" sz="3600" dirty="0" err="1" smtClean="0"/>
              <a:t>Patrikakou</a:t>
            </a:r>
            <a:endParaRPr lang="en-US" dirty="0"/>
          </a:p>
        </p:txBody>
      </p:sp>
      <p:sp>
        <p:nvSpPr>
          <p:cNvPr id="3" name="Content Placeholder 2"/>
          <p:cNvSpPr>
            <a:spLocks noGrp="1"/>
          </p:cNvSpPr>
          <p:nvPr>
            <p:ph idx="1"/>
          </p:nvPr>
        </p:nvSpPr>
        <p:spPr>
          <a:xfrm>
            <a:off x="457200" y="2743200"/>
            <a:ext cx="8229600" cy="3382963"/>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“A key factor in establishing and maintaining home–school partnerships is ongoing and productive communication. The need for communication between educators and families becomes even greater for students with disabilities.”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Linking Schools to Early Childhood</a:t>
            </a:r>
            <a:br>
              <a:rPr lang="en-US" sz="3200" dirty="0" smtClean="0"/>
            </a:br>
            <a:r>
              <a:rPr lang="en-US" sz="3200" dirty="0" smtClean="0"/>
              <a:t>Kate </a:t>
            </a:r>
            <a:r>
              <a:rPr lang="en-US" sz="3200" dirty="0" err="1" smtClean="0"/>
              <a:t>McGilly</a:t>
            </a:r>
            <a:endParaRPr lang="en-US" sz="3200"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“A child who is ready for school is socially, emotionally, and cognitively ready. The contexts in which children develop from birth—the relationships they form, the environments in which they are placed, the responsiveness of those environments—are predictive of readiness for and later success in school.”</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3600" dirty="0" smtClean="0"/>
              <a:t>Family Engagement in High Schools</a:t>
            </a:r>
            <a:br>
              <a:rPr lang="en-US" sz="3600" dirty="0" smtClean="0"/>
            </a:br>
            <a:r>
              <a:rPr lang="en-US" sz="3600" dirty="0" smtClean="0"/>
              <a:t>Mavis Sanders</a:t>
            </a:r>
            <a:endParaRPr lang="en-US"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“Adolescents’ success in high school is enhanced by home-based family engagement and communication practices. Further, communications about school and postsecondary plans between parents and adolescents and among parents, adolescents, and school teachers are positively associated with students’ school success.”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676400"/>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3600" dirty="0" smtClean="0"/>
              <a:t>Family and Community Engagement </a:t>
            </a:r>
            <a:br>
              <a:rPr lang="en-US" sz="3600" dirty="0" smtClean="0"/>
            </a:br>
            <a:r>
              <a:rPr lang="en-US" sz="3600" dirty="0" smtClean="0"/>
              <a:t>in Charter Schools</a:t>
            </a:r>
            <a:br>
              <a:rPr lang="en-US" sz="3600" dirty="0" smtClean="0"/>
            </a:br>
            <a:r>
              <a:rPr lang="en-US" sz="3600" dirty="0" smtClean="0"/>
              <a:t>Brian R. </a:t>
            </a:r>
            <a:r>
              <a:rPr lang="en-US" sz="3600" dirty="0" err="1" smtClean="0"/>
              <a:t>Beabout</a:t>
            </a:r>
            <a:r>
              <a:rPr lang="en-US" sz="3600" dirty="0" smtClean="0"/>
              <a:t> &amp; Lindsey B. </a:t>
            </a:r>
            <a:r>
              <a:rPr lang="en-US" sz="3600" dirty="0" err="1" smtClean="0"/>
              <a:t>Jakiel</a:t>
            </a:r>
            <a:endParaRPr lang="en-US" dirty="0"/>
          </a:p>
        </p:txBody>
      </p:sp>
      <p:sp>
        <p:nvSpPr>
          <p:cNvPr id="3" name="Content Placeholder 2"/>
          <p:cNvSpPr>
            <a:spLocks noGrp="1"/>
          </p:cNvSpPr>
          <p:nvPr>
            <p:ph idx="1"/>
          </p:nvPr>
        </p:nvSpPr>
        <p:spPr>
          <a:xfrm>
            <a:off x="457200" y="2743200"/>
            <a:ext cx="8229600" cy="28194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“Increasing the levels of family and community engagement in schools has been an important rationale for the creation of charter schools from the beginnings of the movement in the early 1990s.”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3600" dirty="0" smtClean="0"/>
              <a:t>Family Engagement in Rural Schools</a:t>
            </a:r>
            <a:br>
              <a:rPr lang="en-US" sz="3600" dirty="0" smtClean="0"/>
            </a:br>
            <a:r>
              <a:rPr lang="en-US" sz="3600" dirty="0" smtClean="0"/>
              <a:t>Amanda Witte and Susan Sheridan</a:t>
            </a:r>
            <a:endParaRPr lang="en-US" dirty="0"/>
          </a:p>
        </p:txBody>
      </p:sp>
      <p:sp>
        <p:nvSpPr>
          <p:cNvPr id="3" name="Content Placeholder 2"/>
          <p:cNvSpPr>
            <a:spLocks noGrp="1"/>
          </p:cNvSpPr>
          <p:nvPr>
            <p:ph idx="1"/>
          </p:nvPr>
        </p:nvSpPr>
        <p:spPr>
          <a:xfrm>
            <a:off x="457200" y="2133601"/>
            <a:ext cx="8229600" cy="32004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“Rural schools are uniquely positioned to foster and benefit from family–school partnerships. Because of their centrality within the community, rural schools routinely connect with families in multiple capacities as part of typical daily routines.”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30362"/>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3200" dirty="0" smtClean="0"/>
              <a:t>Bridging Two Worlds </a:t>
            </a:r>
            <a:br>
              <a:rPr lang="en-US" sz="3200" dirty="0" smtClean="0"/>
            </a:br>
            <a:r>
              <a:rPr lang="en-US" sz="3200" dirty="0" smtClean="0"/>
              <a:t>for Native American Families</a:t>
            </a:r>
            <a:br>
              <a:rPr lang="en-US" sz="3200" dirty="0" smtClean="0"/>
            </a:br>
            <a:r>
              <a:rPr lang="en-US" sz="3200" dirty="0" smtClean="0"/>
              <a:t>Pamela Sheley </a:t>
            </a:r>
            <a:endParaRPr lang="en-US" sz="3200" dirty="0"/>
          </a:p>
        </p:txBody>
      </p:sp>
      <p:sp>
        <p:nvSpPr>
          <p:cNvPr id="3" name="Content Placeholder 2"/>
          <p:cNvSpPr>
            <a:spLocks noGrp="1"/>
          </p:cNvSpPr>
          <p:nvPr>
            <p:ph idx="1"/>
          </p:nvPr>
        </p:nvSpPr>
        <p:spPr>
          <a:xfrm>
            <a:off x="457200" y="2209800"/>
            <a:ext cx="8229600" cy="3916363"/>
          </a:xfr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r>
              <a:rPr lang="en-US" dirty="0" smtClean="0"/>
              <a:t>Persistence matters. Enlist the willing parents who attend school functions to </a:t>
            </a:r>
            <a:r>
              <a:rPr lang="en-US" dirty="0" err="1" smtClean="0"/>
              <a:t>to</a:t>
            </a:r>
            <a:r>
              <a:rPr lang="en-US" dirty="0" smtClean="0"/>
              <a:t> help communicate with other families. Talk to the tribal council and involve them in the school. Speak to the elders and include them when teaching the students of their heritage and culture. Invite parents in to share special skills related to supporting at home their children’s success at school.”</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Pause to Reflect</a:t>
            </a:r>
            <a:endParaRPr lang="en-US" dirty="0"/>
          </a:p>
        </p:txBody>
      </p:sp>
      <p:sp>
        <p:nvSpPr>
          <p:cNvPr id="4" name="Content Placeholder 2"/>
          <p:cNvSpPr>
            <a:spLocks noGrp="1"/>
          </p:cNvSpPr>
          <p:nvPr>
            <p:ph idx="1"/>
          </p:nvPr>
        </p:nvSpPr>
        <p:spPr>
          <a:xfrm>
            <a:off x="533400" y="2133600"/>
            <a:ext cx="8229600" cy="19812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What struck a chord with you in these Part III chapters? – Jot a couple notes for the discussion later.</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77962"/>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600" dirty="0" smtClean="0"/>
              <a:t>Part IV: Checklist of Suggested Practices</a:t>
            </a:r>
            <a:br>
              <a:rPr lang="en-US" sz="3600" dirty="0" smtClean="0"/>
            </a:br>
            <a:r>
              <a:rPr lang="en-US" sz="3600" dirty="0" smtClean="0"/>
              <a:t>Sam Redding</a:t>
            </a:r>
            <a:endParaRPr lang="en-US" sz="3600" dirty="0"/>
          </a:p>
        </p:txBody>
      </p:sp>
      <p:sp>
        <p:nvSpPr>
          <p:cNvPr id="3" name="Content Placeholder 2"/>
          <p:cNvSpPr>
            <a:spLocks noGrp="1"/>
          </p:cNvSpPr>
          <p:nvPr>
            <p:ph idx="1"/>
          </p:nvPr>
        </p:nvSpPr>
        <p:spPr>
          <a:xfrm>
            <a:off x="457200" y="2514600"/>
            <a:ext cx="8229600" cy="3611563"/>
          </a:xfrm>
        </p:spPr>
        <p:txBody>
          <a:bodyPr>
            <a:normAutofit fontScale="92500" lnSpcReduction="20000"/>
          </a:bodyPr>
          <a:lstStyle/>
          <a:p>
            <a:pPr>
              <a:buNone/>
            </a:pPr>
            <a:r>
              <a:rPr lang="en-US" dirty="0" smtClean="0"/>
              <a:t>“Each contributor brought to the Handbook his or her own passions, special interests, personal background, and experience. The contributors synthesized the research and offered practical action principles for State Education Agencies, Local Education Agencies, and schools. This chapter provides a checklist of suggested practices derived from the action principles in the preceding chapters.”</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The Vignettes</a:t>
            </a:r>
            <a:endParaRPr lang="en-US"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normAutofit/>
          </a:bodyPr>
          <a:lstStyle/>
          <a:p>
            <a:r>
              <a:rPr lang="en-US" i="1" dirty="0" smtClean="0"/>
              <a:t>Angela</a:t>
            </a:r>
            <a:r>
              <a:rPr lang="en-US" dirty="0" smtClean="0"/>
              <a:t>, by Patricia Edwards</a:t>
            </a:r>
          </a:p>
          <a:p>
            <a:r>
              <a:rPr lang="en-US" i="1" dirty="0" smtClean="0"/>
              <a:t>Billy</a:t>
            </a:r>
            <a:r>
              <a:rPr lang="en-US" dirty="0" smtClean="0"/>
              <a:t>, by Sam Redding</a:t>
            </a:r>
          </a:p>
          <a:p>
            <a:r>
              <a:rPr lang="en-US" i="1" dirty="0" smtClean="0"/>
              <a:t>Tony</a:t>
            </a:r>
            <a:r>
              <a:rPr lang="en-US" dirty="0" smtClean="0"/>
              <a:t>, by Lori Thomas</a:t>
            </a:r>
          </a:p>
          <a:p>
            <a:r>
              <a:rPr lang="en-US" i="1" dirty="0" smtClean="0"/>
              <a:t>Marie</a:t>
            </a:r>
            <a:r>
              <a:rPr lang="en-US" dirty="0" smtClean="0"/>
              <a:t>, by Pamela Sheley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Discussion</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What struck a chord with you in Parts III and IV, and how does it relate to your role?</a:t>
            </a:r>
          </a:p>
          <a:p>
            <a:pPr marL="514350" indent="-514350">
              <a:buFont typeface="+mj-lt"/>
              <a:buAutoNum type="arabicPeriod"/>
            </a:pPr>
            <a:r>
              <a:rPr lang="en-US" dirty="0" smtClean="0"/>
              <a:t>What question do you have that one of the webinar participants or facilitators might be able to answer?</a:t>
            </a:r>
          </a:p>
          <a:p>
            <a:pPr marL="514350" indent="-514350">
              <a:buFont typeface="+mj-lt"/>
              <a:buAutoNum type="arabicPeriod"/>
            </a:pPr>
            <a:endParaRPr lang="en-US" dirty="0"/>
          </a:p>
        </p:txBody>
      </p:sp>
      <p:pic>
        <p:nvPicPr>
          <p:cNvPr id="4" name="Picture 3" descr="C:\Users\Sam Redding\Documents\CURRENT WORK JUNE\OCTOBER\FACE - Phase II\Handbook Cover IAP.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553200" y="4038600"/>
            <a:ext cx="1695519" cy="2292533"/>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TotalTime>
  <Words>3284</Words>
  <Application>Microsoft Office PowerPoint</Application>
  <PresentationFormat>On-screen Show (4:3)</PresentationFormat>
  <Paragraphs>170</Paragraphs>
  <Slides>24</Slides>
  <Notes>24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Family and Community Engagement</vt:lpstr>
      <vt:lpstr>Welcome!</vt:lpstr>
      <vt:lpstr>How the Handbook is Organized?</vt:lpstr>
      <vt:lpstr>Why the Handbook?</vt:lpstr>
      <vt:lpstr>Part III: Families and Schools</vt:lpstr>
      <vt:lpstr>Part III: Families and Schools</vt:lpstr>
      <vt:lpstr>A Framework for Partnerships Steven B. Sheldon</vt:lpstr>
      <vt:lpstr>Parent Leadership Anne T. Henderson &amp; Sam Redding</vt:lpstr>
      <vt:lpstr>Maximum Homework Impact: Optimizing Time, Purpose, Communication, and Collaboration—Frances Van Voorhis</vt:lpstr>
      <vt:lpstr>Differentiating Family Supports Patricia Edwards </vt:lpstr>
      <vt:lpstr>Bridging Language and Culture Patricia Gándara</vt:lpstr>
      <vt:lpstr>Minority Families and Schooling Susan Paik</vt:lpstr>
      <vt:lpstr>Pause to Reflect</vt:lpstr>
      <vt:lpstr>Association of Poverty with Family Relations and Children’s and Adolescents’ Socio-emotional Adjustment Ronald Taylor </vt:lpstr>
      <vt:lpstr>Families of Children with Disabilities: Building School-Family Partnerships Eva Patrikakou</vt:lpstr>
      <vt:lpstr>Linking Schools to Early Childhood Kate McGilly</vt:lpstr>
      <vt:lpstr>Family Engagement in High Schools Mavis Sanders</vt:lpstr>
      <vt:lpstr>Family and Community Engagement  in Charter Schools Brian R. Beabout &amp; Lindsey B. Jakiel</vt:lpstr>
      <vt:lpstr>Family Engagement in Rural Schools Amanda Witte and Susan Sheridan</vt:lpstr>
      <vt:lpstr>Bridging Two Worlds  for Native American Families Pamela Sheley </vt:lpstr>
      <vt:lpstr>Pause to Reflect</vt:lpstr>
      <vt:lpstr>Part IV: Checklist of Suggested Practices Sam Redding</vt:lpstr>
      <vt:lpstr>The Vignettes</vt:lpstr>
      <vt:lpstr>Discussion</vt:lpstr>
    </vt:vector>
  </TitlesOfParts>
  <Company>Academic Development Inst.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Sam Redding</dc:creator>
  <cp:lastModifiedBy>Reatha Owen</cp:lastModifiedBy>
  <cp:revision>34</cp:revision>
  <dcterms:created xsi:type="dcterms:W3CDTF">2011-09-24T19:10:11Z</dcterms:created>
  <dcterms:modified xsi:type="dcterms:W3CDTF">2011-11-14T14:22:19Z</dcterms:modified>
</cp:coreProperties>
</file>