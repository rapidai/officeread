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notesSlides/notesSlide2.xml" ContentType="application/vnd.openxmlformats-officedocument.presentationml.notesSlide+xml"/>
  <Override PartName="/ppt/diagrams/drawing2.xml" ContentType="application/vnd.ms-office.drawingml.diagramDrawing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diagrams/quickStyle2.xml" ContentType="application/vnd.openxmlformats-officedocument.drawingml.diagramStyl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layout3.xml" ContentType="application/vnd.openxmlformats-officedocument.drawingml.diagramLayout+xml"/>
  <Override PartName="/ppt/notesSlides/notesSlide21.xml" ContentType="application/vnd.openxmlformats-officedocument.presentationml.notesSlide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colors2.xml" ContentType="application/vnd.openxmlformats-officedocument.drawingml.diagramColors+xml"/>
  <Default Extension="png" ContentType="image/png"/>
  <Override PartName="/ppt/diagrams/drawing3.xml" ContentType="application/vnd.ms-office.drawingml.diagramDrawing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diagrams/quickStyle3.xml" ContentType="application/vnd.openxmlformats-officedocument.drawingml.diagramStyle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Default Extension="jpeg" ContentType="image/jpeg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Override PartName="/ppt/notesSlides/notesSlide8.xml" ContentType="application/vnd.openxmlformats-officedocument.presentationml.notesSlide+xml"/>
  <Default Extension="tiff" ContentType="image/tiff"/>
  <Default Extension="gif" ContentType="image/gif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3.xml" ContentType="application/vnd.openxmlformats-officedocument.drawingml.diagramData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diagrams/data1.xml" ContentType="application/vnd.openxmlformats-officedocument.drawingml.diagramData+xml"/>
  <Override PartName="/ppt/notesSlides/notesSlide4.xml" ContentType="application/vnd.openxmlformats-officedocument.presentationml.notesSlide+xml"/>
  <Override PartName="/ppt/diagrams/colors3.xml" ContentType="application/vnd.openxmlformats-officedocument.drawingml.diagramColors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notesSlides/notesSlide18.xml" ContentType="application/vnd.openxmlformats-officedocument.presentationml.notesSlide+xml"/>
  <Default Extension="wmf" ContentType="image/x-wmf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4"/>
  </p:notesMasterIdLst>
  <p:sldIdLst>
    <p:sldId id="320" r:id="rId2"/>
    <p:sldId id="265" r:id="rId3"/>
    <p:sldId id="264" r:id="rId4"/>
    <p:sldId id="268" r:id="rId5"/>
    <p:sldId id="273" r:id="rId6"/>
    <p:sldId id="284" r:id="rId7"/>
    <p:sldId id="285" r:id="rId8"/>
    <p:sldId id="269" r:id="rId9"/>
    <p:sldId id="287" r:id="rId10"/>
    <p:sldId id="280" r:id="rId11"/>
    <p:sldId id="257" r:id="rId12"/>
    <p:sldId id="258" r:id="rId13"/>
    <p:sldId id="312" r:id="rId14"/>
    <p:sldId id="322" r:id="rId15"/>
    <p:sldId id="326" r:id="rId16"/>
    <p:sldId id="323" r:id="rId17"/>
    <p:sldId id="324" r:id="rId18"/>
    <p:sldId id="325" r:id="rId19"/>
    <p:sldId id="305" r:id="rId20"/>
    <p:sldId id="290" r:id="rId21"/>
    <p:sldId id="289" r:id="rId22"/>
    <p:sldId id="282" r:id="rId23"/>
    <p:sldId id="311" r:id="rId24"/>
    <p:sldId id="296" r:id="rId25"/>
    <p:sldId id="295" r:id="rId26"/>
    <p:sldId id="310" r:id="rId27"/>
    <p:sldId id="313" r:id="rId28"/>
    <p:sldId id="314" r:id="rId29"/>
    <p:sldId id="315" r:id="rId30"/>
    <p:sldId id="316" r:id="rId31"/>
    <p:sldId id="294" r:id="rId32"/>
    <p:sldId id="308" r:id="rId33"/>
    <p:sldId id="306" r:id="rId34"/>
    <p:sldId id="303" r:id="rId35"/>
    <p:sldId id="302" r:id="rId36"/>
    <p:sldId id="292" r:id="rId37"/>
    <p:sldId id="293" r:id="rId38"/>
    <p:sldId id="288" r:id="rId39"/>
    <p:sldId id="301" r:id="rId40"/>
    <p:sldId id="262" r:id="rId41"/>
    <p:sldId id="317" r:id="rId42"/>
    <p:sldId id="291" r:id="rId43"/>
    <p:sldId id="309" r:id="rId44"/>
    <p:sldId id="304" r:id="rId45"/>
    <p:sldId id="318" r:id="rId46"/>
    <p:sldId id="319" r:id="rId47"/>
    <p:sldId id="271" r:id="rId48"/>
    <p:sldId id="272" r:id="rId49"/>
    <p:sldId id="327" r:id="rId50"/>
    <p:sldId id="328" r:id="rId51"/>
    <p:sldId id="329" r:id="rId52"/>
    <p:sldId id="330" r:id="rId5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55" autoAdjust="0"/>
    <p:restoredTop sz="98239" autoAdjust="0"/>
  </p:normalViewPr>
  <p:slideViewPr>
    <p:cSldViewPr snapToGrid="0" snapToObjects="1">
      <p:cViewPr>
        <p:scale>
          <a:sx n="50" d="100"/>
          <a:sy n="50" d="100"/>
        </p:scale>
        <p:origin x="-990" y="-4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743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2" d="100"/>
        <a:sy n="102" d="100"/>
      </p:scale>
      <p:origin x="0" y="3728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3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10A544F-4D18-4F8A-B173-8E48667BAEC7}" type="doc">
      <dgm:prSet loTypeId="urn:microsoft.com/office/officeart/2005/8/layout/venn1" loCatId="relationship" qsTypeId="urn:microsoft.com/office/officeart/2005/8/quickstyle/simple1#2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937BD397-DD33-4590-89E7-265C89BC6B85}">
      <dgm:prSet custT="1"/>
      <dgm:spPr>
        <a:solidFill>
          <a:srgbClr val="FFFF00">
            <a:alpha val="50000"/>
          </a:srgbClr>
        </a:solidFill>
        <a:ln w="38100"/>
      </dgm:spPr>
      <dgm:t>
        <a:bodyPr/>
        <a:lstStyle/>
        <a:p>
          <a:pPr rtl="0"/>
          <a:endParaRPr lang="th-TH" sz="1800" b="1" dirty="0" smtClean="0">
            <a:latin typeface="+mj-lt"/>
          </a:endParaRPr>
        </a:p>
        <a:p>
          <a:pPr rtl="0"/>
          <a:endParaRPr lang="th-TH" sz="1800" b="1" dirty="0" smtClean="0">
            <a:latin typeface="+mj-lt"/>
          </a:endParaRPr>
        </a:p>
        <a:p>
          <a:pPr rtl="0"/>
          <a:r>
            <a:rPr lang="th-TH" sz="2000" b="0" dirty="0" smtClean="0">
              <a:latin typeface="Angsana New" pitchFamily="18" charset="-34"/>
              <a:cs typeface="Angsana New" pitchFamily="18" charset="-34"/>
            </a:rPr>
            <a:t>ระยะที่หนึ่ง </a:t>
          </a:r>
        </a:p>
        <a:p>
          <a:pPr rtl="0"/>
          <a:r>
            <a:rPr lang="en-US" sz="2000" b="0" dirty="0" smtClean="0">
              <a:latin typeface="Angsana New" pitchFamily="18" charset="-34"/>
              <a:cs typeface="Angsana New" pitchFamily="18" charset="-34"/>
            </a:rPr>
            <a:t>Phase I</a:t>
          </a:r>
        </a:p>
        <a:p>
          <a:pPr rtl="0"/>
          <a:r>
            <a:rPr lang="en-US" sz="2000" b="0" dirty="0" smtClean="0">
              <a:latin typeface="Angsana New" pitchFamily="18" charset="-34"/>
              <a:cs typeface="Angsana New" pitchFamily="18" charset="-34"/>
            </a:rPr>
            <a:t>         </a:t>
          </a:r>
          <a:r>
            <a:rPr lang="th-TH" sz="2000" b="0" dirty="0" smtClean="0">
              <a:latin typeface="Angsana New" pitchFamily="18" charset="-34"/>
              <a:cs typeface="Angsana New" pitchFamily="18" charset="-34"/>
            </a:rPr>
            <a:t>ความปลอดภัย</a:t>
          </a:r>
          <a:r>
            <a:rPr lang="en-US" sz="2000" b="0" dirty="0" smtClean="0">
              <a:latin typeface="Angsana New" pitchFamily="18" charset="-34"/>
              <a:cs typeface="Angsana New" pitchFamily="18" charset="-34"/>
            </a:rPr>
            <a:t>/</a:t>
          </a:r>
          <a:r>
            <a:rPr lang="th-TH" sz="2000" b="0" dirty="0" smtClean="0">
              <a:latin typeface="Angsana New" pitchFamily="18" charset="-34"/>
              <a:cs typeface="Angsana New" pitchFamily="18" charset="-34"/>
            </a:rPr>
            <a:t>ขนาดที่ทดลอง</a:t>
          </a:r>
          <a:endParaRPr lang="en-US" sz="2000" b="0" dirty="0">
            <a:latin typeface="Angsana New" pitchFamily="18" charset="-34"/>
            <a:cs typeface="Angsana New" pitchFamily="18" charset="-34"/>
          </a:endParaRPr>
        </a:p>
      </dgm:t>
    </dgm:pt>
    <dgm:pt modelId="{AA2810B9-9A32-42D9-A751-87FAD68A9AFA}" type="parTrans" cxnId="{09359866-C8CA-4259-B9CC-D999F66EF800}">
      <dgm:prSet/>
      <dgm:spPr/>
      <dgm:t>
        <a:bodyPr/>
        <a:lstStyle/>
        <a:p>
          <a:endParaRPr lang="en-US"/>
        </a:p>
      </dgm:t>
    </dgm:pt>
    <dgm:pt modelId="{350A59F7-5007-4661-8CAE-286DF8252AFC}" type="sibTrans" cxnId="{09359866-C8CA-4259-B9CC-D999F66EF800}">
      <dgm:prSet/>
      <dgm:spPr/>
      <dgm:t>
        <a:bodyPr/>
        <a:lstStyle/>
        <a:p>
          <a:endParaRPr lang="en-US"/>
        </a:p>
      </dgm:t>
    </dgm:pt>
    <dgm:pt modelId="{470331EE-45A3-4498-A1F7-FEF1137780E7}">
      <dgm:prSet custT="1"/>
      <dgm:spPr>
        <a:solidFill>
          <a:srgbClr val="FFC000">
            <a:alpha val="50000"/>
          </a:srgbClr>
        </a:solidFill>
        <a:ln w="38100"/>
      </dgm:spPr>
      <dgm:t>
        <a:bodyPr/>
        <a:lstStyle/>
        <a:p>
          <a:pPr rtl="0"/>
          <a:r>
            <a:rPr lang="th-TH" sz="2000" b="0" dirty="0" smtClean="0">
              <a:latin typeface="Angsana New" pitchFamily="18" charset="-34"/>
              <a:cs typeface="Angsana New" pitchFamily="18" charset="-34"/>
            </a:rPr>
            <a:t>ระยะที่สอง </a:t>
          </a:r>
          <a:r>
            <a:rPr lang="en-US" sz="2000" b="0" dirty="0" smtClean="0">
              <a:latin typeface="Angsana New" pitchFamily="18" charset="-34"/>
              <a:cs typeface="Angsana New" pitchFamily="18" charset="-34"/>
            </a:rPr>
            <a:t>Phase II</a:t>
          </a:r>
        </a:p>
        <a:p>
          <a:pPr rtl="0"/>
          <a:r>
            <a:rPr lang="th-TH" sz="2000" b="0" dirty="0" smtClean="0">
              <a:latin typeface="Angsana New" pitchFamily="18" charset="-34"/>
              <a:cs typeface="Angsana New" pitchFamily="18" charset="-34"/>
            </a:rPr>
            <a:t>ศึกษาความปลอดภัยเพิ่มเติม</a:t>
          </a:r>
          <a:endParaRPr lang="en-US" sz="2000" b="0" dirty="0">
            <a:latin typeface="Angsana New" pitchFamily="18" charset="-34"/>
            <a:cs typeface="Angsana New" pitchFamily="18" charset="-34"/>
          </a:endParaRPr>
        </a:p>
      </dgm:t>
    </dgm:pt>
    <dgm:pt modelId="{FAFFB4EE-B03C-424F-BE0F-8CB9D6F28524}" type="parTrans" cxnId="{28B90ACA-6970-4018-AB77-36609FDA7D7E}">
      <dgm:prSet/>
      <dgm:spPr/>
      <dgm:t>
        <a:bodyPr/>
        <a:lstStyle/>
        <a:p>
          <a:endParaRPr lang="en-US"/>
        </a:p>
      </dgm:t>
    </dgm:pt>
    <dgm:pt modelId="{1DE07D3D-5442-4363-AE9A-935C13F1AE35}" type="sibTrans" cxnId="{28B90ACA-6970-4018-AB77-36609FDA7D7E}">
      <dgm:prSet/>
      <dgm:spPr/>
      <dgm:t>
        <a:bodyPr/>
        <a:lstStyle/>
        <a:p>
          <a:endParaRPr lang="en-US"/>
        </a:p>
      </dgm:t>
    </dgm:pt>
    <dgm:pt modelId="{2AF5607E-FB2A-4108-9407-31EC2A831BA2}">
      <dgm:prSet custT="1"/>
      <dgm:spPr>
        <a:solidFill>
          <a:srgbClr val="FF6600">
            <a:alpha val="50000"/>
          </a:srgbClr>
        </a:solidFill>
        <a:ln w="38100"/>
      </dgm:spPr>
      <dgm:t>
        <a:bodyPr/>
        <a:lstStyle/>
        <a:p>
          <a:pPr rtl="0"/>
          <a:r>
            <a:rPr lang="en-US" sz="1600" b="0" dirty="0" smtClean="0">
              <a:latin typeface="Angsana New" pitchFamily="18" charset="-34"/>
              <a:cs typeface="Angsana New" pitchFamily="18" charset="-34"/>
            </a:rPr>
            <a:t>       </a:t>
          </a:r>
          <a:r>
            <a:rPr lang="th-TH" sz="1600" b="0" dirty="0" smtClean="0">
              <a:latin typeface="Angsana New" pitchFamily="18" charset="-34"/>
              <a:cs typeface="Angsana New" pitchFamily="18" charset="-34"/>
            </a:rPr>
            <a:t>ระยะสองเอ/บี </a:t>
          </a:r>
        </a:p>
        <a:p>
          <a:pPr rtl="0"/>
          <a:r>
            <a:rPr lang="en-US" sz="1600" b="0" dirty="0" smtClean="0">
              <a:latin typeface="Angsana New" pitchFamily="18" charset="-34"/>
              <a:cs typeface="Angsana New" pitchFamily="18" charset="-34"/>
            </a:rPr>
            <a:t>Phase Ii</a:t>
          </a:r>
          <a:r>
            <a:rPr lang="th-TH" sz="1600" b="0" dirty="0" smtClean="0">
              <a:latin typeface="Angsana New" pitchFamily="18" charset="-34"/>
              <a:cs typeface="Angsana New" pitchFamily="18" charset="-34"/>
            </a:rPr>
            <a:t> a/</a:t>
          </a:r>
          <a:r>
            <a:rPr lang="en-US" sz="1600" b="0" dirty="0" smtClean="0">
              <a:latin typeface="Angsana New" pitchFamily="18" charset="-34"/>
              <a:cs typeface="Angsana New" pitchFamily="18" charset="-34"/>
            </a:rPr>
            <a:t>b</a:t>
          </a:r>
        </a:p>
        <a:p>
          <a:pPr rtl="0"/>
          <a:r>
            <a:rPr lang="th-TH" sz="1600" b="0" dirty="0" smtClean="0">
              <a:latin typeface="Angsana New" pitchFamily="18" charset="-34"/>
              <a:cs typeface="Angsana New" pitchFamily="18" charset="-34"/>
            </a:rPr>
            <a:t>พิสูจน์แนวความคิด a ขนาดยา   b ประสิทธิภาพ </a:t>
          </a:r>
          <a:endParaRPr lang="en-US" sz="1600" b="0" dirty="0">
            <a:latin typeface="Angsana New" pitchFamily="18" charset="-34"/>
            <a:cs typeface="Angsana New" pitchFamily="18" charset="-34"/>
          </a:endParaRPr>
        </a:p>
      </dgm:t>
    </dgm:pt>
    <dgm:pt modelId="{325D50AF-CC19-4CF6-88A4-1E49B3AA3710}" type="parTrans" cxnId="{199C1BB8-7A4E-414D-BD8B-8E868DC34637}">
      <dgm:prSet/>
      <dgm:spPr/>
      <dgm:t>
        <a:bodyPr/>
        <a:lstStyle/>
        <a:p>
          <a:endParaRPr lang="en-US"/>
        </a:p>
      </dgm:t>
    </dgm:pt>
    <dgm:pt modelId="{171DB449-8B40-4261-85AF-DA4EACCE7801}" type="sibTrans" cxnId="{199C1BB8-7A4E-414D-BD8B-8E868DC34637}">
      <dgm:prSet/>
      <dgm:spPr/>
      <dgm:t>
        <a:bodyPr/>
        <a:lstStyle/>
        <a:p>
          <a:endParaRPr lang="en-US"/>
        </a:p>
      </dgm:t>
    </dgm:pt>
    <dgm:pt modelId="{B8D2B499-4444-4A95-AB13-E5891795FDCC}">
      <dgm:prSet custT="1"/>
      <dgm:spPr>
        <a:solidFill>
          <a:srgbClr val="C00000">
            <a:alpha val="50000"/>
          </a:srgbClr>
        </a:solidFill>
        <a:ln w="38100"/>
      </dgm:spPr>
      <dgm:t>
        <a:bodyPr/>
        <a:lstStyle/>
        <a:p>
          <a:pPr rtl="0"/>
          <a:r>
            <a:rPr lang="th-TH" sz="2000" b="0" dirty="0" smtClean="0">
              <a:latin typeface="Angsana New" pitchFamily="18" charset="-34"/>
              <a:cs typeface="Angsana New" pitchFamily="18" charset="-34"/>
            </a:rPr>
            <a:t>ระยะสาม</a:t>
          </a:r>
        </a:p>
        <a:p>
          <a:pPr rtl="0"/>
          <a:r>
            <a:rPr lang="en-US" sz="1400" b="0" dirty="0" smtClean="0">
              <a:latin typeface="Angsana New" pitchFamily="18" charset="-34"/>
              <a:cs typeface="Angsana New" pitchFamily="18" charset="-34"/>
            </a:rPr>
            <a:t>Phase III </a:t>
          </a:r>
          <a:br>
            <a:rPr lang="en-US" sz="1400" b="0" dirty="0" smtClean="0">
              <a:latin typeface="Angsana New" pitchFamily="18" charset="-34"/>
              <a:cs typeface="Angsana New" pitchFamily="18" charset="-34"/>
            </a:rPr>
          </a:br>
          <a:r>
            <a:rPr lang="th-TH" sz="1400" b="0" dirty="0" smtClean="0">
              <a:latin typeface="Angsana New" pitchFamily="18" charset="-34"/>
              <a:cs typeface="Angsana New" pitchFamily="18" charset="-34"/>
            </a:rPr>
            <a:t>โครงการขนาดใหญ่ พิสูจน์สัมฤทธิ์ผล / ประสิทธิผล</a:t>
          </a:r>
          <a:endParaRPr lang="en-US" sz="1300" b="0" dirty="0">
            <a:latin typeface="Angsana New" pitchFamily="18" charset="-34"/>
            <a:cs typeface="Angsana New" pitchFamily="18" charset="-34"/>
          </a:endParaRPr>
        </a:p>
      </dgm:t>
    </dgm:pt>
    <dgm:pt modelId="{4779C49E-DAED-446B-8099-7CF4F7378AA8}" type="parTrans" cxnId="{3147F082-8D21-485D-B6BF-D4FA7763F707}">
      <dgm:prSet/>
      <dgm:spPr/>
      <dgm:t>
        <a:bodyPr/>
        <a:lstStyle/>
        <a:p>
          <a:endParaRPr lang="en-US"/>
        </a:p>
      </dgm:t>
    </dgm:pt>
    <dgm:pt modelId="{CCB11E8A-D11E-4684-8BD9-16B86120853E}" type="sibTrans" cxnId="{3147F082-8D21-485D-B6BF-D4FA7763F707}">
      <dgm:prSet/>
      <dgm:spPr/>
      <dgm:t>
        <a:bodyPr/>
        <a:lstStyle/>
        <a:p>
          <a:endParaRPr lang="en-US"/>
        </a:p>
      </dgm:t>
    </dgm:pt>
    <dgm:pt modelId="{33969E28-CDC7-4A4D-9367-7663B38D29A0}" type="pres">
      <dgm:prSet presAssocID="{610A544F-4D18-4F8A-B173-8E48667BAEC7}" presName="compositeShape" presStyleCnt="0">
        <dgm:presLayoutVars>
          <dgm:chMax val="7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0E094541-CB1D-4E8B-A36F-6B4844819EB6}" type="pres">
      <dgm:prSet presAssocID="{937BD397-DD33-4590-89E7-265C89BC6B85}" presName="circ1" presStyleLbl="vennNode1" presStyleIdx="0" presStyleCnt="4" custScaleX="78125" custScaleY="75926" custLinFactNeighborX="-452" custLinFactNeighborY="-1923"/>
      <dgm:spPr/>
      <dgm:t>
        <a:bodyPr/>
        <a:lstStyle/>
        <a:p>
          <a:endParaRPr lang="en-US"/>
        </a:p>
      </dgm:t>
    </dgm:pt>
    <dgm:pt modelId="{A9C7A763-71E9-495D-9FF1-2BFFCEF93627}" type="pres">
      <dgm:prSet presAssocID="{937BD397-DD33-4590-89E7-265C89BC6B85}" presName="circ1Tx" presStyleLbl="revTx" presStyleIdx="0" presStyleCnt="0" custScaleX="165289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DA76DDD-EF84-4A9C-8279-BD4A77F2D21C}" type="pres">
      <dgm:prSet presAssocID="{470331EE-45A3-4498-A1F7-FEF1137780E7}" presName="circ2" presStyleLbl="vennNode1" presStyleIdx="1" presStyleCnt="4" custScaleX="104230" custScaleY="100167"/>
      <dgm:spPr/>
      <dgm:t>
        <a:bodyPr/>
        <a:lstStyle/>
        <a:p>
          <a:endParaRPr lang="en-US"/>
        </a:p>
      </dgm:t>
    </dgm:pt>
    <dgm:pt modelId="{8EA55C47-3219-4C4B-A084-506C3A3153FC}" type="pres">
      <dgm:prSet presAssocID="{470331EE-45A3-4498-A1F7-FEF1137780E7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AB54211-200B-4BDC-881E-88C6660CED17}" type="pres">
      <dgm:prSet presAssocID="{2AF5607E-FB2A-4108-9407-31EC2A831BA2}" presName="circ3" presStyleLbl="vennNode1" presStyleIdx="2" presStyleCnt="4" custScaleX="121449" custScaleY="117888" custLinFactNeighborX="7586" custLinFactNeighborY="8235"/>
      <dgm:spPr/>
      <dgm:t>
        <a:bodyPr/>
        <a:lstStyle/>
        <a:p>
          <a:endParaRPr lang="en-US"/>
        </a:p>
      </dgm:t>
    </dgm:pt>
    <dgm:pt modelId="{128D869C-C260-4E9F-8172-847AFF824700}" type="pres">
      <dgm:prSet presAssocID="{2AF5607E-FB2A-4108-9407-31EC2A831BA2}" presName="circ3Tx" presStyleLbl="revTx" presStyleIdx="0" presStyleCnt="0" custScaleX="213725" custScaleY="26199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84C75A2-D131-4BA7-B661-37B1CBF61BB2}" type="pres">
      <dgm:prSet presAssocID="{B8D2B499-4444-4A95-AB13-E5891795FDCC}" presName="circ4" presStyleLbl="vennNode1" presStyleIdx="3" presStyleCnt="4" custScaleX="135760" custScaleY="143046" custLinFactNeighborX="-6073" custLinFactNeighborY="0"/>
      <dgm:spPr/>
      <dgm:t>
        <a:bodyPr/>
        <a:lstStyle/>
        <a:p>
          <a:endParaRPr lang="en-US"/>
        </a:p>
      </dgm:t>
    </dgm:pt>
    <dgm:pt modelId="{5CC15E04-DF01-446D-8033-07066B1CA3C6}" type="pres">
      <dgm:prSet presAssocID="{B8D2B499-4444-4A95-AB13-E5891795FDCC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E3CEE126-B13D-BB46-97E3-EB92B0B6A7E0}" type="presOf" srcId="{470331EE-45A3-4498-A1F7-FEF1137780E7}" destId="{2DA76DDD-EF84-4A9C-8279-BD4A77F2D21C}" srcOrd="0" destOrd="0" presId="urn:microsoft.com/office/officeart/2005/8/layout/venn1"/>
    <dgm:cxn modelId="{4C99CA3D-BD2E-4D45-AD1F-996BBE778BA3}" type="presOf" srcId="{470331EE-45A3-4498-A1F7-FEF1137780E7}" destId="{8EA55C47-3219-4C4B-A084-506C3A3153FC}" srcOrd="1" destOrd="0" presId="urn:microsoft.com/office/officeart/2005/8/layout/venn1"/>
    <dgm:cxn modelId="{163B7572-3633-2148-A0AD-B073EB3DAE98}" type="presOf" srcId="{B8D2B499-4444-4A95-AB13-E5891795FDCC}" destId="{C84C75A2-D131-4BA7-B661-37B1CBF61BB2}" srcOrd="0" destOrd="0" presId="urn:microsoft.com/office/officeart/2005/8/layout/venn1"/>
    <dgm:cxn modelId="{3147F082-8D21-485D-B6BF-D4FA7763F707}" srcId="{610A544F-4D18-4F8A-B173-8E48667BAEC7}" destId="{B8D2B499-4444-4A95-AB13-E5891795FDCC}" srcOrd="3" destOrd="0" parTransId="{4779C49E-DAED-446B-8099-7CF4F7378AA8}" sibTransId="{CCB11E8A-D11E-4684-8BD9-16B86120853E}"/>
    <dgm:cxn modelId="{1BE92652-A37C-E84C-AE3E-77D69B6ABB0A}" type="presOf" srcId="{937BD397-DD33-4590-89E7-265C89BC6B85}" destId="{A9C7A763-71E9-495D-9FF1-2BFFCEF93627}" srcOrd="1" destOrd="0" presId="urn:microsoft.com/office/officeart/2005/8/layout/venn1"/>
    <dgm:cxn modelId="{28B90ACA-6970-4018-AB77-36609FDA7D7E}" srcId="{610A544F-4D18-4F8A-B173-8E48667BAEC7}" destId="{470331EE-45A3-4498-A1F7-FEF1137780E7}" srcOrd="1" destOrd="0" parTransId="{FAFFB4EE-B03C-424F-BE0F-8CB9D6F28524}" sibTransId="{1DE07D3D-5442-4363-AE9A-935C13F1AE35}"/>
    <dgm:cxn modelId="{F8898747-9843-0D43-8AD9-162C73DCF98B}" type="presOf" srcId="{2AF5607E-FB2A-4108-9407-31EC2A831BA2}" destId="{0AB54211-200B-4BDC-881E-88C6660CED17}" srcOrd="0" destOrd="0" presId="urn:microsoft.com/office/officeart/2005/8/layout/venn1"/>
    <dgm:cxn modelId="{09359866-C8CA-4259-B9CC-D999F66EF800}" srcId="{610A544F-4D18-4F8A-B173-8E48667BAEC7}" destId="{937BD397-DD33-4590-89E7-265C89BC6B85}" srcOrd="0" destOrd="0" parTransId="{AA2810B9-9A32-42D9-A751-87FAD68A9AFA}" sibTransId="{350A59F7-5007-4661-8CAE-286DF8252AFC}"/>
    <dgm:cxn modelId="{CC63F566-E083-3147-8CC2-4FA992F2D43A}" type="presOf" srcId="{937BD397-DD33-4590-89E7-265C89BC6B85}" destId="{0E094541-CB1D-4E8B-A36F-6B4844819EB6}" srcOrd="0" destOrd="0" presId="urn:microsoft.com/office/officeart/2005/8/layout/venn1"/>
    <dgm:cxn modelId="{79A3D1F4-A17C-2440-955A-F0C64CFA1404}" type="presOf" srcId="{610A544F-4D18-4F8A-B173-8E48667BAEC7}" destId="{33969E28-CDC7-4A4D-9367-7663B38D29A0}" srcOrd="0" destOrd="0" presId="urn:microsoft.com/office/officeart/2005/8/layout/venn1"/>
    <dgm:cxn modelId="{199C1BB8-7A4E-414D-BD8B-8E868DC34637}" srcId="{610A544F-4D18-4F8A-B173-8E48667BAEC7}" destId="{2AF5607E-FB2A-4108-9407-31EC2A831BA2}" srcOrd="2" destOrd="0" parTransId="{325D50AF-CC19-4CF6-88A4-1E49B3AA3710}" sibTransId="{171DB449-8B40-4261-85AF-DA4EACCE7801}"/>
    <dgm:cxn modelId="{BE8B5E79-B53D-2A4A-8861-B2667FB856AB}" type="presOf" srcId="{B8D2B499-4444-4A95-AB13-E5891795FDCC}" destId="{5CC15E04-DF01-446D-8033-07066B1CA3C6}" srcOrd="1" destOrd="0" presId="urn:microsoft.com/office/officeart/2005/8/layout/venn1"/>
    <dgm:cxn modelId="{810ACF0E-84F5-5A43-9556-711B6A8B5644}" type="presOf" srcId="{2AF5607E-FB2A-4108-9407-31EC2A831BA2}" destId="{128D869C-C260-4E9F-8172-847AFF824700}" srcOrd="1" destOrd="0" presId="urn:microsoft.com/office/officeart/2005/8/layout/venn1"/>
    <dgm:cxn modelId="{16C0DE32-7038-E84F-8970-512BB82784FC}" type="presParOf" srcId="{33969E28-CDC7-4A4D-9367-7663B38D29A0}" destId="{0E094541-CB1D-4E8B-A36F-6B4844819EB6}" srcOrd="0" destOrd="0" presId="urn:microsoft.com/office/officeart/2005/8/layout/venn1"/>
    <dgm:cxn modelId="{5161F38C-1DBC-7E47-92B7-6BCD211DBBB5}" type="presParOf" srcId="{33969E28-CDC7-4A4D-9367-7663B38D29A0}" destId="{A9C7A763-71E9-495D-9FF1-2BFFCEF93627}" srcOrd="1" destOrd="0" presId="urn:microsoft.com/office/officeart/2005/8/layout/venn1"/>
    <dgm:cxn modelId="{BC618E63-B879-7E45-96AA-C10F1F594965}" type="presParOf" srcId="{33969E28-CDC7-4A4D-9367-7663B38D29A0}" destId="{2DA76DDD-EF84-4A9C-8279-BD4A77F2D21C}" srcOrd="2" destOrd="0" presId="urn:microsoft.com/office/officeart/2005/8/layout/venn1"/>
    <dgm:cxn modelId="{6D997CAF-5C93-184B-9A8B-6EA3E54A3936}" type="presParOf" srcId="{33969E28-CDC7-4A4D-9367-7663B38D29A0}" destId="{8EA55C47-3219-4C4B-A084-506C3A3153FC}" srcOrd="3" destOrd="0" presId="urn:microsoft.com/office/officeart/2005/8/layout/venn1"/>
    <dgm:cxn modelId="{5723B63F-3AE4-8641-A890-5004EE97ED38}" type="presParOf" srcId="{33969E28-CDC7-4A4D-9367-7663B38D29A0}" destId="{0AB54211-200B-4BDC-881E-88C6660CED17}" srcOrd="4" destOrd="0" presId="urn:microsoft.com/office/officeart/2005/8/layout/venn1"/>
    <dgm:cxn modelId="{C2D4A5CE-58FF-A946-9004-25824AA4DCAE}" type="presParOf" srcId="{33969E28-CDC7-4A4D-9367-7663B38D29A0}" destId="{128D869C-C260-4E9F-8172-847AFF824700}" srcOrd="5" destOrd="0" presId="urn:microsoft.com/office/officeart/2005/8/layout/venn1"/>
    <dgm:cxn modelId="{8F7458CD-9E11-5E47-A4E9-79C152F29E5E}" type="presParOf" srcId="{33969E28-CDC7-4A4D-9367-7663B38D29A0}" destId="{C84C75A2-D131-4BA7-B661-37B1CBF61BB2}" srcOrd="6" destOrd="0" presId="urn:microsoft.com/office/officeart/2005/8/layout/venn1"/>
    <dgm:cxn modelId="{9EADB040-1340-2745-9500-8E43A7C3179F}" type="presParOf" srcId="{33969E28-CDC7-4A4D-9367-7663B38D29A0}" destId="{5CC15E04-DF01-446D-8033-07066B1CA3C6}" srcOrd="7" destOrd="0" presId="urn:microsoft.com/office/officeart/2005/8/layout/venn1"/>
  </dgm:cxnLst>
  <dgm:bg/>
  <dgm:whole/>
  <dgm:extLst>
    <a:ext uri="http://schemas.microsoft.com/office/drawing/2008/diagram">
      <dsp:dataModelExt xmlns=""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CA5012F-A5B5-420D-848A-AF8A7EB092BE}" type="doc">
      <dgm:prSet loTypeId="urn:microsoft.com/office/officeart/2005/8/layout/venn1" loCatId="relationship" qsTypeId="urn:microsoft.com/office/officeart/2005/8/quickstyle/simple3" qsCatId="simple" csTypeId="urn:microsoft.com/office/officeart/2005/8/colors/accent1_2#3" csCatId="accent1" phldr="1"/>
      <dgm:spPr/>
    </dgm:pt>
    <dgm:pt modelId="{F7954875-BB5F-4336-9106-B7563E09466C}">
      <dgm:prSet phldrT="[Text]" custT="1"/>
      <dgm:spPr/>
      <dgm:t>
        <a:bodyPr/>
        <a:lstStyle/>
        <a:p>
          <a:r>
            <a:rPr lang="en-CA" sz="2400" dirty="0" smtClean="0">
              <a:latin typeface="Candara" pitchFamily="34" charset="0"/>
            </a:rPr>
            <a:t> </a:t>
          </a:r>
          <a:endParaRPr lang="en-CA" sz="2400" dirty="0">
            <a:latin typeface="Candara" pitchFamily="34" charset="0"/>
          </a:endParaRPr>
        </a:p>
      </dgm:t>
    </dgm:pt>
    <dgm:pt modelId="{ACF1D3A9-D45A-4A4D-8C2A-9813B5EFEBB5}" type="parTrans" cxnId="{9B356242-20DB-4247-B561-D4AF7C6ECAF3}">
      <dgm:prSet/>
      <dgm:spPr/>
      <dgm:t>
        <a:bodyPr/>
        <a:lstStyle/>
        <a:p>
          <a:endParaRPr lang="en-CA"/>
        </a:p>
      </dgm:t>
    </dgm:pt>
    <dgm:pt modelId="{0C0AA7F4-861C-4269-95F9-DD89E7E35A26}" type="sibTrans" cxnId="{9B356242-20DB-4247-B561-D4AF7C6ECAF3}">
      <dgm:prSet/>
      <dgm:spPr/>
      <dgm:t>
        <a:bodyPr/>
        <a:lstStyle/>
        <a:p>
          <a:endParaRPr lang="en-CA"/>
        </a:p>
      </dgm:t>
    </dgm:pt>
    <dgm:pt modelId="{0AF82306-AF68-45A5-9592-D0BED611DB83}">
      <dgm:prSet phldrT="[Text]"/>
      <dgm:spPr/>
      <dgm:t>
        <a:bodyPr/>
        <a:lstStyle/>
        <a:p>
          <a:r>
            <a:rPr lang="en-CA" dirty="0" smtClean="0"/>
            <a:t> </a:t>
          </a:r>
          <a:endParaRPr lang="en-CA" dirty="0"/>
        </a:p>
      </dgm:t>
    </dgm:pt>
    <dgm:pt modelId="{09973B7D-3241-4500-BDA6-F628C162A03C}" type="parTrans" cxnId="{DCCBE89E-74E6-4D79-AF0B-C86C870CCA32}">
      <dgm:prSet/>
      <dgm:spPr/>
      <dgm:t>
        <a:bodyPr/>
        <a:lstStyle/>
        <a:p>
          <a:endParaRPr lang="en-CA"/>
        </a:p>
      </dgm:t>
    </dgm:pt>
    <dgm:pt modelId="{44972E48-BF6F-4DD7-8B31-185B3BF9347D}" type="sibTrans" cxnId="{DCCBE89E-74E6-4D79-AF0B-C86C870CCA32}">
      <dgm:prSet/>
      <dgm:spPr/>
      <dgm:t>
        <a:bodyPr/>
        <a:lstStyle/>
        <a:p>
          <a:endParaRPr lang="en-CA"/>
        </a:p>
      </dgm:t>
    </dgm:pt>
    <dgm:pt modelId="{6E11DE62-54D7-452F-8665-80137A5F103F}" type="pres">
      <dgm:prSet presAssocID="{0CA5012F-A5B5-420D-848A-AF8A7EB092BE}" presName="compositeShape" presStyleCnt="0">
        <dgm:presLayoutVars>
          <dgm:chMax val="7"/>
          <dgm:dir/>
          <dgm:resizeHandles val="exact"/>
        </dgm:presLayoutVars>
      </dgm:prSet>
      <dgm:spPr/>
    </dgm:pt>
    <dgm:pt modelId="{0D2EAD91-0ADF-4697-BF5E-F2646854C344}" type="pres">
      <dgm:prSet presAssocID="{F7954875-BB5F-4336-9106-B7563E09466C}" presName="circ1" presStyleLbl="vennNode1" presStyleIdx="0" presStyleCnt="2" custScaleX="114181"/>
      <dgm:spPr/>
      <dgm:t>
        <a:bodyPr/>
        <a:lstStyle/>
        <a:p>
          <a:endParaRPr lang="en-CA"/>
        </a:p>
      </dgm:t>
    </dgm:pt>
    <dgm:pt modelId="{84A84259-2942-4E2F-AFA9-CE5DB25528E3}" type="pres">
      <dgm:prSet presAssocID="{F7954875-BB5F-4336-9106-B7563E09466C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CA"/>
        </a:p>
      </dgm:t>
    </dgm:pt>
    <dgm:pt modelId="{B6F3C811-4818-45AE-8DD4-3CB21130BCE8}" type="pres">
      <dgm:prSet presAssocID="{0AF82306-AF68-45A5-9592-D0BED611DB83}" presName="circ2" presStyleLbl="vennNode1" presStyleIdx="1" presStyleCnt="2" custScaleX="113288" custLinFactNeighborX="599" custLinFactNeighborY="-273"/>
      <dgm:spPr/>
      <dgm:t>
        <a:bodyPr/>
        <a:lstStyle/>
        <a:p>
          <a:endParaRPr lang="en-CA"/>
        </a:p>
      </dgm:t>
    </dgm:pt>
    <dgm:pt modelId="{B04A6A5B-34C8-463F-AA46-46F4E12EF6B3}" type="pres">
      <dgm:prSet presAssocID="{0AF82306-AF68-45A5-9592-D0BED611DB83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CA"/>
        </a:p>
      </dgm:t>
    </dgm:pt>
  </dgm:ptLst>
  <dgm:cxnLst>
    <dgm:cxn modelId="{CDB8BDCB-ED14-A341-AA7F-C40A5DD3977F}" type="presOf" srcId="{F7954875-BB5F-4336-9106-B7563E09466C}" destId="{84A84259-2942-4E2F-AFA9-CE5DB25528E3}" srcOrd="1" destOrd="0" presId="urn:microsoft.com/office/officeart/2005/8/layout/venn1"/>
    <dgm:cxn modelId="{46A5A3D4-06A6-574A-86B3-F88D591F7E0A}" type="presOf" srcId="{0AF82306-AF68-45A5-9592-D0BED611DB83}" destId="{B6F3C811-4818-45AE-8DD4-3CB21130BCE8}" srcOrd="0" destOrd="0" presId="urn:microsoft.com/office/officeart/2005/8/layout/venn1"/>
    <dgm:cxn modelId="{9B356242-20DB-4247-B561-D4AF7C6ECAF3}" srcId="{0CA5012F-A5B5-420D-848A-AF8A7EB092BE}" destId="{F7954875-BB5F-4336-9106-B7563E09466C}" srcOrd="0" destOrd="0" parTransId="{ACF1D3A9-D45A-4A4D-8C2A-9813B5EFEBB5}" sibTransId="{0C0AA7F4-861C-4269-95F9-DD89E7E35A26}"/>
    <dgm:cxn modelId="{E43218FE-7843-5D4E-9DB2-A1B159B563ED}" type="presOf" srcId="{0CA5012F-A5B5-420D-848A-AF8A7EB092BE}" destId="{6E11DE62-54D7-452F-8665-80137A5F103F}" srcOrd="0" destOrd="0" presId="urn:microsoft.com/office/officeart/2005/8/layout/venn1"/>
    <dgm:cxn modelId="{79DF046A-D693-6542-BD9E-76FB04CA3548}" type="presOf" srcId="{0AF82306-AF68-45A5-9592-D0BED611DB83}" destId="{B04A6A5B-34C8-463F-AA46-46F4E12EF6B3}" srcOrd="1" destOrd="0" presId="urn:microsoft.com/office/officeart/2005/8/layout/venn1"/>
    <dgm:cxn modelId="{EACD882A-9091-7845-A00D-39E19E7D041D}" type="presOf" srcId="{F7954875-BB5F-4336-9106-B7563E09466C}" destId="{0D2EAD91-0ADF-4697-BF5E-F2646854C344}" srcOrd="0" destOrd="0" presId="urn:microsoft.com/office/officeart/2005/8/layout/venn1"/>
    <dgm:cxn modelId="{DCCBE89E-74E6-4D79-AF0B-C86C870CCA32}" srcId="{0CA5012F-A5B5-420D-848A-AF8A7EB092BE}" destId="{0AF82306-AF68-45A5-9592-D0BED611DB83}" srcOrd="1" destOrd="0" parTransId="{09973B7D-3241-4500-BDA6-F628C162A03C}" sibTransId="{44972E48-BF6F-4DD7-8B31-185B3BF9347D}"/>
    <dgm:cxn modelId="{73CF44EC-DBAF-CE4F-8C50-0138848835CF}" type="presParOf" srcId="{6E11DE62-54D7-452F-8665-80137A5F103F}" destId="{0D2EAD91-0ADF-4697-BF5E-F2646854C344}" srcOrd="0" destOrd="0" presId="urn:microsoft.com/office/officeart/2005/8/layout/venn1"/>
    <dgm:cxn modelId="{55755DA5-951B-8B4D-BDC4-1BF8EA3C4341}" type="presParOf" srcId="{6E11DE62-54D7-452F-8665-80137A5F103F}" destId="{84A84259-2942-4E2F-AFA9-CE5DB25528E3}" srcOrd="1" destOrd="0" presId="urn:microsoft.com/office/officeart/2005/8/layout/venn1"/>
    <dgm:cxn modelId="{A411B677-9CD5-DA40-A762-24E92BE4D084}" type="presParOf" srcId="{6E11DE62-54D7-452F-8665-80137A5F103F}" destId="{B6F3C811-4818-45AE-8DD4-3CB21130BCE8}" srcOrd="2" destOrd="0" presId="urn:microsoft.com/office/officeart/2005/8/layout/venn1"/>
    <dgm:cxn modelId="{DF1BFADB-4C3B-B342-A14D-20BA48AF8047}" type="presParOf" srcId="{6E11DE62-54D7-452F-8665-80137A5F103F}" destId="{B04A6A5B-34C8-463F-AA46-46F4E12EF6B3}" srcOrd="3" destOrd="0" presId="urn:microsoft.com/office/officeart/2005/8/layout/venn1"/>
  </dgm:cxnLst>
  <dgm:bg/>
  <dgm:whole/>
  <dgm:extLst>
    <a:ext uri="http://schemas.microsoft.com/office/drawing/2008/diagram">
      <dsp:dataModelExt xmlns=""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7B8E557-53C1-40D1-8FC4-F7185B18A36D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B643209-22CD-49A3-B076-488561FC657E}">
      <dgm:prSet custT="1"/>
      <dgm:spPr/>
      <dgm:t>
        <a:bodyPr/>
        <a:lstStyle/>
        <a:p>
          <a:pPr rtl="0"/>
          <a:r>
            <a:rPr lang="th-TH" sz="2400" b="1" dirty="0" smtClean="0"/>
            <a:t>ภายใต้การกำกับของแพทย์</a:t>
          </a:r>
          <a:endParaRPr lang="en-US" sz="2400" b="1" dirty="0"/>
        </a:p>
      </dgm:t>
    </dgm:pt>
    <dgm:pt modelId="{0F239AD3-3C90-4C57-B283-647B19703373}" type="parTrans" cxnId="{BE095203-210E-4F03-85E5-EA90F835BB58}">
      <dgm:prSet/>
      <dgm:spPr/>
      <dgm:t>
        <a:bodyPr/>
        <a:lstStyle/>
        <a:p>
          <a:endParaRPr lang="en-US"/>
        </a:p>
      </dgm:t>
    </dgm:pt>
    <dgm:pt modelId="{92148769-1FC9-4914-A52C-D6DAE2497174}" type="sibTrans" cxnId="{BE095203-210E-4F03-85E5-EA90F835BB58}">
      <dgm:prSet/>
      <dgm:spPr/>
      <dgm:t>
        <a:bodyPr/>
        <a:lstStyle/>
        <a:p>
          <a:endParaRPr lang="en-US"/>
        </a:p>
      </dgm:t>
    </dgm:pt>
    <dgm:pt modelId="{9C6BBC27-D4A7-4D6B-9C0F-1D554303F17F}">
      <dgm:prSet custT="1"/>
      <dgm:spPr/>
      <dgm:t>
        <a:bodyPr/>
        <a:lstStyle/>
        <a:p>
          <a:pPr rtl="0">
            <a:lnSpc>
              <a:spcPct val="110000"/>
            </a:lnSpc>
          </a:pPr>
          <a:r>
            <a:rPr lang="th-TH" sz="2400" b="1" dirty="0" smtClean="0"/>
            <a:t>แพทย์เป็นผู้สั่งยาเท่านั้น</a:t>
          </a:r>
          <a:endParaRPr lang="en-US" sz="2400" b="1" dirty="0"/>
        </a:p>
      </dgm:t>
    </dgm:pt>
    <dgm:pt modelId="{F6A7F787-C945-45E1-8D04-CC3C238563A6}" type="parTrans" cxnId="{A022CFAE-1226-4567-B9FC-52FBCE220883}">
      <dgm:prSet/>
      <dgm:spPr/>
      <dgm:t>
        <a:bodyPr/>
        <a:lstStyle/>
        <a:p>
          <a:endParaRPr lang="en-US"/>
        </a:p>
      </dgm:t>
    </dgm:pt>
    <dgm:pt modelId="{5CF9DFC4-70E8-4B4E-AD5B-E1F580935062}" type="sibTrans" cxnId="{A022CFAE-1226-4567-B9FC-52FBCE220883}">
      <dgm:prSet/>
      <dgm:spPr/>
      <dgm:t>
        <a:bodyPr/>
        <a:lstStyle/>
        <a:p>
          <a:endParaRPr lang="en-US"/>
        </a:p>
      </dgm:t>
    </dgm:pt>
    <dgm:pt modelId="{111673B8-0C80-431B-9FD2-701033CB4B68}">
      <dgm:prSet custT="1"/>
      <dgm:spPr/>
      <dgm:t>
        <a:bodyPr/>
        <a:lstStyle/>
        <a:p>
          <a:pPr rtl="0"/>
          <a:r>
            <a:rPr lang="en-US" sz="2400" b="1" u="sng" dirty="0" err="1" smtClean="0"/>
            <a:t>Truvada</a:t>
          </a:r>
          <a:r>
            <a:rPr lang="en-US" sz="2400" b="1" u="sng" dirty="0" smtClean="0"/>
            <a:t> </a:t>
          </a:r>
          <a:r>
            <a:rPr lang="th-TH" sz="2400" b="1" u="sng" dirty="0" smtClean="0"/>
            <a:t>เท่านั้น</a:t>
          </a:r>
        </a:p>
      </dgm:t>
    </dgm:pt>
    <dgm:pt modelId="{83298DB2-368D-4220-BC13-42C4881C5057}" type="parTrans" cxnId="{43F1AF5C-AF28-4525-A0C4-5CF0480E6D01}">
      <dgm:prSet/>
      <dgm:spPr/>
      <dgm:t>
        <a:bodyPr/>
        <a:lstStyle/>
        <a:p>
          <a:endParaRPr lang="en-US"/>
        </a:p>
      </dgm:t>
    </dgm:pt>
    <dgm:pt modelId="{862982D9-AB61-4747-B1DD-70B75C4A291A}" type="sibTrans" cxnId="{43F1AF5C-AF28-4525-A0C4-5CF0480E6D01}">
      <dgm:prSet/>
      <dgm:spPr/>
      <dgm:t>
        <a:bodyPr/>
        <a:lstStyle/>
        <a:p>
          <a:endParaRPr lang="en-US"/>
        </a:p>
      </dgm:t>
    </dgm:pt>
    <dgm:pt modelId="{38EF5F24-3860-4A11-8E23-D7B853BD7C55}">
      <dgm:prSet custT="1"/>
      <dgm:spPr/>
      <dgm:t>
        <a:bodyPr/>
        <a:lstStyle/>
        <a:p>
          <a:pPr rtl="0">
            <a:lnSpc>
              <a:spcPct val="110000"/>
            </a:lnSpc>
          </a:pPr>
          <a:r>
            <a:rPr lang="th-TH" sz="2400" b="1" dirty="0" smtClean="0"/>
            <a:t>เฉพาะMSMผู้ที่ยังไม่ติดเชื้อและมีความเสี่ยงต่อการติดเชื้อเท่านั้น</a:t>
          </a:r>
          <a:endParaRPr lang="en-US" sz="2400" b="1" dirty="0"/>
        </a:p>
      </dgm:t>
    </dgm:pt>
    <dgm:pt modelId="{4BE1AB38-E5EC-437E-BCA0-8DE7F268E54A}" type="parTrans" cxnId="{A7DEAC18-D169-485B-9FF4-F10B18CA92C0}">
      <dgm:prSet/>
      <dgm:spPr/>
      <dgm:t>
        <a:bodyPr/>
        <a:lstStyle/>
        <a:p>
          <a:endParaRPr lang="en-US"/>
        </a:p>
      </dgm:t>
    </dgm:pt>
    <dgm:pt modelId="{A07D2A05-8BA6-462E-965D-0F8D9C00DF04}" type="sibTrans" cxnId="{A7DEAC18-D169-485B-9FF4-F10B18CA92C0}">
      <dgm:prSet/>
      <dgm:spPr/>
      <dgm:t>
        <a:bodyPr/>
        <a:lstStyle/>
        <a:p>
          <a:endParaRPr lang="en-US"/>
        </a:p>
      </dgm:t>
    </dgm:pt>
    <dgm:pt modelId="{195B1F51-D7E4-4196-9653-30203CC19C5B}">
      <dgm:prSet custT="1"/>
      <dgm:spPr/>
      <dgm:t>
        <a:bodyPr/>
        <a:lstStyle/>
        <a:p>
          <a:pPr rtl="0"/>
          <a:r>
            <a:rPr lang="th-TH" sz="2400" b="1" dirty="0" smtClean="0"/>
            <a:t>ตรวจเอชไอวีก่อนเริ่ม และตรวจเป็นระยะ</a:t>
          </a:r>
          <a:endParaRPr lang="en-US" sz="2400" b="1" dirty="0"/>
        </a:p>
      </dgm:t>
    </dgm:pt>
    <dgm:pt modelId="{7563B1EF-2D9D-439C-A251-0A82370E206C}" type="parTrans" cxnId="{C3C8B027-4470-4F2E-898C-46133588F404}">
      <dgm:prSet/>
      <dgm:spPr/>
      <dgm:t>
        <a:bodyPr/>
        <a:lstStyle/>
        <a:p>
          <a:endParaRPr lang="en-US"/>
        </a:p>
      </dgm:t>
    </dgm:pt>
    <dgm:pt modelId="{D2B1AEED-1D1A-4A9E-99BA-7A1FC2B7B867}" type="sibTrans" cxnId="{C3C8B027-4470-4F2E-898C-46133588F404}">
      <dgm:prSet/>
      <dgm:spPr/>
      <dgm:t>
        <a:bodyPr/>
        <a:lstStyle/>
        <a:p>
          <a:endParaRPr lang="en-US"/>
        </a:p>
      </dgm:t>
    </dgm:pt>
    <dgm:pt modelId="{321F62A3-D6C8-46DB-931B-42B774AD7C51}">
      <dgm:prSet custT="1"/>
      <dgm:spPr/>
      <dgm:t>
        <a:bodyPr/>
        <a:lstStyle/>
        <a:p>
          <a:pPr rtl="0"/>
          <a:r>
            <a:rPr lang="th-TH" sz="2400" b="1" dirty="0" smtClean="0"/>
            <a:t>ต้องกินทุกวัน </a:t>
          </a:r>
        </a:p>
      </dgm:t>
    </dgm:pt>
    <dgm:pt modelId="{128A8E99-6019-46AE-933C-20A9714A8A59}" type="parTrans" cxnId="{020960D1-DB85-4337-AFE2-8A19C9BFE223}">
      <dgm:prSet/>
      <dgm:spPr/>
      <dgm:t>
        <a:bodyPr/>
        <a:lstStyle/>
        <a:p>
          <a:endParaRPr lang="en-US"/>
        </a:p>
      </dgm:t>
    </dgm:pt>
    <dgm:pt modelId="{6E36C9C7-081F-4301-A673-8F9BA8B01331}" type="sibTrans" cxnId="{020960D1-DB85-4337-AFE2-8A19C9BFE223}">
      <dgm:prSet/>
      <dgm:spPr/>
      <dgm:t>
        <a:bodyPr/>
        <a:lstStyle/>
        <a:p>
          <a:endParaRPr lang="en-US"/>
        </a:p>
      </dgm:t>
    </dgm:pt>
    <dgm:pt modelId="{90B92E98-8273-4866-A0EF-8CA3C71BF34E}">
      <dgm:prSet custT="1"/>
      <dgm:spPr/>
      <dgm:t>
        <a:bodyPr/>
        <a:lstStyle/>
        <a:p>
          <a:pPr rtl="0"/>
          <a:r>
            <a:rPr lang="th-TH" sz="2800" b="1" dirty="0" smtClean="0">
              <a:solidFill>
                <a:srgbClr val="860000"/>
              </a:solidFill>
            </a:rPr>
            <a:t>รอแนวทางฉบับถาวร</a:t>
          </a:r>
          <a:endParaRPr lang="en-US" sz="2800" b="1" dirty="0">
            <a:solidFill>
              <a:srgbClr val="860000"/>
            </a:solidFill>
          </a:endParaRPr>
        </a:p>
      </dgm:t>
    </dgm:pt>
    <dgm:pt modelId="{882A59B2-9C8C-4096-805D-85E07DBD375C}" type="parTrans" cxnId="{FA212DAB-EE4D-4926-B878-09A208E8692B}">
      <dgm:prSet/>
      <dgm:spPr/>
      <dgm:t>
        <a:bodyPr/>
        <a:lstStyle/>
        <a:p>
          <a:endParaRPr lang="en-US"/>
        </a:p>
      </dgm:t>
    </dgm:pt>
    <dgm:pt modelId="{427A6D48-E53F-4122-ACA0-2CD2CD8E4C29}" type="sibTrans" cxnId="{FA212DAB-EE4D-4926-B878-09A208E8692B}">
      <dgm:prSet/>
      <dgm:spPr/>
      <dgm:t>
        <a:bodyPr/>
        <a:lstStyle/>
        <a:p>
          <a:endParaRPr lang="en-US"/>
        </a:p>
      </dgm:t>
    </dgm:pt>
    <dgm:pt modelId="{40686348-CEFF-4286-8FF1-4597F5020B1F}">
      <dgm:prSet/>
      <dgm:spPr/>
      <dgm:t>
        <a:bodyPr/>
        <a:lstStyle/>
        <a:p>
          <a:pPr rtl="0"/>
          <a:endParaRPr lang="en-US" dirty="0"/>
        </a:p>
      </dgm:t>
    </dgm:pt>
    <dgm:pt modelId="{9791E905-EE26-4F1C-A50C-AB03D1A70952}" type="parTrans" cxnId="{F6F44F71-7EAD-493B-89C7-9BC5B290567E}">
      <dgm:prSet/>
      <dgm:spPr/>
      <dgm:t>
        <a:bodyPr/>
        <a:lstStyle/>
        <a:p>
          <a:endParaRPr lang="en-US"/>
        </a:p>
      </dgm:t>
    </dgm:pt>
    <dgm:pt modelId="{43DA70D0-0BA9-42B2-88EE-35850F284BF2}" type="sibTrans" cxnId="{F6F44F71-7EAD-493B-89C7-9BC5B290567E}">
      <dgm:prSet/>
      <dgm:spPr/>
      <dgm:t>
        <a:bodyPr/>
        <a:lstStyle/>
        <a:p>
          <a:endParaRPr lang="en-US"/>
        </a:p>
      </dgm:t>
    </dgm:pt>
    <dgm:pt modelId="{8CE6E2FF-62B3-4808-937D-12CECDB119F0}" type="pres">
      <dgm:prSet presAssocID="{67B8E557-53C1-40D1-8FC4-F7185B18A36D}" presName="compositeShape" presStyleCnt="0">
        <dgm:presLayoutVars>
          <dgm:chMax val="7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A2413F26-629A-4ADA-A33F-A8D7786D3EC4}" type="pres">
      <dgm:prSet presAssocID="{2B643209-22CD-49A3-B076-488561FC657E}" presName="circ1" presStyleLbl="vennNode1" presStyleIdx="0" presStyleCnt="7"/>
      <dgm:spPr>
        <a:solidFill>
          <a:schemeClr val="accent5">
            <a:lumMod val="60000"/>
            <a:lumOff val="40000"/>
            <a:alpha val="50000"/>
          </a:schemeClr>
        </a:solidFill>
        <a:effectLst>
          <a:glow rad="63500">
            <a:schemeClr val="accent1">
              <a:satMod val="175000"/>
              <a:alpha val="40000"/>
            </a:schemeClr>
          </a:glow>
        </a:effectLst>
      </dgm:spPr>
    </dgm:pt>
    <dgm:pt modelId="{59731773-E59B-400E-B471-CF02288C94E0}" type="pres">
      <dgm:prSet presAssocID="{2B643209-22CD-49A3-B076-488561FC657E}" presName="circ1Tx" presStyleLbl="revTx" presStyleIdx="0" presStyleCnt="0" custLinFactX="25849" custLinFactNeighborX="100000" custLinFactNeighborY="6515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9BB9E5B-E4C2-405E-BD4B-983B25DB3C0E}" type="pres">
      <dgm:prSet presAssocID="{9C6BBC27-D4A7-4D6B-9C0F-1D554303F17F}" presName="circ2" presStyleLbl="vennNode1" presStyleIdx="1" presStyleCnt="7"/>
      <dgm:spPr>
        <a:solidFill>
          <a:srgbClr val="92D050">
            <a:alpha val="50000"/>
          </a:srgbClr>
        </a:solidFill>
        <a:effectLst>
          <a:glow rad="63500">
            <a:schemeClr val="accent3">
              <a:satMod val="175000"/>
              <a:alpha val="40000"/>
            </a:schemeClr>
          </a:glow>
        </a:effectLst>
      </dgm:spPr>
    </dgm:pt>
    <dgm:pt modelId="{EB6D7886-E57F-4F96-9A8A-E6A103B2A336}" type="pres">
      <dgm:prSet presAssocID="{9C6BBC27-D4A7-4D6B-9C0F-1D554303F17F}" presName="circ2Tx" presStyleLbl="revTx" presStyleIdx="0" presStyleCnt="0" custLinFactX="-32550" custLinFactNeighborX="-100000" custLinFactNeighborY="-7533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8FC20DC-40E8-4375-AD10-D7F90595576F}" type="pres">
      <dgm:prSet presAssocID="{111673B8-0C80-431B-9FD2-701033CB4B68}" presName="circ3" presStyleLbl="vennNode1" presStyleIdx="2" presStyleCnt="7"/>
      <dgm:spPr>
        <a:solidFill>
          <a:srgbClr val="DDA927">
            <a:alpha val="50000"/>
          </a:srgbClr>
        </a:solidFill>
        <a:effectLst>
          <a:glow rad="63500">
            <a:schemeClr val="accent4">
              <a:satMod val="175000"/>
              <a:alpha val="40000"/>
            </a:schemeClr>
          </a:glow>
        </a:effectLst>
      </dgm:spPr>
    </dgm:pt>
    <dgm:pt modelId="{59F86187-EBE5-4A81-9BE2-9506604E66BE}" type="pres">
      <dgm:prSet presAssocID="{111673B8-0C80-431B-9FD2-701033CB4B68}" presName="circ3Tx" presStyleLbl="revTx" presStyleIdx="0" presStyleCnt="0" custScaleX="165855" custScaleY="56670" custLinFactNeighborX="40159" custLinFactNeighborY="-6575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6B2DE42-19BC-4739-B020-0632ABBCDBB3}" type="pres">
      <dgm:prSet presAssocID="{38EF5F24-3860-4A11-8E23-D7B853BD7C55}" presName="circ4" presStyleLbl="vennNode1" presStyleIdx="3" presStyleCnt="7"/>
      <dgm:spPr>
        <a:solidFill>
          <a:schemeClr val="accent5">
            <a:lumMod val="60000"/>
            <a:lumOff val="40000"/>
            <a:alpha val="50000"/>
          </a:schemeClr>
        </a:solidFill>
        <a:effectLst>
          <a:glow rad="63500">
            <a:schemeClr val="accent5">
              <a:satMod val="175000"/>
              <a:alpha val="40000"/>
            </a:schemeClr>
          </a:glow>
        </a:effectLst>
      </dgm:spPr>
    </dgm:pt>
    <dgm:pt modelId="{FC6DB340-0B29-4C29-A27A-A5635C6D8A51}" type="pres">
      <dgm:prSet presAssocID="{38EF5F24-3860-4A11-8E23-D7B853BD7C55}" presName="circ4Tx" presStyleLbl="revTx" presStyleIdx="0" presStyleCnt="0" custScaleY="145146" custLinFactNeighborX="49530" custLinFactNeighborY="-5315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65DF0A0-DD45-4E45-8484-4CCC00214492}" type="pres">
      <dgm:prSet presAssocID="{195B1F51-D7E4-4196-9653-30203CC19C5B}" presName="circ5" presStyleLbl="vennNode1" presStyleIdx="4" presStyleCnt="7"/>
      <dgm:spPr>
        <a:solidFill>
          <a:schemeClr val="accent6">
            <a:lumMod val="75000"/>
            <a:alpha val="50000"/>
          </a:schemeClr>
        </a:solidFill>
        <a:effectLst>
          <a:glow rad="63500">
            <a:schemeClr val="accent2">
              <a:satMod val="175000"/>
              <a:alpha val="40000"/>
            </a:schemeClr>
          </a:glow>
        </a:effectLst>
      </dgm:spPr>
    </dgm:pt>
    <dgm:pt modelId="{4B74253B-CBED-4088-AA59-F64EF8731ED9}" type="pres">
      <dgm:prSet presAssocID="{195B1F51-D7E4-4196-9653-30203CC19C5B}" presName="circ5Tx" presStyleLbl="revTx" presStyleIdx="0" presStyleCnt="0" custLinFactNeighborX="-6762" custLinFactNeighborY="-31551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7A0FDB1-049F-4617-9BD3-9DCE93CFAC37}" type="pres">
      <dgm:prSet presAssocID="{321F62A3-D6C8-46DB-931B-42B774AD7C51}" presName="circ6" presStyleLbl="vennNode1" presStyleIdx="5" presStyleCnt="7"/>
      <dgm:spPr>
        <a:effectLst>
          <a:glow rad="63500">
            <a:schemeClr val="accent1">
              <a:satMod val="175000"/>
              <a:alpha val="40000"/>
            </a:schemeClr>
          </a:glow>
        </a:effectLst>
      </dgm:spPr>
    </dgm:pt>
    <dgm:pt modelId="{0C30A1AE-13D4-4896-896E-6E945D04DD9A}" type="pres">
      <dgm:prSet presAssocID="{321F62A3-D6C8-46DB-931B-42B774AD7C51}" presName="circ6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DF2B847-1F74-4731-8456-2D07AE7D8087}" type="pres">
      <dgm:prSet presAssocID="{90B92E98-8273-4866-A0EF-8CA3C71BF34E}" presName="circ7" presStyleLbl="vennNode1" presStyleIdx="6" presStyleCnt="7"/>
      <dgm:spPr>
        <a:solidFill>
          <a:srgbClr val="EF5B70">
            <a:alpha val="50000"/>
          </a:srgbClr>
        </a:solidFill>
        <a:effectLst>
          <a:glow rad="63500">
            <a:schemeClr val="accent2">
              <a:satMod val="175000"/>
              <a:alpha val="40000"/>
            </a:schemeClr>
          </a:glow>
        </a:effectLst>
      </dgm:spPr>
    </dgm:pt>
    <dgm:pt modelId="{6797D244-9EA8-4D56-AAA9-912D6732256C}" type="pres">
      <dgm:prSet presAssocID="{90B92E98-8273-4866-A0EF-8CA3C71BF34E}" presName="circ7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A022CFAE-1226-4567-B9FC-52FBCE220883}" srcId="{67B8E557-53C1-40D1-8FC4-F7185B18A36D}" destId="{9C6BBC27-D4A7-4D6B-9C0F-1D554303F17F}" srcOrd="1" destOrd="0" parTransId="{F6A7F787-C945-45E1-8D04-CC3C238563A6}" sibTransId="{5CF9DFC4-70E8-4B4E-AD5B-E1F580935062}"/>
    <dgm:cxn modelId="{9F4A5293-DCCF-9940-8EAC-7CA2C2B189C6}" type="presOf" srcId="{38EF5F24-3860-4A11-8E23-D7B853BD7C55}" destId="{FC6DB340-0B29-4C29-A27A-A5635C6D8A51}" srcOrd="0" destOrd="0" presId="urn:microsoft.com/office/officeart/2005/8/layout/venn1"/>
    <dgm:cxn modelId="{F6F44F71-7EAD-493B-89C7-9BC5B290567E}" srcId="{67B8E557-53C1-40D1-8FC4-F7185B18A36D}" destId="{40686348-CEFF-4286-8FF1-4597F5020B1F}" srcOrd="7" destOrd="0" parTransId="{9791E905-EE26-4F1C-A50C-AB03D1A70952}" sibTransId="{43DA70D0-0BA9-42B2-88EE-35850F284BF2}"/>
    <dgm:cxn modelId="{A7DEAC18-D169-485B-9FF4-F10B18CA92C0}" srcId="{67B8E557-53C1-40D1-8FC4-F7185B18A36D}" destId="{38EF5F24-3860-4A11-8E23-D7B853BD7C55}" srcOrd="3" destOrd="0" parTransId="{4BE1AB38-E5EC-437E-BCA0-8DE7F268E54A}" sibTransId="{A07D2A05-8BA6-462E-965D-0F8D9C00DF04}"/>
    <dgm:cxn modelId="{BE095203-210E-4F03-85E5-EA90F835BB58}" srcId="{67B8E557-53C1-40D1-8FC4-F7185B18A36D}" destId="{2B643209-22CD-49A3-B076-488561FC657E}" srcOrd="0" destOrd="0" parTransId="{0F239AD3-3C90-4C57-B283-647B19703373}" sibTransId="{92148769-1FC9-4914-A52C-D6DAE2497174}"/>
    <dgm:cxn modelId="{9C5D31BA-B35A-BB4B-B90E-C212F81B6446}" type="presOf" srcId="{111673B8-0C80-431B-9FD2-701033CB4B68}" destId="{59F86187-EBE5-4A81-9BE2-9506604E66BE}" srcOrd="0" destOrd="0" presId="urn:microsoft.com/office/officeart/2005/8/layout/venn1"/>
    <dgm:cxn modelId="{433E8C97-A585-DC4B-8061-3DD461F9F9E2}" type="presOf" srcId="{67B8E557-53C1-40D1-8FC4-F7185B18A36D}" destId="{8CE6E2FF-62B3-4808-937D-12CECDB119F0}" srcOrd="0" destOrd="0" presId="urn:microsoft.com/office/officeart/2005/8/layout/venn1"/>
    <dgm:cxn modelId="{FA212DAB-EE4D-4926-B878-09A208E8692B}" srcId="{67B8E557-53C1-40D1-8FC4-F7185B18A36D}" destId="{90B92E98-8273-4866-A0EF-8CA3C71BF34E}" srcOrd="6" destOrd="0" parTransId="{882A59B2-9C8C-4096-805D-85E07DBD375C}" sibTransId="{427A6D48-E53F-4122-ACA0-2CD2CD8E4C29}"/>
    <dgm:cxn modelId="{020960D1-DB85-4337-AFE2-8A19C9BFE223}" srcId="{67B8E557-53C1-40D1-8FC4-F7185B18A36D}" destId="{321F62A3-D6C8-46DB-931B-42B774AD7C51}" srcOrd="5" destOrd="0" parTransId="{128A8E99-6019-46AE-933C-20A9714A8A59}" sibTransId="{6E36C9C7-081F-4301-A673-8F9BA8B01331}"/>
    <dgm:cxn modelId="{95318E54-52F4-9E43-886B-935BF89A3522}" type="presOf" srcId="{9C6BBC27-D4A7-4D6B-9C0F-1D554303F17F}" destId="{EB6D7886-E57F-4F96-9A8A-E6A103B2A336}" srcOrd="0" destOrd="0" presId="urn:microsoft.com/office/officeart/2005/8/layout/venn1"/>
    <dgm:cxn modelId="{1772A088-1568-C84E-BC63-ADCC061C9BA5}" type="presOf" srcId="{321F62A3-D6C8-46DB-931B-42B774AD7C51}" destId="{0C30A1AE-13D4-4896-896E-6E945D04DD9A}" srcOrd="0" destOrd="0" presId="urn:microsoft.com/office/officeart/2005/8/layout/venn1"/>
    <dgm:cxn modelId="{AF382168-1571-D145-821D-09D077450B36}" type="presOf" srcId="{195B1F51-D7E4-4196-9653-30203CC19C5B}" destId="{4B74253B-CBED-4088-AA59-F64EF8731ED9}" srcOrd="0" destOrd="0" presId="urn:microsoft.com/office/officeart/2005/8/layout/venn1"/>
    <dgm:cxn modelId="{C3C8B027-4470-4F2E-898C-46133588F404}" srcId="{67B8E557-53C1-40D1-8FC4-F7185B18A36D}" destId="{195B1F51-D7E4-4196-9653-30203CC19C5B}" srcOrd="4" destOrd="0" parTransId="{7563B1EF-2D9D-439C-A251-0A82370E206C}" sibTransId="{D2B1AEED-1D1A-4A9E-99BA-7A1FC2B7B867}"/>
    <dgm:cxn modelId="{6F58FFEA-781A-8749-87AB-EB7EEAFDCB96}" type="presOf" srcId="{2B643209-22CD-49A3-B076-488561FC657E}" destId="{59731773-E59B-400E-B471-CF02288C94E0}" srcOrd="0" destOrd="0" presId="urn:microsoft.com/office/officeart/2005/8/layout/venn1"/>
    <dgm:cxn modelId="{43F1AF5C-AF28-4525-A0C4-5CF0480E6D01}" srcId="{67B8E557-53C1-40D1-8FC4-F7185B18A36D}" destId="{111673B8-0C80-431B-9FD2-701033CB4B68}" srcOrd="2" destOrd="0" parTransId="{83298DB2-368D-4220-BC13-42C4881C5057}" sibTransId="{862982D9-AB61-4747-B1DD-70B75C4A291A}"/>
    <dgm:cxn modelId="{C15EBA51-0573-9C4A-9FC8-1B80D00A2575}" type="presOf" srcId="{90B92E98-8273-4866-A0EF-8CA3C71BF34E}" destId="{6797D244-9EA8-4D56-AAA9-912D6732256C}" srcOrd="0" destOrd="0" presId="urn:microsoft.com/office/officeart/2005/8/layout/venn1"/>
    <dgm:cxn modelId="{D6BB6593-1EC9-3448-845B-FCA10C4F582F}" type="presParOf" srcId="{8CE6E2FF-62B3-4808-937D-12CECDB119F0}" destId="{A2413F26-629A-4ADA-A33F-A8D7786D3EC4}" srcOrd="0" destOrd="0" presId="urn:microsoft.com/office/officeart/2005/8/layout/venn1"/>
    <dgm:cxn modelId="{59E91C34-BD8C-E644-B3E0-7155B7C97035}" type="presParOf" srcId="{8CE6E2FF-62B3-4808-937D-12CECDB119F0}" destId="{59731773-E59B-400E-B471-CF02288C94E0}" srcOrd="1" destOrd="0" presId="urn:microsoft.com/office/officeart/2005/8/layout/venn1"/>
    <dgm:cxn modelId="{4B8564FA-6141-6A4A-8552-E4682BDCA478}" type="presParOf" srcId="{8CE6E2FF-62B3-4808-937D-12CECDB119F0}" destId="{89BB9E5B-E4C2-405E-BD4B-983B25DB3C0E}" srcOrd="2" destOrd="0" presId="urn:microsoft.com/office/officeart/2005/8/layout/venn1"/>
    <dgm:cxn modelId="{A993AB08-38D1-6D41-92C3-A1A4E7C6E130}" type="presParOf" srcId="{8CE6E2FF-62B3-4808-937D-12CECDB119F0}" destId="{EB6D7886-E57F-4F96-9A8A-E6A103B2A336}" srcOrd="3" destOrd="0" presId="urn:microsoft.com/office/officeart/2005/8/layout/venn1"/>
    <dgm:cxn modelId="{4372793C-A5F8-A243-9EB1-71E8D88771DC}" type="presParOf" srcId="{8CE6E2FF-62B3-4808-937D-12CECDB119F0}" destId="{18FC20DC-40E8-4375-AD10-D7F90595576F}" srcOrd="4" destOrd="0" presId="urn:microsoft.com/office/officeart/2005/8/layout/venn1"/>
    <dgm:cxn modelId="{F7528098-B248-0A47-B529-38906B21AED9}" type="presParOf" srcId="{8CE6E2FF-62B3-4808-937D-12CECDB119F0}" destId="{59F86187-EBE5-4A81-9BE2-9506604E66BE}" srcOrd="5" destOrd="0" presId="urn:microsoft.com/office/officeart/2005/8/layout/venn1"/>
    <dgm:cxn modelId="{EE3EFEAB-C7B3-5E47-A039-35B9DF121239}" type="presParOf" srcId="{8CE6E2FF-62B3-4808-937D-12CECDB119F0}" destId="{06B2DE42-19BC-4739-B020-0632ABBCDBB3}" srcOrd="6" destOrd="0" presId="urn:microsoft.com/office/officeart/2005/8/layout/venn1"/>
    <dgm:cxn modelId="{177D1CA6-64D6-7343-9C9B-748826FD1335}" type="presParOf" srcId="{8CE6E2FF-62B3-4808-937D-12CECDB119F0}" destId="{FC6DB340-0B29-4C29-A27A-A5635C6D8A51}" srcOrd="7" destOrd="0" presId="urn:microsoft.com/office/officeart/2005/8/layout/venn1"/>
    <dgm:cxn modelId="{6F4B37E3-AE61-A345-AF36-C9B97CED108A}" type="presParOf" srcId="{8CE6E2FF-62B3-4808-937D-12CECDB119F0}" destId="{165DF0A0-DD45-4E45-8484-4CCC00214492}" srcOrd="8" destOrd="0" presId="urn:microsoft.com/office/officeart/2005/8/layout/venn1"/>
    <dgm:cxn modelId="{327D424D-F839-424A-8599-C1EFCB1E8A07}" type="presParOf" srcId="{8CE6E2FF-62B3-4808-937D-12CECDB119F0}" destId="{4B74253B-CBED-4088-AA59-F64EF8731ED9}" srcOrd="9" destOrd="0" presId="urn:microsoft.com/office/officeart/2005/8/layout/venn1"/>
    <dgm:cxn modelId="{1BBF7A2F-1CDA-964A-9340-87E797B2FF30}" type="presParOf" srcId="{8CE6E2FF-62B3-4808-937D-12CECDB119F0}" destId="{57A0FDB1-049F-4617-9BD3-9DCE93CFAC37}" srcOrd="10" destOrd="0" presId="urn:microsoft.com/office/officeart/2005/8/layout/venn1"/>
    <dgm:cxn modelId="{8E93D719-4DD9-9B45-AAB3-9148E976E526}" type="presParOf" srcId="{8CE6E2FF-62B3-4808-937D-12CECDB119F0}" destId="{0C30A1AE-13D4-4896-896E-6E945D04DD9A}" srcOrd="11" destOrd="0" presId="urn:microsoft.com/office/officeart/2005/8/layout/venn1"/>
    <dgm:cxn modelId="{14ED8C1A-D78C-884B-8A27-E895F2DFB181}" type="presParOf" srcId="{8CE6E2FF-62B3-4808-937D-12CECDB119F0}" destId="{2DF2B847-1F74-4731-8456-2D07AE7D8087}" srcOrd="12" destOrd="0" presId="urn:microsoft.com/office/officeart/2005/8/layout/venn1"/>
    <dgm:cxn modelId="{45E5C1BE-63A2-A94D-8392-9E85FD05D2D6}" type="presParOf" srcId="{8CE6E2FF-62B3-4808-937D-12CECDB119F0}" destId="{6797D244-9EA8-4D56-AAA9-912D6732256C}" srcOrd="13" destOrd="0" presId="urn:microsoft.com/office/officeart/2005/8/layout/venn1"/>
  </dgm:cxnLst>
  <dgm:bg/>
  <dgm:whole/>
  <dgm:extLst>
    <a:ext uri="http://schemas.microsoft.com/office/drawing/2008/diagram">
      <dsp:dataModelExt xmlns=""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094541-CB1D-4E8B-A36F-6B4844819EB6}">
      <dsp:nvSpPr>
        <dsp:cNvPr id="0" name=""/>
        <dsp:cNvSpPr/>
      </dsp:nvSpPr>
      <dsp:spPr>
        <a:xfrm>
          <a:off x="3159466" y="41671"/>
          <a:ext cx="2105025" cy="2045774"/>
        </a:xfrm>
        <a:prstGeom prst="ellipse">
          <a:avLst/>
        </a:prstGeom>
        <a:solidFill>
          <a:srgbClr val="FFFF00">
            <a:alpha val="50000"/>
          </a:srgbClr>
        </a:solidFill>
        <a:ln w="38100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th-TH" sz="1800" b="1" kern="1200" dirty="0" smtClean="0">
            <a:latin typeface="+mj-lt"/>
          </a:endParaRPr>
        </a:p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th-TH" sz="1800" b="1" kern="1200" dirty="0" smtClean="0">
            <a:latin typeface="+mj-lt"/>
          </a:endParaRPr>
        </a:p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h-TH" sz="1800" b="1" kern="1200" dirty="0" smtClean="0">
              <a:latin typeface="+mj-lt"/>
            </a:rPr>
            <a:t>ระยะที่หนึ่ง </a:t>
          </a:r>
        </a:p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>
              <a:latin typeface="+mj-lt"/>
            </a:rPr>
            <a:t>Phase I</a:t>
          </a:r>
        </a:p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>
              <a:latin typeface="+mj-lt"/>
            </a:rPr>
            <a:t>         </a:t>
          </a:r>
          <a:r>
            <a:rPr lang="th-TH" sz="1800" b="1" kern="1200" dirty="0" smtClean="0">
              <a:latin typeface="+mj-lt"/>
            </a:rPr>
            <a:t>ความปลอดภัย</a:t>
          </a:r>
          <a:r>
            <a:rPr lang="en-US" sz="1800" b="1" kern="1200" dirty="0" smtClean="0">
              <a:latin typeface="+mj-lt"/>
            </a:rPr>
            <a:t>/</a:t>
          </a:r>
          <a:r>
            <a:rPr lang="th-TH" sz="1800" b="1" kern="1200" dirty="0" smtClean="0">
              <a:latin typeface="+mj-lt"/>
            </a:rPr>
            <a:t>ขนาดที่ทดลอง</a:t>
          </a:r>
          <a:endParaRPr lang="en-US" sz="1800" kern="1200" dirty="0">
            <a:latin typeface="+mj-lt"/>
          </a:endParaRPr>
        </a:p>
      </dsp:txBody>
      <dsp:txXfrm>
        <a:off x="3402354" y="317064"/>
        <a:ext cx="1619250" cy="649139"/>
      </dsp:txXfrm>
    </dsp:sp>
    <dsp:sp modelId="{2DA76DDD-EF84-4A9C-8279-BD4A77F2D21C}">
      <dsp:nvSpPr>
        <dsp:cNvPr id="0" name=""/>
        <dsp:cNvSpPr/>
      </dsp:nvSpPr>
      <dsp:spPr>
        <a:xfrm>
          <a:off x="4011722" y="958674"/>
          <a:ext cx="2808406" cy="2698931"/>
        </a:xfrm>
        <a:prstGeom prst="ellipse">
          <a:avLst/>
        </a:prstGeom>
        <a:solidFill>
          <a:srgbClr val="FFC000">
            <a:alpha val="50000"/>
          </a:srgbClr>
        </a:solidFill>
        <a:ln w="38100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h-TH" sz="1800" b="1" kern="1200" dirty="0" smtClean="0"/>
            <a:t>ระยะที่สอง </a:t>
          </a:r>
          <a:r>
            <a:rPr lang="en-US" sz="1800" b="1" kern="1200" dirty="0" smtClean="0"/>
            <a:t>Phase II</a:t>
          </a:r>
        </a:p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h-TH" sz="1800" kern="1200" dirty="0" smtClean="0"/>
            <a:t>ศึกษาความปลอดภัยเพิ่มเติม</a:t>
          </a:r>
          <a:endParaRPr lang="en-US" sz="1800" kern="1200" dirty="0"/>
        </a:p>
      </dsp:txBody>
      <dsp:txXfrm>
        <a:off x="5523941" y="1270089"/>
        <a:ext cx="1080156" cy="2076101"/>
      </dsp:txXfrm>
    </dsp:sp>
    <dsp:sp modelId="{0AB54211-200B-4BDC-881E-88C6660CED17}">
      <dsp:nvSpPr>
        <dsp:cNvPr id="0" name=""/>
        <dsp:cNvSpPr/>
      </dsp:nvSpPr>
      <dsp:spPr>
        <a:xfrm>
          <a:off x="2792377" y="2005188"/>
          <a:ext cx="3272360" cy="3176411"/>
        </a:xfrm>
        <a:prstGeom prst="ellipse">
          <a:avLst/>
        </a:prstGeom>
        <a:solidFill>
          <a:srgbClr val="FF6600">
            <a:alpha val="50000"/>
          </a:srgbClr>
        </a:solidFill>
        <a:ln w="38100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kern="1200" dirty="0" smtClean="0"/>
            <a:t>       </a:t>
          </a:r>
          <a:r>
            <a:rPr lang="th-TH" sz="1500" b="1" kern="1200" dirty="0" smtClean="0"/>
            <a:t>ระยะสองเอ/บี </a:t>
          </a:r>
        </a:p>
        <a:p>
          <a:pPr lvl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kern="1200" dirty="0" smtClean="0"/>
            <a:t>Phase Ii</a:t>
          </a:r>
          <a:r>
            <a:rPr lang="th-TH" sz="1500" b="1" kern="1200" dirty="0" smtClean="0"/>
            <a:t> a/</a:t>
          </a:r>
          <a:r>
            <a:rPr lang="en-US" sz="1500" b="1" kern="1200" dirty="0" smtClean="0"/>
            <a:t>b</a:t>
          </a:r>
        </a:p>
        <a:p>
          <a:pPr lvl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h-TH" sz="1500" b="1" kern="1200" dirty="0" smtClean="0"/>
            <a:t>พิสูจน์แนวความคิด a ขนาดยา   b ประสิทธิภาพ </a:t>
          </a:r>
          <a:endParaRPr lang="en-US" sz="1500" b="1" kern="1200" dirty="0"/>
        </a:p>
      </dsp:txBody>
      <dsp:txXfrm>
        <a:off x="3169957" y="3746106"/>
        <a:ext cx="2517200" cy="1007899"/>
      </dsp:txXfrm>
    </dsp:sp>
    <dsp:sp modelId="{C84C75A2-D131-4BA7-B661-37B1CBF61BB2}">
      <dsp:nvSpPr>
        <dsp:cNvPr id="0" name=""/>
        <dsp:cNvSpPr/>
      </dsp:nvSpPr>
      <dsp:spPr>
        <a:xfrm>
          <a:off x="1039776" y="381002"/>
          <a:ext cx="3657960" cy="3854277"/>
        </a:xfrm>
        <a:prstGeom prst="ellipse">
          <a:avLst/>
        </a:prstGeom>
        <a:solidFill>
          <a:srgbClr val="C00000">
            <a:alpha val="50000"/>
          </a:srgbClr>
        </a:solidFill>
        <a:ln w="38100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h-TH" sz="1500" b="1" kern="1200" dirty="0" smtClean="0"/>
            <a:t>ระยะสาม</a:t>
          </a:r>
        </a:p>
        <a:p>
          <a:pPr lvl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kern="1200" dirty="0" smtClean="0"/>
            <a:t>Phase III </a:t>
          </a:r>
          <a:br>
            <a:rPr lang="en-US" sz="1500" b="1" kern="1200" dirty="0" smtClean="0"/>
          </a:br>
          <a:r>
            <a:rPr lang="th-TH" sz="1500" b="1" kern="1200" dirty="0" smtClean="0"/>
            <a:t>โครงการขนาดใหญ่ พิสูจน์สัมฤทธิผล / ประสิทธิผล</a:t>
          </a:r>
          <a:endParaRPr lang="en-US" sz="1500" kern="1200" dirty="0"/>
        </a:p>
      </dsp:txBody>
      <dsp:txXfrm>
        <a:off x="1321158" y="825726"/>
        <a:ext cx="1406908" cy="296482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2EAD91-0ADF-4697-BF5E-F2646854C344}">
      <dsp:nvSpPr>
        <dsp:cNvPr id="0" name=""/>
        <dsp:cNvSpPr/>
      </dsp:nvSpPr>
      <dsp:spPr>
        <a:xfrm>
          <a:off x="-78241" y="12229"/>
          <a:ext cx="5105965" cy="4471817"/>
        </a:xfrm>
        <a:prstGeom prst="ellipse">
          <a:avLst/>
        </a:prstGeom>
        <a:gradFill rotWithShape="0">
          <a:gsLst>
            <a:gs pos="0">
              <a:schemeClr val="accent1">
                <a:alpha val="5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alpha val="5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alpha val="5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CA" sz="2400" kern="1200" dirty="0" smtClean="0">
              <a:latin typeface="Candara" pitchFamily="34" charset="0"/>
            </a:rPr>
            <a:t> </a:t>
          </a:r>
          <a:endParaRPr lang="en-CA" sz="2400" kern="1200" dirty="0">
            <a:latin typeface="Candara" pitchFamily="34" charset="0"/>
          </a:endParaRPr>
        </a:p>
      </dsp:txBody>
      <dsp:txXfrm>
        <a:off x="634754" y="539553"/>
        <a:ext cx="2943980" cy="3417170"/>
      </dsp:txXfrm>
    </dsp:sp>
    <dsp:sp modelId="{B6F3C811-4818-45AE-8DD4-3CB21130BCE8}">
      <dsp:nvSpPr>
        <dsp:cNvPr id="0" name=""/>
        <dsp:cNvSpPr/>
      </dsp:nvSpPr>
      <dsp:spPr>
        <a:xfrm>
          <a:off x="3164656" y="21"/>
          <a:ext cx="5066032" cy="4471817"/>
        </a:xfrm>
        <a:prstGeom prst="ellipse">
          <a:avLst/>
        </a:prstGeom>
        <a:gradFill rotWithShape="0">
          <a:gsLst>
            <a:gs pos="0">
              <a:schemeClr val="accent1">
                <a:alpha val="5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alpha val="5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alpha val="5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CA" sz="6500" kern="1200" dirty="0" smtClean="0"/>
            <a:t> </a:t>
          </a:r>
          <a:endParaRPr lang="en-CA" sz="6500" kern="1200" dirty="0"/>
        </a:p>
      </dsp:txBody>
      <dsp:txXfrm>
        <a:off x="4602314" y="527345"/>
        <a:ext cx="2920955" cy="341717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413F26-629A-4ADA-A33F-A8D7786D3EC4}">
      <dsp:nvSpPr>
        <dsp:cNvPr id="0" name=""/>
        <dsp:cNvSpPr/>
      </dsp:nvSpPr>
      <dsp:spPr>
        <a:xfrm>
          <a:off x="3534083" y="1172251"/>
          <a:ext cx="1659944" cy="1660147"/>
        </a:xfrm>
        <a:prstGeom prst="ellipse">
          <a:avLst/>
        </a:prstGeom>
        <a:solidFill>
          <a:schemeClr val="accent5">
            <a:lumMod val="60000"/>
            <a:lumOff val="40000"/>
            <a:alpha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glow rad="63500">
            <a:schemeClr val="accent1">
              <a:satMod val="175000"/>
              <a:alpha val="40000"/>
            </a:schemeClr>
          </a:glo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59731773-E59B-400E-B471-CF02288C94E0}">
      <dsp:nvSpPr>
        <dsp:cNvPr id="0" name=""/>
        <dsp:cNvSpPr/>
      </dsp:nvSpPr>
      <dsp:spPr>
        <a:xfrm>
          <a:off x="5806718" y="539726"/>
          <a:ext cx="1902019" cy="1017871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h-TH" sz="2400" b="1" kern="1200" dirty="0" smtClean="0"/>
            <a:t>ภายใต้การกำกับของแพทย์</a:t>
          </a:r>
          <a:endParaRPr lang="en-US" sz="2400" b="1" kern="1200" dirty="0"/>
        </a:p>
      </dsp:txBody>
      <dsp:txXfrm>
        <a:off x="5806718" y="539726"/>
        <a:ext cx="1902019" cy="1017871"/>
      </dsp:txXfrm>
    </dsp:sp>
    <dsp:sp modelId="{89BB9E5B-E4C2-405E-BD4B-983B25DB3C0E}">
      <dsp:nvSpPr>
        <dsp:cNvPr id="0" name=""/>
        <dsp:cNvSpPr/>
      </dsp:nvSpPr>
      <dsp:spPr>
        <a:xfrm>
          <a:off x="4021000" y="1406362"/>
          <a:ext cx="1659944" cy="1660147"/>
        </a:xfrm>
        <a:prstGeom prst="ellipse">
          <a:avLst/>
        </a:prstGeom>
        <a:solidFill>
          <a:srgbClr val="92D050">
            <a:alpha val="50000"/>
          </a:srgb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glow rad="63500">
            <a:schemeClr val="accent3">
              <a:satMod val="175000"/>
              <a:alpha val="40000"/>
            </a:schemeClr>
          </a:glo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EB6D7886-E57F-4F96-9A8A-E6A103B2A336}">
      <dsp:nvSpPr>
        <dsp:cNvPr id="0" name=""/>
        <dsp:cNvSpPr/>
      </dsp:nvSpPr>
      <dsp:spPr>
        <a:xfrm>
          <a:off x="3502060" y="0"/>
          <a:ext cx="1798273" cy="1119658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066800" rtl="0">
            <a:lnSpc>
              <a:spcPct val="110000"/>
            </a:lnSpc>
            <a:spcBef>
              <a:spcPct val="0"/>
            </a:spcBef>
            <a:spcAft>
              <a:spcPct val="35000"/>
            </a:spcAft>
          </a:pPr>
          <a:r>
            <a:rPr lang="th-TH" sz="2400" b="1" kern="1200" dirty="0" smtClean="0"/>
            <a:t>แพทย์เป็นผู้สั่งยาเท่านั้น</a:t>
          </a:r>
          <a:endParaRPr lang="en-US" sz="2400" b="1" kern="1200" dirty="0"/>
        </a:p>
      </dsp:txBody>
      <dsp:txXfrm>
        <a:off x="3502060" y="0"/>
        <a:ext cx="1798273" cy="1119658"/>
      </dsp:txXfrm>
    </dsp:sp>
    <dsp:sp modelId="{18FC20DC-40E8-4375-AD10-D7F90595576F}">
      <dsp:nvSpPr>
        <dsp:cNvPr id="0" name=""/>
        <dsp:cNvSpPr/>
      </dsp:nvSpPr>
      <dsp:spPr>
        <a:xfrm>
          <a:off x="4140654" y="1933110"/>
          <a:ext cx="1659944" cy="1660147"/>
        </a:xfrm>
        <a:prstGeom prst="ellipse">
          <a:avLst/>
        </a:prstGeom>
        <a:solidFill>
          <a:srgbClr val="DDA927">
            <a:alpha val="50000"/>
          </a:srgb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glow rad="63500">
            <a:schemeClr val="accent4">
              <a:satMod val="175000"/>
              <a:alpha val="40000"/>
            </a:schemeClr>
          </a:glo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59F86187-EBE5-4A81-9BE2-9506604E66BE}">
      <dsp:nvSpPr>
        <dsp:cNvPr id="0" name=""/>
        <dsp:cNvSpPr/>
      </dsp:nvSpPr>
      <dsp:spPr>
        <a:xfrm>
          <a:off x="6186123" y="1741195"/>
          <a:ext cx="2925169" cy="677772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u="sng" kern="1200" dirty="0" err="1" smtClean="0"/>
            <a:t>Truvada</a:t>
          </a:r>
          <a:r>
            <a:rPr lang="en-US" sz="2400" b="1" u="sng" kern="1200" dirty="0" smtClean="0"/>
            <a:t> </a:t>
          </a:r>
          <a:r>
            <a:rPr lang="th-TH" sz="2400" b="1" u="sng" kern="1200" dirty="0" smtClean="0"/>
            <a:t>เท่านั้น</a:t>
          </a:r>
        </a:p>
      </dsp:txBody>
      <dsp:txXfrm>
        <a:off x="6186123" y="1741195"/>
        <a:ext cx="2925169" cy="677772"/>
      </dsp:txXfrm>
    </dsp:sp>
    <dsp:sp modelId="{06B2DE42-19BC-4739-B020-0632ABBCDBB3}">
      <dsp:nvSpPr>
        <dsp:cNvPr id="0" name=""/>
        <dsp:cNvSpPr/>
      </dsp:nvSpPr>
      <dsp:spPr>
        <a:xfrm>
          <a:off x="3803824" y="2355527"/>
          <a:ext cx="1659944" cy="1660147"/>
        </a:xfrm>
        <a:prstGeom prst="ellipse">
          <a:avLst/>
        </a:prstGeom>
        <a:solidFill>
          <a:schemeClr val="accent5">
            <a:lumMod val="60000"/>
            <a:lumOff val="40000"/>
            <a:alpha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glow rad="63500">
            <a:schemeClr val="accent5">
              <a:satMod val="175000"/>
              <a:alpha val="40000"/>
            </a:schemeClr>
          </a:glo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FC6DB340-0B29-4C29-A27A-A5635C6D8A51}">
      <dsp:nvSpPr>
        <dsp:cNvPr id="0" name=""/>
        <dsp:cNvSpPr/>
      </dsp:nvSpPr>
      <dsp:spPr>
        <a:xfrm>
          <a:off x="6239844" y="3043021"/>
          <a:ext cx="1902019" cy="1588204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066800" rtl="0">
            <a:lnSpc>
              <a:spcPct val="110000"/>
            </a:lnSpc>
            <a:spcBef>
              <a:spcPct val="0"/>
            </a:spcBef>
            <a:spcAft>
              <a:spcPct val="35000"/>
            </a:spcAft>
          </a:pPr>
          <a:r>
            <a:rPr lang="th-TH" sz="2400" b="1" kern="1200" dirty="0" smtClean="0"/>
            <a:t>เฉพาะMSMผู้ที่ยังไม่ติดเชื้อและมีความเสี่ยงต่อการติดเชื้อเท่านั้น</a:t>
          </a:r>
          <a:endParaRPr lang="en-US" sz="2400" b="1" kern="1200" dirty="0"/>
        </a:p>
      </dsp:txBody>
      <dsp:txXfrm>
        <a:off x="6239844" y="3043021"/>
        <a:ext cx="1902019" cy="1588204"/>
      </dsp:txXfrm>
    </dsp:sp>
    <dsp:sp modelId="{165DF0A0-DD45-4E45-8484-4CCC00214492}">
      <dsp:nvSpPr>
        <dsp:cNvPr id="0" name=""/>
        <dsp:cNvSpPr/>
      </dsp:nvSpPr>
      <dsp:spPr>
        <a:xfrm>
          <a:off x="3264342" y="2355527"/>
          <a:ext cx="1659944" cy="1660147"/>
        </a:xfrm>
        <a:prstGeom prst="ellipse">
          <a:avLst/>
        </a:prstGeom>
        <a:solidFill>
          <a:schemeClr val="accent6">
            <a:lumMod val="75000"/>
            <a:alpha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glow rad="63500">
            <a:schemeClr val="accent2">
              <a:satMod val="175000"/>
              <a:alpha val="40000"/>
            </a:schemeClr>
          </a:glo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4B74253B-CBED-4088-AA59-F64EF8731ED9}">
      <dsp:nvSpPr>
        <dsp:cNvPr id="0" name=""/>
        <dsp:cNvSpPr/>
      </dsp:nvSpPr>
      <dsp:spPr>
        <a:xfrm>
          <a:off x="1399702" y="3526411"/>
          <a:ext cx="1902019" cy="1094211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h-TH" sz="2400" b="1" kern="1200" dirty="0" smtClean="0"/>
            <a:t>ตรวจเอชไอวีก่อนเริ่ม และตรวจเป็นระยะ</a:t>
          </a:r>
          <a:endParaRPr lang="en-US" sz="2400" b="1" kern="1200" dirty="0"/>
        </a:p>
      </dsp:txBody>
      <dsp:txXfrm>
        <a:off x="1399702" y="3526411"/>
        <a:ext cx="1902019" cy="1094211"/>
      </dsp:txXfrm>
    </dsp:sp>
    <dsp:sp modelId="{57A0FDB1-049F-4617-9BD3-9DCE93CFAC37}">
      <dsp:nvSpPr>
        <dsp:cNvPr id="0" name=""/>
        <dsp:cNvSpPr/>
      </dsp:nvSpPr>
      <dsp:spPr>
        <a:xfrm>
          <a:off x="2927511" y="1933110"/>
          <a:ext cx="1659944" cy="1660147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glow rad="63500">
            <a:schemeClr val="accent1">
              <a:satMod val="175000"/>
              <a:alpha val="40000"/>
            </a:schemeClr>
          </a:glo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0C30A1AE-13D4-4896-896E-6E945D04DD9A}">
      <dsp:nvSpPr>
        <dsp:cNvPr id="0" name=""/>
        <dsp:cNvSpPr/>
      </dsp:nvSpPr>
      <dsp:spPr>
        <a:xfrm>
          <a:off x="905837" y="2268499"/>
          <a:ext cx="1763690" cy="1195998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h-TH" sz="2400" b="1" kern="1200" dirty="0" smtClean="0"/>
            <a:t>ต้องกินทุกวัน </a:t>
          </a:r>
        </a:p>
      </dsp:txBody>
      <dsp:txXfrm>
        <a:off x="905837" y="2268499"/>
        <a:ext cx="1763690" cy="1195998"/>
      </dsp:txXfrm>
    </dsp:sp>
    <dsp:sp modelId="{2DF2B847-1F74-4731-8456-2D07AE7D8087}">
      <dsp:nvSpPr>
        <dsp:cNvPr id="0" name=""/>
        <dsp:cNvSpPr/>
      </dsp:nvSpPr>
      <dsp:spPr>
        <a:xfrm>
          <a:off x="3047166" y="1406362"/>
          <a:ext cx="1659944" cy="1660147"/>
        </a:xfrm>
        <a:prstGeom prst="ellipse">
          <a:avLst/>
        </a:prstGeom>
        <a:solidFill>
          <a:srgbClr val="EF5B70">
            <a:alpha val="50000"/>
          </a:srgb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glow rad="63500">
            <a:schemeClr val="accent2">
              <a:satMod val="175000"/>
              <a:alpha val="40000"/>
            </a:schemeClr>
          </a:glo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6797D244-9EA8-4D56-AAA9-912D6732256C}">
      <dsp:nvSpPr>
        <dsp:cNvPr id="0" name=""/>
        <dsp:cNvSpPr/>
      </dsp:nvSpPr>
      <dsp:spPr>
        <a:xfrm>
          <a:off x="1044166" y="843479"/>
          <a:ext cx="1798273" cy="1119658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h-TH" sz="2800" b="1" kern="1200" dirty="0" smtClean="0">
              <a:solidFill>
                <a:srgbClr val="860000"/>
              </a:solidFill>
            </a:rPr>
            <a:t>รอแนวทางฉบับถาวร</a:t>
          </a:r>
          <a:endParaRPr lang="en-US" sz="2800" b="1" kern="1200" dirty="0">
            <a:solidFill>
              <a:srgbClr val="860000"/>
            </a:solidFill>
          </a:endParaRPr>
        </a:p>
      </dsp:txBody>
      <dsp:txXfrm>
        <a:off x="1044166" y="843479"/>
        <a:ext cx="1798273" cy="11196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4089EA-6888-9143-AC0B-ED8D3849294F}" type="datetimeFigureOut">
              <a:rPr lang="en-US" smtClean="0"/>
              <a:pPr/>
              <a:t>1/26/2012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D6F034-74E7-5743-9D06-92E957F32E5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7295582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4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D9DF64AA-B6A1-4E84-AB3D-5FC0BE1A0E9B}" type="slidenum">
              <a:rPr lang="en-US">
                <a:latin typeface="Arial Unicode MS" pitchFamily="34" charset="-128"/>
                <a:ea typeface="MS PGothic" pitchFamily="34" charset="-128"/>
              </a:rPr>
              <a:pPr/>
              <a:t>2</a:t>
            </a:fld>
            <a:endParaRPr lang="en-US" dirty="0">
              <a:latin typeface="Arial Unicode MS" pitchFamily="34" charset="-128"/>
              <a:ea typeface="MS PGothic" pitchFamily="34" charset="-128"/>
            </a:endParaRPr>
          </a:p>
        </p:txBody>
      </p:sp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4151313"/>
            <a:ext cx="6735763" cy="4992687"/>
          </a:xfr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 smtClean="0">
              <a:latin typeface="Arial Unicode MS" pitchFamily="34" charset="-128"/>
              <a:ea typeface="MS PGothic" pitchFamily="34" charset="-128"/>
            </a:endParaRPr>
          </a:p>
          <a:p>
            <a:pPr>
              <a:spcBef>
                <a:spcPct val="0"/>
              </a:spcBef>
            </a:pPr>
            <a:r>
              <a:rPr lang="en-US" dirty="0" smtClean="0">
                <a:latin typeface="Arial Unicode MS" pitchFamily="34" charset="-128"/>
                <a:ea typeface="MS PGothic" pitchFamily="34" charset="-128"/>
              </a:rPr>
              <a:t> 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68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7168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3944D25B-583A-4D38-9A71-598615F8A9D0}" type="slidenum">
              <a:rPr lang="en-US">
                <a:latin typeface="Arial" charset="0"/>
                <a:ea typeface="MS PGothic" pitchFamily="34" charset="-128"/>
              </a:rPr>
              <a:pPr/>
              <a:t>3</a:t>
            </a:fld>
            <a:endParaRPr lang="en-US" dirty="0">
              <a:latin typeface="Arial" charset="0"/>
              <a:ea typeface="MS PGothic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6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4096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A0A9114B-F861-469C-BF14-D71BA4D13A33}" type="slidenum">
              <a:rPr lang="en-US">
                <a:latin typeface="Arial" charset="0"/>
                <a:ea typeface="MS PGothic" pitchFamily="34" charset="-128"/>
              </a:rPr>
              <a:pPr/>
              <a:t>4</a:t>
            </a:fld>
            <a:endParaRPr lang="en-US" dirty="0">
              <a:latin typeface="Arial" charset="0"/>
              <a:ea typeface="MS PGothic" pitchFamily="3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22530" name="Notes Placeholder 2"/>
          <p:cNvSpPr>
            <a:spLocks noGrp="1"/>
          </p:cNvSpPr>
          <p:nvPr>
            <p:ph type="body" idx="1"/>
          </p:nvPr>
        </p:nvSpPr>
        <p:spPr>
          <a:xfrm>
            <a:off x="228600" y="4343400"/>
            <a:ext cx="6324600" cy="4495800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10000"/>
              </a:spcBef>
              <a:spcAft>
                <a:spcPct val="10000"/>
              </a:spcAft>
            </a:pPr>
            <a:endParaRPr lang="en-US" dirty="0">
              <a:latin typeface="Arial" charset="0"/>
            </a:endParaRPr>
          </a:p>
        </p:txBody>
      </p:sp>
      <p:sp>
        <p:nvSpPr>
          <p:cNvPr id="22531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1D8A7666-EDB5-354F-BC10-4EDA8AD24CE7}" type="slidenum">
              <a:rPr lang="en-US" sz="1200"/>
              <a:pPr eaLnBrk="1" hangingPunct="1"/>
              <a:t>5</a:t>
            </a:fld>
            <a:endParaRPr lang="en-US"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277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3277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952A413D-9655-483C-816B-6834BC619E15}" type="slidenum">
              <a:rPr lang="en-US">
                <a:latin typeface="Arial" charset="0"/>
                <a:ea typeface="MS PGothic" pitchFamily="34" charset="-128"/>
              </a:rPr>
              <a:pPr/>
              <a:t>6</a:t>
            </a:fld>
            <a:endParaRPr lang="en-US" dirty="0">
              <a:latin typeface="Arial" charset="0"/>
              <a:ea typeface="MS PGothic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1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3481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C9098B41-6460-4C68-AB4F-22472DA62FEB}" type="slidenum">
              <a:rPr lang="en-US">
                <a:latin typeface="Arial" charset="0"/>
                <a:ea typeface="MS PGothic" pitchFamily="34" charset="-128"/>
              </a:rPr>
              <a:pPr/>
              <a:t>7</a:t>
            </a:fld>
            <a:endParaRPr lang="en-US" dirty="0">
              <a:latin typeface="Arial" charset="0"/>
              <a:ea typeface="MS PGothic" pitchFamily="34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A873921-EC31-AE43-B42D-C1287737DA17}" type="slidenum">
              <a:rPr lang="en-US"/>
              <a:pPr>
                <a:defRPr/>
              </a:pPr>
              <a:t>8</a:t>
            </a:fld>
            <a:endParaRPr lang="en-US"/>
          </a:p>
        </p:txBody>
      </p:sp>
      <p:sp>
        <p:nvSpPr>
          <p:cNvPr id="17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6F034-74E7-5743-9D06-92E957F32E52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3612049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th-TH" smtClean="0">
              <a:cs typeface="Angsana New" pitchFamily="18" charset="-34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 smtClean="0">
              <a:cs typeface="Angsana New" pitchFamily="18" charset="-34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th-TH" smtClean="0">
              <a:cs typeface="Angsana New" pitchFamily="18" charset="-34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224325" indent="-224325">
              <a:lnSpc>
                <a:spcPct val="80000"/>
              </a:lnSpc>
            </a:pPr>
            <a:endParaRPr lang="th-TH" sz="1000" dirty="0" smtClean="0">
              <a:solidFill>
                <a:schemeClr val="tx2"/>
              </a:solidFill>
              <a:cs typeface="Angsana New" pitchFamily="18" charset="-34"/>
            </a:endParaRPr>
          </a:p>
          <a:p>
            <a:pPr marL="224325" indent="-224325">
              <a:lnSpc>
                <a:spcPct val="80000"/>
              </a:lnSpc>
              <a:buFontTx/>
              <a:buAutoNum type="thaiAlphaPeriod"/>
            </a:pPr>
            <a:endParaRPr lang="th-TH" sz="1000" dirty="0" smtClean="0">
              <a:solidFill>
                <a:schemeClr val="tx2"/>
              </a:solidFill>
              <a:cs typeface="Angsana New" pitchFamily="18" charset="-34"/>
            </a:endParaRPr>
          </a:p>
          <a:p>
            <a:pPr marL="224325" indent="-224325">
              <a:lnSpc>
                <a:spcPct val="80000"/>
              </a:lnSpc>
            </a:pPr>
            <a:endParaRPr lang="th-TH" sz="1000" dirty="0" smtClean="0">
              <a:solidFill>
                <a:schemeClr val="tx2"/>
              </a:solidFill>
              <a:cs typeface="Angsana New" pitchFamily="18" charset="-34"/>
            </a:endParaRPr>
          </a:p>
          <a:p>
            <a:pPr marL="224325" indent="-224325">
              <a:lnSpc>
                <a:spcPct val="80000"/>
              </a:lnSpc>
            </a:pPr>
            <a:endParaRPr lang="th-TH" sz="1000" dirty="0" smtClean="0">
              <a:cs typeface="Angsana New" pitchFamily="18" charset="-34"/>
            </a:endParaRPr>
          </a:p>
          <a:p>
            <a:pPr marL="224325" indent="-224325">
              <a:lnSpc>
                <a:spcPct val="80000"/>
              </a:lnSpc>
            </a:pPr>
            <a:endParaRPr lang="th-TH" sz="1000" dirty="0" smtClean="0">
              <a:solidFill>
                <a:schemeClr val="tx2"/>
              </a:solidFill>
              <a:cs typeface="Angsana New" pitchFamily="18" charset="-34"/>
            </a:endParaRPr>
          </a:p>
          <a:p>
            <a:pPr marL="224325" indent="-224325">
              <a:lnSpc>
                <a:spcPct val="80000"/>
              </a:lnSpc>
            </a:pPr>
            <a:r>
              <a:rPr lang="th-TH" sz="1000" dirty="0" smtClean="0">
                <a:solidFill>
                  <a:schemeClr val="tx2"/>
                </a:solidFill>
                <a:cs typeface="Angsana New" pitchFamily="18" charset="-34"/>
              </a:rPr>
              <a:t> </a:t>
            </a:r>
          </a:p>
          <a:p>
            <a:pPr marL="224325" indent="-224325">
              <a:lnSpc>
                <a:spcPct val="80000"/>
              </a:lnSpc>
            </a:pPr>
            <a:endParaRPr lang="th-TH" sz="1000" dirty="0" smtClean="0">
              <a:solidFill>
                <a:schemeClr val="tx2"/>
              </a:solidFill>
              <a:cs typeface="Angsana New" pitchFamily="18" charset="-34"/>
            </a:endParaRPr>
          </a:p>
          <a:p>
            <a:pPr marL="224325" indent="-224325">
              <a:lnSpc>
                <a:spcPct val="80000"/>
              </a:lnSpc>
            </a:pPr>
            <a:endParaRPr lang="th-TH" sz="1000" dirty="0" smtClean="0">
              <a:solidFill>
                <a:schemeClr val="tx2"/>
              </a:solidFill>
              <a:cs typeface="Angsana New" pitchFamily="18" charset="-34"/>
            </a:endParaRPr>
          </a:p>
          <a:p>
            <a:pPr marL="224325" indent="-224325">
              <a:lnSpc>
                <a:spcPct val="80000"/>
              </a:lnSpc>
            </a:pPr>
            <a:endParaRPr lang="th-TH" sz="1000" dirty="0" smtClean="0">
              <a:solidFill>
                <a:schemeClr val="tx2"/>
              </a:solidFill>
              <a:cs typeface="Angsana New" pitchFamily="18" charset="-34"/>
            </a:endParaRPr>
          </a:p>
          <a:p>
            <a:pPr marL="224325" indent="-224325">
              <a:lnSpc>
                <a:spcPct val="80000"/>
              </a:lnSpc>
            </a:pPr>
            <a:endParaRPr lang="th-TH" sz="1000" dirty="0" smtClean="0">
              <a:solidFill>
                <a:schemeClr val="tx2"/>
              </a:solidFill>
              <a:cs typeface="Angsana New" pitchFamily="18" charset="-34"/>
            </a:endParaRPr>
          </a:p>
          <a:p>
            <a:pPr marL="224325" indent="-224325">
              <a:lnSpc>
                <a:spcPct val="80000"/>
              </a:lnSpc>
            </a:pPr>
            <a:endParaRPr lang="th-TH" sz="1000" dirty="0" smtClean="0">
              <a:solidFill>
                <a:schemeClr val="tx2"/>
              </a:solidFill>
              <a:cs typeface="Angsana New" pitchFamily="18" charset="-34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4578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>
                <a:latin typeface="Calibri" charset="0"/>
                <a:ea typeface="ＭＳ Ｐゴシック" charset="0"/>
                <a:cs typeface="ＭＳ Ｐゴシック" charset="0"/>
              </a:rPr>
              <a:t>Another trial, FEM-PrEP tested oral TDF/FTC in African women. This trial stopped early, for futility, after the trials independent review board determined that there was no possibility that TDF/FTC would reduce HIV risk in the context of the trial. </a:t>
            </a:r>
          </a:p>
          <a:p>
            <a:endParaRPr lang="en-US">
              <a:latin typeface="Calibri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457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5A3F7608-1257-3742-96F3-0973A420CD66}" type="slidenum">
              <a:rPr lang="en-US" sz="1200">
                <a:latin typeface="Calibri" charset="0"/>
              </a:rPr>
              <a:pPr eaLnBrk="1" hangingPunct="1"/>
              <a:t>23</a:t>
            </a:fld>
            <a:endParaRPr lang="en-US" sz="1200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4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7388"/>
            <a:ext cx="4575175" cy="34321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8125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lIns="93241" tIns="46621" rIns="93241" bIns="46621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Calibri" charset="0"/>
            </a:endParaRPr>
          </a:p>
        </p:txBody>
      </p:sp>
      <p:sp>
        <p:nvSpPr>
          <p:cNvPr id="181251" name="Slide Number Placeholder 3"/>
          <p:cNvSpPr txBox="1">
            <a:spLocks noGrp="1"/>
          </p:cNvSpPr>
          <p:nvPr/>
        </p:nvSpPr>
        <p:spPr bwMode="auto">
          <a:xfrm>
            <a:off x="3884291" y="8686801"/>
            <a:ext cx="2972540" cy="4550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241" tIns="46621" rIns="93241" bIns="46621" anchor="b"/>
          <a:lstStyle>
            <a:lvl1pPr defTabSz="931863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r"/>
            <a:fld id="{F5A12A10-EDEE-3147-A43E-EEAA27F93A36}" type="slidenum">
              <a:rPr lang="en-US" sz="1200"/>
              <a:pPr algn="r"/>
              <a:t>25</a:t>
            </a:fld>
            <a:endParaRPr lang="en-US" sz="12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9698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969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41EC9C5F-8445-E943-B8D7-2D16CD3C1D2E}" type="slidenum">
              <a:rPr lang="en-US" sz="1200">
                <a:latin typeface="Calibri" charset="0"/>
              </a:rPr>
              <a:pPr eaLnBrk="1" hangingPunct="1"/>
              <a:t>26</a:t>
            </a:fld>
            <a:endParaRPr lang="en-US" sz="1200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765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765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9356EACA-20B8-A54F-829F-DFFC1982BC62}" type="slidenum">
              <a:rPr lang="en-US" sz="1200">
                <a:latin typeface="Calibri" charset="0"/>
              </a:rPr>
              <a:pPr eaLnBrk="1" hangingPunct="1"/>
              <a:t>30</a:t>
            </a:fld>
            <a:endParaRPr lang="en-US" sz="1200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6F034-74E7-5743-9D06-92E957F32E52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8549665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83298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" charset="0"/>
            </a:endParaRPr>
          </a:p>
        </p:txBody>
      </p:sp>
      <p:sp>
        <p:nvSpPr>
          <p:cNvPr id="18329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080D7A9B-ED8A-694E-81B1-63A76EF60399}" type="slidenum">
              <a:rPr lang="en-US" sz="1200">
                <a:cs typeface="Arial" charset="0"/>
              </a:rPr>
              <a:pPr/>
              <a:t>35</a:t>
            </a:fld>
            <a:endParaRPr lang="en-US" sz="1200">
              <a:cs typeface="Arial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44DAEE82-2082-C840-A223-2F25E33C006C}" type="slidenum">
              <a:rPr lang="en-US" sz="1200"/>
              <a:pPr eaLnBrk="1" hangingPunct="1"/>
              <a:t>37</a:t>
            </a:fld>
            <a:endParaRPr lang="en-US" sz="1200"/>
          </a:p>
        </p:txBody>
      </p:sp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0412" cy="3429000"/>
          </a:xfrm>
          <a:ln/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6388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3E1E63-D4DA-41F9-AAA9-0B82D127E596}" type="slidenum">
              <a:rPr lang="en-US" smtClean="0"/>
              <a:pPr/>
              <a:t>38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4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6144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EE610641-4EB4-4472-8FEF-226045962F32}" type="slidenum">
              <a:rPr lang="en-US">
                <a:latin typeface="Arial" charset="0"/>
                <a:ea typeface="MS PGothic" pitchFamily="34" charset="-128"/>
              </a:rPr>
              <a:pPr/>
              <a:t>40</a:t>
            </a:fld>
            <a:endParaRPr lang="en-US" dirty="0">
              <a:latin typeface="Arial" charset="0"/>
              <a:ea typeface="MS PGothic" pitchFamily="34" charset="-128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6F034-74E7-5743-9D06-92E957F32E52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64735970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6F034-74E7-5743-9D06-92E957F32E52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64735970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th-TH" dirty="0" smtClean="0"/>
              <a:t>กระตุ้นซ้ำในระยะต้น</a:t>
            </a:r>
          </a:p>
          <a:p>
            <a:r>
              <a:rPr lang="th-TH" smtClean="0"/>
              <a:t>กระตุ้นซ้ำใน</a:t>
            </a:r>
            <a:r>
              <a:rPr lang="th-TH" dirty="0" smtClean="0"/>
              <a:t>ระยะหลัง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7DDA577-FF04-4459-93A6-BF83E4907543}" type="slidenum">
              <a:rPr lang="en-US" smtClean="0"/>
              <a:pPr>
                <a:defRPr/>
              </a:pPr>
              <a:t>51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h-TH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h-TH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C7E2E-BFD2-244C-A898-DB775FAAE111}" type="datetimeFigureOut">
              <a:rPr lang="en-US" smtClean="0"/>
              <a:pPr/>
              <a:t>1/26/2012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B3EEA-E086-1E41-88B9-EC1747643C9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52422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C7E2E-BFD2-244C-A898-DB775FAAE111}" type="datetimeFigureOut">
              <a:rPr lang="en-US" smtClean="0"/>
              <a:pPr/>
              <a:t>1/26/2012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B3EEA-E086-1E41-88B9-EC1747643C9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67035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C7E2E-BFD2-244C-A898-DB775FAAE111}" type="datetimeFigureOut">
              <a:rPr lang="en-US" smtClean="0"/>
              <a:pPr/>
              <a:t>1/26/2012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B3EEA-E086-1E41-88B9-EC1747643C9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223072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C7E2E-BFD2-244C-A898-DB775FAAE111}" type="datetimeFigureOut">
              <a:rPr lang="en-US" smtClean="0"/>
              <a:pPr/>
              <a:t>1/26/2012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B3EEA-E086-1E41-88B9-EC1747643C9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604409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C7E2E-BFD2-244C-A898-DB775FAAE111}" type="datetimeFigureOut">
              <a:rPr lang="en-US" smtClean="0"/>
              <a:pPr/>
              <a:t>1/26/2012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B3EEA-E086-1E41-88B9-EC1747643C9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038971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C7E2E-BFD2-244C-A898-DB775FAAE111}" type="datetimeFigureOut">
              <a:rPr lang="en-US" smtClean="0"/>
              <a:pPr/>
              <a:t>1/26/2012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B3EEA-E086-1E41-88B9-EC1747643C9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340633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C7E2E-BFD2-244C-A898-DB775FAAE111}" type="datetimeFigureOut">
              <a:rPr lang="en-US" smtClean="0"/>
              <a:pPr/>
              <a:t>1/26/2012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B3EEA-E086-1E41-88B9-EC1747643C9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848447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C7E2E-BFD2-244C-A898-DB775FAAE111}" type="datetimeFigureOut">
              <a:rPr lang="en-US" smtClean="0"/>
              <a:pPr/>
              <a:t>1/26/2012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B3EEA-E086-1E41-88B9-EC1747643C9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580587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C7E2E-BFD2-244C-A898-DB775FAAE111}" type="datetimeFigureOut">
              <a:rPr lang="en-US" smtClean="0"/>
              <a:pPr/>
              <a:t>1/26/2012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B3EEA-E086-1E41-88B9-EC1747643C9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016100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C7E2E-BFD2-244C-A898-DB775FAAE111}" type="datetimeFigureOut">
              <a:rPr lang="en-US" smtClean="0"/>
              <a:pPr/>
              <a:t>1/26/2012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B3EEA-E086-1E41-88B9-EC1747643C9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139224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C7E2E-BFD2-244C-A898-DB775FAAE111}" type="datetimeFigureOut">
              <a:rPr lang="en-US" smtClean="0"/>
              <a:pPr/>
              <a:t>1/26/2012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B3EEA-E086-1E41-88B9-EC1747643C9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84474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h-TH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h-TH" smtClean="0"/>
              <a:t>Click to edit Master text styles</a:t>
            </a:r>
          </a:p>
          <a:p>
            <a:pPr lvl="1"/>
            <a:r>
              <a:rPr lang="th-TH" smtClean="0"/>
              <a:t>Second level</a:t>
            </a:r>
          </a:p>
          <a:p>
            <a:pPr lvl="2"/>
            <a:r>
              <a:rPr lang="th-TH" smtClean="0"/>
              <a:t>Third level</a:t>
            </a:r>
          </a:p>
          <a:p>
            <a:pPr lvl="3"/>
            <a:r>
              <a:rPr lang="th-TH" smtClean="0"/>
              <a:t>Fourth level</a:t>
            </a:r>
          </a:p>
          <a:p>
            <a:pPr lvl="4"/>
            <a:r>
              <a:rPr lang="th-TH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2C7E2E-BFD2-244C-A898-DB775FAAE111}" type="datetimeFigureOut">
              <a:rPr lang="en-US" smtClean="0"/>
              <a:pPr/>
              <a:t>1/26/2012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4066588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iff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iff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jpeg"/><Relationship Id="rId4" Type="http://schemas.openxmlformats.org/officeDocument/2006/relationships/image" Target="../media/image9.gi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if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wmf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tiff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tiff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tiff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95412"/>
            <a:ext cx="7772400" cy="1470025"/>
          </a:xfrm>
        </p:spPr>
        <p:txBody>
          <a:bodyPr/>
          <a:lstStyle/>
          <a:p>
            <a:r>
              <a:rPr lang="th-TH" dirty="0" smtClean="0"/>
              <a:t>ความคืบหน้าของ</a:t>
            </a:r>
            <a:r>
              <a:rPr lang="th-TH" dirty="0" smtClean="0"/>
              <a:t>การ</a:t>
            </a:r>
            <a:r>
              <a:rPr lang="th-TH" dirty="0" smtClean="0"/>
              <a:t>วิจัยทางชีวเวชศาสตร์เพื่อป้องกันการติดเชื้อเอชไอวี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093720"/>
            <a:ext cx="6400800" cy="345948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th-TH" sz="2400" dirty="0" smtClean="0">
                <a:latin typeface="Tahoma" pitchFamily="34" charset="0"/>
                <a:cs typeface="Tahoma" pitchFamily="34" charset="0"/>
              </a:rPr>
              <a:t>อุดม ลิขิตวรรณวุฒิ</a:t>
            </a:r>
          </a:p>
          <a:p>
            <a:pPr>
              <a:defRPr/>
            </a:pPr>
            <a:r>
              <a:rPr lang="th-TH" sz="2400" dirty="0" err="1" smtClean="0">
                <a:solidFill>
                  <a:schemeClr val="bg2">
                    <a:lumMod val="75000"/>
                  </a:schemeClr>
                </a:solidFill>
                <a:latin typeface="Tahoma" pitchFamily="34" charset="0"/>
                <a:cs typeface="Tahoma" pitchFamily="34" charset="0"/>
              </a:rPr>
              <a:t>กพอ.</a:t>
            </a:r>
            <a:r>
              <a:rPr lang="th-TH" sz="2400" dirty="0" smtClean="0">
                <a:solidFill>
                  <a:schemeClr val="bg2">
                    <a:lumMod val="75000"/>
                  </a:schemeClr>
                </a:solidFill>
                <a:latin typeface="Tahoma" pitchFamily="34" charset="0"/>
                <a:cs typeface="Tahoma" pitchFamily="34" charset="0"/>
              </a:rPr>
              <a:t> </a:t>
            </a:r>
            <a:r>
              <a:rPr lang="th-TH" sz="2400" dirty="0" smtClean="0">
                <a:solidFill>
                  <a:schemeClr val="bg2">
                    <a:lumMod val="75000"/>
                  </a:schemeClr>
                </a:solidFill>
                <a:latin typeface="Tahoma" pitchFamily="34" charset="0"/>
                <a:cs typeface="Tahoma" pitchFamily="34" charset="0"/>
              </a:rPr>
              <a:t>ภาคเหนือ/</a:t>
            </a:r>
            <a:r>
              <a:rPr lang="en-US" sz="2400" dirty="0" smtClean="0">
                <a:solidFill>
                  <a:schemeClr val="bg2">
                    <a:lumMod val="75000"/>
                  </a:schemeClr>
                </a:solidFill>
                <a:latin typeface="Tahoma" pitchFamily="34" charset="0"/>
                <a:cs typeface="Tahoma" pitchFamily="34" charset="0"/>
              </a:rPr>
              <a:t>AVAC</a:t>
            </a:r>
            <a:endParaRPr lang="th-TH" sz="2400" dirty="0" smtClean="0">
              <a:solidFill>
                <a:schemeClr val="bg2">
                  <a:lumMod val="75000"/>
                </a:schemeClr>
              </a:solidFill>
              <a:latin typeface="Tahoma" pitchFamily="34" charset="0"/>
              <a:cs typeface="Tahoma" pitchFamily="34" charset="0"/>
            </a:endParaRPr>
          </a:p>
          <a:p>
            <a:pPr>
              <a:defRPr/>
            </a:pPr>
            <a:endParaRPr lang="th-TH" sz="2400" dirty="0" smtClean="0">
              <a:solidFill>
                <a:schemeClr val="bg2">
                  <a:lumMod val="75000"/>
                </a:schemeClr>
              </a:solidFill>
              <a:latin typeface="Tahoma" pitchFamily="34" charset="0"/>
              <a:cs typeface="Tahoma" pitchFamily="34" charset="0"/>
            </a:endParaRPr>
          </a:p>
          <a:p>
            <a:pPr>
              <a:defRPr/>
            </a:pPr>
            <a:r>
              <a:rPr lang="th-TH" sz="2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itchFamily="34" charset="0"/>
                <a:cs typeface="Tahoma" pitchFamily="34" charset="0"/>
              </a:rPr>
              <a:t>นุสรา ไทยธวัช</a:t>
            </a:r>
          </a:p>
          <a:p>
            <a:pPr>
              <a:defRPr/>
            </a:pPr>
            <a:r>
              <a:rPr lang="th-TH" sz="2400" dirty="0" smtClean="0">
                <a:solidFill>
                  <a:schemeClr val="bg2">
                    <a:lumMod val="75000"/>
                  </a:schemeClr>
                </a:solidFill>
                <a:latin typeface="Tahoma" pitchFamily="34" charset="0"/>
                <a:cs typeface="Tahoma" pitchFamily="34" charset="0"/>
              </a:rPr>
              <a:t>สถาบันวิจัยวิทยาศาสตร์การแพทย์ทหาร</a:t>
            </a:r>
            <a:endParaRPr lang="en-US" sz="2400" dirty="0" smtClean="0">
              <a:solidFill>
                <a:schemeClr val="bg2">
                  <a:lumMod val="75000"/>
                </a:schemeClr>
              </a:solidFill>
              <a:latin typeface="Tahoma" pitchFamily="34" charset="0"/>
              <a:cs typeface="Tahoma" pitchFamily="34" charset="0"/>
            </a:endParaRPr>
          </a:p>
          <a:p>
            <a:pPr>
              <a:defRPr/>
            </a:pPr>
            <a:endParaRPr lang="en-US" sz="2400" dirty="0" smtClean="0">
              <a:solidFill>
                <a:schemeClr val="bg2">
                  <a:lumMod val="75000"/>
                </a:schemeClr>
              </a:solidFill>
              <a:latin typeface="Tahoma" pitchFamily="34" charset="0"/>
              <a:cs typeface="Tahoma" pitchFamily="34" charset="0"/>
            </a:endParaRPr>
          </a:p>
          <a:p>
            <a:pPr>
              <a:defRPr/>
            </a:pPr>
            <a:r>
              <a:rPr lang="th-TH" sz="2000" dirty="0" smtClean="0">
                <a:solidFill>
                  <a:schemeClr val="bg2">
                    <a:lumMod val="75000"/>
                  </a:schemeClr>
                </a:solidFill>
                <a:latin typeface="Tahoma" pitchFamily="34" charset="0"/>
                <a:cs typeface="Tahoma" pitchFamily="34" charset="0"/>
              </a:rPr>
              <a:t>สมัชชากพอ. </a:t>
            </a:r>
            <a:r>
              <a:rPr lang="en-US" sz="2000" dirty="0" smtClean="0">
                <a:solidFill>
                  <a:schemeClr val="bg2">
                    <a:lumMod val="75000"/>
                  </a:schemeClr>
                </a:solidFill>
                <a:latin typeface="Tahoma" pitchFamily="34" charset="0"/>
                <a:cs typeface="Tahoma" pitchFamily="34" charset="0"/>
              </a:rPr>
              <a:t>2254</a:t>
            </a:r>
          </a:p>
          <a:p>
            <a:pPr>
              <a:defRPr/>
            </a:pPr>
            <a:r>
              <a:rPr lang="en-US" sz="2000" dirty="0" smtClean="0">
                <a:solidFill>
                  <a:schemeClr val="bg2">
                    <a:lumMod val="75000"/>
                  </a:schemeClr>
                </a:solidFill>
                <a:latin typeface="Tahoma" pitchFamily="34" charset="0"/>
                <a:cs typeface="Tahoma" pitchFamily="34" charset="0"/>
              </a:rPr>
              <a:t>26 </a:t>
            </a:r>
            <a:r>
              <a:rPr lang="th-TH" sz="2000" dirty="0" smtClean="0">
                <a:solidFill>
                  <a:schemeClr val="bg2">
                    <a:lumMod val="75000"/>
                  </a:schemeClr>
                </a:solidFill>
                <a:latin typeface="Tahoma" pitchFamily="34" charset="0"/>
                <a:cs typeface="Tahoma" pitchFamily="34" charset="0"/>
              </a:rPr>
              <a:t>มค. </a:t>
            </a:r>
            <a:r>
              <a:rPr lang="en-US" sz="2000" dirty="0" smtClean="0">
                <a:solidFill>
                  <a:schemeClr val="bg2">
                    <a:lumMod val="75000"/>
                  </a:schemeClr>
                </a:solidFill>
                <a:latin typeface="Tahoma" pitchFamily="34" charset="0"/>
                <a:cs typeface="Tahoma" pitchFamily="34" charset="0"/>
              </a:rPr>
              <a:t>2555</a:t>
            </a:r>
            <a:endParaRPr lang="th-TH" sz="2000" dirty="0">
              <a:solidFill>
                <a:schemeClr val="bg2">
                  <a:lumMod val="75000"/>
                </a:schemeClr>
              </a:solidFill>
              <a:latin typeface="Tahoma" pitchFamily="34" charset="0"/>
              <a:cs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135"/>
          <p:cNvSpPr txBox="1">
            <a:spLocks noChangeArrowheads="1"/>
          </p:cNvSpPr>
          <p:nvPr/>
        </p:nvSpPr>
        <p:spPr bwMode="auto">
          <a:xfrm>
            <a:off x="2820792" y="5422625"/>
            <a:ext cx="175260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lang="th-TH" sz="2800" b="1" dirty="0" smtClean="0">
                <a:solidFill>
                  <a:srgbClr val="C00000"/>
                </a:solidFill>
                <a:latin typeface="Angsana New" pitchFamily="18" charset="-34"/>
                <a:ea typeface="ＭＳ Ｐゴシック" pitchFamily="64" charset="-128"/>
                <a:cs typeface="Angsana New" pitchFamily="18" charset="-34"/>
              </a:rPr>
              <a:t>แนวความคิดในระยะเริ่มแรก</a:t>
            </a:r>
            <a:endParaRPr lang="en-US" sz="2800" b="1" dirty="0">
              <a:solidFill>
                <a:srgbClr val="C00000"/>
              </a:solidFill>
              <a:latin typeface="Angsana New" pitchFamily="18" charset="-34"/>
              <a:ea typeface="ＭＳ Ｐゴシック" pitchFamily="64" charset="-128"/>
              <a:cs typeface="Angsana New" pitchFamily="18" charset="-34"/>
            </a:endParaRPr>
          </a:p>
        </p:txBody>
      </p:sp>
      <p:sp>
        <p:nvSpPr>
          <p:cNvPr id="7171" name="Text Box 137"/>
          <p:cNvSpPr txBox="1">
            <a:spLocks noChangeArrowheads="1"/>
          </p:cNvSpPr>
          <p:nvPr/>
        </p:nvSpPr>
        <p:spPr bwMode="auto">
          <a:xfrm>
            <a:off x="4541120" y="4164159"/>
            <a:ext cx="1843087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lang="th-TH" sz="2800" b="1" dirty="0" smtClean="0">
                <a:solidFill>
                  <a:srgbClr val="C00000"/>
                </a:solidFill>
                <a:latin typeface="Angsana New" pitchFamily="18" charset="-34"/>
                <a:ea typeface="ＭＳ Ｐゴシック" pitchFamily="64" charset="-128"/>
                <a:cs typeface="Angsana New" pitchFamily="18" charset="-34"/>
              </a:rPr>
              <a:t>การทดลองก่อนศึกษาในมนุษย์</a:t>
            </a:r>
            <a:endParaRPr lang="en-ZA" sz="2800" b="1" dirty="0">
              <a:solidFill>
                <a:srgbClr val="C00000"/>
              </a:solidFill>
              <a:latin typeface="Angsana New" pitchFamily="18" charset="-34"/>
              <a:ea typeface="ＭＳ Ｐゴシック" pitchFamily="64" charset="-128"/>
              <a:cs typeface="Angsana New" pitchFamily="18" charset="-34"/>
            </a:endParaRPr>
          </a:p>
        </p:txBody>
      </p:sp>
      <p:sp>
        <p:nvSpPr>
          <p:cNvPr id="7172" name="Text Box 139"/>
          <p:cNvSpPr txBox="1">
            <a:spLocks noChangeArrowheads="1"/>
          </p:cNvSpPr>
          <p:nvPr/>
        </p:nvSpPr>
        <p:spPr bwMode="auto">
          <a:xfrm>
            <a:off x="5209251" y="2502041"/>
            <a:ext cx="3477549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lang="th-TH" sz="2800" b="1" dirty="0" smtClean="0">
                <a:solidFill>
                  <a:srgbClr val="C00000"/>
                </a:solidFill>
                <a:latin typeface="Angsana New" pitchFamily="18" charset="-34"/>
                <a:ea typeface="ＭＳ Ｐゴシック" pitchFamily="64" charset="-128"/>
                <a:cs typeface="Angsana New" pitchFamily="18" charset="-34"/>
              </a:rPr>
              <a:t>โครงการวิจัยเพื่อศึกษาความปลอดภัยในมนุษย์ โครงการระยะที่ 1 ระยะที่ 2 และ 2 a หรือ 2 b</a:t>
            </a:r>
            <a:endParaRPr lang="en-US" sz="2800" b="1" dirty="0">
              <a:solidFill>
                <a:srgbClr val="C00000"/>
              </a:solidFill>
              <a:latin typeface="Angsana New" pitchFamily="18" charset="-34"/>
              <a:ea typeface="ＭＳ Ｐゴシック" pitchFamily="64" charset="-128"/>
              <a:cs typeface="Angsana New" pitchFamily="18" charset="-34"/>
            </a:endParaRPr>
          </a:p>
        </p:txBody>
      </p:sp>
      <p:sp>
        <p:nvSpPr>
          <p:cNvPr id="7173" name="Text Box 141"/>
          <p:cNvSpPr txBox="1">
            <a:spLocks noChangeArrowheads="1"/>
          </p:cNvSpPr>
          <p:nvPr/>
        </p:nvSpPr>
        <p:spPr bwMode="auto">
          <a:xfrm>
            <a:off x="5591250" y="315118"/>
            <a:ext cx="3095550" cy="163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lang="en-ZA" sz="1600" dirty="0">
                <a:solidFill>
                  <a:schemeClr val="bg1"/>
                </a:solidFill>
                <a:latin typeface="Tahoma" pitchFamily="34" charset="0"/>
                <a:ea typeface="ＭＳ Ｐゴシック" pitchFamily="64" charset="-128"/>
                <a:cs typeface="+mn-cs"/>
              </a:rPr>
              <a:t>3 in </a:t>
            </a:r>
            <a:br>
              <a:rPr lang="en-ZA" sz="1600" dirty="0">
                <a:solidFill>
                  <a:schemeClr val="bg1"/>
                </a:solidFill>
                <a:latin typeface="Tahoma" pitchFamily="34" charset="0"/>
                <a:ea typeface="ＭＳ Ｐゴシック" pitchFamily="64" charset="-128"/>
                <a:cs typeface="+mn-cs"/>
              </a:rPr>
            </a:br>
            <a:r>
              <a:rPr lang="th-TH" sz="2800" b="1" dirty="0" smtClean="0">
                <a:solidFill>
                  <a:srgbClr val="C00000"/>
                </a:solidFill>
                <a:latin typeface="Angsana New" pitchFamily="18" charset="-34"/>
                <a:ea typeface="ＭＳ Ｐゴシック" pitchFamily="64" charset="-128"/>
                <a:cs typeface="Angsana New" pitchFamily="18" charset="-34"/>
              </a:rPr>
              <a:t>โครงการวิจัยเพื่อประเมินประสิทธิผล/สัมฤทธิผลในมนุษย์ โครงการระยะที่ 3</a:t>
            </a:r>
            <a:endParaRPr lang="en-US" sz="2000" b="1" dirty="0">
              <a:solidFill>
                <a:srgbClr val="C00000"/>
              </a:solidFill>
              <a:latin typeface="Angsana New" pitchFamily="18" charset="-34"/>
              <a:ea typeface="ＭＳ Ｐゴシック" pitchFamily="64" charset="-128"/>
              <a:cs typeface="Angsana New" pitchFamily="18" charset="-34"/>
            </a:endParaRPr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327753" y="4817847"/>
            <a:ext cx="2295152" cy="1682820"/>
            <a:chOff x="703" y="2976"/>
            <a:chExt cx="1995" cy="1361"/>
          </a:xfrm>
          <a:gradFill flip="none" rotWithShape="1">
            <a:gsLst>
              <a:gs pos="0">
                <a:schemeClr val="accent4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4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4">
                  <a:lumMod val="60000"/>
                  <a:lumOff val="40000"/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effectLst/>
        </p:grpSpPr>
        <p:sp>
          <p:nvSpPr>
            <p:cNvPr id="7241" name="Oval 3"/>
            <p:cNvSpPr>
              <a:spLocks noChangeArrowheads="1"/>
            </p:cNvSpPr>
            <p:nvPr/>
          </p:nvSpPr>
          <p:spPr bwMode="auto">
            <a:xfrm>
              <a:off x="1020" y="3339"/>
              <a:ext cx="136" cy="136"/>
            </a:xfrm>
            <a:prstGeom prst="ellipse">
              <a:avLst/>
            </a:prstGeom>
            <a:grpFill/>
            <a:ln w="19050">
              <a:solidFill>
                <a:srgbClr val="FFFF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242" name="Oval 4"/>
            <p:cNvSpPr>
              <a:spLocks noChangeArrowheads="1"/>
            </p:cNvSpPr>
            <p:nvPr/>
          </p:nvSpPr>
          <p:spPr bwMode="auto">
            <a:xfrm>
              <a:off x="1156" y="3475"/>
              <a:ext cx="136" cy="136"/>
            </a:xfrm>
            <a:prstGeom prst="ellipse">
              <a:avLst/>
            </a:prstGeom>
            <a:grpFill/>
            <a:ln w="19050">
              <a:solidFill>
                <a:srgbClr val="FFFF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243" name="Oval 5"/>
            <p:cNvSpPr>
              <a:spLocks noChangeArrowheads="1"/>
            </p:cNvSpPr>
            <p:nvPr/>
          </p:nvSpPr>
          <p:spPr bwMode="auto">
            <a:xfrm>
              <a:off x="1292" y="3611"/>
              <a:ext cx="136" cy="136"/>
            </a:xfrm>
            <a:prstGeom prst="ellipse">
              <a:avLst/>
            </a:prstGeom>
            <a:grpFill/>
            <a:ln w="19050">
              <a:solidFill>
                <a:srgbClr val="FFFF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244" name="Oval 6"/>
            <p:cNvSpPr>
              <a:spLocks noChangeArrowheads="1"/>
            </p:cNvSpPr>
            <p:nvPr/>
          </p:nvSpPr>
          <p:spPr bwMode="auto">
            <a:xfrm>
              <a:off x="1428" y="3747"/>
              <a:ext cx="136" cy="136"/>
            </a:xfrm>
            <a:prstGeom prst="ellipse">
              <a:avLst/>
            </a:prstGeom>
            <a:grpFill/>
            <a:ln w="19050">
              <a:solidFill>
                <a:srgbClr val="FFFF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245" name="Oval 7"/>
            <p:cNvSpPr>
              <a:spLocks noChangeArrowheads="1"/>
            </p:cNvSpPr>
            <p:nvPr/>
          </p:nvSpPr>
          <p:spPr bwMode="auto">
            <a:xfrm>
              <a:off x="1564" y="3883"/>
              <a:ext cx="136" cy="136"/>
            </a:xfrm>
            <a:prstGeom prst="ellipse">
              <a:avLst/>
            </a:prstGeom>
            <a:grpFill/>
            <a:ln w="19050">
              <a:solidFill>
                <a:srgbClr val="FFFF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246" name="Oval 8"/>
            <p:cNvSpPr>
              <a:spLocks noChangeArrowheads="1"/>
            </p:cNvSpPr>
            <p:nvPr/>
          </p:nvSpPr>
          <p:spPr bwMode="auto">
            <a:xfrm>
              <a:off x="975" y="3521"/>
              <a:ext cx="136" cy="136"/>
            </a:xfrm>
            <a:prstGeom prst="ellipse">
              <a:avLst/>
            </a:prstGeom>
            <a:grpFill/>
            <a:ln w="19050">
              <a:solidFill>
                <a:srgbClr val="FFFF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247" name="Oval 9"/>
            <p:cNvSpPr>
              <a:spLocks noChangeArrowheads="1"/>
            </p:cNvSpPr>
            <p:nvPr/>
          </p:nvSpPr>
          <p:spPr bwMode="auto">
            <a:xfrm>
              <a:off x="1111" y="3657"/>
              <a:ext cx="136" cy="136"/>
            </a:xfrm>
            <a:prstGeom prst="ellipse">
              <a:avLst/>
            </a:prstGeom>
            <a:grpFill/>
            <a:ln w="19050">
              <a:solidFill>
                <a:srgbClr val="FFFF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248" name="Oval 10"/>
            <p:cNvSpPr>
              <a:spLocks noChangeArrowheads="1"/>
            </p:cNvSpPr>
            <p:nvPr/>
          </p:nvSpPr>
          <p:spPr bwMode="auto">
            <a:xfrm>
              <a:off x="1247" y="3793"/>
              <a:ext cx="136" cy="136"/>
            </a:xfrm>
            <a:prstGeom prst="ellipse">
              <a:avLst/>
            </a:prstGeom>
            <a:grpFill/>
            <a:ln w="19050">
              <a:solidFill>
                <a:srgbClr val="FFFF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249" name="Oval 11"/>
            <p:cNvSpPr>
              <a:spLocks noChangeArrowheads="1"/>
            </p:cNvSpPr>
            <p:nvPr/>
          </p:nvSpPr>
          <p:spPr bwMode="auto">
            <a:xfrm>
              <a:off x="1383" y="3929"/>
              <a:ext cx="136" cy="136"/>
            </a:xfrm>
            <a:prstGeom prst="ellipse">
              <a:avLst/>
            </a:prstGeom>
            <a:grpFill/>
            <a:ln w="19050">
              <a:solidFill>
                <a:srgbClr val="FFFF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250" name="Oval 12"/>
            <p:cNvSpPr>
              <a:spLocks noChangeArrowheads="1"/>
            </p:cNvSpPr>
            <p:nvPr/>
          </p:nvSpPr>
          <p:spPr bwMode="auto">
            <a:xfrm>
              <a:off x="1519" y="4065"/>
              <a:ext cx="136" cy="136"/>
            </a:xfrm>
            <a:prstGeom prst="ellipse">
              <a:avLst/>
            </a:prstGeom>
            <a:grpFill/>
            <a:ln w="19050">
              <a:solidFill>
                <a:srgbClr val="FFFF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251" name="Oval 13"/>
            <p:cNvSpPr>
              <a:spLocks noChangeArrowheads="1"/>
            </p:cNvSpPr>
            <p:nvPr/>
          </p:nvSpPr>
          <p:spPr bwMode="auto">
            <a:xfrm>
              <a:off x="839" y="3385"/>
              <a:ext cx="136" cy="136"/>
            </a:xfrm>
            <a:prstGeom prst="ellipse">
              <a:avLst/>
            </a:prstGeom>
            <a:grpFill/>
            <a:ln w="19050">
              <a:solidFill>
                <a:srgbClr val="FFFF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252" name="Oval 14"/>
            <p:cNvSpPr>
              <a:spLocks noChangeArrowheads="1"/>
            </p:cNvSpPr>
            <p:nvPr/>
          </p:nvSpPr>
          <p:spPr bwMode="auto">
            <a:xfrm>
              <a:off x="793" y="3566"/>
              <a:ext cx="136" cy="136"/>
            </a:xfrm>
            <a:prstGeom prst="ellipse">
              <a:avLst/>
            </a:prstGeom>
            <a:grpFill/>
            <a:ln w="19050">
              <a:solidFill>
                <a:srgbClr val="FFFF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253" name="Oval 15"/>
            <p:cNvSpPr>
              <a:spLocks noChangeArrowheads="1"/>
            </p:cNvSpPr>
            <p:nvPr/>
          </p:nvSpPr>
          <p:spPr bwMode="auto">
            <a:xfrm>
              <a:off x="929" y="3702"/>
              <a:ext cx="136" cy="136"/>
            </a:xfrm>
            <a:prstGeom prst="ellipse">
              <a:avLst/>
            </a:prstGeom>
            <a:grpFill/>
            <a:ln w="19050">
              <a:solidFill>
                <a:srgbClr val="FFFF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254" name="Oval 16"/>
            <p:cNvSpPr>
              <a:spLocks noChangeArrowheads="1"/>
            </p:cNvSpPr>
            <p:nvPr/>
          </p:nvSpPr>
          <p:spPr bwMode="auto">
            <a:xfrm>
              <a:off x="1065" y="3838"/>
              <a:ext cx="136" cy="136"/>
            </a:xfrm>
            <a:prstGeom prst="ellipse">
              <a:avLst/>
            </a:prstGeom>
            <a:grpFill/>
            <a:ln w="19050">
              <a:solidFill>
                <a:srgbClr val="FFFF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255" name="Oval 17"/>
            <p:cNvSpPr>
              <a:spLocks noChangeArrowheads="1"/>
            </p:cNvSpPr>
            <p:nvPr/>
          </p:nvSpPr>
          <p:spPr bwMode="auto">
            <a:xfrm>
              <a:off x="1201" y="3974"/>
              <a:ext cx="136" cy="136"/>
            </a:xfrm>
            <a:prstGeom prst="ellipse">
              <a:avLst/>
            </a:prstGeom>
            <a:grpFill/>
            <a:ln w="19050">
              <a:solidFill>
                <a:srgbClr val="FFFF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256" name="Oval 18"/>
            <p:cNvSpPr>
              <a:spLocks noChangeArrowheads="1"/>
            </p:cNvSpPr>
            <p:nvPr/>
          </p:nvSpPr>
          <p:spPr bwMode="auto">
            <a:xfrm>
              <a:off x="1337" y="4110"/>
              <a:ext cx="136" cy="136"/>
            </a:xfrm>
            <a:prstGeom prst="ellipse">
              <a:avLst/>
            </a:prstGeom>
            <a:grpFill/>
            <a:ln w="19050">
              <a:solidFill>
                <a:srgbClr val="FFFF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257" name="Oval 19"/>
            <p:cNvSpPr>
              <a:spLocks noChangeArrowheads="1"/>
            </p:cNvSpPr>
            <p:nvPr/>
          </p:nvSpPr>
          <p:spPr bwMode="auto">
            <a:xfrm>
              <a:off x="748" y="3748"/>
              <a:ext cx="136" cy="136"/>
            </a:xfrm>
            <a:prstGeom prst="ellipse">
              <a:avLst/>
            </a:prstGeom>
            <a:grpFill/>
            <a:ln w="19050">
              <a:solidFill>
                <a:srgbClr val="FFFF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258" name="Oval 20"/>
            <p:cNvSpPr>
              <a:spLocks noChangeArrowheads="1"/>
            </p:cNvSpPr>
            <p:nvPr/>
          </p:nvSpPr>
          <p:spPr bwMode="auto">
            <a:xfrm>
              <a:off x="884" y="3884"/>
              <a:ext cx="136" cy="136"/>
            </a:xfrm>
            <a:prstGeom prst="ellipse">
              <a:avLst/>
            </a:prstGeom>
            <a:grpFill/>
            <a:ln w="19050">
              <a:solidFill>
                <a:srgbClr val="FFFF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259" name="Oval 21"/>
            <p:cNvSpPr>
              <a:spLocks noChangeArrowheads="1"/>
            </p:cNvSpPr>
            <p:nvPr/>
          </p:nvSpPr>
          <p:spPr bwMode="auto">
            <a:xfrm>
              <a:off x="1020" y="4020"/>
              <a:ext cx="136" cy="136"/>
            </a:xfrm>
            <a:prstGeom prst="ellipse">
              <a:avLst/>
            </a:prstGeom>
            <a:grpFill/>
            <a:ln w="19050">
              <a:solidFill>
                <a:srgbClr val="FFFF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260" name="Oval 22"/>
            <p:cNvSpPr>
              <a:spLocks noChangeArrowheads="1"/>
            </p:cNvSpPr>
            <p:nvPr/>
          </p:nvSpPr>
          <p:spPr bwMode="auto">
            <a:xfrm>
              <a:off x="1156" y="4156"/>
              <a:ext cx="136" cy="136"/>
            </a:xfrm>
            <a:prstGeom prst="ellipse">
              <a:avLst/>
            </a:prstGeom>
            <a:grpFill/>
            <a:ln w="19050">
              <a:solidFill>
                <a:srgbClr val="FFFF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261" name="Oval 23"/>
            <p:cNvSpPr>
              <a:spLocks noChangeArrowheads="1"/>
            </p:cNvSpPr>
            <p:nvPr/>
          </p:nvSpPr>
          <p:spPr bwMode="auto">
            <a:xfrm>
              <a:off x="703" y="3929"/>
              <a:ext cx="136" cy="136"/>
            </a:xfrm>
            <a:prstGeom prst="ellipse">
              <a:avLst/>
            </a:prstGeom>
            <a:grpFill/>
            <a:ln w="19050">
              <a:solidFill>
                <a:srgbClr val="FFFF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262" name="Oval 24"/>
            <p:cNvSpPr>
              <a:spLocks noChangeArrowheads="1"/>
            </p:cNvSpPr>
            <p:nvPr/>
          </p:nvSpPr>
          <p:spPr bwMode="auto">
            <a:xfrm>
              <a:off x="839" y="4065"/>
              <a:ext cx="136" cy="136"/>
            </a:xfrm>
            <a:prstGeom prst="ellipse">
              <a:avLst/>
            </a:prstGeom>
            <a:grpFill/>
            <a:ln w="19050">
              <a:solidFill>
                <a:srgbClr val="FFFF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263" name="Oval 25"/>
            <p:cNvSpPr>
              <a:spLocks noChangeArrowheads="1"/>
            </p:cNvSpPr>
            <p:nvPr/>
          </p:nvSpPr>
          <p:spPr bwMode="auto">
            <a:xfrm>
              <a:off x="975" y="4201"/>
              <a:ext cx="136" cy="136"/>
            </a:xfrm>
            <a:prstGeom prst="ellipse">
              <a:avLst/>
            </a:prstGeom>
            <a:grpFill/>
            <a:ln w="19050">
              <a:solidFill>
                <a:srgbClr val="FFFF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264" name="Oval 26"/>
            <p:cNvSpPr>
              <a:spLocks noChangeArrowheads="1"/>
            </p:cNvSpPr>
            <p:nvPr/>
          </p:nvSpPr>
          <p:spPr bwMode="auto">
            <a:xfrm>
              <a:off x="1202" y="3249"/>
              <a:ext cx="136" cy="136"/>
            </a:xfrm>
            <a:prstGeom prst="ellipse">
              <a:avLst/>
            </a:prstGeom>
            <a:grpFill/>
            <a:ln w="19050">
              <a:solidFill>
                <a:srgbClr val="FFFF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265" name="Oval 27"/>
            <p:cNvSpPr>
              <a:spLocks noChangeArrowheads="1"/>
            </p:cNvSpPr>
            <p:nvPr/>
          </p:nvSpPr>
          <p:spPr bwMode="auto">
            <a:xfrm>
              <a:off x="1338" y="3385"/>
              <a:ext cx="136" cy="136"/>
            </a:xfrm>
            <a:prstGeom prst="ellipse">
              <a:avLst/>
            </a:prstGeom>
            <a:grpFill/>
            <a:ln w="19050">
              <a:solidFill>
                <a:srgbClr val="FFFF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266" name="Oval 28"/>
            <p:cNvSpPr>
              <a:spLocks noChangeArrowheads="1"/>
            </p:cNvSpPr>
            <p:nvPr/>
          </p:nvSpPr>
          <p:spPr bwMode="auto">
            <a:xfrm>
              <a:off x="1474" y="3521"/>
              <a:ext cx="136" cy="136"/>
            </a:xfrm>
            <a:prstGeom prst="ellipse">
              <a:avLst/>
            </a:prstGeom>
            <a:grpFill/>
            <a:ln w="19050">
              <a:solidFill>
                <a:srgbClr val="FFFF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267" name="Oval 29"/>
            <p:cNvSpPr>
              <a:spLocks noChangeArrowheads="1"/>
            </p:cNvSpPr>
            <p:nvPr/>
          </p:nvSpPr>
          <p:spPr bwMode="auto">
            <a:xfrm>
              <a:off x="1610" y="3657"/>
              <a:ext cx="136" cy="136"/>
            </a:xfrm>
            <a:prstGeom prst="ellipse">
              <a:avLst/>
            </a:prstGeom>
            <a:grpFill/>
            <a:ln w="19050">
              <a:solidFill>
                <a:srgbClr val="FFFF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268" name="Oval 30"/>
            <p:cNvSpPr>
              <a:spLocks noChangeArrowheads="1"/>
            </p:cNvSpPr>
            <p:nvPr/>
          </p:nvSpPr>
          <p:spPr bwMode="auto">
            <a:xfrm>
              <a:off x="1746" y="3793"/>
              <a:ext cx="136" cy="136"/>
            </a:xfrm>
            <a:prstGeom prst="ellipse">
              <a:avLst/>
            </a:prstGeom>
            <a:grpFill/>
            <a:ln w="19050">
              <a:solidFill>
                <a:srgbClr val="FFFF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269" name="Oval 31"/>
            <p:cNvSpPr>
              <a:spLocks noChangeArrowheads="1"/>
            </p:cNvSpPr>
            <p:nvPr/>
          </p:nvSpPr>
          <p:spPr bwMode="auto">
            <a:xfrm>
              <a:off x="1701" y="3974"/>
              <a:ext cx="136" cy="136"/>
            </a:xfrm>
            <a:prstGeom prst="ellipse">
              <a:avLst/>
            </a:prstGeom>
            <a:grpFill/>
            <a:ln w="19050">
              <a:solidFill>
                <a:srgbClr val="FFFF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270" name="Oval 32"/>
            <p:cNvSpPr>
              <a:spLocks noChangeArrowheads="1"/>
            </p:cNvSpPr>
            <p:nvPr/>
          </p:nvSpPr>
          <p:spPr bwMode="auto">
            <a:xfrm>
              <a:off x="1383" y="3203"/>
              <a:ext cx="136" cy="136"/>
            </a:xfrm>
            <a:prstGeom prst="ellipse">
              <a:avLst/>
            </a:prstGeom>
            <a:grpFill/>
            <a:ln w="19050">
              <a:solidFill>
                <a:srgbClr val="FFFF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271" name="Oval 33"/>
            <p:cNvSpPr>
              <a:spLocks noChangeArrowheads="1"/>
            </p:cNvSpPr>
            <p:nvPr/>
          </p:nvSpPr>
          <p:spPr bwMode="auto">
            <a:xfrm>
              <a:off x="1519" y="3339"/>
              <a:ext cx="136" cy="136"/>
            </a:xfrm>
            <a:prstGeom prst="ellipse">
              <a:avLst/>
            </a:prstGeom>
            <a:grpFill/>
            <a:ln w="19050">
              <a:solidFill>
                <a:srgbClr val="FFFF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272" name="Oval 34"/>
            <p:cNvSpPr>
              <a:spLocks noChangeArrowheads="1"/>
            </p:cNvSpPr>
            <p:nvPr/>
          </p:nvSpPr>
          <p:spPr bwMode="auto">
            <a:xfrm>
              <a:off x="1655" y="3475"/>
              <a:ext cx="136" cy="136"/>
            </a:xfrm>
            <a:prstGeom prst="ellipse">
              <a:avLst/>
            </a:prstGeom>
            <a:grpFill/>
            <a:ln w="19050">
              <a:solidFill>
                <a:srgbClr val="FFFF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273" name="Oval 35"/>
            <p:cNvSpPr>
              <a:spLocks noChangeArrowheads="1"/>
            </p:cNvSpPr>
            <p:nvPr/>
          </p:nvSpPr>
          <p:spPr bwMode="auto">
            <a:xfrm>
              <a:off x="1791" y="3611"/>
              <a:ext cx="136" cy="136"/>
            </a:xfrm>
            <a:prstGeom prst="ellipse">
              <a:avLst/>
            </a:prstGeom>
            <a:grpFill/>
            <a:ln w="19050">
              <a:solidFill>
                <a:srgbClr val="FFFF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274" name="Oval 36"/>
            <p:cNvSpPr>
              <a:spLocks noChangeArrowheads="1"/>
            </p:cNvSpPr>
            <p:nvPr/>
          </p:nvSpPr>
          <p:spPr bwMode="auto">
            <a:xfrm>
              <a:off x="1565" y="3158"/>
              <a:ext cx="136" cy="136"/>
            </a:xfrm>
            <a:prstGeom prst="ellipse">
              <a:avLst/>
            </a:prstGeom>
            <a:grpFill/>
            <a:ln w="19050">
              <a:solidFill>
                <a:srgbClr val="FFFF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275" name="Oval 37"/>
            <p:cNvSpPr>
              <a:spLocks noChangeArrowheads="1"/>
            </p:cNvSpPr>
            <p:nvPr/>
          </p:nvSpPr>
          <p:spPr bwMode="auto">
            <a:xfrm>
              <a:off x="1701" y="3294"/>
              <a:ext cx="136" cy="136"/>
            </a:xfrm>
            <a:prstGeom prst="ellipse">
              <a:avLst/>
            </a:prstGeom>
            <a:grpFill/>
            <a:ln w="19050">
              <a:solidFill>
                <a:srgbClr val="FFFF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276" name="Oval 38"/>
            <p:cNvSpPr>
              <a:spLocks noChangeArrowheads="1"/>
            </p:cNvSpPr>
            <p:nvPr/>
          </p:nvSpPr>
          <p:spPr bwMode="auto">
            <a:xfrm>
              <a:off x="1837" y="3430"/>
              <a:ext cx="136" cy="136"/>
            </a:xfrm>
            <a:prstGeom prst="ellipse">
              <a:avLst/>
            </a:prstGeom>
            <a:grpFill/>
            <a:ln w="19050">
              <a:solidFill>
                <a:srgbClr val="FFFF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277" name="Oval 39"/>
            <p:cNvSpPr>
              <a:spLocks noChangeArrowheads="1"/>
            </p:cNvSpPr>
            <p:nvPr/>
          </p:nvSpPr>
          <p:spPr bwMode="auto">
            <a:xfrm>
              <a:off x="1973" y="3566"/>
              <a:ext cx="136" cy="136"/>
            </a:xfrm>
            <a:prstGeom prst="ellipse">
              <a:avLst/>
            </a:prstGeom>
            <a:grpFill/>
            <a:ln w="19050">
              <a:solidFill>
                <a:srgbClr val="FFFF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278" name="Oval 40"/>
            <p:cNvSpPr>
              <a:spLocks noChangeArrowheads="1"/>
            </p:cNvSpPr>
            <p:nvPr/>
          </p:nvSpPr>
          <p:spPr bwMode="auto">
            <a:xfrm>
              <a:off x="2109" y="3702"/>
              <a:ext cx="136" cy="136"/>
            </a:xfrm>
            <a:prstGeom prst="ellipse">
              <a:avLst/>
            </a:prstGeom>
            <a:grpFill/>
            <a:ln w="19050">
              <a:solidFill>
                <a:srgbClr val="FFFF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279" name="Oval 41"/>
            <p:cNvSpPr>
              <a:spLocks noChangeArrowheads="1"/>
            </p:cNvSpPr>
            <p:nvPr/>
          </p:nvSpPr>
          <p:spPr bwMode="auto">
            <a:xfrm>
              <a:off x="2245" y="3838"/>
              <a:ext cx="136" cy="136"/>
            </a:xfrm>
            <a:prstGeom prst="ellipse">
              <a:avLst/>
            </a:prstGeom>
            <a:grpFill/>
            <a:ln w="19050">
              <a:solidFill>
                <a:srgbClr val="FFFF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280" name="Oval 42"/>
            <p:cNvSpPr>
              <a:spLocks noChangeArrowheads="1"/>
            </p:cNvSpPr>
            <p:nvPr/>
          </p:nvSpPr>
          <p:spPr bwMode="auto">
            <a:xfrm>
              <a:off x="1927" y="3748"/>
              <a:ext cx="136" cy="136"/>
            </a:xfrm>
            <a:prstGeom prst="ellipse">
              <a:avLst/>
            </a:prstGeom>
            <a:grpFill/>
            <a:ln w="19050">
              <a:solidFill>
                <a:srgbClr val="FFFF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281" name="Oval 43"/>
            <p:cNvSpPr>
              <a:spLocks noChangeArrowheads="1"/>
            </p:cNvSpPr>
            <p:nvPr/>
          </p:nvSpPr>
          <p:spPr bwMode="auto">
            <a:xfrm>
              <a:off x="2063" y="3884"/>
              <a:ext cx="136" cy="136"/>
            </a:xfrm>
            <a:prstGeom prst="ellipse">
              <a:avLst/>
            </a:prstGeom>
            <a:grpFill/>
            <a:ln w="19050">
              <a:solidFill>
                <a:srgbClr val="FFFF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282" name="Oval 44"/>
            <p:cNvSpPr>
              <a:spLocks noChangeArrowheads="1"/>
            </p:cNvSpPr>
            <p:nvPr/>
          </p:nvSpPr>
          <p:spPr bwMode="auto">
            <a:xfrm>
              <a:off x="2199" y="4020"/>
              <a:ext cx="136" cy="136"/>
            </a:xfrm>
            <a:prstGeom prst="ellipse">
              <a:avLst/>
            </a:prstGeom>
            <a:grpFill/>
            <a:ln w="19050">
              <a:solidFill>
                <a:srgbClr val="FFFF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283" name="Oval 45"/>
            <p:cNvSpPr>
              <a:spLocks noChangeArrowheads="1"/>
            </p:cNvSpPr>
            <p:nvPr/>
          </p:nvSpPr>
          <p:spPr bwMode="auto">
            <a:xfrm>
              <a:off x="1882" y="3929"/>
              <a:ext cx="136" cy="136"/>
            </a:xfrm>
            <a:prstGeom prst="ellipse">
              <a:avLst/>
            </a:prstGeom>
            <a:grpFill/>
            <a:ln w="19050">
              <a:solidFill>
                <a:srgbClr val="FFFF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284" name="Oval 46"/>
            <p:cNvSpPr>
              <a:spLocks noChangeArrowheads="1"/>
            </p:cNvSpPr>
            <p:nvPr/>
          </p:nvSpPr>
          <p:spPr bwMode="auto">
            <a:xfrm>
              <a:off x="2018" y="4065"/>
              <a:ext cx="136" cy="136"/>
            </a:xfrm>
            <a:prstGeom prst="ellipse">
              <a:avLst/>
            </a:prstGeom>
            <a:grpFill/>
            <a:ln w="19050">
              <a:solidFill>
                <a:srgbClr val="FFFF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285" name="Oval 47"/>
            <p:cNvSpPr>
              <a:spLocks noChangeArrowheads="1"/>
            </p:cNvSpPr>
            <p:nvPr/>
          </p:nvSpPr>
          <p:spPr bwMode="auto">
            <a:xfrm>
              <a:off x="1837" y="4110"/>
              <a:ext cx="136" cy="136"/>
            </a:xfrm>
            <a:prstGeom prst="ellipse">
              <a:avLst/>
            </a:prstGeom>
            <a:grpFill/>
            <a:ln w="19050">
              <a:solidFill>
                <a:srgbClr val="FFFF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286" name="Oval 48"/>
            <p:cNvSpPr>
              <a:spLocks noChangeArrowheads="1"/>
            </p:cNvSpPr>
            <p:nvPr/>
          </p:nvSpPr>
          <p:spPr bwMode="auto">
            <a:xfrm>
              <a:off x="1746" y="3113"/>
              <a:ext cx="136" cy="136"/>
            </a:xfrm>
            <a:prstGeom prst="ellipse">
              <a:avLst/>
            </a:prstGeom>
            <a:grpFill/>
            <a:ln w="19050">
              <a:solidFill>
                <a:srgbClr val="FFFF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287" name="Oval 49"/>
            <p:cNvSpPr>
              <a:spLocks noChangeArrowheads="1"/>
            </p:cNvSpPr>
            <p:nvPr/>
          </p:nvSpPr>
          <p:spPr bwMode="auto">
            <a:xfrm>
              <a:off x="1882" y="3249"/>
              <a:ext cx="136" cy="136"/>
            </a:xfrm>
            <a:prstGeom prst="ellipse">
              <a:avLst/>
            </a:prstGeom>
            <a:grpFill/>
            <a:ln w="19050">
              <a:solidFill>
                <a:srgbClr val="FFFF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288" name="Oval 50"/>
            <p:cNvSpPr>
              <a:spLocks noChangeArrowheads="1"/>
            </p:cNvSpPr>
            <p:nvPr/>
          </p:nvSpPr>
          <p:spPr bwMode="auto">
            <a:xfrm>
              <a:off x="2018" y="3385"/>
              <a:ext cx="136" cy="136"/>
            </a:xfrm>
            <a:prstGeom prst="ellipse">
              <a:avLst/>
            </a:prstGeom>
            <a:grpFill/>
            <a:ln w="19050">
              <a:solidFill>
                <a:srgbClr val="FFFF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289" name="Oval 51"/>
            <p:cNvSpPr>
              <a:spLocks noChangeArrowheads="1"/>
            </p:cNvSpPr>
            <p:nvPr/>
          </p:nvSpPr>
          <p:spPr bwMode="auto">
            <a:xfrm>
              <a:off x="2154" y="3521"/>
              <a:ext cx="136" cy="136"/>
            </a:xfrm>
            <a:prstGeom prst="ellipse">
              <a:avLst/>
            </a:prstGeom>
            <a:grpFill/>
            <a:ln w="19050">
              <a:solidFill>
                <a:srgbClr val="FFFF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290" name="Oval 52"/>
            <p:cNvSpPr>
              <a:spLocks noChangeArrowheads="1"/>
            </p:cNvSpPr>
            <p:nvPr/>
          </p:nvSpPr>
          <p:spPr bwMode="auto">
            <a:xfrm>
              <a:off x="2290" y="3657"/>
              <a:ext cx="136" cy="136"/>
            </a:xfrm>
            <a:prstGeom prst="ellipse">
              <a:avLst/>
            </a:prstGeom>
            <a:grpFill/>
            <a:ln w="19050">
              <a:solidFill>
                <a:srgbClr val="FFFF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291" name="Oval 53"/>
            <p:cNvSpPr>
              <a:spLocks noChangeArrowheads="1"/>
            </p:cNvSpPr>
            <p:nvPr/>
          </p:nvSpPr>
          <p:spPr bwMode="auto">
            <a:xfrm>
              <a:off x="1610" y="2976"/>
              <a:ext cx="136" cy="136"/>
            </a:xfrm>
            <a:prstGeom prst="ellipse">
              <a:avLst/>
            </a:prstGeom>
            <a:grpFill/>
            <a:ln w="19050">
              <a:solidFill>
                <a:srgbClr val="FFFF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292" name="Oval 54"/>
            <p:cNvSpPr>
              <a:spLocks noChangeArrowheads="1"/>
            </p:cNvSpPr>
            <p:nvPr/>
          </p:nvSpPr>
          <p:spPr bwMode="auto">
            <a:xfrm>
              <a:off x="1429" y="3022"/>
              <a:ext cx="136" cy="136"/>
            </a:xfrm>
            <a:prstGeom prst="ellipse">
              <a:avLst/>
            </a:prstGeom>
            <a:grpFill/>
            <a:ln w="19050">
              <a:solidFill>
                <a:srgbClr val="FFFF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293" name="Oval 55"/>
            <p:cNvSpPr>
              <a:spLocks noChangeArrowheads="1"/>
            </p:cNvSpPr>
            <p:nvPr/>
          </p:nvSpPr>
          <p:spPr bwMode="auto">
            <a:xfrm>
              <a:off x="1247" y="3067"/>
              <a:ext cx="136" cy="136"/>
            </a:xfrm>
            <a:prstGeom prst="ellipse">
              <a:avLst/>
            </a:prstGeom>
            <a:grpFill/>
            <a:ln w="19050">
              <a:solidFill>
                <a:srgbClr val="FFFF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294" name="Oval 56"/>
            <p:cNvSpPr>
              <a:spLocks noChangeArrowheads="1"/>
            </p:cNvSpPr>
            <p:nvPr/>
          </p:nvSpPr>
          <p:spPr bwMode="auto">
            <a:xfrm>
              <a:off x="1066" y="3158"/>
              <a:ext cx="136" cy="136"/>
            </a:xfrm>
            <a:prstGeom prst="ellipse">
              <a:avLst/>
            </a:prstGeom>
            <a:grpFill/>
            <a:ln w="19050">
              <a:solidFill>
                <a:srgbClr val="FFFF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295" name="Oval 57"/>
            <p:cNvSpPr>
              <a:spLocks noChangeArrowheads="1"/>
            </p:cNvSpPr>
            <p:nvPr/>
          </p:nvSpPr>
          <p:spPr bwMode="auto">
            <a:xfrm>
              <a:off x="2381" y="3974"/>
              <a:ext cx="136" cy="136"/>
            </a:xfrm>
            <a:prstGeom prst="ellipse">
              <a:avLst/>
            </a:prstGeom>
            <a:grpFill/>
            <a:ln w="19050">
              <a:solidFill>
                <a:srgbClr val="FFFF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296" name="Oval 58"/>
            <p:cNvSpPr>
              <a:spLocks noChangeArrowheads="1"/>
            </p:cNvSpPr>
            <p:nvPr/>
          </p:nvSpPr>
          <p:spPr bwMode="auto">
            <a:xfrm>
              <a:off x="2426" y="3793"/>
              <a:ext cx="136" cy="136"/>
            </a:xfrm>
            <a:prstGeom prst="ellipse">
              <a:avLst/>
            </a:prstGeom>
            <a:grpFill/>
            <a:ln w="19050">
              <a:solidFill>
                <a:srgbClr val="FFFF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297" name="Oval 59"/>
            <p:cNvSpPr>
              <a:spLocks noChangeArrowheads="1"/>
            </p:cNvSpPr>
            <p:nvPr/>
          </p:nvSpPr>
          <p:spPr bwMode="auto">
            <a:xfrm>
              <a:off x="1927" y="3067"/>
              <a:ext cx="136" cy="136"/>
            </a:xfrm>
            <a:prstGeom prst="ellipse">
              <a:avLst/>
            </a:prstGeom>
            <a:grpFill/>
            <a:ln w="19050">
              <a:solidFill>
                <a:srgbClr val="FFFF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298" name="Oval 60"/>
            <p:cNvSpPr>
              <a:spLocks noChangeArrowheads="1"/>
            </p:cNvSpPr>
            <p:nvPr/>
          </p:nvSpPr>
          <p:spPr bwMode="auto">
            <a:xfrm>
              <a:off x="2063" y="3203"/>
              <a:ext cx="136" cy="136"/>
            </a:xfrm>
            <a:prstGeom prst="ellipse">
              <a:avLst/>
            </a:prstGeom>
            <a:grpFill/>
            <a:ln w="19050">
              <a:solidFill>
                <a:srgbClr val="FFFF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299" name="Oval 61"/>
            <p:cNvSpPr>
              <a:spLocks noChangeArrowheads="1"/>
            </p:cNvSpPr>
            <p:nvPr/>
          </p:nvSpPr>
          <p:spPr bwMode="auto">
            <a:xfrm>
              <a:off x="2199" y="3339"/>
              <a:ext cx="136" cy="136"/>
            </a:xfrm>
            <a:prstGeom prst="ellipse">
              <a:avLst/>
            </a:prstGeom>
            <a:grpFill/>
            <a:ln w="19050">
              <a:solidFill>
                <a:srgbClr val="FFFF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300" name="Oval 62"/>
            <p:cNvSpPr>
              <a:spLocks noChangeArrowheads="1"/>
            </p:cNvSpPr>
            <p:nvPr/>
          </p:nvSpPr>
          <p:spPr bwMode="auto">
            <a:xfrm>
              <a:off x="2335" y="3475"/>
              <a:ext cx="136" cy="136"/>
            </a:xfrm>
            <a:prstGeom prst="ellipse">
              <a:avLst/>
            </a:prstGeom>
            <a:grpFill/>
            <a:ln w="19050">
              <a:solidFill>
                <a:srgbClr val="FFFF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301" name="Oval 63"/>
            <p:cNvSpPr>
              <a:spLocks noChangeArrowheads="1"/>
            </p:cNvSpPr>
            <p:nvPr/>
          </p:nvSpPr>
          <p:spPr bwMode="auto">
            <a:xfrm>
              <a:off x="2471" y="3611"/>
              <a:ext cx="136" cy="136"/>
            </a:xfrm>
            <a:prstGeom prst="ellipse">
              <a:avLst/>
            </a:prstGeom>
            <a:grpFill/>
            <a:ln w="19050">
              <a:solidFill>
                <a:srgbClr val="FFFF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302" name="Oval 64"/>
            <p:cNvSpPr>
              <a:spLocks noChangeArrowheads="1"/>
            </p:cNvSpPr>
            <p:nvPr/>
          </p:nvSpPr>
          <p:spPr bwMode="auto">
            <a:xfrm>
              <a:off x="2109" y="3022"/>
              <a:ext cx="136" cy="136"/>
            </a:xfrm>
            <a:prstGeom prst="ellipse">
              <a:avLst/>
            </a:prstGeom>
            <a:grpFill/>
            <a:ln w="19050">
              <a:solidFill>
                <a:srgbClr val="FFFF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303" name="Oval 65"/>
            <p:cNvSpPr>
              <a:spLocks noChangeArrowheads="1"/>
            </p:cNvSpPr>
            <p:nvPr/>
          </p:nvSpPr>
          <p:spPr bwMode="auto">
            <a:xfrm>
              <a:off x="2245" y="3158"/>
              <a:ext cx="136" cy="136"/>
            </a:xfrm>
            <a:prstGeom prst="ellipse">
              <a:avLst/>
            </a:prstGeom>
            <a:grpFill/>
            <a:ln w="19050">
              <a:solidFill>
                <a:srgbClr val="FFFF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304" name="Oval 66"/>
            <p:cNvSpPr>
              <a:spLocks noChangeArrowheads="1"/>
            </p:cNvSpPr>
            <p:nvPr/>
          </p:nvSpPr>
          <p:spPr bwMode="auto">
            <a:xfrm>
              <a:off x="2381" y="3294"/>
              <a:ext cx="136" cy="136"/>
            </a:xfrm>
            <a:prstGeom prst="ellipse">
              <a:avLst/>
            </a:prstGeom>
            <a:grpFill/>
            <a:ln w="19050">
              <a:solidFill>
                <a:srgbClr val="FFFF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305" name="Oval 67"/>
            <p:cNvSpPr>
              <a:spLocks noChangeArrowheads="1"/>
            </p:cNvSpPr>
            <p:nvPr/>
          </p:nvSpPr>
          <p:spPr bwMode="auto">
            <a:xfrm>
              <a:off x="2517" y="3430"/>
              <a:ext cx="136" cy="136"/>
            </a:xfrm>
            <a:prstGeom prst="ellipse">
              <a:avLst/>
            </a:prstGeom>
            <a:grpFill/>
            <a:ln w="19050">
              <a:solidFill>
                <a:srgbClr val="FFFF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306" name="Oval 68"/>
            <p:cNvSpPr>
              <a:spLocks noChangeArrowheads="1"/>
            </p:cNvSpPr>
            <p:nvPr/>
          </p:nvSpPr>
          <p:spPr bwMode="auto">
            <a:xfrm>
              <a:off x="2426" y="3113"/>
              <a:ext cx="136" cy="136"/>
            </a:xfrm>
            <a:prstGeom prst="ellipse">
              <a:avLst/>
            </a:prstGeom>
            <a:grpFill/>
            <a:ln w="19050">
              <a:solidFill>
                <a:srgbClr val="FFFF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307" name="Oval 69"/>
            <p:cNvSpPr>
              <a:spLocks noChangeArrowheads="1"/>
            </p:cNvSpPr>
            <p:nvPr/>
          </p:nvSpPr>
          <p:spPr bwMode="auto">
            <a:xfrm>
              <a:off x="2562" y="3249"/>
              <a:ext cx="136" cy="136"/>
            </a:xfrm>
            <a:prstGeom prst="ellipse">
              <a:avLst/>
            </a:prstGeom>
            <a:grpFill/>
            <a:ln w="19050">
              <a:solidFill>
                <a:srgbClr val="FFFF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</p:grpSp>
      <p:grpSp>
        <p:nvGrpSpPr>
          <p:cNvPr id="3" name="Group 70"/>
          <p:cNvGrpSpPr>
            <a:grpSpLocks/>
          </p:cNvGrpSpPr>
          <p:nvPr/>
        </p:nvGrpSpPr>
        <p:grpSpPr bwMode="auto">
          <a:xfrm rot="-1222840">
            <a:off x="2300311" y="3363242"/>
            <a:ext cx="1728069" cy="1754869"/>
            <a:chOff x="2018" y="1661"/>
            <a:chExt cx="1452" cy="1451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8100000" scaled="1"/>
            <a:tileRect/>
          </a:gradFill>
        </p:grpSpPr>
        <p:sp>
          <p:nvSpPr>
            <p:cNvPr id="7194" name="Oval 71"/>
            <p:cNvSpPr>
              <a:spLocks noChangeArrowheads="1"/>
            </p:cNvSpPr>
            <p:nvPr/>
          </p:nvSpPr>
          <p:spPr bwMode="auto">
            <a:xfrm>
              <a:off x="2200" y="2160"/>
              <a:ext cx="136" cy="136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prstDash val="dashDot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195" name="Oval 72"/>
            <p:cNvSpPr>
              <a:spLocks noChangeArrowheads="1"/>
            </p:cNvSpPr>
            <p:nvPr/>
          </p:nvSpPr>
          <p:spPr bwMode="auto">
            <a:xfrm>
              <a:off x="2336" y="2296"/>
              <a:ext cx="136" cy="136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prstDash val="dashDot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196" name="Oval 73"/>
            <p:cNvSpPr>
              <a:spLocks noChangeArrowheads="1"/>
            </p:cNvSpPr>
            <p:nvPr/>
          </p:nvSpPr>
          <p:spPr bwMode="auto">
            <a:xfrm>
              <a:off x="2472" y="2432"/>
              <a:ext cx="136" cy="136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prstDash val="dashDot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197" name="Oval 74"/>
            <p:cNvSpPr>
              <a:spLocks noChangeArrowheads="1"/>
            </p:cNvSpPr>
            <p:nvPr/>
          </p:nvSpPr>
          <p:spPr bwMode="auto">
            <a:xfrm>
              <a:off x="2608" y="2568"/>
              <a:ext cx="136" cy="136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prstDash val="dashDot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198" name="Oval 75"/>
            <p:cNvSpPr>
              <a:spLocks noChangeArrowheads="1"/>
            </p:cNvSpPr>
            <p:nvPr/>
          </p:nvSpPr>
          <p:spPr bwMode="auto">
            <a:xfrm>
              <a:off x="2744" y="2704"/>
              <a:ext cx="136" cy="136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prstDash val="dashDot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199" name="Oval 76"/>
            <p:cNvSpPr>
              <a:spLocks noChangeArrowheads="1"/>
            </p:cNvSpPr>
            <p:nvPr/>
          </p:nvSpPr>
          <p:spPr bwMode="auto">
            <a:xfrm>
              <a:off x="2880" y="2840"/>
              <a:ext cx="136" cy="136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prstDash val="dashDot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200" name="Oval 77"/>
            <p:cNvSpPr>
              <a:spLocks noChangeArrowheads="1"/>
            </p:cNvSpPr>
            <p:nvPr/>
          </p:nvSpPr>
          <p:spPr bwMode="auto">
            <a:xfrm>
              <a:off x="3016" y="2976"/>
              <a:ext cx="136" cy="136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prstDash val="dashDot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201" name="Oval 78"/>
            <p:cNvSpPr>
              <a:spLocks noChangeArrowheads="1"/>
            </p:cNvSpPr>
            <p:nvPr/>
          </p:nvSpPr>
          <p:spPr bwMode="auto">
            <a:xfrm>
              <a:off x="2018" y="2205"/>
              <a:ext cx="136" cy="136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prstDash val="dashDot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202" name="Oval 79"/>
            <p:cNvSpPr>
              <a:spLocks noChangeArrowheads="1"/>
            </p:cNvSpPr>
            <p:nvPr/>
          </p:nvSpPr>
          <p:spPr bwMode="auto">
            <a:xfrm>
              <a:off x="2064" y="2024"/>
              <a:ext cx="136" cy="136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prstDash val="dashDot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203" name="Oval 80"/>
            <p:cNvSpPr>
              <a:spLocks noChangeArrowheads="1"/>
            </p:cNvSpPr>
            <p:nvPr/>
          </p:nvSpPr>
          <p:spPr bwMode="auto">
            <a:xfrm>
              <a:off x="2154" y="2341"/>
              <a:ext cx="136" cy="136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prstDash val="dashDot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204" name="Oval 81"/>
            <p:cNvSpPr>
              <a:spLocks noChangeArrowheads="1"/>
            </p:cNvSpPr>
            <p:nvPr/>
          </p:nvSpPr>
          <p:spPr bwMode="auto">
            <a:xfrm>
              <a:off x="2290" y="2477"/>
              <a:ext cx="136" cy="136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prstDash val="dashDot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205" name="Oval 82"/>
            <p:cNvSpPr>
              <a:spLocks noChangeArrowheads="1"/>
            </p:cNvSpPr>
            <p:nvPr/>
          </p:nvSpPr>
          <p:spPr bwMode="auto">
            <a:xfrm>
              <a:off x="2426" y="2613"/>
              <a:ext cx="136" cy="136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prstDash val="dashDot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206" name="Oval 83"/>
            <p:cNvSpPr>
              <a:spLocks noChangeArrowheads="1"/>
            </p:cNvSpPr>
            <p:nvPr/>
          </p:nvSpPr>
          <p:spPr bwMode="auto">
            <a:xfrm>
              <a:off x="2562" y="2749"/>
              <a:ext cx="136" cy="136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prstDash val="dashDot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207" name="Oval 84"/>
            <p:cNvSpPr>
              <a:spLocks noChangeArrowheads="1"/>
            </p:cNvSpPr>
            <p:nvPr/>
          </p:nvSpPr>
          <p:spPr bwMode="auto">
            <a:xfrm>
              <a:off x="2698" y="2885"/>
              <a:ext cx="136" cy="136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prstDash val="dashDot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208" name="Oval 85"/>
            <p:cNvSpPr>
              <a:spLocks noChangeArrowheads="1"/>
            </p:cNvSpPr>
            <p:nvPr/>
          </p:nvSpPr>
          <p:spPr bwMode="auto">
            <a:xfrm>
              <a:off x="2109" y="2523"/>
              <a:ext cx="136" cy="136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prstDash val="dashDot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209" name="Oval 86"/>
            <p:cNvSpPr>
              <a:spLocks noChangeArrowheads="1"/>
            </p:cNvSpPr>
            <p:nvPr/>
          </p:nvSpPr>
          <p:spPr bwMode="auto">
            <a:xfrm>
              <a:off x="2245" y="2659"/>
              <a:ext cx="136" cy="136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prstDash val="dashDot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210" name="Oval 87"/>
            <p:cNvSpPr>
              <a:spLocks noChangeArrowheads="1"/>
            </p:cNvSpPr>
            <p:nvPr/>
          </p:nvSpPr>
          <p:spPr bwMode="auto">
            <a:xfrm>
              <a:off x="2381" y="2795"/>
              <a:ext cx="136" cy="136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prstDash val="dashDot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211" name="Oval 88"/>
            <p:cNvSpPr>
              <a:spLocks noChangeArrowheads="1"/>
            </p:cNvSpPr>
            <p:nvPr/>
          </p:nvSpPr>
          <p:spPr bwMode="auto">
            <a:xfrm>
              <a:off x="2381" y="2115"/>
              <a:ext cx="136" cy="136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prstDash val="dashDot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212" name="Oval 89"/>
            <p:cNvSpPr>
              <a:spLocks noChangeArrowheads="1"/>
            </p:cNvSpPr>
            <p:nvPr/>
          </p:nvSpPr>
          <p:spPr bwMode="auto">
            <a:xfrm>
              <a:off x="2517" y="2251"/>
              <a:ext cx="136" cy="136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prstDash val="dashDot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213" name="Oval 90"/>
            <p:cNvSpPr>
              <a:spLocks noChangeArrowheads="1"/>
            </p:cNvSpPr>
            <p:nvPr/>
          </p:nvSpPr>
          <p:spPr bwMode="auto">
            <a:xfrm>
              <a:off x="2653" y="2387"/>
              <a:ext cx="136" cy="136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prstDash val="dashDot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214" name="Oval 91"/>
            <p:cNvSpPr>
              <a:spLocks noChangeArrowheads="1"/>
            </p:cNvSpPr>
            <p:nvPr/>
          </p:nvSpPr>
          <p:spPr bwMode="auto">
            <a:xfrm>
              <a:off x="2789" y="2523"/>
              <a:ext cx="136" cy="136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prstDash val="dashDot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215" name="Oval 92"/>
            <p:cNvSpPr>
              <a:spLocks noChangeArrowheads="1"/>
            </p:cNvSpPr>
            <p:nvPr/>
          </p:nvSpPr>
          <p:spPr bwMode="auto">
            <a:xfrm>
              <a:off x="2925" y="2659"/>
              <a:ext cx="136" cy="136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prstDash val="dashDot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216" name="Oval 93"/>
            <p:cNvSpPr>
              <a:spLocks noChangeArrowheads="1"/>
            </p:cNvSpPr>
            <p:nvPr/>
          </p:nvSpPr>
          <p:spPr bwMode="auto">
            <a:xfrm>
              <a:off x="2562" y="2069"/>
              <a:ext cx="136" cy="136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prstDash val="dashDot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217" name="Oval 94"/>
            <p:cNvSpPr>
              <a:spLocks noChangeArrowheads="1"/>
            </p:cNvSpPr>
            <p:nvPr/>
          </p:nvSpPr>
          <p:spPr bwMode="auto">
            <a:xfrm>
              <a:off x="2698" y="2205"/>
              <a:ext cx="136" cy="136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prstDash val="dashDot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218" name="Oval 95"/>
            <p:cNvSpPr>
              <a:spLocks noChangeArrowheads="1"/>
            </p:cNvSpPr>
            <p:nvPr/>
          </p:nvSpPr>
          <p:spPr bwMode="auto">
            <a:xfrm>
              <a:off x="2834" y="2341"/>
              <a:ext cx="136" cy="136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prstDash val="dashDot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219" name="Oval 96"/>
            <p:cNvSpPr>
              <a:spLocks noChangeArrowheads="1"/>
            </p:cNvSpPr>
            <p:nvPr/>
          </p:nvSpPr>
          <p:spPr bwMode="auto">
            <a:xfrm>
              <a:off x="2970" y="2477"/>
              <a:ext cx="136" cy="136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prstDash val="dashDot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220" name="Oval 97"/>
            <p:cNvSpPr>
              <a:spLocks noChangeArrowheads="1"/>
            </p:cNvSpPr>
            <p:nvPr/>
          </p:nvSpPr>
          <p:spPr bwMode="auto">
            <a:xfrm>
              <a:off x="2744" y="2024"/>
              <a:ext cx="136" cy="136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prstDash val="dashDot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221" name="Oval 98"/>
            <p:cNvSpPr>
              <a:spLocks noChangeArrowheads="1"/>
            </p:cNvSpPr>
            <p:nvPr/>
          </p:nvSpPr>
          <p:spPr bwMode="auto">
            <a:xfrm>
              <a:off x="2880" y="2160"/>
              <a:ext cx="136" cy="136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prstDash val="dashDot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222" name="Oval 99"/>
            <p:cNvSpPr>
              <a:spLocks noChangeArrowheads="1"/>
            </p:cNvSpPr>
            <p:nvPr/>
          </p:nvSpPr>
          <p:spPr bwMode="auto">
            <a:xfrm>
              <a:off x="3016" y="2296"/>
              <a:ext cx="136" cy="136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prstDash val="dashDot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223" name="Oval 100"/>
            <p:cNvSpPr>
              <a:spLocks noChangeArrowheads="1"/>
            </p:cNvSpPr>
            <p:nvPr/>
          </p:nvSpPr>
          <p:spPr bwMode="auto">
            <a:xfrm>
              <a:off x="3107" y="2795"/>
              <a:ext cx="136" cy="136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prstDash val="dashDot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224" name="Oval 101"/>
            <p:cNvSpPr>
              <a:spLocks noChangeArrowheads="1"/>
            </p:cNvSpPr>
            <p:nvPr/>
          </p:nvSpPr>
          <p:spPr bwMode="auto">
            <a:xfrm>
              <a:off x="2245" y="1979"/>
              <a:ext cx="136" cy="136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prstDash val="dashDot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225" name="Oval 102"/>
            <p:cNvSpPr>
              <a:spLocks noChangeArrowheads="1"/>
            </p:cNvSpPr>
            <p:nvPr/>
          </p:nvSpPr>
          <p:spPr bwMode="auto">
            <a:xfrm>
              <a:off x="2925" y="1979"/>
              <a:ext cx="136" cy="136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prstDash val="dashDot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226" name="Oval 103"/>
            <p:cNvSpPr>
              <a:spLocks noChangeArrowheads="1"/>
            </p:cNvSpPr>
            <p:nvPr/>
          </p:nvSpPr>
          <p:spPr bwMode="auto">
            <a:xfrm>
              <a:off x="3061" y="2115"/>
              <a:ext cx="136" cy="136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prstDash val="dashDot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227" name="Oval 104"/>
            <p:cNvSpPr>
              <a:spLocks noChangeArrowheads="1"/>
            </p:cNvSpPr>
            <p:nvPr/>
          </p:nvSpPr>
          <p:spPr bwMode="auto">
            <a:xfrm>
              <a:off x="3197" y="2251"/>
              <a:ext cx="136" cy="136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prstDash val="dashDot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228" name="Oval 105"/>
            <p:cNvSpPr>
              <a:spLocks noChangeArrowheads="1"/>
            </p:cNvSpPr>
            <p:nvPr/>
          </p:nvSpPr>
          <p:spPr bwMode="auto">
            <a:xfrm>
              <a:off x="3152" y="2432"/>
              <a:ext cx="136" cy="136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prstDash val="dashDot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229" name="Oval 106"/>
            <p:cNvSpPr>
              <a:spLocks noChangeArrowheads="1"/>
            </p:cNvSpPr>
            <p:nvPr/>
          </p:nvSpPr>
          <p:spPr bwMode="auto">
            <a:xfrm>
              <a:off x="3152" y="2614"/>
              <a:ext cx="136" cy="136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prstDash val="dashDot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230" name="Oval 107"/>
            <p:cNvSpPr>
              <a:spLocks noChangeArrowheads="1"/>
            </p:cNvSpPr>
            <p:nvPr/>
          </p:nvSpPr>
          <p:spPr bwMode="auto">
            <a:xfrm>
              <a:off x="2426" y="1933"/>
              <a:ext cx="136" cy="136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prstDash val="dashDot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231" name="Oval 108"/>
            <p:cNvSpPr>
              <a:spLocks noChangeArrowheads="1"/>
            </p:cNvSpPr>
            <p:nvPr/>
          </p:nvSpPr>
          <p:spPr bwMode="auto">
            <a:xfrm>
              <a:off x="2608" y="1888"/>
              <a:ext cx="136" cy="136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prstDash val="dashDot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232" name="Oval 109"/>
            <p:cNvSpPr>
              <a:spLocks noChangeArrowheads="1"/>
            </p:cNvSpPr>
            <p:nvPr/>
          </p:nvSpPr>
          <p:spPr bwMode="auto">
            <a:xfrm>
              <a:off x="2789" y="1842"/>
              <a:ext cx="136" cy="136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prstDash val="dashDot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233" name="Oval 110"/>
            <p:cNvSpPr>
              <a:spLocks noChangeArrowheads="1"/>
            </p:cNvSpPr>
            <p:nvPr/>
          </p:nvSpPr>
          <p:spPr bwMode="auto">
            <a:xfrm>
              <a:off x="2971" y="1797"/>
              <a:ext cx="136" cy="136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prstDash val="dashDot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234" name="Oval 111"/>
            <p:cNvSpPr>
              <a:spLocks noChangeArrowheads="1"/>
            </p:cNvSpPr>
            <p:nvPr/>
          </p:nvSpPr>
          <p:spPr bwMode="auto">
            <a:xfrm>
              <a:off x="3107" y="1933"/>
              <a:ext cx="136" cy="136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prstDash val="dashDot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235" name="Oval 112"/>
            <p:cNvSpPr>
              <a:spLocks noChangeArrowheads="1"/>
            </p:cNvSpPr>
            <p:nvPr/>
          </p:nvSpPr>
          <p:spPr bwMode="auto">
            <a:xfrm>
              <a:off x="3243" y="2069"/>
              <a:ext cx="136" cy="136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prstDash val="dashDot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236" name="Oval 113"/>
            <p:cNvSpPr>
              <a:spLocks noChangeArrowheads="1"/>
            </p:cNvSpPr>
            <p:nvPr/>
          </p:nvSpPr>
          <p:spPr bwMode="auto">
            <a:xfrm>
              <a:off x="3334" y="2478"/>
              <a:ext cx="136" cy="136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prstDash val="dashDot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237" name="Oval 114"/>
            <p:cNvSpPr>
              <a:spLocks noChangeArrowheads="1"/>
            </p:cNvSpPr>
            <p:nvPr/>
          </p:nvSpPr>
          <p:spPr bwMode="auto">
            <a:xfrm>
              <a:off x="2154" y="1797"/>
              <a:ext cx="136" cy="136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prstDash val="dashDot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238" name="Oval 115"/>
            <p:cNvSpPr>
              <a:spLocks noChangeArrowheads="1"/>
            </p:cNvSpPr>
            <p:nvPr/>
          </p:nvSpPr>
          <p:spPr bwMode="auto">
            <a:xfrm>
              <a:off x="2336" y="1752"/>
              <a:ext cx="136" cy="136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prstDash val="dashDot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239" name="Oval 116"/>
            <p:cNvSpPr>
              <a:spLocks noChangeArrowheads="1"/>
            </p:cNvSpPr>
            <p:nvPr/>
          </p:nvSpPr>
          <p:spPr bwMode="auto">
            <a:xfrm>
              <a:off x="2517" y="1706"/>
              <a:ext cx="136" cy="136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prstDash val="dashDot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240" name="Oval 117"/>
            <p:cNvSpPr>
              <a:spLocks noChangeArrowheads="1"/>
            </p:cNvSpPr>
            <p:nvPr/>
          </p:nvSpPr>
          <p:spPr bwMode="auto">
            <a:xfrm>
              <a:off x="2699" y="1661"/>
              <a:ext cx="136" cy="136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prstDash val="dashDot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</p:grpSp>
      <p:sp>
        <p:nvSpPr>
          <p:cNvPr id="72711" name="AutoShape 143"/>
          <p:cNvSpPr>
            <a:spLocks noChangeArrowheads="1"/>
          </p:cNvSpPr>
          <p:nvPr/>
        </p:nvSpPr>
        <p:spPr bwMode="auto">
          <a:xfrm rot="-2373493">
            <a:off x="1119188" y="4114800"/>
            <a:ext cx="1027112" cy="301625"/>
          </a:xfrm>
          <a:prstGeom prst="curvedDownArrow">
            <a:avLst>
              <a:gd name="adj1" fmla="val 68105"/>
              <a:gd name="adj2" fmla="val 136210"/>
              <a:gd name="adj3" fmla="val 33333"/>
            </a:avLst>
          </a:prstGeom>
          <a:solidFill>
            <a:schemeClr val="accent1"/>
          </a:solidFill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CA" dirty="0"/>
          </a:p>
        </p:txBody>
      </p:sp>
      <p:sp>
        <p:nvSpPr>
          <p:cNvPr id="72712" name="AutoShape 144"/>
          <p:cNvSpPr>
            <a:spLocks noChangeArrowheads="1"/>
          </p:cNvSpPr>
          <p:nvPr/>
        </p:nvSpPr>
        <p:spPr bwMode="auto">
          <a:xfrm rot="-2373493">
            <a:off x="2809875" y="2644775"/>
            <a:ext cx="1027113" cy="300038"/>
          </a:xfrm>
          <a:prstGeom prst="curvedDownArrow">
            <a:avLst>
              <a:gd name="adj1" fmla="val 68466"/>
              <a:gd name="adj2" fmla="val 136931"/>
              <a:gd name="adj3" fmla="val 33333"/>
            </a:avLst>
          </a:prstGeom>
          <a:solidFill>
            <a:schemeClr val="accent1"/>
          </a:solidFill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CA" dirty="0"/>
          </a:p>
        </p:txBody>
      </p:sp>
      <p:sp>
        <p:nvSpPr>
          <p:cNvPr id="72713" name="AutoShape 145"/>
          <p:cNvSpPr>
            <a:spLocks noChangeArrowheads="1"/>
          </p:cNvSpPr>
          <p:nvPr/>
        </p:nvSpPr>
        <p:spPr bwMode="auto">
          <a:xfrm rot="-2373493">
            <a:off x="3965575" y="1741488"/>
            <a:ext cx="1027113" cy="301625"/>
          </a:xfrm>
          <a:prstGeom prst="curvedDownArrow">
            <a:avLst>
              <a:gd name="adj1" fmla="val 68105"/>
              <a:gd name="adj2" fmla="val 136211"/>
              <a:gd name="adj3" fmla="val 33333"/>
            </a:avLst>
          </a:prstGeom>
          <a:solidFill>
            <a:schemeClr val="accent1"/>
          </a:solidFill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CA" dirty="0"/>
          </a:p>
        </p:txBody>
      </p:sp>
      <p:grpSp>
        <p:nvGrpSpPr>
          <p:cNvPr id="4" name="Group 258"/>
          <p:cNvGrpSpPr>
            <a:grpSpLocks/>
          </p:cNvGrpSpPr>
          <p:nvPr/>
        </p:nvGrpSpPr>
        <p:grpSpPr bwMode="auto">
          <a:xfrm>
            <a:off x="5091189" y="1686143"/>
            <a:ext cx="500062" cy="433387"/>
            <a:chOff x="3805" y="711"/>
            <a:chExt cx="315" cy="273"/>
          </a:xfrm>
          <a:gradFill flip="none" rotWithShape="1">
            <a:gsLst>
              <a:gs pos="0">
                <a:schemeClr val="accent6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6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6">
                  <a:lumMod val="60000"/>
                  <a:lumOff val="40000"/>
                  <a:shade val="100000"/>
                  <a:satMod val="115000"/>
                </a:schemeClr>
              </a:gs>
            </a:gsLst>
            <a:lin ang="10800000" scaled="1"/>
            <a:tileRect/>
          </a:gradFill>
        </p:grpSpPr>
        <p:sp>
          <p:nvSpPr>
            <p:cNvPr id="7191" name="Oval 132"/>
            <p:cNvSpPr>
              <a:spLocks noChangeArrowheads="1"/>
            </p:cNvSpPr>
            <p:nvPr/>
          </p:nvSpPr>
          <p:spPr bwMode="auto">
            <a:xfrm>
              <a:off x="3805" y="739"/>
              <a:ext cx="114" cy="114"/>
            </a:xfrm>
            <a:prstGeom prst="ellipse">
              <a:avLst/>
            </a:prstGeom>
            <a:grpFill/>
            <a:ln w="28575">
              <a:solidFill>
                <a:schemeClr val="accent6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chemeClr val="bg2">
                    <a:lumMod val="10000"/>
                  </a:schemeClr>
                </a:solidFill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192" name="Oval 153"/>
            <p:cNvSpPr>
              <a:spLocks noChangeArrowheads="1"/>
            </p:cNvSpPr>
            <p:nvPr/>
          </p:nvSpPr>
          <p:spPr bwMode="auto">
            <a:xfrm>
              <a:off x="3925" y="871"/>
              <a:ext cx="114" cy="113"/>
            </a:xfrm>
            <a:prstGeom prst="ellipse">
              <a:avLst/>
            </a:prstGeom>
            <a:grpFill/>
            <a:ln w="28575">
              <a:solidFill>
                <a:schemeClr val="accent6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chemeClr val="bg2">
                    <a:lumMod val="10000"/>
                  </a:schemeClr>
                </a:solidFill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193" name="Oval 155"/>
            <p:cNvSpPr>
              <a:spLocks noChangeArrowheads="1"/>
            </p:cNvSpPr>
            <p:nvPr/>
          </p:nvSpPr>
          <p:spPr bwMode="auto">
            <a:xfrm>
              <a:off x="4006" y="711"/>
              <a:ext cx="114" cy="113"/>
            </a:xfrm>
            <a:prstGeom prst="ellipse">
              <a:avLst/>
            </a:prstGeom>
            <a:grpFill/>
            <a:ln w="28575">
              <a:solidFill>
                <a:schemeClr val="accent6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chemeClr val="bg2">
                    <a:lumMod val="10000"/>
                  </a:schemeClr>
                </a:solidFill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</p:grpSp>
      <p:grpSp>
        <p:nvGrpSpPr>
          <p:cNvPr id="5" name="Group 257"/>
          <p:cNvGrpSpPr>
            <a:grpSpLocks/>
          </p:cNvGrpSpPr>
          <p:nvPr/>
        </p:nvGrpSpPr>
        <p:grpSpPr bwMode="auto">
          <a:xfrm>
            <a:off x="3994697" y="2555113"/>
            <a:ext cx="847725" cy="690562"/>
            <a:chOff x="3120" y="1191"/>
            <a:chExt cx="534" cy="435"/>
          </a:xfrm>
          <a:gradFill flip="none" rotWithShape="1">
            <a:gsLst>
              <a:gs pos="0">
                <a:schemeClr val="accent3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3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3">
                  <a:lumMod val="60000"/>
                  <a:lumOff val="40000"/>
                  <a:shade val="100000"/>
                  <a:satMod val="115000"/>
                </a:schemeClr>
              </a:gs>
            </a:gsLst>
            <a:lin ang="0" scaled="1"/>
            <a:tileRect/>
          </a:gradFill>
        </p:grpSpPr>
        <p:sp>
          <p:nvSpPr>
            <p:cNvPr id="7183" name="Oval 120"/>
            <p:cNvSpPr>
              <a:spLocks noChangeArrowheads="1"/>
            </p:cNvSpPr>
            <p:nvPr/>
          </p:nvSpPr>
          <p:spPr bwMode="auto">
            <a:xfrm>
              <a:off x="3196" y="1420"/>
              <a:ext cx="114" cy="114"/>
            </a:xfrm>
            <a:prstGeom prst="ellipse">
              <a:avLst/>
            </a:prstGeom>
            <a:grpFill/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184" name="Oval 122"/>
            <p:cNvSpPr>
              <a:spLocks noChangeArrowheads="1"/>
            </p:cNvSpPr>
            <p:nvPr/>
          </p:nvSpPr>
          <p:spPr bwMode="auto">
            <a:xfrm>
              <a:off x="3321" y="1512"/>
              <a:ext cx="114" cy="114"/>
            </a:xfrm>
            <a:prstGeom prst="ellipse">
              <a:avLst/>
            </a:prstGeom>
            <a:grpFill/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185" name="Oval 123"/>
            <p:cNvSpPr>
              <a:spLocks noChangeArrowheads="1"/>
            </p:cNvSpPr>
            <p:nvPr/>
          </p:nvSpPr>
          <p:spPr bwMode="auto">
            <a:xfrm>
              <a:off x="3281" y="1191"/>
              <a:ext cx="114" cy="114"/>
            </a:xfrm>
            <a:prstGeom prst="ellipse">
              <a:avLst/>
            </a:prstGeom>
            <a:grpFill/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186" name="Oval 127"/>
            <p:cNvSpPr>
              <a:spLocks noChangeArrowheads="1"/>
            </p:cNvSpPr>
            <p:nvPr/>
          </p:nvSpPr>
          <p:spPr bwMode="auto">
            <a:xfrm>
              <a:off x="3349" y="1345"/>
              <a:ext cx="114" cy="114"/>
            </a:xfrm>
            <a:prstGeom prst="ellipse">
              <a:avLst/>
            </a:prstGeom>
            <a:grpFill/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187" name="Oval 130"/>
            <p:cNvSpPr>
              <a:spLocks noChangeArrowheads="1"/>
            </p:cNvSpPr>
            <p:nvPr/>
          </p:nvSpPr>
          <p:spPr bwMode="auto">
            <a:xfrm>
              <a:off x="3426" y="1194"/>
              <a:ext cx="114" cy="114"/>
            </a:xfrm>
            <a:prstGeom prst="ellipse">
              <a:avLst/>
            </a:prstGeom>
            <a:grpFill/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188" name="Oval 131"/>
            <p:cNvSpPr>
              <a:spLocks noChangeArrowheads="1"/>
            </p:cNvSpPr>
            <p:nvPr/>
          </p:nvSpPr>
          <p:spPr bwMode="auto">
            <a:xfrm>
              <a:off x="3540" y="1308"/>
              <a:ext cx="114" cy="113"/>
            </a:xfrm>
            <a:prstGeom prst="ellipse">
              <a:avLst/>
            </a:prstGeom>
            <a:grpFill/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189" name="Oval 156"/>
            <p:cNvSpPr>
              <a:spLocks noChangeArrowheads="1"/>
            </p:cNvSpPr>
            <p:nvPr/>
          </p:nvSpPr>
          <p:spPr bwMode="auto">
            <a:xfrm>
              <a:off x="3482" y="1472"/>
              <a:ext cx="114" cy="114"/>
            </a:xfrm>
            <a:prstGeom prst="ellipse">
              <a:avLst/>
            </a:prstGeom>
            <a:grpFill/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  <p:sp>
          <p:nvSpPr>
            <p:cNvPr id="7190" name="Oval 157"/>
            <p:cNvSpPr>
              <a:spLocks noChangeArrowheads="1"/>
            </p:cNvSpPr>
            <p:nvPr/>
          </p:nvSpPr>
          <p:spPr bwMode="auto">
            <a:xfrm>
              <a:off x="3120" y="1272"/>
              <a:ext cx="114" cy="113"/>
            </a:xfrm>
            <a:prstGeom prst="ellipse">
              <a:avLst/>
            </a:prstGeom>
            <a:grpFill/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ＭＳ Ｐゴシック" pitchFamily="64" charset="-128"/>
                <a:cs typeface="+mn-cs"/>
              </a:endParaRPr>
            </a:p>
          </p:txBody>
        </p:sp>
      </p:grpSp>
      <p:sp>
        <p:nvSpPr>
          <p:cNvPr id="142" name="Rectangle 141"/>
          <p:cNvSpPr/>
          <p:nvPr/>
        </p:nvSpPr>
        <p:spPr>
          <a:xfrm>
            <a:off x="640676" y="315118"/>
            <a:ext cx="5145105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th-TH" sz="4400" b="1" dirty="0" smtClean="0">
                <a:latin typeface="+mj-lt"/>
                <a:ea typeface="ＭＳ Ｐゴシック" pitchFamily="64" charset="-128"/>
              </a:rPr>
              <a:t>กระบวนการวิจัยระยะต่างๆ</a:t>
            </a:r>
            <a:endParaRPr lang="en-US" sz="4400" b="1" dirty="0">
              <a:latin typeface="+mj-lt"/>
              <a:ea typeface="ＭＳ Ｐゴシック" pitchFamily="64" charset="-128"/>
              <a:cs typeface="+mn-cs"/>
            </a:endParaRPr>
          </a:p>
        </p:txBody>
      </p:sp>
      <p:sp>
        <p:nvSpPr>
          <p:cNvPr id="143" name="TextBox 142"/>
          <p:cNvSpPr txBox="1"/>
          <p:nvPr/>
        </p:nvSpPr>
        <p:spPr>
          <a:xfrm>
            <a:off x="2171700" y="6556375"/>
            <a:ext cx="6972300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400" dirty="0">
                <a:latin typeface="+mn-lt"/>
                <a:ea typeface="ＭＳ Ｐゴシック" pitchFamily="64" charset="-128"/>
                <a:cs typeface="+mn-cs"/>
              </a:rPr>
              <a:t>Source: </a:t>
            </a:r>
            <a:r>
              <a:rPr lang="en-US" sz="1400" i="1" dirty="0">
                <a:latin typeface="+mn-lt"/>
                <a:ea typeface="ＭＳ Ｐゴシック" pitchFamily="64" charset="-128"/>
                <a:cs typeface="+mn-cs"/>
              </a:rPr>
              <a:t>Alliance for Microbicide Development, with thanks to Anna Forbes</a:t>
            </a:r>
          </a:p>
        </p:txBody>
      </p:sp>
      <p:sp>
        <p:nvSpPr>
          <p:cNvPr id="144" name="Slide Number Placeholder 14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8A5594-927B-4781-9905-3EF7D02F0F2A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4111280913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2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72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72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11" grpId="0" animBg="1"/>
      <p:bldP spid="72712" grpId="0" animBg="1"/>
      <p:bldP spid="7271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1308958" y="1"/>
            <a:ext cx="695483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endParaRPr lang="en-US" sz="2800" dirty="0">
              <a:latin typeface="+mj-lt"/>
              <a:ea typeface="ＭＳ Ｐゴシック" pitchFamily="64" charset="-128"/>
              <a:cs typeface="+mn-cs"/>
            </a:endParaRPr>
          </a:p>
          <a:p>
            <a:pPr algn="ctr">
              <a:defRPr/>
            </a:pPr>
            <a:r>
              <a:rPr lang="th-TH" sz="4400" b="1" dirty="0" smtClean="0">
                <a:latin typeface="+mj-lt"/>
                <a:ea typeface="ＭＳ Ｐゴシック" pitchFamily="64" charset="-128"/>
              </a:rPr>
              <a:t>การวิจัยทางคลีนิก</a:t>
            </a:r>
            <a:r>
              <a:rPr lang="en-US" sz="4400" b="1" dirty="0" smtClean="0">
                <a:latin typeface="+mj-lt"/>
                <a:ea typeface="ＭＳ Ｐゴシック" pitchFamily="64" charset="-128"/>
              </a:rPr>
              <a:t>(</a:t>
            </a:r>
            <a:r>
              <a:rPr lang="th-TH" sz="4400" b="1" dirty="0" smtClean="0">
                <a:latin typeface="+mj-lt"/>
                <a:ea typeface="ＭＳ Ｐゴシック" pitchFamily="64" charset="-128"/>
              </a:rPr>
              <a:t>การวิจัยในคน</a:t>
            </a:r>
            <a:r>
              <a:rPr lang="en-US" sz="4400" b="1" dirty="0">
                <a:ea typeface="ＭＳ Ｐゴシック" pitchFamily="64" charset="-128"/>
              </a:rPr>
              <a:t>)</a:t>
            </a:r>
            <a:endParaRPr lang="en-US" sz="4400" b="1" dirty="0">
              <a:latin typeface="Arial" pitchFamily="34" charset="0"/>
              <a:ea typeface="ＭＳ Ｐゴシック" pitchFamily="64" charset="-128"/>
              <a:cs typeface="+mn-cs"/>
            </a:endParaRPr>
          </a:p>
        </p:txBody>
      </p:sp>
      <p:graphicFrame>
        <p:nvGraphicFramePr>
          <p:cNvPr id="9" name="Diagram 8"/>
          <p:cNvGraphicFramePr/>
          <p:nvPr>
            <p:extLst>
              <p:ext uri="{D42A27DB-BD31-4B8C-83A1-F6EECF244321}">
                <p14:modId xmlns="" xmlns:p14="http://schemas.microsoft.com/office/powerpoint/2010/main" val="1341310599"/>
              </p:ext>
            </p:extLst>
          </p:nvPr>
        </p:nvGraphicFramePr>
        <p:xfrm>
          <a:off x="746974" y="1409221"/>
          <a:ext cx="8023539" cy="5181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9DB8CD7-531E-4E3E-8123-B267ECD58F1F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122146772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Title 5"/>
          <p:cNvSpPr>
            <a:spLocks noGrp="1"/>
          </p:cNvSpPr>
          <p:nvPr>
            <p:ph type="title"/>
          </p:nvPr>
        </p:nvSpPr>
        <p:spPr>
          <a:xfrm>
            <a:off x="38100" y="184325"/>
            <a:ext cx="8448675" cy="1143000"/>
          </a:xfrm>
        </p:spPr>
        <p:txBody>
          <a:bodyPr>
            <a:normAutofit/>
          </a:bodyPr>
          <a:lstStyle/>
          <a:p>
            <a:r>
              <a:rPr lang="th-TH" sz="4000" b="1" dirty="0" smtClean="0"/>
              <a:t>ชุดการป้องกันที่ครบถ้วน บูรณาการ </a:t>
            </a:r>
            <a:endParaRPr lang="en-US" sz="4000" b="1" dirty="0" smtClean="0"/>
          </a:p>
        </p:txBody>
      </p:sp>
      <p:sp>
        <p:nvSpPr>
          <p:cNvPr id="39940" name="Content Placeholder 6"/>
          <p:cNvSpPr>
            <a:spLocks noGrp="1"/>
          </p:cNvSpPr>
          <p:nvPr>
            <p:ph sz="half" idx="2"/>
          </p:nvPr>
        </p:nvSpPr>
        <p:spPr>
          <a:xfrm>
            <a:off x="465138" y="2992438"/>
            <a:ext cx="4040187" cy="3951287"/>
          </a:xfrm>
        </p:spPr>
        <p:txBody>
          <a:bodyPr/>
          <a:lstStyle/>
          <a:p>
            <a:pPr>
              <a:lnSpc>
                <a:spcPct val="80000"/>
              </a:lnSpc>
            </a:pPr>
            <a:endParaRPr lang="en-US" dirty="0" smtClean="0">
              <a:latin typeface="3 of 9 Barcode"/>
            </a:endParaRPr>
          </a:p>
          <a:p>
            <a:pPr>
              <a:buFont typeface="Arial" charset="0"/>
              <a:buNone/>
            </a:pPr>
            <a:endParaRPr lang="en-US" dirty="0" smtClean="0"/>
          </a:p>
        </p:txBody>
      </p:sp>
      <p:sp>
        <p:nvSpPr>
          <p:cNvPr id="39941" name="Content Placeholder 13"/>
          <p:cNvSpPr>
            <a:spLocks noGrp="1"/>
          </p:cNvSpPr>
          <p:nvPr>
            <p:ph sz="quarter" idx="4"/>
          </p:nvPr>
        </p:nvSpPr>
        <p:spPr>
          <a:xfrm>
            <a:off x="5602288" y="2382838"/>
            <a:ext cx="3309937" cy="4237037"/>
          </a:xfrm>
        </p:spPr>
        <p:txBody>
          <a:bodyPr>
            <a:normAutofit fontScale="92500"/>
          </a:bodyPr>
          <a:lstStyle/>
          <a:p>
            <a:pPr>
              <a:buFontTx/>
              <a:buChar char="•"/>
            </a:pPr>
            <a:r>
              <a:rPr lang="th-TH" b="1" u="sng" dirty="0" smtClean="0">
                <a:solidFill>
                  <a:srgbClr val="C00000"/>
                </a:solidFill>
              </a:rPr>
              <a:t>สูตรการให้ยาต้านที่พัฒนาปรับปรุงให้ดีขึ้น</a:t>
            </a:r>
            <a:endParaRPr lang="en-US" b="1" u="sng" dirty="0" smtClean="0">
              <a:solidFill>
                <a:srgbClr val="C00000"/>
              </a:solidFill>
            </a:endParaRPr>
          </a:p>
          <a:p>
            <a:pPr>
              <a:buFontTx/>
              <a:buChar char="•"/>
            </a:pPr>
            <a:r>
              <a:rPr lang="th-TH" b="1" dirty="0" smtClean="0"/>
              <a:t>การรักษาโรคติดเชื้อฉวยโอกาส</a:t>
            </a:r>
            <a:endParaRPr lang="en-US" b="1" dirty="0" smtClean="0"/>
          </a:p>
          <a:p>
            <a:pPr>
              <a:buFontTx/>
              <a:buChar char="•"/>
            </a:pPr>
            <a:r>
              <a:rPr lang="th-TH" b="1" dirty="0" smtClean="0"/>
              <a:t>การดูแลสุขภาพเบื้องต้น/โภชนาการ</a:t>
            </a:r>
            <a:endParaRPr lang="en-US" b="1" dirty="0" smtClean="0"/>
          </a:p>
          <a:p>
            <a:pPr>
              <a:buFontTx/>
              <a:buChar char="•"/>
            </a:pPr>
            <a:r>
              <a:rPr lang="th-TH" b="1" dirty="0" smtClean="0">
                <a:solidFill>
                  <a:srgbClr val="3366FF"/>
                </a:solidFill>
              </a:rPr>
              <a:t>การป้องกันการติดเชื้อต่อของผู้มีเชื้อแล้ว</a:t>
            </a:r>
            <a:endParaRPr lang="en-US" b="1" dirty="0" smtClean="0">
              <a:solidFill>
                <a:srgbClr val="3366FF"/>
              </a:solidFill>
            </a:endParaRPr>
          </a:p>
          <a:p>
            <a:pPr>
              <a:buFontTx/>
              <a:buChar char="•"/>
            </a:pPr>
            <a:r>
              <a:rPr lang="th-TH" b="1" dirty="0" smtClean="0">
                <a:ea typeface="ＭＳ Ｐゴシック" pitchFamily="64" charset="-128"/>
              </a:rPr>
              <a:t>การให้การศึกษาและการ</a:t>
            </a:r>
            <a:r>
              <a:rPr lang="th-TH" b="1" dirty="0">
                <a:ea typeface="ＭＳ Ｐゴシック" pitchFamily="64" charset="-128"/>
              </a:rPr>
              <a:t>ปรับเปลี่ยนพฤติกรรมที่ยึดมั่นใน</a:t>
            </a:r>
            <a:r>
              <a:rPr lang="th-TH" b="1" dirty="0" smtClean="0">
                <a:ea typeface="ＭＳ Ｐゴシック" pitchFamily="64" charset="-128"/>
              </a:rPr>
              <a:t>สิทธิ</a:t>
            </a:r>
            <a:endParaRPr lang="en-US" b="1" dirty="0" smtClean="0"/>
          </a:p>
          <a:p>
            <a:pPr>
              <a:buFontTx/>
              <a:buChar char="•"/>
            </a:pPr>
            <a:r>
              <a:rPr lang="th-TH" b="1" dirty="0" smtClean="0">
                <a:solidFill>
                  <a:srgbClr val="FF0000"/>
                </a:solidFill>
              </a:rPr>
              <a:t>วัคซีนเพื่อการรักษา</a:t>
            </a:r>
            <a:endParaRPr lang="en-GB" b="1" dirty="0" smtClean="0">
              <a:solidFill>
                <a:srgbClr val="FF0000"/>
              </a:solidFill>
            </a:endParaRPr>
          </a:p>
          <a:p>
            <a:pPr>
              <a:buFont typeface="Arial" charset="0"/>
              <a:buNone/>
            </a:pPr>
            <a:endParaRPr lang="en-US" dirty="0" smtClean="0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9687" y="1773238"/>
            <a:ext cx="8648701" cy="609600"/>
            <a:chOff x="96" y="1680"/>
            <a:chExt cx="4416" cy="384"/>
          </a:xfrm>
        </p:grpSpPr>
        <p:sp>
          <p:nvSpPr>
            <p:cNvPr id="39946" name="AutoShape 5"/>
            <p:cNvSpPr>
              <a:spLocks noChangeArrowheads="1"/>
            </p:cNvSpPr>
            <p:nvPr/>
          </p:nvSpPr>
          <p:spPr bwMode="auto">
            <a:xfrm>
              <a:off x="96" y="1680"/>
              <a:ext cx="1521" cy="384"/>
            </a:xfrm>
            <a:prstGeom prst="homePlate">
              <a:avLst>
                <a:gd name="adj" fmla="val 20006"/>
              </a:avLst>
            </a:prstGeom>
            <a:gradFill rotWithShape="1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18900000" scaled="1"/>
            </a:gradFill>
            <a:ln w="12700">
              <a:solidFill>
                <a:schemeClr val="bg2"/>
              </a:solidFill>
              <a:miter lim="800000"/>
              <a:headEnd/>
              <a:tailEnd/>
            </a:ln>
          </p:spPr>
          <p:txBody>
            <a:bodyPr lIns="182880" anchor="ctr"/>
            <a:lstStyle/>
            <a:p>
              <a:pPr algn="ctr"/>
              <a:r>
                <a:rPr lang="th-TH" sz="2800" b="1" dirty="0" smtClean="0">
                  <a:solidFill>
                    <a:schemeClr val="bg1"/>
                  </a:solidFill>
                  <a:latin typeface="Arial Unicode MS" pitchFamily="34" charset="-128"/>
                </a:rPr>
                <a:t>ก่อนสัมผัสเชื้อ</a:t>
              </a:r>
              <a:endParaRPr lang="en-US" sz="2000" b="1" dirty="0">
                <a:solidFill>
                  <a:schemeClr val="bg1"/>
                </a:solidFill>
                <a:latin typeface="Arial Unicode MS" pitchFamily="34" charset="-128"/>
              </a:endParaRPr>
            </a:p>
          </p:txBody>
        </p:sp>
        <p:sp>
          <p:nvSpPr>
            <p:cNvPr id="39947" name="AutoShape 6"/>
            <p:cNvSpPr>
              <a:spLocks noChangeArrowheads="1"/>
            </p:cNvSpPr>
            <p:nvPr/>
          </p:nvSpPr>
          <p:spPr bwMode="auto">
            <a:xfrm>
              <a:off x="1536" y="1680"/>
              <a:ext cx="1619" cy="384"/>
            </a:xfrm>
            <a:prstGeom prst="chevron">
              <a:avLst>
                <a:gd name="adj" fmla="val 21295"/>
              </a:avLst>
            </a:prstGeom>
            <a:gradFill rotWithShape="1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18900000" scaled="1"/>
            </a:gradFill>
            <a:ln w="12700">
              <a:solidFill>
                <a:schemeClr val="bg2"/>
              </a:solidFill>
              <a:miter lim="800000"/>
              <a:headEnd/>
              <a:tailEnd/>
            </a:ln>
          </p:spPr>
          <p:txBody>
            <a:bodyPr lIns="182880" anchor="ctr"/>
            <a:lstStyle/>
            <a:p>
              <a:pPr algn="ctr"/>
              <a:r>
                <a:rPr lang="th-TH" sz="2800" b="1" dirty="0" smtClean="0">
                  <a:solidFill>
                    <a:schemeClr val="bg1"/>
                  </a:solidFill>
                  <a:latin typeface="Arial Unicode MS" pitchFamily="34" charset="-128"/>
                </a:rPr>
                <a:t>เมื่อเกิดการถ่ายทอดเชื้อ</a:t>
              </a:r>
              <a:endParaRPr lang="en-US" sz="2800" b="1" dirty="0">
                <a:solidFill>
                  <a:schemeClr val="bg1"/>
                </a:solidFill>
                <a:latin typeface="Arial Unicode MS" pitchFamily="34" charset="-128"/>
              </a:endParaRPr>
            </a:p>
          </p:txBody>
        </p:sp>
        <p:sp>
          <p:nvSpPr>
            <p:cNvPr id="39948" name="AutoShape 7"/>
            <p:cNvSpPr>
              <a:spLocks noChangeArrowheads="1"/>
            </p:cNvSpPr>
            <p:nvPr/>
          </p:nvSpPr>
          <p:spPr bwMode="auto">
            <a:xfrm>
              <a:off x="3064" y="1680"/>
              <a:ext cx="1448" cy="384"/>
            </a:xfrm>
            <a:prstGeom prst="chevron">
              <a:avLst>
                <a:gd name="adj" fmla="val 19046"/>
              </a:avLst>
            </a:prstGeom>
            <a:gradFill rotWithShape="1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18900000" scaled="1"/>
            </a:gradFill>
            <a:ln w="12700">
              <a:solidFill>
                <a:schemeClr val="bg2"/>
              </a:solidFill>
              <a:miter lim="800000"/>
              <a:headEnd/>
              <a:tailEnd/>
            </a:ln>
          </p:spPr>
          <p:txBody>
            <a:bodyPr lIns="182880" anchor="ctr"/>
            <a:lstStyle/>
            <a:p>
              <a:pPr algn="ctr"/>
              <a:r>
                <a:rPr lang="th-TH" sz="2800" b="1" dirty="0" smtClean="0">
                  <a:solidFill>
                    <a:schemeClr val="bg1"/>
                  </a:solidFill>
                  <a:latin typeface="Arial Unicode MS" pitchFamily="34" charset="-128"/>
                </a:rPr>
                <a:t>การดูแลรักษา</a:t>
              </a:r>
              <a:endParaRPr lang="en-US" sz="2800" b="1" dirty="0">
                <a:solidFill>
                  <a:schemeClr val="bg1"/>
                </a:solidFill>
                <a:latin typeface="Arial Unicode MS" pitchFamily="34" charset="-128"/>
              </a:endParaRPr>
            </a:p>
          </p:txBody>
        </p:sp>
      </p:grpSp>
      <p:sp>
        <p:nvSpPr>
          <p:cNvPr id="15" name="Rectangle 14"/>
          <p:cNvSpPr/>
          <p:nvPr/>
        </p:nvSpPr>
        <p:spPr>
          <a:xfrm>
            <a:off x="3135313" y="2382838"/>
            <a:ext cx="2466975" cy="452431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Tx/>
              <a:buChar char="•"/>
              <a:defRPr/>
            </a:pPr>
            <a:r>
              <a:rPr lang="th-TH" sz="2400" b="1" dirty="0" smtClean="0">
                <a:solidFill>
                  <a:srgbClr val="3366FF"/>
                </a:solidFill>
                <a:ea typeface="ＭＳ Ｐゴシック" pitchFamily="64" charset="-128"/>
              </a:rPr>
              <a:t>ถุงยางอนามัยชายและหญิงและสารหล่อลื่น</a:t>
            </a:r>
            <a:endParaRPr lang="en-US" sz="2400" b="1" dirty="0">
              <a:solidFill>
                <a:srgbClr val="3366FF"/>
              </a:solidFill>
              <a:ea typeface="ＭＳ Ｐゴシック" pitchFamily="64" charset="-128"/>
            </a:endParaRPr>
          </a:p>
          <a:p>
            <a:pPr>
              <a:buFontTx/>
              <a:buChar char="•"/>
              <a:defRPr/>
            </a:pPr>
            <a:r>
              <a:rPr lang="th-TH" sz="2400" b="1" dirty="0" smtClean="0">
                <a:solidFill>
                  <a:srgbClr val="3366FF"/>
                </a:solidFill>
                <a:ea typeface="ＭＳ Ｐゴシック" pitchFamily="64" charset="-128"/>
              </a:rPr>
              <a:t>การป้องกันการถ่ายทอดเชื้อจากแม่สู่ลูก</a:t>
            </a:r>
            <a:r>
              <a:rPr lang="en-US" sz="2400" b="1" dirty="0" smtClean="0">
                <a:solidFill>
                  <a:srgbClr val="3366FF"/>
                </a:solidFill>
                <a:latin typeface="+mn-lt"/>
                <a:ea typeface="ＭＳ Ｐゴシック" pitchFamily="64" charset="-128"/>
                <a:cs typeface="+mn-cs"/>
              </a:rPr>
              <a:t> (PMTCT)</a:t>
            </a:r>
            <a:endParaRPr lang="en-US" sz="2400" b="1" dirty="0">
              <a:solidFill>
                <a:srgbClr val="3366FF"/>
              </a:solidFill>
              <a:latin typeface="+mn-lt"/>
              <a:ea typeface="ＭＳ Ｐゴシック" pitchFamily="64" charset="-128"/>
              <a:cs typeface="+mn-cs"/>
            </a:endParaRPr>
          </a:p>
          <a:p>
            <a:pPr>
              <a:buFontTx/>
              <a:buChar char="•"/>
              <a:defRPr/>
            </a:pPr>
            <a:r>
              <a:rPr lang="th-TH" sz="2400" b="1" dirty="0" smtClean="0">
                <a:solidFill>
                  <a:srgbClr val="3366FF"/>
                </a:solidFill>
                <a:ea typeface="ＭＳ Ｐゴシック" pitchFamily="64" charset="-128"/>
              </a:rPr>
              <a:t>อุปกรณ์ฉีดยาสะอาดปลอดเชื้อ</a:t>
            </a:r>
            <a:endParaRPr lang="en-US" sz="2400" b="1" dirty="0">
              <a:solidFill>
                <a:srgbClr val="3366FF"/>
              </a:solidFill>
              <a:ea typeface="ＭＳ Ｐゴシック" pitchFamily="64" charset="-128"/>
            </a:endParaRPr>
          </a:p>
          <a:p>
            <a:pPr>
              <a:buFontTx/>
              <a:buChar char="•"/>
              <a:defRPr/>
            </a:pPr>
            <a:r>
              <a:rPr lang="th-TH" sz="2400" b="1" dirty="0" smtClean="0">
                <a:solidFill>
                  <a:srgbClr val="3366FF"/>
                </a:solidFill>
                <a:ea typeface="ＭＳ Ｐゴシック" pitchFamily="64" charset="-128"/>
              </a:rPr>
              <a:t>การให้ยาต้านหลังการสัมผัสเชื้อ</a:t>
            </a:r>
            <a:r>
              <a:rPr lang="en-CA" sz="2400" b="1" dirty="0" smtClean="0">
                <a:solidFill>
                  <a:srgbClr val="3366FF"/>
                </a:solidFill>
                <a:latin typeface="+mn-lt"/>
                <a:ea typeface="ＭＳ Ｐゴシック" pitchFamily="64" charset="-128"/>
                <a:cs typeface="+mn-cs"/>
              </a:rPr>
              <a:t> </a:t>
            </a:r>
            <a:r>
              <a:rPr lang="en-CA" sz="2400" b="1" dirty="0">
                <a:solidFill>
                  <a:srgbClr val="3366FF"/>
                </a:solidFill>
                <a:latin typeface="+mn-lt"/>
                <a:ea typeface="ＭＳ Ｐゴシック" pitchFamily="64" charset="-128"/>
                <a:cs typeface="+mn-cs"/>
              </a:rPr>
              <a:t>(PEP</a:t>
            </a:r>
            <a:r>
              <a:rPr lang="en-CA" sz="2400" b="1" dirty="0" smtClean="0">
                <a:solidFill>
                  <a:srgbClr val="3366FF"/>
                </a:solidFill>
                <a:latin typeface="+mn-lt"/>
                <a:ea typeface="ＭＳ Ｐゴシック" pitchFamily="64" charset="-128"/>
                <a:cs typeface="+mn-cs"/>
              </a:rPr>
              <a:t>)</a:t>
            </a:r>
          </a:p>
          <a:p>
            <a:pPr>
              <a:buFontTx/>
              <a:buChar char="•"/>
              <a:defRPr/>
            </a:pPr>
            <a:r>
              <a:rPr lang="th-TH" sz="2400" b="1" u="sng" dirty="0" smtClean="0">
                <a:solidFill>
                  <a:srgbClr val="C00000"/>
                </a:solidFill>
                <a:ea typeface="ＭＳ Ｐゴシック" pitchFamily="64" charset="-128"/>
              </a:rPr>
              <a:t>สารเคลือบไมโครบิไซด์สำหรับช่องคลอด / ทวารหนัก</a:t>
            </a:r>
            <a:endParaRPr lang="en-US" sz="2400" b="1" u="sng" dirty="0">
              <a:solidFill>
                <a:srgbClr val="C00000"/>
              </a:solidFill>
              <a:latin typeface="+mn-lt"/>
              <a:ea typeface="ＭＳ Ｐゴシック" pitchFamily="64" charset="-128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65138" y="2382838"/>
            <a:ext cx="2601913" cy="452431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Tx/>
              <a:buChar char="•"/>
              <a:defRPr/>
            </a:pPr>
            <a:r>
              <a:rPr lang="th-TH" sz="2400" b="1" dirty="0" smtClean="0">
                <a:ea typeface="ＭＳ Ｐゴシック" pitchFamily="64" charset="-128"/>
              </a:rPr>
              <a:t>การปรับเปลี่ยนพฤติกรรมที่ยึดมั่นในสิทธิ</a:t>
            </a:r>
            <a:endParaRPr lang="en-GB" sz="2400" b="1" dirty="0">
              <a:latin typeface="+mn-lt"/>
              <a:ea typeface="ＭＳ Ｐゴシック" pitchFamily="64" charset="-128"/>
              <a:cs typeface="+mn-cs"/>
            </a:endParaRPr>
          </a:p>
          <a:p>
            <a:pPr>
              <a:buFontTx/>
              <a:buChar char="•"/>
              <a:defRPr/>
            </a:pPr>
            <a:r>
              <a:rPr lang="th-TH" sz="2400" b="1" dirty="0" smtClean="0">
                <a:solidFill>
                  <a:srgbClr val="3366FF"/>
                </a:solidFill>
                <a:ea typeface="ＭＳ Ｐゴシック" pitchFamily="64" charset="-128"/>
              </a:rPr>
              <a:t>การให้คำปรึกษาและตรวจหาเชื้อด้วยความสมัครใจ</a:t>
            </a:r>
            <a:endParaRPr lang="en-GB" sz="2400" b="1" dirty="0">
              <a:solidFill>
                <a:srgbClr val="3366FF"/>
              </a:solidFill>
              <a:ea typeface="ＭＳ Ｐゴシック" pitchFamily="64" charset="-128"/>
            </a:endParaRPr>
          </a:p>
          <a:p>
            <a:pPr>
              <a:buFontTx/>
              <a:buChar char="•"/>
              <a:defRPr/>
            </a:pPr>
            <a:r>
              <a:rPr lang="th-TH" sz="2400" b="1" dirty="0" smtClean="0">
                <a:solidFill>
                  <a:srgbClr val="3366FF"/>
                </a:solidFill>
                <a:latin typeface="+mn-lt"/>
                <a:ea typeface="ＭＳ Ｐゴシック" pitchFamily="64" charset="-128"/>
                <a:cs typeface="+mn-cs"/>
              </a:rPr>
              <a:t>การตรวจหาเชื้อ </a:t>
            </a:r>
            <a:r>
              <a:rPr lang="en-GB" sz="2400" b="1" dirty="0" smtClean="0">
                <a:solidFill>
                  <a:srgbClr val="3366FF"/>
                </a:solidFill>
                <a:latin typeface="+mn-lt"/>
                <a:ea typeface="ＭＳ Ｐゴシック" pitchFamily="64" charset="-128"/>
                <a:cs typeface="+mn-cs"/>
              </a:rPr>
              <a:t>STI</a:t>
            </a:r>
            <a:r>
              <a:rPr lang="th-TH" sz="2400" b="1" dirty="0" smtClean="0">
                <a:solidFill>
                  <a:srgbClr val="3366FF"/>
                </a:solidFill>
                <a:latin typeface="+mn-lt"/>
                <a:ea typeface="ＭＳ Ｐゴシック" pitchFamily="64" charset="-128"/>
                <a:cs typeface="+mn-cs"/>
              </a:rPr>
              <a:t> และการรักษา</a:t>
            </a:r>
            <a:endParaRPr lang="en-GB" sz="2400" b="1" dirty="0">
              <a:solidFill>
                <a:srgbClr val="3366FF"/>
              </a:solidFill>
              <a:latin typeface="+mn-lt"/>
              <a:ea typeface="ＭＳ Ｐゴシック" pitchFamily="64" charset="-128"/>
              <a:cs typeface="+mn-cs"/>
            </a:endParaRPr>
          </a:p>
          <a:p>
            <a:pPr>
              <a:buFontTx/>
              <a:buChar char="•"/>
              <a:defRPr/>
            </a:pPr>
            <a:r>
              <a:rPr lang="th-TH" sz="2400" b="1" dirty="0" smtClean="0">
                <a:ea typeface="ＭＳ Ｐゴシック" pitchFamily="64" charset="-128"/>
              </a:rPr>
              <a:t>การขริบหนังหุ้มปลายอวัยวะเพศชาย</a:t>
            </a:r>
            <a:endParaRPr lang="en-US" sz="2400" b="1" dirty="0" smtClean="0">
              <a:latin typeface="+mn-lt"/>
              <a:ea typeface="ＭＳ Ｐゴシック" pitchFamily="64" charset="-128"/>
              <a:cs typeface="+mn-cs"/>
            </a:endParaRPr>
          </a:p>
          <a:p>
            <a:pPr>
              <a:buFontTx/>
              <a:buChar char="•"/>
              <a:defRPr/>
            </a:pPr>
            <a:r>
              <a:rPr lang="th-TH" sz="2400" b="1" dirty="0" smtClean="0">
                <a:solidFill>
                  <a:srgbClr val="FF0000"/>
                </a:solidFill>
                <a:ea typeface="ＭＳ Ｐゴシック" pitchFamily="64" charset="-128"/>
              </a:rPr>
              <a:t>วัคซีนในการป้องกัน</a:t>
            </a:r>
            <a:endParaRPr lang="en-US" sz="2400" b="1" dirty="0" smtClean="0">
              <a:solidFill>
                <a:srgbClr val="FF0000"/>
              </a:solidFill>
              <a:latin typeface="+mn-lt"/>
              <a:ea typeface="ＭＳ Ｐゴシック" pitchFamily="64" charset="-128"/>
              <a:cs typeface="+mn-cs"/>
            </a:endParaRPr>
          </a:p>
          <a:p>
            <a:pPr>
              <a:buFontTx/>
              <a:buChar char="•"/>
              <a:defRPr/>
            </a:pPr>
            <a:r>
              <a:rPr lang="th-TH" sz="2400" b="1" u="sng" dirty="0" smtClean="0">
                <a:solidFill>
                  <a:srgbClr val="C00000"/>
                </a:solidFill>
                <a:ea typeface="ＭＳ Ｐゴシック" pitchFamily="64" charset="-128"/>
              </a:rPr>
              <a:t>การให้ยาต้านก่อนสัมผัสเชื้อ</a:t>
            </a:r>
            <a:r>
              <a:rPr lang="en-US" sz="2400" b="1" u="sng" dirty="0" smtClean="0">
                <a:solidFill>
                  <a:srgbClr val="C00000"/>
                </a:solidFill>
                <a:latin typeface="+mn-lt"/>
                <a:ea typeface="ＭＳ Ｐゴシック" pitchFamily="64" charset="-128"/>
                <a:cs typeface="+mn-cs"/>
              </a:rPr>
              <a:t> </a:t>
            </a:r>
            <a:r>
              <a:rPr lang="en-US" sz="2400" b="1" u="sng" dirty="0">
                <a:solidFill>
                  <a:srgbClr val="C00000"/>
                </a:solidFill>
                <a:latin typeface="+mn-lt"/>
                <a:ea typeface="ＭＳ Ｐゴシック" pitchFamily="64" charset="-128"/>
                <a:cs typeface="+mn-cs"/>
              </a:rPr>
              <a:t>(PrEP</a:t>
            </a:r>
            <a:r>
              <a:rPr lang="en-US" sz="2400" b="1" dirty="0">
                <a:solidFill>
                  <a:srgbClr val="C00000"/>
                </a:solidFill>
                <a:latin typeface="+mn-lt"/>
                <a:ea typeface="ＭＳ Ｐゴシック" pitchFamily="64" charset="-128"/>
                <a:cs typeface="+mn-cs"/>
              </a:rPr>
              <a:t>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9687" y="3513666"/>
            <a:ext cx="425451" cy="409223"/>
          </a:xfrm>
          <a:prstGeom prst="rightArrow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429169800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itle 1"/>
          <p:cNvSpPr>
            <a:spLocks noGrp="1"/>
          </p:cNvSpPr>
          <p:nvPr>
            <p:ph type="title"/>
          </p:nvPr>
        </p:nvSpPr>
        <p:spPr>
          <a:xfrm>
            <a:off x="612934" y="255104"/>
            <a:ext cx="8152448" cy="990124"/>
          </a:xfrm>
        </p:spPr>
        <p:txBody>
          <a:bodyPr>
            <a:normAutofit/>
          </a:bodyPr>
          <a:lstStyle/>
          <a:p>
            <a:pPr eaLnBrk="1" hangingPunct="1"/>
            <a:r>
              <a:rPr lang="th-TH" sz="4800" b="1" dirty="0" smtClean="0">
                <a:solidFill>
                  <a:srgbClr val="000000"/>
                </a:solidFill>
                <a:latin typeface="Maiandra GD" charset="0"/>
              </a:rPr>
              <a:t>การป้องกันเอชไอวี</a:t>
            </a:r>
            <a:endParaRPr lang="en-CA" sz="4800" b="1" dirty="0">
              <a:solidFill>
                <a:srgbClr val="000000"/>
              </a:solidFill>
              <a:latin typeface="Maiandra GD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="" xmlns:p14="http://schemas.microsoft.com/office/powerpoint/2010/main" val="984115496"/>
              </p:ext>
            </p:extLst>
          </p:nvPr>
        </p:nvGraphicFramePr>
        <p:xfrm>
          <a:off x="594360" y="2125980"/>
          <a:ext cx="8152448" cy="4496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1507" name="TextBox 4"/>
          <p:cNvSpPr txBox="1">
            <a:spLocks noChangeArrowheads="1"/>
          </p:cNvSpPr>
          <p:nvPr/>
        </p:nvSpPr>
        <p:spPr bwMode="auto">
          <a:xfrm>
            <a:off x="612934" y="1245228"/>
            <a:ext cx="7936706" cy="12641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2296" tIns="41148" rIns="82296" bIns="4114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th-TH" sz="3200" b="1" dirty="0" smtClean="0">
                <a:solidFill>
                  <a:srgbClr val="003366"/>
                </a:solidFill>
                <a:latin typeface="Candara" charset="0"/>
              </a:rPr>
              <a:t>ไม่ใช้ยาต้านไวรัส</a:t>
            </a:r>
            <a:r>
              <a:rPr lang="en-CA" sz="3200" b="1" dirty="0" smtClean="0">
                <a:solidFill>
                  <a:srgbClr val="003366"/>
                </a:solidFill>
                <a:latin typeface="Candara" charset="0"/>
              </a:rPr>
              <a:t> </a:t>
            </a:r>
            <a:r>
              <a:rPr lang="en-CA" sz="3200" b="1" dirty="0">
                <a:solidFill>
                  <a:srgbClr val="003366"/>
                </a:solidFill>
                <a:latin typeface="Candara" charset="0"/>
              </a:rPr>
              <a:t>		</a:t>
            </a:r>
            <a:r>
              <a:rPr lang="th-TH" sz="3200" b="1" dirty="0" smtClean="0">
                <a:solidFill>
                  <a:srgbClr val="003366"/>
                </a:solidFill>
                <a:latin typeface="Candara" charset="0"/>
              </a:rPr>
              <a:t>        </a:t>
            </a:r>
            <a:r>
              <a:rPr lang="th-TH" sz="3200" b="1" dirty="0" smtClean="0">
                <a:solidFill>
                  <a:srgbClr val="003366"/>
                </a:solidFill>
                <a:latin typeface="Candara" charset="0"/>
              </a:rPr>
              <a:t>ใช้</a:t>
            </a:r>
            <a:r>
              <a:rPr lang="th-TH" sz="3200" b="1" dirty="0" smtClean="0">
                <a:solidFill>
                  <a:srgbClr val="003366"/>
                </a:solidFill>
                <a:latin typeface="Candara" charset="0"/>
              </a:rPr>
              <a:t>ยาต้านไวรัส</a:t>
            </a:r>
            <a:r>
              <a:rPr lang="en-CA" sz="3200" dirty="0">
                <a:solidFill>
                  <a:srgbClr val="003366"/>
                </a:solidFill>
              </a:rPr>
              <a:t>	</a:t>
            </a:r>
            <a:r>
              <a:rPr lang="en-CA" sz="3200" dirty="0"/>
              <a:t>	</a:t>
            </a:r>
          </a:p>
        </p:txBody>
      </p:sp>
      <p:sp>
        <p:nvSpPr>
          <p:cNvPr id="21508" name="Rectangle 6"/>
          <p:cNvSpPr>
            <a:spLocks noChangeArrowheads="1"/>
          </p:cNvSpPr>
          <p:nvPr/>
        </p:nvSpPr>
        <p:spPr bwMode="auto">
          <a:xfrm>
            <a:off x="1143000" y="2777490"/>
            <a:ext cx="2948940" cy="296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296" tIns="41148" rIns="82296" bIns="41148">
            <a:spAutoFit/>
          </a:bodyPr>
          <a:lstStyle/>
          <a:p>
            <a:pPr marL="318612" lvl="1" indent="-318612">
              <a:spcBef>
                <a:spcPts val="698"/>
              </a:spcBef>
              <a:buClr>
                <a:srgbClr val="C00000"/>
              </a:buClr>
              <a:buSzPct val="60000"/>
              <a:buFont typeface="Wingdings" charset="0"/>
              <a:buChar char=""/>
            </a:pPr>
            <a:r>
              <a:rPr lang="th-TH" sz="2800" b="1" dirty="0" smtClean="0">
                <a:latin typeface="Angsana New" pitchFamily="18" charset="-34"/>
                <a:cs typeface="Angsana New" pitchFamily="18" charset="-34"/>
              </a:rPr>
              <a:t>ถุงยางอนามัยชาย หญิง</a:t>
            </a:r>
            <a:endParaRPr lang="en-US" sz="2800" b="1" dirty="0">
              <a:latin typeface="Angsana New" pitchFamily="18" charset="-34"/>
              <a:cs typeface="Angsana New" pitchFamily="18" charset="-34"/>
            </a:endParaRPr>
          </a:p>
          <a:p>
            <a:pPr marL="318612" lvl="1" indent="-318612">
              <a:spcBef>
                <a:spcPts val="698"/>
              </a:spcBef>
              <a:buClr>
                <a:srgbClr val="C00000"/>
              </a:buClr>
              <a:buSzPct val="60000"/>
              <a:buFont typeface="Wingdings" charset="0"/>
              <a:buChar char=""/>
            </a:pPr>
            <a:r>
              <a:rPr lang="th-TH" sz="2800" b="1" dirty="0" smtClean="0">
                <a:latin typeface="Angsana New" pitchFamily="18" charset="-34"/>
                <a:cs typeface="Angsana New" pitchFamily="18" charset="-34"/>
              </a:rPr>
              <a:t>การขริบปลาย</a:t>
            </a:r>
            <a:endParaRPr lang="en-US" sz="2800" b="1" dirty="0">
              <a:latin typeface="Angsana New" pitchFamily="18" charset="-34"/>
              <a:cs typeface="Angsana New" pitchFamily="18" charset="-34"/>
            </a:endParaRPr>
          </a:p>
          <a:p>
            <a:pPr marL="318612" lvl="1" indent="-318612">
              <a:spcBef>
                <a:spcPts val="698"/>
              </a:spcBef>
              <a:buClr>
                <a:srgbClr val="C00000"/>
              </a:buClr>
              <a:buSzPct val="60000"/>
              <a:buFont typeface="Wingdings" charset="0"/>
              <a:buChar char=""/>
            </a:pPr>
            <a:r>
              <a:rPr lang="th-TH" sz="2800" b="1" dirty="0" smtClean="0">
                <a:latin typeface="Angsana New" pitchFamily="18" charset="-34"/>
                <a:cs typeface="Angsana New" pitchFamily="18" charset="-34"/>
              </a:rPr>
              <a:t>อุปกรณ์ฉีดยาปลอดเชื้อ</a:t>
            </a:r>
            <a:endParaRPr lang="en-US" sz="2800" b="1" dirty="0">
              <a:latin typeface="Angsana New" pitchFamily="18" charset="-34"/>
              <a:cs typeface="Angsana New" pitchFamily="18" charset="-34"/>
            </a:endParaRPr>
          </a:p>
          <a:p>
            <a:pPr marL="318612" lvl="1" indent="-318612">
              <a:spcBef>
                <a:spcPts val="698"/>
              </a:spcBef>
              <a:buClr>
                <a:srgbClr val="C00000"/>
              </a:buClr>
              <a:buSzPct val="60000"/>
              <a:buFont typeface="Wingdings" charset="0"/>
              <a:buChar char=""/>
            </a:pPr>
            <a:r>
              <a:rPr lang="th-TH" sz="2800" b="1" dirty="0" smtClean="0">
                <a:latin typeface="Angsana New" pitchFamily="18" charset="-34"/>
                <a:cs typeface="Angsana New" pitchFamily="18" charset="-34"/>
              </a:rPr>
              <a:t>วัคซีน</a:t>
            </a:r>
            <a:endParaRPr lang="en-US" sz="2800" b="1" dirty="0">
              <a:latin typeface="Angsana New" pitchFamily="18" charset="-34"/>
              <a:cs typeface="Angsana New" pitchFamily="18" charset="-34"/>
            </a:endParaRPr>
          </a:p>
          <a:p>
            <a:pPr marL="318612" lvl="1" indent="-318612">
              <a:spcBef>
                <a:spcPts val="698"/>
              </a:spcBef>
              <a:buClr>
                <a:srgbClr val="C00000"/>
              </a:buClr>
              <a:buSzPct val="60000"/>
              <a:buFont typeface="Wingdings" charset="0"/>
              <a:buChar char=""/>
            </a:pPr>
            <a:r>
              <a:rPr lang="th-TH" sz="2800" b="1" dirty="0" smtClean="0">
                <a:latin typeface="Angsana New" pitchFamily="18" charset="-34"/>
                <a:cs typeface="Angsana New" pitchFamily="18" charset="-34"/>
              </a:rPr>
              <a:t>การให้คำปรึกษา </a:t>
            </a:r>
            <a:r>
              <a:rPr lang="en-US" sz="2800" b="1" dirty="0" smtClean="0">
                <a:latin typeface="Angsana New" pitchFamily="18" charset="-34"/>
                <a:cs typeface="Angsana New" pitchFamily="18" charset="-34"/>
              </a:rPr>
              <a:t>VCT</a:t>
            </a:r>
            <a:endParaRPr lang="en-US" sz="2800" b="1" dirty="0">
              <a:latin typeface="Angsana New" pitchFamily="18" charset="-34"/>
              <a:cs typeface="Angsana New" pitchFamily="18" charset="-34"/>
            </a:endParaRPr>
          </a:p>
          <a:p>
            <a:pPr marL="318612" lvl="1" indent="-318612">
              <a:spcBef>
                <a:spcPts val="698"/>
              </a:spcBef>
              <a:buClr>
                <a:srgbClr val="C00000"/>
              </a:buClr>
              <a:buSzPct val="60000"/>
              <a:buFont typeface="Wingdings" charset="0"/>
              <a:buChar char=""/>
            </a:pPr>
            <a:endParaRPr lang="en-US" dirty="0"/>
          </a:p>
        </p:txBody>
      </p:sp>
      <p:sp>
        <p:nvSpPr>
          <p:cNvPr id="21509" name="Rectangle 7"/>
          <p:cNvSpPr>
            <a:spLocks noChangeArrowheads="1"/>
          </p:cNvSpPr>
          <p:nvPr/>
        </p:nvSpPr>
        <p:spPr bwMode="auto">
          <a:xfrm>
            <a:off x="5806440" y="3223260"/>
            <a:ext cx="2743200" cy="25401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296" tIns="41148" rIns="82296" bIns="41148">
            <a:spAutoFit/>
          </a:bodyPr>
          <a:lstStyle/>
          <a:p>
            <a:pPr marL="318612" lvl="1" indent="-318612">
              <a:spcBef>
                <a:spcPts val="698"/>
              </a:spcBef>
              <a:buClr>
                <a:srgbClr val="C00000"/>
              </a:buClr>
              <a:buSzPct val="60000"/>
              <a:buFont typeface="Wingdings" charset="0"/>
              <a:buChar char=""/>
            </a:pPr>
            <a:r>
              <a:rPr lang="th-TH" sz="2800" b="1" dirty="0" smtClean="0">
                <a:solidFill>
                  <a:srgbClr val="000000"/>
                </a:solidFill>
                <a:latin typeface="Angsana New" pitchFamily="18" charset="-34"/>
                <a:cs typeface="Angsana New" pitchFamily="18" charset="-34"/>
              </a:rPr>
              <a:t>ยาต้านหลังสัมผัส​เชื้อ </a:t>
            </a:r>
            <a:r>
              <a:rPr lang="en-US" sz="3200" b="1" dirty="0">
                <a:latin typeface="Angsana New" pitchFamily="18" charset="-34"/>
                <a:ea typeface="ＭＳ Ｐゴシック" pitchFamily="64" charset="-128"/>
                <a:cs typeface="Angsana New" pitchFamily="18" charset="-34"/>
              </a:rPr>
              <a:t>(</a:t>
            </a:r>
            <a:r>
              <a:rPr lang="en-US" sz="2800" b="1" dirty="0" smtClean="0">
                <a:solidFill>
                  <a:srgbClr val="000000"/>
                </a:solidFill>
                <a:latin typeface="Angsana New" pitchFamily="18" charset="-34"/>
                <a:cs typeface="Angsana New" pitchFamily="18" charset="-34"/>
              </a:rPr>
              <a:t>PEP</a:t>
            </a:r>
            <a:r>
              <a:rPr lang="en-US" sz="3200" b="1" dirty="0">
                <a:latin typeface="Angsana New" pitchFamily="18" charset="-34"/>
                <a:ea typeface="ＭＳ Ｐゴシック" pitchFamily="64" charset="-128"/>
                <a:cs typeface="Angsana New" pitchFamily="18" charset="-34"/>
              </a:rPr>
              <a:t>)</a:t>
            </a:r>
            <a:endParaRPr lang="en-US" sz="2800" b="1" dirty="0">
              <a:solidFill>
                <a:srgbClr val="000000"/>
              </a:solidFill>
              <a:latin typeface="Angsana New" pitchFamily="18" charset="-34"/>
              <a:cs typeface="Angsana New" pitchFamily="18" charset="-34"/>
            </a:endParaRPr>
          </a:p>
          <a:p>
            <a:pPr marL="318612" lvl="1" indent="-318612">
              <a:spcBef>
                <a:spcPts val="698"/>
              </a:spcBef>
              <a:buClr>
                <a:srgbClr val="C00000"/>
              </a:buClr>
              <a:buSzPct val="60000"/>
              <a:buFont typeface="Wingdings" charset="0"/>
              <a:buChar char=""/>
            </a:pPr>
            <a:r>
              <a:rPr lang="th-TH" sz="2800" b="1" dirty="0" smtClean="0">
                <a:solidFill>
                  <a:srgbClr val="000000"/>
                </a:solidFill>
                <a:latin typeface="Angsana New" pitchFamily="18" charset="-34"/>
                <a:cs typeface="Angsana New" pitchFamily="18" charset="-34"/>
              </a:rPr>
              <a:t>ยาต้านก่อนสัมผัสเชื้อ </a:t>
            </a:r>
            <a:r>
              <a:rPr lang="en-US" sz="2800" b="1" dirty="0">
                <a:latin typeface="Angsana New" pitchFamily="18" charset="-34"/>
                <a:ea typeface="ＭＳ Ｐゴシック" pitchFamily="64" charset="-128"/>
                <a:cs typeface="Angsana New" pitchFamily="18" charset="-34"/>
              </a:rPr>
              <a:t>(</a:t>
            </a:r>
            <a:r>
              <a:rPr lang="en-US" sz="2800" b="1" dirty="0" err="1" smtClean="0">
                <a:solidFill>
                  <a:srgbClr val="000000"/>
                </a:solidFill>
                <a:latin typeface="Angsana New" pitchFamily="18" charset="-34"/>
                <a:cs typeface="Angsana New" pitchFamily="18" charset="-34"/>
              </a:rPr>
              <a:t>PrEP</a:t>
            </a:r>
            <a:r>
              <a:rPr lang="en-US" sz="3200" b="1" dirty="0">
                <a:latin typeface="Angsana New" pitchFamily="18" charset="-34"/>
                <a:ea typeface="ＭＳ Ｐゴシック" pitchFamily="64" charset="-128"/>
                <a:cs typeface="Angsana New" pitchFamily="18" charset="-34"/>
              </a:rPr>
              <a:t>)</a:t>
            </a:r>
            <a:endParaRPr lang="en-US" sz="2800" b="1" dirty="0">
              <a:solidFill>
                <a:srgbClr val="000000"/>
              </a:solidFill>
              <a:latin typeface="Angsana New" pitchFamily="18" charset="-34"/>
              <a:cs typeface="Angsana New" pitchFamily="18" charset="-34"/>
            </a:endParaRPr>
          </a:p>
          <a:p>
            <a:pPr marL="318612" lvl="1" indent="-318612">
              <a:spcBef>
                <a:spcPts val="698"/>
              </a:spcBef>
              <a:buClr>
                <a:srgbClr val="C00000"/>
              </a:buClr>
              <a:buSzPct val="60000"/>
              <a:buFont typeface="Wingdings" charset="0"/>
              <a:buChar char=""/>
            </a:pPr>
            <a:r>
              <a:rPr lang="th-TH" sz="2800" b="1" dirty="0" smtClean="0">
                <a:solidFill>
                  <a:srgbClr val="000000"/>
                </a:solidFill>
                <a:latin typeface="Angsana New" pitchFamily="18" charset="-34"/>
                <a:cs typeface="Angsana New" pitchFamily="18" charset="-34"/>
              </a:rPr>
              <a:t>การรักษาคู่ที่เป็นผู้มีเชื้อ</a:t>
            </a:r>
            <a:endParaRPr lang="en-US" sz="2000" b="1" dirty="0">
              <a:solidFill>
                <a:srgbClr val="000000"/>
              </a:solidFill>
              <a:latin typeface="Angsana New" pitchFamily="18" charset="-34"/>
              <a:cs typeface="Angsana New" pitchFamily="18" charset="-34"/>
            </a:endParaRPr>
          </a:p>
        </p:txBody>
      </p:sp>
      <p:sp>
        <p:nvSpPr>
          <p:cNvPr id="21510" name="Rectangle 8"/>
          <p:cNvSpPr>
            <a:spLocks noChangeArrowheads="1"/>
          </p:cNvSpPr>
          <p:nvPr/>
        </p:nvSpPr>
        <p:spPr bwMode="auto">
          <a:xfrm>
            <a:off x="3543300" y="3343301"/>
            <a:ext cx="2263140" cy="1711751"/>
          </a:xfrm>
          <a:prstGeom prst="rect">
            <a:avLst/>
          </a:prstGeom>
          <a:noFill/>
          <a:ln>
            <a:noFill/>
          </a:ln>
          <a:extLst/>
        </p:spPr>
        <p:txBody>
          <a:bodyPr lIns="82296" tIns="41148" rIns="82296" bIns="41148">
            <a:spAutoFit/>
          </a:bodyPr>
          <a:lstStyle/>
          <a:p>
            <a:pPr marL="318612" lvl="1" indent="-318612">
              <a:spcBef>
                <a:spcPts val="698"/>
              </a:spcBef>
              <a:buClr>
                <a:srgbClr val="C00000"/>
              </a:buClr>
              <a:buSzPct val="60000"/>
              <a:buFont typeface="Wingdings" charset="0"/>
              <a:buChar char=""/>
            </a:pPr>
            <a:r>
              <a:rPr lang="th-TH" sz="2000" b="1" dirty="0" smtClean="0">
                <a:solidFill>
                  <a:srgbClr val="000000"/>
                </a:solidFill>
                <a:latin typeface="Candara" charset="0"/>
              </a:rPr>
              <a:t>สารเคลือบไมโครบิไซด์ทางช่องคลอด / ทางทวารหนัก</a:t>
            </a:r>
            <a:endParaRPr lang="en-US" sz="2000" b="1" dirty="0">
              <a:solidFill>
                <a:srgbClr val="000000"/>
              </a:solidFill>
              <a:latin typeface="Candara" charset="0"/>
            </a:endParaRPr>
          </a:p>
          <a:p>
            <a:pPr marL="318612" lvl="1" indent="-318612">
              <a:spcBef>
                <a:spcPts val="698"/>
              </a:spcBef>
              <a:buClr>
                <a:srgbClr val="C00000"/>
              </a:buClr>
              <a:buSzPct val="60000"/>
              <a:buFont typeface="Wingdings" charset="0"/>
              <a:buChar char=""/>
            </a:pPr>
            <a:r>
              <a:rPr lang="th-TH" sz="2000" b="1" dirty="0" smtClean="0">
                <a:solidFill>
                  <a:srgbClr val="000000"/>
                </a:solidFill>
                <a:latin typeface="Candara" charset="0"/>
              </a:rPr>
              <a:t>การถ่ายทอดเชื้อจากแม่สู่ลูก</a:t>
            </a:r>
            <a:endParaRPr lang="en-US" sz="2000" b="1" dirty="0">
              <a:solidFill>
                <a:srgbClr val="000000"/>
              </a:solidFill>
              <a:latin typeface="Candara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29552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endParaRPr lang="en-US" dirty="0" smtClean="0">
              <a:latin typeface="3 of 9 Barcode"/>
            </a:endParaRPr>
          </a:p>
          <a:p>
            <a:pPr>
              <a:lnSpc>
                <a:spcPct val="80000"/>
              </a:lnSpc>
              <a:buFont typeface="Arial" charset="0"/>
              <a:buNone/>
            </a:pPr>
            <a:endParaRPr lang="en-US" dirty="0" smtClean="0">
              <a:latin typeface="3 of 9 Barcode"/>
            </a:endParaRPr>
          </a:p>
          <a:p>
            <a:endParaRPr lang="en-US" dirty="0" smtClean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9DB8CD7-531E-4E3E-8123-B267ECD58F1F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44475" y="897225"/>
            <a:ext cx="8674237" cy="52289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TextBox 8"/>
          <p:cNvSpPr txBox="1"/>
          <p:nvPr/>
        </p:nvSpPr>
        <p:spPr>
          <a:xfrm>
            <a:off x="244475" y="6126163"/>
            <a:ext cx="8859838" cy="7381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400" dirty="0">
                <a:latin typeface="+mn-lt"/>
                <a:ea typeface="ＭＳ Ｐゴシック" pitchFamily="64" charset="-128"/>
                <a:cs typeface="+mn-cs"/>
              </a:rPr>
              <a:t>Source: </a:t>
            </a:r>
            <a:r>
              <a:rPr lang="en-US" sz="1400" i="1" dirty="0">
                <a:latin typeface="+mn-lt"/>
                <a:ea typeface="ＭＳ Ｐゴシック" pitchFamily="64" charset="-128"/>
                <a:cs typeface="+mn-cs"/>
              </a:rPr>
              <a:t>Roger Tatoud PhD, Senior Programme  Manager, International HIV Clinical Trials Research Mgmt Office, </a:t>
            </a:r>
          </a:p>
          <a:p>
            <a:pPr algn="r">
              <a:defRPr/>
            </a:pPr>
            <a:r>
              <a:rPr lang="en-US" sz="1400" i="1" dirty="0">
                <a:latin typeface="+mn-lt"/>
                <a:ea typeface="ＭＳ Ｐゴシック" pitchFamily="64" charset="-128"/>
                <a:cs typeface="+mn-cs"/>
              </a:rPr>
              <a:t>Imperial College London &amp; </a:t>
            </a:r>
          </a:p>
          <a:p>
            <a:pPr algn="r">
              <a:defRPr/>
            </a:pPr>
            <a:r>
              <a:rPr lang="en-US" sz="1400" i="1" dirty="0">
                <a:latin typeface="+mn-lt"/>
                <a:ea typeface="ＭＳ Ｐゴシック" pitchFamily="64" charset="-128"/>
                <a:cs typeface="+mn-cs"/>
              </a:rPr>
              <a:t>IRMA Steering Committee Member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12450"/>
            <a:ext cx="79771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th-TH" sz="3200" dirty="0" smtClean="0">
                <a:ea typeface="ＭＳ Ｐゴシック" pitchFamily="64" charset="-128"/>
              </a:rPr>
              <a:t>เหตุผลต่อความจำเป็นที่ต้องมีทางเลือกเพิ่มขึ้น</a:t>
            </a:r>
            <a:endParaRPr lang="en-US" sz="3200" dirty="0">
              <a:latin typeface="+mn-lt"/>
              <a:ea typeface="ＭＳ Ｐゴシック" pitchFamily="64" charset="-128"/>
              <a:cs typeface="+mn-cs"/>
            </a:endParaRPr>
          </a:p>
        </p:txBody>
      </p:sp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4">
            <a:lum/>
          </a:blip>
          <a:srcRect/>
          <a:stretch>
            <a:fillRect/>
          </a:stretch>
        </p:blipFill>
        <p:spPr bwMode="auto">
          <a:xfrm>
            <a:off x="62727" y="6452870"/>
            <a:ext cx="788945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1679904086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Title 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530046" cy="1143000"/>
          </a:xfrm>
        </p:spPr>
        <p:txBody>
          <a:bodyPr>
            <a:normAutofit/>
          </a:bodyPr>
          <a:lstStyle/>
          <a:p>
            <a:r>
              <a:rPr lang="th-TH" sz="3200" dirty="0" smtClean="0"/>
              <a:t>ผลสำรวจการใช้ถุงยางอนามัยชายในกลุ่มหญิงจากทั่วโลก</a:t>
            </a:r>
            <a:endParaRPr lang="en-US" sz="3200" dirty="0" smtClean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9E1050-7147-43D0-B136-2080E2250C78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pic>
        <p:nvPicPr>
          <p:cNvPr id="3379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65363" y="1662113"/>
            <a:ext cx="5500687" cy="4764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457200" y="6550025"/>
            <a:ext cx="8647113" cy="3048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/>
            <a:r>
              <a:rPr lang="en-US" sz="1400" dirty="0">
                <a:latin typeface="Calibri" pitchFamily="34" charset="0"/>
              </a:rPr>
              <a:t>Source: </a:t>
            </a:r>
            <a:r>
              <a:rPr lang="en-CA" sz="1400" dirty="0">
                <a:latin typeface="Calibri" pitchFamily="34" charset="0"/>
              </a:rPr>
              <a:t>Measure Evaluation. 1997–2002. http://www.measuredhs.com</a:t>
            </a:r>
            <a:endParaRPr lang="en-US" sz="1400" dirty="0">
              <a:latin typeface="Calibri" pitchFamily="34" charset="0"/>
            </a:endParaRPr>
          </a:p>
        </p:txBody>
      </p:sp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4">
            <a:lum/>
          </a:blip>
          <a:srcRect/>
          <a:stretch>
            <a:fillRect/>
          </a:stretch>
        </p:blipFill>
        <p:spPr bwMode="auto">
          <a:xfrm>
            <a:off x="38100" y="6217920"/>
            <a:ext cx="1840871" cy="64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779551228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dirty="0" smtClean="0"/>
              <a:t>บทเรียนจากการรักษา</a:t>
            </a:r>
            <a:endParaRPr lang="en-US" dirty="0" smtClean="0">
              <a:cs typeface="+mj-cs"/>
            </a:endParaRPr>
          </a:p>
        </p:txBody>
      </p:sp>
      <p:sp>
        <p:nvSpPr>
          <p:cNvPr id="16387" name="Oval 3"/>
          <p:cNvSpPr>
            <a:spLocks noChangeArrowheads="1"/>
          </p:cNvSpPr>
          <p:nvPr/>
        </p:nvSpPr>
        <p:spPr bwMode="auto">
          <a:xfrm>
            <a:off x="1447800" y="1905000"/>
            <a:ext cx="2514600" cy="2514600"/>
          </a:xfrm>
          <a:prstGeom prst="ellipse">
            <a:avLst/>
          </a:prstGeom>
          <a:solidFill>
            <a:srgbClr val="3366FF">
              <a:alpha val="50000"/>
            </a:srgbClr>
          </a:solidFill>
          <a:ln w="9525">
            <a:solidFill>
              <a:srgbClr val="3366FF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6388" name="Oval 4"/>
          <p:cNvSpPr>
            <a:spLocks noChangeArrowheads="1"/>
          </p:cNvSpPr>
          <p:nvPr/>
        </p:nvSpPr>
        <p:spPr bwMode="auto">
          <a:xfrm>
            <a:off x="838200" y="3048000"/>
            <a:ext cx="2514600" cy="2514600"/>
          </a:xfrm>
          <a:prstGeom prst="ellipse">
            <a:avLst/>
          </a:prstGeom>
          <a:solidFill>
            <a:srgbClr val="FF0000">
              <a:alpha val="50000"/>
            </a:srgbClr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6389" name="Oval 5"/>
          <p:cNvSpPr>
            <a:spLocks noChangeArrowheads="1"/>
          </p:cNvSpPr>
          <p:nvPr/>
        </p:nvSpPr>
        <p:spPr bwMode="auto">
          <a:xfrm>
            <a:off x="2057400" y="2971800"/>
            <a:ext cx="2514600" cy="2514600"/>
          </a:xfrm>
          <a:prstGeom prst="ellipse">
            <a:avLst/>
          </a:prstGeom>
          <a:solidFill>
            <a:srgbClr val="FFFF00">
              <a:alpha val="50000"/>
            </a:srgbClr>
          </a:solidFill>
          <a:ln w="9525">
            <a:solidFill>
              <a:srgbClr val="FFFF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6390" name="Text Box 6"/>
          <p:cNvSpPr txBox="1">
            <a:spLocks noChangeArrowheads="1"/>
          </p:cNvSpPr>
          <p:nvPr/>
        </p:nvSpPr>
        <p:spPr bwMode="auto">
          <a:xfrm>
            <a:off x="5105400" y="1773763"/>
            <a:ext cx="3505200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defRPr/>
            </a:pPr>
            <a:r>
              <a:rPr lang="th-TH" sz="4000" b="1" dirty="0" smtClean="0">
                <a:latin typeface="Angsana New" pitchFamily="18" charset="-34"/>
                <a:cs typeface="Angsana New" pitchFamily="18" charset="-34"/>
              </a:rPr>
              <a:t>การรักษาด้วยยาต้านไวรัสชนิด</a:t>
            </a:r>
            <a:r>
              <a:rPr lang="th-TH" sz="4000" b="1" dirty="0" smtClean="0">
                <a:latin typeface="Angsana New" pitchFamily="18" charset="-34"/>
                <a:cs typeface="Angsana New" pitchFamily="18" charset="-34"/>
              </a:rPr>
              <a:t>เดียว</a:t>
            </a:r>
            <a:endParaRPr lang="en-US" sz="4000" b="1" dirty="0">
              <a:latin typeface="Angsana New" pitchFamily="18" charset="-34"/>
              <a:cs typeface="Angsana New" pitchFamily="18" charset="-34"/>
            </a:endParaRPr>
          </a:p>
          <a:p>
            <a:pPr algn="ctr">
              <a:defRPr/>
            </a:pPr>
            <a:r>
              <a:rPr lang="en-US" sz="4000" b="1" dirty="0">
                <a:latin typeface="Angsana New" pitchFamily="18" charset="-34"/>
                <a:cs typeface="Angsana New" pitchFamily="18" charset="-34"/>
              </a:rPr>
              <a:t>vs</a:t>
            </a:r>
            <a:r>
              <a:rPr lang="en-US" sz="4000" b="1" dirty="0" smtClean="0">
                <a:latin typeface="Angsana New" pitchFamily="18" charset="-34"/>
                <a:cs typeface="Angsana New" pitchFamily="18" charset="-34"/>
              </a:rPr>
              <a:t>.</a:t>
            </a:r>
            <a:endParaRPr lang="en-US" sz="4000" b="1" dirty="0">
              <a:latin typeface="Angsana New" pitchFamily="18" charset="-34"/>
              <a:cs typeface="Angsana New" pitchFamily="18" charset="-34"/>
            </a:endParaRPr>
          </a:p>
          <a:p>
            <a:pPr algn="ctr">
              <a:defRPr/>
            </a:pPr>
            <a:r>
              <a:rPr lang="th-TH" sz="4000" b="1" dirty="0" smtClean="0">
                <a:latin typeface="Angsana New" pitchFamily="18" charset="-34"/>
                <a:cs typeface="Angsana New" pitchFamily="18" charset="-34"/>
              </a:rPr>
              <a:t>การรักษาที่ใช้ยาต้านไวรัสหลายชนิด</a:t>
            </a:r>
            <a:r>
              <a:rPr lang="en-US" sz="4000" b="1" dirty="0" smtClean="0">
                <a:latin typeface="Angsana New" pitchFamily="18" charset="-34"/>
                <a:cs typeface="Angsana New" pitchFamily="18" charset="-34"/>
              </a:rPr>
              <a:t> </a:t>
            </a:r>
            <a:endParaRPr lang="en-US" sz="2800" b="1" dirty="0">
              <a:latin typeface="Angsana New" pitchFamily="18" charset="-34"/>
              <a:cs typeface="Angsana New" pitchFamily="18" charset="-34"/>
            </a:endParaRPr>
          </a:p>
        </p:txBody>
      </p:sp>
      <p:sp>
        <p:nvSpPr>
          <p:cNvPr id="16391" name="AutoShape 7"/>
          <p:cNvSpPr>
            <a:spLocks/>
          </p:cNvSpPr>
          <p:nvPr/>
        </p:nvSpPr>
        <p:spPr bwMode="auto">
          <a:xfrm>
            <a:off x="4080132" y="5562600"/>
            <a:ext cx="2377817" cy="1092453"/>
          </a:xfrm>
          <a:prstGeom prst="borderCallout2">
            <a:avLst>
              <a:gd name="adj1" fmla="val 12500"/>
              <a:gd name="adj2" fmla="val -4167"/>
              <a:gd name="adj3" fmla="val 12500"/>
              <a:gd name="adj4" fmla="val -37500"/>
              <a:gd name="adj5" fmla="val -173033"/>
              <a:gd name="adj6" fmla="val -69265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>
              <a:defRPr/>
            </a:pPr>
            <a:r>
              <a:rPr lang="th-TH" sz="3200" b="1" dirty="0" smtClean="0">
                <a:latin typeface="Angsana New" pitchFamily="18" charset="-34"/>
                <a:cs typeface="Angsana New" pitchFamily="18" charset="-34"/>
              </a:rPr>
              <a:t>วิธีการที่ดีที่สุดในการจัดการกับไวรัส</a:t>
            </a:r>
            <a:endParaRPr lang="en-US" sz="3200" b="1" dirty="0">
              <a:latin typeface="Angsana New" pitchFamily="18" charset="-34"/>
              <a:cs typeface="Angsana New" pitchFamily="18" charset="-34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378832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85488" y="5476228"/>
            <a:ext cx="8594113" cy="1200328"/>
          </a:xfrm>
          <a:prstGeom prst="rect">
            <a:avLst/>
          </a:prstGeom>
          <a:solidFill>
            <a:srgbClr val="CCFFCC"/>
          </a:solidFill>
          <a:ln>
            <a:solidFill>
              <a:schemeClr val="bg2">
                <a:lumMod val="10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th-TH" sz="2400" dirty="0" smtClean="0"/>
              <a:t>เอ็งไม่ให้ข้ากินน้ำจากโถส้วม เอ็งดุข้าเมื่อข้าเลียจู๋เลียตูดของข้าเอง และเอ็งสั่งให้ข้าหุบปากเมื่อข้าเห่า</a:t>
            </a:r>
            <a:r>
              <a:rPr lang="en-US" sz="2400" dirty="0" smtClean="0"/>
              <a:t>!!</a:t>
            </a:r>
            <a:r>
              <a:rPr lang="th-TH" sz="2400" dirty="0" smtClean="0"/>
              <a:t> บ้านนี้ไม่มีการยอมรับความหลากหลายทางวัฒนธรรมเลยหรือว่ะ?? </a:t>
            </a:r>
            <a:endParaRPr lang="en-US" sz="2400" dirty="0"/>
          </a:p>
        </p:txBody>
      </p:sp>
      <p:pic>
        <p:nvPicPr>
          <p:cNvPr id="4" name="Picture 3" descr="toon251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667" y="294017"/>
            <a:ext cx="6768602" cy="5182211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374399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Global HIV prevention.tif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919"/>
            <a:ext cx="9144000" cy="631555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1550" y="0"/>
            <a:ext cx="4826961" cy="461665"/>
          </a:xfrm>
          <a:prstGeom prst="rect">
            <a:avLst/>
          </a:prstGeom>
          <a:solidFill>
            <a:srgbClr val="3366FF"/>
          </a:solidFill>
          <a:ln w="12700" cmpd="sng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th-TH" sz="2400" dirty="0" smtClean="0"/>
              <a:t>การวิจัยเพื่อป้องกันเอชไอวีจากทั่วโลก</a:t>
            </a:r>
            <a:endParaRPr lang="en-US" sz="2400" dirty="0"/>
          </a:p>
        </p:txBody>
      </p:sp>
    </p:spTree>
    <p:extLst>
      <p:ext uri="{BB962C8B-B14F-4D97-AF65-F5344CB8AC3E}">
        <p14:creationId xmlns="" xmlns:p14="http://schemas.microsoft.com/office/powerpoint/2010/main" val="3309442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PrEP trials.tiff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3155" r="3155"/>
          <a:stretch>
            <a:fillRect/>
          </a:stretch>
        </p:blipFill>
        <p:spPr>
          <a:xfrm>
            <a:off x="352778" y="101246"/>
            <a:ext cx="8636000" cy="6477001"/>
          </a:xfrm>
        </p:spPr>
      </p:pic>
      <p:sp>
        <p:nvSpPr>
          <p:cNvPr id="2" name="TextBox 1"/>
          <p:cNvSpPr txBox="1"/>
          <p:nvPr/>
        </p:nvSpPr>
        <p:spPr>
          <a:xfrm>
            <a:off x="818444" y="324556"/>
            <a:ext cx="5997222" cy="36933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2700" cmpd="sng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dirty="0" smtClean="0"/>
              <a:t>การวิจัย PrEP ทั้งในอดีตและปัจจุบันจากทั่วโลก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738077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PrEP timelines.tiff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2774" r="2774"/>
          <a:stretch>
            <a:fillRect/>
          </a:stretch>
        </p:blipFill>
        <p:spPr>
          <a:xfrm>
            <a:off x="553625" y="528108"/>
            <a:ext cx="8082375" cy="6061781"/>
          </a:xfrm>
        </p:spPr>
      </p:pic>
      <p:sp>
        <p:nvSpPr>
          <p:cNvPr id="2" name="TextBox 1"/>
          <p:cNvSpPr txBox="1"/>
          <p:nvPr/>
        </p:nvSpPr>
        <p:spPr>
          <a:xfrm>
            <a:off x="2243667" y="340606"/>
            <a:ext cx="4021666" cy="37500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 cmpd="sng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dirty="0" smtClean="0"/>
              <a:t>ระยะเวลาของการวิจัย PrEP 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4364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0" y="234646"/>
            <a:ext cx="8229600" cy="1001713"/>
          </a:xfrm>
        </p:spPr>
        <p:txBody>
          <a:bodyPr/>
          <a:lstStyle/>
          <a:p>
            <a:pPr algn="ctr"/>
            <a:r>
              <a:rPr lang="th-TH" b="1" dirty="0" smtClean="0">
                <a:solidFill>
                  <a:srgbClr val="FF0000"/>
                </a:solidFill>
                <a:latin typeface="Cambria" charset="0"/>
                <a:ea typeface="ＭＳ Ｐゴシック" charset="0"/>
              </a:rPr>
              <a:t>ผลจากการทดลองวัคซีนป้องกัน</a:t>
            </a:r>
            <a:endParaRPr lang="en-US" b="1" dirty="0">
              <a:solidFill>
                <a:srgbClr val="FF0000"/>
              </a:solidFill>
              <a:latin typeface="Cambria" charset="0"/>
              <a:ea typeface="ＭＳ Ｐゴシック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71588"/>
            <a:ext cx="8229600" cy="4525962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buFont typeface="Wingdings" pitchFamily="2" charset="2"/>
              <a:buChar char="§"/>
              <a:defRPr/>
            </a:pPr>
            <a:r>
              <a:rPr lang="th-TH" sz="4000" b="1" dirty="0" smtClean="0">
                <a:latin typeface="Angsana New" pitchFamily="18" charset="-34"/>
                <a:cs typeface="Angsana New" pitchFamily="18" charset="-34"/>
              </a:rPr>
              <a:t>พิสูจน์แนวความคิด</a:t>
            </a:r>
            <a:r>
              <a:rPr lang="en-US" sz="4000" b="1" dirty="0" smtClean="0">
                <a:latin typeface="Angsana New" pitchFamily="18" charset="-34"/>
                <a:cs typeface="Angsana New" pitchFamily="18" charset="-34"/>
              </a:rPr>
              <a:t>! </a:t>
            </a:r>
            <a:r>
              <a:rPr lang="th-TH" sz="4000" b="1" dirty="0" smtClean="0">
                <a:latin typeface="Angsana New" pitchFamily="18" charset="-34"/>
                <a:cs typeface="Angsana New" pitchFamily="18" charset="-34"/>
              </a:rPr>
              <a:t>โครงการวัคซีนปูพื้น-กระตุ้น</a:t>
            </a:r>
            <a:r>
              <a:rPr lang="en-US" sz="4000" b="1" dirty="0" smtClean="0">
                <a:latin typeface="Angsana New" pitchFamily="18" charset="-34"/>
                <a:cs typeface="Angsana New" pitchFamily="18" charset="-34"/>
              </a:rPr>
              <a:t> </a:t>
            </a:r>
            <a:r>
              <a:rPr lang="th-TH" sz="4000" b="1" dirty="0" smtClean="0">
                <a:latin typeface="Angsana New" pitchFamily="18" charset="-34"/>
                <a:cs typeface="Angsana New" pitchFamily="18" charset="-34"/>
              </a:rPr>
              <a:t>แสดงผลในการป้องกันพอประมาณ </a:t>
            </a:r>
            <a:r>
              <a:rPr lang="en-US" sz="4000" b="1" dirty="0" smtClean="0">
                <a:latin typeface="Angsana New" pitchFamily="18" charset="-34"/>
                <a:cs typeface="Angsana New" pitchFamily="18" charset="-34"/>
              </a:rPr>
              <a:t>(</a:t>
            </a:r>
            <a:r>
              <a:rPr lang="th-TH" sz="4000" b="1" dirty="0" smtClean="0">
                <a:latin typeface="Angsana New" pitchFamily="18" charset="-34"/>
                <a:cs typeface="Angsana New" pitchFamily="18" charset="-34"/>
              </a:rPr>
              <a:t>ลดความเสี่ยง </a:t>
            </a:r>
            <a:r>
              <a:rPr lang="en-US" sz="4000" b="1" dirty="0" smtClean="0">
                <a:latin typeface="Angsana New" pitchFamily="18" charset="-34"/>
                <a:cs typeface="Angsana New" pitchFamily="18" charset="-34"/>
              </a:rPr>
              <a:t>31%)—</a:t>
            </a:r>
            <a:r>
              <a:rPr lang="th-TH" sz="4000" b="1" dirty="0" smtClean="0">
                <a:latin typeface="Angsana New" pitchFamily="18" charset="-34"/>
                <a:cs typeface="Angsana New" pitchFamily="18" charset="-34"/>
              </a:rPr>
              <a:t>ประกาศผลพฤศจิกายน</a:t>
            </a:r>
            <a:r>
              <a:rPr lang="en-US" sz="4000" b="1" dirty="0" smtClean="0">
                <a:latin typeface="Angsana New" pitchFamily="18" charset="-34"/>
                <a:cs typeface="Angsana New" pitchFamily="18" charset="-34"/>
              </a:rPr>
              <a:t> 2</a:t>
            </a:r>
            <a:r>
              <a:rPr lang="th-TH" sz="4000" b="1" dirty="0" smtClean="0">
                <a:latin typeface="Angsana New" pitchFamily="18" charset="-34"/>
                <a:cs typeface="Angsana New" pitchFamily="18" charset="-34"/>
              </a:rPr>
              <a:t>552</a:t>
            </a:r>
            <a:endParaRPr lang="en-US" sz="4000" b="1" dirty="0" smtClean="0">
              <a:latin typeface="Angsana New" pitchFamily="18" charset="-34"/>
              <a:cs typeface="Angsana New" pitchFamily="18" charset="-34"/>
            </a:endParaRPr>
          </a:p>
          <a:p>
            <a:pPr>
              <a:spcBef>
                <a:spcPts val="0"/>
              </a:spcBef>
              <a:buFont typeface="Wingdings" pitchFamily="2" charset="2"/>
              <a:buChar char="§"/>
              <a:defRPr/>
            </a:pPr>
            <a:endParaRPr lang="en-US" sz="4000" b="1" dirty="0" smtClean="0">
              <a:latin typeface="Angsana New" pitchFamily="18" charset="-34"/>
              <a:cs typeface="Angsana New" pitchFamily="18" charset="-34"/>
            </a:endParaRPr>
          </a:p>
          <a:p>
            <a:pPr>
              <a:spcBef>
                <a:spcPts val="0"/>
              </a:spcBef>
              <a:buFont typeface="Wingdings" pitchFamily="2" charset="2"/>
              <a:buChar char="§"/>
              <a:defRPr/>
            </a:pPr>
            <a:r>
              <a:rPr lang="th-TH" sz="4000" b="1" dirty="0" smtClean="0">
                <a:latin typeface="Angsana New" pitchFamily="18" charset="-34"/>
                <a:cs typeface="Angsana New" pitchFamily="18" charset="-34"/>
              </a:rPr>
              <a:t>นักวิจัยกำลังพยายามทำความเข้าใจว่าทำไมสูตรวัคซีนที่ใช้ในโครงการ</a:t>
            </a:r>
            <a:r>
              <a:rPr lang="en-US" sz="4000" b="1" dirty="0" smtClean="0">
                <a:latin typeface="Angsana New" pitchFamily="18" charset="-34"/>
                <a:cs typeface="Angsana New" pitchFamily="18" charset="-34"/>
              </a:rPr>
              <a:t> RV144 </a:t>
            </a:r>
            <a:r>
              <a:rPr lang="th-TH" sz="4000" b="1" dirty="0" smtClean="0">
                <a:latin typeface="Angsana New" pitchFamily="18" charset="-34"/>
                <a:cs typeface="Angsana New" pitchFamily="18" charset="-34"/>
              </a:rPr>
              <a:t>ได้ผลเพื่อที่อาจจะสามารถเพิ่มประสิทธิผลของวัคซีนอื่นๆได้</a:t>
            </a:r>
            <a:r>
              <a:rPr lang="en-US" sz="4000" b="1" dirty="0" smtClean="0">
                <a:latin typeface="Angsana New" pitchFamily="18" charset="-34"/>
                <a:cs typeface="Angsana New" pitchFamily="18" charset="-34"/>
              </a:rPr>
              <a:t> </a:t>
            </a:r>
          </a:p>
          <a:p>
            <a:pPr marL="0" indent="0">
              <a:buFont typeface="Wingdings" pitchFamily="2" charset="2"/>
              <a:buNone/>
              <a:defRPr/>
            </a:pPr>
            <a:endParaRPr lang="en-US" dirty="0" smtClean="0"/>
          </a:p>
          <a:p>
            <a:pPr>
              <a:buFont typeface="Wingdings" pitchFamily="2" charset="2"/>
              <a:buChar char="§"/>
              <a:defRPr/>
            </a:pPr>
            <a:endParaRPr lang="en-US" sz="3000" dirty="0"/>
          </a:p>
        </p:txBody>
      </p:sp>
      <p:pic>
        <p:nvPicPr>
          <p:cNvPr id="2051" name="Picture 3" descr="C:\Documents and Settings\nusarat\My Documents\TNCA\2012\Training modules\prime boost vaccine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48300" y="4876800"/>
            <a:ext cx="2661593" cy="1769786"/>
          </a:xfrm>
          <a:prstGeom prst="rect">
            <a:avLst/>
          </a:prstGeom>
          <a:noFill/>
        </p:spPr>
      </p:pic>
      <p:pic>
        <p:nvPicPr>
          <p:cNvPr id="2053" name="Picture 5" descr="C:\Documents and Settings\nusarat\My Documents\ADMIN\AFRIMS logo\Logo+big.gif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" y="234646"/>
            <a:ext cx="1106416" cy="768668"/>
          </a:xfrm>
          <a:prstGeom prst="rect">
            <a:avLst/>
          </a:prstGeom>
          <a:noFill/>
        </p:spPr>
      </p:pic>
      <p:pic>
        <p:nvPicPr>
          <p:cNvPr id="2055" name="Picture 7" descr="C:\Documents and Settings\nusarat\My Documents\ADMIN\AFRIMS logo\02_AFRIMS_2011_01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888480" y="378815"/>
            <a:ext cx="2046893" cy="48035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3818367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3400" y="0"/>
            <a:ext cx="7772400" cy="1143000"/>
          </a:xfrm>
        </p:spPr>
        <p:txBody>
          <a:bodyPr>
            <a:normAutofit/>
          </a:bodyPr>
          <a:lstStyle/>
          <a:p>
            <a:r>
              <a:rPr lang="th-TH" b="1" dirty="0" smtClean="0">
                <a:latin typeface="Browallia New" pitchFamily="34" charset="-34"/>
              </a:rPr>
              <a:t>สรุปประเด็นโครงการ </a:t>
            </a:r>
            <a:r>
              <a:rPr lang="en-US" b="1" dirty="0" smtClean="0">
                <a:latin typeface="Browallia New" pitchFamily="34" charset="-34"/>
              </a:rPr>
              <a:t>RV144</a:t>
            </a:r>
            <a:endParaRPr lang="th-TH" b="1" dirty="0" smtClean="0">
              <a:latin typeface="Browallia New" pitchFamily="34" charset="-34"/>
            </a:endParaRPr>
          </a:p>
        </p:txBody>
      </p:sp>
      <p:sp>
        <p:nvSpPr>
          <p:cNvPr id="11267" name="Rectangle 6"/>
          <p:cNvSpPr>
            <a:spLocks noChangeArrowheads="1"/>
          </p:cNvSpPr>
          <p:nvPr/>
        </p:nvSpPr>
        <p:spPr bwMode="auto">
          <a:xfrm>
            <a:off x="1447800" y="1600200"/>
            <a:ext cx="1828800" cy="838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spcBef>
                <a:spcPct val="30000"/>
              </a:spcBef>
            </a:pPr>
            <a:endParaRPr lang="th-TH" sz="2400" b="1">
              <a:cs typeface="Angsana New" pitchFamily="18" charset="-34"/>
            </a:endParaRPr>
          </a:p>
          <a:p>
            <a:pPr algn="ctr"/>
            <a:endParaRPr lang="th-TH"/>
          </a:p>
        </p:txBody>
      </p:sp>
      <p:sp>
        <p:nvSpPr>
          <p:cNvPr id="11268" name="Rectangle 7"/>
          <p:cNvSpPr>
            <a:spLocks noChangeArrowheads="1"/>
          </p:cNvSpPr>
          <p:nvPr/>
        </p:nvSpPr>
        <p:spPr bwMode="auto">
          <a:xfrm>
            <a:off x="5943600" y="1600200"/>
            <a:ext cx="1828800" cy="838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spcBef>
                <a:spcPct val="30000"/>
              </a:spcBef>
            </a:pPr>
            <a:endParaRPr lang="th-TH">
              <a:cs typeface="Angsana New" pitchFamily="18" charset="-34"/>
            </a:endParaRPr>
          </a:p>
          <a:p>
            <a:pPr algn="ctr" eaLnBrk="0" hangingPunct="0">
              <a:spcBef>
                <a:spcPct val="30000"/>
              </a:spcBef>
            </a:pPr>
            <a:endParaRPr lang="th-TH">
              <a:cs typeface="Angsana New" pitchFamily="18" charset="-34"/>
            </a:endParaRPr>
          </a:p>
          <a:p>
            <a:pPr algn="ctr"/>
            <a:endParaRPr lang="th-TH"/>
          </a:p>
        </p:txBody>
      </p:sp>
      <p:sp>
        <p:nvSpPr>
          <p:cNvPr id="11269" name="Rectangle 8"/>
          <p:cNvSpPr>
            <a:spLocks noChangeArrowheads="1"/>
          </p:cNvSpPr>
          <p:nvPr/>
        </p:nvSpPr>
        <p:spPr bwMode="auto">
          <a:xfrm>
            <a:off x="914400" y="3429000"/>
            <a:ext cx="2743200" cy="8699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spcBef>
                <a:spcPct val="30000"/>
              </a:spcBef>
            </a:pPr>
            <a:endParaRPr lang="th-TH">
              <a:cs typeface="Angsana New" pitchFamily="18" charset="-34"/>
            </a:endParaRPr>
          </a:p>
          <a:p>
            <a:pPr algn="ctr"/>
            <a:endParaRPr lang="th-TH"/>
          </a:p>
        </p:txBody>
      </p:sp>
      <p:sp>
        <p:nvSpPr>
          <p:cNvPr id="11271" name="Rectangle 10"/>
          <p:cNvSpPr>
            <a:spLocks noChangeArrowheads="1"/>
          </p:cNvSpPr>
          <p:nvPr/>
        </p:nvSpPr>
        <p:spPr bwMode="auto">
          <a:xfrm>
            <a:off x="914400" y="5257801"/>
            <a:ext cx="2743200" cy="885304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th-TH" sz="2000" b="1" dirty="0">
              <a:latin typeface="Browallia New" pitchFamily="34" charset="-34"/>
              <a:cs typeface="Browallia New" pitchFamily="34" charset="-34"/>
            </a:endParaRPr>
          </a:p>
        </p:txBody>
      </p:sp>
      <p:sp>
        <p:nvSpPr>
          <p:cNvPr id="11275" name="Rectangle 15"/>
          <p:cNvSpPr>
            <a:spLocks noChangeArrowheads="1"/>
          </p:cNvSpPr>
          <p:nvPr/>
        </p:nvSpPr>
        <p:spPr bwMode="auto">
          <a:xfrm>
            <a:off x="1447800" y="1752600"/>
            <a:ext cx="1838325" cy="51911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spcBef>
                <a:spcPct val="30000"/>
              </a:spcBef>
            </a:pPr>
            <a:r>
              <a:rPr lang="th-TH" sz="2800" b="1" dirty="0">
                <a:cs typeface="Angsana New" pitchFamily="18" charset="-34"/>
              </a:rPr>
              <a:t>สิ่งสำคัญที่ค้นพบ</a:t>
            </a:r>
          </a:p>
        </p:txBody>
      </p:sp>
      <p:sp>
        <p:nvSpPr>
          <p:cNvPr id="11276" name="Rectangle 16"/>
          <p:cNvSpPr>
            <a:spLocks noChangeArrowheads="1"/>
          </p:cNvSpPr>
          <p:nvPr/>
        </p:nvSpPr>
        <p:spPr bwMode="auto">
          <a:xfrm>
            <a:off x="5943600" y="1752600"/>
            <a:ext cx="1828800" cy="51911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th-TH" sz="2800" b="1" dirty="0">
                <a:cs typeface="Angsana New" pitchFamily="18" charset="-34"/>
              </a:rPr>
              <a:t>คำถามหลัก</a:t>
            </a:r>
          </a:p>
        </p:txBody>
      </p:sp>
      <p:sp>
        <p:nvSpPr>
          <p:cNvPr id="11277" name="Rectangle 17"/>
          <p:cNvSpPr>
            <a:spLocks noChangeArrowheads="1"/>
          </p:cNvSpPr>
          <p:nvPr/>
        </p:nvSpPr>
        <p:spPr bwMode="auto">
          <a:xfrm>
            <a:off x="914400" y="3591064"/>
            <a:ext cx="2743200" cy="95410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th-TH" sz="2800" b="1" dirty="0">
                <a:latin typeface="Browallia New" pitchFamily="34" charset="-34"/>
                <a:cs typeface="Browallia New" pitchFamily="34" charset="-34"/>
              </a:rPr>
              <a:t>วัคซีนมีประสิทธิผลสูง</a:t>
            </a:r>
          </a:p>
          <a:p>
            <a:pPr algn="ctr"/>
            <a:r>
              <a:rPr lang="th-TH" sz="2800" b="1" dirty="0">
                <a:latin typeface="Browallia New" pitchFamily="34" charset="-34"/>
                <a:cs typeface="Browallia New" pitchFamily="34" charset="-34"/>
              </a:rPr>
              <a:t>   ในกลุ่มที่เสี่ยงต่ำ</a:t>
            </a:r>
          </a:p>
        </p:txBody>
      </p:sp>
      <p:sp>
        <p:nvSpPr>
          <p:cNvPr id="11278" name="Rectangle 18"/>
          <p:cNvSpPr>
            <a:spLocks noChangeArrowheads="1"/>
          </p:cNvSpPr>
          <p:nvPr/>
        </p:nvSpPr>
        <p:spPr bwMode="auto">
          <a:xfrm>
            <a:off x="5486400" y="3429000"/>
            <a:ext cx="2743200" cy="108337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0" hangingPunct="0">
              <a:spcBef>
                <a:spcPct val="30000"/>
              </a:spcBef>
            </a:pPr>
            <a:r>
              <a:rPr lang="th-TH" sz="2800" b="1" dirty="0">
                <a:latin typeface="Browallia New" pitchFamily="34" charset="-34"/>
                <a:cs typeface="Browallia New" pitchFamily="34" charset="-34"/>
              </a:rPr>
              <a:t>วัคซีนจะมีประสิทธิผล</a:t>
            </a:r>
          </a:p>
          <a:p>
            <a:pPr algn="ctr" eaLnBrk="0" hangingPunct="0">
              <a:spcBef>
                <a:spcPct val="30000"/>
              </a:spcBef>
            </a:pPr>
            <a:r>
              <a:rPr lang="th-TH" sz="2800" b="1" dirty="0">
                <a:latin typeface="Browallia New" pitchFamily="34" charset="-34"/>
                <a:cs typeface="Browallia New" pitchFamily="34" charset="-34"/>
              </a:rPr>
              <a:t> ในกลุ่มเสี่ยงหรือไม่</a:t>
            </a:r>
          </a:p>
        </p:txBody>
      </p:sp>
      <p:sp>
        <p:nvSpPr>
          <p:cNvPr id="11279" name="Rectangle 19"/>
          <p:cNvSpPr>
            <a:spLocks noChangeArrowheads="1"/>
          </p:cNvSpPr>
          <p:nvPr/>
        </p:nvSpPr>
        <p:spPr bwMode="auto">
          <a:xfrm>
            <a:off x="5486399" y="5010150"/>
            <a:ext cx="3657601" cy="108337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spcBef>
                <a:spcPct val="30000"/>
              </a:spcBef>
            </a:pPr>
            <a:r>
              <a:rPr lang="th-TH" sz="2800" b="1" dirty="0">
                <a:latin typeface="Browallia New" pitchFamily="34" charset="-34"/>
                <a:cs typeface="Browallia New" pitchFamily="34" charset="-34"/>
              </a:rPr>
              <a:t>จะคงประสิทธิผลของวัคซีนด้วย</a:t>
            </a:r>
          </a:p>
          <a:p>
            <a:pPr eaLnBrk="0" hangingPunct="0">
              <a:spcBef>
                <a:spcPct val="30000"/>
              </a:spcBef>
            </a:pPr>
            <a:r>
              <a:rPr lang="th-TH" sz="2800" b="1" dirty="0">
                <a:latin typeface="Browallia New" pitchFamily="34" charset="-34"/>
                <a:cs typeface="Browallia New" pitchFamily="34" charset="-34"/>
              </a:rPr>
              <a:t>การกระตุ้นที่เดือน </a:t>
            </a:r>
            <a:r>
              <a:rPr lang="en-US" sz="2800" b="1" dirty="0">
                <a:latin typeface="Browallia New" pitchFamily="34" charset="-34"/>
                <a:cs typeface="Browallia New" pitchFamily="34" charset="-34"/>
              </a:rPr>
              <a:t>12</a:t>
            </a:r>
            <a:r>
              <a:rPr lang="th-TH" sz="2800" b="1" dirty="0">
                <a:latin typeface="Browallia New" pitchFamily="34" charset="-34"/>
                <a:cs typeface="Browallia New" pitchFamily="34" charset="-34"/>
              </a:rPr>
              <a:t> ได้หรือไม่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400" y="5496774"/>
            <a:ext cx="3124200" cy="83099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th-TH" sz="2400" b="1" dirty="0" smtClean="0">
                <a:latin typeface="Browallia New" pitchFamily="34" charset="-34"/>
                <a:cs typeface="Browallia New" pitchFamily="34" charset="-34"/>
              </a:rPr>
              <a:t>วัคซีนมีประสิทธิผลระดับหนึ่ง </a:t>
            </a:r>
            <a:endParaRPr lang="en-US" sz="2400" b="1" dirty="0" smtClean="0">
              <a:latin typeface="Browallia New" pitchFamily="34" charset="-34"/>
              <a:cs typeface="Browallia New" pitchFamily="34" charset="-34"/>
            </a:endParaRPr>
          </a:p>
          <a:p>
            <a:pPr algn="ctr"/>
            <a:r>
              <a:rPr lang="th-TH" sz="2400" b="1" dirty="0" smtClean="0">
                <a:latin typeface="Browallia New" pitchFamily="34" charset="-34"/>
                <a:cs typeface="Browallia New" pitchFamily="34" charset="-34"/>
              </a:rPr>
              <a:t>(</a:t>
            </a:r>
            <a:r>
              <a:rPr lang="en-US" sz="2400" b="1" dirty="0" smtClean="0">
                <a:latin typeface="Browallia New" pitchFamily="34" charset="-34"/>
                <a:cs typeface="Browallia New" pitchFamily="34" charset="-34"/>
              </a:rPr>
              <a:t>31.2%</a:t>
            </a:r>
            <a:r>
              <a:rPr lang="th-TH" sz="2400" b="1" dirty="0" smtClean="0">
                <a:latin typeface="Browallia New" pitchFamily="34" charset="-34"/>
                <a:cs typeface="Browallia New" pitchFamily="34" charset="-34"/>
              </a:rPr>
              <a:t>)</a:t>
            </a:r>
            <a:r>
              <a:rPr lang="en-US" sz="2400" b="1" dirty="0" smtClean="0">
                <a:latin typeface="Browallia New" pitchFamily="34" charset="-34"/>
                <a:cs typeface="Browallia New" pitchFamily="34" charset="-34"/>
              </a:rPr>
              <a:t> </a:t>
            </a:r>
            <a:r>
              <a:rPr lang="th-TH" sz="2400" b="1" dirty="0" smtClean="0">
                <a:latin typeface="Browallia New" pitchFamily="34" charset="-34"/>
                <a:cs typeface="Browallia New" pitchFamily="34" charset="-34"/>
              </a:rPr>
              <a:t>ที่เดือน</a:t>
            </a:r>
            <a:r>
              <a:rPr lang="en-US" sz="2400" b="1" dirty="0" smtClean="0">
                <a:cs typeface="Angsana New" pitchFamily="18" charset="-34"/>
              </a:rPr>
              <a:t> </a:t>
            </a:r>
            <a:r>
              <a:rPr lang="en-US" sz="2400" b="1" dirty="0" smtClean="0">
                <a:latin typeface="Browallia New" pitchFamily="34" charset="-34"/>
                <a:cs typeface="Browallia New" pitchFamily="34" charset="-34"/>
              </a:rPr>
              <a:t>42</a:t>
            </a:r>
            <a:endParaRPr lang="th-TH" sz="2400" b="1" dirty="0">
              <a:latin typeface="Browallia New" pitchFamily="34" charset="-34"/>
              <a:cs typeface="Browallia New" pitchFamily="34" charset="-34"/>
            </a:endParaRPr>
          </a:p>
        </p:txBody>
      </p:sp>
      <p:sp>
        <p:nvSpPr>
          <p:cNvPr id="17" name="Notched Right Arrow 16"/>
          <p:cNvSpPr/>
          <p:nvPr/>
        </p:nvSpPr>
        <p:spPr>
          <a:xfrm>
            <a:off x="4025900" y="3789432"/>
            <a:ext cx="1155700" cy="396736"/>
          </a:xfrm>
          <a:prstGeom prst="notchedRightArrow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Notched Right Arrow 17"/>
          <p:cNvSpPr/>
          <p:nvPr/>
        </p:nvSpPr>
        <p:spPr>
          <a:xfrm>
            <a:off x="4025900" y="5661284"/>
            <a:ext cx="1155700" cy="396736"/>
          </a:xfrm>
          <a:prstGeom prst="notchedRightArrow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Notched Right Arrow 18"/>
          <p:cNvSpPr/>
          <p:nvPr/>
        </p:nvSpPr>
        <p:spPr>
          <a:xfrm>
            <a:off x="4025900" y="1874977"/>
            <a:ext cx="1155700" cy="396736"/>
          </a:xfrm>
          <a:prstGeom prst="notchedRightArrow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C:\Documents and Settings\nusarat\My Documents\TNCA\2012\Training modules\Questions-and-Answers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600637" y="1874977"/>
            <a:ext cx="1543363" cy="1538218"/>
          </a:xfrm>
          <a:prstGeom prst="rect">
            <a:avLst/>
          </a:prstGeom>
          <a:noFill/>
        </p:spPr>
      </p:pic>
      <p:pic>
        <p:nvPicPr>
          <p:cNvPr id="21" name="Picture 5" descr="C:\Documents and Settings\nusarat\My Documents\ADMIN\AFRIMS logo\Logo+big.gif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57200" y="234646"/>
            <a:ext cx="1106416" cy="768668"/>
          </a:xfrm>
          <a:prstGeom prst="rect">
            <a:avLst/>
          </a:prstGeom>
          <a:noFill/>
        </p:spPr>
      </p:pic>
      <p:pic>
        <p:nvPicPr>
          <p:cNvPr id="22" name="Picture 7" descr="C:\Documents and Settings\nusarat\My Documents\ADMIN\AFRIMS logo\02_AFRIMS_2011_01.jp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888480" y="378815"/>
            <a:ext cx="2046893" cy="480354"/>
          </a:xfrm>
          <a:prstGeom prst="rect">
            <a:avLst/>
          </a:prstGeom>
          <a:noFill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46760" y="2849880"/>
            <a:ext cx="19507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RV144</a:t>
            </a:r>
            <a:endParaRPr lang="en-US" sz="3200" dirty="0"/>
          </a:p>
        </p:txBody>
      </p:sp>
      <p:cxnSp>
        <p:nvCxnSpPr>
          <p:cNvPr id="6" name="Straight Arrow Connector 5"/>
          <p:cNvCxnSpPr/>
          <p:nvPr/>
        </p:nvCxnSpPr>
        <p:spPr>
          <a:xfrm rot="5400000" flipH="1" flipV="1">
            <a:off x="2019300" y="2004060"/>
            <a:ext cx="807720" cy="7010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V="1">
            <a:off x="2087880" y="3078480"/>
            <a:ext cx="975360" cy="152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2087880" y="3474720"/>
            <a:ext cx="853440" cy="59436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1783080" y="3596640"/>
            <a:ext cx="1432560" cy="11582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4389120" y="4754880"/>
            <a:ext cx="120396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itle 20"/>
          <p:cNvSpPr>
            <a:spLocks noGrp="1"/>
          </p:cNvSpPr>
          <p:nvPr>
            <p:ph type="title" idx="4294967295"/>
          </p:nvPr>
        </p:nvSpPr>
        <p:spPr>
          <a:xfrm>
            <a:off x="274320" y="287669"/>
            <a:ext cx="8229600" cy="1143000"/>
          </a:xfrm>
        </p:spPr>
        <p:txBody>
          <a:bodyPr/>
          <a:lstStyle/>
          <a:p>
            <a:r>
              <a:rPr lang="th-TH" b="1" dirty="0" smtClean="0"/>
              <a:t>โครงการวิจัยวัคซีนในไทย</a:t>
            </a:r>
            <a:endParaRPr lang="en-US" b="1" dirty="0"/>
          </a:p>
        </p:txBody>
      </p:sp>
      <p:pic>
        <p:nvPicPr>
          <p:cNvPr id="23" name="Picture 5" descr="C:\Documents and Settings\nusarat\My Documents\ADMIN\AFRIMS logo\Logo+big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234646"/>
            <a:ext cx="1106416" cy="768668"/>
          </a:xfrm>
          <a:prstGeom prst="rect">
            <a:avLst/>
          </a:prstGeom>
          <a:noFill/>
        </p:spPr>
      </p:pic>
      <p:pic>
        <p:nvPicPr>
          <p:cNvPr id="24" name="Picture 7" descr="C:\Documents and Settings\nusarat\My Documents\ADMIN\AFRIMS logo\02_AFRIMS_2011_01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88480" y="378815"/>
            <a:ext cx="2046893" cy="480354"/>
          </a:xfrm>
          <a:prstGeom prst="rect">
            <a:avLst/>
          </a:prstGeom>
          <a:noFill/>
        </p:spPr>
      </p:pic>
      <p:sp>
        <p:nvSpPr>
          <p:cNvPr id="26" name="TextBox 25"/>
          <p:cNvSpPr txBox="1"/>
          <p:nvPr/>
        </p:nvSpPr>
        <p:spPr>
          <a:xfrm>
            <a:off x="2941320" y="1752600"/>
            <a:ext cx="16306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RV305</a:t>
            </a:r>
            <a:endParaRPr lang="en-US" sz="2000" dirty="0"/>
          </a:p>
        </p:txBody>
      </p:sp>
      <p:sp>
        <p:nvSpPr>
          <p:cNvPr id="27" name="TextBox 26"/>
          <p:cNvSpPr txBox="1"/>
          <p:nvPr/>
        </p:nvSpPr>
        <p:spPr>
          <a:xfrm>
            <a:off x="3215640" y="2849880"/>
            <a:ext cx="16459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RV306</a:t>
            </a:r>
            <a:endParaRPr lang="en-US" sz="2000" dirty="0"/>
          </a:p>
        </p:txBody>
      </p:sp>
      <p:sp>
        <p:nvSpPr>
          <p:cNvPr id="28" name="TextBox 27"/>
          <p:cNvSpPr txBox="1"/>
          <p:nvPr/>
        </p:nvSpPr>
        <p:spPr>
          <a:xfrm>
            <a:off x="3139440" y="3884414"/>
            <a:ext cx="21488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RV328</a:t>
            </a:r>
            <a:endParaRPr lang="en-US" sz="2000" dirty="0"/>
          </a:p>
        </p:txBody>
      </p:sp>
      <p:sp>
        <p:nvSpPr>
          <p:cNvPr id="29" name="TextBox 28"/>
          <p:cNvSpPr txBox="1"/>
          <p:nvPr/>
        </p:nvSpPr>
        <p:spPr>
          <a:xfrm>
            <a:off x="3215640" y="4570214"/>
            <a:ext cx="11734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RV348</a:t>
            </a:r>
            <a:endParaRPr lang="en-US" sz="2000" dirty="0"/>
          </a:p>
        </p:txBody>
      </p:sp>
      <p:sp>
        <p:nvSpPr>
          <p:cNvPr id="30" name="TextBox 29"/>
          <p:cNvSpPr txBox="1"/>
          <p:nvPr/>
        </p:nvSpPr>
        <p:spPr>
          <a:xfrm>
            <a:off x="5867400" y="4571802"/>
            <a:ext cx="15544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RV MSM</a:t>
            </a:r>
            <a:endParaRPr lang="en-US" sz="2000" dirty="0"/>
          </a:p>
        </p:txBody>
      </p:sp>
      <p:sp>
        <p:nvSpPr>
          <p:cNvPr id="32" name="TextBox 31"/>
          <p:cNvSpPr txBox="1"/>
          <p:nvPr/>
        </p:nvSpPr>
        <p:spPr>
          <a:xfrm>
            <a:off x="1136896" y="5701248"/>
            <a:ext cx="37246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dirty="0" smtClean="0"/>
              <a:t>มีแผนเริ่มโครงการในปี </a:t>
            </a:r>
            <a:r>
              <a:rPr lang="en-US" sz="2800" dirty="0" smtClean="0"/>
              <a:t>2555</a:t>
            </a:r>
            <a:endParaRPr lang="en-US" sz="2800" dirty="0"/>
          </a:p>
        </p:txBody>
      </p:sp>
      <p:sp>
        <p:nvSpPr>
          <p:cNvPr id="33" name="TextBox 32"/>
          <p:cNvSpPr txBox="1"/>
          <p:nvPr/>
        </p:nvSpPr>
        <p:spPr>
          <a:xfrm>
            <a:off x="5288279" y="5701248"/>
            <a:ext cx="3647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dirty="0" smtClean="0"/>
              <a:t>ยังไม่ได้กำหนดเวลาเริ่มโครงการ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3400" y="0"/>
            <a:ext cx="7772400" cy="1143000"/>
          </a:xfrm>
        </p:spPr>
        <p:txBody>
          <a:bodyPr/>
          <a:lstStyle/>
          <a:p>
            <a:r>
              <a:rPr lang="th-TH" b="1" dirty="0" smtClean="0">
                <a:cs typeface="Angsana New" pitchFamily="18" charset="-34"/>
              </a:rPr>
              <a:t>สูตรวัคซีนที่ได้รับการพัฒนา</a:t>
            </a:r>
          </a:p>
        </p:txBody>
      </p:sp>
      <p:sp>
        <p:nvSpPr>
          <p:cNvPr id="14339" name="Rectangle 4"/>
          <p:cNvSpPr>
            <a:spLocks noChangeArrowheads="1"/>
          </p:cNvSpPr>
          <p:nvPr/>
        </p:nvSpPr>
        <p:spPr bwMode="auto">
          <a:xfrm>
            <a:off x="533400" y="1143000"/>
            <a:ext cx="77343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th-TH" sz="2400" b="1" dirty="0">
                <a:latin typeface="Browallia New" pitchFamily="34" charset="-34"/>
                <a:cs typeface="+mj-cs"/>
              </a:rPr>
              <a:t>ปัจจุบันมีสูตรวัคซีนที่ผ่านการพัฒนาถึงระยะประเมินประสิทธิผล (ระยะที่ </a:t>
            </a:r>
            <a:r>
              <a:rPr lang="en-US" sz="2400" b="1" dirty="0">
                <a:latin typeface="Browallia New" pitchFamily="34" charset="-34"/>
                <a:cs typeface="+mj-cs"/>
              </a:rPr>
              <a:t>3</a:t>
            </a:r>
            <a:r>
              <a:rPr lang="th-TH" sz="2400" b="1" dirty="0">
                <a:latin typeface="Browallia New" pitchFamily="34" charset="-34"/>
                <a:cs typeface="+mj-cs"/>
              </a:rPr>
              <a:t>) เพียง </a:t>
            </a:r>
            <a:r>
              <a:rPr lang="en-US" sz="2400" b="1" dirty="0">
                <a:latin typeface="Browallia New" pitchFamily="34" charset="-34"/>
                <a:cs typeface="+mj-cs"/>
              </a:rPr>
              <a:t>3 </a:t>
            </a:r>
            <a:r>
              <a:rPr lang="th-TH" sz="2400" b="1" dirty="0">
                <a:latin typeface="Browallia New" pitchFamily="34" charset="-34"/>
                <a:cs typeface="+mj-cs"/>
              </a:rPr>
              <a:t>สูตร</a:t>
            </a:r>
          </a:p>
          <a:p>
            <a:r>
              <a:rPr lang="th-TH" sz="2400" b="1" dirty="0">
                <a:latin typeface="Browallia New" pitchFamily="34" charset="-34"/>
                <a:cs typeface="+mj-cs"/>
              </a:rPr>
              <a:t>แต่ละโครงการได้ผลการวิจัยที่ไม่คาดคิด และส่งผลต่อปรับเปลี่ยนทิศทางการวิจัยวัคซีนเอดส์</a:t>
            </a:r>
          </a:p>
        </p:txBody>
      </p:sp>
      <p:sp>
        <p:nvSpPr>
          <p:cNvPr id="14340" name="Line 6"/>
          <p:cNvSpPr>
            <a:spLocks noChangeShapeType="1"/>
          </p:cNvSpPr>
          <p:nvPr/>
        </p:nvSpPr>
        <p:spPr bwMode="auto">
          <a:xfrm>
            <a:off x="381000" y="2514600"/>
            <a:ext cx="792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4341" name="Line 7"/>
          <p:cNvSpPr>
            <a:spLocks noChangeShapeType="1"/>
          </p:cNvSpPr>
          <p:nvPr/>
        </p:nvSpPr>
        <p:spPr bwMode="auto">
          <a:xfrm>
            <a:off x="1828800" y="2514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342" name="Line 8"/>
          <p:cNvSpPr>
            <a:spLocks noChangeShapeType="1"/>
          </p:cNvSpPr>
          <p:nvPr/>
        </p:nvSpPr>
        <p:spPr bwMode="auto">
          <a:xfrm>
            <a:off x="5486400" y="2514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343" name="Line 9"/>
          <p:cNvSpPr>
            <a:spLocks noChangeShapeType="1"/>
          </p:cNvSpPr>
          <p:nvPr/>
        </p:nvSpPr>
        <p:spPr bwMode="auto">
          <a:xfrm>
            <a:off x="7315200" y="2514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344" name="Rectangle 14"/>
          <p:cNvSpPr>
            <a:spLocks noChangeArrowheads="1"/>
          </p:cNvSpPr>
          <p:nvPr/>
        </p:nvSpPr>
        <p:spPr bwMode="auto">
          <a:xfrm>
            <a:off x="1600200" y="2286000"/>
            <a:ext cx="3857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h-TH"/>
              <a:t> </a:t>
            </a:r>
            <a:r>
              <a:rPr lang="th-TH">
                <a:cs typeface="Angsana New" pitchFamily="18" charset="-34"/>
              </a:rPr>
              <a:t>◘</a:t>
            </a:r>
          </a:p>
        </p:txBody>
      </p:sp>
      <p:sp>
        <p:nvSpPr>
          <p:cNvPr id="14345" name="Rectangle 15"/>
          <p:cNvSpPr>
            <a:spLocks noChangeArrowheads="1"/>
          </p:cNvSpPr>
          <p:nvPr/>
        </p:nvSpPr>
        <p:spPr bwMode="auto">
          <a:xfrm>
            <a:off x="228600" y="2286000"/>
            <a:ext cx="3222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spcBef>
                <a:spcPct val="30000"/>
              </a:spcBef>
            </a:pPr>
            <a:r>
              <a:rPr lang="th-TH">
                <a:cs typeface="Angsana New" pitchFamily="18" charset="-34"/>
              </a:rPr>
              <a:t>◘</a:t>
            </a:r>
          </a:p>
        </p:txBody>
      </p:sp>
      <p:sp>
        <p:nvSpPr>
          <p:cNvPr id="14346" name="Rectangle 16"/>
          <p:cNvSpPr>
            <a:spLocks noChangeArrowheads="1"/>
          </p:cNvSpPr>
          <p:nvPr/>
        </p:nvSpPr>
        <p:spPr bwMode="auto">
          <a:xfrm>
            <a:off x="3505200" y="2286000"/>
            <a:ext cx="3222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spcBef>
                <a:spcPct val="30000"/>
              </a:spcBef>
            </a:pPr>
            <a:r>
              <a:rPr lang="th-TH">
                <a:cs typeface="Angsana New" pitchFamily="18" charset="-34"/>
              </a:rPr>
              <a:t>◘</a:t>
            </a:r>
          </a:p>
        </p:txBody>
      </p:sp>
      <p:sp>
        <p:nvSpPr>
          <p:cNvPr id="14347" name="Rectangle 17"/>
          <p:cNvSpPr>
            <a:spLocks noChangeArrowheads="1"/>
          </p:cNvSpPr>
          <p:nvPr/>
        </p:nvSpPr>
        <p:spPr bwMode="auto">
          <a:xfrm>
            <a:off x="5334000" y="2286000"/>
            <a:ext cx="3222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spcBef>
                <a:spcPct val="30000"/>
              </a:spcBef>
            </a:pPr>
            <a:r>
              <a:rPr lang="th-TH">
                <a:cs typeface="Angsana New" pitchFamily="18" charset="-34"/>
              </a:rPr>
              <a:t>◘</a:t>
            </a:r>
          </a:p>
        </p:txBody>
      </p:sp>
      <p:sp>
        <p:nvSpPr>
          <p:cNvPr id="14348" name="Rectangle 18"/>
          <p:cNvSpPr>
            <a:spLocks noChangeArrowheads="1"/>
          </p:cNvSpPr>
          <p:nvPr/>
        </p:nvSpPr>
        <p:spPr bwMode="auto">
          <a:xfrm>
            <a:off x="7162800" y="2286000"/>
            <a:ext cx="3222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spcBef>
                <a:spcPct val="30000"/>
              </a:spcBef>
            </a:pPr>
            <a:r>
              <a:rPr lang="th-TH">
                <a:cs typeface="Angsana New" pitchFamily="18" charset="-34"/>
              </a:rPr>
              <a:t>◘</a:t>
            </a:r>
          </a:p>
        </p:txBody>
      </p:sp>
      <p:sp>
        <p:nvSpPr>
          <p:cNvPr id="14349" name="Rectangle 22"/>
          <p:cNvSpPr>
            <a:spLocks noChangeArrowheads="1"/>
          </p:cNvSpPr>
          <p:nvPr/>
        </p:nvSpPr>
        <p:spPr bwMode="auto">
          <a:xfrm>
            <a:off x="228600" y="5821680"/>
            <a:ext cx="7924800" cy="8382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spcBef>
                <a:spcPct val="30000"/>
              </a:spcBef>
            </a:pPr>
            <a:r>
              <a:rPr lang="en-US" dirty="0"/>
              <a:t> </a:t>
            </a:r>
            <a:endParaRPr lang="th-TH" dirty="0">
              <a:cs typeface="Angsana New" pitchFamily="18" charset="-34"/>
            </a:endParaRPr>
          </a:p>
          <a:p>
            <a:pPr algn="ctr" eaLnBrk="0" hangingPunct="0">
              <a:spcBef>
                <a:spcPct val="30000"/>
              </a:spcBef>
            </a:pPr>
            <a:r>
              <a:rPr lang="th-TH" sz="2400" b="1" dirty="0">
                <a:cs typeface="Angsana New" pitchFamily="18" charset="-34"/>
              </a:rPr>
              <a:t>การเดินหน้าประเมินประสิทธิผลวัคซีนเอดส์ทดลอง </a:t>
            </a:r>
          </a:p>
          <a:p>
            <a:pPr algn="ctr" eaLnBrk="0" hangingPunct="0">
              <a:spcBef>
                <a:spcPct val="30000"/>
              </a:spcBef>
            </a:pPr>
            <a:r>
              <a:rPr lang="th-TH" sz="2400" b="1" dirty="0">
                <a:cs typeface="Angsana New" pitchFamily="18" charset="-34"/>
              </a:rPr>
              <a:t>จะส่งผลช่วยผลักดันให้วัคซีนเอดส์ที่มีประสิทธิผลใช้ได้ทั่วโลก เป็นจริงเร็วขึ้น</a:t>
            </a:r>
          </a:p>
          <a:p>
            <a:pPr algn="ctr"/>
            <a:endParaRPr lang="th-TH" b="1" dirty="0"/>
          </a:p>
        </p:txBody>
      </p:sp>
      <p:sp>
        <p:nvSpPr>
          <p:cNvPr id="14350" name="Rectangle 26"/>
          <p:cNvSpPr>
            <a:spLocks noChangeArrowheads="1"/>
          </p:cNvSpPr>
          <p:nvPr/>
        </p:nvSpPr>
        <p:spPr bwMode="auto">
          <a:xfrm>
            <a:off x="6934200" y="2133600"/>
            <a:ext cx="812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spcBef>
                <a:spcPct val="30000"/>
              </a:spcBef>
            </a:pPr>
            <a:r>
              <a:rPr lang="th-TH" b="1">
                <a:latin typeface="Browallia New" pitchFamily="34" charset="-34"/>
                <a:cs typeface="Browallia New" pitchFamily="34" charset="-34"/>
              </a:rPr>
              <a:t>คศ. </a:t>
            </a:r>
            <a:r>
              <a:rPr lang="en-US" b="1">
                <a:latin typeface="Browallia New" pitchFamily="34" charset="-34"/>
                <a:cs typeface="Browallia New" pitchFamily="34" charset="-34"/>
              </a:rPr>
              <a:t>2009</a:t>
            </a:r>
          </a:p>
        </p:txBody>
      </p:sp>
      <p:sp>
        <p:nvSpPr>
          <p:cNvPr id="14351" name="Rectangle 27"/>
          <p:cNvSpPr>
            <a:spLocks noChangeArrowheads="1"/>
          </p:cNvSpPr>
          <p:nvPr/>
        </p:nvSpPr>
        <p:spPr bwMode="auto">
          <a:xfrm>
            <a:off x="5105400" y="2133600"/>
            <a:ext cx="812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spcBef>
                <a:spcPct val="30000"/>
              </a:spcBef>
            </a:pPr>
            <a:r>
              <a:rPr lang="th-TH" b="1">
                <a:latin typeface="Browallia New" pitchFamily="34" charset="-34"/>
                <a:cs typeface="Browallia New" pitchFamily="34" charset="-34"/>
              </a:rPr>
              <a:t>คศ. </a:t>
            </a:r>
            <a:r>
              <a:rPr lang="en-US" b="1">
                <a:latin typeface="Browallia New" pitchFamily="34" charset="-34"/>
                <a:cs typeface="Browallia New" pitchFamily="34" charset="-34"/>
              </a:rPr>
              <a:t>2007</a:t>
            </a:r>
          </a:p>
        </p:txBody>
      </p:sp>
      <p:sp>
        <p:nvSpPr>
          <p:cNvPr id="14352" name="Rectangle 28"/>
          <p:cNvSpPr>
            <a:spLocks noChangeArrowheads="1"/>
          </p:cNvSpPr>
          <p:nvPr/>
        </p:nvSpPr>
        <p:spPr bwMode="auto">
          <a:xfrm>
            <a:off x="3276600" y="2133600"/>
            <a:ext cx="812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spcBef>
                <a:spcPct val="30000"/>
              </a:spcBef>
            </a:pPr>
            <a:r>
              <a:rPr lang="th-TH" b="1">
                <a:latin typeface="Browallia New" pitchFamily="34" charset="-34"/>
                <a:cs typeface="Browallia New" pitchFamily="34" charset="-34"/>
              </a:rPr>
              <a:t>คศ. </a:t>
            </a:r>
            <a:r>
              <a:rPr lang="en-US" b="1">
                <a:latin typeface="Browallia New" pitchFamily="34" charset="-34"/>
                <a:cs typeface="Browallia New" pitchFamily="34" charset="-34"/>
              </a:rPr>
              <a:t>2005</a:t>
            </a:r>
          </a:p>
        </p:txBody>
      </p:sp>
      <p:sp>
        <p:nvSpPr>
          <p:cNvPr id="14353" name="Rectangle 29"/>
          <p:cNvSpPr>
            <a:spLocks noChangeArrowheads="1"/>
          </p:cNvSpPr>
          <p:nvPr/>
        </p:nvSpPr>
        <p:spPr bwMode="auto">
          <a:xfrm>
            <a:off x="1447800" y="2133600"/>
            <a:ext cx="812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spcBef>
                <a:spcPct val="30000"/>
              </a:spcBef>
            </a:pPr>
            <a:r>
              <a:rPr lang="th-TH" b="1">
                <a:latin typeface="Browallia New" pitchFamily="34" charset="-34"/>
                <a:cs typeface="Browallia New" pitchFamily="34" charset="-34"/>
              </a:rPr>
              <a:t>คศ. </a:t>
            </a:r>
            <a:r>
              <a:rPr lang="en-US" b="1">
                <a:latin typeface="Browallia New" pitchFamily="34" charset="-34"/>
                <a:cs typeface="Browallia New" pitchFamily="34" charset="-34"/>
              </a:rPr>
              <a:t>2003</a:t>
            </a:r>
          </a:p>
        </p:txBody>
      </p:sp>
      <p:sp>
        <p:nvSpPr>
          <p:cNvPr id="14354" name="Rectangle 30"/>
          <p:cNvSpPr>
            <a:spLocks noChangeArrowheads="1"/>
          </p:cNvSpPr>
          <p:nvPr/>
        </p:nvSpPr>
        <p:spPr bwMode="auto">
          <a:xfrm>
            <a:off x="266700" y="3409950"/>
            <a:ext cx="45624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th-TH">
              <a:cs typeface="Angsana New" pitchFamily="18" charset="-34"/>
            </a:endParaRPr>
          </a:p>
        </p:txBody>
      </p:sp>
      <p:sp>
        <p:nvSpPr>
          <p:cNvPr id="14355" name="AutoShape 31"/>
          <p:cNvSpPr>
            <a:spLocks noChangeArrowheads="1"/>
          </p:cNvSpPr>
          <p:nvPr/>
        </p:nvSpPr>
        <p:spPr bwMode="auto">
          <a:xfrm>
            <a:off x="762000" y="2652713"/>
            <a:ext cx="2133600" cy="2871787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en-US" sz="1600" dirty="0">
              <a:latin typeface="Browallia New" pitchFamily="34" charset="-34"/>
              <a:cs typeface="Browallia New" pitchFamily="34" charset="-34"/>
            </a:endParaRPr>
          </a:p>
          <a:p>
            <a:pPr algn="ctr"/>
            <a:r>
              <a:rPr lang="en-US" sz="1600" b="1" u="sng" dirty="0">
                <a:latin typeface="Browallia New" pitchFamily="34" charset="-34"/>
                <a:cs typeface="Browallia New" pitchFamily="34" charset="-34"/>
              </a:rPr>
              <a:t>Vax003, Vax004 AIDSVAX</a:t>
            </a:r>
          </a:p>
          <a:p>
            <a:pPr algn="ctr"/>
            <a:r>
              <a:rPr lang="en-US" sz="1600" b="1" dirty="0" err="1">
                <a:latin typeface="Browallia New" pitchFamily="34" charset="-34"/>
                <a:cs typeface="Browallia New" pitchFamily="34" charset="-34"/>
              </a:rPr>
              <a:t>VaxGenEnv</a:t>
            </a:r>
            <a:r>
              <a:rPr lang="en-US" sz="1600" b="1" dirty="0">
                <a:latin typeface="Browallia New" pitchFamily="34" charset="-34"/>
                <a:cs typeface="Browallia New" pitchFamily="34" charset="-34"/>
              </a:rPr>
              <a:t> gp120</a:t>
            </a:r>
          </a:p>
          <a:p>
            <a:pPr algn="ctr"/>
            <a:r>
              <a:rPr lang="en-US" sz="1600" b="1" dirty="0" err="1">
                <a:latin typeface="Browallia New" pitchFamily="34" charset="-34"/>
                <a:cs typeface="Browallia New" pitchFamily="34" charset="-34"/>
              </a:rPr>
              <a:t>Humoral</a:t>
            </a:r>
            <a:r>
              <a:rPr lang="en-US" sz="1600" b="1" dirty="0">
                <a:latin typeface="Browallia New" pitchFamily="34" charset="-34"/>
                <a:cs typeface="Browallia New" pitchFamily="34" charset="-34"/>
              </a:rPr>
              <a:t> Immunity</a:t>
            </a:r>
          </a:p>
          <a:p>
            <a:pPr algn="ctr">
              <a:buFontTx/>
              <a:buChar char="•"/>
            </a:pPr>
            <a:r>
              <a:rPr lang="th-TH" sz="2000" dirty="0">
                <a:latin typeface="Browallia New" pitchFamily="34" charset="-34"/>
                <a:cs typeface="+mj-cs"/>
              </a:rPr>
              <a:t>โครงการระยะที่ </a:t>
            </a:r>
            <a:r>
              <a:rPr lang="en-US" sz="2000" dirty="0">
                <a:latin typeface="Browallia New" pitchFamily="34" charset="-34"/>
                <a:cs typeface="+mj-cs"/>
              </a:rPr>
              <a:t>3 </a:t>
            </a:r>
          </a:p>
          <a:p>
            <a:pPr algn="ctr">
              <a:buFontTx/>
              <a:buChar char="•"/>
            </a:pPr>
            <a:r>
              <a:rPr lang="th-TH" sz="2000" dirty="0">
                <a:latin typeface="Browallia New" pitchFamily="34" charset="-34"/>
                <a:cs typeface="+mj-cs"/>
              </a:rPr>
              <a:t>อาสาสมัครกลุ่มเสี่ยงสูง</a:t>
            </a:r>
          </a:p>
          <a:p>
            <a:pPr algn="ctr">
              <a:buFontTx/>
              <a:buChar char="•"/>
            </a:pPr>
            <a:r>
              <a:rPr lang="th-TH" sz="2000" dirty="0">
                <a:latin typeface="Browallia New" pitchFamily="34" charset="-34"/>
                <a:cs typeface="+mj-cs"/>
              </a:rPr>
              <a:t>ดำเนินการในไทย สหรัฐฯ</a:t>
            </a:r>
          </a:p>
          <a:p>
            <a:pPr algn="ctr">
              <a:buFontTx/>
              <a:buChar char="•"/>
            </a:pPr>
            <a:r>
              <a:rPr lang="th-TH" sz="2000" dirty="0">
                <a:latin typeface="Browallia New" pitchFamily="34" charset="-34"/>
                <a:cs typeface="+mj-cs"/>
              </a:rPr>
              <a:t>กระตุ้น </a:t>
            </a:r>
            <a:r>
              <a:rPr lang="en-US" sz="2000" dirty="0">
                <a:latin typeface="Browallia New" pitchFamily="34" charset="-34"/>
                <a:cs typeface="+mj-cs"/>
              </a:rPr>
              <a:t>specific-type Abs</a:t>
            </a:r>
          </a:p>
          <a:p>
            <a:pPr algn="ctr">
              <a:buFontTx/>
              <a:buChar char="•"/>
            </a:pPr>
            <a:r>
              <a:rPr lang="th-TH" sz="2000" dirty="0">
                <a:latin typeface="Browallia New" pitchFamily="34" charset="-34"/>
                <a:cs typeface="+mj-cs"/>
              </a:rPr>
              <a:t> ไม่กระตุ้น </a:t>
            </a:r>
            <a:r>
              <a:rPr lang="en-US" sz="2000" dirty="0">
                <a:latin typeface="Browallia New" pitchFamily="34" charset="-34"/>
                <a:cs typeface="+mj-cs"/>
              </a:rPr>
              <a:t>broadly reactive Nabs</a:t>
            </a:r>
          </a:p>
          <a:p>
            <a:pPr algn="ctr">
              <a:buFontTx/>
              <a:buChar char="•"/>
            </a:pPr>
            <a:r>
              <a:rPr lang="th-TH" sz="2000" dirty="0">
                <a:latin typeface="Browallia New" pitchFamily="34" charset="-34"/>
                <a:cs typeface="+mj-cs"/>
              </a:rPr>
              <a:t>ไม่มีประสิทธิผล</a:t>
            </a:r>
          </a:p>
          <a:p>
            <a:pPr algn="ctr"/>
            <a:endParaRPr lang="en-US" sz="1400" dirty="0">
              <a:latin typeface="Browallia New" pitchFamily="34" charset="-34"/>
              <a:cs typeface="Browallia New" pitchFamily="34" charset="-34"/>
            </a:endParaRPr>
          </a:p>
          <a:p>
            <a:pPr algn="ctr"/>
            <a:endParaRPr lang="th-TH" sz="1600" dirty="0">
              <a:latin typeface="Browallia New" pitchFamily="34" charset="-34"/>
              <a:cs typeface="Browallia New" pitchFamily="34" charset="-34"/>
            </a:endParaRPr>
          </a:p>
        </p:txBody>
      </p:sp>
      <p:sp>
        <p:nvSpPr>
          <p:cNvPr id="14356" name="AutoShape 33"/>
          <p:cNvSpPr>
            <a:spLocks noChangeArrowheads="1"/>
          </p:cNvSpPr>
          <p:nvPr/>
        </p:nvSpPr>
        <p:spPr bwMode="auto">
          <a:xfrm>
            <a:off x="3505200" y="2652713"/>
            <a:ext cx="2362200" cy="2871787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en-US" u="sng" dirty="0"/>
          </a:p>
          <a:p>
            <a:pPr algn="ctr"/>
            <a:r>
              <a:rPr lang="en-US" sz="1600" b="1" u="sng" dirty="0">
                <a:latin typeface="Browallia New" pitchFamily="34" charset="-34"/>
                <a:cs typeface="Browallia New" pitchFamily="34" charset="-34"/>
              </a:rPr>
              <a:t>STEP-PHAMBILI STUDIES</a:t>
            </a:r>
          </a:p>
          <a:p>
            <a:pPr algn="ctr"/>
            <a:r>
              <a:rPr lang="en-US" sz="1600" b="1" dirty="0">
                <a:latin typeface="Browallia New" pitchFamily="34" charset="-34"/>
                <a:cs typeface="Browallia New" pitchFamily="34" charset="-34"/>
              </a:rPr>
              <a:t>Merck Ad5-Gag/</a:t>
            </a:r>
            <a:r>
              <a:rPr lang="en-US" sz="1600" b="1" dirty="0" err="1">
                <a:latin typeface="Browallia New" pitchFamily="34" charset="-34"/>
                <a:cs typeface="Browallia New" pitchFamily="34" charset="-34"/>
              </a:rPr>
              <a:t>Pol</a:t>
            </a:r>
            <a:r>
              <a:rPr lang="en-US" sz="1600" b="1" dirty="0">
                <a:latin typeface="Browallia New" pitchFamily="34" charset="-34"/>
                <a:cs typeface="Browallia New" pitchFamily="34" charset="-34"/>
              </a:rPr>
              <a:t>/</a:t>
            </a:r>
            <a:r>
              <a:rPr lang="en-US" sz="1600" b="1" dirty="0" err="1">
                <a:latin typeface="Browallia New" pitchFamily="34" charset="-34"/>
                <a:cs typeface="Browallia New" pitchFamily="34" charset="-34"/>
              </a:rPr>
              <a:t>Nef</a:t>
            </a:r>
            <a:endParaRPr lang="en-US" sz="1600" b="1" dirty="0">
              <a:latin typeface="Browallia New" pitchFamily="34" charset="-34"/>
              <a:cs typeface="Browallia New" pitchFamily="34" charset="-34"/>
            </a:endParaRPr>
          </a:p>
          <a:p>
            <a:pPr algn="ctr"/>
            <a:r>
              <a:rPr lang="en-US" sz="1600" b="1" dirty="0">
                <a:latin typeface="Browallia New" pitchFamily="34" charset="-34"/>
                <a:cs typeface="Browallia New" pitchFamily="34" charset="-34"/>
              </a:rPr>
              <a:t>Cellular Immunity</a:t>
            </a:r>
          </a:p>
          <a:p>
            <a:pPr algn="ctr">
              <a:buFontTx/>
              <a:buChar char="•"/>
            </a:pPr>
            <a:r>
              <a:rPr lang="th-TH" sz="2000" dirty="0">
                <a:latin typeface="Browallia New" pitchFamily="34" charset="-34"/>
                <a:cs typeface="+mj-cs"/>
              </a:rPr>
              <a:t>โครงการระยะที่ </a:t>
            </a:r>
            <a:r>
              <a:rPr lang="en-US" sz="2000" dirty="0">
                <a:latin typeface="Browallia New" pitchFamily="34" charset="-34"/>
                <a:cs typeface="+mj-cs"/>
              </a:rPr>
              <a:t>2B</a:t>
            </a:r>
          </a:p>
          <a:p>
            <a:pPr algn="ctr">
              <a:buFontTx/>
              <a:buChar char="•"/>
            </a:pPr>
            <a:r>
              <a:rPr lang="th-TH" sz="2000" dirty="0">
                <a:latin typeface="Browallia New" pitchFamily="34" charset="-34"/>
                <a:cs typeface="+mj-cs"/>
              </a:rPr>
              <a:t>อาสาสมัครกลุ่มเสี่ยงสูง</a:t>
            </a:r>
          </a:p>
          <a:p>
            <a:pPr algn="ctr">
              <a:buFontTx/>
              <a:buChar char="•"/>
            </a:pPr>
            <a:r>
              <a:rPr lang="th-TH" sz="2000" dirty="0">
                <a:latin typeface="Browallia New" pitchFamily="34" charset="-34"/>
                <a:cs typeface="+mj-cs"/>
              </a:rPr>
              <a:t>ดำเนินโครงการในอเมริกาเหนือ/ใต้</a:t>
            </a:r>
          </a:p>
          <a:p>
            <a:pPr algn="ctr">
              <a:buFontTx/>
              <a:buChar char="•"/>
            </a:pPr>
            <a:r>
              <a:rPr lang="th-TH" sz="2000" dirty="0">
                <a:latin typeface="Browallia New" pitchFamily="34" charset="-34"/>
                <a:cs typeface="+mj-cs"/>
              </a:rPr>
              <a:t>กระตุ้น </a:t>
            </a:r>
            <a:r>
              <a:rPr lang="en-US" sz="2000" dirty="0">
                <a:latin typeface="Browallia New" pitchFamily="34" charset="-34"/>
                <a:cs typeface="+mj-cs"/>
              </a:rPr>
              <a:t>cellular immunity</a:t>
            </a:r>
          </a:p>
          <a:p>
            <a:pPr algn="ctr">
              <a:buFontTx/>
              <a:buChar char="•"/>
            </a:pPr>
            <a:r>
              <a:rPr lang="th-TH" sz="2000" dirty="0">
                <a:latin typeface="Browallia New" pitchFamily="34" charset="-34"/>
                <a:cs typeface="+mj-cs"/>
              </a:rPr>
              <a:t>ไม่มีประสิทธิผล</a:t>
            </a:r>
          </a:p>
          <a:p>
            <a:pPr algn="ctr">
              <a:buFontTx/>
              <a:buChar char="•"/>
            </a:pPr>
            <a:r>
              <a:rPr lang="th-TH" sz="2000" dirty="0">
                <a:latin typeface="Browallia New" pitchFamily="34" charset="-34"/>
                <a:cs typeface="+mj-cs"/>
              </a:rPr>
              <a:t>อาจเพิ่มการติดเชื้อ </a:t>
            </a:r>
            <a:r>
              <a:rPr lang="en-US" sz="2000" dirty="0">
                <a:latin typeface="Browallia New" pitchFamily="34" charset="-34"/>
                <a:cs typeface="+mj-cs"/>
              </a:rPr>
              <a:t>HIV-1</a:t>
            </a:r>
          </a:p>
          <a:p>
            <a:pPr algn="ctr"/>
            <a:endParaRPr lang="th-TH" dirty="0"/>
          </a:p>
          <a:p>
            <a:pPr algn="ctr"/>
            <a:endParaRPr lang="th-TH" dirty="0"/>
          </a:p>
        </p:txBody>
      </p:sp>
      <p:sp>
        <p:nvSpPr>
          <p:cNvPr id="14357" name="AutoShape 35"/>
          <p:cNvSpPr>
            <a:spLocks noChangeArrowheads="1"/>
          </p:cNvSpPr>
          <p:nvPr/>
        </p:nvSpPr>
        <p:spPr bwMode="auto">
          <a:xfrm>
            <a:off x="6248400" y="2849880"/>
            <a:ext cx="1981200" cy="2674620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en-US" sz="1600" b="1" u="sng" dirty="0">
              <a:latin typeface="Browallia New" pitchFamily="34" charset="-34"/>
              <a:cs typeface="Browallia New" pitchFamily="34" charset="-34"/>
            </a:endParaRPr>
          </a:p>
          <a:p>
            <a:pPr algn="ctr"/>
            <a:endParaRPr lang="en-US" sz="1600" b="1" u="sng" dirty="0">
              <a:latin typeface="Browallia New" pitchFamily="34" charset="-34"/>
              <a:cs typeface="Browallia New" pitchFamily="34" charset="-34"/>
            </a:endParaRPr>
          </a:p>
          <a:p>
            <a:pPr algn="ctr"/>
            <a:endParaRPr lang="en-US" sz="1600" b="1" u="sng" dirty="0">
              <a:latin typeface="Browallia New" pitchFamily="34" charset="-34"/>
              <a:cs typeface="Browallia New" pitchFamily="34" charset="-34"/>
            </a:endParaRPr>
          </a:p>
          <a:p>
            <a:pPr algn="ctr"/>
            <a:endParaRPr lang="en-US" sz="1600" b="1" u="sng" dirty="0">
              <a:latin typeface="Browallia New" pitchFamily="34" charset="-34"/>
              <a:cs typeface="Browallia New" pitchFamily="34" charset="-34"/>
            </a:endParaRPr>
          </a:p>
          <a:p>
            <a:pPr algn="ctr"/>
            <a:endParaRPr lang="en-US" sz="1600" b="1" u="sng" dirty="0">
              <a:latin typeface="Browallia New" pitchFamily="34" charset="-34"/>
              <a:cs typeface="Browallia New" pitchFamily="34" charset="-34"/>
            </a:endParaRPr>
          </a:p>
          <a:p>
            <a:pPr algn="ctr"/>
            <a:r>
              <a:rPr lang="en-US" sz="1600" b="1" u="sng" dirty="0">
                <a:latin typeface="Browallia New" pitchFamily="34" charset="-34"/>
                <a:cs typeface="Browallia New" pitchFamily="34" charset="-34"/>
              </a:rPr>
              <a:t>RV144</a:t>
            </a:r>
          </a:p>
          <a:p>
            <a:pPr algn="ctr"/>
            <a:r>
              <a:rPr lang="en-US" sz="1600" b="1" dirty="0" err="1">
                <a:latin typeface="Browallia New" pitchFamily="34" charset="-34"/>
                <a:cs typeface="Browallia New" pitchFamily="34" charset="-34"/>
              </a:rPr>
              <a:t>Sanofi</a:t>
            </a:r>
            <a:r>
              <a:rPr lang="en-US" sz="1600" b="1" dirty="0">
                <a:latin typeface="Browallia New" pitchFamily="34" charset="-34"/>
                <a:cs typeface="Browallia New" pitchFamily="34" charset="-34"/>
              </a:rPr>
              <a:t> ALVAC prime, </a:t>
            </a:r>
          </a:p>
          <a:p>
            <a:pPr algn="ctr"/>
            <a:r>
              <a:rPr lang="en-US" sz="1600" b="1" dirty="0">
                <a:latin typeface="Browallia New" pitchFamily="34" charset="-34"/>
                <a:cs typeface="Browallia New" pitchFamily="34" charset="-34"/>
              </a:rPr>
              <a:t>AIDSVAX gp120 boost</a:t>
            </a:r>
          </a:p>
          <a:p>
            <a:pPr algn="ctr"/>
            <a:r>
              <a:rPr lang="en-US" sz="1600" b="1" dirty="0" err="1">
                <a:latin typeface="Browallia New" pitchFamily="34" charset="-34"/>
                <a:cs typeface="Browallia New" pitchFamily="34" charset="-34"/>
              </a:rPr>
              <a:t>Humoral</a:t>
            </a:r>
            <a:r>
              <a:rPr lang="en-US" sz="1600" b="1" dirty="0">
                <a:latin typeface="Browallia New" pitchFamily="34" charset="-34"/>
                <a:cs typeface="Browallia New" pitchFamily="34" charset="-34"/>
              </a:rPr>
              <a:t> and Cellular Immunity</a:t>
            </a:r>
          </a:p>
          <a:p>
            <a:pPr algn="ctr">
              <a:buFontTx/>
              <a:buChar char="•"/>
            </a:pPr>
            <a:r>
              <a:rPr lang="th-TH" sz="2000" dirty="0">
                <a:latin typeface="Browallia New" pitchFamily="34" charset="-34"/>
                <a:cs typeface="+mj-cs"/>
              </a:rPr>
              <a:t>โครงการระยะที่ </a:t>
            </a:r>
            <a:r>
              <a:rPr lang="en-US" sz="2000" dirty="0">
                <a:latin typeface="Browallia New" pitchFamily="34" charset="-34"/>
                <a:cs typeface="+mj-cs"/>
              </a:rPr>
              <a:t>3</a:t>
            </a:r>
          </a:p>
          <a:p>
            <a:pPr algn="ctr">
              <a:buFontTx/>
              <a:buChar char="•"/>
            </a:pPr>
            <a:r>
              <a:rPr lang="th-TH" sz="2000" dirty="0">
                <a:latin typeface="Browallia New" pitchFamily="34" charset="-34"/>
                <a:cs typeface="+mj-cs"/>
              </a:rPr>
              <a:t>อาสาสมัครกลุ่มเสี่ยงต่ำ</a:t>
            </a:r>
          </a:p>
          <a:p>
            <a:pPr algn="ctr">
              <a:buFontTx/>
              <a:buChar char="•"/>
            </a:pPr>
            <a:r>
              <a:rPr lang="th-TH" sz="2000" dirty="0">
                <a:latin typeface="Browallia New" pitchFamily="34" charset="-34"/>
                <a:cs typeface="+mj-cs"/>
              </a:rPr>
              <a:t>ดำเนินการในไทย</a:t>
            </a:r>
          </a:p>
          <a:p>
            <a:pPr algn="ctr">
              <a:buFontTx/>
              <a:buChar char="•"/>
            </a:pPr>
            <a:r>
              <a:rPr lang="th-TH" sz="2000" dirty="0">
                <a:latin typeface="Browallia New" pitchFamily="34" charset="-34"/>
                <a:cs typeface="+mj-cs"/>
              </a:rPr>
              <a:t>ลดการติดเชื้อ </a:t>
            </a:r>
            <a:r>
              <a:rPr lang="en-US" sz="2000" dirty="0">
                <a:latin typeface="Browallia New" pitchFamily="34" charset="-34"/>
                <a:cs typeface="+mj-cs"/>
              </a:rPr>
              <a:t>HIV-1 </a:t>
            </a:r>
            <a:r>
              <a:rPr lang="th-TH" sz="2000" dirty="0">
                <a:latin typeface="Browallia New" pitchFamily="34" charset="-34"/>
                <a:cs typeface="+mj-cs"/>
              </a:rPr>
              <a:t>ได้ </a:t>
            </a:r>
            <a:r>
              <a:rPr lang="en-US" sz="2000" dirty="0">
                <a:latin typeface="Browallia New" pitchFamily="34" charset="-34"/>
                <a:cs typeface="+mj-cs"/>
              </a:rPr>
              <a:t>31.2%</a:t>
            </a:r>
          </a:p>
          <a:p>
            <a:pPr algn="ctr">
              <a:buFontTx/>
              <a:buChar char="•"/>
            </a:pPr>
            <a:r>
              <a:rPr lang="th-TH" sz="2000" dirty="0">
                <a:latin typeface="Browallia New" pitchFamily="34" charset="-34"/>
                <a:cs typeface="+mj-cs"/>
              </a:rPr>
              <a:t>ไม่มีผลต่อจำนวนไวรัสในเลือด</a:t>
            </a:r>
          </a:p>
          <a:p>
            <a:pPr algn="ctr"/>
            <a:endParaRPr lang="en-US" sz="1400" dirty="0">
              <a:latin typeface="Browallia New" pitchFamily="34" charset="-34"/>
              <a:cs typeface="Browallia New" pitchFamily="34" charset="-34"/>
            </a:endParaRPr>
          </a:p>
          <a:p>
            <a:pPr algn="ctr"/>
            <a:endParaRPr lang="th-TH" dirty="0">
              <a:cs typeface="Angsana New" pitchFamily="18" charset="-34"/>
            </a:endParaRPr>
          </a:p>
          <a:p>
            <a:pPr algn="ctr"/>
            <a:endParaRPr lang="en-US" dirty="0">
              <a:cs typeface="Angsana New" pitchFamily="18" charset="-34"/>
            </a:endParaRPr>
          </a:p>
          <a:p>
            <a:pPr algn="ctr"/>
            <a:endParaRPr lang="en-US" dirty="0"/>
          </a:p>
          <a:p>
            <a:pPr algn="ctr"/>
            <a:endParaRPr lang="th-TH" dirty="0"/>
          </a:p>
        </p:txBody>
      </p:sp>
      <p:pic>
        <p:nvPicPr>
          <p:cNvPr id="22" name="Picture 5" descr="C:\Documents and Settings\nusarat\My Documents\ADMIN\AFRIMS logo\Logo+big.gif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" y="234646"/>
            <a:ext cx="1106416" cy="768668"/>
          </a:xfrm>
          <a:prstGeom prst="rect">
            <a:avLst/>
          </a:prstGeom>
          <a:noFill/>
        </p:spPr>
      </p:pic>
      <p:pic>
        <p:nvPicPr>
          <p:cNvPr id="23" name="Picture 7" descr="C:\Documents and Settings\nusarat\My Documents\ADMIN\AFRIMS logo\02_AFRIMS_2011_01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888480" y="378815"/>
            <a:ext cx="2046893" cy="480354"/>
          </a:xfrm>
          <a:prstGeom prst="rect">
            <a:avLst/>
          </a:prstGeom>
          <a:noFill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0"/>
            <a:ext cx="7772400" cy="1143000"/>
          </a:xfrm>
        </p:spPr>
        <p:txBody>
          <a:bodyPr/>
          <a:lstStyle/>
          <a:p>
            <a:r>
              <a:rPr lang="th-TH" sz="3200" b="1" dirty="0" smtClean="0">
                <a:cs typeface="Angsana New" pitchFamily="18" charset="-34"/>
              </a:rPr>
              <a:t>เป้าหมาย - </a:t>
            </a:r>
            <a:br>
              <a:rPr lang="th-TH" sz="3200" b="1" dirty="0" smtClean="0">
                <a:cs typeface="Angsana New" pitchFamily="18" charset="-34"/>
              </a:rPr>
            </a:br>
            <a:r>
              <a:rPr lang="th-TH" sz="3200" b="1" dirty="0" smtClean="0">
                <a:cs typeface="Angsana New" pitchFamily="18" charset="-34"/>
              </a:rPr>
              <a:t>วัคซีนเอดส์ที่มีประสิทธิภาพใช้ได้ทั่วโลก</a:t>
            </a:r>
          </a:p>
        </p:txBody>
      </p:sp>
      <p:sp>
        <p:nvSpPr>
          <p:cNvPr id="15363" name="AutoShape 5"/>
          <p:cNvSpPr>
            <a:spLocks noChangeArrowheads="1"/>
          </p:cNvSpPr>
          <p:nvPr/>
        </p:nvSpPr>
        <p:spPr bwMode="auto">
          <a:xfrm>
            <a:off x="1828800" y="1219200"/>
            <a:ext cx="2743200" cy="1737360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>
              <a:spcBef>
                <a:spcPct val="30000"/>
              </a:spcBef>
            </a:pPr>
            <a:r>
              <a:rPr lang="th-TH" sz="3200" dirty="0">
                <a:cs typeface="Browallia New" pitchFamily="34" charset="-34"/>
              </a:rPr>
              <a:t>มี</a:t>
            </a:r>
            <a:r>
              <a:rPr lang="th-TH" sz="3200" dirty="0" smtClean="0">
                <a:cs typeface="Browallia New" pitchFamily="34" charset="-34"/>
              </a:rPr>
              <a:t>ประสิทธิภาพ</a:t>
            </a:r>
          </a:p>
          <a:p>
            <a:pPr algn="ctr" eaLnBrk="0" hangingPunct="0">
              <a:spcBef>
                <a:spcPct val="30000"/>
              </a:spcBef>
            </a:pPr>
            <a:r>
              <a:rPr lang="th-TH" sz="3200" dirty="0" smtClean="0">
                <a:cs typeface="Browallia New" pitchFamily="34" charset="-34"/>
              </a:rPr>
              <a:t>ใน</a:t>
            </a:r>
            <a:r>
              <a:rPr lang="th-TH" sz="3200" dirty="0">
                <a:cs typeface="Browallia New" pitchFamily="34" charset="-34"/>
              </a:rPr>
              <a:t>กลุ่มประชากรเสี่ยงสูง</a:t>
            </a:r>
          </a:p>
          <a:p>
            <a:pPr algn="ctr"/>
            <a:endParaRPr lang="th-TH" dirty="0"/>
          </a:p>
        </p:txBody>
      </p:sp>
      <p:sp>
        <p:nvSpPr>
          <p:cNvPr id="15364" name="AutoShape 6"/>
          <p:cNvSpPr>
            <a:spLocks noChangeArrowheads="1"/>
          </p:cNvSpPr>
          <p:nvPr/>
        </p:nvSpPr>
        <p:spPr bwMode="auto">
          <a:xfrm>
            <a:off x="4648200" y="3169920"/>
            <a:ext cx="2743200" cy="1783080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>
              <a:spcBef>
                <a:spcPct val="30000"/>
              </a:spcBef>
            </a:pPr>
            <a:endParaRPr lang="th-TH" dirty="0">
              <a:cs typeface="Angsana New" pitchFamily="18" charset="-34"/>
            </a:endParaRPr>
          </a:p>
          <a:p>
            <a:pPr algn="ctr" eaLnBrk="0" hangingPunct="0">
              <a:spcBef>
                <a:spcPct val="30000"/>
              </a:spcBef>
            </a:pPr>
            <a:r>
              <a:rPr lang="th-TH" sz="3200" dirty="0">
                <a:latin typeface="Browallia New" pitchFamily="34" charset="-34"/>
                <a:cs typeface="Browallia New" pitchFamily="34" charset="-34"/>
              </a:rPr>
              <a:t>เข้าถึงได้ทั่วโลก</a:t>
            </a:r>
          </a:p>
          <a:p>
            <a:pPr algn="ctr"/>
            <a:endParaRPr lang="th-TH" sz="1600" dirty="0">
              <a:latin typeface="Browallia New" pitchFamily="34" charset="-34"/>
              <a:cs typeface="Browallia New" pitchFamily="34" charset="-34"/>
            </a:endParaRPr>
          </a:p>
        </p:txBody>
      </p:sp>
      <p:sp>
        <p:nvSpPr>
          <p:cNvPr id="15365" name="AutoShape 7"/>
          <p:cNvSpPr>
            <a:spLocks noChangeArrowheads="1"/>
          </p:cNvSpPr>
          <p:nvPr/>
        </p:nvSpPr>
        <p:spPr bwMode="auto">
          <a:xfrm>
            <a:off x="4648200" y="1219200"/>
            <a:ext cx="2743200" cy="1737360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>
              <a:spcBef>
                <a:spcPct val="30000"/>
              </a:spcBef>
            </a:pPr>
            <a:r>
              <a:rPr lang="th-TH" sz="3200" dirty="0">
                <a:cs typeface="Browallia New" pitchFamily="34" charset="-34"/>
              </a:rPr>
              <a:t>ป้องกันเอชไอ</a:t>
            </a:r>
            <a:r>
              <a:rPr lang="th-TH" sz="3200" dirty="0" smtClean="0">
                <a:cs typeface="Browallia New" pitchFamily="34" charset="-34"/>
              </a:rPr>
              <a:t>วี</a:t>
            </a:r>
          </a:p>
          <a:p>
            <a:pPr algn="ctr" eaLnBrk="0" hangingPunct="0">
              <a:spcBef>
                <a:spcPct val="30000"/>
              </a:spcBef>
            </a:pPr>
            <a:r>
              <a:rPr lang="th-TH" sz="3200" dirty="0" smtClean="0">
                <a:cs typeface="Browallia New" pitchFamily="34" charset="-34"/>
              </a:rPr>
              <a:t>หลากหลาย</a:t>
            </a:r>
            <a:r>
              <a:rPr lang="th-TH" sz="3200" dirty="0">
                <a:cs typeface="Browallia New" pitchFamily="34" charset="-34"/>
              </a:rPr>
              <a:t>สายพันธุ์</a:t>
            </a:r>
          </a:p>
          <a:p>
            <a:pPr algn="ctr"/>
            <a:endParaRPr lang="th-TH" dirty="0"/>
          </a:p>
        </p:txBody>
      </p:sp>
      <p:sp>
        <p:nvSpPr>
          <p:cNvPr id="15366" name="AutoShape 8"/>
          <p:cNvSpPr>
            <a:spLocks noChangeArrowheads="1"/>
          </p:cNvSpPr>
          <p:nvPr/>
        </p:nvSpPr>
        <p:spPr bwMode="auto">
          <a:xfrm>
            <a:off x="1828800" y="3169920"/>
            <a:ext cx="2743200" cy="1783080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th-TH" dirty="0">
              <a:cs typeface="Angsana New" pitchFamily="18" charset="-34"/>
            </a:endParaRPr>
          </a:p>
          <a:p>
            <a:pPr algn="ctr"/>
            <a:endParaRPr lang="th-TH" dirty="0">
              <a:cs typeface="Angsana New" pitchFamily="18" charset="-34"/>
            </a:endParaRPr>
          </a:p>
          <a:p>
            <a:pPr algn="ctr"/>
            <a:r>
              <a:rPr lang="th-TH" sz="3200" dirty="0">
                <a:latin typeface="Browallia New" pitchFamily="34" charset="-34"/>
                <a:cs typeface="Browallia New" pitchFamily="34" charset="-34"/>
              </a:rPr>
              <a:t>ปกป้องได้นาน ปลอดภัย </a:t>
            </a:r>
          </a:p>
          <a:p>
            <a:pPr algn="ctr"/>
            <a:r>
              <a:rPr lang="th-TH" sz="3200" dirty="0">
                <a:latin typeface="Browallia New" pitchFamily="34" charset="-34"/>
                <a:cs typeface="Browallia New" pitchFamily="34" charset="-34"/>
              </a:rPr>
              <a:t>มีประสิทธิภาพ</a:t>
            </a:r>
          </a:p>
          <a:p>
            <a:pPr algn="ctr"/>
            <a:endParaRPr lang="th-TH" sz="1600" dirty="0">
              <a:latin typeface="Browallia New" pitchFamily="34" charset="-34"/>
              <a:cs typeface="Browallia New" pitchFamily="34" charset="-34"/>
            </a:endParaRPr>
          </a:p>
        </p:txBody>
      </p:sp>
      <p:sp>
        <p:nvSpPr>
          <p:cNvPr id="15367" name="AutoShape 9"/>
          <p:cNvSpPr>
            <a:spLocks noChangeArrowheads="1"/>
          </p:cNvSpPr>
          <p:nvPr/>
        </p:nvSpPr>
        <p:spPr bwMode="auto">
          <a:xfrm>
            <a:off x="3314700" y="2628900"/>
            <a:ext cx="2667000" cy="1082040"/>
          </a:xfrm>
          <a:prstGeom prst="roundRect">
            <a:avLst>
              <a:gd name="adj" fmla="val 16667"/>
            </a:avLst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th-TH" sz="2400" b="1">
                <a:solidFill>
                  <a:schemeClr val="tx2"/>
                </a:solidFill>
                <a:latin typeface="Browallia New" pitchFamily="34" charset="-34"/>
                <a:cs typeface="Browallia New" pitchFamily="34" charset="-34"/>
              </a:rPr>
              <a:t>วัคซีนเอดส์</a:t>
            </a:r>
          </a:p>
          <a:p>
            <a:pPr algn="ctr"/>
            <a:r>
              <a:rPr lang="th-TH" sz="2400" b="1">
                <a:solidFill>
                  <a:schemeClr val="tx2"/>
                </a:solidFill>
                <a:latin typeface="Browallia New" pitchFamily="34" charset="-34"/>
                <a:cs typeface="Browallia New" pitchFamily="34" charset="-34"/>
              </a:rPr>
              <a:t>ที่มีประสิทธิภาพใช้ได้ทั่วโลก</a:t>
            </a:r>
          </a:p>
        </p:txBody>
      </p:sp>
      <p:sp>
        <p:nvSpPr>
          <p:cNvPr id="15368" name="AutoShape 10"/>
          <p:cNvSpPr>
            <a:spLocks noChangeArrowheads="1"/>
          </p:cNvSpPr>
          <p:nvPr/>
        </p:nvSpPr>
        <p:spPr bwMode="auto">
          <a:xfrm>
            <a:off x="914400" y="5334000"/>
            <a:ext cx="7391400" cy="990600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th-TH" sz="2000" i="1" dirty="0">
                <a:cs typeface="Angsana New" pitchFamily="18" charset="-34"/>
              </a:rPr>
              <a:t>หมายเหตุ</a:t>
            </a:r>
            <a:r>
              <a:rPr lang="th-TH" sz="2000" dirty="0">
                <a:cs typeface="Angsana New" pitchFamily="18" charset="-34"/>
              </a:rPr>
              <a:t> – การประเมินประสิทธิผลของวัคซีนทดลองเป็นหนทางที่จะทำให้สามารถค้นพบ</a:t>
            </a:r>
          </a:p>
          <a:p>
            <a:pPr algn="ctr"/>
            <a:r>
              <a:rPr lang="th-TH" sz="2000" dirty="0">
                <a:cs typeface="Angsana New" pitchFamily="18" charset="-34"/>
              </a:rPr>
              <a:t>กลไกของระบบภูมิคุ้มกันของร่างกายที่ป้องกันการติดเชื้อ และยัง</a:t>
            </a:r>
          </a:p>
          <a:p>
            <a:pPr algn="ctr"/>
            <a:r>
              <a:rPr lang="th-TH" sz="2000" dirty="0">
                <a:cs typeface="Angsana New" pitchFamily="18" charset="-34"/>
              </a:rPr>
              <a:t>เป็นตัวกำหนดหลักการและเหตุผลสำหรับการพัฒนาวัคซีนเอดส์ต่อไป</a:t>
            </a:r>
          </a:p>
        </p:txBody>
      </p:sp>
      <p:pic>
        <p:nvPicPr>
          <p:cNvPr id="9" name="Picture 5" descr="C:\Documents and Settings\nusarat\My Documents\ADMIN\AFRIMS logo\Logo+big.gif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" y="234646"/>
            <a:ext cx="1106416" cy="768668"/>
          </a:xfrm>
          <a:prstGeom prst="rect">
            <a:avLst/>
          </a:prstGeom>
          <a:noFill/>
        </p:spPr>
      </p:pic>
      <p:pic>
        <p:nvPicPr>
          <p:cNvPr id="10" name="Picture 7" descr="C:\Documents and Settings\nusarat\My Documents\ADMIN\AFRIMS logo\02_AFRIMS_2011_01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888480" y="378815"/>
            <a:ext cx="2046893" cy="480354"/>
          </a:xfrm>
          <a:prstGeom prst="rect">
            <a:avLst/>
          </a:prstGeom>
          <a:noFill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3400" y="0"/>
            <a:ext cx="7772400" cy="1143000"/>
          </a:xfrm>
        </p:spPr>
        <p:txBody>
          <a:bodyPr/>
          <a:lstStyle/>
          <a:p>
            <a:r>
              <a:rPr lang="th-TH" sz="3200" b="1" dirty="0" smtClean="0">
                <a:cs typeface="Angsana New" pitchFamily="18" charset="-34"/>
              </a:rPr>
              <a:t>แผนการพัฒนาผลิตภัณฑ์</a:t>
            </a:r>
          </a:p>
        </p:txBody>
      </p:sp>
      <p:sp>
        <p:nvSpPr>
          <p:cNvPr id="16387" name="AutoShape 4"/>
          <p:cNvSpPr>
            <a:spLocks noChangeArrowheads="1"/>
          </p:cNvSpPr>
          <p:nvPr/>
        </p:nvSpPr>
        <p:spPr bwMode="auto">
          <a:xfrm>
            <a:off x="768350" y="1341120"/>
            <a:ext cx="3194050" cy="1935480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388" name="AutoShape 5"/>
          <p:cNvSpPr>
            <a:spLocks noChangeArrowheads="1"/>
          </p:cNvSpPr>
          <p:nvPr/>
        </p:nvSpPr>
        <p:spPr bwMode="auto">
          <a:xfrm>
            <a:off x="768350" y="1828800"/>
            <a:ext cx="3194050" cy="15240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r" eaLnBrk="0" hangingPunct="0">
              <a:lnSpc>
                <a:spcPct val="80000"/>
              </a:lnSpc>
              <a:spcBef>
                <a:spcPct val="30000"/>
              </a:spcBef>
            </a:pPr>
            <a:endParaRPr lang="th-TH" dirty="0">
              <a:solidFill>
                <a:schemeClr val="tx2"/>
              </a:solidFill>
              <a:latin typeface="Browallia New" pitchFamily="34" charset="-34"/>
              <a:cs typeface="Browallia New" pitchFamily="34" charset="-34"/>
            </a:endParaRPr>
          </a:p>
          <a:p>
            <a:pPr algn="r" eaLnBrk="0" hangingPunct="0">
              <a:lnSpc>
                <a:spcPct val="80000"/>
              </a:lnSpc>
              <a:spcBef>
                <a:spcPct val="30000"/>
              </a:spcBef>
            </a:pPr>
            <a:endParaRPr lang="th-TH" dirty="0">
              <a:solidFill>
                <a:schemeClr val="tx2"/>
              </a:solidFill>
              <a:latin typeface="Browallia New" pitchFamily="34" charset="-34"/>
              <a:cs typeface="Browallia New" pitchFamily="34" charset="-34"/>
            </a:endParaRPr>
          </a:p>
          <a:p>
            <a:pPr algn="r" eaLnBrk="0" hangingPunct="0">
              <a:lnSpc>
                <a:spcPct val="80000"/>
              </a:lnSpc>
              <a:spcBef>
                <a:spcPct val="30000"/>
              </a:spcBef>
            </a:pPr>
            <a:r>
              <a:rPr lang="th-TH" dirty="0">
                <a:solidFill>
                  <a:schemeClr val="tx2"/>
                </a:solidFill>
                <a:latin typeface="Browallia New" pitchFamily="34" charset="-34"/>
                <a:cs typeface="Browallia New" pitchFamily="34" charset="-34"/>
              </a:rPr>
              <a:t>ต่อยอดสูตรวัคซีน </a:t>
            </a:r>
            <a:r>
              <a:rPr lang="en-US" dirty="0">
                <a:solidFill>
                  <a:schemeClr val="tx2"/>
                </a:solidFill>
                <a:latin typeface="Browallia New" pitchFamily="34" charset="-34"/>
                <a:cs typeface="Browallia New" pitchFamily="34" charset="-34"/>
              </a:rPr>
              <a:t>RV144</a:t>
            </a:r>
          </a:p>
          <a:p>
            <a:pPr algn="r" eaLnBrk="0" hangingPunct="0">
              <a:lnSpc>
                <a:spcPct val="80000"/>
              </a:lnSpc>
              <a:spcBef>
                <a:spcPct val="30000"/>
              </a:spcBef>
            </a:pPr>
            <a:r>
              <a:rPr lang="th-TH" dirty="0">
                <a:solidFill>
                  <a:schemeClr val="tx2"/>
                </a:solidFill>
                <a:latin typeface="Browallia New" pitchFamily="34" charset="-34"/>
                <a:cs typeface="Browallia New" pitchFamily="34" charset="-34"/>
              </a:rPr>
              <a:t>เพื่อประโยชน์ของคน</a:t>
            </a:r>
            <a:r>
              <a:rPr lang="th-TH" dirty="0" smtClean="0">
                <a:solidFill>
                  <a:schemeClr val="tx2"/>
                </a:solidFill>
                <a:latin typeface="Browallia New" pitchFamily="34" charset="-34"/>
                <a:cs typeface="Browallia New" pitchFamily="34" charset="-34"/>
              </a:rPr>
              <a:t>ไทย และ</a:t>
            </a:r>
            <a:endParaRPr lang="en-US" dirty="0" smtClean="0">
              <a:solidFill>
                <a:schemeClr val="tx2"/>
              </a:solidFill>
              <a:latin typeface="Browallia New" pitchFamily="34" charset="-34"/>
              <a:cs typeface="Browallia New" pitchFamily="34" charset="-34"/>
            </a:endParaRPr>
          </a:p>
          <a:p>
            <a:pPr algn="r" eaLnBrk="0" hangingPunct="0">
              <a:lnSpc>
                <a:spcPct val="80000"/>
              </a:lnSpc>
              <a:spcBef>
                <a:spcPct val="30000"/>
              </a:spcBef>
            </a:pPr>
            <a:r>
              <a:rPr lang="th-TH" dirty="0" smtClean="0">
                <a:solidFill>
                  <a:schemeClr val="tx2"/>
                </a:solidFill>
                <a:latin typeface="Browallia New" pitchFamily="34" charset="-34"/>
                <a:cs typeface="Browallia New" pitchFamily="34" charset="-34"/>
              </a:rPr>
              <a:t>กลุ่ม</a:t>
            </a:r>
            <a:r>
              <a:rPr lang="th-TH" dirty="0">
                <a:solidFill>
                  <a:schemeClr val="tx2"/>
                </a:solidFill>
                <a:latin typeface="Browallia New" pitchFamily="34" charset="-34"/>
                <a:cs typeface="Browallia New" pitchFamily="34" charset="-34"/>
              </a:rPr>
              <a:t>ประชากรที่พบอัตราการติดเชื้อรายใหม่สูง</a:t>
            </a:r>
          </a:p>
          <a:p>
            <a:pPr algn="r"/>
            <a:endParaRPr lang="th-TH" dirty="0">
              <a:latin typeface="Browallia New" pitchFamily="34" charset="-34"/>
              <a:cs typeface="Browallia New" pitchFamily="34" charset="-34"/>
            </a:endParaRPr>
          </a:p>
        </p:txBody>
      </p:sp>
      <p:sp>
        <p:nvSpPr>
          <p:cNvPr id="16389" name="AutoShape 6"/>
          <p:cNvSpPr>
            <a:spLocks noChangeArrowheads="1"/>
          </p:cNvSpPr>
          <p:nvPr/>
        </p:nvSpPr>
        <p:spPr bwMode="auto">
          <a:xfrm>
            <a:off x="685800" y="3505200"/>
            <a:ext cx="3276600" cy="1752600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390" name="AutoShape 7"/>
          <p:cNvSpPr>
            <a:spLocks noChangeArrowheads="1"/>
          </p:cNvSpPr>
          <p:nvPr/>
        </p:nvSpPr>
        <p:spPr bwMode="auto">
          <a:xfrm>
            <a:off x="685800" y="4038600"/>
            <a:ext cx="3276600" cy="12192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391" name="AutoShape 8"/>
          <p:cNvSpPr>
            <a:spLocks noChangeArrowheads="1"/>
          </p:cNvSpPr>
          <p:nvPr/>
        </p:nvSpPr>
        <p:spPr bwMode="auto">
          <a:xfrm>
            <a:off x="4876800" y="1341120"/>
            <a:ext cx="3695700" cy="2087880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392" name="AutoShape 9"/>
          <p:cNvSpPr>
            <a:spLocks noChangeArrowheads="1"/>
          </p:cNvSpPr>
          <p:nvPr/>
        </p:nvSpPr>
        <p:spPr bwMode="auto">
          <a:xfrm>
            <a:off x="4876800" y="3505200"/>
            <a:ext cx="3657600" cy="1752600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th-TH"/>
          </a:p>
        </p:txBody>
      </p:sp>
      <p:sp>
        <p:nvSpPr>
          <p:cNvPr id="16393" name="AutoShape 10"/>
          <p:cNvSpPr>
            <a:spLocks noChangeArrowheads="1"/>
          </p:cNvSpPr>
          <p:nvPr/>
        </p:nvSpPr>
        <p:spPr bwMode="auto">
          <a:xfrm>
            <a:off x="4876799" y="1828800"/>
            <a:ext cx="3695699" cy="16002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marL="342900" indent="-342900" algn="r"/>
            <a:endParaRPr lang="th-TH" sz="1600" dirty="0">
              <a:solidFill>
                <a:schemeClr val="tx2"/>
              </a:solidFill>
              <a:latin typeface="Browallia New" pitchFamily="34" charset="-34"/>
              <a:cs typeface="Browallia New" pitchFamily="34" charset="-34"/>
            </a:endParaRPr>
          </a:p>
          <a:p>
            <a:pPr marL="342900" indent="-342900" algn="r"/>
            <a:r>
              <a:rPr lang="th-TH" dirty="0">
                <a:solidFill>
                  <a:schemeClr val="tx2"/>
                </a:solidFill>
                <a:latin typeface="Browallia New" pitchFamily="34" charset="-34"/>
                <a:cs typeface="Browallia New" pitchFamily="34" charset="-34"/>
              </a:rPr>
              <a:t>โครงการระยะที่ </a:t>
            </a:r>
            <a:r>
              <a:rPr lang="en-US" dirty="0">
                <a:solidFill>
                  <a:schemeClr val="tx2"/>
                </a:solidFill>
                <a:latin typeface="Browallia New" pitchFamily="34" charset="-34"/>
                <a:cs typeface="Browallia New" pitchFamily="34" charset="-34"/>
              </a:rPr>
              <a:t>2B</a:t>
            </a:r>
            <a:r>
              <a:rPr lang="th-TH" dirty="0">
                <a:solidFill>
                  <a:schemeClr val="tx2"/>
                </a:solidFill>
                <a:latin typeface="Browallia New" pitchFamily="34" charset="-34"/>
                <a:cs typeface="Browallia New" pitchFamily="34" charset="-34"/>
              </a:rPr>
              <a:t> โดยใช้วัคซีน </a:t>
            </a:r>
            <a:r>
              <a:rPr lang="en-US" dirty="0">
                <a:solidFill>
                  <a:schemeClr val="tx2"/>
                </a:solidFill>
                <a:latin typeface="Browallia New" pitchFamily="34" charset="-34"/>
                <a:cs typeface="Browallia New" pitchFamily="34" charset="-34"/>
              </a:rPr>
              <a:t>ALVAC/AIDSVAX</a:t>
            </a:r>
            <a:r>
              <a:rPr lang="th-TH" dirty="0">
                <a:solidFill>
                  <a:schemeClr val="tx2"/>
                </a:solidFill>
                <a:latin typeface="Browallia New" pitchFamily="34" charset="-34"/>
                <a:cs typeface="Browallia New" pitchFamily="34" charset="-34"/>
              </a:rPr>
              <a:t> </a:t>
            </a:r>
          </a:p>
          <a:p>
            <a:pPr marL="342900" indent="-342900" algn="r"/>
            <a:r>
              <a:rPr lang="th-TH" dirty="0">
                <a:solidFill>
                  <a:schemeClr val="tx2"/>
                </a:solidFill>
                <a:latin typeface="Browallia New" pitchFamily="34" charset="-34"/>
                <a:cs typeface="Browallia New" pitchFamily="34" charset="-34"/>
              </a:rPr>
              <a:t>หรือวัคซีนอื่นที่มีคุณลักษณะที่คล้ายกัน </a:t>
            </a:r>
          </a:p>
          <a:p>
            <a:pPr marL="342900" indent="-342900" algn="r"/>
            <a:r>
              <a:rPr lang="th-TH" dirty="0">
                <a:solidFill>
                  <a:schemeClr val="tx2"/>
                </a:solidFill>
                <a:latin typeface="Browallia New" pitchFamily="34" charset="-34"/>
                <a:cs typeface="Browallia New" pitchFamily="34" charset="-34"/>
              </a:rPr>
              <a:t>โดยเพิ่มการกระตุ้นและลดระยะเวลาการติดตาม</a:t>
            </a:r>
          </a:p>
          <a:p>
            <a:pPr marL="342900" indent="-342900" algn="r">
              <a:buFontTx/>
              <a:buChar char="•"/>
            </a:pPr>
            <a:r>
              <a:rPr lang="th-TH" dirty="0">
                <a:solidFill>
                  <a:schemeClr val="tx2"/>
                </a:solidFill>
                <a:latin typeface="Browallia New" pitchFamily="34" charset="-34"/>
                <a:cs typeface="Browallia New" pitchFamily="34" charset="-34"/>
              </a:rPr>
              <a:t>กลุ่มรักต่างเพศที่เสี่ยงสูงในไทย</a:t>
            </a:r>
          </a:p>
          <a:p>
            <a:pPr marL="342900" indent="-342900" algn="r">
              <a:buFontTx/>
              <a:buChar char="•"/>
            </a:pPr>
            <a:r>
              <a:rPr lang="th-TH" dirty="0">
                <a:solidFill>
                  <a:schemeClr val="tx2"/>
                </a:solidFill>
                <a:latin typeface="Browallia New" pitchFamily="34" charset="-34"/>
                <a:cs typeface="Browallia New" pitchFamily="34" charset="-34"/>
              </a:rPr>
              <a:t>กลุ่มชายที่มีเพศสัมพันธ์กับชายในไทย</a:t>
            </a:r>
          </a:p>
          <a:p>
            <a:pPr marL="342900" indent="-342900" algn="r">
              <a:buFontTx/>
              <a:buChar char="•"/>
            </a:pPr>
            <a:r>
              <a:rPr lang="th-TH" dirty="0">
                <a:solidFill>
                  <a:schemeClr val="tx2"/>
                </a:solidFill>
                <a:latin typeface="Browallia New" pitchFamily="34" charset="-34"/>
                <a:cs typeface="Browallia New" pitchFamily="34" charset="-34"/>
              </a:rPr>
              <a:t>กลุ่มรักต่างเพศที่เสี่ยงสูงในแอฟรีกาใต้</a:t>
            </a:r>
          </a:p>
          <a:p>
            <a:pPr marL="342900" indent="-342900" algn="r"/>
            <a:endParaRPr lang="th-TH" dirty="0">
              <a:latin typeface="Browallia New" pitchFamily="34" charset="-34"/>
              <a:cs typeface="Browallia New" pitchFamily="34" charset="-34"/>
            </a:endParaRPr>
          </a:p>
        </p:txBody>
      </p:sp>
      <p:sp>
        <p:nvSpPr>
          <p:cNvPr id="16394" name="AutoShape 11"/>
          <p:cNvSpPr>
            <a:spLocks noChangeArrowheads="1"/>
          </p:cNvSpPr>
          <p:nvPr/>
        </p:nvSpPr>
        <p:spPr bwMode="auto">
          <a:xfrm>
            <a:off x="4876800" y="3962400"/>
            <a:ext cx="3657600" cy="12954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395" name="AutoShape 12"/>
          <p:cNvSpPr>
            <a:spLocks noChangeArrowheads="1"/>
          </p:cNvSpPr>
          <p:nvPr/>
        </p:nvSpPr>
        <p:spPr bwMode="auto">
          <a:xfrm>
            <a:off x="762000" y="5638799"/>
            <a:ext cx="7810499" cy="1091863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396" name="Rectangle 13"/>
          <p:cNvSpPr>
            <a:spLocks noChangeArrowheads="1"/>
          </p:cNvSpPr>
          <p:nvPr/>
        </p:nvSpPr>
        <p:spPr bwMode="auto">
          <a:xfrm>
            <a:off x="294866" y="876327"/>
            <a:ext cx="8640507" cy="9110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lnSpc>
                <a:spcPct val="80000"/>
              </a:lnSpc>
              <a:spcBef>
                <a:spcPct val="30000"/>
              </a:spcBef>
            </a:pPr>
            <a:r>
              <a:rPr lang="th-TH" sz="2800" b="1" dirty="0">
                <a:latin typeface="Browallia New" pitchFamily="34" charset="-34"/>
                <a:cs typeface="+mj-cs"/>
              </a:rPr>
              <a:t>เส้นทางคู่ขนานในการพัฒนาผลิตภัณฑ์เพื่อให้ได้</a:t>
            </a:r>
            <a:r>
              <a:rPr lang="th-TH" sz="2800" b="1" dirty="0">
                <a:solidFill>
                  <a:schemeClr val="tx2"/>
                </a:solidFill>
                <a:latin typeface="Browallia New" pitchFamily="34" charset="-34"/>
                <a:cs typeface="+mj-cs"/>
              </a:rPr>
              <a:t>วัคซีนเอดส์</a:t>
            </a:r>
            <a:r>
              <a:rPr lang="th-TH" sz="2800" b="1" dirty="0">
                <a:solidFill>
                  <a:schemeClr val="tx2"/>
                </a:solidFill>
                <a:cs typeface="+mj-cs"/>
              </a:rPr>
              <a:t>ที่มีประสิทธิภาพใช้ได้ทั่วโลก</a:t>
            </a:r>
          </a:p>
          <a:p>
            <a:pPr eaLnBrk="0" hangingPunct="0">
              <a:lnSpc>
                <a:spcPct val="80000"/>
              </a:lnSpc>
              <a:spcBef>
                <a:spcPct val="30000"/>
              </a:spcBef>
            </a:pPr>
            <a:endParaRPr lang="th-TH" sz="2800" b="1" dirty="0">
              <a:solidFill>
                <a:schemeClr val="tx2"/>
              </a:solidFill>
              <a:latin typeface="Browallia New" pitchFamily="34" charset="-34"/>
              <a:cs typeface="Browallia New" pitchFamily="34" charset="-34"/>
            </a:endParaRPr>
          </a:p>
        </p:txBody>
      </p:sp>
      <p:sp>
        <p:nvSpPr>
          <p:cNvPr id="16397" name="AutoShape 14"/>
          <p:cNvSpPr>
            <a:spLocks noChangeArrowheads="1"/>
          </p:cNvSpPr>
          <p:nvPr/>
        </p:nvSpPr>
        <p:spPr bwMode="auto">
          <a:xfrm>
            <a:off x="457200" y="1650932"/>
            <a:ext cx="304800" cy="457200"/>
          </a:xfrm>
          <a:prstGeom prst="octagon">
            <a:avLst>
              <a:gd name="adj" fmla="val 2928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398" name="AutoShape 15"/>
          <p:cNvSpPr>
            <a:spLocks noChangeArrowheads="1"/>
          </p:cNvSpPr>
          <p:nvPr/>
        </p:nvSpPr>
        <p:spPr bwMode="auto">
          <a:xfrm>
            <a:off x="381000" y="3581400"/>
            <a:ext cx="304800" cy="457200"/>
          </a:xfrm>
          <a:prstGeom prst="octagon">
            <a:avLst>
              <a:gd name="adj" fmla="val 2928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th-TH"/>
          </a:p>
        </p:txBody>
      </p:sp>
      <p:sp>
        <p:nvSpPr>
          <p:cNvPr id="16399" name="Rectangle 16"/>
          <p:cNvSpPr>
            <a:spLocks noChangeArrowheads="1"/>
          </p:cNvSpPr>
          <p:nvPr/>
        </p:nvSpPr>
        <p:spPr bwMode="auto">
          <a:xfrm>
            <a:off x="457200" y="1752600"/>
            <a:ext cx="311150" cy="3111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lnSpc>
                <a:spcPct val="80000"/>
              </a:lnSpc>
              <a:spcBef>
                <a:spcPct val="30000"/>
              </a:spcBef>
            </a:pPr>
            <a:r>
              <a:rPr lang="en-US" dirty="0"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16400" name="Rectangle 17"/>
          <p:cNvSpPr>
            <a:spLocks noChangeArrowheads="1"/>
          </p:cNvSpPr>
          <p:nvPr/>
        </p:nvSpPr>
        <p:spPr bwMode="auto">
          <a:xfrm>
            <a:off x="374650" y="3657600"/>
            <a:ext cx="311150" cy="3111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lnSpc>
                <a:spcPct val="80000"/>
              </a:lnSpc>
              <a:spcBef>
                <a:spcPct val="30000"/>
              </a:spcBef>
            </a:pPr>
            <a:r>
              <a:rPr lang="en-US" dirty="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16401" name="Rectangle 18"/>
          <p:cNvSpPr>
            <a:spLocks noChangeArrowheads="1"/>
          </p:cNvSpPr>
          <p:nvPr/>
        </p:nvSpPr>
        <p:spPr bwMode="auto">
          <a:xfrm>
            <a:off x="1600200" y="1473267"/>
            <a:ext cx="1447832" cy="380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lnSpc>
                <a:spcPct val="80000"/>
              </a:lnSpc>
              <a:spcBef>
                <a:spcPct val="30000"/>
              </a:spcBef>
            </a:pPr>
            <a:r>
              <a:rPr lang="th-TH" sz="2200" b="1" dirty="0">
                <a:solidFill>
                  <a:schemeClr val="tx2"/>
                </a:solidFill>
                <a:latin typeface="Browallia New" pitchFamily="34" charset="-34"/>
                <a:cs typeface="Browallia New" pitchFamily="34" charset="-34"/>
              </a:rPr>
              <a:t>ต่อยอด </a:t>
            </a:r>
            <a:r>
              <a:rPr lang="en-US" sz="2200" b="1" dirty="0">
                <a:solidFill>
                  <a:schemeClr val="tx2"/>
                </a:solidFill>
                <a:latin typeface="Browallia New" pitchFamily="34" charset="-34"/>
                <a:cs typeface="Browallia New" pitchFamily="34" charset="-34"/>
              </a:rPr>
              <a:t>RV144</a:t>
            </a:r>
          </a:p>
        </p:txBody>
      </p:sp>
      <p:sp>
        <p:nvSpPr>
          <p:cNvPr id="16402" name="Rectangle 19"/>
          <p:cNvSpPr>
            <a:spLocks noChangeArrowheads="1"/>
          </p:cNvSpPr>
          <p:nvPr/>
        </p:nvSpPr>
        <p:spPr bwMode="auto">
          <a:xfrm>
            <a:off x="1600200" y="1981200"/>
            <a:ext cx="2143125" cy="5463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lnSpc>
                <a:spcPct val="80000"/>
              </a:lnSpc>
              <a:spcBef>
                <a:spcPct val="50000"/>
              </a:spcBef>
            </a:pPr>
            <a:r>
              <a:rPr lang="th-TH" sz="2000" b="1" i="1" dirty="0">
                <a:solidFill>
                  <a:srgbClr val="FF3300"/>
                </a:solidFill>
                <a:cs typeface="Angsana New" pitchFamily="18" charset="-34"/>
              </a:rPr>
              <a:t>ยุทธศาสตร์ระดับภูมิภาค</a:t>
            </a:r>
          </a:p>
          <a:p>
            <a:pPr eaLnBrk="0" hangingPunct="0">
              <a:lnSpc>
                <a:spcPct val="80000"/>
              </a:lnSpc>
              <a:spcBef>
                <a:spcPct val="50000"/>
              </a:spcBef>
            </a:pPr>
            <a:endParaRPr lang="th-TH" sz="1000" b="1" dirty="0">
              <a:solidFill>
                <a:srgbClr val="FF3300"/>
              </a:solidFill>
              <a:cs typeface="Angsana New" pitchFamily="18" charset="-34"/>
            </a:endParaRPr>
          </a:p>
        </p:txBody>
      </p:sp>
      <p:sp>
        <p:nvSpPr>
          <p:cNvPr id="16403" name="Rectangle 20"/>
          <p:cNvSpPr>
            <a:spLocks noChangeArrowheads="1"/>
          </p:cNvSpPr>
          <p:nvPr/>
        </p:nvSpPr>
        <p:spPr bwMode="auto">
          <a:xfrm>
            <a:off x="5913120" y="1341120"/>
            <a:ext cx="1438214" cy="380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lnSpc>
                <a:spcPct val="80000"/>
              </a:lnSpc>
              <a:spcBef>
                <a:spcPct val="30000"/>
              </a:spcBef>
            </a:pPr>
            <a:r>
              <a:rPr lang="th-TH" sz="2200" b="1" dirty="0">
                <a:solidFill>
                  <a:schemeClr val="tx2"/>
                </a:solidFill>
                <a:latin typeface="Browallia New" pitchFamily="34" charset="-34"/>
                <a:cs typeface="Browallia New" pitchFamily="34" charset="-34"/>
              </a:rPr>
              <a:t>แนวทางปฏิบัติ</a:t>
            </a:r>
          </a:p>
        </p:txBody>
      </p:sp>
      <p:sp>
        <p:nvSpPr>
          <p:cNvPr id="16404" name="Rectangle 21"/>
          <p:cNvSpPr>
            <a:spLocks noChangeArrowheads="1"/>
          </p:cNvSpPr>
          <p:nvPr/>
        </p:nvSpPr>
        <p:spPr bwMode="auto">
          <a:xfrm>
            <a:off x="685800" y="3505200"/>
            <a:ext cx="3495676" cy="6509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0" hangingPunct="0">
              <a:lnSpc>
                <a:spcPct val="80000"/>
              </a:lnSpc>
              <a:spcBef>
                <a:spcPct val="30000"/>
              </a:spcBef>
            </a:pPr>
            <a:r>
              <a:rPr lang="th-TH" sz="2200" b="1" dirty="0" smtClean="0">
                <a:solidFill>
                  <a:schemeClr val="tx2"/>
                </a:solidFill>
                <a:latin typeface="Browallia New" pitchFamily="34" charset="-34"/>
                <a:cs typeface="Browallia New" pitchFamily="34" charset="-34"/>
              </a:rPr>
              <a:t>เพิ่มความหลากหลายและปรับปรุงสูตรวัคซีนทดลองที่วิจัยอยู่</a:t>
            </a:r>
            <a:endParaRPr lang="th-TH" sz="2200" b="1" dirty="0">
              <a:solidFill>
                <a:schemeClr val="tx2"/>
              </a:solidFill>
              <a:latin typeface="Browallia New" pitchFamily="34" charset="-34"/>
              <a:cs typeface="Browallia New" pitchFamily="34" charset="-34"/>
            </a:endParaRPr>
          </a:p>
        </p:txBody>
      </p:sp>
      <p:sp>
        <p:nvSpPr>
          <p:cNvPr id="16405" name="Rectangle 22"/>
          <p:cNvSpPr>
            <a:spLocks noChangeArrowheads="1"/>
          </p:cNvSpPr>
          <p:nvPr/>
        </p:nvSpPr>
        <p:spPr bwMode="auto">
          <a:xfrm>
            <a:off x="1676400" y="4038600"/>
            <a:ext cx="163538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h-TH" sz="2000" b="1" i="1" dirty="0">
                <a:solidFill>
                  <a:srgbClr val="FF3300"/>
                </a:solidFill>
                <a:cs typeface="Angsana New" pitchFamily="18" charset="-34"/>
              </a:rPr>
              <a:t>ยุทธศาสตร์ระดับโลก</a:t>
            </a:r>
          </a:p>
        </p:txBody>
      </p:sp>
      <p:sp>
        <p:nvSpPr>
          <p:cNvPr id="16406" name="Rectangle 23"/>
          <p:cNvSpPr>
            <a:spLocks noChangeArrowheads="1"/>
          </p:cNvSpPr>
          <p:nvPr/>
        </p:nvSpPr>
        <p:spPr bwMode="auto">
          <a:xfrm>
            <a:off x="609600" y="4495800"/>
            <a:ext cx="337185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th-TH" dirty="0">
                <a:solidFill>
                  <a:schemeClr val="tx2"/>
                </a:solidFill>
                <a:latin typeface="Browallia New" pitchFamily="34" charset="-34"/>
                <a:cs typeface="Browallia New" pitchFamily="34" charset="-34"/>
              </a:rPr>
              <a:t>การดำเนินการที่</a:t>
            </a:r>
            <a:r>
              <a:rPr lang="th-TH" dirty="0" smtClean="0">
                <a:solidFill>
                  <a:schemeClr val="tx2"/>
                </a:solidFill>
                <a:latin typeface="Browallia New" pitchFamily="34" charset="-34"/>
                <a:cs typeface="Browallia New" pitchFamily="34" charset="-34"/>
              </a:rPr>
              <a:t>หลากหลายเพื่อนำไปสู่</a:t>
            </a:r>
          </a:p>
          <a:p>
            <a:pPr algn="r"/>
            <a:r>
              <a:rPr lang="th-TH" dirty="0" smtClean="0">
                <a:latin typeface="Browallia New" pitchFamily="34" charset="-34"/>
                <a:cs typeface="Browallia New" pitchFamily="34" charset="-34"/>
              </a:rPr>
              <a:t>วัคซีน</a:t>
            </a:r>
            <a:r>
              <a:rPr lang="th-TH" dirty="0">
                <a:latin typeface="Browallia New" pitchFamily="34" charset="-34"/>
                <a:cs typeface="Browallia New" pitchFamily="34" charset="-34"/>
              </a:rPr>
              <a:t>เอดส์ที่มีประสิทธิภาพใช้ได้ทั่วโลก</a:t>
            </a:r>
          </a:p>
        </p:txBody>
      </p:sp>
      <p:sp>
        <p:nvSpPr>
          <p:cNvPr id="16407" name="Rectangle 24"/>
          <p:cNvSpPr>
            <a:spLocks noChangeArrowheads="1"/>
          </p:cNvSpPr>
          <p:nvPr/>
        </p:nvSpPr>
        <p:spPr bwMode="auto">
          <a:xfrm>
            <a:off x="6057390" y="3581400"/>
            <a:ext cx="1309974" cy="380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lnSpc>
                <a:spcPct val="80000"/>
              </a:lnSpc>
              <a:spcBef>
                <a:spcPct val="30000"/>
              </a:spcBef>
            </a:pPr>
            <a:r>
              <a:rPr lang="th-TH" sz="2200" b="1" dirty="0">
                <a:solidFill>
                  <a:schemeClr val="tx2"/>
                </a:solidFill>
                <a:cs typeface="Angsana New" pitchFamily="18" charset="-34"/>
              </a:rPr>
              <a:t>แนวทางปฏิบัติ</a:t>
            </a:r>
          </a:p>
        </p:txBody>
      </p:sp>
      <p:sp>
        <p:nvSpPr>
          <p:cNvPr id="16408" name="Rectangle 25"/>
          <p:cNvSpPr>
            <a:spLocks noChangeArrowheads="1"/>
          </p:cNvSpPr>
          <p:nvPr/>
        </p:nvSpPr>
        <p:spPr bwMode="auto">
          <a:xfrm>
            <a:off x="4876800" y="3962400"/>
            <a:ext cx="3514725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th-TH" dirty="0">
                <a:solidFill>
                  <a:schemeClr val="tx2"/>
                </a:solidFill>
                <a:latin typeface="Browallia New" pitchFamily="34" charset="-34"/>
                <a:cs typeface="Browallia New" pitchFamily="34" charset="-34"/>
              </a:rPr>
              <a:t>เลือกสูตรวัคซีนเฉพาะที่จะนำไปสู่</a:t>
            </a:r>
          </a:p>
          <a:p>
            <a:pPr algn="r"/>
            <a:r>
              <a:rPr lang="th-TH" dirty="0">
                <a:solidFill>
                  <a:schemeClr val="tx2"/>
                </a:solidFill>
                <a:latin typeface="Browallia New" pitchFamily="34" charset="-34"/>
                <a:cs typeface="Browallia New" pitchFamily="34" charset="-34"/>
              </a:rPr>
              <a:t>การวิจัยเพื่อป้องกันหลายสายพันธุ์ </a:t>
            </a:r>
          </a:p>
          <a:p>
            <a:pPr algn="r"/>
            <a:r>
              <a:rPr lang="th-TH" dirty="0">
                <a:solidFill>
                  <a:schemeClr val="tx2"/>
                </a:solidFill>
                <a:latin typeface="Browallia New" pitchFamily="34" charset="-34"/>
                <a:cs typeface="Browallia New" pitchFamily="34" charset="-34"/>
              </a:rPr>
              <a:t>เพิ่ม </a:t>
            </a:r>
            <a:r>
              <a:rPr lang="en-US" dirty="0">
                <a:solidFill>
                  <a:schemeClr val="tx2"/>
                </a:solidFill>
                <a:latin typeface="Browallia New" pitchFamily="34" charset="-34"/>
                <a:cs typeface="Browallia New" pitchFamily="34" charset="-34"/>
              </a:rPr>
              <a:t>CD8 </a:t>
            </a:r>
            <a:r>
              <a:rPr lang="th-TH" dirty="0">
                <a:solidFill>
                  <a:schemeClr val="tx2"/>
                </a:solidFill>
                <a:latin typeface="Browallia New" pitchFamily="34" charset="-34"/>
                <a:cs typeface="Browallia New" pitchFamily="34" charset="-34"/>
              </a:rPr>
              <a:t>และ กระตุ้นการตอบสนองของระบบภูมิคุ้มกัน</a:t>
            </a:r>
            <a:r>
              <a:rPr lang="th-TH" dirty="0"/>
              <a:t> </a:t>
            </a:r>
          </a:p>
        </p:txBody>
      </p:sp>
      <p:sp>
        <p:nvSpPr>
          <p:cNvPr id="16409" name="Rectangle 26"/>
          <p:cNvSpPr>
            <a:spLocks noChangeArrowheads="1"/>
          </p:cNvSpPr>
          <p:nvPr/>
        </p:nvSpPr>
        <p:spPr bwMode="auto">
          <a:xfrm>
            <a:off x="730250" y="5714998"/>
            <a:ext cx="780415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th-TH" sz="2000" b="1" i="1" dirty="0">
                <a:solidFill>
                  <a:schemeClr val="tx2"/>
                </a:solidFill>
                <a:latin typeface="Browallia New" pitchFamily="34" charset="-34"/>
                <a:cs typeface="Browallia New" pitchFamily="34" charset="-34"/>
              </a:rPr>
              <a:t>หมายเหตุ</a:t>
            </a:r>
            <a:r>
              <a:rPr lang="th-TH" sz="2000" b="1" dirty="0">
                <a:solidFill>
                  <a:schemeClr val="tx2"/>
                </a:solidFill>
                <a:latin typeface="Browallia New" pitchFamily="34" charset="-34"/>
                <a:cs typeface="Browallia New" pitchFamily="34" charset="-34"/>
              </a:rPr>
              <a:t> – ยุทธศาสตร์นี้ถูกออกแบบเพื่อให้ได้ข้อสรุปที่ชัดเจนโดยเร็วที่สุด เพื่อช่วยการเข้ามามีส่วนร่วมของภาคเอกชน การพัฒนาแนวทางการอนุมัติและระเบียบข้อบังคับต่างๆ และการกระจายความเสี่ยง</a:t>
            </a:r>
          </a:p>
        </p:txBody>
      </p:sp>
      <p:pic>
        <p:nvPicPr>
          <p:cNvPr id="32" name="Picture 5" descr="C:\Documents and Settings\nusarat\My Documents\ADMIN\AFRIMS logo\Logo+big.gif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" y="234646"/>
            <a:ext cx="1106416" cy="768668"/>
          </a:xfrm>
          <a:prstGeom prst="rect">
            <a:avLst/>
          </a:prstGeom>
          <a:noFill/>
        </p:spPr>
      </p:pic>
      <p:pic>
        <p:nvPicPr>
          <p:cNvPr id="33" name="Picture 7" descr="C:\Documents and Settings\nusarat\My Documents\ADMIN\AFRIMS logo\02_AFRIMS_2011_01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888480" y="378815"/>
            <a:ext cx="2046893" cy="480354"/>
          </a:xfrm>
          <a:prstGeom prst="rect">
            <a:avLst/>
          </a:prstGeom>
          <a:noFill/>
        </p:spPr>
      </p:pic>
      <p:sp>
        <p:nvSpPr>
          <p:cNvPr id="36" name="Notched Right Arrow 35"/>
          <p:cNvSpPr/>
          <p:nvPr/>
        </p:nvSpPr>
        <p:spPr>
          <a:xfrm>
            <a:off x="4181476" y="2527503"/>
            <a:ext cx="497204" cy="307137"/>
          </a:xfrm>
          <a:prstGeom prst="notched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Notched Right Arrow 36"/>
          <p:cNvSpPr/>
          <p:nvPr/>
        </p:nvSpPr>
        <p:spPr>
          <a:xfrm>
            <a:off x="4181476" y="4342231"/>
            <a:ext cx="497204" cy="307137"/>
          </a:xfrm>
          <a:prstGeom prst="notched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 smtClean="0"/>
              <a:t>PEP กับ PrEP</a:t>
            </a:r>
            <a:endParaRPr lang="en-US" dirty="0"/>
          </a:p>
        </p:txBody>
      </p:sp>
      <p:sp>
        <p:nvSpPr>
          <p:cNvPr id="6" name="Vertical Text Placeholder 5"/>
          <p:cNvSpPr>
            <a:spLocks noGrp="1"/>
          </p:cNvSpPr>
          <p:nvPr>
            <p:ph type="body" orient="vert" idx="1"/>
          </p:nvPr>
        </p:nvSpPr>
        <p:spPr>
          <a:xfrm>
            <a:off x="457200" y="1312334"/>
            <a:ext cx="8229600" cy="4813830"/>
          </a:xfrm>
        </p:spPr>
        <p:txBody>
          <a:bodyPr vert="horz"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th-TH" dirty="0" smtClean="0"/>
              <a:t>PEP = Post Exposure Prophylaxis</a:t>
            </a:r>
          </a:p>
          <a:p>
            <a:pPr>
              <a:lnSpc>
                <a:spcPct val="120000"/>
              </a:lnSpc>
            </a:pPr>
            <a:r>
              <a:rPr lang="th-TH" dirty="0" smtClean="0"/>
              <a:t>PrEP = Pre Exposure Prophylaxis</a:t>
            </a:r>
          </a:p>
          <a:p>
            <a:pPr lvl="1">
              <a:lnSpc>
                <a:spcPct val="120000"/>
              </a:lnSpc>
            </a:pPr>
            <a:r>
              <a:rPr lang="th-TH" dirty="0" smtClean="0"/>
              <a:t>P หรือ Post = ภายหลัง</a:t>
            </a:r>
          </a:p>
          <a:p>
            <a:pPr lvl="1">
              <a:lnSpc>
                <a:spcPct val="120000"/>
              </a:lnSpc>
            </a:pPr>
            <a:r>
              <a:rPr lang="th-TH" dirty="0" smtClean="0"/>
              <a:t>Exposure = เมื่อของเหลวที่มีเชื้อเอชไอวีสัมผัสกับเยื่อบุอ่อนต่างๆ หรือผิวหนังที่มีแผล มีช่องเปิด</a:t>
            </a:r>
          </a:p>
          <a:p>
            <a:pPr lvl="1">
              <a:lnSpc>
                <a:spcPct val="120000"/>
              </a:lnSpc>
            </a:pPr>
            <a:r>
              <a:rPr lang="th-TH" dirty="0" smtClean="0"/>
              <a:t>Prophylaxis = การป้องกันการติดเชื้อ หรือการป้องกันเชื้อโรค</a:t>
            </a:r>
          </a:p>
          <a:p>
            <a:pPr>
              <a:lnSpc>
                <a:spcPct val="120000"/>
              </a:lnSpc>
            </a:pPr>
            <a:r>
              <a:rPr lang="th-TH" dirty="0" smtClean="0"/>
              <a:t>เป็นวิธีการแพทย์ที่ใช้อยู่แล้ว เช่น ป้องกันมาเลเรีย ป้องกันการถ่ายทอดเชื้อจากแม่สู่ลูก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937931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8600"/>
            <a:ext cx="8229600" cy="1012726"/>
          </a:xfrm>
        </p:spPr>
        <p:txBody>
          <a:bodyPr/>
          <a:lstStyle/>
          <a:p>
            <a:r>
              <a:rPr lang="th-TH" dirty="0" smtClean="0"/>
              <a:t>สิ่งที่เรารู้เกี่ยวกับ PEP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1326"/>
            <a:ext cx="8229600" cy="4984837"/>
          </a:xfrm>
        </p:spPr>
        <p:txBody>
          <a:bodyPr>
            <a:normAutofit/>
          </a:bodyPr>
          <a:lstStyle/>
          <a:p>
            <a:r>
              <a:rPr lang="th-TH" dirty="0" smtClean="0"/>
              <a:t>กินยาหลายตัว </a:t>
            </a:r>
            <a:r>
              <a:rPr lang="en-US" dirty="0" smtClean="0"/>
              <a:t>(</a:t>
            </a:r>
            <a:r>
              <a:rPr lang="en-US" dirty="0" err="1" smtClean="0"/>
              <a:t>truvada</a:t>
            </a:r>
            <a:r>
              <a:rPr lang="en-US" dirty="0" smtClean="0"/>
              <a:t> [</a:t>
            </a:r>
            <a:r>
              <a:rPr lang="en-US" dirty="0" err="1" smtClean="0"/>
              <a:t>tenofovir+FTC</a:t>
            </a:r>
            <a:r>
              <a:rPr lang="en-US" dirty="0"/>
              <a:t>]</a:t>
            </a:r>
            <a:r>
              <a:rPr lang="en-US" dirty="0" smtClean="0"/>
              <a:t> + </a:t>
            </a:r>
            <a:r>
              <a:rPr lang="en-US" dirty="0" err="1" smtClean="0"/>
              <a:t>kaletra</a:t>
            </a:r>
            <a:r>
              <a:rPr lang="en-US" dirty="0" smtClean="0"/>
              <a:t> [</a:t>
            </a:r>
            <a:r>
              <a:rPr lang="en-US" dirty="0" err="1" smtClean="0"/>
              <a:t>lopinavir+ritonavir</a:t>
            </a:r>
            <a:r>
              <a:rPr lang="en-US" dirty="0" smtClean="0"/>
              <a:t>]) </a:t>
            </a:r>
          </a:p>
          <a:p>
            <a:r>
              <a:rPr lang="th-TH" dirty="0" smtClean="0"/>
              <a:t>กินภายในระยะเวลา 72 ชม. หรือเร็วกว่า</a:t>
            </a:r>
          </a:p>
          <a:p>
            <a:r>
              <a:rPr lang="th-TH" dirty="0" smtClean="0"/>
              <a:t>สัมฤทธิ์ผล ประมาณ 81%</a:t>
            </a:r>
          </a:p>
          <a:p>
            <a:r>
              <a:rPr lang="th-TH" dirty="0" smtClean="0"/>
              <a:t>การศึกษา </a:t>
            </a:r>
            <a:r>
              <a:rPr lang="en-US" dirty="0" smtClean="0"/>
              <a:t>(</a:t>
            </a:r>
            <a:r>
              <a:rPr lang="th-TH" dirty="0" smtClean="0"/>
              <a:t>ปี 2000</a:t>
            </a:r>
            <a:r>
              <a:rPr lang="en-US" dirty="0" smtClean="0">
                <a:latin typeface="Cordia New" pitchFamily="34" charset="-34"/>
                <a:cs typeface="Cordia New" pitchFamily="34" charset="-34"/>
              </a:rPr>
              <a:t>-2009) </a:t>
            </a:r>
            <a:r>
              <a:rPr lang="th-TH" dirty="0" smtClean="0"/>
              <a:t>ในเกย์ใน Amsterdam จำนวน 355 คนที่ใช้ PEP </a:t>
            </a:r>
            <a:r>
              <a:rPr lang="en-US" dirty="0" smtClean="0">
                <a:latin typeface="Cordia New" pitchFamily="34" charset="-34"/>
                <a:cs typeface="Cordia New" pitchFamily="34" charset="-34"/>
              </a:rPr>
              <a:t>(399 </a:t>
            </a:r>
            <a:r>
              <a:rPr lang="th-TH" dirty="0" smtClean="0">
                <a:latin typeface="Cordia New" pitchFamily="34" charset="-34"/>
                <a:cs typeface="Cordia New" pitchFamily="34" charset="-34"/>
              </a:rPr>
              <a:t>ครั้ง</a:t>
            </a:r>
            <a:r>
              <a:rPr lang="en-US" dirty="0" smtClean="0">
                <a:latin typeface="Cordia New" pitchFamily="34" charset="-34"/>
                <a:cs typeface="Cordia New" pitchFamily="34" charset="-34"/>
              </a:rPr>
              <a:t>)</a:t>
            </a:r>
            <a:r>
              <a:rPr lang="th-TH" dirty="0" smtClean="0">
                <a:latin typeface="Cordia New" pitchFamily="34" charset="-34"/>
                <a:cs typeface="Cordia New" pitchFamily="34" charset="-34"/>
              </a:rPr>
              <a:t> </a:t>
            </a:r>
            <a:r>
              <a:rPr lang="th-TH" dirty="0" smtClean="0"/>
              <a:t>เปรียบเทียบกับเกย์ที่ไม่ใช้ PEP จำนวน 782 คน ผู้ที่ใช้ PEP มีความเสี่ยงต่อการติดเชื้อสูงกว่าผู้ที่ไม่ใช้ 4 เท่า </a:t>
            </a:r>
            <a:r>
              <a:rPr lang="en-US" dirty="0" smtClean="0"/>
              <a:t>(</a:t>
            </a:r>
            <a:r>
              <a:rPr lang="th-TH" dirty="0" smtClean="0"/>
              <a:t>6.4 ต่อ 100 person years ในผู้ใช้ PEP และ 1.6 </a:t>
            </a:r>
            <a:r>
              <a:rPr lang="th-TH" dirty="0"/>
              <a:t>ต่อ 100 person </a:t>
            </a:r>
            <a:r>
              <a:rPr lang="th-TH" dirty="0" smtClean="0"/>
              <a:t>years ในผู้ที่ไม่ใช้ PEP</a:t>
            </a:r>
            <a:r>
              <a:rPr lang="en-US" dirty="0" smtClean="0"/>
              <a:t>)</a:t>
            </a:r>
            <a:endParaRPr lang="th-TH" dirty="0" smtClean="0"/>
          </a:p>
        </p:txBody>
      </p:sp>
    </p:spTree>
    <p:extLst>
      <p:ext uri="{BB962C8B-B14F-4D97-AF65-F5344CB8AC3E}">
        <p14:creationId xmlns="" xmlns:p14="http://schemas.microsoft.com/office/powerpoint/2010/main" val="2026984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EP Guidelines_UK.tif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4366" y="0"/>
            <a:ext cx="5691387" cy="668720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9393" y="157419"/>
            <a:ext cx="2781384" cy="646331"/>
          </a:xfrm>
          <a:prstGeom prst="rect">
            <a:avLst/>
          </a:prstGeom>
          <a:solidFill>
            <a:srgbClr val="CCFFCC"/>
          </a:solidFill>
          <a:ln w="12700" cmpd="sng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dirty="0" smtClean="0"/>
              <a:t>หลักเกณฑ์การใช้ PEP ของอังกฤษฉบับล่าสุด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707047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41637"/>
          </a:xfrm>
        </p:spPr>
        <p:txBody>
          <a:bodyPr>
            <a:normAutofit/>
          </a:bodyPr>
          <a:lstStyle/>
          <a:p>
            <a:r>
              <a:rPr lang="th-TH" sz="3200" dirty="0" smtClean="0"/>
              <a:t>การวิจัยเกี่ยวกับ PrEP ทำในกลุ่มประชากรหลากหลาย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4" name="Group 70"/>
          <p:cNvGraphicFramePr>
            <a:graphicFrameLocks/>
          </p:cNvGraphicFramePr>
          <p:nvPr>
            <p:extLst>
              <p:ext uri="{D42A27DB-BD31-4B8C-83A1-F6EECF244321}">
                <p14:modId xmlns="" xmlns:p14="http://schemas.microsoft.com/office/powerpoint/2010/main" val="2504753557"/>
              </p:ext>
            </p:extLst>
          </p:nvPr>
        </p:nvGraphicFramePr>
        <p:xfrm>
          <a:off x="324622" y="1117600"/>
          <a:ext cx="8362178" cy="5192713"/>
        </p:xfrm>
        <a:graphic>
          <a:graphicData uri="http://schemas.openxmlformats.org/drawingml/2006/table">
            <a:tbl>
              <a:tblPr/>
              <a:tblGrid>
                <a:gridCol w="1316177"/>
                <a:gridCol w="1504203"/>
                <a:gridCol w="1741708"/>
                <a:gridCol w="1504203"/>
                <a:gridCol w="1108360"/>
                <a:gridCol w="1187527"/>
              </a:tblGrid>
              <a:tr h="6350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charset="0"/>
                        </a:rPr>
                        <a:t>Sponsor/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charset="0"/>
                        </a:rPr>
                        <a:t>Study Name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charset="0"/>
                        </a:rPr>
                        <a:t>Product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charset="0"/>
                        </a:rPr>
                        <a:t>Site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charset="0"/>
                        </a:rPr>
                        <a:t>Study population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charset="0"/>
                        </a:rPr>
                        <a:t>Enrolled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charset="0"/>
                        </a:rPr>
                        <a:t>End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charset="0"/>
                        </a:rPr>
                        <a:t>date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99"/>
                    </a:solidFill>
                  </a:tcPr>
                </a:tc>
              </a:tr>
              <a:tr h="59507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charset="0"/>
                        </a:rPr>
                        <a:t>CDC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charset="0"/>
                        </a:rPr>
                        <a:t>Bangkok TDF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charset="0"/>
                        </a:rPr>
                        <a:t>Oral TDF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charset="0"/>
                        </a:rPr>
                        <a:t>Thailand (N=2400)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charset="0"/>
                        </a:rPr>
                        <a:t>Male and female IDU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charset="0"/>
                        </a:rPr>
                        <a:t>Enrolling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charset="0"/>
                        </a:rPr>
                        <a:t>completed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charset="0"/>
                        </a:rPr>
                        <a:t>2012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99"/>
                    </a:solidFill>
                  </a:tcPr>
                </a:tc>
              </a:tr>
              <a:tr h="56086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charset="0"/>
                        </a:rPr>
                        <a:t>CDC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charset="0"/>
                        </a:rPr>
                        <a:t>T/Project 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charset="0"/>
                        </a:rPr>
                        <a:t>Oral TDF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charset="0"/>
                        </a:rPr>
                        <a:t>USA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charset="0"/>
                        </a:rPr>
                        <a:t>(N=400)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charset="0"/>
                        </a:rPr>
                        <a:t>MSM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charset="0"/>
                        </a:rPr>
                        <a:t>7/09 Study completed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charset="0"/>
                        </a:rPr>
                        <a:t>Results in 2010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99"/>
                    </a:solidFill>
                  </a:tcPr>
                </a:tc>
              </a:tr>
              <a:tr h="58219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charset="0"/>
                        </a:rPr>
                        <a:t>CDC</a:t>
                      </a:r>
                      <a:b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charset="0"/>
                        </a:rPr>
                        <a:t>TDF-2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charset="0"/>
                        </a:rPr>
                        <a:t>Oral FTC/TDF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charset="0"/>
                        </a:rPr>
                        <a:t>Botswana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charset="0"/>
                        </a:rPr>
                        <a:t>(N = 2000)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charset="0"/>
                        </a:rPr>
                        <a:t>Heterosexual men &amp; women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charset="0"/>
                        </a:rPr>
                        <a:t>Enrolling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charset="0"/>
                        </a:rPr>
                        <a:t>completed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charset="0"/>
                        </a:rPr>
                        <a:t>2010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99"/>
                    </a:solidFill>
                  </a:tcPr>
                </a:tc>
              </a:tr>
              <a:tr h="8194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charset="0"/>
                        </a:rPr>
                        <a:t>NIH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charset="0"/>
                        </a:rPr>
                        <a:t>iPrEx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charset="0"/>
                        </a:rPr>
                        <a:t>Oral FTC/TDF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charset="0"/>
                        </a:rPr>
                        <a:t>Peru, Ecuador,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charset="0"/>
                        </a:rPr>
                        <a:t>US, other sites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charset="0"/>
                        </a:rPr>
                        <a:t>(N=3000)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charset="0"/>
                        </a:rPr>
                        <a:t>MSM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charset="0"/>
                        </a:rPr>
                        <a:t>Enrollment completing in 12/09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charset="0"/>
                        </a:rPr>
                        <a:t>2011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99"/>
                    </a:solidFill>
                  </a:tcPr>
                </a:tc>
              </a:tr>
              <a:tr h="85708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charset="0"/>
                        </a:rPr>
                        <a:t>NIH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charset="0"/>
                        </a:rPr>
                        <a:t>VOICE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charset="0"/>
                        </a:rPr>
                        <a:t>Vaginal TDF gel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charset="0"/>
                        </a:rPr>
                        <a:t>Oral TDF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charset="0"/>
                        </a:rPr>
                        <a:t>Oral  FTC/TDF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charset="0"/>
                        </a:rPr>
                        <a:t>Africa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charset="0"/>
                        </a:rPr>
                        <a:t>(N=4200)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charset="0"/>
                        </a:rPr>
                        <a:t>Women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charset="0"/>
                        </a:rPr>
                        <a:t>Enrolling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charset="0"/>
                        </a:rPr>
                        <a:t>2012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99"/>
                    </a:solidFill>
                  </a:tcPr>
                </a:tc>
              </a:tr>
              <a:tr h="56086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charset="0"/>
                        </a:rPr>
                        <a:t>FHI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charset="0"/>
                        </a:rPr>
                        <a:t>FEM-PrEP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charset="0"/>
                        </a:rPr>
                        <a:t>Oral FTC/TDF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charset="0"/>
                        </a:rPr>
                        <a:t>Africa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charset="0"/>
                        </a:rPr>
                        <a:t>(N=3900)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charset="0"/>
                        </a:rPr>
                        <a:t>Women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charset="0"/>
                        </a:rPr>
                        <a:t>Enrolling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charset="0"/>
                        </a:rPr>
                        <a:t>2013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99"/>
                    </a:solidFill>
                  </a:tcPr>
                </a:tc>
              </a:tr>
              <a:tr h="5821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charset="0"/>
                        </a:rPr>
                        <a:t>UW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charset="0"/>
                        </a:rPr>
                        <a:t>Partners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charset="0"/>
                        </a:rPr>
                        <a:t>Oral TDF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charset="0"/>
                        </a:rPr>
                        <a:t>FTC/TDF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charset="0"/>
                        </a:rPr>
                        <a:t>Africa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charset="0"/>
                        </a:rPr>
                        <a:t>(N=3900 couples)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charset="0"/>
                        </a:rPr>
                        <a:t>Serodiscordant couples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charset="0"/>
                        </a:rPr>
                        <a:t>Enrolling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charset="0"/>
                        </a:rPr>
                        <a:t>2011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9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2445195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/>
          <p:cNvSpPr>
            <a:spLocks noGrp="1"/>
          </p:cNvSpPr>
          <p:nvPr>
            <p:ph type="title"/>
          </p:nvPr>
        </p:nvSpPr>
        <p:spPr>
          <a:xfrm>
            <a:off x="457200" y="141111"/>
            <a:ext cx="8229600" cy="832027"/>
          </a:xfrm>
        </p:spPr>
        <p:txBody>
          <a:bodyPr/>
          <a:lstStyle/>
          <a:p>
            <a:pPr algn="ctr"/>
            <a:r>
              <a:rPr lang="th-TH" dirty="0" smtClean="0">
                <a:latin typeface="Cambria" charset="0"/>
                <a:ea typeface="ＭＳ Ｐゴシック" charset="0"/>
              </a:rPr>
              <a:t>สิ่งที่เรารู้จากการวิจัย PrEP</a:t>
            </a:r>
            <a:endParaRPr lang="en-US" dirty="0">
              <a:latin typeface="Cambria" charset="0"/>
              <a:ea typeface="ＭＳ Ｐゴシック" charset="0"/>
            </a:endParaRPr>
          </a:p>
        </p:txBody>
      </p:sp>
      <p:sp>
        <p:nvSpPr>
          <p:cNvPr id="23554" name="Content Placeholder 2"/>
          <p:cNvSpPr>
            <a:spLocks noGrp="1"/>
          </p:cNvSpPr>
          <p:nvPr>
            <p:ph idx="1"/>
          </p:nvPr>
        </p:nvSpPr>
        <p:spPr>
          <a:xfrm>
            <a:off x="323850" y="1219200"/>
            <a:ext cx="8453438" cy="6080125"/>
          </a:xfrm>
        </p:spPr>
        <p:txBody>
          <a:bodyPr/>
          <a:lstStyle/>
          <a:p>
            <a:pPr>
              <a:spcBef>
                <a:spcPct val="0"/>
              </a:spcBef>
            </a:pPr>
            <a:r>
              <a:rPr lang="th-TH" dirty="0">
                <a:latin typeface="Arial Narrow" charset="0"/>
                <a:ea typeface="ＭＳ Ｐゴシック" charset="0"/>
              </a:rPr>
              <a:t>พิสูจน์แนวความคิด</a:t>
            </a:r>
            <a:r>
              <a:rPr lang="en-US" dirty="0">
                <a:latin typeface="Arial Narrow" charset="0"/>
                <a:ea typeface="ＭＳ Ｐゴシック" charset="0"/>
              </a:rPr>
              <a:t>! </a:t>
            </a:r>
            <a:r>
              <a:rPr lang="th-TH" dirty="0">
                <a:latin typeface="Arial Narrow" charset="0"/>
                <a:ea typeface="ＭＳ Ｐゴシック" charset="0"/>
              </a:rPr>
              <a:t>โครงการทดลอง</a:t>
            </a:r>
            <a:r>
              <a:rPr lang="en-US" dirty="0">
                <a:latin typeface="Arial Narrow" charset="0"/>
                <a:ea typeface="ＭＳ Ｐゴシック" charset="0"/>
              </a:rPr>
              <a:t> </a:t>
            </a:r>
            <a:r>
              <a:rPr lang="en-US" dirty="0" err="1">
                <a:latin typeface="Arial Narrow" charset="0"/>
                <a:ea typeface="ＭＳ Ｐゴシック" charset="0"/>
              </a:rPr>
              <a:t>PrEP</a:t>
            </a:r>
            <a:r>
              <a:rPr lang="en-US" dirty="0">
                <a:latin typeface="Arial Narrow" charset="0"/>
                <a:ea typeface="ＭＳ Ｐゴシック" charset="0"/>
              </a:rPr>
              <a:t> </a:t>
            </a:r>
            <a:r>
              <a:rPr lang="th-TH" dirty="0">
                <a:latin typeface="Arial Narrow" charset="0"/>
                <a:ea typeface="ＭＳ Ｐゴシック" charset="0"/>
              </a:rPr>
              <a:t>ขนาดใหญ่เกี่ยวกับความปลอดภัยและประสิทธิผลสามโครงการ</a:t>
            </a:r>
            <a:r>
              <a:rPr lang="en-US" dirty="0">
                <a:latin typeface="Arial Narrow" charset="0"/>
                <a:ea typeface="ＭＳ Ｐゴシック" charset="0"/>
              </a:rPr>
              <a:t> (</a:t>
            </a:r>
            <a:r>
              <a:rPr lang="th-TH" dirty="0">
                <a:latin typeface="Arial Narrow" charset="0"/>
                <a:ea typeface="ＭＳ Ｐゴシック" charset="0"/>
              </a:rPr>
              <a:t>ในกลุ่มเกย์</a:t>
            </a:r>
            <a:r>
              <a:rPr lang="th-TH" dirty="0" smtClean="0">
                <a:latin typeface="Arial Narrow" charset="0"/>
                <a:ea typeface="ＭＳ Ｐゴシック" charset="0"/>
              </a:rPr>
              <a:t>และสาวประเภท</a:t>
            </a:r>
            <a:r>
              <a:rPr lang="th-TH" dirty="0">
                <a:latin typeface="Arial Narrow" charset="0"/>
                <a:ea typeface="ＭＳ Ｐゴシック" charset="0"/>
              </a:rPr>
              <a:t>สอง ในคู่ต่าง และในหญิงและชายรักต่างเพศ</a:t>
            </a:r>
            <a:r>
              <a:rPr lang="en-US" dirty="0">
                <a:latin typeface="Arial Narrow" charset="0"/>
                <a:ea typeface="ＭＳ Ｐゴシック" charset="0"/>
              </a:rPr>
              <a:t>) </a:t>
            </a:r>
            <a:r>
              <a:rPr lang="th-TH" dirty="0">
                <a:latin typeface="Arial Narrow" charset="0"/>
                <a:ea typeface="ＭＳ Ｐゴシック" charset="0"/>
              </a:rPr>
              <a:t>แสดงหลักฐานในการลดความเสี่ยงต่อการติดเชื้อ</a:t>
            </a:r>
            <a:endParaRPr lang="en-US" dirty="0">
              <a:latin typeface="Arial Narrow" charset="0"/>
              <a:ea typeface="ＭＳ Ｐゴシック" charset="0"/>
            </a:endParaRPr>
          </a:p>
          <a:p>
            <a:pPr>
              <a:spcBef>
                <a:spcPct val="0"/>
              </a:spcBef>
            </a:pPr>
            <a:r>
              <a:rPr lang="th-TH" dirty="0">
                <a:latin typeface="Arial Narrow" charset="0"/>
                <a:ea typeface="ＭＳ Ｐゴシック" charset="0"/>
              </a:rPr>
              <a:t>โครงการขนาดใหญ่สองโครงการในหญิงรักต่างเพศไม่มีผล </a:t>
            </a:r>
            <a:r>
              <a:rPr lang="en-US" dirty="0">
                <a:latin typeface="Arial Narrow" charset="0"/>
                <a:ea typeface="ＭＳ Ｐゴシック" charset="0"/>
              </a:rPr>
              <a:t>(FEM </a:t>
            </a:r>
            <a:r>
              <a:rPr lang="en-US" dirty="0" err="1">
                <a:latin typeface="Arial Narrow" charset="0"/>
                <a:ea typeface="ＭＳ Ｐゴシック" charset="0"/>
              </a:rPr>
              <a:t>PrEP</a:t>
            </a:r>
            <a:r>
              <a:rPr lang="en-US" dirty="0">
                <a:latin typeface="Arial Narrow" charset="0"/>
                <a:ea typeface="ＭＳ Ｐゴシック" charset="0"/>
              </a:rPr>
              <a:t> </a:t>
            </a:r>
            <a:r>
              <a:rPr lang="th-TH" dirty="0">
                <a:latin typeface="Arial Narrow" charset="0"/>
                <a:ea typeface="ＭＳ Ｐゴシック" charset="0"/>
              </a:rPr>
              <a:t>และ </a:t>
            </a:r>
            <a:r>
              <a:rPr lang="en-US" dirty="0">
                <a:latin typeface="Arial Narrow" charset="0"/>
                <a:ea typeface="ＭＳ Ｐゴシック" charset="0"/>
              </a:rPr>
              <a:t>VOICE)</a:t>
            </a:r>
          </a:p>
          <a:p>
            <a:pPr>
              <a:spcBef>
                <a:spcPct val="0"/>
              </a:spcBef>
            </a:pPr>
            <a:r>
              <a:rPr lang="th-TH" dirty="0">
                <a:latin typeface="Arial Narrow" charset="0"/>
                <a:ea typeface="ＭＳ Ｐゴシック" charset="0"/>
              </a:rPr>
              <a:t>การกินยาอย่างถูกต้องเป็นสิ่งสำคัญ </a:t>
            </a:r>
            <a:r>
              <a:rPr lang="en-US" dirty="0">
                <a:latin typeface="Arial Narrow" charset="0"/>
                <a:ea typeface="ＭＳ Ｐゴシック" charset="0"/>
              </a:rPr>
              <a:t>—</a:t>
            </a:r>
            <a:r>
              <a:rPr lang="th-TH" dirty="0">
                <a:latin typeface="Arial Narrow" charset="0"/>
                <a:ea typeface="ＭＳ Ｐゴシック" charset="0"/>
              </a:rPr>
              <a:t> คนที่สามารถกินยา</a:t>
            </a:r>
            <a:r>
              <a:rPr lang="en-US" dirty="0">
                <a:latin typeface="Arial Narrow" charset="0"/>
                <a:ea typeface="ＭＳ Ｐゴシック" charset="0"/>
              </a:rPr>
              <a:t> </a:t>
            </a:r>
            <a:r>
              <a:rPr lang="en-US" dirty="0" err="1">
                <a:latin typeface="Arial Narrow" charset="0"/>
                <a:ea typeface="ＭＳ Ｐゴシック" charset="0"/>
              </a:rPr>
              <a:t>PrEP</a:t>
            </a:r>
            <a:r>
              <a:rPr lang="en-US" dirty="0">
                <a:latin typeface="Arial Narrow" charset="0"/>
                <a:ea typeface="ＭＳ Ｐゴシック" charset="0"/>
              </a:rPr>
              <a:t> </a:t>
            </a:r>
            <a:r>
              <a:rPr lang="th-TH" dirty="0">
                <a:latin typeface="Arial Narrow" charset="0"/>
                <a:ea typeface="ＭＳ Ｐゴシック" charset="0"/>
              </a:rPr>
              <a:t>ได้</a:t>
            </a:r>
            <a:r>
              <a:rPr lang="th-TH" dirty="0" smtClean="0">
                <a:latin typeface="Arial Narrow" charset="0"/>
                <a:ea typeface="ＭＳ Ｐゴシック" charset="0"/>
              </a:rPr>
              <a:t>อย่าง</a:t>
            </a:r>
            <a:r>
              <a:rPr lang="th-TH" dirty="0">
                <a:latin typeface="Arial Narrow" charset="0"/>
                <a:ea typeface="ＭＳ Ｐゴシック" charset="0"/>
              </a:rPr>
              <a:t>ถูกต้องมีวินัยตามที่ได้รับคำแนะนำมีความเสี่ยงที่ต่ำกว่า</a:t>
            </a:r>
            <a:r>
              <a:rPr lang="en-US" dirty="0">
                <a:latin typeface="Arial Narrow" charset="0"/>
                <a:ea typeface="ＭＳ Ｐゴシック" charset="0"/>
              </a:rPr>
              <a:t> </a:t>
            </a:r>
          </a:p>
          <a:p>
            <a:endParaRPr lang="en-US" dirty="0">
              <a:latin typeface="Arial Narrow" charset="0"/>
              <a:ea typeface="ＭＳ Ｐゴシック" charset="0"/>
            </a:endParaRPr>
          </a:p>
          <a:p>
            <a:endParaRPr lang="en-US" b="1" dirty="0">
              <a:latin typeface="Arial Narrow" charset="0"/>
              <a:ea typeface="ＭＳ Ｐゴシック" charset="0"/>
            </a:endParaRPr>
          </a:p>
          <a:p>
            <a:endParaRPr lang="en-US" dirty="0">
              <a:latin typeface="Arial Narrow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904797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 smtClean="0"/>
              <a:t>FEM PrEP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h-TH" dirty="0" smtClean="0"/>
              <a:t>ผู้หญิงรักต่างเพศ 3752 คนใน Kenya, Tanzania, South Africa</a:t>
            </a:r>
          </a:p>
          <a:p>
            <a:r>
              <a:rPr lang="th-TH" dirty="0" smtClean="0"/>
              <a:t>กินยา truvada ทุกวัน</a:t>
            </a:r>
          </a:p>
          <a:p>
            <a:r>
              <a:rPr lang="th-TH" dirty="0" smtClean="0"/>
              <a:t>56 คนติดเชื้อ </a:t>
            </a:r>
            <a:r>
              <a:rPr lang="en-US" dirty="0" smtClean="0"/>
              <a:t>(</a:t>
            </a:r>
            <a:r>
              <a:rPr lang="th-TH" dirty="0" smtClean="0"/>
              <a:t>กลุ่มละ 28 คน</a:t>
            </a:r>
            <a:r>
              <a:rPr lang="en-US" dirty="0" smtClean="0"/>
              <a:t>)</a:t>
            </a:r>
            <a:endParaRPr lang="th-TH" dirty="0" smtClean="0"/>
          </a:p>
          <a:p>
            <a:r>
              <a:rPr lang="th-TH" dirty="0" smtClean="0"/>
              <a:t>DSMB แนะนำให้ยุติการทดลองเพราะความเปล่าประโยชน์ เมื่อ 18 กพ. 2554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556669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225" name="Picture 4" descr="MTN LOGO_Fina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0525" y="6207125"/>
            <a:ext cx="1017588" cy="60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0226" name="Rectangle 22"/>
          <p:cNvSpPr>
            <a:spLocks noChangeArrowheads="1"/>
          </p:cNvSpPr>
          <p:nvPr/>
        </p:nvSpPr>
        <p:spPr bwMode="auto">
          <a:xfrm>
            <a:off x="390525" y="258409"/>
            <a:ext cx="76200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0" hangingPunct="0"/>
            <a:r>
              <a:rPr lang="th-TH" sz="4000" dirty="0" smtClean="0">
                <a:solidFill>
                  <a:srgbClr val="000000"/>
                </a:solidFill>
                <a:latin typeface="Arial" charset="0"/>
              </a:rPr>
              <a:t>การ</a:t>
            </a:r>
            <a:r>
              <a:rPr lang="th-TH" sz="4000" dirty="0">
                <a:solidFill>
                  <a:srgbClr val="000000"/>
                </a:solidFill>
                <a:latin typeface="Arial" charset="0"/>
              </a:rPr>
              <a:t>วิ</a:t>
            </a:r>
            <a:r>
              <a:rPr lang="th-TH" sz="4000" dirty="0" smtClean="0">
                <a:solidFill>
                  <a:srgbClr val="000000"/>
                </a:solidFill>
                <a:latin typeface="Arial" charset="0"/>
              </a:rPr>
              <a:t>จัย </a:t>
            </a:r>
            <a:r>
              <a:rPr lang="en-US" sz="4000" dirty="0">
                <a:solidFill>
                  <a:srgbClr val="000000"/>
                </a:solidFill>
                <a:latin typeface="Arial" charset="0"/>
              </a:rPr>
              <a:t>VOICE</a:t>
            </a:r>
          </a:p>
        </p:txBody>
      </p:sp>
      <p:pic>
        <p:nvPicPr>
          <p:cNvPr id="131076" name="Picture 3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525" y="966434"/>
            <a:ext cx="7788275" cy="463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</p:pic>
      <p:sp>
        <p:nvSpPr>
          <p:cNvPr id="180228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96795B23-9D7C-BC44-9742-1CB8F55644F2}" type="slidenum">
              <a:rPr lang="en-US" sz="1000">
                <a:latin typeface="Arial" charset="0"/>
                <a:cs typeface="Arial" charset="0"/>
              </a:rPr>
              <a:pPr eaLnBrk="1" hangingPunct="1"/>
              <a:t>25</a:t>
            </a:fld>
            <a:endParaRPr lang="en-US" sz="1000">
              <a:latin typeface="Arial" charset="0"/>
              <a:cs typeface="Arial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82221" y="5798445"/>
            <a:ext cx="8593668" cy="369332"/>
          </a:xfrm>
          <a:prstGeom prst="rect">
            <a:avLst/>
          </a:prstGeom>
          <a:solidFill>
            <a:srgbClr val="558ED5"/>
          </a:solidFill>
          <a:ln w="19050" cmpd="sng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th-TH" dirty="0" smtClean="0">
                <a:solidFill>
                  <a:srgbClr val="FF0000"/>
                </a:solidFill>
              </a:rPr>
              <a:t>สูตรการใช้ tenofovir gel 1% ในโครงการ VOICE ต่างกับโครงการ CAPRISA 004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970798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ChangeArrowheads="1"/>
          </p:cNvSpPr>
          <p:nvPr>
            <p:ph type="title"/>
          </p:nvPr>
        </p:nvSpPr>
        <p:spPr>
          <a:xfrm>
            <a:off x="520700" y="-161925"/>
            <a:ext cx="8229600" cy="1143000"/>
          </a:xfrm>
        </p:spPr>
        <p:txBody>
          <a:bodyPr/>
          <a:lstStyle/>
          <a:p>
            <a:pPr algn="ctr"/>
            <a:r>
              <a:rPr lang="th-TH" sz="3200" dirty="0">
                <a:latin typeface="Arial Narrow" pitchFamily="34" charset="0"/>
                <a:ea typeface="ＭＳ Ｐゴシック" charset="0"/>
              </a:rPr>
              <a:t>การขริบหนัง</a:t>
            </a:r>
            <a:r>
              <a:rPr lang="th-TH" sz="3200" dirty="0" smtClean="0">
                <a:latin typeface="Arial Narrow" pitchFamily="34" charset="0"/>
                <a:ea typeface="ＭＳ Ｐゴシック" charset="0"/>
              </a:rPr>
              <a:t>หุ้มปลายอวัยวะ</a:t>
            </a:r>
            <a:r>
              <a:rPr lang="th-TH" sz="3200" dirty="0">
                <a:latin typeface="Arial Narrow" pitchFamily="34" charset="0"/>
                <a:ea typeface="ＭＳ Ｐゴシック" charset="0"/>
              </a:rPr>
              <a:t>เพศชายด้วยวิธีการแพทย์</a:t>
            </a:r>
            <a:endParaRPr lang="en-US" sz="3200" dirty="0">
              <a:latin typeface="Arial Narrow" pitchFamily="34" charset="0"/>
              <a:ea typeface="ＭＳ Ｐゴシック" charset="0"/>
            </a:endParaRP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0975" y="1100668"/>
            <a:ext cx="8569325" cy="3598332"/>
          </a:xfrm>
          <a:noFill/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ct val="10000"/>
              </a:spcAft>
              <a:defRPr/>
            </a:pPr>
            <a:r>
              <a:rPr lang="th-TH" sz="2400" dirty="0" smtClean="0">
                <a:latin typeface="Arial Narrow" charset="0"/>
                <a:ea typeface="ＭＳ Ｐゴシック" charset="0"/>
                <a:cs typeface="Arial Narrow" charset="0"/>
              </a:rPr>
              <a:t>การศึกษาเกี่ยวกับปัจจัยและผล (ecological) </a:t>
            </a:r>
            <a:r>
              <a:rPr lang="en-US" sz="2400" dirty="0" smtClean="0">
                <a:latin typeface="Arial Narrow" charset="0"/>
                <a:ea typeface="ＭＳ Ｐゴシック" charset="0"/>
                <a:cs typeface="Arial Narrow" charset="0"/>
              </a:rPr>
              <a:t>4</a:t>
            </a:r>
            <a:r>
              <a:rPr lang="en-US" sz="1800" dirty="0" smtClean="0">
                <a:latin typeface="Arial Narrow" charset="0"/>
                <a:ea typeface="ＭＳ Ｐゴシック" charset="0"/>
                <a:cs typeface="Arial Narrow" charset="0"/>
              </a:rPr>
              <a:t> </a:t>
            </a:r>
            <a:r>
              <a:rPr lang="th-TH" sz="2400" dirty="0" smtClean="0">
                <a:latin typeface="Arial Narrow" charset="0"/>
                <a:ea typeface="ＭＳ Ｐゴシック" charset="0"/>
                <a:cs typeface="Arial Narrow" charset="0"/>
              </a:rPr>
              <a:t>โครงการ</a:t>
            </a:r>
            <a:endParaRPr lang="en-US" sz="2400" dirty="0" smtClean="0">
              <a:latin typeface="Arial Narrow" charset="0"/>
              <a:ea typeface="ＭＳ Ｐゴシック" charset="0"/>
              <a:cs typeface="Arial Narrow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defRPr/>
            </a:pPr>
            <a:r>
              <a:rPr lang="th-TH" sz="2400" dirty="0" smtClean="0">
                <a:latin typeface="Arial Narrow" charset="0"/>
                <a:ea typeface="ＭＳ Ｐゴシック" charset="0"/>
                <a:cs typeface="Arial Narrow" charset="0"/>
              </a:rPr>
              <a:t>การศึกษาสถานการณ์ (cross-sectional) </a:t>
            </a:r>
            <a:r>
              <a:rPr lang="en-US" sz="2400" dirty="0" smtClean="0">
                <a:latin typeface="Arial Narrow" charset="0"/>
                <a:ea typeface="ＭＳ Ｐゴシック" charset="0"/>
                <a:cs typeface="Arial Narrow" charset="0"/>
              </a:rPr>
              <a:t>35</a:t>
            </a:r>
            <a:r>
              <a:rPr lang="th-TH" sz="2400" dirty="0" smtClean="0">
                <a:latin typeface="Arial Narrow" charset="0"/>
                <a:ea typeface="ＭＳ Ｐゴシック" charset="0"/>
                <a:cs typeface="Arial Narrow" charset="0"/>
              </a:rPr>
              <a:t> โครงการ</a:t>
            </a:r>
            <a:endParaRPr lang="en-US" dirty="0" smtClean="0">
              <a:latin typeface="Arial Narrow" charset="0"/>
              <a:ea typeface="ＭＳ Ｐゴシック" charset="0"/>
              <a:cs typeface="Arial Narrow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ct val="10000"/>
              </a:spcAft>
              <a:defRPr/>
            </a:pPr>
            <a:r>
              <a:rPr lang="th-TH" sz="2400" dirty="0" smtClean="0">
                <a:latin typeface="Arial Narrow" charset="0"/>
                <a:ea typeface="ＭＳ Ｐゴシック" charset="0"/>
                <a:cs typeface="Arial Narrow" charset="0"/>
              </a:rPr>
              <a:t>การศึกษาแบบมองไปข้างหน้า (prospective) </a:t>
            </a:r>
            <a:r>
              <a:rPr lang="en-US" sz="2400" dirty="0" smtClean="0">
                <a:latin typeface="Arial Narrow" charset="0"/>
                <a:ea typeface="ＭＳ Ｐゴシック" charset="0"/>
                <a:cs typeface="Arial Narrow" charset="0"/>
              </a:rPr>
              <a:t>14</a:t>
            </a:r>
            <a:r>
              <a:rPr lang="th-TH" sz="2400" dirty="0" smtClean="0">
                <a:latin typeface="Arial Narrow" charset="0"/>
                <a:ea typeface="ＭＳ Ｐゴシック" charset="0"/>
                <a:cs typeface="Arial Narrow" charset="0"/>
              </a:rPr>
              <a:t>​โครงการ</a:t>
            </a:r>
            <a:endParaRPr lang="en-US" dirty="0" smtClean="0">
              <a:latin typeface="Arial Narrow" charset="0"/>
              <a:ea typeface="ＭＳ Ｐゴシック" charset="0"/>
              <a:cs typeface="Arial Narrow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defRPr/>
            </a:pPr>
            <a:r>
              <a:rPr lang="th-TH" sz="2400" dirty="0" smtClean="0">
                <a:latin typeface="Arial Narrow" charset="0"/>
                <a:ea typeface="ＭＳ Ｐゴシック" charset="0"/>
                <a:cs typeface="Arial Narrow" charset="0"/>
              </a:rPr>
              <a:t>การวิจัยสุ่มตัวอย่างเปรียบเทียบ (randomized controlled) 3 โครงการ</a:t>
            </a:r>
            <a:endParaRPr lang="en-GB" dirty="0" smtClean="0">
              <a:latin typeface="Arial Narrow" charset="0"/>
              <a:ea typeface="ＭＳ Ｐゴシック" charset="0"/>
              <a:cs typeface="Arial Narrow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defRPr/>
            </a:pPr>
            <a:r>
              <a:rPr lang="th-TH" sz="2400" dirty="0" smtClean="0">
                <a:latin typeface="Arial Narrow" charset="0"/>
                <a:ea typeface="ＭＳ Ｐゴシック" charset="0"/>
                <a:cs typeface="Arial Narrow" charset="0"/>
              </a:rPr>
              <a:t>ข้อมูลล่าสุดจากอาฟริกาใต้พิสูจน์ว่าการขริบหนังหุ้มฯมีผลโดยตรงต่อการแพร่ระบาดของ HIV อัตราการติดเชื้อในผู้ชายที่ขริบต่ำกว่า (ที่ไม่ขริบ) 76%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80975" y="5170382"/>
            <a:ext cx="8583438" cy="1643527"/>
          </a:xfrm>
          <a:prstGeom prst="rect">
            <a:avLst/>
          </a:prstGeom>
          <a:solidFill>
            <a:srgbClr val="558ED5"/>
          </a:solidFill>
          <a:ln w="28575" cmpd="sng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Aft>
                <a:spcPct val="10000"/>
              </a:spcAft>
              <a:defRPr/>
            </a:pPr>
            <a:r>
              <a:rPr lang="th-TH" sz="2800" b="1" dirty="0" smtClean="0">
                <a:latin typeface="Arial Narrow" charset="0"/>
                <a:ea typeface="ＭＳ Ｐゴシック" charset="0"/>
                <a:cs typeface="Arial Narrow" charset="0"/>
              </a:rPr>
              <a:t>ผลเหล่านี้แสดงว่าการ</a:t>
            </a:r>
            <a:r>
              <a:rPr lang="th-TH" sz="2800" b="1" dirty="0">
                <a:latin typeface="Arial Narrow" charset="0"/>
                <a:ea typeface="ＭＳ Ｐゴシック" charset="0"/>
                <a:cs typeface="Arial Narrow" charset="0"/>
              </a:rPr>
              <a:t>ขริบฯด้วยวิธีการแพทย์ลดความ</a:t>
            </a:r>
            <a:r>
              <a:rPr lang="th-TH" sz="2800" b="1" dirty="0" smtClean="0">
                <a:latin typeface="Arial Narrow" charset="0"/>
                <a:ea typeface="ＭＳ Ｐゴシック" charset="0"/>
                <a:cs typeface="Arial Narrow" charset="0"/>
              </a:rPr>
              <a:t>เสี่ยง</a:t>
            </a:r>
            <a:r>
              <a:rPr lang="th-TH" sz="2800" b="1" dirty="0">
                <a:latin typeface="Arial Narrow" charset="0"/>
                <a:ea typeface="ＭＳ Ｐゴシック" charset="0"/>
                <a:cs typeface="Arial Narrow" charset="0"/>
              </a:rPr>
              <a:t>ต่อการติดเชื้อ</a:t>
            </a:r>
            <a:r>
              <a:rPr lang="en-GB" sz="2800" b="1" dirty="0">
                <a:latin typeface="Arial Narrow" charset="0"/>
                <a:ea typeface="ＭＳ Ｐゴシック" charset="0"/>
                <a:cs typeface="Arial Narrow" charset="0"/>
              </a:rPr>
              <a:t> HIV </a:t>
            </a:r>
            <a:r>
              <a:rPr lang="th-TH" sz="2800" b="1" dirty="0">
                <a:latin typeface="Arial Narrow" charset="0"/>
                <a:ea typeface="ＭＳ Ｐゴシック" charset="0"/>
                <a:cs typeface="Arial Narrow" charset="0"/>
              </a:rPr>
              <a:t>ในกลุ่มชายรักต่างเพศประมาณ </a:t>
            </a:r>
            <a:r>
              <a:rPr lang="en-GB" sz="2800" b="1" dirty="0">
                <a:latin typeface="Arial Narrow" charset="0"/>
                <a:ea typeface="ＭＳ Ｐゴシック" charset="0"/>
                <a:cs typeface="Arial Narrow" charset="0"/>
              </a:rPr>
              <a:t>60%</a:t>
            </a:r>
          </a:p>
        </p:txBody>
      </p:sp>
    </p:spTree>
    <p:extLst>
      <p:ext uri="{BB962C8B-B14F-4D97-AF65-F5344CB8AC3E}">
        <p14:creationId xmlns="" xmlns:p14="http://schemas.microsoft.com/office/powerpoint/2010/main" val="379829343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/>
          <p:cNvSpPr>
            <a:spLocks noGrp="1"/>
          </p:cNvSpPr>
          <p:nvPr>
            <p:ph type="title"/>
          </p:nvPr>
        </p:nvSpPr>
        <p:spPr>
          <a:xfrm>
            <a:off x="134938" y="-106363"/>
            <a:ext cx="9009062" cy="1143001"/>
          </a:xfrm>
        </p:spPr>
        <p:txBody>
          <a:bodyPr>
            <a:normAutofit/>
          </a:bodyPr>
          <a:lstStyle/>
          <a:p>
            <a:pPr algn="ctr"/>
            <a:r>
              <a:rPr lang="th-TH" dirty="0" smtClean="0">
                <a:latin typeface="Cambria" charset="0"/>
                <a:ea typeface="ＭＳ Ｐゴシック" charset="0"/>
              </a:rPr>
              <a:t>สารฆ่าจุลินทรีย์</a:t>
            </a:r>
            <a:r>
              <a:rPr lang="th-TH" dirty="0">
                <a:latin typeface="Cambria" charset="0"/>
                <a:ea typeface="ＭＳ Ｐゴシック" charset="0"/>
              </a:rPr>
              <a:t>​(</a:t>
            </a:r>
            <a:r>
              <a:rPr lang="en-US" dirty="0" err="1">
                <a:latin typeface="Cambria" charset="0"/>
                <a:ea typeface="ＭＳ Ｐゴシック" charset="0"/>
              </a:rPr>
              <a:t>microbicide</a:t>
            </a:r>
            <a:r>
              <a:rPr lang="th-TH" dirty="0">
                <a:latin typeface="Cambria" charset="0"/>
                <a:ea typeface="ＭＳ Ｐゴシック" charset="0"/>
              </a:rPr>
              <a:t>) คืออะไร</a:t>
            </a:r>
            <a:r>
              <a:rPr lang="en-US" dirty="0">
                <a:latin typeface="Cambria" charset="0"/>
                <a:ea typeface="ＭＳ Ｐゴシック" charset="0"/>
              </a:rPr>
              <a:t>?</a:t>
            </a:r>
          </a:p>
        </p:txBody>
      </p:sp>
      <p:sp>
        <p:nvSpPr>
          <p:cNvPr id="53250" name="Content Placeholder 2"/>
          <p:cNvSpPr>
            <a:spLocks noGrp="1"/>
          </p:cNvSpPr>
          <p:nvPr>
            <p:ph idx="1"/>
          </p:nvPr>
        </p:nvSpPr>
        <p:spPr>
          <a:xfrm>
            <a:off x="284163" y="1219200"/>
            <a:ext cx="8339137" cy="1382713"/>
          </a:xfrm>
          <a:extLst/>
        </p:spPr>
        <p:txBody>
          <a:bodyPr>
            <a:noAutofit/>
          </a:bodyPr>
          <a:lstStyle/>
          <a:p>
            <a:pPr marL="457200" indent="-457200">
              <a:buFont typeface="Wingdings" pitchFamily="2" charset="2"/>
              <a:buChar char="§"/>
              <a:defRPr/>
            </a:pPr>
            <a:r>
              <a:rPr lang="th-TH" dirty="0" smtClean="0">
                <a:latin typeface="Arial Narrow" pitchFamily="34" charset="0"/>
                <a:ea typeface="ＭＳ Ｐゴシック" pitchFamily="34" charset="-128"/>
              </a:rPr>
              <a:t>สารฆ่าฯที่มีประสิทธิภาพอาจใช้ภายในช่องคลอดหรือทวารเพื่อลดความเสี่ยงในการถ่ายทอดเชื้อในระหว่างการมีเพศสัมพันธ์</a:t>
            </a:r>
            <a:r>
              <a:rPr lang="en-US" dirty="0" smtClean="0">
                <a:latin typeface="Arial Narrow" pitchFamily="34" charset="0"/>
                <a:ea typeface="ＭＳ Ｐゴシック" pitchFamily="34" charset="-128"/>
              </a:rPr>
              <a:t> </a:t>
            </a:r>
          </a:p>
          <a:p>
            <a:pPr>
              <a:buFont typeface="Wingdings" pitchFamily="2" charset="2"/>
              <a:buChar char="§"/>
              <a:defRPr/>
            </a:pPr>
            <a:endParaRPr lang="en-US" dirty="0" smtClean="0">
              <a:latin typeface="Arial Narrow" pitchFamily="34" charset="0"/>
              <a:ea typeface="ＭＳ Ｐゴシック" pitchFamily="34" charset="-128"/>
            </a:endParaRPr>
          </a:p>
          <a:p>
            <a:pPr>
              <a:buFont typeface="Wingdings" pitchFamily="2" charset="2"/>
              <a:buChar char="§"/>
              <a:defRPr/>
            </a:pPr>
            <a:endParaRPr lang="en-US" dirty="0">
              <a:latin typeface="Arial Narrow" pitchFamily="34" charset="0"/>
              <a:ea typeface="ＭＳ Ｐゴシック" pitchFamily="34" charset="-128"/>
            </a:endParaRPr>
          </a:p>
          <a:p>
            <a:pPr>
              <a:buFont typeface="Wingdings" pitchFamily="2" charset="2"/>
              <a:buChar char="§"/>
              <a:defRPr/>
            </a:pPr>
            <a:endParaRPr lang="en-US" dirty="0" smtClean="0">
              <a:latin typeface="Arial Narrow" pitchFamily="34" charset="0"/>
              <a:ea typeface="ＭＳ Ｐゴシック" pitchFamily="34" charset="-128"/>
            </a:endParaRPr>
          </a:p>
          <a:p>
            <a:pPr>
              <a:buFont typeface="Wingdings" pitchFamily="2" charset="2"/>
              <a:buChar char="§"/>
              <a:defRPr/>
            </a:pPr>
            <a:endParaRPr lang="en-US" dirty="0">
              <a:latin typeface="Arial Narrow" pitchFamily="34" charset="0"/>
              <a:ea typeface="ＭＳ Ｐゴシック" pitchFamily="34" charset="-128"/>
            </a:endParaRPr>
          </a:p>
          <a:p>
            <a:pPr>
              <a:buFont typeface="Wingdings" pitchFamily="2" charset="2"/>
              <a:buChar char="§"/>
              <a:defRPr/>
            </a:pPr>
            <a:endParaRPr lang="en-US" dirty="0" smtClean="0">
              <a:latin typeface="Arial Narrow" pitchFamily="34" charset="0"/>
              <a:ea typeface="ＭＳ Ｐゴシック" pitchFamily="34" charset="-128"/>
            </a:endParaRPr>
          </a:p>
        </p:txBody>
      </p:sp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9438" y="3089275"/>
            <a:ext cx="4471987" cy="275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84163" y="2743200"/>
            <a:ext cx="3989387" cy="49863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457200" indent="-457200">
              <a:buClr>
                <a:srgbClr val="AE1835"/>
              </a:buClr>
              <a:buFont typeface="Wingdings" pitchFamily="2" charset="2"/>
              <a:buChar char="§"/>
              <a:defRPr/>
            </a:pPr>
            <a:r>
              <a:rPr lang="th-TH" sz="3200" dirty="0">
                <a:latin typeface="Arial Narrow" pitchFamily="34" charset="0"/>
                <a:ea typeface="ＭＳ Ｐゴシック" pitchFamily="34" charset="-128"/>
                <a:cs typeface="+mn-cs"/>
              </a:rPr>
              <a:t>มีการทดลองสารเคลือบฯในรูปแบบต่างๆ</a:t>
            </a:r>
            <a:r>
              <a:rPr lang="en-US" sz="3200" dirty="0">
                <a:latin typeface="Arial Narrow" pitchFamily="34" charset="0"/>
                <a:ea typeface="ＭＳ Ｐゴシック" pitchFamily="34" charset="-128"/>
                <a:cs typeface="+mn-cs"/>
              </a:rPr>
              <a:t>--</a:t>
            </a:r>
            <a:r>
              <a:rPr lang="th-TH" sz="3200" dirty="0">
                <a:latin typeface="Arial Narrow" pitchFamily="34" charset="0"/>
                <a:ea typeface="ＭＳ Ｐゴシック" pitchFamily="34" charset="-128"/>
                <a:cs typeface="+mn-cs"/>
              </a:rPr>
              <a:t>ครีม โฟม เจล</a:t>
            </a:r>
            <a:r>
              <a:rPr lang="en-US" sz="3200" dirty="0">
                <a:latin typeface="Arial Narrow" pitchFamily="34" charset="0"/>
                <a:ea typeface="ＭＳ Ｐゴシック" pitchFamily="34" charset="-128"/>
                <a:cs typeface="+mn-cs"/>
              </a:rPr>
              <a:t> </a:t>
            </a:r>
            <a:r>
              <a:rPr lang="th-TH" sz="3200" dirty="0">
                <a:latin typeface="Arial Narrow" pitchFamily="34" charset="0"/>
                <a:ea typeface="ＭＳ Ｐゴシック" pitchFamily="34" charset="-128"/>
                <a:cs typeface="+mn-cs"/>
              </a:rPr>
              <a:t>ห่วงภายในอวัยวะเพศหญิงที่ออกฤทธิ์ช้า</a:t>
            </a:r>
            <a:r>
              <a:rPr lang="en-US" sz="3200" dirty="0">
                <a:latin typeface="Arial Narrow" pitchFamily="34" charset="0"/>
                <a:ea typeface="ＭＳ Ｐゴシック" pitchFamily="34" charset="-128"/>
                <a:cs typeface="+mn-cs"/>
              </a:rPr>
              <a:t> </a:t>
            </a:r>
            <a:r>
              <a:rPr lang="th-TH" sz="3200" dirty="0">
                <a:latin typeface="Arial Narrow" pitchFamily="34" charset="0"/>
                <a:ea typeface="ＭＳ Ｐゴシック" pitchFamily="34" charset="-128"/>
                <a:cs typeface="+mn-cs"/>
              </a:rPr>
              <a:t>แผ่นฟิลม์ ของเหลวสวนทวาร</a:t>
            </a:r>
            <a:r>
              <a:rPr lang="en-US" sz="3200" dirty="0">
                <a:latin typeface="Arial Narrow" pitchFamily="34" charset="0"/>
                <a:ea typeface="ＭＳ Ｐゴシック" pitchFamily="34" charset="-128"/>
                <a:cs typeface="+mn-cs"/>
              </a:rPr>
              <a:t> </a:t>
            </a:r>
            <a:r>
              <a:rPr lang="th-TH" sz="3200" dirty="0">
                <a:latin typeface="Arial Narrow" pitchFamily="34" charset="0"/>
                <a:ea typeface="ＭＳ Ｐゴシック" pitchFamily="34" charset="-128"/>
                <a:cs typeface="+mn-cs"/>
              </a:rPr>
              <a:t>และแท่งเหน็บทวาร</a:t>
            </a:r>
            <a:endParaRPr lang="en-US" sz="3200" dirty="0">
              <a:latin typeface="Arial Narrow" pitchFamily="34" charset="0"/>
              <a:ea typeface="ＭＳ Ｐゴシック" pitchFamily="34" charset="-128"/>
              <a:cs typeface="+mn-cs"/>
            </a:endParaRPr>
          </a:p>
          <a:p>
            <a:pPr>
              <a:defRPr/>
            </a:pPr>
            <a:endParaRPr lang="en-US" sz="3000" dirty="0">
              <a:latin typeface="Arial Narrow" pitchFamily="34" charset="0"/>
              <a:ea typeface="ＭＳ Ｐゴシック" pitchFamily="34" charset="-128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3060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itle 1"/>
          <p:cNvSpPr>
            <a:spLocks noGrp="1"/>
          </p:cNvSpPr>
          <p:nvPr>
            <p:ph type="title"/>
          </p:nvPr>
        </p:nvSpPr>
        <p:spPr>
          <a:xfrm>
            <a:off x="0" y="-55563"/>
            <a:ext cx="9431338" cy="1143001"/>
          </a:xfrm>
        </p:spPr>
        <p:txBody>
          <a:bodyPr/>
          <a:lstStyle/>
          <a:p>
            <a:pPr algn="ctr"/>
            <a:r>
              <a:rPr lang="th-TH" dirty="0" smtClean="0">
                <a:latin typeface="Cambria" charset="0"/>
                <a:ea typeface="ＭＳ Ｐゴシック" charset="0"/>
              </a:rPr>
              <a:t>สิ่งที่เรารู้จากการทดลองสารฆ่าฯ</a:t>
            </a:r>
            <a:endParaRPr lang="en-US" dirty="0">
              <a:latin typeface="Cambria" charset="0"/>
              <a:ea typeface="ＭＳ Ｐゴシック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413021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buFont typeface="Wingdings" pitchFamily="2" charset="2"/>
              <a:buChar char="§"/>
              <a:defRPr/>
            </a:pPr>
            <a:r>
              <a:rPr lang="th-TH" sz="2600" dirty="0" smtClean="0"/>
              <a:t>พิสูจน์แนวความคิด</a:t>
            </a:r>
            <a:r>
              <a:rPr lang="en-US" sz="2600" dirty="0" smtClean="0"/>
              <a:t>! CAPRISA 004 </a:t>
            </a:r>
            <a:r>
              <a:rPr lang="th-TH" sz="2600" dirty="0" smtClean="0"/>
              <a:t>ทดสอบเจลที่มีส่วนผสมของยาต้าน </a:t>
            </a:r>
            <a:r>
              <a:rPr lang="en-US" sz="2600" dirty="0" err="1" smtClean="0"/>
              <a:t>tenofovir</a:t>
            </a:r>
            <a:r>
              <a:rPr lang="en-US" sz="2600" dirty="0" smtClean="0"/>
              <a:t> 1% (</a:t>
            </a:r>
            <a:r>
              <a:rPr lang="th-TH" sz="2600" dirty="0" smtClean="0"/>
              <a:t>สารฆ่าฯที่ใช้ยาต้าน</a:t>
            </a:r>
            <a:r>
              <a:rPr lang="en-US" sz="2600" dirty="0" smtClean="0"/>
              <a:t>)</a:t>
            </a:r>
            <a:r>
              <a:rPr lang="th-TH" sz="2600" dirty="0" smtClean="0"/>
              <a:t> ในหญิงรักต่างเพศและพิสูจน์ได้ว่าลดความเสี่ยงต่อการติดเชื้อได้ประมาณ</a:t>
            </a:r>
            <a:r>
              <a:rPr lang="en-US" sz="2600" dirty="0" smtClean="0"/>
              <a:t> 39%</a:t>
            </a:r>
          </a:p>
          <a:p>
            <a:pPr>
              <a:lnSpc>
                <a:spcPct val="110000"/>
              </a:lnSpc>
              <a:spcBef>
                <a:spcPts val="0"/>
              </a:spcBef>
              <a:buFont typeface="Wingdings" pitchFamily="2" charset="2"/>
              <a:buChar char="§"/>
              <a:defRPr/>
            </a:pPr>
            <a:r>
              <a:rPr lang="th-TH" sz="2600" dirty="0"/>
              <a:t>เจลที่มีส่วนผสม</a:t>
            </a:r>
            <a:r>
              <a:rPr lang="th-TH" sz="2600" dirty="0" smtClean="0"/>
              <a:t>ของ</a:t>
            </a:r>
            <a:r>
              <a:rPr lang="en-US" sz="2600" dirty="0" err="1" smtClean="0"/>
              <a:t>tenofovir</a:t>
            </a:r>
            <a:r>
              <a:rPr lang="en-US" sz="2600" dirty="0" smtClean="0"/>
              <a:t> 1%</a:t>
            </a:r>
            <a:r>
              <a:rPr lang="th-TH" sz="2600" dirty="0" smtClean="0"/>
              <a:t> เป็นสารฆ่าฯชนิดเดียวที่แสดงผลจากโครงการขนาดใหญ่ว่ามีผลในการป้องกัน </a:t>
            </a:r>
          </a:p>
          <a:p>
            <a:pPr>
              <a:lnSpc>
                <a:spcPct val="110000"/>
              </a:lnSpc>
              <a:spcBef>
                <a:spcPts val="0"/>
              </a:spcBef>
              <a:buFont typeface="Wingdings" pitchFamily="2" charset="2"/>
              <a:buChar char="§"/>
              <a:defRPr/>
            </a:pPr>
            <a:r>
              <a:rPr lang="th-TH" sz="2600" dirty="0" smtClean="0"/>
              <a:t>สารฆ่าฯที่ไม่มีส่วนผสมของยาต้านในการทดลองอื่นๆพิสูจน์ได้ว่าปลอดภัยแต่ไม่มีผลในการป้องกัน</a:t>
            </a:r>
            <a:r>
              <a:rPr lang="en-US" sz="2600" dirty="0" smtClean="0"/>
              <a:t> (</a:t>
            </a:r>
            <a:r>
              <a:rPr lang="th-TH" sz="2600" dirty="0" smtClean="0"/>
              <a:t>เช่น</a:t>
            </a:r>
            <a:r>
              <a:rPr lang="en-US" sz="2600" dirty="0" smtClean="0"/>
              <a:t> PRO 2000, </a:t>
            </a:r>
            <a:r>
              <a:rPr lang="en-US" sz="2600" dirty="0" err="1" smtClean="0"/>
              <a:t>Carraguard</a:t>
            </a:r>
            <a:r>
              <a:rPr lang="en-US" sz="2600" dirty="0" smtClean="0"/>
              <a:t>)</a:t>
            </a:r>
          </a:p>
          <a:p>
            <a:pPr>
              <a:lnSpc>
                <a:spcPct val="110000"/>
              </a:lnSpc>
              <a:spcBef>
                <a:spcPts val="0"/>
              </a:spcBef>
              <a:buFont typeface="Wingdings" pitchFamily="2" charset="2"/>
              <a:buChar char="§"/>
              <a:defRPr/>
            </a:pPr>
            <a:r>
              <a:rPr lang="th-TH" sz="2600" dirty="0" smtClean="0"/>
              <a:t>ข้อมูลปัจจุบันมีแต่สารฆ่าฯสำหรับใช้ทางช่องคลอดเท่านั้น</a:t>
            </a:r>
            <a:r>
              <a:rPr lang="th-TH" sz="2600" dirty="0"/>
              <a:t> </a:t>
            </a:r>
            <a:r>
              <a:rPr lang="th-TH" sz="2600" dirty="0" smtClean="0"/>
              <a:t>สารฆ่าฯสำหรับทวารหนักยังไม่มีความคืบหน้าเท่า แต่ก็มีความก้าวหน้าที่สำคัญหลายอย่าง</a:t>
            </a:r>
            <a:r>
              <a:rPr lang="en-US" sz="2600" dirty="0" smtClean="0"/>
              <a:t> </a:t>
            </a:r>
          </a:p>
          <a:p>
            <a:pPr>
              <a:buFont typeface="Wingdings" pitchFamily="2" charset="2"/>
              <a:buChar char="§"/>
              <a:defRPr/>
            </a:pPr>
            <a:endParaRPr lang="en-US" sz="2600" dirty="0"/>
          </a:p>
        </p:txBody>
      </p:sp>
    </p:spTree>
    <p:extLst>
      <p:ext uri="{BB962C8B-B14F-4D97-AF65-F5344CB8AC3E}">
        <p14:creationId xmlns="" xmlns:p14="http://schemas.microsoft.com/office/powerpoint/2010/main" val="3264480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Title 1"/>
          <p:cNvSpPr>
            <a:spLocks noGrp="1"/>
          </p:cNvSpPr>
          <p:nvPr>
            <p:ph type="title"/>
          </p:nvPr>
        </p:nvSpPr>
        <p:spPr>
          <a:xfrm>
            <a:off x="457200" y="-106363"/>
            <a:ext cx="8229600" cy="1143001"/>
          </a:xfrm>
        </p:spPr>
        <p:txBody>
          <a:bodyPr/>
          <a:lstStyle/>
          <a:p>
            <a:r>
              <a:rPr lang="th-TH" dirty="0">
                <a:latin typeface="Cambria" charset="0"/>
                <a:ea typeface="ＭＳ Ｐゴシック" charset="0"/>
              </a:rPr>
              <a:t>การรักษาเพื่อการ</a:t>
            </a:r>
            <a:r>
              <a:rPr lang="th-TH" dirty="0" smtClean="0">
                <a:latin typeface="Cambria" charset="0"/>
                <a:ea typeface="ＭＳ Ｐゴシック" charset="0"/>
              </a:rPr>
              <a:t>ป้องกัน</a:t>
            </a:r>
            <a:r>
              <a:rPr lang="en-US" dirty="0" smtClean="0">
                <a:latin typeface="Cambria" charset="0"/>
                <a:ea typeface="ＭＳ Ｐゴシック" charset="0"/>
              </a:rPr>
              <a:t> (</a:t>
            </a:r>
            <a:r>
              <a:rPr lang="en-US" dirty="0" err="1" smtClean="0">
                <a:latin typeface="Cambria" charset="0"/>
                <a:ea typeface="ＭＳ Ｐゴシック" charset="0"/>
              </a:rPr>
              <a:t>Tx</a:t>
            </a:r>
            <a:r>
              <a:rPr lang="en-US" dirty="0" smtClean="0">
                <a:latin typeface="Cambria" charset="0"/>
                <a:ea typeface="ＭＳ Ｐゴシック" charset="0"/>
              </a:rPr>
              <a:t> as </a:t>
            </a:r>
            <a:r>
              <a:rPr lang="en-US" dirty="0" err="1" smtClean="0">
                <a:latin typeface="Cambria" charset="0"/>
                <a:ea typeface="ＭＳ Ｐゴシック" charset="0"/>
              </a:rPr>
              <a:t>Px</a:t>
            </a:r>
            <a:r>
              <a:rPr lang="en-US" dirty="0" smtClean="0">
                <a:latin typeface="Cambria" charset="0"/>
                <a:ea typeface="ＭＳ Ｐゴシック" charset="0"/>
              </a:rPr>
              <a:t>)</a:t>
            </a:r>
            <a:endParaRPr lang="en-US" dirty="0">
              <a:latin typeface="Cambria" charset="0"/>
              <a:ea typeface="ＭＳ Ｐゴシック" charset="0"/>
            </a:endParaRPr>
          </a:p>
        </p:txBody>
      </p:sp>
      <p:sp>
        <p:nvSpPr>
          <p:cNvPr id="25602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044244"/>
          </a:xfrm>
        </p:spPr>
        <p:txBody>
          <a:bodyPr/>
          <a:lstStyle/>
          <a:p>
            <a:pPr>
              <a:spcBef>
                <a:spcPct val="0"/>
              </a:spcBef>
            </a:pPr>
            <a:r>
              <a:rPr lang="th-TH" dirty="0">
                <a:latin typeface="Arial Narrow" charset="0"/>
                <a:ea typeface="ＭＳ Ｐゴシック" charset="0"/>
              </a:rPr>
              <a:t>การใช้การรักษาด้วยยาในผู้ที่มีเชื้อเพื่อลดความเสี่ยงของการแพร่เชื้อไปสู่ผู้อื่น</a:t>
            </a:r>
            <a:endParaRPr lang="en-US" dirty="0">
              <a:latin typeface="Arial Narrow" charset="0"/>
              <a:ea typeface="ＭＳ Ｐゴシック" charset="0"/>
            </a:endParaRPr>
          </a:p>
          <a:p>
            <a:pPr>
              <a:spcBef>
                <a:spcPct val="0"/>
              </a:spcBef>
            </a:pPr>
            <a:r>
              <a:rPr lang="th-TH" dirty="0">
                <a:latin typeface="Arial Narrow" charset="0"/>
                <a:ea typeface="ＭＳ Ｐゴシック" charset="0"/>
              </a:rPr>
              <a:t>ยุทธศาสตร์นี้เป็นผลประโยชน์รองของการรักษาด้วยยาต้านไวรัส ซึ่งผลประโยชน์หลักคือสุขภาพของคนที่ใช้ยา</a:t>
            </a:r>
            <a:r>
              <a:rPr lang="en-US" dirty="0">
                <a:latin typeface="Arial Narrow" charset="0"/>
                <a:ea typeface="ＭＳ Ｐゴシック" charset="0"/>
              </a:rPr>
              <a:t> </a:t>
            </a:r>
            <a:endParaRPr lang="th-TH" dirty="0">
              <a:latin typeface="Arial Narrow" charset="0"/>
              <a:ea typeface="ＭＳ Ｐゴシック" charset="0"/>
            </a:endParaRPr>
          </a:p>
          <a:p>
            <a:pPr>
              <a:spcBef>
                <a:spcPct val="0"/>
              </a:spcBef>
            </a:pPr>
            <a:r>
              <a:rPr lang="th-TH" dirty="0">
                <a:latin typeface="Arial Narrow" charset="0"/>
                <a:ea typeface="ＭＳ Ｐゴシック" charset="0"/>
              </a:rPr>
              <a:t>เหตุผลคือยาต้านไวรัสลดปริมาณไวรัส ซึ่งได้พิสูจน์ผลแล้วว่าสามารถลดการ</a:t>
            </a:r>
            <a:r>
              <a:rPr lang="th-TH" dirty="0" smtClean="0">
                <a:latin typeface="Arial Narrow" charset="0"/>
                <a:ea typeface="ＭＳ Ｐゴシック" charset="0"/>
              </a:rPr>
              <a:t>ติดเชื้อได้</a:t>
            </a:r>
            <a:endParaRPr lang="en-US" sz="3000" dirty="0">
              <a:latin typeface="Arial Narrow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731223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Title 1"/>
          <p:cNvSpPr>
            <a:spLocks noGrp="1"/>
          </p:cNvSpPr>
          <p:nvPr>
            <p:ph type="title"/>
          </p:nvPr>
        </p:nvSpPr>
        <p:spPr>
          <a:xfrm>
            <a:off x="457200" y="-55563"/>
            <a:ext cx="8229600" cy="1143001"/>
          </a:xfrm>
        </p:spPr>
        <p:txBody>
          <a:bodyPr/>
          <a:lstStyle/>
          <a:p>
            <a:pPr algn="ctr"/>
            <a:r>
              <a:rPr lang="th-TH" dirty="0" smtClean="0">
                <a:latin typeface="Cambria" charset="0"/>
                <a:ea typeface="ＭＳ Ｐゴシック" charset="0"/>
              </a:rPr>
              <a:t>การรักษาเพื่อการป้องกัน</a:t>
            </a:r>
            <a:endParaRPr lang="en-US" dirty="0">
              <a:latin typeface="Cambria" charset="0"/>
              <a:ea typeface="ＭＳ Ｐゴシック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79311"/>
            <a:ext cx="8229600" cy="5681133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buFont typeface="Wingdings" pitchFamily="2" charset="2"/>
              <a:buChar char="§"/>
              <a:defRPr/>
            </a:pPr>
            <a:r>
              <a:rPr lang="en-US" sz="2800" dirty="0" smtClean="0">
                <a:latin typeface="Arial Narrow" pitchFamily="34" charset="0"/>
                <a:ea typeface="ＭＳ Ｐゴシック" pitchFamily="34" charset="-128"/>
                <a:cs typeface="Arial Narrow" pitchFamily="34" charset="0"/>
              </a:rPr>
              <a:t>HPTN 052</a:t>
            </a:r>
            <a:r>
              <a:rPr lang="th-TH" sz="2800" dirty="0" smtClean="0">
                <a:latin typeface="Arial Narrow" pitchFamily="34" charset="0"/>
                <a:ea typeface="ＭＳ Ｐゴシック" pitchFamily="34" charset="-128"/>
                <a:cs typeface="Arial Narrow" pitchFamily="34" charset="0"/>
              </a:rPr>
              <a:t>​โครงการทดลองที่ทำในหลายประเทศกับคู่ต่างพิสูจน์ว่าการเริ่มรักษาแต่เนิ่นลดความเสี่ยงต่อการติดเชื้อจากการร่วมเพศของคู่ครองผู้ที่ยังไม่ติดเชื้อได้ถึง</a:t>
            </a:r>
            <a:r>
              <a:rPr lang="en-US" sz="2800" dirty="0" smtClean="0">
                <a:latin typeface="Arial Narrow" pitchFamily="34" charset="0"/>
                <a:ea typeface="ＭＳ Ｐゴシック" pitchFamily="34" charset="-128"/>
                <a:cs typeface="Arial Narrow" pitchFamily="34" charset="0"/>
              </a:rPr>
              <a:t> </a:t>
            </a:r>
            <a:r>
              <a:rPr lang="en-US" sz="2800" dirty="0">
                <a:latin typeface="Arial Narrow" pitchFamily="34" charset="0"/>
                <a:ea typeface="ＭＳ Ｐゴシック" pitchFamily="34" charset="-128"/>
                <a:cs typeface="Arial Narrow" pitchFamily="34" charset="0"/>
              </a:rPr>
              <a:t>96% </a:t>
            </a:r>
            <a:r>
              <a:rPr lang="th-TH" sz="2800" dirty="0" smtClean="0">
                <a:latin typeface="Arial Narrow" pitchFamily="34" charset="0"/>
                <a:ea typeface="ＭＳ Ｐゴシック" pitchFamily="34" charset="-128"/>
                <a:cs typeface="Arial Narrow" pitchFamily="34" charset="0"/>
              </a:rPr>
              <a:t>และยังลดความเสี่ยงของการติดเชื้อ TB ของอวัยวะอื่นที่นอกเหนือจากปอดของคู่ครองผู้ที่ติดเชื้อได้อีกด้วย</a:t>
            </a:r>
            <a:r>
              <a:rPr lang="en-US" sz="2800" dirty="0" smtClean="0">
                <a:latin typeface="Arial Narrow" pitchFamily="34" charset="0"/>
                <a:ea typeface="ＭＳ Ｐゴシック" pitchFamily="34" charset="-128"/>
                <a:cs typeface="Arial Narrow" pitchFamily="34" charset="0"/>
              </a:rPr>
              <a:t> </a:t>
            </a:r>
            <a:endParaRPr lang="en-US" sz="2800" dirty="0">
              <a:latin typeface="Arial Narrow" pitchFamily="34" charset="0"/>
              <a:ea typeface="ＭＳ Ｐゴシック" pitchFamily="34" charset="-128"/>
              <a:cs typeface="Arial Narrow" pitchFamily="34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buFont typeface="Wingdings" pitchFamily="2" charset="2"/>
              <a:buChar char="§"/>
              <a:defRPr/>
            </a:pPr>
            <a:r>
              <a:rPr lang="th-TH" sz="2800" dirty="0" smtClean="0">
                <a:latin typeface="Arial Narrow" pitchFamily="34" charset="0"/>
                <a:ea typeface="ＭＳ Ｐゴシック" pitchFamily="34" charset="-128"/>
                <a:cs typeface="Arial Narrow" pitchFamily="34" charset="0"/>
              </a:rPr>
              <a:t>การวิจัยโดยการสังเกตหลายโครงการแสดงถึงความสัมพันธ์ระหว่างปริมาณไวรัสที่ต่ำกับความเสี่ยงของการแพร่เชื้อให้คู่ครองที่ลดลง</a:t>
            </a:r>
            <a:r>
              <a:rPr lang="en-US" sz="2800" dirty="0" smtClean="0">
                <a:latin typeface="Arial Narrow" pitchFamily="34" charset="0"/>
                <a:ea typeface="ＭＳ Ｐゴシック" pitchFamily="34" charset="-128"/>
                <a:cs typeface="Arial Narrow" pitchFamily="34" charset="0"/>
              </a:rPr>
              <a:t> </a:t>
            </a:r>
            <a:endParaRPr lang="th-TH" sz="2800" dirty="0" smtClean="0">
              <a:latin typeface="Arial Narrow" pitchFamily="34" charset="0"/>
              <a:ea typeface="ＭＳ Ｐゴシック" pitchFamily="34" charset="-128"/>
              <a:cs typeface="Arial Narrow" pitchFamily="34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buFont typeface="Wingdings" pitchFamily="2" charset="2"/>
              <a:buChar char="§"/>
              <a:defRPr/>
            </a:pPr>
            <a:r>
              <a:rPr lang="th-TH" sz="2800" dirty="0" smtClean="0">
                <a:latin typeface="Arial Narrow" pitchFamily="34" charset="0"/>
                <a:ea typeface="ＭＳ Ｐゴシック" pitchFamily="34" charset="-128"/>
                <a:cs typeface="Arial Narrow" pitchFamily="34" charset="0"/>
              </a:rPr>
              <a:t>มีการวิจัยอื่นๆอีกที่กำลังดำเนินอยู่เพื่อศึกษาถึงผลประโยชน์อื่นๆต่อผู้ที่ติดเชื้อและผลกระทบต่ออุบัติการณ์ของ HIV</a:t>
            </a:r>
            <a:r>
              <a:rPr lang="en-US" sz="2800" dirty="0" smtClean="0">
                <a:latin typeface="Arial Narrow" pitchFamily="34" charset="0"/>
                <a:ea typeface="ＭＳ Ｐゴシック" pitchFamily="34" charset="-128"/>
                <a:cs typeface="Arial Narrow" pitchFamily="34" charset="0"/>
              </a:rPr>
              <a:t> </a:t>
            </a:r>
            <a:endParaRPr lang="en-US" sz="2800" dirty="0">
              <a:latin typeface="Arial Narrow" pitchFamily="34" charset="0"/>
              <a:ea typeface="ＭＳ Ｐゴシック" pitchFamily="34" charset="-128"/>
              <a:cs typeface="Arial Narrow" pitchFamily="34" charset="0"/>
            </a:endParaRPr>
          </a:p>
          <a:p>
            <a:pPr>
              <a:buFont typeface="Wingdings" pitchFamily="2" charset="2"/>
              <a:buChar char="§"/>
              <a:defRPr/>
            </a:pPr>
            <a:endParaRPr lang="en-US" sz="2800" dirty="0"/>
          </a:p>
        </p:txBody>
      </p:sp>
    </p:spTree>
    <p:extLst>
      <p:ext uri="{BB962C8B-B14F-4D97-AF65-F5344CB8AC3E}">
        <p14:creationId xmlns="" xmlns:p14="http://schemas.microsoft.com/office/powerpoint/2010/main" val="36014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5"/>
          <p:cNvSpPr>
            <a:spLocks noChangeArrowheads="1"/>
          </p:cNvSpPr>
          <p:nvPr/>
        </p:nvSpPr>
        <p:spPr bwMode="auto">
          <a:xfrm>
            <a:off x="6924675" y="6191250"/>
            <a:ext cx="49213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400">
                <a:solidFill>
                  <a:srgbClr val="000000"/>
                </a:solidFill>
                <a:latin typeface="Calibri" charset="0"/>
              </a:rPr>
              <a:t> </a:t>
            </a:r>
            <a:endParaRPr lang="en-US">
              <a:solidFill>
                <a:srgbClr val="000000"/>
              </a:solidFill>
              <a:latin typeface="Calibri" charset="0"/>
            </a:endParaRPr>
          </a:p>
        </p:txBody>
      </p:sp>
      <p:sp>
        <p:nvSpPr>
          <p:cNvPr id="27650" name="Line 27"/>
          <p:cNvSpPr>
            <a:spLocks noChangeShapeType="1"/>
          </p:cNvSpPr>
          <p:nvPr/>
        </p:nvSpPr>
        <p:spPr bwMode="auto">
          <a:xfrm flipH="1" flipV="1">
            <a:off x="7215188" y="892175"/>
            <a:ext cx="0" cy="5208588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51" name="Rectangle 47"/>
          <p:cNvSpPr>
            <a:spLocks noChangeArrowheads="1"/>
          </p:cNvSpPr>
          <p:nvPr/>
        </p:nvSpPr>
        <p:spPr bwMode="auto">
          <a:xfrm>
            <a:off x="457200" y="1120775"/>
            <a:ext cx="126078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alibri" charset="0"/>
                <a:cs typeface="Arial" charset="0"/>
              </a:rPr>
              <a:t> </a:t>
            </a:r>
            <a:r>
              <a:rPr lang="th-TH" dirty="0" smtClean="0">
                <a:solidFill>
                  <a:srgbClr val="000000"/>
                </a:solidFill>
                <a:latin typeface="Calibri" charset="0"/>
                <a:cs typeface="Arial" charset="0"/>
              </a:rPr>
              <a:t>โครงการวิจัย</a:t>
            </a:r>
            <a:endParaRPr lang="en-US" dirty="0">
              <a:solidFill>
                <a:srgbClr val="000000"/>
              </a:solidFill>
              <a:latin typeface="Calibri" charset="0"/>
              <a:cs typeface="Arial" charset="0"/>
            </a:endParaRPr>
          </a:p>
        </p:txBody>
      </p:sp>
      <p:sp>
        <p:nvSpPr>
          <p:cNvPr id="27652" name="Rectangle 48"/>
          <p:cNvSpPr>
            <a:spLocks noChangeArrowheads="1"/>
          </p:cNvSpPr>
          <p:nvPr/>
        </p:nvSpPr>
        <p:spPr bwMode="auto">
          <a:xfrm>
            <a:off x="7305675" y="968573"/>
            <a:ext cx="1546225" cy="615553"/>
          </a:xfrm>
          <a:prstGeom prst="rect">
            <a:avLst/>
          </a:prstGeom>
          <a:noFill/>
          <a:ln w="9525">
            <a:solidFill>
              <a:srgbClr val="FFFFFF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>
            <a:spAutoFit/>
          </a:bodyPr>
          <a:lstStyle/>
          <a:p>
            <a:pPr algn="ctr"/>
            <a:r>
              <a:rPr lang="en-US" sz="2000" dirty="0">
                <a:solidFill>
                  <a:srgbClr val="000000"/>
                </a:solidFill>
                <a:latin typeface="Calibri" charset="0"/>
                <a:cs typeface="Arial" charset="0"/>
              </a:rPr>
              <a:t> </a:t>
            </a:r>
            <a:r>
              <a:rPr lang="en-US" sz="2000" dirty="0" smtClean="0">
                <a:solidFill>
                  <a:srgbClr val="000000"/>
                </a:solidFill>
                <a:latin typeface="Calibri" charset="0"/>
                <a:cs typeface="Arial" charset="0"/>
              </a:rPr>
              <a:t>(</a:t>
            </a:r>
            <a:r>
              <a:rPr lang="th-TH" sz="2000" dirty="0" smtClean="0">
                <a:solidFill>
                  <a:srgbClr val="000000"/>
                </a:solidFill>
                <a:latin typeface="Calibri" charset="0"/>
                <a:cs typeface="Arial" charset="0"/>
              </a:rPr>
              <a:t>ช่วงของผล</a:t>
            </a:r>
            <a:r>
              <a:rPr lang="en-US" sz="2000" dirty="0" smtClean="0">
                <a:solidFill>
                  <a:srgbClr val="000000"/>
                </a:solidFill>
                <a:latin typeface="Calibri" charset="0"/>
                <a:cs typeface="Arial" charset="0"/>
              </a:rPr>
              <a:t> CI</a:t>
            </a:r>
            <a:r>
              <a:rPr lang="en-US" sz="2000" dirty="0">
                <a:solidFill>
                  <a:srgbClr val="000000"/>
                </a:solidFill>
                <a:latin typeface="Calibri" charset="0"/>
                <a:cs typeface="Arial" charset="0"/>
              </a:rPr>
              <a:t>)</a:t>
            </a:r>
          </a:p>
        </p:txBody>
      </p:sp>
      <p:sp>
        <p:nvSpPr>
          <p:cNvPr id="27653" name="Rectangle 62"/>
          <p:cNvSpPr>
            <a:spLocks noChangeArrowheads="1"/>
          </p:cNvSpPr>
          <p:nvPr/>
        </p:nvSpPr>
        <p:spPr bwMode="auto">
          <a:xfrm>
            <a:off x="555625" y="3228975"/>
            <a:ext cx="3241675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r>
              <a:rPr lang="th-TH" sz="2000" dirty="0" smtClean="0">
                <a:solidFill>
                  <a:srgbClr val="000000"/>
                </a:solidFill>
                <a:latin typeface="Calibri" charset="0"/>
              </a:rPr>
              <a:t>การขริบหนังหุ้มปลาย</a:t>
            </a:r>
            <a:r>
              <a:rPr lang="en-US" sz="2000" dirty="0" smtClean="0">
                <a:solidFill>
                  <a:srgbClr val="000000"/>
                </a:solidFill>
                <a:latin typeface="Calibri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Calibri" charset="0"/>
              </a:rPr>
              <a:t>(MMC) (</a:t>
            </a:r>
            <a:r>
              <a:rPr lang="en-US" sz="1400" dirty="0">
                <a:solidFill>
                  <a:srgbClr val="000000"/>
                </a:solidFill>
                <a:latin typeface="Calibri" charset="0"/>
              </a:rPr>
              <a:t>Orange Farm, </a:t>
            </a:r>
            <a:r>
              <a:rPr lang="en-US" sz="1400" dirty="0" err="1">
                <a:solidFill>
                  <a:srgbClr val="000000"/>
                </a:solidFill>
                <a:latin typeface="Calibri" charset="0"/>
              </a:rPr>
              <a:t>Rakai</a:t>
            </a:r>
            <a:r>
              <a:rPr lang="en-US" sz="1400" dirty="0">
                <a:solidFill>
                  <a:srgbClr val="000000"/>
                </a:solidFill>
                <a:latin typeface="Calibri" charset="0"/>
              </a:rPr>
              <a:t>, Kisumu)</a:t>
            </a:r>
          </a:p>
          <a:p>
            <a:endParaRPr lang="en-US" sz="2000" dirty="0">
              <a:solidFill>
                <a:srgbClr val="000000"/>
              </a:solidFill>
              <a:latin typeface="Calibri" charset="0"/>
            </a:endParaRPr>
          </a:p>
        </p:txBody>
      </p:sp>
      <p:sp>
        <p:nvSpPr>
          <p:cNvPr id="27654" name="Line 63"/>
          <p:cNvSpPr>
            <a:spLocks noChangeShapeType="1"/>
          </p:cNvSpPr>
          <p:nvPr/>
        </p:nvSpPr>
        <p:spPr bwMode="auto">
          <a:xfrm>
            <a:off x="5037138" y="3424238"/>
            <a:ext cx="820737" cy="0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55" name="Rectangle 64"/>
          <p:cNvSpPr>
            <a:spLocks noChangeAspect="1" noChangeArrowheads="1"/>
          </p:cNvSpPr>
          <p:nvPr/>
        </p:nvSpPr>
        <p:spPr bwMode="auto">
          <a:xfrm>
            <a:off x="5397500" y="3319463"/>
            <a:ext cx="180975" cy="180975"/>
          </a:xfrm>
          <a:prstGeom prst="rect">
            <a:avLst/>
          </a:prstGeom>
          <a:solidFill>
            <a:srgbClr val="000000"/>
          </a:solidFill>
          <a:ln w="4763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  <a:latin typeface="Calibri" charset="0"/>
            </a:endParaRPr>
          </a:p>
        </p:txBody>
      </p:sp>
      <p:sp>
        <p:nvSpPr>
          <p:cNvPr id="27656" name="Rectangle 65"/>
          <p:cNvSpPr>
            <a:spLocks noChangeArrowheads="1"/>
          </p:cNvSpPr>
          <p:nvPr/>
        </p:nvSpPr>
        <p:spPr bwMode="auto">
          <a:xfrm>
            <a:off x="7272338" y="3267075"/>
            <a:ext cx="15398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2000" b="1">
                <a:solidFill>
                  <a:srgbClr val="000000"/>
                </a:solidFill>
                <a:latin typeface="Calibri" charset="0"/>
                <a:cs typeface="Arial" charset="0"/>
              </a:rPr>
              <a:t> 57% (42, 68) </a:t>
            </a:r>
          </a:p>
        </p:txBody>
      </p:sp>
      <p:sp>
        <p:nvSpPr>
          <p:cNvPr id="27657" name="Rectangle 66"/>
          <p:cNvSpPr>
            <a:spLocks noChangeArrowheads="1"/>
          </p:cNvSpPr>
          <p:nvPr/>
        </p:nvSpPr>
        <p:spPr bwMode="auto">
          <a:xfrm>
            <a:off x="555625" y="1593850"/>
            <a:ext cx="206216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r>
              <a:rPr lang="th-TH" sz="2000" dirty="0" smtClean="0">
                <a:solidFill>
                  <a:srgbClr val="000000"/>
                </a:solidFill>
                <a:latin typeface="Calibri" charset="0"/>
              </a:rPr>
              <a:t>วัคซีนปูพื้น กระตุ้น</a:t>
            </a:r>
            <a:r>
              <a:rPr lang="en-US" sz="2000" dirty="0" smtClean="0">
                <a:solidFill>
                  <a:srgbClr val="000000"/>
                </a:solidFill>
                <a:latin typeface="Calibri" charset="0"/>
              </a:rPr>
              <a:t> </a:t>
            </a:r>
            <a:r>
              <a:rPr lang="en-US" sz="1400" dirty="0">
                <a:solidFill>
                  <a:srgbClr val="000000"/>
                </a:solidFill>
                <a:latin typeface="Calibri" charset="0"/>
              </a:rPr>
              <a:t>(Thai RV144)</a:t>
            </a:r>
          </a:p>
        </p:txBody>
      </p:sp>
      <p:sp>
        <p:nvSpPr>
          <p:cNvPr id="27658" name="Line 67"/>
          <p:cNvSpPr>
            <a:spLocks noChangeShapeType="1"/>
          </p:cNvSpPr>
          <p:nvPr/>
        </p:nvSpPr>
        <p:spPr bwMode="auto">
          <a:xfrm>
            <a:off x="3600450" y="1949450"/>
            <a:ext cx="1692275" cy="1588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59" name="Rectangle 68"/>
          <p:cNvSpPr>
            <a:spLocks noChangeAspect="1" noChangeArrowheads="1"/>
          </p:cNvSpPr>
          <p:nvPr/>
        </p:nvSpPr>
        <p:spPr bwMode="auto">
          <a:xfrm>
            <a:off x="4498975" y="1843088"/>
            <a:ext cx="180975" cy="179387"/>
          </a:xfrm>
          <a:prstGeom prst="rect">
            <a:avLst/>
          </a:prstGeom>
          <a:solidFill>
            <a:srgbClr val="000000"/>
          </a:solidFill>
          <a:ln w="4763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  <a:latin typeface="Calibri" charset="0"/>
            </a:endParaRPr>
          </a:p>
        </p:txBody>
      </p:sp>
      <p:sp>
        <p:nvSpPr>
          <p:cNvPr id="27660" name="Rectangle 69"/>
          <p:cNvSpPr>
            <a:spLocks noChangeArrowheads="1"/>
          </p:cNvSpPr>
          <p:nvPr/>
        </p:nvSpPr>
        <p:spPr bwMode="auto">
          <a:xfrm>
            <a:off x="7305675" y="1730375"/>
            <a:ext cx="1397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2000" b="1">
                <a:solidFill>
                  <a:srgbClr val="000000"/>
                </a:solidFill>
                <a:latin typeface="Calibri" charset="0"/>
                <a:cs typeface="Arial" charset="0"/>
              </a:rPr>
              <a:t> 31% (1, 51)</a:t>
            </a:r>
          </a:p>
        </p:txBody>
      </p:sp>
      <p:cxnSp>
        <p:nvCxnSpPr>
          <p:cNvPr id="17" name="Straight Connector 16"/>
          <p:cNvCxnSpPr/>
          <p:nvPr/>
        </p:nvCxnSpPr>
        <p:spPr bwMode="auto">
          <a:xfrm rot="5400000">
            <a:off x="7970838" y="3817938"/>
            <a:ext cx="71437" cy="158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6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27662" name="Group 36"/>
          <p:cNvGrpSpPr>
            <a:grpSpLocks/>
          </p:cNvGrpSpPr>
          <p:nvPr/>
        </p:nvGrpSpPr>
        <p:grpSpPr bwMode="auto">
          <a:xfrm>
            <a:off x="3324225" y="6029325"/>
            <a:ext cx="5568950" cy="395288"/>
            <a:chOff x="2503488" y="5514975"/>
            <a:chExt cx="5568950" cy="395287"/>
          </a:xfrm>
        </p:grpSpPr>
        <p:sp>
          <p:nvSpPr>
            <p:cNvPr id="27693" name="Line 29"/>
            <p:cNvSpPr>
              <a:spLocks noChangeShapeType="1"/>
            </p:cNvSpPr>
            <p:nvPr/>
          </p:nvSpPr>
          <p:spPr bwMode="auto">
            <a:xfrm>
              <a:off x="2671763" y="5599112"/>
              <a:ext cx="5400675" cy="1588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94" name="Rectangle 31"/>
            <p:cNvSpPr>
              <a:spLocks noChangeArrowheads="1"/>
            </p:cNvSpPr>
            <p:nvPr/>
          </p:nvSpPr>
          <p:spPr bwMode="auto">
            <a:xfrm>
              <a:off x="6729413" y="5664200"/>
              <a:ext cx="844550" cy="2460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1">
                  <a:solidFill>
                    <a:srgbClr val="000000"/>
                  </a:solidFill>
                  <a:latin typeface="Calibri" charset="0"/>
                </a:rPr>
                <a:t> Efficacy</a:t>
              </a:r>
              <a:endParaRPr lang="en-US" b="1">
                <a:solidFill>
                  <a:srgbClr val="000000"/>
                </a:solidFill>
                <a:latin typeface="Calibri" charset="0"/>
              </a:endParaRPr>
            </a:p>
          </p:txBody>
        </p:sp>
        <p:cxnSp>
          <p:nvCxnSpPr>
            <p:cNvPr id="41" name="Straight Connector 40"/>
            <p:cNvCxnSpPr/>
            <p:nvPr/>
          </p:nvCxnSpPr>
          <p:spPr bwMode="auto">
            <a:xfrm rot="5400000">
              <a:off x="2994026" y="5549900"/>
              <a:ext cx="71438" cy="1587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accent6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2" name="Straight Connector 41"/>
            <p:cNvCxnSpPr/>
            <p:nvPr/>
          </p:nvCxnSpPr>
          <p:spPr bwMode="auto">
            <a:xfrm rot="5400000">
              <a:off x="3740151" y="5549900"/>
              <a:ext cx="71438" cy="1587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accent6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3" name="Straight Connector 42"/>
            <p:cNvCxnSpPr/>
            <p:nvPr/>
          </p:nvCxnSpPr>
          <p:spPr bwMode="auto">
            <a:xfrm rot="5400000">
              <a:off x="4097338" y="5549900"/>
              <a:ext cx="71438" cy="158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accent6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4" name="Straight Connector 43"/>
            <p:cNvCxnSpPr/>
            <p:nvPr/>
          </p:nvCxnSpPr>
          <p:spPr bwMode="auto">
            <a:xfrm rot="5400000">
              <a:off x="4452938" y="5549900"/>
              <a:ext cx="71438" cy="158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accent6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5" name="Straight Connector 44"/>
            <p:cNvCxnSpPr/>
            <p:nvPr/>
          </p:nvCxnSpPr>
          <p:spPr bwMode="auto">
            <a:xfrm rot="5400000">
              <a:off x="4810126" y="5549900"/>
              <a:ext cx="71438" cy="1587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accent6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6" name="Straight Connector 45"/>
            <p:cNvCxnSpPr/>
            <p:nvPr/>
          </p:nvCxnSpPr>
          <p:spPr bwMode="auto">
            <a:xfrm rot="5400000">
              <a:off x="5167313" y="5549900"/>
              <a:ext cx="71438" cy="158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accent6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7" name="Straight Connector 46"/>
            <p:cNvCxnSpPr/>
            <p:nvPr/>
          </p:nvCxnSpPr>
          <p:spPr bwMode="auto">
            <a:xfrm rot="5400000">
              <a:off x="5522913" y="5549900"/>
              <a:ext cx="71438" cy="158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accent6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8" name="Straight Connector 47"/>
            <p:cNvCxnSpPr/>
            <p:nvPr/>
          </p:nvCxnSpPr>
          <p:spPr bwMode="auto">
            <a:xfrm rot="5400000">
              <a:off x="5880101" y="5549900"/>
              <a:ext cx="71438" cy="1587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accent6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9" name="Straight Connector 48"/>
            <p:cNvCxnSpPr/>
            <p:nvPr/>
          </p:nvCxnSpPr>
          <p:spPr bwMode="auto">
            <a:xfrm rot="5400000">
              <a:off x="3375026" y="5549900"/>
              <a:ext cx="71438" cy="1587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accent6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7704" name="TextBox 67"/>
            <p:cNvSpPr txBox="1">
              <a:spLocks noChangeArrowheads="1"/>
            </p:cNvSpPr>
            <p:nvPr/>
          </p:nvSpPr>
          <p:spPr bwMode="auto">
            <a:xfrm>
              <a:off x="2503488" y="5616575"/>
              <a:ext cx="4262705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FF0000"/>
                  </a:solidFill>
                  <a:latin typeface="Calibri" charset="0"/>
                </a:rPr>
                <a:t>0%   10      20      30     40      50     60     70      80     90   100%</a:t>
              </a:r>
            </a:p>
          </p:txBody>
        </p:sp>
      </p:grpSp>
      <p:sp>
        <p:nvSpPr>
          <p:cNvPr id="27663" name="Rectangle 62"/>
          <p:cNvSpPr>
            <a:spLocks noChangeArrowheads="1"/>
          </p:cNvSpPr>
          <p:nvPr/>
        </p:nvSpPr>
        <p:spPr bwMode="auto">
          <a:xfrm>
            <a:off x="579438" y="2703513"/>
            <a:ext cx="274955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alibri" charset="0"/>
              </a:rPr>
              <a:t>TDF/FTC oral-</a:t>
            </a:r>
            <a:r>
              <a:rPr lang="en-US" sz="2000" dirty="0" err="1">
                <a:solidFill>
                  <a:srgbClr val="000000"/>
                </a:solidFill>
                <a:latin typeface="Calibri" charset="0"/>
              </a:rPr>
              <a:t>PrEP</a:t>
            </a:r>
            <a:r>
              <a:rPr lang="en-US" sz="2000" dirty="0">
                <a:solidFill>
                  <a:srgbClr val="000000"/>
                </a:solidFill>
                <a:latin typeface="Calibri" charset="0"/>
              </a:rPr>
              <a:t> in MSM </a:t>
            </a:r>
          </a:p>
          <a:p>
            <a:r>
              <a:rPr lang="en-US" sz="1400" dirty="0">
                <a:solidFill>
                  <a:srgbClr val="000000"/>
                </a:solidFill>
                <a:latin typeface="Calibri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alibri" charset="0"/>
              </a:rPr>
              <a:t>iPrEx</a:t>
            </a:r>
            <a:r>
              <a:rPr lang="en-US" sz="1400" dirty="0">
                <a:solidFill>
                  <a:srgbClr val="000000"/>
                </a:solidFill>
                <a:latin typeface="Calibri" charset="0"/>
              </a:rPr>
              <a:t>, Grant et al 2010)</a:t>
            </a:r>
            <a:endParaRPr lang="en-US" sz="2000" dirty="0">
              <a:solidFill>
                <a:srgbClr val="000000"/>
              </a:solidFill>
              <a:latin typeface="Calibri" charset="0"/>
            </a:endParaRPr>
          </a:p>
        </p:txBody>
      </p:sp>
      <p:sp>
        <p:nvSpPr>
          <p:cNvPr id="27664" name="Rectangle 65"/>
          <p:cNvSpPr>
            <a:spLocks noChangeArrowheads="1"/>
          </p:cNvSpPr>
          <p:nvPr/>
        </p:nvSpPr>
        <p:spPr bwMode="auto">
          <a:xfrm>
            <a:off x="7286625" y="2728913"/>
            <a:ext cx="15398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2000" b="1">
                <a:solidFill>
                  <a:srgbClr val="000000"/>
                </a:solidFill>
                <a:latin typeface="Calibri" charset="0"/>
                <a:cs typeface="Arial" charset="0"/>
              </a:rPr>
              <a:t> 44% (15, 63) </a:t>
            </a:r>
          </a:p>
        </p:txBody>
      </p:sp>
      <p:sp>
        <p:nvSpPr>
          <p:cNvPr id="27665" name="Line 63"/>
          <p:cNvSpPr>
            <a:spLocks noChangeShapeType="1"/>
          </p:cNvSpPr>
          <p:nvPr/>
        </p:nvSpPr>
        <p:spPr bwMode="auto">
          <a:xfrm flipV="1">
            <a:off x="4083050" y="2884488"/>
            <a:ext cx="1703388" cy="0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66" name="Rectangle 64"/>
          <p:cNvSpPr>
            <a:spLocks noChangeAspect="1" noChangeArrowheads="1"/>
          </p:cNvSpPr>
          <p:nvPr/>
        </p:nvSpPr>
        <p:spPr bwMode="auto">
          <a:xfrm>
            <a:off x="5021263" y="2779713"/>
            <a:ext cx="180975" cy="180975"/>
          </a:xfrm>
          <a:prstGeom prst="rect">
            <a:avLst/>
          </a:prstGeom>
          <a:solidFill>
            <a:srgbClr val="000000"/>
          </a:solidFill>
          <a:ln w="4763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  <a:latin typeface="Calibri" charset="0"/>
            </a:endParaRPr>
          </a:p>
        </p:txBody>
      </p:sp>
      <p:sp>
        <p:nvSpPr>
          <p:cNvPr id="27667" name="Rectangle 66"/>
          <p:cNvSpPr>
            <a:spLocks noChangeArrowheads="1"/>
          </p:cNvSpPr>
          <p:nvPr/>
        </p:nvSpPr>
        <p:spPr bwMode="auto">
          <a:xfrm>
            <a:off x="549275" y="2171700"/>
            <a:ext cx="221456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sz="2000" dirty="0" smtClean="0">
                <a:solidFill>
                  <a:srgbClr val="000000"/>
                </a:solidFill>
                <a:latin typeface="Calibri" charset="0"/>
              </a:rPr>
              <a:t>1</a:t>
            </a:r>
            <a:r>
              <a:rPr lang="en-US" sz="2000" dirty="0">
                <a:solidFill>
                  <a:srgbClr val="000000"/>
                </a:solidFill>
                <a:latin typeface="Calibri" charset="0"/>
              </a:rPr>
              <a:t>% </a:t>
            </a:r>
            <a:r>
              <a:rPr lang="en-US" sz="2000" dirty="0" err="1">
                <a:solidFill>
                  <a:srgbClr val="000000"/>
                </a:solidFill>
                <a:latin typeface="Calibri" charset="0"/>
              </a:rPr>
              <a:t>tenofovir</a:t>
            </a:r>
            <a:r>
              <a:rPr lang="en-US" sz="2000" dirty="0">
                <a:solidFill>
                  <a:srgbClr val="000000"/>
                </a:solidFill>
                <a:latin typeface="Calibri" charset="0"/>
              </a:rPr>
              <a:t> gel </a:t>
            </a:r>
          </a:p>
          <a:p>
            <a:r>
              <a:rPr lang="en-US" sz="1400" dirty="0">
                <a:solidFill>
                  <a:srgbClr val="000000"/>
                </a:solidFill>
                <a:latin typeface="Calibri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alibri" charset="0"/>
              </a:rPr>
              <a:t>Caprisa</a:t>
            </a:r>
            <a:r>
              <a:rPr lang="en-US" sz="1400" dirty="0">
                <a:solidFill>
                  <a:srgbClr val="000000"/>
                </a:solidFill>
                <a:latin typeface="Calibri" charset="0"/>
              </a:rPr>
              <a:t> 004, </a:t>
            </a:r>
            <a:r>
              <a:rPr lang="en-US" sz="1400" dirty="0" err="1">
                <a:solidFill>
                  <a:srgbClr val="000000"/>
                </a:solidFill>
                <a:latin typeface="Calibri" charset="0"/>
              </a:rPr>
              <a:t>Karim</a:t>
            </a:r>
            <a:r>
              <a:rPr lang="en-US" sz="1400" dirty="0">
                <a:solidFill>
                  <a:srgbClr val="000000"/>
                </a:solidFill>
                <a:latin typeface="Calibri" charset="0"/>
              </a:rPr>
              <a:t> et al.</a:t>
            </a:r>
            <a:r>
              <a:rPr lang="en-US" sz="1400" dirty="0" smtClean="0">
                <a:solidFill>
                  <a:srgbClr val="000000"/>
                </a:solidFill>
                <a:latin typeface="Calibri" charset="0"/>
              </a:rPr>
              <a:t>)</a:t>
            </a:r>
            <a:endParaRPr lang="en-US" sz="1400" dirty="0">
              <a:solidFill>
                <a:srgbClr val="000000"/>
              </a:solidFill>
              <a:latin typeface="Calibri" charset="0"/>
            </a:endParaRPr>
          </a:p>
        </p:txBody>
      </p:sp>
      <p:sp>
        <p:nvSpPr>
          <p:cNvPr id="27668" name="Line 67"/>
          <p:cNvSpPr>
            <a:spLocks noChangeShapeType="1"/>
          </p:cNvSpPr>
          <p:nvPr/>
        </p:nvSpPr>
        <p:spPr bwMode="auto">
          <a:xfrm>
            <a:off x="3765550" y="2389188"/>
            <a:ext cx="1871663" cy="0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69" name="Rectangle 68"/>
          <p:cNvSpPr>
            <a:spLocks noChangeAspect="1" noChangeArrowheads="1"/>
          </p:cNvSpPr>
          <p:nvPr/>
        </p:nvSpPr>
        <p:spPr bwMode="auto">
          <a:xfrm>
            <a:off x="4756150" y="2281238"/>
            <a:ext cx="180975" cy="179387"/>
          </a:xfrm>
          <a:prstGeom prst="rect">
            <a:avLst/>
          </a:prstGeom>
          <a:solidFill>
            <a:srgbClr val="000000"/>
          </a:solidFill>
          <a:ln w="4763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  <a:latin typeface="Calibri" charset="0"/>
            </a:endParaRPr>
          </a:p>
        </p:txBody>
      </p:sp>
      <p:sp>
        <p:nvSpPr>
          <p:cNvPr id="27670" name="Rectangle 69"/>
          <p:cNvSpPr>
            <a:spLocks noChangeArrowheads="1"/>
          </p:cNvSpPr>
          <p:nvPr/>
        </p:nvSpPr>
        <p:spPr bwMode="auto">
          <a:xfrm>
            <a:off x="7272338" y="2238375"/>
            <a:ext cx="1397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2000" b="1">
                <a:solidFill>
                  <a:srgbClr val="000000"/>
                </a:solidFill>
                <a:latin typeface="Calibri" charset="0"/>
                <a:cs typeface="Arial" charset="0"/>
              </a:rPr>
              <a:t> 39% (6, 60)</a:t>
            </a:r>
          </a:p>
        </p:txBody>
      </p:sp>
      <p:cxnSp>
        <p:nvCxnSpPr>
          <p:cNvPr id="27671" name="Straight Connector 33"/>
          <p:cNvCxnSpPr>
            <a:cxnSpLocks noChangeShapeType="1"/>
          </p:cNvCxnSpPr>
          <p:nvPr/>
        </p:nvCxnSpPr>
        <p:spPr bwMode="auto">
          <a:xfrm>
            <a:off x="457200" y="1577975"/>
            <a:ext cx="8458200" cy="7938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27672" name="Line 27"/>
          <p:cNvSpPr>
            <a:spLocks noChangeShapeType="1"/>
          </p:cNvSpPr>
          <p:nvPr/>
        </p:nvSpPr>
        <p:spPr bwMode="auto">
          <a:xfrm flipV="1">
            <a:off x="8901113" y="892175"/>
            <a:ext cx="0" cy="5221288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27673" name="Straight Connector 35"/>
          <p:cNvCxnSpPr>
            <a:cxnSpLocks noChangeShapeType="1"/>
          </p:cNvCxnSpPr>
          <p:nvPr/>
        </p:nvCxnSpPr>
        <p:spPr bwMode="auto">
          <a:xfrm>
            <a:off x="457200" y="892175"/>
            <a:ext cx="8458200" cy="7938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27675" name="Rectangle 62"/>
          <p:cNvSpPr>
            <a:spLocks noChangeArrowheads="1"/>
          </p:cNvSpPr>
          <p:nvPr/>
        </p:nvSpPr>
        <p:spPr bwMode="auto">
          <a:xfrm>
            <a:off x="565150" y="5419725"/>
            <a:ext cx="451673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th-TH" sz="2000" dirty="0" smtClean="0">
                <a:solidFill>
                  <a:srgbClr val="000000"/>
                </a:solidFill>
                <a:latin typeface="Calibri" charset="0"/>
              </a:rPr>
              <a:t>การให้ยา</a:t>
            </a:r>
            <a:r>
              <a:rPr lang="en-US" sz="2000" dirty="0" smtClean="0">
                <a:solidFill>
                  <a:srgbClr val="000000"/>
                </a:solidFill>
                <a:latin typeface="Calibri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Calibri" charset="0"/>
              </a:rPr>
              <a:t>ART </a:t>
            </a:r>
            <a:r>
              <a:rPr lang="th-TH" sz="2000" dirty="0" smtClean="0">
                <a:solidFill>
                  <a:srgbClr val="000000"/>
                </a:solidFill>
                <a:latin typeface="Calibri" charset="0"/>
              </a:rPr>
              <a:t>แก่คู่ที่มีเชื้อทันที</a:t>
            </a:r>
            <a:r>
              <a:rPr lang="en-US" sz="2000" dirty="0" smtClean="0">
                <a:solidFill>
                  <a:srgbClr val="000000"/>
                </a:solidFill>
                <a:latin typeface="Calibri" charset="0"/>
              </a:rPr>
              <a:t>  </a:t>
            </a:r>
            <a:r>
              <a:rPr lang="en-US" sz="2000" dirty="0">
                <a:solidFill>
                  <a:srgbClr val="000000"/>
                </a:solidFill>
                <a:latin typeface="Calibri" charset="0"/>
              </a:rPr>
              <a:t>(HPTN052</a:t>
            </a:r>
            <a:r>
              <a:rPr lang="en-US" sz="2000" dirty="0" smtClean="0">
                <a:solidFill>
                  <a:srgbClr val="000000"/>
                </a:solidFill>
                <a:latin typeface="Calibri" charset="0"/>
              </a:rPr>
              <a:t>)</a:t>
            </a:r>
            <a:endParaRPr lang="en-US" sz="1400" baseline="30000" dirty="0">
              <a:solidFill>
                <a:srgbClr val="000000"/>
              </a:solidFill>
              <a:latin typeface="Calibri" charset="0"/>
            </a:endParaRPr>
          </a:p>
        </p:txBody>
      </p:sp>
      <p:sp>
        <p:nvSpPr>
          <p:cNvPr id="27676" name="Rectangle 64"/>
          <p:cNvSpPr>
            <a:spLocks noChangeAspect="1" noChangeArrowheads="1"/>
          </p:cNvSpPr>
          <p:nvPr/>
        </p:nvSpPr>
        <p:spPr bwMode="auto">
          <a:xfrm>
            <a:off x="6816725" y="5480050"/>
            <a:ext cx="180975" cy="180975"/>
          </a:xfrm>
          <a:prstGeom prst="rect">
            <a:avLst/>
          </a:prstGeom>
          <a:solidFill>
            <a:srgbClr val="000000"/>
          </a:solidFill>
          <a:ln w="4763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  <a:latin typeface="Calibri" charset="0"/>
            </a:endParaRPr>
          </a:p>
        </p:txBody>
      </p:sp>
      <p:sp>
        <p:nvSpPr>
          <p:cNvPr id="27677" name="Rectangle 65"/>
          <p:cNvSpPr>
            <a:spLocks noChangeArrowheads="1"/>
          </p:cNvSpPr>
          <p:nvPr/>
        </p:nvSpPr>
        <p:spPr bwMode="auto">
          <a:xfrm>
            <a:off x="7359650" y="5353248"/>
            <a:ext cx="136681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  <a:latin typeface="Calibri" charset="0"/>
                <a:cs typeface="Arial" charset="0"/>
              </a:rPr>
              <a:t> 96% (82, 99</a:t>
            </a:r>
            <a:r>
              <a:rPr lang="en-US" sz="2000" b="1" dirty="0" smtClean="0">
                <a:solidFill>
                  <a:srgbClr val="000000"/>
                </a:solidFill>
                <a:latin typeface="Calibri" charset="0"/>
                <a:cs typeface="Arial" charset="0"/>
              </a:rPr>
              <a:t>) </a:t>
            </a:r>
            <a:endParaRPr lang="en-US" sz="2000" b="1" dirty="0">
              <a:solidFill>
                <a:srgbClr val="000000"/>
              </a:solidFill>
              <a:latin typeface="Calibri" charset="0"/>
              <a:cs typeface="Arial" charset="0"/>
            </a:endParaRPr>
          </a:p>
        </p:txBody>
      </p:sp>
      <p:cxnSp>
        <p:nvCxnSpPr>
          <p:cNvPr id="27678" name="Straight Connector 54"/>
          <p:cNvCxnSpPr>
            <a:cxnSpLocks noChangeShapeType="1"/>
          </p:cNvCxnSpPr>
          <p:nvPr/>
        </p:nvCxnSpPr>
        <p:spPr bwMode="auto">
          <a:xfrm>
            <a:off x="6470650" y="5570538"/>
            <a:ext cx="601663" cy="1587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27679" name="Rectangle 62"/>
          <p:cNvSpPr>
            <a:spLocks noChangeArrowheads="1"/>
          </p:cNvSpPr>
          <p:nvPr/>
        </p:nvSpPr>
        <p:spPr bwMode="auto">
          <a:xfrm>
            <a:off x="546100" y="3856038"/>
            <a:ext cx="2778125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alibri" charset="0"/>
              </a:rPr>
              <a:t>TDF/FTC oral-</a:t>
            </a:r>
            <a:r>
              <a:rPr lang="en-US" sz="2000" dirty="0" err="1">
                <a:solidFill>
                  <a:srgbClr val="000000"/>
                </a:solidFill>
                <a:latin typeface="Calibri" charset="0"/>
              </a:rPr>
              <a:t>PrEP</a:t>
            </a:r>
            <a:r>
              <a:rPr lang="en-US" sz="2000" dirty="0">
                <a:solidFill>
                  <a:srgbClr val="000000"/>
                </a:solidFill>
                <a:latin typeface="Calibri" charset="0"/>
              </a:rPr>
              <a:t> </a:t>
            </a:r>
            <a:r>
              <a:rPr lang="th-TH" sz="2000" dirty="0" smtClean="0">
                <a:solidFill>
                  <a:srgbClr val="000000"/>
                </a:solidFill>
                <a:latin typeface="Calibri" charset="0"/>
              </a:rPr>
              <a:t>ในกลุ่มร่วมต่างเพศ</a:t>
            </a:r>
            <a:r>
              <a:rPr lang="en-US" sz="2000" dirty="0" smtClean="0">
                <a:solidFill>
                  <a:srgbClr val="000000"/>
                </a:solidFill>
                <a:latin typeface="Calibri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Calibri" charset="0"/>
              </a:rPr>
              <a:t>(</a:t>
            </a:r>
            <a:r>
              <a:rPr lang="en-US" sz="1400" dirty="0">
                <a:solidFill>
                  <a:srgbClr val="000000"/>
                </a:solidFill>
                <a:latin typeface="Calibri" charset="0"/>
              </a:rPr>
              <a:t>TDF2, CDC)</a:t>
            </a:r>
          </a:p>
          <a:p>
            <a:endParaRPr lang="en-US" sz="2000" dirty="0">
              <a:solidFill>
                <a:srgbClr val="000000"/>
              </a:solidFill>
              <a:latin typeface="Calibri" charset="0"/>
            </a:endParaRPr>
          </a:p>
        </p:txBody>
      </p:sp>
      <p:sp>
        <p:nvSpPr>
          <p:cNvPr id="27680" name="Rectangle 62"/>
          <p:cNvSpPr>
            <a:spLocks noChangeArrowheads="1"/>
          </p:cNvSpPr>
          <p:nvPr/>
        </p:nvSpPr>
        <p:spPr bwMode="auto">
          <a:xfrm>
            <a:off x="546100" y="4473575"/>
            <a:ext cx="2324166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alibri" charset="0"/>
              </a:rPr>
              <a:t>TDF oral-</a:t>
            </a:r>
            <a:r>
              <a:rPr lang="en-US" sz="2000" dirty="0" err="1">
                <a:solidFill>
                  <a:srgbClr val="000000"/>
                </a:solidFill>
                <a:latin typeface="Calibri" charset="0"/>
              </a:rPr>
              <a:t>PrEP</a:t>
            </a:r>
            <a:r>
              <a:rPr lang="en-US" sz="2000" dirty="0">
                <a:solidFill>
                  <a:srgbClr val="000000"/>
                </a:solidFill>
                <a:latin typeface="Calibri" charset="0"/>
              </a:rPr>
              <a:t> </a:t>
            </a:r>
            <a:r>
              <a:rPr lang="th-TH" sz="2000" dirty="0" smtClean="0">
                <a:solidFill>
                  <a:srgbClr val="000000"/>
                </a:solidFill>
                <a:latin typeface="Calibri" charset="0"/>
              </a:rPr>
              <a:t>ในคู่ต่าง</a:t>
            </a:r>
            <a:r>
              <a:rPr lang="en-US" sz="2000" dirty="0" smtClean="0">
                <a:solidFill>
                  <a:srgbClr val="000000"/>
                </a:solidFill>
                <a:latin typeface="Calibri" charset="0"/>
              </a:rPr>
              <a:t>   </a:t>
            </a:r>
            <a:endParaRPr lang="en-US" sz="2000" dirty="0">
              <a:solidFill>
                <a:srgbClr val="000000"/>
              </a:solidFill>
              <a:latin typeface="Calibri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alibri" charset="0"/>
              </a:rPr>
              <a:t>Partner (Partners </a:t>
            </a:r>
            <a:r>
              <a:rPr lang="en-US" sz="1400" dirty="0" err="1">
                <a:solidFill>
                  <a:srgbClr val="000000"/>
                </a:solidFill>
                <a:latin typeface="Calibri" charset="0"/>
              </a:rPr>
              <a:t>PrEP</a:t>
            </a:r>
            <a:r>
              <a:rPr lang="en-US" sz="1400" dirty="0">
                <a:solidFill>
                  <a:srgbClr val="000000"/>
                </a:solidFill>
                <a:latin typeface="Calibri" charset="0"/>
              </a:rPr>
              <a:t>)</a:t>
            </a:r>
          </a:p>
          <a:p>
            <a:endParaRPr lang="en-US" sz="2000" dirty="0">
              <a:solidFill>
                <a:srgbClr val="000000"/>
              </a:solidFill>
              <a:latin typeface="Calibri" charset="0"/>
            </a:endParaRPr>
          </a:p>
        </p:txBody>
      </p:sp>
      <p:sp>
        <p:nvSpPr>
          <p:cNvPr id="27681" name="Line 63"/>
          <p:cNvSpPr>
            <a:spLocks noChangeShapeType="1"/>
          </p:cNvSpPr>
          <p:nvPr/>
        </p:nvSpPr>
        <p:spPr bwMode="auto">
          <a:xfrm>
            <a:off x="4498975" y="4021138"/>
            <a:ext cx="1971675" cy="0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82" name="Rectangle 64"/>
          <p:cNvSpPr>
            <a:spLocks noChangeAspect="1" noChangeArrowheads="1"/>
          </p:cNvSpPr>
          <p:nvPr/>
        </p:nvSpPr>
        <p:spPr bwMode="auto">
          <a:xfrm>
            <a:off x="5626100" y="3916363"/>
            <a:ext cx="180975" cy="180975"/>
          </a:xfrm>
          <a:prstGeom prst="rect">
            <a:avLst/>
          </a:prstGeom>
          <a:solidFill>
            <a:srgbClr val="000000"/>
          </a:solidFill>
          <a:ln w="4763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  <a:latin typeface="Calibri" charset="0"/>
            </a:endParaRPr>
          </a:p>
        </p:txBody>
      </p:sp>
      <p:cxnSp>
        <p:nvCxnSpPr>
          <p:cNvPr id="60" name="Straight Connector 59"/>
          <p:cNvCxnSpPr/>
          <p:nvPr/>
        </p:nvCxnSpPr>
        <p:spPr bwMode="auto">
          <a:xfrm rot="5400000">
            <a:off x="7040563" y="6067425"/>
            <a:ext cx="71438" cy="158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6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7684" name="Rectangle 65"/>
          <p:cNvSpPr>
            <a:spLocks noChangeArrowheads="1"/>
          </p:cNvSpPr>
          <p:nvPr/>
        </p:nvSpPr>
        <p:spPr bwMode="auto">
          <a:xfrm>
            <a:off x="7288213" y="3868738"/>
            <a:ext cx="1366810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  <a:latin typeface="Calibri" charset="0"/>
                <a:cs typeface="Arial" charset="0"/>
              </a:rPr>
              <a:t> 63% (22, 83</a:t>
            </a:r>
            <a:r>
              <a:rPr lang="en-US" sz="2000" b="1" dirty="0" smtClean="0">
                <a:solidFill>
                  <a:srgbClr val="000000"/>
                </a:solidFill>
                <a:latin typeface="Calibri" charset="0"/>
                <a:cs typeface="Arial" charset="0"/>
              </a:rPr>
              <a:t>) </a:t>
            </a:r>
            <a:endParaRPr lang="en-US" sz="2000" b="1" dirty="0">
              <a:solidFill>
                <a:srgbClr val="000000"/>
              </a:solidFill>
              <a:latin typeface="Calibri" charset="0"/>
              <a:cs typeface="Arial" charset="0"/>
            </a:endParaRPr>
          </a:p>
          <a:p>
            <a:r>
              <a:rPr lang="en-US" sz="2000" b="1" dirty="0">
                <a:solidFill>
                  <a:srgbClr val="000000"/>
                </a:solidFill>
                <a:latin typeface="Calibri" charset="0"/>
                <a:cs typeface="Arial" charset="0"/>
              </a:rPr>
              <a:t> </a:t>
            </a:r>
          </a:p>
        </p:txBody>
      </p:sp>
      <p:sp>
        <p:nvSpPr>
          <p:cNvPr id="27685" name="Rectangle 62"/>
          <p:cNvSpPr>
            <a:spLocks noChangeArrowheads="1"/>
          </p:cNvSpPr>
          <p:nvPr/>
        </p:nvSpPr>
        <p:spPr bwMode="auto">
          <a:xfrm>
            <a:off x="549275" y="4962525"/>
            <a:ext cx="278941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alibri" charset="0"/>
              </a:rPr>
              <a:t>TDF/FTC oral-</a:t>
            </a:r>
            <a:r>
              <a:rPr lang="en-US" sz="2000" dirty="0" err="1">
                <a:solidFill>
                  <a:srgbClr val="000000"/>
                </a:solidFill>
                <a:latin typeface="Calibri" charset="0"/>
              </a:rPr>
              <a:t>PrEP</a:t>
            </a:r>
            <a:r>
              <a:rPr lang="en-US" sz="2000" dirty="0">
                <a:solidFill>
                  <a:srgbClr val="000000"/>
                </a:solidFill>
                <a:latin typeface="Calibri" charset="0"/>
              </a:rPr>
              <a:t> </a:t>
            </a:r>
            <a:r>
              <a:rPr lang="th-TH" sz="2000" dirty="0" smtClean="0">
                <a:solidFill>
                  <a:srgbClr val="000000"/>
                </a:solidFill>
                <a:latin typeface="Calibri" charset="0"/>
              </a:rPr>
              <a:t>ในคู่ต่าง</a:t>
            </a:r>
            <a:r>
              <a:rPr lang="en-US" sz="2000" dirty="0" smtClean="0">
                <a:solidFill>
                  <a:srgbClr val="000000"/>
                </a:solidFill>
                <a:latin typeface="Calibri" charset="0"/>
              </a:rPr>
              <a:t>   </a:t>
            </a:r>
            <a:endParaRPr lang="en-US" sz="2000" dirty="0">
              <a:solidFill>
                <a:srgbClr val="000000"/>
              </a:solidFill>
              <a:latin typeface="Calibri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alibri" charset="0"/>
              </a:rPr>
              <a:t>Partner (Partners </a:t>
            </a:r>
            <a:r>
              <a:rPr lang="en-US" sz="1400" dirty="0" err="1">
                <a:solidFill>
                  <a:srgbClr val="000000"/>
                </a:solidFill>
                <a:latin typeface="Calibri" charset="0"/>
              </a:rPr>
              <a:t>PrEP</a:t>
            </a:r>
            <a:r>
              <a:rPr lang="en-US" sz="1400" dirty="0" smtClean="0">
                <a:solidFill>
                  <a:srgbClr val="000000"/>
                </a:solidFill>
                <a:latin typeface="Calibri" charset="0"/>
              </a:rPr>
              <a:t>)</a:t>
            </a:r>
          </a:p>
          <a:p>
            <a:endParaRPr lang="en-US" sz="2000" dirty="0">
              <a:solidFill>
                <a:srgbClr val="000000"/>
              </a:solidFill>
              <a:latin typeface="Calibri" charset="0"/>
            </a:endParaRPr>
          </a:p>
        </p:txBody>
      </p:sp>
      <p:sp>
        <p:nvSpPr>
          <p:cNvPr id="27686" name="Line 63"/>
          <p:cNvSpPr>
            <a:spLocks noChangeShapeType="1"/>
          </p:cNvSpPr>
          <p:nvPr/>
        </p:nvSpPr>
        <p:spPr bwMode="auto">
          <a:xfrm>
            <a:off x="4794250" y="4633913"/>
            <a:ext cx="1597025" cy="0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87" name="Rectangle 64"/>
          <p:cNvSpPr>
            <a:spLocks noChangeAspect="1" noChangeArrowheads="1"/>
          </p:cNvSpPr>
          <p:nvPr/>
        </p:nvSpPr>
        <p:spPr bwMode="auto">
          <a:xfrm>
            <a:off x="5616575" y="4529138"/>
            <a:ext cx="180975" cy="180975"/>
          </a:xfrm>
          <a:prstGeom prst="rect">
            <a:avLst/>
          </a:prstGeom>
          <a:solidFill>
            <a:srgbClr val="000000"/>
          </a:solidFill>
          <a:ln w="4763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  <a:latin typeface="Calibri" charset="0"/>
            </a:endParaRPr>
          </a:p>
        </p:txBody>
      </p:sp>
      <p:sp>
        <p:nvSpPr>
          <p:cNvPr id="27688" name="Line 63"/>
          <p:cNvSpPr>
            <a:spLocks noChangeShapeType="1"/>
          </p:cNvSpPr>
          <p:nvPr/>
        </p:nvSpPr>
        <p:spPr bwMode="auto">
          <a:xfrm>
            <a:off x="5292725" y="5159375"/>
            <a:ext cx="1177925" cy="0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89" name="Rectangle 64"/>
          <p:cNvSpPr>
            <a:spLocks noChangeAspect="1" noChangeArrowheads="1"/>
          </p:cNvSpPr>
          <p:nvPr/>
        </p:nvSpPr>
        <p:spPr bwMode="auto">
          <a:xfrm>
            <a:off x="6005513" y="5054600"/>
            <a:ext cx="180975" cy="180975"/>
          </a:xfrm>
          <a:prstGeom prst="rect">
            <a:avLst/>
          </a:prstGeom>
          <a:solidFill>
            <a:srgbClr val="000000"/>
          </a:solidFill>
          <a:ln w="4763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  <a:latin typeface="Calibri" charset="0"/>
            </a:endParaRPr>
          </a:p>
        </p:txBody>
      </p:sp>
      <p:sp>
        <p:nvSpPr>
          <p:cNvPr id="27690" name="Rectangle 65"/>
          <p:cNvSpPr>
            <a:spLocks noChangeArrowheads="1"/>
          </p:cNvSpPr>
          <p:nvPr/>
        </p:nvSpPr>
        <p:spPr bwMode="auto">
          <a:xfrm>
            <a:off x="7278688" y="4456113"/>
            <a:ext cx="1366810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  <a:latin typeface="Calibri" charset="0"/>
                <a:cs typeface="Arial" charset="0"/>
              </a:rPr>
              <a:t> 62% (34, 78</a:t>
            </a:r>
            <a:r>
              <a:rPr lang="en-US" sz="2000" b="1" dirty="0" smtClean="0">
                <a:solidFill>
                  <a:srgbClr val="000000"/>
                </a:solidFill>
                <a:latin typeface="Calibri" charset="0"/>
                <a:cs typeface="Arial" charset="0"/>
              </a:rPr>
              <a:t>) </a:t>
            </a:r>
            <a:endParaRPr lang="en-US" sz="2000" b="1" dirty="0">
              <a:solidFill>
                <a:srgbClr val="000000"/>
              </a:solidFill>
              <a:latin typeface="Calibri" charset="0"/>
              <a:cs typeface="Arial" charset="0"/>
            </a:endParaRPr>
          </a:p>
          <a:p>
            <a:r>
              <a:rPr lang="en-US" sz="2000" b="1" dirty="0">
                <a:solidFill>
                  <a:srgbClr val="000000"/>
                </a:solidFill>
                <a:latin typeface="Calibri" charset="0"/>
                <a:cs typeface="Arial" charset="0"/>
              </a:rPr>
              <a:t> </a:t>
            </a:r>
          </a:p>
        </p:txBody>
      </p:sp>
      <p:sp>
        <p:nvSpPr>
          <p:cNvPr id="27691" name="Rectangle 65"/>
          <p:cNvSpPr>
            <a:spLocks noChangeArrowheads="1"/>
          </p:cNvSpPr>
          <p:nvPr/>
        </p:nvSpPr>
        <p:spPr bwMode="auto">
          <a:xfrm>
            <a:off x="7278688" y="4929188"/>
            <a:ext cx="1662112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  <a:latin typeface="Calibri" charset="0"/>
                <a:cs typeface="Arial" charset="0"/>
              </a:rPr>
              <a:t> 73% (49, 85</a:t>
            </a:r>
            <a:r>
              <a:rPr lang="en-US" sz="2000" b="1" dirty="0" smtClean="0">
                <a:solidFill>
                  <a:srgbClr val="000000"/>
                </a:solidFill>
                <a:latin typeface="Calibri" charset="0"/>
                <a:cs typeface="Arial" charset="0"/>
              </a:rPr>
              <a:t>) </a:t>
            </a:r>
            <a:endParaRPr lang="en-US" sz="2000" b="1" dirty="0">
              <a:solidFill>
                <a:srgbClr val="000000"/>
              </a:solidFill>
              <a:latin typeface="Calibri" charset="0"/>
              <a:cs typeface="Arial" charset="0"/>
            </a:endParaRPr>
          </a:p>
          <a:p>
            <a:r>
              <a:rPr lang="en-US" sz="2000" b="1" dirty="0">
                <a:solidFill>
                  <a:srgbClr val="000000"/>
                </a:solidFill>
                <a:latin typeface="Calibri" charset="0"/>
                <a:cs typeface="Arial" charset="0"/>
              </a:rPr>
              <a:t> </a:t>
            </a:r>
          </a:p>
        </p:txBody>
      </p:sp>
      <p:sp>
        <p:nvSpPr>
          <p:cNvPr id="27692" name="Rectangle 2"/>
          <p:cNvSpPr>
            <a:spLocks noGrp="1" noChangeArrowheads="1"/>
          </p:cNvSpPr>
          <p:nvPr>
            <p:ph type="title"/>
          </p:nvPr>
        </p:nvSpPr>
        <p:spPr>
          <a:xfrm>
            <a:off x="169863" y="0"/>
            <a:ext cx="8686800" cy="769938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th-TH" sz="3600" b="1" dirty="0" smtClean="0">
                <a:solidFill>
                  <a:srgbClr val="000000"/>
                </a:solidFill>
                <a:latin typeface="Calibri" charset="0"/>
                <a:ea typeface="ＭＳ Ｐゴシック" charset="0"/>
                <a:cs typeface="ＭＳ Ｐゴシック" charset="0"/>
              </a:rPr>
              <a:t>ยุทธศาสตร์ใหม่ของการป้องกันทางชีวเวชศาสตร์</a:t>
            </a:r>
            <a:endParaRPr lang="en-US" sz="3600" b="1" dirty="0">
              <a:solidFill>
                <a:srgbClr val="000000"/>
              </a:solidFill>
              <a:latin typeface="Calibri" charset="0"/>
              <a:ea typeface="ＭＳ Ｐゴシック" charset="0"/>
              <a:cs typeface="Arial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110551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222"/>
            <a:ext cx="8229600" cy="860778"/>
          </a:xfrm>
        </p:spPr>
        <p:txBody>
          <a:bodyPr/>
          <a:lstStyle/>
          <a:p>
            <a:r>
              <a:rPr lang="th-TH" dirty="0" smtClean="0"/>
              <a:t>สัมฤทธิ์ผล และ ประสิทธิผล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3754" y="1016000"/>
            <a:ext cx="8573911" cy="5842000"/>
          </a:xfrm>
        </p:spPr>
        <p:txBody>
          <a:bodyPr>
            <a:noAutofit/>
          </a:bodyPr>
          <a:lstStyle/>
          <a:p>
            <a:pPr>
              <a:lnSpc>
                <a:spcPct val="140000"/>
              </a:lnSpc>
            </a:pPr>
            <a:r>
              <a:rPr lang="th-TH" sz="2500" u="sng" dirty="0" smtClean="0"/>
              <a:t>ยา/ผลิตภัณฑ์ที่ขึ้นอยู่กับผู้ใช้ หรือ ที่ขึ้นอยู่กับผู้อื่น</a:t>
            </a:r>
          </a:p>
          <a:p>
            <a:pPr>
              <a:lnSpc>
                <a:spcPct val="140000"/>
              </a:lnSpc>
            </a:pPr>
            <a:r>
              <a:rPr lang="th-TH" sz="2500" dirty="0" smtClean="0"/>
              <a:t>สัมฤทธิ์ผล หรือ ผลสัมฤทธิ์ </a:t>
            </a:r>
            <a:r>
              <a:rPr lang="en-US" sz="2500" dirty="0" smtClean="0"/>
              <a:t>(efficacy)</a:t>
            </a:r>
            <a:r>
              <a:rPr lang="th-TH" sz="2500" dirty="0" smtClean="0"/>
              <a:t> หมายถึงความสามารถของผลิตภัณฑ์ที่จะมีผลบางอย่างในสภาวะที่สมบูรณ์ </a:t>
            </a:r>
            <a:r>
              <a:rPr lang="en-US" sz="2500" dirty="0" smtClean="0"/>
              <a:t>(</a:t>
            </a:r>
            <a:r>
              <a:rPr lang="th-TH" sz="2500" dirty="0" smtClean="0"/>
              <a:t>เช่น ภายใต้การควบคุมของการวิจัย ในห้องทดลอง</a:t>
            </a:r>
            <a:r>
              <a:rPr lang="en-US" sz="2500" dirty="0" smtClean="0"/>
              <a:t>)</a:t>
            </a:r>
            <a:endParaRPr lang="th-TH" sz="2500" dirty="0" smtClean="0"/>
          </a:p>
          <a:p>
            <a:pPr>
              <a:lnSpc>
                <a:spcPct val="140000"/>
              </a:lnSpc>
            </a:pPr>
            <a:r>
              <a:rPr lang="th-TH" sz="2500" dirty="0" smtClean="0"/>
              <a:t>ประสิทธิผล หรือ effectiveness เป็นผลรวมของ efficacy บวกกับปัจจัยอื่น เช่น วินัยในการกินยา สูตรในการใช้/ในการกิน ระยะเวลาที่ใช้ ซึ่งเป็นผลที่คาดว่าจะเป็นในชีวิตหรือสภาวะจริง</a:t>
            </a:r>
          </a:p>
          <a:p>
            <a:pPr>
              <a:lnSpc>
                <a:spcPct val="140000"/>
              </a:lnSpc>
            </a:pPr>
            <a:r>
              <a:rPr lang="th-TH" sz="2500" dirty="0" smtClean="0"/>
              <a:t>ผลของวัคซีนเป็นสัมฤทธิ์ผล</a:t>
            </a:r>
          </a:p>
          <a:p>
            <a:pPr>
              <a:lnSpc>
                <a:spcPct val="140000"/>
              </a:lnSpc>
            </a:pPr>
            <a:r>
              <a:rPr lang="th-TH" sz="2500" dirty="0" smtClean="0"/>
              <a:t>ผล PrEP และ microbicide เป็นประสิทธิผล</a:t>
            </a:r>
            <a:endParaRPr lang="en-US" sz="2500" dirty="0"/>
          </a:p>
        </p:txBody>
      </p:sp>
    </p:spTree>
    <p:extLst>
      <p:ext uri="{BB962C8B-B14F-4D97-AF65-F5344CB8AC3E}">
        <p14:creationId xmlns="" xmlns:p14="http://schemas.microsoft.com/office/powerpoint/2010/main" val="525268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4749"/>
            <a:ext cx="8229600" cy="981251"/>
          </a:xfrm>
        </p:spPr>
        <p:txBody>
          <a:bodyPr/>
          <a:lstStyle/>
          <a:p>
            <a:r>
              <a:rPr lang="th-TH" dirty="0" smtClean="0"/>
              <a:t>ความหมายในตัวเลข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16000"/>
            <a:ext cx="8229600" cy="5686777"/>
          </a:xfrm>
        </p:spPr>
        <p:txBody>
          <a:bodyPr>
            <a:noAutofit/>
          </a:bodyPr>
          <a:lstStyle/>
          <a:p>
            <a:r>
              <a:rPr lang="th-TH" sz="2800" dirty="0" smtClean="0"/>
              <a:t>สิ่งสำคัญคือ นัยสำคัญทางสถิติ </a:t>
            </a:r>
            <a:r>
              <a:rPr lang="en-US" sz="2800" dirty="0"/>
              <a:t>(</a:t>
            </a:r>
            <a:r>
              <a:rPr lang="th-TH" sz="2800" dirty="0" smtClean="0"/>
              <a:t>statistical significance</a:t>
            </a:r>
            <a:r>
              <a:rPr lang="en-US" sz="2800" dirty="0"/>
              <a:t>)</a:t>
            </a:r>
            <a:r>
              <a:rPr lang="th-TH" sz="2800" dirty="0" smtClean="0"/>
              <a:t>  =​ ผลที่ได้แสดงถึงผลหรือความแตกต่างที่เกิดขึ้นจริงระหว่างสิ่ง</a:t>
            </a:r>
            <a:r>
              <a:rPr lang="en-US" sz="2800" dirty="0" smtClean="0"/>
              <a:t>(</a:t>
            </a:r>
            <a:r>
              <a:rPr lang="th-TH" sz="2800" dirty="0" smtClean="0"/>
              <a:t>ผลิตภัณฑ์ ยา</a:t>
            </a:r>
            <a:r>
              <a:rPr lang="en-US" sz="2800" dirty="0"/>
              <a:t>)</a:t>
            </a:r>
            <a:r>
              <a:rPr lang="en-US" sz="2800" dirty="0" smtClean="0"/>
              <a:t> </a:t>
            </a:r>
            <a:r>
              <a:rPr lang="th-TH" sz="2800" dirty="0" smtClean="0"/>
              <a:t>ที่ศึกษาและสิ่งเลียนแบบ</a:t>
            </a:r>
          </a:p>
          <a:p>
            <a:r>
              <a:rPr lang="th-TH" sz="2800" dirty="0"/>
              <a:t>นัยสำคัญทาง</a:t>
            </a:r>
            <a:r>
              <a:rPr lang="th-TH" sz="2800" dirty="0" smtClean="0"/>
              <a:t>สถิติต้องดูประกอบกับช่วง</a:t>
            </a:r>
            <a:r>
              <a:rPr lang="th-TH" sz="2800" dirty="0"/>
              <a:t>ห่างของความเชื่อมั่น</a:t>
            </a:r>
            <a:r>
              <a:rPr lang="th-TH" sz="2800" dirty="0" smtClean="0"/>
              <a:t> </a:t>
            </a:r>
            <a:r>
              <a:rPr lang="en-US" sz="2800" dirty="0" smtClean="0"/>
              <a:t>(</a:t>
            </a:r>
            <a:r>
              <a:rPr lang="th-TH" sz="2800" dirty="0"/>
              <a:t>confidence intervals </a:t>
            </a:r>
            <a:r>
              <a:rPr lang="en-US" sz="2800" dirty="0"/>
              <a:t>–</a:t>
            </a:r>
            <a:r>
              <a:rPr lang="th-TH" sz="2800" dirty="0"/>
              <a:t> </a:t>
            </a:r>
            <a:r>
              <a:rPr lang="th-TH" sz="2800" dirty="0" smtClean="0"/>
              <a:t>CI</a:t>
            </a:r>
            <a:r>
              <a:rPr lang="en-US" sz="2800" dirty="0" smtClean="0"/>
              <a:t>)</a:t>
            </a:r>
            <a:r>
              <a:rPr lang="th-TH" sz="2800" dirty="0" smtClean="0"/>
              <a:t>  ซึ่งแสดงถึงความเชื่อถือได้ของผล </a:t>
            </a:r>
          </a:p>
          <a:p>
            <a:pPr lvl="1"/>
            <a:r>
              <a:rPr lang="th-TH" sz="2400" dirty="0" smtClean="0"/>
              <a:t>ค่า CI ต่ำ </a:t>
            </a:r>
            <a:r>
              <a:rPr lang="en-US" sz="2400" dirty="0"/>
              <a:t> </a:t>
            </a:r>
            <a:r>
              <a:rPr lang="en-US" sz="2400" dirty="0" smtClean="0"/>
              <a:t>(</a:t>
            </a:r>
            <a:r>
              <a:rPr lang="th-TH" sz="2400" dirty="0" smtClean="0"/>
              <a:t>ช่วงไม่ห่างกันมาก</a:t>
            </a:r>
            <a:r>
              <a:rPr lang="en-US" sz="2400" dirty="0"/>
              <a:t>)</a:t>
            </a:r>
            <a:r>
              <a:rPr lang="th-TH" sz="2400" dirty="0" smtClean="0"/>
              <a:t> แสดงถึงความเชื่อมั่นสูง </a:t>
            </a:r>
            <a:endParaRPr lang="en-US" sz="2400" dirty="0" smtClean="0"/>
          </a:p>
          <a:p>
            <a:r>
              <a:rPr lang="th-TH" sz="2800" dirty="0" smtClean="0"/>
              <a:t>ผล</a:t>
            </a:r>
            <a:r>
              <a:rPr lang="th-TH" sz="2800" dirty="0"/>
              <a:t>ที่เสนอเป็นค่า</a:t>
            </a:r>
            <a:r>
              <a:rPr lang="th-TH" sz="2800" dirty="0" smtClean="0"/>
              <a:t>เฉลี่ย</a:t>
            </a:r>
          </a:p>
          <a:p>
            <a:r>
              <a:rPr lang="th-TH" sz="2800" dirty="0" smtClean="0"/>
              <a:t>ผล</a:t>
            </a:r>
            <a:r>
              <a:rPr lang="th-TH" sz="2800" dirty="0"/>
              <a:t>ของการ</a:t>
            </a:r>
            <a:r>
              <a:rPr lang="th-TH" sz="2800" dirty="0" smtClean="0"/>
              <a:t>วิเคราะห์ตาม</a:t>
            </a:r>
            <a:r>
              <a:rPr lang="th-TH" sz="2800" dirty="0"/>
              <a:t>ตัวแป</a:t>
            </a:r>
            <a:r>
              <a:rPr lang="th-TH" sz="2800" dirty="0" smtClean="0"/>
              <a:t>รอื่นๆ เช่น วินัย</a:t>
            </a:r>
            <a:r>
              <a:rPr lang="th-TH" sz="2800" dirty="0"/>
              <a:t>ในการใช้ผลิตภัณฑ์ทดลอง ในการกิน</a:t>
            </a:r>
            <a:r>
              <a:rPr lang="th-TH" sz="2800" dirty="0" smtClean="0"/>
              <a:t>ยา ผลของปีแรก และปีถัดไปหลังจากที่ได้ผลิตภัณฑ์</a:t>
            </a:r>
            <a:endParaRPr lang="th-TH" sz="2800" dirty="0"/>
          </a:p>
        </p:txBody>
      </p:sp>
    </p:spTree>
    <p:extLst>
      <p:ext uri="{BB962C8B-B14F-4D97-AF65-F5344CB8AC3E}">
        <p14:creationId xmlns="" xmlns:p14="http://schemas.microsoft.com/office/powerpoint/2010/main" val="1897224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2943"/>
            <a:ext cx="8229600" cy="882473"/>
          </a:xfrm>
        </p:spPr>
        <p:txBody>
          <a:bodyPr>
            <a:noAutofit/>
          </a:bodyPr>
          <a:lstStyle/>
          <a:p>
            <a:r>
              <a:rPr lang="th-TH" sz="3600" dirty="0" smtClean="0"/>
              <a:t>สิ่งที่เราพอรู้จาก​การทดลอง PrEP ในผู้หญิง </a:t>
            </a:r>
            <a:endParaRPr lang="en-US" sz="3600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35416"/>
            <a:ext cx="8229600" cy="5722584"/>
          </a:xfrm>
        </p:spPr>
        <p:txBody>
          <a:bodyPr vert="horz">
            <a:normAutofit/>
          </a:bodyPr>
          <a:lstStyle/>
          <a:p>
            <a:pPr>
              <a:lnSpc>
                <a:spcPct val="120000"/>
              </a:lnSpc>
            </a:pPr>
            <a:r>
              <a:rPr lang="th-TH" dirty="0" smtClean="0"/>
              <a:t>ต้องรอจนกว่าจะวิเคราะห์ข้อมูลของทั้งสองโครงการเสร็จสมบูรณ์</a:t>
            </a:r>
          </a:p>
          <a:p>
            <a:pPr>
              <a:lnSpc>
                <a:spcPct val="120000"/>
              </a:lnSpc>
            </a:pPr>
            <a:r>
              <a:rPr lang="th-TH" dirty="0" smtClean="0"/>
              <a:t>การศึกษาขนาดเล็กเกี่ยวกับปริมาณของยาต้านในเนื้อเยื่อภายในช่องคลอด มีปริมาณต่างจากปริมาณของยาต้านในเนื้อเยื่อภายในทวารหนัก</a:t>
            </a:r>
          </a:p>
          <a:p>
            <a:pPr>
              <a:lnSpc>
                <a:spcPct val="120000"/>
              </a:lnSpc>
            </a:pPr>
            <a:r>
              <a:rPr lang="th-TH" dirty="0" smtClean="0"/>
              <a:t>การใช้ยาอย่างสม่ำเสมอขึ้นอยู่กับการรายงานด้วยอาสาฯเอง </a:t>
            </a:r>
          </a:p>
          <a:p>
            <a:pPr lvl="1">
              <a:lnSpc>
                <a:spcPct val="120000"/>
              </a:lnSpc>
            </a:pPr>
            <a:r>
              <a:rPr lang="th-TH" dirty="0" smtClean="0"/>
              <a:t>ต้องรอผลการวิเคราะห์ PK </a:t>
            </a:r>
            <a:r>
              <a:rPr lang="en-US" dirty="0" smtClean="0"/>
              <a:t>(</a:t>
            </a:r>
            <a:r>
              <a:rPr lang="th-TH" dirty="0" smtClean="0"/>
              <a:t>เภสัชจลนศาสตร์</a:t>
            </a:r>
            <a:r>
              <a:rPr lang="en-US" dirty="0" smtClean="0"/>
              <a:t>)</a:t>
            </a:r>
            <a:r>
              <a:rPr lang="th-TH" dirty="0" smtClean="0"/>
              <a:t> การดูดซึม การกระจายของยา</a:t>
            </a:r>
            <a:r>
              <a:rPr lang="th-TH" dirty="0"/>
              <a:t> </a:t>
            </a:r>
            <a:r>
              <a:rPr lang="th-TH" dirty="0" smtClean="0"/>
              <a:t>ประกอบผลอื่นๆ และ</a:t>
            </a:r>
          </a:p>
          <a:p>
            <a:pPr lvl="1">
              <a:lnSpc>
                <a:spcPct val="120000"/>
              </a:lnSpc>
            </a:pPr>
            <a:r>
              <a:rPr lang="th-TH" dirty="0" smtClean="0"/>
              <a:t>ผล PD </a:t>
            </a:r>
            <a:r>
              <a:rPr lang="en-US" dirty="0"/>
              <a:t>(</a:t>
            </a:r>
            <a:r>
              <a:rPr lang="th-TH" dirty="0" smtClean="0"/>
              <a:t>เภสัชพลศาสตร์</a:t>
            </a:r>
            <a:r>
              <a:rPr lang="en-US" dirty="0" smtClean="0"/>
              <a:t>)</a:t>
            </a:r>
            <a:r>
              <a:rPr lang="th-TH" dirty="0" smtClean="0"/>
              <a:t> ผล/ฤทธิ์ของยาต่อร่างกายและเชื้อโรค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955948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11668"/>
            <a:ext cx="8229600" cy="1044222"/>
          </a:xfrm>
        </p:spPr>
        <p:txBody>
          <a:bodyPr>
            <a:normAutofit/>
          </a:bodyPr>
          <a:lstStyle/>
          <a:p>
            <a:pPr algn="ctr" eaLnBrk="1" hangingPunct="1"/>
            <a:r>
              <a:rPr lang="th-TH" sz="4000" dirty="0">
                <a:latin typeface="Arial" charset="0"/>
                <a:ea typeface="ＭＳ Ｐゴシック" charset="0"/>
              </a:rPr>
              <a:t>โครงการ </a:t>
            </a:r>
            <a:r>
              <a:rPr lang="en-US" sz="4000" dirty="0">
                <a:latin typeface="Arial" charset="0"/>
                <a:ea typeface="ＭＳ Ｐゴシック" charset="0"/>
              </a:rPr>
              <a:t>FACTS-001</a:t>
            </a:r>
          </a:p>
        </p:txBody>
      </p:sp>
      <p:sp>
        <p:nvSpPr>
          <p:cNvPr id="1822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371600"/>
            <a:ext cx="8713788" cy="4174067"/>
          </a:xfrm>
        </p:spPr>
        <p:txBody>
          <a:bodyPr>
            <a:normAutofit/>
          </a:bodyPr>
          <a:lstStyle/>
          <a:p>
            <a:pPr eaLnBrk="1" hangingPunct="1">
              <a:lnSpc>
                <a:spcPct val="120000"/>
              </a:lnSpc>
              <a:spcAft>
                <a:spcPts val="1200"/>
              </a:spcAft>
            </a:pPr>
            <a:r>
              <a:rPr lang="th-TH" sz="2400" dirty="0">
                <a:latin typeface="Arial" charset="0"/>
                <a:ea typeface="ＭＳ Ｐゴシック" charset="0"/>
              </a:rPr>
              <a:t>โครงการวิจัยในระยะที่</a:t>
            </a:r>
            <a:r>
              <a:rPr lang="en-US" sz="2400" dirty="0">
                <a:latin typeface="Arial" charset="0"/>
                <a:ea typeface="ＭＳ Ｐゴシック" charset="0"/>
              </a:rPr>
              <a:t> </a:t>
            </a:r>
            <a:r>
              <a:rPr lang="th-TH" sz="2400" dirty="0">
                <a:latin typeface="Arial" charset="0"/>
                <a:ea typeface="ＭＳ Ｐゴシック" charset="0"/>
              </a:rPr>
              <a:t>3 เพื่อ</a:t>
            </a:r>
            <a:r>
              <a:rPr lang="th-TH" sz="2400" dirty="0" smtClean="0">
                <a:latin typeface="Arial" charset="0"/>
                <a:ea typeface="ＭＳ Ｐゴシック" charset="0"/>
              </a:rPr>
              <a:t>ศึกษาการใช้สารฆ่าจุลินทรีย์ที่ผสมยาต้านไวรัส </a:t>
            </a:r>
            <a:r>
              <a:rPr lang="en-US" sz="2400" dirty="0" smtClean="0">
                <a:latin typeface="Arial" charset="0"/>
                <a:ea typeface="ＭＳ Ｐゴシック" charset="0"/>
              </a:rPr>
              <a:t>(1% </a:t>
            </a:r>
            <a:r>
              <a:rPr lang="en-US" sz="2400" dirty="0" err="1" smtClean="0">
                <a:latin typeface="Arial" charset="0"/>
                <a:ea typeface="ＭＳ Ｐゴシック" charset="0"/>
              </a:rPr>
              <a:t>tenefovir</a:t>
            </a:r>
            <a:r>
              <a:rPr lang="en-US" sz="2400" dirty="0" smtClean="0">
                <a:latin typeface="Arial" charset="0"/>
                <a:ea typeface="ＭＳ Ｐゴシック" charset="0"/>
              </a:rPr>
              <a:t> gel </a:t>
            </a:r>
            <a:r>
              <a:rPr lang="en-US" sz="2400" dirty="0" err="1" smtClean="0">
                <a:latin typeface="Arial" charset="0"/>
                <a:ea typeface="ＭＳ Ｐゴシック" charset="0"/>
              </a:rPr>
              <a:t>microbicide</a:t>
            </a:r>
            <a:r>
              <a:rPr lang="en-US" sz="2400" dirty="0" smtClean="0">
                <a:latin typeface="Arial" charset="0"/>
                <a:ea typeface="ＭＳ Ｐゴシック" charset="0"/>
              </a:rPr>
              <a:t>) </a:t>
            </a:r>
            <a:r>
              <a:rPr lang="th-TH" sz="2400" dirty="0" smtClean="0">
                <a:latin typeface="Arial" charset="0"/>
                <a:ea typeface="ＭＳ Ｐゴシック" charset="0"/>
              </a:rPr>
              <a:t>สูตร</a:t>
            </a:r>
            <a:r>
              <a:rPr lang="th-TH" sz="2400" dirty="0">
                <a:latin typeface="Arial" charset="0"/>
                <a:ea typeface="ＭＳ Ｐゴシック" charset="0"/>
              </a:rPr>
              <a:t>การใช้แบบ</a:t>
            </a:r>
            <a:r>
              <a:rPr lang="en-US" sz="2400" dirty="0">
                <a:latin typeface="Arial" charset="0"/>
                <a:ea typeface="ＭＳ Ｐゴシック" charset="0"/>
              </a:rPr>
              <a:t> BAT 24 </a:t>
            </a:r>
            <a:r>
              <a:rPr lang="th-TH" sz="2400" dirty="0">
                <a:latin typeface="Arial" charset="0"/>
                <a:ea typeface="ＭＳ Ｐゴシック" charset="0"/>
              </a:rPr>
              <a:t>ในอาสาสมัครหญิงที่ไม่ติดเชื้อ และยังคงมีเพศสัมพันธ์ อายุระหว่าง </a:t>
            </a:r>
            <a:r>
              <a:rPr lang="en-US" sz="2400" dirty="0">
                <a:latin typeface="Arial" charset="0"/>
                <a:ea typeface="ＭＳ Ｐゴシック" charset="0"/>
              </a:rPr>
              <a:t>16-30</a:t>
            </a:r>
            <a:r>
              <a:rPr lang="th-TH" sz="2400" dirty="0">
                <a:latin typeface="Arial" charset="0"/>
                <a:ea typeface="ＭＳ Ｐゴシック" charset="0"/>
              </a:rPr>
              <a:t> ปี จำนวน </a:t>
            </a:r>
            <a:r>
              <a:rPr lang="en-US" sz="2400" dirty="0">
                <a:latin typeface="Arial" charset="0"/>
                <a:ea typeface="ＭＳ Ｐゴシック" charset="0"/>
              </a:rPr>
              <a:t>2,200 </a:t>
            </a:r>
            <a:r>
              <a:rPr lang="th-TH" sz="2400" dirty="0">
                <a:latin typeface="Arial" charset="0"/>
                <a:ea typeface="ＭＳ Ｐゴシック" charset="0"/>
              </a:rPr>
              <a:t>คน</a:t>
            </a:r>
          </a:p>
          <a:p>
            <a:pPr eaLnBrk="1" hangingPunct="1">
              <a:lnSpc>
                <a:spcPct val="120000"/>
              </a:lnSpc>
              <a:spcAft>
                <a:spcPts val="1200"/>
              </a:spcAft>
            </a:pPr>
            <a:r>
              <a:rPr lang="th-TH" sz="2400" dirty="0">
                <a:latin typeface="Arial" charset="0"/>
                <a:ea typeface="ＭＳ Ｐゴシック" charset="0"/>
              </a:rPr>
              <a:t>ได้รับอาสาสมัครเข้าร่วมการวิจัยจากหน่วยวิจัยจำนวน 9 แห่งใน      อัฟริกาใต้</a:t>
            </a:r>
            <a:endParaRPr lang="en-US" sz="2400" dirty="0">
              <a:latin typeface="Arial" charset="0"/>
              <a:ea typeface="ＭＳ Ｐゴシック" charset="0"/>
            </a:endParaRPr>
          </a:p>
          <a:p>
            <a:pPr eaLnBrk="1" hangingPunct="1">
              <a:lnSpc>
                <a:spcPct val="120000"/>
              </a:lnSpc>
              <a:spcAft>
                <a:spcPts val="1200"/>
              </a:spcAft>
            </a:pPr>
            <a:r>
              <a:rPr lang="th-TH" sz="2400" dirty="0">
                <a:latin typeface="Arial" charset="0"/>
                <a:ea typeface="ＭＳ Ｐゴシック" charset="0"/>
              </a:rPr>
              <a:t>เพื่อดูความปลอดภัยและประสิทธิผลของเจลทีโนโฟเวียร์ในการป้องกันการติดเชื้อเอชไอวี และ เริมบริเวณอวัยวะเพศ </a:t>
            </a:r>
            <a:r>
              <a:rPr lang="en-US" sz="2400" dirty="0">
                <a:latin typeface="Arial" charset="0"/>
                <a:ea typeface="ＭＳ Ｐゴシック" charset="0"/>
              </a:rPr>
              <a:t>(HSV-2</a:t>
            </a:r>
            <a:r>
              <a:rPr lang="en-US" sz="2400" dirty="0" smtClean="0">
                <a:latin typeface="Arial" charset="0"/>
                <a:ea typeface="ＭＳ Ｐゴシック" charset="0"/>
              </a:rPr>
              <a:t>)</a:t>
            </a:r>
            <a:endParaRPr lang="en-US" sz="2400" dirty="0">
              <a:latin typeface="Arial" charset="0"/>
              <a:ea typeface="ＭＳ Ｐゴシック" charset="0"/>
            </a:endParaRPr>
          </a:p>
        </p:txBody>
      </p:sp>
      <p:pic>
        <p:nvPicPr>
          <p:cNvPr id="182275" name="Picture 4" descr="MTN LOGO_Fina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6906" y="6027737"/>
            <a:ext cx="1169988" cy="693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2276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5867400"/>
            <a:ext cx="1065213" cy="722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2277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FBFC5642-02EE-494A-B851-878D804A0C00}" type="slidenum">
              <a:rPr lang="en-US" sz="1000">
                <a:solidFill>
                  <a:srgbClr val="000000"/>
                </a:solidFill>
                <a:latin typeface="Arial" charset="0"/>
              </a:rPr>
              <a:pPr eaLnBrk="1" hangingPunct="1"/>
              <a:t>35</a:t>
            </a:fld>
            <a:endParaRPr lang="en-US" sz="10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673159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h-TH" dirty="0" smtClean="0"/>
              <a:t>ความเป็นไปได้ในการใช้ PrEP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th-TH" sz="2800" dirty="0" smtClean="0"/>
              <a:t>จาก </a:t>
            </a:r>
            <a:r>
              <a:rPr lang="en-US" sz="2800" dirty="0" smtClean="0"/>
              <a:t>J. McConnell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th-TH" dirty="0" smtClean="0"/>
              <a:t>ใช้เป็นประจำ</a:t>
            </a:r>
            <a:endParaRPr lang="en-US" dirty="0" smtClean="0"/>
          </a:p>
          <a:p>
            <a:pPr lvl="1"/>
            <a:r>
              <a:rPr lang="th-TH" dirty="0" smtClean="0"/>
              <a:t>ทุกวัน</a:t>
            </a:r>
            <a:endParaRPr lang="en-US" dirty="0" smtClean="0"/>
          </a:p>
          <a:p>
            <a:pPr lvl="1"/>
            <a:r>
              <a:rPr lang="th-TH" dirty="0" smtClean="0"/>
              <a:t>น้อยกว่าทุกวัน</a:t>
            </a:r>
            <a:r>
              <a:rPr lang="en-US" dirty="0" smtClean="0"/>
              <a:t> (</a:t>
            </a:r>
            <a:r>
              <a:rPr lang="th-TH" dirty="0" smtClean="0"/>
              <a:t>ทุกอาทิตย์</a:t>
            </a:r>
            <a:r>
              <a:rPr lang="en-US" dirty="0" smtClean="0"/>
              <a:t>, </a:t>
            </a:r>
            <a:r>
              <a:rPr lang="th-TH" dirty="0" smtClean="0"/>
              <a:t>วันสุดสัปดาห์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th-TH" dirty="0" smtClean="0"/>
              <a:t>ตามเหตุการณ์ </a:t>
            </a:r>
            <a:r>
              <a:rPr lang="en-US" dirty="0" smtClean="0"/>
              <a:t>Event</a:t>
            </a:r>
            <a:r>
              <a:rPr lang="en-US" dirty="0"/>
              <a:t>-based (</a:t>
            </a:r>
            <a:r>
              <a:rPr lang="en-US" dirty="0" err="1"/>
              <a:t>peri</a:t>
            </a:r>
            <a:r>
              <a:rPr lang="en-US" dirty="0"/>
              <a:t>-coital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CAPRISA 004</a:t>
            </a:r>
          </a:p>
          <a:p>
            <a:pPr lvl="1"/>
            <a:r>
              <a:rPr lang="th-TH" dirty="0" smtClean="0"/>
              <a:t>การวิจัยในลิง </a:t>
            </a:r>
            <a:r>
              <a:rPr lang="en-US" dirty="0"/>
              <a:t> (NHP studies)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r>
              <a:rPr lang="th-TH" dirty="0" smtClean="0"/>
              <a:t>ใช้ประจำบวกกับใช้ตามเหตุการณ์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r>
              <a:rPr lang="th-TH" dirty="0" smtClean="0"/>
              <a:t>เป็นวาระ หรือ disco dosing</a:t>
            </a:r>
            <a:endParaRPr lang="en-US" dirty="0" smtClean="0"/>
          </a:p>
          <a:p>
            <a:pPr lvl="1"/>
            <a:r>
              <a:rPr lang="th-TH" dirty="0" smtClean="0"/>
              <a:t>พักร้อน ไปงาน</a:t>
            </a:r>
            <a:r>
              <a:rPr lang="en-US" dirty="0" smtClean="0"/>
              <a:t> </a:t>
            </a:r>
            <a:r>
              <a:rPr lang="th-TH" dirty="0" smtClean="0"/>
              <a:t>ฯลฯ</a:t>
            </a:r>
            <a:endParaRPr lang="en-US" dirty="0"/>
          </a:p>
        </p:txBody>
      </p:sp>
      <p:sp>
        <p:nvSpPr>
          <p:cNvPr id="6" name="Right Arrow 5"/>
          <p:cNvSpPr/>
          <p:nvPr/>
        </p:nvSpPr>
        <p:spPr>
          <a:xfrm>
            <a:off x="304800" y="2082800"/>
            <a:ext cx="609600" cy="15240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192880532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28600"/>
            <a:ext cx="8382000" cy="838200"/>
          </a:xfrm>
        </p:spPr>
        <p:txBody>
          <a:bodyPr>
            <a:normAutofit/>
          </a:bodyPr>
          <a:lstStyle/>
          <a:p>
            <a:r>
              <a:rPr lang="th-TH" sz="4000" dirty="0" smtClean="0">
                <a:solidFill>
                  <a:srgbClr val="000000"/>
                </a:solidFill>
                <a:latin typeface="Arial" charset="0"/>
                <a:cs typeface="Arial" charset="0"/>
              </a:rPr>
              <a:t>การวิจัย</a:t>
            </a:r>
            <a:r>
              <a:rPr lang="en-US" sz="4000" dirty="0" smtClean="0">
                <a:solidFill>
                  <a:srgbClr val="000000"/>
                </a:solidFill>
                <a:latin typeface="Arial" charset="0"/>
                <a:cs typeface="Arial" charset="0"/>
              </a:rPr>
              <a:t> </a:t>
            </a:r>
            <a:r>
              <a:rPr lang="en-US" sz="4000" dirty="0" err="1" smtClean="0">
                <a:solidFill>
                  <a:srgbClr val="000000"/>
                </a:solidFill>
                <a:latin typeface="Arial" charset="0"/>
                <a:cs typeface="Arial" charset="0"/>
              </a:rPr>
              <a:t>PrEP</a:t>
            </a:r>
            <a:r>
              <a:rPr lang="th-TH" sz="4000" dirty="0" smtClean="0">
                <a:solidFill>
                  <a:srgbClr val="000000"/>
                </a:solidFill>
                <a:latin typeface="Arial" charset="0"/>
                <a:cs typeface="Arial" charset="0"/>
              </a:rPr>
              <a:t> ที่อยู่ในแผน</a:t>
            </a:r>
            <a:endParaRPr lang="en-US" sz="3600" b="1" dirty="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447800" y="1371600"/>
            <a:ext cx="7696200" cy="4876800"/>
          </a:xfrm>
        </p:spPr>
        <p:txBody>
          <a:bodyPr>
            <a:normAutofit fontScale="85000" lnSpcReduction="20000"/>
          </a:bodyPr>
          <a:lstStyle/>
          <a:p>
            <a:pPr marL="228600" indent="-228600">
              <a:defRPr/>
            </a:pPr>
            <a:r>
              <a:rPr lang="en-US" sz="2600" b="1" dirty="0" smtClean="0">
                <a:latin typeface="Arial" pitchFamily="34" charset="0"/>
                <a:cs typeface="Arial" pitchFamily="34" charset="0"/>
              </a:rPr>
              <a:t>NNRTIs:</a:t>
            </a:r>
            <a:r>
              <a:rPr lang="en-US" sz="26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th-TH" sz="2600" dirty="0" smtClean="0">
                <a:latin typeface="Arial" pitchFamily="34" charset="0"/>
                <a:cs typeface="Arial" pitchFamily="34" charset="0"/>
              </a:rPr>
              <a:t>แหวนสำหรับภายในช่องคลอดที่มีส่วนผสม </a:t>
            </a:r>
            <a:r>
              <a:rPr lang="en-US" sz="2600" dirty="0" err="1" smtClean="0">
                <a:latin typeface="Arial" pitchFamily="34" charset="0"/>
                <a:cs typeface="Arial" pitchFamily="34" charset="0"/>
              </a:rPr>
              <a:t>Dapivirine</a:t>
            </a:r>
            <a:r>
              <a:rPr lang="en-US" sz="2600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 marL="628650" lvl="2">
              <a:defRPr/>
            </a:pPr>
            <a:r>
              <a:rPr lang="th-TH" sz="2200" dirty="0" smtClean="0">
                <a:latin typeface="Arial" pitchFamily="34" charset="0"/>
                <a:cs typeface="Arial" pitchFamily="34" charset="0"/>
              </a:rPr>
              <a:t>โครงการวิจัยประสิทธิผลของแหวนช่องคลอด</a:t>
            </a:r>
            <a:r>
              <a:rPr lang="en-US" sz="22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200" dirty="0" err="1" smtClean="0">
                <a:latin typeface="Arial" pitchFamily="34" charset="0"/>
                <a:cs typeface="Arial" pitchFamily="34" charset="0"/>
              </a:rPr>
              <a:t>dapivirine</a:t>
            </a:r>
            <a:r>
              <a:rPr lang="en-US" sz="2200" dirty="0" smtClean="0">
                <a:latin typeface="Arial" pitchFamily="34" charset="0"/>
                <a:cs typeface="Arial" pitchFamily="34" charset="0"/>
              </a:rPr>
              <a:t> ring 2012 (IPM &amp; partners)</a:t>
            </a:r>
          </a:p>
          <a:p>
            <a:pPr marL="228600" lvl="1" indent="-228600">
              <a:buFontTx/>
              <a:buNone/>
              <a:defRPr/>
            </a:pPr>
            <a:endParaRPr lang="en-US" sz="1400" dirty="0" smtClean="0">
              <a:latin typeface="Arial" pitchFamily="34" charset="0"/>
              <a:cs typeface="Arial" pitchFamily="34" charset="0"/>
            </a:endParaRPr>
          </a:p>
          <a:p>
            <a:pPr marL="228600" indent="-228600">
              <a:defRPr/>
            </a:pPr>
            <a:r>
              <a:rPr lang="en-US" sz="2800" b="1" dirty="0" smtClean="0">
                <a:latin typeface="Arial" pitchFamily="34" charset="0"/>
                <a:cs typeface="Arial" pitchFamily="34" charset="0"/>
              </a:rPr>
              <a:t>Entry inhibitors: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Maraviroc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th-TH" sz="2800" dirty="0" smtClean="0">
                <a:latin typeface="Arial" pitchFamily="34" charset="0"/>
                <a:cs typeface="Arial" pitchFamily="34" charset="0"/>
              </a:rPr>
              <a:t>กับกลุ่มยา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NRTI </a:t>
            </a:r>
            <a:r>
              <a:rPr lang="th-TH" sz="2800" dirty="0" smtClean="0">
                <a:latin typeface="Arial" pitchFamily="34" charset="0"/>
                <a:cs typeface="Arial" pitchFamily="34" charset="0"/>
              </a:rPr>
              <a:t>หรือ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NNRTI </a:t>
            </a:r>
          </a:p>
          <a:p>
            <a:pPr marL="628650" lvl="2">
              <a:defRPr/>
            </a:pPr>
            <a:r>
              <a:rPr lang="en-US" sz="2200" dirty="0" smtClean="0">
                <a:latin typeface="Arial" pitchFamily="34" charset="0"/>
                <a:cs typeface="Arial" pitchFamily="34" charset="0"/>
              </a:rPr>
              <a:t>Oral </a:t>
            </a:r>
            <a:r>
              <a:rPr lang="en-US" sz="2200" dirty="0" err="1" smtClean="0">
                <a:latin typeface="Arial" pitchFamily="34" charset="0"/>
                <a:cs typeface="Arial" pitchFamily="34" charset="0"/>
              </a:rPr>
              <a:t>maraviroc</a:t>
            </a:r>
            <a:r>
              <a:rPr lang="en-US" sz="2200" dirty="0" smtClean="0">
                <a:latin typeface="Arial" pitchFamily="34" charset="0"/>
                <a:cs typeface="Arial" pitchFamily="34" charset="0"/>
              </a:rPr>
              <a:t> +/- FTC/TDF (HPTN 069)</a:t>
            </a:r>
          </a:p>
          <a:p>
            <a:pPr marL="628650" lvl="2">
              <a:defRPr/>
            </a:pPr>
            <a:r>
              <a:rPr lang="en-US" sz="2200" dirty="0" err="1" smtClean="0">
                <a:latin typeface="Arial" pitchFamily="34" charset="0"/>
                <a:cs typeface="Arial" pitchFamily="34" charset="0"/>
              </a:rPr>
              <a:t>Maraviroc</a:t>
            </a:r>
            <a:r>
              <a:rPr lang="en-US" sz="2200" dirty="0" smtClean="0">
                <a:latin typeface="Arial" pitchFamily="34" charset="0"/>
                <a:cs typeface="Arial" pitchFamily="34" charset="0"/>
              </a:rPr>
              <a:t> &amp; </a:t>
            </a:r>
            <a:r>
              <a:rPr lang="th-TH" sz="2200" dirty="0" smtClean="0">
                <a:latin typeface="Arial" pitchFamily="34" charset="0"/>
                <a:cs typeface="Arial" pitchFamily="34" charset="0"/>
              </a:rPr>
              <a:t>แหวนช่องคลอด </a:t>
            </a:r>
            <a:r>
              <a:rPr lang="en-US" sz="2200" dirty="0" err="1" smtClean="0">
                <a:latin typeface="Arial" pitchFamily="34" charset="0"/>
                <a:cs typeface="Arial" pitchFamily="34" charset="0"/>
              </a:rPr>
              <a:t>dapivirine</a:t>
            </a:r>
            <a:r>
              <a:rPr lang="en-US" sz="2200" dirty="0" smtClean="0">
                <a:latin typeface="Arial" pitchFamily="34" charset="0"/>
                <a:cs typeface="Arial" pitchFamily="34" charset="0"/>
              </a:rPr>
              <a:t> (IPM, MTN)</a:t>
            </a:r>
          </a:p>
          <a:p>
            <a:pPr marL="228600" lvl="1" indent="-228600">
              <a:buFontTx/>
              <a:buNone/>
              <a:defRPr/>
            </a:pPr>
            <a:endParaRPr lang="en-US" sz="1400" dirty="0" smtClean="0">
              <a:latin typeface="Arial" pitchFamily="34" charset="0"/>
              <a:cs typeface="Arial" pitchFamily="34" charset="0"/>
            </a:endParaRPr>
          </a:p>
          <a:p>
            <a:pPr marL="228600" indent="-228600">
              <a:defRPr/>
            </a:pPr>
            <a:r>
              <a:rPr lang="en-US" sz="2600" b="1" dirty="0" smtClean="0">
                <a:latin typeface="Arial" pitchFamily="34" charset="0"/>
                <a:cs typeface="Arial" pitchFamily="34" charset="0"/>
              </a:rPr>
              <a:t>NNRTIs:</a:t>
            </a:r>
            <a:r>
              <a:rPr lang="en-US" sz="26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 smtClean="0">
                <a:latin typeface="Arial" pitchFamily="34" charset="0"/>
                <a:cs typeface="Arial" pitchFamily="34" charset="0"/>
              </a:rPr>
              <a:t>Rilpivirine</a:t>
            </a:r>
            <a:r>
              <a:rPr lang="en-US" sz="2600" dirty="0" smtClean="0">
                <a:latin typeface="Arial" pitchFamily="34" charset="0"/>
                <a:cs typeface="Arial" pitchFamily="34" charset="0"/>
              </a:rPr>
              <a:t> (TMC 278)</a:t>
            </a:r>
            <a:r>
              <a:rPr lang="th-TH" sz="2600" dirty="0" smtClean="0">
                <a:latin typeface="Arial" pitchFamily="34" charset="0"/>
                <a:cs typeface="Arial" pitchFamily="34" charset="0"/>
              </a:rPr>
              <a:t> ชนิดฉีดและออกฤทธิ์นาน</a:t>
            </a:r>
            <a:endParaRPr lang="en-US" sz="2600" dirty="0" smtClean="0">
              <a:latin typeface="Arial" pitchFamily="34" charset="0"/>
              <a:cs typeface="Arial" pitchFamily="34" charset="0"/>
            </a:endParaRPr>
          </a:p>
          <a:p>
            <a:pPr marL="628650" lvl="2">
              <a:defRPr/>
            </a:pPr>
            <a:r>
              <a:rPr lang="th-TH" sz="2200" dirty="0" smtClean="0">
                <a:latin typeface="Arial" pitchFamily="34" charset="0"/>
                <a:cs typeface="Arial" pitchFamily="34" charset="0"/>
              </a:rPr>
              <a:t>ศึกษาความปลอดภัยของ PrEP ชนืดฉีดเดือนละครั้ง</a:t>
            </a:r>
            <a:endParaRPr lang="en-US" sz="2200" dirty="0" smtClean="0">
              <a:latin typeface="Arial" pitchFamily="34" charset="0"/>
              <a:cs typeface="Arial" pitchFamily="34" charset="0"/>
            </a:endParaRPr>
          </a:p>
          <a:p>
            <a:pPr marL="234950" lvl="1" indent="-292100">
              <a:buFont typeface="Arial"/>
              <a:buChar char="•"/>
              <a:defRPr/>
            </a:pPr>
            <a:r>
              <a:rPr lang="en-US" sz="2600" b="1" dirty="0" smtClean="0">
                <a:latin typeface="Arial" pitchFamily="34" charset="0"/>
                <a:cs typeface="Arial" pitchFamily="34" charset="0"/>
              </a:rPr>
              <a:t>Broadly neutralizing monoclonal antibodies</a:t>
            </a:r>
          </a:p>
          <a:p>
            <a:pPr marL="228600" lvl="1" indent="-228600">
              <a:buFontTx/>
              <a:buNone/>
              <a:defRPr/>
            </a:pPr>
            <a:endParaRPr lang="en-US" sz="1400" dirty="0" smtClean="0">
              <a:latin typeface="Arial" pitchFamily="34" charset="0"/>
              <a:cs typeface="Arial" pitchFamily="34" charset="0"/>
            </a:endParaRPr>
          </a:p>
          <a:p>
            <a:pPr marL="228600" indent="-228600">
              <a:defRPr/>
            </a:pPr>
            <a:r>
              <a:rPr lang="en-US" sz="2600" b="1" dirty="0" err="1" smtClean="0">
                <a:latin typeface="Arial" pitchFamily="34" charset="0"/>
                <a:cs typeface="Arial" pitchFamily="34" charset="0"/>
              </a:rPr>
              <a:t>Integrase</a:t>
            </a:r>
            <a:r>
              <a:rPr lang="en-US" sz="2600" b="1" dirty="0" smtClean="0">
                <a:latin typeface="Arial" pitchFamily="34" charset="0"/>
                <a:cs typeface="Arial" pitchFamily="34" charset="0"/>
              </a:rPr>
              <a:t> strand inhibitors</a:t>
            </a:r>
          </a:p>
          <a:p>
            <a:pPr marL="628650" lvl="2">
              <a:defRPr/>
            </a:pPr>
            <a:r>
              <a:rPr lang="en-US" sz="2200" dirty="0" smtClean="0">
                <a:latin typeface="Arial" pitchFamily="34" charset="0"/>
                <a:cs typeface="Arial" pitchFamily="34" charset="0"/>
              </a:rPr>
              <a:t>Macaque &amp; humanized mice protected with topical &amp; oral </a:t>
            </a:r>
            <a:r>
              <a:rPr lang="en-US" sz="2200" dirty="0" err="1" smtClean="0">
                <a:latin typeface="Arial" pitchFamily="34" charset="0"/>
                <a:cs typeface="Arial" pitchFamily="34" charset="0"/>
              </a:rPr>
              <a:t>raltegravir</a:t>
            </a:r>
            <a:r>
              <a:rPr lang="en-US" sz="22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1900" dirty="0" smtClean="0">
                <a:latin typeface="Arial" pitchFamily="34" charset="0"/>
                <a:cs typeface="Arial" pitchFamily="34" charset="0"/>
              </a:rPr>
              <a:t>(</a:t>
            </a:r>
            <a:r>
              <a:rPr lang="en-US" sz="1900" dirty="0" err="1" smtClean="0">
                <a:latin typeface="Arial" pitchFamily="34" charset="0"/>
                <a:cs typeface="Arial" pitchFamily="34" charset="0"/>
              </a:rPr>
              <a:t>Dobard</a:t>
            </a:r>
            <a:r>
              <a:rPr lang="en-US" sz="1900" dirty="0" smtClean="0">
                <a:latin typeface="Arial" pitchFamily="34" charset="0"/>
                <a:cs typeface="Arial" pitchFamily="34" charset="0"/>
              </a:rPr>
              <a:t> CROI 30; Neff PLoS One 2010)</a:t>
            </a:r>
            <a:endParaRPr lang="en-US" sz="2000" dirty="0" smtClean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60419" name="Group 17"/>
          <p:cNvGrpSpPr>
            <a:grpSpLocks/>
          </p:cNvGrpSpPr>
          <p:nvPr/>
        </p:nvGrpSpPr>
        <p:grpSpPr bwMode="auto">
          <a:xfrm>
            <a:off x="1143000" y="1295400"/>
            <a:ext cx="219075" cy="4648200"/>
            <a:chOff x="1143000" y="1295400"/>
            <a:chExt cx="219456" cy="4648200"/>
          </a:xfrm>
        </p:grpSpPr>
        <p:cxnSp>
          <p:nvCxnSpPr>
            <p:cNvPr id="6" name="Straight Connector 5"/>
            <p:cNvCxnSpPr/>
            <p:nvPr/>
          </p:nvCxnSpPr>
          <p:spPr>
            <a:xfrm rot="5400000">
              <a:off x="-1071371" y="3619500"/>
              <a:ext cx="46482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1143000" y="1600200"/>
              <a:ext cx="21945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1143000" y="2667000"/>
              <a:ext cx="21945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1143000" y="4038600"/>
              <a:ext cx="21945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1143000" y="5105400"/>
              <a:ext cx="21945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0420" name="TextBox 13"/>
          <p:cNvSpPr txBox="1">
            <a:spLocks noChangeArrowheads="1"/>
          </p:cNvSpPr>
          <p:nvPr/>
        </p:nvSpPr>
        <p:spPr bwMode="auto">
          <a:xfrm>
            <a:off x="0" y="1371600"/>
            <a:ext cx="12192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th-TH" sz="2000" b="1" dirty="0" smtClean="0">
                <a:cs typeface="Arial" charset="0"/>
              </a:rPr>
              <a:t>โครงการระยะ</a:t>
            </a:r>
            <a:r>
              <a:rPr lang="en-US" sz="2000" b="1" dirty="0" smtClean="0">
                <a:cs typeface="Arial" charset="0"/>
              </a:rPr>
              <a:t> </a:t>
            </a:r>
            <a:r>
              <a:rPr lang="en-US" sz="2000" b="1" dirty="0">
                <a:cs typeface="Arial" charset="0"/>
              </a:rPr>
              <a:t>IIB</a:t>
            </a:r>
          </a:p>
        </p:txBody>
      </p:sp>
      <p:sp>
        <p:nvSpPr>
          <p:cNvPr id="60421" name="TextBox 14"/>
          <p:cNvSpPr txBox="1">
            <a:spLocks noChangeArrowheads="1"/>
          </p:cNvSpPr>
          <p:nvPr/>
        </p:nvSpPr>
        <p:spPr bwMode="auto">
          <a:xfrm>
            <a:off x="-109537" y="2438400"/>
            <a:ext cx="1362075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th-TH" sz="2000" b="1" dirty="0" smtClean="0">
                <a:cs typeface="Arial" charset="0"/>
              </a:rPr>
              <a:t>โครงการ   ระยะ</a:t>
            </a:r>
            <a:r>
              <a:rPr lang="en-US" sz="2000" b="1" dirty="0" smtClean="0">
                <a:cs typeface="Arial" charset="0"/>
              </a:rPr>
              <a:t> </a:t>
            </a:r>
            <a:r>
              <a:rPr lang="en-US" sz="2000" b="1" dirty="0">
                <a:cs typeface="Arial" charset="0"/>
              </a:rPr>
              <a:t>II</a:t>
            </a:r>
          </a:p>
        </p:txBody>
      </p:sp>
      <p:sp>
        <p:nvSpPr>
          <p:cNvPr id="60422" name="TextBox 15"/>
          <p:cNvSpPr txBox="1">
            <a:spLocks noChangeArrowheads="1"/>
          </p:cNvSpPr>
          <p:nvPr/>
        </p:nvSpPr>
        <p:spPr bwMode="auto">
          <a:xfrm>
            <a:off x="152400" y="3733800"/>
            <a:ext cx="1100138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th-TH" sz="2000" b="1" dirty="0" smtClean="0">
                <a:cs typeface="Arial" charset="0"/>
              </a:rPr>
              <a:t>โครงการระยะ</a:t>
            </a:r>
            <a:r>
              <a:rPr lang="en-US" sz="2000" b="1" dirty="0" smtClean="0">
                <a:cs typeface="Arial" charset="0"/>
              </a:rPr>
              <a:t> </a:t>
            </a:r>
            <a:r>
              <a:rPr lang="en-US" sz="2000" b="1" dirty="0">
                <a:cs typeface="Arial" charset="0"/>
              </a:rPr>
              <a:t>I</a:t>
            </a:r>
          </a:p>
        </p:txBody>
      </p:sp>
      <p:sp>
        <p:nvSpPr>
          <p:cNvPr id="60423" name="TextBox 16"/>
          <p:cNvSpPr txBox="1">
            <a:spLocks noChangeArrowheads="1"/>
          </p:cNvSpPr>
          <p:nvPr/>
        </p:nvSpPr>
        <p:spPr bwMode="auto">
          <a:xfrm>
            <a:off x="0" y="4876800"/>
            <a:ext cx="12192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th-TH" sz="2000" b="1" dirty="0" smtClean="0">
                <a:cs typeface="Arial" charset="0"/>
              </a:rPr>
              <a:t>การวิจัยในสัตว์</a:t>
            </a:r>
            <a:endParaRPr lang="en-US" sz="2000" b="1" dirty="0">
              <a:cs typeface="Arial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715477176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2261" y="230049"/>
            <a:ext cx="8842051" cy="1143000"/>
          </a:xfrm>
        </p:spPr>
        <p:txBody>
          <a:bodyPr>
            <a:normAutofit/>
          </a:bodyPr>
          <a:lstStyle/>
          <a:p>
            <a:r>
              <a:rPr lang="th-TH" sz="3600" dirty="0" smtClean="0"/>
              <a:t>การแนะนำการใช้ PrEP ฉบับชั่วคราวของ </a:t>
            </a:r>
            <a:r>
              <a:rPr lang="en-US" sz="3600" dirty="0" smtClean="0"/>
              <a:t>CDC </a:t>
            </a:r>
            <a:r>
              <a:rPr lang="th-TH" sz="3600" dirty="0" smtClean="0"/>
              <a:t>สหรัฐอเมริกา</a:t>
            </a:r>
            <a:endParaRPr lang="en-US" sz="3600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="" xmlns:p14="http://schemas.microsoft.com/office/powerpoint/2010/main" val="1219417800"/>
              </p:ext>
            </p:extLst>
          </p:nvPr>
        </p:nvGraphicFramePr>
        <p:xfrm>
          <a:off x="-6981" y="1598122"/>
          <a:ext cx="9308850" cy="50893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9DB8CD7-531E-4E3E-8123-B267ECD58F1F}" type="slidenum">
              <a:rPr lang="en-US" smtClean="0"/>
              <a:pPr>
                <a:defRPr/>
              </a:pPr>
              <a:t>38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 rot="21194229">
            <a:off x="2935704" y="3513222"/>
            <a:ext cx="3031959" cy="1328023"/>
          </a:xfrm>
          <a:prstGeom prst="roundRect">
            <a:avLst/>
          </a:prstGeom>
          <a:solidFill>
            <a:srgbClr val="C00000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th-TH" sz="2400" b="1" dirty="0" smtClean="0">
                <a:solidFill>
                  <a:schemeClr val="bg2"/>
                </a:solidFill>
              </a:rPr>
              <a:t>ถุงยางอนามัย</a:t>
            </a:r>
            <a:endParaRPr lang="en-US" sz="2400" b="1" dirty="0" smtClean="0">
              <a:solidFill>
                <a:schemeClr val="bg2"/>
              </a:solidFill>
              <a:latin typeface="+mn-lt"/>
            </a:endParaRPr>
          </a:p>
          <a:p>
            <a:pPr>
              <a:buFont typeface="Wingdings" pitchFamily="2" charset="2"/>
              <a:buChar char="Ø"/>
            </a:pPr>
            <a:r>
              <a:rPr lang="th-TH" sz="2400" b="1" dirty="0" smtClean="0">
                <a:solidFill>
                  <a:schemeClr val="bg2"/>
                </a:solidFill>
              </a:rPr>
              <a:t>ตรวจการติดเชื้อ</a:t>
            </a:r>
            <a:endParaRPr lang="en-US" sz="2400" b="1" dirty="0" smtClean="0">
              <a:solidFill>
                <a:schemeClr val="bg2"/>
              </a:solidFill>
              <a:latin typeface="+mn-lt"/>
            </a:endParaRPr>
          </a:p>
          <a:p>
            <a:pPr>
              <a:buFont typeface="Wingdings" pitchFamily="2" charset="2"/>
              <a:buChar char="Ø"/>
            </a:pPr>
            <a:r>
              <a:rPr lang="th-TH" sz="2400" b="1" dirty="0" smtClean="0">
                <a:solidFill>
                  <a:schemeClr val="bg2"/>
                </a:solidFill>
              </a:rPr>
              <a:t>ลดคู่เพศสัมพันธ์</a:t>
            </a:r>
            <a:endParaRPr lang="en-US" sz="2400" b="1" dirty="0" smtClean="0">
              <a:solidFill>
                <a:schemeClr val="bg2"/>
              </a:solidFill>
              <a:latin typeface="+mn-lt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944040579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 smtClean="0"/>
              <a:t>Microbicide สำหรับทวารหนัก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horz">
            <a:normAutofit/>
          </a:bodyPr>
          <a:lstStyle/>
          <a:p>
            <a:r>
              <a:rPr lang="th-TH" sz="2800" dirty="0" smtClean="0"/>
              <a:t>โครงการระยะที่ II เพื่อดูความปลอดภัยและการยอมรับ</a:t>
            </a:r>
          </a:p>
          <a:p>
            <a:r>
              <a:rPr lang="th-TH" sz="2800" dirty="0" smtClean="0"/>
              <a:t>1% tenofovir gel ที่ลดปริมาณสารหล่อลื่น glycerin</a:t>
            </a:r>
          </a:p>
          <a:p>
            <a:r>
              <a:rPr lang="th-TH" sz="2800" dirty="0" smtClean="0"/>
              <a:t>สูตรการทดลอง 1. ยา truvada ทุกวัน 2. สารเคลือบสำหรับทวารหนักทุกวัน 3. สารเคลือบสำหรับทวารหนักเมื่อมีเพศสัมพันธ์ที่ถูกสอดใส่ </a:t>
            </a:r>
          </a:p>
          <a:p>
            <a:pPr lvl="1"/>
            <a:r>
              <a:rPr lang="th-TH" sz="2400" dirty="0" smtClean="0"/>
              <a:t>อาสาทุกคนใช้ทั้งสาม แต่การเรียงลำดับต่างกัน ใช้แต่ละครั้งติดต่อกัน 8 อาทิตย์ เว้นหนึ่งอาทิตย์ระหว่างการใช้ผลิตภัณฑ์อื่นหรือ</a:t>
            </a:r>
            <a:r>
              <a:rPr lang="en-US" sz="2400" dirty="0" smtClean="0"/>
              <a:t>(</a:t>
            </a:r>
            <a:r>
              <a:rPr lang="th-TH" sz="2400" dirty="0" smtClean="0"/>
              <a:t>ผลิตภัณฑ์เดิม</a:t>
            </a:r>
            <a:r>
              <a:rPr lang="en-US" sz="2400" dirty="0" smtClean="0"/>
              <a:t>)</a:t>
            </a:r>
            <a:r>
              <a:rPr lang="th-TH" sz="2400" dirty="0" smtClean="0"/>
              <a:t>แต่วิธีใช้ที่ต่างไป</a:t>
            </a:r>
          </a:p>
          <a:p>
            <a:r>
              <a:rPr lang="th-TH" sz="2800" dirty="0" smtClean="0"/>
              <a:t>ทดลองใน 4 ประเทศ ในกลุ่ม MSM ที่มีเพศทางทวารหนักที่เป็นผู้ถูกสอดใส่</a:t>
            </a:r>
            <a:endParaRPr lang="en-US" sz="2800" dirty="0"/>
          </a:p>
        </p:txBody>
      </p:sp>
    </p:spTree>
    <p:extLst>
      <p:ext uri="{BB962C8B-B14F-4D97-AF65-F5344CB8AC3E}">
        <p14:creationId xmlns="" xmlns:p14="http://schemas.microsoft.com/office/powerpoint/2010/main" val="3458841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1039989" y="238478"/>
            <a:ext cx="7148513" cy="120032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th-TH" sz="3600" dirty="0" smtClean="0">
                <a:latin typeface="+mj-lt"/>
                <a:ea typeface="ＭＳ Ｐゴシック" pitchFamily="64" charset="-128"/>
              </a:rPr>
              <a:t>ทำไมต้องเป็นสารฆ่าฯสำหรับทวาร?</a:t>
            </a:r>
          </a:p>
          <a:p>
            <a:pPr algn="ctr">
              <a:defRPr/>
            </a:pPr>
            <a:r>
              <a:rPr lang="th-TH" sz="3600" dirty="0" smtClean="0">
                <a:latin typeface="+mj-lt"/>
                <a:ea typeface="ＭＳ Ｐゴシック" pitchFamily="64" charset="-128"/>
              </a:rPr>
              <a:t>ความท้าทายที่เกี่ยวกับชีววิทยา</a:t>
            </a:r>
            <a:endParaRPr lang="en-US" sz="3600" dirty="0" smtClean="0">
              <a:latin typeface="+mj-lt"/>
              <a:ea typeface="ＭＳ Ｐゴシック" pitchFamily="64" charset="-128"/>
            </a:endParaRPr>
          </a:p>
        </p:txBody>
      </p:sp>
      <p:graphicFrame>
        <p:nvGraphicFramePr>
          <p:cNvPr id="6" name="Group 39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="" xmlns:p14="http://schemas.microsoft.com/office/powerpoint/2010/main" val="1654123367"/>
              </p:ext>
            </p:extLst>
          </p:nvPr>
        </p:nvGraphicFramePr>
        <p:xfrm>
          <a:off x="358775" y="1751013"/>
          <a:ext cx="8305800" cy="4648201"/>
        </p:xfrm>
        <a:graphic>
          <a:graphicData uri="http://schemas.openxmlformats.org/drawingml/2006/table">
            <a:tbl>
              <a:tblPr/>
              <a:tblGrid>
                <a:gridCol w="4058003"/>
                <a:gridCol w="4247797"/>
              </a:tblGrid>
              <a:tr h="6381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ＭＳ Ｐゴシック" pitchFamily="64" charset="-128"/>
                        </a:rPr>
                        <a:t>ช่องคลอด</a:t>
                      </a:r>
                      <a:endParaRPr kumimoji="0" lang="en-US" sz="2400" b="1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ＭＳ Ｐゴシック" pitchFamily="64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A9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ＭＳ Ｐゴシック" pitchFamily="64" charset="-128"/>
                        </a:rPr>
                        <a:t>ทวารหนัก</a:t>
                      </a:r>
                      <a:endParaRPr kumimoji="0" lang="en-US" sz="2400" b="1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ＭＳ Ｐゴシック" pitchFamily="6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5628"/>
                    </a:solidFill>
                  </a:tcPr>
                </a:tc>
              </a:tr>
              <a:tr h="957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64" charset="-128"/>
                        </a:rPr>
                        <a:t>ส่วนใหญ่เซลผนังด้านนอกหนาประมาณ</a:t>
                      </a:r>
                      <a:r>
                        <a:rPr kumimoji="0" lang="en-US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64" charset="-128"/>
                        </a:rPr>
                        <a:t> 40 </a:t>
                      </a:r>
                      <a:r>
                        <a:rPr kumimoji="0" lang="th-TH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64" charset="-128"/>
                        </a:rPr>
                        <a:t>ชั้น</a:t>
                      </a:r>
                      <a:endParaRPr kumimoji="0" lang="en-US" sz="2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64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A9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64" charset="-128"/>
                        </a:rPr>
                        <a:t>เซลผนังด้านนอกเปราะบาง มีเพียง</a:t>
                      </a:r>
                      <a:endParaRPr kumimoji="0" lang="en-US" sz="2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64" charset="-128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64" charset="-128"/>
                        </a:rPr>
                        <a:t>1 </a:t>
                      </a:r>
                      <a:r>
                        <a:rPr kumimoji="0" lang="th-TH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64" charset="-128"/>
                        </a:rPr>
                        <a:t>ชั้น</a:t>
                      </a:r>
                      <a:endParaRPr kumimoji="0" lang="en-US" sz="2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6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5628"/>
                    </a:solidFill>
                  </a:tcPr>
                </a:tc>
              </a:tr>
              <a:tr h="13589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64" charset="-128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64" charset="-128"/>
                        </a:rPr>
                        <a:t>มีเซล</a:t>
                      </a:r>
                      <a:r>
                        <a:rPr kumimoji="0" lang="en-US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64" charset="-128"/>
                        </a:rPr>
                        <a:t> CD4 </a:t>
                      </a:r>
                      <a:r>
                        <a:rPr kumimoji="0" lang="th-TH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64" charset="-128"/>
                        </a:rPr>
                        <a:t>น้อยกว่าในทวาร</a:t>
                      </a:r>
                      <a:endParaRPr kumimoji="0" lang="en-US" sz="2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64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A9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64" charset="-128"/>
                        </a:rPr>
                        <a:t>มีเซลที่อักเสบได้ง่ายอยู่ใต้ผิวหนัง</a:t>
                      </a:r>
                      <a:r>
                        <a:rPr kumimoji="0" lang="en-US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64" charset="-128"/>
                        </a:rPr>
                        <a:t> (CD4 receptors)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5628"/>
                    </a:solidFill>
                  </a:tcPr>
                </a:tc>
              </a:tr>
              <a:tr h="847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64" charset="-128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64" charset="-128"/>
                        </a:rPr>
                        <a:t>มีความเป็นกรด</a:t>
                      </a:r>
                      <a:r>
                        <a:rPr kumimoji="0" lang="en-US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64" charset="-128"/>
                        </a:rPr>
                        <a:t> pH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A9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64" charset="-128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64" charset="-128"/>
                        </a:rPr>
                        <a:t>มีความเป็นด่าง</a:t>
                      </a:r>
                      <a:r>
                        <a:rPr kumimoji="0" lang="en-US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64" charset="-128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5628"/>
                    </a:solidFill>
                  </a:tcPr>
                </a:tc>
              </a:tr>
              <a:tr h="846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64" charset="-128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64" charset="-128"/>
                        </a:rPr>
                        <a:t>เป็นถุงปิด</a:t>
                      </a:r>
                      <a:endParaRPr kumimoji="0" lang="en-US" sz="2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64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A9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64" charset="-128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64" charset="-128"/>
                        </a:rPr>
                        <a:t>เป็นท่อเปิด</a:t>
                      </a:r>
                      <a:endParaRPr kumimoji="0" lang="en-US" sz="2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6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5628"/>
                    </a:solidFill>
                  </a:tcPr>
                </a:tc>
              </a:tr>
            </a:tbl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9DB8CD7-531E-4E3E-8123-B267ECD58F1F}" type="slidenum">
              <a:rPr lang="en-US" smtClean="0"/>
              <a:pPr>
                <a:defRPr/>
              </a:pPr>
              <a:t>40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79158088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imeline of HIV prevention trials.tif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110" y="101618"/>
            <a:ext cx="9002889" cy="6483212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858098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7776"/>
            <a:ext cx="8229600" cy="798524"/>
          </a:xfrm>
        </p:spPr>
        <p:txBody>
          <a:bodyPr/>
          <a:lstStyle/>
          <a:p>
            <a:r>
              <a:rPr lang="th-TH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หากเรารู้ว่า</a:t>
            </a:r>
            <a:r>
              <a:rPr lang="en-US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…</a:t>
            </a:r>
            <a:endParaRPr lang="en-US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" name="Picture 3" descr="crystal ball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579579" y="1026300"/>
            <a:ext cx="4124681" cy="480707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066863"/>
            <a:ext cx="85141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dirty="0" smtClean="0"/>
              <a:t>อันนี้เป็นปุ่มกระโดดข้ามไปข้างหน้า เหมาะมากสำหรับการด่วนสรุป</a:t>
            </a:r>
            <a:endParaRPr lang="en-US" sz="2400" dirty="0"/>
          </a:p>
        </p:txBody>
      </p:sp>
    </p:spTree>
    <p:extLst>
      <p:ext uri="{BB962C8B-B14F-4D97-AF65-F5344CB8AC3E}">
        <p14:creationId xmlns="" xmlns:p14="http://schemas.microsoft.com/office/powerpoint/2010/main" val="1190769525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906" y="188258"/>
            <a:ext cx="82027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3600" b="1" dirty="0" smtClean="0">
                <a:solidFill>
                  <a:srgbClr val="000000"/>
                </a:solidFill>
                <a:latin typeface="Cordia New" pitchFamily="34" charset="-34"/>
                <a:cs typeface="Cordia New" pitchFamily="34" charset="-34"/>
              </a:rPr>
              <a:t>แนวโน้มการวิจัยในอนาคต Adaptive trial design</a:t>
            </a:r>
            <a:endParaRPr lang="en-US" sz="3600" b="1" dirty="0">
              <a:solidFill>
                <a:srgbClr val="000000"/>
              </a:solidFill>
              <a:latin typeface="Cordia New" pitchFamily="34" charset="-34"/>
              <a:cs typeface="Cordia New" pitchFamily="34" charset="-3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33718" y="1447800"/>
            <a:ext cx="16427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dirty="0" smtClean="0">
                <a:latin typeface="Cordia New" pitchFamily="34" charset="-34"/>
                <a:cs typeface="Cordia New" pitchFamily="34" charset="-34"/>
              </a:rPr>
              <a:t>วัคซีน (</a:t>
            </a:r>
            <a:r>
              <a:rPr lang="en-US" sz="2400" dirty="0" smtClean="0">
                <a:latin typeface="Cordia New" pitchFamily="34" charset="-34"/>
                <a:cs typeface="Cordia New" pitchFamily="34" charset="-34"/>
              </a:rPr>
              <a:t>Vaccine</a:t>
            </a:r>
            <a:r>
              <a:rPr lang="th-TH" sz="2400" dirty="0" smtClean="0">
                <a:latin typeface="Cordia New" pitchFamily="34" charset="-34"/>
                <a:cs typeface="Cordia New" pitchFamily="34" charset="-34"/>
              </a:rPr>
              <a:t>)</a:t>
            </a:r>
            <a:endParaRPr lang="en-US" sz="2400" dirty="0">
              <a:latin typeface="Cordia New" pitchFamily="34" charset="-34"/>
              <a:cs typeface="Cordia New" pitchFamily="34" charset="-3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946701"/>
            <a:ext cx="2286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dirty="0" smtClean="0">
                <a:latin typeface="Cordia New" pitchFamily="34" charset="-34"/>
                <a:cs typeface="Cordia New" pitchFamily="34" charset="-34"/>
              </a:rPr>
              <a:t>ยาฆ่าจุลินทรีย์ (</a:t>
            </a:r>
            <a:r>
              <a:rPr lang="en-US" sz="2400" dirty="0" err="1" smtClean="0">
                <a:latin typeface="Cordia New" pitchFamily="34" charset="-34"/>
                <a:cs typeface="Cordia New" pitchFamily="34" charset="-34"/>
              </a:rPr>
              <a:t>Microbicide</a:t>
            </a:r>
            <a:r>
              <a:rPr lang="th-TH" sz="2400" dirty="0" smtClean="0">
                <a:latin typeface="Cordia New" pitchFamily="34" charset="-34"/>
                <a:cs typeface="Cordia New" pitchFamily="34" charset="-34"/>
              </a:rPr>
              <a:t>)</a:t>
            </a:r>
            <a:endParaRPr lang="en-US" sz="2400" dirty="0">
              <a:latin typeface="Cordia New" pitchFamily="34" charset="-34"/>
              <a:cs typeface="Cordia New" pitchFamily="34" charset="-3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61683" y="2694297"/>
            <a:ext cx="2205317" cy="120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dirty="0" smtClean="0">
                <a:latin typeface="Cordia New" pitchFamily="34" charset="-34"/>
                <a:cs typeface="Cordia New" pitchFamily="34" charset="-34"/>
              </a:rPr>
              <a:t>วัคซีน (</a:t>
            </a:r>
            <a:r>
              <a:rPr lang="en-US" sz="2400" dirty="0" smtClean="0">
                <a:latin typeface="Cordia New" pitchFamily="34" charset="-34"/>
                <a:cs typeface="Cordia New" pitchFamily="34" charset="-34"/>
              </a:rPr>
              <a:t>Vaccine</a:t>
            </a:r>
            <a:r>
              <a:rPr lang="th-TH" sz="2400" dirty="0" smtClean="0">
                <a:latin typeface="Cordia New" pitchFamily="34" charset="-34"/>
                <a:cs typeface="Cordia New" pitchFamily="34" charset="-34"/>
              </a:rPr>
              <a:t>)</a:t>
            </a:r>
            <a:r>
              <a:rPr lang="en-US" sz="2400" dirty="0" smtClean="0">
                <a:latin typeface="Cordia New" pitchFamily="34" charset="-34"/>
                <a:cs typeface="Cordia New" pitchFamily="34" charset="-34"/>
              </a:rPr>
              <a:t> + </a:t>
            </a:r>
            <a:endParaRPr lang="th-TH" sz="2400" dirty="0" smtClean="0">
              <a:latin typeface="Cordia New" pitchFamily="34" charset="-34"/>
              <a:cs typeface="Cordia New" pitchFamily="34" charset="-34"/>
            </a:endParaRPr>
          </a:p>
          <a:p>
            <a:pPr algn="ctr"/>
            <a:r>
              <a:rPr lang="th-TH" sz="2400" dirty="0" smtClean="0">
                <a:latin typeface="Cordia New" pitchFamily="34" charset="-34"/>
                <a:cs typeface="Cordia New" pitchFamily="34" charset="-34"/>
              </a:rPr>
              <a:t>ยาฆ่าจุลินทรีย์ (</a:t>
            </a:r>
            <a:r>
              <a:rPr lang="en-US" sz="2400" dirty="0" err="1" smtClean="0">
                <a:latin typeface="Cordia New" pitchFamily="34" charset="-34"/>
                <a:cs typeface="Cordia New" pitchFamily="34" charset="-34"/>
              </a:rPr>
              <a:t>Microbicide</a:t>
            </a:r>
            <a:r>
              <a:rPr lang="th-TH" sz="2400" dirty="0" smtClean="0">
                <a:latin typeface="Cordia New" pitchFamily="34" charset="-34"/>
                <a:cs typeface="Cordia New" pitchFamily="34" charset="-34"/>
              </a:rPr>
              <a:t>)</a:t>
            </a:r>
            <a:endParaRPr lang="en-US" sz="2400" dirty="0">
              <a:latin typeface="Cordia New" pitchFamily="34" charset="-34"/>
              <a:cs typeface="Cordia New" pitchFamily="34" charset="-3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906" y="3849469"/>
            <a:ext cx="20080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dirty="0" smtClean="0">
                <a:latin typeface="Cordia New" pitchFamily="34" charset="-34"/>
                <a:cs typeface="Cordia New" pitchFamily="34" charset="-34"/>
              </a:rPr>
              <a:t>ยาหลอก (</a:t>
            </a:r>
            <a:r>
              <a:rPr lang="en-US" sz="2400" dirty="0" smtClean="0">
                <a:latin typeface="Cordia New" pitchFamily="34" charset="-34"/>
                <a:cs typeface="Cordia New" pitchFamily="34" charset="-34"/>
              </a:rPr>
              <a:t>Placebo</a:t>
            </a:r>
            <a:r>
              <a:rPr lang="th-TH" sz="2400" dirty="0" smtClean="0">
                <a:latin typeface="Cordia New" pitchFamily="34" charset="-34"/>
                <a:cs typeface="Cordia New" pitchFamily="34" charset="-34"/>
              </a:rPr>
              <a:t>)</a:t>
            </a:r>
            <a:endParaRPr lang="en-US" sz="2400" dirty="0">
              <a:latin typeface="Cordia New" pitchFamily="34" charset="-34"/>
              <a:cs typeface="Cordia New" pitchFamily="34" charset="-34"/>
            </a:endParaRP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2743200" y="1676400"/>
            <a:ext cx="12192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2743200" y="2360612"/>
            <a:ext cx="12192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2743200" y="3198812"/>
            <a:ext cx="12192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2743200" y="4037012"/>
            <a:ext cx="12192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ight Brace 11"/>
          <p:cNvSpPr/>
          <p:nvPr/>
        </p:nvSpPr>
        <p:spPr>
          <a:xfrm>
            <a:off x="4343400" y="1219200"/>
            <a:ext cx="609600" cy="304800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5562600" y="1573308"/>
            <a:ext cx="24384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800" dirty="0" smtClean="0">
                <a:latin typeface="Cordia New" pitchFamily="34" charset="-34"/>
                <a:cs typeface="Cordia New" pitchFamily="34" charset="-34"/>
              </a:rPr>
              <a:t>ทำการสุ่มตัวอย่างอาสาสมัครเข้ากลุ่มใดกลุ่มหนึ่ง และทำการติดตามดูประสิทธิผลในการป้องกัน </a:t>
            </a:r>
            <a:r>
              <a:rPr lang="en-US" sz="2800" dirty="0" smtClean="0">
                <a:latin typeface="Cordia New" pitchFamily="34" charset="-34"/>
                <a:cs typeface="Cordia New" pitchFamily="34" charset="-34"/>
              </a:rPr>
              <a:t>HIV</a:t>
            </a:r>
            <a:endParaRPr lang="en-US" sz="2800" dirty="0">
              <a:latin typeface="Cordia New" pitchFamily="34" charset="-34"/>
              <a:cs typeface="Cordia New" pitchFamily="34" charset="-3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1683" y="4600222"/>
            <a:ext cx="833269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b="1" u="sng" dirty="0" smtClean="0">
                <a:latin typeface="Cordia New" pitchFamily="34" charset="-34"/>
                <a:cs typeface="Cordia New" pitchFamily="34" charset="-34"/>
              </a:rPr>
              <a:t>ประโยชน์ คือ</a:t>
            </a:r>
            <a:r>
              <a:rPr lang="en-US" sz="2400" dirty="0" smtClean="0">
                <a:latin typeface="Cordia New" pitchFamily="34" charset="-34"/>
                <a:cs typeface="Cordia New" pitchFamily="34" charset="-34"/>
              </a:rPr>
              <a:t>:  </a:t>
            </a:r>
            <a:r>
              <a:rPr lang="th-TH" sz="2400" dirty="0" smtClean="0">
                <a:latin typeface="Cordia New" pitchFamily="34" charset="-34"/>
                <a:cs typeface="Cordia New" pitchFamily="34" charset="-34"/>
              </a:rPr>
              <a:t>อาจจะทำให้สามารถเพิ่มประสิทธิภาพการป้องกันโดยการรวมวิธีป้องกัน </a:t>
            </a:r>
            <a:r>
              <a:rPr lang="en-US" sz="2400" dirty="0" smtClean="0">
                <a:latin typeface="Cordia New" pitchFamily="34" charset="-34"/>
                <a:cs typeface="Cordia New" pitchFamily="34" charset="-34"/>
              </a:rPr>
              <a:t>2</a:t>
            </a:r>
            <a:r>
              <a:rPr lang="th-TH" sz="2400" dirty="0" smtClean="0">
                <a:latin typeface="Cordia New" pitchFamily="34" charset="-34"/>
                <a:cs typeface="Cordia New" pitchFamily="34" charset="-34"/>
              </a:rPr>
              <a:t> วิธีหรือมากกว่านั้นเข้าด้วยกัน สามารถพิสูจน์แนวคิด/สมมุติฐานหลายอย่างไปพร้อมกัน</a:t>
            </a:r>
            <a:endParaRPr lang="en-US" sz="2400" dirty="0" smtClean="0">
              <a:latin typeface="Cordia New" pitchFamily="34" charset="-34"/>
              <a:cs typeface="Cordia New" pitchFamily="34" charset="-34"/>
            </a:endParaRPr>
          </a:p>
          <a:p>
            <a:endParaRPr lang="en-US" sz="2400" dirty="0">
              <a:latin typeface="Cordia New" pitchFamily="34" charset="-34"/>
              <a:cs typeface="Cordia New" pitchFamily="34" charset="-34"/>
            </a:endParaRPr>
          </a:p>
          <a:p>
            <a:r>
              <a:rPr lang="th-TH" sz="2400" b="1" u="sng" dirty="0" smtClean="0">
                <a:latin typeface="Cordia New" pitchFamily="34" charset="-34"/>
                <a:cs typeface="Cordia New" pitchFamily="34" charset="-34"/>
              </a:rPr>
              <a:t>ข้อเสีย คือ</a:t>
            </a:r>
            <a:r>
              <a:rPr lang="en-US" sz="2400" dirty="0" smtClean="0">
                <a:latin typeface="Cordia New" pitchFamily="34" charset="-34"/>
                <a:cs typeface="Cordia New" pitchFamily="34" charset="-34"/>
              </a:rPr>
              <a:t>:  </a:t>
            </a:r>
            <a:r>
              <a:rPr lang="th-TH" sz="2400" dirty="0" smtClean="0">
                <a:latin typeface="Cordia New" pitchFamily="34" charset="-34"/>
                <a:cs typeface="Cordia New" pitchFamily="34" charset="-34"/>
              </a:rPr>
              <a:t>การใช้หลายกลุ่มเป็นการเพิ่มขนาดของการวิจัย ความซับซ้อนในการดำเนินการ ประเด็นเรื่องระเบียบวิธี และค่าใช้จ่าย การแยกแยะผลที่ได้ การเก็บตัวอย่างเพื่อตรวจผลเพิ่มมากขึ้น </a:t>
            </a:r>
            <a:endParaRPr lang="en-US" sz="2400" dirty="0">
              <a:latin typeface="Cordia New" pitchFamily="34" charset="-34"/>
              <a:cs typeface="Cordia New" pitchFamily="34" charset="-3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0995" y="914400"/>
            <a:ext cx="26818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2800" u="sng" dirty="0" smtClean="0">
                <a:latin typeface="Cordia New" pitchFamily="34" charset="-34"/>
                <a:cs typeface="Cordia New" pitchFamily="34" charset="-34"/>
              </a:rPr>
              <a:t>การวิจัยหลายกลุ่มทดลอง</a:t>
            </a:r>
            <a:endParaRPr lang="en-US" sz="2800" u="sng" dirty="0">
              <a:latin typeface="Cordia New" pitchFamily="34" charset="-34"/>
              <a:cs typeface="Cordia New" pitchFamily="34" charset="-34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017599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67140"/>
          </a:xfrm>
        </p:spPr>
        <p:txBody>
          <a:bodyPr/>
          <a:lstStyle/>
          <a:p>
            <a:r>
              <a:rPr lang="th-TH" dirty="0" smtClean="0"/>
              <a:t>ความท้าทาย</a:t>
            </a:r>
            <a:endParaRPr lang="en-US" dirty="0"/>
          </a:p>
        </p:txBody>
      </p:sp>
      <p:sp>
        <p:nvSpPr>
          <p:cNvPr id="4" name="Vertical Text Placeholder 3"/>
          <p:cNvSpPr>
            <a:spLocks noGrp="1"/>
          </p:cNvSpPr>
          <p:nvPr>
            <p:ph type="body" orient="vert" idx="1"/>
          </p:nvPr>
        </p:nvSpPr>
        <p:spPr>
          <a:xfrm>
            <a:off x="160286" y="1340556"/>
            <a:ext cx="8754074" cy="5305777"/>
          </a:xfrm>
        </p:spPr>
        <p:txBody>
          <a:bodyPr vert="horz">
            <a:normAutofit/>
          </a:bodyPr>
          <a:lstStyle/>
          <a:p>
            <a:r>
              <a:rPr lang="th-TH" sz="2800" dirty="0" smtClean="0"/>
              <a:t>จะสื่อสารเกี่ยวกับ partial efficacy อย่างไร?</a:t>
            </a:r>
          </a:p>
          <a:p>
            <a:r>
              <a:rPr lang="th-TH" sz="2800" dirty="0"/>
              <a:t>ระดับของ</a:t>
            </a:r>
            <a:r>
              <a:rPr lang="th-TH" sz="2800" dirty="0" smtClean="0"/>
              <a:t>สัมฤทธิ์ผล/ประสิทธิผล</a:t>
            </a:r>
            <a:r>
              <a:rPr lang="th-TH" sz="2800" dirty="0"/>
              <a:t>แค่ไหนจึงจะเหมาะสมสำหรับการนำมาใช้จริง และยุทธศาสตร์ในการใช้ </a:t>
            </a:r>
            <a:endParaRPr lang="th-TH" sz="2800" dirty="0" smtClean="0"/>
          </a:p>
          <a:p>
            <a:r>
              <a:rPr lang="th-TH" sz="2800" dirty="0" smtClean="0"/>
              <a:t>การเตรียมตัวเกี่ยวกับการใช้ PrEP </a:t>
            </a:r>
            <a:r>
              <a:rPr lang="en-US" sz="2800" dirty="0" smtClean="0"/>
              <a:t>(</a:t>
            </a:r>
            <a:r>
              <a:rPr lang="th-TH" sz="2800" dirty="0" smtClean="0"/>
              <a:t>ระบบรองรับ ทรัพยากร การเตรียมคน การติดตามประเมินผลสำเร็จ การเฝ้าระวังผลไม่พึงประสงค์ ทุน/ความคุ้มค่า ค่าใช้จ่ายต่อหน่วย</a:t>
            </a:r>
            <a:r>
              <a:rPr lang="en-US" sz="2800" dirty="0" smtClean="0"/>
              <a:t>)</a:t>
            </a:r>
            <a:endParaRPr lang="th-TH" sz="2800" dirty="0" smtClean="0"/>
          </a:p>
          <a:p>
            <a:pPr lvl="1"/>
            <a:r>
              <a:rPr lang="th-TH" sz="2400" dirty="0" smtClean="0"/>
              <a:t>จะติดตามและตรวจหาเชื้อในผู้ใช้ PrEP เพื่อป้องกันการดื้อยาอย่างไร?</a:t>
            </a:r>
          </a:p>
          <a:p>
            <a:pPr lvl="1"/>
            <a:r>
              <a:rPr lang="th-TH" sz="2400" dirty="0" smtClean="0"/>
              <a:t>ขนาดยาที่เหมาะสมกับผู้ใช้ที่มีขนาดร่างกายต่างกัน?</a:t>
            </a:r>
          </a:p>
          <a:p>
            <a:r>
              <a:rPr lang="th-TH" dirty="0" smtClean="0"/>
              <a:t>ความเป็นธรรมในการใช้ยาเพื่อการรักษามาใช้ในการป้องกัน?</a:t>
            </a:r>
            <a:endParaRPr lang="th-TH" sz="2400" dirty="0" smtClean="0"/>
          </a:p>
        </p:txBody>
      </p:sp>
    </p:spTree>
    <p:extLst>
      <p:ext uri="{BB962C8B-B14F-4D97-AF65-F5344CB8AC3E}">
        <p14:creationId xmlns="" xmlns:p14="http://schemas.microsoft.com/office/powerpoint/2010/main" val="2411712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67140"/>
          </a:xfrm>
        </p:spPr>
        <p:txBody>
          <a:bodyPr/>
          <a:lstStyle/>
          <a:p>
            <a:r>
              <a:rPr lang="th-TH" dirty="0" smtClean="0"/>
              <a:t>ความท้าทาย</a:t>
            </a:r>
            <a:endParaRPr lang="en-US" dirty="0"/>
          </a:p>
        </p:txBody>
      </p:sp>
      <p:sp>
        <p:nvSpPr>
          <p:cNvPr id="4" name="Vertical Text Placeholder 3"/>
          <p:cNvSpPr>
            <a:spLocks noGrp="1"/>
          </p:cNvSpPr>
          <p:nvPr>
            <p:ph type="body" orient="vert" idx="1"/>
          </p:nvPr>
        </p:nvSpPr>
        <p:spPr>
          <a:xfrm>
            <a:off x="160286" y="1340557"/>
            <a:ext cx="8754074" cy="2949222"/>
          </a:xfrm>
        </p:spPr>
        <p:txBody>
          <a:bodyPr vert="horz">
            <a:normAutofit/>
          </a:bodyPr>
          <a:lstStyle/>
          <a:p>
            <a:r>
              <a:rPr lang="th-TH" sz="2800" dirty="0" smtClean="0"/>
              <a:t>การส่งเสริม และประเมินวินัยในการกินยา/ใช้ผลิตภัณฑ์</a:t>
            </a:r>
          </a:p>
          <a:p>
            <a:r>
              <a:rPr lang="th-TH" sz="2800" dirty="0" smtClean="0"/>
              <a:t>การหายาใช้เอง off</a:t>
            </a:r>
            <a:r>
              <a:rPr lang="en-US" sz="2800" dirty="0" smtClean="0"/>
              <a:t>-</a:t>
            </a:r>
            <a:r>
              <a:rPr lang="th-TH" sz="2800" dirty="0" smtClean="0"/>
              <a:t>label prescriptions</a:t>
            </a:r>
          </a:p>
          <a:p>
            <a:r>
              <a:rPr lang="th-TH" sz="2800" dirty="0" smtClean="0"/>
              <a:t>ปรับใช้กับสถานการณ์ที่เป็นจริง</a:t>
            </a:r>
          </a:p>
          <a:p>
            <a:r>
              <a:rPr lang="th-TH" sz="2800" dirty="0" smtClean="0"/>
              <a:t>หาก PrEP ถูกนำมาใช้จริง ต้องมีการเสนอให้ในชุดการป้องกันของการวิจัยอื่น จะส่งผลต่อการออกแบบโครงการวิจัย การวิเคราะห์ผล อย่างไร?</a:t>
            </a:r>
          </a:p>
          <a:p>
            <a:endParaRPr lang="th-TH" sz="2400" dirty="0" smtClean="0"/>
          </a:p>
        </p:txBody>
      </p:sp>
      <p:sp>
        <p:nvSpPr>
          <p:cNvPr id="2" name="TextBox 1"/>
          <p:cNvSpPr txBox="1"/>
          <p:nvPr/>
        </p:nvSpPr>
        <p:spPr>
          <a:xfrm>
            <a:off x="635000" y="4687613"/>
            <a:ext cx="7323667" cy="954107"/>
          </a:xfrm>
          <a:prstGeom prst="rect">
            <a:avLst/>
          </a:prstGeom>
          <a:solidFill>
            <a:srgbClr val="558ED5"/>
          </a:solidFill>
          <a:ln w="28575" cmpd="sng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th-TH" sz="2800" dirty="0" smtClean="0"/>
              <a:t>PrEP ต้องใช้เป็นส่วนหนึ่งของชุดการป้องกันแบบบูรณาการ ซึ่งใช้ร่วมกับวิธีการป้องกันวิธีอื่น </a:t>
            </a:r>
            <a:endParaRPr lang="en-US" sz="2800" dirty="0"/>
          </a:p>
        </p:txBody>
      </p:sp>
    </p:spTree>
    <p:extLst>
      <p:ext uri="{BB962C8B-B14F-4D97-AF65-F5344CB8AC3E}">
        <p14:creationId xmlns="" xmlns:p14="http://schemas.microsoft.com/office/powerpoint/2010/main" val="3792414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4953003"/>
            <a:ext cx="8229600" cy="1749775"/>
          </a:xfrm>
          <a:solidFill>
            <a:schemeClr val="accent6"/>
          </a:solidFill>
          <a:ln w="38100" cmpd="sng"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th-TH" sz="3200" dirty="0" smtClean="0"/>
              <a:t>ความท้าทาย</a:t>
            </a:r>
            <a:br>
              <a:rPr lang="th-TH" sz="3200" dirty="0" smtClean="0"/>
            </a:br>
            <a:r>
              <a:rPr lang="th-TH" sz="3200" dirty="0" smtClean="0"/>
              <a:t>จะกำหนดนโยบายด้านการป้องกัน/ดูแลที่ได้ผลแต่มีผลกระทบด้านลบทางการเมืองได้อย่างไร?</a:t>
            </a:r>
            <a:endParaRPr lang="en-US" sz="3200" dirty="0"/>
          </a:p>
        </p:txBody>
      </p:sp>
      <p:pic>
        <p:nvPicPr>
          <p:cNvPr id="5" name="Picture 4" descr="tumblr_lslvfcp09W1qe7dh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0632" y="197554"/>
            <a:ext cx="6551590" cy="4586113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787303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Vaccine1.tif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61" y="0"/>
            <a:ext cx="9075339" cy="68580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383303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Vaccine2.tif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5922" cy="68580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624125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Extra slides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sz="6000" b="1" dirty="0" smtClean="0">
                <a:latin typeface="Browallia New" pitchFamily="34" charset="-34"/>
                <a:cs typeface="Browallia New" pitchFamily="34" charset="-34"/>
              </a:rPr>
              <a:t>RV 328</a:t>
            </a:r>
            <a:endParaRPr lang="en-US" sz="6000" b="1" dirty="0">
              <a:latin typeface="Browallia New" pitchFamily="34" charset="-34"/>
              <a:cs typeface="Browallia New" pitchFamily="34" charset="-34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42451" y="1378975"/>
            <a:ext cx="8420100" cy="4978400"/>
          </a:xfrm>
        </p:spPr>
        <p:txBody>
          <a:bodyPr>
            <a:normAutofit lnSpcReduction="10000"/>
          </a:bodyPr>
          <a:lstStyle/>
          <a:p>
            <a:r>
              <a:rPr lang="th-TH" dirty="0" smtClean="0">
                <a:latin typeface="Browallia New" pitchFamily="34" charset="-34"/>
                <a:cs typeface="Browallia New" pitchFamily="34" charset="-34"/>
              </a:rPr>
              <a:t>จำนวนอาสาสมัคร</a:t>
            </a:r>
            <a:r>
              <a:rPr lang="en-US" dirty="0" smtClean="0">
                <a:latin typeface="Browallia New" pitchFamily="34" charset="-34"/>
                <a:cs typeface="Browallia New" pitchFamily="34" charset="-34"/>
              </a:rPr>
              <a:t>:</a:t>
            </a:r>
            <a:r>
              <a:rPr lang="th-TH" dirty="0" smtClean="0">
                <a:latin typeface="Browallia New" pitchFamily="34" charset="-34"/>
                <a:cs typeface="Browallia New" pitchFamily="34" charset="-34"/>
              </a:rPr>
              <a:t> </a:t>
            </a:r>
            <a:r>
              <a:rPr lang="en-US" dirty="0" smtClean="0">
                <a:latin typeface="Browallia New" pitchFamily="34" charset="-34"/>
                <a:cs typeface="Browallia New" pitchFamily="34" charset="-34"/>
              </a:rPr>
              <a:t>40 (</a:t>
            </a:r>
            <a:r>
              <a:rPr lang="th-TH" dirty="0" smtClean="0">
                <a:latin typeface="Browallia New" pitchFamily="34" charset="-34"/>
                <a:cs typeface="Browallia New" pitchFamily="34" charset="-34"/>
              </a:rPr>
              <a:t>ความเสี่ยงต่อการติดเชื้อระดับชุนชน</a:t>
            </a:r>
            <a:r>
              <a:rPr lang="en-US" dirty="0" smtClean="0">
                <a:latin typeface="Browallia New" pitchFamily="34" charset="-34"/>
                <a:cs typeface="Browallia New" pitchFamily="34" charset="-34"/>
              </a:rPr>
              <a:t>)</a:t>
            </a:r>
          </a:p>
          <a:p>
            <a:r>
              <a:rPr lang="th-TH" dirty="0" smtClean="0">
                <a:latin typeface="Browallia New" pitchFamily="34" charset="-34"/>
                <a:cs typeface="Browallia New" pitchFamily="34" charset="-34"/>
              </a:rPr>
              <a:t>ผลิตภัณฑ์</a:t>
            </a:r>
            <a:r>
              <a:rPr lang="en-US" dirty="0" smtClean="0">
                <a:latin typeface="Browallia New" pitchFamily="34" charset="-34"/>
                <a:cs typeface="Browallia New" pitchFamily="34" charset="-34"/>
              </a:rPr>
              <a:t>: </a:t>
            </a:r>
            <a:r>
              <a:rPr lang="th-TH" dirty="0" smtClean="0">
                <a:latin typeface="Browallia New" pitchFamily="34" charset="-34"/>
                <a:cs typeface="Browallia New" pitchFamily="34" charset="-34"/>
              </a:rPr>
              <a:t>วัคซีนทดลองเอดส์แวกซ์ </a:t>
            </a:r>
            <a:r>
              <a:rPr lang="en-US" dirty="0" smtClean="0">
                <a:latin typeface="Browallia New" pitchFamily="34" charset="-34"/>
                <a:cs typeface="Browallia New" pitchFamily="34" charset="-34"/>
              </a:rPr>
              <a:t>(AIDSVAX)</a:t>
            </a:r>
          </a:p>
          <a:p>
            <a:r>
              <a:rPr lang="th-TH" dirty="0" smtClean="0">
                <a:latin typeface="Browallia New" pitchFamily="34" charset="-34"/>
                <a:cs typeface="Browallia New" pitchFamily="34" charset="-34"/>
              </a:rPr>
              <a:t>วัตถุประสงค์</a:t>
            </a:r>
            <a:r>
              <a:rPr lang="en-US" dirty="0" smtClean="0">
                <a:latin typeface="Browallia New" pitchFamily="34" charset="-34"/>
                <a:cs typeface="Browallia New" pitchFamily="34" charset="-34"/>
              </a:rPr>
              <a:t>: </a:t>
            </a:r>
          </a:p>
          <a:p>
            <a:pPr lvl="1"/>
            <a:r>
              <a:rPr lang="th-TH" sz="3200" dirty="0" smtClean="0">
                <a:latin typeface="Browallia New" pitchFamily="34" charset="-34"/>
                <a:cs typeface="Browallia New" pitchFamily="34" charset="-34"/>
              </a:rPr>
              <a:t>เพื่อประเมินการตอบสนองของภูมิคุ้มกันของร่างกาย ทั้งในเม็ดเลือดและน้ำเลือด ในเยื่อเมือกและทั้งระบบ</a:t>
            </a:r>
            <a:endParaRPr lang="en-US" sz="3200" dirty="0" smtClean="0">
              <a:latin typeface="Browallia New" pitchFamily="34" charset="-34"/>
              <a:cs typeface="Browallia New" pitchFamily="34" charset="-34"/>
            </a:endParaRPr>
          </a:p>
          <a:p>
            <a:pPr lvl="1"/>
            <a:r>
              <a:rPr lang="th-TH" sz="3200" dirty="0" smtClean="0">
                <a:latin typeface="Browallia New" pitchFamily="34" charset="-34"/>
                <a:cs typeface="Browallia New" pitchFamily="34" charset="-34"/>
              </a:rPr>
              <a:t>เพื่อเปรียบเทียบกับประสิทธิผลของวัคซีน “ปูพื้น-กระตุ้น” อัลแวกและเอดส์แวกซ์</a:t>
            </a:r>
            <a:endParaRPr lang="en-US" sz="3200" dirty="0" smtClean="0">
              <a:latin typeface="Browallia New" pitchFamily="34" charset="-34"/>
              <a:cs typeface="Browallia New" pitchFamily="34" charset="-34"/>
            </a:endParaRPr>
          </a:p>
          <a:p>
            <a:r>
              <a:rPr lang="th-TH" dirty="0" smtClean="0">
                <a:latin typeface="Browallia New" pitchFamily="34" charset="-34"/>
                <a:cs typeface="Browallia New" pitchFamily="34" charset="-34"/>
              </a:rPr>
              <a:t>สถานที่วิจัย</a:t>
            </a:r>
            <a:r>
              <a:rPr lang="en-US" dirty="0" smtClean="0">
                <a:latin typeface="Browallia New" pitchFamily="34" charset="-34"/>
                <a:cs typeface="Browallia New" pitchFamily="34" charset="-34"/>
              </a:rPr>
              <a:t>: </a:t>
            </a:r>
            <a:r>
              <a:rPr lang="th-TH" dirty="0" smtClean="0">
                <a:latin typeface="Browallia New" pitchFamily="34" charset="-34"/>
                <a:cs typeface="Browallia New" pitchFamily="34" charset="-34"/>
              </a:rPr>
              <a:t>ศูนย์วิจัยโรคเอดส์ สภากาชาดไทย</a:t>
            </a:r>
            <a:endParaRPr lang="en-US" dirty="0" smtClean="0">
              <a:latin typeface="Browallia New" pitchFamily="34" charset="-34"/>
              <a:cs typeface="Browallia New" pitchFamily="34" charset="-34"/>
            </a:endParaRPr>
          </a:p>
          <a:p>
            <a:r>
              <a:rPr lang="th-TH" dirty="0" smtClean="0">
                <a:latin typeface="Browallia New" pitchFamily="34" charset="-34"/>
                <a:cs typeface="Browallia New" pitchFamily="34" charset="-34"/>
              </a:rPr>
              <a:t>กำหนดการเริ่มโดยประมาณ</a:t>
            </a:r>
            <a:r>
              <a:rPr lang="en-US" dirty="0" smtClean="0">
                <a:latin typeface="Browallia New" pitchFamily="34" charset="-34"/>
                <a:cs typeface="Browallia New" pitchFamily="34" charset="-34"/>
              </a:rPr>
              <a:t>: </a:t>
            </a:r>
            <a:r>
              <a:rPr lang="th-TH" dirty="0" smtClean="0">
                <a:latin typeface="Browallia New" pitchFamily="34" charset="-34"/>
                <a:cs typeface="Browallia New" pitchFamily="34" charset="-34"/>
              </a:rPr>
              <a:t>กันยายน </a:t>
            </a:r>
            <a:r>
              <a:rPr lang="en-US" dirty="0" smtClean="0">
                <a:latin typeface="Browallia New" pitchFamily="34" charset="-34"/>
                <a:cs typeface="Browallia New" pitchFamily="34" charset="-34"/>
              </a:rPr>
              <a:t>2554</a:t>
            </a:r>
            <a:endParaRPr lang="en-US" dirty="0">
              <a:latin typeface="Browallia New" pitchFamily="34" charset="-34"/>
              <a:cs typeface="Browallia New" pitchFamily="34" charset="-3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7704" y="0"/>
            <a:ext cx="8229600" cy="1143000"/>
          </a:xfrm>
        </p:spPr>
        <p:txBody>
          <a:bodyPr/>
          <a:lstStyle/>
          <a:p>
            <a:r>
              <a:rPr lang="en-US" sz="6000" b="1" dirty="0" smtClean="0">
                <a:latin typeface="Browallia New" pitchFamily="34" charset="-34"/>
                <a:cs typeface="Browallia New" pitchFamily="34" charset="-34"/>
              </a:rPr>
              <a:t>RV 305</a:t>
            </a:r>
            <a:endParaRPr lang="en-US" sz="6000" b="1" dirty="0">
              <a:latin typeface="Browallia New" pitchFamily="34" charset="-34"/>
              <a:cs typeface="Browallia New" pitchFamily="34" charset="-3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55700"/>
            <a:ext cx="8229600" cy="5435600"/>
          </a:xfrm>
        </p:spPr>
        <p:txBody>
          <a:bodyPr/>
          <a:lstStyle/>
          <a:p>
            <a:r>
              <a:rPr lang="th-TH" dirty="0" smtClean="0">
                <a:latin typeface="Browallia New" pitchFamily="34" charset="-34"/>
                <a:cs typeface="Browallia New" pitchFamily="34" charset="-34"/>
              </a:rPr>
              <a:t>จำนวนอาสาสมัคร</a:t>
            </a:r>
            <a:r>
              <a:rPr lang="en-US" dirty="0" smtClean="0">
                <a:latin typeface="Browallia New" pitchFamily="34" charset="-34"/>
                <a:cs typeface="Browallia New" pitchFamily="34" charset="-34"/>
              </a:rPr>
              <a:t>: 162 (</a:t>
            </a:r>
            <a:r>
              <a:rPr lang="th-TH" dirty="0" smtClean="0">
                <a:latin typeface="Browallia New" pitchFamily="34" charset="-34"/>
                <a:cs typeface="Browallia New" pitchFamily="34" charset="-34"/>
              </a:rPr>
              <a:t>ความเสี่ยงต่อการติดเชื้อระดับชุมชน</a:t>
            </a:r>
            <a:r>
              <a:rPr lang="en-US" dirty="0" smtClean="0">
                <a:latin typeface="Browallia New" pitchFamily="34" charset="-34"/>
                <a:cs typeface="Browallia New" pitchFamily="34" charset="-34"/>
              </a:rPr>
              <a:t>)</a:t>
            </a:r>
          </a:p>
          <a:p>
            <a:pPr lvl="1"/>
            <a:r>
              <a:rPr lang="th-TH" dirty="0" smtClean="0">
                <a:latin typeface="Browallia New" pitchFamily="34" charset="-34"/>
                <a:cs typeface="Browallia New" pitchFamily="34" charset="-34"/>
              </a:rPr>
              <a:t>อาสาสมัคร </a:t>
            </a:r>
            <a:r>
              <a:rPr lang="en-US" dirty="0" smtClean="0">
                <a:latin typeface="Browallia New" pitchFamily="34" charset="-34"/>
                <a:cs typeface="Browallia New" pitchFamily="34" charset="-34"/>
              </a:rPr>
              <a:t>RV 144</a:t>
            </a:r>
            <a:r>
              <a:rPr lang="th-TH" dirty="0" smtClean="0">
                <a:latin typeface="Browallia New" pitchFamily="34" charset="-34"/>
                <a:cs typeface="Browallia New" pitchFamily="34" charset="-34"/>
              </a:rPr>
              <a:t> ที่ได้รับวัคซีนครบ</a:t>
            </a:r>
            <a:endParaRPr lang="en-US" dirty="0" smtClean="0">
              <a:latin typeface="Browallia New" pitchFamily="34" charset="-34"/>
              <a:cs typeface="Browallia New" pitchFamily="34" charset="-34"/>
            </a:endParaRPr>
          </a:p>
          <a:p>
            <a:r>
              <a:rPr lang="th-TH" dirty="0" smtClean="0">
                <a:latin typeface="Browallia New" pitchFamily="34" charset="-34"/>
                <a:cs typeface="Browallia New" pitchFamily="34" charset="-34"/>
              </a:rPr>
              <a:t>ผลิตภัณฑ์</a:t>
            </a:r>
            <a:r>
              <a:rPr lang="en-US" dirty="0" smtClean="0">
                <a:latin typeface="Browallia New" pitchFamily="34" charset="-34"/>
                <a:cs typeface="Browallia New" pitchFamily="34" charset="-34"/>
              </a:rPr>
              <a:t>: </a:t>
            </a:r>
            <a:r>
              <a:rPr lang="th-TH" dirty="0" smtClean="0">
                <a:latin typeface="Browallia New" pitchFamily="34" charset="-34"/>
                <a:cs typeface="Browallia New" pitchFamily="34" charset="-34"/>
              </a:rPr>
              <a:t>วัคซีนทดลองอัลแวกและเอดส์แวกซ์ </a:t>
            </a:r>
            <a:r>
              <a:rPr lang="en-US" sz="2800" dirty="0" smtClean="0">
                <a:latin typeface="Browallia New" pitchFamily="34" charset="-34"/>
                <a:cs typeface="Browallia New" pitchFamily="34" charset="-34"/>
              </a:rPr>
              <a:t>(ALVAC + AIDSVAX)</a:t>
            </a:r>
          </a:p>
          <a:p>
            <a:r>
              <a:rPr lang="th-TH" dirty="0" smtClean="0">
                <a:latin typeface="Browallia New" pitchFamily="34" charset="-34"/>
                <a:cs typeface="Browallia New" pitchFamily="34" charset="-34"/>
              </a:rPr>
              <a:t>วัตถุประสงค์ </a:t>
            </a:r>
            <a:r>
              <a:rPr lang="en-US" dirty="0" smtClean="0">
                <a:latin typeface="Browallia New" pitchFamily="34" charset="-34"/>
                <a:cs typeface="Browallia New" pitchFamily="34" charset="-34"/>
              </a:rPr>
              <a:t>: </a:t>
            </a:r>
          </a:p>
          <a:p>
            <a:pPr lvl="1"/>
            <a:r>
              <a:rPr lang="th-TH" dirty="0" smtClean="0">
                <a:latin typeface="Browallia New" pitchFamily="34" charset="-34"/>
                <a:cs typeface="Browallia New" pitchFamily="34" charset="-34"/>
              </a:rPr>
              <a:t>เพื่อประเมินการตอบสนองของภูมิคุ้มกันของร่างกาย ทั้งในเม็ดเลือดและน้ำเลือด ในเยื่อเมือกและทั้งระบบ</a:t>
            </a:r>
            <a:r>
              <a:rPr lang="en-US" dirty="0" smtClean="0">
                <a:latin typeface="Browallia New" pitchFamily="34" charset="-34"/>
                <a:cs typeface="Browallia New" pitchFamily="34" charset="-34"/>
              </a:rPr>
              <a:t> </a:t>
            </a:r>
            <a:r>
              <a:rPr lang="th-TH" dirty="0" smtClean="0">
                <a:latin typeface="Browallia New" pitchFamily="34" charset="-34"/>
                <a:cs typeface="Browallia New" pitchFamily="34" charset="-34"/>
              </a:rPr>
              <a:t>ต่อ</a:t>
            </a:r>
            <a:r>
              <a:rPr lang="th-TH" u="sng" dirty="0" smtClean="0">
                <a:latin typeface="Browallia New" pitchFamily="34" charset="-34"/>
                <a:cs typeface="Browallia New" pitchFamily="34" charset="-34"/>
              </a:rPr>
              <a:t>การกระตุ้นซ้ำโดยทิ้งช่วงยาว</a:t>
            </a:r>
            <a:r>
              <a:rPr lang="en-US" dirty="0" smtClean="0">
                <a:latin typeface="Browallia New" pitchFamily="34" charset="-34"/>
                <a:cs typeface="Browallia New" pitchFamily="34" charset="-34"/>
              </a:rPr>
              <a:t> (late boosting)</a:t>
            </a:r>
            <a:r>
              <a:rPr lang="th-TH" u="sng" dirty="0" smtClean="0">
                <a:latin typeface="Browallia New" pitchFamily="34" charset="-34"/>
                <a:cs typeface="Browallia New" pitchFamily="34" charset="-34"/>
              </a:rPr>
              <a:t> </a:t>
            </a:r>
            <a:endParaRPr lang="en-US" u="sng" dirty="0" smtClean="0">
              <a:latin typeface="Browallia New" pitchFamily="34" charset="-34"/>
              <a:cs typeface="Browallia New" pitchFamily="34" charset="-34"/>
            </a:endParaRPr>
          </a:p>
          <a:p>
            <a:r>
              <a:rPr lang="th-TH" dirty="0" smtClean="0">
                <a:latin typeface="Browallia New" pitchFamily="34" charset="-34"/>
                <a:cs typeface="Browallia New" pitchFamily="34" charset="-34"/>
              </a:rPr>
              <a:t>สถานที่วิจัย</a:t>
            </a:r>
            <a:r>
              <a:rPr lang="en-US" dirty="0" smtClean="0">
                <a:latin typeface="Browallia New" pitchFamily="34" charset="-34"/>
                <a:cs typeface="Browallia New" pitchFamily="34" charset="-34"/>
              </a:rPr>
              <a:t>: </a:t>
            </a:r>
            <a:r>
              <a:rPr lang="th-TH" dirty="0" smtClean="0">
                <a:latin typeface="Browallia New" pitchFamily="34" charset="-34"/>
                <a:cs typeface="Browallia New" pitchFamily="34" charset="-34"/>
              </a:rPr>
              <a:t>สถานบริการของกระทรวงสาธารณสุข</a:t>
            </a:r>
            <a:r>
              <a:rPr lang="en-US" dirty="0" smtClean="0">
                <a:latin typeface="Browallia New" pitchFamily="34" charset="-34"/>
                <a:cs typeface="Browallia New" pitchFamily="34" charset="-34"/>
              </a:rPr>
              <a:t>: </a:t>
            </a:r>
            <a:r>
              <a:rPr lang="th-TH" dirty="0" smtClean="0">
                <a:latin typeface="Browallia New" pitchFamily="34" charset="-34"/>
                <a:cs typeface="Browallia New" pitchFamily="34" charset="-34"/>
              </a:rPr>
              <a:t>รพ.บางละมุง</a:t>
            </a:r>
            <a:r>
              <a:rPr lang="en-US" dirty="0" smtClean="0">
                <a:latin typeface="Browallia New" pitchFamily="34" charset="-34"/>
                <a:cs typeface="Browallia New" pitchFamily="34" charset="-34"/>
              </a:rPr>
              <a:t> </a:t>
            </a:r>
            <a:r>
              <a:rPr lang="th-TH" dirty="0" smtClean="0">
                <a:latin typeface="Browallia New" pitchFamily="34" charset="-34"/>
                <a:cs typeface="Browallia New" pitchFamily="34" charset="-34"/>
              </a:rPr>
              <a:t>และ รพ.พานทอง</a:t>
            </a:r>
            <a:endParaRPr lang="en-US" dirty="0" smtClean="0">
              <a:latin typeface="Browallia New" pitchFamily="34" charset="-34"/>
              <a:cs typeface="Browallia New" pitchFamily="34" charset="-34"/>
            </a:endParaRPr>
          </a:p>
          <a:p>
            <a:r>
              <a:rPr lang="th-TH" dirty="0" smtClean="0">
                <a:latin typeface="Browallia New" pitchFamily="34" charset="-34"/>
                <a:cs typeface="Browallia New" pitchFamily="34" charset="-34"/>
              </a:rPr>
              <a:t>กำหนดเริ่มโดยประมาณ</a:t>
            </a:r>
            <a:r>
              <a:rPr lang="en-US" dirty="0" smtClean="0">
                <a:latin typeface="Browallia New" pitchFamily="34" charset="-34"/>
                <a:cs typeface="Browallia New" pitchFamily="34" charset="-34"/>
              </a:rPr>
              <a:t>: </a:t>
            </a:r>
            <a:r>
              <a:rPr lang="th-TH" dirty="0" smtClean="0">
                <a:latin typeface="Browallia New" pitchFamily="34" charset="-34"/>
                <a:cs typeface="Browallia New" pitchFamily="34" charset="-34"/>
              </a:rPr>
              <a:t>ตุลาคม </a:t>
            </a:r>
            <a:r>
              <a:rPr lang="en-US" dirty="0" smtClean="0">
                <a:latin typeface="Browallia New" pitchFamily="34" charset="-34"/>
                <a:cs typeface="Browallia New" pitchFamily="34" charset="-34"/>
              </a:rPr>
              <a:t>2554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RV 306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5900"/>
            <a:ext cx="8229600" cy="5372100"/>
          </a:xfrm>
        </p:spPr>
        <p:txBody>
          <a:bodyPr/>
          <a:lstStyle/>
          <a:p>
            <a:r>
              <a:rPr lang="th-TH" sz="2800" dirty="0" smtClean="0">
                <a:latin typeface="Browallia New" pitchFamily="34" charset="-34"/>
                <a:cs typeface="Browallia New" pitchFamily="34" charset="-34"/>
              </a:rPr>
              <a:t>จำนวนอาสาสมัคร</a:t>
            </a:r>
            <a:r>
              <a:rPr lang="en-US" sz="2800" dirty="0" smtClean="0">
                <a:latin typeface="Browallia New" pitchFamily="34" charset="-34"/>
                <a:cs typeface="Browallia New" pitchFamily="34" charset="-34"/>
              </a:rPr>
              <a:t>: 460 (</a:t>
            </a:r>
            <a:r>
              <a:rPr lang="th-TH" sz="2800" dirty="0" smtClean="0">
                <a:latin typeface="Browallia New" pitchFamily="34" charset="-34"/>
                <a:cs typeface="Browallia New" pitchFamily="34" charset="-34"/>
              </a:rPr>
              <a:t>ความเสี่ยงต่อการติดเชื้อระดับชุมชน</a:t>
            </a:r>
            <a:r>
              <a:rPr lang="en-US" sz="2800" dirty="0" smtClean="0">
                <a:latin typeface="Browallia New" pitchFamily="34" charset="-34"/>
                <a:cs typeface="Browallia New" pitchFamily="34" charset="-34"/>
              </a:rPr>
              <a:t>)</a:t>
            </a:r>
          </a:p>
          <a:p>
            <a:r>
              <a:rPr lang="th-TH" sz="2800" dirty="0" smtClean="0">
                <a:latin typeface="Browallia New" pitchFamily="34" charset="-34"/>
                <a:cs typeface="Browallia New" pitchFamily="34" charset="-34"/>
              </a:rPr>
              <a:t>ผลิตภัณฑ์</a:t>
            </a:r>
            <a:r>
              <a:rPr lang="en-US" sz="2800" dirty="0" smtClean="0">
                <a:latin typeface="Browallia New" pitchFamily="34" charset="-34"/>
                <a:cs typeface="Browallia New" pitchFamily="34" charset="-34"/>
              </a:rPr>
              <a:t>: </a:t>
            </a:r>
            <a:r>
              <a:rPr lang="th-TH" sz="2800" dirty="0" smtClean="0">
                <a:latin typeface="Browallia New" pitchFamily="34" charset="-34"/>
                <a:cs typeface="Browallia New" pitchFamily="34" charset="-34"/>
              </a:rPr>
              <a:t>วัคซีนทดลองเอดส์แวกซ์และอัลแวก </a:t>
            </a:r>
            <a:r>
              <a:rPr lang="en-US" sz="2800" dirty="0" smtClean="0">
                <a:latin typeface="Browallia New" pitchFamily="34" charset="-34"/>
                <a:cs typeface="Browallia New" pitchFamily="34" charset="-34"/>
              </a:rPr>
              <a:t>(AIDSVAX + ALVAC)</a:t>
            </a:r>
          </a:p>
          <a:p>
            <a:pPr marL="342900" lvl="1" indent="-342900">
              <a:buFontTx/>
              <a:buChar char="•"/>
            </a:pPr>
            <a:r>
              <a:rPr lang="th-TH" dirty="0" smtClean="0">
                <a:latin typeface="Browallia New" pitchFamily="34" charset="-34"/>
                <a:cs typeface="Browallia New" pitchFamily="34" charset="-34"/>
              </a:rPr>
              <a:t>วัตถุประสงค์</a:t>
            </a:r>
            <a:r>
              <a:rPr lang="en-US" dirty="0" smtClean="0">
                <a:latin typeface="Browallia New" pitchFamily="34" charset="-34"/>
                <a:cs typeface="Browallia New" pitchFamily="34" charset="-34"/>
              </a:rPr>
              <a:t>: </a:t>
            </a:r>
          </a:p>
          <a:p>
            <a:pPr lvl="1"/>
            <a:r>
              <a:rPr lang="th-TH" sz="2400" dirty="0" smtClean="0">
                <a:latin typeface="Browallia New" pitchFamily="34" charset="-34"/>
                <a:cs typeface="Browallia New" pitchFamily="34" charset="-34"/>
              </a:rPr>
              <a:t>เพื่อประเมินการตอบสนองของภูมิคุ้มกันของร่างกาย ทั้งในเม็ดเลือดและน้ำเลือด ในเยื่อเมือกและทั้งระบบ</a:t>
            </a:r>
            <a:r>
              <a:rPr lang="en-US" sz="2400" dirty="0" smtClean="0">
                <a:latin typeface="Browallia New" pitchFamily="34" charset="-34"/>
                <a:cs typeface="Browallia New" pitchFamily="34" charset="-34"/>
              </a:rPr>
              <a:t> </a:t>
            </a:r>
            <a:r>
              <a:rPr lang="th-TH" sz="2400" dirty="0" smtClean="0">
                <a:latin typeface="Browallia New" pitchFamily="34" charset="-34"/>
                <a:cs typeface="Browallia New" pitchFamily="34" charset="-34"/>
              </a:rPr>
              <a:t>ต่อ</a:t>
            </a:r>
            <a:r>
              <a:rPr lang="th-TH" sz="2400" u="sng" dirty="0" smtClean="0">
                <a:latin typeface="Browallia New" pitchFamily="34" charset="-34"/>
                <a:cs typeface="Browallia New" pitchFamily="34" charset="-34"/>
              </a:rPr>
              <a:t>การกระตุ้นซ้ำโดยทิ้งช่วงสั้น </a:t>
            </a:r>
            <a:r>
              <a:rPr lang="en-US" sz="2400" dirty="0" smtClean="0">
                <a:latin typeface="Browallia New" pitchFamily="34" charset="-34"/>
                <a:cs typeface="Browallia New" pitchFamily="34" charset="-34"/>
              </a:rPr>
              <a:t>(early boosting)</a:t>
            </a:r>
            <a:endParaRPr lang="th-TH" sz="2400" dirty="0" smtClean="0">
              <a:latin typeface="Browallia New" pitchFamily="34" charset="-34"/>
              <a:cs typeface="Browallia New" pitchFamily="34" charset="-34"/>
            </a:endParaRPr>
          </a:p>
          <a:p>
            <a:pPr lvl="1"/>
            <a:r>
              <a:rPr lang="th-TH" sz="2400" dirty="0" smtClean="0">
                <a:latin typeface="Browallia New" pitchFamily="34" charset="-34"/>
                <a:cs typeface="Browallia New" pitchFamily="34" charset="-34"/>
              </a:rPr>
              <a:t>เพื่อประเมินผลิตภัณฑ์</a:t>
            </a:r>
          </a:p>
          <a:p>
            <a:pPr marL="342900" lvl="1" indent="-342900"/>
            <a:r>
              <a:rPr lang="th-TH" dirty="0" smtClean="0">
                <a:latin typeface="Browallia New" pitchFamily="34" charset="-34"/>
                <a:cs typeface="Browallia New" pitchFamily="34" charset="-34"/>
              </a:rPr>
              <a:t>สถานที่วิจัย</a:t>
            </a:r>
            <a:r>
              <a:rPr lang="en-US" dirty="0" smtClean="0">
                <a:latin typeface="Browallia New" pitchFamily="34" charset="-34"/>
                <a:cs typeface="Browallia New" pitchFamily="34" charset="-34"/>
              </a:rPr>
              <a:t>: </a:t>
            </a:r>
            <a:r>
              <a:rPr lang="th-TH" dirty="0" smtClean="0">
                <a:latin typeface="Browallia New" pitchFamily="34" charset="-34"/>
                <a:cs typeface="Browallia New" pitchFamily="34" charset="-34"/>
              </a:rPr>
              <a:t>คณะเวชศาสตร์เขตร้อน ม.มหิดล, สถาบันวิจัยสุขภาพ ม.เชียงใหม่</a:t>
            </a:r>
            <a:r>
              <a:rPr lang="en-US" dirty="0" smtClean="0">
                <a:latin typeface="Browallia New" pitchFamily="34" charset="-34"/>
                <a:cs typeface="Browallia New" pitchFamily="34" charset="-34"/>
              </a:rPr>
              <a:t>,</a:t>
            </a:r>
            <a:r>
              <a:rPr lang="th-TH" dirty="0" smtClean="0">
                <a:latin typeface="Browallia New" pitchFamily="34" charset="-34"/>
                <a:cs typeface="Browallia New" pitchFamily="34" charset="-34"/>
              </a:rPr>
              <a:t> สถาบันวิจัยวิทยาศาสตร์การแพทย์ทหาร ฝ่ายไทย, และศูนย์วิจัยโรคเอดส์ สภากาชาดไทย</a:t>
            </a:r>
            <a:endParaRPr lang="en-US" dirty="0" smtClean="0">
              <a:latin typeface="Browallia New" pitchFamily="34" charset="-34"/>
              <a:cs typeface="Browallia New" pitchFamily="34" charset="-34"/>
            </a:endParaRPr>
          </a:p>
          <a:p>
            <a:pPr marL="342900" lvl="1" indent="-342900">
              <a:buFont typeface="Arial" pitchFamily="34" charset="0"/>
              <a:buChar char="•"/>
            </a:pPr>
            <a:r>
              <a:rPr lang="th-TH" dirty="0" smtClean="0">
                <a:latin typeface="Browallia New" pitchFamily="34" charset="-34"/>
                <a:cs typeface="Browallia New" pitchFamily="34" charset="-34"/>
              </a:rPr>
              <a:t>กำหนดเริ่มโดยประมาณ</a:t>
            </a:r>
            <a:r>
              <a:rPr lang="en-US" dirty="0" smtClean="0">
                <a:latin typeface="Browallia New" pitchFamily="34" charset="-34"/>
                <a:cs typeface="Browallia New" pitchFamily="34" charset="-34"/>
              </a:rPr>
              <a:t>: </a:t>
            </a:r>
            <a:r>
              <a:rPr lang="th-TH" dirty="0" smtClean="0">
                <a:latin typeface="Browallia New" pitchFamily="34" charset="-34"/>
                <a:cs typeface="Browallia New" pitchFamily="34" charset="-34"/>
              </a:rPr>
              <a:t>ธันวาคม </a:t>
            </a:r>
            <a:r>
              <a:rPr lang="en-US" dirty="0" smtClean="0">
                <a:latin typeface="Browallia New" pitchFamily="34" charset="-34"/>
                <a:cs typeface="Browallia New" pitchFamily="34" charset="-34"/>
              </a:rPr>
              <a:t>2554</a:t>
            </a:r>
          </a:p>
          <a:p>
            <a:pPr marL="342900" lvl="1" indent="-342900">
              <a:buFontTx/>
              <a:buChar char="•"/>
            </a:pPr>
            <a:endParaRPr lang="en-US" sz="2400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3206</TotalTime>
  <Words>3859</Words>
  <Application>Microsoft Macintosh PowerPoint</Application>
  <PresentationFormat>นำเสนอทางหน้าจอ (4:3)</PresentationFormat>
  <Paragraphs>533</Paragraphs>
  <Slides>52</Slides>
  <Notes>24</Notes>
  <HiddenSlides>0</HiddenSlides>
  <MMClips>0</MMClips>
  <ScaleCrop>false</ScaleCrop>
  <HeadingPairs>
    <vt:vector size="4" baseType="variant">
      <vt:variant>
        <vt:lpstr>ชุดรูปแบบ</vt:lpstr>
      </vt:variant>
      <vt:variant>
        <vt:i4>1</vt:i4>
      </vt:variant>
      <vt:variant>
        <vt:lpstr>ชื่อเรื่องภาพนิ่ง</vt:lpstr>
      </vt:variant>
      <vt:variant>
        <vt:i4>52</vt:i4>
      </vt:variant>
    </vt:vector>
  </HeadingPairs>
  <TitlesOfParts>
    <vt:vector size="53" baseType="lpstr">
      <vt:lpstr>Office Theme</vt:lpstr>
      <vt:lpstr>ความคืบหน้าของการวิจัยทางชีวเวชศาสตร์เพื่อป้องกันการติดเชื้อเอชไอวี</vt:lpstr>
      <vt:lpstr>ภาพนิ่ง 2</vt:lpstr>
      <vt:lpstr>ภาพนิ่ง 3</vt:lpstr>
      <vt:lpstr>ชุดการป้องกันที่ครบถ้วน บูรณาการ </vt:lpstr>
      <vt:lpstr>การป้องกันเอชไอวี</vt:lpstr>
      <vt:lpstr>ภาพนิ่ง 6</vt:lpstr>
      <vt:lpstr>ผลสำรวจการใช้ถุงยางอนามัยชายในกลุ่มหญิงจากทั่วโลก</vt:lpstr>
      <vt:lpstr>บทเรียนจากการรักษา</vt:lpstr>
      <vt:lpstr>ภาพนิ่ง 9</vt:lpstr>
      <vt:lpstr>ภาพนิ่ง 10</vt:lpstr>
      <vt:lpstr>ภาพนิ่ง 11</vt:lpstr>
      <vt:lpstr>ภาพนิ่ง 12</vt:lpstr>
      <vt:lpstr>ผลจากการทดลองวัคซีนป้องกัน</vt:lpstr>
      <vt:lpstr>สรุปประเด็นโครงการ RV144</vt:lpstr>
      <vt:lpstr>โครงการวิจัยวัคซีนในไทย</vt:lpstr>
      <vt:lpstr>สูตรวัคซีนที่ได้รับการพัฒนา</vt:lpstr>
      <vt:lpstr>เป้าหมาย -  วัคซีนเอดส์ที่มีประสิทธิภาพใช้ได้ทั่วโลก</vt:lpstr>
      <vt:lpstr>แผนการพัฒนาผลิตภัณฑ์</vt:lpstr>
      <vt:lpstr>PEP กับ PrEP</vt:lpstr>
      <vt:lpstr>สิ่งที่เรารู้เกี่ยวกับ PEP</vt:lpstr>
      <vt:lpstr>ภาพนิ่ง 21</vt:lpstr>
      <vt:lpstr>การวิจัยเกี่ยวกับ PrEP ทำในกลุ่มประชากรหลากหลาย</vt:lpstr>
      <vt:lpstr>สิ่งที่เรารู้จากการวิจัย PrEP</vt:lpstr>
      <vt:lpstr>FEM PrEP</vt:lpstr>
      <vt:lpstr>ภาพนิ่ง 25</vt:lpstr>
      <vt:lpstr>การขริบหนังหุ้มปลายอวัยวะเพศชายด้วยวิธีการแพทย์</vt:lpstr>
      <vt:lpstr>สารฆ่าจุลินทรีย์​(microbicide) คืออะไร?</vt:lpstr>
      <vt:lpstr>สิ่งที่เรารู้จากการทดลองสารฆ่าฯ</vt:lpstr>
      <vt:lpstr>การรักษาเพื่อการป้องกัน (Tx as Px)</vt:lpstr>
      <vt:lpstr>การรักษาเพื่อการป้องกัน</vt:lpstr>
      <vt:lpstr>ยุทธศาสตร์ใหม่ของการป้องกันทางชีวเวชศาสตร์</vt:lpstr>
      <vt:lpstr>สัมฤทธิ์ผล และ ประสิทธิผล</vt:lpstr>
      <vt:lpstr>ความหมายในตัวเลข</vt:lpstr>
      <vt:lpstr>สิ่งที่เราพอรู้จาก​การทดลอง PrEP ในผู้หญิง </vt:lpstr>
      <vt:lpstr>โครงการ FACTS-001</vt:lpstr>
      <vt:lpstr>ความเป็นไปได้ในการใช้ PrEP  จาก J. McConnell</vt:lpstr>
      <vt:lpstr>การวิจัย PrEP ที่อยู่ในแผน</vt:lpstr>
      <vt:lpstr>การแนะนำการใช้ PrEP ฉบับชั่วคราวของ CDC สหรัฐอเมริกา</vt:lpstr>
      <vt:lpstr>Microbicide สำหรับทวารหนัก</vt:lpstr>
      <vt:lpstr>ภาพนิ่ง 40</vt:lpstr>
      <vt:lpstr>ภาพนิ่ง 41</vt:lpstr>
      <vt:lpstr>หากเรารู้ว่า…</vt:lpstr>
      <vt:lpstr>ภาพนิ่ง 43</vt:lpstr>
      <vt:lpstr>ความท้าทาย</vt:lpstr>
      <vt:lpstr>ความท้าทาย</vt:lpstr>
      <vt:lpstr>ความท้าทาย จะกำหนดนโยบายด้านการป้องกัน/ดูแลที่ได้ผลแต่มีผลกระทบด้านลบทางการเมืองได้อย่างไร?</vt:lpstr>
      <vt:lpstr>ภาพนิ่ง 47</vt:lpstr>
      <vt:lpstr>ภาพนิ่ง 48</vt:lpstr>
      <vt:lpstr>Extra slides</vt:lpstr>
      <vt:lpstr>RV 328</vt:lpstr>
      <vt:lpstr>RV 305</vt:lpstr>
      <vt:lpstr>RV 306</vt:lpstr>
    </vt:vector>
  </TitlesOfParts>
  <Company>Raks Thai Foundation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Udom Likhitwonnawut</dc:creator>
  <cp:lastModifiedBy>ADMIN</cp:lastModifiedBy>
  <cp:revision>118</cp:revision>
  <dcterms:created xsi:type="dcterms:W3CDTF">2012-01-08T04:40:10Z</dcterms:created>
  <dcterms:modified xsi:type="dcterms:W3CDTF">2012-01-26T07:55:47Z</dcterms:modified>
</cp:coreProperties>
</file>