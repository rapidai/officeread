
<file path=[Content_Types].xml><?xml version="1.0" encoding="utf-8"?>
<Types xmlns="http://schemas.openxmlformats.org/package/2006/content-types">
  <Override PartName="/ppt/notesSlides/notesSlide10.xml" ContentType="application/vnd.openxmlformats-officedocument.presentationml.notesSlide+xml"/>
  <Override PartName="/ppt/slides/slide5.xml" ContentType="application/vnd.openxmlformats-officedocument.presentationml.slide+xml"/>
  <Override PartName="/ppt/embeddings/Microsoft_Equation12.bin" ContentType="application/vnd.openxmlformats-officedocument.oleObject"/>
  <Override PartName="/ppt/slideLayouts/slideLayout5.xml" ContentType="application/vnd.openxmlformats-officedocument.presentationml.slideLayout+xml"/>
  <Override PartName="/ppt/slides/slide20.xml" ContentType="application/vnd.openxmlformats-officedocument.presentationml.slide+xml"/>
  <Override PartName="/ppt/tags/tag4.xml" ContentType="application/vnd.openxmlformats-officedocument.presentationml.tags+xml"/>
  <Override PartName="/ppt/slides/slide15.xml" ContentType="application/vnd.openxmlformats-officedocument.presentationml.slide+xml"/>
  <Override PartName="/ppt/embeddings/oleObject7.bin" ContentType="application/vnd.openxmlformats-officedocument.oleObject"/>
  <Override PartName="/ppt/embeddings/oleObject14.bin" ContentType="application/vnd.openxmlformats-officedocument.oleObject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embeddings/Microsoft_Equation5.bin" ContentType="application/vnd.openxmlformats-officedocument.oleObject"/>
  <Override PartName="/ppt/embeddings/oleObject2.bin" ContentType="application/vnd.openxmlformats-officedocument.oleObject"/>
  <Override PartName="/ppt/embeddings/oleObject12.bin" ContentType="application/vnd.openxmlformats-officedocument.oleObject"/>
  <Override PartName="/ppt/notesSlides/notesSlide14.xml" ContentType="application/vnd.openxmlformats-officedocument.presentationml.notesSlide+xml"/>
  <Override PartName="/ppt/slides/slide27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Override PartName="/ppt/slides/slide7.xml" ContentType="application/vnd.openxmlformats-officedocument.presentationml.slide+xml"/>
  <Override PartName="/ppt/embeddings/Microsoft_Equation14.bin" ContentType="application/vnd.openxmlformats-officedocument.oleObject"/>
  <Override PartName="/ppt/slideLayouts/slideLayout7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embeddings/oleObject9.bin" ContentType="application/vnd.openxmlformats-officedocument.oleObject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Default Extension="jpeg" ContentType="image/jpeg"/>
  <Override PartName="/ppt/slides/slide12.xml" ContentType="application/vnd.openxmlformats-officedocument.presentationml.slide+xml"/>
  <Override PartName="/ppt/embeddings/Microsoft_Equation7.bin" ContentType="application/vnd.openxmlformats-officedocument.oleObject"/>
  <Override PartName="/ppt/embeddings/oleObject4.bin" ContentType="application/vnd.openxmlformats-officedocument.oleObject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embeddings/Microsoft_Equation2.bin" ContentType="application/vnd.openxmlformats-officedocument.oleObject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24.xml" ContentType="application/vnd.openxmlformats-officedocument.presentationml.slide+xml"/>
  <Override PartName="/ppt/embeddings/Microsoft_Equation16.bin" ContentType="application/vnd.openxmlformats-officedocument.oleObject"/>
  <Override PartName="/ppt/slideLayouts/slideLayout11.xml" ContentType="application/vnd.openxmlformats-officedocument.presentationml.slideLayout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1.bin" ContentType="application/vnd.openxmlformats-officedocument.oleObject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embeddings/Microsoft_Equation9.bin" ContentType="application/vnd.openxmlformats-officedocument.oleObject"/>
  <Override PartName="/ppt/embeddings/oleObject6.bin" ContentType="application/vnd.openxmlformats-officedocument.oleObject"/>
  <Override PartName="/ppt/embeddings/oleObject13.bin" ContentType="application/vnd.openxmlformats-officedocument.oleObject"/>
  <Override PartName="/docProps/core.xml" ContentType="application/vnd.openxmlformats-package.core-properties+xml"/>
  <Override PartName="/ppt/notesSlides/notesSlide3.xml" ContentType="application/vnd.openxmlformats-officedocument.presentationml.notesSlide+xml"/>
  <Override PartName="/ppt/embeddings/Microsoft_Equation4.bin" ContentType="application/vnd.openxmlformats-officedocument.oleObject"/>
  <Override PartName="/ppt/embeddings/oleObject1.bin" ContentType="application/vnd.openxmlformats-officedocument.oleObject"/>
  <Override PartName="/ppt/embeddings/oleObject11.bin" ContentType="application/vnd.openxmlformats-officedocument.oleObject"/>
  <Override PartName="/ppt/notesSlides/notesSlide13.xml" ContentType="application/vnd.openxmlformats-officedocument.presentationml.notes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embeddings/Microsoft_Equation13.bin" ContentType="application/vnd.openxmlformats-officedocument.oleObject"/>
  <Override PartName="/ppt/slideLayouts/slideLayout6.xml" ContentType="application/vnd.openxmlformats-officedocument.presentationml.slideLayout+xml"/>
  <Override PartName="/ppt/slides/slide21.xml" ContentType="application/vnd.openxmlformats-officedocument.presentationml.slide+xml"/>
  <Override PartName="/ppt/tags/tag5.xml" ContentType="application/vnd.openxmlformats-officedocument.presentationml.tags+xml"/>
  <Override PartName="/ppt/slides/slide16.xml" ContentType="application/vnd.openxmlformats-officedocument.presentationml.slide+xml"/>
  <Override PartName="/ppt/embeddings/oleObject8.bin" ContentType="application/vnd.openxmlformats-officedocument.oleObject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Default Extension="bin" ContentType="application/vnd.openxmlformats-officedocument.presentationml.printerSettings"/>
  <Override PartName="/ppt/slides/slide11.xml" ContentType="application/vnd.openxmlformats-officedocument.presentationml.slide+xml"/>
  <Override PartName="/ppt/embeddings/Microsoft_Equation6.bin" ContentType="application/vnd.openxmlformats-officedocument.oleObject"/>
  <Override PartName="/ppt/embeddings/oleObject3.bin" ContentType="application/vnd.openxmlformats-officedocument.oleObject"/>
  <Override PartName="/ppt/notesSlides/notesSlide15.xml" ContentType="application/vnd.openxmlformats-officedocument.presentationml.notes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embeddings/Microsoft_Equation1.bin" ContentType="application/vnd.openxmlformats-officedocument.oleObject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embeddings/Microsoft_Equation15.bin" ContentType="application/vnd.openxmlformats-officedocument.oleObject"/>
  <Override PartName="/ppt/slideLayouts/slideLayout8.xml" ContentType="application/vnd.openxmlformats-officedocument.presentationml.slideLayout+xml"/>
  <Override PartName="/ppt/slides/slide23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embeddings/Microsoft_Equation10.bin" ContentType="application/vnd.openxmlformats-officedocument.oleObject"/>
  <Override PartName="/ppt/slideLayouts/slideLayout3.xml" ContentType="application/vnd.openxmlformats-officedocument.presentationml.slideLayout+xml"/>
  <Default Extension="pict" ContentType="image/pict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slides/slide13.xml" ContentType="application/vnd.openxmlformats-officedocument.presentationml.slide+xml"/>
  <Override PartName="/ppt/embeddings/Microsoft_Equation8.bin" ContentType="application/vnd.openxmlformats-officedocument.oleObject"/>
  <Override PartName="/ppt/embeddings/oleObject5.bin" ContentType="application/vnd.openxmlformats-officedocument.oleObject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Default Extension="vml" ContentType="application/vnd.openxmlformats-officedocument.vmlDrawing"/>
  <Override PartName="/ppt/embeddings/Microsoft_Equation3.bin" ContentType="application/vnd.openxmlformats-officedocument.oleObject"/>
  <Override PartName="/ppt/embeddings/oleObject10.bin" ContentType="application/vnd.openxmlformats-officedocument.oleObject"/>
  <Override PartName="/ppt/notesSlides/notesSlide12.xml" ContentType="application/vnd.openxmlformats-officedocument.presentationml.notesSlide+xml"/>
  <Override PartName="/ppt/embeddings/Microsoft_Equation17.bin" ContentType="application/vnd.openxmlformats-officedocument.oleObject"/>
  <Override PartName="/ppt/slides/slide25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919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mAuthor id="0" name="Bear" initials="C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Comments="0">
  <p:normalViewPr showOutlineIcons="0">
    <p:restoredLeft sz="12463" autoAdjust="0"/>
    <p:restoredTop sz="88754" autoAdjust="0"/>
  </p:normalViewPr>
  <p:slideViewPr>
    <p:cSldViewPr snapToObjects="1">
      <p:cViewPr>
        <p:scale>
          <a:sx n="100" d="100"/>
          <a:sy n="100" d="100"/>
        </p:scale>
        <p:origin x="-60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ict"/><Relationship Id="rId2" Type="http://schemas.openxmlformats.org/officeDocument/2006/relationships/image" Target="../media/image6.pict"/><Relationship Id="rId3" Type="http://schemas.openxmlformats.org/officeDocument/2006/relationships/image" Target="../media/image7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Relationship Id="rId2" Type="http://schemas.openxmlformats.org/officeDocument/2006/relationships/image" Target="../media/image8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Relationship Id="rId2" Type="http://schemas.openxmlformats.org/officeDocument/2006/relationships/image" Target="../media/image10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ict"/><Relationship Id="rId2" Type="http://schemas.openxmlformats.org/officeDocument/2006/relationships/image" Target="../media/image13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ict"/><Relationship Id="rId2" Type="http://schemas.openxmlformats.org/officeDocument/2006/relationships/image" Target="../media/image16.pict"/><Relationship Id="rId3" Type="http://schemas.openxmlformats.org/officeDocument/2006/relationships/image" Target="../media/image17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ict"/><Relationship Id="rId2" Type="http://schemas.openxmlformats.org/officeDocument/2006/relationships/image" Target="../media/image19.pict"/><Relationship Id="rId3" Type="http://schemas.openxmlformats.org/officeDocument/2006/relationships/image" Target="../media/image20.pict"/><Relationship Id="rId4" Type="http://schemas.openxmlformats.org/officeDocument/2006/relationships/image" Target="../media/image21.pict"/><Relationship Id="rId5" Type="http://schemas.openxmlformats.org/officeDocument/2006/relationships/image" Target="../media/image22.pict"/><Relationship Id="rId6" Type="http://schemas.openxmlformats.org/officeDocument/2006/relationships/image" Target="../media/image23.pict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ict"/><Relationship Id="rId2" Type="http://schemas.openxmlformats.org/officeDocument/2006/relationships/image" Target="../media/image25.pict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ict"/><Relationship Id="rId2" Type="http://schemas.openxmlformats.org/officeDocument/2006/relationships/image" Target="../media/image27.pict"/><Relationship Id="rId3" Type="http://schemas.openxmlformats.org/officeDocument/2006/relationships/image" Target="../media/image28.pict"/><Relationship Id="rId4" Type="http://schemas.openxmlformats.org/officeDocument/2006/relationships/image" Target="../media/image29.pict"/><Relationship Id="rId5" Type="http://schemas.openxmlformats.org/officeDocument/2006/relationships/image" Target="../media/image30.pict"/><Relationship Id="rId6" Type="http://schemas.openxmlformats.org/officeDocument/2006/relationships/image" Target="../media/image31.pict"/><Relationship Id="rId7" Type="http://schemas.openxmlformats.org/officeDocument/2006/relationships/image" Target="../media/image32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13CB0-923E-4BD9-87D5-3968C1EF4BB2}" type="datetimeFigureOut">
              <a:rPr lang="en-US" smtClean="0"/>
              <a:pPr/>
              <a:t>1/18/09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7E076-A7BF-4717-BCDE-B3C58132E4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4329B-C22F-4545-B746-7D7052224AA5}" type="datetimeFigureOut">
              <a:rPr lang="en-US" smtClean="0"/>
              <a:pPr/>
              <a:t>1/18/09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153B1-47ED-458F-A557-DBA299F4B2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/>
            <a:endParaRPr lang="en-US" dirty="0" smtClean="0"/>
          </a:p>
          <a:p>
            <a:pPr marL="228600" indent="-228600"/>
            <a:r>
              <a:rPr lang="en-US" dirty="0" smtClean="0"/>
              <a:t>Video optimization in wireless networks</a:t>
            </a:r>
          </a:p>
          <a:p>
            <a:pPr marL="228600" indent="-228600">
              <a:buFontTx/>
              <a:buNone/>
            </a:pPr>
            <a:r>
              <a:rPr lang="en-US" dirty="0" smtClean="0"/>
              <a:t>1. We consider a resource allocation problem (wireless medium)  in a single wireless cell/sub-network</a:t>
            </a:r>
          </a:p>
          <a:p>
            <a:pPr marL="228600" indent="-228600"/>
            <a:r>
              <a:rPr lang="en-US" dirty="0" smtClean="0"/>
              <a:t>2. Multiple stations share wireless medium</a:t>
            </a:r>
          </a:p>
          <a:p>
            <a:pPr marL="228600" indent="-228600"/>
            <a:r>
              <a:rPr lang="en-US" dirty="0" smtClean="0"/>
              <a:t>3. Wireless stations send and/or receive video streams to/from the video server</a:t>
            </a:r>
          </a:p>
          <a:p>
            <a:pPr marL="228600" indent="-228600"/>
            <a:r>
              <a:rPr lang="en-US" dirty="0" smtClean="0"/>
              <a:t>4. Video server is connected to the base station with a high speed link</a:t>
            </a:r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In</a:t>
            </a:r>
            <a:r>
              <a:rPr lang="en-US" baseline="0" dirty="0" smtClean="0"/>
              <a:t> this framework, w</a:t>
            </a:r>
            <a:r>
              <a:rPr lang="en-US" dirty="0" smtClean="0"/>
              <a:t>e consider three layers. From</a:t>
            </a:r>
            <a:r>
              <a:rPr lang="en-US" baseline="0" dirty="0" smtClean="0"/>
              <a:t> application to link to physical.</a:t>
            </a:r>
            <a:endParaRPr lang="en-US" dirty="0" smtClean="0"/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The algorithm</a:t>
            </a:r>
            <a:r>
              <a:rPr lang="en-US" baseline="0" dirty="0" smtClean="0"/>
              <a:t> allocate resource budget</a:t>
            </a:r>
            <a:r>
              <a:rPr lang="en-US" dirty="0" smtClean="0"/>
              <a:t> to wireless stations.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This decision is made by jointly taking parameters from multiple layers.</a:t>
            </a:r>
            <a:r>
              <a:rPr lang="en-US" baseline="0" dirty="0" smtClean="0"/>
              <a:t> Then </a:t>
            </a:r>
            <a:r>
              <a:rPr lang="en-US" dirty="0" smtClean="0"/>
              <a:t>produce and</a:t>
            </a:r>
            <a:r>
              <a:rPr lang="en-US" baseline="0" dirty="0" smtClean="0"/>
              <a:t> enforce </a:t>
            </a:r>
            <a:r>
              <a:rPr lang="en-US" dirty="0" smtClean="0"/>
              <a:t>the best allocation</a:t>
            </a:r>
            <a:r>
              <a:rPr lang="en-US" baseline="0" dirty="0" smtClean="0"/>
              <a:t> on each</a:t>
            </a:r>
            <a:r>
              <a:rPr lang="en-US" dirty="0" smtClean="0"/>
              <a:t> wireless station.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We study the interaction among layers.  </a:t>
            </a:r>
          </a:p>
          <a:p>
            <a:pPr marL="228600" indent="-228600"/>
            <a:r>
              <a:rPr lang="en-US" dirty="0" smtClean="0"/>
              <a:t>5. Next, we </a:t>
            </a:r>
            <a:r>
              <a:rPr lang="en-US" baseline="0" dirty="0" smtClean="0"/>
              <a:t> </a:t>
            </a:r>
            <a:r>
              <a:rPr lang="en-US" dirty="0" smtClean="0"/>
              <a:t>present the general application model, which is followed by the Link and Physical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Higher rate-&gt;better quality at the same power consumption. Similar to conventional R-D models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However,</a:t>
            </a:r>
            <a:r>
              <a:rPr lang="en-US" baseline="0" dirty="0" smtClean="0"/>
              <a:t> because wireless stations are mostly battery-powered, we had to consider the energy consumption of video decoders. </a:t>
            </a:r>
            <a:r>
              <a:rPr lang="en-US" dirty="0" smtClean="0"/>
              <a:t>Higher power-&gt;better quality at the same rate. Because higher power enables us to employ more elaborate optimization, thus lead to better quality.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Complexity scalable coders require extension from R-D to P-R-D models. P-R-D models are also known as C-R-D model, where C stands for complexity.</a:t>
            </a:r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baseline="0" dirty="0" smtClean="0"/>
              <a:t> what is </a:t>
            </a:r>
            <a:r>
              <a:rPr lang="en-US" baseline="0" dirty="0" err="1" smtClean="0"/>
              <a:t>qos</a:t>
            </a:r>
            <a:r>
              <a:rPr lang="en-US" baseline="0" dirty="0" smtClean="0"/>
              <a:t> enabled link layer? First, like traditional link layer protocol, it coordinates access to the air medium. The difference is it can achieve </a:t>
            </a:r>
            <a:r>
              <a:rPr lang="en-US" baseline="0" dirty="0" err="1" smtClean="0"/>
              <a:t>QoS</a:t>
            </a:r>
            <a:r>
              <a:rPr lang="en-US" baseline="0" dirty="0" smtClean="0"/>
              <a:t> differentiation among wireless stations. Using this, we can allocate bandwidth among wireless stations.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Legacy 802.11 standard were defined in late 90’, and 802.11e is finalized</a:t>
            </a:r>
            <a:r>
              <a:rPr lang="en-US" baseline="0" dirty="0" smtClean="0"/>
              <a:t> in around 2005.</a:t>
            </a:r>
          </a:p>
          <a:p>
            <a:r>
              <a:rPr lang="en-US" dirty="0" smtClean="0"/>
              <a:t>1. More flexibility: no centralized admission and scheduling algorithms</a:t>
            </a:r>
          </a:p>
          <a:p>
            <a:r>
              <a:rPr lang="en-US" dirty="0" smtClean="0"/>
              <a:t>2. Better bandwidth utilization: resource reservations are typically made for worse case scenarios</a:t>
            </a:r>
          </a:p>
          <a:p>
            <a:r>
              <a:rPr lang="en-US" dirty="0" smtClean="0"/>
              <a:t>3. Easier deployment: less and simpler configurations make EDCA likely to be the dominating mode in the market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Random</a:t>
            </a:r>
            <a:r>
              <a:rPr lang="en-US" baseline="0" dirty="0" smtClean="0"/>
              <a:t> back-off time is chosen from [1, CW+1]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How to enforce airtime allocation in EDCA?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There are two ways to enforce this differentiation: frequency and duration. Frequency: grab, duration: keep.</a:t>
            </a:r>
          </a:p>
          <a:p>
            <a:pPr marL="228600" indent="-228600"/>
            <a:r>
              <a:rPr lang="en-US" dirty="0" smtClean="0"/>
              <a:t>3. We chose TXOP also because it is as effective as frequency based approach.</a:t>
            </a:r>
          </a:p>
          <a:p>
            <a:pPr marL="228600" indent="-228600"/>
            <a:r>
              <a:rPr lang="en-US" dirty="0" smtClean="0"/>
              <a:t>4. It is also much less complicated than frequency based method. </a:t>
            </a:r>
          </a:p>
          <a:p>
            <a:pPr marL="228600" indent="-228600"/>
            <a:r>
              <a:rPr lang="en-US" dirty="0" smtClean="0"/>
              <a:t>5. In frequency based method, EA is often molded using a complicated </a:t>
            </a:r>
            <a:r>
              <a:rPr lang="en-US" dirty="0" err="1" smtClean="0"/>
              <a:t>Markovian</a:t>
            </a:r>
            <a:r>
              <a:rPr lang="en-US" dirty="0" smtClean="0"/>
              <a:t> Chain, therefore, estimating EA is computational intensive.</a:t>
            </a:r>
          </a:p>
          <a:p>
            <a:pPr marL="228600" indent="-228600"/>
            <a:r>
              <a:rPr lang="en-US" dirty="0" smtClean="0"/>
              <a:t>6. .Consequently, varying TXOP limit allows us to derive closed-form EA formula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/>
            <a:r>
              <a:rPr lang="en-US" dirty="0" smtClean="0"/>
              <a:t>Why need airtime? 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In 802.11e, only one station can transmit at any moment. 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Bandwidth allocation enforcement can be seen as airtime allocation enforcement. 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\</a:t>
            </a:r>
            <a:r>
              <a:rPr lang="en-US" dirty="0" err="1" smtClean="0"/>
              <a:t>phi_s</a:t>
            </a:r>
            <a:r>
              <a:rPr lang="en-US" dirty="0" smtClean="0"/>
              <a:t> shows how much resource is assigned to station </a:t>
            </a:r>
            <a:r>
              <a:rPr lang="en-US" dirty="0" err="1" smtClean="0"/>
              <a:t>s</a:t>
            </a:r>
            <a:r>
              <a:rPr lang="en-US" dirty="0" smtClean="0"/>
              <a:t>. E.g., : </a:t>
            </a:r>
            <a:r>
              <a:rPr lang="en-US" dirty="0" err="1" smtClean="0"/>
              <a:t>r_s</a:t>
            </a:r>
            <a:r>
              <a:rPr lang="en-US" dirty="0" smtClean="0"/>
              <a:t> = 1 Mbps, </a:t>
            </a:r>
            <a:r>
              <a:rPr lang="en-US" dirty="0" err="1" smtClean="0"/>
              <a:t>y_s</a:t>
            </a:r>
            <a:r>
              <a:rPr lang="en-US" dirty="0" smtClean="0"/>
              <a:t> = 10 Mbps, it requires 10% airtime.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need to consider overheads and collisions, therefore, the aggregate \phi would be less than 1.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The</a:t>
            </a:r>
            <a:r>
              <a:rPr lang="en-US" baseline="0" dirty="0" smtClean="0"/>
              <a:t> main difference is, </a:t>
            </a:r>
            <a:r>
              <a:rPr lang="en-US" baseline="0" dirty="0" err="1" smtClean="0"/>
              <a:t>Ge</a:t>
            </a:r>
            <a:r>
              <a:rPr lang="en-US" baseline="0" dirty="0" smtClean="0"/>
              <a:t> assume fixed and short TXOP. We consider varying TXOP. In addition, we incorporate several simplification for a closed form formula.</a:t>
            </a:r>
            <a:r>
              <a:rPr lang="en-US" dirty="0" smtClean="0"/>
              <a:t> </a:t>
            </a:r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Now we show our EA model….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</a:t>
            </a:r>
            <a:r>
              <a:rPr lang="en-US" dirty="0" err="1" smtClean="0"/>
              <a:t>p_persistent</a:t>
            </a:r>
            <a:r>
              <a:rPr lang="en-US" dirty="0" smtClean="0"/>
              <a:t> EDCA is a stateless variation of standard EDCA. Therefore, </a:t>
            </a:r>
            <a:r>
              <a:rPr lang="en-US" dirty="0" err="1" smtClean="0"/>
              <a:t>p</a:t>
            </a:r>
            <a:r>
              <a:rPr lang="en-US" dirty="0" smtClean="0"/>
              <a:t>-persistent EDCA is more tractable (easier to analyze)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It is proved in the literature that </a:t>
            </a:r>
            <a:r>
              <a:rPr lang="en-US" dirty="0" err="1" smtClean="0"/>
              <a:t>p</a:t>
            </a:r>
            <a:r>
              <a:rPr lang="en-US" dirty="0" smtClean="0"/>
              <a:t>-persistent EDCA can be transformed to standard EDCA.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consider longer and heterogeneous TXOP limits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Rho</a:t>
            </a:r>
            <a:r>
              <a:rPr lang="en-US" baseline="0" dirty="0" smtClean="0"/>
              <a:t> / E[X] is really small, as show in the figure.</a:t>
            </a:r>
          </a:p>
          <a:p>
            <a:endParaRPr lang="en-US" dirty="0" smtClean="0"/>
          </a:p>
          <a:p>
            <a:r>
              <a:rPr lang="en-US" dirty="0" smtClean="0"/>
              <a:t>And we will empirically</a:t>
            </a:r>
            <a:r>
              <a:rPr lang="en-US" baseline="0" dirty="0" smtClean="0"/>
              <a:t> validate this in simulations.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/>
            <a:r>
              <a:rPr lang="en-US" dirty="0" smtClean="0"/>
              <a:t>1. We rewrite our optimization problem for 802.11</a:t>
            </a:r>
          </a:p>
          <a:p>
            <a:pPr marL="228600" indent="-228600">
              <a:buFontTx/>
              <a:buAutoNum type="arabicPeriod" startAt="2"/>
            </a:pPr>
            <a:r>
              <a:rPr lang="en-US" dirty="0" smtClean="0"/>
              <a:t> Basically, bandwidth enforcement is converted to airtime enforcement.</a:t>
            </a:r>
          </a:p>
          <a:p>
            <a:pPr marL="228600" indent="-228600">
              <a:buFontTx/>
              <a:buAutoNum type="arabicPeriod" startAt="2"/>
            </a:pPr>
            <a:r>
              <a:rPr lang="en-US" dirty="0" smtClean="0"/>
              <a:t> But how we estimate the video distortion at each wireless station?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 We use an MPEG-4 P-R-D model in the literature. This model has been shown to be fairly accurate through extensive experiments.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 We would get into the details. At high level, we define two model parameters \alpha and \beta, where</a:t>
            </a:r>
          </a:p>
          <a:p>
            <a:pPr marL="685800" lvl="1" indent="-228600">
              <a:buFontTx/>
              <a:buAutoNum type="arabicPeriod"/>
            </a:pPr>
            <a:r>
              <a:rPr lang="en-US" dirty="0" smtClean="0"/>
              <a:t> \alpha represents video sequence variance. \beta represent coder efficient and physical layer rate. 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want to emphasize that our problem can also adopt other models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Convex -&gt; Therefore, local optimum is the global optimum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write airtime \phi in this closed-form formula. 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also write </a:t>
            </a:r>
            <a:r>
              <a:rPr lang="en-US" dirty="0" err="1" smtClean="0"/>
              <a:t>lagragian</a:t>
            </a:r>
            <a:r>
              <a:rPr lang="en-US" dirty="0" smtClean="0"/>
              <a:t> parameter \lambda in a closed-form formula, which is not shown here for time limitation.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Once we have  \</a:t>
            </a:r>
            <a:r>
              <a:rPr lang="en-US" dirty="0" err="1" smtClean="0"/>
              <a:t>phi_s</a:t>
            </a:r>
            <a:r>
              <a:rPr lang="en-US" dirty="0" smtClean="0"/>
              <a:t>, we compute the required TXOP limit. Again, equation is not given here for time limitation.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Next, we evaluate our solution using simulations and experiments.</a:t>
            </a:r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Here, the computation is carried out at access point, but because</a:t>
            </a:r>
            <a:r>
              <a:rPr lang="en-US" baseline="0" dirty="0" smtClean="0"/>
              <a:t> the algorithm is very efficient, they can be carried out at each wireless station!</a:t>
            </a:r>
          </a:p>
          <a:p>
            <a:r>
              <a:rPr lang="en-US" baseline="0" dirty="0" smtClean="0"/>
              <a:t>Overhead in both computational and communication are small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Tx/>
              <a:buAutoNum type="arabicPeriod"/>
            </a:pPr>
            <a:r>
              <a:rPr lang="en-US" dirty="0" smtClean="0"/>
              <a:t> We chose OPNET, because it is a very detailed network simulator.</a:t>
            </a:r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We implement log-normal path</a:t>
            </a:r>
            <a:r>
              <a:rPr lang="en-US" baseline="0" dirty="0" smtClean="0"/>
              <a:t> loss model for more realistic simulations</a:t>
            </a:r>
            <a:endParaRPr lang="en-US" dirty="0" smtClean="0"/>
          </a:p>
          <a:p>
            <a:pPr marL="228600" indent="-228600">
              <a:buFontTx/>
              <a:buAutoNum type="arabicPeriod"/>
            </a:pPr>
            <a:r>
              <a:rPr lang="en-US" dirty="0" smtClean="0"/>
              <a:t> We implement two new network nodes in OPNET</a:t>
            </a:r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pPr marL="228600" indent="-228600">
              <a:buFontTx/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move the </a:t>
            </a:r>
            <a:r>
              <a:rPr lang="en-US" dirty="0" err="1" smtClean="0"/>
              <a:t>Wses</a:t>
            </a:r>
            <a:r>
              <a:rPr lang="en-US" dirty="0" smtClean="0"/>
              <a:t> around, </a:t>
            </a:r>
            <a:r>
              <a:rPr lang="en-US" dirty="0" err="1" smtClean="0"/>
              <a:t>Wses</a:t>
            </a:r>
            <a:r>
              <a:rPr lang="en-US" dirty="0" smtClean="0"/>
              <a:t> closer to the base station will get better reception and higher </a:t>
            </a:r>
            <a:r>
              <a:rPr lang="en-US" dirty="0" err="1" smtClean="0"/>
              <a:t>bitrate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153B1-47ED-458F-A557-DBA299F4B2D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81DCD4C-40AD-43C7-BF56-2A1C3EB60E38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ED28-01B6-4130-B723-DD2368D5C07D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52A9D-E504-46E2-BC11-D51591199E77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A31ACA3-3235-40A7-A94E-12746921F090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1434337-24D7-4607-A11B-6BFF6203262B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B1A8-0360-48BE-B37D-4ACF7A83D4DE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76C6-5B86-4311-BBE4-7D926F4200A0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247B-EC87-414E-9F26-9F51823E4481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EB2C6C6-F512-4BDB-ABB1-F754BC2B0F0F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5440-7601-4CB6-A3A1-A767C7399248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BF78551-EF98-4982-A70C-5396BA9E0D93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27D2757-C103-49ED-AEDA-61BA63A62A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DB10EA7-590A-425D-8DEE-EC499A02FFC2}" type="datetime1">
              <a:rPr lang="en-US" smtClean="0"/>
              <a:pPr/>
              <a:t>1/18/09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2858B7C-D000-4A61-99BB-C907ECFB573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oleObject" Target="../embeddings/Microsoft_Equation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Microsoft_Equation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2.xml"/><Relationship Id="rId4" Type="http://schemas.openxmlformats.org/officeDocument/2006/relationships/oleObject" Target="../embeddings/Microsoft_Equation3.bin"/><Relationship Id="rId5" Type="http://schemas.openxmlformats.org/officeDocument/2006/relationships/oleObject" Target="../embeddings/Microsoft_Equation4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9.bin"/><Relationship Id="rId6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2.bin"/><Relationship Id="rId6" Type="http://schemas.openxmlformats.org/officeDocument/2006/relationships/oleObject" Target="../embeddings/oleObject13.bin"/><Relationship Id="rId7" Type="http://schemas.openxmlformats.org/officeDocument/2006/relationships/oleObject" Target="../embeddings/Microsoft_Equation5.bin"/><Relationship Id="rId8" Type="http://schemas.openxmlformats.org/officeDocument/2006/relationships/oleObject" Target="../embeddings/Microsoft_Equation6.bin"/><Relationship Id="rId9" Type="http://schemas.openxmlformats.org/officeDocument/2006/relationships/oleObject" Target="../embeddings/Microsoft_Equation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Relationship Id="rId5" Type="http://schemas.openxmlformats.org/officeDocument/2006/relationships/oleObject" Target="../embeddings/oleObject14.bin"/><Relationship Id="rId6" Type="http://schemas.openxmlformats.org/officeDocument/2006/relationships/oleObject" Target="../embeddings/Microsoft_Equation8.bin"/></Relationships>
</file>

<file path=ppt/slides/_rels/slide20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Microsoft_Equation15.bin"/><Relationship Id="rId12" Type="http://schemas.openxmlformats.org/officeDocument/2006/relationships/oleObject" Target="../embeddings/Microsoft_Equation16.bin"/><Relationship Id="rId13" Type="http://schemas.openxmlformats.org/officeDocument/2006/relationships/oleObject" Target="../embeddings/Microsoft_Equation17.bin"/><Relationship Id="rId1" Type="http://schemas.openxmlformats.org/officeDocument/2006/relationships/vmlDrawing" Target="../drawings/vmlDrawing10.v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Relationship Id="rId5" Type="http://schemas.openxmlformats.org/officeDocument/2006/relationships/oleObject" Target="../embeddings/Microsoft_Equation9.bin"/><Relationship Id="rId6" Type="http://schemas.openxmlformats.org/officeDocument/2006/relationships/oleObject" Target="../embeddings/Microsoft_Equation10.bin"/><Relationship Id="rId7" Type="http://schemas.openxmlformats.org/officeDocument/2006/relationships/oleObject" Target="../embeddings/Microsoft_Equation11.bin"/><Relationship Id="rId8" Type="http://schemas.openxmlformats.org/officeDocument/2006/relationships/oleObject" Target="../embeddings/Microsoft_Equation12.bin"/><Relationship Id="rId9" Type="http://schemas.openxmlformats.org/officeDocument/2006/relationships/oleObject" Target="../embeddings/Microsoft_Equation13.bin"/><Relationship Id="rId10" Type="http://schemas.openxmlformats.org/officeDocument/2006/relationships/oleObject" Target="../embeddings/Microsoft_Equation14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305580"/>
            <a:ext cx="7696200" cy="2057400"/>
          </a:xfrm>
        </p:spPr>
        <p:txBody>
          <a:bodyPr>
            <a:noAutofit/>
          </a:bodyPr>
          <a:lstStyle/>
          <a:p>
            <a:r>
              <a:rPr lang="en-US" sz="4200" b="1" cap="none" dirty="0" smtClean="0">
                <a:solidFill>
                  <a:srgbClr val="800000"/>
                </a:solidFill>
              </a:rPr>
              <a:t>Cross-Layer Optimization for Video Streaming in Single-Hop Wireless Networks</a:t>
            </a:r>
            <a:endParaRPr lang="en-US" sz="4200" b="1" cap="none" dirty="0">
              <a:solidFill>
                <a:srgbClr val="8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362980"/>
            <a:ext cx="7696200" cy="1295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0090"/>
                </a:solidFill>
              </a:rPr>
              <a:t>Cheng-</a:t>
            </a:r>
            <a:r>
              <a:rPr lang="en-US" sz="2800" b="1" dirty="0" err="1" smtClean="0">
                <a:solidFill>
                  <a:srgbClr val="000090"/>
                </a:solidFill>
              </a:rPr>
              <a:t>Hsin</a:t>
            </a:r>
            <a:r>
              <a:rPr lang="en-US" sz="2800" b="1" dirty="0" smtClean="0">
                <a:solidFill>
                  <a:srgbClr val="000090"/>
                </a:solidFill>
              </a:rPr>
              <a:t> Hsu</a:t>
            </a:r>
          </a:p>
          <a:p>
            <a:r>
              <a:rPr lang="en-US" sz="2800" b="1" dirty="0" smtClean="0">
                <a:solidFill>
                  <a:srgbClr val="000090"/>
                </a:solidFill>
              </a:rPr>
              <a:t>Joint Work with Mohamed </a:t>
            </a:r>
            <a:r>
              <a:rPr lang="en-US" sz="2800" b="1" dirty="0" err="1" smtClean="0">
                <a:solidFill>
                  <a:srgbClr val="000090"/>
                </a:solidFill>
              </a:rPr>
              <a:t>Hefeeda</a:t>
            </a:r>
            <a:endParaRPr lang="en-US" sz="2800" b="1" dirty="0" smtClean="0">
              <a:solidFill>
                <a:srgbClr val="00009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8245" y="6172200"/>
            <a:ext cx="164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MMCN ‘09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553200" y="6172200"/>
            <a:ext cx="229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January 19, 2009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4658380"/>
            <a:ext cx="4948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Simon Fraser University, Canada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Video Optimization in Wireless Networks</a:t>
            </a:r>
            <a:endParaRPr lang="en-US" dirty="0"/>
          </a:p>
        </p:txBody>
      </p:sp>
      <p:pic>
        <p:nvPicPr>
          <p:cNvPr id="17" name="Picture 16" descr="cross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12048"/>
            <a:ext cx="8026907" cy="5193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2400" y="5141893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Resource Allocation Problem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	-- shared air medium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743200" y="2971800"/>
            <a:ext cx="4800600" cy="1219200"/>
            <a:chOff x="2743200" y="2971800"/>
            <a:chExt cx="4800600" cy="1219200"/>
          </a:xfrm>
        </p:grpSpPr>
        <p:sp>
          <p:nvSpPr>
            <p:cNvPr id="12" name="Freeform 11"/>
            <p:cNvSpPr/>
            <p:nvPr/>
          </p:nvSpPr>
          <p:spPr>
            <a:xfrm>
              <a:off x="2743200" y="2971800"/>
              <a:ext cx="2286000" cy="613833"/>
            </a:xfrm>
            <a:custGeom>
              <a:avLst/>
              <a:gdLst>
                <a:gd name="connsiteX0" fmla="*/ 0 w 2146300"/>
                <a:gd name="connsiteY0" fmla="*/ 457200 h 613833"/>
                <a:gd name="connsiteX1" fmla="*/ 203200 w 2146300"/>
                <a:gd name="connsiteY1" fmla="*/ 482600 h 613833"/>
                <a:gd name="connsiteX2" fmla="*/ 800100 w 2146300"/>
                <a:gd name="connsiteY2" fmla="*/ 533400 h 613833"/>
                <a:gd name="connsiteX3" fmla="*/ 2146300 w 2146300"/>
                <a:gd name="connsiteY3" fmla="*/ 0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6300" h="613833">
                  <a:moveTo>
                    <a:pt x="0" y="457200"/>
                  </a:moveTo>
                  <a:cubicBezTo>
                    <a:pt x="34925" y="463550"/>
                    <a:pt x="69850" y="469900"/>
                    <a:pt x="203200" y="482600"/>
                  </a:cubicBezTo>
                  <a:cubicBezTo>
                    <a:pt x="336550" y="495300"/>
                    <a:pt x="476250" y="613833"/>
                    <a:pt x="800100" y="533400"/>
                  </a:cubicBezTo>
                  <a:cubicBezTo>
                    <a:pt x="1123950" y="452967"/>
                    <a:pt x="1907117" y="67733"/>
                    <a:pt x="2146300" y="0"/>
                  </a:cubicBezTo>
                </a:path>
              </a:pathLst>
            </a:cu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 flipV="1">
              <a:off x="2743200" y="3710516"/>
              <a:ext cx="4800600" cy="480484"/>
            </a:xfrm>
            <a:custGeom>
              <a:avLst/>
              <a:gdLst>
                <a:gd name="connsiteX0" fmla="*/ 0 w 2146300"/>
                <a:gd name="connsiteY0" fmla="*/ 457200 h 613833"/>
                <a:gd name="connsiteX1" fmla="*/ 203200 w 2146300"/>
                <a:gd name="connsiteY1" fmla="*/ 482600 h 613833"/>
                <a:gd name="connsiteX2" fmla="*/ 800100 w 2146300"/>
                <a:gd name="connsiteY2" fmla="*/ 533400 h 613833"/>
                <a:gd name="connsiteX3" fmla="*/ 2146300 w 2146300"/>
                <a:gd name="connsiteY3" fmla="*/ 0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6300" h="613833">
                  <a:moveTo>
                    <a:pt x="0" y="457200"/>
                  </a:moveTo>
                  <a:cubicBezTo>
                    <a:pt x="34925" y="463550"/>
                    <a:pt x="69850" y="469900"/>
                    <a:pt x="203200" y="482600"/>
                  </a:cubicBezTo>
                  <a:cubicBezTo>
                    <a:pt x="336550" y="495300"/>
                    <a:pt x="476250" y="613833"/>
                    <a:pt x="800100" y="533400"/>
                  </a:cubicBezTo>
                  <a:cubicBezTo>
                    <a:pt x="1123950" y="452967"/>
                    <a:pt x="1907117" y="67733"/>
                    <a:pt x="2146300" y="0"/>
                  </a:cubicBezTo>
                </a:path>
              </a:pathLst>
            </a:custGeom>
            <a:ln w="508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reeform 14"/>
          <p:cNvSpPr/>
          <p:nvPr/>
        </p:nvSpPr>
        <p:spPr>
          <a:xfrm>
            <a:off x="2971800" y="4089400"/>
            <a:ext cx="2082800" cy="1079500"/>
          </a:xfrm>
          <a:custGeom>
            <a:avLst/>
            <a:gdLst>
              <a:gd name="connsiteX0" fmla="*/ 2489200 w 2489200"/>
              <a:gd name="connsiteY0" fmla="*/ 1079500 h 1079500"/>
              <a:gd name="connsiteX1" fmla="*/ 698500 w 2489200"/>
              <a:gd name="connsiteY1" fmla="*/ 660400 h 1079500"/>
              <a:gd name="connsiteX2" fmla="*/ 0 w 2489200"/>
              <a:gd name="connsiteY2" fmla="*/ 0 h 10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9200" h="1079500">
                <a:moveTo>
                  <a:pt x="2489200" y="1079500"/>
                </a:moveTo>
                <a:cubicBezTo>
                  <a:pt x="1801283" y="959908"/>
                  <a:pt x="1113367" y="840317"/>
                  <a:pt x="698500" y="660400"/>
                </a:cubicBezTo>
                <a:cubicBezTo>
                  <a:pt x="283633" y="480483"/>
                  <a:pt x="0" y="0"/>
                  <a:pt x="0" y="0"/>
                </a:cubicBezTo>
              </a:path>
            </a:pathLst>
          </a:custGeom>
          <a:ln w="508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Optimization </a:t>
            </a:r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Goal:</a:t>
            </a:r>
            <a:r>
              <a:rPr lang="en-US" dirty="0" smtClean="0"/>
              <a:t> maximize video quality for stations by properly allocating shared resources</a:t>
            </a:r>
          </a:p>
          <a:p>
            <a:r>
              <a:rPr lang="en-US" dirty="0" smtClean="0"/>
              <a:t>Challenge: stations have diverse constraints</a:t>
            </a:r>
          </a:p>
          <a:p>
            <a:pPr lvl="1"/>
            <a:r>
              <a:rPr lang="en-US" dirty="0" smtClean="0"/>
              <a:t>channel conditions</a:t>
            </a:r>
          </a:p>
          <a:p>
            <a:pPr lvl="1"/>
            <a:r>
              <a:rPr lang="en-US" dirty="0" smtClean="0"/>
              <a:t>processing powers</a:t>
            </a:r>
          </a:p>
          <a:p>
            <a:pPr lvl="1"/>
            <a:r>
              <a:rPr lang="en-US" dirty="0" smtClean="0"/>
              <a:t>energy levels</a:t>
            </a:r>
          </a:p>
          <a:p>
            <a:pPr lvl="1"/>
            <a:r>
              <a:rPr lang="en-US" dirty="0" smtClean="0"/>
              <a:t>video characteristics</a:t>
            </a:r>
          </a:p>
          <a:p>
            <a:r>
              <a:rPr lang="en-US" dirty="0" smtClean="0"/>
              <a:t>Approach: </a:t>
            </a:r>
          </a:p>
          <a:p>
            <a:pPr lvl="1"/>
            <a:r>
              <a:rPr lang="en-US" dirty="0" smtClean="0"/>
              <a:t>propose a</a:t>
            </a:r>
            <a:r>
              <a:rPr lang="en-US" dirty="0" smtClean="0"/>
              <a:t> cross-layer optimization </a:t>
            </a:r>
            <a:r>
              <a:rPr lang="en-US" dirty="0" smtClean="0"/>
              <a:t>framework</a:t>
            </a:r>
          </a:p>
          <a:p>
            <a:pPr lvl="1"/>
            <a:r>
              <a:rPr lang="en-US" dirty="0" smtClean="0"/>
              <a:t>then, instantiate the framework for 802.11e </a:t>
            </a:r>
            <a:r>
              <a:rPr lang="en-US" dirty="0" err="1" smtClean="0"/>
              <a:t>WLANs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Optimization Framework</a:t>
            </a:r>
            <a:endParaRPr lang="en-US" dirty="0"/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auto">
          <a:xfrm>
            <a:off x="381000" y="2089150"/>
            <a:ext cx="2209800" cy="393065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/>
              <a:t>The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Optimization 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Algorithm</a:t>
            </a:r>
          </a:p>
        </p:txBody>
      </p:sp>
      <p:sp>
        <p:nvSpPr>
          <p:cNvPr id="24" name="AutoShape 9"/>
          <p:cNvSpPr>
            <a:spLocks noChangeArrowheads="1"/>
          </p:cNvSpPr>
          <p:nvPr/>
        </p:nvSpPr>
        <p:spPr bwMode="auto">
          <a:xfrm>
            <a:off x="5791200" y="2089150"/>
            <a:ext cx="1905000" cy="12192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400" dirty="0"/>
              <a:t>Complexity</a:t>
            </a:r>
          </a:p>
          <a:p>
            <a:pPr algn="ctr"/>
            <a:r>
              <a:rPr lang="en-US" sz="2400" dirty="0"/>
              <a:t>Scalable</a:t>
            </a:r>
            <a:endParaRPr lang="en-US" sz="2400" dirty="0" smtClean="0"/>
          </a:p>
          <a:p>
            <a:pPr algn="ctr"/>
            <a:r>
              <a:rPr lang="en-US" sz="2400" dirty="0" smtClean="0"/>
              <a:t>Video Coder</a:t>
            </a:r>
            <a:endParaRPr lang="en-US" sz="2400" dirty="0"/>
          </a:p>
        </p:txBody>
      </p:sp>
      <p:sp>
        <p:nvSpPr>
          <p:cNvPr id="25" name="AutoShape 11"/>
          <p:cNvSpPr>
            <a:spLocks noChangeArrowheads="1"/>
          </p:cNvSpPr>
          <p:nvPr/>
        </p:nvSpPr>
        <p:spPr bwMode="auto">
          <a:xfrm>
            <a:off x="5791200" y="3902075"/>
            <a:ext cx="1905000" cy="89852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400" dirty="0" err="1"/>
              <a:t>QoS</a:t>
            </a:r>
            <a:r>
              <a:rPr lang="en-US" sz="2400" dirty="0"/>
              <a:t>-Enabled</a:t>
            </a:r>
          </a:p>
          <a:p>
            <a:pPr algn="ctr"/>
            <a:r>
              <a:rPr lang="en-US" sz="2400" dirty="0"/>
              <a:t>Controller</a:t>
            </a:r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5791200" y="5048310"/>
            <a:ext cx="1905000" cy="81909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400" dirty="0"/>
              <a:t>Radio</a:t>
            </a:r>
          </a:p>
          <a:p>
            <a:pPr algn="ctr"/>
            <a:r>
              <a:rPr lang="en-US" sz="2400" dirty="0"/>
              <a:t>Module</a:t>
            </a: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8001000" y="2378075"/>
            <a:ext cx="69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APP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7998931" y="4114800"/>
            <a:ext cx="8402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LINK</a:t>
            </a: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8039993" y="5267235"/>
            <a:ext cx="7260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PHY</a:t>
            </a:r>
            <a:endParaRPr lang="en-US" b="1" dirty="0"/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 flipH="1">
            <a:off x="2590800" y="2438400"/>
            <a:ext cx="3200400" cy="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dash"/>
            <a:miter lim="800000"/>
            <a:headEnd/>
            <a:tailEnd type="arrow" w="lg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2895600" y="1905000"/>
            <a:ext cx="2894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solidFill>
                  <a:schemeClr val="accent4"/>
                </a:solidFill>
              </a:rPr>
              <a:t>P-R-D Characteristics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36" name="Rectangle 22"/>
          <p:cNvSpPr>
            <a:spLocks noChangeArrowheads="1"/>
          </p:cNvSpPr>
          <p:nvPr/>
        </p:nvSpPr>
        <p:spPr bwMode="auto">
          <a:xfrm>
            <a:off x="5638800" y="3708460"/>
            <a:ext cx="2252095" cy="231134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Text Box 24"/>
          <p:cNvSpPr txBox="1">
            <a:spLocks noChangeArrowheads="1"/>
          </p:cNvSpPr>
          <p:nvPr/>
        </p:nvSpPr>
        <p:spPr bwMode="auto">
          <a:xfrm>
            <a:off x="2895600" y="2590800"/>
            <a:ext cx="2347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Opt. Coding Rate</a:t>
            </a: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3124200" y="3613150"/>
            <a:ext cx="23300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MAC</a:t>
            </a:r>
            <a:r>
              <a:rPr lang="en-US" sz="2400" dirty="0" smtClean="0">
                <a:solidFill>
                  <a:schemeClr val="accent4"/>
                </a:solidFill>
              </a:rPr>
              <a:t> Parameters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3124200" y="4191000"/>
            <a:ext cx="21509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Opt.</a:t>
            </a:r>
            <a:r>
              <a:rPr lang="en-US" sz="2400" dirty="0" smtClean="0"/>
              <a:t> Bandwidth</a:t>
            </a:r>
            <a:endParaRPr lang="en-US" sz="2400" dirty="0"/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3276600" y="5179367"/>
            <a:ext cx="1851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Channel Rate</a:t>
            </a:r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 flipH="1">
            <a:off x="2590800" y="3089153"/>
            <a:ext cx="32004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  <a:miter lim="800000"/>
            <a:headEnd type="arrow" w="lg" len="lg"/>
            <a:tailEnd type="none" w="lg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 flipH="1">
            <a:off x="2590800" y="4119265"/>
            <a:ext cx="3200400" cy="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dash"/>
            <a:miter lim="800000"/>
            <a:headEnd/>
            <a:tailEnd type="arrow" w="lg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16"/>
          <p:cNvSpPr>
            <a:spLocks noChangeShapeType="1"/>
          </p:cNvSpPr>
          <p:nvPr/>
        </p:nvSpPr>
        <p:spPr bwMode="auto">
          <a:xfrm flipH="1">
            <a:off x="2590800" y="5667345"/>
            <a:ext cx="3200400" cy="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dash"/>
            <a:miter lim="800000"/>
            <a:headEnd/>
            <a:tailEnd type="arrow" w="lg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Line 16"/>
          <p:cNvSpPr>
            <a:spLocks noChangeShapeType="1"/>
          </p:cNvSpPr>
          <p:nvPr/>
        </p:nvSpPr>
        <p:spPr bwMode="auto">
          <a:xfrm flipH="1">
            <a:off x="2590800" y="4724400"/>
            <a:ext cx="30480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  <a:miter lim="800000"/>
            <a:headEnd type="arrow" w="lg" len="lg"/>
            <a:tailEnd type="none" w="lg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3025815" y="4724400"/>
            <a:ext cx="22493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Share Allocation</a:t>
            </a:r>
            <a:endParaRPr lang="en-US" sz="2400" dirty="0"/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Complexity Scalable Video Coders</a:t>
            </a:r>
            <a:endParaRPr lang="en-US" sz="4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5644415" y="2579132"/>
            <a:ext cx="3008418" cy="1905000"/>
            <a:chOff x="5867401" y="1929831"/>
            <a:chExt cx="2664138" cy="1962769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6244745" y="3593923"/>
              <a:ext cx="22867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5398696" y="2774293"/>
              <a:ext cx="169051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622169" y="3605909"/>
              <a:ext cx="1181323" cy="286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Coding Power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5491644" y="2447268"/>
              <a:ext cx="1120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Distortion</a:t>
              </a:r>
              <a:endParaRPr lang="en-US" dirty="0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6397751" y="2071511"/>
              <a:ext cx="1997995" cy="1116815"/>
            </a:xfrm>
            <a:custGeom>
              <a:avLst/>
              <a:gdLst>
                <a:gd name="connsiteX0" fmla="*/ 0 w 1806222"/>
                <a:gd name="connsiteY0" fmla="*/ 0 h 1326444"/>
                <a:gd name="connsiteX1" fmla="*/ 268111 w 1806222"/>
                <a:gd name="connsiteY1" fmla="*/ 649111 h 1326444"/>
                <a:gd name="connsiteX2" fmla="*/ 762000 w 1806222"/>
                <a:gd name="connsiteY2" fmla="*/ 1171222 h 1326444"/>
                <a:gd name="connsiteX3" fmla="*/ 1806222 w 1806222"/>
                <a:gd name="connsiteY3" fmla="*/ 1326444 h 132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6222" h="1326444">
                  <a:moveTo>
                    <a:pt x="0" y="0"/>
                  </a:moveTo>
                  <a:cubicBezTo>
                    <a:pt x="70555" y="226953"/>
                    <a:pt x="141111" y="453907"/>
                    <a:pt x="268111" y="649111"/>
                  </a:cubicBezTo>
                  <a:cubicBezTo>
                    <a:pt x="395111" y="844315"/>
                    <a:pt x="505648" y="1058333"/>
                    <a:pt x="762000" y="1171222"/>
                  </a:cubicBezTo>
                  <a:cubicBezTo>
                    <a:pt x="1018352" y="1284111"/>
                    <a:pt x="1412287" y="1305277"/>
                    <a:pt x="1806222" y="1326444"/>
                  </a:cubicBezTo>
                </a:path>
              </a:pathLst>
            </a:custGeom>
            <a:ln w="476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57200" y="1815405"/>
            <a:ext cx="8229600" cy="4280595"/>
            <a:chOff x="457200" y="2348805"/>
            <a:chExt cx="8229600" cy="4280595"/>
          </a:xfrm>
        </p:grpSpPr>
        <p:sp>
          <p:nvSpPr>
            <p:cNvPr id="43" name="TextBox 42"/>
            <p:cNvSpPr txBox="1"/>
            <p:nvPr/>
          </p:nvSpPr>
          <p:spPr>
            <a:xfrm>
              <a:off x="750333" y="4648200"/>
              <a:ext cx="184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33400" y="2348805"/>
              <a:ext cx="8119433" cy="1384995"/>
            </a:xfrm>
            <a:prstGeom prst="rect">
              <a:avLst/>
            </a:prstGeom>
            <a:noFill/>
            <a:effectLst>
              <a:glow rad="101600">
                <a:srgbClr val="FFFF00">
                  <a:alpha val="75000"/>
                </a:srgbClr>
              </a:glow>
              <a:softEdge rad="101600"/>
            </a:effectLst>
          </p:spPr>
          <p:txBody>
            <a:bodyPr wrap="square">
              <a:spAutoFit/>
            </a:bodyPr>
            <a:lstStyle/>
            <a:p>
              <a:r>
                <a:rPr lang="en-US" sz="2800" b="1" dirty="0" smtClean="0"/>
                <a:t>P</a:t>
              </a:r>
              <a:r>
                <a:rPr lang="en-US" sz="2800" b="1" dirty="0" smtClean="0"/>
                <a:t>-R-D models </a:t>
              </a:r>
              <a:r>
                <a:rPr lang="en-US" sz="2800" b="1" dirty="0" smtClean="0"/>
                <a:t>relate</a:t>
              </a:r>
              <a:r>
                <a:rPr lang="en-US" sz="2800" b="1" dirty="0" smtClean="0"/>
                <a:t> </a:t>
              </a:r>
              <a:r>
                <a:rPr lang="en-US" sz="2800" b="1" dirty="0" smtClean="0"/>
                <a:t>distortion as </a:t>
              </a:r>
              <a:r>
                <a:rPr lang="en-US" sz="2800" b="1" dirty="0" smtClean="0"/>
                <a:t>a </a:t>
              </a:r>
              <a:r>
                <a:rPr lang="en-US" sz="2800" b="1" dirty="0" err="1" smtClean="0"/>
                <a:t>func</a:t>
              </a:r>
              <a:r>
                <a:rPr lang="en-US" sz="2800" b="1" dirty="0" smtClean="0"/>
                <a:t> </a:t>
              </a:r>
              <a:r>
                <a:rPr lang="en-US" sz="2800" b="1" dirty="0" smtClean="0">
                  <a:solidFill>
                    <a:srgbClr val="FF0000"/>
                  </a:solidFill>
                </a:rPr>
                <a:t>D(.)</a:t>
              </a:r>
              <a:r>
                <a:rPr lang="en-US" sz="2800" b="1" dirty="0" smtClean="0"/>
                <a:t> of </a:t>
              </a:r>
              <a:r>
                <a:rPr lang="en-US" sz="2800" b="1" dirty="0" err="1" smtClean="0"/>
                <a:t>r</a:t>
              </a:r>
              <a:r>
                <a:rPr lang="en-US" sz="2800" b="1" baseline="-25000" dirty="0" err="1" smtClean="0"/>
                <a:t>s</a:t>
              </a:r>
              <a:r>
                <a:rPr lang="en-US" sz="2800" b="1" dirty="0" smtClean="0"/>
                <a:t> (</a:t>
              </a:r>
              <a:r>
                <a:rPr lang="en-US" sz="2800" b="1" dirty="0" smtClean="0"/>
                <a:t>coding rate</a:t>
              </a:r>
              <a:r>
                <a:rPr lang="en-US" sz="2800" b="1" dirty="0" smtClean="0"/>
                <a:t>), </a:t>
              </a:r>
              <a:r>
                <a:rPr lang="en-US" sz="2800" b="1" dirty="0" err="1" smtClean="0"/>
                <a:t>p</a:t>
              </a:r>
              <a:r>
                <a:rPr lang="en-US" sz="2800" b="1" baseline="-25000" dirty="0" err="1" smtClean="0"/>
                <a:t>s</a:t>
              </a:r>
              <a:r>
                <a:rPr lang="en-US" sz="2800" b="1" dirty="0" smtClean="0"/>
                <a:t> (coding power), </a:t>
              </a:r>
            </a:p>
            <a:p>
              <a:r>
                <a:rPr lang="en-US" sz="2800" b="1" dirty="0" smtClean="0"/>
                <a:t> </a:t>
              </a:r>
              <a:r>
                <a:rPr lang="en-US" sz="2800" b="1" dirty="0" smtClean="0"/>
                <a:t>and</a:t>
              </a:r>
              <a:r>
                <a:rPr lang="en-US" sz="2800" b="1" dirty="0" smtClean="0"/>
                <a:t> V </a:t>
              </a:r>
              <a:r>
                <a:rPr lang="en-US" sz="2800" b="1" dirty="0" smtClean="0"/>
                <a:t>(video</a:t>
              </a:r>
              <a:r>
                <a:rPr lang="en-US" sz="2800" b="1" dirty="0" smtClean="0"/>
                <a:t> characteristics</a:t>
              </a:r>
              <a:r>
                <a:rPr lang="en-US" sz="2800" b="1" dirty="0" smtClean="0"/>
                <a:t>)</a:t>
              </a:r>
              <a:endParaRPr lang="en-US" sz="2800" b="1" dirty="0"/>
            </a:p>
          </p:txBody>
        </p:sp>
        <p:sp>
          <p:nvSpPr>
            <p:cNvPr id="45" name="AutoShape 6"/>
            <p:cNvSpPr>
              <a:spLocks noChangeArrowheads="1"/>
            </p:cNvSpPr>
            <p:nvPr/>
          </p:nvSpPr>
          <p:spPr bwMode="auto">
            <a:xfrm>
              <a:off x="3886200" y="5715000"/>
              <a:ext cx="1447800" cy="91440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 smtClean="0"/>
                <a:t>The</a:t>
              </a:r>
            </a:p>
            <a:p>
              <a:pPr algn="ctr"/>
              <a:r>
                <a:rPr lang="en-US" sz="1800" dirty="0"/>
                <a:t>Optimization </a:t>
              </a:r>
            </a:p>
            <a:p>
              <a:pPr algn="ctr"/>
              <a:r>
                <a:rPr lang="en-US" sz="1800" dirty="0"/>
                <a:t>Algorithm</a:t>
              </a:r>
            </a:p>
          </p:txBody>
        </p:sp>
        <p:sp>
          <p:nvSpPr>
            <p:cNvPr id="46" name="Text Box 7"/>
            <p:cNvSpPr txBox="1">
              <a:spLocks noChangeArrowheads="1"/>
            </p:cNvSpPr>
            <p:nvPr/>
          </p:nvSpPr>
          <p:spPr bwMode="auto">
            <a:xfrm>
              <a:off x="1905000" y="5791200"/>
              <a:ext cx="19812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/>
                <a:t>P-R-D 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Characteristics</a:t>
              </a:r>
            </a:p>
          </p:txBody>
        </p:sp>
        <p:sp>
          <p:nvSpPr>
            <p:cNvPr id="47" name="Text Box 8"/>
            <p:cNvSpPr txBox="1">
              <a:spLocks noChangeArrowheads="1"/>
            </p:cNvSpPr>
            <p:nvPr/>
          </p:nvSpPr>
          <p:spPr bwMode="auto">
            <a:xfrm>
              <a:off x="5262562" y="5791200"/>
              <a:ext cx="1595438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/>
                <a:t>Opt. 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Coding Rate</a:t>
              </a:r>
            </a:p>
          </p:txBody>
        </p:sp>
        <p:sp>
          <p:nvSpPr>
            <p:cNvPr id="48" name="AutoShape 9"/>
            <p:cNvSpPr>
              <a:spLocks noChangeArrowheads="1"/>
            </p:cNvSpPr>
            <p:nvPr/>
          </p:nvSpPr>
          <p:spPr bwMode="auto">
            <a:xfrm>
              <a:off x="457200" y="5791200"/>
              <a:ext cx="1600200" cy="8382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/>
                <a:t>Complexity</a:t>
              </a:r>
            </a:p>
            <a:p>
              <a:pPr algn="ctr"/>
              <a:r>
                <a:rPr lang="en-US" sz="1800" dirty="0"/>
                <a:t>Scalable</a:t>
              </a:r>
              <a:endParaRPr lang="en-US" sz="1800" dirty="0" smtClean="0"/>
            </a:p>
            <a:p>
              <a:pPr algn="ctr"/>
              <a:r>
                <a:rPr lang="en-US" dirty="0" smtClean="0"/>
                <a:t>C</a:t>
              </a:r>
              <a:r>
                <a:rPr lang="en-US" sz="1800" dirty="0" smtClean="0"/>
                <a:t>oder</a:t>
              </a:r>
              <a:endParaRPr lang="en-US" dirty="0"/>
            </a:p>
          </p:txBody>
        </p:sp>
        <p:sp>
          <p:nvSpPr>
            <p:cNvPr id="49" name="AutoShape 10"/>
            <p:cNvSpPr>
              <a:spLocks noChangeArrowheads="1"/>
            </p:cNvSpPr>
            <p:nvPr/>
          </p:nvSpPr>
          <p:spPr bwMode="auto">
            <a:xfrm>
              <a:off x="7086600" y="5715000"/>
              <a:ext cx="1600200" cy="8382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/>
                <a:t>Complexity</a:t>
              </a:r>
            </a:p>
            <a:p>
              <a:pPr algn="ctr"/>
              <a:r>
                <a:rPr lang="en-US" sz="1800" dirty="0"/>
                <a:t>Scalable</a:t>
              </a:r>
              <a:endParaRPr lang="en-US" sz="1800" dirty="0" smtClean="0"/>
            </a:p>
            <a:p>
              <a:pPr algn="ctr"/>
              <a:r>
                <a:rPr lang="en-US" dirty="0" smtClean="0"/>
                <a:t>C</a:t>
              </a:r>
              <a:r>
                <a:rPr lang="en-US" sz="1800" dirty="0" smtClean="0"/>
                <a:t>oder</a:t>
              </a:r>
              <a:endParaRPr lang="en-US" dirty="0"/>
            </a:p>
          </p:txBody>
        </p:sp>
        <p:sp>
          <p:nvSpPr>
            <p:cNvPr id="52" name="Line 16"/>
            <p:cNvSpPr>
              <a:spLocks noChangeShapeType="1"/>
            </p:cNvSpPr>
            <p:nvPr/>
          </p:nvSpPr>
          <p:spPr bwMode="auto">
            <a:xfrm>
              <a:off x="2057400" y="6172200"/>
              <a:ext cx="1828800" cy="0"/>
            </a:xfrm>
            <a:prstGeom prst="line">
              <a:avLst/>
            </a:prstGeom>
            <a:noFill/>
            <a:ln w="50800">
              <a:solidFill>
                <a:schemeClr val="accent4"/>
              </a:solidFill>
              <a:prstDash val="dash"/>
              <a:miter lim="800000"/>
              <a:headEnd/>
              <a:tailEnd type="arrow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16"/>
            <p:cNvSpPr>
              <a:spLocks noChangeShapeType="1"/>
            </p:cNvSpPr>
            <p:nvPr/>
          </p:nvSpPr>
          <p:spPr bwMode="auto">
            <a:xfrm flipH="1" flipV="1">
              <a:off x="5334000" y="6172199"/>
              <a:ext cx="1752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olid"/>
              <a:miter lim="800000"/>
              <a:headEnd type="arrow" w="lg" len="lg"/>
              <a:tailEnd type="none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QoS</a:t>
            </a:r>
            <a:r>
              <a:rPr lang="en-US" dirty="0" smtClean="0"/>
              <a:t> Enabled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Link </a:t>
            </a:r>
            <a:r>
              <a:rPr lang="en-US" dirty="0" smtClean="0"/>
              <a:t>Layer</a:t>
            </a:r>
            <a:endParaRPr lang="en-US" dirty="0" smtClean="0"/>
          </a:p>
          <a:p>
            <a:pPr lvl="1"/>
            <a:r>
              <a:rPr lang="en-US" dirty="0" smtClean="0"/>
              <a:t>achieves/enforces </a:t>
            </a:r>
            <a:r>
              <a:rPr lang="en-US" dirty="0" err="1" smtClean="0"/>
              <a:t>QoS</a:t>
            </a:r>
            <a:r>
              <a:rPr lang="en-US" dirty="0" smtClean="0"/>
              <a:t> differentiation</a:t>
            </a:r>
          </a:p>
          <a:p>
            <a:pPr lvl="1"/>
            <a:r>
              <a:rPr lang="en-US" dirty="0" smtClean="0"/>
              <a:t>allocates bandwidth (</a:t>
            </a:r>
            <a:r>
              <a:rPr lang="en-US" i="1" dirty="0" err="1" smtClean="0"/>
              <a:t>b</a:t>
            </a:r>
            <a:r>
              <a:rPr lang="en-US" i="1" baseline="-25000" dirty="0" err="1" smtClean="0"/>
              <a:t>s</a:t>
            </a:r>
            <a:r>
              <a:rPr lang="en-US" dirty="0" smtClean="0"/>
              <a:t>) to station </a:t>
            </a:r>
            <a:r>
              <a:rPr lang="en-US" i="1" dirty="0" err="1" smtClean="0"/>
              <a:t>s</a:t>
            </a:r>
            <a:r>
              <a:rPr lang="en-US" dirty="0" smtClean="0"/>
              <a:t>,   </a:t>
            </a:r>
            <a:r>
              <a:rPr lang="en-US" dirty="0" err="1" smtClean="0"/>
              <a:t>s.t</a:t>
            </a:r>
            <a:r>
              <a:rPr lang="en-US" dirty="0" smtClean="0"/>
              <a:t>.               , where </a:t>
            </a:r>
            <a:r>
              <a:rPr lang="en-US" i="1" dirty="0" smtClean="0">
                <a:solidFill>
                  <a:srgbClr val="FF0000"/>
                </a:solidFill>
              </a:rPr>
              <a:t>B(.)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the link capacity </a:t>
            </a:r>
          </a:p>
          <a:p>
            <a:r>
              <a:rPr lang="en-US" dirty="0" smtClean="0"/>
              <a:t>Physical layer</a:t>
            </a:r>
          </a:p>
          <a:p>
            <a:pPr lvl="1"/>
            <a:r>
              <a:rPr lang="en-US" dirty="0" smtClean="0"/>
              <a:t>diverse channel rate (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s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graphicFrame>
        <p:nvGraphicFramePr>
          <p:cNvPr id="300034" name="Object 2"/>
          <p:cNvGraphicFramePr>
            <a:graphicFrameLocks noChangeAspect="1"/>
          </p:cNvGraphicFramePr>
          <p:nvPr/>
        </p:nvGraphicFramePr>
        <p:xfrm>
          <a:off x="6858000" y="2633663"/>
          <a:ext cx="1295400" cy="566737"/>
        </p:xfrm>
        <a:graphic>
          <a:graphicData uri="http://schemas.openxmlformats.org/presentationml/2006/ole">
            <p:oleObj spid="_x0000_s300034" name="Equation" r:id="rId4" imgW="609600" imgH="266700" progId="">
              <p:embed/>
            </p:oleObj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152400" y="5029200"/>
            <a:ext cx="8686800" cy="914400"/>
            <a:chOff x="304800" y="5486400"/>
            <a:chExt cx="8686800" cy="914400"/>
          </a:xfrm>
        </p:grpSpPr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4114800" y="5486400"/>
              <a:ext cx="1447800" cy="91440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 smtClean="0"/>
                <a:t>The</a:t>
              </a:r>
            </a:p>
            <a:p>
              <a:pPr algn="ctr"/>
              <a:r>
                <a:rPr lang="en-US" sz="1800" dirty="0"/>
                <a:t>Optimization </a:t>
              </a:r>
            </a:p>
            <a:p>
              <a:pPr algn="ctr"/>
              <a:r>
                <a:rPr lang="en-US" sz="1800" dirty="0"/>
                <a:t>Algorithm</a:t>
              </a:r>
            </a:p>
          </p:txBody>
        </p:sp>
        <p:sp>
          <p:nvSpPr>
            <p:cNvPr id="19" name="AutoShape 7"/>
            <p:cNvSpPr>
              <a:spLocks noChangeArrowheads="1"/>
            </p:cNvSpPr>
            <p:nvPr/>
          </p:nvSpPr>
          <p:spPr bwMode="auto">
            <a:xfrm>
              <a:off x="7391400" y="5486400"/>
              <a:ext cx="1600200" cy="8382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 err="1"/>
                <a:t>QoS</a:t>
              </a:r>
              <a:r>
                <a:rPr lang="en-US" sz="1800" dirty="0"/>
                <a:t>-Enabled</a:t>
              </a:r>
              <a:endParaRPr lang="en-US" sz="1800" dirty="0" smtClean="0"/>
            </a:p>
            <a:p>
              <a:pPr algn="ctr"/>
              <a:r>
                <a:rPr lang="en-US" dirty="0" smtClean="0"/>
                <a:t>Controller</a:t>
              </a:r>
              <a:endParaRPr lang="en-US" dirty="0"/>
            </a:p>
          </p:txBody>
        </p:sp>
        <p:sp>
          <p:nvSpPr>
            <p:cNvPr id="20" name="AutoShape 9"/>
            <p:cNvSpPr>
              <a:spLocks noChangeArrowheads="1"/>
            </p:cNvSpPr>
            <p:nvPr/>
          </p:nvSpPr>
          <p:spPr bwMode="auto">
            <a:xfrm>
              <a:off x="304800" y="5562600"/>
              <a:ext cx="1600200" cy="8382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 err="1"/>
                <a:t>QoS</a:t>
              </a:r>
              <a:r>
                <a:rPr lang="en-US" sz="1800" dirty="0"/>
                <a:t>-Enabled</a:t>
              </a:r>
              <a:endParaRPr lang="en-US" sz="1800" dirty="0" smtClean="0"/>
            </a:p>
            <a:p>
              <a:pPr algn="ctr"/>
              <a:r>
                <a:rPr lang="en-US" dirty="0" smtClean="0"/>
                <a:t>Controller</a:t>
              </a:r>
              <a:endParaRPr lang="en-US" dirty="0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5473700" y="5562600"/>
              <a:ext cx="17653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/>
                <a:t>Opt. Share of 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/>
                <a:t>Bandwidth</a:t>
              </a:r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1830387" y="5486400"/>
              <a:ext cx="2132013" cy="822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/>
                <a:t>MAC Parameters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Channel Rate</a:t>
              </a:r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>
              <a:off x="1904999" y="5943600"/>
              <a:ext cx="2209801" cy="0"/>
            </a:xfrm>
            <a:prstGeom prst="line">
              <a:avLst/>
            </a:prstGeom>
            <a:noFill/>
            <a:ln w="50800">
              <a:solidFill>
                <a:schemeClr val="accent4"/>
              </a:solidFill>
              <a:prstDash val="dash"/>
              <a:miter lim="800000"/>
              <a:headEnd/>
              <a:tailEnd type="arrow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auto">
            <a:xfrm flipH="1" flipV="1">
              <a:off x="5562600" y="5943600"/>
              <a:ext cx="1828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olid"/>
              <a:miter lim="800000"/>
              <a:headEnd type="arrow" w="lg" len="lg"/>
              <a:tailEnd type="none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153400" cy="4495800"/>
          </a:xfrm>
        </p:spPr>
        <p:txBody>
          <a:bodyPr/>
          <a:lstStyle/>
          <a:p>
            <a:r>
              <a:rPr lang="en-US" dirty="0" smtClean="0"/>
              <a:t>Find Opt. policy                                 </a:t>
            </a:r>
          </a:p>
          <a:p>
            <a:pPr>
              <a:buNone/>
            </a:pPr>
            <a:r>
              <a:rPr lang="en-US" dirty="0" smtClean="0"/>
              <a:t>	such that</a:t>
            </a:r>
          </a:p>
          <a:p>
            <a:pPr>
              <a:buNone/>
            </a:pPr>
            <a:r>
              <a:rPr lang="en-US" dirty="0" smtClean="0"/>
              <a:t>                                    </a:t>
            </a:r>
            <a:r>
              <a:rPr lang="en-US" dirty="0" err="1" smtClean="0"/>
              <a:t>s.t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Capacity </a:t>
            </a:r>
            <a:r>
              <a:rPr lang="en-US" i="1" dirty="0" smtClean="0"/>
              <a:t>B(.)</a:t>
            </a:r>
            <a:r>
              <a:rPr lang="en-US" dirty="0" smtClean="0"/>
              <a:t> is a function of</a:t>
            </a:r>
          </a:p>
          <a:p>
            <a:pPr lvl="1"/>
            <a:r>
              <a:rPr lang="en-US" dirty="0" smtClean="0"/>
              <a:t># of stations, link protocols, channel </a:t>
            </a:r>
            <a:r>
              <a:rPr lang="en-US" dirty="0" smtClean="0"/>
              <a:t>rates</a:t>
            </a:r>
          </a:p>
          <a:p>
            <a:r>
              <a:rPr lang="en-US" dirty="0" smtClean="0"/>
              <a:t>Distortion </a:t>
            </a:r>
            <a:r>
              <a:rPr lang="en-US" i="1" dirty="0" smtClean="0"/>
              <a:t>D(.)</a:t>
            </a:r>
            <a:r>
              <a:rPr lang="en-US" dirty="0" smtClean="0"/>
              <a:t> is a function of</a:t>
            </a:r>
          </a:p>
          <a:p>
            <a:pPr lvl="1"/>
            <a:r>
              <a:rPr lang="en-US" dirty="0" smtClean="0"/>
              <a:t>coding rate, coding power, video characteristics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</a:t>
            </a:r>
            <a:r>
              <a:rPr lang="en-US" dirty="0" smtClean="0"/>
              <a:t>Formulation </a:t>
            </a:r>
            <a:endParaRPr lang="en-US" dirty="0"/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873752" y="2935288"/>
          <a:ext cx="1600200" cy="569912"/>
        </p:xfrm>
        <a:graphic>
          <a:graphicData uri="http://schemas.openxmlformats.org/presentationml/2006/ole">
            <p:oleObj spid="_x0000_s302085" name="Equation" r:id="rId3" imgW="749300" imgH="266700" progId="">
              <p:embed/>
            </p:oleObj>
          </a:graphicData>
        </a:graphic>
      </p:graphicFrame>
      <p:graphicFrame>
        <p:nvGraphicFramePr>
          <p:cNvPr id="302086" name="Object 6"/>
          <p:cNvGraphicFramePr>
            <a:graphicFrameLocks noChangeAspect="1"/>
          </p:cNvGraphicFramePr>
          <p:nvPr/>
        </p:nvGraphicFramePr>
        <p:xfrm>
          <a:off x="3349752" y="1905000"/>
          <a:ext cx="2924175" cy="652462"/>
        </p:xfrm>
        <a:graphic>
          <a:graphicData uri="http://schemas.openxmlformats.org/presentationml/2006/ole">
            <p:oleObj spid="_x0000_s302086" name="Equation" r:id="rId4" imgW="1193800" imgH="266700" progId="">
              <p:embed/>
            </p:oleObj>
          </a:graphicData>
        </a:graphic>
      </p:graphicFrame>
      <p:graphicFrame>
        <p:nvGraphicFramePr>
          <p:cNvPr id="302087" name="Object 7"/>
          <p:cNvGraphicFramePr>
            <a:graphicFrameLocks noChangeAspect="1"/>
          </p:cNvGraphicFramePr>
          <p:nvPr/>
        </p:nvGraphicFramePr>
        <p:xfrm>
          <a:off x="1063752" y="2895600"/>
          <a:ext cx="2590800" cy="681038"/>
        </p:xfrm>
        <a:graphic>
          <a:graphicData uri="http://schemas.openxmlformats.org/presentationml/2006/ole">
            <p:oleObj spid="_x0000_s302087" name="Equation" r:id="rId5" imgW="1206500" imgH="317500" progId="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73952" y="1828800"/>
            <a:ext cx="233667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r</a:t>
            </a:r>
            <a:r>
              <a:rPr lang="en-US" sz="2400" i="1" baseline="-25000" dirty="0" err="1" smtClean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: coding rate</a:t>
            </a:r>
          </a:p>
          <a:p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US" sz="2400" i="1" baseline="-25000" dirty="0" err="1" smtClean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 : b/w share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Formulation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Formulation </a:t>
            </a:r>
            <a:r>
              <a:rPr lang="en-US" i="1" dirty="0" smtClean="0"/>
              <a:t>PG </a:t>
            </a:r>
            <a:r>
              <a:rPr lang="en-US" dirty="0" smtClean="0"/>
              <a:t>is general</a:t>
            </a:r>
          </a:p>
          <a:p>
            <a:pPr lvl="1"/>
            <a:r>
              <a:rPr lang="en-US" dirty="0" smtClean="0"/>
              <a:t>any </a:t>
            </a:r>
            <a:r>
              <a:rPr lang="en-US" i="1" dirty="0" smtClean="0"/>
              <a:t>D(.)</a:t>
            </a:r>
            <a:r>
              <a:rPr lang="en-US" dirty="0" smtClean="0"/>
              <a:t> and </a:t>
            </a:r>
            <a:r>
              <a:rPr lang="en-US" i="1" dirty="0" smtClean="0"/>
              <a:t>B(.)</a:t>
            </a:r>
            <a:r>
              <a:rPr lang="en-US" dirty="0" smtClean="0"/>
              <a:t> can be adopted</a:t>
            </a:r>
          </a:p>
          <a:p>
            <a:pPr lvl="1"/>
            <a:r>
              <a:rPr lang="en-US" dirty="0" smtClean="0"/>
              <a:t>can be numerically or analytically solved</a:t>
            </a:r>
          </a:p>
          <a:p>
            <a:r>
              <a:rPr lang="en-US" dirty="0" smtClean="0"/>
              <a:t> Different objective functions</a:t>
            </a:r>
          </a:p>
          <a:p>
            <a:pPr lvl="1"/>
            <a:r>
              <a:rPr lang="en-US" dirty="0" smtClean="0"/>
              <a:t>MMSE: minimizing average mean-square error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MMAX: minimizing maximum distortion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03106" name="Object 2"/>
          <p:cNvGraphicFramePr>
            <a:graphicFrameLocks noChangeAspect="1"/>
          </p:cNvGraphicFramePr>
          <p:nvPr/>
        </p:nvGraphicFramePr>
        <p:xfrm>
          <a:off x="2819400" y="4191000"/>
          <a:ext cx="2819400" cy="741130"/>
        </p:xfrm>
        <a:graphic>
          <a:graphicData uri="http://schemas.openxmlformats.org/presentationml/2006/ole">
            <p:oleObj spid="_x0000_s303106" name="Equation" r:id="rId3" imgW="1206500" imgH="317500" progId="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819400" y="5638800"/>
          <a:ext cx="2895600" cy="579120"/>
        </p:xfrm>
        <a:graphic>
          <a:graphicData uri="http://schemas.openxmlformats.org/presentationml/2006/ole">
            <p:oleObj spid="_x0000_s303108" name="Equation" r:id="rId4" imgW="1270000" imgH="254000" progId="Equation.3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3154680"/>
            <a:ext cx="7696200" cy="3093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Instantiate PG for 802.11e WLAN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802.11e is a supplement for supporting </a:t>
            </a:r>
            <a:r>
              <a:rPr lang="en-US" dirty="0" err="1" smtClean="0"/>
              <a:t>QoS</a:t>
            </a:r>
            <a:endParaRPr lang="en-US" dirty="0" smtClean="0"/>
          </a:p>
          <a:p>
            <a:r>
              <a:rPr lang="en-US" dirty="0" smtClean="0"/>
              <a:t>Why 802.11e?</a:t>
            </a:r>
          </a:p>
          <a:p>
            <a:pPr lvl="1"/>
            <a:r>
              <a:rPr lang="en-US" dirty="0" smtClean="0"/>
              <a:t>widely deployed, </a:t>
            </a:r>
            <a:r>
              <a:rPr lang="en-US" dirty="0" err="1" smtClean="0"/>
              <a:t>QoS</a:t>
            </a:r>
            <a:r>
              <a:rPr lang="en-US" dirty="0" smtClean="0"/>
              <a:t> differentiation, more challenging than TDMA networks</a:t>
            </a:r>
          </a:p>
          <a:p>
            <a:r>
              <a:rPr lang="en-US" dirty="0" smtClean="0"/>
              <a:t>802.11e supports two </a:t>
            </a:r>
            <a:r>
              <a:rPr lang="en-US" dirty="0" smtClean="0"/>
              <a:t>modes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EDCA</a:t>
            </a:r>
            <a:r>
              <a:rPr lang="en-US" dirty="0" smtClean="0"/>
              <a:t>: distributed contention-based</a:t>
            </a:r>
          </a:p>
          <a:p>
            <a:pPr lvl="1"/>
            <a:r>
              <a:rPr lang="en-US" dirty="0" smtClean="0"/>
              <a:t>HCCA: polling-based contention-free</a:t>
            </a:r>
          </a:p>
          <a:p>
            <a:r>
              <a:rPr lang="en-US" dirty="0" smtClean="0"/>
              <a:t>Why EDCA?</a:t>
            </a:r>
          </a:p>
          <a:p>
            <a:pPr lvl="1"/>
            <a:r>
              <a:rPr lang="en-US" dirty="0" smtClean="0"/>
              <a:t>simple, commonly implemented, higher b/w utilization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EDCA Overview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QoS</a:t>
            </a:r>
            <a:r>
              <a:rPr lang="en-US" dirty="0" smtClean="0"/>
              <a:t> differentiation: several Access Categories (</a:t>
            </a:r>
            <a:r>
              <a:rPr lang="en-US" dirty="0" err="1" smtClean="0"/>
              <a:t>ACs</a:t>
            </a:r>
            <a:r>
              <a:rPr lang="en-US" dirty="0" smtClean="0"/>
              <a:t>)</a:t>
            </a:r>
          </a:p>
          <a:p>
            <a:r>
              <a:rPr lang="en-US" dirty="0" smtClean="0"/>
              <a:t> Each AC is assigned different back-off parameters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800" y="3810000"/>
          <a:ext cx="715975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50"/>
                <a:gridCol w="1431950"/>
                <a:gridCol w="1431950"/>
                <a:gridCol w="1431950"/>
                <a:gridCol w="1431950"/>
              </a:tblGrid>
              <a:tr h="393424">
                <a:tc>
                  <a:txBody>
                    <a:bodyPr/>
                    <a:lstStyle/>
                    <a:p>
                      <a:r>
                        <a:rPr lang="en-US" dirty="0" smtClean="0"/>
                        <a:t>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Video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Best-Effort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Background</a:t>
                      </a:r>
                      <a:endParaRPr lang="en-US" dirty="0"/>
                    </a:p>
                  </a:txBody>
                  <a:tcPr/>
                </a:tc>
              </a:tr>
              <a:tr h="377894">
                <a:tc>
                  <a:txBody>
                    <a:bodyPr/>
                    <a:lstStyle/>
                    <a:p>
                      <a:r>
                        <a:rPr lang="en-US" dirty="0" smtClean="0"/>
                        <a:t>AIFS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789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CWmin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789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CWmax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1023</a:t>
                      </a:r>
                      <a:endParaRPr lang="en-US" dirty="0"/>
                    </a:p>
                  </a:txBody>
                  <a:tcPr/>
                </a:tc>
              </a:tr>
              <a:tr h="377894">
                <a:tc>
                  <a:txBody>
                    <a:bodyPr/>
                    <a:lstStyle/>
                    <a:p>
                      <a:r>
                        <a:rPr lang="en-US" dirty="0" smtClean="0"/>
                        <a:t>TXOP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EDCA Overview (cont.)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AIFS: Arbitration Inter Frame Space</a:t>
            </a:r>
          </a:p>
          <a:p>
            <a:r>
              <a:rPr lang="en-US" dirty="0" smtClean="0"/>
              <a:t>CW: Contention Window</a:t>
            </a:r>
          </a:p>
          <a:p>
            <a:r>
              <a:rPr lang="en-US" dirty="0" smtClean="0"/>
              <a:t>TXOP: Transmission Opportunity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4212" y="4117034"/>
            <a:ext cx="1676400" cy="89255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Medium </a:t>
            </a:r>
          </a:p>
          <a:p>
            <a:pPr algn="ctr"/>
            <a:r>
              <a:rPr lang="en-US" sz="2600" b="1" dirty="0" smtClean="0"/>
              <a:t>is Busy</a:t>
            </a:r>
            <a:endParaRPr lang="en-US" sz="2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732212" y="4117034"/>
            <a:ext cx="2667000" cy="89255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Back-off </a:t>
            </a:r>
          </a:p>
          <a:p>
            <a:pPr algn="ctr"/>
            <a:r>
              <a:rPr lang="en-US" sz="2600" b="1" dirty="0" smtClean="0"/>
              <a:t>Time</a:t>
            </a:r>
            <a:endParaRPr lang="en-US" sz="2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399212" y="4117034"/>
            <a:ext cx="2057400" cy="89255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Trans-mission</a:t>
            </a:r>
            <a:endParaRPr lang="en-US" sz="2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589212" y="3579169"/>
            <a:ext cx="896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alisto MT"/>
              </a:rPr>
              <a:t>AIFS</a:t>
            </a:r>
            <a:endParaRPr lang="en-US" sz="2400" dirty="0">
              <a:latin typeface="Calisto M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6412" y="3579169"/>
            <a:ext cx="1035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alisto MT"/>
              </a:rPr>
              <a:t>TXOP</a:t>
            </a:r>
            <a:endParaRPr lang="en-US" sz="2400" dirty="0">
              <a:latin typeface="Calisto MT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rot="5400000" flipH="1" flipV="1">
            <a:off x="1407394" y="4458422"/>
            <a:ext cx="1906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 flipH="1" flipV="1">
            <a:off x="2779787" y="4457626"/>
            <a:ext cx="1906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5446787" y="4458423"/>
            <a:ext cx="1906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7504187" y="4533826"/>
            <a:ext cx="1906438" cy="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361407" y="4117034"/>
            <a:ext cx="1370805" cy="1588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733800" y="4118622"/>
            <a:ext cx="2667000" cy="1588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115446"/>
            <a:ext cx="2055812" cy="1588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2590800" y="5009586"/>
            <a:ext cx="2608406" cy="1597966"/>
            <a:chOff x="2590800" y="5009586"/>
            <a:chExt cx="2608406" cy="1597966"/>
          </a:xfrm>
        </p:grpSpPr>
        <p:sp>
          <p:nvSpPr>
            <p:cNvPr id="27" name="TextBox 26"/>
            <p:cNvSpPr txBox="1"/>
            <p:nvPr/>
          </p:nvSpPr>
          <p:spPr>
            <a:xfrm>
              <a:off x="2590800" y="5715000"/>
              <a:ext cx="2608406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 smtClean="0"/>
                <a:t>Random Back-off </a:t>
              </a:r>
            </a:p>
            <a:p>
              <a:pPr algn="ctr"/>
              <a:r>
                <a:rPr lang="en-US" sz="2600" dirty="0" smtClean="0"/>
                <a:t>T</a:t>
              </a:r>
              <a:r>
                <a:rPr lang="en-US" sz="2600" dirty="0" smtClean="0"/>
                <a:t>ime from CW</a:t>
              </a:r>
              <a:endParaRPr lang="en-US" sz="2600" dirty="0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3235801" y="5259547"/>
              <a:ext cx="746372" cy="246450"/>
            </a:xfrm>
            <a:prstGeom prst="straightConnector1">
              <a:avLst/>
            </a:prstGeom>
            <a:ln w="101600">
              <a:solidFill>
                <a:srgbClr val="FFFF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5180012" y="5044828"/>
            <a:ext cx="1969660" cy="1584572"/>
            <a:chOff x="5180012" y="5044828"/>
            <a:chExt cx="1969660" cy="1584572"/>
          </a:xfrm>
        </p:grpSpPr>
        <p:sp>
          <p:nvSpPr>
            <p:cNvPr id="28" name="TextBox 27"/>
            <p:cNvSpPr txBox="1"/>
            <p:nvPr/>
          </p:nvSpPr>
          <p:spPr>
            <a:xfrm>
              <a:off x="5180012" y="5736848"/>
              <a:ext cx="1969660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 smtClean="0"/>
                <a:t>Start</a:t>
              </a:r>
            </a:p>
            <a:p>
              <a:pPr algn="ctr"/>
              <a:r>
                <a:rPr lang="en-US" sz="2600" dirty="0" smtClean="0"/>
                <a:t>Transmission</a:t>
              </a:r>
              <a:endParaRPr lang="en-US" sz="2600" dirty="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5400000" flipH="1" flipV="1">
              <a:off x="5826601" y="5294789"/>
              <a:ext cx="746372" cy="246450"/>
            </a:xfrm>
            <a:prstGeom prst="straightConnector1">
              <a:avLst/>
            </a:prstGeom>
            <a:ln w="101600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198479" y="5009586"/>
            <a:ext cx="1314533" cy="1638924"/>
            <a:chOff x="1198479" y="5009586"/>
            <a:chExt cx="1314533" cy="1638924"/>
          </a:xfrm>
        </p:grpSpPr>
        <p:sp>
          <p:nvSpPr>
            <p:cNvPr id="26" name="TextBox 25"/>
            <p:cNvSpPr txBox="1"/>
            <p:nvPr/>
          </p:nvSpPr>
          <p:spPr>
            <a:xfrm>
              <a:off x="1198479" y="5755958"/>
              <a:ext cx="131453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 smtClean="0"/>
                <a:t>Medium </a:t>
              </a:r>
            </a:p>
            <a:p>
              <a:pPr algn="ctr"/>
              <a:r>
                <a:rPr lang="en-US" sz="2600" dirty="0" smtClean="0"/>
                <a:t>is idle</a:t>
              </a:r>
              <a:endParaRPr lang="en-US" sz="26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rot="5400000" flipH="1" flipV="1">
              <a:off x="1863408" y="5259547"/>
              <a:ext cx="746372" cy="246450"/>
            </a:xfrm>
            <a:prstGeom prst="straightConnector1">
              <a:avLst/>
            </a:prstGeom>
            <a:ln w="1016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Per-Station </a:t>
            </a:r>
            <a:r>
              <a:rPr lang="en-US" dirty="0" err="1" smtClean="0"/>
              <a:t>QoS</a:t>
            </a:r>
            <a:r>
              <a:rPr lang="en-US" dirty="0" smtClean="0"/>
              <a:t> Differentiation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Assign different EDCA parameters to stations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CW, AIFS      , then frequency      and bandwidth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TXOP      , then transmission time      and bandwidth</a:t>
            </a:r>
          </a:p>
          <a:p>
            <a:endParaRPr lang="en-US" dirty="0" smtClean="0"/>
          </a:p>
          <a:p>
            <a:r>
              <a:rPr lang="en-US" dirty="0" smtClean="0"/>
              <a:t>But, how we choose the EDCA parameters to achieve a given bandwidth share?</a:t>
            </a:r>
          </a:p>
          <a:p>
            <a:r>
              <a:rPr lang="en-US" dirty="0" smtClean="0"/>
              <a:t>More importantly, how can we estimate overhead &amp; collisions</a:t>
            </a:r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2633664" y="2551906"/>
            <a:ext cx="533400" cy="1588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6200000" flipV="1">
            <a:off x="5295503" y="2552302"/>
            <a:ext cx="533400" cy="794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6200000" flipV="1">
            <a:off x="7810897" y="2476103"/>
            <a:ext cx="533400" cy="794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V="1">
            <a:off x="2247503" y="3200003"/>
            <a:ext cx="533400" cy="794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V="1">
            <a:off x="5828903" y="3200003"/>
            <a:ext cx="533400" cy="794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6200000" flipV="1">
            <a:off x="8191897" y="3200003"/>
            <a:ext cx="533400" cy="794"/>
          </a:xfrm>
          <a:prstGeom prst="straightConnector1">
            <a:avLst/>
          </a:prstGeom>
          <a:ln w="63500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Airtime and Efficient Airtime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Bandwidth allocation == </a:t>
            </a:r>
            <a:r>
              <a:rPr lang="en-US" dirty="0" smtClean="0">
                <a:solidFill>
                  <a:srgbClr val="FF0000"/>
                </a:solidFill>
              </a:rPr>
              <a:t>airtime allocation</a:t>
            </a:r>
          </a:p>
          <a:p>
            <a:r>
              <a:rPr lang="en-US" b="1" dirty="0" smtClean="0"/>
              <a:t>Airtime</a:t>
            </a:r>
            <a:r>
              <a:rPr lang="en-US" dirty="0" smtClean="0"/>
              <a:t>: let                    be the fraction of time allocated to station </a:t>
            </a:r>
            <a:r>
              <a:rPr lang="en-US" i="1" dirty="0" err="1" smtClean="0"/>
              <a:t>s</a:t>
            </a:r>
            <a:endParaRPr lang="en-US" i="1" dirty="0" smtClean="0"/>
          </a:p>
          <a:p>
            <a:pPr lvl="1"/>
            <a:r>
              <a:rPr lang="en-US" i="1" dirty="0" err="1" smtClean="0"/>
              <a:t>r</a:t>
            </a:r>
            <a:r>
              <a:rPr lang="en-US" i="1" baseline="-25000" dirty="0" err="1" smtClean="0"/>
              <a:t>s</a:t>
            </a:r>
            <a:r>
              <a:rPr lang="en-US" dirty="0" smtClean="0"/>
              <a:t>: application (streaming) rate</a:t>
            </a:r>
            <a:endParaRPr lang="en-US" i="1" dirty="0" smtClean="0"/>
          </a:p>
          <a:p>
            <a:pPr lvl="1"/>
            <a:r>
              <a:rPr lang="en-US" i="1" dirty="0" err="1" smtClean="0"/>
              <a:t>y</a:t>
            </a:r>
            <a:r>
              <a:rPr lang="en-US" i="1" baseline="-25000" dirty="0" err="1" smtClean="0"/>
              <a:t>s</a:t>
            </a:r>
            <a:r>
              <a:rPr lang="en-US" dirty="0" smtClean="0"/>
              <a:t>: channel rate</a:t>
            </a:r>
          </a:p>
          <a:p>
            <a:r>
              <a:rPr lang="en-US" b="1" dirty="0" smtClean="0"/>
              <a:t>Effective Airtime</a:t>
            </a:r>
            <a:r>
              <a:rPr lang="en-US" dirty="0" smtClean="0"/>
              <a:t>:                     the fraction of time when the shared medium transmits real data</a:t>
            </a:r>
          </a:p>
          <a:p>
            <a:pPr lvl="1"/>
            <a:r>
              <a:rPr lang="en-US" dirty="0" smtClean="0"/>
              <a:t>overhead and collisions are deducted </a:t>
            </a:r>
            <a:endParaRPr lang="en-US" dirty="0"/>
          </a:p>
        </p:txBody>
      </p:sp>
      <p:graphicFrame>
        <p:nvGraphicFramePr>
          <p:cNvPr id="312322" name="Object 2"/>
          <p:cNvGraphicFramePr>
            <a:graphicFrameLocks noChangeAspect="1"/>
          </p:cNvGraphicFramePr>
          <p:nvPr/>
        </p:nvGraphicFramePr>
        <p:xfrm>
          <a:off x="2889250" y="2133600"/>
          <a:ext cx="1682750" cy="550863"/>
        </p:xfrm>
        <a:graphic>
          <a:graphicData uri="http://schemas.openxmlformats.org/presentationml/2006/ole">
            <p:oleObj spid="_x0000_s312322" name="Equation" r:id="rId4" imgW="622300" imgH="203200" progId="">
              <p:embed/>
            </p:oleObj>
          </a:graphicData>
        </a:graphic>
      </p:graphicFrame>
      <p:graphicFrame>
        <p:nvGraphicFramePr>
          <p:cNvPr id="312323" name="Object 3"/>
          <p:cNvGraphicFramePr>
            <a:graphicFrameLocks noChangeAspect="1"/>
          </p:cNvGraphicFramePr>
          <p:nvPr/>
        </p:nvGraphicFramePr>
        <p:xfrm>
          <a:off x="3886200" y="3962400"/>
          <a:ext cx="1797050" cy="685800"/>
        </p:xfrm>
        <a:graphic>
          <a:graphicData uri="http://schemas.openxmlformats.org/presentationml/2006/ole">
            <p:oleObj spid="_x0000_s312323" name="Equation" r:id="rId5" imgW="698500" imgH="2667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Effective Airtime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p</a:t>
            </a:r>
            <a:r>
              <a:rPr lang="en-US" dirty="0" smtClean="0"/>
              <a:t>-persistent EDCA Analysis 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[</a:t>
            </a:r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</a:rPr>
              <a:t>Ge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 et. Al 07]</a:t>
            </a:r>
            <a:endParaRPr lang="en-US" sz="1800" dirty="0" smtClean="0"/>
          </a:p>
          <a:p>
            <a:pPr lvl="1"/>
            <a:r>
              <a:rPr lang="en-US" dirty="0" smtClean="0"/>
              <a:t>wireless station draws the back-off time from a geometric distribution with parameter </a:t>
            </a:r>
            <a:r>
              <a:rPr lang="en-US" i="1" dirty="0" err="1" smtClean="0"/>
              <a:t>p</a:t>
            </a:r>
            <a:endParaRPr lang="en-US" i="1" dirty="0" smtClean="0"/>
          </a:p>
          <a:p>
            <a:pPr lvl="1"/>
            <a:r>
              <a:rPr lang="en-US" dirty="0" smtClean="0"/>
              <a:t>stateless, so more tractable</a:t>
            </a:r>
          </a:p>
          <a:p>
            <a:pPr lvl="1"/>
            <a:r>
              <a:rPr lang="en-US" dirty="0" smtClean="0"/>
              <a:t>analysis can be mapped to EDCA using </a:t>
            </a:r>
          </a:p>
          <a:p>
            <a:endParaRPr lang="en-US" sz="1800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 smtClean="0"/>
              <a:t>We develop a closed-form EA model</a:t>
            </a:r>
          </a:p>
          <a:p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705600" y="3338186"/>
          <a:ext cx="1828800" cy="776614"/>
        </p:xfrm>
        <a:graphic>
          <a:graphicData uri="http://schemas.openxmlformats.org/presentationml/2006/ole">
            <p:oleObj spid="_x0000_s314370" name="Equation" r:id="rId4" imgW="927100" imgH="393700" progId="Equation.3">
              <p:embed/>
            </p:oleObj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712912" y="5105400"/>
            <a:ext cx="5486400" cy="990600"/>
            <a:chOff x="838200" y="5105400"/>
            <a:chExt cx="5486400" cy="990600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666999" y="5105400"/>
              <a:ext cx="1789113" cy="99060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600" b="1" dirty="0"/>
                <a:t>EA Model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066800" y="5105400"/>
              <a:ext cx="1324050" cy="82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 smtClean="0"/>
                <a:t>EDCA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Parameters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648200" y="5105400"/>
              <a:ext cx="1158875" cy="822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/>
                <a:t>Effective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Airtime</a:t>
              </a:r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H="1" flipV="1">
              <a:off x="4495800" y="5562600"/>
              <a:ext cx="1828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olid"/>
              <a:miter lim="800000"/>
              <a:headEnd type="arrow" w="lg" len="lg"/>
              <a:tailEnd type="none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 flipH="1" flipV="1">
              <a:off x="838200" y="5562600"/>
              <a:ext cx="1828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olid"/>
              <a:miter lim="800000"/>
              <a:headEnd type="arrow" w="lg" len="lg"/>
              <a:tailEnd type="none" w="lg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Effective Airtime Model (cont.)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ChangeAspect="1"/>
          </p:cNvGraphicFramePr>
          <p:nvPr>
            <p:ph sz="quarter" idx="1"/>
          </p:nvPr>
        </p:nvGraphicFramePr>
        <p:xfrm>
          <a:off x="1143000" y="1752600"/>
          <a:ext cx="6858000" cy="1762125"/>
        </p:xfrm>
        <a:graphic>
          <a:graphicData uri="http://schemas.openxmlformats.org/presentationml/2006/ole">
            <p:oleObj spid="_x0000_s316418" name="Equation" r:id="rId4" imgW="2768600" imgH="7112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4790182"/>
            <a:ext cx="66664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where     is a function of several 802.11 </a:t>
            </a:r>
          </a:p>
          <a:p>
            <a:r>
              <a:rPr lang="en-US" sz="3200" dirty="0" smtClean="0"/>
              <a:t>parameters, such as AIFS.</a:t>
            </a:r>
            <a:endParaRPr lang="en-US" sz="3200" dirty="0"/>
          </a:p>
        </p:txBody>
      </p:sp>
      <p:graphicFrame>
        <p:nvGraphicFramePr>
          <p:cNvPr id="316419" name="Content Placeholder 4"/>
          <p:cNvGraphicFramePr>
            <a:graphicFrameLocks noChangeAspect="1"/>
          </p:cNvGraphicFramePr>
          <p:nvPr/>
        </p:nvGraphicFramePr>
        <p:xfrm>
          <a:off x="2286000" y="4953000"/>
          <a:ext cx="282575" cy="346075"/>
        </p:xfrm>
        <a:graphic>
          <a:graphicData uri="http://schemas.openxmlformats.org/presentationml/2006/ole">
            <p:oleObj spid="_x0000_s316419" name="Equation" r:id="rId5" imgW="114300" imgH="139700" progId="Equation.3">
              <p:embed/>
            </p:oleObj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1841111" y="3374648"/>
            <a:ext cx="1511689" cy="1349752"/>
            <a:chOff x="1841111" y="3374648"/>
            <a:chExt cx="1511689" cy="1349752"/>
          </a:xfrm>
        </p:grpSpPr>
        <p:cxnSp>
          <p:nvCxnSpPr>
            <p:cNvPr id="12" name="Straight Arrow Connector 11"/>
            <p:cNvCxnSpPr/>
            <p:nvPr/>
          </p:nvCxnSpPr>
          <p:spPr>
            <a:xfrm rot="16200000" flipV="1">
              <a:off x="2247503" y="3640951"/>
              <a:ext cx="533400" cy="794"/>
            </a:xfrm>
            <a:prstGeom prst="straightConnector1">
              <a:avLst/>
            </a:prstGeom>
            <a:ln w="63500"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841111" y="3831848"/>
              <a:ext cx="1511689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b="1" dirty="0" smtClean="0">
                  <a:solidFill>
                    <a:srgbClr val="FF6600"/>
                  </a:solidFill>
                </a:rPr>
                <a:t>relatively </a:t>
              </a:r>
            </a:p>
            <a:p>
              <a:pPr algn="ctr"/>
              <a:r>
                <a:rPr lang="en-US" sz="2600" b="1" dirty="0" smtClean="0">
                  <a:solidFill>
                    <a:srgbClr val="FF6600"/>
                  </a:solidFill>
                </a:rPr>
                <a:t>small</a:t>
              </a:r>
              <a:endParaRPr lang="en-US" sz="2600" b="1" dirty="0">
                <a:solidFill>
                  <a:srgbClr val="FF66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980386" y="3514725"/>
            <a:ext cx="810814" cy="1025843"/>
            <a:chOff x="4927799" y="3514725"/>
            <a:chExt cx="810814" cy="1025843"/>
          </a:xfrm>
        </p:grpSpPr>
        <p:cxnSp>
          <p:nvCxnSpPr>
            <p:cNvPr id="14" name="Straight Arrow Connector 13"/>
            <p:cNvCxnSpPr/>
            <p:nvPr/>
          </p:nvCxnSpPr>
          <p:spPr>
            <a:xfrm rot="16200000" flipV="1">
              <a:off x="5066903" y="3781028"/>
              <a:ext cx="533400" cy="794"/>
            </a:xfrm>
            <a:prstGeom prst="straightConnector1">
              <a:avLst/>
            </a:prstGeom>
            <a:ln w="63500"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927799" y="4048125"/>
              <a:ext cx="81081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b="1" dirty="0" smtClean="0">
                  <a:solidFill>
                    <a:srgbClr val="FF6600"/>
                  </a:solidFill>
                </a:rPr>
                <a:t>&gt;= 1</a:t>
              </a:r>
              <a:endParaRPr lang="en-US" sz="2600" b="1" dirty="0">
                <a:solidFill>
                  <a:srgbClr val="FF6600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911350" y="1828800"/>
            <a:ext cx="1289050" cy="297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Effective Airtime Model (cont.)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7" name="Picture 16" descr="rh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516698"/>
            <a:ext cx="5715000" cy="42140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5867400"/>
            <a:ext cx="673313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It is indeed small and can be dropped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802.11e Formulation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 lvl="2">
              <a:spcBef>
                <a:spcPts val="1000"/>
              </a:spcBef>
              <a:buNone/>
            </a:pPr>
            <a:r>
              <a:rPr lang="en-US" dirty="0" smtClean="0"/>
              <a:t>                          </a:t>
            </a:r>
            <a:r>
              <a:rPr lang="en-US" sz="3000" i="1" dirty="0" err="1" smtClean="0"/>
              <a:t>s.t</a:t>
            </a:r>
            <a:r>
              <a:rPr lang="en-US" sz="3000" i="1" dirty="0" smtClean="0"/>
              <a:t>.</a:t>
            </a:r>
          </a:p>
          <a:p>
            <a:pPr lvl="2">
              <a:spcBef>
                <a:spcPts val="1000"/>
              </a:spcBef>
              <a:buNone/>
            </a:pPr>
            <a:endParaRPr lang="en-US" sz="3000" i="1" dirty="0" smtClean="0"/>
          </a:p>
          <a:p>
            <a:pPr lvl="2">
              <a:spcBef>
                <a:spcPts val="1000"/>
              </a:spcBef>
              <a:buNone/>
            </a:pPr>
            <a:r>
              <a:rPr lang="en-US" sz="3000" i="1" dirty="0" smtClean="0"/>
              <a:t>                where</a:t>
            </a:r>
          </a:p>
          <a:p>
            <a:pPr lvl="2">
              <a:buNone/>
            </a:pPr>
            <a:endParaRPr lang="en-US" sz="3000" i="1" dirty="0" smtClean="0"/>
          </a:p>
          <a:p>
            <a:pPr>
              <a:buFont typeface="Wingdings" charset="2"/>
              <a:buChar char="q"/>
            </a:pPr>
            <a:r>
              <a:rPr lang="en-US" sz="3600" dirty="0" smtClean="0"/>
              <a:t>But, what is </a:t>
            </a:r>
            <a:r>
              <a:rPr lang="en-US" sz="3600" i="1" dirty="0" smtClean="0"/>
              <a:t>D(.)</a:t>
            </a:r>
            <a:r>
              <a:rPr lang="en-US" sz="3600" dirty="0" smtClean="0"/>
              <a:t>?</a:t>
            </a:r>
          </a:p>
        </p:txBody>
      </p:sp>
      <p:graphicFrame>
        <p:nvGraphicFramePr>
          <p:cNvPr id="319490" name="Object 2"/>
          <p:cNvGraphicFramePr>
            <a:graphicFrameLocks noChangeAspect="1"/>
          </p:cNvGraphicFramePr>
          <p:nvPr/>
        </p:nvGraphicFramePr>
        <p:xfrm>
          <a:off x="2819400" y="1676400"/>
          <a:ext cx="3505200" cy="749300"/>
        </p:xfrm>
        <a:graphic>
          <a:graphicData uri="http://schemas.openxmlformats.org/presentationml/2006/ole">
            <p:oleObj spid="_x0000_s319490" name="Equation" r:id="rId4" imgW="1485900" imgH="317500" progId="">
              <p:embed/>
            </p:oleObj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/>
        </p:nvGraphicFramePr>
        <p:xfrm>
          <a:off x="3943350" y="2552700"/>
          <a:ext cx="2000250" cy="1333500"/>
        </p:xfrm>
        <a:graphic>
          <a:graphicData uri="http://schemas.openxmlformats.org/presentationml/2006/ole">
            <p:oleObj spid="_x0000_s319491" name="Equation" r:id="rId5" imgW="800100" imgH="533400" progId="">
              <p:embed/>
            </p:oleObj>
          </a:graphicData>
        </a:graphic>
      </p:graphicFrame>
      <p:graphicFrame>
        <p:nvGraphicFramePr>
          <p:cNvPr id="319492" name="Object 4"/>
          <p:cNvGraphicFramePr>
            <a:graphicFrameLocks noChangeAspect="1"/>
          </p:cNvGraphicFramePr>
          <p:nvPr/>
        </p:nvGraphicFramePr>
        <p:xfrm>
          <a:off x="3962400" y="3968750"/>
          <a:ext cx="4419600" cy="527050"/>
        </p:xfrm>
        <a:graphic>
          <a:graphicData uri="http://schemas.openxmlformats.org/presentationml/2006/ole">
            <p:oleObj spid="_x0000_s319492" name="Equation" r:id="rId6" imgW="1701800" imgH="20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MPEG-4 P-R-D Model </a:t>
            </a:r>
            <a:r>
              <a:rPr lang="en-US" sz="1800" dirty="0" smtClean="0">
                <a:solidFill>
                  <a:schemeClr val="accent3">
                    <a:lumMod val="75000"/>
                  </a:schemeClr>
                </a:solidFill>
              </a:rPr>
              <a:t>[He et al. 05’]</a:t>
            </a:r>
            <a:endParaRPr lang="en-US" sz="1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Distortion</a:t>
            </a:r>
          </a:p>
          <a:p>
            <a:pPr lvl="1"/>
            <a:r>
              <a:rPr lang="en-US" dirty="0" smtClean="0"/>
              <a:t>       : video sequence variance</a:t>
            </a:r>
          </a:p>
          <a:p>
            <a:pPr lvl="1"/>
            <a:r>
              <a:rPr lang="en-US" dirty="0" smtClean="0"/>
              <a:t>       : coder efficiency</a:t>
            </a:r>
          </a:p>
          <a:p>
            <a:pPr lvl="1"/>
            <a:r>
              <a:rPr lang="en-US" dirty="0" smtClean="0"/>
              <a:t>       : power consumption </a:t>
            </a:r>
          </a:p>
          <a:p>
            <a:endParaRPr lang="en-US" dirty="0" smtClean="0"/>
          </a:p>
          <a:p>
            <a:r>
              <a:rPr lang="en-US" dirty="0" smtClean="0"/>
              <a:t>For convenience, we let</a:t>
            </a:r>
          </a:p>
          <a:p>
            <a:pPr lvl="1"/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 </a:t>
            </a:r>
          </a:p>
        </p:txBody>
      </p:sp>
      <p:graphicFrame>
        <p:nvGraphicFramePr>
          <p:cNvPr id="321538" name="Object 2"/>
          <p:cNvGraphicFramePr>
            <a:graphicFrameLocks noChangeAspect="1"/>
          </p:cNvGraphicFramePr>
          <p:nvPr/>
        </p:nvGraphicFramePr>
        <p:xfrm>
          <a:off x="2667000" y="1487488"/>
          <a:ext cx="2514600" cy="646112"/>
        </p:xfrm>
        <a:graphic>
          <a:graphicData uri="http://schemas.openxmlformats.org/presentationml/2006/ole">
            <p:oleObj spid="_x0000_s321538" name="Equation" r:id="rId4" imgW="990600" imgH="254000" progId="">
              <p:embed/>
            </p:oleObj>
          </a:graphicData>
        </a:graphic>
      </p:graphicFrame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1430337" y="2133600"/>
          <a:ext cx="474663" cy="533400"/>
        </p:xfrm>
        <a:graphic>
          <a:graphicData uri="http://schemas.openxmlformats.org/presentationml/2006/ole">
            <p:oleObj spid="_x0000_s321539" name="Equation" r:id="rId5" imgW="203200" imgH="228600" progId="">
              <p:embed/>
            </p:oleObj>
          </a:graphicData>
        </a:graphic>
      </p:graphicFrame>
      <p:graphicFrame>
        <p:nvGraphicFramePr>
          <p:cNvPr id="321540" name="Object 4"/>
          <p:cNvGraphicFramePr>
            <a:graphicFrameLocks noChangeAspect="1"/>
          </p:cNvGraphicFramePr>
          <p:nvPr/>
        </p:nvGraphicFramePr>
        <p:xfrm>
          <a:off x="1430337" y="2641600"/>
          <a:ext cx="422275" cy="482600"/>
        </p:xfrm>
        <a:graphic>
          <a:graphicData uri="http://schemas.openxmlformats.org/presentationml/2006/ole">
            <p:oleObj spid="_x0000_s321540" name="Equation" r:id="rId6" imgW="177800" imgH="203200" progId="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371600" y="3109119"/>
          <a:ext cx="404812" cy="472281"/>
        </p:xfrm>
        <a:graphic>
          <a:graphicData uri="http://schemas.openxmlformats.org/presentationml/2006/ole">
            <p:oleObj spid="_x0000_s321543" name="Equation" r:id="rId7" imgW="152400" imgH="177800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416050" y="4572000"/>
          <a:ext cx="1327150" cy="558800"/>
        </p:xfrm>
        <a:graphic>
          <a:graphicData uri="http://schemas.openxmlformats.org/presentationml/2006/ole">
            <p:oleObj spid="_x0000_s321544" name="Equation" r:id="rId8" imgW="482600" imgH="203200" progId="Equation.3">
              <p:embed/>
            </p:oleObj>
          </a:graphicData>
        </a:graphic>
      </p:graphicFrame>
      <p:graphicFrame>
        <p:nvGraphicFramePr>
          <p:cNvPr id="321545" name="Object 9"/>
          <p:cNvGraphicFramePr>
            <a:graphicFrameLocks noChangeAspect="1"/>
          </p:cNvGraphicFramePr>
          <p:nvPr/>
        </p:nvGraphicFramePr>
        <p:xfrm>
          <a:off x="1400175" y="5105400"/>
          <a:ext cx="2409825" cy="558800"/>
        </p:xfrm>
        <a:graphic>
          <a:graphicData uri="http://schemas.openxmlformats.org/presentationml/2006/ole">
            <p:oleObj spid="_x0000_s321545" name="Equation" r:id="rId9" imgW="8763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Optimal Solution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Solve it using </a:t>
            </a:r>
            <a:r>
              <a:rPr lang="en-US" dirty="0" err="1" smtClean="0"/>
              <a:t>Lagrangian</a:t>
            </a:r>
            <a:r>
              <a:rPr lang="en-US" dirty="0" smtClean="0"/>
              <a:t> method for closed-form solutions</a:t>
            </a:r>
          </a:p>
          <a:p>
            <a:endParaRPr lang="en-US" dirty="0"/>
          </a:p>
        </p:txBody>
      </p:sp>
      <p:graphicFrame>
        <p:nvGraphicFramePr>
          <p:cNvPr id="323586" name="Object 2"/>
          <p:cNvGraphicFramePr>
            <a:graphicFrameLocks noChangeAspect="1"/>
          </p:cNvGraphicFramePr>
          <p:nvPr/>
        </p:nvGraphicFramePr>
        <p:xfrm>
          <a:off x="450862" y="4419600"/>
          <a:ext cx="3816338" cy="1295400"/>
        </p:xfrm>
        <a:graphic>
          <a:graphicData uri="http://schemas.openxmlformats.org/presentationml/2006/ole">
            <p:oleObj spid="_x0000_s323586" name="Equation" r:id="rId5" imgW="1346200" imgH="457200" progId="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48866" y="2667000"/>
          <a:ext cx="5723334" cy="1752600"/>
        </p:xfrm>
        <a:graphic>
          <a:graphicData uri="http://schemas.openxmlformats.org/presentationml/2006/ole">
            <p:oleObj spid="_x0000_s323587" name="Equation" r:id="rId6" imgW="2654300" imgH="812800" progId="Equation.3">
              <p:embed/>
            </p:oleObj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5943600" y="3058180"/>
            <a:ext cx="3217277" cy="523220"/>
            <a:chOff x="5943600" y="2895600"/>
            <a:chExt cx="3217277" cy="523220"/>
          </a:xfrm>
        </p:grpSpPr>
        <p:sp>
          <p:nvSpPr>
            <p:cNvPr id="7" name="TextBox 6"/>
            <p:cNvSpPr txBox="1"/>
            <p:nvPr/>
          </p:nvSpPr>
          <p:spPr>
            <a:xfrm>
              <a:off x="6781800" y="2895600"/>
              <a:ext cx="23790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</a:rPr>
                <a:t>at base station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rot="10800000">
              <a:off x="5943600" y="3200400"/>
              <a:ext cx="762794" cy="1588"/>
            </a:xfrm>
            <a:prstGeom prst="straightConnector1">
              <a:avLst/>
            </a:prstGeom>
            <a:ln w="63500"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419601" y="4724400"/>
            <a:ext cx="3733799" cy="523220"/>
            <a:chOff x="4419601" y="4724400"/>
            <a:chExt cx="3733799" cy="523220"/>
          </a:xfrm>
        </p:grpSpPr>
        <p:cxnSp>
          <p:nvCxnSpPr>
            <p:cNvPr id="10" name="Straight Arrow Connector 9"/>
            <p:cNvCxnSpPr/>
            <p:nvPr/>
          </p:nvCxnSpPr>
          <p:spPr>
            <a:xfrm rot="10800000">
              <a:off x="4419601" y="5059032"/>
              <a:ext cx="762794" cy="1588"/>
            </a:xfrm>
            <a:prstGeom prst="straightConnector1">
              <a:avLst/>
            </a:prstGeom>
            <a:ln w="63500"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242727" y="4724400"/>
              <a:ext cx="29106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</a:rPr>
                <a:t>at wireless station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Optimal Allocation Algorithm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3819215" y="1676400"/>
            <a:ext cx="1335089" cy="9906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600" b="1" dirty="0" smtClean="0"/>
              <a:t>Base</a:t>
            </a:r>
          </a:p>
          <a:p>
            <a:pPr algn="ctr"/>
            <a:r>
              <a:rPr lang="en-US" sz="2600" b="1" dirty="0" smtClean="0"/>
              <a:t>Station</a:t>
            </a:r>
            <a:endParaRPr lang="en-US" sz="2600" b="1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789470" y="3352800"/>
            <a:ext cx="1335089" cy="990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600" b="1" dirty="0" smtClean="0"/>
              <a:t>Wireless</a:t>
            </a:r>
          </a:p>
          <a:p>
            <a:pPr algn="ctr"/>
            <a:r>
              <a:rPr lang="en-US" sz="2600" b="1" dirty="0" smtClean="0"/>
              <a:t>Station 1</a:t>
            </a:r>
            <a:endParaRPr lang="en-US" sz="2600" b="1" dirty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3819215" y="5029200"/>
            <a:ext cx="1335089" cy="990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600" b="1" dirty="0" smtClean="0"/>
              <a:t>Wireless</a:t>
            </a:r>
          </a:p>
          <a:p>
            <a:pPr algn="ctr"/>
            <a:r>
              <a:rPr lang="en-US" sz="2600" b="1" dirty="0" smtClean="0"/>
              <a:t>Station 2</a:t>
            </a:r>
            <a:endParaRPr lang="en-US" sz="2600" b="1" dirty="0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056126" y="3352800"/>
            <a:ext cx="1335089" cy="990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600" b="1" dirty="0" smtClean="0"/>
              <a:t>Wireless</a:t>
            </a:r>
          </a:p>
          <a:p>
            <a:pPr algn="ctr"/>
            <a:r>
              <a:rPr lang="en-US" sz="2600" b="1" dirty="0" smtClean="0"/>
              <a:t>Station 3</a:t>
            </a:r>
            <a:endParaRPr lang="en-US" sz="26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1990415" y="2374900"/>
            <a:ext cx="5105400" cy="2655094"/>
            <a:chOff x="1752600" y="2374900"/>
            <a:chExt cx="5105400" cy="2655094"/>
          </a:xfrm>
        </p:grpSpPr>
        <p:cxnSp>
          <p:nvCxnSpPr>
            <p:cNvPr id="15" name="Straight Arrow Connector 14"/>
            <p:cNvCxnSpPr/>
            <p:nvPr/>
          </p:nvCxnSpPr>
          <p:spPr>
            <a:xfrm rot="5400000" flipH="1" flipV="1">
              <a:off x="3237706" y="3848100"/>
              <a:ext cx="2362200" cy="15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10800000">
              <a:off x="4956177" y="2438401"/>
              <a:ext cx="1901823" cy="83819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1752600" y="2438400"/>
              <a:ext cx="1694656" cy="8382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Object 26"/>
            <p:cNvGraphicFramePr>
              <a:graphicFrameLocks noChangeAspect="1"/>
            </p:cNvGraphicFramePr>
            <p:nvPr/>
          </p:nvGraphicFramePr>
          <p:xfrm>
            <a:off x="1824348" y="2374900"/>
            <a:ext cx="800100" cy="430213"/>
          </p:xfrm>
          <a:graphic>
            <a:graphicData uri="http://schemas.openxmlformats.org/presentationml/2006/ole">
              <p:oleObj spid="_x0000_s325634" name="Equation" r:id="rId5" imgW="330200" imgH="177800" progId="Equation.3">
                <p:embed/>
              </p:oleObj>
            </a:graphicData>
          </a:graphic>
        </p:graphicFrame>
        <p:graphicFrame>
          <p:nvGraphicFramePr>
            <p:cNvPr id="325635" name="Object 3"/>
            <p:cNvGraphicFramePr>
              <a:graphicFrameLocks noChangeAspect="1"/>
            </p:cNvGraphicFramePr>
            <p:nvPr/>
          </p:nvGraphicFramePr>
          <p:xfrm>
            <a:off x="4432610" y="3505200"/>
            <a:ext cx="890588" cy="430213"/>
          </p:xfrm>
          <a:graphic>
            <a:graphicData uri="http://schemas.openxmlformats.org/presentationml/2006/ole">
              <p:oleObj spid="_x0000_s325635" name="Equation" r:id="rId6" imgW="368300" imgH="177800" progId="Equation.3">
                <p:embed/>
              </p:oleObj>
            </a:graphicData>
          </a:graphic>
        </p:graphicFrame>
        <p:graphicFrame>
          <p:nvGraphicFramePr>
            <p:cNvPr id="325636" name="Object 4"/>
            <p:cNvGraphicFramePr>
              <a:graphicFrameLocks noChangeAspect="1"/>
            </p:cNvGraphicFramePr>
            <p:nvPr/>
          </p:nvGraphicFramePr>
          <p:xfrm>
            <a:off x="5654985" y="2389188"/>
            <a:ext cx="890588" cy="430212"/>
          </p:xfrm>
          <a:graphic>
            <a:graphicData uri="http://schemas.openxmlformats.org/presentationml/2006/ole">
              <p:oleObj spid="_x0000_s325636" name="Equation" r:id="rId7" imgW="368300" imgH="177800" progId="Equation.3">
                <p:embed/>
              </p:oleObj>
            </a:graphicData>
          </a:graphic>
        </p:graphicFrame>
      </p:grpSp>
      <p:grpSp>
        <p:nvGrpSpPr>
          <p:cNvPr id="43" name="Group 42"/>
          <p:cNvGrpSpPr/>
          <p:nvPr/>
        </p:nvGrpSpPr>
        <p:grpSpPr>
          <a:xfrm>
            <a:off x="2124559" y="2667000"/>
            <a:ext cx="4891879" cy="2362994"/>
            <a:chOff x="1886744" y="2667000"/>
            <a:chExt cx="4891879" cy="2362994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886744" y="2667000"/>
              <a:ext cx="1694656" cy="83820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 flipH="1" flipV="1">
              <a:off x="2934494" y="3848100"/>
              <a:ext cx="2362200" cy="1588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10800000">
              <a:off x="4876800" y="2667001"/>
              <a:ext cx="1901823" cy="838197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5637" name="Object 5"/>
            <p:cNvGraphicFramePr>
              <a:graphicFrameLocks noChangeAspect="1"/>
            </p:cNvGraphicFramePr>
            <p:nvPr/>
          </p:nvGraphicFramePr>
          <p:xfrm>
            <a:off x="2747963" y="3151981"/>
            <a:ext cx="368300" cy="401638"/>
          </p:xfrm>
          <a:graphic>
            <a:graphicData uri="http://schemas.openxmlformats.org/presentationml/2006/ole">
              <p:oleObj spid="_x0000_s325637" name="Equation" r:id="rId8" imgW="152400" imgH="165100" progId="Equation.3">
                <p:embed/>
              </p:oleObj>
            </a:graphicData>
          </a:graphic>
        </p:graphicFrame>
        <p:graphicFrame>
          <p:nvGraphicFramePr>
            <p:cNvPr id="325638" name="Object 6"/>
            <p:cNvGraphicFramePr>
              <a:graphicFrameLocks noChangeAspect="1"/>
            </p:cNvGraphicFramePr>
            <p:nvPr/>
          </p:nvGraphicFramePr>
          <p:xfrm>
            <a:off x="3581400" y="3553619"/>
            <a:ext cx="368300" cy="403225"/>
          </p:xfrm>
          <a:graphic>
            <a:graphicData uri="http://schemas.openxmlformats.org/presentationml/2006/ole">
              <p:oleObj spid="_x0000_s325638" name="Equation" r:id="rId9" imgW="152400" imgH="165100" progId="Equation.3">
                <p:embed/>
              </p:oleObj>
            </a:graphicData>
          </a:graphic>
        </p:graphicFrame>
        <p:graphicFrame>
          <p:nvGraphicFramePr>
            <p:cNvPr id="325639" name="Object 7"/>
            <p:cNvGraphicFramePr>
              <a:graphicFrameLocks noChangeAspect="1"/>
            </p:cNvGraphicFramePr>
            <p:nvPr/>
          </p:nvGraphicFramePr>
          <p:xfrm>
            <a:off x="5530850" y="3151981"/>
            <a:ext cx="368300" cy="403225"/>
          </p:xfrm>
          <a:graphic>
            <a:graphicData uri="http://schemas.openxmlformats.org/presentationml/2006/ole">
              <p:oleObj spid="_x0000_s325639" name="Equation" r:id="rId10" imgW="152400" imgH="165100" progId="Equation.3">
                <p:embed/>
              </p:oleObj>
            </a:graphicData>
          </a:graphic>
        </p:graphicFrame>
      </p:grpSp>
      <p:grpSp>
        <p:nvGrpSpPr>
          <p:cNvPr id="44" name="Group 43"/>
          <p:cNvGrpSpPr/>
          <p:nvPr/>
        </p:nvGrpSpPr>
        <p:grpSpPr>
          <a:xfrm>
            <a:off x="466415" y="2161966"/>
            <a:ext cx="8448985" cy="3781049"/>
            <a:chOff x="228600" y="2161966"/>
            <a:chExt cx="8448985" cy="3781049"/>
          </a:xfrm>
        </p:grpSpPr>
        <p:grpSp>
          <p:nvGrpSpPr>
            <p:cNvPr id="35" name="Group 34"/>
            <p:cNvGrpSpPr/>
            <p:nvPr/>
          </p:nvGrpSpPr>
          <p:grpSpPr>
            <a:xfrm>
              <a:off x="228600" y="4267200"/>
              <a:ext cx="2122797" cy="990015"/>
              <a:chOff x="704055" y="4724400"/>
              <a:chExt cx="2122797" cy="990015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04055" y="4724400"/>
                <a:ext cx="2122797" cy="990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 smtClean="0"/>
                  <a:t>Compute        and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a</a:t>
                </a:r>
                <a:r>
                  <a:rPr lang="en-US" sz="2000" b="1" dirty="0" smtClean="0"/>
                  <a:t>djust TXOP</a:t>
                </a:r>
                <a:endParaRPr lang="en-US" sz="2000" b="1" dirty="0"/>
              </a:p>
            </p:txBody>
          </p:sp>
          <p:graphicFrame>
            <p:nvGraphicFramePr>
              <p:cNvPr id="325640" name="Object 8"/>
              <p:cNvGraphicFramePr>
                <a:graphicFrameLocks noChangeAspect="1"/>
              </p:cNvGraphicFramePr>
              <p:nvPr/>
            </p:nvGraphicFramePr>
            <p:xfrm>
              <a:off x="1828800" y="4800600"/>
              <a:ext cx="460375" cy="495300"/>
            </p:xfrm>
            <a:graphic>
              <a:graphicData uri="http://schemas.openxmlformats.org/presentationml/2006/ole">
                <p:oleObj spid="_x0000_s325640" name="Equation" r:id="rId11" imgW="190500" imgH="203200" progId="Equation.3">
                  <p:embed/>
                </p:oleObj>
              </a:graphicData>
            </a:graphic>
          </p:graphicFrame>
        </p:grpSp>
        <p:grpSp>
          <p:nvGrpSpPr>
            <p:cNvPr id="36" name="Group 35"/>
            <p:cNvGrpSpPr/>
            <p:nvPr/>
          </p:nvGrpSpPr>
          <p:grpSpPr>
            <a:xfrm>
              <a:off x="4953000" y="4953000"/>
              <a:ext cx="2122797" cy="990015"/>
              <a:chOff x="396080" y="4647406"/>
              <a:chExt cx="2122797" cy="990015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396080" y="4647406"/>
                <a:ext cx="2122797" cy="990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 smtClean="0"/>
                  <a:t>Compute        and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a</a:t>
                </a:r>
                <a:r>
                  <a:rPr lang="en-US" sz="2000" b="1" dirty="0" smtClean="0"/>
                  <a:t>djust TXOP</a:t>
                </a:r>
                <a:endParaRPr lang="en-US" sz="2000" b="1" dirty="0"/>
              </a:p>
            </p:txBody>
          </p:sp>
          <p:graphicFrame>
            <p:nvGraphicFramePr>
              <p:cNvPr id="38" name="Object 8"/>
              <p:cNvGraphicFramePr>
                <a:graphicFrameLocks noChangeAspect="1"/>
              </p:cNvGraphicFramePr>
              <p:nvPr/>
            </p:nvGraphicFramePr>
            <p:xfrm>
              <a:off x="1507330" y="4724400"/>
              <a:ext cx="490538" cy="495300"/>
            </p:xfrm>
            <a:graphic>
              <a:graphicData uri="http://schemas.openxmlformats.org/presentationml/2006/ole">
                <p:oleObj spid="_x0000_s325641" name="Equation" r:id="rId12" imgW="203200" imgH="203200" progId="Equation.3">
                  <p:embed/>
                </p:oleObj>
              </a:graphicData>
            </a:graphic>
          </p:graphicFrame>
        </p:grpSp>
        <p:grpSp>
          <p:nvGrpSpPr>
            <p:cNvPr id="39" name="Group 38"/>
            <p:cNvGrpSpPr/>
            <p:nvPr/>
          </p:nvGrpSpPr>
          <p:grpSpPr>
            <a:xfrm>
              <a:off x="6554788" y="2161966"/>
              <a:ext cx="2122797" cy="990015"/>
              <a:chOff x="704055" y="4724400"/>
              <a:chExt cx="2122797" cy="990015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704055" y="4724400"/>
                <a:ext cx="2122797" cy="990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 smtClean="0"/>
                  <a:t>Compute        and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a</a:t>
                </a:r>
                <a:r>
                  <a:rPr lang="en-US" sz="2000" b="1" dirty="0" smtClean="0"/>
                  <a:t>djust TXOP</a:t>
                </a:r>
                <a:endParaRPr lang="en-US" sz="2000" b="1" dirty="0"/>
              </a:p>
            </p:txBody>
          </p:sp>
          <p:graphicFrame>
            <p:nvGraphicFramePr>
              <p:cNvPr id="41" name="Object 8"/>
              <p:cNvGraphicFramePr>
                <a:graphicFrameLocks noChangeAspect="1"/>
              </p:cNvGraphicFramePr>
              <p:nvPr/>
            </p:nvGraphicFramePr>
            <p:xfrm>
              <a:off x="1815305" y="4800809"/>
              <a:ext cx="490537" cy="495300"/>
            </p:xfrm>
            <a:graphic>
              <a:graphicData uri="http://schemas.openxmlformats.org/presentationml/2006/ole">
                <p:oleObj spid="_x0000_s325642" name="Equation" r:id="rId13" imgW="203200" imgH="203200" progId="Equation.3">
                  <p:embed/>
                </p:oleObj>
              </a:graphicData>
            </a:graphic>
          </p:graphicFrame>
        </p:grp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OPNET Simulations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Implement log-normal path loss model</a:t>
            </a:r>
          </a:p>
          <a:p>
            <a:pPr lvl="1"/>
            <a:r>
              <a:rPr lang="en-US" dirty="0" smtClean="0"/>
              <a:t>more realistic simulations</a:t>
            </a:r>
          </a:p>
          <a:p>
            <a:pPr lvl="1"/>
            <a:r>
              <a:rPr lang="en-US" dirty="0" smtClean="0"/>
              <a:t>OPNET uses free space model by default</a:t>
            </a:r>
          </a:p>
          <a:p>
            <a:r>
              <a:rPr lang="en-US" dirty="0" smtClean="0"/>
              <a:t>Implement resource allocation algorithms on two new wireless nodes</a:t>
            </a:r>
          </a:p>
          <a:p>
            <a:pPr lvl="1"/>
            <a:r>
              <a:rPr lang="en-US" dirty="0" smtClean="0"/>
              <a:t>base station, wireless station</a:t>
            </a:r>
          </a:p>
          <a:p>
            <a:r>
              <a:rPr lang="en-US" dirty="0" smtClean="0"/>
              <a:t>Implement two algorithms</a:t>
            </a:r>
          </a:p>
          <a:p>
            <a:pPr lvl="1"/>
            <a:r>
              <a:rPr lang="en-US" dirty="0" smtClean="0"/>
              <a:t>EDCA (current algorithm), and OPT (our algorithm)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Setup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deploy 6~8 of wireless stations</a:t>
            </a:r>
          </a:p>
          <a:p>
            <a:r>
              <a:rPr lang="en-US" dirty="0" smtClean="0"/>
              <a:t>wireless stations stream videos to base station</a:t>
            </a:r>
          </a:p>
          <a:p>
            <a:r>
              <a:rPr lang="en-US" dirty="0" smtClean="0"/>
              <a:t>each wireless station periodically (every 5 </a:t>
            </a:r>
            <a:r>
              <a:rPr lang="en-US" dirty="0" err="1" smtClean="0"/>
              <a:t>secs</a:t>
            </a:r>
            <a:r>
              <a:rPr lang="en-US" dirty="0" smtClean="0"/>
              <a:t>) reports its status to base station</a:t>
            </a:r>
          </a:p>
          <a:p>
            <a:r>
              <a:rPr lang="en-US" dirty="0" smtClean="0"/>
              <a:t>base station computes the allocation</a:t>
            </a:r>
          </a:p>
          <a:p>
            <a:r>
              <a:rPr lang="en-US" dirty="0" smtClean="0"/>
              <a:t>each wireless station configures its TXOP limit</a:t>
            </a:r>
          </a:p>
          <a:p>
            <a:r>
              <a:rPr lang="en-US" dirty="0" smtClean="0"/>
              <a:t>base station collects stats, such as receiving rate and video quality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Validation of our EA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Content Placeholder 4" descr="test_1_ea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-16864" r="-16864"/>
          <a:stretch>
            <a:fillRect/>
          </a:stretch>
        </p:blipFill>
        <p:spPr>
          <a:xfrm>
            <a:off x="914400" y="1560319"/>
            <a:ext cx="6705600" cy="3697481"/>
          </a:xfrm>
        </p:spPr>
      </p:pic>
      <p:sp>
        <p:nvSpPr>
          <p:cNvPr id="6" name="TextBox 5"/>
          <p:cNvSpPr txBox="1"/>
          <p:nvPr/>
        </p:nvSpPr>
        <p:spPr>
          <a:xfrm>
            <a:off x="1539101" y="5334000"/>
            <a:ext cx="608089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</a:rPr>
              <a:t>The empirical Effective Airtime </a:t>
            </a:r>
          </a:p>
          <a:p>
            <a:r>
              <a:rPr lang="en-US" sz="3400" b="1" dirty="0" smtClean="0">
                <a:solidFill>
                  <a:srgbClr val="FF0000"/>
                </a:solidFill>
              </a:rPr>
              <a:t>follows our estimation (69%)</a:t>
            </a:r>
            <a:endParaRPr lang="en-US" sz="3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Potential Quality Improvement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4" descr="test_1_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04" y="1560319"/>
            <a:ext cx="5014392" cy="3697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0200" y="5257800"/>
            <a:ext cx="636584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</a:rPr>
              <a:t>About 28% Distortion Reduction</a:t>
            </a:r>
            <a:endParaRPr lang="en-US" sz="3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Channel Conditions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test_1_e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04" y="1560319"/>
            <a:ext cx="5014392" cy="3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4634" y="5262027"/>
            <a:ext cx="815836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</a:rPr>
              <a:t>OPT works in dynamic environments</a:t>
            </a:r>
          </a:p>
          <a:p>
            <a:r>
              <a:rPr lang="en-US" sz="3400" b="1" dirty="0" smtClean="0">
                <a:solidFill>
                  <a:srgbClr val="FF0000"/>
                </a:solidFill>
              </a:rPr>
              <a:t>OPT outperforms opt. </a:t>
            </a:r>
            <a:r>
              <a:rPr lang="en-US" sz="3400" b="1" dirty="0" err="1" smtClean="0">
                <a:solidFill>
                  <a:srgbClr val="FF0000"/>
                </a:solidFill>
              </a:rPr>
              <a:t>algms</a:t>
            </a:r>
            <a:r>
              <a:rPr lang="en-US" sz="3400" b="1" dirty="0" smtClean="0">
                <a:solidFill>
                  <a:srgbClr val="FF0000"/>
                </a:solidFill>
              </a:rPr>
              <a:t> in </a:t>
            </a:r>
            <a:r>
              <a:rPr lang="en-US" sz="3400" b="1" dirty="0" err="1" smtClean="0">
                <a:solidFill>
                  <a:srgbClr val="FF0000"/>
                </a:solidFill>
              </a:rPr>
              <a:t>ind</a:t>
            </a:r>
            <a:r>
              <a:rPr lang="en-US" sz="3400" b="1" dirty="0" smtClean="0">
                <a:solidFill>
                  <a:srgbClr val="FF0000"/>
                </a:solidFill>
              </a:rPr>
              <a:t>. layers.</a:t>
            </a:r>
            <a:endParaRPr lang="en-US" sz="3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802.11e </a:t>
            </a:r>
            <a:r>
              <a:rPr lang="en-US" dirty="0" err="1" smtClean="0"/>
              <a:t>Testbed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Atheoros</a:t>
            </a:r>
            <a:r>
              <a:rPr lang="en-US" dirty="0" smtClean="0"/>
              <a:t> AR5005G 802.11e chip</a:t>
            </a:r>
          </a:p>
          <a:p>
            <a:r>
              <a:rPr lang="en-US" dirty="0" smtClean="0"/>
              <a:t>Implement OPT and EDCA algorithms in its Linux driver</a:t>
            </a:r>
          </a:p>
          <a:p>
            <a:r>
              <a:rPr lang="en-US" dirty="0" smtClean="0"/>
              <a:t>Configure a base station and two wireless stations</a:t>
            </a:r>
          </a:p>
          <a:p>
            <a:r>
              <a:rPr lang="en-US" dirty="0" smtClean="0"/>
              <a:t>Wireless stations report status every 10 sec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Sample Result from the </a:t>
            </a:r>
            <a:r>
              <a:rPr lang="en-US" dirty="0" err="1" smtClean="0"/>
              <a:t>Testbed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test_1_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05" y="1560319"/>
            <a:ext cx="5014390" cy="3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" y="5262027"/>
            <a:ext cx="718658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</a:rPr>
              <a:t>Quality improvement: </a:t>
            </a:r>
          </a:p>
          <a:p>
            <a:r>
              <a:rPr lang="en-US" sz="3400" b="1" dirty="0" smtClean="0">
                <a:solidFill>
                  <a:srgbClr val="FF0000"/>
                </a:solidFill>
              </a:rPr>
              <a:t>up to 100% in MSE, or 3 dB in PSNR</a:t>
            </a:r>
            <a:endParaRPr lang="en-US" sz="3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27D2757-C103-49ED-AEDA-61BA63A62A0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Proposed a general video optimization framework</a:t>
            </a:r>
          </a:p>
          <a:p>
            <a:r>
              <a:rPr lang="en-US" dirty="0" smtClean="0"/>
              <a:t>Instantiated the problem for 802.11e networks</a:t>
            </a:r>
          </a:p>
          <a:p>
            <a:r>
              <a:rPr lang="en-US" dirty="0" smtClean="0"/>
              <a:t>Presented models for 802.11e and developed an effective airtime model</a:t>
            </a:r>
          </a:p>
          <a:p>
            <a:r>
              <a:rPr lang="en-US" dirty="0" smtClean="0"/>
              <a:t>Analytically solved the optimization problem</a:t>
            </a:r>
          </a:p>
          <a:p>
            <a:r>
              <a:rPr lang="en-US" dirty="0" smtClean="0"/>
              <a:t>Evaluated </a:t>
            </a:r>
            <a:r>
              <a:rPr lang="en-US" dirty="0" smtClean="0"/>
              <a:t>the solution using OPNET simulator and real implementation. Both show promising quality  improvements.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20.3|12.2|9.2"/>
</p:tagLst>
</file>

<file path=ppt/tags/tag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0.7|0.6|0.3"/>
</p:tagLst>
</file>

<file path=ppt/tags/tag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70.8|39.2|13.1"/>
</p:tagLst>
</file>

<file path=ppt/tags/tag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38.3|29.6"/>
</p:tagLst>
</file>

<file path=ppt/tags/tag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10.9|14.3|6.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Exhibit">
      <a:dk1>
        <a:sysClr val="windowText" lastClr="000000"/>
      </a:dk1>
      <a:lt1>
        <a:sysClr val="window" lastClr="FFFFFF"/>
      </a:lt1>
      <a:dk2>
        <a:srgbClr val="1C3264"/>
      </a:dk2>
      <a:lt2>
        <a:srgbClr val="CCCCCC"/>
      </a:lt2>
      <a:accent1>
        <a:srgbClr val="3399FF"/>
      </a:accent1>
      <a:accent2>
        <a:srgbClr val="69FFFF"/>
      </a:accent2>
      <a:accent3>
        <a:srgbClr val="CCFF33"/>
      </a:accent3>
      <a:accent4>
        <a:srgbClr val="3333FF"/>
      </a:accent4>
      <a:accent5>
        <a:srgbClr val="9933FF"/>
      </a:accent5>
      <a:accent6>
        <a:srgbClr val="FF33FF"/>
      </a:accent6>
      <a:hlink>
        <a:srgbClr val="6699FF"/>
      </a:hlink>
      <a:folHlink>
        <a:srgbClr val="9999CC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Median.thmx</Template>
  <TotalTime>1299</TotalTime>
  <Words>2064</Words>
  <Application>Microsoft Macintosh PowerPoint</Application>
  <PresentationFormat>On-screen Show (4:3)</PresentationFormat>
  <Paragraphs>359</Paragraphs>
  <Slides>28</Slides>
  <Notes>16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Median</vt:lpstr>
      <vt:lpstr>Equation</vt:lpstr>
      <vt:lpstr>Cross-Layer Optimization for Video Streaming in Single-Hop Wireless Networks</vt:lpstr>
      <vt:lpstr>Video Optimization in Wireless Networks</vt:lpstr>
      <vt:lpstr>Video Optimization Problem</vt:lpstr>
      <vt:lpstr>Video Optimization Framework</vt:lpstr>
      <vt:lpstr>Complexity Scalable Video Coders</vt:lpstr>
      <vt:lpstr>QoS Enabled Controller</vt:lpstr>
      <vt:lpstr>General Formulation </vt:lpstr>
      <vt:lpstr>General Formulation (cont.)</vt:lpstr>
      <vt:lpstr>Instantiate PG for 802.11e WLAN </vt:lpstr>
      <vt:lpstr>EDCA Overview</vt:lpstr>
      <vt:lpstr>EDCA Overview (cont.)</vt:lpstr>
      <vt:lpstr>Per-Station QoS Differentiation</vt:lpstr>
      <vt:lpstr>Airtime and Efficient Airtime</vt:lpstr>
      <vt:lpstr>Our Effective Airtime Model</vt:lpstr>
      <vt:lpstr>Effective Airtime Model (cont.)</vt:lpstr>
      <vt:lpstr>Effective Airtime Model (cont.)</vt:lpstr>
      <vt:lpstr>802.11e Formulation</vt:lpstr>
      <vt:lpstr>MPEG-4 P-R-D Model [He et al. 05’]</vt:lpstr>
      <vt:lpstr>Optimal Solution</vt:lpstr>
      <vt:lpstr>Optimal Allocation Algorithm</vt:lpstr>
      <vt:lpstr>OPNET Simulations</vt:lpstr>
      <vt:lpstr>Simulation Setup</vt:lpstr>
      <vt:lpstr>Validation of our EA Model</vt:lpstr>
      <vt:lpstr>Potential Quality Improvement</vt:lpstr>
      <vt:lpstr>Dynamic Channel Conditions</vt:lpstr>
      <vt:lpstr>Real 802.11e Testbed</vt:lpstr>
      <vt:lpstr>Sample Result from the Testbed</vt:lpstr>
      <vt:lpstr>Conclusions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Bear</dc:creator>
  <cp:lastModifiedBy>Bear</cp:lastModifiedBy>
  <cp:revision>166</cp:revision>
  <dcterms:created xsi:type="dcterms:W3CDTF">2009-01-19T02:58:13Z</dcterms:created>
  <dcterms:modified xsi:type="dcterms:W3CDTF">2009-01-19T09:07:39Z</dcterms:modified>
</cp:coreProperties>
</file>