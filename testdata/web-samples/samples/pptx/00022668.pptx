
<file path=[Content_Types].xml><?xml version="1.0" encoding="utf-8"?>
<Types xmlns="http://schemas.openxmlformats.org/package/2006/content-types">
  <Override PartName="/docProps/core.xml" ContentType="application/vnd.openxmlformats-package.core-properties+xml"/>
  <Default Extension="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Default Extension="png" ContentType="image/png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Default Extension="xml" ContentType="application/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tiff" ContentType="image/tiff"/>
  <Default Extension="gif" ContentType="image/gif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Default Extension="bin" ContentType="application/vnd.openxmlformats-officedocument.presentationml.printerSettings"/>
  <Override PartName="/ppt/slides/slide1.xml" ContentType="application/vnd.openxmlformats-officedocument.presentationml.slide+xml"/>
  <Default Extension="jpeg" ContentType="image/jpeg"/>
  <Override PartName="/ppt/slideLayouts/slideLayout4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1pPr>
    <a:lvl2pPr marL="2037786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2pPr>
    <a:lvl3pPr marL="4075572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3pPr>
    <a:lvl4pPr marL="6113358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4pPr>
    <a:lvl5pPr marL="8151144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5pPr>
    <a:lvl6pPr marL="10188931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6pPr>
    <a:lvl7pPr marL="12226717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7pPr>
    <a:lvl8pPr marL="14264503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8pPr>
    <a:lvl9pPr marL="16302289" algn="l" defTabSz="2037786" rtl="0" eaLnBrk="1" latinLnBrk="0" hangingPunct="1">
      <a:defRPr sz="8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8134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napVertSplitter="1" vertBarState="minimized">
    <p:restoredLeft sz="9978" autoAdjust="0"/>
    <p:restoredTop sz="97397" autoAdjust="0"/>
  </p:normalViewPr>
  <p:slideViewPr>
    <p:cSldViewPr snapToGrid="0" snapToObjects="1">
      <p:cViewPr varScale="1">
        <p:scale>
          <a:sx n="22" d="100"/>
          <a:sy n="22" d="100"/>
        </p:scale>
        <p:origin x="-1720" y="-192"/>
      </p:cViewPr>
      <p:guideLst>
        <p:guide orient="horz" pos="10368"/>
        <p:guide pos="13824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B4E11-0146-214C-AFE8-2A0D5A58B5E1}" type="datetimeFigureOut">
              <a:rPr lang="en-US" smtClean="0"/>
              <a:pPr/>
              <a:t>6/3/11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F4F50-B4C0-284D-B79F-BF2259EAD41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1pPr>
    <a:lvl2pPr marL="2037786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2pPr>
    <a:lvl3pPr marL="4075572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3pPr>
    <a:lvl4pPr marL="6113358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4pPr>
    <a:lvl5pPr marL="8151144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5pPr>
    <a:lvl6pPr marL="10188931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6pPr>
    <a:lvl7pPr marL="12226717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7pPr>
    <a:lvl8pPr marL="14264503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8pPr>
    <a:lvl9pPr marL="16302289" algn="l" defTabSz="2037786" rtl="0" eaLnBrk="1" latinLnBrk="0" hangingPunct="1">
      <a:defRPr sz="5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0F4F50-B4C0-284D-B79F-BF2259EAD41D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3"/>
            <a:ext cx="37307520" cy="7056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377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075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113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151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188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226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264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302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1590-CDC6-2F41-820B-26172B41A5CC}" type="datetimeFigureOut">
              <a:rPr lang="en-US" smtClean="0"/>
              <a:pPr/>
              <a:t>6/3/11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293-3939-2449-8F10-85C13ADA91D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1590-CDC6-2F41-820B-26172B41A5CC}" type="datetimeFigureOut">
              <a:rPr lang="en-US" smtClean="0"/>
              <a:pPr/>
              <a:t>6/3/11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293-3939-2449-8F10-85C13ADA91D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3" y="21153123"/>
            <a:ext cx="37307520" cy="6537960"/>
          </a:xfrm>
        </p:spPr>
        <p:txBody>
          <a:bodyPr anchor="t"/>
          <a:lstStyle>
            <a:lvl1pPr algn="l">
              <a:defRPr sz="17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3" y="13952226"/>
            <a:ext cx="37307520" cy="7200897"/>
          </a:xfrm>
        </p:spPr>
        <p:txBody>
          <a:bodyPr anchor="b"/>
          <a:lstStyle>
            <a:lvl1pPr marL="0" indent="0">
              <a:buNone/>
              <a:defRPr sz="8900">
                <a:solidFill>
                  <a:schemeClr val="tx1">
                    <a:tint val="75000"/>
                  </a:schemeClr>
                </a:solidFill>
              </a:defRPr>
            </a:lvl1pPr>
            <a:lvl2pPr marL="2037786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4075572" indent="0">
              <a:buNone/>
              <a:defRPr sz="7100">
                <a:solidFill>
                  <a:schemeClr val="tx1">
                    <a:tint val="75000"/>
                  </a:schemeClr>
                </a:solidFill>
              </a:defRPr>
            </a:lvl3pPr>
            <a:lvl4pPr marL="6113358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4pPr>
            <a:lvl5pPr marL="8151144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5pPr>
            <a:lvl6pPr marL="10188931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6pPr>
            <a:lvl7pPr marL="12226717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7pPr>
            <a:lvl8pPr marL="14264503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8pPr>
            <a:lvl9pPr marL="16302289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1590-CDC6-2F41-820B-26172B41A5CC}" type="datetimeFigureOut">
              <a:rPr lang="en-US" smtClean="0"/>
              <a:pPr/>
              <a:t>6/3/11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293-3939-2449-8F10-85C13ADA91D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01944" y="43014906"/>
            <a:ext cx="70736457" cy="121653297"/>
          </a:xfrm>
        </p:spPr>
        <p:txBody>
          <a:bodyPr/>
          <a:lstStyle>
            <a:lvl1pPr>
              <a:defRPr sz="12500"/>
            </a:lvl1pPr>
            <a:lvl2pPr>
              <a:defRPr sz="10700"/>
            </a:lvl2pPr>
            <a:lvl3pPr>
              <a:defRPr sz="89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69923" y="43014906"/>
            <a:ext cx="70736463" cy="121653297"/>
          </a:xfrm>
        </p:spPr>
        <p:txBody>
          <a:bodyPr/>
          <a:lstStyle>
            <a:lvl1pPr>
              <a:defRPr sz="12500"/>
            </a:lvl1pPr>
            <a:lvl2pPr>
              <a:defRPr sz="10700"/>
            </a:lvl2pPr>
            <a:lvl3pPr>
              <a:defRPr sz="89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1590-CDC6-2F41-820B-26172B41A5CC}" type="datetimeFigureOut">
              <a:rPr lang="en-US" smtClean="0"/>
              <a:pPr/>
              <a:t>6/3/11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293-3939-2449-8F10-85C13ADA91D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0" y="1318263"/>
            <a:ext cx="3950208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1" y="7368543"/>
            <a:ext cx="19392903" cy="3070857"/>
          </a:xfrm>
        </p:spPr>
        <p:txBody>
          <a:bodyPr anchor="b"/>
          <a:lstStyle>
            <a:lvl1pPr marL="0" indent="0">
              <a:buNone/>
              <a:defRPr sz="10700" b="1"/>
            </a:lvl1pPr>
            <a:lvl2pPr marL="2037786" indent="0">
              <a:buNone/>
              <a:defRPr sz="8900" b="1"/>
            </a:lvl2pPr>
            <a:lvl3pPr marL="4075572" indent="0">
              <a:buNone/>
              <a:defRPr sz="8000" b="1"/>
            </a:lvl3pPr>
            <a:lvl4pPr marL="6113358" indent="0">
              <a:buNone/>
              <a:defRPr sz="7100" b="1"/>
            </a:lvl4pPr>
            <a:lvl5pPr marL="8151144" indent="0">
              <a:buNone/>
              <a:defRPr sz="7100" b="1"/>
            </a:lvl5pPr>
            <a:lvl6pPr marL="10188931" indent="0">
              <a:buNone/>
              <a:defRPr sz="7100" b="1"/>
            </a:lvl6pPr>
            <a:lvl7pPr marL="12226717" indent="0">
              <a:buNone/>
              <a:defRPr sz="7100" b="1"/>
            </a:lvl7pPr>
            <a:lvl8pPr marL="14264503" indent="0">
              <a:buNone/>
              <a:defRPr sz="7100" b="1"/>
            </a:lvl8pPr>
            <a:lvl9pPr marL="16302289" indent="0">
              <a:buNone/>
              <a:defRPr sz="7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1" y="10439400"/>
            <a:ext cx="19392903" cy="18966183"/>
          </a:xfrm>
        </p:spPr>
        <p:txBody>
          <a:bodyPr/>
          <a:lstStyle>
            <a:lvl1pPr>
              <a:defRPr sz="10700"/>
            </a:lvl1pPr>
            <a:lvl2pPr>
              <a:defRPr sz="8900"/>
            </a:lvl2pPr>
            <a:lvl3pPr>
              <a:defRPr sz="8000"/>
            </a:lvl3pPr>
            <a:lvl4pPr>
              <a:defRPr sz="7100"/>
            </a:lvl4pPr>
            <a:lvl5pPr>
              <a:defRPr sz="7100"/>
            </a:lvl5pPr>
            <a:lvl6pPr>
              <a:defRPr sz="7100"/>
            </a:lvl6pPr>
            <a:lvl7pPr>
              <a:defRPr sz="7100"/>
            </a:lvl7pPr>
            <a:lvl8pPr>
              <a:defRPr sz="7100"/>
            </a:lvl8pPr>
            <a:lvl9pPr>
              <a:defRPr sz="7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3" y="7368543"/>
            <a:ext cx="19400520" cy="3070857"/>
          </a:xfrm>
        </p:spPr>
        <p:txBody>
          <a:bodyPr anchor="b"/>
          <a:lstStyle>
            <a:lvl1pPr marL="0" indent="0">
              <a:buNone/>
              <a:defRPr sz="10700" b="1"/>
            </a:lvl1pPr>
            <a:lvl2pPr marL="2037786" indent="0">
              <a:buNone/>
              <a:defRPr sz="8900" b="1"/>
            </a:lvl2pPr>
            <a:lvl3pPr marL="4075572" indent="0">
              <a:buNone/>
              <a:defRPr sz="8000" b="1"/>
            </a:lvl3pPr>
            <a:lvl4pPr marL="6113358" indent="0">
              <a:buNone/>
              <a:defRPr sz="7100" b="1"/>
            </a:lvl4pPr>
            <a:lvl5pPr marL="8151144" indent="0">
              <a:buNone/>
              <a:defRPr sz="7100" b="1"/>
            </a:lvl5pPr>
            <a:lvl6pPr marL="10188931" indent="0">
              <a:buNone/>
              <a:defRPr sz="7100" b="1"/>
            </a:lvl6pPr>
            <a:lvl7pPr marL="12226717" indent="0">
              <a:buNone/>
              <a:defRPr sz="7100" b="1"/>
            </a:lvl7pPr>
            <a:lvl8pPr marL="14264503" indent="0">
              <a:buNone/>
              <a:defRPr sz="7100" b="1"/>
            </a:lvl8pPr>
            <a:lvl9pPr marL="16302289" indent="0">
              <a:buNone/>
              <a:defRPr sz="7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3" y="10439400"/>
            <a:ext cx="19400520" cy="18966183"/>
          </a:xfrm>
        </p:spPr>
        <p:txBody>
          <a:bodyPr/>
          <a:lstStyle>
            <a:lvl1pPr>
              <a:defRPr sz="10700"/>
            </a:lvl1pPr>
            <a:lvl2pPr>
              <a:defRPr sz="8900"/>
            </a:lvl2pPr>
            <a:lvl3pPr>
              <a:defRPr sz="8000"/>
            </a:lvl3pPr>
            <a:lvl4pPr>
              <a:defRPr sz="7100"/>
            </a:lvl4pPr>
            <a:lvl5pPr>
              <a:defRPr sz="7100"/>
            </a:lvl5pPr>
            <a:lvl6pPr>
              <a:defRPr sz="7100"/>
            </a:lvl6pPr>
            <a:lvl7pPr>
              <a:defRPr sz="7100"/>
            </a:lvl7pPr>
            <a:lvl8pPr>
              <a:defRPr sz="7100"/>
            </a:lvl8pPr>
            <a:lvl9pPr>
              <a:defRPr sz="7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1590-CDC6-2F41-820B-26172B41A5CC}" type="datetimeFigureOut">
              <a:rPr lang="en-US" smtClean="0"/>
              <a:pPr/>
              <a:t>6/3/11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293-3939-2449-8F10-85C13ADA91D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1590-CDC6-2F41-820B-26172B41A5CC}" type="datetimeFigureOut">
              <a:rPr lang="en-US" smtClean="0"/>
              <a:pPr/>
              <a:t>6/3/11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293-3939-2449-8F10-85C13ADA91D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1590-CDC6-2F41-820B-26172B41A5CC}" type="datetimeFigureOut">
              <a:rPr lang="en-US" smtClean="0"/>
              <a:pPr/>
              <a:t>6/3/11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293-3939-2449-8F10-85C13ADA91D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3" cy="5577840"/>
          </a:xfrm>
        </p:spPr>
        <p:txBody>
          <a:bodyPr anchor="b"/>
          <a:lstStyle>
            <a:lvl1pPr algn="l">
              <a:defRPr sz="8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3"/>
            <a:ext cx="24536400" cy="28094943"/>
          </a:xfrm>
        </p:spPr>
        <p:txBody>
          <a:bodyPr/>
          <a:lstStyle>
            <a:lvl1pPr>
              <a:defRPr sz="14300"/>
            </a:lvl1pPr>
            <a:lvl2pPr>
              <a:defRPr sz="12500"/>
            </a:lvl2pPr>
            <a:lvl3pPr>
              <a:defRPr sz="10700"/>
            </a:lvl3pPr>
            <a:lvl4pPr>
              <a:defRPr sz="8900"/>
            </a:lvl4pPr>
            <a:lvl5pPr>
              <a:defRPr sz="8900"/>
            </a:lvl5pPr>
            <a:lvl6pPr>
              <a:defRPr sz="8900"/>
            </a:lvl6pPr>
            <a:lvl7pPr>
              <a:defRPr sz="8900"/>
            </a:lvl7pPr>
            <a:lvl8pPr>
              <a:defRPr sz="8900"/>
            </a:lvl8pPr>
            <a:lvl9pPr>
              <a:defRPr sz="8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3"/>
            <a:ext cx="14439903" cy="22517103"/>
          </a:xfrm>
        </p:spPr>
        <p:txBody>
          <a:bodyPr/>
          <a:lstStyle>
            <a:lvl1pPr marL="0" indent="0">
              <a:buNone/>
              <a:defRPr sz="6200"/>
            </a:lvl1pPr>
            <a:lvl2pPr marL="2037786" indent="0">
              <a:buNone/>
              <a:defRPr sz="5300"/>
            </a:lvl2pPr>
            <a:lvl3pPr marL="4075572" indent="0">
              <a:buNone/>
              <a:defRPr sz="4500"/>
            </a:lvl3pPr>
            <a:lvl4pPr marL="6113358" indent="0">
              <a:buNone/>
              <a:defRPr sz="4000"/>
            </a:lvl4pPr>
            <a:lvl5pPr marL="8151144" indent="0">
              <a:buNone/>
              <a:defRPr sz="4000"/>
            </a:lvl5pPr>
            <a:lvl6pPr marL="10188931" indent="0">
              <a:buNone/>
              <a:defRPr sz="4000"/>
            </a:lvl6pPr>
            <a:lvl7pPr marL="12226717" indent="0">
              <a:buNone/>
              <a:defRPr sz="4000"/>
            </a:lvl7pPr>
            <a:lvl8pPr marL="14264503" indent="0">
              <a:buNone/>
              <a:defRPr sz="4000"/>
            </a:lvl8pPr>
            <a:lvl9pPr marL="16302289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1590-CDC6-2F41-820B-26172B41A5CC}" type="datetimeFigureOut">
              <a:rPr lang="en-US" smtClean="0"/>
              <a:pPr/>
              <a:t>6/3/11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293-3939-2449-8F10-85C13ADA91D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0"/>
            <a:ext cx="26334720" cy="2720343"/>
          </a:xfrm>
        </p:spPr>
        <p:txBody>
          <a:bodyPr anchor="b"/>
          <a:lstStyle>
            <a:lvl1pPr algn="l">
              <a:defRPr sz="8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2941320"/>
            <a:ext cx="26334720" cy="19751040"/>
          </a:xfrm>
        </p:spPr>
        <p:txBody>
          <a:bodyPr/>
          <a:lstStyle>
            <a:lvl1pPr marL="0" indent="0">
              <a:buNone/>
              <a:defRPr sz="14300"/>
            </a:lvl1pPr>
            <a:lvl2pPr marL="2037786" indent="0">
              <a:buNone/>
              <a:defRPr sz="12500"/>
            </a:lvl2pPr>
            <a:lvl3pPr marL="4075572" indent="0">
              <a:buNone/>
              <a:defRPr sz="10700"/>
            </a:lvl3pPr>
            <a:lvl4pPr marL="6113358" indent="0">
              <a:buNone/>
              <a:defRPr sz="8900"/>
            </a:lvl4pPr>
            <a:lvl5pPr marL="8151144" indent="0">
              <a:buNone/>
              <a:defRPr sz="8900"/>
            </a:lvl5pPr>
            <a:lvl6pPr marL="10188931" indent="0">
              <a:buNone/>
              <a:defRPr sz="8900"/>
            </a:lvl6pPr>
            <a:lvl7pPr marL="12226717" indent="0">
              <a:buNone/>
              <a:defRPr sz="8900"/>
            </a:lvl7pPr>
            <a:lvl8pPr marL="14264503" indent="0">
              <a:buNone/>
              <a:defRPr sz="8900"/>
            </a:lvl8pPr>
            <a:lvl9pPr marL="16302289" indent="0">
              <a:buNone/>
              <a:defRPr sz="89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7"/>
          </a:xfrm>
        </p:spPr>
        <p:txBody>
          <a:bodyPr/>
          <a:lstStyle>
            <a:lvl1pPr marL="0" indent="0">
              <a:buNone/>
              <a:defRPr sz="6200"/>
            </a:lvl1pPr>
            <a:lvl2pPr marL="2037786" indent="0">
              <a:buNone/>
              <a:defRPr sz="5300"/>
            </a:lvl2pPr>
            <a:lvl3pPr marL="4075572" indent="0">
              <a:buNone/>
              <a:defRPr sz="4500"/>
            </a:lvl3pPr>
            <a:lvl4pPr marL="6113358" indent="0">
              <a:buNone/>
              <a:defRPr sz="4000"/>
            </a:lvl4pPr>
            <a:lvl5pPr marL="8151144" indent="0">
              <a:buNone/>
              <a:defRPr sz="4000"/>
            </a:lvl5pPr>
            <a:lvl6pPr marL="10188931" indent="0">
              <a:buNone/>
              <a:defRPr sz="4000"/>
            </a:lvl6pPr>
            <a:lvl7pPr marL="12226717" indent="0">
              <a:buNone/>
              <a:defRPr sz="4000"/>
            </a:lvl7pPr>
            <a:lvl8pPr marL="14264503" indent="0">
              <a:buNone/>
              <a:defRPr sz="4000"/>
            </a:lvl8pPr>
            <a:lvl9pPr marL="16302289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1590-CDC6-2F41-820B-26172B41A5CC}" type="datetimeFigureOut">
              <a:rPr lang="en-US" smtClean="0"/>
              <a:pPr/>
              <a:t>6/3/11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293-3939-2449-8F10-85C13ADA91D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1590-CDC6-2F41-820B-26172B41A5CC}" type="datetimeFigureOut">
              <a:rPr lang="en-US" smtClean="0"/>
              <a:pPr/>
              <a:t>6/3/11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293-3939-2449-8F10-85C13ADA91D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4559081" y="7383786"/>
            <a:ext cx="35547303" cy="1572844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01946" y="7383786"/>
            <a:ext cx="105925617" cy="1572844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1590-CDC6-2F41-820B-26172B41A5CC}" type="datetimeFigureOut">
              <a:rPr lang="en-US" smtClean="0"/>
              <a:pPr/>
              <a:t>6/3/11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B7293-3939-2449-8F10-85C13ADA91D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318263"/>
            <a:ext cx="39502080" cy="5486400"/>
          </a:xfrm>
          <a:prstGeom prst="rect">
            <a:avLst/>
          </a:prstGeom>
        </p:spPr>
        <p:txBody>
          <a:bodyPr vert="horz" lIns="407557" tIns="203779" rIns="407557" bIns="20377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680963"/>
            <a:ext cx="39502080" cy="21724623"/>
          </a:xfrm>
          <a:prstGeom prst="rect">
            <a:avLst/>
          </a:prstGeom>
        </p:spPr>
        <p:txBody>
          <a:bodyPr vert="horz" lIns="407557" tIns="203779" rIns="407557" bIns="20377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30510483"/>
            <a:ext cx="10241280" cy="1752600"/>
          </a:xfrm>
          <a:prstGeom prst="rect">
            <a:avLst/>
          </a:prstGeom>
        </p:spPr>
        <p:txBody>
          <a:bodyPr vert="horz" lIns="407557" tIns="203779" rIns="407557" bIns="203779" rtlCol="0" anchor="ctr"/>
          <a:lstStyle>
            <a:lvl1pPr algn="l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11590-CDC6-2F41-820B-26172B41A5CC}" type="datetimeFigureOut">
              <a:rPr lang="en-US" smtClean="0"/>
              <a:pPr/>
              <a:t>6/3/11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30510483"/>
            <a:ext cx="13898880" cy="1752600"/>
          </a:xfrm>
          <a:prstGeom prst="rect">
            <a:avLst/>
          </a:prstGeom>
        </p:spPr>
        <p:txBody>
          <a:bodyPr vert="horz" lIns="407557" tIns="203779" rIns="407557" bIns="203779" rtlCol="0" anchor="ctr"/>
          <a:lstStyle>
            <a:lvl1pPr algn="ct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30510483"/>
            <a:ext cx="10241280" cy="1752600"/>
          </a:xfrm>
          <a:prstGeom prst="rect">
            <a:avLst/>
          </a:prstGeom>
        </p:spPr>
        <p:txBody>
          <a:bodyPr vert="horz" lIns="407557" tIns="203779" rIns="407557" bIns="203779" rtlCol="0" anchor="ctr"/>
          <a:lstStyle>
            <a:lvl1pPr algn="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B7293-3939-2449-8F10-85C13ADA91D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37786" rtl="0" eaLnBrk="1" latinLnBrk="0" hangingPunct="1">
        <a:spcBef>
          <a:spcPct val="0"/>
        </a:spcBef>
        <a:buNone/>
        <a:defRPr sz="19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8340" indent="-1528340" algn="l" defTabSz="2037786" rtl="0" eaLnBrk="1" latinLnBrk="0" hangingPunct="1">
        <a:spcBef>
          <a:spcPct val="20000"/>
        </a:spcBef>
        <a:buFont typeface="Arial"/>
        <a:buChar char="•"/>
        <a:defRPr sz="14300" kern="1200">
          <a:solidFill>
            <a:schemeClr val="tx1"/>
          </a:solidFill>
          <a:latin typeface="+mn-lt"/>
          <a:ea typeface="+mn-ea"/>
          <a:cs typeface="+mn-cs"/>
        </a:defRPr>
      </a:lvl1pPr>
      <a:lvl2pPr marL="3311402" indent="-1273616" algn="l" defTabSz="2037786" rtl="0" eaLnBrk="1" latinLnBrk="0" hangingPunct="1">
        <a:spcBef>
          <a:spcPct val="20000"/>
        </a:spcBef>
        <a:buFont typeface="Arial"/>
        <a:buChar char="–"/>
        <a:defRPr sz="12500" kern="1200">
          <a:solidFill>
            <a:schemeClr val="tx1"/>
          </a:solidFill>
          <a:latin typeface="+mn-lt"/>
          <a:ea typeface="+mn-ea"/>
          <a:cs typeface="+mn-cs"/>
        </a:defRPr>
      </a:lvl2pPr>
      <a:lvl3pPr marL="5094465" indent="-1018893" algn="l" defTabSz="2037786" rtl="0" eaLnBrk="1" latinLnBrk="0" hangingPunct="1">
        <a:spcBef>
          <a:spcPct val="20000"/>
        </a:spcBef>
        <a:buFont typeface="Arial"/>
        <a:buChar char="•"/>
        <a:defRPr sz="10700" kern="1200">
          <a:solidFill>
            <a:schemeClr val="tx1"/>
          </a:solidFill>
          <a:latin typeface="+mn-lt"/>
          <a:ea typeface="+mn-ea"/>
          <a:cs typeface="+mn-cs"/>
        </a:defRPr>
      </a:lvl3pPr>
      <a:lvl4pPr marL="7132251" indent="-1018893" algn="l" defTabSz="2037786" rtl="0" eaLnBrk="1" latinLnBrk="0" hangingPunct="1">
        <a:spcBef>
          <a:spcPct val="20000"/>
        </a:spcBef>
        <a:buFont typeface="Arial"/>
        <a:buChar char="–"/>
        <a:defRPr sz="8900" kern="1200">
          <a:solidFill>
            <a:schemeClr val="tx1"/>
          </a:solidFill>
          <a:latin typeface="+mn-lt"/>
          <a:ea typeface="+mn-ea"/>
          <a:cs typeface="+mn-cs"/>
        </a:defRPr>
      </a:lvl4pPr>
      <a:lvl5pPr marL="9170038" indent="-1018893" algn="l" defTabSz="2037786" rtl="0" eaLnBrk="1" latinLnBrk="0" hangingPunct="1">
        <a:spcBef>
          <a:spcPct val="20000"/>
        </a:spcBef>
        <a:buFont typeface="Arial"/>
        <a:buChar char="»"/>
        <a:defRPr sz="8900" kern="1200">
          <a:solidFill>
            <a:schemeClr val="tx1"/>
          </a:solidFill>
          <a:latin typeface="+mn-lt"/>
          <a:ea typeface="+mn-ea"/>
          <a:cs typeface="+mn-cs"/>
        </a:defRPr>
      </a:lvl5pPr>
      <a:lvl6pPr marL="11207824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6pPr>
      <a:lvl7pPr marL="13245610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7pPr>
      <a:lvl8pPr marL="15283396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8pPr>
      <a:lvl9pPr marL="17321182" indent="-1018893" algn="l" defTabSz="2037786" rtl="0" eaLnBrk="1" latinLnBrk="0" hangingPunct="1">
        <a:spcBef>
          <a:spcPct val="20000"/>
        </a:spcBef>
        <a:buFont typeface="Arial"/>
        <a:buChar char="•"/>
        <a:defRPr sz="8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1pPr>
      <a:lvl2pPr marL="2037786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2pPr>
      <a:lvl3pPr marL="4075572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113358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4pPr>
      <a:lvl5pPr marL="8151144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5pPr>
      <a:lvl6pPr marL="10188931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6pPr>
      <a:lvl7pPr marL="12226717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7pPr>
      <a:lvl8pPr marL="14264503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8pPr>
      <a:lvl9pPr marL="16302289" algn="l" defTabSz="2037786" rtl="0" eaLnBrk="1" latinLnBrk="0" hangingPunct="1">
        <a:defRPr sz="8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4" Type="http://schemas.openxmlformats.org/officeDocument/2006/relationships/image" Target="../media/image2.jpeg"/><Relationship Id="rId5" Type="http://schemas.openxmlformats.org/officeDocument/2006/relationships/image" Target="../media/image3.gif"/><Relationship Id="rId6" Type="http://schemas.openxmlformats.org/officeDocument/2006/relationships/image" Target="../media/image4.tiff"/><Relationship Id="rId7" Type="http://schemas.openxmlformats.org/officeDocument/2006/relationships/image" Target="../media/image5.jpeg"/><Relationship Id="rId8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050" y="3228974"/>
            <a:ext cx="43849925" cy="29670376"/>
          </a:xfrm>
          <a:prstGeom prst="rect">
            <a:avLst/>
          </a:prstGeom>
          <a:solidFill>
            <a:srgbClr val="800000">
              <a:alpha val="14000"/>
            </a:srgbClr>
          </a:solidFill>
          <a:ln>
            <a:solidFill>
              <a:srgbClr val="81343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8"/>
          <p:cNvSpPr txBox="1">
            <a:spLocks noChangeArrowheads="1"/>
          </p:cNvSpPr>
          <p:nvPr/>
        </p:nvSpPr>
        <p:spPr bwMode="auto">
          <a:xfrm>
            <a:off x="19052677" y="3793807"/>
            <a:ext cx="24461473" cy="7366118"/>
          </a:xfrm>
          <a:prstGeom prst="rect">
            <a:avLst/>
          </a:prstGeom>
          <a:solidFill>
            <a:schemeClr val="bg1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square" tIns="137160" bIns="137160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00000"/>
                </a:solidFill>
                <a:latin typeface="Cambria"/>
                <a:cs typeface="Cambria"/>
              </a:rPr>
              <a:t>Ontology </a:t>
            </a:r>
            <a:r>
              <a:rPr lang="en-US" sz="4800" b="1" dirty="0" smtClean="0">
                <a:solidFill>
                  <a:srgbClr val="800000"/>
                </a:solidFill>
                <a:latin typeface="Cambria"/>
                <a:cs typeface="Cambria"/>
              </a:rPr>
              <a:t>Classifications</a:t>
            </a:r>
          </a:p>
          <a:p>
            <a:pPr algn="ctr"/>
            <a:endParaRPr lang="en-US" sz="4800" b="1" dirty="0" smtClean="0">
              <a:solidFill>
                <a:srgbClr val="800000"/>
              </a:solidFill>
              <a:latin typeface="Cambria"/>
              <a:ea typeface="ＭＳ Ｐゴシック" pitchFamily="-109" charset="-128"/>
              <a:cs typeface="Cambria"/>
            </a:endParaRPr>
          </a:p>
          <a:p>
            <a:pPr algn="ctr"/>
            <a:endParaRPr lang="en-US" sz="4800" b="1" dirty="0" smtClean="0">
              <a:solidFill>
                <a:srgbClr val="800000"/>
              </a:solidFill>
              <a:latin typeface="Cambria"/>
              <a:ea typeface="ＭＳ Ｐゴシック" pitchFamily="-109" charset="-128"/>
              <a:cs typeface="Cambria"/>
            </a:endParaRPr>
          </a:p>
          <a:p>
            <a:pPr algn="ctr"/>
            <a:endParaRPr lang="en-US" sz="4800" b="1" dirty="0" smtClean="0">
              <a:solidFill>
                <a:srgbClr val="800000"/>
              </a:solidFill>
              <a:latin typeface="Cambria"/>
              <a:ea typeface="ＭＳ Ｐゴシック" pitchFamily="-109" charset="-128"/>
              <a:cs typeface="Cambria"/>
            </a:endParaRPr>
          </a:p>
          <a:p>
            <a:pPr algn="ctr"/>
            <a:endParaRPr lang="en-US" sz="4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54407" y="28346591"/>
            <a:ext cx="18335587" cy="4339650"/>
          </a:xfrm>
          <a:prstGeom prst="rect">
            <a:avLst/>
          </a:prstGeom>
          <a:solidFill>
            <a:schemeClr val="bg1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square" tIns="137160" bIns="137160">
            <a:prstTxWarp prst="textNoShape">
              <a:avLst/>
            </a:prstTxWarp>
            <a:spAutoFit/>
          </a:bodyPr>
          <a:lstStyle/>
          <a:p>
            <a:pPr algn="ctr">
              <a:spcAft>
                <a:spcPts val="2400"/>
              </a:spcAft>
              <a:defRPr/>
            </a:pPr>
            <a:r>
              <a:rPr lang="en-US" sz="4800" b="1" dirty="0" smtClean="0">
                <a:solidFill>
                  <a:srgbClr val="800000"/>
                </a:solidFill>
                <a:latin typeface="Cambria"/>
                <a:cs typeface="Cambria"/>
              </a:rPr>
              <a:t>Acknowledgement</a:t>
            </a:r>
            <a:endParaRPr lang="en-US" sz="4800" b="1" dirty="0" smtClean="0">
              <a:solidFill>
                <a:srgbClr val="0000FF"/>
              </a:solidFill>
              <a:latin typeface="Cambria"/>
              <a:ea typeface="ＭＳ Ｐゴシック" pitchFamily="-109" charset="-128"/>
              <a:cs typeface="Cambria"/>
            </a:endParaRPr>
          </a:p>
          <a:p>
            <a:pPr algn="ctr">
              <a:spcAft>
                <a:spcPts val="2400"/>
              </a:spcAft>
              <a:defRPr/>
            </a:pPr>
            <a:endParaRPr lang="en-US" sz="3600" b="1" dirty="0" smtClean="0">
              <a:solidFill>
                <a:srgbClr val="0000FF"/>
              </a:solidFill>
              <a:latin typeface="Cambria"/>
              <a:ea typeface="ＭＳ Ｐゴシック" pitchFamily="-109" charset="-128"/>
              <a:cs typeface="Cambria"/>
            </a:endParaRPr>
          </a:p>
          <a:p>
            <a:pPr algn="ctr">
              <a:spcAft>
                <a:spcPts val="2400"/>
              </a:spcAft>
              <a:defRPr/>
            </a:pPr>
            <a:endParaRPr lang="en-US" sz="3600" b="1" dirty="0" smtClean="0">
              <a:solidFill>
                <a:srgbClr val="0000FF"/>
              </a:solidFill>
              <a:latin typeface="Cambria"/>
              <a:ea typeface="ＭＳ Ｐゴシック" pitchFamily="-109" charset="-128"/>
              <a:cs typeface="Cambria"/>
            </a:endParaRPr>
          </a:p>
          <a:p>
            <a:pPr algn="ctr">
              <a:spcAft>
                <a:spcPts val="2400"/>
              </a:spcAft>
              <a:defRPr/>
            </a:pPr>
            <a:endParaRPr lang="en-US" sz="3600" b="1" dirty="0" smtClean="0">
              <a:solidFill>
                <a:srgbClr val="0000FF"/>
              </a:solidFill>
              <a:latin typeface="Cambria"/>
              <a:ea typeface="ＭＳ Ｐゴシック" pitchFamily="-109" charset="-128"/>
              <a:cs typeface="Cambria"/>
            </a:endParaRPr>
          </a:p>
          <a:p>
            <a:pPr algn="ctr">
              <a:spcAft>
                <a:spcPts val="2400"/>
              </a:spcAft>
              <a:defRPr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</p:txBody>
      </p:sp>
      <p:sp>
        <p:nvSpPr>
          <p:cNvPr id="11" name="Rectangle 3"/>
          <p:cNvSpPr txBox="1">
            <a:spLocks/>
          </p:cNvSpPr>
          <p:nvPr/>
        </p:nvSpPr>
        <p:spPr bwMode="auto">
          <a:xfrm>
            <a:off x="343918" y="3793807"/>
            <a:ext cx="18335587" cy="4718469"/>
          </a:xfrm>
          <a:prstGeom prst="rect">
            <a:avLst/>
          </a:prstGeom>
          <a:solidFill>
            <a:schemeClr val="bg1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tIns="137160" bIns="137160">
            <a:prstTxWarp prst="textNoShape">
              <a:avLst/>
            </a:prstTxWarp>
          </a:bodyPr>
          <a:lstStyle/>
          <a:p>
            <a:pPr marL="342900" indent="-342900" algn="ctr" defTabSz="457200">
              <a:lnSpc>
                <a:spcPct val="90000"/>
              </a:lnSpc>
              <a:spcBef>
                <a:spcPct val="20000"/>
              </a:spcBef>
              <a:spcAft>
                <a:spcPts val="2400"/>
              </a:spcAft>
            </a:pPr>
            <a:r>
              <a:rPr lang="en-US" sz="4800" b="1" dirty="0" smtClean="0">
                <a:solidFill>
                  <a:srgbClr val="800000"/>
                </a:solidFill>
                <a:latin typeface="Cambria"/>
                <a:cs typeface="Cambria"/>
              </a:rPr>
              <a:t>Abstract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963522" y="4364931"/>
            <a:ext cx="17310551" cy="4012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4000" dirty="0" smtClean="0"/>
              <a:t>Content from simulation systems is useful in defining domain ontologies. We describe a digital library process to generate and leverage domain ontologies to support simulation systems tasks. Workflow ontologies may be used to define compositions of simulation-related services. Simulation model ontologies may be used in customizing collection management systems for tasks such as organization, interface construction, and metadata record generation. </a:t>
            </a:r>
            <a:endParaRPr lang="en-US" sz="4000" dirty="0"/>
          </a:p>
        </p:txBody>
      </p:sp>
      <p:pic>
        <p:nvPicPr>
          <p:cNvPr id="32" name="Picture 31" descr="nsf4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2561" y="31134927"/>
            <a:ext cx="2108200" cy="1355271"/>
          </a:xfrm>
          <a:prstGeom prst="rect">
            <a:avLst/>
          </a:prstGeom>
        </p:spPr>
      </p:pic>
      <p:pic>
        <p:nvPicPr>
          <p:cNvPr id="33" name="Picture 32" descr="MIDAS_logo_for_web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6007" y="30936811"/>
            <a:ext cx="1735667" cy="1725386"/>
          </a:xfrm>
          <a:prstGeom prst="rect">
            <a:avLst/>
          </a:prstGeom>
        </p:spPr>
      </p:pic>
      <p:pic>
        <p:nvPicPr>
          <p:cNvPr id="34" name="Picture 33" descr="NIH_Logo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7762" y="31178470"/>
            <a:ext cx="1934464" cy="1243584"/>
          </a:xfrm>
          <a:prstGeom prst="rect">
            <a:avLst/>
          </a:prstGeom>
        </p:spPr>
      </p:pic>
      <p:sp>
        <p:nvSpPr>
          <p:cNvPr id="35" name="TextBox 3"/>
          <p:cNvSpPr txBox="1">
            <a:spLocks noChangeArrowheads="1"/>
          </p:cNvSpPr>
          <p:nvPr/>
        </p:nvSpPr>
        <p:spPr bwMode="auto">
          <a:xfrm>
            <a:off x="39216" y="-8822"/>
            <a:ext cx="43851983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b="1" dirty="0" smtClean="0">
                <a:solidFill>
                  <a:srgbClr val="800000"/>
                </a:solidFill>
                <a:latin typeface="Cambria"/>
                <a:cs typeface="Cambria"/>
              </a:rPr>
              <a:t>Improving Simulation Management Systems through Ontology Generation and Utilization</a:t>
            </a:r>
            <a:endParaRPr lang="en-US" sz="4000" b="1" dirty="0" smtClean="0">
              <a:solidFill>
                <a:srgbClr val="800000"/>
              </a:solidFill>
              <a:latin typeface="Cambria" charset="0"/>
            </a:endParaRPr>
          </a:p>
        </p:txBody>
      </p:sp>
      <p:sp>
        <p:nvSpPr>
          <p:cNvPr id="193" name="TextBox 8"/>
          <p:cNvSpPr txBox="1">
            <a:spLocks noChangeArrowheads="1"/>
          </p:cNvSpPr>
          <p:nvPr/>
        </p:nvSpPr>
        <p:spPr bwMode="auto">
          <a:xfrm>
            <a:off x="340338" y="8685455"/>
            <a:ext cx="18335587" cy="6544355"/>
          </a:xfrm>
          <a:prstGeom prst="rect">
            <a:avLst/>
          </a:prstGeom>
          <a:solidFill>
            <a:schemeClr val="bg1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square" tIns="137160" bIns="137160">
            <a:prstTxWarp prst="textNoShape">
              <a:avLst/>
            </a:prstTxWarp>
            <a:spAutoFit/>
          </a:bodyPr>
          <a:lstStyle/>
          <a:p>
            <a:pPr algn="ctr">
              <a:spcAft>
                <a:spcPts val="2400"/>
              </a:spcAft>
              <a:defRPr/>
            </a:pPr>
            <a:r>
              <a:rPr lang="en-US" sz="4800" b="1" dirty="0" smtClean="0">
                <a:solidFill>
                  <a:srgbClr val="800000"/>
                </a:solidFill>
                <a:latin typeface="Cambria"/>
                <a:cs typeface="Cambria"/>
              </a:rPr>
              <a:t>Targeted Simulation Systems</a:t>
            </a:r>
            <a:endParaRPr lang="en-US" sz="48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0" y="1436231"/>
            <a:ext cx="34648848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solidFill>
                  <a:srgbClr val="800000"/>
                </a:solidFill>
              </a:rPr>
              <a:t>Jonathan P. Leidig, Edward A. Fox, Kevin Hall, Madhav Marathe, Henning Mortveit  </a:t>
            </a:r>
          </a:p>
          <a:p>
            <a:pPr algn="ctr"/>
            <a:r>
              <a:rPr lang="en-US" sz="4800" dirty="0" smtClean="0">
                <a:solidFill>
                  <a:srgbClr val="800000"/>
                </a:solidFill>
              </a:rPr>
              <a:t>Contact: </a:t>
            </a:r>
            <a:r>
              <a:rPr lang="en-US" sz="4800" dirty="0" err="1" smtClean="0">
                <a:solidFill>
                  <a:srgbClr val="800000"/>
                </a:solidFill>
              </a:rPr>
              <a:t>leidig@vt.edu</a:t>
            </a:r>
            <a:endParaRPr lang="en-US" sz="4800" dirty="0">
              <a:solidFill>
                <a:srgbClr val="800000"/>
              </a:solidFill>
            </a:endParaRPr>
          </a:p>
        </p:txBody>
      </p:sp>
      <p:sp>
        <p:nvSpPr>
          <p:cNvPr id="137" name="TextBox 8"/>
          <p:cNvSpPr txBox="1">
            <a:spLocks noChangeArrowheads="1"/>
          </p:cNvSpPr>
          <p:nvPr/>
        </p:nvSpPr>
        <p:spPr bwMode="auto">
          <a:xfrm>
            <a:off x="343918" y="15423116"/>
            <a:ext cx="18335587" cy="6944465"/>
          </a:xfrm>
          <a:prstGeom prst="rect">
            <a:avLst/>
          </a:prstGeom>
          <a:solidFill>
            <a:schemeClr val="bg1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square" tIns="137160" bIns="137160">
            <a:prstTxWarp prst="textNoShape">
              <a:avLst/>
            </a:prstTxWarp>
            <a:spAutoFit/>
          </a:bodyPr>
          <a:lstStyle/>
          <a:p>
            <a:pPr algn="ctr">
              <a:spcAft>
                <a:spcPts val="2400"/>
              </a:spcAft>
              <a:defRPr/>
            </a:pPr>
            <a:r>
              <a:rPr lang="en-US" sz="4800" b="1" dirty="0" smtClean="0">
                <a:solidFill>
                  <a:srgbClr val="800000"/>
                </a:solidFill>
                <a:latin typeface="Cambria"/>
                <a:cs typeface="Cambria"/>
              </a:rPr>
              <a:t>Simulation Workflows</a:t>
            </a:r>
          </a:p>
          <a:p>
            <a:pPr algn="ctr">
              <a:spcAft>
                <a:spcPts val="2400"/>
              </a:spcAft>
              <a:defRPr/>
            </a:pPr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algn="ctr">
              <a:spcAft>
                <a:spcPts val="2400"/>
              </a:spcAft>
              <a:defRPr/>
            </a:pPr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algn="ctr">
              <a:spcAft>
                <a:spcPts val="2400"/>
              </a:spcAft>
              <a:defRPr/>
            </a:pPr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</p:txBody>
      </p:sp>
      <p:sp>
        <p:nvSpPr>
          <p:cNvPr id="140" name="TextBox 8"/>
          <p:cNvSpPr txBox="1">
            <a:spLocks noChangeArrowheads="1"/>
          </p:cNvSpPr>
          <p:nvPr/>
        </p:nvSpPr>
        <p:spPr bwMode="auto">
          <a:xfrm>
            <a:off x="19052677" y="11641140"/>
            <a:ext cx="24461473" cy="13213872"/>
          </a:xfrm>
          <a:prstGeom prst="rect">
            <a:avLst/>
          </a:prstGeom>
          <a:solidFill>
            <a:schemeClr val="bg1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square" tIns="137160" bIns="137160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00000"/>
                </a:solidFill>
                <a:latin typeface="Cambria"/>
                <a:cs typeface="Cambria"/>
              </a:rPr>
              <a:t>Ontology Generation and Technologies</a:t>
            </a:r>
            <a:endParaRPr lang="en-US" sz="48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algn="ctr"/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algn="ctr"/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algn="ctr"/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algn="ctr"/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algn="ctr"/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algn="ctr"/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algn="ctr"/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algn="ctr"/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algn="ctr"/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algn="ctr"/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algn="ctr"/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</p:txBody>
      </p:sp>
      <p:sp>
        <p:nvSpPr>
          <p:cNvPr id="144" name="TextBox 8"/>
          <p:cNvSpPr txBox="1">
            <a:spLocks noChangeArrowheads="1"/>
          </p:cNvSpPr>
          <p:nvPr/>
        </p:nvSpPr>
        <p:spPr bwMode="auto">
          <a:xfrm>
            <a:off x="19084123" y="25392023"/>
            <a:ext cx="24461473" cy="4411464"/>
          </a:xfrm>
          <a:prstGeom prst="rect">
            <a:avLst/>
          </a:prstGeom>
          <a:solidFill>
            <a:schemeClr val="bg1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square" tIns="137160" bIns="137160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00000"/>
                </a:solidFill>
                <a:latin typeface="Cambria"/>
                <a:cs typeface="Cambria"/>
              </a:rPr>
              <a:t>Model Ontology</a:t>
            </a:r>
            <a:r>
              <a:rPr lang="en-US" sz="4800" b="1" dirty="0" smtClean="0">
                <a:solidFill>
                  <a:srgbClr val="800000"/>
                </a:solidFill>
                <a:latin typeface="Cambria"/>
                <a:cs typeface="Cambria"/>
              </a:rPr>
              <a:t>-Utilizing Digital Library </a:t>
            </a:r>
            <a:r>
              <a:rPr lang="en-US" sz="4800" b="1" dirty="0" smtClean="0">
                <a:solidFill>
                  <a:srgbClr val="800000"/>
                </a:solidFill>
                <a:latin typeface="Cambria"/>
                <a:cs typeface="Cambria"/>
              </a:rPr>
              <a:t>Services</a:t>
            </a: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4000" dirty="0" smtClean="0">
              <a:latin typeface="Cambria"/>
              <a:ea typeface="ＭＳ Ｐゴシック" pitchFamily="-109" charset="-128"/>
              <a:cs typeface="Cambria"/>
            </a:endParaRPr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504441" y="29117539"/>
            <a:ext cx="18173026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4000" dirty="0" smtClean="0"/>
              <a:t>This work has been partially supported by NSF SDCI Grant OCI-1032677, NSF Nets Grant CNS-062694, CNS-0831633, HSD Grant SES-0729441, CDC Center of Excellence in Public Health Informatics Grant 2506055-01, NIH-NIGMS MIDAS GM070694-05/06, and DTRA CNIMS Grant HDTRA1-07-C-0113.</a:t>
            </a:r>
          </a:p>
        </p:txBody>
      </p:sp>
      <p:sp>
        <p:nvSpPr>
          <p:cNvPr id="54" name="TextBox 8"/>
          <p:cNvSpPr txBox="1">
            <a:spLocks noChangeArrowheads="1"/>
          </p:cNvSpPr>
          <p:nvPr/>
        </p:nvSpPr>
        <p:spPr bwMode="auto">
          <a:xfrm>
            <a:off x="19085756" y="30274240"/>
            <a:ext cx="24403539" cy="2400657"/>
          </a:xfrm>
          <a:prstGeom prst="rect">
            <a:avLst/>
          </a:prstGeom>
          <a:solidFill>
            <a:schemeClr val="bg1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square" tIns="137160" bIns="137160">
            <a:prstTxWarp prst="textNoShape">
              <a:avLst/>
            </a:prstTxWarp>
            <a:spAutoFit/>
          </a:bodyPr>
          <a:lstStyle/>
          <a:p>
            <a:pPr marL="342900" indent="-342900" algn="ctr" defTabSz="457200">
              <a:spcBef>
                <a:spcPts val="1200"/>
              </a:spcBef>
              <a:buClr>
                <a:schemeClr val="accent2"/>
              </a:buClr>
              <a:buSzPct val="70000"/>
            </a:pPr>
            <a:r>
              <a:rPr lang="en-US" sz="4800" b="1" dirty="0" smtClean="0">
                <a:solidFill>
                  <a:srgbClr val="800000"/>
                </a:solidFill>
                <a:latin typeface="Cambria"/>
                <a:cs typeface="Cambria"/>
              </a:rPr>
              <a:t>Related Article:</a:t>
            </a:r>
          </a:p>
          <a:p>
            <a:pPr marL="342900" indent="-342900" algn="ctr" defTabSz="457200">
              <a:buClr>
                <a:schemeClr val="accent2"/>
              </a:buClr>
              <a:buSzPct val="70000"/>
            </a:pPr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marL="342900" indent="-342900" algn="ctr" defTabSz="457200">
              <a:spcBef>
                <a:spcPts val="1200"/>
              </a:spcBef>
              <a:buClr>
                <a:schemeClr val="accent2"/>
              </a:buClr>
              <a:buSzPct val="70000"/>
            </a:pPr>
            <a:endParaRPr lang="en-US" sz="4000" b="1" dirty="0" smtClean="0">
              <a:solidFill>
                <a:srgbClr val="800000"/>
              </a:solidFill>
              <a:latin typeface="Cambria"/>
              <a:cs typeface="Cambria"/>
            </a:endParaRPr>
          </a:p>
        </p:txBody>
      </p:sp>
      <p:sp>
        <p:nvSpPr>
          <p:cNvPr id="55" name="Text Box 19"/>
          <p:cNvSpPr txBox="1">
            <a:spLocks noChangeArrowheads="1"/>
          </p:cNvSpPr>
          <p:nvPr/>
        </p:nvSpPr>
        <p:spPr bwMode="auto">
          <a:xfrm>
            <a:off x="19081709" y="31116175"/>
            <a:ext cx="24376352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 smtClean="0"/>
              <a:t>Jonathan Leidig, Edward Fox, Kevin Hall, Madhav Marathe, Henning Mortveit.</a:t>
            </a:r>
            <a:r>
              <a:rPr lang="en-US" sz="4000" dirty="0" smtClean="0"/>
              <a:t> SimDL</a:t>
            </a:r>
            <a:r>
              <a:rPr lang="en-US" sz="4000" dirty="0" smtClean="0"/>
              <a:t>: A Model Ontology Driven Digital Library for Simulation Systems</a:t>
            </a:r>
            <a:r>
              <a:rPr lang="en-US" sz="4000" dirty="0" smtClean="0"/>
              <a:t>. </a:t>
            </a:r>
            <a:r>
              <a:rPr lang="en-US" sz="4000" dirty="0" smtClean="0"/>
              <a:t>ACM/IEEE Joint Conference on Digital Libraries, Ottawa, Canada, June 13-17, 2011. </a:t>
            </a:r>
            <a:endParaRPr lang="en-US" sz="4000" dirty="0"/>
          </a:p>
        </p:txBody>
      </p:sp>
      <p:pic>
        <p:nvPicPr>
          <p:cNvPr id="77" name="Picture 76" descr="VT_marn_she_invnt_2.5cmyk.t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62901" y="1950866"/>
            <a:ext cx="3331908" cy="721914"/>
          </a:xfrm>
          <a:prstGeom prst="rect">
            <a:avLst/>
          </a:prstGeom>
        </p:spPr>
      </p:pic>
      <p:pic>
        <p:nvPicPr>
          <p:cNvPr id="79" name="Picture 11" descr="VBI logo blue-green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0578948" y="1950497"/>
            <a:ext cx="2910347" cy="722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77747" y="1893300"/>
            <a:ext cx="2862813" cy="779479"/>
          </a:xfrm>
          <a:prstGeom prst="rect">
            <a:avLst/>
          </a:prstGeom>
        </p:spPr>
      </p:pic>
      <p:sp>
        <p:nvSpPr>
          <p:cNvPr id="67" name="TextBox 8"/>
          <p:cNvSpPr txBox="1">
            <a:spLocks noChangeArrowheads="1"/>
          </p:cNvSpPr>
          <p:nvPr/>
        </p:nvSpPr>
        <p:spPr bwMode="auto">
          <a:xfrm>
            <a:off x="340338" y="22558268"/>
            <a:ext cx="18335587" cy="5596403"/>
          </a:xfrm>
          <a:prstGeom prst="rect">
            <a:avLst/>
          </a:prstGeom>
          <a:solidFill>
            <a:schemeClr val="bg1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square" tIns="137160" bIns="137160">
            <a:prstTxWarp prst="textNoShape">
              <a:avLst/>
            </a:prstTxWarp>
            <a:spAutoFit/>
          </a:bodyPr>
          <a:lstStyle/>
          <a:p>
            <a:pPr algn="ctr">
              <a:spcAft>
                <a:spcPts val="2400"/>
              </a:spcAft>
              <a:defRPr/>
            </a:pPr>
            <a:r>
              <a:rPr lang="en-US" sz="4800" b="1" dirty="0" smtClean="0">
                <a:solidFill>
                  <a:srgbClr val="800000"/>
                </a:solidFill>
                <a:latin typeface="Cambria"/>
                <a:cs typeface="Cambria"/>
              </a:rPr>
              <a:t>Prototype Implementation &amp; Applications Supported</a:t>
            </a:r>
            <a:endParaRPr lang="en-US" sz="4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  <a:p>
            <a:pPr marL="342900" indent="-342900" defTabSz="4572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0000"/>
            </a:pPr>
            <a:endParaRPr lang="en-US" sz="2800" dirty="0" smtClean="0">
              <a:latin typeface="Cambria"/>
              <a:ea typeface="ＭＳ Ｐゴシック" pitchFamily="-109" charset="-128"/>
              <a:cs typeface="Cambria"/>
            </a:endParaRPr>
          </a:p>
        </p:txBody>
      </p:sp>
      <p:sp>
        <p:nvSpPr>
          <p:cNvPr id="69" name="Text Box 19"/>
          <p:cNvSpPr txBox="1">
            <a:spLocks noChangeArrowheads="1"/>
          </p:cNvSpPr>
          <p:nvPr/>
        </p:nvSpPr>
        <p:spPr bwMode="auto">
          <a:xfrm>
            <a:off x="808946" y="23639115"/>
            <a:ext cx="9264047" cy="406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numCol="1">
            <a:prstTxWarp prst="textNoShape">
              <a:avLst/>
            </a:prstTxWarp>
            <a:spAutoFit/>
          </a:bodyPr>
          <a:lstStyle/>
          <a:p>
            <a:pPr marL="342900" indent="-342900" defTabSz="457200">
              <a:buClr>
                <a:schemeClr val="accent2"/>
              </a:buClr>
              <a:buSzPct val="70000"/>
            </a:pP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Swiss Tropical Institute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/>
              <a:t>Malaria </a:t>
            </a:r>
            <a:r>
              <a:rPr lang="en-US" sz="4000" dirty="0" smtClean="0"/>
              <a:t>models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/>
              <a:t>Dataset analysis</a:t>
            </a:r>
          </a:p>
          <a:p>
            <a:pPr marL="342900" indent="-342900" defTabSz="457200">
              <a:buClr>
                <a:schemeClr val="accent2"/>
              </a:buClr>
              <a:buSzPct val="70000"/>
            </a:pPr>
            <a:endParaRPr lang="en-US" sz="1800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marL="342900" indent="-342900" defTabSz="457200">
              <a:buClr>
                <a:schemeClr val="accent2"/>
              </a:buClr>
              <a:buSzPct val="70000"/>
            </a:pP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Cyberinfrastructure</a:t>
            </a: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 Network </a:t>
            </a: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Science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/>
              <a:t>Network simulations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/>
              <a:t>Network </a:t>
            </a:r>
            <a:r>
              <a:rPr lang="en-US" sz="4000" dirty="0" smtClean="0"/>
              <a:t>analysis</a:t>
            </a:r>
            <a:endParaRPr lang="en-US" sz="4000" dirty="0" smtClean="0"/>
          </a:p>
        </p:txBody>
      </p:sp>
      <p:sp>
        <p:nvSpPr>
          <p:cNvPr id="112" name="Text Box 19"/>
          <p:cNvSpPr txBox="1">
            <a:spLocks noChangeArrowheads="1"/>
          </p:cNvSpPr>
          <p:nvPr/>
        </p:nvSpPr>
        <p:spPr bwMode="auto">
          <a:xfrm>
            <a:off x="19520990" y="26454169"/>
            <a:ext cx="23413898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numCol="2">
            <a:prstTxWarp prst="textNoShape">
              <a:avLst/>
            </a:prstTxWarp>
            <a:spAutoFit/>
          </a:bodyPr>
          <a:lstStyle/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Content </a:t>
            </a:r>
            <a:r>
              <a:rPr lang="en-US" sz="4000" dirty="0" smtClean="0">
                <a:latin typeface="Cambria"/>
                <a:cs typeface="Cambria"/>
              </a:rPr>
              <a:t>staging</a:t>
            </a:r>
            <a:r>
              <a:rPr lang="en-US" sz="4000" dirty="0" smtClean="0">
                <a:latin typeface="Cambria"/>
                <a:cs typeface="Cambria"/>
              </a:rPr>
              <a:t> 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Interface presentation of model parameters</a:t>
            </a:r>
            <a:endParaRPr lang="en-US" sz="4000" dirty="0" smtClean="0">
              <a:latin typeface="Cambria"/>
              <a:cs typeface="Cambria"/>
            </a:endParaRP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Input parameter gathering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Input configuration generation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Input configuration </a:t>
            </a:r>
            <a:r>
              <a:rPr lang="en-US" sz="4000" dirty="0" smtClean="0">
                <a:latin typeface="Cambria"/>
                <a:cs typeface="Cambria"/>
              </a:rPr>
              <a:t>validation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Input, result, and analysis storing and retrieving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Gathering provenance </a:t>
            </a:r>
            <a:r>
              <a:rPr lang="en-US" sz="4000" dirty="0" smtClean="0">
                <a:latin typeface="Cambria"/>
                <a:cs typeface="Cambria"/>
              </a:rPr>
              <a:t>from workflow stages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Model-specific indexing</a:t>
            </a:r>
            <a:endParaRPr lang="en-US" sz="4000" dirty="0" smtClean="0">
              <a:latin typeface="Cambria"/>
              <a:cs typeface="Cambria"/>
            </a:endParaRP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Faceted </a:t>
            </a:r>
            <a:r>
              <a:rPr lang="en-US" sz="4000" dirty="0" smtClean="0">
                <a:latin typeface="Cambria"/>
                <a:cs typeface="Cambria"/>
              </a:rPr>
              <a:t>browsing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Ranked </a:t>
            </a:r>
            <a:r>
              <a:rPr lang="en-US" sz="4000" dirty="0" smtClean="0">
                <a:latin typeface="Cambria"/>
                <a:cs typeface="Cambria"/>
              </a:rPr>
              <a:t>searching</a:t>
            </a:r>
          </a:p>
        </p:txBody>
      </p:sp>
      <p:sp>
        <p:nvSpPr>
          <p:cNvPr id="113" name="Text Box 19"/>
          <p:cNvSpPr txBox="1">
            <a:spLocks noChangeArrowheads="1"/>
          </p:cNvSpPr>
          <p:nvPr/>
        </p:nvSpPr>
        <p:spPr bwMode="auto">
          <a:xfrm>
            <a:off x="19616353" y="12598963"/>
            <a:ext cx="10146008" cy="1194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numCol="1">
            <a:prstTxWarp prst="textNoShape">
              <a:avLst/>
            </a:prstTxWarp>
            <a:spAutoFit/>
          </a:bodyPr>
          <a:lstStyle/>
          <a:p>
            <a:pPr marL="342900" indent="-342900" defTabSz="457200"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Ontology Formats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XML schema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RDF</a:t>
            </a:r>
          </a:p>
          <a:p>
            <a:pPr marL="342900" indent="-342900" defTabSz="457200"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Ontology Generation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Human-intensive model ontology generation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Metadata description set generation software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Harmonization yields context-specific ontologies</a:t>
            </a:r>
          </a:p>
          <a:p>
            <a:pPr marL="342900" indent="-342900" defTabSz="457200"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Harmonization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RDF descriptions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Software</a:t>
            </a:r>
            <a:r>
              <a:rPr lang="en-US" sz="4000" dirty="0" smtClean="0">
                <a:latin typeface="Cambria"/>
                <a:cs typeface="Cambria"/>
              </a:rPr>
              <a:t> guided human</a:t>
            </a:r>
            <a:r>
              <a:rPr lang="en-US" sz="4000" dirty="0" smtClean="0">
                <a:latin typeface="Cambria"/>
                <a:cs typeface="Cambria"/>
              </a:rPr>
              <a:t> </a:t>
            </a:r>
            <a:r>
              <a:rPr lang="en-US" sz="4000" dirty="0" smtClean="0">
                <a:latin typeface="Cambria"/>
                <a:cs typeface="Cambria"/>
              </a:rPr>
              <a:t>mapping</a:t>
            </a:r>
            <a:endParaRPr lang="en-US" sz="4000" dirty="0" smtClean="0">
              <a:latin typeface="Cambria"/>
              <a:cs typeface="Cambria"/>
            </a:endParaRPr>
          </a:p>
          <a:p>
            <a:pPr marL="342900" indent="-342900" defTabSz="457200"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Ontology Terms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Dublin Core terms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Infrastructure and collection-level terms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5S framework terms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Model and context-specific </a:t>
            </a:r>
            <a:r>
              <a:rPr lang="en-US" sz="4000" dirty="0" smtClean="0">
                <a:latin typeface="Cambria"/>
                <a:cs typeface="Cambria"/>
              </a:rPr>
              <a:t>terms</a:t>
            </a:r>
            <a:endParaRPr lang="en-US" sz="4000" dirty="0" smtClean="0">
              <a:latin typeface="Cambria"/>
              <a:cs typeface="Cambria"/>
            </a:endParaRPr>
          </a:p>
        </p:txBody>
      </p:sp>
      <p:grpSp>
        <p:nvGrpSpPr>
          <p:cNvPr id="292" name="Group 291"/>
          <p:cNvGrpSpPr/>
          <p:nvPr/>
        </p:nvGrpSpPr>
        <p:grpSpPr>
          <a:xfrm>
            <a:off x="414126" y="16444083"/>
            <a:ext cx="18114339" cy="5582722"/>
            <a:chOff x="441992" y="15882055"/>
            <a:chExt cx="18114339" cy="5582722"/>
          </a:xfrm>
        </p:grpSpPr>
        <p:sp>
          <p:nvSpPr>
            <p:cNvPr id="139" name="Text Box 19"/>
            <p:cNvSpPr txBox="1">
              <a:spLocks noChangeArrowheads="1"/>
            </p:cNvSpPr>
            <p:nvPr/>
          </p:nvSpPr>
          <p:spPr bwMode="auto">
            <a:xfrm>
              <a:off x="441992" y="18149545"/>
              <a:ext cx="1888810" cy="584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3200" dirty="0" smtClean="0">
                  <a:latin typeface="Cambria"/>
                  <a:cs typeface="Cambria"/>
                </a:rPr>
                <a:t>Schema</a:t>
              </a:r>
            </a:p>
          </p:txBody>
        </p:sp>
        <p:sp>
          <p:nvSpPr>
            <p:cNvPr id="36" name="Text Box 19"/>
            <p:cNvSpPr txBox="1">
              <a:spLocks noChangeArrowheads="1"/>
            </p:cNvSpPr>
            <p:nvPr/>
          </p:nvSpPr>
          <p:spPr bwMode="auto">
            <a:xfrm>
              <a:off x="2940316" y="17721962"/>
              <a:ext cx="2679076" cy="1077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3200" dirty="0" smtClean="0">
                  <a:latin typeface="Cambria"/>
                  <a:cs typeface="Cambria"/>
                </a:rPr>
                <a:t>Input</a:t>
              </a:r>
            </a:p>
            <a:p>
              <a:pPr algn="ctr"/>
              <a:r>
                <a:rPr lang="en-US" sz="3200" dirty="0" smtClean="0">
                  <a:latin typeface="Cambria"/>
                  <a:cs typeface="Cambria"/>
                </a:rPr>
                <a:t>Configuration</a:t>
              </a:r>
            </a:p>
          </p:txBody>
        </p:sp>
        <p:sp>
          <p:nvSpPr>
            <p:cNvPr id="37" name="Text Box 19"/>
            <p:cNvSpPr txBox="1">
              <a:spLocks noChangeArrowheads="1"/>
            </p:cNvSpPr>
            <p:nvPr/>
          </p:nvSpPr>
          <p:spPr bwMode="auto">
            <a:xfrm>
              <a:off x="6120661" y="17921308"/>
              <a:ext cx="2679076" cy="1077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3200" dirty="0" smtClean="0">
                  <a:latin typeface="Cambria"/>
                  <a:cs typeface="Cambria"/>
                </a:rPr>
                <a:t>Output Result</a:t>
              </a:r>
            </a:p>
            <a:p>
              <a:pPr algn="ctr"/>
              <a:r>
                <a:rPr lang="en-US" sz="3200" dirty="0" smtClean="0">
                  <a:latin typeface="Cambria"/>
                  <a:cs typeface="Cambria"/>
                </a:rPr>
                <a:t>Dataset</a:t>
              </a:r>
            </a:p>
          </p:txBody>
        </p:sp>
        <p:sp>
          <p:nvSpPr>
            <p:cNvPr id="38" name="Text Box 19"/>
            <p:cNvSpPr txBox="1">
              <a:spLocks noChangeArrowheads="1"/>
            </p:cNvSpPr>
            <p:nvPr/>
          </p:nvSpPr>
          <p:spPr bwMode="auto">
            <a:xfrm>
              <a:off x="4763238" y="15882055"/>
              <a:ext cx="2123316" cy="1077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3200" dirty="0" smtClean="0">
                  <a:latin typeface="Cambria"/>
                  <a:cs typeface="Cambria"/>
                </a:rPr>
                <a:t>Simulation</a:t>
              </a:r>
            </a:p>
            <a:p>
              <a:pPr algn="ctr"/>
              <a:r>
                <a:rPr lang="en-US" sz="3200" dirty="0" smtClean="0">
                  <a:latin typeface="Cambria"/>
                  <a:cs typeface="Cambria"/>
                </a:rPr>
                <a:t>Process</a:t>
              </a:r>
            </a:p>
          </p:txBody>
        </p:sp>
        <p:sp>
          <p:nvSpPr>
            <p:cNvPr id="39" name="Text Box 19"/>
            <p:cNvSpPr txBox="1">
              <a:spLocks noChangeArrowheads="1"/>
            </p:cNvSpPr>
            <p:nvPr/>
          </p:nvSpPr>
          <p:spPr bwMode="auto">
            <a:xfrm>
              <a:off x="9355807" y="18028298"/>
              <a:ext cx="2403618" cy="584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3200" dirty="0" smtClean="0">
                  <a:latin typeface="Cambria"/>
                  <a:cs typeface="Cambria"/>
                </a:rPr>
                <a:t>Analysis</a:t>
              </a:r>
            </a:p>
          </p:txBody>
        </p:sp>
        <p:sp>
          <p:nvSpPr>
            <p:cNvPr id="40" name="Text Box 19"/>
            <p:cNvSpPr txBox="1">
              <a:spLocks noChangeArrowheads="1"/>
            </p:cNvSpPr>
            <p:nvPr/>
          </p:nvSpPr>
          <p:spPr bwMode="auto">
            <a:xfrm>
              <a:off x="8126300" y="15884218"/>
              <a:ext cx="2123317" cy="1077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3200" dirty="0" smtClean="0">
                  <a:latin typeface="Cambria"/>
                  <a:cs typeface="Cambria"/>
                </a:rPr>
                <a:t>Analysis</a:t>
              </a:r>
            </a:p>
            <a:p>
              <a:pPr algn="ctr"/>
              <a:r>
                <a:rPr lang="en-US" sz="3200" dirty="0" smtClean="0">
                  <a:latin typeface="Cambria"/>
                  <a:cs typeface="Cambria"/>
                </a:rPr>
                <a:t>Process</a:t>
              </a:r>
            </a:p>
          </p:txBody>
        </p:sp>
        <p:sp>
          <p:nvSpPr>
            <p:cNvPr id="41" name="Text Box 19"/>
            <p:cNvSpPr txBox="1">
              <a:spLocks noChangeArrowheads="1"/>
            </p:cNvSpPr>
            <p:nvPr/>
          </p:nvSpPr>
          <p:spPr bwMode="auto">
            <a:xfrm>
              <a:off x="12320863" y="18009056"/>
              <a:ext cx="3281497" cy="584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3200" dirty="0" smtClean="0">
                  <a:latin typeface="Cambria"/>
                  <a:cs typeface="Cambria"/>
                </a:rPr>
                <a:t>Documentation</a:t>
              </a:r>
            </a:p>
          </p:txBody>
        </p:sp>
        <p:sp>
          <p:nvSpPr>
            <p:cNvPr id="42" name="Text Box 19"/>
            <p:cNvSpPr txBox="1">
              <a:spLocks noChangeArrowheads="1"/>
            </p:cNvSpPr>
            <p:nvPr/>
          </p:nvSpPr>
          <p:spPr bwMode="auto">
            <a:xfrm>
              <a:off x="16070353" y="18028298"/>
              <a:ext cx="2485978" cy="584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3200" dirty="0" smtClean="0">
                  <a:latin typeface="Cambria"/>
                  <a:cs typeface="Cambria"/>
                </a:rPr>
                <a:t>Annotation</a:t>
              </a:r>
            </a:p>
          </p:txBody>
        </p:sp>
        <p:sp>
          <p:nvSpPr>
            <p:cNvPr id="43" name="Text Box 19"/>
            <p:cNvSpPr txBox="1">
              <a:spLocks noChangeArrowheads="1"/>
            </p:cNvSpPr>
            <p:nvPr/>
          </p:nvSpPr>
          <p:spPr bwMode="auto">
            <a:xfrm>
              <a:off x="7930656" y="20463853"/>
              <a:ext cx="2362204" cy="5847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3200" dirty="0" smtClean="0">
                  <a:latin typeface="Cambria"/>
                  <a:cs typeface="Cambria"/>
                </a:rPr>
                <a:t>Experiment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763238" y="15882056"/>
              <a:ext cx="2123316" cy="1149962"/>
            </a:xfrm>
            <a:prstGeom prst="rect">
              <a:avLst/>
            </a:prstGeom>
            <a:solidFill>
              <a:srgbClr val="800000">
                <a:alpha val="14000"/>
              </a:srgb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126301" y="15884219"/>
              <a:ext cx="2123316" cy="1149962"/>
            </a:xfrm>
            <a:prstGeom prst="rect">
              <a:avLst/>
            </a:prstGeom>
            <a:solidFill>
              <a:srgbClr val="800000">
                <a:alpha val="14000"/>
              </a:srgb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2986476" y="17741204"/>
              <a:ext cx="2632916" cy="1388866"/>
            </a:xfrm>
            <a:prstGeom prst="ellipse">
              <a:avLst/>
            </a:prstGeom>
            <a:solidFill>
              <a:srgbClr val="800000">
                <a:alpha val="14000"/>
              </a:srgb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6036771" y="17721962"/>
              <a:ext cx="2915366" cy="1388866"/>
            </a:xfrm>
            <a:prstGeom prst="ellipse">
              <a:avLst/>
            </a:prstGeom>
            <a:solidFill>
              <a:srgbClr val="800000">
                <a:alpha val="14000"/>
              </a:srgb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473438" y="17764705"/>
              <a:ext cx="1857364" cy="1388866"/>
            </a:xfrm>
            <a:prstGeom prst="ellipse">
              <a:avLst/>
            </a:prstGeom>
            <a:solidFill>
              <a:srgbClr val="800000">
                <a:alpha val="14000"/>
              </a:srgb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9401967" y="17660460"/>
              <a:ext cx="2362204" cy="1388866"/>
            </a:xfrm>
            <a:prstGeom prst="ellipse">
              <a:avLst/>
            </a:prstGeom>
            <a:solidFill>
              <a:srgbClr val="800000">
                <a:alpha val="14000"/>
              </a:srgb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12432897" y="17660460"/>
              <a:ext cx="2981782" cy="1388866"/>
            </a:xfrm>
            <a:prstGeom prst="ellipse">
              <a:avLst/>
            </a:prstGeom>
            <a:solidFill>
              <a:srgbClr val="800000">
                <a:alpha val="14000"/>
              </a:srgb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16070353" y="17660460"/>
              <a:ext cx="2485978" cy="1388866"/>
            </a:xfrm>
            <a:prstGeom prst="ellipse">
              <a:avLst/>
            </a:prstGeom>
            <a:solidFill>
              <a:srgbClr val="800000">
                <a:alpha val="14000"/>
              </a:srgb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7930656" y="20075911"/>
              <a:ext cx="2362204" cy="1388866"/>
            </a:xfrm>
            <a:prstGeom prst="ellipse">
              <a:avLst/>
            </a:prstGeom>
            <a:solidFill>
              <a:srgbClr val="800000">
                <a:alpha val="14000"/>
              </a:srgbClr>
            </a:solidFill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>
              <a:stCxn id="48" idx="6"/>
              <a:endCxn id="46" idx="2"/>
            </p:cNvCxnSpPr>
            <p:nvPr/>
          </p:nvCxnSpPr>
          <p:spPr>
            <a:xfrm flipV="1">
              <a:off x="2330802" y="18435637"/>
              <a:ext cx="655674" cy="23501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arrow" w="sm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endCxn id="50" idx="2"/>
            </p:cNvCxnSpPr>
            <p:nvPr/>
          </p:nvCxnSpPr>
          <p:spPr>
            <a:xfrm flipV="1">
              <a:off x="11764171" y="18354893"/>
              <a:ext cx="668726" cy="10241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arrow" w="sm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0" idx="6"/>
              <a:endCxn id="51" idx="2"/>
            </p:cNvCxnSpPr>
            <p:nvPr/>
          </p:nvCxnSpPr>
          <p:spPr>
            <a:xfrm>
              <a:off x="15414679" y="18354893"/>
              <a:ext cx="655674" cy="1588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arrow" w="sm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46" idx="7"/>
              <a:endCxn id="44" idx="2"/>
            </p:cNvCxnSpPr>
            <p:nvPr/>
          </p:nvCxnSpPr>
          <p:spPr>
            <a:xfrm rot="5400000" flipH="1" flipV="1">
              <a:off x="5073063" y="17192766"/>
              <a:ext cx="912581" cy="591086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arrow" w="sm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44" idx="2"/>
              <a:endCxn id="47" idx="1"/>
            </p:cNvCxnSpPr>
            <p:nvPr/>
          </p:nvCxnSpPr>
          <p:spPr>
            <a:xfrm rot="16200000" flipH="1">
              <a:off x="5697637" y="17159277"/>
              <a:ext cx="893339" cy="638820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arrow" w="sm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47" idx="7"/>
              <a:endCxn id="45" idx="2"/>
            </p:cNvCxnSpPr>
            <p:nvPr/>
          </p:nvCxnSpPr>
          <p:spPr>
            <a:xfrm rot="5400000" flipH="1" flipV="1">
              <a:off x="8410987" y="17148386"/>
              <a:ext cx="891176" cy="662767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arrow" w="sm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45" idx="2"/>
              <a:endCxn id="49" idx="1"/>
            </p:cNvCxnSpPr>
            <p:nvPr/>
          </p:nvCxnSpPr>
          <p:spPr>
            <a:xfrm rot="16200000" flipH="1">
              <a:off x="9053094" y="17169045"/>
              <a:ext cx="829674" cy="559945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arrow" w="sm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>
              <a:stCxn id="48" idx="5"/>
              <a:endCxn id="52" idx="2"/>
            </p:cNvCxnSpPr>
            <p:nvPr/>
          </p:nvCxnSpPr>
          <p:spPr>
            <a:xfrm rot="16200000" flipH="1">
              <a:off x="4084642" y="16924330"/>
              <a:ext cx="1820168" cy="5871859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arrow" w="sm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stCxn id="50" idx="3"/>
              <a:endCxn id="52" idx="7"/>
            </p:cNvCxnSpPr>
            <p:nvPr/>
          </p:nvCxnSpPr>
          <p:spPr>
            <a:xfrm rot="5400000">
              <a:off x="10691559" y="18101295"/>
              <a:ext cx="1433375" cy="2922646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arrow" w="sm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51" idx="3"/>
              <a:endCxn id="52" idx="6"/>
            </p:cNvCxnSpPr>
            <p:nvPr/>
          </p:nvCxnSpPr>
          <p:spPr>
            <a:xfrm rot="5400000">
              <a:off x="12401432" y="16737359"/>
              <a:ext cx="1924413" cy="6141556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arrow" w="sm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>
              <a:stCxn id="46" idx="5"/>
              <a:endCxn id="52" idx="1"/>
            </p:cNvCxnSpPr>
            <p:nvPr/>
          </p:nvCxnSpPr>
          <p:spPr>
            <a:xfrm rot="16200000" flipH="1">
              <a:off x="6078886" y="18081598"/>
              <a:ext cx="1352631" cy="3042783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arrow" w="sm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stCxn id="47" idx="4"/>
              <a:endCxn id="52" idx="0"/>
            </p:cNvCxnSpPr>
            <p:nvPr/>
          </p:nvCxnSpPr>
          <p:spPr>
            <a:xfrm rot="16200000" flipH="1">
              <a:off x="7820565" y="18784717"/>
              <a:ext cx="965083" cy="1617304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arrow" w="sm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stCxn id="49" idx="4"/>
              <a:endCxn id="52" idx="0"/>
            </p:cNvCxnSpPr>
            <p:nvPr/>
          </p:nvCxnSpPr>
          <p:spPr>
            <a:xfrm rot="5400000">
              <a:off x="9334122" y="18826963"/>
              <a:ext cx="1026585" cy="1471311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arrow" w="sm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" name="TextBox 114"/>
          <p:cNvSpPr txBox="1"/>
          <p:nvPr/>
        </p:nvSpPr>
        <p:spPr>
          <a:xfrm>
            <a:off x="-8138957" y="19280571"/>
            <a:ext cx="1846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94" name="Text Box 19"/>
          <p:cNvSpPr txBox="1">
            <a:spLocks noChangeArrowheads="1"/>
          </p:cNvSpPr>
          <p:nvPr/>
        </p:nvSpPr>
        <p:spPr bwMode="auto">
          <a:xfrm>
            <a:off x="963522" y="9597981"/>
            <a:ext cx="17279105" cy="5247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numCol="2">
            <a:prstTxWarp prst="textNoShape">
              <a:avLst/>
            </a:prstTxWarp>
            <a:spAutoFit/>
          </a:bodyPr>
          <a:lstStyle/>
          <a:p>
            <a:pPr marL="342900" indent="-342900" defTabSz="457200"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Epidemiology </a:t>
            </a: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Applications</a:t>
            </a:r>
          </a:p>
          <a:p>
            <a:pPr marL="342900" indent="-342900" defTabSz="457200">
              <a:spcBef>
                <a:spcPts val="1200"/>
              </a:spcBef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Malaria models</a:t>
            </a:r>
          </a:p>
          <a:p>
            <a:pPr marL="342900" indent="-342900" defTabSz="457200">
              <a:spcBef>
                <a:spcPts val="1200"/>
              </a:spcBef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Influenza models</a:t>
            </a:r>
          </a:p>
          <a:p>
            <a:pPr marL="342900" indent="-342900" defTabSz="457200">
              <a:spcBef>
                <a:spcPts val="1200"/>
              </a:spcBef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ODE and agent-based models</a:t>
            </a:r>
          </a:p>
          <a:p>
            <a:pPr marL="342900" indent="-342900" defTabSz="457200">
              <a:spcBef>
                <a:spcPts val="1200"/>
              </a:spcBef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Models from NIH MIDAS community</a:t>
            </a:r>
          </a:p>
          <a:p>
            <a:pPr marL="342900" indent="-342900" defTabSz="457200">
              <a:spcBef>
                <a:spcPts val="1200"/>
              </a:spcBef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Models from Gates Foundation </a:t>
            </a:r>
            <a:r>
              <a:rPr lang="en-US" sz="4000" dirty="0" smtClean="0">
                <a:latin typeface="Cambria"/>
                <a:cs typeface="Cambria"/>
              </a:rPr>
              <a:t>community</a:t>
            </a:r>
            <a:endParaRPr lang="en-US" sz="4000" dirty="0" smtClean="0">
              <a:solidFill>
                <a:srgbClr val="800000"/>
              </a:solidFill>
              <a:latin typeface="Cambria"/>
              <a:cs typeface="Cambria"/>
            </a:endParaRPr>
          </a:p>
          <a:p>
            <a:pPr marL="342900" indent="-342900" defTabSz="457200"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Analysis applications</a:t>
            </a:r>
          </a:p>
          <a:p>
            <a:pPr marL="342900" indent="-342900" defTabSz="457200">
              <a:spcBef>
                <a:spcPts val="1200"/>
              </a:spcBef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Network analysis</a:t>
            </a:r>
          </a:p>
          <a:p>
            <a:pPr marL="342900" indent="-342900" defTabSz="457200">
              <a:spcBef>
                <a:spcPts val="1200"/>
              </a:spcBef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Model-specific </a:t>
            </a:r>
            <a:r>
              <a:rPr lang="en-US" sz="4000" dirty="0" smtClean="0">
                <a:latin typeface="Cambria"/>
                <a:cs typeface="Cambria"/>
              </a:rPr>
              <a:t>analysis</a:t>
            </a:r>
          </a:p>
          <a:p>
            <a:pPr marL="342900" indent="-342900" defTabSz="457200">
              <a:spcBef>
                <a:spcPts val="1200"/>
              </a:spcBef>
              <a:buClr>
                <a:schemeClr val="accent2"/>
              </a:buClr>
              <a:buSzPct val="70000"/>
            </a:pPr>
            <a:endParaRPr lang="en-US" sz="1400" dirty="0" smtClean="0">
              <a:latin typeface="Cambria"/>
              <a:cs typeface="Cambria"/>
            </a:endParaRPr>
          </a:p>
          <a:p>
            <a:pPr marL="342900" indent="-342900" defTabSz="457200"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SzPct val="70000"/>
            </a:pP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Digital Library Integration</a:t>
            </a:r>
          </a:p>
          <a:p>
            <a:pPr marL="342900" indent="-342900" defTabSz="457200">
              <a:spcBef>
                <a:spcPts val="1200"/>
              </a:spcBef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Institutional infrastructure</a:t>
            </a:r>
          </a:p>
          <a:p>
            <a:pPr marL="342900" indent="-342900" defTabSz="457200">
              <a:spcBef>
                <a:spcPts val="1200"/>
              </a:spcBef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>
                <a:latin typeface="Cambria"/>
                <a:cs typeface="Cambria"/>
              </a:rPr>
              <a:t>Network science </a:t>
            </a:r>
            <a:r>
              <a:rPr lang="en-US" sz="4000" dirty="0" smtClean="0">
                <a:latin typeface="Cambria"/>
                <a:cs typeface="Cambria"/>
              </a:rPr>
              <a:t>cyberinfrastructure</a:t>
            </a:r>
            <a:endParaRPr lang="en-US" sz="4000" dirty="0" smtClean="0">
              <a:latin typeface="Cambria"/>
              <a:cs typeface="Cambria"/>
            </a:endParaRPr>
          </a:p>
        </p:txBody>
      </p:sp>
      <p:sp>
        <p:nvSpPr>
          <p:cNvPr id="293" name="Text Box 19"/>
          <p:cNvSpPr txBox="1">
            <a:spLocks noChangeArrowheads="1"/>
          </p:cNvSpPr>
          <p:nvPr/>
        </p:nvSpPr>
        <p:spPr bwMode="auto">
          <a:xfrm>
            <a:off x="10072993" y="23639116"/>
            <a:ext cx="8602932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numCol="1">
            <a:prstTxWarp prst="textNoShape">
              <a:avLst/>
            </a:prstTxWarp>
            <a:spAutoFit/>
          </a:bodyPr>
          <a:lstStyle/>
          <a:p>
            <a:pPr marL="342900" indent="-342900" defTabSz="457200">
              <a:buClr>
                <a:schemeClr val="accent2"/>
              </a:buClr>
              <a:buSzPct val="70000"/>
            </a:pP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Virginia </a:t>
            </a:r>
            <a:r>
              <a:rPr lang="en-US" sz="4000" b="1" dirty="0" smtClean="0">
                <a:solidFill>
                  <a:srgbClr val="800000"/>
                </a:solidFill>
                <a:latin typeface="Cambria"/>
                <a:cs typeface="Cambria"/>
              </a:rPr>
              <a:t>Bioinformatics Institute</a:t>
            </a:r>
          </a:p>
          <a:p>
            <a:pPr marL="342900" indent="-342900" defTabSz="457200">
              <a:buClr>
                <a:schemeClr val="accent2"/>
              </a:buClr>
              <a:buSzPct val="70000"/>
            </a:pPr>
            <a:r>
              <a:rPr lang="en-US" sz="4000" dirty="0" smtClean="0">
                <a:solidFill>
                  <a:srgbClr val="800000"/>
                </a:solidFill>
                <a:latin typeface="Cambria"/>
                <a:cs typeface="Cambria"/>
              </a:rPr>
              <a:t>Biological domains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/>
              <a:t>Infectious diseases (e.g., H1N1, </a:t>
            </a:r>
            <a:r>
              <a:rPr lang="en-US" sz="4000" dirty="0" smtClean="0"/>
              <a:t>H5N1</a:t>
            </a:r>
            <a:r>
              <a:rPr lang="en-US" sz="4000" dirty="0" smtClean="0"/>
              <a:t>)</a:t>
            </a:r>
            <a:endParaRPr lang="en-US" sz="4000" dirty="0" smtClean="0"/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/>
              <a:t>Biological organs</a:t>
            </a:r>
          </a:p>
          <a:p>
            <a:pPr marL="342900" indent="-342900" defTabSz="457200">
              <a:buClr>
                <a:schemeClr val="accent2"/>
              </a:buClr>
              <a:buSzPct val="70000"/>
            </a:pPr>
            <a:r>
              <a:rPr lang="en-US" sz="4000" dirty="0" smtClean="0">
                <a:solidFill>
                  <a:srgbClr val="800000"/>
                </a:solidFill>
                <a:latin typeface="Cambria"/>
                <a:cs typeface="Cambria"/>
              </a:rPr>
              <a:t>Infrastructure domains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/>
              <a:t>Transportation systems</a:t>
            </a:r>
          </a:p>
          <a:p>
            <a:pPr marL="342900" indent="-342900" defTabSz="457200">
              <a:buClr>
                <a:schemeClr val="accent2"/>
              </a:buClr>
              <a:buSzPct val="70000"/>
              <a:buFont typeface="Wingdings" charset="2"/>
              <a:buChar char="u"/>
            </a:pPr>
            <a:r>
              <a:rPr lang="en-US" sz="4000" dirty="0" smtClean="0"/>
              <a:t>Computer and wireless networks</a:t>
            </a:r>
          </a:p>
        </p:txBody>
      </p:sp>
      <p:grpSp>
        <p:nvGrpSpPr>
          <p:cNvPr id="362" name="Group 361"/>
          <p:cNvGrpSpPr/>
          <p:nvPr/>
        </p:nvGrpSpPr>
        <p:grpSpPr>
          <a:xfrm>
            <a:off x="19886049" y="4402903"/>
            <a:ext cx="6604605" cy="6513197"/>
            <a:chOff x="19828329" y="4402903"/>
            <a:chExt cx="6604605" cy="6513197"/>
          </a:xfrm>
        </p:grpSpPr>
        <p:sp>
          <p:nvSpPr>
            <p:cNvPr id="136" name="Text Box 19"/>
            <p:cNvSpPr txBox="1">
              <a:spLocks noChangeArrowheads="1"/>
            </p:cNvSpPr>
            <p:nvPr/>
          </p:nvSpPr>
          <p:spPr bwMode="auto">
            <a:xfrm>
              <a:off x="19852324" y="4402903"/>
              <a:ext cx="6580610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numCol="1">
              <a:prstTxWarp prst="textNoShape">
                <a:avLst/>
              </a:prstTxWarp>
              <a:spAutoFit/>
            </a:bodyPr>
            <a:lstStyle/>
            <a:p>
              <a:pPr marL="342900" indent="-342900" algn="ctr" defTabSz="457200">
                <a:spcBef>
                  <a:spcPts val="1200"/>
                </a:spcBef>
                <a:spcAft>
                  <a:spcPts val="600"/>
                </a:spcAft>
                <a:buClr>
                  <a:schemeClr val="accent2"/>
                </a:buClr>
                <a:buSzPct val="70000"/>
              </a:pPr>
              <a:r>
                <a:rPr lang="en-US" sz="4000" b="1" dirty="0" smtClean="0">
                  <a:solidFill>
                    <a:srgbClr val="800000"/>
                  </a:solidFill>
                  <a:latin typeface="Cambria"/>
                  <a:cs typeface="Cambria"/>
                </a:rPr>
                <a:t>Simulation </a:t>
              </a:r>
              <a:r>
                <a:rPr lang="en-US" sz="4000" b="1" dirty="0" smtClean="0">
                  <a:solidFill>
                    <a:srgbClr val="800000"/>
                  </a:solidFill>
                  <a:latin typeface="Cambria"/>
                  <a:cs typeface="Cambria"/>
                </a:rPr>
                <a:t>model ontology</a:t>
              </a:r>
            </a:p>
          </p:txBody>
        </p:sp>
        <p:grpSp>
          <p:nvGrpSpPr>
            <p:cNvPr id="116" name="Group 115"/>
            <p:cNvGrpSpPr/>
            <p:nvPr/>
          </p:nvGrpSpPr>
          <p:grpSpPr>
            <a:xfrm>
              <a:off x="20270859" y="5314520"/>
              <a:ext cx="3349481" cy="847137"/>
              <a:chOff x="25837867" y="7178130"/>
              <a:chExt cx="2946676" cy="602702"/>
            </a:xfrm>
          </p:grpSpPr>
          <p:sp>
            <p:nvSpPr>
              <p:cNvPr id="98" name="Rectangle 97"/>
              <p:cNvSpPr/>
              <p:nvPr/>
            </p:nvSpPr>
            <p:spPr>
              <a:xfrm>
                <a:off x="25837867" y="7183246"/>
                <a:ext cx="2946676" cy="59758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/>
              </a:p>
            </p:txBody>
          </p:sp>
          <p:sp>
            <p:nvSpPr>
              <p:cNvPr id="102" name="Content Placeholder 2"/>
              <p:cNvSpPr txBox="1">
                <a:spLocks/>
              </p:cNvSpPr>
              <p:nvPr/>
            </p:nvSpPr>
            <p:spPr>
              <a:xfrm>
                <a:off x="25864937" y="7178130"/>
                <a:ext cx="2905528" cy="602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Input</a:t>
                </a: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4000" dirty="0" smtClean="0"/>
                  <a:t>s</a:t>
                </a:r>
                <a:r>
                  <a:rPr lang="en-US" sz="4000" dirty="0" smtClean="0"/>
                  <a:t>chema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Group 116"/>
            <p:cNvGrpSpPr/>
            <p:nvPr/>
          </p:nvGrpSpPr>
          <p:grpSpPr>
            <a:xfrm>
              <a:off x="20309654" y="7292978"/>
              <a:ext cx="3349481" cy="680386"/>
              <a:chOff x="28895794" y="7034316"/>
              <a:chExt cx="2946676" cy="602701"/>
            </a:xfrm>
          </p:grpSpPr>
          <p:sp>
            <p:nvSpPr>
              <p:cNvPr id="105" name="Rectangle 104"/>
              <p:cNvSpPr/>
              <p:nvPr/>
            </p:nvSpPr>
            <p:spPr>
              <a:xfrm>
                <a:off x="28895794" y="7039431"/>
                <a:ext cx="2946676" cy="59758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/>
              </a:p>
            </p:txBody>
          </p:sp>
          <p:sp>
            <p:nvSpPr>
              <p:cNvPr id="106" name="Content Placeholder 2"/>
              <p:cNvSpPr txBox="1">
                <a:spLocks/>
              </p:cNvSpPr>
              <p:nvPr/>
            </p:nvSpPr>
            <p:spPr>
              <a:xfrm>
                <a:off x="28922865" y="7034316"/>
                <a:ext cx="2905528" cy="602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Result </a:t>
                </a:r>
                <a:r>
                  <a:rPr lang="en-US" sz="4000" dirty="0" smtClean="0"/>
                  <a:t>s</a:t>
                </a:r>
                <a:r>
                  <a:rPr lang="en-US" sz="4000" dirty="0" smtClean="0"/>
                  <a:t>chema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Group 117"/>
            <p:cNvGrpSpPr/>
            <p:nvPr/>
          </p:nvGrpSpPr>
          <p:grpSpPr>
            <a:xfrm>
              <a:off x="22296575" y="6306070"/>
              <a:ext cx="2778154" cy="824653"/>
              <a:chOff x="32595969" y="7178087"/>
              <a:chExt cx="2946676" cy="602701"/>
            </a:xfrm>
          </p:grpSpPr>
          <p:sp>
            <p:nvSpPr>
              <p:cNvPr id="107" name="Rectangle 106"/>
              <p:cNvSpPr/>
              <p:nvPr/>
            </p:nvSpPr>
            <p:spPr>
              <a:xfrm>
                <a:off x="32595969" y="7183202"/>
                <a:ext cx="2946676" cy="59758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/>
              </a:p>
            </p:txBody>
          </p:sp>
          <p:sp>
            <p:nvSpPr>
              <p:cNvPr id="108" name="Content Placeholder 2"/>
              <p:cNvSpPr txBox="1">
                <a:spLocks/>
              </p:cNvSpPr>
              <p:nvPr/>
            </p:nvSpPr>
            <p:spPr>
              <a:xfrm>
                <a:off x="32623040" y="7178087"/>
                <a:ext cx="2905528" cy="602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Validation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>
              <a:off x="22322098" y="8152953"/>
              <a:ext cx="2778154" cy="1254095"/>
              <a:chOff x="35843446" y="6908596"/>
              <a:chExt cx="2946676" cy="1136612"/>
            </a:xfrm>
          </p:grpSpPr>
          <p:sp>
            <p:nvSpPr>
              <p:cNvPr id="109" name="Rectangle 108"/>
              <p:cNvSpPr/>
              <p:nvPr/>
            </p:nvSpPr>
            <p:spPr>
              <a:xfrm>
                <a:off x="35843446" y="6913710"/>
                <a:ext cx="2946676" cy="1131497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/>
              </a:p>
            </p:txBody>
          </p:sp>
          <p:sp>
            <p:nvSpPr>
              <p:cNvPr id="110" name="Content Placeholder 2"/>
              <p:cNvSpPr txBox="1">
                <a:spLocks/>
              </p:cNvSpPr>
              <p:nvPr/>
            </p:nvSpPr>
            <p:spPr>
              <a:xfrm>
                <a:off x="35870517" y="6908596"/>
                <a:ext cx="2905528" cy="11366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Compatible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/>
                  <a:t>a</a:t>
                </a: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nalyses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Group 119"/>
            <p:cNvGrpSpPr/>
            <p:nvPr/>
          </p:nvGrpSpPr>
          <p:grpSpPr>
            <a:xfrm>
              <a:off x="20270859" y="9578367"/>
              <a:ext cx="3388276" cy="1337733"/>
              <a:chOff x="38790122" y="6340290"/>
              <a:chExt cx="2946676" cy="1136612"/>
            </a:xfrm>
          </p:grpSpPr>
          <p:sp>
            <p:nvSpPr>
              <p:cNvPr id="111" name="Rectangle 110"/>
              <p:cNvSpPr/>
              <p:nvPr/>
            </p:nvSpPr>
            <p:spPr>
              <a:xfrm>
                <a:off x="38790122" y="6345404"/>
                <a:ext cx="2946676" cy="1131497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/>
              </a:p>
            </p:txBody>
          </p:sp>
          <p:sp>
            <p:nvSpPr>
              <p:cNvPr id="114" name="Content Placeholder 2"/>
              <p:cNvSpPr txBox="1">
                <a:spLocks/>
              </p:cNvSpPr>
              <p:nvPr/>
            </p:nvSpPr>
            <p:spPr>
              <a:xfrm>
                <a:off x="38817191" y="6340290"/>
                <a:ext cx="2905528" cy="11366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Language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/>
                  <a:t>s</a:t>
                </a: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upport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29" name="Rectangle 128"/>
            <p:cNvSpPr/>
            <p:nvPr/>
          </p:nvSpPr>
          <p:spPr>
            <a:xfrm>
              <a:off x="19828330" y="4494495"/>
              <a:ext cx="6604604" cy="6483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cxnSp>
          <p:nvCxnSpPr>
            <p:cNvPr id="300" name="Elbow Connector 299"/>
            <p:cNvCxnSpPr>
              <a:stCxn id="129" idx="1"/>
              <a:endCxn id="98" idx="1"/>
            </p:cNvCxnSpPr>
            <p:nvPr/>
          </p:nvCxnSpPr>
          <p:spPr>
            <a:xfrm rot="10800000" flipH="1" flipV="1">
              <a:off x="19828329" y="4818688"/>
              <a:ext cx="442529" cy="922996"/>
            </a:xfrm>
            <a:prstGeom prst="bentConnector3">
              <a:avLst>
                <a:gd name="adj1" fmla="val -51658"/>
              </a:avLst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Elbow Connector 302"/>
            <p:cNvCxnSpPr>
              <a:stCxn id="129" idx="1"/>
              <a:endCxn id="105" idx="1"/>
            </p:cNvCxnSpPr>
            <p:nvPr/>
          </p:nvCxnSpPr>
          <p:spPr>
            <a:xfrm rot="10800000" flipH="1" flipV="1">
              <a:off x="19828330" y="4818688"/>
              <a:ext cx="481324" cy="2817370"/>
            </a:xfrm>
            <a:prstGeom prst="bentConnector3">
              <a:avLst>
                <a:gd name="adj1" fmla="val -47494"/>
              </a:avLst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Elbow Connector 305"/>
            <p:cNvCxnSpPr>
              <a:stCxn id="129" idx="1"/>
              <a:endCxn id="111" idx="1"/>
            </p:cNvCxnSpPr>
            <p:nvPr/>
          </p:nvCxnSpPr>
          <p:spPr>
            <a:xfrm rot="10800000" flipH="1" flipV="1">
              <a:off x="19828329" y="4818687"/>
              <a:ext cx="442529" cy="5431555"/>
            </a:xfrm>
            <a:prstGeom prst="bentConnector3">
              <a:avLst>
                <a:gd name="adj1" fmla="val -51658"/>
              </a:avLst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Elbow Connector 308"/>
            <p:cNvCxnSpPr>
              <a:stCxn id="102" idx="2"/>
              <a:endCxn id="107" idx="1"/>
            </p:cNvCxnSpPr>
            <p:nvPr/>
          </p:nvCxnSpPr>
          <p:spPr>
            <a:xfrm rot="16200000" flipH="1">
              <a:off x="21844629" y="6269949"/>
              <a:ext cx="560301" cy="343592"/>
            </a:xfrm>
            <a:prstGeom prst="bentConnector2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Elbow Connector 314"/>
            <p:cNvCxnSpPr>
              <a:stCxn id="106" idx="2"/>
              <a:endCxn id="109" idx="1"/>
            </p:cNvCxnSpPr>
            <p:nvPr/>
          </p:nvCxnSpPr>
          <p:spPr>
            <a:xfrm rot="16200000" flipH="1">
              <a:off x="21752186" y="8212909"/>
              <a:ext cx="809507" cy="330318"/>
            </a:xfrm>
            <a:prstGeom prst="bentConnector2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6" name="Group 365"/>
          <p:cNvGrpSpPr/>
          <p:nvPr/>
        </p:nvGrpSpPr>
        <p:grpSpPr>
          <a:xfrm>
            <a:off x="27711654" y="5087802"/>
            <a:ext cx="6636480" cy="5644087"/>
            <a:chOff x="27711654" y="5087802"/>
            <a:chExt cx="6636480" cy="5644087"/>
          </a:xfrm>
        </p:grpSpPr>
        <p:grpSp>
          <p:nvGrpSpPr>
            <p:cNvPr id="192" name="Group 191"/>
            <p:cNvGrpSpPr/>
            <p:nvPr/>
          </p:nvGrpSpPr>
          <p:grpSpPr>
            <a:xfrm>
              <a:off x="30614633" y="6289662"/>
              <a:ext cx="3108771" cy="3466718"/>
              <a:chOff x="28910425" y="7039593"/>
              <a:chExt cx="3239080" cy="604703"/>
            </a:xfrm>
          </p:grpSpPr>
          <p:sp>
            <p:nvSpPr>
              <p:cNvPr id="195" name="Rectangle 194"/>
              <p:cNvSpPr/>
              <p:nvPr/>
            </p:nvSpPr>
            <p:spPr>
              <a:xfrm>
                <a:off x="28927457" y="7046710"/>
                <a:ext cx="3222037" cy="59758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196" name="Content Placeholder 2"/>
              <p:cNvSpPr txBox="1">
                <a:spLocks/>
              </p:cNvSpPr>
              <p:nvPr/>
            </p:nvSpPr>
            <p:spPr>
              <a:xfrm>
                <a:off x="28910425" y="7039593"/>
                <a:ext cx="3239080" cy="602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Model ontology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/>
                  <a:t>relationships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(e.g., malaria,</a:t>
                </a:r>
                <a:r>
                  <a:rPr kumimoji="0" lang="en-US" sz="4000" b="0" i="0" u="none" strike="noStrike" kern="1200" cap="none" spc="0" normalizeH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</a:t>
                </a: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influenza)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cxnSp>
          <p:nvCxnSpPr>
            <p:cNvPr id="205" name="Elbow Connector 204"/>
            <p:cNvCxnSpPr>
              <a:endCxn id="191" idx="1"/>
            </p:cNvCxnSpPr>
            <p:nvPr/>
          </p:nvCxnSpPr>
          <p:spPr>
            <a:xfrm rot="5400000">
              <a:off x="26973523" y="6230836"/>
              <a:ext cx="1530848" cy="9166"/>
            </a:xfrm>
            <a:prstGeom prst="bentConnector4">
              <a:avLst>
                <a:gd name="adj1" fmla="val -170"/>
                <a:gd name="adj2" fmla="val 2836472"/>
              </a:avLst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lbow Connector 221"/>
            <p:cNvCxnSpPr>
              <a:endCxn id="320" idx="1"/>
            </p:cNvCxnSpPr>
            <p:nvPr/>
          </p:nvCxnSpPr>
          <p:spPr>
            <a:xfrm rot="5400000">
              <a:off x="26200780" y="6980868"/>
              <a:ext cx="3053622" cy="31874"/>
            </a:xfrm>
            <a:prstGeom prst="bentConnector4">
              <a:avLst>
                <a:gd name="adj1" fmla="val -10"/>
                <a:gd name="adj2" fmla="val 817199"/>
              </a:avLst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Elbow Connector 222"/>
            <p:cNvCxnSpPr/>
            <p:nvPr/>
          </p:nvCxnSpPr>
          <p:spPr>
            <a:xfrm rot="5400000">
              <a:off x="25442639" y="7642799"/>
              <a:ext cx="4569904" cy="31874"/>
            </a:xfrm>
            <a:prstGeom prst="bentConnector4">
              <a:avLst>
                <a:gd name="adj1" fmla="val 2063"/>
                <a:gd name="adj2" fmla="val 817199"/>
              </a:avLst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Elbow Connector 234"/>
            <p:cNvCxnSpPr/>
            <p:nvPr/>
          </p:nvCxnSpPr>
          <p:spPr>
            <a:xfrm rot="10800000" flipH="1" flipV="1">
              <a:off x="27743528" y="5469994"/>
              <a:ext cx="4419820" cy="854645"/>
            </a:xfrm>
            <a:prstGeom prst="bentConnector4">
              <a:avLst>
                <a:gd name="adj1" fmla="val -5890"/>
                <a:gd name="adj2" fmla="val 67481"/>
              </a:avLst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9" name="Group 318"/>
            <p:cNvGrpSpPr/>
            <p:nvPr/>
          </p:nvGrpSpPr>
          <p:grpSpPr>
            <a:xfrm>
              <a:off x="27711654" y="7819778"/>
              <a:ext cx="2297239" cy="1395829"/>
              <a:chOff x="25837866" y="7178130"/>
              <a:chExt cx="2946676" cy="602701"/>
            </a:xfrm>
          </p:grpSpPr>
          <p:sp>
            <p:nvSpPr>
              <p:cNvPr id="320" name="Rectangle 319"/>
              <p:cNvSpPr/>
              <p:nvPr/>
            </p:nvSpPr>
            <p:spPr>
              <a:xfrm>
                <a:off x="25837866" y="7183245"/>
                <a:ext cx="2946676" cy="59758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321" name="Content Placeholder 2"/>
              <p:cNvSpPr txBox="1">
                <a:spLocks/>
              </p:cNvSpPr>
              <p:nvPr/>
            </p:nvSpPr>
            <p:spPr>
              <a:xfrm>
                <a:off x="25864937" y="7178130"/>
                <a:ext cx="2905528" cy="602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Model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ontology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22" name="Group 321"/>
            <p:cNvGrpSpPr/>
            <p:nvPr/>
          </p:nvGrpSpPr>
          <p:grpSpPr>
            <a:xfrm>
              <a:off x="27711654" y="9336060"/>
              <a:ext cx="2297239" cy="1395829"/>
              <a:chOff x="25837866" y="7178130"/>
              <a:chExt cx="2946676" cy="602701"/>
            </a:xfrm>
          </p:grpSpPr>
          <p:sp>
            <p:nvSpPr>
              <p:cNvPr id="323" name="Rectangle 322"/>
              <p:cNvSpPr/>
              <p:nvPr/>
            </p:nvSpPr>
            <p:spPr>
              <a:xfrm>
                <a:off x="25837866" y="7183245"/>
                <a:ext cx="2946676" cy="59758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324" name="Content Placeholder 2"/>
              <p:cNvSpPr txBox="1">
                <a:spLocks/>
              </p:cNvSpPr>
              <p:nvPr/>
            </p:nvSpPr>
            <p:spPr>
              <a:xfrm>
                <a:off x="25864937" y="7178130"/>
                <a:ext cx="2905528" cy="602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Model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ontology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89" name="Group 188"/>
            <p:cNvGrpSpPr/>
            <p:nvPr/>
          </p:nvGrpSpPr>
          <p:grpSpPr>
            <a:xfrm>
              <a:off x="27713259" y="6302978"/>
              <a:ext cx="2297239" cy="1395829"/>
              <a:chOff x="25837866" y="7178130"/>
              <a:chExt cx="2946676" cy="602701"/>
            </a:xfrm>
          </p:grpSpPr>
          <p:sp>
            <p:nvSpPr>
              <p:cNvPr id="190" name="Rectangle 189"/>
              <p:cNvSpPr/>
              <p:nvPr/>
            </p:nvSpPr>
            <p:spPr>
              <a:xfrm>
                <a:off x="25837866" y="7183245"/>
                <a:ext cx="2946676" cy="59758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191" name="Content Placeholder 2"/>
              <p:cNvSpPr txBox="1">
                <a:spLocks/>
              </p:cNvSpPr>
              <p:nvPr/>
            </p:nvSpPr>
            <p:spPr>
              <a:xfrm>
                <a:off x="25864937" y="7178130"/>
                <a:ext cx="2905528" cy="602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Model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ontology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7" name="Group 336"/>
            <p:cNvGrpSpPr/>
            <p:nvPr/>
          </p:nvGrpSpPr>
          <p:grpSpPr>
            <a:xfrm>
              <a:off x="27743529" y="5087802"/>
              <a:ext cx="6604605" cy="744868"/>
              <a:chOff x="28340031" y="4799172"/>
              <a:chExt cx="6604605" cy="744868"/>
            </a:xfrm>
          </p:grpSpPr>
          <p:sp>
            <p:nvSpPr>
              <p:cNvPr id="210" name="Text Box 19"/>
              <p:cNvSpPr txBox="1">
                <a:spLocks noChangeArrowheads="1"/>
              </p:cNvSpPr>
              <p:nvPr/>
            </p:nvSpPr>
            <p:spPr bwMode="auto">
              <a:xfrm>
                <a:off x="28340031" y="4799172"/>
                <a:ext cx="6308817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numCol="1">
                <a:prstTxWarp prst="textNoShape">
                  <a:avLst/>
                </a:prstTxWarp>
                <a:spAutoFit/>
              </a:bodyPr>
              <a:lstStyle/>
              <a:p>
                <a:pPr marL="342900" indent="-342900" algn="ctr" defTabSz="457200">
                  <a:buClr>
                    <a:schemeClr val="accent2"/>
                  </a:buClr>
                  <a:buSzPct val="70000"/>
                </a:pPr>
                <a:r>
                  <a:rPr lang="en-US" sz="4000" b="1" dirty="0" smtClean="0">
                    <a:solidFill>
                      <a:srgbClr val="800000"/>
                    </a:solidFill>
                    <a:latin typeface="Cambria"/>
                    <a:cs typeface="Cambria"/>
                  </a:rPr>
                  <a:t>Context-specific ontology</a:t>
                </a:r>
              </a:p>
            </p:txBody>
          </p:sp>
          <p:sp>
            <p:nvSpPr>
              <p:cNvPr id="336" name="Rectangle 335"/>
              <p:cNvSpPr/>
              <p:nvPr/>
            </p:nvSpPr>
            <p:spPr>
              <a:xfrm>
                <a:off x="28340032" y="4895654"/>
                <a:ext cx="6604604" cy="6483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</p:grpSp>
      </p:grpSp>
      <p:grpSp>
        <p:nvGrpSpPr>
          <p:cNvPr id="361" name="Group 360"/>
          <p:cNvGrpSpPr/>
          <p:nvPr/>
        </p:nvGrpSpPr>
        <p:grpSpPr>
          <a:xfrm>
            <a:off x="35350240" y="4494495"/>
            <a:ext cx="7776222" cy="5644086"/>
            <a:chOff x="35254030" y="4876664"/>
            <a:chExt cx="7776222" cy="5644086"/>
          </a:xfrm>
        </p:grpSpPr>
        <p:grpSp>
          <p:nvGrpSpPr>
            <p:cNvPr id="340" name="Group 191"/>
            <p:cNvGrpSpPr/>
            <p:nvPr/>
          </p:nvGrpSpPr>
          <p:grpSpPr>
            <a:xfrm>
              <a:off x="38157009" y="6078523"/>
              <a:ext cx="4312269" cy="2925946"/>
              <a:chOff x="28910425" y="7039593"/>
              <a:chExt cx="3239080" cy="604703"/>
            </a:xfrm>
          </p:grpSpPr>
          <p:sp>
            <p:nvSpPr>
              <p:cNvPr id="357" name="Rectangle 356"/>
              <p:cNvSpPr/>
              <p:nvPr/>
            </p:nvSpPr>
            <p:spPr>
              <a:xfrm>
                <a:off x="28927457" y="7046710"/>
                <a:ext cx="3222037" cy="59758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358" name="Content Placeholder 2"/>
              <p:cNvSpPr txBox="1">
                <a:spLocks/>
              </p:cNvSpPr>
              <p:nvPr/>
            </p:nvSpPr>
            <p:spPr>
              <a:xfrm>
                <a:off x="28910425" y="7039593"/>
                <a:ext cx="3239080" cy="602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342900" lvl="0" indent="-342900" algn="ctr" defTabSz="457200">
                  <a:defRPr/>
                </a:pPr>
                <a:r>
                  <a:rPr lang="en-US" sz="4000" dirty="0" smtClean="0"/>
                  <a:t>Context ontology</a:t>
                </a:r>
              </a:p>
              <a:p>
                <a:pPr marL="342900" lvl="0" indent="-342900" algn="ctr" defTabSz="457200">
                  <a:defRPr/>
                </a:pPr>
                <a:r>
                  <a:rPr lang="en-US" sz="4000" dirty="0" smtClean="0"/>
                  <a:t>relationships</a:t>
                </a:r>
              </a:p>
              <a:p>
                <a:pPr marL="342900" lvl="0" indent="-342900" algn="ctr" defTabSz="457200">
                  <a:defRPr/>
                </a:pPr>
                <a:r>
                  <a:rPr lang="en-US" sz="4000" dirty="0" smtClean="0"/>
                  <a:t>(e.g., epidemiology, network science)</a:t>
                </a:r>
                <a:endParaRPr lang="en-US" sz="4000" dirty="0"/>
              </a:p>
            </p:txBody>
          </p:sp>
        </p:grpSp>
        <p:cxnSp>
          <p:nvCxnSpPr>
            <p:cNvPr id="341" name="Elbow Connector 204"/>
            <p:cNvCxnSpPr>
              <a:endCxn id="352" idx="1"/>
            </p:cNvCxnSpPr>
            <p:nvPr/>
          </p:nvCxnSpPr>
          <p:spPr>
            <a:xfrm rot="5400000">
              <a:off x="34515899" y="6019697"/>
              <a:ext cx="1530848" cy="9166"/>
            </a:xfrm>
            <a:prstGeom prst="bentConnector4">
              <a:avLst>
                <a:gd name="adj1" fmla="val -170"/>
                <a:gd name="adj2" fmla="val 2836472"/>
              </a:avLst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Elbow Connector 221"/>
            <p:cNvCxnSpPr>
              <a:endCxn id="355" idx="1"/>
            </p:cNvCxnSpPr>
            <p:nvPr/>
          </p:nvCxnSpPr>
          <p:spPr>
            <a:xfrm rot="5400000">
              <a:off x="33743156" y="6769729"/>
              <a:ext cx="3053622" cy="31874"/>
            </a:xfrm>
            <a:prstGeom prst="bentConnector4">
              <a:avLst>
                <a:gd name="adj1" fmla="val -10"/>
                <a:gd name="adj2" fmla="val 817199"/>
              </a:avLst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Elbow Connector 222"/>
            <p:cNvCxnSpPr>
              <a:endCxn id="353" idx="1"/>
            </p:cNvCxnSpPr>
            <p:nvPr/>
          </p:nvCxnSpPr>
          <p:spPr>
            <a:xfrm rot="5400000">
              <a:off x="32985015" y="7527870"/>
              <a:ext cx="4569904" cy="31874"/>
            </a:xfrm>
            <a:prstGeom prst="bentConnector4">
              <a:avLst>
                <a:gd name="adj1" fmla="val 187"/>
                <a:gd name="adj2" fmla="val 817199"/>
              </a:avLst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Elbow Connector 234"/>
            <p:cNvCxnSpPr/>
            <p:nvPr/>
          </p:nvCxnSpPr>
          <p:spPr>
            <a:xfrm rot="10800000" flipH="1" flipV="1">
              <a:off x="35285904" y="5258855"/>
              <a:ext cx="4419820" cy="854645"/>
            </a:xfrm>
            <a:prstGeom prst="bentConnector4">
              <a:avLst>
                <a:gd name="adj1" fmla="val -5890"/>
                <a:gd name="adj2" fmla="val 67481"/>
              </a:avLst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5" name="Group 318"/>
            <p:cNvGrpSpPr/>
            <p:nvPr/>
          </p:nvGrpSpPr>
          <p:grpSpPr>
            <a:xfrm>
              <a:off x="35254030" y="7608639"/>
              <a:ext cx="2297239" cy="1395829"/>
              <a:chOff x="25837866" y="7178130"/>
              <a:chExt cx="2946676" cy="602701"/>
            </a:xfrm>
          </p:grpSpPr>
          <p:sp>
            <p:nvSpPr>
              <p:cNvPr id="355" name="Rectangle 354"/>
              <p:cNvSpPr/>
              <p:nvPr/>
            </p:nvSpPr>
            <p:spPr>
              <a:xfrm>
                <a:off x="25837866" y="7183245"/>
                <a:ext cx="2946676" cy="59758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356" name="Content Placeholder 2"/>
              <p:cNvSpPr txBox="1">
                <a:spLocks/>
              </p:cNvSpPr>
              <p:nvPr/>
            </p:nvSpPr>
            <p:spPr>
              <a:xfrm>
                <a:off x="25864937" y="7178130"/>
                <a:ext cx="2905528" cy="602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lvl="0" indent="-342900" algn="ctr" defTabSz="457200">
                  <a:defRPr/>
                </a:pPr>
                <a:r>
                  <a:rPr lang="en-US" sz="4000" dirty="0" smtClean="0"/>
                  <a:t>Context 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ontology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46" name="Group 321"/>
            <p:cNvGrpSpPr/>
            <p:nvPr/>
          </p:nvGrpSpPr>
          <p:grpSpPr>
            <a:xfrm>
              <a:off x="35254030" y="9124921"/>
              <a:ext cx="2297239" cy="1395829"/>
              <a:chOff x="25837866" y="7178130"/>
              <a:chExt cx="2946676" cy="602701"/>
            </a:xfrm>
          </p:grpSpPr>
          <p:sp>
            <p:nvSpPr>
              <p:cNvPr id="353" name="Rectangle 352"/>
              <p:cNvSpPr/>
              <p:nvPr/>
            </p:nvSpPr>
            <p:spPr>
              <a:xfrm>
                <a:off x="25837866" y="7183245"/>
                <a:ext cx="2946676" cy="59758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354" name="Content Placeholder 2"/>
              <p:cNvSpPr txBox="1">
                <a:spLocks/>
              </p:cNvSpPr>
              <p:nvPr/>
            </p:nvSpPr>
            <p:spPr>
              <a:xfrm>
                <a:off x="25864937" y="7178130"/>
                <a:ext cx="2905528" cy="602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lvl="0" indent="-342900" algn="ctr" defTabSz="457200">
                  <a:defRPr/>
                </a:pPr>
                <a:r>
                  <a:rPr lang="en-US" sz="4000" dirty="0" smtClean="0"/>
                  <a:t>Context 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ontology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47" name="Group 188"/>
            <p:cNvGrpSpPr/>
            <p:nvPr/>
          </p:nvGrpSpPr>
          <p:grpSpPr>
            <a:xfrm>
              <a:off x="35255635" y="6091839"/>
              <a:ext cx="2297239" cy="1395829"/>
              <a:chOff x="25837866" y="7178130"/>
              <a:chExt cx="2946676" cy="602701"/>
            </a:xfrm>
          </p:grpSpPr>
          <p:sp>
            <p:nvSpPr>
              <p:cNvPr id="351" name="Rectangle 350"/>
              <p:cNvSpPr/>
              <p:nvPr/>
            </p:nvSpPr>
            <p:spPr>
              <a:xfrm>
                <a:off x="25837866" y="7183245"/>
                <a:ext cx="2946676" cy="59758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352" name="Content Placeholder 2"/>
              <p:cNvSpPr txBox="1">
                <a:spLocks/>
              </p:cNvSpPr>
              <p:nvPr/>
            </p:nvSpPr>
            <p:spPr>
              <a:xfrm>
                <a:off x="25864937" y="7178130"/>
                <a:ext cx="2905528" cy="602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lvl="0" indent="-342900" algn="ctr" defTabSz="457200">
                  <a:defRPr/>
                </a:pPr>
                <a:r>
                  <a:rPr lang="en-US" sz="4000" dirty="0" smtClean="0"/>
                  <a:t>Context 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ontology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59" name="Group 358"/>
            <p:cNvGrpSpPr/>
            <p:nvPr/>
          </p:nvGrpSpPr>
          <p:grpSpPr>
            <a:xfrm>
              <a:off x="35285906" y="4876664"/>
              <a:ext cx="7744346" cy="744867"/>
              <a:chOff x="44693293" y="4702638"/>
              <a:chExt cx="7972299" cy="744867"/>
            </a:xfrm>
          </p:grpSpPr>
          <p:sp>
            <p:nvSpPr>
              <p:cNvPr id="349" name="Text Box 19"/>
              <p:cNvSpPr txBox="1">
                <a:spLocks noChangeArrowheads="1"/>
              </p:cNvSpPr>
              <p:nvPr/>
            </p:nvSpPr>
            <p:spPr bwMode="auto">
              <a:xfrm>
                <a:off x="44693293" y="4702638"/>
                <a:ext cx="7972299" cy="707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numCol="1">
                <a:prstTxWarp prst="textNoShape">
                  <a:avLst/>
                </a:prstTxWarp>
                <a:spAutoFit/>
              </a:bodyPr>
              <a:lstStyle/>
              <a:p>
                <a:pPr marL="342900" indent="-342900" algn="ctr" defTabSz="457200">
                  <a:buClr>
                    <a:schemeClr val="accent2"/>
                  </a:buClr>
                  <a:buSzPct val="70000"/>
                </a:pPr>
                <a:r>
                  <a:rPr lang="en-US" sz="4000" b="1" dirty="0" smtClean="0">
                    <a:solidFill>
                      <a:srgbClr val="800000"/>
                    </a:solidFill>
                    <a:latin typeface="Cambria"/>
                    <a:cs typeface="Cambria"/>
                  </a:rPr>
                  <a:t>Domain</a:t>
                </a:r>
                <a:r>
                  <a:rPr lang="en-US" sz="4000" b="1" dirty="0" smtClean="0">
                    <a:solidFill>
                      <a:srgbClr val="800000"/>
                    </a:solidFill>
                    <a:latin typeface="Cambria"/>
                    <a:cs typeface="Cambria"/>
                  </a:rPr>
                  <a:t>-</a:t>
                </a:r>
                <a:r>
                  <a:rPr lang="en-US" sz="4000" b="1" dirty="0" smtClean="0">
                    <a:solidFill>
                      <a:srgbClr val="800000"/>
                    </a:solidFill>
                    <a:latin typeface="Cambria"/>
                    <a:cs typeface="Cambria"/>
                  </a:rPr>
                  <a:t>specific</a:t>
                </a:r>
                <a:r>
                  <a:rPr lang="en-US" sz="4000" b="1" dirty="0" smtClean="0">
                    <a:solidFill>
                      <a:srgbClr val="800000"/>
                    </a:solidFill>
                    <a:latin typeface="Cambria"/>
                    <a:cs typeface="Cambria"/>
                  </a:rPr>
                  <a:t> meta-ontology</a:t>
                </a:r>
                <a:endParaRPr lang="en-US" sz="4000" b="1" dirty="0" smtClean="0">
                  <a:solidFill>
                    <a:srgbClr val="800000"/>
                  </a:solidFill>
                  <a:latin typeface="Cambria"/>
                  <a:cs typeface="Cambria"/>
                </a:endParaRPr>
              </a:p>
            </p:txBody>
          </p:sp>
          <p:sp>
            <p:nvSpPr>
              <p:cNvPr id="350" name="Rectangle 349"/>
              <p:cNvSpPr/>
              <p:nvPr/>
            </p:nvSpPr>
            <p:spPr>
              <a:xfrm>
                <a:off x="44693294" y="4799119"/>
                <a:ext cx="7972298" cy="6483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</p:grpSp>
      </p:grpSp>
      <p:grpSp>
        <p:nvGrpSpPr>
          <p:cNvPr id="385" name="Group 384"/>
          <p:cNvGrpSpPr/>
          <p:nvPr/>
        </p:nvGrpSpPr>
        <p:grpSpPr>
          <a:xfrm>
            <a:off x="28669723" y="14391596"/>
            <a:ext cx="14324301" cy="8044837"/>
            <a:chOff x="29073784" y="13833578"/>
            <a:chExt cx="14324301" cy="8044837"/>
          </a:xfrm>
        </p:grpSpPr>
        <p:grpSp>
          <p:nvGrpSpPr>
            <p:cNvPr id="380" name="Group 379"/>
            <p:cNvGrpSpPr/>
            <p:nvPr/>
          </p:nvGrpSpPr>
          <p:grpSpPr>
            <a:xfrm>
              <a:off x="30048765" y="13860728"/>
              <a:ext cx="3751597" cy="1605428"/>
              <a:chOff x="31227939" y="14019142"/>
              <a:chExt cx="3751597" cy="1292114"/>
            </a:xfrm>
          </p:grpSpPr>
          <p:sp>
            <p:nvSpPr>
              <p:cNvPr id="126" name="Rectangle 125"/>
              <p:cNvSpPr/>
              <p:nvPr/>
            </p:nvSpPr>
            <p:spPr>
              <a:xfrm>
                <a:off x="31227939" y="14027439"/>
                <a:ext cx="3751597" cy="1283817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/>
              </a:p>
            </p:txBody>
          </p:sp>
          <p:sp>
            <p:nvSpPr>
              <p:cNvPr id="127" name="Content Placeholder 2"/>
              <p:cNvSpPr txBox="1">
                <a:spLocks/>
              </p:cNvSpPr>
              <p:nvPr/>
            </p:nvSpPr>
            <p:spPr>
              <a:xfrm>
                <a:off x="31261934" y="14019142"/>
                <a:ext cx="3669715" cy="12547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>
                    <a:latin typeface="+mn-lt"/>
                  </a:rPr>
                  <a:t>Recommending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>
                    <a:latin typeface="+mn-lt"/>
                  </a:rPr>
                  <a:t> and Selecting</a:t>
                </a:r>
                <a:endParaRPr lang="en-US" sz="4000" dirty="0">
                  <a:latin typeface="+mn-lt"/>
                </a:endParaRPr>
              </a:p>
            </p:txBody>
          </p:sp>
        </p:grpSp>
        <p:grpSp>
          <p:nvGrpSpPr>
            <p:cNvPr id="377" name="Group 376"/>
            <p:cNvGrpSpPr/>
            <p:nvPr/>
          </p:nvGrpSpPr>
          <p:grpSpPr>
            <a:xfrm>
              <a:off x="33063809" y="15889598"/>
              <a:ext cx="3380853" cy="1396455"/>
              <a:chOff x="33313955" y="15889598"/>
              <a:chExt cx="3380853" cy="1396455"/>
            </a:xfrm>
          </p:grpSpPr>
          <p:sp>
            <p:nvSpPr>
              <p:cNvPr id="142" name="Rectangle 141"/>
              <p:cNvSpPr/>
              <p:nvPr/>
            </p:nvSpPr>
            <p:spPr>
              <a:xfrm>
                <a:off x="33313955" y="15889598"/>
                <a:ext cx="3380853" cy="1381652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/>
              </a:p>
            </p:txBody>
          </p:sp>
          <p:sp>
            <p:nvSpPr>
              <p:cNvPr id="143" name="Content Placeholder 2"/>
              <p:cNvSpPr txBox="1">
                <a:spLocks/>
              </p:cNvSpPr>
              <p:nvPr/>
            </p:nvSpPr>
            <p:spPr>
              <a:xfrm>
                <a:off x="33313955" y="15912582"/>
                <a:ext cx="3380853" cy="13734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/>
                  <a:t>Model-Specific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/>
                  <a:t>Ontologies</a:t>
                </a:r>
              </a:p>
            </p:txBody>
          </p:sp>
        </p:grpSp>
        <p:grpSp>
          <p:nvGrpSpPr>
            <p:cNvPr id="379" name="Group 378"/>
            <p:cNvGrpSpPr/>
            <p:nvPr/>
          </p:nvGrpSpPr>
          <p:grpSpPr>
            <a:xfrm>
              <a:off x="34540554" y="13833578"/>
              <a:ext cx="3671315" cy="1605432"/>
              <a:chOff x="34888755" y="14019142"/>
              <a:chExt cx="3671315" cy="1292117"/>
            </a:xfrm>
          </p:grpSpPr>
          <p:sp>
            <p:nvSpPr>
              <p:cNvPr id="155" name="Rectangle 154"/>
              <p:cNvSpPr/>
              <p:nvPr/>
            </p:nvSpPr>
            <p:spPr>
              <a:xfrm>
                <a:off x="34888755" y="14027439"/>
                <a:ext cx="3671315" cy="1283820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/>
              </a:p>
            </p:txBody>
          </p:sp>
          <p:sp>
            <p:nvSpPr>
              <p:cNvPr id="156" name="Content Placeholder 2"/>
              <p:cNvSpPr txBox="1">
                <a:spLocks/>
              </p:cNvSpPr>
              <p:nvPr/>
            </p:nvSpPr>
            <p:spPr>
              <a:xfrm>
                <a:off x="34888756" y="14019142"/>
                <a:ext cx="3669238" cy="12175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>
                    <a:latin typeface="+mn-lt"/>
                  </a:rPr>
                  <a:t>Model Ontology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>
                    <a:latin typeface="+mn-lt"/>
                  </a:rPr>
                  <a:t>Harmonization</a:t>
                </a:r>
                <a:endParaRPr lang="en-US" sz="4000" dirty="0">
                  <a:latin typeface="+mn-lt"/>
                </a:endParaRPr>
              </a:p>
            </p:txBody>
          </p:sp>
        </p:grpSp>
        <p:grpSp>
          <p:nvGrpSpPr>
            <p:cNvPr id="376" name="Group 375"/>
            <p:cNvGrpSpPr/>
            <p:nvPr/>
          </p:nvGrpSpPr>
          <p:grpSpPr>
            <a:xfrm>
              <a:off x="36587967" y="15877720"/>
              <a:ext cx="3540525" cy="1408333"/>
              <a:chOff x="36780387" y="15877720"/>
              <a:chExt cx="3540525" cy="1408333"/>
            </a:xfrm>
          </p:grpSpPr>
          <p:sp>
            <p:nvSpPr>
              <p:cNvPr id="159" name="Rectangle 158"/>
              <p:cNvSpPr/>
              <p:nvPr/>
            </p:nvSpPr>
            <p:spPr>
              <a:xfrm>
                <a:off x="36780387" y="15877720"/>
                <a:ext cx="3540525" cy="1408333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/>
              </a:p>
            </p:txBody>
          </p:sp>
          <p:sp>
            <p:nvSpPr>
              <p:cNvPr id="160" name="Content Placeholder 2"/>
              <p:cNvSpPr txBox="1">
                <a:spLocks/>
              </p:cNvSpPr>
              <p:nvPr/>
            </p:nvSpPr>
            <p:spPr>
              <a:xfrm>
                <a:off x="36780389" y="15919948"/>
                <a:ext cx="3525522" cy="13276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/>
                  <a:t>Context-Specific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/>
                  <a:t>Ontologies</a:t>
                </a:r>
              </a:p>
            </p:txBody>
          </p:sp>
        </p:grpSp>
        <p:grpSp>
          <p:nvGrpSpPr>
            <p:cNvPr id="378" name="Group 377"/>
            <p:cNvGrpSpPr/>
            <p:nvPr/>
          </p:nvGrpSpPr>
          <p:grpSpPr>
            <a:xfrm>
              <a:off x="38602447" y="13874647"/>
              <a:ext cx="4239639" cy="1595126"/>
              <a:chOff x="38460359" y="14027437"/>
              <a:chExt cx="3814506" cy="1283822"/>
            </a:xfrm>
          </p:grpSpPr>
          <p:sp>
            <p:nvSpPr>
              <p:cNvPr id="162" name="Rectangle 161"/>
              <p:cNvSpPr/>
              <p:nvPr/>
            </p:nvSpPr>
            <p:spPr>
              <a:xfrm>
                <a:off x="38460359" y="14027437"/>
                <a:ext cx="3814506" cy="1283820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/>
              </a:p>
            </p:txBody>
          </p:sp>
          <p:sp>
            <p:nvSpPr>
              <p:cNvPr id="163" name="Content Placeholder 2"/>
              <p:cNvSpPr txBox="1">
                <a:spLocks/>
              </p:cNvSpPr>
              <p:nvPr/>
            </p:nvSpPr>
            <p:spPr>
              <a:xfrm>
                <a:off x="38460359" y="14027443"/>
                <a:ext cx="3814506" cy="128381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>
                    <a:latin typeface="+mn-lt"/>
                  </a:rPr>
                  <a:t>Context Ontology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>
                    <a:latin typeface="+mn-lt"/>
                  </a:rPr>
                  <a:t>Harmonization</a:t>
                </a:r>
                <a:endParaRPr lang="en-US" sz="4000" dirty="0">
                  <a:latin typeface="+mn-lt"/>
                </a:endParaRPr>
              </a:p>
            </p:txBody>
          </p:sp>
        </p:grpSp>
        <p:grpSp>
          <p:nvGrpSpPr>
            <p:cNvPr id="374" name="Group 373"/>
            <p:cNvGrpSpPr/>
            <p:nvPr/>
          </p:nvGrpSpPr>
          <p:grpSpPr>
            <a:xfrm>
              <a:off x="40267759" y="15877720"/>
              <a:ext cx="3130326" cy="1407356"/>
              <a:chOff x="40383211" y="15877720"/>
              <a:chExt cx="3130326" cy="1407356"/>
            </a:xfrm>
          </p:grpSpPr>
          <p:sp>
            <p:nvSpPr>
              <p:cNvPr id="164" name="Rectangle 163"/>
              <p:cNvSpPr/>
              <p:nvPr/>
            </p:nvSpPr>
            <p:spPr>
              <a:xfrm>
                <a:off x="40383211" y="15877720"/>
                <a:ext cx="3130326" cy="140735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/>
              </a:p>
            </p:txBody>
          </p:sp>
          <p:sp>
            <p:nvSpPr>
              <p:cNvPr id="165" name="Content Placeholder 2"/>
              <p:cNvSpPr txBox="1">
                <a:spLocks/>
              </p:cNvSpPr>
              <p:nvPr/>
            </p:nvSpPr>
            <p:spPr>
              <a:xfrm>
                <a:off x="40383542" y="15883139"/>
                <a:ext cx="3126549" cy="13990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/>
                  <a:t>Domain Meta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/>
                  <a:t>Ontologies</a:t>
                </a:r>
              </a:p>
            </p:txBody>
          </p:sp>
        </p:grpSp>
        <p:sp>
          <p:nvSpPr>
            <p:cNvPr id="166" name="Bent-Up Arrow 165"/>
            <p:cNvSpPr/>
            <p:nvPr/>
          </p:nvSpPr>
          <p:spPr>
            <a:xfrm rot="5400000">
              <a:off x="35550627" y="17524654"/>
              <a:ext cx="1655011" cy="693846"/>
            </a:xfrm>
            <a:prstGeom prst="bent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29085578" y="15966566"/>
              <a:ext cx="3671208" cy="4358110"/>
            </a:xfrm>
            <a:prstGeom prst="rect">
              <a:avLst/>
            </a:prstGeom>
            <a:solidFill>
              <a:srgbClr val="800000">
                <a:alpha val="15000"/>
              </a:srgbClr>
            </a:solidFill>
            <a:ln w="222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31" name="Content Placeholder 2"/>
            <p:cNvSpPr txBox="1">
              <a:spLocks/>
            </p:cNvSpPr>
            <p:nvPr/>
          </p:nvSpPr>
          <p:spPr>
            <a:xfrm>
              <a:off x="29073784" y="15975408"/>
              <a:ext cx="3683001" cy="64931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L="342900" marR="0" lvl="0" indent="-342900" algn="ctr" defTabSz="457200" rtl="0" eaLnBrk="1" fontAlgn="auto" latinLnBrk="0" hangingPunct="1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lang="en-US" sz="4000" dirty="0" smtClean="0"/>
                <a:t>Sample Content</a:t>
              </a:r>
            </a:p>
          </p:txBody>
        </p:sp>
        <p:grpSp>
          <p:nvGrpSpPr>
            <p:cNvPr id="381" name="Group 380"/>
            <p:cNvGrpSpPr/>
            <p:nvPr/>
          </p:nvGrpSpPr>
          <p:grpSpPr>
            <a:xfrm>
              <a:off x="29493986" y="16730972"/>
              <a:ext cx="2946676" cy="715524"/>
              <a:chOff x="29493986" y="16730972"/>
              <a:chExt cx="2946676" cy="715524"/>
            </a:xfrm>
          </p:grpSpPr>
          <p:sp>
            <p:nvSpPr>
              <p:cNvPr id="138" name="Rectangle 137"/>
              <p:cNvSpPr/>
              <p:nvPr/>
            </p:nvSpPr>
            <p:spPr>
              <a:xfrm>
                <a:off x="29493986" y="16832297"/>
                <a:ext cx="2946676" cy="59758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 dirty="0"/>
              </a:p>
            </p:txBody>
          </p:sp>
          <p:sp>
            <p:nvSpPr>
              <p:cNvPr id="130" name="Content Placeholder 2"/>
              <p:cNvSpPr txBox="1">
                <a:spLocks/>
              </p:cNvSpPr>
              <p:nvPr/>
            </p:nvSpPr>
            <p:spPr>
              <a:xfrm>
                <a:off x="29521057" y="16730972"/>
                <a:ext cx="2905528" cy="7155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Input Files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83" name="Group 382"/>
            <p:cNvGrpSpPr/>
            <p:nvPr/>
          </p:nvGrpSpPr>
          <p:grpSpPr>
            <a:xfrm>
              <a:off x="29496426" y="18233632"/>
              <a:ext cx="2946676" cy="1270305"/>
              <a:chOff x="29496426" y="18252874"/>
              <a:chExt cx="2946676" cy="1270305"/>
            </a:xfrm>
          </p:grpSpPr>
          <p:sp>
            <p:nvSpPr>
              <p:cNvPr id="168" name="Rectangle 167"/>
              <p:cNvSpPr/>
              <p:nvPr/>
            </p:nvSpPr>
            <p:spPr>
              <a:xfrm>
                <a:off x="29496426" y="18255280"/>
                <a:ext cx="2946676" cy="1218143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135" name="Content Placeholder 2"/>
              <p:cNvSpPr txBox="1">
                <a:spLocks/>
              </p:cNvSpPr>
              <p:nvPr/>
            </p:nvSpPr>
            <p:spPr>
              <a:xfrm>
                <a:off x="29501815" y="18252874"/>
                <a:ext cx="2905528" cy="12703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Result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Summaries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82" name="Group 381"/>
            <p:cNvGrpSpPr/>
            <p:nvPr/>
          </p:nvGrpSpPr>
          <p:grpSpPr>
            <a:xfrm>
              <a:off x="29480133" y="19439650"/>
              <a:ext cx="2962969" cy="708328"/>
              <a:chOff x="29480133" y="19324198"/>
              <a:chExt cx="2962969" cy="708328"/>
            </a:xfrm>
          </p:grpSpPr>
          <p:sp>
            <p:nvSpPr>
              <p:cNvPr id="169" name="Rectangle 168"/>
              <p:cNvSpPr/>
              <p:nvPr/>
            </p:nvSpPr>
            <p:spPr>
              <a:xfrm>
                <a:off x="29496426" y="19434940"/>
                <a:ext cx="2946676" cy="597586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141" name="Content Placeholder 2"/>
              <p:cNvSpPr txBox="1">
                <a:spLocks/>
              </p:cNvSpPr>
              <p:nvPr/>
            </p:nvSpPr>
            <p:spPr>
              <a:xfrm>
                <a:off x="29480133" y="19324198"/>
                <a:ext cx="2905528" cy="6501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Analyses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67" name="Rectangle 166"/>
            <p:cNvSpPr/>
            <p:nvPr/>
          </p:nvSpPr>
          <p:spPr>
            <a:xfrm>
              <a:off x="29496426" y="17532877"/>
              <a:ext cx="2946676" cy="597586"/>
            </a:xfrm>
            <a:prstGeom prst="rect">
              <a:avLst/>
            </a:prstGeom>
            <a:solidFill>
              <a:srgbClr val="800000">
                <a:alpha val="14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sp>
          <p:nvSpPr>
            <p:cNvPr id="133" name="Content Placeholder 2"/>
            <p:cNvSpPr txBox="1">
              <a:spLocks/>
            </p:cNvSpPr>
            <p:nvPr/>
          </p:nvSpPr>
          <p:spPr>
            <a:xfrm>
              <a:off x="29501815" y="17484557"/>
              <a:ext cx="2905528" cy="68823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/>
            <a:p>
              <a:pPr marL="342900" marR="0" lvl="0" indent="-342900" algn="ctr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40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Result Files</a:t>
              </a: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8" name="Curved Down Arrow 157"/>
            <p:cNvSpPr/>
            <p:nvPr/>
          </p:nvSpPr>
          <p:spPr>
            <a:xfrm>
              <a:off x="31977120" y="15236681"/>
              <a:ext cx="1933048" cy="705814"/>
            </a:xfrm>
            <a:prstGeom prst="curved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9" name="Curved Down Arrow 178"/>
            <p:cNvSpPr/>
            <p:nvPr/>
          </p:nvSpPr>
          <p:spPr>
            <a:xfrm>
              <a:off x="35457127" y="15236681"/>
              <a:ext cx="1933048" cy="705814"/>
            </a:xfrm>
            <a:prstGeom prst="curved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0" name="Curved Down Arrow 179"/>
            <p:cNvSpPr/>
            <p:nvPr/>
          </p:nvSpPr>
          <p:spPr>
            <a:xfrm>
              <a:off x="39066357" y="15236681"/>
              <a:ext cx="1933048" cy="705814"/>
            </a:xfrm>
            <a:prstGeom prst="curved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84" name="Group 383"/>
            <p:cNvGrpSpPr/>
            <p:nvPr/>
          </p:nvGrpSpPr>
          <p:grpSpPr>
            <a:xfrm>
              <a:off x="34052346" y="18130463"/>
              <a:ext cx="8003332" cy="3747952"/>
              <a:chOff x="32899863" y="20643795"/>
              <a:chExt cx="8003332" cy="3747952"/>
            </a:xfrm>
          </p:grpSpPr>
          <p:sp>
            <p:nvSpPr>
              <p:cNvPr id="145" name="Rectangle 144"/>
              <p:cNvSpPr/>
              <p:nvPr/>
            </p:nvSpPr>
            <p:spPr>
              <a:xfrm>
                <a:off x="32899863" y="20725880"/>
                <a:ext cx="8003331" cy="3665867"/>
              </a:xfrm>
              <a:prstGeom prst="rect">
                <a:avLst/>
              </a:prstGeom>
              <a:solidFill>
                <a:srgbClr val="800000">
                  <a:alpha val="15000"/>
                </a:srgbClr>
              </a:solidFill>
              <a:ln w="22225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46" name="Content Placeholder 2"/>
              <p:cNvSpPr txBox="1">
                <a:spLocks/>
              </p:cNvSpPr>
              <p:nvPr/>
            </p:nvSpPr>
            <p:spPr>
              <a:xfrm>
                <a:off x="32899863" y="20643795"/>
                <a:ext cx="8003332" cy="6328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lang="en-US" sz="4000" dirty="0" smtClean="0"/>
                  <a:t>Products</a:t>
                </a:r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33118899" y="21371544"/>
                <a:ext cx="3575910" cy="1315897"/>
              </a:xfrm>
              <a:prstGeom prst="rect">
                <a:avLst/>
              </a:prstGeom>
              <a:solidFill>
                <a:srgbClr val="800000">
                  <a:alpha val="14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148" name="Content Placeholder 2"/>
              <p:cNvSpPr txBox="1">
                <a:spLocks/>
              </p:cNvSpPr>
              <p:nvPr/>
            </p:nvSpPr>
            <p:spPr>
              <a:xfrm>
                <a:off x="33118899" y="21369622"/>
                <a:ext cx="3575910" cy="13183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Model-Specific</a:t>
                </a:r>
              </a:p>
              <a:p>
                <a:pPr marL="342900" marR="0" lvl="0" indent="-342900" algn="ctr" defTabSz="4572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Description Sets</a:t>
                </a:r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72" name="Group 371"/>
              <p:cNvGrpSpPr/>
              <p:nvPr/>
            </p:nvGrpSpPr>
            <p:grpSpPr>
              <a:xfrm>
                <a:off x="33118899" y="22798716"/>
                <a:ext cx="3575910" cy="1375545"/>
                <a:chOff x="33118899" y="22721748"/>
                <a:chExt cx="3575910" cy="1375545"/>
              </a:xfrm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33118899" y="22781396"/>
                  <a:ext cx="3575910" cy="1315897"/>
                </a:xfrm>
                <a:prstGeom prst="rect">
                  <a:avLst/>
                </a:prstGeom>
                <a:solidFill>
                  <a:srgbClr val="800000">
                    <a:alpha val="14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  <p:sp>
              <p:nvSpPr>
                <p:cNvPr id="150" name="Content Placeholder 2"/>
                <p:cNvSpPr txBox="1">
                  <a:spLocks/>
                </p:cNvSpPr>
                <p:nvPr/>
              </p:nvSpPr>
              <p:spPr>
                <a:xfrm>
                  <a:off x="33118899" y="22721748"/>
                  <a:ext cx="3575910" cy="129443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/>
                <a:p>
                  <a:pPr marL="342900" marR="0" lvl="0" indent="-342900" algn="ctr" defTabSz="457200" rtl="0" eaLnBrk="1" fontAlgn="auto" latinLnBrk="0" hangingPunct="1">
                    <a:lnSpc>
                      <a:spcPct val="100000"/>
                    </a:lnSpc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lang="en-US" sz="4000" dirty="0" smtClean="0"/>
                    <a:t>Harmonized</a:t>
                  </a:r>
                </a:p>
                <a:p>
                  <a:pPr marL="342900" marR="0" lvl="0" indent="-342900" algn="ctr" defTabSz="457200" rtl="0" eaLnBrk="1" fontAlgn="auto" latinLnBrk="0" hangingPunct="1">
                    <a:lnSpc>
                      <a:spcPct val="100000"/>
                    </a:lnSpc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4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Description Sets</a:t>
                  </a:r>
                  <a:endPara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7" name="Group 366"/>
              <p:cNvGrpSpPr/>
              <p:nvPr/>
            </p:nvGrpSpPr>
            <p:grpSpPr>
              <a:xfrm>
                <a:off x="36869331" y="22860619"/>
                <a:ext cx="3852936" cy="1320020"/>
                <a:chOff x="38662686" y="20725881"/>
                <a:chExt cx="3852936" cy="1320020"/>
              </a:xfrm>
            </p:grpSpPr>
            <p:sp>
              <p:nvSpPr>
                <p:cNvPr id="153" name="Rectangle 152"/>
                <p:cNvSpPr/>
                <p:nvPr/>
              </p:nvSpPr>
              <p:spPr>
                <a:xfrm>
                  <a:off x="38662686" y="20725881"/>
                  <a:ext cx="3832524" cy="1320020"/>
                </a:xfrm>
                <a:prstGeom prst="rect">
                  <a:avLst/>
                </a:prstGeom>
                <a:solidFill>
                  <a:srgbClr val="800000">
                    <a:alpha val="14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  <p:sp>
              <p:nvSpPr>
                <p:cNvPr id="154" name="Content Placeholder 2"/>
                <p:cNvSpPr txBox="1">
                  <a:spLocks/>
                </p:cNvSpPr>
                <p:nvPr/>
              </p:nvSpPr>
              <p:spPr>
                <a:xfrm>
                  <a:off x="38683098" y="20725881"/>
                  <a:ext cx="3832524" cy="130504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 lnSpcReduction="10000"/>
                </a:bodyPr>
                <a:lstStyle/>
                <a:p>
                  <a:pPr marL="342900" indent="-342900" algn="ctr">
                    <a:defRPr/>
                  </a:pPr>
                  <a:r>
                    <a:rPr lang="en-US" sz="4000" dirty="0" smtClean="0"/>
                    <a:t>Example Records</a:t>
                  </a:r>
                  <a:endParaRPr kumimoji="0" lang="en-US" sz="40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  <a:p>
                  <a:pPr marL="342900" indent="-342900" algn="ctr">
                    <a:defRPr/>
                  </a:pPr>
                  <a:r>
                    <a:rPr kumimoji="0" lang="en-US" sz="4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(XML, RDF)</a:t>
                  </a:r>
                  <a:endPara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73" name="Group 372"/>
              <p:cNvGrpSpPr/>
              <p:nvPr/>
            </p:nvGrpSpPr>
            <p:grpSpPr>
              <a:xfrm>
                <a:off x="36880707" y="21360042"/>
                <a:ext cx="3832524" cy="1327399"/>
                <a:chOff x="38051683" y="21364832"/>
                <a:chExt cx="3832524" cy="1327399"/>
              </a:xfrm>
            </p:grpSpPr>
            <p:sp>
              <p:nvSpPr>
                <p:cNvPr id="371" name="Rectangle 370"/>
                <p:cNvSpPr/>
                <p:nvPr/>
              </p:nvSpPr>
              <p:spPr>
                <a:xfrm>
                  <a:off x="38051683" y="21372211"/>
                  <a:ext cx="3832524" cy="1320020"/>
                </a:xfrm>
                <a:prstGeom prst="rect">
                  <a:avLst/>
                </a:prstGeom>
                <a:solidFill>
                  <a:srgbClr val="800000">
                    <a:alpha val="14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  <p:sp>
              <p:nvSpPr>
                <p:cNvPr id="152" name="Content Placeholder 2"/>
                <p:cNvSpPr txBox="1">
                  <a:spLocks/>
                </p:cNvSpPr>
                <p:nvPr/>
              </p:nvSpPr>
              <p:spPr>
                <a:xfrm>
                  <a:off x="38072095" y="21364832"/>
                  <a:ext cx="3812112" cy="1322609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/>
                <a:p>
                  <a:pPr marL="342900" indent="-342900" algn="ctr">
                    <a:defRPr/>
                  </a:pPr>
                  <a:r>
                    <a:rPr lang="en-US" sz="4000" dirty="0" smtClean="0"/>
                    <a:t>DB </a:t>
                  </a:r>
                  <a:r>
                    <a:rPr kumimoji="0" lang="en-US" sz="4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Metadata</a:t>
                  </a:r>
                </a:p>
                <a:p>
                  <a:pPr marL="342900" indent="-342900" algn="ctr">
                    <a:defRPr/>
                  </a:pPr>
                  <a:r>
                    <a:rPr kumimoji="0" lang="en-US" sz="4000" b="0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cs"/>
                    </a:rPr>
                    <a:t>Schemas (DDL)</a:t>
                  </a:r>
                  <a:endPara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3200</TotalTime>
  <Words>532</Words>
  <Application>Microsoft Macintosh PowerPoint</Application>
  <PresentationFormat>Custom</PresentationFormat>
  <Paragraphs>188</Paragraphs>
  <Slides>1</Slides>
  <Notes>1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The Leidigs</dc:creator>
  <cp:lastModifiedBy>The Leidigs</cp:lastModifiedBy>
  <cp:revision>85</cp:revision>
  <dcterms:created xsi:type="dcterms:W3CDTF">2011-06-03T13:50:52Z</dcterms:created>
  <dcterms:modified xsi:type="dcterms:W3CDTF">2011-06-03T16:28:44Z</dcterms:modified>
</cp:coreProperties>
</file>