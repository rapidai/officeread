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87" r:id="rId3"/>
    <p:sldId id="279" r:id="rId4"/>
    <p:sldId id="275" r:id="rId5"/>
    <p:sldId id="258" r:id="rId6"/>
    <p:sldId id="268" r:id="rId7"/>
    <p:sldId id="276" r:id="rId8"/>
    <p:sldId id="277" r:id="rId9"/>
    <p:sldId id="278" r:id="rId10"/>
    <p:sldId id="263" r:id="rId11"/>
    <p:sldId id="270" r:id="rId12"/>
    <p:sldId id="280" r:id="rId13"/>
    <p:sldId id="272" r:id="rId14"/>
    <p:sldId id="282" r:id="rId15"/>
    <p:sldId id="273" r:id="rId16"/>
    <p:sldId id="283" r:id="rId17"/>
    <p:sldId id="285" r:id="rId18"/>
    <p:sldId id="284" r:id="rId19"/>
    <p:sldId id="265" r:id="rId20"/>
  </p:sldIdLst>
  <p:sldSz cx="9144000" cy="6858000" type="screen4x3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4713" autoAdjust="0"/>
  </p:normalViewPr>
  <p:slideViewPr>
    <p:cSldViewPr>
      <p:cViewPr varScale="1">
        <p:scale>
          <a:sx n="61" d="100"/>
          <a:sy n="61" d="100"/>
        </p:scale>
        <p:origin x="-778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-1718" y="-91"/>
      </p:cViewPr>
      <p:guideLst>
        <p:guide orient="horz" pos="2920"/>
        <p:guide pos="220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55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r">
              <a:defRPr sz="1200"/>
            </a:lvl1pPr>
          </a:lstStyle>
          <a:p>
            <a:fld id="{2D9C5C72-0C60-40C2-8895-AB901960F235}" type="datetimeFigureOut">
              <a:rPr lang="en-US" smtClean="0"/>
              <a:pPr/>
              <a:t>2/7/2011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l">
              <a:defRPr sz="1200"/>
            </a:lvl1pPr>
          </a:lstStyle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55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r">
              <a:defRPr sz="1200"/>
            </a:lvl1pPr>
          </a:lstStyle>
          <a:p>
            <a:fld id="{5AAC0B54-D958-4F55-B65A-A49AF2E054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r">
              <a:defRPr sz="1200"/>
            </a:lvl1pPr>
          </a:lstStyle>
          <a:p>
            <a:fld id="{90FF3F2A-4F9D-4DF0-A1F0-8EB321C3CFB4}" type="datetimeFigureOut">
              <a:rPr lang="en-US" smtClean="0"/>
              <a:pPr/>
              <a:t>2/7/2011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695325"/>
            <a:ext cx="4635500" cy="3476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85" tIns="46442" rIns="92885" bIns="46442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vert="horz" lIns="92885" tIns="46442" rIns="92885" bIns="4644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l">
              <a:defRPr sz="1200"/>
            </a:lvl1pPr>
          </a:lstStyle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05841"/>
            <a:ext cx="3026833" cy="463550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r">
              <a:defRPr sz="1200"/>
            </a:lvl1pPr>
          </a:lstStyle>
          <a:p>
            <a:fld id="{3D7038FD-573B-4FE8-8780-33648589C2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038FD-573B-4FE8-8780-33648589C2F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13EB-D25C-4F85-A1EA-36572B75BB6C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710B-C44A-4387-A838-21A7CEEACA9E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F931-7247-4BBE-9704-73B9CAA5AF10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426E84D7-0CE5-4B9C-BC77-0F28131B37A4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25FA-24C1-4C2C-AD1A-2BA7A5F9EE7C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BD0EA-6616-41EB-B60F-A2CD5FCBA6BB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14D3-C3B4-4190-AEF2-58E166C3F664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F18A4-3EE0-4062-B807-D9512F230824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4F378E4C-6642-42A9-846D-0F1E21DD02B9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637A7-3634-4F17-8DC7-16346FB3E616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A7F05-ACC8-4BDA-9F35-5C0D2D64D59F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6F3EAFB-6AD2-4EA8-9BC6-944FFD862635}" type="datetime1">
              <a:rPr lang="en-US" smtClean="0"/>
              <a:t>2/7/2011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Faculty Relations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B1D9A8F-F896-465F-92A3-DA10BBC446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/>
  <p:hf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09120"/>
            <a:ext cx="6400800" cy="165618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Faculty Relations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124744"/>
            <a:ext cx="7772400" cy="3024336"/>
          </a:xfrm>
        </p:spPr>
        <p:txBody>
          <a:bodyPr/>
          <a:lstStyle/>
          <a:p>
            <a:r>
              <a:rPr lang="en-US" b="1" dirty="0" smtClean="0"/>
              <a:t>Overview of the Changes to the UBC Faculty Agreement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/>
              <a:t>Effective Dates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CA" sz="4400" dirty="0" smtClean="0"/>
              <a:t>All changes are effective on the date of ratification (January 1, 2011, as agreed to by UBC and the UBC Faculty Association), unless otherwise noted. 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 smtClean="0"/>
              <a:t>Previously</a:t>
            </a:r>
            <a:endParaRPr lang="en-US" sz="36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sz="3600" dirty="0" smtClean="0"/>
              <a:t>Now 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Four Year Agreement</a:t>
            </a:r>
          </a:p>
          <a:p>
            <a:pPr>
              <a:buNone/>
            </a:pPr>
            <a:r>
              <a:rPr lang="en-US" sz="2000" dirty="0" smtClean="0"/>
              <a:t>	(July 1, 2006 – June 30, 2010)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Two Year Agreement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sz="2000" dirty="0" smtClean="0"/>
              <a:t>(July 1, 2010 – June 30, 2011)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/>
              <a:t>Duration</a:t>
            </a:r>
            <a:endParaRPr lang="en-US" sz="5400" dirty="0"/>
          </a:p>
        </p:txBody>
      </p:sp>
      <p:pic>
        <p:nvPicPr>
          <p:cNvPr id="3077" name="Picture 5" descr="C:\Documents and Settings\larkar\Local Settings\Temporary Internet Files\Content.IE5\JVJVPJFQ\MC900234052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4653136"/>
            <a:ext cx="2124547" cy="1993271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 smtClean="0"/>
              <a:t>Previously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sz="3600" dirty="0" smtClean="0"/>
              <a:t>Now 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 smtClean="0"/>
              <a:t>Art. 7.1  </a:t>
            </a:r>
          </a:p>
          <a:p>
            <a:pPr>
              <a:buNone/>
            </a:pPr>
            <a:r>
              <a:rPr lang="en-US" dirty="0" smtClean="0"/>
              <a:t>	Right to view file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Art. 7.1</a:t>
            </a:r>
          </a:p>
          <a:p>
            <a:pPr>
              <a:buNone/>
            </a:pPr>
            <a:r>
              <a:rPr lang="en-US" sz="1200" b="1" dirty="0" smtClean="0"/>
              <a:t>		</a:t>
            </a:r>
            <a:endParaRPr lang="en-US" sz="1200" dirty="0" smtClean="0"/>
          </a:p>
          <a:p>
            <a:pPr lvl="1"/>
            <a:r>
              <a:rPr lang="en-US" sz="2400" dirty="0" smtClean="0"/>
              <a:t>Definition </a:t>
            </a:r>
          </a:p>
          <a:p>
            <a:pPr lvl="1"/>
            <a:r>
              <a:rPr lang="en-US" sz="2400" dirty="0" smtClean="0"/>
              <a:t>Confidential</a:t>
            </a:r>
          </a:p>
          <a:p>
            <a:pPr lvl="1"/>
            <a:r>
              <a:rPr lang="en-US" sz="2400" dirty="0" smtClean="0"/>
              <a:t>No anonymous or unsolicited concerns, unless investigated</a:t>
            </a:r>
          </a:p>
          <a:p>
            <a:pPr lvl="1"/>
            <a:r>
              <a:rPr lang="en-US" sz="2400" dirty="0" smtClean="0"/>
              <a:t>Notice of any negative material – 60 days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 smtClean="0"/>
              <a:t>Personnel Files</a:t>
            </a:r>
            <a:endParaRPr lang="en-US" sz="4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 smtClean="0"/>
              <a:t>Previously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sz="3600" dirty="0" smtClean="0"/>
              <a:t>Now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 smtClean="0"/>
              <a:t>Art. 13</a:t>
            </a:r>
          </a:p>
          <a:p>
            <a:pPr lvl="1"/>
            <a:r>
              <a:rPr lang="en-US" sz="3000" dirty="0" smtClean="0"/>
              <a:t>Notify annually </a:t>
            </a:r>
          </a:p>
          <a:p>
            <a:pPr lvl="1"/>
            <a:r>
              <a:rPr lang="en-US" sz="3000" dirty="0" smtClean="0"/>
              <a:t>Opportunity for faculty to provide information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1"/>
            <a:r>
              <a:rPr lang="en-US" sz="3000" dirty="0" smtClean="0"/>
              <a:t>Definition</a:t>
            </a:r>
          </a:p>
          <a:p>
            <a:pPr lvl="1"/>
            <a:r>
              <a:rPr lang="en-US" sz="3000" dirty="0" smtClean="0"/>
              <a:t>Varies by unit</a:t>
            </a:r>
          </a:p>
          <a:p>
            <a:pPr lvl="1"/>
            <a:r>
              <a:rPr lang="en-US" sz="3000" dirty="0" smtClean="0"/>
              <a:t> Principles</a:t>
            </a:r>
          </a:p>
          <a:p>
            <a:pPr lvl="1"/>
            <a:r>
              <a:rPr lang="en-US" sz="3000" dirty="0" smtClean="0"/>
              <a:t>Process for assignment – no significant change</a:t>
            </a:r>
          </a:p>
          <a:p>
            <a:pPr lvl="1">
              <a:buNone/>
            </a:pPr>
            <a:endParaRPr lang="en-US" b="1" dirty="0" smtClean="0"/>
          </a:p>
          <a:p>
            <a:pPr lvl="1"/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 smtClean="0"/>
              <a:t>Workload</a:t>
            </a:r>
            <a:endParaRPr lang="en-US" sz="4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 smtClean="0"/>
              <a:t>Previously</a:t>
            </a:r>
            <a:endParaRPr lang="en-US" sz="36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sz="3600" dirty="0" smtClean="0"/>
              <a:t>Now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4400" dirty="0" smtClean="0"/>
              <a:t> Art. 20 and 21: </a:t>
            </a:r>
          </a:p>
          <a:p>
            <a:pPr lvl="1"/>
            <a:r>
              <a:rPr lang="en-US" sz="3900" dirty="0" smtClean="0"/>
              <a:t>Language did not reflect practice </a:t>
            </a:r>
          </a:p>
          <a:p>
            <a:pPr>
              <a:buNone/>
            </a:pPr>
            <a:r>
              <a:rPr lang="en-US" sz="4400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en-US" sz="4400" dirty="0" smtClean="0"/>
              <a:t> Art. 21</a:t>
            </a:r>
          </a:p>
          <a:p>
            <a:pPr lvl="1"/>
            <a:r>
              <a:rPr lang="en-US" sz="3200" dirty="0" smtClean="0"/>
              <a:t> Emphasis on   informal resolution</a:t>
            </a:r>
          </a:p>
          <a:p>
            <a:pPr lvl="1"/>
            <a:r>
              <a:rPr lang="en-US" sz="3200" dirty="0" smtClean="0"/>
              <a:t> Time limits</a:t>
            </a:r>
          </a:p>
          <a:p>
            <a:pPr lvl="1"/>
            <a:r>
              <a:rPr lang="en-US" sz="3200" dirty="0" smtClean="0"/>
              <a:t> FA’s involvement/role of Head or Dean</a:t>
            </a:r>
          </a:p>
          <a:p>
            <a:pPr lvl="1"/>
            <a:endParaRPr lang="en-US" sz="3900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 smtClean="0"/>
              <a:t>Grievance Procedures</a:t>
            </a:r>
            <a:endParaRPr lang="en-US" sz="4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 smtClean="0"/>
              <a:t>Previously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sz="3600" dirty="0" smtClean="0"/>
              <a:t>Now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Associate Deans, and equivalent positions were included in the bargaining unit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Associate Deans, and equivalent positions are excluded from the bargaining unit as of January 16, 2011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400" dirty="0" smtClean="0"/>
              <a:t>Bargaining Unit Exclusions</a:t>
            </a:r>
            <a:endParaRPr lang="en-US" sz="4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0" y="1484784"/>
            <a:ext cx="4040188" cy="732974"/>
          </a:xfrm>
        </p:spPr>
        <p:txBody>
          <a:bodyPr/>
          <a:lstStyle/>
          <a:p>
            <a:r>
              <a:rPr lang="en-US" sz="3600" dirty="0" smtClean="0"/>
              <a:t>Previously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sz="3600" dirty="0" smtClean="0"/>
              <a:t>Now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323528" y="2492896"/>
            <a:ext cx="4041648" cy="381840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General  salary increases</a:t>
            </a:r>
          </a:p>
          <a:p>
            <a:r>
              <a:rPr lang="en-US" sz="3600" dirty="0" smtClean="0"/>
              <a:t>Market increases</a:t>
            </a:r>
          </a:p>
          <a:p>
            <a:r>
              <a:rPr lang="en-US" sz="3600" dirty="0" smtClean="0"/>
              <a:t>PTR increases</a:t>
            </a:r>
          </a:p>
          <a:p>
            <a:r>
              <a:rPr lang="en-US" sz="3600" dirty="0" smtClean="0"/>
              <a:t>Retention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No general salary or market increases</a:t>
            </a:r>
          </a:p>
          <a:p>
            <a:r>
              <a:rPr lang="en-US" sz="3600" dirty="0" smtClean="0"/>
              <a:t>PTR increases</a:t>
            </a:r>
          </a:p>
          <a:p>
            <a:r>
              <a:rPr lang="en-US" sz="3600" dirty="0" smtClean="0"/>
              <a:t>No retention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4400" dirty="0" smtClean="0"/>
              <a:t>Salaries</a:t>
            </a:r>
            <a:endParaRPr lang="en-US" sz="4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 smtClean="0"/>
              <a:t>Previously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sz="3600" dirty="0" smtClean="0"/>
              <a:t>Now</a:t>
            </a:r>
            <a:endParaRPr lang="en-US" sz="36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1% lump sum based on fundraising target: awarded every year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1% lump sum payment based on </a:t>
            </a:r>
            <a:r>
              <a:rPr lang="en-US" sz="2400" dirty="0" err="1" smtClean="0"/>
              <a:t>Tricouncil</a:t>
            </a:r>
            <a:r>
              <a:rPr lang="en-US" sz="2400" dirty="0" smtClean="0"/>
              <a:t> funding: awarded  some years, not others</a:t>
            </a:r>
            <a:endParaRPr lang="en-US" sz="2400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1% bonus – fundraising precondition eliminated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1% lump sum payment based on Tricouncil funding discontinued – rolled into Professional Development Fund, effective July 1, 2011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Productivity Lump Sum Payments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 smtClean="0"/>
              <a:t>Previously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sz="3600" dirty="0" smtClean="0"/>
              <a:t>Now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 smtClean="0"/>
              <a:t>$500 per  faculty member  per year</a:t>
            </a:r>
          </a:p>
          <a:p>
            <a:r>
              <a:rPr lang="en-US" dirty="0" smtClean="0"/>
              <a:t>No money for Sessionals with non-continuing status</a:t>
            </a:r>
          </a:p>
          <a:p>
            <a:r>
              <a:rPr lang="en-US" dirty="0" smtClean="0"/>
              <a:t>3 year accrual	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Effective July 1, 2011 $1100 per regular member per year</a:t>
            </a:r>
          </a:p>
          <a:p>
            <a:r>
              <a:rPr lang="en-US" dirty="0" smtClean="0"/>
              <a:t>5 year accrual</a:t>
            </a:r>
          </a:p>
          <a:p>
            <a:r>
              <a:rPr lang="en-US" dirty="0" smtClean="0"/>
              <a:t>Effective Date: February 15, 2011 </a:t>
            </a:r>
            <a:r>
              <a:rPr lang="en-US" dirty="0" err="1" smtClean="0"/>
              <a:t>Sessionals</a:t>
            </a:r>
            <a:r>
              <a:rPr lang="en-US" dirty="0" smtClean="0"/>
              <a:t> with non-continuing status  - $25 per credit</a:t>
            </a:r>
          </a:p>
          <a:p>
            <a:r>
              <a:rPr lang="en-US" dirty="0" smtClean="0"/>
              <a:t>2 year accrual (as of July 1, 2011)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Professional Development Funds</a:t>
            </a:r>
            <a:endParaRPr lang="en-US" sz="4000" dirty="0"/>
          </a:p>
        </p:txBody>
      </p:sp>
      <p:pic>
        <p:nvPicPr>
          <p:cNvPr id="2052" name="Picture 4" descr="C:\Documents and Settings\larkar\Local Settings\Temporary Internet Files\Content.IE5\TPQCHOVO\MC90030092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31719" y="3933056"/>
            <a:ext cx="995552" cy="2924944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 smtClean="0"/>
              <a:t>Previously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sz="3600" dirty="0" smtClean="0"/>
              <a:t>Now</a:t>
            </a:r>
            <a:endParaRPr lang="en-US" sz="36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No language on any of the following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New Language Effective July 1, 2011:</a:t>
            </a:r>
          </a:p>
          <a:p>
            <a:r>
              <a:rPr lang="en-US" sz="2400" dirty="0" smtClean="0"/>
              <a:t>Consultation </a:t>
            </a:r>
            <a:r>
              <a:rPr lang="en-US" sz="2400" u="sng" dirty="0" smtClean="0"/>
              <a:t>w</a:t>
            </a:r>
            <a:r>
              <a:rPr lang="en-US" sz="2400" dirty="0" smtClean="0"/>
              <a:t> colleagues re: merit/PSA policy </a:t>
            </a:r>
          </a:p>
          <a:p>
            <a:r>
              <a:rPr lang="en-US" sz="2400" dirty="0" smtClean="0"/>
              <a:t>Annual distribution of procedures</a:t>
            </a:r>
          </a:p>
          <a:p>
            <a:r>
              <a:rPr lang="en-US" sz="2400" dirty="0" smtClean="0"/>
              <a:t>Normally no PSA in first 3 years</a:t>
            </a:r>
          </a:p>
          <a:p>
            <a:r>
              <a:rPr lang="en-US" sz="2400" dirty="0" smtClean="0"/>
              <a:t>Allocation by Deans for Heads &amp; Directors</a:t>
            </a:r>
          </a:p>
          <a:p>
            <a:endParaRPr lang="en-US" sz="2400" dirty="0" smtClean="0"/>
          </a:p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 smtClean="0"/>
              <a:t>Merit &amp; Performance Salary Adjustment Awards</a:t>
            </a:r>
            <a:endParaRPr lang="en-US" sz="3000" dirty="0"/>
          </a:p>
        </p:txBody>
      </p:sp>
      <p:sp>
        <p:nvSpPr>
          <p:cNvPr id="9" name="Right Arrow 8"/>
          <p:cNvSpPr/>
          <p:nvPr/>
        </p:nvSpPr>
        <p:spPr>
          <a:xfrm>
            <a:off x="3131840" y="335699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 smtClean="0"/>
              <a:t>Length of Service Awards</a:t>
            </a:r>
            <a:endParaRPr lang="en-US" sz="44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New Language – Effective July 1, 2011</a:t>
            </a:r>
          </a:p>
          <a:p>
            <a:pPr lvl="1"/>
            <a:r>
              <a:rPr lang="en-US" sz="2400" dirty="0" smtClean="0"/>
              <a:t>Length of service Awards at years 20 and 25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Amount: </a:t>
            </a:r>
          </a:p>
          <a:p>
            <a:pPr lvl="1"/>
            <a:r>
              <a:rPr lang="en-US" sz="2400" dirty="0" smtClean="0"/>
              <a:t>1/3 of a Career Progress Increment</a:t>
            </a:r>
          </a:p>
          <a:p>
            <a:pPr lvl="1"/>
            <a:r>
              <a:rPr lang="en-US" sz="2400" dirty="0" smtClean="0"/>
              <a:t>For those past year 20, pay out over two years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Eligibility:</a:t>
            </a:r>
          </a:p>
          <a:p>
            <a:pPr lvl="1"/>
            <a:r>
              <a:rPr lang="en-US" sz="2400" dirty="0" smtClean="0"/>
              <a:t>Continuous service</a:t>
            </a:r>
          </a:p>
          <a:p>
            <a:pPr lvl="1"/>
            <a:r>
              <a:rPr lang="en-US" sz="2400" dirty="0" smtClean="0"/>
              <a:t>Must be in rank eligible for Career Progress  Increments </a:t>
            </a:r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 smtClean="0"/>
              <a:t>Heads and Directors</a:t>
            </a:r>
            <a:endParaRPr lang="en-US" sz="44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5428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US" sz="7000" dirty="0" smtClean="0"/>
          </a:p>
          <a:p>
            <a:r>
              <a:rPr lang="en-US" sz="8600" dirty="0" smtClean="0"/>
              <a:t>Language in the collective agreement - in conjuncture with University Policy 22</a:t>
            </a:r>
          </a:p>
          <a:p>
            <a:endParaRPr lang="en-US" sz="8600" dirty="0" smtClean="0"/>
          </a:p>
          <a:p>
            <a:r>
              <a:rPr lang="en-US" sz="8600" dirty="0" smtClean="0"/>
              <a:t>Terms and  conditions in writing </a:t>
            </a:r>
          </a:p>
          <a:p>
            <a:endParaRPr lang="en-US" sz="8600" dirty="0" smtClean="0"/>
          </a:p>
          <a:p>
            <a:r>
              <a:rPr lang="en-US" sz="8600" dirty="0" smtClean="0"/>
              <a:t>Role</a:t>
            </a:r>
          </a:p>
          <a:p>
            <a:pPr>
              <a:buNone/>
            </a:pPr>
            <a:endParaRPr lang="en-US" sz="8600" dirty="0" smtClean="0"/>
          </a:p>
          <a:p>
            <a:r>
              <a:rPr lang="en-US" sz="8600" dirty="0" smtClean="0"/>
              <a:t>Recognition</a:t>
            </a:r>
          </a:p>
          <a:p>
            <a:pPr lvl="1"/>
            <a:r>
              <a:rPr lang="en-US" sz="8600" dirty="0" smtClean="0"/>
              <a:t>Stipend</a:t>
            </a:r>
          </a:p>
          <a:p>
            <a:pPr lvl="1"/>
            <a:r>
              <a:rPr lang="en-US" sz="8600" dirty="0" smtClean="0"/>
              <a:t>Administrative  leave</a:t>
            </a:r>
          </a:p>
          <a:p>
            <a:pPr lvl="1"/>
            <a:r>
              <a:rPr lang="en-US" sz="8600" dirty="0" smtClean="0"/>
              <a:t>Teaching release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Instructor, Senior Instructor, Professor of Teaching</a:t>
            </a:r>
            <a:endParaRPr lang="en-US" sz="28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lvl="2">
              <a:buNone/>
            </a:pPr>
            <a:endParaRPr lang="en-US" sz="3200" dirty="0" smtClean="0"/>
          </a:p>
          <a:p>
            <a:pPr lvl="1"/>
            <a:r>
              <a:rPr lang="en-US" sz="3600" dirty="0" smtClean="0"/>
              <a:t> Instructor: </a:t>
            </a:r>
          </a:p>
          <a:p>
            <a:pPr lvl="2"/>
            <a:r>
              <a:rPr lang="en-US" sz="3000" dirty="0" smtClean="0"/>
              <a:t>Criteria clarified</a:t>
            </a:r>
          </a:p>
          <a:p>
            <a:pPr lvl="2">
              <a:buNone/>
            </a:pPr>
            <a:endParaRPr lang="en-US" sz="3200" dirty="0" smtClean="0"/>
          </a:p>
          <a:p>
            <a:pPr lvl="1"/>
            <a:r>
              <a:rPr lang="en-US" sz="3600" dirty="0" smtClean="0"/>
              <a:t>Senior Instructor</a:t>
            </a:r>
          </a:p>
          <a:p>
            <a:pPr lvl="2">
              <a:buNone/>
            </a:pPr>
            <a:r>
              <a:rPr lang="en-US" sz="3600" dirty="0" smtClean="0"/>
              <a:t> </a:t>
            </a:r>
            <a:r>
              <a:rPr lang="en-US" sz="3400" dirty="0" smtClean="0"/>
              <a:t>Effective Date: to be determined</a:t>
            </a:r>
          </a:p>
          <a:p>
            <a:pPr lvl="3"/>
            <a:r>
              <a:rPr lang="en-US" sz="3000" dirty="0" smtClean="0"/>
              <a:t>Criteria expanded</a:t>
            </a:r>
          </a:p>
          <a:p>
            <a:pPr lvl="1">
              <a:buNone/>
            </a:pPr>
            <a:endParaRPr lang="en-US" sz="3600" dirty="0" smtClean="0"/>
          </a:p>
          <a:p>
            <a:pPr lvl="1"/>
            <a:r>
              <a:rPr lang="en-US" sz="3600" b="1" dirty="0" smtClean="0"/>
              <a:t>New</a:t>
            </a:r>
            <a:r>
              <a:rPr lang="en-US" sz="3600" dirty="0" smtClean="0"/>
              <a:t> Rank of Professor of Teaching</a:t>
            </a:r>
          </a:p>
          <a:p>
            <a:pPr lvl="1">
              <a:buNone/>
            </a:pPr>
            <a:r>
              <a:rPr lang="en-US" sz="3600" dirty="0" smtClean="0"/>
              <a:t>	 </a:t>
            </a:r>
            <a:r>
              <a:rPr lang="en-US" sz="3600" dirty="0" smtClean="0">
                <a:solidFill>
                  <a:schemeClr val="tx1"/>
                </a:solidFill>
              </a:rPr>
              <a:t>Effective Date: to be determined</a:t>
            </a:r>
          </a:p>
          <a:p>
            <a:pPr lvl="2"/>
            <a:r>
              <a:rPr lang="en-US" sz="3000" dirty="0" smtClean="0"/>
              <a:t>Outstanding achievement</a:t>
            </a:r>
          </a:p>
          <a:p>
            <a:pPr lvl="2"/>
            <a:r>
              <a:rPr lang="en-US" sz="3000" dirty="0" smtClean="0"/>
              <a:t>15 new CPI increments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5130" name="Picture 10" descr="C:\Documents and Settings\larkar\Local Settings\Temporary Internet Files\Content.IE5\JVJVPJFQ\MC90005694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20272" y="5085184"/>
            <a:ext cx="1753819" cy="1373429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51520" y="260648"/>
            <a:ext cx="8534400" cy="758952"/>
          </a:xfrm>
        </p:spPr>
        <p:txBody>
          <a:bodyPr>
            <a:noAutofit/>
          </a:bodyPr>
          <a:lstStyle/>
          <a:p>
            <a:r>
              <a:rPr lang="en-US" sz="3000" dirty="0" smtClean="0"/>
              <a:t>Tenure and Promotion: Meetings with the Head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56792"/>
            <a:ext cx="8503920" cy="4542256"/>
          </a:xfrm>
        </p:spPr>
        <p:txBody>
          <a:bodyPr/>
          <a:lstStyle/>
          <a:p>
            <a:pPr>
              <a:buNone/>
            </a:pPr>
            <a:endParaRPr lang="en-US" sz="3200" dirty="0" smtClean="0"/>
          </a:p>
          <a:p>
            <a:r>
              <a:rPr lang="en-US" sz="3200" dirty="0" smtClean="0"/>
              <a:t>Earlier Meetings – no later than June 30</a:t>
            </a:r>
          </a:p>
          <a:p>
            <a:r>
              <a:rPr lang="en-US" sz="3200" dirty="0" smtClean="0"/>
              <a:t>Purpose of the meeting </a:t>
            </a:r>
          </a:p>
          <a:p>
            <a:r>
              <a:rPr lang="en-US" sz="3200" dirty="0" smtClean="0"/>
              <a:t>Dossier due by September 15</a:t>
            </a:r>
          </a:p>
          <a:p>
            <a:endParaRPr lang="en-US" sz="2600" dirty="0" smtClean="0"/>
          </a:p>
          <a:p>
            <a:endParaRPr lang="en-US" sz="26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098" name="Picture 2" descr="C:\Documents and Settings\larkar\Local Settings\Temporary Internet Files\Content.IE5\TPQCHOVO\MC900231217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5" y="4365104"/>
            <a:ext cx="3319057" cy="1955109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Streamlined  Process: Senior appointments </a:t>
            </a:r>
            <a:endParaRPr lang="en-US" sz="32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3200" dirty="0" smtClean="0"/>
              <a:t>New appointment process – may be used for senior faculty appointments </a:t>
            </a:r>
          </a:p>
          <a:p>
            <a:pPr>
              <a:buNone/>
            </a:pPr>
            <a:endParaRPr lang="en-US" sz="12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3200" dirty="0" smtClean="0"/>
              <a:t>Departmental Committee with Head, Faculty Committee representative and a Senior Appointment Committee representative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3200" dirty="0" smtClean="0"/>
              <a:t>Dean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3200" dirty="0" smtClean="0"/>
              <a:t>President</a:t>
            </a:r>
          </a:p>
          <a:p>
            <a:pPr>
              <a:buNone/>
            </a:pPr>
            <a:endParaRPr lang="en-US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endParaRPr lang="en-US" sz="26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4400" dirty="0" smtClean="0"/>
              <a:t>Tenure &amp; Promotion Reviews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3600" dirty="0" smtClean="0"/>
              <a:t>Everyone involved in review will consider:</a:t>
            </a:r>
          </a:p>
          <a:p>
            <a:pPr lvl="3"/>
            <a:r>
              <a:rPr lang="en-US" sz="2800" dirty="0" smtClean="0"/>
              <a:t>“Provisions of the collective agreement,</a:t>
            </a:r>
          </a:p>
          <a:p>
            <a:pPr lvl="3"/>
            <a:r>
              <a:rPr lang="en-US" sz="2800" dirty="0" smtClean="0"/>
              <a:t> Concepts of procedural fairness,</a:t>
            </a:r>
          </a:p>
          <a:p>
            <a:pPr lvl="3"/>
            <a:r>
              <a:rPr lang="en-US" sz="2800" dirty="0" smtClean="0"/>
              <a:t> Appropriate standards of excellence across and  within faculties and disciplines”</a:t>
            </a:r>
          </a:p>
          <a:p>
            <a:pPr lvl="3">
              <a:buNone/>
            </a:pPr>
            <a:endParaRPr lang="en-US" sz="2800" dirty="0" smtClean="0"/>
          </a:p>
          <a:p>
            <a:pPr>
              <a:buNone/>
            </a:pPr>
            <a:r>
              <a:rPr lang="en-US" sz="3400" dirty="0" smtClean="0"/>
              <a:t>President must consider:</a:t>
            </a:r>
          </a:p>
          <a:p>
            <a:pPr lvl="3"/>
            <a:r>
              <a:rPr lang="en-US" sz="2800" dirty="0" smtClean="0"/>
              <a:t>“All relevant contextual factors”.	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 smtClean="0"/>
              <a:t>Periodic  Promotion Reviews</a:t>
            </a:r>
            <a:endParaRPr lang="en-US" sz="44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4400" dirty="0" smtClean="0"/>
              <a:t>Changes:</a:t>
            </a:r>
          </a:p>
          <a:p>
            <a:pPr>
              <a:buNone/>
            </a:pPr>
            <a:endParaRPr lang="en-US" sz="3600" dirty="0" smtClean="0"/>
          </a:p>
          <a:p>
            <a:r>
              <a:rPr lang="en-US" sz="3600" dirty="0" smtClean="0"/>
              <a:t>Simplifies timing</a:t>
            </a:r>
          </a:p>
          <a:p>
            <a:endParaRPr lang="en-US" sz="3600" dirty="0" smtClean="0"/>
          </a:p>
          <a:p>
            <a:r>
              <a:rPr lang="en-US" sz="3600" dirty="0" smtClean="0"/>
              <a:t>Clarifies what is a review</a:t>
            </a:r>
          </a:p>
          <a:p>
            <a:endParaRPr lang="en-US" sz="2600" dirty="0" smtClean="0"/>
          </a:p>
          <a:p>
            <a:endParaRPr lang="en-US" sz="26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800" dirty="0" smtClean="0"/>
              <a:t>Thank you!</a:t>
            </a:r>
            <a:endParaRPr lang="en-US" sz="5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sz="5400" dirty="0" smtClean="0"/>
              <a:t>Questions?</a:t>
            </a:r>
          </a:p>
          <a:p>
            <a:pPr algn="ctr">
              <a:buNone/>
            </a:pPr>
            <a:r>
              <a:rPr lang="en-US" sz="2600" dirty="0" smtClean="0"/>
              <a:t>UBCV – call Faculty </a:t>
            </a:r>
            <a:r>
              <a:rPr lang="en-US" sz="2600" dirty="0" smtClean="0"/>
              <a:t>Relations</a:t>
            </a:r>
            <a:r>
              <a:rPr lang="en-US" sz="2600" dirty="0" smtClean="0"/>
              <a:t>:</a:t>
            </a:r>
          </a:p>
          <a:p>
            <a:r>
              <a:rPr lang="en-US" sz="2600" dirty="0" smtClean="0"/>
              <a:t>Fran Watters, Director, Faculty Relations</a:t>
            </a:r>
          </a:p>
          <a:p>
            <a:pPr>
              <a:buNone/>
            </a:pPr>
            <a:r>
              <a:rPr lang="en-US" sz="2600" dirty="0" smtClean="0"/>
              <a:t>	</a:t>
            </a:r>
            <a:r>
              <a:rPr lang="en-US" sz="2600" dirty="0" smtClean="0"/>
              <a:t>604 822 4284</a:t>
            </a:r>
          </a:p>
          <a:p>
            <a:r>
              <a:rPr lang="en-US" sz="2600" dirty="0" smtClean="0"/>
              <a:t>Mark Trowell, Senior Manager, Faculty Relations</a:t>
            </a:r>
          </a:p>
          <a:p>
            <a:pPr>
              <a:buNone/>
            </a:pPr>
            <a:r>
              <a:rPr lang="en-US" sz="2600" dirty="0" smtClean="0"/>
              <a:t>	</a:t>
            </a:r>
            <a:r>
              <a:rPr lang="en-US" sz="2600" dirty="0" smtClean="0"/>
              <a:t>604 822 9725</a:t>
            </a:r>
          </a:p>
          <a:p>
            <a:pPr>
              <a:buNone/>
            </a:pPr>
            <a:endParaRPr lang="en-US" sz="2600" dirty="0" smtClean="0"/>
          </a:p>
          <a:p>
            <a:pPr algn="ctr">
              <a:buNone/>
            </a:pPr>
            <a:r>
              <a:rPr lang="en-US" sz="2600" dirty="0" smtClean="0"/>
              <a:t>UBCO – call Human Resources:</a:t>
            </a:r>
          </a:p>
          <a:p>
            <a:r>
              <a:rPr lang="en-US" sz="2600" dirty="0" smtClean="0"/>
              <a:t>Pauline </a:t>
            </a:r>
            <a:r>
              <a:rPr lang="en-US" sz="2600" dirty="0" smtClean="0"/>
              <a:t>Brandes, Director, Human Resources</a:t>
            </a:r>
          </a:p>
          <a:p>
            <a:pPr>
              <a:buNone/>
            </a:pPr>
            <a:r>
              <a:rPr lang="en-US" sz="2600" dirty="0" smtClean="0"/>
              <a:t>	250 807 8618</a:t>
            </a:r>
          </a:p>
          <a:p>
            <a:r>
              <a:rPr lang="en-US" sz="2600" dirty="0" smtClean="0"/>
              <a:t>George </a:t>
            </a:r>
            <a:r>
              <a:rPr lang="en-US" sz="2600" dirty="0" smtClean="0"/>
              <a:t>Athans, Manager, Human Resources and Employee Relations </a:t>
            </a:r>
            <a:br>
              <a:rPr lang="en-US" sz="2600" dirty="0" smtClean="0"/>
            </a:br>
            <a:r>
              <a:rPr lang="en-US" sz="2600" dirty="0" smtClean="0"/>
              <a:t>250 807 8622</a:t>
            </a:r>
          </a:p>
          <a:p>
            <a:pPr algn="ctr">
              <a:buNone/>
            </a:pPr>
            <a:endParaRPr lang="en-US" sz="2800" dirty="0" smtClean="0"/>
          </a:p>
          <a:p>
            <a:pPr algn="ctr">
              <a:buNone/>
            </a:pPr>
            <a:endParaRPr lang="en-US" sz="2800" dirty="0" smtClean="0"/>
          </a:p>
          <a:p>
            <a:pPr algn="ctr">
              <a:buNone/>
            </a:pPr>
            <a:endParaRPr lang="en-US" sz="5400" dirty="0"/>
          </a:p>
        </p:txBody>
      </p:sp>
      <p:pic>
        <p:nvPicPr>
          <p:cNvPr id="1038" name="Picture 14" descr="C:\Documents and Settings\larkar\Local Settings\Temporary Internet Files\Content.IE5\WXYN0PA7\MC900384172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88640"/>
            <a:ext cx="1880141" cy="2232248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9A8F-F896-465F-92A3-DA10BBC4460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Relations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1171</TotalTime>
  <Words>716</Words>
  <Application>Microsoft Office PowerPoint</Application>
  <PresentationFormat>On-screen Show (4:3)</PresentationFormat>
  <Paragraphs>264</Paragraphs>
  <Slides>19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Civic</vt:lpstr>
      <vt:lpstr>Overview of the Changes to the UBC Faculty Agreement</vt:lpstr>
      <vt:lpstr>Effective Dates</vt:lpstr>
      <vt:lpstr>Duration</vt:lpstr>
      <vt:lpstr>Personnel Files</vt:lpstr>
      <vt:lpstr>Workload</vt:lpstr>
      <vt:lpstr>Grievance Procedures</vt:lpstr>
      <vt:lpstr>Bargaining Unit Exclusions</vt:lpstr>
      <vt:lpstr> Salaries</vt:lpstr>
      <vt:lpstr>Productivity Lump Sum Payments</vt:lpstr>
      <vt:lpstr>Professional Development Funds</vt:lpstr>
      <vt:lpstr>Merit &amp; Performance Salary Adjustment Awards</vt:lpstr>
      <vt:lpstr>Length of Service Awards</vt:lpstr>
      <vt:lpstr>Heads and Directors</vt:lpstr>
      <vt:lpstr>Instructor, Senior Instructor, Professor of Teaching</vt:lpstr>
      <vt:lpstr>Tenure and Promotion: Meetings with the Head</vt:lpstr>
      <vt:lpstr>Streamlined  Process: Senior appointments </vt:lpstr>
      <vt:lpstr>   Tenure &amp; Promotion Reviews</vt:lpstr>
      <vt:lpstr>Periodic  Promotion Reviews</vt:lpstr>
      <vt:lpstr>Thank you!</vt:lpstr>
    </vt:vector>
  </TitlesOfParts>
  <Company>UBC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larkar</dc:creator>
  <cp:lastModifiedBy>larkar</cp:lastModifiedBy>
  <cp:revision>183</cp:revision>
  <dcterms:created xsi:type="dcterms:W3CDTF">2011-01-11T19:06:31Z</dcterms:created>
  <dcterms:modified xsi:type="dcterms:W3CDTF">2011-02-07T20:07:53Z</dcterms:modified>
</cp:coreProperties>
</file>