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58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CCECFF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F4A753A-81E6-4D88-A258-770A7A735C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8C8A51-BF1E-4E65-AC5E-79F004F35EFE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F158C4-C44F-45CA-9527-942C2C593C0D}" type="slidenum">
              <a:rPr lang="en-GB" smtClean="0"/>
              <a:pPr/>
              <a:t>2</a:t>
            </a:fld>
            <a:endParaRPr lang="en-GB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0BC5EE-105D-4304-B751-73D693E4EEDE}" type="slidenum">
              <a:rPr lang="en-GB" smtClean="0"/>
              <a:pPr/>
              <a:t>3</a:t>
            </a:fld>
            <a:endParaRPr lang="en-GB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F9A392-E226-455D-B91D-CF4E1BBA7E72}" type="slidenum">
              <a:rPr lang="en-GB" smtClean="0"/>
              <a:pPr/>
              <a:t>4</a:t>
            </a:fld>
            <a:endParaRPr lang="en-GB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65EF44-14CB-4EAE-946E-6003CB3870BE}" type="slidenum">
              <a:rPr lang="en-GB" smtClean="0"/>
              <a:pPr/>
              <a:t>5</a:t>
            </a:fld>
            <a:endParaRPr lang="en-GB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17EC05-E442-4564-B8E9-FCA6F8F94D6B}" type="slidenum">
              <a:rPr lang="en-GB" smtClean="0"/>
              <a:pPr/>
              <a:t>6</a:t>
            </a:fld>
            <a:endParaRPr lang="en-GB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7FE73-A5A3-4374-90F3-141B2E92A299}" type="slidenum">
              <a:rPr lang="en-GB" smtClean="0"/>
              <a:pPr/>
              <a:t>7</a:t>
            </a:fld>
            <a:endParaRPr lang="en-GB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E4CD4D-9ACF-4F69-957F-A9A2ABF26A60}" type="slidenum">
              <a:rPr lang="en-GB" smtClean="0"/>
              <a:pPr/>
              <a:t>8</a:t>
            </a:fld>
            <a:endParaRPr lang="en-GB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B3C00E-7405-419F-AA4E-B3721283667C}" type="slidenum">
              <a:rPr lang="en-GB" smtClean="0"/>
              <a:pPr/>
              <a:t>9</a:t>
            </a:fld>
            <a:endParaRPr lang="en-GB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D2FA7D-15AA-4719-97A1-B8E5C7575382}" type="slidenum">
              <a:rPr lang="en-GB" smtClean="0"/>
              <a:pPr/>
              <a:t>10</a:t>
            </a:fld>
            <a:endParaRPr lang="en-GB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F059D-8E93-4260-8CFE-B6A395ECAD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BC35E-A9EF-49F8-ACEB-3AFC59E65D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F98B7-3670-4A2A-9894-C9CACD07EE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23167-39F8-422E-B224-EBFF907992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FB254-1162-4C59-BE90-5C198AC4C0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F04A0-E057-4F67-8BFF-AD63800B7E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A501C-7ADC-4FA7-B3A6-C7A7C878A6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F02B8-A599-4556-A5B4-7F1346D917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22A28-70B1-430E-AE82-B7188C22A7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E24A6-FAB8-46FC-A9E9-AA473134A3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2ADC5-06CF-4368-A8FC-B859B91A17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GB"/>
              <a:t>After the Wall: http://afterthewall.bangor.ac.uk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7C38E59-CEDD-4990-81A0-3DF440EE00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iftung-aufarbeitung.de/downloads/pdf/sabrow-bericht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3111500"/>
            <a:ext cx="7772400" cy="1470025"/>
          </a:xfrm>
        </p:spPr>
        <p:txBody>
          <a:bodyPr/>
          <a:lstStyle/>
          <a:p>
            <a:pPr eaLnBrk="1" hangingPunct="1"/>
            <a:r>
              <a:rPr lang="en-GB" sz="2800" smtClean="0">
                <a:solidFill>
                  <a:srgbClr val="0033CC"/>
                </a:solidFill>
              </a:rPr>
              <a:t>‘Empfehlung der Expertenkommission zur Schaffung eines Geschichtsverbundes “Aufarbeitung der SED Diktatur”’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771650"/>
            <a:ext cx="6400800" cy="649288"/>
          </a:xfrm>
        </p:spPr>
        <p:txBody>
          <a:bodyPr/>
          <a:lstStyle/>
          <a:p>
            <a:pPr eaLnBrk="1" hangingPunct="1"/>
            <a:r>
              <a:rPr lang="en-GB" smtClean="0">
                <a:solidFill>
                  <a:srgbClr val="0033CC"/>
                </a:solidFill>
              </a:rPr>
              <a:t>The Sabrow-Kommission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Presentation outline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Basics of the Sabrow-Kommission</a:t>
            </a:r>
          </a:p>
          <a:p>
            <a:pPr eaLnBrk="1" hangingPunct="1">
              <a:lnSpc>
                <a:spcPct val="90000"/>
              </a:lnSpc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Aims of the Sabrow-Kommission</a:t>
            </a:r>
          </a:p>
          <a:p>
            <a:pPr eaLnBrk="1" hangingPunct="1">
              <a:lnSpc>
                <a:spcPct val="90000"/>
              </a:lnSpc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>
                <a:solidFill>
                  <a:srgbClr val="0033CC"/>
                </a:solidFill>
              </a:rPr>
              <a:t>Which institutions were reviewed</a:t>
            </a:r>
            <a:r>
              <a:rPr lang="en-GB" sz="2400" dirty="0" smtClean="0"/>
              <a:t>? </a:t>
            </a:r>
            <a:endParaRPr lang="en-GB" sz="2400" dirty="0" smtClean="0"/>
          </a:p>
          <a:p>
            <a:pPr eaLnBrk="1" hangingPunct="1">
              <a:lnSpc>
                <a:spcPct val="90000"/>
              </a:lnSpc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Which deficits did the Sabrow-Kommission identify?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Dictatorship vs. everyday</a:t>
            </a:r>
          </a:p>
          <a:p>
            <a:pPr eaLnBrk="1" hangingPunct="1">
              <a:lnSpc>
                <a:spcPct val="90000"/>
              </a:lnSpc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Conclusions of the Sabrow-Kommission</a:t>
            </a:r>
          </a:p>
          <a:p>
            <a:pPr eaLnBrk="1" hangingPunct="1">
              <a:lnSpc>
                <a:spcPct val="90000"/>
              </a:lnSpc>
            </a:pPr>
            <a:endParaRPr lang="en-GB" sz="1000" dirty="0" smtClean="0"/>
          </a:p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Useful sources</a:t>
            </a:r>
          </a:p>
          <a:p>
            <a:pPr eaLnBrk="1" hangingPunct="1">
              <a:lnSpc>
                <a:spcPct val="90000"/>
              </a:lnSpc>
            </a:pPr>
            <a:endParaRPr lang="en-GB" sz="2400" dirty="0" smtClean="0"/>
          </a:p>
          <a:p>
            <a:pPr eaLnBrk="1" hangingPunct="1">
              <a:lnSpc>
                <a:spcPct val="90000"/>
              </a:lnSpc>
            </a:pPr>
            <a:endParaRPr lang="en-GB" sz="2400" dirty="0" smtClean="0"/>
          </a:p>
          <a:p>
            <a:pPr eaLnBrk="1" hangingPunct="1">
              <a:lnSpc>
                <a:spcPct val="90000"/>
              </a:lnSpc>
            </a:pPr>
            <a:endParaRPr lang="en-GB" sz="2400" dirty="0" smtClean="0"/>
          </a:p>
          <a:p>
            <a:pPr eaLnBrk="1" hangingPunct="1">
              <a:lnSpc>
                <a:spcPct val="90000"/>
              </a:lnSpc>
            </a:pPr>
            <a:endParaRPr lang="en-GB" sz="24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Basics of the Sabrow-Kommission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400" smtClean="0"/>
              <a:t>The Sabrow-Kommission took place between May 2005 and May 2006.</a:t>
            </a:r>
          </a:p>
          <a:p>
            <a:pPr eaLnBrk="1" hangingPunct="1"/>
            <a:endParaRPr lang="en-GB" sz="1000" smtClean="0"/>
          </a:p>
          <a:p>
            <a:pPr eaLnBrk="1" hangingPunct="1"/>
            <a:r>
              <a:rPr lang="en-GB" sz="2400" smtClean="0"/>
              <a:t>Its overarching aim was to look at existing institutions which aim to work through the SED dictatorship and make recommendations for improvements.</a:t>
            </a:r>
          </a:p>
          <a:p>
            <a:pPr eaLnBrk="1" hangingPunct="1"/>
            <a:endParaRPr lang="en-GB" sz="1000" smtClean="0"/>
          </a:p>
          <a:p>
            <a:pPr eaLnBrk="1" hangingPunct="1"/>
            <a:r>
              <a:rPr lang="en-GB" sz="2400" smtClean="0"/>
              <a:t>The Sabrow-Kommission consisted of specialist historians, political scientists and journalists.</a:t>
            </a:r>
          </a:p>
          <a:p>
            <a:pPr eaLnBrk="1" hangingPunct="1"/>
            <a:endParaRPr lang="en-GB" sz="2400" smtClean="0"/>
          </a:p>
          <a:p>
            <a:pPr eaLnBrk="1" hangingPunct="1">
              <a:buFontTx/>
              <a:buNone/>
            </a:pPr>
            <a:endParaRPr lang="en-GB" sz="2400" smtClean="0"/>
          </a:p>
          <a:p>
            <a:pPr eaLnBrk="1" hangingPunct="1"/>
            <a:endParaRPr lang="en-GB" sz="24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The aims of the Sabrow-Kommission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</a:pPr>
            <a:r>
              <a:rPr lang="en-GB" sz="2400" dirty="0" smtClean="0"/>
              <a:t>The Sabrow-Kommission aimed to create a concept for a historical network on working through the SED dictatorship, with a particular focus on resistance and opposition.</a:t>
            </a:r>
          </a:p>
          <a:p>
            <a:pPr marL="0" indent="0" eaLnBrk="1" hangingPunct="1">
              <a:buFontTx/>
              <a:buNone/>
            </a:pPr>
            <a:endParaRPr lang="en-GB" sz="1000" dirty="0" smtClean="0"/>
          </a:p>
          <a:p>
            <a:pPr marL="0" indent="0" eaLnBrk="1" hangingPunct="1">
              <a:buFontTx/>
              <a:buNone/>
            </a:pPr>
            <a:r>
              <a:rPr lang="en-GB" sz="2400" dirty="0" smtClean="0"/>
              <a:t>The concept was intended to be decentralised, so not connected to a political agenda.</a:t>
            </a:r>
          </a:p>
          <a:p>
            <a:pPr marL="0" indent="0" eaLnBrk="1" hangingPunct="1">
              <a:buFontTx/>
              <a:buNone/>
            </a:pPr>
            <a:endParaRPr lang="en-GB" sz="1200" dirty="0" smtClean="0"/>
          </a:p>
          <a:p>
            <a:pPr marL="0" indent="0" eaLnBrk="1" hangingPunct="1">
              <a:buFontTx/>
              <a:buNone/>
            </a:pPr>
            <a:r>
              <a:rPr lang="en-GB" sz="2400" dirty="0" smtClean="0"/>
              <a:t>It </a:t>
            </a:r>
            <a:r>
              <a:rPr lang="en-GB" sz="2400" dirty="0" smtClean="0">
                <a:solidFill>
                  <a:srgbClr val="0033CC"/>
                </a:solidFill>
              </a:rPr>
              <a:t>was intended to ensure the continuing development of existing institutions </a:t>
            </a:r>
            <a:r>
              <a:rPr lang="en-GB" sz="2400" dirty="0" smtClean="0"/>
              <a:t>so that educational and remembrance sites were linked more closely to form a cooperative network.</a:t>
            </a:r>
          </a:p>
          <a:p>
            <a:pPr marL="0" indent="0" eaLnBrk="1" hangingPunct="1">
              <a:buFontTx/>
              <a:buNone/>
            </a:pPr>
            <a:endParaRPr lang="en-GB" sz="1000" dirty="0" smtClean="0"/>
          </a:p>
          <a:p>
            <a:pPr marL="0" indent="0" eaLnBrk="1" hangingPunct="1">
              <a:buFontTx/>
              <a:buNone/>
            </a:pPr>
            <a:r>
              <a:rPr lang="en-GB" sz="2400" dirty="0" smtClean="0"/>
              <a:t>Importantly, it was </a:t>
            </a:r>
            <a:r>
              <a:rPr lang="en-GB" sz="2400" u="sng" dirty="0" smtClean="0"/>
              <a:t>not</a:t>
            </a:r>
            <a:r>
              <a:rPr lang="en-GB" sz="2400" dirty="0" smtClean="0"/>
              <a:t> intended to create new institutions.</a:t>
            </a:r>
          </a:p>
          <a:p>
            <a:pPr marL="628650" lvl="1" indent="3175" eaLnBrk="1" hangingPunct="1">
              <a:buFontTx/>
              <a:buAutoNum type="arabicPeriod"/>
            </a:pPr>
            <a:endParaRPr lang="en-GB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dirty="0" smtClean="0">
                <a:solidFill>
                  <a:srgbClr val="0033CC"/>
                </a:solidFill>
              </a:rPr>
              <a:t>Which institutions were reviewed? </a:t>
            </a:r>
            <a:endParaRPr lang="en-GB" sz="3000" dirty="0" smtClean="0">
              <a:solidFill>
                <a:srgbClr val="0033CC"/>
              </a:solidFill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Tx/>
              <a:buChar char="•"/>
            </a:pPr>
            <a:r>
              <a:rPr lang="en-GB" sz="2000" dirty="0" smtClean="0"/>
              <a:t>The Federal Commissioner for the Stasi Archives (Bundesbeauftragte für die Stasi-Unterlagen) </a:t>
            </a:r>
          </a:p>
          <a:p>
            <a:pPr marL="990600" lvl="1" indent="-533400" eaLnBrk="1" hangingPunct="1">
              <a:buFontTx/>
              <a:buChar char="•"/>
            </a:pPr>
            <a:endParaRPr lang="en-GB" sz="200" dirty="0" smtClean="0"/>
          </a:p>
          <a:p>
            <a:pPr marL="990600" lvl="1" indent="-533400" eaLnBrk="1" hangingPunct="1">
              <a:buFontTx/>
              <a:buChar char="•"/>
            </a:pPr>
            <a:r>
              <a:rPr lang="en-GB" sz="2000" dirty="0" smtClean="0"/>
              <a:t>The Federal Foundation for the Reappraisal of the SED Dictatorship (Bundesstiftung zur Aufarbeitung der SED-Diktatur</a:t>
            </a:r>
            <a:r>
              <a:rPr lang="en-GB" sz="2000" dirty="0" smtClean="0"/>
              <a:t>)</a:t>
            </a:r>
            <a:endParaRPr lang="en-GB" sz="2000" dirty="0" smtClean="0">
              <a:solidFill>
                <a:srgbClr val="FF0000"/>
              </a:solidFill>
            </a:endParaRPr>
          </a:p>
          <a:p>
            <a:pPr marL="990600" lvl="1" indent="-533400" eaLnBrk="1" hangingPunct="1">
              <a:buFontTx/>
              <a:buChar char="•"/>
            </a:pPr>
            <a:endParaRPr lang="en-GB" sz="200" dirty="0" smtClean="0"/>
          </a:p>
          <a:p>
            <a:pPr marL="990600" lvl="1" indent="-533400" eaLnBrk="1" hangingPunct="1">
              <a:buFontTx/>
              <a:buChar char="•"/>
            </a:pPr>
            <a:r>
              <a:rPr lang="en-GB" sz="2000" dirty="0" smtClean="0"/>
              <a:t>Historical museums (Stiftung Haus der Geschichte der Bundesrepublik Deutschland / Zeitgeschichtliches Forum Leipzig)</a:t>
            </a:r>
          </a:p>
          <a:p>
            <a:pPr marL="990600" lvl="1" indent="-533400" eaLnBrk="1" hangingPunct="1">
              <a:buFontTx/>
              <a:buChar char="•"/>
            </a:pPr>
            <a:endParaRPr lang="en-GB" sz="200" dirty="0" smtClean="0"/>
          </a:p>
          <a:p>
            <a:pPr marL="990600" lvl="1" indent="-533400" eaLnBrk="1" hangingPunct="1">
              <a:buFontTx/>
              <a:buChar char="•"/>
            </a:pPr>
            <a:r>
              <a:rPr lang="en-GB" sz="2000" dirty="0" smtClean="0"/>
              <a:t>The Berlin-Hohenschönhausen memorial (Stiftung Gedenkstätte Berlin-Hohenschönhausen)</a:t>
            </a:r>
          </a:p>
          <a:p>
            <a:pPr marL="990600" lvl="1" indent="-533400" eaLnBrk="1" hangingPunct="1">
              <a:buFontTx/>
              <a:buChar char="•"/>
            </a:pPr>
            <a:endParaRPr lang="en-GB" sz="200" dirty="0" smtClean="0"/>
          </a:p>
          <a:p>
            <a:pPr marL="990600" lvl="1" indent="-533400" eaLnBrk="1" hangingPunct="1">
              <a:buFontTx/>
              <a:buChar char="•"/>
            </a:pPr>
            <a:r>
              <a:rPr lang="en-GB" sz="2000" dirty="0" smtClean="0"/>
              <a:t>The Berlin Wall Memorial Site (Gedenkstätte Berliner Mauer) </a:t>
            </a:r>
            <a:r>
              <a:rPr lang="en-GB" sz="2000" i="1" dirty="0" smtClean="0"/>
              <a:t>or</a:t>
            </a:r>
            <a:r>
              <a:rPr lang="en-GB" sz="2000" dirty="0" smtClean="0"/>
              <a:t> the Stasi museum (Forschungs- und Gedenkstätte Normannenstra</a:t>
            </a:r>
            <a:r>
              <a:rPr lang="el-GR" sz="2000" dirty="0" smtClean="0"/>
              <a:t>β</a:t>
            </a:r>
            <a:r>
              <a:rPr lang="en-GB" sz="2000" dirty="0" smtClean="0"/>
              <a:t>e)</a:t>
            </a:r>
            <a:endParaRPr lang="el-GR" sz="2000" dirty="0" smtClean="0"/>
          </a:p>
          <a:p>
            <a:pPr marL="990600" lvl="1" indent="-533400" eaLnBrk="1" hangingPunct="1">
              <a:buFontTx/>
              <a:buChar char="•"/>
            </a:pPr>
            <a:endParaRPr lang="en-GB" sz="2000" dirty="0" smtClean="0"/>
          </a:p>
          <a:p>
            <a:pPr marL="990600" lvl="1" indent="-533400" eaLnBrk="1" hangingPunct="1">
              <a:buFontTx/>
              <a:buChar char="•"/>
            </a:pPr>
            <a:endParaRPr lang="en-GB" sz="2000" dirty="0" smtClean="0"/>
          </a:p>
          <a:p>
            <a:pPr marL="990600" lvl="1" indent="-533400" eaLnBrk="1" hangingPunct="1">
              <a:buFontTx/>
              <a:buChar char="•"/>
            </a:pPr>
            <a:endParaRPr lang="en-GB" sz="2000" dirty="0" smtClean="0"/>
          </a:p>
          <a:p>
            <a:pPr marL="990600" lvl="1" indent="-533400" eaLnBrk="1" hangingPunct="1">
              <a:buFontTx/>
              <a:buChar char="•"/>
            </a:pPr>
            <a:endParaRPr lang="en-GB" sz="2000" dirty="0" smtClean="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0" y="0"/>
            <a:ext cx="1397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8088" tIns="6348" rIns="38088" bIns="6348" anchor="ctr">
            <a:spAutoFit/>
          </a:bodyPr>
          <a:lstStyle/>
          <a:p>
            <a:r>
              <a:rPr lang="en-GB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What deficits did the Sabrow-Kommission identify? (1)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229600" cy="4205288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GB" sz="2400" smtClean="0"/>
              <a:t>GDR history is an issue which should be dealt with by Germany as a whole – it is rarely seen as such in western Germany.</a:t>
            </a:r>
          </a:p>
          <a:p>
            <a:pPr marL="609600" indent="-609600" eaLnBrk="1" hangingPunct="1">
              <a:buFontTx/>
              <a:buAutoNum type="arabicPeriod"/>
            </a:pPr>
            <a:endParaRPr lang="en-GB" sz="1000" smtClean="0"/>
          </a:p>
          <a:p>
            <a:pPr marL="609600" indent="-609600" eaLnBrk="1" hangingPunct="1">
              <a:buFontTx/>
              <a:buAutoNum type="arabicPeriod"/>
            </a:pPr>
            <a:r>
              <a:rPr lang="en-GB" sz="2400" smtClean="0"/>
              <a:t>The concept of the GDR dictatorship has been increasingly trivialised in recent media representations, which serves to degrade victims of the regime.</a:t>
            </a:r>
          </a:p>
          <a:p>
            <a:pPr marL="609600" indent="-609600" eaLnBrk="1" hangingPunct="1">
              <a:buFontTx/>
              <a:buAutoNum type="arabicPeriod"/>
            </a:pPr>
            <a:endParaRPr lang="en-GB" sz="1000" smtClean="0"/>
          </a:p>
          <a:p>
            <a:pPr marL="609600" indent="-609600" eaLnBrk="1" hangingPunct="1">
              <a:buFontTx/>
              <a:buAutoNum type="arabicPeriod"/>
            </a:pPr>
            <a:r>
              <a:rPr lang="en-GB" sz="2400" smtClean="0"/>
              <a:t>A lack of teaching about the GDR in schools: it often takes a backseat despite the wealth of materials that are on offer.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Which deficits did the Sabrow-Kommission identify? (2)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AutoNum type="arabicPeriod" startAt="4"/>
            </a:pPr>
            <a:r>
              <a:rPr lang="en-GB" sz="2400" smtClean="0"/>
              <a:t>Some institutions are short of financial funds, and also lack networking and professionalism when it comes to discussing the GDR.</a:t>
            </a:r>
          </a:p>
          <a:p>
            <a:pPr marL="609600" indent="-609600" eaLnBrk="1" hangingPunct="1">
              <a:buFontTx/>
              <a:buAutoNum type="arabicPeriod" startAt="4"/>
            </a:pPr>
            <a:endParaRPr lang="en-GB" sz="1000" smtClean="0"/>
          </a:p>
          <a:p>
            <a:pPr marL="609600" indent="-609600" eaLnBrk="1" hangingPunct="1">
              <a:buFontTx/>
              <a:buAutoNum type="arabicPeriod" startAt="4"/>
            </a:pPr>
            <a:r>
              <a:rPr lang="en-GB" sz="2400" smtClean="0"/>
              <a:t>A lack of common strategy for the future development of institutional and thematic debates on the GDR, on a national and regional level.</a:t>
            </a:r>
          </a:p>
          <a:p>
            <a:pPr marL="609600" indent="-609600" eaLnBrk="1" hangingPunct="1">
              <a:buFontTx/>
              <a:buAutoNum type="arabicPeriod" startAt="4"/>
            </a:pPr>
            <a:endParaRPr lang="en-GB" sz="1000" smtClean="0"/>
          </a:p>
          <a:p>
            <a:pPr marL="609600" indent="-609600" eaLnBrk="1" hangingPunct="1">
              <a:buFontTx/>
              <a:buAutoNum type="arabicPeriod" startAt="4"/>
            </a:pPr>
            <a:r>
              <a:rPr lang="en-GB" sz="2400" smtClean="0"/>
              <a:t>Current official documentation prioritises state repression over resistance and opposition, ideology and party governance, as well as everyday lives.</a:t>
            </a:r>
          </a:p>
          <a:p>
            <a:pPr marL="609600" indent="-609600" eaLnBrk="1" hangingPunct="1">
              <a:buFontTx/>
              <a:buAutoNum type="arabicPeriod" startAt="4"/>
            </a:pPr>
            <a:endParaRPr lang="en-GB" sz="2400" smtClean="0"/>
          </a:p>
          <a:p>
            <a:pPr marL="609600" indent="-609600" eaLnBrk="1" hangingPunct="1">
              <a:buFontTx/>
              <a:buAutoNum type="arabicPeriod" startAt="4"/>
            </a:pPr>
            <a:endParaRPr lang="en-GB" sz="2400" smtClean="0"/>
          </a:p>
          <a:p>
            <a:pPr marL="609600" indent="-609600" eaLnBrk="1" hangingPunct="1">
              <a:buFontTx/>
              <a:buAutoNum type="arabicPeriod" startAt="4"/>
            </a:pPr>
            <a:endParaRPr lang="en-GB" sz="2400" b="1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Dictatorship vs. Everyday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452596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GB" sz="2400" smtClean="0"/>
              <a:t>One of the most significant recommendations of the Sabrow-Kommission related to the balance between dictatorship and the everyday in educational and memorial sites.</a:t>
            </a:r>
          </a:p>
          <a:p>
            <a:pPr marL="0" indent="0" eaLnBrk="1" hangingPunct="1">
              <a:buFontTx/>
              <a:buNone/>
            </a:pPr>
            <a:endParaRPr lang="en-GB" sz="1000" smtClean="0"/>
          </a:p>
          <a:p>
            <a:pPr marL="0" indent="0" eaLnBrk="1" hangingPunct="1">
              <a:buFontTx/>
              <a:buNone/>
            </a:pPr>
            <a:r>
              <a:rPr lang="en-GB" sz="2400" smtClean="0"/>
              <a:t>The Kommission proposed that there was too much focus on the oppressive nature of the state, and not enough on resistance and everyday life.</a:t>
            </a:r>
          </a:p>
          <a:p>
            <a:pPr marL="0" indent="0" eaLnBrk="1" hangingPunct="1">
              <a:buFontTx/>
              <a:buNone/>
            </a:pPr>
            <a:endParaRPr lang="en-GB" sz="1000" smtClean="0"/>
          </a:p>
          <a:p>
            <a:pPr marL="0" indent="0" eaLnBrk="1" hangingPunct="1">
              <a:buFontTx/>
              <a:buNone/>
            </a:pPr>
            <a:r>
              <a:rPr lang="en-GB" sz="2400" smtClean="0"/>
              <a:t>This means that currently, the everyday functioning of the GDR and individuals’ everyday experiences are not overtly visible, and therefore that portrayals of the GDR are one-sided.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smtClean="0"/>
              <a:t>The conclusions of the Sabrow-Kommission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229600" cy="4525962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GB" sz="2400" dirty="0" smtClean="0"/>
              <a:t>The Sabrow-Kommission recommends that the historical network </a:t>
            </a:r>
            <a:r>
              <a:rPr lang="en-GB" sz="2400" dirty="0" smtClean="0">
                <a:solidFill>
                  <a:srgbClr val="0033CC"/>
                </a:solidFill>
              </a:rPr>
              <a:t>uses the following themes to work through </a:t>
            </a:r>
            <a:r>
              <a:rPr lang="en-GB" sz="2400" dirty="0" smtClean="0"/>
              <a:t>GDR history:</a:t>
            </a:r>
          </a:p>
          <a:p>
            <a:pPr marL="0" indent="0" eaLnBrk="1" hangingPunct="1">
              <a:buFontTx/>
              <a:buAutoNum type="arabicPeriod"/>
            </a:pPr>
            <a:r>
              <a:rPr lang="en-GB" sz="2400" dirty="0" smtClean="0"/>
              <a:t> Herrschaft-Gesellschaft-Widerstand (Regime-Society-Resistance)</a:t>
            </a:r>
          </a:p>
          <a:p>
            <a:pPr marL="0" indent="0" eaLnBrk="1" hangingPunct="1">
              <a:buFontTx/>
              <a:buAutoNum type="arabicPeriod"/>
            </a:pPr>
            <a:r>
              <a:rPr lang="en-GB" sz="2400" dirty="0" smtClean="0"/>
              <a:t> Überwachung und Verfolgung (Surveillance and Persecution)</a:t>
            </a:r>
          </a:p>
          <a:p>
            <a:pPr marL="0" indent="0" eaLnBrk="1" hangingPunct="1">
              <a:buFontTx/>
              <a:buAutoNum type="arabicPeriod"/>
            </a:pPr>
            <a:r>
              <a:rPr lang="en-GB" sz="2400" dirty="0" smtClean="0"/>
              <a:t> Grenze und Teilung (Borders and Division)</a:t>
            </a:r>
          </a:p>
          <a:p>
            <a:pPr marL="0" indent="0" eaLnBrk="1" hangingPunct="1">
              <a:buFontTx/>
              <a:buAutoNum type="arabicPeriod"/>
            </a:pPr>
            <a:endParaRPr lang="en-GB" sz="1000" dirty="0" smtClean="0"/>
          </a:p>
          <a:p>
            <a:pPr marL="0" indent="0" eaLnBrk="1" hangingPunct="1">
              <a:buFontTx/>
              <a:buNone/>
            </a:pPr>
            <a:r>
              <a:rPr lang="en-GB" sz="2400" dirty="0" smtClean="0"/>
              <a:t>This approach paves the way for understanding the multiple perspectives which make up the history of the GDR.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 smtClean="0"/>
              <a:t>After the Wall: http://afterthewall.bangor.ac.uk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000" dirty="0" smtClean="0"/>
              <a:t>Useful sources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400" dirty="0" smtClean="0"/>
              <a:t>A full version of the report can be found at: </a:t>
            </a:r>
            <a:r>
              <a:rPr lang="en-GB" sz="2400" dirty="0" smtClean="0">
                <a:hlinkClick r:id="rId3"/>
              </a:rPr>
              <a:t>http://www.stiftung-aufarbeitung.de/downloads/pdf/sabrow-bericht.pdf</a:t>
            </a:r>
            <a:r>
              <a:rPr lang="en-GB" sz="2400" dirty="0" smtClean="0"/>
              <a:t>. </a:t>
            </a:r>
            <a:br>
              <a:rPr lang="en-GB" sz="2400" dirty="0" smtClean="0"/>
            </a:br>
            <a:r>
              <a:rPr lang="en-GB" sz="2400" dirty="0" smtClean="0"/>
              <a:t>This presentation has focused primarily on the information outlined on pp. 1, 4, 12-13 and 20-21 of the report.</a:t>
            </a:r>
          </a:p>
          <a:p>
            <a:pPr eaLnBrk="1" hangingPunct="1"/>
            <a:endParaRPr lang="en-GB" sz="2400" dirty="0" smtClean="0"/>
          </a:p>
          <a:p>
            <a:pPr eaLnBrk="1" hangingPunct="1"/>
            <a:endParaRPr lang="en-GB" sz="24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4">
      <a:dk1>
        <a:srgbClr val="0033CC"/>
      </a:dk1>
      <a:lt1>
        <a:srgbClr val="FFFFFF"/>
      </a:lt1>
      <a:dk2>
        <a:srgbClr val="0033CC"/>
      </a:dk2>
      <a:lt2>
        <a:srgbClr val="FFFFFF"/>
      </a:lt2>
      <a:accent1>
        <a:srgbClr val="BBE0E3"/>
      </a:accent1>
      <a:accent2>
        <a:srgbClr val="333399"/>
      </a:accent2>
      <a:accent3>
        <a:srgbClr val="FFFFFF"/>
      </a:accent3>
      <a:accent4>
        <a:srgbClr val="002AAE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33CC"/>
        </a:dk1>
        <a:lt1>
          <a:srgbClr val="CCECFF"/>
        </a:lt1>
        <a:dk2>
          <a:srgbClr val="0033CC"/>
        </a:dk2>
        <a:lt2>
          <a:srgbClr val="FFFFFF"/>
        </a:lt2>
        <a:accent1>
          <a:srgbClr val="BBE0E3"/>
        </a:accent1>
        <a:accent2>
          <a:srgbClr val="333399"/>
        </a:accent2>
        <a:accent3>
          <a:srgbClr val="E2F4FF"/>
        </a:accent3>
        <a:accent4>
          <a:srgbClr val="002AAE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33CC"/>
        </a:dk1>
        <a:lt1>
          <a:srgbClr val="FFFFFF"/>
        </a:lt1>
        <a:dk2>
          <a:srgbClr val="0033CC"/>
        </a:dk2>
        <a:lt2>
          <a:srgbClr val="FFFFFF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AE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675</Words>
  <Application>Microsoft Office PowerPoint</Application>
  <PresentationFormat>On-screen Show (4:3)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Default Design</vt:lpstr>
      <vt:lpstr>‘Empfehlung der Expertenkommission zur Schaffung eines Geschichtsverbundes “Aufarbeitung der SED Diktatur”’</vt:lpstr>
      <vt:lpstr>Presentation outline</vt:lpstr>
      <vt:lpstr>Basics of the Sabrow-Kommission</vt:lpstr>
      <vt:lpstr>The aims of the Sabrow-Kommission</vt:lpstr>
      <vt:lpstr>Which institutions were reviewed? </vt:lpstr>
      <vt:lpstr>What deficits did the Sabrow-Kommission identify? (1)</vt:lpstr>
      <vt:lpstr>Which deficits did the Sabrow-Kommission identify? (2)</vt:lpstr>
      <vt:lpstr>Dictatorship vs. Everyday</vt:lpstr>
      <vt:lpstr>The conclusions of the Sabrow-Kommission</vt:lpstr>
      <vt:lpstr>Useful sources</vt:lpstr>
    </vt:vector>
  </TitlesOfParts>
  <Company>University of Bath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‘Aufarbeitung von Geschichte und Folgen der SED-Diktatur in Deutschland’</dc:title>
  <dc:creator>ml1ch</dc:creator>
  <cp:lastModifiedBy>mls202</cp:lastModifiedBy>
  <cp:revision>36</cp:revision>
  <dcterms:created xsi:type="dcterms:W3CDTF">2011-07-19T11:17:52Z</dcterms:created>
  <dcterms:modified xsi:type="dcterms:W3CDTF">2011-11-24T14:08:43Z</dcterms:modified>
</cp:coreProperties>
</file>