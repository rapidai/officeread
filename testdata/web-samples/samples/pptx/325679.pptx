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0" r:id="rId3"/>
    <p:sldId id="291" r:id="rId4"/>
    <p:sldId id="273" r:id="rId5"/>
    <p:sldId id="293" r:id="rId6"/>
    <p:sldId id="274" r:id="rId7"/>
    <p:sldId id="275" r:id="rId8"/>
    <p:sldId id="263" r:id="rId9"/>
    <p:sldId id="264" r:id="rId10"/>
    <p:sldId id="265" r:id="rId11"/>
    <p:sldId id="288" r:id="rId12"/>
    <p:sldId id="289" r:id="rId13"/>
    <p:sldId id="292" r:id="rId14"/>
    <p:sldId id="276" r:id="rId15"/>
    <p:sldId id="277" r:id="rId16"/>
    <p:sldId id="294" r:id="rId17"/>
    <p:sldId id="295" r:id="rId18"/>
    <p:sldId id="258" r:id="rId19"/>
    <p:sldId id="261" r:id="rId20"/>
    <p:sldId id="262" r:id="rId21"/>
    <p:sldId id="259" r:id="rId22"/>
    <p:sldId id="272" r:id="rId23"/>
    <p:sldId id="278" r:id="rId24"/>
    <p:sldId id="271" r:id="rId25"/>
    <p:sldId id="279" r:id="rId26"/>
    <p:sldId id="280" r:id="rId27"/>
    <p:sldId id="281" r:id="rId28"/>
    <p:sldId id="282" r:id="rId29"/>
    <p:sldId id="283" r:id="rId30"/>
    <p:sldId id="266" r:id="rId31"/>
    <p:sldId id="267" r:id="rId32"/>
    <p:sldId id="268" r:id="rId33"/>
    <p:sldId id="269" r:id="rId34"/>
    <p:sldId id="270" r:id="rId35"/>
    <p:sldId id="284" r:id="rId36"/>
    <p:sldId id="285" r:id="rId37"/>
    <p:sldId id="286" r:id="rId38"/>
    <p:sldId id="287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EB6"/>
    <a:srgbClr val="FFFF99"/>
    <a:srgbClr val="99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A014B-3907-4EDB-B727-05145C23E24C}" type="datetimeFigureOut">
              <a:rPr lang="en-US" smtClean="0"/>
              <a:pPr/>
              <a:t>9/12/2008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gif"/><Relationship Id="rId5" Type="http://schemas.openxmlformats.org/officeDocument/2006/relationships/image" Target="../media/image13.gi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0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gi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gif"/><Relationship Id="rId5" Type="http://schemas.openxmlformats.org/officeDocument/2006/relationships/image" Target="../media/image25.gif"/><Relationship Id="rId4" Type="http://schemas.openxmlformats.org/officeDocument/2006/relationships/image" Target="../media/image24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image" Target="../media/image30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gif"/><Relationship Id="rId4" Type="http://schemas.openxmlformats.org/officeDocument/2006/relationships/image" Target="../media/image33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gif"/><Relationship Id="rId4" Type="http://schemas.openxmlformats.org/officeDocument/2006/relationships/image" Target="../media/image33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gif"/><Relationship Id="rId4" Type="http://schemas.openxmlformats.org/officeDocument/2006/relationships/image" Target="../media/image41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gif"/><Relationship Id="rId4" Type="http://schemas.openxmlformats.org/officeDocument/2006/relationships/image" Target="../media/image47.gi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gif"/><Relationship Id="rId4" Type="http://schemas.openxmlformats.org/officeDocument/2006/relationships/image" Target="../media/image51.gi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gif"/><Relationship Id="rId4" Type="http://schemas.openxmlformats.org/officeDocument/2006/relationships/image" Target="../media/image61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gi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0200" y="2057400"/>
            <a:ext cx="487344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8 </a:t>
            </a:r>
            <a:r>
              <a:rPr lang="en-US" sz="4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results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Vipuli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Dharmawardane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(NMSU)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RSC meeting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Sep 12</a:t>
            </a:r>
            <a:r>
              <a:rPr lang="en-US" sz="2800" i="1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2008</a:t>
            </a:r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3220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Selection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2133600"/>
            <a:ext cx="44374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Same quality checks as run 05 and 06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2438400"/>
            <a:ext cx="8153400" cy="1785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Carbon mass position deviation : &lt; 0.5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GeV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from the Carbon mass</a:t>
            </a: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Carbon mass width : deviation below 1.9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sigmas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Number of events in banana :  strips inside 20% from the average</a:t>
            </a: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Fill #s: </a:t>
            </a:r>
            <a:r>
              <a:rPr lang="en-US" sz="2200" u="sng" dirty="0" smtClean="0">
                <a:latin typeface="Times New Roman" pitchFamily="18" charset="0"/>
                <a:cs typeface="Times New Roman" pitchFamily="18" charset="0"/>
              </a:rPr>
              <a:t>9942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9947, </a:t>
            </a:r>
            <a:r>
              <a:rPr lang="en-US" sz="2200" u="sng" dirty="0" smtClean="0">
                <a:latin typeface="Times New Roman" pitchFamily="18" charset="0"/>
                <a:cs typeface="Times New Roman" pitchFamily="18" charset="0"/>
              </a:rPr>
              <a:t>9948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problems with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data → Borrow results from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HJet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57200" y="1066800"/>
            <a:ext cx="8251424" cy="923330"/>
            <a:chOff x="457200" y="3200400"/>
            <a:chExt cx="8251424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57200" y="3429000"/>
              <a:ext cx="696024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Good</a:t>
              </a:r>
            </a:p>
            <a:p>
              <a:r>
                <a:rPr lang="en-US" dirty="0" smtClean="0"/>
                <a:t>Runs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28800" y="3429000"/>
              <a:ext cx="1838901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Calibrations/</a:t>
              </a:r>
            </a:p>
            <a:p>
              <a:r>
                <a:rPr lang="en-US" dirty="0" smtClean="0"/>
                <a:t>Energy correction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95800" y="3200400"/>
              <a:ext cx="1490601" cy="92333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Asymmetry/</a:t>
              </a:r>
            </a:p>
            <a:p>
              <a:r>
                <a:rPr lang="en-US" dirty="0" smtClean="0"/>
                <a:t>Polarization</a:t>
              </a:r>
            </a:p>
            <a:p>
              <a:r>
                <a:rPr lang="en-US" dirty="0" smtClean="0"/>
                <a:t>Profile </a:t>
              </a:r>
              <a:r>
                <a:rPr lang="en-US" dirty="0" err="1" smtClean="0"/>
                <a:t>parms</a:t>
              </a:r>
              <a:r>
                <a:rPr lang="en-US" dirty="0" smtClean="0"/>
                <a:t>.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29400" y="3352800"/>
              <a:ext cx="2079224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Extract Polarization/</a:t>
              </a:r>
            </a:p>
            <a:p>
              <a:r>
                <a:rPr lang="en-US" dirty="0" smtClean="0"/>
                <a:t>Normalize to </a:t>
              </a:r>
              <a:r>
                <a:rPr lang="en-US" dirty="0" err="1" smtClean="0"/>
                <a:t>HJet</a:t>
              </a:r>
              <a:endParaRPr lang="en-US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1295400" y="3733800"/>
              <a:ext cx="3810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3810000" y="3733800"/>
              <a:ext cx="5334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096000" y="3733800"/>
              <a:ext cx="3810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Picture 24" descr="banana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4038599"/>
            <a:ext cx="4243560" cy="2819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3220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Selection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DL_each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600"/>
            <a:ext cx="4800600" cy="3194685"/>
          </a:xfrm>
          <a:prstGeom prst="rect">
            <a:avLst/>
          </a:prstGeom>
        </p:spPr>
      </p:pic>
      <p:pic>
        <p:nvPicPr>
          <p:cNvPr id="12" name="Picture 11" descr="DL_each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971800"/>
            <a:ext cx="4800600" cy="3194685"/>
          </a:xfrm>
          <a:prstGeom prst="rect">
            <a:avLst/>
          </a:prstGeom>
        </p:spPr>
      </p:pic>
      <p:grpSp>
        <p:nvGrpSpPr>
          <p:cNvPr id="3" name="Group 23"/>
          <p:cNvGrpSpPr/>
          <p:nvPr/>
        </p:nvGrpSpPr>
        <p:grpSpPr>
          <a:xfrm>
            <a:off x="457200" y="1066800"/>
            <a:ext cx="8251424" cy="923330"/>
            <a:chOff x="457200" y="3200400"/>
            <a:chExt cx="8251424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57200" y="3429000"/>
              <a:ext cx="696024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Good</a:t>
              </a:r>
            </a:p>
            <a:p>
              <a:r>
                <a:rPr lang="en-US" dirty="0" smtClean="0"/>
                <a:t>Runs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28800" y="3429000"/>
              <a:ext cx="1838901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Calibrations/</a:t>
              </a:r>
            </a:p>
            <a:p>
              <a:r>
                <a:rPr lang="en-US" dirty="0" smtClean="0"/>
                <a:t>Energy correction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95800" y="3200400"/>
              <a:ext cx="1490601" cy="92333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Asymmetry/</a:t>
              </a:r>
            </a:p>
            <a:p>
              <a:r>
                <a:rPr lang="en-US" dirty="0" smtClean="0"/>
                <a:t>Polarization</a:t>
              </a:r>
            </a:p>
            <a:p>
              <a:r>
                <a:rPr lang="en-US" dirty="0" smtClean="0"/>
                <a:t>Profile </a:t>
              </a:r>
              <a:r>
                <a:rPr lang="en-US" dirty="0" err="1" smtClean="0"/>
                <a:t>parms</a:t>
              </a:r>
              <a:r>
                <a:rPr lang="en-US" dirty="0" smtClean="0"/>
                <a:t>.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29400" y="3352800"/>
              <a:ext cx="2079224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Extract Polarization/</a:t>
              </a:r>
            </a:p>
            <a:p>
              <a:r>
                <a:rPr lang="en-US" dirty="0" smtClean="0"/>
                <a:t>Normalize to </a:t>
              </a:r>
              <a:r>
                <a:rPr lang="en-US" dirty="0" err="1" smtClean="0"/>
                <a:t>HJet</a:t>
              </a:r>
              <a:endParaRPr lang="en-US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1295400" y="3733800"/>
              <a:ext cx="3810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3810000" y="3733800"/>
              <a:ext cx="5334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096000" y="3733800"/>
              <a:ext cx="3810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19400" y="2514600"/>
            <a:ext cx="25742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>
                <a:latin typeface="+mj-lt"/>
                <a:cs typeface="Times New Roman" pitchFamily="18" charset="0"/>
              </a:rPr>
              <a:t>Energy correction</a:t>
            </a:r>
            <a:endParaRPr lang="en-US" sz="26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463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-609600" y="838200"/>
            <a:ext cx="6217170" cy="6019800"/>
            <a:chOff x="0" y="838200"/>
            <a:chExt cx="6217170" cy="6019800"/>
          </a:xfrm>
        </p:grpSpPr>
        <p:grpSp>
          <p:nvGrpSpPr>
            <p:cNvPr id="6" name="Group 20"/>
            <p:cNvGrpSpPr/>
            <p:nvPr/>
          </p:nvGrpSpPr>
          <p:grpSpPr>
            <a:xfrm>
              <a:off x="0" y="838200"/>
              <a:ext cx="6217170" cy="6019800"/>
              <a:chOff x="0" y="838200"/>
              <a:chExt cx="6217170" cy="6019800"/>
            </a:xfrm>
          </p:grpSpPr>
          <p:pic>
            <p:nvPicPr>
              <p:cNvPr id="5" name="Picture 4" descr="profile.gif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38200"/>
                <a:ext cx="6217170" cy="6019800"/>
              </a:xfrm>
              <a:prstGeom prst="rect">
                <a:avLst/>
              </a:prstGeom>
            </p:spPr>
          </p:pic>
          <p:cxnSp>
            <p:nvCxnSpPr>
              <p:cNvPr id="7" name="Straight Arrow Connector 6"/>
              <p:cNvCxnSpPr/>
              <p:nvPr/>
            </p:nvCxnSpPr>
            <p:spPr>
              <a:xfrm>
                <a:off x="2971800" y="5715000"/>
                <a:ext cx="27432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rot="5400000" flipH="1" flipV="1">
                <a:off x="2286000" y="5029200"/>
                <a:ext cx="1371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1143000" y="1524000"/>
                <a:ext cx="14478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794" y="2666206"/>
                <a:ext cx="2286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10800000">
                <a:off x="1143000" y="1981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10800000">
                <a:off x="1219200" y="3124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21724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5400000">
                <a:off x="33916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 rot="16200000">
              <a:off x="1844238" y="4488406"/>
              <a:ext cx="13774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Intensity/</a:t>
              </a:r>
            </a:p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Polarization</a:t>
              </a:r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profile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19400" y="1066800"/>
              <a:ext cx="2637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VERTICAL / HORIZONTAL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SCANS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rot="5400000">
              <a:off x="3848894" y="5143500"/>
              <a:ext cx="1142206" cy="794"/>
            </a:xfrm>
            <a:prstGeom prst="line">
              <a:avLst/>
            </a:prstGeom>
            <a:ln w="50800">
              <a:solidFill>
                <a:srgbClr val="BF47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819400" y="5943600"/>
              <a:ext cx="3276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BF479D"/>
                  </a:solidFill>
                </a:rPr>
                <a:t>Fixed target measurements</a:t>
              </a:r>
            </a:p>
            <a:p>
              <a:pPr algn="ctr"/>
              <a:r>
                <a:rPr lang="en-US" sz="2000" b="1" dirty="0" err="1" smtClean="0">
                  <a:solidFill>
                    <a:srgbClr val="BF479D"/>
                  </a:solidFill>
                </a:rPr>
                <a:t>P</a:t>
              </a:r>
              <a:r>
                <a:rPr lang="en-US" sz="2000" b="1" baseline="-25000" dirty="0" err="1" smtClean="0">
                  <a:solidFill>
                    <a:srgbClr val="BF479D"/>
                  </a:solidFill>
                </a:rPr>
                <a:t>max</a:t>
              </a:r>
              <a:endParaRPr lang="en-US" sz="2000" b="1" baseline="-25000" dirty="0">
                <a:solidFill>
                  <a:srgbClr val="BF479D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eq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066800"/>
            <a:ext cx="3324225" cy="1133475"/>
          </a:xfrm>
          <a:prstGeom prst="rect">
            <a:avLst/>
          </a:prstGeom>
        </p:spPr>
      </p:pic>
      <p:pic>
        <p:nvPicPr>
          <p:cNvPr id="31" name="Picture 30" descr="eq1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00400"/>
            <a:ext cx="1742441" cy="1143000"/>
          </a:xfrm>
          <a:prstGeom prst="rect">
            <a:avLst/>
          </a:prstGeom>
        </p:spPr>
      </p:pic>
      <p:pic>
        <p:nvPicPr>
          <p:cNvPr id="34" name="Picture 33" descr="Fill_V_PVsI9938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2819400"/>
            <a:ext cx="3962400" cy="3825765"/>
          </a:xfrm>
          <a:prstGeom prst="rect">
            <a:avLst/>
          </a:prstGeom>
        </p:spPr>
      </p:pic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6705600" y="5181600"/>
          <a:ext cx="2061135" cy="787399"/>
        </p:xfrm>
        <a:graphic>
          <a:graphicData uri="http://schemas.openxmlformats.org/presentationml/2006/ole">
            <p:oleObj spid="_x0000_s1026" name="Equation" r:id="rId7" imgW="1396800" imgH="431640" progId="Equation.3">
              <p:embed/>
            </p:oleObj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648200" y="236220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 fit to P Vs L/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 to determine 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baseline="-25000" dirty="0" smtClean="0">
                <a:solidFill>
                  <a:srgbClr val="BF479D"/>
                </a:solidFill>
                <a:latin typeface="Comic Sans MS" pitchFamily="66" charset="0"/>
              </a:rPr>
              <a:t> 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and 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/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endParaRPr lang="en-US" sz="2000" baseline="-25000" dirty="0">
              <a:solidFill>
                <a:srgbClr val="BF479D"/>
              </a:solidFill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1600" y="914400"/>
            <a:ext cx="729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HJet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463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-609600" y="838200"/>
            <a:ext cx="6217170" cy="6019800"/>
            <a:chOff x="0" y="838200"/>
            <a:chExt cx="6217170" cy="6019800"/>
          </a:xfrm>
        </p:grpSpPr>
        <p:grpSp>
          <p:nvGrpSpPr>
            <p:cNvPr id="6" name="Group 20"/>
            <p:cNvGrpSpPr/>
            <p:nvPr/>
          </p:nvGrpSpPr>
          <p:grpSpPr>
            <a:xfrm>
              <a:off x="0" y="838200"/>
              <a:ext cx="6217170" cy="6019800"/>
              <a:chOff x="0" y="838200"/>
              <a:chExt cx="6217170" cy="6019800"/>
            </a:xfrm>
          </p:grpSpPr>
          <p:pic>
            <p:nvPicPr>
              <p:cNvPr id="5" name="Picture 4" descr="profile.gif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38200"/>
                <a:ext cx="6217170" cy="6019800"/>
              </a:xfrm>
              <a:prstGeom prst="rect">
                <a:avLst/>
              </a:prstGeom>
            </p:spPr>
          </p:pic>
          <p:cxnSp>
            <p:nvCxnSpPr>
              <p:cNvPr id="7" name="Straight Arrow Connector 6"/>
              <p:cNvCxnSpPr/>
              <p:nvPr/>
            </p:nvCxnSpPr>
            <p:spPr>
              <a:xfrm>
                <a:off x="2971800" y="5715000"/>
                <a:ext cx="27432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rot="5400000" flipH="1" flipV="1">
                <a:off x="2286000" y="5029200"/>
                <a:ext cx="1371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1143000" y="1524000"/>
                <a:ext cx="14478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794" y="2666206"/>
                <a:ext cx="2286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10800000">
                <a:off x="1143000" y="1981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10800000">
                <a:off x="1219200" y="3124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21724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5400000">
                <a:off x="33916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 rot="16200000">
              <a:off x="1844238" y="4488406"/>
              <a:ext cx="13774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Intensity/</a:t>
              </a:r>
            </a:p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Polarization</a:t>
              </a:r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profile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19400" y="1066800"/>
              <a:ext cx="2637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VERTICAL / HORIZONTAL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SCANS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rot="5400000">
              <a:off x="3848894" y="5143500"/>
              <a:ext cx="1142206" cy="794"/>
            </a:xfrm>
            <a:prstGeom prst="line">
              <a:avLst/>
            </a:prstGeom>
            <a:ln w="50800">
              <a:solidFill>
                <a:srgbClr val="BF47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819400" y="5943600"/>
              <a:ext cx="3276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BF479D"/>
                  </a:solidFill>
                </a:rPr>
                <a:t>Fixed target measurements</a:t>
              </a:r>
            </a:p>
            <a:p>
              <a:pPr algn="ctr"/>
              <a:r>
                <a:rPr lang="en-US" sz="2000" b="1" dirty="0" err="1" smtClean="0">
                  <a:solidFill>
                    <a:srgbClr val="BF479D"/>
                  </a:solidFill>
                </a:rPr>
                <a:t>P</a:t>
              </a:r>
              <a:r>
                <a:rPr lang="en-US" sz="2000" b="1" baseline="-25000" dirty="0" err="1" smtClean="0">
                  <a:solidFill>
                    <a:srgbClr val="BF479D"/>
                  </a:solidFill>
                </a:rPr>
                <a:t>max</a:t>
              </a:r>
              <a:endParaRPr lang="en-US" sz="2000" b="1" baseline="-25000" dirty="0">
                <a:solidFill>
                  <a:srgbClr val="BF479D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eq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066800"/>
            <a:ext cx="3324225" cy="1133475"/>
          </a:xfrm>
          <a:prstGeom prst="rect">
            <a:avLst/>
          </a:prstGeom>
        </p:spPr>
      </p:pic>
      <p:pic>
        <p:nvPicPr>
          <p:cNvPr id="31" name="Picture 30" descr="eq1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00400"/>
            <a:ext cx="1742441" cy="1143000"/>
          </a:xfrm>
          <a:prstGeom prst="rect">
            <a:avLst/>
          </a:prstGeom>
        </p:spPr>
      </p:pic>
      <p:pic>
        <p:nvPicPr>
          <p:cNvPr id="34" name="Picture 33" descr="Fill_V_PVsI9938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2819400"/>
            <a:ext cx="3962400" cy="3825765"/>
          </a:xfrm>
          <a:prstGeom prst="rect">
            <a:avLst/>
          </a:prstGeom>
        </p:spPr>
      </p:pic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6705600" y="5181600"/>
          <a:ext cx="2061135" cy="787399"/>
        </p:xfrm>
        <a:graphic>
          <a:graphicData uri="http://schemas.openxmlformats.org/presentationml/2006/ole">
            <p:oleObj spid="_x0000_s27650" name="Equation" r:id="rId7" imgW="1396800" imgH="431640" progId="Equation.3">
              <p:embed/>
            </p:oleObj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648200" y="236220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 fit to P Vs L/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 to determine 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baseline="-25000" dirty="0" smtClean="0">
                <a:solidFill>
                  <a:srgbClr val="BF479D"/>
                </a:solidFill>
                <a:latin typeface="Comic Sans MS" pitchFamily="66" charset="0"/>
              </a:rPr>
              <a:t> 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and 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/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endParaRPr lang="en-US" sz="2000" baseline="-25000" dirty="0">
              <a:solidFill>
                <a:srgbClr val="BF479D"/>
              </a:solidFill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1600" y="914400"/>
            <a:ext cx="729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HJet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591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ll_V_Lum990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3600"/>
            <a:ext cx="4444093" cy="4290848"/>
          </a:xfrm>
          <a:prstGeom prst="rect">
            <a:avLst/>
          </a:prstGeom>
        </p:spPr>
      </p:pic>
      <p:pic>
        <p:nvPicPr>
          <p:cNvPr id="11" name="Picture 10" descr="sin_phi_fi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066799"/>
            <a:ext cx="4047695" cy="269132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2514600" y="4343400"/>
            <a:ext cx="304800" cy="228600"/>
          </a:xfrm>
          <a:prstGeom prst="rect">
            <a:avLst/>
          </a:prstGeom>
          <a:solidFill>
            <a:srgbClr val="D6369D">
              <a:alpha val="0"/>
            </a:srgb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5400000" flipH="1" flipV="1">
            <a:off x="2400300" y="3314700"/>
            <a:ext cx="1447800" cy="6096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Run_9906.10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23393"/>
            <a:ext cx="3429000" cy="29346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0400" y="28194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RUN08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0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was kept fixed at average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0</a:t>
            </a:r>
            <a:endParaRPr lang="en-US" baseline="-25000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76600" y="3886200"/>
            <a:ext cx="25146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Polarization for  each target position is determined by doing a sin phi fit to asymmetry Vs phi measured at  each target position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95800" y="2667000"/>
          <a:ext cx="1752600" cy="339213"/>
        </p:xfrm>
        <a:graphic>
          <a:graphicData uri="http://schemas.openxmlformats.org/presentationml/2006/ole">
            <p:oleObj spid="_x0000_s2050" name="Equation" r:id="rId6" imgW="1180800" imgH="228600" progId="Equation.3">
              <p:embed/>
            </p:oleObj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5867400" y="2971800"/>
            <a:ext cx="3048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591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in_phi_fi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66799"/>
            <a:ext cx="4047695" cy="269132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7010400" y="28194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RUN08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0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was kept fixed at average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0</a:t>
            </a:r>
            <a:endParaRPr lang="en-US" baseline="-25000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95800" y="2667000"/>
          <a:ext cx="1752600" cy="339213"/>
        </p:xfrm>
        <a:graphic>
          <a:graphicData uri="http://schemas.openxmlformats.org/presentationml/2006/ole">
            <p:oleObj spid="_x0000_s3074" name="Equation" r:id="rId4" imgW="1180800" imgH="228600" progId="Equation.3">
              <p:embed/>
            </p:oleObj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5867400" y="2971800"/>
            <a:ext cx="3048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hase_ave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94785"/>
            <a:ext cx="4269105" cy="2863215"/>
          </a:xfrm>
          <a:prstGeom prst="rect">
            <a:avLst/>
          </a:prstGeom>
        </p:spPr>
      </p:pic>
      <p:pic>
        <p:nvPicPr>
          <p:cNvPr id="20" name="Picture 19" descr="Phase_ave_blue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4895" y="3994785"/>
            <a:ext cx="4269105" cy="28632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3962400"/>
            <a:ext cx="130240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Symbol" pitchFamily="18" charset="2"/>
              </a:rPr>
              <a:t>F</a:t>
            </a:r>
            <a:r>
              <a:rPr lang="en-US" baseline="-25000" dirty="0" smtClean="0"/>
              <a:t>0</a:t>
            </a:r>
            <a:r>
              <a:rPr lang="en-US" dirty="0" smtClean="0"/>
              <a:t> YELLOW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15000" y="3962400"/>
            <a:ext cx="1008481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Symbol" pitchFamily="18" charset="2"/>
              </a:rPr>
              <a:t>F</a:t>
            </a:r>
            <a:r>
              <a:rPr lang="en-US" baseline="-25000" dirty="0" smtClean="0"/>
              <a:t>0</a:t>
            </a:r>
            <a:r>
              <a:rPr lang="en-US" dirty="0" smtClean="0"/>
              <a:t> BLUE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228600"/>
            <a:ext cx="71790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Fill_V_Pol990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990600"/>
            <a:ext cx="33147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16200000" flipV="1">
            <a:off x="6633385" y="3272615"/>
            <a:ext cx="386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HORIZONTAL SCANS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12" descr="R_V_yello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195762"/>
            <a:ext cx="4000500" cy="2662238"/>
          </a:xfrm>
          <a:prstGeom prst="rect">
            <a:avLst/>
          </a:prstGeom>
        </p:spPr>
      </p:pic>
      <p:graphicFrame>
        <p:nvGraphicFramePr>
          <p:cNvPr id="8193" name="Object 2"/>
          <p:cNvGraphicFramePr>
            <a:graphicFrameLocks noChangeAspect="1"/>
          </p:cNvGraphicFramePr>
          <p:nvPr/>
        </p:nvGraphicFramePr>
        <p:xfrm>
          <a:off x="4876800" y="4191000"/>
          <a:ext cx="1600200" cy="611479"/>
        </p:xfrm>
        <a:graphic>
          <a:graphicData uri="http://schemas.openxmlformats.org/presentationml/2006/ole">
            <p:oleObj spid="_x0000_s8193" name="Equation" r:id="rId5" imgW="1396800" imgH="431640" progId="Equation.3">
              <p:embed/>
            </p:oleObj>
          </a:graphicData>
        </a:graphic>
      </p:graphicFrame>
      <p:pic>
        <p:nvPicPr>
          <p:cNvPr id="10" name="Picture 9" descr="Pmax_V_yellow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62400"/>
            <a:ext cx="4000500" cy="2662238"/>
          </a:xfrm>
          <a:prstGeom prst="rect">
            <a:avLst/>
          </a:prstGeom>
        </p:spPr>
      </p:pic>
      <p:pic>
        <p:nvPicPr>
          <p:cNvPr id="7" name="Picture 6" descr="Fill_V_Lum990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914400"/>
            <a:ext cx="3314700" cy="32004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05000" y="4267200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Run 6 0.1-0.15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6286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5400000">
            <a:off x="7496334" y="2104866"/>
            <a:ext cx="2323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VERTICAL SCANS</a:t>
            </a:r>
            <a:endParaRPr lang="en-US" sz="20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5400000">
            <a:off x="7273677" y="5070723"/>
            <a:ext cx="2769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HORIZONTAL  SCANS</a:t>
            </a:r>
            <a:endParaRPr lang="en-US" sz="20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 descr="R_H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990600"/>
            <a:ext cx="4000500" cy="2662238"/>
          </a:xfrm>
          <a:prstGeom prst="rect">
            <a:avLst/>
          </a:prstGeom>
        </p:spPr>
      </p:pic>
      <p:pic>
        <p:nvPicPr>
          <p:cNvPr id="18" name="Picture 17" descr="R_V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195762"/>
            <a:ext cx="4000500" cy="2662238"/>
          </a:xfrm>
          <a:prstGeom prst="rect">
            <a:avLst/>
          </a:prstGeom>
        </p:spPr>
      </p:pic>
      <p:pic>
        <p:nvPicPr>
          <p:cNvPr id="11" name="Picture 10" descr="Pmax_H_blu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90600"/>
            <a:ext cx="4000500" cy="2662238"/>
          </a:xfrm>
          <a:prstGeom prst="rect">
            <a:avLst/>
          </a:prstGeom>
        </p:spPr>
      </p:pic>
      <p:pic>
        <p:nvPicPr>
          <p:cNvPr id="13" name="Picture 12" descr="Pmax_V_blue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95762"/>
            <a:ext cx="4000500" cy="2662238"/>
          </a:xfrm>
          <a:prstGeom prst="rect">
            <a:avLst/>
          </a:prstGeom>
        </p:spPr>
      </p:pic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304800" y="3581400"/>
          <a:ext cx="1995053" cy="762000"/>
        </p:xfrm>
        <a:graphic>
          <a:graphicData uri="http://schemas.openxmlformats.org/presentationml/2006/ole">
            <p:oleObj spid="_x0000_s7170" name="Equation" r:id="rId7" imgW="1396800" imgH="431640" progId="Equation.3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71800" y="3810000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Run 6 0.1-0.15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0"/>
            <a:ext cx="8927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profile: consistency checks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compare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4000500" cy="2662238"/>
          </a:xfrm>
          <a:prstGeom prst="rect">
            <a:avLst/>
          </a:prstGeom>
        </p:spPr>
      </p:pic>
      <p:pic>
        <p:nvPicPr>
          <p:cNvPr id="6" name="Picture 5" descr="Pol_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90600"/>
            <a:ext cx="4000500" cy="2662238"/>
          </a:xfrm>
          <a:prstGeom prst="rect">
            <a:avLst/>
          </a:prstGeom>
        </p:spPr>
      </p:pic>
      <p:pic>
        <p:nvPicPr>
          <p:cNvPr id="7" name="Picture 6" descr="Pol_compare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977640"/>
            <a:ext cx="4269105" cy="2880360"/>
          </a:xfrm>
          <a:prstGeom prst="rect">
            <a:avLst/>
          </a:prstGeom>
        </p:spPr>
      </p:pic>
      <p:pic>
        <p:nvPicPr>
          <p:cNvPr id="8" name="Picture 7" descr="Pol_diff_yellow1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3977640"/>
            <a:ext cx="4269105" cy="288036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219200" y="2438400"/>
          <a:ext cx="1380565" cy="711200"/>
        </p:xfrm>
        <a:graphic>
          <a:graphicData uri="http://schemas.openxmlformats.org/presentationml/2006/ole">
            <p:oleObj spid="_x0000_s26626" name="Equation" r:id="rId7" imgW="838080" imgH="43164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90600" y="3581400"/>
            <a:ext cx="1732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Average over all </a:t>
            </a:r>
          </a:p>
          <a:p>
            <a:r>
              <a:rPr lang="en-US" dirty="0" smtClean="0"/>
              <a:t>scan  positions </a:t>
            </a:r>
            <a:endParaRPr lang="en-US" dirty="0"/>
          </a:p>
        </p:txBody>
      </p:sp>
      <p:cxnSp>
        <p:nvCxnSpPr>
          <p:cNvPr id="25" name="Elbow Connector 24"/>
          <p:cNvCxnSpPr/>
          <p:nvPr/>
        </p:nvCxnSpPr>
        <p:spPr>
          <a:xfrm>
            <a:off x="2514600" y="4038600"/>
            <a:ext cx="381000" cy="3048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2860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decay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VStime_Fill988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4608195" cy="3109144"/>
          </a:xfrm>
          <a:prstGeom prst="rect">
            <a:avLst/>
          </a:prstGeom>
        </p:spPr>
      </p:pic>
      <p:pic>
        <p:nvPicPr>
          <p:cNvPr id="7" name="Picture 6" descr="decay_Fill988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721865"/>
            <a:ext cx="4648200" cy="31361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400" y="129540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Fill 9880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1524000"/>
            <a:ext cx="4572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 smtClean="0">
                <a:latin typeface="Comic Sans MS" pitchFamily="66" charset="0"/>
                <a:cs typeface="Times New Roman" pitchFamily="18" charset="0"/>
              </a:rPr>
              <a:t>Both linear and exponential fits to Polarization for each fill </a:t>
            </a:r>
          </a:p>
          <a:p>
            <a:pPr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 smtClean="0">
                <a:latin typeface="Comic Sans MS" pitchFamily="66" charset="0"/>
                <a:cs typeface="Times New Roman" pitchFamily="18" charset="0"/>
              </a:rPr>
              <a:t>Assume the functional form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105400" y="2895600"/>
          <a:ext cx="3192463" cy="417513"/>
        </p:xfrm>
        <a:graphic>
          <a:graphicData uri="http://schemas.openxmlformats.org/presentationml/2006/ole">
            <p:oleObj spid="_x0000_s25602" name="Equation" r:id="rId5" imgW="1942920" imgH="253800" progId="Equation.3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4191000"/>
            <a:ext cx="2720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mic Sans MS" pitchFamily="66" charset="0"/>
                <a:cs typeface="Times New Roman" pitchFamily="18" charset="0"/>
              </a:rPr>
              <a:t>Average Polarization </a:t>
            </a:r>
            <a:endParaRPr lang="en-US" sz="2000" dirty="0">
              <a:latin typeface="Comic Sans MS" pitchFamily="66" charset="0"/>
              <a:cs typeface="Times New Roman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62000" y="4724400"/>
          <a:ext cx="2680855" cy="1092200"/>
        </p:xfrm>
        <a:graphic>
          <a:graphicData uri="http://schemas.openxmlformats.org/presentationml/2006/ole">
            <p:oleObj spid="_x0000_s25603" name="Equation" r:id="rId6" imgW="1371600" imgH="55872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90600" y="5943600"/>
            <a:ext cx="23123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Assumed </a:t>
            </a:r>
            <a:r>
              <a:rPr lang="en-US" sz="2000" dirty="0" err="1" smtClean="0">
                <a:latin typeface="Symbol" pitchFamily="18" charset="2"/>
              </a:rPr>
              <a:t>a</a:t>
            </a:r>
            <a:r>
              <a:rPr lang="en-US" sz="2000" baseline="-25000" dirty="0" err="1" smtClean="0"/>
              <a:t>L</a:t>
            </a:r>
            <a:r>
              <a:rPr lang="en-US" sz="2000" dirty="0" smtClean="0"/>
              <a:t> = 15 hrs</a:t>
            </a:r>
            <a:endParaRPr lang="en-US" sz="20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257800" y="4572000"/>
            <a:ext cx="12954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733800" y="1524000"/>
            <a:ext cx="7620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decay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Decay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4000500" cy="2662238"/>
          </a:xfrm>
          <a:prstGeom prst="rect">
            <a:avLst/>
          </a:prstGeom>
        </p:spPr>
      </p:pic>
      <p:pic>
        <p:nvPicPr>
          <p:cNvPr id="6" name="Picture 5" descr="PDecay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2400"/>
            <a:ext cx="4000500" cy="2662238"/>
          </a:xfrm>
          <a:prstGeom prst="rect">
            <a:avLst/>
          </a:prstGeom>
        </p:spPr>
      </p:pic>
      <p:pic>
        <p:nvPicPr>
          <p:cNvPr id="7" name="Picture 6" descr="P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066800"/>
            <a:ext cx="4000500" cy="2662238"/>
          </a:xfrm>
          <a:prstGeom prst="rect">
            <a:avLst/>
          </a:prstGeom>
        </p:spPr>
      </p:pic>
      <p:pic>
        <p:nvPicPr>
          <p:cNvPr id="8" name="Picture 7" descr="P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3962400"/>
            <a:ext cx="4000500" cy="2662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4343400"/>
            <a:ext cx="1437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90 hrs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8200" y="1371600"/>
            <a:ext cx="15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370 hrs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 rot="5400000">
            <a:off x="7950620" y="2031580"/>
            <a:ext cx="928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</a:t>
            </a:r>
            <a:endParaRPr lang="en-US" sz="28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 rot="5400000">
            <a:off x="7801213" y="4774780"/>
            <a:ext cx="1379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YELLOW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decay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Decay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4000500" cy="2662238"/>
          </a:xfrm>
          <a:prstGeom prst="rect">
            <a:avLst/>
          </a:prstGeom>
        </p:spPr>
      </p:pic>
      <p:pic>
        <p:nvPicPr>
          <p:cNvPr id="6" name="Picture 5" descr="PDecay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2400"/>
            <a:ext cx="4000500" cy="2662238"/>
          </a:xfrm>
          <a:prstGeom prst="rect">
            <a:avLst/>
          </a:prstGeom>
        </p:spPr>
      </p:pic>
      <p:pic>
        <p:nvPicPr>
          <p:cNvPr id="7" name="Picture 6" descr="P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066800"/>
            <a:ext cx="4000500" cy="2662238"/>
          </a:xfrm>
          <a:prstGeom prst="rect">
            <a:avLst/>
          </a:prstGeom>
        </p:spPr>
      </p:pic>
      <p:pic>
        <p:nvPicPr>
          <p:cNvPr id="8" name="Picture 7" descr="P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3962400"/>
            <a:ext cx="4000500" cy="2662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4343400"/>
            <a:ext cx="1437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90 hrs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8200" y="1371600"/>
            <a:ext cx="15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370 hrs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 rot="5400000">
            <a:off x="7950620" y="2031580"/>
            <a:ext cx="928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</a:t>
            </a:r>
            <a:endParaRPr lang="en-US" sz="28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 rot="5400000">
            <a:off x="7801213" y="4774780"/>
            <a:ext cx="1379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YELLOW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3048000"/>
            <a:ext cx="5334000" cy="1323439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SzPct val="125000"/>
              <a:buFont typeface="Arial" pitchFamily="34" charset="0"/>
              <a:buChar char="•"/>
            </a:pPr>
            <a:r>
              <a:rPr lang="en-US" sz="2000" dirty="0" smtClean="0"/>
              <a:t>Yellow beam shows a faster polarization decay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sz="2000" dirty="0" smtClean="0"/>
              <a:t>Difference between the average polarization calculated assuming  no decay  and  exponential </a:t>
            </a:r>
            <a:r>
              <a:rPr lang="en-US" sz="2000" smtClean="0"/>
              <a:t>decay is </a:t>
            </a:r>
            <a:r>
              <a:rPr lang="en-US" sz="2000" dirty="0" smtClean="0"/>
              <a:t>consistent with zero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702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NORMALIZATION TO HJET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8200" y="12192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PERIOD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pC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average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pC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/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HJet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All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39.59± 0.39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1.091± 0.035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41.00 ±0.61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1.045± 0.054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2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38.16±</a:t>
                      </a:r>
                      <a:r>
                        <a:rPr lang="en-US" sz="2000" b="0" baseline="0" dirty="0" smtClean="0">
                          <a:latin typeface="+mj-lt"/>
                          <a:cs typeface="Times New Roman" pitchFamily="18" charset="0"/>
                        </a:rPr>
                        <a:t> 0.73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1.124± 0.069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39.55±</a:t>
                      </a:r>
                      <a:r>
                        <a:rPr lang="en-US" sz="2000" b="0" baseline="0" dirty="0" smtClean="0">
                          <a:latin typeface="+mj-lt"/>
                          <a:cs typeface="Times New Roman" pitchFamily="18" charset="0"/>
                        </a:rPr>
                        <a:t> 0.69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1.110± 0.062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38200" y="35814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PERIOD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pC</a:t>
                      </a:r>
                      <a:r>
                        <a:rPr lang="en-US" sz="2000" dirty="0" smtClean="0"/>
                        <a:t> average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pC</a:t>
                      </a:r>
                      <a:r>
                        <a:rPr lang="en-US" sz="2000" dirty="0" smtClean="0"/>
                        <a:t>/</a:t>
                      </a:r>
                      <a:r>
                        <a:rPr lang="en-US" sz="2000" dirty="0" err="1" smtClean="0"/>
                        <a:t>HJet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ALL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47.96 ±0.53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1.062± 0.029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52.02± 0.65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1.086± 0.055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47.02± 0.74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1.090± 0.044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47.80± 1.38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0.982± 0.057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0" y="5867400"/>
            <a:ext cx="36086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Run 5   ≈  1.01     Run 6 ≈  1.15</a:t>
            </a:r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1447800"/>
            <a:ext cx="135165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Golden runs</a:t>
            </a:r>
          </a:p>
          <a:p>
            <a:r>
              <a:rPr lang="en-US" dirty="0" smtClean="0"/>
              <a:t>1.101±0.053</a:t>
            </a:r>
          </a:p>
          <a:p>
            <a:endParaRPr lang="en-US" dirty="0" smtClean="0"/>
          </a:p>
          <a:p>
            <a:r>
              <a:rPr lang="en-US" dirty="0" smtClean="0"/>
              <a:t>OK runs</a:t>
            </a:r>
          </a:p>
          <a:p>
            <a:r>
              <a:rPr lang="en-US" dirty="0" smtClean="0"/>
              <a:t>1.078±0.048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Golden runs</a:t>
            </a:r>
          </a:p>
          <a:p>
            <a:r>
              <a:rPr lang="en-US" dirty="0" smtClean="0"/>
              <a:t>1.086±0.082</a:t>
            </a:r>
          </a:p>
          <a:p>
            <a:endParaRPr lang="en-US" dirty="0" smtClean="0"/>
          </a:p>
          <a:p>
            <a:r>
              <a:rPr lang="en-US" dirty="0" smtClean="0"/>
              <a:t>OK runs</a:t>
            </a:r>
          </a:p>
          <a:p>
            <a:r>
              <a:rPr lang="en-US" dirty="0" smtClean="0"/>
              <a:t>1.051±0.031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702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NORMALIZATION TO HJET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norm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570"/>
            <a:ext cx="4541520" cy="5090160"/>
          </a:xfrm>
          <a:prstGeom prst="rect">
            <a:avLst/>
          </a:prstGeom>
        </p:spPr>
      </p:pic>
      <p:pic>
        <p:nvPicPr>
          <p:cNvPr id="9" name="Picture 8" descr="norm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80" y="1219200"/>
            <a:ext cx="4541520" cy="5090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46474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Hjet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comparison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jet_pc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74" y="943946"/>
            <a:ext cx="5803026" cy="59140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64463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for experiments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ex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3019"/>
            <a:ext cx="8610600" cy="57749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62000" y="304800"/>
            <a:ext cx="757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1" y="1219200"/>
            <a:ext cx="7924800" cy="48936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 approach as run 6</a:t>
            </a: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determination  &lt; 0.2%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Scan is not continuous → We may miss the maximum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Target vibrations  (flat profiles) &lt;1%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Simulations done by Sasha → Uncertainty is negligible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Assumption that the profiles are Gaussian  &lt; 0.5%</a:t>
            </a: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 distributions for vertical/horizontal profile 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Studied the variation in R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Blue we have both vertical and horizontal scans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Yellow we only have horizontal scans   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rot="16200000">
            <a:off x="7354225" y="2780375"/>
            <a:ext cx="2364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TOTAL &lt; ≈ 1.1%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7924800" y="1676400"/>
            <a:ext cx="304800" cy="25146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>
            <a:off x="7848600" y="4648200"/>
            <a:ext cx="228600" cy="1524000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7741532" y="4983868"/>
            <a:ext cx="15023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 8 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SPECIFIC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228600"/>
            <a:ext cx="8712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 -Blue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Hist_Rdist_H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71600"/>
            <a:ext cx="3195638" cy="2662238"/>
          </a:xfrm>
          <a:prstGeom prst="rect">
            <a:avLst/>
          </a:prstGeom>
        </p:spPr>
      </p:pic>
      <p:pic>
        <p:nvPicPr>
          <p:cNvPr id="9" name="Picture 8" descr="Hist_Rdist_V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62400"/>
            <a:ext cx="3195638" cy="2662238"/>
          </a:xfrm>
          <a:prstGeom prst="rect">
            <a:avLst/>
          </a:prstGeom>
        </p:spPr>
      </p:pic>
      <p:pic>
        <p:nvPicPr>
          <p:cNvPr id="10" name="Picture 9" descr="Hist_dRdist_H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371600"/>
            <a:ext cx="3195638" cy="2662238"/>
          </a:xfrm>
          <a:prstGeom prst="rect">
            <a:avLst/>
          </a:prstGeom>
        </p:spPr>
      </p:pic>
      <p:pic>
        <p:nvPicPr>
          <p:cNvPr id="11" name="Picture 10" descr="Hist_dRdist_VBlu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962400"/>
            <a:ext cx="3195638" cy="26622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71800" y="2286000"/>
            <a:ext cx="1701043" cy="707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Vertical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 →0.07-0.26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4200" y="4724400"/>
            <a:ext cx="1994970" cy="707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Horizontal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R→0.04-0.24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10000" y="5791200"/>
            <a:ext cx="1444626" cy="707886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 average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0.15±0.11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1066800"/>
            <a:ext cx="1883849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81600" y="1066800"/>
            <a:ext cx="2036135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  <a:cs typeface="Times New Roman" pitchFamily="18" charset="0"/>
              </a:rPr>
              <a:t>d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2133600"/>
            <a:ext cx="205740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Global uncertainty is zero → R is known for  both vertical and  horizontal  scans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228600"/>
            <a:ext cx="9153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 -Yellow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5029200"/>
            <a:ext cx="6477094" cy="1384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No vertical scans for Yellow</a:t>
            </a:r>
          </a:p>
          <a:p>
            <a:r>
              <a:rPr lang="en-US" sz="2800" dirty="0" smtClean="0"/>
              <a:t>Assume 0-0.39 variation in  R </a:t>
            </a:r>
          </a:p>
          <a:p>
            <a:r>
              <a:rPr lang="en-US" sz="2800" dirty="0" smtClean="0"/>
              <a:t>Fill uncertainty and global uncertainty ≈ 5%</a:t>
            </a:r>
            <a:endParaRPr lang="en-US" sz="2800" dirty="0"/>
          </a:p>
        </p:txBody>
      </p:sp>
      <p:pic>
        <p:nvPicPr>
          <p:cNvPr id="8" name="Picture 7" descr="Hist_Rdist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3834765" cy="3194685"/>
          </a:xfrm>
          <a:prstGeom prst="rect">
            <a:avLst/>
          </a:prstGeom>
        </p:spPr>
      </p:pic>
      <p:pic>
        <p:nvPicPr>
          <p:cNvPr id="9" name="Picture 8" descr="Hist_dRdist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371600"/>
            <a:ext cx="3834765" cy="3194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19400" y="2362200"/>
            <a:ext cx="199497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Horizontal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R→0.20-0.39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4400" y="1143000"/>
            <a:ext cx="2036135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  <a:cs typeface="Times New Roman" pitchFamily="18" charset="0"/>
              </a:rPr>
              <a:t>d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800" y="1219200"/>
            <a:ext cx="1883849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90600" y="228600"/>
            <a:ext cx="5904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Uncertainty due to Dead Layer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DLave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3195638" cy="2662238"/>
          </a:xfrm>
          <a:prstGeom prst="rect">
            <a:avLst/>
          </a:prstGeom>
        </p:spPr>
      </p:pic>
      <p:pic>
        <p:nvPicPr>
          <p:cNvPr id="7" name="Picture 6" descr="Hist_DL_diff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66800"/>
            <a:ext cx="3195638" cy="2662238"/>
          </a:xfrm>
          <a:prstGeom prst="rect">
            <a:avLst/>
          </a:prstGeom>
        </p:spPr>
      </p:pic>
      <p:pic>
        <p:nvPicPr>
          <p:cNvPr id="8" name="Picture 7" descr="DLave_yello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810000"/>
            <a:ext cx="3195638" cy="2662238"/>
          </a:xfrm>
          <a:prstGeom prst="rect">
            <a:avLst/>
          </a:prstGeom>
        </p:spPr>
      </p:pic>
      <p:pic>
        <p:nvPicPr>
          <p:cNvPr id="9" name="Picture 8" descr="Hist_DL_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810000"/>
            <a:ext cx="3195638" cy="2662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76600" y="4419600"/>
            <a:ext cx="2116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Dead layer  variation</a:t>
            </a:r>
          </a:p>
          <a:p>
            <a:r>
              <a:rPr lang="en-US" dirty="0" smtClean="0"/>
              <a:t>within  ±4 </a:t>
            </a:r>
            <a:r>
              <a:rPr lang="en-US" dirty="0" smtClean="0">
                <a:latin typeface="Symbol" pitchFamily="18" charset="2"/>
              </a:rPr>
              <a:t>m</a:t>
            </a:r>
            <a:r>
              <a:rPr lang="en-US" dirty="0" smtClean="0"/>
              <a:t>g/cm</a:t>
            </a:r>
            <a:r>
              <a:rPr lang="en-US" baseline="30000" dirty="0" smtClean="0"/>
              <a:t>2</a:t>
            </a:r>
          </a:p>
          <a:p>
            <a:endParaRPr lang="en-US" dirty="0" smtClean="0"/>
          </a:p>
          <a:p>
            <a:r>
              <a:rPr lang="en-US" dirty="0" smtClean="0"/>
              <a:t>Polarization </a:t>
            </a:r>
            <a:r>
              <a:rPr lang="en-US" smtClean="0"/>
              <a:t>±</a:t>
            </a:r>
            <a:r>
              <a:rPr lang="en-US" smtClean="0"/>
              <a:t>2.4%</a:t>
            </a:r>
            <a:endParaRPr lang="en-US" dirty="0"/>
          </a:p>
        </p:txBody>
      </p:sp>
      <p:sp>
        <p:nvSpPr>
          <p:cNvPr id="11" name="Down Arrow 10"/>
          <p:cNvSpPr/>
          <p:nvPr/>
        </p:nvSpPr>
        <p:spPr>
          <a:xfrm>
            <a:off x="3886200" y="5105400"/>
            <a:ext cx="609600" cy="152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429000" y="1752600"/>
            <a:ext cx="2109104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Fill to fill uncertainty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429000" y="2286000"/>
            <a:ext cx="2116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Dead layer  variation</a:t>
            </a:r>
          </a:p>
          <a:p>
            <a:r>
              <a:rPr lang="en-US" dirty="0" smtClean="0"/>
              <a:t>within  ±3 </a:t>
            </a:r>
            <a:r>
              <a:rPr lang="en-US" dirty="0" smtClean="0">
                <a:latin typeface="Symbol" pitchFamily="18" charset="2"/>
              </a:rPr>
              <a:t>m</a:t>
            </a:r>
            <a:r>
              <a:rPr lang="en-US" dirty="0" smtClean="0"/>
              <a:t>g/cm</a:t>
            </a:r>
            <a:r>
              <a:rPr lang="en-US" baseline="30000" dirty="0" smtClean="0"/>
              <a:t>2</a:t>
            </a:r>
          </a:p>
          <a:p>
            <a:endParaRPr lang="en-US" dirty="0" smtClean="0"/>
          </a:p>
          <a:p>
            <a:r>
              <a:rPr lang="en-US" dirty="0" smtClean="0"/>
              <a:t>Polarization ±1.8%</a:t>
            </a:r>
            <a:endParaRPr lang="en-US" dirty="0"/>
          </a:p>
        </p:txBody>
      </p:sp>
      <p:sp>
        <p:nvSpPr>
          <p:cNvPr id="14" name="Down Arrow 13"/>
          <p:cNvSpPr/>
          <p:nvPr/>
        </p:nvSpPr>
        <p:spPr>
          <a:xfrm>
            <a:off x="3962400" y="2971800"/>
            <a:ext cx="609600" cy="152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467600" y="1981200"/>
            <a:ext cx="15775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Fill uncertainty</a:t>
            </a:r>
          </a:p>
          <a:p>
            <a:r>
              <a:rPr lang="en-US" dirty="0" smtClean="0"/>
              <a:t>1.6*0.6 ≈ 1%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315200" y="4648200"/>
            <a:ext cx="15775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Fill uncertainty</a:t>
            </a:r>
          </a:p>
          <a:p>
            <a:r>
              <a:rPr lang="en-US" dirty="0" smtClean="0"/>
              <a:t>1.1*0.6 ≈ 0.7%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81200" y="304800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Uncertainties : Summary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717190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Fill to fill uncertainties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Horizontal/Vertical profile   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3.0%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5.0%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Energy correction/dead layer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1.0%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0.7%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Global uncertainties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Jet normalization,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stat          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2.5%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3.0%</a:t>
            </a:r>
            <a:endParaRPr lang="en-US" sz="2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  et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normalization (profile)  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1.1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%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1.1%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Jet normalization, systematic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uncert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Pol. Profile (for experiments)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0.5%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5.0%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Energy correction/deal layer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1.8%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2.4%</a:t>
            </a: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81200" y="304800"/>
            <a:ext cx="5395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Online/Offline comparison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Pol_ono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4000500" cy="2662238"/>
          </a:xfrm>
          <a:prstGeom prst="rect">
            <a:avLst/>
          </a:prstGeom>
        </p:spPr>
      </p:pic>
      <p:pic>
        <p:nvPicPr>
          <p:cNvPr id="6" name="Picture 5" descr="Pol_onoff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5762"/>
            <a:ext cx="4000500" cy="2662238"/>
          </a:xfrm>
          <a:prstGeom prst="rect">
            <a:avLst/>
          </a:prstGeom>
        </p:spPr>
      </p:pic>
      <p:pic>
        <p:nvPicPr>
          <p:cNvPr id="7" name="Picture 6" descr="Pol_onoff_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1371600"/>
            <a:ext cx="4000500" cy="2662238"/>
          </a:xfrm>
          <a:prstGeom prst="rect">
            <a:avLst/>
          </a:prstGeom>
        </p:spPr>
      </p:pic>
      <p:pic>
        <p:nvPicPr>
          <p:cNvPr id="8" name="Picture 7" descr="Pol_onoff_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4195762"/>
            <a:ext cx="4000500" cy="2662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1066800"/>
            <a:ext cx="374025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In case you are curious …..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143000"/>
          </a:xfrm>
        </p:spPr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3220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Selection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43000"/>
            <a:ext cx="44374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Same quality checks as run 05 and 06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524000"/>
            <a:ext cx="7371120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Carbon mass position deviation : &lt; 0.5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GeV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the Carbon mass</a:t>
            </a: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Carbon mass width : deviation below 1.9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sigmas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Number of events in banana :  strips inside 20% from the average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8"/>
          <p:cNvGrpSpPr/>
          <p:nvPr/>
        </p:nvGrpSpPr>
        <p:grpSpPr>
          <a:xfrm>
            <a:off x="4267200" y="3124200"/>
            <a:ext cx="4630640" cy="3076575"/>
            <a:chOff x="3886200" y="3124200"/>
            <a:chExt cx="4630640" cy="3076575"/>
          </a:xfrm>
        </p:grpSpPr>
        <p:pic>
          <p:nvPicPr>
            <p:cNvPr id="7" name="Picture 6" descr="Cyields_WCM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6200" y="3124200"/>
              <a:ext cx="4630640" cy="3076575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724400" y="5029200"/>
              <a:ext cx="3652347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B10D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Data taken with Blue vertical target 5</a:t>
              </a:r>
            </a:p>
            <a:p>
              <a:r>
                <a:rPr lang="en-US" dirty="0" smtClean="0"/>
                <a:t>Fill #s :9942,9947,9948,9949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ib_yellow_Mar0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4556760" cy="2941320"/>
          </a:xfrm>
          <a:prstGeom prst="rect">
            <a:avLst/>
          </a:prstGeom>
        </p:spPr>
      </p:pic>
      <p:pic>
        <p:nvPicPr>
          <p:cNvPr id="6" name="Picture 5" descr="calib_blue_Mar0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914400"/>
            <a:ext cx="4556760" cy="29413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95600" y="228600"/>
            <a:ext cx="29225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Calibrations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200" y="2971800"/>
            <a:ext cx="97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YELLOW</a:t>
            </a:r>
            <a:endParaRPr 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2971800"/>
            <a:ext cx="669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</a:t>
            </a:r>
            <a:endParaRPr lang="en-US" b="1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yellow_leakag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038600"/>
            <a:ext cx="3086100" cy="257937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Oval 10"/>
          <p:cNvSpPr/>
          <p:nvPr/>
        </p:nvSpPr>
        <p:spPr>
          <a:xfrm>
            <a:off x="2667000" y="1066800"/>
            <a:ext cx="1219200" cy="91440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urved Connector 24"/>
          <p:cNvCxnSpPr/>
          <p:nvPr/>
        </p:nvCxnSpPr>
        <p:spPr>
          <a:xfrm rot="16200000" flipH="1">
            <a:off x="3048000" y="2286000"/>
            <a:ext cx="2514600" cy="838200"/>
          </a:xfrm>
          <a:prstGeom prst="curvedConnector3">
            <a:avLst>
              <a:gd name="adj1" fmla="val -86"/>
            </a:avLst>
          </a:prstGeom>
          <a:ln w="15875">
            <a:solidFill>
              <a:srgbClr val="FFC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" y="4191000"/>
            <a:ext cx="43508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FFC000"/>
              </a:buClr>
              <a:buSzPct val="150000"/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Feb 13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 for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1,2,3,4 and 6</a:t>
            </a:r>
          </a:p>
          <a:p>
            <a:pPr>
              <a:buClr>
                <a:srgbClr val="FFC000"/>
              </a:buClr>
              <a:buSzPct val="150000"/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Detector 5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Upto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Fill 9886 Feb 13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Feb 27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 after Fill 9886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733800"/>
            <a:ext cx="256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Feb 16</a:t>
            </a:r>
            <a:r>
              <a:rPr lang="en-US" b="1" baseline="30000" dirty="0" smtClean="0">
                <a:solidFill>
                  <a:srgbClr val="FFC000"/>
                </a:solidFill>
              </a:rPr>
              <a:t>th</a:t>
            </a:r>
            <a:r>
              <a:rPr lang="en-US" b="1" dirty="0" smtClean="0">
                <a:solidFill>
                  <a:srgbClr val="FFC000"/>
                </a:solidFill>
              </a:rPr>
              <a:t> 2008 (Fill 9886)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 rot="5400000">
            <a:off x="7219265" y="4896535"/>
            <a:ext cx="2057400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Jump in Detector 5 current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477000" y="1295400"/>
            <a:ext cx="609600" cy="1588"/>
          </a:xfrm>
          <a:prstGeom prst="straightConnector1">
            <a:avLst/>
          </a:prstGeom>
          <a:ln>
            <a:solidFill>
              <a:srgbClr val="0B10D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62800" y="1143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B10DB"/>
                </a:solidFill>
              </a:rPr>
              <a:t>All runs</a:t>
            </a:r>
            <a:endParaRPr lang="en-US" dirty="0">
              <a:solidFill>
                <a:srgbClr val="0B10D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0" y="228600"/>
            <a:ext cx="52699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Dead layer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ead_Layer_flattop_pass1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7247"/>
            <a:ext cx="8215313" cy="5710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376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Dead layer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ead_Layer_flattop_pass1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331041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3903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Rate dependence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Rate_DL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85825" y="638175"/>
            <a:ext cx="2914650" cy="3771900"/>
          </a:xfrm>
          <a:prstGeom prst="rect">
            <a:avLst/>
          </a:prstGeom>
        </p:spPr>
      </p:pic>
      <p:pic>
        <p:nvPicPr>
          <p:cNvPr id="7" name="Picture 6" descr="Rate_DL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00625" y="638175"/>
            <a:ext cx="2914650" cy="3771900"/>
          </a:xfrm>
          <a:prstGeom prst="rect">
            <a:avLst/>
          </a:prstGeom>
        </p:spPr>
      </p:pic>
      <p:pic>
        <p:nvPicPr>
          <p:cNvPr id="8" name="Picture 7" descr="Rate_T0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62025" y="3514725"/>
            <a:ext cx="2914650" cy="3771900"/>
          </a:xfrm>
          <a:prstGeom prst="rect">
            <a:avLst/>
          </a:prstGeom>
        </p:spPr>
      </p:pic>
      <p:pic>
        <p:nvPicPr>
          <p:cNvPr id="9" name="Picture 8" descr="Rate_T0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000625" y="3514725"/>
            <a:ext cx="2914650" cy="377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990600"/>
            <a:ext cx="3775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Dead layer rate dependence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3886200"/>
            <a:ext cx="2667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T0 rate dependence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814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Pol_di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compare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026"/>
            <a:ext cx="8686800" cy="5860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"/>
            <a:ext cx="5578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diff_yellow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583385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diff_yellow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7026"/>
            <a:ext cx="8686800" cy="5860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diff_yellow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48438"/>
            <a:ext cx="8610600" cy="5809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228600"/>
            <a:ext cx="5044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ono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5044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onoff_di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938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onoff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938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onoff_diff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837</Words>
  <Application>Microsoft Office PowerPoint</Application>
  <PresentationFormat>On-screen Show (4:3)</PresentationFormat>
  <Paragraphs>230</Paragraphs>
  <Slides>38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Office Theme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BACKUP SLIDES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Jefferson Science Associates,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Myung Bang</dc:creator>
  <cp:lastModifiedBy>Myung Bang</cp:lastModifiedBy>
  <cp:revision>207</cp:revision>
  <dcterms:created xsi:type="dcterms:W3CDTF">2008-09-09T16:48:37Z</dcterms:created>
  <dcterms:modified xsi:type="dcterms:W3CDTF">2008-09-12T12:20:36Z</dcterms:modified>
</cp:coreProperties>
</file>