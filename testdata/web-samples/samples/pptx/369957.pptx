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notesMasterIdLst>
    <p:notesMasterId r:id="rId14"/>
  </p:notesMasterIdLst>
  <p:sldIdLst>
    <p:sldId id="256" r:id="rId2"/>
    <p:sldId id="258" r:id="rId3"/>
    <p:sldId id="262" r:id="rId4"/>
    <p:sldId id="260" r:id="rId5"/>
    <p:sldId id="269" r:id="rId6"/>
    <p:sldId id="268" r:id="rId7"/>
    <p:sldId id="259" r:id="rId8"/>
    <p:sldId id="266" r:id="rId9"/>
    <p:sldId id="265" r:id="rId10"/>
    <p:sldId id="264" r:id="rId11"/>
    <p:sldId id="267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83" autoAdjust="0"/>
    <p:restoredTop sz="94660"/>
  </p:normalViewPr>
  <p:slideViewPr>
    <p:cSldViewPr>
      <p:cViewPr varScale="1">
        <p:scale>
          <a:sx n="51" d="100"/>
          <a:sy n="51" d="100"/>
        </p:scale>
        <p:origin x="-6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41D02-275D-47A5-950A-A7B59D62D759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12A3A-CD82-4DC6-B98D-9DCB34DAEF8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B681E-7A16-4B22-9056-76731FA0946E}" type="slidenum">
              <a:rPr lang="en-US"/>
              <a:pPr/>
              <a:t>3</a:t>
            </a:fld>
            <a:endParaRPr 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D45BAE-6D16-4CB3-9D5D-D0F24C3D55C3}" type="slidenum">
              <a:rPr lang="en-US"/>
              <a:pPr/>
              <a:t>4</a:t>
            </a:fld>
            <a:endParaRPr lang="en-US"/>
          </a:p>
        </p:txBody>
      </p:sp>
      <p:sp>
        <p:nvSpPr>
          <p:cNvPr id="4" name="Shape 3"/>
          <p:cNvSpPr txBox="1">
            <a:spLocks noGrp="1" noChangeArrowheads="1"/>
          </p:cNvSpPr>
          <p:nvPr/>
        </p:nvSpPr>
        <p:spPr bwMode="auto">
          <a:xfrm>
            <a:off x="3884027" y="0"/>
            <a:ext cx="2972421" cy="45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/>
          <a:lstStyle/>
          <a:p>
            <a:pPr algn="r" defTabSz="914437"/>
            <a:fld id="{DB2B076D-F358-4449-B217-C797C051D79A}" type="datetime8">
              <a:rPr lang="en-US" sz="1200">
                <a:latin typeface="Times New Roman" pitchFamily="18" charset="0"/>
              </a:rPr>
              <a:pPr algn="r" defTabSz="914437"/>
              <a:t>10/12/2007 2:59 PM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5" name="Shape 4"/>
          <p:cNvSpPr txBox="1">
            <a:spLocks noGrp="1" noChangeArrowheads="1"/>
          </p:cNvSpPr>
          <p:nvPr/>
        </p:nvSpPr>
        <p:spPr bwMode="auto">
          <a:xfrm>
            <a:off x="5582996" y="8684926"/>
            <a:ext cx="1273451" cy="45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 anchor="b"/>
          <a:lstStyle/>
          <a:p>
            <a:pPr algn="r" defTabSz="914437"/>
            <a:fld id="{25334CA2-E8D6-4899-9217-A8888F0ABEB3}" type="slidenum">
              <a:rPr lang="en-US" sz="1200">
                <a:latin typeface="Times New Roman" pitchFamily="18" charset="0"/>
              </a:rPr>
              <a:pPr algn="r" defTabSz="914437"/>
              <a:t>4</a:t>
            </a:fld>
            <a:endParaRPr lang="en-US" sz="1200" dirty="0">
              <a:latin typeface="Times New Roman" pitchFamily="18" charset="0"/>
            </a:endParaRPr>
          </a:p>
        </p:txBody>
      </p:sp>
      <p:sp>
        <p:nvSpPr>
          <p:cNvPr id="6" name="Shape 5"/>
          <p:cNvSpPr txBox="1">
            <a:spLocks noGrp="1" noChangeArrowheads="1"/>
          </p:cNvSpPr>
          <p:nvPr/>
        </p:nvSpPr>
        <p:spPr bwMode="auto">
          <a:xfrm>
            <a:off x="0" y="8791107"/>
            <a:ext cx="5666858" cy="35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5" tIns="45718" rIns="91435" bIns="45718" anchor="b"/>
          <a:lstStyle/>
          <a:p>
            <a:pPr defTabSz="914437"/>
            <a:r>
              <a:rPr lang="en-US" sz="800" dirty="0">
                <a:latin typeface="Segoe"/>
                <a:cs typeface="Arial" pitchFamily="34" charset="0"/>
              </a:rPr>
              <a:t>Microsoft Confidential© 2004 Microsoft Corporation. All rights reserved.</a:t>
            </a:r>
          </a:p>
          <a:p>
            <a:pPr defTabSz="914437"/>
            <a:r>
              <a:rPr lang="en-US" sz="800" dirty="0">
                <a:latin typeface="Segoe"/>
                <a:cs typeface="Arial" pitchFamily="34" charset="0"/>
              </a:rPr>
              <a:t>This presentation is for informational purposes only. Microsoft makes no warranties, express or implied, in this summary.</a:t>
            </a:r>
          </a:p>
        </p:txBody>
      </p:sp>
      <p:sp>
        <p:nvSpPr>
          <p:cNvPr id="21509" name="Rectangle 464897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 algn="ctr">
            <a:headEnd type="none" w="med" len="med"/>
            <a:tailEnd type="none" w="med" len="med"/>
          </a:ln>
        </p:spPr>
      </p:sp>
      <p:sp>
        <p:nvSpPr>
          <p:cNvPr id="464899" name="Rectangle 464898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1435" tIns="45718" rIns="91435" bIns="45718"/>
          <a:lstStyle/>
          <a:p>
            <a:r>
              <a:rPr lang="en-US">
                <a:latin typeface="Times New Roman" pitchFamily="18" charset="0"/>
              </a:rPr>
              <a:t>That’s “Tonzi” of “Tonzi Ranch”. </a:t>
            </a:r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A4E197BF-5A53-4E97-B515-B221A7F0A7AA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94C80F9-DC70-4367-AED0-C63C004835D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bwc.berkeley.edu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wmf"/><Relationship Id="rId4" Type="http://schemas.openxmlformats.org/officeDocument/2006/relationships/image" Target="../media/image26.jpeg"/><Relationship Id="rId9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10" Type="http://schemas.openxmlformats.org/officeDocument/2006/relationships/image" Target="../media/image39.png"/><Relationship Id="rId4" Type="http://schemas.openxmlformats.org/officeDocument/2006/relationships/image" Target="../media/image34.jpeg"/><Relationship Id="rId9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Building A Scientific Data Analysis Server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Deb </a:t>
            </a:r>
            <a:r>
              <a:rPr lang="en-US" dirty="0" err="1" smtClean="0"/>
              <a:t>Agarwal</a:t>
            </a:r>
            <a:endParaRPr lang="en-US" dirty="0" smtClean="0"/>
          </a:p>
          <a:p>
            <a:r>
              <a:rPr lang="en-US" dirty="0" smtClean="0"/>
              <a:t>Berkeley Water Center, University of California, Berkeley</a:t>
            </a:r>
          </a:p>
          <a:p>
            <a:r>
              <a:rPr lang="en-US" dirty="0" smtClean="0">
                <a:hlinkClick r:id="rId2"/>
              </a:rPr>
              <a:t>http://bwc.berkeley.edu</a:t>
            </a:r>
            <a:endParaRPr lang="en-US" dirty="0" smtClean="0"/>
          </a:p>
          <a:p>
            <a:r>
              <a:rPr lang="en-US" dirty="0" smtClean="0"/>
              <a:t>Collaboration with Microsoft Research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lter-web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1295400"/>
            <a:ext cx="4648200" cy="2890838"/>
          </a:xfrm>
          <a:prstGeom prst="rect">
            <a:avLst/>
          </a:prstGeom>
          <a:noFill/>
        </p:spPr>
      </p:pic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Excellent Data Archives Available</a:t>
            </a:r>
            <a:endParaRPr lang="en-US" dirty="0"/>
          </a:p>
        </p:txBody>
      </p:sp>
      <p:pic>
        <p:nvPicPr>
          <p:cNvPr id="3076" name="Picture 4" descr="climate-we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9600" y="3886200"/>
            <a:ext cx="4724400" cy="2784475"/>
          </a:xfrm>
          <a:prstGeom prst="rect">
            <a:avLst/>
          </a:prstGeom>
          <a:noFill/>
        </p:spPr>
      </p:pic>
      <p:pic>
        <p:nvPicPr>
          <p:cNvPr id="3077" name="Picture 5" descr="Ameriflux-we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1371600"/>
            <a:ext cx="4286250" cy="2698750"/>
          </a:xfrm>
          <a:prstGeom prst="rect">
            <a:avLst/>
          </a:prstGeom>
          <a:noFill/>
        </p:spPr>
      </p:pic>
      <p:pic>
        <p:nvPicPr>
          <p:cNvPr id="3078" name="Picture 6" descr="cuahsi-his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76400" y="2209800"/>
            <a:ext cx="5029200" cy="3027363"/>
          </a:xfrm>
          <a:prstGeom prst="rect">
            <a:avLst/>
          </a:prstGeom>
          <a:noFill/>
        </p:spPr>
      </p:pic>
      <p:pic>
        <p:nvPicPr>
          <p:cNvPr id="3079" name="Picture 7" descr="NOAA-hydro-inf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28600" y="4267200"/>
            <a:ext cx="3581400" cy="2111375"/>
          </a:xfrm>
          <a:prstGeom prst="rect">
            <a:avLst/>
          </a:prstGeom>
          <a:noFill/>
        </p:spPr>
      </p:pic>
      <p:pic>
        <p:nvPicPr>
          <p:cNvPr id="3081" name="Picture 9" descr="modis-web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590800" y="4191000"/>
            <a:ext cx="3443288" cy="24749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The image “http://public.ornl.gov/ameriflux/img/ameriflux_sitemap.jpg” cannot be displayed, because it contains errors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609600"/>
            <a:ext cx="5140325" cy="4343400"/>
          </a:xfrm>
          <a:prstGeom prst="rect">
            <a:avLst/>
          </a:prstGeom>
          <a:noFill/>
        </p:spPr>
      </p:pic>
      <p:pic>
        <p:nvPicPr>
          <p:cNvPr id="14339" name="Picture 3" descr="The image “http://public.ornl.gov/ameriflux/img/about-new-2.jpg” cannot be displayed, because it contains errors.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286000"/>
            <a:ext cx="1905000" cy="3457575"/>
          </a:xfrm>
          <a:prstGeom prst="rect">
            <a:avLst/>
          </a:prstGeom>
          <a:noFill/>
        </p:spPr>
      </p:pic>
      <p:pic>
        <p:nvPicPr>
          <p:cNvPr id="14340" name="Picture 4" descr="The image “http://public.ornl.gov/ameriflux/img/about-new-5.jpg” cannot be displayed, because it contains errors.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05000" y="4800600"/>
            <a:ext cx="2260600" cy="1624013"/>
          </a:xfrm>
          <a:prstGeom prst="rect">
            <a:avLst/>
          </a:prstGeom>
          <a:noFill/>
        </p:spPr>
      </p:pic>
      <p:pic>
        <p:nvPicPr>
          <p:cNvPr id="14342" name="Picture 6" descr="stats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881688" y="304800"/>
            <a:ext cx="3262312" cy="2054225"/>
          </a:xfrm>
          <a:prstGeom prst="rect">
            <a:avLst/>
          </a:prstGeom>
          <a:noFill/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67400" y="2514600"/>
            <a:ext cx="3276600" cy="218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5943600" y="1828800"/>
            <a:ext cx="6858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3200" b="1">
              <a:latin typeface="Times" pitchFamily="18" charset="0"/>
            </a:endParaRPr>
          </a:p>
          <a:p>
            <a:pPr algn="ctr"/>
            <a:endParaRPr lang="en-US" sz="3200" b="1">
              <a:latin typeface="Times" pitchFamily="18" charset="0"/>
            </a:endParaRPr>
          </a:p>
          <a:p>
            <a:pPr algn="ctr"/>
            <a:endParaRPr lang="en-US" sz="3200" b="1">
              <a:latin typeface="Times" pitchFamily="18" charset="0"/>
            </a:endParaRPr>
          </a:p>
        </p:txBody>
      </p:sp>
      <p:pic>
        <p:nvPicPr>
          <p:cNvPr id="14345" name="Picture 9" descr="16dayUSVI_albers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867400" y="4832350"/>
            <a:ext cx="3276600" cy="2025650"/>
          </a:xfrm>
          <a:prstGeom prst="rect">
            <a:avLst/>
          </a:prstGeom>
          <a:noFill/>
        </p:spPr>
      </p:pic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5867400" y="2019300"/>
            <a:ext cx="2259013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>
                <a:latin typeface="Times" pitchFamily="18" charset="0"/>
              </a:rPr>
              <a:t>Soils</a:t>
            </a:r>
          </a:p>
          <a:p>
            <a:endParaRPr lang="en-US" sz="2400" b="1">
              <a:latin typeface="Times" pitchFamily="18" charset="0"/>
            </a:endParaRPr>
          </a:p>
          <a:p>
            <a:endParaRPr lang="en-US" sz="2400" b="1">
              <a:latin typeface="Times" pitchFamily="18" charset="0"/>
            </a:endParaRPr>
          </a:p>
          <a:p>
            <a:endParaRPr lang="en-US" sz="2400" b="1">
              <a:latin typeface="Times" pitchFamily="18" charset="0"/>
            </a:endParaRPr>
          </a:p>
          <a:p>
            <a:endParaRPr lang="en-US" sz="2400" b="1">
              <a:latin typeface="Times" pitchFamily="18" charset="0"/>
            </a:endParaRPr>
          </a:p>
          <a:p>
            <a:endParaRPr lang="en-US" sz="2400" b="1">
              <a:latin typeface="Times" pitchFamily="18" charset="0"/>
            </a:endParaRPr>
          </a:p>
          <a:p>
            <a:r>
              <a:rPr lang="en-US" sz="2400" b="1">
                <a:latin typeface="Times" pitchFamily="18" charset="0"/>
              </a:rPr>
              <a:t>Climate</a:t>
            </a:r>
          </a:p>
          <a:p>
            <a:endParaRPr lang="en-US" sz="2400" b="1">
              <a:latin typeface="Times" pitchFamily="18" charset="0"/>
            </a:endParaRPr>
          </a:p>
          <a:p>
            <a:endParaRPr lang="en-US" sz="2400" b="1">
              <a:latin typeface="Times" pitchFamily="18" charset="0"/>
            </a:endParaRPr>
          </a:p>
          <a:p>
            <a:endParaRPr lang="en-US" sz="2400" b="1">
              <a:latin typeface="Times" pitchFamily="18" charset="0"/>
            </a:endParaRPr>
          </a:p>
          <a:p>
            <a:endParaRPr lang="en-US" sz="2400" b="1">
              <a:latin typeface="Times" pitchFamily="18" charset="0"/>
            </a:endParaRPr>
          </a:p>
          <a:p>
            <a:endParaRPr lang="en-US" sz="2400" b="1">
              <a:latin typeface="Times" pitchFamily="18" charset="0"/>
            </a:endParaRPr>
          </a:p>
          <a:p>
            <a:r>
              <a:rPr lang="en-US" sz="2400" b="1">
                <a:solidFill>
                  <a:srgbClr val="F4F4F4"/>
                </a:solidFill>
                <a:latin typeface="Times" pitchFamily="18" charset="0"/>
              </a:rPr>
              <a:t>Remote Sensing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260350" y="228600"/>
            <a:ext cx="49692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Arial" pitchFamily="34" charset="0"/>
              </a:rPr>
              <a:t>Typical </a:t>
            </a:r>
            <a:r>
              <a:rPr lang="en-US" sz="2400" b="1" dirty="0">
                <a:latin typeface="Arial" pitchFamily="34" charset="0"/>
              </a:rPr>
              <a:t>Carbon-Climate Datasets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4267200" y="4811713"/>
            <a:ext cx="1752600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>
                <a:latin typeface="Arial" pitchFamily="34" charset="0"/>
              </a:rPr>
              <a:t>Observatory datasets</a:t>
            </a:r>
          </a:p>
          <a:p>
            <a:endParaRPr lang="en-US" sz="1400">
              <a:latin typeface="Arial" pitchFamily="34" charset="0"/>
            </a:endParaRPr>
          </a:p>
          <a:p>
            <a:r>
              <a:rPr lang="en-US" sz="1400">
                <a:latin typeface="Arial" pitchFamily="34" charset="0"/>
              </a:rPr>
              <a:t>Spatially continuous datasets</a:t>
            </a:r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 flipV="1">
            <a:off x="4724400" y="4419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>
            <a:off x="5105400" y="5638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51" name="Line 15"/>
          <p:cNvSpPr>
            <a:spLocks noChangeShapeType="1"/>
          </p:cNvSpPr>
          <p:nvPr/>
        </p:nvSpPr>
        <p:spPr bwMode="auto">
          <a:xfrm flipV="1">
            <a:off x="5105400" y="4876800"/>
            <a:ext cx="457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Rectangl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60975" y="3324225"/>
            <a:ext cx="3613150" cy="270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hape 5"/>
          <p:cNvSpPr txBox="1">
            <a:spLocks noGrp="1"/>
          </p:cNvSpPr>
          <p:nvPr/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r" eaLnBrk="1" hangingPunct="1"/>
            <a:fld id="{9EBAB7EC-F397-4919-9A72-2651841D217B}" type="slidenum">
              <a:rPr lang="en-US" sz="1200">
                <a:solidFill>
                  <a:srgbClr val="045C75"/>
                </a:solidFill>
                <a:latin typeface="Constantia" pitchFamily="18" charset="0"/>
              </a:rPr>
              <a:pPr algn="r" eaLnBrk="1" hangingPunct="1"/>
              <a:t>4</a:t>
            </a:fld>
            <a:endParaRPr lang="en-US" sz="1200">
              <a:solidFill>
                <a:srgbClr val="045C75"/>
              </a:solidFill>
              <a:latin typeface="Constantia" pitchFamily="18" charset="0"/>
            </a:endParaRPr>
          </a:p>
        </p:txBody>
      </p:sp>
      <p:sp>
        <p:nvSpPr>
          <p:cNvPr id="463876" name="Title 463875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868362"/>
          </a:xfrm>
        </p:spPr>
        <p:txBody>
          <a:bodyPr lIns="0" rIns="0" bIns="0" anchor="t">
            <a:normAutofit fontScale="90000"/>
          </a:bodyPr>
          <a:lstStyle/>
          <a:p>
            <a:r>
              <a:rPr lang="en-US" sz="4000" dirty="0" smtClean="0"/>
              <a:t>FLUXNET Synthesis Dataset </a:t>
            </a:r>
            <a:r>
              <a:rPr lang="en-US" sz="4000" dirty="0"/>
              <a:t>Overview</a:t>
            </a:r>
          </a:p>
        </p:txBody>
      </p:sp>
      <p:sp>
        <p:nvSpPr>
          <p:cNvPr id="463877" name="Text Placeholder 463876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219200"/>
            <a:ext cx="4800600" cy="5029200"/>
          </a:xfrm>
        </p:spPr>
        <p:txBody>
          <a:bodyPr>
            <a:normAutofit/>
          </a:bodyPr>
          <a:lstStyle/>
          <a:p>
            <a:pPr marL="273050" indent="-273050">
              <a:lnSpc>
                <a:spcPct val="80000"/>
              </a:lnSpc>
            </a:pPr>
            <a:r>
              <a:rPr lang="en-US" sz="2000" dirty="0" smtClean="0"/>
              <a:t>240 </a:t>
            </a:r>
            <a:r>
              <a:rPr lang="en-US" sz="2000" dirty="0"/>
              <a:t>Sites </a:t>
            </a:r>
            <a:r>
              <a:rPr lang="en-US" sz="2000" dirty="0" smtClean="0"/>
              <a:t>around the world and 921 site years of data</a:t>
            </a:r>
            <a:endParaRPr lang="en-US" sz="2000" dirty="0"/>
          </a:p>
          <a:p>
            <a:pPr marL="273050" indent="-273050">
              <a:lnSpc>
                <a:spcPct val="80000"/>
              </a:lnSpc>
            </a:pPr>
            <a:r>
              <a:rPr lang="en-US" sz="2000" dirty="0"/>
              <a:t>Each site reports a minimum of </a:t>
            </a:r>
            <a:r>
              <a:rPr lang="en-US" sz="2000" dirty="0" smtClean="0"/>
              <a:t>22 and more typically 35 </a:t>
            </a:r>
            <a:r>
              <a:rPr lang="en-US" sz="2000" dirty="0"/>
              <a:t>common measurements.</a:t>
            </a:r>
          </a:p>
          <a:p>
            <a:pPr marL="273050" indent="-273050">
              <a:lnSpc>
                <a:spcPct val="80000"/>
              </a:lnSpc>
            </a:pPr>
            <a:r>
              <a:rPr lang="en-US" sz="2000" dirty="0" smtClean="0"/>
              <a:t>Total data reported to date on the order of 800M half-hourly  measurements.</a:t>
            </a:r>
          </a:p>
          <a:p>
            <a:pPr marL="273050" indent="-273050">
              <a:lnSpc>
                <a:spcPct val="80000"/>
              </a:lnSpc>
            </a:pPr>
            <a:r>
              <a:rPr lang="en-US" sz="2000" dirty="0" smtClean="0"/>
              <a:t>Communal </a:t>
            </a:r>
            <a:r>
              <a:rPr lang="en-US" sz="2000" dirty="0"/>
              <a:t>science – each principle investigator acts independently to prepare and publish data. </a:t>
            </a:r>
          </a:p>
          <a:p>
            <a:pPr marL="273050" indent="-273050">
              <a:lnSpc>
                <a:spcPct val="80000"/>
              </a:lnSpc>
            </a:pPr>
            <a:r>
              <a:rPr lang="en-US" sz="2000" dirty="0"/>
              <a:t>Second level data published to and archived at </a:t>
            </a:r>
            <a:r>
              <a:rPr lang="en-US" sz="2000" dirty="0" smtClean="0"/>
              <a:t>regional networks. </a:t>
            </a:r>
          </a:p>
          <a:p>
            <a:pPr marL="273050" indent="-273050">
              <a:lnSpc>
                <a:spcPct val="80000"/>
              </a:lnSpc>
            </a:pPr>
            <a:r>
              <a:rPr lang="en-US" sz="2000" dirty="0" smtClean="0"/>
              <a:t>Uniform quality, gap filling, and science variable derivation to generate higher level data sets.</a:t>
            </a:r>
            <a:endParaRPr lang="en-US" sz="2000" dirty="0"/>
          </a:p>
          <a:p>
            <a:pPr marL="273050" indent="-273050">
              <a:lnSpc>
                <a:spcPct val="80000"/>
              </a:lnSpc>
            </a:pPr>
            <a:endParaRPr lang="en-US" sz="2000" dirty="0"/>
          </a:p>
          <a:p>
            <a:pPr marL="273050" indent="-273050" algn="ctr">
              <a:lnSpc>
                <a:spcPct val="80000"/>
              </a:lnSpc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http</a:t>
            </a:r>
            <a:r>
              <a:rPr lang="en-US" sz="2000" dirty="0" smtClean="0">
                <a:solidFill>
                  <a:schemeClr val="tx2">
                    <a:lumMod val="75000"/>
                  </a:schemeClr>
                </a:solidFill>
              </a:rPr>
              <a:t>://www.fluxdata.org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273050" indent="-273050">
              <a:lnSpc>
                <a:spcPct val="80000"/>
              </a:lnSpc>
            </a:pPr>
            <a:endParaRPr lang="en-US" sz="2000" dirty="0"/>
          </a:p>
        </p:txBody>
      </p:sp>
      <p:pic>
        <p:nvPicPr>
          <p:cNvPr id="20486" name="Rectangl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1219200"/>
            <a:ext cx="3619500" cy="265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atasetinfo-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5499591" cy="3816681"/>
          </a:xfrm>
          <a:prstGeom prst="rect">
            <a:avLst/>
          </a:prstGeom>
        </p:spPr>
      </p:pic>
      <p:pic>
        <p:nvPicPr>
          <p:cNvPr id="2" name="Picture 1" descr="Report-Fluxn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828800"/>
            <a:ext cx="5929787" cy="4115234"/>
          </a:xfrm>
          <a:prstGeom prst="rect">
            <a:avLst/>
          </a:prstGeom>
        </p:spPr>
      </p:pic>
      <p:pic>
        <p:nvPicPr>
          <p:cNvPr id="4" name="Picture 3" descr="pivot-tab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886200"/>
            <a:ext cx="5664034" cy="27665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28600"/>
            <a:ext cx="708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FLUXNET Synthesis Support Server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/>
              <a:t>Example Carbon-Climate Investigations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4495800" cy="4525963"/>
          </a:xfrm>
        </p:spPr>
        <p:txBody>
          <a:bodyPr>
            <a:normAutofit fontScale="92500"/>
          </a:bodyPr>
          <a:lstStyle/>
          <a:p>
            <a:r>
              <a:rPr lang="en-US" sz="2800" dirty="0" smtClean="0"/>
              <a:t>Effects of early spring on carbon uptake</a:t>
            </a:r>
          </a:p>
          <a:p>
            <a:r>
              <a:rPr lang="en-US" sz="2800" dirty="0" smtClean="0"/>
              <a:t>Role of vegetation, climate, and latitude on carbon flux</a:t>
            </a:r>
          </a:p>
          <a:p>
            <a:r>
              <a:rPr lang="en-US" sz="2800" dirty="0" smtClean="0"/>
              <a:t>Effect of disturbances on atmospheric carbon</a:t>
            </a:r>
          </a:p>
          <a:p>
            <a:r>
              <a:rPr lang="en-US" sz="2800" dirty="0" smtClean="0"/>
              <a:t>Linkages to remote sensing and other data sets just beginning</a:t>
            </a:r>
          </a:p>
          <a:p>
            <a:endParaRPr lang="en-US" dirty="0"/>
          </a:p>
        </p:txBody>
      </p:sp>
      <p:pic>
        <p:nvPicPr>
          <p:cNvPr id="4" name="Picture 104"/>
          <p:cNvPicPr>
            <a:picLocks noChangeAspect="1" noChangeArrowheads="1"/>
          </p:cNvPicPr>
          <p:nvPr/>
        </p:nvPicPr>
        <p:blipFill>
          <a:blip r:embed="rId2"/>
          <a:srcRect l="26804"/>
          <a:stretch>
            <a:fillRect/>
          </a:stretch>
        </p:blipFill>
        <p:spPr>
          <a:xfrm>
            <a:off x="5029200" y="1828800"/>
            <a:ext cx="3592513" cy="2536825"/>
          </a:xfrm>
          <a:prstGeom prst="rect">
            <a:avLst/>
          </a:prstGeom>
          <a:noFill/>
          <a:ln/>
        </p:spPr>
      </p:pic>
      <p:sp>
        <p:nvSpPr>
          <p:cNvPr id="5" name="Text Box 105"/>
          <p:cNvSpPr txBox="1">
            <a:spLocks noChangeAspect="1" noChangeArrowheads="1"/>
          </p:cNvSpPr>
          <p:nvPr/>
        </p:nvSpPr>
        <p:spPr bwMode="auto">
          <a:xfrm>
            <a:off x="6697663" y="2878138"/>
            <a:ext cx="812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3300"/>
                </a:solidFill>
                <a:latin typeface="Times" pitchFamily="18" charset="0"/>
              </a:rPr>
              <a:t>T AIR</a:t>
            </a:r>
          </a:p>
        </p:txBody>
      </p:sp>
      <p:sp>
        <p:nvSpPr>
          <p:cNvPr id="6" name="Text Box 106"/>
          <p:cNvSpPr txBox="1">
            <a:spLocks noChangeAspect="1" noChangeArrowheads="1"/>
          </p:cNvSpPr>
          <p:nvPr/>
        </p:nvSpPr>
        <p:spPr bwMode="auto">
          <a:xfrm>
            <a:off x="7467600" y="2157413"/>
            <a:ext cx="939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3300"/>
                </a:solidFill>
                <a:latin typeface="Times" pitchFamily="18" charset="0"/>
              </a:rPr>
              <a:t>T SOIL</a:t>
            </a:r>
          </a:p>
        </p:txBody>
      </p:sp>
      <p:sp>
        <p:nvSpPr>
          <p:cNvPr id="7" name="Line 107"/>
          <p:cNvSpPr>
            <a:spLocks noChangeAspect="1" noChangeShapeType="1"/>
          </p:cNvSpPr>
          <p:nvPr/>
        </p:nvSpPr>
        <p:spPr bwMode="auto">
          <a:xfrm>
            <a:off x="6183313" y="2878138"/>
            <a:ext cx="0" cy="4429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Box 108"/>
          <p:cNvSpPr txBox="1">
            <a:spLocks noChangeAspect="1" noChangeArrowheads="1"/>
          </p:cNvSpPr>
          <p:nvPr/>
        </p:nvSpPr>
        <p:spPr bwMode="auto">
          <a:xfrm>
            <a:off x="5257800" y="3505200"/>
            <a:ext cx="18145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CC3300"/>
                </a:solidFill>
                <a:latin typeface="Times" pitchFamily="18" charset="0"/>
              </a:rPr>
              <a:t>Onset of photosynthesis</a:t>
            </a:r>
          </a:p>
        </p:txBody>
      </p:sp>
      <p:sp>
        <p:nvSpPr>
          <p:cNvPr id="9" name="Line 109"/>
          <p:cNvSpPr>
            <a:spLocks noChangeAspect="1" noChangeShapeType="1"/>
          </p:cNvSpPr>
          <p:nvPr/>
        </p:nvSpPr>
        <p:spPr bwMode="auto">
          <a:xfrm flipV="1">
            <a:off x="5927725" y="3376613"/>
            <a:ext cx="192088" cy="2206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1328"/>
            <a:ext cx="47244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USGS Stream Gages</a:t>
            </a:r>
          </a:p>
          <a:p>
            <a:r>
              <a:rPr lang="en-US" dirty="0" smtClean="0"/>
              <a:t>NOAA Weather Stations</a:t>
            </a:r>
          </a:p>
          <a:p>
            <a:r>
              <a:rPr lang="en-US" dirty="0" smtClean="0"/>
              <a:t>County water agency</a:t>
            </a:r>
          </a:p>
          <a:p>
            <a:r>
              <a:rPr lang="en-US" dirty="0" smtClean="0"/>
              <a:t>Driller logs</a:t>
            </a:r>
          </a:p>
          <a:p>
            <a:r>
              <a:rPr lang="en-US" dirty="0" smtClean="0"/>
              <a:t>EPA gages</a:t>
            </a:r>
          </a:p>
          <a:p>
            <a:r>
              <a:rPr lang="en-US" dirty="0" smtClean="0"/>
              <a:t>Research team measurements</a:t>
            </a:r>
          </a:p>
          <a:p>
            <a:r>
              <a:rPr lang="en-US" dirty="0" smtClean="0"/>
              <a:t>Data collected to date ~23M data points</a:t>
            </a:r>
          </a:p>
          <a:p>
            <a:pPr algn="ctr">
              <a:buNone/>
            </a:pPr>
            <a:r>
              <a:rPr lang="en-US" dirty="0" smtClean="0"/>
              <a:t>http://bwc.berkeley.edu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Russian River Data</a:t>
            </a:r>
            <a:endParaRPr lang="en-US" dirty="0"/>
          </a:p>
        </p:txBody>
      </p:sp>
      <p:pic>
        <p:nvPicPr>
          <p:cNvPr id="4" name="Picture 3" descr="RussianRiverG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1371600"/>
            <a:ext cx="3190875" cy="44732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/>
          <a:lstStyle/>
          <a:p>
            <a:r>
              <a:rPr lang="en-US" sz="2800" dirty="0" smtClean="0"/>
              <a:t>Annual water balance model for the watershed</a:t>
            </a:r>
          </a:p>
          <a:p>
            <a:r>
              <a:rPr lang="en-US" dirty="0" smtClean="0"/>
              <a:t>Historical turbidity and correlation to fish population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Russian River Investigations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5550" y="1768475"/>
            <a:ext cx="2043113" cy="301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5676900" y="1066800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5905500" y="914400"/>
            <a:ext cx="2667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P:  Precipitation</a:t>
            </a: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 flipH="1">
            <a:off x="5486400" y="4343400"/>
            <a:ext cx="1905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5486400" y="4953000"/>
            <a:ext cx="3124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R:  Runoff</a:t>
            </a: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 flipV="1">
            <a:off x="6286500" y="2667000"/>
            <a:ext cx="15240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6629400" y="1905000"/>
            <a:ext cx="25146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ET: Evaporation</a:t>
            </a:r>
          </a:p>
          <a:p>
            <a:pPr>
              <a:spcBef>
                <a:spcPct val="50000"/>
              </a:spcBef>
            </a:pPr>
            <a:r>
              <a:rPr lang="en-US" dirty="0"/>
              <a:t>       Transpiration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6858000" y="32766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P = ET + 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Gaps in the data 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Quiet nights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Bird poop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High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winds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Batteries die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Curious hikers/animals</a:t>
            </a:r>
          </a:p>
          <a:p>
            <a:pPr lvl="1"/>
            <a:r>
              <a:rPr lang="en-US" sz="2000" dirty="0" smtClean="0">
                <a:latin typeface="Arial" pitchFamily="34" charset="0"/>
                <a:cs typeface="Arial" pitchFamily="34" charset="0"/>
              </a:rPr>
              <a:t>Rivers flood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Difficult to make measurements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Leaf area index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Wood respiration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Soil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respiration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Localized measurements – tower footprint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Local investigator knowledge important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Science goals and standards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are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often not uniform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across the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groups taking measurements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839200" cy="1371600"/>
          </a:xfrm>
        </p:spPr>
        <p:txBody>
          <a:bodyPr>
            <a:normAutofit/>
          </a:bodyPr>
          <a:lstStyle/>
          <a:p>
            <a:r>
              <a:rPr lang="en-US" dirty="0" smtClean="0"/>
              <a:t>Measurements </a:t>
            </a:r>
            <a:r>
              <a:rPr lang="en-US" dirty="0"/>
              <a:t>Are </a:t>
            </a:r>
            <a:r>
              <a:rPr lang="en-US" dirty="0" smtClean="0"/>
              <a:t>Often Not </a:t>
            </a:r>
            <a:r>
              <a:rPr lang="en-US" dirty="0"/>
              <a:t>Simple or Complete</a:t>
            </a:r>
          </a:p>
        </p:txBody>
      </p:sp>
      <p:pic>
        <p:nvPicPr>
          <p:cNvPr id="4" name="Picture 3" descr="morepalmsblow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76400"/>
            <a:ext cx="1645920" cy="1176528"/>
          </a:xfrm>
          <a:prstGeom prst="rect">
            <a:avLst/>
          </a:prstGeom>
        </p:spPr>
      </p:pic>
      <p:pic>
        <p:nvPicPr>
          <p:cNvPr id="5" name="Picture 4" descr="sunthroughtr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95600"/>
            <a:ext cx="1686437" cy="114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620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Scientific Data </a:t>
            </a:r>
            <a:r>
              <a:rPr lang="en-US" dirty="0" smtClean="0"/>
              <a:t>Server</a:t>
            </a:r>
            <a:endParaRPr lang="en-US" dirty="0"/>
          </a:p>
        </p:txBody>
      </p:sp>
      <p:grpSp>
        <p:nvGrpSpPr>
          <p:cNvPr id="2" name="Content Placeholder 5"/>
          <p:cNvGrpSpPr>
            <a:grpSpLocks noGrp="1" noChangeAspect="1"/>
          </p:cNvGrpSpPr>
          <p:nvPr>
            <p:ph idx="1"/>
          </p:nvPr>
        </p:nvGrpSpPr>
        <p:grpSpPr>
          <a:xfrm>
            <a:off x="457200" y="1752600"/>
            <a:ext cx="8382000" cy="4572000"/>
            <a:chOff x="212725" y="1232092"/>
            <a:chExt cx="8868685" cy="5402071"/>
          </a:xfrm>
        </p:grpSpPr>
        <p:pic>
          <p:nvPicPr>
            <p:cNvPr id="7" name="Picture 3" descr="MCj04041590000[1]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57200" y="1447800"/>
              <a:ext cx="1422400" cy="1427163"/>
            </a:xfrm>
            <a:prstGeom prst="rect">
              <a:avLst/>
            </a:prstGeom>
            <a:noFill/>
          </p:spPr>
        </p:pic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212725" y="3084513"/>
              <a:ext cx="1579457" cy="763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 smtClean="0">
                  <a:latin typeface="Arial" pitchFamily="34" charset="0"/>
                  <a:cs typeface="Arial" pitchFamily="34" charset="0"/>
                </a:rPr>
                <a:t>Data Archive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Web Site</a:t>
              </a:r>
            </a:p>
          </p:txBody>
        </p:sp>
        <p:pic>
          <p:nvPicPr>
            <p:cNvPr id="9" name="Picture 5" descr="ornl-csv-file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09800" y="2209800"/>
              <a:ext cx="1800225" cy="989013"/>
            </a:xfrm>
            <a:prstGeom prst="rect">
              <a:avLst/>
            </a:prstGeom>
            <a:noFill/>
          </p:spPr>
        </p:pic>
        <p:pic>
          <p:nvPicPr>
            <p:cNvPr id="10" name="Picture 6" descr="csv-as-excel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90800" y="2514600"/>
              <a:ext cx="1800225" cy="915988"/>
            </a:xfrm>
            <a:prstGeom prst="rect">
              <a:avLst/>
            </a:prstGeom>
            <a:noFill/>
          </p:spPr>
        </p:pic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1447800" y="24384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2574926" y="1789114"/>
              <a:ext cx="1280879" cy="436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CSV Files</a:t>
              </a:r>
            </a:p>
          </p:txBody>
        </p:sp>
        <p:pic>
          <p:nvPicPr>
            <p:cNvPr id="13" name="Picture 9" descr="j019538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934200" y="4800600"/>
              <a:ext cx="1795463" cy="1833563"/>
            </a:xfrm>
            <a:prstGeom prst="rect">
              <a:avLst/>
            </a:prstGeom>
            <a:noFill/>
          </p:spPr>
        </p:pic>
        <p:pic>
          <p:nvPicPr>
            <p:cNvPr id="14" name="Picture 10" descr="MCj04041590000[1]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524000" y="4114800"/>
              <a:ext cx="1422400" cy="1427163"/>
            </a:xfrm>
            <a:prstGeom prst="rect">
              <a:avLst/>
            </a:prstGeom>
            <a:noFill/>
          </p:spPr>
        </p:pic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H="1">
              <a:off x="2057400" y="3200400"/>
              <a:ext cx="533400" cy="1143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1143000" y="5638799"/>
              <a:ext cx="2027153" cy="436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 smtClean="0">
                  <a:latin typeface="Arial" pitchFamily="34" charset="0"/>
                  <a:cs typeface="Arial" pitchFamily="34" charset="0"/>
                </a:rPr>
                <a:t>Database Server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7" name="Picture 1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505200" y="3810000"/>
              <a:ext cx="1984375" cy="1563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2590800" y="4724400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9" name="Picture 15" descr="pivot-table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715000" y="2590800"/>
              <a:ext cx="2395538" cy="1169988"/>
            </a:xfrm>
            <a:prstGeom prst="rect">
              <a:avLst/>
            </a:prstGeom>
            <a:noFill/>
          </p:spPr>
        </p:pic>
        <p:pic>
          <p:nvPicPr>
            <p:cNvPr id="20" name="Picture 16" descr="pivot-chart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096000" y="3352800"/>
              <a:ext cx="2395538" cy="1169988"/>
            </a:xfrm>
            <a:prstGeom prst="rect">
              <a:avLst/>
            </a:prstGeom>
            <a:noFill/>
          </p:spPr>
        </p:pic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V="1">
              <a:off x="5181600" y="3810000"/>
              <a:ext cx="8382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6477000" y="4572000"/>
              <a:ext cx="5334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4022726" y="5522913"/>
              <a:ext cx="1362291" cy="436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latin typeface="Arial" pitchFamily="34" charset="0"/>
                  <a:cs typeface="Arial" pitchFamily="34" charset="0"/>
                </a:rPr>
                <a:t>Data Cube</a:t>
              </a: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5292062" y="1232092"/>
              <a:ext cx="3789348" cy="10909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/>
              <a:r>
                <a:rPr lang="en-US" dirty="0" smtClean="0">
                  <a:latin typeface="Arial" pitchFamily="34" charset="0"/>
                  <a:cs typeface="Arial" pitchFamily="34" charset="0"/>
                </a:rPr>
                <a:t>Reports, Web Services, Pivot 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Table and </a:t>
              </a:r>
              <a:r>
                <a:rPr lang="en-US" dirty="0" smtClean="0">
                  <a:latin typeface="Arial" pitchFamily="34" charset="0"/>
                  <a:cs typeface="Arial" pitchFamily="34" charset="0"/>
                </a:rPr>
                <a:t>Pivot Chart, </a:t>
              </a:r>
              <a:r>
                <a:rPr lang="en-US" dirty="0" err="1" smtClean="0">
                  <a:latin typeface="Arial" pitchFamily="34" charset="0"/>
                  <a:cs typeface="Arial" pitchFamily="34" charset="0"/>
                </a:rPr>
                <a:t>Matlab</a:t>
              </a:r>
              <a:r>
                <a:rPr lang="en-US" dirty="0" smtClean="0">
                  <a:latin typeface="Arial" pitchFamily="34" charset="0"/>
                  <a:cs typeface="Arial" pitchFamily="34" charset="0"/>
                </a:rPr>
                <a:t> Interface, Statistics Packages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5" name="Picture 21" descr="data-avail-report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7010400" y="2362200"/>
              <a:ext cx="1909763" cy="1400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37" name="Straight Arrow Connector 36"/>
          <p:cNvCxnSpPr>
            <a:stCxn id="13" idx="1"/>
            <a:endCxn id="10" idx="3"/>
          </p:cNvCxnSpPr>
          <p:nvPr/>
        </p:nvCxnSpPr>
        <p:spPr>
          <a:xfrm rot="10800000">
            <a:off x="4406207" y="3225662"/>
            <a:ext cx="2403614" cy="2323029"/>
          </a:xfrm>
          <a:prstGeom prst="straightConnector1">
            <a:avLst/>
          </a:prstGeom>
          <a:ln w="63500">
            <a:solidFill>
              <a:schemeClr val="accent1">
                <a:shade val="50000"/>
                <a:satMod val="103000"/>
                <a:alpha val="34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Scientific </a:t>
            </a:r>
            <a:r>
              <a:rPr lang="en-US" dirty="0" smtClean="0"/>
              <a:t>Analysis </a:t>
            </a:r>
            <a:r>
              <a:rPr lang="en-US" dirty="0"/>
              <a:t>Server - Logical Overview</a:t>
            </a:r>
          </a:p>
        </p:txBody>
      </p:sp>
      <p:sp>
        <p:nvSpPr>
          <p:cNvPr id="7" name="Can 6"/>
          <p:cNvSpPr/>
          <p:nvPr/>
        </p:nvSpPr>
        <p:spPr>
          <a:xfrm>
            <a:off x="3048000" y="2209800"/>
            <a:ext cx="1524000" cy="15240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Server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3400" y="1828800"/>
            <a:ext cx="1524000" cy="762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Ingest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895600"/>
            <a:ext cx="1524000" cy="1143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Quality Assessment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334000" y="1066800"/>
            <a:ext cx="1752600" cy="76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Mining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334000" y="2057400"/>
            <a:ext cx="1828800" cy="762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Cubes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334000" y="2971800"/>
            <a:ext cx="1828800" cy="1371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Cross-Data Set Quality Assessment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819400" y="4419600"/>
            <a:ext cx="1828800" cy="1371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Science Specific Computations</a:t>
            </a:r>
            <a:endParaRPr lang="en-US" dirty="0"/>
          </a:p>
        </p:txBody>
      </p:sp>
      <p:cxnSp>
        <p:nvCxnSpPr>
          <p:cNvPr id="16" name="Straight Connector 15"/>
          <p:cNvCxnSpPr>
            <a:stCxn id="9" idx="3"/>
            <a:endCxn id="7" idx="2"/>
          </p:cNvCxnSpPr>
          <p:nvPr/>
        </p:nvCxnSpPr>
        <p:spPr>
          <a:xfrm>
            <a:off x="2057400" y="2209800"/>
            <a:ext cx="99060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3"/>
            <a:endCxn id="7" idx="2"/>
          </p:cNvCxnSpPr>
          <p:nvPr/>
        </p:nvCxnSpPr>
        <p:spPr>
          <a:xfrm flipV="1">
            <a:off x="2057400" y="2971800"/>
            <a:ext cx="990600" cy="495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4" idx="0"/>
            <a:endCxn id="7" idx="3"/>
          </p:cNvCxnSpPr>
          <p:nvPr/>
        </p:nvCxnSpPr>
        <p:spPr>
          <a:xfrm rot="5400000" flipH="1" flipV="1">
            <a:off x="3429000" y="4038600"/>
            <a:ext cx="6858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11" idx="1"/>
            <a:endCxn id="7" idx="4"/>
          </p:cNvCxnSpPr>
          <p:nvPr/>
        </p:nvCxnSpPr>
        <p:spPr>
          <a:xfrm rot="10800000" flipV="1">
            <a:off x="4572000" y="1447800"/>
            <a:ext cx="762000" cy="1524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7" idx="4"/>
            <a:endCxn id="12" idx="1"/>
          </p:cNvCxnSpPr>
          <p:nvPr/>
        </p:nvCxnSpPr>
        <p:spPr>
          <a:xfrm flipV="1">
            <a:off x="4572000" y="2438400"/>
            <a:ext cx="762000" cy="533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7" idx="4"/>
            <a:endCxn id="13" idx="1"/>
          </p:cNvCxnSpPr>
          <p:nvPr/>
        </p:nvCxnSpPr>
        <p:spPr>
          <a:xfrm>
            <a:off x="4572000" y="2971800"/>
            <a:ext cx="762000" cy="685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334000" y="4495800"/>
            <a:ext cx="1828800" cy="152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Regional and Global Level Synthesis of Data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Ideal Science Server</a:t>
            </a:r>
            <a:endParaRPr lang="en-US" dirty="0"/>
          </a:p>
        </p:txBody>
      </p:sp>
      <p:pic>
        <p:nvPicPr>
          <p:cNvPr id="6" name="Picture 5" descr="csv-as-exce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2819400"/>
            <a:ext cx="1129883" cy="575295"/>
          </a:xfrm>
          <a:prstGeom prst="rect">
            <a:avLst/>
          </a:prstGeom>
        </p:spPr>
      </p:pic>
      <p:pic>
        <p:nvPicPr>
          <p:cNvPr id="7" name="Picture 6" descr="ornl-csv-fil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5800" y="3200400"/>
            <a:ext cx="832474" cy="457200"/>
          </a:xfrm>
          <a:prstGeom prst="rect">
            <a:avLst/>
          </a:prstGeom>
        </p:spPr>
      </p:pic>
      <p:pic>
        <p:nvPicPr>
          <p:cNvPr id="8" name="Picture 7" descr="data-images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1000" y="3429000"/>
            <a:ext cx="430845" cy="457200"/>
          </a:xfrm>
          <a:prstGeom prst="rect">
            <a:avLst/>
          </a:prstGeom>
        </p:spPr>
      </p:pic>
      <p:sp>
        <p:nvSpPr>
          <p:cNvPr id="9" name="Trapezoid 8"/>
          <p:cNvSpPr/>
          <p:nvPr/>
        </p:nvSpPr>
        <p:spPr>
          <a:xfrm rot="5400000">
            <a:off x="1504950" y="3143250"/>
            <a:ext cx="1752600" cy="647700"/>
          </a:xfrm>
          <a:prstGeom prst="trapezoid">
            <a:avLst>
              <a:gd name="adj" fmla="val 8721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Ingest</a:t>
            </a:r>
            <a:endParaRPr lang="en-US" dirty="0"/>
          </a:p>
        </p:txBody>
      </p:sp>
      <p:sp>
        <p:nvSpPr>
          <p:cNvPr id="10" name="Can 9"/>
          <p:cNvSpPr/>
          <p:nvPr/>
        </p:nvSpPr>
        <p:spPr>
          <a:xfrm>
            <a:off x="2743200" y="2209800"/>
            <a:ext cx="1524000" cy="2362200"/>
          </a:xfrm>
          <a:prstGeom prst="can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1981200" cy="1600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Standardized Data Mining and Statistical Computations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4572000" y="3657600"/>
            <a:ext cx="1981200" cy="1600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Investigator Supplied Science Computations</a:t>
            </a:r>
            <a:endParaRPr lang="en-US" dirty="0"/>
          </a:p>
        </p:txBody>
      </p:sp>
      <p:pic>
        <p:nvPicPr>
          <p:cNvPr id="14" name="Picture 13" descr="Sharepoint-report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781800" y="2286000"/>
            <a:ext cx="1702480" cy="949395"/>
          </a:xfrm>
          <a:prstGeom prst="rect">
            <a:avLst/>
          </a:prstGeom>
        </p:spPr>
      </p:pic>
      <p:pic>
        <p:nvPicPr>
          <p:cNvPr id="15" name="Picture 14" descr="proclarity-nee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934200" y="3124200"/>
            <a:ext cx="1731114" cy="1160825"/>
          </a:xfrm>
          <a:prstGeom prst="rect">
            <a:avLst/>
          </a:prstGeom>
        </p:spPr>
      </p:pic>
      <p:pic>
        <p:nvPicPr>
          <p:cNvPr id="16" name="Picture 15" descr="pivot-tabl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781799" y="4114800"/>
            <a:ext cx="1560049" cy="762000"/>
          </a:xfrm>
          <a:prstGeom prst="rect">
            <a:avLst/>
          </a:prstGeom>
        </p:spPr>
      </p:pic>
      <p:cxnSp>
        <p:nvCxnSpPr>
          <p:cNvPr id="18" name="Straight Connector 17"/>
          <p:cNvCxnSpPr>
            <a:stCxn id="10" idx="4"/>
          </p:cNvCxnSpPr>
          <p:nvPr/>
        </p:nvCxnSpPr>
        <p:spPr>
          <a:xfrm flipV="1">
            <a:off x="4267200" y="2514600"/>
            <a:ext cx="304800" cy="876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0" idx="4"/>
            <a:endCxn id="12" idx="1"/>
          </p:cNvCxnSpPr>
          <p:nvPr/>
        </p:nvCxnSpPr>
        <p:spPr>
          <a:xfrm>
            <a:off x="4267200" y="3390900"/>
            <a:ext cx="304800" cy="1066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600200" y="1295400"/>
            <a:ext cx="5105400" cy="441960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9" descr="j019538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696200" y="5029200"/>
            <a:ext cx="914400" cy="836206"/>
          </a:xfrm>
          <a:prstGeom prst="rect">
            <a:avLst/>
          </a:prstGeom>
          <a:noFill/>
        </p:spPr>
      </p:pic>
      <p:pic>
        <p:nvPicPr>
          <p:cNvPr id="19" name="Picture 18" descr="MPj04019530000[1]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62800" y="1447800"/>
            <a:ext cx="954088" cy="635000"/>
          </a:xfrm>
          <a:prstGeom prst="rect">
            <a:avLst/>
          </a:prstGeom>
          <a:noFill/>
        </p:spPr>
      </p:pic>
      <p:pic>
        <p:nvPicPr>
          <p:cNvPr id="22" name="Picture 2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077200" y="1371600"/>
            <a:ext cx="8001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251</TotalTime>
  <Words>415</Words>
  <Application>Microsoft Office PowerPoint</Application>
  <PresentationFormat>On-screen Show (4:3)</PresentationFormat>
  <Paragraphs>104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Concourse</vt:lpstr>
      <vt:lpstr>Building A Scientific Data Analysis Server</vt:lpstr>
      <vt:lpstr>Excellent Data Archives Available</vt:lpstr>
      <vt:lpstr>Slide 3</vt:lpstr>
      <vt:lpstr>FLUXNET Synthesis Dataset Overview</vt:lpstr>
      <vt:lpstr>Slide 5</vt:lpstr>
      <vt:lpstr>Example Carbon-Climate Investigations</vt:lpstr>
      <vt:lpstr>Russian River Data</vt:lpstr>
      <vt:lpstr>Example Russian River Investigations</vt:lpstr>
      <vt:lpstr>Measurements Are Often Not Simple or Complete</vt:lpstr>
      <vt:lpstr>Scientific Data Server</vt:lpstr>
      <vt:lpstr>Scientific Analysis Server - Logical Overview</vt:lpstr>
      <vt:lpstr>Ideal Science Server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Scientific Data Analysis Server</dc:title>
  <dc:creator>Deb</dc:creator>
  <cp:lastModifiedBy>Deb</cp:lastModifiedBy>
  <cp:revision>37</cp:revision>
  <dcterms:created xsi:type="dcterms:W3CDTF">2007-10-12T16:00:55Z</dcterms:created>
  <dcterms:modified xsi:type="dcterms:W3CDTF">2007-10-12T22:08:07Z</dcterms:modified>
</cp:coreProperties>
</file>