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20"/>
  </p:notesMasterIdLst>
  <p:sldIdLst>
    <p:sldId id="256" r:id="rId2"/>
    <p:sldId id="273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74DAE-6705-4686-8920-E549B951F076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5F8D4-F856-43F4-AE03-27DEF81458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071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B5F8D4-F856-43F4-AE03-27DEF81458A4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641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CA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06063B56-1911-4FD7-8BD0-D461D9794777}" type="datetimeFigureOut">
              <a:rPr lang="en-CA" smtClean="0"/>
              <a:t>20/07/2011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D1735C79-0EE1-47A0-AB81-6961C5D9A387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sz="2400" dirty="0" smtClean="0"/>
              <a:t>What is the meaning of life? How to discover meaning according to Viktor Frankl</a:t>
            </a:r>
            <a:endParaRPr lang="en-CA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6000" dirty="0" smtClean="0"/>
              <a:t>Lesson</a:t>
            </a:r>
            <a:r>
              <a:rPr lang="en-CA" sz="7000" dirty="0" smtClean="0"/>
              <a:t> 4</a:t>
            </a:r>
            <a:endParaRPr lang="en-CA" sz="7000" dirty="0"/>
          </a:p>
        </p:txBody>
      </p:sp>
    </p:spTree>
    <p:extLst>
      <p:ext uri="{BB962C8B-B14F-4D97-AF65-F5344CB8AC3E}">
        <p14:creationId xmlns:p14="http://schemas.microsoft.com/office/powerpoint/2010/main" val="171434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0999" y="1719071"/>
            <a:ext cx="8407893" cy="3798161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endParaRPr lang="en-CA" sz="2400" dirty="0" smtClean="0"/>
          </a:p>
          <a:p>
            <a:pPr marL="45720" indent="0" algn="ctr">
              <a:buNone/>
            </a:pPr>
            <a:r>
              <a:rPr lang="en-CA" sz="2400" dirty="0" smtClean="0"/>
              <a:t>To clarify </a:t>
            </a:r>
            <a:r>
              <a:rPr lang="en-CA" sz="2400" dirty="0"/>
              <a:t>the concept of meaning of life as the foundation for survival and flourishing.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Objective of this Lesson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2260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0999" y="1719071"/>
            <a:ext cx="5487145" cy="4407408"/>
          </a:xfrm>
        </p:spPr>
        <p:txBody>
          <a:bodyPr>
            <a:normAutofit fontScale="92500" lnSpcReduction="10000"/>
          </a:bodyPr>
          <a:lstStyle/>
          <a:p>
            <a:r>
              <a:rPr lang="en-CA" sz="2400" dirty="0" smtClean="0">
                <a:solidFill>
                  <a:schemeClr val="tx2"/>
                </a:solidFill>
              </a:rPr>
              <a:t>Born in a time of peace and prosperity.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It focuses on what is right and good about people.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Emphasizes pursuit of happiness and success.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PERMA: positive emotion, engagement, relationship, meaning and accomplishment (Seligman, 2011).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Achieved through activities designed to enhance each element of PERMA.</a:t>
            </a:r>
            <a:endParaRPr lang="en-CA" sz="2400" dirty="0">
              <a:solidFill>
                <a:schemeClr val="tx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sz="4000" b="1" dirty="0" smtClean="0"/>
              <a:t>The American Vision of the </a:t>
            </a:r>
            <a:br>
              <a:rPr lang="en-CA" sz="4000" b="1" dirty="0" smtClean="0"/>
            </a:br>
            <a:r>
              <a:rPr lang="en-CA" sz="4000" b="1" dirty="0" smtClean="0"/>
              <a:t>Good Life</a:t>
            </a:r>
            <a:endParaRPr lang="en-CA" sz="4000" b="1" dirty="0"/>
          </a:p>
        </p:txBody>
      </p:sp>
      <p:pic>
        <p:nvPicPr>
          <p:cNvPr id="2050" name="Picture 2" descr="C:\Users\Paul\Documents\My Dropbox\my documents\M4L\ppt images\Lesson 4 ppt images\forbes_cover101110_news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703" y="1772816"/>
            <a:ext cx="2611737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Paul\Documents\My Dropbox\My Documents\M4L\ppt images\Lesson 4 ppt images\astonsuper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83" b="16461"/>
          <a:stretch/>
        </p:blipFill>
        <p:spPr bwMode="auto">
          <a:xfrm>
            <a:off x="5920703" y="5249214"/>
            <a:ext cx="2611737" cy="113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18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0999" y="1719071"/>
            <a:ext cx="8407893" cy="2718041"/>
          </a:xfrm>
        </p:spPr>
        <p:txBody>
          <a:bodyPr>
            <a:normAutofit/>
          </a:bodyPr>
          <a:lstStyle/>
          <a:p>
            <a:r>
              <a:rPr lang="en-CA" sz="2400" dirty="0" smtClean="0">
                <a:solidFill>
                  <a:schemeClr val="tx2"/>
                </a:solidFill>
              </a:rPr>
              <a:t>Born in a time of war and suffering.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Focuses on both what is wrong and what is right.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Emphasizes the human potential for living a meaningful and responsible life.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Concerned with the pursuit of meaning and responsibility.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sz="4000" b="1" dirty="0" smtClean="0"/>
              <a:t>Viktor </a:t>
            </a:r>
            <a:r>
              <a:rPr lang="en-CA" sz="4000" b="1" dirty="0" err="1" smtClean="0"/>
              <a:t>Frankl’s</a:t>
            </a:r>
            <a:r>
              <a:rPr lang="en-CA" sz="4000" b="1" dirty="0" smtClean="0"/>
              <a:t> Vision of the</a:t>
            </a:r>
            <a:br>
              <a:rPr lang="en-CA" sz="4000" b="1" dirty="0" smtClean="0"/>
            </a:br>
            <a:r>
              <a:rPr lang="en-CA" sz="4000" b="1" dirty="0" smtClean="0"/>
              <a:t>Good Life</a:t>
            </a:r>
            <a:endParaRPr lang="en-CA" sz="4000" b="1" dirty="0"/>
          </a:p>
        </p:txBody>
      </p:sp>
      <p:pic>
        <p:nvPicPr>
          <p:cNvPr id="3074" name="Picture 2" descr="C:\Users\Paul\Documents\My Dropbox\my documents\M4L\ppt images\Lesson 4 ppt images\Auschwitz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8" b="4285"/>
          <a:stretch/>
        </p:blipFill>
        <p:spPr bwMode="auto">
          <a:xfrm>
            <a:off x="5144704" y="4005064"/>
            <a:ext cx="3603760" cy="2241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395536" y="4139959"/>
            <a:ext cx="4824536" cy="2718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sz="2000" kern="1200" spc="15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1800" kern="1200" spc="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itchFamily="2" charset="2"/>
              <a:buChar char="§"/>
              <a:defRPr sz="1600" kern="1200" spc="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" pitchFamily="2" charset="2"/>
              <a:buChar char="§"/>
              <a:defRPr sz="1300" kern="1200" spc="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 smtClean="0"/>
              <a:t>Emphasizes the spiritual core and self-transcendence.</a:t>
            </a:r>
          </a:p>
          <a:p>
            <a:r>
              <a:rPr lang="en-CA" sz="2400" dirty="0" err="1" smtClean="0"/>
              <a:t>Frankl’s</a:t>
            </a:r>
            <a:r>
              <a:rPr lang="en-CA" sz="2400" dirty="0" smtClean="0"/>
              <a:t> 3 basic tenets of </a:t>
            </a:r>
            <a:r>
              <a:rPr lang="en-CA" sz="2400" dirty="0" err="1" smtClean="0"/>
              <a:t>logotherapy</a:t>
            </a:r>
            <a:r>
              <a:rPr lang="en-CA" sz="2400" dirty="0" smtClean="0"/>
              <a:t>: freedom of will, will to meaning, and meaning of life.</a:t>
            </a:r>
          </a:p>
          <a:p>
            <a:endParaRPr lang="en-CA" sz="2400" dirty="0" smtClean="0"/>
          </a:p>
        </p:txBody>
      </p:sp>
    </p:spTree>
    <p:extLst>
      <p:ext uri="{BB962C8B-B14F-4D97-AF65-F5344CB8AC3E}">
        <p14:creationId xmlns:p14="http://schemas.microsoft.com/office/powerpoint/2010/main" val="19452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 smtClean="0">
                <a:solidFill>
                  <a:schemeClr val="tx2"/>
                </a:solidFill>
              </a:rPr>
              <a:t>Normal circumstances vs. extreme or noxious situations.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What I can get from life? vs. What does life demand of me?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Individualism vs. </a:t>
            </a:r>
            <a:r>
              <a:rPr lang="en-CA" sz="2400" dirty="0" smtClean="0">
                <a:solidFill>
                  <a:schemeClr val="tx2"/>
                </a:solidFill>
              </a:rPr>
              <a:t>collectivism</a:t>
            </a:r>
            <a:endParaRPr lang="en-CA" sz="2400" dirty="0" smtClean="0">
              <a:solidFill>
                <a:schemeClr val="tx2"/>
              </a:solidFill>
            </a:endParaRPr>
          </a:p>
          <a:p>
            <a:r>
              <a:rPr lang="en-CA" sz="2400" dirty="0" smtClean="0">
                <a:solidFill>
                  <a:schemeClr val="tx2"/>
                </a:solidFill>
              </a:rPr>
              <a:t>Molecular vs. holistic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Bottom-up vs. top-down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Outside-in vs. inside-out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Cognitive-behaviour vs. existential-spiritual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sz="4000" b="1" dirty="0" smtClean="0"/>
              <a:t>Contrast between the Two Visions</a:t>
            </a:r>
            <a:endParaRPr lang="en-CA" sz="4000" b="1" dirty="0"/>
          </a:p>
        </p:txBody>
      </p:sp>
    </p:spTree>
    <p:extLst>
      <p:ext uri="{BB962C8B-B14F-4D97-AF65-F5344CB8AC3E}">
        <p14:creationId xmlns:p14="http://schemas.microsoft.com/office/powerpoint/2010/main" val="65168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sz="2400" dirty="0" smtClean="0">
                <a:solidFill>
                  <a:schemeClr val="tx2"/>
                </a:solidFill>
              </a:rPr>
              <a:t>Different assumptions, worldviews, life orientations and approaches.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Complement each other but have very different implications.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Only empirical research can determine which approach is better.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Meaning approach is more appropriate when lives going through challenges.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Meaning approach integrates and adapts happiness-inducing and strength-enhancing exercises with priority on awakening and fulfilling meaning and responsibility.</a:t>
            </a:r>
            <a:endParaRPr lang="en-CA" sz="2400" dirty="0">
              <a:solidFill>
                <a:schemeClr val="tx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sz="4000" b="1" dirty="0" smtClean="0"/>
              <a:t>Integrating the Two Approaches</a:t>
            </a:r>
            <a:endParaRPr lang="en-CA" sz="4000" b="1" dirty="0"/>
          </a:p>
        </p:txBody>
      </p:sp>
    </p:spTree>
    <p:extLst>
      <p:ext uri="{BB962C8B-B14F-4D97-AF65-F5344CB8AC3E}">
        <p14:creationId xmlns:p14="http://schemas.microsoft.com/office/powerpoint/2010/main" val="65168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64025" y="1628800"/>
            <a:ext cx="5700463" cy="5022298"/>
          </a:xfrm>
        </p:spPr>
        <p:txBody>
          <a:bodyPr>
            <a:normAutofit lnSpcReduction="10000"/>
          </a:bodyPr>
          <a:lstStyle/>
          <a:p>
            <a:r>
              <a:rPr lang="en-CA" sz="2400" dirty="0" smtClean="0">
                <a:solidFill>
                  <a:schemeClr val="tx2"/>
                </a:solidFill>
              </a:rPr>
              <a:t>The noetic dimension of the human spirit contains our healthy spiritual core.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Characterized by uniquely human attributes.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Remains healthy but can be blocked by existential anxieties, worldly concerns and materialistic pursuits.</a:t>
            </a:r>
          </a:p>
          <a:p>
            <a:r>
              <a:rPr lang="en-CA" sz="2400" dirty="0" err="1" smtClean="0">
                <a:solidFill>
                  <a:schemeClr val="tx2"/>
                </a:solidFill>
              </a:rPr>
              <a:t>Logotherapy</a:t>
            </a:r>
            <a:r>
              <a:rPr lang="en-CA" sz="2400" dirty="0" smtClean="0">
                <a:solidFill>
                  <a:schemeClr val="tx2"/>
                </a:solidFill>
              </a:rPr>
              <a:t> seeks to remove these blockages and awaken will to meaning.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Can squeeze meaning from life and turn suffering into triumph.</a:t>
            </a:r>
            <a:endParaRPr lang="en-CA" sz="2400" dirty="0">
              <a:solidFill>
                <a:schemeClr val="tx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b="1" dirty="0" smtClean="0"/>
              <a:t>The Spiritual Core</a:t>
            </a:r>
            <a:endParaRPr lang="en-CA" sz="4000" b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5" r="7624"/>
          <a:stretch/>
        </p:blipFill>
        <p:spPr bwMode="auto">
          <a:xfrm>
            <a:off x="179512" y="2507974"/>
            <a:ext cx="3140022" cy="3153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168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0999" y="1719071"/>
            <a:ext cx="8407893" cy="2213985"/>
          </a:xfrm>
        </p:spPr>
        <p:txBody>
          <a:bodyPr>
            <a:normAutofit/>
          </a:bodyPr>
          <a:lstStyle/>
          <a:p>
            <a:r>
              <a:rPr lang="en-CA" sz="2400" dirty="0" smtClean="0">
                <a:solidFill>
                  <a:schemeClr val="tx2"/>
                </a:solidFill>
              </a:rPr>
              <a:t>Essential to living a meaningful and spiritual life.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Enables us to rise above external and internal constraints.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Allows </a:t>
            </a:r>
            <a:r>
              <a:rPr lang="en-CA" sz="2400" dirty="0">
                <a:solidFill>
                  <a:schemeClr val="tx2"/>
                </a:solidFill>
              </a:rPr>
              <a:t>us to reach beyond ourselves to people we love or causes we care about</a:t>
            </a:r>
            <a:r>
              <a:rPr lang="en-CA" sz="2400" dirty="0" smtClean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CA" sz="4000" b="1" dirty="0" smtClean="0"/>
              <a:t>Self-Transcendence</a:t>
            </a:r>
            <a:endParaRPr lang="en-CA" sz="4000" b="1" dirty="0"/>
          </a:p>
        </p:txBody>
      </p:sp>
      <p:pic>
        <p:nvPicPr>
          <p:cNvPr id="5123" name="Picture 3" descr="C:\Users\Paul\Documents\My Dropbox\My Documents\M4L\ppt images\Lesson 4 ppt images\MotherTeres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807" y="3477344"/>
            <a:ext cx="233362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380999" y="3755857"/>
            <a:ext cx="5847185" cy="2409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sz="2000" kern="1200" spc="15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1800" kern="1200" spc="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itchFamily="2" charset="2"/>
              <a:buChar char="§"/>
              <a:defRPr sz="1600" kern="1200" spc="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" pitchFamily="2" charset="2"/>
              <a:buChar char="§"/>
              <a:defRPr sz="1300" kern="1200" spc="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 smtClean="0"/>
              <a:t>Self-actualization is a side-effect of self-transcendence.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3959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i="1" dirty="0">
                <a:solidFill>
                  <a:schemeClr val="tx2"/>
                </a:solidFill>
              </a:rPr>
              <a:t>“A strong will to meaning promotes human health, both physically and mentally, and prolongs, as well as preserves, life” </a:t>
            </a:r>
            <a:r>
              <a:rPr lang="en-CA" sz="2400" dirty="0" smtClean="0">
                <a:solidFill>
                  <a:schemeClr val="tx2"/>
                </a:solidFill>
              </a:rPr>
              <a:t>– Graber, </a:t>
            </a:r>
            <a:r>
              <a:rPr lang="en-CA" sz="2400" dirty="0">
                <a:solidFill>
                  <a:schemeClr val="tx2"/>
                </a:solidFill>
              </a:rPr>
              <a:t>2004, p. </a:t>
            </a:r>
            <a:r>
              <a:rPr lang="en-CA" sz="2400" dirty="0" smtClean="0">
                <a:solidFill>
                  <a:schemeClr val="tx2"/>
                </a:solidFill>
              </a:rPr>
              <a:t>65</a:t>
            </a:r>
          </a:p>
          <a:p>
            <a:pPr marL="0" indent="0">
              <a:buNone/>
            </a:pPr>
            <a:endParaRPr lang="en-CA" sz="2400" dirty="0">
              <a:solidFill>
                <a:schemeClr val="tx2"/>
              </a:solidFill>
            </a:endParaRPr>
          </a:p>
          <a:p>
            <a:r>
              <a:rPr lang="en-CA" sz="2400" dirty="0" smtClean="0">
                <a:solidFill>
                  <a:schemeClr val="tx2"/>
                </a:solidFill>
              </a:rPr>
              <a:t>High score on PERMA but still empty if have not experienced meaning in the 5 major domains of life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Life satisfaction only when discover and experience meaning in life, relationship, work, suffering, and death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Meaning provides reasons for living and basis for well-being</a:t>
            </a:r>
            <a:endParaRPr lang="en-CA" sz="2400" dirty="0">
              <a:solidFill>
                <a:schemeClr val="tx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b="1" dirty="0" smtClean="0"/>
              <a:t>Importance of Meaning</a:t>
            </a:r>
            <a:endParaRPr lang="en-CA" sz="4000" b="1" dirty="0"/>
          </a:p>
        </p:txBody>
      </p:sp>
    </p:spTree>
    <p:extLst>
      <p:ext uri="{BB962C8B-B14F-4D97-AF65-F5344CB8AC3E}">
        <p14:creationId xmlns:p14="http://schemas.microsoft.com/office/powerpoint/2010/main" val="13959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b="1" dirty="0" smtClean="0">
                <a:solidFill>
                  <a:schemeClr val="tx2"/>
                </a:solidFill>
              </a:rPr>
              <a:t>Existential vacuum: </a:t>
            </a:r>
            <a:r>
              <a:rPr lang="en-CA" sz="2400" dirty="0" smtClean="0">
                <a:solidFill>
                  <a:schemeClr val="tx2"/>
                </a:solidFill>
              </a:rPr>
              <a:t>A general sense </a:t>
            </a:r>
            <a:r>
              <a:rPr lang="en-CA" sz="2400" dirty="0">
                <a:solidFill>
                  <a:schemeClr val="tx2"/>
                </a:solidFill>
              </a:rPr>
              <a:t>of meaninglessness and </a:t>
            </a:r>
            <a:r>
              <a:rPr lang="en-CA" sz="2400" dirty="0" smtClean="0">
                <a:solidFill>
                  <a:schemeClr val="tx2"/>
                </a:solidFill>
              </a:rPr>
              <a:t>inner </a:t>
            </a:r>
            <a:r>
              <a:rPr lang="en-CA" sz="2400" dirty="0">
                <a:solidFill>
                  <a:schemeClr val="tx2"/>
                </a:solidFill>
              </a:rPr>
              <a:t>void typically manifest itself in a state of boredom, but persistent and serious types of meaninglessness is related to tragic triad and neurotic triad</a:t>
            </a:r>
            <a:r>
              <a:rPr lang="en-CA" sz="2400" dirty="0" smtClean="0">
                <a:solidFill>
                  <a:schemeClr val="tx2"/>
                </a:solidFill>
              </a:rPr>
              <a:t>.</a:t>
            </a:r>
          </a:p>
          <a:p>
            <a:r>
              <a:rPr lang="en-CA" sz="2400" b="1" dirty="0" smtClean="0">
                <a:solidFill>
                  <a:schemeClr val="tx2"/>
                </a:solidFill>
              </a:rPr>
              <a:t>Tragic Triad: </a:t>
            </a:r>
            <a:r>
              <a:rPr lang="en-CA" sz="2400" dirty="0" smtClean="0">
                <a:solidFill>
                  <a:schemeClr val="tx2"/>
                </a:solidFill>
              </a:rPr>
              <a:t>pain, guilt, death</a:t>
            </a:r>
          </a:p>
          <a:p>
            <a:r>
              <a:rPr lang="en-CA" sz="2400" b="1" dirty="0" smtClean="0">
                <a:solidFill>
                  <a:schemeClr val="tx2"/>
                </a:solidFill>
              </a:rPr>
              <a:t>Neurotic Triad: </a:t>
            </a:r>
            <a:r>
              <a:rPr lang="en-CA" sz="2400" dirty="0" smtClean="0">
                <a:solidFill>
                  <a:schemeClr val="tx2"/>
                </a:solidFill>
              </a:rPr>
              <a:t>depression, aggression, addiction</a:t>
            </a:r>
            <a:endParaRPr lang="en-CA" sz="2400" dirty="0">
              <a:solidFill>
                <a:schemeClr val="tx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b="1" dirty="0" smtClean="0"/>
              <a:t>Definitions</a:t>
            </a:r>
            <a:endParaRPr lang="en-CA" sz="4000" b="1" dirty="0"/>
          </a:p>
        </p:txBody>
      </p:sp>
      <p:grpSp>
        <p:nvGrpSpPr>
          <p:cNvPr id="31" name="Group 30"/>
          <p:cNvGrpSpPr/>
          <p:nvPr/>
        </p:nvGrpSpPr>
        <p:grpSpPr>
          <a:xfrm>
            <a:off x="4788024" y="4581128"/>
            <a:ext cx="2176145" cy="1876425"/>
            <a:chOff x="0" y="0"/>
            <a:chExt cx="2176653" cy="1876425"/>
          </a:xfrm>
          <a:solidFill>
            <a:schemeClr val="bg1"/>
          </a:solidFill>
        </p:grpSpPr>
        <p:grpSp>
          <p:nvGrpSpPr>
            <p:cNvPr id="32" name="Group 31"/>
            <p:cNvGrpSpPr/>
            <p:nvPr/>
          </p:nvGrpSpPr>
          <p:grpSpPr>
            <a:xfrm>
              <a:off x="0" y="0"/>
              <a:ext cx="2176653" cy="1876425"/>
              <a:chOff x="0" y="0"/>
              <a:chExt cx="2176653" cy="1876425"/>
            </a:xfrm>
            <a:grpFill/>
          </p:grpSpPr>
          <p:grpSp>
            <p:nvGrpSpPr>
              <p:cNvPr id="34" name="Group 33"/>
              <p:cNvGrpSpPr/>
              <p:nvPr/>
            </p:nvGrpSpPr>
            <p:grpSpPr>
              <a:xfrm>
                <a:off x="0" y="0"/>
                <a:ext cx="2176653" cy="1876425"/>
                <a:chOff x="0" y="0"/>
                <a:chExt cx="2176653" cy="1876425"/>
              </a:xfrm>
              <a:grpFill/>
            </p:grpSpPr>
            <p:grpSp>
              <p:nvGrpSpPr>
                <p:cNvPr id="36" name="Group 35"/>
                <p:cNvGrpSpPr/>
                <p:nvPr/>
              </p:nvGrpSpPr>
              <p:grpSpPr>
                <a:xfrm>
                  <a:off x="0" y="0"/>
                  <a:ext cx="2176653" cy="1876425"/>
                  <a:chOff x="0" y="0"/>
                  <a:chExt cx="2176653" cy="1876425"/>
                </a:xfrm>
                <a:grpFill/>
              </p:grpSpPr>
              <p:sp>
                <p:nvSpPr>
                  <p:cNvPr id="38" name="Isosceles Triangle 37"/>
                  <p:cNvSpPr/>
                  <p:nvPr/>
                </p:nvSpPr>
                <p:spPr>
                  <a:xfrm>
                    <a:off x="0" y="0"/>
                    <a:ext cx="2176653" cy="1876425"/>
                  </a:xfrm>
                  <a:prstGeom prst="triangl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CA"/>
                  </a:p>
                </p:txBody>
              </p:sp>
              <p:sp>
                <p:nvSpPr>
                  <p:cNvPr id="39" name="Text 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2321" y="1590043"/>
                    <a:ext cx="790759" cy="271779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algn="r">
                      <a:spcAft>
                        <a:spcPts val="0"/>
                      </a:spcAft>
                    </a:pPr>
                    <a:r>
                      <a:rPr lang="en-CA" sz="1100">
                        <a:effectLst/>
                        <a:latin typeface="Calibri"/>
                        <a:ea typeface="Calibri"/>
                        <a:cs typeface="Times New Roman"/>
                      </a:rPr>
                      <a:t>addiction</a:t>
                    </a:r>
                  </a:p>
                </p:txBody>
              </p:sp>
            </p:grpSp>
            <p:sp>
              <p:nvSpPr>
                <p:cNvPr id="37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523998" y="1081404"/>
                  <a:ext cx="1123908" cy="441959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en-CA" sz="1100" b="1">
                      <a:effectLst/>
                      <a:latin typeface="Calibri"/>
                      <a:ea typeface="Calibri"/>
                      <a:cs typeface="Times New Roman"/>
                    </a:rPr>
                    <a:t>The Neurotic Triad</a:t>
                  </a:r>
                  <a:endParaRPr lang="en-CA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p:grpSp>
          <p:sp>
            <p:nvSpPr>
              <p:cNvPr id="35" name="Text Box 2"/>
              <p:cNvSpPr txBox="1">
                <a:spLocks noChangeArrowheads="1"/>
              </p:cNvSpPr>
              <p:nvPr/>
            </p:nvSpPr>
            <p:spPr bwMode="auto">
              <a:xfrm>
                <a:off x="676433" y="733425"/>
                <a:ext cx="828867" cy="271779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CA" sz="1100">
                    <a:effectLst/>
                    <a:latin typeface="Calibri"/>
                    <a:ea typeface="Calibri"/>
                    <a:cs typeface="Times New Roman"/>
                  </a:rPr>
                  <a:t>depression</a:t>
                </a:r>
              </a:p>
            </p:txBody>
          </p:sp>
        </p:grpSp>
        <p:sp>
          <p:nvSpPr>
            <p:cNvPr id="33" name="Text Box 2"/>
            <p:cNvSpPr txBox="1">
              <a:spLocks noChangeArrowheads="1"/>
            </p:cNvSpPr>
            <p:nvPr/>
          </p:nvSpPr>
          <p:spPr bwMode="auto">
            <a:xfrm>
              <a:off x="200023" y="1590043"/>
              <a:ext cx="810448" cy="27177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CA" sz="1100">
                  <a:effectLst/>
                  <a:latin typeface="Calibri"/>
                  <a:ea typeface="Calibri"/>
                  <a:cs typeface="Times New Roman"/>
                </a:rPr>
                <a:t>aggression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963807" y="4566525"/>
            <a:ext cx="2176145" cy="1876425"/>
            <a:chOff x="0" y="0"/>
            <a:chExt cx="2176653" cy="1876425"/>
          </a:xfrm>
          <a:solidFill>
            <a:schemeClr val="bg1"/>
          </a:solidFill>
        </p:grpSpPr>
        <p:grpSp>
          <p:nvGrpSpPr>
            <p:cNvPr id="41" name="Group 40"/>
            <p:cNvGrpSpPr/>
            <p:nvPr/>
          </p:nvGrpSpPr>
          <p:grpSpPr>
            <a:xfrm>
              <a:off x="0" y="0"/>
              <a:ext cx="2176653" cy="1876425"/>
              <a:chOff x="0" y="0"/>
              <a:chExt cx="2176653" cy="1876425"/>
            </a:xfrm>
            <a:grpFill/>
          </p:grpSpPr>
          <p:grpSp>
            <p:nvGrpSpPr>
              <p:cNvPr id="43" name="Group 42"/>
              <p:cNvGrpSpPr/>
              <p:nvPr/>
            </p:nvGrpSpPr>
            <p:grpSpPr>
              <a:xfrm>
                <a:off x="0" y="0"/>
                <a:ext cx="2176653" cy="1876425"/>
                <a:chOff x="0" y="0"/>
                <a:chExt cx="2176653" cy="1876425"/>
              </a:xfrm>
              <a:grpFill/>
            </p:grpSpPr>
            <p:grpSp>
              <p:nvGrpSpPr>
                <p:cNvPr id="45" name="Group 44"/>
                <p:cNvGrpSpPr/>
                <p:nvPr/>
              </p:nvGrpSpPr>
              <p:grpSpPr>
                <a:xfrm>
                  <a:off x="0" y="0"/>
                  <a:ext cx="2176653" cy="1876425"/>
                  <a:chOff x="0" y="0"/>
                  <a:chExt cx="2176653" cy="1876425"/>
                </a:xfrm>
                <a:grpFill/>
              </p:grpSpPr>
              <p:sp>
                <p:nvSpPr>
                  <p:cNvPr id="47" name="Isosceles Triangle 46"/>
                  <p:cNvSpPr/>
                  <p:nvPr/>
                </p:nvSpPr>
                <p:spPr>
                  <a:xfrm>
                    <a:off x="0" y="0"/>
                    <a:ext cx="2176653" cy="1876425"/>
                  </a:xfrm>
                  <a:prstGeom prst="triangl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CA"/>
                  </a:p>
                </p:txBody>
              </p:sp>
              <p:sp>
                <p:nvSpPr>
                  <p:cNvPr id="48" name="Text 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0175" y="1590675"/>
                    <a:ext cx="552450" cy="266700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>
                      <a:spcAft>
                        <a:spcPts val="0"/>
                      </a:spcAft>
                    </a:pPr>
                    <a:r>
                      <a:rPr lang="en-CA" sz="1100">
                        <a:effectLst/>
                        <a:latin typeface="Calibri"/>
                        <a:ea typeface="Calibri"/>
                        <a:cs typeface="Times New Roman"/>
                      </a:rPr>
                      <a:t>death</a:t>
                    </a:r>
                  </a:p>
                </p:txBody>
              </p:sp>
            </p:grpSp>
            <p:sp>
              <p:nvSpPr>
                <p:cNvPr id="46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609600" y="904875"/>
                  <a:ext cx="933450" cy="609600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en-CA" sz="1100" b="1">
                      <a:effectLst/>
                      <a:latin typeface="Calibri"/>
                      <a:ea typeface="Calibri"/>
                      <a:cs typeface="Times New Roman"/>
                    </a:rPr>
                    <a:t>The</a:t>
                  </a:r>
                  <a:endParaRPr lang="en-CA" sz="110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algn="ctr">
                    <a:spcAft>
                      <a:spcPts val="0"/>
                    </a:spcAft>
                  </a:pPr>
                  <a:r>
                    <a:rPr lang="en-CA" sz="1100" b="1">
                      <a:effectLst/>
                      <a:latin typeface="Calibri"/>
                      <a:ea typeface="Calibri"/>
                      <a:cs typeface="Times New Roman"/>
                    </a:rPr>
                    <a:t>Tragic</a:t>
                  </a:r>
                  <a:endParaRPr lang="en-CA" sz="1100">
                    <a:effectLst/>
                    <a:latin typeface="Calibri"/>
                    <a:ea typeface="Calibri"/>
                    <a:cs typeface="Times New Roman"/>
                  </a:endParaRPr>
                </a:p>
                <a:p>
                  <a:pPr algn="ctr">
                    <a:spcAft>
                      <a:spcPts val="0"/>
                    </a:spcAft>
                  </a:pPr>
                  <a:r>
                    <a:rPr lang="en-CA" sz="1100" b="1">
                      <a:effectLst/>
                      <a:latin typeface="Calibri"/>
                      <a:ea typeface="Calibri"/>
                      <a:cs typeface="Times New Roman"/>
                    </a:rPr>
                    <a:t>Triad</a:t>
                  </a:r>
                  <a:endParaRPr lang="en-CA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p:grpSp>
          <p:sp>
            <p:nvSpPr>
              <p:cNvPr id="44" name="Text Box 2"/>
              <p:cNvSpPr txBox="1">
                <a:spLocks noChangeArrowheads="1"/>
              </p:cNvSpPr>
              <p:nvPr/>
            </p:nvSpPr>
            <p:spPr bwMode="auto">
              <a:xfrm>
                <a:off x="857250" y="428625"/>
                <a:ext cx="447675" cy="2667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CA" sz="1100">
                    <a:effectLst/>
                    <a:latin typeface="Calibri"/>
                    <a:ea typeface="Calibri"/>
                    <a:cs typeface="Times New Roman"/>
                  </a:rPr>
                  <a:t>pain</a:t>
                </a:r>
              </a:p>
            </p:txBody>
          </p:sp>
        </p:grpSp>
        <p:sp>
          <p:nvSpPr>
            <p:cNvPr id="42" name="Text Box 2"/>
            <p:cNvSpPr txBox="1">
              <a:spLocks noChangeArrowheads="1"/>
            </p:cNvSpPr>
            <p:nvPr/>
          </p:nvSpPr>
          <p:spPr bwMode="auto">
            <a:xfrm>
              <a:off x="200025" y="1590675"/>
              <a:ext cx="447675" cy="2667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CA" sz="1100" dirty="0">
                  <a:effectLst/>
                  <a:latin typeface="Calibri"/>
                  <a:ea typeface="Calibri"/>
                  <a:cs typeface="Times New Roman"/>
                </a:rPr>
                <a:t>guilt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59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 smtClean="0">
                <a:solidFill>
                  <a:schemeClr val="tx2"/>
                </a:solidFill>
              </a:rPr>
              <a:t>The demand to exercise personal responsibility and human agency.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A sense of responsibility is a prerequisite for living an authentic life.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4 types of misuse of responsibility: relinquishing, abusing, overstepping, depriving others.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Mandate our spiritual core: How should we live? What do I ought to do with my life?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An authentic person must take a stand and make a choice in spite of fear and anxiety.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Freedom of Will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59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Responsibility</a:t>
            </a:r>
            <a:endParaRPr lang="en-CA" dirty="0"/>
          </a:p>
        </p:txBody>
      </p:sp>
      <p:pic>
        <p:nvPicPr>
          <p:cNvPr id="6146" name="Picture 2" descr="areas of responsibilit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9" r="21686" b="11799"/>
          <a:stretch/>
        </p:blipFill>
        <p:spPr bwMode="auto">
          <a:xfrm>
            <a:off x="2431237" y="1772817"/>
            <a:ext cx="4301003" cy="475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80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0999" y="1719070"/>
            <a:ext cx="8407893" cy="4878281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CA" sz="2400" dirty="0"/>
              <a:t>Human beings are not driven primarily by drives and instincts but drawn forward by the pursuit of meaning (Frankl, 1969).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The </a:t>
            </a:r>
            <a:r>
              <a:rPr lang="en-CA" sz="2400" dirty="0">
                <a:solidFill>
                  <a:schemeClr val="tx2"/>
                </a:solidFill>
              </a:rPr>
              <a:t>will to meaning is predicated on the freedom of will and a sense of responsibility. 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The </a:t>
            </a:r>
            <a:r>
              <a:rPr lang="en-CA" sz="2400" dirty="0">
                <a:solidFill>
                  <a:schemeClr val="tx2"/>
                </a:solidFill>
              </a:rPr>
              <a:t>will to meaning is a primary motivation.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It </a:t>
            </a:r>
            <a:r>
              <a:rPr lang="en-CA" sz="2400" dirty="0">
                <a:solidFill>
                  <a:schemeClr val="tx2"/>
                </a:solidFill>
              </a:rPr>
              <a:t>is a basic drive that compels </a:t>
            </a:r>
            <a:r>
              <a:rPr lang="en-CA" sz="2400" dirty="0" smtClean="0">
                <a:solidFill>
                  <a:schemeClr val="tx2"/>
                </a:solidFill>
              </a:rPr>
              <a:t>us. </a:t>
            </a:r>
            <a:endParaRPr lang="en-CA" sz="2400" dirty="0">
              <a:solidFill>
                <a:schemeClr val="tx2"/>
              </a:solidFill>
            </a:endParaRPr>
          </a:p>
          <a:p>
            <a:r>
              <a:rPr lang="en-CA" sz="2400" dirty="0" smtClean="0">
                <a:solidFill>
                  <a:schemeClr val="tx2"/>
                </a:solidFill>
              </a:rPr>
              <a:t>In </a:t>
            </a:r>
            <a:r>
              <a:rPr lang="en-CA" sz="2400" dirty="0">
                <a:solidFill>
                  <a:schemeClr val="tx2"/>
                </a:solidFill>
              </a:rPr>
              <a:t>order to fulfill the will to meaning, individuals need to be prepared psychologically for suffering and death.</a:t>
            </a:r>
          </a:p>
          <a:p>
            <a:r>
              <a:rPr lang="en-CA" sz="2400" dirty="0" smtClean="0">
                <a:solidFill>
                  <a:schemeClr val="tx2"/>
                </a:solidFill>
              </a:rPr>
              <a:t>To </a:t>
            </a:r>
            <a:r>
              <a:rPr lang="en-CA" sz="2400" dirty="0">
                <a:solidFill>
                  <a:schemeClr val="tx2"/>
                </a:solidFill>
              </a:rPr>
              <a:t>challenge a person with a potential meaning to fulfill can help trigger the will to meaning (Frankl, 1985).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b="1" dirty="0" smtClean="0"/>
              <a:t>Will to Meaning</a:t>
            </a:r>
            <a:endParaRPr lang="en-CA" sz="27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9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>
                <a:solidFill>
                  <a:schemeClr val="tx2"/>
                </a:solidFill>
              </a:rPr>
              <a:t>It makes a great difference whether one’s primary objective in life or ultimate concern is meaning and virtue, or happiness and success. </a:t>
            </a:r>
          </a:p>
          <a:p>
            <a:r>
              <a:rPr lang="en-CA" sz="2400" dirty="0">
                <a:solidFill>
                  <a:schemeClr val="tx2"/>
                </a:solidFill>
              </a:rPr>
              <a:t>King Solomon’s book of Ecclesiastes makes it very clear that one can gain the whole world and indulge in all one’s desires and still find life empty.</a:t>
            </a:r>
          </a:p>
          <a:p>
            <a:r>
              <a:rPr lang="en-CA" sz="2400" dirty="0">
                <a:solidFill>
                  <a:schemeClr val="tx2"/>
                </a:solidFill>
              </a:rPr>
              <a:t>A meaning-mindset and a happiness-mindset dictates very different life principles and choices</a:t>
            </a:r>
            <a:r>
              <a:rPr lang="en-CA" sz="2400" dirty="0" smtClean="0">
                <a:solidFill>
                  <a:schemeClr val="tx2"/>
                </a:solidFill>
              </a:rPr>
              <a:t>.</a:t>
            </a:r>
            <a:endParaRPr lang="en-CA" sz="2400" dirty="0">
              <a:solidFill>
                <a:schemeClr val="tx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b="1" dirty="0" smtClean="0"/>
              <a:t>The Ultimate Concern</a:t>
            </a:r>
            <a:endParaRPr lang="en-CA" sz="4000" b="1" dirty="0"/>
          </a:p>
        </p:txBody>
      </p:sp>
    </p:spTree>
    <p:extLst>
      <p:ext uri="{BB962C8B-B14F-4D97-AF65-F5344CB8AC3E}">
        <p14:creationId xmlns:p14="http://schemas.microsoft.com/office/powerpoint/2010/main" val="13959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>
                <a:solidFill>
                  <a:schemeClr val="tx2"/>
                </a:solidFill>
              </a:rPr>
              <a:t>The meaning of life is unique and specific to each person. </a:t>
            </a:r>
          </a:p>
          <a:p>
            <a:r>
              <a:rPr lang="en-CA" sz="2400" dirty="0">
                <a:solidFill>
                  <a:schemeClr val="tx2"/>
                </a:solidFill>
              </a:rPr>
              <a:t>Frankl (1963) emphasizes the discovery rather than the creation of personal meaning.</a:t>
            </a:r>
          </a:p>
          <a:p>
            <a:r>
              <a:rPr lang="en-CA" sz="2400" dirty="0">
                <a:solidFill>
                  <a:schemeClr val="tx2"/>
                </a:solidFill>
              </a:rPr>
              <a:t>“The meaning of our existence is not invented by ourselves, but rather detected” (p. Frankl, 1963, p.133).</a:t>
            </a:r>
          </a:p>
          <a:p>
            <a:r>
              <a:rPr lang="en-CA" sz="2400" dirty="0">
                <a:solidFill>
                  <a:schemeClr val="tx2"/>
                </a:solidFill>
              </a:rPr>
              <a:t>Meaning of life includes both situational and ultimate meaning (Frankl, 1985).</a:t>
            </a:r>
          </a:p>
          <a:p>
            <a:r>
              <a:rPr lang="en-CA" sz="2400" dirty="0">
                <a:solidFill>
                  <a:schemeClr val="tx2"/>
                </a:solidFill>
              </a:rPr>
              <a:t>The search for meaning has to be based on authenticity and time-tested values.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b="1" dirty="0" smtClean="0"/>
              <a:t>The Meaning of Life</a:t>
            </a:r>
            <a:endParaRPr lang="en-CA" sz="4000" b="1" dirty="0"/>
          </a:p>
        </p:txBody>
      </p:sp>
    </p:spTree>
    <p:extLst>
      <p:ext uri="{BB962C8B-B14F-4D97-AF65-F5344CB8AC3E}">
        <p14:creationId xmlns:p14="http://schemas.microsoft.com/office/powerpoint/2010/main" val="13959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75" t="7268" b="16888"/>
          <a:stretch/>
        </p:blipFill>
        <p:spPr bwMode="auto">
          <a:xfrm>
            <a:off x="152400" y="1628800"/>
            <a:ext cx="8812088" cy="5087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0999" y="1719070"/>
            <a:ext cx="8407893" cy="4878282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tx2"/>
                </a:solidFill>
              </a:rPr>
              <a:t>We </a:t>
            </a:r>
            <a:r>
              <a:rPr lang="en-CA" sz="2400" dirty="0" smtClean="0">
                <a:solidFill>
                  <a:schemeClr val="tx2"/>
                </a:solidFill>
              </a:rPr>
              <a:t>can never </a:t>
            </a:r>
            <a:r>
              <a:rPr lang="en-CA" sz="2400" dirty="0">
                <a:solidFill>
                  <a:schemeClr val="tx2"/>
                </a:solidFill>
              </a:rPr>
              <a:t>hope to grasp ultimate meaning in its totality.</a:t>
            </a:r>
          </a:p>
          <a:p>
            <a:r>
              <a:rPr lang="en-CA" sz="2400" dirty="0">
                <a:solidFill>
                  <a:schemeClr val="tx2"/>
                </a:solidFill>
              </a:rPr>
              <a:t>We can never fully understand ultimate </a:t>
            </a:r>
            <a:r>
              <a:rPr lang="en-CA" sz="2400" dirty="0" smtClean="0">
                <a:solidFill>
                  <a:schemeClr val="tx2"/>
                </a:solidFill>
              </a:rPr>
              <a:t>meaning.</a:t>
            </a:r>
          </a:p>
          <a:p>
            <a:r>
              <a:rPr lang="en-CA" sz="2400" dirty="0">
                <a:solidFill>
                  <a:schemeClr val="tx2"/>
                </a:solidFill>
              </a:rPr>
              <a:t>H</a:t>
            </a:r>
            <a:r>
              <a:rPr lang="en-CA" sz="2400" dirty="0" smtClean="0">
                <a:solidFill>
                  <a:schemeClr val="tx2"/>
                </a:solidFill>
              </a:rPr>
              <a:t>aving a sense of one’s calling is an important guide in decision-making and </a:t>
            </a:r>
            <a:r>
              <a:rPr lang="en-CA" sz="2400" dirty="0">
                <a:solidFill>
                  <a:schemeClr val="tx2"/>
                </a:solidFill>
              </a:rPr>
              <a:t>discovering the meaning of the moment.</a:t>
            </a:r>
          </a:p>
          <a:p>
            <a:r>
              <a:rPr lang="en-CA" sz="2400" dirty="0">
                <a:solidFill>
                  <a:schemeClr val="tx2"/>
                </a:solidFill>
              </a:rPr>
              <a:t>When our spiritual call is connected with the demands of ultimate meaning, we discover our calling.</a:t>
            </a:r>
          </a:p>
          <a:p>
            <a:r>
              <a:rPr lang="en-CA" sz="2400" dirty="0">
                <a:solidFill>
                  <a:schemeClr val="tx2"/>
                </a:solidFill>
              </a:rPr>
              <a:t>A musician says that I did not choose music, music chose me.  A pastor may say, I did not choose the ministry, the ministry chose me or God called me.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b="1" dirty="0" smtClean="0"/>
              <a:t>Ultimate Meaning</a:t>
            </a:r>
            <a:endParaRPr lang="en-CA" sz="4000" b="1" dirty="0"/>
          </a:p>
        </p:txBody>
      </p:sp>
    </p:spTree>
    <p:extLst>
      <p:ext uri="{BB962C8B-B14F-4D97-AF65-F5344CB8AC3E}">
        <p14:creationId xmlns:p14="http://schemas.microsoft.com/office/powerpoint/2010/main" val="13959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 err="1" smtClean="0">
                <a:solidFill>
                  <a:schemeClr val="tx2"/>
                </a:solidFill>
              </a:rPr>
              <a:t>Frankl’s</a:t>
            </a:r>
            <a:r>
              <a:rPr lang="en-CA" sz="2400" dirty="0" smtClean="0">
                <a:solidFill>
                  <a:schemeClr val="tx2"/>
                </a:solidFill>
              </a:rPr>
              <a:t> </a:t>
            </a:r>
            <a:r>
              <a:rPr lang="en-CA" sz="2400" dirty="0">
                <a:solidFill>
                  <a:schemeClr val="tx2"/>
                </a:solidFill>
              </a:rPr>
              <a:t>(1985) </a:t>
            </a:r>
            <a:r>
              <a:rPr lang="en-CA" sz="2400" dirty="0" smtClean="0">
                <a:solidFill>
                  <a:schemeClr val="tx2"/>
                </a:solidFill>
              </a:rPr>
              <a:t>three pathways to meaning:</a:t>
            </a:r>
            <a:endParaRPr lang="en-CA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 smtClean="0">
                <a:solidFill>
                  <a:schemeClr val="tx2"/>
                </a:solidFill>
              </a:rPr>
              <a:t>Giving </a:t>
            </a:r>
            <a:r>
              <a:rPr lang="en-CA" sz="2400" dirty="0">
                <a:solidFill>
                  <a:schemeClr val="tx2"/>
                </a:solidFill>
              </a:rPr>
              <a:t>or contributing something to the world through our work.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solidFill>
                  <a:schemeClr val="tx2"/>
                </a:solidFill>
              </a:rPr>
              <a:t>Experiencing something or encountering someone.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solidFill>
                  <a:schemeClr val="tx2"/>
                </a:solidFill>
              </a:rPr>
              <a:t>Choosing a courageous attitude towards unavoidable suffering</a:t>
            </a:r>
            <a:r>
              <a:rPr lang="en-CA" sz="2400" dirty="0" smtClean="0">
                <a:solidFill>
                  <a:schemeClr val="tx2"/>
                </a:solidFill>
              </a:rPr>
              <a:t>.</a:t>
            </a:r>
            <a:endParaRPr lang="en-CA" sz="2400" dirty="0">
              <a:solidFill>
                <a:schemeClr val="tx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b="1" dirty="0" smtClean="0"/>
              <a:t>The Meaning Triangle</a:t>
            </a:r>
            <a:endParaRPr lang="en-CA" sz="4000" b="1" dirty="0"/>
          </a:p>
        </p:txBody>
      </p:sp>
      <p:grpSp>
        <p:nvGrpSpPr>
          <p:cNvPr id="13" name="Group 12"/>
          <p:cNvGrpSpPr/>
          <p:nvPr/>
        </p:nvGrpSpPr>
        <p:grpSpPr>
          <a:xfrm>
            <a:off x="2973161" y="4189260"/>
            <a:ext cx="3048000" cy="2457450"/>
            <a:chOff x="0" y="0"/>
            <a:chExt cx="3048000" cy="2457450"/>
          </a:xfrm>
          <a:solidFill>
            <a:schemeClr val="bg1"/>
          </a:solidFill>
        </p:grpSpPr>
        <p:sp>
          <p:nvSpPr>
            <p:cNvPr id="14" name="Text Box 2"/>
            <p:cNvSpPr txBox="1">
              <a:spLocks noChangeArrowheads="1"/>
            </p:cNvSpPr>
            <p:nvPr/>
          </p:nvSpPr>
          <p:spPr bwMode="auto">
            <a:xfrm>
              <a:off x="1076325" y="0"/>
              <a:ext cx="857250" cy="2667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CA" sz="1100">
                  <a:effectLst/>
                  <a:latin typeface="Calibri"/>
                  <a:ea typeface="Calibri"/>
                  <a:cs typeface="Times New Roman"/>
                </a:rPr>
                <a:t>3. Attitudes</a:t>
              </a: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0" y="285750"/>
              <a:ext cx="3048000" cy="2171700"/>
              <a:chOff x="0" y="0"/>
              <a:chExt cx="3048000" cy="2171700"/>
            </a:xfrm>
            <a:grpFill/>
          </p:grpSpPr>
          <p:sp>
            <p:nvSpPr>
              <p:cNvPr id="16" name="Text Box 2"/>
              <p:cNvSpPr txBox="1">
                <a:spLocks noChangeArrowheads="1"/>
              </p:cNvSpPr>
              <p:nvPr/>
            </p:nvSpPr>
            <p:spPr bwMode="auto">
              <a:xfrm>
                <a:off x="0" y="1905000"/>
                <a:ext cx="904875" cy="2667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CA" sz="1100">
                    <a:effectLst/>
                    <a:latin typeface="Calibri"/>
                    <a:ea typeface="Calibri"/>
                    <a:cs typeface="Times New Roman"/>
                  </a:rPr>
                  <a:t>1. Creativity</a:t>
                </a:r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438150" y="0"/>
                <a:ext cx="2609850" cy="2171700"/>
                <a:chOff x="0" y="0"/>
                <a:chExt cx="2609850" cy="2171700"/>
              </a:xfrm>
              <a:grpFill/>
            </p:grpSpPr>
            <p:grpSp>
              <p:nvGrpSpPr>
                <p:cNvPr id="18" name="Group 17"/>
                <p:cNvGrpSpPr/>
                <p:nvPr/>
              </p:nvGrpSpPr>
              <p:grpSpPr>
                <a:xfrm>
                  <a:off x="0" y="0"/>
                  <a:ext cx="2176653" cy="1876425"/>
                  <a:chOff x="0" y="0"/>
                  <a:chExt cx="2176653" cy="1876425"/>
                </a:xfrm>
                <a:grpFill/>
              </p:grpSpPr>
              <p:sp>
                <p:nvSpPr>
                  <p:cNvPr id="20" name="Isosceles Triangle 19"/>
                  <p:cNvSpPr/>
                  <p:nvPr/>
                </p:nvSpPr>
                <p:spPr>
                  <a:xfrm>
                    <a:off x="0" y="0"/>
                    <a:ext cx="2176653" cy="1876425"/>
                  </a:xfrm>
                  <a:prstGeom prst="triangl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CA"/>
                  </a:p>
                </p:txBody>
              </p:sp>
              <p:sp>
                <p:nvSpPr>
                  <p:cNvPr id="21" name="Text Box 4"/>
                  <p:cNvSpPr txBox="1"/>
                  <p:nvPr/>
                </p:nvSpPr>
                <p:spPr>
                  <a:xfrm>
                    <a:off x="742777" y="857250"/>
                    <a:ext cx="690245" cy="914400"/>
                  </a:xfrm>
                  <a:prstGeom prst="rect">
                    <a:avLst/>
                  </a:prstGeom>
                  <a:grpFill/>
                  <a:ln w="6350">
                    <a:noFill/>
                  </a:ln>
                  <a:effectLst/>
                </p:spPr>
                <p:style>
                  <a:lnRef idx="0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non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spcAft>
                        <a:spcPts val="0"/>
                      </a:spcAft>
                    </a:pPr>
                    <a:r>
                      <a:rPr lang="en-CA" sz="1100">
                        <a:effectLst/>
                        <a:ea typeface="Calibri"/>
                        <a:cs typeface="Times New Roman"/>
                      </a:rPr>
                      <a:t>My</a:t>
                    </a:r>
                  </a:p>
                  <a:p>
                    <a:pPr algn="ctr">
                      <a:spcAft>
                        <a:spcPts val="0"/>
                      </a:spcAft>
                    </a:pPr>
                    <a:r>
                      <a:rPr lang="en-CA" sz="1100">
                        <a:effectLst/>
                        <a:ea typeface="Calibri"/>
                        <a:cs typeface="Times New Roman"/>
                      </a:rPr>
                      <a:t>Meaning</a:t>
                    </a:r>
                  </a:p>
                  <a:p>
                    <a:pPr algn="ctr">
                      <a:spcAft>
                        <a:spcPts val="0"/>
                      </a:spcAft>
                    </a:pPr>
                    <a:r>
                      <a:rPr lang="en-CA" sz="1100">
                        <a:effectLst/>
                        <a:ea typeface="Calibri"/>
                        <a:cs typeface="Times New Roman"/>
                      </a:rPr>
                      <a:t>Triangle</a:t>
                    </a:r>
                  </a:p>
                </p:txBody>
              </p:sp>
            </p:grpSp>
            <p:sp>
              <p:nvSpPr>
                <p:cNvPr id="19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1619250" y="1905000"/>
                  <a:ext cx="990600" cy="266700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>
                    <a:spcAft>
                      <a:spcPts val="0"/>
                    </a:spcAft>
                  </a:pPr>
                  <a:r>
                    <a:rPr lang="en-CA" sz="1100">
                      <a:effectLst/>
                      <a:latin typeface="Calibri"/>
                      <a:ea typeface="Calibri"/>
                      <a:cs typeface="Times New Roman"/>
                    </a:rPr>
                    <a:t>2. Experience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959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CA" sz="2400" dirty="0">
                <a:solidFill>
                  <a:schemeClr val="tx2"/>
                </a:solidFill>
              </a:rPr>
              <a:t>Keep in mind </a:t>
            </a:r>
            <a:r>
              <a:rPr lang="en-CA" sz="2400" dirty="0" err="1">
                <a:solidFill>
                  <a:schemeClr val="tx2"/>
                </a:solidFill>
              </a:rPr>
              <a:t>Frankl’s</a:t>
            </a:r>
            <a:r>
              <a:rPr lang="en-CA" sz="2400" dirty="0">
                <a:solidFill>
                  <a:schemeClr val="tx2"/>
                </a:solidFill>
              </a:rPr>
              <a:t> challenge of asking yourself what life demands of you instead of what you demand from life. Write a concise mission statement for your career or for your life.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solidFill>
                  <a:schemeClr val="tx2"/>
                </a:solidFill>
              </a:rPr>
              <a:t>Set one or two realistic achievable life goals that are consistent with your mission statement and core values</a:t>
            </a:r>
            <a:r>
              <a:rPr lang="en-CA" sz="2400" dirty="0" smtClean="0">
                <a:solidFill>
                  <a:schemeClr val="tx2"/>
                </a:solidFill>
              </a:rPr>
              <a:t>.</a:t>
            </a:r>
            <a:endParaRPr lang="en-CA" sz="2400" dirty="0">
              <a:solidFill>
                <a:schemeClr val="tx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b="1" dirty="0" smtClean="0"/>
              <a:t>Exercises</a:t>
            </a:r>
            <a:endParaRPr lang="en-CA" sz="4000" b="1" dirty="0"/>
          </a:p>
        </p:txBody>
      </p:sp>
    </p:spTree>
    <p:extLst>
      <p:ext uri="{BB962C8B-B14F-4D97-AF65-F5344CB8AC3E}">
        <p14:creationId xmlns:p14="http://schemas.microsoft.com/office/powerpoint/2010/main" val="13959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id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Grid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Grid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</Template>
  <TotalTime>374</TotalTime>
  <Words>1070</Words>
  <Application>Microsoft Office PowerPoint</Application>
  <PresentationFormat>On-screen Show (4:3)</PresentationFormat>
  <Paragraphs>108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Grid</vt:lpstr>
      <vt:lpstr>Lesson 4</vt:lpstr>
      <vt:lpstr>Objective of this Lesson</vt:lpstr>
      <vt:lpstr>The American Vision of the  Good Life</vt:lpstr>
      <vt:lpstr>Viktor Frankl’s Vision of the Good Life</vt:lpstr>
      <vt:lpstr>Contrast between the Two Visions</vt:lpstr>
      <vt:lpstr>Integrating the Two Approaches</vt:lpstr>
      <vt:lpstr>The Spiritual Core</vt:lpstr>
      <vt:lpstr>Self-Transcendence</vt:lpstr>
      <vt:lpstr>Importance of Meaning</vt:lpstr>
      <vt:lpstr>Definitions</vt:lpstr>
      <vt:lpstr>Freedom of Will</vt:lpstr>
      <vt:lpstr>Responsibility</vt:lpstr>
      <vt:lpstr>Will to Meaning</vt:lpstr>
      <vt:lpstr>The Ultimate Concern</vt:lpstr>
      <vt:lpstr>The Meaning of Life</vt:lpstr>
      <vt:lpstr>Ultimate Meaning</vt:lpstr>
      <vt:lpstr>The Meaning Triangle</vt:lpstr>
      <vt:lpstr>Exercises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</dc:title>
  <dc:creator>Paul T. P. Wong</dc:creator>
  <cp:lastModifiedBy>Paul Wong</cp:lastModifiedBy>
  <cp:revision>21</cp:revision>
  <dcterms:created xsi:type="dcterms:W3CDTF">2011-07-19T18:53:10Z</dcterms:created>
  <dcterms:modified xsi:type="dcterms:W3CDTF">2011-07-20T18:21:28Z</dcterms:modified>
</cp:coreProperties>
</file>