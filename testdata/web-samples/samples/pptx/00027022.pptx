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xls" ContentType="application/vnd.ms-exce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Lst>
  <p:notesMasterIdLst>
    <p:notesMasterId r:id="rId19"/>
  </p:notesMasterIdLst>
  <p:sldIdLst>
    <p:sldId id="378" r:id="rId2"/>
    <p:sldId id="352" r:id="rId3"/>
    <p:sldId id="391" r:id="rId4"/>
    <p:sldId id="392" r:id="rId5"/>
    <p:sldId id="394" r:id="rId6"/>
    <p:sldId id="389" r:id="rId7"/>
    <p:sldId id="390" r:id="rId8"/>
    <p:sldId id="366" r:id="rId9"/>
    <p:sldId id="370" r:id="rId10"/>
    <p:sldId id="333" r:id="rId11"/>
    <p:sldId id="338" r:id="rId12"/>
    <p:sldId id="393" r:id="rId13"/>
    <p:sldId id="395" r:id="rId14"/>
    <p:sldId id="337" r:id="rId15"/>
    <p:sldId id="375" r:id="rId16"/>
    <p:sldId id="376" r:id="rId17"/>
    <p:sldId id="398" r:id="rId1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ＭＳ Ｐゴシック"/>
        <a:cs typeface="ＭＳ Ｐゴシック"/>
      </a:defRPr>
    </a:lvl1pPr>
    <a:lvl2pPr marL="457200" algn="l" rtl="0" fontAlgn="base">
      <a:spcBef>
        <a:spcPct val="0"/>
      </a:spcBef>
      <a:spcAft>
        <a:spcPct val="0"/>
      </a:spcAft>
      <a:defRPr kern="1200">
        <a:solidFill>
          <a:schemeClr val="tx1"/>
        </a:solidFill>
        <a:latin typeface="Arial" charset="0"/>
        <a:ea typeface="ＭＳ Ｐゴシック"/>
        <a:cs typeface="ＭＳ Ｐゴシック"/>
      </a:defRPr>
    </a:lvl2pPr>
    <a:lvl3pPr marL="914400" algn="l" rtl="0" fontAlgn="base">
      <a:spcBef>
        <a:spcPct val="0"/>
      </a:spcBef>
      <a:spcAft>
        <a:spcPct val="0"/>
      </a:spcAft>
      <a:defRPr kern="1200">
        <a:solidFill>
          <a:schemeClr val="tx1"/>
        </a:solidFill>
        <a:latin typeface="Arial" charset="0"/>
        <a:ea typeface="ＭＳ Ｐゴシック"/>
        <a:cs typeface="ＭＳ Ｐゴシック"/>
      </a:defRPr>
    </a:lvl3pPr>
    <a:lvl4pPr marL="1371600" algn="l" rtl="0" fontAlgn="base">
      <a:spcBef>
        <a:spcPct val="0"/>
      </a:spcBef>
      <a:spcAft>
        <a:spcPct val="0"/>
      </a:spcAft>
      <a:defRPr kern="1200">
        <a:solidFill>
          <a:schemeClr val="tx1"/>
        </a:solidFill>
        <a:latin typeface="Arial" charset="0"/>
        <a:ea typeface="ＭＳ Ｐゴシック"/>
        <a:cs typeface="ＭＳ Ｐゴシック"/>
      </a:defRPr>
    </a:lvl4pPr>
    <a:lvl5pPr marL="1828800" algn="l" rtl="0" fontAlgn="base">
      <a:spcBef>
        <a:spcPct val="0"/>
      </a:spcBef>
      <a:spcAft>
        <a:spcPct val="0"/>
      </a:spcAft>
      <a:defRPr kern="1200">
        <a:solidFill>
          <a:schemeClr val="tx1"/>
        </a:solidFill>
        <a:latin typeface="Arial" charset="0"/>
        <a:ea typeface="ＭＳ Ｐゴシック"/>
        <a:cs typeface="ＭＳ Ｐゴシック"/>
      </a:defRPr>
    </a:lvl5pPr>
    <a:lvl6pPr marL="2286000" algn="l" defTabSz="914400" rtl="0" eaLnBrk="1" latinLnBrk="0" hangingPunct="1">
      <a:defRPr kern="1200">
        <a:solidFill>
          <a:schemeClr val="tx1"/>
        </a:solidFill>
        <a:latin typeface="Arial" charset="0"/>
        <a:ea typeface="ＭＳ Ｐゴシック"/>
        <a:cs typeface="ＭＳ Ｐゴシック"/>
      </a:defRPr>
    </a:lvl6pPr>
    <a:lvl7pPr marL="2743200" algn="l" defTabSz="914400" rtl="0" eaLnBrk="1" latinLnBrk="0" hangingPunct="1">
      <a:defRPr kern="1200">
        <a:solidFill>
          <a:schemeClr val="tx1"/>
        </a:solidFill>
        <a:latin typeface="Arial" charset="0"/>
        <a:ea typeface="ＭＳ Ｐゴシック"/>
        <a:cs typeface="ＭＳ Ｐゴシック"/>
      </a:defRPr>
    </a:lvl7pPr>
    <a:lvl8pPr marL="3200400" algn="l" defTabSz="914400" rtl="0" eaLnBrk="1" latinLnBrk="0" hangingPunct="1">
      <a:defRPr kern="1200">
        <a:solidFill>
          <a:schemeClr val="tx1"/>
        </a:solidFill>
        <a:latin typeface="Arial" charset="0"/>
        <a:ea typeface="ＭＳ Ｐゴシック"/>
        <a:cs typeface="ＭＳ Ｐゴシック"/>
      </a:defRPr>
    </a:lvl8pPr>
    <a:lvl9pPr marL="3657600" algn="l" defTabSz="914400" rtl="0" eaLnBrk="1" latinLnBrk="0" hangingPunct="1">
      <a:defRPr kern="1200">
        <a:solidFill>
          <a:schemeClr val="tx1"/>
        </a:solidFill>
        <a:latin typeface="Arial" charset="0"/>
        <a:ea typeface="ＭＳ Ｐゴシック"/>
        <a:cs typeface="ＭＳ Ｐゴシック"/>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33"/>
    <a:srgbClr val="00FF00"/>
    <a:srgbClr val="009999"/>
    <a:srgbClr val="CCFF99"/>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6484" autoAdjust="0"/>
    <p:restoredTop sz="66945" autoAdjust="0"/>
  </p:normalViewPr>
  <p:slideViewPr>
    <p:cSldViewPr>
      <p:cViewPr>
        <p:scale>
          <a:sx n="60" d="100"/>
          <a:sy n="60" d="100"/>
        </p:scale>
        <p:origin x="-1164" y="-342"/>
      </p:cViewPr>
      <p:guideLst>
        <p:guide orient="horz" pos="2160"/>
        <p:guide pos="2880"/>
      </p:guideLst>
    </p:cSldViewPr>
  </p:slideViewPr>
  <p:outlineViewPr>
    <p:cViewPr>
      <p:scale>
        <a:sx n="33" d="100"/>
        <a:sy n="33" d="100"/>
      </p:scale>
      <p:origin x="0" y="25002"/>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3" d="100"/>
          <a:sy n="83" d="100"/>
        </p:scale>
        <p:origin x="-1992" y="-72"/>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89A22D24-F426-42E8-A3BC-75DEEE09BB68}" type="datetimeFigureOut">
              <a:rPr lang="en-US"/>
              <a:pPr>
                <a:defRPr/>
              </a:pPr>
              <a:t>11/23/2009</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AU"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AU"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3010A01A-9287-4DF5-85EE-BAEFC2DC3FA7}" type="slidenum">
              <a:rPr lang="en-AU"/>
              <a:pPr>
                <a:defRPr/>
              </a:pPr>
              <a:t>‹#›</a:t>
            </a:fld>
            <a:endParaRPr lang="en-AU"/>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p:cNvSpPr>
            <a:spLocks noGrp="1" noRot="1" noChangeAspect="1"/>
          </p:cNvSpPr>
          <p:nvPr>
            <p:ph type="sldImg"/>
          </p:nvPr>
        </p:nvSpPr>
        <p:spPr bwMode="auto">
          <a:noFill/>
          <a:ln>
            <a:solidFill>
              <a:srgbClr val="000000"/>
            </a:solidFill>
            <a:miter lim="800000"/>
            <a:headEnd/>
            <a:tailEnd/>
          </a:ln>
        </p:spPr>
      </p:sp>
      <p:sp>
        <p:nvSpPr>
          <p:cNvPr id="1536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AU" dirty="0" smtClean="0"/>
          </a:p>
        </p:txBody>
      </p:sp>
      <p:sp>
        <p:nvSpPr>
          <p:cNvPr id="1536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174B279-F283-4905-8B79-DB6A01EEEF0D}" type="slidenum">
              <a:rPr lang="en-AU">
                <a:ea typeface="ＭＳ Ｐゴシック"/>
                <a:cs typeface="ＭＳ Ｐゴシック"/>
              </a:rPr>
              <a:pPr fontAlgn="base">
                <a:spcBef>
                  <a:spcPct val="0"/>
                </a:spcBef>
                <a:spcAft>
                  <a:spcPct val="0"/>
                </a:spcAft>
                <a:defRPr/>
              </a:pPr>
              <a:t>1</a:t>
            </a:fld>
            <a:endParaRPr lang="en-AU">
              <a:ea typeface="ＭＳ Ｐゴシック"/>
              <a:cs typeface="ＭＳ Ｐゴシック"/>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eaLnBrk="1" fontAlgn="auto" hangingPunct="1">
              <a:spcBef>
                <a:spcPts val="0"/>
              </a:spcBef>
              <a:spcAft>
                <a:spcPts val="0"/>
              </a:spcAft>
              <a:defRPr/>
            </a:pPr>
            <a:endParaRPr lang="en-AU" dirty="0"/>
          </a:p>
        </p:txBody>
      </p:sp>
      <p:sp>
        <p:nvSpPr>
          <p:cNvPr id="1741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3D1E155-1A3E-4A67-AFB7-35E16F395EFC}" type="slidenum">
              <a:rPr lang="en-AU">
                <a:ea typeface="ＭＳ Ｐゴシック"/>
                <a:cs typeface="ＭＳ Ｐゴシック"/>
              </a:rPr>
              <a:pPr fontAlgn="base">
                <a:spcBef>
                  <a:spcPct val="0"/>
                </a:spcBef>
                <a:spcAft>
                  <a:spcPct val="0"/>
                </a:spcAft>
                <a:defRPr/>
              </a:pPr>
              <a:t>2</a:t>
            </a:fld>
            <a:endParaRPr lang="en-AU">
              <a:ea typeface="ＭＳ Ｐゴシック"/>
              <a:cs typeface="ＭＳ Ｐゴシック"/>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1"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eaLnBrk="1" fontAlgn="auto" hangingPunct="1">
              <a:spcBef>
                <a:spcPts val="0"/>
              </a:spcBef>
              <a:spcAft>
                <a:spcPts val="0"/>
              </a:spcAft>
              <a:defRPr/>
            </a:pPr>
            <a:endParaRPr lang="en-AU" dirty="0"/>
          </a:p>
        </p:txBody>
      </p:sp>
      <p:sp>
        <p:nvSpPr>
          <p:cNvPr id="26112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81B5A917-BDDD-432E-872A-914760A28A4B}" type="slidenum">
              <a:rPr lang="en-AU">
                <a:ea typeface="ＭＳ Ｐゴシック"/>
                <a:cs typeface="ＭＳ Ｐゴシック"/>
              </a:rPr>
              <a:pPr fontAlgn="base">
                <a:spcBef>
                  <a:spcPct val="0"/>
                </a:spcBef>
                <a:spcAft>
                  <a:spcPct val="0"/>
                </a:spcAft>
                <a:defRPr/>
              </a:pPr>
              <a:t>3</a:t>
            </a:fld>
            <a:endParaRPr lang="en-AU">
              <a:ea typeface="ＭＳ Ｐゴシック"/>
              <a:cs typeface="ＭＳ Ｐゴシック"/>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5"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eaLnBrk="1" fontAlgn="auto" hangingPunct="1">
              <a:spcBef>
                <a:spcPts val="0"/>
              </a:spcBef>
              <a:spcAft>
                <a:spcPts val="0"/>
              </a:spcAft>
              <a:defRPr/>
            </a:pPr>
            <a:endParaRPr lang="en-AU" dirty="0"/>
          </a:p>
        </p:txBody>
      </p:sp>
      <p:sp>
        <p:nvSpPr>
          <p:cNvPr id="262147"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150E90B-EA52-4E04-90CA-AF9226AE4C2E}" type="slidenum">
              <a:rPr lang="en-AU">
                <a:ea typeface="ＭＳ Ｐゴシック"/>
                <a:cs typeface="ＭＳ Ｐゴシック"/>
              </a:rPr>
              <a:pPr fontAlgn="base">
                <a:spcBef>
                  <a:spcPct val="0"/>
                </a:spcBef>
                <a:spcAft>
                  <a:spcPct val="0"/>
                </a:spcAft>
                <a:defRPr/>
              </a:pPr>
              <a:t>4</a:t>
            </a:fld>
            <a:endParaRPr lang="en-AU">
              <a:ea typeface="ＭＳ Ｐゴシック"/>
              <a:cs typeface="ＭＳ Ｐゴシック"/>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eaLnBrk="1" fontAlgn="auto" hangingPunct="1">
              <a:lnSpc>
                <a:spcPct val="90000"/>
              </a:lnSpc>
              <a:spcBef>
                <a:spcPts val="0"/>
              </a:spcBef>
              <a:spcAft>
                <a:spcPts val="0"/>
              </a:spcAft>
              <a:defRPr/>
            </a:pPr>
            <a:endParaRPr lang="en-AU" dirty="0" smtClean="0">
              <a:solidFill>
                <a:schemeClr val="bg2">
                  <a:lumMod val="75000"/>
                </a:schemeClr>
              </a:solidFill>
            </a:endParaRPr>
          </a:p>
          <a:p>
            <a:pPr eaLnBrk="1" fontAlgn="auto" hangingPunct="1">
              <a:spcBef>
                <a:spcPts val="0"/>
              </a:spcBef>
              <a:spcAft>
                <a:spcPts val="0"/>
              </a:spcAft>
              <a:defRPr/>
            </a:pPr>
            <a:endParaRPr lang="en-AU" sz="1000" dirty="0" smtClean="0"/>
          </a:p>
          <a:p>
            <a:pPr eaLnBrk="1" fontAlgn="auto" hangingPunct="1">
              <a:spcBef>
                <a:spcPts val="0"/>
              </a:spcBef>
              <a:spcAft>
                <a:spcPts val="0"/>
              </a:spcAft>
              <a:defRPr/>
            </a:pPr>
            <a:endParaRPr lang="en-AU" dirty="0"/>
          </a:p>
        </p:txBody>
      </p:sp>
      <p:sp>
        <p:nvSpPr>
          <p:cNvPr id="264195"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434DF70-94BE-4A14-B7D4-341436BBD4BD}" type="slidenum">
              <a:rPr lang="en-AU">
                <a:ea typeface="ＭＳ Ｐゴシック"/>
                <a:cs typeface="ＭＳ Ｐゴシック"/>
              </a:rPr>
              <a:pPr fontAlgn="base">
                <a:spcBef>
                  <a:spcPct val="0"/>
                </a:spcBef>
                <a:spcAft>
                  <a:spcPct val="0"/>
                </a:spcAft>
                <a:defRPr/>
              </a:pPr>
              <a:t>5</a:t>
            </a:fld>
            <a:endParaRPr lang="en-AU">
              <a:ea typeface="ＭＳ Ｐゴシック"/>
              <a:cs typeface="ＭＳ Ｐゴシック"/>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lstStyle/>
          <a:p>
            <a:pPr eaLnBrk="1" fontAlgn="auto" hangingPunct="1">
              <a:spcBef>
                <a:spcPts val="0"/>
              </a:spcBef>
              <a:spcAft>
                <a:spcPts val="0"/>
              </a:spcAft>
              <a:defRPr/>
            </a:pPr>
            <a:endParaRPr lang="en-AU" dirty="0"/>
          </a:p>
        </p:txBody>
      </p:sp>
      <p:sp>
        <p:nvSpPr>
          <p:cNvPr id="26624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F034C34-0794-42EE-A8F0-81F089B142CF}" type="slidenum">
              <a:rPr lang="en-AU">
                <a:ea typeface="ＭＳ Ｐゴシック"/>
                <a:cs typeface="ＭＳ Ｐゴシック"/>
              </a:rPr>
              <a:pPr fontAlgn="base">
                <a:spcBef>
                  <a:spcPct val="0"/>
                </a:spcBef>
                <a:spcAft>
                  <a:spcPct val="0"/>
                </a:spcAft>
                <a:defRPr/>
              </a:pPr>
              <a:t>6</a:t>
            </a:fld>
            <a:endParaRPr lang="en-AU">
              <a:ea typeface="ＭＳ Ｐゴシック"/>
              <a:cs typeface="ＭＳ Ｐゴシック"/>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Slide Image Placeholder 1"/>
          <p:cNvSpPr>
            <a:spLocks noGrp="1" noRot="1" noChangeAspect="1"/>
          </p:cNvSpPr>
          <p:nvPr>
            <p:ph type="sldImg"/>
          </p:nvPr>
        </p:nvSpPr>
        <p:spPr bwMode="auto">
          <a:noFill/>
          <a:ln>
            <a:solidFill>
              <a:srgbClr val="000000"/>
            </a:solidFill>
            <a:miter lim="800000"/>
            <a:headEnd/>
            <a:tailEnd/>
          </a:ln>
        </p:spPr>
      </p:sp>
      <p:sp>
        <p:nvSpPr>
          <p:cNvPr id="26829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AU" dirty="0" smtClean="0">
              <a:latin typeface="Arial" charset="0"/>
            </a:endParaRPr>
          </a:p>
        </p:txBody>
      </p:sp>
      <p:sp>
        <p:nvSpPr>
          <p:cNvPr id="268291"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DD92572-E4E3-4EB1-9BF7-89724816A55B}" type="slidenum">
              <a:rPr lang="en-AU" smtClean="0">
                <a:latin typeface="Arial" charset="0"/>
                <a:ea typeface="ＭＳ Ｐゴシック"/>
                <a:cs typeface="ＭＳ Ｐゴシック"/>
              </a:rPr>
              <a:pPr fontAlgn="base">
                <a:spcBef>
                  <a:spcPct val="0"/>
                </a:spcBef>
                <a:spcAft>
                  <a:spcPct val="0"/>
                </a:spcAft>
              </a:pPr>
              <a:t>7</a:t>
            </a:fld>
            <a:endParaRPr lang="en-AU" smtClean="0">
              <a:latin typeface="Arial" charset="0"/>
              <a:ea typeface="ＭＳ Ｐゴシック"/>
              <a:cs typeface="ＭＳ Ｐゴシック"/>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1"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lnSpcReduction="10000"/>
          </a:bodyPr>
          <a:lstStyle/>
          <a:p>
            <a:pPr eaLnBrk="1" fontAlgn="auto" hangingPunct="1">
              <a:spcBef>
                <a:spcPts val="0"/>
              </a:spcBef>
              <a:spcAft>
                <a:spcPts val="0"/>
              </a:spcAft>
              <a:defRPr/>
            </a:pPr>
            <a:endParaRPr lang="en-US" dirty="0" smtClean="0">
              <a:solidFill>
                <a:schemeClr val="bg2">
                  <a:lumMod val="75000"/>
                </a:schemeClr>
              </a:solidFill>
            </a:endParaRPr>
          </a:p>
          <a:p>
            <a:pPr eaLnBrk="1" fontAlgn="auto" hangingPunct="1">
              <a:spcBef>
                <a:spcPts val="0"/>
              </a:spcBef>
              <a:spcAft>
                <a:spcPts val="0"/>
              </a:spcAft>
              <a:defRPr/>
            </a:pPr>
            <a:endParaRPr lang="en-AU" dirty="0"/>
          </a:p>
        </p:txBody>
      </p:sp>
      <p:sp>
        <p:nvSpPr>
          <p:cNvPr id="27136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A84459F-D87F-4984-A453-003F0285C29E}" type="slidenum">
              <a:rPr lang="en-AU">
                <a:ea typeface="ＭＳ Ｐゴシック"/>
                <a:cs typeface="ＭＳ Ｐゴシック"/>
              </a:rPr>
              <a:pPr fontAlgn="base">
                <a:spcBef>
                  <a:spcPct val="0"/>
                </a:spcBef>
                <a:spcAft>
                  <a:spcPct val="0"/>
                </a:spcAft>
                <a:defRPr/>
              </a:pPr>
              <a:t>9</a:t>
            </a:fld>
            <a:endParaRPr lang="en-AU">
              <a:ea typeface="ＭＳ Ｐゴシック"/>
              <a:cs typeface="ＭＳ Ｐゴシック"/>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09" name="Slide Image Placeholder 1"/>
          <p:cNvSpPr>
            <a:spLocks noGrp="1" noRot="1" noChangeAspect="1"/>
          </p:cNvSpPr>
          <p:nvPr>
            <p:ph type="sldImg"/>
          </p:nvPr>
        </p:nvSpPr>
        <p:spPr bwMode="auto">
          <a:noFill/>
          <a:ln>
            <a:solidFill>
              <a:srgbClr val="000000"/>
            </a:solidFill>
            <a:miter lim="800000"/>
            <a:headEnd/>
            <a:tailEnd/>
          </a:ln>
        </p:spPr>
      </p:sp>
      <p:sp>
        <p:nvSpPr>
          <p:cNvPr id="27341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AU" smtClean="0"/>
          </a:p>
        </p:txBody>
      </p:sp>
      <p:sp>
        <p:nvSpPr>
          <p:cNvPr id="27341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7DA90C1-CFCE-435F-B21C-07D33720C263}" type="slidenum">
              <a:rPr lang="en-AU">
                <a:ea typeface="ＭＳ Ｐゴシック"/>
                <a:cs typeface="ＭＳ Ｐゴシック"/>
              </a:rPr>
              <a:pPr fontAlgn="base">
                <a:spcBef>
                  <a:spcPct val="0"/>
                </a:spcBef>
                <a:spcAft>
                  <a:spcPct val="0"/>
                </a:spcAft>
                <a:defRPr/>
              </a:pPr>
              <a:t>10</a:t>
            </a:fld>
            <a:endParaRPr lang="en-AU">
              <a:ea typeface="ＭＳ Ｐゴシック"/>
              <a:cs typeface="ＭＳ Ｐゴシック"/>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1" name="Slide Image Placeholder 1"/>
          <p:cNvSpPr>
            <a:spLocks noGrp="1" noRot="1" noChangeAspect="1" noTextEdit="1"/>
          </p:cNvSpPr>
          <p:nvPr>
            <p:ph type="sldImg"/>
          </p:nvPr>
        </p:nvSpPr>
        <p:spPr bwMode="auto">
          <a:noFill/>
          <a:ln>
            <a:solidFill>
              <a:srgbClr val="000000"/>
            </a:solidFill>
            <a:miter lim="800000"/>
            <a:headEnd/>
            <a:tailEnd/>
          </a:ln>
        </p:spPr>
      </p:sp>
      <p:sp>
        <p:nvSpPr>
          <p:cNvPr id="27648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50000"/>
              </a:spcBef>
            </a:pPr>
            <a:endParaRPr lang="en-AU" dirty="0" smtClean="0">
              <a:solidFill>
                <a:srgbClr val="000066"/>
              </a:solidFill>
            </a:endParaRPr>
          </a:p>
          <a:p>
            <a:pPr eaLnBrk="1" hangingPunct="1">
              <a:spcBef>
                <a:spcPct val="50000"/>
              </a:spcBef>
            </a:pPr>
            <a:endParaRPr lang="en-AU" dirty="0" smtClean="0">
              <a:solidFill>
                <a:srgbClr val="000066"/>
              </a:solidFill>
            </a:endParaRPr>
          </a:p>
          <a:p>
            <a:pPr eaLnBrk="1" hangingPunct="1">
              <a:spcBef>
                <a:spcPct val="0"/>
              </a:spcBef>
            </a:pPr>
            <a:endParaRPr lang="en-AU" dirty="0" smtClean="0"/>
          </a:p>
        </p:txBody>
      </p:sp>
      <p:sp>
        <p:nvSpPr>
          <p:cNvPr id="27648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1DA9A3E-11AD-4A4B-950C-289003A899EA}" type="slidenum">
              <a:rPr lang="en-US">
                <a:ea typeface="ＭＳ Ｐゴシック"/>
                <a:cs typeface="ＭＳ Ｐゴシック"/>
              </a:rPr>
              <a:pPr fontAlgn="base">
                <a:spcBef>
                  <a:spcPct val="0"/>
                </a:spcBef>
                <a:spcAft>
                  <a:spcPct val="0"/>
                </a:spcAft>
                <a:defRPr/>
              </a:pPr>
              <a:t>12</a:t>
            </a:fld>
            <a:endParaRPr lang="en-US">
              <a:ea typeface="ＭＳ Ｐゴシック"/>
              <a:cs typeface="ＭＳ Ｐゴシック"/>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7" name="Slide Image Placeholder 1"/>
          <p:cNvSpPr>
            <a:spLocks noGrp="1" noRot="1" noChangeAspect="1" noTextEdit="1"/>
          </p:cNvSpPr>
          <p:nvPr>
            <p:ph type="sldImg"/>
          </p:nvPr>
        </p:nvSpPr>
        <p:spPr bwMode="auto">
          <a:noFill/>
          <a:ln>
            <a:solidFill>
              <a:srgbClr val="000000"/>
            </a:solidFill>
            <a:miter lim="800000"/>
            <a:headEnd/>
            <a:tailEnd/>
          </a:ln>
        </p:spPr>
      </p:sp>
      <p:sp>
        <p:nvSpPr>
          <p:cNvPr id="25603" name="Notes Placeholder 2"/>
          <p:cNvSpPr>
            <a:spLocks noGrp="1"/>
          </p:cNvSpPr>
          <p:nvPr>
            <p:ph type="body" idx="1"/>
          </p:nvPr>
        </p:nvSpPr>
        <p:spPr>
          <a:ln/>
        </p:spPr>
        <p:txBody>
          <a:bodyPr/>
          <a:lstStyle/>
          <a:p>
            <a:pPr eaLnBrk="1" fontAlgn="auto" hangingPunct="1">
              <a:lnSpc>
                <a:spcPct val="80000"/>
              </a:lnSpc>
              <a:spcBef>
                <a:spcPts val="0"/>
              </a:spcBef>
              <a:spcAft>
                <a:spcPts val="0"/>
              </a:spcAft>
              <a:defRPr/>
            </a:pPr>
            <a:endParaRPr lang="en-AU" dirty="0" smtClean="0"/>
          </a:p>
        </p:txBody>
      </p:sp>
      <p:sp>
        <p:nvSpPr>
          <p:cNvPr id="28569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30BDB13-4651-46B3-916E-0B409C08054F}" type="slidenum">
              <a:rPr lang="en-US">
                <a:ea typeface="ＭＳ Ｐゴシック"/>
                <a:cs typeface="ＭＳ Ｐゴシック"/>
              </a:rPr>
              <a:pPr fontAlgn="base">
                <a:spcBef>
                  <a:spcPct val="0"/>
                </a:spcBef>
                <a:spcAft>
                  <a:spcPct val="0"/>
                </a:spcAft>
                <a:defRPr/>
              </a:pPr>
              <a:t>13</a:t>
            </a:fld>
            <a:endParaRPr lang="en-US">
              <a:ea typeface="ＭＳ Ｐゴシック"/>
              <a:cs typeface="ＭＳ Ｐゴシック"/>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1" name="Slide Image Placeholder 1"/>
          <p:cNvSpPr>
            <a:spLocks noGrp="1" noRot="1" noChangeAspect="1"/>
          </p:cNvSpPr>
          <p:nvPr>
            <p:ph type="sldImg"/>
          </p:nvPr>
        </p:nvSpPr>
        <p:spPr bwMode="auto">
          <a:noFill/>
          <a:ln>
            <a:solidFill>
              <a:srgbClr val="000000"/>
            </a:solidFill>
            <a:miter lim="800000"/>
            <a:headEnd/>
            <a:tailEnd/>
          </a:ln>
        </p:spPr>
      </p:sp>
      <p:sp>
        <p:nvSpPr>
          <p:cNvPr id="28160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AU" dirty="0" smtClean="0"/>
          </a:p>
        </p:txBody>
      </p:sp>
      <p:sp>
        <p:nvSpPr>
          <p:cNvPr id="28160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6ED9337-561E-4B13-A6F8-C5EAB92D1B94}" type="slidenum">
              <a:rPr lang="en-AU">
                <a:ea typeface="ＭＳ Ｐゴシック"/>
                <a:cs typeface="ＭＳ Ｐゴシック"/>
              </a:rPr>
              <a:pPr fontAlgn="base">
                <a:spcBef>
                  <a:spcPct val="0"/>
                </a:spcBef>
                <a:spcAft>
                  <a:spcPct val="0"/>
                </a:spcAft>
                <a:defRPr/>
              </a:pPr>
              <a:t>15</a:t>
            </a:fld>
            <a:endParaRPr lang="en-AU">
              <a:ea typeface="ＭＳ Ｐゴシック"/>
              <a:cs typeface="ＭＳ Ｐゴシック"/>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49" name="Slide Image Placeholder 1"/>
          <p:cNvSpPr>
            <a:spLocks noGrp="1" noRot="1" noChangeAspect="1"/>
          </p:cNvSpPr>
          <p:nvPr>
            <p:ph type="sldImg"/>
          </p:nvPr>
        </p:nvSpPr>
        <p:spPr bwMode="auto">
          <a:noFill/>
          <a:ln>
            <a:solidFill>
              <a:srgbClr val="000000"/>
            </a:solidFill>
            <a:miter lim="800000"/>
            <a:headEnd/>
            <a:tailEnd/>
          </a:ln>
        </p:spPr>
      </p:sp>
      <p:sp>
        <p:nvSpPr>
          <p:cNvPr id="28365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AU" dirty="0" smtClean="0"/>
          </a:p>
        </p:txBody>
      </p:sp>
      <p:sp>
        <p:nvSpPr>
          <p:cNvPr id="28365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5E82923F-8E03-496D-908E-1D65D70C0962}" type="slidenum">
              <a:rPr lang="en-AU">
                <a:ea typeface="ＭＳ Ｐゴシック"/>
                <a:cs typeface="ＭＳ Ｐゴシック"/>
              </a:rPr>
              <a:pPr fontAlgn="base">
                <a:spcBef>
                  <a:spcPct val="0"/>
                </a:spcBef>
                <a:spcAft>
                  <a:spcPct val="0"/>
                </a:spcAft>
                <a:defRPr/>
              </a:pPr>
              <a:t>16</a:t>
            </a:fld>
            <a:endParaRPr lang="en-AU">
              <a:ea typeface="ＭＳ Ｐゴシック"/>
              <a:cs typeface="ＭＳ Ｐゴシック"/>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685800" y="1524000"/>
            <a:ext cx="3810000" cy="3124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524000"/>
            <a:ext cx="3810000" cy="3124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AU"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4114800"/>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685800" y="533400"/>
            <a:ext cx="5676900" cy="4114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03D4A8"/>
            </a:gs>
            <a:gs pos="25000">
              <a:srgbClr val="21D6E0"/>
            </a:gs>
            <a:gs pos="46001">
              <a:srgbClr val="00B0F0"/>
            </a:gs>
            <a:gs pos="75000">
              <a:srgbClr val="0087E6"/>
            </a:gs>
            <a:gs pos="100000">
              <a:srgbClr val="005CBF"/>
            </a:gs>
          </a:gsLst>
          <a:lin ang="5400000"/>
        </a:gradFill>
        <a:effectLst/>
      </p:bgPr>
    </p:bg>
    <p:spTree>
      <p:nvGrpSpPr>
        <p:cNvPr id="1" name=""/>
        <p:cNvGrpSpPr/>
        <p:nvPr/>
      </p:nvGrpSpPr>
      <p:grpSpPr>
        <a:xfrm>
          <a:off x="0" y="0"/>
          <a:ext cx="0" cy="0"/>
          <a:chOff x="0" y="0"/>
          <a:chExt cx="0" cy="0"/>
        </a:xfrm>
      </p:grpSpPr>
      <p:pic>
        <p:nvPicPr>
          <p:cNvPr id="1026" name="Picture 12" descr="ihop_powerpoint_v02p2"/>
          <p:cNvPicPr>
            <a:picLocks noChangeAspect="1" noChangeArrowheads="1"/>
          </p:cNvPicPr>
          <p:nvPr/>
        </p:nvPicPr>
        <p:blipFill>
          <a:blip r:embed="rId13" cstate="print"/>
          <a:srcRect/>
          <a:stretch>
            <a:fillRect/>
          </a:stretch>
        </p:blipFill>
        <p:spPr bwMode="auto">
          <a:xfrm>
            <a:off x="0" y="0"/>
            <a:ext cx="9144000" cy="6858000"/>
          </a:xfrm>
          <a:prstGeom prst="rect">
            <a:avLst/>
          </a:prstGeom>
          <a:noFill/>
          <a:ln w="9525">
            <a:noFill/>
            <a:miter lim="800000"/>
            <a:headEnd/>
            <a:tailEnd/>
          </a:ln>
        </p:spPr>
      </p:pic>
      <p:sp>
        <p:nvSpPr>
          <p:cNvPr id="1027" name="Rectangle 2"/>
          <p:cNvSpPr>
            <a:spLocks noGrp="1" noChangeArrowheads="1"/>
          </p:cNvSpPr>
          <p:nvPr>
            <p:ph type="title"/>
          </p:nvPr>
        </p:nvSpPr>
        <p:spPr bwMode="auto">
          <a:xfrm>
            <a:off x="685800" y="533400"/>
            <a:ext cx="7772400" cy="83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title style</a:t>
            </a:r>
          </a:p>
        </p:txBody>
      </p:sp>
      <p:sp>
        <p:nvSpPr>
          <p:cNvPr id="1028" name="Rectangle 3"/>
          <p:cNvSpPr>
            <a:spLocks noGrp="1" noChangeArrowheads="1"/>
          </p:cNvSpPr>
          <p:nvPr>
            <p:ph type="body" idx="1"/>
          </p:nvPr>
        </p:nvSpPr>
        <p:spPr bwMode="auto">
          <a:xfrm>
            <a:off x="685800" y="1524000"/>
            <a:ext cx="7772400" cy="3124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l" rtl="0" eaLnBrk="0" fontAlgn="base" hangingPunct="0">
        <a:spcBef>
          <a:spcPct val="0"/>
        </a:spcBef>
        <a:spcAft>
          <a:spcPct val="0"/>
        </a:spcAft>
        <a:defRPr sz="3600" b="1">
          <a:solidFill>
            <a:srgbClr val="71B433"/>
          </a:solidFill>
          <a:latin typeface="+mj-lt"/>
          <a:ea typeface="+mj-ea"/>
          <a:cs typeface="ＭＳ Ｐゴシック"/>
        </a:defRPr>
      </a:lvl1pPr>
      <a:lvl2pPr algn="l" rtl="0" eaLnBrk="0" fontAlgn="base" hangingPunct="0">
        <a:spcBef>
          <a:spcPct val="0"/>
        </a:spcBef>
        <a:spcAft>
          <a:spcPct val="0"/>
        </a:spcAft>
        <a:defRPr sz="3600" b="1">
          <a:solidFill>
            <a:srgbClr val="71B433"/>
          </a:solidFill>
          <a:latin typeface="Arial" charset="0"/>
          <a:ea typeface="ＭＳ Ｐゴシック" pitchFamily="112" charset="-128"/>
          <a:cs typeface="ＭＳ Ｐゴシック"/>
        </a:defRPr>
      </a:lvl2pPr>
      <a:lvl3pPr algn="l" rtl="0" eaLnBrk="0" fontAlgn="base" hangingPunct="0">
        <a:spcBef>
          <a:spcPct val="0"/>
        </a:spcBef>
        <a:spcAft>
          <a:spcPct val="0"/>
        </a:spcAft>
        <a:defRPr sz="3600" b="1">
          <a:solidFill>
            <a:srgbClr val="71B433"/>
          </a:solidFill>
          <a:latin typeface="Arial" charset="0"/>
          <a:ea typeface="ＭＳ Ｐゴシック" pitchFamily="112" charset="-128"/>
          <a:cs typeface="ＭＳ Ｐゴシック"/>
        </a:defRPr>
      </a:lvl3pPr>
      <a:lvl4pPr algn="l" rtl="0" eaLnBrk="0" fontAlgn="base" hangingPunct="0">
        <a:spcBef>
          <a:spcPct val="0"/>
        </a:spcBef>
        <a:spcAft>
          <a:spcPct val="0"/>
        </a:spcAft>
        <a:defRPr sz="3600" b="1">
          <a:solidFill>
            <a:srgbClr val="71B433"/>
          </a:solidFill>
          <a:latin typeface="Arial" charset="0"/>
          <a:ea typeface="ＭＳ Ｐゴシック" pitchFamily="112" charset="-128"/>
          <a:cs typeface="ＭＳ Ｐゴシック"/>
        </a:defRPr>
      </a:lvl4pPr>
      <a:lvl5pPr algn="l" rtl="0" eaLnBrk="0" fontAlgn="base" hangingPunct="0">
        <a:spcBef>
          <a:spcPct val="0"/>
        </a:spcBef>
        <a:spcAft>
          <a:spcPct val="0"/>
        </a:spcAft>
        <a:defRPr sz="3600" b="1">
          <a:solidFill>
            <a:srgbClr val="71B433"/>
          </a:solidFill>
          <a:latin typeface="Arial" charset="0"/>
          <a:ea typeface="ＭＳ Ｐゴシック" pitchFamily="112" charset="-128"/>
          <a:cs typeface="ＭＳ Ｐゴシック"/>
        </a:defRPr>
      </a:lvl5pPr>
      <a:lvl6pPr marL="457200" algn="l" rtl="0" eaLnBrk="1" fontAlgn="base" hangingPunct="1">
        <a:spcBef>
          <a:spcPct val="0"/>
        </a:spcBef>
        <a:spcAft>
          <a:spcPct val="0"/>
        </a:spcAft>
        <a:defRPr sz="3600" b="1">
          <a:solidFill>
            <a:srgbClr val="71B433"/>
          </a:solidFill>
          <a:latin typeface="Arial" charset="0"/>
          <a:ea typeface="ＭＳ Ｐゴシック" pitchFamily="112" charset="-128"/>
        </a:defRPr>
      </a:lvl6pPr>
      <a:lvl7pPr marL="914400" algn="l" rtl="0" eaLnBrk="1" fontAlgn="base" hangingPunct="1">
        <a:spcBef>
          <a:spcPct val="0"/>
        </a:spcBef>
        <a:spcAft>
          <a:spcPct val="0"/>
        </a:spcAft>
        <a:defRPr sz="3600" b="1">
          <a:solidFill>
            <a:srgbClr val="71B433"/>
          </a:solidFill>
          <a:latin typeface="Arial" charset="0"/>
          <a:ea typeface="ＭＳ Ｐゴシック" pitchFamily="112" charset="-128"/>
        </a:defRPr>
      </a:lvl7pPr>
      <a:lvl8pPr marL="1371600" algn="l" rtl="0" eaLnBrk="1" fontAlgn="base" hangingPunct="1">
        <a:spcBef>
          <a:spcPct val="0"/>
        </a:spcBef>
        <a:spcAft>
          <a:spcPct val="0"/>
        </a:spcAft>
        <a:defRPr sz="3600" b="1">
          <a:solidFill>
            <a:srgbClr val="71B433"/>
          </a:solidFill>
          <a:latin typeface="Arial" charset="0"/>
          <a:ea typeface="ＭＳ Ｐゴシック" pitchFamily="112" charset="-128"/>
        </a:defRPr>
      </a:lvl8pPr>
      <a:lvl9pPr marL="1828800" algn="l" rtl="0" eaLnBrk="1" fontAlgn="base" hangingPunct="1">
        <a:spcBef>
          <a:spcPct val="0"/>
        </a:spcBef>
        <a:spcAft>
          <a:spcPct val="0"/>
        </a:spcAft>
        <a:defRPr sz="3600" b="1">
          <a:solidFill>
            <a:srgbClr val="71B433"/>
          </a:solidFill>
          <a:latin typeface="Arial" charset="0"/>
          <a:ea typeface="ＭＳ Ｐゴシック" pitchFamily="112" charset="-128"/>
        </a:defRPr>
      </a:lvl9pPr>
    </p:titleStyle>
    <p:bodyStyle>
      <a:lvl1pPr marL="342900" indent="-342900" algn="l" rtl="0" eaLnBrk="0" fontAlgn="base" hangingPunct="0">
        <a:spcBef>
          <a:spcPct val="20000"/>
        </a:spcBef>
        <a:spcAft>
          <a:spcPct val="0"/>
        </a:spcAft>
        <a:buChar char="•"/>
        <a:defRPr sz="2800">
          <a:solidFill>
            <a:schemeClr val="bg2"/>
          </a:solidFill>
          <a:latin typeface="+mn-lt"/>
          <a:ea typeface="+mn-ea"/>
          <a:cs typeface="ＭＳ Ｐゴシック"/>
        </a:defRPr>
      </a:lvl1pPr>
      <a:lvl2pPr marL="742950" indent="-285750" algn="l" rtl="0" eaLnBrk="0" fontAlgn="base" hangingPunct="0">
        <a:spcBef>
          <a:spcPct val="20000"/>
        </a:spcBef>
        <a:spcAft>
          <a:spcPct val="0"/>
        </a:spcAft>
        <a:buChar char="–"/>
        <a:defRPr sz="2500">
          <a:solidFill>
            <a:schemeClr val="bg2"/>
          </a:solidFill>
          <a:latin typeface="+mn-lt"/>
          <a:ea typeface="+mn-ea"/>
          <a:cs typeface="ＭＳ Ｐゴシック"/>
        </a:defRPr>
      </a:lvl2pPr>
      <a:lvl3pPr marL="1143000" indent="-228600" algn="l" rtl="0" eaLnBrk="0" fontAlgn="base" hangingPunct="0">
        <a:spcBef>
          <a:spcPct val="20000"/>
        </a:spcBef>
        <a:spcAft>
          <a:spcPct val="0"/>
        </a:spcAft>
        <a:buChar char="•"/>
        <a:defRPr sz="2200">
          <a:solidFill>
            <a:schemeClr val="bg2"/>
          </a:solidFill>
          <a:latin typeface="+mn-lt"/>
          <a:ea typeface="+mn-ea"/>
          <a:cs typeface="ＭＳ Ｐゴシック"/>
        </a:defRPr>
      </a:lvl3pPr>
      <a:lvl4pPr marL="1600200" indent="-228600" algn="l" rtl="0" eaLnBrk="0" fontAlgn="base" hangingPunct="0">
        <a:spcBef>
          <a:spcPct val="20000"/>
        </a:spcBef>
        <a:spcAft>
          <a:spcPct val="0"/>
        </a:spcAft>
        <a:buChar char="–"/>
        <a:defRPr sz="2000">
          <a:solidFill>
            <a:schemeClr val="bg2"/>
          </a:solidFill>
          <a:latin typeface="+mn-lt"/>
          <a:ea typeface="+mn-ea"/>
          <a:cs typeface="ＭＳ Ｐゴシック"/>
        </a:defRPr>
      </a:lvl4pPr>
      <a:lvl5pPr marL="2057400" indent="-228600" algn="l" rtl="0" eaLnBrk="0" fontAlgn="base" hangingPunct="0">
        <a:spcBef>
          <a:spcPct val="20000"/>
        </a:spcBef>
        <a:spcAft>
          <a:spcPct val="0"/>
        </a:spcAft>
        <a:buChar char="»"/>
        <a:defRPr sz="2000">
          <a:solidFill>
            <a:schemeClr val="bg2"/>
          </a:solidFill>
          <a:latin typeface="+mn-lt"/>
          <a:ea typeface="+mn-ea"/>
          <a:cs typeface="ＭＳ Ｐゴシック"/>
        </a:defRPr>
      </a:lvl5pPr>
      <a:lvl6pPr marL="2514600" indent="-228600" algn="l" rtl="0" eaLnBrk="1" fontAlgn="base" hangingPunct="1">
        <a:spcBef>
          <a:spcPct val="20000"/>
        </a:spcBef>
        <a:spcAft>
          <a:spcPct val="0"/>
        </a:spcAft>
        <a:buChar char="»"/>
        <a:defRPr>
          <a:solidFill>
            <a:schemeClr val="bg2"/>
          </a:solidFill>
          <a:latin typeface="+mn-lt"/>
          <a:ea typeface="+mn-ea"/>
        </a:defRPr>
      </a:lvl6pPr>
      <a:lvl7pPr marL="2971800" indent="-228600" algn="l" rtl="0" eaLnBrk="1" fontAlgn="base" hangingPunct="1">
        <a:spcBef>
          <a:spcPct val="20000"/>
        </a:spcBef>
        <a:spcAft>
          <a:spcPct val="0"/>
        </a:spcAft>
        <a:buChar char="»"/>
        <a:defRPr>
          <a:solidFill>
            <a:schemeClr val="bg2"/>
          </a:solidFill>
          <a:latin typeface="+mn-lt"/>
          <a:ea typeface="+mn-ea"/>
        </a:defRPr>
      </a:lvl7pPr>
      <a:lvl8pPr marL="3429000" indent="-228600" algn="l" rtl="0" eaLnBrk="1" fontAlgn="base" hangingPunct="1">
        <a:spcBef>
          <a:spcPct val="20000"/>
        </a:spcBef>
        <a:spcAft>
          <a:spcPct val="0"/>
        </a:spcAft>
        <a:buChar char="»"/>
        <a:defRPr>
          <a:solidFill>
            <a:schemeClr val="bg2"/>
          </a:solidFill>
          <a:latin typeface="+mn-lt"/>
          <a:ea typeface="+mn-ea"/>
        </a:defRPr>
      </a:lvl8pPr>
      <a:lvl9pPr marL="3886200" indent="-228600" algn="l" rtl="0" eaLnBrk="1" fontAlgn="base" hangingPunct="1">
        <a:spcBef>
          <a:spcPct val="20000"/>
        </a:spcBef>
        <a:spcAft>
          <a:spcPct val="0"/>
        </a:spcAft>
        <a:buChar char="»"/>
        <a:defRPr>
          <a:solidFill>
            <a:schemeClr val="bg2"/>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oleObject" Target="../embeddings/Microsoft_Office_Excel_97-2003_Worksheet2.xls"/><Relationship Id="rId4" Type="http://schemas.openxmlformats.org/officeDocument/2006/relationships/oleObject" Target="../embeddings/Microsoft_Office_Excel_97-2003_Worksheet1.xls"/></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Microsoft_Office_Excel_97-2003_Worksheet3.xls"/></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p:cNvSpPr>
            <a:spLocks noGrp="1"/>
          </p:cNvSpPr>
          <p:nvPr>
            <p:ph type="ctrTitle"/>
          </p:nvPr>
        </p:nvSpPr>
        <p:spPr/>
        <p:txBody>
          <a:bodyPr/>
          <a:lstStyle/>
          <a:p>
            <a:pPr eaLnBrk="1" hangingPunct="1"/>
            <a:endParaRPr lang="en-AU" smtClean="0"/>
          </a:p>
        </p:txBody>
      </p:sp>
      <p:sp>
        <p:nvSpPr>
          <p:cNvPr id="14338" name="Subtitle 2"/>
          <p:cNvSpPr>
            <a:spLocks noGrp="1"/>
          </p:cNvSpPr>
          <p:nvPr>
            <p:ph type="subTitle" idx="1"/>
          </p:nvPr>
        </p:nvSpPr>
        <p:spPr/>
        <p:txBody>
          <a:bodyPr/>
          <a:lstStyle/>
          <a:p>
            <a:pPr eaLnBrk="1" hangingPunct="1"/>
            <a:endParaRPr lang="en-AU" smtClean="0"/>
          </a:p>
        </p:txBody>
      </p:sp>
      <p:pic>
        <p:nvPicPr>
          <p:cNvPr id="14339" name="Picture 7" descr="ihop_powerpoint_v02"/>
          <p:cNvPicPr>
            <a:picLocks noChangeAspect="1" noChangeArrowheads="1"/>
          </p:cNvPicPr>
          <p:nvPr/>
        </p:nvPicPr>
        <p:blipFill>
          <a:blip r:embed="rId3" cstate="print"/>
          <a:srcRect/>
          <a:stretch>
            <a:fillRect/>
          </a:stretch>
        </p:blipFill>
        <p:spPr bwMode="auto">
          <a:xfrm>
            <a:off x="0" y="0"/>
            <a:ext cx="9144000" cy="6858000"/>
          </a:xfrm>
          <a:prstGeom prst="rect">
            <a:avLst/>
          </a:prstGeom>
          <a:noFill/>
          <a:ln w="9525">
            <a:noFill/>
            <a:miter lim="800000"/>
            <a:headEnd/>
            <a:tailEnd/>
          </a:ln>
        </p:spPr>
      </p:pic>
      <p:sp>
        <p:nvSpPr>
          <p:cNvPr id="5" name="Rectangle 2"/>
          <p:cNvSpPr txBox="1">
            <a:spLocks noChangeArrowheads="1"/>
          </p:cNvSpPr>
          <p:nvPr/>
        </p:nvSpPr>
        <p:spPr bwMode="auto">
          <a:xfrm>
            <a:off x="214313" y="1357313"/>
            <a:ext cx="8715375" cy="1428750"/>
          </a:xfrm>
          <a:prstGeom prst="rect">
            <a:avLst/>
          </a:prstGeom>
          <a:noFill/>
          <a:ln w="9525">
            <a:noFill/>
            <a:miter lim="800000"/>
            <a:headEnd/>
            <a:tailEnd/>
          </a:ln>
        </p:spPr>
        <p:txBody>
          <a:bodyPr/>
          <a:lstStyle/>
          <a:p>
            <a:pPr algn="ctr">
              <a:defRPr/>
            </a:pPr>
            <a:r>
              <a:rPr lang="en-US" sz="5400" b="1" kern="0" dirty="0">
                <a:solidFill>
                  <a:schemeClr val="bg1"/>
                </a:solidFill>
                <a:effectLst>
                  <a:outerShdw blurRad="38100" dist="38100" dir="2700000" algn="tl">
                    <a:srgbClr val="000000">
                      <a:alpha val="43137"/>
                    </a:srgbClr>
                  </a:outerShdw>
                </a:effectLst>
                <a:latin typeface="+mj-lt"/>
                <a:ea typeface="+mj-ea"/>
                <a:cs typeface="+mj-cs"/>
              </a:rPr>
              <a:t>Physical activity, quality of life and cancer</a:t>
            </a:r>
            <a:endParaRPr lang="en-AU" sz="5400" b="1" kern="0" dirty="0">
              <a:solidFill>
                <a:schemeClr val="bg1"/>
              </a:solidFill>
              <a:effectLst>
                <a:outerShdw blurRad="38100" dist="38100" dir="2700000" algn="tl">
                  <a:srgbClr val="000000">
                    <a:alpha val="43137"/>
                  </a:srgbClr>
                </a:outerShdw>
              </a:effectLst>
              <a:latin typeface="+mj-lt"/>
              <a:ea typeface="+mj-ea"/>
              <a:cs typeface="+mj-cs"/>
            </a:endParaRPr>
          </a:p>
        </p:txBody>
      </p:sp>
      <p:pic>
        <p:nvPicPr>
          <p:cNvPr id="14341" name="Picture 5"/>
          <p:cNvPicPr>
            <a:picLocks noChangeAspect="1" noChangeArrowheads="1"/>
          </p:cNvPicPr>
          <p:nvPr/>
        </p:nvPicPr>
        <p:blipFill>
          <a:blip r:embed="rId4" cstate="print"/>
          <a:srcRect/>
          <a:stretch>
            <a:fillRect/>
          </a:stretch>
        </p:blipFill>
        <p:spPr bwMode="auto">
          <a:xfrm>
            <a:off x="3929063" y="5786438"/>
            <a:ext cx="1096962" cy="857250"/>
          </a:xfrm>
          <a:prstGeom prst="rect">
            <a:avLst/>
          </a:prstGeom>
          <a:noFill/>
          <a:ln w="9525">
            <a:noFill/>
            <a:miter lim="800000"/>
            <a:headEnd/>
            <a:tailEnd/>
          </a:ln>
        </p:spPr>
      </p:pic>
      <p:sp>
        <p:nvSpPr>
          <p:cNvPr id="8" name="Rectangle 3"/>
          <p:cNvSpPr txBox="1">
            <a:spLocks noChangeArrowheads="1"/>
          </p:cNvSpPr>
          <p:nvPr/>
        </p:nvSpPr>
        <p:spPr bwMode="auto">
          <a:xfrm>
            <a:off x="571500" y="3571875"/>
            <a:ext cx="8229600" cy="944563"/>
          </a:xfrm>
          <a:prstGeom prst="rect">
            <a:avLst/>
          </a:prstGeom>
          <a:noFill/>
          <a:ln w="9525">
            <a:noFill/>
            <a:miter lim="800000"/>
            <a:headEnd/>
            <a:tailEnd/>
          </a:ln>
        </p:spPr>
        <p:txBody>
          <a:bodyPr>
            <a:normAutofit/>
          </a:bodyPr>
          <a:lstStyle/>
          <a:p>
            <a:pPr algn="ctr">
              <a:lnSpc>
                <a:spcPct val="90000"/>
              </a:lnSpc>
              <a:spcBef>
                <a:spcPct val="20000"/>
              </a:spcBef>
              <a:defRPr/>
            </a:pPr>
            <a:r>
              <a:rPr lang="en-AU" sz="2800" b="1" kern="0" dirty="0">
                <a:solidFill>
                  <a:schemeClr val="bg2"/>
                </a:solidFill>
                <a:latin typeface="+mn-lt"/>
                <a:ea typeface="+mn-ea"/>
                <a:cs typeface="+mn-cs"/>
              </a:rPr>
              <a:t>Sandi Hayes</a:t>
            </a:r>
          </a:p>
        </p:txBody>
      </p:sp>
      <p:sp>
        <p:nvSpPr>
          <p:cNvPr id="14343" name="TextBox 8"/>
          <p:cNvSpPr txBox="1">
            <a:spLocks noChangeArrowheads="1"/>
          </p:cNvSpPr>
          <p:nvPr/>
        </p:nvSpPr>
        <p:spPr bwMode="auto">
          <a:xfrm>
            <a:off x="0" y="6211888"/>
            <a:ext cx="4572000" cy="369887"/>
          </a:xfrm>
          <a:prstGeom prst="rect">
            <a:avLst/>
          </a:prstGeom>
          <a:noFill/>
          <a:ln w="9525">
            <a:noFill/>
            <a:miter lim="800000"/>
            <a:headEnd/>
            <a:tailEnd/>
          </a:ln>
        </p:spPr>
        <p:txBody>
          <a:bodyPr>
            <a:spAutoFit/>
          </a:bodyPr>
          <a:lstStyle/>
          <a:p>
            <a:r>
              <a:rPr lang="en-AU">
                <a:solidFill>
                  <a:schemeClr val="bg2"/>
                </a:solidFill>
              </a:rPr>
              <a:t>QUT, IHBI, School of Public Health</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eaLnBrk="1" hangingPunct="1">
              <a:defRPr/>
            </a:pPr>
            <a:r>
              <a:rPr lang="en-AU" dirty="0" smtClean="0">
                <a:solidFill>
                  <a:schemeClr val="bg2">
                    <a:lumMod val="75000"/>
                  </a:schemeClr>
                </a:solidFill>
                <a:cs typeface="+mn-cs"/>
              </a:rPr>
              <a:t>The Physical activity and cancer control framework (PACC):</a:t>
            </a:r>
          </a:p>
          <a:p>
            <a:pPr lvl="1" eaLnBrk="1" hangingPunct="1">
              <a:defRPr/>
            </a:pPr>
            <a:r>
              <a:rPr lang="en-AU" dirty="0" smtClean="0">
                <a:solidFill>
                  <a:schemeClr val="bg2">
                    <a:lumMod val="75000"/>
                  </a:schemeClr>
                </a:solidFill>
              </a:rPr>
              <a:t>Treatment preparation/coping before treatment</a:t>
            </a:r>
          </a:p>
          <a:p>
            <a:pPr lvl="1" eaLnBrk="1" hangingPunct="1">
              <a:defRPr/>
            </a:pPr>
            <a:r>
              <a:rPr lang="en-AU" dirty="0" smtClean="0">
                <a:solidFill>
                  <a:schemeClr val="bg2">
                    <a:lumMod val="75000"/>
                  </a:schemeClr>
                </a:solidFill>
              </a:rPr>
              <a:t>Treatment effectiveness/coping during treatment</a:t>
            </a:r>
          </a:p>
          <a:p>
            <a:pPr lvl="1" eaLnBrk="1" hangingPunct="1">
              <a:defRPr/>
            </a:pPr>
            <a:r>
              <a:rPr lang="en-AU" dirty="0" smtClean="0">
                <a:solidFill>
                  <a:schemeClr val="bg2">
                    <a:lumMod val="75000"/>
                  </a:schemeClr>
                </a:solidFill>
              </a:rPr>
              <a:t>Recovery/rehabilitation</a:t>
            </a:r>
          </a:p>
          <a:p>
            <a:pPr lvl="1" eaLnBrk="1" hangingPunct="1">
              <a:defRPr/>
            </a:pPr>
            <a:r>
              <a:rPr lang="en-AU" dirty="0" smtClean="0">
                <a:solidFill>
                  <a:schemeClr val="bg2">
                    <a:lumMod val="75000"/>
                  </a:schemeClr>
                </a:solidFill>
              </a:rPr>
              <a:t>Disease prevention/health promotion</a:t>
            </a:r>
          </a:p>
          <a:p>
            <a:pPr lvl="1" eaLnBrk="1" hangingPunct="1">
              <a:defRPr/>
            </a:pPr>
            <a:r>
              <a:rPr lang="en-AU" dirty="0" smtClean="0">
                <a:solidFill>
                  <a:schemeClr val="bg2">
                    <a:lumMod val="75000"/>
                  </a:schemeClr>
                </a:solidFill>
              </a:rPr>
              <a:t>Survival</a:t>
            </a:r>
          </a:p>
          <a:p>
            <a:pPr lvl="1" eaLnBrk="1" hangingPunct="1">
              <a:defRPr/>
            </a:pPr>
            <a:r>
              <a:rPr lang="en-AU" dirty="0" smtClean="0">
                <a:solidFill>
                  <a:schemeClr val="bg2">
                    <a:lumMod val="75000"/>
                  </a:schemeClr>
                </a:solidFill>
              </a:rPr>
              <a:t>Palliation</a:t>
            </a:r>
            <a:endParaRPr lang="en-AU" dirty="0">
              <a:solidFill>
                <a:schemeClr val="bg2">
                  <a:lumMod val="75000"/>
                </a:schemeClr>
              </a:solidFill>
            </a:endParaRPr>
          </a:p>
        </p:txBody>
      </p:sp>
      <p:sp>
        <p:nvSpPr>
          <p:cNvPr id="5" name="TextBox 4"/>
          <p:cNvSpPr txBox="1"/>
          <p:nvPr/>
        </p:nvSpPr>
        <p:spPr>
          <a:xfrm>
            <a:off x="285750" y="6286500"/>
            <a:ext cx="7500938" cy="307975"/>
          </a:xfrm>
          <a:prstGeom prst="rect">
            <a:avLst/>
          </a:prstGeom>
          <a:noFill/>
        </p:spPr>
        <p:txBody>
          <a:bodyPr>
            <a:spAutoFit/>
          </a:bodyPr>
          <a:lstStyle/>
          <a:p>
            <a:pPr fontAlgn="auto">
              <a:spcBef>
                <a:spcPts val="0"/>
              </a:spcBef>
              <a:spcAft>
                <a:spcPts val="0"/>
              </a:spcAft>
              <a:defRPr/>
            </a:pPr>
            <a:r>
              <a:rPr lang="en-AU" sz="1400" i="1" dirty="0">
                <a:solidFill>
                  <a:schemeClr val="bg2">
                    <a:lumMod val="75000"/>
                  </a:schemeClr>
                </a:solidFill>
                <a:latin typeface="+mn-lt"/>
                <a:ea typeface="+mn-ea"/>
                <a:cs typeface="+mn-cs"/>
              </a:rPr>
              <a:t>Courneya KS, et al. (2007).</a:t>
            </a:r>
            <a:r>
              <a:rPr lang="en-AU" sz="1400" i="1" dirty="0" err="1">
                <a:solidFill>
                  <a:schemeClr val="bg2">
                    <a:lumMod val="75000"/>
                  </a:schemeClr>
                </a:solidFill>
                <a:latin typeface="+mn-lt"/>
                <a:ea typeface="+mn-ea"/>
                <a:cs typeface="+mn-cs"/>
              </a:rPr>
              <a:t>Sem</a:t>
            </a:r>
            <a:r>
              <a:rPr lang="en-AU" sz="1400" i="1" dirty="0">
                <a:solidFill>
                  <a:schemeClr val="bg2">
                    <a:lumMod val="75000"/>
                  </a:schemeClr>
                </a:solidFill>
                <a:latin typeface="+mn-lt"/>
                <a:ea typeface="+mn-ea"/>
                <a:cs typeface="+mn-cs"/>
              </a:rPr>
              <a:t> Oncol </a:t>
            </a:r>
            <a:r>
              <a:rPr lang="en-AU" sz="1400" i="1" dirty="0" err="1">
                <a:solidFill>
                  <a:schemeClr val="bg2">
                    <a:lumMod val="75000"/>
                  </a:schemeClr>
                </a:solidFill>
                <a:latin typeface="+mn-lt"/>
                <a:ea typeface="+mn-ea"/>
                <a:cs typeface="+mn-cs"/>
              </a:rPr>
              <a:t>Nurs</a:t>
            </a:r>
            <a:r>
              <a:rPr lang="en-AU" sz="1400" i="1" dirty="0">
                <a:solidFill>
                  <a:schemeClr val="bg2">
                    <a:lumMod val="75000"/>
                  </a:schemeClr>
                </a:solidFill>
                <a:latin typeface="+mn-lt"/>
                <a:ea typeface="+mn-ea"/>
                <a:cs typeface="+mn-cs"/>
              </a:rPr>
              <a:t>, 23:242-252.</a:t>
            </a:r>
          </a:p>
        </p:txBody>
      </p:sp>
      <p:cxnSp>
        <p:nvCxnSpPr>
          <p:cNvPr id="16387" name="Straight Connector 6"/>
          <p:cNvCxnSpPr>
            <a:cxnSpLocks noChangeShapeType="1"/>
          </p:cNvCxnSpPr>
          <p:nvPr/>
        </p:nvCxnSpPr>
        <p:spPr bwMode="auto">
          <a:xfrm>
            <a:off x="500063" y="1143000"/>
            <a:ext cx="7000875" cy="0"/>
          </a:xfrm>
          <a:prstGeom prst="line">
            <a:avLst/>
          </a:prstGeom>
          <a:noFill/>
          <a:ln w="57150" algn="ctr">
            <a:solidFill>
              <a:srgbClr val="FFC000"/>
            </a:solidFill>
            <a:round/>
            <a:headEnd/>
            <a:tailEnd/>
          </a:ln>
        </p:spPr>
      </p:cxnSp>
      <p:sp>
        <p:nvSpPr>
          <p:cNvPr id="16388" name="Title 7"/>
          <p:cNvSpPr>
            <a:spLocks noGrp="1"/>
          </p:cNvSpPr>
          <p:nvPr>
            <p:ph type="title"/>
          </p:nvPr>
        </p:nvSpPr>
        <p:spPr>
          <a:xfrm>
            <a:off x="428625" y="428625"/>
            <a:ext cx="7772400" cy="838200"/>
          </a:xfrm>
        </p:spPr>
        <p:txBody>
          <a:bodyPr/>
          <a:lstStyle/>
          <a:p>
            <a:pPr eaLnBrk="1" hangingPunct="1"/>
            <a:r>
              <a:rPr lang="en-AU" smtClean="0"/>
              <a:t>Exercise and cancer</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8052" name="Straight Connector 6"/>
          <p:cNvCxnSpPr>
            <a:cxnSpLocks noChangeShapeType="1"/>
          </p:cNvCxnSpPr>
          <p:nvPr/>
        </p:nvCxnSpPr>
        <p:spPr bwMode="auto">
          <a:xfrm>
            <a:off x="500063" y="1143000"/>
            <a:ext cx="7000875" cy="0"/>
          </a:xfrm>
          <a:prstGeom prst="line">
            <a:avLst/>
          </a:prstGeom>
          <a:noFill/>
          <a:ln w="57150" algn="ctr">
            <a:solidFill>
              <a:srgbClr val="FFC000"/>
            </a:solidFill>
            <a:round/>
            <a:headEnd/>
            <a:tailEnd/>
          </a:ln>
        </p:spPr>
      </p:cxnSp>
      <p:sp>
        <p:nvSpPr>
          <p:cNvPr id="258053" name="Title 7"/>
          <p:cNvSpPr>
            <a:spLocks noGrp="1"/>
          </p:cNvSpPr>
          <p:nvPr>
            <p:ph type="title"/>
          </p:nvPr>
        </p:nvSpPr>
        <p:spPr>
          <a:xfrm>
            <a:off x="428625" y="428625"/>
            <a:ext cx="7772400" cy="838200"/>
          </a:xfrm>
        </p:spPr>
        <p:txBody>
          <a:bodyPr/>
          <a:lstStyle/>
          <a:p>
            <a:pPr eaLnBrk="1" hangingPunct="1"/>
            <a:r>
              <a:rPr lang="en-AU" smtClean="0"/>
              <a:t>Exercise and cancer: fitness</a:t>
            </a:r>
          </a:p>
        </p:txBody>
      </p:sp>
      <p:graphicFrame>
        <p:nvGraphicFramePr>
          <p:cNvPr id="258050" name="Object 3"/>
          <p:cNvGraphicFramePr>
            <a:graphicFrameLocks noChangeAspect="1"/>
          </p:cNvGraphicFramePr>
          <p:nvPr/>
        </p:nvGraphicFramePr>
        <p:xfrm>
          <a:off x="0" y="1487488"/>
          <a:ext cx="4930775" cy="3532187"/>
        </p:xfrm>
        <a:graphic>
          <a:graphicData uri="http://schemas.openxmlformats.org/presentationml/2006/ole">
            <p:oleObj spid="_x0000_s258050" name="Chart" r:id="rId4" imgW="5476875" imgH="3619500" progId="Excel.Sheet.8">
              <p:embed/>
            </p:oleObj>
          </a:graphicData>
        </a:graphic>
      </p:graphicFrame>
      <p:graphicFrame>
        <p:nvGraphicFramePr>
          <p:cNvPr id="258051" name="Object 3"/>
          <p:cNvGraphicFramePr>
            <a:graphicFrameLocks noChangeAspect="1"/>
          </p:cNvGraphicFramePr>
          <p:nvPr/>
        </p:nvGraphicFramePr>
        <p:xfrm>
          <a:off x="4500563" y="1428750"/>
          <a:ext cx="4429125" cy="3559175"/>
        </p:xfrm>
        <a:graphic>
          <a:graphicData uri="http://schemas.openxmlformats.org/presentationml/2006/ole">
            <p:oleObj spid="_x0000_s258051" name="Worksheet" r:id="rId5" imgW="5314950" imgH="4133850" progId="Excel.Sheet.8">
              <p:embed/>
            </p:oleObj>
          </a:graphicData>
        </a:graphic>
      </p:graphicFrame>
      <p:sp>
        <p:nvSpPr>
          <p:cNvPr id="258054" name="TextBox 8"/>
          <p:cNvSpPr txBox="1">
            <a:spLocks noChangeArrowheads="1"/>
          </p:cNvSpPr>
          <p:nvPr/>
        </p:nvSpPr>
        <p:spPr bwMode="auto">
          <a:xfrm>
            <a:off x="214313" y="6010275"/>
            <a:ext cx="8572500" cy="276225"/>
          </a:xfrm>
          <a:prstGeom prst="rect">
            <a:avLst/>
          </a:prstGeom>
          <a:noFill/>
          <a:ln w="9525">
            <a:noFill/>
            <a:miter lim="800000"/>
            <a:headEnd/>
            <a:tailEnd/>
          </a:ln>
        </p:spPr>
        <p:txBody>
          <a:bodyPr>
            <a:spAutoFit/>
          </a:bodyPr>
          <a:lstStyle/>
          <a:p>
            <a:r>
              <a:rPr lang="en-AU" sz="1200" i="1">
                <a:solidFill>
                  <a:schemeClr val="tx2"/>
                </a:solidFill>
              </a:rPr>
              <a:t>Figure 1: Harrison, et al. (2009). Psycho-oncology, 18:387-94. </a:t>
            </a:r>
          </a:p>
        </p:txBody>
      </p:sp>
      <p:sp>
        <p:nvSpPr>
          <p:cNvPr id="258055" name="TextBox 9"/>
          <p:cNvSpPr txBox="1">
            <a:spLocks noChangeArrowheads="1"/>
          </p:cNvSpPr>
          <p:nvPr/>
        </p:nvSpPr>
        <p:spPr bwMode="auto">
          <a:xfrm>
            <a:off x="214313" y="6296025"/>
            <a:ext cx="8572500" cy="276225"/>
          </a:xfrm>
          <a:prstGeom prst="rect">
            <a:avLst/>
          </a:prstGeom>
          <a:noFill/>
          <a:ln w="9525">
            <a:noFill/>
            <a:miter lim="800000"/>
            <a:headEnd/>
            <a:tailEnd/>
          </a:ln>
        </p:spPr>
        <p:txBody>
          <a:bodyPr>
            <a:spAutoFit/>
          </a:bodyPr>
          <a:lstStyle/>
          <a:p>
            <a:r>
              <a:rPr lang="en-AU" sz="1200" i="1">
                <a:solidFill>
                  <a:schemeClr val="tx2"/>
                </a:solidFill>
              </a:rPr>
              <a:t>Figure 2: Courneya., et al. (2003). Journal of Clinical Oncology, 21:1660-8.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9077" name="Straight Connector 6"/>
          <p:cNvCxnSpPr>
            <a:cxnSpLocks noChangeShapeType="1"/>
          </p:cNvCxnSpPr>
          <p:nvPr/>
        </p:nvCxnSpPr>
        <p:spPr bwMode="auto">
          <a:xfrm>
            <a:off x="500063" y="1571625"/>
            <a:ext cx="7000875" cy="0"/>
          </a:xfrm>
          <a:prstGeom prst="line">
            <a:avLst/>
          </a:prstGeom>
          <a:noFill/>
          <a:ln w="57150" algn="ctr">
            <a:solidFill>
              <a:srgbClr val="FFC000"/>
            </a:solidFill>
            <a:round/>
            <a:headEnd/>
            <a:tailEnd/>
          </a:ln>
        </p:spPr>
      </p:cxnSp>
      <p:sp>
        <p:nvSpPr>
          <p:cNvPr id="259078" name="Title 7"/>
          <p:cNvSpPr>
            <a:spLocks noGrp="1"/>
          </p:cNvSpPr>
          <p:nvPr>
            <p:ph type="title"/>
          </p:nvPr>
        </p:nvSpPr>
        <p:spPr>
          <a:xfrm>
            <a:off x="428625" y="285750"/>
            <a:ext cx="7772400" cy="838200"/>
          </a:xfrm>
        </p:spPr>
        <p:txBody>
          <a:bodyPr/>
          <a:lstStyle/>
          <a:p>
            <a:pPr eaLnBrk="1" hangingPunct="1"/>
            <a:r>
              <a:rPr lang="en-AU" smtClean="0"/>
              <a:t>Exercise and cancer: treatment-  </a:t>
            </a:r>
            <a:br>
              <a:rPr lang="en-AU" smtClean="0"/>
            </a:br>
            <a:r>
              <a:rPr lang="en-AU" smtClean="0"/>
              <a:t>  related symptoms</a:t>
            </a:r>
          </a:p>
        </p:txBody>
      </p:sp>
      <p:graphicFrame>
        <p:nvGraphicFramePr>
          <p:cNvPr id="259076" name="Object 4"/>
          <p:cNvGraphicFramePr>
            <a:graphicFrameLocks noChangeAspect="1"/>
          </p:cNvGraphicFramePr>
          <p:nvPr/>
        </p:nvGraphicFramePr>
        <p:xfrm>
          <a:off x="1381125" y="1785938"/>
          <a:ext cx="6191250" cy="3944937"/>
        </p:xfrm>
        <a:graphic>
          <a:graphicData uri="http://schemas.openxmlformats.org/presentationml/2006/ole">
            <p:oleObj spid="_x0000_s259076" name="Worksheet" r:id="rId4" imgW="4943475" imgH="3895725" progId="Excel.Sheet.8">
              <p:embed/>
            </p:oleObj>
          </a:graphicData>
        </a:graphic>
      </p:graphicFrame>
      <p:sp>
        <p:nvSpPr>
          <p:cNvPr id="259079" name="TextBox 10"/>
          <p:cNvSpPr txBox="1">
            <a:spLocks noChangeArrowheads="1"/>
          </p:cNvSpPr>
          <p:nvPr/>
        </p:nvSpPr>
        <p:spPr bwMode="auto">
          <a:xfrm>
            <a:off x="142875" y="6367463"/>
            <a:ext cx="8572500" cy="276225"/>
          </a:xfrm>
          <a:prstGeom prst="rect">
            <a:avLst/>
          </a:prstGeom>
          <a:noFill/>
          <a:ln w="9525">
            <a:noFill/>
            <a:miter lim="800000"/>
            <a:headEnd/>
            <a:tailEnd/>
          </a:ln>
        </p:spPr>
        <p:txBody>
          <a:bodyPr>
            <a:spAutoFit/>
          </a:bodyPr>
          <a:lstStyle/>
          <a:p>
            <a:r>
              <a:rPr lang="en-AU" sz="1200" i="1">
                <a:solidFill>
                  <a:schemeClr val="tx2"/>
                </a:solidFill>
              </a:rPr>
              <a:t>Figure 1: PTS unpublished data; Courneya., et al. (2003) JCO; Dimeo,. et al. (1999) Cancer.</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3169" name="Straight Connector 6"/>
          <p:cNvCxnSpPr>
            <a:cxnSpLocks noChangeShapeType="1"/>
          </p:cNvCxnSpPr>
          <p:nvPr/>
        </p:nvCxnSpPr>
        <p:spPr bwMode="auto">
          <a:xfrm>
            <a:off x="500063" y="1571625"/>
            <a:ext cx="7000875" cy="0"/>
          </a:xfrm>
          <a:prstGeom prst="line">
            <a:avLst/>
          </a:prstGeom>
          <a:noFill/>
          <a:ln w="57150" algn="ctr">
            <a:solidFill>
              <a:srgbClr val="FFC000"/>
            </a:solidFill>
            <a:round/>
            <a:headEnd/>
            <a:tailEnd/>
          </a:ln>
        </p:spPr>
      </p:cxnSp>
      <p:sp>
        <p:nvSpPr>
          <p:cNvPr id="263170" name="Title 7"/>
          <p:cNvSpPr>
            <a:spLocks noGrp="1"/>
          </p:cNvSpPr>
          <p:nvPr>
            <p:ph type="title"/>
          </p:nvPr>
        </p:nvSpPr>
        <p:spPr>
          <a:xfrm>
            <a:off x="428625" y="285750"/>
            <a:ext cx="8429625" cy="838200"/>
          </a:xfrm>
        </p:spPr>
        <p:txBody>
          <a:bodyPr/>
          <a:lstStyle/>
          <a:p>
            <a:pPr eaLnBrk="1" hangingPunct="1"/>
            <a:r>
              <a:rPr lang="en-AU" smtClean="0"/>
              <a:t>Exercise and cancer: psychosocial </a:t>
            </a:r>
            <a:br>
              <a:rPr lang="en-AU" smtClean="0"/>
            </a:br>
            <a:r>
              <a:rPr lang="en-AU" smtClean="0"/>
              <a:t>  concerns</a:t>
            </a:r>
          </a:p>
        </p:txBody>
      </p:sp>
      <p:graphicFrame>
        <p:nvGraphicFramePr>
          <p:cNvPr id="12" name="Table 11"/>
          <p:cNvGraphicFramePr>
            <a:graphicFrameLocks noGrp="1"/>
          </p:cNvGraphicFramePr>
          <p:nvPr/>
        </p:nvGraphicFramePr>
        <p:xfrm>
          <a:off x="357188" y="2278063"/>
          <a:ext cx="8501122" cy="2865120"/>
        </p:xfrm>
        <a:graphic>
          <a:graphicData uri="http://schemas.openxmlformats.org/drawingml/2006/table">
            <a:tbl>
              <a:tblPr firstRow="1" bandRow="1">
                <a:tableStyleId>{5C22544A-7EE6-4342-B048-85BDC9FD1C3A}</a:tableStyleId>
              </a:tblPr>
              <a:tblGrid>
                <a:gridCol w="3071834"/>
                <a:gridCol w="571502"/>
                <a:gridCol w="1357322"/>
                <a:gridCol w="1214446"/>
                <a:gridCol w="1285884"/>
                <a:gridCol w="1000134"/>
              </a:tblGrid>
              <a:tr h="370840">
                <a:tc>
                  <a:txBody>
                    <a:bodyPr/>
                    <a:lstStyle/>
                    <a:p>
                      <a:r>
                        <a:rPr lang="en-AU" b="0" dirty="0" smtClean="0">
                          <a:solidFill>
                            <a:schemeClr val="tx2"/>
                          </a:solidFill>
                        </a:rPr>
                        <a:t>Variable </a:t>
                      </a:r>
                      <a:endParaRPr lang="en-AU" b="0" dirty="0"/>
                    </a:p>
                  </a:txBody>
                  <a:tcPr/>
                </a:tc>
                <a:tc>
                  <a:txBody>
                    <a:bodyPr/>
                    <a:lstStyle/>
                    <a:p>
                      <a:pPr algn="ctr"/>
                      <a:r>
                        <a:rPr lang="en-AU" b="0" dirty="0" smtClean="0">
                          <a:solidFill>
                            <a:schemeClr val="tx2"/>
                          </a:solidFill>
                        </a:rPr>
                        <a:t>N </a:t>
                      </a:r>
                      <a:endParaRPr lang="en-AU" b="0" dirty="0"/>
                    </a:p>
                  </a:txBody>
                  <a:tcPr/>
                </a:tc>
                <a:tc>
                  <a:txBody>
                    <a:bodyPr/>
                    <a:lstStyle/>
                    <a:p>
                      <a:pPr algn="ctr"/>
                      <a:r>
                        <a:rPr lang="en-AU" b="0" dirty="0" smtClean="0">
                          <a:solidFill>
                            <a:schemeClr val="tx2"/>
                          </a:solidFill>
                        </a:rPr>
                        <a:t>Before </a:t>
                      </a:r>
                      <a:endParaRPr lang="en-AU" b="0" dirty="0"/>
                    </a:p>
                  </a:txBody>
                  <a:tcPr/>
                </a:tc>
                <a:tc>
                  <a:txBody>
                    <a:bodyPr/>
                    <a:lstStyle/>
                    <a:p>
                      <a:pPr algn="ctr"/>
                      <a:r>
                        <a:rPr lang="en-AU" b="0" dirty="0" smtClean="0">
                          <a:solidFill>
                            <a:schemeClr val="tx2"/>
                          </a:solidFill>
                        </a:rPr>
                        <a:t>After </a:t>
                      </a:r>
                      <a:endParaRPr lang="en-AU" b="0" dirty="0"/>
                    </a:p>
                  </a:txBody>
                  <a:tcPr/>
                </a:tc>
                <a:tc>
                  <a:txBody>
                    <a:bodyPr/>
                    <a:lstStyle/>
                    <a:p>
                      <a:pPr algn="ctr"/>
                      <a:r>
                        <a:rPr lang="en-AU" b="0" dirty="0" smtClean="0">
                          <a:solidFill>
                            <a:schemeClr val="tx2"/>
                          </a:solidFill>
                        </a:rPr>
                        <a:t>% change </a:t>
                      </a:r>
                      <a:endParaRPr lang="en-AU" b="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AU" b="0" dirty="0" smtClean="0">
                          <a:solidFill>
                            <a:schemeClr val="tx2"/>
                          </a:solidFill>
                        </a:rPr>
                        <a:t>p value</a:t>
                      </a:r>
                    </a:p>
                    <a:p>
                      <a:pPr algn="ctr"/>
                      <a:endParaRPr lang="en-AU" b="0" dirty="0"/>
                    </a:p>
                  </a:txBody>
                  <a:tcPr/>
                </a:tc>
              </a:tr>
              <a:tr h="370840">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solidFill>
                            <a:schemeClr val="tx2"/>
                          </a:solidFill>
                        </a:rPr>
                        <a:t>Beck Depression Scale</a:t>
                      </a:r>
                    </a:p>
                  </a:txBody>
                  <a:tcPr/>
                </a:tc>
                <a:tc hMerge="1">
                  <a:txBody>
                    <a:bodyPr/>
                    <a:lstStyle/>
                    <a:p>
                      <a:endParaRPr lang="en-AU"/>
                    </a:p>
                  </a:txBody>
                  <a:tcPr/>
                </a:tc>
                <a:tc hMerge="1">
                  <a:txBody>
                    <a:bodyPr/>
                    <a:lstStyle/>
                    <a:p>
                      <a:endParaRPr lang="en-AU"/>
                    </a:p>
                  </a:txBody>
                  <a:tcPr/>
                </a:tc>
                <a:tc>
                  <a:txBody>
                    <a:bodyPr/>
                    <a:lstStyle/>
                    <a:p>
                      <a:endParaRPr lang="en-AU"/>
                    </a:p>
                  </a:txBody>
                  <a:tcPr/>
                </a:tc>
                <a:tc>
                  <a:txBody>
                    <a:bodyPr/>
                    <a:lstStyle/>
                    <a:p>
                      <a:endParaRPr lang="en-AU"/>
                    </a:p>
                  </a:txBody>
                  <a:tcPr/>
                </a:tc>
                <a:tc>
                  <a:txBody>
                    <a:bodyPr/>
                    <a:lstStyle/>
                    <a:p>
                      <a:endParaRPr lang="en-AU" dirty="0"/>
                    </a:p>
                  </a:txBody>
                  <a:tcPr/>
                </a:tc>
              </a:tr>
              <a:tr h="370840">
                <a:tc>
                  <a:txBody>
                    <a:bodyPr/>
                    <a:lstStyle/>
                    <a:p>
                      <a:r>
                        <a:rPr lang="en-AU" dirty="0" smtClean="0">
                          <a:solidFill>
                            <a:schemeClr val="tx2"/>
                          </a:solidFill>
                        </a:rPr>
                        <a:t>  During-treatment group </a:t>
                      </a:r>
                      <a:endParaRPr lang="en-AU" dirty="0"/>
                    </a:p>
                  </a:txBody>
                  <a:tcPr/>
                </a:tc>
                <a:tc>
                  <a:txBody>
                    <a:bodyPr/>
                    <a:lstStyle/>
                    <a:p>
                      <a:r>
                        <a:rPr lang="en-AU" dirty="0" smtClean="0">
                          <a:solidFill>
                            <a:schemeClr val="tx2"/>
                          </a:solidFill>
                        </a:rPr>
                        <a:t>15</a:t>
                      </a:r>
                      <a:endParaRPr lang="en-AU" dirty="0"/>
                    </a:p>
                  </a:txBody>
                  <a:tcPr/>
                </a:tc>
                <a:tc>
                  <a:txBody>
                    <a:bodyPr/>
                    <a:lstStyle/>
                    <a:p>
                      <a:pPr algn="ctr"/>
                      <a:r>
                        <a:rPr lang="en-AU" dirty="0" smtClean="0">
                          <a:solidFill>
                            <a:schemeClr val="tx2"/>
                          </a:solidFill>
                        </a:rPr>
                        <a:t>9.1</a:t>
                      </a:r>
                      <a:r>
                        <a:rPr lang="en-AU" u="sng" dirty="0" smtClean="0">
                          <a:solidFill>
                            <a:schemeClr val="tx2"/>
                          </a:solidFill>
                        </a:rPr>
                        <a:t>+</a:t>
                      </a:r>
                      <a:r>
                        <a:rPr lang="en-AU" dirty="0" smtClean="0">
                          <a:solidFill>
                            <a:schemeClr val="tx2"/>
                          </a:solidFill>
                        </a:rPr>
                        <a:t>4.3</a:t>
                      </a:r>
                      <a:endParaRPr lang="en-AU" dirty="0">
                        <a:solidFill>
                          <a:schemeClr val="tx2"/>
                        </a:solidFill>
                      </a:endParaRPr>
                    </a:p>
                  </a:txBody>
                  <a:tcPr/>
                </a:tc>
                <a:tc>
                  <a:txBody>
                    <a:bodyPr/>
                    <a:lstStyle/>
                    <a:p>
                      <a:pPr algn="ctr"/>
                      <a:r>
                        <a:rPr lang="en-AU" dirty="0" smtClean="0">
                          <a:solidFill>
                            <a:schemeClr val="tx2"/>
                          </a:solidFill>
                        </a:rPr>
                        <a:t>5.2</a:t>
                      </a:r>
                      <a:r>
                        <a:rPr lang="en-AU" u="sng" dirty="0" smtClean="0">
                          <a:solidFill>
                            <a:schemeClr val="tx2"/>
                          </a:solidFill>
                        </a:rPr>
                        <a:t>+</a:t>
                      </a:r>
                      <a:r>
                        <a:rPr lang="en-AU" dirty="0" smtClean="0">
                          <a:solidFill>
                            <a:schemeClr val="tx2"/>
                          </a:solidFill>
                        </a:rPr>
                        <a:t>3.1*</a:t>
                      </a:r>
                      <a:endParaRPr lang="en-AU" dirty="0">
                        <a:solidFill>
                          <a:schemeClr val="tx2"/>
                        </a:solidFill>
                      </a:endParaRPr>
                    </a:p>
                  </a:txBody>
                  <a:tcPr/>
                </a:tc>
                <a:tc>
                  <a:txBody>
                    <a:bodyPr/>
                    <a:lstStyle/>
                    <a:p>
                      <a:pPr algn="ctr"/>
                      <a:r>
                        <a:rPr lang="en-AU" dirty="0" smtClean="0">
                          <a:solidFill>
                            <a:schemeClr val="tx2"/>
                          </a:solidFill>
                        </a:rPr>
                        <a:t>–43.0%</a:t>
                      </a:r>
                      <a:endParaRPr lang="en-AU" dirty="0"/>
                    </a:p>
                  </a:txBody>
                  <a:tcPr/>
                </a:tc>
                <a:tc>
                  <a:txBody>
                    <a:bodyPr/>
                    <a:lstStyle/>
                    <a:p>
                      <a:pPr algn="ctr"/>
                      <a:r>
                        <a:rPr lang="en-AU" dirty="0" smtClean="0">
                          <a:solidFill>
                            <a:schemeClr val="tx2"/>
                          </a:solidFill>
                        </a:rPr>
                        <a:t>&lt;0.01</a:t>
                      </a:r>
                      <a:endParaRPr lang="en-AU" dirty="0"/>
                    </a:p>
                  </a:txBody>
                  <a:tcPr/>
                </a:tc>
              </a:tr>
              <a:tr h="370840">
                <a:tc>
                  <a:txBody>
                    <a:bodyPr/>
                    <a:lstStyle/>
                    <a:p>
                      <a:r>
                        <a:rPr lang="en-AU" dirty="0" smtClean="0">
                          <a:solidFill>
                            <a:schemeClr val="tx2"/>
                          </a:solidFill>
                        </a:rPr>
                        <a:t>  Following-treatment group </a:t>
                      </a:r>
                      <a:endParaRPr lang="en-AU" dirty="0"/>
                    </a:p>
                  </a:txBody>
                  <a:tcPr/>
                </a:tc>
                <a:tc>
                  <a:txBody>
                    <a:bodyPr/>
                    <a:lstStyle/>
                    <a:p>
                      <a:r>
                        <a:rPr lang="en-AU" dirty="0" smtClean="0">
                          <a:solidFill>
                            <a:schemeClr val="tx2"/>
                          </a:solidFill>
                        </a:rPr>
                        <a:t>93</a:t>
                      </a:r>
                      <a:endParaRPr lang="en-AU" dirty="0">
                        <a:solidFill>
                          <a:schemeClr val="tx2"/>
                        </a:solidFill>
                      </a:endParaRPr>
                    </a:p>
                  </a:txBody>
                  <a:tcPr/>
                </a:tc>
                <a:tc>
                  <a:txBody>
                    <a:bodyPr/>
                    <a:lstStyle/>
                    <a:p>
                      <a:pPr algn="ctr"/>
                      <a:r>
                        <a:rPr lang="en-AU" dirty="0" smtClean="0">
                          <a:solidFill>
                            <a:schemeClr val="tx2"/>
                          </a:solidFill>
                        </a:rPr>
                        <a:t>10.7</a:t>
                      </a:r>
                      <a:r>
                        <a:rPr lang="en-AU" u="sng" dirty="0" smtClean="0">
                          <a:solidFill>
                            <a:schemeClr val="tx2"/>
                          </a:solidFill>
                        </a:rPr>
                        <a:t>+</a:t>
                      </a:r>
                      <a:r>
                        <a:rPr lang="en-AU" u="none" dirty="0" smtClean="0">
                          <a:solidFill>
                            <a:schemeClr val="tx2"/>
                          </a:solidFill>
                        </a:rPr>
                        <a:t>7.0</a:t>
                      </a:r>
                      <a:endParaRPr lang="en-AU" dirty="0">
                        <a:solidFill>
                          <a:schemeClr val="tx2"/>
                        </a:solidFill>
                      </a:endParaRPr>
                    </a:p>
                  </a:txBody>
                  <a:tcPr/>
                </a:tc>
                <a:tc>
                  <a:txBody>
                    <a:bodyPr/>
                    <a:lstStyle/>
                    <a:p>
                      <a:pPr algn="ctr"/>
                      <a:r>
                        <a:rPr lang="en-AU" dirty="0" smtClean="0">
                          <a:solidFill>
                            <a:schemeClr val="tx2"/>
                          </a:solidFill>
                        </a:rPr>
                        <a:t>8.0</a:t>
                      </a:r>
                      <a:r>
                        <a:rPr lang="en-AU" u="sng" dirty="0" smtClean="0">
                          <a:solidFill>
                            <a:schemeClr val="tx2"/>
                          </a:solidFill>
                        </a:rPr>
                        <a:t>+</a:t>
                      </a:r>
                      <a:r>
                        <a:rPr lang="en-AU" dirty="0" smtClean="0">
                          <a:solidFill>
                            <a:schemeClr val="tx2"/>
                          </a:solidFill>
                        </a:rPr>
                        <a:t>6.9*</a:t>
                      </a:r>
                      <a:endParaRPr lang="en-AU" dirty="0">
                        <a:solidFill>
                          <a:schemeClr val="tx2"/>
                        </a:solidFill>
                      </a:endParaRPr>
                    </a:p>
                  </a:txBody>
                  <a:tcPr/>
                </a:tc>
                <a:tc>
                  <a:txBody>
                    <a:bodyPr/>
                    <a:lstStyle/>
                    <a:p>
                      <a:pPr algn="ctr"/>
                      <a:r>
                        <a:rPr lang="en-AU" dirty="0" smtClean="0">
                          <a:solidFill>
                            <a:schemeClr val="tx2"/>
                          </a:solidFill>
                        </a:rPr>
                        <a:t>–25.6%</a:t>
                      </a:r>
                      <a:endParaRPr lang="en-AU" dirty="0"/>
                    </a:p>
                  </a:txBody>
                  <a:tcPr/>
                </a:tc>
                <a:tc>
                  <a:txBody>
                    <a:bodyPr/>
                    <a:lstStyle/>
                    <a:p>
                      <a:pPr algn="ctr"/>
                      <a:r>
                        <a:rPr lang="en-AU" dirty="0" smtClean="0">
                          <a:solidFill>
                            <a:schemeClr val="tx2"/>
                          </a:solidFill>
                        </a:rPr>
                        <a:t>&lt;0.01</a:t>
                      </a:r>
                      <a:endParaRPr lang="en-AU" dirty="0"/>
                    </a:p>
                  </a:txBody>
                  <a:tcPr/>
                </a:tc>
              </a:tr>
              <a:tr h="370840">
                <a:tc>
                  <a:txBody>
                    <a:bodyPr/>
                    <a:lstStyle/>
                    <a:p>
                      <a:r>
                        <a:rPr lang="en-AU" dirty="0" smtClean="0">
                          <a:solidFill>
                            <a:schemeClr val="tx2"/>
                          </a:solidFill>
                        </a:rPr>
                        <a:t>Quality of life</a:t>
                      </a:r>
                    </a:p>
                  </a:txBody>
                  <a:tcPr/>
                </a:tc>
                <a:tc>
                  <a:txBody>
                    <a:bodyPr/>
                    <a:lstStyle/>
                    <a:p>
                      <a:endParaRPr lang="en-AU"/>
                    </a:p>
                  </a:txBody>
                  <a:tcPr/>
                </a:tc>
                <a:tc>
                  <a:txBody>
                    <a:bodyPr/>
                    <a:lstStyle/>
                    <a:p>
                      <a:pPr algn="ctr"/>
                      <a:endParaRPr lang="en-AU">
                        <a:solidFill>
                          <a:schemeClr val="tx2"/>
                        </a:solidFill>
                      </a:endParaRPr>
                    </a:p>
                  </a:txBody>
                  <a:tcPr/>
                </a:tc>
                <a:tc>
                  <a:txBody>
                    <a:bodyPr/>
                    <a:lstStyle/>
                    <a:p>
                      <a:pPr algn="ctr"/>
                      <a:endParaRPr lang="en-AU" dirty="0">
                        <a:solidFill>
                          <a:schemeClr val="tx2"/>
                        </a:solidFill>
                      </a:endParaRPr>
                    </a:p>
                  </a:txBody>
                  <a:tcPr/>
                </a:tc>
                <a:tc>
                  <a:txBody>
                    <a:bodyPr/>
                    <a:lstStyle/>
                    <a:p>
                      <a:pPr algn="ctr"/>
                      <a:endParaRPr lang="en-AU" dirty="0">
                        <a:solidFill>
                          <a:schemeClr val="tx2"/>
                        </a:solidFill>
                      </a:endParaRPr>
                    </a:p>
                  </a:txBody>
                  <a:tcPr/>
                </a:tc>
                <a:tc>
                  <a:txBody>
                    <a:bodyPr/>
                    <a:lstStyle/>
                    <a:p>
                      <a:pPr algn="ctr"/>
                      <a:endParaRPr lang="en-AU" dirty="0">
                        <a:solidFill>
                          <a:schemeClr val="tx2"/>
                        </a:solidFill>
                      </a:endParaRPr>
                    </a:p>
                  </a:txBody>
                  <a:tcPr/>
                </a:tc>
              </a:tr>
              <a:tr h="370840">
                <a:tc>
                  <a:txBody>
                    <a:bodyPr/>
                    <a:lstStyle/>
                    <a:p>
                      <a:r>
                        <a:rPr lang="en-AU" dirty="0" smtClean="0">
                          <a:solidFill>
                            <a:schemeClr val="tx2"/>
                          </a:solidFill>
                        </a:rPr>
                        <a:t>  During-treatment group </a:t>
                      </a:r>
                      <a:endParaRPr lang="en-AU" dirty="0"/>
                    </a:p>
                  </a:txBody>
                  <a:tcPr/>
                </a:tc>
                <a:tc>
                  <a:txBody>
                    <a:bodyPr/>
                    <a:lstStyle/>
                    <a:p>
                      <a:r>
                        <a:rPr lang="en-AU" dirty="0" smtClean="0">
                          <a:solidFill>
                            <a:schemeClr val="tx2"/>
                          </a:solidFill>
                        </a:rPr>
                        <a:t>8</a:t>
                      </a:r>
                      <a:endParaRPr lang="en-AU" dirty="0">
                        <a:solidFill>
                          <a:schemeClr val="tx2"/>
                        </a:solidFill>
                      </a:endParaRPr>
                    </a:p>
                  </a:txBody>
                  <a:tcPr/>
                </a:tc>
                <a:tc>
                  <a:txBody>
                    <a:bodyPr/>
                    <a:lstStyle/>
                    <a:p>
                      <a:pPr algn="ctr"/>
                      <a:r>
                        <a:rPr lang="en-AU" dirty="0" smtClean="0">
                          <a:solidFill>
                            <a:schemeClr val="tx2"/>
                          </a:solidFill>
                        </a:rPr>
                        <a:t>22.7</a:t>
                      </a:r>
                      <a:r>
                        <a:rPr lang="en-AU" u="sng" dirty="0" smtClean="0">
                          <a:solidFill>
                            <a:schemeClr val="tx2"/>
                          </a:solidFill>
                        </a:rPr>
                        <a:t>+</a:t>
                      </a:r>
                      <a:r>
                        <a:rPr lang="en-AU" u="none" dirty="0" smtClean="0">
                          <a:solidFill>
                            <a:schemeClr val="tx2"/>
                          </a:solidFill>
                        </a:rPr>
                        <a:t>2.2</a:t>
                      </a:r>
                      <a:endParaRPr lang="en-AU" dirty="0" smtClean="0">
                        <a:solidFill>
                          <a:schemeClr val="tx2"/>
                        </a:solidFill>
                      </a:endParaRPr>
                    </a:p>
                  </a:txBody>
                  <a:tcPr/>
                </a:tc>
                <a:tc>
                  <a:txBody>
                    <a:bodyPr/>
                    <a:lstStyle/>
                    <a:p>
                      <a:pPr algn="ctr"/>
                      <a:r>
                        <a:rPr lang="en-AU" dirty="0" smtClean="0">
                          <a:solidFill>
                            <a:schemeClr val="tx2"/>
                          </a:solidFill>
                        </a:rPr>
                        <a:t>25.3</a:t>
                      </a:r>
                      <a:r>
                        <a:rPr lang="en-AU" u="sng" dirty="0" smtClean="0">
                          <a:solidFill>
                            <a:schemeClr val="tx2"/>
                          </a:solidFill>
                        </a:rPr>
                        <a:t>+</a:t>
                      </a:r>
                      <a:r>
                        <a:rPr lang="en-AU" u="none" dirty="0" smtClean="0">
                          <a:solidFill>
                            <a:schemeClr val="tx2"/>
                          </a:solidFill>
                        </a:rPr>
                        <a:t>2.1</a:t>
                      </a:r>
                      <a:endParaRPr lang="en-AU" dirty="0">
                        <a:solidFill>
                          <a:schemeClr val="tx2"/>
                        </a:solidFill>
                      </a:endParaRPr>
                    </a:p>
                  </a:txBody>
                  <a:tcPr/>
                </a:tc>
                <a:tc>
                  <a:txBody>
                    <a:bodyPr/>
                    <a:lstStyle/>
                    <a:p>
                      <a:pPr algn="ctr"/>
                      <a:r>
                        <a:rPr lang="en-AU" dirty="0" smtClean="0">
                          <a:solidFill>
                            <a:schemeClr val="tx2"/>
                          </a:solidFill>
                        </a:rPr>
                        <a:t>+11.5%</a:t>
                      </a:r>
                      <a:endParaRPr lang="en-AU" dirty="0">
                        <a:solidFill>
                          <a:schemeClr val="tx2"/>
                        </a:solidFill>
                      </a:endParaRPr>
                    </a:p>
                  </a:txBody>
                  <a:tcPr/>
                </a:tc>
                <a:tc>
                  <a:txBody>
                    <a:bodyPr/>
                    <a:lstStyle/>
                    <a:p>
                      <a:pPr algn="ctr"/>
                      <a:r>
                        <a:rPr lang="en-AU" dirty="0" smtClean="0">
                          <a:solidFill>
                            <a:schemeClr val="tx2"/>
                          </a:solidFill>
                        </a:rPr>
                        <a:t>0.04</a:t>
                      </a:r>
                      <a:endParaRPr lang="en-AU" dirty="0">
                        <a:solidFill>
                          <a:schemeClr val="tx2"/>
                        </a:solidFill>
                      </a:endParaRPr>
                    </a:p>
                  </a:txBody>
                  <a:tcPr/>
                </a:tc>
              </a:tr>
              <a:tr h="370840">
                <a:tc>
                  <a:txBody>
                    <a:bodyPr/>
                    <a:lstStyle/>
                    <a:p>
                      <a:r>
                        <a:rPr lang="en-AU" dirty="0" smtClean="0">
                          <a:solidFill>
                            <a:schemeClr val="tx2"/>
                          </a:solidFill>
                        </a:rPr>
                        <a:t>  Following-treatment group </a:t>
                      </a:r>
                      <a:endParaRPr lang="en-AU" dirty="0"/>
                    </a:p>
                  </a:txBody>
                  <a:tcPr/>
                </a:tc>
                <a:tc>
                  <a:txBody>
                    <a:bodyPr/>
                    <a:lstStyle/>
                    <a:p>
                      <a:r>
                        <a:rPr lang="en-AU" dirty="0" smtClean="0">
                          <a:solidFill>
                            <a:schemeClr val="tx2"/>
                          </a:solidFill>
                        </a:rPr>
                        <a:t>40</a:t>
                      </a:r>
                      <a:endParaRPr lang="en-AU" dirty="0">
                        <a:solidFill>
                          <a:schemeClr val="tx2"/>
                        </a:solidFill>
                      </a:endParaRPr>
                    </a:p>
                  </a:txBody>
                  <a:tcPr/>
                </a:tc>
                <a:tc>
                  <a:txBody>
                    <a:bodyPr/>
                    <a:lstStyle/>
                    <a:p>
                      <a:pPr algn="ctr"/>
                      <a:r>
                        <a:rPr lang="en-AU" dirty="0" smtClean="0">
                          <a:solidFill>
                            <a:schemeClr val="tx2"/>
                          </a:solidFill>
                        </a:rPr>
                        <a:t>20.1</a:t>
                      </a:r>
                      <a:r>
                        <a:rPr lang="en-AU" u="sng" dirty="0" smtClean="0">
                          <a:solidFill>
                            <a:schemeClr val="tx2"/>
                          </a:solidFill>
                        </a:rPr>
                        <a:t>+</a:t>
                      </a:r>
                      <a:r>
                        <a:rPr lang="en-AU" u="none" dirty="0" smtClean="0">
                          <a:solidFill>
                            <a:schemeClr val="tx2"/>
                          </a:solidFill>
                        </a:rPr>
                        <a:t>4.4</a:t>
                      </a:r>
                      <a:endParaRPr lang="en-AU" dirty="0" smtClean="0">
                        <a:solidFill>
                          <a:schemeClr val="tx2"/>
                        </a:solidFill>
                      </a:endParaRPr>
                    </a:p>
                  </a:txBody>
                  <a:tcPr/>
                </a:tc>
                <a:tc>
                  <a:txBody>
                    <a:bodyPr/>
                    <a:lstStyle/>
                    <a:p>
                      <a:pPr algn="ctr"/>
                      <a:r>
                        <a:rPr lang="en-AU" dirty="0" smtClean="0">
                          <a:solidFill>
                            <a:schemeClr val="tx2"/>
                          </a:solidFill>
                        </a:rPr>
                        <a:t>22.2</a:t>
                      </a:r>
                      <a:r>
                        <a:rPr lang="en-AU" u="sng" dirty="0" smtClean="0">
                          <a:solidFill>
                            <a:schemeClr val="tx2"/>
                          </a:solidFill>
                        </a:rPr>
                        <a:t>+</a:t>
                      </a:r>
                      <a:r>
                        <a:rPr lang="en-AU" u="none" dirty="0" smtClean="0">
                          <a:solidFill>
                            <a:schemeClr val="tx2"/>
                          </a:solidFill>
                        </a:rPr>
                        <a:t>4.0</a:t>
                      </a:r>
                      <a:endParaRPr lang="en-AU" dirty="0">
                        <a:solidFill>
                          <a:schemeClr val="tx2"/>
                        </a:solidFill>
                      </a:endParaRPr>
                    </a:p>
                  </a:txBody>
                  <a:tcPr/>
                </a:tc>
                <a:tc>
                  <a:txBody>
                    <a:bodyPr/>
                    <a:lstStyle/>
                    <a:p>
                      <a:pPr algn="ctr"/>
                      <a:r>
                        <a:rPr lang="en-AU" dirty="0" smtClean="0">
                          <a:solidFill>
                            <a:schemeClr val="tx2"/>
                          </a:solidFill>
                        </a:rPr>
                        <a:t>+7.2%</a:t>
                      </a:r>
                      <a:endParaRPr lang="en-AU" dirty="0">
                        <a:solidFill>
                          <a:schemeClr val="tx2"/>
                        </a:solidFill>
                      </a:endParaRPr>
                    </a:p>
                  </a:txBody>
                  <a:tcPr/>
                </a:tc>
                <a:tc>
                  <a:txBody>
                    <a:bodyPr/>
                    <a:lstStyle/>
                    <a:p>
                      <a:pPr algn="ctr"/>
                      <a:r>
                        <a:rPr lang="en-AU" dirty="0" smtClean="0">
                          <a:solidFill>
                            <a:schemeClr val="tx2"/>
                          </a:solidFill>
                        </a:rPr>
                        <a:t>0.03</a:t>
                      </a:r>
                      <a:endParaRPr lang="en-AU" dirty="0">
                        <a:solidFill>
                          <a:schemeClr val="tx2"/>
                        </a:solidFill>
                      </a:endParaRPr>
                    </a:p>
                  </a:txBody>
                  <a:tcPr/>
                </a:tc>
              </a:tr>
            </a:tbl>
          </a:graphicData>
        </a:graphic>
      </p:graphicFrame>
      <p:sp>
        <p:nvSpPr>
          <p:cNvPr id="263229" name="TextBox 12"/>
          <p:cNvSpPr txBox="1">
            <a:spLocks noChangeArrowheads="1"/>
          </p:cNvSpPr>
          <p:nvPr/>
        </p:nvSpPr>
        <p:spPr bwMode="auto">
          <a:xfrm>
            <a:off x="214313" y="6286500"/>
            <a:ext cx="8572500" cy="277813"/>
          </a:xfrm>
          <a:prstGeom prst="rect">
            <a:avLst/>
          </a:prstGeom>
          <a:noFill/>
          <a:ln w="9525">
            <a:noFill/>
            <a:miter lim="800000"/>
            <a:headEnd/>
            <a:tailEnd/>
          </a:ln>
        </p:spPr>
        <p:txBody>
          <a:bodyPr>
            <a:spAutoFit/>
          </a:bodyPr>
          <a:lstStyle/>
          <a:p>
            <a:r>
              <a:rPr lang="en-AU" sz="1200" i="1">
                <a:solidFill>
                  <a:schemeClr val="tx2"/>
                </a:solidFill>
              </a:rPr>
              <a:t>Schneider, et al. (2007). Annals of Oncology, 18:1957-62.</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5217" name="Straight Connector 13"/>
          <p:cNvCxnSpPr>
            <a:cxnSpLocks noChangeShapeType="1"/>
          </p:cNvCxnSpPr>
          <p:nvPr/>
        </p:nvCxnSpPr>
        <p:spPr bwMode="auto">
          <a:xfrm>
            <a:off x="357188" y="1214438"/>
            <a:ext cx="6286500" cy="0"/>
          </a:xfrm>
          <a:prstGeom prst="line">
            <a:avLst/>
          </a:prstGeom>
          <a:noFill/>
          <a:ln w="57150" algn="ctr">
            <a:solidFill>
              <a:srgbClr val="FFC000"/>
            </a:solidFill>
            <a:round/>
            <a:headEnd/>
            <a:tailEnd/>
          </a:ln>
        </p:spPr>
      </p:cxnSp>
      <p:sp>
        <p:nvSpPr>
          <p:cNvPr id="20" name="Title 6"/>
          <p:cNvSpPr txBox="1">
            <a:spLocks/>
          </p:cNvSpPr>
          <p:nvPr/>
        </p:nvSpPr>
        <p:spPr bwMode="auto">
          <a:xfrm>
            <a:off x="357188" y="500063"/>
            <a:ext cx="8229600" cy="1143000"/>
          </a:xfrm>
          <a:prstGeom prst="rect">
            <a:avLst/>
          </a:prstGeom>
          <a:noFill/>
          <a:ln w="9525">
            <a:noFill/>
            <a:miter lim="800000"/>
            <a:headEnd/>
            <a:tailEnd/>
          </a:ln>
        </p:spPr>
        <p:txBody>
          <a:bodyPr/>
          <a:lstStyle/>
          <a:p>
            <a:pPr>
              <a:defRPr/>
            </a:pPr>
            <a:r>
              <a:rPr lang="en-AU" sz="3600" b="1" kern="0" dirty="0">
                <a:solidFill>
                  <a:srgbClr val="71B433"/>
                </a:solidFill>
                <a:latin typeface="Arial"/>
                <a:ea typeface="+mj-ea"/>
                <a:cs typeface="+mj-cs"/>
              </a:rPr>
              <a:t>Exercise and cancer</a:t>
            </a:r>
          </a:p>
        </p:txBody>
      </p:sp>
      <p:graphicFrame>
        <p:nvGraphicFramePr>
          <p:cNvPr id="15" name="Group 62"/>
          <p:cNvGraphicFramePr>
            <a:graphicFrameLocks noGrp="1"/>
          </p:cNvGraphicFramePr>
          <p:nvPr/>
        </p:nvGraphicFramePr>
        <p:xfrm>
          <a:off x="539750" y="1700213"/>
          <a:ext cx="8001000" cy="3963035"/>
        </p:xfrm>
        <a:graphic>
          <a:graphicData uri="http://schemas.openxmlformats.org/drawingml/2006/table">
            <a:tbl>
              <a:tblPr/>
              <a:tblGrid>
                <a:gridCol w="3786188"/>
                <a:gridCol w="4214812"/>
              </a:tblGrid>
              <a:tr h="8223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2"/>
                          </a:solidFill>
                          <a:effectLst/>
                          <a:latin typeface="Arial" charset="0"/>
                          <a:ea typeface="ＭＳ Ｐゴシック"/>
                          <a:cs typeface="Times New Roman" pitchFamily="18" charset="0"/>
                        </a:rPr>
                        <a:t>Preservation or improvements:</a:t>
                      </a:r>
                      <a:endParaRPr kumimoji="0" lang="en-US" sz="2400" b="0" i="0" u="none" strike="noStrike" cap="none" normalizeH="0" baseline="0" smtClean="0">
                        <a:ln>
                          <a:noFill/>
                        </a:ln>
                        <a:solidFill>
                          <a:schemeClr val="tx2"/>
                        </a:solidFill>
                        <a:effectLst/>
                        <a:latin typeface="Arial" charset="0"/>
                        <a:ea typeface="ＭＳ Ｐゴシック"/>
                        <a:cs typeface="ＭＳ Ｐゴシック"/>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2"/>
                          </a:solidFill>
                          <a:effectLst/>
                          <a:latin typeface="Arial" charset="0"/>
                          <a:ea typeface="ＭＳ Ｐゴシック"/>
                          <a:cs typeface="Times New Roman" pitchFamily="18" charset="0"/>
                        </a:rPr>
                        <a:t>Reductions:</a:t>
                      </a:r>
                      <a:endParaRPr kumimoji="0" lang="en-US" sz="2400" b="0" i="0" u="none" strike="noStrike" cap="none" normalizeH="0" baseline="0" smtClean="0">
                        <a:ln>
                          <a:noFill/>
                        </a:ln>
                        <a:solidFill>
                          <a:schemeClr val="tx2"/>
                        </a:solidFill>
                        <a:effectLst/>
                        <a:latin typeface="Arial" charset="0"/>
                        <a:ea typeface="ＭＳ Ｐゴシック"/>
                        <a:cs typeface="ＭＳ Ｐゴシック"/>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140075">
                <a:tc>
                  <a: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smtClean="0">
                          <a:ln>
                            <a:noFill/>
                          </a:ln>
                          <a:solidFill>
                            <a:schemeClr val="bg1"/>
                          </a:solidFill>
                          <a:effectLst/>
                          <a:latin typeface="Arial" charset="0"/>
                          <a:ea typeface="ＭＳ Ｐゴシック"/>
                          <a:cs typeface="Times New Roman" pitchFamily="18" charset="0"/>
                        </a:rPr>
                        <a:t> Muscle mass, strength, power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smtClean="0">
                          <a:ln>
                            <a:noFill/>
                          </a:ln>
                          <a:solidFill>
                            <a:schemeClr val="bg1"/>
                          </a:solidFill>
                          <a:effectLst/>
                          <a:latin typeface="Arial" charset="0"/>
                          <a:ea typeface="ＭＳ Ｐゴシック"/>
                          <a:cs typeface="Times New Roman" pitchFamily="18" charset="0"/>
                        </a:rPr>
                        <a:t> Cardiorespiratory fitness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smtClean="0">
                          <a:ln>
                            <a:noFill/>
                          </a:ln>
                          <a:solidFill>
                            <a:schemeClr val="bg1"/>
                          </a:solidFill>
                          <a:effectLst/>
                          <a:latin typeface="Arial" charset="0"/>
                          <a:ea typeface="ＭＳ Ｐゴシック"/>
                          <a:cs typeface="Times New Roman" pitchFamily="18" charset="0"/>
                        </a:rPr>
                        <a:t> Physical function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smtClean="0">
                          <a:ln>
                            <a:noFill/>
                          </a:ln>
                          <a:solidFill>
                            <a:schemeClr val="bg1"/>
                          </a:solidFill>
                          <a:effectLst/>
                          <a:latin typeface="Arial" charset="0"/>
                          <a:ea typeface="ＭＳ Ｐゴシック"/>
                          <a:cs typeface="Times New Roman" pitchFamily="18" charset="0"/>
                        </a:rPr>
                        <a:t> Physical activity levels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smtClean="0">
                          <a:ln>
                            <a:noFill/>
                          </a:ln>
                          <a:solidFill>
                            <a:schemeClr val="bg1"/>
                          </a:solidFill>
                          <a:effectLst/>
                          <a:latin typeface="Arial" charset="0"/>
                          <a:ea typeface="ＭＳ Ｐゴシック"/>
                          <a:cs typeface="Times New Roman" pitchFamily="18" charset="0"/>
                        </a:rPr>
                        <a:t> Range of motion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smtClean="0">
                          <a:ln>
                            <a:noFill/>
                          </a:ln>
                          <a:solidFill>
                            <a:schemeClr val="bg1"/>
                          </a:solidFill>
                          <a:effectLst/>
                          <a:latin typeface="Arial" charset="0"/>
                          <a:ea typeface="ＭＳ Ｐゴシック"/>
                          <a:cs typeface="Times New Roman" pitchFamily="18" charset="0"/>
                        </a:rPr>
                        <a:t> Immune function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smtClean="0">
                          <a:ln>
                            <a:noFill/>
                          </a:ln>
                          <a:solidFill>
                            <a:schemeClr val="bg1"/>
                          </a:solidFill>
                          <a:effectLst/>
                          <a:latin typeface="Arial" charset="0"/>
                          <a:ea typeface="ＭＳ Ｐゴシック"/>
                          <a:cs typeface="Times New Roman" pitchFamily="18" charset="0"/>
                        </a:rPr>
                        <a:t> Chemotherapy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bg1"/>
                          </a:solidFill>
                          <a:effectLst/>
                          <a:latin typeface="Arial" charset="0"/>
                          <a:ea typeface="ＭＳ Ｐゴシック"/>
                          <a:cs typeface="Times New Roman" pitchFamily="18" charset="0"/>
                        </a:rPr>
                        <a:t>  completion rates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smtClean="0">
                          <a:ln>
                            <a:noFill/>
                          </a:ln>
                          <a:solidFill>
                            <a:schemeClr val="bg1"/>
                          </a:solidFill>
                          <a:effectLst/>
                          <a:latin typeface="Arial" charset="0"/>
                          <a:ea typeface="ＭＳ Ｐゴシック"/>
                          <a:cs typeface="Times New Roman" pitchFamily="18" charset="0"/>
                        </a:rPr>
                        <a:t> Body image, self esteem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bg1"/>
                          </a:solidFill>
                          <a:effectLst/>
                          <a:latin typeface="Arial" charset="0"/>
                          <a:ea typeface="ＭＳ Ｐゴシック"/>
                          <a:cs typeface="Times New Roman" pitchFamily="18" charset="0"/>
                        </a:rPr>
                        <a:t>  and mood</a:t>
                      </a:r>
                      <a:endParaRPr kumimoji="0" lang="en-US" sz="2000" b="0" i="0" u="none" strike="noStrike" cap="none" normalizeH="0" baseline="0" smtClean="0">
                        <a:ln>
                          <a:noFill/>
                        </a:ln>
                        <a:solidFill>
                          <a:schemeClr val="bg1"/>
                        </a:solidFill>
                        <a:effectLst/>
                        <a:latin typeface="Arial" charset="0"/>
                        <a:ea typeface="ＭＳ Ｐゴシック"/>
                        <a:cs typeface="ＭＳ Ｐゴシック"/>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smtClean="0">
                          <a:ln>
                            <a:noFill/>
                          </a:ln>
                          <a:solidFill>
                            <a:schemeClr val="bg1"/>
                          </a:solidFill>
                          <a:effectLst/>
                          <a:latin typeface="Arial" charset="0"/>
                          <a:ea typeface="ＭＳ Ｐゴシック"/>
                          <a:cs typeface="Times New Roman" pitchFamily="18" charset="0"/>
                        </a:rPr>
                        <a:t> Number of symptoms and side-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bg1"/>
                          </a:solidFill>
                          <a:effectLst/>
                          <a:latin typeface="Arial" charset="0"/>
                          <a:ea typeface="ＭＳ Ｐゴシック"/>
                          <a:cs typeface="Times New Roman" pitchFamily="18" charset="0"/>
                        </a:rPr>
                        <a:t>   effects reported, such as nausea,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bg1"/>
                          </a:solidFill>
                          <a:effectLst/>
                          <a:latin typeface="Arial" charset="0"/>
                          <a:ea typeface="ＭＳ Ｐゴシック"/>
                          <a:cs typeface="Times New Roman" pitchFamily="18" charset="0"/>
                        </a:rPr>
                        <a:t>   fatigue and pain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smtClean="0">
                          <a:ln>
                            <a:noFill/>
                          </a:ln>
                          <a:solidFill>
                            <a:schemeClr val="bg1"/>
                          </a:solidFill>
                          <a:effectLst/>
                          <a:latin typeface="Arial" charset="0"/>
                          <a:ea typeface="ＭＳ Ｐゴシック"/>
                          <a:cs typeface="Times New Roman" pitchFamily="18" charset="0"/>
                        </a:rPr>
                        <a:t> Intensity of symptoms reported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smtClean="0">
                          <a:ln>
                            <a:noFill/>
                          </a:ln>
                          <a:solidFill>
                            <a:schemeClr val="bg1"/>
                          </a:solidFill>
                          <a:effectLst/>
                          <a:latin typeface="Arial" charset="0"/>
                          <a:ea typeface="ＭＳ Ｐゴシック"/>
                          <a:cs typeface="Times New Roman" pitchFamily="18" charset="0"/>
                        </a:rPr>
                        <a:t> Duration of hospitalisation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smtClean="0">
                          <a:ln>
                            <a:noFill/>
                          </a:ln>
                          <a:solidFill>
                            <a:schemeClr val="bg1"/>
                          </a:solidFill>
                          <a:effectLst/>
                          <a:latin typeface="Arial" charset="0"/>
                          <a:ea typeface="ＭＳ Ｐゴシック"/>
                          <a:cs typeface="Times New Roman" pitchFamily="18" charset="0"/>
                        </a:rPr>
                        <a:t> Psychological and  emotional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bg1"/>
                          </a:solidFill>
                          <a:effectLst/>
                          <a:latin typeface="Arial" charset="0"/>
                          <a:ea typeface="ＭＳ Ｐゴシック"/>
                          <a:cs typeface="Times New Roman" pitchFamily="18" charset="0"/>
                        </a:rPr>
                        <a:t>   stress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0" i="0" u="none" strike="noStrike" cap="none" normalizeH="0" baseline="0" smtClean="0">
                          <a:ln>
                            <a:noFill/>
                          </a:ln>
                          <a:solidFill>
                            <a:schemeClr val="bg1"/>
                          </a:solidFill>
                          <a:effectLst/>
                          <a:latin typeface="Arial" charset="0"/>
                          <a:ea typeface="ＭＳ Ｐゴシック"/>
                          <a:cs typeface="Times New Roman" pitchFamily="18" charset="0"/>
                        </a:rPr>
                        <a:t> Depression and anxiety</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r>
            </a:tbl>
          </a:graphicData>
        </a:graphic>
      </p:graphicFrame>
      <p:sp>
        <p:nvSpPr>
          <p:cNvPr id="265230" name="TextBox 8"/>
          <p:cNvSpPr txBox="1">
            <a:spLocks noChangeArrowheads="1"/>
          </p:cNvSpPr>
          <p:nvPr/>
        </p:nvSpPr>
        <p:spPr bwMode="auto">
          <a:xfrm>
            <a:off x="214313" y="6286500"/>
            <a:ext cx="8215312" cy="461963"/>
          </a:xfrm>
          <a:prstGeom prst="rect">
            <a:avLst/>
          </a:prstGeom>
          <a:noFill/>
          <a:ln w="9525">
            <a:noFill/>
            <a:miter lim="800000"/>
            <a:headEnd/>
            <a:tailEnd/>
          </a:ln>
        </p:spPr>
        <p:txBody>
          <a:bodyPr>
            <a:spAutoFit/>
          </a:bodyPr>
          <a:lstStyle/>
          <a:p>
            <a:r>
              <a:rPr lang="en-AU" sz="1200" i="1">
                <a:solidFill>
                  <a:schemeClr val="tx2"/>
                </a:solidFill>
                <a:latin typeface="Abscissa"/>
              </a:rPr>
              <a:t>Hayes S, et al. (2009). J Sci Med Sport;12:428-34 ; </a:t>
            </a:r>
          </a:p>
          <a:p>
            <a:r>
              <a:rPr lang="en-US" sz="1200" i="1">
                <a:solidFill>
                  <a:schemeClr val="tx2"/>
                </a:solidFill>
                <a:latin typeface="Abscissa"/>
              </a:rPr>
              <a:t>Schmitz KH,  et al. (2005). Cancer Epi  &amp; Biomarkers ;14.1588-95. </a:t>
            </a:r>
            <a:endParaRPr lang="en-AU" sz="1200" i="1">
              <a:solidFill>
                <a:schemeClr val="tx2"/>
              </a:solidFill>
              <a:latin typeface="Abscissa"/>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Line 5"/>
          <p:cNvSpPr>
            <a:spLocks noChangeShapeType="1"/>
          </p:cNvSpPr>
          <p:nvPr/>
        </p:nvSpPr>
        <p:spPr bwMode="auto">
          <a:xfrm>
            <a:off x="428625" y="1625600"/>
            <a:ext cx="0" cy="2089150"/>
          </a:xfrm>
          <a:prstGeom prst="line">
            <a:avLst/>
          </a:prstGeom>
          <a:noFill/>
          <a:ln w="76200">
            <a:solidFill>
              <a:srgbClr val="993366"/>
            </a:solidFill>
            <a:round/>
            <a:headEnd/>
            <a:tailEnd type="triangle" w="med" len="med"/>
          </a:ln>
          <a:effectLst/>
        </p:spPr>
        <p:txBody>
          <a:bodyPr/>
          <a:lstStyle/>
          <a:p>
            <a:pPr fontAlgn="auto">
              <a:spcBef>
                <a:spcPts val="0"/>
              </a:spcBef>
              <a:spcAft>
                <a:spcPts val="0"/>
              </a:spcAft>
              <a:defRPr/>
            </a:pPr>
            <a:endParaRPr lang="en-AU">
              <a:solidFill>
                <a:schemeClr val="bg2">
                  <a:lumMod val="75000"/>
                </a:schemeClr>
              </a:solidFill>
              <a:latin typeface="+mn-lt"/>
              <a:ea typeface="+mn-ea"/>
              <a:cs typeface="+mn-cs"/>
            </a:endParaRPr>
          </a:p>
        </p:txBody>
      </p:sp>
      <p:sp>
        <p:nvSpPr>
          <p:cNvPr id="7" name="Text Box 7"/>
          <p:cNvSpPr txBox="1">
            <a:spLocks noChangeArrowheads="1"/>
          </p:cNvSpPr>
          <p:nvPr/>
        </p:nvSpPr>
        <p:spPr bwMode="auto">
          <a:xfrm>
            <a:off x="757238" y="1357313"/>
            <a:ext cx="5329237" cy="2682875"/>
          </a:xfrm>
          <a:prstGeom prst="rect">
            <a:avLst/>
          </a:prstGeom>
          <a:noFill/>
          <a:ln w="9525">
            <a:noFill/>
            <a:miter lim="800000"/>
            <a:headEnd/>
            <a:tailEnd/>
          </a:ln>
        </p:spPr>
        <p:txBody>
          <a:bodyPr>
            <a:spAutoFit/>
          </a:bodyPr>
          <a:lstStyle/>
          <a:p>
            <a:pPr eaLnBrk="0" hangingPunct="0">
              <a:spcBef>
                <a:spcPct val="50000"/>
              </a:spcBef>
            </a:pPr>
            <a:r>
              <a:rPr lang="en-US" sz="2000" b="1">
                <a:solidFill>
                  <a:srgbClr val="333333"/>
                </a:solidFill>
                <a:ea typeface="ヒラギノ角ゴ Pro W3"/>
                <a:cs typeface="ヒラギノ角ゴ Pro W3"/>
              </a:rPr>
              <a:t>Total death</a:t>
            </a:r>
          </a:p>
          <a:p>
            <a:pPr eaLnBrk="0" hangingPunct="0">
              <a:spcBef>
                <a:spcPct val="50000"/>
              </a:spcBef>
            </a:pPr>
            <a:r>
              <a:rPr lang="en-US" sz="2000">
                <a:solidFill>
                  <a:srgbClr val="333333"/>
                </a:solidFill>
                <a:ea typeface="ヒラギノ角ゴ Pro W3"/>
                <a:cs typeface="ヒラギノ角ゴ Pro W3"/>
              </a:rPr>
              <a:t>Cardiovascular disease</a:t>
            </a:r>
          </a:p>
          <a:p>
            <a:pPr eaLnBrk="0" hangingPunct="0">
              <a:spcBef>
                <a:spcPct val="50000"/>
              </a:spcBef>
            </a:pPr>
            <a:r>
              <a:rPr lang="en-US" sz="2000">
                <a:solidFill>
                  <a:srgbClr val="333333"/>
                </a:solidFill>
                <a:ea typeface="ヒラギノ角ゴ Pro W3"/>
                <a:cs typeface="ヒラギノ角ゴ Pro W3"/>
              </a:rPr>
              <a:t>Osteoporosis</a:t>
            </a:r>
          </a:p>
          <a:p>
            <a:pPr eaLnBrk="0" hangingPunct="0">
              <a:spcBef>
                <a:spcPct val="50000"/>
              </a:spcBef>
            </a:pPr>
            <a:r>
              <a:rPr lang="en-US" sz="2000">
                <a:solidFill>
                  <a:srgbClr val="333333"/>
                </a:solidFill>
                <a:ea typeface="ヒラギノ角ゴ Pro W3"/>
                <a:cs typeface="ヒラギノ角ゴ Pro W3"/>
              </a:rPr>
              <a:t>Diabetes</a:t>
            </a:r>
          </a:p>
          <a:p>
            <a:pPr eaLnBrk="0" hangingPunct="0">
              <a:spcBef>
                <a:spcPct val="50000"/>
              </a:spcBef>
            </a:pPr>
            <a:r>
              <a:rPr lang="en-US" sz="2000">
                <a:solidFill>
                  <a:srgbClr val="333333"/>
                </a:solidFill>
                <a:ea typeface="ヒラギノ角ゴ Pro W3"/>
                <a:cs typeface="ヒラギノ角ゴ Pro W3"/>
              </a:rPr>
              <a:t>Hypertension</a:t>
            </a:r>
          </a:p>
          <a:p>
            <a:pPr eaLnBrk="0" hangingPunct="0">
              <a:spcBef>
                <a:spcPct val="50000"/>
              </a:spcBef>
            </a:pPr>
            <a:r>
              <a:rPr lang="en-US" sz="2000">
                <a:solidFill>
                  <a:srgbClr val="333333"/>
                </a:solidFill>
                <a:ea typeface="ヒラギノ角ゴ Pro W3"/>
                <a:cs typeface="ヒラギノ角ゴ Pro W3"/>
              </a:rPr>
              <a:t>Other cancers</a:t>
            </a:r>
          </a:p>
        </p:txBody>
      </p:sp>
      <p:sp>
        <p:nvSpPr>
          <p:cNvPr id="8" name="Line 10"/>
          <p:cNvSpPr>
            <a:spLocks noChangeShapeType="1"/>
          </p:cNvSpPr>
          <p:nvPr/>
        </p:nvSpPr>
        <p:spPr bwMode="auto">
          <a:xfrm>
            <a:off x="428625" y="4368800"/>
            <a:ext cx="0" cy="2089150"/>
          </a:xfrm>
          <a:prstGeom prst="line">
            <a:avLst/>
          </a:prstGeom>
          <a:noFill/>
          <a:ln w="76200">
            <a:solidFill>
              <a:srgbClr val="993366"/>
            </a:solidFill>
            <a:round/>
            <a:headEnd/>
            <a:tailEnd type="triangle" w="med" len="med"/>
          </a:ln>
          <a:effectLst/>
        </p:spPr>
        <p:txBody>
          <a:bodyPr/>
          <a:lstStyle/>
          <a:p>
            <a:pPr fontAlgn="auto">
              <a:spcBef>
                <a:spcPts val="0"/>
              </a:spcBef>
              <a:spcAft>
                <a:spcPts val="0"/>
              </a:spcAft>
              <a:defRPr/>
            </a:pPr>
            <a:endParaRPr lang="en-AU">
              <a:solidFill>
                <a:schemeClr val="bg2">
                  <a:lumMod val="75000"/>
                </a:schemeClr>
              </a:solidFill>
              <a:latin typeface="+mn-lt"/>
              <a:ea typeface="+mn-ea"/>
              <a:cs typeface="+mn-cs"/>
            </a:endParaRPr>
          </a:p>
        </p:txBody>
      </p:sp>
      <p:sp>
        <p:nvSpPr>
          <p:cNvPr id="10" name="Text Box 11"/>
          <p:cNvSpPr txBox="1">
            <a:spLocks noChangeArrowheads="1"/>
          </p:cNvSpPr>
          <p:nvPr/>
        </p:nvSpPr>
        <p:spPr bwMode="auto">
          <a:xfrm>
            <a:off x="757238" y="4318000"/>
            <a:ext cx="5329237" cy="2682875"/>
          </a:xfrm>
          <a:prstGeom prst="rect">
            <a:avLst/>
          </a:prstGeom>
          <a:noFill/>
          <a:ln w="9525">
            <a:noFill/>
            <a:miter lim="800000"/>
            <a:headEnd/>
            <a:tailEnd/>
          </a:ln>
        </p:spPr>
        <p:txBody>
          <a:bodyPr>
            <a:spAutoFit/>
          </a:bodyPr>
          <a:lstStyle/>
          <a:p>
            <a:pPr eaLnBrk="0" hangingPunct="0">
              <a:spcBef>
                <a:spcPct val="50000"/>
              </a:spcBef>
            </a:pPr>
            <a:r>
              <a:rPr lang="en-US" sz="2000" b="1">
                <a:solidFill>
                  <a:srgbClr val="333333"/>
                </a:solidFill>
                <a:ea typeface="ヒラギノ角ゴ Pro W3"/>
                <a:cs typeface="ヒラギノ角ゴ Pro W3"/>
              </a:rPr>
              <a:t>Recurrence:</a:t>
            </a:r>
          </a:p>
          <a:p>
            <a:pPr eaLnBrk="0" hangingPunct="0">
              <a:spcBef>
                <a:spcPct val="50000"/>
              </a:spcBef>
            </a:pPr>
            <a:r>
              <a:rPr lang="en-US" sz="2000">
                <a:solidFill>
                  <a:srgbClr val="333333"/>
                </a:solidFill>
                <a:ea typeface="ヒラギノ角ゴ Pro W3"/>
                <a:cs typeface="ヒラギノ角ゴ Pro W3"/>
              </a:rPr>
              <a:t>3-8.9 METS (1.25 fold)</a:t>
            </a:r>
          </a:p>
          <a:p>
            <a:pPr eaLnBrk="0" hangingPunct="0">
              <a:spcBef>
                <a:spcPct val="50000"/>
              </a:spcBef>
            </a:pPr>
            <a:r>
              <a:rPr lang="en-US" sz="2000">
                <a:solidFill>
                  <a:srgbClr val="333333"/>
                </a:solidFill>
                <a:ea typeface="ヒラギノ角ゴ Pro W3"/>
                <a:cs typeface="ヒラギノ角ゴ Pro W3"/>
              </a:rPr>
              <a:t>9-14.9 METS (2 fold)</a:t>
            </a:r>
          </a:p>
          <a:p>
            <a:pPr eaLnBrk="0" hangingPunct="0">
              <a:spcBef>
                <a:spcPct val="50000"/>
              </a:spcBef>
            </a:pPr>
            <a:r>
              <a:rPr lang="en-US" sz="2000">
                <a:solidFill>
                  <a:srgbClr val="333333"/>
                </a:solidFill>
                <a:ea typeface="ヒラギノ角ゴ Pro W3"/>
                <a:cs typeface="ヒラギノ角ゴ Pro W3"/>
              </a:rPr>
              <a:t>15+ METS (1.8 fold)</a:t>
            </a:r>
          </a:p>
          <a:p>
            <a:pPr eaLnBrk="0" hangingPunct="0">
              <a:spcBef>
                <a:spcPct val="50000"/>
              </a:spcBef>
            </a:pPr>
            <a:r>
              <a:rPr lang="en-US" sz="2000">
                <a:solidFill>
                  <a:srgbClr val="333333"/>
                </a:solidFill>
                <a:ea typeface="ヒラギノ角ゴ Pro W3"/>
                <a:cs typeface="ヒラギノ角ゴ Pro W3"/>
              </a:rPr>
              <a:t>* Walking at an average pace = 3 METs</a:t>
            </a:r>
          </a:p>
          <a:p>
            <a:pPr eaLnBrk="0" hangingPunct="0">
              <a:spcBef>
                <a:spcPct val="50000"/>
              </a:spcBef>
            </a:pPr>
            <a:endParaRPr lang="en-US" sz="2000">
              <a:solidFill>
                <a:srgbClr val="333333"/>
              </a:solidFill>
              <a:ea typeface="ヒラギノ角ゴ Pro W3"/>
              <a:cs typeface="ヒラギノ角ゴ Pro W3"/>
            </a:endParaRPr>
          </a:p>
        </p:txBody>
      </p:sp>
      <p:pic>
        <p:nvPicPr>
          <p:cNvPr id="20488" name="Picture 8"/>
          <p:cNvPicPr>
            <a:picLocks noChangeAspect="1" noChangeArrowheads="1"/>
          </p:cNvPicPr>
          <p:nvPr/>
        </p:nvPicPr>
        <p:blipFill>
          <a:blip r:embed="rId3" cstate="print"/>
          <a:srcRect/>
          <a:stretch>
            <a:fillRect/>
          </a:stretch>
        </p:blipFill>
        <p:spPr bwMode="auto">
          <a:xfrm>
            <a:off x="3851275" y="1341438"/>
            <a:ext cx="2949575" cy="3525837"/>
          </a:xfrm>
          <a:prstGeom prst="rect">
            <a:avLst/>
          </a:prstGeom>
          <a:noFill/>
          <a:ln w="9525">
            <a:noFill/>
            <a:miter lim="800000"/>
            <a:headEnd/>
            <a:tailEnd/>
          </a:ln>
        </p:spPr>
      </p:pic>
      <p:pic>
        <p:nvPicPr>
          <p:cNvPr id="20489" name="Picture 9"/>
          <p:cNvPicPr>
            <a:picLocks noChangeAspect="1" noChangeArrowheads="1"/>
          </p:cNvPicPr>
          <p:nvPr/>
        </p:nvPicPr>
        <p:blipFill>
          <a:blip r:embed="rId4" cstate="print"/>
          <a:srcRect/>
          <a:stretch>
            <a:fillRect/>
          </a:stretch>
        </p:blipFill>
        <p:spPr bwMode="auto">
          <a:xfrm>
            <a:off x="4932363" y="2060575"/>
            <a:ext cx="2673350" cy="3375025"/>
          </a:xfrm>
          <a:prstGeom prst="rect">
            <a:avLst/>
          </a:prstGeom>
          <a:noFill/>
          <a:ln w="9525">
            <a:noFill/>
            <a:miter lim="800000"/>
            <a:headEnd/>
            <a:tailEnd/>
          </a:ln>
        </p:spPr>
      </p:pic>
      <p:pic>
        <p:nvPicPr>
          <p:cNvPr id="20486" name="Picture 10" descr="paper"/>
          <p:cNvPicPr>
            <a:picLocks noChangeAspect="1" noChangeArrowheads="1"/>
          </p:cNvPicPr>
          <p:nvPr/>
        </p:nvPicPr>
        <p:blipFill>
          <a:blip r:embed="rId5" cstate="print"/>
          <a:srcRect l="2499" r="2499" b="2222"/>
          <a:stretch>
            <a:fillRect/>
          </a:stretch>
        </p:blipFill>
        <p:spPr bwMode="auto">
          <a:xfrm>
            <a:off x="6156325" y="3068638"/>
            <a:ext cx="2733675" cy="3570287"/>
          </a:xfrm>
          <a:prstGeom prst="rect">
            <a:avLst/>
          </a:prstGeom>
          <a:noFill/>
          <a:ln w="9525">
            <a:noFill/>
            <a:miter lim="800000"/>
            <a:headEnd/>
            <a:tailEnd/>
          </a:ln>
        </p:spPr>
      </p:pic>
      <p:sp>
        <p:nvSpPr>
          <p:cNvPr id="267272" name="Title 10"/>
          <p:cNvSpPr>
            <a:spLocks noGrp="1"/>
          </p:cNvSpPr>
          <p:nvPr>
            <p:ph type="title"/>
          </p:nvPr>
        </p:nvSpPr>
        <p:spPr>
          <a:xfrm>
            <a:off x="357188" y="214313"/>
            <a:ext cx="8815387" cy="838200"/>
          </a:xfrm>
        </p:spPr>
        <p:txBody>
          <a:bodyPr/>
          <a:lstStyle/>
          <a:p>
            <a:pPr eaLnBrk="1" hangingPunct="1"/>
            <a:r>
              <a:rPr lang="en-AU" smtClean="0"/>
              <a:t>Exercise and survival following cancer</a:t>
            </a:r>
          </a:p>
        </p:txBody>
      </p:sp>
      <p:cxnSp>
        <p:nvCxnSpPr>
          <p:cNvPr id="267273" name="Straight Connector 11"/>
          <p:cNvCxnSpPr>
            <a:cxnSpLocks noChangeShapeType="1"/>
          </p:cNvCxnSpPr>
          <p:nvPr/>
        </p:nvCxnSpPr>
        <p:spPr bwMode="auto">
          <a:xfrm>
            <a:off x="500063" y="928688"/>
            <a:ext cx="6286500" cy="0"/>
          </a:xfrm>
          <a:prstGeom prst="line">
            <a:avLst/>
          </a:prstGeom>
          <a:noFill/>
          <a:ln w="57150" algn="ctr">
            <a:solidFill>
              <a:srgbClr val="FFC000"/>
            </a:solidFill>
            <a:round/>
            <a:headEnd/>
            <a:tailEn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par>
                                <p:cTn id="8" presetID="4" presetClass="entr" presetSubtype="16"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ox(in)">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ox(in)">
                                      <p:cBhvr>
                                        <p:cTn id="15" dur="500"/>
                                        <p:tgtEl>
                                          <p:spTgt spid="8"/>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ox(in)">
                                      <p:cBhvr>
                                        <p:cTn id="18" dur="500"/>
                                        <p:tgtEl>
                                          <p:spTgt spid="10"/>
                                        </p:tgtEl>
                                      </p:cBhvr>
                                    </p:animEffect>
                                  </p:childTnLst>
                                </p:cTn>
                              </p:par>
                              <p:par>
                                <p:cTn id="19" presetID="4" presetClass="entr" presetSubtype="16" fill="hold" nodeType="withEffect">
                                  <p:stCondLst>
                                    <p:cond delay="0"/>
                                  </p:stCondLst>
                                  <p:childTnLst>
                                    <p:set>
                                      <p:cBhvr>
                                        <p:cTn id="20" dur="1" fill="hold">
                                          <p:stCondLst>
                                            <p:cond delay="0"/>
                                          </p:stCondLst>
                                        </p:cTn>
                                        <p:tgtEl>
                                          <p:spTgt spid="20486"/>
                                        </p:tgtEl>
                                        <p:attrNameLst>
                                          <p:attrName>style.visibility</p:attrName>
                                        </p:attrNameLst>
                                      </p:cBhvr>
                                      <p:to>
                                        <p:strVal val="visible"/>
                                      </p:to>
                                    </p:set>
                                    <p:animEffect transition="in" filter="box(in)">
                                      <p:cBhvr>
                                        <p:cTn id="21" dur="500"/>
                                        <p:tgtEl>
                                          <p:spTgt spid="20486"/>
                                        </p:tgtEl>
                                      </p:cBhvr>
                                    </p:animEffect>
                                  </p:childTnLst>
                                </p:cTn>
                              </p:par>
                              <p:par>
                                <p:cTn id="22" presetID="4" presetClass="entr" presetSubtype="16" fill="hold" nodeType="withEffect">
                                  <p:stCondLst>
                                    <p:cond delay="0"/>
                                  </p:stCondLst>
                                  <p:childTnLst>
                                    <p:set>
                                      <p:cBhvr>
                                        <p:cTn id="23" dur="1" fill="hold">
                                          <p:stCondLst>
                                            <p:cond delay="0"/>
                                          </p:stCondLst>
                                        </p:cTn>
                                        <p:tgtEl>
                                          <p:spTgt spid="20489"/>
                                        </p:tgtEl>
                                        <p:attrNameLst>
                                          <p:attrName>style.visibility</p:attrName>
                                        </p:attrNameLst>
                                      </p:cBhvr>
                                      <p:to>
                                        <p:strVal val="visible"/>
                                      </p:to>
                                    </p:set>
                                    <p:animEffect transition="in" filter="box(in)">
                                      <p:cBhvr>
                                        <p:cTn id="24" dur="500"/>
                                        <p:tgtEl>
                                          <p:spTgt spid="20489"/>
                                        </p:tgtEl>
                                      </p:cBhvr>
                                    </p:animEffect>
                                  </p:childTnLst>
                                </p:cTn>
                              </p:par>
                              <p:par>
                                <p:cTn id="25" presetID="4" presetClass="entr" presetSubtype="16" fill="hold" nodeType="withEffect">
                                  <p:stCondLst>
                                    <p:cond delay="0"/>
                                  </p:stCondLst>
                                  <p:childTnLst>
                                    <p:set>
                                      <p:cBhvr>
                                        <p:cTn id="26" dur="1" fill="hold">
                                          <p:stCondLst>
                                            <p:cond delay="0"/>
                                          </p:stCondLst>
                                        </p:cTn>
                                        <p:tgtEl>
                                          <p:spTgt spid="20488"/>
                                        </p:tgtEl>
                                        <p:attrNameLst>
                                          <p:attrName>style.visibility</p:attrName>
                                        </p:attrNameLst>
                                      </p:cBhvr>
                                      <p:to>
                                        <p:strVal val="visible"/>
                                      </p:to>
                                    </p:set>
                                    <p:animEffect transition="in" filter="box(in)">
                                      <p:cBhvr>
                                        <p:cTn id="27" dur="500"/>
                                        <p:tgtEl>
                                          <p:spTgt spid="204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0" name="Text Box 6"/>
          <p:cNvSpPr txBox="1">
            <a:spLocks noChangeArrowheads="1"/>
          </p:cNvSpPr>
          <p:nvPr/>
        </p:nvSpPr>
        <p:spPr bwMode="auto">
          <a:xfrm>
            <a:off x="361950" y="1643063"/>
            <a:ext cx="7632700" cy="641350"/>
          </a:xfrm>
          <a:prstGeom prst="rect">
            <a:avLst/>
          </a:prstGeom>
          <a:noFill/>
          <a:ln w="9525">
            <a:noFill/>
            <a:miter lim="800000"/>
            <a:headEnd/>
            <a:tailEnd/>
          </a:ln>
          <a:effectLst/>
        </p:spPr>
        <p:txBody>
          <a:bodyPr>
            <a:spAutoFit/>
          </a:bodyPr>
          <a:lstStyle/>
          <a:p>
            <a:pPr fontAlgn="auto">
              <a:spcBef>
                <a:spcPct val="50000"/>
              </a:spcBef>
              <a:spcAft>
                <a:spcPts val="0"/>
              </a:spcAft>
              <a:buFont typeface="Arial" pitchFamily="34" charset="0"/>
              <a:buChar char="•"/>
              <a:defRPr/>
            </a:pPr>
            <a:r>
              <a:rPr lang="en-AU" sz="3600" dirty="0">
                <a:solidFill>
                  <a:schemeClr val="bg2">
                    <a:lumMod val="75000"/>
                  </a:schemeClr>
                </a:solidFill>
                <a:latin typeface="+mn-lt"/>
                <a:ea typeface="+mn-ea"/>
                <a:cs typeface="+mn-cs"/>
              </a:rPr>
              <a:t> Helps people feel normal</a:t>
            </a:r>
          </a:p>
        </p:txBody>
      </p:sp>
      <p:sp>
        <p:nvSpPr>
          <p:cNvPr id="36871" name="Text Box 7"/>
          <p:cNvSpPr txBox="1">
            <a:spLocks noChangeArrowheads="1"/>
          </p:cNvSpPr>
          <p:nvPr/>
        </p:nvSpPr>
        <p:spPr bwMode="auto">
          <a:xfrm>
            <a:off x="357188" y="2489200"/>
            <a:ext cx="7632700" cy="641350"/>
          </a:xfrm>
          <a:prstGeom prst="rect">
            <a:avLst/>
          </a:prstGeom>
          <a:noFill/>
          <a:ln w="9525">
            <a:noFill/>
            <a:miter lim="800000"/>
            <a:headEnd/>
            <a:tailEnd/>
          </a:ln>
          <a:effectLst/>
        </p:spPr>
        <p:txBody>
          <a:bodyPr>
            <a:spAutoFit/>
          </a:bodyPr>
          <a:lstStyle/>
          <a:p>
            <a:pPr fontAlgn="auto">
              <a:spcBef>
                <a:spcPct val="50000"/>
              </a:spcBef>
              <a:spcAft>
                <a:spcPts val="0"/>
              </a:spcAft>
              <a:buFont typeface="Arial" pitchFamily="34" charset="0"/>
              <a:buChar char="•"/>
              <a:defRPr/>
            </a:pPr>
            <a:r>
              <a:rPr lang="en-AU" sz="3600" dirty="0">
                <a:solidFill>
                  <a:schemeClr val="bg2">
                    <a:lumMod val="75000"/>
                  </a:schemeClr>
                </a:solidFill>
                <a:latin typeface="+mn-lt"/>
                <a:ea typeface="+mn-ea"/>
                <a:cs typeface="+mn-cs"/>
              </a:rPr>
              <a:t> One thing survivors can control</a:t>
            </a:r>
          </a:p>
        </p:txBody>
      </p:sp>
      <p:sp>
        <p:nvSpPr>
          <p:cNvPr id="36872" name="Text Box 8"/>
          <p:cNvSpPr txBox="1">
            <a:spLocks noChangeArrowheads="1"/>
          </p:cNvSpPr>
          <p:nvPr/>
        </p:nvSpPr>
        <p:spPr bwMode="auto">
          <a:xfrm>
            <a:off x="357188" y="3308350"/>
            <a:ext cx="8572500" cy="646113"/>
          </a:xfrm>
          <a:prstGeom prst="rect">
            <a:avLst/>
          </a:prstGeom>
          <a:noFill/>
          <a:ln w="9525">
            <a:noFill/>
            <a:miter lim="800000"/>
            <a:headEnd/>
            <a:tailEnd/>
          </a:ln>
          <a:effectLst/>
        </p:spPr>
        <p:txBody>
          <a:bodyPr>
            <a:spAutoFit/>
          </a:bodyPr>
          <a:lstStyle/>
          <a:p>
            <a:pPr fontAlgn="auto">
              <a:spcBef>
                <a:spcPct val="50000"/>
              </a:spcBef>
              <a:spcAft>
                <a:spcPts val="0"/>
              </a:spcAft>
              <a:buFont typeface="Arial" pitchFamily="34" charset="0"/>
              <a:buChar char="•"/>
              <a:defRPr/>
            </a:pPr>
            <a:r>
              <a:rPr lang="en-AU" sz="3600" dirty="0">
                <a:solidFill>
                  <a:schemeClr val="bg2">
                    <a:lumMod val="75000"/>
                  </a:schemeClr>
                </a:solidFill>
                <a:latin typeface="+mn-lt"/>
                <a:ea typeface="+mn-ea"/>
                <a:cs typeface="+mn-cs"/>
              </a:rPr>
              <a:t> Helps them do ‘normal’ things ‘normally’</a:t>
            </a:r>
          </a:p>
        </p:txBody>
      </p:sp>
      <p:sp>
        <p:nvSpPr>
          <p:cNvPr id="269316" name="Title 5"/>
          <p:cNvSpPr>
            <a:spLocks noGrp="1"/>
          </p:cNvSpPr>
          <p:nvPr>
            <p:ph type="title"/>
          </p:nvPr>
        </p:nvSpPr>
        <p:spPr>
          <a:xfrm>
            <a:off x="428625" y="285750"/>
            <a:ext cx="7772400" cy="838200"/>
          </a:xfrm>
        </p:spPr>
        <p:txBody>
          <a:bodyPr/>
          <a:lstStyle/>
          <a:p>
            <a:pPr eaLnBrk="1" hangingPunct="1"/>
            <a:r>
              <a:rPr lang="en-AU" smtClean="0"/>
              <a:t>Exercise and cancer</a:t>
            </a:r>
          </a:p>
        </p:txBody>
      </p:sp>
      <p:cxnSp>
        <p:nvCxnSpPr>
          <p:cNvPr id="269317" name="Straight Connector 6"/>
          <p:cNvCxnSpPr>
            <a:cxnSpLocks noChangeShapeType="1"/>
          </p:cNvCxnSpPr>
          <p:nvPr/>
        </p:nvCxnSpPr>
        <p:spPr bwMode="auto">
          <a:xfrm>
            <a:off x="428625" y="1000125"/>
            <a:ext cx="7000875" cy="0"/>
          </a:xfrm>
          <a:prstGeom prst="line">
            <a:avLst/>
          </a:prstGeom>
          <a:noFill/>
          <a:ln w="57150" algn="ctr">
            <a:solidFill>
              <a:srgbClr val="FFC000"/>
            </a:solidFill>
            <a:round/>
            <a:headEnd/>
            <a:tailEnd/>
          </a:ln>
        </p:spPr>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p:txBody>
          <a:bodyPr/>
          <a:lstStyle/>
          <a:p>
            <a:pPr eaLnBrk="1" hangingPunct="1">
              <a:defRPr/>
            </a:pPr>
            <a:r>
              <a:rPr lang="en-US" dirty="0" smtClean="0">
                <a:solidFill>
                  <a:schemeClr val="bg2">
                    <a:lumMod val="75000"/>
                  </a:schemeClr>
                </a:solidFill>
                <a:cs typeface="+mn-cs"/>
              </a:rPr>
              <a:t>Type</a:t>
            </a:r>
          </a:p>
          <a:p>
            <a:pPr lvl="1" eaLnBrk="1" hangingPunct="1">
              <a:defRPr/>
            </a:pPr>
            <a:r>
              <a:rPr lang="en-US" dirty="0" smtClean="0">
                <a:solidFill>
                  <a:schemeClr val="bg2">
                    <a:lumMod val="75000"/>
                  </a:schemeClr>
                </a:solidFill>
              </a:rPr>
              <a:t>Anything is better than nothing</a:t>
            </a:r>
          </a:p>
          <a:p>
            <a:pPr eaLnBrk="1" hangingPunct="1">
              <a:defRPr/>
            </a:pPr>
            <a:r>
              <a:rPr lang="en-US" dirty="0" smtClean="0">
                <a:solidFill>
                  <a:schemeClr val="bg2">
                    <a:lumMod val="75000"/>
                  </a:schemeClr>
                </a:solidFill>
                <a:cs typeface="+mn-cs"/>
              </a:rPr>
              <a:t>Frequency and Duration</a:t>
            </a:r>
          </a:p>
          <a:p>
            <a:pPr lvl="1" eaLnBrk="1" hangingPunct="1">
              <a:defRPr/>
            </a:pPr>
            <a:r>
              <a:rPr lang="en-US" dirty="0" smtClean="0">
                <a:solidFill>
                  <a:schemeClr val="bg2">
                    <a:lumMod val="75000"/>
                  </a:schemeClr>
                </a:solidFill>
              </a:rPr>
              <a:t>Some is better than none, more is generally better than less</a:t>
            </a:r>
          </a:p>
          <a:p>
            <a:pPr eaLnBrk="1" hangingPunct="1">
              <a:defRPr/>
            </a:pPr>
            <a:r>
              <a:rPr lang="en-US" dirty="0" smtClean="0">
                <a:solidFill>
                  <a:schemeClr val="bg2">
                    <a:lumMod val="75000"/>
                  </a:schemeClr>
                </a:solidFill>
                <a:cs typeface="+mn-cs"/>
              </a:rPr>
              <a:t>Intensity</a:t>
            </a:r>
          </a:p>
          <a:p>
            <a:pPr lvl="1" eaLnBrk="1" hangingPunct="1">
              <a:defRPr/>
            </a:pPr>
            <a:r>
              <a:rPr lang="en-US" dirty="0" smtClean="0">
                <a:solidFill>
                  <a:schemeClr val="bg2">
                    <a:lumMod val="75000"/>
                  </a:schemeClr>
                </a:solidFill>
              </a:rPr>
              <a:t>Low to vigorous</a:t>
            </a:r>
          </a:p>
          <a:p>
            <a:pPr eaLnBrk="1" hangingPunct="1">
              <a:defRPr/>
            </a:pPr>
            <a:r>
              <a:rPr lang="en-US" dirty="0" smtClean="0">
                <a:solidFill>
                  <a:schemeClr val="bg2">
                    <a:lumMod val="75000"/>
                  </a:schemeClr>
                </a:solidFill>
                <a:cs typeface="+mn-cs"/>
              </a:rPr>
              <a:t>Limits to our knowledge</a:t>
            </a:r>
          </a:p>
          <a:p>
            <a:pPr lvl="1" eaLnBrk="1" hangingPunct="1">
              <a:defRPr/>
            </a:pPr>
            <a:endParaRPr lang="en-AU" dirty="0">
              <a:solidFill>
                <a:schemeClr val="bg2">
                  <a:lumMod val="75000"/>
                </a:schemeClr>
              </a:solidFill>
            </a:endParaRPr>
          </a:p>
        </p:txBody>
      </p:sp>
      <p:sp>
        <p:nvSpPr>
          <p:cNvPr id="270338" name="Title 3"/>
          <p:cNvSpPr>
            <a:spLocks noGrp="1"/>
          </p:cNvSpPr>
          <p:nvPr>
            <p:ph type="title"/>
          </p:nvPr>
        </p:nvSpPr>
        <p:spPr/>
        <p:txBody>
          <a:bodyPr/>
          <a:lstStyle/>
          <a:p>
            <a:pPr eaLnBrk="1" hangingPunct="1"/>
            <a:r>
              <a:rPr lang="en-AU" smtClean="0"/>
              <a:t>Exercise advice</a:t>
            </a:r>
          </a:p>
        </p:txBody>
      </p:sp>
      <p:cxnSp>
        <p:nvCxnSpPr>
          <p:cNvPr id="270339" name="Straight Connector 4"/>
          <p:cNvCxnSpPr>
            <a:cxnSpLocks noChangeShapeType="1"/>
          </p:cNvCxnSpPr>
          <p:nvPr/>
        </p:nvCxnSpPr>
        <p:spPr bwMode="auto">
          <a:xfrm>
            <a:off x="428625" y="1285875"/>
            <a:ext cx="7000875" cy="0"/>
          </a:xfrm>
          <a:prstGeom prst="line">
            <a:avLst/>
          </a:prstGeom>
          <a:noFill/>
          <a:ln w="57150" algn="ctr">
            <a:solidFill>
              <a:srgbClr val="FFC000"/>
            </a:solidFill>
            <a:round/>
            <a:headEnd/>
            <a:tailEn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blinds(horizontal)">
                                      <p:cBhvr>
                                        <p:cTn id="10" dur="500"/>
                                        <p:tgtEl>
                                          <p:spTgt spid="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blinds(horizontal)">
                                      <p:cBhvr>
                                        <p:cTn id="15" dur="500"/>
                                        <p:tgtEl>
                                          <p:spTgt spid="7">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blinds(horizontal)">
                                      <p:cBhvr>
                                        <p:cTn id="18" dur="500"/>
                                        <p:tgtEl>
                                          <p:spTgt spid="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Effect transition="in" filter="blinds(horizontal)">
                                      <p:cBhvr>
                                        <p:cTn id="23" dur="500"/>
                                        <p:tgtEl>
                                          <p:spTgt spid="7">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animEffect transition="in" filter="blinds(horizontal)">
                                      <p:cBhvr>
                                        <p:cTn id="26" dur="500"/>
                                        <p:tgtEl>
                                          <p:spTgt spid="7">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animEffect transition="in" filter="blinds(horizontal)">
                                      <p:cBhvr>
                                        <p:cTn id="31"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1071538" y="4083042"/>
            <a:ext cx="6481762" cy="1417660"/>
          </a:xfrm>
          <a:solidFill>
            <a:schemeClr val="accent1"/>
          </a:solidFill>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lgn="ctr" eaLnBrk="1" hangingPunct="1">
              <a:buFontTx/>
              <a:buNone/>
              <a:defRPr/>
            </a:pPr>
            <a:r>
              <a:rPr lang="en-AU" dirty="0" smtClean="0">
                <a:solidFill>
                  <a:schemeClr val="tx2"/>
                </a:solidFill>
                <a:cs typeface="+mn-cs"/>
              </a:rPr>
              <a:t>Many survivors stop </a:t>
            </a:r>
            <a:r>
              <a:rPr lang="en-AU" dirty="0">
                <a:solidFill>
                  <a:schemeClr val="tx2"/>
                </a:solidFill>
                <a:cs typeface="+mn-cs"/>
              </a:rPr>
              <a:t>exercising during treatment and do not restart after treatment is finished</a:t>
            </a:r>
          </a:p>
        </p:txBody>
      </p:sp>
      <p:sp>
        <p:nvSpPr>
          <p:cNvPr id="27652" name="Text Box 4"/>
          <p:cNvSpPr txBox="1">
            <a:spLocks noChangeArrowheads="1"/>
          </p:cNvSpPr>
          <p:nvPr/>
        </p:nvSpPr>
        <p:spPr bwMode="auto">
          <a:xfrm>
            <a:off x="2311362" y="1785926"/>
            <a:ext cx="4103688" cy="1076325"/>
          </a:xfrm>
          <a:prstGeom prst="rect">
            <a:avLst/>
          </a:prstGeom>
          <a:solidFill>
            <a:schemeClr val="accent1"/>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spAutoFit/>
          </a:bodyPr>
          <a:lstStyle/>
          <a:p>
            <a:pPr algn="ctr" fontAlgn="auto">
              <a:spcBef>
                <a:spcPct val="20000"/>
              </a:spcBef>
              <a:spcAft>
                <a:spcPts val="0"/>
              </a:spcAft>
              <a:defRPr/>
            </a:pPr>
            <a:r>
              <a:rPr lang="en-AU" sz="3200" dirty="0">
                <a:solidFill>
                  <a:schemeClr val="tx2"/>
                </a:solidFill>
                <a:latin typeface="+mn-lt"/>
                <a:ea typeface="+mn-ea"/>
                <a:cs typeface="+mn-cs"/>
              </a:rPr>
              <a:t>Cancer diagnosis = teachable moment</a:t>
            </a:r>
          </a:p>
        </p:txBody>
      </p:sp>
      <p:sp>
        <p:nvSpPr>
          <p:cNvPr id="8" name="Down Arrow 7"/>
          <p:cNvSpPr/>
          <p:nvPr/>
        </p:nvSpPr>
        <p:spPr bwMode="auto">
          <a:xfrm>
            <a:off x="3740122" y="3005127"/>
            <a:ext cx="1143008" cy="928694"/>
          </a:xfrm>
          <a:prstGeom prst="downArrow">
            <a:avLst/>
          </a:prstGeom>
          <a:solidFill>
            <a:srgbClr val="FFC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eaLnBrk="0" hangingPunct="0">
              <a:defRPr/>
            </a:pPr>
            <a:endParaRPr lang="en-AU" sz="2400">
              <a:ea typeface="ＭＳ Ｐゴシック" pitchFamily="112" charset="-128"/>
              <a:cs typeface="+mn-cs"/>
            </a:endParaRPr>
          </a:p>
        </p:txBody>
      </p:sp>
      <p:sp>
        <p:nvSpPr>
          <p:cNvPr id="272394" name="Title 6"/>
          <p:cNvSpPr>
            <a:spLocks noGrp="1"/>
          </p:cNvSpPr>
          <p:nvPr>
            <p:ph type="title"/>
          </p:nvPr>
        </p:nvSpPr>
        <p:spPr>
          <a:xfrm>
            <a:off x="285750" y="214313"/>
            <a:ext cx="7772400" cy="838200"/>
          </a:xfrm>
        </p:spPr>
        <p:txBody>
          <a:bodyPr/>
          <a:lstStyle/>
          <a:p>
            <a:pPr eaLnBrk="1" hangingPunct="1"/>
            <a:r>
              <a:rPr lang="en-AU" smtClean="0"/>
              <a:t>Exercise: it’s important, feasible and it’s necessary</a:t>
            </a:r>
          </a:p>
        </p:txBody>
      </p:sp>
      <p:cxnSp>
        <p:nvCxnSpPr>
          <p:cNvPr id="272395" name="Straight Connector 8"/>
          <p:cNvCxnSpPr>
            <a:cxnSpLocks noChangeShapeType="1"/>
          </p:cNvCxnSpPr>
          <p:nvPr/>
        </p:nvCxnSpPr>
        <p:spPr bwMode="auto">
          <a:xfrm>
            <a:off x="428625" y="1428750"/>
            <a:ext cx="7000875" cy="0"/>
          </a:xfrm>
          <a:prstGeom prst="line">
            <a:avLst/>
          </a:prstGeom>
          <a:noFill/>
          <a:ln w="57150" algn="ctr">
            <a:solidFill>
              <a:srgbClr val="FFC000"/>
            </a:solidFill>
            <a:round/>
            <a:headEnd/>
            <a:tailEn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27651"/>
                                        </p:tgtEl>
                                        <p:attrNameLst>
                                          <p:attrName>style.visibility</p:attrName>
                                        </p:attrNameLst>
                                      </p:cBhvr>
                                      <p:to>
                                        <p:strVal val="visible"/>
                                      </p:to>
                                    </p:set>
                                    <p:anim calcmode="lin" valueType="num">
                                      <p:cBhvr additive="base">
                                        <p:cTn id="11" dur="500" fill="hold"/>
                                        <p:tgtEl>
                                          <p:spTgt spid="27651"/>
                                        </p:tgtEl>
                                        <p:attrNameLst>
                                          <p:attrName>ppt_x</p:attrName>
                                        </p:attrNameLst>
                                      </p:cBhvr>
                                      <p:tavLst>
                                        <p:tav tm="0">
                                          <p:val>
                                            <p:strVal val="#ppt_x"/>
                                          </p:val>
                                        </p:tav>
                                        <p:tav tm="100000">
                                          <p:val>
                                            <p:strVal val="#ppt_x"/>
                                          </p:val>
                                        </p:tav>
                                      </p:tavLst>
                                    </p:anim>
                                    <p:anim calcmode="lin" valueType="num">
                                      <p:cBhvr additive="base">
                                        <p:cTn id="12" dur="500" fill="hold"/>
                                        <p:tgtEl>
                                          <p:spTgt spid="2765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4"/>
          <p:cNvSpPr>
            <a:spLocks noGrp="1" noChangeArrowheads="1"/>
          </p:cNvSpPr>
          <p:nvPr>
            <p:ph idx="1"/>
          </p:nvPr>
        </p:nvSpPr>
        <p:spPr>
          <a:xfrm>
            <a:off x="1143000" y="2214563"/>
            <a:ext cx="3317875" cy="854075"/>
          </a:xfrm>
        </p:spPr>
        <p:txBody>
          <a:bodyPr/>
          <a:lstStyle/>
          <a:p>
            <a:pPr eaLnBrk="1" hangingPunct="1">
              <a:buFontTx/>
              <a:buNone/>
              <a:defRPr/>
            </a:pPr>
            <a:r>
              <a:rPr lang="en-AU" b="1" dirty="0">
                <a:solidFill>
                  <a:schemeClr val="bg2">
                    <a:lumMod val="75000"/>
                  </a:schemeClr>
                </a:solidFill>
                <a:cs typeface="+mn-cs"/>
              </a:rPr>
              <a:t>Rest is best</a:t>
            </a:r>
          </a:p>
          <a:p>
            <a:pPr eaLnBrk="1" hangingPunct="1">
              <a:buFontTx/>
              <a:buNone/>
              <a:defRPr/>
            </a:pPr>
            <a:endParaRPr lang="en-AU" b="1" dirty="0">
              <a:solidFill>
                <a:schemeClr val="bg2">
                  <a:lumMod val="75000"/>
                </a:schemeClr>
              </a:solidFill>
              <a:cs typeface="+mn-cs"/>
            </a:endParaRPr>
          </a:p>
          <a:p>
            <a:pPr lvl="1" eaLnBrk="1" hangingPunct="1">
              <a:buFontTx/>
              <a:buNone/>
              <a:defRPr/>
            </a:pPr>
            <a:endParaRPr lang="en-AU" b="1" dirty="0">
              <a:solidFill>
                <a:schemeClr val="bg2">
                  <a:lumMod val="75000"/>
                </a:schemeClr>
              </a:solidFill>
            </a:endParaRPr>
          </a:p>
        </p:txBody>
      </p:sp>
      <p:sp>
        <p:nvSpPr>
          <p:cNvPr id="65541" name="Rectangle 5"/>
          <p:cNvSpPr>
            <a:spLocks noChangeArrowheads="1"/>
          </p:cNvSpPr>
          <p:nvPr/>
        </p:nvSpPr>
        <p:spPr bwMode="auto">
          <a:xfrm>
            <a:off x="5183188" y="3357563"/>
            <a:ext cx="3317875" cy="854075"/>
          </a:xfrm>
          <a:prstGeom prst="rect">
            <a:avLst/>
          </a:prstGeom>
          <a:solidFill>
            <a:schemeClr val="bg1"/>
          </a:solidFill>
          <a:ln w="9525">
            <a:noFill/>
            <a:miter lim="800000"/>
            <a:headEnd/>
            <a:tailEnd/>
          </a:ln>
          <a:effectLst/>
        </p:spPr>
        <p:txBody>
          <a:bodyPr/>
          <a:lstStyle/>
          <a:p>
            <a:pPr marL="342900" indent="-342900" fontAlgn="auto">
              <a:spcBef>
                <a:spcPct val="20000"/>
              </a:spcBef>
              <a:spcAft>
                <a:spcPts val="0"/>
              </a:spcAft>
              <a:defRPr/>
            </a:pPr>
            <a:r>
              <a:rPr lang="en-AU" sz="3200" b="1" dirty="0">
                <a:solidFill>
                  <a:schemeClr val="bg2">
                    <a:lumMod val="75000"/>
                  </a:schemeClr>
                </a:solidFill>
                <a:latin typeface="+mn-lt"/>
                <a:ea typeface="+mn-ea"/>
                <a:cs typeface="+mn-cs"/>
              </a:rPr>
              <a:t>Active is best</a:t>
            </a:r>
          </a:p>
          <a:p>
            <a:pPr marL="342900" indent="-342900" fontAlgn="auto">
              <a:spcBef>
                <a:spcPct val="20000"/>
              </a:spcBef>
              <a:spcAft>
                <a:spcPts val="0"/>
              </a:spcAft>
              <a:defRPr/>
            </a:pPr>
            <a:endParaRPr lang="en-AU" sz="3200" b="1" dirty="0">
              <a:solidFill>
                <a:schemeClr val="bg2">
                  <a:lumMod val="75000"/>
                </a:schemeClr>
              </a:solidFill>
              <a:latin typeface="+mn-lt"/>
              <a:ea typeface="+mn-ea"/>
              <a:cs typeface="+mn-cs"/>
            </a:endParaRPr>
          </a:p>
          <a:p>
            <a:pPr marL="742950" lvl="1" indent="-285750" fontAlgn="auto">
              <a:spcBef>
                <a:spcPct val="20000"/>
              </a:spcBef>
              <a:spcAft>
                <a:spcPts val="0"/>
              </a:spcAft>
              <a:defRPr/>
            </a:pPr>
            <a:endParaRPr lang="en-AU" sz="2800" b="1" dirty="0">
              <a:solidFill>
                <a:schemeClr val="bg2">
                  <a:lumMod val="75000"/>
                </a:schemeClr>
              </a:solidFill>
              <a:latin typeface="+mn-lt"/>
              <a:ea typeface="+mn-ea"/>
              <a:cs typeface="+mn-cs"/>
            </a:endParaRPr>
          </a:p>
        </p:txBody>
      </p:sp>
      <p:sp>
        <p:nvSpPr>
          <p:cNvPr id="65543" name="Rectangle 7"/>
          <p:cNvSpPr>
            <a:spLocks noChangeArrowheads="1"/>
          </p:cNvSpPr>
          <p:nvPr/>
        </p:nvSpPr>
        <p:spPr bwMode="auto">
          <a:xfrm>
            <a:off x="179388" y="4076700"/>
            <a:ext cx="7321550" cy="2138363"/>
          </a:xfrm>
          <a:prstGeom prst="rect">
            <a:avLst/>
          </a:prstGeom>
          <a:noFill/>
          <a:ln w="9525">
            <a:noFill/>
            <a:miter lim="800000"/>
            <a:headEnd/>
            <a:tailEnd/>
          </a:ln>
          <a:effectLst/>
        </p:spPr>
        <p:txBody>
          <a:bodyPr/>
          <a:lstStyle/>
          <a:p>
            <a:pPr marL="342900" indent="-342900" fontAlgn="auto">
              <a:spcBef>
                <a:spcPct val="20000"/>
              </a:spcBef>
              <a:spcAft>
                <a:spcPts val="0"/>
              </a:spcAft>
              <a:buFontTx/>
              <a:buChar char="•"/>
              <a:defRPr/>
            </a:pPr>
            <a:r>
              <a:rPr lang="en-AU" sz="2800" b="1" dirty="0">
                <a:solidFill>
                  <a:schemeClr val="bg2">
                    <a:lumMod val="75000"/>
                  </a:schemeClr>
                </a:solidFill>
                <a:latin typeface="+mn-lt"/>
                <a:ea typeface="+mn-ea"/>
                <a:cs typeface="+mn-cs"/>
              </a:rPr>
              <a:t>Own attitudes</a:t>
            </a:r>
          </a:p>
          <a:p>
            <a:pPr marL="342900" indent="-342900" fontAlgn="auto">
              <a:spcBef>
                <a:spcPct val="20000"/>
              </a:spcBef>
              <a:spcAft>
                <a:spcPts val="0"/>
              </a:spcAft>
              <a:buFontTx/>
              <a:buChar char="•"/>
              <a:defRPr/>
            </a:pPr>
            <a:r>
              <a:rPr lang="en-AU" sz="2800" b="1" dirty="0">
                <a:solidFill>
                  <a:schemeClr val="bg2">
                    <a:lumMod val="75000"/>
                  </a:schemeClr>
                </a:solidFill>
                <a:latin typeface="+mn-lt"/>
                <a:ea typeface="+mn-ea"/>
                <a:cs typeface="+mn-cs"/>
              </a:rPr>
              <a:t>Don’t know what specifically to advise</a:t>
            </a:r>
          </a:p>
          <a:p>
            <a:pPr marL="342900" indent="-342900" fontAlgn="auto">
              <a:spcBef>
                <a:spcPct val="20000"/>
              </a:spcBef>
              <a:spcAft>
                <a:spcPts val="0"/>
              </a:spcAft>
              <a:buFontTx/>
              <a:buChar char="•"/>
              <a:defRPr/>
            </a:pPr>
            <a:r>
              <a:rPr lang="en-AU" sz="2800" b="1" dirty="0">
                <a:solidFill>
                  <a:schemeClr val="bg2">
                    <a:lumMod val="75000"/>
                  </a:schemeClr>
                </a:solidFill>
                <a:latin typeface="+mn-lt"/>
                <a:ea typeface="+mn-ea"/>
                <a:cs typeface="+mn-cs"/>
              </a:rPr>
              <a:t>Limited resources </a:t>
            </a:r>
          </a:p>
          <a:p>
            <a:pPr marL="342900" indent="-342900" fontAlgn="auto">
              <a:spcBef>
                <a:spcPct val="20000"/>
              </a:spcBef>
              <a:spcAft>
                <a:spcPts val="0"/>
              </a:spcAft>
              <a:defRPr/>
            </a:pPr>
            <a:endParaRPr lang="en-AU" sz="2800" b="1" dirty="0">
              <a:solidFill>
                <a:schemeClr val="bg2">
                  <a:lumMod val="75000"/>
                </a:schemeClr>
              </a:solidFill>
              <a:latin typeface="+mn-lt"/>
              <a:ea typeface="+mn-ea"/>
              <a:cs typeface="+mn-cs"/>
            </a:endParaRPr>
          </a:p>
          <a:p>
            <a:pPr marL="742950" lvl="1" indent="-285750" fontAlgn="auto">
              <a:spcBef>
                <a:spcPct val="20000"/>
              </a:spcBef>
              <a:spcAft>
                <a:spcPts val="0"/>
              </a:spcAft>
              <a:defRPr/>
            </a:pPr>
            <a:endParaRPr lang="en-AU" sz="2800" b="1" dirty="0">
              <a:solidFill>
                <a:schemeClr val="bg2">
                  <a:lumMod val="75000"/>
                </a:schemeClr>
              </a:solidFill>
              <a:latin typeface="+mn-lt"/>
              <a:ea typeface="+mn-ea"/>
              <a:cs typeface="+mn-cs"/>
            </a:endParaRPr>
          </a:p>
        </p:txBody>
      </p:sp>
      <p:sp>
        <p:nvSpPr>
          <p:cNvPr id="274436" name="Title 6"/>
          <p:cNvSpPr>
            <a:spLocks noGrp="1"/>
          </p:cNvSpPr>
          <p:nvPr>
            <p:ph type="title"/>
          </p:nvPr>
        </p:nvSpPr>
        <p:spPr/>
        <p:txBody>
          <a:bodyPr/>
          <a:lstStyle/>
          <a:p>
            <a:pPr eaLnBrk="1" hangingPunct="1"/>
            <a:r>
              <a:rPr lang="en-AU" smtClean="0"/>
              <a:t>Why aren’t survivors active?</a:t>
            </a:r>
            <a:br>
              <a:rPr lang="en-AU" smtClean="0"/>
            </a:br>
            <a:r>
              <a:rPr lang="en-AU" smtClean="0"/>
              <a:t>  Mixed advice</a:t>
            </a:r>
          </a:p>
        </p:txBody>
      </p:sp>
      <p:cxnSp>
        <p:nvCxnSpPr>
          <p:cNvPr id="274437" name="Straight Connector 7"/>
          <p:cNvCxnSpPr>
            <a:cxnSpLocks noChangeShapeType="1"/>
          </p:cNvCxnSpPr>
          <p:nvPr/>
        </p:nvCxnSpPr>
        <p:spPr bwMode="auto">
          <a:xfrm>
            <a:off x="428625" y="1857375"/>
            <a:ext cx="7000875" cy="0"/>
          </a:xfrm>
          <a:prstGeom prst="line">
            <a:avLst/>
          </a:prstGeom>
          <a:noFill/>
          <a:ln w="57150" algn="ctr">
            <a:solidFill>
              <a:srgbClr val="FFC000"/>
            </a:solidFill>
            <a:round/>
            <a:headEnd/>
            <a:tailEnd/>
          </a:ln>
        </p:spPr>
      </p:cxnSp>
      <p:sp>
        <p:nvSpPr>
          <p:cNvPr id="9" name="Down Arrow 8"/>
          <p:cNvSpPr/>
          <p:nvPr/>
        </p:nvSpPr>
        <p:spPr bwMode="auto">
          <a:xfrm rot="17910198">
            <a:off x="3878825" y="2118481"/>
            <a:ext cx="876493" cy="2032928"/>
          </a:xfrm>
          <a:prstGeom prst="downArrow">
            <a:avLst>
              <a:gd name="adj1" fmla="val 15081"/>
              <a:gd name="adj2" fmla="val 42317"/>
            </a:avLst>
          </a:prstGeom>
          <a:solidFill>
            <a:srgbClr val="002060"/>
          </a:solidFill>
          <a:ln w="9525" cap="flat" cmpd="sng" algn="ctr">
            <a:noFill/>
            <a:prstDash val="solid"/>
            <a:round/>
            <a:headEnd type="none" w="med" len="med"/>
            <a:tailEnd type="none" w="med" len="me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lstStyle/>
          <a:p>
            <a:pPr eaLnBrk="0" hangingPunct="0">
              <a:defRPr/>
            </a:pPr>
            <a:endParaRPr lang="en-AU" sz="2400">
              <a:ea typeface="ＭＳ Ｐゴシック" pitchFamily="112" charset="-128"/>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540"/>
                                        </p:tgtEl>
                                        <p:attrNameLst>
                                          <p:attrName>style.visibility</p:attrName>
                                        </p:attrNameLst>
                                      </p:cBhvr>
                                      <p:to>
                                        <p:strVal val="visible"/>
                                      </p:to>
                                    </p:set>
                                    <p:animEffect transition="in" filter="blinds(horizontal)">
                                      <p:cBhvr>
                                        <p:cTn id="7" dur="500"/>
                                        <p:tgtEl>
                                          <p:spTgt spid="6554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0-#ppt_h/2"/>
                                          </p:val>
                                        </p:tav>
                                        <p:tav tm="100000">
                                          <p:val>
                                            <p:strVal val="#ppt_y"/>
                                          </p:val>
                                        </p:tav>
                                      </p:tavLst>
                                    </p:anim>
                                  </p:childTnLst>
                                </p:cTn>
                              </p:par>
                              <p:par>
                                <p:cTn id="14" presetID="2" presetClass="entr" presetSubtype="1" fill="hold" grpId="0" nodeType="withEffect">
                                  <p:stCondLst>
                                    <p:cond delay="0"/>
                                  </p:stCondLst>
                                  <p:childTnLst>
                                    <p:set>
                                      <p:cBhvr>
                                        <p:cTn id="15" dur="1" fill="hold">
                                          <p:stCondLst>
                                            <p:cond delay="0"/>
                                          </p:stCondLst>
                                        </p:cTn>
                                        <p:tgtEl>
                                          <p:spTgt spid="65541"/>
                                        </p:tgtEl>
                                        <p:attrNameLst>
                                          <p:attrName>style.visibility</p:attrName>
                                        </p:attrNameLst>
                                      </p:cBhvr>
                                      <p:to>
                                        <p:strVal val="visible"/>
                                      </p:to>
                                    </p:set>
                                    <p:anim calcmode="lin" valueType="num">
                                      <p:cBhvr additive="base">
                                        <p:cTn id="16" dur="500" fill="hold"/>
                                        <p:tgtEl>
                                          <p:spTgt spid="65541"/>
                                        </p:tgtEl>
                                        <p:attrNameLst>
                                          <p:attrName>ppt_x</p:attrName>
                                        </p:attrNameLst>
                                      </p:cBhvr>
                                      <p:tavLst>
                                        <p:tav tm="0">
                                          <p:val>
                                            <p:strVal val="#ppt_x"/>
                                          </p:val>
                                        </p:tav>
                                        <p:tav tm="100000">
                                          <p:val>
                                            <p:strVal val="#ppt_x"/>
                                          </p:val>
                                        </p:tav>
                                      </p:tavLst>
                                    </p:anim>
                                    <p:anim calcmode="lin" valueType="num">
                                      <p:cBhvr additive="base">
                                        <p:cTn id="17" dur="500" fill="hold"/>
                                        <p:tgtEl>
                                          <p:spTgt spid="65541"/>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5543"/>
                                        </p:tgtEl>
                                        <p:attrNameLst>
                                          <p:attrName>style.visibility</p:attrName>
                                        </p:attrNameLst>
                                      </p:cBhvr>
                                      <p:to>
                                        <p:strVal val="visible"/>
                                      </p:to>
                                    </p:set>
                                    <p:animEffect transition="in" filter="blinds(horizontal)">
                                      <p:cBhvr>
                                        <p:cTn id="22" dur="500"/>
                                        <p:tgtEl>
                                          <p:spTgt spid="65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p:bldP spid="65541" grpId="0" animBg="1"/>
      <p:bldP spid="6554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7" name="Text Box 12"/>
          <p:cNvSpPr txBox="1">
            <a:spLocks noChangeArrowheads="1"/>
          </p:cNvSpPr>
          <p:nvPr/>
        </p:nvSpPr>
        <p:spPr bwMode="auto">
          <a:xfrm>
            <a:off x="357188" y="1928813"/>
            <a:ext cx="8429625" cy="3692525"/>
          </a:xfrm>
          <a:prstGeom prst="rect">
            <a:avLst/>
          </a:prstGeom>
          <a:solidFill>
            <a:schemeClr val="accent1"/>
          </a:solidFill>
          <a:ln w="9525">
            <a:noFill/>
            <a:miter lim="800000"/>
            <a:headEnd/>
            <a:tailEnd/>
          </a:ln>
        </p:spPr>
        <p:txBody>
          <a:bodyPr>
            <a:spAutoFit/>
          </a:bodyPr>
          <a:lstStyle/>
          <a:p>
            <a:pPr eaLnBrk="0" hangingPunct="0">
              <a:spcBef>
                <a:spcPct val="50000"/>
              </a:spcBef>
            </a:pPr>
            <a:r>
              <a:rPr lang="en-US" sz="2400" b="1">
                <a:solidFill>
                  <a:schemeClr val="tx2"/>
                </a:solidFill>
                <a:ea typeface="ヒラギノ角ゴ Pro W3"/>
                <a:cs typeface="ヒラギノ角ゴ Pro W3"/>
              </a:rPr>
              <a:t>Exercise and lymphoedema:</a:t>
            </a:r>
          </a:p>
          <a:p>
            <a:pPr eaLnBrk="0" hangingPunct="0">
              <a:spcBef>
                <a:spcPct val="50000"/>
              </a:spcBef>
            </a:pPr>
            <a:r>
              <a:rPr lang="en-US" sz="2400">
                <a:solidFill>
                  <a:schemeClr val="tx2"/>
                </a:solidFill>
                <a:ea typeface="ヒラギノ角ゴ Pro W3"/>
                <a:cs typeface="ヒラギノ角ゴ Pro W3"/>
              </a:rPr>
              <a:t>Exercise does not precipitate lymphoedema	</a:t>
            </a:r>
          </a:p>
          <a:p>
            <a:pPr eaLnBrk="0" hangingPunct="0">
              <a:spcBef>
                <a:spcPct val="50000"/>
              </a:spcBef>
            </a:pPr>
            <a:r>
              <a:rPr lang="en-US" sz="2400">
                <a:solidFill>
                  <a:schemeClr val="tx2"/>
                </a:solidFill>
                <a:ea typeface="ヒラギノ角ゴ Pro W3"/>
                <a:cs typeface="ヒラギノ角ゴ Pro W3"/>
              </a:rPr>
              <a:t>Exercise does not exacerbate lymphoedema</a:t>
            </a:r>
          </a:p>
          <a:p>
            <a:pPr eaLnBrk="0" hangingPunct="0">
              <a:spcBef>
                <a:spcPct val="50000"/>
              </a:spcBef>
            </a:pPr>
            <a:r>
              <a:rPr lang="en-US" sz="2400">
                <a:solidFill>
                  <a:schemeClr val="tx2"/>
                </a:solidFill>
                <a:ea typeface="ヒラギノ角ゴ Pro W3"/>
                <a:cs typeface="ヒラギノ角ゴ Pro W3"/>
              </a:rPr>
              <a:t>Exercise may reduce incidence of lymphoedema exacerbations</a:t>
            </a:r>
          </a:p>
          <a:p>
            <a:pPr eaLnBrk="0" hangingPunct="0">
              <a:spcBef>
                <a:spcPct val="50000"/>
              </a:spcBef>
            </a:pPr>
            <a:r>
              <a:rPr lang="en-US" sz="2400">
                <a:solidFill>
                  <a:schemeClr val="tx2"/>
                </a:solidFill>
                <a:ea typeface="ヒラギノ角ゴ Pro W3"/>
                <a:cs typeface="ヒラギノ角ゴ Pro W3"/>
              </a:rPr>
              <a:t>Other-associated symptoms are also reduced with regular exercise</a:t>
            </a:r>
          </a:p>
          <a:p>
            <a:pPr eaLnBrk="0" hangingPunct="0">
              <a:spcBef>
                <a:spcPct val="50000"/>
              </a:spcBef>
            </a:pPr>
            <a:r>
              <a:rPr lang="en-US" sz="1200" i="1">
                <a:solidFill>
                  <a:schemeClr val="tx2"/>
                </a:solidFill>
                <a:ea typeface="ヒラギノ角ゴ Pro W3"/>
                <a:cs typeface="ヒラギノ角ゴ Pro W3"/>
              </a:rPr>
              <a:t>Schmitz et al (2009), Hayes et al (2009); Harris et al (2000); Ahmed et al (2006); Lane et al (2005); McKenzie et al (2003)</a:t>
            </a:r>
          </a:p>
        </p:txBody>
      </p:sp>
      <p:sp>
        <p:nvSpPr>
          <p:cNvPr id="275458" name="Title 6"/>
          <p:cNvSpPr>
            <a:spLocks noGrp="1"/>
          </p:cNvSpPr>
          <p:nvPr>
            <p:ph type="title"/>
          </p:nvPr>
        </p:nvSpPr>
        <p:spPr>
          <a:xfrm>
            <a:off x="428625" y="285750"/>
            <a:ext cx="7772400" cy="838200"/>
          </a:xfrm>
        </p:spPr>
        <p:txBody>
          <a:bodyPr/>
          <a:lstStyle/>
          <a:p>
            <a:pPr eaLnBrk="1" hangingPunct="1"/>
            <a:r>
              <a:rPr lang="en-AU" smtClean="0"/>
              <a:t>Why aren’t survivors active?</a:t>
            </a:r>
            <a:br>
              <a:rPr lang="en-AU" smtClean="0"/>
            </a:br>
            <a:r>
              <a:rPr lang="en-AU" smtClean="0"/>
              <a:t>  Clinical concerns</a:t>
            </a:r>
          </a:p>
        </p:txBody>
      </p:sp>
      <p:cxnSp>
        <p:nvCxnSpPr>
          <p:cNvPr id="275459" name="Straight Connector 39"/>
          <p:cNvCxnSpPr>
            <a:cxnSpLocks noChangeShapeType="1"/>
          </p:cNvCxnSpPr>
          <p:nvPr/>
        </p:nvCxnSpPr>
        <p:spPr bwMode="auto">
          <a:xfrm>
            <a:off x="471488" y="1643063"/>
            <a:ext cx="7000875" cy="0"/>
          </a:xfrm>
          <a:prstGeom prst="line">
            <a:avLst/>
          </a:prstGeom>
          <a:noFill/>
          <a:ln w="57150" algn="ctr">
            <a:solidFill>
              <a:srgbClr val="FFC000"/>
            </a:solidFill>
            <a:round/>
            <a:headEnd/>
            <a:tailEnd/>
          </a:ln>
        </p:spPr>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5" name="Title 6"/>
          <p:cNvSpPr>
            <a:spLocks noGrp="1"/>
          </p:cNvSpPr>
          <p:nvPr>
            <p:ph type="title"/>
          </p:nvPr>
        </p:nvSpPr>
        <p:spPr>
          <a:xfrm>
            <a:off x="428625" y="285750"/>
            <a:ext cx="7772400" cy="838200"/>
          </a:xfrm>
        </p:spPr>
        <p:txBody>
          <a:bodyPr/>
          <a:lstStyle/>
          <a:p>
            <a:pPr eaLnBrk="1" hangingPunct="1"/>
            <a:r>
              <a:rPr lang="en-AU" smtClean="0"/>
              <a:t>Why aren’t survivors active?</a:t>
            </a:r>
            <a:br>
              <a:rPr lang="en-AU" smtClean="0"/>
            </a:br>
            <a:r>
              <a:rPr lang="en-AU" smtClean="0"/>
              <a:t>  Clinical concerns</a:t>
            </a:r>
          </a:p>
        </p:txBody>
      </p:sp>
      <p:cxnSp>
        <p:nvCxnSpPr>
          <p:cNvPr id="277506" name="Straight Connector 39"/>
          <p:cNvCxnSpPr>
            <a:cxnSpLocks noChangeShapeType="1"/>
          </p:cNvCxnSpPr>
          <p:nvPr/>
        </p:nvCxnSpPr>
        <p:spPr bwMode="auto">
          <a:xfrm>
            <a:off x="471488" y="1643063"/>
            <a:ext cx="7000875" cy="0"/>
          </a:xfrm>
          <a:prstGeom prst="line">
            <a:avLst/>
          </a:prstGeom>
          <a:noFill/>
          <a:ln w="57150" algn="ctr">
            <a:solidFill>
              <a:srgbClr val="FFC000"/>
            </a:solidFill>
            <a:round/>
            <a:headEnd/>
            <a:tailEnd/>
          </a:ln>
        </p:spPr>
      </p:cxnSp>
      <p:sp>
        <p:nvSpPr>
          <p:cNvPr id="5" name="Text Box 4"/>
          <p:cNvSpPr txBox="1">
            <a:spLocks noChangeArrowheads="1"/>
          </p:cNvSpPr>
          <p:nvPr/>
        </p:nvSpPr>
        <p:spPr bwMode="auto">
          <a:xfrm>
            <a:off x="642910" y="2353386"/>
            <a:ext cx="2928958" cy="646986"/>
          </a:xfrm>
          <a:prstGeom prst="roundRect">
            <a:avLst/>
          </a:prstGeo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8900000" scaled="1"/>
            <a:tileRect/>
          </a:grad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spAutoFit/>
          </a:bodyPr>
          <a:lstStyle/>
          <a:p>
            <a:pPr algn="ctr" fontAlgn="auto">
              <a:spcBef>
                <a:spcPct val="50000"/>
              </a:spcBef>
              <a:spcAft>
                <a:spcPts val="0"/>
              </a:spcAft>
              <a:defRPr/>
            </a:pPr>
            <a:r>
              <a:rPr lang="en-AU" sz="3200" dirty="0">
                <a:solidFill>
                  <a:schemeClr val="bg1"/>
                </a:solidFill>
                <a:latin typeface="+mn-lt"/>
                <a:ea typeface="+mn-ea"/>
                <a:cs typeface="+mn-cs"/>
              </a:rPr>
              <a:t>Fatigue</a:t>
            </a:r>
          </a:p>
        </p:txBody>
      </p:sp>
      <p:sp>
        <p:nvSpPr>
          <p:cNvPr id="6" name="Text Box 5"/>
          <p:cNvSpPr txBox="1">
            <a:spLocks noChangeArrowheads="1"/>
          </p:cNvSpPr>
          <p:nvPr/>
        </p:nvSpPr>
        <p:spPr bwMode="auto">
          <a:xfrm>
            <a:off x="5481661" y="1916113"/>
            <a:ext cx="2447925" cy="1736646"/>
          </a:xfrm>
          <a:prstGeom prst="roundRect">
            <a:avLst/>
          </a:prstGeo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2700000" scaled="1"/>
            <a:tileRect/>
          </a:grad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spAutoFit/>
          </a:bodyPr>
          <a:lstStyle/>
          <a:p>
            <a:pPr algn="ctr" fontAlgn="auto">
              <a:spcBef>
                <a:spcPct val="50000"/>
              </a:spcBef>
              <a:spcAft>
                <a:spcPts val="0"/>
              </a:spcAft>
              <a:defRPr/>
            </a:pPr>
            <a:r>
              <a:rPr lang="en-AU" sz="3200" dirty="0">
                <a:solidFill>
                  <a:schemeClr val="bg1"/>
                </a:solidFill>
                <a:latin typeface="+mn-lt"/>
                <a:ea typeface="+mn-ea"/>
                <a:cs typeface="+mn-cs"/>
              </a:rPr>
              <a:t>Reduction in physical activity</a:t>
            </a:r>
          </a:p>
        </p:txBody>
      </p:sp>
      <p:sp>
        <p:nvSpPr>
          <p:cNvPr id="7" name="Text Box 6"/>
          <p:cNvSpPr txBox="1">
            <a:spLocks noChangeArrowheads="1"/>
          </p:cNvSpPr>
          <p:nvPr/>
        </p:nvSpPr>
        <p:spPr bwMode="auto">
          <a:xfrm>
            <a:off x="3132138" y="3933825"/>
            <a:ext cx="2447925" cy="1736646"/>
          </a:xfrm>
          <a:prstGeom prst="roundRect">
            <a:avLst/>
          </a:prstGeo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2700000" scaled="1"/>
            <a:tileRect/>
          </a:grad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spAutoFit/>
          </a:bodyPr>
          <a:lstStyle/>
          <a:p>
            <a:pPr algn="ctr" fontAlgn="auto">
              <a:spcBef>
                <a:spcPct val="50000"/>
              </a:spcBef>
              <a:spcAft>
                <a:spcPts val="0"/>
              </a:spcAft>
              <a:defRPr/>
            </a:pPr>
            <a:r>
              <a:rPr lang="en-AU" sz="3200" dirty="0">
                <a:solidFill>
                  <a:schemeClr val="bg1"/>
                </a:solidFill>
                <a:latin typeface="+mn-lt"/>
                <a:ea typeface="+mn-ea"/>
                <a:cs typeface="+mn-cs"/>
              </a:rPr>
              <a:t>Reduced physical function</a:t>
            </a:r>
          </a:p>
        </p:txBody>
      </p:sp>
      <p:sp>
        <p:nvSpPr>
          <p:cNvPr id="277516" name="Line 9"/>
          <p:cNvSpPr>
            <a:spLocks noChangeShapeType="1"/>
          </p:cNvSpPr>
          <p:nvPr/>
        </p:nvSpPr>
        <p:spPr bwMode="auto">
          <a:xfrm>
            <a:off x="3844925" y="2643188"/>
            <a:ext cx="1512888" cy="0"/>
          </a:xfrm>
          <a:prstGeom prst="line">
            <a:avLst/>
          </a:prstGeom>
          <a:noFill/>
          <a:ln w="101600">
            <a:solidFill>
              <a:srgbClr val="7030A0"/>
            </a:solidFill>
            <a:round/>
            <a:headEnd/>
            <a:tailEnd type="triangle" w="med" len="med"/>
          </a:ln>
        </p:spPr>
        <p:txBody>
          <a:bodyPr/>
          <a:lstStyle/>
          <a:p>
            <a:endParaRPr lang="en-US"/>
          </a:p>
        </p:txBody>
      </p:sp>
      <p:sp>
        <p:nvSpPr>
          <p:cNvPr id="277517" name="Line 10"/>
          <p:cNvSpPr>
            <a:spLocks noChangeShapeType="1"/>
          </p:cNvSpPr>
          <p:nvPr/>
        </p:nvSpPr>
        <p:spPr bwMode="auto">
          <a:xfrm flipH="1">
            <a:off x="5643563" y="3714750"/>
            <a:ext cx="720725" cy="1008063"/>
          </a:xfrm>
          <a:prstGeom prst="line">
            <a:avLst/>
          </a:prstGeom>
          <a:noFill/>
          <a:ln w="101600">
            <a:solidFill>
              <a:srgbClr val="7030A0"/>
            </a:solidFill>
            <a:round/>
            <a:headEnd/>
            <a:tailEnd type="triangle" w="med" len="med"/>
          </a:ln>
        </p:spPr>
        <p:txBody>
          <a:bodyPr/>
          <a:lstStyle/>
          <a:p>
            <a:endParaRPr lang="en-US"/>
          </a:p>
        </p:txBody>
      </p:sp>
      <p:sp>
        <p:nvSpPr>
          <p:cNvPr id="277518" name="Line 11"/>
          <p:cNvSpPr>
            <a:spLocks noChangeShapeType="1"/>
          </p:cNvSpPr>
          <p:nvPr/>
        </p:nvSpPr>
        <p:spPr bwMode="auto">
          <a:xfrm flipH="1" flipV="1">
            <a:off x="2143125" y="3214688"/>
            <a:ext cx="720725" cy="1295400"/>
          </a:xfrm>
          <a:prstGeom prst="line">
            <a:avLst/>
          </a:prstGeom>
          <a:noFill/>
          <a:ln w="101600">
            <a:solidFill>
              <a:srgbClr val="7030A0"/>
            </a:solidFill>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7516"/>
                                        </p:tgtEl>
                                        <p:attrNameLst>
                                          <p:attrName>style.visibility</p:attrName>
                                        </p:attrNameLst>
                                      </p:cBhvr>
                                      <p:to>
                                        <p:strVal val="visible"/>
                                      </p:to>
                                    </p:set>
                                    <p:animEffect transition="in" filter="blinds(horizontal)">
                                      <p:cBhvr>
                                        <p:cTn id="7" dur="500"/>
                                        <p:tgtEl>
                                          <p:spTgt spid="277516"/>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77517"/>
                                        </p:tgtEl>
                                        <p:attrNameLst>
                                          <p:attrName>style.visibility</p:attrName>
                                        </p:attrNameLst>
                                      </p:cBhvr>
                                      <p:to>
                                        <p:strVal val="visible"/>
                                      </p:to>
                                    </p:set>
                                    <p:animEffect transition="in" filter="blinds(horizontal)">
                                      <p:cBhvr>
                                        <p:cTn id="15" dur="500"/>
                                        <p:tgtEl>
                                          <p:spTgt spid="277517"/>
                                        </p:tgtEl>
                                      </p:cBhvr>
                                    </p:animEffect>
                                  </p:childTnLst>
                                </p:cTn>
                              </p:par>
                              <p:par>
                                <p:cTn id="16" presetID="3" presetClass="entr" presetSubtype="1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77518"/>
                                        </p:tgtEl>
                                        <p:attrNameLst>
                                          <p:attrName>style.visibility</p:attrName>
                                        </p:attrNameLst>
                                      </p:cBhvr>
                                      <p:to>
                                        <p:strVal val="visible"/>
                                      </p:to>
                                    </p:set>
                                    <p:animEffect transition="in" filter="blinds(horizontal)">
                                      <p:cBhvr>
                                        <p:cTn id="23" dur="500"/>
                                        <p:tgtEl>
                                          <p:spTgt spid="277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16" grpId="0" animBg="1"/>
      <p:bldP spid="277517" grpId="0" animBg="1"/>
      <p:bldP spid="2775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txBox="1">
            <a:spLocks noChangeArrowheads="1"/>
          </p:cNvSpPr>
          <p:nvPr/>
        </p:nvSpPr>
        <p:spPr>
          <a:xfrm>
            <a:off x="571500" y="1714500"/>
            <a:ext cx="8248650" cy="4143375"/>
          </a:xfrm>
          <a:prstGeom prst="rect">
            <a:avLst/>
          </a:prstGeom>
          <a:noFill/>
        </p:spPr>
        <p:txBody>
          <a:bodyPr>
            <a:normAutofit lnSpcReduction="10000"/>
          </a:bodyPr>
          <a:lstStyle/>
          <a:p>
            <a:pPr marL="342900" indent="-342900" fontAlgn="auto">
              <a:spcBef>
                <a:spcPct val="20000"/>
              </a:spcBef>
              <a:spcAft>
                <a:spcPts val="0"/>
              </a:spcAft>
              <a:buFont typeface="Arial" pitchFamily="34" charset="0"/>
              <a:buChar char="•"/>
              <a:defRPr/>
            </a:pPr>
            <a:r>
              <a:rPr lang="en-US" sz="3200" dirty="0">
                <a:solidFill>
                  <a:schemeClr val="bg2">
                    <a:lumMod val="75000"/>
                  </a:schemeClr>
                </a:solidFill>
                <a:latin typeface="+mn-lt"/>
                <a:ea typeface="+mn-ea"/>
                <a:cs typeface="+mn-cs"/>
              </a:rPr>
              <a:t>Concerns of support people – fear</a:t>
            </a:r>
          </a:p>
          <a:p>
            <a:pPr marL="342900" indent="-342900" fontAlgn="auto">
              <a:spcBef>
                <a:spcPct val="20000"/>
              </a:spcBef>
              <a:spcAft>
                <a:spcPts val="0"/>
              </a:spcAft>
              <a:buFont typeface="Arial" pitchFamily="34" charset="0"/>
              <a:buChar char="•"/>
              <a:defRPr/>
            </a:pPr>
            <a:r>
              <a:rPr lang="en-US" sz="3200" dirty="0">
                <a:solidFill>
                  <a:schemeClr val="bg2">
                    <a:lumMod val="75000"/>
                  </a:schemeClr>
                </a:solidFill>
                <a:latin typeface="+mn-lt"/>
                <a:ea typeface="+mn-ea"/>
                <a:cs typeface="+mn-cs"/>
              </a:rPr>
              <a:t>Personal reasons – not sure what to do, fears</a:t>
            </a:r>
            <a:endParaRPr lang="en-AU" sz="3200" dirty="0">
              <a:solidFill>
                <a:schemeClr val="bg2">
                  <a:lumMod val="75000"/>
                </a:schemeClr>
              </a:solidFill>
              <a:latin typeface="+mn-lt"/>
              <a:ea typeface="+mn-ea"/>
              <a:cs typeface="+mn-cs"/>
            </a:endParaRPr>
          </a:p>
          <a:p>
            <a:pPr marL="342900" indent="-342900" fontAlgn="auto">
              <a:spcBef>
                <a:spcPct val="20000"/>
              </a:spcBef>
              <a:spcAft>
                <a:spcPts val="0"/>
              </a:spcAft>
              <a:buFont typeface="Arial" pitchFamily="34" charset="0"/>
              <a:buChar char="•"/>
              <a:defRPr/>
            </a:pPr>
            <a:r>
              <a:rPr lang="en-AU" sz="3200" dirty="0">
                <a:solidFill>
                  <a:schemeClr val="bg2">
                    <a:lumMod val="75000"/>
                  </a:schemeClr>
                </a:solidFill>
                <a:latin typeface="+mn-lt"/>
                <a:ea typeface="+mn-ea"/>
                <a:cs typeface="+mn-cs"/>
              </a:rPr>
              <a:t>Usual issues – such as time, it’s boring, too hot</a:t>
            </a:r>
          </a:p>
          <a:p>
            <a:pPr marL="342900" indent="-342900" fontAlgn="auto">
              <a:spcBef>
                <a:spcPct val="20000"/>
              </a:spcBef>
              <a:spcAft>
                <a:spcPts val="0"/>
              </a:spcAft>
              <a:buFont typeface="Arial" pitchFamily="34" charset="0"/>
              <a:buChar char="•"/>
              <a:defRPr/>
            </a:pPr>
            <a:r>
              <a:rPr lang="en-US" sz="3200" dirty="0">
                <a:solidFill>
                  <a:schemeClr val="bg2">
                    <a:lumMod val="75000"/>
                  </a:schemeClr>
                </a:solidFill>
                <a:latin typeface="+mn-lt"/>
                <a:ea typeface="+mn-ea"/>
                <a:cs typeface="+mn-cs"/>
              </a:rPr>
              <a:t>Cancer specific issues – wig makes head too hot, can’t wear a bra, compression garments are restrictive</a:t>
            </a:r>
            <a:endParaRPr lang="en-AU" sz="3200" dirty="0">
              <a:solidFill>
                <a:schemeClr val="bg2">
                  <a:lumMod val="75000"/>
                </a:schemeClr>
              </a:solidFill>
              <a:latin typeface="+mn-lt"/>
              <a:ea typeface="+mn-ea"/>
              <a:cs typeface="+mn-cs"/>
            </a:endParaRPr>
          </a:p>
          <a:p>
            <a:pPr marL="342900" indent="-342900" fontAlgn="auto">
              <a:spcBef>
                <a:spcPct val="20000"/>
              </a:spcBef>
              <a:spcAft>
                <a:spcPts val="0"/>
              </a:spcAft>
              <a:defRPr/>
            </a:pPr>
            <a:endParaRPr lang="en-AU" sz="3200" dirty="0">
              <a:solidFill>
                <a:schemeClr val="bg2">
                  <a:lumMod val="75000"/>
                </a:schemeClr>
              </a:solidFill>
              <a:latin typeface="+mn-lt"/>
              <a:ea typeface="+mn-ea"/>
              <a:cs typeface="+mn-cs"/>
            </a:endParaRPr>
          </a:p>
          <a:p>
            <a:pPr marL="742950" lvl="1" indent="-285750" fontAlgn="auto">
              <a:spcBef>
                <a:spcPct val="20000"/>
              </a:spcBef>
              <a:spcAft>
                <a:spcPts val="0"/>
              </a:spcAft>
              <a:defRPr/>
            </a:pPr>
            <a:endParaRPr lang="en-AU" sz="2800" dirty="0">
              <a:solidFill>
                <a:schemeClr val="bg2">
                  <a:lumMod val="75000"/>
                </a:schemeClr>
              </a:solidFill>
              <a:latin typeface="+mn-lt"/>
              <a:ea typeface="+mn-ea"/>
              <a:cs typeface="+mn-cs"/>
            </a:endParaRPr>
          </a:p>
        </p:txBody>
      </p:sp>
      <p:sp>
        <p:nvSpPr>
          <p:cNvPr id="279554" name="Title 3"/>
          <p:cNvSpPr>
            <a:spLocks noGrp="1"/>
          </p:cNvSpPr>
          <p:nvPr>
            <p:ph type="title"/>
          </p:nvPr>
        </p:nvSpPr>
        <p:spPr>
          <a:xfrm>
            <a:off x="428625" y="533400"/>
            <a:ext cx="7772400" cy="838200"/>
          </a:xfrm>
        </p:spPr>
        <p:txBody>
          <a:bodyPr/>
          <a:lstStyle/>
          <a:p>
            <a:pPr eaLnBrk="1" hangingPunct="1"/>
            <a:r>
              <a:rPr lang="en-AU" smtClean="0"/>
              <a:t>So why aren’t survivors active?</a:t>
            </a:r>
          </a:p>
        </p:txBody>
      </p:sp>
      <p:cxnSp>
        <p:nvCxnSpPr>
          <p:cNvPr id="279555" name="Straight Connector 4"/>
          <p:cNvCxnSpPr>
            <a:cxnSpLocks noChangeShapeType="1"/>
          </p:cNvCxnSpPr>
          <p:nvPr/>
        </p:nvCxnSpPr>
        <p:spPr bwMode="auto">
          <a:xfrm>
            <a:off x="428625" y="1285875"/>
            <a:ext cx="7000875" cy="0"/>
          </a:xfrm>
          <a:prstGeom prst="line">
            <a:avLst/>
          </a:prstGeom>
          <a:noFill/>
          <a:ln w="57150" algn="ctr">
            <a:solidFill>
              <a:srgbClr val="FFC000"/>
            </a:solidFill>
            <a:round/>
            <a:headEnd/>
            <a:tailEn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checkerboard(across)">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checkerboard(across)">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checkerboard(across)">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5"/>
          <p:cNvSpPr>
            <a:spLocks noChangeArrowheads="1"/>
          </p:cNvSpPr>
          <p:nvPr/>
        </p:nvSpPr>
        <p:spPr bwMode="auto">
          <a:xfrm>
            <a:off x="1214414" y="2000240"/>
            <a:ext cx="7215238" cy="1643074"/>
          </a:xfrm>
          <a:prstGeom prst="rect">
            <a:avLst/>
          </a:prstGeom>
          <a:solidFill>
            <a:schemeClr val="accent1"/>
          </a:solid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pPr algn="ctr" fontAlgn="auto">
              <a:spcBef>
                <a:spcPts val="0"/>
              </a:spcBef>
              <a:spcAft>
                <a:spcPts val="0"/>
              </a:spcAft>
              <a:defRPr/>
            </a:pPr>
            <a:r>
              <a:rPr lang="en-AU" sz="3200" b="1" i="1" dirty="0">
                <a:solidFill>
                  <a:schemeClr val="tx2"/>
                </a:solidFill>
                <a:latin typeface="Arial" pitchFamily="34" charset="0"/>
                <a:ea typeface="+mn-ea"/>
                <a:cs typeface="Arial" pitchFamily="34" charset="0"/>
              </a:rPr>
              <a:t>How do we best assist people to become and stay active following a cancer diagnosis?</a:t>
            </a:r>
          </a:p>
        </p:txBody>
      </p:sp>
      <p:sp>
        <p:nvSpPr>
          <p:cNvPr id="280580" name="Title 4"/>
          <p:cNvSpPr>
            <a:spLocks noGrp="1"/>
          </p:cNvSpPr>
          <p:nvPr>
            <p:ph type="title"/>
          </p:nvPr>
        </p:nvSpPr>
        <p:spPr>
          <a:xfrm>
            <a:off x="285750" y="161925"/>
            <a:ext cx="7772400" cy="838200"/>
          </a:xfrm>
        </p:spPr>
        <p:txBody>
          <a:bodyPr/>
          <a:lstStyle/>
          <a:p>
            <a:pPr eaLnBrk="1" hangingPunct="1"/>
            <a:r>
              <a:rPr lang="en-US" smtClean="0"/>
              <a:t>Where to from here?</a:t>
            </a:r>
            <a:endParaRPr lang="en-AU" smtClean="0"/>
          </a:p>
        </p:txBody>
      </p:sp>
      <p:cxnSp>
        <p:nvCxnSpPr>
          <p:cNvPr id="280581" name="Straight Connector 3"/>
          <p:cNvCxnSpPr>
            <a:cxnSpLocks noChangeShapeType="1"/>
          </p:cNvCxnSpPr>
          <p:nvPr/>
        </p:nvCxnSpPr>
        <p:spPr bwMode="auto">
          <a:xfrm>
            <a:off x="357188" y="857250"/>
            <a:ext cx="4500562" cy="0"/>
          </a:xfrm>
          <a:prstGeom prst="line">
            <a:avLst/>
          </a:prstGeom>
          <a:noFill/>
          <a:ln w="57150" algn="ctr">
            <a:solidFill>
              <a:srgbClr val="FFC000"/>
            </a:solidFill>
            <a:round/>
            <a:headEnd/>
            <a:tailEnd/>
          </a:ln>
        </p:spPr>
      </p:cxn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2625" name="Picture 2" descr="IMG_0069"/>
          <p:cNvPicPr>
            <a:picLocks noChangeAspect="1" noChangeArrowheads="1"/>
          </p:cNvPicPr>
          <p:nvPr/>
        </p:nvPicPr>
        <p:blipFill>
          <a:blip r:embed="rId3" cstate="print"/>
          <a:srcRect t="17551"/>
          <a:stretch>
            <a:fillRect/>
          </a:stretch>
        </p:blipFill>
        <p:spPr bwMode="auto">
          <a:xfrm>
            <a:off x="4500563" y="-26988"/>
            <a:ext cx="4679950" cy="2894013"/>
          </a:xfrm>
          <a:prstGeom prst="rect">
            <a:avLst/>
          </a:prstGeom>
          <a:noFill/>
          <a:ln w="9525">
            <a:noFill/>
            <a:miter lim="800000"/>
            <a:headEnd/>
            <a:tailEnd/>
          </a:ln>
        </p:spPr>
      </p:pic>
      <p:pic>
        <p:nvPicPr>
          <p:cNvPr id="282626" name="Picture 3" descr="IMG_0044"/>
          <p:cNvPicPr>
            <a:picLocks noChangeAspect="1" noChangeArrowheads="1"/>
          </p:cNvPicPr>
          <p:nvPr/>
        </p:nvPicPr>
        <p:blipFill>
          <a:blip r:embed="rId4" cstate="print"/>
          <a:srcRect/>
          <a:stretch>
            <a:fillRect/>
          </a:stretch>
        </p:blipFill>
        <p:spPr bwMode="auto">
          <a:xfrm>
            <a:off x="3708400" y="2781300"/>
            <a:ext cx="5435600" cy="4076700"/>
          </a:xfrm>
          <a:prstGeom prst="rect">
            <a:avLst/>
          </a:prstGeom>
          <a:noFill/>
          <a:ln w="9525">
            <a:noFill/>
            <a:miter lim="800000"/>
            <a:headEnd/>
            <a:tailEnd/>
          </a:ln>
        </p:spPr>
      </p:pic>
      <p:pic>
        <p:nvPicPr>
          <p:cNvPr id="282627" name="Picture 4" descr="NBCF_logo"/>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176213" y="6092825"/>
            <a:ext cx="2305050" cy="588963"/>
          </a:xfrm>
          <a:prstGeom prst="rect">
            <a:avLst/>
          </a:prstGeom>
          <a:solidFill>
            <a:schemeClr val="bg1"/>
          </a:solidFill>
          <a:ln w="9525">
            <a:noFill/>
            <a:miter lim="800000"/>
            <a:headEnd/>
            <a:tailEnd/>
          </a:ln>
        </p:spPr>
      </p:pic>
      <p:sp>
        <p:nvSpPr>
          <p:cNvPr id="282628" name="Text Box 5"/>
          <p:cNvSpPr txBox="1">
            <a:spLocks noChangeArrowheads="1"/>
          </p:cNvSpPr>
          <p:nvPr/>
        </p:nvSpPr>
        <p:spPr bwMode="auto">
          <a:xfrm>
            <a:off x="1116013" y="1916113"/>
            <a:ext cx="3240087" cy="366712"/>
          </a:xfrm>
          <a:prstGeom prst="rect">
            <a:avLst/>
          </a:prstGeom>
          <a:noFill/>
          <a:ln w="9525">
            <a:noFill/>
            <a:miter lim="800000"/>
            <a:headEnd/>
            <a:tailEnd/>
          </a:ln>
        </p:spPr>
        <p:txBody>
          <a:bodyPr>
            <a:spAutoFit/>
          </a:bodyPr>
          <a:lstStyle/>
          <a:p>
            <a:pPr>
              <a:spcBef>
                <a:spcPct val="50000"/>
              </a:spcBef>
            </a:pPr>
            <a:endParaRPr lang="en-US">
              <a:latin typeface="Tahoma" pitchFamily="34" charset="0"/>
            </a:endParaRPr>
          </a:p>
        </p:txBody>
      </p:sp>
      <p:pic>
        <p:nvPicPr>
          <p:cNvPr id="282629" name="Picture 6" descr="IMG_0034"/>
          <p:cNvPicPr>
            <a:picLocks noChangeAspect="1" noChangeArrowheads="1"/>
          </p:cNvPicPr>
          <p:nvPr/>
        </p:nvPicPr>
        <p:blipFill>
          <a:blip r:embed="rId6" cstate="print"/>
          <a:srcRect l="28693" t="1651" r="30124" b="27122"/>
          <a:stretch>
            <a:fillRect/>
          </a:stretch>
        </p:blipFill>
        <p:spPr bwMode="auto">
          <a:xfrm>
            <a:off x="1763713" y="0"/>
            <a:ext cx="3254375" cy="4221163"/>
          </a:xfrm>
          <a:prstGeom prst="rect">
            <a:avLst/>
          </a:prstGeom>
          <a:noFill/>
          <a:ln w="9525">
            <a:noFill/>
            <a:miter lim="800000"/>
            <a:headEnd/>
            <a:tailEnd/>
          </a:ln>
        </p:spPr>
      </p:pic>
      <p:pic>
        <p:nvPicPr>
          <p:cNvPr id="282630" name="Picture 7" descr="IMG_0048"/>
          <p:cNvPicPr>
            <a:picLocks noChangeAspect="1" noChangeArrowheads="1"/>
          </p:cNvPicPr>
          <p:nvPr/>
        </p:nvPicPr>
        <p:blipFill>
          <a:blip r:embed="rId7" cstate="print"/>
          <a:srcRect l="36162"/>
          <a:stretch>
            <a:fillRect/>
          </a:stretch>
        </p:blipFill>
        <p:spPr bwMode="auto">
          <a:xfrm>
            <a:off x="0" y="0"/>
            <a:ext cx="2413000" cy="2835275"/>
          </a:xfrm>
          <a:prstGeom prst="rect">
            <a:avLst/>
          </a:prstGeom>
          <a:noFill/>
          <a:ln w="9525">
            <a:noFill/>
            <a:miter lim="800000"/>
            <a:headEnd/>
            <a:tailEnd/>
          </a:ln>
        </p:spPr>
      </p:pic>
      <p:pic>
        <p:nvPicPr>
          <p:cNvPr id="282631" name="Picture 8" descr="IMG_0053"/>
          <p:cNvPicPr>
            <a:picLocks noChangeAspect="1" noChangeArrowheads="1"/>
          </p:cNvPicPr>
          <p:nvPr/>
        </p:nvPicPr>
        <p:blipFill>
          <a:blip r:embed="rId8" cstate="print"/>
          <a:srcRect l="28790" t="4500" r="15062" b="12666"/>
          <a:stretch>
            <a:fillRect/>
          </a:stretch>
        </p:blipFill>
        <p:spPr bwMode="auto">
          <a:xfrm>
            <a:off x="0" y="2781300"/>
            <a:ext cx="3708400" cy="41036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5"/>
          <p:cNvSpPr>
            <a:spLocks noChangeArrowheads="1"/>
          </p:cNvSpPr>
          <p:nvPr/>
        </p:nvSpPr>
        <p:spPr bwMode="auto">
          <a:xfrm>
            <a:off x="357188" y="1412875"/>
            <a:ext cx="8609012" cy="4525963"/>
          </a:xfrm>
          <a:prstGeom prst="rect">
            <a:avLst/>
          </a:prstGeom>
          <a:noFill/>
          <a:ln w="9525">
            <a:noFill/>
            <a:miter lim="800000"/>
            <a:headEnd/>
            <a:tailEnd/>
          </a:ln>
          <a:effectLst/>
        </p:spPr>
        <p:txBody>
          <a:bodyPr/>
          <a:lstStyle/>
          <a:p>
            <a:pPr marL="342900" indent="-342900" eaLnBrk="0" hangingPunct="0">
              <a:lnSpc>
                <a:spcPct val="80000"/>
              </a:lnSpc>
              <a:defRPr/>
            </a:pPr>
            <a:r>
              <a:rPr lang="en-AU" sz="2400" dirty="0">
                <a:solidFill>
                  <a:schemeClr val="bg1"/>
                </a:solidFill>
                <a:ea typeface="ＭＳ Ｐゴシック" pitchFamily="112" charset="-128"/>
                <a:cs typeface="+mn-cs"/>
              </a:rPr>
              <a:t>“</a:t>
            </a:r>
            <a:r>
              <a:rPr lang="en-AU" sz="2400" dirty="0">
                <a:solidFill>
                  <a:schemeClr val="bg1">
                    <a:lumMod val="50000"/>
                  </a:schemeClr>
                </a:solidFill>
                <a:ea typeface="ＭＳ Ｐゴシック" pitchFamily="112" charset="-128"/>
                <a:cs typeface="+mn-cs"/>
              </a:rPr>
              <a:t>If someone offered you a drug that could help prevent five major health concerns, including cardiovascular disease, cancer and diabetes, wouldn’t you rush to take it?  If you were told that this same drug could keep your weight down, reduce the need for antidepressants, boost your self-confidence and reduce your chance of getting osteoporosis, wouldn’t you be emptying your coffers in order to stock up on supplies?  Well, such a drug is available.  It’s called exercise.” </a:t>
            </a:r>
          </a:p>
          <a:p>
            <a:pPr marL="342900" indent="-342900" eaLnBrk="0" hangingPunct="0">
              <a:lnSpc>
                <a:spcPct val="80000"/>
              </a:lnSpc>
              <a:defRPr/>
            </a:pPr>
            <a:endParaRPr lang="en-AU" sz="2400" dirty="0">
              <a:solidFill>
                <a:schemeClr val="bg1">
                  <a:lumMod val="50000"/>
                </a:schemeClr>
              </a:solidFill>
              <a:ea typeface="ＭＳ Ｐゴシック" pitchFamily="112" charset="-128"/>
              <a:cs typeface="+mn-cs"/>
            </a:endParaRPr>
          </a:p>
          <a:p>
            <a:pPr marL="342900" indent="-342900" eaLnBrk="0" hangingPunct="0">
              <a:lnSpc>
                <a:spcPct val="80000"/>
              </a:lnSpc>
              <a:defRPr/>
            </a:pPr>
            <a:r>
              <a:rPr lang="en-AU" sz="2000" dirty="0">
                <a:solidFill>
                  <a:schemeClr val="bg1">
                    <a:lumMod val="50000"/>
                  </a:schemeClr>
                </a:solidFill>
                <a:ea typeface="ＭＳ Ｐゴシック" pitchFamily="112" charset="-128"/>
                <a:cs typeface="+mn-cs"/>
              </a:rPr>
              <a:t>Beverley </a:t>
            </a:r>
            <a:r>
              <a:rPr lang="en-AU" sz="2000" dirty="0" err="1">
                <a:solidFill>
                  <a:schemeClr val="bg1">
                    <a:lumMod val="50000"/>
                  </a:schemeClr>
                </a:solidFill>
                <a:ea typeface="ＭＳ Ｐゴシック" pitchFamily="112" charset="-128"/>
                <a:cs typeface="+mn-cs"/>
              </a:rPr>
              <a:t>Hadgraft</a:t>
            </a:r>
            <a:r>
              <a:rPr lang="en-AU" sz="2000" dirty="0">
                <a:solidFill>
                  <a:schemeClr val="bg1">
                    <a:lumMod val="50000"/>
                  </a:schemeClr>
                </a:solidFill>
                <a:ea typeface="ＭＳ Ｐゴシック" pitchFamily="112" charset="-128"/>
                <a:cs typeface="+mn-cs"/>
              </a:rPr>
              <a:t>, Qantas The Australian Way Magazine, January 2008</a:t>
            </a:r>
          </a:p>
        </p:txBody>
      </p:sp>
      <p:sp>
        <p:nvSpPr>
          <p:cNvPr id="289794" name="Title 4"/>
          <p:cNvSpPr>
            <a:spLocks noGrp="1"/>
          </p:cNvSpPr>
          <p:nvPr>
            <p:ph type="title" idx="4294967295"/>
          </p:nvPr>
        </p:nvSpPr>
        <p:spPr>
          <a:xfrm>
            <a:off x="357188" y="285750"/>
            <a:ext cx="7772400" cy="838200"/>
          </a:xfrm>
        </p:spPr>
        <p:txBody>
          <a:bodyPr/>
          <a:lstStyle/>
          <a:p>
            <a:pPr eaLnBrk="1" hangingPunct="1"/>
            <a:r>
              <a:rPr lang="en-US" smtClean="0"/>
              <a:t>The dilemma</a:t>
            </a:r>
            <a:endParaRPr lang="en-AU" smtClean="0"/>
          </a:p>
        </p:txBody>
      </p:sp>
      <p:cxnSp>
        <p:nvCxnSpPr>
          <p:cNvPr id="289795" name="Straight Connector 3"/>
          <p:cNvCxnSpPr>
            <a:cxnSpLocks noChangeShapeType="1"/>
          </p:cNvCxnSpPr>
          <p:nvPr/>
        </p:nvCxnSpPr>
        <p:spPr bwMode="auto">
          <a:xfrm>
            <a:off x="503238" y="981075"/>
            <a:ext cx="4500562" cy="0"/>
          </a:xfrm>
          <a:prstGeom prst="line">
            <a:avLst/>
          </a:prstGeom>
          <a:noFill/>
          <a:ln w="57150" algn="ctr">
            <a:solidFill>
              <a:srgbClr val="FFC000"/>
            </a:solidFill>
            <a:round/>
            <a:headEnd/>
            <a:tailEnd/>
          </a:ln>
        </p:spPr>
      </p:cxnSp>
    </p:spTree>
  </p:cSld>
  <p:clrMapOvr>
    <a:masterClrMapping/>
  </p:clrMapOvr>
  <p:timing>
    <p:tnLst>
      <p:par>
        <p:cTn id="1" dur="indefinite" restart="never" nodeType="tmRoot"/>
      </p:par>
    </p:tnLst>
  </p:timing>
</p:sld>
</file>

<file path=ppt/theme/theme1.xml><?xml version="1.0" encoding="utf-8"?>
<a:theme xmlns:a="http://schemas.openxmlformats.org/drawingml/2006/main" name="Blank Presentation">
  <a:themeElements>
    <a:clrScheme name="">
      <a:dk1>
        <a:srgbClr val="FFFFFF"/>
      </a:dk1>
      <a:lt1>
        <a:srgbClr val="FFFFFF"/>
      </a:lt1>
      <a:dk2>
        <a:srgbClr val="000000"/>
      </a:dk2>
      <a:lt2>
        <a:srgbClr val="808080"/>
      </a:lt2>
      <a:accent1>
        <a:srgbClr val="BBE0E3"/>
      </a:accent1>
      <a:accent2>
        <a:srgbClr val="333399"/>
      </a:accent2>
      <a:accent3>
        <a:srgbClr val="FFFFFF"/>
      </a:accent3>
      <a:accent4>
        <a:srgbClr val="DADADA"/>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12"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12"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icanhop_powerpoint_master</Template>
  <TotalTime>1464</TotalTime>
  <Words>685</Words>
  <Application>Microsoft Office PowerPoint</Application>
  <PresentationFormat>On-screen Show (4:3)</PresentationFormat>
  <Paragraphs>144</Paragraphs>
  <Slides>17</Slides>
  <Notes>13</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17</vt:i4>
      </vt:variant>
    </vt:vector>
  </HeadingPairs>
  <TitlesOfParts>
    <vt:vector size="20" baseType="lpstr">
      <vt:lpstr>Blank Presentation</vt:lpstr>
      <vt:lpstr>Chart</vt:lpstr>
      <vt:lpstr>Worksheet</vt:lpstr>
      <vt:lpstr>Slide 1</vt:lpstr>
      <vt:lpstr>Exercise and cancer</vt:lpstr>
      <vt:lpstr>Exercise and cancer: fitness</vt:lpstr>
      <vt:lpstr>Exercise and cancer: treatment-     related symptoms</vt:lpstr>
      <vt:lpstr>Exercise and cancer: psychosocial    concerns</vt:lpstr>
      <vt:lpstr>Slide 6</vt:lpstr>
      <vt:lpstr>Exercise and survival following cancer</vt:lpstr>
      <vt:lpstr>Exercise and cancer</vt:lpstr>
      <vt:lpstr>Exercise advice</vt:lpstr>
      <vt:lpstr>Exercise: it’s important, feasible and it’s necessary</vt:lpstr>
      <vt:lpstr>Why aren’t survivors active?   Mixed advice</vt:lpstr>
      <vt:lpstr>Why aren’t survivors active?   Clinical concerns</vt:lpstr>
      <vt:lpstr>Why aren’t survivors active?   Clinical concerns</vt:lpstr>
      <vt:lpstr>So why aren’t survivors active?</vt:lpstr>
      <vt:lpstr>Where to from here?</vt:lpstr>
      <vt:lpstr>Slide 16</vt:lpstr>
      <vt:lpstr>The dilemma</vt:lpstr>
    </vt:vector>
  </TitlesOfParts>
  <Company>QUT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guyla</dc:creator>
  <cp:lastModifiedBy>hayes</cp:lastModifiedBy>
  <cp:revision>158</cp:revision>
  <dcterms:created xsi:type="dcterms:W3CDTF">2009-07-02T01:59:11Z</dcterms:created>
  <dcterms:modified xsi:type="dcterms:W3CDTF">2009-11-23T01:55:48Z</dcterms:modified>
</cp:coreProperties>
</file>