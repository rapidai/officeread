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33"/>
  </p:notesMasterIdLst>
  <p:sldIdLst>
    <p:sldId id="256" r:id="rId2"/>
    <p:sldId id="258" r:id="rId3"/>
    <p:sldId id="260" r:id="rId4"/>
    <p:sldId id="279" r:id="rId5"/>
    <p:sldId id="289" r:id="rId6"/>
    <p:sldId id="280" r:id="rId7"/>
    <p:sldId id="259" r:id="rId8"/>
    <p:sldId id="267" r:id="rId9"/>
    <p:sldId id="261" r:id="rId10"/>
    <p:sldId id="265" r:id="rId11"/>
    <p:sldId id="281" r:id="rId12"/>
    <p:sldId id="264" r:id="rId13"/>
    <p:sldId id="285" r:id="rId14"/>
    <p:sldId id="286" r:id="rId15"/>
    <p:sldId id="287" r:id="rId16"/>
    <p:sldId id="282" r:id="rId17"/>
    <p:sldId id="266" r:id="rId18"/>
    <p:sldId id="268" r:id="rId19"/>
    <p:sldId id="270" r:id="rId20"/>
    <p:sldId id="271" r:id="rId21"/>
    <p:sldId id="272" r:id="rId22"/>
    <p:sldId id="274" r:id="rId23"/>
    <p:sldId id="257" r:id="rId24"/>
    <p:sldId id="273" r:id="rId25"/>
    <p:sldId id="275" r:id="rId26"/>
    <p:sldId id="276" r:id="rId27"/>
    <p:sldId id="277" r:id="rId28"/>
    <p:sldId id="278" r:id="rId29"/>
    <p:sldId id="288" r:id="rId30"/>
    <p:sldId id="283" r:id="rId31"/>
    <p:sldId id="284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07" autoAdjust="0"/>
    <p:restoredTop sz="54033" autoAdjust="0"/>
  </p:normalViewPr>
  <p:slideViewPr>
    <p:cSldViewPr>
      <p:cViewPr varScale="1">
        <p:scale>
          <a:sx n="48" d="100"/>
          <a:sy n="48" d="100"/>
        </p:scale>
        <p:origin x="-267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5E4D08-F858-4D8F-92B6-92A88A974201}" type="datetimeFigureOut">
              <a:rPr lang="en-US" smtClean="0"/>
              <a:pPr/>
              <a:t>10/9/2012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4C59C-F7B9-4E8C-BAA6-CA6C596197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184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4C59C-F7B9-4E8C-BAA6-CA6C59619772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27F88714-E0F9-46A2-B66B-CCA60E08C820}" type="datetimeFigureOut">
              <a:rPr lang="en-US" smtClean="0"/>
              <a:pPr/>
              <a:t>10/9/2012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CE0A8D-E329-4CCC-91EC-E96761F26A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88714-E0F9-46A2-B66B-CCA60E08C820}" type="datetimeFigureOut">
              <a:rPr lang="en-US" smtClean="0"/>
              <a:pPr/>
              <a:t>10/9/2012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CE0A8D-E329-4CCC-91EC-E96761F26A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88714-E0F9-46A2-B66B-CCA60E08C820}" type="datetimeFigureOut">
              <a:rPr lang="en-US" smtClean="0"/>
              <a:pPr/>
              <a:t>10/9/2012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7CE0A8D-E329-4CCC-91EC-E96761F26A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7F88714-E0F9-46A2-B66B-CCA60E08C820}" type="datetimeFigureOut">
              <a:rPr lang="en-US" smtClean="0"/>
              <a:pPr/>
              <a:t>10/9/2012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CE0A8D-E329-4CCC-91EC-E96761F26A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7F88714-E0F9-46A2-B66B-CCA60E08C820}" type="datetimeFigureOut">
              <a:rPr lang="en-US" smtClean="0"/>
              <a:pPr/>
              <a:t>10/9/2012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CE0A8D-E329-4CCC-91EC-E96761F26A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88714-E0F9-46A2-B66B-CCA60E08C820}" type="datetimeFigureOut">
              <a:rPr lang="en-US" smtClean="0"/>
              <a:pPr/>
              <a:t>10/9/2012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CE0A8D-E329-4CCC-91EC-E96761F26A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88714-E0F9-46A2-B66B-CCA60E08C820}" type="datetimeFigureOut">
              <a:rPr lang="en-US" smtClean="0"/>
              <a:pPr/>
              <a:t>10/9/2012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CE0A8D-E329-4CCC-91EC-E96761F26A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88714-E0F9-46A2-B66B-CCA60E08C820}" type="datetimeFigureOut">
              <a:rPr lang="en-US" smtClean="0"/>
              <a:pPr/>
              <a:t>10/9/2012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CE0A8D-E329-4CCC-91EC-E96761F26A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27F88714-E0F9-46A2-B66B-CCA60E08C820}" type="datetimeFigureOut">
              <a:rPr lang="en-US" smtClean="0"/>
              <a:pPr/>
              <a:t>10/9/2012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7CE0A8D-E329-4CCC-91EC-E96761F26A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88714-E0F9-46A2-B66B-CCA60E08C820}" type="datetimeFigureOut">
              <a:rPr lang="en-US" smtClean="0"/>
              <a:pPr/>
              <a:t>10/9/2012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0A8D-E329-4CCC-91EC-E96761F26A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27F88714-E0F9-46A2-B66B-CCA60E08C820}" type="datetimeFigureOut">
              <a:rPr lang="en-US" smtClean="0"/>
              <a:pPr/>
              <a:t>10/9/2012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7CE0A8D-E329-4CCC-91EC-E96761F26A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7F88714-E0F9-46A2-B66B-CCA60E08C820}" type="datetimeFigureOut">
              <a:rPr lang="en-US" smtClean="0"/>
              <a:pPr/>
              <a:t>10/9/2012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7CE0A8D-E329-4CCC-91EC-E96761F26A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zDZFcDGpL4U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restandards.org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838200"/>
            <a:ext cx="6784848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The Curriculum </a:t>
            </a:r>
            <a:br>
              <a:rPr lang="en-US" dirty="0" smtClean="0"/>
            </a:br>
            <a:r>
              <a:rPr lang="en-US" dirty="0" smtClean="0"/>
              <a:t>Development Process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676400"/>
            <a:ext cx="6934200" cy="4114800"/>
          </a:xfrm>
        </p:spPr>
        <p:txBody>
          <a:bodyPr>
            <a:normAutofit fontScale="47500" lnSpcReduction="20000"/>
          </a:bodyPr>
          <a:lstStyle/>
          <a:p>
            <a:endParaRPr lang="en-US" dirty="0" smtClean="0"/>
          </a:p>
          <a:p>
            <a:pPr algn="ctr"/>
            <a:endParaRPr lang="en-US" sz="5100" dirty="0" smtClean="0"/>
          </a:p>
          <a:p>
            <a:pPr algn="ctr"/>
            <a:r>
              <a:rPr lang="en-US" sz="5100" dirty="0" smtClean="0"/>
              <a:t>Aligning Curriculum and Instruction to </a:t>
            </a:r>
          </a:p>
          <a:p>
            <a:pPr algn="ctr"/>
            <a:r>
              <a:rPr lang="en-US" sz="5100" dirty="0" smtClean="0"/>
              <a:t>Support Academic Success </a:t>
            </a:r>
          </a:p>
          <a:p>
            <a:pPr algn="ctr"/>
            <a:r>
              <a:rPr lang="en-US" sz="5100" dirty="0" smtClean="0"/>
              <a:t>for </a:t>
            </a:r>
          </a:p>
          <a:p>
            <a:pPr algn="ctr"/>
            <a:r>
              <a:rPr lang="en-US" sz="5100" dirty="0" smtClean="0"/>
              <a:t>NJ GEAR UP Students</a:t>
            </a:r>
          </a:p>
          <a:p>
            <a:pPr algn="ctr"/>
            <a:endParaRPr lang="en-US" sz="5100" dirty="0" smtClean="0"/>
          </a:p>
          <a:p>
            <a:pPr algn="ctr"/>
            <a:r>
              <a:rPr lang="en-US" sz="5100" dirty="0" smtClean="0"/>
              <a:t>September 13, 2012</a:t>
            </a:r>
          </a:p>
          <a:p>
            <a:endParaRPr lang="en-US" sz="4000" dirty="0" smtClean="0"/>
          </a:p>
          <a:p>
            <a:pPr algn="ctr"/>
            <a:endParaRPr lang="en-US" sz="2900" dirty="0" smtClean="0"/>
          </a:p>
          <a:p>
            <a:pPr algn="ctr"/>
            <a:endParaRPr lang="en-US" sz="2900" dirty="0" smtClean="0"/>
          </a:p>
          <a:p>
            <a:pPr algn="ctr"/>
            <a:r>
              <a:rPr lang="en-US" sz="2900" dirty="0" smtClean="0"/>
              <a:t>Kilpatry Cuesta, State Coordinator, NJ GEAR UP State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6721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NJ GEAR UP Mission:</a:t>
            </a:r>
          </a:p>
          <a:p>
            <a:pPr>
              <a:buNone/>
            </a:pPr>
            <a:endParaRPr lang="en-US" sz="3600" dirty="0" smtClean="0"/>
          </a:p>
          <a:p>
            <a:pPr>
              <a:buNone/>
            </a:pPr>
            <a:r>
              <a:rPr lang="en-US" sz="3600" dirty="0" smtClean="0"/>
              <a:t>To increase the number of low income</a:t>
            </a:r>
          </a:p>
          <a:p>
            <a:pPr>
              <a:buNone/>
            </a:pPr>
            <a:r>
              <a:rPr lang="en-US" sz="3600" dirty="0" smtClean="0"/>
              <a:t>students who are prepared to enter and</a:t>
            </a:r>
          </a:p>
          <a:p>
            <a:pPr>
              <a:buNone/>
            </a:pPr>
            <a:r>
              <a:rPr lang="en-US" sz="3600" dirty="0" smtClean="0"/>
              <a:t>succeed in postsecondary education.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we do 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dirty="0" smtClean="0"/>
              <a:t>Academic and personal counseling</a:t>
            </a:r>
          </a:p>
          <a:p>
            <a:r>
              <a:rPr lang="en-US" sz="3000" dirty="0" smtClean="0"/>
              <a:t>NJASK8, HSPA, PSAT, and SAT prep classes</a:t>
            </a:r>
          </a:p>
          <a:p>
            <a:r>
              <a:rPr lang="en-US" sz="3000" dirty="0" smtClean="0">
                <a:solidFill>
                  <a:srgbClr val="FF0000"/>
                </a:solidFill>
              </a:rPr>
              <a:t>Academic year and summer instruction</a:t>
            </a:r>
          </a:p>
          <a:p>
            <a:r>
              <a:rPr lang="en-US" sz="3000" dirty="0" smtClean="0"/>
              <a:t>Help with college applications</a:t>
            </a:r>
          </a:p>
          <a:p>
            <a:r>
              <a:rPr lang="en-US" sz="3000" dirty="0" smtClean="0"/>
              <a:t>Mentoring</a:t>
            </a:r>
          </a:p>
          <a:p>
            <a:r>
              <a:rPr lang="en-US" sz="3000" dirty="0" smtClean="0"/>
              <a:t>After-school tutoring</a:t>
            </a:r>
          </a:p>
          <a:p>
            <a:r>
              <a:rPr lang="en-US" sz="3000" dirty="0" smtClean="0"/>
              <a:t>College visits and tours </a:t>
            </a:r>
          </a:p>
          <a:p>
            <a:r>
              <a:rPr lang="en-US" sz="3000" dirty="0" smtClean="0"/>
              <a:t>Financial aid information workshops</a:t>
            </a:r>
          </a:p>
          <a:p>
            <a:r>
              <a:rPr lang="en-US" sz="3000" dirty="0" smtClean="0"/>
              <a:t>Cultural and educational field trips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Reflection</a:t>
            </a:r>
          </a:p>
          <a:p>
            <a:pPr>
              <a:buNone/>
            </a:pPr>
            <a:endParaRPr lang="en-US" dirty="0" smtClean="0"/>
          </a:p>
          <a:p>
            <a:r>
              <a:rPr lang="en-US" sz="2800" dirty="0" smtClean="0"/>
              <a:t>How do we support effective academic instruction and student learning?</a:t>
            </a:r>
          </a:p>
          <a:p>
            <a:endParaRPr lang="en-US" sz="2800" dirty="0" smtClean="0"/>
          </a:p>
          <a:p>
            <a:r>
              <a:rPr lang="en-US" sz="2800" dirty="0" smtClean="0"/>
              <a:t>What are our current </a:t>
            </a:r>
            <a:r>
              <a:rPr lang="en-US" sz="2800" i="1" dirty="0" smtClean="0"/>
              <a:t>habits?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Changing Education Paradigms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www.youtube.com/watch?v=zDZFcDGpL4U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28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Curriculum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7162800" cy="4389120"/>
          </a:xfrm>
        </p:spPr>
        <p:txBody>
          <a:bodyPr/>
          <a:lstStyle/>
          <a:p>
            <a:endParaRPr lang="en-US" dirty="0" smtClean="0"/>
          </a:p>
          <a:p>
            <a:pPr>
              <a:buNone/>
            </a:pPr>
            <a:r>
              <a:rPr lang="en-US" dirty="0" smtClean="0"/>
              <a:t>The process of curriculum development is</a:t>
            </a:r>
          </a:p>
          <a:p>
            <a:pPr>
              <a:buNone/>
            </a:pPr>
            <a:r>
              <a:rPr lang="en-US" dirty="0" smtClean="0"/>
              <a:t>an opportunity to</a:t>
            </a:r>
          </a:p>
          <a:p>
            <a:r>
              <a:rPr lang="en-US" dirty="0" smtClean="0"/>
              <a:t>Support creative instruction</a:t>
            </a:r>
          </a:p>
          <a:p>
            <a:r>
              <a:rPr lang="en-US" dirty="0" smtClean="0"/>
              <a:t>Impact student achievement</a:t>
            </a:r>
          </a:p>
          <a:p>
            <a:r>
              <a:rPr lang="en-US" dirty="0" smtClean="0"/>
              <a:t>Prepare students for college &amp; LIFE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do we value?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600" dirty="0" smtClean="0"/>
              <a:t>Please think about what you value in your respective programs.</a:t>
            </a:r>
          </a:p>
          <a:p>
            <a:pPr>
              <a:buNone/>
            </a:pPr>
            <a:endParaRPr lang="en-US" sz="3600" dirty="0" smtClean="0"/>
          </a:p>
          <a:p>
            <a:r>
              <a:rPr lang="en-US" sz="3600" dirty="0" smtClean="0"/>
              <a:t>You will have an opportunity to share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Curriculum Development Team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90600" y="2362200"/>
            <a:ext cx="7696200" cy="3962400"/>
          </a:xfrm>
        </p:spPr>
        <p:txBody>
          <a:bodyPr/>
          <a:lstStyle/>
          <a:p>
            <a:r>
              <a:rPr lang="en-US" dirty="0" smtClean="0"/>
              <a:t>NJ GEAR UP Director</a:t>
            </a:r>
          </a:p>
          <a:p>
            <a:r>
              <a:rPr lang="en-US" dirty="0" smtClean="0"/>
              <a:t>Curriculum Coordinator</a:t>
            </a:r>
          </a:p>
          <a:p>
            <a:r>
              <a:rPr lang="en-US" dirty="0" smtClean="0"/>
              <a:t>Lead Teacher (s) (content/technology)</a:t>
            </a:r>
          </a:p>
          <a:p>
            <a:r>
              <a:rPr lang="en-US" dirty="0" smtClean="0"/>
              <a:t>Consultant</a:t>
            </a:r>
          </a:p>
          <a:p>
            <a:r>
              <a:rPr lang="en-US" dirty="0" smtClean="0"/>
              <a:t>NJ GEAR UP State Coordinator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vision should stretch the organization’s capabilities and image of itself. </a:t>
            </a:r>
          </a:p>
          <a:p>
            <a:r>
              <a:rPr lang="en-US" dirty="0" smtClean="0"/>
              <a:t>It gives shape and direction to the organization’s future.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NJ GEAR UP Goal: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To participate in the  curriculum development </a:t>
            </a:r>
            <a:r>
              <a:rPr lang="en-US" i="1" dirty="0" smtClean="0"/>
              <a:t>process </a:t>
            </a:r>
          </a:p>
          <a:p>
            <a:r>
              <a:rPr lang="en-US" dirty="0" smtClean="0"/>
              <a:t>to ensure that standards guide academic year and summer instruction</a:t>
            </a:r>
          </a:p>
          <a:p>
            <a:endParaRPr lang="en-US" dirty="0" smtClean="0"/>
          </a:p>
          <a:p>
            <a:pPr>
              <a:buNone/>
            </a:pPr>
            <a:r>
              <a:rPr lang="en-US" i="1" dirty="0" smtClean="0"/>
              <a:t>Note: While the process may be universal the goal is NOT to create a canned GEAR UP curriculum (book) for all programs to use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Academic standards help identify the big ideas</a:t>
            </a:r>
          </a:p>
          <a:p>
            <a:pPr>
              <a:buNone/>
            </a:pPr>
            <a:r>
              <a:rPr lang="en-US" dirty="0" smtClean="0"/>
              <a:t>to be addressed in a grade , level, unit, or</a:t>
            </a:r>
          </a:p>
          <a:p>
            <a:pPr>
              <a:buNone/>
            </a:pPr>
            <a:r>
              <a:rPr lang="en-US" dirty="0" smtClean="0"/>
              <a:t>lesson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What students should know and be able to do</a:t>
            </a:r>
          </a:p>
          <a:p>
            <a:r>
              <a:rPr lang="en-US" dirty="0" smtClean="0"/>
              <a:t>What they may be asked to give evidence of learning</a:t>
            </a:r>
          </a:p>
          <a:p>
            <a:r>
              <a:rPr lang="en-US" dirty="0" smtClean="0"/>
              <a:t>How well they should be expected to know or do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New Era: </a:t>
            </a:r>
            <a:br>
              <a:rPr lang="en-US" sz="3200" dirty="0" smtClean="0"/>
            </a:br>
            <a:r>
              <a:rPr lang="en-US" sz="3200" dirty="0" smtClean="0"/>
              <a:t>Common Core Standards (CCS)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We must now spend more time focusing on aligning curriculum and instruction, rather than developing curriculum guides.  </a:t>
            </a:r>
          </a:p>
          <a:p>
            <a:endParaRPr lang="en-US" dirty="0" smtClean="0"/>
          </a:p>
          <a:p>
            <a:r>
              <a:rPr lang="en-US" dirty="0" smtClean="0"/>
              <a:t>We have shifted from focusing on </a:t>
            </a:r>
            <a:r>
              <a:rPr lang="en-US" i="1" dirty="0" smtClean="0"/>
              <a:t>what</a:t>
            </a:r>
            <a:r>
              <a:rPr lang="en-US" dirty="0" smtClean="0"/>
              <a:t> (standards) to focusing on </a:t>
            </a:r>
            <a:r>
              <a:rPr lang="en-US" i="1" dirty="0" smtClean="0"/>
              <a:t>how </a:t>
            </a:r>
            <a:r>
              <a:rPr lang="en-US" dirty="0" smtClean="0"/>
              <a:t>(teaching).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345680" cy="83820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 6 Shifts in English Language Arts (ELA) CCS</a:t>
            </a:r>
            <a:br>
              <a:rPr lang="en-US" sz="3600" dirty="0" smtClean="0"/>
            </a:br>
            <a:r>
              <a:rPr lang="en-US" sz="3100" dirty="0" smtClean="0"/>
              <a:t>(</a:t>
            </a:r>
            <a:r>
              <a:rPr lang="en-US" sz="2700" dirty="0" smtClean="0"/>
              <a:t>September 2012 –Implementation in NJ)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676400"/>
            <a:ext cx="8153400" cy="44958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Shift 1:</a:t>
            </a:r>
          </a:p>
          <a:p>
            <a:r>
              <a:rPr lang="en-US" dirty="0" smtClean="0"/>
              <a:t>At least 50% of what students read should be INFORMATIONAL (there should be a balance  of informational &amp; literary texts)</a:t>
            </a:r>
          </a:p>
          <a:p>
            <a:r>
              <a:rPr lang="en-US" dirty="0" smtClean="0"/>
              <a:t>Text complexity should increase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Shift 2: </a:t>
            </a:r>
          </a:p>
          <a:p>
            <a:pPr>
              <a:buNone/>
            </a:pPr>
            <a:r>
              <a:rPr lang="en-US" dirty="0" smtClean="0"/>
              <a:t>Knowledge in the Disciplines</a:t>
            </a:r>
          </a:p>
          <a:p>
            <a:r>
              <a:rPr lang="en-US" dirty="0" smtClean="0"/>
              <a:t>Grades 6-12: Literacy is shared across the subjects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ELA CCS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Shift 3: Staircase of complexity</a:t>
            </a:r>
          </a:p>
          <a:p>
            <a:r>
              <a:rPr lang="en-US" dirty="0" smtClean="0"/>
              <a:t>Students are prepared for the complexity of college and career-ready texts</a:t>
            </a:r>
          </a:p>
          <a:p>
            <a:r>
              <a:rPr lang="en-US" dirty="0" smtClean="0"/>
              <a:t>Teachers provide scaffolding and supports for students below grade level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Shift 4: Text-based answers</a:t>
            </a:r>
          </a:p>
          <a:p>
            <a:r>
              <a:rPr lang="en-US" dirty="0" smtClean="0"/>
              <a:t>Assess comprehension of text through</a:t>
            </a:r>
          </a:p>
          <a:p>
            <a:pPr>
              <a:buNone/>
            </a:pPr>
            <a:r>
              <a:rPr lang="en-US" dirty="0" smtClean="0"/>
              <a:t>arguments, conversations, &amp; writing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ELA CCS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Shift 5: Writing from Sources</a:t>
            </a:r>
          </a:p>
          <a:p>
            <a:r>
              <a:rPr lang="en-US" dirty="0" smtClean="0"/>
              <a:t>Use of evidence to inform or make an argument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Shift 6:  Academic Vocabulary</a:t>
            </a:r>
          </a:p>
          <a:p>
            <a:r>
              <a:rPr lang="en-US" dirty="0" smtClean="0"/>
              <a:t>Increased vocabulary is needed to access grade level complex text</a:t>
            </a:r>
          </a:p>
          <a:p>
            <a:r>
              <a:rPr lang="en-US" dirty="0" smtClean="0"/>
              <a:t>Help students access more complex texts across content areas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Curriculum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Curriculum is the program used to prepare students to meet the standards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It provides direction in instruction</a:t>
            </a:r>
          </a:p>
          <a:p>
            <a:r>
              <a:rPr lang="en-US" dirty="0" smtClean="0"/>
              <a:t>It is fluid &amp; ever changing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Step 1: Establish the Foundation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Understand state and national standards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Standards are the driving force for curriculum development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October 2012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II: Data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9600" dirty="0" smtClean="0"/>
              <a:t>Analyze student achievement data</a:t>
            </a:r>
          </a:p>
          <a:p>
            <a:r>
              <a:rPr lang="en-US" sz="9600" dirty="0" smtClean="0"/>
              <a:t>Develop a common understanding of students’ needs beyond individual sites</a:t>
            </a:r>
            <a:r>
              <a:rPr lang="en-US" sz="7400" dirty="0" smtClean="0"/>
              <a:t>.</a:t>
            </a:r>
          </a:p>
          <a:p>
            <a:pPr>
              <a:buNone/>
            </a:pPr>
            <a:endParaRPr lang="en-US" sz="7400" dirty="0" smtClean="0"/>
          </a:p>
          <a:p>
            <a:pPr>
              <a:buNone/>
            </a:pPr>
            <a:r>
              <a:rPr lang="en-US" sz="7400" dirty="0" smtClean="0"/>
              <a:t>ASK 8, HSPA, Grades</a:t>
            </a:r>
          </a:p>
          <a:p>
            <a:pPr>
              <a:buNone/>
            </a:pPr>
            <a:r>
              <a:rPr lang="en-US" sz="7400" dirty="0" smtClean="0"/>
              <a:t>Graduation rate/College enrollment rate</a:t>
            </a:r>
          </a:p>
          <a:p>
            <a:pPr>
              <a:buNone/>
            </a:pPr>
            <a:r>
              <a:rPr lang="en-US" sz="7400" dirty="0" smtClean="0"/>
              <a:t>Rigorous courses (Pre-Algebra, Algebra, Chemistry)</a:t>
            </a:r>
          </a:p>
          <a:p>
            <a:pPr>
              <a:buNone/>
            </a:pPr>
            <a:r>
              <a:rPr lang="en-US" sz="7400" i="1" dirty="0" smtClean="0"/>
              <a:t>Other</a:t>
            </a:r>
          </a:p>
          <a:p>
            <a:pPr>
              <a:buNone/>
            </a:pPr>
            <a:endParaRPr lang="en-US" sz="7400" dirty="0" smtClean="0"/>
          </a:p>
          <a:p>
            <a:pPr>
              <a:buNone/>
            </a:pPr>
            <a:r>
              <a:rPr lang="en-US" sz="6200" dirty="0" smtClean="0"/>
              <a:t>October-November 2012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III:  Assessments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219200" y="1935480"/>
            <a:ext cx="7467600" cy="438912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Establish local benchmarks that will help</a:t>
            </a:r>
          </a:p>
          <a:p>
            <a:pPr>
              <a:buNone/>
            </a:pPr>
            <a:r>
              <a:rPr lang="en-US" dirty="0" smtClean="0"/>
              <a:t>teachers identify how well students</a:t>
            </a:r>
          </a:p>
          <a:p>
            <a:pPr>
              <a:buNone/>
            </a:pPr>
            <a:r>
              <a:rPr lang="en-US" dirty="0" smtClean="0"/>
              <a:t>understand the big ideas outlined in the</a:t>
            </a:r>
          </a:p>
          <a:p>
            <a:pPr>
              <a:buNone/>
            </a:pPr>
            <a:r>
              <a:rPr lang="en-US" dirty="0" smtClean="0"/>
              <a:t>curriculum standards.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1600" dirty="0" smtClean="0"/>
              <a:t>Wiggins &amp; Tighe’s (1998).  </a:t>
            </a:r>
            <a:r>
              <a:rPr lang="en-US" sz="1600" i="1" dirty="0" smtClean="0"/>
              <a:t>Backward design model</a:t>
            </a:r>
            <a:r>
              <a:rPr lang="en-US" sz="1600" dirty="0" smtClean="0"/>
              <a:t>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Step IV:  Writing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Create supporting curriculum documents that teachers can use to implement the curriculum in the classroom.</a:t>
            </a:r>
          </a:p>
          <a:p>
            <a:r>
              <a:rPr lang="en-US" dirty="0" smtClean="0"/>
              <a:t>Develop a curriculum </a:t>
            </a:r>
            <a:r>
              <a:rPr lang="en-US" u="sng" dirty="0" smtClean="0"/>
              <a:t>guide/template</a:t>
            </a:r>
            <a:r>
              <a:rPr lang="en-US" dirty="0" smtClean="0"/>
              <a:t> to help teachers develop lessons </a:t>
            </a:r>
          </a:p>
          <a:p>
            <a:endParaRPr lang="en-US" u="sng" dirty="0" smtClean="0"/>
          </a:p>
          <a:p>
            <a:pPr>
              <a:buNone/>
            </a:pPr>
            <a:endParaRPr lang="en-US" u="sng" dirty="0" smtClean="0"/>
          </a:p>
          <a:p>
            <a:r>
              <a:rPr lang="en-US" dirty="0" smtClean="0"/>
              <a:t>December-February 2013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V: Resource Review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Team reviews and selects resources that align with the standards, grade-level expectations, and assessments the team developed.</a:t>
            </a:r>
          </a:p>
          <a:p>
            <a:r>
              <a:rPr lang="en-US" dirty="0" smtClean="0"/>
              <a:t>Beware of glitzy products!</a:t>
            </a:r>
          </a:p>
          <a:p>
            <a:r>
              <a:rPr lang="en-US" dirty="0" smtClean="0"/>
              <a:t>Resources will be tested during the pilot phase</a:t>
            </a:r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Professional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43000" y="1935480"/>
            <a:ext cx="7543800" cy="438912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i="1" dirty="0" smtClean="0"/>
              <a:t>Effective Educational Practices that </a:t>
            </a:r>
          </a:p>
          <a:p>
            <a:pPr algn="ctr">
              <a:buNone/>
            </a:pPr>
            <a:r>
              <a:rPr lang="en-US" i="1" dirty="0" smtClean="0"/>
              <a:t>Promote Student Achievement</a:t>
            </a:r>
          </a:p>
          <a:p>
            <a:pPr algn="ctr">
              <a:buNone/>
            </a:pPr>
            <a:endParaRPr lang="en-US" i="1" dirty="0" smtClean="0"/>
          </a:p>
          <a:p>
            <a:r>
              <a:rPr lang="en-US" dirty="0" smtClean="0"/>
              <a:t>Precollege Teachers</a:t>
            </a:r>
          </a:p>
          <a:p>
            <a:r>
              <a:rPr lang="en-US" dirty="0" smtClean="0"/>
              <a:t>Directors</a:t>
            </a:r>
          </a:p>
          <a:p>
            <a:r>
              <a:rPr lang="en-US" dirty="0" smtClean="0"/>
              <a:t>Staff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May-June 2012 (ongoing)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856488"/>
          </a:xfrm>
        </p:spPr>
        <p:txBody>
          <a:bodyPr>
            <a:noAutofit/>
          </a:bodyPr>
          <a:lstStyle/>
          <a:p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Characteristics of Effective Teaching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752600"/>
            <a:ext cx="8153400" cy="4495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 A comfortable &amp; safe learning community</a:t>
            </a:r>
          </a:p>
          <a:p>
            <a:r>
              <a:rPr lang="en-US" dirty="0" smtClean="0"/>
              <a:t>Relevance-connecting new instruction to previous learning</a:t>
            </a:r>
          </a:p>
          <a:p>
            <a:r>
              <a:rPr lang="en-US" dirty="0" smtClean="0"/>
              <a:t>Rigor-challenge the students</a:t>
            </a:r>
          </a:p>
          <a:p>
            <a:r>
              <a:rPr lang="en-US" dirty="0" smtClean="0"/>
              <a:t>Active learning experiences (aesthetic experience-video)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1300" dirty="0" smtClean="0"/>
              <a:t>Bransford, J.D., Brown, A.L., &amp; Cocking, R.R.,eds. (2000). </a:t>
            </a:r>
            <a:r>
              <a:rPr lang="en-US" sz="1300" i="1" dirty="0" smtClean="0"/>
              <a:t>How People Learn: Brain, Mind, Experience, and School</a:t>
            </a:r>
            <a:r>
              <a:rPr lang="en-US" sz="1300" dirty="0" smtClean="0"/>
              <a:t>. Washington, D.C.: National Academy Press.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VI:  Pilot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00200" y="1935480"/>
            <a:ext cx="7086600" cy="4389120"/>
          </a:xfrm>
        </p:spPr>
        <p:txBody>
          <a:bodyPr/>
          <a:lstStyle/>
          <a:p>
            <a:r>
              <a:rPr lang="en-US" dirty="0" smtClean="0"/>
              <a:t>Pilot lessons &amp; materials at least 6 to 8</a:t>
            </a:r>
          </a:p>
          <a:p>
            <a:pPr>
              <a:buNone/>
            </a:pPr>
            <a:r>
              <a:rPr lang="en-US" dirty="0" smtClean="0"/>
              <a:t>weeks</a:t>
            </a:r>
          </a:p>
          <a:p>
            <a:endParaRPr lang="en-US" dirty="0" smtClean="0"/>
          </a:p>
          <a:p>
            <a:r>
              <a:rPr lang="en-US" dirty="0" smtClean="0"/>
              <a:t>July 2013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Evaluate the Pilot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August-September 2013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October 2013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Implementation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Academic Year 2013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 and Evaluate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One of the reasons why curriculum work is so challenging is that it is never done </a:t>
            </a:r>
          </a:p>
          <a:p>
            <a:pPr>
              <a:buNone/>
            </a:pPr>
            <a:r>
              <a:rPr lang="en-US" sz="1400" dirty="0" smtClean="0"/>
              <a:t>	(Mooney &amp; Mausbach, 2008,  p. 12).  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Curriculum team must continue to meet on an ongoing basis to ensure that teaching and learning in the content area is helping students achieve.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Closing Remarks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“I cried,” she said. “I thanked God. And I cried.”</a:t>
            </a:r>
          </a:p>
          <a:p>
            <a:pPr>
              <a:buNone/>
            </a:pPr>
            <a:endParaRPr lang="en-US" dirty="0" smtClean="0"/>
          </a:p>
          <a:p>
            <a:r>
              <a:rPr lang="en-GB" sz="3200" dirty="0" smtClean="0"/>
              <a:t>“I notice that when you are not educated, you are restricted in a lot of ways. I don’t want to be restricted”</a:t>
            </a:r>
          </a:p>
          <a:p>
            <a:endParaRPr lang="en-GB" sz="3200" dirty="0" smtClean="0"/>
          </a:p>
          <a:p>
            <a:r>
              <a:rPr lang="en-GB" dirty="0" smtClean="0"/>
              <a:t>“My teachers were mean to me!” she says with a smile. “They tore apart everything that I wrote.” But she knows now that her teachers saw her talent and helped her learn how to express herself”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762000"/>
            <a:ext cx="64008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4400" dirty="0" smtClean="0"/>
              <a:t>Curriculum Development Planning Session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October 18, 2012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85648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References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828800"/>
            <a:ext cx="8153400" cy="4495800"/>
          </a:xfrm>
        </p:spPr>
        <p:txBody>
          <a:bodyPr/>
          <a:lstStyle/>
          <a:p>
            <a:r>
              <a:rPr lang="en-US" sz="2400" dirty="0" smtClean="0"/>
              <a:t>Mooney, N., Mausbach, A.  (2008).  </a:t>
            </a:r>
            <a:r>
              <a:rPr lang="en-US" sz="2400" i="1" dirty="0" smtClean="0"/>
              <a:t>Align the design:  A blueprint for school improvement</a:t>
            </a:r>
            <a:r>
              <a:rPr lang="en-US" sz="2400" dirty="0" smtClean="0"/>
              <a:t>.  Alexandria</a:t>
            </a:r>
            <a:r>
              <a:rPr lang="en-US" sz="2400" i="1" dirty="0" smtClean="0"/>
              <a:t>, VA:  ASCD.</a:t>
            </a:r>
            <a:endParaRPr lang="en-US" sz="2400" dirty="0" smtClean="0"/>
          </a:p>
          <a:p>
            <a:r>
              <a:rPr lang="en-US" sz="2400" dirty="0" smtClean="0"/>
              <a:t>Core Common Standards  </a:t>
            </a:r>
            <a:r>
              <a:rPr lang="en-US" sz="2400" dirty="0" smtClean="0">
                <a:hlinkClick r:id="rId3"/>
              </a:rPr>
              <a:t>http://www.corestandards.org/</a:t>
            </a:r>
            <a:endParaRPr lang="en-US" sz="2400" dirty="0" smtClean="0"/>
          </a:p>
          <a:p>
            <a:r>
              <a:rPr lang="en-US" sz="2400" dirty="0" smtClean="0"/>
              <a:t>Presentation adapted from Judy Feinberg, Richard Stockton College</a:t>
            </a:r>
          </a:p>
          <a:p>
            <a:r>
              <a:rPr lang="en-US" sz="2400" dirty="0" smtClean="0"/>
              <a:t>Wiggins, G., &amp; McTighe, J. (1998). </a:t>
            </a:r>
            <a:r>
              <a:rPr lang="en-US" sz="2400" i="1" dirty="0" smtClean="0"/>
              <a:t>Understanding by design.  </a:t>
            </a:r>
            <a:r>
              <a:rPr lang="en-US" sz="2400" dirty="0" smtClean="0"/>
              <a:t>Alexandria</a:t>
            </a:r>
            <a:r>
              <a:rPr lang="en-US" sz="2400" i="1" dirty="0" smtClean="0"/>
              <a:t>, </a:t>
            </a:r>
            <a:r>
              <a:rPr lang="en-US" sz="2400" dirty="0" smtClean="0"/>
              <a:t>VA:  ASCD.</a:t>
            </a:r>
          </a:p>
          <a:p>
            <a:endParaRPr 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524</TotalTime>
  <Words>993</Words>
  <Application>Microsoft Office PowerPoint</Application>
  <PresentationFormat>On-screen Show (4:3)</PresentationFormat>
  <Paragraphs>238</Paragraphs>
  <Slides>31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Median</vt:lpstr>
      <vt:lpstr>The Curriculum  Development Process</vt:lpstr>
      <vt:lpstr>What we do</vt:lpstr>
      <vt:lpstr>How we do it</vt:lpstr>
      <vt:lpstr>Video </vt:lpstr>
      <vt:lpstr>Changing Education Paradigms</vt:lpstr>
      <vt:lpstr>Curriculum Development</vt:lpstr>
      <vt:lpstr>What do we value?</vt:lpstr>
      <vt:lpstr>Curriculum Development Team</vt:lpstr>
      <vt:lpstr>Vision</vt:lpstr>
      <vt:lpstr>NJ GEAR UP Goal:</vt:lpstr>
      <vt:lpstr>Standards</vt:lpstr>
      <vt:lpstr>New Era:  Common Core Standards (CCS)</vt:lpstr>
      <vt:lpstr>          6 Shifts in English Language Arts (ELA) CCS (September 2012 –Implementation in NJ)          </vt:lpstr>
      <vt:lpstr>ELA CCS</vt:lpstr>
      <vt:lpstr>ELA CCS</vt:lpstr>
      <vt:lpstr>Curriculum</vt:lpstr>
      <vt:lpstr>Step 1: Establish the Foundation</vt:lpstr>
      <vt:lpstr>Step II: Data Analysis</vt:lpstr>
      <vt:lpstr>Step III:  Assessments</vt:lpstr>
      <vt:lpstr>Step IV:  Writing</vt:lpstr>
      <vt:lpstr>Step V: Resource Review</vt:lpstr>
      <vt:lpstr>Professional Development</vt:lpstr>
      <vt:lpstr> Characteristics of Effective Teaching</vt:lpstr>
      <vt:lpstr>Step VI:  Pilot Process</vt:lpstr>
      <vt:lpstr>Evaluate the Pilot</vt:lpstr>
      <vt:lpstr>Revise</vt:lpstr>
      <vt:lpstr>Implementation </vt:lpstr>
      <vt:lpstr>Review and Evaluate</vt:lpstr>
      <vt:lpstr>Closing Remarks</vt:lpstr>
      <vt:lpstr>       Curriculum Development Planning Session</vt:lpstr>
      <vt:lpstr>  References   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Cuesta, Kilpatry</dc:creator>
  <cp:lastModifiedBy>Cuesta, Kilpatry</cp:lastModifiedBy>
  <cp:revision>29</cp:revision>
  <dcterms:created xsi:type="dcterms:W3CDTF">2012-09-12T22:23:59Z</dcterms:created>
  <dcterms:modified xsi:type="dcterms:W3CDTF">2012-10-09T20:26:08Z</dcterms:modified>
</cp:coreProperties>
</file>