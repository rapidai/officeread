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57" r:id="rId3"/>
    <p:sldId id="259" r:id="rId4"/>
    <p:sldId id="258" r:id="rId5"/>
    <p:sldId id="260" r:id="rId6"/>
    <p:sldId id="261" r:id="rId7"/>
    <p:sldId id="262" r:id="rId8"/>
    <p:sldId id="264" r:id="rId9"/>
    <p:sldId id="263" r:id="rId10"/>
    <p:sldId id="265" r:id="rId11"/>
    <p:sldId id="266" r:id="rId12"/>
    <p:sldId id="267" r:id="rId13"/>
    <p:sldId id="268" r:id="rId14"/>
    <p:sldId id="269" r:id="rId15"/>
    <p:sldId id="274" r:id="rId16"/>
    <p:sldId id="270" r:id="rId17"/>
    <p:sldId id="271" r:id="rId18"/>
    <p:sldId id="272"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1650" y="-52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E0FE70-970E-414C-AFB5-0AAA43D31173}"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801E8E-F544-4E45-8E6F-037FCA6B105C}"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E0FE70-970E-414C-AFB5-0AAA43D31173}" type="datetimeFigureOut">
              <a:rPr lang="en-US" smtClean="0"/>
              <a:pPr/>
              <a:t>2/24/2012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801E8E-F544-4E45-8E6F-037FCA6B105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066801"/>
            <a:ext cx="7772400" cy="2533650"/>
          </a:xfrm>
          <a:solidFill>
            <a:srgbClr val="FF0066"/>
          </a:solidFill>
        </p:spPr>
        <p:txBody>
          <a:bodyPr>
            <a:normAutofit/>
          </a:bodyPr>
          <a:lstStyle/>
          <a:p>
            <a:r>
              <a:rPr lang="en-US" sz="4800" b="1" dirty="0" smtClean="0"/>
              <a:t>V-DAY</a:t>
            </a:r>
            <a:endParaRPr lang="en-US" sz="4800" b="1" dirty="0"/>
          </a:p>
        </p:txBody>
      </p:sp>
      <p:sp>
        <p:nvSpPr>
          <p:cNvPr id="5" name="Subtitle 4"/>
          <p:cNvSpPr>
            <a:spLocks noGrp="1"/>
          </p:cNvSpPr>
          <p:nvPr>
            <p:ph type="subTitle" idx="1"/>
          </p:nvPr>
        </p:nvSpPr>
        <p:spPr>
          <a:xfrm>
            <a:off x="685800" y="3886200"/>
            <a:ext cx="7772400" cy="1752600"/>
          </a:xfrm>
          <a:ln>
            <a:solidFill>
              <a:srgbClr val="FF0066"/>
            </a:solidFill>
          </a:ln>
        </p:spPr>
        <p:txBody>
          <a:bodyPr/>
          <a:lstStyle/>
          <a:p>
            <a:r>
              <a:rPr lang="en-US" b="1" dirty="0" smtClean="0">
                <a:solidFill>
                  <a:schemeClr val="tx1"/>
                </a:solidFill>
              </a:rPr>
              <a:t>Kelsey Barringham</a:t>
            </a:r>
          </a:p>
          <a:p>
            <a:r>
              <a:rPr lang="en-US" b="1" dirty="0" smtClean="0">
                <a:solidFill>
                  <a:schemeClr val="tx1"/>
                </a:solidFill>
              </a:rPr>
              <a:t>Resident Assistant</a:t>
            </a:r>
          </a:p>
          <a:p>
            <a:r>
              <a:rPr lang="en-US" b="1" dirty="0" smtClean="0">
                <a:solidFill>
                  <a:schemeClr val="tx1"/>
                </a:solidFill>
              </a:rPr>
              <a:t>University of Connecticut</a:t>
            </a:r>
            <a:endParaRPr lang="en-US"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7" name="TextBox 6"/>
          <p:cNvSpPr txBox="1"/>
          <p:nvPr/>
        </p:nvSpPr>
        <p:spPr>
          <a:xfrm>
            <a:off x="0" y="1981200"/>
            <a:ext cx="9144000" cy="2554545"/>
          </a:xfrm>
          <a:prstGeom prst="rect">
            <a:avLst/>
          </a:prstGeom>
          <a:noFill/>
        </p:spPr>
        <p:txBody>
          <a:bodyPr wrap="square" rtlCol="0">
            <a:spAutoFit/>
          </a:bodyPr>
          <a:lstStyle/>
          <a:p>
            <a:pPr algn="ctr"/>
            <a:r>
              <a:rPr lang="en-US" sz="16000" b="1" dirty="0" smtClean="0">
                <a:solidFill>
                  <a:srgbClr val="7030A0"/>
                </a:solidFill>
                <a:latin typeface="Times New Roman" pitchFamily="18" charset="0"/>
                <a:cs typeface="Times New Roman" pitchFamily="18" charset="0"/>
              </a:rPr>
              <a:t>V-DAY</a:t>
            </a:r>
            <a:endParaRPr lang="en-US" sz="16000" b="1" dirty="0">
              <a:solidFill>
                <a:srgbClr val="7030A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4" name="Rectangle 3"/>
          <p:cNvSpPr/>
          <p:nvPr/>
        </p:nvSpPr>
        <p:spPr>
          <a:xfrm>
            <a:off x="1676400" y="1676400"/>
            <a:ext cx="5791200" cy="3416320"/>
          </a:xfrm>
          <a:prstGeom prst="rect">
            <a:avLst/>
          </a:prstGeom>
        </p:spPr>
        <p:txBody>
          <a:bodyPr wrap="square">
            <a:spAutoFit/>
          </a:bodyPr>
          <a:lstStyle/>
          <a:p>
            <a:pPr algn="ctr"/>
            <a:r>
              <a:rPr lang="en-US" sz="5400" b="1" dirty="0" smtClean="0">
                <a:solidFill>
                  <a:srgbClr val="7030A0"/>
                </a:solidFill>
                <a:latin typeface="Times New Roman" pitchFamily="18" charset="0"/>
                <a:cs typeface="Times New Roman" pitchFamily="18" charset="0"/>
              </a:rPr>
              <a:t>The </a:t>
            </a:r>
            <a:r>
              <a:rPr lang="en-US" sz="5400" b="1" dirty="0">
                <a:solidFill>
                  <a:srgbClr val="7030A0"/>
                </a:solidFill>
                <a:latin typeface="Times New Roman" pitchFamily="18" charset="0"/>
                <a:cs typeface="Times New Roman" pitchFamily="18" charset="0"/>
              </a:rPr>
              <a:t>'V' in V-Day stands for Victory, Valentine and Vagina.</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4" name="Rectangle 3"/>
          <p:cNvSpPr/>
          <p:nvPr/>
        </p:nvSpPr>
        <p:spPr>
          <a:xfrm>
            <a:off x="1828800" y="1905000"/>
            <a:ext cx="5486400" cy="4154984"/>
          </a:xfrm>
          <a:prstGeom prst="rect">
            <a:avLst/>
          </a:prstGeom>
        </p:spPr>
        <p:txBody>
          <a:bodyPr wrap="square">
            <a:spAutoFit/>
          </a:bodyPr>
          <a:lstStyle/>
          <a:p>
            <a:pPr algn="ctr"/>
            <a:r>
              <a:rPr lang="en-US" sz="2400" b="1" dirty="0">
                <a:solidFill>
                  <a:srgbClr val="7030A0"/>
                </a:solidFill>
                <a:latin typeface="Times New Roman" pitchFamily="18" charset="0"/>
                <a:cs typeface="Times New Roman" pitchFamily="18" charset="0"/>
              </a:rPr>
              <a:t>V-Day is a global activist movement to end violence against women and girls. V-Day is a catalyst that promotes creative events to increase awareness, raise money, and revitalize the spirit of existing anti-violence organizations. V-Day generates broader attention for the fight to stop violence against women and girls, including rape, battery, incest, female genital mutilation (FGM), and sex slavery.</a:t>
            </a:r>
          </a:p>
        </p:txBody>
      </p:sp>
      <p:sp>
        <p:nvSpPr>
          <p:cNvPr id="7" name="TextBox 6"/>
          <p:cNvSpPr txBox="1"/>
          <p:nvPr/>
        </p:nvSpPr>
        <p:spPr>
          <a:xfrm>
            <a:off x="1524000" y="762000"/>
            <a:ext cx="6096000" cy="1015663"/>
          </a:xfrm>
          <a:prstGeom prst="rect">
            <a:avLst/>
          </a:prstGeom>
          <a:noFill/>
        </p:spPr>
        <p:txBody>
          <a:bodyPr wrap="square" rtlCol="0">
            <a:spAutoFit/>
          </a:bodyPr>
          <a:lstStyle/>
          <a:p>
            <a:pPr algn="ctr"/>
            <a:r>
              <a:rPr lang="en-US" sz="6000" b="1" dirty="0" smtClean="0">
                <a:solidFill>
                  <a:srgbClr val="7030A0"/>
                </a:solidFill>
              </a:rPr>
              <a:t>What is V-DAY?</a:t>
            </a:r>
            <a:endParaRPr lang="en-US" sz="6000" b="1" dirty="0">
              <a:solidFill>
                <a:srgbClr val="7030A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4" name="Rectangle 3"/>
          <p:cNvSpPr/>
          <p:nvPr/>
        </p:nvSpPr>
        <p:spPr>
          <a:xfrm>
            <a:off x="1143000" y="1676400"/>
            <a:ext cx="6781800" cy="4524315"/>
          </a:xfrm>
          <a:prstGeom prst="rect">
            <a:avLst/>
          </a:prstGeom>
        </p:spPr>
        <p:txBody>
          <a:bodyPr wrap="square">
            <a:spAutoFit/>
          </a:bodyPr>
          <a:lstStyle/>
          <a:p>
            <a:pPr algn="ctr"/>
            <a:r>
              <a:rPr lang="en-US" dirty="0">
                <a:solidFill>
                  <a:srgbClr val="7030A0"/>
                </a:solidFill>
                <a:latin typeface="Times New Roman" pitchFamily="18" charset="0"/>
                <a:cs typeface="Times New Roman" pitchFamily="18" charset="0"/>
              </a:rPr>
              <a:t>V-Day is an organized response against violence toward women.</a:t>
            </a:r>
          </a:p>
          <a:p>
            <a:pPr algn="ctr"/>
            <a:r>
              <a:rPr lang="en-US" dirty="0">
                <a:solidFill>
                  <a:srgbClr val="7030A0"/>
                </a:solidFill>
                <a:latin typeface="Times New Roman" pitchFamily="18" charset="0"/>
                <a:cs typeface="Times New Roman" pitchFamily="18" charset="0"/>
              </a:rPr>
              <a:t>V-Day is a vision: We see a world where women live safely and freely.</a:t>
            </a:r>
          </a:p>
          <a:p>
            <a:pPr algn="ctr"/>
            <a:r>
              <a:rPr lang="en-US" dirty="0">
                <a:solidFill>
                  <a:srgbClr val="7030A0"/>
                </a:solidFill>
                <a:latin typeface="Times New Roman" pitchFamily="18" charset="0"/>
                <a:cs typeface="Times New Roman" pitchFamily="18" charset="0"/>
              </a:rPr>
              <a:t>V-Day is a demand: Rape, incest, battery, genital mutilation and sexual slavery must end now.</a:t>
            </a:r>
          </a:p>
          <a:p>
            <a:pPr algn="ctr"/>
            <a:r>
              <a:rPr lang="en-US" dirty="0">
                <a:solidFill>
                  <a:srgbClr val="7030A0"/>
                </a:solidFill>
                <a:latin typeface="Times New Roman" pitchFamily="18" charset="0"/>
                <a:cs typeface="Times New Roman" pitchFamily="18" charset="0"/>
              </a:rPr>
              <a:t>V-Day is a spirit: We believe women should spend their lives creating and thriving rather than surviving or recovering from terrible atrocities.</a:t>
            </a:r>
          </a:p>
          <a:p>
            <a:pPr algn="ctr"/>
            <a:r>
              <a:rPr lang="en-US" dirty="0">
                <a:solidFill>
                  <a:srgbClr val="7030A0"/>
                </a:solidFill>
                <a:latin typeface="Times New Roman" pitchFamily="18" charset="0"/>
                <a:cs typeface="Times New Roman" pitchFamily="18" charset="0"/>
              </a:rPr>
              <a:t>V-Day is a catalyst: By raising money and consciousness, it will unify and strengthen existing anti-violence efforts. Triggering far-reaching awareness, it will lay the groundwork for new educational, protective, and legislative endeavors throughout the world.</a:t>
            </a:r>
          </a:p>
          <a:p>
            <a:pPr algn="ctr"/>
            <a:r>
              <a:rPr lang="en-US" dirty="0">
                <a:solidFill>
                  <a:srgbClr val="7030A0"/>
                </a:solidFill>
                <a:latin typeface="Times New Roman" pitchFamily="18" charset="0"/>
                <a:cs typeface="Times New Roman" pitchFamily="18" charset="0"/>
              </a:rPr>
              <a:t>V-Day is a process: We will work as long as it takes. We will not stop until the violence stops.</a:t>
            </a:r>
          </a:p>
          <a:p>
            <a:pPr algn="ctr"/>
            <a:r>
              <a:rPr lang="en-US" dirty="0">
                <a:solidFill>
                  <a:srgbClr val="7030A0"/>
                </a:solidFill>
                <a:latin typeface="Times New Roman" pitchFamily="18" charset="0"/>
                <a:cs typeface="Times New Roman" pitchFamily="18" charset="0"/>
              </a:rPr>
              <a:t>V-Day is a day. We proclaim Valentine's Day as V-Day, to celebrate women and end the violence.</a:t>
            </a:r>
          </a:p>
          <a:p>
            <a:pPr algn="ctr"/>
            <a:r>
              <a:rPr lang="en-US" dirty="0">
                <a:solidFill>
                  <a:srgbClr val="7030A0"/>
                </a:solidFill>
                <a:latin typeface="Times New Roman" pitchFamily="18" charset="0"/>
                <a:cs typeface="Times New Roman" pitchFamily="18" charset="0"/>
              </a:rPr>
              <a:t>V-Day is a fierce, wild, unstoppable movement and community. Join us!</a:t>
            </a:r>
          </a:p>
        </p:txBody>
      </p:sp>
      <p:sp>
        <p:nvSpPr>
          <p:cNvPr id="7" name="TextBox 6"/>
          <p:cNvSpPr txBox="1"/>
          <p:nvPr/>
        </p:nvSpPr>
        <p:spPr>
          <a:xfrm>
            <a:off x="2667000" y="457200"/>
            <a:ext cx="3657600" cy="1200329"/>
          </a:xfrm>
          <a:prstGeom prst="rect">
            <a:avLst/>
          </a:prstGeom>
          <a:noFill/>
        </p:spPr>
        <p:txBody>
          <a:bodyPr wrap="square" rtlCol="0">
            <a:spAutoFit/>
          </a:bodyPr>
          <a:lstStyle/>
          <a:p>
            <a:pPr algn="ctr"/>
            <a:r>
              <a:rPr lang="en-US" sz="7200" b="1" dirty="0" smtClean="0">
                <a:solidFill>
                  <a:srgbClr val="7030A0"/>
                </a:solidFill>
                <a:latin typeface="Times New Roman" pitchFamily="18" charset="0"/>
                <a:cs typeface="Times New Roman" pitchFamily="18" charset="0"/>
              </a:rPr>
              <a:t>Mission</a:t>
            </a:r>
            <a:endParaRPr lang="en-US" sz="7200" b="1" dirty="0">
              <a:solidFill>
                <a:srgbClr val="7030A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4" name="Rectangle 3"/>
          <p:cNvSpPr/>
          <p:nvPr/>
        </p:nvSpPr>
        <p:spPr>
          <a:xfrm>
            <a:off x="1295400" y="1524000"/>
            <a:ext cx="6553200" cy="4801314"/>
          </a:xfrm>
          <a:prstGeom prst="rect">
            <a:avLst/>
          </a:prstGeom>
        </p:spPr>
        <p:txBody>
          <a:bodyPr wrap="square">
            <a:spAutoFit/>
          </a:bodyPr>
          <a:lstStyle/>
          <a:p>
            <a:pPr algn="ctr"/>
            <a:r>
              <a:rPr lang="en-US" dirty="0">
                <a:solidFill>
                  <a:srgbClr val="7030A0"/>
                </a:solidFill>
                <a:latin typeface="Times New Roman" pitchFamily="18" charset="0"/>
                <a:cs typeface="Times New Roman" pitchFamily="18" charset="0"/>
              </a:rPr>
              <a:t>In 1994, a play called </a:t>
            </a:r>
            <a:r>
              <a:rPr lang="en-US" i="1" dirty="0">
                <a:solidFill>
                  <a:srgbClr val="7030A0"/>
                </a:solidFill>
                <a:latin typeface="Times New Roman" pitchFamily="18" charset="0"/>
                <a:cs typeface="Times New Roman" pitchFamily="18" charset="0"/>
              </a:rPr>
              <a:t>The Vagina Monologues</a:t>
            </a:r>
            <a:r>
              <a:rPr lang="en-US" dirty="0">
                <a:solidFill>
                  <a:srgbClr val="7030A0"/>
                </a:solidFill>
                <a:latin typeface="Times New Roman" pitchFamily="18" charset="0"/>
                <a:cs typeface="Times New Roman" pitchFamily="18" charset="0"/>
              </a:rPr>
              <a:t>, written by playwright and activist Eve Ensler, broke ground, offering to the world a piece of art like nothing it had seen before. Based on dozens of interviews Ensler conducted with women, the play addressed women's sexuality and the social stigma surrounding rape and abuse, creating a new conversation about and with women. </a:t>
            </a:r>
            <a:r>
              <a:rPr lang="en-US" i="1" dirty="0">
                <a:solidFill>
                  <a:srgbClr val="7030A0"/>
                </a:solidFill>
                <a:latin typeface="Times New Roman" pitchFamily="18" charset="0"/>
                <a:cs typeface="Times New Roman" pitchFamily="18" charset="0"/>
              </a:rPr>
              <a:t>The Vagina Monologues</a:t>
            </a:r>
            <a:r>
              <a:rPr lang="en-US" dirty="0">
                <a:solidFill>
                  <a:srgbClr val="7030A0"/>
                </a:solidFill>
                <a:latin typeface="Times New Roman" pitchFamily="18" charset="0"/>
                <a:cs typeface="Times New Roman" pitchFamily="18" charset="0"/>
              </a:rPr>
              <a:t> ran Off-Broadway for five years in New York and then toured the United States. After every performance, Ensler found women waiting to share their own stories of survival, leading her to see that </a:t>
            </a:r>
            <a:r>
              <a:rPr lang="en-US" i="1" dirty="0">
                <a:solidFill>
                  <a:srgbClr val="7030A0"/>
                </a:solidFill>
                <a:latin typeface="Times New Roman" pitchFamily="18" charset="0"/>
                <a:cs typeface="Times New Roman" pitchFamily="18" charset="0"/>
              </a:rPr>
              <a:t>The Vagina Monologues</a:t>
            </a:r>
            <a:r>
              <a:rPr lang="en-US" dirty="0">
                <a:solidFill>
                  <a:srgbClr val="7030A0"/>
                </a:solidFill>
                <a:latin typeface="Times New Roman" pitchFamily="18" charset="0"/>
                <a:cs typeface="Times New Roman" pitchFamily="18" charset="0"/>
              </a:rPr>
              <a:t> could be more than a moving work of art on violence; she divined that the performances could be a mechanism for moving people to act to end violence. </a:t>
            </a:r>
          </a:p>
          <a:p>
            <a:pPr algn="ctr"/>
            <a:r>
              <a:rPr lang="en-US" dirty="0">
                <a:solidFill>
                  <a:srgbClr val="7030A0"/>
                </a:solidFill>
                <a:latin typeface="Times New Roman" pitchFamily="18" charset="0"/>
                <a:cs typeface="Times New Roman" pitchFamily="18" charset="0"/>
              </a:rPr>
              <a:t>On Valentines Day, 1998, Eve, with a group of women in New York City, established V-Day. Set up as a 501(c)(3) and originally staffed by volunteers, the organization's seed money came from a star-studded, sold out benefit performance at the Hammerstein Ballroom in New York, a show that raised $250,000 in a single evening. </a:t>
            </a:r>
          </a:p>
        </p:txBody>
      </p:sp>
      <p:sp>
        <p:nvSpPr>
          <p:cNvPr id="7" name="TextBox 6"/>
          <p:cNvSpPr txBox="1"/>
          <p:nvPr/>
        </p:nvSpPr>
        <p:spPr>
          <a:xfrm>
            <a:off x="1219200" y="533400"/>
            <a:ext cx="7010400" cy="1015663"/>
          </a:xfrm>
          <a:prstGeom prst="rect">
            <a:avLst/>
          </a:prstGeom>
          <a:noFill/>
        </p:spPr>
        <p:txBody>
          <a:bodyPr wrap="square" rtlCol="0">
            <a:spAutoFit/>
          </a:bodyPr>
          <a:lstStyle/>
          <a:p>
            <a:pPr algn="ctr"/>
            <a:r>
              <a:rPr lang="en-US" sz="6000" b="1" dirty="0" smtClean="0">
                <a:solidFill>
                  <a:srgbClr val="7030A0"/>
                </a:solidFill>
                <a:latin typeface="Times New Roman" pitchFamily="18" charset="0"/>
                <a:cs typeface="Times New Roman" pitchFamily="18" charset="0"/>
              </a:rPr>
              <a:t>How It </a:t>
            </a:r>
            <a:r>
              <a:rPr lang="en-US" sz="6000" b="1" dirty="0">
                <a:solidFill>
                  <a:srgbClr val="7030A0"/>
                </a:solidFill>
                <a:latin typeface="Times New Roman" pitchFamily="18" charset="0"/>
                <a:cs typeface="Times New Roman" pitchFamily="18" charset="0"/>
              </a:rPr>
              <a:t>S</a:t>
            </a:r>
            <a:r>
              <a:rPr lang="en-US" sz="6000" b="1" dirty="0" smtClean="0">
                <a:solidFill>
                  <a:srgbClr val="7030A0"/>
                </a:solidFill>
                <a:latin typeface="Times New Roman" pitchFamily="18" charset="0"/>
                <a:cs typeface="Times New Roman" pitchFamily="18" charset="0"/>
              </a:rPr>
              <a:t>tarted…</a:t>
            </a:r>
            <a:endParaRPr lang="en-US" sz="6000" b="1" dirty="0">
              <a:solidFill>
                <a:srgbClr val="7030A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4" name="Rectangle 3"/>
          <p:cNvSpPr/>
          <p:nvPr/>
        </p:nvSpPr>
        <p:spPr>
          <a:xfrm>
            <a:off x="1295400" y="1997839"/>
            <a:ext cx="6553200" cy="4154984"/>
          </a:xfrm>
          <a:prstGeom prst="rect">
            <a:avLst/>
          </a:prstGeom>
        </p:spPr>
        <p:txBody>
          <a:bodyPr wrap="square">
            <a:spAutoFit/>
          </a:bodyPr>
          <a:lstStyle/>
          <a:p>
            <a:pPr algn="ctr"/>
            <a:r>
              <a:rPr lang="en-US" sz="2400" dirty="0">
                <a:solidFill>
                  <a:srgbClr val="7030A0"/>
                </a:solidFill>
                <a:latin typeface="Times New Roman" pitchFamily="18" charset="0"/>
                <a:cs typeface="Times New Roman" pitchFamily="18" charset="0"/>
              </a:rPr>
              <a:t>Art has the power to transform thinking and inspire people to </a:t>
            </a:r>
            <a:r>
              <a:rPr lang="en-US" sz="2400" dirty="0" smtClean="0">
                <a:solidFill>
                  <a:srgbClr val="7030A0"/>
                </a:solidFill>
                <a:latin typeface="Times New Roman" pitchFamily="18" charset="0"/>
                <a:cs typeface="Times New Roman" pitchFamily="18" charset="0"/>
              </a:rPr>
              <a:t>act</a:t>
            </a:r>
          </a:p>
          <a:p>
            <a:pPr algn="ctr"/>
            <a:endParaRPr lang="en-US" sz="2400" dirty="0">
              <a:solidFill>
                <a:srgbClr val="7030A0"/>
              </a:solidFill>
              <a:latin typeface="Times New Roman" pitchFamily="18" charset="0"/>
              <a:cs typeface="Times New Roman" pitchFamily="18" charset="0"/>
            </a:endParaRPr>
          </a:p>
          <a:p>
            <a:pPr algn="ctr"/>
            <a:r>
              <a:rPr lang="en-US" sz="2400" dirty="0">
                <a:solidFill>
                  <a:srgbClr val="7030A0"/>
                </a:solidFill>
                <a:latin typeface="Times New Roman" pitchFamily="18" charset="0"/>
                <a:cs typeface="Times New Roman" pitchFamily="18" charset="0"/>
              </a:rPr>
              <a:t>Lasting social and cultural change is spread by ordinary people doing extraordinary </a:t>
            </a:r>
            <a:r>
              <a:rPr lang="en-US" sz="2400" dirty="0" smtClean="0">
                <a:solidFill>
                  <a:srgbClr val="7030A0"/>
                </a:solidFill>
                <a:latin typeface="Times New Roman" pitchFamily="18" charset="0"/>
                <a:cs typeface="Times New Roman" pitchFamily="18" charset="0"/>
              </a:rPr>
              <a:t>things</a:t>
            </a:r>
          </a:p>
          <a:p>
            <a:pPr algn="ctr"/>
            <a:endParaRPr lang="en-US" sz="2400" dirty="0">
              <a:solidFill>
                <a:srgbClr val="7030A0"/>
              </a:solidFill>
              <a:latin typeface="Times New Roman" pitchFamily="18" charset="0"/>
              <a:cs typeface="Times New Roman" pitchFamily="18" charset="0"/>
            </a:endParaRPr>
          </a:p>
          <a:p>
            <a:pPr algn="ctr"/>
            <a:r>
              <a:rPr lang="en-US" sz="2400" dirty="0">
                <a:solidFill>
                  <a:srgbClr val="7030A0"/>
                </a:solidFill>
                <a:latin typeface="Times New Roman" pitchFamily="18" charset="0"/>
                <a:cs typeface="Times New Roman" pitchFamily="18" charset="0"/>
              </a:rPr>
              <a:t>Local women best know what their communities need and can become unstoppable </a:t>
            </a:r>
            <a:r>
              <a:rPr lang="en-US" sz="2400" dirty="0" smtClean="0">
                <a:solidFill>
                  <a:srgbClr val="7030A0"/>
                </a:solidFill>
                <a:latin typeface="Times New Roman" pitchFamily="18" charset="0"/>
                <a:cs typeface="Times New Roman" pitchFamily="18" charset="0"/>
              </a:rPr>
              <a:t>leaders</a:t>
            </a:r>
          </a:p>
          <a:p>
            <a:pPr algn="ctr"/>
            <a:endParaRPr lang="en-US" sz="2400" dirty="0">
              <a:solidFill>
                <a:srgbClr val="7030A0"/>
              </a:solidFill>
              <a:latin typeface="Times New Roman" pitchFamily="18" charset="0"/>
              <a:cs typeface="Times New Roman" pitchFamily="18" charset="0"/>
            </a:endParaRPr>
          </a:p>
          <a:p>
            <a:pPr algn="ctr"/>
            <a:r>
              <a:rPr lang="en-US" sz="2400" dirty="0">
                <a:solidFill>
                  <a:srgbClr val="7030A0"/>
                </a:solidFill>
                <a:latin typeface="Times New Roman" pitchFamily="18" charset="0"/>
                <a:cs typeface="Times New Roman" pitchFamily="18" charset="0"/>
              </a:rPr>
              <a:t>One must look at the intersection of race, class, and gender to understand violence against women</a:t>
            </a:r>
          </a:p>
        </p:txBody>
      </p:sp>
      <p:sp>
        <p:nvSpPr>
          <p:cNvPr id="7" name="TextBox 6"/>
          <p:cNvSpPr txBox="1"/>
          <p:nvPr/>
        </p:nvSpPr>
        <p:spPr>
          <a:xfrm>
            <a:off x="1295400" y="838200"/>
            <a:ext cx="6553200" cy="1015663"/>
          </a:xfrm>
          <a:prstGeom prst="rect">
            <a:avLst/>
          </a:prstGeom>
          <a:noFill/>
        </p:spPr>
        <p:txBody>
          <a:bodyPr wrap="square" rtlCol="0">
            <a:spAutoFit/>
          </a:bodyPr>
          <a:lstStyle/>
          <a:p>
            <a:pPr algn="ctr"/>
            <a:r>
              <a:rPr lang="en-US" sz="6000" b="1" dirty="0" smtClean="0">
                <a:solidFill>
                  <a:srgbClr val="7030A0"/>
                </a:solidFill>
                <a:latin typeface="Times New Roman" pitchFamily="18" charset="0"/>
                <a:cs typeface="Times New Roman" pitchFamily="18" charset="0"/>
              </a:rPr>
              <a:t>Four Core Beliefs</a:t>
            </a:r>
            <a:endParaRPr lang="en-US" sz="6000" b="1" dirty="0">
              <a:solidFill>
                <a:srgbClr val="7030A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4" name="Rectangle 3"/>
          <p:cNvSpPr/>
          <p:nvPr/>
        </p:nvSpPr>
        <p:spPr>
          <a:xfrm>
            <a:off x="1524000" y="1219200"/>
            <a:ext cx="6096000" cy="4401205"/>
          </a:xfrm>
          <a:prstGeom prst="rect">
            <a:avLst/>
          </a:prstGeom>
        </p:spPr>
        <p:txBody>
          <a:bodyPr wrap="square">
            <a:spAutoFit/>
          </a:bodyPr>
          <a:lstStyle/>
          <a:p>
            <a:pPr algn="ctr"/>
            <a:r>
              <a:rPr lang="en-US" sz="4000" dirty="0">
                <a:solidFill>
                  <a:srgbClr val="7030A0"/>
                </a:solidFill>
                <a:latin typeface="Times New Roman" pitchFamily="18" charset="0"/>
                <a:cs typeface="Times New Roman" pitchFamily="18" charset="0"/>
              </a:rPr>
              <a:t>V-Day dreams of a world in which women and girls </a:t>
            </a:r>
            <a:endParaRPr lang="en-US" sz="4000" dirty="0" smtClean="0">
              <a:solidFill>
                <a:srgbClr val="7030A0"/>
              </a:solidFill>
              <a:latin typeface="Times New Roman" pitchFamily="18" charset="0"/>
              <a:cs typeface="Times New Roman" pitchFamily="18" charset="0"/>
            </a:endParaRPr>
          </a:p>
          <a:p>
            <a:pPr algn="ctr"/>
            <a:r>
              <a:rPr lang="en-US" sz="4000" dirty="0" smtClean="0">
                <a:solidFill>
                  <a:srgbClr val="7030A0"/>
                </a:solidFill>
                <a:latin typeface="Times New Roman" pitchFamily="18" charset="0"/>
                <a:cs typeface="Times New Roman" pitchFamily="18" charset="0"/>
              </a:rPr>
              <a:t>will </a:t>
            </a:r>
            <a:r>
              <a:rPr lang="en-US" sz="4000" dirty="0">
                <a:solidFill>
                  <a:srgbClr val="7030A0"/>
                </a:solidFill>
                <a:latin typeface="Times New Roman" pitchFamily="18" charset="0"/>
                <a:cs typeface="Times New Roman" pitchFamily="18" charset="0"/>
              </a:rPr>
              <a:t>be free to thrive, </a:t>
            </a:r>
            <a:endParaRPr lang="en-US" sz="4000" dirty="0" smtClean="0">
              <a:solidFill>
                <a:srgbClr val="7030A0"/>
              </a:solidFill>
              <a:latin typeface="Times New Roman" pitchFamily="18" charset="0"/>
              <a:cs typeface="Times New Roman" pitchFamily="18" charset="0"/>
            </a:endParaRPr>
          </a:p>
          <a:p>
            <a:pPr algn="ctr"/>
            <a:r>
              <a:rPr lang="en-US" sz="4000" dirty="0" smtClean="0">
                <a:solidFill>
                  <a:srgbClr val="7030A0"/>
                </a:solidFill>
                <a:latin typeface="Times New Roman" pitchFamily="18" charset="0"/>
                <a:cs typeface="Times New Roman" pitchFamily="18" charset="0"/>
              </a:rPr>
              <a:t>rather </a:t>
            </a:r>
            <a:r>
              <a:rPr lang="en-US" sz="4000" dirty="0">
                <a:solidFill>
                  <a:srgbClr val="7030A0"/>
                </a:solidFill>
                <a:latin typeface="Times New Roman" pitchFamily="18" charset="0"/>
                <a:cs typeface="Times New Roman" pitchFamily="18" charset="0"/>
              </a:rPr>
              <a:t>than merely </a:t>
            </a:r>
            <a:endParaRPr lang="en-US" sz="4000" dirty="0" smtClean="0">
              <a:solidFill>
                <a:srgbClr val="7030A0"/>
              </a:solidFill>
              <a:latin typeface="Times New Roman" pitchFamily="18" charset="0"/>
              <a:cs typeface="Times New Roman" pitchFamily="18" charset="0"/>
            </a:endParaRPr>
          </a:p>
          <a:p>
            <a:pPr algn="ctr"/>
            <a:r>
              <a:rPr lang="en-US" sz="4000" dirty="0" smtClean="0">
                <a:solidFill>
                  <a:srgbClr val="7030A0"/>
                </a:solidFill>
                <a:latin typeface="Times New Roman" pitchFamily="18" charset="0"/>
                <a:cs typeface="Times New Roman" pitchFamily="18" charset="0"/>
              </a:rPr>
              <a:t>survive</a:t>
            </a:r>
            <a:r>
              <a:rPr lang="en-US" sz="4000" dirty="0">
                <a:solidFill>
                  <a:srgbClr val="7030A0"/>
                </a:solidFill>
                <a:latin typeface="Times New Roman" pitchFamily="18" charset="0"/>
                <a:cs typeface="Times New Roman" pitchFamily="18" charset="0"/>
              </a:rPr>
              <a:t>. </a:t>
            </a:r>
            <a:r>
              <a:rPr lang="en-US" sz="4000" dirty="0" smtClean="0">
                <a:solidFill>
                  <a:srgbClr val="7030A0"/>
                </a:solidFill>
                <a:latin typeface="Times New Roman" pitchFamily="18" charset="0"/>
                <a:cs typeface="Times New Roman" pitchFamily="18" charset="0"/>
              </a:rPr>
              <a:t>With </a:t>
            </a:r>
          </a:p>
          <a:p>
            <a:pPr algn="ctr"/>
            <a:r>
              <a:rPr lang="en-US" sz="4000" dirty="0" smtClean="0">
                <a:solidFill>
                  <a:srgbClr val="7030A0"/>
                </a:solidFill>
                <a:latin typeface="Times New Roman" pitchFamily="18" charset="0"/>
                <a:cs typeface="Times New Roman" pitchFamily="18" charset="0"/>
              </a:rPr>
              <a:t>your </a:t>
            </a:r>
          </a:p>
          <a:p>
            <a:pPr algn="ctr"/>
            <a:r>
              <a:rPr lang="en-US" sz="4000" dirty="0" smtClean="0">
                <a:solidFill>
                  <a:srgbClr val="7030A0"/>
                </a:solidFill>
                <a:latin typeface="Times New Roman" pitchFamily="18" charset="0"/>
                <a:cs typeface="Times New Roman" pitchFamily="18" charset="0"/>
              </a:rPr>
              <a:t>help</a:t>
            </a:r>
            <a:r>
              <a:rPr lang="en-US" sz="4000" dirty="0">
                <a:solidFill>
                  <a:srgbClr val="7030A0"/>
                </a:solidFill>
                <a:latin typeface="Times New Roman" pitchFamily="18" charset="0"/>
                <a:cs typeface="Times New Roman" pitchFamily="18" charset="0"/>
              </a:rPr>
              <a:t>, we can make it happen.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UPERLOVE opening ceremony"/>
          <p:cNvPicPr>
            <a:picLocks noChangeAspect="1" noChangeArrowheads="1"/>
          </p:cNvPicPr>
          <p:nvPr/>
        </p:nvPicPr>
        <p:blipFill>
          <a:blip r:embed="rId2" cstate="print"/>
          <a:srcRect/>
          <a:stretch>
            <a:fillRect/>
          </a:stretch>
        </p:blipFill>
        <p:spPr bwMode="auto">
          <a:xfrm>
            <a:off x="1066800" y="990600"/>
            <a:ext cx="7086599" cy="4724401"/>
          </a:xfrm>
          <a:prstGeom prst="rect">
            <a:avLst/>
          </a:prstGeom>
          <a:noFill/>
        </p:spPr>
      </p:pic>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thecollegevoice.org/wp-content/uploads/2011/02/vagina_monologues-480x320.jpg"/>
          <p:cNvPicPr>
            <a:picLocks noChangeAspect="1" noChangeArrowheads="1"/>
          </p:cNvPicPr>
          <p:nvPr/>
        </p:nvPicPr>
        <p:blipFill>
          <a:blip r:embed="rId2" cstate="print"/>
          <a:srcRect/>
          <a:stretch>
            <a:fillRect/>
          </a:stretch>
        </p:blipFill>
        <p:spPr bwMode="auto">
          <a:xfrm>
            <a:off x="914400" y="1143000"/>
            <a:ext cx="7315199" cy="4876801"/>
          </a:xfrm>
          <a:prstGeom prst="rect">
            <a:avLst/>
          </a:prstGeom>
          <a:noFill/>
        </p:spPr>
      </p:pic>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v10.vday.org/~assets/images/02SuperloveStage.blog-full.jpg"/>
          <p:cNvPicPr>
            <a:picLocks noChangeAspect="1" noChangeArrowheads="1"/>
          </p:cNvPicPr>
          <p:nvPr/>
        </p:nvPicPr>
        <p:blipFill>
          <a:blip r:embed="rId2" cstate="print"/>
          <a:srcRect/>
          <a:stretch>
            <a:fillRect/>
          </a:stretch>
        </p:blipFill>
        <p:spPr bwMode="auto">
          <a:xfrm>
            <a:off x="914400" y="990600"/>
            <a:ext cx="7227707" cy="4878704"/>
          </a:xfrm>
          <a:prstGeom prst="rect">
            <a:avLst/>
          </a:prstGeom>
          <a:noFill/>
        </p:spPr>
      </p:pic>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pic>
        <p:nvPicPr>
          <p:cNvPr id="2050" name="Picture 2" descr="http://t3.gstatic.com/images?q=tbn:ANd9GcTKkwbwbmUx5klnP_TWgwnH-kZKYui9CpgXOjxipyrFcvz9rIAAFQ"/>
          <p:cNvPicPr>
            <a:picLocks noChangeAspect="1" noChangeArrowheads="1"/>
          </p:cNvPicPr>
          <p:nvPr/>
        </p:nvPicPr>
        <p:blipFill>
          <a:blip r:embed="rId2" cstate="print"/>
          <a:srcRect/>
          <a:stretch>
            <a:fillRect/>
          </a:stretch>
        </p:blipFill>
        <p:spPr bwMode="auto">
          <a:xfrm>
            <a:off x="2209800" y="609600"/>
            <a:ext cx="4648200" cy="5804469"/>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sp>
        <p:nvSpPr>
          <p:cNvPr id="6" name="TextBox 5"/>
          <p:cNvSpPr txBox="1"/>
          <p:nvPr/>
        </p:nvSpPr>
        <p:spPr>
          <a:xfrm>
            <a:off x="6629400" y="-1905000"/>
            <a:ext cx="838200" cy="9633406"/>
          </a:xfrm>
          <a:prstGeom prst="rect">
            <a:avLst/>
          </a:prstGeom>
          <a:noFill/>
        </p:spPr>
        <p:txBody>
          <a:bodyPr wrap="square" rtlCol="0">
            <a:spAutoFit/>
          </a:bodyPr>
          <a:lstStyle/>
          <a:p>
            <a:r>
              <a:rPr lang="en-US" sz="62000" dirty="0">
                <a:solidFill>
                  <a:srgbClr val="FF0066"/>
                </a:solidFill>
                <a:cs typeface="Arial" pitchFamily="34" charset="0"/>
              </a:rPr>
              <a:t>}</a:t>
            </a:r>
          </a:p>
        </p:txBody>
      </p:sp>
      <p:pic>
        <p:nvPicPr>
          <p:cNvPr id="1026" name="Picture 2" descr="http://photogallery.indiatimes.com/events/calcutta/play-vagina-monologues/photo/2751023/Play-Vagina-Monologues.jpg"/>
          <p:cNvPicPr>
            <a:picLocks noChangeAspect="1" noChangeArrowheads="1"/>
          </p:cNvPicPr>
          <p:nvPr/>
        </p:nvPicPr>
        <p:blipFill>
          <a:blip r:embed="rId2" cstate="print"/>
          <a:srcRect/>
          <a:stretch>
            <a:fillRect/>
          </a:stretch>
        </p:blipFill>
        <p:spPr bwMode="auto">
          <a:xfrm>
            <a:off x="1447799" y="1524000"/>
            <a:ext cx="6148323" cy="35814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vdayfortworth.com/FileUpload/pics/vday2012.jpg"/>
          <p:cNvPicPr>
            <a:picLocks noChangeAspect="1" noChangeArrowheads="1"/>
          </p:cNvPicPr>
          <p:nvPr/>
        </p:nvPicPr>
        <p:blipFill>
          <a:blip r:embed="rId2" cstate="print"/>
          <a:srcRect/>
          <a:stretch>
            <a:fillRect/>
          </a:stretch>
        </p:blipFill>
        <p:spPr bwMode="auto">
          <a:xfrm>
            <a:off x="0" y="685800"/>
            <a:ext cx="9144000" cy="5342419"/>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ttp://www.lvc.edu/News/Images/2011/vagina-monologues-news.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farm3.static.flickr.com/2669/3830381027_82cf87fa4e.jpg"/>
          <p:cNvPicPr>
            <a:picLocks noChangeAspect="1" noChangeArrowheads="1"/>
          </p:cNvPicPr>
          <p:nvPr/>
        </p:nvPicPr>
        <p:blipFill>
          <a:blip r:embed="rId2" cstate="print"/>
          <a:srcRect/>
          <a:stretch>
            <a:fillRect/>
          </a:stretch>
        </p:blipFill>
        <p:spPr bwMode="auto">
          <a:xfrm>
            <a:off x="-609600" y="0"/>
            <a:ext cx="10363200" cy="68580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http://www.safercampus.org/blog/wp-content/uploads/2010/11/VDAYSafer_logoFINAL.jpg"/>
          <p:cNvPicPr>
            <a:picLocks noChangeAspect="1" noChangeArrowheads="1"/>
          </p:cNvPicPr>
          <p:nvPr/>
        </p:nvPicPr>
        <p:blipFill>
          <a:blip r:embed="rId2" cstate="print"/>
          <a:srcRect/>
          <a:stretch>
            <a:fillRect/>
          </a:stretch>
        </p:blipFill>
        <p:spPr bwMode="auto">
          <a:xfrm>
            <a:off x="838200" y="0"/>
            <a:ext cx="7162801" cy="7162802"/>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vday.jpg"/>
          <p:cNvPicPr>
            <a:picLocks noGrp="1" noChangeAspect="1"/>
          </p:cNvPicPr>
          <p:nvPr>
            <p:ph idx="1"/>
          </p:nvPr>
        </p:nvPicPr>
        <p:blipFill>
          <a:blip r:embed="rId2" cstate="print"/>
          <a:stretch>
            <a:fillRect/>
          </a:stretch>
        </p:blipFill>
        <p:spPr>
          <a:xfrm>
            <a:off x="1064912" y="569788"/>
            <a:ext cx="6783688" cy="5556375"/>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698" name="Picture 2" descr="http://twothreenine.com/wp-content/uploads/2011/02/finalposterJPG2-Small.jpg"/>
          <p:cNvPicPr>
            <a:picLocks noChangeAspect="1" noChangeArrowheads="1"/>
          </p:cNvPicPr>
          <p:nvPr/>
        </p:nvPicPr>
        <p:blipFill>
          <a:blip r:embed="rId2" cstate="print"/>
          <a:srcRect/>
          <a:stretch>
            <a:fillRect/>
          </a:stretch>
        </p:blipFill>
        <p:spPr bwMode="auto">
          <a:xfrm>
            <a:off x="-7835" y="685800"/>
            <a:ext cx="9151835" cy="55626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593</Words>
  <Application>Microsoft Office PowerPoint</Application>
  <PresentationFormat>On-screen Show (4:3)</PresentationFormat>
  <Paragraphs>58</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V-DAY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University of Connecticut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ksb08003</dc:creator>
  <cp:lastModifiedBy>owner</cp:lastModifiedBy>
  <cp:revision>11</cp:revision>
  <dcterms:created xsi:type="dcterms:W3CDTF">2012-02-08T03:30:15Z</dcterms:created>
  <dcterms:modified xsi:type="dcterms:W3CDTF">2012-02-24T22:03:42Z</dcterms:modified>
</cp:coreProperties>
</file>