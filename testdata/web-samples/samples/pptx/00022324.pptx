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256" r:id="rId2"/>
    <p:sldId id="257" r:id="rId3"/>
    <p:sldId id="306" r:id="rId4"/>
    <p:sldId id="258" r:id="rId5"/>
    <p:sldId id="259" r:id="rId6"/>
    <p:sldId id="300" r:id="rId7"/>
    <p:sldId id="301" r:id="rId8"/>
    <p:sldId id="302" r:id="rId9"/>
    <p:sldId id="303" r:id="rId10"/>
    <p:sldId id="264" r:id="rId11"/>
    <p:sldId id="265" r:id="rId12"/>
    <p:sldId id="266" r:id="rId13"/>
    <p:sldId id="267" r:id="rId14"/>
    <p:sldId id="268" r:id="rId15"/>
    <p:sldId id="269" r:id="rId16"/>
    <p:sldId id="270" r:id="rId17"/>
    <p:sldId id="271" r:id="rId18"/>
    <p:sldId id="272" r:id="rId19"/>
    <p:sldId id="274" r:id="rId20"/>
    <p:sldId id="275" r:id="rId21"/>
    <p:sldId id="276" r:id="rId22"/>
    <p:sldId id="277" r:id="rId23"/>
    <p:sldId id="279" r:id="rId24"/>
    <p:sldId id="280" r:id="rId25"/>
    <p:sldId id="281" r:id="rId26"/>
    <p:sldId id="282" r:id="rId27"/>
    <p:sldId id="283" r:id="rId28"/>
    <p:sldId id="284" r:id="rId29"/>
    <p:sldId id="285" r:id="rId30"/>
    <p:sldId id="286" r:id="rId31"/>
    <p:sldId id="287" r:id="rId32"/>
    <p:sldId id="304" r:id="rId33"/>
    <p:sldId id="288" r:id="rId34"/>
    <p:sldId id="290" r:id="rId35"/>
    <p:sldId id="291" r:id="rId36"/>
    <p:sldId id="299" r:id="rId37"/>
    <p:sldId id="292" r:id="rId38"/>
    <p:sldId id="293" r:id="rId39"/>
    <p:sldId id="294" r:id="rId40"/>
    <p:sldId id="295" r:id="rId41"/>
    <p:sldId id="296" r:id="rId42"/>
    <p:sldId id="305" r:id="rId43"/>
    <p:sldId id="29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89" autoAdjust="0"/>
  </p:normalViewPr>
  <p:slideViewPr>
    <p:cSldViewPr>
      <p:cViewPr varScale="1">
        <p:scale>
          <a:sx n="95" d="100"/>
          <a:sy n="95" d="100"/>
        </p:scale>
        <p:origin x="-1458"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5760" cy="456839"/>
          </a:xfrm>
          <a:prstGeom prst="rect">
            <a:avLst/>
          </a:prstGeom>
          <a:noFill/>
          <a:ln>
            <a:noFill/>
          </a:ln>
        </p:spPr>
        <p:txBody>
          <a:bodyPr vert="horz" lIns="90000" tIns="45000" rIns="90000" bIns="4500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sz="1400"/>
            </a:pPr>
            <a:endParaRPr lang="en-US" sz="1400" b="0" i="0" u="none" strike="noStrike" baseline="0">
              <a:ln>
                <a:noFill/>
              </a:ln>
              <a:solidFill>
                <a:srgbClr val="000000"/>
              </a:solidFill>
              <a:latin typeface="굴림" pitchFamily="50"/>
              <a:ea typeface="굴림" pitchFamily="50"/>
              <a:cs typeface="굴림" pitchFamily="50"/>
            </a:endParaRPr>
          </a:p>
        </p:txBody>
      </p:sp>
      <p:sp>
        <p:nvSpPr>
          <p:cNvPr id="3" name="Date Placeholder 2"/>
          <p:cNvSpPr txBox="1">
            <a:spLocks noGrp="1"/>
          </p:cNvSpPr>
          <p:nvPr>
            <p:ph type="dt" sz="quarter" idx="1"/>
          </p:nvPr>
        </p:nvSpPr>
        <p:spPr>
          <a:xfrm>
            <a:off x="3881880" y="0"/>
            <a:ext cx="2975760" cy="456839"/>
          </a:xfrm>
          <a:prstGeom prst="rect">
            <a:avLst/>
          </a:prstGeom>
          <a:noFill/>
          <a:ln>
            <a:noFill/>
          </a:ln>
        </p:spPr>
        <p:txBody>
          <a:bodyPr vert="horz" lIns="90000" tIns="45000" rIns="90000" bIns="45000" compatLnSpc="1"/>
          <a:lstStyle/>
          <a:p>
            <a:pPr marL="0" marR="0" lvl="0" indent="0" algn="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sz="1400"/>
            </a:pPr>
            <a:endParaRPr lang="en-US" sz="1400" b="0" i="0" u="none" strike="noStrike" baseline="0">
              <a:ln>
                <a:noFill/>
              </a:ln>
              <a:solidFill>
                <a:srgbClr val="000000"/>
              </a:solidFill>
              <a:latin typeface="굴림" pitchFamily="50"/>
              <a:ea typeface="굴림" pitchFamily="50"/>
              <a:cs typeface="굴림" pitchFamily="50"/>
            </a:endParaRPr>
          </a:p>
        </p:txBody>
      </p:sp>
      <p:sp>
        <p:nvSpPr>
          <p:cNvPr id="4" name="Footer Placeholder 3"/>
          <p:cNvSpPr txBox="1">
            <a:spLocks noGrp="1"/>
          </p:cNvSpPr>
          <p:nvPr>
            <p:ph type="ftr" sz="quarter" idx="2"/>
          </p:nvPr>
        </p:nvSpPr>
        <p:spPr>
          <a:xfrm>
            <a:off x="0" y="8686800"/>
            <a:ext cx="2975760" cy="456839"/>
          </a:xfrm>
          <a:prstGeom prst="rect">
            <a:avLst/>
          </a:prstGeom>
          <a:noFill/>
          <a:ln>
            <a:noFill/>
          </a:ln>
        </p:spPr>
        <p:txBody>
          <a:bodyPr vert="horz" lIns="90000" tIns="45000" rIns="90000" bIns="45000" anchor="b"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sz="1400"/>
            </a:pPr>
            <a:endParaRPr lang="en-US" sz="1400" b="0" i="0" u="none" strike="noStrike" baseline="0">
              <a:ln>
                <a:noFill/>
              </a:ln>
              <a:solidFill>
                <a:srgbClr val="000000"/>
              </a:solidFill>
              <a:latin typeface="굴림" pitchFamily="50"/>
              <a:ea typeface="굴림" pitchFamily="50"/>
              <a:cs typeface="굴림" pitchFamily="50"/>
            </a:endParaRPr>
          </a:p>
        </p:txBody>
      </p:sp>
      <p:sp>
        <p:nvSpPr>
          <p:cNvPr id="5" name="Slide Number Placeholder 4"/>
          <p:cNvSpPr txBox="1">
            <a:spLocks noGrp="1"/>
          </p:cNvSpPr>
          <p:nvPr>
            <p:ph type="sldNum" sz="quarter" idx="3"/>
          </p:nvPr>
        </p:nvSpPr>
        <p:spPr>
          <a:xfrm>
            <a:off x="3881880" y="8686800"/>
            <a:ext cx="2975760" cy="456839"/>
          </a:xfrm>
          <a:prstGeom prst="rect">
            <a:avLst/>
          </a:prstGeom>
          <a:noFill/>
          <a:ln>
            <a:noFill/>
          </a:ln>
        </p:spPr>
        <p:txBody>
          <a:bodyPr vert="horz" lIns="90000" tIns="45000" rIns="90000" bIns="45000" anchor="b" compatLnSpc="1"/>
          <a:lstStyle/>
          <a:p>
            <a:pPr marL="0" marR="0" lvl="0" indent="0" algn="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sz="1400"/>
            </a:pPr>
            <a:fld id="{65AB81D3-F71C-4063-AF3E-1F6C5A2D1238}" type="slidenum">
              <a:t>‹#›</a:t>
            </a:fld>
            <a:endParaRPr lang="en-US" sz="1400" b="0" i="0" u="none" strike="noStrike" baseline="0">
              <a:ln>
                <a:noFill/>
              </a:ln>
              <a:solidFill>
                <a:srgbClr val="000000"/>
              </a:solidFill>
              <a:latin typeface="굴림" pitchFamily="50"/>
              <a:ea typeface="굴림" pitchFamily="50"/>
              <a:cs typeface="굴림" pitchFamily="50"/>
            </a:endParaRPr>
          </a:p>
        </p:txBody>
      </p:sp>
    </p:spTree>
    <p:extLst>
      <p:ext uri="{BB962C8B-B14F-4D97-AF65-F5344CB8AC3E}">
        <p14:creationId xmlns:p14="http://schemas.microsoft.com/office/powerpoint/2010/main" val="977810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a:spLocks noMove="1" noResize="1"/>
          </p:cNvSpPr>
          <p:nvPr/>
        </p:nvSpPr>
        <p:spPr>
          <a:xfrm>
            <a:off x="0" y="0"/>
            <a:ext cx="6858000" cy="9144000"/>
          </a:xfrm>
          <a:prstGeom prst="rect">
            <a:avLst/>
          </a:prstGeom>
          <a:solidFill>
            <a:srgbClr val="FFFFFF"/>
          </a:solidFill>
          <a:ln>
            <a:noFill/>
            <a:prstDash val="solid"/>
          </a:ln>
        </p:spPr>
        <p:txBody>
          <a:bodyPr vert="horz" lIns="0" tIns="0" rIns="0" bIns="0" anchor="ctr" anchorCtr="1" compatLnSpc="0"/>
          <a:lstStyle/>
          <a:p>
            <a:pPr lvl="0" rtl="0" hangingPunct="0">
              <a:buNone/>
              <a:tabLst/>
            </a:pPr>
            <a:endParaRPr lang="en-US" sz="2400">
              <a:latin typeface="Nimbus Roman No9 L" pitchFamily="18"/>
              <a:ea typeface="DejaVu Sans" pitchFamily="2"/>
              <a:cs typeface="DejaVu Sans" pitchFamily="2"/>
            </a:endParaRPr>
          </a:p>
        </p:txBody>
      </p:sp>
      <p:sp>
        <p:nvSpPr>
          <p:cNvPr id="3" name="Slide Image Placeholder 2"/>
          <p:cNvSpPr>
            <a:spLocks noGrp="1" noRot="1" noChangeAspect="1"/>
          </p:cNvSpPr>
          <p:nvPr>
            <p:ph type="sldImg" idx="2"/>
          </p:nvPr>
        </p:nvSpPr>
        <p:spPr>
          <a:xfrm>
            <a:off x="-11798640" y="-11796840"/>
            <a:ext cx="11798280" cy="12492360"/>
          </a:xfrm>
          <a:prstGeom prst="rect">
            <a:avLst/>
          </a:prstGeom>
          <a:noFill/>
          <a:ln>
            <a:noFill/>
            <a:prstDash val="solid"/>
          </a:ln>
        </p:spPr>
      </p:sp>
      <p:sp>
        <p:nvSpPr>
          <p:cNvPr id="4" name="Notes Placeholder 3"/>
          <p:cNvSpPr txBox="1">
            <a:spLocks noGrp="1"/>
          </p:cNvSpPr>
          <p:nvPr>
            <p:ph type="body" sz="quarter" idx="3"/>
          </p:nvPr>
        </p:nvSpPr>
        <p:spPr>
          <a:xfrm>
            <a:off x="685799" y="4343400"/>
            <a:ext cx="5484960" cy="4113720"/>
          </a:xfrm>
          <a:prstGeom prst="rect">
            <a:avLst/>
          </a:prstGeom>
          <a:noFill/>
          <a:ln>
            <a:noFill/>
          </a:ln>
        </p:spPr>
        <p:txBody>
          <a:bodyPr vert="horz" lIns="0" tIns="0" rIns="0" bIns="0" compatLnSpc="1"/>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extLst>
      <p:ext uri="{BB962C8B-B14F-4D97-AF65-F5344CB8AC3E}">
        <p14:creationId xmlns:p14="http://schemas.microsoft.com/office/powerpoint/2010/main" val="674709880"/>
      </p:ext>
    </p:extLst>
  </p:cSld>
  <p:clrMap bg1="lt1" tx1="dk1" bg2="lt2" tx2="dk2" accent1="accent1" accent2="accent2" accent3="accent3" accent4="accent4" accent5="accent5" accent6="accent6" hlink="hlink" folHlink="folHlink"/>
  <p:notesStyle>
    <a:lvl1pPr marL="0" marR="0" indent="0" algn="l" rtl="0" hangingPunct="0">
      <a:lnSpc>
        <a:spcPct val="100000"/>
      </a:lnSpc>
      <a:spcBef>
        <a:spcPts val="448"/>
      </a:spcBef>
      <a:spcAft>
        <a:spcPts val="0"/>
      </a:spcAft>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lang="en-US" sz="1200" b="0" i="0" u="none" strike="noStrike" baseline="0">
        <a:ln>
          <a:noFill/>
        </a:ln>
        <a:solidFill>
          <a:srgbClr val="000000"/>
        </a:solidFill>
        <a:latin typeface="Times New Roman" pitchFamily="18"/>
        <a:ea typeface="DejaVu Sans" pitchFamily="2"/>
        <a:cs typeface="DejaVu Sans"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Thank Vladlen for introduction.</a:t>
            </a:r>
          </a:p>
          <a:p>
            <a:pPr lvl="0">
              <a:buNone/>
            </a:pPr>
            <a:r>
              <a:rPr lang="en-US"/>
              <a:t>Introduce the talk title.</a:t>
            </a:r>
          </a:p>
          <a:p>
            <a:pPr lvl="0">
              <a:buNone/>
            </a:pPr>
            <a:r>
              <a:rPr lang="en-US"/>
              <a:t>Mention co-author.</a:t>
            </a:r>
          </a:p>
          <a:p>
            <a:pPr lvl="0">
              <a:buNone/>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dirty="0"/>
              <a:t>Lay out the talk, explaining the four bullet points.</a:t>
            </a:r>
          </a:p>
          <a:p>
            <a:pPr lvl="0">
              <a:buNone/>
            </a:pP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“Gaussian filters can be expressed by the following equation.”</a:t>
            </a:r>
          </a:p>
          <a:p>
            <a:pPr lvl="0">
              <a:buNone/>
            </a:pPr>
            <a:r>
              <a:rPr lang="en-US"/>
              <a:t>Tell the audience that we will look in detail at what this equation does.</a:t>
            </a:r>
          </a:p>
          <a:p>
            <a:pPr lvl="0">
              <a:buNone/>
            </a:pPr>
            <a:endParaRPr lang="en-US"/>
          </a:p>
          <a:p>
            <a:pPr lvl="0">
              <a:buNone/>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“Gaussian filters can be expressed by the following equation.”</a:t>
            </a:r>
          </a:p>
          <a:p>
            <a:pPr lvl="0">
              <a:buNone/>
            </a:pPr>
            <a:r>
              <a:rPr lang="en-US"/>
              <a:t>Tell the audience that we will look in detail at what this equation does.</a:t>
            </a:r>
          </a:p>
          <a:p>
            <a:pPr lvl="0">
              <a:buNone/>
            </a:pPr>
            <a:endParaRPr lang="en-US"/>
          </a:p>
          <a:p>
            <a:pPr lvl="0">
              <a:buNone/>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“Gaussian filters can be expressed by the following equation.”</a:t>
            </a:r>
          </a:p>
          <a:p>
            <a:pPr lvl="0">
              <a:buNone/>
            </a:pPr>
            <a:r>
              <a:rPr lang="en-US"/>
              <a:t>Tell the audience that we will look in detail at what this equation does.</a:t>
            </a:r>
          </a:p>
          <a:p>
            <a:pPr lvl="0">
              <a:buNone/>
            </a:pPr>
            <a:endParaRPr lang="en-US"/>
          </a:p>
          <a:p>
            <a:pPr lvl="0">
              <a:buNone/>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“Gaussian filters can be expressed by the following equation.”</a:t>
            </a:r>
          </a:p>
          <a:p>
            <a:pPr lvl="0">
              <a:buNone/>
            </a:pPr>
            <a:r>
              <a:rPr lang="en-US"/>
              <a:t>Tell the audience that we will look in detail at what this equation does.</a:t>
            </a:r>
          </a:p>
          <a:p>
            <a:pPr lvl="0">
              <a:buNone/>
            </a:pPr>
            <a:endParaRPr lang="en-US"/>
          </a:p>
          <a:p>
            <a:pPr lvl="0">
              <a:buNone/>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“Gaussian filters can be expressed by the following equation.”</a:t>
            </a:r>
          </a:p>
          <a:p>
            <a:pPr lvl="0">
              <a:buNone/>
            </a:pPr>
            <a:r>
              <a:rPr lang="en-US"/>
              <a:t>Tell the audience that we will look in detail at what this equation does.</a:t>
            </a:r>
          </a:p>
          <a:p>
            <a:pPr lvl="0">
              <a:buNone/>
            </a:pPr>
            <a:endParaRPr lang="en-US"/>
          </a:p>
          <a:p>
            <a:pPr lvl="0">
              <a:buNone/>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baseline="0" dirty="0" smtClean="0"/>
              <a:t> This is the simplest example of Gaussian filter. </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We can define the distance between</a:t>
            </a:r>
            <a:r>
              <a:rPr lang="en-US" baseline="0" dirty="0" smtClean="0"/>
              <a:t> pixels as not only their spatial distance, but also take into account their distance in the color space.</a:t>
            </a:r>
          </a:p>
          <a:p>
            <a:r>
              <a:rPr lang="en-US" baseline="0" dirty="0" smtClean="0"/>
              <a:t> This gives the popular bilateral filter, which blurs the image while preserving strong edges.</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We</a:t>
            </a:r>
            <a:r>
              <a:rPr lang="en-US" baseline="0" dirty="0" smtClean="0"/>
              <a:t> can also elect to mix pixels that have similar neighborhood patches, and this is known as a non-local means filter, which is great for </a:t>
            </a:r>
            <a:r>
              <a:rPr lang="en-US" baseline="0" dirty="0" err="1" smtClean="0"/>
              <a:t>denoising</a:t>
            </a:r>
            <a:r>
              <a:rPr lang="en-US" baseline="0" dirty="0" smtClean="0"/>
              <a:t>.</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These</a:t>
            </a:r>
            <a:r>
              <a:rPr lang="en-US" baseline="0" dirty="0" smtClean="0"/>
              <a:t> instances of </a:t>
            </a:r>
            <a:r>
              <a:rPr lang="en-US" dirty="0" smtClean="0"/>
              <a:t>Gaussian filters have many applications, such as BLAH.</a:t>
            </a:r>
          </a:p>
          <a:p>
            <a:r>
              <a:rPr lang="en-US" dirty="0" smtClean="0"/>
              <a:t> Hence, the fast evaluation of Gaussian filters has</a:t>
            </a:r>
            <a:r>
              <a:rPr lang="en-US" baseline="0" dirty="0" smtClean="0"/>
              <a:t> received much attention recently.</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BLAH</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Note that the kernel is now position-dependent.</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Make sure to explain the axes. This is a 1D signal.</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Can’t be</a:t>
            </a:r>
            <a:r>
              <a:rPr lang="en-US" baseline="0" dirty="0" smtClean="0"/>
              <a:t> expressed as a simple convolution as before, thus not separable.</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Explain</a:t>
            </a:r>
            <a:r>
              <a:rPr lang="en-US" baseline="0" dirty="0" smtClean="0"/>
              <a:t> this figure!!!! (THE AXES)</a:t>
            </a:r>
          </a:p>
          <a:p>
            <a:r>
              <a:rPr lang="en-US" baseline="0" dirty="0" smtClean="0"/>
              <a:t> Contrast with 4</a:t>
            </a:r>
            <a:r>
              <a:rPr lang="en-US" baseline="0" dirty="0"/>
              <a:t> </a:t>
            </a:r>
            <a:r>
              <a:rPr lang="en-US" baseline="0" dirty="0" smtClean="0"/>
              <a:t>kernels in the last example.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lvl="0">
              <a:buNone/>
            </a:pPr>
            <a:r>
              <a:rPr lang="en-US"/>
              <a:t>Note that now the region being filtered with each kernel is potentially unstructured (no longer a nice rectangular image.) This is no longer an issue because the most recent works in Gaussian filtering can handle sparse input data.</a:t>
            </a:r>
          </a:p>
          <a:p>
            <a:pPr lvl="0">
              <a:buNone/>
            </a:pPr>
            <a:endParaRPr lang="en-US"/>
          </a:p>
          <a:p>
            <a:pPr lvl="0">
              <a:buNone/>
            </a:pPr>
            <a:r>
              <a:rPr lang="en-US"/>
              <a:t>Two new questions arise:</a:t>
            </a:r>
          </a:p>
          <a:p>
            <a:pPr lvl="0">
              <a:buNone/>
            </a:pPr>
            <a:r>
              <a:rPr lang="en-US"/>
              <a:t>(1) how to define the support for each kernel.</a:t>
            </a:r>
          </a:p>
          <a:p>
            <a:pPr lvl="0">
              <a:buNone/>
            </a:pPr>
            <a:r>
              <a:rPr lang="en-US"/>
              <a:t>(2) how to calculate the support.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indent="0" algn="l" defTabSz="914400" rtl="0" eaLnBrk="1" fontAlgn="auto" latinLnBrk="0" hangingPunct="0">
              <a:lnSpc>
                <a:spcPct val="100000"/>
              </a:lnSpc>
              <a:spcBef>
                <a:spcPts val="448"/>
              </a:spcBef>
              <a:spcAft>
                <a:spcPts val="0"/>
              </a:spcAft>
              <a:buClr>
                <a:srgbClr val="000000"/>
              </a:buClr>
              <a:buSzPct val="100000"/>
              <a:buFont typeface="Times New Roman" pitchFamily="18"/>
              <a:buChar cha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a:pPr>
            <a:r>
              <a:rPr lang="en-US" dirty="0" smtClean="0"/>
              <a:t> Though, you could get boundary artifacts with</a:t>
            </a:r>
            <a:r>
              <a:rPr lang="en-US" baseline="0" dirty="0" smtClean="0"/>
              <a:t> this approach, because when you filter a segment, every pixel needs a large enough neighborhood.</a:t>
            </a:r>
            <a:endParaRPr lang="en-US" dirty="0" smtClean="0"/>
          </a:p>
          <a:p>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Thus</a:t>
            </a:r>
            <a:r>
              <a:rPr lang="en-US" baseline="0" dirty="0" smtClean="0"/>
              <a:t> we dilate the set to be filtered with each kernel. Morphological dilation is expensive, so we solve this by probabilistically sampling neighbors.</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In tone-mapping, the input is a high-dynamic-range</a:t>
            </a:r>
            <a:r>
              <a:rPr lang="en-US" baseline="0" dirty="0" smtClean="0"/>
              <a:t> image, such as this. There are portions of the images too bright and/or too dark for a target display.</a:t>
            </a:r>
          </a:p>
          <a:p>
            <a:r>
              <a:rPr lang="en-US" baseline="0" dirty="0" smtClean="0"/>
              <a:t> One can tone-map this image with a bilateral filter as follows: filter the image to generate what’s called a base layer. The difference from the input is the detail layer.</a:t>
            </a:r>
          </a:p>
          <a:p>
            <a:r>
              <a:rPr lang="en-US" baseline="0" dirty="0" smtClean="0"/>
              <a:t> Now, simply re-combine them with some weights to obtain the result.</a:t>
            </a:r>
          </a:p>
          <a:p>
            <a:endParaRPr lang="en-US" baseline="0" dirty="0" smtClean="0"/>
          </a:p>
          <a:p>
            <a:r>
              <a:rPr lang="en-US" baseline="0" dirty="0" smtClean="0"/>
              <a:t> EXPLAIN WHY THIS STANDS TO BENEFIT FROM KERNEL SAMPLING.</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Should say things like,</a:t>
            </a:r>
            <a:r>
              <a:rPr lang="en-US" baseline="0" dirty="0" smtClean="0"/>
              <a:t> false edges, blooming</a:t>
            </a:r>
          </a:p>
          <a:p>
            <a:r>
              <a:rPr lang="en-US" baseline="0" dirty="0" smtClean="0"/>
              <a:t> Perhaps add that there is work in literature to address this problem as a post-processing, but simply by assuming a more general model, we can remove these artifacts.</a:t>
            </a:r>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r>
              <a:rPr lang="en-US" dirty="0" smtClean="0"/>
              <a:t> The input in this case is</a:t>
            </a:r>
            <a:r>
              <a:rPr lang="en-US" baseline="0" dirty="0" smtClean="0"/>
              <a:t> the depth data collected from a laser-scanning range finder. It is typically sparse, unstructured, and noisy</a:t>
            </a:r>
          </a:p>
          <a:p>
            <a:r>
              <a:rPr lang="en-US" baseline="0" dirty="0" smtClean="0"/>
              <a:t> If we want dense depth map, that is, fill in all the missing depth values, we can do so by doing a Gaussian blur on the input.</a:t>
            </a:r>
          </a:p>
          <a:p>
            <a:r>
              <a:rPr lang="en-US" baseline="0" dirty="0" smtClean="0"/>
              <a:t> Existing literature notes that if a scene image is available, you can try to mix depth values that have similar color values, since they are likely to belong to the same object. This yields a fairly reasonable dense depth map.</a:t>
            </a:r>
          </a:p>
          <a:p>
            <a:r>
              <a:rPr lang="en-US" baseline="0" dirty="0" smtClean="0"/>
              <a:t> But the assumption that pixels of similar colors have similar depth is actually not quite right; rather, pixels of similar colors tend to belong to the same surface, which might not necessarily be flat. So, we are relaxing the assumption in existing literature on piecewise constant depth, to piecewise linear depth.</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143000" y="695325"/>
            <a:ext cx="4572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4960" cy="4114079"/>
          </a:xfrm>
        </p:spPr>
        <p:txBody>
          <a:bodyPr>
            <a:spAutoFit/>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33C1F83E-8D4F-4B9A-ABE2-E38FC8B67730}" type="slidenum">
              <a:t>‹#›</a:t>
            </a:fld>
            <a:endParaRPr lang="en-US"/>
          </a:p>
        </p:txBody>
      </p:sp>
    </p:spTree>
    <p:extLst>
      <p:ext uri="{BB962C8B-B14F-4D97-AF65-F5344CB8AC3E}">
        <p14:creationId xmlns:p14="http://schemas.microsoft.com/office/powerpoint/2010/main" val="2220307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084FCB72-C260-453F-A098-5370384272A7}" type="slidenum">
              <a:t>‹#›</a:t>
            </a:fld>
            <a:endParaRPr lang="en-US"/>
          </a:p>
        </p:txBody>
      </p:sp>
    </p:spTree>
    <p:extLst>
      <p:ext uri="{BB962C8B-B14F-4D97-AF65-F5344CB8AC3E}">
        <p14:creationId xmlns:p14="http://schemas.microsoft.com/office/powerpoint/2010/main" val="15738749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5D81AB2-AB81-4DBB-A90F-87709C5B7978}" type="slidenum">
              <a:t>‹#›</a:t>
            </a:fld>
            <a:endParaRPr lang="en-US"/>
          </a:p>
        </p:txBody>
      </p:sp>
    </p:spTree>
    <p:extLst>
      <p:ext uri="{BB962C8B-B14F-4D97-AF65-F5344CB8AC3E}">
        <p14:creationId xmlns:p14="http://schemas.microsoft.com/office/powerpoint/2010/main" val="3111200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701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A16203CF-B6F5-4E4C-9C99-550C050AE1DF}" type="slidenum">
              <a:t>‹#›</a:t>
            </a:fld>
            <a:endParaRPr lang="en-US"/>
          </a:p>
        </p:txBody>
      </p:sp>
    </p:spTree>
    <p:extLst>
      <p:ext uri="{BB962C8B-B14F-4D97-AF65-F5344CB8AC3E}">
        <p14:creationId xmlns:p14="http://schemas.microsoft.com/office/powerpoint/2010/main" val="1033398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D42E95F4-6B13-4218-93EE-398B7066BE06}" type="slidenum">
              <a:t>‹#›</a:t>
            </a:fld>
            <a:endParaRPr lang="en-US"/>
          </a:p>
        </p:txBody>
      </p:sp>
    </p:spTree>
    <p:extLst>
      <p:ext uri="{BB962C8B-B14F-4D97-AF65-F5344CB8AC3E}">
        <p14:creationId xmlns:p14="http://schemas.microsoft.com/office/powerpoint/2010/main" val="27295771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8B315AF7-F650-467E-8ED3-19A39F3F4BFF}" type="slidenum">
              <a:t>‹#›</a:t>
            </a:fld>
            <a:endParaRPr lang="en-US"/>
          </a:p>
        </p:txBody>
      </p:sp>
    </p:spTree>
    <p:extLst>
      <p:ext uri="{BB962C8B-B14F-4D97-AF65-F5344CB8AC3E}">
        <p14:creationId xmlns:p14="http://schemas.microsoft.com/office/powerpoint/2010/main" val="17447134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57A32D3E-6904-4D4D-8AB9-40795D232EEB}" type="slidenum">
              <a:t>‹#›</a:t>
            </a:fld>
            <a:endParaRPr lang="en-US"/>
          </a:p>
        </p:txBody>
      </p:sp>
    </p:spTree>
    <p:extLst>
      <p:ext uri="{BB962C8B-B14F-4D97-AF65-F5344CB8AC3E}">
        <p14:creationId xmlns:p14="http://schemas.microsoft.com/office/powerpoint/2010/main" val="36547628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59554DB8-03F3-4CE7-AAFE-845C00F03B56}" type="slidenum">
              <a:t>‹#›</a:t>
            </a:fld>
            <a:endParaRPr lang="en-US"/>
          </a:p>
        </p:txBody>
      </p:sp>
    </p:spTree>
    <p:extLst>
      <p:ext uri="{BB962C8B-B14F-4D97-AF65-F5344CB8AC3E}">
        <p14:creationId xmlns:p14="http://schemas.microsoft.com/office/powerpoint/2010/main" val="28169495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2F2C5624-9847-4FDD-B211-B08D46316595}" type="slidenum">
              <a:t>‹#›</a:t>
            </a:fld>
            <a:endParaRPr lang="en-US"/>
          </a:p>
        </p:txBody>
      </p:sp>
    </p:spTree>
    <p:extLst>
      <p:ext uri="{BB962C8B-B14F-4D97-AF65-F5344CB8AC3E}">
        <p14:creationId xmlns:p14="http://schemas.microsoft.com/office/powerpoint/2010/main" val="3274410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639E9657-3075-47F4-80AA-F9960BCA0E2D}" type="slidenum">
              <a:t>‹#›</a:t>
            </a:fld>
            <a:endParaRPr lang="en-US"/>
          </a:p>
        </p:txBody>
      </p:sp>
    </p:spTree>
    <p:extLst>
      <p:ext uri="{BB962C8B-B14F-4D97-AF65-F5344CB8AC3E}">
        <p14:creationId xmlns:p14="http://schemas.microsoft.com/office/powerpoint/2010/main" val="4147542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8588"/>
            <a:ext cx="2055813" cy="5997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8588"/>
            <a:ext cx="6019800" cy="5997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364AACBA-8AA5-475D-A0BB-1DD857FAA83A}" type="slidenum">
              <a:t>‹#›</a:t>
            </a:fld>
            <a:endParaRPr lang="en-US"/>
          </a:p>
        </p:txBody>
      </p:sp>
    </p:spTree>
    <p:extLst>
      <p:ext uri="{BB962C8B-B14F-4D97-AF65-F5344CB8AC3E}">
        <p14:creationId xmlns:p14="http://schemas.microsoft.com/office/powerpoint/2010/main" val="2322663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txBox="1">
            <a:spLocks noGrp="1"/>
          </p:cNvSpPr>
          <p:nvPr>
            <p:ph type="title"/>
          </p:nvPr>
        </p:nvSpPr>
        <p:spPr>
          <a:xfrm>
            <a:off x="457200" y="128160"/>
            <a:ext cx="8228160" cy="1434600"/>
          </a:xfrm>
          <a:prstGeom prst="rect">
            <a:avLst/>
          </a:prstGeom>
          <a:noFill/>
          <a:ln>
            <a:noFill/>
          </a:ln>
        </p:spPr>
        <p:txBody>
          <a:bodyPr vert="horz" lIns="90000" tIns="46800" rIns="90000" bIns="46800" anchor="ctr" compatLnSpc="1"/>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en-US"/>
          </a:p>
        </p:txBody>
      </p:sp>
      <p:sp>
        <p:nvSpPr>
          <p:cNvPr id="3" name="Text Placeholder 2"/>
          <p:cNvSpPr txBox="1">
            <a:spLocks noGrp="1"/>
          </p:cNvSpPr>
          <p:nvPr>
            <p:ph type="body" idx="1"/>
          </p:nvPr>
        </p:nvSpPr>
        <p:spPr>
          <a:xfrm>
            <a:off x="457200" y="1600200"/>
            <a:ext cx="8228160" cy="4526280"/>
          </a:xfrm>
          <a:prstGeom prst="rect">
            <a:avLst/>
          </a:prstGeom>
          <a:noFill/>
          <a:ln>
            <a:noFill/>
          </a:ln>
        </p:spPr>
        <p:txBody>
          <a:bodyPr vert="horz" lIns="90000" tIns="46800" rIns="90000" bIns="46800" compatLnSpc="1"/>
          <a:lstStyle>
            <a:defPPr marL="342720" marR="0" lvl="0" indent="-342720" algn="l" rtl="0" hangingPunct="1">
              <a:lnSpc>
                <a:spcPct val="100000"/>
              </a:lnSpc>
              <a:spcBef>
                <a:spcPts val="799"/>
              </a:spcBef>
              <a:spcAft>
                <a:spcPts val="0"/>
              </a:spcAft>
              <a:buClr>
                <a:srgbClr val="000000"/>
              </a:buClr>
              <a:buSzPct val="100000"/>
              <a:buFont typeface="Times New Roman" pitchFamily="18"/>
              <a:buNone/>
              <a:tabLst>
                <a:tab pos="342720" algn="l"/>
                <a:tab pos="456840" algn="l"/>
                <a:tab pos="914040" algn="l"/>
                <a:tab pos="1371239" algn="l"/>
                <a:tab pos="1828439" algn="l"/>
                <a:tab pos="2285639" algn="l"/>
                <a:tab pos="2742839" algn="l"/>
                <a:tab pos="3200040" algn="l"/>
                <a:tab pos="3657239" algn="l"/>
                <a:tab pos="4114440" algn="l"/>
                <a:tab pos="4571639" algn="l"/>
                <a:tab pos="5028840" algn="l"/>
                <a:tab pos="5486040" algn="l"/>
                <a:tab pos="5943240" algn="l"/>
                <a:tab pos="6400440" algn="l"/>
                <a:tab pos="6857640" algn="l"/>
                <a:tab pos="7314840" algn="l"/>
                <a:tab pos="7772040" algn="l"/>
                <a:tab pos="8229240" algn="l"/>
                <a:tab pos="8686440" algn="l"/>
                <a:tab pos="9143640" algn="l"/>
              </a:tabLst>
              <a:defRPr lang="en-US" sz="3200" b="0" i="0" u="none" strike="noStrike" baseline="0">
                <a:ln>
                  <a:noFill/>
                </a:ln>
                <a:solidFill>
                  <a:srgbClr val="000000"/>
                </a:solidFill>
                <a:latin typeface="굴림" pitchFamily="50"/>
                <a:ea typeface="굴림" pitchFamily="50"/>
                <a:cs typeface="굴림" pitchFamily="50"/>
              </a:defRPr>
            </a:defPPr>
            <a:lvl1pPr marL="342720" marR="0" lvl="0" indent="-342720" algn="l" rtl="0" hangingPunct="1">
              <a:lnSpc>
                <a:spcPct val="100000"/>
              </a:lnSpc>
              <a:spcBef>
                <a:spcPts val="799"/>
              </a:spcBef>
              <a:spcAft>
                <a:spcPts val="0"/>
              </a:spcAft>
              <a:buClr>
                <a:srgbClr val="000000"/>
              </a:buClr>
              <a:buSzPct val="100000"/>
              <a:buFont typeface="Times New Roman" pitchFamily="18"/>
              <a:buChar char="•"/>
              <a:tabLst>
                <a:tab pos="342720" algn="l"/>
                <a:tab pos="456840" algn="l"/>
                <a:tab pos="914040" algn="l"/>
                <a:tab pos="1371239" algn="l"/>
                <a:tab pos="1828439" algn="l"/>
                <a:tab pos="2285639" algn="l"/>
                <a:tab pos="2742839" algn="l"/>
                <a:tab pos="3200040" algn="l"/>
                <a:tab pos="3657239" algn="l"/>
                <a:tab pos="4114440" algn="l"/>
                <a:tab pos="4571639" algn="l"/>
                <a:tab pos="5028840" algn="l"/>
                <a:tab pos="5486040" algn="l"/>
                <a:tab pos="5943240" algn="l"/>
                <a:tab pos="6400440" algn="l"/>
                <a:tab pos="6857640" algn="l"/>
                <a:tab pos="7314840" algn="l"/>
                <a:tab pos="7772040" algn="l"/>
                <a:tab pos="8229240" algn="l"/>
                <a:tab pos="8686440" algn="l"/>
                <a:tab pos="9143640" algn="l"/>
              </a:tabLst>
              <a:defRPr lang="en-US" sz="3200" b="0" i="0" u="none" strike="noStrike" baseline="0">
                <a:ln>
                  <a:noFill/>
                </a:ln>
                <a:solidFill>
                  <a:srgbClr val="000000"/>
                </a:solidFill>
                <a:latin typeface="굴림" pitchFamily="50"/>
                <a:ea typeface="굴림" pitchFamily="50"/>
                <a:cs typeface="굴림" pitchFamily="50"/>
              </a:defRPr>
            </a:lvl1pPr>
            <a:lvl2pPr marL="742680" marR="0" lvl="1" indent="-285480" algn="l" rtl="0" hangingPunct="1">
              <a:lnSpc>
                <a:spcPct val="100000"/>
              </a:lnSpc>
              <a:spcBef>
                <a:spcPts val="697"/>
              </a:spcBef>
              <a:spcAft>
                <a:spcPts val="0"/>
              </a:spcAft>
              <a:buClr>
                <a:srgbClr val="000000"/>
              </a:buClr>
              <a:buSzPct val="100000"/>
              <a:buFont typeface="Times New Roman" pitchFamily="18"/>
              <a:buChar char="–"/>
              <a:tabLst>
                <a:tab pos="742680" algn="l"/>
                <a:tab pos="914040" algn="l"/>
                <a:tab pos="1371240" algn="l"/>
                <a:tab pos="1828439" algn="l"/>
                <a:tab pos="2285640" algn="l"/>
                <a:tab pos="2742840" algn="l"/>
                <a:tab pos="3200040" algn="l"/>
                <a:tab pos="3657240" algn="l"/>
                <a:tab pos="4114440" algn="l"/>
                <a:tab pos="4571639" algn="l"/>
                <a:tab pos="5028840" algn="l"/>
                <a:tab pos="5486040" algn="l"/>
                <a:tab pos="5943240" algn="l"/>
                <a:tab pos="6400440" algn="l"/>
                <a:tab pos="6857639" algn="l"/>
                <a:tab pos="7314840" algn="l"/>
                <a:tab pos="7772040" algn="l"/>
                <a:tab pos="8229240" algn="l"/>
                <a:tab pos="8686440" algn="l"/>
                <a:tab pos="9143640" algn="l"/>
                <a:tab pos="9600840" algn="l"/>
              </a:tabLst>
              <a:defRPr lang="en-US" sz="2800" b="0" i="0" u="none" strike="noStrike" baseline="0">
                <a:ln>
                  <a:noFill/>
                </a:ln>
                <a:solidFill>
                  <a:srgbClr val="000000"/>
                </a:solidFill>
                <a:latin typeface="굴림" pitchFamily="50"/>
                <a:ea typeface="굴림" pitchFamily="50"/>
                <a:cs typeface="굴림" pitchFamily="50"/>
              </a:defRPr>
            </a:lvl2pPr>
            <a:lvl3pPr marL="1143000" marR="0" lvl="2" indent="-228600" algn="l" rtl="0" hangingPunct="1">
              <a:lnSpc>
                <a:spcPct val="100000"/>
              </a:lnSpc>
              <a:spcBef>
                <a:spcPts val="598"/>
              </a:spcBef>
              <a:spcAft>
                <a:spcPts val="0"/>
              </a:spcAft>
              <a:buClr>
                <a:srgbClr val="000000"/>
              </a:buClr>
              <a:buSzPct val="100000"/>
              <a:buFont typeface="Times New Roman" pitchFamily="18"/>
              <a:buChar char="•"/>
              <a:tabLst>
                <a:tab pos="1143000" algn="l"/>
                <a:tab pos="1371600" algn="l"/>
                <a:tab pos="1828799"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799" algn="l"/>
                <a:tab pos="9143999" algn="l"/>
                <a:tab pos="9601200" algn="l"/>
                <a:tab pos="10058399" algn="l"/>
              </a:tabLst>
              <a:defRPr lang="en-US" sz="2400" b="0" i="0" u="none" strike="noStrike" baseline="0">
                <a:ln>
                  <a:noFill/>
                </a:ln>
                <a:solidFill>
                  <a:srgbClr val="000000"/>
                </a:solidFill>
                <a:latin typeface="굴림" pitchFamily="50"/>
                <a:ea typeface="굴림" pitchFamily="50"/>
                <a:cs typeface="굴림" pitchFamily="50"/>
              </a:defRPr>
            </a:lvl3pPr>
            <a:lvl4pPr marL="1600199" marR="0" lvl="3" indent="-228600" algn="l" rtl="0" hangingPunct="1">
              <a:lnSpc>
                <a:spcPct val="100000"/>
              </a:lnSpc>
              <a:spcBef>
                <a:spcPts val="499"/>
              </a:spcBef>
              <a:spcAft>
                <a:spcPts val="0"/>
              </a:spcAft>
              <a:buClr>
                <a:srgbClr val="000000"/>
              </a:buClr>
              <a:buSzPct val="100000"/>
              <a:buFont typeface="Times New Roman" pitchFamily="18"/>
              <a:buChar char="–"/>
              <a:tabLst>
                <a:tab pos="1600200" algn="l"/>
                <a:tab pos="1828800" algn="l"/>
                <a:tab pos="2285999"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3999" algn="l"/>
                <a:tab pos="9601199" algn="l"/>
                <a:tab pos="10058400" algn="l"/>
                <a:tab pos="10515599" algn="l"/>
              </a:tabLst>
              <a:defRPr lang="en-US" sz="2000" b="0" i="0" u="none" strike="noStrike" baseline="0">
                <a:ln>
                  <a:noFill/>
                </a:ln>
                <a:solidFill>
                  <a:srgbClr val="000000"/>
                </a:solidFill>
                <a:latin typeface="굴림" pitchFamily="50"/>
                <a:ea typeface="굴림" pitchFamily="50"/>
                <a:cs typeface="굴림" pitchFamily="50"/>
              </a:defRPr>
            </a:lvl4pPr>
            <a:lvl5pPr marL="2057400" marR="0" lvl="4" indent="-228600" algn="l" rtl="0" hangingPunct="1">
              <a:lnSpc>
                <a:spcPct val="100000"/>
              </a:lnSpc>
              <a:spcBef>
                <a:spcPts val="499"/>
              </a:spcBef>
              <a:spcAft>
                <a:spcPts val="0"/>
              </a:spcAft>
              <a:buClr>
                <a:srgbClr val="000000"/>
              </a:buClr>
              <a:buSzPct val="100000"/>
              <a:buFont typeface="Times New Roman" pitchFamily="18"/>
              <a:buChar char="»"/>
              <a:tabLst>
                <a:tab pos="2057400" algn="l"/>
                <a:tab pos="2286000" algn="l"/>
                <a:tab pos="2743199"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199" algn="l"/>
                <a:tab pos="10058399" algn="l"/>
                <a:tab pos="10515600" algn="l"/>
              </a:tabLst>
              <a:defRPr lang="en-US" sz="2000" b="0" i="0" u="none" strike="noStrike" baseline="0">
                <a:ln>
                  <a:noFill/>
                </a:ln>
                <a:solidFill>
                  <a:srgbClr val="000000"/>
                </a:solidFill>
                <a:latin typeface="굴림" pitchFamily="50"/>
                <a:ea typeface="굴림" pitchFamily="50"/>
                <a:cs typeface="굴림" pitchFamily="50"/>
              </a:defRPr>
            </a:lvl5pPr>
            <a:lvl6pPr marL="2057400" marR="0" lvl="5" indent="-228600" algn="l" rtl="0" hangingPunct="1">
              <a:lnSpc>
                <a:spcPct val="100000"/>
              </a:lnSpc>
              <a:spcBef>
                <a:spcPts val="499"/>
              </a:spcBef>
              <a:spcAft>
                <a:spcPts val="0"/>
              </a:spcAft>
              <a:buClr>
                <a:srgbClr val="000000"/>
              </a:buClr>
              <a:buSzPct val="100000"/>
              <a:buFont typeface="Times New Roman" pitchFamily="18"/>
              <a:buChar char="»"/>
              <a:tabLst>
                <a:tab pos="2057400" algn="l"/>
                <a:tab pos="2286000" algn="l"/>
                <a:tab pos="2743199"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199" algn="l"/>
                <a:tab pos="10058399" algn="l"/>
                <a:tab pos="10515600" algn="l"/>
              </a:tabLst>
              <a:defRPr lang="en-US" sz="2000" b="0" i="0" u="none" strike="noStrike" baseline="0">
                <a:ln>
                  <a:noFill/>
                </a:ln>
                <a:solidFill>
                  <a:srgbClr val="000000"/>
                </a:solidFill>
                <a:latin typeface="굴림" pitchFamily="50"/>
                <a:ea typeface="굴림" pitchFamily="50"/>
                <a:cs typeface="굴림" pitchFamily="50"/>
              </a:defRPr>
            </a:lvl6pPr>
            <a:lvl7pPr marL="2057400" marR="0" lvl="6" indent="-228600" algn="l" rtl="0" hangingPunct="1">
              <a:lnSpc>
                <a:spcPct val="100000"/>
              </a:lnSpc>
              <a:spcBef>
                <a:spcPts val="499"/>
              </a:spcBef>
              <a:spcAft>
                <a:spcPts val="0"/>
              </a:spcAft>
              <a:buClr>
                <a:srgbClr val="000000"/>
              </a:buClr>
              <a:buSzPct val="100000"/>
              <a:buFont typeface="Times New Roman" pitchFamily="18"/>
              <a:buChar char="»"/>
              <a:tabLst>
                <a:tab pos="2057400" algn="l"/>
                <a:tab pos="2286000" algn="l"/>
                <a:tab pos="2743199"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199" algn="l"/>
                <a:tab pos="10058399" algn="l"/>
                <a:tab pos="10515600" algn="l"/>
              </a:tabLst>
              <a:defRPr lang="en-US" sz="2000" b="0" i="0" u="none" strike="noStrike" baseline="0">
                <a:ln>
                  <a:noFill/>
                </a:ln>
                <a:solidFill>
                  <a:srgbClr val="000000"/>
                </a:solidFill>
                <a:latin typeface="굴림" pitchFamily="50"/>
                <a:ea typeface="굴림" pitchFamily="50"/>
                <a:cs typeface="굴림" pitchFamily="50"/>
              </a:defRPr>
            </a:lvl7pPr>
            <a:lvl8pPr marL="2057400" marR="0" lvl="7" indent="-228600" algn="l" rtl="0" hangingPunct="1">
              <a:lnSpc>
                <a:spcPct val="100000"/>
              </a:lnSpc>
              <a:spcBef>
                <a:spcPts val="499"/>
              </a:spcBef>
              <a:spcAft>
                <a:spcPts val="0"/>
              </a:spcAft>
              <a:buClr>
                <a:srgbClr val="000000"/>
              </a:buClr>
              <a:buSzPct val="100000"/>
              <a:buFont typeface="Times New Roman" pitchFamily="18"/>
              <a:buChar char="»"/>
              <a:tabLst>
                <a:tab pos="2057400" algn="l"/>
                <a:tab pos="2286000" algn="l"/>
                <a:tab pos="2743199"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199" algn="l"/>
                <a:tab pos="10058399" algn="l"/>
                <a:tab pos="10515600" algn="l"/>
              </a:tabLst>
              <a:defRPr lang="en-US" sz="2000" b="0" i="0" u="none" strike="noStrike" baseline="0">
                <a:ln>
                  <a:noFill/>
                </a:ln>
                <a:solidFill>
                  <a:srgbClr val="000000"/>
                </a:solidFill>
                <a:latin typeface="굴림" pitchFamily="50"/>
                <a:ea typeface="굴림" pitchFamily="50"/>
                <a:cs typeface="굴림" pitchFamily="50"/>
              </a:defRPr>
            </a:lvl8pPr>
            <a:lvl9pPr marL="2057400" marR="0" lvl="8" indent="-228600" algn="l" rtl="0" hangingPunct="1">
              <a:lnSpc>
                <a:spcPct val="100000"/>
              </a:lnSpc>
              <a:spcBef>
                <a:spcPts val="499"/>
              </a:spcBef>
              <a:spcAft>
                <a:spcPts val="0"/>
              </a:spcAft>
              <a:buClr>
                <a:srgbClr val="000000"/>
              </a:buClr>
              <a:buSzPct val="100000"/>
              <a:buFont typeface="Times New Roman" pitchFamily="18"/>
              <a:buChar char="»"/>
              <a:tabLst>
                <a:tab pos="2057400" algn="l"/>
                <a:tab pos="2286000" algn="l"/>
                <a:tab pos="2743199"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199" algn="l"/>
                <a:tab pos="10058399" algn="l"/>
                <a:tab pos="10515600" algn="l"/>
              </a:tabLst>
              <a:defRPr lang="en-US" sz="2000" b="0" i="0" u="none" strike="noStrike" baseline="0">
                <a:ln>
                  <a:noFill/>
                </a:ln>
                <a:solidFill>
                  <a:srgbClr val="000000"/>
                </a:solidFill>
                <a:latin typeface="굴림" pitchFamily="50"/>
                <a:ea typeface="굴림" pitchFamily="50"/>
                <a:cs typeface="굴림" pitchFamily="50"/>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txBox="1">
            <a:spLocks noGrp="1"/>
          </p:cNvSpPr>
          <p:nvPr>
            <p:ph type="dt" sz="half" idx="2"/>
          </p:nvPr>
        </p:nvSpPr>
        <p:spPr>
          <a:xfrm>
            <a:off x="457200" y="6245280"/>
            <a:ext cx="2131920" cy="474840"/>
          </a:xfrm>
          <a:prstGeom prst="rect">
            <a:avLst/>
          </a:prstGeom>
          <a:noFill/>
          <a:ln>
            <a:noFill/>
          </a:ln>
        </p:spPr>
        <p:txBody>
          <a:bodyPr vert="horz" wrap="square" lIns="90000" tIns="46800" rIns="90000" bIns="46800" anchor="t" anchorCtr="0" compatLnSpc="1"/>
          <a:lstStyle>
            <a:lvl1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lang="en-US" sz="1400" b="0" i="0" u="none" strike="noStrike" baseline="0">
                <a:solidFill>
                  <a:srgbClr val="000000"/>
                </a:solidFill>
                <a:latin typeface="굴림" pitchFamily="50"/>
                <a:ea typeface="굴림" pitchFamily="50"/>
                <a:cs typeface="굴림" pitchFamily="50"/>
              </a:defRPr>
            </a:lvl1pPr>
          </a:lstStyle>
          <a:p>
            <a:pPr lvl="0"/>
            <a:endParaRPr lang="en-US"/>
          </a:p>
        </p:txBody>
      </p:sp>
      <p:sp>
        <p:nvSpPr>
          <p:cNvPr id="5" name="Footer Placeholder 4"/>
          <p:cNvSpPr txBox="1">
            <a:spLocks noGrp="1"/>
          </p:cNvSpPr>
          <p:nvPr>
            <p:ph type="ftr" sz="quarter" idx="3"/>
          </p:nvPr>
        </p:nvSpPr>
        <p:spPr>
          <a:xfrm>
            <a:off x="3123720" y="6245280"/>
            <a:ext cx="2894040" cy="474840"/>
          </a:xfrm>
          <a:prstGeom prst="rect">
            <a:avLst/>
          </a:prstGeom>
          <a:noFill/>
          <a:ln>
            <a:noFill/>
          </a:ln>
        </p:spPr>
        <p:txBody>
          <a:bodyPr vert="horz" wrap="square" lIns="90000" tIns="46800" rIns="90000" bIns="46800" anchor="t" anchorCtr="0" compatLnSpc="1"/>
          <a:lstStyle>
            <a:lvl1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lang="en-US" sz="1400" b="0" i="0" u="none" strike="noStrike" baseline="0">
                <a:solidFill>
                  <a:srgbClr val="000000"/>
                </a:solidFill>
                <a:latin typeface="굴림" pitchFamily="50"/>
                <a:ea typeface="굴림" pitchFamily="50"/>
                <a:cs typeface="굴림" pitchFamily="50"/>
              </a:defRPr>
            </a:lvl1pPr>
          </a:lstStyle>
          <a:p>
            <a:pPr lvl="0"/>
            <a:endParaRPr lang="en-US"/>
          </a:p>
        </p:txBody>
      </p:sp>
      <p:sp>
        <p:nvSpPr>
          <p:cNvPr id="6" name="Slide Number Placeholder 5"/>
          <p:cNvSpPr txBox="1">
            <a:spLocks noGrp="1"/>
          </p:cNvSpPr>
          <p:nvPr>
            <p:ph type="sldNum" sz="quarter" idx="4"/>
          </p:nvPr>
        </p:nvSpPr>
        <p:spPr>
          <a:xfrm>
            <a:off x="6552719" y="6245280"/>
            <a:ext cx="2132280" cy="474840"/>
          </a:xfrm>
          <a:prstGeom prst="rect">
            <a:avLst/>
          </a:prstGeom>
          <a:noFill/>
          <a:ln>
            <a:noFill/>
          </a:ln>
        </p:spPr>
        <p:txBody>
          <a:bodyPr vert="horz" wrap="square" lIns="90000" tIns="46800" rIns="90000" bIns="46800" anchor="t" anchorCtr="0" compatLnSpc="1"/>
          <a:lstStyle>
            <a:lvl1pPr marL="0" marR="0" lvl="0" indent="0" algn="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lang="en-US" sz="1400" b="0" i="0" u="none" strike="noStrike" baseline="0">
                <a:solidFill>
                  <a:srgbClr val="000000"/>
                </a:solidFill>
                <a:latin typeface="굴림" pitchFamily="50"/>
                <a:ea typeface="굴림" pitchFamily="50"/>
                <a:cs typeface="굴림" pitchFamily="50"/>
              </a:defRPr>
            </a:lvl1pPr>
          </a:lstStyle>
          <a:p>
            <a:pPr lvl="0"/>
            <a:fld id="{89CD4BCC-05A5-4549-9100-65618A2A2F48}"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indent="0" algn="ctr" rtl="0" hangingPunct="1">
        <a:lnSpc>
          <a:spcPct val="100000"/>
        </a:lnSpc>
        <a:spcBef>
          <a:spcPts val="0"/>
        </a:spcBef>
        <a:spcAft>
          <a:spcPts val="0"/>
        </a:spcAft>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defRPr lang="en-US" sz="4400" b="0" i="0" u="none" strike="noStrike" baseline="0">
          <a:ln>
            <a:noFill/>
          </a:ln>
          <a:solidFill>
            <a:srgbClr val="000000"/>
          </a:solidFill>
          <a:latin typeface="굴림" pitchFamily="50"/>
          <a:ea typeface="굴림" pitchFamily="50"/>
        </a:defRPr>
      </a:lvl1pPr>
    </p:titleStyle>
    <p:bodyStyle>
      <a:lvl1pPr marL="342720" marR="0" indent="-342720" algn="l" rtl="0" hangingPunct="1">
        <a:lnSpc>
          <a:spcPct val="100000"/>
        </a:lnSpc>
        <a:spcBef>
          <a:spcPts val="799"/>
        </a:spcBef>
        <a:spcAft>
          <a:spcPts val="0"/>
        </a:spcAft>
        <a:tabLst>
          <a:tab pos="342720" algn="l"/>
          <a:tab pos="456840" algn="l"/>
          <a:tab pos="914040" algn="l"/>
          <a:tab pos="1371239" algn="l"/>
          <a:tab pos="1828439" algn="l"/>
          <a:tab pos="2285639" algn="l"/>
          <a:tab pos="2742839" algn="l"/>
          <a:tab pos="3200040" algn="l"/>
          <a:tab pos="3657239" algn="l"/>
          <a:tab pos="4114440" algn="l"/>
          <a:tab pos="4571639" algn="l"/>
          <a:tab pos="5028840" algn="l"/>
          <a:tab pos="5486040" algn="l"/>
          <a:tab pos="5943240" algn="l"/>
          <a:tab pos="6400440" algn="l"/>
          <a:tab pos="6857640" algn="l"/>
          <a:tab pos="7314840" algn="l"/>
          <a:tab pos="7772040" algn="l"/>
          <a:tab pos="8229240" algn="l"/>
          <a:tab pos="8686440" algn="l"/>
          <a:tab pos="9143640" algn="l"/>
        </a:tabLst>
        <a:defRPr lang="en-US" sz="3200" b="0" i="0" u="none" strike="noStrike" baseline="0">
          <a:ln>
            <a:noFill/>
          </a:ln>
          <a:solidFill>
            <a:srgbClr val="000000"/>
          </a:solidFill>
          <a:latin typeface="굴림" pitchFamily="50"/>
          <a:ea typeface="굴림" pitchFamily="50"/>
        </a:defRPr>
      </a:lvl1pPr>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video" Target="file:///C:\Users\jbaek\talk\depthUpsampling.wmv" TargetMode="External"/><Relationship Id="rId1" Type="http://schemas.microsoft.com/office/2007/relationships/media" Target="file:///C:\Users\jbaek\talk\depthUpsampling.wmv" TargetMode="External"/><Relationship Id="rId6" Type="http://schemas.openxmlformats.org/officeDocument/2006/relationships/image" Target="../media/image4.png"/><Relationship Id="rId5" Type="http://schemas.openxmlformats.org/officeDocument/2006/relationships/image" Target="../media/image6.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jp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jp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6.jpg"/><Relationship Id="rId7" Type="http://schemas.openxmlformats.org/officeDocument/2006/relationships/image" Target="../media/image17.wmf"/><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6.wmf"/><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9.wmf"/></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0.wmf"/><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jpg"/><Relationship Id="rId7"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25.wm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27.wm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29.w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8.wmf"/><Relationship Id="rId5"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31.wmf"/><Relationship Id="rId5" Type="http://schemas.openxmlformats.org/officeDocument/2006/relationships/image" Target="../media/image5.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image" Target="../media/image5.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image" Target="../media/image5.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6.jpg"/><Relationship Id="rId7"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36.png"/></Relationships>
</file>

<file path=ppt/slides/_rels/slide34.xml.rels><?xml version="1.0" encoding="UTF-8" standalone="yes"?>
<Relationships xmlns="http://schemas.openxmlformats.org/package/2006/relationships"><Relationship Id="rId8" Type="http://schemas.openxmlformats.org/officeDocument/2006/relationships/image" Target="../media/image39.jpg"/><Relationship Id="rId3" Type="http://schemas.openxmlformats.org/officeDocument/2006/relationships/image" Target="../media/image6.jpg"/><Relationship Id="rId7" Type="http://schemas.openxmlformats.org/officeDocument/2006/relationships/image" Target="../media/image38.jp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5.png"/><Relationship Id="rId10" Type="http://schemas.openxmlformats.org/officeDocument/2006/relationships/image" Target="../media/image41.png"/><Relationship Id="rId4" Type="http://schemas.openxmlformats.org/officeDocument/2006/relationships/image" Target="../media/image4.png"/><Relationship Id="rId9" Type="http://schemas.openxmlformats.org/officeDocument/2006/relationships/image" Target="../media/image40.png"/></Relationships>
</file>

<file path=ppt/slides/_rels/slide3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6.jpg"/><Relationship Id="rId7"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5.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png"/><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5.png"/><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5.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53.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video" Target="file:///C:\Users\jbaek\talk\depthUpsampling.wmv" TargetMode="External"/><Relationship Id="rId1" Type="http://schemas.microsoft.com/office/2007/relationships/media" Target="file:///C:\Users\jbaek\talk\depthUpsampling.wmv" TargetMode="External"/><Relationship Id="rId6" Type="http://schemas.openxmlformats.org/officeDocument/2006/relationships/image" Target="../media/image4.png"/><Relationship Id="rId5" Type="http://schemas.openxmlformats.org/officeDocument/2006/relationships/image" Target="../media/image6.jp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20.wmf"/><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685799" y="2126880"/>
            <a:ext cx="7772400" cy="1658160"/>
          </a:xfrm>
        </p:spPr>
        <p:txBody>
          <a:bodyP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en-US"/>
          </a:p>
        </p:txBody>
      </p:sp>
      <p:sp>
        <p:nvSpPr>
          <p:cNvPr id="3" name="Subtitle 2"/>
          <p:cNvSpPr txBox="1">
            <a:spLocks noGrp="1"/>
          </p:cNvSpPr>
          <p:nvPr>
            <p:ph type="subTitle" idx="4294967295"/>
          </p:nvPr>
        </p:nvSpPr>
        <p:spPr>
          <a:xfrm>
            <a:off x="1371599" y="3975120"/>
            <a:ext cx="6400799" cy="1753560"/>
          </a:xfrm>
        </p:spPr>
        <p:txBody>
          <a:bodyPr lIns="0" tIns="0" rIns="0" bIns="0" anchor="ct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algn="ctr"/>
            <a:endParaRPr lang="en-US"/>
          </a:p>
        </p:txBody>
      </p:sp>
      <p:pic>
        <p:nvPicPr>
          <p:cNvPr id="4" name="Picture 3"/>
          <p:cNvPicPr>
            <a:picLocks noChangeAspect="1"/>
          </p:cNvPicPr>
          <p:nvPr/>
        </p:nvPicPr>
        <p:blipFill>
          <a:blip r:embed="rId3">
            <a:lum/>
            <a:alphaModFix/>
          </a:blip>
          <a:srcRect/>
          <a:stretch>
            <a:fillRect/>
          </a:stretch>
        </p:blipFill>
        <p:spPr>
          <a:xfrm>
            <a:off x="0" y="0"/>
            <a:ext cx="9144000" cy="68580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11160" y="-9360"/>
            <a:ext cx="9167760" cy="6878520"/>
          </a:xfrm>
          <a:prstGeom prst="rect">
            <a:avLst/>
          </a:prstGeom>
          <a:noFill/>
          <a:ln>
            <a:noFill/>
          </a:ln>
        </p:spPr>
      </p:pic>
      <p:pic>
        <p:nvPicPr>
          <p:cNvPr id="3" name="Picture 2"/>
          <p:cNvPicPr>
            <a:picLocks noChangeAspect="1"/>
          </p:cNvPicPr>
          <p:nvPr/>
        </p:nvPicPr>
        <p:blipFill>
          <a:blip r:embed="rId4">
            <a:lum/>
            <a:alphaModFix/>
          </a:blip>
          <a:srcRect/>
          <a:stretch>
            <a:fillRect/>
          </a:stretch>
        </p:blipFill>
        <p:spPr>
          <a:xfrm>
            <a:off x="3022560" y="836640"/>
            <a:ext cx="3097080" cy="1855799"/>
          </a:xfrm>
          <a:prstGeom prst="rect">
            <a:avLst/>
          </a:prstGeom>
          <a:noFill/>
          <a:ln>
            <a:noFill/>
          </a:ln>
        </p:spPr>
      </p:pic>
      <p:sp>
        <p:nvSpPr>
          <p:cNvPr id="4" name="Freeform 3"/>
          <p:cNvSpPr/>
          <p:nvPr/>
        </p:nvSpPr>
        <p:spPr>
          <a:xfrm>
            <a:off x="0" y="2995560"/>
            <a:ext cx="9144000" cy="50543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algn="ctr" rtl="0" hangingPunct="1">
              <a:lnSpc>
                <a:spcPct val="100000"/>
              </a:lnSpc>
              <a:buNone/>
              <a:tabLst/>
            </a:pPr>
            <a:r>
              <a:rPr lang="en-US" sz="2700" b="1">
                <a:latin typeface="Arial" pitchFamily="34"/>
                <a:ea typeface="DejaVu Sans" pitchFamily="2"/>
                <a:cs typeface="DejaVu Sans" pitchFamily="2"/>
              </a:rPr>
              <a:t>Accelerating Spatially Varying Gaussian Filters</a:t>
            </a:r>
          </a:p>
        </p:txBody>
      </p:sp>
      <p:sp>
        <p:nvSpPr>
          <p:cNvPr id="5" name="Freeform 4"/>
          <p:cNvSpPr/>
          <p:nvPr/>
        </p:nvSpPr>
        <p:spPr>
          <a:xfrm>
            <a:off x="0" y="3716280"/>
            <a:ext cx="9144000" cy="703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algn="ctr" rtl="0" hangingPunct="1">
              <a:lnSpc>
                <a:spcPct val="100000"/>
              </a:lnSpc>
              <a:buNone/>
              <a:tabLst/>
            </a:pPr>
            <a:r>
              <a:rPr lang="en-US" sz="2200">
                <a:solidFill>
                  <a:srgbClr val="000000"/>
                </a:solidFill>
                <a:latin typeface="Arial" pitchFamily="34"/>
                <a:ea typeface="DejaVu Sans" pitchFamily="2"/>
                <a:cs typeface="DejaVu Sans" pitchFamily="2"/>
              </a:rPr>
              <a:t>Jongmin Baek and David E. Jacobs</a:t>
            </a:r>
          </a:p>
          <a:p>
            <a:pPr marL="0" marR="0" lvl="0" indent="0" algn="ctr" rtl="0" hangingPunct="1">
              <a:lnSpc>
                <a:spcPct val="100000"/>
              </a:lnSpc>
              <a:buNone/>
              <a:tabLst/>
            </a:pPr>
            <a:r>
              <a:rPr lang="en-US" sz="1800">
                <a:solidFill>
                  <a:srgbClr val="000000"/>
                </a:solidFill>
                <a:latin typeface="Arial" pitchFamily="34"/>
                <a:ea typeface="DejaVu Sans" pitchFamily="2"/>
                <a:cs typeface="DejaVu Sans" pitchFamily="2"/>
              </a:rPr>
              <a:t>Stanford University</a:t>
            </a:r>
          </a:p>
        </p:txBody>
      </p:sp>
      <p:pic>
        <p:nvPicPr>
          <p:cNvPr id="6" name="Picture 5"/>
          <p:cNvPicPr>
            <a:picLocks noChangeAspect="1"/>
          </p:cNvPicPr>
          <p:nvPr/>
        </p:nvPicPr>
        <p:blipFill>
          <a:blip r:embed="rId5">
            <a:lum/>
            <a:alphaModFix/>
          </a:blip>
          <a:srcRect/>
          <a:stretch>
            <a:fillRect/>
          </a:stretch>
        </p:blipFill>
        <p:spPr>
          <a:xfrm>
            <a:off x="6680160" y="6321600"/>
            <a:ext cx="2212920" cy="420480"/>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250920" y="6467399"/>
            <a:ext cx="1123920" cy="201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5">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dirty="0">
                <a:solidFill>
                  <a:srgbClr val="FFFFFF"/>
                </a:solidFill>
                <a:latin typeface="Arial" pitchFamily="34"/>
                <a:ea typeface="굴림" pitchFamily="50"/>
                <a:cs typeface="굴림" pitchFamily="50"/>
              </a:rPr>
              <a:t> </a:t>
            </a:r>
            <a:r>
              <a:rPr lang="en-US" sz="3000" b="1" dirty="0" smtClean="0">
                <a:solidFill>
                  <a:srgbClr val="FFFFFF"/>
                </a:solidFill>
                <a:latin typeface="Arial" pitchFamily="34"/>
                <a:ea typeface="굴림" pitchFamily="50"/>
                <a:cs typeface="굴림" pitchFamily="50"/>
              </a:rPr>
              <a:t> Motivation</a:t>
            </a:r>
            <a:endParaRPr lang="en-US" sz="3000" b="1" dirty="0">
              <a:solidFill>
                <a:srgbClr val="FFFFFF"/>
              </a:solidFill>
              <a:latin typeface="Arial" pitchFamily="34"/>
              <a:ea typeface="굴림" pitchFamily="50"/>
              <a:cs typeface="굴림" pitchFamily="50"/>
            </a:endParaRPr>
          </a:p>
        </p:txBody>
      </p:sp>
      <p:pic>
        <p:nvPicPr>
          <p:cNvPr id="4" name="Picture 3"/>
          <p:cNvPicPr>
            <a:picLocks noChangeAspect="1"/>
          </p:cNvPicPr>
          <p:nvPr/>
        </p:nvPicPr>
        <p:blipFill>
          <a:blip r:embed="rId6">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7">
            <a:lum/>
            <a:alphaModFix/>
          </a:blip>
          <a:srcRect/>
          <a:stretch>
            <a:fillRect/>
          </a:stretch>
        </p:blipFill>
        <p:spPr>
          <a:xfrm>
            <a:off x="250920" y="6467399"/>
            <a:ext cx="1123920" cy="201600"/>
          </a:xfrm>
          <a:prstGeom prst="rect">
            <a:avLst/>
          </a:prstGeom>
          <a:noFill/>
          <a:ln>
            <a:noFill/>
          </a:ln>
        </p:spPr>
      </p:pic>
      <p:sp>
        <p:nvSpPr>
          <p:cNvPr id="8" name="TextBox 7"/>
          <p:cNvSpPr txBox="1"/>
          <p:nvPr/>
        </p:nvSpPr>
        <p:spPr>
          <a:xfrm>
            <a:off x="542412" y="1752600"/>
            <a:ext cx="934871" cy="461665"/>
          </a:xfrm>
          <a:prstGeom prst="rect">
            <a:avLst/>
          </a:prstGeom>
          <a:noFill/>
        </p:spPr>
        <p:txBody>
          <a:bodyPr wrap="none" rtlCol="0">
            <a:spAutoFit/>
          </a:bodyPr>
          <a:lstStyle/>
          <a:p>
            <a:r>
              <a:rPr lang="en-US" sz="2400" b="1" dirty="0" smtClean="0">
                <a:solidFill>
                  <a:prstClr val="black"/>
                </a:solidFill>
                <a:latin typeface="Arial" pitchFamily="34" charset="0"/>
                <a:cs typeface="Arial" pitchFamily="34" charset="0"/>
              </a:rPr>
              <a:t>Input</a:t>
            </a:r>
            <a:endParaRPr lang="en-US" sz="2400" b="1" dirty="0">
              <a:solidFill>
                <a:prstClr val="black"/>
              </a:solidFill>
              <a:latin typeface="Arial" pitchFamily="34" charset="0"/>
              <a:cs typeface="Arial" pitchFamily="34" charset="0"/>
            </a:endParaRPr>
          </a:p>
        </p:txBody>
      </p:sp>
      <p:sp>
        <p:nvSpPr>
          <p:cNvPr id="10" name="TextBox 9"/>
          <p:cNvSpPr txBox="1"/>
          <p:nvPr/>
        </p:nvSpPr>
        <p:spPr>
          <a:xfrm>
            <a:off x="55580" y="3884862"/>
            <a:ext cx="1569660" cy="830997"/>
          </a:xfrm>
          <a:prstGeom prst="rect">
            <a:avLst/>
          </a:prstGeom>
          <a:noFill/>
        </p:spPr>
        <p:txBody>
          <a:bodyPr wrap="none" rtlCol="0">
            <a:spAutoFit/>
          </a:bodyPr>
          <a:lstStyle/>
          <a:p>
            <a:r>
              <a:rPr lang="en-US" sz="2400" b="1" dirty="0" smtClean="0">
                <a:solidFill>
                  <a:prstClr val="black"/>
                </a:solidFill>
                <a:latin typeface="Arial" pitchFamily="34" charset="0"/>
                <a:cs typeface="Arial" pitchFamily="34" charset="0"/>
              </a:rPr>
              <a:t>Gaussian</a:t>
            </a:r>
          </a:p>
          <a:p>
            <a:pPr algn="ctr"/>
            <a:r>
              <a:rPr lang="en-US" sz="2400" b="1" dirty="0" smtClean="0">
                <a:solidFill>
                  <a:prstClr val="black"/>
                </a:solidFill>
                <a:latin typeface="Arial" pitchFamily="34" charset="0"/>
                <a:cs typeface="Arial" pitchFamily="34" charset="0"/>
              </a:rPr>
              <a:t>Filter</a:t>
            </a:r>
            <a:endParaRPr lang="en-US" sz="2400" b="1" dirty="0">
              <a:solidFill>
                <a:prstClr val="black"/>
              </a:solidFill>
              <a:latin typeface="Arial" pitchFamily="34" charset="0"/>
              <a:cs typeface="Arial" pitchFamily="34" charset="0"/>
            </a:endParaRPr>
          </a:p>
        </p:txBody>
      </p:sp>
      <p:sp>
        <p:nvSpPr>
          <p:cNvPr id="11" name="TextBox 10"/>
          <p:cNvSpPr txBox="1"/>
          <p:nvPr/>
        </p:nvSpPr>
        <p:spPr>
          <a:xfrm>
            <a:off x="7614138" y="3025170"/>
            <a:ext cx="1569660" cy="1569660"/>
          </a:xfrm>
          <a:prstGeom prst="rect">
            <a:avLst/>
          </a:prstGeom>
          <a:noFill/>
        </p:spPr>
        <p:txBody>
          <a:bodyPr wrap="none" rtlCol="0">
            <a:spAutoFit/>
          </a:bodyPr>
          <a:lstStyle/>
          <a:p>
            <a:r>
              <a:rPr lang="en-US" sz="2400" b="1" dirty="0" smtClean="0">
                <a:solidFill>
                  <a:prstClr val="black"/>
                </a:solidFill>
                <a:latin typeface="Arial" pitchFamily="34" charset="0"/>
                <a:cs typeface="Arial" pitchFamily="34" charset="0"/>
              </a:rPr>
              <a:t>Spatially</a:t>
            </a:r>
          </a:p>
          <a:p>
            <a:r>
              <a:rPr lang="en-US" sz="2400" b="1" dirty="0" smtClean="0">
                <a:solidFill>
                  <a:prstClr val="black"/>
                </a:solidFill>
                <a:latin typeface="Arial" pitchFamily="34" charset="0"/>
                <a:cs typeface="Arial" pitchFamily="34" charset="0"/>
              </a:rPr>
              <a:t>Varying</a:t>
            </a:r>
          </a:p>
          <a:p>
            <a:r>
              <a:rPr lang="en-US" sz="2400" b="1" dirty="0" smtClean="0">
                <a:solidFill>
                  <a:prstClr val="black"/>
                </a:solidFill>
                <a:latin typeface="Arial" pitchFamily="34" charset="0"/>
                <a:cs typeface="Arial" pitchFamily="34" charset="0"/>
              </a:rPr>
              <a:t>Gaussian</a:t>
            </a:r>
          </a:p>
          <a:p>
            <a:r>
              <a:rPr lang="en-US" sz="2400" b="1" dirty="0" smtClean="0">
                <a:solidFill>
                  <a:prstClr val="black"/>
                </a:solidFill>
                <a:latin typeface="Arial" pitchFamily="34" charset="0"/>
                <a:cs typeface="Arial" pitchFamily="34" charset="0"/>
              </a:rPr>
              <a:t>Filter</a:t>
            </a:r>
            <a:endParaRPr lang="en-US" sz="2400" b="1" dirty="0">
              <a:solidFill>
                <a:prstClr val="black"/>
              </a:solidFill>
              <a:latin typeface="Arial" pitchFamily="34" charset="0"/>
              <a:cs typeface="Arial" pitchFamily="34" charset="0"/>
            </a:endParaRPr>
          </a:p>
        </p:txBody>
      </p:sp>
      <p:cxnSp>
        <p:nvCxnSpPr>
          <p:cNvPr id="7" name="Straight Arrow Connector 6"/>
          <p:cNvCxnSpPr/>
          <p:nvPr/>
        </p:nvCxnSpPr>
        <p:spPr>
          <a:xfrm flipH="1" flipV="1">
            <a:off x="7696200" y="2514600"/>
            <a:ext cx="702768" cy="510570"/>
          </a:xfrm>
          <a:prstGeom prst="straightConnector1">
            <a:avLst/>
          </a:prstGeom>
          <a:ln w="63500">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7614138" y="4594830"/>
            <a:ext cx="784830" cy="586770"/>
          </a:xfrm>
          <a:prstGeom prst="straightConnector1">
            <a:avLst/>
          </a:prstGeom>
          <a:ln w="63500">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1009847" y="2295717"/>
            <a:ext cx="467436" cy="685800"/>
          </a:xfrm>
          <a:prstGeom prst="straightConnector1">
            <a:avLst/>
          </a:prstGeom>
          <a:ln w="63500">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009847" y="4715859"/>
            <a:ext cx="467436" cy="685800"/>
          </a:xfrm>
          <a:prstGeom prst="straightConnector1">
            <a:avLst/>
          </a:prstGeom>
          <a:ln w="63500">
            <a:tailEnd type="triangle" w="lg" len="lg"/>
          </a:ln>
        </p:spPr>
        <p:style>
          <a:lnRef idx="1">
            <a:schemeClr val="accent1"/>
          </a:lnRef>
          <a:fillRef idx="0">
            <a:schemeClr val="accent1"/>
          </a:fillRef>
          <a:effectRef idx="0">
            <a:schemeClr val="accent1"/>
          </a:effectRef>
          <a:fontRef idx="minor">
            <a:schemeClr val="tx1"/>
          </a:fontRef>
        </p:style>
      </p:cxnSp>
      <p:pic>
        <p:nvPicPr>
          <p:cNvPr id="16" name="depthUpsampling.wmv">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8"/>
          <a:stretch>
            <a:fillRect/>
          </a:stretch>
        </p:blipFill>
        <p:spPr>
          <a:xfrm>
            <a:off x="1539910" y="1524000"/>
            <a:ext cx="6096000" cy="4572000"/>
          </a:xfrm>
          <a:prstGeom prst="rect">
            <a:avLst/>
          </a:prstGeom>
        </p:spPr>
      </p:pic>
    </p:spTree>
    <p:extLst>
      <p:ext uri="{BB962C8B-B14F-4D97-AF65-F5344CB8AC3E}">
        <p14:creationId xmlns:p14="http://schemas.microsoft.com/office/powerpoint/2010/main" val="3056924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4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endCondLst>
                    <p:cond evt="onNext" delay="0">
                      <p:tgtEl>
                        <p:sldTgt/>
                      </p:tgtEl>
                    </p:cond>
                  </p:endCondLst>
                </p:cTn>
                <p:tgtEl>
                  <p:spTgt spid="16"/>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7920"/>
            <a:ext cx="9162720" cy="6872400"/>
          </a:xfrm>
          <a:prstGeom prst="rect">
            <a:avLst/>
          </a:prstGeom>
          <a:noFill/>
          <a:ln>
            <a:noFill/>
          </a:ln>
        </p:spPr>
      </p:pic>
      <p:sp>
        <p:nvSpPr>
          <p:cNvPr id="3" name="Freeform 2"/>
          <p:cNvSpPr/>
          <p:nvPr/>
        </p:nvSpPr>
        <p:spPr>
          <a:xfrm>
            <a:off x="826920" y="1916279"/>
            <a:ext cx="7777440" cy="2819427"/>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rtl="0" hangingPunct="1">
              <a:lnSpc>
                <a:spcPct val="110000"/>
              </a:lnSpc>
              <a:buClr>
                <a:srgbClr val="000000"/>
              </a:buClr>
              <a:buSzPct val="100000"/>
              <a:buAutoNum type="arabicParenR"/>
              <a:tabLst/>
            </a:pPr>
            <a:r>
              <a:rPr lang="en-US" sz="2400" b="1" dirty="0">
                <a:solidFill>
                  <a:srgbClr val="999999"/>
                </a:solidFill>
                <a:latin typeface="Arial" pitchFamily="34"/>
                <a:ea typeface="DejaVu Sans" pitchFamily="2"/>
                <a:cs typeface="DejaVu Sans" pitchFamily="2"/>
              </a:rPr>
              <a:t> Accelerating Spatially Varying</a:t>
            </a:r>
            <a:r>
              <a:rPr lang="en-US" sz="2400" b="1" dirty="0">
                <a:latin typeface="Arial" pitchFamily="34"/>
                <a:ea typeface="DejaVu Sans" pitchFamily="2"/>
                <a:cs typeface="DejaVu Sans" pitchFamily="2"/>
              </a:rPr>
              <a:t> </a:t>
            </a:r>
            <a:r>
              <a:rPr lang="en-US" sz="2400" b="1" u="sng" dirty="0">
                <a:latin typeface="Arial" pitchFamily="34"/>
                <a:ea typeface="DejaVu Sans" pitchFamily="2"/>
                <a:cs typeface="DejaVu Sans" pitchFamily="2"/>
              </a:rPr>
              <a:t>Gaussian Filters </a:t>
            </a:r>
            <a:br>
              <a:rPr lang="en-US" sz="2400" b="1" u="sng" dirty="0">
                <a:latin typeface="Arial" pitchFamily="34"/>
                <a:ea typeface="DejaVu Sans" pitchFamily="2"/>
                <a:cs typeface="DejaVu Sans" pitchFamily="2"/>
              </a:rPr>
            </a:br>
            <a:endParaRPr lang="en-US" sz="2400" b="1" u="sng" dirty="0">
              <a:latin typeface="Arial" pitchFamily="34"/>
              <a:ea typeface="DejaVu Sans" pitchFamily="2"/>
              <a:cs typeface="DejaVu Sans" pitchFamily="2"/>
            </a:endParaRPr>
          </a:p>
          <a:p>
            <a:pPr marL="0" marR="0" lvl="0" indent="0" rtl="0" hangingPunct="1">
              <a:lnSpc>
                <a:spcPct val="110000"/>
              </a:lnSpc>
              <a:buClr>
                <a:srgbClr val="000000"/>
              </a:buClr>
              <a:buSzPct val="100000"/>
              <a:buAutoNum type="arabicParenR"/>
              <a:tabLst/>
            </a:pPr>
            <a:r>
              <a:rPr lang="en-US" sz="2400" b="1" dirty="0">
                <a:solidFill>
                  <a:srgbClr val="999999"/>
                </a:solidFill>
                <a:latin typeface="Arial" pitchFamily="34"/>
                <a:ea typeface="DejaVu Sans" pitchFamily="2"/>
                <a:cs typeface="DejaVu Sans" pitchFamily="2"/>
              </a:rPr>
              <a:t> Accelerating</a:t>
            </a:r>
            <a:r>
              <a:rPr lang="en-US" sz="2400" b="1" dirty="0">
                <a:latin typeface="Arial" pitchFamily="34"/>
                <a:ea typeface="DejaVu Sans" pitchFamily="2"/>
                <a:cs typeface="DejaVu Sans" pitchFamily="2"/>
              </a:rPr>
              <a:t> </a:t>
            </a:r>
            <a:r>
              <a:rPr lang="en-US" sz="2400" b="1" u="sng" dirty="0">
                <a:latin typeface="Arial" pitchFamily="34"/>
                <a:ea typeface="DejaVu Sans" pitchFamily="2"/>
                <a:cs typeface="DejaVu Sans" pitchFamily="2"/>
              </a:rPr>
              <a:t>Spatially Varying Gaussian Filters </a:t>
            </a:r>
            <a:br>
              <a:rPr lang="en-US" sz="2400" b="1" u="sng" dirty="0">
                <a:latin typeface="Arial" pitchFamily="34"/>
                <a:ea typeface="DejaVu Sans" pitchFamily="2"/>
                <a:cs typeface="DejaVu Sans" pitchFamily="2"/>
              </a:rPr>
            </a:br>
            <a:endParaRPr lang="en-US" sz="2400" b="1" u="sng" dirty="0">
              <a:latin typeface="Arial" pitchFamily="34"/>
              <a:ea typeface="DejaVu Sans" pitchFamily="2"/>
              <a:cs typeface="DejaVu Sans" pitchFamily="2"/>
            </a:endParaRPr>
          </a:p>
          <a:p>
            <a:pPr marL="0" marR="0" lvl="0" indent="0" rtl="0" hangingPunct="1">
              <a:lnSpc>
                <a:spcPct val="110000"/>
              </a:lnSpc>
              <a:buClr>
                <a:srgbClr val="000000"/>
              </a:buClr>
              <a:buSzPct val="100000"/>
              <a:buAutoNum type="arabicParenR"/>
              <a:tabLst/>
            </a:pPr>
            <a:r>
              <a:rPr lang="en-US" sz="2400" b="1" dirty="0">
                <a:latin typeface="Arial" pitchFamily="34"/>
                <a:ea typeface="DejaVu Sans" pitchFamily="2"/>
                <a:cs typeface="DejaVu Sans" pitchFamily="2"/>
              </a:rPr>
              <a:t> </a:t>
            </a:r>
            <a:r>
              <a:rPr lang="en-US" sz="2400" b="1" u="sng" dirty="0">
                <a:latin typeface="Arial" pitchFamily="34"/>
                <a:ea typeface="DejaVu Sans" pitchFamily="2"/>
                <a:cs typeface="DejaVu Sans" pitchFamily="2"/>
              </a:rPr>
              <a:t>Accelerating</a:t>
            </a:r>
            <a:r>
              <a:rPr lang="en-US" sz="2400" b="1" dirty="0">
                <a:latin typeface="Arial" pitchFamily="34"/>
                <a:ea typeface="DejaVu Sans" pitchFamily="2"/>
                <a:cs typeface="DejaVu Sans" pitchFamily="2"/>
              </a:rPr>
              <a:t> </a:t>
            </a:r>
            <a:r>
              <a:rPr lang="en-US" sz="2400" b="1" dirty="0">
                <a:solidFill>
                  <a:srgbClr val="999999"/>
                </a:solidFill>
                <a:latin typeface="Arial" pitchFamily="34"/>
                <a:ea typeface="DejaVu Sans" pitchFamily="2"/>
                <a:cs typeface="DejaVu Sans" pitchFamily="2"/>
              </a:rPr>
              <a:t>Spatially Varying Gaussian Filters </a:t>
            </a:r>
            <a:br>
              <a:rPr lang="en-US" sz="2400" b="1" dirty="0">
                <a:solidFill>
                  <a:srgbClr val="999999"/>
                </a:solidFill>
                <a:latin typeface="Arial" pitchFamily="34"/>
                <a:ea typeface="DejaVu Sans" pitchFamily="2"/>
                <a:cs typeface="DejaVu Sans" pitchFamily="2"/>
              </a:rPr>
            </a:br>
            <a:endParaRPr lang="en-US" sz="2400" b="1" dirty="0">
              <a:solidFill>
                <a:srgbClr val="999999"/>
              </a:solidFill>
              <a:latin typeface="Arial" pitchFamily="34"/>
              <a:ea typeface="DejaVu Sans" pitchFamily="2"/>
              <a:cs typeface="DejaVu Sans" pitchFamily="2"/>
            </a:endParaRPr>
          </a:p>
          <a:p>
            <a:pPr marL="0" marR="0" lvl="0" indent="0" rtl="0" hangingPunct="1">
              <a:lnSpc>
                <a:spcPct val="110000"/>
              </a:lnSpc>
              <a:buClr>
                <a:srgbClr val="000000"/>
              </a:buClr>
              <a:buSzPct val="100000"/>
              <a:buAutoNum type="arabicParenR"/>
              <a:tabLst/>
            </a:pPr>
            <a:r>
              <a:rPr lang="en-US" sz="2400" b="1" dirty="0">
                <a:latin typeface="Arial" pitchFamily="34"/>
                <a:ea typeface="DejaVu Sans" pitchFamily="2"/>
                <a:cs typeface="DejaVu Sans" pitchFamily="2"/>
              </a:rPr>
              <a:t> </a:t>
            </a:r>
            <a:r>
              <a:rPr lang="en-US" sz="2400" b="1" dirty="0" smtClean="0">
                <a:latin typeface="Arial" pitchFamily="34"/>
                <a:ea typeface="DejaVu Sans" pitchFamily="2"/>
                <a:cs typeface="DejaVu Sans" pitchFamily="2"/>
              </a:rPr>
              <a:t>Applications</a:t>
            </a:r>
            <a:endParaRPr lang="en-US" sz="2400" b="1" baseline="0" dirty="0">
              <a:solidFill>
                <a:srgbClr val="000000"/>
              </a:solidFill>
              <a:latin typeface="Arial" pitchFamily="34"/>
              <a:ea typeface="굴림" pitchFamily="50"/>
              <a:cs typeface="굴림" pitchFamily="50"/>
            </a:endParaRP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rtl="0" hangingPunct="1">
              <a:lnSpc>
                <a:spcPct val="100000"/>
              </a:lnSpc>
              <a:buNone/>
              <a:tabLst/>
            </a:pPr>
            <a:r>
              <a:rPr lang="en-US" sz="3000" b="1">
                <a:solidFill>
                  <a:srgbClr val="FFFFFF"/>
                </a:solidFill>
                <a:latin typeface="Arial" pitchFamily="34"/>
                <a:ea typeface="DejaVu Sans" pitchFamily="2"/>
                <a:cs typeface="DejaVu Sans" pitchFamily="2"/>
              </a:rPr>
              <a:t>  Roadmap</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mc:AlternateContent xmlns:mc="http://schemas.openxmlformats.org/markup-compatibility/2006" xmlns:a14="http://schemas.microsoft.com/office/drawing/2010/main">
        <mc:Choice Requires="a14">
          <p:sp>
            <p:nvSpPr>
              <p:cNvPr id="8" name="Freeform 7"/>
              <p:cNvSpPr/>
              <p:nvPr/>
            </p:nvSpPr>
            <p:spPr>
              <a:xfrm>
                <a:off x="826920" y="1916639"/>
                <a:ext cx="7777440" cy="60234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lvl="0" algn="ctr">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smtClean="0">
                    <a:ln>
                      <a:noFill/>
                    </a:ln>
                    <a:solidFill>
                      <a:srgbClr val="000000"/>
                    </a:solidFill>
                    <a:latin typeface="Arial" pitchFamily="34"/>
                    <a:ea typeface="굴림" pitchFamily="50"/>
                    <a:cs typeface="굴림" pitchFamily="50"/>
                  </a:rPr>
                  <a:t>Given </a:t>
                </a:r>
                <a14:m>
                  <m:oMath xmlns:m="http://schemas.openxmlformats.org/officeDocument/2006/math">
                    <m:d>
                      <m:dPr>
                        <m:ctrlPr>
                          <a:rPr lang="en-US" sz="2800" b="1" i="1">
                            <a:latin typeface="Cambria Math"/>
                          </a:rPr>
                        </m:ctrlPr>
                      </m:dPr>
                      <m:e>
                        <m:r>
                          <a:rPr lang="en-US" sz="2800" b="1" i="1" smtClean="0">
                            <a:latin typeface="Cambria Math"/>
                          </a:rPr>
                          <m:t>𝒑</m:t>
                        </m:r>
                        <m:r>
                          <a:rPr lang="en-US" sz="2800" b="1" i="1" baseline="-25000">
                            <a:latin typeface="Cambria Math"/>
                          </a:rPr>
                          <m:t>𝒊</m:t>
                        </m:r>
                        <m:r>
                          <a:rPr lang="en-US" sz="2800" b="1" i="1">
                            <a:latin typeface="Cambria Math"/>
                          </a:rPr>
                          <m:t>,</m:t>
                        </m:r>
                        <m:r>
                          <a:rPr lang="en-US" sz="2800" b="1" i="1" smtClean="0">
                            <a:latin typeface="Cambria Math"/>
                          </a:rPr>
                          <m:t>𝒗</m:t>
                        </m:r>
                        <m:r>
                          <a:rPr lang="en-US" sz="2800" b="1" i="1" baseline="-25000">
                            <a:latin typeface="Cambria Math"/>
                          </a:rPr>
                          <m:t>𝒊</m:t>
                        </m:r>
                      </m:e>
                    </m:d>
                  </m:oMath>
                </a14:m>
                <a:r>
                  <a:rPr lang="en-US" sz="3000" b="1" i="0" u="none" strike="noStrike" baseline="0" dirty="0" smtClean="0">
                    <a:ln>
                      <a:noFill/>
                    </a:ln>
                    <a:solidFill>
                      <a:srgbClr val="000000"/>
                    </a:solidFill>
                    <a:latin typeface="Arial" pitchFamily="34"/>
                    <a:ea typeface="굴림" pitchFamily="50"/>
                    <a:cs typeface="굴림" pitchFamily="50"/>
                  </a:rPr>
                  <a:t> </a:t>
                </a:r>
                <a:r>
                  <a:rPr lang="en-US" sz="3000" b="1" i="0" u="none" strike="noStrike" baseline="0" dirty="0">
                    <a:ln>
                      <a:noFill/>
                    </a:ln>
                    <a:solidFill>
                      <a:srgbClr val="000000"/>
                    </a:solidFill>
                    <a:latin typeface="Arial" pitchFamily="34"/>
                    <a:ea typeface="굴림" pitchFamily="50"/>
                    <a:cs typeface="굴림" pitchFamily="50"/>
                  </a:rPr>
                  <a:t>pairs as input,</a:t>
                </a:r>
              </a:p>
            </p:txBody>
          </p:sp>
        </mc:Choice>
        <mc:Fallback xmlns="">
          <p:sp>
            <p:nvSpPr>
              <p:cNvPr id="8" name="Freeform 7"/>
              <p:cNvSpPr>
                <a:spLocks noRot="1" noChangeAspect="1" noMove="1" noResize="1" noEditPoints="1" noAdjustHandles="1" noChangeArrowheads="1" noChangeShapeType="1" noTextEdit="1"/>
              </p:cNvSpPr>
              <p:nvPr/>
            </p:nvSpPr>
            <p:spPr>
              <a:xfrm>
                <a:off x="826920" y="1916639"/>
                <a:ext cx="7777440" cy="60234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blipFill rotWithShape="1">
                <a:blip r:embed="rId6"/>
                <a:stretch>
                  <a:fillRect t="-11111" b="-24242"/>
                </a:stretch>
              </a:blipFill>
              <a:ln>
                <a:no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a:spLocks noResize="1"/>
              </p:cNvSpPr>
              <p:nvPr/>
            </p:nvSpPr>
            <p:spPr>
              <a:xfrm>
                <a:off x="1770120" y="2895600"/>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i="0">
                              <a:latin typeface="Cambria Math"/>
                            </a:rPr>
                            <m:t>⋅</m:t>
                          </m:r>
                          <m:r>
                            <m:rPr>
                              <m:sty m:val="p"/>
                            </m:rPr>
                            <a:rPr lang="en-US" sz="3000" i="0">
                              <a:latin typeface="Cambria Math"/>
                            </a:rPr>
                            <m:t>exp</m:t>
                          </m:r>
                          <m:d>
                            <m:dPr>
                              <m:begChr m:val=""/>
                              <m:endChr m:val=""/>
                              <m:ctrlPr>
                                <a:rPr lang="en-US" sz="3000" i="1">
                                  <a:latin typeface="Cambria Math"/>
                                </a:rPr>
                              </m:ctrlPr>
                            </m:dPr>
                            <m:e>
                              <m:d>
                                <m:dPr>
                                  <m:ctrlPr>
                                    <a:rPr lang="en-US" sz="3000" i="1" smtClean="0">
                                      <a:latin typeface="Cambria Math"/>
                                    </a:rPr>
                                  </m:ctrlPr>
                                </m:dPr>
                                <m:e>
                                  <m:f>
                                    <m:fPr>
                                      <m:ctrlPr>
                                        <a:rPr lang="en-US" sz="3000" i="1" smtClean="0">
                                          <a:latin typeface="Cambria Math"/>
                                        </a:rPr>
                                      </m:ctrlPr>
                                    </m:fPr>
                                    <m:num>
                                      <m:r>
                                        <a:rPr lang="en-US" sz="3000" i="0">
                                          <a:latin typeface="Cambria Math"/>
                                        </a:rPr>
                                        <m:t>−</m:t>
                                      </m:r>
                                      <m:sSup>
                                        <m:sSupPr>
                                          <m:ctrlPr>
                                            <a:rPr lang="en-US" sz="3000" i="1">
                                              <a:latin typeface="Cambria Math"/>
                                            </a:rPr>
                                          </m:ctrlPr>
                                        </m:sSupPr>
                                        <m:e>
                                          <m:d>
                                            <m:dPr>
                                              <m:begChr m:val=""/>
                                              <m:endChr m:val=""/>
                                              <m:ctrlPr>
                                                <a:rPr lang="en-US" sz="3000" i="1">
                                                  <a:latin typeface="Cambria Math"/>
                                                </a:rPr>
                                              </m:ctrlPr>
                                            </m:dPr>
                                            <m:e>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i="0">
                                                  <a:latin typeface="Cambria Math"/>
                                                </a:rPr>
                                                <m:t>∥</m:t>
                                              </m:r>
                                            </m:e>
                                          </m:d>
                                        </m:e>
                                        <m:sup>
                                          <m:r>
                                            <a:rPr lang="en-US" sz="3000" i="0">
                                              <a:latin typeface="Cambria Math"/>
                                            </a:rPr>
                                            <m:t>2</m:t>
                                          </m:r>
                                        </m:sup>
                                      </m:sSup>
                                    </m:num>
                                    <m:den>
                                      <m:r>
                                        <a:rPr lang="en-US" sz="3000" i="0">
                                          <a:latin typeface="Cambria Math"/>
                                        </a:rPr>
                                        <m:t>2</m:t>
                                      </m:r>
                                      <m:sSup>
                                        <m:sSupPr>
                                          <m:ctrlPr>
                                            <a:rPr lang="en-US" sz="3000" i="1">
                                              <a:latin typeface="Cambria Math"/>
                                            </a:rPr>
                                          </m:ctrlPr>
                                        </m:sSupPr>
                                        <m:e>
                                          <m:r>
                                            <m:rPr>
                                              <m:sty m:val="p"/>
                                            </m:rPr>
                                            <a:rPr lang="en-US" sz="3000" i="0">
                                              <a:latin typeface="Cambria Math"/>
                                            </a:rPr>
                                            <m:t>σ</m:t>
                                          </m:r>
                                        </m:e>
                                        <m:sup>
                                          <m:r>
                                            <a:rPr lang="en-US" sz="3000" i="0">
                                              <a:latin typeface="Cambria Math"/>
                                            </a:rPr>
                                            <m:t>2</m:t>
                                          </m:r>
                                        </m:sup>
                                      </m:sSup>
                                    </m:den>
                                  </m:f>
                                </m:e>
                              </m:d>
                            </m:e>
                          </m:d>
                        </m:e>
                      </m:nary>
                    </m:oMath>
                  </m:oMathPara>
                </a14:m>
                <a:endParaRPr lang="en-US" sz="3000" i="0" dirty="0">
                  <a:latin typeface="굴림" pitchFamily="5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770120" y="2895600"/>
                <a:ext cx="5603760" cy="1550160"/>
              </a:xfrm>
              <a:prstGeom prst="rect">
                <a:avLst/>
              </a:prstGeom>
              <a:blipFill rotWithShape="1">
                <a:blip r:embed="rId7"/>
                <a:stretch>
                  <a:fillRect/>
                </a:stretch>
              </a:blipFill>
              <a:ln>
                <a:noFill/>
              </a:ln>
            </p:spPr>
            <p:txBody>
              <a:bodyPr/>
              <a:lstStyle/>
              <a:p>
                <a:r>
                  <a:rPr lang="en-US">
                    <a:noFill/>
                  </a:rPr>
                  <a:t> </a:t>
                </a:r>
              </a:p>
            </p:txBody>
          </p:sp>
        </mc:Fallback>
      </mc:AlternateContent>
      <p:grpSp>
        <p:nvGrpSpPr>
          <p:cNvPr id="15" name="Group 14"/>
          <p:cNvGrpSpPr/>
          <p:nvPr/>
        </p:nvGrpSpPr>
        <p:grpSpPr>
          <a:xfrm>
            <a:off x="2514600" y="1424196"/>
            <a:ext cx="3504300" cy="633204"/>
            <a:chOff x="2514600" y="1424196"/>
            <a:chExt cx="3504300" cy="633204"/>
          </a:xfrm>
        </p:grpSpPr>
        <p:sp>
          <p:nvSpPr>
            <p:cNvPr id="6" name="TextBox 5"/>
            <p:cNvSpPr txBox="1"/>
            <p:nvPr/>
          </p:nvSpPr>
          <p:spPr>
            <a:xfrm>
              <a:off x="2514600" y="1424196"/>
              <a:ext cx="1447800" cy="492443"/>
            </a:xfrm>
            <a:prstGeom prst="rect">
              <a:avLst/>
            </a:prstGeom>
            <a:noFill/>
          </p:spPr>
          <p:txBody>
            <a:bodyPr wrap="square" rtlCol="0">
              <a:spAutoFit/>
            </a:bodyPr>
            <a:lstStyle/>
            <a:p>
              <a:r>
                <a:rPr lang="en-US" sz="2600" b="1" dirty="0" smtClean="0">
                  <a:solidFill>
                    <a:srgbClr val="FF0000"/>
                  </a:solidFill>
                </a:rPr>
                <a:t>Position</a:t>
              </a:r>
              <a:endParaRPr lang="en-US" sz="2600" b="1" dirty="0">
                <a:solidFill>
                  <a:srgbClr val="FF0000"/>
                </a:solidFill>
              </a:endParaRPr>
            </a:p>
          </p:txBody>
        </p:sp>
        <p:sp>
          <p:nvSpPr>
            <p:cNvPr id="9" name="TextBox 8"/>
            <p:cNvSpPr txBox="1"/>
            <p:nvPr/>
          </p:nvSpPr>
          <p:spPr>
            <a:xfrm>
              <a:off x="4571100" y="1443297"/>
              <a:ext cx="1447800" cy="492443"/>
            </a:xfrm>
            <a:prstGeom prst="rect">
              <a:avLst/>
            </a:prstGeom>
            <a:noFill/>
          </p:spPr>
          <p:txBody>
            <a:bodyPr wrap="square" rtlCol="0">
              <a:spAutoFit/>
            </a:bodyPr>
            <a:lstStyle/>
            <a:p>
              <a:r>
                <a:rPr lang="en-US" sz="2600" b="1" dirty="0" smtClean="0">
                  <a:solidFill>
                    <a:srgbClr val="FF0000"/>
                  </a:solidFill>
                </a:rPr>
                <a:t>Value</a:t>
              </a:r>
              <a:endParaRPr lang="en-US" sz="2600" b="1" dirty="0">
                <a:solidFill>
                  <a:srgbClr val="FF0000"/>
                </a:solidFill>
              </a:endParaRPr>
            </a:p>
          </p:txBody>
        </p:sp>
        <p:cxnSp>
          <p:nvCxnSpPr>
            <p:cNvPr id="11" name="Straight Arrow Connector 10"/>
            <p:cNvCxnSpPr>
              <a:stCxn id="6" idx="2"/>
            </p:cNvCxnSpPr>
            <p:nvPr/>
          </p:nvCxnSpPr>
          <p:spPr>
            <a:xfrm>
              <a:off x="3238500" y="1916639"/>
              <a:ext cx="495300" cy="140761"/>
            </a:xfrm>
            <a:prstGeom prst="straightConnector1">
              <a:avLst/>
            </a:prstGeom>
            <a:ln w="5080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4267200" y="1916638"/>
              <a:ext cx="780150" cy="140762"/>
            </a:xfrm>
            <a:prstGeom prst="straightConnector1">
              <a:avLst/>
            </a:prstGeom>
            <a:ln w="50800">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8" name="Freeform 7"/>
          <p:cNvSpPr/>
          <p:nvPr/>
        </p:nvSpPr>
        <p:spPr>
          <a:xfrm>
            <a:off x="826920" y="1916639"/>
            <a:ext cx="7777440" cy="5629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lvl="0" algn="ctr">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smtClean="0">
                <a:ln>
                  <a:noFill/>
                </a:ln>
                <a:solidFill>
                  <a:srgbClr val="000000"/>
                </a:solidFill>
                <a:latin typeface="Arial" pitchFamily="34"/>
                <a:ea typeface="굴림" pitchFamily="50"/>
                <a:cs typeface="굴림" pitchFamily="50"/>
              </a:rPr>
              <a:t>Each output value …</a:t>
            </a:r>
            <a:endParaRPr lang="en-US" sz="3000" b="1" i="0" u="none" strike="noStrike" baseline="0" dirty="0">
              <a:ln>
                <a:noFill/>
              </a:ln>
              <a:solidFill>
                <a:srgbClr val="000000"/>
              </a:solidFill>
              <a:latin typeface="Arial" pitchFamily="34"/>
              <a:ea typeface="굴림" pitchFamily="50"/>
              <a:cs typeface="굴림" pitchFamily="50"/>
            </a:endParaRPr>
          </a:p>
        </p:txBody>
      </p:sp>
      <mc:AlternateContent xmlns:mc="http://schemas.openxmlformats.org/markup-compatibility/2006" xmlns:a14="http://schemas.microsoft.com/office/drawing/2010/main">
        <mc:Choice Requires="a14">
          <p:sp>
            <p:nvSpPr>
              <p:cNvPr id="10" name="TextBox 9"/>
              <p:cNvSpPr txBox="1">
                <a:spLocks noResize="1"/>
              </p:cNvSpPr>
              <p:nvPr/>
            </p:nvSpPr>
            <p:spPr>
              <a:xfrm>
                <a:off x="1770120" y="2895600"/>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i="0">
                              <a:latin typeface="Cambria Math"/>
                            </a:rPr>
                            <m:t>⋅</m:t>
                          </m:r>
                          <m:r>
                            <m:rPr>
                              <m:sty m:val="p"/>
                            </m:rPr>
                            <a:rPr lang="en-US" sz="3000" i="0">
                              <a:latin typeface="Cambria Math"/>
                            </a:rPr>
                            <m:t>exp</m:t>
                          </m:r>
                          <m:d>
                            <m:dPr>
                              <m:begChr m:val=""/>
                              <m:endChr m:val=""/>
                              <m:ctrlPr>
                                <a:rPr lang="en-US" sz="3000" i="1">
                                  <a:latin typeface="Cambria Math"/>
                                </a:rPr>
                              </m:ctrlPr>
                            </m:dPr>
                            <m:e>
                              <m:d>
                                <m:dPr>
                                  <m:ctrlPr>
                                    <a:rPr lang="en-US" sz="3000" i="1" smtClean="0">
                                      <a:latin typeface="Cambria Math"/>
                                    </a:rPr>
                                  </m:ctrlPr>
                                </m:dPr>
                                <m:e>
                                  <m:f>
                                    <m:fPr>
                                      <m:ctrlPr>
                                        <a:rPr lang="en-US" sz="3000" i="1" smtClean="0">
                                          <a:latin typeface="Cambria Math"/>
                                        </a:rPr>
                                      </m:ctrlPr>
                                    </m:fPr>
                                    <m:num>
                                      <m:r>
                                        <a:rPr lang="en-US" sz="3000" i="0">
                                          <a:latin typeface="Cambria Math"/>
                                        </a:rPr>
                                        <m:t>−</m:t>
                                      </m:r>
                                      <m:sSup>
                                        <m:sSupPr>
                                          <m:ctrlPr>
                                            <a:rPr lang="en-US" sz="3000" i="1">
                                              <a:latin typeface="Cambria Math"/>
                                            </a:rPr>
                                          </m:ctrlPr>
                                        </m:sSupPr>
                                        <m:e>
                                          <m:d>
                                            <m:dPr>
                                              <m:begChr m:val=""/>
                                              <m:endChr m:val=""/>
                                              <m:ctrlPr>
                                                <a:rPr lang="en-US" sz="3000" i="1">
                                                  <a:latin typeface="Cambria Math"/>
                                                </a:rPr>
                                              </m:ctrlPr>
                                            </m:dPr>
                                            <m:e>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i="0">
                                                  <a:latin typeface="Cambria Math"/>
                                                </a:rPr>
                                                <m:t>∥</m:t>
                                              </m:r>
                                            </m:e>
                                          </m:d>
                                        </m:e>
                                        <m:sup>
                                          <m:r>
                                            <a:rPr lang="en-US" sz="3000" i="0">
                                              <a:latin typeface="Cambria Math"/>
                                            </a:rPr>
                                            <m:t>2</m:t>
                                          </m:r>
                                        </m:sup>
                                      </m:sSup>
                                    </m:num>
                                    <m:den>
                                      <m:r>
                                        <a:rPr lang="en-US" sz="3000" i="0">
                                          <a:latin typeface="Cambria Math"/>
                                        </a:rPr>
                                        <m:t>2</m:t>
                                      </m:r>
                                      <m:sSup>
                                        <m:sSupPr>
                                          <m:ctrlPr>
                                            <a:rPr lang="en-US" sz="3000" i="1">
                                              <a:latin typeface="Cambria Math"/>
                                            </a:rPr>
                                          </m:ctrlPr>
                                        </m:sSupPr>
                                        <m:e>
                                          <m:r>
                                            <m:rPr>
                                              <m:sty m:val="p"/>
                                            </m:rPr>
                                            <a:rPr lang="en-US" sz="3000" i="0">
                                              <a:latin typeface="Cambria Math"/>
                                            </a:rPr>
                                            <m:t>σ</m:t>
                                          </m:r>
                                        </m:e>
                                        <m:sup>
                                          <m:r>
                                            <a:rPr lang="en-US" sz="3000" i="0">
                                              <a:latin typeface="Cambria Math"/>
                                            </a:rPr>
                                            <m:t>2</m:t>
                                          </m:r>
                                        </m:sup>
                                      </m:sSup>
                                    </m:den>
                                  </m:f>
                                </m:e>
                              </m:d>
                            </m:e>
                          </m:d>
                        </m:e>
                      </m:nary>
                    </m:oMath>
                  </m:oMathPara>
                </a14:m>
                <a:endParaRPr lang="en-US" sz="3000" i="0" dirty="0">
                  <a:latin typeface="굴림" pitchFamily="5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770120" y="2895600"/>
                <a:ext cx="5603760" cy="1550160"/>
              </a:xfrm>
              <a:prstGeom prst="rect">
                <a:avLst/>
              </a:prstGeom>
              <a:blipFill rotWithShape="1">
                <a:blip r:embed="rId6"/>
                <a:stretch>
                  <a:fillRect/>
                </a:stretch>
              </a:blipFill>
              <a:ln>
                <a:noFill/>
              </a:ln>
            </p:spPr>
            <p:txBody>
              <a:bodyPr/>
              <a:lstStyle/>
              <a:p>
                <a:r>
                  <a:rPr lang="en-US">
                    <a:noFill/>
                  </a:rPr>
                  <a:t> </a:t>
                </a:r>
              </a:p>
            </p:txBody>
          </p:sp>
        </mc:Fallback>
      </mc:AlternateContent>
      <p:sp>
        <p:nvSpPr>
          <p:cNvPr id="9" name="Freeform 8"/>
          <p:cNvSpPr/>
          <p:nvPr/>
        </p:nvSpPr>
        <p:spPr>
          <a:xfrm>
            <a:off x="1876838" y="4038600"/>
            <a:ext cx="457200" cy="1143000"/>
          </a:xfrm>
          <a:custGeom>
            <a:avLst>
              <a:gd name="f0" fmla="val 9351"/>
              <a:gd name="f1" fmla="val 6933"/>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DC2300"/>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1" name="Freeform 10"/>
          <p:cNvSpPr/>
          <p:nvPr/>
        </p:nvSpPr>
        <p:spPr>
          <a:xfrm>
            <a:off x="1807989" y="3048000"/>
            <a:ext cx="594899" cy="990600"/>
          </a:xfrm>
          <a:custGeom>
            <a:avLst>
              <a:gd name="f0" fmla="val 2000"/>
            </a:avLst>
            <a:gdLst>
              <a:gd name="f1" fmla="val 10800000"/>
              <a:gd name="f2" fmla="val 5400000"/>
              <a:gd name="f3" fmla="val 180"/>
              <a:gd name="f4" fmla="val w"/>
              <a:gd name="f5" fmla="val h"/>
              <a:gd name="f6" fmla="val ss"/>
              <a:gd name="f7" fmla="val 0"/>
              <a:gd name="f8" fmla="val -2147483647"/>
              <a:gd name="f9" fmla="val 2147483647"/>
              <a:gd name="f10" fmla="val 10800"/>
              <a:gd name="f11" fmla="+- 0 0 0"/>
              <a:gd name="f12" fmla="abs f4"/>
              <a:gd name="f13" fmla="abs f5"/>
              <a:gd name="f14" fmla="abs f6"/>
              <a:gd name="f15" fmla="val f7"/>
              <a:gd name="f16" fmla="pin 0 f0 10800"/>
              <a:gd name="f17" fmla="*/ f11 f1 1"/>
              <a:gd name="f18" fmla="?: f12 f4 1"/>
              <a:gd name="f19" fmla="?: f13 f5 1"/>
              <a:gd name="f20" fmla="?: f14 f6 1"/>
              <a:gd name="f21" fmla="+- f7 f16 0"/>
              <a:gd name="f22" fmla="*/ f17 1 f3"/>
              <a:gd name="f23" fmla="*/ f18 1 21600"/>
              <a:gd name="f24" fmla="*/ f19 1 21600"/>
              <a:gd name="f25" fmla="*/ 21600 f18 1"/>
              <a:gd name="f26" fmla="*/ 21600 f19 1"/>
              <a:gd name="f27" fmla="+- f22 0 f2"/>
              <a:gd name="f28" fmla="min f24 f23"/>
              <a:gd name="f29" fmla="*/ f25 1 f20"/>
              <a:gd name="f30" fmla="*/ f26 1 f20"/>
              <a:gd name="f31" fmla="val f29"/>
              <a:gd name="f32" fmla="val f30"/>
              <a:gd name="f33" fmla="+- f29 0 f16"/>
              <a:gd name="f34" fmla="+- f30 0 f16"/>
              <a:gd name="f35" fmla="*/ f7 f28 1"/>
              <a:gd name="f36" fmla="*/ f16 f28 1"/>
              <a:gd name="f37" fmla="*/ f21 f28 1"/>
              <a:gd name="f38" fmla="*/ f15 f28 1"/>
              <a:gd name="f39" fmla="*/ f33 f28 1"/>
              <a:gd name="f40" fmla="*/ f34 f28 1"/>
              <a:gd name="f41" fmla="*/ f31 f28 1"/>
              <a:gd name="f42" fmla="*/ f32 f28 1"/>
              <a:gd name="f43" fmla="*/ f38 f28 1"/>
              <a:gd name="f44" fmla="*/ f37 f28 1"/>
              <a:gd name="f45" fmla="*/ f41 f28 1"/>
              <a:gd name="f46" fmla="*/ f42 f28 1"/>
              <a:gd name="f47" fmla="*/ f39 f28 1"/>
              <a:gd name="f48" fmla="*/ f40 f28 1"/>
            </a:gdLst>
            <a:ahLst>
              <a:ahXY gdRefY="f0" minY="f7" maxY="f10">
                <a:pos x="f35" y="f36"/>
              </a:ahXY>
            </a:ahLst>
            <a:cxnLst>
              <a:cxn ang="3cd4">
                <a:pos x="hc" y="t"/>
              </a:cxn>
              <a:cxn ang="0">
                <a:pos x="r" y="vc"/>
              </a:cxn>
              <a:cxn ang="cd4">
                <a:pos x="hc" y="b"/>
              </a:cxn>
              <a:cxn ang="cd2">
                <a:pos x="l" y="vc"/>
              </a:cxn>
              <a:cxn ang="f27">
                <a:pos x="f43" y="f43"/>
              </a:cxn>
              <a:cxn ang="f27">
                <a:pos x="f45" y="f43"/>
              </a:cxn>
              <a:cxn ang="f27">
                <a:pos x="f45" y="f46"/>
              </a:cxn>
              <a:cxn ang="f27">
                <a:pos x="f43" y="f46"/>
              </a:cxn>
              <a:cxn ang="f27">
                <a:pos x="f44" y="f44"/>
              </a:cxn>
              <a:cxn ang="f27">
                <a:pos x="f47" y="f44"/>
              </a:cxn>
              <a:cxn ang="f27">
                <a:pos x="f47" y="f48"/>
              </a:cxn>
              <a:cxn ang="f27">
                <a:pos x="f44" y="f48"/>
              </a:cxn>
            </a:cxnLst>
            <a:rect l="f37" t="f37" r="f39" b="f40"/>
            <a:pathLst>
              <a:path>
                <a:moveTo>
                  <a:pt x="f38" y="f38"/>
                </a:moveTo>
                <a:lnTo>
                  <a:pt x="f41" y="f38"/>
                </a:lnTo>
                <a:lnTo>
                  <a:pt x="f41" y="f42"/>
                </a:lnTo>
                <a:lnTo>
                  <a:pt x="f38" y="f42"/>
                </a:lnTo>
                <a:close/>
                <a:moveTo>
                  <a:pt x="f37" y="f37"/>
                </a:moveTo>
                <a:lnTo>
                  <a:pt x="f39" y="f37"/>
                </a:lnTo>
                <a:lnTo>
                  <a:pt x="f39" y="f40"/>
                </a:lnTo>
                <a:lnTo>
                  <a:pt x="f37" y="f40"/>
                </a:lnTo>
                <a:close/>
              </a:path>
            </a:pathLst>
          </a:custGeom>
          <a:solidFill>
            <a:srgbClr val="DC2300"/>
          </a:solidFill>
          <a:ln w="0">
            <a:solidFill>
              <a:srgbClr val="000000"/>
            </a:solidFill>
            <a:prstDash val="solid"/>
          </a:ln>
        </p:spPr>
        <p:txBody>
          <a:bodyPr vert="horz" wrap="none" lIns="90000" tIns="45000" rIns="90000" bIns="4500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Tree>
    <p:extLst>
      <p:ext uri="{BB962C8B-B14F-4D97-AF65-F5344CB8AC3E}">
        <p14:creationId xmlns:p14="http://schemas.microsoft.com/office/powerpoint/2010/main" val="26920698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8" name="Freeform 7"/>
          <p:cNvSpPr/>
          <p:nvPr/>
        </p:nvSpPr>
        <p:spPr>
          <a:xfrm>
            <a:off x="826920" y="1916639"/>
            <a:ext cx="7777440" cy="5629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lvl="0" algn="ctr">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smtClean="0">
                <a:ln>
                  <a:noFill/>
                </a:ln>
                <a:solidFill>
                  <a:srgbClr val="000000"/>
                </a:solidFill>
                <a:latin typeface="Arial" pitchFamily="34"/>
                <a:ea typeface="굴림" pitchFamily="50"/>
                <a:cs typeface="굴림" pitchFamily="50"/>
              </a:rPr>
              <a:t>… is a weighted</a:t>
            </a:r>
            <a:r>
              <a:rPr lang="en-US" sz="3000" b="1" i="0" u="none" strike="noStrike" dirty="0" smtClean="0">
                <a:ln>
                  <a:noFill/>
                </a:ln>
                <a:solidFill>
                  <a:srgbClr val="000000"/>
                </a:solidFill>
                <a:latin typeface="Arial" pitchFamily="34"/>
                <a:ea typeface="굴림" pitchFamily="50"/>
                <a:cs typeface="굴림" pitchFamily="50"/>
              </a:rPr>
              <a:t> sum of input values …</a:t>
            </a:r>
            <a:endParaRPr lang="en-US" sz="3000" b="1" i="0" u="none" strike="noStrike" baseline="0" dirty="0">
              <a:ln>
                <a:noFill/>
              </a:ln>
              <a:solidFill>
                <a:srgbClr val="000000"/>
              </a:solidFill>
              <a:latin typeface="Arial" pitchFamily="34"/>
              <a:ea typeface="굴림" pitchFamily="50"/>
              <a:cs typeface="굴림" pitchFamily="50"/>
            </a:endParaRPr>
          </a:p>
        </p:txBody>
      </p:sp>
      <mc:AlternateContent xmlns:mc="http://schemas.openxmlformats.org/markup-compatibility/2006" xmlns:a14="http://schemas.microsoft.com/office/drawing/2010/main">
        <mc:Choice Requires="a14">
          <p:sp>
            <p:nvSpPr>
              <p:cNvPr id="10" name="TextBox 9"/>
              <p:cNvSpPr txBox="1">
                <a:spLocks noResize="1"/>
              </p:cNvSpPr>
              <p:nvPr/>
            </p:nvSpPr>
            <p:spPr>
              <a:xfrm>
                <a:off x="1770120" y="2895600"/>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i="0">
                              <a:latin typeface="Cambria Math"/>
                            </a:rPr>
                            <m:t>⋅</m:t>
                          </m:r>
                          <m:r>
                            <m:rPr>
                              <m:sty m:val="p"/>
                            </m:rPr>
                            <a:rPr lang="en-US" sz="3000" i="0">
                              <a:latin typeface="Cambria Math"/>
                            </a:rPr>
                            <m:t>exp</m:t>
                          </m:r>
                          <m:d>
                            <m:dPr>
                              <m:begChr m:val=""/>
                              <m:endChr m:val=""/>
                              <m:ctrlPr>
                                <a:rPr lang="en-US" sz="3000" i="1">
                                  <a:latin typeface="Cambria Math"/>
                                </a:rPr>
                              </m:ctrlPr>
                            </m:dPr>
                            <m:e>
                              <m:d>
                                <m:dPr>
                                  <m:ctrlPr>
                                    <a:rPr lang="en-US" sz="3000" i="1" smtClean="0">
                                      <a:latin typeface="Cambria Math"/>
                                    </a:rPr>
                                  </m:ctrlPr>
                                </m:dPr>
                                <m:e>
                                  <m:f>
                                    <m:fPr>
                                      <m:ctrlPr>
                                        <a:rPr lang="en-US" sz="3000" i="1" smtClean="0">
                                          <a:latin typeface="Cambria Math"/>
                                        </a:rPr>
                                      </m:ctrlPr>
                                    </m:fPr>
                                    <m:num>
                                      <m:r>
                                        <a:rPr lang="en-US" sz="3000" i="0">
                                          <a:latin typeface="Cambria Math"/>
                                        </a:rPr>
                                        <m:t>−</m:t>
                                      </m:r>
                                      <m:sSup>
                                        <m:sSupPr>
                                          <m:ctrlPr>
                                            <a:rPr lang="en-US" sz="3000" i="1">
                                              <a:latin typeface="Cambria Math"/>
                                            </a:rPr>
                                          </m:ctrlPr>
                                        </m:sSupPr>
                                        <m:e>
                                          <m:d>
                                            <m:dPr>
                                              <m:begChr m:val=""/>
                                              <m:endChr m:val=""/>
                                              <m:ctrlPr>
                                                <a:rPr lang="en-US" sz="3000" i="1">
                                                  <a:latin typeface="Cambria Math"/>
                                                </a:rPr>
                                              </m:ctrlPr>
                                            </m:dPr>
                                            <m:e>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i="0">
                                                  <a:latin typeface="Cambria Math"/>
                                                </a:rPr>
                                                <m:t>∥</m:t>
                                              </m:r>
                                            </m:e>
                                          </m:d>
                                        </m:e>
                                        <m:sup>
                                          <m:r>
                                            <a:rPr lang="en-US" sz="3000" i="0">
                                              <a:latin typeface="Cambria Math"/>
                                            </a:rPr>
                                            <m:t>2</m:t>
                                          </m:r>
                                        </m:sup>
                                      </m:sSup>
                                    </m:num>
                                    <m:den>
                                      <m:r>
                                        <a:rPr lang="en-US" sz="3000" i="0">
                                          <a:latin typeface="Cambria Math"/>
                                        </a:rPr>
                                        <m:t>2</m:t>
                                      </m:r>
                                      <m:sSup>
                                        <m:sSupPr>
                                          <m:ctrlPr>
                                            <a:rPr lang="en-US" sz="3000" i="1">
                                              <a:latin typeface="Cambria Math"/>
                                            </a:rPr>
                                          </m:ctrlPr>
                                        </m:sSupPr>
                                        <m:e>
                                          <m:r>
                                            <m:rPr>
                                              <m:sty m:val="p"/>
                                            </m:rPr>
                                            <a:rPr lang="en-US" sz="3000" i="0">
                                              <a:latin typeface="Cambria Math"/>
                                            </a:rPr>
                                            <m:t>σ</m:t>
                                          </m:r>
                                        </m:e>
                                        <m:sup>
                                          <m:r>
                                            <a:rPr lang="en-US" sz="3000" i="0">
                                              <a:latin typeface="Cambria Math"/>
                                            </a:rPr>
                                            <m:t>2</m:t>
                                          </m:r>
                                        </m:sup>
                                      </m:sSup>
                                    </m:den>
                                  </m:f>
                                </m:e>
                              </m:d>
                            </m:e>
                          </m:d>
                        </m:e>
                      </m:nary>
                    </m:oMath>
                  </m:oMathPara>
                </a14:m>
                <a:endParaRPr lang="en-US" sz="3000" i="0" dirty="0">
                  <a:latin typeface="굴림" pitchFamily="5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770120" y="2895600"/>
                <a:ext cx="5603760" cy="1550160"/>
              </a:xfrm>
              <a:prstGeom prst="rect">
                <a:avLst/>
              </a:prstGeom>
              <a:blipFill rotWithShape="1">
                <a:blip r:embed="rId6"/>
                <a:stretch>
                  <a:fillRect/>
                </a:stretch>
              </a:blipFill>
              <a:ln>
                <a:noFill/>
              </a:ln>
            </p:spPr>
            <p:txBody>
              <a:bodyPr/>
              <a:lstStyle/>
              <a:p>
                <a:r>
                  <a:rPr lang="en-US">
                    <a:noFill/>
                  </a:rPr>
                  <a:t> </a:t>
                </a:r>
              </a:p>
            </p:txBody>
          </p:sp>
        </mc:Fallback>
      </mc:AlternateContent>
      <p:sp>
        <p:nvSpPr>
          <p:cNvPr id="9" name="Freeform 8"/>
          <p:cNvSpPr/>
          <p:nvPr/>
        </p:nvSpPr>
        <p:spPr>
          <a:xfrm>
            <a:off x="3001022" y="4304580"/>
            <a:ext cx="457200" cy="1143000"/>
          </a:xfrm>
          <a:custGeom>
            <a:avLst>
              <a:gd name="f0" fmla="val 9351"/>
              <a:gd name="f1" fmla="val 6933"/>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DC2300"/>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1" name="Freeform 10"/>
          <p:cNvSpPr/>
          <p:nvPr/>
        </p:nvSpPr>
        <p:spPr>
          <a:xfrm>
            <a:off x="2658122" y="2895600"/>
            <a:ext cx="1143000" cy="1408980"/>
          </a:xfrm>
          <a:custGeom>
            <a:avLst>
              <a:gd name="f0" fmla="val 2000"/>
            </a:avLst>
            <a:gdLst>
              <a:gd name="f1" fmla="val 10800000"/>
              <a:gd name="f2" fmla="val 5400000"/>
              <a:gd name="f3" fmla="val 180"/>
              <a:gd name="f4" fmla="val w"/>
              <a:gd name="f5" fmla="val h"/>
              <a:gd name="f6" fmla="val ss"/>
              <a:gd name="f7" fmla="val 0"/>
              <a:gd name="f8" fmla="val -2147483647"/>
              <a:gd name="f9" fmla="val 2147483647"/>
              <a:gd name="f10" fmla="val 10800"/>
              <a:gd name="f11" fmla="+- 0 0 0"/>
              <a:gd name="f12" fmla="abs f4"/>
              <a:gd name="f13" fmla="abs f5"/>
              <a:gd name="f14" fmla="abs f6"/>
              <a:gd name="f15" fmla="val f7"/>
              <a:gd name="f16" fmla="pin 0 f0 10800"/>
              <a:gd name="f17" fmla="*/ f11 f1 1"/>
              <a:gd name="f18" fmla="?: f12 f4 1"/>
              <a:gd name="f19" fmla="?: f13 f5 1"/>
              <a:gd name="f20" fmla="?: f14 f6 1"/>
              <a:gd name="f21" fmla="+- f7 f16 0"/>
              <a:gd name="f22" fmla="*/ f17 1 f3"/>
              <a:gd name="f23" fmla="*/ f18 1 21600"/>
              <a:gd name="f24" fmla="*/ f19 1 21600"/>
              <a:gd name="f25" fmla="*/ 21600 f18 1"/>
              <a:gd name="f26" fmla="*/ 21600 f19 1"/>
              <a:gd name="f27" fmla="+- f22 0 f2"/>
              <a:gd name="f28" fmla="min f24 f23"/>
              <a:gd name="f29" fmla="*/ f25 1 f20"/>
              <a:gd name="f30" fmla="*/ f26 1 f20"/>
              <a:gd name="f31" fmla="val f29"/>
              <a:gd name="f32" fmla="val f30"/>
              <a:gd name="f33" fmla="+- f29 0 f16"/>
              <a:gd name="f34" fmla="+- f30 0 f16"/>
              <a:gd name="f35" fmla="*/ f7 f28 1"/>
              <a:gd name="f36" fmla="*/ f16 f28 1"/>
              <a:gd name="f37" fmla="*/ f21 f28 1"/>
              <a:gd name="f38" fmla="*/ f15 f28 1"/>
              <a:gd name="f39" fmla="*/ f33 f28 1"/>
              <a:gd name="f40" fmla="*/ f34 f28 1"/>
              <a:gd name="f41" fmla="*/ f31 f28 1"/>
              <a:gd name="f42" fmla="*/ f32 f28 1"/>
              <a:gd name="f43" fmla="*/ f38 f28 1"/>
              <a:gd name="f44" fmla="*/ f37 f28 1"/>
              <a:gd name="f45" fmla="*/ f41 f28 1"/>
              <a:gd name="f46" fmla="*/ f42 f28 1"/>
              <a:gd name="f47" fmla="*/ f39 f28 1"/>
              <a:gd name="f48" fmla="*/ f40 f28 1"/>
            </a:gdLst>
            <a:ahLst>
              <a:ahXY gdRefY="f0" minY="f7" maxY="f10">
                <a:pos x="f35" y="f36"/>
              </a:ahXY>
            </a:ahLst>
            <a:cxnLst>
              <a:cxn ang="3cd4">
                <a:pos x="hc" y="t"/>
              </a:cxn>
              <a:cxn ang="0">
                <a:pos x="r" y="vc"/>
              </a:cxn>
              <a:cxn ang="cd4">
                <a:pos x="hc" y="b"/>
              </a:cxn>
              <a:cxn ang="cd2">
                <a:pos x="l" y="vc"/>
              </a:cxn>
              <a:cxn ang="f27">
                <a:pos x="f43" y="f43"/>
              </a:cxn>
              <a:cxn ang="f27">
                <a:pos x="f45" y="f43"/>
              </a:cxn>
              <a:cxn ang="f27">
                <a:pos x="f45" y="f46"/>
              </a:cxn>
              <a:cxn ang="f27">
                <a:pos x="f43" y="f46"/>
              </a:cxn>
              <a:cxn ang="f27">
                <a:pos x="f44" y="f44"/>
              </a:cxn>
              <a:cxn ang="f27">
                <a:pos x="f47" y="f44"/>
              </a:cxn>
              <a:cxn ang="f27">
                <a:pos x="f47" y="f48"/>
              </a:cxn>
              <a:cxn ang="f27">
                <a:pos x="f44" y="f48"/>
              </a:cxn>
            </a:cxnLst>
            <a:rect l="f37" t="f37" r="f39" b="f40"/>
            <a:pathLst>
              <a:path>
                <a:moveTo>
                  <a:pt x="f38" y="f38"/>
                </a:moveTo>
                <a:lnTo>
                  <a:pt x="f41" y="f38"/>
                </a:lnTo>
                <a:lnTo>
                  <a:pt x="f41" y="f42"/>
                </a:lnTo>
                <a:lnTo>
                  <a:pt x="f38" y="f42"/>
                </a:lnTo>
                <a:close/>
                <a:moveTo>
                  <a:pt x="f37" y="f37"/>
                </a:moveTo>
                <a:lnTo>
                  <a:pt x="f39" y="f37"/>
                </a:lnTo>
                <a:lnTo>
                  <a:pt x="f39" y="f40"/>
                </a:lnTo>
                <a:lnTo>
                  <a:pt x="f37" y="f40"/>
                </a:lnTo>
                <a:close/>
              </a:path>
            </a:pathLst>
          </a:custGeom>
          <a:solidFill>
            <a:srgbClr val="DC2300"/>
          </a:solidFill>
          <a:ln w="0">
            <a:solidFill>
              <a:srgbClr val="000000"/>
            </a:solidFill>
            <a:prstDash val="solid"/>
          </a:ln>
        </p:spPr>
        <p:txBody>
          <a:bodyPr vert="horz" wrap="none" lIns="90000" tIns="45000" rIns="90000" bIns="4500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Tree>
    <p:extLst>
      <p:ext uri="{BB962C8B-B14F-4D97-AF65-F5344CB8AC3E}">
        <p14:creationId xmlns:p14="http://schemas.microsoft.com/office/powerpoint/2010/main" val="2960342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8" name="Freeform 7"/>
          <p:cNvSpPr/>
          <p:nvPr/>
        </p:nvSpPr>
        <p:spPr>
          <a:xfrm>
            <a:off x="826920" y="1916639"/>
            <a:ext cx="7777440" cy="56291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lvl="0" algn="ctr">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smtClean="0">
                <a:ln>
                  <a:noFill/>
                </a:ln>
                <a:solidFill>
                  <a:srgbClr val="000000"/>
                </a:solidFill>
                <a:latin typeface="Arial" pitchFamily="34"/>
                <a:ea typeface="굴림" pitchFamily="50"/>
                <a:cs typeface="굴림" pitchFamily="50"/>
              </a:rPr>
              <a:t>… whose weight is a</a:t>
            </a:r>
            <a:r>
              <a:rPr lang="en-US" sz="3000" b="1" i="0" u="none" strike="noStrike" dirty="0" smtClean="0">
                <a:ln>
                  <a:noFill/>
                </a:ln>
                <a:solidFill>
                  <a:srgbClr val="000000"/>
                </a:solidFill>
                <a:latin typeface="Arial" pitchFamily="34"/>
                <a:ea typeface="굴림" pitchFamily="50"/>
                <a:cs typeface="굴림" pitchFamily="50"/>
              </a:rPr>
              <a:t> Gaussian …</a:t>
            </a:r>
            <a:endParaRPr lang="en-US" sz="3000" b="1" i="0" u="none" strike="noStrike" baseline="0" dirty="0">
              <a:ln>
                <a:noFill/>
              </a:ln>
              <a:solidFill>
                <a:srgbClr val="000000"/>
              </a:solidFill>
              <a:latin typeface="Arial" pitchFamily="34"/>
              <a:ea typeface="굴림" pitchFamily="50"/>
              <a:cs typeface="굴림" pitchFamily="50"/>
            </a:endParaRPr>
          </a:p>
        </p:txBody>
      </p:sp>
      <mc:AlternateContent xmlns:mc="http://schemas.openxmlformats.org/markup-compatibility/2006" xmlns:a14="http://schemas.microsoft.com/office/drawing/2010/main">
        <mc:Choice Requires="a14">
          <p:sp>
            <p:nvSpPr>
              <p:cNvPr id="10" name="TextBox 9"/>
              <p:cNvSpPr txBox="1">
                <a:spLocks noResize="1"/>
              </p:cNvSpPr>
              <p:nvPr/>
            </p:nvSpPr>
            <p:spPr>
              <a:xfrm>
                <a:off x="1770120" y="2895600"/>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i="0">
                              <a:latin typeface="Cambria Math"/>
                            </a:rPr>
                            <m:t>⋅</m:t>
                          </m:r>
                          <m:r>
                            <m:rPr>
                              <m:sty m:val="p"/>
                            </m:rPr>
                            <a:rPr lang="en-US" sz="3000" i="0">
                              <a:latin typeface="Cambria Math"/>
                            </a:rPr>
                            <m:t>exp</m:t>
                          </m:r>
                          <m:d>
                            <m:dPr>
                              <m:begChr m:val=""/>
                              <m:endChr m:val=""/>
                              <m:ctrlPr>
                                <a:rPr lang="en-US" sz="3000" i="1">
                                  <a:latin typeface="Cambria Math"/>
                                </a:rPr>
                              </m:ctrlPr>
                            </m:dPr>
                            <m:e>
                              <m:d>
                                <m:dPr>
                                  <m:ctrlPr>
                                    <a:rPr lang="en-US" sz="3000" i="1" smtClean="0">
                                      <a:latin typeface="Cambria Math"/>
                                    </a:rPr>
                                  </m:ctrlPr>
                                </m:dPr>
                                <m:e>
                                  <m:f>
                                    <m:fPr>
                                      <m:ctrlPr>
                                        <a:rPr lang="en-US" sz="3000" i="1" smtClean="0">
                                          <a:latin typeface="Cambria Math"/>
                                        </a:rPr>
                                      </m:ctrlPr>
                                    </m:fPr>
                                    <m:num>
                                      <m:r>
                                        <a:rPr lang="en-US" sz="3000" i="0">
                                          <a:latin typeface="Cambria Math"/>
                                        </a:rPr>
                                        <m:t>−</m:t>
                                      </m:r>
                                      <m:sSup>
                                        <m:sSupPr>
                                          <m:ctrlPr>
                                            <a:rPr lang="en-US" sz="3000" i="1">
                                              <a:latin typeface="Cambria Math"/>
                                            </a:rPr>
                                          </m:ctrlPr>
                                        </m:sSupPr>
                                        <m:e>
                                          <m:d>
                                            <m:dPr>
                                              <m:begChr m:val=""/>
                                              <m:endChr m:val=""/>
                                              <m:ctrlPr>
                                                <a:rPr lang="en-US" sz="3000" i="1">
                                                  <a:latin typeface="Cambria Math"/>
                                                </a:rPr>
                                              </m:ctrlPr>
                                            </m:dPr>
                                            <m:e>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i="0">
                                                  <a:latin typeface="Cambria Math"/>
                                                </a:rPr>
                                                <m:t>∥</m:t>
                                              </m:r>
                                            </m:e>
                                          </m:d>
                                        </m:e>
                                        <m:sup>
                                          <m:r>
                                            <a:rPr lang="en-US" sz="3000" i="0">
                                              <a:latin typeface="Cambria Math"/>
                                            </a:rPr>
                                            <m:t>2</m:t>
                                          </m:r>
                                        </m:sup>
                                      </m:sSup>
                                    </m:num>
                                    <m:den>
                                      <m:r>
                                        <a:rPr lang="en-US" sz="3000" i="0">
                                          <a:latin typeface="Cambria Math"/>
                                        </a:rPr>
                                        <m:t>2</m:t>
                                      </m:r>
                                      <m:sSup>
                                        <m:sSupPr>
                                          <m:ctrlPr>
                                            <a:rPr lang="en-US" sz="3000" i="1">
                                              <a:latin typeface="Cambria Math"/>
                                            </a:rPr>
                                          </m:ctrlPr>
                                        </m:sSupPr>
                                        <m:e>
                                          <m:r>
                                            <m:rPr>
                                              <m:sty m:val="p"/>
                                            </m:rPr>
                                            <a:rPr lang="en-US" sz="3000" i="0">
                                              <a:latin typeface="Cambria Math"/>
                                            </a:rPr>
                                            <m:t>σ</m:t>
                                          </m:r>
                                        </m:e>
                                        <m:sup>
                                          <m:r>
                                            <a:rPr lang="en-US" sz="3000" i="0">
                                              <a:latin typeface="Cambria Math"/>
                                            </a:rPr>
                                            <m:t>2</m:t>
                                          </m:r>
                                        </m:sup>
                                      </m:sSup>
                                    </m:den>
                                  </m:f>
                                </m:e>
                              </m:d>
                            </m:e>
                          </m:d>
                        </m:e>
                      </m:nary>
                    </m:oMath>
                  </m:oMathPara>
                </a14:m>
                <a:endParaRPr lang="en-US" sz="3000" i="0" dirty="0">
                  <a:latin typeface="굴림" pitchFamily="5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770120" y="2895600"/>
                <a:ext cx="5603760" cy="1550160"/>
              </a:xfrm>
              <a:prstGeom prst="rect">
                <a:avLst/>
              </a:prstGeom>
              <a:blipFill rotWithShape="1">
                <a:blip r:embed="rId6"/>
                <a:stretch>
                  <a:fillRect/>
                </a:stretch>
              </a:blipFill>
              <a:ln>
                <a:noFill/>
              </a:ln>
            </p:spPr>
            <p:txBody>
              <a:bodyPr/>
              <a:lstStyle/>
              <a:p>
                <a:r>
                  <a:rPr lang="en-US">
                    <a:noFill/>
                  </a:rPr>
                  <a:t> </a:t>
                </a:r>
              </a:p>
            </p:txBody>
          </p:sp>
        </mc:Fallback>
      </mc:AlternateContent>
      <p:sp>
        <p:nvSpPr>
          <p:cNvPr id="9" name="Freeform 8"/>
          <p:cNvSpPr/>
          <p:nvPr/>
        </p:nvSpPr>
        <p:spPr>
          <a:xfrm>
            <a:off x="5358901" y="4228380"/>
            <a:ext cx="457200" cy="1143000"/>
          </a:xfrm>
          <a:custGeom>
            <a:avLst>
              <a:gd name="f0" fmla="val 9351"/>
              <a:gd name="f1" fmla="val 6933"/>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DC2300"/>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1" name="Freeform 10"/>
          <p:cNvSpPr/>
          <p:nvPr/>
        </p:nvSpPr>
        <p:spPr>
          <a:xfrm>
            <a:off x="3801122" y="2819400"/>
            <a:ext cx="3572758" cy="1408980"/>
          </a:xfrm>
          <a:custGeom>
            <a:avLst>
              <a:gd name="f0" fmla="val 2000"/>
            </a:avLst>
            <a:gdLst>
              <a:gd name="f1" fmla="val 10800000"/>
              <a:gd name="f2" fmla="val 5400000"/>
              <a:gd name="f3" fmla="val 180"/>
              <a:gd name="f4" fmla="val w"/>
              <a:gd name="f5" fmla="val h"/>
              <a:gd name="f6" fmla="val ss"/>
              <a:gd name="f7" fmla="val 0"/>
              <a:gd name="f8" fmla="val -2147483647"/>
              <a:gd name="f9" fmla="val 2147483647"/>
              <a:gd name="f10" fmla="val 10800"/>
              <a:gd name="f11" fmla="+- 0 0 0"/>
              <a:gd name="f12" fmla="abs f4"/>
              <a:gd name="f13" fmla="abs f5"/>
              <a:gd name="f14" fmla="abs f6"/>
              <a:gd name="f15" fmla="val f7"/>
              <a:gd name="f16" fmla="pin 0 f0 10800"/>
              <a:gd name="f17" fmla="*/ f11 f1 1"/>
              <a:gd name="f18" fmla="?: f12 f4 1"/>
              <a:gd name="f19" fmla="?: f13 f5 1"/>
              <a:gd name="f20" fmla="?: f14 f6 1"/>
              <a:gd name="f21" fmla="+- f7 f16 0"/>
              <a:gd name="f22" fmla="*/ f17 1 f3"/>
              <a:gd name="f23" fmla="*/ f18 1 21600"/>
              <a:gd name="f24" fmla="*/ f19 1 21600"/>
              <a:gd name="f25" fmla="*/ 21600 f18 1"/>
              <a:gd name="f26" fmla="*/ 21600 f19 1"/>
              <a:gd name="f27" fmla="+- f22 0 f2"/>
              <a:gd name="f28" fmla="min f24 f23"/>
              <a:gd name="f29" fmla="*/ f25 1 f20"/>
              <a:gd name="f30" fmla="*/ f26 1 f20"/>
              <a:gd name="f31" fmla="val f29"/>
              <a:gd name="f32" fmla="val f30"/>
              <a:gd name="f33" fmla="+- f29 0 f16"/>
              <a:gd name="f34" fmla="+- f30 0 f16"/>
              <a:gd name="f35" fmla="*/ f7 f28 1"/>
              <a:gd name="f36" fmla="*/ f16 f28 1"/>
              <a:gd name="f37" fmla="*/ f21 f28 1"/>
              <a:gd name="f38" fmla="*/ f15 f28 1"/>
              <a:gd name="f39" fmla="*/ f33 f28 1"/>
              <a:gd name="f40" fmla="*/ f34 f28 1"/>
              <a:gd name="f41" fmla="*/ f31 f28 1"/>
              <a:gd name="f42" fmla="*/ f32 f28 1"/>
              <a:gd name="f43" fmla="*/ f38 f28 1"/>
              <a:gd name="f44" fmla="*/ f37 f28 1"/>
              <a:gd name="f45" fmla="*/ f41 f28 1"/>
              <a:gd name="f46" fmla="*/ f42 f28 1"/>
              <a:gd name="f47" fmla="*/ f39 f28 1"/>
              <a:gd name="f48" fmla="*/ f40 f28 1"/>
            </a:gdLst>
            <a:ahLst>
              <a:ahXY gdRefY="f0" minY="f7" maxY="f10">
                <a:pos x="f35" y="f36"/>
              </a:ahXY>
            </a:ahLst>
            <a:cxnLst>
              <a:cxn ang="3cd4">
                <a:pos x="hc" y="t"/>
              </a:cxn>
              <a:cxn ang="0">
                <a:pos x="r" y="vc"/>
              </a:cxn>
              <a:cxn ang="cd4">
                <a:pos x="hc" y="b"/>
              </a:cxn>
              <a:cxn ang="cd2">
                <a:pos x="l" y="vc"/>
              </a:cxn>
              <a:cxn ang="f27">
                <a:pos x="f43" y="f43"/>
              </a:cxn>
              <a:cxn ang="f27">
                <a:pos x="f45" y="f43"/>
              </a:cxn>
              <a:cxn ang="f27">
                <a:pos x="f45" y="f46"/>
              </a:cxn>
              <a:cxn ang="f27">
                <a:pos x="f43" y="f46"/>
              </a:cxn>
              <a:cxn ang="f27">
                <a:pos x="f44" y="f44"/>
              </a:cxn>
              <a:cxn ang="f27">
                <a:pos x="f47" y="f44"/>
              </a:cxn>
              <a:cxn ang="f27">
                <a:pos x="f47" y="f48"/>
              </a:cxn>
              <a:cxn ang="f27">
                <a:pos x="f44" y="f48"/>
              </a:cxn>
            </a:cxnLst>
            <a:rect l="f37" t="f37" r="f39" b="f40"/>
            <a:pathLst>
              <a:path>
                <a:moveTo>
                  <a:pt x="f38" y="f38"/>
                </a:moveTo>
                <a:lnTo>
                  <a:pt x="f41" y="f38"/>
                </a:lnTo>
                <a:lnTo>
                  <a:pt x="f41" y="f42"/>
                </a:lnTo>
                <a:lnTo>
                  <a:pt x="f38" y="f42"/>
                </a:lnTo>
                <a:close/>
                <a:moveTo>
                  <a:pt x="f37" y="f37"/>
                </a:moveTo>
                <a:lnTo>
                  <a:pt x="f39" y="f37"/>
                </a:lnTo>
                <a:lnTo>
                  <a:pt x="f39" y="f40"/>
                </a:lnTo>
                <a:lnTo>
                  <a:pt x="f37" y="f40"/>
                </a:lnTo>
                <a:close/>
              </a:path>
            </a:pathLst>
          </a:custGeom>
          <a:solidFill>
            <a:srgbClr val="DC2300"/>
          </a:solidFill>
          <a:ln w="0">
            <a:solidFill>
              <a:srgbClr val="000000"/>
            </a:solidFill>
            <a:prstDash val="solid"/>
          </a:ln>
        </p:spPr>
        <p:txBody>
          <a:bodyPr vert="horz" wrap="none" lIns="90000" tIns="45000" rIns="90000" bIns="4500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Tree>
    <p:extLst>
      <p:ext uri="{BB962C8B-B14F-4D97-AF65-F5344CB8AC3E}">
        <p14:creationId xmlns:p14="http://schemas.microsoft.com/office/powerpoint/2010/main" val="6024340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8" name="Freeform 7"/>
          <p:cNvSpPr/>
          <p:nvPr/>
        </p:nvSpPr>
        <p:spPr>
          <a:xfrm>
            <a:off x="381000" y="1916639"/>
            <a:ext cx="8458200" cy="60234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lvl="0" algn="ctr">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smtClean="0">
                <a:ln>
                  <a:noFill/>
                </a:ln>
                <a:solidFill>
                  <a:srgbClr val="000000"/>
                </a:solidFill>
                <a:latin typeface="Arial" pitchFamily="34"/>
                <a:ea typeface="굴림" pitchFamily="50"/>
                <a:cs typeface="굴림" pitchFamily="50"/>
              </a:rPr>
              <a:t>… in the space of the associated positions.</a:t>
            </a:r>
            <a:endParaRPr lang="en-US" sz="3000" b="1" i="0" u="none" strike="noStrike" baseline="0" dirty="0">
              <a:ln>
                <a:noFill/>
              </a:ln>
              <a:solidFill>
                <a:srgbClr val="000000"/>
              </a:solidFill>
              <a:latin typeface="Arial" pitchFamily="34"/>
              <a:ea typeface="굴림" pitchFamily="50"/>
              <a:cs typeface="굴림" pitchFamily="50"/>
            </a:endParaRPr>
          </a:p>
        </p:txBody>
      </p:sp>
      <mc:AlternateContent xmlns:mc="http://schemas.openxmlformats.org/markup-compatibility/2006" xmlns:a14="http://schemas.microsoft.com/office/drawing/2010/main">
        <mc:Choice Requires="a14">
          <p:sp>
            <p:nvSpPr>
              <p:cNvPr id="10" name="TextBox 9"/>
              <p:cNvSpPr txBox="1">
                <a:spLocks noResize="1"/>
              </p:cNvSpPr>
              <p:nvPr/>
            </p:nvSpPr>
            <p:spPr>
              <a:xfrm>
                <a:off x="1770120" y="2895600"/>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i="0">
                              <a:latin typeface="Cambria Math"/>
                            </a:rPr>
                            <m:t>⋅</m:t>
                          </m:r>
                          <m:r>
                            <m:rPr>
                              <m:sty m:val="p"/>
                            </m:rPr>
                            <a:rPr lang="en-US" sz="3000" i="0">
                              <a:latin typeface="Cambria Math"/>
                            </a:rPr>
                            <m:t>exp</m:t>
                          </m:r>
                          <m:d>
                            <m:dPr>
                              <m:begChr m:val=""/>
                              <m:endChr m:val=""/>
                              <m:ctrlPr>
                                <a:rPr lang="en-US" sz="3000" i="1">
                                  <a:latin typeface="Cambria Math"/>
                                </a:rPr>
                              </m:ctrlPr>
                            </m:dPr>
                            <m:e>
                              <m:d>
                                <m:dPr>
                                  <m:ctrlPr>
                                    <a:rPr lang="en-US" sz="3000" i="1" smtClean="0">
                                      <a:latin typeface="Cambria Math"/>
                                    </a:rPr>
                                  </m:ctrlPr>
                                </m:dPr>
                                <m:e>
                                  <m:f>
                                    <m:fPr>
                                      <m:ctrlPr>
                                        <a:rPr lang="en-US" sz="3000" i="1" smtClean="0">
                                          <a:latin typeface="Cambria Math"/>
                                        </a:rPr>
                                      </m:ctrlPr>
                                    </m:fPr>
                                    <m:num>
                                      <m:r>
                                        <a:rPr lang="en-US" sz="3000" i="0">
                                          <a:latin typeface="Cambria Math"/>
                                        </a:rPr>
                                        <m:t>−</m:t>
                                      </m:r>
                                      <m:sSup>
                                        <m:sSupPr>
                                          <m:ctrlPr>
                                            <a:rPr lang="en-US" sz="3000" i="1">
                                              <a:latin typeface="Cambria Math"/>
                                            </a:rPr>
                                          </m:ctrlPr>
                                        </m:sSupPr>
                                        <m:e>
                                          <m:d>
                                            <m:dPr>
                                              <m:begChr m:val=""/>
                                              <m:endChr m:val=""/>
                                              <m:ctrlPr>
                                                <a:rPr lang="en-US" sz="3000" i="1">
                                                  <a:latin typeface="Cambria Math"/>
                                                </a:rPr>
                                              </m:ctrlPr>
                                            </m:dPr>
                                            <m:e>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i="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i="0">
                                                  <a:latin typeface="Cambria Math"/>
                                                </a:rPr>
                                                <m:t>∥</m:t>
                                              </m:r>
                                            </m:e>
                                          </m:d>
                                        </m:e>
                                        <m:sup>
                                          <m:r>
                                            <a:rPr lang="en-US" sz="3000" i="0">
                                              <a:latin typeface="Cambria Math"/>
                                            </a:rPr>
                                            <m:t>2</m:t>
                                          </m:r>
                                        </m:sup>
                                      </m:sSup>
                                    </m:num>
                                    <m:den>
                                      <m:r>
                                        <a:rPr lang="en-US" sz="3000" i="0">
                                          <a:latin typeface="Cambria Math"/>
                                        </a:rPr>
                                        <m:t>2</m:t>
                                      </m:r>
                                      <m:sSup>
                                        <m:sSupPr>
                                          <m:ctrlPr>
                                            <a:rPr lang="en-US" sz="3000" i="1">
                                              <a:latin typeface="Cambria Math"/>
                                            </a:rPr>
                                          </m:ctrlPr>
                                        </m:sSupPr>
                                        <m:e>
                                          <m:r>
                                            <m:rPr>
                                              <m:sty m:val="p"/>
                                            </m:rPr>
                                            <a:rPr lang="en-US" sz="3000" i="0">
                                              <a:latin typeface="Cambria Math"/>
                                            </a:rPr>
                                            <m:t>σ</m:t>
                                          </m:r>
                                        </m:e>
                                        <m:sup>
                                          <m:r>
                                            <a:rPr lang="en-US" sz="3000" i="0">
                                              <a:latin typeface="Cambria Math"/>
                                            </a:rPr>
                                            <m:t>2</m:t>
                                          </m:r>
                                        </m:sup>
                                      </m:sSup>
                                    </m:den>
                                  </m:f>
                                </m:e>
                              </m:d>
                            </m:e>
                          </m:d>
                        </m:e>
                      </m:nary>
                    </m:oMath>
                  </m:oMathPara>
                </a14:m>
                <a:endParaRPr lang="en-US" sz="3000" i="0" dirty="0">
                  <a:latin typeface="굴림" pitchFamily="5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770120" y="2895600"/>
                <a:ext cx="5603760" cy="1550160"/>
              </a:xfrm>
              <a:prstGeom prst="rect">
                <a:avLst/>
              </a:prstGeom>
              <a:blipFill rotWithShape="1">
                <a:blip r:embed="rId6"/>
                <a:stretch>
                  <a:fillRect/>
                </a:stretch>
              </a:blipFill>
              <a:ln>
                <a:noFill/>
              </a:ln>
            </p:spPr>
            <p:txBody>
              <a:bodyPr/>
              <a:lstStyle/>
              <a:p>
                <a:r>
                  <a:rPr lang="en-US">
                    <a:noFill/>
                  </a:rPr>
                  <a:t> </a:t>
                </a:r>
              </a:p>
            </p:txBody>
          </p:sp>
        </mc:Fallback>
      </mc:AlternateContent>
      <p:sp>
        <p:nvSpPr>
          <p:cNvPr id="9" name="Freeform 8"/>
          <p:cNvSpPr/>
          <p:nvPr/>
        </p:nvSpPr>
        <p:spPr>
          <a:xfrm>
            <a:off x="5715000" y="3581400"/>
            <a:ext cx="457200" cy="1143000"/>
          </a:xfrm>
          <a:custGeom>
            <a:avLst>
              <a:gd name="f0" fmla="val 9351"/>
              <a:gd name="f1" fmla="val 6933"/>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DC2300"/>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1" name="Freeform 10"/>
          <p:cNvSpPr/>
          <p:nvPr/>
        </p:nvSpPr>
        <p:spPr>
          <a:xfrm>
            <a:off x="5029200" y="2895600"/>
            <a:ext cx="1828800" cy="685800"/>
          </a:xfrm>
          <a:custGeom>
            <a:avLst>
              <a:gd name="f0" fmla="val 2000"/>
            </a:avLst>
            <a:gdLst>
              <a:gd name="f1" fmla="val 10800000"/>
              <a:gd name="f2" fmla="val 5400000"/>
              <a:gd name="f3" fmla="val 180"/>
              <a:gd name="f4" fmla="val w"/>
              <a:gd name="f5" fmla="val h"/>
              <a:gd name="f6" fmla="val ss"/>
              <a:gd name="f7" fmla="val 0"/>
              <a:gd name="f8" fmla="val -2147483647"/>
              <a:gd name="f9" fmla="val 2147483647"/>
              <a:gd name="f10" fmla="val 10800"/>
              <a:gd name="f11" fmla="+- 0 0 0"/>
              <a:gd name="f12" fmla="abs f4"/>
              <a:gd name="f13" fmla="abs f5"/>
              <a:gd name="f14" fmla="abs f6"/>
              <a:gd name="f15" fmla="val f7"/>
              <a:gd name="f16" fmla="pin 0 f0 10800"/>
              <a:gd name="f17" fmla="*/ f11 f1 1"/>
              <a:gd name="f18" fmla="?: f12 f4 1"/>
              <a:gd name="f19" fmla="?: f13 f5 1"/>
              <a:gd name="f20" fmla="?: f14 f6 1"/>
              <a:gd name="f21" fmla="+- f7 f16 0"/>
              <a:gd name="f22" fmla="*/ f17 1 f3"/>
              <a:gd name="f23" fmla="*/ f18 1 21600"/>
              <a:gd name="f24" fmla="*/ f19 1 21600"/>
              <a:gd name="f25" fmla="*/ 21600 f18 1"/>
              <a:gd name="f26" fmla="*/ 21600 f19 1"/>
              <a:gd name="f27" fmla="+- f22 0 f2"/>
              <a:gd name="f28" fmla="min f24 f23"/>
              <a:gd name="f29" fmla="*/ f25 1 f20"/>
              <a:gd name="f30" fmla="*/ f26 1 f20"/>
              <a:gd name="f31" fmla="val f29"/>
              <a:gd name="f32" fmla="val f30"/>
              <a:gd name="f33" fmla="+- f29 0 f16"/>
              <a:gd name="f34" fmla="+- f30 0 f16"/>
              <a:gd name="f35" fmla="*/ f7 f28 1"/>
              <a:gd name="f36" fmla="*/ f16 f28 1"/>
              <a:gd name="f37" fmla="*/ f21 f28 1"/>
              <a:gd name="f38" fmla="*/ f15 f28 1"/>
              <a:gd name="f39" fmla="*/ f33 f28 1"/>
              <a:gd name="f40" fmla="*/ f34 f28 1"/>
              <a:gd name="f41" fmla="*/ f31 f28 1"/>
              <a:gd name="f42" fmla="*/ f32 f28 1"/>
              <a:gd name="f43" fmla="*/ f38 f28 1"/>
              <a:gd name="f44" fmla="*/ f37 f28 1"/>
              <a:gd name="f45" fmla="*/ f41 f28 1"/>
              <a:gd name="f46" fmla="*/ f42 f28 1"/>
              <a:gd name="f47" fmla="*/ f39 f28 1"/>
              <a:gd name="f48" fmla="*/ f40 f28 1"/>
            </a:gdLst>
            <a:ahLst>
              <a:ahXY gdRefY="f0" minY="f7" maxY="f10">
                <a:pos x="f35" y="f36"/>
              </a:ahXY>
            </a:ahLst>
            <a:cxnLst>
              <a:cxn ang="3cd4">
                <a:pos x="hc" y="t"/>
              </a:cxn>
              <a:cxn ang="0">
                <a:pos x="r" y="vc"/>
              </a:cxn>
              <a:cxn ang="cd4">
                <a:pos x="hc" y="b"/>
              </a:cxn>
              <a:cxn ang="cd2">
                <a:pos x="l" y="vc"/>
              </a:cxn>
              <a:cxn ang="f27">
                <a:pos x="f43" y="f43"/>
              </a:cxn>
              <a:cxn ang="f27">
                <a:pos x="f45" y="f43"/>
              </a:cxn>
              <a:cxn ang="f27">
                <a:pos x="f45" y="f46"/>
              </a:cxn>
              <a:cxn ang="f27">
                <a:pos x="f43" y="f46"/>
              </a:cxn>
              <a:cxn ang="f27">
                <a:pos x="f44" y="f44"/>
              </a:cxn>
              <a:cxn ang="f27">
                <a:pos x="f47" y="f44"/>
              </a:cxn>
              <a:cxn ang="f27">
                <a:pos x="f47" y="f48"/>
              </a:cxn>
              <a:cxn ang="f27">
                <a:pos x="f44" y="f48"/>
              </a:cxn>
            </a:cxnLst>
            <a:rect l="f37" t="f37" r="f39" b="f40"/>
            <a:pathLst>
              <a:path>
                <a:moveTo>
                  <a:pt x="f38" y="f38"/>
                </a:moveTo>
                <a:lnTo>
                  <a:pt x="f41" y="f38"/>
                </a:lnTo>
                <a:lnTo>
                  <a:pt x="f41" y="f42"/>
                </a:lnTo>
                <a:lnTo>
                  <a:pt x="f38" y="f42"/>
                </a:lnTo>
                <a:close/>
                <a:moveTo>
                  <a:pt x="f37" y="f37"/>
                </a:moveTo>
                <a:lnTo>
                  <a:pt x="f39" y="f37"/>
                </a:lnTo>
                <a:lnTo>
                  <a:pt x="f39" y="f40"/>
                </a:lnTo>
                <a:lnTo>
                  <a:pt x="f37" y="f40"/>
                </a:lnTo>
                <a:close/>
              </a:path>
            </a:pathLst>
          </a:custGeom>
          <a:solidFill>
            <a:srgbClr val="DC2300"/>
          </a:solidFill>
          <a:ln w="0">
            <a:solidFill>
              <a:srgbClr val="000000"/>
            </a:solidFill>
            <a:prstDash val="solid"/>
          </a:ln>
        </p:spPr>
        <p:txBody>
          <a:bodyPr vert="horz" wrap="none" lIns="90000" tIns="45000" rIns="90000" bIns="4500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Tree>
    <p:extLst>
      <p:ext uri="{BB962C8B-B14F-4D97-AF65-F5344CB8AC3E}">
        <p14:creationId xmlns:p14="http://schemas.microsoft.com/office/powerpoint/2010/main" val="2933609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826920" y="1916279"/>
            <a:ext cx="7777440" cy="59832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ctr"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000000"/>
                </a:solidFill>
                <a:latin typeface="Arial" pitchFamily="34"/>
                <a:ea typeface="굴림" pitchFamily="50"/>
                <a:cs typeface="굴림" pitchFamily="50"/>
              </a:rPr>
              <a:t>Gaussian Blur</a:t>
            </a:r>
          </a:p>
        </p:txBody>
      </p:sp>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 Uses</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8" name="Picture 7"/>
          <p:cNvPicPr>
            <a:picLocks noChangeAspect="1"/>
          </p:cNvPicPr>
          <p:nvPr/>
        </p:nvPicPr>
        <p:blipFill>
          <a:blip r:embed="rId6">
            <a:lum/>
            <a:alphaModFix/>
          </a:blip>
          <a:srcRect/>
          <a:stretch>
            <a:fillRect/>
          </a:stretch>
        </p:blipFill>
        <p:spPr>
          <a:xfrm>
            <a:off x="457200" y="3429000"/>
            <a:ext cx="3657600" cy="2057400"/>
          </a:xfrm>
          <a:prstGeom prst="rect">
            <a:avLst/>
          </a:prstGeom>
          <a:noFill/>
          <a:ln>
            <a:noFill/>
          </a:ln>
        </p:spPr>
      </p:pic>
      <p:pic>
        <p:nvPicPr>
          <p:cNvPr id="9" name="Picture 8"/>
          <p:cNvPicPr>
            <a:picLocks noChangeAspect="1"/>
          </p:cNvPicPr>
          <p:nvPr/>
        </p:nvPicPr>
        <p:blipFill>
          <a:blip r:embed="rId7">
            <a:lum/>
            <a:alphaModFix/>
          </a:blip>
          <a:srcRect/>
          <a:stretch>
            <a:fillRect/>
          </a:stretch>
        </p:blipFill>
        <p:spPr>
          <a:xfrm>
            <a:off x="5029200" y="3429000"/>
            <a:ext cx="3657600" cy="2057400"/>
          </a:xfrm>
          <a:prstGeom prst="rect">
            <a:avLst/>
          </a:prstGeom>
          <a:noFill/>
          <a:ln>
            <a:noFill/>
          </a:ln>
        </p:spPr>
      </p:pic>
      <p:sp>
        <p:nvSpPr>
          <p:cNvPr id="10" name="Freeform 9"/>
          <p:cNvSpPr/>
          <p:nvPr/>
        </p:nvSpPr>
        <p:spPr>
          <a:xfrm>
            <a:off x="4343400" y="4271400"/>
            <a:ext cx="457200" cy="457200"/>
          </a:xfrm>
          <a:custGeom>
            <a:avLst>
              <a:gd name="f0" fmla="val 16200"/>
              <a:gd name="f1" fmla="val 5400"/>
            </a:avLst>
            <a:gdLst>
              <a:gd name="f2" fmla="val w"/>
              <a:gd name="f3" fmla="val h"/>
              <a:gd name="f4" fmla="val 0"/>
              <a:gd name="f5" fmla="val 21600"/>
              <a:gd name="f6" fmla="val 10800"/>
              <a:gd name="f7" fmla="*/ f2 1 21600"/>
              <a:gd name="f8" fmla="*/ f3 1 21600"/>
              <a:gd name="f9" fmla="pin 0 f0 21600"/>
              <a:gd name="f10" fmla="pin 0 f1 10800"/>
              <a:gd name="f11" fmla="val f10"/>
              <a:gd name="f12" fmla="val f9"/>
              <a:gd name="f13" fmla="+- 21600 0 f10"/>
              <a:gd name="f14" fmla="*/ f9 f7 1"/>
              <a:gd name="f15" fmla="*/ f10 f8 1"/>
              <a:gd name="f16" fmla="*/ 0 f7 1"/>
              <a:gd name="f17" fmla="+- 21600 0 f12"/>
              <a:gd name="f18" fmla="*/ f13 f8 1"/>
              <a:gd name="f19" fmla="*/ f11 f8 1"/>
              <a:gd name="f20" fmla="*/ f17 f11 1"/>
              <a:gd name="f21" fmla="*/ f20 1 10800"/>
              <a:gd name="f22" fmla="+- f12 f21 0"/>
              <a:gd name="f23" fmla="*/ f22 f7 1"/>
            </a:gdLst>
            <a:ahLst>
              <a:ahXY gdRefX="f0" minX="f4" maxX="f5" gdRefY="f1" minY="f4" maxY="f6">
                <a:pos x="f14" y="f15"/>
              </a:ahXY>
            </a:ahLst>
            <a:cxnLst>
              <a:cxn ang="3cd4">
                <a:pos x="hc" y="t"/>
              </a:cxn>
              <a:cxn ang="0">
                <a:pos x="r" y="vc"/>
              </a:cxn>
              <a:cxn ang="cd4">
                <a:pos x="hc" y="b"/>
              </a:cxn>
              <a:cxn ang="cd2">
                <a:pos x="l" y="vc"/>
              </a:cxn>
            </a:cxnLst>
            <a:rect l="f16" t="f19" r="f23" b="f18"/>
            <a:pathLst>
              <a:path w="21600" h="21600">
                <a:moveTo>
                  <a:pt x="f4" y="f11"/>
                </a:moveTo>
                <a:lnTo>
                  <a:pt x="f12" y="f11"/>
                </a:lnTo>
                <a:lnTo>
                  <a:pt x="f12" y="f4"/>
                </a:lnTo>
                <a:lnTo>
                  <a:pt x="f5" y="f6"/>
                </a:lnTo>
                <a:lnTo>
                  <a:pt x="f12" y="f5"/>
                </a:lnTo>
                <a:lnTo>
                  <a:pt x="f12" y="f13"/>
                </a:lnTo>
                <a:lnTo>
                  <a:pt x="f4" y="f13"/>
                </a:lnTo>
                <a:close/>
              </a:path>
            </a:pathLst>
          </a:custGeom>
          <a:solidFill>
            <a:srgbClr val="6B4794"/>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mc:AlternateContent xmlns:mc="http://schemas.openxmlformats.org/markup-compatibility/2006" xmlns:a14="http://schemas.microsoft.com/office/drawing/2010/main">
        <mc:Choice Requires="a14">
          <p:sp>
            <p:nvSpPr>
              <p:cNvPr id="14" name="TextBox 13"/>
              <p:cNvSpPr txBox="1"/>
              <p:nvPr/>
            </p:nvSpPr>
            <p:spPr>
              <a:xfrm>
                <a:off x="990600" y="2514599"/>
                <a:ext cx="7162800" cy="646331"/>
              </a:xfrm>
              <a:prstGeom prst="rect">
                <a:avLst/>
              </a:prstGeom>
              <a:noFill/>
            </p:spPr>
            <p:txBody>
              <a:bodyPr wrap="square" rtlCol="0">
                <a:spAutoFit/>
              </a:bodyPr>
              <a:lstStyle/>
              <a:p>
                <a:pPr lvl="0"/>
                <a14:m>
                  <m:oMathPara xmlns:m="http://schemas.openxmlformats.org/officeDocument/2006/math">
                    <m:oMathParaPr>
                      <m:jc m:val="centerGroup"/>
                    </m:oMathParaPr>
                    <m:oMath xmlns:m="http://schemas.openxmlformats.org/officeDocument/2006/math">
                      <m:r>
                        <a:rPr lang="en-US" sz="3600" b="1" i="1" smtClean="0">
                          <a:latin typeface="Cambria Math"/>
                        </a:rPr>
                        <m:t>𝒑</m:t>
                      </m:r>
                      <m:r>
                        <a:rPr lang="en-US" sz="3600" b="1" i="1" smtClean="0">
                          <a:latin typeface="Cambria Math"/>
                        </a:rPr>
                        <m:t> </m:t>
                      </m:r>
                      <m:r>
                        <a:rPr lang="en-US" sz="3600" b="1" i="1" baseline="-25000" smtClean="0">
                          <a:latin typeface="Cambria Math"/>
                        </a:rPr>
                        <m:t>𝒊</m:t>
                      </m:r>
                      <m:r>
                        <a:rPr lang="en-US" sz="3600" b="1" i="1" smtClean="0">
                          <a:latin typeface="Cambria Math"/>
                        </a:rPr>
                        <m:t>=</m:t>
                      </m:r>
                      <m:d>
                        <m:dPr>
                          <m:ctrlPr>
                            <a:rPr lang="en-US" sz="3600" b="1" i="1" smtClean="0">
                              <a:latin typeface="Cambria Math"/>
                            </a:rPr>
                          </m:ctrlPr>
                        </m:dPr>
                        <m:e>
                          <m:r>
                            <a:rPr lang="en-US" sz="3600" b="1" i="1" smtClean="0">
                              <a:latin typeface="Cambria Math"/>
                            </a:rPr>
                            <m:t>𝒙</m:t>
                          </m:r>
                          <m:r>
                            <a:rPr lang="en-US" sz="3600" b="1" i="1" baseline="-25000" smtClean="0">
                              <a:latin typeface="Cambria Math"/>
                            </a:rPr>
                            <m:t>𝒊</m:t>
                          </m:r>
                          <m:r>
                            <a:rPr lang="en-US" sz="3600" b="1" i="1" smtClean="0">
                              <a:latin typeface="Cambria Math"/>
                            </a:rPr>
                            <m:t>,</m:t>
                          </m:r>
                          <m:r>
                            <a:rPr lang="en-US" sz="3600" b="1" i="1" smtClean="0">
                              <a:latin typeface="Cambria Math"/>
                            </a:rPr>
                            <m:t>𝒚</m:t>
                          </m:r>
                          <m:r>
                            <a:rPr lang="en-US" sz="3200" b="1" i="1" baseline="-25000">
                              <a:latin typeface="Cambria Math"/>
                            </a:rPr>
                            <m:t>𝒊</m:t>
                          </m:r>
                        </m:e>
                      </m:d>
                      <m:r>
                        <a:rPr lang="en-US" sz="3600" b="1" i="1" smtClean="0">
                          <a:latin typeface="Cambria Math"/>
                        </a:rPr>
                        <m:t>,  </m:t>
                      </m:r>
                      <m:r>
                        <a:rPr lang="en-US" sz="3600" b="1" i="1" smtClean="0">
                          <a:latin typeface="Cambria Math"/>
                        </a:rPr>
                        <m:t>𝒗</m:t>
                      </m:r>
                      <m:r>
                        <a:rPr lang="en-US" sz="3600" b="1" i="1" smtClean="0">
                          <a:latin typeface="Cambria Math"/>
                        </a:rPr>
                        <m:t> </m:t>
                      </m:r>
                      <m:r>
                        <a:rPr lang="en-US" sz="3600" b="1" i="1" baseline="-25000">
                          <a:latin typeface="Cambria Math"/>
                        </a:rPr>
                        <m:t>𝒊</m:t>
                      </m:r>
                      <m:r>
                        <a:rPr lang="en-US" sz="3600" b="1" i="1" smtClean="0">
                          <a:latin typeface="Cambria Math"/>
                        </a:rPr>
                        <m:t>=(</m:t>
                      </m:r>
                      <m:r>
                        <a:rPr lang="en-US" sz="3600" b="1" i="1" smtClean="0">
                          <a:solidFill>
                            <a:srgbClr val="FF0000"/>
                          </a:solidFill>
                          <a:latin typeface="Cambria Math"/>
                        </a:rPr>
                        <m:t>𝒓</m:t>
                      </m:r>
                      <m:r>
                        <a:rPr lang="en-US" sz="3600" b="1" i="1" baseline="-25000" smtClean="0">
                          <a:latin typeface="Cambria Math"/>
                        </a:rPr>
                        <m:t>𝒊</m:t>
                      </m:r>
                      <m:r>
                        <a:rPr lang="en-US" sz="3600" b="1" i="1" smtClean="0">
                          <a:latin typeface="Cambria Math"/>
                        </a:rPr>
                        <m:t>,</m:t>
                      </m:r>
                      <m:r>
                        <a:rPr lang="en-US" sz="3600" b="1" i="1" smtClean="0">
                          <a:solidFill>
                            <a:srgbClr val="00B050"/>
                          </a:solidFill>
                          <a:latin typeface="Cambria Math"/>
                        </a:rPr>
                        <m:t>𝒈</m:t>
                      </m:r>
                      <m:r>
                        <a:rPr lang="en-US" sz="3600" b="1" i="1" baseline="-25000" smtClean="0">
                          <a:latin typeface="Cambria Math"/>
                        </a:rPr>
                        <m:t>𝒊</m:t>
                      </m:r>
                      <m:r>
                        <a:rPr lang="en-US" sz="3600" b="1" i="1" smtClean="0">
                          <a:latin typeface="Cambria Math"/>
                        </a:rPr>
                        <m:t>,</m:t>
                      </m:r>
                      <m:r>
                        <a:rPr lang="en-US" sz="3600" b="1" i="1" smtClean="0">
                          <a:solidFill>
                            <a:srgbClr val="0070C0"/>
                          </a:solidFill>
                          <a:latin typeface="Cambria Math"/>
                        </a:rPr>
                        <m:t>𝒃</m:t>
                      </m:r>
                      <m:r>
                        <a:rPr lang="en-US" sz="3600" b="1" i="1" baseline="-25000" smtClean="0">
                          <a:latin typeface="Cambria Math"/>
                        </a:rPr>
                        <m:t>𝒊</m:t>
                      </m:r>
                      <m:r>
                        <a:rPr lang="en-US" sz="3600" b="1" i="1" smtClean="0">
                          <a:latin typeface="Cambria Math"/>
                        </a:rPr>
                        <m:t>)</m:t>
                      </m:r>
                    </m:oMath>
                  </m:oMathPara>
                </a14:m>
                <a:endParaRPr lang="en-US" sz="3200" b="1" i="1" dirty="0">
                  <a:latin typeface="굴림" pitchFamily="5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990600" y="2514599"/>
                <a:ext cx="7162800" cy="646331"/>
              </a:xfrm>
              <a:prstGeom prst="rect">
                <a:avLst/>
              </a:prstGeom>
              <a:blipFill rotWithShape="1">
                <a:blip r:embed="rId8"/>
                <a:stretch>
                  <a:fillRect/>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826920" y="1916279"/>
            <a:ext cx="7777440" cy="59832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ctr"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000000"/>
                </a:solidFill>
                <a:latin typeface="Arial" pitchFamily="34"/>
                <a:ea typeface="굴림" pitchFamily="50"/>
                <a:cs typeface="굴림" pitchFamily="50"/>
              </a:rPr>
              <a:t>Bilateral Filter</a:t>
            </a: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 Uses</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8" name="Picture 7"/>
          <p:cNvPicPr>
            <a:picLocks noChangeAspect="1"/>
          </p:cNvPicPr>
          <p:nvPr/>
        </p:nvPicPr>
        <p:blipFill>
          <a:blip r:embed="rId6">
            <a:lum/>
            <a:alphaModFix/>
          </a:blip>
          <a:srcRect/>
          <a:stretch>
            <a:fillRect/>
          </a:stretch>
        </p:blipFill>
        <p:spPr>
          <a:xfrm>
            <a:off x="457200" y="3429000"/>
            <a:ext cx="3657600" cy="2057400"/>
          </a:xfrm>
          <a:prstGeom prst="rect">
            <a:avLst/>
          </a:prstGeom>
          <a:noFill/>
          <a:ln>
            <a:noFill/>
          </a:ln>
        </p:spPr>
      </p:pic>
      <p:pic>
        <p:nvPicPr>
          <p:cNvPr id="9" name="Picture 8"/>
          <p:cNvPicPr>
            <a:picLocks noChangeAspect="1"/>
          </p:cNvPicPr>
          <p:nvPr/>
        </p:nvPicPr>
        <p:blipFill>
          <a:blip r:embed="rId7">
            <a:lum/>
            <a:alphaModFix/>
          </a:blip>
          <a:srcRect/>
          <a:stretch>
            <a:fillRect/>
          </a:stretch>
        </p:blipFill>
        <p:spPr>
          <a:xfrm>
            <a:off x="5029200" y="3429000"/>
            <a:ext cx="3657600" cy="2057400"/>
          </a:xfrm>
          <a:prstGeom prst="rect">
            <a:avLst/>
          </a:prstGeom>
          <a:noFill/>
          <a:ln>
            <a:noFill/>
          </a:ln>
        </p:spPr>
      </p:pic>
      <p:sp>
        <p:nvSpPr>
          <p:cNvPr id="10" name="Freeform 9"/>
          <p:cNvSpPr/>
          <p:nvPr/>
        </p:nvSpPr>
        <p:spPr>
          <a:xfrm>
            <a:off x="4343400" y="4271400"/>
            <a:ext cx="457200" cy="457200"/>
          </a:xfrm>
          <a:custGeom>
            <a:avLst>
              <a:gd name="f0" fmla="val 16200"/>
              <a:gd name="f1" fmla="val 5400"/>
            </a:avLst>
            <a:gdLst>
              <a:gd name="f2" fmla="val w"/>
              <a:gd name="f3" fmla="val h"/>
              <a:gd name="f4" fmla="val 0"/>
              <a:gd name="f5" fmla="val 21600"/>
              <a:gd name="f6" fmla="val 10800"/>
              <a:gd name="f7" fmla="*/ f2 1 21600"/>
              <a:gd name="f8" fmla="*/ f3 1 21600"/>
              <a:gd name="f9" fmla="pin 0 f0 21600"/>
              <a:gd name="f10" fmla="pin 0 f1 10800"/>
              <a:gd name="f11" fmla="val f10"/>
              <a:gd name="f12" fmla="val f9"/>
              <a:gd name="f13" fmla="+- 21600 0 f10"/>
              <a:gd name="f14" fmla="*/ f9 f7 1"/>
              <a:gd name="f15" fmla="*/ f10 f8 1"/>
              <a:gd name="f16" fmla="*/ 0 f7 1"/>
              <a:gd name="f17" fmla="+- 21600 0 f12"/>
              <a:gd name="f18" fmla="*/ f13 f8 1"/>
              <a:gd name="f19" fmla="*/ f11 f8 1"/>
              <a:gd name="f20" fmla="*/ f17 f11 1"/>
              <a:gd name="f21" fmla="*/ f20 1 10800"/>
              <a:gd name="f22" fmla="+- f12 f21 0"/>
              <a:gd name="f23" fmla="*/ f22 f7 1"/>
            </a:gdLst>
            <a:ahLst>
              <a:ahXY gdRefX="f0" minX="f4" maxX="f5" gdRefY="f1" minY="f4" maxY="f6">
                <a:pos x="f14" y="f15"/>
              </a:ahXY>
            </a:ahLst>
            <a:cxnLst>
              <a:cxn ang="3cd4">
                <a:pos x="hc" y="t"/>
              </a:cxn>
              <a:cxn ang="0">
                <a:pos x="r" y="vc"/>
              </a:cxn>
              <a:cxn ang="cd4">
                <a:pos x="hc" y="b"/>
              </a:cxn>
              <a:cxn ang="cd2">
                <a:pos x="l" y="vc"/>
              </a:cxn>
            </a:cxnLst>
            <a:rect l="f16" t="f19" r="f23" b="f18"/>
            <a:pathLst>
              <a:path w="21600" h="21600">
                <a:moveTo>
                  <a:pt x="f4" y="f11"/>
                </a:moveTo>
                <a:lnTo>
                  <a:pt x="f12" y="f11"/>
                </a:lnTo>
                <a:lnTo>
                  <a:pt x="f12" y="f4"/>
                </a:lnTo>
                <a:lnTo>
                  <a:pt x="f5" y="f6"/>
                </a:lnTo>
                <a:lnTo>
                  <a:pt x="f12" y="f5"/>
                </a:lnTo>
                <a:lnTo>
                  <a:pt x="f12" y="f13"/>
                </a:lnTo>
                <a:lnTo>
                  <a:pt x="f4" y="f13"/>
                </a:lnTo>
                <a:close/>
              </a:path>
            </a:pathLst>
          </a:custGeom>
          <a:solidFill>
            <a:srgbClr val="6B4794"/>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mc:AlternateContent xmlns:mc="http://schemas.openxmlformats.org/markup-compatibility/2006" xmlns:a14="http://schemas.microsoft.com/office/drawing/2010/main">
        <mc:Choice Requires="a14">
          <p:sp>
            <p:nvSpPr>
              <p:cNvPr id="13" name="TextBox 12"/>
              <p:cNvSpPr txBox="1"/>
              <p:nvPr/>
            </p:nvSpPr>
            <p:spPr>
              <a:xfrm>
                <a:off x="914400" y="2514600"/>
                <a:ext cx="7467600" cy="646331"/>
              </a:xfrm>
              <a:prstGeom prst="rect">
                <a:avLst/>
              </a:prstGeom>
              <a:noFill/>
            </p:spPr>
            <p:txBody>
              <a:bodyPr wrap="square" rtlCol="0">
                <a:spAutoFit/>
              </a:bodyPr>
              <a:lstStyle/>
              <a:p>
                <a:pPr lvl="0"/>
                <a14:m>
                  <m:oMathPara xmlns:m="http://schemas.openxmlformats.org/officeDocument/2006/math">
                    <m:oMathParaPr>
                      <m:jc m:val="centerGroup"/>
                    </m:oMathParaPr>
                    <m:oMath xmlns:m="http://schemas.openxmlformats.org/officeDocument/2006/math">
                      <m:r>
                        <a:rPr lang="en-US" sz="3600" b="1" i="1" smtClean="0">
                          <a:latin typeface="Cambria Math"/>
                        </a:rPr>
                        <m:t>𝒑</m:t>
                      </m:r>
                      <m:r>
                        <a:rPr lang="en-US" sz="3600" b="1" i="1" smtClean="0">
                          <a:latin typeface="Cambria Math"/>
                        </a:rPr>
                        <m:t> </m:t>
                      </m:r>
                      <m:r>
                        <a:rPr lang="en-US" sz="3600" b="1" i="1" baseline="-25000" smtClean="0">
                          <a:latin typeface="Cambria Math"/>
                        </a:rPr>
                        <m:t>𝒊</m:t>
                      </m:r>
                      <m:r>
                        <a:rPr lang="en-US" sz="3600" b="1" i="1" smtClean="0">
                          <a:latin typeface="Cambria Math"/>
                        </a:rPr>
                        <m:t>=</m:t>
                      </m:r>
                      <m:d>
                        <m:dPr>
                          <m:ctrlPr>
                            <a:rPr lang="en-US" sz="3600" b="1" i="1" smtClean="0">
                              <a:latin typeface="Cambria Math"/>
                            </a:rPr>
                          </m:ctrlPr>
                        </m:dPr>
                        <m:e>
                          <m:r>
                            <a:rPr lang="en-US" sz="3600" b="1" i="1" smtClean="0">
                              <a:latin typeface="Cambria Math"/>
                            </a:rPr>
                            <m:t>𝒙</m:t>
                          </m:r>
                          <m:r>
                            <a:rPr lang="en-US" sz="3600" b="1" i="1" baseline="-25000" smtClean="0">
                              <a:latin typeface="Cambria Math"/>
                            </a:rPr>
                            <m:t>𝒊</m:t>
                          </m:r>
                          <m:r>
                            <a:rPr lang="en-US" sz="3600" b="1" i="1" smtClean="0">
                              <a:latin typeface="Cambria Math"/>
                            </a:rPr>
                            <m:t>,</m:t>
                          </m:r>
                          <m:r>
                            <a:rPr lang="en-US" sz="3600" b="1" i="1" smtClean="0">
                              <a:latin typeface="Cambria Math"/>
                            </a:rPr>
                            <m:t>𝒚</m:t>
                          </m:r>
                          <m:r>
                            <a:rPr lang="en-US" sz="3200" b="1" i="1" baseline="-25000">
                              <a:latin typeface="Cambria Math"/>
                            </a:rPr>
                            <m:t>𝒊</m:t>
                          </m:r>
                          <m:r>
                            <a:rPr lang="en-US" sz="3600" b="1" i="1" smtClean="0">
                              <a:latin typeface="Cambria Math"/>
                            </a:rPr>
                            <m:t>,</m:t>
                          </m:r>
                          <m:r>
                            <a:rPr lang="en-US" sz="3600" b="1" i="1" smtClean="0">
                              <a:solidFill>
                                <a:srgbClr val="FF0000"/>
                              </a:solidFill>
                              <a:latin typeface="Cambria Math"/>
                            </a:rPr>
                            <m:t>𝒓</m:t>
                          </m:r>
                          <m:r>
                            <a:rPr lang="en-US" sz="3600" b="1" i="1" baseline="-25000" smtClean="0">
                              <a:latin typeface="Cambria Math"/>
                            </a:rPr>
                            <m:t>𝒊</m:t>
                          </m:r>
                          <m:r>
                            <a:rPr lang="en-US" sz="3600" b="1" i="1" smtClean="0">
                              <a:latin typeface="Cambria Math"/>
                            </a:rPr>
                            <m:t>,</m:t>
                          </m:r>
                          <m:r>
                            <a:rPr lang="en-US" sz="3600" b="1" i="1" smtClean="0">
                              <a:solidFill>
                                <a:srgbClr val="00B050"/>
                              </a:solidFill>
                              <a:latin typeface="Cambria Math"/>
                            </a:rPr>
                            <m:t>𝒈</m:t>
                          </m:r>
                          <m:r>
                            <a:rPr lang="en-US" sz="3600" b="1" i="1" baseline="-25000" smtClean="0">
                              <a:latin typeface="Cambria Math"/>
                            </a:rPr>
                            <m:t>𝒊</m:t>
                          </m:r>
                          <m:r>
                            <a:rPr lang="en-US" sz="3600" b="1" i="1" smtClean="0">
                              <a:latin typeface="Cambria Math"/>
                            </a:rPr>
                            <m:t>,</m:t>
                          </m:r>
                          <m:r>
                            <a:rPr lang="en-US" sz="3600" b="1" i="1" smtClean="0">
                              <a:solidFill>
                                <a:srgbClr val="0070C0"/>
                              </a:solidFill>
                              <a:latin typeface="Cambria Math"/>
                            </a:rPr>
                            <m:t>𝒃</m:t>
                          </m:r>
                          <m:r>
                            <a:rPr lang="en-US" sz="3600" b="1" i="1" baseline="-25000" smtClean="0">
                              <a:latin typeface="Cambria Math"/>
                            </a:rPr>
                            <m:t>𝒊</m:t>
                          </m:r>
                        </m:e>
                      </m:d>
                      <m:r>
                        <a:rPr lang="en-US" sz="3600" b="1" i="1" baseline="-25000" smtClean="0">
                          <a:latin typeface="Cambria Math"/>
                        </a:rPr>
                        <m:t>,</m:t>
                      </m:r>
                      <m:r>
                        <a:rPr lang="en-US" sz="3600" b="1" i="1" smtClean="0">
                          <a:latin typeface="Cambria Math"/>
                        </a:rPr>
                        <m:t> </m:t>
                      </m:r>
                      <m:r>
                        <a:rPr lang="en-US" sz="3600" b="1" i="1" smtClean="0">
                          <a:latin typeface="Cambria Math"/>
                        </a:rPr>
                        <m:t>𝒗</m:t>
                      </m:r>
                      <m:r>
                        <a:rPr lang="en-US" sz="3600" b="1" i="1" smtClean="0">
                          <a:latin typeface="Cambria Math"/>
                        </a:rPr>
                        <m:t> </m:t>
                      </m:r>
                      <m:r>
                        <a:rPr lang="en-US" sz="3600" b="1" i="1" baseline="-25000">
                          <a:latin typeface="Cambria Math"/>
                        </a:rPr>
                        <m:t>𝒊</m:t>
                      </m:r>
                      <m:r>
                        <a:rPr lang="en-US" sz="3600" b="1" i="1" smtClean="0">
                          <a:latin typeface="Cambria Math"/>
                        </a:rPr>
                        <m:t>=(</m:t>
                      </m:r>
                      <m:r>
                        <a:rPr lang="en-US" sz="3600" b="1" i="1" smtClean="0">
                          <a:solidFill>
                            <a:srgbClr val="FF0000"/>
                          </a:solidFill>
                          <a:latin typeface="Cambria Math"/>
                        </a:rPr>
                        <m:t>𝒓</m:t>
                      </m:r>
                      <m:r>
                        <a:rPr lang="en-US" sz="3600" b="1" i="1" baseline="-25000" smtClean="0">
                          <a:latin typeface="Cambria Math"/>
                        </a:rPr>
                        <m:t>𝒊</m:t>
                      </m:r>
                      <m:r>
                        <a:rPr lang="en-US" sz="3600" b="1" i="1" smtClean="0">
                          <a:latin typeface="Cambria Math"/>
                        </a:rPr>
                        <m:t>,</m:t>
                      </m:r>
                      <m:r>
                        <a:rPr lang="en-US" sz="3600" b="1" i="1" smtClean="0">
                          <a:solidFill>
                            <a:srgbClr val="00B050"/>
                          </a:solidFill>
                          <a:latin typeface="Cambria Math"/>
                        </a:rPr>
                        <m:t>𝒈</m:t>
                      </m:r>
                      <m:r>
                        <a:rPr lang="en-US" sz="3600" b="1" i="1" baseline="-25000" smtClean="0">
                          <a:latin typeface="Cambria Math"/>
                        </a:rPr>
                        <m:t>𝒊</m:t>
                      </m:r>
                      <m:r>
                        <a:rPr lang="en-US" sz="3600" b="1" i="1" smtClean="0">
                          <a:latin typeface="Cambria Math"/>
                        </a:rPr>
                        <m:t>,</m:t>
                      </m:r>
                      <m:r>
                        <a:rPr lang="en-US" sz="3600" b="1" i="1" smtClean="0">
                          <a:solidFill>
                            <a:srgbClr val="0070C0"/>
                          </a:solidFill>
                          <a:latin typeface="Cambria Math"/>
                        </a:rPr>
                        <m:t>𝒃</m:t>
                      </m:r>
                      <m:r>
                        <a:rPr lang="en-US" sz="3600" b="1" i="1" baseline="-25000" smtClean="0">
                          <a:latin typeface="Cambria Math"/>
                        </a:rPr>
                        <m:t>𝒊</m:t>
                      </m:r>
                      <m:r>
                        <a:rPr lang="en-US" sz="3600" b="1" i="1" smtClean="0">
                          <a:latin typeface="Cambria Math"/>
                        </a:rPr>
                        <m:t>)</m:t>
                      </m:r>
                    </m:oMath>
                  </m:oMathPara>
                </a14:m>
                <a:endParaRPr lang="en-US" sz="3200" b="1" i="1" dirty="0">
                  <a:latin typeface="굴림" pitchFamily="5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914400" y="2514600"/>
                <a:ext cx="7467600" cy="646331"/>
              </a:xfrm>
              <a:prstGeom prst="rect">
                <a:avLst/>
              </a:prstGeom>
              <a:blipFill rotWithShape="1">
                <a:blip r:embed="rId8"/>
                <a:stretch>
                  <a:fillRect b="-16981"/>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826920" y="1916279"/>
            <a:ext cx="7777440" cy="59832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ctr"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000000"/>
                </a:solidFill>
                <a:latin typeface="Arial" pitchFamily="34"/>
                <a:ea typeface="굴림" pitchFamily="50"/>
                <a:cs typeface="굴림" pitchFamily="50"/>
              </a:rPr>
              <a:t>Non-local Means Filter</a:t>
            </a:r>
          </a:p>
        </p:txBody>
      </p:sp>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 Uses</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8" name="Picture 7"/>
          <p:cNvPicPr>
            <a:picLocks noChangeAspect="1"/>
          </p:cNvPicPr>
          <p:nvPr/>
        </p:nvPicPr>
        <p:blipFill>
          <a:blip r:embed="rId6">
            <a:lum/>
            <a:alphaModFix/>
          </a:blip>
          <a:srcRect/>
          <a:stretch>
            <a:fillRect/>
          </a:stretch>
        </p:blipFill>
        <p:spPr>
          <a:xfrm>
            <a:off x="457200" y="3429000"/>
            <a:ext cx="3657600" cy="2057400"/>
          </a:xfrm>
          <a:prstGeom prst="rect">
            <a:avLst/>
          </a:prstGeom>
          <a:noFill/>
          <a:ln>
            <a:noFill/>
          </a:ln>
        </p:spPr>
      </p:pic>
      <p:pic>
        <p:nvPicPr>
          <p:cNvPr id="9" name="Picture 8"/>
          <p:cNvPicPr>
            <a:picLocks noChangeAspect="1"/>
          </p:cNvPicPr>
          <p:nvPr/>
        </p:nvPicPr>
        <p:blipFill>
          <a:blip r:embed="rId7">
            <a:lum/>
            <a:alphaModFix/>
          </a:blip>
          <a:srcRect/>
          <a:stretch>
            <a:fillRect/>
          </a:stretch>
        </p:blipFill>
        <p:spPr>
          <a:xfrm>
            <a:off x="5029200" y="3429000"/>
            <a:ext cx="3657600" cy="2057400"/>
          </a:xfrm>
          <a:prstGeom prst="rect">
            <a:avLst/>
          </a:prstGeom>
          <a:noFill/>
          <a:ln>
            <a:noFill/>
          </a:ln>
        </p:spPr>
      </p:pic>
      <p:sp>
        <p:nvSpPr>
          <p:cNvPr id="10" name="Freeform 9"/>
          <p:cNvSpPr/>
          <p:nvPr/>
        </p:nvSpPr>
        <p:spPr>
          <a:xfrm>
            <a:off x="4343400" y="4271400"/>
            <a:ext cx="457200" cy="457200"/>
          </a:xfrm>
          <a:custGeom>
            <a:avLst>
              <a:gd name="f0" fmla="val 16200"/>
              <a:gd name="f1" fmla="val 5400"/>
            </a:avLst>
            <a:gdLst>
              <a:gd name="f2" fmla="val w"/>
              <a:gd name="f3" fmla="val h"/>
              <a:gd name="f4" fmla="val 0"/>
              <a:gd name="f5" fmla="val 21600"/>
              <a:gd name="f6" fmla="val 10800"/>
              <a:gd name="f7" fmla="*/ f2 1 21600"/>
              <a:gd name="f8" fmla="*/ f3 1 21600"/>
              <a:gd name="f9" fmla="pin 0 f0 21600"/>
              <a:gd name="f10" fmla="pin 0 f1 10800"/>
              <a:gd name="f11" fmla="val f10"/>
              <a:gd name="f12" fmla="val f9"/>
              <a:gd name="f13" fmla="+- 21600 0 f10"/>
              <a:gd name="f14" fmla="*/ f9 f7 1"/>
              <a:gd name="f15" fmla="*/ f10 f8 1"/>
              <a:gd name="f16" fmla="*/ 0 f7 1"/>
              <a:gd name="f17" fmla="+- 21600 0 f12"/>
              <a:gd name="f18" fmla="*/ f13 f8 1"/>
              <a:gd name="f19" fmla="*/ f11 f8 1"/>
              <a:gd name="f20" fmla="*/ f17 f11 1"/>
              <a:gd name="f21" fmla="*/ f20 1 10800"/>
              <a:gd name="f22" fmla="+- f12 f21 0"/>
              <a:gd name="f23" fmla="*/ f22 f7 1"/>
            </a:gdLst>
            <a:ahLst>
              <a:ahXY gdRefX="f0" minX="f4" maxX="f5" gdRefY="f1" minY="f4" maxY="f6">
                <a:pos x="f14" y="f15"/>
              </a:ahXY>
            </a:ahLst>
            <a:cxnLst>
              <a:cxn ang="3cd4">
                <a:pos x="hc" y="t"/>
              </a:cxn>
              <a:cxn ang="0">
                <a:pos x="r" y="vc"/>
              </a:cxn>
              <a:cxn ang="cd4">
                <a:pos x="hc" y="b"/>
              </a:cxn>
              <a:cxn ang="cd2">
                <a:pos x="l" y="vc"/>
              </a:cxn>
            </a:cxnLst>
            <a:rect l="f16" t="f19" r="f23" b="f18"/>
            <a:pathLst>
              <a:path w="21600" h="21600">
                <a:moveTo>
                  <a:pt x="f4" y="f11"/>
                </a:moveTo>
                <a:lnTo>
                  <a:pt x="f12" y="f11"/>
                </a:lnTo>
                <a:lnTo>
                  <a:pt x="f12" y="f4"/>
                </a:lnTo>
                <a:lnTo>
                  <a:pt x="f5" y="f6"/>
                </a:lnTo>
                <a:lnTo>
                  <a:pt x="f12" y="f5"/>
                </a:lnTo>
                <a:lnTo>
                  <a:pt x="f12" y="f13"/>
                </a:lnTo>
                <a:lnTo>
                  <a:pt x="f4" y="f13"/>
                </a:lnTo>
                <a:close/>
              </a:path>
            </a:pathLst>
          </a:custGeom>
          <a:solidFill>
            <a:srgbClr val="6B4794"/>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grpSp>
        <p:nvGrpSpPr>
          <p:cNvPr id="11" name="Group 10"/>
          <p:cNvGrpSpPr/>
          <p:nvPr/>
        </p:nvGrpSpPr>
        <p:grpSpPr>
          <a:xfrm>
            <a:off x="3810000" y="2669632"/>
            <a:ext cx="415440" cy="377784"/>
            <a:chOff x="3684600" y="2633400"/>
            <a:chExt cx="415440" cy="343440"/>
          </a:xfrm>
        </p:grpSpPr>
        <p:sp>
          <p:nvSpPr>
            <p:cNvPr id="12" name="Freeform 11"/>
            <p:cNvSpPr/>
            <p:nvPr/>
          </p:nvSpPr>
          <p:spPr>
            <a:xfrm>
              <a:off x="3684600" y="263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3" name="Freeform 12"/>
            <p:cNvSpPr/>
            <p:nvPr/>
          </p:nvSpPr>
          <p:spPr>
            <a:xfrm>
              <a:off x="3792600" y="263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E6E64C"/>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4" name="Freeform 13"/>
            <p:cNvSpPr/>
            <p:nvPr/>
          </p:nvSpPr>
          <p:spPr>
            <a:xfrm>
              <a:off x="3684600" y="270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5" name="Freeform 14"/>
            <p:cNvSpPr/>
            <p:nvPr/>
          </p:nvSpPr>
          <p:spPr>
            <a:xfrm>
              <a:off x="3792600" y="270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6" name="Freeform 15"/>
            <p:cNvSpPr/>
            <p:nvPr/>
          </p:nvSpPr>
          <p:spPr>
            <a:xfrm>
              <a:off x="3684600" y="281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7" name="Freeform 16"/>
            <p:cNvSpPr/>
            <p:nvPr/>
          </p:nvSpPr>
          <p:spPr>
            <a:xfrm>
              <a:off x="3792600" y="281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E6E64C"/>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8" name="Freeform 17"/>
            <p:cNvSpPr/>
            <p:nvPr/>
          </p:nvSpPr>
          <p:spPr>
            <a:xfrm>
              <a:off x="3684600" y="288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9" name="Freeform 18"/>
            <p:cNvSpPr/>
            <p:nvPr/>
          </p:nvSpPr>
          <p:spPr>
            <a:xfrm>
              <a:off x="3792600" y="288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0" name="Freeform 19"/>
            <p:cNvSpPr/>
            <p:nvPr/>
          </p:nvSpPr>
          <p:spPr>
            <a:xfrm>
              <a:off x="3900600" y="263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1" name="Freeform 20"/>
            <p:cNvSpPr/>
            <p:nvPr/>
          </p:nvSpPr>
          <p:spPr>
            <a:xfrm>
              <a:off x="4008600" y="263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E6E64C"/>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2" name="Freeform 21"/>
            <p:cNvSpPr/>
            <p:nvPr/>
          </p:nvSpPr>
          <p:spPr>
            <a:xfrm>
              <a:off x="3900600" y="270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3" name="Freeform 22"/>
            <p:cNvSpPr/>
            <p:nvPr/>
          </p:nvSpPr>
          <p:spPr>
            <a:xfrm>
              <a:off x="4008600" y="270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4" name="Freeform 23"/>
            <p:cNvSpPr/>
            <p:nvPr/>
          </p:nvSpPr>
          <p:spPr>
            <a:xfrm>
              <a:off x="3900600" y="281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99CCF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5" name="Freeform 24"/>
            <p:cNvSpPr/>
            <p:nvPr/>
          </p:nvSpPr>
          <p:spPr>
            <a:xfrm>
              <a:off x="4008600" y="2813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E6E64C"/>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6" name="Freeform 25"/>
            <p:cNvSpPr/>
            <p:nvPr/>
          </p:nvSpPr>
          <p:spPr>
            <a:xfrm>
              <a:off x="3900600" y="288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23FF23"/>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27" name="Freeform 26"/>
            <p:cNvSpPr/>
            <p:nvPr/>
          </p:nvSpPr>
          <p:spPr>
            <a:xfrm>
              <a:off x="4008600" y="2885400"/>
              <a:ext cx="91440" cy="9144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grpSp>
      <mc:AlternateContent xmlns:mc="http://schemas.openxmlformats.org/markup-compatibility/2006" xmlns:a14="http://schemas.microsoft.com/office/drawing/2010/main">
        <mc:Choice Requires="a14">
          <p:sp>
            <p:nvSpPr>
              <p:cNvPr id="30" name="TextBox 29"/>
              <p:cNvSpPr txBox="1"/>
              <p:nvPr/>
            </p:nvSpPr>
            <p:spPr>
              <a:xfrm>
                <a:off x="914400" y="2514600"/>
                <a:ext cx="7467600" cy="646331"/>
              </a:xfrm>
              <a:prstGeom prst="rect">
                <a:avLst/>
              </a:prstGeom>
              <a:noFill/>
            </p:spPr>
            <p:txBody>
              <a:bodyPr wrap="square" rtlCol="0">
                <a:spAutoFit/>
              </a:bodyPr>
              <a:lstStyle/>
              <a:p>
                <a:pPr lvl="0"/>
                <a14:m>
                  <m:oMathPara xmlns:m="http://schemas.openxmlformats.org/officeDocument/2006/math">
                    <m:oMathParaPr>
                      <m:jc m:val="centerGroup"/>
                    </m:oMathParaPr>
                    <m:oMath xmlns:m="http://schemas.openxmlformats.org/officeDocument/2006/math">
                      <m:r>
                        <a:rPr lang="en-US" sz="3600" b="1" i="1" smtClean="0">
                          <a:latin typeface="Cambria Math"/>
                        </a:rPr>
                        <m:t>𝒑</m:t>
                      </m:r>
                      <m:r>
                        <a:rPr lang="en-US" sz="3600" b="1" i="1" smtClean="0">
                          <a:latin typeface="Cambria Math"/>
                        </a:rPr>
                        <m:t> </m:t>
                      </m:r>
                      <m:r>
                        <a:rPr lang="en-US" sz="3600" b="1" i="1" baseline="-25000">
                          <a:latin typeface="Cambria Math"/>
                        </a:rPr>
                        <m:t>𝒊</m:t>
                      </m:r>
                      <m:r>
                        <a:rPr lang="en-US" sz="3600" b="1" i="1" smtClean="0">
                          <a:latin typeface="Cambria Math"/>
                        </a:rPr>
                        <m:t>=</m:t>
                      </m:r>
                      <m:d>
                        <m:dPr>
                          <m:ctrlPr>
                            <a:rPr lang="en-US" sz="3600" b="1" i="1" smtClean="0">
                              <a:latin typeface="Cambria Math"/>
                            </a:rPr>
                          </m:ctrlPr>
                        </m:dPr>
                        <m:e>
                          <m:r>
                            <a:rPr lang="en-US" sz="3600" b="1" i="1" smtClean="0">
                              <a:latin typeface="Cambria Math"/>
                            </a:rPr>
                            <m:t>𝒙</m:t>
                          </m:r>
                          <m:r>
                            <a:rPr lang="en-US" sz="3600" b="1" i="1" baseline="-25000" smtClean="0">
                              <a:latin typeface="Cambria Math"/>
                            </a:rPr>
                            <m:t>𝒊</m:t>
                          </m:r>
                          <m:r>
                            <a:rPr lang="en-US" sz="3600" b="1" i="1" smtClean="0">
                              <a:latin typeface="Cambria Math"/>
                            </a:rPr>
                            <m:t>,</m:t>
                          </m:r>
                          <m:r>
                            <a:rPr lang="en-US" sz="3600" b="1" i="1" smtClean="0">
                              <a:latin typeface="Cambria Math"/>
                            </a:rPr>
                            <m:t>𝒚</m:t>
                          </m:r>
                          <m:r>
                            <a:rPr lang="en-US" sz="3200" b="1" i="1" baseline="-25000">
                              <a:latin typeface="Cambria Math"/>
                            </a:rPr>
                            <m:t>𝒊</m:t>
                          </m:r>
                          <m:r>
                            <a:rPr lang="en-US" sz="3600" b="1" i="1" smtClean="0">
                              <a:latin typeface="Cambria Math"/>
                            </a:rPr>
                            <m:t>,           </m:t>
                          </m:r>
                        </m:e>
                      </m:d>
                      <m:r>
                        <a:rPr lang="en-US" sz="3600" b="1" i="1" smtClean="0">
                          <a:latin typeface="Cambria Math"/>
                        </a:rPr>
                        <m:t>   </m:t>
                      </m:r>
                      <m:r>
                        <a:rPr lang="en-US" sz="3600" b="1" i="1" smtClean="0">
                          <a:latin typeface="Cambria Math"/>
                        </a:rPr>
                        <m:t>𝒗</m:t>
                      </m:r>
                      <m:r>
                        <a:rPr lang="en-US" sz="3600" b="1" i="1" smtClean="0">
                          <a:latin typeface="Cambria Math"/>
                        </a:rPr>
                        <m:t> </m:t>
                      </m:r>
                      <m:r>
                        <a:rPr lang="en-US" sz="3600" b="1" i="1" baseline="-25000">
                          <a:latin typeface="Cambria Math"/>
                        </a:rPr>
                        <m:t>𝒊</m:t>
                      </m:r>
                      <m:r>
                        <a:rPr lang="en-US" sz="3600" b="1" i="1" smtClean="0">
                          <a:latin typeface="Cambria Math"/>
                        </a:rPr>
                        <m:t>=(</m:t>
                      </m:r>
                      <m:r>
                        <a:rPr lang="en-US" sz="3600" b="1" i="1" smtClean="0">
                          <a:solidFill>
                            <a:srgbClr val="FF0000"/>
                          </a:solidFill>
                          <a:latin typeface="Cambria Math"/>
                        </a:rPr>
                        <m:t>𝒓</m:t>
                      </m:r>
                      <m:r>
                        <a:rPr lang="en-US" sz="3600" b="1" i="1" baseline="-25000" smtClean="0">
                          <a:latin typeface="Cambria Math"/>
                        </a:rPr>
                        <m:t>𝒊</m:t>
                      </m:r>
                      <m:r>
                        <a:rPr lang="en-US" sz="3600" b="1" i="1" smtClean="0">
                          <a:latin typeface="Cambria Math"/>
                        </a:rPr>
                        <m:t>,</m:t>
                      </m:r>
                      <m:r>
                        <a:rPr lang="en-US" sz="3600" b="1" i="1" smtClean="0">
                          <a:solidFill>
                            <a:srgbClr val="00B050"/>
                          </a:solidFill>
                          <a:latin typeface="Cambria Math"/>
                        </a:rPr>
                        <m:t>𝒈</m:t>
                      </m:r>
                      <m:r>
                        <a:rPr lang="en-US" sz="3600" b="1" i="1" baseline="-25000" smtClean="0">
                          <a:latin typeface="Cambria Math"/>
                        </a:rPr>
                        <m:t>𝒊</m:t>
                      </m:r>
                      <m:r>
                        <a:rPr lang="en-US" sz="3600" b="1" i="1" smtClean="0">
                          <a:latin typeface="Cambria Math"/>
                        </a:rPr>
                        <m:t>,</m:t>
                      </m:r>
                      <m:r>
                        <a:rPr lang="en-US" sz="3600" b="1" i="1" smtClean="0">
                          <a:solidFill>
                            <a:srgbClr val="0070C0"/>
                          </a:solidFill>
                          <a:latin typeface="Cambria Math"/>
                        </a:rPr>
                        <m:t>𝒃</m:t>
                      </m:r>
                      <m:r>
                        <a:rPr lang="en-US" sz="3600" b="1" i="1" baseline="-25000" smtClean="0">
                          <a:latin typeface="Cambria Math"/>
                        </a:rPr>
                        <m:t>𝒊</m:t>
                      </m:r>
                      <m:r>
                        <a:rPr lang="en-US" sz="3600" b="1" i="1" smtClean="0">
                          <a:latin typeface="Cambria Math"/>
                        </a:rPr>
                        <m:t>)</m:t>
                      </m:r>
                    </m:oMath>
                  </m:oMathPara>
                </a14:m>
                <a:endParaRPr lang="en-US" sz="3200" b="1" i="1" dirty="0">
                  <a:latin typeface="굴림" pitchFamily="5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914400" y="2514600"/>
                <a:ext cx="7467600" cy="646331"/>
              </a:xfrm>
              <a:prstGeom prst="rect">
                <a:avLst/>
              </a:prstGeom>
              <a:blipFill rotWithShape="1">
                <a:blip r:embed="rId8"/>
                <a:stretch>
                  <a:fillRect/>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826920" y="1664279"/>
            <a:ext cx="7777440" cy="253210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Clr>
                <a:srgbClr val="000000"/>
              </a:buClr>
              <a:buSzPct val="4500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a:t>
            </a:r>
            <a:r>
              <a:rPr lang="en-US" sz="2400" b="1" i="0" u="none" strike="noStrike" baseline="0" dirty="0">
                <a:ln>
                  <a:noFill/>
                </a:ln>
                <a:solidFill>
                  <a:srgbClr val="000000"/>
                </a:solidFill>
                <a:latin typeface="Arial" pitchFamily="34"/>
                <a:ea typeface="굴림" pitchFamily="50"/>
                <a:cs typeface="굴림" pitchFamily="50"/>
              </a:rPr>
              <a:t>Applications</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a:t>
            </a:r>
            <a:r>
              <a:rPr lang="en-US" sz="2400" b="0" i="0" u="none" strike="noStrike" baseline="0" dirty="0" err="1" smtClean="0">
                <a:ln>
                  <a:noFill/>
                </a:ln>
                <a:solidFill>
                  <a:srgbClr val="000000"/>
                </a:solidFill>
                <a:latin typeface="Arial" pitchFamily="34"/>
                <a:ea typeface="굴림" pitchFamily="50"/>
                <a:cs typeface="굴림" pitchFamily="50"/>
              </a:rPr>
              <a:t>Denoising</a:t>
            </a:r>
            <a:r>
              <a:rPr lang="en-US" sz="2400" b="0" i="0" u="none" strike="noStrike" baseline="0" dirty="0" smtClean="0">
                <a:ln>
                  <a:noFill/>
                </a:ln>
                <a:solidFill>
                  <a:srgbClr val="000000"/>
                </a:solidFill>
                <a:latin typeface="Arial" pitchFamily="34"/>
                <a:ea typeface="굴림" pitchFamily="50"/>
                <a:cs typeface="굴림" pitchFamily="50"/>
              </a:rPr>
              <a:t> </a:t>
            </a:r>
            <a:r>
              <a:rPr lang="en-US" sz="2400" b="0" i="0" u="none" strike="noStrike" baseline="0" dirty="0">
                <a:ln>
                  <a:noFill/>
                </a:ln>
                <a:solidFill>
                  <a:srgbClr val="000000"/>
                </a:solidFill>
                <a:latin typeface="Arial" pitchFamily="34"/>
                <a:ea typeface="굴림" pitchFamily="50"/>
                <a:cs typeface="굴림" pitchFamily="50"/>
              </a:rPr>
              <a:t>images and </a:t>
            </a:r>
            <a:r>
              <a:rPr lang="en-US" sz="2400" b="0" i="0" u="none" strike="noStrike" baseline="0" dirty="0" smtClean="0">
                <a:ln>
                  <a:noFill/>
                </a:ln>
                <a:solidFill>
                  <a:srgbClr val="000000"/>
                </a:solidFill>
                <a:latin typeface="Arial" pitchFamily="34"/>
                <a:ea typeface="굴림" pitchFamily="50"/>
                <a:cs typeface="굴림" pitchFamily="50"/>
              </a:rPr>
              <a:t>meshes</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Data </a:t>
            </a:r>
            <a:r>
              <a:rPr lang="en-US" sz="2400" b="0" i="0" u="none" strike="noStrike" baseline="0" dirty="0">
                <a:ln>
                  <a:noFill/>
                </a:ln>
                <a:solidFill>
                  <a:srgbClr val="000000"/>
                </a:solidFill>
                <a:latin typeface="Arial" pitchFamily="34"/>
                <a:ea typeface="굴림" pitchFamily="50"/>
                <a:cs typeface="굴림" pitchFamily="50"/>
              </a:rPr>
              <a:t>fusion and </a:t>
            </a:r>
            <a:r>
              <a:rPr lang="en-US" sz="2400" b="0" i="0" u="none" strike="noStrike" baseline="0" dirty="0" err="1" smtClean="0">
                <a:ln>
                  <a:noFill/>
                </a:ln>
                <a:solidFill>
                  <a:srgbClr val="000000"/>
                </a:solidFill>
                <a:latin typeface="Arial" pitchFamily="34"/>
                <a:ea typeface="굴림" pitchFamily="50"/>
                <a:cs typeface="굴림" pitchFamily="50"/>
              </a:rPr>
              <a:t>upsampling</a:t>
            </a:r>
            <a:endParaRPr lang="en-US" sz="2400" b="0" i="0" u="none" strike="noStrike" baseline="0" dirty="0" smtClean="0">
              <a:ln>
                <a:noFill/>
              </a:ln>
              <a:solidFill>
                <a:srgbClr val="000000"/>
              </a:solidFill>
              <a:latin typeface="Arial" pitchFamily="34"/>
              <a:ea typeface="굴림" pitchFamily="50"/>
              <a:cs typeface="굴림" pitchFamily="50"/>
            </a:endParaRP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Abstraction </a:t>
            </a:r>
            <a:r>
              <a:rPr lang="en-US" sz="2400" b="0" i="0" u="none" strike="noStrike" baseline="0" dirty="0">
                <a:ln>
                  <a:noFill/>
                </a:ln>
                <a:solidFill>
                  <a:srgbClr val="000000"/>
                </a:solidFill>
                <a:latin typeface="Arial" pitchFamily="34"/>
                <a:ea typeface="굴림" pitchFamily="50"/>
                <a:cs typeface="굴림" pitchFamily="50"/>
              </a:rPr>
              <a:t>/ </a:t>
            </a:r>
            <a:r>
              <a:rPr lang="en-US" sz="2400" b="0" i="0" u="none" strike="noStrike" baseline="0" dirty="0" smtClean="0">
                <a:ln>
                  <a:noFill/>
                </a:ln>
                <a:solidFill>
                  <a:srgbClr val="000000"/>
                </a:solidFill>
                <a:latin typeface="Arial" pitchFamily="34"/>
                <a:ea typeface="굴림" pitchFamily="50"/>
                <a:cs typeface="굴림" pitchFamily="50"/>
              </a:rPr>
              <a:t>Stylization</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Tone-mapping</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a:t>
            </a:r>
            <a:endParaRPr lang="en-US" sz="2400" b="0" i="0" u="none" strike="noStrike" baseline="0" dirty="0">
              <a:ln>
                <a:noFill/>
              </a:ln>
              <a:solidFill>
                <a:srgbClr val="000000"/>
              </a:solidFill>
              <a:latin typeface="Arial" pitchFamily="34"/>
              <a:ea typeface="굴림" pitchFamily="50"/>
              <a:cs typeface="굴림" pitchFamily="50"/>
            </a:endParaRPr>
          </a:p>
        </p:txBody>
      </p:sp>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Gaussian </a:t>
            </a:r>
            <a:r>
              <a:rPr lang="en-US" sz="3000" b="1" i="0" u="none" strike="noStrike" baseline="0" dirty="0" smtClean="0">
                <a:ln>
                  <a:noFill/>
                </a:ln>
                <a:solidFill>
                  <a:srgbClr val="FFFFFF"/>
                </a:solidFill>
                <a:latin typeface="Arial" pitchFamily="34"/>
                <a:ea typeface="굴림" pitchFamily="50"/>
                <a:cs typeface="굴림" pitchFamily="50"/>
              </a:rPr>
              <a:t>Filters</a:t>
            </a:r>
            <a:r>
              <a:rPr lang="en-US" sz="3000" b="1" dirty="0" smtClean="0">
                <a:solidFill>
                  <a:srgbClr val="FFFFFF"/>
                </a:solidFill>
                <a:latin typeface="Arial" pitchFamily="34"/>
                <a:ea typeface="굴림" pitchFamily="50"/>
                <a:cs typeface="굴림" pitchFamily="50"/>
              </a:rPr>
              <a:t>: Summary</a:t>
            </a:r>
            <a:endParaRPr lang="en-US" sz="3000" b="1" i="0" u="none" strike="noStrike" baseline="0" dirty="0">
              <a:ln>
                <a:noFill/>
              </a:ln>
              <a:solidFill>
                <a:srgbClr val="FFFFFF"/>
              </a:solidFill>
              <a:latin typeface="Arial" pitchFamily="34"/>
              <a:ea typeface="굴림" pitchFamily="50"/>
              <a:cs typeface="굴림" pitchFamily="50"/>
            </a:endParaRP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7" name="TextBox 6"/>
          <p:cNvSpPr txBox="1"/>
          <p:nvPr/>
        </p:nvSpPr>
        <p:spPr>
          <a:xfrm>
            <a:off x="826920" y="4267200"/>
            <a:ext cx="7777440" cy="2086725"/>
          </a:xfrm>
          <a:prstGeom prst="rect">
            <a:avLst/>
          </a:prstGeom>
          <a:noFill/>
        </p:spPr>
        <p:txBody>
          <a:bodyPr wrap="square" rtlCol="0">
            <a:spAutoFit/>
          </a:bodyPr>
          <a:lstStyle/>
          <a:p>
            <a:pPr lvl="0">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dirty="0">
                <a:solidFill>
                  <a:srgbClr val="000000"/>
                </a:solidFill>
                <a:latin typeface="Arial" pitchFamily="34"/>
                <a:ea typeface="굴림" pitchFamily="50"/>
                <a:cs typeface="굴림" pitchFamily="50"/>
              </a:rPr>
              <a:t>Previous </a:t>
            </a:r>
            <a:r>
              <a:rPr lang="en-US" sz="2400" b="1" dirty="0" smtClean="0">
                <a:solidFill>
                  <a:srgbClr val="000000"/>
                </a:solidFill>
                <a:latin typeface="Arial" pitchFamily="34"/>
                <a:ea typeface="굴림" pitchFamily="50"/>
                <a:cs typeface="굴림" pitchFamily="50"/>
              </a:rPr>
              <a:t>work on fast Gaussian Filters</a:t>
            </a:r>
            <a:endParaRPr lang="en-US" sz="2400" b="1" dirty="0">
              <a:solidFill>
                <a:srgbClr val="000000"/>
              </a:solidFill>
              <a:latin typeface="Arial" pitchFamily="34"/>
              <a:ea typeface="굴림" pitchFamily="50"/>
              <a:cs typeface="굴림" pitchFamily="50"/>
            </a:endParaRPr>
          </a:p>
          <a:p>
            <a:pPr marL="342900" lvl="0" indent="-342900">
              <a:lnSpc>
                <a:spcPct val="110000"/>
              </a:lnSpc>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a:solidFill>
                  <a:srgbClr val="000000"/>
                </a:solidFill>
                <a:latin typeface="Arial" pitchFamily="34"/>
                <a:ea typeface="굴림" pitchFamily="50"/>
                <a:cs typeface="굴림" pitchFamily="50"/>
              </a:rPr>
              <a:t> Bilateral Grid (Chen, Paris, Durand; 2007)</a:t>
            </a:r>
          </a:p>
          <a:p>
            <a:pPr marL="342900" lvl="0" indent="-342900">
              <a:lnSpc>
                <a:spcPct val="110000"/>
              </a:lnSpc>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a:solidFill>
                  <a:srgbClr val="000000"/>
                </a:solidFill>
                <a:latin typeface="Arial" pitchFamily="34"/>
                <a:ea typeface="굴림" pitchFamily="50"/>
                <a:cs typeface="굴림" pitchFamily="50"/>
              </a:rPr>
              <a:t> Gaussian KD-Tree (Adams et al.; 2009)</a:t>
            </a:r>
          </a:p>
          <a:p>
            <a:pPr marL="342900" lvl="0" indent="-342900">
              <a:lnSpc>
                <a:spcPct val="110000"/>
              </a:lnSpc>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a:solidFill>
                  <a:srgbClr val="000000"/>
                </a:solidFill>
                <a:latin typeface="Arial" pitchFamily="34"/>
                <a:ea typeface="굴림" pitchFamily="50"/>
                <a:cs typeface="굴림" pitchFamily="50"/>
              </a:rPr>
              <a:t> </a:t>
            </a:r>
            <a:r>
              <a:rPr lang="en-US" sz="2400" dirty="0" err="1">
                <a:solidFill>
                  <a:srgbClr val="000000"/>
                </a:solidFill>
                <a:latin typeface="Arial" pitchFamily="34"/>
                <a:ea typeface="굴림" pitchFamily="50"/>
                <a:cs typeface="굴림" pitchFamily="50"/>
              </a:rPr>
              <a:t>Permutohedral</a:t>
            </a:r>
            <a:r>
              <a:rPr lang="en-US" sz="2400" dirty="0">
                <a:solidFill>
                  <a:srgbClr val="000000"/>
                </a:solidFill>
                <a:latin typeface="Arial" pitchFamily="34"/>
                <a:ea typeface="굴림" pitchFamily="50"/>
                <a:cs typeface="굴림" pitchFamily="50"/>
              </a:rPr>
              <a:t> Lattice (Adams, </a:t>
            </a:r>
            <a:r>
              <a:rPr lang="en-US" sz="2400" dirty="0" err="1">
                <a:solidFill>
                  <a:srgbClr val="000000"/>
                </a:solidFill>
                <a:latin typeface="Arial" pitchFamily="34"/>
                <a:ea typeface="굴림" pitchFamily="50"/>
                <a:cs typeface="굴림" pitchFamily="50"/>
              </a:rPr>
              <a:t>Baek</a:t>
            </a:r>
            <a:r>
              <a:rPr lang="en-US" sz="2400" dirty="0">
                <a:solidFill>
                  <a:srgbClr val="000000"/>
                </a:solidFill>
                <a:latin typeface="Arial" pitchFamily="34"/>
                <a:ea typeface="굴림" pitchFamily="50"/>
                <a:cs typeface="굴림" pitchFamily="50"/>
              </a:rPr>
              <a:t>, Davis; 2010)      </a:t>
            </a:r>
          </a:p>
          <a:p>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826920" y="1916279"/>
            <a:ext cx="7777440" cy="1719574"/>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a:ea typeface="굴림" pitchFamily="50"/>
                <a:cs typeface="굴림" pitchFamily="50"/>
              </a:rPr>
              <a:t>Summary of Previous Implementations:</a:t>
            </a:r>
            <a:br>
              <a:rPr lang="en-US" sz="2400" b="1" i="0" u="none" strike="noStrike" baseline="0" dirty="0">
                <a:ln>
                  <a:noFill/>
                </a:ln>
                <a:solidFill>
                  <a:srgbClr val="000000"/>
                </a:solidFill>
                <a:latin typeface="Arial" pitchFamily="34"/>
                <a:ea typeface="굴림" pitchFamily="50"/>
                <a:cs typeface="굴림" pitchFamily="50"/>
              </a:rPr>
            </a:br>
            <a:endParaRPr lang="en-US" sz="2400" b="1" i="0" u="none" strike="noStrike" baseline="0" dirty="0">
              <a:ln>
                <a:noFill/>
              </a:ln>
              <a:solidFill>
                <a:srgbClr val="000000"/>
              </a:solidFill>
              <a:latin typeface="Arial" pitchFamily="34"/>
              <a:ea typeface="굴림" pitchFamily="50"/>
              <a:cs typeface="굴림" pitchFamily="50"/>
            </a:endParaRP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A </a:t>
            </a:r>
            <a:r>
              <a:rPr lang="en-US" sz="2400" b="0" i="0" u="none" strike="noStrike" baseline="0" dirty="0">
                <a:ln>
                  <a:noFill/>
                </a:ln>
                <a:solidFill>
                  <a:srgbClr val="000000"/>
                </a:solidFill>
                <a:latin typeface="Arial" pitchFamily="34"/>
                <a:ea typeface="굴림" pitchFamily="50"/>
                <a:cs typeface="굴림" pitchFamily="50"/>
              </a:rPr>
              <a:t>separable blur flanked by resampling </a:t>
            </a:r>
            <a:r>
              <a:rPr lang="en-US" sz="2400" b="0" i="0" u="none" strike="noStrike" baseline="0" dirty="0" smtClean="0">
                <a:ln>
                  <a:noFill/>
                </a:ln>
                <a:solidFill>
                  <a:srgbClr val="000000"/>
                </a:solidFill>
                <a:latin typeface="Arial" pitchFamily="34"/>
                <a:ea typeface="굴림" pitchFamily="50"/>
                <a:cs typeface="굴림" pitchFamily="50"/>
              </a:rPr>
              <a:t>operations.</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Exploit </a:t>
            </a:r>
            <a:r>
              <a:rPr lang="en-US" sz="2400" b="0" i="0" u="none" strike="noStrike" baseline="0" dirty="0">
                <a:ln>
                  <a:noFill/>
                </a:ln>
                <a:solidFill>
                  <a:srgbClr val="000000"/>
                </a:solidFill>
                <a:latin typeface="Arial" pitchFamily="34"/>
                <a:ea typeface="굴림" pitchFamily="50"/>
                <a:cs typeface="굴림" pitchFamily="50"/>
              </a:rPr>
              <a:t>the </a:t>
            </a:r>
            <a:r>
              <a:rPr lang="en-US" sz="2400" b="1" i="1" u="none" strike="noStrike" baseline="0" dirty="0" err="1">
                <a:ln>
                  <a:noFill/>
                </a:ln>
                <a:solidFill>
                  <a:srgbClr val="FF0000"/>
                </a:solidFill>
                <a:latin typeface="Arial" pitchFamily="34"/>
                <a:ea typeface="굴림" pitchFamily="50"/>
                <a:cs typeface="굴림" pitchFamily="50"/>
              </a:rPr>
              <a:t>separability</a:t>
            </a:r>
            <a:r>
              <a:rPr lang="en-US" sz="2400" b="0" i="0" u="none" strike="noStrike" baseline="0" dirty="0">
                <a:ln>
                  <a:noFill/>
                </a:ln>
                <a:solidFill>
                  <a:srgbClr val="000000"/>
                </a:solidFill>
                <a:latin typeface="Arial" pitchFamily="34"/>
                <a:ea typeface="굴림" pitchFamily="50"/>
                <a:cs typeface="굴림" pitchFamily="50"/>
              </a:rPr>
              <a:t> of the Gaussian kernel.</a:t>
            </a: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Gaussian Filters: Implementations</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3429000" y="4238280"/>
            <a:ext cx="2286000" cy="1645920"/>
          </a:xfrm>
          <a:prstGeom prst="rect">
            <a:avLst/>
          </a:prstGeom>
          <a:noFill/>
          <a:ln>
            <a:noFill/>
          </a:ln>
        </p:spPr>
      </p:pic>
      <p:pic>
        <p:nvPicPr>
          <p:cNvPr id="8" name="Picture 7"/>
          <p:cNvPicPr>
            <a:picLocks noChangeAspect="1"/>
          </p:cNvPicPr>
          <p:nvPr/>
        </p:nvPicPr>
        <p:blipFill>
          <a:blip r:embed="rId7">
            <a:lum/>
            <a:alphaModFix/>
          </a:blip>
          <a:srcRect/>
          <a:stretch>
            <a:fillRect/>
          </a:stretch>
        </p:blipFill>
        <p:spPr>
          <a:xfrm>
            <a:off x="685799" y="4247279"/>
            <a:ext cx="2286000" cy="1636920"/>
          </a:xfrm>
          <a:prstGeom prst="rect">
            <a:avLst/>
          </a:prstGeom>
          <a:noFill/>
          <a:ln>
            <a:noFill/>
          </a:ln>
        </p:spPr>
      </p:pic>
      <p:pic>
        <p:nvPicPr>
          <p:cNvPr id="9" name="Picture 8"/>
          <p:cNvPicPr>
            <a:picLocks noChangeAspect="1"/>
          </p:cNvPicPr>
          <p:nvPr/>
        </p:nvPicPr>
        <p:blipFill>
          <a:blip r:embed="rId8">
            <a:lum/>
            <a:alphaModFix/>
          </a:blip>
          <a:srcRect/>
          <a:stretch>
            <a:fillRect/>
          </a:stretch>
        </p:blipFill>
        <p:spPr>
          <a:xfrm>
            <a:off x="6172200" y="4247279"/>
            <a:ext cx="2286000" cy="1636920"/>
          </a:xfrm>
          <a:prstGeom prst="rect">
            <a:avLst/>
          </a:prstGeom>
          <a:noFill/>
          <a:ln>
            <a:noFill/>
          </a:ln>
        </p:spPr>
      </p:pic>
      <p:sp>
        <p:nvSpPr>
          <p:cNvPr id="10" name="Freeform 9"/>
          <p:cNvSpPr/>
          <p:nvPr/>
        </p:nvSpPr>
        <p:spPr>
          <a:xfrm>
            <a:off x="3007800" y="4897800"/>
            <a:ext cx="365760" cy="365760"/>
          </a:xfrm>
          <a:custGeom>
            <a:avLst>
              <a:gd name="f0" fmla="val 16200"/>
              <a:gd name="f1" fmla="val 5400"/>
            </a:avLst>
            <a:gdLst>
              <a:gd name="f2" fmla="val w"/>
              <a:gd name="f3" fmla="val h"/>
              <a:gd name="f4" fmla="val 0"/>
              <a:gd name="f5" fmla="val 21600"/>
              <a:gd name="f6" fmla="val 10800"/>
              <a:gd name="f7" fmla="*/ f2 1 21600"/>
              <a:gd name="f8" fmla="*/ f3 1 21600"/>
              <a:gd name="f9" fmla="pin 0 f0 21600"/>
              <a:gd name="f10" fmla="pin 0 f1 10800"/>
              <a:gd name="f11" fmla="val f10"/>
              <a:gd name="f12" fmla="val f9"/>
              <a:gd name="f13" fmla="+- 21600 0 f10"/>
              <a:gd name="f14" fmla="*/ f9 f7 1"/>
              <a:gd name="f15" fmla="*/ f10 f8 1"/>
              <a:gd name="f16" fmla="*/ 0 f7 1"/>
              <a:gd name="f17" fmla="+- 21600 0 f12"/>
              <a:gd name="f18" fmla="*/ f13 f8 1"/>
              <a:gd name="f19" fmla="*/ f11 f8 1"/>
              <a:gd name="f20" fmla="*/ f17 f11 1"/>
              <a:gd name="f21" fmla="*/ f20 1 10800"/>
              <a:gd name="f22" fmla="+- f12 f21 0"/>
              <a:gd name="f23" fmla="*/ f22 f7 1"/>
            </a:gdLst>
            <a:ahLst>
              <a:ahXY gdRefX="f0" minX="f4" maxX="f5" gdRefY="f1" minY="f4" maxY="f6">
                <a:pos x="f14" y="f15"/>
              </a:ahXY>
            </a:ahLst>
            <a:cxnLst>
              <a:cxn ang="3cd4">
                <a:pos x="hc" y="t"/>
              </a:cxn>
              <a:cxn ang="0">
                <a:pos x="r" y="vc"/>
              </a:cxn>
              <a:cxn ang="cd4">
                <a:pos x="hc" y="b"/>
              </a:cxn>
              <a:cxn ang="cd2">
                <a:pos x="l" y="vc"/>
              </a:cxn>
            </a:cxnLst>
            <a:rect l="f16" t="f19" r="f23" b="f18"/>
            <a:pathLst>
              <a:path w="21600" h="21600">
                <a:moveTo>
                  <a:pt x="f4" y="f11"/>
                </a:moveTo>
                <a:lnTo>
                  <a:pt x="f12" y="f11"/>
                </a:lnTo>
                <a:lnTo>
                  <a:pt x="f12" y="f4"/>
                </a:lnTo>
                <a:lnTo>
                  <a:pt x="f5" y="f6"/>
                </a:lnTo>
                <a:lnTo>
                  <a:pt x="f12" y="f5"/>
                </a:lnTo>
                <a:lnTo>
                  <a:pt x="f12" y="f13"/>
                </a:lnTo>
                <a:lnTo>
                  <a:pt x="f4" y="f13"/>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1" name="Freeform 10"/>
          <p:cNvSpPr/>
          <p:nvPr/>
        </p:nvSpPr>
        <p:spPr>
          <a:xfrm>
            <a:off x="5743800" y="4897800"/>
            <a:ext cx="365760" cy="365760"/>
          </a:xfrm>
          <a:custGeom>
            <a:avLst>
              <a:gd name="f0" fmla="val 16200"/>
              <a:gd name="f1" fmla="val 5400"/>
            </a:avLst>
            <a:gdLst>
              <a:gd name="f2" fmla="val w"/>
              <a:gd name="f3" fmla="val h"/>
              <a:gd name="f4" fmla="val 0"/>
              <a:gd name="f5" fmla="val 21600"/>
              <a:gd name="f6" fmla="val 10800"/>
              <a:gd name="f7" fmla="*/ f2 1 21600"/>
              <a:gd name="f8" fmla="*/ f3 1 21600"/>
              <a:gd name="f9" fmla="pin 0 f0 21600"/>
              <a:gd name="f10" fmla="pin 0 f1 10800"/>
              <a:gd name="f11" fmla="val f10"/>
              <a:gd name="f12" fmla="val f9"/>
              <a:gd name="f13" fmla="+- 21600 0 f10"/>
              <a:gd name="f14" fmla="*/ f9 f7 1"/>
              <a:gd name="f15" fmla="*/ f10 f8 1"/>
              <a:gd name="f16" fmla="*/ 0 f7 1"/>
              <a:gd name="f17" fmla="+- 21600 0 f12"/>
              <a:gd name="f18" fmla="*/ f13 f8 1"/>
              <a:gd name="f19" fmla="*/ f11 f8 1"/>
              <a:gd name="f20" fmla="*/ f17 f11 1"/>
              <a:gd name="f21" fmla="*/ f20 1 10800"/>
              <a:gd name="f22" fmla="+- f12 f21 0"/>
              <a:gd name="f23" fmla="*/ f22 f7 1"/>
            </a:gdLst>
            <a:ahLst>
              <a:ahXY gdRefX="f0" minX="f4" maxX="f5" gdRefY="f1" minY="f4" maxY="f6">
                <a:pos x="f14" y="f15"/>
              </a:ahXY>
            </a:ahLst>
            <a:cxnLst>
              <a:cxn ang="3cd4">
                <a:pos x="hc" y="t"/>
              </a:cxn>
              <a:cxn ang="0">
                <a:pos x="r" y="vc"/>
              </a:cxn>
              <a:cxn ang="cd4">
                <a:pos x="hc" y="b"/>
              </a:cxn>
              <a:cxn ang="cd2">
                <a:pos x="l" y="vc"/>
              </a:cxn>
            </a:cxnLst>
            <a:rect l="f16" t="f19" r="f23" b="f18"/>
            <a:pathLst>
              <a:path w="21600" h="21600">
                <a:moveTo>
                  <a:pt x="f4" y="f11"/>
                </a:moveTo>
                <a:lnTo>
                  <a:pt x="f12" y="f11"/>
                </a:lnTo>
                <a:lnTo>
                  <a:pt x="f12" y="f4"/>
                </a:lnTo>
                <a:lnTo>
                  <a:pt x="f5" y="f6"/>
                </a:lnTo>
                <a:lnTo>
                  <a:pt x="f12" y="f5"/>
                </a:lnTo>
                <a:lnTo>
                  <a:pt x="f12" y="f13"/>
                </a:lnTo>
                <a:lnTo>
                  <a:pt x="f4" y="f13"/>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Spatially Varying Gaussian Filters</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TextBox 5"/>
          <p:cNvSpPr txBox="1">
            <a:spLocks noResize="1"/>
          </p:cNvSpPr>
          <p:nvPr/>
        </p:nvSpPr>
        <p:spPr>
          <a:xfrm>
            <a:off x="4242240" y="3271679"/>
            <a:ext cx="719640" cy="359640"/>
          </a:xfrm>
          <a:prstGeom prst="rect">
            <a:avLst/>
          </a:prstGeom>
          <a:noFill/>
          <a:ln>
            <a:noFill/>
          </a:ln>
        </p:spPr>
        <p:txBody>
          <a:bodyPr vert="horz" lIns="90000" tIns="45000" rIns="90000" bIns="4500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endParaRPr>
          </a:p>
        </p:txBody>
      </p:sp>
      <mc:AlternateContent xmlns:mc="http://schemas.openxmlformats.org/markup-compatibility/2006" xmlns:a14="http://schemas.microsoft.com/office/drawing/2010/main">
        <mc:Choice Requires="a14">
          <p:sp>
            <p:nvSpPr>
              <p:cNvPr id="15" name="TextBox 14"/>
              <p:cNvSpPr txBox="1">
                <a:spLocks noResize="1"/>
              </p:cNvSpPr>
              <p:nvPr/>
            </p:nvSpPr>
            <p:spPr>
              <a:xfrm>
                <a:off x="1800180" y="1506240"/>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i="0">
                              <a:latin typeface="Cambria Math"/>
                            </a:rPr>
                            <m:t>⋅</m:t>
                          </m:r>
                          <m:r>
                            <m:rPr>
                              <m:sty m:val="p"/>
                            </m:rPr>
                            <a:rPr lang="en-US" sz="3000" b="0" i="0" smtClean="0">
                              <a:latin typeface="Cambria Math"/>
                            </a:rPr>
                            <m:t>N</m:t>
                          </m:r>
                          <m:d>
                            <m:dPr>
                              <m:begChr m:val=""/>
                              <m:endChr m:val=""/>
                              <m:ctrlPr>
                                <a:rPr lang="en-US" sz="3000" i="1">
                                  <a:latin typeface="Cambria Math"/>
                                </a:rPr>
                              </m:ctrlPr>
                            </m:dPr>
                            <m:e>
                              <m:d>
                                <m:dPr>
                                  <m:ctrlPr>
                                    <a:rPr lang="en-US" sz="3000" i="1" smtClean="0">
                                      <a:latin typeface="Cambria Math"/>
                                    </a:rPr>
                                  </m:ctrlPr>
                                </m:dPr>
                                <m:e>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b="0" i="1" smtClean="0">
                                      <a:latin typeface="Cambria Math"/>
                                    </a:rPr>
                                    <m:t>;</m:t>
                                  </m:r>
                                  <m:r>
                                    <a:rPr lang="en-US" sz="3000" b="0" i="1" smtClean="0">
                                      <a:latin typeface="Cambria Math"/>
                                      <a:ea typeface="Cambria Math"/>
                                    </a:rPr>
                                    <m:t> </m:t>
                                  </m:r>
                                  <m:sSup>
                                    <m:sSupPr>
                                      <m:ctrlPr>
                                        <a:rPr lang="en-US" sz="3000" b="0" i="1" smtClean="0">
                                          <a:solidFill>
                                            <a:srgbClr val="FF0000"/>
                                          </a:solidFill>
                                          <a:latin typeface="Cambria Math"/>
                                          <a:ea typeface="Cambria Math"/>
                                        </a:rPr>
                                      </m:ctrlPr>
                                    </m:sSupPr>
                                    <m:e>
                                      <m:r>
                                        <a:rPr lang="en-US" sz="3000" i="1">
                                          <a:solidFill>
                                            <a:srgbClr val="FF0000"/>
                                          </a:solidFill>
                                          <a:latin typeface="Cambria Math"/>
                                          <a:ea typeface="Cambria Math"/>
                                        </a:rPr>
                                        <m:t>𝜎</m:t>
                                      </m:r>
                                    </m:e>
                                    <m:sup>
                                      <m:r>
                                        <a:rPr lang="en-US" sz="3000" b="0" i="1" smtClean="0">
                                          <a:solidFill>
                                            <a:srgbClr val="FF0000"/>
                                          </a:solidFill>
                                          <a:latin typeface="Cambria Math"/>
                                          <a:ea typeface="Cambria Math"/>
                                        </a:rPr>
                                        <m:t>2</m:t>
                                      </m:r>
                                    </m:sup>
                                  </m:sSup>
                                  <m:r>
                                    <a:rPr lang="en-US" sz="3000" b="0" i="1" smtClean="0">
                                      <a:solidFill>
                                        <a:srgbClr val="FF0000"/>
                                      </a:solidFill>
                                      <a:latin typeface="Cambria Math"/>
                                      <a:ea typeface="Cambria Math"/>
                                    </a:rPr>
                                    <m:t>𝐼</m:t>
                                  </m:r>
                                </m:e>
                              </m:d>
                            </m:e>
                          </m:d>
                        </m:e>
                      </m:nary>
                    </m:oMath>
                  </m:oMathPara>
                </a14:m>
                <a:endParaRPr lang="en-US" sz="3000" i="0" dirty="0">
                  <a:latin typeface="굴림" pitchFamily="5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800180" y="1506240"/>
                <a:ext cx="5603760" cy="1550160"/>
              </a:xfrm>
              <a:prstGeom prst="rect">
                <a:avLst/>
              </a:prstGeom>
              <a:blipFill rotWithShape="1">
                <a:blip r:embed="rId6"/>
                <a:stretch>
                  <a:fillRect/>
                </a:stretch>
              </a:blipFill>
              <a:ln>
                <a:noFill/>
              </a:ln>
            </p:spPr>
            <p:txBody>
              <a:bodyPr/>
              <a:lstStyle/>
              <a:p>
                <a:r>
                  <a:rPr lang="en-US">
                    <a:noFill/>
                  </a:rPr>
                  <a:t> </a:t>
                </a:r>
              </a:p>
            </p:txBody>
          </p:sp>
        </mc:Fallback>
      </mc:AlternateContent>
      <p:grpSp>
        <p:nvGrpSpPr>
          <p:cNvPr id="7" name="Group 6"/>
          <p:cNvGrpSpPr/>
          <p:nvPr/>
        </p:nvGrpSpPr>
        <p:grpSpPr>
          <a:xfrm>
            <a:off x="1771020" y="2863800"/>
            <a:ext cx="5603760" cy="2722388"/>
            <a:chOff x="1771020" y="2863800"/>
            <a:chExt cx="5603760" cy="2722388"/>
          </a:xfrm>
        </p:grpSpPr>
        <p:sp>
          <p:nvSpPr>
            <p:cNvPr id="8" name="Freeform 7"/>
            <p:cNvSpPr/>
            <p:nvPr/>
          </p:nvSpPr>
          <p:spPr>
            <a:xfrm>
              <a:off x="4228740" y="2863800"/>
              <a:ext cx="685799" cy="914400"/>
            </a:xfrm>
            <a:custGeom>
              <a:avLst>
                <a:gd name="f0" fmla="val 162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0 f8 1"/>
                <a:gd name="f17" fmla="+- 21600 0 f12"/>
                <a:gd name="f18" fmla="*/ f11 f7 1"/>
                <a:gd name="f19" fmla="*/ f13 f7 1"/>
                <a:gd name="f20" fmla="*/ f17 f11 1"/>
                <a:gd name="f21" fmla="*/ f20 1 10800"/>
                <a:gd name="f22" fmla="+- f12 f21 0"/>
                <a:gd name="f23" fmla="*/ f22 f8 1"/>
              </a:gdLst>
              <a:ahLst>
                <a:ahXY gdRefX="f1" minX="f4" maxX="f6" gdRefY="f0" minY="f4" maxY="f5">
                  <a:pos x="f14" y="f15"/>
                </a:ahXY>
              </a:ahLst>
              <a:cxnLst>
                <a:cxn ang="3cd4">
                  <a:pos x="hc" y="t"/>
                </a:cxn>
                <a:cxn ang="0">
                  <a:pos x="r" y="vc"/>
                </a:cxn>
                <a:cxn ang="cd4">
                  <a:pos x="hc" y="b"/>
                </a:cxn>
                <a:cxn ang="cd2">
                  <a:pos x="l" y="vc"/>
                </a:cxn>
              </a:cxnLst>
              <a:rect l="f18" t="f16" r="f19" b="f23"/>
              <a:pathLst>
                <a:path w="21600" h="21600">
                  <a:moveTo>
                    <a:pt x="f11" y="f4"/>
                  </a:moveTo>
                  <a:lnTo>
                    <a:pt x="f11" y="f12"/>
                  </a:lnTo>
                  <a:lnTo>
                    <a:pt x="f4" y="f12"/>
                  </a:lnTo>
                  <a:lnTo>
                    <a:pt x="f6" y="f5"/>
                  </a:lnTo>
                  <a:lnTo>
                    <a:pt x="f5" y="f12"/>
                  </a:lnTo>
                  <a:lnTo>
                    <a:pt x="f13" y="f12"/>
                  </a:lnTo>
                  <a:lnTo>
                    <a:pt x="f13" y="f4"/>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mc:AlternateContent xmlns:mc="http://schemas.openxmlformats.org/markup-compatibility/2006" xmlns:a14="http://schemas.microsoft.com/office/drawing/2010/main">
          <mc:Choice Requires="a14">
            <p:sp>
              <p:nvSpPr>
                <p:cNvPr id="16" name="TextBox 15"/>
                <p:cNvSpPr txBox="1">
                  <a:spLocks noResize="1"/>
                </p:cNvSpPr>
                <p:nvPr/>
              </p:nvSpPr>
              <p:spPr>
                <a:xfrm>
                  <a:off x="1771020" y="4036028"/>
                  <a:ext cx="5603760" cy="1550160"/>
                </a:xfrm>
                <a:prstGeom prst="rect">
                  <a:avLst/>
                </a:prstGeom>
                <a:noFill/>
                <a:ln>
                  <a:noFill/>
                </a:ln>
              </p:spPr>
              <p:txBody>
                <a:bodyPr vert="horz" lIns="90000" tIns="45000" rIns="90000" bIns="45000" compatLnSpc="1"/>
                <a:lstStyle/>
                <a:p>
                  <a:pPr lvl="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14:m>
                    <m:oMathPara xmlns:m="http://schemas.openxmlformats.org/officeDocument/2006/math">
                      <m:oMathParaPr>
                        <m:jc m:val="centerGroup"/>
                      </m:oMathParaPr>
                      <m:oMath xmlns:m="http://schemas.openxmlformats.org/officeDocument/2006/math">
                        <m:limUpp>
                          <m:limUppPr>
                            <m:ctrlPr>
                              <a:rPr lang="en-US" sz="3000" i="1" smtClean="0">
                                <a:latin typeface="Cambria Math"/>
                              </a:rPr>
                            </m:ctrlPr>
                          </m:limUppPr>
                          <m:e>
                            <m:sSub>
                              <m:sSubPr>
                                <m:ctrlPr>
                                  <a:rPr lang="en-US" sz="3000" i="1">
                                    <a:latin typeface="Cambria Math"/>
                                  </a:rPr>
                                </m:ctrlPr>
                              </m:sSubPr>
                              <m:e>
                                <m:r>
                                  <a:rPr lang="en-US" sz="3000" i="1">
                                    <a:latin typeface="Cambria Math"/>
                                  </a:rPr>
                                  <m:t>𝑣</m:t>
                                </m:r>
                              </m:e>
                              <m:sub>
                                <m:r>
                                  <a:rPr lang="en-US" sz="3000" i="1">
                                    <a:latin typeface="Cambria Math"/>
                                  </a:rPr>
                                  <m:t>𝑖</m:t>
                                </m:r>
                              </m:sub>
                            </m:sSub>
                          </m:e>
                          <m:lim>
                            <m:r>
                              <a:rPr lang="en-US" sz="3000" i="0">
                                <a:latin typeface="Cambria Math"/>
                              </a:rPr>
                              <m:t>ˆ</m:t>
                            </m:r>
                          </m:lim>
                        </m:limUpp>
                        <m:r>
                          <a:rPr lang="en-US" sz="3000" i="0">
                            <a:latin typeface="Cambria Math"/>
                          </a:rPr>
                          <m:t>=</m:t>
                        </m:r>
                        <m:nary>
                          <m:naryPr>
                            <m:chr m:val="∑"/>
                            <m:supHide m:val="on"/>
                            <m:ctrlPr>
                              <a:rPr lang="en-US" sz="3000" i="1">
                                <a:latin typeface="Cambria Math"/>
                              </a:rPr>
                            </m:ctrlPr>
                          </m:naryPr>
                          <m:sub>
                            <m:r>
                              <a:rPr lang="en-US" sz="3000" i="1">
                                <a:latin typeface="Cambria Math"/>
                              </a:rPr>
                              <m:t>𝑗</m:t>
                            </m:r>
                          </m:sub>
                          <m:sup/>
                          <m:e>
                            <m:sSub>
                              <m:sSubPr>
                                <m:ctrlPr>
                                  <a:rPr lang="en-US" sz="3000" i="1">
                                    <a:latin typeface="Cambria Math"/>
                                  </a:rPr>
                                </m:ctrlPr>
                              </m:sSubPr>
                              <m:e>
                                <m:r>
                                  <a:rPr lang="en-US" sz="3000" i="1">
                                    <a:latin typeface="Cambria Math"/>
                                  </a:rPr>
                                  <m:t>𝑣</m:t>
                                </m:r>
                              </m:e>
                              <m:sub>
                                <m:r>
                                  <a:rPr lang="en-US" sz="3000" i="1">
                                    <a:latin typeface="Cambria Math"/>
                                  </a:rPr>
                                  <m:t>𝑗</m:t>
                                </m:r>
                              </m:sub>
                            </m:sSub>
                            <m:r>
                              <a:rPr lang="en-US" sz="3000">
                                <a:latin typeface="Cambria Math"/>
                              </a:rPr>
                              <m:t>⋅</m:t>
                            </m:r>
                            <m:r>
                              <m:rPr>
                                <m:sty m:val="p"/>
                              </m:rPr>
                              <a:rPr lang="en-US" sz="3000">
                                <a:latin typeface="Cambria Math"/>
                              </a:rPr>
                              <m:t>N</m:t>
                            </m:r>
                            <m:d>
                              <m:dPr>
                                <m:begChr m:val=""/>
                                <m:endChr m:val=""/>
                                <m:ctrlPr>
                                  <a:rPr lang="en-US" sz="3000" i="1">
                                    <a:latin typeface="Cambria Math"/>
                                  </a:rPr>
                                </m:ctrlPr>
                              </m:dPr>
                              <m:e>
                                <m:d>
                                  <m:dPr>
                                    <m:ctrlPr>
                                      <a:rPr lang="en-US" sz="3000" i="1">
                                        <a:latin typeface="Cambria Math"/>
                                      </a:rPr>
                                    </m:ctrlPr>
                                  </m:dPr>
                                  <m:e>
                                    <m:sSub>
                                      <m:sSubPr>
                                        <m:ctrlPr>
                                          <a:rPr lang="en-US" sz="3000" i="1">
                                            <a:latin typeface="Cambria Math"/>
                                          </a:rPr>
                                        </m:ctrlPr>
                                      </m:sSubPr>
                                      <m:e>
                                        <m:r>
                                          <a:rPr lang="en-US" sz="3000" i="1">
                                            <a:latin typeface="Cambria Math"/>
                                          </a:rPr>
                                          <m:t>𝑝</m:t>
                                        </m:r>
                                      </m:e>
                                      <m:sub>
                                        <m:r>
                                          <a:rPr lang="en-US" sz="3000" i="1">
                                            <a:latin typeface="Cambria Math"/>
                                          </a:rPr>
                                          <m:t>𝑖</m:t>
                                        </m:r>
                                      </m:sub>
                                    </m:sSub>
                                    <m:r>
                                      <a:rPr lang="en-US" sz="3000">
                                        <a:latin typeface="Cambria Math"/>
                                      </a:rPr>
                                      <m:t>−</m:t>
                                    </m:r>
                                    <m:sSub>
                                      <m:sSubPr>
                                        <m:ctrlPr>
                                          <a:rPr lang="en-US" sz="3000" i="1">
                                            <a:latin typeface="Cambria Math"/>
                                          </a:rPr>
                                        </m:ctrlPr>
                                      </m:sSubPr>
                                      <m:e>
                                        <m:r>
                                          <a:rPr lang="en-US" sz="3000" i="1">
                                            <a:latin typeface="Cambria Math"/>
                                          </a:rPr>
                                          <m:t>𝑝</m:t>
                                        </m:r>
                                      </m:e>
                                      <m:sub>
                                        <m:r>
                                          <a:rPr lang="en-US" sz="3000" i="1">
                                            <a:latin typeface="Cambria Math"/>
                                          </a:rPr>
                                          <m:t>𝑗</m:t>
                                        </m:r>
                                      </m:sub>
                                    </m:sSub>
                                    <m:r>
                                      <a:rPr lang="en-US" sz="3000" i="1">
                                        <a:latin typeface="Cambria Math"/>
                                      </a:rPr>
                                      <m:t>;</m:t>
                                    </m:r>
                                    <m:sSub>
                                      <m:sSubPr>
                                        <m:ctrlPr>
                                          <a:rPr lang="en-US" sz="3000" i="1">
                                            <a:solidFill>
                                              <a:srgbClr val="FF0000"/>
                                            </a:solidFill>
                                            <a:latin typeface="Cambria Math"/>
                                            <a:ea typeface="Cambria Math"/>
                                          </a:rPr>
                                        </m:ctrlPr>
                                      </m:sSubPr>
                                      <m:e>
                                        <m:r>
                                          <a:rPr lang="en-US" sz="3000" i="1">
                                            <a:solidFill>
                                              <a:srgbClr val="FF0000"/>
                                            </a:solidFill>
                                            <a:latin typeface="Cambria Math"/>
                                            <a:ea typeface="Cambria Math"/>
                                          </a:rPr>
                                          <m:t>𝐾</m:t>
                                        </m:r>
                                      </m:e>
                                      <m:sub>
                                        <m:r>
                                          <a:rPr lang="en-US" sz="3000" i="1">
                                            <a:solidFill>
                                              <a:srgbClr val="FF0000"/>
                                            </a:solidFill>
                                            <a:latin typeface="Cambria Math"/>
                                            <a:ea typeface="Cambria Math"/>
                                          </a:rPr>
                                          <m:t>𝑖</m:t>
                                        </m:r>
                                      </m:sub>
                                    </m:sSub>
                                  </m:e>
                                </m:d>
                              </m:e>
                            </m:d>
                          </m:e>
                        </m:nary>
                      </m:oMath>
                    </m:oMathPara>
                  </a14:m>
                  <a:endParaRPr lang="en-US" sz="3000" i="0" dirty="0">
                    <a:latin typeface="굴림" pitchFamily="5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1771020" y="4036028"/>
                  <a:ext cx="5603760" cy="1550160"/>
                </a:xfrm>
                <a:prstGeom prst="rect">
                  <a:avLst/>
                </a:prstGeom>
                <a:blipFill rotWithShape="1">
                  <a:blip r:embed="rId7"/>
                  <a:stretch>
                    <a:fillRect/>
                  </a:stretch>
                </a:blipFill>
                <a:ln>
                  <a:noFill/>
                </a:ln>
              </p:spPr>
              <p:txBody>
                <a:bodyPr/>
                <a:lstStyle/>
                <a:p>
                  <a:r>
                    <a:rPr lang="en-US">
                      <a:noFill/>
                    </a:rPr>
                    <a:t> </a:t>
                  </a:r>
                </a:p>
              </p:txBody>
            </p:sp>
          </mc:Fallback>
        </mc:AlternateContent>
      </p:grpSp>
      <p:grpSp>
        <p:nvGrpSpPr>
          <p:cNvPr id="11" name="Group 10"/>
          <p:cNvGrpSpPr/>
          <p:nvPr/>
        </p:nvGrpSpPr>
        <p:grpSpPr>
          <a:xfrm>
            <a:off x="3886200" y="2281320"/>
            <a:ext cx="4876800" cy="3666745"/>
            <a:chOff x="3886200" y="2281320"/>
            <a:chExt cx="4876800" cy="3666745"/>
          </a:xfrm>
        </p:grpSpPr>
        <p:grpSp>
          <p:nvGrpSpPr>
            <p:cNvPr id="10" name="Group 9"/>
            <p:cNvGrpSpPr/>
            <p:nvPr/>
          </p:nvGrpSpPr>
          <p:grpSpPr>
            <a:xfrm>
              <a:off x="3886200" y="2281320"/>
              <a:ext cx="4648200" cy="3666745"/>
              <a:chOff x="3886200" y="2281320"/>
              <a:chExt cx="4648200" cy="3666745"/>
            </a:xfrm>
          </p:grpSpPr>
          <p:sp>
            <p:nvSpPr>
              <p:cNvPr id="9" name="Freeform 8"/>
              <p:cNvSpPr/>
              <p:nvPr/>
            </p:nvSpPr>
            <p:spPr>
              <a:xfrm>
                <a:off x="6324600" y="228132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DC2300"/>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2" name="Freeform 11"/>
              <p:cNvSpPr/>
              <p:nvPr/>
            </p:nvSpPr>
            <p:spPr>
              <a:xfrm>
                <a:off x="6319051" y="487680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DC2300"/>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7" name="TextBox 16"/>
              <p:cNvSpPr txBox="1"/>
              <p:nvPr/>
            </p:nvSpPr>
            <p:spPr>
              <a:xfrm>
                <a:off x="3886200" y="5486400"/>
                <a:ext cx="4648200" cy="461665"/>
              </a:xfrm>
              <a:prstGeom prst="rect">
                <a:avLst/>
              </a:prstGeom>
              <a:noFill/>
            </p:spPr>
            <p:txBody>
              <a:bodyPr wrap="square" rtlCol="0">
                <a:spAutoFit/>
              </a:bodyPr>
              <a:lstStyle/>
              <a:p>
                <a:r>
                  <a:rPr lang="en-US" sz="2400" b="1" dirty="0" smtClean="0"/>
                  <a:t>Spatially varying covariance matrix</a:t>
                </a:r>
                <a:endParaRPr lang="en-US" sz="2400" b="1" dirty="0"/>
              </a:p>
            </p:txBody>
          </p:sp>
        </p:grpSp>
        <p:sp>
          <p:nvSpPr>
            <p:cNvPr id="18" name="TextBox 17"/>
            <p:cNvSpPr txBox="1"/>
            <p:nvPr/>
          </p:nvSpPr>
          <p:spPr>
            <a:xfrm>
              <a:off x="4114800" y="2966255"/>
              <a:ext cx="4648200" cy="461665"/>
            </a:xfrm>
            <a:prstGeom prst="rect">
              <a:avLst/>
            </a:prstGeom>
            <a:noFill/>
          </p:spPr>
          <p:txBody>
            <a:bodyPr wrap="square" rtlCol="0">
              <a:spAutoFit/>
            </a:bodyPr>
            <a:lstStyle/>
            <a:p>
              <a:pPr algn="ctr"/>
              <a:r>
                <a:rPr lang="en-US" sz="2400" b="1" dirty="0" smtClean="0"/>
                <a:t>Spatially Invariant</a:t>
              </a:r>
              <a:endParaRPr lang="en-US" sz="2400" b="1" dirty="0"/>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pic>
        <p:nvPicPr>
          <p:cNvPr id="3" name="Picture 2"/>
          <p:cNvPicPr>
            <a:picLocks noChangeAspect="1"/>
          </p:cNvPicPr>
          <p:nvPr/>
        </p:nvPicPr>
        <p:blipFill>
          <a:blip r:embed="rId4">
            <a:lum/>
            <a:alphaModFix/>
          </a:blip>
          <a:srcRect/>
          <a:stretch>
            <a:fillRect/>
          </a:stretch>
        </p:blipFill>
        <p:spPr>
          <a:xfrm>
            <a:off x="4385881" y="3427920"/>
            <a:ext cx="4218479" cy="2331960"/>
          </a:xfrm>
          <a:prstGeom prst="rect">
            <a:avLst/>
          </a:prstGeom>
          <a:noFill/>
          <a:ln>
            <a:noFill/>
          </a:ln>
        </p:spPr>
      </p:pic>
      <p:sp>
        <p:nvSpPr>
          <p:cNvPr id="4" name="Freeform 3"/>
          <p:cNvSpPr/>
          <p:nvPr/>
        </p:nvSpPr>
        <p:spPr>
          <a:xfrm>
            <a:off x="826920" y="1916279"/>
            <a:ext cx="7777440" cy="334463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Clr>
                <a:srgbClr val="000000"/>
              </a:buClr>
              <a:buSzPct val="4500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charset="0"/>
                <a:ea typeface="Cambria Math" pitchFamily="18" charset="0"/>
                <a:cs typeface="Arial" pitchFamily="34" charset="0"/>
              </a:rPr>
              <a:t>Trilateral </a:t>
            </a:r>
            <a:r>
              <a:rPr lang="en-US" sz="2400" b="1" i="0" u="none" strike="noStrike" baseline="0" dirty="0">
                <a:ln>
                  <a:noFill/>
                </a:ln>
                <a:solidFill>
                  <a:srgbClr val="000000"/>
                </a:solidFill>
                <a:latin typeface="Arial" pitchFamily="34" charset="0"/>
                <a:ea typeface="Cambria Math" pitchFamily="18" charset="0"/>
                <a:cs typeface="Arial" pitchFamily="34" charset="0"/>
              </a:rPr>
              <a:t>Filter</a:t>
            </a:r>
            <a:r>
              <a:rPr lang="en-US" sz="2400" b="0" i="0" u="none" strike="noStrike" baseline="0" dirty="0">
                <a:ln>
                  <a:noFill/>
                </a:ln>
                <a:solidFill>
                  <a:srgbClr val="000000"/>
                </a:solidFill>
                <a:latin typeface="Arial" pitchFamily="34" charset="0"/>
                <a:ea typeface="Cambria Math" pitchFamily="18" charset="0"/>
                <a:cs typeface="Arial" pitchFamily="34" charset="0"/>
              </a:rPr>
              <a:t> (</a:t>
            </a:r>
            <a:r>
              <a:rPr lang="en-US" sz="2400" b="0" i="0" u="none" strike="noStrike" baseline="0" dirty="0" err="1">
                <a:ln>
                  <a:noFill/>
                </a:ln>
                <a:solidFill>
                  <a:srgbClr val="000000"/>
                </a:solidFill>
                <a:latin typeface="Arial" pitchFamily="34" charset="0"/>
                <a:ea typeface="Cambria Math" pitchFamily="18" charset="0"/>
                <a:cs typeface="Arial" pitchFamily="34" charset="0"/>
              </a:rPr>
              <a:t>Choudhury</a:t>
            </a:r>
            <a:r>
              <a:rPr lang="en-US" sz="2400" b="0" i="0" u="none" strike="noStrike" baseline="0" dirty="0">
                <a:ln>
                  <a:noFill/>
                </a:ln>
                <a:solidFill>
                  <a:srgbClr val="000000"/>
                </a:solidFill>
                <a:latin typeface="Arial" pitchFamily="34" charset="0"/>
                <a:ea typeface="Cambria Math" pitchFamily="18" charset="0"/>
                <a:cs typeface="Arial" pitchFamily="34" charset="0"/>
              </a:rPr>
              <a:t> and </a:t>
            </a:r>
            <a:r>
              <a:rPr lang="en-US" sz="2400" b="0" i="0" u="none" strike="noStrike" baseline="0" dirty="0" err="1">
                <a:ln>
                  <a:noFill/>
                </a:ln>
                <a:solidFill>
                  <a:srgbClr val="000000"/>
                </a:solidFill>
                <a:latin typeface="Arial" pitchFamily="34" charset="0"/>
                <a:ea typeface="Cambria Math" pitchFamily="18" charset="0"/>
                <a:cs typeface="Arial" pitchFamily="34" charset="0"/>
              </a:rPr>
              <a:t>Tumblin</a:t>
            </a:r>
            <a:r>
              <a:rPr lang="en-US" sz="2400" b="0" i="0" u="none" strike="noStrike" baseline="0" dirty="0">
                <a:ln>
                  <a:noFill/>
                </a:ln>
                <a:solidFill>
                  <a:srgbClr val="000000"/>
                </a:solidFill>
                <a:latin typeface="Arial" pitchFamily="34" charset="0"/>
                <a:ea typeface="Cambria Math" pitchFamily="18" charset="0"/>
                <a:cs typeface="Arial" pitchFamily="34" charset="0"/>
              </a:rPr>
              <a:t>, 2003)</a:t>
            </a:r>
            <a:br>
              <a:rPr lang="en-US" sz="2400" b="0" i="0" u="none" strike="noStrike" baseline="0" dirty="0">
                <a:ln>
                  <a:noFill/>
                </a:ln>
                <a:solidFill>
                  <a:srgbClr val="000000"/>
                </a:solidFill>
                <a:latin typeface="Arial" pitchFamily="34" charset="0"/>
                <a:ea typeface="Cambria Math" pitchFamily="18" charset="0"/>
                <a:cs typeface="Arial" pitchFamily="34" charset="0"/>
              </a:rPr>
            </a:br>
            <a:endParaRPr lang="en-US" sz="2400" b="0" i="0" u="none" strike="noStrike" baseline="0" dirty="0">
              <a:ln>
                <a:noFill/>
              </a:ln>
              <a:solidFill>
                <a:srgbClr val="000000"/>
              </a:solidFill>
              <a:latin typeface="Arial" pitchFamily="34" charset="0"/>
              <a:ea typeface="Cambria Math" pitchFamily="18" charset="0"/>
              <a:cs typeface="Arial" pitchFamily="34" charset="0"/>
            </a:endParaRPr>
          </a:p>
          <a:p>
            <a:pPr marL="342900" marR="0" lvl="1"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charset="0"/>
                <a:ea typeface="Cambria Math" pitchFamily="18" charset="0"/>
                <a:cs typeface="Arial" pitchFamily="34" charset="0"/>
              </a:rPr>
              <a:t>Tilt </a:t>
            </a:r>
            <a:r>
              <a:rPr lang="en-US" sz="2400" b="0" i="0" u="none" strike="noStrike" baseline="0" dirty="0">
                <a:ln>
                  <a:noFill/>
                </a:ln>
                <a:solidFill>
                  <a:srgbClr val="000000"/>
                </a:solidFill>
                <a:latin typeface="Arial" pitchFamily="34" charset="0"/>
                <a:ea typeface="Cambria Math" pitchFamily="18" charset="0"/>
                <a:cs typeface="Arial" pitchFamily="34" charset="0"/>
              </a:rPr>
              <a:t>the kernel </a:t>
            </a:r>
            <a:r>
              <a:rPr lang="en-US" sz="2400" b="0" i="0" u="none" strike="noStrike" baseline="0" dirty="0" smtClean="0">
                <a:ln>
                  <a:noFill/>
                </a:ln>
                <a:solidFill>
                  <a:srgbClr val="000000"/>
                </a:solidFill>
                <a:latin typeface="Arial" pitchFamily="34" charset="0"/>
                <a:ea typeface="Cambria Math" pitchFamily="18" charset="0"/>
                <a:cs typeface="Arial" pitchFamily="34" charset="0"/>
              </a:rPr>
              <a:t>of a bilateral filter along </a:t>
            </a:r>
            <a:r>
              <a:rPr lang="en-US" sz="2400" b="0" i="0" u="none" strike="noStrike" baseline="0" dirty="0">
                <a:ln>
                  <a:noFill/>
                </a:ln>
                <a:solidFill>
                  <a:srgbClr val="000000"/>
                </a:solidFill>
                <a:latin typeface="Arial" pitchFamily="34" charset="0"/>
                <a:ea typeface="Cambria Math" pitchFamily="18" charset="0"/>
                <a:cs typeface="Arial" pitchFamily="34" charset="0"/>
              </a:rPr>
              <a:t>the image gradient</a:t>
            </a:r>
            <a:r>
              <a:rPr lang="en-US" sz="2400" b="0" i="0" u="none" strike="noStrike" baseline="0" dirty="0" smtClean="0">
                <a:ln>
                  <a:noFill/>
                </a:ln>
                <a:solidFill>
                  <a:srgbClr val="000000"/>
                </a:solidFill>
                <a:latin typeface="Arial" pitchFamily="34" charset="0"/>
                <a:ea typeface="Cambria Math" pitchFamily="18" charset="0"/>
                <a:cs typeface="Arial" pitchFamily="34" charset="0"/>
              </a:rPr>
              <a:t>.</a:t>
            </a:r>
          </a:p>
          <a:p>
            <a:pPr marL="342900" marR="0" lvl="1"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FF0000"/>
                </a:solidFill>
                <a:latin typeface="Arial" pitchFamily="34" charset="0"/>
                <a:ea typeface="Cambria Math" pitchFamily="18" charset="0"/>
                <a:cs typeface="Arial" pitchFamily="34" charset="0"/>
              </a:rPr>
              <a:t>“</a:t>
            </a:r>
            <a:r>
              <a:rPr lang="en-US" sz="2400" b="0" i="0" u="none" strike="noStrike" baseline="0" dirty="0">
                <a:ln>
                  <a:noFill/>
                </a:ln>
                <a:solidFill>
                  <a:srgbClr val="FF0000"/>
                </a:solidFill>
                <a:latin typeface="Arial" pitchFamily="34" charset="0"/>
                <a:ea typeface="Cambria Math" pitchFamily="18" charset="0"/>
                <a:cs typeface="Arial" pitchFamily="34" charset="0"/>
              </a:rPr>
              <a:t>Piecewise </a:t>
            </a:r>
            <a:r>
              <a:rPr lang="en-US" sz="2400" b="0" i="0" u="none" strike="noStrike" baseline="0" dirty="0" smtClean="0">
                <a:ln>
                  <a:noFill/>
                </a:ln>
                <a:solidFill>
                  <a:srgbClr val="FF0000"/>
                </a:solidFill>
                <a:latin typeface="Arial" pitchFamily="34" charset="0"/>
                <a:ea typeface="Cambria Math" pitchFamily="18" charset="0"/>
                <a:cs typeface="Arial" pitchFamily="34" charset="0"/>
              </a:rPr>
              <a:t>linear”</a:t>
            </a:r>
            <a:r>
              <a:rPr lang="en-US" sz="2400" dirty="0">
                <a:solidFill>
                  <a:srgbClr val="000000"/>
                </a:solidFill>
                <a:latin typeface="Arial" pitchFamily="34" charset="0"/>
                <a:ea typeface="Cambria Math" pitchFamily="18" charset="0"/>
                <a:cs typeface="Arial" pitchFamily="34" charset="0"/>
              </a:rPr>
              <a:t/>
            </a:r>
            <a:br>
              <a:rPr lang="en-US" sz="2400" dirty="0">
                <a:solidFill>
                  <a:srgbClr val="000000"/>
                </a:solidFill>
                <a:latin typeface="Arial" pitchFamily="34" charset="0"/>
                <a:ea typeface="Cambria Math" pitchFamily="18" charset="0"/>
                <a:cs typeface="Arial" pitchFamily="34" charset="0"/>
              </a:rPr>
            </a:br>
            <a:r>
              <a:rPr lang="en-US" sz="2400" b="0" i="0" u="none" strike="noStrike" baseline="0" dirty="0" smtClean="0">
                <a:ln>
                  <a:noFill/>
                </a:ln>
                <a:solidFill>
                  <a:srgbClr val="000000"/>
                </a:solidFill>
                <a:latin typeface="Arial" pitchFamily="34" charset="0"/>
                <a:ea typeface="Cambria Math" pitchFamily="18" charset="0"/>
                <a:cs typeface="Arial" pitchFamily="34" charset="0"/>
              </a:rPr>
              <a:t>instead of</a:t>
            </a:r>
            <a:br>
              <a:rPr lang="en-US" sz="2400" b="0" i="0" u="none" strike="noStrike" baseline="0" dirty="0" smtClean="0">
                <a:ln>
                  <a:noFill/>
                </a:ln>
                <a:solidFill>
                  <a:srgbClr val="000000"/>
                </a:solidFill>
                <a:latin typeface="Arial" pitchFamily="34" charset="0"/>
                <a:ea typeface="Cambria Math" pitchFamily="18" charset="0"/>
                <a:cs typeface="Arial" pitchFamily="34" charset="0"/>
              </a:rPr>
            </a:br>
            <a:r>
              <a:rPr lang="en-US" sz="2400" b="0" i="0" u="none" strike="noStrike" baseline="0" dirty="0" smtClean="0">
                <a:ln>
                  <a:noFill/>
                </a:ln>
                <a:solidFill>
                  <a:srgbClr val="FF0000"/>
                </a:solidFill>
                <a:latin typeface="Arial" pitchFamily="34" charset="0"/>
                <a:ea typeface="Cambria Math" pitchFamily="18" charset="0"/>
                <a:cs typeface="Arial" pitchFamily="34" charset="0"/>
              </a:rPr>
              <a:t>“Piecewise constant”</a:t>
            </a:r>
            <a:r>
              <a:rPr lang="en-US" sz="2400" dirty="0">
                <a:solidFill>
                  <a:srgbClr val="000000"/>
                </a:solidFill>
                <a:latin typeface="Arial" pitchFamily="34" charset="0"/>
                <a:ea typeface="Cambria Math" pitchFamily="18" charset="0"/>
                <a:cs typeface="Arial" pitchFamily="34" charset="0"/>
              </a:rPr>
              <a:t/>
            </a:r>
            <a:br>
              <a:rPr lang="en-US" sz="2400" dirty="0">
                <a:solidFill>
                  <a:srgbClr val="000000"/>
                </a:solidFill>
                <a:latin typeface="Arial" pitchFamily="34" charset="0"/>
                <a:ea typeface="Cambria Math" pitchFamily="18" charset="0"/>
                <a:cs typeface="Arial" pitchFamily="34" charset="0"/>
              </a:rPr>
            </a:br>
            <a:r>
              <a:rPr lang="en-US" sz="2400" b="0" i="0" u="none" strike="noStrike" baseline="0" dirty="0" smtClean="0">
                <a:ln>
                  <a:noFill/>
                </a:ln>
                <a:solidFill>
                  <a:srgbClr val="000000"/>
                </a:solidFill>
                <a:latin typeface="Arial" pitchFamily="34" charset="0"/>
                <a:ea typeface="Cambria Math" pitchFamily="18" charset="0"/>
                <a:cs typeface="Arial" pitchFamily="34" charset="0"/>
              </a:rPr>
              <a:t>model.</a:t>
            </a:r>
            <a:endParaRPr lang="en-US" sz="2400" b="0" i="0" u="none" strike="noStrike" baseline="0" dirty="0">
              <a:ln>
                <a:noFill/>
              </a:ln>
              <a:solidFill>
                <a:srgbClr val="000000"/>
              </a:solidFill>
              <a:latin typeface="Arial" pitchFamily="34" charset="0"/>
              <a:ea typeface="Cambria Math" pitchFamily="18" charset="0"/>
              <a:cs typeface="Arial" pitchFamily="34" charset="0"/>
            </a:endParaRPr>
          </a:p>
        </p:txBody>
      </p:sp>
      <p:sp>
        <p:nvSpPr>
          <p:cNvPr id="5" name="Freeform 4"/>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Spatial Variance in Previous Work</a:t>
            </a:r>
          </a:p>
        </p:txBody>
      </p:sp>
      <p:pic>
        <p:nvPicPr>
          <p:cNvPr id="6" name="Picture 5"/>
          <p:cNvPicPr>
            <a:picLocks noChangeAspect="1"/>
          </p:cNvPicPr>
          <p:nvPr/>
        </p:nvPicPr>
        <p:blipFill>
          <a:blip r:embed="rId5">
            <a:lum/>
            <a:alphaModFix/>
          </a:blip>
          <a:srcRect/>
          <a:stretch>
            <a:fillRect/>
          </a:stretch>
        </p:blipFill>
        <p:spPr>
          <a:xfrm>
            <a:off x="6680160" y="6321600"/>
            <a:ext cx="2212920" cy="420480"/>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250920" y="6467399"/>
            <a:ext cx="1123920" cy="201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Spatially Varying Gaussian Filters: Tradeoff</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6" name="Picture 5"/>
          <p:cNvPicPr>
            <a:picLocks noChangeAspect="1"/>
          </p:cNvPicPr>
          <p:nvPr/>
        </p:nvPicPr>
        <p:blipFill>
          <a:blip r:embed="rId6">
            <a:lum/>
            <a:alphaModFix/>
          </a:blip>
          <a:srcRect/>
          <a:stretch>
            <a:fillRect/>
          </a:stretch>
        </p:blipFill>
        <p:spPr>
          <a:xfrm>
            <a:off x="4572000" y="2971800"/>
            <a:ext cx="4508280" cy="3047760"/>
          </a:xfrm>
          <a:prstGeom prst="rect">
            <a:avLst/>
          </a:prstGeom>
          <a:noFill/>
          <a:ln>
            <a:noFill/>
          </a:ln>
        </p:spPr>
      </p:pic>
      <p:sp>
        <p:nvSpPr>
          <p:cNvPr id="7" name="Freeform 6"/>
          <p:cNvSpPr/>
          <p:nvPr/>
        </p:nvSpPr>
        <p:spPr>
          <a:xfrm>
            <a:off x="826920" y="1916279"/>
            <a:ext cx="7777440" cy="334463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70C0"/>
                </a:solidFill>
                <a:latin typeface="Arial" pitchFamily="34" charset="0"/>
                <a:ea typeface="Cambria Math" pitchFamily="18" charset="0"/>
                <a:cs typeface="Arial" pitchFamily="34" charset="0"/>
              </a:rPr>
              <a:t>Benefits</a:t>
            </a:r>
            <a:r>
              <a:rPr lang="en-US" sz="2400" b="1" i="0" u="none" strike="noStrike" baseline="0" dirty="0">
                <a:ln>
                  <a:noFill/>
                </a:ln>
                <a:solidFill>
                  <a:srgbClr val="0070C0"/>
                </a:solidFill>
                <a:latin typeface="Arial" pitchFamily="34" charset="0"/>
                <a:ea typeface="Cambria Math" pitchFamily="18" charset="0"/>
                <a:cs typeface="Arial" pitchFamily="34" charset="0"/>
              </a:rPr>
              <a:t>:</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charset="0"/>
                <a:ea typeface="Cambria Math" pitchFamily="18" charset="0"/>
                <a:cs typeface="Arial" pitchFamily="34" charset="0"/>
              </a:rPr>
              <a:t> Can </a:t>
            </a:r>
            <a:r>
              <a:rPr lang="en-US" sz="2400" b="0" i="0" u="none" strike="noStrike" baseline="0" dirty="0">
                <a:ln>
                  <a:noFill/>
                </a:ln>
                <a:solidFill>
                  <a:srgbClr val="000000"/>
                </a:solidFill>
                <a:latin typeface="Arial" pitchFamily="34" charset="0"/>
                <a:ea typeface="Cambria Math" pitchFamily="18" charset="0"/>
                <a:cs typeface="Arial" pitchFamily="34" charset="0"/>
              </a:rPr>
              <a:t>adapt the kernel </a:t>
            </a:r>
            <a:r>
              <a:rPr lang="en-US" sz="2400" b="0" i="0" u="none" strike="noStrike" baseline="0" dirty="0" smtClean="0">
                <a:ln>
                  <a:noFill/>
                </a:ln>
                <a:solidFill>
                  <a:srgbClr val="000000"/>
                </a:solidFill>
                <a:latin typeface="Arial" pitchFamily="34" charset="0"/>
                <a:ea typeface="Cambria Math" pitchFamily="18" charset="0"/>
                <a:cs typeface="Arial" pitchFamily="34" charset="0"/>
              </a:rPr>
              <a:t>spatially.</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charset="0"/>
                <a:ea typeface="Cambria Math" pitchFamily="18" charset="0"/>
                <a:cs typeface="Arial" pitchFamily="34" charset="0"/>
              </a:rPr>
              <a:t> Better </a:t>
            </a:r>
            <a:r>
              <a:rPr lang="en-US" sz="2400" b="0" i="0" u="none" strike="noStrike" baseline="0" dirty="0">
                <a:ln>
                  <a:noFill/>
                </a:ln>
                <a:solidFill>
                  <a:srgbClr val="000000"/>
                </a:solidFill>
                <a:latin typeface="Arial" pitchFamily="34" charset="0"/>
                <a:ea typeface="Cambria Math" pitchFamily="18" charset="0"/>
                <a:cs typeface="Arial" pitchFamily="34" charset="0"/>
              </a:rPr>
              <a:t>filtering performance.</a:t>
            </a:r>
          </a:p>
          <a:p>
            <a:pPr marL="0" marR="0" lvl="1" indent="0" algn="l" rtl="0" hangingPunct="1">
              <a:lnSpc>
                <a:spcPct val="110000"/>
              </a:lnSpc>
              <a:spcBef>
                <a:spcPts val="0"/>
              </a:spcBef>
              <a:spcAft>
                <a:spcPts val="0"/>
              </a:spcAft>
              <a:buClr>
                <a:srgbClr val="000000"/>
              </a:buClr>
              <a:buSzPct val="45000"/>
              <a:buFont typeface="StarSymbol"/>
              <a:buChar cha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dirty="0">
              <a:ln>
                <a:noFill/>
              </a:ln>
              <a:solidFill>
                <a:srgbClr val="000000"/>
              </a:solidFill>
              <a:latin typeface="Arial" pitchFamily="34" charset="0"/>
              <a:ea typeface="Cambria Math" pitchFamily="18" charset="0"/>
              <a:cs typeface="Arial" pitchFamily="34" charset="0"/>
            </a:endParaRPr>
          </a:p>
          <a:p>
            <a:pPr marL="0" marR="0" lvl="0" indent="0" algn="l" rtl="0" hangingPunct="1">
              <a:lnSpc>
                <a:spcPct val="110000"/>
              </a:lnSpc>
              <a:spcBef>
                <a:spcPts val="0"/>
              </a:spcBef>
              <a:spcAft>
                <a:spcPts val="0"/>
              </a:spcAft>
              <a:buClr>
                <a:srgbClr val="000000"/>
              </a:buClr>
              <a:buSzPct val="4500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FF0000"/>
                </a:solidFill>
                <a:latin typeface="Arial" pitchFamily="34" charset="0"/>
                <a:ea typeface="Cambria Math" pitchFamily="18" charset="0"/>
                <a:cs typeface="Arial" pitchFamily="34" charset="0"/>
              </a:rPr>
              <a:t>Cost:</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charset="0"/>
                <a:ea typeface="Cambria Math" pitchFamily="18" charset="0"/>
                <a:cs typeface="Arial" pitchFamily="34" charset="0"/>
              </a:rPr>
              <a:t> No </a:t>
            </a:r>
            <a:r>
              <a:rPr lang="en-US" sz="2400" b="0" i="0" u="none" strike="noStrike" baseline="0" dirty="0">
                <a:ln>
                  <a:noFill/>
                </a:ln>
                <a:solidFill>
                  <a:srgbClr val="000000"/>
                </a:solidFill>
                <a:latin typeface="Arial" pitchFamily="34" charset="0"/>
                <a:ea typeface="Cambria Math" pitchFamily="18" charset="0"/>
                <a:cs typeface="Arial" pitchFamily="34" charset="0"/>
              </a:rPr>
              <a:t>longer </a:t>
            </a:r>
            <a:r>
              <a:rPr lang="en-US" sz="2400" b="0" i="0" u="none" strike="noStrike" baseline="0" dirty="0" smtClean="0">
                <a:ln>
                  <a:noFill/>
                </a:ln>
                <a:solidFill>
                  <a:srgbClr val="000000"/>
                </a:solidFill>
                <a:latin typeface="Arial" pitchFamily="34" charset="0"/>
                <a:ea typeface="Cambria Math" pitchFamily="18" charset="0"/>
                <a:cs typeface="Arial" pitchFamily="34" charset="0"/>
              </a:rPr>
              <a:t>separable.</a:t>
            </a: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charset="0"/>
                <a:ea typeface="Cambria Math" pitchFamily="18" charset="0"/>
                <a:cs typeface="Arial" pitchFamily="34" charset="0"/>
              </a:rPr>
              <a:t> No </a:t>
            </a:r>
            <a:r>
              <a:rPr lang="en-US" sz="2400" b="0" i="0" u="none" strike="noStrike" baseline="0" dirty="0">
                <a:ln>
                  <a:noFill/>
                </a:ln>
                <a:solidFill>
                  <a:srgbClr val="000000"/>
                </a:solidFill>
                <a:latin typeface="Arial" pitchFamily="34" charset="0"/>
                <a:ea typeface="Cambria Math" pitchFamily="18" charset="0"/>
                <a:cs typeface="Arial" pitchFamily="34" charset="0"/>
              </a:rPr>
              <a:t>existing acceleration</a:t>
            </a:r>
            <a:br>
              <a:rPr lang="en-US" sz="2400" b="0" i="0" u="none" strike="noStrike" baseline="0" dirty="0">
                <a:ln>
                  <a:noFill/>
                </a:ln>
                <a:solidFill>
                  <a:srgbClr val="000000"/>
                </a:solidFill>
                <a:latin typeface="Arial" pitchFamily="34" charset="0"/>
                <a:ea typeface="Cambria Math" pitchFamily="18" charset="0"/>
                <a:cs typeface="Arial" pitchFamily="34" charset="0"/>
              </a:rPr>
            </a:br>
            <a:r>
              <a:rPr lang="en-US" sz="2400" b="0" i="0" u="none" strike="noStrike" baseline="0" dirty="0" smtClean="0">
                <a:ln>
                  <a:noFill/>
                </a:ln>
                <a:solidFill>
                  <a:srgbClr val="000000"/>
                </a:solidFill>
                <a:latin typeface="Arial" pitchFamily="34" charset="0"/>
                <a:ea typeface="Cambria Math" pitchFamily="18" charset="0"/>
                <a:cs typeface="Arial" pitchFamily="34" charset="0"/>
              </a:rPr>
              <a:t> schemes.</a:t>
            </a:r>
          </a:p>
        </p:txBody>
      </p:sp>
      <p:sp>
        <p:nvSpPr>
          <p:cNvPr id="8" name="TextBox 7"/>
          <p:cNvSpPr txBox="1"/>
          <p:nvPr/>
        </p:nvSpPr>
        <p:spPr>
          <a:xfrm>
            <a:off x="5715000" y="1601280"/>
            <a:ext cx="3429000" cy="1198875"/>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Input</a:t>
            </a:r>
          </a:p>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     Bilateral-filtered</a:t>
            </a:r>
          </a:p>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          Trilateral-filtered</a:t>
            </a:r>
          </a:p>
        </p:txBody>
      </p:sp>
      <p:sp>
        <p:nvSpPr>
          <p:cNvPr id="9" name="Straight Connector 8"/>
          <p:cNvSpPr/>
          <p:nvPr/>
        </p:nvSpPr>
        <p:spPr>
          <a:xfrm>
            <a:off x="5943600" y="2057400"/>
            <a:ext cx="457199" cy="1143000"/>
          </a:xfrm>
          <a:prstGeom prst="line">
            <a:avLst/>
          </a:prstGeom>
          <a:noFill/>
          <a:ln w="19050">
            <a:solidFill>
              <a:srgbClr val="000000"/>
            </a:solidFill>
            <a:prstDash val="solid"/>
            <a:headEnd type="none"/>
            <a:tailEnd type="triangle"/>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0" name="Straight Connector 9"/>
          <p:cNvSpPr/>
          <p:nvPr/>
        </p:nvSpPr>
        <p:spPr>
          <a:xfrm flipH="1">
            <a:off x="8000999" y="2743199"/>
            <a:ext cx="228601" cy="1371601"/>
          </a:xfrm>
          <a:prstGeom prst="line">
            <a:avLst/>
          </a:prstGeom>
          <a:noFill/>
          <a:ln w="19050">
            <a:solidFill>
              <a:srgbClr val="000000"/>
            </a:solidFill>
            <a:prstDash val="solid"/>
            <a:headEnd type="none"/>
            <a:tailEnd type="triangle"/>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1" name="Straight Connector 10"/>
          <p:cNvSpPr/>
          <p:nvPr/>
        </p:nvSpPr>
        <p:spPr>
          <a:xfrm>
            <a:off x="6508799" y="2358000"/>
            <a:ext cx="685800" cy="1972800"/>
          </a:xfrm>
          <a:prstGeom prst="line">
            <a:avLst/>
          </a:prstGeom>
          <a:noFill/>
          <a:ln w="19050">
            <a:solidFill>
              <a:srgbClr val="000000"/>
            </a:solidFill>
            <a:prstDash val="solid"/>
            <a:headEnd type="none"/>
            <a:tailEnd type="triangle"/>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826920" y="1916279"/>
            <a:ext cx="7777440" cy="37509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a:ea typeface="굴림" pitchFamily="50"/>
                <a:cs typeface="굴림" pitchFamily="50"/>
              </a:rPr>
              <a:t>Problem:</a:t>
            </a:r>
            <a:endParaRPr lang="en-US" sz="2400" i="0" u="none" strike="noStrike" baseline="0" dirty="0" smtClean="0">
              <a:ln>
                <a:noFill/>
              </a:ln>
              <a:solidFill>
                <a:srgbClr val="000000"/>
              </a:solidFill>
              <a:latin typeface="Arial" pitchFamily="34"/>
              <a:ea typeface="굴림" pitchFamily="50"/>
              <a:cs typeface="굴림" pitchFamily="50"/>
            </a:endParaRPr>
          </a:p>
          <a:p>
            <a:pPr marL="342900" marR="0" lvl="0" indent="-342900" algn="l" rtl="0" hangingPunct="1">
              <a:lnSpc>
                <a:spcPct val="110000"/>
              </a:lnSpc>
              <a:spcBef>
                <a:spcPts val="0"/>
              </a:spcBef>
              <a:spcAft>
                <a:spcPts val="0"/>
              </a:spcAft>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Spatially </a:t>
            </a:r>
            <a:r>
              <a:rPr lang="en-US" sz="2400" b="0" i="0" u="none" strike="noStrike" baseline="0" dirty="0">
                <a:ln>
                  <a:noFill/>
                </a:ln>
                <a:solidFill>
                  <a:srgbClr val="000000"/>
                </a:solidFill>
                <a:latin typeface="Arial" pitchFamily="34"/>
                <a:ea typeface="굴림" pitchFamily="50"/>
                <a:cs typeface="굴림" pitchFamily="50"/>
              </a:rPr>
              <a:t>varying (thus non-separable) Gaussian filter</a:t>
            </a:r>
          </a:p>
          <a:p>
            <a:pPr lvl="0">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a:ln>
                  <a:noFill/>
                </a:ln>
                <a:solidFill>
                  <a:srgbClr val="000000"/>
                </a:solidFill>
                <a:latin typeface="Arial" pitchFamily="34"/>
                <a:ea typeface="굴림" pitchFamily="50"/>
                <a:cs typeface="굴림" pitchFamily="50"/>
              </a:rPr>
              <a:t/>
            </a:r>
            <a:br>
              <a:rPr lang="en-US" sz="2400" b="0" i="0" u="none" strike="noStrike" baseline="0" dirty="0">
                <a:ln>
                  <a:noFill/>
                </a:ln>
                <a:solidFill>
                  <a:srgbClr val="000000"/>
                </a:solidFill>
                <a:latin typeface="Arial" pitchFamily="34"/>
                <a:ea typeface="굴림" pitchFamily="50"/>
                <a:cs typeface="굴림" pitchFamily="50"/>
              </a:rPr>
            </a:br>
            <a:r>
              <a:rPr lang="en-US" sz="2400" b="1" i="0" u="none" strike="noStrike" baseline="0" dirty="0" smtClean="0">
                <a:ln>
                  <a:noFill/>
                </a:ln>
                <a:solidFill>
                  <a:srgbClr val="000000"/>
                </a:solidFill>
                <a:latin typeface="Arial" pitchFamily="34"/>
                <a:ea typeface="굴림" pitchFamily="50"/>
                <a:cs typeface="굴림" pitchFamily="50"/>
              </a:rPr>
              <a:t>Existing </a:t>
            </a:r>
            <a:r>
              <a:rPr lang="en-US" sz="2400" b="1" i="0" u="none" strike="noStrike" baseline="0" dirty="0">
                <a:ln>
                  <a:noFill/>
                </a:ln>
                <a:solidFill>
                  <a:srgbClr val="000000"/>
                </a:solidFill>
                <a:latin typeface="Arial" pitchFamily="34"/>
                <a:ea typeface="굴림" pitchFamily="50"/>
                <a:cs typeface="굴림" pitchFamily="50"/>
              </a:rPr>
              <a:t>Tool</a:t>
            </a:r>
            <a:r>
              <a:rPr lang="en-US" sz="2400" b="1" i="0" u="none" strike="noStrike" baseline="0" dirty="0" smtClean="0">
                <a:ln>
                  <a:noFill/>
                </a:ln>
                <a:solidFill>
                  <a:srgbClr val="000000"/>
                </a:solidFill>
                <a:latin typeface="Arial" pitchFamily="34"/>
                <a:ea typeface="굴림" pitchFamily="50"/>
                <a:cs typeface="굴림" pitchFamily="50"/>
              </a:rPr>
              <a:t>:</a:t>
            </a:r>
            <a:endParaRPr lang="en-US" sz="2400" dirty="0">
              <a:solidFill>
                <a:srgbClr val="000000"/>
              </a:solidFill>
              <a:latin typeface="Arial" pitchFamily="34"/>
              <a:ea typeface="굴림" pitchFamily="50"/>
              <a:cs typeface="굴림" pitchFamily="50"/>
            </a:endParaRPr>
          </a:p>
          <a:p>
            <a:pPr marL="342900" lvl="0" indent="-342900">
              <a:lnSpc>
                <a:spcPct val="110000"/>
              </a:lnSpc>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Fast </a:t>
            </a:r>
            <a:r>
              <a:rPr lang="en-US" sz="2400" b="0" i="0" u="none" strike="noStrike" baseline="0" dirty="0">
                <a:ln>
                  <a:noFill/>
                </a:ln>
                <a:solidFill>
                  <a:srgbClr val="000000"/>
                </a:solidFill>
                <a:latin typeface="Arial" pitchFamily="34"/>
                <a:ea typeface="굴림" pitchFamily="50"/>
                <a:cs typeface="굴림" pitchFamily="50"/>
              </a:rPr>
              <a:t>algorithms for spatially invariant Gaussian filters</a:t>
            </a:r>
            <a:br>
              <a:rPr lang="en-US" sz="2400" b="0" i="0" u="none" strike="noStrike" baseline="0" dirty="0">
                <a:ln>
                  <a:noFill/>
                </a:ln>
                <a:solidFill>
                  <a:srgbClr val="000000"/>
                </a:solidFill>
                <a:latin typeface="Arial" pitchFamily="34"/>
                <a:ea typeface="굴림" pitchFamily="50"/>
                <a:cs typeface="굴림" pitchFamily="50"/>
              </a:rPr>
            </a:br>
            <a:endParaRPr lang="en-US" sz="2400" b="0" i="0" u="none" strike="noStrike" baseline="0" dirty="0">
              <a:ln>
                <a:noFill/>
              </a:ln>
              <a:solidFill>
                <a:srgbClr val="000000"/>
              </a:solidFill>
              <a:latin typeface="Arial" pitchFamily="34"/>
              <a:ea typeface="굴림" pitchFamily="50"/>
              <a:cs typeface="굴림" pitchFamily="50"/>
            </a:endParaRPr>
          </a:p>
          <a:p>
            <a:pPr lvl="0">
              <a:lnSpc>
                <a:spcPct val="110000"/>
              </a:lnSpc>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a:ea typeface="굴림" pitchFamily="50"/>
                <a:cs typeface="굴림" pitchFamily="50"/>
              </a:rPr>
              <a:t>Solution</a:t>
            </a:r>
            <a:r>
              <a:rPr lang="en-US" sz="2400" b="1" i="0" u="none" strike="noStrike" baseline="0" dirty="0" smtClean="0">
                <a:ln>
                  <a:noFill/>
                </a:ln>
                <a:solidFill>
                  <a:srgbClr val="000000"/>
                </a:solidFill>
                <a:latin typeface="Arial" pitchFamily="34"/>
                <a:ea typeface="굴림" pitchFamily="50"/>
                <a:cs typeface="굴림" pitchFamily="50"/>
              </a:rPr>
              <a:t>:</a:t>
            </a:r>
            <a:endParaRPr lang="en-US" sz="2400" dirty="0">
              <a:solidFill>
                <a:srgbClr val="000000"/>
              </a:solidFill>
              <a:latin typeface="Arial" pitchFamily="34"/>
              <a:ea typeface="굴림" pitchFamily="50"/>
              <a:cs typeface="굴림" pitchFamily="50"/>
            </a:endParaRPr>
          </a:p>
          <a:p>
            <a:pPr marL="342900" lvl="0" indent="-342900">
              <a:lnSpc>
                <a:spcPct val="110000"/>
              </a:lnSpc>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00"/>
                </a:solidFill>
                <a:latin typeface="Arial" pitchFamily="34"/>
                <a:ea typeface="굴림" pitchFamily="50"/>
                <a:cs typeface="굴림" pitchFamily="50"/>
              </a:rPr>
              <a:t> Re-formulate </a:t>
            </a:r>
            <a:r>
              <a:rPr lang="en-US" sz="2400" b="0" i="0" u="none" strike="noStrike" baseline="0" dirty="0">
                <a:ln>
                  <a:noFill/>
                </a:ln>
                <a:solidFill>
                  <a:srgbClr val="000000"/>
                </a:solidFill>
                <a:latin typeface="Arial" pitchFamily="34"/>
                <a:ea typeface="굴림" pitchFamily="50"/>
                <a:cs typeface="굴림" pitchFamily="50"/>
              </a:rPr>
              <a:t>the problem to fit the </a:t>
            </a:r>
            <a:r>
              <a:rPr lang="en-US" sz="2400" b="0" i="0" u="none" strike="noStrike" baseline="0" dirty="0" smtClean="0">
                <a:ln>
                  <a:noFill/>
                </a:ln>
                <a:solidFill>
                  <a:srgbClr val="000000"/>
                </a:solidFill>
                <a:latin typeface="Arial" pitchFamily="34"/>
                <a:ea typeface="굴림" pitchFamily="50"/>
                <a:cs typeface="굴림" pitchFamily="50"/>
              </a:rPr>
              <a:t>tool.</a:t>
            </a:r>
          </a:p>
          <a:p>
            <a:pPr marL="342900" lvl="0" indent="-342900">
              <a:lnSpc>
                <a:spcPct val="110000"/>
              </a:lnSpc>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smtClean="0">
                <a:ln>
                  <a:noFill/>
                </a:ln>
                <a:solidFill>
                  <a:srgbClr val="0000FF"/>
                </a:solidFill>
                <a:latin typeface="Arial" pitchFamily="34"/>
                <a:ea typeface="굴림" pitchFamily="50"/>
                <a:cs typeface="굴림" pitchFamily="50"/>
              </a:rPr>
              <a:t> Need </a:t>
            </a:r>
            <a:r>
              <a:rPr lang="en-US" sz="2400" b="0" i="0" u="none" strike="noStrike" baseline="0" dirty="0">
                <a:ln>
                  <a:noFill/>
                </a:ln>
                <a:solidFill>
                  <a:srgbClr val="0000FF"/>
                </a:solidFill>
                <a:latin typeface="Arial" pitchFamily="34"/>
                <a:ea typeface="굴림" pitchFamily="50"/>
                <a:cs typeface="굴림" pitchFamily="50"/>
              </a:rPr>
              <a:t>to obey the “piecewise-constant” assumption</a:t>
            </a: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Acceleration</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18720" y="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rtl="0" hangingPunct="1">
              <a:lnSpc>
                <a:spcPct val="100000"/>
              </a:lnSpc>
              <a:buNone/>
              <a:tabLst/>
            </a:pPr>
            <a:r>
              <a:rPr lang="en-US" sz="3000" b="1">
                <a:solidFill>
                  <a:srgbClr val="FFFFFF"/>
                </a:solidFill>
                <a:latin typeface="Arial" pitchFamily="34"/>
                <a:ea typeface="DejaVu Sans" pitchFamily="2"/>
                <a:cs typeface="DejaVu Sans" pitchFamily="2"/>
              </a:rPr>
              <a:t>  Na</a:t>
            </a:r>
            <a:r>
              <a:rPr lang="en-US" sz="3000" b="1">
                <a:solidFill>
                  <a:srgbClr val="FFFFFF"/>
                </a:solidFill>
                <a:latin typeface="DejaVu Sans" pitchFamily="34"/>
                <a:ea typeface="DejaVu Sans" pitchFamily="34"/>
                <a:cs typeface="DejaVu Sans" pitchFamily="34"/>
              </a:rPr>
              <a:t>ï</a:t>
            </a:r>
            <a:r>
              <a:rPr lang="en-US" sz="3000" b="1">
                <a:solidFill>
                  <a:srgbClr val="FFFFFF"/>
                </a:solidFill>
                <a:latin typeface="Arial" pitchFamily="34"/>
                <a:ea typeface="DejaVu Sans" pitchFamily="2"/>
                <a:cs typeface="DejaVu Sans" pitchFamily="2"/>
              </a:rPr>
              <a:t>ve Approach (Toy Example)</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TextBox 5"/>
          <p:cNvSpPr txBox="1"/>
          <p:nvPr/>
        </p:nvSpPr>
        <p:spPr>
          <a:xfrm>
            <a:off x="6580799" y="1033199"/>
            <a:ext cx="2743199" cy="425520"/>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200" b="0" i="0" u="none" strike="noStrike" baseline="0">
                <a:ln>
                  <a:noFill/>
                </a:ln>
                <a:solidFill>
                  <a:srgbClr val="4B1F6F"/>
                </a:solidFill>
                <a:latin typeface="굴림" pitchFamily="50"/>
                <a:ea typeface="굴림" pitchFamily="50"/>
                <a:cs typeface="굴림" pitchFamily="50"/>
              </a:rPr>
              <a:t>I LOST THE GAME</a:t>
            </a:r>
          </a:p>
        </p:txBody>
      </p:sp>
      <p:pic>
        <p:nvPicPr>
          <p:cNvPr id="7" name="Picture 6"/>
          <p:cNvPicPr>
            <a:picLocks noChangeAspect="1"/>
          </p:cNvPicPr>
          <p:nvPr/>
        </p:nvPicPr>
        <p:blipFill>
          <a:blip r:embed="rId6">
            <a:lum/>
            <a:alphaModFix/>
          </a:blip>
          <a:srcRect/>
          <a:stretch>
            <a:fillRect/>
          </a:stretch>
        </p:blipFill>
        <p:spPr>
          <a:xfrm>
            <a:off x="1924560" y="2048399"/>
            <a:ext cx="4476240" cy="237600"/>
          </a:xfrm>
          <a:prstGeom prst="rect">
            <a:avLst/>
          </a:prstGeom>
          <a:noFill/>
          <a:ln w="18360">
            <a:solidFill>
              <a:srgbClr val="000000"/>
            </a:solidFill>
            <a:prstDash val="solid"/>
          </a:ln>
        </p:spPr>
      </p:pic>
      <p:pic>
        <p:nvPicPr>
          <p:cNvPr id="8" name="Picture 7"/>
          <p:cNvPicPr>
            <a:picLocks noChangeAspect="1"/>
          </p:cNvPicPr>
          <p:nvPr/>
        </p:nvPicPr>
        <p:blipFill>
          <a:blip r:embed="rId7">
            <a:lum/>
            <a:alphaModFix/>
          </a:blip>
          <a:srcRect/>
          <a:stretch>
            <a:fillRect/>
          </a:stretch>
        </p:blipFill>
        <p:spPr>
          <a:xfrm>
            <a:off x="1924560" y="2734200"/>
            <a:ext cx="4476240" cy="237600"/>
          </a:xfrm>
          <a:prstGeom prst="rect">
            <a:avLst/>
          </a:prstGeom>
          <a:noFill/>
          <a:ln w="18360">
            <a:solidFill>
              <a:srgbClr val="000000"/>
            </a:solidFill>
            <a:prstDash val="solid"/>
          </a:ln>
        </p:spPr>
      </p:pic>
      <p:sp>
        <p:nvSpPr>
          <p:cNvPr id="9" name="TextBox 8"/>
          <p:cNvSpPr txBox="1"/>
          <p:nvPr/>
        </p:nvSpPr>
        <p:spPr>
          <a:xfrm>
            <a:off x="7050599" y="2600280"/>
            <a:ext cx="2006640" cy="456119"/>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Input Signal</a:t>
            </a:r>
          </a:p>
        </p:txBody>
      </p:sp>
      <p:sp>
        <p:nvSpPr>
          <p:cNvPr id="10" name="TextBox 9"/>
          <p:cNvSpPr txBox="1"/>
          <p:nvPr/>
        </p:nvSpPr>
        <p:spPr>
          <a:xfrm>
            <a:off x="6726600" y="3322079"/>
            <a:ext cx="2428560" cy="456119"/>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Desired Kernel</a:t>
            </a:r>
          </a:p>
        </p:txBody>
      </p:sp>
      <p:sp>
        <p:nvSpPr>
          <p:cNvPr id="11" name="Straight Connector 10"/>
          <p:cNvSpPr/>
          <p:nvPr/>
        </p:nvSpPr>
        <p:spPr>
          <a:xfrm flipH="1" flipV="1">
            <a:off x="6521400" y="2214000"/>
            <a:ext cx="457199" cy="457200"/>
          </a:xfrm>
          <a:prstGeom prst="line">
            <a:avLst/>
          </a:prstGeom>
          <a:noFill/>
          <a:ln w="25400">
            <a:solidFill>
              <a:srgbClr val="000000"/>
            </a:solidFill>
            <a:prstDash val="solid"/>
            <a:tailEnd type="triangle"/>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2" name="Straight Connector 11"/>
          <p:cNvSpPr/>
          <p:nvPr/>
        </p:nvSpPr>
        <p:spPr>
          <a:xfrm flipH="1" flipV="1">
            <a:off x="6521400" y="2898000"/>
            <a:ext cx="457199" cy="457200"/>
          </a:xfrm>
          <a:prstGeom prst="line">
            <a:avLst/>
          </a:prstGeom>
          <a:noFill/>
          <a:ln w="25400">
            <a:solidFill>
              <a:srgbClr val="000000"/>
            </a:solidFill>
            <a:prstDash val="solid"/>
            <a:tailEnd type="triangle"/>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3" name="TextBox 12"/>
          <p:cNvSpPr txBox="1"/>
          <p:nvPr/>
        </p:nvSpPr>
        <p:spPr>
          <a:xfrm>
            <a:off x="2286000" y="297180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4" name="TextBox 13"/>
          <p:cNvSpPr txBox="1"/>
          <p:nvPr/>
        </p:nvSpPr>
        <p:spPr>
          <a:xfrm>
            <a:off x="2214000" y="297180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FF0000"/>
                </a:solidFill>
                <a:latin typeface="Arial" pitchFamily="34" charset="0"/>
                <a:ea typeface="굴림" pitchFamily="50"/>
                <a:cs typeface="Arial" pitchFamily="34" charset="0"/>
              </a:rPr>
              <a:t>1</a:t>
            </a:r>
          </a:p>
        </p:txBody>
      </p:sp>
      <p:sp>
        <p:nvSpPr>
          <p:cNvPr id="15" name="TextBox 14"/>
          <p:cNvSpPr txBox="1"/>
          <p:nvPr/>
        </p:nvSpPr>
        <p:spPr>
          <a:xfrm>
            <a:off x="3870000" y="297216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FF0000"/>
                </a:solidFill>
                <a:latin typeface="Arial" pitchFamily="34" charset="0"/>
                <a:ea typeface="굴림" pitchFamily="50"/>
                <a:cs typeface="Arial" pitchFamily="34" charset="0"/>
              </a:rPr>
              <a:t>1</a:t>
            </a:r>
          </a:p>
        </p:txBody>
      </p:sp>
      <p:sp>
        <p:nvSpPr>
          <p:cNvPr id="16" name="TextBox 15"/>
          <p:cNvSpPr txBox="1"/>
          <p:nvPr/>
        </p:nvSpPr>
        <p:spPr>
          <a:xfrm>
            <a:off x="5346000" y="297216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FF0000"/>
                </a:solidFill>
                <a:latin typeface="Arial" pitchFamily="34" charset="0"/>
                <a:ea typeface="굴림" pitchFamily="50"/>
                <a:cs typeface="Arial" pitchFamily="34" charset="0"/>
              </a:rPr>
              <a:t>1</a:t>
            </a:r>
          </a:p>
        </p:txBody>
      </p:sp>
      <p:sp>
        <p:nvSpPr>
          <p:cNvPr id="17" name="TextBox 16"/>
          <p:cNvSpPr txBox="1"/>
          <p:nvPr/>
        </p:nvSpPr>
        <p:spPr>
          <a:xfrm>
            <a:off x="3186000" y="297216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8000"/>
                </a:solidFill>
                <a:latin typeface="Arial" pitchFamily="34" charset="0"/>
                <a:ea typeface="굴림" pitchFamily="50"/>
                <a:cs typeface="Arial" pitchFamily="34" charset="0"/>
              </a:rPr>
              <a:t>2</a:t>
            </a:r>
          </a:p>
        </p:txBody>
      </p:sp>
      <p:sp>
        <p:nvSpPr>
          <p:cNvPr id="18" name="TextBox 17"/>
          <p:cNvSpPr txBox="1"/>
          <p:nvPr/>
        </p:nvSpPr>
        <p:spPr>
          <a:xfrm>
            <a:off x="4482000" y="297216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FF"/>
                </a:solidFill>
                <a:latin typeface="Arial" pitchFamily="34" charset="0"/>
                <a:ea typeface="굴림" pitchFamily="50"/>
                <a:cs typeface="Arial" pitchFamily="34" charset="0"/>
              </a:rPr>
              <a:t>3</a:t>
            </a:r>
          </a:p>
        </p:txBody>
      </p:sp>
      <p:sp>
        <p:nvSpPr>
          <p:cNvPr id="19" name="TextBox 18"/>
          <p:cNvSpPr txBox="1"/>
          <p:nvPr/>
        </p:nvSpPr>
        <p:spPr>
          <a:xfrm>
            <a:off x="5994000" y="2972160"/>
            <a:ext cx="4572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663300"/>
                </a:solidFill>
                <a:latin typeface="Arial" pitchFamily="34" charset="0"/>
                <a:ea typeface="굴림" pitchFamily="50"/>
                <a:cs typeface="Arial" pitchFamily="34" charset="0"/>
              </a:rPr>
              <a:t>4</a:t>
            </a:r>
          </a:p>
        </p:txBody>
      </p:sp>
      <p:sp>
        <p:nvSpPr>
          <p:cNvPr id="24" name="Straight Connector 23"/>
          <p:cNvSpPr/>
          <p:nvPr/>
        </p:nvSpPr>
        <p:spPr>
          <a:xfrm>
            <a:off x="1143000" y="5401800"/>
            <a:ext cx="5943600" cy="0"/>
          </a:xfrm>
          <a:prstGeom prst="line">
            <a:avLst/>
          </a:prstGeom>
          <a:noFill/>
          <a:ln w="36720">
            <a:solidFill>
              <a:srgbClr val="000000"/>
            </a:solidFill>
            <a:prstDash val="solid"/>
          </a:ln>
        </p:spPr>
        <p:txBody>
          <a:bodyPr vert="horz" lIns="108360" tIns="63360" rIns="108360" bIns="6336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pic>
        <p:nvPicPr>
          <p:cNvPr id="25" name="Picture 24"/>
          <p:cNvPicPr>
            <a:picLocks noChangeAspect="1"/>
          </p:cNvPicPr>
          <p:nvPr/>
        </p:nvPicPr>
        <p:blipFill>
          <a:blip r:embed="rId8">
            <a:lum/>
            <a:alphaModFix/>
          </a:blip>
          <a:srcRect/>
          <a:stretch>
            <a:fillRect/>
          </a:stretch>
        </p:blipFill>
        <p:spPr>
          <a:xfrm>
            <a:off x="1924560" y="5709600"/>
            <a:ext cx="4476240" cy="237600"/>
          </a:xfrm>
          <a:prstGeom prst="rect">
            <a:avLst/>
          </a:prstGeom>
          <a:noFill/>
          <a:ln w="18360">
            <a:solidFill>
              <a:srgbClr val="000000"/>
            </a:solidFill>
            <a:prstDash val="solid"/>
          </a:ln>
        </p:spPr>
      </p:pic>
      <p:grpSp>
        <p:nvGrpSpPr>
          <p:cNvPr id="39" name="Group 38"/>
          <p:cNvGrpSpPr/>
          <p:nvPr/>
        </p:nvGrpSpPr>
        <p:grpSpPr>
          <a:xfrm>
            <a:off x="-1" y="3655367"/>
            <a:ext cx="6400801" cy="461665"/>
            <a:chOff x="-1" y="3657600"/>
            <a:chExt cx="6400801" cy="461665"/>
          </a:xfrm>
        </p:grpSpPr>
        <p:pic>
          <p:nvPicPr>
            <p:cNvPr id="20" name="Picture 19"/>
            <p:cNvPicPr>
              <a:picLocks noChangeAspect="1"/>
            </p:cNvPicPr>
            <p:nvPr/>
          </p:nvPicPr>
          <p:blipFill>
            <a:blip r:embed="rId8">
              <a:lum/>
              <a:alphaModFix/>
            </a:blip>
            <a:srcRect/>
            <a:stretch>
              <a:fillRect/>
            </a:stretch>
          </p:blipFill>
          <p:spPr>
            <a:xfrm>
              <a:off x="1924560" y="3765600"/>
              <a:ext cx="4476240" cy="237600"/>
            </a:xfrm>
            <a:prstGeom prst="rect">
              <a:avLst/>
            </a:prstGeom>
            <a:noFill/>
            <a:ln w="18360">
              <a:solidFill>
                <a:srgbClr val="000000"/>
              </a:solidFill>
              <a:prstDash val="solid"/>
            </a:ln>
          </p:spPr>
        </p:pic>
        <p:sp>
          <p:nvSpPr>
            <p:cNvPr id="35" name="TextBox 34"/>
            <p:cNvSpPr txBox="1"/>
            <p:nvPr/>
          </p:nvSpPr>
          <p:spPr>
            <a:xfrm>
              <a:off x="-1" y="3657600"/>
              <a:ext cx="1920239" cy="461665"/>
            </a:xfrm>
            <a:prstGeom prst="rect">
              <a:avLst/>
            </a:prstGeom>
            <a:noFill/>
          </p:spPr>
          <p:txBody>
            <a:bodyPr wrap="square" rtlCol="0">
              <a:spAutoFit/>
            </a:bodyPr>
            <a:lstStyle/>
            <a:p>
              <a:r>
                <a:rPr lang="en-US" sz="2400" b="1" dirty="0" smtClean="0">
                  <a:latin typeface="Arial" pitchFamily="34" charset="0"/>
                  <a:cs typeface="Arial" pitchFamily="34" charset="0"/>
                </a:rPr>
                <a:t>filtered w/ </a:t>
              </a:r>
              <a:r>
                <a:rPr lang="en-US" sz="2400" b="1" dirty="0" smtClean="0">
                  <a:solidFill>
                    <a:srgbClr val="FF0000"/>
                  </a:solidFill>
                  <a:latin typeface="Arial" pitchFamily="34" charset="0"/>
                  <a:cs typeface="Arial" pitchFamily="34" charset="0"/>
                </a:rPr>
                <a:t>1</a:t>
              </a:r>
              <a:endParaRPr lang="en-US" sz="2400" b="1" dirty="0">
                <a:solidFill>
                  <a:srgbClr val="FF0000"/>
                </a:solidFill>
                <a:latin typeface="Arial" pitchFamily="34" charset="0"/>
                <a:cs typeface="Arial" pitchFamily="34" charset="0"/>
              </a:endParaRPr>
            </a:p>
          </p:txBody>
        </p:sp>
      </p:grpSp>
      <p:grpSp>
        <p:nvGrpSpPr>
          <p:cNvPr id="40" name="Group 39"/>
          <p:cNvGrpSpPr/>
          <p:nvPr/>
        </p:nvGrpSpPr>
        <p:grpSpPr>
          <a:xfrm>
            <a:off x="0" y="4038600"/>
            <a:ext cx="6400800" cy="461665"/>
            <a:chOff x="0" y="4038600"/>
            <a:chExt cx="6400800" cy="461665"/>
          </a:xfrm>
        </p:grpSpPr>
        <p:pic>
          <p:nvPicPr>
            <p:cNvPr id="21" name="Picture 20"/>
            <p:cNvPicPr>
              <a:picLocks noChangeAspect="1"/>
            </p:cNvPicPr>
            <p:nvPr/>
          </p:nvPicPr>
          <p:blipFill>
            <a:blip r:embed="rId8">
              <a:lum/>
              <a:alphaModFix/>
            </a:blip>
            <a:srcRect/>
            <a:stretch>
              <a:fillRect/>
            </a:stretch>
          </p:blipFill>
          <p:spPr>
            <a:xfrm>
              <a:off x="1924560" y="4161600"/>
              <a:ext cx="4476240" cy="237600"/>
            </a:xfrm>
            <a:prstGeom prst="rect">
              <a:avLst/>
            </a:prstGeom>
            <a:noFill/>
            <a:ln w="18360">
              <a:solidFill>
                <a:srgbClr val="000000"/>
              </a:solidFill>
              <a:prstDash val="solid"/>
            </a:ln>
          </p:spPr>
        </p:pic>
        <p:sp>
          <p:nvSpPr>
            <p:cNvPr id="36" name="TextBox 35"/>
            <p:cNvSpPr txBox="1"/>
            <p:nvPr/>
          </p:nvSpPr>
          <p:spPr>
            <a:xfrm>
              <a:off x="0" y="4038600"/>
              <a:ext cx="1920239" cy="461665"/>
            </a:xfrm>
            <a:prstGeom prst="rect">
              <a:avLst/>
            </a:prstGeom>
            <a:noFill/>
          </p:spPr>
          <p:txBody>
            <a:bodyPr wrap="square" rtlCol="0">
              <a:spAutoFit/>
            </a:bodyPr>
            <a:lstStyle/>
            <a:p>
              <a:r>
                <a:rPr lang="en-US" sz="2400" b="1" dirty="0" smtClean="0">
                  <a:latin typeface="Arial" pitchFamily="34" charset="0"/>
                  <a:cs typeface="Arial" pitchFamily="34" charset="0"/>
                </a:rPr>
                <a:t>filtered w/ </a:t>
              </a:r>
              <a:r>
                <a:rPr lang="en-US" sz="2400" b="1" dirty="0" smtClean="0">
                  <a:solidFill>
                    <a:srgbClr val="00B050"/>
                  </a:solidFill>
                  <a:latin typeface="Arial" pitchFamily="34" charset="0"/>
                  <a:cs typeface="Arial" pitchFamily="34" charset="0"/>
                </a:rPr>
                <a:t>2</a:t>
              </a:r>
              <a:endParaRPr lang="en-US" sz="2400" b="1" dirty="0">
                <a:solidFill>
                  <a:srgbClr val="00B050"/>
                </a:solidFill>
                <a:latin typeface="Arial" pitchFamily="34" charset="0"/>
                <a:cs typeface="Arial" pitchFamily="34" charset="0"/>
              </a:endParaRPr>
            </a:p>
          </p:txBody>
        </p:sp>
      </p:grpSp>
      <p:grpSp>
        <p:nvGrpSpPr>
          <p:cNvPr id="41" name="Group 40"/>
          <p:cNvGrpSpPr/>
          <p:nvPr/>
        </p:nvGrpSpPr>
        <p:grpSpPr>
          <a:xfrm>
            <a:off x="0" y="4415135"/>
            <a:ext cx="6400800" cy="461665"/>
            <a:chOff x="0" y="4415135"/>
            <a:chExt cx="6400800" cy="461665"/>
          </a:xfrm>
        </p:grpSpPr>
        <p:pic>
          <p:nvPicPr>
            <p:cNvPr id="22" name="Picture 21"/>
            <p:cNvPicPr>
              <a:picLocks noChangeAspect="1"/>
            </p:cNvPicPr>
            <p:nvPr/>
          </p:nvPicPr>
          <p:blipFill>
            <a:blip r:embed="rId8">
              <a:lum/>
              <a:alphaModFix/>
            </a:blip>
            <a:srcRect/>
            <a:stretch>
              <a:fillRect/>
            </a:stretch>
          </p:blipFill>
          <p:spPr>
            <a:xfrm>
              <a:off x="1924560" y="4557600"/>
              <a:ext cx="4476240" cy="237600"/>
            </a:xfrm>
            <a:prstGeom prst="rect">
              <a:avLst/>
            </a:prstGeom>
            <a:noFill/>
            <a:ln w="18360">
              <a:solidFill>
                <a:srgbClr val="000000"/>
              </a:solidFill>
              <a:prstDash val="solid"/>
            </a:ln>
          </p:spPr>
        </p:pic>
        <p:sp>
          <p:nvSpPr>
            <p:cNvPr id="37" name="TextBox 36"/>
            <p:cNvSpPr txBox="1"/>
            <p:nvPr/>
          </p:nvSpPr>
          <p:spPr>
            <a:xfrm>
              <a:off x="0" y="4415135"/>
              <a:ext cx="1920239" cy="461665"/>
            </a:xfrm>
            <a:prstGeom prst="rect">
              <a:avLst/>
            </a:prstGeom>
            <a:noFill/>
          </p:spPr>
          <p:txBody>
            <a:bodyPr wrap="square" rtlCol="0">
              <a:spAutoFit/>
            </a:bodyPr>
            <a:lstStyle/>
            <a:p>
              <a:r>
                <a:rPr lang="en-US" sz="2400" b="1" dirty="0" smtClean="0">
                  <a:latin typeface="Arial" pitchFamily="34" charset="0"/>
                  <a:cs typeface="Arial" pitchFamily="34" charset="0"/>
                </a:rPr>
                <a:t>filtered w/ </a:t>
              </a:r>
              <a:r>
                <a:rPr lang="en-US" sz="2400" b="1" dirty="0" smtClean="0">
                  <a:solidFill>
                    <a:srgbClr val="0070C0"/>
                  </a:solidFill>
                  <a:latin typeface="Arial" pitchFamily="34" charset="0"/>
                  <a:cs typeface="Arial" pitchFamily="34" charset="0"/>
                </a:rPr>
                <a:t>3</a:t>
              </a:r>
              <a:endParaRPr lang="en-US" sz="2400" b="1" dirty="0">
                <a:solidFill>
                  <a:srgbClr val="0070C0"/>
                </a:solidFill>
                <a:latin typeface="Arial" pitchFamily="34" charset="0"/>
                <a:cs typeface="Arial" pitchFamily="34" charset="0"/>
              </a:endParaRPr>
            </a:p>
          </p:txBody>
        </p:sp>
      </p:grpSp>
      <p:grpSp>
        <p:nvGrpSpPr>
          <p:cNvPr id="42" name="Group 41"/>
          <p:cNvGrpSpPr/>
          <p:nvPr/>
        </p:nvGrpSpPr>
        <p:grpSpPr>
          <a:xfrm>
            <a:off x="0" y="4796135"/>
            <a:ext cx="6400800" cy="461665"/>
            <a:chOff x="0" y="4796135"/>
            <a:chExt cx="6400800" cy="461665"/>
          </a:xfrm>
        </p:grpSpPr>
        <p:pic>
          <p:nvPicPr>
            <p:cNvPr id="23" name="Picture 22"/>
            <p:cNvPicPr>
              <a:picLocks noChangeAspect="1"/>
            </p:cNvPicPr>
            <p:nvPr/>
          </p:nvPicPr>
          <p:blipFill>
            <a:blip r:embed="rId8">
              <a:lum/>
              <a:alphaModFix/>
            </a:blip>
            <a:srcRect/>
            <a:stretch>
              <a:fillRect/>
            </a:stretch>
          </p:blipFill>
          <p:spPr>
            <a:xfrm>
              <a:off x="1924560" y="4953600"/>
              <a:ext cx="4476240" cy="237600"/>
            </a:xfrm>
            <a:prstGeom prst="rect">
              <a:avLst/>
            </a:prstGeom>
            <a:noFill/>
            <a:ln w="18360">
              <a:solidFill>
                <a:srgbClr val="000000"/>
              </a:solidFill>
              <a:prstDash val="solid"/>
            </a:ln>
          </p:spPr>
        </p:pic>
        <p:sp>
          <p:nvSpPr>
            <p:cNvPr id="38" name="TextBox 37"/>
            <p:cNvSpPr txBox="1"/>
            <p:nvPr/>
          </p:nvSpPr>
          <p:spPr>
            <a:xfrm>
              <a:off x="0" y="4796135"/>
              <a:ext cx="1920239" cy="461665"/>
            </a:xfrm>
            <a:prstGeom prst="rect">
              <a:avLst/>
            </a:prstGeom>
            <a:noFill/>
          </p:spPr>
          <p:txBody>
            <a:bodyPr wrap="square" rtlCol="0">
              <a:spAutoFit/>
            </a:bodyPr>
            <a:lstStyle/>
            <a:p>
              <a:r>
                <a:rPr lang="en-US" sz="2400" b="1" dirty="0" smtClean="0">
                  <a:latin typeface="Arial" pitchFamily="34" charset="0"/>
                  <a:cs typeface="Arial" pitchFamily="34" charset="0"/>
                </a:rPr>
                <a:t>filtered w/ </a:t>
              </a:r>
              <a:r>
                <a:rPr lang="en-US" sz="2400" b="1" dirty="0" smtClean="0">
                  <a:solidFill>
                    <a:schemeClr val="bg2">
                      <a:lumMod val="50000"/>
                    </a:schemeClr>
                  </a:solidFill>
                  <a:latin typeface="Arial" pitchFamily="34" charset="0"/>
                  <a:cs typeface="Arial" pitchFamily="34" charset="0"/>
                </a:rPr>
                <a:t>4</a:t>
              </a:r>
              <a:endParaRPr lang="en-US" sz="2400" b="1" dirty="0">
                <a:solidFill>
                  <a:schemeClr val="bg2">
                    <a:lumMod val="50000"/>
                  </a:schemeClr>
                </a:solidFill>
                <a:latin typeface="Arial" pitchFamily="34" charset="0"/>
                <a:cs typeface="Arial" pitchFamily="34" charset="0"/>
              </a:endParaRPr>
            </a:p>
          </p:txBody>
        </p:sp>
      </p:grpSp>
      <p:grpSp>
        <p:nvGrpSpPr>
          <p:cNvPr id="30" name="Group 29"/>
          <p:cNvGrpSpPr/>
          <p:nvPr/>
        </p:nvGrpSpPr>
        <p:grpSpPr>
          <a:xfrm>
            <a:off x="1920239" y="3767400"/>
            <a:ext cx="4082400" cy="237600"/>
            <a:chOff x="1920239" y="3767400"/>
            <a:chExt cx="4082400" cy="237600"/>
          </a:xfrm>
        </p:grpSpPr>
        <p:sp>
          <p:nvSpPr>
            <p:cNvPr id="31" name="Freeform 30"/>
            <p:cNvSpPr/>
            <p:nvPr/>
          </p:nvSpPr>
          <p:spPr>
            <a:xfrm>
              <a:off x="1920239" y="3767400"/>
              <a:ext cx="951120" cy="237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6720">
              <a:solidFill>
                <a:srgbClr val="FF0000"/>
              </a:solidFill>
              <a:prstDash val="solid"/>
            </a:ln>
          </p:spPr>
          <p:txBody>
            <a:bodyPr vert="horz" lIns="108000" tIns="63000" rIns="108000" bIns="63000" anchor="ctr" anchorCtr="0" compatLnSpc="1"/>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800" b="1" i="0" u="none" strike="noStrike" baseline="0" dirty="0">
                  <a:ln>
                    <a:noFill/>
                  </a:ln>
                  <a:solidFill>
                    <a:srgbClr val="FF0000"/>
                  </a:solidFill>
                  <a:latin typeface="굴림" pitchFamily="50"/>
                  <a:ea typeface="굴림" pitchFamily="50"/>
                  <a:cs typeface="굴림" pitchFamily="50"/>
                </a:rPr>
                <a:t>1</a:t>
              </a:r>
            </a:p>
          </p:txBody>
        </p:sp>
        <p:sp>
          <p:nvSpPr>
            <p:cNvPr id="32" name="Freeform 31"/>
            <p:cNvSpPr/>
            <p:nvPr/>
          </p:nvSpPr>
          <p:spPr>
            <a:xfrm>
              <a:off x="3828239" y="3767400"/>
              <a:ext cx="457200" cy="237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6720">
              <a:solidFill>
                <a:srgbClr val="FF0000"/>
              </a:solidFill>
              <a:prstDash val="solid"/>
            </a:ln>
          </p:spPr>
          <p:txBody>
            <a:bodyPr vert="horz" lIns="108000" tIns="63000" rIns="108000" bIns="63000" anchor="ctr" anchorCtr="0" compatLnSpc="1"/>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800" b="1" i="0" u="none" strike="noStrike" baseline="0">
                  <a:ln>
                    <a:noFill/>
                  </a:ln>
                  <a:solidFill>
                    <a:srgbClr val="FF0000"/>
                  </a:solidFill>
                  <a:latin typeface="굴림" pitchFamily="50"/>
                  <a:ea typeface="굴림" pitchFamily="50"/>
                  <a:cs typeface="굴림" pitchFamily="50"/>
                </a:rPr>
                <a:t>1</a:t>
              </a:r>
            </a:p>
          </p:txBody>
        </p:sp>
        <p:sp>
          <p:nvSpPr>
            <p:cNvPr id="33" name="Freeform 32"/>
            <p:cNvSpPr/>
            <p:nvPr/>
          </p:nvSpPr>
          <p:spPr>
            <a:xfrm>
              <a:off x="5088239" y="3767400"/>
              <a:ext cx="914400" cy="237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6720">
              <a:solidFill>
                <a:srgbClr val="FF0000"/>
              </a:solidFill>
              <a:prstDash val="solid"/>
            </a:ln>
          </p:spPr>
          <p:txBody>
            <a:bodyPr vert="horz" lIns="108000" tIns="63000" rIns="108000" bIns="63000" anchor="ctr" anchorCtr="0" compatLnSpc="1"/>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800" b="1" i="0" u="none" strike="noStrike" baseline="0">
                  <a:ln>
                    <a:noFill/>
                  </a:ln>
                  <a:solidFill>
                    <a:srgbClr val="FF0000"/>
                  </a:solidFill>
                  <a:latin typeface="굴림" pitchFamily="50"/>
                  <a:ea typeface="굴림" pitchFamily="50"/>
                  <a:cs typeface="굴림" pitchFamily="50"/>
                </a:rPr>
                <a:t>1</a:t>
              </a:r>
            </a:p>
          </p:txBody>
        </p:sp>
      </p:grpSp>
      <p:sp>
        <p:nvSpPr>
          <p:cNvPr id="28" name="Freeform 27"/>
          <p:cNvSpPr/>
          <p:nvPr/>
        </p:nvSpPr>
        <p:spPr>
          <a:xfrm>
            <a:off x="2892239" y="4163400"/>
            <a:ext cx="914400" cy="237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6720">
            <a:solidFill>
              <a:srgbClr val="008000"/>
            </a:solidFill>
            <a:prstDash val="solid"/>
          </a:ln>
        </p:spPr>
        <p:txBody>
          <a:bodyPr vert="horz" lIns="108000" tIns="63000" rIns="108000" bIns="63000" anchor="ctr" anchorCtr="0" compatLnSpc="1"/>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800" b="1" i="0" u="none" strike="noStrike" baseline="0" dirty="0">
                <a:ln>
                  <a:noFill/>
                </a:ln>
                <a:solidFill>
                  <a:srgbClr val="008000"/>
                </a:solidFill>
                <a:latin typeface="굴림" pitchFamily="50"/>
                <a:ea typeface="굴림" pitchFamily="50"/>
                <a:cs typeface="굴림" pitchFamily="50"/>
              </a:rPr>
              <a:t>2</a:t>
            </a:r>
          </a:p>
        </p:txBody>
      </p:sp>
      <p:sp>
        <p:nvSpPr>
          <p:cNvPr id="29" name="Freeform 28"/>
          <p:cNvSpPr/>
          <p:nvPr/>
        </p:nvSpPr>
        <p:spPr>
          <a:xfrm>
            <a:off x="4322880" y="4559400"/>
            <a:ext cx="731519" cy="237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6720">
            <a:solidFill>
              <a:srgbClr val="0000FF"/>
            </a:solidFill>
            <a:prstDash val="solid"/>
          </a:ln>
        </p:spPr>
        <p:txBody>
          <a:bodyPr vert="horz" lIns="108000" tIns="63000" rIns="108000" bIns="63000" anchor="ctr" anchorCtr="0" compatLnSpc="1"/>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800" b="1" i="0" u="none" strike="noStrike" baseline="0">
                <a:ln>
                  <a:noFill/>
                </a:ln>
                <a:solidFill>
                  <a:srgbClr val="0000FF"/>
                </a:solidFill>
                <a:latin typeface="굴림" pitchFamily="50"/>
                <a:ea typeface="굴림" pitchFamily="50"/>
                <a:cs typeface="굴림" pitchFamily="50"/>
              </a:rPr>
              <a:t>3</a:t>
            </a:r>
          </a:p>
        </p:txBody>
      </p:sp>
      <p:grpSp>
        <p:nvGrpSpPr>
          <p:cNvPr id="43" name="Group 42"/>
          <p:cNvGrpSpPr/>
          <p:nvPr/>
        </p:nvGrpSpPr>
        <p:grpSpPr>
          <a:xfrm>
            <a:off x="6629400" y="4724640"/>
            <a:ext cx="2480039" cy="990360"/>
            <a:chOff x="6629400" y="4724640"/>
            <a:chExt cx="2480039" cy="990360"/>
          </a:xfrm>
        </p:grpSpPr>
        <p:sp>
          <p:nvSpPr>
            <p:cNvPr id="26" name="TextBox 25"/>
            <p:cNvSpPr txBox="1"/>
            <p:nvPr/>
          </p:nvSpPr>
          <p:spPr>
            <a:xfrm>
              <a:off x="6834599" y="4724640"/>
              <a:ext cx="2274840" cy="456119"/>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Output Signal</a:t>
              </a:r>
            </a:p>
          </p:txBody>
        </p:sp>
        <p:sp>
          <p:nvSpPr>
            <p:cNvPr id="27" name="Straight Connector 26"/>
            <p:cNvSpPr/>
            <p:nvPr/>
          </p:nvSpPr>
          <p:spPr>
            <a:xfrm flipH="1">
              <a:off x="6629400" y="5257800"/>
              <a:ext cx="1371599" cy="457200"/>
            </a:xfrm>
            <a:prstGeom prst="line">
              <a:avLst/>
            </a:prstGeom>
            <a:noFill/>
            <a:ln w="25400">
              <a:solidFill>
                <a:srgbClr val="000000"/>
              </a:solidFill>
              <a:prstDash val="solid"/>
              <a:tailEnd type="triangle"/>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grpSp>
      <p:sp>
        <p:nvSpPr>
          <p:cNvPr id="34" name="Freeform 33"/>
          <p:cNvSpPr/>
          <p:nvPr/>
        </p:nvSpPr>
        <p:spPr>
          <a:xfrm>
            <a:off x="6060240" y="4955400"/>
            <a:ext cx="340560" cy="237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w="36720">
            <a:solidFill>
              <a:srgbClr val="4C1900"/>
            </a:solidFill>
            <a:prstDash val="solid"/>
          </a:ln>
        </p:spPr>
        <p:txBody>
          <a:bodyPr vert="horz" lIns="108000" tIns="63000" rIns="108000" bIns="63000" anchor="ctr" anchorCtr="0" compatLnSpc="1"/>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800" b="1" i="0" u="none" strike="noStrike" baseline="0" dirty="0">
                <a:ln>
                  <a:noFill/>
                </a:ln>
                <a:solidFill>
                  <a:srgbClr val="4C1900"/>
                </a:solidFill>
                <a:latin typeface="굴림" pitchFamily="50"/>
                <a:ea typeface="굴림" pitchFamily="50"/>
                <a:cs typeface="굴림" pitchFamily="50"/>
              </a:rPr>
              <a:t>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additive="base">
                                        <p:cTn id="18" dur="500" fill="hold"/>
                                        <p:tgtEl>
                                          <p:spTgt spid="41"/>
                                        </p:tgtEl>
                                        <p:attrNameLst>
                                          <p:attrName>ppt_x</p:attrName>
                                        </p:attrNameLst>
                                      </p:cBhvr>
                                      <p:tavLst>
                                        <p:tav tm="0">
                                          <p:val>
                                            <p:strVal val="#ppt_x"/>
                                          </p:val>
                                        </p:tav>
                                        <p:tav tm="100000">
                                          <p:val>
                                            <p:strVal val="#ppt_x"/>
                                          </p:val>
                                        </p:tav>
                                      </p:tavLst>
                                    </p:anim>
                                    <p:anim calcmode="lin" valueType="num">
                                      <p:cBhvr additive="base">
                                        <p:cTn id="19" dur="500" fill="hold"/>
                                        <p:tgtEl>
                                          <p:spTgt spid="41"/>
                                        </p:tgtEl>
                                        <p:attrNameLst>
                                          <p:attrName>ppt_y</p:attrName>
                                        </p:attrNameLst>
                                      </p:cBhvr>
                                      <p:tavLst>
                                        <p:tav tm="0">
                                          <p:val>
                                            <p:strVal val="1+#ppt_h/2"/>
                                          </p:val>
                                        </p:tav>
                                        <p:tav tm="100000">
                                          <p:val>
                                            <p:strVal val="#ppt_y"/>
                                          </p:val>
                                        </p:tav>
                                      </p:tavLst>
                                    </p:anim>
                                  </p:childTnLst>
                                </p:cTn>
                              </p:par>
                            </p:childTnLst>
                          </p:cTn>
                        </p:par>
                        <p:par>
                          <p:cTn id="20" fill="hold">
                            <p:stCondLst>
                              <p:cond delay="1000"/>
                            </p:stCondLst>
                            <p:childTnLst>
                              <p:par>
                                <p:cTn id="21" presetID="2" presetClass="entr" presetSubtype="4" fill="hold" nodeType="after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par>
                          <p:cTn id="35" fill="hold">
                            <p:stCondLst>
                              <p:cond delay="0"/>
                            </p:stCondLst>
                            <p:childTnLst>
                              <p:par>
                                <p:cTn id="36" presetID="42" presetClass="path" presetSubtype="0" accel="50000" decel="50000" fill="hold" nodeType="afterEffect">
                                  <p:stCondLst>
                                    <p:cond delay="0"/>
                                  </p:stCondLst>
                                  <p:childTnLst>
                                    <p:animMotion origin="layout" path="M 2.77778E-7 -3.42124E-6 L 0.00017 0.27759 " pathEditMode="relative" rAng="0" ptsTypes="AA">
                                      <p:cBhvr>
                                        <p:cTn id="37" dur="2000" fill="hold"/>
                                        <p:tgtEl>
                                          <p:spTgt spid="30"/>
                                        </p:tgtEl>
                                        <p:attrNameLst>
                                          <p:attrName>ppt_x</p:attrName>
                                          <p:attrName>ppt_y</p:attrName>
                                        </p:attrNameLst>
                                      </p:cBhvr>
                                      <p:rCtr x="0" y="13879"/>
                                    </p:animMotion>
                                  </p:childTnLst>
                                </p:cTn>
                              </p:par>
                            </p:childTnLst>
                          </p:cTn>
                        </p:par>
                        <p:par>
                          <p:cTn id="38" fill="hold">
                            <p:stCondLst>
                              <p:cond delay="2000"/>
                            </p:stCondLst>
                            <p:childTnLst>
                              <p:par>
                                <p:cTn id="39" presetID="42" presetClass="path" presetSubtype="0" accel="50000" decel="50000" fill="hold" grpId="1" nodeType="afterEffect">
                                  <p:stCondLst>
                                    <p:cond delay="0"/>
                                  </p:stCondLst>
                                  <p:childTnLst>
                                    <p:animMotion origin="layout" path="M 5.55556E-7 -2.3109E-6 L 0.00035 0.21999 " pathEditMode="relative" rAng="0" ptsTypes="AA">
                                      <p:cBhvr>
                                        <p:cTn id="40" dur="1500" fill="hold"/>
                                        <p:tgtEl>
                                          <p:spTgt spid="28"/>
                                        </p:tgtEl>
                                        <p:attrNameLst>
                                          <p:attrName>ppt_x</p:attrName>
                                          <p:attrName>ppt_y</p:attrName>
                                        </p:attrNameLst>
                                      </p:cBhvr>
                                      <p:rCtr x="17" y="10988"/>
                                    </p:animMotion>
                                  </p:childTnLst>
                                </p:cTn>
                              </p:par>
                            </p:childTnLst>
                          </p:cTn>
                        </p:par>
                        <p:par>
                          <p:cTn id="41" fill="hold">
                            <p:stCondLst>
                              <p:cond delay="3500"/>
                            </p:stCondLst>
                            <p:childTnLst>
                              <p:par>
                                <p:cTn id="42" presetID="42" presetClass="path" presetSubtype="0" accel="50000" decel="50000" fill="hold" grpId="1" nodeType="afterEffect">
                                  <p:stCondLst>
                                    <p:cond delay="0"/>
                                  </p:stCondLst>
                                  <p:childTnLst>
                                    <p:animMotion origin="layout" path="M -3.61111E-6 -2.5214E-6 L -3.61111E-6 0.16216 " pathEditMode="relative" rAng="0" ptsTypes="AA">
                                      <p:cBhvr>
                                        <p:cTn id="43" dur="1000" fill="hold"/>
                                        <p:tgtEl>
                                          <p:spTgt spid="29"/>
                                        </p:tgtEl>
                                        <p:attrNameLst>
                                          <p:attrName>ppt_x</p:attrName>
                                          <p:attrName>ppt_y</p:attrName>
                                        </p:attrNameLst>
                                      </p:cBhvr>
                                      <p:rCtr x="0" y="8096"/>
                                    </p:animMotion>
                                  </p:childTnLst>
                                </p:cTn>
                              </p:par>
                            </p:childTnLst>
                          </p:cTn>
                        </p:par>
                        <p:par>
                          <p:cTn id="44" fill="hold">
                            <p:stCondLst>
                              <p:cond delay="4500"/>
                            </p:stCondLst>
                            <p:childTnLst>
                              <p:par>
                                <p:cTn id="45" presetID="42" presetClass="path" presetSubtype="0" accel="50000" decel="50000" fill="hold" grpId="1" nodeType="afterEffect">
                                  <p:stCondLst>
                                    <p:cond delay="0"/>
                                  </p:stCondLst>
                                  <p:childTnLst>
                                    <p:animMotion origin="layout" path="M 1.11022E-16 -1.41106E-6 L 1.11022E-16 0.10456 " pathEditMode="relative" rAng="0" ptsTypes="AA">
                                      <p:cBhvr>
                                        <p:cTn id="46" dur="500" fill="hold"/>
                                        <p:tgtEl>
                                          <p:spTgt spid="34"/>
                                        </p:tgtEl>
                                        <p:attrNameLst>
                                          <p:attrName>ppt_x</p:attrName>
                                          <p:attrName>ppt_y</p:attrName>
                                        </p:attrNameLst>
                                      </p:cBhvr>
                                      <p:rCtr x="0" y="5228"/>
                                    </p:animMotion>
                                  </p:childTnLst>
                                </p:cTn>
                              </p:par>
                            </p:childTnLst>
                          </p:cTn>
                        </p:par>
                        <p:par>
                          <p:cTn id="47" fill="hold">
                            <p:stCondLst>
                              <p:cond delay="5000"/>
                            </p:stCondLst>
                            <p:childTnLst>
                              <p:par>
                                <p:cTn id="48" presetID="1" presetClass="entr" presetSubtype="0" fill="hold" nodeType="afterEffect">
                                  <p:stCondLst>
                                    <p:cond delay="0"/>
                                  </p:stCondLst>
                                  <p:childTnLst>
                                    <p:set>
                                      <p:cBhvr>
                                        <p:cTn id="49"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29" grpId="0" animBg="1"/>
      <p:bldP spid="29" grpId="1" animBg="1"/>
      <p:bldP spid="34" grpId="0" animBg="1"/>
      <p:bldP spid="34"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826920" y="1916279"/>
            <a:ext cx="7777440" cy="469232"/>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Clr>
                <a:srgbClr val="000000"/>
              </a:buClr>
              <a:buSzPct val="4500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charset="0"/>
                <a:ea typeface="굴림" pitchFamily="50"/>
                <a:cs typeface="Arial" pitchFamily="34" charset="0"/>
              </a:rPr>
              <a:t>In </a:t>
            </a:r>
            <a:r>
              <a:rPr lang="en-US" sz="2400" b="1" i="0" u="none" strike="noStrike" baseline="0" dirty="0">
                <a:ln>
                  <a:noFill/>
                </a:ln>
                <a:solidFill>
                  <a:srgbClr val="000000"/>
                </a:solidFill>
                <a:latin typeface="Arial" pitchFamily="34" charset="0"/>
                <a:ea typeface="굴림" pitchFamily="50"/>
                <a:cs typeface="Arial" pitchFamily="34" charset="0"/>
              </a:rPr>
              <a:t>practice, the # of kernels can be very large.</a:t>
            </a: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Challenge #1</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3188160" y="2971800"/>
            <a:ext cx="2526840" cy="2590560"/>
          </a:xfrm>
          <a:prstGeom prst="rect">
            <a:avLst/>
          </a:prstGeom>
          <a:noFill/>
          <a:ln>
            <a:noFill/>
          </a:ln>
        </p:spPr>
      </p:pic>
      <p:sp>
        <p:nvSpPr>
          <p:cNvPr id="8" name="TextBox 7"/>
          <p:cNvSpPr txBox="1"/>
          <p:nvPr/>
        </p:nvSpPr>
        <p:spPr>
          <a:xfrm>
            <a:off x="4343400" y="549900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Pixel Location </a:t>
            </a:r>
            <a:r>
              <a:rPr lang="en-US" sz="2400" b="1" i="0" u="none" strike="noStrike" baseline="0" dirty="0">
                <a:ln>
                  <a:noFill/>
                </a:ln>
                <a:solidFill>
                  <a:srgbClr val="0000FF"/>
                </a:solidFill>
                <a:latin typeface="Arial" pitchFamily="34" charset="0"/>
                <a:ea typeface="굴림" pitchFamily="50"/>
                <a:cs typeface="Arial" pitchFamily="34" charset="0"/>
              </a:rPr>
              <a:t>x</a:t>
            </a:r>
          </a:p>
        </p:txBody>
      </p:sp>
      <p:sp>
        <p:nvSpPr>
          <p:cNvPr id="9" name="TextBox 8"/>
          <p:cNvSpPr txBox="1"/>
          <p:nvPr/>
        </p:nvSpPr>
        <p:spPr>
          <a:xfrm>
            <a:off x="2057400" y="251568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Desired Kernel </a:t>
            </a:r>
            <a:r>
              <a:rPr lang="en-US" sz="2400" b="1" i="0" u="none" strike="noStrike" baseline="0" dirty="0">
                <a:ln>
                  <a:noFill/>
                </a:ln>
                <a:solidFill>
                  <a:srgbClr val="0000FF"/>
                </a:solidFill>
                <a:latin typeface="Arial" pitchFamily="34" charset="0"/>
                <a:ea typeface="굴림" pitchFamily="50"/>
                <a:cs typeface="Arial" pitchFamily="34" charset="0"/>
              </a:rPr>
              <a:t>K(x)</a:t>
            </a:r>
          </a:p>
        </p:txBody>
      </p:sp>
      <p:sp>
        <p:nvSpPr>
          <p:cNvPr id="10" name="Freeform 9"/>
          <p:cNvSpPr/>
          <p:nvPr/>
        </p:nvSpPr>
        <p:spPr>
          <a:xfrm>
            <a:off x="3945600" y="560700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grpSp>
        <p:nvGrpSpPr>
          <p:cNvPr id="11" name="Group 10"/>
          <p:cNvGrpSpPr/>
          <p:nvPr/>
        </p:nvGrpSpPr>
        <p:grpSpPr>
          <a:xfrm>
            <a:off x="389880" y="3429000"/>
            <a:ext cx="2700720" cy="1672200"/>
            <a:chOff x="389880" y="3429000"/>
            <a:chExt cx="2700720" cy="1672200"/>
          </a:xfrm>
        </p:grpSpPr>
        <p:grpSp>
          <p:nvGrpSpPr>
            <p:cNvPr id="12" name="Group 11"/>
            <p:cNvGrpSpPr/>
            <p:nvPr/>
          </p:nvGrpSpPr>
          <p:grpSpPr>
            <a:xfrm>
              <a:off x="2633400" y="3429000"/>
              <a:ext cx="457200" cy="1672200"/>
              <a:chOff x="2633400" y="3429000"/>
              <a:chExt cx="457200" cy="1672200"/>
            </a:xfrm>
          </p:grpSpPr>
          <p:sp>
            <p:nvSpPr>
              <p:cNvPr id="13" name="Straight Connector 12"/>
              <p:cNvSpPr/>
              <p:nvPr/>
            </p:nvSpPr>
            <p:spPr>
              <a:xfrm flipH="1">
                <a:off x="2633400" y="3429000"/>
                <a:ext cx="457200" cy="0"/>
              </a:xfrm>
              <a:prstGeom prst="line">
                <a:avLst/>
              </a:prstGeom>
              <a:noFill/>
              <a:ln w="63500">
                <a:solidFill>
                  <a:srgbClr val="000000"/>
                </a:solidFill>
                <a:prstDash val="solid"/>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Arial" pitchFamily="34" charset="0"/>
                  <a:ea typeface="굴림" pitchFamily="50"/>
                  <a:cs typeface="Arial" pitchFamily="34" charset="0"/>
                </a:endParaRPr>
              </a:p>
            </p:txBody>
          </p:sp>
          <p:sp>
            <p:nvSpPr>
              <p:cNvPr id="14" name="Straight Connector 13"/>
              <p:cNvSpPr/>
              <p:nvPr/>
            </p:nvSpPr>
            <p:spPr>
              <a:xfrm flipH="1">
                <a:off x="2633400" y="5101200"/>
                <a:ext cx="457200" cy="0"/>
              </a:xfrm>
              <a:prstGeom prst="line">
                <a:avLst/>
              </a:prstGeom>
              <a:noFill/>
              <a:ln w="63500">
                <a:solidFill>
                  <a:srgbClr val="000000"/>
                </a:solidFill>
                <a:prstDash val="solid"/>
              </a:ln>
            </p:spPr>
            <p:txBody>
              <a:bodyPr vert="horz" lIns="90000" tIns="45000" rIns="90000" bIns="45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Arial" pitchFamily="34" charset="0"/>
                  <a:ea typeface="굴림" pitchFamily="50"/>
                  <a:cs typeface="Arial" pitchFamily="34" charset="0"/>
                </a:endParaRPr>
              </a:p>
            </p:txBody>
          </p:sp>
        </p:grpSp>
        <p:sp>
          <p:nvSpPr>
            <p:cNvPr id="16" name="TextBox 15"/>
            <p:cNvSpPr txBox="1"/>
            <p:nvPr/>
          </p:nvSpPr>
          <p:spPr>
            <a:xfrm>
              <a:off x="389880" y="3886200"/>
              <a:ext cx="2356920" cy="829543"/>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a:ln>
                    <a:noFill/>
                  </a:ln>
                  <a:solidFill>
                    <a:srgbClr val="000000"/>
                  </a:solidFill>
                  <a:latin typeface="Arial" pitchFamily="34" charset="0"/>
                  <a:ea typeface="굴림" pitchFamily="50"/>
                  <a:cs typeface="Arial" pitchFamily="34" charset="0"/>
                </a:rPr>
                <a:t>Range of</a:t>
              </a:r>
            </a:p>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0" i="0" u="none" strike="noStrike" baseline="0" dirty="0">
                  <a:ln>
                    <a:noFill/>
                  </a:ln>
                  <a:solidFill>
                    <a:srgbClr val="000000"/>
                  </a:solidFill>
                  <a:latin typeface="Arial" pitchFamily="34" charset="0"/>
                  <a:ea typeface="굴림" pitchFamily="50"/>
                  <a:cs typeface="Arial" pitchFamily="34" charset="0"/>
                </a:rPr>
                <a:t>Kernels needed</a:t>
              </a:r>
            </a:p>
          </p:txBody>
        </p:sp>
      </p:grpSp>
      <p:pic>
        <p:nvPicPr>
          <p:cNvPr id="17" name="Picture 16"/>
          <p:cNvPicPr>
            <a:picLocks noChangeAspect="1"/>
          </p:cNvPicPr>
          <p:nvPr/>
        </p:nvPicPr>
        <p:blipFill>
          <a:blip r:embed="rId7">
            <a:lum/>
            <a:alphaModFix/>
          </a:blip>
          <a:srcRect/>
          <a:stretch>
            <a:fillRect/>
          </a:stretch>
        </p:blipFill>
        <p:spPr>
          <a:xfrm>
            <a:off x="3191400" y="2971800"/>
            <a:ext cx="2526840" cy="2590560"/>
          </a:xfrm>
          <a:prstGeom prst="rect">
            <a:avLst/>
          </a:prstGeom>
          <a:noFill/>
          <a:ln>
            <a:noFill/>
          </a:ln>
        </p:spPr>
      </p:pic>
      <p:cxnSp>
        <p:nvCxnSpPr>
          <p:cNvPr id="19" name="Straight Arrow Connector 18"/>
          <p:cNvCxnSpPr/>
          <p:nvPr/>
        </p:nvCxnSpPr>
        <p:spPr>
          <a:xfrm>
            <a:off x="2862000" y="3427920"/>
            <a:ext cx="0" cy="1673280"/>
          </a:xfrm>
          <a:prstGeom prst="straightConnector1">
            <a:avLst/>
          </a:prstGeom>
          <a:ln w="63500">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18720" y="0"/>
            <a:ext cx="9162720" cy="6872400"/>
          </a:xfrm>
          <a:prstGeom prst="rect">
            <a:avLst/>
          </a:prstGeom>
          <a:noFill/>
          <a:ln>
            <a:noFill/>
          </a:ln>
        </p:spPr>
      </p:pic>
      <p:sp>
        <p:nvSpPr>
          <p:cNvPr id="3" name="Freeform 2"/>
          <p:cNvSpPr/>
          <p:nvPr/>
        </p:nvSpPr>
        <p:spPr>
          <a:xfrm>
            <a:off x="826920" y="1916279"/>
            <a:ext cx="7777440" cy="50077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Clr>
                <a:srgbClr val="000000"/>
              </a:buClr>
              <a:buSzPct val="4500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a:ea typeface="굴림" pitchFamily="50"/>
                <a:cs typeface="굴림" pitchFamily="50"/>
              </a:rPr>
              <a:t>Sample</a:t>
            </a:r>
            <a:r>
              <a:rPr lang="en-US" sz="2400" b="1" i="0" u="none" strike="noStrike" dirty="0" smtClean="0">
                <a:ln>
                  <a:noFill/>
                </a:ln>
                <a:solidFill>
                  <a:srgbClr val="000000"/>
                </a:solidFill>
                <a:latin typeface="Arial" pitchFamily="34"/>
                <a:ea typeface="굴림" pitchFamily="50"/>
                <a:cs typeface="굴림" pitchFamily="50"/>
              </a:rPr>
              <a:t> a fe</a:t>
            </a:r>
            <a:r>
              <a:rPr lang="en-US" sz="2400" b="1" dirty="0" smtClean="0">
                <a:solidFill>
                  <a:srgbClr val="000000"/>
                </a:solidFill>
                <a:latin typeface="Arial" pitchFamily="34"/>
                <a:ea typeface="굴림" pitchFamily="50"/>
                <a:cs typeface="굴림" pitchFamily="50"/>
              </a:rPr>
              <a:t>w kernels and interpolate.</a:t>
            </a:r>
            <a:endParaRPr lang="en-US" sz="2400" b="1" i="0" u="none" strike="noStrike" baseline="0" dirty="0">
              <a:ln>
                <a:noFill/>
              </a:ln>
              <a:solidFill>
                <a:srgbClr val="000000"/>
              </a:solidFill>
              <a:latin typeface="Arial" pitchFamily="34"/>
              <a:ea typeface="굴림" pitchFamily="50"/>
              <a:cs typeface="굴림" pitchFamily="50"/>
            </a:endParaRPr>
          </a:p>
        </p:txBody>
      </p:sp>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a:t>
            </a:r>
            <a:r>
              <a:rPr lang="en-US" sz="3000" b="1" i="0" u="none" strike="noStrike" baseline="0" dirty="0" smtClean="0">
                <a:ln>
                  <a:noFill/>
                </a:ln>
                <a:solidFill>
                  <a:srgbClr val="FFFFFF"/>
                </a:solidFill>
                <a:latin typeface="Arial" pitchFamily="34"/>
                <a:ea typeface="굴림" pitchFamily="50"/>
                <a:cs typeface="굴림" pitchFamily="50"/>
              </a:rPr>
              <a:t>Solution #1</a:t>
            </a:r>
            <a:endParaRPr lang="en-US" sz="3000" b="1" i="0" u="none" strike="noStrike" baseline="0" dirty="0">
              <a:ln>
                <a:noFill/>
              </a:ln>
              <a:solidFill>
                <a:srgbClr val="FFFFFF"/>
              </a:solidFill>
              <a:latin typeface="Arial" pitchFamily="34"/>
              <a:ea typeface="굴림" pitchFamily="50"/>
              <a:cs typeface="굴림" pitchFamily="50"/>
            </a:endParaRP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7" name="TextBox 6"/>
          <p:cNvSpPr txBox="1"/>
          <p:nvPr/>
        </p:nvSpPr>
        <p:spPr>
          <a:xfrm>
            <a:off x="2057400" y="251568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Desired Kernel </a:t>
            </a:r>
            <a:r>
              <a:rPr lang="en-US" sz="2400" b="1" i="0" u="none" strike="noStrike" baseline="0" dirty="0">
                <a:ln>
                  <a:noFill/>
                </a:ln>
                <a:solidFill>
                  <a:srgbClr val="0000FF"/>
                </a:solidFill>
                <a:latin typeface="Arial" pitchFamily="34" charset="0"/>
                <a:ea typeface="굴림" pitchFamily="50"/>
                <a:cs typeface="Arial" pitchFamily="34" charset="0"/>
              </a:rPr>
              <a:t>K(x)</a:t>
            </a:r>
          </a:p>
        </p:txBody>
      </p:sp>
      <p:pic>
        <p:nvPicPr>
          <p:cNvPr id="8" name="Picture 7"/>
          <p:cNvPicPr>
            <a:picLocks noChangeAspect="1"/>
          </p:cNvPicPr>
          <p:nvPr/>
        </p:nvPicPr>
        <p:blipFill>
          <a:blip r:embed="rId6">
            <a:lum/>
            <a:alphaModFix/>
          </a:blip>
          <a:srcRect/>
          <a:stretch>
            <a:fillRect/>
          </a:stretch>
        </p:blipFill>
        <p:spPr>
          <a:xfrm>
            <a:off x="3191400" y="2971800"/>
            <a:ext cx="2526840" cy="2590560"/>
          </a:xfrm>
          <a:prstGeom prst="rect">
            <a:avLst/>
          </a:prstGeom>
          <a:noFill/>
          <a:ln>
            <a:noFill/>
          </a:ln>
        </p:spPr>
      </p:pic>
      <p:sp>
        <p:nvSpPr>
          <p:cNvPr id="9" name="TextBox 8"/>
          <p:cNvSpPr txBox="1"/>
          <p:nvPr/>
        </p:nvSpPr>
        <p:spPr>
          <a:xfrm>
            <a:off x="914400" y="3886560"/>
            <a:ext cx="1706400" cy="829543"/>
          </a:xfrm>
          <a:prstGeom prst="rect">
            <a:avLst/>
          </a:prstGeom>
          <a:noFill/>
          <a:ln>
            <a:noFill/>
          </a:ln>
        </p:spPr>
        <p:txBody>
          <a:bodyPr vert="horz" wrap="square"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Sampled</a:t>
            </a:r>
          </a:p>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kernels</a:t>
            </a:r>
          </a:p>
        </p:txBody>
      </p:sp>
      <p:grpSp>
        <p:nvGrpSpPr>
          <p:cNvPr id="10" name="Group 9"/>
          <p:cNvGrpSpPr/>
          <p:nvPr/>
        </p:nvGrpSpPr>
        <p:grpSpPr>
          <a:xfrm>
            <a:off x="3191400" y="2971800"/>
            <a:ext cx="5429879" cy="2590560"/>
            <a:chOff x="3191400" y="2971800"/>
            <a:chExt cx="5429879" cy="2590560"/>
          </a:xfrm>
        </p:grpSpPr>
        <p:pic>
          <p:nvPicPr>
            <p:cNvPr id="11" name="Picture 10"/>
            <p:cNvPicPr>
              <a:picLocks noChangeAspect="1"/>
            </p:cNvPicPr>
            <p:nvPr/>
          </p:nvPicPr>
          <p:blipFill>
            <a:blip r:embed="rId7">
              <a:lum/>
              <a:alphaModFix/>
            </a:blip>
            <a:srcRect/>
            <a:stretch>
              <a:fillRect/>
            </a:stretch>
          </p:blipFill>
          <p:spPr>
            <a:xfrm>
              <a:off x="3191400" y="2971800"/>
              <a:ext cx="2526840" cy="2590560"/>
            </a:xfrm>
            <a:prstGeom prst="rect">
              <a:avLst/>
            </a:prstGeom>
            <a:noFill/>
            <a:ln>
              <a:noFill/>
            </a:ln>
          </p:spPr>
        </p:pic>
        <p:sp>
          <p:nvSpPr>
            <p:cNvPr id="12" name="TextBox 11"/>
            <p:cNvSpPr txBox="1"/>
            <p:nvPr/>
          </p:nvSpPr>
          <p:spPr>
            <a:xfrm>
              <a:off x="5912279" y="3429000"/>
              <a:ext cx="2709000" cy="829543"/>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FF0000"/>
                  </a:solidFill>
                  <a:latin typeface="Arial" pitchFamily="34" charset="0"/>
                  <a:ea typeface="굴림" pitchFamily="50"/>
                  <a:cs typeface="Arial" pitchFamily="34" charset="0"/>
                </a:rPr>
                <a:t>Interpolate result!</a:t>
              </a:r>
            </a:p>
          </p:txBody>
        </p:sp>
        <p:sp>
          <p:nvSpPr>
            <p:cNvPr id="13" name="Straight Connector 12"/>
            <p:cNvSpPr/>
            <p:nvPr/>
          </p:nvSpPr>
          <p:spPr>
            <a:xfrm flipH="1">
              <a:off x="4343400" y="3657600"/>
              <a:ext cx="1600200" cy="228600"/>
            </a:xfrm>
            <a:prstGeom prst="line">
              <a:avLst/>
            </a:prstGeom>
            <a:noFill/>
            <a:ln w="38100">
              <a:solidFill>
                <a:srgbClr val="FF0000"/>
              </a:solidFill>
              <a:prstDash val="solid"/>
              <a:tailEnd type="arrow"/>
            </a:ln>
          </p:spPr>
          <p:txBody>
            <a:bodyPr vert="horz" lIns="99000" tIns="54000" rIns="99000" bIns="54000" anchor="ctr" anchorCtr="1"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grpSp>
      <p:sp>
        <p:nvSpPr>
          <p:cNvPr id="14" name="TextBox 13"/>
          <p:cNvSpPr txBox="1"/>
          <p:nvPr/>
        </p:nvSpPr>
        <p:spPr>
          <a:xfrm>
            <a:off x="4343400" y="549900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Pixel Location </a:t>
            </a:r>
            <a:r>
              <a:rPr lang="en-US" sz="2400" b="1" i="0" u="none" strike="noStrike" baseline="0" dirty="0">
                <a:ln>
                  <a:noFill/>
                </a:ln>
                <a:solidFill>
                  <a:srgbClr val="0000FF"/>
                </a:solidFill>
                <a:latin typeface="Arial" pitchFamily="34" charset="0"/>
                <a:ea typeface="굴림" pitchFamily="50"/>
                <a:cs typeface="Arial" pitchFamily="34" charset="0"/>
              </a:rPr>
              <a:t>x</a:t>
            </a:r>
          </a:p>
        </p:txBody>
      </p:sp>
      <p:sp>
        <p:nvSpPr>
          <p:cNvPr id="15" name="Freeform 14"/>
          <p:cNvSpPr/>
          <p:nvPr/>
        </p:nvSpPr>
        <p:spPr>
          <a:xfrm>
            <a:off x="3945600" y="560700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grpSp>
        <p:nvGrpSpPr>
          <p:cNvPr id="16" name="Group 15"/>
          <p:cNvGrpSpPr/>
          <p:nvPr/>
        </p:nvGrpSpPr>
        <p:grpSpPr>
          <a:xfrm>
            <a:off x="2682000" y="3020400"/>
            <a:ext cx="914400" cy="2044570"/>
            <a:chOff x="2682000" y="3020400"/>
            <a:chExt cx="914400" cy="2044570"/>
          </a:xfrm>
        </p:grpSpPr>
        <p:sp>
          <p:nvSpPr>
            <p:cNvPr id="17" name="TextBox 16"/>
            <p:cNvSpPr txBox="1"/>
            <p:nvPr/>
          </p:nvSpPr>
          <p:spPr>
            <a:xfrm>
              <a:off x="2682000" y="3020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18" name="TextBox 17"/>
            <p:cNvSpPr txBox="1"/>
            <p:nvPr/>
          </p:nvSpPr>
          <p:spPr>
            <a:xfrm>
              <a:off x="2682000" y="3812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9" name="TextBox 18"/>
            <p:cNvSpPr txBox="1"/>
            <p:nvPr/>
          </p:nvSpPr>
          <p:spPr>
            <a:xfrm>
              <a:off x="2682000" y="4604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826920" y="1916279"/>
            <a:ext cx="7777440" cy="334463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charset="0"/>
                <a:ea typeface="굴림" pitchFamily="50"/>
                <a:cs typeface="Arial" pitchFamily="34" charset="0"/>
              </a:rPr>
              <a:t>Interpolation needs an extra assumption to work:</a:t>
            </a:r>
            <a:r>
              <a:rPr lang="en-US" sz="2400" b="1" i="0" u="none" strike="noStrike" baseline="0" dirty="0">
                <a:ln>
                  <a:noFill/>
                </a:ln>
                <a:solidFill>
                  <a:srgbClr val="000000"/>
                </a:solidFill>
                <a:latin typeface="Arial" pitchFamily="34" charset="0"/>
                <a:ea typeface="굴림" pitchFamily="50"/>
                <a:cs typeface="Arial" pitchFamily="34" charset="0"/>
              </a:rPr>
              <a:t/>
            </a:r>
            <a:br>
              <a:rPr lang="en-US" sz="2400" b="1" i="0" u="none" strike="noStrike" baseline="0" dirty="0">
                <a:ln>
                  <a:noFill/>
                </a:ln>
                <a:solidFill>
                  <a:srgbClr val="000000"/>
                </a:solidFill>
                <a:latin typeface="Arial" pitchFamily="34" charset="0"/>
                <a:ea typeface="굴림" pitchFamily="50"/>
                <a:cs typeface="Arial" pitchFamily="34" charset="0"/>
              </a:rPr>
            </a:br>
            <a:endParaRPr lang="en-US" sz="2400" b="1" i="0" u="none" strike="noStrike" baseline="0" dirty="0">
              <a:ln>
                <a:noFill/>
              </a:ln>
              <a:solidFill>
                <a:srgbClr val="000000"/>
              </a:solidFill>
              <a:latin typeface="Arial" pitchFamily="34" charset="0"/>
              <a:ea typeface="굴림" pitchFamily="50"/>
              <a:cs typeface="Arial" pitchFamily="34" charset="0"/>
            </a:endParaRP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a:solidFill>
                  <a:srgbClr val="000000"/>
                </a:solidFill>
                <a:latin typeface="Arial" pitchFamily="34" charset="0"/>
                <a:ea typeface="굴림" pitchFamily="50"/>
                <a:cs typeface="Arial" pitchFamily="34" charset="0"/>
              </a:rPr>
              <a:t> </a:t>
            </a:r>
            <a:r>
              <a:rPr lang="en-US" sz="2400" b="0" i="0" u="none" strike="noStrike" baseline="0" dirty="0" smtClean="0">
                <a:ln>
                  <a:noFill/>
                </a:ln>
                <a:solidFill>
                  <a:srgbClr val="000000"/>
                </a:solidFill>
                <a:latin typeface="Arial" pitchFamily="34" charset="0"/>
                <a:ea typeface="굴림" pitchFamily="50"/>
                <a:cs typeface="Arial" pitchFamily="34" charset="0"/>
              </a:rPr>
              <a:t>The </a:t>
            </a:r>
            <a:r>
              <a:rPr lang="en-US" sz="2400" b="0" i="0" u="none" strike="noStrike" baseline="0" dirty="0">
                <a:ln>
                  <a:noFill/>
                </a:ln>
                <a:solidFill>
                  <a:srgbClr val="000000"/>
                </a:solidFill>
                <a:latin typeface="Arial" pitchFamily="34" charset="0"/>
                <a:ea typeface="굴림" pitchFamily="50"/>
                <a:cs typeface="Arial" pitchFamily="34" charset="0"/>
              </a:rPr>
              <a:t>covariance matrix </a:t>
            </a:r>
            <a:r>
              <a:rPr lang="en-US" sz="2400" b="1" i="0" u="none" strike="noStrike" baseline="0" dirty="0" err="1">
                <a:ln>
                  <a:noFill/>
                </a:ln>
                <a:solidFill>
                  <a:srgbClr val="000000"/>
                </a:solidFill>
                <a:latin typeface="Arial" pitchFamily="34" charset="0"/>
                <a:ea typeface="DejaVu Sans" pitchFamily="34"/>
                <a:cs typeface="Arial" pitchFamily="34" charset="0"/>
              </a:rPr>
              <a:t>Ʃ</a:t>
            </a:r>
            <a:r>
              <a:rPr lang="en-US" sz="2400" b="1" i="0" u="none" strike="noStrike" baseline="-25000" dirty="0" err="1">
                <a:ln>
                  <a:noFill/>
                </a:ln>
                <a:solidFill>
                  <a:srgbClr val="000000"/>
                </a:solidFill>
                <a:latin typeface="Arial" pitchFamily="34" charset="0"/>
                <a:ea typeface="DejaVu Sans" pitchFamily="34"/>
                <a:cs typeface="Arial" pitchFamily="34" charset="0"/>
              </a:rPr>
              <a:t>i</a:t>
            </a:r>
            <a:r>
              <a:rPr lang="en-US" sz="2400" b="0" i="0" u="none" strike="noStrike" baseline="0" dirty="0">
                <a:ln>
                  <a:noFill/>
                </a:ln>
                <a:solidFill>
                  <a:srgbClr val="000000"/>
                </a:solidFill>
                <a:latin typeface="Arial" pitchFamily="34" charset="0"/>
                <a:ea typeface="DejaVu Sans" pitchFamily="34"/>
                <a:cs typeface="Arial" pitchFamily="34" charset="0"/>
              </a:rPr>
              <a:t> is </a:t>
            </a:r>
            <a:r>
              <a:rPr lang="en-US" sz="2400" b="0" i="0" u="none" strike="noStrike" baseline="0" dirty="0" smtClean="0">
                <a:ln>
                  <a:noFill/>
                </a:ln>
                <a:solidFill>
                  <a:srgbClr val="000000"/>
                </a:solidFill>
                <a:latin typeface="Arial" pitchFamily="34" charset="0"/>
                <a:ea typeface="DejaVu Sans" pitchFamily="34"/>
                <a:cs typeface="Arial" pitchFamily="34" charset="0"/>
              </a:rPr>
              <a:t>either piecewise-constant</a:t>
            </a:r>
            <a:r>
              <a:rPr lang="en-US" sz="2400" b="0" i="0" u="none" strike="noStrike" baseline="0" dirty="0">
                <a:ln>
                  <a:noFill/>
                </a:ln>
                <a:solidFill>
                  <a:srgbClr val="000000"/>
                </a:solidFill>
                <a:latin typeface="Arial" pitchFamily="34" charset="0"/>
                <a:ea typeface="DejaVu Sans" pitchFamily="34"/>
                <a:cs typeface="Arial" pitchFamily="34" charset="0"/>
              </a:rPr>
              <a:t>, or smoothly </a:t>
            </a:r>
            <a:r>
              <a:rPr lang="en-US" sz="2400" b="0" i="0" u="none" strike="noStrike" baseline="0" dirty="0" smtClean="0">
                <a:ln>
                  <a:noFill/>
                </a:ln>
                <a:solidFill>
                  <a:srgbClr val="000000"/>
                </a:solidFill>
                <a:latin typeface="Arial" pitchFamily="34" charset="0"/>
                <a:ea typeface="DejaVu Sans" pitchFamily="34"/>
                <a:cs typeface="Arial" pitchFamily="34" charset="0"/>
              </a:rPr>
              <a:t>varying.</a:t>
            </a:r>
            <a:br>
              <a:rPr lang="en-US" sz="2400" b="0" i="0" u="none" strike="noStrike" baseline="0" dirty="0" smtClean="0">
                <a:ln>
                  <a:noFill/>
                </a:ln>
                <a:solidFill>
                  <a:srgbClr val="000000"/>
                </a:solidFill>
                <a:latin typeface="Arial" pitchFamily="34" charset="0"/>
                <a:ea typeface="DejaVu Sans" pitchFamily="34"/>
                <a:cs typeface="Arial" pitchFamily="34" charset="0"/>
              </a:rPr>
            </a:br>
            <a:endParaRPr lang="en-US" sz="2400" b="0" i="0" u="none" strike="noStrike" baseline="0" dirty="0" smtClean="0">
              <a:ln>
                <a:noFill/>
              </a:ln>
              <a:solidFill>
                <a:srgbClr val="000000"/>
              </a:solidFill>
              <a:latin typeface="Arial" pitchFamily="34" charset="0"/>
              <a:ea typeface="DejaVu Sans" pitchFamily="34"/>
              <a:cs typeface="Arial" pitchFamily="34" charset="0"/>
            </a:endParaRPr>
          </a:p>
          <a:p>
            <a:pPr marL="342900" marR="0" lvl="0" indent="-342900" algn="l" rtl="0" hangingPunct="1">
              <a:lnSpc>
                <a:spcPct val="110000"/>
              </a:lnSpc>
              <a:spcBef>
                <a:spcPts val="0"/>
              </a:spcBef>
              <a:spcAft>
                <a:spcPts val="0"/>
              </a:spcAft>
              <a:buClr>
                <a:srgbClr val="000000"/>
              </a:buClr>
              <a:buSzPct val="45000"/>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dirty="0" smtClean="0">
                <a:latin typeface="Arial" pitchFamily="34" charset="0"/>
                <a:ea typeface="DejaVu Sans" pitchFamily="34"/>
                <a:cs typeface="Arial" pitchFamily="34" charset="0"/>
              </a:rPr>
              <a:t> Kernel is </a:t>
            </a:r>
            <a:r>
              <a:rPr lang="en-US" sz="2400" b="1" dirty="0" smtClean="0">
                <a:solidFill>
                  <a:srgbClr val="FF0000"/>
                </a:solidFill>
                <a:latin typeface="Arial" pitchFamily="34" charset="0"/>
                <a:ea typeface="DejaVu Sans" pitchFamily="34"/>
                <a:cs typeface="Arial" pitchFamily="34" charset="0"/>
              </a:rPr>
              <a:t>spatially varying</a:t>
            </a:r>
            <a:r>
              <a:rPr lang="en-US" sz="2400" b="1" dirty="0" smtClean="0">
                <a:latin typeface="Arial" pitchFamily="34" charset="0"/>
                <a:ea typeface="DejaVu Sans" pitchFamily="34"/>
                <a:cs typeface="Arial" pitchFamily="34" charset="0"/>
              </a:rPr>
              <a:t>,</a:t>
            </a:r>
            <a:br>
              <a:rPr lang="en-US" sz="2400" b="1" dirty="0" smtClean="0">
                <a:latin typeface="Arial" pitchFamily="34" charset="0"/>
                <a:ea typeface="DejaVu Sans" pitchFamily="34"/>
                <a:cs typeface="Arial" pitchFamily="34" charset="0"/>
              </a:rPr>
            </a:br>
            <a:r>
              <a:rPr lang="en-US" sz="2400" b="1" dirty="0" smtClean="0">
                <a:latin typeface="Arial" pitchFamily="34" charset="0"/>
                <a:ea typeface="DejaVu Sans" pitchFamily="34"/>
                <a:cs typeface="Arial" pitchFamily="34" charset="0"/>
              </a:rPr>
              <a:t> but </a:t>
            </a:r>
            <a:r>
              <a:rPr lang="en-US" sz="2400" b="1" dirty="0" smtClean="0">
                <a:solidFill>
                  <a:srgbClr val="00B0F0"/>
                </a:solidFill>
                <a:latin typeface="Arial" pitchFamily="34" charset="0"/>
                <a:ea typeface="DejaVu Sans" pitchFamily="34"/>
                <a:cs typeface="Arial" pitchFamily="34" charset="0"/>
              </a:rPr>
              <a:t>locally spatially invariant</a:t>
            </a:r>
            <a:r>
              <a:rPr lang="en-US" sz="2400" b="1" dirty="0" smtClean="0">
                <a:latin typeface="Arial" pitchFamily="34" charset="0"/>
                <a:ea typeface="DejaVu Sans" pitchFamily="34"/>
                <a:cs typeface="Arial" pitchFamily="34" charset="0"/>
              </a:rPr>
              <a:t>.</a:t>
            </a:r>
            <a:r>
              <a:rPr lang="en-US" sz="2400" b="0" i="0" u="none" strike="noStrike" baseline="0" dirty="0" smtClean="0">
                <a:ln>
                  <a:noFill/>
                </a:ln>
                <a:solidFill>
                  <a:srgbClr val="000000"/>
                </a:solidFill>
                <a:latin typeface="Arial" pitchFamily="34" charset="0"/>
                <a:ea typeface="DejaVu Sans" pitchFamily="34"/>
                <a:cs typeface="Arial" pitchFamily="34" charset="0"/>
              </a:rPr>
              <a:t/>
            </a:r>
            <a:br>
              <a:rPr lang="en-US" sz="2400" b="0" i="0" u="none" strike="noStrike" baseline="0" dirty="0" smtClean="0">
                <a:ln>
                  <a:noFill/>
                </a:ln>
                <a:solidFill>
                  <a:srgbClr val="000000"/>
                </a:solidFill>
                <a:latin typeface="Arial" pitchFamily="34" charset="0"/>
                <a:ea typeface="DejaVu Sans" pitchFamily="34"/>
                <a:cs typeface="Arial" pitchFamily="34" charset="0"/>
              </a:rPr>
            </a:br>
            <a:endParaRPr lang="en-US" sz="2400" b="0" i="0" u="none" strike="noStrike" baseline="0" dirty="0" smtClean="0">
              <a:ln>
                <a:noFill/>
              </a:ln>
              <a:solidFill>
                <a:srgbClr val="000000"/>
              </a:solidFill>
              <a:latin typeface="Arial" pitchFamily="34" charset="0"/>
              <a:ea typeface="DejaVu Sans" pitchFamily="34"/>
              <a:cs typeface="Arial" pitchFamily="34" charset="0"/>
            </a:endParaRP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Assumptions</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826920" y="1916279"/>
            <a:ext cx="7777440" cy="50077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Clr>
                <a:srgbClr val="000000"/>
              </a:buClr>
              <a:buSzPct val="45000"/>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a:ea typeface="굴림" pitchFamily="50"/>
                <a:cs typeface="굴림" pitchFamily="50"/>
              </a:rPr>
              <a:t>Runtime </a:t>
            </a:r>
            <a:r>
              <a:rPr lang="en-US" sz="2400" b="1" i="0" u="none" strike="noStrike" baseline="0" dirty="0">
                <a:ln>
                  <a:noFill/>
                </a:ln>
                <a:solidFill>
                  <a:srgbClr val="000000"/>
                </a:solidFill>
                <a:latin typeface="Arial" pitchFamily="34"/>
                <a:ea typeface="굴림" pitchFamily="50"/>
                <a:cs typeface="굴림" pitchFamily="50"/>
              </a:rPr>
              <a:t>scales with the # of sampled kernels.</a:t>
            </a:r>
          </a:p>
        </p:txBody>
      </p:sp>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Challenge #2</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7" name="TextBox 6"/>
          <p:cNvSpPr txBox="1"/>
          <p:nvPr/>
        </p:nvSpPr>
        <p:spPr>
          <a:xfrm>
            <a:off x="2057400" y="251568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Desired Kernel </a:t>
            </a:r>
            <a:r>
              <a:rPr lang="en-US" sz="2400" b="1" i="0" u="none" strike="noStrike" baseline="0" dirty="0">
                <a:ln>
                  <a:noFill/>
                </a:ln>
                <a:solidFill>
                  <a:srgbClr val="0000FF"/>
                </a:solidFill>
                <a:latin typeface="Arial" pitchFamily="34" charset="0"/>
                <a:ea typeface="굴림" pitchFamily="50"/>
                <a:cs typeface="Arial" pitchFamily="34" charset="0"/>
              </a:rPr>
              <a:t>K(x)</a:t>
            </a:r>
          </a:p>
        </p:txBody>
      </p:sp>
      <p:pic>
        <p:nvPicPr>
          <p:cNvPr id="8" name="Picture 7"/>
          <p:cNvPicPr>
            <a:picLocks noChangeAspect="1"/>
          </p:cNvPicPr>
          <p:nvPr/>
        </p:nvPicPr>
        <p:blipFill>
          <a:blip r:embed="rId6">
            <a:lum/>
            <a:alphaModFix/>
          </a:blip>
          <a:srcRect/>
          <a:stretch>
            <a:fillRect/>
          </a:stretch>
        </p:blipFill>
        <p:spPr>
          <a:xfrm>
            <a:off x="3191400" y="2971800"/>
            <a:ext cx="2526840" cy="2590560"/>
          </a:xfrm>
          <a:prstGeom prst="rect">
            <a:avLst/>
          </a:prstGeom>
          <a:noFill/>
          <a:ln>
            <a:noFill/>
          </a:ln>
        </p:spPr>
      </p:pic>
      <p:pic>
        <p:nvPicPr>
          <p:cNvPr id="9" name="Picture 8"/>
          <p:cNvPicPr>
            <a:picLocks noChangeAspect="1"/>
          </p:cNvPicPr>
          <p:nvPr/>
        </p:nvPicPr>
        <p:blipFill>
          <a:blip r:embed="rId7">
            <a:lum/>
            <a:alphaModFix/>
          </a:blip>
          <a:srcRect/>
          <a:stretch>
            <a:fillRect/>
          </a:stretch>
        </p:blipFill>
        <p:spPr>
          <a:xfrm>
            <a:off x="3200400" y="2972040"/>
            <a:ext cx="2526840" cy="2590560"/>
          </a:xfrm>
          <a:prstGeom prst="rect">
            <a:avLst/>
          </a:prstGeom>
          <a:noFill/>
          <a:ln>
            <a:noFill/>
          </a:ln>
        </p:spPr>
      </p:pic>
      <p:sp>
        <p:nvSpPr>
          <p:cNvPr id="10" name="TextBox 9"/>
          <p:cNvSpPr txBox="1"/>
          <p:nvPr/>
        </p:nvSpPr>
        <p:spPr>
          <a:xfrm>
            <a:off x="5895000" y="3391200"/>
            <a:ext cx="3200400" cy="1568206"/>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Filter only some regions of the image with each kernel.</a:t>
            </a:r>
          </a:p>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FF0000"/>
                </a:solidFill>
                <a:latin typeface="Arial" pitchFamily="34" charset="0"/>
                <a:ea typeface="굴림" pitchFamily="50"/>
                <a:cs typeface="Arial" pitchFamily="34" charset="0"/>
              </a:rPr>
              <a:t>(“support”)</a:t>
            </a:r>
          </a:p>
        </p:txBody>
      </p:sp>
      <p:sp>
        <p:nvSpPr>
          <p:cNvPr id="11" name="TextBox 10"/>
          <p:cNvSpPr txBox="1"/>
          <p:nvPr/>
        </p:nvSpPr>
        <p:spPr>
          <a:xfrm>
            <a:off x="4343400" y="549900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Pixel Location </a:t>
            </a:r>
            <a:r>
              <a:rPr lang="en-US" sz="2400" b="1" i="0" u="none" strike="noStrike" baseline="0" dirty="0">
                <a:ln>
                  <a:noFill/>
                </a:ln>
                <a:solidFill>
                  <a:srgbClr val="0000FF"/>
                </a:solidFill>
                <a:latin typeface="Arial" pitchFamily="34" charset="0"/>
                <a:ea typeface="굴림" pitchFamily="50"/>
                <a:cs typeface="Arial" pitchFamily="34" charset="0"/>
              </a:rPr>
              <a:t>x</a:t>
            </a:r>
          </a:p>
        </p:txBody>
      </p:sp>
      <p:sp>
        <p:nvSpPr>
          <p:cNvPr id="12" name="Freeform 11"/>
          <p:cNvSpPr/>
          <p:nvPr/>
        </p:nvSpPr>
        <p:spPr>
          <a:xfrm>
            <a:off x="3945600" y="560700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13" name="TextBox 12"/>
          <p:cNvSpPr txBox="1"/>
          <p:nvPr/>
        </p:nvSpPr>
        <p:spPr>
          <a:xfrm>
            <a:off x="826920" y="3886560"/>
            <a:ext cx="1794240" cy="829543"/>
          </a:xfrm>
          <a:prstGeom prst="rect">
            <a:avLst/>
          </a:prstGeom>
          <a:noFill/>
          <a:ln>
            <a:noFill/>
          </a:ln>
        </p:spPr>
        <p:txBody>
          <a:bodyPr vert="horz" wrap="square"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Sampled</a:t>
            </a:r>
          </a:p>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kernels</a:t>
            </a:r>
          </a:p>
        </p:txBody>
      </p:sp>
      <p:grpSp>
        <p:nvGrpSpPr>
          <p:cNvPr id="14" name="Group 13"/>
          <p:cNvGrpSpPr/>
          <p:nvPr/>
        </p:nvGrpSpPr>
        <p:grpSpPr>
          <a:xfrm>
            <a:off x="2682360" y="3020400"/>
            <a:ext cx="914400" cy="2044570"/>
            <a:chOff x="2682360" y="3020400"/>
            <a:chExt cx="914400" cy="2044570"/>
          </a:xfrm>
        </p:grpSpPr>
        <p:sp>
          <p:nvSpPr>
            <p:cNvPr id="15" name="TextBox 14"/>
            <p:cNvSpPr txBox="1"/>
            <p:nvPr/>
          </p:nvSpPr>
          <p:spPr>
            <a:xfrm>
              <a:off x="2682360" y="3020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16" name="TextBox 15"/>
            <p:cNvSpPr txBox="1"/>
            <p:nvPr/>
          </p:nvSpPr>
          <p:spPr>
            <a:xfrm>
              <a:off x="2682360" y="3812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7" name="TextBox 16"/>
            <p:cNvSpPr txBox="1"/>
            <p:nvPr/>
          </p:nvSpPr>
          <p:spPr>
            <a:xfrm>
              <a:off x="2682360" y="4604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0"/>
                            </p:stCondLst>
                            <p:childTnLst>
                              <p:par>
                                <p:cTn id="11" presetID="2" presetClass="entr" presetSubtype="4"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457200" y="1591200"/>
            <a:ext cx="8458200" cy="500779"/>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a:ea typeface="굴림" pitchFamily="50"/>
                <a:cs typeface="굴림" pitchFamily="50"/>
              </a:rPr>
              <a:t>In this example, </a:t>
            </a:r>
            <a:r>
              <a:rPr lang="en-US" sz="2400" b="1" i="0" u="none" strike="noStrike" baseline="0" dirty="0">
                <a:ln>
                  <a:noFill/>
                </a:ln>
                <a:solidFill>
                  <a:srgbClr val="0000FF"/>
                </a:solidFill>
                <a:latin typeface="Arial" pitchFamily="34"/>
                <a:ea typeface="굴림" pitchFamily="50"/>
                <a:cs typeface="굴림" pitchFamily="50"/>
              </a:rPr>
              <a:t>x</a:t>
            </a:r>
            <a:r>
              <a:rPr lang="en-US" sz="2400" b="1" i="0" u="none" strike="noStrike" baseline="0" dirty="0">
                <a:ln>
                  <a:noFill/>
                </a:ln>
                <a:solidFill>
                  <a:srgbClr val="000000"/>
                </a:solidFill>
                <a:latin typeface="Arial" pitchFamily="34"/>
                <a:ea typeface="굴림" pitchFamily="50"/>
                <a:cs typeface="굴림" pitchFamily="50"/>
              </a:rPr>
              <a:t> needs to be in </a:t>
            </a:r>
            <a:r>
              <a:rPr lang="en-US" sz="2400" b="1" i="0" u="none" strike="noStrike" baseline="0" dirty="0" smtClean="0">
                <a:ln>
                  <a:noFill/>
                </a:ln>
                <a:solidFill>
                  <a:srgbClr val="000000"/>
                </a:solidFill>
                <a:latin typeface="Arial" pitchFamily="34"/>
                <a:ea typeface="굴림" pitchFamily="50"/>
                <a:cs typeface="굴림" pitchFamily="50"/>
              </a:rPr>
              <a:t>the support </a:t>
            </a:r>
            <a:r>
              <a:rPr lang="en-US" sz="2400" b="1" i="0" u="none" strike="noStrike" baseline="0" dirty="0">
                <a:ln>
                  <a:noFill/>
                </a:ln>
                <a:solidFill>
                  <a:srgbClr val="000000"/>
                </a:solidFill>
                <a:latin typeface="Arial" pitchFamily="34"/>
                <a:ea typeface="굴림" pitchFamily="50"/>
                <a:cs typeface="굴림" pitchFamily="50"/>
              </a:rPr>
              <a:t>of </a:t>
            </a:r>
            <a:r>
              <a:rPr lang="en-US" sz="2400" b="1" i="0" u="none" strike="noStrike" baseline="0" dirty="0">
                <a:ln>
                  <a:noFill/>
                </a:ln>
                <a:solidFill>
                  <a:srgbClr val="008000"/>
                </a:solidFill>
                <a:latin typeface="Arial" pitchFamily="34"/>
                <a:ea typeface="굴림" pitchFamily="50"/>
                <a:cs typeface="굴림" pitchFamily="50"/>
              </a:rPr>
              <a:t>K</a:t>
            </a:r>
            <a:r>
              <a:rPr lang="en-US" sz="3600" b="1" i="0" u="none" strike="noStrike" baseline="-25000" dirty="0">
                <a:ln>
                  <a:noFill/>
                </a:ln>
                <a:solidFill>
                  <a:srgbClr val="008000"/>
                </a:solidFill>
                <a:latin typeface="Arial" pitchFamily="34"/>
                <a:ea typeface="굴림" pitchFamily="50"/>
                <a:cs typeface="굴림" pitchFamily="50"/>
              </a:rPr>
              <a:t>1</a:t>
            </a:r>
            <a:r>
              <a:rPr lang="en-US" sz="2400" b="1" i="0" u="none" strike="noStrike" baseline="0" dirty="0">
                <a:ln>
                  <a:noFill/>
                </a:ln>
                <a:solidFill>
                  <a:srgbClr val="000000"/>
                </a:solidFill>
                <a:latin typeface="Arial" pitchFamily="34"/>
                <a:ea typeface="굴림" pitchFamily="50"/>
                <a:cs typeface="굴림" pitchFamily="50"/>
              </a:rPr>
              <a:t> </a:t>
            </a:r>
            <a:r>
              <a:rPr lang="en-US" sz="2400" b="1" dirty="0">
                <a:solidFill>
                  <a:srgbClr val="000000"/>
                </a:solidFill>
                <a:latin typeface="Arial" pitchFamily="34"/>
                <a:ea typeface="굴림" pitchFamily="50"/>
                <a:cs typeface="굴림" pitchFamily="50"/>
              </a:rPr>
              <a:t>&amp;</a:t>
            </a:r>
            <a:r>
              <a:rPr lang="en-US" sz="2400" b="1" i="0" u="none" strike="noStrike" baseline="0" dirty="0" smtClean="0">
                <a:ln>
                  <a:noFill/>
                </a:ln>
                <a:solidFill>
                  <a:srgbClr val="000000"/>
                </a:solidFill>
                <a:latin typeface="Arial" pitchFamily="34"/>
                <a:ea typeface="굴림" pitchFamily="50"/>
                <a:cs typeface="굴림" pitchFamily="50"/>
              </a:rPr>
              <a:t> </a:t>
            </a:r>
            <a:r>
              <a:rPr lang="en-US" sz="2400" b="1" i="0" u="none" strike="noStrike" baseline="0" dirty="0">
                <a:ln>
                  <a:noFill/>
                </a:ln>
                <a:solidFill>
                  <a:srgbClr val="008000"/>
                </a:solidFill>
                <a:latin typeface="Arial" pitchFamily="34"/>
                <a:ea typeface="굴림" pitchFamily="50"/>
                <a:cs typeface="굴림" pitchFamily="50"/>
              </a:rPr>
              <a:t>K</a:t>
            </a:r>
            <a:r>
              <a:rPr lang="en-US" sz="3600" b="1" i="0" u="none" strike="noStrike" baseline="-25000" dirty="0">
                <a:ln>
                  <a:noFill/>
                </a:ln>
                <a:solidFill>
                  <a:srgbClr val="008000"/>
                </a:solidFill>
                <a:latin typeface="Arial" pitchFamily="34"/>
                <a:ea typeface="굴림" pitchFamily="50"/>
                <a:cs typeface="굴림" pitchFamily="50"/>
              </a:rPr>
              <a:t>2</a:t>
            </a:r>
            <a:r>
              <a:rPr lang="en-US" sz="2400" b="1" i="0" u="none" strike="noStrike" baseline="0" dirty="0">
                <a:ln>
                  <a:noFill/>
                </a:ln>
                <a:solidFill>
                  <a:srgbClr val="000000"/>
                </a:solidFill>
                <a:latin typeface="Arial" pitchFamily="34"/>
                <a:ea typeface="굴림" pitchFamily="50"/>
                <a:cs typeface="굴림" pitchFamily="50"/>
              </a:rPr>
              <a:t>.</a:t>
            </a:r>
          </a:p>
        </p:txBody>
      </p:sp>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Defining the Support</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7" name="Freeform 6"/>
          <p:cNvSpPr/>
          <p:nvPr/>
        </p:nvSpPr>
        <p:spPr>
          <a:xfrm>
            <a:off x="3945960" y="560700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8" name="TextBox 7"/>
          <p:cNvSpPr txBox="1"/>
          <p:nvPr/>
        </p:nvSpPr>
        <p:spPr>
          <a:xfrm>
            <a:off x="2057400" y="251604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Desired Kernel </a:t>
            </a:r>
            <a:r>
              <a:rPr lang="en-US" sz="2400" b="1" i="0" u="none" strike="noStrike" baseline="0" dirty="0">
                <a:ln>
                  <a:noFill/>
                </a:ln>
                <a:solidFill>
                  <a:srgbClr val="0000FF"/>
                </a:solidFill>
                <a:latin typeface="Arial" pitchFamily="34" charset="0"/>
                <a:ea typeface="굴림" pitchFamily="50"/>
                <a:cs typeface="Arial" pitchFamily="34" charset="0"/>
              </a:rPr>
              <a:t>K(x)</a:t>
            </a:r>
          </a:p>
        </p:txBody>
      </p:sp>
      <p:sp>
        <p:nvSpPr>
          <p:cNvPr id="9" name="TextBox 8"/>
          <p:cNvSpPr txBox="1"/>
          <p:nvPr/>
        </p:nvSpPr>
        <p:spPr>
          <a:xfrm>
            <a:off x="4343400" y="549936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Pixel Location </a:t>
            </a:r>
            <a:r>
              <a:rPr lang="en-US" sz="2400" b="1" i="0" u="none" strike="noStrike" baseline="0" dirty="0">
                <a:ln>
                  <a:noFill/>
                </a:ln>
                <a:solidFill>
                  <a:srgbClr val="0000FF"/>
                </a:solidFill>
                <a:latin typeface="Arial" pitchFamily="34" charset="0"/>
                <a:ea typeface="굴림" pitchFamily="50"/>
                <a:cs typeface="Arial" pitchFamily="34" charset="0"/>
              </a:rPr>
              <a:t>x</a:t>
            </a:r>
          </a:p>
        </p:txBody>
      </p:sp>
      <p:grpSp>
        <p:nvGrpSpPr>
          <p:cNvPr id="10" name="Group 9"/>
          <p:cNvGrpSpPr/>
          <p:nvPr/>
        </p:nvGrpSpPr>
        <p:grpSpPr>
          <a:xfrm>
            <a:off x="2682000" y="3020400"/>
            <a:ext cx="914400" cy="2044570"/>
            <a:chOff x="2682000" y="3020400"/>
            <a:chExt cx="914400" cy="2044570"/>
          </a:xfrm>
        </p:grpSpPr>
        <p:sp>
          <p:nvSpPr>
            <p:cNvPr id="11" name="TextBox 10"/>
            <p:cNvSpPr txBox="1"/>
            <p:nvPr/>
          </p:nvSpPr>
          <p:spPr>
            <a:xfrm>
              <a:off x="2682000" y="3020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12" name="TextBox 11"/>
            <p:cNvSpPr txBox="1"/>
            <p:nvPr/>
          </p:nvSpPr>
          <p:spPr>
            <a:xfrm>
              <a:off x="2682000" y="3812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3" name="TextBox 12"/>
            <p:cNvSpPr txBox="1"/>
            <p:nvPr/>
          </p:nvSpPr>
          <p:spPr>
            <a:xfrm>
              <a:off x="2682000" y="4604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pic>
        <p:nvPicPr>
          <p:cNvPr id="14" name="Picture 13"/>
          <p:cNvPicPr>
            <a:picLocks noChangeAspect="1"/>
          </p:cNvPicPr>
          <p:nvPr/>
        </p:nvPicPr>
        <p:blipFill>
          <a:blip r:embed="rId6">
            <a:lum/>
            <a:alphaModFix/>
          </a:blip>
          <a:srcRect/>
          <a:stretch>
            <a:fillRect/>
          </a:stretch>
        </p:blipFill>
        <p:spPr>
          <a:xfrm>
            <a:off x="3191400" y="2971800"/>
            <a:ext cx="2526840" cy="259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Dilating the Support</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6" name="Picture 5"/>
          <p:cNvPicPr>
            <a:picLocks noChangeAspect="1"/>
          </p:cNvPicPr>
          <p:nvPr/>
        </p:nvPicPr>
        <p:blipFill>
          <a:blip r:embed="rId6">
            <a:lum/>
            <a:alphaModFix/>
          </a:blip>
          <a:srcRect/>
          <a:stretch>
            <a:fillRect/>
          </a:stretch>
        </p:blipFill>
        <p:spPr>
          <a:xfrm>
            <a:off x="3191760" y="2971800"/>
            <a:ext cx="2526840" cy="2590560"/>
          </a:xfrm>
          <a:prstGeom prst="rect">
            <a:avLst/>
          </a:prstGeom>
          <a:noFill/>
          <a:ln>
            <a:noFill/>
          </a:ln>
        </p:spPr>
      </p:pic>
      <p:sp>
        <p:nvSpPr>
          <p:cNvPr id="7" name="Freeform 6"/>
          <p:cNvSpPr/>
          <p:nvPr/>
        </p:nvSpPr>
        <p:spPr>
          <a:xfrm>
            <a:off x="3945960" y="5607000"/>
            <a:ext cx="228600" cy="457200"/>
          </a:xfrm>
          <a:custGeom>
            <a:avLst>
              <a:gd name="f0" fmla="val 5400"/>
              <a:gd name="f1" fmla="val 5400"/>
            </a:avLst>
            <a:gdLst>
              <a:gd name="f2" fmla="val w"/>
              <a:gd name="f3" fmla="val h"/>
              <a:gd name="f4" fmla="val 0"/>
              <a:gd name="f5" fmla="val 21600"/>
              <a:gd name="f6" fmla="val 10800"/>
              <a:gd name="f7" fmla="*/ f2 1 21600"/>
              <a:gd name="f8" fmla="*/ f3 1 21600"/>
              <a:gd name="f9" fmla="pin 0 f1 10800"/>
              <a:gd name="f10" fmla="pin 0 f0 21600"/>
              <a:gd name="f11" fmla="val f9"/>
              <a:gd name="f12" fmla="val f10"/>
              <a:gd name="f13" fmla="+- 21600 0 f9"/>
              <a:gd name="f14" fmla="*/ f9 f7 1"/>
              <a:gd name="f15" fmla="*/ f10 f8 1"/>
              <a:gd name="f16" fmla="*/ 21600 f8 1"/>
              <a:gd name="f17" fmla="*/ f12 f11 1"/>
              <a:gd name="f18" fmla="*/ f11 f7 1"/>
              <a:gd name="f19" fmla="*/ f13 f7 1"/>
              <a:gd name="f20" fmla="*/ f17 1 10800"/>
              <a:gd name="f21" fmla="+- f12 0 f20"/>
              <a:gd name="f22" fmla="*/ f21 f8 1"/>
            </a:gdLst>
            <a:ahLst>
              <a:ahXY gdRefX="f1" minX="f4" maxX="f6" gdRefY="f0" minY="f4" maxY="f5">
                <a:pos x="f14" y="f15"/>
              </a:ahXY>
            </a:ahLst>
            <a:cxnLst>
              <a:cxn ang="3cd4">
                <a:pos x="hc" y="t"/>
              </a:cxn>
              <a:cxn ang="0">
                <a:pos x="r" y="vc"/>
              </a:cxn>
              <a:cxn ang="cd4">
                <a:pos x="hc" y="b"/>
              </a:cxn>
              <a:cxn ang="cd2">
                <a:pos x="l" y="vc"/>
              </a:cxn>
            </a:cxnLst>
            <a:rect l="f18" t="f22" r="f19" b="f16"/>
            <a:pathLst>
              <a:path w="21600" h="21600">
                <a:moveTo>
                  <a:pt x="f11" y="f5"/>
                </a:moveTo>
                <a:lnTo>
                  <a:pt x="f11" y="f12"/>
                </a:lnTo>
                <a:lnTo>
                  <a:pt x="f4" y="f12"/>
                </a:lnTo>
                <a:lnTo>
                  <a:pt x="f6" y="f4"/>
                </a:lnTo>
                <a:lnTo>
                  <a:pt x="f5" y="f12"/>
                </a:lnTo>
                <a:lnTo>
                  <a:pt x="f13" y="f12"/>
                </a:lnTo>
                <a:lnTo>
                  <a:pt x="f13" y="f5"/>
                </a:lnTo>
                <a:close/>
              </a:path>
            </a:pathLst>
          </a:custGeom>
          <a:solidFill>
            <a:srgbClr val="4B1F6F"/>
          </a:solidFill>
          <a:ln w="0">
            <a:solidFill>
              <a:srgbClr val="000000"/>
            </a:solidFill>
            <a:prstDash val="solid"/>
          </a:ln>
        </p:spPr>
        <p:txBody>
          <a:bodyPr vert="horz" lIns="90000" tIns="45000" rIns="90000" bIns="45000" anchor="ctr" anchorCtr="0" compatLnSpc="1"/>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1800" b="0" i="0" u="none" strike="noStrike" baseline="0">
              <a:ln>
                <a:noFill/>
              </a:ln>
              <a:solidFill>
                <a:srgbClr val="000000"/>
              </a:solidFill>
              <a:latin typeface="굴림" pitchFamily="50"/>
              <a:ea typeface="굴림" pitchFamily="50"/>
              <a:cs typeface="굴림" pitchFamily="50"/>
            </a:endParaRPr>
          </a:p>
        </p:txBody>
      </p:sp>
      <p:sp>
        <p:nvSpPr>
          <p:cNvPr id="8" name="TextBox 7"/>
          <p:cNvSpPr txBox="1"/>
          <p:nvPr/>
        </p:nvSpPr>
        <p:spPr>
          <a:xfrm>
            <a:off x="2057400" y="251604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Desired Kernel </a:t>
            </a:r>
            <a:r>
              <a:rPr lang="en-US" sz="2400" b="1" i="0" u="none" strike="noStrike" baseline="0" dirty="0">
                <a:ln>
                  <a:noFill/>
                </a:ln>
                <a:solidFill>
                  <a:srgbClr val="0000FF"/>
                </a:solidFill>
                <a:latin typeface="Arial" pitchFamily="34" charset="0"/>
                <a:ea typeface="굴림" pitchFamily="50"/>
                <a:cs typeface="Arial" pitchFamily="34" charset="0"/>
              </a:rPr>
              <a:t>K(x)</a:t>
            </a:r>
          </a:p>
        </p:txBody>
      </p:sp>
      <p:sp>
        <p:nvSpPr>
          <p:cNvPr id="9" name="TextBox 8"/>
          <p:cNvSpPr txBox="1"/>
          <p:nvPr/>
        </p:nvSpPr>
        <p:spPr>
          <a:xfrm>
            <a:off x="4343400" y="5499360"/>
            <a:ext cx="3657600" cy="456119"/>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Pixel Location </a:t>
            </a:r>
            <a:r>
              <a:rPr lang="en-US" sz="2400" b="1" i="0" u="none" strike="noStrike" baseline="0" dirty="0">
                <a:ln>
                  <a:noFill/>
                </a:ln>
                <a:solidFill>
                  <a:srgbClr val="0000FF"/>
                </a:solidFill>
                <a:latin typeface="Arial" pitchFamily="34" charset="0"/>
                <a:ea typeface="굴림" pitchFamily="50"/>
                <a:cs typeface="Arial" pitchFamily="34" charset="0"/>
              </a:rPr>
              <a:t>x</a:t>
            </a:r>
          </a:p>
        </p:txBody>
      </p:sp>
      <p:grpSp>
        <p:nvGrpSpPr>
          <p:cNvPr id="10" name="Group 9"/>
          <p:cNvGrpSpPr/>
          <p:nvPr/>
        </p:nvGrpSpPr>
        <p:grpSpPr>
          <a:xfrm>
            <a:off x="2682000" y="3020400"/>
            <a:ext cx="914400" cy="2044570"/>
            <a:chOff x="2682000" y="3020400"/>
            <a:chExt cx="914400" cy="2044570"/>
          </a:xfrm>
        </p:grpSpPr>
        <p:sp>
          <p:nvSpPr>
            <p:cNvPr id="11" name="TextBox 10"/>
            <p:cNvSpPr txBox="1"/>
            <p:nvPr/>
          </p:nvSpPr>
          <p:spPr>
            <a:xfrm>
              <a:off x="2682000" y="3020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12" name="TextBox 11"/>
            <p:cNvSpPr txBox="1"/>
            <p:nvPr/>
          </p:nvSpPr>
          <p:spPr>
            <a:xfrm>
              <a:off x="2682000" y="3812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3" name="TextBox 12"/>
            <p:cNvSpPr txBox="1"/>
            <p:nvPr/>
          </p:nvSpPr>
          <p:spPr>
            <a:xfrm>
              <a:off x="2682000" y="4604759"/>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792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Algorithm</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088640"/>
            <a:ext cx="7777440" cy="2797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a:ln>
                <a:noFill/>
              </a:ln>
              <a:solidFill>
                <a:srgbClr val="000000"/>
              </a:solidFill>
              <a:latin typeface="Arial" pitchFamily="34"/>
              <a:ea typeface="굴림" pitchFamily="50"/>
              <a:cs typeface="굴림" pitchFamily="50"/>
            </a:endParaRP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Identify kernels to sample.</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For each kernel, compute the support needed.</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Dilate each support.</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Filter each dilated support with its kernel.</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Interpolate from the filtered results.</a:t>
            </a:r>
          </a:p>
        </p:txBody>
      </p:sp>
      <p:pic>
        <p:nvPicPr>
          <p:cNvPr id="7" name="Picture 6"/>
          <p:cNvPicPr>
            <a:picLocks noChangeAspect="1"/>
          </p:cNvPicPr>
          <p:nvPr/>
        </p:nvPicPr>
        <p:blipFill>
          <a:blip r:embed="rId6">
            <a:lum/>
            <a:alphaModFix/>
          </a:blip>
          <a:srcRect/>
          <a:stretch>
            <a:fillRect/>
          </a:stretch>
        </p:blipFill>
        <p:spPr>
          <a:xfrm>
            <a:off x="3188520" y="3655800"/>
            <a:ext cx="2526840" cy="259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page28">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684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Algorithm</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088640"/>
            <a:ext cx="7777440" cy="2797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a:ln>
                <a:noFill/>
              </a:ln>
              <a:solidFill>
                <a:srgbClr val="000000"/>
              </a:solidFill>
              <a:latin typeface="Arial" pitchFamily="34"/>
              <a:ea typeface="굴림" pitchFamily="50"/>
              <a:cs typeface="굴림" pitchFamily="50"/>
            </a:endParaRP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a:t>
            </a:r>
            <a:r>
              <a:rPr lang="en-US" sz="2400" b="1" i="0" u="none" strike="noStrike" baseline="0">
                <a:ln>
                  <a:noFill/>
                </a:ln>
                <a:solidFill>
                  <a:srgbClr val="0000FF"/>
                </a:solidFill>
                <a:latin typeface="Arial" pitchFamily="34"/>
                <a:ea typeface="굴림" pitchFamily="50"/>
                <a:cs typeface="굴림" pitchFamily="50"/>
              </a:rPr>
              <a:t>Identify kernels to sample.</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For each kernel, compute the support needed.</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Dilate each support.</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Filter each dilated support with its kernel.</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Interpolate from the filtered results.</a:t>
            </a:r>
          </a:p>
        </p:txBody>
      </p:sp>
      <p:grpSp>
        <p:nvGrpSpPr>
          <p:cNvPr id="7" name="Group 6"/>
          <p:cNvGrpSpPr/>
          <p:nvPr/>
        </p:nvGrpSpPr>
        <p:grpSpPr>
          <a:xfrm>
            <a:off x="2682000" y="3668400"/>
            <a:ext cx="914400" cy="2044571"/>
            <a:chOff x="2682000" y="3668400"/>
            <a:chExt cx="914400" cy="2044571"/>
          </a:xfrm>
        </p:grpSpPr>
        <p:sp>
          <p:nvSpPr>
            <p:cNvPr id="8" name="TextBox 7"/>
            <p:cNvSpPr txBox="1"/>
            <p:nvPr/>
          </p:nvSpPr>
          <p:spPr>
            <a:xfrm>
              <a:off x="2682000" y="3668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9" name="TextBox 8"/>
            <p:cNvSpPr txBox="1"/>
            <p:nvPr/>
          </p:nvSpPr>
          <p:spPr>
            <a:xfrm>
              <a:off x="2682000" y="4460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0" name="TextBox 9"/>
            <p:cNvSpPr txBox="1"/>
            <p:nvPr/>
          </p:nvSpPr>
          <p:spPr>
            <a:xfrm>
              <a:off x="2682000" y="5252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pic>
        <p:nvPicPr>
          <p:cNvPr id="11" name="Picture 10"/>
          <p:cNvPicPr>
            <a:picLocks noChangeAspect="1"/>
          </p:cNvPicPr>
          <p:nvPr/>
        </p:nvPicPr>
        <p:blipFill>
          <a:blip r:embed="rId6">
            <a:lum/>
            <a:alphaModFix/>
          </a:blip>
          <a:srcRect/>
          <a:stretch>
            <a:fillRect/>
          </a:stretch>
        </p:blipFill>
        <p:spPr>
          <a:xfrm>
            <a:off x="3188880" y="3655800"/>
            <a:ext cx="2526840" cy="259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684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Algorithm</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088640"/>
            <a:ext cx="7777440" cy="2797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a:ln>
                <a:noFill/>
              </a:ln>
              <a:solidFill>
                <a:srgbClr val="000000"/>
              </a:solidFill>
              <a:latin typeface="Arial" pitchFamily="34"/>
              <a:ea typeface="굴림" pitchFamily="50"/>
              <a:cs typeface="굴림" pitchFamily="50"/>
            </a:endParaRP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Identify kernels to sample.</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a:t>
            </a:r>
            <a:r>
              <a:rPr lang="en-US" sz="2400" b="1" i="0" u="none" strike="noStrike" baseline="0">
                <a:ln>
                  <a:noFill/>
                </a:ln>
                <a:solidFill>
                  <a:srgbClr val="0000FF"/>
                </a:solidFill>
                <a:latin typeface="Arial" pitchFamily="34"/>
                <a:ea typeface="굴림" pitchFamily="50"/>
                <a:cs typeface="굴림" pitchFamily="50"/>
              </a:rPr>
              <a:t>For each kernel, compute the support needed.</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Dilate each support.</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Filter each dilated support with its kernel.</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Interpolate from the filtered results.</a:t>
            </a:r>
          </a:p>
        </p:txBody>
      </p:sp>
      <p:pic>
        <p:nvPicPr>
          <p:cNvPr id="7" name="Picture 6"/>
          <p:cNvPicPr>
            <a:picLocks noChangeAspect="1"/>
          </p:cNvPicPr>
          <p:nvPr/>
        </p:nvPicPr>
        <p:blipFill>
          <a:blip r:embed="rId6">
            <a:lum/>
            <a:alphaModFix/>
          </a:blip>
          <a:srcRect/>
          <a:stretch>
            <a:fillRect/>
          </a:stretch>
        </p:blipFill>
        <p:spPr>
          <a:xfrm>
            <a:off x="3191760" y="3655800"/>
            <a:ext cx="2526840" cy="2590560"/>
          </a:xfrm>
          <a:prstGeom prst="rect">
            <a:avLst/>
          </a:prstGeom>
          <a:noFill/>
          <a:ln>
            <a:noFill/>
          </a:ln>
        </p:spPr>
      </p:pic>
      <p:grpSp>
        <p:nvGrpSpPr>
          <p:cNvPr id="8" name="Group 7"/>
          <p:cNvGrpSpPr/>
          <p:nvPr/>
        </p:nvGrpSpPr>
        <p:grpSpPr>
          <a:xfrm>
            <a:off x="2682000" y="3668400"/>
            <a:ext cx="914400" cy="2044571"/>
            <a:chOff x="2682000" y="3668400"/>
            <a:chExt cx="914400" cy="2044571"/>
          </a:xfrm>
        </p:grpSpPr>
        <p:sp>
          <p:nvSpPr>
            <p:cNvPr id="9" name="TextBox 8"/>
            <p:cNvSpPr txBox="1"/>
            <p:nvPr/>
          </p:nvSpPr>
          <p:spPr>
            <a:xfrm>
              <a:off x="2682000" y="3668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10" name="TextBox 9"/>
            <p:cNvSpPr txBox="1"/>
            <p:nvPr/>
          </p:nvSpPr>
          <p:spPr>
            <a:xfrm>
              <a:off x="2682000" y="4460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1" name="TextBox 10"/>
            <p:cNvSpPr txBox="1"/>
            <p:nvPr/>
          </p:nvSpPr>
          <p:spPr>
            <a:xfrm>
              <a:off x="2682000" y="5252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792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Algorithm</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088640"/>
            <a:ext cx="7777440" cy="2797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a:ln>
                <a:noFill/>
              </a:ln>
              <a:solidFill>
                <a:srgbClr val="000000"/>
              </a:solidFill>
              <a:latin typeface="Arial" pitchFamily="34"/>
              <a:ea typeface="굴림" pitchFamily="50"/>
              <a:cs typeface="굴림" pitchFamily="50"/>
            </a:endParaRP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Identify kernels to sample.</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For each kernel, compute the support needed.</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a:t>
            </a:r>
            <a:r>
              <a:rPr lang="en-US" sz="2400" b="1" i="0" u="none" strike="noStrike" baseline="0">
                <a:ln>
                  <a:noFill/>
                </a:ln>
                <a:solidFill>
                  <a:srgbClr val="0000FF"/>
                </a:solidFill>
                <a:latin typeface="Arial" pitchFamily="34"/>
                <a:ea typeface="굴림" pitchFamily="50"/>
                <a:cs typeface="굴림" pitchFamily="50"/>
              </a:rPr>
              <a:t>Dilate each support.</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Filter each dilated support with its kernel.</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Interpolate from the filtered results.</a:t>
            </a:r>
          </a:p>
        </p:txBody>
      </p:sp>
      <p:grpSp>
        <p:nvGrpSpPr>
          <p:cNvPr id="7" name="Group 6"/>
          <p:cNvGrpSpPr/>
          <p:nvPr/>
        </p:nvGrpSpPr>
        <p:grpSpPr>
          <a:xfrm>
            <a:off x="2682000" y="3668400"/>
            <a:ext cx="914400" cy="2044571"/>
            <a:chOff x="2682000" y="3668400"/>
            <a:chExt cx="914400" cy="2044571"/>
          </a:xfrm>
        </p:grpSpPr>
        <p:sp>
          <p:nvSpPr>
            <p:cNvPr id="8" name="TextBox 7"/>
            <p:cNvSpPr txBox="1"/>
            <p:nvPr/>
          </p:nvSpPr>
          <p:spPr>
            <a:xfrm>
              <a:off x="2682000" y="3668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9" name="TextBox 8"/>
            <p:cNvSpPr txBox="1"/>
            <p:nvPr/>
          </p:nvSpPr>
          <p:spPr>
            <a:xfrm>
              <a:off x="2682000" y="4460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0" name="TextBox 9"/>
            <p:cNvSpPr txBox="1"/>
            <p:nvPr/>
          </p:nvSpPr>
          <p:spPr>
            <a:xfrm>
              <a:off x="2682000" y="5252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pic>
        <p:nvPicPr>
          <p:cNvPr id="11" name="Picture 10"/>
          <p:cNvPicPr>
            <a:picLocks noChangeAspect="1"/>
          </p:cNvPicPr>
          <p:nvPr/>
        </p:nvPicPr>
        <p:blipFill>
          <a:blip r:embed="rId6">
            <a:lum/>
            <a:alphaModFix/>
          </a:blip>
          <a:srcRect/>
          <a:stretch>
            <a:fillRect/>
          </a:stretch>
        </p:blipFill>
        <p:spPr>
          <a:xfrm>
            <a:off x="3191760" y="3657600"/>
            <a:ext cx="2526840" cy="259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684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Algorithm</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088640"/>
            <a:ext cx="7777440" cy="2797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a:ln>
                <a:noFill/>
              </a:ln>
              <a:solidFill>
                <a:srgbClr val="000000"/>
              </a:solidFill>
              <a:latin typeface="Arial" pitchFamily="34"/>
              <a:ea typeface="굴림" pitchFamily="50"/>
              <a:cs typeface="굴림" pitchFamily="50"/>
            </a:endParaRP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Identify kernels to sample.</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For each kernel, compute the support needed.</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Dilate each support.</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a:t>
            </a:r>
            <a:r>
              <a:rPr lang="en-US" sz="2400" b="1" i="0" u="none" strike="noStrike" baseline="0">
                <a:ln>
                  <a:noFill/>
                </a:ln>
                <a:solidFill>
                  <a:srgbClr val="0000FF"/>
                </a:solidFill>
                <a:latin typeface="Arial" pitchFamily="34"/>
                <a:ea typeface="굴림" pitchFamily="50"/>
                <a:cs typeface="굴림" pitchFamily="50"/>
              </a:rPr>
              <a:t>Filter each dilated support with its kernel.</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Interpolate from the filtered results.</a:t>
            </a:r>
          </a:p>
        </p:txBody>
      </p:sp>
      <p:grpSp>
        <p:nvGrpSpPr>
          <p:cNvPr id="7" name="Group 6"/>
          <p:cNvGrpSpPr/>
          <p:nvPr/>
        </p:nvGrpSpPr>
        <p:grpSpPr>
          <a:xfrm>
            <a:off x="2682000" y="3668400"/>
            <a:ext cx="914400" cy="2044571"/>
            <a:chOff x="2682000" y="3668400"/>
            <a:chExt cx="914400" cy="2044571"/>
          </a:xfrm>
        </p:grpSpPr>
        <p:sp>
          <p:nvSpPr>
            <p:cNvPr id="8" name="TextBox 7"/>
            <p:cNvSpPr txBox="1"/>
            <p:nvPr/>
          </p:nvSpPr>
          <p:spPr>
            <a:xfrm>
              <a:off x="2682000" y="3668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9" name="TextBox 8"/>
            <p:cNvSpPr txBox="1"/>
            <p:nvPr/>
          </p:nvSpPr>
          <p:spPr>
            <a:xfrm>
              <a:off x="2682000" y="4460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0" name="TextBox 9"/>
            <p:cNvSpPr txBox="1"/>
            <p:nvPr/>
          </p:nvSpPr>
          <p:spPr>
            <a:xfrm>
              <a:off x="2682000" y="5252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pic>
        <p:nvPicPr>
          <p:cNvPr id="11" name="Picture 10"/>
          <p:cNvPicPr>
            <a:picLocks noChangeAspect="1"/>
          </p:cNvPicPr>
          <p:nvPr/>
        </p:nvPicPr>
        <p:blipFill>
          <a:blip r:embed="rId6">
            <a:lum/>
            <a:alphaModFix/>
          </a:blip>
          <a:srcRect/>
          <a:stretch>
            <a:fillRect/>
          </a:stretch>
        </p:blipFill>
        <p:spPr>
          <a:xfrm>
            <a:off x="3191760" y="3657600"/>
            <a:ext cx="2526840" cy="259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684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Algorithm</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088640"/>
            <a:ext cx="7777440" cy="279756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1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2400" b="1" i="0" u="none" strike="noStrike" baseline="0">
              <a:ln>
                <a:noFill/>
              </a:ln>
              <a:solidFill>
                <a:srgbClr val="000000"/>
              </a:solidFill>
              <a:latin typeface="Arial" pitchFamily="34"/>
              <a:ea typeface="굴림" pitchFamily="50"/>
              <a:cs typeface="굴림" pitchFamily="50"/>
            </a:endParaRP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Identify kernels to sample.</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For each kernel, compute the support needed.</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Dilate each support.</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Filter each dilated support with its kernel.</a:t>
            </a:r>
          </a:p>
          <a:p>
            <a:pPr marL="0" marR="0" lvl="0" indent="0" algn="l" rtl="0" hangingPunct="1">
              <a:lnSpc>
                <a:spcPct val="110000"/>
              </a:lnSpc>
              <a:spcBef>
                <a:spcPts val="0"/>
              </a:spcBef>
              <a:spcAft>
                <a:spcPts val="0"/>
              </a:spcAft>
              <a:buClr>
                <a:srgbClr val="000000"/>
              </a:buClr>
              <a:buSzPct val="100000"/>
              <a:buAutoNum type="arabicParen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a:ln>
                  <a:noFill/>
                </a:ln>
                <a:solidFill>
                  <a:srgbClr val="000000"/>
                </a:solidFill>
                <a:latin typeface="Arial" pitchFamily="34"/>
                <a:ea typeface="굴림" pitchFamily="50"/>
                <a:cs typeface="굴림" pitchFamily="50"/>
              </a:rPr>
              <a:t> </a:t>
            </a:r>
            <a:r>
              <a:rPr lang="en-US" sz="2400" b="1" i="0" u="none" strike="noStrike" baseline="0">
                <a:ln>
                  <a:noFill/>
                </a:ln>
                <a:solidFill>
                  <a:srgbClr val="0000FF"/>
                </a:solidFill>
                <a:latin typeface="Arial" pitchFamily="34"/>
                <a:ea typeface="굴림" pitchFamily="50"/>
                <a:cs typeface="굴림" pitchFamily="50"/>
              </a:rPr>
              <a:t>Interpolate from the filtered results.</a:t>
            </a:r>
          </a:p>
        </p:txBody>
      </p:sp>
      <p:grpSp>
        <p:nvGrpSpPr>
          <p:cNvPr id="7" name="Group 6"/>
          <p:cNvGrpSpPr/>
          <p:nvPr/>
        </p:nvGrpSpPr>
        <p:grpSpPr>
          <a:xfrm>
            <a:off x="2682000" y="3668400"/>
            <a:ext cx="914400" cy="2044571"/>
            <a:chOff x="2682000" y="3668400"/>
            <a:chExt cx="914400" cy="2044571"/>
          </a:xfrm>
        </p:grpSpPr>
        <p:sp>
          <p:nvSpPr>
            <p:cNvPr id="8" name="TextBox 7"/>
            <p:cNvSpPr txBox="1"/>
            <p:nvPr/>
          </p:nvSpPr>
          <p:spPr>
            <a:xfrm>
              <a:off x="2682000" y="366840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1</a:t>
              </a:r>
            </a:p>
          </p:txBody>
        </p:sp>
        <p:sp>
          <p:nvSpPr>
            <p:cNvPr id="9" name="TextBox 8"/>
            <p:cNvSpPr txBox="1"/>
            <p:nvPr/>
          </p:nvSpPr>
          <p:spPr>
            <a:xfrm>
              <a:off x="2682000" y="4460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2</a:t>
              </a:r>
            </a:p>
          </p:txBody>
        </p:sp>
        <p:sp>
          <p:nvSpPr>
            <p:cNvPr id="10" name="TextBox 9"/>
            <p:cNvSpPr txBox="1"/>
            <p:nvPr/>
          </p:nvSpPr>
          <p:spPr>
            <a:xfrm>
              <a:off x="2682000" y="5252760"/>
              <a:ext cx="914400" cy="460211"/>
            </a:xfrm>
            <a:prstGeom prst="rect">
              <a:avLst/>
            </a:prstGeom>
            <a:noFill/>
            <a:ln>
              <a:noFill/>
            </a:ln>
          </p:spPr>
          <p:txBody>
            <a:bodyPr vert="horz" lIns="90000" tIns="45000" rIns="90000" bIns="4500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8000"/>
                  </a:solidFill>
                  <a:latin typeface="굴림" pitchFamily="50"/>
                  <a:ea typeface="굴림" pitchFamily="50"/>
                  <a:cs typeface="굴림" pitchFamily="50"/>
                </a:rPr>
                <a:t>K</a:t>
              </a:r>
              <a:r>
                <a:rPr lang="en-US" sz="3600" b="1" i="0" u="none" strike="noStrike" baseline="-25000" dirty="0">
                  <a:ln>
                    <a:noFill/>
                  </a:ln>
                  <a:solidFill>
                    <a:srgbClr val="008000"/>
                  </a:solidFill>
                  <a:latin typeface="굴림" pitchFamily="50"/>
                  <a:ea typeface="굴림" pitchFamily="50"/>
                  <a:cs typeface="굴림" pitchFamily="50"/>
                </a:rPr>
                <a:t>3</a:t>
              </a:r>
            </a:p>
          </p:txBody>
        </p:sp>
      </p:grpSp>
      <p:pic>
        <p:nvPicPr>
          <p:cNvPr id="11" name="Picture 10"/>
          <p:cNvPicPr>
            <a:picLocks noChangeAspect="1"/>
          </p:cNvPicPr>
          <p:nvPr/>
        </p:nvPicPr>
        <p:blipFill>
          <a:blip r:embed="rId6">
            <a:lum/>
            <a:alphaModFix/>
          </a:blip>
          <a:srcRect/>
          <a:stretch>
            <a:fillRect/>
          </a:stretch>
        </p:blipFill>
        <p:spPr>
          <a:xfrm>
            <a:off x="3191760" y="3655800"/>
            <a:ext cx="2526840" cy="259056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684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a:t>
            </a:r>
            <a:r>
              <a:rPr lang="en-US" sz="3000" b="1" i="0" u="none" strike="noStrike" baseline="0" dirty="0" smtClean="0">
                <a:ln>
                  <a:noFill/>
                </a:ln>
                <a:solidFill>
                  <a:srgbClr val="FFFFFF"/>
                </a:solidFill>
                <a:latin typeface="Arial" pitchFamily="34"/>
                <a:ea typeface="굴림" pitchFamily="50"/>
                <a:cs typeface="굴림" pitchFamily="50"/>
              </a:rPr>
              <a:t>Applications</a:t>
            </a:r>
            <a:endParaRPr lang="en-US" sz="3000" b="1" i="0" u="none" strike="noStrike" baseline="0" dirty="0">
              <a:ln>
                <a:noFill/>
              </a:ln>
              <a:solidFill>
                <a:srgbClr val="FFFFFF"/>
              </a:solidFill>
              <a:latin typeface="Arial" pitchFamily="34"/>
              <a:ea typeface="굴림" pitchFamily="50"/>
              <a:cs typeface="굴림" pitchFamily="50"/>
            </a:endParaRP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sp>
        <p:nvSpPr>
          <p:cNvPr id="6" name="Freeform 5"/>
          <p:cNvSpPr/>
          <p:nvPr/>
        </p:nvSpPr>
        <p:spPr>
          <a:xfrm>
            <a:off x="826920" y="1752600"/>
            <a:ext cx="7777440" cy="1578575"/>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457200" marR="0" lvl="0" indent="-457200" algn="l" rtl="0" hangingPunct="1">
              <a:lnSpc>
                <a:spcPct val="110000"/>
              </a:lnSpc>
              <a:spcBef>
                <a:spcPts val="0"/>
              </a:spcBef>
              <a:spcAft>
                <a:spcPts val="0"/>
              </a:spcAft>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dirty="0" smtClean="0">
                <a:latin typeface="Arial" pitchFamily="34"/>
                <a:ea typeface="굴림" pitchFamily="50"/>
                <a:cs typeface="굴림" pitchFamily="50"/>
              </a:rPr>
              <a:t>HDR Tone-mapping</a:t>
            </a:r>
          </a:p>
          <a:p>
            <a:pPr marL="457200" marR="0" lvl="0" indent="-457200" algn="l" rtl="0" hangingPunct="1">
              <a:lnSpc>
                <a:spcPct val="110000"/>
              </a:lnSpc>
              <a:spcBef>
                <a:spcPts val="0"/>
              </a:spcBef>
              <a:spcAft>
                <a:spcPts val="0"/>
              </a:spcAft>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endParaRPr lang="en-US" sz="3000" b="1" i="0" u="none" strike="noStrike" baseline="0" dirty="0">
              <a:ln>
                <a:noFill/>
              </a:ln>
              <a:latin typeface="Arial" pitchFamily="34"/>
              <a:ea typeface="굴림" pitchFamily="50"/>
              <a:cs typeface="굴림" pitchFamily="50"/>
            </a:endParaRPr>
          </a:p>
          <a:p>
            <a:pPr marL="457200" marR="0" lvl="0" indent="-457200" algn="l" rtl="0" hangingPunct="1">
              <a:lnSpc>
                <a:spcPct val="110000"/>
              </a:lnSpc>
              <a:spcBef>
                <a:spcPts val="0"/>
              </a:spcBef>
              <a:spcAft>
                <a:spcPts val="0"/>
              </a:spcAft>
              <a:buFont typeface="Wingdings" pitchFamily="2" charset="2"/>
              <a:buChar char="q"/>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dirty="0" smtClean="0">
                <a:latin typeface="Arial" pitchFamily="34"/>
                <a:ea typeface="굴림" pitchFamily="50"/>
                <a:cs typeface="굴림" pitchFamily="50"/>
              </a:rPr>
              <a:t>Joint Range Data </a:t>
            </a:r>
            <a:r>
              <a:rPr lang="en-US" sz="3000" b="1" dirty="0" err="1" smtClean="0">
                <a:latin typeface="Arial" pitchFamily="34"/>
                <a:ea typeface="굴림" pitchFamily="50"/>
                <a:cs typeface="굴림" pitchFamily="50"/>
              </a:rPr>
              <a:t>Upsampling</a:t>
            </a:r>
            <a:endParaRPr lang="en-US" sz="3000" b="1" i="0" u="none" strike="noStrike" baseline="0" dirty="0">
              <a:ln>
                <a:noFill/>
              </a:ln>
              <a:latin typeface="Arial" pitchFamily="34"/>
              <a:ea typeface="굴림" pitchFamily="50"/>
              <a:cs typeface="굴림" pitchFamily="50"/>
            </a:endParaRPr>
          </a:p>
        </p:txBody>
      </p:sp>
    </p:spTree>
    <p:extLst>
      <p:ext uri="{BB962C8B-B14F-4D97-AF65-F5344CB8AC3E}">
        <p14:creationId xmlns:p14="http://schemas.microsoft.com/office/powerpoint/2010/main" val="12752737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page33">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Application #1: HDR Tone-mapping</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grpSp>
        <p:nvGrpSpPr>
          <p:cNvPr id="12" name="Group 11"/>
          <p:cNvGrpSpPr/>
          <p:nvPr/>
        </p:nvGrpSpPr>
        <p:grpSpPr>
          <a:xfrm>
            <a:off x="304799" y="2581508"/>
            <a:ext cx="1952626" cy="2056865"/>
            <a:chOff x="1066799" y="2362200"/>
            <a:chExt cx="1952626" cy="2056865"/>
          </a:xfrm>
        </p:grpSpPr>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2956977"/>
              <a:ext cx="1952625" cy="1462088"/>
            </a:xfrm>
            <a:prstGeom prst="rect">
              <a:avLst/>
            </a:prstGeom>
          </p:spPr>
        </p:pic>
        <p:sp>
          <p:nvSpPr>
            <p:cNvPr id="11" name="TextBox 10"/>
            <p:cNvSpPr txBox="1"/>
            <p:nvPr/>
          </p:nvSpPr>
          <p:spPr>
            <a:xfrm>
              <a:off x="1066799" y="2362200"/>
              <a:ext cx="1952625" cy="492443"/>
            </a:xfrm>
            <a:prstGeom prst="rect">
              <a:avLst/>
            </a:prstGeom>
            <a:noFill/>
          </p:spPr>
          <p:txBody>
            <a:bodyPr wrap="square" rtlCol="0">
              <a:spAutoFit/>
            </a:bodyPr>
            <a:lstStyle/>
            <a:p>
              <a:pPr algn="ctr"/>
              <a:r>
                <a:rPr lang="en-US" sz="2600" b="1" dirty="0" smtClean="0">
                  <a:latin typeface="Arial" pitchFamily="34" charset="0"/>
                  <a:cs typeface="Arial" pitchFamily="34" charset="0"/>
                </a:rPr>
                <a:t>Input HDR</a:t>
              </a:r>
              <a:endParaRPr lang="en-US" sz="2600" b="1" dirty="0">
                <a:latin typeface="Arial" pitchFamily="34" charset="0"/>
                <a:cs typeface="Arial" pitchFamily="34" charset="0"/>
              </a:endParaRPr>
            </a:p>
          </p:txBody>
        </p:sp>
      </p:grpSp>
      <p:grpSp>
        <p:nvGrpSpPr>
          <p:cNvPr id="41" name="Group 40"/>
          <p:cNvGrpSpPr/>
          <p:nvPr/>
        </p:nvGrpSpPr>
        <p:grpSpPr>
          <a:xfrm>
            <a:off x="2362200" y="3977075"/>
            <a:ext cx="2801711" cy="2057013"/>
            <a:chOff x="2362200" y="3977075"/>
            <a:chExt cx="2801711" cy="2057013"/>
          </a:xfrm>
        </p:grpSpPr>
        <p:grpSp>
          <p:nvGrpSpPr>
            <p:cNvPr id="22" name="Group 21"/>
            <p:cNvGrpSpPr/>
            <p:nvPr/>
          </p:nvGrpSpPr>
          <p:grpSpPr>
            <a:xfrm>
              <a:off x="3211286" y="4079557"/>
              <a:ext cx="1952625" cy="1954531"/>
              <a:chOff x="3780890" y="4079557"/>
              <a:chExt cx="1952625" cy="1954531"/>
            </a:xfrm>
          </p:grpSpPr>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80890" y="4572000"/>
                <a:ext cx="1952625" cy="1462088"/>
              </a:xfrm>
              <a:prstGeom prst="rect">
                <a:avLst/>
              </a:prstGeom>
            </p:spPr>
          </p:pic>
          <p:sp>
            <p:nvSpPr>
              <p:cNvPr id="15" name="TextBox 14"/>
              <p:cNvSpPr txBox="1"/>
              <p:nvPr/>
            </p:nvSpPr>
            <p:spPr>
              <a:xfrm>
                <a:off x="3948112" y="4079557"/>
                <a:ext cx="1676400" cy="492443"/>
              </a:xfrm>
              <a:prstGeom prst="rect">
                <a:avLst/>
              </a:prstGeom>
              <a:noFill/>
            </p:spPr>
            <p:txBody>
              <a:bodyPr wrap="square" rtlCol="0">
                <a:spAutoFit/>
              </a:bodyPr>
              <a:lstStyle/>
              <a:p>
                <a:pPr algn="ctr"/>
                <a:r>
                  <a:rPr lang="en-US" sz="2600" b="1" dirty="0" smtClean="0">
                    <a:latin typeface="Arial" pitchFamily="34" charset="0"/>
                    <a:cs typeface="Arial" pitchFamily="34" charset="0"/>
                  </a:rPr>
                  <a:t>Detail</a:t>
                </a:r>
                <a:endParaRPr lang="en-US" sz="2600" b="1" dirty="0">
                  <a:latin typeface="Arial" pitchFamily="34" charset="0"/>
                  <a:cs typeface="Arial" pitchFamily="34" charset="0"/>
                </a:endParaRPr>
              </a:p>
            </p:txBody>
          </p:sp>
        </p:grpSp>
        <p:cxnSp>
          <p:nvCxnSpPr>
            <p:cNvPr id="19" name="Straight Arrow Connector 18"/>
            <p:cNvCxnSpPr/>
            <p:nvPr/>
          </p:nvCxnSpPr>
          <p:spPr>
            <a:xfrm>
              <a:off x="2362200" y="3977075"/>
              <a:ext cx="838200" cy="143312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2362200" y="1700099"/>
            <a:ext cx="2830820" cy="1987922"/>
            <a:chOff x="2362200" y="1700099"/>
            <a:chExt cx="2830820" cy="1987922"/>
          </a:xfrm>
        </p:grpSpPr>
        <p:grpSp>
          <p:nvGrpSpPr>
            <p:cNvPr id="14" name="Group 13"/>
            <p:cNvGrpSpPr/>
            <p:nvPr/>
          </p:nvGrpSpPr>
          <p:grpSpPr>
            <a:xfrm>
              <a:off x="3240395" y="1700099"/>
              <a:ext cx="1952625" cy="1987922"/>
              <a:chOff x="3810000" y="1416969"/>
              <a:chExt cx="1952625" cy="1987922"/>
            </a:xfrm>
          </p:grpSpPr>
          <p:pic>
            <p:nvPicPr>
              <p:cNvPr id="8" name="Picture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10000" y="1942803"/>
                <a:ext cx="1952625" cy="1462088"/>
              </a:xfrm>
              <a:prstGeom prst="rect">
                <a:avLst/>
              </a:prstGeom>
            </p:spPr>
          </p:pic>
          <p:sp>
            <p:nvSpPr>
              <p:cNvPr id="13" name="TextBox 12"/>
              <p:cNvSpPr txBox="1"/>
              <p:nvPr/>
            </p:nvSpPr>
            <p:spPr>
              <a:xfrm>
                <a:off x="3948112" y="1416969"/>
                <a:ext cx="1676400" cy="492443"/>
              </a:xfrm>
              <a:prstGeom prst="rect">
                <a:avLst/>
              </a:prstGeom>
              <a:noFill/>
            </p:spPr>
            <p:txBody>
              <a:bodyPr wrap="square" rtlCol="0">
                <a:spAutoFit/>
              </a:bodyPr>
              <a:lstStyle/>
              <a:p>
                <a:pPr algn="ctr"/>
                <a:r>
                  <a:rPr lang="en-US" sz="2600" b="1" dirty="0" smtClean="0">
                    <a:latin typeface="Arial" pitchFamily="34" charset="0"/>
                    <a:cs typeface="Arial" pitchFamily="34" charset="0"/>
                  </a:rPr>
                  <a:t>Base</a:t>
                </a:r>
                <a:endParaRPr lang="en-US" sz="2600" b="1" dirty="0">
                  <a:latin typeface="Arial" pitchFamily="34" charset="0"/>
                  <a:cs typeface="Arial" pitchFamily="34" charset="0"/>
                </a:endParaRPr>
              </a:p>
            </p:txBody>
          </p:sp>
        </p:grpSp>
        <p:cxnSp>
          <p:nvCxnSpPr>
            <p:cNvPr id="17" name="Straight Arrow Connector 16"/>
            <p:cNvCxnSpPr/>
            <p:nvPr/>
          </p:nvCxnSpPr>
          <p:spPr>
            <a:xfrm flipV="1">
              <a:off x="2362200" y="2743200"/>
              <a:ext cx="838200" cy="944821"/>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rot="18644141">
              <a:off x="2176432" y="2514555"/>
              <a:ext cx="936475" cy="461665"/>
            </a:xfrm>
            <a:prstGeom prst="rect">
              <a:avLst/>
            </a:prstGeom>
            <a:noFill/>
          </p:spPr>
          <p:txBody>
            <a:bodyPr wrap="none" rtlCol="0">
              <a:spAutoFit/>
            </a:bodyPr>
            <a:lstStyle/>
            <a:p>
              <a:r>
                <a:rPr lang="en-US" sz="2400" b="1" dirty="0" smtClean="0">
                  <a:latin typeface="Arial" pitchFamily="34" charset="0"/>
                  <a:cs typeface="Arial" pitchFamily="34" charset="0"/>
                </a:rPr>
                <a:t>Filter</a:t>
              </a:r>
              <a:endParaRPr lang="en-US" sz="2400" b="1" dirty="0">
                <a:latin typeface="Arial" pitchFamily="34" charset="0"/>
                <a:cs typeface="Arial" pitchFamily="34" charset="0"/>
              </a:endParaRPr>
            </a:p>
          </p:txBody>
        </p:sp>
      </p:grpSp>
      <p:grpSp>
        <p:nvGrpSpPr>
          <p:cNvPr id="42" name="Group 41"/>
          <p:cNvGrpSpPr/>
          <p:nvPr/>
        </p:nvGrpSpPr>
        <p:grpSpPr>
          <a:xfrm>
            <a:off x="5193020" y="2136330"/>
            <a:ext cx="3627130" cy="3166717"/>
            <a:chOff x="5193020" y="2136330"/>
            <a:chExt cx="3627130" cy="3166717"/>
          </a:xfrm>
        </p:grpSpPr>
        <p:cxnSp>
          <p:nvCxnSpPr>
            <p:cNvPr id="28" name="Straight Arrow Connector 27"/>
            <p:cNvCxnSpPr/>
            <p:nvPr/>
          </p:nvCxnSpPr>
          <p:spPr>
            <a:xfrm flipV="1">
              <a:off x="5193020" y="4079557"/>
              <a:ext cx="1055380" cy="122349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295900" y="2853516"/>
              <a:ext cx="952500" cy="1053813"/>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grpSp>
          <p:nvGrpSpPr>
            <p:cNvPr id="37" name="Group 36"/>
            <p:cNvGrpSpPr/>
            <p:nvPr/>
          </p:nvGrpSpPr>
          <p:grpSpPr>
            <a:xfrm>
              <a:off x="6477000" y="2581508"/>
              <a:ext cx="2343150" cy="2349282"/>
              <a:chOff x="6477000" y="2581508"/>
              <a:chExt cx="2343150" cy="2349282"/>
            </a:xfrm>
          </p:grpSpPr>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77000" y="3176285"/>
                <a:ext cx="2343150" cy="1754505"/>
              </a:xfrm>
              <a:prstGeom prst="rect">
                <a:avLst/>
              </a:prstGeom>
            </p:spPr>
          </p:pic>
          <p:sp>
            <p:nvSpPr>
              <p:cNvPr id="33" name="TextBox 32"/>
              <p:cNvSpPr txBox="1"/>
              <p:nvPr/>
            </p:nvSpPr>
            <p:spPr>
              <a:xfrm>
                <a:off x="6810375" y="2581508"/>
                <a:ext cx="1676400" cy="492443"/>
              </a:xfrm>
              <a:prstGeom prst="rect">
                <a:avLst/>
              </a:prstGeom>
              <a:noFill/>
            </p:spPr>
            <p:txBody>
              <a:bodyPr wrap="square" rtlCol="0">
                <a:spAutoFit/>
              </a:bodyPr>
              <a:lstStyle/>
              <a:p>
                <a:pPr algn="ctr"/>
                <a:r>
                  <a:rPr lang="en-US" sz="2600" b="1" dirty="0" smtClean="0">
                    <a:latin typeface="Arial" pitchFamily="34" charset="0"/>
                    <a:cs typeface="Arial" pitchFamily="34" charset="0"/>
                  </a:rPr>
                  <a:t>Output</a:t>
                </a:r>
                <a:endParaRPr lang="en-US" sz="2600" b="1" dirty="0">
                  <a:latin typeface="Arial" pitchFamily="34" charset="0"/>
                  <a:cs typeface="Arial" pitchFamily="34" charset="0"/>
                </a:endParaRPr>
              </a:p>
            </p:txBody>
          </p:sp>
        </p:grpSp>
        <p:sp>
          <p:nvSpPr>
            <p:cNvPr id="36" name="TextBox 35"/>
            <p:cNvSpPr txBox="1"/>
            <p:nvPr/>
          </p:nvSpPr>
          <p:spPr>
            <a:xfrm rot="3095368">
              <a:off x="5069996" y="2707961"/>
              <a:ext cx="1604927" cy="461665"/>
            </a:xfrm>
            <a:prstGeom prst="rect">
              <a:avLst/>
            </a:prstGeom>
            <a:noFill/>
          </p:spPr>
          <p:txBody>
            <a:bodyPr wrap="none" rtlCol="0">
              <a:spAutoFit/>
            </a:bodyPr>
            <a:lstStyle/>
            <a:p>
              <a:r>
                <a:rPr lang="en-US" sz="2400" b="1" dirty="0" smtClean="0">
                  <a:latin typeface="Arial" pitchFamily="34" charset="0"/>
                  <a:cs typeface="Arial" pitchFamily="34" charset="0"/>
                </a:rPr>
                <a:t>Attenuate</a:t>
              </a:r>
              <a:endParaRPr lang="en-US" sz="2400" b="1" dirty="0">
                <a:latin typeface="Arial" pitchFamily="34" charset="0"/>
                <a:cs typeface="Arial" pitchFamily="34" charset="0"/>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page35">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Tone-mapping </a:t>
            </a:r>
            <a:r>
              <a:rPr lang="en-US" sz="3000" b="1" i="0" u="none" strike="noStrike" baseline="0" dirty="0" smtClean="0">
                <a:ln>
                  <a:noFill/>
                </a:ln>
                <a:solidFill>
                  <a:srgbClr val="FFFFFF"/>
                </a:solidFill>
                <a:latin typeface="Arial" pitchFamily="34"/>
                <a:ea typeface="굴림" pitchFamily="50"/>
                <a:cs typeface="굴림" pitchFamily="50"/>
              </a:rPr>
              <a:t>Example</a:t>
            </a:r>
            <a:endParaRPr lang="en-US" sz="3000" b="1" i="0" u="none" strike="noStrike" baseline="0" dirty="0">
              <a:ln>
                <a:noFill/>
              </a:ln>
              <a:solidFill>
                <a:srgbClr val="FFFFFF"/>
              </a:solidFill>
              <a:latin typeface="Arial" pitchFamily="34"/>
              <a:ea typeface="굴림" pitchFamily="50"/>
              <a:cs typeface="굴림" pitchFamily="50"/>
            </a:endParaRP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6" name="Picture 5"/>
          <p:cNvPicPr>
            <a:picLocks noChangeAspect="1"/>
          </p:cNvPicPr>
          <p:nvPr/>
        </p:nvPicPr>
        <p:blipFill>
          <a:blip r:embed="rId6">
            <a:lum/>
            <a:alphaModFix/>
          </a:blip>
          <a:srcRect/>
          <a:stretch>
            <a:fillRect/>
          </a:stretch>
        </p:blipFill>
        <p:spPr>
          <a:xfrm>
            <a:off x="2057400" y="2286000"/>
            <a:ext cx="4876560" cy="2857320"/>
          </a:xfrm>
          <a:prstGeom prst="rect">
            <a:avLst/>
          </a:prstGeom>
          <a:noFill/>
          <a:ln>
            <a:noFill/>
          </a:ln>
        </p:spPr>
      </p:pic>
      <p:grpSp>
        <p:nvGrpSpPr>
          <p:cNvPr id="7" name="Group 6"/>
          <p:cNvGrpSpPr/>
          <p:nvPr/>
        </p:nvGrpSpPr>
        <p:grpSpPr>
          <a:xfrm>
            <a:off x="745559" y="2057400"/>
            <a:ext cx="7772041" cy="2970000"/>
            <a:chOff x="745559" y="2057400"/>
            <a:chExt cx="7772041" cy="2970000"/>
          </a:xfrm>
        </p:grpSpPr>
        <p:grpSp>
          <p:nvGrpSpPr>
            <p:cNvPr id="8" name="Group 7"/>
            <p:cNvGrpSpPr/>
            <p:nvPr/>
          </p:nvGrpSpPr>
          <p:grpSpPr>
            <a:xfrm>
              <a:off x="745559" y="2057400"/>
              <a:ext cx="3428639" cy="2970000"/>
              <a:chOff x="745559" y="2057400"/>
              <a:chExt cx="3428639" cy="2970000"/>
            </a:xfrm>
          </p:grpSpPr>
          <p:pic>
            <p:nvPicPr>
              <p:cNvPr id="9" name="Picture 8"/>
              <p:cNvPicPr>
                <a:picLocks noChangeAspect="1"/>
              </p:cNvPicPr>
              <p:nvPr/>
            </p:nvPicPr>
            <p:blipFill>
              <a:blip r:embed="rId7">
                <a:lum/>
                <a:alphaModFix/>
              </a:blip>
              <a:srcRect/>
              <a:stretch>
                <a:fillRect/>
              </a:stretch>
            </p:blipFill>
            <p:spPr>
              <a:xfrm>
                <a:off x="745559" y="2741760"/>
                <a:ext cx="3428639" cy="2285640"/>
              </a:xfrm>
              <a:prstGeom prst="rect">
                <a:avLst/>
              </a:prstGeom>
              <a:noFill/>
              <a:ln>
                <a:noFill/>
              </a:ln>
            </p:spPr>
          </p:pic>
          <p:sp>
            <p:nvSpPr>
              <p:cNvPr id="10" name="TextBox 9"/>
              <p:cNvSpPr txBox="1"/>
              <p:nvPr/>
            </p:nvSpPr>
            <p:spPr>
              <a:xfrm>
                <a:off x="914400" y="2057400"/>
                <a:ext cx="32004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Bilateral Filter</a:t>
                </a:r>
              </a:p>
            </p:txBody>
          </p:sp>
        </p:grpSp>
        <p:grpSp>
          <p:nvGrpSpPr>
            <p:cNvPr id="11" name="Group 10"/>
            <p:cNvGrpSpPr/>
            <p:nvPr/>
          </p:nvGrpSpPr>
          <p:grpSpPr>
            <a:xfrm>
              <a:off x="4631400" y="2058480"/>
              <a:ext cx="3886200" cy="2968559"/>
              <a:chOff x="4631400" y="2058480"/>
              <a:chExt cx="3886200" cy="2968559"/>
            </a:xfrm>
          </p:grpSpPr>
          <p:pic>
            <p:nvPicPr>
              <p:cNvPr id="12" name="Picture 11"/>
              <p:cNvPicPr>
                <a:picLocks noChangeAspect="1"/>
              </p:cNvPicPr>
              <p:nvPr/>
            </p:nvPicPr>
            <p:blipFill>
              <a:blip r:embed="rId8">
                <a:lum/>
                <a:alphaModFix/>
              </a:blip>
              <a:srcRect/>
              <a:stretch>
                <a:fillRect/>
              </a:stretch>
            </p:blipFill>
            <p:spPr>
              <a:xfrm>
                <a:off x="4860000" y="2741399"/>
                <a:ext cx="3428639" cy="2285640"/>
              </a:xfrm>
              <a:prstGeom prst="rect">
                <a:avLst/>
              </a:prstGeom>
              <a:noFill/>
              <a:ln>
                <a:noFill/>
              </a:ln>
            </p:spPr>
          </p:pic>
          <p:sp>
            <p:nvSpPr>
              <p:cNvPr id="13" name="TextBox 12"/>
              <p:cNvSpPr txBox="1"/>
              <p:nvPr/>
            </p:nvSpPr>
            <p:spPr>
              <a:xfrm>
                <a:off x="4631400" y="2058480"/>
                <a:ext cx="38862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Kernel Sampling</a:t>
                </a:r>
              </a:p>
            </p:txBody>
          </p:sp>
        </p:grpSp>
      </p:grpSp>
      <p:grpSp>
        <p:nvGrpSpPr>
          <p:cNvPr id="14" name="Group 13"/>
          <p:cNvGrpSpPr/>
          <p:nvPr/>
        </p:nvGrpSpPr>
        <p:grpSpPr>
          <a:xfrm>
            <a:off x="757800" y="2742480"/>
            <a:ext cx="7543800" cy="2286719"/>
            <a:chOff x="757800" y="2742480"/>
            <a:chExt cx="7543800" cy="2286719"/>
          </a:xfrm>
        </p:grpSpPr>
        <p:pic>
          <p:nvPicPr>
            <p:cNvPr id="15" name="Picture 14"/>
            <p:cNvPicPr>
              <a:picLocks noChangeAspect="1"/>
            </p:cNvPicPr>
            <p:nvPr/>
          </p:nvPicPr>
          <p:blipFill>
            <a:blip r:embed="rId9">
              <a:lum/>
              <a:alphaModFix/>
            </a:blip>
            <a:srcRect/>
            <a:stretch>
              <a:fillRect/>
            </a:stretch>
          </p:blipFill>
          <p:spPr>
            <a:xfrm>
              <a:off x="757800" y="2743199"/>
              <a:ext cx="3429000" cy="2286000"/>
            </a:xfrm>
            <a:prstGeom prst="rect">
              <a:avLst/>
            </a:prstGeom>
            <a:noFill/>
            <a:ln>
              <a:noFill/>
            </a:ln>
          </p:spPr>
        </p:pic>
        <p:pic>
          <p:nvPicPr>
            <p:cNvPr id="16" name="Picture 15"/>
            <p:cNvPicPr>
              <a:picLocks noChangeAspect="1"/>
            </p:cNvPicPr>
            <p:nvPr/>
          </p:nvPicPr>
          <p:blipFill>
            <a:blip r:embed="rId10">
              <a:lum/>
              <a:alphaModFix/>
            </a:blip>
            <a:srcRect/>
            <a:stretch>
              <a:fillRect/>
            </a:stretch>
          </p:blipFill>
          <p:spPr>
            <a:xfrm>
              <a:off x="4872600" y="2742480"/>
              <a:ext cx="3429000" cy="2286000"/>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page36">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Application #2: </a:t>
            </a:r>
            <a:r>
              <a:rPr lang="en-US" sz="3000" b="1" i="0" u="none" strike="noStrike" baseline="0" dirty="0" smtClean="0">
                <a:ln>
                  <a:noFill/>
                </a:ln>
                <a:solidFill>
                  <a:srgbClr val="FFFFFF"/>
                </a:solidFill>
                <a:latin typeface="Arial" pitchFamily="34"/>
                <a:ea typeface="굴림" pitchFamily="50"/>
                <a:cs typeface="굴림" pitchFamily="50"/>
              </a:rPr>
              <a:t>Joint Range </a:t>
            </a:r>
            <a:r>
              <a:rPr lang="en-US" sz="3000" b="1" i="0" u="none" strike="noStrike" baseline="0" dirty="0">
                <a:ln>
                  <a:noFill/>
                </a:ln>
                <a:solidFill>
                  <a:srgbClr val="FFFFFF"/>
                </a:solidFill>
                <a:latin typeface="Arial" pitchFamily="34"/>
                <a:ea typeface="굴림" pitchFamily="50"/>
                <a:cs typeface="굴림" pitchFamily="50"/>
              </a:rPr>
              <a:t>Data </a:t>
            </a:r>
            <a:r>
              <a:rPr lang="en-US" sz="3000" b="1" i="0" u="none" strike="noStrike" baseline="0" dirty="0" err="1">
                <a:ln>
                  <a:noFill/>
                </a:ln>
                <a:solidFill>
                  <a:srgbClr val="FFFFFF"/>
                </a:solidFill>
                <a:latin typeface="Arial" pitchFamily="34"/>
                <a:ea typeface="굴림" pitchFamily="50"/>
                <a:cs typeface="굴림" pitchFamily="50"/>
              </a:rPr>
              <a:t>Upsampling</a:t>
            </a:r>
            <a:endParaRPr lang="en-US" sz="3000" b="1" i="0" u="none" strike="noStrike" baseline="0" dirty="0">
              <a:ln>
                <a:noFill/>
              </a:ln>
              <a:solidFill>
                <a:srgbClr val="FFFFFF"/>
              </a:solidFill>
              <a:latin typeface="Arial" pitchFamily="34"/>
              <a:ea typeface="굴림" pitchFamily="50"/>
              <a:cs typeface="굴림" pitchFamily="50"/>
            </a:endParaRP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grpSp>
        <p:nvGrpSpPr>
          <p:cNvPr id="12" name="Group 11"/>
          <p:cNvGrpSpPr/>
          <p:nvPr/>
        </p:nvGrpSpPr>
        <p:grpSpPr>
          <a:xfrm>
            <a:off x="699408" y="1524000"/>
            <a:ext cx="3028950" cy="3244384"/>
            <a:chOff x="419519" y="1765945"/>
            <a:chExt cx="3028950" cy="3244384"/>
          </a:xfrm>
        </p:grpSpPr>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6669" y="2299345"/>
              <a:ext cx="2857500" cy="1343025"/>
            </a:xfrm>
            <a:prstGeom prst="rect">
              <a:avLst/>
            </a:prstGeom>
          </p:spPr>
        </p:pic>
        <p:sp>
          <p:nvSpPr>
            <p:cNvPr id="9" name="TextBox 8"/>
            <p:cNvSpPr txBox="1"/>
            <p:nvPr/>
          </p:nvSpPr>
          <p:spPr>
            <a:xfrm>
              <a:off x="419519" y="1765945"/>
              <a:ext cx="2971800" cy="461665"/>
            </a:xfrm>
            <a:prstGeom prst="rect">
              <a:avLst/>
            </a:prstGeom>
            <a:noFill/>
          </p:spPr>
          <p:txBody>
            <a:bodyPr wrap="square" rtlCol="0">
              <a:spAutoFit/>
            </a:bodyPr>
            <a:lstStyle/>
            <a:p>
              <a:r>
                <a:rPr lang="en-US" sz="2400" b="1" dirty="0" smtClean="0">
                  <a:latin typeface="Arial" pitchFamily="34" charset="0"/>
                  <a:cs typeface="Arial" pitchFamily="34" charset="0"/>
                </a:rPr>
                <a:t>Range Finder Data</a:t>
              </a:r>
              <a:endParaRPr lang="en-US" sz="2400" b="1" dirty="0">
                <a:latin typeface="Arial" pitchFamily="34" charset="0"/>
                <a:cs typeface="Arial" pitchFamily="34" charset="0"/>
              </a:endParaRPr>
            </a:p>
          </p:txBody>
        </p:sp>
        <p:sp>
          <p:nvSpPr>
            <p:cNvPr id="11" name="TextBox 10"/>
            <p:cNvSpPr txBox="1"/>
            <p:nvPr/>
          </p:nvSpPr>
          <p:spPr>
            <a:xfrm>
              <a:off x="476669" y="3810000"/>
              <a:ext cx="2971800" cy="1200329"/>
            </a:xfrm>
            <a:prstGeom prst="rect">
              <a:avLst/>
            </a:prstGeom>
            <a:noFill/>
          </p:spPr>
          <p:txBody>
            <a:bodyPr wrap="square" rtlCol="0">
              <a:spAutoFit/>
            </a:bodyPr>
            <a:lstStyle/>
            <a:p>
              <a:pPr marL="342900" indent="-342900">
                <a:buFont typeface="Wingdings" pitchFamily="2" charset="2"/>
                <a:buChar char="q"/>
              </a:pPr>
              <a:r>
                <a:rPr lang="en-US" sz="2400" b="1" dirty="0" smtClean="0">
                  <a:latin typeface="Arial" pitchFamily="34" charset="0"/>
                  <a:cs typeface="Arial" pitchFamily="34" charset="0"/>
                </a:rPr>
                <a:t>Sparse</a:t>
              </a:r>
            </a:p>
            <a:p>
              <a:pPr marL="342900" indent="-342900">
                <a:buFont typeface="Wingdings" pitchFamily="2" charset="2"/>
                <a:buChar char="q"/>
              </a:pPr>
              <a:r>
                <a:rPr lang="en-US" sz="2400" b="1" dirty="0" smtClean="0">
                  <a:latin typeface="Arial" pitchFamily="34" charset="0"/>
                  <a:cs typeface="Arial" pitchFamily="34" charset="0"/>
                </a:rPr>
                <a:t>Unstructured</a:t>
              </a:r>
            </a:p>
            <a:p>
              <a:pPr marL="342900" indent="-342900">
                <a:buFont typeface="Wingdings" pitchFamily="2" charset="2"/>
                <a:buChar char="q"/>
              </a:pPr>
              <a:r>
                <a:rPr lang="en-US" sz="2400" b="1" dirty="0" smtClean="0">
                  <a:latin typeface="Arial" pitchFamily="34" charset="0"/>
                  <a:cs typeface="Arial" pitchFamily="34" charset="0"/>
                </a:rPr>
                <a:t>Noisy</a:t>
              </a:r>
              <a:endParaRPr lang="en-US" sz="2400" b="1" dirty="0">
                <a:latin typeface="Arial" pitchFamily="34" charset="0"/>
                <a:cs typeface="Arial" pitchFamily="34" charset="0"/>
              </a:endParaRPr>
            </a:p>
          </p:txBody>
        </p:sp>
      </p:grpSp>
      <p:grpSp>
        <p:nvGrpSpPr>
          <p:cNvPr id="23" name="Group 22"/>
          <p:cNvGrpSpPr/>
          <p:nvPr/>
        </p:nvGrpSpPr>
        <p:grpSpPr>
          <a:xfrm>
            <a:off x="5867400" y="1524000"/>
            <a:ext cx="2971800" cy="1894063"/>
            <a:chOff x="5867400" y="1524000"/>
            <a:chExt cx="2971800" cy="1894063"/>
          </a:xfrm>
        </p:grpSpPr>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23294" y="2075038"/>
              <a:ext cx="2857500" cy="1343025"/>
            </a:xfrm>
            <a:prstGeom prst="rect">
              <a:avLst/>
            </a:prstGeom>
          </p:spPr>
        </p:pic>
        <p:sp>
          <p:nvSpPr>
            <p:cNvPr id="14" name="TextBox 13"/>
            <p:cNvSpPr txBox="1"/>
            <p:nvPr/>
          </p:nvSpPr>
          <p:spPr>
            <a:xfrm>
              <a:off x="5867400" y="1524000"/>
              <a:ext cx="2971800" cy="461665"/>
            </a:xfrm>
            <a:prstGeom prst="rect">
              <a:avLst/>
            </a:prstGeom>
            <a:noFill/>
          </p:spPr>
          <p:txBody>
            <a:bodyPr wrap="square" rtlCol="0">
              <a:spAutoFit/>
            </a:bodyPr>
            <a:lstStyle/>
            <a:p>
              <a:pPr algn="ctr"/>
              <a:r>
                <a:rPr lang="en-US" sz="2400" b="1" dirty="0" smtClean="0">
                  <a:latin typeface="Arial" pitchFamily="34" charset="0"/>
                  <a:cs typeface="Arial" pitchFamily="34" charset="0"/>
                </a:rPr>
                <a:t>Scene Image</a:t>
              </a:r>
              <a:endParaRPr lang="en-US" sz="2400" b="1" dirty="0">
                <a:latin typeface="Arial" pitchFamily="34" charset="0"/>
                <a:cs typeface="Arial" pitchFamily="34" charset="0"/>
              </a:endParaRPr>
            </a:p>
          </p:txBody>
        </p:sp>
      </p:grpSp>
      <p:grpSp>
        <p:nvGrpSpPr>
          <p:cNvPr id="25" name="Group 24"/>
          <p:cNvGrpSpPr/>
          <p:nvPr/>
        </p:nvGrpSpPr>
        <p:grpSpPr>
          <a:xfrm>
            <a:off x="3250014" y="2698767"/>
            <a:ext cx="2971800" cy="3477898"/>
            <a:chOff x="3250014" y="2698767"/>
            <a:chExt cx="2971800" cy="3477898"/>
          </a:xfrm>
        </p:grpSpPr>
        <p:cxnSp>
          <p:nvCxnSpPr>
            <p:cNvPr id="17" name="Straight Arrow Connector 16"/>
            <p:cNvCxnSpPr/>
            <p:nvPr/>
          </p:nvCxnSpPr>
          <p:spPr>
            <a:xfrm>
              <a:off x="3671208" y="2698767"/>
              <a:ext cx="838200" cy="143312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852789" y="2698767"/>
              <a:ext cx="1014611" cy="1433125"/>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51689" y="4253855"/>
              <a:ext cx="2857500" cy="1343025"/>
            </a:xfrm>
            <a:prstGeom prst="rect">
              <a:avLst/>
            </a:prstGeom>
          </p:spPr>
        </p:pic>
        <p:sp>
          <p:nvSpPr>
            <p:cNvPr id="22" name="TextBox 21"/>
            <p:cNvSpPr txBox="1"/>
            <p:nvPr/>
          </p:nvSpPr>
          <p:spPr>
            <a:xfrm>
              <a:off x="3250014" y="5715000"/>
              <a:ext cx="2971800" cy="461665"/>
            </a:xfrm>
            <a:prstGeom prst="rect">
              <a:avLst/>
            </a:prstGeom>
            <a:noFill/>
          </p:spPr>
          <p:txBody>
            <a:bodyPr wrap="square" rtlCol="0">
              <a:spAutoFit/>
            </a:bodyPr>
            <a:lstStyle/>
            <a:p>
              <a:pPr algn="ctr"/>
              <a:r>
                <a:rPr lang="en-US" sz="2400" b="1" dirty="0" smtClean="0">
                  <a:latin typeface="Arial" pitchFamily="34" charset="0"/>
                  <a:cs typeface="Arial" pitchFamily="34" charset="0"/>
                </a:rPr>
                <a:t>Output</a:t>
              </a:r>
              <a:endParaRPr lang="en-US" sz="2400" b="1" dirty="0">
                <a:latin typeface="Arial" pitchFamily="34" charset="0"/>
                <a:cs typeface="Arial" pitchFamily="34" charset="0"/>
              </a:endParaRPr>
            </a:p>
          </p:txBody>
        </p:sp>
        <p:sp>
          <p:nvSpPr>
            <p:cNvPr id="24" name="TextBox 23"/>
            <p:cNvSpPr txBox="1"/>
            <p:nvPr/>
          </p:nvSpPr>
          <p:spPr>
            <a:xfrm rot="3730690">
              <a:off x="3893994" y="2989779"/>
              <a:ext cx="936475" cy="461665"/>
            </a:xfrm>
            <a:prstGeom prst="rect">
              <a:avLst/>
            </a:prstGeom>
            <a:noFill/>
          </p:spPr>
          <p:txBody>
            <a:bodyPr wrap="none" rtlCol="0">
              <a:spAutoFit/>
            </a:bodyPr>
            <a:lstStyle/>
            <a:p>
              <a:r>
                <a:rPr lang="en-US" sz="2400" b="1" dirty="0" smtClean="0">
                  <a:latin typeface="Arial" pitchFamily="34" charset="0"/>
                  <a:cs typeface="Arial" pitchFamily="34" charset="0"/>
                </a:rPr>
                <a:t>Filter</a:t>
              </a:r>
              <a:endParaRPr lang="en-US" sz="2400" b="1" dirty="0">
                <a:latin typeface="Arial" pitchFamily="34" charset="0"/>
                <a:cs typeface="Arial"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rtl="0" hangingPunct="1">
              <a:lnSpc>
                <a:spcPct val="100000"/>
              </a:lnSpc>
              <a:buNone/>
              <a:tabLst/>
            </a:pPr>
            <a:r>
              <a:rPr lang="en-US" sz="3000" b="1">
                <a:solidFill>
                  <a:srgbClr val="FFFFFF"/>
                </a:solidFill>
                <a:latin typeface="Arial" pitchFamily="34"/>
                <a:ea typeface="DejaVu Sans" pitchFamily="2"/>
                <a:cs typeface="DejaVu Sans" pitchFamily="2"/>
              </a:rPr>
              <a:t>  Synthetic Example</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grpSp>
        <p:nvGrpSpPr>
          <p:cNvPr id="6" name="Group 5"/>
          <p:cNvGrpSpPr/>
          <p:nvPr/>
        </p:nvGrpSpPr>
        <p:grpSpPr>
          <a:xfrm>
            <a:off x="745559" y="2057400"/>
            <a:ext cx="3428639" cy="2970000"/>
            <a:chOff x="745559" y="2057400"/>
            <a:chExt cx="3428639" cy="2970000"/>
          </a:xfrm>
        </p:grpSpPr>
        <p:pic>
          <p:nvPicPr>
            <p:cNvPr id="7" name="Picture 6"/>
            <p:cNvPicPr>
              <a:picLocks noChangeAspect="1"/>
            </p:cNvPicPr>
            <p:nvPr/>
          </p:nvPicPr>
          <p:blipFill>
            <a:blip r:embed="rId6">
              <a:lum/>
              <a:alphaModFix/>
            </a:blip>
            <a:srcRect/>
            <a:stretch>
              <a:fillRect/>
            </a:stretch>
          </p:blipFill>
          <p:spPr>
            <a:xfrm>
              <a:off x="745559" y="2741760"/>
              <a:ext cx="3428639" cy="2285640"/>
            </a:xfrm>
            <a:prstGeom prst="rect">
              <a:avLst/>
            </a:prstGeom>
            <a:noFill/>
            <a:ln>
              <a:noFill/>
            </a:ln>
          </p:spPr>
        </p:pic>
        <p:sp>
          <p:nvSpPr>
            <p:cNvPr id="8" name="TextBox 7"/>
            <p:cNvSpPr txBox="1"/>
            <p:nvPr/>
          </p:nvSpPr>
          <p:spPr>
            <a:xfrm>
              <a:off x="914400" y="2057400"/>
              <a:ext cx="32004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Scene Image</a:t>
              </a:r>
            </a:p>
          </p:txBody>
        </p:sp>
      </p:grpSp>
      <p:grpSp>
        <p:nvGrpSpPr>
          <p:cNvPr id="9" name="Group 8"/>
          <p:cNvGrpSpPr/>
          <p:nvPr/>
        </p:nvGrpSpPr>
        <p:grpSpPr>
          <a:xfrm>
            <a:off x="4631400" y="2058480"/>
            <a:ext cx="3886200" cy="2968559"/>
            <a:chOff x="4631400" y="2058480"/>
            <a:chExt cx="3886200" cy="2968559"/>
          </a:xfrm>
        </p:grpSpPr>
        <p:pic>
          <p:nvPicPr>
            <p:cNvPr id="10" name="Picture 9"/>
            <p:cNvPicPr>
              <a:picLocks noChangeAspect="1"/>
            </p:cNvPicPr>
            <p:nvPr/>
          </p:nvPicPr>
          <p:blipFill>
            <a:blip r:embed="rId7">
              <a:lum/>
              <a:alphaModFix/>
            </a:blip>
            <a:srcRect/>
            <a:stretch>
              <a:fillRect/>
            </a:stretch>
          </p:blipFill>
          <p:spPr>
            <a:xfrm>
              <a:off x="4860000" y="2741399"/>
              <a:ext cx="3428639" cy="2285640"/>
            </a:xfrm>
            <a:prstGeom prst="rect">
              <a:avLst/>
            </a:prstGeom>
            <a:noFill/>
            <a:ln>
              <a:noFill/>
            </a:ln>
          </p:spPr>
        </p:pic>
        <p:sp>
          <p:nvSpPr>
            <p:cNvPr id="11" name="TextBox 10"/>
            <p:cNvSpPr txBox="1"/>
            <p:nvPr/>
          </p:nvSpPr>
          <p:spPr>
            <a:xfrm>
              <a:off x="4631400" y="2058480"/>
              <a:ext cx="38862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Ground Truth Depth</a:t>
              </a:r>
            </a:p>
          </p:txBody>
        </p:sp>
      </p:grpSp>
    </p:spTree>
    <p:extLst>
      <p:ext uri="{BB962C8B-B14F-4D97-AF65-F5344CB8AC3E}">
        <p14:creationId xmlns:p14="http://schemas.microsoft.com/office/powerpoint/2010/main" val="2468742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page37">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0">
            <a:spAutoFit/>
          </a:bodyPr>
          <a:lstStyle/>
          <a:p>
            <a:pPr marL="0" marR="0" lvl="0" indent="0" rtl="0" hangingPunct="1">
              <a:lnSpc>
                <a:spcPct val="100000"/>
              </a:lnSpc>
              <a:buNone/>
              <a:tabLst/>
            </a:pPr>
            <a:r>
              <a:rPr lang="en-US" sz="3000" b="1">
                <a:solidFill>
                  <a:srgbClr val="FFFFFF"/>
                </a:solidFill>
                <a:latin typeface="Arial" pitchFamily="34"/>
                <a:ea typeface="DejaVu Sans" pitchFamily="2"/>
                <a:cs typeface="DejaVu Sans" pitchFamily="2"/>
              </a:rPr>
              <a:t>  Synthetic Example</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grpSp>
        <p:nvGrpSpPr>
          <p:cNvPr id="6" name="Group 5"/>
          <p:cNvGrpSpPr/>
          <p:nvPr/>
        </p:nvGrpSpPr>
        <p:grpSpPr>
          <a:xfrm>
            <a:off x="745559" y="2057400"/>
            <a:ext cx="3428639" cy="2970000"/>
            <a:chOff x="745559" y="2057400"/>
            <a:chExt cx="3428639" cy="2970000"/>
          </a:xfrm>
        </p:grpSpPr>
        <p:pic>
          <p:nvPicPr>
            <p:cNvPr id="7" name="Picture 6"/>
            <p:cNvPicPr>
              <a:picLocks noChangeAspect="1"/>
            </p:cNvPicPr>
            <p:nvPr/>
          </p:nvPicPr>
          <p:blipFill>
            <a:blip r:embed="rId6">
              <a:lum/>
              <a:alphaModFix/>
            </a:blip>
            <a:srcRect/>
            <a:stretch>
              <a:fillRect/>
            </a:stretch>
          </p:blipFill>
          <p:spPr>
            <a:xfrm>
              <a:off x="745559" y="2741760"/>
              <a:ext cx="3428639" cy="2285640"/>
            </a:xfrm>
            <a:prstGeom prst="rect">
              <a:avLst/>
            </a:prstGeom>
            <a:noFill/>
            <a:ln>
              <a:noFill/>
            </a:ln>
          </p:spPr>
        </p:pic>
        <p:sp>
          <p:nvSpPr>
            <p:cNvPr id="8" name="TextBox 7"/>
            <p:cNvSpPr txBox="1"/>
            <p:nvPr/>
          </p:nvSpPr>
          <p:spPr>
            <a:xfrm>
              <a:off x="914400" y="2057400"/>
              <a:ext cx="32004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Scene Image</a:t>
              </a:r>
            </a:p>
          </p:txBody>
        </p:sp>
      </p:grpSp>
      <p:grpSp>
        <p:nvGrpSpPr>
          <p:cNvPr id="12" name="Group 11"/>
          <p:cNvGrpSpPr/>
          <p:nvPr/>
        </p:nvGrpSpPr>
        <p:grpSpPr>
          <a:xfrm>
            <a:off x="4643237" y="2057399"/>
            <a:ext cx="3886200" cy="2973700"/>
            <a:chOff x="4643237" y="2057399"/>
            <a:chExt cx="3886200" cy="2973700"/>
          </a:xfrm>
        </p:grpSpPr>
        <p:pic>
          <p:nvPicPr>
            <p:cNvPr id="13" name="Picture 12"/>
            <p:cNvPicPr>
              <a:picLocks noChangeAspect="1"/>
            </p:cNvPicPr>
            <p:nvPr/>
          </p:nvPicPr>
          <p:blipFill>
            <a:blip r:embed="rId7">
              <a:lum/>
              <a:alphaModFix/>
            </a:blip>
            <a:srcRect/>
            <a:stretch>
              <a:fillRect/>
            </a:stretch>
          </p:blipFill>
          <p:spPr>
            <a:xfrm>
              <a:off x="4860180" y="2745459"/>
              <a:ext cx="3428639" cy="2285640"/>
            </a:xfrm>
            <a:prstGeom prst="rect">
              <a:avLst/>
            </a:prstGeom>
            <a:noFill/>
            <a:ln>
              <a:noFill/>
            </a:ln>
          </p:spPr>
        </p:pic>
        <p:sp>
          <p:nvSpPr>
            <p:cNvPr id="14" name="TextBox 13"/>
            <p:cNvSpPr txBox="1"/>
            <p:nvPr/>
          </p:nvSpPr>
          <p:spPr>
            <a:xfrm>
              <a:off x="4643237" y="2057399"/>
              <a:ext cx="38862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Simulated Sensor Data</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name="page38">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Synthetic Example : Result</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6" name="Picture 5"/>
          <p:cNvPicPr>
            <a:picLocks noChangeAspect="1"/>
          </p:cNvPicPr>
          <p:nvPr/>
        </p:nvPicPr>
        <p:blipFill>
          <a:blip r:embed="rId6">
            <a:lum/>
            <a:alphaModFix/>
          </a:blip>
          <a:srcRect/>
          <a:stretch>
            <a:fillRect/>
          </a:stretch>
        </p:blipFill>
        <p:spPr>
          <a:xfrm>
            <a:off x="749880" y="2707200"/>
            <a:ext cx="3428639" cy="2285640"/>
          </a:xfrm>
          <a:prstGeom prst="rect">
            <a:avLst/>
          </a:prstGeom>
          <a:noFill/>
          <a:ln>
            <a:noFill/>
          </a:ln>
        </p:spPr>
      </p:pic>
      <p:pic>
        <p:nvPicPr>
          <p:cNvPr id="7" name="Picture 6"/>
          <p:cNvPicPr>
            <a:picLocks noChangeAspect="1"/>
          </p:cNvPicPr>
          <p:nvPr/>
        </p:nvPicPr>
        <p:blipFill>
          <a:blip r:embed="rId7">
            <a:lum/>
            <a:alphaModFix/>
          </a:blip>
          <a:srcRect/>
          <a:stretch>
            <a:fillRect/>
          </a:stretch>
        </p:blipFill>
        <p:spPr>
          <a:xfrm>
            <a:off x="4855320" y="2707200"/>
            <a:ext cx="3428639" cy="2285640"/>
          </a:xfrm>
          <a:prstGeom prst="rect">
            <a:avLst/>
          </a:prstGeom>
          <a:noFill/>
          <a:ln>
            <a:noFill/>
          </a:ln>
        </p:spPr>
      </p:pic>
      <p:sp>
        <p:nvSpPr>
          <p:cNvPr id="8" name="TextBox 7"/>
          <p:cNvSpPr txBox="1"/>
          <p:nvPr/>
        </p:nvSpPr>
        <p:spPr>
          <a:xfrm>
            <a:off x="5257800" y="2057400"/>
            <a:ext cx="2846160" cy="457200"/>
          </a:xfrm>
          <a:prstGeom prst="rect">
            <a:avLst/>
          </a:prstGeom>
          <a:noFill/>
          <a:ln>
            <a:noFill/>
          </a:ln>
        </p:spPr>
        <p:txBody>
          <a:bodyPr vert="horz" lIns="90000" tIns="45000" rIns="90000" bIns="45000" anchorCtr="0" compatLnSpc="1">
            <a:spAutoFit/>
          </a:bodyPr>
          <a:lstStyle/>
          <a:p>
            <a:pPr marL="0" marR="0" lvl="0" indent="0" algn="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Kernel Sampling</a:t>
            </a:r>
          </a:p>
        </p:txBody>
      </p:sp>
      <p:sp>
        <p:nvSpPr>
          <p:cNvPr id="9" name="TextBox 8"/>
          <p:cNvSpPr txBox="1"/>
          <p:nvPr/>
        </p:nvSpPr>
        <p:spPr>
          <a:xfrm>
            <a:off x="1198440" y="2094840"/>
            <a:ext cx="2326680" cy="456119"/>
          </a:xfrm>
          <a:prstGeom prst="rect">
            <a:avLst/>
          </a:prstGeom>
          <a:noFill/>
          <a:ln>
            <a:noFill/>
          </a:ln>
        </p:spPr>
        <p:txBody>
          <a:bodyPr vert="horz" lIns="90000" tIns="45000" rIns="90000" bIns="45000" anchorCtr="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Bilateral Filter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name="page39">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6480"/>
            <a:ext cx="9162720" cy="6872400"/>
          </a:xfrm>
          <a:prstGeom prst="rect">
            <a:avLst/>
          </a:prstGeom>
          <a:noFill/>
          <a:ln>
            <a:noFill/>
          </a:ln>
        </p:spPr>
      </p:pic>
      <p:sp>
        <p:nvSpPr>
          <p:cNvPr id="3" name="Freeform 2"/>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Synthetic Example : Relative Error</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6" name="Picture 5"/>
          <p:cNvPicPr>
            <a:picLocks noChangeAspect="1"/>
          </p:cNvPicPr>
          <p:nvPr/>
        </p:nvPicPr>
        <p:blipFill>
          <a:blip r:embed="rId6">
            <a:lum/>
            <a:alphaModFix/>
          </a:blip>
          <a:srcRect/>
          <a:stretch>
            <a:fillRect/>
          </a:stretch>
        </p:blipFill>
        <p:spPr>
          <a:xfrm>
            <a:off x="749880" y="2707200"/>
            <a:ext cx="3428639" cy="2285640"/>
          </a:xfrm>
          <a:prstGeom prst="rect">
            <a:avLst/>
          </a:prstGeom>
          <a:noFill/>
          <a:ln>
            <a:noFill/>
          </a:ln>
        </p:spPr>
      </p:pic>
      <p:pic>
        <p:nvPicPr>
          <p:cNvPr id="7" name="Picture 6"/>
          <p:cNvPicPr>
            <a:picLocks noChangeAspect="1"/>
          </p:cNvPicPr>
          <p:nvPr/>
        </p:nvPicPr>
        <p:blipFill>
          <a:blip r:embed="rId7">
            <a:lum/>
            <a:alphaModFix/>
          </a:blip>
          <a:srcRect/>
          <a:stretch>
            <a:fillRect/>
          </a:stretch>
        </p:blipFill>
        <p:spPr>
          <a:xfrm>
            <a:off x="4855320" y="2707200"/>
            <a:ext cx="3428639" cy="2285640"/>
          </a:xfrm>
          <a:prstGeom prst="rect">
            <a:avLst/>
          </a:prstGeom>
          <a:noFill/>
          <a:ln>
            <a:noFill/>
          </a:ln>
        </p:spPr>
      </p:pic>
      <p:sp>
        <p:nvSpPr>
          <p:cNvPr id="8" name="TextBox 7"/>
          <p:cNvSpPr txBox="1"/>
          <p:nvPr/>
        </p:nvSpPr>
        <p:spPr>
          <a:xfrm>
            <a:off x="1198080" y="2094479"/>
            <a:ext cx="2326680" cy="456119"/>
          </a:xfrm>
          <a:prstGeom prst="rect">
            <a:avLst/>
          </a:prstGeom>
          <a:noFill/>
          <a:ln>
            <a:noFill/>
          </a:ln>
        </p:spPr>
        <p:txBody>
          <a:bodyPr vert="horz" lIns="90000" tIns="45000" rIns="90000" bIns="45000" anchorCtr="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Bilateral Filter</a:t>
            </a:r>
          </a:p>
        </p:txBody>
      </p:sp>
      <p:sp>
        <p:nvSpPr>
          <p:cNvPr id="9" name="TextBox 8"/>
          <p:cNvSpPr txBox="1"/>
          <p:nvPr/>
        </p:nvSpPr>
        <p:spPr>
          <a:xfrm>
            <a:off x="5257800" y="2057400"/>
            <a:ext cx="2846160" cy="457200"/>
          </a:xfrm>
          <a:prstGeom prst="rect">
            <a:avLst/>
          </a:prstGeom>
          <a:noFill/>
          <a:ln>
            <a:noFill/>
          </a:ln>
        </p:spPr>
        <p:txBody>
          <a:bodyPr vert="horz" lIns="90000" tIns="45000" rIns="90000" bIns="45000" anchorCtr="0" compatLnSpc="1">
            <a:spAutoFit/>
          </a:bodyPr>
          <a:lstStyle/>
          <a:p>
            <a:pPr marL="0" marR="0" lvl="0" indent="0" algn="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Kernel Sampling</a:t>
            </a:r>
          </a:p>
        </p:txBody>
      </p:sp>
      <p:sp>
        <p:nvSpPr>
          <p:cNvPr id="10" name="TextBox 9"/>
          <p:cNvSpPr txBox="1"/>
          <p:nvPr/>
        </p:nvSpPr>
        <p:spPr>
          <a:xfrm>
            <a:off x="457200" y="5257800"/>
            <a:ext cx="3918960" cy="425520"/>
          </a:xfrm>
          <a:prstGeom prst="rect">
            <a:avLst/>
          </a:prstGeom>
          <a:noFill/>
          <a:ln>
            <a:noFill/>
          </a:ln>
        </p:spPr>
        <p:txBody>
          <a:bodyPr vert="horz" lIns="90000" tIns="45000" rIns="90000" bIns="45000" anchorCtr="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200" b="1" i="0" u="none" strike="noStrike" baseline="0" dirty="0">
                <a:ln>
                  <a:noFill/>
                </a:ln>
                <a:solidFill>
                  <a:srgbClr val="000000"/>
                </a:solidFill>
                <a:latin typeface="Arial" pitchFamily="34" charset="0"/>
                <a:ea typeface="굴림" pitchFamily="50"/>
                <a:cs typeface="Arial" pitchFamily="34" charset="0"/>
              </a:rPr>
              <a:t>2.41% Mean Relative Error</a:t>
            </a:r>
          </a:p>
        </p:txBody>
      </p:sp>
      <p:sp>
        <p:nvSpPr>
          <p:cNvPr id="11" name="TextBox 10"/>
          <p:cNvSpPr txBox="1"/>
          <p:nvPr/>
        </p:nvSpPr>
        <p:spPr>
          <a:xfrm>
            <a:off x="4800600" y="5257800"/>
            <a:ext cx="3918960" cy="425520"/>
          </a:xfrm>
          <a:prstGeom prst="rect">
            <a:avLst/>
          </a:prstGeom>
          <a:noFill/>
          <a:ln>
            <a:noFill/>
          </a:ln>
        </p:spPr>
        <p:txBody>
          <a:bodyPr vert="horz" lIns="90000" tIns="45000" rIns="90000" bIns="45000" anchorCtr="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200" b="1" i="0" u="none" strike="noStrike" baseline="0" dirty="0">
                <a:ln>
                  <a:noFill/>
                </a:ln>
                <a:solidFill>
                  <a:srgbClr val="000000"/>
                </a:solidFill>
                <a:latin typeface="Arial" pitchFamily="34" charset="0"/>
                <a:ea typeface="굴림" pitchFamily="50"/>
                <a:cs typeface="Arial" pitchFamily="34" charset="0"/>
              </a:rPr>
              <a:t>0.95% Mean Relative Error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name="page40">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Real-World Example</a:t>
            </a:r>
          </a:p>
        </p:txBody>
      </p:sp>
      <p:pic>
        <p:nvPicPr>
          <p:cNvPr id="4" name="Picture 3"/>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grpSp>
        <p:nvGrpSpPr>
          <p:cNvPr id="6" name="Group 5"/>
          <p:cNvGrpSpPr/>
          <p:nvPr/>
        </p:nvGrpSpPr>
        <p:grpSpPr>
          <a:xfrm>
            <a:off x="745559" y="2057400"/>
            <a:ext cx="3428639" cy="2970000"/>
            <a:chOff x="745559" y="2057400"/>
            <a:chExt cx="3428639" cy="2970000"/>
          </a:xfrm>
        </p:grpSpPr>
        <p:pic>
          <p:nvPicPr>
            <p:cNvPr id="7" name="Picture 6"/>
            <p:cNvPicPr>
              <a:picLocks noChangeAspect="1"/>
            </p:cNvPicPr>
            <p:nvPr/>
          </p:nvPicPr>
          <p:blipFill>
            <a:blip r:embed="rId6">
              <a:lum/>
              <a:alphaModFix/>
            </a:blip>
            <a:srcRect/>
            <a:stretch>
              <a:fillRect/>
            </a:stretch>
          </p:blipFill>
          <p:spPr>
            <a:xfrm>
              <a:off x="745559" y="2741760"/>
              <a:ext cx="3428639" cy="2285640"/>
            </a:xfrm>
            <a:prstGeom prst="rect">
              <a:avLst/>
            </a:prstGeom>
            <a:noFill/>
            <a:ln>
              <a:noFill/>
            </a:ln>
          </p:spPr>
        </p:pic>
        <p:sp>
          <p:nvSpPr>
            <p:cNvPr id="8" name="TextBox 7"/>
            <p:cNvSpPr txBox="1"/>
            <p:nvPr/>
          </p:nvSpPr>
          <p:spPr>
            <a:xfrm>
              <a:off x="914400" y="2057400"/>
              <a:ext cx="32004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Scene Image</a:t>
              </a:r>
            </a:p>
          </p:txBody>
        </p:sp>
      </p:grpSp>
      <p:grpSp>
        <p:nvGrpSpPr>
          <p:cNvPr id="9" name="Group 8"/>
          <p:cNvGrpSpPr/>
          <p:nvPr/>
        </p:nvGrpSpPr>
        <p:grpSpPr>
          <a:xfrm>
            <a:off x="4631400" y="2058480"/>
            <a:ext cx="3886200" cy="2968559"/>
            <a:chOff x="4631400" y="2058480"/>
            <a:chExt cx="3886200" cy="2968559"/>
          </a:xfrm>
        </p:grpSpPr>
        <p:pic>
          <p:nvPicPr>
            <p:cNvPr id="10" name="Picture 9"/>
            <p:cNvPicPr>
              <a:picLocks noChangeAspect="1"/>
            </p:cNvPicPr>
            <p:nvPr/>
          </p:nvPicPr>
          <p:blipFill>
            <a:blip r:embed="rId7">
              <a:lum/>
              <a:alphaModFix/>
            </a:blip>
            <a:srcRect/>
            <a:stretch>
              <a:fillRect/>
            </a:stretch>
          </p:blipFill>
          <p:spPr>
            <a:xfrm>
              <a:off x="4860000" y="2741399"/>
              <a:ext cx="3428639" cy="2285640"/>
            </a:xfrm>
            <a:prstGeom prst="rect">
              <a:avLst/>
            </a:prstGeom>
            <a:noFill/>
            <a:ln>
              <a:noFill/>
            </a:ln>
          </p:spPr>
        </p:pic>
        <p:sp>
          <p:nvSpPr>
            <p:cNvPr id="11" name="TextBox 10"/>
            <p:cNvSpPr txBox="1"/>
            <p:nvPr/>
          </p:nvSpPr>
          <p:spPr>
            <a:xfrm>
              <a:off x="4631400" y="2058480"/>
              <a:ext cx="3886200" cy="456119"/>
            </a:xfrm>
            <a:prstGeom prst="rect">
              <a:avLst/>
            </a:prstGeom>
            <a:noFill/>
            <a:ln>
              <a:noFill/>
            </a:ln>
          </p:spPr>
          <p:txBody>
            <a:bodyPr vert="horz" lIns="90000" tIns="45000" rIns="90000" bIns="45000" compatLnSpc="1">
              <a:spAutoFit/>
            </a:bodyPr>
            <a:lstStyle/>
            <a:p>
              <a:pPr marL="0" marR="0" lvl="0" indent="0" algn="ctr"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a:ln>
                    <a:noFill/>
                  </a:ln>
                  <a:solidFill>
                    <a:srgbClr val="000000"/>
                  </a:solidFill>
                  <a:latin typeface="Arial" pitchFamily="34" charset="0"/>
                  <a:ea typeface="굴림" pitchFamily="50"/>
                  <a:cs typeface="Arial" pitchFamily="34" charset="0"/>
                </a:rPr>
                <a:t>Range Finder Data</a:t>
              </a:r>
            </a:p>
          </p:txBody>
        </p:sp>
      </p:grpSp>
      <p:sp>
        <p:nvSpPr>
          <p:cNvPr id="12" name="TextBox 11"/>
          <p:cNvSpPr txBox="1"/>
          <p:nvPr/>
        </p:nvSpPr>
        <p:spPr>
          <a:xfrm>
            <a:off x="3200400" y="5868720"/>
            <a:ext cx="5269319" cy="303480"/>
          </a:xfrm>
          <a:prstGeom prst="rect">
            <a:avLst/>
          </a:prstGeom>
          <a:noFill/>
          <a:ln>
            <a:noFill/>
          </a:ln>
        </p:spPr>
        <p:txBody>
          <a:bodyPr vert="horz" lIns="90000" tIns="45000" rIns="90000" bIns="45000"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1400" b="0" i="0" u="none" strike="noStrike" baseline="0">
                <a:ln>
                  <a:noFill/>
                </a:ln>
                <a:solidFill>
                  <a:srgbClr val="000000"/>
                </a:solidFill>
                <a:latin typeface="굴림" pitchFamily="50"/>
                <a:ea typeface="굴림" pitchFamily="50"/>
                <a:cs typeface="굴림" pitchFamily="50"/>
              </a:rPr>
              <a:t>*Dataset courtesy of Jennifer Dolson, Stanford University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name="page41">
    <p:spTree>
      <p:nvGrpSpPr>
        <p:cNvPr id="1" name=""/>
        <p:cNvGrpSpPr/>
        <p:nvPr/>
      </p:nvGrpSpPr>
      <p:grpSpPr>
        <a:xfrm>
          <a:off x="0" y="0"/>
          <a:ext cx="0" cy="0"/>
          <a:chOff x="0" y="0"/>
          <a:chExt cx="0" cy="0"/>
        </a:xfrm>
      </p:grpSpPr>
      <p:pic>
        <p:nvPicPr>
          <p:cNvPr id="2" name="Picture 1"/>
          <p:cNvPicPr>
            <a:picLocks noChangeAspect="1"/>
          </p:cNvPicPr>
          <p:nvPr/>
        </p:nvPicPr>
        <p:blipFill>
          <a:blip r:embed="rId5">
            <a:lum/>
            <a:alphaModFix/>
          </a:blip>
          <a:srcRect/>
          <a:stretch>
            <a:fillRect/>
          </a:stretch>
        </p:blipFill>
        <p:spPr>
          <a:xfrm>
            <a:off x="-9720" y="-8280"/>
            <a:ext cx="9162720" cy="6872400"/>
          </a:xfrm>
          <a:prstGeom prst="rect">
            <a:avLst/>
          </a:prstGeom>
          <a:noFill/>
          <a:ln>
            <a:noFill/>
          </a:ln>
        </p:spPr>
      </p:pic>
      <p:sp>
        <p:nvSpPr>
          <p:cNvPr id="3" name="Freeform 2"/>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Real-World Example: Result</a:t>
            </a:r>
          </a:p>
        </p:txBody>
      </p:sp>
      <p:pic>
        <p:nvPicPr>
          <p:cNvPr id="4" name="Picture 3"/>
          <p:cNvPicPr>
            <a:picLocks noChangeAspect="1"/>
          </p:cNvPicPr>
          <p:nvPr/>
        </p:nvPicPr>
        <p:blipFill>
          <a:blip r:embed="rId6">
            <a:lum/>
            <a:alphaModFix/>
          </a:blip>
          <a:srcRect/>
          <a:stretch>
            <a:fillRect/>
          </a:stretch>
        </p:blipFill>
        <p:spPr>
          <a:xfrm>
            <a:off x="6680160" y="6321600"/>
            <a:ext cx="2212920" cy="420480"/>
          </a:xfrm>
          <a:prstGeom prst="rect">
            <a:avLst/>
          </a:prstGeom>
          <a:noFill/>
          <a:ln>
            <a:noFill/>
          </a:ln>
        </p:spPr>
      </p:pic>
      <p:pic>
        <p:nvPicPr>
          <p:cNvPr id="5" name="Picture 4"/>
          <p:cNvPicPr>
            <a:picLocks noChangeAspect="1"/>
          </p:cNvPicPr>
          <p:nvPr/>
        </p:nvPicPr>
        <p:blipFill>
          <a:blip r:embed="rId7">
            <a:lum/>
            <a:alphaModFix/>
          </a:blip>
          <a:srcRect/>
          <a:stretch>
            <a:fillRect/>
          </a:stretch>
        </p:blipFill>
        <p:spPr>
          <a:xfrm>
            <a:off x="250920" y="6467399"/>
            <a:ext cx="1123920" cy="201600"/>
          </a:xfrm>
          <a:prstGeom prst="rect">
            <a:avLst/>
          </a:prstGeom>
          <a:noFill/>
          <a:ln>
            <a:noFill/>
          </a:ln>
        </p:spPr>
      </p:pic>
      <p:sp>
        <p:nvSpPr>
          <p:cNvPr id="8" name="TextBox 7"/>
          <p:cNvSpPr txBox="1"/>
          <p:nvPr/>
        </p:nvSpPr>
        <p:spPr>
          <a:xfrm>
            <a:off x="533400" y="2516831"/>
            <a:ext cx="934871" cy="461665"/>
          </a:xfrm>
          <a:prstGeom prst="rect">
            <a:avLst/>
          </a:prstGeom>
          <a:noFill/>
        </p:spPr>
        <p:txBody>
          <a:bodyPr wrap="none" rtlCol="0">
            <a:spAutoFit/>
          </a:bodyPr>
          <a:lstStyle/>
          <a:p>
            <a:r>
              <a:rPr lang="en-US" sz="2400" b="1" dirty="0" smtClean="0">
                <a:latin typeface="Arial" pitchFamily="34" charset="0"/>
                <a:cs typeface="Arial" pitchFamily="34" charset="0"/>
              </a:rPr>
              <a:t>Input</a:t>
            </a:r>
            <a:endParaRPr lang="en-US" sz="2400" b="1" dirty="0">
              <a:latin typeface="Arial" pitchFamily="34" charset="0"/>
              <a:cs typeface="Arial" pitchFamily="34" charset="0"/>
            </a:endParaRPr>
          </a:p>
        </p:txBody>
      </p:sp>
      <p:sp>
        <p:nvSpPr>
          <p:cNvPr id="10" name="TextBox 9"/>
          <p:cNvSpPr txBox="1"/>
          <p:nvPr/>
        </p:nvSpPr>
        <p:spPr>
          <a:xfrm>
            <a:off x="225498" y="4724400"/>
            <a:ext cx="1399742" cy="461665"/>
          </a:xfrm>
          <a:prstGeom prst="rect">
            <a:avLst/>
          </a:prstGeom>
          <a:noFill/>
        </p:spPr>
        <p:txBody>
          <a:bodyPr wrap="none" rtlCol="0">
            <a:spAutoFit/>
          </a:bodyPr>
          <a:lstStyle/>
          <a:p>
            <a:r>
              <a:rPr lang="en-US" sz="2400" b="1" dirty="0" smtClean="0">
                <a:latin typeface="Arial" pitchFamily="34" charset="0"/>
                <a:cs typeface="Arial" pitchFamily="34" charset="0"/>
              </a:rPr>
              <a:t>Bilateral</a:t>
            </a:r>
            <a:endParaRPr lang="en-US" sz="2400" b="1" dirty="0">
              <a:latin typeface="Arial" pitchFamily="34" charset="0"/>
              <a:cs typeface="Arial" pitchFamily="34" charset="0"/>
            </a:endParaRPr>
          </a:p>
        </p:txBody>
      </p:sp>
      <p:sp>
        <p:nvSpPr>
          <p:cNvPr id="11" name="TextBox 10"/>
          <p:cNvSpPr txBox="1"/>
          <p:nvPr/>
        </p:nvSpPr>
        <p:spPr>
          <a:xfrm>
            <a:off x="7620000" y="2516831"/>
            <a:ext cx="1007007" cy="461665"/>
          </a:xfrm>
          <a:prstGeom prst="rect">
            <a:avLst/>
          </a:prstGeom>
          <a:noFill/>
        </p:spPr>
        <p:txBody>
          <a:bodyPr wrap="none" rtlCol="0">
            <a:spAutoFit/>
          </a:bodyPr>
          <a:lstStyle/>
          <a:p>
            <a:r>
              <a:rPr lang="en-US" sz="2400" b="1" dirty="0" smtClean="0">
                <a:latin typeface="Arial" pitchFamily="34" charset="0"/>
                <a:cs typeface="Arial" pitchFamily="34" charset="0"/>
              </a:rPr>
              <a:t>Naive</a:t>
            </a:r>
            <a:endParaRPr lang="en-US" sz="2400" b="1" dirty="0">
              <a:latin typeface="Arial" pitchFamily="34" charset="0"/>
              <a:cs typeface="Arial" pitchFamily="34" charset="0"/>
            </a:endParaRPr>
          </a:p>
        </p:txBody>
      </p:sp>
      <p:sp>
        <p:nvSpPr>
          <p:cNvPr id="12" name="TextBox 11"/>
          <p:cNvSpPr txBox="1"/>
          <p:nvPr/>
        </p:nvSpPr>
        <p:spPr>
          <a:xfrm>
            <a:off x="7620000" y="4645967"/>
            <a:ext cx="1568058" cy="830997"/>
          </a:xfrm>
          <a:prstGeom prst="rect">
            <a:avLst/>
          </a:prstGeom>
          <a:noFill/>
        </p:spPr>
        <p:txBody>
          <a:bodyPr wrap="none" rtlCol="0">
            <a:spAutoFit/>
          </a:bodyPr>
          <a:lstStyle/>
          <a:p>
            <a:r>
              <a:rPr lang="en-US" sz="2400" b="1" dirty="0" smtClean="0">
                <a:latin typeface="Arial" pitchFamily="34" charset="0"/>
                <a:cs typeface="Arial" pitchFamily="34" charset="0"/>
              </a:rPr>
              <a:t>Kernel</a:t>
            </a:r>
          </a:p>
          <a:p>
            <a:r>
              <a:rPr lang="en-US" sz="2400" b="1" dirty="0" smtClean="0">
                <a:latin typeface="Arial" pitchFamily="34" charset="0"/>
                <a:cs typeface="Arial" pitchFamily="34" charset="0"/>
              </a:rPr>
              <a:t>Sampling</a:t>
            </a:r>
            <a:endParaRPr lang="en-US" sz="2400" b="1" dirty="0">
              <a:latin typeface="Arial" pitchFamily="34" charset="0"/>
              <a:cs typeface="Arial" pitchFamily="34" charset="0"/>
            </a:endParaRPr>
          </a:p>
        </p:txBody>
      </p:sp>
      <p:pic>
        <p:nvPicPr>
          <p:cNvPr id="9" name="depthUpsampling.wmv">
            <a:hlinkClick r:id="" action="ppaction://media"/>
          </p:cNvPr>
          <p:cNvPicPr>
            <a:picLocks noChangeAspect="1"/>
          </p:cNvPicPr>
          <p:nvPr>
            <a:videoFile r:link="rId2"/>
            <p:extLst>
              <p:ext uri="{DAA4B4D4-6D71-4841-9C94-3DE7FCFB9230}">
                <p14:media xmlns:p14="http://schemas.microsoft.com/office/powerpoint/2010/main" r:link="rId1"/>
              </p:ext>
            </p:extLst>
          </p:nvPr>
        </p:nvPicPr>
        <p:blipFill>
          <a:blip r:embed="rId8"/>
          <a:stretch>
            <a:fillRect/>
          </a:stretch>
        </p:blipFill>
        <p:spPr>
          <a:xfrm>
            <a:off x="1547446" y="1524000"/>
            <a:ext cx="6096000" cy="4572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5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endCondLst>
                    <p:cond evt="onNext" delay="0">
                      <p:tgtEl>
                        <p:sldTgt/>
                      </p:tgtEl>
                    </p:cond>
                  </p:endCondLst>
                </p:cTn>
                <p:tgtEl>
                  <p:spTgt spid="9"/>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720" y="-6840"/>
            <a:ext cx="9162720" cy="6872400"/>
          </a:xfrm>
          <a:prstGeom prst="rect">
            <a:avLst/>
          </a:prstGeom>
          <a:noFill/>
          <a:ln>
            <a:noFill/>
          </a:ln>
        </p:spPr>
      </p:pic>
      <p:sp>
        <p:nvSpPr>
          <p:cNvPr id="4" name="Freeform 3"/>
          <p:cNvSpPr/>
          <p:nvPr/>
        </p:nvSpPr>
        <p:spPr>
          <a:xfrm>
            <a:off x="-1080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dirty="0">
                <a:ln>
                  <a:noFill/>
                </a:ln>
                <a:solidFill>
                  <a:srgbClr val="FFFFFF"/>
                </a:solidFill>
                <a:latin typeface="Arial" pitchFamily="34"/>
                <a:ea typeface="굴림" pitchFamily="50"/>
                <a:cs typeface="굴림" pitchFamily="50"/>
              </a:rPr>
              <a:t>  </a:t>
            </a:r>
            <a:r>
              <a:rPr lang="en-US" sz="3000" b="1" i="0" u="none" strike="noStrike" baseline="0" dirty="0" smtClean="0">
                <a:ln>
                  <a:noFill/>
                </a:ln>
                <a:solidFill>
                  <a:srgbClr val="FFFFFF"/>
                </a:solidFill>
                <a:latin typeface="Arial" pitchFamily="34"/>
                <a:ea typeface="굴림" pitchFamily="50"/>
                <a:cs typeface="굴림" pitchFamily="50"/>
              </a:rPr>
              <a:t>Performance</a:t>
            </a:r>
            <a:endParaRPr lang="en-US" sz="3000" b="1" i="0" u="none" strike="noStrike" baseline="0" dirty="0">
              <a:ln>
                <a:noFill/>
              </a:ln>
              <a:solidFill>
                <a:srgbClr val="FFFFFF"/>
              </a:solidFill>
              <a:latin typeface="Arial" pitchFamily="34"/>
              <a:ea typeface="굴림" pitchFamily="50"/>
              <a:cs typeface="굴림" pitchFamily="50"/>
            </a:endParaRP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graphicFrame>
        <p:nvGraphicFramePr>
          <p:cNvPr id="7" name="Table 6"/>
          <p:cNvGraphicFramePr>
            <a:graphicFrameLocks noGrp="1"/>
          </p:cNvGraphicFramePr>
          <p:nvPr>
            <p:extLst>
              <p:ext uri="{D42A27DB-BD31-4B8C-83A1-F6EECF244321}">
                <p14:modId xmlns:p14="http://schemas.microsoft.com/office/powerpoint/2010/main" val="3161204798"/>
              </p:ext>
            </p:extLst>
          </p:nvPr>
        </p:nvGraphicFramePr>
        <p:xfrm>
          <a:off x="380639" y="1905000"/>
          <a:ext cx="8382001" cy="1987769"/>
        </p:xfrm>
        <a:graphic>
          <a:graphicData uri="http://schemas.openxmlformats.org/drawingml/2006/table">
            <a:tbl>
              <a:tblPr firstRow="1" bandRow="1">
                <a:tableStyleId>{EB9631B5-78F2-41C9-869B-9F39066F8104}</a:tableStyleId>
              </a:tblPr>
              <a:tblGrid>
                <a:gridCol w="1676400"/>
                <a:gridCol w="2057400"/>
                <a:gridCol w="3048000"/>
                <a:gridCol w="1600201"/>
              </a:tblGrid>
              <a:tr h="868681">
                <a:tc>
                  <a:txBody>
                    <a:bodyPr/>
                    <a:lstStyle/>
                    <a:p>
                      <a:endParaRPr lang="en-US" sz="2400" dirty="0"/>
                    </a:p>
                  </a:txBody>
                  <a:tcPr/>
                </a:tc>
                <a:tc>
                  <a:txBody>
                    <a:bodyPr/>
                    <a:lstStyle/>
                    <a:p>
                      <a:pPr algn="ctr"/>
                      <a:r>
                        <a:rPr lang="en-US" sz="2400" dirty="0" smtClean="0"/>
                        <a:t>Kernel Sampling</a:t>
                      </a:r>
                      <a:endParaRPr lang="en-US" sz="2400" dirty="0"/>
                    </a:p>
                  </a:txBody>
                  <a:tcPr anchor="ctr"/>
                </a:tc>
                <a:tc>
                  <a:txBody>
                    <a:bodyPr/>
                    <a:lstStyle/>
                    <a:p>
                      <a:pPr algn="ctr"/>
                      <a:r>
                        <a:rPr lang="en-US" sz="2400" dirty="0" err="1" smtClean="0"/>
                        <a:t>Choudhury</a:t>
                      </a:r>
                      <a:r>
                        <a:rPr lang="en-US" sz="2400" baseline="0" dirty="0" smtClean="0"/>
                        <a:t>  and </a:t>
                      </a:r>
                      <a:r>
                        <a:rPr lang="en-US" sz="2400" baseline="0" dirty="0" err="1" smtClean="0"/>
                        <a:t>Tumblin</a:t>
                      </a:r>
                      <a:r>
                        <a:rPr lang="en-US" sz="2400" baseline="0" dirty="0" smtClean="0"/>
                        <a:t> (2003)</a:t>
                      </a:r>
                      <a:endParaRPr lang="en-US" sz="2400" dirty="0"/>
                    </a:p>
                  </a:txBody>
                  <a:tcPr anchor="ctr"/>
                </a:tc>
                <a:tc>
                  <a:txBody>
                    <a:bodyPr/>
                    <a:lstStyle/>
                    <a:p>
                      <a:pPr algn="ctr"/>
                      <a:r>
                        <a:rPr lang="en-US" sz="2400" dirty="0" smtClean="0"/>
                        <a:t>Naïve</a:t>
                      </a:r>
                      <a:endParaRPr lang="en-US" sz="2400" dirty="0"/>
                    </a:p>
                  </a:txBody>
                  <a:tcPr anchor="ctr"/>
                </a:tc>
              </a:tr>
              <a:tr h="579119">
                <a:tc>
                  <a:txBody>
                    <a:bodyPr/>
                    <a:lstStyle/>
                    <a:p>
                      <a:pPr algn="ctr"/>
                      <a:r>
                        <a:rPr lang="en-US" sz="2400" b="1" dirty="0" smtClean="0"/>
                        <a:t>Tonemap1</a:t>
                      </a:r>
                      <a:endParaRPr lang="en-US" sz="2400" b="1" dirty="0"/>
                    </a:p>
                  </a:txBody>
                  <a:tcPr/>
                </a:tc>
                <a:tc>
                  <a:txBody>
                    <a:bodyPr/>
                    <a:lstStyle/>
                    <a:p>
                      <a:pPr algn="ctr"/>
                      <a:r>
                        <a:rPr lang="en-US" sz="2800" b="1" dirty="0" smtClean="0">
                          <a:solidFill>
                            <a:srgbClr val="00B0F0"/>
                          </a:solidFill>
                        </a:rPr>
                        <a:t>5.10 s</a:t>
                      </a:r>
                      <a:endParaRPr lang="en-US" sz="2800" b="1" dirty="0">
                        <a:solidFill>
                          <a:srgbClr val="00B0F0"/>
                        </a:solidFill>
                      </a:endParaRPr>
                    </a:p>
                  </a:txBody>
                  <a:tcPr/>
                </a:tc>
                <a:tc>
                  <a:txBody>
                    <a:bodyPr/>
                    <a:lstStyle/>
                    <a:p>
                      <a:pPr algn="ctr"/>
                      <a:r>
                        <a:rPr lang="en-US" sz="2800" b="1" dirty="0" smtClean="0"/>
                        <a:t>41.54 s</a:t>
                      </a:r>
                      <a:endParaRPr lang="en-US" sz="2800" b="1" dirty="0"/>
                    </a:p>
                  </a:txBody>
                  <a:tcPr/>
                </a:tc>
                <a:tc>
                  <a:txBody>
                    <a:bodyPr/>
                    <a:lstStyle/>
                    <a:p>
                      <a:pPr algn="ctr"/>
                      <a:r>
                        <a:rPr lang="en-US" sz="2800" b="1" dirty="0" smtClean="0"/>
                        <a:t>312.70 s</a:t>
                      </a:r>
                      <a:endParaRPr lang="en-US" sz="2800" b="1" dirty="0"/>
                    </a:p>
                  </a:txBody>
                  <a:tcPr/>
                </a:tc>
              </a:tr>
              <a:tr h="539969">
                <a:tc>
                  <a:txBody>
                    <a:bodyPr/>
                    <a:lstStyle/>
                    <a:p>
                      <a:pPr algn="ctr"/>
                      <a:r>
                        <a:rPr lang="en-US" sz="2400" b="1" dirty="0" smtClean="0"/>
                        <a:t>Tonemap2</a:t>
                      </a:r>
                      <a:endParaRPr lang="en-US" sz="2400" b="1" dirty="0"/>
                    </a:p>
                  </a:txBody>
                  <a:tcPr/>
                </a:tc>
                <a:tc>
                  <a:txBody>
                    <a:bodyPr/>
                    <a:lstStyle/>
                    <a:p>
                      <a:pPr algn="ctr"/>
                      <a:r>
                        <a:rPr lang="en-US" sz="2800" b="1" dirty="0" smtClean="0">
                          <a:solidFill>
                            <a:srgbClr val="00B0F0"/>
                          </a:solidFill>
                        </a:rPr>
                        <a:t>6.30 s</a:t>
                      </a:r>
                      <a:endParaRPr lang="en-US" sz="2800" b="1" dirty="0">
                        <a:solidFill>
                          <a:srgbClr val="00B0F0"/>
                        </a:solidFill>
                      </a:endParaRPr>
                    </a:p>
                  </a:txBody>
                  <a:tcPr/>
                </a:tc>
                <a:tc>
                  <a:txBody>
                    <a:bodyPr/>
                    <a:lstStyle/>
                    <a:p>
                      <a:pPr algn="ctr"/>
                      <a:r>
                        <a:rPr lang="en-US" sz="2800" b="1" dirty="0" smtClean="0"/>
                        <a:t>88.08 s</a:t>
                      </a:r>
                      <a:endParaRPr lang="en-US" sz="2800" b="1" dirty="0"/>
                    </a:p>
                  </a:txBody>
                  <a:tcPr/>
                </a:tc>
                <a:tc>
                  <a:txBody>
                    <a:bodyPr/>
                    <a:lstStyle/>
                    <a:p>
                      <a:pPr algn="ctr"/>
                      <a:r>
                        <a:rPr lang="en-US" sz="2800" b="1" dirty="0" smtClean="0"/>
                        <a:t>528.99</a:t>
                      </a:r>
                      <a:r>
                        <a:rPr lang="en-US" sz="2800" b="1" baseline="0" dirty="0" smtClean="0"/>
                        <a:t> s</a:t>
                      </a:r>
                      <a:endParaRPr lang="en-US" sz="2800" b="1"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530520547"/>
              </p:ext>
            </p:extLst>
          </p:nvPr>
        </p:nvGraphicFramePr>
        <p:xfrm>
          <a:off x="1180740" y="4038600"/>
          <a:ext cx="6781800" cy="1905000"/>
        </p:xfrm>
        <a:graphic>
          <a:graphicData uri="http://schemas.openxmlformats.org/drawingml/2006/table">
            <a:tbl>
              <a:tblPr firstRow="1" bandRow="1">
                <a:tableStyleId>{EB9631B5-78F2-41C9-869B-9F39066F8104}</a:tableStyleId>
              </a:tblPr>
              <a:tblGrid>
                <a:gridCol w="1676400"/>
                <a:gridCol w="2057400"/>
                <a:gridCol w="3048000"/>
              </a:tblGrid>
              <a:tr h="792098">
                <a:tc>
                  <a:txBody>
                    <a:bodyPr/>
                    <a:lstStyle/>
                    <a:p>
                      <a:endParaRPr lang="en-US" sz="2400" dirty="0"/>
                    </a:p>
                  </a:txBody>
                  <a:tcPr/>
                </a:tc>
                <a:tc>
                  <a:txBody>
                    <a:bodyPr/>
                    <a:lstStyle/>
                    <a:p>
                      <a:pPr algn="ctr"/>
                      <a:r>
                        <a:rPr lang="en-US" sz="2400" dirty="0" smtClean="0"/>
                        <a:t>Kernel Sampling</a:t>
                      </a:r>
                      <a:endParaRPr lang="en-US" sz="2400" dirty="0"/>
                    </a:p>
                  </a:txBody>
                  <a:tcPr anchor="ctr"/>
                </a:tc>
                <a:tc>
                  <a:txBody>
                    <a:bodyPr/>
                    <a:lstStyle/>
                    <a:p>
                      <a:pPr algn="ctr"/>
                      <a:r>
                        <a:rPr lang="en-US" sz="2400" dirty="0" smtClean="0"/>
                        <a:t>Kernel Sampling</a:t>
                      </a:r>
                    </a:p>
                    <a:p>
                      <a:pPr algn="ctr"/>
                      <a:r>
                        <a:rPr lang="en-US" sz="2400" dirty="0" smtClean="0"/>
                        <a:t>(No segmentation)</a:t>
                      </a:r>
                      <a:endParaRPr lang="en-US" sz="2400" dirty="0"/>
                    </a:p>
                  </a:txBody>
                  <a:tcPr anchor="ctr"/>
                </a:tc>
              </a:tr>
              <a:tr h="548640">
                <a:tc>
                  <a:txBody>
                    <a:bodyPr/>
                    <a:lstStyle/>
                    <a:p>
                      <a:pPr algn="ctr"/>
                      <a:r>
                        <a:rPr lang="en-US" sz="2400" b="1" dirty="0" smtClean="0"/>
                        <a:t>Depth1</a:t>
                      </a:r>
                      <a:endParaRPr lang="en-US" sz="2400" b="1" dirty="0"/>
                    </a:p>
                  </a:txBody>
                  <a:tcPr/>
                </a:tc>
                <a:tc>
                  <a:txBody>
                    <a:bodyPr/>
                    <a:lstStyle/>
                    <a:p>
                      <a:pPr algn="ctr"/>
                      <a:r>
                        <a:rPr lang="en-US" sz="2800" b="1" dirty="0" smtClean="0">
                          <a:solidFill>
                            <a:srgbClr val="00B0F0"/>
                          </a:solidFill>
                        </a:rPr>
                        <a:t>3.71 s</a:t>
                      </a:r>
                      <a:endParaRPr lang="en-US" sz="2800" b="1" dirty="0">
                        <a:solidFill>
                          <a:srgbClr val="00B0F0"/>
                        </a:solidFill>
                      </a:endParaRPr>
                    </a:p>
                  </a:txBody>
                  <a:tcPr/>
                </a:tc>
                <a:tc>
                  <a:txBody>
                    <a:bodyPr/>
                    <a:lstStyle/>
                    <a:p>
                      <a:pPr algn="ctr"/>
                      <a:r>
                        <a:rPr lang="en-US" sz="2800" b="1" dirty="0" smtClean="0"/>
                        <a:t>57.90 s</a:t>
                      </a:r>
                      <a:endParaRPr lang="en-US" sz="2800" b="1" dirty="0"/>
                    </a:p>
                  </a:txBody>
                  <a:tcPr/>
                </a:tc>
              </a:tr>
              <a:tr h="533400">
                <a:tc>
                  <a:txBody>
                    <a:bodyPr/>
                    <a:lstStyle/>
                    <a:p>
                      <a:pPr algn="ctr"/>
                      <a:r>
                        <a:rPr lang="en-US" sz="2400" b="1" dirty="0" smtClean="0"/>
                        <a:t>Depth2</a:t>
                      </a:r>
                      <a:endParaRPr lang="en-US" sz="2400" b="1" dirty="0"/>
                    </a:p>
                  </a:txBody>
                  <a:tcPr/>
                </a:tc>
                <a:tc>
                  <a:txBody>
                    <a:bodyPr/>
                    <a:lstStyle/>
                    <a:p>
                      <a:pPr algn="ctr"/>
                      <a:r>
                        <a:rPr lang="en-US" sz="2800" b="1" dirty="0" smtClean="0">
                          <a:solidFill>
                            <a:srgbClr val="00B0F0"/>
                          </a:solidFill>
                        </a:rPr>
                        <a:t>9.18 s</a:t>
                      </a:r>
                      <a:endParaRPr lang="en-US" sz="2800" b="1" dirty="0">
                        <a:solidFill>
                          <a:srgbClr val="00B0F0"/>
                        </a:solidFill>
                      </a:endParaRPr>
                    </a:p>
                  </a:txBody>
                  <a:tcPr/>
                </a:tc>
                <a:tc>
                  <a:txBody>
                    <a:bodyPr/>
                    <a:lstStyle/>
                    <a:p>
                      <a:pPr algn="ctr"/>
                      <a:r>
                        <a:rPr lang="en-US" sz="2800" b="1" dirty="0" smtClean="0"/>
                        <a:t>131.68 s</a:t>
                      </a:r>
                      <a:endParaRPr lang="en-US" sz="2800" b="1" dirty="0"/>
                    </a:p>
                  </a:txBody>
                  <a:tcPr/>
                </a:tc>
              </a:tr>
            </a:tbl>
          </a:graphicData>
        </a:graphic>
      </p:graphicFrame>
    </p:spTree>
    <p:extLst>
      <p:ext uri="{BB962C8B-B14F-4D97-AF65-F5344CB8AC3E}">
        <p14:creationId xmlns:p14="http://schemas.microsoft.com/office/powerpoint/2010/main" val="1533907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name="page43">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9360" y="-7920"/>
            <a:ext cx="9162720" cy="6872400"/>
          </a:xfrm>
          <a:prstGeom prst="rect">
            <a:avLst/>
          </a:prstGeom>
          <a:noFill/>
          <a:ln>
            <a:noFill/>
          </a:ln>
        </p:spPr>
      </p:pic>
      <p:sp>
        <p:nvSpPr>
          <p:cNvPr id="3" name="Freeform 2"/>
          <p:cNvSpPr/>
          <p:nvPr/>
        </p:nvSpPr>
        <p:spPr>
          <a:xfrm>
            <a:off x="826920" y="1916279"/>
            <a:ext cx="7777440" cy="37509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457200" indent="-457200">
              <a:lnSpc>
                <a:spcPct val="110000"/>
              </a:lnSpc>
              <a:buClr>
                <a:srgbClr val="000000"/>
              </a:buClr>
              <a:buSzPct val="100000"/>
              <a:buFont typeface="+mj-lt"/>
              <a:buAutoNum type="arabicPeriod"/>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a:ea typeface="굴림" pitchFamily="50"/>
                <a:cs typeface="굴림" pitchFamily="50"/>
              </a:rPr>
              <a:t>A generalization of Gaussian filters</a:t>
            </a:r>
            <a:endParaRPr lang="en-US" sz="2400" dirty="0">
              <a:solidFill>
                <a:srgbClr val="000000"/>
              </a:solidFill>
              <a:latin typeface="Arial" pitchFamily="34"/>
              <a:ea typeface="굴림" pitchFamily="50"/>
              <a:cs typeface="굴림" pitchFamily="50"/>
            </a:endParaRPr>
          </a:p>
          <a:p>
            <a:pPr marL="914400" lvl="1" indent="-457200">
              <a:lnSpc>
                <a:spcPct val="110000"/>
              </a:lnSpc>
              <a:buClr>
                <a:srgbClr val="000000"/>
              </a:buClr>
              <a:buSzPct val="100000"/>
              <a:buFont typeface="Arial" pitchFamily="34" charset="0"/>
              <a:buChar cha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smtClean="0">
                <a:solidFill>
                  <a:srgbClr val="000000"/>
                </a:solidFill>
                <a:latin typeface="Arial" pitchFamily="34"/>
                <a:ea typeface="굴림" pitchFamily="50"/>
                <a:cs typeface="굴림" pitchFamily="50"/>
              </a:rPr>
              <a:t>Spatially varying kernels</a:t>
            </a:r>
          </a:p>
          <a:p>
            <a:pPr marL="914400" lvl="1" indent="-457200">
              <a:lnSpc>
                <a:spcPct val="110000"/>
              </a:lnSpc>
              <a:buClr>
                <a:srgbClr val="000000"/>
              </a:buClr>
              <a:buSzPct val="100000"/>
              <a:buFont typeface="Arial" pitchFamily="34" charset="0"/>
              <a:buChar cha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smtClean="0">
                <a:solidFill>
                  <a:srgbClr val="000000"/>
                </a:solidFill>
                <a:latin typeface="Arial" pitchFamily="34"/>
                <a:ea typeface="굴림" pitchFamily="50"/>
                <a:cs typeface="굴림" pitchFamily="50"/>
              </a:rPr>
              <a:t>Lose the piecewise-constant assumption.</a:t>
            </a:r>
            <a:br>
              <a:rPr lang="en-US" sz="2400" dirty="0" smtClean="0">
                <a:solidFill>
                  <a:srgbClr val="000000"/>
                </a:solidFill>
                <a:latin typeface="Arial" pitchFamily="34"/>
                <a:ea typeface="굴림" pitchFamily="50"/>
                <a:cs typeface="굴림" pitchFamily="50"/>
              </a:rPr>
            </a:br>
            <a:endParaRPr lang="en-US" sz="2400" i="0" u="none" strike="noStrike" baseline="0" dirty="0" smtClean="0">
              <a:ln>
                <a:noFill/>
              </a:ln>
              <a:solidFill>
                <a:srgbClr val="000000"/>
              </a:solidFill>
              <a:latin typeface="Arial" pitchFamily="34"/>
              <a:ea typeface="굴림" pitchFamily="50"/>
              <a:cs typeface="굴림" pitchFamily="50"/>
            </a:endParaRPr>
          </a:p>
          <a:p>
            <a:pPr marL="457200" indent="-457200">
              <a:lnSpc>
                <a:spcPct val="110000"/>
              </a:lnSpc>
              <a:buClr>
                <a:srgbClr val="000000"/>
              </a:buClr>
              <a:buSzPct val="100000"/>
              <a:buFont typeface="+mj-lt"/>
              <a:buAutoNum type="arabicPeriod"/>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dirty="0" smtClean="0">
                <a:solidFill>
                  <a:srgbClr val="000000"/>
                </a:solidFill>
                <a:latin typeface="Arial" pitchFamily="34"/>
                <a:ea typeface="굴림" pitchFamily="50"/>
                <a:cs typeface="굴림" pitchFamily="50"/>
              </a:rPr>
              <a:t>Acceleration via Kernel Sampling</a:t>
            </a:r>
          </a:p>
          <a:p>
            <a:pPr marL="914400" lvl="1" indent="-457200">
              <a:lnSpc>
                <a:spcPct val="110000"/>
              </a:lnSpc>
              <a:buClr>
                <a:srgbClr val="000000"/>
              </a:buClr>
              <a:buSzPct val="100000"/>
              <a:buFont typeface="Arial" pitchFamily="34" charset="0"/>
              <a:buChar char="•"/>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dirty="0" smtClean="0">
                <a:solidFill>
                  <a:srgbClr val="000000"/>
                </a:solidFill>
                <a:latin typeface="Arial" pitchFamily="34"/>
                <a:ea typeface="굴림" pitchFamily="50"/>
                <a:cs typeface="굴림" pitchFamily="50"/>
              </a:rPr>
              <a:t>Filter only necessary pixels (and their support) and interpolate.</a:t>
            </a:r>
            <a:br>
              <a:rPr lang="en-US" sz="2400" dirty="0" smtClean="0">
                <a:solidFill>
                  <a:srgbClr val="000000"/>
                </a:solidFill>
                <a:latin typeface="Arial" pitchFamily="34"/>
                <a:ea typeface="굴림" pitchFamily="50"/>
                <a:cs typeface="굴림" pitchFamily="50"/>
              </a:rPr>
            </a:br>
            <a:endParaRPr lang="en-US" sz="2400" dirty="0" smtClean="0">
              <a:solidFill>
                <a:srgbClr val="000000"/>
              </a:solidFill>
              <a:latin typeface="Arial" pitchFamily="34"/>
              <a:ea typeface="굴림" pitchFamily="50"/>
              <a:cs typeface="굴림" pitchFamily="50"/>
            </a:endParaRPr>
          </a:p>
          <a:p>
            <a:pPr marL="457200" indent="-457200">
              <a:lnSpc>
                <a:spcPct val="110000"/>
              </a:lnSpc>
              <a:buClr>
                <a:srgbClr val="000000"/>
              </a:buClr>
              <a:buSzPct val="100000"/>
              <a:buFont typeface="+mj-lt"/>
              <a:buAutoNum type="arabicPeriod"/>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2400" b="1" i="0" u="none" strike="noStrike" baseline="0" dirty="0" smtClean="0">
                <a:ln>
                  <a:noFill/>
                </a:ln>
                <a:solidFill>
                  <a:srgbClr val="000000"/>
                </a:solidFill>
                <a:latin typeface="Arial" pitchFamily="34"/>
                <a:ea typeface="굴림" pitchFamily="50"/>
                <a:cs typeface="굴림" pitchFamily="50"/>
              </a:rPr>
              <a:t>Applications</a:t>
            </a:r>
            <a:endParaRPr lang="en-US" sz="2400" b="0" i="0" u="none" strike="noStrike" baseline="0" dirty="0">
              <a:ln>
                <a:noFill/>
              </a:ln>
              <a:solidFill>
                <a:srgbClr val="000000"/>
              </a:solidFill>
              <a:latin typeface="Arial" pitchFamily="34"/>
              <a:ea typeface="굴림" pitchFamily="50"/>
              <a:cs typeface="굴림" pitchFamily="50"/>
            </a:endParaRPr>
          </a:p>
        </p:txBody>
      </p:sp>
      <p:sp>
        <p:nvSpPr>
          <p:cNvPr id="4" name="Freeform 3"/>
          <p:cNvSpPr/>
          <p:nvPr/>
        </p:nvSpPr>
        <p:spPr>
          <a:xfrm>
            <a:off x="-106200" y="549360"/>
            <a:ext cx="9358200" cy="5508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noFill/>
          <a:ln>
            <a:noFill/>
            <a:prstDash val="solid"/>
          </a:ln>
        </p:spPr>
        <p:txBody>
          <a:bodyPr vert="horz" wrap="square" lIns="90000" tIns="46800" rIns="90000" bIns="46800" anchor="t" anchorCtr="0" compatLnSpc="1">
            <a:spAutoFit/>
          </a:bodyPr>
          <a:lstStyle/>
          <a:p>
            <a:pPr marL="0" marR="0" lvl="0" indent="0" algn="l" rtl="0" hangingPunct="1">
              <a:lnSpc>
                <a:spcPct val="100000"/>
              </a:lnSpc>
              <a:spcBef>
                <a:spcPts val="0"/>
              </a:spcBef>
              <a:spcAft>
                <a:spcPts val="0"/>
              </a:spcAft>
              <a:buNone/>
              <a:tabLst>
                <a:tab pos="0" algn="l"/>
                <a:tab pos="457200" algn="l"/>
                <a:tab pos="914400" algn="l"/>
                <a:tab pos="1371599" algn="l"/>
                <a:tab pos="1828800" algn="l"/>
                <a:tab pos="2286000" algn="l"/>
                <a:tab pos="2743199" algn="l"/>
                <a:tab pos="3200400" algn="l"/>
                <a:tab pos="3657600" algn="l"/>
                <a:tab pos="4114800" algn="l"/>
                <a:tab pos="4572000" algn="l"/>
                <a:tab pos="5029200" algn="l"/>
                <a:tab pos="5486399" algn="l"/>
                <a:tab pos="5943600" algn="l"/>
                <a:tab pos="6400799" algn="l"/>
                <a:tab pos="6858000" algn="l"/>
                <a:tab pos="7315200" algn="l"/>
                <a:tab pos="7772400" algn="l"/>
                <a:tab pos="8229600" algn="l"/>
                <a:tab pos="8686800" algn="l"/>
                <a:tab pos="9144000" algn="l"/>
              </a:tabLst>
            </a:pPr>
            <a:r>
              <a:rPr lang="en-US" sz="3000" b="1" i="0" u="none" strike="noStrike" baseline="0">
                <a:ln>
                  <a:noFill/>
                </a:ln>
                <a:solidFill>
                  <a:srgbClr val="FFFFFF"/>
                </a:solidFill>
                <a:latin typeface="Arial" pitchFamily="34"/>
                <a:ea typeface="굴림" pitchFamily="50"/>
                <a:cs typeface="굴림" pitchFamily="50"/>
              </a:rPr>
              <a:t>  Conclusion</a:t>
            </a:r>
          </a:p>
        </p:txBody>
      </p:sp>
      <p:pic>
        <p:nvPicPr>
          <p:cNvPr id="5" name="Picture 4"/>
          <p:cNvPicPr>
            <a:picLocks noChangeAspect="1"/>
          </p:cNvPicPr>
          <p:nvPr/>
        </p:nvPicPr>
        <p:blipFill>
          <a:blip r:embed="rId4">
            <a:lum/>
            <a:alphaModFix/>
          </a:blip>
          <a:srcRect/>
          <a:stretch>
            <a:fillRect/>
          </a:stretch>
        </p:blipFill>
        <p:spPr>
          <a:xfrm>
            <a:off x="6680160" y="6321600"/>
            <a:ext cx="2212920" cy="420480"/>
          </a:xfrm>
          <a:prstGeom prst="rect">
            <a:avLst/>
          </a:prstGeom>
          <a:noFill/>
          <a:ln>
            <a:noFill/>
          </a:ln>
        </p:spPr>
      </p:pic>
      <p:pic>
        <p:nvPicPr>
          <p:cNvPr id="6" name="Picture 5"/>
          <p:cNvPicPr>
            <a:picLocks noChangeAspect="1"/>
          </p:cNvPicPr>
          <p:nvPr/>
        </p:nvPicPr>
        <p:blipFill>
          <a:blip r:embed="rId5">
            <a:lum/>
            <a:alphaModFix/>
          </a:blip>
          <a:srcRect/>
          <a:stretch>
            <a:fillRect/>
          </a:stretch>
        </p:blipFill>
        <p:spPr>
          <a:xfrm>
            <a:off x="250920" y="6467399"/>
            <a:ext cx="1123920" cy="201600"/>
          </a:xfrm>
          <a:prstGeom prst="rect">
            <a:avLst/>
          </a:prstGeom>
          <a:noFill/>
          <a:ln>
            <a:noFill/>
          </a:ln>
        </p:spPr>
      </p:pic>
      <p:pic>
        <p:nvPicPr>
          <p:cNvPr id="7" name="Picture 6"/>
          <p:cNvPicPr>
            <a:picLocks noChangeAspect="1"/>
          </p:cNvPicPr>
          <p:nvPr/>
        </p:nvPicPr>
        <p:blipFill>
          <a:blip r:embed="rId6">
            <a:lum/>
            <a:alphaModFix/>
          </a:blip>
          <a:srcRect/>
          <a:stretch>
            <a:fillRect/>
          </a:stretch>
        </p:blipFill>
        <p:spPr>
          <a:xfrm>
            <a:off x="5980320" y="4419600"/>
            <a:ext cx="2706480" cy="18288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13109</TotalTime>
  <Words>1937</Words>
  <Application>Microsoft Office PowerPoint</Application>
  <PresentationFormat>On-screen Show (4:3)</PresentationFormat>
  <Paragraphs>325</Paragraphs>
  <Slides>43</Slides>
  <Notes>43</Notes>
  <HiddenSlides>0</HiddenSlides>
  <MMClips>2</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Default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Owner</dc:creator>
  <cp:lastModifiedBy>jbaek</cp:lastModifiedBy>
  <cp:revision>216</cp:revision>
  <dcterms:created xsi:type="dcterms:W3CDTF">2010-07-21T00:17:16Z</dcterms:created>
  <dcterms:modified xsi:type="dcterms:W3CDTF">2010-12-10T20:16:16Z</dcterms:modified>
</cp:coreProperties>
</file>