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9" r:id="rId1"/>
  </p:sldMasterIdLst>
  <p:notesMasterIdLst>
    <p:notesMasterId r:id="rId32"/>
  </p:notesMasterIdLst>
  <p:sldIdLst>
    <p:sldId id="256" r:id="rId2"/>
    <p:sldId id="257" r:id="rId3"/>
    <p:sldId id="258" r:id="rId4"/>
    <p:sldId id="314" r:id="rId5"/>
    <p:sldId id="317" r:id="rId6"/>
    <p:sldId id="268" r:id="rId7"/>
    <p:sldId id="270" r:id="rId8"/>
    <p:sldId id="271" r:id="rId9"/>
    <p:sldId id="272" r:id="rId10"/>
    <p:sldId id="320" r:id="rId11"/>
    <p:sldId id="316" r:id="rId12"/>
    <p:sldId id="323" r:id="rId13"/>
    <p:sldId id="301" r:id="rId14"/>
    <p:sldId id="275" r:id="rId15"/>
    <p:sldId id="277" r:id="rId16"/>
    <p:sldId id="279" r:id="rId17"/>
    <p:sldId id="278" r:id="rId18"/>
    <p:sldId id="307" r:id="rId19"/>
    <p:sldId id="308" r:id="rId20"/>
    <p:sldId id="288" r:id="rId21"/>
    <p:sldId id="310" r:id="rId22"/>
    <p:sldId id="289" r:id="rId23"/>
    <p:sldId id="290" r:id="rId24"/>
    <p:sldId id="311" r:id="rId25"/>
    <p:sldId id="312" r:id="rId26"/>
    <p:sldId id="303" r:id="rId27"/>
    <p:sldId id="295" r:id="rId28"/>
    <p:sldId id="309" r:id="rId29"/>
    <p:sldId id="322" r:id="rId30"/>
    <p:sldId id="266" r:id="rId3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9933FF"/>
    <a:srgbClr val="FF0000"/>
    <a:srgbClr val="008000"/>
    <a:srgbClr val="7D7DFF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84321" autoAdjust="0"/>
  </p:normalViewPr>
  <p:slideViewPr>
    <p:cSldViewPr snapToGrid="0">
      <p:cViewPr>
        <p:scale>
          <a:sx n="66" d="100"/>
          <a:sy n="66" d="100"/>
        </p:scale>
        <p:origin x="-168" y="-8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114"/>
    </p:cViewPr>
  </p:sorterViewPr>
  <p:notesViewPr>
    <p:cSldViewPr snapToGrid="0">
      <p:cViewPr varScale="1">
        <p:scale>
          <a:sx n="90" d="100"/>
          <a:sy n="90" d="100"/>
        </p:scale>
        <p:origin x="-1776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9B454FDF-59BC-46ED-A10C-30C9373FC6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85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E53B27-CE8A-4403-A185-79554A2AE1DA}" type="slidenum">
              <a:rPr lang="en-US" smtClean="0"/>
              <a:pPr eaLnBrk="1" hangingPunct="1"/>
              <a:t>0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C154A0-25B6-44A3-A7E0-23E28F86A31B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6D3304-8C8F-48A1-92BE-9BBEC623573C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D5F78-0DC0-404D-AEBF-A7DB9E710355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BB7774-8B81-4527-BB9F-11DFD4E8284C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057949-EB00-48D8-B8A5-DBCCF24FDECE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FDE648-A834-41C1-ACA7-2CC8D8A89B37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468B083-FB29-475B-BF59-DE445FD8C9F8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3567DB-EF30-4F6B-BF19-08C97A26AB84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824997-9FF2-4F03-8A58-FE871CED61E2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B6BF101-1473-42B8-A7CE-DD709C176101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14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2FBC8E2-1004-4695-AD32-F1A84C017035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6425" lvl="1" indent="-292100" eaLnBrk="1" hangingPunct="1">
              <a:lnSpc>
                <a:spcPct val="90000"/>
              </a:lnSpc>
              <a:spcBef>
                <a:spcPts val="638"/>
              </a:spcBef>
            </a:pPr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89AE845-A699-44BC-B088-911143E4C30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AEB8502-30CA-4E54-BC60-272AB00DD716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B0547A8-9EFF-4CEC-AEE1-A41C754D39E5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4FC0F9-BBE1-4AEE-AF09-F810E21D1EF3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CE74344-07CD-48B3-94B7-A4D35F59775A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z="25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CFB1DC-C3DD-4BF7-96E0-987C5A4C7D83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90F93E1-A93A-4E93-A61D-F5099B1B39F4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207CEBD-DA23-4F03-B291-20F77070A2AA}" type="slidenum">
              <a:rPr lang="en-US" smtClean="0"/>
              <a:pPr eaLnBrk="1" hangingPunct="1"/>
              <a:t>19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DF9438-78A2-445B-9308-F0B812D7ACD7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00C6C3-0E01-48DB-BD7B-72E429E277A6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D5CD2E4-60DD-4CBC-BEFA-BF51DB4E28C1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25046C9-AC9C-464C-8833-E8816634CDBC}" type="slidenum">
              <a:rPr lang="en-US" smtClean="0"/>
              <a:pPr eaLnBrk="1" hangingPunct="1"/>
              <a:t>23</a:t>
            </a:fld>
            <a:endParaRPr lang="en-US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8874963-E5F1-4A98-88A1-26A080EA34C7}" type="slidenum">
              <a:rPr lang="en-US" smtClean="0"/>
              <a:pPr eaLnBrk="1" hangingPunct="1"/>
              <a:t>24</a:t>
            </a:fld>
            <a:endParaRPr lang="en-US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CB1CA2-4BCE-46BA-ABB3-3148067BA037}" type="slidenum">
              <a:rPr lang="en-US" smtClean="0"/>
              <a:pPr eaLnBrk="1" hangingPunct="1"/>
              <a:t>25</a:t>
            </a:fld>
            <a:endParaRPr lang="en-US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758CF0A-F605-4756-A1B0-C5B55DFE5799}" type="slidenum">
              <a:rPr lang="en-US" smtClean="0"/>
              <a:pPr eaLnBrk="1" hangingPunct="1"/>
              <a:t>26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10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4B739A-7C98-49F9-AF3E-CAC11822634B}" type="slidenum">
              <a:rPr lang="en-US" smtClean="0"/>
              <a:pPr eaLnBrk="1" hangingPunct="1"/>
              <a:t>27</a:t>
            </a:fld>
            <a:endParaRPr lang="en-US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2EF4A83-E120-4B18-A4E1-A7111F6B83DB}" type="slidenum">
              <a:rPr lang="en-US" smtClean="0"/>
              <a:pPr eaLnBrk="1" hangingPunct="1"/>
              <a:t>29</a:t>
            </a:fld>
            <a:endParaRPr 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Refer to http://www.fgdc.gov/training/training-materials.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 rot="5400000">
            <a:off x="-228600" y="228600"/>
            <a:ext cx="3124200" cy="2667000"/>
          </a:xfrm>
          <a:prstGeom prst="rtTriangle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-7938" y="6276975"/>
            <a:ext cx="9151938" cy="588963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/>
            <a:r>
              <a:rPr lang="en-US" sz="1600" i="1" dirty="0" err="1"/>
              <a:t>vers</a:t>
            </a:r>
            <a:r>
              <a:rPr lang="en-US" sz="1600" i="1" dirty="0"/>
              <a:t>. </a:t>
            </a:r>
            <a:r>
              <a:rPr lang="en-US" sz="1600" i="1" dirty="0" smtClean="0"/>
              <a:t>20121015</a:t>
            </a:r>
            <a:endParaRPr lang="en-US" sz="1600" i="1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-33791" y="0"/>
            <a:ext cx="3352801" cy="6858000"/>
          </a:xfrm>
          <a:prstGeom prst="moon">
            <a:avLst>
              <a:gd name="adj" fmla="val 36079"/>
            </a:avLst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9144000" cy="588963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2000">
                <a:latin typeface="Bookman Old Style" pitchFamily="18" charset="0"/>
              </a:rPr>
              <a:t>national spatial data infrastructure training program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 rot="5400000" flipH="1">
            <a:off x="-76200" y="3810000"/>
            <a:ext cx="3124200" cy="2971800"/>
          </a:xfrm>
          <a:prstGeom prst="rtTriangle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8" descr="FGDClogo_tra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5303838"/>
            <a:ext cx="2244725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952500" y="1466850"/>
            <a:ext cx="7810500" cy="1828800"/>
          </a:xfrm>
          <a:prstGeom prst="rect">
            <a:avLst/>
          </a:prstGeom>
          <a:solidFill>
            <a:srgbClr val="66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sz="2400" u="sng">
                <a:solidFill>
                  <a:schemeClr val="bg1"/>
                </a:solidFill>
              </a:rPr>
              <a:t>NSDI Cooperative Agreements Program (CAP)</a:t>
            </a:r>
          </a:p>
          <a:p>
            <a:r>
              <a:rPr lang="en-US" sz="4000" b="1" i="1">
                <a:solidFill>
                  <a:schemeClr val="bg1"/>
                </a:solidFill>
              </a:rPr>
              <a:t>Introduction to the Cooperative Agreements Program</a:t>
            </a:r>
            <a:endParaRPr lang="en-US" sz="2400" u="sng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28850" y="3562350"/>
            <a:ext cx="6400800" cy="1752600"/>
          </a:xfrm>
        </p:spPr>
        <p:txBody>
          <a:bodyPr/>
          <a:lstStyle>
            <a:lvl1pPr marL="0" indent="0">
              <a:defRPr sz="2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7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45909-804C-4213-AC75-1A2865313D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5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1619A-FD18-41AA-8AB8-3DE7535890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2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3716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371600"/>
            <a:ext cx="41148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C150EC-B1E4-4AE3-8ED6-B4E4D922A6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5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A6F68-6908-4A21-A181-B22C1EAB1B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7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03B82-1C7E-41E4-A3D2-F75A2F93F1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7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FD776-E6DC-4762-9DDF-D575D1E07E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8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2F0A4-0344-444D-8EB6-DA58892050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460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A9DCC-707E-42F6-A0B7-4F17C1AF6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0320C-5687-4D50-BEFB-F6665D61E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3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00" y="381000"/>
            <a:ext cx="20955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61341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D3B1D-9518-4AD2-B309-21C7D45C79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84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73914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0" y="1371600"/>
            <a:ext cx="41148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371600"/>
            <a:ext cx="41148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F925B-079C-4A70-B695-B784FED41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5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119188"/>
            <a:ext cx="784225" cy="5486400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6275388"/>
            <a:ext cx="9144000" cy="588962"/>
          </a:xfrm>
          <a:prstGeom prst="rect">
            <a:avLst/>
          </a:prstGeom>
          <a:solidFill>
            <a:srgbClr val="BDB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400">
              <a:latin typeface="Bookman Old Style" pitchFamily="18" charset="0"/>
            </a:endParaRPr>
          </a:p>
        </p:txBody>
      </p:sp>
      <p:pic>
        <p:nvPicPr>
          <p:cNvPr id="1029" name="Picture 5" descr="FGDClogo_trans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12713"/>
            <a:ext cx="1376363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752600" y="381000"/>
            <a:ext cx="7391400" cy="609600"/>
          </a:xfrm>
          <a:prstGeom prst="rect">
            <a:avLst/>
          </a:prstGeom>
          <a:solidFill>
            <a:srgbClr val="666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371600"/>
            <a:ext cx="838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D4142B7-C7B8-4B88-B8EE-43CCF2137F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0" y="6427788"/>
            <a:ext cx="5373688" cy="304800"/>
          </a:xfrm>
          <a:prstGeom prst="rect">
            <a:avLst/>
          </a:prstGeom>
          <a:solidFill>
            <a:srgbClr val="7D7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00" smtClean="0">
                <a:latin typeface="Bookman Old Style" pitchFamily="18" charset="0"/>
              </a:rPr>
              <a:t>national spatial data infrastructure training program</a:t>
            </a: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1676400" y="76200"/>
            <a:ext cx="73914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i="1" smtClean="0"/>
              <a:t>Introduction to the NSDI Cooperative Agreements Program</a:t>
            </a:r>
          </a:p>
          <a:p>
            <a:pPr eaLnBrk="1" hangingPunct="1">
              <a:spcBef>
                <a:spcPct val="50000"/>
              </a:spcBef>
              <a:defRPr/>
            </a:pPr>
            <a:endParaRPr 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Blip>
          <a:blip r:embed="rId15"/>
        </a:buBlip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</a:defRPr>
      </a:lvl4pPr>
      <a:lvl5pPr marL="2057400" indent="-279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5pPr>
      <a:lvl6pPr marL="25146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6pPr>
      <a:lvl7pPr marL="29718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7pPr>
      <a:lvl8pPr marL="34290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8pPr>
      <a:lvl9pPr marL="3886200" indent="-2794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Courier New" pitchFamily="49" charset="0"/>
        <a:buChar char="-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gdc.gov/grants/2013CAP/2013CAPDescriptio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hitehouse.gov/omb/circulars/a110/a110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ants.gov/applicants/app_help_reso.jsp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gdc.gov/grant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overview of the Cooperative Agreements Program (CAP) and its role in assisting organizations to implement the National Spatial Data Infrastructure (NSDI).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EB74A0-15AD-448E-9C3B-A8D72F2A51BF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smtClean="0"/>
              <a:t>After completing this lesson the student can:</a:t>
            </a:r>
          </a:p>
          <a:p>
            <a:pPr marL="692150" lvl="1" indent="-395288" eaLnBrk="1" hangingPunct="1">
              <a:spcBef>
                <a:spcPct val="50000"/>
              </a:spcBef>
            </a:pPr>
            <a:r>
              <a:rPr lang="en-US" smtClean="0"/>
              <a:t>explain the purpose, role and cooperative character of the NSDI CAP</a:t>
            </a:r>
          </a:p>
          <a:p>
            <a:pPr marL="692150" lvl="1" indent="-395288" eaLnBrk="1" hangingPunct="1">
              <a:spcBef>
                <a:spcPct val="50000"/>
              </a:spcBef>
            </a:pPr>
            <a:r>
              <a:rPr lang="en-US" smtClean="0"/>
              <a:t>identify projects and activities that are eligible for CAP support</a:t>
            </a:r>
          </a:p>
          <a:p>
            <a:pPr marL="692150" lvl="1" indent="-395288" eaLnBrk="1" hangingPunct="1">
              <a:spcBef>
                <a:spcPct val="50000"/>
              </a:spcBef>
            </a:pPr>
            <a:r>
              <a:rPr lang="en-US" smtClean="0"/>
              <a:t>locate and access the CAP Web site, individuals, and informational resources available to support proposal development and submittal</a:t>
            </a:r>
          </a:p>
          <a:p>
            <a:pPr marL="692150" lvl="1" indent="-395288" eaLnBrk="1" hangingPunct="1">
              <a:spcBef>
                <a:spcPct val="50000"/>
              </a:spcBef>
            </a:pPr>
            <a:r>
              <a:rPr lang="en-US" smtClean="0"/>
              <a:t>assess their own ability to address CAP proposal and deliverable processes and requirements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8C735DA-DDCA-4B32-8F1C-17AB7D8083ED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is the NSDI CAP?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lnSpc>
                <a:spcPct val="110000"/>
              </a:lnSpc>
            </a:pPr>
            <a:r>
              <a:rPr lang="en-US" sz="2600" dirty="0" smtClean="0"/>
              <a:t>The NSDI Cooperative Agreements Program (CAP) is:</a:t>
            </a:r>
          </a:p>
          <a:p>
            <a:pPr marL="574675" lvl="1" indent="-277813"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sz="2000" dirty="0" smtClean="0"/>
              <a:t>an annual program to assist the geospatial data community in implementing the components of the NSDI by providing funding and other resources </a:t>
            </a:r>
          </a:p>
          <a:p>
            <a:pPr marL="574675" lvl="1" indent="-277813"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sz="2000" dirty="0" smtClean="0"/>
              <a:t>Administered by the Federal Geographic Data Committee (FGDC) and sponsored by the U.S. Geological Survey</a:t>
            </a:r>
          </a:p>
          <a:p>
            <a:pPr marL="574675" lvl="1" indent="-277813"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sz="2000" dirty="0" smtClean="0"/>
              <a:t>intended to benefit multiple federal agencies as well as the overall geospatial community</a:t>
            </a:r>
          </a:p>
          <a:p>
            <a:pPr marL="182563" indent="-182563" algn="r" eaLnBrk="1" hangingPunct="1">
              <a:spcBef>
                <a:spcPct val="50000"/>
              </a:spcBef>
            </a:pPr>
            <a:r>
              <a:rPr lang="en-US" sz="2200" i="1" dirty="0" smtClean="0">
                <a:solidFill>
                  <a:schemeClr val="accent2"/>
                </a:solidFill>
              </a:rPr>
              <a:t>To date the NSDI CAP has provided over $21M in funding to more than 600 NSDI-related projects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233AE63-FCA1-4D6E-8E4B-D926E50E8ECA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is the NSDI CAP?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lnSpc>
                <a:spcPct val="110000"/>
              </a:lnSpc>
            </a:pPr>
            <a:r>
              <a:rPr lang="en-US" dirty="0" smtClean="0"/>
              <a:t>NSDI CAP areas of emphasis </a:t>
            </a:r>
            <a:r>
              <a:rPr lang="en-US" sz="2600" dirty="0" smtClean="0"/>
              <a:t>: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Documenting, implementing, and providing outreach for standards including metadata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Expanding geographic information coordination across and between organizational levels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Promoting geospatial best practices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Advancing geospatial related Web services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Advancing key NSDI data sets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 smtClean="0"/>
              <a:t>Creating clearinghouses and online applications to support geospatial data discovery and exchange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5780EAA-BF68-4C95-967B-15425C0BA27D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NSDI CAP is Not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dirty="0" smtClean="0"/>
              <a:t>The NSDI CAP does </a:t>
            </a:r>
            <a:r>
              <a:rPr lang="en-US" u="sng" dirty="0" smtClean="0"/>
              <a:t>not</a:t>
            </a:r>
            <a:r>
              <a:rPr lang="en-US" dirty="0" smtClean="0"/>
              <a:t> support projects that are: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Data collection efforts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Data purchases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Agency specific and of limited value to other NSDI stakeholders</a:t>
            </a:r>
          </a:p>
          <a:p>
            <a:pPr marL="182563" indent="-182563" eaLnBrk="1" hangingPunct="1">
              <a:spcBef>
                <a:spcPct val="50000"/>
              </a:spcBef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FD8205-8089-4561-AEB2-A88CF282B73F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is there an NSDI CAP?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smtClean="0"/>
              <a:t>The NSDI CAP is intended to: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support NSDI outreach &amp; communications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market and demonstrate NSDI concepts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seed small efforts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reach new organizations &amp; disciplines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initiate tool implementations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create a network of NSDI contacts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serve as the impetus for institutionalizing NSDI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sz="2000" smtClean="0"/>
              <a:t>provide a model for international Spatial Data Infrastructure (SDI)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EF31CB-6B99-4553-A5BB-A5A686961903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is a ‘Cooperative Agreement’?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dirty="0" smtClean="0"/>
              <a:t>A Cooperative Agreement differs from a grant because there is substantial involvement by the federal government in the form of: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regular teleconferences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technical support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administrative assistance in resolving issues</a:t>
            </a:r>
            <a:endParaRPr lang="en-US" b="1" dirty="0" smtClean="0"/>
          </a:p>
          <a:p>
            <a:pPr marL="182563" indent="-182563" eaLnBrk="1" hangingPunct="1">
              <a:spcBef>
                <a:spcPct val="50000"/>
              </a:spcBef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EC3A8CC-3877-4751-90E9-BD029D37448C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What is a ‘Cooperative Agreement’?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85150" cy="4708525"/>
          </a:xfrm>
        </p:spPr>
        <p:txBody>
          <a:bodyPr/>
          <a:lstStyle/>
          <a:p>
            <a:pPr marL="182563" indent="-182563" eaLnBrk="1" hangingPunct="1">
              <a:spcBef>
                <a:spcPct val="0"/>
              </a:spcBef>
            </a:pPr>
            <a:r>
              <a:rPr lang="en-US" dirty="0" smtClean="0"/>
              <a:t>While the federal government is not involved in daily project business it does support</a:t>
            </a:r>
            <a:r>
              <a:rPr lang="en-US" b="1" dirty="0" smtClean="0"/>
              <a:t>:</a:t>
            </a:r>
          </a:p>
          <a:p>
            <a:pPr marL="182563" indent="-182563" eaLnBrk="1" hangingPunct="1">
              <a:spcBef>
                <a:spcPct val="0"/>
              </a:spcBef>
            </a:pPr>
            <a:endParaRPr lang="en-US" sz="800" b="1" dirty="0" smtClean="0"/>
          </a:p>
          <a:p>
            <a:pPr marL="574675" lvl="1" indent="-277813" eaLnBrk="1" hangingPunct="1">
              <a:spcBef>
                <a:spcPct val="0"/>
              </a:spcBef>
              <a:buClrTx/>
            </a:pPr>
            <a:r>
              <a:rPr lang="en-US" sz="2000" dirty="0" smtClean="0"/>
              <a:t>implementing standards through guided development and training</a:t>
            </a:r>
          </a:p>
          <a:p>
            <a:pPr marL="574675" lvl="1" indent="-277813" eaLnBrk="1" hangingPunct="1"/>
            <a:r>
              <a:rPr lang="en-US" sz="2000" dirty="0" smtClean="0"/>
              <a:t>participating in the NSDI Clearinghouse, Geospatial Platform, Data.gov, and </a:t>
            </a:r>
            <a:r>
              <a:rPr lang="en-US" sz="2000" i="1" dirty="0" smtClean="0"/>
              <a:t>The National Map</a:t>
            </a:r>
          </a:p>
          <a:p>
            <a:pPr marL="574675" lvl="1" indent="-277813" eaLnBrk="1" hangingPunct="1"/>
            <a:r>
              <a:rPr lang="en-US" sz="2000" dirty="0" smtClean="0"/>
              <a:t>implementing </a:t>
            </a:r>
            <a:r>
              <a:rPr lang="en-US" sz="2000" dirty="0" err="1" smtClean="0"/>
              <a:t>OpenGIS</a:t>
            </a:r>
            <a:r>
              <a:rPr lang="en-US" sz="2000" dirty="0" smtClean="0"/>
              <a:t> Web Mapping and Web Feature Services</a:t>
            </a:r>
          </a:p>
          <a:p>
            <a:pPr marL="574675" lvl="1" indent="-277813" eaLnBrk="1" hangingPunct="1"/>
            <a:r>
              <a:rPr lang="en-US" sz="2000" dirty="0" smtClean="0"/>
              <a:t>demonstrating to federal business managers the value of incorporating geospatial approaches into business processes</a:t>
            </a:r>
          </a:p>
          <a:p>
            <a:pPr marL="574675" lvl="1" indent="-277813" eaLnBrk="1" hangingPunct="1"/>
            <a:r>
              <a:rPr lang="en-US" sz="2000" dirty="0" smtClean="0"/>
              <a:t>building organizational collaboration and cooperation among organizations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A1BF16-A598-4646-9FC2-E3B1FD1C19E2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Who can participate in the NSDI CAP?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  <a:defRPr/>
            </a:pPr>
            <a:r>
              <a:rPr lang="en-US" dirty="0" smtClean="0"/>
              <a:t>The NSDI CAP Program is open to all U.S. based, non-federal organizations</a:t>
            </a:r>
          </a:p>
          <a:p>
            <a:pPr marL="574675" lvl="1" indent="-277813" eaLnBrk="1" hangingPunct="1">
              <a:defRPr/>
            </a:pPr>
            <a:r>
              <a:rPr lang="en-US" dirty="0"/>
              <a:t>State, Tribal, Regional, Local governments</a:t>
            </a:r>
          </a:p>
          <a:p>
            <a:pPr marL="574675" lvl="1" indent="-277813" eaLnBrk="1" hangingPunct="1">
              <a:defRPr/>
            </a:pPr>
            <a:r>
              <a:rPr lang="en-US" dirty="0"/>
              <a:t>Coordinating Councils</a:t>
            </a:r>
          </a:p>
          <a:p>
            <a:pPr marL="574675" lvl="1" indent="-277813" eaLnBrk="1" hangingPunct="1">
              <a:defRPr/>
            </a:pPr>
            <a:r>
              <a:rPr lang="en-US" dirty="0"/>
              <a:t>Academia</a:t>
            </a:r>
          </a:p>
          <a:p>
            <a:pPr marL="574675" lvl="1" indent="-277813" eaLnBrk="1" hangingPunct="1">
              <a:defRPr/>
            </a:pPr>
            <a:r>
              <a:rPr lang="en-US" dirty="0"/>
              <a:t>Commercial businesses</a:t>
            </a:r>
          </a:p>
          <a:p>
            <a:pPr marL="574675" lvl="1" indent="-277813" eaLnBrk="1" hangingPunct="1">
              <a:defRPr/>
            </a:pPr>
            <a:r>
              <a:rPr lang="en-US" dirty="0"/>
              <a:t>Nonprofit organizations</a:t>
            </a:r>
          </a:p>
          <a:p>
            <a:pPr marL="296862" lvl="1" indent="0" eaLnBrk="1" hangingPunct="1">
              <a:buFontTx/>
              <a:buNone/>
              <a:defRPr/>
            </a:pPr>
            <a:endParaRPr lang="en-US" dirty="0"/>
          </a:p>
          <a:p>
            <a:pPr marL="182563" indent="-182563" eaLnBrk="1" hangingPunct="1">
              <a:defRPr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83B1AA-EAAB-4DAD-9235-DA87132AB891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NSDI CAP Categories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28000" cy="4708525"/>
          </a:xfrm>
        </p:spPr>
        <p:txBody>
          <a:bodyPr/>
          <a:lstStyle/>
          <a:p>
            <a:pPr marL="182563" indent="-182563" eaLnBrk="1" hangingPunct="1">
              <a:lnSpc>
                <a:spcPct val="90000"/>
              </a:lnSpc>
            </a:pPr>
            <a:r>
              <a:rPr lang="en-US" dirty="0" smtClean="0"/>
              <a:t>CAP award categories are based upon FGDC/NSDI programs of work including: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dirty="0" smtClean="0"/>
              <a:t>standards implementation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dirty="0" smtClean="0"/>
              <a:t>metadata training  and outreach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/>
              <a:t>collaboration in geospatial communities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dirty="0" smtClean="0"/>
              <a:t>geo-enabling non-traditional data communities</a:t>
            </a:r>
          </a:p>
          <a:p>
            <a:pPr marL="574675" lvl="1" indent="-277813" eaLnBrk="1" hangingPunct="1">
              <a:lnSpc>
                <a:spcPct val="110000"/>
              </a:lnSpc>
            </a:pPr>
            <a:r>
              <a:rPr lang="en-US" dirty="0"/>
              <a:t>integration of key geospatial datasets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dirty="0"/>
              <a:t>p</a:t>
            </a:r>
            <a:r>
              <a:rPr lang="en-US" dirty="0" smtClean="0"/>
              <a:t>articipation in national initiatives like the </a:t>
            </a:r>
            <a:r>
              <a:rPr lang="en-US" dirty="0"/>
              <a:t>Geospatial </a:t>
            </a:r>
            <a:r>
              <a:rPr lang="en-US" dirty="0" smtClean="0"/>
              <a:t>Platform and </a:t>
            </a:r>
            <a:r>
              <a:rPr lang="en-US" dirty="0" err="1" smtClean="0"/>
              <a:t>GeoCloud</a:t>
            </a:r>
            <a:endParaRPr lang="en-US" sz="2000" i="1" dirty="0" smtClean="0">
              <a:solidFill>
                <a:schemeClr val="accent2"/>
              </a:solidFill>
            </a:endParaRPr>
          </a:p>
          <a:p>
            <a:pPr marL="574675" lvl="1" indent="-277813" algn="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sz="2000" i="1" dirty="0" smtClean="0">
                <a:solidFill>
                  <a:schemeClr val="accent2"/>
                </a:solidFill>
              </a:rPr>
              <a:t>Funding categories vary annually to support current </a:t>
            </a:r>
            <a:br>
              <a:rPr lang="en-US" sz="2000" i="1" dirty="0" smtClean="0">
                <a:solidFill>
                  <a:schemeClr val="accent2"/>
                </a:solidFill>
              </a:rPr>
            </a:br>
            <a:r>
              <a:rPr lang="en-US" sz="2000" i="1" dirty="0" smtClean="0">
                <a:solidFill>
                  <a:schemeClr val="accent2"/>
                </a:solidFill>
              </a:rPr>
              <a:t>NSDI priorities and initiatives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C4FD6E-4B18-40DF-BD2B-6EAD90F148B8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are Categories Determine?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85150" cy="4708525"/>
          </a:xfrm>
        </p:spPr>
        <p:txBody>
          <a:bodyPr/>
          <a:lstStyle/>
          <a:p>
            <a:pPr marL="182563" indent="-182563"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sz="2000" smtClean="0"/>
              <a:t>1. Suggestions for the NSDI CAP categories come from the FGDC Coordination Group</a:t>
            </a:r>
          </a:p>
          <a:p>
            <a:pPr marL="182563" indent="-182563"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sz="2000" smtClean="0"/>
              <a:t>2. The proposals are evaluated as to: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appropriateness with respect to the funding authority and cooperative agreements requirements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alignment with existing categories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meeting the intent of the NSDI CAP 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potential to seed on-going activities beyond the initial effort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supporting/implementing standards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z="1800" smtClean="0"/>
              <a:t>success of previous category efforts</a:t>
            </a:r>
          </a:p>
          <a:p>
            <a:pPr marL="182563" indent="-182563" algn="r" eaLnBrk="1" hangingPunct="1">
              <a:lnSpc>
                <a:spcPct val="90000"/>
              </a:lnSpc>
              <a:spcBef>
                <a:spcPct val="100000"/>
              </a:spcBef>
            </a:pPr>
            <a:r>
              <a:rPr lang="en-US" sz="2200" i="1" smtClean="0">
                <a:solidFill>
                  <a:schemeClr val="accent2"/>
                </a:solidFill>
              </a:rPr>
              <a:t>The objective is to maintain a logical balance of awards/funding cross the categories and within the budget</a:t>
            </a:r>
            <a:br>
              <a:rPr lang="en-US" sz="2200" i="1" smtClean="0">
                <a:solidFill>
                  <a:schemeClr val="accent2"/>
                </a:solidFill>
              </a:rPr>
            </a:br>
            <a:endParaRPr lang="en-US" sz="2200" i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F614FC-9304-4B2C-AFE1-520BAD592B5B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NSDI CAP Categories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lnSpc>
                <a:spcPct val="90000"/>
              </a:lnSpc>
            </a:pPr>
            <a:r>
              <a:rPr lang="en-US" sz="1800" smtClean="0"/>
              <a:t>	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21256"/>
              </p:ext>
            </p:extLst>
          </p:nvPr>
        </p:nvGraphicFramePr>
        <p:xfrm>
          <a:off x="333829" y="1045482"/>
          <a:ext cx="8795657" cy="5599773"/>
        </p:xfrm>
        <a:graphic>
          <a:graphicData uri="http://schemas.openxmlformats.org/drawingml/2006/table">
            <a:tbl>
              <a:tblPr/>
              <a:tblGrid>
                <a:gridCol w="5492008"/>
                <a:gridCol w="1170832"/>
                <a:gridCol w="966432"/>
                <a:gridCol w="1166385"/>
              </a:tblGrid>
              <a:tr h="72630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marL="182563" lvl="0" indent="-182563" eaLnBrk="1" hangingPunct="1">
                        <a:lnSpc>
                          <a:spcPct val="90000"/>
                        </a:lnSpc>
                      </a:pPr>
                      <a:r>
                        <a:rPr lang="en-US" sz="1800" b="1" dirty="0" smtClean="0"/>
                        <a:t>2013 NSDI CAP Categories </a:t>
                      </a:r>
                      <a:endParaRPr lang="en-US" sz="1800" b="1" dirty="0" smtClean="0"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Award Amount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013" marR="7013" marT="7013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In-kind Match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013" marR="7013" marT="7013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b="1" u="none" strike="noStrike" dirty="0" smtClean="0">
                          <a:effectLst/>
                        </a:rPr>
                        <a:t>Approx. </a:t>
                      </a:r>
                      <a:r>
                        <a:rPr lang="en-US" sz="1600" b="1" u="none" strike="noStrike" dirty="0">
                          <a:effectLst/>
                        </a:rPr>
                        <a:t>Number of Awards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013" marR="7013" marT="7013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5942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1: Metadata Trainer and Outreach Assistance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$25,000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30-50%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6450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2: Geospatial Digital Data Archiving Business Plan </a:t>
                      </a:r>
                      <a:r>
                        <a:rPr lang="en-US" sz="1600" u="none" strike="noStrike" dirty="0" smtClean="0">
                          <a:effectLst/>
                        </a:rPr>
                        <a:t>Development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$40,000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50%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543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3: Development of Geospatial Strategic Plans for Federally Recognized Indian </a:t>
                      </a:r>
                      <a:r>
                        <a:rPr lang="en-US" sz="1600" u="none" strike="noStrike" dirty="0" smtClean="0">
                          <a:effectLst/>
                        </a:rPr>
                        <a:t>Tribes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$40,000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50%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543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4: Fifty States Initiative: Business Plan Development and </a:t>
                      </a:r>
                      <a:r>
                        <a:rPr lang="en-US" sz="1600" u="none" strike="noStrike" dirty="0" smtClean="0">
                          <a:effectLst/>
                        </a:rPr>
                        <a:t>Implementation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$40,000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50%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63872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5: FGDC-endorsed Standards Implementation Training and Outreach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$25,000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30-50%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80933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6: Geospatial Platform State/Local/Federal Collaborative Group </a:t>
                      </a:r>
                      <a:r>
                        <a:rPr lang="en-US" sz="1600" u="none" strike="noStrike" dirty="0" smtClean="0">
                          <a:effectLst/>
                        </a:rPr>
                        <a:t>Development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$30,000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50%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543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7: Geospatial Platform Cloud Service Test-bed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$25,000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 smtClean="0">
                          <a:effectLst/>
                        </a:rPr>
                        <a:t>50%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  <a:tr h="54347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lvl="0" algn="l" fontAlgn="ctr"/>
                      <a:r>
                        <a:rPr lang="en-US" sz="1600" u="none" strike="noStrike" dirty="0">
                          <a:effectLst/>
                        </a:rPr>
                        <a:t>Category 8: Arctic Spatial Data Infrastructure, Alaska-Yukon Project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$70,000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>
                          <a:effectLst/>
                        </a:rPr>
                        <a:t>50%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rebuchet MS"/>
                        </a:defRPr>
                      </a:lvl9pPr>
                    </a:lstStyle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5DCEAF"/>
                      </a:solidFill>
                    </a:lnL>
                    <a:lnR w="12700" cmpd="sng">
                      <a:solidFill>
                        <a:srgbClr val="5DCEAF"/>
                      </a:solidFill>
                    </a:lnR>
                    <a:lnT w="12700" cmpd="sng">
                      <a:solidFill>
                        <a:srgbClr val="5DCEAF"/>
                      </a:solidFill>
                    </a:lnT>
                    <a:lnB w="12700" cmpd="sng">
                      <a:solidFill>
                        <a:srgbClr val="5DCEA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EAF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7C4F0DF-FA1E-4A80-9779-D09133967FD6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NSDI CAP Categories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171089" cy="47085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endParaRPr lang="en-US" sz="1800" dirty="0" smtClean="0"/>
          </a:p>
          <a:p>
            <a:pPr marL="295275" lvl="1" indent="0" algn="ctr" eaLnBrk="1" hangingPunct="1">
              <a:lnSpc>
                <a:spcPct val="90000"/>
              </a:lnSpc>
              <a:buFontTx/>
              <a:buNone/>
            </a:pPr>
            <a:r>
              <a:rPr lang="en-US" sz="3200" dirty="0" smtClean="0"/>
              <a:t>Detailed information about the </a:t>
            </a:r>
          </a:p>
          <a:p>
            <a:pPr marL="295275" lvl="1" indent="0" algn="ctr" eaLnBrk="1" hangingPunct="1">
              <a:lnSpc>
                <a:spcPct val="90000"/>
              </a:lnSpc>
              <a:buFontTx/>
              <a:buNone/>
            </a:pPr>
            <a:r>
              <a:rPr lang="en-US" sz="3200" dirty="0" smtClean="0"/>
              <a:t>2013 NSDI CAP Categories </a:t>
            </a:r>
          </a:p>
          <a:p>
            <a:pPr marL="295275" lvl="1" indent="0" algn="ctr" eaLnBrk="1" hangingPunct="1">
              <a:lnSpc>
                <a:spcPct val="90000"/>
              </a:lnSpc>
              <a:buFontTx/>
              <a:buNone/>
            </a:pPr>
            <a:r>
              <a:rPr lang="en-US" sz="3200" dirty="0" smtClean="0"/>
              <a:t>is available on the FGDC Web site</a:t>
            </a:r>
          </a:p>
          <a:p>
            <a:pPr marL="295275" lvl="1" indent="0" algn="ctr" eaLnBrk="1" hangingPunct="1">
              <a:lnSpc>
                <a:spcPct val="90000"/>
              </a:lnSpc>
              <a:buFontTx/>
              <a:buNone/>
            </a:pPr>
            <a:endParaRPr lang="en-US" sz="1800" b="1" dirty="0" smtClean="0"/>
          </a:p>
          <a:p>
            <a:pPr marL="295275" lvl="1" indent="0" algn="ctr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>
                <a:hlinkClick r:id="rId3"/>
              </a:rPr>
              <a:t>http://www.fgdc.gov/grants/2013CAP/2013CAPDescriptions</a:t>
            </a: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1F2772A-CABF-44D4-A11B-7FAE24A530D6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Funding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443038"/>
            <a:ext cx="8039100" cy="4591050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dirty="0" smtClean="0"/>
              <a:t>CAP funding requirements: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some level of in-kind match from the proposing organization is required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performance period and expenditures are limited to one year</a:t>
            </a:r>
          </a:p>
          <a:p>
            <a:pPr marL="182563" indent="-182563" eaLnBrk="1" hangingPunct="1">
              <a:spcBef>
                <a:spcPct val="50000"/>
              </a:spcBef>
            </a:pPr>
            <a:r>
              <a:rPr lang="en-US" dirty="0" smtClean="0"/>
              <a:t>Available funding: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total amount of available funds varies each year</a:t>
            </a:r>
          </a:p>
          <a:p>
            <a:pPr marL="574675" lvl="1" indent="-277813" eaLnBrk="1" hangingPunct="1">
              <a:spcBef>
                <a:spcPct val="50000"/>
              </a:spcBef>
            </a:pPr>
            <a:r>
              <a:rPr lang="en-US" dirty="0" smtClean="0"/>
              <a:t>the 2012 CAP funded</a:t>
            </a:r>
            <a:r>
              <a:rPr lang="en-US" sz="2800" b="1" dirty="0" smtClean="0"/>
              <a:t> </a:t>
            </a:r>
            <a:r>
              <a:rPr lang="en-US" dirty="0" smtClean="0"/>
              <a:t>23 projects and awards ranged from $15,000 to $40,000</a:t>
            </a:r>
          </a:p>
          <a:p>
            <a:pPr lvl="2" eaLnBrk="1" hangingPunct="1">
              <a:spcBef>
                <a:spcPct val="50000"/>
              </a:spcBef>
              <a:buFontTx/>
              <a:buBlip>
                <a:blip r:embed="rId3"/>
              </a:buBlip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5F4875-CCE8-4352-9018-5C0E3B05B89F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Funding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  <a:defRPr/>
            </a:pPr>
            <a:r>
              <a:rPr lang="en-US" dirty="0" smtClean="0"/>
              <a:t>CAP funds can be used to support: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salaries </a:t>
            </a:r>
            <a:r>
              <a:rPr lang="en-US" dirty="0"/>
              <a:t>and wages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training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travel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hardware </a:t>
            </a:r>
            <a:r>
              <a:rPr lang="en-US" dirty="0"/>
              <a:t>and software that are dedicated to the project and its </a:t>
            </a:r>
            <a:r>
              <a:rPr lang="en-US" dirty="0" smtClean="0"/>
              <a:t>sustainability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fees for consultants, facilitators or recorders</a:t>
            </a:r>
          </a:p>
          <a:p>
            <a:pPr marL="574675" lvl="1" indent="-277813" eaLnBrk="1" hangingPunct="1">
              <a:defRPr/>
            </a:pPr>
            <a:r>
              <a:rPr lang="en-US" dirty="0" smtClean="0"/>
              <a:t>publication costs  </a:t>
            </a:r>
          </a:p>
          <a:p>
            <a:pPr marL="574675" lvl="1" indent="-277813" eaLnBrk="1" hangingPunct="1">
              <a:defRPr/>
            </a:pPr>
            <a:endParaRPr lang="en-US" sz="1200" dirty="0"/>
          </a:p>
          <a:p>
            <a:pPr marL="574675" lvl="1" indent="-460375" algn="r" eaLnBrk="1" hangingPunct="1">
              <a:spcBef>
                <a:spcPct val="50000"/>
              </a:spcBef>
              <a:buClr>
                <a:srgbClr val="333399"/>
              </a:buClr>
              <a:buFontTx/>
              <a:buNone/>
              <a:defRPr/>
            </a:pPr>
            <a:r>
              <a:rPr lang="en-US" sz="2000" i="1" dirty="0">
                <a:solidFill>
                  <a:srgbClr val="333399"/>
                </a:solidFill>
              </a:rPr>
              <a:t>Individual CAP categories may include additional imitations on use of funds so it is important to read the CAP announcement </a:t>
            </a:r>
            <a:r>
              <a:rPr lang="en-US" sz="2000" i="1" dirty="0" smtClean="0">
                <a:solidFill>
                  <a:srgbClr val="333399"/>
                </a:solidFill>
              </a:rPr>
              <a:t>carefully</a:t>
            </a:r>
            <a:endParaRPr lang="en-US" sz="2000" i="1" dirty="0">
              <a:solidFill>
                <a:srgbClr val="33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8FD578C-E44A-4B12-B796-6E9D2BA5E044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Funding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490663"/>
            <a:ext cx="8143875" cy="4784725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en-US" dirty="0" smtClean="0"/>
              <a:t>CAP funds cannot be used to support:</a:t>
            </a:r>
          </a:p>
          <a:p>
            <a:pPr marL="574675" lvl="1" indent="-460375" eaLnBrk="1" hangingPunct="1">
              <a:spcBef>
                <a:spcPct val="50000"/>
              </a:spcBef>
            </a:pPr>
            <a:r>
              <a:rPr lang="en-US" dirty="0" smtClean="0"/>
              <a:t>data collection</a:t>
            </a:r>
          </a:p>
          <a:p>
            <a:pPr marL="574675" lvl="1" indent="-460375" eaLnBrk="1" hangingPunct="1">
              <a:spcBef>
                <a:spcPct val="50000"/>
              </a:spcBef>
            </a:pPr>
            <a:r>
              <a:rPr lang="en-US" dirty="0" smtClean="0"/>
              <a:t>data purchases</a:t>
            </a:r>
          </a:p>
          <a:p>
            <a:pPr marL="574675" lvl="1" indent="-460375" eaLnBrk="1" hangingPunct="1">
              <a:spcBef>
                <a:spcPct val="50000"/>
              </a:spcBef>
            </a:pPr>
            <a:r>
              <a:rPr lang="en-US" dirty="0"/>
              <a:t>equipment purchases that are not dedicated to the project</a:t>
            </a:r>
          </a:p>
          <a:p>
            <a:pPr marL="574675" lvl="1" indent="-460375" eaLnBrk="1" hangingPunct="1">
              <a:spcBef>
                <a:spcPct val="50000"/>
              </a:spcBef>
            </a:pPr>
            <a:r>
              <a:rPr lang="en-US" sz="2000" dirty="0"/>
              <a:t>pay for </a:t>
            </a:r>
            <a:r>
              <a:rPr lang="en-US" sz="2000" dirty="0" smtClean="0"/>
              <a:t>federal </a:t>
            </a:r>
            <a:r>
              <a:rPr lang="en-US" sz="2000" dirty="0"/>
              <a:t>government services</a:t>
            </a:r>
          </a:p>
          <a:p>
            <a:pPr marL="574675" lvl="1" indent="-460375" algn="r" eaLnBrk="1" hangingPunct="1">
              <a:spcBef>
                <a:spcPct val="50000"/>
              </a:spcBef>
              <a:buFontTx/>
              <a:buNone/>
            </a:pPr>
            <a:endParaRPr lang="en-US" sz="2000" i="1" dirty="0" smtClean="0">
              <a:solidFill>
                <a:schemeClr val="accent2"/>
              </a:solidFill>
            </a:endParaRPr>
          </a:p>
          <a:p>
            <a:pPr marL="574675" lvl="1" indent="-460375" algn="r" eaLnBrk="1" hangingPunct="1">
              <a:spcBef>
                <a:spcPct val="50000"/>
              </a:spcBef>
              <a:buFontTx/>
              <a:buNone/>
            </a:pPr>
            <a:r>
              <a:rPr lang="en-US" sz="2000" i="1" dirty="0" smtClean="0">
                <a:solidFill>
                  <a:schemeClr val="accent2"/>
                </a:solidFill>
              </a:rPr>
              <a:t>Individual CAP categories may include additional imitations on use of funds so it is important to read the CAP announcement carefully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09E6E21-30FD-4B66-A498-87DA77E86031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Funding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spcBef>
                <a:spcPct val="50000"/>
              </a:spcBef>
            </a:pPr>
            <a:r>
              <a:rPr lang="en-US" dirty="0" smtClean="0"/>
              <a:t>‘In kind’ match:</a:t>
            </a:r>
          </a:p>
          <a:p>
            <a:pPr marL="574675" lvl="1" indent="-277813" eaLnBrk="1" hangingPunct="1"/>
            <a:r>
              <a:rPr lang="en-US" dirty="0" smtClean="0"/>
              <a:t>is required to support the cooperative spirit of the grant program</a:t>
            </a:r>
          </a:p>
          <a:p>
            <a:pPr marL="574675" lvl="1" indent="-277813" eaLnBrk="1" hangingPunct="1"/>
            <a:r>
              <a:rPr lang="en-US" dirty="0" smtClean="0"/>
              <a:t>can be in the form of salaries, funds, equipment dedicated to the project, software, and other resources</a:t>
            </a:r>
          </a:p>
          <a:p>
            <a:pPr marL="574675" lvl="1" indent="-277813" eaLnBrk="1" hangingPunct="1"/>
            <a:r>
              <a:rPr lang="en-US" dirty="0" smtClean="0"/>
              <a:t>requirements range between 30% to 50% and vary with each category</a:t>
            </a:r>
          </a:p>
          <a:p>
            <a:pPr marL="182563" indent="-182563" eaLnBrk="1" hangingPunct="1"/>
            <a:endParaRPr lang="en-US" dirty="0" smtClean="0"/>
          </a:p>
          <a:p>
            <a:pPr marL="182563" indent="-182563" algn="r" eaLnBrk="1" hangingPunct="1"/>
            <a:endParaRPr lang="en-US" sz="2000" i="1" dirty="0" smtClean="0">
              <a:solidFill>
                <a:schemeClr val="accent2"/>
              </a:solidFill>
            </a:endParaRPr>
          </a:p>
          <a:p>
            <a:pPr marL="182563" indent="-182563" algn="r" eaLnBrk="1" hangingPunct="1"/>
            <a:endParaRPr lang="en-US" sz="2000" i="1" dirty="0" smtClean="0">
              <a:solidFill>
                <a:schemeClr val="accent2"/>
              </a:solidFill>
            </a:endParaRPr>
          </a:p>
          <a:p>
            <a:pPr marL="182563" indent="-182563" algn="r" eaLnBrk="1" hangingPunct="1"/>
            <a:r>
              <a:rPr lang="en-US" sz="2000" i="1" dirty="0" smtClean="0">
                <a:solidFill>
                  <a:schemeClr val="accent2"/>
                </a:solidFill>
              </a:rPr>
              <a:t>For complete information see </a:t>
            </a:r>
            <a:r>
              <a:rPr lang="en-US" sz="2000" i="1" dirty="0" smtClean="0">
                <a:solidFill>
                  <a:schemeClr val="accent2"/>
                </a:solidFill>
                <a:hlinkClick r:id="rId3"/>
              </a:rPr>
              <a:t>OMB Circular A-110</a:t>
            </a:r>
            <a:endParaRPr lang="en-US" sz="2000" i="1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41E39C9-E833-49C8-A827-08ED0C5F85AF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Management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422400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dirty="0" smtClean="0"/>
              <a:t>The CAP Coordinator: </a:t>
            </a:r>
          </a:p>
          <a:p>
            <a:pPr marL="574675" lvl="1" indent="-277813" eaLnBrk="1" hangingPunct="1"/>
            <a:r>
              <a:rPr lang="en-US" dirty="0" smtClean="0"/>
              <a:t>plans and prepares the annual CAP announcement</a:t>
            </a:r>
          </a:p>
          <a:p>
            <a:pPr marL="574675" lvl="1" indent="-277813" eaLnBrk="1" hangingPunct="1"/>
            <a:r>
              <a:rPr lang="en-US" dirty="0" smtClean="0"/>
              <a:t>facilitates communication among: </a:t>
            </a:r>
          </a:p>
          <a:p>
            <a:pPr lvl="2" eaLnBrk="1" hangingPunct="1"/>
            <a:r>
              <a:rPr lang="en-US" dirty="0" smtClean="0"/>
              <a:t>Category leads</a:t>
            </a:r>
          </a:p>
          <a:p>
            <a:pPr lvl="2" eaLnBrk="1" hangingPunct="1"/>
            <a:r>
              <a:rPr lang="en-US" dirty="0" smtClean="0"/>
              <a:t>FGDC Secretariat Director</a:t>
            </a:r>
          </a:p>
          <a:p>
            <a:pPr lvl="2" eaLnBrk="1" hangingPunct="1"/>
            <a:r>
              <a:rPr lang="en-US" dirty="0" smtClean="0"/>
              <a:t>USGS grants officer </a:t>
            </a:r>
          </a:p>
          <a:p>
            <a:pPr lvl="2" eaLnBrk="1" hangingPunct="1"/>
            <a:r>
              <a:rPr lang="en-US" dirty="0" smtClean="0"/>
              <a:t>Project primary investigators</a:t>
            </a:r>
          </a:p>
          <a:p>
            <a:pPr marL="574675" lvl="1" indent="-277813" eaLnBrk="1" hangingPunct="1"/>
            <a:r>
              <a:rPr lang="en-US" dirty="0" smtClean="0"/>
              <a:t>manages project reporting and requirements</a:t>
            </a:r>
          </a:p>
          <a:p>
            <a:pPr marL="574675" lvl="1" indent="-277813" eaLnBrk="1" hangingPunct="1"/>
            <a:r>
              <a:rPr lang="en-US" dirty="0" smtClean="0"/>
              <a:t>coordinates program orientation or kick-off workshops</a:t>
            </a:r>
          </a:p>
          <a:p>
            <a:pPr marL="574675" lvl="1" indent="-277813" eaLnBrk="1" hangingPunct="1"/>
            <a:r>
              <a:rPr lang="en-US" dirty="0" smtClean="0"/>
              <a:t>manages Web information and postings</a:t>
            </a:r>
          </a:p>
          <a:p>
            <a:pPr marL="574675" lvl="1" indent="-277813" eaLnBrk="1" hangingPunct="1"/>
            <a:r>
              <a:rPr lang="en-US" dirty="0" smtClean="0"/>
              <a:t>performs program assessment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74F98A-7D8C-4832-957D-2CAC88AD2C0B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Management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dirty="0" smtClean="0"/>
              <a:t>The CAP Category Lead: 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defines category goals, requirements, and outcomes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leads review of category proposals</a:t>
            </a:r>
          </a:p>
          <a:p>
            <a:pPr marL="574675" lvl="1" indent="-277813" eaLnBrk="1" hangingPunct="1"/>
            <a:r>
              <a:rPr lang="en-US" dirty="0" smtClean="0"/>
              <a:t>organizes and leads category </a:t>
            </a:r>
            <a:r>
              <a:rPr lang="en-US" dirty="0"/>
              <a:t>orientation or </a:t>
            </a:r>
            <a:r>
              <a:rPr lang="en-US" dirty="0" smtClean="0"/>
              <a:t>kick-off workshops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coordinates federal participation and resources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serves as the technical point of contact for project work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monitors work plan development and implementation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assesses project deliverables and outcomes</a:t>
            </a:r>
          </a:p>
          <a:p>
            <a:pPr marL="574675" lvl="1" indent="-277813" eaLnBrk="1" hangingPunct="1">
              <a:buFont typeface="Wingdings" pitchFamily="2" charset="2"/>
              <a:buBlip>
                <a:blip r:embed="rId3"/>
              </a:buBlip>
            </a:pPr>
            <a:r>
              <a:rPr lang="en-US" dirty="0" smtClean="0"/>
              <a:t>fosters regular communication among awardees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88FC08-2619-468F-8014-34A05713CFCF}" type="slidenum">
              <a:rPr lang="en-US" smtClean="0"/>
              <a:pPr eaLnBrk="1" hangingPunct="1"/>
              <a:t>19</a:t>
            </a:fld>
            <a:endParaRPr lang="en-US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Proposal Requirements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dirty="0" smtClean="0"/>
              <a:t>Required documents:</a:t>
            </a:r>
          </a:p>
          <a:p>
            <a:pPr marL="574675" lvl="1" indent="-277813" eaLnBrk="1" hangingPunct="1"/>
            <a:r>
              <a:rPr lang="en-US" dirty="0" smtClean="0"/>
              <a:t>Project Narrative – a short (5 page max) description of the project goals, methods, expected outcomes and experience of the applicant</a:t>
            </a:r>
          </a:p>
          <a:p>
            <a:pPr marL="574675" lvl="1" indent="-277813" eaLnBrk="1" hangingPunct="1"/>
            <a:r>
              <a:rPr lang="en-US" dirty="0" smtClean="0"/>
              <a:t>Application for Federal Assistance (SF 424) – a basic application form that documents the applicants contact information, organization type, and the expected geographic impact of the project</a:t>
            </a:r>
          </a:p>
          <a:p>
            <a:pPr marL="574675" lvl="1" indent="-277813" eaLnBrk="1" hangingPunct="1"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4CE2A7-4654-4C34-8C9E-114111A932F1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Proposal Requirements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dirty="0" smtClean="0"/>
              <a:t>Required documents (cont’d):</a:t>
            </a:r>
          </a:p>
          <a:p>
            <a:pPr marL="574675" lvl="1" indent="-277813" eaLnBrk="1" hangingPunct="1"/>
            <a:r>
              <a:rPr lang="en-US" dirty="0" smtClean="0"/>
              <a:t>Budget Information (SF 424A) – a budget summary</a:t>
            </a:r>
          </a:p>
          <a:p>
            <a:pPr marL="574675" lvl="1" indent="-277813" eaLnBrk="1" hangingPunct="1"/>
            <a:r>
              <a:rPr lang="en-US" dirty="0" smtClean="0"/>
              <a:t>Budget Breakdown Attachment </a:t>
            </a:r>
          </a:p>
          <a:p>
            <a:pPr marL="574675" lvl="1" indent="-277813" eaLnBrk="1" hangingPunct="1"/>
            <a:r>
              <a:rPr lang="en-US" dirty="0" smtClean="0"/>
              <a:t>Assurances (SF 424B) – a legal declaration of eligibility and commitment to meet program requirements</a:t>
            </a:r>
          </a:p>
          <a:p>
            <a:pPr marL="574675" lvl="1" indent="-277813" eaLnBrk="1" hangingPunct="1"/>
            <a:r>
              <a:rPr lang="en-US" dirty="0" smtClean="0"/>
              <a:t>Negotiated Rate Agreement – State and university applicants </a:t>
            </a:r>
          </a:p>
          <a:p>
            <a:pPr marL="574675" lvl="1" indent="-277813" eaLnBrk="1" hangingPunct="1"/>
            <a:r>
              <a:rPr lang="en-US" dirty="0" smtClean="0"/>
              <a:t>Other possible requirements as specified by each CAP funding category, e.g., letters of participation, memorandum of understanding</a:t>
            </a:r>
          </a:p>
          <a:p>
            <a:pPr marL="574675" lvl="1" indent="-277813" eaLnBrk="1" hangingPunct="1">
              <a:buFontTx/>
              <a:buNone/>
            </a:pP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97A35F-D959-4E94-9242-19086EBA2FAF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Proposal Requirements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dirty="0" smtClean="0"/>
              <a:t>Optional documents:</a:t>
            </a:r>
          </a:p>
          <a:p>
            <a:pPr marL="574675" lvl="1" indent="-277813" eaLnBrk="1" hangingPunct="1"/>
            <a:r>
              <a:rPr lang="en-US" dirty="0" smtClean="0"/>
              <a:t>Letters of support from partner/benefiting organizations: </a:t>
            </a:r>
          </a:p>
          <a:p>
            <a:pPr lvl="2" eaLnBrk="1" hangingPunct="1"/>
            <a:r>
              <a:rPr lang="en-US" dirty="0" smtClean="0"/>
              <a:t>State, local, Tribal governments</a:t>
            </a:r>
          </a:p>
          <a:p>
            <a:pPr lvl="2" eaLnBrk="1" hangingPunct="1"/>
            <a:r>
              <a:rPr lang="en-US" dirty="0" smtClean="0"/>
              <a:t>Academia </a:t>
            </a:r>
          </a:p>
          <a:p>
            <a:pPr lvl="2" eaLnBrk="1" hangingPunct="1"/>
            <a:r>
              <a:rPr lang="en-US" dirty="0" smtClean="0"/>
              <a:t>Private company</a:t>
            </a:r>
          </a:p>
          <a:p>
            <a:pPr marL="574675" lvl="1" indent="-277813" eaLnBrk="1" hangingPunct="1"/>
            <a:r>
              <a:rPr lang="en-US" dirty="0" smtClean="0"/>
              <a:t>Resumes, Curriculum Vitae</a:t>
            </a:r>
          </a:p>
          <a:p>
            <a:pPr marL="574675" lvl="1" indent="-277813" eaLnBrk="1" hangingPunct="1"/>
            <a:r>
              <a:rPr lang="en-US" dirty="0" smtClean="0"/>
              <a:t>Supporting documentation of experience, related products, methodologies, etc.</a:t>
            </a:r>
          </a:p>
          <a:p>
            <a:pPr marL="574675" lvl="1" indent="-277813" eaLnBrk="1" hangingPunct="1"/>
            <a:endParaRPr lang="en-US" sz="1200" dirty="0" smtClean="0"/>
          </a:p>
          <a:p>
            <a:pPr marL="182563" indent="-182563" algn="r" eaLnBrk="1" hangingPunct="1"/>
            <a:r>
              <a:rPr lang="en-US" sz="2400" i="1" dirty="0" smtClean="0">
                <a:solidFill>
                  <a:srgbClr val="0070C0"/>
                </a:solidFill>
              </a:rPr>
              <a:t>Federal employees </a:t>
            </a:r>
            <a:r>
              <a:rPr lang="en-US" sz="2400" b="1" i="1" dirty="0" smtClean="0">
                <a:solidFill>
                  <a:srgbClr val="0070C0"/>
                </a:solidFill>
              </a:rPr>
              <a:t>cannot</a:t>
            </a:r>
            <a:r>
              <a:rPr lang="en-US" sz="2400" i="1" dirty="0" smtClean="0">
                <a:solidFill>
                  <a:srgbClr val="0070C0"/>
                </a:solidFill>
              </a:rPr>
              <a:t> provide letters of support.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0B01439-0A73-473A-8B1A-A4B92E330DCE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Proposal Submission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533400" indent="-533400" eaLnBrk="1" hangingPunct="1"/>
            <a:r>
              <a:rPr lang="en-US" smtClean="0"/>
              <a:t>Three steps: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Register with Grants.gov at:</a:t>
            </a:r>
          </a:p>
          <a:p>
            <a:pPr marL="914400" lvl="2" indent="0" eaLnBrk="1" hangingPunct="1">
              <a:buFont typeface="Wingdings" pitchFamily="2" charset="2"/>
              <a:buNone/>
            </a:pPr>
            <a:r>
              <a:rPr lang="en-US" smtClean="0">
                <a:hlinkClick r:id="rId3"/>
              </a:rPr>
              <a:t>http://www.grants.gov/</a:t>
            </a:r>
            <a:endParaRPr lang="en-US" smtClean="0"/>
          </a:p>
          <a:p>
            <a:pPr marL="914400" lvl="2" indent="0" eaLnBrk="1" hangingPunct="1">
              <a:buFont typeface="Wingdings" pitchFamily="2" charset="2"/>
              <a:buNone/>
            </a:pPr>
            <a:r>
              <a:rPr lang="en-US" smtClean="0"/>
              <a:t>Registration takes 1 to 4 weeks </a:t>
            </a:r>
            <a:r>
              <a:rPr lang="en-US" b="1" i="1" smtClean="0"/>
              <a:t>so start early</a:t>
            </a:r>
            <a:r>
              <a:rPr lang="en-US" smtClean="0"/>
              <a:t>. Once registered, your organization can use the same information for all other Grant.gov applications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Prepare proposal with careful attention to CAP and Category specific requirements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Submit proposal via:</a:t>
            </a:r>
          </a:p>
          <a:p>
            <a:pPr marL="914400" lvl="2" indent="0" eaLnBrk="1" hangingPunct="1">
              <a:buFont typeface="Wingdings" pitchFamily="2" charset="2"/>
              <a:buNone/>
            </a:pPr>
            <a:r>
              <a:rPr lang="en-US" smtClean="0">
                <a:hlinkClick r:id="rId3"/>
              </a:rPr>
              <a:t>http://www.grants.gov/</a:t>
            </a:r>
            <a:endParaRPr lang="en-US" smtClean="0"/>
          </a:p>
          <a:p>
            <a:pPr marL="754063" lvl="1" indent="-457200" eaLnBrk="1" hangingPunct="1"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D41AEA-499F-4917-93FB-5E088156D6C9}" type="slidenum">
              <a:rPr lang="en-US" smtClean="0"/>
              <a:pPr eaLnBrk="1" hangingPunct="1"/>
              <a:t>23</a:t>
            </a:fld>
            <a:endParaRPr lang="en-US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CAP Proposal Submission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533400" indent="-533400" eaLnBrk="1" hangingPunct="1"/>
            <a:r>
              <a:rPr lang="en-US" dirty="0" smtClean="0"/>
              <a:t>Proposal Submission Notes:</a:t>
            </a:r>
          </a:p>
          <a:p>
            <a:pPr marL="754063" lvl="1" indent="-457200" eaLnBrk="1" hangingPunct="1"/>
            <a:r>
              <a:rPr lang="en-US" dirty="0" smtClean="0"/>
              <a:t>electronic submissions via Grants.gov only</a:t>
            </a:r>
          </a:p>
          <a:p>
            <a:pPr marL="754063" lvl="1" indent="-457200" eaLnBrk="1" hangingPunct="1"/>
            <a:r>
              <a:rPr lang="en-US" dirty="0" smtClean="0"/>
              <a:t>no hardcopy proposals accepted</a:t>
            </a:r>
          </a:p>
          <a:p>
            <a:pPr marL="754063" lvl="1" indent="-457200" eaLnBrk="1" hangingPunct="1"/>
            <a:r>
              <a:rPr lang="en-US" dirty="0" smtClean="0"/>
              <a:t>help is available from </a:t>
            </a:r>
            <a:r>
              <a:rPr lang="en-US" sz="2000" b="1" dirty="0">
                <a:hlinkClick r:id="rId3"/>
              </a:rPr>
              <a:t>http://www.grants.gov/applicants/app_help_reso.jsp</a:t>
            </a:r>
            <a:endParaRPr lang="en-US" sz="2000" dirty="0" smtClean="0"/>
          </a:p>
          <a:p>
            <a:pPr marL="754063" lvl="1" indent="-457200"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041921F-44EF-42B6-867E-BAA0A6D90003}" type="slidenum">
              <a:rPr lang="en-US" smtClean="0"/>
              <a:pPr eaLnBrk="1" hangingPunct="1"/>
              <a:t>24</a:t>
            </a:fld>
            <a:endParaRPr lang="en-US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Proposal Review and Selection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533400" indent="-533400" eaLnBrk="1" hangingPunct="1"/>
            <a:r>
              <a:rPr lang="en-US" smtClean="0"/>
              <a:t>After the CAP announcement closing date: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Category Leads distribute proposals to a review panel comprised of national experts from various geographies; members may include past CAP participants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Each proposal is scored based on the criteria outlined in the CAP announcement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Scored proposals are given to FGDC Secretariat Director to make the final selections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Awarded proposals are announced</a:t>
            </a:r>
          </a:p>
          <a:p>
            <a:pPr marL="754063" lvl="1" indent="-457200" eaLnBrk="1" hangingPunct="1">
              <a:buFontTx/>
              <a:buAutoNum type="arabicPeriod"/>
            </a:pPr>
            <a:r>
              <a:rPr lang="en-US" smtClean="0"/>
              <a:t>The review process takes four to six weeks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45CD5B-8E28-4235-A2AF-4AD7B7A552F6}" type="slidenum">
              <a:rPr lang="en-US" smtClean="0"/>
              <a:pPr eaLnBrk="1" hangingPunct="1"/>
              <a:t>25</a:t>
            </a:fld>
            <a:endParaRPr lang="en-US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Deliverables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/>
            <a:r>
              <a:rPr lang="en-US" smtClean="0"/>
              <a:t>CAP Project Deliverables:</a:t>
            </a:r>
          </a:p>
          <a:p>
            <a:pPr marL="574675" lvl="1" indent="-277813" eaLnBrk="1" hangingPunct="1"/>
            <a:r>
              <a:rPr lang="en-US" smtClean="0"/>
              <a:t>Interim and final technical reports</a:t>
            </a:r>
          </a:p>
          <a:p>
            <a:pPr marL="574675" lvl="1" indent="-277813" eaLnBrk="1" hangingPunct="1"/>
            <a:r>
              <a:rPr lang="en-US" smtClean="0"/>
              <a:t>Annual financial reports </a:t>
            </a:r>
          </a:p>
          <a:p>
            <a:pPr marL="574675" lvl="1" indent="-277813" eaLnBrk="1" hangingPunct="1"/>
            <a:r>
              <a:rPr lang="en-US" smtClean="0"/>
              <a:t>Presentations and/or publications describing the project outcomes </a:t>
            </a:r>
          </a:p>
          <a:p>
            <a:pPr marL="574675" lvl="1" indent="-277813" eaLnBrk="1" hangingPunct="1"/>
            <a:r>
              <a:rPr lang="en-US" smtClean="0"/>
              <a:t>Category specific products, e.g. Web applications. training materials, strategic plans, etc.</a:t>
            </a:r>
          </a:p>
          <a:p>
            <a:pPr marL="182563" indent="-182563" eaLnBrk="1" hangingPunct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FCAD62-847C-46FC-9A0A-355F9469C1CD}" type="slidenum">
              <a:rPr lang="en-US" smtClean="0"/>
              <a:pPr eaLnBrk="1" hangingPunct="1"/>
              <a:t>26</a:t>
            </a:fld>
            <a:endParaRPr lang="en-US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eaLnBrk="1" hangingPunct="1">
              <a:lnSpc>
                <a:spcPct val="90000"/>
              </a:lnSpc>
            </a:pPr>
            <a:r>
              <a:rPr lang="en-US" smtClean="0"/>
              <a:t>The NSDI CAP supports programs that :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lead to sustainable State/regional/community projects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introduce and extend the NSDI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implement proven solutions for metadata, clearinghouse, standards, etc.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encourage partnerships and leveraged resources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focus on infrastructure development, not data collection or GIS startup</a:t>
            </a:r>
          </a:p>
          <a:p>
            <a:pPr marL="574675" lvl="1" indent="-277813" eaLnBrk="1" hangingPunct="1">
              <a:lnSpc>
                <a:spcPct val="90000"/>
              </a:lnSpc>
            </a:pPr>
            <a:r>
              <a:rPr lang="en-US" smtClean="0"/>
              <a:t>produce measurable results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6C46A46-AA08-4148-9B8D-74AC0D4BCE1A}" type="slidenum">
              <a:rPr lang="en-US" smtClean="0"/>
              <a:pPr eaLnBrk="1" hangingPunct="1"/>
              <a:t>27</a:t>
            </a:fld>
            <a:endParaRPr lang="en-US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More Information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5" y="1566863"/>
            <a:ext cx="8359775" cy="4708525"/>
          </a:xfrm>
        </p:spPr>
        <p:txBody>
          <a:bodyPr/>
          <a:lstStyle/>
          <a:p>
            <a:pPr marL="182563" indent="-182563" algn="ctr" eaLnBrk="1" hangingPunct="1"/>
            <a:endParaRPr lang="en-US" sz="800" b="1" smtClean="0"/>
          </a:p>
          <a:p>
            <a:pPr marL="182563" indent="-182563" algn="ctr" eaLnBrk="1" hangingPunct="1"/>
            <a:r>
              <a:rPr lang="en-US" sz="3200" b="1" smtClean="0">
                <a:hlinkClick r:id="rId3"/>
              </a:rPr>
              <a:t>http://www.fgdc.gov/grants</a:t>
            </a:r>
            <a:endParaRPr lang="en-US" sz="3200" b="1" smtClean="0"/>
          </a:p>
          <a:p>
            <a:pPr marL="182563" indent="-182563" eaLnBrk="1" hangingPunct="1"/>
            <a:endParaRPr lang="en-US" sz="800" b="1" smtClean="0"/>
          </a:p>
          <a:p>
            <a:pPr marL="182563" indent="-182563" eaLnBrk="1" hangingPunct="1"/>
            <a:r>
              <a:rPr lang="en-US" smtClean="0"/>
              <a:t>Provides access to: </a:t>
            </a:r>
          </a:p>
          <a:p>
            <a:pPr marL="574675" lvl="1" indent="-277813" eaLnBrk="1" hangingPunct="1"/>
            <a:r>
              <a:rPr lang="en-US" smtClean="0"/>
              <a:t>contact information for the CAP Coordinator and Category Leads</a:t>
            </a:r>
          </a:p>
          <a:p>
            <a:pPr marL="574675" lvl="1" indent="-277813" eaLnBrk="1" hangingPunct="1"/>
            <a:r>
              <a:rPr lang="en-US" smtClean="0"/>
              <a:t>current and past CAP announcements</a:t>
            </a:r>
          </a:p>
          <a:p>
            <a:pPr marL="574675" lvl="1" indent="-277813" eaLnBrk="1" hangingPunct="1"/>
            <a:r>
              <a:rPr lang="en-US" smtClean="0"/>
              <a:t>CAP administration guidance</a:t>
            </a:r>
          </a:p>
          <a:p>
            <a:pPr marL="574675" lvl="1" indent="-277813" eaLnBrk="1" hangingPunct="1"/>
            <a:r>
              <a:rPr lang="en-US" smtClean="0"/>
              <a:t>information about previous awards </a:t>
            </a:r>
          </a:p>
          <a:p>
            <a:pPr marL="574675" lvl="1" indent="-277813" eaLnBrk="1" hangingPunct="1"/>
            <a:r>
              <a:rPr lang="en-US" smtClean="0"/>
              <a:t>schedules for proposal submissions and reviews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24CCFD1-4369-4B26-864B-B2EA24D6036E}" type="slidenum">
              <a:rPr lang="en-US" smtClean="0"/>
              <a:pPr eaLnBrk="1" hangingPunct="1"/>
              <a:t>28</a:t>
            </a:fld>
            <a:endParaRPr lang="en-US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smtClean="0"/>
              <a:t>This is the conclusion of “Introduction to the NSDI Cooperative Agreements Program” lesson.</a:t>
            </a:r>
          </a:p>
          <a:p>
            <a:pPr eaLnBrk="1" hangingPunct="1"/>
            <a:r>
              <a:rPr lang="en-US" sz="2400" smtClean="0"/>
              <a:t>The student should be able to: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explain the purpose, role and cooperative character of the NSDI CAP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identify projects and activities that are eligible for CAP support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locate and access the CAP Web site, individuals, and informational resources available to support proposal development and submittal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000" smtClean="0"/>
              <a:t>assess their own ability to address CAP proposal and deliverable processes and requirements</a:t>
            </a:r>
          </a:p>
          <a:p>
            <a:pPr eaLnBrk="1" hangingPunct="1"/>
            <a:endParaRPr lang="en-US" sz="2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9BF2AB-FFAC-44E9-A832-54A8A38DCCEB}" type="slidenum">
              <a:rPr lang="en-US" smtClean="0"/>
              <a:pPr eaLnBrk="1" hangingPunct="1"/>
              <a:t>29</a:t>
            </a:fld>
            <a:endParaRPr lang="en-US" smtClean="0"/>
          </a:p>
        </p:txBody>
      </p:sp>
      <p:sp>
        <p:nvSpPr>
          <p:cNvPr id="32771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784225" y="1408113"/>
            <a:ext cx="8359775" cy="4708525"/>
          </a:xfrm>
        </p:spPr>
        <p:txBody>
          <a:bodyPr/>
          <a:lstStyle/>
          <a:p>
            <a:pPr marL="182563" indent="-182563" defTabSz="334963" eaLnBrk="1" hangingPunct="1"/>
            <a:endParaRPr lang="en-US" sz="3600" b="1" i="1" smtClean="0">
              <a:solidFill>
                <a:schemeClr val="bg1"/>
              </a:solidFill>
            </a:endParaRPr>
          </a:p>
        </p:txBody>
      </p:sp>
      <p:sp>
        <p:nvSpPr>
          <p:cNvPr id="32772" name="Text Box 12"/>
          <p:cNvSpPr txBox="1">
            <a:spLocks noChangeArrowheads="1"/>
          </p:cNvSpPr>
          <p:nvPr/>
        </p:nvSpPr>
        <p:spPr bwMode="auto">
          <a:xfrm>
            <a:off x="785813" y="1406525"/>
            <a:ext cx="7383462" cy="214471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 u="sng"/>
              <a:t>NSDI Cooperative Agreements Program:</a:t>
            </a:r>
          </a:p>
          <a:p>
            <a:pPr eaLnBrk="1" hangingPunct="1">
              <a:spcBef>
                <a:spcPct val="50000"/>
              </a:spcBef>
            </a:pPr>
            <a:endParaRPr lang="en-US" sz="2000" b="1" u="sng"/>
          </a:p>
          <a:p>
            <a:pPr eaLnBrk="1" hangingPunct="1"/>
            <a:r>
              <a:rPr lang="en-US" sz="2800" b="1"/>
              <a:t>How to Submit a NSDI CAP Proposal</a:t>
            </a:r>
          </a:p>
          <a:p>
            <a:pPr eaLnBrk="1" hangingPunct="1"/>
            <a:endParaRPr lang="en-US" sz="2800" b="1"/>
          </a:p>
          <a:p>
            <a:pPr eaLnBrk="1" hangingPunct="1"/>
            <a:r>
              <a:rPr lang="en-US" sz="2800" b="1"/>
              <a:t>How to Implement Your NSDI CAP Project</a:t>
            </a:r>
          </a:p>
        </p:txBody>
      </p:sp>
      <p:sp>
        <p:nvSpPr>
          <p:cNvPr id="32773" name="Rectangle 14"/>
          <p:cNvSpPr>
            <a:spLocks noGrp="1" noChangeArrowheads="1"/>
          </p:cNvSpPr>
          <p:nvPr>
            <p:ph type="title"/>
          </p:nvPr>
        </p:nvSpPr>
        <p:spPr>
          <a:xfrm>
            <a:off x="1752600" y="381000"/>
            <a:ext cx="7391400" cy="876300"/>
          </a:xfrm>
        </p:spPr>
        <p:txBody>
          <a:bodyPr/>
          <a:lstStyle/>
          <a:p>
            <a:pPr eaLnBrk="1" hangingPunct="1"/>
            <a:r>
              <a:rPr lang="en-US" sz="2800" smtClean="0"/>
              <a:t>Other Lessons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NSDITrainingTemplate</Template>
  <TotalTime>7684</TotalTime>
  <Words>1701</Words>
  <Application>Microsoft Office PowerPoint</Application>
  <PresentationFormat>On-screen Show (4:3)</PresentationFormat>
  <Paragraphs>313</Paragraphs>
  <Slides>30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Custom Design</vt:lpstr>
      <vt:lpstr>PowerPoint Presentation</vt:lpstr>
      <vt:lpstr>Learning Objectives</vt:lpstr>
      <vt:lpstr>What is the NSDI CAP?</vt:lpstr>
      <vt:lpstr>What is the NSDI CAP?</vt:lpstr>
      <vt:lpstr>What NSDI CAP is Not</vt:lpstr>
      <vt:lpstr>Why is there an NSDI CAP?</vt:lpstr>
      <vt:lpstr>What is a ‘Cooperative Agreement’?</vt:lpstr>
      <vt:lpstr>What is a ‘Cooperative Agreement’?</vt:lpstr>
      <vt:lpstr>Who can participate in the NSDI CAP?</vt:lpstr>
      <vt:lpstr>NSDI CAP Categories</vt:lpstr>
      <vt:lpstr>How are Categories Determine?</vt:lpstr>
      <vt:lpstr>NSDI CAP Categories</vt:lpstr>
      <vt:lpstr>NSDI CAP Categories</vt:lpstr>
      <vt:lpstr>CAP Funding</vt:lpstr>
      <vt:lpstr>CAP Funding</vt:lpstr>
      <vt:lpstr>CAP Funding</vt:lpstr>
      <vt:lpstr>CAP Funding</vt:lpstr>
      <vt:lpstr>CAP Management</vt:lpstr>
      <vt:lpstr>CAP Management</vt:lpstr>
      <vt:lpstr>CAP Proposal Requirements</vt:lpstr>
      <vt:lpstr>CAP Proposal Requirements</vt:lpstr>
      <vt:lpstr>CAP Proposal Requirements</vt:lpstr>
      <vt:lpstr>CAP Proposal Submission</vt:lpstr>
      <vt:lpstr>CAP Proposal Submission</vt:lpstr>
      <vt:lpstr>Proposal Review and Selection</vt:lpstr>
      <vt:lpstr>Deliverables</vt:lpstr>
      <vt:lpstr>Summary</vt:lpstr>
      <vt:lpstr>For More Information</vt:lpstr>
      <vt:lpstr>Summary</vt:lpstr>
      <vt:lpstr>Other Lessons </vt:lpstr>
    </vt:vector>
  </TitlesOfParts>
  <Company>GeoMaxim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</dc:title>
  <dc:creator>Lynda Wayne</dc:creator>
  <cp:lastModifiedBy>Brigitta Urban-Mathieux</cp:lastModifiedBy>
  <cp:revision>113</cp:revision>
  <cp:lastPrinted>2011-08-18T19:09:08Z</cp:lastPrinted>
  <dcterms:created xsi:type="dcterms:W3CDTF">2006-09-20T16:38:25Z</dcterms:created>
  <dcterms:modified xsi:type="dcterms:W3CDTF">2012-10-15T17:21:37Z</dcterms:modified>
</cp:coreProperties>
</file>