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Default Extension="sldx" ContentType="application/vnd.openxmlformats-officedocument.presentationml.slide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1089600" cy="402336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26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6pPr>
    <a:lvl7pPr marL="2743200" algn="l" defTabSz="914400" rtl="0" eaLnBrk="1" latinLnBrk="0" hangingPunct="1">
      <a:defRPr sz="26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7pPr>
    <a:lvl8pPr marL="3200400" algn="l" defTabSz="914400" rtl="0" eaLnBrk="1" latinLnBrk="0" hangingPunct="1">
      <a:defRPr sz="26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8pPr>
    <a:lvl9pPr marL="3657600" algn="l" defTabSz="914400" rtl="0" eaLnBrk="1" latinLnBrk="0" hangingPunct="1">
      <a:defRPr sz="26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800000"/>
    <a:srgbClr val="003366"/>
    <a:srgbClr val="22228A"/>
    <a:srgbClr val="26269A"/>
    <a:srgbClr val="FF7C80"/>
    <a:srgbClr val="00FF00"/>
    <a:srgbClr val="FFFF00"/>
    <a:srgbClr val="FF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9644" autoAdjust="0"/>
    <p:restoredTop sz="94515" autoAdjust="0"/>
  </p:normalViewPr>
  <p:slideViewPr>
    <p:cSldViewPr>
      <p:cViewPr varScale="1">
        <p:scale>
          <a:sx n="18" d="100"/>
          <a:sy n="18" d="100"/>
        </p:scale>
        <p:origin x="-2004" y="-138"/>
      </p:cViewPr>
      <p:guideLst>
        <p:guide orient="horz" pos="12672"/>
        <p:guide pos="9792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20" d="100"/>
          <a:sy n="20" d="100"/>
        </p:scale>
        <p:origin x="-1950" y="-192"/>
      </p:cViewPr>
      <p:guideLst>
        <p:guide orient="horz" pos="2928"/>
        <p:guide pos="2208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10" Type="http://schemas.openxmlformats.org/officeDocument/2006/relationships/image" Target="../media/image11.emf"/><Relationship Id="rId4" Type="http://schemas.openxmlformats.org/officeDocument/2006/relationships/image" Target="../media/image5.emf"/><Relationship Id="rId9" Type="http://schemas.openxmlformats.org/officeDocument/2006/relationships/image" Target="../media/image1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53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1652" tIns="10827" rIns="21652" bIns="10827" numCol="1" anchor="t" anchorCtr="0" compatLnSpc="1">
            <a:prstTxWarp prst="textNoShape">
              <a:avLst/>
            </a:prstTxWarp>
          </a:bodyPr>
          <a:lstStyle>
            <a:lvl1pPr defTabSz="215900" eaLnBrk="0" hangingPunct="0">
              <a:defRPr sz="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8750" y="0"/>
            <a:ext cx="30368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1652" tIns="10827" rIns="21652" bIns="10827" numCol="1" anchor="t" anchorCtr="0" compatLnSpc="1">
            <a:prstTxWarp prst="textNoShape">
              <a:avLst/>
            </a:prstTxWarp>
          </a:bodyPr>
          <a:lstStyle>
            <a:lvl1pPr algn="r" defTabSz="215900" eaLnBrk="0" hangingPunct="0">
              <a:defRPr sz="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7613"/>
            <a:ext cx="30353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1652" tIns="10827" rIns="21652" bIns="10827" numCol="1" anchor="b" anchorCtr="0" compatLnSpc="1">
            <a:prstTxWarp prst="textNoShape">
              <a:avLst/>
            </a:prstTxWarp>
          </a:bodyPr>
          <a:lstStyle>
            <a:lvl1pPr defTabSz="215900" eaLnBrk="0" hangingPunct="0">
              <a:defRPr sz="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8750" y="8837613"/>
            <a:ext cx="30368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1652" tIns="10827" rIns="21652" bIns="10827" numCol="1" anchor="b" anchorCtr="0" compatLnSpc="1">
            <a:prstTxWarp prst="textNoShape">
              <a:avLst/>
            </a:prstTxWarp>
          </a:bodyPr>
          <a:lstStyle>
            <a:lvl1pPr algn="r" defTabSz="215900" eaLnBrk="0" hangingPunct="0">
              <a:defRPr sz="300">
                <a:cs typeface="+mn-cs"/>
              </a:defRPr>
            </a:lvl1pPr>
          </a:lstStyle>
          <a:p>
            <a:pPr>
              <a:defRPr/>
            </a:pPr>
            <a:fld id="{F7D44331-7E5A-4AB5-B9D1-935DFF615E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21735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53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1652" tIns="10827" rIns="21652" bIns="10827" numCol="1" anchor="t" anchorCtr="0" compatLnSpc="1">
            <a:prstTxWarp prst="textNoShape">
              <a:avLst/>
            </a:prstTxWarp>
          </a:bodyPr>
          <a:lstStyle>
            <a:lvl1pPr defTabSz="215900" eaLnBrk="0" hangingPunct="0">
              <a:defRPr sz="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8750" y="0"/>
            <a:ext cx="30368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1652" tIns="10827" rIns="21652" bIns="10827" numCol="1" anchor="t" anchorCtr="0" compatLnSpc="1">
            <a:prstTxWarp prst="textNoShape">
              <a:avLst/>
            </a:prstTxWarp>
          </a:bodyPr>
          <a:lstStyle>
            <a:lvl1pPr algn="r" defTabSz="215900" eaLnBrk="0" hangingPunct="0">
              <a:defRPr sz="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55825" y="700088"/>
            <a:ext cx="2697163" cy="3489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410075"/>
            <a:ext cx="5135563" cy="418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1652" tIns="10827" rIns="21652" bIns="1082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7613"/>
            <a:ext cx="30353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1652" tIns="10827" rIns="21652" bIns="10827" numCol="1" anchor="b" anchorCtr="0" compatLnSpc="1">
            <a:prstTxWarp prst="textNoShape">
              <a:avLst/>
            </a:prstTxWarp>
          </a:bodyPr>
          <a:lstStyle>
            <a:lvl1pPr defTabSz="215900" eaLnBrk="0" hangingPunct="0">
              <a:defRPr sz="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8750" y="8837613"/>
            <a:ext cx="30368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1652" tIns="10827" rIns="21652" bIns="10827" numCol="1" anchor="b" anchorCtr="0" compatLnSpc="1">
            <a:prstTxWarp prst="textNoShape">
              <a:avLst/>
            </a:prstTxWarp>
          </a:bodyPr>
          <a:lstStyle>
            <a:lvl1pPr algn="r" defTabSz="215900" eaLnBrk="0" hangingPunct="0">
              <a:defRPr sz="300">
                <a:cs typeface="+mn-cs"/>
              </a:defRPr>
            </a:lvl1pPr>
          </a:lstStyle>
          <a:p>
            <a:pPr>
              <a:defRPr/>
            </a:pPr>
            <a:fld id="{7091E005-5387-43DD-859D-A4A22D6635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938174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11E05A-891A-47F9-917A-E50AFADA934F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55825" y="700088"/>
            <a:ext cx="2697163" cy="3489325"/>
          </a:xfrm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1551781" y="2682240"/>
            <a:ext cx="27986038" cy="34869120"/>
          </a:xfrm>
          <a:prstGeom prst="flowChartAlternateProcess">
            <a:avLst/>
          </a:prstGeom>
          <a:noFill/>
          <a:ln w="5715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pic>
        <p:nvPicPr>
          <p:cNvPr id="5" name="Picture 10" descr="gsrc-logo-4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70333" y="33416245"/>
            <a:ext cx="3111659" cy="383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29021" y="8940800"/>
            <a:ext cx="26431558" cy="8493760"/>
          </a:xfrm>
          <a:ln w="9525">
            <a:noFill/>
          </a:ln>
        </p:spPr>
        <p:txBody>
          <a:bodyPr lIns="391900" tIns="195952" rIns="391900" bIns="195952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663440" y="20566173"/>
            <a:ext cx="21762720" cy="1385591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391900" tIns="195952" rIns="391900" bIns="195952" numCol="1" anchor="t" anchorCtr="0" compatLnSpc="1">
            <a:prstTxWarp prst="textNoShape">
              <a:avLst/>
            </a:prstTxWarp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2329021" y="38000734"/>
            <a:ext cx="6478350" cy="1336463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391900" tIns="195952" rIns="391900" bIns="195952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5800" b="0"/>
            </a:lvl1pPr>
          </a:lstStyle>
          <a:p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9850441" y="38000734"/>
            <a:ext cx="6432471" cy="1336463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391900" tIns="195952" rIns="391900" bIns="195952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5800" b="0"/>
            </a:lvl1pPr>
          </a:lstStyle>
          <a:p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7435278" y="38000734"/>
            <a:ext cx="5529739" cy="1336463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391900" tIns="195952" rIns="391900" bIns="195952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5800" b="0"/>
            </a:lvl1pPr>
          </a:lstStyle>
          <a:p>
            <a:fld id="{CD78E6B5-D8B6-4145-8DA6-ABEAFE25A5D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480" y="9387843"/>
            <a:ext cx="27980640" cy="265523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5862" y="25853813"/>
            <a:ext cx="26426160" cy="799084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5862" y="17052713"/>
            <a:ext cx="26426160" cy="88011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54480" y="9387843"/>
            <a:ext cx="13925550" cy="2655231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09570" y="9387843"/>
            <a:ext cx="13925550" cy="2655231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0" y="1611207"/>
            <a:ext cx="27980640" cy="6705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9005994"/>
            <a:ext cx="13736638" cy="375327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54480" y="12759270"/>
            <a:ext cx="13736638" cy="23180887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793086" y="9005994"/>
            <a:ext cx="13742035" cy="375327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793086" y="12759270"/>
            <a:ext cx="13742035" cy="23180887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0" y="1601893"/>
            <a:ext cx="10228263" cy="681736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55170" y="1601893"/>
            <a:ext cx="17379950" cy="3433826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480" y="8419253"/>
            <a:ext cx="10228263" cy="27520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3778" y="28163520"/>
            <a:ext cx="18653760" cy="332486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3778" y="3594947"/>
            <a:ext cx="18653760" cy="241401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3778" y="31488380"/>
            <a:ext cx="18653760" cy="4721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039229" y="1341123"/>
            <a:ext cx="7556500" cy="3459903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9729" y="1341123"/>
            <a:ext cx="22539960" cy="3459903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551" y="228600"/>
            <a:ext cx="30595729" cy="5972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2" y="251460"/>
            <a:ext cx="30632401" cy="7139940"/>
          </a:xfrm>
          <a:prstGeom prst="rect">
            <a:avLst/>
          </a:prstGeom>
          <a:noFill/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0813" tIns="100903" rIns="90813" bIns="10090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26" name="Rectangle 62"/>
          <p:cNvSpPr>
            <a:spLocks noChangeAspect="1" noChangeArrowheads="1"/>
          </p:cNvSpPr>
          <p:nvPr userDrawn="1"/>
        </p:nvSpPr>
        <p:spPr bwMode="auto">
          <a:xfrm>
            <a:off x="228600" y="32156400"/>
            <a:ext cx="10058400" cy="7772400"/>
          </a:xfrm>
          <a:prstGeom prst="rect">
            <a:avLst/>
          </a:prstGeom>
          <a:noFill/>
          <a:ln w="762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27" name="Rectangle 62"/>
          <p:cNvSpPr>
            <a:spLocks noChangeAspect="1" noChangeArrowheads="1"/>
          </p:cNvSpPr>
          <p:nvPr userDrawn="1"/>
        </p:nvSpPr>
        <p:spPr bwMode="auto">
          <a:xfrm>
            <a:off x="10515600" y="32156399"/>
            <a:ext cx="10058400" cy="7772400"/>
          </a:xfrm>
          <a:prstGeom prst="rect">
            <a:avLst/>
          </a:prstGeom>
          <a:noFill/>
          <a:ln w="762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28" name="Rectangle 62"/>
          <p:cNvSpPr>
            <a:spLocks noChangeAspect="1" noChangeArrowheads="1"/>
          </p:cNvSpPr>
          <p:nvPr userDrawn="1"/>
        </p:nvSpPr>
        <p:spPr bwMode="auto">
          <a:xfrm>
            <a:off x="20842357" y="32156399"/>
            <a:ext cx="10058400" cy="7772400"/>
          </a:xfrm>
          <a:prstGeom prst="rect">
            <a:avLst/>
          </a:prstGeom>
          <a:noFill/>
          <a:ln w="762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29" name="Rectangle 62"/>
          <p:cNvSpPr>
            <a:spLocks noChangeAspect="1" noChangeArrowheads="1"/>
          </p:cNvSpPr>
          <p:nvPr userDrawn="1"/>
        </p:nvSpPr>
        <p:spPr bwMode="auto">
          <a:xfrm>
            <a:off x="228600" y="24079201"/>
            <a:ext cx="10058400" cy="7772400"/>
          </a:xfrm>
          <a:prstGeom prst="rect">
            <a:avLst/>
          </a:prstGeom>
          <a:noFill/>
          <a:ln w="762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30" name="Rectangle 62"/>
          <p:cNvSpPr>
            <a:spLocks noChangeAspect="1" noChangeArrowheads="1"/>
          </p:cNvSpPr>
          <p:nvPr userDrawn="1"/>
        </p:nvSpPr>
        <p:spPr bwMode="auto">
          <a:xfrm>
            <a:off x="10515600" y="24079200"/>
            <a:ext cx="10058400" cy="7772400"/>
          </a:xfrm>
          <a:prstGeom prst="rect">
            <a:avLst/>
          </a:prstGeom>
          <a:noFill/>
          <a:ln w="762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31" name="Rectangle 62"/>
          <p:cNvSpPr>
            <a:spLocks noChangeAspect="1" noChangeArrowheads="1"/>
          </p:cNvSpPr>
          <p:nvPr userDrawn="1"/>
        </p:nvSpPr>
        <p:spPr bwMode="auto">
          <a:xfrm>
            <a:off x="20842357" y="24079200"/>
            <a:ext cx="10058400" cy="7772400"/>
          </a:xfrm>
          <a:prstGeom prst="rect">
            <a:avLst/>
          </a:prstGeom>
          <a:noFill/>
          <a:ln w="762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32" name="Rectangle 62"/>
          <p:cNvSpPr>
            <a:spLocks noChangeAspect="1" noChangeArrowheads="1"/>
          </p:cNvSpPr>
          <p:nvPr userDrawn="1"/>
        </p:nvSpPr>
        <p:spPr bwMode="auto">
          <a:xfrm>
            <a:off x="228600" y="16002000"/>
            <a:ext cx="10058400" cy="7772400"/>
          </a:xfrm>
          <a:prstGeom prst="rect">
            <a:avLst/>
          </a:prstGeom>
          <a:noFill/>
          <a:ln w="762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33" name="Rectangle 62"/>
          <p:cNvSpPr>
            <a:spLocks noChangeAspect="1" noChangeArrowheads="1"/>
          </p:cNvSpPr>
          <p:nvPr userDrawn="1"/>
        </p:nvSpPr>
        <p:spPr bwMode="auto">
          <a:xfrm>
            <a:off x="10515600" y="16001999"/>
            <a:ext cx="10058400" cy="7772400"/>
          </a:xfrm>
          <a:prstGeom prst="rect">
            <a:avLst/>
          </a:prstGeom>
          <a:noFill/>
          <a:ln w="762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34" name="Rectangle 62"/>
          <p:cNvSpPr>
            <a:spLocks noChangeAspect="1" noChangeArrowheads="1"/>
          </p:cNvSpPr>
          <p:nvPr userDrawn="1"/>
        </p:nvSpPr>
        <p:spPr bwMode="auto">
          <a:xfrm>
            <a:off x="20842357" y="16001999"/>
            <a:ext cx="10058400" cy="7772400"/>
          </a:xfrm>
          <a:prstGeom prst="rect">
            <a:avLst/>
          </a:prstGeom>
          <a:noFill/>
          <a:ln w="762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35" name="Rectangle 62"/>
          <p:cNvSpPr>
            <a:spLocks noChangeAspect="1" noChangeArrowheads="1"/>
          </p:cNvSpPr>
          <p:nvPr userDrawn="1"/>
        </p:nvSpPr>
        <p:spPr bwMode="auto">
          <a:xfrm>
            <a:off x="228600" y="7848600"/>
            <a:ext cx="10058400" cy="7772400"/>
          </a:xfrm>
          <a:prstGeom prst="rect">
            <a:avLst/>
          </a:prstGeom>
          <a:noFill/>
          <a:ln w="762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36" name="Rectangle 62"/>
          <p:cNvSpPr>
            <a:spLocks noChangeAspect="1" noChangeArrowheads="1"/>
          </p:cNvSpPr>
          <p:nvPr userDrawn="1"/>
        </p:nvSpPr>
        <p:spPr bwMode="auto">
          <a:xfrm>
            <a:off x="10515600" y="7848599"/>
            <a:ext cx="10058400" cy="7772400"/>
          </a:xfrm>
          <a:prstGeom prst="rect">
            <a:avLst/>
          </a:prstGeom>
          <a:noFill/>
          <a:ln w="762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37" name="Rectangle 62"/>
          <p:cNvSpPr>
            <a:spLocks noChangeAspect="1" noChangeArrowheads="1"/>
          </p:cNvSpPr>
          <p:nvPr userDrawn="1"/>
        </p:nvSpPr>
        <p:spPr bwMode="auto">
          <a:xfrm>
            <a:off x="20842357" y="7848599"/>
            <a:ext cx="10058400" cy="7772400"/>
          </a:xfrm>
          <a:prstGeom prst="rect">
            <a:avLst/>
          </a:prstGeom>
          <a:noFill/>
          <a:ln w="762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4" r:id="rId13"/>
  </p:sldLayoutIdLst>
  <p:txStyles>
    <p:titleStyle>
      <a:lvl1pPr algn="ctr" defTabSz="3917950" rtl="0" eaLnBrk="0" fontAlgn="base" hangingPunct="0">
        <a:spcBef>
          <a:spcPct val="0"/>
        </a:spcBef>
        <a:spcAft>
          <a:spcPct val="0"/>
        </a:spcAft>
        <a:defRPr sz="13800" b="1">
          <a:solidFill>
            <a:srgbClr val="FF0000"/>
          </a:solidFill>
          <a:latin typeface="+mj-lt"/>
          <a:ea typeface="+mj-ea"/>
          <a:cs typeface="+mj-cs"/>
        </a:defRPr>
      </a:lvl1pPr>
      <a:lvl2pPr algn="ctr" defTabSz="3917950" rtl="0" eaLnBrk="0" fontAlgn="base" hangingPunct="0">
        <a:spcBef>
          <a:spcPct val="0"/>
        </a:spcBef>
        <a:spcAft>
          <a:spcPct val="0"/>
        </a:spcAft>
        <a:defRPr sz="13800" b="1">
          <a:solidFill>
            <a:srgbClr val="FF0000"/>
          </a:solidFill>
          <a:latin typeface="Arial" pitchFamily="34" charset="0"/>
        </a:defRPr>
      </a:lvl2pPr>
      <a:lvl3pPr algn="ctr" defTabSz="3917950" rtl="0" eaLnBrk="0" fontAlgn="base" hangingPunct="0">
        <a:spcBef>
          <a:spcPct val="0"/>
        </a:spcBef>
        <a:spcAft>
          <a:spcPct val="0"/>
        </a:spcAft>
        <a:defRPr sz="13800" b="1">
          <a:solidFill>
            <a:srgbClr val="FF0000"/>
          </a:solidFill>
          <a:latin typeface="Arial" pitchFamily="34" charset="0"/>
        </a:defRPr>
      </a:lvl3pPr>
      <a:lvl4pPr algn="ctr" defTabSz="3917950" rtl="0" eaLnBrk="0" fontAlgn="base" hangingPunct="0">
        <a:spcBef>
          <a:spcPct val="0"/>
        </a:spcBef>
        <a:spcAft>
          <a:spcPct val="0"/>
        </a:spcAft>
        <a:defRPr sz="13800" b="1">
          <a:solidFill>
            <a:srgbClr val="FF0000"/>
          </a:solidFill>
          <a:latin typeface="Arial" pitchFamily="34" charset="0"/>
        </a:defRPr>
      </a:lvl4pPr>
      <a:lvl5pPr algn="ctr" defTabSz="3917950" rtl="0" eaLnBrk="0" fontAlgn="base" hangingPunct="0">
        <a:spcBef>
          <a:spcPct val="0"/>
        </a:spcBef>
        <a:spcAft>
          <a:spcPct val="0"/>
        </a:spcAft>
        <a:defRPr sz="13800" b="1">
          <a:solidFill>
            <a:srgbClr val="FF0000"/>
          </a:solidFill>
          <a:latin typeface="Arial" pitchFamily="34" charset="0"/>
        </a:defRPr>
      </a:lvl5pPr>
      <a:lvl6pPr marL="457200" algn="ctr" defTabSz="3917950" rtl="0" eaLnBrk="0" fontAlgn="base" hangingPunct="0">
        <a:spcBef>
          <a:spcPct val="0"/>
        </a:spcBef>
        <a:spcAft>
          <a:spcPct val="0"/>
        </a:spcAft>
        <a:defRPr sz="13800" b="1">
          <a:solidFill>
            <a:srgbClr val="FF0000"/>
          </a:solidFill>
          <a:latin typeface="Arial" pitchFamily="34" charset="0"/>
        </a:defRPr>
      </a:lvl6pPr>
      <a:lvl7pPr marL="914400" algn="ctr" defTabSz="3917950" rtl="0" eaLnBrk="0" fontAlgn="base" hangingPunct="0">
        <a:spcBef>
          <a:spcPct val="0"/>
        </a:spcBef>
        <a:spcAft>
          <a:spcPct val="0"/>
        </a:spcAft>
        <a:defRPr sz="13800" b="1">
          <a:solidFill>
            <a:srgbClr val="FF0000"/>
          </a:solidFill>
          <a:latin typeface="Arial" pitchFamily="34" charset="0"/>
        </a:defRPr>
      </a:lvl7pPr>
      <a:lvl8pPr marL="1371600" algn="ctr" defTabSz="3917950" rtl="0" eaLnBrk="0" fontAlgn="base" hangingPunct="0">
        <a:spcBef>
          <a:spcPct val="0"/>
        </a:spcBef>
        <a:spcAft>
          <a:spcPct val="0"/>
        </a:spcAft>
        <a:defRPr sz="13800" b="1">
          <a:solidFill>
            <a:srgbClr val="FF0000"/>
          </a:solidFill>
          <a:latin typeface="Arial" pitchFamily="34" charset="0"/>
        </a:defRPr>
      </a:lvl8pPr>
      <a:lvl9pPr marL="1828800" algn="ctr" defTabSz="3917950" rtl="0" eaLnBrk="0" fontAlgn="base" hangingPunct="0">
        <a:spcBef>
          <a:spcPct val="0"/>
        </a:spcBef>
        <a:spcAft>
          <a:spcPct val="0"/>
        </a:spcAft>
        <a:defRPr sz="13800" b="1">
          <a:solidFill>
            <a:srgbClr val="FF0000"/>
          </a:solidFill>
          <a:latin typeface="Arial" pitchFamily="34" charset="0"/>
        </a:defRPr>
      </a:lvl9pPr>
    </p:titleStyle>
    <p:bodyStyle>
      <a:lvl1pPr marL="1471613" indent="-1471613" algn="l" defTabSz="3917950" rtl="0" eaLnBrk="0" fontAlgn="base" hangingPunct="0">
        <a:spcBef>
          <a:spcPct val="20000"/>
        </a:spcBef>
        <a:spcAft>
          <a:spcPct val="0"/>
        </a:spcAft>
        <a:buChar char="•"/>
        <a:defRPr sz="13400">
          <a:solidFill>
            <a:schemeClr val="tx1"/>
          </a:solidFill>
          <a:latin typeface="+mn-lt"/>
          <a:ea typeface="+mn-ea"/>
          <a:cs typeface="+mn-cs"/>
        </a:defRPr>
      </a:lvl1pPr>
      <a:lvl2pPr marL="3187700" indent="-1225550" algn="l" defTabSz="3917950" rtl="0" eaLnBrk="0" fontAlgn="base" hangingPunct="0">
        <a:spcBef>
          <a:spcPct val="20000"/>
        </a:spcBef>
        <a:spcAft>
          <a:spcPct val="0"/>
        </a:spcAft>
        <a:buChar char="–"/>
        <a:defRPr sz="11900">
          <a:solidFill>
            <a:schemeClr val="tx1"/>
          </a:solidFill>
          <a:latin typeface="+mn-lt"/>
        </a:defRPr>
      </a:lvl2pPr>
      <a:lvl3pPr marL="4899025" indent="-981075" algn="l" defTabSz="3917950" rtl="0" eaLnBrk="0" fontAlgn="base" hangingPunct="0">
        <a:spcBef>
          <a:spcPct val="20000"/>
        </a:spcBef>
        <a:spcAft>
          <a:spcPct val="0"/>
        </a:spcAft>
        <a:buChar char="•"/>
        <a:defRPr sz="10400">
          <a:solidFill>
            <a:schemeClr val="tx1"/>
          </a:solidFill>
          <a:latin typeface="+mn-lt"/>
        </a:defRPr>
      </a:lvl3pPr>
      <a:lvl4pPr marL="6859588" indent="-981075" algn="l" defTabSz="3917950" rtl="0" eaLnBrk="0" fontAlgn="base" hangingPunct="0">
        <a:spcBef>
          <a:spcPct val="20000"/>
        </a:spcBef>
        <a:spcAft>
          <a:spcPct val="0"/>
        </a:spcAft>
        <a:buChar char="–"/>
        <a:defRPr sz="8500">
          <a:solidFill>
            <a:schemeClr val="tx1"/>
          </a:solidFill>
          <a:latin typeface="+mn-lt"/>
        </a:defRPr>
      </a:lvl4pPr>
      <a:lvl5pPr marL="8821738" indent="-981075" algn="l" defTabSz="3917950" rtl="0" eaLnBrk="0" fontAlgn="base" hangingPunct="0">
        <a:spcBef>
          <a:spcPct val="20000"/>
        </a:spcBef>
        <a:spcAft>
          <a:spcPct val="0"/>
        </a:spcAft>
        <a:buChar char="»"/>
        <a:defRPr sz="8500">
          <a:solidFill>
            <a:schemeClr val="tx1"/>
          </a:solidFill>
          <a:latin typeface="+mn-lt"/>
        </a:defRPr>
      </a:lvl5pPr>
      <a:lvl6pPr marL="9278938" indent="-981075" algn="l" defTabSz="3917950" rtl="0" eaLnBrk="0" fontAlgn="base" hangingPunct="0">
        <a:spcBef>
          <a:spcPct val="20000"/>
        </a:spcBef>
        <a:spcAft>
          <a:spcPct val="0"/>
        </a:spcAft>
        <a:buChar char="»"/>
        <a:defRPr sz="8500">
          <a:solidFill>
            <a:schemeClr val="tx1"/>
          </a:solidFill>
          <a:latin typeface="+mn-lt"/>
        </a:defRPr>
      </a:lvl6pPr>
      <a:lvl7pPr marL="9736138" indent="-981075" algn="l" defTabSz="3917950" rtl="0" eaLnBrk="0" fontAlgn="base" hangingPunct="0">
        <a:spcBef>
          <a:spcPct val="20000"/>
        </a:spcBef>
        <a:spcAft>
          <a:spcPct val="0"/>
        </a:spcAft>
        <a:buChar char="»"/>
        <a:defRPr sz="8500">
          <a:solidFill>
            <a:schemeClr val="tx1"/>
          </a:solidFill>
          <a:latin typeface="+mn-lt"/>
        </a:defRPr>
      </a:lvl7pPr>
      <a:lvl8pPr marL="10193338" indent="-981075" algn="l" defTabSz="3917950" rtl="0" eaLnBrk="0" fontAlgn="base" hangingPunct="0">
        <a:spcBef>
          <a:spcPct val="20000"/>
        </a:spcBef>
        <a:spcAft>
          <a:spcPct val="0"/>
        </a:spcAft>
        <a:buChar char="»"/>
        <a:defRPr sz="8500">
          <a:solidFill>
            <a:schemeClr val="tx1"/>
          </a:solidFill>
          <a:latin typeface="+mn-lt"/>
        </a:defRPr>
      </a:lvl8pPr>
      <a:lvl9pPr marL="10650538" indent="-981075" algn="l" defTabSz="3917950" rtl="0" eaLnBrk="0" fontAlgn="base" hangingPunct="0">
        <a:spcBef>
          <a:spcPct val="20000"/>
        </a:spcBef>
        <a:spcAft>
          <a:spcPct val="0"/>
        </a:spcAft>
        <a:buChar char="»"/>
        <a:defRPr sz="8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Office_PowerPoint_Slide3.sldx"/><Relationship Id="rId13" Type="http://schemas.openxmlformats.org/officeDocument/2006/relationships/package" Target="../embeddings/Microsoft_Office_PowerPoint_Slide8.sldx"/><Relationship Id="rId3" Type="http://schemas.openxmlformats.org/officeDocument/2006/relationships/notesSlide" Target="../notesSlides/notesSlide1.xml"/><Relationship Id="rId7" Type="http://schemas.openxmlformats.org/officeDocument/2006/relationships/package" Target="../embeddings/Microsoft_Office_PowerPoint_Slide2.sldx"/><Relationship Id="rId12" Type="http://schemas.openxmlformats.org/officeDocument/2006/relationships/package" Target="../embeddings/Microsoft_Office_PowerPoint_Slide7.sldx"/><Relationship Id="rId17" Type="http://schemas.openxmlformats.org/officeDocument/2006/relationships/image" Target="../media/image15.e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4.emf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Office_PowerPoint_Slide1.sldx"/><Relationship Id="rId11" Type="http://schemas.openxmlformats.org/officeDocument/2006/relationships/package" Target="../embeddings/Microsoft_Office_PowerPoint_Slide6.sldx"/><Relationship Id="rId5" Type="http://schemas.openxmlformats.org/officeDocument/2006/relationships/image" Target="../media/image13.jpeg"/><Relationship Id="rId15" Type="http://schemas.openxmlformats.org/officeDocument/2006/relationships/package" Target="../embeddings/Microsoft_Office_PowerPoint_Slide10.sldx"/><Relationship Id="rId10" Type="http://schemas.openxmlformats.org/officeDocument/2006/relationships/package" Target="../embeddings/Microsoft_Office_PowerPoint_Slide5.sldx"/><Relationship Id="rId4" Type="http://schemas.openxmlformats.org/officeDocument/2006/relationships/image" Target="../media/image12.png"/><Relationship Id="rId9" Type="http://schemas.openxmlformats.org/officeDocument/2006/relationships/package" Target="../embeddings/Microsoft_Office_PowerPoint_Slide4.sldx"/><Relationship Id="rId14" Type="http://schemas.openxmlformats.org/officeDocument/2006/relationships/package" Target="../embeddings/Microsoft_Office_PowerPoint_Slide9.sld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Picture 24" descr="Logo Center UCONN-281.tif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8620" y="3799842"/>
            <a:ext cx="2887980" cy="3534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9" name="Picture 25" descr="primarylogo_fixed.jpg"/>
          <p:cNvPicPr>
            <a:picLocks noChangeAspect="1"/>
          </p:cNvPicPr>
          <p:nvPr/>
        </p:nvPicPr>
        <p:blipFill>
          <a:blip r:embed="rId5" cstate="print"/>
          <a:srcRect l="7201"/>
          <a:stretch>
            <a:fillRect/>
          </a:stretch>
        </p:blipFill>
        <p:spPr bwMode="auto">
          <a:xfrm>
            <a:off x="27279600" y="3392383"/>
            <a:ext cx="3379550" cy="4062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1" name="Rectangle 200"/>
          <p:cNvSpPr>
            <a:spLocks noGrp="1" noChangeArrowheads="1"/>
          </p:cNvSpPr>
          <p:nvPr>
            <p:ph type="title"/>
          </p:nvPr>
        </p:nvSpPr>
        <p:spPr>
          <a:xfrm>
            <a:off x="228600" y="558800"/>
            <a:ext cx="30632400" cy="6756400"/>
          </a:xfrm>
        </p:spPr>
        <p:txBody>
          <a:bodyPr/>
          <a:lstStyle/>
          <a:p>
            <a:pPr>
              <a:spcBef>
                <a:spcPts val="1800"/>
              </a:spcBef>
              <a:spcAft>
                <a:spcPts val="0"/>
              </a:spcAft>
            </a:pPr>
            <a:r>
              <a:rPr lang="en-US" sz="7600" dirty="0" smtClean="0"/>
              <a:t>Bioinformatics Tools for Viral </a:t>
            </a:r>
            <a:r>
              <a:rPr lang="en-US" sz="7600" dirty="0" err="1" smtClean="0"/>
              <a:t>Quasispecies</a:t>
            </a:r>
            <a:r>
              <a:rPr lang="en-US" sz="7600" dirty="0" smtClean="0"/>
              <a:t> Reconstruction from Next-Generation Sequencing Data and Vaccine Optimization</a:t>
            </a:r>
            <a:r>
              <a:rPr lang="en-US" sz="7600" dirty="0" smtClean="0">
                <a:cs typeface="Arial" pitchFamily="34" charset="0"/>
              </a:rPr>
              <a:t> </a:t>
            </a:r>
            <a:r>
              <a:rPr lang="en-US" sz="8000" dirty="0" smtClean="0">
                <a:cs typeface="Arial" pitchFamily="34" charset="0"/>
              </a:rPr>
              <a:t/>
            </a:r>
            <a:br>
              <a:rPr lang="en-US" sz="8000" dirty="0" smtClean="0">
                <a:cs typeface="Arial" pitchFamily="34" charset="0"/>
              </a:rPr>
            </a:br>
            <a:r>
              <a:rPr lang="en-US" sz="4400" dirty="0" smtClean="0">
                <a:cs typeface="Arial" pitchFamily="34" charset="0"/>
              </a:rPr>
              <a:t/>
            </a:r>
            <a:br>
              <a:rPr lang="en-US" sz="4400" dirty="0" smtClean="0">
                <a:cs typeface="Arial" pitchFamily="34" charset="0"/>
              </a:rPr>
            </a:br>
            <a:r>
              <a:rPr lang="en-US" sz="4400" dirty="0" smtClean="0">
                <a:solidFill>
                  <a:srgbClr val="002060"/>
                </a:solidFill>
              </a:rPr>
              <a:t>University of Connecticut: Ion </a:t>
            </a:r>
            <a:r>
              <a:rPr lang="en-US" sz="4400" dirty="0" err="1" smtClean="0">
                <a:solidFill>
                  <a:srgbClr val="002060"/>
                </a:solidFill>
              </a:rPr>
              <a:t>Mandoiu</a:t>
            </a:r>
            <a:r>
              <a:rPr lang="en-US" sz="4400" dirty="0" smtClean="0">
                <a:solidFill>
                  <a:srgbClr val="002060"/>
                </a:solidFill>
              </a:rPr>
              <a:t> (PI), </a:t>
            </a:r>
            <a:r>
              <a:rPr lang="en-US" sz="4400" dirty="0" err="1" smtClean="0">
                <a:solidFill>
                  <a:srgbClr val="002060"/>
                </a:solidFill>
              </a:rPr>
              <a:t>Mazhar</a:t>
            </a:r>
            <a:r>
              <a:rPr lang="en-US" sz="4400" dirty="0" smtClean="0">
                <a:solidFill>
                  <a:srgbClr val="002060"/>
                </a:solidFill>
              </a:rPr>
              <a:t> Khan, Rachel O’Neill (Co-PIs), </a:t>
            </a:r>
            <a:br>
              <a:rPr lang="en-US" sz="4400" dirty="0" smtClean="0">
                <a:solidFill>
                  <a:srgbClr val="002060"/>
                </a:solidFill>
              </a:rPr>
            </a:br>
            <a:r>
              <a:rPr lang="en-US" sz="4400" dirty="0" smtClean="0">
                <a:solidFill>
                  <a:srgbClr val="002060"/>
                </a:solidFill>
              </a:rPr>
              <a:t>Craig </a:t>
            </a:r>
            <a:r>
              <a:rPr lang="en-US" sz="4400" dirty="0" err="1" smtClean="0">
                <a:solidFill>
                  <a:srgbClr val="002060"/>
                </a:solidFill>
              </a:rPr>
              <a:t>Obergfell</a:t>
            </a:r>
            <a:r>
              <a:rPr lang="en-US" sz="4400" dirty="0" smtClean="0">
                <a:solidFill>
                  <a:srgbClr val="002060"/>
                </a:solidFill>
              </a:rPr>
              <a:t>, </a:t>
            </a:r>
            <a:r>
              <a:rPr lang="en-US" sz="4400" dirty="0" err="1" smtClean="0">
                <a:solidFill>
                  <a:srgbClr val="002060"/>
                </a:solidFill>
              </a:rPr>
              <a:t>Hongjun</a:t>
            </a:r>
            <a:r>
              <a:rPr lang="en-US" sz="4400" dirty="0" smtClean="0">
                <a:solidFill>
                  <a:srgbClr val="002060"/>
                </a:solidFill>
              </a:rPr>
              <a:t> Wang, Andrew Bligh</a:t>
            </a:r>
            <a:br>
              <a:rPr lang="en-US" sz="4400" dirty="0" smtClean="0">
                <a:solidFill>
                  <a:srgbClr val="002060"/>
                </a:solidFill>
              </a:rPr>
            </a:br>
            <a:r>
              <a:rPr lang="en-US" sz="4400" dirty="0" smtClean="0">
                <a:solidFill>
                  <a:srgbClr val="002060"/>
                </a:solidFill>
              </a:rPr>
              <a:t/>
            </a:r>
            <a:br>
              <a:rPr lang="en-US" sz="4400" dirty="0" smtClean="0">
                <a:solidFill>
                  <a:srgbClr val="002060"/>
                </a:solidFill>
              </a:rPr>
            </a:br>
            <a:r>
              <a:rPr lang="en-US" sz="4400" dirty="0" smtClean="0">
                <a:solidFill>
                  <a:srgbClr val="002060"/>
                </a:solidFill>
              </a:rPr>
              <a:t>Georgia State University: Alexander </a:t>
            </a:r>
            <a:r>
              <a:rPr lang="en-US" sz="4400" dirty="0" err="1" smtClean="0">
                <a:solidFill>
                  <a:srgbClr val="002060"/>
                </a:solidFill>
              </a:rPr>
              <a:t>Zelikovsky</a:t>
            </a:r>
            <a:r>
              <a:rPr lang="en-US" sz="4400" dirty="0" smtClean="0">
                <a:solidFill>
                  <a:srgbClr val="002060"/>
                </a:solidFill>
              </a:rPr>
              <a:t> (Co-PI), </a:t>
            </a:r>
            <a:r>
              <a:rPr lang="en-US" sz="4400" dirty="0" err="1" smtClean="0">
                <a:solidFill>
                  <a:srgbClr val="002060"/>
                </a:solidFill>
              </a:rPr>
              <a:t>Bassam</a:t>
            </a:r>
            <a:r>
              <a:rPr lang="en-US" sz="4400" dirty="0" smtClean="0">
                <a:solidFill>
                  <a:srgbClr val="002060"/>
                </a:solidFill>
              </a:rPr>
              <a:t> </a:t>
            </a:r>
            <a:r>
              <a:rPr lang="en-US" sz="4400" dirty="0" err="1" smtClean="0">
                <a:solidFill>
                  <a:srgbClr val="002060"/>
                </a:solidFill>
              </a:rPr>
              <a:t>Tork</a:t>
            </a:r>
            <a:r>
              <a:rPr lang="en-US" sz="4400" dirty="0" smtClean="0">
                <a:solidFill>
                  <a:srgbClr val="002060"/>
                </a:solidFill>
              </a:rPr>
              <a:t>, Nicholas Mancuso</a:t>
            </a:r>
            <a:endParaRPr lang="en-US" sz="4000" dirty="0" smtClean="0">
              <a:solidFill>
                <a:srgbClr val="002060"/>
              </a:solidFill>
              <a:cs typeface="Arial" pitchFamily="34" charset="0"/>
            </a:endParaRPr>
          </a:p>
        </p:txBody>
      </p:sp>
      <p:graphicFrame>
        <p:nvGraphicFramePr>
          <p:cNvPr id="1050" name="Object 26"/>
          <p:cNvGraphicFramePr>
            <a:graphicFrameLocks noChangeAspect="1"/>
          </p:cNvGraphicFramePr>
          <p:nvPr/>
        </p:nvGraphicFramePr>
        <p:xfrm>
          <a:off x="10668000" y="8153400"/>
          <a:ext cx="9856341" cy="7391400"/>
        </p:xfrm>
        <a:graphic>
          <a:graphicData uri="http://schemas.openxmlformats.org/presentationml/2006/ole">
            <p:oleObj spid="_x0000_s1096" name="Slide" r:id="rId6" imgW="4570465" imgH="3427468" progId="PowerPoint.Slide.12">
              <p:embed/>
            </p:oleObj>
          </a:graphicData>
        </a:graphic>
      </p:graphicFrame>
      <p:graphicFrame>
        <p:nvGraphicFramePr>
          <p:cNvPr id="1051" name="Object 27"/>
          <p:cNvGraphicFramePr>
            <a:graphicFrameLocks noChangeAspect="1"/>
          </p:cNvGraphicFramePr>
          <p:nvPr/>
        </p:nvGraphicFramePr>
        <p:xfrm>
          <a:off x="304800" y="7924800"/>
          <a:ext cx="9828213" cy="7370307"/>
        </p:xfrm>
        <a:graphic>
          <a:graphicData uri="http://schemas.openxmlformats.org/presentationml/2006/ole">
            <p:oleObj spid="_x0000_s1097" name="Slide" r:id="rId7" imgW="4570465" imgH="3427468" progId="PowerPoint.Slide.12">
              <p:embed/>
            </p:oleObj>
          </a:graphicData>
        </a:graphic>
      </p:graphicFrame>
      <p:graphicFrame>
        <p:nvGraphicFramePr>
          <p:cNvPr id="1053" name="Object 29"/>
          <p:cNvGraphicFramePr>
            <a:graphicFrameLocks noChangeAspect="1"/>
          </p:cNvGraphicFramePr>
          <p:nvPr/>
        </p:nvGraphicFramePr>
        <p:xfrm>
          <a:off x="381000" y="16230600"/>
          <a:ext cx="9856341" cy="7391400"/>
        </p:xfrm>
        <a:graphic>
          <a:graphicData uri="http://schemas.openxmlformats.org/presentationml/2006/ole">
            <p:oleObj spid="_x0000_s1098" name="Slide" r:id="rId8" imgW="4570465" imgH="3427468" progId="PowerPoint.Slide.12">
              <p:embed/>
            </p:oleObj>
          </a:graphicData>
        </a:graphic>
      </p:graphicFrame>
      <p:graphicFrame>
        <p:nvGraphicFramePr>
          <p:cNvPr id="1055" name="Object 31"/>
          <p:cNvGraphicFramePr>
            <a:graphicFrameLocks noChangeAspect="1"/>
          </p:cNvGraphicFramePr>
          <p:nvPr/>
        </p:nvGraphicFramePr>
        <p:xfrm>
          <a:off x="21031200" y="16154400"/>
          <a:ext cx="9754729" cy="7315200"/>
        </p:xfrm>
        <a:graphic>
          <a:graphicData uri="http://schemas.openxmlformats.org/presentationml/2006/ole">
            <p:oleObj spid="_x0000_s1099" name="Slide" r:id="rId9" imgW="4570465" imgH="3427468" progId="PowerPoint.Slide.12">
              <p:embed/>
            </p:oleObj>
          </a:graphicData>
        </a:graphic>
      </p:graphicFrame>
      <p:graphicFrame>
        <p:nvGraphicFramePr>
          <p:cNvPr id="1059" name="Object 35"/>
          <p:cNvGraphicFramePr>
            <a:graphicFrameLocks noChangeAspect="1"/>
          </p:cNvGraphicFramePr>
          <p:nvPr/>
        </p:nvGraphicFramePr>
        <p:xfrm>
          <a:off x="609600" y="24307800"/>
          <a:ext cx="9449894" cy="7086600"/>
        </p:xfrm>
        <a:graphic>
          <a:graphicData uri="http://schemas.openxmlformats.org/presentationml/2006/ole">
            <p:oleObj spid="_x0000_s1100" name="Slide" r:id="rId10" imgW="4570465" imgH="3427468" progId="PowerPoint.Slide.12">
              <p:embed/>
            </p:oleObj>
          </a:graphicData>
        </a:graphic>
      </p:graphicFrame>
      <p:graphicFrame>
        <p:nvGraphicFramePr>
          <p:cNvPr id="1060" name="Object 36"/>
          <p:cNvGraphicFramePr>
            <a:graphicFrameLocks noChangeAspect="1"/>
          </p:cNvGraphicFramePr>
          <p:nvPr/>
        </p:nvGraphicFramePr>
        <p:xfrm>
          <a:off x="20955000" y="8001000"/>
          <a:ext cx="9754729" cy="7315200"/>
        </p:xfrm>
        <a:graphic>
          <a:graphicData uri="http://schemas.openxmlformats.org/presentationml/2006/ole">
            <p:oleObj spid="_x0000_s1101" name="Slide" r:id="rId11" imgW="4570465" imgH="3427468" progId="PowerPoint.Slide.12">
              <p:embed/>
            </p:oleObj>
          </a:graphicData>
        </a:graphic>
      </p:graphicFrame>
      <p:graphicFrame>
        <p:nvGraphicFramePr>
          <p:cNvPr id="1062" name="Object 38"/>
          <p:cNvGraphicFramePr>
            <a:graphicFrameLocks noChangeAspect="1"/>
          </p:cNvGraphicFramePr>
          <p:nvPr/>
        </p:nvGraphicFramePr>
        <p:xfrm>
          <a:off x="10668000" y="16154400"/>
          <a:ext cx="9753600" cy="7314353"/>
        </p:xfrm>
        <a:graphic>
          <a:graphicData uri="http://schemas.openxmlformats.org/presentationml/2006/ole">
            <p:oleObj spid="_x0000_s1102" name="Slide" r:id="rId12" imgW="4570465" imgH="3427468" progId="PowerPoint.Slide.12">
              <p:embed/>
            </p:oleObj>
          </a:graphicData>
        </a:graphic>
      </p:graphicFrame>
      <p:graphicFrame>
        <p:nvGraphicFramePr>
          <p:cNvPr id="1063" name="Object 39"/>
          <p:cNvGraphicFramePr>
            <a:graphicFrameLocks noChangeAspect="1"/>
          </p:cNvGraphicFramePr>
          <p:nvPr/>
        </p:nvGraphicFramePr>
        <p:xfrm>
          <a:off x="10641459" y="24460200"/>
          <a:ext cx="9856341" cy="7391400"/>
        </p:xfrm>
        <a:graphic>
          <a:graphicData uri="http://schemas.openxmlformats.org/presentationml/2006/ole">
            <p:oleObj spid="_x0000_s1103" name="Slide" r:id="rId13" imgW="4570465" imgH="3427468" progId="PowerPoint.Slide.12">
              <p:embed/>
            </p:oleObj>
          </a:graphicData>
        </a:graphic>
      </p:graphicFrame>
      <p:graphicFrame>
        <p:nvGraphicFramePr>
          <p:cNvPr id="1065" name="Object 41"/>
          <p:cNvGraphicFramePr>
            <a:graphicFrameLocks noChangeAspect="1"/>
          </p:cNvGraphicFramePr>
          <p:nvPr/>
        </p:nvGraphicFramePr>
        <p:xfrm>
          <a:off x="21031200" y="24384000"/>
          <a:ext cx="9653117" cy="7239000"/>
        </p:xfrm>
        <a:graphic>
          <a:graphicData uri="http://schemas.openxmlformats.org/presentationml/2006/ole">
            <p:oleObj spid="_x0000_s1104" name="Slide" r:id="rId14" imgW="4570465" imgH="3427468" progId="PowerPoint.Slide.12">
              <p:embed/>
            </p:oleObj>
          </a:graphicData>
        </a:graphic>
      </p:graphicFrame>
      <p:graphicFrame>
        <p:nvGraphicFramePr>
          <p:cNvPr id="1066" name="Object 42"/>
          <p:cNvGraphicFramePr>
            <a:graphicFrameLocks noChangeAspect="1"/>
          </p:cNvGraphicFramePr>
          <p:nvPr/>
        </p:nvGraphicFramePr>
        <p:xfrm>
          <a:off x="21031200" y="32308800"/>
          <a:ext cx="9551506" cy="7162800"/>
        </p:xfrm>
        <a:graphic>
          <a:graphicData uri="http://schemas.openxmlformats.org/presentationml/2006/ole">
            <p:oleObj spid="_x0000_s1105" name="Slide" r:id="rId15" imgW="4570465" imgH="3427468" progId="PowerPoint.Slide.12">
              <p:embed/>
            </p:oleObj>
          </a:graphicData>
        </a:graphic>
      </p:graphicFrame>
      <p:pic>
        <p:nvPicPr>
          <p:cNvPr id="1094" name="Picture 70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4800" y="32385000"/>
            <a:ext cx="9957953" cy="746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95" name="Picture 71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668001" y="32385000"/>
            <a:ext cx="975473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54864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0965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54864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0965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7889</TotalTime>
  <Words>14</Words>
  <Application>Microsoft Office PowerPoint</Application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Default Design</vt:lpstr>
      <vt:lpstr>Slide</vt:lpstr>
      <vt:lpstr>Bioinformatics Tools for Viral Quasispecies Reconstruction from Next-Generation Sequencing Data and Vaccine Optimization   University of Connecticut: Ion Mandoiu (PI), Mazhar Khan, Rachel O’Neill (Co-PIs),  Craig Obergfell, Hongjun Wang, Andrew Bligh  Georgia State University: Alexander Zelikovsky (Co-PI), Bassam Tork, Nicholas Mancuso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Floorplan Evaluation with Timing-Driven Global Wireplanning, Pin Assignment, and Buffer/Wire Sizing</dc:title>
  <dc:creator>Ion Mandoiu</dc:creator>
  <cp:lastModifiedBy>Ion Mandoiu</cp:lastModifiedBy>
  <cp:revision>139</cp:revision>
  <cp:lastPrinted>2000-01-07T18:18:28Z</cp:lastPrinted>
  <dcterms:created xsi:type="dcterms:W3CDTF">1999-01-27T07:25:34Z</dcterms:created>
  <dcterms:modified xsi:type="dcterms:W3CDTF">2012-01-18T18:46:14Z</dcterms:modified>
</cp:coreProperties>
</file>