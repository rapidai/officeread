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8" r:id="rId1"/>
  </p:sldMasterIdLst>
  <p:notesMasterIdLst>
    <p:notesMasterId r:id="rId37"/>
  </p:notesMasterIdLst>
  <p:handoutMasterIdLst>
    <p:handoutMasterId r:id="rId38"/>
  </p:handoutMasterIdLst>
  <p:sldIdLst>
    <p:sldId id="521" r:id="rId2"/>
    <p:sldId id="529" r:id="rId3"/>
    <p:sldId id="616" r:id="rId4"/>
    <p:sldId id="530" r:id="rId5"/>
    <p:sldId id="675" r:id="rId6"/>
    <p:sldId id="679" r:id="rId7"/>
    <p:sldId id="680" r:id="rId8"/>
    <p:sldId id="681" r:id="rId9"/>
    <p:sldId id="656" r:id="rId10"/>
    <p:sldId id="544" r:id="rId11"/>
    <p:sldId id="549" r:id="rId12"/>
    <p:sldId id="550" r:id="rId13"/>
    <p:sldId id="596" r:id="rId14"/>
    <p:sldId id="604" r:id="rId15"/>
    <p:sldId id="612" r:id="rId16"/>
    <p:sldId id="703" r:id="rId17"/>
    <p:sldId id="618" r:id="rId18"/>
    <p:sldId id="661" r:id="rId19"/>
    <p:sldId id="698" r:id="rId20"/>
    <p:sldId id="632" r:id="rId21"/>
    <p:sldId id="617" r:id="rId22"/>
    <p:sldId id="628" r:id="rId23"/>
    <p:sldId id="662" r:id="rId24"/>
    <p:sldId id="682" r:id="rId25"/>
    <p:sldId id="619" r:id="rId26"/>
    <p:sldId id="700" r:id="rId27"/>
    <p:sldId id="694" r:id="rId28"/>
    <p:sldId id="695" r:id="rId29"/>
    <p:sldId id="699" r:id="rId30"/>
    <p:sldId id="629" r:id="rId31"/>
    <p:sldId id="631" r:id="rId32"/>
    <p:sldId id="630" r:id="rId33"/>
    <p:sldId id="702" r:id="rId34"/>
    <p:sldId id="607" r:id="rId35"/>
    <p:sldId id="701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8000"/>
    <a:srgbClr val="FF0000"/>
    <a:srgbClr val="EAEAEA"/>
    <a:srgbClr val="80008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12" autoAdjust="0"/>
    <p:restoredTop sz="94660"/>
  </p:normalViewPr>
  <p:slideViewPr>
    <p:cSldViewPr snapToGrid="0">
      <p:cViewPr>
        <p:scale>
          <a:sx n="66" d="100"/>
          <a:sy n="66" d="100"/>
        </p:scale>
        <p:origin x="-1314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1843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C34109B-5221-4E93-8DE6-FBDD7DCA9B31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563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6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D5FA66-99FB-473D-9F5D-DD9E14161DFE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7357D25-DC2D-4EFA-827F-CA87F50827FF}" type="datetime1">
              <a:rPr lang="en-US" smtClean="0"/>
              <a:pPr/>
              <a:t>6/13/2010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9F1B11-1974-4C4B-B99B-4DF821801DA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0BE0FB-7F0E-4536-A445-ECA771BF462C}" type="datetime1">
              <a:rPr lang="en-US" smtClean="0"/>
              <a:pPr/>
              <a:t>6/13/2010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1B9044-B1D8-49D8-9F05-DCB5B06F2D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0F6139E-FE09-471A-90E1-0E5545C9CC28}" type="datetime1">
              <a:rPr lang="en-US" smtClean="0"/>
              <a:pPr/>
              <a:t>6/13/2010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F94DF9-BB09-4951-BA26-FAE9731B7B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FB829B-4569-4F02-942B-D6A849C1043A}" type="datetime1">
              <a:rPr lang="en-US" smtClean="0"/>
              <a:pPr/>
              <a:t>6/13/2010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3E2B7F-CE9E-4B6B-90CD-DE85A795D3C0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C924E0-F7A7-461E-9FCB-35F204790E57}" type="datetime1">
              <a:rPr lang="en-US" smtClean="0"/>
              <a:pPr/>
              <a:t>6/13/2010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2B1CD5-B894-4A0A-8043-E3F73F76455B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DA5C0A-E758-4177-A383-E534CC4F4CE8}" type="datetime1">
              <a:rPr lang="en-US" smtClean="0"/>
              <a:pPr/>
              <a:t>6/13/2010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514EEF-74F5-4CA9-BF99-54C4F3BD767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CAD41A-1B2E-49DF-A27C-E724F6E017B1}" type="datetime1">
              <a:rPr lang="en-US" smtClean="0"/>
              <a:pPr/>
              <a:t>6/13/2010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A5FD6F-D795-459A-BF32-753F9B0F320B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0E1F2FD-BDB0-4A4A-BCAC-F4DC80326044}" type="datetime1">
              <a:rPr lang="en-US" smtClean="0"/>
              <a:pPr/>
              <a:t>6/13/2010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A7D087-79CC-467D-B0C4-EDE90F85C4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1541FC-AC3A-4DCB-9870-053290BD75EC}" type="datetime1">
              <a:rPr lang="en-US" smtClean="0"/>
              <a:pPr/>
              <a:t>6/13/2010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49542B-92BA-4C17-A7FD-6393EE7799D6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10A372-78B1-4CD9-9212-EF52270397A1}" type="datetime1">
              <a:rPr lang="en-US" smtClean="0"/>
              <a:pPr/>
              <a:t>6/13/2010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87C2D8-6BE0-4D5F-9731-DDF1B7095F1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A319F-1E91-437D-8202-0A5438B6C4CB}" type="datetime1">
              <a:rPr lang="en-US" smtClean="0"/>
              <a:pPr/>
              <a:t>6/13/2010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E50B1E-B75C-4D6E-B6B0-9906B7FF7DA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31D297B-9A52-4C12-94E7-1F030D4FBA80}" type="datetime1">
              <a:rPr lang="en-US" smtClean="0"/>
              <a:pPr/>
              <a:t>6/13/2010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52A84E7-A79C-45E3-A9B3-216D4751D0BB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A1B7EE6-EEFE-4217-8BD9-4F39A1849431}" type="datetime1">
              <a:rPr lang="en-US" smtClean="0"/>
              <a:pPr/>
              <a:t>6/13/2010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EB6A9CF-D76F-4ABE-B56E-6687EC42304B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EA075097-718C-4087-BA88-5FC7EE049B49}" type="datetime1">
              <a:rPr lang="en-US" smtClean="0"/>
              <a:pPr/>
              <a:t>6/13/2010</a:t>
            </a:fld>
            <a:endParaRPr lang="en-US" dirty="0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05EA982-AB28-4683-9E73-4718F7B53F0F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://www.tweetwheel.com/AJCan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jpeg"/><Relationship Id="rId7" Type="http://schemas.openxmlformats.org/officeDocument/2006/relationships/image" Target="../media/image35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jpeg"/><Relationship Id="rId4" Type="http://schemas.openxmlformats.org/officeDocument/2006/relationships/hyperlink" Target="http://www.cse-cst.gc.ca/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43000" b="-4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F9CAF-3050-4117-A10B-FE3A5E74BB5D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459782" name="Rectangle 6"/>
          <p:cNvSpPr>
            <a:spLocks noChangeArrowheads="1"/>
          </p:cNvSpPr>
          <p:nvPr/>
        </p:nvSpPr>
        <p:spPr bwMode="auto">
          <a:xfrm>
            <a:off x="720725" y="2338388"/>
            <a:ext cx="7540625" cy="1993900"/>
          </a:xfrm>
          <a:prstGeom prst="rect">
            <a:avLst/>
          </a:prstGeom>
          <a:solidFill>
            <a:srgbClr val="EAEAEA">
              <a:alpha val="29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4400" b="1" dirty="0" smtClean="0"/>
              <a:t>A geometric model for </a:t>
            </a:r>
          </a:p>
          <a:p>
            <a:pPr algn="ctr"/>
            <a:r>
              <a:rPr lang="en-US" sz="4400" b="1" dirty="0" smtClean="0"/>
              <a:t>on-line social networks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459783" name="Rectangle 7"/>
          <p:cNvSpPr>
            <a:spLocks noChangeArrowheads="1"/>
          </p:cNvSpPr>
          <p:nvPr/>
        </p:nvSpPr>
        <p:spPr bwMode="auto">
          <a:xfrm>
            <a:off x="2555875" y="5002213"/>
            <a:ext cx="4152900" cy="1100137"/>
          </a:xfrm>
          <a:prstGeom prst="rect">
            <a:avLst/>
          </a:prstGeom>
          <a:solidFill>
            <a:srgbClr val="EAEAEA">
              <a:alpha val="28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</a:pPr>
            <a:r>
              <a:rPr lang="en-US" sz="3200" b="1" dirty="0">
                <a:solidFill>
                  <a:srgbClr val="000099"/>
                </a:solidFill>
              </a:rPr>
              <a:t>Anthony Bonato</a:t>
            </a:r>
          </a:p>
          <a:p>
            <a:pPr marL="342900" indent="-342900" algn="ctr">
              <a:lnSpc>
                <a:spcPct val="90000"/>
              </a:lnSpc>
              <a:spcBef>
                <a:spcPct val="20000"/>
              </a:spcBef>
            </a:pPr>
            <a:r>
              <a:rPr lang="en-US" sz="2800" b="1" dirty="0">
                <a:solidFill>
                  <a:srgbClr val="000099"/>
                </a:solidFill>
              </a:rPr>
              <a:t>Ryerson University</a:t>
            </a:r>
          </a:p>
        </p:txBody>
      </p:sp>
      <p:sp>
        <p:nvSpPr>
          <p:cNvPr id="459784" name="Text Box 8"/>
          <p:cNvSpPr txBox="1">
            <a:spLocks noChangeArrowheads="1"/>
          </p:cNvSpPr>
          <p:nvPr/>
        </p:nvSpPr>
        <p:spPr bwMode="auto">
          <a:xfrm>
            <a:off x="1703388" y="304800"/>
            <a:ext cx="5581650" cy="830997"/>
          </a:xfrm>
          <a:prstGeom prst="rect">
            <a:avLst/>
          </a:prstGeom>
          <a:solidFill>
            <a:srgbClr val="EAEAEA">
              <a:alpha val="26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8000"/>
                </a:solidFill>
              </a:rPr>
              <a:t>WOSN’10</a:t>
            </a:r>
          </a:p>
          <a:p>
            <a:pPr algn="ctr"/>
            <a:r>
              <a:rPr lang="en-US" sz="2400" b="1" smtClean="0">
                <a:solidFill>
                  <a:srgbClr val="008000"/>
                </a:solidFill>
              </a:rPr>
              <a:t>June 22, </a:t>
            </a:r>
            <a:r>
              <a:rPr lang="en-US" sz="2400" b="1" dirty="0" smtClean="0">
                <a:solidFill>
                  <a:srgbClr val="008000"/>
                </a:solidFill>
              </a:rPr>
              <a:t>2010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7FEF5-A131-4559-A04A-9FABC7268447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Complex </a:t>
            </a:r>
            <a:r>
              <a:rPr lang="en-US" sz="3200" dirty="0"/>
              <a:t>Networks</a:t>
            </a:r>
          </a:p>
        </p:txBody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7175"/>
            <a:ext cx="8229600" cy="4525963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sz="2400" dirty="0">
                <a:solidFill>
                  <a:srgbClr val="000099"/>
                </a:solidFill>
              </a:rPr>
              <a:t>web graph, social networks, biological networks, internet networks</a:t>
            </a:r>
            <a:r>
              <a:rPr lang="en-US" sz="2400" dirty="0"/>
              <a:t>, …</a:t>
            </a:r>
          </a:p>
          <a:p>
            <a:pPr lvl="1"/>
            <a:endParaRPr lang="en-US" sz="2400" dirty="0"/>
          </a:p>
        </p:txBody>
      </p:sp>
      <p:pic>
        <p:nvPicPr>
          <p:cNvPr id="467972" name="Picture 4"/>
          <p:cNvPicPr>
            <a:picLocks noChangeAspect="1" noChangeArrowheads="1"/>
          </p:cNvPicPr>
          <p:nvPr/>
        </p:nvPicPr>
        <p:blipFill>
          <a:blip r:embed="rId2"/>
          <a:srcRect l="7373" t="2118" r="3932" b="2118"/>
          <a:stretch>
            <a:fillRect/>
          </a:stretch>
        </p:blipFill>
        <p:spPr bwMode="auto">
          <a:xfrm>
            <a:off x="598488" y="2659063"/>
            <a:ext cx="2806700" cy="2814637"/>
          </a:xfrm>
          <a:prstGeom prst="rect">
            <a:avLst/>
          </a:prstGeom>
          <a:noFill/>
        </p:spPr>
      </p:pic>
      <p:pic>
        <p:nvPicPr>
          <p:cNvPr id="467973" name="Picture 5"/>
          <p:cNvPicPr>
            <a:picLocks noChangeAspect="1" noChangeArrowheads="1"/>
          </p:cNvPicPr>
          <p:nvPr/>
        </p:nvPicPr>
        <p:blipFill>
          <a:blip r:embed="rId3"/>
          <a:srcRect l="11810" r="11810"/>
          <a:stretch>
            <a:fillRect/>
          </a:stretch>
        </p:blipFill>
        <p:spPr bwMode="auto">
          <a:xfrm>
            <a:off x="3600450" y="4352925"/>
            <a:ext cx="2265363" cy="177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67974" name="Picture 6" descr="cheswick1_l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25788" y="1976438"/>
            <a:ext cx="3140075" cy="2355850"/>
          </a:xfrm>
          <a:prstGeom prst="rect">
            <a:avLst/>
          </a:prstGeom>
          <a:noFill/>
        </p:spPr>
      </p:pic>
      <p:pic>
        <p:nvPicPr>
          <p:cNvPr id="475138" name="Picture 2" descr="http://www.visualcomplexity.com/vc/images/51_big01.jpg"/>
          <p:cNvPicPr>
            <a:picLocks noChangeAspect="1" noChangeArrowheads="1"/>
          </p:cNvPicPr>
          <p:nvPr/>
        </p:nvPicPr>
        <p:blipFill>
          <a:blip r:embed="rId5"/>
          <a:srcRect l="11977" r="11481"/>
          <a:stretch>
            <a:fillRect/>
          </a:stretch>
        </p:blipFill>
        <p:spPr bwMode="auto">
          <a:xfrm>
            <a:off x="6183086" y="2830285"/>
            <a:ext cx="2858833" cy="280125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71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9BBC31C-3A6E-4867-941B-B81C112FD31B}" type="slidenum">
              <a:rPr lang="en-US" smtClean="0"/>
              <a:pPr/>
              <a:t>3</a:t>
            </a:fld>
            <a:endParaRPr lang="en-US" dirty="0" smtClean="0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rgbClr val="FF0000"/>
                </a:solidFill>
              </a:rPr>
              <a:t>On-line Social Networks (OSNs)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 smtClean="0"/>
              <a:t>Facebook, Twitter, LinkedIn, MySpace…</a:t>
            </a:r>
          </a:p>
        </p:txBody>
      </p:sp>
      <p:pic>
        <p:nvPicPr>
          <p:cNvPr id="6" name="Picture 7" descr="TweetWheel 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9486" y="1615355"/>
            <a:ext cx="6226856" cy="4575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CE854-2AF5-4EDA-BD48-2DC834D04893}" type="slidenum">
              <a:rPr lang="en-US"/>
              <a:pPr/>
              <a:t>4</a:t>
            </a:fld>
            <a:endParaRPr lang="en-US" dirty="0"/>
          </a:p>
        </p:txBody>
      </p:sp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</a:t>
            </a:r>
            <a:r>
              <a:rPr lang="en-US" dirty="0" smtClean="0"/>
              <a:t>OSNs</a:t>
            </a:r>
            <a:endParaRPr lang="en-US" dirty="0"/>
          </a:p>
        </p:txBody>
      </p:sp>
      <p:sp>
        <p:nvSpPr>
          <p:cNvPr id="468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2056" y="1499734"/>
            <a:ext cx="8454571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observed properties: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US" dirty="0" smtClean="0">
                <a:solidFill>
                  <a:srgbClr val="008000"/>
                </a:solidFill>
              </a:rPr>
              <a:t>power law degree distribution, </a:t>
            </a:r>
            <a:r>
              <a:rPr lang="en-US" dirty="0">
                <a:solidFill>
                  <a:srgbClr val="800080"/>
                </a:solidFill>
              </a:rPr>
              <a:t>small </a:t>
            </a:r>
            <a:r>
              <a:rPr lang="en-US" dirty="0" smtClean="0">
                <a:solidFill>
                  <a:srgbClr val="800080"/>
                </a:solidFill>
              </a:rPr>
              <a:t>world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US" dirty="0" smtClean="0">
                <a:solidFill>
                  <a:srgbClr val="000099"/>
                </a:solidFill>
              </a:rPr>
              <a:t>community structure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US" dirty="0" smtClean="0">
                <a:solidFill>
                  <a:srgbClr val="000099"/>
                </a:solidFill>
              </a:rPr>
              <a:t>densification power law and shrinking distances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endParaRPr lang="en-US" dirty="0">
              <a:solidFill>
                <a:srgbClr val="000099"/>
              </a:solidFill>
            </a:endParaRPr>
          </a:p>
          <a:p>
            <a:pPr lvl="1">
              <a:lnSpc>
                <a:spcPct val="90000"/>
              </a:lnSpc>
            </a:pPr>
            <a:endParaRPr lang="en-US" sz="2400" dirty="0">
              <a:solidFill>
                <a:srgbClr val="000099"/>
              </a:solidFill>
            </a:endParaRPr>
          </a:p>
          <a:p>
            <a:pPr lvl="1">
              <a:lnSpc>
                <a:spcPct val="90000"/>
              </a:lnSpc>
            </a:pPr>
            <a:endParaRPr lang="en-US" sz="2400" dirty="0">
              <a:solidFill>
                <a:srgbClr val="000099"/>
              </a:solidFill>
            </a:endParaRPr>
          </a:p>
          <a:p>
            <a:pPr lvl="1">
              <a:lnSpc>
                <a:spcPct val="90000"/>
              </a:lnSpc>
            </a:pPr>
            <a:endParaRPr lang="en-US" sz="2400" dirty="0">
              <a:solidFill>
                <a:srgbClr val="000099"/>
              </a:solidFill>
            </a:endParaRPr>
          </a:p>
          <a:p>
            <a:pPr lvl="1">
              <a:lnSpc>
                <a:spcPct val="90000"/>
              </a:lnSpc>
            </a:pPr>
            <a:endParaRPr lang="en-US" sz="2400" dirty="0">
              <a:solidFill>
                <a:srgbClr val="000099"/>
              </a:solidFill>
            </a:endParaRPr>
          </a:p>
          <a:p>
            <a:pPr lvl="1">
              <a:lnSpc>
                <a:spcPct val="90000"/>
              </a:lnSpc>
            </a:pPr>
            <a:endParaRPr lang="en-US" sz="2400" dirty="0">
              <a:solidFill>
                <a:srgbClr val="000099"/>
              </a:solidFill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sz="2400" dirty="0">
              <a:solidFill>
                <a:srgbClr val="000099"/>
              </a:solidFill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sz="2400" dirty="0">
              <a:solidFill>
                <a:srgbClr val="000099"/>
              </a:solidFill>
            </a:endParaRPr>
          </a:p>
          <a:p>
            <a:pPr>
              <a:lnSpc>
                <a:spcPct val="90000"/>
              </a:lnSpc>
            </a:pPr>
            <a:endParaRPr lang="en-US" dirty="0"/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9829" y="3497943"/>
            <a:ext cx="5095657" cy="2601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443416" y="3824031"/>
            <a:ext cx="21611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(Kumar et al,06)</a:t>
            </a:r>
            <a:r>
              <a:rPr lang="en-US" dirty="0" smtClean="0"/>
              <a:t>: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D31F-5806-4D2C-99CD-65D2632BE53D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Why model complex networks?</a:t>
            </a:r>
          </a:p>
        </p:txBody>
      </p:sp>
      <p:sp>
        <p:nvSpPr>
          <p:cNvPr id="515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0050" y="1382713"/>
            <a:ext cx="8229600" cy="4525962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endParaRPr lang="en-US" dirty="0" smtClean="0"/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dirty="0" smtClean="0"/>
              <a:t>uncover and explain the </a:t>
            </a:r>
            <a:r>
              <a:rPr lang="en-US" dirty="0" smtClean="0">
                <a:solidFill>
                  <a:srgbClr val="000099"/>
                </a:solidFill>
              </a:rPr>
              <a:t>generative mechanisms </a:t>
            </a:r>
            <a:r>
              <a:rPr lang="en-US" dirty="0"/>
              <a:t>underlying complex </a:t>
            </a:r>
            <a:r>
              <a:rPr lang="en-US" dirty="0" smtClean="0"/>
              <a:t>networks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dirty="0" smtClean="0"/>
              <a:t>predict the future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dirty="0" smtClean="0"/>
              <a:t>nice </a:t>
            </a:r>
            <a:r>
              <a:rPr lang="en-US" dirty="0">
                <a:solidFill>
                  <a:srgbClr val="000099"/>
                </a:solidFill>
              </a:rPr>
              <a:t>mathematical challenges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models can uncover the </a:t>
            </a:r>
            <a:r>
              <a:rPr lang="en-US" dirty="0" smtClean="0">
                <a:solidFill>
                  <a:srgbClr val="000099"/>
                </a:solidFill>
              </a:rPr>
              <a:t>hidden reality </a:t>
            </a:r>
            <a:r>
              <a:rPr lang="en-US" dirty="0" smtClean="0"/>
              <a:t>of networks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Many different models</a:t>
            </a:r>
            <a:endParaRPr lang="en-GB" dirty="0"/>
          </a:p>
        </p:txBody>
      </p:sp>
      <p:pic>
        <p:nvPicPr>
          <p:cNvPr id="6" name="Content Placeholder 5" descr="Pages from Janssen_Ryerson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0336" y="1484085"/>
            <a:ext cx="6225271" cy="452596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A4AE7-9921-41AA-ABFB-264DFFD9EB97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531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Models of </a:t>
            </a:r>
            <a:r>
              <a:rPr lang="en-US" sz="4000" dirty="0" smtClean="0"/>
              <a:t>OSNs</a:t>
            </a:r>
            <a:endParaRPr lang="en-US" sz="4000" dirty="0"/>
          </a:p>
        </p:txBody>
      </p:sp>
      <p:sp>
        <p:nvSpPr>
          <p:cNvPr id="531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 smtClean="0">
                <a:solidFill>
                  <a:srgbClr val="000099"/>
                </a:solidFill>
              </a:rPr>
              <a:t>relatively few </a:t>
            </a:r>
            <a:r>
              <a:rPr lang="en-US" dirty="0">
                <a:solidFill>
                  <a:srgbClr val="000099"/>
                </a:solidFill>
              </a:rPr>
              <a:t>models</a:t>
            </a:r>
            <a:r>
              <a:rPr lang="en-US" dirty="0"/>
              <a:t> for on-line social </a:t>
            </a:r>
            <a:r>
              <a:rPr lang="en-US" dirty="0" smtClean="0"/>
              <a:t>networks</a:t>
            </a:r>
          </a:p>
          <a:p>
            <a:pPr>
              <a:buClr>
                <a:schemeClr val="tx1"/>
              </a:buClr>
              <a:buNone/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rgbClr val="FF0000"/>
                </a:solidFill>
              </a:rPr>
              <a:t>goal</a:t>
            </a:r>
            <a:r>
              <a:rPr lang="en-US" dirty="0"/>
              <a:t>: </a:t>
            </a:r>
            <a:r>
              <a:rPr lang="en-US" dirty="0" smtClean="0"/>
              <a:t>find a model </a:t>
            </a:r>
            <a:r>
              <a:rPr lang="en-US" dirty="0"/>
              <a:t>which simulates many of the observed properties of </a:t>
            </a:r>
            <a:r>
              <a:rPr lang="en-US" dirty="0" smtClean="0"/>
              <a:t>OSNs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en-US" sz="3200" dirty="0" smtClean="0"/>
              <a:t>must evolve </a:t>
            </a:r>
            <a:r>
              <a:rPr lang="en-US" sz="3200" dirty="0"/>
              <a:t>in a natural </a:t>
            </a:r>
            <a:r>
              <a:rPr lang="en-US" sz="3200" dirty="0" smtClean="0"/>
              <a:t>way…</a:t>
            </a:r>
            <a:endParaRPr lang="en-US" sz="3200" dirty="0">
              <a:solidFill>
                <a:srgbClr val="000099"/>
              </a:solidFill>
            </a:endParaRPr>
          </a:p>
          <a:p>
            <a:pPr>
              <a:buClr>
                <a:schemeClr val="tx1"/>
              </a:buClr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2FB8E-8CE4-4775-B85B-775993C697A1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542725" name="Text Box 5"/>
          <p:cNvSpPr txBox="1">
            <a:spLocks noChangeArrowheads="1"/>
          </p:cNvSpPr>
          <p:nvPr/>
        </p:nvSpPr>
        <p:spPr bwMode="auto">
          <a:xfrm>
            <a:off x="666750" y="2941638"/>
            <a:ext cx="8156575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“All models are wrong, but some are more useful.”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– G.P.E. Box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Transitivity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FD6F-D795-459A-BF32-753F9B0F320B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71050" name="Picture 10" descr="Christiane Amanpou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97060" y="2416855"/>
            <a:ext cx="1903080" cy="2155145"/>
          </a:xfrm>
          <a:prstGeom prst="rect">
            <a:avLst/>
          </a:prstGeom>
          <a:noFill/>
        </p:spPr>
      </p:pic>
      <p:pic>
        <p:nvPicPr>
          <p:cNvPr id="471052" name="Picture 12" descr="http://www.opednews.com/populum/uploaded/queen-rania-of-jordan-11235-20090516-6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0227" y="2353035"/>
            <a:ext cx="1925277" cy="2218965"/>
          </a:xfrm>
          <a:prstGeom prst="rect">
            <a:avLst/>
          </a:prstGeom>
          <a:noFill/>
        </p:spPr>
      </p:pic>
      <p:cxnSp>
        <p:nvCxnSpPr>
          <p:cNvPr id="23" name="Straight Arrow Connector 22"/>
          <p:cNvCxnSpPr/>
          <p:nvPr/>
        </p:nvCxnSpPr>
        <p:spPr>
          <a:xfrm>
            <a:off x="2801257" y="3352800"/>
            <a:ext cx="711200" cy="1451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5682343" y="3403600"/>
            <a:ext cx="711200" cy="1451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1973943" y="4862286"/>
            <a:ext cx="5080000" cy="1047447"/>
          </a:xfrm>
          <a:custGeom>
            <a:avLst/>
            <a:gdLst>
              <a:gd name="connsiteX0" fmla="*/ 0 w 5080000"/>
              <a:gd name="connsiteY0" fmla="*/ 0 h 1047447"/>
              <a:gd name="connsiteX1" fmla="*/ 2670628 w 5080000"/>
              <a:gd name="connsiteY1" fmla="*/ 1030514 h 1047447"/>
              <a:gd name="connsiteX2" fmla="*/ 5080000 w 5080000"/>
              <a:gd name="connsiteY2" fmla="*/ 101600 h 104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80000" h="1047447">
                <a:moveTo>
                  <a:pt x="0" y="0"/>
                </a:moveTo>
                <a:cubicBezTo>
                  <a:pt x="911980" y="506790"/>
                  <a:pt x="1823961" y="1013581"/>
                  <a:pt x="2670628" y="1030514"/>
                </a:cubicBezTo>
                <a:cubicBezTo>
                  <a:pt x="3517295" y="1047447"/>
                  <a:pt x="4671181" y="258838"/>
                  <a:pt x="5080000" y="101600"/>
                </a:cubicBezTo>
              </a:path>
            </a:pathLst>
          </a:cu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12354" name="Picture 2" descr="http://www.mediabistro.com/webnewser/original/Ashton-Kutcher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30547" y="2394857"/>
            <a:ext cx="1766116" cy="220764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73C12-2A31-4B03-A83E-94562FD4C0AA}" type="slidenum">
              <a:rPr lang="en-US"/>
              <a:pPr/>
              <a:t>10</a:t>
            </a:fld>
            <a:endParaRPr lang="en-US" dirty="0"/>
          </a:p>
        </p:txBody>
      </p:sp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C00000"/>
                </a:solidFill>
              </a:rPr>
              <a:t>Iterated Local Transitivity (ILT) </a:t>
            </a:r>
            <a:r>
              <a:rPr lang="en-US" sz="3600" dirty="0"/>
              <a:t>model</a:t>
            </a:r>
            <a:br>
              <a:rPr lang="en-US" sz="3600" dirty="0"/>
            </a:br>
            <a:r>
              <a:rPr lang="en-US" sz="3200" dirty="0">
                <a:solidFill>
                  <a:srgbClr val="0070C0"/>
                </a:solidFill>
              </a:rPr>
              <a:t>(Bonato, Hadi, Horn, Prałat, Wang, 08)</a:t>
            </a:r>
          </a:p>
        </p:txBody>
      </p:sp>
      <p:sp>
        <p:nvSpPr>
          <p:cNvPr id="484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62138"/>
            <a:ext cx="8229600" cy="3916362"/>
          </a:xfrm>
        </p:spPr>
        <p:txBody>
          <a:bodyPr/>
          <a:lstStyle/>
          <a:p>
            <a:r>
              <a:rPr lang="en-US" sz="2800" dirty="0"/>
              <a:t>key paradigm is </a:t>
            </a:r>
            <a:r>
              <a:rPr lang="en-US" sz="2800" dirty="0">
                <a:solidFill>
                  <a:srgbClr val="FF0000"/>
                </a:solidFill>
              </a:rPr>
              <a:t>transitivity</a:t>
            </a:r>
            <a:r>
              <a:rPr lang="en-US" sz="2800" dirty="0"/>
              <a:t>: friends of friends are more likely </a:t>
            </a:r>
            <a:r>
              <a:rPr lang="en-US" sz="2800" dirty="0" smtClean="0"/>
              <a:t>friends</a:t>
            </a:r>
            <a:endParaRPr lang="en-US" sz="2800" dirty="0">
              <a:solidFill>
                <a:srgbClr val="0070C0"/>
              </a:solidFill>
            </a:endParaRPr>
          </a:p>
          <a:p>
            <a:pPr>
              <a:buClr>
                <a:schemeClr val="tx1"/>
              </a:buClr>
            </a:pPr>
            <a:endParaRPr lang="en-US" sz="2800" dirty="0" smtClean="0">
              <a:solidFill>
                <a:srgbClr val="FF0000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800" dirty="0" smtClean="0"/>
              <a:t>nodes </a:t>
            </a:r>
            <a:r>
              <a:rPr lang="en-US" sz="2800" dirty="0"/>
              <a:t>often only have </a:t>
            </a:r>
            <a:r>
              <a:rPr lang="en-US" sz="2800" dirty="0">
                <a:solidFill>
                  <a:srgbClr val="FF0000"/>
                </a:solidFill>
              </a:rPr>
              <a:t>local </a:t>
            </a:r>
            <a:r>
              <a:rPr lang="en-US" sz="2800" dirty="0" smtClean="0">
                <a:solidFill>
                  <a:srgbClr val="FF0000"/>
                </a:solidFill>
              </a:rPr>
              <a:t>influence</a:t>
            </a:r>
          </a:p>
          <a:p>
            <a:pPr>
              <a:buClr>
                <a:schemeClr val="tx1"/>
              </a:buClr>
              <a:buNone/>
            </a:pP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/>
              <a:t>evolves over </a:t>
            </a:r>
            <a:r>
              <a:rPr lang="en-US" sz="2800" dirty="0">
                <a:solidFill>
                  <a:srgbClr val="FF0000"/>
                </a:solidFill>
              </a:rPr>
              <a:t>time</a:t>
            </a:r>
            <a:r>
              <a:rPr lang="en-US" sz="2800" dirty="0"/>
              <a:t>, but retains </a:t>
            </a:r>
            <a:r>
              <a:rPr lang="en-US" sz="2800" dirty="0">
                <a:solidFill>
                  <a:srgbClr val="FF0000"/>
                </a:solidFill>
              </a:rPr>
              <a:t>memory of initial graph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3899D-8A71-4076-ACAD-4DA180169407}" type="slidenum">
              <a:rPr lang="en-US"/>
              <a:pPr/>
              <a:t>11</a:t>
            </a:fld>
            <a:endParaRPr lang="en-US" dirty="0"/>
          </a:p>
        </p:txBody>
      </p:sp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ILT model</a:t>
            </a:r>
          </a:p>
        </p:txBody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 smtClean="0"/>
              <a:t>start with a graph of order </a:t>
            </a:r>
            <a:r>
              <a:rPr lang="en-US" dirty="0" smtClean="0">
                <a:solidFill>
                  <a:srgbClr val="000099"/>
                </a:solidFill>
              </a:rPr>
              <a:t>n</a:t>
            </a:r>
            <a:endParaRPr lang="en-US" dirty="0">
              <a:solidFill>
                <a:srgbClr val="000099"/>
              </a:solidFill>
            </a:endParaRPr>
          </a:p>
          <a:p>
            <a:r>
              <a:rPr lang="en-US" dirty="0"/>
              <a:t>to form the graph </a:t>
            </a:r>
            <a:r>
              <a:rPr lang="en-US" i="1" dirty="0">
                <a:solidFill>
                  <a:srgbClr val="000099"/>
                </a:solidFill>
              </a:rPr>
              <a:t>G</a:t>
            </a:r>
            <a:r>
              <a:rPr lang="en-US" baseline="-25000" dirty="0">
                <a:solidFill>
                  <a:srgbClr val="000099"/>
                </a:solidFill>
              </a:rPr>
              <a:t>t+1</a:t>
            </a:r>
            <a:r>
              <a:rPr lang="en-US" dirty="0"/>
              <a:t> for each </a:t>
            </a:r>
            <a:r>
              <a:rPr lang="en-US" dirty="0" smtClean="0"/>
              <a:t>node </a:t>
            </a:r>
            <a:r>
              <a:rPr lang="en-US" dirty="0">
                <a:solidFill>
                  <a:srgbClr val="000099"/>
                </a:solidFill>
              </a:rPr>
              <a:t>x</a:t>
            </a:r>
            <a:r>
              <a:rPr lang="en-US" dirty="0"/>
              <a:t> from time </a:t>
            </a:r>
            <a:r>
              <a:rPr lang="en-US" i="1" dirty="0">
                <a:solidFill>
                  <a:srgbClr val="000099"/>
                </a:solidFill>
              </a:rPr>
              <a:t>t</a:t>
            </a:r>
            <a:r>
              <a:rPr lang="en-US" dirty="0"/>
              <a:t>, add a </a:t>
            </a:r>
            <a:r>
              <a:rPr lang="en-US" dirty="0" smtClean="0"/>
              <a:t>node </a:t>
            </a:r>
            <a:r>
              <a:rPr lang="en-US" i="1" dirty="0">
                <a:solidFill>
                  <a:srgbClr val="000099"/>
                </a:solidFill>
              </a:rPr>
              <a:t>x</a:t>
            </a:r>
            <a:r>
              <a:rPr lang="en-US" dirty="0">
                <a:solidFill>
                  <a:srgbClr val="000099"/>
                </a:solidFill>
              </a:rPr>
              <a:t>’</a:t>
            </a:r>
            <a:r>
              <a:rPr lang="en-US" dirty="0"/>
              <a:t>, the </a:t>
            </a:r>
            <a:r>
              <a:rPr lang="en-US" dirty="0">
                <a:solidFill>
                  <a:srgbClr val="FF0000"/>
                </a:solidFill>
              </a:rPr>
              <a:t>clone of</a:t>
            </a:r>
            <a:r>
              <a:rPr lang="en-US" dirty="0"/>
              <a:t> </a:t>
            </a:r>
            <a:r>
              <a:rPr lang="en-US" i="1" dirty="0">
                <a:solidFill>
                  <a:srgbClr val="000099"/>
                </a:solidFill>
              </a:rPr>
              <a:t>x</a:t>
            </a:r>
            <a:r>
              <a:rPr lang="en-US" dirty="0"/>
              <a:t>, so that </a:t>
            </a:r>
            <a:r>
              <a:rPr lang="en-US" i="1" dirty="0">
                <a:solidFill>
                  <a:srgbClr val="000099"/>
                </a:solidFill>
              </a:rPr>
              <a:t>xx</a:t>
            </a:r>
            <a:r>
              <a:rPr lang="en-US" dirty="0">
                <a:solidFill>
                  <a:srgbClr val="000099"/>
                </a:solidFill>
              </a:rPr>
              <a:t>’</a:t>
            </a:r>
            <a:r>
              <a:rPr lang="en-US" dirty="0"/>
              <a:t> is an edge, and </a:t>
            </a:r>
            <a:r>
              <a:rPr lang="en-US" i="1" dirty="0">
                <a:solidFill>
                  <a:srgbClr val="000099"/>
                </a:solidFill>
              </a:rPr>
              <a:t>x</a:t>
            </a:r>
            <a:r>
              <a:rPr lang="en-US" dirty="0">
                <a:solidFill>
                  <a:srgbClr val="000099"/>
                </a:solidFill>
              </a:rPr>
              <a:t>’</a:t>
            </a:r>
            <a:r>
              <a:rPr lang="en-US" dirty="0"/>
              <a:t> is joined to </a:t>
            </a:r>
            <a:r>
              <a:rPr lang="en-US" dirty="0" smtClean="0"/>
              <a:t>each node joined to x</a:t>
            </a:r>
            <a:endParaRPr lang="en-US" i="1" dirty="0" smtClean="0">
              <a:solidFill>
                <a:srgbClr val="000099"/>
              </a:solidFill>
            </a:endParaRPr>
          </a:p>
          <a:p>
            <a:pPr>
              <a:buNone/>
            </a:pPr>
            <a:endParaRPr lang="en-US" dirty="0">
              <a:solidFill>
                <a:srgbClr val="000099"/>
              </a:solidFill>
            </a:endParaRPr>
          </a:p>
          <a:p>
            <a:r>
              <a:rPr lang="en-US" dirty="0"/>
              <a:t>order of </a:t>
            </a:r>
            <a:r>
              <a:rPr lang="en-US" i="1" dirty="0">
                <a:solidFill>
                  <a:srgbClr val="000099"/>
                </a:solidFill>
              </a:rPr>
              <a:t>G</a:t>
            </a:r>
            <a:r>
              <a:rPr lang="en-US" baseline="-25000" dirty="0">
                <a:solidFill>
                  <a:srgbClr val="000099"/>
                </a:solidFill>
              </a:rPr>
              <a:t>t</a:t>
            </a:r>
            <a:r>
              <a:rPr lang="en-US" dirty="0"/>
              <a:t> is </a:t>
            </a:r>
            <a:r>
              <a:rPr lang="en-US" dirty="0" smtClean="0">
                <a:solidFill>
                  <a:srgbClr val="000099"/>
                </a:solidFill>
              </a:rPr>
              <a:t>n2</a:t>
            </a:r>
            <a:r>
              <a:rPr lang="en-US" baseline="30000" dirty="0" smtClean="0">
                <a:solidFill>
                  <a:srgbClr val="000099"/>
                </a:solidFill>
              </a:rPr>
              <a:t>t</a:t>
            </a:r>
            <a:endParaRPr lang="en-US" baseline="-25000" dirty="0">
              <a:solidFill>
                <a:srgbClr val="000099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0DAB-E428-4C83-9996-EC6C9B56C163}" type="slidenum">
              <a:rPr lang="en-US"/>
              <a:pPr/>
              <a:t>12</a:t>
            </a:fld>
            <a:endParaRPr lang="en-US" dirty="0"/>
          </a:p>
        </p:txBody>
      </p:sp>
      <p:pic>
        <p:nvPicPr>
          <p:cNvPr id="492548" name="Picture 4" descr="t=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6213" y="1677988"/>
            <a:ext cx="5830887" cy="4208462"/>
          </a:xfrm>
          <a:prstGeom prst="rect">
            <a:avLst/>
          </a:prstGeom>
          <a:noFill/>
        </p:spPr>
      </p:pic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rgbClr val="000099"/>
                </a:solidFill>
              </a:rPr>
              <a:t>G</a:t>
            </a:r>
            <a:r>
              <a:rPr lang="en-US" baseline="-25000" dirty="0">
                <a:solidFill>
                  <a:srgbClr val="000099"/>
                </a:solidFill>
              </a:rPr>
              <a:t>0</a:t>
            </a:r>
            <a:r>
              <a:rPr lang="en-US" dirty="0">
                <a:solidFill>
                  <a:srgbClr val="000099"/>
                </a:solidFill>
              </a:rPr>
              <a:t> = C</a:t>
            </a:r>
            <a:r>
              <a:rPr lang="en-US" baseline="-25000" dirty="0">
                <a:solidFill>
                  <a:srgbClr val="000099"/>
                </a:solidFill>
              </a:rPr>
              <a:t>4</a:t>
            </a:r>
          </a:p>
        </p:txBody>
      </p:sp>
      <p:pic>
        <p:nvPicPr>
          <p:cNvPr id="492550" name="Picture 6" descr="t=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6213" y="1751013"/>
            <a:ext cx="5876925" cy="4135437"/>
          </a:xfrm>
          <a:prstGeom prst="rect">
            <a:avLst/>
          </a:prstGeom>
          <a:noFill/>
        </p:spPr>
      </p:pic>
      <p:pic>
        <p:nvPicPr>
          <p:cNvPr id="492551" name="Picture 7" descr="t=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47800" y="1697038"/>
            <a:ext cx="5730875" cy="4189412"/>
          </a:xfrm>
          <a:prstGeom prst="rect">
            <a:avLst/>
          </a:prstGeom>
          <a:noFill/>
        </p:spPr>
      </p:pic>
      <p:pic>
        <p:nvPicPr>
          <p:cNvPr id="492552" name="Picture 8" descr="t=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47800" y="1693863"/>
            <a:ext cx="5656263" cy="3989387"/>
          </a:xfrm>
          <a:prstGeom prst="rect">
            <a:avLst/>
          </a:prstGeom>
          <a:noFill/>
        </p:spPr>
      </p:pic>
      <p:pic>
        <p:nvPicPr>
          <p:cNvPr id="492553" name="Picture 9" descr="t5_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446213" y="1736725"/>
            <a:ext cx="5830887" cy="4149725"/>
          </a:xfrm>
          <a:prstGeom prst="rect">
            <a:avLst/>
          </a:prstGeom>
          <a:noFill/>
        </p:spPr>
      </p:pic>
      <p:sp>
        <p:nvSpPr>
          <p:cNvPr id="492554" name="Rectangle 10"/>
          <p:cNvSpPr>
            <a:spLocks noChangeArrowheads="1"/>
          </p:cNvSpPr>
          <p:nvPr/>
        </p:nvSpPr>
        <p:spPr bwMode="auto">
          <a:xfrm>
            <a:off x="6226175" y="638175"/>
            <a:ext cx="566738" cy="4794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492555" name="Oval 11"/>
          <p:cNvSpPr>
            <a:spLocks noChangeArrowheads="1"/>
          </p:cNvSpPr>
          <p:nvPr/>
        </p:nvSpPr>
        <p:spPr bwMode="auto">
          <a:xfrm>
            <a:off x="6138863" y="550863"/>
            <a:ext cx="188912" cy="1746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492556" name="Oval 12"/>
          <p:cNvSpPr>
            <a:spLocks noChangeArrowheads="1"/>
          </p:cNvSpPr>
          <p:nvPr/>
        </p:nvSpPr>
        <p:spPr bwMode="auto">
          <a:xfrm>
            <a:off x="6696075" y="541338"/>
            <a:ext cx="188913" cy="1746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492557" name="Oval 13"/>
          <p:cNvSpPr>
            <a:spLocks noChangeArrowheads="1"/>
          </p:cNvSpPr>
          <p:nvPr/>
        </p:nvSpPr>
        <p:spPr bwMode="auto">
          <a:xfrm>
            <a:off x="6715125" y="1039813"/>
            <a:ext cx="188913" cy="1746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492558" name="Oval 14"/>
          <p:cNvSpPr>
            <a:spLocks noChangeArrowheads="1"/>
          </p:cNvSpPr>
          <p:nvPr/>
        </p:nvSpPr>
        <p:spPr bwMode="auto">
          <a:xfrm>
            <a:off x="6111875" y="1016000"/>
            <a:ext cx="188913" cy="1746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492559" name="Oval 15"/>
          <p:cNvSpPr>
            <a:spLocks noChangeArrowheads="1"/>
          </p:cNvSpPr>
          <p:nvPr/>
        </p:nvSpPr>
        <p:spPr bwMode="auto">
          <a:xfrm rot="-1199981">
            <a:off x="1562100" y="1973263"/>
            <a:ext cx="4813300" cy="1941512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5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Geometric model for OSNs</a:t>
            </a:r>
            <a:endParaRPr lang="en-US" dirty="0" smtClean="0"/>
          </a:p>
        </p:txBody>
      </p:sp>
      <p:sp>
        <p:nvSpPr>
          <p:cNvPr id="337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45494BC-EA2B-46F8-BAB8-628C84D20790}" type="slidenum">
              <a:rPr lang="en-US" smtClean="0"/>
              <a:pPr/>
              <a:t>13</a:t>
            </a:fld>
            <a:endParaRPr lang="en-US" dirty="0" smtClean="0"/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Properties of ILT model</a:t>
            </a:r>
          </a:p>
        </p:txBody>
      </p:sp>
      <p:sp>
        <p:nvSpPr>
          <p:cNvPr id="490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1714" y="2064657"/>
            <a:ext cx="8193314" cy="321854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densification power law</a:t>
            </a:r>
          </a:p>
          <a:p>
            <a:pPr eaLnBrk="1" hangingPunct="1">
              <a:lnSpc>
                <a:spcPct val="80000"/>
              </a:lnSpc>
              <a:buNone/>
            </a:pPr>
            <a:endParaRPr lang="en-US" sz="2800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distances decrease over time</a:t>
            </a:r>
          </a:p>
          <a:p>
            <a:pPr eaLnBrk="1" hangingPunct="1">
              <a:lnSpc>
                <a:spcPct val="80000"/>
              </a:lnSpc>
              <a:buNone/>
            </a:pPr>
            <a:endParaRPr lang="en-US" sz="2800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community structure: bad spectral expansion </a:t>
            </a:r>
            <a:r>
              <a:rPr lang="en-US" sz="2800" dirty="0" smtClean="0">
                <a:solidFill>
                  <a:srgbClr val="0070C0"/>
                </a:solidFill>
              </a:rPr>
              <a:t>(Estrada, 06) 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Geometric model for OSNs</a:t>
            </a:r>
            <a:endParaRPr lang="en-US" dirty="0" smtClean="0"/>
          </a:p>
        </p:txBody>
      </p:sp>
      <p:sp>
        <p:nvSpPr>
          <p:cNvPr id="409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0082B98-856D-4510-8E42-17CC7E17A071}" type="slidenum">
              <a:rPr lang="en-US" smtClean="0"/>
              <a:pPr/>
              <a:t>14</a:t>
            </a:fld>
            <a:endParaRPr lang="en-US" dirty="0" smtClean="0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…Degree distribution</a:t>
            </a:r>
          </a:p>
        </p:txBody>
      </p:sp>
      <p:pic>
        <p:nvPicPr>
          <p:cNvPr id="40966" name="Picture 4" descr="degre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2401" y="1132115"/>
            <a:ext cx="6062006" cy="5007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98114" cy="1143000"/>
          </a:xfrm>
        </p:spPr>
        <p:txBody>
          <a:bodyPr/>
          <a:lstStyle/>
          <a:p>
            <a:r>
              <a:rPr lang="en-US" sz="4000" dirty="0" smtClean="0"/>
              <a:t>Geometry of OSNs?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714" y="1727201"/>
            <a:ext cx="5384799" cy="3570514"/>
          </a:xfrm>
        </p:spPr>
        <p:txBody>
          <a:bodyPr/>
          <a:lstStyle/>
          <a:p>
            <a:r>
              <a:rPr lang="en-US" sz="2800" dirty="0" smtClean="0"/>
              <a:t>OSNs live in </a:t>
            </a:r>
            <a:r>
              <a:rPr lang="en-US" sz="2800" dirty="0" smtClean="0">
                <a:solidFill>
                  <a:srgbClr val="FF0000"/>
                </a:solidFill>
              </a:rPr>
              <a:t>social space</a:t>
            </a:r>
            <a:r>
              <a:rPr lang="en-US" sz="2800" dirty="0" smtClean="0"/>
              <a:t>: proximity of nodes depends on common attributes (such as geography, gender, age, etc.)</a:t>
            </a:r>
          </a:p>
          <a:p>
            <a:pPr>
              <a:buNone/>
            </a:pPr>
            <a:endParaRPr lang="en-US" sz="2800" dirty="0" smtClean="0"/>
          </a:p>
          <a:p>
            <a:r>
              <a:rPr lang="en-US" sz="2800" dirty="0" smtClean="0"/>
              <a:t>IDEA: embed OSN in </a:t>
            </a:r>
            <a:r>
              <a:rPr lang="en-US" sz="2800" dirty="0" smtClean="0">
                <a:solidFill>
                  <a:srgbClr val="000099"/>
                </a:solidFill>
              </a:rPr>
              <a:t>2-, 3-</a:t>
            </a:r>
          </a:p>
          <a:p>
            <a:pPr>
              <a:buNone/>
            </a:pPr>
            <a:r>
              <a:rPr lang="en-US" sz="2800" dirty="0" smtClean="0"/>
              <a:t>or higher dimensional space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75494" name="Picture 6" descr="https://buffy.eecs.berkeley.edu/PHP/resabs/images/2006/101207-1.jpg"/>
          <p:cNvPicPr>
            <a:picLocks noChangeAspect="1" noChangeArrowheads="1"/>
          </p:cNvPicPr>
          <p:nvPr/>
        </p:nvPicPr>
        <p:blipFill>
          <a:blip r:embed="rId2"/>
          <a:srcRect l="8856" r="7011"/>
          <a:stretch>
            <a:fillRect/>
          </a:stretch>
        </p:blipFill>
        <p:spPr bwMode="auto">
          <a:xfrm>
            <a:off x="5558971" y="1669144"/>
            <a:ext cx="3309258" cy="378822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Dimension of an OSN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628" y="1455058"/>
            <a:ext cx="8229600" cy="4525963"/>
          </a:xfrm>
        </p:spPr>
        <p:txBody>
          <a:bodyPr/>
          <a:lstStyle/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dimension of OSN</a:t>
            </a:r>
            <a:r>
              <a:rPr lang="en-US" dirty="0" smtClean="0"/>
              <a:t>: minimum number of  attributes needed to </a:t>
            </a:r>
            <a:r>
              <a:rPr lang="en-US" dirty="0" smtClean="0"/>
              <a:t>classify or group users</a:t>
            </a:r>
            <a:endParaRPr lang="en-US" dirty="0" smtClean="0"/>
          </a:p>
          <a:p>
            <a:pPr>
              <a:buClr>
                <a:schemeClr val="tx1"/>
              </a:buClr>
              <a:buNone/>
            </a:pPr>
            <a:endParaRPr lang="en-US" sz="1600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like game of </a:t>
            </a:r>
            <a:r>
              <a:rPr lang="en-US" dirty="0" smtClean="0">
                <a:solidFill>
                  <a:srgbClr val="000099"/>
                </a:solidFill>
              </a:rPr>
              <a:t>“20 Questions”: </a:t>
            </a:r>
            <a:r>
              <a:rPr lang="en-US" dirty="0" smtClean="0"/>
              <a:t>each question narrows range of possibilities</a:t>
            </a:r>
          </a:p>
          <a:p>
            <a:pPr>
              <a:buNone/>
            </a:pPr>
            <a:endParaRPr lang="en-US" sz="2000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what is a credible mathematical formula for the dimension of an OSN?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New Science of Networks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Geometric model for OSNs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E1133-B7CF-4279-8971-77A3B15A4E14}" type="slidenum">
              <a:rPr lang="en-US"/>
              <a:pPr/>
              <a:t>17</a:t>
            </a:fld>
            <a:endParaRPr lang="en-US" dirty="0"/>
          </a:p>
        </p:txBody>
      </p:sp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geometric graphs</a:t>
            </a:r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1439" y="1585913"/>
            <a:ext cx="4435248" cy="4263344"/>
          </a:xfrm>
        </p:spPr>
        <p:txBody>
          <a:bodyPr/>
          <a:lstStyle/>
          <a:p>
            <a:pPr>
              <a:lnSpc>
                <a:spcPct val="80000"/>
              </a:lnSpc>
              <a:buClr>
                <a:schemeClr val="tx1"/>
              </a:buClr>
            </a:pPr>
            <a:r>
              <a:rPr lang="en-US" sz="2800" dirty="0" smtClean="0"/>
              <a:t>nodes </a:t>
            </a:r>
            <a:r>
              <a:rPr lang="en-US" sz="2800" dirty="0"/>
              <a:t>are randomly </a:t>
            </a:r>
            <a:r>
              <a:rPr lang="en-US" sz="2800" dirty="0" smtClean="0"/>
              <a:t>placed in space</a:t>
            </a:r>
          </a:p>
          <a:p>
            <a:pPr>
              <a:lnSpc>
                <a:spcPct val="80000"/>
              </a:lnSpc>
              <a:buClr>
                <a:schemeClr val="tx1"/>
              </a:buClr>
            </a:pPr>
            <a:endParaRPr lang="en-US" sz="2800" dirty="0" smtClean="0"/>
          </a:p>
          <a:p>
            <a:pPr>
              <a:lnSpc>
                <a:spcPct val="80000"/>
              </a:lnSpc>
              <a:buClr>
                <a:schemeClr val="tx1"/>
              </a:buClr>
            </a:pPr>
            <a:r>
              <a:rPr lang="en-US" sz="2800" dirty="0" smtClean="0"/>
              <a:t>each node has a constant sphere of influence</a:t>
            </a:r>
            <a:endParaRPr lang="en-US" sz="2800" dirty="0"/>
          </a:p>
          <a:p>
            <a:pPr>
              <a:lnSpc>
                <a:spcPct val="80000"/>
              </a:lnSpc>
              <a:buFontTx/>
              <a:buNone/>
            </a:pP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dirty="0"/>
              <a:t>nodes are joined </a:t>
            </a:r>
            <a:r>
              <a:rPr lang="en-US" sz="2800" dirty="0" smtClean="0"/>
              <a:t>if their sphere of influence overlap</a:t>
            </a:r>
            <a:endParaRPr lang="en-US" sz="2800" dirty="0" smtClean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endParaRPr lang="en-US" sz="2800" dirty="0"/>
          </a:p>
        </p:txBody>
      </p:sp>
      <p:pic>
        <p:nvPicPr>
          <p:cNvPr id="393220" name="Picture 4"/>
          <p:cNvPicPr>
            <a:picLocks noChangeAspect="1" noChangeArrowheads="1"/>
          </p:cNvPicPr>
          <p:nvPr/>
        </p:nvPicPr>
        <p:blipFill>
          <a:blip r:embed="rId2"/>
          <a:srcRect l="589" t="641" r="589" b="641"/>
          <a:stretch>
            <a:fillRect/>
          </a:stretch>
        </p:blipFill>
        <p:spPr bwMode="auto">
          <a:xfrm>
            <a:off x="404812" y="1702707"/>
            <a:ext cx="3410063" cy="313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with 5000 nodes</a:t>
            </a:r>
            <a:endParaRPr lang="en-GB" dirty="0"/>
          </a:p>
        </p:txBody>
      </p:sp>
      <p:pic>
        <p:nvPicPr>
          <p:cNvPr id="6" name="Content Placeholder 5" descr="a0_7b0_15geom.g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9018" y="1411514"/>
            <a:ext cx="4527211" cy="4527211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581"/>
            <a:ext cx="8229600" cy="1143000"/>
          </a:xfrm>
        </p:spPr>
        <p:txBody>
          <a:bodyPr/>
          <a:lstStyle/>
          <a:p>
            <a:r>
              <a:rPr lang="en-US" sz="3200" dirty="0" smtClean="0">
                <a:solidFill>
                  <a:srgbClr val="FF0000"/>
                </a:solidFill>
              </a:rPr>
              <a:t>SPA model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>
                <a:solidFill>
                  <a:srgbClr val="0070C0"/>
                </a:solidFill>
              </a:rPr>
              <a:t>(Aiello, Bonato, Cooper, Janssen, Prałat, 08)</a:t>
            </a:r>
            <a:endParaRPr lang="en-GB" sz="3200" dirty="0">
              <a:solidFill>
                <a:srgbClr val="0070C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6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473516" y="1809428"/>
            <a:ext cx="4086796" cy="3933334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595086" y="1973943"/>
            <a:ext cx="35995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 smtClean="0"/>
              <a:t>  volume of sphere of influence proportional to in-degree</a:t>
            </a:r>
          </a:p>
          <a:p>
            <a:endParaRPr lang="en-US" sz="2800" dirty="0" smtClean="0"/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 nodes are added and spheres of influence shrink over time </a:t>
            </a:r>
            <a:endParaRPr lang="en-GB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Geometric model for OSNs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695371" cy="4452257"/>
          </a:xfrm>
        </p:spPr>
        <p:txBody>
          <a:bodyPr/>
          <a:lstStyle/>
          <a:p>
            <a:r>
              <a:rPr lang="en-US" sz="2600" dirty="0" smtClean="0"/>
              <a:t>we consider a </a:t>
            </a:r>
            <a:r>
              <a:rPr lang="en-US" sz="2600" dirty="0" smtClean="0">
                <a:solidFill>
                  <a:srgbClr val="C00000"/>
                </a:solidFill>
              </a:rPr>
              <a:t>geometric model of OSNs</a:t>
            </a:r>
            <a:r>
              <a:rPr lang="en-US" sz="2600" dirty="0" smtClean="0"/>
              <a:t>, where</a:t>
            </a:r>
          </a:p>
          <a:p>
            <a:pPr lvl="1"/>
            <a:r>
              <a:rPr lang="en-US" sz="2600" dirty="0" smtClean="0"/>
              <a:t>nodes are in </a:t>
            </a:r>
            <a:r>
              <a:rPr lang="en-US" sz="2600" dirty="0" smtClean="0">
                <a:solidFill>
                  <a:srgbClr val="000099"/>
                </a:solidFill>
              </a:rPr>
              <a:t>m</a:t>
            </a:r>
            <a:r>
              <a:rPr lang="en-US" sz="2600" dirty="0" smtClean="0"/>
              <a:t>-dimensional hypercube in Euclidean space</a:t>
            </a:r>
          </a:p>
          <a:p>
            <a:pPr lvl="1"/>
            <a:r>
              <a:rPr lang="en-US" sz="2600" dirty="0" smtClean="0"/>
              <a:t>volume of sphere of influence </a:t>
            </a:r>
            <a:r>
              <a:rPr lang="en-US" sz="2600" dirty="0" smtClean="0">
                <a:solidFill>
                  <a:srgbClr val="C00000"/>
                </a:solidFill>
              </a:rPr>
              <a:t>variable</a:t>
            </a:r>
            <a:r>
              <a:rPr lang="en-US" sz="2600" dirty="0" smtClean="0"/>
              <a:t>: a function of ranking of nodes</a:t>
            </a:r>
            <a:endParaRPr lang="en-GB" sz="2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94946" name="Picture 2" descr="http://www.math.tu-berlin.de/numerik/mt/mso/images/chemie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45100" y="2010228"/>
            <a:ext cx="3550557" cy="306977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2067"/>
            <a:ext cx="8229600" cy="1143000"/>
          </a:xfrm>
        </p:spPr>
        <p:txBody>
          <a:bodyPr/>
          <a:lstStyle/>
          <a:p>
            <a:r>
              <a:rPr lang="en-US" sz="3600" dirty="0" smtClean="0">
                <a:solidFill>
                  <a:srgbClr val="C00000"/>
                </a:solidFill>
              </a:rPr>
              <a:t>Geometric Protean (GEO-P) Model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 smtClean="0">
                <a:solidFill>
                  <a:srgbClr val="0070C0"/>
                </a:solidFill>
              </a:rPr>
              <a:t>(Bonato, Janssen, Prałat, 10)</a:t>
            </a:r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714" y="1382486"/>
            <a:ext cx="8469086" cy="4525963"/>
          </a:xfrm>
        </p:spPr>
        <p:txBody>
          <a:bodyPr/>
          <a:lstStyle/>
          <a:p>
            <a:r>
              <a:rPr lang="en-US" sz="2400" dirty="0" smtClean="0"/>
              <a:t>parameters: </a:t>
            </a:r>
            <a:r>
              <a:rPr lang="el-GR" sz="2400" dirty="0" smtClean="0">
                <a:solidFill>
                  <a:srgbClr val="000099"/>
                </a:solidFill>
              </a:rPr>
              <a:t>α</a:t>
            </a:r>
            <a:r>
              <a:rPr lang="en-US" sz="2400" dirty="0" smtClean="0">
                <a:solidFill>
                  <a:srgbClr val="000099"/>
                </a:solidFill>
              </a:rPr>
              <a:t>, </a:t>
            </a:r>
            <a:r>
              <a:rPr lang="el-GR" sz="2400" dirty="0" smtClean="0">
                <a:solidFill>
                  <a:srgbClr val="000099"/>
                </a:solidFill>
              </a:rPr>
              <a:t>β</a:t>
            </a:r>
            <a:r>
              <a:rPr lang="en-US" sz="2400" dirty="0" smtClean="0"/>
              <a:t> in </a:t>
            </a:r>
            <a:r>
              <a:rPr lang="en-US" sz="2400" dirty="0" smtClean="0">
                <a:solidFill>
                  <a:srgbClr val="000099"/>
                </a:solidFill>
              </a:rPr>
              <a:t>(0,1), </a:t>
            </a:r>
            <a:r>
              <a:rPr lang="el-GR" sz="2400" dirty="0" smtClean="0">
                <a:solidFill>
                  <a:srgbClr val="000099"/>
                </a:solidFill>
              </a:rPr>
              <a:t>α</a:t>
            </a:r>
            <a:r>
              <a:rPr lang="en-US" sz="2400" dirty="0" smtClean="0">
                <a:solidFill>
                  <a:srgbClr val="000099"/>
                </a:solidFill>
              </a:rPr>
              <a:t>+</a:t>
            </a:r>
            <a:r>
              <a:rPr lang="el-GR" sz="2400" dirty="0" smtClean="0">
                <a:solidFill>
                  <a:srgbClr val="000099"/>
                </a:solidFill>
              </a:rPr>
              <a:t>β</a:t>
            </a:r>
            <a:r>
              <a:rPr lang="en-US" sz="2400" dirty="0" smtClean="0">
                <a:solidFill>
                  <a:srgbClr val="000099"/>
                </a:solidFill>
              </a:rPr>
              <a:t> &lt; 1;</a:t>
            </a:r>
            <a:r>
              <a:rPr lang="en-US" sz="2400" dirty="0" smtClean="0"/>
              <a:t> positive integer </a:t>
            </a:r>
            <a:r>
              <a:rPr lang="en-US" sz="2400" dirty="0" smtClean="0">
                <a:solidFill>
                  <a:srgbClr val="000099"/>
                </a:solidFill>
              </a:rPr>
              <a:t>m</a:t>
            </a:r>
          </a:p>
          <a:p>
            <a:r>
              <a:rPr lang="en-US" sz="2400" dirty="0" smtClean="0"/>
              <a:t>nodes live in </a:t>
            </a:r>
            <a:r>
              <a:rPr lang="en-US" sz="2400" dirty="0" smtClean="0">
                <a:solidFill>
                  <a:srgbClr val="000099"/>
                </a:solidFill>
              </a:rPr>
              <a:t>m</a:t>
            </a:r>
            <a:r>
              <a:rPr lang="en-US" sz="2400" dirty="0" smtClean="0"/>
              <a:t>-dimensional space</a:t>
            </a:r>
          </a:p>
          <a:p>
            <a:r>
              <a:rPr lang="en-US" sz="2400" dirty="0" smtClean="0"/>
              <a:t>each node is ranked </a:t>
            </a:r>
            <a:r>
              <a:rPr lang="en-US" sz="2400" dirty="0" smtClean="0">
                <a:solidFill>
                  <a:srgbClr val="000099"/>
                </a:solidFill>
              </a:rPr>
              <a:t>1,2, …, n </a:t>
            </a:r>
            <a:r>
              <a:rPr lang="en-US" sz="2400" dirty="0" smtClean="0"/>
              <a:t>by some function </a:t>
            </a:r>
            <a:r>
              <a:rPr lang="en-US" sz="2400" dirty="0" smtClean="0">
                <a:solidFill>
                  <a:srgbClr val="000099"/>
                </a:solidFill>
              </a:rPr>
              <a:t>r</a:t>
            </a:r>
          </a:p>
          <a:p>
            <a:pPr lvl="1"/>
            <a:r>
              <a:rPr lang="en-US" sz="2000" dirty="0" smtClean="0">
                <a:solidFill>
                  <a:srgbClr val="000099"/>
                </a:solidFill>
              </a:rPr>
              <a:t>1 </a:t>
            </a:r>
            <a:r>
              <a:rPr lang="en-US" sz="2000" dirty="0" smtClean="0"/>
              <a:t>is best, </a:t>
            </a:r>
            <a:r>
              <a:rPr lang="en-US" sz="2000" dirty="0" smtClean="0">
                <a:solidFill>
                  <a:srgbClr val="000099"/>
                </a:solidFill>
              </a:rPr>
              <a:t>n </a:t>
            </a:r>
            <a:r>
              <a:rPr lang="en-US" sz="2000" dirty="0" smtClean="0"/>
              <a:t>is worst </a:t>
            </a:r>
          </a:p>
          <a:p>
            <a:pPr lvl="1"/>
            <a:r>
              <a:rPr lang="en-US" sz="2000" dirty="0" smtClean="0"/>
              <a:t>we use </a:t>
            </a:r>
            <a:r>
              <a:rPr lang="en-US" sz="2000" dirty="0" smtClean="0">
                <a:solidFill>
                  <a:srgbClr val="C00000"/>
                </a:solidFill>
              </a:rPr>
              <a:t>random initial ranking</a:t>
            </a:r>
          </a:p>
          <a:p>
            <a:r>
              <a:rPr lang="en-US" sz="2400" dirty="0" smtClean="0"/>
              <a:t>at each time-step, one new node </a:t>
            </a:r>
            <a:r>
              <a:rPr lang="en-US" sz="2400" dirty="0" smtClean="0">
                <a:solidFill>
                  <a:srgbClr val="000099"/>
                </a:solidFill>
              </a:rPr>
              <a:t>v</a:t>
            </a:r>
            <a:r>
              <a:rPr lang="en-US" sz="2400" dirty="0" smtClean="0"/>
              <a:t> is born, one randomly node chosen dies (and ranking is updated)</a:t>
            </a:r>
          </a:p>
          <a:p>
            <a:r>
              <a:rPr lang="en-US" sz="2400" dirty="0" smtClean="0"/>
              <a:t>each existing node </a:t>
            </a:r>
            <a:r>
              <a:rPr lang="en-US" sz="2400" dirty="0" smtClean="0">
                <a:solidFill>
                  <a:srgbClr val="000099"/>
                </a:solidFill>
              </a:rPr>
              <a:t>u</a:t>
            </a:r>
            <a:r>
              <a:rPr lang="en-US" sz="2400" dirty="0" smtClean="0"/>
              <a:t> has a </a:t>
            </a:r>
            <a:r>
              <a:rPr lang="en-US" sz="2400" dirty="0" smtClean="0">
                <a:solidFill>
                  <a:srgbClr val="C00000"/>
                </a:solidFill>
              </a:rPr>
              <a:t>sphere of influence </a:t>
            </a:r>
            <a:r>
              <a:rPr lang="en-US" sz="2400" dirty="0" smtClean="0"/>
              <a:t>with volume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add edge </a:t>
            </a:r>
            <a:r>
              <a:rPr lang="en-US" sz="2400" dirty="0" smtClean="0">
                <a:solidFill>
                  <a:srgbClr val="000099"/>
                </a:solidFill>
              </a:rPr>
              <a:t>uv</a:t>
            </a:r>
            <a:r>
              <a:rPr lang="en-US" sz="2400" dirty="0" smtClean="0"/>
              <a:t> if</a:t>
            </a:r>
            <a:r>
              <a:rPr lang="en-US" sz="2400" dirty="0" smtClean="0">
                <a:solidFill>
                  <a:srgbClr val="000099"/>
                </a:solidFill>
              </a:rPr>
              <a:t> v </a:t>
            </a:r>
            <a:r>
              <a:rPr lang="en-US" sz="2400" dirty="0" smtClean="0"/>
              <a:t>is in the region of influence of </a:t>
            </a:r>
            <a:r>
              <a:rPr lang="en-US" sz="2400" dirty="0" smtClean="0">
                <a:solidFill>
                  <a:srgbClr val="000099"/>
                </a:solidFill>
              </a:rPr>
              <a:t>u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588656" y="4592965"/>
          <a:ext cx="1389744" cy="617664"/>
        </p:xfrm>
        <a:graphic>
          <a:graphicData uri="http://schemas.openxmlformats.org/presentationml/2006/ole">
            <p:oleObj spid="_x0000_s582658" name="Equation" r:id="rId3" imgW="45720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Notes on GEO-P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models uses both geometry and ranking</a:t>
            </a:r>
          </a:p>
          <a:p>
            <a:r>
              <a:rPr lang="en-US" dirty="0" smtClean="0"/>
              <a:t>number of nodes is </a:t>
            </a:r>
            <a:r>
              <a:rPr lang="en-US" dirty="0" smtClean="0">
                <a:solidFill>
                  <a:srgbClr val="C00000"/>
                </a:solidFill>
              </a:rPr>
              <a:t>static</a:t>
            </a:r>
            <a:r>
              <a:rPr lang="en-US" dirty="0" smtClean="0"/>
              <a:t>: fixed at </a:t>
            </a:r>
            <a:r>
              <a:rPr lang="en-US" dirty="0" smtClean="0">
                <a:solidFill>
                  <a:srgbClr val="000099"/>
                </a:solidFill>
              </a:rPr>
              <a:t>n</a:t>
            </a:r>
          </a:p>
          <a:p>
            <a:pPr lvl="1"/>
            <a:r>
              <a:rPr lang="en-US" dirty="0" smtClean="0"/>
              <a:t>order of OSNs at most number of people (roughly…)</a:t>
            </a:r>
          </a:p>
          <a:p>
            <a:r>
              <a:rPr lang="en-US" dirty="0" smtClean="0"/>
              <a:t>top ranked nodes have larger regions of influence 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with 5000 nodes</a:t>
            </a:r>
            <a:endParaRPr lang="en-GB" dirty="0"/>
          </a:p>
        </p:txBody>
      </p:sp>
      <p:pic>
        <p:nvPicPr>
          <p:cNvPr id="6" name="Content Placeholder 5" descr="a0_7b0_15.g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9018" y="1395752"/>
            <a:ext cx="4730411" cy="4730411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with 5000 nodes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Content Placeholder 5" descr="a0_7b0_15geom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02732" y="1832429"/>
            <a:ext cx="3436257" cy="3436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Content Placeholder 5" descr="a0_7b0_15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03874" y="1814286"/>
            <a:ext cx="3426506" cy="342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1538515" y="5500914"/>
            <a:ext cx="2510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random geometric</a:t>
            </a:r>
            <a:endParaRPr lang="en-GB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037943" y="5500914"/>
            <a:ext cx="1857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GEO-P</a:t>
            </a:r>
            <a:endParaRPr lang="en-GB" b="1" dirty="0"/>
          </a:p>
        </p:txBody>
      </p:sp>
      <p:sp>
        <p:nvSpPr>
          <p:cNvPr id="10" name="Freeform 9"/>
          <p:cNvSpPr/>
          <p:nvPr/>
        </p:nvSpPr>
        <p:spPr>
          <a:xfrm>
            <a:off x="4789714" y="1857829"/>
            <a:ext cx="3396343" cy="2409371"/>
          </a:xfrm>
          <a:custGeom>
            <a:avLst/>
            <a:gdLst>
              <a:gd name="connsiteX0" fmla="*/ 0 w 3468914"/>
              <a:gd name="connsiteY0" fmla="*/ 0 h 2423885"/>
              <a:gd name="connsiteX1" fmla="*/ 1378857 w 3468914"/>
              <a:gd name="connsiteY1" fmla="*/ 1524000 h 2423885"/>
              <a:gd name="connsiteX2" fmla="*/ 1451429 w 3468914"/>
              <a:gd name="connsiteY2" fmla="*/ 2162628 h 2423885"/>
              <a:gd name="connsiteX3" fmla="*/ 2641600 w 3468914"/>
              <a:gd name="connsiteY3" fmla="*/ 2032000 h 2423885"/>
              <a:gd name="connsiteX4" fmla="*/ 3468914 w 3468914"/>
              <a:gd name="connsiteY4" fmla="*/ 2423885 h 2423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8914" h="2423885">
                <a:moveTo>
                  <a:pt x="0" y="0"/>
                </a:moveTo>
                <a:cubicBezTo>
                  <a:pt x="568476" y="581781"/>
                  <a:pt x="1136952" y="1163562"/>
                  <a:pt x="1378857" y="1524000"/>
                </a:cubicBezTo>
                <a:cubicBezTo>
                  <a:pt x="1620762" y="1884438"/>
                  <a:pt x="1240972" y="2077961"/>
                  <a:pt x="1451429" y="2162628"/>
                </a:cubicBezTo>
                <a:cubicBezTo>
                  <a:pt x="1661886" y="2247295"/>
                  <a:pt x="2305353" y="1988457"/>
                  <a:pt x="2641600" y="2032000"/>
                </a:cubicBezTo>
                <a:cubicBezTo>
                  <a:pt x="2977848" y="2075543"/>
                  <a:pt x="3343124" y="2363409"/>
                  <a:pt x="3468914" y="2423885"/>
                </a:cubicBezTo>
              </a:path>
            </a:pathLst>
          </a:custGeom>
          <a:noFill/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of the GEO-P model</a:t>
            </a:r>
            <a:br>
              <a:rPr lang="en-US" dirty="0" smtClean="0"/>
            </a:br>
            <a:r>
              <a:rPr lang="en-US" sz="2800" dirty="0" smtClean="0">
                <a:solidFill>
                  <a:srgbClr val="0070C0"/>
                </a:solidFill>
              </a:rPr>
              <a:t> (Bonato, Janssen, Prałat, 2010)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sz="2600" dirty="0" smtClean="0">
                <a:solidFill>
                  <a:srgbClr val="C00000"/>
                </a:solidFill>
              </a:rPr>
              <a:t>asymptotically almost surely (a.a.s.) </a:t>
            </a:r>
            <a:r>
              <a:rPr lang="en-US" sz="2600" dirty="0" smtClean="0"/>
              <a:t>the GEO-P model generates graphs with the following properties:</a:t>
            </a:r>
          </a:p>
          <a:p>
            <a:pPr lvl="1">
              <a:buClr>
                <a:schemeClr val="tx1"/>
              </a:buClr>
            </a:pPr>
            <a:r>
              <a:rPr lang="en-US" sz="2600" dirty="0" smtClean="0">
                <a:solidFill>
                  <a:srgbClr val="C00000"/>
                </a:solidFill>
              </a:rPr>
              <a:t>power law degree distribution </a:t>
            </a:r>
            <a:r>
              <a:rPr lang="en-US" sz="2600" dirty="0" smtClean="0"/>
              <a:t>with exponent </a:t>
            </a:r>
          </a:p>
          <a:p>
            <a:pPr lvl="1" algn="ctr">
              <a:buClr>
                <a:schemeClr val="tx1"/>
              </a:buClr>
              <a:buNone/>
            </a:pPr>
            <a:r>
              <a:rPr lang="en-US" sz="2600" dirty="0" smtClean="0">
                <a:solidFill>
                  <a:srgbClr val="000099"/>
                </a:solidFill>
              </a:rPr>
              <a:t>   b = 1+1/</a:t>
            </a:r>
            <a:r>
              <a:rPr lang="el-GR" sz="2600" dirty="0" smtClean="0">
                <a:solidFill>
                  <a:srgbClr val="000099"/>
                </a:solidFill>
              </a:rPr>
              <a:t>α</a:t>
            </a:r>
            <a:endParaRPr lang="en-US" sz="2600" dirty="0" smtClean="0">
              <a:solidFill>
                <a:srgbClr val="000099"/>
              </a:solidFill>
            </a:endParaRPr>
          </a:p>
          <a:p>
            <a:pPr lvl="1">
              <a:buClr>
                <a:schemeClr val="tx1"/>
              </a:buClr>
            </a:pPr>
            <a:r>
              <a:rPr lang="en-US" sz="2600" dirty="0" smtClean="0">
                <a:solidFill>
                  <a:srgbClr val="C00000"/>
                </a:solidFill>
              </a:rPr>
              <a:t>average degree  </a:t>
            </a:r>
            <a:r>
              <a:rPr lang="en-US" sz="2600" dirty="0" smtClean="0">
                <a:solidFill>
                  <a:srgbClr val="000099"/>
                </a:solidFill>
              </a:rPr>
              <a:t>d =</a:t>
            </a:r>
            <a:r>
              <a:rPr lang="en-US" sz="2600" dirty="0" smtClean="0">
                <a:solidFill>
                  <a:srgbClr val="C00000"/>
                </a:solidFill>
              </a:rPr>
              <a:t> </a:t>
            </a:r>
            <a:r>
              <a:rPr lang="en-US" sz="2600" dirty="0" smtClean="0">
                <a:solidFill>
                  <a:srgbClr val="000099"/>
                </a:solidFill>
              </a:rPr>
              <a:t>(1+o(1))n</a:t>
            </a:r>
            <a:r>
              <a:rPr lang="en-US" sz="2600" baseline="30000" dirty="0" smtClean="0">
                <a:solidFill>
                  <a:srgbClr val="000099"/>
                </a:solidFill>
              </a:rPr>
              <a:t>(1-</a:t>
            </a:r>
            <a:r>
              <a:rPr lang="el-GR" sz="2600" baseline="30000" dirty="0" smtClean="0">
                <a:solidFill>
                  <a:srgbClr val="000099"/>
                </a:solidFill>
              </a:rPr>
              <a:t>α</a:t>
            </a:r>
            <a:r>
              <a:rPr lang="en-US" sz="2600" baseline="30000" dirty="0" smtClean="0">
                <a:solidFill>
                  <a:srgbClr val="000099"/>
                </a:solidFill>
              </a:rPr>
              <a:t>-</a:t>
            </a:r>
            <a:r>
              <a:rPr lang="el-GR" sz="2600" baseline="30000" dirty="0" smtClean="0">
                <a:solidFill>
                  <a:srgbClr val="000099"/>
                </a:solidFill>
              </a:rPr>
              <a:t>β</a:t>
            </a:r>
            <a:r>
              <a:rPr lang="en-US" sz="2600" baseline="30000" dirty="0" smtClean="0">
                <a:solidFill>
                  <a:srgbClr val="000099"/>
                </a:solidFill>
              </a:rPr>
              <a:t>)</a:t>
            </a:r>
            <a:r>
              <a:rPr lang="en-US" sz="2600" dirty="0" smtClean="0">
                <a:solidFill>
                  <a:srgbClr val="000099"/>
                </a:solidFill>
              </a:rPr>
              <a:t>/2</a:t>
            </a:r>
            <a:r>
              <a:rPr lang="en-US" sz="2600" baseline="30000" dirty="0" smtClean="0">
                <a:solidFill>
                  <a:srgbClr val="000099"/>
                </a:solidFill>
              </a:rPr>
              <a:t>1-</a:t>
            </a:r>
            <a:r>
              <a:rPr lang="el-GR" sz="2600" baseline="30000" dirty="0" smtClean="0">
                <a:solidFill>
                  <a:srgbClr val="000099"/>
                </a:solidFill>
              </a:rPr>
              <a:t>α</a:t>
            </a:r>
            <a:endParaRPr lang="en-US" sz="2600" baseline="30000" dirty="0" smtClean="0">
              <a:solidFill>
                <a:srgbClr val="000099"/>
              </a:solidFill>
            </a:endParaRPr>
          </a:p>
          <a:p>
            <a:pPr lvl="2">
              <a:buClr>
                <a:schemeClr val="tx1"/>
              </a:buClr>
            </a:pPr>
            <a:r>
              <a:rPr lang="en-US" sz="2600" dirty="0" smtClean="0">
                <a:solidFill>
                  <a:srgbClr val="000099"/>
                </a:solidFill>
              </a:rPr>
              <a:t>densification</a:t>
            </a:r>
            <a:endParaRPr lang="en-US" sz="2600" dirty="0" smtClean="0"/>
          </a:p>
          <a:p>
            <a:pPr lvl="1">
              <a:buClr>
                <a:schemeClr val="tx1"/>
              </a:buClr>
            </a:pPr>
            <a:r>
              <a:rPr lang="en-US" sz="2600" dirty="0" smtClean="0">
                <a:solidFill>
                  <a:srgbClr val="C00000"/>
                </a:solidFill>
              </a:rPr>
              <a:t>diameter</a:t>
            </a:r>
            <a:r>
              <a:rPr lang="en-US" sz="2600" dirty="0" smtClean="0"/>
              <a:t> </a:t>
            </a:r>
            <a:r>
              <a:rPr lang="en-US" sz="2600" dirty="0" smtClean="0">
                <a:solidFill>
                  <a:srgbClr val="000099"/>
                </a:solidFill>
              </a:rPr>
              <a:t> D = O(n</a:t>
            </a:r>
            <a:r>
              <a:rPr lang="el-GR" sz="2600" baseline="30000" dirty="0" smtClean="0">
                <a:solidFill>
                  <a:srgbClr val="000099"/>
                </a:solidFill>
              </a:rPr>
              <a:t>β</a:t>
            </a:r>
            <a:r>
              <a:rPr lang="en-US" sz="2600" baseline="30000" dirty="0" smtClean="0">
                <a:solidFill>
                  <a:srgbClr val="000099"/>
                </a:solidFill>
              </a:rPr>
              <a:t>/(1-</a:t>
            </a:r>
            <a:r>
              <a:rPr lang="el-GR" sz="2600" baseline="30000" dirty="0" smtClean="0">
                <a:solidFill>
                  <a:srgbClr val="000099"/>
                </a:solidFill>
              </a:rPr>
              <a:t>α</a:t>
            </a:r>
            <a:r>
              <a:rPr lang="en-US" sz="2600" baseline="30000" dirty="0" smtClean="0">
                <a:solidFill>
                  <a:srgbClr val="000099"/>
                </a:solidFill>
              </a:rPr>
              <a:t>)m </a:t>
            </a:r>
            <a:r>
              <a:rPr lang="en-US" sz="2600" dirty="0" smtClean="0">
                <a:solidFill>
                  <a:srgbClr val="000099"/>
                </a:solidFill>
              </a:rPr>
              <a:t>log</a:t>
            </a:r>
            <a:r>
              <a:rPr lang="en-US" sz="2600" baseline="30000" dirty="0" smtClean="0">
                <a:solidFill>
                  <a:srgbClr val="000099"/>
                </a:solidFill>
              </a:rPr>
              <a:t>2</a:t>
            </a:r>
            <a:r>
              <a:rPr lang="el-GR" sz="2600" baseline="30000" dirty="0" smtClean="0">
                <a:solidFill>
                  <a:srgbClr val="000099"/>
                </a:solidFill>
              </a:rPr>
              <a:t>α</a:t>
            </a:r>
            <a:r>
              <a:rPr lang="en-US" sz="2600" baseline="30000" dirty="0" smtClean="0">
                <a:solidFill>
                  <a:srgbClr val="000099"/>
                </a:solidFill>
              </a:rPr>
              <a:t>/(1-</a:t>
            </a:r>
            <a:r>
              <a:rPr lang="el-GR" sz="2600" baseline="30000" dirty="0" smtClean="0">
                <a:solidFill>
                  <a:srgbClr val="000099"/>
                </a:solidFill>
              </a:rPr>
              <a:t>α</a:t>
            </a:r>
            <a:r>
              <a:rPr lang="en-US" sz="2600" baseline="30000" dirty="0" smtClean="0">
                <a:solidFill>
                  <a:srgbClr val="000099"/>
                </a:solidFill>
              </a:rPr>
              <a:t>)m</a:t>
            </a:r>
            <a:r>
              <a:rPr lang="en-US" sz="2600" dirty="0" smtClean="0">
                <a:solidFill>
                  <a:srgbClr val="000099"/>
                </a:solidFill>
              </a:rPr>
              <a:t> n)</a:t>
            </a:r>
            <a:endParaRPr lang="en-US" sz="2200" baseline="30000" dirty="0" smtClean="0">
              <a:solidFill>
                <a:srgbClr val="000099"/>
              </a:solidFill>
            </a:endParaRPr>
          </a:p>
          <a:p>
            <a:pPr lvl="2">
              <a:buClr>
                <a:schemeClr val="tx1"/>
              </a:buClr>
            </a:pPr>
            <a:r>
              <a:rPr lang="en-US" sz="2600" dirty="0" smtClean="0">
                <a:solidFill>
                  <a:srgbClr val="000099"/>
                </a:solidFill>
              </a:rPr>
              <a:t>small world: </a:t>
            </a:r>
            <a:r>
              <a:rPr lang="en-US" sz="2600" dirty="0" smtClean="0"/>
              <a:t>constant order if </a:t>
            </a:r>
            <a:r>
              <a:rPr lang="en-US" sz="2600" dirty="0" smtClean="0">
                <a:solidFill>
                  <a:srgbClr val="000099"/>
                </a:solidFill>
              </a:rPr>
              <a:t>m</a:t>
            </a:r>
            <a:r>
              <a:rPr lang="en-US" sz="2600" dirty="0" smtClean="0"/>
              <a:t> </a:t>
            </a:r>
            <a:r>
              <a:rPr lang="en-US" sz="2600" dirty="0" smtClean="0">
                <a:solidFill>
                  <a:srgbClr val="000099"/>
                </a:solidFill>
              </a:rPr>
              <a:t>= Clog 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Degree Distribution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for  </a:t>
            </a:r>
            <a:r>
              <a:rPr lang="en-US" sz="2000" dirty="0" smtClean="0">
                <a:solidFill>
                  <a:srgbClr val="000099"/>
                </a:solidFill>
              </a:rPr>
              <a:t>m &lt; k &lt; M</a:t>
            </a:r>
            <a:r>
              <a:rPr lang="en-US" sz="2000" dirty="0" smtClean="0"/>
              <a:t>, a.a.s. the number of nodes of degree at least </a:t>
            </a:r>
            <a:r>
              <a:rPr lang="en-US" sz="2000" dirty="0" smtClean="0">
                <a:solidFill>
                  <a:srgbClr val="000099"/>
                </a:solidFill>
              </a:rPr>
              <a:t>k</a:t>
            </a:r>
            <a:r>
              <a:rPr lang="en-US" sz="2000" dirty="0" smtClean="0"/>
              <a:t> equals 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000099"/>
                </a:solidFill>
              </a:rPr>
              <a:t>m = n</a:t>
            </a:r>
            <a:r>
              <a:rPr lang="en-US" sz="2000" baseline="30000" dirty="0" smtClean="0">
                <a:solidFill>
                  <a:srgbClr val="000099"/>
                </a:solidFill>
              </a:rPr>
              <a:t>1 - </a:t>
            </a:r>
            <a:r>
              <a:rPr lang="el-GR" sz="2000" baseline="30000" dirty="0" smtClean="0">
                <a:solidFill>
                  <a:srgbClr val="000099"/>
                </a:solidFill>
              </a:rPr>
              <a:t>α</a:t>
            </a:r>
            <a:r>
              <a:rPr lang="en-US" sz="2000" baseline="30000" dirty="0" smtClean="0">
                <a:solidFill>
                  <a:srgbClr val="000099"/>
                </a:solidFill>
              </a:rPr>
              <a:t> -</a:t>
            </a:r>
            <a:r>
              <a:rPr lang="el-GR" sz="2000" baseline="30000" dirty="0" smtClean="0">
                <a:solidFill>
                  <a:srgbClr val="000099"/>
                </a:solidFill>
              </a:rPr>
              <a:t> β</a:t>
            </a:r>
            <a:r>
              <a:rPr lang="en-US" sz="2000" baseline="30000" dirty="0" smtClean="0">
                <a:solidFill>
                  <a:srgbClr val="000099"/>
                </a:solidFill>
              </a:rPr>
              <a:t> </a:t>
            </a:r>
            <a:r>
              <a:rPr lang="en-US" sz="2000" dirty="0" smtClean="0">
                <a:solidFill>
                  <a:srgbClr val="000099"/>
                </a:solidFill>
              </a:rPr>
              <a:t>log</a:t>
            </a:r>
            <a:r>
              <a:rPr lang="en-US" sz="2000" baseline="30000" dirty="0" smtClean="0">
                <a:solidFill>
                  <a:srgbClr val="000099"/>
                </a:solidFill>
              </a:rPr>
              <a:t>1/2</a:t>
            </a:r>
            <a:r>
              <a:rPr lang="el-GR" sz="2000" dirty="0" smtClean="0">
                <a:solidFill>
                  <a:srgbClr val="000099"/>
                </a:solidFill>
              </a:rPr>
              <a:t> </a:t>
            </a:r>
            <a:r>
              <a:rPr lang="en-US" sz="2000" dirty="0" smtClean="0">
                <a:solidFill>
                  <a:srgbClr val="000099"/>
                </a:solidFill>
              </a:rPr>
              <a:t>n</a:t>
            </a:r>
          </a:p>
          <a:p>
            <a:pPr lvl="1"/>
            <a:r>
              <a:rPr lang="en-US" sz="2000" dirty="0" smtClean="0">
                <a:solidFill>
                  <a:srgbClr val="000099"/>
                </a:solidFill>
              </a:rPr>
              <a:t>m</a:t>
            </a:r>
            <a:r>
              <a:rPr lang="en-US" sz="2000" dirty="0" smtClean="0"/>
              <a:t> should be much larger than the minimum degree</a:t>
            </a:r>
          </a:p>
          <a:p>
            <a:endParaRPr lang="en-US" sz="2000" dirty="0" smtClean="0"/>
          </a:p>
          <a:p>
            <a:r>
              <a:rPr lang="en-US" sz="2000" dirty="0" smtClean="0">
                <a:solidFill>
                  <a:srgbClr val="000099"/>
                </a:solidFill>
              </a:rPr>
              <a:t>M = n</a:t>
            </a:r>
            <a:r>
              <a:rPr lang="en-US" sz="2000" baseline="30000" dirty="0" smtClean="0">
                <a:solidFill>
                  <a:srgbClr val="000099"/>
                </a:solidFill>
              </a:rPr>
              <a:t>1 – </a:t>
            </a:r>
            <a:r>
              <a:rPr lang="el-GR" sz="2000" baseline="30000" dirty="0" smtClean="0">
                <a:solidFill>
                  <a:srgbClr val="000099"/>
                </a:solidFill>
              </a:rPr>
              <a:t>α</a:t>
            </a:r>
            <a:r>
              <a:rPr lang="en-US" sz="2000" baseline="30000" dirty="0" smtClean="0">
                <a:solidFill>
                  <a:srgbClr val="000099"/>
                </a:solidFill>
              </a:rPr>
              <a:t>/2 -</a:t>
            </a:r>
            <a:r>
              <a:rPr lang="el-GR" sz="2000" baseline="30000" dirty="0" smtClean="0">
                <a:solidFill>
                  <a:srgbClr val="000099"/>
                </a:solidFill>
              </a:rPr>
              <a:t> β</a:t>
            </a:r>
            <a:r>
              <a:rPr lang="en-US" sz="2000" baseline="30000" dirty="0" smtClean="0">
                <a:solidFill>
                  <a:srgbClr val="000099"/>
                </a:solidFill>
              </a:rPr>
              <a:t> </a:t>
            </a:r>
            <a:r>
              <a:rPr lang="en-US" sz="2000" dirty="0" smtClean="0">
                <a:solidFill>
                  <a:srgbClr val="000099"/>
                </a:solidFill>
              </a:rPr>
              <a:t>log</a:t>
            </a:r>
            <a:r>
              <a:rPr lang="en-US" sz="2000" baseline="30000" dirty="0" smtClean="0">
                <a:solidFill>
                  <a:srgbClr val="000099"/>
                </a:solidFill>
              </a:rPr>
              <a:t>-2</a:t>
            </a:r>
            <a:r>
              <a:rPr lang="el-GR" sz="2000" baseline="30000" dirty="0" smtClean="0">
                <a:solidFill>
                  <a:srgbClr val="000099"/>
                </a:solidFill>
              </a:rPr>
              <a:t> α</a:t>
            </a:r>
            <a:r>
              <a:rPr lang="en-US" sz="2000" baseline="30000" dirty="0" smtClean="0">
                <a:solidFill>
                  <a:srgbClr val="000099"/>
                </a:solidFill>
              </a:rPr>
              <a:t>-1</a:t>
            </a:r>
            <a:r>
              <a:rPr lang="el-GR" sz="2000" baseline="30000" dirty="0" smtClean="0">
                <a:solidFill>
                  <a:srgbClr val="000099"/>
                </a:solidFill>
              </a:rPr>
              <a:t> </a:t>
            </a:r>
            <a:r>
              <a:rPr lang="en-US" sz="2000" dirty="0" smtClean="0">
                <a:solidFill>
                  <a:srgbClr val="000099"/>
                </a:solidFill>
              </a:rPr>
              <a:t>n </a:t>
            </a:r>
          </a:p>
          <a:p>
            <a:pPr lvl="1"/>
            <a:r>
              <a:rPr lang="en-US" sz="2000" dirty="0" smtClean="0"/>
              <a:t>for </a:t>
            </a:r>
            <a:r>
              <a:rPr lang="en-US" sz="2000" dirty="0" smtClean="0">
                <a:solidFill>
                  <a:srgbClr val="000099"/>
                </a:solidFill>
              </a:rPr>
              <a:t>k &gt; M</a:t>
            </a:r>
            <a:r>
              <a:rPr lang="en-US" sz="2000" dirty="0" smtClean="0"/>
              <a:t>, the expected number of nodes of degree </a:t>
            </a:r>
            <a:r>
              <a:rPr lang="en-US" sz="2000" dirty="0" smtClean="0">
                <a:solidFill>
                  <a:srgbClr val="000099"/>
                </a:solidFill>
              </a:rPr>
              <a:t>k</a:t>
            </a:r>
            <a:r>
              <a:rPr lang="en-US" sz="2000" dirty="0" smtClean="0"/>
              <a:t> is too small to guarantee concentration</a:t>
            </a:r>
          </a:p>
          <a:p>
            <a:pPr lvl="1"/>
            <a:endParaRPr lang="en-GB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912256" y="2487386"/>
          <a:ext cx="5405930" cy="1068614"/>
        </p:xfrm>
        <a:graphic>
          <a:graphicData uri="http://schemas.openxmlformats.org/presentationml/2006/ole">
            <p:oleObj spid="_x0000_s822274" name="Equation" r:id="rId3" imgW="218412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Density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average number of edges added at each time-step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parameter </a:t>
            </a:r>
            <a:r>
              <a:rPr lang="el-GR" dirty="0" smtClean="0">
                <a:solidFill>
                  <a:srgbClr val="000099"/>
                </a:solidFill>
              </a:rPr>
              <a:t>β</a:t>
            </a:r>
            <a:r>
              <a:rPr lang="en-US" dirty="0" smtClean="0"/>
              <a:t> controls density</a:t>
            </a:r>
          </a:p>
          <a:p>
            <a:r>
              <a:rPr lang="en-US" dirty="0" smtClean="0"/>
              <a:t>if </a:t>
            </a:r>
            <a:r>
              <a:rPr lang="el-GR" dirty="0" smtClean="0">
                <a:solidFill>
                  <a:srgbClr val="000099"/>
                </a:solidFill>
              </a:rPr>
              <a:t>β </a:t>
            </a:r>
            <a:r>
              <a:rPr lang="en-US" dirty="0" smtClean="0">
                <a:solidFill>
                  <a:srgbClr val="000099"/>
                </a:solidFill>
              </a:rPr>
              <a:t> &lt;  1 – </a:t>
            </a:r>
            <a:r>
              <a:rPr lang="el-GR" dirty="0" smtClean="0">
                <a:solidFill>
                  <a:srgbClr val="000099"/>
                </a:solidFill>
              </a:rPr>
              <a:t>α</a:t>
            </a:r>
            <a:r>
              <a:rPr lang="en-US" dirty="0" smtClean="0"/>
              <a:t>, then density grows with </a:t>
            </a:r>
            <a:r>
              <a:rPr lang="en-US" dirty="0" smtClean="0">
                <a:solidFill>
                  <a:srgbClr val="000099"/>
                </a:solidFill>
              </a:rPr>
              <a:t>n</a:t>
            </a:r>
            <a:r>
              <a:rPr lang="en-US" dirty="0" smtClean="0"/>
              <a:t> (as in real OSNs)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695121" y="2583543"/>
          <a:ext cx="3681932" cy="1088571"/>
        </p:xfrm>
        <a:graphic>
          <a:graphicData uri="http://schemas.openxmlformats.org/presentationml/2006/ole">
            <p:oleObj spid="_x0000_s821250" name="Equation" r:id="rId3" imgW="146016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714" y="0"/>
            <a:ext cx="8229600" cy="1143000"/>
          </a:xfrm>
        </p:spPr>
        <p:txBody>
          <a:bodyPr/>
          <a:lstStyle/>
          <a:p>
            <a:r>
              <a:rPr lang="en-US" dirty="0" smtClean="0"/>
              <a:t>Diameter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48658"/>
            <a:ext cx="5551715" cy="4568370"/>
          </a:xfrm>
        </p:spPr>
        <p:txBody>
          <a:bodyPr/>
          <a:lstStyle/>
          <a:p>
            <a:r>
              <a:rPr lang="en-US" sz="2000" dirty="0" smtClean="0">
                <a:solidFill>
                  <a:srgbClr val="C00000"/>
                </a:solidFill>
              </a:rPr>
              <a:t>eminent node</a:t>
            </a:r>
            <a:r>
              <a:rPr lang="en-US" sz="2000" dirty="0" smtClean="0"/>
              <a:t>: </a:t>
            </a:r>
          </a:p>
          <a:p>
            <a:pPr lvl="1"/>
            <a:r>
              <a:rPr lang="en-US" sz="2000" dirty="0" smtClean="0">
                <a:solidFill>
                  <a:srgbClr val="008000"/>
                </a:solidFill>
              </a:rPr>
              <a:t>old</a:t>
            </a:r>
            <a:r>
              <a:rPr lang="en-US" sz="2000" dirty="0" smtClean="0"/>
              <a:t>: at least </a:t>
            </a:r>
            <a:r>
              <a:rPr lang="en-US" sz="2000" dirty="0" smtClean="0">
                <a:solidFill>
                  <a:srgbClr val="000099"/>
                </a:solidFill>
              </a:rPr>
              <a:t>n/2</a:t>
            </a:r>
            <a:r>
              <a:rPr lang="en-US" sz="2000" dirty="0" smtClean="0"/>
              <a:t> nodes are younger</a:t>
            </a:r>
          </a:p>
          <a:p>
            <a:pPr lvl="1"/>
            <a:r>
              <a:rPr lang="en-US" sz="2000" dirty="0" smtClean="0">
                <a:solidFill>
                  <a:srgbClr val="008000"/>
                </a:solidFill>
              </a:rPr>
              <a:t>highly ranked</a:t>
            </a:r>
            <a:r>
              <a:rPr lang="en-US" sz="2000" dirty="0" smtClean="0"/>
              <a:t>: initial ranking greater than some fixed </a:t>
            </a:r>
            <a:r>
              <a:rPr lang="en-US" sz="2000" dirty="0" smtClean="0">
                <a:solidFill>
                  <a:srgbClr val="000099"/>
                </a:solidFill>
              </a:rPr>
              <a:t>R</a:t>
            </a:r>
          </a:p>
          <a:p>
            <a:r>
              <a:rPr lang="en-US" sz="2000" dirty="0" smtClean="0"/>
              <a:t>partition hypercube into small </a:t>
            </a:r>
            <a:r>
              <a:rPr lang="en-US" sz="2000" dirty="0" err="1" smtClean="0"/>
              <a:t>hypercubes</a:t>
            </a:r>
            <a:endParaRPr lang="en-US" sz="2000" dirty="0" smtClean="0"/>
          </a:p>
          <a:p>
            <a:r>
              <a:rPr lang="en-US" sz="2000" dirty="0" smtClean="0"/>
              <a:t>choose size of </a:t>
            </a:r>
            <a:r>
              <a:rPr lang="en-US" sz="2000" dirty="0" err="1" smtClean="0"/>
              <a:t>hypercubes</a:t>
            </a:r>
            <a:r>
              <a:rPr lang="en-US" sz="2000" dirty="0" smtClean="0"/>
              <a:t> and </a:t>
            </a:r>
            <a:r>
              <a:rPr lang="en-US" sz="2000" dirty="0" smtClean="0">
                <a:solidFill>
                  <a:srgbClr val="000099"/>
                </a:solidFill>
              </a:rPr>
              <a:t>R</a:t>
            </a:r>
            <a:r>
              <a:rPr lang="en-US" sz="2000" dirty="0" smtClean="0"/>
              <a:t> so that</a:t>
            </a:r>
          </a:p>
          <a:p>
            <a:pPr lvl="1"/>
            <a:r>
              <a:rPr lang="en-US" sz="2000" dirty="0" smtClean="0"/>
              <a:t>each hypercube contains at least </a:t>
            </a:r>
            <a:r>
              <a:rPr lang="en-US" sz="2000" dirty="0" smtClean="0">
                <a:solidFill>
                  <a:srgbClr val="000099"/>
                </a:solidFill>
              </a:rPr>
              <a:t>log</a:t>
            </a:r>
            <a:r>
              <a:rPr lang="en-US" sz="2000" baseline="30000" dirty="0" smtClean="0">
                <a:solidFill>
                  <a:srgbClr val="000099"/>
                </a:solidFill>
              </a:rPr>
              <a:t>2</a:t>
            </a:r>
            <a:r>
              <a:rPr lang="en-US" sz="2000" dirty="0" smtClean="0">
                <a:solidFill>
                  <a:srgbClr val="000099"/>
                </a:solidFill>
              </a:rPr>
              <a:t>n</a:t>
            </a:r>
            <a:r>
              <a:rPr lang="en-US" sz="2000" dirty="0" smtClean="0"/>
              <a:t> eminent nodes</a:t>
            </a:r>
          </a:p>
          <a:p>
            <a:pPr lvl="1"/>
            <a:r>
              <a:rPr lang="en-US" sz="2000" dirty="0" smtClean="0"/>
              <a:t>sphere of influence of each eminent node covers each hypercube and all </a:t>
            </a:r>
            <a:r>
              <a:rPr lang="en-US" sz="2000" dirty="0" err="1" smtClean="0"/>
              <a:t>neighbouring</a:t>
            </a:r>
            <a:r>
              <a:rPr lang="en-US" sz="2000" dirty="0" smtClean="0"/>
              <a:t> </a:t>
            </a:r>
            <a:r>
              <a:rPr lang="en-US" sz="2000" dirty="0" err="1" smtClean="0"/>
              <a:t>hypercubes</a:t>
            </a:r>
            <a:endParaRPr lang="en-US" sz="2000" dirty="0" smtClean="0"/>
          </a:p>
          <a:p>
            <a:r>
              <a:rPr lang="en-US" sz="2000" dirty="0" smtClean="0"/>
              <a:t>choose eminent node in each hypercube: </a:t>
            </a:r>
            <a:r>
              <a:rPr lang="en-US" sz="2000" dirty="0" smtClean="0">
                <a:solidFill>
                  <a:srgbClr val="C00000"/>
                </a:solidFill>
              </a:rPr>
              <a:t>backbone</a:t>
            </a:r>
          </a:p>
          <a:p>
            <a:r>
              <a:rPr lang="en-US" sz="2000" dirty="0" smtClean="0"/>
              <a:t>show all nodes in hypercube distance at most </a:t>
            </a:r>
            <a:r>
              <a:rPr lang="en-US" sz="2000" dirty="0" smtClean="0">
                <a:solidFill>
                  <a:srgbClr val="000099"/>
                </a:solidFill>
              </a:rPr>
              <a:t>2</a:t>
            </a:r>
            <a:r>
              <a:rPr lang="en-US" sz="2000" dirty="0" smtClean="0"/>
              <a:t> from backbone</a:t>
            </a:r>
          </a:p>
          <a:p>
            <a:endParaRPr lang="en-GB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6" name="Picture 5" descr="177310829_backb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230" y="1930400"/>
            <a:ext cx="3433753" cy="34337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New Science of Networks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A223F-9C87-452A-8D5D-540F42EC2808}" type="slidenum">
              <a:rPr lang="en-US"/>
              <a:pPr/>
              <a:t>29</a:t>
            </a:fld>
            <a:endParaRPr lang="en-US" dirty="0"/>
          </a:p>
        </p:txBody>
      </p: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215900"/>
            <a:ext cx="8229600" cy="1143000"/>
          </a:xfrm>
        </p:spPr>
        <p:txBody>
          <a:bodyPr/>
          <a:lstStyle/>
          <a:p>
            <a:r>
              <a:rPr lang="en-US" dirty="0"/>
              <a:t>Spectral </a:t>
            </a:r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525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1035" y="1556431"/>
            <a:ext cx="8229600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spectral gap</a:t>
            </a:r>
            <a:r>
              <a:rPr lang="en-US" sz="2400" dirty="0"/>
              <a:t> </a:t>
            </a:r>
            <a:r>
              <a:rPr lang="el-GR" sz="2400" dirty="0">
                <a:solidFill>
                  <a:srgbClr val="000099"/>
                </a:solidFill>
              </a:rPr>
              <a:t>λ</a:t>
            </a:r>
            <a:r>
              <a:rPr lang="en-US" sz="2400" dirty="0"/>
              <a:t> of </a:t>
            </a:r>
            <a:r>
              <a:rPr lang="en-US" sz="2400" dirty="0">
                <a:solidFill>
                  <a:srgbClr val="000099"/>
                </a:solidFill>
              </a:rPr>
              <a:t>G</a:t>
            </a:r>
            <a:r>
              <a:rPr lang="en-US" sz="2400" dirty="0"/>
              <a:t> is defined </a:t>
            </a:r>
            <a:r>
              <a:rPr lang="en-US" sz="2400" dirty="0" smtClean="0"/>
              <a:t>by the difference between the two largest </a:t>
            </a:r>
            <a:r>
              <a:rPr lang="en-US" sz="2400" dirty="0" err="1" smtClean="0"/>
              <a:t>eigenvalues”of</a:t>
            </a:r>
            <a:r>
              <a:rPr lang="en-US" sz="2400" dirty="0" smtClean="0"/>
              <a:t> the adjacency matrix of </a:t>
            </a:r>
            <a:r>
              <a:rPr lang="en-US" sz="2400" dirty="0" smtClean="0">
                <a:solidFill>
                  <a:srgbClr val="000099"/>
                </a:solidFill>
              </a:rPr>
              <a:t>G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for G(n,p) random </a:t>
            </a:r>
            <a:r>
              <a:rPr lang="en-US" sz="2400" dirty="0"/>
              <a:t>graphs, </a:t>
            </a:r>
            <a:r>
              <a:rPr lang="el-GR" sz="2400" dirty="0">
                <a:solidFill>
                  <a:srgbClr val="000099"/>
                </a:solidFill>
              </a:rPr>
              <a:t>λ</a:t>
            </a:r>
            <a:r>
              <a:rPr lang="en-US" sz="2400" dirty="0">
                <a:solidFill>
                  <a:srgbClr val="000099"/>
                </a:solidFill>
              </a:rPr>
              <a:t> </a:t>
            </a:r>
            <a:r>
              <a:rPr lang="en-US" sz="2400" dirty="0"/>
              <a:t>tends to</a:t>
            </a:r>
            <a:r>
              <a:rPr lang="en-US" sz="2400" dirty="0">
                <a:solidFill>
                  <a:srgbClr val="000099"/>
                </a:solidFill>
              </a:rPr>
              <a:t> </a:t>
            </a:r>
            <a:r>
              <a:rPr lang="en-US" sz="2400" dirty="0" smtClean="0">
                <a:solidFill>
                  <a:srgbClr val="000099"/>
                </a:solidFill>
              </a:rPr>
              <a:t>0 </a:t>
            </a:r>
            <a:r>
              <a:rPr lang="en-US" sz="2400" dirty="0"/>
              <a:t>as </a:t>
            </a:r>
            <a:r>
              <a:rPr lang="en-US" sz="2400" dirty="0" smtClean="0"/>
              <a:t>order </a:t>
            </a:r>
            <a:r>
              <a:rPr lang="en-US" sz="2400" dirty="0"/>
              <a:t>grows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in the </a:t>
            </a:r>
            <a:r>
              <a:rPr lang="en-US" sz="2400" dirty="0" smtClean="0"/>
              <a:t>GEO-P </a:t>
            </a:r>
            <a:r>
              <a:rPr lang="en-US" sz="2400" dirty="0"/>
              <a:t>model, </a:t>
            </a:r>
            <a:r>
              <a:rPr lang="el-GR" sz="2400" dirty="0">
                <a:solidFill>
                  <a:srgbClr val="000099"/>
                </a:solidFill>
              </a:rPr>
              <a:t>λ</a:t>
            </a:r>
            <a:r>
              <a:rPr lang="en-US" sz="2400" dirty="0">
                <a:solidFill>
                  <a:srgbClr val="000099"/>
                </a:solidFill>
              </a:rPr>
              <a:t> </a:t>
            </a:r>
            <a:r>
              <a:rPr lang="en-US" sz="2400" dirty="0" smtClean="0"/>
              <a:t>is close to </a:t>
            </a:r>
            <a:r>
              <a:rPr lang="en-US" sz="2400" dirty="0" smtClean="0">
                <a:solidFill>
                  <a:srgbClr val="000099"/>
                </a:solidFill>
              </a:rPr>
              <a:t>1</a:t>
            </a:r>
            <a:endParaRPr lang="en-US" sz="2400" dirty="0">
              <a:solidFill>
                <a:srgbClr val="000099"/>
              </a:solidFill>
            </a:endParaRP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2400" dirty="0" smtClean="0">
                <a:solidFill>
                  <a:srgbClr val="FF0000"/>
                </a:solidFill>
              </a:rPr>
              <a:t>bad expansion/big spectral </a:t>
            </a:r>
            <a:r>
              <a:rPr lang="en-US" sz="2400" dirty="0">
                <a:solidFill>
                  <a:srgbClr val="FF0000"/>
                </a:solidFill>
              </a:rPr>
              <a:t>gaps</a:t>
            </a:r>
            <a:r>
              <a:rPr lang="en-US" sz="2400" dirty="0"/>
              <a:t> in the </a:t>
            </a:r>
            <a:r>
              <a:rPr lang="en-US" sz="2400" dirty="0" smtClean="0"/>
              <a:t>GEO-P </a:t>
            </a:r>
            <a:r>
              <a:rPr lang="en-US" sz="2400" dirty="0"/>
              <a:t>model found in social networks but not in the web graph </a:t>
            </a:r>
            <a:r>
              <a:rPr lang="en-US" sz="2400" dirty="0" smtClean="0">
                <a:solidFill>
                  <a:srgbClr val="0070C0"/>
                </a:solidFill>
              </a:rPr>
              <a:t>(</a:t>
            </a:r>
            <a:r>
              <a:rPr lang="en-US" sz="2400" dirty="0">
                <a:solidFill>
                  <a:srgbClr val="0070C0"/>
                </a:solidFill>
              </a:rPr>
              <a:t>Estrada, 06) 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n-US" sz="2400" dirty="0">
                <a:solidFill>
                  <a:srgbClr val="008000"/>
                </a:solidFill>
              </a:rPr>
              <a:t>in social networks, there are a higher number of intra- rather than inter-community links</a:t>
            </a:r>
            <a:endParaRPr lang="el-GR" sz="2400" dirty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Dimension of OSNs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given the </a:t>
            </a:r>
            <a:r>
              <a:rPr lang="en-US" dirty="0" smtClean="0">
                <a:solidFill>
                  <a:srgbClr val="008000"/>
                </a:solidFill>
              </a:rPr>
              <a:t>order</a:t>
            </a:r>
            <a:r>
              <a:rPr lang="en-US" dirty="0" smtClean="0"/>
              <a:t> of the network </a:t>
            </a:r>
            <a:r>
              <a:rPr lang="en-US" dirty="0" smtClean="0">
                <a:solidFill>
                  <a:srgbClr val="000099"/>
                </a:solidFill>
              </a:rPr>
              <a:t>n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8000"/>
                </a:solidFill>
              </a:rPr>
              <a:t>power law exponent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99"/>
                </a:solidFill>
              </a:rPr>
              <a:t>b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8000"/>
                </a:solidFill>
              </a:rPr>
              <a:t>average degree </a:t>
            </a:r>
            <a:r>
              <a:rPr lang="en-US" dirty="0" smtClean="0">
                <a:solidFill>
                  <a:srgbClr val="000099"/>
                </a:solidFill>
              </a:rPr>
              <a:t>d</a:t>
            </a:r>
            <a:r>
              <a:rPr lang="en-US" dirty="0" smtClean="0"/>
              <a:t>, and </a:t>
            </a:r>
            <a:r>
              <a:rPr lang="en-US" dirty="0" smtClean="0">
                <a:solidFill>
                  <a:srgbClr val="008000"/>
                </a:solidFill>
              </a:rPr>
              <a:t>diameter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0099"/>
                </a:solidFill>
              </a:rPr>
              <a:t>D</a:t>
            </a:r>
            <a:r>
              <a:rPr lang="en-US" dirty="0" smtClean="0"/>
              <a:t>, we can calculate </a:t>
            </a:r>
            <a:r>
              <a:rPr lang="en-US" dirty="0" smtClean="0">
                <a:solidFill>
                  <a:srgbClr val="000099"/>
                </a:solidFill>
              </a:rPr>
              <a:t>m</a:t>
            </a:r>
            <a:r>
              <a:rPr lang="en-US" dirty="0" smtClean="0"/>
              <a:t> </a:t>
            </a:r>
          </a:p>
          <a:p>
            <a:r>
              <a:rPr lang="en-US" dirty="0" smtClean="0"/>
              <a:t>gives formula for </a:t>
            </a:r>
            <a:r>
              <a:rPr lang="en-US" dirty="0" smtClean="0">
                <a:solidFill>
                  <a:srgbClr val="C00000"/>
                </a:solidFill>
              </a:rPr>
              <a:t>dimension of OSN</a:t>
            </a:r>
            <a:r>
              <a:rPr lang="en-US" dirty="0" smtClean="0"/>
              <a:t>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508375" y="3922713"/>
          <a:ext cx="2265363" cy="1746250"/>
        </p:xfrm>
        <a:graphic>
          <a:graphicData uri="http://schemas.openxmlformats.org/presentationml/2006/ole">
            <p:oleObj spid="_x0000_s590850" name="Equation" r:id="rId3" imgW="1054080" imgH="81252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Uncovering the hidden reality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228" y="1411514"/>
            <a:ext cx="8207829" cy="3000829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sz="2400" dirty="0" smtClean="0">
                <a:solidFill>
                  <a:srgbClr val="008000"/>
                </a:solidFill>
              </a:rPr>
              <a:t>reverse engineering </a:t>
            </a:r>
            <a:r>
              <a:rPr lang="en-US" sz="2400" dirty="0" smtClean="0"/>
              <a:t>approach</a:t>
            </a:r>
          </a:p>
          <a:p>
            <a:pPr lvl="1"/>
            <a:r>
              <a:rPr lang="en-US" sz="2400" dirty="0" smtClean="0"/>
              <a:t>given network data </a:t>
            </a:r>
            <a:r>
              <a:rPr lang="en-US" sz="2400" dirty="0" smtClean="0">
                <a:solidFill>
                  <a:srgbClr val="000099"/>
                </a:solidFill>
              </a:rPr>
              <a:t>(n, b, d, D), </a:t>
            </a:r>
            <a:r>
              <a:rPr lang="en-US" sz="2400" dirty="0" smtClean="0"/>
              <a:t>dimension of an OSN gives smallest number of attributes needed to identify users</a:t>
            </a:r>
          </a:p>
          <a:p>
            <a:r>
              <a:rPr lang="en-US" sz="2400" dirty="0" smtClean="0"/>
              <a:t>that is, given the graph structure, we can (theoretically) recover the social space</a:t>
            </a:r>
            <a:endParaRPr lang="en-GB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603138" name="Picture 2" descr="http://liama.ia.ac.cn/wiki/_media/public:projects:medical_imaging_and_computing:complex_network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19917" y="4049485"/>
            <a:ext cx="2278533" cy="2151063"/>
          </a:xfrm>
          <a:prstGeom prst="rect">
            <a:avLst/>
          </a:prstGeom>
          <a:noFill/>
        </p:spPr>
      </p:pic>
      <p:pic>
        <p:nvPicPr>
          <p:cNvPr id="603140" name="Picture 4" descr="http://gvsr.polytech.univ-nantes.fr/GVSR/illustration?key=igraph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7715" y="4065814"/>
            <a:ext cx="1959429" cy="1959429"/>
          </a:xfrm>
          <a:prstGeom prst="rect">
            <a:avLst/>
          </a:prstGeom>
          <a:noFill/>
        </p:spPr>
      </p:pic>
      <p:sp>
        <p:nvSpPr>
          <p:cNvPr id="8" name="Right Arrow 7"/>
          <p:cNvSpPr/>
          <p:nvPr/>
        </p:nvSpPr>
        <p:spPr>
          <a:xfrm>
            <a:off x="4005943" y="4731657"/>
            <a:ext cx="978408" cy="4846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 Dimensions of Separation</a:t>
            </a:r>
            <a:endParaRPr lang="en-GB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1089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OSN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Dimension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YouTube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Twitter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Flickr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Cyworld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GB" sz="28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directions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 smtClean="0">
                <a:solidFill>
                  <a:srgbClr val="000099"/>
                </a:solidFill>
              </a:rPr>
              <a:t>fitting GEO-P model to data</a:t>
            </a:r>
          </a:p>
          <a:p>
            <a:pPr lvl="1"/>
            <a:r>
              <a:rPr lang="en-US" dirty="0" smtClean="0"/>
              <a:t>is theoretical estimate of dimension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000099"/>
                </a:solidFill>
              </a:rPr>
              <a:t>log n</a:t>
            </a:r>
            <a:r>
              <a:rPr lang="en-US" dirty="0" smtClean="0"/>
              <a:t> </a:t>
            </a:r>
            <a:r>
              <a:rPr lang="en-US" dirty="0" smtClean="0"/>
              <a:t>accurate?</a:t>
            </a:r>
          </a:p>
          <a:p>
            <a:pPr lvl="1"/>
            <a:r>
              <a:rPr lang="en-US" dirty="0" smtClean="0"/>
              <a:t>find similarity measures (as with PPI)</a:t>
            </a:r>
            <a:endParaRPr lang="en-US" dirty="0" smtClean="0"/>
          </a:p>
          <a:p>
            <a:pPr>
              <a:buClr>
                <a:schemeClr val="tx1"/>
              </a:buClr>
            </a:pPr>
            <a:r>
              <a:rPr lang="en-US" dirty="0" smtClean="0">
                <a:solidFill>
                  <a:srgbClr val="000099"/>
                </a:solidFill>
              </a:rPr>
              <a:t>community detection</a:t>
            </a:r>
          </a:p>
          <a:p>
            <a:pPr lvl="1"/>
            <a:r>
              <a:rPr lang="en-US" dirty="0" smtClean="0"/>
              <a:t> first map </a:t>
            </a:r>
            <a:r>
              <a:rPr lang="en-US" dirty="0" smtClean="0"/>
              <a:t>network in social space</a:t>
            </a:r>
          </a:p>
          <a:p>
            <a:pPr>
              <a:buClr>
                <a:schemeClr val="tx1"/>
              </a:buClr>
            </a:pPr>
            <a:r>
              <a:rPr lang="en-US" dirty="0" smtClean="0">
                <a:solidFill>
                  <a:srgbClr val="000099"/>
                </a:solidFill>
              </a:rPr>
              <a:t>spread of influence</a:t>
            </a:r>
          </a:p>
          <a:p>
            <a:pPr lvl="1"/>
            <a:r>
              <a:rPr lang="en-US" dirty="0" smtClean="0"/>
              <a:t>SIS, SIR models</a:t>
            </a:r>
          </a:p>
          <a:p>
            <a:pPr lvl="1"/>
            <a:r>
              <a:rPr lang="en-US" dirty="0" smtClean="0"/>
              <a:t>firefighting, Cops and Robbers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9044-B1D8-49D8-9F05-DCB5B06F2D15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Geometric model for OSNs</a:t>
            </a:r>
            <a:endParaRPr lang="en-US" dirty="0" smtClean="0"/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E680653-B19A-4538-A323-CEABFEA6E053}" type="slidenum">
              <a:rPr lang="en-US" smtClean="0"/>
              <a:pPr/>
              <a:t>34</a:t>
            </a:fld>
            <a:endParaRPr lang="en-US" dirty="0" smtClean="0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285750"/>
            <a:ext cx="8075613" cy="1441450"/>
          </a:xfrm>
        </p:spPr>
        <p:txBody>
          <a:bodyPr/>
          <a:lstStyle/>
          <a:p>
            <a:pPr eaLnBrk="1" hangingPunct="1"/>
            <a:r>
              <a:rPr lang="en-US" i="1" dirty="0" smtClean="0"/>
              <a:t>preprints, reprints, contact</a:t>
            </a:r>
            <a:r>
              <a:rPr lang="en-US" dirty="0" smtClean="0"/>
              <a:t>:</a:t>
            </a:r>
          </a:p>
          <a:p>
            <a:pPr algn="ctr" eaLnBrk="1" hangingPunct="1">
              <a:buFontTx/>
              <a:buNone/>
            </a:pPr>
            <a:r>
              <a:rPr lang="en-US" dirty="0" smtClean="0">
                <a:solidFill>
                  <a:srgbClr val="000099"/>
                </a:solidFill>
              </a:rPr>
              <a:t>Google:</a:t>
            </a:r>
            <a:r>
              <a:rPr lang="en-US" dirty="0" smtClean="0"/>
              <a:t> “</a:t>
            </a:r>
            <a:r>
              <a:rPr lang="en-US" dirty="0" smtClean="0">
                <a:solidFill>
                  <a:srgbClr val="FF0000"/>
                </a:solidFill>
              </a:rPr>
              <a:t>Anthony Bonato</a:t>
            </a:r>
            <a:r>
              <a:rPr lang="en-US" dirty="0" smtClean="0"/>
              <a:t>”</a:t>
            </a:r>
          </a:p>
        </p:txBody>
      </p:sp>
      <p:pic>
        <p:nvPicPr>
          <p:cNvPr id="44037" name="Picture 6" descr="logo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638300"/>
            <a:ext cx="8505825" cy="88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8" name="Picture 7" descr="imag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4025" y="3168650"/>
            <a:ext cx="1708150" cy="2357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9" name="Picture 97" descr="cse">
            <a:hlinkClick r:id="rId4"/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368550" y="3187700"/>
            <a:ext cx="2347913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40" name="Picture 99" descr="cse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487613" y="4462463"/>
            <a:ext cx="2225675" cy="80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41" name="Picture 10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338763" y="2962275"/>
            <a:ext cx="3354387" cy="136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42" name="Picture 10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332413" y="4598988"/>
            <a:ext cx="3371850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Geometric model for OSNs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5FD6F-D795-459A-BF32-753F9B0F320B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 l="22284" t="10909" r="35038" b="3864"/>
          <a:stretch>
            <a:fillRect/>
          </a:stretch>
        </p:blipFill>
        <p:spPr bwMode="auto">
          <a:xfrm>
            <a:off x="402514" y="852714"/>
            <a:ext cx="4662972" cy="4793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399315" y="1698169"/>
            <a:ext cx="28302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 </a:t>
            </a:r>
            <a:r>
              <a:rPr lang="en-US" sz="2400" dirty="0" smtClean="0"/>
              <a:t>journal </a:t>
            </a:r>
            <a:r>
              <a:rPr lang="en-US" sz="2400" dirty="0" err="1" smtClean="0"/>
              <a:t>relaunch</a:t>
            </a:r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new editors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accepting theoretical and empirical papers on complex networks, OSNs, biological networks</a:t>
            </a:r>
            <a:endParaRPr lang="en-GB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18694</TotalTime>
  <Words>1267</Words>
  <Application>Microsoft Office PowerPoint</Application>
  <PresentationFormat>On-screen Show (4:3)</PresentationFormat>
  <Paragraphs>246</Paragraphs>
  <Slides>35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7" baseType="lpstr">
      <vt:lpstr>Default Design</vt:lpstr>
      <vt:lpstr>Equation</vt:lpstr>
      <vt:lpstr>Slide 1</vt:lpstr>
      <vt:lpstr>Complex Networks</vt:lpstr>
      <vt:lpstr>On-line Social Networks (OSNs) Facebook, Twitter, LinkedIn, MySpace…</vt:lpstr>
      <vt:lpstr>Properties of OSNs</vt:lpstr>
      <vt:lpstr>Why model complex networks?</vt:lpstr>
      <vt:lpstr>Many different models</vt:lpstr>
      <vt:lpstr>Models of OSNs</vt:lpstr>
      <vt:lpstr>Slide 8</vt:lpstr>
      <vt:lpstr>Transitivity</vt:lpstr>
      <vt:lpstr>Iterated Local Transitivity (ILT) model (Bonato, Hadi, Horn, Prałat, Wang, 08)</vt:lpstr>
      <vt:lpstr>ILT model</vt:lpstr>
      <vt:lpstr>G0 = C4</vt:lpstr>
      <vt:lpstr>Properties of ILT model</vt:lpstr>
      <vt:lpstr>…Degree distribution</vt:lpstr>
      <vt:lpstr>Geometry of OSNs?</vt:lpstr>
      <vt:lpstr>Dimension of an OSN</vt:lpstr>
      <vt:lpstr>Random geometric graphs</vt:lpstr>
      <vt:lpstr>Simulation with 5000 nodes</vt:lpstr>
      <vt:lpstr>SPA model (Aiello, Bonato, Cooper, Janssen, Prałat, 08)</vt:lpstr>
      <vt:lpstr>Geometric model for OSNs</vt:lpstr>
      <vt:lpstr>Geometric Protean (GEO-P) Model (Bonato, Janssen, Prałat, 10)</vt:lpstr>
      <vt:lpstr>Notes on GEO-P model</vt:lpstr>
      <vt:lpstr>Simulation with 5000 nodes</vt:lpstr>
      <vt:lpstr>Simulation with 5000 nodes</vt:lpstr>
      <vt:lpstr>Properties of the GEO-P model  (Bonato, Janssen, Prałat, 2010)</vt:lpstr>
      <vt:lpstr>Degree Distribution</vt:lpstr>
      <vt:lpstr>Density</vt:lpstr>
      <vt:lpstr>Diameter</vt:lpstr>
      <vt:lpstr>Spectral properties</vt:lpstr>
      <vt:lpstr>Dimension of OSNs</vt:lpstr>
      <vt:lpstr>Uncovering the hidden reality</vt:lpstr>
      <vt:lpstr>6 Dimensions of Separation</vt:lpstr>
      <vt:lpstr>Research directions</vt:lpstr>
      <vt:lpstr>Slide 34</vt:lpstr>
      <vt:lpstr>Slide 35</vt:lpstr>
    </vt:vector>
  </TitlesOfParts>
  <Company>WLU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Models of the web graph</dc:title>
  <dc:creator>Anthony Bonato</dc:creator>
  <cp:lastModifiedBy>Anthony</cp:lastModifiedBy>
  <cp:revision>546</cp:revision>
  <dcterms:created xsi:type="dcterms:W3CDTF">2006-06-28T03:11:31Z</dcterms:created>
  <dcterms:modified xsi:type="dcterms:W3CDTF">2010-06-13T21:38:54Z</dcterms:modified>
</cp:coreProperties>
</file>