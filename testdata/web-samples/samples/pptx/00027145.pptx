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4"/>
  </p:handoutMasterIdLst>
  <p:sldIdLst>
    <p:sldId id="256" r:id="rId2"/>
    <p:sldId id="258" r:id="rId3"/>
    <p:sldId id="288" r:id="rId4"/>
    <p:sldId id="289" r:id="rId5"/>
    <p:sldId id="290" r:id="rId6"/>
    <p:sldId id="291" r:id="rId7"/>
    <p:sldId id="293" r:id="rId8"/>
    <p:sldId id="297" r:id="rId9"/>
    <p:sldId id="294" r:id="rId10"/>
    <p:sldId id="295" r:id="rId11"/>
    <p:sldId id="296" r:id="rId12"/>
    <p:sldId id="262" r:id="rId13"/>
    <p:sldId id="261" r:id="rId14"/>
    <p:sldId id="260" r:id="rId15"/>
    <p:sldId id="263" r:id="rId16"/>
    <p:sldId id="264" r:id="rId17"/>
    <p:sldId id="265" r:id="rId18"/>
    <p:sldId id="266" r:id="rId19"/>
    <p:sldId id="267" r:id="rId20"/>
    <p:sldId id="268" r:id="rId21"/>
    <p:sldId id="269" r:id="rId22"/>
    <p:sldId id="270" r:id="rId23"/>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A722"/>
    <a:srgbClr val="DEBE20"/>
    <a:srgbClr val="F0C31C"/>
    <a:srgbClr val="D98C25"/>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AU"/>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E7A2A0A4-1760-43F6-86CC-BB4EBB00C45C}" type="datetimeFigureOut">
              <a:rPr lang="en-AU"/>
              <a:pPr>
                <a:defRPr/>
              </a:pPr>
              <a:t>7/06/2011</a:t>
            </a:fld>
            <a:endParaRPr lang="en-AU"/>
          </a:p>
        </p:txBody>
      </p:sp>
      <p:sp>
        <p:nvSpPr>
          <p:cNvPr id="4" name="Footer Placeholder 3"/>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AU"/>
          </a:p>
        </p:txBody>
      </p:sp>
      <p:sp>
        <p:nvSpPr>
          <p:cNvPr id="5" name="Slide Number Placeholder 4"/>
          <p:cNvSpPr>
            <a:spLocks noGrp="1"/>
          </p:cNvSpPr>
          <p:nvPr>
            <p:ph type="sldNum" sz="quarter" idx="3"/>
          </p:nvPr>
        </p:nvSpPr>
        <p:spPr>
          <a:xfrm>
            <a:off x="3849688" y="9428163"/>
            <a:ext cx="2946400" cy="496887"/>
          </a:xfrm>
          <a:prstGeom prst="rect">
            <a:avLst/>
          </a:prstGeom>
        </p:spPr>
        <p:txBody>
          <a:bodyPr vert="horz" lIns="91440" tIns="45720" rIns="91440" bIns="45720" rtlCol="0" anchor="b"/>
          <a:lstStyle>
            <a:lvl1pPr algn="r" fontAlgn="auto">
              <a:spcBef>
                <a:spcPts val="0"/>
              </a:spcBef>
              <a:spcAft>
                <a:spcPts val="0"/>
              </a:spcAft>
              <a:defRPr sz="1200" smtClean="0">
                <a:latin typeface="+mn-lt"/>
              </a:defRPr>
            </a:lvl1pPr>
          </a:lstStyle>
          <a:p>
            <a:pPr>
              <a:defRPr/>
            </a:pPr>
            <a:fld id="{FD5950A7-0883-4CBF-838E-2CF8CFE5A908}" type="slidenum">
              <a:rPr lang="en-AU"/>
              <a:pPr>
                <a:defRPr/>
              </a:pPr>
              <a:t>‹#›</a:t>
            </a:fld>
            <a:endParaRPr lang="en-AU"/>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1997BBAA-8CAE-4EB8-8597-96C69F8F8706}" type="datetimeFigureOut">
              <a:rPr lang="en-AU"/>
              <a:pPr>
                <a:defRPr/>
              </a:pPr>
              <a:t>7/06/2011</a:t>
            </a:fld>
            <a:endParaRPr lang="en-AU"/>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0E570CFB-6AB1-48A9-B1AD-171A87E58361}" type="slidenum">
              <a:rPr lang="en-AU"/>
              <a:pPr>
                <a:defRPr/>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lvl1pPr>
              <a:defRPr/>
            </a:lvl1pPr>
          </a:lstStyle>
          <a:p>
            <a:pPr>
              <a:defRPr/>
            </a:pPr>
            <a:fld id="{968D94A7-78B7-4E98-9D36-A2B3128F626B}" type="datetimeFigureOut">
              <a:rPr lang="en-AU"/>
              <a:pPr>
                <a:defRPr/>
              </a:pPr>
              <a:t>7/06/2011</a:t>
            </a:fld>
            <a:endParaRPr lang="en-AU"/>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221EAAD8-BCBF-4799-9761-F27DED45B6BC}" type="slidenum">
              <a:rPr lang="en-AU"/>
              <a:pPr>
                <a:defRPr/>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pPr>
              <a:defRPr/>
            </a:pPr>
            <a:fld id="{A6BB38B4-9DF5-4319-9C44-8E2267FB7878}" type="datetimeFigureOut">
              <a:rPr lang="en-AU"/>
              <a:pPr>
                <a:defRPr/>
              </a:pPr>
              <a:t>7/06/2011</a:t>
            </a:fld>
            <a:endParaRPr lang="en-AU"/>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CA99B40A-285B-453F-A220-627C8DD9D2FF}" type="slidenum">
              <a:rPr lang="en-AU"/>
              <a:pPr>
                <a:defRPr/>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3"/>
          <p:cNvSpPr>
            <a:spLocks noGrp="1"/>
          </p:cNvSpPr>
          <p:nvPr>
            <p:ph type="dt" sz="half" idx="10"/>
          </p:nvPr>
        </p:nvSpPr>
        <p:spPr/>
        <p:txBody>
          <a:bodyPr/>
          <a:lstStyle>
            <a:lvl1pPr>
              <a:defRPr/>
            </a:lvl1pPr>
          </a:lstStyle>
          <a:p>
            <a:pPr>
              <a:defRPr/>
            </a:pPr>
            <a:fld id="{7CC18FDF-6430-41C7-8B6A-F169669150B9}" type="datetimeFigureOut">
              <a:rPr lang="en-AU"/>
              <a:pPr>
                <a:defRPr/>
              </a:pPr>
              <a:t>7/06/2011</a:t>
            </a:fld>
            <a:endParaRPr lang="en-AU"/>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1051F114-1EC7-4741-8724-E6BE4D45A3FE}" type="slidenum">
              <a:rPr lang="en-AU"/>
              <a:pPr>
                <a:defRPr/>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3"/>
          <p:cNvSpPr>
            <a:spLocks noGrp="1"/>
          </p:cNvSpPr>
          <p:nvPr>
            <p:ph type="dt" sz="half" idx="10"/>
          </p:nvPr>
        </p:nvSpPr>
        <p:spPr/>
        <p:txBody>
          <a:bodyPr/>
          <a:lstStyle>
            <a:lvl1pPr>
              <a:defRPr/>
            </a:lvl1pPr>
          </a:lstStyle>
          <a:p>
            <a:pPr>
              <a:defRPr/>
            </a:pPr>
            <a:fld id="{58653FD5-FCE8-4EC4-A2F5-D61DE5F9BEC3}" type="datetimeFigureOut">
              <a:rPr lang="en-AU"/>
              <a:pPr>
                <a:defRPr/>
              </a:pPr>
              <a:t>7/06/2011</a:t>
            </a:fld>
            <a:endParaRPr lang="en-AU"/>
          </a:p>
        </p:txBody>
      </p:sp>
      <p:sp>
        <p:nvSpPr>
          <p:cNvPr id="8" name="Footer Placeholder 4"/>
          <p:cNvSpPr>
            <a:spLocks noGrp="1"/>
          </p:cNvSpPr>
          <p:nvPr>
            <p:ph type="ftr" sz="quarter" idx="11"/>
          </p:nvPr>
        </p:nvSpPr>
        <p:spPr/>
        <p:txBody>
          <a:bodyPr/>
          <a:lstStyle>
            <a:lvl1pPr>
              <a:defRPr/>
            </a:lvl1pPr>
          </a:lstStyle>
          <a:p>
            <a:pPr>
              <a:defRPr/>
            </a:pPr>
            <a:endParaRPr lang="en-AU"/>
          </a:p>
        </p:txBody>
      </p:sp>
      <p:sp>
        <p:nvSpPr>
          <p:cNvPr id="9" name="Slide Number Placeholder 5"/>
          <p:cNvSpPr>
            <a:spLocks noGrp="1"/>
          </p:cNvSpPr>
          <p:nvPr>
            <p:ph type="sldNum" sz="quarter" idx="12"/>
          </p:nvPr>
        </p:nvSpPr>
        <p:spPr/>
        <p:txBody>
          <a:bodyPr/>
          <a:lstStyle>
            <a:lvl1pPr>
              <a:defRPr/>
            </a:lvl1pPr>
          </a:lstStyle>
          <a:p>
            <a:pPr>
              <a:defRPr/>
            </a:pPr>
            <a:fld id="{AFB90B0A-1ECF-4742-95C6-859CC4B64C84}" type="slidenum">
              <a:rPr lang="en-AU"/>
              <a:pPr>
                <a:defRPr/>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3"/>
          <p:cNvSpPr>
            <a:spLocks noGrp="1"/>
          </p:cNvSpPr>
          <p:nvPr>
            <p:ph type="dt" sz="half" idx="10"/>
          </p:nvPr>
        </p:nvSpPr>
        <p:spPr/>
        <p:txBody>
          <a:bodyPr/>
          <a:lstStyle>
            <a:lvl1pPr>
              <a:defRPr/>
            </a:lvl1pPr>
          </a:lstStyle>
          <a:p>
            <a:pPr>
              <a:defRPr/>
            </a:pPr>
            <a:fld id="{3A57D4D0-5ACB-45FA-88A3-5D795B8E4AD0}" type="datetimeFigureOut">
              <a:rPr lang="en-AU"/>
              <a:pPr>
                <a:defRPr/>
              </a:pPr>
              <a:t>7/06/2011</a:t>
            </a:fld>
            <a:endParaRPr lang="en-AU"/>
          </a:p>
        </p:txBody>
      </p:sp>
      <p:sp>
        <p:nvSpPr>
          <p:cNvPr id="4" name="Footer Placeholder 4"/>
          <p:cNvSpPr>
            <a:spLocks noGrp="1"/>
          </p:cNvSpPr>
          <p:nvPr>
            <p:ph type="ftr" sz="quarter" idx="11"/>
          </p:nvPr>
        </p:nvSpPr>
        <p:spPr/>
        <p:txBody>
          <a:bodyPr/>
          <a:lstStyle>
            <a:lvl1pPr>
              <a:defRPr/>
            </a:lvl1pPr>
          </a:lstStyle>
          <a:p>
            <a:pPr>
              <a:defRPr/>
            </a:pPr>
            <a:endParaRPr lang="en-AU"/>
          </a:p>
        </p:txBody>
      </p:sp>
      <p:sp>
        <p:nvSpPr>
          <p:cNvPr id="5" name="Slide Number Placeholder 5"/>
          <p:cNvSpPr>
            <a:spLocks noGrp="1"/>
          </p:cNvSpPr>
          <p:nvPr>
            <p:ph type="sldNum" sz="quarter" idx="12"/>
          </p:nvPr>
        </p:nvSpPr>
        <p:spPr/>
        <p:txBody>
          <a:bodyPr/>
          <a:lstStyle>
            <a:lvl1pPr>
              <a:defRPr/>
            </a:lvl1pPr>
          </a:lstStyle>
          <a:p>
            <a:pPr>
              <a:defRPr/>
            </a:pPr>
            <a:fld id="{0233E31E-BDAE-44DA-ADE5-4DA7D1FF2E98}" type="slidenum">
              <a:rPr lang="en-AU"/>
              <a:pPr>
                <a:defRPr/>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CC8B674-DE98-431C-B2A7-4E1AB54C8459}" type="datetimeFigureOut">
              <a:rPr lang="en-AU"/>
              <a:pPr>
                <a:defRPr/>
              </a:pPr>
              <a:t>7/06/2011</a:t>
            </a:fld>
            <a:endParaRPr lang="en-AU"/>
          </a:p>
        </p:txBody>
      </p:sp>
      <p:sp>
        <p:nvSpPr>
          <p:cNvPr id="3" name="Footer Placeholder 4"/>
          <p:cNvSpPr>
            <a:spLocks noGrp="1"/>
          </p:cNvSpPr>
          <p:nvPr>
            <p:ph type="ftr" sz="quarter" idx="11"/>
          </p:nvPr>
        </p:nvSpPr>
        <p:spPr/>
        <p:txBody>
          <a:bodyPr/>
          <a:lstStyle>
            <a:lvl1pPr>
              <a:defRPr/>
            </a:lvl1pPr>
          </a:lstStyle>
          <a:p>
            <a:pPr>
              <a:defRPr/>
            </a:pPr>
            <a:endParaRPr lang="en-AU"/>
          </a:p>
        </p:txBody>
      </p:sp>
      <p:sp>
        <p:nvSpPr>
          <p:cNvPr id="4" name="Slide Number Placeholder 5"/>
          <p:cNvSpPr>
            <a:spLocks noGrp="1"/>
          </p:cNvSpPr>
          <p:nvPr>
            <p:ph type="sldNum" sz="quarter" idx="12"/>
          </p:nvPr>
        </p:nvSpPr>
        <p:spPr/>
        <p:txBody>
          <a:bodyPr/>
          <a:lstStyle>
            <a:lvl1pPr>
              <a:defRPr/>
            </a:lvl1pPr>
          </a:lstStyle>
          <a:p>
            <a:pPr>
              <a:defRPr/>
            </a:pPr>
            <a:fld id="{3B4099EA-715D-4355-9D7A-B0EEE234AB52}" type="slidenum">
              <a:rPr lang="en-AU"/>
              <a:pPr>
                <a:defRPr/>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056AEE3-2FA9-4A1B-A5FA-4FEC28FDF309}" type="datetimeFigureOut">
              <a:rPr lang="en-AU"/>
              <a:pPr>
                <a:defRPr/>
              </a:pPr>
              <a:t>7/06/2011</a:t>
            </a:fld>
            <a:endParaRPr lang="en-AU"/>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8FC4EB03-7E3C-44AA-AC44-357B80C51F3E}" type="slidenum">
              <a:rPr lang="en-AU"/>
              <a:pPr>
                <a:defRPr/>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E23EE0AC-B41B-4AD4-A03A-D2084CB4F4A5}" type="datetimeFigureOut">
              <a:rPr lang="en-AU"/>
              <a:pPr>
                <a:defRPr/>
              </a:pPr>
              <a:t>7/06/2011</a:t>
            </a:fld>
            <a:endParaRPr lang="en-AU"/>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7C8880DF-A300-48C7-BC61-272518D233D1}" type="slidenum">
              <a:rPr lang="en-AU"/>
              <a:pPr>
                <a:defRPr/>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pPr>
              <a:defRPr/>
            </a:pPr>
            <a:fld id="{0B875FF4-B7E5-4B3B-A9B2-BE00A35E8DA3}" type="datetimeFigureOut">
              <a:rPr lang="en-AU"/>
              <a:pPr>
                <a:defRPr/>
              </a:pPr>
              <a:t>7/06/2011</a:t>
            </a:fld>
            <a:endParaRPr lang="en-AU"/>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02202D2D-8396-4671-A797-80230ACC81E7}" type="slidenum">
              <a:rPr lang="en-AU"/>
              <a:pPr>
                <a:defRPr/>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pPr>
              <a:defRPr/>
            </a:pPr>
            <a:fld id="{8E0704C3-F2A2-4EB3-B2BB-CFCF0768D28B}" type="datetimeFigureOut">
              <a:rPr lang="en-AU"/>
              <a:pPr>
                <a:defRPr/>
              </a:pPr>
              <a:t>7/06/2011</a:t>
            </a:fld>
            <a:endParaRPr lang="en-AU"/>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8F80148D-23E9-42D4-B4AF-6C7126FF7FC6}" type="slidenum">
              <a:rPr lang="en-AU"/>
              <a:pPr>
                <a:defRPr/>
              </a:pPr>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3"/>
          <p:cNvSpPr>
            <a:spLocks noGrp="1"/>
          </p:cNvSpPr>
          <p:nvPr>
            <p:ph type="dt" sz="half" idx="10"/>
          </p:nvPr>
        </p:nvSpPr>
        <p:spPr/>
        <p:txBody>
          <a:bodyPr/>
          <a:lstStyle>
            <a:lvl1pPr>
              <a:defRPr/>
            </a:lvl1pPr>
          </a:lstStyle>
          <a:p>
            <a:pPr>
              <a:defRPr/>
            </a:pPr>
            <a:fld id="{CBC4359D-C802-4569-9687-A6324CE4DF04}" type="datetimeFigureOut">
              <a:rPr lang="en-AU"/>
              <a:pPr>
                <a:defRPr/>
              </a:pPr>
              <a:t>7/06/2011</a:t>
            </a:fld>
            <a:endParaRPr lang="en-AU"/>
          </a:p>
        </p:txBody>
      </p:sp>
      <p:sp>
        <p:nvSpPr>
          <p:cNvPr id="4" name="Footer Placeholder 4"/>
          <p:cNvSpPr>
            <a:spLocks noGrp="1"/>
          </p:cNvSpPr>
          <p:nvPr>
            <p:ph type="ftr" sz="quarter" idx="11"/>
          </p:nvPr>
        </p:nvSpPr>
        <p:spPr/>
        <p:txBody>
          <a:bodyPr/>
          <a:lstStyle>
            <a:lvl1pPr>
              <a:defRPr/>
            </a:lvl1pPr>
          </a:lstStyle>
          <a:p>
            <a:pPr>
              <a:defRPr/>
            </a:pPr>
            <a:endParaRPr lang="en-AU"/>
          </a:p>
        </p:txBody>
      </p:sp>
      <p:sp>
        <p:nvSpPr>
          <p:cNvPr id="5" name="Slide Number Placeholder 5"/>
          <p:cNvSpPr>
            <a:spLocks noGrp="1"/>
          </p:cNvSpPr>
          <p:nvPr>
            <p:ph type="sldNum" sz="quarter" idx="12"/>
          </p:nvPr>
        </p:nvSpPr>
        <p:spPr/>
        <p:txBody>
          <a:bodyPr/>
          <a:lstStyle>
            <a:lvl1pPr>
              <a:defRPr/>
            </a:lvl1pPr>
          </a:lstStyle>
          <a:p>
            <a:pPr>
              <a:defRPr/>
            </a:pPr>
            <a:fld id="{B8EF5542-9402-43EF-BFF9-9B12586F5BEA}" type="slidenum">
              <a:rPr lang="en-AU"/>
              <a:pPr>
                <a:defRPr/>
              </a:pPr>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AU" smtClean="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34864F49-B862-4F87-8838-74F79C5F3AB0}" type="datetimeFigureOut">
              <a:rPr lang="en-AU"/>
              <a:pPr>
                <a:defRPr/>
              </a:pPr>
              <a:t>7/06/2011</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C5DB13E9-96D8-4262-9EC1-E41D15A1B58B}" type="slidenum">
              <a:rPr lang="en-AU"/>
              <a:pPr>
                <a:defRPr/>
              </a:pPr>
              <a:t>‹#›</a:t>
            </a:fld>
            <a:endParaRPr lang="en-AU"/>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 id="2147483649" r:id="rId12"/>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dirty="0"/>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AU" sz="4400" dirty="0">
                <a:latin typeface="+mj-lt"/>
                <a:cs typeface="Gisha" pitchFamily="34" charset="-79"/>
              </a:rPr>
              <a:t>Agenda</a:t>
            </a:r>
            <a:endParaRPr lang="en-AU" sz="4400" dirty="0">
              <a:latin typeface="Gisha" pitchFamily="34" charset="-79"/>
              <a:cs typeface="Gisha" pitchFamily="34" charset="-79"/>
            </a:endParaRPr>
          </a:p>
        </p:txBody>
      </p:sp>
      <p:pic>
        <p:nvPicPr>
          <p:cNvPr id="15363"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15364" name="TextBox 7"/>
          <p:cNvSpPr txBox="1">
            <a:spLocks noChangeArrowheads="1"/>
          </p:cNvSpPr>
          <p:nvPr/>
        </p:nvSpPr>
        <p:spPr bwMode="auto">
          <a:xfrm>
            <a:off x="395288" y="2205038"/>
            <a:ext cx="8353425" cy="3692525"/>
          </a:xfrm>
          <a:prstGeom prst="rect">
            <a:avLst/>
          </a:prstGeom>
          <a:noFill/>
          <a:ln w="9525">
            <a:noFill/>
            <a:miter lim="800000"/>
            <a:headEnd/>
            <a:tailEnd/>
          </a:ln>
        </p:spPr>
        <p:txBody>
          <a:bodyPr>
            <a:spAutoFit/>
          </a:bodyPr>
          <a:lstStyle/>
          <a:p>
            <a:r>
              <a:rPr lang="en-AU" sz="2400" b="1">
                <a:latin typeface="Calibri" pitchFamily="34" charset="0"/>
              </a:rPr>
              <a:t>Super Gearing Bare Trusts &amp; SMSF Borrowing: The Lawyers Perspective</a:t>
            </a:r>
          </a:p>
          <a:p>
            <a:r>
              <a:rPr lang="en-AU">
                <a:latin typeface="Calibri" pitchFamily="34" charset="0"/>
              </a:rPr>
              <a:t>Presented by Paul Trainor</a:t>
            </a:r>
          </a:p>
          <a:p>
            <a:endParaRPr lang="en-AU" sz="2400" b="1">
              <a:latin typeface="Calibri" pitchFamily="34" charset="0"/>
            </a:endParaRPr>
          </a:p>
          <a:p>
            <a:r>
              <a:rPr lang="en-AU" sz="2400" b="1">
                <a:latin typeface="Calibri" pitchFamily="34" charset="0"/>
              </a:rPr>
              <a:t>SMSF Wills: What are they? Do we need them?</a:t>
            </a:r>
          </a:p>
          <a:p>
            <a:r>
              <a:rPr lang="en-AU">
                <a:latin typeface="Calibri" pitchFamily="34" charset="0"/>
              </a:rPr>
              <a:t>Present by Martin Craig</a:t>
            </a:r>
          </a:p>
          <a:p>
            <a:endParaRPr lang="en-AU" sz="2400" b="1">
              <a:latin typeface="Calibri" pitchFamily="34" charset="0"/>
            </a:endParaRPr>
          </a:p>
          <a:p>
            <a:r>
              <a:rPr lang="en-AU" sz="2400" b="1">
                <a:latin typeface="Calibri" pitchFamily="34" charset="0"/>
              </a:rPr>
              <a:t>Anti Detriment Payments: The Accountants Perspective</a:t>
            </a:r>
          </a:p>
          <a:p>
            <a:r>
              <a:rPr lang="en-AU">
                <a:latin typeface="Calibri" pitchFamily="34" charset="0"/>
              </a:rPr>
              <a:t>Presented by Peter Johnson</a:t>
            </a:r>
          </a:p>
          <a:p>
            <a:endParaRPr lang="en-AU">
              <a:latin typeface="Calibri" pitchFamily="34" charset="0"/>
            </a:endParaRPr>
          </a:p>
          <a:p>
            <a:endParaRPr lang="en-AU">
              <a:latin typeface="Calibri"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dirty="0"/>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AU" sz="4400" dirty="0">
              <a:solidFill>
                <a:schemeClr val="bg1"/>
              </a:solidFill>
            </a:endParaRPr>
          </a:p>
        </p:txBody>
      </p:sp>
      <p:pic>
        <p:nvPicPr>
          <p:cNvPr id="17411"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17412" name="Rectangle 6"/>
          <p:cNvSpPr>
            <a:spLocks noChangeArrowheads="1"/>
          </p:cNvSpPr>
          <p:nvPr/>
        </p:nvSpPr>
        <p:spPr bwMode="auto">
          <a:xfrm>
            <a:off x="395288" y="4221163"/>
            <a:ext cx="8280400" cy="1739900"/>
          </a:xfrm>
          <a:prstGeom prst="rect">
            <a:avLst/>
          </a:prstGeom>
          <a:noFill/>
          <a:ln w="9525">
            <a:noFill/>
            <a:miter lim="800000"/>
            <a:headEnd/>
            <a:tailEnd/>
          </a:ln>
        </p:spPr>
        <p:txBody>
          <a:bodyPr>
            <a:spAutoFit/>
          </a:bodyPr>
          <a:lstStyle/>
          <a:p>
            <a:r>
              <a:rPr lang="en-AU" sz="3600" b="1">
                <a:latin typeface="Calibri" pitchFamily="34" charset="0"/>
              </a:rPr>
              <a:t>SMSF Wills: What are they? Do we need them?</a:t>
            </a:r>
          </a:p>
          <a:p>
            <a:r>
              <a:rPr lang="en-AU" sz="3600">
                <a:latin typeface="Calibri" pitchFamily="34" charset="0"/>
              </a:rPr>
              <a:t>Presented by Martin Craig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dirty="0"/>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AU" sz="4400" dirty="0">
                <a:latin typeface="+mj-lt"/>
              </a:rPr>
              <a:t>SMSF</a:t>
            </a:r>
            <a:r>
              <a:rPr lang="en-AU" sz="4400" b="1" dirty="0">
                <a:latin typeface="+mj-lt"/>
              </a:rPr>
              <a:t> </a:t>
            </a:r>
            <a:r>
              <a:rPr lang="en-AU" sz="4400" dirty="0">
                <a:latin typeface="+mj-lt"/>
              </a:rPr>
              <a:t>Wills</a:t>
            </a:r>
          </a:p>
        </p:txBody>
      </p:sp>
      <p:pic>
        <p:nvPicPr>
          <p:cNvPr id="18435"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18436" name="Rectangle 6"/>
          <p:cNvSpPr>
            <a:spLocks noChangeArrowheads="1"/>
          </p:cNvSpPr>
          <p:nvPr/>
        </p:nvSpPr>
        <p:spPr bwMode="auto">
          <a:xfrm>
            <a:off x="468313" y="2133600"/>
            <a:ext cx="8207375" cy="2647950"/>
          </a:xfrm>
          <a:prstGeom prst="rect">
            <a:avLst/>
          </a:prstGeom>
          <a:noFill/>
          <a:ln w="9525">
            <a:noFill/>
            <a:miter lim="800000"/>
            <a:headEnd/>
            <a:tailEnd/>
          </a:ln>
        </p:spPr>
        <p:txBody>
          <a:bodyPr>
            <a:spAutoFit/>
          </a:bodyPr>
          <a:lstStyle/>
          <a:p>
            <a:endParaRPr lang="en-AU" sz="2400">
              <a:latin typeface="Calibri" pitchFamily="34" charset="0"/>
            </a:endParaRPr>
          </a:p>
          <a:p>
            <a:r>
              <a:rPr lang="en-AU" sz="2400">
                <a:latin typeface="Calibri" pitchFamily="34" charset="0"/>
              </a:rPr>
              <a:t>Fund rules may permit members to give directions to fund trustee about payment of death benefit      </a:t>
            </a:r>
            <a:r>
              <a:rPr lang="en-AU">
                <a:latin typeface="Calibri" pitchFamily="34" charset="0"/>
              </a:rPr>
              <a:t>s59(1A) SISA, Reg 6.17A</a:t>
            </a:r>
          </a:p>
          <a:p>
            <a:endParaRPr lang="en-AU" sz="2400">
              <a:latin typeface="Calibri" pitchFamily="34" charset="0"/>
            </a:endParaRPr>
          </a:p>
          <a:p>
            <a:endParaRPr lang="en-AU" sz="2400">
              <a:latin typeface="Calibri" pitchFamily="34" charset="0"/>
            </a:endParaRPr>
          </a:p>
          <a:p>
            <a:r>
              <a:rPr lang="en-AU" sz="2400">
                <a:latin typeface="Calibri" pitchFamily="34" charset="0"/>
              </a:rPr>
              <a:t>SISR formalities associated with a death benefits direction about payment do not have to apply to SMSF    </a:t>
            </a:r>
            <a:r>
              <a:rPr lang="en-AU">
                <a:latin typeface="Calibri" pitchFamily="34" charset="0"/>
              </a:rPr>
              <a:t>s59(1A) SISA,  SMSFD2008/3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AU" sz="4400" dirty="0">
                <a:latin typeface="+mj-lt"/>
              </a:rPr>
              <a:t>SMSF</a:t>
            </a:r>
            <a:r>
              <a:rPr lang="en-AU" sz="4400" b="1" dirty="0">
                <a:latin typeface="+mj-lt"/>
              </a:rPr>
              <a:t> </a:t>
            </a:r>
            <a:r>
              <a:rPr lang="en-AU" sz="4400" dirty="0">
                <a:latin typeface="+mj-lt"/>
              </a:rPr>
              <a:t>Wills</a:t>
            </a:r>
          </a:p>
        </p:txBody>
      </p:sp>
      <p:pic>
        <p:nvPicPr>
          <p:cNvPr id="19459"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19460" name="Rectangle 6"/>
          <p:cNvSpPr>
            <a:spLocks noChangeArrowheads="1"/>
          </p:cNvSpPr>
          <p:nvPr/>
        </p:nvSpPr>
        <p:spPr bwMode="auto">
          <a:xfrm>
            <a:off x="468313" y="2349500"/>
            <a:ext cx="8207375" cy="2282825"/>
          </a:xfrm>
          <a:prstGeom prst="rect">
            <a:avLst/>
          </a:prstGeom>
          <a:noFill/>
          <a:ln w="9525">
            <a:noFill/>
            <a:miter lim="800000"/>
            <a:headEnd/>
            <a:tailEnd/>
          </a:ln>
        </p:spPr>
        <p:txBody>
          <a:bodyPr>
            <a:spAutoFit/>
          </a:bodyPr>
          <a:lstStyle/>
          <a:p>
            <a:r>
              <a:rPr lang="en-AU" sz="2400">
                <a:latin typeface="Calibri" pitchFamily="34" charset="0"/>
              </a:rPr>
              <a:t>Upon member's death, benefit can only be paid to member's LPR or one or more of member's dependants </a:t>
            </a:r>
            <a:r>
              <a:rPr lang="en-AU"/>
              <a:t>(some limited exceptions)</a:t>
            </a:r>
            <a:r>
              <a:rPr lang="en-AU" sz="2400">
                <a:latin typeface="Calibri" pitchFamily="34" charset="0"/>
              </a:rPr>
              <a:t>   </a:t>
            </a:r>
            <a:r>
              <a:rPr lang="en-AU">
                <a:latin typeface="Calibri" pitchFamily="34" charset="0"/>
              </a:rPr>
              <a:t>s55A SISA, Reg 6.22</a:t>
            </a:r>
          </a:p>
          <a:p>
            <a:endParaRPr lang="en-AU" sz="2400">
              <a:latin typeface="Calibri" pitchFamily="34" charset="0"/>
            </a:endParaRPr>
          </a:p>
          <a:p>
            <a:r>
              <a:rPr lang="en-AU" sz="2400">
                <a:latin typeface="Calibri" pitchFamily="34" charset="0"/>
              </a:rPr>
              <a:t>Since 01/07/2010, restrictions apply to income stream payment to dependant child    </a:t>
            </a:r>
            <a:r>
              <a:rPr lang="en-AU">
                <a:latin typeface="Calibri" pitchFamily="34" charset="0"/>
              </a:rPr>
              <a:t>Reg 6.21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AU" sz="4400" dirty="0">
                <a:latin typeface="+mj-lt"/>
              </a:rPr>
              <a:t>SMSF</a:t>
            </a:r>
            <a:r>
              <a:rPr lang="en-AU" sz="4400" b="1" dirty="0">
                <a:latin typeface="+mj-lt"/>
              </a:rPr>
              <a:t> </a:t>
            </a:r>
            <a:r>
              <a:rPr lang="en-AU" sz="4400" dirty="0">
                <a:latin typeface="+mj-lt"/>
              </a:rPr>
              <a:t>Wills</a:t>
            </a:r>
          </a:p>
        </p:txBody>
      </p:sp>
      <p:pic>
        <p:nvPicPr>
          <p:cNvPr id="20483"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20484" name="Rectangle 6"/>
          <p:cNvSpPr>
            <a:spLocks noChangeArrowheads="1"/>
          </p:cNvSpPr>
          <p:nvPr/>
        </p:nvSpPr>
        <p:spPr bwMode="auto">
          <a:xfrm>
            <a:off x="468313" y="2060575"/>
            <a:ext cx="8207375" cy="3106738"/>
          </a:xfrm>
          <a:prstGeom prst="rect">
            <a:avLst/>
          </a:prstGeom>
          <a:noFill/>
          <a:ln w="9525">
            <a:noFill/>
            <a:miter lim="800000"/>
            <a:headEnd/>
            <a:tailEnd/>
          </a:ln>
        </p:spPr>
        <p:txBody>
          <a:bodyPr>
            <a:spAutoFit/>
          </a:bodyPr>
          <a:lstStyle/>
          <a:p>
            <a:r>
              <a:rPr lang="en-AU" sz="2400" b="1">
                <a:latin typeface="Calibri" pitchFamily="34" charset="0"/>
              </a:rPr>
              <a:t>SMSF Dependant:</a:t>
            </a:r>
          </a:p>
          <a:p>
            <a:r>
              <a:rPr lang="en-AU" sz="2400">
                <a:latin typeface="Calibri" pitchFamily="34" charset="0"/>
              </a:rPr>
              <a:t>Includes spouse (but not former spouse), child and any person in interdependent relationship    </a:t>
            </a:r>
            <a:r>
              <a:rPr lang="en-AU">
                <a:latin typeface="Calibri" pitchFamily="34" charset="0"/>
              </a:rPr>
              <a:t>s10 SISA</a:t>
            </a:r>
          </a:p>
          <a:p>
            <a:endParaRPr lang="en-AU">
              <a:latin typeface="Calibri" pitchFamily="34" charset="0"/>
            </a:endParaRPr>
          </a:p>
          <a:p>
            <a:endParaRPr lang="en-AU">
              <a:latin typeface="Calibri" pitchFamily="34" charset="0"/>
            </a:endParaRPr>
          </a:p>
          <a:p>
            <a:r>
              <a:rPr lang="en-AU" sz="2400" b="1">
                <a:latin typeface="Calibri" pitchFamily="34" charset="0"/>
              </a:rPr>
              <a:t>ITAA Dependant:</a:t>
            </a:r>
          </a:p>
          <a:p>
            <a:r>
              <a:rPr lang="en-AU" sz="2400">
                <a:latin typeface="Calibri" pitchFamily="34" charset="0"/>
              </a:rPr>
              <a:t>Spouse, former spouse, child under 18, any person dependent on the member and any person in interdependent relationship</a:t>
            </a:r>
          </a:p>
          <a:p>
            <a:r>
              <a:rPr lang="en-AU">
                <a:latin typeface="Calibri" pitchFamily="34" charset="0"/>
              </a:rPr>
              <a:t>s302.195 ITAA 1997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AU" sz="4400" dirty="0">
                <a:latin typeface="+mj-lt"/>
              </a:rPr>
              <a:t>SMSF</a:t>
            </a:r>
            <a:r>
              <a:rPr lang="en-AU" sz="4400" b="1" dirty="0">
                <a:latin typeface="+mj-lt"/>
              </a:rPr>
              <a:t> </a:t>
            </a:r>
            <a:r>
              <a:rPr lang="en-AU" sz="4400" dirty="0">
                <a:latin typeface="+mj-lt"/>
              </a:rPr>
              <a:t>Wills</a:t>
            </a:r>
          </a:p>
        </p:txBody>
      </p:sp>
      <p:pic>
        <p:nvPicPr>
          <p:cNvPr id="21507"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21508" name="Rectangle 6"/>
          <p:cNvSpPr>
            <a:spLocks noChangeArrowheads="1"/>
          </p:cNvSpPr>
          <p:nvPr/>
        </p:nvSpPr>
        <p:spPr bwMode="auto">
          <a:xfrm>
            <a:off x="468313" y="2133600"/>
            <a:ext cx="8207375" cy="1917700"/>
          </a:xfrm>
          <a:prstGeom prst="rect">
            <a:avLst/>
          </a:prstGeom>
          <a:noFill/>
          <a:ln w="9525">
            <a:noFill/>
            <a:miter lim="800000"/>
            <a:headEnd/>
            <a:tailEnd/>
          </a:ln>
        </p:spPr>
        <p:txBody>
          <a:bodyPr>
            <a:spAutoFit/>
          </a:bodyPr>
          <a:lstStyle/>
          <a:p>
            <a:r>
              <a:rPr lang="en-AU" sz="2400">
                <a:latin typeface="Calibri" pitchFamily="34" charset="0"/>
              </a:rPr>
              <a:t>Different tax treatment for dependant and non-dependants:</a:t>
            </a:r>
          </a:p>
          <a:p>
            <a:pPr>
              <a:buFont typeface="Arial" charset="0"/>
              <a:buChar char="•"/>
            </a:pPr>
            <a:endParaRPr lang="en-AU" sz="2400">
              <a:latin typeface="Calibri" pitchFamily="34" charset="0"/>
            </a:endParaRPr>
          </a:p>
          <a:p>
            <a:pPr lvl="1">
              <a:buFont typeface="Arial" charset="0"/>
              <a:buChar char="•"/>
            </a:pPr>
            <a:r>
              <a:rPr lang="en-AU" sz="2400">
                <a:latin typeface="Calibri" pitchFamily="34" charset="0"/>
              </a:rPr>
              <a:t>    Payment to dependants                </a:t>
            </a:r>
            <a:r>
              <a:rPr lang="en-AU">
                <a:latin typeface="Calibri" pitchFamily="34" charset="0"/>
              </a:rPr>
              <a:t>Subdivision 302B ITAA 1997</a:t>
            </a:r>
          </a:p>
          <a:p>
            <a:pPr lvl="1">
              <a:buFont typeface="Arial" charset="0"/>
              <a:buNone/>
            </a:pPr>
            <a:endParaRPr lang="en-AU" sz="2400">
              <a:latin typeface="Calibri" pitchFamily="34" charset="0"/>
            </a:endParaRPr>
          </a:p>
          <a:p>
            <a:pPr lvl="1">
              <a:buFont typeface="Arial" charset="0"/>
              <a:buChar char="•"/>
            </a:pPr>
            <a:r>
              <a:rPr lang="en-AU" sz="2400">
                <a:latin typeface="Calibri" pitchFamily="34" charset="0"/>
              </a:rPr>
              <a:t>    Payment to non-dependants       </a:t>
            </a:r>
            <a:r>
              <a:rPr lang="en-AU">
                <a:latin typeface="Calibri" pitchFamily="34" charset="0"/>
              </a:rPr>
              <a:t>Subdivision 302C ITAA 1997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AU" sz="4400" dirty="0">
                <a:latin typeface="+mj-lt"/>
              </a:rPr>
              <a:t>SMSF</a:t>
            </a:r>
            <a:r>
              <a:rPr lang="en-AU" sz="4400" b="1" dirty="0">
                <a:latin typeface="+mj-lt"/>
              </a:rPr>
              <a:t> </a:t>
            </a:r>
            <a:r>
              <a:rPr lang="en-AU" sz="4400" dirty="0">
                <a:latin typeface="+mj-lt"/>
              </a:rPr>
              <a:t>Wills</a:t>
            </a:r>
          </a:p>
        </p:txBody>
      </p:sp>
      <p:pic>
        <p:nvPicPr>
          <p:cNvPr id="22531"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22532" name="Rectangle 6"/>
          <p:cNvSpPr>
            <a:spLocks noChangeArrowheads="1"/>
          </p:cNvSpPr>
          <p:nvPr/>
        </p:nvSpPr>
        <p:spPr bwMode="auto">
          <a:xfrm>
            <a:off x="539750" y="2276475"/>
            <a:ext cx="8135938" cy="2465388"/>
          </a:xfrm>
          <a:prstGeom prst="rect">
            <a:avLst/>
          </a:prstGeom>
          <a:noFill/>
          <a:ln w="9525">
            <a:noFill/>
            <a:miter lim="800000"/>
            <a:headEnd/>
            <a:tailEnd/>
          </a:ln>
        </p:spPr>
        <p:txBody>
          <a:bodyPr>
            <a:spAutoFit/>
          </a:bodyPr>
          <a:lstStyle/>
          <a:p>
            <a:pPr>
              <a:lnSpc>
                <a:spcPct val="90000"/>
              </a:lnSpc>
              <a:spcAft>
                <a:spcPct val="50000"/>
              </a:spcAft>
            </a:pPr>
            <a:r>
              <a:rPr lang="en-AU" sz="2400" b="1">
                <a:latin typeface="Calibri" pitchFamily="34" charset="0"/>
              </a:rPr>
              <a:t>Binding v Non-Binding directions:</a:t>
            </a:r>
          </a:p>
          <a:p>
            <a:pPr>
              <a:lnSpc>
                <a:spcPct val="90000"/>
              </a:lnSpc>
              <a:spcAft>
                <a:spcPct val="50000"/>
              </a:spcAft>
              <a:buFont typeface="Arial" charset="0"/>
              <a:buChar char="•"/>
            </a:pPr>
            <a:r>
              <a:rPr lang="en-AU" sz="2400">
                <a:latin typeface="Calibri" pitchFamily="34" charset="0"/>
              </a:rPr>
              <a:t>    Flexibility over control</a:t>
            </a:r>
          </a:p>
          <a:p>
            <a:pPr>
              <a:lnSpc>
                <a:spcPct val="90000"/>
              </a:lnSpc>
              <a:spcAft>
                <a:spcPct val="50000"/>
              </a:spcAft>
              <a:buFont typeface="Arial" charset="0"/>
              <a:buChar char="•"/>
            </a:pPr>
            <a:r>
              <a:rPr lang="en-AU" sz="2400">
                <a:latin typeface="Calibri" pitchFamily="34" charset="0"/>
              </a:rPr>
              <a:t>    Protection from claims against estate</a:t>
            </a:r>
          </a:p>
          <a:p>
            <a:pPr>
              <a:lnSpc>
                <a:spcPct val="90000"/>
              </a:lnSpc>
              <a:spcAft>
                <a:spcPct val="50000"/>
              </a:spcAft>
              <a:buFont typeface="Arial" charset="0"/>
              <a:buChar char="•"/>
            </a:pPr>
            <a:r>
              <a:rPr lang="en-AU" sz="2400">
                <a:latin typeface="Calibri" pitchFamily="34" charset="0"/>
              </a:rPr>
              <a:t>    Blended families</a:t>
            </a:r>
          </a:p>
          <a:p>
            <a:pPr>
              <a:lnSpc>
                <a:spcPct val="90000"/>
              </a:lnSpc>
              <a:spcAft>
                <a:spcPct val="50000"/>
              </a:spcAft>
              <a:buFont typeface="Arial" charset="0"/>
              <a:buChar char="•"/>
            </a:pPr>
            <a:r>
              <a:rPr lang="en-AU" sz="2400">
                <a:latin typeface="Calibri" pitchFamily="34" charset="0"/>
              </a:rPr>
              <a:t>    Changed circumstances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AU" sz="4400">
                <a:solidFill>
                  <a:srgbClr val="FFFFFF"/>
                </a:solidFill>
              </a:rPr>
              <a:t>SMSF</a:t>
            </a:r>
            <a:r>
              <a:rPr lang="en-AU" sz="4400" b="1">
                <a:solidFill>
                  <a:srgbClr val="FFFFFF"/>
                </a:solidFill>
              </a:rPr>
              <a:t> </a:t>
            </a:r>
            <a:r>
              <a:rPr lang="en-AU" sz="4400">
                <a:solidFill>
                  <a:srgbClr val="FFFFFF"/>
                </a:solidFill>
              </a:rPr>
              <a:t>Wills</a:t>
            </a:r>
          </a:p>
        </p:txBody>
      </p:sp>
      <p:pic>
        <p:nvPicPr>
          <p:cNvPr id="24579"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24580" name="Rectangle 6"/>
          <p:cNvSpPr>
            <a:spLocks noChangeArrowheads="1"/>
          </p:cNvSpPr>
          <p:nvPr/>
        </p:nvSpPr>
        <p:spPr bwMode="auto">
          <a:xfrm>
            <a:off x="468313" y="1844675"/>
            <a:ext cx="8207375" cy="3852863"/>
          </a:xfrm>
          <a:prstGeom prst="rect">
            <a:avLst/>
          </a:prstGeom>
          <a:noFill/>
          <a:ln w="9525">
            <a:noFill/>
            <a:miter lim="800000"/>
            <a:headEnd/>
            <a:tailEnd/>
          </a:ln>
        </p:spPr>
        <p:txBody>
          <a:bodyPr>
            <a:spAutoFit/>
          </a:bodyPr>
          <a:lstStyle/>
          <a:p>
            <a:pPr>
              <a:spcAft>
                <a:spcPct val="50000"/>
              </a:spcAft>
            </a:pPr>
            <a:r>
              <a:rPr lang="en-AU" sz="2400" b="1">
                <a:latin typeface="Calibri" pitchFamily="34" charset="0"/>
              </a:rPr>
              <a:t>What is an SMSF Will?</a:t>
            </a:r>
          </a:p>
          <a:p>
            <a:pPr>
              <a:lnSpc>
                <a:spcPct val="90000"/>
              </a:lnSpc>
              <a:spcAft>
                <a:spcPct val="50000"/>
              </a:spcAft>
            </a:pPr>
            <a:r>
              <a:rPr lang="en-AU" sz="2400">
                <a:latin typeface="Calibri" pitchFamily="34" charset="0"/>
              </a:rPr>
              <a:t>A sophisticated death benefit direction that has all or some of the following characteristics:</a:t>
            </a:r>
          </a:p>
          <a:p>
            <a:pPr lvl="1">
              <a:lnSpc>
                <a:spcPct val="90000"/>
              </a:lnSpc>
              <a:spcAft>
                <a:spcPct val="50000"/>
              </a:spcAft>
              <a:buFont typeface="Arial" charset="0"/>
              <a:buChar char="•"/>
            </a:pPr>
            <a:r>
              <a:rPr lang="en-AU" sz="2400">
                <a:latin typeface="Calibri" pitchFamily="34" charset="0"/>
              </a:rPr>
              <a:t>    Lapsing or non-lapsing</a:t>
            </a:r>
          </a:p>
          <a:p>
            <a:pPr lvl="1">
              <a:lnSpc>
                <a:spcPct val="90000"/>
              </a:lnSpc>
              <a:spcAft>
                <a:spcPct val="50000"/>
              </a:spcAft>
              <a:buFont typeface="Arial" charset="0"/>
              <a:buChar char="•"/>
            </a:pPr>
            <a:r>
              <a:rPr lang="en-AU" sz="2400">
                <a:latin typeface="Calibri" pitchFamily="34" charset="0"/>
              </a:rPr>
              <a:t>    Combination of binding and non-binding elements</a:t>
            </a:r>
          </a:p>
          <a:p>
            <a:pPr lvl="1">
              <a:lnSpc>
                <a:spcPct val="90000"/>
              </a:lnSpc>
              <a:spcAft>
                <a:spcPct val="50000"/>
              </a:spcAft>
              <a:buFont typeface="Arial" charset="0"/>
              <a:buChar char="•"/>
            </a:pPr>
            <a:r>
              <a:rPr lang="en-AU" sz="2400">
                <a:latin typeface="Calibri" pitchFamily="34" charset="0"/>
              </a:rPr>
              <a:t>    Conditions that must be met or satisfied</a:t>
            </a:r>
          </a:p>
          <a:p>
            <a:pPr lvl="1">
              <a:lnSpc>
                <a:spcPct val="90000"/>
              </a:lnSpc>
              <a:spcAft>
                <a:spcPct val="50000"/>
              </a:spcAft>
              <a:buFont typeface="Arial" charset="0"/>
              <a:buChar char="•"/>
            </a:pPr>
            <a:r>
              <a:rPr lang="en-AU" sz="2400">
                <a:latin typeface="Calibri" pitchFamily="34" charset="0"/>
              </a:rPr>
              <a:t>    Contingencies covered</a:t>
            </a:r>
          </a:p>
          <a:p>
            <a:pPr lvl="1">
              <a:lnSpc>
                <a:spcPct val="90000"/>
              </a:lnSpc>
              <a:spcAft>
                <a:spcPct val="50000"/>
              </a:spcAft>
              <a:buFont typeface="Arial" charset="0"/>
              <a:buChar char="•"/>
            </a:pPr>
            <a:r>
              <a:rPr lang="en-AU" sz="2400">
                <a:latin typeface="Calibri" pitchFamily="34" charset="0"/>
              </a:rPr>
              <a:t>    Reserve nominees as alternatives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AU" sz="4400" dirty="0">
                <a:latin typeface="+mj-lt"/>
              </a:rPr>
              <a:t>SMSF</a:t>
            </a:r>
            <a:r>
              <a:rPr lang="en-AU" sz="4400" b="1" dirty="0">
                <a:latin typeface="+mj-lt"/>
              </a:rPr>
              <a:t> </a:t>
            </a:r>
            <a:r>
              <a:rPr lang="en-AU" sz="4400" dirty="0">
                <a:latin typeface="+mj-lt"/>
              </a:rPr>
              <a:t>Wills</a:t>
            </a:r>
          </a:p>
        </p:txBody>
      </p:sp>
      <p:pic>
        <p:nvPicPr>
          <p:cNvPr id="23555"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23556" name="Rectangle 6"/>
          <p:cNvSpPr>
            <a:spLocks noChangeArrowheads="1"/>
          </p:cNvSpPr>
          <p:nvPr/>
        </p:nvSpPr>
        <p:spPr bwMode="auto">
          <a:xfrm>
            <a:off x="539750" y="1773238"/>
            <a:ext cx="8064500" cy="3785652"/>
          </a:xfrm>
          <a:prstGeom prst="rect">
            <a:avLst/>
          </a:prstGeom>
          <a:noFill/>
          <a:ln w="9525">
            <a:noFill/>
            <a:miter lim="800000"/>
            <a:headEnd/>
            <a:tailEnd/>
          </a:ln>
        </p:spPr>
        <p:txBody>
          <a:bodyPr>
            <a:spAutoFit/>
          </a:bodyPr>
          <a:lstStyle/>
          <a:p>
            <a:pPr>
              <a:spcAft>
                <a:spcPct val="50000"/>
              </a:spcAft>
              <a:buFont typeface="Arial" charset="0"/>
              <a:buNone/>
              <a:tabLst>
                <a:tab pos="358775" algn="l"/>
              </a:tabLst>
            </a:pPr>
            <a:r>
              <a:rPr lang="en-AU" sz="2400" b="1" dirty="0">
                <a:latin typeface="Calibri" pitchFamily="34" charset="0"/>
              </a:rPr>
              <a:t>Why is this important?</a:t>
            </a:r>
          </a:p>
          <a:p>
            <a:pPr>
              <a:spcAft>
                <a:spcPct val="50000"/>
              </a:spcAft>
              <a:buFont typeface="Arial" charset="0"/>
              <a:buChar char="•"/>
              <a:tabLst>
                <a:tab pos="358775" algn="l"/>
              </a:tabLst>
            </a:pPr>
            <a:r>
              <a:rPr lang="en-AU" sz="2400" dirty="0">
                <a:latin typeface="Calibri" pitchFamily="34" charset="0"/>
              </a:rPr>
              <a:t>	Death benefit directions important tool in member's 	estate plan</a:t>
            </a:r>
          </a:p>
          <a:p>
            <a:pPr>
              <a:spcAft>
                <a:spcPct val="50000"/>
              </a:spcAft>
              <a:buFont typeface="Arial" charset="0"/>
              <a:buChar char="•"/>
              <a:tabLst>
                <a:tab pos="358775" algn="l"/>
              </a:tabLst>
            </a:pPr>
            <a:r>
              <a:rPr lang="en-AU" sz="2400" dirty="0">
                <a:latin typeface="Calibri" pitchFamily="34" charset="0"/>
              </a:rPr>
              <a:t>	Member's Will should </a:t>
            </a:r>
            <a:r>
              <a:rPr lang="en-AU" sz="2400" dirty="0" smtClean="0">
                <a:latin typeface="Calibri" pitchFamily="34" charset="0"/>
              </a:rPr>
              <a:t>complement </a:t>
            </a:r>
            <a:r>
              <a:rPr lang="en-AU" sz="2400" dirty="0">
                <a:latin typeface="Calibri" pitchFamily="34" charset="0"/>
              </a:rPr>
              <a:t>a member's death 	benefit direction</a:t>
            </a:r>
          </a:p>
          <a:p>
            <a:pPr>
              <a:spcAft>
                <a:spcPct val="50000"/>
              </a:spcAft>
              <a:buFont typeface="Arial" charset="0"/>
              <a:buChar char="•"/>
              <a:tabLst>
                <a:tab pos="358775" algn="l"/>
              </a:tabLst>
            </a:pPr>
            <a:r>
              <a:rPr lang="en-AU" sz="2400" dirty="0">
                <a:latin typeface="Calibri" pitchFamily="34" charset="0"/>
              </a:rPr>
              <a:t>	BDBN takes precedence over terms of member's Will</a:t>
            </a:r>
          </a:p>
          <a:p>
            <a:pPr>
              <a:spcAft>
                <a:spcPct val="50000"/>
              </a:spcAft>
              <a:buFont typeface="Arial" charset="0"/>
              <a:buChar char="•"/>
              <a:tabLst>
                <a:tab pos="358775" algn="l"/>
              </a:tabLst>
            </a:pPr>
            <a:r>
              <a:rPr lang="en-AU" sz="2400" dirty="0">
                <a:latin typeface="Calibri" pitchFamily="34" charset="0"/>
              </a:rPr>
              <a:t>	Member’s Will should always contemplate receiving death 	benefit payment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AU" sz="4400" dirty="0">
                <a:latin typeface="+mj-lt"/>
              </a:rPr>
              <a:t>SMSF</a:t>
            </a:r>
            <a:r>
              <a:rPr lang="en-AU" sz="4400" b="1" dirty="0">
                <a:latin typeface="+mj-lt"/>
              </a:rPr>
              <a:t> </a:t>
            </a:r>
            <a:r>
              <a:rPr lang="en-AU" sz="4400" dirty="0">
                <a:latin typeface="+mj-lt"/>
              </a:rPr>
              <a:t>Wills</a:t>
            </a:r>
          </a:p>
        </p:txBody>
      </p:sp>
      <p:pic>
        <p:nvPicPr>
          <p:cNvPr id="25603"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25604" name="Rectangle 6"/>
          <p:cNvSpPr>
            <a:spLocks noChangeArrowheads="1"/>
          </p:cNvSpPr>
          <p:nvPr/>
        </p:nvSpPr>
        <p:spPr bwMode="auto">
          <a:xfrm>
            <a:off x="468313" y="2060575"/>
            <a:ext cx="8208962" cy="2720975"/>
          </a:xfrm>
          <a:prstGeom prst="rect">
            <a:avLst/>
          </a:prstGeom>
          <a:noFill/>
          <a:ln w="9525">
            <a:noFill/>
            <a:miter lim="800000"/>
            <a:headEnd/>
            <a:tailEnd/>
          </a:ln>
        </p:spPr>
        <p:txBody>
          <a:bodyPr>
            <a:spAutoFit/>
          </a:bodyPr>
          <a:lstStyle/>
          <a:p>
            <a:pPr>
              <a:spcAft>
                <a:spcPct val="50000"/>
              </a:spcAft>
              <a:tabLst>
                <a:tab pos="358775" algn="l"/>
              </a:tabLst>
            </a:pPr>
            <a:r>
              <a:rPr lang="en-AU" sz="2400" b="1">
                <a:latin typeface="Calibri" pitchFamily="34" charset="0"/>
              </a:rPr>
              <a:t>SMSF Will v Will</a:t>
            </a:r>
          </a:p>
          <a:p>
            <a:pPr>
              <a:spcAft>
                <a:spcPct val="50000"/>
              </a:spcAft>
              <a:tabLst>
                <a:tab pos="358775" algn="l"/>
              </a:tabLst>
            </a:pPr>
            <a:r>
              <a:rPr lang="en-AU" sz="2400">
                <a:latin typeface="Calibri" pitchFamily="34" charset="0"/>
              </a:rPr>
              <a:t>Properly prepared a sophisticated death benefit direction should have characteristics similar to properly prepared Will</a:t>
            </a:r>
          </a:p>
          <a:p>
            <a:pPr>
              <a:lnSpc>
                <a:spcPct val="90000"/>
              </a:lnSpc>
              <a:spcAft>
                <a:spcPct val="50000"/>
              </a:spcAft>
              <a:buFont typeface="Arial" charset="0"/>
              <a:buChar char="•"/>
              <a:tabLst>
                <a:tab pos="358775" algn="l"/>
              </a:tabLst>
            </a:pPr>
            <a:r>
              <a:rPr lang="en-AU" sz="2400">
                <a:latin typeface="Calibri" pitchFamily="34" charset="0"/>
              </a:rPr>
              <a:t>	Beneficiaries of death benefit direction limited to member's 	estate and/or SMSF dependants</a:t>
            </a:r>
          </a:p>
          <a:p>
            <a:pPr>
              <a:lnSpc>
                <a:spcPct val="90000"/>
              </a:lnSpc>
              <a:buFont typeface="Arial" charset="0"/>
              <a:buChar char="•"/>
              <a:tabLst>
                <a:tab pos="358775" algn="l"/>
              </a:tabLst>
            </a:pPr>
            <a:r>
              <a:rPr lang="en-AU" sz="2400">
                <a:latin typeface="Calibri" pitchFamily="34" charset="0"/>
              </a:rPr>
              <a:t>	Anyone can be a beneficiary under a Will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AU" sz="4400">
                <a:solidFill>
                  <a:srgbClr val="FFFFFF"/>
                </a:solidFill>
              </a:rPr>
              <a:t>SMSF</a:t>
            </a:r>
            <a:r>
              <a:rPr lang="en-AU" sz="4400" b="1">
                <a:solidFill>
                  <a:srgbClr val="FFFFFF"/>
                </a:solidFill>
              </a:rPr>
              <a:t> </a:t>
            </a:r>
            <a:r>
              <a:rPr lang="en-AU" sz="4400">
                <a:solidFill>
                  <a:srgbClr val="FFFFFF"/>
                </a:solidFill>
              </a:rPr>
              <a:t>Wills</a:t>
            </a:r>
          </a:p>
        </p:txBody>
      </p:sp>
      <p:pic>
        <p:nvPicPr>
          <p:cNvPr id="26627"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26628" name="Rectangle 6"/>
          <p:cNvSpPr>
            <a:spLocks noChangeArrowheads="1"/>
          </p:cNvSpPr>
          <p:nvPr/>
        </p:nvSpPr>
        <p:spPr bwMode="auto">
          <a:xfrm>
            <a:off x="468313" y="2060575"/>
            <a:ext cx="8135937" cy="2830513"/>
          </a:xfrm>
          <a:prstGeom prst="rect">
            <a:avLst/>
          </a:prstGeom>
          <a:noFill/>
          <a:ln w="9525">
            <a:noFill/>
            <a:miter lim="800000"/>
            <a:headEnd/>
            <a:tailEnd/>
          </a:ln>
        </p:spPr>
        <p:txBody>
          <a:bodyPr>
            <a:spAutoFit/>
          </a:bodyPr>
          <a:lstStyle/>
          <a:p>
            <a:pPr>
              <a:spcAft>
                <a:spcPct val="50000"/>
              </a:spcAft>
              <a:buFont typeface="Arial" charset="0"/>
              <a:buNone/>
              <a:tabLst>
                <a:tab pos="358775" algn="l"/>
              </a:tabLst>
            </a:pPr>
            <a:r>
              <a:rPr lang="en-AU" sz="2400" b="1">
                <a:latin typeface="Calibri" pitchFamily="34" charset="0"/>
              </a:rPr>
              <a:t>Importance of Fund Rules:</a:t>
            </a:r>
            <a:r>
              <a:rPr lang="en-AU" sz="2400">
                <a:latin typeface="Calibri" pitchFamily="34" charset="0"/>
              </a:rPr>
              <a:t>    </a:t>
            </a:r>
          </a:p>
          <a:p>
            <a:pPr>
              <a:spcAft>
                <a:spcPct val="50000"/>
              </a:spcAft>
              <a:buFont typeface="Arial" charset="0"/>
              <a:buChar char="•"/>
              <a:tabLst>
                <a:tab pos="358775" algn="l"/>
              </a:tabLst>
            </a:pPr>
            <a:r>
              <a:rPr lang="en-AU" sz="2400">
                <a:latin typeface="Calibri" pitchFamily="34" charset="0"/>
              </a:rPr>
              <a:t>	Check the terms of the fund rules first not SISA or SISR</a:t>
            </a:r>
          </a:p>
          <a:p>
            <a:pPr>
              <a:spcAft>
                <a:spcPct val="50000"/>
              </a:spcAft>
              <a:buFont typeface="Arial" charset="0"/>
              <a:buChar char="•"/>
              <a:tabLst>
                <a:tab pos="358775" algn="l"/>
              </a:tabLst>
            </a:pPr>
            <a:r>
              <a:rPr lang="en-AU" sz="2400">
                <a:latin typeface="Calibri" pitchFamily="34" charset="0"/>
              </a:rPr>
              <a:t>	Fund rules determine permitted scope and sophistication of 	death benefit directions </a:t>
            </a:r>
          </a:p>
          <a:p>
            <a:pPr>
              <a:spcAft>
                <a:spcPct val="50000"/>
              </a:spcAft>
              <a:buFont typeface="Arial" charset="0"/>
              <a:buChar char="•"/>
              <a:tabLst>
                <a:tab pos="358775" algn="l"/>
              </a:tabLst>
            </a:pPr>
            <a:r>
              <a:rPr lang="en-AU" sz="2400">
                <a:latin typeface="Calibri" pitchFamily="34" charset="0"/>
              </a:rPr>
              <a:t>	Make sure future deed amendments do not cancel or revoke 	existing death benefit directions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AU" sz="4400" dirty="0">
              <a:solidFill>
                <a:schemeClr val="bg1"/>
              </a:solidFill>
            </a:endParaRPr>
          </a:p>
        </p:txBody>
      </p:sp>
      <p:pic>
        <p:nvPicPr>
          <p:cNvPr id="27651"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27652" name="Rectangle 7"/>
          <p:cNvSpPr>
            <a:spLocks noChangeArrowheads="1"/>
          </p:cNvSpPr>
          <p:nvPr/>
        </p:nvSpPr>
        <p:spPr bwMode="auto">
          <a:xfrm>
            <a:off x="395288" y="3860800"/>
            <a:ext cx="8137525" cy="1754188"/>
          </a:xfrm>
          <a:prstGeom prst="rect">
            <a:avLst/>
          </a:prstGeom>
          <a:noFill/>
          <a:ln w="9525">
            <a:noFill/>
            <a:miter lim="800000"/>
            <a:headEnd/>
            <a:tailEnd/>
          </a:ln>
        </p:spPr>
        <p:txBody>
          <a:bodyPr>
            <a:spAutoFit/>
          </a:bodyPr>
          <a:lstStyle/>
          <a:p>
            <a:r>
              <a:rPr lang="en-AU" sz="3600" b="1">
                <a:latin typeface="Calibri" pitchFamily="34" charset="0"/>
              </a:rPr>
              <a:t>Anti Detriment Payments: </a:t>
            </a:r>
          </a:p>
          <a:p>
            <a:r>
              <a:rPr lang="en-AU" sz="3600" b="1">
                <a:latin typeface="Calibri" pitchFamily="34" charset="0"/>
              </a:rPr>
              <a:t>The Accountants Perspective</a:t>
            </a:r>
          </a:p>
          <a:p>
            <a:r>
              <a:rPr lang="en-AU" sz="3600">
                <a:latin typeface="Calibri" pitchFamily="34" charset="0"/>
              </a:rPr>
              <a:t>Presented by Peter Johnson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4400" dirty="0">
                <a:solidFill>
                  <a:schemeClr val="bg1"/>
                </a:solidFill>
                <a:latin typeface="+mj-lt"/>
              </a:rPr>
              <a:t>Introduction &amp; Overview</a:t>
            </a:r>
            <a:endParaRPr lang="en-AU" sz="4400" dirty="0">
              <a:latin typeface="+mj-lt"/>
            </a:endParaRPr>
          </a:p>
        </p:txBody>
      </p:sp>
      <p:pic>
        <p:nvPicPr>
          <p:cNvPr id="28675"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8" name="Rectangle 3"/>
          <p:cNvSpPr txBox="1">
            <a:spLocks noChangeArrowheads="1"/>
          </p:cNvSpPr>
          <p:nvPr/>
        </p:nvSpPr>
        <p:spPr>
          <a:xfrm>
            <a:off x="468313" y="1916113"/>
            <a:ext cx="8218487" cy="3725862"/>
          </a:xfrm>
          <a:prstGeom prst="rect">
            <a:avLst/>
          </a:prstGeom>
        </p:spPr>
        <p:txBody>
          <a:bodyPr>
            <a:normAutofit lnSpcReduction="10000"/>
          </a:bodyPr>
          <a:lstStyle/>
          <a:p>
            <a:pPr fontAlgn="auto">
              <a:lnSpc>
                <a:spcPct val="90000"/>
              </a:lnSpc>
              <a:spcBef>
                <a:spcPct val="20000"/>
              </a:spcBef>
              <a:spcAft>
                <a:spcPts val="0"/>
              </a:spcAft>
              <a:defRPr/>
            </a:pPr>
            <a:r>
              <a:rPr lang="en-US" sz="2400" b="1" dirty="0">
                <a:latin typeface="+mn-lt"/>
              </a:rPr>
              <a:t>Prior to 1 July 1988 lump sum payments on death to a dependant not subject to any tax</a:t>
            </a:r>
          </a:p>
          <a:p>
            <a:pPr fontAlgn="auto">
              <a:lnSpc>
                <a:spcPct val="90000"/>
              </a:lnSpc>
              <a:spcBef>
                <a:spcPct val="20000"/>
              </a:spcBef>
              <a:spcAft>
                <a:spcPts val="0"/>
              </a:spcAft>
              <a:buFont typeface="Arial" pitchFamily="34" charset="0"/>
              <a:buChar char="•"/>
              <a:defRPr/>
            </a:pPr>
            <a:endParaRPr lang="en-US" sz="2400" b="1" dirty="0">
              <a:latin typeface="+mn-lt"/>
            </a:endParaRPr>
          </a:p>
          <a:p>
            <a:pPr fontAlgn="auto">
              <a:lnSpc>
                <a:spcPct val="90000"/>
              </a:lnSpc>
              <a:spcBef>
                <a:spcPct val="20000"/>
              </a:spcBef>
              <a:spcAft>
                <a:spcPts val="0"/>
              </a:spcAft>
              <a:defRPr/>
            </a:pPr>
            <a:r>
              <a:rPr lang="en-US" sz="2400" b="1" dirty="0">
                <a:latin typeface="+mn-lt"/>
              </a:rPr>
              <a:t>1 July 1988 Introduction of 15% contributions tax</a:t>
            </a:r>
          </a:p>
          <a:p>
            <a:pPr lvl="1" fontAlgn="auto">
              <a:lnSpc>
                <a:spcPct val="90000"/>
              </a:lnSpc>
              <a:spcBef>
                <a:spcPct val="20000"/>
              </a:spcBef>
              <a:spcAft>
                <a:spcPts val="0"/>
              </a:spcAft>
              <a:buFont typeface="Arial" pitchFamily="34" charset="0"/>
              <a:buChar char="•"/>
              <a:defRPr/>
            </a:pPr>
            <a:r>
              <a:rPr lang="en-US" dirty="0">
                <a:latin typeface="+mn-lt"/>
              </a:rPr>
              <a:t>Seen as quasi death duties</a:t>
            </a:r>
          </a:p>
          <a:p>
            <a:pPr lvl="1" fontAlgn="auto">
              <a:lnSpc>
                <a:spcPct val="90000"/>
              </a:lnSpc>
              <a:spcBef>
                <a:spcPct val="20000"/>
              </a:spcBef>
              <a:spcAft>
                <a:spcPts val="0"/>
              </a:spcAft>
              <a:buFont typeface="Arial" pitchFamily="34" charset="0"/>
              <a:buChar char="•"/>
              <a:defRPr/>
            </a:pPr>
            <a:endParaRPr lang="en-US" sz="1600" dirty="0">
              <a:latin typeface="+mn-lt"/>
            </a:endParaRPr>
          </a:p>
          <a:p>
            <a:pPr fontAlgn="auto">
              <a:lnSpc>
                <a:spcPct val="90000"/>
              </a:lnSpc>
              <a:spcBef>
                <a:spcPct val="20000"/>
              </a:spcBef>
              <a:spcAft>
                <a:spcPts val="0"/>
              </a:spcAft>
              <a:defRPr/>
            </a:pPr>
            <a:r>
              <a:rPr lang="en-US" sz="2400" b="1" dirty="0">
                <a:latin typeface="+mn-lt"/>
              </a:rPr>
              <a:t>Government introduced tax concession on death benefit payments</a:t>
            </a:r>
          </a:p>
          <a:p>
            <a:pPr lvl="1" fontAlgn="auto">
              <a:lnSpc>
                <a:spcPct val="90000"/>
              </a:lnSpc>
              <a:spcBef>
                <a:spcPct val="20000"/>
              </a:spcBef>
              <a:spcAft>
                <a:spcPts val="0"/>
              </a:spcAft>
              <a:buFont typeface="Arial" pitchFamily="34" charset="0"/>
              <a:buChar char="•"/>
              <a:defRPr/>
            </a:pPr>
            <a:r>
              <a:rPr lang="en-US" dirty="0">
                <a:latin typeface="+mn-lt"/>
              </a:rPr>
              <a:t>Lump sum payment </a:t>
            </a:r>
          </a:p>
          <a:p>
            <a:pPr lvl="1" fontAlgn="auto">
              <a:lnSpc>
                <a:spcPct val="90000"/>
              </a:lnSpc>
              <a:spcBef>
                <a:spcPct val="20000"/>
              </a:spcBef>
              <a:spcAft>
                <a:spcPts val="0"/>
              </a:spcAft>
              <a:buFont typeface="Arial" pitchFamily="34" charset="0"/>
              <a:buChar char="•"/>
              <a:defRPr/>
            </a:pPr>
            <a:r>
              <a:rPr lang="en-US" dirty="0">
                <a:latin typeface="+mn-lt"/>
              </a:rPr>
              <a:t>Equivalent of Contributions Tax paid by the member</a:t>
            </a:r>
          </a:p>
          <a:p>
            <a:pPr lvl="1" fontAlgn="auto">
              <a:lnSpc>
                <a:spcPct val="90000"/>
              </a:lnSpc>
              <a:spcBef>
                <a:spcPct val="20000"/>
              </a:spcBef>
              <a:spcAft>
                <a:spcPts val="0"/>
              </a:spcAft>
              <a:buFont typeface="Arial" pitchFamily="34" charset="0"/>
              <a:buChar char="•"/>
              <a:defRPr/>
            </a:pPr>
            <a:r>
              <a:rPr lang="en-US" dirty="0">
                <a:latin typeface="+mn-lt"/>
              </a:rPr>
              <a:t>Restore pre-contributions tax benefit</a:t>
            </a:r>
          </a:p>
          <a:p>
            <a:pPr lvl="1" algn="ctr" fontAlgn="auto">
              <a:lnSpc>
                <a:spcPct val="90000"/>
              </a:lnSpc>
              <a:spcBef>
                <a:spcPct val="20000"/>
              </a:spcBef>
              <a:spcAft>
                <a:spcPts val="0"/>
              </a:spcAft>
              <a:buFont typeface="Arial" pitchFamily="34" charset="0"/>
              <a:buNone/>
              <a:defRPr/>
            </a:pPr>
            <a:endParaRPr lang="en-US" sz="2800" dirty="0">
              <a:solidFill>
                <a:schemeClr val="tx1">
                  <a:tint val="75000"/>
                </a:schemeClr>
              </a:solidFill>
              <a:latin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4400" dirty="0">
                <a:solidFill>
                  <a:schemeClr val="bg1"/>
                </a:solidFill>
                <a:latin typeface="+mj-lt"/>
              </a:rPr>
              <a:t>Section 295-485 ITAA 1997</a:t>
            </a:r>
            <a:endParaRPr lang="en-AU" sz="4400" dirty="0">
              <a:latin typeface="+mj-lt"/>
            </a:endParaRPr>
          </a:p>
        </p:txBody>
      </p:sp>
      <p:pic>
        <p:nvPicPr>
          <p:cNvPr id="29699"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29700" name="Rectangle 7"/>
          <p:cNvSpPr>
            <a:spLocks noChangeArrowheads="1"/>
          </p:cNvSpPr>
          <p:nvPr/>
        </p:nvSpPr>
        <p:spPr bwMode="auto">
          <a:xfrm>
            <a:off x="468313" y="1844675"/>
            <a:ext cx="8280400" cy="3748088"/>
          </a:xfrm>
          <a:prstGeom prst="rect">
            <a:avLst/>
          </a:prstGeom>
          <a:noFill/>
          <a:ln w="9525">
            <a:noFill/>
            <a:miter lim="800000"/>
            <a:headEnd/>
            <a:tailEnd/>
          </a:ln>
        </p:spPr>
        <p:txBody>
          <a:bodyPr>
            <a:spAutoFit/>
          </a:bodyPr>
          <a:lstStyle/>
          <a:p>
            <a:pPr>
              <a:lnSpc>
                <a:spcPct val="90000"/>
              </a:lnSpc>
            </a:pPr>
            <a:r>
              <a:rPr lang="en-US" sz="2400" b="1">
                <a:latin typeface="Calibri" pitchFamily="34" charset="0"/>
              </a:rPr>
              <a:t>Prior to 01/07/20007 anti detriment provisions were contained in Section 279D ITAA 1936</a:t>
            </a:r>
          </a:p>
          <a:p>
            <a:pPr>
              <a:lnSpc>
                <a:spcPct val="90000"/>
              </a:lnSpc>
            </a:pPr>
            <a:endParaRPr lang="en-US" sz="2400" b="1">
              <a:latin typeface="Calibri" pitchFamily="34" charset="0"/>
            </a:endParaRPr>
          </a:p>
          <a:p>
            <a:pPr>
              <a:lnSpc>
                <a:spcPct val="90000"/>
              </a:lnSpc>
            </a:pPr>
            <a:r>
              <a:rPr lang="en-US" sz="2400" b="1">
                <a:latin typeface="Calibri" pitchFamily="34" charset="0"/>
              </a:rPr>
              <a:t>New Section 295-485 ITAA 1997</a:t>
            </a:r>
          </a:p>
          <a:p>
            <a:pPr>
              <a:lnSpc>
                <a:spcPct val="90000"/>
              </a:lnSpc>
            </a:pPr>
            <a:endParaRPr lang="en-US" sz="2400" b="1">
              <a:latin typeface="Calibri" pitchFamily="34" charset="0"/>
            </a:endParaRPr>
          </a:p>
          <a:p>
            <a:pPr>
              <a:lnSpc>
                <a:spcPct val="90000"/>
              </a:lnSpc>
            </a:pPr>
            <a:r>
              <a:rPr lang="en-US" sz="2400" b="1">
                <a:latin typeface="Calibri" pitchFamily="34" charset="0"/>
              </a:rPr>
              <a:t>Formula Method Updated in ATO ID 2007/219 and again in 2010/5</a:t>
            </a:r>
          </a:p>
          <a:p>
            <a:pPr>
              <a:lnSpc>
                <a:spcPct val="90000"/>
              </a:lnSpc>
            </a:pPr>
            <a:endParaRPr lang="en-US" sz="2400" b="1">
              <a:latin typeface="Calibri" pitchFamily="34" charset="0"/>
            </a:endParaRPr>
          </a:p>
          <a:p>
            <a:pPr>
              <a:lnSpc>
                <a:spcPct val="90000"/>
              </a:lnSpc>
            </a:pPr>
            <a:r>
              <a:rPr lang="en-US" sz="2400" b="1">
                <a:latin typeface="Calibri" pitchFamily="34" charset="0"/>
              </a:rPr>
              <a:t>Fund must have been continuously complying since 1 July 1988</a:t>
            </a:r>
          </a:p>
          <a:p>
            <a:pPr lvl="1">
              <a:lnSpc>
                <a:spcPct val="90000"/>
              </a:lnSpc>
            </a:pPr>
            <a:endParaRPr lang="en-US" sz="2400" b="1">
              <a:latin typeface="Calibri" pitchFamily="34" charset="0"/>
            </a:endParaRPr>
          </a:p>
          <a:p>
            <a:pPr>
              <a:lnSpc>
                <a:spcPct val="90000"/>
              </a:lnSpc>
            </a:pPr>
            <a:r>
              <a:rPr lang="en-US" sz="2400" b="1">
                <a:latin typeface="Calibri" pitchFamily="34" charset="0"/>
              </a:rPr>
              <a:t>ATO Satisfied full benefit passed on to death benefit recipient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4000" b="1" dirty="0">
                <a:latin typeface="+mj-lt"/>
              </a:rPr>
              <a:t>Income Tax Assessment Act </a:t>
            </a:r>
          </a:p>
          <a:p>
            <a:pPr fontAlgn="auto">
              <a:spcBef>
                <a:spcPts val="0"/>
              </a:spcBef>
              <a:spcAft>
                <a:spcPts val="0"/>
              </a:spcAft>
              <a:defRPr/>
            </a:pPr>
            <a:r>
              <a:rPr lang="en-US" sz="4000" b="1" dirty="0">
                <a:latin typeface="+mj-lt"/>
              </a:rPr>
              <a:t>1997 - Sect 295.485 </a:t>
            </a:r>
          </a:p>
        </p:txBody>
      </p:sp>
      <p:pic>
        <p:nvPicPr>
          <p:cNvPr id="30723"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30724" name="Rectangle 6"/>
          <p:cNvSpPr>
            <a:spLocks noChangeArrowheads="1"/>
          </p:cNvSpPr>
          <p:nvPr/>
        </p:nvSpPr>
        <p:spPr bwMode="auto">
          <a:xfrm>
            <a:off x="468313" y="1557338"/>
            <a:ext cx="8207375" cy="5138737"/>
          </a:xfrm>
          <a:prstGeom prst="rect">
            <a:avLst/>
          </a:prstGeom>
          <a:noFill/>
          <a:ln w="9525">
            <a:noFill/>
            <a:miter lim="800000"/>
            <a:headEnd/>
            <a:tailEnd/>
          </a:ln>
        </p:spPr>
        <p:txBody>
          <a:bodyPr>
            <a:spAutoFit/>
          </a:bodyPr>
          <a:lstStyle/>
          <a:p>
            <a:r>
              <a:rPr lang="en-US" sz="2000" b="1">
                <a:latin typeface="Calibri" pitchFamily="34" charset="0"/>
              </a:rPr>
              <a:t>Deductions for increased amount of superannuation lump sum death benefit </a:t>
            </a:r>
          </a:p>
          <a:p>
            <a:r>
              <a:rPr lang="en-US" sz="1600">
                <a:latin typeface="Calibri" pitchFamily="34" charset="0"/>
              </a:rPr>
              <a:t>(1) An entity that is a * complying superannuation fund, or a * complying approved deposit fund, and has been since 1 July 1988 (or since it came into existence if that was later) can deduct an amount under this section if: </a:t>
            </a:r>
          </a:p>
          <a:p>
            <a:pPr lvl="1"/>
            <a:r>
              <a:rPr lang="en-US" sz="1600">
                <a:latin typeface="Calibri" pitchFamily="34" charset="0"/>
              </a:rPr>
              <a:t>(a) it pays a * superannuation lump sum because of the death of a person to the trustee of the deceased's estate or an individual who was a * spouse, former spouse or * child of the deceased at the time of death or payment; and </a:t>
            </a:r>
          </a:p>
          <a:p>
            <a:pPr lvl="1"/>
            <a:r>
              <a:rPr lang="en-US" sz="1600">
                <a:latin typeface="Calibri" pitchFamily="34" charset="0"/>
              </a:rPr>
              <a:t>(b) it increases the lump sum by an amount, or does not reduce the lump sum by an amount (the </a:t>
            </a:r>
            <a:r>
              <a:rPr lang="en-US" sz="1600" i="1">
                <a:latin typeface="Calibri" pitchFamily="34" charset="0"/>
              </a:rPr>
              <a:t>tax saving amount ) so that the amount of the lump sum is the amount that the fund could have paid if no tax were payable on amounts included in assessable income under Subdivision 295-C. </a:t>
            </a:r>
          </a:p>
          <a:p>
            <a:r>
              <a:rPr lang="en-US" sz="1600">
                <a:latin typeface="Calibri" pitchFamily="34" charset="0"/>
              </a:rPr>
              <a:t>(2) The fund can deduct the amount in the income year in which the lump sum is paid. </a:t>
            </a:r>
          </a:p>
          <a:p>
            <a:r>
              <a:rPr lang="en-US" sz="1600">
                <a:latin typeface="Calibri" pitchFamily="34" charset="0"/>
              </a:rPr>
              <a:t>(3) The amount the fund can deduct is: Tax Savings Amount / Low tax component rate</a:t>
            </a:r>
          </a:p>
          <a:p>
            <a:pPr lvl="1"/>
            <a:r>
              <a:rPr lang="en-US" sz="1600">
                <a:latin typeface="Calibri" pitchFamily="34" charset="0"/>
              </a:rPr>
              <a:t>where: </a:t>
            </a:r>
            <a:r>
              <a:rPr lang="en-US" sz="1600" i="1">
                <a:latin typeface="Calibri" pitchFamily="34" charset="0"/>
              </a:rPr>
              <a:t>"low tax component rate" is the rate of tax imposed on the  low tax component of the fund's taxable income for the income year. </a:t>
            </a:r>
          </a:p>
          <a:p>
            <a:r>
              <a:rPr lang="en-US" sz="1600">
                <a:latin typeface="Calibri" pitchFamily="34" charset="0"/>
              </a:rPr>
              <a:t>(4) The amount the fund can deduct for a  superannuation lump sum paid because of the death of a person to the trustee of the deceased's estate is so much of the subsection (3) amount as is appropriate having regard to the extent to which individuals referred to in paragraph (1)(a) can reasonably be expected to benefit from the estate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4400" dirty="0">
                <a:solidFill>
                  <a:schemeClr val="bg1"/>
                </a:solidFill>
                <a:latin typeface="+mj-lt"/>
              </a:rPr>
              <a:t>Who can Receive?</a:t>
            </a:r>
            <a:endParaRPr lang="en-AU" sz="4400" dirty="0">
              <a:latin typeface="+mj-lt"/>
            </a:endParaRPr>
          </a:p>
        </p:txBody>
      </p:sp>
      <p:pic>
        <p:nvPicPr>
          <p:cNvPr id="31747"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31748" name="Rectangle 6"/>
          <p:cNvSpPr>
            <a:spLocks noChangeArrowheads="1"/>
          </p:cNvSpPr>
          <p:nvPr/>
        </p:nvSpPr>
        <p:spPr bwMode="auto">
          <a:xfrm>
            <a:off x="468313" y="1844675"/>
            <a:ext cx="8351837" cy="3998913"/>
          </a:xfrm>
          <a:prstGeom prst="rect">
            <a:avLst/>
          </a:prstGeom>
          <a:noFill/>
          <a:ln w="9525">
            <a:noFill/>
            <a:miter lim="800000"/>
            <a:headEnd/>
            <a:tailEnd/>
          </a:ln>
        </p:spPr>
        <p:txBody>
          <a:bodyPr>
            <a:spAutoFit/>
          </a:bodyPr>
          <a:lstStyle/>
          <a:p>
            <a:pPr>
              <a:lnSpc>
                <a:spcPct val="90000"/>
              </a:lnSpc>
            </a:pPr>
            <a:r>
              <a:rPr lang="en-US" sz="2400" b="1">
                <a:latin typeface="Calibri" pitchFamily="34" charset="0"/>
              </a:rPr>
              <a:t>Spouse or Former Spouse of the deceased</a:t>
            </a:r>
          </a:p>
          <a:p>
            <a:pPr lvl="1">
              <a:lnSpc>
                <a:spcPct val="90000"/>
              </a:lnSpc>
              <a:buFont typeface="Arial" charset="0"/>
              <a:buChar char="•"/>
            </a:pPr>
            <a:r>
              <a:rPr lang="en-US">
                <a:latin typeface="Calibri" pitchFamily="34" charset="0"/>
              </a:rPr>
              <a:t>New definition of spouse</a:t>
            </a:r>
          </a:p>
          <a:p>
            <a:pPr lvl="1">
              <a:lnSpc>
                <a:spcPct val="90000"/>
              </a:lnSpc>
              <a:buFont typeface="Arial" charset="0"/>
              <a:buChar char="•"/>
            </a:pPr>
            <a:r>
              <a:rPr lang="en-US">
                <a:latin typeface="Calibri" pitchFamily="34" charset="0"/>
              </a:rPr>
              <a:t>Same Sex Couples</a:t>
            </a:r>
          </a:p>
          <a:p>
            <a:pPr lvl="1">
              <a:lnSpc>
                <a:spcPct val="90000"/>
              </a:lnSpc>
              <a:buFont typeface="Arial" charset="0"/>
              <a:buChar char="•"/>
            </a:pPr>
            <a:r>
              <a:rPr lang="en-US">
                <a:latin typeface="Calibri" pitchFamily="34" charset="0"/>
              </a:rPr>
              <a:t>Interdependency relationship</a:t>
            </a:r>
          </a:p>
          <a:p>
            <a:pPr lvl="1">
              <a:lnSpc>
                <a:spcPct val="90000"/>
              </a:lnSpc>
              <a:buFont typeface="Arial" charset="0"/>
              <a:buChar char="•"/>
            </a:pPr>
            <a:endParaRPr lang="en-US" sz="2400">
              <a:latin typeface="Calibri" pitchFamily="34" charset="0"/>
            </a:endParaRPr>
          </a:p>
          <a:p>
            <a:pPr>
              <a:lnSpc>
                <a:spcPct val="90000"/>
              </a:lnSpc>
            </a:pPr>
            <a:r>
              <a:rPr lang="en-US" sz="2400" b="1">
                <a:latin typeface="Calibri" pitchFamily="34" charset="0"/>
              </a:rPr>
              <a:t>Child (if any); or</a:t>
            </a:r>
          </a:p>
          <a:p>
            <a:pPr lvl="1">
              <a:lnSpc>
                <a:spcPct val="90000"/>
              </a:lnSpc>
              <a:buFont typeface="Arial" charset="0"/>
              <a:buChar char="•"/>
            </a:pPr>
            <a:r>
              <a:rPr lang="en-US">
                <a:latin typeface="Calibri" pitchFamily="34" charset="0"/>
              </a:rPr>
              <a:t>Includes step child or adopted child</a:t>
            </a:r>
          </a:p>
          <a:p>
            <a:pPr lvl="1">
              <a:lnSpc>
                <a:spcPct val="90000"/>
              </a:lnSpc>
            </a:pPr>
            <a:endParaRPr lang="en-US" sz="2400">
              <a:latin typeface="Calibri" pitchFamily="34" charset="0"/>
            </a:endParaRPr>
          </a:p>
          <a:p>
            <a:pPr>
              <a:lnSpc>
                <a:spcPct val="90000"/>
              </a:lnSpc>
            </a:pPr>
            <a:r>
              <a:rPr lang="en-US" sz="2400" b="1">
                <a:latin typeface="Calibri" pitchFamily="34" charset="0"/>
              </a:rPr>
              <a:t>The Estate (if ultimate beneficiary is as above)</a:t>
            </a:r>
          </a:p>
          <a:p>
            <a:pPr>
              <a:lnSpc>
                <a:spcPct val="90000"/>
              </a:lnSpc>
            </a:pPr>
            <a:r>
              <a:rPr lang="en-US" sz="2400" b="1">
                <a:latin typeface="Calibri" pitchFamily="34" charset="0"/>
              </a:rPr>
              <a:t>Must be paid as a lump sum and benefit paid as a lump sum</a:t>
            </a:r>
          </a:p>
          <a:p>
            <a:pPr lvl="1">
              <a:lnSpc>
                <a:spcPct val="90000"/>
              </a:lnSpc>
              <a:buFont typeface="Arial" charset="0"/>
              <a:buChar char="•"/>
            </a:pPr>
            <a:r>
              <a:rPr lang="en-US">
                <a:latin typeface="Calibri" pitchFamily="34" charset="0"/>
              </a:rPr>
              <a:t>Within 6 months of death or 3 months of probate (whichever is later)</a:t>
            </a:r>
          </a:p>
          <a:p>
            <a:pPr lvl="1">
              <a:lnSpc>
                <a:spcPct val="90000"/>
              </a:lnSpc>
            </a:pPr>
            <a:endParaRPr lang="en-US" sz="2400">
              <a:latin typeface="Calibri" pitchFamily="34" charset="0"/>
            </a:endParaRPr>
          </a:p>
          <a:p>
            <a:pPr>
              <a:lnSpc>
                <a:spcPct val="90000"/>
              </a:lnSpc>
            </a:pPr>
            <a:r>
              <a:rPr lang="en-US" sz="2400" b="1">
                <a:latin typeface="Calibri" pitchFamily="34" charset="0"/>
              </a:rPr>
              <a:t>Not available on Terminal Illness payment before death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4400" dirty="0">
                <a:solidFill>
                  <a:schemeClr val="bg1"/>
                </a:solidFill>
                <a:latin typeface="+mj-lt"/>
              </a:rPr>
              <a:t>Method of Calculation</a:t>
            </a:r>
            <a:endParaRPr lang="en-AU" sz="4400" dirty="0">
              <a:latin typeface="+mj-lt"/>
            </a:endParaRPr>
          </a:p>
        </p:txBody>
      </p:sp>
      <p:pic>
        <p:nvPicPr>
          <p:cNvPr id="32771"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32772" name="Rectangle 6"/>
          <p:cNvSpPr>
            <a:spLocks noChangeArrowheads="1"/>
          </p:cNvSpPr>
          <p:nvPr/>
        </p:nvSpPr>
        <p:spPr bwMode="auto">
          <a:xfrm>
            <a:off x="468313" y="1773238"/>
            <a:ext cx="8351837" cy="4248150"/>
          </a:xfrm>
          <a:prstGeom prst="rect">
            <a:avLst/>
          </a:prstGeom>
          <a:noFill/>
          <a:ln w="9525">
            <a:noFill/>
            <a:miter lim="800000"/>
            <a:headEnd/>
            <a:tailEnd/>
          </a:ln>
        </p:spPr>
        <p:txBody>
          <a:bodyPr>
            <a:spAutoFit/>
          </a:bodyPr>
          <a:lstStyle/>
          <a:p>
            <a:pPr>
              <a:lnSpc>
                <a:spcPct val="90000"/>
              </a:lnSpc>
            </a:pPr>
            <a:r>
              <a:rPr lang="en-US" sz="2400" b="1">
                <a:latin typeface="Calibri" pitchFamily="34" charset="0"/>
              </a:rPr>
              <a:t>Calculate the amount of contributions tax paid by the member on the death benefit</a:t>
            </a:r>
          </a:p>
          <a:p>
            <a:pPr lvl="1">
              <a:lnSpc>
                <a:spcPct val="90000"/>
              </a:lnSpc>
              <a:buFont typeface="Arial" charset="0"/>
              <a:buChar char="•"/>
            </a:pPr>
            <a:r>
              <a:rPr lang="en-US">
                <a:latin typeface="Calibri" pitchFamily="34" charset="0"/>
              </a:rPr>
              <a:t>Needs to be certified by the auditor</a:t>
            </a:r>
          </a:p>
          <a:p>
            <a:pPr lvl="1">
              <a:lnSpc>
                <a:spcPct val="90000"/>
              </a:lnSpc>
              <a:buFont typeface="Arial" charset="0"/>
              <a:buChar char="•"/>
            </a:pPr>
            <a:endParaRPr lang="en-US">
              <a:latin typeface="Calibri" pitchFamily="34" charset="0"/>
            </a:endParaRPr>
          </a:p>
          <a:p>
            <a:pPr>
              <a:lnSpc>
                <a:spcPct val="90000"/>
              </a:lnSpc>
            </a:pPr>
            <a:r>
              <a:rPr lang="en-US" sz="2400" b="1">
                <a:latin typeface="Calibri" pitchFamily="34" charset="0"/>
              </a:rPr>
              <a:t>Formula method acceptable to the commissioner</a:t>
            </a:r>
          </a:p>
          <a:p>
            <a:pPr lvl="1">
              <a:lnSpc>
                <a:spcPct val="90000"/>
              </a:lnSpc>
              <a:buFont typeface="Arial" charset="0"/>
              <a:buChar char="•"/>
            </a:pPr>
            <a:r>
              <a:rPr lang="en-US">
                <a:latin typeface="Calibri" pitchFamily="34" charset="0"/>
              </a:rPr>
              <a:t>ATO ID 2010/5</a:t>
            </a:r>
          </a:p>
          <a:p>
            <a:pPr lvl="1">
              <a:lnSpc>
                <a:spcPct val="90000"/>
              </a:lnSpc>
            </a:pPr>
            <a:endParaRPr lang="en-US">
              <a:latin typeface="Calibri" pitchFamily="34" charset="0"/>
            </a:endParaRPr>
          </a:p>
          <a:p>
            <a:pPr>
              <a:lnSpc>
                <a:spcPct val="90000"/>
              </a:lnSpc>
            </a:pPr>
            <a:r>
              <a:rPr lang="en-US" sz="2400" b="1">
                <a:latin typeface="Calibri" pitchFamily="34" charset="0"/>
              </a:rPr>
              <a:t>Acceptable Formula: (0.15 x P)/(R-0.15 x P) X C where:</a:t>
            </a:r>
          </a:p>
          <a:p>
            <a:pPr lvl="1">
              <a:lnSpc>
                <a:spcPct val="90000"/>
              </a:lnSpc>
              <a:buFont typeface="Arial" charset="0"/>
              <a:buChar char="•"/>
            </a:pPr>
            <a:r>
              <a:rPr lang="en-US">
                <a:latin typeface="Calibri" pitchFamily="34" charset="0"/>
              </a:rPr>
              <a:t>P = number of days in component R that occur after 30/06/1988</a:t>
            </a:r>
          </a:p>
          <a:p>
            <a:pPr lvl="1">
              <a:lnSpc>
                <a:spcPct val="90000"/>
              </a:lnSpc>
              <a:buFont typeface="Arial" charset="0"/>
              <a:buChar char="•"/>
            </a:pPr>
            <a:r>
              <a:rPr lang="en-US">
                <a:latin typeface="Calibri" pitchFamily="34" charset="0"/>
              </a:rPr>
              <a:t>R = Total number of days in the service period after 30/06/1983</a:t>
            </a:r>
          </a:p>
          <a:p>
            <a:pPr lvl="1">
              <a:lnSpc>
                <a:spcPct val="90000"/>
              </a:lnSpc>
              <a:buFont typeface="Arial" charset="0"/>
              <a:buChar char="•"/>
            </a:pPr>
            <a:r>
              <a:rPr lang="en-US">
                <a:latin typeface="Calibri" pitchFamily="34" charset="0"/>
              </a:rPr>
              <a:t>C = Taxable component of lump sum excluding insurance benefits for which tax deductions have been claimed</a:t>
            </a:r>
          </a:p>
          <a:p>
            <a:pPr lvl="1">
              <a:lnSpc>
                <a:spcPct val="90000"/>
              </a:lnSpc>
              <a:buFont typeface="Arial" charset="0"/>
              <a:buChar char="•"/>
            </a:pPr>
            <a:r>
              <a:rPr lang="en-US">
                <a:latin typeface="Calibri" pitchFamily="34" charset="0"/>
              </a:rPr>
              <a:t>Assumes no untaxed element</a:t>
            </a:r>
          </a:p>
          <a:p>
            <a:pPr lvl="1">
              <a:lnSpc>
                <a:spcPct val="90000"/>
              </a:lnSpc>
            </a:pPr>
            <a:endParaRPr lang="en-US">
              <a:latin typeface="Calibri" pitchFamily="34" charset="0"/>
            </a:endParaRPr>
          </a:p>
          <a:p>
            <a:pPr>
              <a:lnSpc>
                <a:spcPct val="90000"/>
              </a:lnSpc>
            </a:pPr>
            <a:r>
              <a:rPr lang="en-US" sz="2400" b="1">
                <a:latin typeface="Calibri" pitchFamily="34" charset="0"/>
              </a:rPr>
              <a:t>Or use calculator at www.panthercorp.com.au</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4000" dirty="0">
                <a:solidFill>
                  <a:schemeClr val="bg1"/>
                </a:solidFill>
                <a:latin typeface="+mj-lt"/>
              </a:rPr>
              <a:t>Sources of Anti-Detriment </a:t>
            </a:r>
          </a:p>
          <a:p>
            <a:pPr fontAlgn="auto">
              <a:spcBef>
                <a:spcPts val="0"/>
              </a:spcBef>
              <a:spcAft>
                <a:spcPts val="0"/>
              </a:spcAft>
              <a:defRPr/>
            </a:pPr>
            <a:r>
              <a:rPr lang="en-US" sz="4000" dirty="0">
                <a:solidFill>
                  <a:schemeClr val="bg1"/>
                </a:solidFill>
                <a:latin typeface="+mj-lt"/>
              </a:rPr>
              <a:t>Payments</a:t>
            </a:r>
            <a:endParaRPr lang="en-AU" sz="4000" dirty="0">
              <a:latin typeface="+mj-lt"/>
            </a:endParaRPr>
          </a:p>
        </p:txBody>
      </p:sp>
      <p:pic>
        <p:nvPicPr>
          <p:cNvPr id="33795"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33796" name="Rectangle 6"/>
          <p:cNvSpPr>
            <a:spLocks noChangeArrowheads="1"/>
          </p:cNvSpPr>
          <p:nvPr/>
        </p:nvSpPr>
        <p:spPr bwMode="auto">
          <a:xfrm>
            <a:off x="539750" y="1773238"/>
            <a:ext cx="8280400" cy="4413250"/>
          </a:xfrm>
          <a:prstGeom prst="rect">
            <a:avLst/>
          </a:prstGeom>
          <a:noFill/>
          <a:ln w="9525">
            <a:noFill/>
            <a:miter lim="800000"/>
            <a:headEnd/>
            <a:tailEnd/>
          </a:ln>
        </p:spPr>
        <p:txBody>
          <a:bodyPr>
            <a:spAutoFit/>
          </a:bodyPr>
          <a:lstStyle/>
          <a:p>
            <a:pPr>
              <a:lnSpc>
                <a:spcPct val="90000"/>
              </a:lnSpc>
            </a:pPr>
            <a:r>
              <a:rPr lang="en-US" sz="2400" b="1">
                <a:latin typeface="Calibri" pitchFamily="34" charset="0"/>
              </a:rPr>
              <a:t>Use a reserve</a:t>
            </a:r>
          </a:p>
          <a:p>
            <a:pPr lvl="1">
              <a:lnSpc>
                <a:spcPct val="90000"/>
              </a:lnSpc>
              <a:buFont typeface="Arial" charset="0"/>
              <a:buChar char="•"/>
            </a:pPr>
            <a:r>
              <a:rPr lang="en-US">
                <a:latin typeface="Calibri" pitchFamily="34" charset="0"/>
              </a:rPr>
              <a:t>Problems if you decide not to pay an anti detriment payment</a:t>
            </a:r>
          </a:p>
          <a:p>
            <a:pPr lvl="1">
              <a:lnSpc>
                <a:spcPct val="90000"/>
              </a:lnSpc>
              <a:buFont typeface="Arial" charset="0"/>
              <a:buChar char="•"/>
            </a:pPr>
            <a:r>
              <a:rPr lang="en-US">
                <a:latin typeface="Calibri" pitchFamily="34" charset="0"/>
              </a:rPr>
              <a:t>S 292.25.01(4) ITAR97  </a:t>
            </a:r>
          </a:p>
          <a:p>
            <a:pPr lvl="1">
              <a:lnSpc>
                <a:spcPct val="90000"/>
              </a:lnSpc>
              <a:buFont typeface="Arial" charset="0"/>
              <a:buChar char="•"/>
            </a:pPr>
            <a:endParaRPr lang="en-US">
              <a:latin typeface="Calibri" pitchFamily="34" charset="0"/>
            </a:endParaRPr>
          </a:p>
          <a:p>
            <a:pPr>
              <a:lnSpc>
                <a:spcPct val="90000"/>
              </a:lnSpc>
            </a:pPr>
            <a:r>
              <a:rPr lang="en-US" sz="2400" b="1">
                <a:latin typeface="Calibri" pitchFamily="34" charset="0"/>
              </a:rPr>
              <a:t>Life Insurance Policy</a:t>
            </a:r>
          </a:p>
          <a:p>
            <a:pPr lvl="1">
              <a:lnSpc>
                <a:spcPct val="90000"/>
              </a:lnSpc>
              <a:buFont typeface="Arial" charset="0"/>
              <a:buChar char="•"/>
            </a:pPr>
            <a:r>
              <a:rPr lang="en-US">
                <a:latin typeface="Calibri" pitchFamily="34" charset="0"/>
              </a:rPr>
              <a:t>Owned by the fund and not allocated to the member</a:t>
            </a:r>
          </a:p>
          <a:p>
            <a:pPr lvl="1">
              <a:lnSpc>
                <a:spcPct val="90000"/>
              </a:lnSpc>
              <a:buFont typeface="Arial" charset="0"/>
              <a:buChar char="•"/>
            </a:pPr>
            <a:r>
              <a:rPr lang="en-US">
                <a:latin typeface="Calibri" pitchFamily="34" charset="0"/>
              </a:rPr>
              <a:t>Payments are a general expense of the fund and not allocated to the member</a:t>
            </a:r>
          </a:p>
          <a:p>
            <a:pPr lvl="1">
              <a:lnSpc>
                <a:spcPct val="90000"/>
              </a:lnSpc>
              <a:buFont typeface="Arial" charset="0"/>
              <a:buChar char="•"/>
            </a:pPr>
            <a:r>
              <a:rPr lang="en-US">
                <a:latin typeface="Calibri" pitchFamily="34" charset="0"/>
              </a:rPr>
              <a:t>May have a sole purpose test issue</a:t>
            </a:r>
          </a:p>
          <a:p>
            <a:pPr lvl="1">
              <a:lnSpc>
                <a:spcPct val="90000"/>
              </a:lnSpc>
              <a:buFont typeface="Arial" charset="0"/>
              <a:buChar char="•"/>
            </a:pPr>
            <a:endParaRPr lang="en-US">
              <a:latin typeface="Calibri" pitchFamily="34" charset="0"/>
            </a:endParaRPr>
          </a:p>
          <a:p>
            <a:pPr>
              <a:lnSpc>
                <a:spcPct val="90000"/>
              </a:lnSpc>
            </a:pPr>
            <a:r>
              <a:rPr lang="en-US" sz="2400" b="1">
                <a:latin typeface="Calibri" pitchFamily="34" charset="0"/>
              </a:rPr>
              <a:t>Take from other members balances</a:t>
            </a:r>
            <a:r>
              <a:rPr lang="en-US" sz="2000">
                <a:solidFill>
                  <a:srgbClr val="0033CC"/>
                </a:solidFill>
                <a:latin typeface="Calibri" pitchFamily="34" charset="0"/>
              </a:rPr>
              <a:t>:</a:t>
            </a:r>
          </a:p>
          <a:p>
            <a:pPr lvl="1">
              <a:lnSpc>
                <a:spcPct val="90000"/>
              </a:lnSpc>
              <a:buFont typeface="Arial" charset="0"/>
              <a:buChar char="•"/>
            </a:pPr>
            <a:r>
              <a:rPr lang="en-US">
                <a:latin typeface="Calibri" pitchFamily="34" charset="0"/>
              </a:rPr>
              <a:t>Must ensure that the Future Income Tax benefit will be used up</a:t>
            </a:r>
          </a:p>
          <a:p>
            <a:pPr lvl="1">
              <a:lnSpc>
                <a:spcPct val="90000"/>
              </a:lnSpc>
              <a:buFont typeface="Arial" charset="0"/>
              <a:buChar char="•"/>
            </a:pPr>
            <a:endParaRPr lang="en-US">
              <a:latin typeface="Calibri" pitchFamily="34" charset="0"/>
            </a:endParaRPr>
          </a:p>
          <a:p>
            <a:pPr>
              <a:lnSpc>
                <a:spcPct val="90000"/>
              </a:lnSpc>
            </a:pPr>
            <a:r>
              <a:rPr lang="en-US" sz="2400" b="1">
                <a:latin typeface="Calibri" pitchFamily="34" charset="0"/>
              </a:rPr>
              <a:t>ATO March 2010 Superannuation Technical Minutes:</a:t>
            </a:r>
          </a:p>
          <a:p>
            <a:pPr lvl="1">
              <a:lnSpc>
                <a:spcPct val="90000"/>
              </a:lnSpc>
              <a:buFont typeface="Arial" charset="0"/>
              <a:buChar char="•"/>
            </a:pPr>
            <a:r>
              <a:rPr lang="en-US" i="1">
                <a:latin typeface="Calibri" pitchFamily="34" charset="0"/>
              </a:rPr>
              <a:t>“The true source of the anti-detriment payment is always future income tax benefit created by the anti-detriment payment.  The use of ‘reserve’ is simply one of the mechanisms used</a:t>
            </a:r>
            <a:r>
              <a:rPr lang="en-US" sz="1600" i="1">
                <a:solidFill>
                  <a:srgbClr val="0033CC"/>
                </a:solidFill>
                <a:latin typeface="Calibri" pitchFamily="34" charset="0"/>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4400" dirty="0">
                <a:solidFill>
                  <a:schemeClr val="bg1"/>
                </a:solidFill>
                <a:latin typeface="+mj-lt"/>
              </a:rPr>
              <a:t>Other Issues</a:t>
            </a:r>
            <a:endParaRPr lang="en-AU" sz="4400" dirty="0">
              <a:latin typeface="+mj-lt"/>
            </a:endParaRPr>
          </a:p>
        </p:txBody>
      </p:sp>
      <p:pic>
        <p:nvPicPr>
          <p:cNvPr id="34819"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34820" name="Rectangle 6"/>
          <p:cNvSpPr>
            <a:spLocks noChangeArrowheads="1"/>
          </p:cNvSpPr>
          <p:nvPr/>
        </p:nvSpPr>
        <p:spPr bwMode="auto">
          <a:xfrm>
            <a:off x="468313" y="1916113"/>
            <a:ext cx="8351837" cy="3167062"/>
          </a:xfrm>
          <a:prstGeom prst="rect">
            <a:avLst/>
          </a:prstGeom>
          <a:noFill/>
          <a:ln w="9525">
            <a:noFill/>
            <a:miter lim="800000"/>
            <a:headEnd/>
            <a:tailEnd/>
          </a:ln>
        </p:spPr>
        <p:txBody>
          <a:bodyPr>
            <a:spAutoFit/>
          </a:bodyPr>
          <a:lstStyle/>
          <a:p>
            <a:pPr>
              <a:lnSpc>
                <a:spcPct val="90000"/>
              </a:lnSpc>
            </a:pPr>
            <a:r>
              <a:rPr lang="en-US" sz="2400" b="1">
                <a:latin typeface="Calibri" pitchFamily="34" charset="0"/>
              </a:rPr>
              <a:t>Tax Free Pension Income offsets carried forward tax losses</a:t>
            </a:r>
          </a:p>
          <a:p>
            <a:pPr lvl="1">
              <a:lnSpc>
                <a:spcPct val="90000"/>
              </a:lnSpc>
              <a:buFont typeface="Arial" charset="0"/>
              <a:buChar char="•"/>
            </a:pPr>
            <a:r>
              <a:rPr lang="en-US">
                <a:latin typeface="Calibri" pitchFamily="34" charset="0"/>
              </a:rPr>
              <a:t>Consider if you will be paying a pension after claiming the deduction</a:t>
            </a:r>
          </a:p>
          <a:p>
            <a:pPr lvl="1">
              <a:lnSpc>
                <a:spcPct val="90000"/>
              </a:lnSpc>
              <a:buFont typeface="Arial" charset="0"/>
              <a:buChar char="•"/>
            </a:pPr>
            <a:r>
              <a:rPr lang="en-US">
                <a:latin typeface="Calibri" pitchFamily="34" charset="0"/>
              </a:rPr>
              <a:t>Roll out pensioner member to their own fund and leave accumulation members in the fund</a:t>
            </a:r>
          </a:p>
          <a:p>
            <a:pPr lvl="1">
              <a:lnSpc>
                <a:spcPct val="90000"/>
              </a:lnSpc>
            </a:pPr>
            <a:endParaRPr lang="en-US">
              <a:latin typeface="Calibri" pitchFamily="34" charset="0"/>
            </a:endParaRPr>
          </a:p>
          <a:p>
            <a:pPr>
              <a:lnSpc>
                <a:spcPct val="90000"/>
              </a:lnSpc>
            </a:pPr>
            <a:r>
              <a:rPr lang="en-US" sz="2400" b="1">
                <a:latin typeface="Calibri" pitchFamily="34" charset="0"/>
              </a:rPr>
              <a:t>Re-Contribution Strategies reduce Anti-Detriment amount</a:t>
            </a:r>
          </a:p>
          <a:p>
            <a:pPr lvl="1">
              <a:lnSpc>
                <a:spcPct val="90000"/>
              </a:lnSpc>
              <a:buFont typeface="Arial" charset="0"/>
              <a:buChar char="•"/>
            </a:pPr>
            <a:r>
              <a:rPr lang="en-US">
                <a:latin typeface="Calibri" pitchFamily="34" charset="0"/>
              </a:rPr>
              <a:t>You need to model these numbers</a:t>
            </a:r>
          </a:p>
          <a:p>
            <a:pPr lvl="1">
              <a:lnSpc>
                <a:spcPct val="90000"/>
              </a:lnSpc>
            </a:pPr>
            <a:endParaRPr lang="en-US">
              <a:latin typeface="Calibri" pitchFamily="34" charset="0"/>
            </a:endParaRPr>
          </a:p>
          <a:p>
            <a:pPr>
              <a:lnSpc>
                <a:spcPct val="90000"/>
              </a:lnSpc>
            </a:pPr>
            <a:r>
              <a:rPr lang="en-US" sz="2400" b="1">
                <a:latin typeface="Calibri" pitchFamily="34" charset="0"/>
              </a:rPr>
              <a:t>Maybe roll out members balance to public offer fund if you can plan that.</a:t>
            </a:r>
          </a:p>
          <a:p>
            <a:pPr lvl="1">
              <a:lnSpc>
                <a:spcPct val="90000"/>
              </a:lnSpc>
              <a:buFont typeface="Arial" charset="0"/>
              <a:buChar char="•"/>
            </a:pPr>
            <a:r>
              <a:rPr lang="en-US">
                <a:latin typeface="Calibri" pitchFamily="34" charset="0"/>
              </a:rPr>
              <a:t>Must ensure that the Fund pays Anti-Detriment Payments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4400" dirty="0">
                <a:solidFill>
                  <a:schemeClr val="bg1"/>
                </a:solidFill>
                <a:latin typeface="+mj-lt"/>
              </a:rPr>
              <a:t>Example</a:t>
            </a:r>
            <a:endParaRPr lang="en-AU" sz="4400" dirty="0">
              <a:latin typeface="+mj-lt"/>
            </a:endParaRPr>
          </a:p>
        </p:txBody>
      </p:sp>
      <p:pic>
        <p:nvPicPr>
          <p:cNvPr id="35843"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35844" name="Rectangle 6"/>
          <p:cNvSpPr>
            <a:spLocks noChangeArrowheads="1"/>
          </p:cNvSpPr>
          <p:nvPr/>
        </p:nvSpPr>
        <p:spPr bwMode="auto">
          <a:xfrm>
            <a:off x="611188" y="1501775"/>
            <a:ext cx="7921625" cy="5022850"/>
          </a:xfrm>
          <a:prstGeom prst="rect">
            <a:avLst/>
          </a:prstGeom>
          <a:noFill/>
          <a:ln w="9525">
            <a:noFill/>
            <a:miter lim="800000"/>
            <a:headEnd/>
            <a:tailEnd/>
          </a:ln>
        </p:spPr>
        <p:txBody>
          <a:bodyPr>
            <a:spAutoFit/>
          </a:bodyPr>
          <a:lstStyle/>
          <a:p>
            <a:pPr>
              <a:lnSpc>
                <a:spcPct val="90000"/>
              </a:lnSpc>
            </a:pPr>
            <a:r>
              <a:rPr lang="en-US" sz="2400" b="1">
                <a:latin typeface="Calibri" pitchFamily="34" charset="0"/>
              </a:rPr>
              <a:t>Mum and Dad fund with two kids in the fund</a:t>
            </a:r>
          </a:p>
          <a:p>
            <a:pPr lvl="1">
              <a:lnSpc>
                <a:spcPct val="90000"/>
              </a:lnSpc>
            </a:pPr>
            <a:r>
              <a:rPr lang="en-US" sz="2000">
                <a:latin typeface="Calibri" pitchFamily="34" charset="0"/>
              </a:rPr>
              <a:t>Both Mum and Dad over 60 </a:t>
            </a:r>
          </a:p>
          <a:p>
            <a:pPr lvl="1">
              <a:lnSpc>
                <a:spcPct val="90000"/>
              </a:lnSpc>
            </a:pPr>
            <a:r>
              <a:rPr lang="en-US" sz="2000">
                <a:latin typeface="Calibri" pitchFamily="34" charset="0"/>
              </a:rPr>
              <a:t>Kids in their 30’s and making contributions</a:t>
            </a:r>
          </a:p>
          <a:p>
            <a:pPr lvl="1">
              <a:lnSpc>
                <a:spcPct val="90000"/>
              </a:lnSpc>
            </a:pPr>
            <a:r>
              <a:rPr lang="en-US" sz="2000">
                <a:latin typeface="Calibri" pitchFamily="34" charset="0"/>
              </a:rPr>
              <a:t>Assume only asset of the fund is cash</a:t>
            </a:r>
          </a:p>
          <a:p>
            <a:pPr lvl="1">
              <a:lnSpc>
                <a:spcPct val="90000"/>
              </a:lnSpc>
            </a:pPr>
            <a:endParaRPr lang="en-US" sz="2000">
              <a:latin typeface="Calibri" pitchFamily="34" charset="0"/>
            </a:endParaRPr>
          </a:p>
          <a:p>
            <a:pPr>
              <a:lnSpc>
                <a:spcPct val="90000"/>
              </a:lnSpc>
            </a:pPr>
            <a:r>
              <a:rPr lang="en-US" sz="2400" b="1">
                <a:latin typeface="Calibri" pitchFamily="34" charset="0"/>
              </a:rPr>
              <a:t>Balances:</a:t>
            </a:r>
          </a:p>
          <a:p>
            <a:pPr lvl="1">
              <a:lnSpc>
                <a:spcPct val="90000"/>
              </a:lnSpc>
            </a:pPr>
            <a:r>
              <a:rPr lang="en-US" sz="2000">
                <a:latin typeface="Calibri" pitchFamily="34" charset="0"/>
              </a:rPr>
              <a:t>Dad: $400,000 – ESP starting 1 July 1980</a:t>
            </a:r>
          </a:p>
          <a:p>
            <a:pPr lvl="1">
              <a:lnSpc>
                <a:spcPct val="90000"/>
              </a:lnSpc>
            </a:pPr>
            <a:r>
              <a:rPr lang="en-US" sz="2000">
                <a:latin typeface="Calibri" pitchFamily="34" charset="0"/>
              </a:rPr>
              <a:t>Mum: $150,000</a:t>
            </a:r>
          </a:p>
          <a:p>
            <a:pPr lvl="1">
              <a:lnSpc>
                <a:spcPct val="90000"/>
              </a:lnSpc>
            </a:pPr>
            <a:r>
              <a:rPr lang="en-US" sz="2000">
                <a:latin typeface="Calibri" pitchFamily="34" charset="0"/>
              </a:rPr>
              <a:t>Child 1: $30,000</a:t>
            </a:r>
          </a:p>
          <a:p>
            <a:pPr lvl="1">
              <a:lnSpc>
                <a:spcPct val="90000"/>
              </a:lnSpc>
            </a:pPr>
            <a:r>
              <a:rPr lang="en-US" sz="2000">
                <a:latin typeface="Calibri" pitchFamily="34" charset="0"/>
              </a:rPr>
              <a:t>Child 2: $20,000</a:t>
            </a:r>
          </a:p>
          <a:p>
            <a:pPr lvl="1">
              <a:lnSpc>
                <a:spcPct val="90000"/>
              </a:lnSpc>
            </a:pPr>
            <a:endParaRPr lang="en-US" sz="2000">
              <a:latin typeface="Calibri" pitchFamily="34" charset="0"/>
            </a:endParaRPr>
          </a:p>
          <a:p>
            <a:pPr>
              <a:lnSpc>
                <a:spcPct val="90000"/>
              </a:lnSpc>
            </a:pPr>
            <a:r>
              <a:rPr lang="en-US" sz="2400" b="1">
                <a:latin typeface="Calibri" pitchFamily="34" charset="0"/>
              </a:rPr>
              <a:t>Dad Dies</a:t>
            </a:r>
          </a:p>
          <a:p>
            <a:pPr lvl="1">
              <a:lnSpc>
                <a:spcPct val="90000"/>
              </a:lnSpc>
            </a:pPr>
            <a:r>
              <a:rPr lang="en-US" sz="2000">
                <a:latin typeface="Calibri" pitchFamily="34" charset="0"/>
              </a:rPr>
              <a:t>Using Calculator Anti Detriment amount is: $56,166</a:t>
            </a:r>
          </a:p>
          <a:p>
            <a:pPr lvl="1">
              <a:lnSpc>
                <a:spcPct val="90000"/>
              </a:lnSpc>
            </a:pPr>
            <a:r>
              <a:rPr lang="en-US" sz="2000">
                <a:latin typeface="Calibri" pitchFamily="34" charset="0"/>
              </a:rPr>
              <a:t>Allowable deduction is $374,443</a:t>
            </a:r>
          </a:p>
          <a:p>
            <a:pPr lvl="1">
              <a:lnSpc>
                <a:spcPct val="90000"/>
              </a:lnSpc>
            </a:pPr>
            <a:r>
              <a:rPr lang="en-US" sz="2000">
                <a:latin typeface="Calibri" pitchFamily="34" charset="0"/>
              </a:rPr>
              <a:t>Death benefit is $456,166</a:t>
            </a:r>
          </a:p>
          <a:p>
            <a:pPr lvl="1">
              <a:lnSpc>
                <a:spcPct val="90000"/>
              </a:lnSpc>
            </a:pPr>
            <a:endParaRPr lang="en-US" sz="2000">
              <a:latin typeface="Calibri" pitchFamily="34" charset="0"/>
            </a:endParaRPr>
          </a:p>
          <a:p>
            <a:pPr>
              <a:lnSpc>
                <a:spcPct val="90000"/>
              </a:lnSpc>
            </a:pPr>
            <a:r>
              <a:rPr lang="en-US" sz="2400" b="1">
                <a:latin typeface="Calibri" pitchFamily="34" charset="0"/>
              </a:rPr>
              <a:t>Source of Funds – other members accounts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4400" dirty="0">
                <a:solidFill>
                  <a:schemeClr val="bg1"/>
                </a:solidFill>
                <a:latin typeface="+mj-lt"/>
              </a:rPr>
              <a:t>Example</a:t>
            </a:r>
            <a:endParaRPr lang="en-AU" sz="4400" dirty="0">
              <a:latin typeface="+mj-lt"/>
            </a:endParaRPr>
          </a:p>
        </p:txBody>
      </p:sp>
      <p:pic>
        <p:nvPicPr>
          <p:cNvPr id="36867"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36868" name="Rectangle 6"/>
          <p:cNvSpPr>
            <a:spLocks noChangeArrowheads="1"/>
          </p:cNvSpPr>
          <p:nvPr/>
        </p:nvSpPr>
        <p:spPr bwMode="auto">
          <a:xfrm>
            <a:off x="539750" y="1527175"/>
            <a:ext cx="8064500" cy="4635500"/>
          </a:xfrm>
          <a:prstGeom prst="rect">
            <a:avLst/>
          </a:prstGeom>
          <a:noFill/>
          <a:ln w="9525">
            <a:noFill/>
            <a:miter lim="800000"/>
            <a:headEnd/>
            <a:tailEnd/>
          </a:ln>
        </p:spPr>
        <p:txBody>
          <a:bodyPr>
            <a:spAutoFit/>
          </a:bodyPr>
          <a:lstStyle/>
          <a:p>
            <a:pPr>
              <a:lnSpc>
                <a:spcPct val="90000"/>
              </a:lnSpc>
            </a:pPr>
            <a:r>
              <a:rPr lang="en-US" sz="2400" b="1">
                <a:latin typeface="Calibri" pitchFamily="34" charset="0"/>
              </a:rPr>
              <a:t>Cash payment to mum as beneficiary of $456,166</a:t>
            </a:r>
          </a:p>
          <a:p>
            <a:pPr>
              <a:lnSpc>
                <a:spcPct val="90000"/>
              </a:lnSpc>
            </a:pPr>
            <a:endParaRPr lang="en-US" sz="2400" b="1">
              <a:latin typeface="Calibri" pitchFamily="34" charset="0"/>
            </a:endParaRPr>
          </a:p>
          <a:p>
            <a:pPr>
              <a:lnSpc>
                <a:spcPct val="90000"/>
              </a:lnSpc>
            </a:pPr>
            <a:r>
              <a:rPr lang="en-US" sz="2400" b="1">
                <a:latin typeface="Calibri" pitchFamily="34" charset="0"/>
              </a:rPr>
              <a:t>Cash Balances after payment:</a:t>
            </a:r>
          </a:p>
          <a:p>
            <a:pPr lvl="1">
              <a:lnSpc>
                <a:spcPct val="90000"/>
              </a:lnSpc>
            </a:pPr>
            <a:r>
              <a:rPr lang="en-US" sz="2000">
                <a:latin typeface="Calibri" pitchFamily="34" charset="0"/>
              </a:rPr>
              <a:t>Mum: $107,876</a:t>
            </a:r>
          </a:p>
          <a:p>
            <a:pPr lvl="1">
              <a:lnSpc>
                <a:spcPct val="90000"/>
              </a:lnSpc>
            </a:pPr>
            <a:r>
              <a:rPr lang="en-US" sz="2000">
                <a:latin typeface="Calibri" pitchFamily="34" charset="0"/>
              </a:rPr>
              <a:t>Child 1: $21,575</a:t>
            </a:r>
          </a:p>
          <a:p>
            <a:pPr lvl="1">
              <a:lnSpc>
                <a:spcPct val="90000"/>
              </a:lnSpc>
            </a:pPr>
            <a:r>
              <a:rPr lang="en-US" sz="2000">
                <a:latin typeface="Calibri" pitchFamily="34" charset="0"/>
              </a:rPr>
              <a:t>Child 2: $14,383</a:t>
            </a:r>
          </a:p>
          <a:p>
            <a:pPr lvl="1">
              <a:lnSpc>
                <a:spcPct val="90000"/>
              </a:lnSpc>
            </a:pPr>
            <a:endParaRPr lang="en-US" sz="2000">
              <a:latin typeface="Calibri" pitchFamily="34" charset="0"/>
            </a:endParaRPr>
          </a:p>
          <a:p>
            <a:pPr>
              <a:lnSpc>
                <a:spcPct val="90000"/>
              </a:lnSpc>
            </a:pPr>
            <a:r>
              <a:rPr lang="en-US" sz="2400" b="1">
                <a:latin typeface="Calibri" pitchFamily="34" charset="0"/>
              </a:rPr>
              <a:t>Plus future income tax benefit of $56,166:</a:t>
            </a:r>
          </a:p>
          <a:p>
            <a:pPr>
              <a:lnSpc>
                <a:spcPct val="90000"/>
              </a:lnSpc>
            </a:pPr>
            <a:endParaRPr lang="en-US" sz="2400" b="1">
              <a:latin typeface="Calibri" pitchFamily="34" charset="0"/>
            </a:endParaRPr>
          </a:p>
          <a:p>
            <a:pPr>
              <a:lnSpc>
                <a:spcPct val="90000"/>
              </a:lnSpc>
            </a:pPr>
            <a:r>
              <a:rPr lang="en-US" sz="2400" b="1">
                <a:latin typeface="Calibri" pitchFamily="34" charset="0"/>
              </a:rPr>
              <a:t>Accounting Balances after payment:</a:t>
            </a:r>
          </a:p>
          <a:p>
            <a:pPr lvl="1">
              <a:lnSpc>
                <a:spcPct val="90000"/>
              </a:lnSpc>
            </a:pPr>
            <a:r>
              <a:rPr lang="en-US" sz="2000">
                <a:latin typeface="Calibri" pitchFamily="34" charset="0"/>
              </a:rPr>
              <a:t>Mum: $107,876 cash plus FITB $42,124 = $150,000</a:t>
            </a:r>
          </a:p>
          <a:p>
            <a:pPr lvl="1">
              <a:lnSpc>
                <a:spcPct val="90000"/>
              </a:lnSpc>
            </a:pPr>
            <a:r>
              <a:rPr lang="en-US" sz="2000">
                <a:latin typeface="Calibri" pitchFamily="34" charset="0"/>
              </a:rPr>
              <a:t>Child 1: $21,575 cash plus FITB $8,425 = $30,000</a:t>
            </a:r>
          </a:p>
          <a:p>
            <a:pPr lvl="1">
              <a:lnSpc>
                <a:spcPct val="90000"/>
              </a:lnSpc>
            </a:pPr>
            <a:r>
              <a:rPr lang="en-US" sz="2000">
                <a:latin typeface="Calibri" pitchFamily="34" charset="0"/>
              </a:rPr>
              <a:t>Child 2: $14,383 cash plus $5,617 = $20,000</a:t>
            </a:r>
          </a:p>
          <a:p>
            <a:pPr lvl="1">
              <a:lnSpc>
                <a:spcPct val="90000"/>
              </a:lnSpc>
            </a:pPr>
            <a:endParaRPr lang="en-US" sz="2000">
              <a:latin typeface="Calibri" pitchFamily="34" charset="0"/>
            </a:endParaRPr>
          </a:p>
          <a:p>
            <a:pPr>
              <a:lnSpc>
                <a:spcPct val="90000"/>
              </a:lnSpc>
            </a:pPr>
            <a:r>
              <a:rPr lang="en-US" sz="2400" b="1">
                <a:latin typeface="Calibri" pitchFamily="34" charset="0"/>
              </a:rPr>
              <a:t>Need to roll Mum out or pay her a lump sum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825" y="260350"/>
            <a:ext cx="8642350" cy="6337300"/>
          </a:xfrm>
          <a:prstGeom prst="rect">
            <a:avLst/>
          </a:prstGeom>
          <a:noFill/>
          <a:ln w="50800">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AU"/>
          </a:p>
        </p:txBody>
      </p:sp>
      <p:sp>
        <p:nvSpPr>
          <p:cNvPr id="6" name="Rectangle 5"/>
          <p:cNvSpPr/>
          <p:nvPr/>
        </p:nvSpPr>
        <p:spPr>
          <a:xfrm>
            <a:off x="250825" y="260350"/>
            <a:ext cx="8642350" cy="1081088"/>
          </a:xfrm>
          <a:prstGeom prst="rect">
            <a:avLst/>
          </a:prstGeom>
          <a:solidFill>
            <a:srgbClr val="EAA722"/>
          </a:solidFill>
          <a:ln>
            <a:solidFill>
              <a:srgbClr val="EAA72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AU" sz="4400" dirty="0">
                <a:solidFill>
                  <a:schemeClr val="bg1"/>
                </a:solidFill>
                <a:latin typeface="+mj-lt"/>
              </a:rPr>
              <a:t>The End</a:t>
            </a:r>
          </a:p>
        </p:txBody>
      </p:sp>
      <p:pic>
        <p:nvPicPr>
          <p:cNvPr id="37891" name="Picture 4" descr="PantherCorp_PMS.bmp"/>
          <p:cNvPicPr>
            <a:picLocks noChangeAspect="1"/>
          </p:cNvPicPr>
          <p:nvPr/>
        </p:nvPicPr>
        <p:blipFill>
          <a:blip r:embed="rId2" cstate="print"/>
          <a:srcRect r="1648"/>
          <a:stretch>
            <a:fillRect/>
          </a:stretch>
        </p:blipFill>
        <p:spPr bwMode="auto">
          <a:xfrm>
            <a:off x="6732588" y="260350"/>
            <a:ext cx="2160587" cy="1258888"/>
          </a:xfrm>
          <a:prstGeom prst="rect">
            <a:avLst/>
          </a:prstGeom>
          <a:noFill/>
          <a:ln w="9525">
            <a:noFill/>
            <a:miter lim="800000"/>
            <a:headEnd/>
            <a:tailEnd/>
          </a:ln>
        </p:spPr>
      </p:pic>
      <p:sp>
        <p:nvSpPr>
          <p:cNvPr id="7" name="TextBox 6"/>
          <p:cNvSpPr txBox="1"/>
          <p:nvPr/>
        </p:nvSpPr>
        <p:spPr>
          <a:xfrm>
            <a:off x="1835150" y="3068638"/>
            <a:ext cx="5664200" cy="769937"/>
          </a:xfrm>
          <a:prstGeom prst="rect">
            <a:avLst/>
          </a:prstGeom>
          <a:noFill/>
        </p:spPr>
        <p:txBody>
          <a:bodyPr wrap="none">
            <a:spAutoFit/>
          </a:bodyPr>
          <a:lstStyle/>
          <a:p>
            <a:pPr fontAlgn="auto">
              <a:spcBef>
                <a:spcPts val="0"/>
              </a:spcBef>
              <a:spcAft>
                <a:spcPts val="0"/>
              </a:spcAft>
              <a:defRPr/>
            </a:pPr>
            <a:r>
              <a:rPr lang="en-AU" sz="4400" b="1" dirty="0">
                <a:latin typeface="+mj-lt"/>
              </a:rPr>
              <a:t>Questions and Answers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248</TotalTime>
  <Words>1316</Words>
  <Application>Microsoft Office PowerPoint</Application>
  <PresentationFormat>On-screen Show (4:3)</PresentationFormat>
  <Paragraphs>188</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ebray</dc:creator>
  <cp:lastModifiedBy>ebray</cp:lastModifiedBy>
  <cp:revision>35</cp:revision>
  <dcterms:created xsi:type="dcterms:W3CDTF">2010-11-05T03:42:52Z</dcterms:created>
  <dcterms:modified xsi:type="dcterms:W3CDTF">2011-06-07T04:35:15Z</dcterms:modified>
</cp:coreProperties>
</file>