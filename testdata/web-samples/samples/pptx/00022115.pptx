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0" r:id="rId4"/>
    <p:sldId id="264" r:id="rId5"/>
    <p:sldId id="267" r:id="rId6"/>
    <p:sldId id="266" r:id="rId7"/>
    <p:sldId id="265" r:id="rId8"/>
    <p:sldId id="263" r:id="rId9"/>
    <p:sldId id="269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0661A41-EB4F-458D-8936-37B620BF0DF3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C866EB-0DD7-493C-86C6-F52E13A42C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umbc.edu/eseiw2013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Baltimore, </a:t>
            </a:r>
            <a:r>
              <a:rPr lang="en-US" dirty="0" err="1" smtClean="0"/>
              <a:t>hon</a:t>
            </a:r>
            <a:endParaRPr lang="en-US" dirty="0"/>
          </a:p>
        </p:txBody>
      </p:sp>
      <p:pic>
        <p:nvPicPr>
          <p:cNvPr id="11266" name="Picture 2" descr="Post image for Baltimore Inner Harbor Hote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2000" y="3352800"/>
            <a:ext cx="5160000" cy="32766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981200" y="6596390"/>
            <a:ext cx="3825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From http://kathika.com/baltimore-inner-harbor-hotels/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ESEM 2013 in the Inner Harbor, Baltimore, MD, USA</a:t>
            </a:r>
          </a:p>
          <a:p>
            <a:r>
              <a:rPr lang="en-US" dirty="0" smtClean="0"/>
              <a:t>October 10-11, 2013</a:t>
            </a:r>
          </a:p>
          <a:p>
            <a:r>
              <a:rPr lang="en-US" dirty="0" smtClean="0"/>
              <a:t>ESEIW (October 7-12) includes ISERN, ESEM, IDOESE, IASESE</a:t>
            </a:r>
          </a:p>
          <a:p>
            <a:pPr lvl="1"/>
            <a:r>
              <a:rPr lang="en-US" dirty="0" smtClean="0"/>
              <a:t>Co-located events TBD</a:t>
            </a:r>
          </a:p>
          <a:p>
            <a:r>
              <a:rPr lang="en-US" dirty="0" smtClean="0"/>
              <a:t>Website: </a:t>
            </a:r>
            <a:r>
              <a:rPr lang="en-US" b="1" dirty="0">
                <a:solidFill>
                  <a:schemeClr val="bg1"/>
                </a:solidFill>
                <a:hlinkClick r:id="rId2"/>
              </a:rPr>
              <a:t>http://umbc.edu/eseiw2013/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6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Star-Studded Cast of Characters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066800" y="2057400"/>
            <a:ext cx="3200400" cy="2286000"/>
            <a:chOff x="1066800" y="2057400"/>
            <a:chExt cx="3200400" cy="2286000"/>
          </a:xfrm>
        </p:grpSpPr>
        <p:sp>
          <p:nvSpPr>
            <p:cNvPr id="4" name="5-Point Star 3"/>
            <p:cNvSpPr/>
            <p:nvPr/>
          </p:nvSpPr>
          <p:spPr>
            <a:xfrm rot="20179242">
              <a:off x="1066800" y="2057400"/>
              <a:ext cx="3200400" cy="2286000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Carolyn Seaman</a:t>
              </a: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6681">
              <a:off x="2264276" y="2716050"/>
              <a:ext cx="558338" cy="780892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5668157" y="1441703"/>
            <a:ext cx="3200400" cy="2286000"/>
            <a:chOff x="5668157" y="1441703"/>
            <a:chExt cx="3200400" cy="2286000"/>
          </a:xfrm>
        </p:grpSpPr>
        <p:sp>
          <p:nvSpPr>
            <p:cNvPr id="5" name="5-Point Star 4"/>
            <p:cNvSpPr/>
            <p:nvPr/>
          </p:nvSpPr>
          <p:spPr>
            <a:xfrm rot="1299614">
              <a:off x="5668157" y="1441703"/>
              <a:ext cx="3200400" cy="2286000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Forrest Shull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94293">
              <a:off x="7011980" y="2047906"/>
              <a:ext cx="577619" cy="807859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2380966" y="3370997"/>
            <a:ext cx="3390330" cy="2126776"/>
            <a:chOff x="2380966" y="3370997"/>
            <a:chExt cx="3390330" cy="2126776"/>
          </a:xfrm>
        </p:grpSpPr>
        <p:sp>
          <p:nvSpPr>
            <p:cNvPr id="10" name="5-Point Star 9"/>
            <p:cNvSpPr/>
            <p:nvPr/>
          </p:nvSpPr>
          <p:spPr>
            <a:xfrm rot="21074236">
              <a:off x="2380966" y="3370997"/>
              <a:ext cx="3390330" cy="2126776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Clemente Izurieta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03017">
              <a:off x="3810231" y="3782498"/>
              <a:ext cx="522699" cy="784049"/>
            </a:xfrm>
            <a:prstGeom prst="rect">
              <a:avLst/>
            </a:prstGeom>
          </p:spPr>
        </p:pic>
      </p:grpSp>
      <p:grpSp>
        <p:nvGrpSpPr>
          <p:cNvPr id="23" name="Group 22"/>
          <p:cNvGrpSpPr/>
          <p:nvPr/>
        </p:nvGrpSpPr>
        <p:grpSpPr>
          <a:xfrm>
            <a:off x="1967802" y="4653972"/>
            <a:ext cx="2845056" cy="1967552"/>
            <a:chOff x="1967802" y="4653972"/>
            <a:chExt cx="2845056" cy="1967552"/>
          </a:xfrm>
        </p:grpSpPr>
        <p:sp>
          <p:nvSpPr>
            <p:cNvPr id="22" name="5-Point Star 21"/>
            <p:cNvSpPr/>
            <p:nvPr/>
          </p:nvSpPr>
          <p:spPr>
            <a:xfrm rot="565275">
              <a:off x="1967802" y="4653972"/>
              <a:ext cx="2845056" cy="1967552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</a:rPr>
                <a:t>Davide</a:t>
              </a:r>
              <a:r>
                <a:rPr lang="en-US" sz="1400" b="1" dirty="0" smtClean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 smtClean="0">
                  <a:solidFill>
                    <a:schemeClr val="bg1"/>
                  </a:solidFill>
                </a:rPr>
                <a:t>Falessi</a:t>
              </a:r>
              <a:endParaRPr lang="en-US" sz="1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16536">
              <a:off x="3174133" y="5093867"/>
              <a:ext cx="576402" cy="670963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76200" y="994012"/>
            <a:ext cx="3390330" cy="2126776"/>
            <a:chOff x="76200" y="994012"/>
            <a:chExt cx="3390330" cy="2126776"/>
          </a:xfrm>
        </p:grpSpPr>
        <p:sp>
          <p:nvSpPr>
            <p:cNvPr id="11" name="5-Point Star 10"/>
            <p:cNvSpPr/>
            <p:nvPr/>
          </p:nvSpPr>
          <p:spPr>
            <a:xfrm rot="20946613">
              <a:off x="76200" y="994012"/>
              <a:ext cx="3390330" cy="2126776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</a:rPr>
                <a:t>Lorin</a:t>
              </a:r>
              <a:r>
                <a:rPr lang="en-US" sz="1400" b="1" dirty="0" smtClean="0">
                  <a:solidFill>
                    <a:schemeClr val="bg1"/>
                  </a:solidFill>
                </a:rPr>
                <a:t> Hochstein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86157">
              <a:off x="1362780" y="1462060"/>
              <a:ext cx="753811" cy="878646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0" y="3200400"/>
            <a:ext cx="3390330" cy="2126776"/>
            <a:chOff x="0" y="3200400"/>
            <a:chExt cx="3390330" cy="2126776"/>
          </a:xfrm>
        </p:grpSpPr>
        <p:sp>
          <p:nvSpPr>
            <p:cNvPr id="12" name="5-Point Star 11"/>
            <p:cNvSpPr/>
            <p:nvPr/>
          </p:nvSpPr>
          <p:spPr>
            <a:xfrm>
              <a:off x="0" y="3200400"/>
              <a:ext cx="3390330" cy="2126776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Lucas Layman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355" y="3700219"/>
              <a:ext cx="577619" cy="807859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168323" y="4251900"/>
            <a:ext cx="2719678" cy="2286000"/>
            <a:chOff x="168323" y="4251900"/>
            <a:chExt cx="2719678" cy="2286000"/>
          </a:xfrm>
        </p:grpSpPr>
        <p:sp>
          <p:nvSpPr>
            <p:cNvPr id="7" name="5-Point Star 6"/>
            <p:cNvSpPr/>
            <p:nvPr/>
          </p:nvSpPr>
          <p:spPr>
            <a:xfrm rot="21036373">
              <a:off x="168323" y="4251900"/>
              <a:ext cx="2719678" cy="2286000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Oscar Pastor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4657">
              <a:off x="1269771" y="4844343"/>
              <a:ext cx="574771" cy="798293"/>
            </a:xfrm>
            <a:prstGeom prst="rect">
              <a:avLst/>
            </a:prstGeom>
          </p:spPr>
        </p:pic>
      </p:grpSp>
      <p:grpSp>
        <p:nvGrpSpPr>
          <p:cNvPr id="31" name="Group 30"/>
          <p:cNvGrpSpPr/>
          <p:nvPr/>
        </p:nvGrpSpPr>
        <p:grpSpPr>
          <a:xfrm>
            <a:off x="5605138" y="4184176"/>
            <a:ext cx="3475630" cy="2286000"/>
            <a:chOff x="5416260" y="4048035"/>
            <a:chExt cx="3475630" cy="2286000"/>
          </a:xfrm>
        </p:grpSpPr>
        <p:sp>
          <p:nvSpPr>
            <p:cNvPr id="8" name="5-Point Star 7"/>
            <p:cNvSpPr/>
            <p:nvPr/>
          </p:nvSpPr>
          <p:spPr>
            <a:xfrm rot="1195931">
              <a:off x="5416260" y="4048035"/>
              <a:ext cx="3475630" cy="2286000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</a:rPr>
                <a:t>Sreedevi</a:t>
              </a:r>
              <a:r>
                <a:rPr lang="en-US" sz="1400" b="1" dirty="0" smtClean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 smtClean="0">
                  <a:solidFill>
                    <a:schemeClr val="bg1"/>
                  </a:solidFill>
                </a:rPr>
                <a:t>Sampath</a:t>
              </a:r>
              <a:endParaRPr lang="en-US" sz="1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83105">
              <a:off x="6878790" y="4668990"/>
              <a:ext cx="778478" cy="778478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2895600" y="1607024"/>
            <a:ext cx="3390330" cy="2126776"/>
            <a:chOff x="2895600" y="1607024"/>
            <a:chExt cx="3390330" cy="2126776"/>
          </a:xfrm>
        </p:grpSpPr>
        <p:sp>
          <p:nvSpPr>
            <p:cNvPr id="14" name="5-Point Star 13"/>
            <p:cNvSpPr/>
            <p:nvPr/>
          </p:nvSpPr>
          <p:spPr>
            <a:xfrm rot="19866558">
              <a:off x="2895600" y="1607024"/>
              <a:ext cx="3390330" cy="2126776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Stefan Wagner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17474">
              <a:off x="4095527" y="2008374"/>
              <a:ext cx="588439" cy="784585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/>
        </p:nvGrpSpPr>
        <p:grpSpPr>
          <a:xfrm>
            <a:off x="4006775" y="2781907"/>
            <a:ext cx="3475630" cy="2286000"/>
            <a:chOff x="4006775" y="2781907"/>
            <a:chExt cx="3475630" cy="2286000"/>
          </a:xfrm>
        </p:grpSpPr>
        <p:sp>
          <p:nvSpPr>
            <p:cNvPr id="6" name="5-Point Star 5"/>
            <p:cNvSpPr/>
            <p:nvPr/>
          </p:nvSpPr>
          <p:spPr>
            <a:xfrm rot="20873852">
              <a:off x="4006775" y="2781907"/>
              <a:ext cx="3475630" cy="2286000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</a:rPr>
                <a:t>Guilherme</a:t>
              </a:r>
              <a:r>
                <a:rPr lang="en-US" sz="1400" b="1" dirty="0" smtClean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 smtClean="0">
                  <a:solidFill>
                    <a:schemeClr val="bg1"/>
                  </a:solidFill>
                </a:rPr>
                <a:t>Travassos</a:t>
              </a:r>
              <a:endParaRPr lang="en-US" sz="1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6996">
              <a:off x="5287120" y="3255463"/>
              <a:ext cx="636037" cy="889513"/>
            </a:xfrm>
            <a:prstGeom prst="rect">
              <a:avLst/>
            </a:prstGeom>
          </p:spPr>
        </p:pic>
      </p:grpSp>
      <p:grpSp>
        <p:nvGrpSpPr>
          <p:cNvPr id="37" name="Group 36"/>
          <p:cNvGrpSpPr/>
          <p:nvPr/>
        </p:nvGrpSpPr>
        <p:grpSpPr>
          <a:xfrm>
            <a:off x="3778748" y="4557300"/>
            <a:ext cx="2845056" cy="1967552"/>
            <a:chOff x="3778748" y="4557300"/>
            <a:chExt cx="2845056" cy="1967552"/>
          </a:xfrm>
        </p:grpSpPr>
        <p:sp>
          <p:nvSpPr>
            <p:cNvPr id="9" name="5-Point Star 8"/>
            <p:cNvSpPr/>
            <p:nvPr/>
          </p:nvSpPr>
          <p:spPr>
            <a:xfrm rot="565275">
              <a:off x="3778748" y="4557300"/>
              <a:ext cx="2845056" cy="1967552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 smtClean="0">
                <a:solidFill>
                  <a:schemeClr val="bg1"/>
                </a:solidFill>
              </a:endParaRPr>
            </a:p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</a:rPr>
                <a:t>Tomi</a:t>
              </a:r>
              <a:r>
                <a:rPr lang="en-US" sz="1400" b="1" dirty="0" smtClean="0">
                  <a:solidFill>
                    <a:schemeClr val="bg1"/>
                  </a:solidFill>
                </a:rPr>
                <a:t> </a:t>
              </a:r>
              <a:r>
                <a:rPr lang="en-US" sz="1400" b="1" dirty="0" err="1" smtClean="0">
                  <a:solidFill>
                    <a:schemeClr val="bg1"/>
                  </a:solidFill>
                </a:rPr>
                <a:t>Männistö</a:t>
              </a:r>
              <a:endParaRPr lang="en-US" sz="1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15857">
              <a:off x="4968792" y="4838392"/>
              <a:ext cx="623225" cy="8101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006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0"/>
                            </p:stCondLst>
                            <p:childTnLst>
                              <p:par>
                                <p:cTn id="20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5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0"/>
                            </p:stCondLst>
                            <p:childTnLst>
                              <p:par>
                                <p:cTn id="5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500"/>
                            </p:stCondLst>
                            <p:childTnLst>
                              <p:par>
                                <p:cTn id="62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500"/>
                            </p:stCondLst>
                            <p:childTnLst>
                              <p:par>
                                <p:cTn id="6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1500"/>
                            </p:stCondLst>
                            <p:childTnLst>
                              <p:par>
                                <p:cTn id="7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4500"/>
                            </p:stCondLst>
                            <p:childTnLst>
                              <p:par>
                                <p:cTn id="80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There…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4000" t="23111" r="13000" b="11111"/>
          <a:stretch>
            <a:fillRect/>
          </a:stretch>
        </p:blipFill>
        <p:spPr bwMode="auto">
          <a:xfrm>
            <a:off x="457200" y="1676400"/>
            <a:ext cx="804424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219200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Multiple airports: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467600" y="2133600"/>
            <a:ext cx="3810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162800" y="2667000"/>
            <a:ext cx="3810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5334000"/>
            <a:ext cx="3810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7200" y="4191000"/>
            <a:ext cx="3810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606400" y="1676400"/>
            <a:ext cx="15376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Inner Harbor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52400" y="4495800"/>
            <a:ext cx="1492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IAD (Dulles)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3200" y="3059668"/>
            <a:ext cx="18453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BWI (Baltimore)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52800" y="5726668"/>
            <a:ext cx="16754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DCA (Reagan)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There…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easy drive from any airport on the Beltway &amp; I95</a:t>
            </a:r>
          </a:p>
          <a:p>
            <a:pPr lvl="1"/>
            <a:r>
              <a:rPr lang="en-US" dirty="0" smtClean="0"/>
              <a:t>Just avoid rush hour.</a:t>
            </a:r>
          </a:p>
          <a:p>
            <a:r>
              <a:rPr lang="en-US" dirty="0" smtClean="0"/>
              <a:t>Super Shuttle from any airport will connect to Inner Harbor</a:t>
            </a:r>
          </a:p>
          <a:p>
            <a:r>
              <a:rPr lang="en-US" dirty="0" smtClean="0"/>
              <a:t>Inner Harbor also connects to railway (MARC or Amtrak)</a:t>
            </a:r>
          </a:p>
          <a:p>
            <a:pPr lvl="1"/>
            <a:r>
              <a:rPr lang="en-US" dirty="0" smtClean="0"/>
              <a:t>From IAD: Take a bus or shuttle to Washington Union Station</a:t>
            </a:r>
          </a:p>
          <a:p>
            <a:pPr lvl="1"/>
            <a:r>
              <a:rPr lang="en-US" dirty="0" smtClean="0"/>
              <a:t>From DCA: Metro runs from airport to Union Sta.</a:t>
            </a:r>
          </a:p>
          <a:p>
            <a:pPr lvl="1"/>
            <a:r>
              <a:rPr lang="en-US" dirty="0" smtClean="0"/>
              <a:t>From BWI: Shuttle to the airport rail station.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Inner Harbor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4500" t="21333" b="3111"/>
          <a:stretch>
            <a:fillRect/>
          </a:stretch>
        </p:blipFill>
        <p:spPr bwMode="auto">
          <a:xfrm>
            <a:off x="533400" y="1447800"/>
            <a:ext cx="812202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05000" y="4648200"/>
            <a:ext cx="990977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Science </a:t>
            </a:r>
          </a:p>
          <a:p>
            <a:r>
              <a:rPr lang="en-US" sz="1600" dirty="0" smtClean="0"/>
              <a:t>Museum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200400" y="5791200"/>
            <a:ext cx="173637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Federal Hill Park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4495800"/>
            <a:ext cx="10668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Visionary Arts </a:t>
            </a:r>
          </a:p>
          <a:p>
            <a:r>
              <a:rPr lang="en-US" sz="1600" dirty="0" smtClean="0"/>
              <a:t>Museum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11320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Aquarium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876800" y="1219200"/>
            <a:ext cx="122341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Hard Rock </a:t>
            </a:r>
            <a:br>
              <a:rPr lang="en-US" sz="1600" dirty="0" smtClean="0"/>
            </a:br>
            <a:r>
              <a:rPr lang="en-US" sz="1600" dirty="0" smtClean="0"/>
              <a:t>Cafe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662504" y="5867400"/>
            <a:ext cx="148149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Water Taxi to </a:t>
            </a:r>
            <a:br>
              <a:rPr lang="en-US" sz="1600" dirty="0" smtClean="0"/>
            </a:br>
            <a:r>
              <a:rPr lang="en-US" sz="1600" dirty="0" smtClean="0"/>
              <a:t>Fort McHenry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600200" y="1219200"/>
            <a:ext cx="143020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Street </a:t>
            </a:r>
            <a:br>
              <a:rPr lang="en-US" sz="1600" dirty="0" smtClean="0"/>
            </a:br>
            <a:r>
              <a:rPr lang="en-US" sz="1600" dirty="0" smtClean="0"/>
              <a:t>performances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219200"/>
            <a:ext cx="100860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Camden </a:t>
            </a:r>
            <a:br>
              <a:rPr lang="en-US" sz="1600" dirty="0" smtClean="0"/>
            </a:br>
            <a:r>
              <a:rPr lang="en-US" sz="1600" dirty="0" smtClean="0"/>
              <a:t>Yards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410200" y="3505200"/>
            <a:ext cx="125867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Seafood </a:t>
            </a:r>
            <a:br>
              <a:rPr lang="en-US" sz="1600" dirty="0" smtClean="0"/>
            </a:br>
            <a:r>
              <a:rPr lang="en-US" sz="1600" dirty="0" smtClean="0"/>
              <a:t>Restaurants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1447800" y="2209800"/>
            <a:ext cx="99738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Shops &amp; </a:t>
            </a:r>
            <a:br>
              <a:rPr lang="en-US" sz="1600" dirty="0" smtClean="0"/>
            </a:br>
            <a:r>
              <a:rPr lang="en-US" sz="1600" dirty="0" smtClean="0"/>
              <a:t>Dining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7391400" y="1371600"/>
            <a:ext cx="1371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Fells Point &amp; Little Italy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Nearby Day Trips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4000" t="21333" r="500" b="3111"/>
          <a:stretch>
            <a:fillRect/>
          </a:stretch>
        </p:blipFill>
        <p:spPr bwMode="auto">
          <a:xfrm>
            <a:off x="76200" y="1524000"/>
            <a:ext cx="8934226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848600" y="3657600"/>
            <a:ext cx="90601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Beaches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6553200" y="4419600"/>
            <a:ext cx="131157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 Eastern </a:t>
            </a:r>
            <a:br>
              <a:rPr lang="en-US" sz="1600" dirty="0" smtClean="0"/>
            </a:br>
            <a:r>
              <a:rPr lang="en-US" sz="1600" dirty="0" smtClean="0"/>
              <a:t>Shore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743200" y="3733800"/>
            <a:ext cx="218361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National Capital Area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2667000" y="2133600"/>
            <a:ext cx="163538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Historic City of </a:t>
            </a:r>
          </a:p>
          <a:p>
            <a:r>
              <a:rPr lang="en-US" sz="1600" dirty="0" smtClean="0"/>
              <a:t>Frederick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3962400"/>
            <a:ext cx="1600118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Shenandoah </a:t>
            </a:r>
            <a:br>
              <a:rPr lang="en-US" sz="1600" dirty="0" smtClean="0"/>
            </a:br>
            <a:r>
              <a:rPr lang="en-US" sz="1600" dirty="0" err="1" smtClean="0"/>
              <a:t>Mtns</a:t>
            </a:r>
            <a:r>
              <a:rPr lang="en-US" sz="1600" dirty="0" smtClean="0"/>
              <a:t>. National </a:t>
            </a:r>
            <a:br>
              <a:rPr lang="en-US" sz="1600" dirty="0" smtClean="0"/>
            </a:br>
            <a:r>
              <a:rPr lang="en-US" sz="1600" dirty="0" smtClean="0"/>
              <a:t>Park &amp; Skyline</a:t>
            </a:r>
          </a:p>
          <a:p>
            <a:r>
              <a:rPr lang="en-US" sz="1600" dirty="0" smtClean="0"/>
              <a:t>Drive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31" y="1795046"/>
            <a:ext cx="133402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Fallingwater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034719" y="1781216"/>
            <a:ext cx="133722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Philadelphia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Cities have personalities…</a:t>
            </a:r>
            <a:endParaRPr lang="en-US" dirty="0"/>
          </a:p>
        </p:txBody>
      </p:sp>
      <p:pic>
        <p:nvPicPr>
          <p:cNvPr id="5122" name="Picture 2" descr="Serious business group at a present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09800"/>
            <a:ext cx="4352349" cy="305752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04800" y="1676400"/>
            <a:ext cx="2895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Washington, DC</a:t>
            </a:r>
            <a:endParaRPr lang="en-US" sz="2800" dirty="0"/>
          </a:p>
        </p:txBody>
      </p:sp>
      <p:pic>
        <p:nvPicPr>
          <p:cNvPr id="5124" name="Picture 4" descr="http://3.bp.blogspot.com/_nlsHJ2aB8r0/TBjC1IBUE0I/AAAAAAAAD4I/xpyIkhcvTPI/s400/hons+with+be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828800"/>
            <a:ext cx="3581400" cy="4775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638800" y="1295400"/>
            <a:ext cx="2895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Baltimore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Homework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excellent research</a:t>
            </a:r>
          </a:p>
          <a:p>
            <a:r>
              <a:rPr lang="en-US" dirty="0" smtClean="0"/>
              <a:t>Write awesome papers</a:t>
            </a:r>
          </a:p>
          <a:p>
            <a:r>
              <a:rPr lang="en-US" dirty="0" smtClean="0"/>
              <a:t>Buy a ticket to Baltimore</a:t>
            </a:r>
          </a:p>
          <a:p>
            <a:r>
              <a:rPr lang="en-US" dirty="0" smtClean="0"/>
              <a:t>Watch Hairspray</a:t>
            </a:r>
          </a:p>
          <a:p>
            <a:pPr lvl="1"/>
            <a:r>
              <a:rPr lang="en-US" dirty="0" smtClean="0"/>
              <a:t>Original movie (1988)</a:t>
            </a:r>
          </a:p>
          <a:p>
            <a:pPr lvl="1"/>
            <a:r>
              <a:rPr lang="en-US" dirty="0" smtClean="0"/>
              <a:t>Broadway musical (2002)</a:t>
            </a:r>
          </a:p>
          <a:p>
            <a:pPr lvl="1"/>
            <a:r>
              <a:rPr lang="en-US" dirty="0" smtClean="0"/>
              <a:t>Re-make (2007)</a:t>
            </a:r>
            <a:endParaRPr lang="en-US" dirty="0"/>
          </a:p>
        </p:txBody>
      </p:sp>
      <p:pic>
        <p:nvPicPr>
          <p:cNvPr id="4" name="Picture 6" descr="Hairspray Pos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219200"/>
            <a:ext cx="3105150" cy="45996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582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 you in </a:t>
            </a:r>
            <a:r>
              <a:rPr lang="en-US" dirty="0" err="1" smtClean="0"/>
              <a:t>Bawlmer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6148" name="Picture 4" descr="http://www.baltimorebrew.com/wp-content/uploads/2010/12/hon-welcome-to-baltimore-katrina-kraus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8150" y="1524000"/>
            <a:ext cx="7447701" cy="472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1254</TotalTime>
  <Words>255</Words>
  <Application>Microsoft Office PowerPoint</Application>
  <PresentationFormat>On-screen Show (4:3)</PresentationFormat>
  <Paragraphs>99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Welcome to Baltimore, hon</vt:lpstr>
      <vt:lpstr>The Basics</vt:lpstr>
      <vt:lpstr>A Star-Studded Cast of Characters</vt:lpstr>
      <vt:lpstr>Getting There…</vt:lpstr>
      <vt:lpstr>Getting There…</vt:lpstr>
      <vt:lpstr>The Inner Harbor</vt:lpstr>
      <vt:lpstr>Nearby Day Trips</vt:lpstr>
      <vt:lpstr>Cities have personalities…</vt:lpstr>
      <vt:lpstr>Your Homework</vt:lpstr>
      <vt:lpstr>See you in Bawlmer!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Baltimore, hon</dc:title>
  <dc:creator>Michelle Chovan</dc:creator>
  <cp:lastModifiedBy>Carolyn Seaman</cp:lastModifiedBy>
  <cp:revision>56</cp:revision>
  <dcterms:created xsi:type="dcterms:W3CDTF">2012-09-13T21:15:27Z</dcterms:created>
  <dcterms:modified xsi:type="dcterms:W3CDTF">2012-09-20T12:44:10Z</dcterms:modified>
</cp:coreProperties>
</file>