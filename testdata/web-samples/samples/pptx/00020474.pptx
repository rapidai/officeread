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9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0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1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2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3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4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5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6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7.xml" ContentType="application/vnd.openxmlformats-officedocument.presentationml.notesSlide+xml"/>
  <Override PartName="/ppt/tags/tag64.xml" ContentType="application/vnd.openxmlformats-officedocument.presentationml.tags+xml"/>
  <Override PartName="/ppt/notesSlides/notesSlide18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0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2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4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25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26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7.xml" ContentType="application/vnd.openxmlformats-officedocument.presentationml.notesSlide+xml"/>
  <Override PartName="/ppt/tags/tag88.xml" ContentType="application/vnd.openxmlformats-officedocument.presentationml.tags+xml"/>
  <Override PartName="/ppt/notesSlides/notesSlide28.xml" ContentType="application/vnd.openxmlformats-officedocument.presentationml.notesSlide+xml"/>
  <Override PartName="/ppt/tags/tag89.xml" ContentType="application/vnd.openxmlformats-officedocument.presentationml.tags+xml"/>
  <Override PartName="/ppt/notesSlides/notesSlide29.xml" ContentType="application/vnd.openxmlformats-officedocument.presentationml.notesSlide+xml"/>
  <Override PartName="/ppt/tags/tag90.xml" ContentType="application/vnd.openxmlformats-officedocument.presentationml.tags+xml"/>
  <Override PartName="/ppt/notesSlides/notesSlide30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31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32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33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34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35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36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5"/>
  </p:notesMasterIdLst>
  <p:handoutMasterIdLst>
    <p:handoutMasterId r:id="rId46"/>
  </p:handoutMasterIdLst>
  <p:sldIdLst>
    <p:sldId id="314" r:id="rId3"/>
    <p:sldId id="293" r:id="rId4"/>
    <p:sldId id="259" r:id="rId5"/>
    <p:sldId id="260" r:id="rId6"/>
    <p:sldId id="261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278" r:id="rId24"/>
    <p:sldId id="279" r:id="rId25"/>
    <p:sldId id="280" r:id="rId26"/>
    <p:sldId id="331" r:id="rId27"/>
    <p:sldId id="332" r:id="rId28"/>
    <p:sldId id="283" r:id="rId29"/>
    <p:sldId id="284" r:id="rId30"/>
    <p:sldId id="285" r:id="rId31"/>
    <p:sldId id="286" r:id="rId32"/>
    <p:sldId id="287" r:id="rId33"/>
    <p:sldId id="333" r:id="rId34"/>
    <p:sldId id="334" r:id="rId35"/>
    <p:sldId id="303" r:id="rId36"/>
    <p:sldId id="304" r:id="rId37"/>
    <p:sldId id="305" r:id="rId38"/>
    <p:sldId id="306" r:id="rId39"/>
    <p:sldId id="307" r:id="rId40"/>
    <p:sldId id="312" r:id="rId41"/>
    <p:sldId id="313" r:id="rId42"/>
    <p:sldId id="335" r:id="rId43"/>
    <p:sldId id="336" r:id="rId44"/>
  </p:sldIdLst>
  <p:sldSz cx="9144000" cy="6858000" type="screen4x3"/>
  <p:notesSz cx="6858000" cy="9144000"/>
  <p:custDataLst>
    <p:tags r:id="rId4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7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4975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numCol="1" anchor="t" anchorCtr="0" compatLnSpc="1">
            <a:prstTxWarp prst="textNoShape">
              <a:avLst/>
            </a:prstTxWarp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FFFFFF"/>
                </a:solidFill>
                <a:latin typeface="Arial" pitchFamily="34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endParaRPr lang="en-US"/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3881438" y="0"/>
            <a:ext cx="2976562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numCol="1" anchor="t" anchorCtr="0" compatLnSpc="1">
            <a:prstTxWarp prst="textNoShape">
              <a:avLst/>
            </a:prstTxWarp>
          </a:bodyPr>
          <a:lstStyle>
            <a:lvl1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FFFFFF"/>
                </a:solidFill>
                <a:latin typeface="Arial" pitchFamily="34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7563A5EA-A46E-4CBA-B683-828426056A1B}" type="datetime1">
              <a:rPr lang="en-US"/>
              <a:pPr/>
              <a:t>7/30/2012</a:t>
            </a:fld>
            <a:endParaRPr lang="en-US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8686800"/>
            <a:ext cx="2974975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numCol="1" anchor="b" anchorCtr="0" compatLnSpc="1">
            <a:prstTxWarp prst="textNoShape">
              <a:avLst/>
            </a:prstTxWarp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FFFFFF"/>
                </a:solidFill>
                <a:latin typeface="Arial" pitchFamily="34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endParaRPr lang="en-US"/>
          </a:p>
        </p:txBody>
      </p:sp>
      <p:sp>
        <p:nvSpPr>
          <p:cNvPr id="71685" name="Slide Number Placeholder 4"/>
          <p:cNvSpPr txBox="1">
            <a:spLocks noGrp="1"/>
          </p:cNvSpPr>
          <p:nvPr>
            <p:ph type="sldNum" sz="quarter" idx="3"/>
          </p:nvPr>
        </p:nvSpPr>
        <p:spPr bwMode="auto">
          <a:xfrm>
            <a:off x="3881438" y="8686800"/>
            <a:ext cx="2976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4" tIns="44997" rIns="90004" bIns="44997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Calibri" pitchFamily="34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6895C818-96DC-42F5-9438-A7084B0EA938}" type="slidenum">
              <a:rPr lang="en-US"/>
              <a:pPr/>
              <a:t>‹#›</a:t>
            </a:fld>
            <a:endParaRPr lang="en-US">
              <a:solidFill>
                <a:srgbClr val="FFFFFF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195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>
            <a:spLocks noMove="1" noResize="1"/>
          </p:cNvSpPr>
          <p:nvPr/>
        </p:nvSpPr>
        <p:spPr bwMode="auto"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4997" rIns="90004" bIns="44997" anchor="ctr" anchorCtr="1"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>
              <a:solidFill>
                <a:srgbClr val="FFFFFF"/>
              </a:solidFill>
              <a:latin typeface="Arial" pitchFamily="34" charset="0"/>
            </a:endParaRPr>
          </a:p>
        </p:txBody>
      </p:sp>
      <p:sp>
        <p:nvSpPr>
          <p:cNvPr id="43011" name="Freeform 2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12" name="Freeform 3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13" name="Freeform 4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14" name="Freeform 5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15" name="Freeform 6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16" name="Freeform 7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17" name="Freeform 8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18" name="Freeform 9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19" name="Freeform 10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20" name="Freeform 11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21" name="Freeform 12"/>
          <p:cNvSpPr>
            <a:spLocks/>
          </p:cNvSpPr>
          <p:nvPr/>
        </p:nvSpPr>
        <p:spPr bwMode="auto">
          <a:xfrm>
            <a:off x="0" y="0"/>
            <a:ext cx="6858000" cy="9144000"/>
          </a:xfrm>
          <a:custGeom>
            <a:avLst/>
            <a:gdLst>
              <a:gd name="T0" fmla="*/ 3429000 w 6858000"/>
              <a:gd name="T1" fmla="*/ 0 h 9144000"/>
              <a:gd name="T2" fmla="*/ 6858000 w 6858000"/>
              <a:gd name="T3" fmla="*/ 4572000 h 9144000"/>
              <a:gd name="T4" fmla="*/ 3429000 w 6858000"/>
              <a:gd name="T5" fmla="*/ 9144000 h 9144000"/>
              <a:gd name="T6" fmla="*/ 0 w 6858000"/>
              <a:gd name="T7" fmla="*/ 4572000 h 91440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465 w 6858000"/>
              <a:gd name="T13" fmla="*/ 465 h 9144000"/>
              <a:gd name="T14" fmla="*/ 6857535 w 6858000"/>
              <a:gd name="T15" fmla="*/ 9143535 h 9144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0" h="9144000">
                <a:moveTo>
                  <a:pt x="1588" y="0"/>
                </a:moveTo>
                <a:lnTo>
                  <a:pt x="1588" y="0"/>
                </a:lnTo>
                <a:cubicBezTo>
                  <a:pt x="710" y="-1"/>
                  <a:pt x="0" y="710"/>
                  <a:pt x="0" y="1587"/>
                </a:cubicBezTo>
                <a:lnTo>
                  <a:pt x="0" y="9142413"/>
                </a:lnTo>
                <a:lnTo>
                  <a:pt x="0" y="9142412"/>
                </a:lnTo>
                <a:cubicBezTo>
                  <a:pt x="-1" y="9143290"/>
                  <a:pt x="710" y="9144000"/>
                  <a:pt x="1587" y="9144001"/>
                </a:cubicBezTo>
                <a:lnTo>
                  <a:pt x="6856413" y="9144000"/>
                </a:lnTo>
                <a:cubicBezTo>
                  <a:pt x="6857290" y="9143999"/>
                  <a:pt x="6858001" y="9143289"/>
                  <a:pt x="6858001" y="9142412"/>
                </a:cubicBezTo>
                <a:lnTo>
                  <a:pt x="6858000" y="1588"/>
                </a:lnTo>
                <a:cubicBezTo>
                  <a:pt x="6858000" y="710"/>
                  <a:pt x="6857289" y="0"/>
                  <a:pt x="6856412" y="0"/>
                </a:cubicBezTo>
                <a:lnTo>
                  <a:pt x="15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22" name="Freeform 13"/>
          <p:cNvSpPr>
            <a:spLocks/>
          </p:cNvSpPr>
          <p:nvPr/>
        </p:nvSpPr>
        <p:spPr bwMode="auto">
          <a:xfrm>
            <a:off x="0" y="0"/>
            <a:ext cx="2971800" cy="457200"/>
          </a:xfrm>
          <a:custGeom>
            <a:avLst/>
            <a:gdLst>
              <a:gd name="T0" fmla="*/ 1485900 w 21600"/>
              <a:gd name="T1" fmla="*/ 0 h 21600"/>
              <a:gd name="T2" fmla="*/ 2971800 w 21600"/>
              <a:gd name="T3" fmla="*/ 228600 h 21600"/>
              <a:gd name="T4" fmla="*/ 1485900 w 21600"/>
              <a:gd name="T5" fmla="*/ 457200 h 21600"/>
              <a:gd name="T6" fmla="*/ 0 w 21600"/>
              <a:gd name="T7" fmla="*/ 2286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23" name="Freeform 14"/>
          <p:cNvSpPr>
            <a:spLocks/>
          </p:cNvSpPr>
          <p:nvPr/>
        </p:nvSpPr>
        <p:spPr bwMode="auto">
          <a:xfrm>
            <a:off x="3884613" y="0"/>
            <a:ext cx="2968625" cy="454025"/>
          </a:xfrm>
          <a:custGeom>
            <a:avLst/>
            <a:gdLst>
              <a:gd name="T0" fmla="*/ 1484282 w 21600"/>
              <a:gd name="T1" fmla="*/ 0 h 21600"/>
              <a:gd name="T2" fmla="*/ 2968563 w 21600"/>
              <a:gd name="T3" fmla="*/ 226982 h 21600"/>
              <a:gd name="T4" fmla="*/ 1484282 w 21600"/>
              <a:gd name="T5" fmla="*/ 453963 h 21600"/>
              <a:gd name="T6" fmla="*/ 0 w 21600"/>
              <a:gd name="T7" fmla="*/ 226982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3024" name="Slide Image Placeholder 15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54538" cy="341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3025" name="Notes Placeholder 16"/>
          <p:cNvSpPr txBox="1"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68938" cy="409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43026" name="Freeform 17"/>
          <p:cNvSpPr>
            <a:spLocks/>
          </p:cNvSpPr>
          <p:nvPr/>
        </p:nvSpPr>
        <p:spPr bwMode="auto">
          <a:xfrm>
            <a:off x="0" y="8685213"/>
            <a:ext cx="2971800" cy="457200"/>
          </a:xfrm>
          <a:custGeom>
            <a:avLst/>
            <a:gdLst>
              <a:gd name="T0" fmla="*/ 1485900 w 21600"/>
              <a:gd name="T1" fmla="*/ 0 h 21600"/>
              <a:gd name="T2" fmla="*/ 2971800 w 21600"/>
              <a:gd name="T3" fmla="*/ 228600 h 21600"/>
              <a:gd name="T4" fmla="*/ 1485900 w 21600"/>
              <a:gd name="T5" fmla="*/ 457200 h 21600"/>
              <a:gd name="T6" fmla="*/ 0 w 21600"/>
              <a:gd name="T7" fmla="*/ 2286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19" name="Slide Number Placeholder 18"/>
          <p:cNvSpPr txBox="1"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54337" cy="439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6798" rIns="90004" bIns="46798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0F99738D-AAFD-4F29-A6C5-23E262DB27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526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450"/>
      </a:spcBef>
      <a:spcAft>
        <a:spcPct val="0"/>
      </a:spcAft>
      <a:tabLst>
        <a:tab pos="0" algn="l"/>
        <a:tab pos="457200" algn="l"/>
        <a:tab pos="914400" algn="l"/>
        <a:tab pos="1371600" algn="l"/>
        <a:tab pos="1828800" algn="l"/>
        <a:tab pos="2286000" algn="l"/>
        <a:tab pos="2743200" algn="l"/>
        <a:tab pos="3200400" algn="l"/>
        <a:tab pos="3657600" algn="l"/>
        <a:tab pos="4114800" algn="l"/>
        <a:tab pos="4572000" algn="l"/>
        <a:tab pos="5029200" algn="l"/>
        <a:tab pos="5486400" algn="l"/>
        <a:tab pos="5943600" algn="l"/>
        <a:tab pos="6400800" algn="l"/>
        <a:tab pos="6858000" algn="l"/>
        <a:tab pos="7315200" algn="l"/>
        <a:tab pos="7772400" algn="l"/>
        <a:tab pos="8229600" algn="l"/>
        <a:tab pos="8686800" algn="l"/>
        <a:tab pos="9144000" algn="l"/>
      </a:tabLst>
      <a:defRPr lang="en-US" sz="1200">
        <a:solidFill>
          <a:srgbClr val="000000"/>
        </a:solidFill>
        <a:latin typeface="Times New Roman" pitchFamily="18"/>
        <a:cs typeface="Mangal" pitchFamily="2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Mangal" pitchFamily="18" charset="0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Mangal" pitchFamily="18" charset="0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Mangal" pitchFamily="18" charset="0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Mangal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42F217C-F760-4858-B732-5EBA4CF1218A}" type="slidenum">
              <a:t>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0F2E8D8-CB5D-4BDA-B4C6-C3443408D41D}" type="slidenum">
              <a:t>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5" name="Notes Placeholder 4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1EBE95EB-E791-45CE-912F-966AA1CFD2BB}" type="slidenum">
              <a:rPr lang="en-US">
                <a:solidFill>
                  <a:srgbClr val="000000"/>
                </a:solidFill>
                <a:ea typeface="Lucida Sans Unicode" pitchFamily="34" charset="0"/>
                <a:cs typeface="Arial" pitchFamily="34" charset="0"/>
              </a:rPr>
              <a:pPr/>
              <a:t>2</a:t>
            </a:fld>
            <a:endParaRPr lang="en-US">
              <a:solidFill>
                <a:srgbClr val="000000"/>
              </a:solidFill>
              <a:ea typeface="Lucida Sans Unicode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613" y="8685213"/>
            <a:ext cx="2963862" cy="44926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1231910-18D5-479D-A0D3-F6DD1A637CFC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3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613" y="8685213"/>
            <a:ext cx="2968625" cy="4540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C7B2E66-40D9-4751-8144-18BAA4C8D235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3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45060" name="Slide Image Placeholder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45061" name="Notes Placeholder 4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613" y="8685213"/>
            <a:ext cx="2963862" cy="44926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8CDF518-A54F-4EC8-A91C-6A6AEC3B1641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4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613" y="8685213"/>
            <a:ext cx="2968625" cy="4540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9D9AEBB-C807-4EA4-9258-A3EA464FA518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4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47108" name="Slide Image Placeholder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47109" name="Notes Placeholder 4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613" y="8685213"/>
            <a:ext cx="2963862" cy="44926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AD57271-6C69-4794-9C9D-2D797CBE5894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5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613" y="8685213"/>
            <a:ext cx="2968625" cy="4540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0E7A9CE-E1A7-4C68-8D93-5771E47407B7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5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48132" name="Slide Image Placeholder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48133" name="Notes Placeholder 4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5A553D8-A423-4DA1-8C2E-1F7A28B64181}" type="slidenum"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51D2F4C-2829-4FD5-899F-0A974B6C1F81}" type="slidenum"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5" name="Notes Placeholder 4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D2E56D2-80A0-41BD-A3DB-763031EC08C3}" type="slidenum"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73BB8D9-C0E2-497E-9968-5062107EB6BF}" type="slidenum">
              <a:t>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42FF65A-EAF9-4D20-BDC2-62CBB47AA1C5}" type="slidenum">
              <a:t>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C9870D1-2629-4DB5-85B0-AC96A603281E}" type="slidenum">
              <a:t>10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FA5C04E-328F-4461-BCE3-2836C5999610}" type="slidenum">
              <a:t>10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143000" y="685800"/>
            <a:ext cx="4573435" cy="3429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FFFFFF"/>
          </a:solidFill>
          <a:ln w="9363">
            <a:solidFill>
              <a:srgbClr val="000000"/>
            </a:solidFill>
            <a:prstDash val="solid"/>
            <a:miter/>
          </a:ln>
        </p:spPr>
        <p:txBody>
          <a:bodyPr vert="horz" wrap="none" lIns="90004" tIns="46798" rIns="90004" bIns="46798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5" name="Notes Placeholder 4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1435C5F-E4DF-477B-A305-196576377577}" type="slidenum">
              <a:t>11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E91EA34-676B-43BE-9569-9BC93F8FC292}" type="slidenum">
              <a:t>11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143000" y="685800"/>
            <a:ext cx="4573435" cy="3429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FFFFFF"/>
          </a:solidFill>
          <a:ln w="9363">
            <a:solidFill>
              <a:srgbClr val="000000"/>
            </a:solidFill>
            <a:prstDash val="solid"/>
            <a:miter/>
          </a:ln>
        </p:spPr>
        <p:txBody>
          <a:bodyPr vert="horz" wrap="none" lIns="90004" tIns="46798" rIns="90004" bIns="46798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5" name="Notes Placeholder 4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FDD8BC7-03D5-46A3-BD4B-94C89B05737F}" type="slidenum">
              <a:t>12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F648517-F319-475B-9A48-BBF8EA4F09FD}" type="slidenum">
              <a:t>13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F572578-605A-4CC0-8B11-135165860BD8}" type="slidenum">
              <a:t>14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8EDD1F0-11C5-4FC0-854C-BE9FE6C10A10}" type="slidenum">
              <a:t>15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F2640E-0FB3-4069-9BDF-2347D914390D}" type="slidenum">
              <a:t>16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504C1FC-A5D9-4A91-8C96-421573B62E7E}" type="slidenum">
              <a:t>17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83163" cy="4111919"/>
          </a:xfrm>
        </p:spPr>
        <p:txBody>
          <a:bodyPr lIns="90004" tIns="46798" rIns="90004" bIns="46798">
            <a:spAutoFit/>
          </a:bodyPr>
          <a:lstStyle/>
          <a:p>
            <a:pPr lvl="0"/>
            <a:r>
              <a:rPr lang="en-US" kern="1200">
                <a:cs typeface="Lucida Sans Unicode" pitchFamily="2"/>
              </a:rPr>
              <a:t>Switch to ROBOTC and explain the program</a:t>
            </a:r>
          </a:p>
        </p:txBody>
      </p:sp>
      <p:sp>
        <p:nvSpPr>
          <p:cNvPr id="5" name="Freeform 4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07CA152-7931-4B02-A45F-0F4A078FFA5E}" type="slidenum">
              <a:t>17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59399" cy="3416399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06EF8D0-74C2-4C63-BCC9-9F4E3468AF34}" type="slidenum">
              <a:t>19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83163" cy="4111919"/>
          </a:xfrm>
        </p:spPr>
        <p:txBody>
          <a:bodyPr lIns="90004" tIns="46798" rIns="90004" bIns="46798">
            <a:spAutoFit/>
          </a:bodyPr>
          <a:lstStyle/>
          <a:p>
            <a:pPr lvl="0"/>
            <a:r>
              <a:rPr lang="en-US" kern="1200">
                <a:cs typeface="Lucida Sans Unicode" pitchFamily="2"/>
              </a:rPr>
              <a:t>Switch to ROBOTC and explain the program</a:t>
            </a:r>
          </a:p>
        </p:txBody>
      </p:sp>
      <p:sp>
        <p:nvSpPr>
          <p:cNvPr id="5" name="Freeform 4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7425CEE-EBF9-4AB5-91FF-7806DB95A34E}" type="slidenum">
              <a:t>19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88B20D1-4FC6-4663-8A64-1FF9CEFF4258}" type="slidenum">
              <a:t>20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9412BBD-E954-4EB8-B522-00CF64C8337D}" type="slidenum">
              <a:t>21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613" y="8685213"/>
            <a:ext cx="2963862" cy="44926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C7B0CAE-0B3D-45E8-A901-D2E088415B93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22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613" y="8685213"/>
            <a:ext cx="2968625" cy="4540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B475C6C-00B6-4C31-A935-43CBD9AE1813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22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59396" name="Slide Image Placeholder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59397" name="Notes Placeholder 4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613" y="8685213"/>
            <a:ext cx="2963862" cy="44926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200F1E7-80A2-45AE-9A90-51FB3B02FE99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23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613" y="8685213"/>
            <a:ext cx="2968625" cy="4540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FD22058-7708-414C-A5E0-2ACBCFF29B7D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23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60420" name="Slide Image Placeholder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60421" name="Notes Placeholder 4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613" y="8685213"/>
            <a:ext cx="2963862" cy="44926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1F5E6E5-2B69-4CA0-BB63-8B38B26ADC76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24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613" y="8685213"/>
            <a:ext cx="2968625" cy="4540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A342680-08FA-4D69-85A1-9DCD6805197F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24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61444" name="Slide Image Placeholder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61445" name="Notes Placeholder 4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F820C5E-07AD-491D-B62D-70EF0C3ED03E}" type="slidenum">
              <a:t>25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5E8D101-6F70-4069-9A90-3EA6E8DBA190}" type="slidenum">
              <a:t>25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5" name="Notes Placeholder 4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C4CD5D3-78B2-4E4B-851E-6643659BCE06}" type="slidenum">
              <a:t>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763" cy="3425763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613" y="8685213"/>
            <a:ext cx="2963862" cy="44926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0083AC7-E386-4005-9A6E-53C8B890FBB9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27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63491" name="Slide Image Placeholder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3225" cy="4111625"/>
          </a:xfrm>
        </p:spPr>
        <p:txBody>
          <a:bodyPr lIns="90004" tIns="46798" rIns="90004" bIns="46798">
            <a:spAutoFit/>
          </a:bodyPr>
          <a:lstStyle/>
          <a:p>
            <a:pPr eaLnBrk="1" fontAlgn="auto">
              <a:spcAft>
                <a:spcPts val="0"/>
              </a:spcAft>
              <a:defRPr/>
            </a:pPr>
            <a:r>
              <a:rPr kern="1200">
                <a:cs typeface="Lucida Sans Unicode" pitchFamily="2"/>
              </a:rPr>
              <a:t>Switch to ROBOTC and explain the program</a:t>
            </a:r>
          </a:p>
        </p:txBody>
      </p:sp>
      <p:sp>
        <p:nvSpPr>
          <p:cNvPr id="5" name="Freeform 4"/>
          <p:cNvSpPr/>
          <p:nvPr/>
        </p:nvSpPr>
        <p:spPr>
          <a:xfrm>
            <a:off x="3884613" y="8685213"/>
            <a:ext cx="2968625" cy="4540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79D49FF-49EE-42CE-A107-67764FEC7504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27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4588" y="685800"/>
            <a:ext cx="4556125" cy="3416300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64515" name="Notes Placeholder 2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4588" y="685800"/>
            <a:ext cx="4556125" cy="3416300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65539" name="Notes Placeholder 2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6175" y="685800"/>
            <a:ext cx="4549775" cy="3413125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66563" name="Notes Placeholder 2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613" y="8685213"/>
            <a:ext cx="2963862" cy="44926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46CD8AC-800F-41EF-9257-F3A126704340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31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613" y="8685213"/>
            <a:ext cx="2968625" cy="4540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 anchor="b"/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610459E-9855-428A-810E-137A0A6222D7}" type="slidenum">
              <a:rPr lang="en-US">
                <a:solidFill>
                  <a:srgbClr val="000000"/>
                </a:solidFill>
              </a:rPr>
              <a:pPr algn="r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31</a:t>
            </a:fld>
            <a:endParaRPr lang="en-US" sz="1200">
              <a:solidFill>
                <a:srgbClr val="000000"/>
              </a:solidFill>
              <a:cs typeface="Lucida Sans Unicode" pitchFamily="34" charset="0"/>
            </a:endParaRPr>
          </a:p>
        </p:txBody>
      </p:sp>
      <p:sp>
        <p:nvSpPr>
          <p:cNvPr id="67588" name="Slide Image Placeholder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miter lim="800000"/>
            <a:headEnd/>
            <a:tailEnd/>
          </a:ln>
        </p:spPr>
      </p:sp>
      <p:sp>
        <p:nvSpPr>
          <p:cNvPr id="67589" name="Notes Placeholder 4"/>
          <p:cNvSpPr txBox="1">
            <a:spLocks noGrp="1"/>
          </p:cNvSpPr>
          <p:nvPr>
            <p:ph type="body" sz="quarter" idx="1"/>
          </p:nvPr>
        </p:nvSpPr>
        <p:spPr>
          <a:ln/>
        </p:spPr>
        <p:txBody>
          <a:bodyPr>
            <a:spAutoFit/>
          </a:bodyPr>
          <a:lstStyle/>
          <a:p>
            <a:pPr eaLnBrk="1"/>
            <a:endParaRPr smtClean="0">
              <a:latin typeface="Times New Roman" pitchFamily="18" charset="0"/>
              <a:cs typeface="Mangal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5542A3-C0A3-460A-94E1-A7EFEF93D1AD}" type="slidenum">
              <a:t>32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411A302-325F-40E7-9C9E-2CD572BD11D4}" type="slidenum">
              <a:t>32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5" name="Notes Placeholder 4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3EDB8A7-C8A2-4CD2-BA42-A1CE11471C79}" type="slidenum">
              <a:t>33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BF496DC-8590-4572-AEBA-4113E7B1E5DC}" type="slidenum">
              <a:t>33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5" name="Notes Placeholder 4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8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09613" algn="l"/>
                <a:tab pos="1420813" algn="l"/>
                <a:tab pos="2130425" algn="l"/>
                <a:tab pos="2841625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tabLst>
                <a:tab pos="709613" algn="l"/>
                <a:tab pos="1420813" algn="l"/>
                <a:tab pos="2130425" algn="l"/>
                <a:tab pos="2841625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tabLst>
                <a:tab pos="709613" algn="l"/>
                <a:tab pos="1420813" algn="l"/>
                <a:tab pos="2130425" algn="l"/>
                <a:tab pos="2841625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tabLst>
                <a:tab pos="709613" algn="l"/>
                <a:tab pos="1420813" algn="l"/>
                <a:tab pos="2130425" algn="l"/>
                <a:tab pos="2841625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tabLst>
                <a:tab pos="709613" algn="l"/>
                <a:tab pos="1420813" algn="l"/>
                <a:tab pos="2130425" algn="l"/>
                <a:tab pos="2841625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709613" algn="l"/>
                <a:tab pos="1420813" algn="l"/>
                <a:tab pos="2130425" algn="l"/>
                <a:tab pos="2841625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709613" algn="l"/>
                <a:tab pos="1420813" algn="l"/>
                <a:tab pos="2130425" algn="l"/>
                <a:tab pos="2841625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709613" algn="l"/>
                <a:tab pos="1420813" algn="l"/>
                <a:tab pos="2130425" algn="l"/>
                <a:tab pos="2841625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709613" algn="l"/>
                <a:tab pos="1420813" algn="l"/>
                <a:tab pos="2130425" algn="l"/>
                <a:tab pos="2841625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AC53B986-8ACD-4994-9160-DA1170CEAC5B}" type="slidenum">
              <a:rPr lang="en-US">
                <a:solidFill>
                  <a:srgbClr val="000000"/>
                </a:solidFill>
                <a:latin typeface="Times New Roman" pitchFamily="18" charset="0"/>
                <a:ea typeface="Lucida Sans Unicode" pitchFamily="34" charset="0"/>
                <a:cs typeface="Arial" pitchFamily="34" charset="0"/>
              </a:rPr>
              <a:pPr/>
              <a:t>38</a:t>
            </a:fld>
            <a:endParaRPr lang="en-US">
              <a:solidFill>
                <a:srgbClr val="000000"/>
              </a:solidFill>
              <a:latin typeface="Times New Roman" pitchFamily="18" charset="0"/>
              <a:ea typeface="Lucida Sans Unicode" pitchFamily="34" charset="0"/>
              <a:cs typeface="Arial" pitchFamily="34" charset="0"/>
            </a:endParaRPr>
          </a:p>
        </p:txBody>
      </p:sp>
      <p:sp>
        <p:nvSpPr>
          <p:cNvPr id="686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9000"/>
          </a:xfrm>
        </p:spPr>
      </p:sp>
      <p:sp>
        <p:nvSpPr>
          <p:cNvPr id="68612" name="Rectangle 1027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 wrap="none" lIns="91426" tIns="45714" rIns="91426" bIns="45714" anchor="ctr"/>
          <a:lstStyle/>
          <a:p>
            <a:pPr eaLnBrk="1" hangingPunct="1">
              <a:spcBef>
                <a:spcPct val="0"/>
              </a:spcBef>
            </a:pPr>
            <a:endParaRPr sz="180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6175" y="685800"/>
            <a:ext cx="4548188" cy="3411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99738D-AAFD-4F29-A6C5-23E262DB2721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19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EBB3DF5-4BAF-4C48-9B88-11092EE239DD}" type="slidenum">
              <a:t>41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884755" y="8685364"/>
            <a:ext cx="2968563" cy="4539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697C24-1CE2-4F02-BEC5-7961BF4FD216}" type="slidenum">
              <a:t>41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5" name="Notes Placeholder 4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3884755" y="8685364"/>
            <a:ext cx="2963881" cy="44928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16F89C-9E0B-4348-821F-A9824F082D5C}" type="slidenum">
              <a:t>42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solidFill>
            <a:srgbClr val="4F81BD"/>
          </a:solidFill>
          <a:ln w="25402">
            <a:solidFill>
              <a:srgbClr val="385D8A"/>
            </a:solidFill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1"/>
          </p:nvPr>
        </p:nvSpPr>
        <p:spPr>
          <a:xfrm>
            <a:off x="685443" y="4343043"/>
            <a:ext cx="5468761" cy="4097883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685800" y="2130423"/>
            <a:ext cx="7772400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3"/>
          </a:xfrm>
        </p:spPr>
        <p:txBody>
          <a:bodyPr anchorCtr="1"/>
          <a:lstStyle>
            <a:lvl1pPr marL="0" indent="0" algn="ctr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3C3DE8-A809-4936-A4AF-FD7FAA28B9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8529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475F04-D918-4A1D-945E-E1479A3D51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91597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722311" y="4406895"/>
            <a:ext cx="7772400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722311" y="2906713"/>
            <a:ext cx="7772400" cy="1500182"/>
          </a:xfrm>
        </p:spPr>
        <p:txBody>
          <a:bodyPr anchor="b"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2A08A0-4125-40E6-BF15-74442D2D9C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18968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533396" y="1600200"/>
            <a:ext cx="4029075" cy="470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4714875" y="1600200"/>
            <a:ext cx="4030666" cy="470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2C83EB-D6B6-47EF-9FFF-80E4D0D53F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4843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4" cy="639759"/>
          </a:xfrm>
        </p:spPr>
        <p:txBody>
          <a:bodyPr anchor="b"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457200" y="2174872"/>
            <a:ext cx="4040184" cy="39512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4645023" y="1535113"/>
            <a:ext cx="4041776" cy="639759"/>
          </a:xfrm>
        </p:spPr>
        <p:txBody>
          <a:bodyPr anchor="b"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AD944C-C4A7-4B1F-81D4-0936566792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68605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20DF5-BC3E-46DF-8392-6AC462455B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67260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DFADC5-62EC-4EE1-A4EF-3ABFB36278B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13970"/>
      </p:ext>
    </p:extLst>
  </p:cSld>
  <p:clrMapOvr>
    <a:masterClrMapping/>
  </p:clrMapOvr>
  <p:transition spd="slow"/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57200" y="273048"/>
            <a:ext cx="3008311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3575047" y="273048"/>
            <a:ext cx="511175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457200" y="1435095"/>
            <a:ext cx="3008311" cy="4691064"/>
          </a:xfrm>
        </p:spPr>
        <p:txBody>
          <a:bodyPr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280D7-F7EB-412E-9CE4-DA183FDFBF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14040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/>
            </a:lvl1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1792288" y="5367335"/>
            <a:ext cx="5486400" cy="804864"/>
          </a:xfrm>
        </p:spPr>
        <p:txBody>
          <a:bodyPr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65F001-EA47-4418-B92F-54E3BAF94A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2031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D84666-FFA3-4F09-BB27-94090090E8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51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6692895" y="228600"/>
            <a:ext cx="2052635" cy="60785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533396" y="228600"/>
            <a:ext cx="6007095" cy="60785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B46275-13B0-4060-85BE-F4C3262525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62986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685800" y="2130423"/>
            <a:ext cx="7772400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3"/>
          </a:xfrm>
        </p:spPr>
        <p:txBody>
          <a:bodyPr anchorCtr="1"/>
          <a:lstStyle>
            <a:lvl1pPr marL="0" indent="0" algn="ctr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3613421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4912338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722311" y="4406895"/>
            <a:ext cx="7772400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722311" y="2906713"/>
            <a:ext cx="7772400" cy="1500182"/>
          </a:xfrm>
        </p:spPr>
        <p:txBody>
          <a:bodyPr anchor="b"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5976900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533396" y="1600200"/>
            <a:ext cx="4029075" cy="470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4714875" y="1600200"/>
            <a:ext cx="4030666" cy="470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4774711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4" cy="639759"/>
          </a:xfrm>
        </p:spPr>
        <p:txBody>
          <a:bodyPr anchor="b"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457200" y="2174872"/>
            <a:ext cx="4040184" cy="39512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4645023" y="1535113"/>
            <a:ext cx="4041776" cy="639759"/>
          </a:xfrm>
        </p:spPr>
        <p:txBody>
          <a:bodyPr anchor="b"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9657406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3548560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668814"/>
      </p:ext>
    </p:extLst>
  </p:cSld>
  <p:clrMapOvr>
    <a:masterClrMapping/>
  </p:clrMapOvr>
  <p:transition spd="slow"/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57200" y="273048"/>
            <a:ext cx="3008311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3575047" y="273048"/>
            <a:ext cx="511175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457200" y="1435095"/>
            <a:ext cx="3008311" cy="4691064"/>
          </a:xfrm>
        </p:spPr>
        <p:txBody>
          <a:bodyPr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558455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/>
            </a:lvl1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1792288" y="5367335"/>
            <a:ext cx="5486400" cy="804864"/>
          </a:xfrm>
        </p:spPr>
        <p:txBody>
          <a:bodyPr/>
          <a:lstStyle>
            <a:lvl1pPr marL="0" indent="0">
              <a:tabLst>
                <a:tab pos="342717" algn="l"/>
                <a:tab pos="456843" algn="l"/>
                <a:tab pos="914043" algn="l"/>
                <a:tab pos="1371243" algn="l"/>
                <a:tab pos="1828443" algn="l"/>
                <a:tab pos="2285643" algn="l"/>
                <a:tab pos="2742843" algn="l"/>
                <a:tab pos="3200043" algn="l"/>
                <a:tab pos="3657243" algn="l"/>
                <a:tab pos="4114443" algn="l"/>
                <a:tab pos="4571643" algn="l"/>
                <a:tab pos="5028843" algn="l"/>
                <a:tab pos="5486043" algn="l"/>
                <a:tab pos="5943243" algn="l"/>
                <a:tab pos="6400443" algn="l"/>
                <a:tab pos="6857643" algn="l"/>
                <a:tab pos="7314843" algn="l"/>
                <a:tab pos="7772043" algn="l"/>
                <a:tab pos="8229243" algn="l"/>
                <a:tab pos="8686443" algn="l"/>
                <a:tab pos="9143643" algn="l"/>
              </a:tabLst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2778220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8846607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6692895" y="228600"/>
            <a:ext cx="2052635" cy="60785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533396" y="228600"/>
            <a:ext cx="6007095" cy="60785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9775349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 txBox="1">
            <a:spLocks noGrp="1"/>
          </p:cNvSpPr>
          <p:nvPr>
            <p:ph type="title"/>
          </p:nvPr>
        </p:nvSpPr>
        <p:spPr bwMode="auto">
          <a:xfrm>
            <a:off x="533400" y="228600"/>
            <a:ext cx="8212138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4" tIns="46798" rIns="90004" bIns="46798" numCol="1" anchor="ctr" anchorCtr="1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1027" name="Text Placeholder 2"/>
          <p:cNvSpPr txBox="1">
            <a:spLocks noGrp="1"/>
          </p:cNvSpPr>
          <p:nvPr>
            <p:ph type="body" idx="1"/>
          </p:nvPr>
        </p:nvSpPr>
        <p:spPr bwMode="auto">
          <a:xfrm>
            <a:off x="533400" y="1600200"/>
            <a:ext cx="8212138" cy="470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4" tIns="46798" rIns="90004" bIns="467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Freeform 3"/>
          <p:cNvSpPr>
            <a:spLocks/>
          </p:cNvSpPr>
          <p:nvPr/>
        </p:nvSpPr>
        <p:spPr bwMode="auto">
          <a:xfrm>
            <a:off x="914400" y="6321425"/>
            <a:ext cx="2130425" cy="368300"/>
          </a:xfrm>
          <a:custGeom>
            <a:avLst/>
            <a:gdLst>
              <a:gd name="T0" fmla="*/ 1065239 w 21600"/>
              <a:gd name="T1" fmla="*/ 0 h 21600"/>
              <a:gd name="T2" fmla="*/ 2130478 w 21600"/>
              <a:gd name="T3" fmla="*/ 184137 h 21600"/>
              <a:gd name="T4" fmla="*/ 1065239 w 21600"/>
              <a:gd name="T5" fmla="*/ 368274 h 21600"/>
              <a:gd name="T6" fmla="*/ 0 w 21600"/>
              <a:gd name="T7" fmla="*/ 18413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1029" name="Freeform 4"/>
          <p:cNvSpPr>
            <a:spLocks/>
          </p:cNvSpPr>
          <p:nvPr/>
        </p:nvSpPr>
        <p:spPr bwMode="auto">
          <a:xfrm>
            <a:off x="3276600" y="6323013"/>
            <a:ext cx="2895600" cy="368300"/>
          </a:xfrm>
          <a:custGeom>
            <a:avLst/>
            <a:gdLst>
              <a:gd name="T0" fmla="*/ 1447738 w 21600"/>
              <a:gd name="T1" fmla="*/ 0 h 21600"/>
              <a:gd name="T2" fmla="*/ 2895475 w 21600"/>
              <a:gd name="T3" fmla="*/ 184137 h 21600"/>
              <a:gd name="T4" fmla="*/ 1447738 w 21600"/>
              <a:gd name="T5" fmla="*/ 368274 h 21600"/>
              <a:gd name="T6" fmla="*/ 0 w 21600"/>
              <a:gd name="T7" fmla="*/ 18413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6629400" y="6321425"/>
            <a:ext cx="2116138" cy="368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6798" rIns="90004" bIns="46798" numCol="1" anchor="ctr" anchorCtr="0" compatLnSpc="1">
            <a:prstTxWarp prst="textNoShape">
              <a:avLst/>
            </a:prstTxWarp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itchFamily="34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6055AF5B-E0CD-4105-A137-19D835A018C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Freeform 6"/>
          <p:cNvSpPr>
            <a:spLocks/>
          </p:cNvSpPr>
          <p:nvPr/>
        </p:nvSpPr>
        <p:spPr bwMode="auto">
          <a:xfrm>
            <a:off x="0" y="0"/>
            <a:ext cx="228600" cy="3657600"/>
          </a:xfrm>
          <a:custGeom>
            <a:avLst/>
            <a:gdLst>
              <a:gd name="T0" fmla="*/ 114300 w 21600"/>
              <a:gd name="T1" fmla="*/ 0 h 21600"/>
              <a:gd name="T2" fmla="*/ 228600 w 21600"/>
              <a:gd name="T3" fmla="*/ 1828800 h 21600"/>
              <a:gd name="T4" fmla="*/ 114300 w 21600"/>
              <a:gd name="T5" fmla="*/ 3657600 h 21600"/>
              <a:gd name="T6" fmla="*/ 0 w 21600"/>
              <a:gd name="T7" fmla="*/ 18288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pic>
        <p:nvPicPr>
          <p:cNvPr id="1032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5599113"/>
            <a:ext cx="1143000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57613"/>
            <a:ext cx="304800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" name="Group 9"/>
          <p:cNvGrpSpPr>
            <a:grpSpLocks/>
          </p:cNvGrpSpPr>
          <p:nvPr/>
        </p:nvGrpSpPr>
        <p:grpSpPr bwMode="auto">
          <a:xfrm>
            <a:off x="207963" y="-19050"/>
            <a:ext cx="106362" cy="3686175"/>
            <a:chOff x="208080" y="-19083"/>
            <a:chExt cx="106198" cy="3686037"/>
          </a:xfrm>
        </p:grpSpPr>
        <p:pic>
          <p:nvPicPr>
            <p:cNvPr id="1035" name="Picture 10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080" y="-19083"/>
              <a:ext cx="106198" cy="3686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6" name="Freeform 11"/>
            <p:cNvSpPr>
              <a:spLocks/>
            </p:cNvSpPr>
            <p:nvPr/>
          </p:nvSpPr>
          <p:spPr bwMode="auto">
            <a:xfrm>
              <a:off x="228600" y="0"/>
              <a:ext cx="73078" cy="3654363"/>
            </a:xfrm>
            <a:custGeom>
              <a:avLst/>
              <a:gdLst>
                <a:gd name="T0" fmla="*/ 36539 w 21600"/>
                <a:gd name="T1" fmla="*/ 0 h 21600"/>
                <a:gd name="T2" fmla="*/ 73078 w 21600"/>
                <a:gd name="T3" fmla="*/ 1827182 h 21600"/>
                <a:gd name="T4" fmla="*/ 36539 w 21600"/>
                <a:gd name="T5" fmla="*/ 3654363 h 21600"/>
                <a:gd name="T6" fmla="*/ 0 w 21600"/>
                <a:gd name="T7" fmla="*/ 1827182 h 21600"/>
                <a:gd name="T8" fmla="*/ 17694720 60000 65536"/>
                <a:gd name="T9" fmla="*/ 0 60000 65536"/>
                <a:gd name="T10" fmla="*/ 5898240 60000 65536"/>
                <a:gd name="T11" fmla="*/ 1179648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lIns="90004" tIns="46798" rIns="90004" bIns="46798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400">
          <a:solidFill>
            <a:srgbClr val="000000"/>
          </a:solidFill>
          <a:latin typeface="Calibri" pitchFamily="34"/>
          <a:cs typeface="Lucida Sans Unicode" pitchFamily="2"/>
        </a:defRPr>
      </a:lvl1pPr>
      <a:lvl2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9pPr>
    </p:titleStyle>
    <p:bodyStyle>
      <a:lvl1pPr marL="341313" indent="-341313" algn="l" rtl="0" eaLnBrk="0" fontAlgn="base" hangingPunct="0">
        <a:spcBef>
          <a:spcPts val="800"/>
        </a:spcBef>
        <a:spcAft>
          <a:spcPct val="0"/>
        </a:spcAft>
        <a:tabLst>
          <a:tab pos="341313" algn="l"/>
          <a:tab pos="455613" algn="l"/>
          <a:tab pos="912813" algn="l"/>
          <a:tab pos="1370013" algn="l"/>
          <a:tab pos="1827213" algn="l"/>
          <a:tab pos="2284413" algn="l"/>
          <a:tab pos="2741613" algn="l"/>
          <a:tab pos="3198813" algn="l"/>
          <a:tab pos="3656013" algn="l"/>
          <a:tab pos="4113213" algn="l"/>
          <a:tab pos="4570413" algn="l"/>
          <a:tab pos="5027613" algn="l"/>
          <a:tab pos="5484813" algn="l"/>
          <a:tab pos="5942013" algn="l"/>
          <a:tab pos="6399213" algn="l"/>
          <a:tab pos="6856413" algn="l"/>
          <a:tab pos="7313613" algn="l"/>
          <a:tab pos="7770813" algn="l"/>
          <a:tab pos="8228013" algn="l"/>
          <a:tab pos="8685213" algn="l"/>
          <a:tab pos="9142413" algn="l"/>
        </a:tabLst>
        <a:defRPr lang="en-US" sz="3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1pPr>
      <a:lvl2pPr marL="741363" lvl="1" indent="-284163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tabLst>
          <a:tab pos="741363" algn="l"/>
          <a:tab pos="912813" algn="l"/>
          <a:tab pos="1370013" algn="l"/>
          <a:tab pos="1827213" algn="l"/>
          <a:tab pos="2284413" algn="l"/>
          <a:tab pos="2741613" algn="l"/>
          <a:tab pos="3198813" algn="l"/>
          <a:tab pos="3656013" algn="l"/>
          <a:tab pos="4113213" algn="l"/>
          <a:tab pos="4570413" algn="l"/>
          <a:tab pos="5027613" algn="l"/>
          <a:tab pos="5484813" algn="l"/>
          <a:tab pos="5942013" algn="l"/>
          <a:tab pos="6399213" algn="l"/>
          <a:tab pos="6856413" algn="l"/>
          <a:tab pos="7313613" algn="l"/>
          <a:tab pos="7770813" algn="l"/>
          <a:tab pos="8228013" algn="l"/>
          <a:tab pos="8685213" algn="l"/>
          <a:tab pos="9142413" algn="l"/>
          <a:tab pos="9599613" algn="l"/>
        </a:tabLst>
        <a:defRPr lang="en-US" sz="28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2pPr>
      <a:lvl3pPr marL="1143000" lvl="2" indent="-228600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tabLst>
          <a:tab pos="11430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</a:tabLst>
        <a:defRPr lang="en-US" sz="24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3pPr>
      <a:lvl4pPr marL="1600200" lvl="3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tabLst>
          <a:tab pos="16002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4pPr>
      <a:lvl5pPr marL="2057400" lvl="4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5pPr>
      <a:lvl6pPr marL="25146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6pPr>
      <a:lvl7pPr marL="29718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7pPr>
      <a:lvl8pPr marL="34290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8pPr>
      <a:lvl9pPr marL="38862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1"/>
          <p:cNvSpPr>
            <a:spLocks/>
          </p:cNvSpPr>
          <p:nvPr/>
        </p:nvSpPr>
        <p:spPr bwMode="auto">
          <a:xfrm>
            <a:off x="0" y="0"/>
            <a:ext cx="228600" cy="3657600"/>
          </a:xfrm>
          <a:custGeom>
            <a:avLst/>
            <a:gdLst>
              <a:gd name="T0" fmla="*/ 114300 w 21600"/>
              <a:gd name="T1" fmla="*/ 0 h 21600"/>
              <a:gd name="T2" fmla="*/ 228600 w 21600"/>
              <a:gd name="T3" fmla="*/ 1828800 h 21600"/>
              <a:gd name="T4" fmla="*/ 114300 w 21600"/>
              <a:gd name="T5" fmla="*/ 3657600 h 21600"/>
              <a:gd name="T6" fmla="*/ 0 w 21600"/>
              <a:gd name="T7" fmla="*/ 18288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pic>
        <p:nvPicPr>
          <p:cNvPr id="2051" name="Picture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5599113"/>
            <a:ext cx="1143000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57613"/>
            <a:ext cx="304800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3" name="Group 4"/>
          <p:cNvGrpSpPr>
            <a:grpSpLocks/>
          </p:cNvGrpSpPr>
          <p:nvPr/>
        </p:nvGrpSpPr>
        <p:grpSpPr bwMode="auto">
          <a:xfrm>
            <a:off x="207963" y="-19050"/>
            <a:ext cx="106362" cy="3686175"/>
            <a:chOff x="208080" y="-19083"/>
            <a:chExt cx="106198" cy="3686037"/>
          </a:xfrm>
        </p:grpSpPr>
        <p:pic>
          <p:nvPicPr>
            <p:cNvPr id="2056" name="Picture 5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080" y="-19083"/>
              <a:ext cx="106198" cy="3686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7" name="Freeform 6"/>
            <p:cNvSpPr>
              <a:spLocks/>
            </p:cNvSpPr>
            <p:nvPr/>
          </p:nvSpPr>
          <p:spPr bwMode="auto">
            <a:xfrm>
              <a:off x="228600" y="0"/>
              <a:ext cx="73078" cy="3654363"/>
            </a:xfrm>
            <a:custGeom>
              <a:avLst/>
              <a:gdLst>
                <a:gd name="T0" fmla="*/ 36539 w 21600"/>
                <a:gd name="T1" fmla="*/ 0 h 21600"/>
                <a:gd name="T2" fmla="*/ 73078 w 21600"/>
                <a:gd name="T3" fmla="*/ 1827182 h 21600"/>
                <a:gd name="T4" fmla="*/ 36539 w 21600"/>
                <a:gd name="T5" fmla="*/ 3654363 h 21600"/>
                <a:gd name="T6" fmla="*/ 0 w 21600"/>
                <a:gd name="T7" fmla="*/ 1827182 h 21600"/>
                <a:gd name="T8" fmla="*/ 17694720 60000 65536"/>
                <a:gd name="T9" fmla="*/ 0 60000 65536"/>
                <a:gd name="T10" fmla="*/ 5898240 60000 65536"/>
                <a:gd name="T11" fmla="*/ 1179648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lIns="90004" tIns="46798" rIns="90004" bIns="46798" anchor="ctr"/>
            <a:lstStyle/>
            <a:p>
              <a:endParaRPr lang="en-US"/>
            </a:p>
          </p:txBody>
        </p:sp>
      </p:grpSp>
      <p:sp>
        <p:nvSpPr>
          <p:cNvPr id="2054" name="Title Placeholder 7"/>
          <p:cNvSpPr txBox="1">
            <a:spLocks noGrp="1"/>
          </p:cNvSpPr>
          <p:nvPr>
            <p:ph type="title"/>
          </p:nvPr>
        </p:nvSpPr>
        <p:spPr bwMode="auto">
          <a:xfrm>
            <a:off x="533400" y="228600"/>
            <a:ext cx="8212138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4" tIns="46798" rIns="90004" bIns="46798" numCol="1" anchor="ctr" anchorCtr="1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2055" name="Text Placeholder 8"/>
          <p:cNvSpPr txBox="1">
            <a:spLocks noGrp="1"/>
          </p:cNvSpPr>
          <p:nvPr>
            <p:ph type="body" idx="1"/>
          </p:nvPr>
        </p:nvSpPr>
        <p:spPr bwMode="auto">
          <a:xfrm>
            <a:off x="533400" y="1600200"/>
            <a:ext cx="8212138" cy="470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4" tIns="46798" rIns="90004" bIns="467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400" kern="1200">
          <a:solidFill>
            <a:srgbClr val="000000"/>
          </a:solidFill>
          <a:latin typeface="Calibri" pitchFamily="34"/>
          <a:cs typeface="Lucida Sans Unicode" pitchFamily="2"/>
        </a:defRPr>
      </a:lvl1pPr>
      <a:lvl2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400">
          <a:solidFill>
            <a:srgbClr val="000000"/>
          </a:solidFill>
          <a:latin typeface="Calibri" pitchFamily="34" charset="0"/>
          <a:cs typeface="Lucida Sans Unicode" pitchFamily="34" charset="0"/>
        </a:defRPr>
      </a:lvl9pPr>
    </p:titleStyle>
    <p:bodyStyle>
      <a:lvl1pPr marL="341313" indent="-341313" algn="l" rtl="0" eaLnBrk="0" fontAlgn="base" hangingPunct="0">
        <a:spcBef>
          <a:spcPts val="800"/>
        </a:spcBef>
        <a:spcAft>
          <a:spcPct val="0"/>
        </a:spcAft>
        <a:tabLst>
          <a:tab pos="341313" algn="l"/>
          <a:tab pos="455613" algn="l"/>
          <a:tab pos="912813" algn="l"/>
          <a:tab pos="1370013" algn="l"/>
          <a:tab pos="1827213" algn="l"/>
          <a:tab pos="2284413" algn="l"/>
          <a:tab pos="2741613" algn="l"/>
          <a:tab pos="3198813" algn="l"/>
          <a:tab pos="3656013" algn="l"/>
          <a:tab pos="4113213" algn="l"/>
          <a:tab pos="4570413" algn="l"/>
          <a:tab pos="5027613" algn="l"/>
          <a:tab pos="5484813" algn="l"/>
          <a:tab pos="5942013" algn="l"/>
          <a:tab pos="6399213" algn="l"/>
          <a:tab pos="6856413" algn="l"/>
          <a:tab pos="7313613" algn="l"/>
          <a:tab pos="7770813" algn="l"/>
          <a:tab pos="8228013" algn="l"/>
          <a:tab pos="8685213" algn="l"/>
          <a:tab pos="9142413" algn="l"/>
        </a:tabLst>
        <a:defRPr lang="en-US" sz="3200" kern="1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1pPr>
      <a:lvl2pPr marL="741363" lvl="1" indent="-284163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tabLst>
          <a:tab pos="741363" algn="l"/>
          <a:tab pos="912813" algn="l"/>
          <a:tab pos="1370013" algn="l"/>
          <a:tab pos="1827213" algn="l"/>
          <a:tab pos="2284413" algn="l"/>
          <a:tab pos="2741613" algn="l"/>
          <a:tab pos="3198813" algn="l"/>
          <a:tab pos="3656013" algn="l"/>
          <a:tab pos="4113213" algn="l"/>
          <a:tab pos="4570413" algn="l"/>
          <a:tab pos="5027613" algn="l"/>
          <a:tab pos="5484813" algn="l"/>
          <a:tab pos="5942013" algn="l"/>
          <a:tab pos="6399213" algn="l"/>
          <a:tab pos="6856413" algn="l"/>
          <a:tab pos="7313613" algn="l"/>
          <a:tab pos="7770813" algn="l"/>
          <a:tab pos="8228013" algn="l"/>
          <a:tab pos="8685213" algn="l"/>
          <a:tab pos="9142413" algn="l"/>
          <a:tab pos="9599613" algn="l"/>
        </a:tabLst>
        <a:defRPr lang="en-US" sz="2800" kern="1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2pPr>
      <a:lvl3pPr marL="1143000" lvl="2" indent="-228600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tabLst>
          <a:tab pos="1143000" algn="l"/>
          <a:tab pos="13716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</a:tabLst>
        <a:defRPr lang="en-US" sz="2400" kern="1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3pPr>
      <a:lvl4pPr marL="1600200" lvl="3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tabLst>
          <a:tab pos="1600200" algn="l"/>
          <a:tab pos="18288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 kern="1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4pPr>
      <a:lvl5pPr marL="2057400" lvl="4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 kern="1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5pPr>
      <a:lvl6pPr marL="25146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 kern="1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6pPr>
      <a:lvl7pPr marL="29718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 kern="1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7pPr>
      <a:lvl8pPr marL="34290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 kern="1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8pPr>
      <a:lvl9pPr marL="38862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tabLst>
          <a:tab pos="2057400" algn="l"/>
          <a:tab pos="2286000" algn="l"/>
          <a:tab pos="2743200" algn="l"/>
          <a:tab pos="3200400" algn="l"/>
          <a:tab pos="3657600" algn="l"/>
          <a:tab pos="4114800" algn="l"/>
          <a:tab pos="4572000" algn="l"/>
          <a:tab pos="5029200" algn="l"/>
          <a:tab pos="5486400" algn="l"/>
          <a:tab pos="5943600" algn="l"/>
          <a:tab pos="6400800" algn="l"/>
          <a:tab pos="6858000" algn="l"/>
          <a:tab pos="7315200" algn="l"/>
          <a:tab pos="7772400" algn="l"/>
          <a:tab pos="8229600" algn="l"/>
          <a:tab pos="8686800" algn="l"/>
          <a:tab pos="9144000" algn="l"/>
          <a:tab pos="9601200" algn="l"/>
          <a:tab pos="10058400" algn="l"/>
          <a:tab pos="10515600" algn="l"/>
        </a:tabLst>
        <a:defRPr lang="en-US" sz="2000" kern="1200">
          <a:solidFill>
            <a:srgbClr val="000000"/>
          </a:solidFill>
          <a:latin typeface="Calibri" pitchFamily="34"/>
          <a:ea typeface="Lucida Sans Unicode" pitchFamily="2"/>
          <a:cs typeface="Lucida Sans Unicode" pitchFamily="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6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5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13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6.jp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8.jp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image" Target="../media/image10.jpg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notesSlide" Target="../notesSlides/notesSlide1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40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11.jp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12.jp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tags" Target="../tags/tag54.xml"/><Relationship Id="rId7" Type="http://schemas.openxmlformats.org/officeDocument/2006/relationships/image" Target="../media/image13.jp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5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15.jp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16.jp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17.jp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64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image" Target="../media/image19.jp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6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tags" Target="../tags/tag81.xml"/><Relationship Id="rId7" Type="http://schemas.openxmlformats.org/officeDocument/2006/relationships/image" Target="../media/image6.jp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82.xml"/><Relationship Id="rId9" Type="http://schemas.openxmlformats.org/officeDocument/2006/relationships/image" Target="../media/image2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22.jp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8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9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0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27.jpg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28.png"/><Relationship Id="rId4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29.pn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4" Type="http://schemas.openxmlformats.org/officeDocument/2006/relationships/notesSlide" Target="../notesSlides/notesSlide3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4" Type="http://schemas.openxmlformats.org/officeDocument/2006/relationships/notesSlide" Target="../notesSlides/notesSlide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30.jpg"/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4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1600200"/>
            <a:ext cx="8229600" cy="487691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Each team has their own: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Laptop computer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LEGO NXT robot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USB cable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Light paper on the table to test the robot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22860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Sit Down in Teams of </a:t>
            </a:r>
            <a:r>
              <a:rPr lang="en-US" sz="44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2</a:t>
            </a:r>
            <a:endParaRPr lang="en-US" sz="4400" b="0" i="0" u="none" strike="noStrike" kern="1200" cap="none" spc="0" baseline="0" dirty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0006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717550" y="1377950"/>
            <a:ext cx="7772400" cy="3040063"/>
          </a:xfrm>
        </p:spPr>
        <p:txBody>
          <a:bodyPr/>
          <a:lstStyle>
            <a:lvl1pPr algn="ctr">
              <a:defRPr sz="32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1pPr>
            <a:lvl2pPr marL="742950" indent="-285750" algn="ctr">
              <a:defRPr sz="28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2pPr>
            <a:lvl3pPr algn="ctr">
              <a:defRPr sz="24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3pPr>
            <a:lvl4pPr algn="ctr"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4pPr>
            <a:lvl5pPr algn="ctr"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5pPr>
            <a:lvl6pPr algn="ctr"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6pPr>
            <a:lvl7pPr algn="ctr"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7pPr>
            <a:lvl8pPr algn="ctr"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8pPr>
            <a:lvl9pPr algn="ctr"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9pPr>
          </a:lstStyle>
          <a:p>
            <a:pPr eaLnBrk="1"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sz="6600" b="1" smtClean="0">
                <a:solidFill>
                  <a:schemeClr val="tx1"/>
                </a:solidFill>
                <a:latin typeface="Arial Rounded MT Bold" pitchFamily="34" charset="0"/>
              </a:rPr>
              <a:t>Bottle Robo Sumo</a:t>
            </a:r>
            <a:endParaRPr sz="4000" b="1" smtClean="0">
              <a:solidFill>
                <a:schemeClr val="tx1"/>
              </a:solidFill>
            </a:endParaRPr>
          </a:p>
          <a:p>
            <a:pPr eaLnBrk="1"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sz="4000" b="1" smtClean="0">
                <a:solidFill>
                  <a:schemeClr val="tx1"/>
                </a:solidFill>
              </a:rPr>
              <a:t>with Lego NXT &amp; RobotC</a:t>
            </a:r>
          </a:p>
          <a:p>
            <a:pPr eaLnBrk="1"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sz="2800" b="1" i="1" smtClean="0">
                <a:solidFill>
                  <a:schemeClr val="tx1"/>
                </a:solidFill>
              </a:rPr>
              <a:t>Summer 2012</a:t>
            </a:r>
          </a:p>
          <a:p>
            <a:pPr eaLnBrk="1"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sz="4400" b="1" smtClean="0">
              <a:solidFill>
                <a:srgbClr val="17375E"/>
              </a:solidFill>
            </a:endParaRPr>
          </a:p>
        </p:txBody>
      </p:sp>
      <p:pic>
        <p:nvPicPr>
          <p:cNvPr id="3075" name="Picture 5" descr="robofest9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33400"/>
            <a:ext cx="398145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43200" y="5943600"/>
            <a:ext cx="3719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/>
              <a:t>Lawrence Technological University</a:t>
            </a:r>
          </a:p>
        </p:txBody>
      </p:sp>
      <p:sp>
        <p:nvSpPr>
          <p:cNvPr id="3077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03450" y="5575300"/>
            <a:ext cx="4938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/>
              <a:t>Co-Developed by Dr. CJ Chung and Dr. Kurt Meister</a:t>
            </a:r>
          </a:p>
        </p:txBody>
      </p:sp>
      <p:sp>
        <p:nvSpPr>
          <p:cNvPr id="3078" name="TextBox 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144838" y="4724400"/>
            <a:ext cx="287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400"/>
              <a:t>Dr. Chris Cartwright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33400" y="228600"/>
            <a:ext cx="8229600" cy="11430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571500 h 21600"/>
              <a:gd name="T4" fmla="*/ 4114800 w 21600"/>
              <a:gd name="T5" fmla="*/ 1143000 h 21600"/>
              <a:gd name="T6" fmla="*/ 0 w 21600"/>
              <a:gd name="T7" fmla="*/ 5715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ctr" anchorCtr="1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>
                <a:solidFill>
                  <a:srgbClr val="000000"/>
                </a:solidFill>
                <a:cs typeface="Lucida Sans Unicode" pitchFamily="34" charset="0"/>
              </a:rPr>
              <a:t>LEGO NXT is an Autonomous robot</a:t>
            </a:r>
          </a:p>
        </p:txBody>
      </p:sp>
      <p:sp>
        <p:nvSpPr>
          <p:cNvPr id="4099" name="Freeform 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689100" y="1219200"/>
            <a:ext cx="3657600" cy="368300"/>
          </a:xfrm>
          <a:custGeom>
            <a:avLst/>
            <a:gdLst>
              <a:gd name="T0" fmla="*/ 1829161 w 21600"/>
              <a:gd name="T1" fmla="*/ 0 h 21600"/>
              <a:gd name="T2" fmla="*/ 3658322 w 21600"/>
              <a:gd name="T3" fmla="*/ 184137 h 21600"/>
              <a:gd name="T4" fmla="*/ 1829161 w 21600"/>
              <a:gd name="T5" fmla="*/ 368274 h 21600"/>
              <a:gd name="T6" fmla="*/ 0 w 21600"/>
              <a:gd name="T7" fmla="*/ 18413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00FF"/>
                </a:solidFill>
                <a:latin typeface="Arial" pitchFamily="34" charset="0"/>
              </a:rPr>
              <a:t>Left Motor with Rotation Sensor</a:t>
            </a:r>
          </a:p>
        </p:txBody>
      </p:sp>
      <p:sp>
        <p:nvSpPr>
          <p:cNvPr id="4100" name="Freeform 3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722938" y="1219200"/>
            <a:ext cx="2062162" cy="368300"/>
          </a:xfrm>
          <a:custGeom>
            <a:avLst/>
            <a:gdLst>
              <a:gd name="T0" fmla="*/ 1031402 w 21600"/>
              <a:gd name="T1" fmla="*/ 0 h 21600"/>
              <a:gd name="T2" fmla="*/ 2062804 w 21600"/>
              <a:gd name="T3" fmla="*/ 184137 h 21600"/>
              <a:gd name="T4" fmla="*/ 1031402 w 21600"/>
              <a:gd name="T5" fmla="*/ 368274 h 21600"/>
              <a:gd name="T6" fmla="*/ 0 w 21600"/>
              <a:gd name="T7" fmla="*/ 18413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00FF"/>
                </a:solidFill>
                <a:latin typeface="Arial" pitchFamily="34" charset="0"/>
              </a:rPr>
              <a:t>Left Light Sensor</a:t>
            </a:r>
          </a:p>
        </p:txBody>
      </p:sp>
      <p:sp>
        <p:nvSpPr>
          <p:cNvPr id="4101" name="Freeform 4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7761288" y="3048000"/>
            <a:ext cx="333375" cy="368300"/>
          </a:xfrm>
          <a:custGeom>
            <a:avLst/>
            <a:gdLst>
              <a:gd name="T0" fmla="*/ 166681 w 21600"/>
              <a:gd name="T1" fmla="*/ 0 h 21600"/>
              <a:gd name="T2" fmla="*/ 333362 w 21600"/>
              <a:gd name="T3" fmla="*/ 184137 h 21600"/>
              <a:gd name="T4" fmla="*/ 166681 w 21600"/>
              <a:gd name="T5" fmla="*/ 368274 h 21600"/>
              <a:gd name="T6" fmla="*/ 0 w 21600"/>
              <a:gd name="T7" fmla="*/ 18413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lIns="90004" tIns="46798" rIns="90004" bIns="46798" anchor="ctr"/>
          <a:lstStyle/>
          <a:p>
            <a:endParaRPr lang="en-US"/>
          </a:p>
        </p:txBody>
      </p:sp>
      <p:sp>
        <p:nvSpPr>
          <p:cNvPr id="4102" name="Freeform 5"/>
          <p:cNvSpPr>
            <a:spLocks/>
          </p:cNvSpPr>
          <p:nvPr>
            <p:custDataLst>
              <p:tags r:id="rId5"/>
            </p:custDataLst>
          </p:nvPr>
        </p:nvSpPr>
        <p:spPr bwMode="auto">
          <a:xfrm rot="5400013">
            <a:off x="410369" y="3347244"/>
            <a:ext cx="1258888" cy="368300"/>
          </a:xfrm>
          <a:custGeom>
            <a:avLst/>
            <a:gdLst>
              <a:gd name="T0" fmla="*/ 629820 w 21600"/>
              <a:gd name="T1" fmla="*/ 0 h 21600"/>
              <a:gd name="T2" fmla="*/ 1259640 w 21600"/>
              <a:gd name="T3" fmla="*/ 184137 h 21600"/>
              <a:gd name="T4" fmla="*/ 629820 w 21600"/>
              <a:gd name="T5" fmla="*/ 368274 h 21600"/>
              <a:gd name="T6" fmla="*/ 0 w 21600"/>
              <a:gd name="T7" fmla="*/ 18413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00FF"/>
                </a:solidFill>
                <a:latin typeface="Arial" pitchFamily="34" charset="0"/>
              </a:rPr>
              <a:t>Computer</a:t>
            </a:r>
          </a:p>
        </p:txBody>
      </p:sp>
      <p:pic>
        <p:nvPicPr>
          <p:cNvPr id="4103" name="Picture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00200"/>
            <a:ext cx="6589713" cy="413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Freeform 7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762625" y="5715000"/>
            <a:ext cx="2228850" cy="368300"/>
          </a:xfrm>
          <a:custGeom>
            <a:avLst/>
            <a:gdLst>
              <a:gd name="T0" fmla="*/ 1114558 w 21600"/>
              <a:gd name="T1" fmla="*/ 0 h 21600"/>
              <a:gd name="T2" fmla="*/ 2229115 w 21600"/>
              <a:gd name="T3" fmla="*/ 184137 h 21600"/>
              <a:gd name="T4" fmla="*/ 1114558 w 21600"/>
              <a:gd name="T5" fmla="*/ 368274 h 21600"/>
              <a:gd name="T6" fmla="*/ 0 w 21600"/>
              <a:gd name="T7" fmla="*/ 18413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00FF"/>
                </a:solidFill>
                <a:latin typeface="Arial" pitchFamily="34" charset="0"/>
              </a:rPr>
              <a:t>Right Light Sensor</a:t>
            </a:r>
          </a:p>
        </p:txBody>
      </p:sp>
      <p:sp>
        <p:nvSpPr>
          <p:cNvPr id="4105" name="Freeform 8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498600" y="5715000"/>
            <a:ext cx="3824288" cy="368300"/>
          </a:xfrm>
          <a:custGeom>
            <a:avLst/>
            <a:gdLst>
              <a:gd name="T0" fmla="*/ 1912321 w 21600"/>
              <a:gd name="T1" fmla="*/ 0 h 21600"/>
              <a:gd name="T2" fmla="*/ 3824642 w 21600"/>
              <a:gd name="T3" fmla="*/ 184137 h 21600"/>
              <a:gd name="T4" fmla="*/ 1912321 w 21600"/>
              <a:gd name="T5" fmla="*/ 368274 h 21600"/>
              <a:gd name="T6" fmla="*/ 0 w 21600"/>
              <a:gd name="T7" fmla="*/ 18413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00FF"/>
                </a:solidFill>
                <a:latin typeface="Arial" pitchFamily="34" charset="0"/>
              </a:rPr>
              <a:t>Right Motor with Rotation Sensor</a:t>
            </a:r>
          </a:p>
        </p:txBody>
      </p:sp>
      <p:sp>
        <p:nvSpPr>
          <p:cNvPr id="4106" name="Freeform 9"/>
          <p:cNvSpPr>
            <a:spLocks/>
          </p:cNvSpPr>
          <p:nvPr>
            <p:custDataLst>
              <p:tags r:id="rId9"/>
            </p:custDataLst>
          </p:nvPr>
        </p:nvSpPr>
        <p:spPr bwMode="auto">
          <a:xfrm rot="5400013">
            <a:off x="7140575" y="3575051"/>
            <a:ext cx="1666875" cy="368300"/>
          </a:xfrm>
          <a:custGeom>
            <a:avLst/>
            <a:gdLst>
              <a:gd name="T0" fmla="*/ 833398 w 21600"/>
              <a:gd name="T1" fmla="*/ 0 h 21600"/>
              <a:gd name="T2" fmla="*/ 1666795 w 21600"/>
              <a:gd name="T3" fmla="*/ 184137 h 21600"/>
              <a:gd name="T4" fmla="*/ 833398 w 21600"/>
              <a:gd name="T5" fmla="*/ 368274 h 21600"/>
              <a:gd name="T6" fmla="*/ 0 w 21600"/>
              <a:gd name="T7" fmla="*/ 18413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>
                <a:solidFill>
                  <a:srgbClr val="0000FF"/>
                </a:solidFill>
                <a:latin typeface="Arial" pitchFamily="34" charset="0"/>
              </a:rPr>
              <a:t>Sonar Sensor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33400" y="1600200"/>
            <a:ext cx="8229600" cy="48768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2438458 h 21600"/>
              <a:gd name="T4" fmla="*/ 4114800 w 21600"/>
              <a:gd name="T5" fmla="*/ 4876915 h 21600"/>
              <a:gd name="T6" fmla="*/ 0 w 21600"/>
              <a:gd name="T7" fmla="*/ 2438458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/>
          <a:lstStyle/>
          <a:p>
            <a:pPr>
              <a:spcBef>
                <a:spcPts val="800"/>
              </a:spcBef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>
                <a:solidFill>
                  <a:srgbClr val="000000"/>
                </a:solidFill>
                <a:cs typeface="Lucida Sans Unicode" pitchFamily="34" charset="0"/>
              </a:rPr>
              <a:t>Your first task is to make the robot</a:t>
            </a:r>
          </a:p>
          <a:p>
            <a:pPr marL="914400"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>
                <a:solidFill>
                  <a:srgbClr val="000000"/>
                </a:solidFill>
                <a:cs typeface="Lucida Sans Unicode" pitchFamily="34" charset="0"/>
              </a:rPr>
              <a:t>Go forward on the light paper</a:t>
            </a:r>
          </a:p>
          <a:p>
            <a:pPr marL="457200" lvl="2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>
                <a:solidFill>
                  <a:srgbClr val="000000"/>
                </a:solidFill>
                <a:cs typeface="Lucida Sans Unicode" pitchFamily="34" charset="0"/>
              </a:rPr>
              <a:t> 	Until it gets to the edge of the paper</a:t>
            </a:r>
          </a:p>
          <a:p>
            <a:pPr marL="457200" lvl="2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>
                <a:solidFill>
                  <a:srgbClr val="000000"/>
                </a:solidFill>
                <a:cs typeface="Lucida Sans Unicode" pitchFamily="34" charset="0"/>
              </a:rPr>
              <a:t> 	And Stop</a:t>
            </a:r>
          </a:p>
        </p:txBody>
      </p:sp>
      <p:sp>
        <p:nvSpPr>
          <p:cNvPr id="10243" name="Freeform 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33400" y="228600"/>
            <a:ext cx="8229600" cy="11430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571500 h 21600"/>
              <a:gd name="T4" fmla="*/ 4114800 w 21600"/>
              <a:gd name="T5" fmla="*/ 1143000 h 21600"/>
              <a:gd name="T6" fmla="*/ 0 w 21600"/>
              <a:gd name="T7" fmla="*/ 5715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ctr" anchorCtr="1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>
                <a:solidFill>
                  <a:srgbClr val="000000"/>
                </a:solidFill>
                <a:cs typeface="Lucida Sans Unicode" pitchFamily="34" charset="0"/>
              </a:rPr>
              <a:t>First Program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33400" y="1600200"/>
            <a:ext cx="8229600" cy="48768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2438458 h 21600"/>
              <a:gd name="T4" fmla="*/ 4114800 w 21600"/>
              <a:gd name="T5" fmla="*/ 4876915 h 21600"/>
              <a:gd name="T6" fmla="*/ 0 w 21600"/>
              <a:gd name="T7" fmla="*/ 2438458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/>
          <a:lstStyle/>
          <a:p>
            <a:pPr>
              <a:spcBef>
                <a:spcPts val="800"/>
              </a:spcBef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>
                <a:solidFill>
                  <a:srgbClr val="000000"/>
                </a:solidFill>
                <a:cs typeface="Lucida Sans Unicode" pitchFamily="34" charset="0"/>
              </a:rPr>
              <a:t>Light sensors (which are pointed down)</a:t>
            </a:r>
          </a:p>
          <a:p>
            <a:pPr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>
                <a:solidFill>
                  <a:srgbClr val="000000"/>
                </a:solidFill>
                <a:cs typeface="Lucida Sans Unicode" pitchFamily="34" charset="0"/>
              </a:rPr>
              <a:t>Turn on a red light</a:t>
            </a:r>
          </a:p>
          <a:p>
            <a:pPr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>
                <a:solidFill>
                  <a:srgbClr val="000000"/>
                </a:solidFill>
                <a:cs typeface="Lucida Sans Unicode" pitchFamily="34" charset="0"/>
              </a:rPr>
              <a:t>Tell the computer how bright a light they are seeing reflected back</a:t>
            </a:r>
          </a:p>
          <a:p>
            <a:pPr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>
                <a:solidFill>
                  <a:srgbClr val="000000"/>
                </a:solidFill>
                <a:cs typeface="Lucida Sans Unicode" pitchFamily="34" charset="0"/>
              </a:rPr>
              <a:t>Function of the color of the surface and how far the surface is from the light sensors</a:t>
            </a:r>
          </a:p>
        </p:txBody>
      </p:sp>
      <p:sp>
        <p:nvSpPr>
          <p:cNvPr id="11267" name="Freeform 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33400" y="228600"/>
            <a:ext cx="8229600" cy="11430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571500 h 21600"/>
              <a:gd name="T4" fmla="*/ 4114800 w 21600"/>
              <a:gd name="T5" fmla="*/ 1143000 h 21600"/>
              <a:gd name="T6" fmla="*/ 0 w 21600"/>
              <a:gd name="T7" fmla="*/ 5715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ctr" anchorCtr="1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>
                <a:solidFill>
                  <a:srgbClr val="000000"/>
                </a:solidFill>
                <a:cs typeface="Lucida Sans Unicode" pitchFamily="34" charset="0"/>
              </a:rPr>
              <a:t>How does the robot know it is at the edge of the paper?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1600200"/>
            <a:ext cx="8229600" cy="487691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Open the program Go.c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Connect your robot to the laptop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Turn on the robot</a:t>
            </a:r>
          </a:p>
          <a:p>
            <a:pPr marL="325078" marR="0" lvl="0" indent="-325078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tabLst>
                <a:tab pos="325078" algn="l"/>
                <a:tab pos="782278" algn="l"/>
                <a:tab pos="1239478" algn="l"/>
                <a:tab pos="1696678" algn="l"/>
                <a:tab pos="2153878" algn="l"/>
                <a:tab pos="2611078" algn="l"/>
                <a:tab pos="3068278" algn="l"/>
                <a:tab pos="3525478" algn="l"/>
                <a:tab pos="3982678" algn="l"/>
                <a:tab pos="4439878" algn="l"/>
                <a:tab pos="4897078" algn="l"/>
                <a:tab pos="5354278" algn="l"/>
                <a:tab pos="5811478" algn="l"/>
                <a:tab pos="6268678" algn="l"/>
                <a:tab pos="6725878" algn="l"/>
                <a:tab pos="7183078" algn="l"/>
                <a:tab pos="7640278" algn="l"/>
                <a:tab pos="8097478" algn="l"/>
                <a:tab pos="8554678" algn="l"/>
                <a:tab pos="9011878" algn="l"/>
                <a:tab pos="9469078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22860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Let’s Try It!</a:t>
            </a:r>
          </a:p>
        </p:txBody>
      </p:sp>
    </p:spTree>
    <p:extLst>
      <p:ext uri="{BB962C8B-B14F-4D97-AF65-F5344CB8AC3E}">
        <p14:creationId xmlns:p14="http://schemas.microsoft.com/office/powerpoint/2010/main" val="2931139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Open a Program</a:t>
            </a:r>
          </a:p>
        </p:txBody>
      </p:sp>
      <p:grpSp>
        <p:nvGrpSpPr>
          <p:cNvPr id="3" name="Group 2"/>
          <p:cNvGrpSpPr/>
          <p:nvPr>
            <p:custDataLst>
              <p:tags r:id="rId2"/>
            </p:custDataLst>
          </p:nvPr>
        </p:nvGrpSpPr>
        <p:grpSpPr>
          <a:xfrm>
            <a:off x="1600200" y="1600200"/>
            <a:ext cx="13716000" cy="8686800"/>
            <a:chOff x="1600200" y="1600200"/>
            <a:chExt cx="13716000" cy="8686800"/>
          </a:xfrm>
        </p:grpSpPr>
        <p:pic>
          <p:nvPicPr>
            <p:cNvPr id="4" name="Picture 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>
              <a:lum/>
              <a:alphaModFix/>
            </a:blip>
            <a:srcRect/>
            <a:stretch>
              <a:fillRect/>
            </a:stretch>
          </p:blipFill>
          <p:spPr>
            <a:xfrm>
              <a:off x="1600200" y="1600200"/>
              <a:ext cx="13716000" cy="868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Freeform 4"/>
            <p:cNvSpPr/>
            <p:nvPr>
              <p:custDataLst>
                <p:tags r:id="rId4"/>
              </p:custDataLst>
            </p:nvPr>
          </p:nvSpPr>
          <p:spPr>
            <a:xfrm>
              <a:off x="1600200" y="1600200"/>
              <a:ext cx="13716000" cy="86868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1600"/>
                <a:gd name="f4" fmla="*/ f0 1 21600"/>
                <a:gd name="f5" fmla="*/ f1 1 21600"/>
                <a:gd name="f6" fmla="val f2"/>
                <a:gd name="f7" fmla="val f3"/>
                <a:gd name="f8" fmla="+- f7 0 f6"/>
                <a:gd name="f9" fmla="*/ f8 1 21600"/>
                <a:gd name="f10" fmla="*/ f6 1 f9"/>
                <a:gd name="f11" fmla="*/ f7 1 f9"/>
                <a:gd name="f12" fmla="*/ f10 f4 1"/>
                <a:gd name="f13" fmla="*/ f11 f4 1"/>
                <a:gd name="f14" fmla="*/ f11 f5 1"/>
                <a:gd name="f15" fmla="*/ f10 f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2" t="f15" r="f13" b="f14"/>
              <a:pathLst>
                <a:path w="21600" h="21600">
                  <a:moveTo>
                    <a:pt x="f2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lnTo>
                    <a:pt x="f2" y="f2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none" lIns="90004" tIns="46798" rIns="90004" bIns="46798" anchor="ctr" anchorCtr="0" compatLnSpc="1"/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rial" pitchFamily="18"/>
                <a:ea typeface="Arial" pitchFamily="2"/>
                <a:cs typeface="Arial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3742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Open Go.c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143000" y="1600200"/>
            <a:ext cx="9829800" cy="640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3181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Ignore the Error Message</a:t>
            </a:r>
          </a:p>
        </p:txBody>
      </p:sp>
      <p:grpSp>
        <p:nvGrpSpPr>
          <p:cNvPr id="3" name="Group 2"/>
          <p:cNvGrpSpPr/>
          <p:nvPr>
            <p:custDataLst>
              <p:tags r:id="rId2"/>
            </p:custDataLst>
          </p:nvPr>
        </p:nvGrpSpPr>
        <p:grpSpPr>
          <a:xfrm>
            <a:off x="870115" y="1600200"/>
            <a:ext cx="10788475" cy="6629400"/>
            <a:chOff x="870115" y="1600200"/>
            <a:chExt cx="10788475" cy="6629400"/>
          </a:xfrm>
        </p:grpSpPr>
        <p:pic>
          <p:nvPicPr>
            <p:cNvPr id="4" name="Picture 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>
              <a:lum/>
              <a:alphaModFix/>
            </a:blip>
            <a:srcRect/>
            <a:stretch>
              <a:fillRect/>
            </a:stretch>
          </p:blipFill>
          <p:spPr>
            <a:xfrm>
              <a:off x="870115" y="1600200"/>
              <a:ext cx="10788475" cy="662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Freeform 4"/>
            <p:cNvSpPr/>
            <p:nvPr>
              <p:custDataLst>
                <p:tags r:id="rId4"/>
              </p:custDataLst>
            </p:nvPr>
          </p:nvSpPr>
          <p:spPr>
            <a:xfrm>
              <a:off x="870115" y="1600200"/>
              <a:ext cx="10788475" cy="66294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1600"/>
                <a:gd name="f4" fmla="*/ f0 1 21600"/>
                <a:gd name="f5" fmla="*/ f1 1 21600"/>
                <a:gd name="f6" fmla="val f2"/>
                <a:gd name="f7" fmla="val f3"/>
                <a:gd name="f8" fmla="+- f7 0 f6"/>
                <a:gd name="f9" fmla="*/ f8 1 21600"/>
                <a:gd name="f10" fmla="*/ f6 1 f9"/>
                <a:gd name="f11" fmla="*/ f7 1 f9"/>
                <a:gd name="f12" fmla="*/ f10 f4 1"/>
                <a:gd name="f13" fmla="*/ f11 f4 1"/>
                <a:gd name="f14" fmla="*/ f11 f5 1"/>
                <a:gd name="f15" fmla="*/ f10 f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2" t="f15" r="f13" b="f14"/>
              <a:pathLst>
                <a:path w="21600" h="21600">
                  <a:moveTo>
                    <a:pt x="f2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lnTo>
                    <a:pt x="f2" y="f2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none" lIns="90004" tIns="46798" rIns="90004" bIns="46798" anchor="ctr" anchorCtr="0" compatLnSpc="1"/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rial" pitchFamily="18"/>
                <a:ea typeface="Arial" pitchFamily="2"/>
                <a:cs typeface="Arial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3785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457200" y="220681"/>
            <a:ext cx="8307360" cy="76824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Arial" pitchFamily="2"/>
                <a:cs typeface="Arial" pitchFamily="2"/>
              </a:rPr>
              <a:t>How to Connect Your Robot to Your Laptop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09484" y="1554123"/>
            <a:ext cx="7772400" cy="49291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9830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42879" y="282604"/>
            <a:ext cx="8307360" cy="69371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b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Arial" pitchFamily="2"/>
                <a:cs typeface="Arial" pitchFamily="2"/>
              </a:rPr>
              <a:t>NXT Computer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666884" y="2666884"/>
            <a:ext cx="3324237" cy="26733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traight Connector 3"/>
          <p:cNvSpPr/>
          <p:nvPr>
            <p:custDataLst>
              <p:tags r:id="rId3"/>
            </p:custDataLst>
          </p:nvPr>
        </p:nvSpPr>
        <p:spPr>
          <a:xfrm>
            <a:off x="3048115" y="2438284"/>
            <a:ext cx="838084" cy="1143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437">
            <a:solidFill>
              <a:srgbClr val="000000"/>
            </a:solidFill>
            <a:prstDash val="solid"/>
            <a:miter/>
            <a:tailEnd type="arrow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5" name="Freeform 4"/>
          <p:cNvSpPr/>
          <p:nvPr>
            <p:custDataLst>
              <p:tags r:id="rId4"/>
            </p:custDataLst>
          </p:nvPr>
        </p:nvSpPr>
        <p:spPr>
          <a:xfrm>
            <a:off x="1295284" y="1676515"/>
            <a:ext cx="3048115" cy="52055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245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Arial" pitchFamily="2"/>
                <a:cs typeface="Arial" pitchFamily="2"/>
              </a:rPr>
              <a:t>Switch programs</a:t>
            </a:r>
          </a:p>
        </p:txBody>
      </p:sp>
      <p:sp>
        <p:nvSpPr>
          <p:cNvPr id="6" name="Straight Connector 5"/>
          <p:cNvSpPr/>
          <p:nvPr>
            <p:custDataLst>
              <p:tags r:id="rId5"/>
            </p:custDataLst>
          </p:nvPr>
        </p:nvSpPr>
        <p:spPr>
          <a:xfrm flipV="1">
            <a:off x="2514600" y="3859197"/>
            <a:ext cx="1371600" cy="10447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437">
            <a:solidFill>
              <a:srgbClr val="000000"/>
            </a:solidFill>
            <a:prstDash val="solid"/>
            <a:miter/>
            <a:tailEnd type="arrow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7" name="Freeform 6"/>
          <p:cNvSpPr/>
          <p:nvPr>
            <p:custDataLst>
              <p:tags r:id="rId6"/>
            </p:custDataLst>
          </p:nvPr>
        </p:nvSpPr>
        <p:spPr>
          <a:xfrm>
            <a:off x="609484" y="4952884"/>
            <a:ext cx="2971800" cy="1373757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245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Arial" pitchFamily="2"/>
                <a:cs typeface="Arial" pitchFamily="2"/>
              </a:rPr>
              <a:t>Emergency Stop, BACK and turn off</a:t>
            </a:r>
          </a:p>
        </p:txBody>
      </p:sp>
      <p:sp>
        <p:nvSpPr>
          <p:cNvPr id="8" name="Straight Connector 7"/>
          <p:cNvSpPr/>
          <p:nvPr>
            <p:custDataLst>
              <p:tags r:id="rId7"/>
            </p:custDataLst>
          </p:nvPr>
        </p:nvSpPr>
        <p:spPr>
          <a:xfrm flipH="1">
            <a:off x="4163756" y="2209684"/>
            <a:ext cx="1044363" cy="144791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437">
            <a:solidFill>
              <a:srgbClr val="000000"/>
            </a:solidFill>
            <a:prstDash val="solid"/>
            <a:miter/>
            <a:tailEnd type="arrow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9" name="Freeform 8"/>
          <p:cNvSpPr/>
          <p:nvPr>
            <p:custDataLst>
              <p:tags r:id="rId8"/>
            </p:custDataLst>
          </p:nvPr>
        </p:nvSpPr>
        <p:spPr>
          <a:xfrm>
            <a:off x="4876915" y="1676515"/>
            <a:ext cx="2133359" cy="36648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4" tIns="46798" rIns="90004" bIns="46798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 pitchFamily="18"/>
              <a:ea typeface="Arial" pitchFamily="2"/>
              <a:cs typeface="Arial" pitchFamily="2"/>
            </a:endParaRPr>
          </a:p>
        </p:txBody>
      </p:sp>
      <p:sp>
        <p:nvSpPr>
          <p:cNvPr id="10" name="Freeform 9"/>
          <p:cNvSpPr/>
          <p:nvPr>
            <p:custDataLst>
              <p:tags r:id="rId9"/>
            </p:custDataLst>
          </p:nvPr>
        </p:nvSpPr>
        <p:spPr>
          <a:xfrm>
            <a:off x="4800600" y="1752475"/>
            <a:ext cx="3657600" cy="52055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245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Arial" pitchFamily="2"/>
                <a:cs typeface="Arial" pitchFamily="2"/>
              </a:rPr>
              <a:t>Turn on and ENTER</a:t>
            </a:r>
          </a:p>
        </p:txBody>
      </p:sp>
      <p:sp>
        <p:nvSpPr>
          <p:cNvPr id="11" name="Straight Connector 10"/>
          <p:cNvSpPr/>
          <p:nvPr>
            <p:custDataLst>
              <p:tags r:id="rId10"/>
            </p:custDataLst>
          </p:nvPr>
        </p:nvSpPr>
        <p:spPr>
          <a:xfrm>
            <a:off x="3124075" y="2362315"/>
            <a:ext cx="1295640" cy="1371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9083">
            <a:solidFill>
              <a:srgbClr val="000000"/>
            </a:solidFill>
            <a:prstDash val="solid"/>
            <a:miter/>
            <a:tailEnd type="arrow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 pitchFamily="18"/>
              <a:ea typeface="Arial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82547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Poll the Robot’s Sensors</a:t>
            </a:r>
          </a:p>
        </p:txBody>
      </p:sp>
      <p:grpSp>
        <p:nvGrpSpPr>
          <p:cNvPr id="3" name="Group 2"/>
          <p:cNvGrpSpPr/>
          <p:nvPr>
            <p:custDataLst>
              <p:tags r:id="rId2"/>
            </p:custDataLst>
          </p:nvPr>
        </p:nvGrpSpPr>
        <p:grpSpPr>
          <a:xfrm>
            <a:off x="870115" y="1600200"/>
            <a:ext cx="9645484" cy="8001000"/>
            <a:chOff x="870115" y="1600200"/>
            <a:chExt cx="9645484" cy="8001000"/>
          </a:xfrm>
        </p:grpSpPr>
        <p:pic>
          <p:nvPicPr>
            <p:cNvPr id="4" name="Picture 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>
              <a:lum/>
              <a:alphaModFix/>
            </a:blip>
            <a:srcRect/>
            <a:stretch>
              <a:fillRect/>
            </a:stretch>
          </p:blipFill>
          <p:spPr>
            <a:xfrm>
              <a:off x="870115" y="1600200"/>
              <a:ext cx="9645484" cy="800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Freeform 4"/>
            <p:cNvSpPr/>
            <p:nvPr>
              <p:custDataLst>
                <p:tags r:id="rId4"/>
              </p:custDataLst>
            </p:nvPr>
          </p:nvSpPr>
          <p:spPr>
            <a:xfrm>
              <a:off x="870115" y="1600200"/>
              <a:ext cx="9645484" cy="80010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1600"/>
                <a:gd name="f4" fmla="*/ f0 1 21600"/>
                <a:gd name="f5" fmla="*/ f1 1 21600"/>
                <a:gd name="f6" fmla="val f2"/>
                <a:gd name="f7" fmla="val f3"/>
                <a:gd name="f8" fmla="+- f7 0 f6"/>
                <a:gd name="f9" fmla="*/ f8 1 21600"/>
                <a:gd name="f10" fmla="*/ f6 1 f9"/>
                <a:gd name="f11" fmla="*/ f7 1 f9"/>
                <a:gd name="f12" fmla="*/ f10 f4 1"/>
                <a:gd name="f13" fmla="*/ f11 f4 1"/>
                <a:gd name="f14" fmla="*/ f11 f5 1"/>
                <a:gd name="f15" fmla="*/ f10 f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2" t="f15" r="f13" b="f14"/>
              <a:pathLst>
                <a:path w="21600" h="21600">
                  <a:moveTo>
                    <a:pt x="f2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lnTo>
                    <a:pt x="f2" y="f2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none" lIns="90004" tIns="46798" rIns="90004" bIns="46798" anchor="ctr" anchorCtr="0" compatLnSpc="1"/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rial" pitchFamily="18"/>
                <a:ea typeface="Arial" pitchFamily="2"/>
                <a:cs typeface="Arial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5447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View More Information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282683" y="1457279"/>
            <a:ext cx="7404116" cy="4714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7730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Setting Up the Light Sensors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2241358" y="6172200"/>
            <a:ext cx="3702597" cy="3988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4" tIns="46798" rIns="90004" bIns="46798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Arial" pitchFamily="2"/>
                <a:cs typeface="Arial" pitchFamily="2"/>
              </a:rPr>
              <a:t>Do the same thing for Sensor 3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286000" y="1371600"/>
            <a:ext cx="4800600" cy="4795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2290681" y="1380963"/>
            <a:ext cx="4795918" cy="47912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7522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Let’s See What the Robot Sees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1143000"/>
            <a:ext cx="8226363" cy="472140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Put one light sensor over the light paper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Put the other light sensor over the edge of the table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2057400" y="2514600"/>
            <a:ext cx="6850081" cy="777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8112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80997"/>
            <a:ext cx="8226363" cy="143495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Use the Midpoint of Those Values to Decide What is Light and Dark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1600200"/>
            <a:ext cx="8226363" cy="472140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Insert the midpoint in Line 9 where the question marks are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295284" y="2666884"/>
            <a:ext cx="9448915" cy="7620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5487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Let’s See What the Program Does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009799" y="11556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9285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44599" y="2684522"/>
            <a:ext cx="10756800" cy="23446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274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Download Go.c to the Robot</a:t>
            </a:r>
          </a:p>
        </p:txBody>
      </p:sp>
      <p:grpSp>
        <p:nvGrpSpPr>
          <p:cNvPr id="3" name="Group 2"/>
          <p:cNvGrpSpPr/>
          <p:nvPr>
            <p:custDataLst>
              <p:tags r:id="rId2"/>
            </p:custDataLst>
          </p:nvPr>
        </p:nvGrpSpPr>
        <p:grpSpPr>
          <a:xfrm>
            <a:off x="870115" y="1600200"/>
            <a:ext cx="10331284" cy="8686800"/>
            <a:chOff x="870115" y="1600200"/>
            <a:chExt cx="10331284" cy="8686800"/>
          </a:xfrm>
        </p:grpSpPr>
        <p:pic>
          <p:nvPicPr>
            <p:cNvPr id="4" name="Picture 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>
              <a:lum/>
              <a:alphaModFix/>
            </a:blip>
            <a:srcRect/>
            <a:stretch>
              <a:fillRect/>
            </a:stretch>
          </p:blipFill>
          <p:spPr>
            <a:xfrm>
              <a:off x="870115" y="1600200"/>
              <a:ext cx="10331284" cy="868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Freeform 4"/>
            <p:cNvSpPr/>
            <p:nvPr>
              <p:custDataLst>
                <p:tags r:id="rId4"/>
              </p:custDataLst>
            </p:nvPr>
          </p:nvSpPr>
          <p:spPr>
            <a:xfrm>
              <a:off x="870115" y="1600200"/>
              <a:ext cx="10331284" cy="86868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1600"/>
                <a:gd name="f4" fmla="*/ f0 1 21600"/>
                <a:gd name="f5" fmla="*/ f1 1 21600"/>
                <a:gd name="f6" fmla="val f2"/>
                <a:gd name="f7" fmla="val f3"/>
                <a:gd name="f8" fmla="+- f7 0 f6"/>
                <a:gd name="f9" fmla="*/ f8 1 21600"/>
                <a:gd name="f10" fmla="*/ f6 1 f9"/>
                <a:gd name="f11" fmla="*/ f7 1 f9"/>
                <a:gd name="f12" fmla="*/ f10 f4 1"/>
                <a:gd name="f13" fmla="*/ f11 f4 1"/>
                <a:gd name="f14" fmla="*/ f11 f5 1"/>
                <a:gd name="f15" fmla="*/ f10 f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2" t="f15" r="f13" b="f14"/>
              <a:pathLst>
                <a:path w="21600" h="21600">
                  <a:moveTo>
                    <a:pt x="f2" y="f2"/>
                  </a:moveTo>
                  <a:lnTo>
                    <a:pt x="f3" y="f2"/>
                  </a:lnTo>
                  <a:lnTo>
                    <a:pt x="f3" y="f3"/>
                  </a:lnTo>
                  <a:lnTo>
                    <a:pt x="f2" y="f3"/>
                  </a:lnTo>
                  <a:lnTo>
                    <a:pt x="f2" y="f2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none" lIns="90004" tIns="46798" rIns="90004" bIns="46798" anchor="ctr" anchorCtr="0" compatLnSpc="1"/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rial" pitchFamily="18"/>
                <a:ea typeface="Arial" pitchFamily="2"/>
                <a:cs typeface="Arial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5918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Run the Program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1600200"/>
            <a:ext cx="8226363" cy="472140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Press the Orange Button 3 times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You should see Run on the display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Don't cheat and run the program from your laptop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Put the robot on the folder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Press the Orange Button one more time to run the program</a:t>
            </a:r>
          </a:p>
        </p:txBody>
      </p:sp>
    </p:spTree>
    <p:extLst>
      <p:ext uri="{BB962C8B-B14F-4D97-AF65-F5344CB8AC3E}">
        <p14:creationId xmlns:p14="http://schemas.microsoft.com/office/powerpoint/2010/main" val="2958542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Did Your Robot Stop at the Edge?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1600200"/>
            <a:ext cx="8226363" cy="472140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If so, GREAT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Try adjusting the variable NormalPower and see what happens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If not,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Try running the program again while Polling the Brick CONTINUOUSLY and adjust the values</a:t>
            </a:r>
          </a:p>
        </p:txBody>
      </p:sp>
    </p:spTree>
    <p:extLst>
      <p:ext uri="{BB962C8B-B14F-4D97-AF65-F5344CB8AC3E}">
        <p14:creationId xmlns:p14="http://schemas.microsoft.com/office/powerpoint/2010/main" val="2857944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reeform 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33400" y="1600200"/>
            <a:ext cx="8229600" cy="48768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2438458 h 21600"/>
              <a:gd name="T4" fmla="*/ 4114800 w 21600"/>
              <a:gd name="T5" fmla="*/ 4876915 h 21600"/>
              <a:gd name="T6" fmla="*/ 0 w 21600"/>
              <a:gd name="T7" fmla="*/ 2438458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/>
          <a:lstStyle/>
          <a:p>
            <a:pPr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>
                <a:solidFill>
                  <a:srgbClr val="000000"/>
                </a:solidFill>
                <a:cs typeface="Lucida Sans Unicode" pitchFamily="34" charset="0"/>
              </a:rPr>
              <a:t> 	Now, you are ready to play RoboSumo</a:t>
            </a:r>
          </a:p>
          <a:p>
            <a:pPr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>
                <a:solidFill>
                  <a:srgbClr val="000000"/>
                </a:solidFill>
                <a:cs typeface="Lucida Sans Unicode" pitchFamily="34" charset="0"/>
              </a:rPr>
              <a:t> 	Just like sumo</a:t>
            </a:r>
          </a:p>
          <a:p>
            <a:pPr marL="0" lvl="1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>
                <a:solidFill>
                  <a:srgbClr val="000000"/>
                </a:solidFill>
                <a:cs typeface="Lucida Sans Unicode" pitchFamily="34" charset="0"/>
              </a:rPr>
              <a:t> 	One robot has to push the other off the table</a:t>
            </a:r>
          </a:p>
          <a:p>
            <a:pPr marL="0" lvl="1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>
                <a:solidFill>
                  <a:srgbClr val="000000"/>
                </a:solidFill>
                <a:cs typeface="Lucida Sans Unicode" pitchFamily="34" charset="0"/>
              </a:rPr>
              <a:t> 	Without it going off the table</a:t>
            </a:r>
          </a:p>
        </p:txBody>
      </p:sp>
      <p:sp>
        <p:nvSpPr>
          <p:cNvPr id="25603" name="Freeform 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33400" y="228600"/>
            <a:ext cx="8229600" cy="11430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571500 h 21600"/>
              <a:gd name="T4" fmla="*/ 4114800 w 21600"/>
              <a:gd name="T5" fmla="*/ 1143000 h 21600"/>
              <a:gd name="T6" fmla="*/ 0 w 21600"/>
              <a:gd name="T7" fmla="*/ 5715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ctr" anchorCtr="1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>
                <a:solidFill>
                  <a:srgbClr val="000000"/>
                </a:solidFill>
                <a:cs typeface="Lucida Sans Unicode" pitchFamily="34" charset="0"/>
              </a:rPr>
              <a:t>RoboSumo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reeform 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33400" y="1600200"/>
            <a:ext cx="8229600" cy="48768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2438458 h 21600"/>
              <a:gd name="T4" fmla="*/ 4114800 w 21600"/>
              <a:gd name="T5" fmla="*/ 4876915 h 21600"/>
              <a:gd name="T6" fmla="*/ 0 w 21600"/>
              <a:gd name="T7" fmla="*/ 2438458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/>
          <a:lstStyle/>
          <a:p>
            <a:pPr marL="457200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 smtClean="0">
                <a:solidFill>
                  <a:srgbClr val="000000"/>
                </a:solidFill>
                <a:cs typeface="Lucida Sans Unicode" pitchFamily="34" charset="0"/>
              </a:rPr>
              <a:t>Just </a:t>
            </a:r>
            <a:r>
              <a:rPr lang="en-US" sz="3200" dirty="0">
                <a:solidFill>
                  <a:srgbClr val="000000"/>
                </a:solidFill>
                <a:cs typeface="Lucida Sans Unicode" pitchFamily="34" charset="0"/>
              </a:rPr>
              <a:t>like a bat, the Sonar Sensor sends out sound waves</a:t>
            </a:r>
          </a:p>
          <a:p>
            <a:pPr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 smtClean="0">
                <a:solidFill>
                  <a:srgbClr val="000000"/>
                </a:solidFill>
                <a:cs typeface="Lucida Sans Unicode" pitchFamily="34" charset="0"/>
              </a:rPr>
              <a:t>By </a:t>
            </a:r>
            <a:r>
              <a:rPr lang="en-US" sz="3200" dirty="0">
                <a:solidFill>
                  <a:srgbClr val="000000"/>
                </a:solidFill>
                <a:cs typeface="Lucida Sans Unicode" pitchFamily="34" charset="0"/>
              </a:rPr>
              <a:t>measuring how long it takes for the sound waves to be reflected back</a:t>
            </a:r>
          </a:p>
          <a:p>
            <a:pPr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 smtClean="0">
                <a:solidFill>
                  <a:srgbClr val="000000"/>
                </a:solidFill>
                <a:cs typeface="Lucida Sans Unicode" pitchFamily="34" charset="0"/>
              </a:rPr>
              <a:t>It </a:t>
            </a:r>
            <a:r>
              <a:rPr lang="en-US" sz="3200" dirty="0">
                <a:solidFill>
                  <a:srgbClr val="000000"/>
                </a:solidFill>
                <a:cs typeface="Lucida Sans Unicode" pitchFamily="34" charset="0"/>
              </a:rPr>
              <a:t>knows how far away something is</a:t>
            </a:r>
          </a:p>
          <a:p>
            <a:pPr marL="457200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 smtClean="0">
                <a:solidFill>
                  <a:srgbClr val="000000"/>
                </a:solidFill>
                <a:cs typeface="Lucida Sans Unicode" pitchFamily="34" charset="0"/>
              </a:rPr>
              <a:t>It </a:t>
            </a:r>
            <a:r>
              <a:rPr lang="en-US" sz="3200" dirty="0">
                <a:solidFill>
                  <a:srgbClr val="000000"/>
                </a:solidFill>
                <a:cs typeface="Lucida Sans Unicode" pitchFamily="34" charset="0"/>
              </a:rPr>
              <a:t>does NOT know what that “something” is</a:t>
            </a:r>
          </a:p>
          <a:p>
            <a:pPr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 smtClean="0">
                <a:solidFill>
                  <a:srgbClr val="000000"/>
                </a:solidFill>
                <a:cs typeface="Lucida Sans Unicode" pitchFamily="34" charset="0"/>
              </a:rPr>
              <a:t>If </a:t>
            </a:r>
            <a:r>
              <a:rPr lang="en-US" sz="3200" dirty="0">
                <a:solidFill>
                  <a:srgbClr val="000000"/>
                </a:solidFill>
                <a:cs typeface="Lucida Sans Unicode" pitchFamily="34" charset="0"/>
              </a:rPr>
              <a:t>YOU are the closest thing in front of the robot, it will find YOU!!!</a:t>
            </a:r>
          </a:p>
        </p:txBody>
      </p:sp>
      <p:sp>
        <p:nvSpPr>
          <p:cNvPr id="26627" name="Freeform 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33400" y="228600"/>
            <a:ext cx="8229600" cy="11430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571500 h 21600"/>
              <a:gd name="T4" fmla="*/ 4114800 w 21600"/>
              <a:gd name="T5" fmla="*/ 1143000 h 21600"/>
              <a:gd name="T6" fmla="*/ 0 w 21600"/>
              <a:gd name="T7" fmla="*/ 5715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ctr" anchorCtr="1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>
                <a:solidFill>
                  <a:srgbClr val="000000"/>
                </a:solidFill>
                <a:cs typeface="Lucida Sans Unicode" pitchFamily="34" charset="0"/>
              </a:rPr>
              <a:t>How Does the Robot Know Where the Other Robots Are?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reeform 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33400" y="1600200"/>
            <a:ext cx="8229600" cy="48768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2438458 h 21600"/>
              <a:gd name="T4" fmla="*/ 4114800 w 21600"/>
              <a:gd name="T5" fmla="*/ 4876915 h 21600"/>
              <a:gd name="T6" fmla="*/ 0 w 21600"/>
              <a:gd name="T7" fmla="*/ 2438458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/>
          <a:lstStyle/>
          <a:p>
            <a:pPr marL="457200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 smtClean="0">
                <a:solidFill>
                  <a:srgbClr val="000000"/>
                </a:solidFill>
                <a:cs typeface="Lucida Sans Unicode" pitchFamily="34" charset="0"/>
              </a:rPr>
              <a:t>We’ll </a:t>
            </a:r>
            <a:r>
              <a:rPr lang="en-US" sz="3200" dirty="0">
                <a:solidFill>
                  <a:srgbClr val="000000"/>
                </a:solidFill>
                <a:cs typeface="Lucida Sans Unicode" pitchFamily="34" charset="0"/>
              </a:rPr>
              <a:t>use Light Sensors the same way we did to find the difference between the light paper and the dark table</a:t>
            </a:r>
          </a:p>
          <a:p>
            <a:pPr marL="457200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 smtClean="0">
                <a:solidFill>
                  <a:srgbClr val="000000"/>
                </a:solidFill>
                <a:cs typeface="Lucida Sans Unicode" pitchFamily="34" charset="0"/>
              </a:rPr>
              <a:t>Now</a:t>
            </a:r>
            <a:r>
              <a:rPr lang="en-US" sz="3200" dirty="0">
                <a:solidFill>
                  <a:srgbClr val="000000"/>
                </a:solidFill>
                <a:cs typeface="Lucida Sans Unicode" pitchFamily="34" charset="0"/>
              </a:rPr>
              <a:t>, the robot is just looking for the difference between the light table and the dark edge</a:t>
            </a:r>
          </a:p>
          <a:p>
            <a:pPr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dirty="0" smtClean="0">
                <a:solidFill>
                  <a:srgbClr val="000000"/>
                </a:solidFill>
                <a:cs typeface="Lucida Sans Unicode" pitchFamily="34" charset="0"/>
              </a:rPr>
              <a:t>Much </a:t>
            </a:r>
            <a:r>
              <a:rPr lang="en-US" sz="3200" dirty="0">
                <a:solidFill>
                  <a:srgbClr val="000000"/>
                </a:solidFill>
                <a:cs typeface="Lucida Sans Unicode" pitchFamily="34" charset="0"/>
              </a:rPr>
              <a:t>less light is reflected back past the edge of the table</a:t>
            </a:r>
          </a:p>
        </p:txBody>
      </p:sp>
      <p:sp>
        <p:nvSpPr>
          <p:cNvPr id="27651" name="Freeform 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33400" y="228600"/>
            <a:ext cx="8229600" cy="11430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571500 h 21600"/>
              <a:gd name="T4" fmla="*/ 4114800 w 21600"/>
              <a:gd name="T5" fmla="*/ 1143000 h 21600"/>
              <a:gd name="T6" fmla="*/ 0 w 21600"/>
              <a:gd name="T7" fmla="*/ 5715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ctr" anchorCtr="1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>
                <a:solidFill>
                  <a:srgbClr val="000000"/>
                </a:solidFill>
                <a:cs typeface="Lucida Sans Unicode" pitchFamily="34" charset="0"/>
              </a:rPr>
              <a:t>How Does the Robot Know Where the Edge of the Table Is?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Open the Program Sumo.c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990715" y="1371600"/>
            <a:ext cx="9753484" cy="80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930237" y="1371600"/>
            <a:ext cx="935676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914400" y="1371600"/>
            <a:ext cx="10744200" cy="8001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9135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Change the LightSensorThreshold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457200" y="1371600"/>
            <a:ext cx="8229600" cy="9144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Insert the same value for LightSensorThreshold you used for Go.c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914400" y="2286000"/>
            <a:ext cx="9601200" cy="640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7387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reeform 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33400" y="6531"/>
            <a:ext cx="8226425" cy="1139825"/>
          </a:xfrm>
          <a:custGeom>
            <a:avLst/>
            <a:gdLst>
              <a:gd name="T0" fmla="*/ 4113182 w 21600"/>
              <a:gd name="T1" fmla="*/ 0 h 21600"/>
              <a:gd name="T2" fmla="*/ 8226363 w 21600"/>
              <a:gd name="T3" fmla="*/ 569882 h 21600"/>
              <a:gd name="T4" fmla="*/ 4113182 w 21600"/>
              <a:gd name="T5" fmla="*/ 1139763 h 21600"/>
              <a:gd name="T6" fmla="*/ 0 w 21600"/>
              <a:gd name="T7" fmla="*/ 569882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ctr" anchorCtr="1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 dirty="0">
                <a:solidFill>
                  <a:srgbClr val="000000"/>
                </a:solidFill>
                <a:cs typeface="Lucida Sans Unicode" pitchFamily="34" charset="0"/>
              </a:rPr>
              <a:t>Let’s See What the Program Does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46" y="1115489"/>
            <a:ext cx="9896902" cy="396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"/>
            <a:ext cx="848973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978900" cy="324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93853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400" y="1600200"/>
            <a:ext cx="8229600" cy="48768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4" tIns="46798" rIns="90004" bIns="46798"/>
          <a:lstStyle/>
          <a:p>
            <a:pPr marL="457200" indent="-457200" fontAlgn="auto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 smtClean="0">
                <a:solidFill>
                  <a:srgbClr val="000000"/>
                </a:solidFill>
                <a:latin typeface="Calibri" pitchFamily="34"/>
                <a:ea typeface="Lucida Sans Unicode" pitchFamily="2"/>
                <a:cs typeface="Lucida Sans Unicode" pitchFamily="2"/>
              </a:rPr>
              <a:t>If </a:t>
            </a:r>
            <a:r>
              <a:rPr lang="en-US" sz="3200" dirty="0">
                <a:solidFill>
                  <a:srgbClr val="000000"/>
                </a:solidFill>
                <a:latin typeface="Calibri" pitchFamily="34"/>
                <a:ea typeface="Lucida Sans Unicode" pitchFamily="2"/>
                <a:cs typeface="Lucida Sans Unicode" pitchFamily="2"/>
              </a:rPr>
              <a:t>you’re daring, you can adjust some of the other variables</a:t>
            </a:r>
          </a:p>
          <a:p>
            <a:pPr marL="457200" indent="-457200" fontAlgn="auto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 err="1" smtClean="0">
                <a:solidFill>
                  <a:srgbClr val="000000"/>
                </a:solidFill>
                <a:latin typeface="Calibri" pitchFamily="34"/>
                <a:ea typeface="Lucida Sans Unicode" pitchFamily="2"/>
                <a:cs typeface="Lucida Sans Unicode" pitchFamily="2"/>
              </a:rPr>
              <a:t>SonarSensorThreshold</a:t>
            </a:r>
            <a:endParaRPr lang="en-US" sz="3200" dirty="0">
              <a:solidFill>
                <a:srgbClr val="000000"/>
              </a:solidFill>
              <a:latin typeface="Calibri" pitchFamily="34"/>
              <a:ea typeface="Lucida Sans Unicode" pitchFamily="2"/>
              <a:cs typeface="Lucida Sans Unicode" pitchFamily="2"/>
            </a:endParaRPr>
          </a:p>
          <a:p>
            <a:pPr lvl="1" indent="-457200" fontAlgn="auto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 err="1" smtClean="0">
                <a:solidFill>
                  <a:srgbClr val="000000"/>
                </a:solidFill>
                <a:latin typeface="Calibri" pitchFamily="34"/>
                <a:ea typeface="Lucida Sans Unicode" pitchFamily="2"/>
                <a:cs typeface="Lucida Sans Unicode" pitchFamily="2"/>
              </a:rPr>
              <a:t>NormalMotorPower</a:t>
            </a:r>
            <a:endParaRPr lang="en-US" sz="3200" dirty="0">
              <a:solidFill>
                <a:srgbClr val="000000"/>
              </a:solidFill>
              <a:latin typeface="Calibri" pitchFamily="34"/>
              <a:ea typeface="Lucida Sans Unicode" pitchFamily="2"/>
              <a:cs typeface="Lucida Sans Unicode" pitchFamily="2"/>
            </a:endParaRPr>
          </a:p>
          <a:p>
            <a:pPr lvl="1" indent="-457200" fontAlgn="auto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dirty="0" err="1" smtClean="0">
                <a:solidFill>
                  <a:srgbClr val="000000"/>
                </a:solidFill>
                <a:latin typeface="Calibri" pitchFamily="34"/>
                <a:ea typeface="Lucida Sans Unicode" pitchFamily="2"/>
                <a:cs typeface="Lucida Sans Unicode" pitchFamily="2"/>
              </a:rPr>
              <a:t>HighMotorPower</a:t>
            </a:r>
            <a:endParaRPr lang="en-US" sz="3200" dirty="0">
              <a:solidFill>
                <a:srgbClr val="000000"/>
              </a:solidFill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3795" name="Freeform 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33400" y="228600"/>
            <a:ext cx="8229600" cy="1143000"/>
          </a:xfrm>
          <a:custGeom>
            <a:avLst/>
            <a:gdLst>
              <a:gd name="T0" fmla="*/ 4114800 w 21600"/>
              <a:gd name="T1" fmla="*/ 0 h 21600"/>
              <a:gd name="T2" fmla="*/ 8229600 w 21600"/>
              <a:gd name="T3" fmla="*/ 571500 h 21600"/>
              <a:gd name="T4" fmla="*/ 4114800 w 21600"/>
              <a:gd name="T5" fmla="*/ 1143000 h 21600"/>
              <a:gd name="T6" fmla="*/ 0 w 21600"/>
              <a:gd name="T7" fmla="*/ 571500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4" tIns="46798" rIns="90004" bIns="46798" anchor="ctr" anchorCtr="1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400">
                <a:solidFill>
                  <a:srgbClr val="000000"/>
                </a:solidFill>
                <a:cs typeface="Lucida Sans Unicode" pitchFamily="34" charset="0"/>
              </a:rPr>
              <a:t>Other Variables to Adjust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1600200"/>
            <a:ext cx="8229600" cy="487691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339480" marR="0" lvl="0" indent="-325444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tabLst>
                <a:tab pos="339480" algn="l"/>
                <a:tab pos="796680" algn="l"/>
                <a:tab pos="1253880" algn="l"/>
                <a:tab pos="1711080" algn="l"/>
                <a:tab pos="2168280" algn="l"/>
                <a:tab pos="2625480" algn="l"/>
                <a:tab pos="3082680" algn="l"/>
                <a:tab pos="3539880" algn="l"/>
                <a:tab pos="3997080" algn="l"/>
                <a:tab pos="4454280" algn="l"/>
                <a:tab pos="4911480" algn="l"/>
                <a:tab pos="5368680" algn="l"/>
                <a:tab pos="5825880" algn="l"/>
                <a:tab pos="6283080" algn="l"/>
                <a:tab pos="6740280" algn="l"/>
                <a:tab pos="7197480" algn="l"/>
                <a:tab pos="7654680" algn="l"/>
                <a:tab pos="8111880" algn="l"/>
                <a:tab pos="8569080" algn="l"/>
                <a:tab pos="9026280" algn="l"/>
                <a:tab pos="948348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  <a:p>
            <a:pPr marL="339480" marR="0" lvl="0" indent="-325444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  <a:tabLst>
                <a:tab pos="339480" algn="l"/>
                <a:tab pos="796680" algn="l"/>
                <a:tab pos="1253880" algn="l"/>
                <a:tab pos="1711080" algn="l"/>
                <a:tab pos="2168280" algn="l"/>
                <a:tab pos="2625480" algn="l"/>
                <a:tab pos="3082680" algn="l"/>
                <a:tab pos="3539880" algn="l"/>
                <a:tab pos="3997080" algn="l"/>
                <a:tab pos="4454280" algn="l"/>
                <a:tab pos="4911480" algn="l"/>
                <a:tab pos="5368680" algn="l"/>
                <a:tab pos="5825880" algn="l"/>
                <a:tab pos="6283080" algn="l"/>
                <a:tab pos="6740280" algn="l"/>
                <a:tab pos="7197480" algn="l"/>
                <a:tab pos="7654680" algn="l"/>
                <a:tab pos="8111880" algn="l"/>
                <a:tab pos="8569080" algn="l"/>
                <a:tab pos="9026280" algn="l"/>
                <a:tab pos="948348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00" b="0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22860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Download Sumo.c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990715" y="1371600"/>
            <a:ext cx="10439284" cy="777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2496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1600200"/>
            <a:ext cx="8229600" cy="487691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If your team is ready to compete, bring your robot to the sumo tables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The display on your NXT should show sumo.c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When I say “go”, press the orange button to run your program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If we have time, the last surviving robot from each table will have a final match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22860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Mini Sumo Competitions</a:t>
            </a:r>
          </a:p>
        </p:txBody>
      </p:sp>
    </p:spTree>
    <p:extLst>
      <p:ext uri="{BB962C8B-B14F-4D97-AF65-F5344CB8AC3E}">
        <p14:creationId xmlns:p14="http://schemas.microsoft.com/office/powerpoint/2010/main" val="389933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1"/>
          <p:cNvSpPr txBox="1"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74026" y="1219200"/>
            <a:ext cx="8365173" cy="4706938"/>
          </a:xfrm>
        </p:spPr>
        <p:txBody>
          <a:bodyPr/>
          <a:lstStyle>
            <a:lvl1pPr>
              <a:defRPr sz="32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2pPr>
            <a:lvl3pPr>
              <a:defRPr sz="24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3pPr>
            <a:lvl4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4pPr>
            <a:lvl5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5pPr>
            <a:lvl6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6pPr>
            <a:lvl7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7pPr>
            <a:lvl8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8pPr>
            <a:lvl9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9pPr>
          </a:lstStyle>
          <a:p>
            <a:pPr eaLnBrk="1"/>
            <a:r>
              <a:rPr dirty="0" smtClean="0"/>
              <a:t>The goal is to be the first robot to find the bottle and push it off the table OR</a:t>
            </a:r>
          </a:p>
          <a:p>
            <a:pPr eaLnBrk="1"/>
            <a:r>
              <a:rPr dirty="0" smtClean="0"/>
              <a:t>Have your robot push the opponent off the table</a:t>
            </a:r>
          </a:p>
        </p:txBody>
      </p:sp>
      <p:sp>
        <p:nvSpPr>
          <p:cNvPr id="34819" name="Title 2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/>
            <a:r>
              <a:rPr smtClean="0">
                <a:latin typeface="Calibri" pitchFamily="34" charset="0"/>
                <a:cs typeface="Lucida Sans Unicode" pitchFamily="34" charset="0"/>
              </a:rPr>
              <a:t>Bottle Robo Sumo</a:t>
            </a:r>
          </a:p>
        </p:txBody>
      </p:sp>
      <p:pic>
        <p:nvPicPr>
          <p:cNvPr id="34820" name="Picture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500" y="3095897"/>
            <a:ext cx="7263134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/>
            <a:r>
              <a:rPr dirty="0" smtClean="0">
                <a:latin typeface="Calibri" pitchFamily="34" charset="0"/>
                <a:cs typeface="Lucida Sans Unicode" pitchFamily="34" charset="0"/>
              </a:rPr>
              <a:t>Necessary Strategy for bottle sumo</a:t>
            </a:r>
          </a:p>
        </p:txBody>
      </p:sp>
      <p:sp>
        <p:nvSpPr>
          <p:cNvPr id="35843" name="Content Placeholder 2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>
            <a:lvl1pPr marL="457200" indent="-457200">
              <a:defRPr sz="32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2pPr>
            <a:lvl3pPr>
              <a:defRPr sz="24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3pPr>
            <a:lvl4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4pPr>
            <a:lvl5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5pPr>
            <a:lvl6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6pPr>
            <a:lvl7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7pPr>
            <a:lvl8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8pPr>
            <a:lvl9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9pPr>
          </a:lstStyle>
          <a:p>
            <a:pPr eaLnBrk="1">
              <a:buFontTx/>
              <a:buChar char="•"/>
            </a:pPr>
            <a:r>
              <a:rPr dirty="0" smtClean="0"/>
              <a:t>Instead of just moving forward, how could we have the robot search for the bottle (or an opponent)?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/>
          <p:cNvSpPr txBox="1"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lstStyle>
            <a:lvl1pPr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  <a:defRPr sz="32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1pPr>
            <a:lvl2pPr marL="742950" indent="-285750"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  <a:defRPr sz="28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2pPr>
            <a:lvl3pPr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  <a:defRPr sz="24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3pPr>
            <a:lvl4pPr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4pPr>
            <a:lvl5pPr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5pPr>
            <a:lvl6pPr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6pPr>
            <a:lvl7pPr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7pPr>
            <a:lvl8pPr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8pPr>
            <a:lvl9pPr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9pPr>
          </a:lstStyle>
          <a:p>
            <a:pPr eaLnBrk="1">
              <a:spcBef>
                <a:spcPts val="700"/>
              </a:spcBef>
              <a:buClr>
                <a:srgbClr val="006666"/>
              </a:buClr>
            </a:pPr>
            <a:r>
              <a:rPr smtClean="0"/>
              <a:t>The Ultrasonic sensor uses sound waves to locate objects and determine how far they are from the robot, just like a bat!</a:t>
            </a:r>
          </a:p>
          <a:p>
            <a:pPr eaLnBrk="1">
              <a:spcBef>
                <a:spcPts val="700"/>
              </a:spcBef>
              <a:buClr>
                <a:srgbClr val="006666"/>
              </a:buClr>
            </a:pPr>
            <a:r>
              <a:rPr smtClean="0"/>
              <a:t>However, it sees things in a wide angle, just like your eyes</a:t>
            </a:r>
          </a:p>
          <a:p>
            <a:pPr eaLnBrk="1">
              <a:spcBef>
                <a:spcPts val="700"/>
              </a:spcBef>
              <a:buClr>
                <a:srgbClr val="006666"/>
              </a:buClr>
            </a:pPr>
            <a:r>
              <a:rPr smtClean="0"/>
              <a:t>Its “field of vision” is about 45 degrees to either side</a:t>
            </a:r>
          </a:p>
          <a:p>
            <a:pPr eaLnBrk="1">
              <a:spcBef>
                <a:spcPts val="700"/>
              </a:spcBef>
              <a:buClr>
                <a:srgbClr val="006666"/>
              </a:buClr>
            </a:pPr>
            <a:r>
              <a:rPr smtClean="0"/>
              <a:t>That means it “sees” things that are not directly in front of the robot</a:t>
            </a:r>
          </a:p>
          <a:p>
            <a:pPr eaLnBrk="1"/>
            <a:endParaRPr smtClean="0"/>
          </a:p>
        </p:txBody>
      </p:sp>
      <p:sp>
        <p:nvSpPr>
          <p:cNvPr id="36867" name="Rectangle 2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l" eaLnBrk="1" hangingPunct="1">
              <a:buClr>
                <a:srgbClr val="000000"/>
              </a:buClr>
              <a:buFont typeface="Times New Roman" pitchFamily="18" charset="0"/>
              <a:buNone/>
            </a:pPr>
            <a:r>
              <a:rPr sz="3600" smtClean="0">
                <a:latin typeface="Calibri" pitchFamily="34" charset="0"/>
                <a:cs typeface="Arial" pitchFamily="34" charset="0"/>
              </a:rPr>
              <a:t>Finding Objects using Sonar Sensor</a:t>
            </a:r>
            <a:endParaRPr sz="180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86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48000" y="5029200"/>
            <a:ext cx="83835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547688" indent="-547688">
              <a:spcBef>
                <a:spcPts val="700"/>
              </a:spcBef>
              <a:buClr>
                <a:srgbClr val="006666"/>
              </a:buClr>
              <a:buFont typeface="Wingdings" pitchFamily="2" charset="2"/>
              <a:buChar char=""/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</a:pPr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 eaLnBrk="1" hangingPunct="1">
              <a:buClr>
                <a:srgbClr val="000000"/>
              </a:buClr>
              <a:buFont typeface="Times New Roman" pitchFamily="18" charset="0"/>
              <a:buNone/>
            </a:pPr>
            <a:r>
              <a:rPr sz="3600" smtClean="0">
                <a:latin typeface="Calibri" pitchFamily="34" charset="0"/>
                <a:cs typeface="Arial" pitchFamily="34" charset="0"/>
              </a:rPr>
              <a:t>FindObject.c</a:t>
            </a:r>
            <a:endParaRPr sz="180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891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0" y="5029200"/>
            <a:ext cx="83835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547688" indent="-547688">
              <a:spcBef>
                <a:spcPts val="700"/>
              </a:spcBef>
              <a:buClr>
                <a:srgbClr val="006666"/>
              </a:buClr>
              <a:buFont typeface="Wingdings" pitchFamily="2" charset="2"/>
              <a:buChar char=""/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7892" name="Content Placeholder 2"/>
          <p:cNvSpPr txBox="1"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>
            <a:lvl1pPr>
              <a:defRPr sz="32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2pPr>
            <a:lvl3pPr>
              <a:defRPr sz="24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3pPr>
            <a:lvl4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4pPr>
            <a:lvl5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5pPr>
            <a:lvl6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6pPr>
            <a:lvl7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7pPr>
            <a:lvl8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8pPr>
            <a:lvl9pPr>
              <a:defRPr sz="20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9pPr>
          </a:lstStyle>
          <a:p>
            <a:pPr eaLnBrk="1"/>
            <a:endParaRPr smtClean="0"/>
          </a:p>
        </p:txBody>
      </p:sp>
      <p:pic>
        <p:nvPicPr>
          <p:cNvPr id="37893" name="Picture 2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1219200"/>
            <a:ext cx="10538843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152400"/>
            <a:ext cx="8305800" cy="838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4400">
                <a:solidFill>
                  <a:srgbClr val="000000"/>
                </a:solidFill>
                <a:latin typeface="Calibri" pitchFamily="34" charset="0"/>
                <a:cs typeface="Lucida Sans Unicode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9pPr>
          </a:lstStyle>
          <a:p>
            <a:pPr algn="l" eaLnBrk="1" hangingPunct="1">
              <a:buClr>
                <a:srgbClr val="000000"/>
              </a:buClr>
              <a:buFont typeface="Times New Roman" pitchFamily="18" charset="0"/>
              <a:buNone/>
            </a:pPr>
            <a:r>
              <a:rPr sz="3600" dirty="0" smtClean="0">
                <a:cs typeface="Arial" pitchFamily="34" charset="0"/>
              </a:rPr>
              <a:t>Problems?</a:t>
            </a:r>
            <a:endParaRPr sz="1800" dirty="0" smtClean="0">
              <a:latin typeface="Freshbot"/>
              <a:cs typeface="Arial" pitchFamily="34" charset="0"/>
            </a:endParaRPr>
          </a:p>
        </p:txBody>
      </p:sp>
      <p:sp>
        <p:nvSpPr>
          <p:cNvPr id="38915" name="Rectangle 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1447800"/>
            <a:ext cx="8307388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285750" indent="-285750">
              <a:spcBef>
                <a:spcPts val="700"/>
              </a:spcBef>
              <a:buClr>
                <a:srgbClr val="006666"/>
              </a:buClr>
              <a:buFont typeface="Arial" pitchFamily="34" charset="0"/>
              <a:buChar char="•"/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</a:pPr>
            <a:r>
              <a:rPr lang="en-US" sz="3200" dirty="0">
                <a:solidFill>
                  <a:srgbClr val="000000"/>
                </a:solidFill>
              </a:rPr>
              <a:t>Did the robot find YOU instead of the bottle?</a:t>
            </a:r>
          </a:p>
          <a:p>
            <a:pPr marL="285750" indent="-285750">
              <a:spcBef>
                <a:spcPts val="700"/>
              </a:spcBef>
              <a:buClr>
                <a:srgbClr val="006666"/>
              </a:buClr>
              <a:buFont typeface="Arial" pitchFamily="34" charset="0"/>
              <a:buChar char="•"/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</a:pPr>
            <a:r>
              <a:rPr lang="en-US" sz="3200" dirty="0">
                <a:solidFill>
                  <a:srgbClr val="000000"/>
                </a:solidFill>
              </a:rPr>
              <a:t>Did the robot spin too far (slow down the power)?</a:t>
            </a:r>
          </a:p>
          <a:p>
            <a:pPr marL="285750" indent="-285750">
              <a:spcBef>
                <a:spcPts val="700"/>
              </a:spcBef>
              <a:buClr>
                <a:srgbClr val="006666"/>
              </a:buClr>
              <a:buFont typeface="Arial" pitchFamily="34" charset="0"/>
              <a:buChar char="•"/>
              <a:tabLst>
                <a:tab pos="547688" algn="l"/>
                <a:tab pos="660400" algn="l"/>
                <a:tab pos="1117600" algn="l"/>
                <a:tab pos="1574800" algn="l"/>
                <a:tab pos="2032000" algn="l"/>
                <a:tab pos="2489200" algn="l"/>
                <a:tab pos="2946400" algn="l"/>
                <a:tab pos="3403600" algn="l"/>
                <a:tab pos="3860800" algn="l"/>
                <a:tab pos="4318000" algn="l"/>
                <a:tab pos="4775200" algn="l"/>
                <a:tab pos="5232400" algn="l"/>
                <a:tab pos="5689600" algn="l"/>
                <a:tab pos="6146800" algn="l"/>
                <a:tab pos="6604000" algn="l"/>
                <a:tab pos="7061200" algn="l"/>
                <a:tab pos="7518400" algn="l"/>
                <a:tab pos="7975600" algn="l"/>
                <a:tab pos="8432800" algn="l"/>
                <a:tab pos="8890000" algn="l"/>
                <a:tab pos="9347200" algn="l"/>
              </a:tabLst>
            </a:pPr>
            <a:r>
              <a:rPr lang="en-US" sz="3200" dirty="0">
                <a:solidFill>
                  <a:srgbClr val="000000"/>
                </a:solidFill>
              </a:rPr>
              <a:t>Did the robot stop too soon (remember field of vision)?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 smtClean="0"/>
              <a:t>Some ideas to make a complete </a:t>
            </a:r>
            <a:r>
              <a:rPr lang="en-US" dirty="0"/>
              <a:t>Bottle </a:t>
            </a:r>
            <a:r>
              <a:rPr lang="en-US" dirty="0" err="1"/>
              <a:t>Robo</a:t>
            </a:r>
            <a:r>
              <a:rPr lang="en-US" dirty="0"/>
              <a:t> Sumo </a:t>
            </a:r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61180" y="1524000"/>
            <a:ext cx="8430420" cy="4706938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Usually the bottle will be located in front of the robots as shown below: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0" indent="0"/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sz="1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Start with left x degree spin-search and right 2x degree spin-search, where x is less than 90 degrees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Whenever, it backs up, do the similar spin-search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</p:txBody>
      </p:sp>
      <p:grpSp>
        <p:nvGrpSpPr>
          <p:cNvPr id="8" name="Group 7"/>
          <p:cNvGrpSpPr/>
          <p:nvPr>
            <p:custDataLst>
              <p:tags r:id="rId3"/>
            </p:custDataLst>
          </p:nvPr>
        </p:nvGrpSpPr>
        <p:grpSpPr>
          <a:xfrm>
            <a:off x="2706733" y="2590800"/>
            <a:ext cx="3886200" cy="1600200"/>
            <a:chOff x="2724150" y="2743200"/>
            <a:chExt cx="3886200" cy="1600200"/>
          </a:xfrm>
        </p:grpSpPr>
        <p:sp>
          <p:nvSpPr>
            <p:cNvPr id="4" name="Rectangle 3"/>
            <p:cNvSpPr/>
            <p:nvPr>
              <p:custDataLst>
                <p:tags r:id="rId4"/>
              </p:custDataLst>
            </p:nvPr>
          </p:nvSpPr>
          <p:spPr>
            <a:xfrm>
              <a:off x="2724150" y="2743200"/>
              <a:ext cx="3886200" cy="1600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>
              <p:custDataLst>
                <p:tags r:id="rId5"/>
              </p:custDataLst>
            </p:nvPr>
          </p:nvSpPr>
          <p:spPr>
            <a:xfrm>
              <a:off x="4533900" y="2878183"/>
              <a:ext cx="2667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6" name="Rectangle 5"/>
            <p:cNvSpPr/>
            <p:nvPr>
              <p:custDataLst>
                <p:tags r:id="rId6"/>
              </p:custDataLst>
            </p:nvPr>
          </p:nvSpPr>
          <p:spPr>
            <a:xfrm>
              <a:off x="3581400" y="3733800"/>
              <a:ext cx="304800" cy="609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R1</a:t>
              </a:r>
              <a:endParaRPr lang="en-US" dirty="0"/>
            </a:p>
          </p:txBody>
        </p:sp>
        <p:sp>
          <p:nvSpPr>
            <p:cNvPr id="7" name="Rectangle 6"/>
            <p:cNvSpPr/>
            <p:nvPr>
              <p:custDataLst>
                <p:tags r:id="rId7"/>
              </p:custDataLst>
            </p:nvPr>
          </p:nvSpPr>
          <p:spPr>
            <a:xfrm>
              <a:off x="5410200" y="3727269"/>
              <a:ext cx="304800" cy="609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R2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8611260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 smtClean="0"/>
              <a:t>Bottle </a:t>
            </a:r>
            <a:r>
              <a:rPr lang="en-US" dirty="0" err="1" smtClean="0"/>
              <a:t>Robo</a:t>
            </a:r>
            <a:r>
              <a:rPr lang="en-US" dirty="0" smtClean="0"/>
              <a:t> Sumo Opportunities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US Open in Nov 2012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Robot Olympic in South Korea, Dec 2012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Robot Olympic in Colorado, USA, Dec 2013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…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8081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1600200"/>
            <a:ext cx="8229600" cy="487691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Close </a:t>
            </a:r>
            <a:r>
              <a:rPr lang="en-US" sz="3200" b="0" i="0" u="none" strike="noStrike" kern="1200" cap="none" spc="0" baseline="0" dirty="0" err="1" smtClean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Go.c</a:t>
            </a:r>
            <a:r>
              <a:rPr lang="en-US" sz="3200" dirty="0" smtClean="0">
                <a:solidFill>
                  <a:srgbClr val="000000"/>
                </a:solidFill>
                <a:latin typeface="Calibri" pitchFamily="34"/>
                <a:ea typeface="Lucida Sans Unicode" pitchFamily="2"/>
                <a:cs typeface="Lucida Sans Unicode" pitchFamily="2"/>
              </a:rPr>
              <a:t>, </a:t>
            </a:r>
            <a:r>
              <a:rPr lang="en-US" sz="3200" b="0" i="0" u="none" strike="noStrike" kern="1200" cap="none" spc="0" baseline="0" dirty="0" err="1" smtClean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Sumo.c</a:t>
            </a:r>
            <a:r>
              <a:rPr lang="en-US" sz="32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, </a:t>
            </a:r>
            <a:r>
              <a:rPr lang="en-US" sz="3200" b="0" i="0" u="none" strike="noStrike" kern="1200" cap="none" spc="0" baseline="0" dirty="0" err="1" smtClean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FindObject.c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Do NOT save changes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228600"/>
            <a:ext cx="8229600" cy="11430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Assistants Will Close Your Programs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371600" y="2857682"/>
            <a:ext cx="6400800" cy="40003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3166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>
            <p:custDataLst>
              <p:tags r:id="rId1"/>
            </p:custDataLst>
          </p:nvPr>
        </p:nvSpPr>
        <p:spPr>
          <a:xfrm>
            <a:off x="533515" y="228600"/>
            <a:ext cx="8226363" cy="113976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Between Groups</a:t>
            </a:r>
          </a:p>
        </p:txBody>
      </p:sp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533515" y="1600200"/>
            <a:ext cx="8226363" cy="472140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4" tIns="46798" rIns="90004" bIns="46798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Make sure correct NXT is matched with laptop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Check the battery level on the NXTs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Replace the battery pack if less than ½ charged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Put the old battery pack on the charger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Make sure students didn't save programs</a:t>
            </a:r>
          </a:p>
          <a:p>
            <a:pPr marL="0" marR="0" lvl="1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If so, open copy and save as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Help the students assemble in teams of </a:t>
            </a:r>
            <a:r>
              <a:rPr lang="en-US" sz="32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Calibri" pitchFamily="34"/>
                <a:ea typeface="Lucida Sans Unicode" pitchFamily="2"/>
                <a:cs typeface="Lucida Sans Unicode" pitchFamily="2"/>
              </a:rPr>
              <a:t>2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uFillTx/>
              <a:latin typeface="Calibri" pitchFamily="34"/>
              <a:ea typeface="Lucida Sans Unicode" pitchFamily="2"/>
              <a:cs typeface="Lucida Sans Unicode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625349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2686</TotalTime>
  <Words>994</Words>
  <Application>Microsoft Office PowerPoint</Application>
  <PresentationFormat>On-screen Show (4:3)</PresentationFormat>
  <Paragraphs>193</Paragraphs>
  <Slides>42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Default</vt:lpstr>
      <vt:lpstr>Title1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Bottle Robo Sumo</vt:lpstr>
      <vt:lpstr>Necessary Strategy for bottle sumo</vt:lpstr>
      <vt:lpstr>Finding Objects using Sonar Sensor</vt:lpstr>
      <vt:lpstr>FindObject.c</vt:lpstr>
      <vt:lpstr>Problems?</vt:lpstr>
      <vt:lpstr>Some ideas to make a complete Bottle Robo Sumo program</vt:lpstr>
      <vt:lpstr>Bottle Robo Sumo Opportunities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252</cp:revision>
  <dcterms:created xsi:type="dcterms:W3CDTF">2006-08-15T19:00:00Z</dcterms:created>
  <dcterms:modified xsi:type="dcterms:W3CDTF">2012-07-31T02:34:21Z</dcterms:modified>
</cp:coreProperties>
</file>