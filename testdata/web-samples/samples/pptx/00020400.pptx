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6.xml" ContentType="application/vnd.openxmlformats-officedocument.presentationml.slide+xml"/>
  <Override PartName="/ppt/embeddings/oleObject1.bin" ContentType="application/vnd.openxmlformats-officedocument.oleObject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notesMasterIdLst>
    <p:notesMasterId r:id="rId28"/>
  </p:notesMasterIdLst>
  <p:sldIdLst>
    <p:sldId id="257" r:id="rId2"/>
    <p:sldId id="284" r:id="rId3"/>
    <p:sldId id="320" r:id="rId4"/>
    <p:sldId id="282" r:id="rId5"/>
    <p:sldId id="276" r:id="rId6"/>
    <p:sldId id="311" r:id="rId7"/>
    <p:sldId id="307" r:id="rId8"/>
    <p:sldId id="308" r:id="rId9"/>
    <p:sldId id="309" r:id="rId10"/>
    <p:sldId id="283" r:id="rId11"/>
    <p:sldId id="278" r:id="rId12"/>
    <p:sldId id="279" r:id="rId13"/>
    <p:sldId id="280" r:id="rId14"/>
    <p:sldId id="281" r:id="rId15"/>
    <p:sldId id="274" r:id="rId16"/>
    <p:sldId id="259" r:id="rId17"/>
    <p:sldId id="260" r:id="rId18"/>
    <p:sldId id="261" r:id="rId19"/>
    <p:sldId id="262" r:id="rId20"/>
    <p:sldId id="263" r:id="rId21"/>
    <p:sldId id="264" r:id="rId22"/>
    <p:sldId id="273" r:id="rId23"/>
    <p:sldId id="269" r:id="rId24"/>
    <p:sldId id="321" r:id="rId25"/>
    <p:sldId id="267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87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DE065-F8BD-294C-A1F5-68774CB6EA6C}" type="datetimeFigureOut">
              <a:rPr lang="en-US" smtClean="0"/>
              <a:pPr/>
              <a:t>9/21/11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1FAB7-A2B0-4041-9A91-5C71503CEA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piderwe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" y="2133600"/>
            <a:ext cx="8991600" cy="8991600"/>
          </a:xfrm>
          <a:prstGeom prst="rect">
            <a:avLst/>
          </a:prstGeom>
        </p:spPr>
      </p:pic>
      <p:pic>
        <p:nvPicPr>
          <p:cNvPr id="5" name="Picture 9" descr="II_rahmen_neu_tite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3175"/>
            <a:ext cx="9144000" cy="6870700"/>
          </a:xfrm>
          <a:prstGeom prst="rect">
            <a:avLst/>
          </a:prstGeom>
          <a:noFill/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96875" y="6475413"/>
            <a:ext cx="3670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r>
              <a:rPr lang="en-US" sz="800"/>
              <a:t>KIT – University of the State of Baden-Württemberg and</a:t>
            </a:r>
          </a:p>
          <a:p>
            <a:r>
              <a:rPr lang="en-US" sz="800"/>
              <a:t>National Large-scale Research Center of the Helmholtz Association</a:t>
            </a:r>
            <a:endParaRPr lang="de-DE" sz="800"/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385763" y="3367088"/>
            <a:ext cx="45370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de-DE" sz="1000" dirty="0" smtClean="0">
                <a:solidFill>
                  <a:schemeClr val="bg1"/>
                </a:solidFill>
              </a:rPr>
              <a:t>Institut AIFB – Angewandte Informatik und Formale Beschreibungsverfahren</a:t>
            </a:r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7318375" y="6497638"/>
            <a:ext cx="1727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algn="r"/>
            <a:r>
              <a:rPr lang="de-DE" sz="1600" b="1">
                <a:solidFill>
                  <a:schemeClr val="bg1"/>
                </a:solidFill>
              </a:rPr>
              <a:t>www.kit.edu</a:t>
            </a:r>
          </a:p>
        </p:txBody>
      </p:sp>
      <p:pic>
        <p:nvPicPr>
          <p:cNvPr id="9" name="Picture 13" descr="KIT-Logo-rgb_e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333375"/>
            <a:ext cx="1619250" cy="747713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95288" y="1268413"/>
            <a:ext cx="8389937" cy="649287"/>
          </a:xfrm>
        </p:spPr>
        <p:txBody>
          <a:bodyPr/>
          <a:lstStyle>
            <a:lvl1pPr>
              <a:lnSpc>
                <a:spcPct val="90000"/>
              </a:lnSpc>
              <a:defRPr sz="2600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6875" y="2232025"/>
            <a:ext cx="8370888" cy="620713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1800" b="1">
                <a:solidFill>
                  <a:srgbClr val="000000"/>
                </a:solidFill>
              </a:defRPr>
            </a:lvl1pPr>
          </a:lstStyle>
          <a:p>
            <a:r>
              <a:rPr lang="de-DE" smtClean="0"/>
              <a:t>Click to edit Master subtitle style</a:t>
            </a:r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2113" y="1198563"/>
            <a:ext cx="4102100" cy="4894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6613" y="1198563"/>
            <a:ext cx="4102100" cy="4894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 smtClean="0"/>
              <a:t>Click icon to add picture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59563" y="333375"/>
            <a:ext cx="2089150" cy="5759450"/>
          </a:xfrm>
        </p:spPr>
        <p:txBody>
          <a:bodyPr vert="eaVert"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90525" y="333375"/>
            <a:ext cx="6116638" cy="5759450"/>
          </a:xfrm>
        </p:spPr>
        <p:txBody>
          <a:bodyPr vert="eaVert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1690688" y="6454775"/>
            <a:ext cx="4176712" cy="360363"/>
          </a:xfrm>
          <a:prstGeom prst="rect">
            <a:avLst/>
          </a:prstGeom>
          <a:ln/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Custom Layou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0400" y="163238"/>
            <a:ext cx="1133600" cy="5651789"/>
          </a:xfrm>
        </p:spPr>
        <p:txBody>
          <a:bodyPr vert="vert"/>
          <a:lstStyle/>
          <a:p>
            <a:r>
              <a:rPr lang="de-AT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DCAA6C-3986-EA4F-8EDA-C81E801C88D8}" type="datetimeFigureOut">
              <a:rPr lang="en-US" smtClean="0"/>
              <a:pPr/>
              <a:t>9/21/11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94682" y="6356350"/>
            <a:ext cx="1214372" cy="365125"/>
          </a:xfrm>
          <a:prstGeom prst="rect">
            <a:avLst/>
          </a:prstGeom>
        </p:spPr>
        <p:txBody>
          <a:bodyPr/>
          <a:lstStyle/>
          <a:p>
            <a:fld id="{2296EBAF-5622-9141-8BB8-C8B330BEA4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12738" y="163513"/>
            <a:ext cx="7196137" cy="449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12738" y="4856996"/>
            <a:ext cx="7196137" cy="126916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de-AT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II_rahmen_neu_folg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0525" y="333375"/>
            <a:ext cx="6744397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Folientitel durch klicken hinzufügen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2113" y="1198563"/>
            <a:ext cx="8356600" cy="489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Karlsruhe Institute of Technology (KIT).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011863" y="6453188"/>
            <a:ext cx="27368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spcBef>
                <a:spcPct val="50000"/>
              </a:spcBef>
            </a:pPr>
            <a:r>
              <a:rPr lang="de-DE" sz="1200" dirty="0" smtClean="0"/>
              <a:t>Institut AIFB</a:t>
            </a:r>
            <a:endParaRPr lang="de-DE" sz="1200" dirty="0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50825" y="6453188"/>
            <a:ext cx="325438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</a:pPr>
            <a:fld id="{DBB142A6-931C-FD4E-A19F-872E97E86334}" type="slidenum">
              <a:rPr lang="de-DE" sz="2000" b="1"/>
              <a:pPr>
                <a:spcBef>
                  <a:spcPct val="50000"/>
                </a:spcBef>
              </a:pPr>
              <a:t>‹#›</a:t>
            </a:fld>
            <a:endParaRPr lang="de-DE" sz="2000" b="1" dirty="0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755650" y="6453188"/>
            <a:ext cx="663575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</a:pPr>
            <a:r>
              <a:rPr lang="de-DE" sz="1200" dirty="0" smtClean="0"/>
              <a:t>22.09.2011                           </a:t>
            </a:r>
            <a:r>
              <a:rPr lang="en-GB" sz="1200" baseline="0" noProof="0" dirty="0" err="1" smtClean="0"/>
              <a:t>WikiData</a:t>
            </a:r>
            <a:endParaRPr lang="en-GB" sz="1200" baseline="0" noProof="0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1200" dirty="0" smtClean="0"/>
          </a:p>
        </p:txBody>
      </p:sp>
      <p:pic>
        <p:nvPicPr>
          <p:cNvPr id="1038" name="Picture 9" descr="KITlogo_4c_frutiger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667625" y="341313"/>
            <a:ext cx="10842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14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60000"/>
        <a:buBlip>
          <a:blip r:embed="rId16"/>
        </a:buBlip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meta.wikipedia.org/wiki/Wiki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Towards a Semantic Wikipedia: </a:t>
            </a:r>
            <a:r>
              <a:rPr lang="en-US" dirty="0" err="1" smtClean="0"/>
              <a:t>WikiData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Project proposal overview</a:t>
            </a:r>
          </a:p>
          <a:p>
            <a:r>
              <a:rPr lang="en-US" dirty="0" smtClean="0"/>
              <a:t>Denny </a:t>
            </a:r>
            <a:r>
              <a:rPr lang="en-US" dirty="0" err="1" smtClean="0"/>
              <a:t>Vrandečić</a:t>
            </a:r>
            <a:r>
              <a:rPr lang="en-US" dirty="0" smtClean="0"/>
              <a:t>, Daniel </a:t>
            </a:r>
            <a:r>
              <a:rPr lang="en-US" dirty="0" err="1" smtClean="0"/>
              <a:t>Kinzler</a:t>
            </a:r>
            <a:endParaRPr lang="en-US" dirty="0" smtClean="0"/>
          </a:p>
          <a:p>
            <a:r>
              <a:rPr lang="en-US" dirty="0" err="1" smtClean="0"/>
              <a:t>SMWcon</a:t>
            </a:r>
            <a:r>
              <a:rPr lang="en-US" dirty="0" smtClean="0"/>
              <a:t>, Berlin, September 22, 2011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Wikimania</a:t>
            </a:r>
            <a:r>
              <a:rPr lang="en-US" dirty="0" smtClean="0"/>
              <a:t> 2005</a:t>
            </a:r>
            <a:endParaRPr lang="en-US" dirty="0"/>
          </a:p>
        </p:txBody>
      </p:sp>
      <p:pic>
        <p:nvPicPr>
          <p:cNvPr id="4" name="Content Placeholder 3" descr="Screen Shot 2011-08-05 at 16.59.09 .png"/>
          <p:cNvPicPr>
            <a:picLocks noGrp="1" noChangeAspect="1"/>
          </p:cNvPicPr>
          <p:nvPr>
            <p:ph idx="1"/>
          </p:nvPr>
        </p:nvPicPr>
        <p:blipFill>
          <a:blip r:embed="rId2"/>
          <a:srcRect l="-14617" r="-14617"/>
          <a:stretch>
            <a:fillRect/>
          </a:stretch>
        </p:blipFill>
        <p:spPr/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Wikidata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WikiData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</a:t>
            </a:r>
          </a:p>
          <a:p>
            <a:endParaRPr lang="en-US" dirty="0" smtClean="0"/>
          </a:p>
          <a:p>
            <a:r>
              <a:rPr lang="en-US" dirty="0" smtClean="0"/>
              <a:t>Why</a:t>
            </a:r>
          </a:p>
          <a:p>
            <a:endParaRPr lang="en-US" dirty="0" smtClean="0"/>
          </a:p>
          <a:p>
            <a:r>
              <a:rPr lang="en-US" dirty="0" smtClean="0"/>
              <a:t>How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1532406" y="4016731"/>
            <a:ext cx="540002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+mj-ea"/>
                <a:cs typeface="Arial Narrow"/>
              </a:rPr>
              <a:t>shortipedia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/>
              <a:ea typeface="+mj-ea"/>
              <a:cs typeface="Arial Narrow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1570183" y="5183972"/>
            <a:ext cx="5475002" cy="906180"/>
          </a:xfrm>
          <a:prstGeom prst="rect">
            <a:avLst/>
          </a:prstGeom>
        </p:spPr>
        <p:txBody>
          <a:bodyPr vert="horz" lIns="295214" tIns="147607" rIns="295214" bIns="147607" rtlCol="0">
            <a:noAutofit/>
          </a:bodyPr>
          <a:lstStyle/>
          <a:p>
            <a:pPr marL="0" marR="0" lvl="0" indent="0" algn="ctr" defTabSz="14760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Second-hand facts. For free.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 Narrow"/>
              <a:ea typeface="+mn-ea"/>
              <a:cs typeface="Arial Narrow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2403003" y="660948"/>
            <a:ext cx="3631528" cy="3615486"/>
            <a:chOff x="15463116" y="5326828"/>
            <a:chExt cx="5296060" cy="5272665"/>
          </a:xfrm>
        </p:grpSpPr>
        <p:sp>
          <p:nvSpPr>
            <p:cNvPr id="16" name="Oval 15"/>
            <p:cNvSpPr/>
            <p:nvPr/>
          </p:nvSpPr>
          <p:spPr>
            <a:xfrm>
              <a:off x="17442205" y="7302231"/>
              <a:ext cx="1319506" cy="1319506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Donut 16"/>
            <p:cNvSpPr/>
            <p:nvPr/>
          </p:nvSpPr>
          <p:spPr>
            <a:xfrm>
              <a:off x="16378360" y="6225710"/>
              <a:ext cx="3446969" cy="3431742"/>
            </a:xfrm>
            <a:prstGeom prst="donut">
              <a:avLst>
                <a:gd name="adj" fmla="val 13463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Donut 17"/>
            <p:cNvSpPr/>
            <p:nvPr/>
          </p:nvSpPr>
          <p:spPr>
            <a:xfrm>
              <a:off x="15463116" y="5326828"/>
              <a:ext cx="5296060" cy="5272665"/>
            </a:xfrm>
            <a:prstGeom prst="donut">
              <a:avLst>
                <a:gd name="adj" fmla="val 9079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3507295" y="1597034"/>
            <a:ext cx="2563176" cy="3154710"/>
          </a:xfrm>
          <a:prstGeom prst="rect">
            <a:avLst/>
          </a:prstGeom>
          <a:effectLst>
            <a:outerShdw blurRad="50800" dist="38100" dir="2700000" algn="br">
              <a:srgbClr val="000000">
                <a:alpha val="43000"/>
              </a:srgbClr>
            </a:outerShdw>
          </a:effectLst>
        </p:spPr>
        <p:txBody>
          <a:bodyPr wrap="square">
            <a:spAutoFit/>
          </a:bodyPr>
          <a:lstStyle/>
          <a:p>
            <a:pPr lvl="0"/>
            <a:r>
              <a:rPr lang="en-US" sz="19900" i="1" dirty="0" err="1">
                <a:solidFill>
                  <a:schemeClr val="bg1"/>
                </a:solidFill>
                <a:latin typeface="Georgia"/>
                <a:cs typeface="Georgia"/>
              </a:rPr>
              <a:t>i</a:t>
            </a:r>
            <a:endParaRPr lang="en-US" sz="19900" i="1" dirty="0">
              <a:solidFill>
                <a:schemeClr val="bg1"/>
              </a:solidFill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6877" y="-303017"/>
            <a:ext cx="7176285" cy="7161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5243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762000"/>
            <a:ext cx="5813425" cy="4943475"/>
          </a:xfrm>
          <a:prstGeom prst="rect">
            <a:avLst/>
          </a:prstGeom>
          <a:noFill/>
          <a:ln w="38100">
            <a:solidFill>
              <a:srgbClr val="FFCC66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5969000" cy="595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0"/>
            <a:ext cx="3556000" cy="6223000"/>
          </a:xfrm>
          <a:prstGeom prst="rect">
            <a:avLst/>
          </a:prstGeom>
          <a:noFill/>
          <a:ln w="28575">
            <a:solidFill>
              <a:srgbClr val="FFCC66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-1" y="0"/>
            <a:ext cx="9144001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001633" y="1656935"/>
            <a:ext cx="245830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Arial"/>
                <a:cs typeface="Arial"/>
              </a:rPr>
              <a:t>The biggest city in Washington state</a:t>
            </a:r>
          </a:p>
          <a:p>
            <a:endParaRPr lang="en-US" sz="1100" dirty="0" smtClean="0">
              <a:latin typeface="Arial"/>
              <a:cs typeface="Arial"/>
            </a:endParaRPr>
          </a:p>
          <a:p>
            <a:r>
              <a:rPr lang="en-US" sz="1100" b="1" dirty="0" smtClean="0">
                <a:latin typeface="Arial"/>
                <a:cs typeface="Arial"/>
              </a:rPr>
              <a:t>Also known as:</a:t>
            </a:r>
            <a:r>
              <a:rPr lang="en-US" sz="1100" dirty="0" smtClean="0">
                <a:latin typeface="Arial"/>
                <a:cs typeface="Arial"/>
              </a:rPr>
              <a:t> Seattle, WA</a:t>
            </a:r>
            <a:endParaRPr lang="en-US" sz="1100" dirty="0">
              <a:latin typeface="Arial"/>
              <a:cs typeface="Arial"/>
            </a:endParaRPr>
          </a:p>
        </p:txBody>
      </p:sp>
      <p:pic>
        <p:nvPicPr>
          <p:cNvPr id="4" name="Picture 3" descr="wikidat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" y="315578"/>
            <a:ext cx="1404824" cy="1432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6676" y="1904943"/>
            <a:ext cx="138930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Main page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Contents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Access the API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Random page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Donate to </a:t>
            </a:r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Wikidata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Interaction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Help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About </a:t>
            </a:r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Wikidata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Community portal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Recent changes</a:t>
            </a:r>
          </a:p>
          <a:p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smtClean="0">
                <a:solidFill>
                  <a:srgbClr val="7F7F7F"/>
                </a:solidFill>
                <a:latin typeface="Arial"/>
                <a:cs typeface="Arial"/>
              </a:rPr>
              <a:t>Languages</a:t>
            </a: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Catalá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Cesky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Dansk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Deutsch</a:t>
            </a: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Eesti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Español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Arial"/>
                <a:cs typeface="Arial"/>
              </a:rPr>
              <a:t>Esperanto</a:t>
            </a: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Français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Hrvatski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dirty="0" err="1" smtClean="0">
                <a:solidFill>
                  <a:srgbClr val="0000FF"/>
                </a:solidFill>
                <a:latin typeface="Arial"/>
                <a:cs typeface="Arial"/>
              </a:rPr>
              <a:t>Italiano</a:t>
            </a:r>
            <a:endParaRPr lang="en-US" sz="11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en-US" sz="1100" b="1" dirty="0" smtClean="0">
                <a:solidFill>
                  <a:srgbClr val="0000FF"/>
                </a:solidFill>
                <a:latin typeface="Arial"/>
                <a:cs typeface="Arial"/>
              </a:rPr>
              <a:t>Complete list</a:t>
            </a:r>
          </a:p>
        </p:txBody>
      </p:sp>
      <p:pic>
        <p:nvPicPr>
          <p:cNvPr id="7" name="Picture 6" descr="Screen shot 2011-07-18 at 12.03.52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048" y="409779"/>
            <a:ext cx="4146233" cy="643563"/>
          </a:xfrm>
          <a:prstGeom prst="rect">
            <a:avLst/>
          </a:prstGeom>
        </p:spPr>
      </p:pic>
      <p:pic>
        <p:nvPicPr>
          <p:cNvPr id="8" name="Picture 7" descr="Screen shot 2011-07-18 at 12.04.06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851" y="120256"/>
            <a:ext cx="5712860" cy="874210"/>
          </a:xfrm>
          <a:prstGeom prst="rect">
            <a:avLst/>
          </a:prstGeom>
        </p:spPr>
      </p:pic>
      <p:pic>
        <p:nvPicPr>
          <p:cNvPr id="9" name="Picture 8" descr="Screen shot 2011-07-18 at 12.05.35 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5752" y="1036520"/>
            <a:ext cx="139700" cy="2806700"/>
          </a:xfrm>
          <a:prstGeom prst="rect">
            <a:avLst/>
          </a:prstGeom>
        </p:spPr>
      </p:pic>
      <p:pic>
        <p:nvPicPr>
          <p:cNvPr id="10" name="Picture 9" descr="Screen shot 2011-07-18 at 12.05.35 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5752" y="3843220"/>
            <a:ext cx="139700" cy="280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76399" y="1053342"/>
            <a:ext cx="1142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/>
                <a:cs typeface="Arial"/>
              </a:rPr>
              <a:t>Seattle</a:t>
            </a:r>
            <a:endParaRPr lang="en-US" sz="2400" dirty="0">
              <a:latin typeface="Arial"/>
              <a:cs typeface="Arial"/>
            </a:endParaRPr>
          </a:p>
        </p:txBody>
      </p:sp>
      <p:pic>
        <p:nvPicPr>
          <p:cNvPr id="12" name="Picture 11" descr="Screen shot 2011-07-18 at 14.09.38 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548" y="1430896"/>
            <a:ext cx="6963503" cy="1365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03551" y="1428219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From </a:t>
            </a:r>
            <a:r>
              <a:rPr lang="en-US" sz="800" dirty="0" err="1" smtClean="0"/>
              <a:t>Wikidata</a:t>
            </a:r>
            <a:endParaRPr lang="en-US" sz="800" dirty="0"/>
          </a:p>
        </p:txBody>
      </p:sp>
      <p:sp>
        <p:nvSpPr>
          <p:cNvPr id="16" name="TextBox 15"/>
          <p:cNvSpPr txBox="1"/>
          <p:nvPr/>
        </p:nvSpPr>
        <p:spPr>
          <a:xfrm>
            <a:off x="3857725" y="2024833"/>
            <a:ext cx="4796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lang="en-US" sz="800" dirty="0" smtClean="0">
                <a:solidFill>
                  <a:srgbClr val="0000FF"/>
                </a:solidFill>
                <a:latin typeface="Arial"/>
                <a:cs typeface="Arial"/>
              </a:rPr>
              <a:t>dit </a:t>
            </a:r>
            <a:r>
              <a:rPr lang="en-US" sz="700" dirty="0">
                <a:solidFill>
                  <a:srgbClr val="0000FF"/>
                </a:solidFill>
                <a:latin typeface="Arial"/>
                <a:cs typeface="Arial"/>
              </a:rPr>
              <a:t>|</a:t>
            </a:r>
            <a:r>
              <a:rPr lang="en-US" sz="7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700" dirty="0" err="1" smtClean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endParaRPr lang="en-US" sz="8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187793" y="2382570"/>
          <a:ext cx="6752259" cy="407924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132171"/>
                <a:gridCol w="3596984"/>
                <a:gridCol w="102310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State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Washington</a:t>
                      </a:r>
                      <a:endParaRPr lang="en-US" sz="11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[3 sources]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Country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USA</a:t>
                      </a:r>
                      <a:endParaRPr lang="en-US" sz="11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[2</a:t>
                      </a:r>
                      <a:r>
                        <a:rPr lang="en-US" sz="800" baseline="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sources]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Population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608,660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[1</a:t>
                      </a:r>
                      <a:r>
                        <a:rPr lang="en-US" sz="800" baseline="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source]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600,000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[2 sources]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[other values]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Area code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206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[2</a:t>
                      </a:r>
                      <a:r>
                        <a:rPr lang="en-US" sz="800" baseline="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sources]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Mayor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Michael </a:t>
                      </a:r>
                      <a:r>
                        <a:rPr lang="en-US" sz="1100" dirty="0" err="1" smtClean="0">
                          <a:latin typeface="Arial"/>
                          <a:cs typeface="Arial"/>
                        </a:rPr>
                        <a:t>McGi</a:t>
                      </a:r>
                      <a:r>
                        <a:rPr lang="en-US" sz="1100" dirty="0" smtClean="0">
                          <a:latin typeface="Arial"/>
                          <a:cs typeface="Arial"/>
                        </a:rPr>
                        <a:t>|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[0</a:t>
                      </a:r>
                      <a:r>
                        <a:rPr lang="en-US" sz="800" baseline="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sources]</a:t>
                      </a:r>
                      <a:endParaRPr lang="en-US" sz="800" dirty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err="1" smtClean="0">
                          <a:latin typeface="Arial"/>
                          <a:cs typeface="Arial"/>
                        </a:rPr>
                        <a:t>Demonym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Seattleite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[1 source]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Area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369.2 km”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[2 sources]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Arial"/>
                          <a:cs typeface="Arial"/>
                        </a:rPr>
                        <a:t>Coordinates</a:t>
                      </a:r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[3 sources]</a:t>
                      </a:r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[new fact]</a:t>
                      </a:r>
                      <a:endParaRPr lang="en-US" sz="11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Arial"/>
                        <a:cs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rgbClr val="0000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337343" y="4635362"/>
            <a:ext cx="2735902" cy="222497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337343" y="4857859"/>
            <a:ext cx="2735902" cy="333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smtClean="0">
                <a:solidFill>
                  <a:schemeClr val="tx1"/>
                </a:solidFill>
                <a:latin typeface="Arial"/>
                <a:cs typeface="Arial"/>
              </a:rPr>
              <a:t>Michael </a:t>
            </a:r>
            <a:r>
              <a:rPr lang="en-US" sz="1100" b="1" dirty="0" err="1" smtClean="0">
                <a:solidFill>
                  <a:schemeClr val="tx1"/>
                </a:solidFill>
                <a:latin typeface="Arial"/>
                <a:cs typeface="Arial"/>
              </a:rPr>
              <a:t>McGillicutty</a:t>
            </a:r>
            <a:endParaRPr lang="en-US" sz="11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American professional wrestler</a:t>
            </a:r>
            <a:endParaRPr lang="en-US" sz="1050" i="1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37343" y="5195673"/>
            <a:ext cx="2735902" cy="3337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smtClean="0">
                <a:solidFill>
                  <a:schemeClr val="tx1"/>
                </a:solidFill>
                <a:latin typeface="Arial"/>
                <a:cs typeface="Arial"/>
              </a:rPr>
              <a:t>Michael </a:t>
            </a:r>
            <a:r>
              <a:rPr lang="en-US" sz="1100" b="1" dirty="0" err="1" smtClean="0">
                <a:solidFill>
                  <a:schemeClr val="tx1"/>
                </a:solidFill>
                <a:latin typeface="Arial"/>
                <a:cs typeface="Arial"/>
              </a:rPr>
              <a:t>McGimpsey</a:t>
            </a:r>
            <a:endParaRPr lang="en-US" sz="11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North Irish politician</a:t>
            </a:r>
            <a:endParaRPr lang="en-US" sz="1050" i="1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37343" y="5529418"/>
            <a:ext cx="2735902" cy="3337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smtClean="0">
                <a:solidFill>
                  <a:schemeClr val="tx1"/>
                </a:solidFill>
                <a:latin typeface="Arial"/>
                <a:cs typeface="Arial"/>
              </a:rPr>
              <a:t>Michael </a:t>
            </a:r>
            <a:r>
              <a:rPr lang="en-US" sz="1100" b="1" dirty="0" err="1" smtClean="0">
                <a:solidFill>
                  <a:schemeClr val="tx1"/>
                </a:solidFill>
                <a:latin typeface="Arial"/>
                <a:cs typeface="Arial"/>
              </a:rPr>
              <a:t>McGinn</a:t>
            </a:r>
            <a:endParaRPr lang="en-US" sz="11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US lawyer and politician</a:t>
            </a:r>
            <a:endParaRPr lang="en-US" sz="1050" i="1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37343" y="5863163"/>
            <a:ext cx="2735902" cy="3337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smtClean="0">
                <a:solidFill>
                  <a:schemeClr val="tx1"/>
                </a:solidFill>
                <a:latin typeface="Arial"/>
                <a:cs typeface="Arial"/>
              </a:rPr>
              <a:t>Michael </a:t>
            </a:r>
            <a:r>
              <a:rPr lang="en-US" sz="1100" b="1" dirty="0" err="1" smtClean="0">
                <a:solidFill>
                  <a:schemeClr val="tx1"/>
                </a:solidFill>
                <a:latin typeface="Arial"/>
                <a:cs typeface="Arial"/>
              </a:rPr>
              <a:t>McGinlay</a:t>
            </a:r>
            <a:endParaRPr lang="en-US" sz="11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Irish footballer</a:t>
            </a:r>
            <a:endParaRPr lang="en-US" sz="1050" i="1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337343" y="6196908"/>
            <a:ext cx="2735902" cy="3337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 smtClean="0">
                <a:solidFill>
                  <a:schemeClr val="tx1"/>
                </a:solidFill>
                <a:latin typeface="Arial"/>
                <a:cs typeface="Arial"/>
              </a:rPr>
              <a:t>Michael </a:t>
            </a:r>
            <a:r>
              <a:rPr lang="en-US" sz="1100" b="1" dirty="0" err="1" smtClean="0">
                <a:solidFill>
                  <a:schemeClr val="tx1"/>
                </a:solidFill>
                <a:latin typeface="Arial"/>
                <a:cs typeface="Arial"/>
              </a:rPr>
              <a:t>McGinn</a:t>
            </a:r>
            <a:endParaRPr lang="en-US" sz="1100" b="1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050" i="1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Scottish playwright</a:t>
            </a:r>
            <a:endParaRPr lang="en-US" sz="1050" i="1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37343" y="1689499"/>
            <a:ext cx="3642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rgbClr val="0000FF"/>
                </a:solidFill>
                <a:latin typeface="Arial"/>
                <a:cs typeface="Arial"/>
              </a:rPr>
              <a:t>edit </a:t>
            </a:r>
            <a:endParaRPr lang="en-US" sz="8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65379" y="1231317"/>
            <a:ext cx="3642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rgbClr val="0000FF"/>
                </a:solidFill>
                <a:latin typeface="Arial"/>
                <a:cs typeface="Arial"/>
              </a:rPr>
              <a:t>edit </a:t>
            </a:r>
            <a:endParaRPr lang="en-US" sz="800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9" name="Hexagon 28"/>
          <p:cNvSpPr/>
          <p:nvPr/>
        </p:nvSpPr>
        <p:spPr>
          <a:xfrm>
            <a:off x="279066" y="315578"/>
            <a:ext cx="1454306" cy="1195477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plan: 3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Phase 1: </a:t>
            </a:r>
            <a:r>
              <a:rPr lang="en-US" dirty="0" err="1" smtClean="0"/>
              <a:t>Interwiki</a:t>
            </a:r>
            <a:r>
              <a:rPr lang="en-US" dirty="0" smtClean="0"/>
              <a:t> links</a:t>
            </a:r>
          </a:p>
          <a:p>
            <a:endParaRPr lang="en-US" dirty="0" smtClean="0"/>
          </a:p>
          <a:p>
            <a:r>
              <a:rPr lang="en-US" dirty="0" smtClean="0"/>
              <a:t>Phase 2: </a:t>
            </a:r>
            <a:r>
              <a:rPr lang="en-US" dirty="0" err="1" smtClean="0"/>
              <a:t>Infobox</a:t>
            </a:r>
            <a:r>
              <a:rPr lang="en-US" dirty="0" smtClean="0"/>
              <a:t> augmentation</a:t>
            </a:r>
          </a:p>
          <a:p>
            <a:endParaRPr lang="en-US" dirty="0" smtClean="0"/>
          </a:p>
          <a:p>
            <a:r>
              <a:rPr lang="en-US" dirty="0" smtClean="0"/>
              <a:t>Phase 3: Inline queries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1: </a:t>
            </a:r>
            <a:r>
              <a:rPr lang="en-US" dirty="0" err="1" smtClean="0"/>
              <a:t>Interwiki</a:t>
            </a:r>
            <a:r>
              <a:rPr lang="en-US" dirty="0" smtClean="0"/>
              <a:t>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Current: every language links to every other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err="1" smtClean="0"/>
              <a:t>Wikidata</a:t>
            </a:r>
            <a:r>
              <a:rPr lang="en-US" dirty="0" smtClean="0"/>
              <a:t>: create one page for each entity, list representations in each language</a:t>
            </a:r>
          </a:p>
          <a:p>
            <a:endParaRPr lang="en-US" dirty="0" smtClean="0"/>
          </a:p>
          <a:p>
            <a:r>
              <a:rPr lang="en-US" dirty="0" smtClean="0"/>
              <a:t>Also have labels, aliases, and short descriptions</a:t>
            </a:r>
          </a:p>
          <a:p>
            <a:pPr lvl="1"/>
            <a:r>
              <a:rPr lang="en-US" dirty="0" smtClean="0"/>
              <a:t>Maybe external identifiers too?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err="1" smtClean="0"/>
              <a:t>Wikipedias</a:t>
            </a:r>
            <a:r>
              <a:rPr lang="en-US" dirty="0" smtClean="0"/>
              <a:t>: pull </a:t>
            </a:r>
            <a:r>
              <a:rPr lang="en-US" dirty="0" err="1" smtClean="0"/>
              <a:t>Interwiki</a:t>
            </a:r>
            <a:r>
              <a:rPr lang="en-US" dirty="0" smtClean="0"/>
              <a:t> links from </a:t>
            </a:r>
            <a:r>
              <a:rPr lang="en-US" dirty="0" err="1" smtClean="0"/>
              <a:t>Wikidata</a:t>
            </a:r>
            <a:r>
              <a:rPr lang="en-US" dirty="0" smtClean="0"/>
              <a:t> and display upon using magic word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2: </a:t>
            </a:r>
            <a:r>
              <a:rPr lang="en-US" dirty="0" err="1" smtClean="0"/>
              <a:t>Infobox</a:t>
            </a:r>
            <a:r>
              <a:rPr lang="en-US" dirty="0" smtClean="0"/>
              <a:t> augmentation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Current: each article calls an </a:t>
            </a:r>
            <a:r>
              <a:rPr lang="en-US" dirty="0" err="1" smtClean="0"/>
              <a:t>infobox</a:t>
            </a:r>
            <a:r>
              <a:rPr lang="en-US" dirty="0" smtClean="0"/>
              <a:t> with values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err="1" smtClean="0"/>
              <a:t>Wikidata</a:t>
            </a:r>
            <a:r>
              <a:rPr lang="en-US" dirty="0" smtClean="0"/>
              <a:t>: centralize the values</a:t>
            </a:r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err="1" smtClean="0"/>
              <a:t>Wikipedias</a:t>
            </a:r>
            <a:r>
              <a:rPr lang="en-US" dirty="0" smtClean="0"/>
              <a:t>: just call the </a:t>
            </a:r>
            <a:r>
              <a:rPr lang="en-US" dirty="0" err="1" smtClean="0"/>
              <a:t>infobox</a:t>
            </a:r>
            <a:r>
              <a:rPr lang="en-US" dirty="0" smtClean="0"/>
              <a:t> and populate it with values from </a:t>
            </a:r>
            <a:r>
              <a:rPr lang="en-US" dirty="0" err="1" smtClean="0"/>
              <a:t>Wikidata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each value, give the possibility to add sources</a:t>
            </a:r>
          </a:p>
          <a:p>
            <a:pPr lvl="1"/>
            <a:r>
              <a:rPr lang="en-US" dirty="0" smtClean="0"/>
              <a:t>Just like in </a:t>
            </a:r>
            <a:r>
              <a:rPr lang="en-US" dirty="0" err="1" smtClean="0"/>
              <a:t>Shortipedia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All still highly scalable (only lookups)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 3: Inline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 inline queries in </a:t>
            </a:r>
            <a:r>
              <a:rPr lang="en-US" dirty="0" err="1" smtClean="0"/>
              <a:t>Wikipedias</a:t>
            </a:r>
            <a:endParaRPr lang="en-US" dirty="0" smtClean="0"/>
          </a:p>
          <a:p>
            <a:pPr lvl="1"/>
            <a:r>
              <a:rPr lang="en-US" dirty="0" smtClean="0"/>
              <a:t>With several formats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WikiData</a:t>
            </a:r>
            <a:r>
              <a:rPr lang="en-US" dirty="0" smtClean="0"/>
              <a:t>: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Provide a database of the world’s knowledge that anyone can edit</a:t>
            </a:r>
          </a:p>
          <a:p>
            <a:endParaRPr lang="en-US" sz="2000" dirty="0" smtClean="0"/>
          </a:p>
          <a:p>
            <a:r>
              <a:rPr lang="en-US" sz="2000" dirty="0" smtClean="0"/>
              <a:t>Collect references and quotes for millions of data items</a:t>
            </a:r>
          </a:p>
          <a:p>
            <a:endParaRPr lang="en-US" sz="2000" dirty="0" smtClean="0"/>
          </a:p>
          <a:p>
            <a:r>
              <a:rPr lang="en-US" sz="2000" dirty="0" smtClean="0"/>
              <a:t>Engage a sustainable community that collects data from everywhere in a machine-readable way</a:t>
            </a:r>
          </a:p>
          <a:p>
            <a:endParaRPr lang="en-US" sz="2000" dirty="0" smtClean="0"/>
          </a:p>
          <a:p>
            <a:r>
              <a:rPr lang="en-US" sz="2000" dirty="0" smtClean="0"/>
              <a:t>Increase the quality and lower the maintenance costs of Wikipedia and related projects</a:t>
            </a:r>
          </a:p>
          <a:p>
            <a:endParaRPr lang="en-US" sz="2000" dirty="0" smtClean="0"/>
          </a:p>
          <a:p>
            <a:r>
              <a:rPr lang="en-US" sz="2000" dirty="0" smtClean="0"/>
              <a:t>Deliver software and community best practices enabling others to engage in projects of data collection and provisioning</a:t>
            </a:r>
          </a:p>
          <a:p>
            <a:pPr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Database of the world’s knowledge that anyone can edit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Facts about millions of entities</a:t>
            </a:r>
          </a:p>
          <a:p>
            <a:endParaRPr lang="en-US" dirty="0" smtClean="0"/>
          </a:p>
          <a:p>
            <a:r>
              <a:rPr lang="en-US" dirty="0" smtClean="0"/>
              <a:t>Collaboratively edited and maintained database</a:t>
            </a:r>
          </a:p>
          <a:p>
            <a:endParaRPr lang="en-US" dirty="0" smtClean="0"/>
          </a:p>
          <a:p>
            <a:r>
              <a:rPr lang="en-US" dirty="0" smtClean="0"/>
              <a:t>Read-write access for humans and bots</a:t>
            </a:r>
          </a:p>
          <a:p>
            <a:endParaRPr lang="en-US" dirty="0" smtClean="0"/>
          </a:p>
          <a:p>
            <a:r>
              <a:rPr lang="en-US" dirty="0" smtClean="0"/>
              <a:t>Data can be reused anywhere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Common vocabulary of entities for the Web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186859" y="3689518"/>
            <a:ext cx="3562990" cy="277225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Annotations of text with facts all over the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single fact can be given a reference to text on the Web</a:t>
            </a:r>
          </a:p>
          <a:p>
            <a:r>
              <a:rPr lang="en-US" dirty="0" smtClean="0"/>
              <a:t>Incentive: maintaining the validity of the references</a:t>
            </a:r>
          </a:p>
          <a:p>
            <a:r>
              <a:rPr lang="en-US" dirty="0" smtClean="0"/>
              <a:t>Can be used for training and validating text understanding in several languages</a:t>
            </a:r>
          </a:p>
          <a:p>
            <a:r>
              <a:rPr lang="en-US" dirty="0" smtClean="0"/>
              <a:t>Can be automatically learned from reading the text and validated by humans</a:t>
            </a:r>
            <a:endParaRPr lang="en-US" dirty="0"/>
          </a:p>
        </p:txBody>
      </p:sp>
      <p:pic>
        <p:nvPicPr>
          <p:cNvPr id="4" name="Picture 3" descr="Screen shot 2011-07-07 at 15.36.45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849" y="3676226"/>
            <a:ext cx="7393470" cy="43539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15646" y="4277802"/>
            <a:ext cx="1210015" cy="121001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Starbucks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336167" y="4882810"/>
            <a:ext cx="1210015" cy="121001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Seattle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5" idx="5"/>
          </p:cNvCxnSpPr>
          <p:nvPr/>
        </p:nvCxnSpPr>
        <p:spPr>
          <a:xfrm rot="16200000" flipH="1">
            <a:off x="1703711" y="4855360"/>
            <a:ext cx="177203" cy="10877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566762">
            <a:off x="1341804" y="5152111"/>
            <a:ext cx="9547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Founded in</a:t>
            </a:r>
            <a:endParaRPr lang="en-US" sz="1200" dirty="0"/>
          </a:p>
        </p:txBody>
      </p:sp>
      <p:cxnSp>
        <p:nvCxnSpPr>
          <p:cNvPr id="12" name="Straight Arrow Connector 11"/>
          <p:cNvCxnSpPr>
            <a:stCxn id="10" idx="5"/>
          </p:cNvCxnSpPr>
          <p:nvPr/>
        </p:nvCxnSpPr>
        <p:spPr>
          <a:xfrm rot="16200000" flipH="1">
            <a:off x="4312120" y="4971727"/>
            <a:ext cx="258545" cy="24266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Sustainable community with clear incentives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Additional extrinsic motivation through improving Wikipedia</a:t>
            </a:r>
          </a:p>
          <a:p>
            <a:endParaRPr lang="en-US" dirty="0" smtClean="0"/>
          </a:p>
          <a:p>
            <a:r>
              <a:rPr lang="en-US" dirty="0" smtClean="0"/>
              <a:t>Build on interest of working Wikipedia communities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Some tasks accessible to game mechanisms and </a:t>
            </a:r>
            <a:r>
              <a:rPr lang="en-US" i="1" dirty="0" smtClean="0"/>
              <a:t>‘casual </a:t>
            </a:r>
            <a:r>
              <a:rPr lang="en-US" i="1" dirty="0" err="1" smtClean="0"/>
              <a:t>encyclopeding</a:t>
            </a:r>
            <a:r>
              <a:rPr lang="en-US" i="1" dirty="0" smtClean="0"/>
              <a:t>’</a:t>
            </a:r>
            <a:endParaRPr lang="en-US" dirty="0" smtClean="0"/>
          </a:p>
          <a:p>
            <a:endParaRPr lang="en-US" i="1" dirty="0" smtClean="0"/>
          </a:p>
          <a:p>
            <a:r>
              <a:rPr lang="en-US" dirty="0" smtClean="0"/>
              <a:t>Heterogeneous tasks available for contributors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Increase the quality and lower the maintenance costs of Wikipedia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WikiData</a:t>
            </a:r>
            <a:r>
              <a:rPr lang="en-US" dirty="0" smtClean="0"/>
              <a:t> replaces a lot of manual or </a:t>
            </a:r>
            <a:r>
              <a:rPr lang="en-US" dirty="0" err="1" smtClean="0"/>
              <a:t>bot</a:t>
            </a:r>
            <a:r>
              <a:rPr lang="en-US" dirty="0" smtClean="0"/>
              <a:t> effort</a:t>
            </a:r>
          </a:p>
          <a:p>
            <a:pPr lvl="1"/>
            <a:r>
              <a:rPr lang="en-US" dirty="0" smtClean="0"/>
              <a:t>Centralizing </a:t>
            </a:r>
            <a:r>
              <a:rPr lang="en-US" dirty="0" err="1" smtClean="0"/>
              <a:t>interwiki</a:t>
            </a:r>
            <a:r>
              <a:rPr lang="en-US" dirty="0" smtClean="0"/>
              <a:t> link decreases current quadratic costs to linear</a:t>
            </a:r>
          </a:p>
          <a:p>
            <a:pPr lvl="1"/>
            <a:r>
              <a:rPr lang="en-US" dirty="0" smtClean="0"/>
              <a:t>Centralizing </a:t>
            </a:r>
            <a:r>
              <a:rPr lang="en-US" dirty="0" err="1" smtClean="0"/>
              <a:t>infobox</a:t>
            </a:r>
            <a:r>
              <a:rPr lang="en-US" dirty="0" smtClean="0"/>
              <a:t> maintenance decreases current linear costs to constant</a:t>
            </a:r>
          </a:p>
          <a:p>
            <a:pPr lvl="1"/>
            <a:r>
              <a:rPr lang="en-US" dirty="0" smtClean="0"/>
              <a:t>Centralizing </a:t>
            </a:r>
            <a:r>
              <a:rPr lang="en-US" dirty="0" err="1" smtClean="0"/>
              <a:t>infobox</a:t>
            </a:r>
            <a:r>
              <a:rPr lang="en-US" dirty="0" smtClean="0"/>
              <a:t> maintenance also decouples language capabilities from data maintenance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Make Wikipedia more attractive by including more data and visualizations</a:t>
            </a:r>
          </a:p>
          <a:p>
            <a:pPr lvl="1"/>
            <a:r>
              <a:rPr lang="en-US" dirty="0" smtClean="0"/>
              <a:t>Removes argument ‘who will maintain this visualization?’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Enable automatic creation of millions of stubs in more than 100 languages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Provide software, experience, and example for similar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WikiData</a:t>
            </a:r>
            <a:r>
              <a:rPr lang="en-US" dirty="0" smtClean="0"/>
              <a:t> will not be the only data gathering community</a:t>
            </a:r>
          </a:p>
          <a:p>
            <a:endParaRPr lang="en-US" dirty="0" smtClean="0"/>
          </a:p>
          <a:p>
            <a:r>
              <a:rPr lang="en-US" dirty="0" smtClean="0"/>
              <a:t>Provide software used on </a:t>
            </a:r>
            <a:r>
              <a:rPr lang="en-US" dirty="0" err="1" smtClean="0"/>
              <a:t>WikiData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Share experience about managing such a project</a:t>
            </a:r>
          </a:p>
          <a:p>
            <a:endParaRPr lang="en-US" dirty="0" smtClean="0"/>
          </a:p>
          <a:p>
            <a:r>
              <a:rPr lang="en-US" dirty="0" smtClean="0"/>
              <a:t>Encourage other communities to create new bold projects for knowledge acquisition</a:t>
            </a:r>
          </a:p>
          <a:p>
            <a:pPr lvl="1"/>
            <a:r>
              <a:rPr lang="en-US" dirty="0" smtClean="0"/>
              <a:t>in research</a:t>
            </a:r>
          </a:p>
          <a:p>
            <a:pPr lvl="1"/>
            <a:r>
              <a:rPr lang="en-US" dirty="0" smtClean="0"/>
              <a:t>in enterprises</a:t>
            </a:r>
          </a:p>
          <a:p>
            <a:pPr lvl="1"/>
            <a:r>
              <a:rPr lang="en-US" dirty="0" smtClean="0"/>
              <a:t>in culture</a:t>
            </a:r>
          </a:p>
          <a:p>
            <a:pPr lvl="1"/>
            <a:r>
              <a:rPr lang="en-US" dirty="0" smtClean="0"/>
              <a:t>in hobbies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39821" y="4252177"/>
            <a:ext cx="1918877" cy="10906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MediaWiki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45188" y="3865626"/>
            <a:ext cx="3713510" cy="3037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Semantic </a:t>
            </a:r>
            <a:r>
              <a:rPr lang="en-US" dirty="0" err="1" smtClean="0"/>
              <a:t>MediaWiki</a:t>
            </a:r>
            <a:endParaRPr lang="en-US" dirty="0"/>
          </a:p>
        </p:txBody>
      </p:sp>
      <p:sp>
        <p:nvSpPr>
          <p:cNvPr id="6" name="Can 5"/>
          <p:cNvSpPr/>
          <p:nvPr/>
        </p:nvSpPr>
        <p:spPr>
          <a:xfrm>
            <a:off x="2645187" y="4252177"/>
            <a:ext cx="1573756" cy="1090653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backend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45188" y="3465265"/>
            <a:ext cx="3713510" cy="3175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WikiData</a:t>
            </a:r>
            <a:r>
              <a:rPr lang="en-US" dirty="0" smtClean="0"/>
              <a:t> extension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25970" y="5425662"/>
            <a:ext cx="6032728" cy="7455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Wikimedia Foundation infrastructure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19239" y="1339147"/>
            <a:ext cx="1780828" cy="635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Browser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25971" y="4252177"/>
            <a:ext cx="1918877" cy="109065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MediaWiki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25970" y="3465264"/>
            <a:ext cx="1918877" cy="7040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WikiData</a:t>
            </a:r>
            <a:r>
              <a:rPr lang="en-US" dirty="0" smtClean="0"/>
              <a:t> client</a:t>
            </a:r>
            <a:endParaRPr lang="en-US" dirty="0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849003" y="2609586"/>
          <a:ext cx="872814" cy="841873"/>
        </p:xfrm>
        <a:graphic>
          <a:graphicData uri="http://schemas.openxmlformats.org/presentationml/2006/ole">
            <p:oleObj spid="_x0000_s26626" name="Bitmap" r:id="rId3" imgW="8183117" imgH="7895238" progId="">
              <p:embed/>
            </p:oleObj>
          </a:graphicData>
        </a:graphic>
      </p:graphicFrame>
      <p:sp>
        <p:nvSpPr>
          <p:cNvPr id="17" name="Rectangle 16"/>
          <p:cNvSpPr/>
          <p:nvPr/>
        </p:nvSpPr>
        <p:spPr>
          <a:xfrm>
            <a:off x="6930591" y="3465264"/>
            <a:ext cx="1918877" cy="27059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External</a:t>
            </a:r>
          </a:p>
          <a:p>
            <a:pPr algn="ctr"/>
            <a:r>
              <a:rPr lang="en-US" dirty="0" smtClean="0"/>
              <a:t>website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2410505" y="1339148"/>
            <a:ext cx="1780828" cy="635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Browser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7179081" y="1339148"/>
            <a:ext cx="1780828" cy="635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Browser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4901275" y="1339148"/>
            <a:ext cx="1780828" cy="635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3812341" y="538952"/>
            <a:ext cx="1780828" cy="63506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</a:t>
            </a:r>
            <a:endParaRPr lang="en-US" dirty="0"/>
          </a:p>
        </p:txBody>
      </p:sp>
      <p:cxnSp>
        <p:nvCxnSpPr>
          <p:cNvPr id="24" name="Straight Arrow Connector 23"/>
          <p:cNvCxnSpPr>
            <a:stCxn id="9" idx="2"/>
          </p:cNvCxnSpPr>
          <p:nvPr/>
        </p:nvCxnSpPr>
        <p:spPr>
          <a:xfrm rot="16200000" flipH="1">
            <a:off x="932544" y="2451319"/>
            <a:ext cx="1491055" cy="5368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27" name="Straight Arrow Connector 26"/>
          <p:cNvCxnSpPr>
            <a:endCxn id="7" idx="1"/>
          </p:cNvCxnSpPr>
          <p:nvPr/>
        </p:nvCxnSpPr>
        <p:spPr>
          <a:xfrm flipV="1">
            <a:off x="2244848" y="3624027"/>
            <a:ext cx="4003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29" name="Straight Arrow Connector 28"/>
          <p:cNvCxnSpPr>
            <a:endCxn id="7" idx="3"/>
          </p:cNvCxnSpPr>
          <p:nvPr/>
        </p:nvCxnSpPr>
        <p:spPr>
          <a:xfrm rot="10800000">
            <a:off x="6358699" y="3624027"/>
            <a:ext cx="57189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31" name="Straight Arrow Connector 30"/>
          <p:cNvCxnSpPr>
            <a:stCxn id="20" idx="2"/>
          </p:cNvCxnSpPr>
          <p:nvPr/>
        </p:nvCxnSpPr>
        <p:spPr>
          <a:xfrm rot="16200000" flipH="1">
            <a:off x="7424733" y="2618973"/>
            <a:ext cx="1491058" cy="201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4701593" y="2573690"/>
            <a:ext cx="1491055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35" name="Straight Arrow Connector 34"/>
          <p:cNvCxnSpPr>
            <a:stCxn id="22" idx="2"/>
          </p:cNvCxnSpPr>
          <p:nvPr/>
        </p:nvCxnSpPr>
        <p:spPr>
          <a:xfrm rot="16200000" flipH="1">
            <a:off x="3745848" y="2130922"/>
            <a:ext cx="2291250" cy="3774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cxnSp>
        <p:nvCxnSpPr>
          <p:cNvPr id="37" name="Straight Arrow Connector 36"/>
          <p:cNvCxnSpPr>
            <a:stCxn id="19" idx="2"/>
          </p:cNvCxnSpPr>
          <p:nvPr/>
        </p:nvCxnSpPr>
        <p:spPr>
          <a:xfrm rot="16200000" flipH="1">
            <a:off x="2811102" y="2464029"/>
            <a:ext cx="1491056" cy="5114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differences to SMW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Annotate statements</a:t>
            </a:r>
          </a:p>
          <a:p>
            <a:pPr lvl="1"/>
            <a:r>
              <a:rPr lang="en-US" dirty="0" smtClean="0"/>
              <a:t>With sources</a:t>
            </a:r>
          </a:p>
          <a:p>
            <a:pPr lvl="1"/>
            <a:r>
              <a:rPr lang="en-US" dirty="0" smtClean="0"/>
              <a:t>With context (most important, time)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No free text</a:t>
            </a:r>
          </a:p>
          <a:p>
            <a:endParaRPr lang="en-US" dirty="0" smtClean="0"/>
          </a:p>
          <a:p>
            <a:r>
              <a:rPr lang="en-US" dirty="0" smtClean="0"/>
              <a:t>Save </a:t>
            </a:r>
            <a:r>
              <a:rPr lang="en-US" dirty="0" smtClean="0"/>
              <a:t>directly as structure instead of </a:t>
            </a:r>
            <a:r>
              <a:rPr lang="en-US" dirty="0" err="1" smtClean="0"/>
              <a:t>wikitext</a:t>
            </a:r>
            <a:endParaRPr lang="en-US" dirty="0" smtClean="0"/>
          </a:p>
          <a:p>
            <a:pPr lvl="1"/>
            <a:r>
              <a:rPr lang="en-US" dirty="0" smtClean="0"/>
              <a:t>Probably save JSON first instead of </a:t>
            </a:r>
            <a:r>
              <a:rPr lang="en-US" dirty="0" err="1" smtClean="0"/>
              <a:t>wikitext</a:t>
            </a:r>
            <a:r>
              <a:rPr lang="en-US" dirty="0" smtClean="0"/>
              <a:t> content</a:t>
            </a:r>
          </a:p>
          <a:p>
            <a:endParaRPr lang="en-US" dirty="0" smtClean="0"/>
          </a:p>
          <a:p>
            <a:r>
              <a:rPr lang="en-US" dirty="0" smtClean="0"/>
              <a:t>Back end to save and scalable query the data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Clear incentives structure per phase /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/>
              <a:t>Phase 1: </a:t>
            </a:r>
            <a:r>
              <a:rPr lang="en-US" sz="2000" dirty="0" err="1" smtClean="0"/>
              <a:t>Interwiki</a:t>
            </a:r>
            <a:r>
              <a:rPr lang="en-US" sz="2000" dirty="0" smtClean="0"/>
              <a:t> links</a:t>
            </a:r>
          </a:p>
          <a:p>
            <a:pPr lvl="1"/>
            <a:r>
              <a:rPr lang="en-US" sz="1800" dirty="0" err="1" smtClean="0"/>
              <a:t>Wikipedians</a:t>
            </a:r>
            <a:r>
              <a:rPr lang="en-US" sz="1800" dirty="0" smtClean="0"/>
              <a:t> are not creating abstract </a:t>
            </a:r>
            <a:r>
              <a:rPr lang="en-US" sz="1800" dirty="0" err="1" smtClean="0"/>
              <a:t>entites</a:t>
            </a:r>
            <a:endParaRPr lang="en-US" sz="1800" dirty="0" smtClean="0"/>
          </a:p>
          <a:p>
            <a:pPr lvl="1"/>
            <a:r>
              <a:rPr lang="en-US" sz="1800" dirty="0" smtClean="0"/>
              <a:t>Replace current quadratic cost </a:t>
            </a:r>
            <a:r>
              <a:rPr lang="en-US" sz="1800" dirty="0" err="1" smtClean="0"/>
              <a:t>interwiki</a:t>
            </a:r>
            <a:r>
              <a:rPr lang="en-US" sz="1800" dirty="0" smtClean="0"/>
              <a:t> system with linear cost</a:t>
            </a:r>
          </a:p>
          <a:p>
            <a:pPr lvl="1">
              <a:buNone/>
            </a:pPr>
            <a:endParaRPr lang="en-US" sz="1800" dirty="0" smtClean="0"/>
          </a:p>
          <a:p>
            <a:r>
              <a:rPr lang="en-US" sz="2000" dirty="0" smtClean="0"/>
              <a:t>Phase 2: </a:t>
            </a:r>
            <a:r>
              <a:rPr lang="en-US" sz="2000" dirty="0" err="1" smtClean="0"/>
              <a:t>Infoboxes</a:t>
            </a:r>
            <a:endParaRPr lang="en-US" sz="2000" dirty="0" smtClean="0"/>
          </a:p>
          <a:p>
            <a:pPr lvl="1"/>
            <a:r>
              <a:rPr lang="en-US" sz="1800" dirty="0" err="1" smtClean="0"/>
              <a:t>Wikipedians</a:t>
            </a:r>
            <a:r>
              <a:rPr lang="en-US" sz="1800" dirty="0" smtClean="0"/>
              <a:t> do not gather data aimlessly</a:t>
            </a:r>
          </a:p>
          <a:p>
            <a:pPr lvl="1"/>
            <a:r>
              <a:rPr lang="en-US" sz="1800" dirty="0" smtClean="0"/>
              <a:t>Replacing current (horrible!) templates in many articles</a:t>
            </a:r>
          </a:p>
          <a:p>
            <a:pPr lvl="1"/>
            <a:r>
              <a:rPr lang="en-US" sz="1800" dirty="0" smtClean="0"/>
              <a:t>Increase consistency, decrease maintenance costs</a:t>
            </a:r>
          </a:p>
          <a:p>
            <a:pPr lvl="1"/>
            <a:r>
              <a:rPr lang="en-US" sz="1800" dirty="0" smtClean="0"/>
              <a:t>Provide sources for all facts in order to ensure quality</a:t>
            </a:r>
          </a:p>
          <a:p>
            <a:pPr lvl="1"/>
            <a:r>
              <a:rPr lang="en-US" sz="1800" dirty="0" smtClean="0"/>
              <a:t>Informative stubs for 100,000s of articles in over 100 languages</a:t>
            </a:r>
          </a:p>
          <a:p>
            <a:pPr lvl="1"/>
            <a:endParaRPr lang="en-US" sz="1800" dirty="0" smtClean="0"/>
          </a:p>
          <a:p>
            <a:r>
              <a:rPr lang="en-US" sz="2000" dirty="0" smtClean="0"/>
              <a:t>Phase 3: Inline queries</a:t>
            </a:r>
          </a:p>
          <a:p>
            <a:pPr lvl="1"/>
            <a:r>
              <a:rPr lang="en-US" sz="1800" dirty="0" smtClean="0"/>
              <a:t>Enable attractive visualizations of data</a:t>
            </a:r>
          </a:p>
          <a:p>
            <a:pPr lvl="1"/>
            <a:r>
              <a:rPr lang="en-US" sz="1800" dirty="0" smtClean="0"/>
              <a:t>Not only in Wikipedia, but anywhere!</a:t>
            </a:r>
          </a:p>
          <a:p>
            <a:pPr lvl="1"/>
            <a:r>
              <a:rPr lang="en-US" sz="1800" dirty="0" smtClean="0"/>
              <a:t>Gather data for specific sets of interest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br>
              <a:rPr lang="en-US" dirty="0" smtClean="0"/>
            </a:br>
            <a:r>
              <a:rPr lang="en-US" dirty="0" smtClean="0"/>
              <a:t>Questions and discussions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http://meta.wikipedia.org/</a:t>
            </a:r>
            <a:r>
              <a:rPr lang="en-US" smtClean="0">
                <a:hlinkClick r:id="rId2"/>
              </a:rPr>
              <a:t>wiki/New_Wikidata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IT_master_ppt2003_e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D9D9D9"/>
      </a:lt2>
      <a:accent1>
        <a:srgbClr val="009682"/>
      </a:accent1>
      <a:accent2>
        <a:srgbClr val="4664AA"/>
      </a:accent2>
      <a:accent3>
        <a:srgbClr val="FFFFFF"/>
      </a:accent3>
      <a:accent4>
        <a:srgbClr val="000000"/>
      </a:accent4>
      <a:accent5>
        <a:srgbClr val="AAC9C1"/>
      </a:accent5>
      <a:accent6>
        <a:srgbClr val="3F5A9A"/>
      </a:accent6>
      <a:hlink>
        <a:srgbClr val="808080"/>
      </a:hlink>
      <a:folHlink>
        <a:srgbClr val="7D92C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D9D9D9"/>
        </a:lt2>
        <a:accent1>
          <a:srgbClr val="009682"/>
        </a:accent1>
        <a:accent2>
          <a:srgbClr val="4664AA"/>
        </a:accent2>
        <a:accent3>
          <a:srgbClr val="FFFFFF"/>
        </a:accent3>
        <a:accent4>
          <a:srgbClr val="000000"/>
        </a:accent4>
        <a:accent5>
          <a:srgbClr val="AAC9C1"/>
        </a:accent5>
        <a:accent6>
          <a:srgbClr val="3F5A9A"/>
        </a:accent6>
        <a:hlink>
          <a:srgbClr val="808080"/>
        </a:hlink>
        <a:folHlink>
          <a:srgbClr val="7D92C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2128</TotalTime>
  <Words>836</Words>
  <Application>Microsoft Macintosh PowerPoint</Application>
  <PresentationFormat>On-screen Show (4:3)</PresentationFormat>
  <Paragraphs>218</Paragraphs>
  <Slides>26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KIT_master_ppt2003_en</vt:lpstr>
      <vt:lpstr>Bitmap</vt:lpstr>
      <vt:lpstr>Towards a Semantic Wikipedia: WikiData</vt:lpstr>
      <vt:lpstr>Wikimania 2005</vt:lpstr>
      <vt:lpstr>Wikidata</vt:lpstr>
      <vt:lpstr>WikiData</vt:lpstr>
      <vt:lpstr>WHAT</vt:lpstr>
      <vt:lpstr>Slide 6</vt:lpstr>
      <vt:lpstr>Slide 7</vt:lpstr>
      <vt:lpstr>Slide 8</vt:lpstr>
      <vt:lpstr>Slide 9</vt:lpstr>
      <vt:lpstr>Slide 10</vt:lpstr>
      <vt:lpstr>Project plan: 3 phases</vt:lpstr>
      <vt:lpstr>Phase 1: Interwiki links</vt:lpstr>
      <vt:lpstr>Phase 2: Infobox augmentation</vt:lpstr>
      <vt:lpstr>Phase 3: Inline queries</vt:lpstr>
      <vt:lpstr>Why</vt:lpstr>
      <vt:lpstr>WikiData: Goals</vt:lpstr>
      <vt:lpstr>Database of the world’s knowledge that anyone can edit</vt:lpstr>
      <vt:lpstr>Annotations of text with facts all over the Web</vt:lpstr>
      <vt:lpstr>Sustainable community with clear incentives</vt:lpstr>
      <vt:lpstr>Increase the quality and lower the maintenance costs of Wikipedia</vt:lpstr>
      <vt:lpstr>Provide software, experience, and example for similar projects</vt:lpstr>
      <vt:lpstr>How</vt:lpstr>
      <vt:lpstr>Software architecture</vt:lpstr>
      <vt:lpstr>Technical differences to SMW</vt:lpstr>
      <vt:lpstr>Clear incentives structure per phase / task</vt:lpstr>
      <vt:lpstr>Thank you! Questions and discussions</vt:lpstr>
    </vt:vector>
  </TitlesOfParts>
  <Company>AIFB, Universität Karlsruhe (TH)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WikiData</dc:title>
  <dc:creator>Denny Vrandecic</dc:creator>
  <cp:lastModifiedBy>Denny Vrandecic</cp:lastModifiedBy>
  <cp:revision>20</cp:revision>
  <dcterms:created xsi:type="dcterms:W3CDTF">2011-09-21T21:11:43Z</dcterms:created>
  <dcterms:modified xsi:type="dcterms:W3CDTF">2011-09-21T21:14:46Z</dcterms:modified>
</cp:coreProperties>
</file>