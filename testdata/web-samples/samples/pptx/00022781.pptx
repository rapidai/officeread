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67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notesSlides/notesSlide68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tags/tag1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Default Extension="vml" ContentType="application/vnd.openxmlformats-officedocument.vmlDrawing"/>
  <Override PartName="/ppt/tags/tag13.xml" ContentType="application/vnd.openxmlformats-officedocument.presentationml.tags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notesSlides/notesSlide6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wmf" ContentType="image/x-wmf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tags/tag3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tags/tag1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2"/>
  </p:notesMasterIdLst>
  <p:handoutMasterIdLst>
    <p:handoutMasterId r:id="rId73"/>
  </p:handoutMasterIdLst>
  <p:sldIdLst>
    <p:sldId id="256" r:id="rId2"/>
    <p:sldId id="378" r:id="rId3"/>
    <p:sldId id="364" r:id="rId4"/>
    <p:sldId id="257" r:id="rId5"/>
    <p:sldId id="366" r:id="rId6"/>
    <p:sldId id="282" r:id="rId7"/>
    <p:sldId id="381" r:id="rId8"/>
    <p:sldId id="326" r:id="rId9"/>
    <p:sldId id="327" r:id="rId10"/>
    <p:sldId id="328" r:id="rId11"/>
    <p:sldId id="330" r:id="rId12"/>
    <p:sldId id="382" r:id="rId13"/>
    <p:sldId id="301" r:id="rId14"/>
    <p:sldId id="302" r:id="rId15"/>
    <p:sldId id="304" r:id="rId16"/>
    <p:sldId id="368" r:id="rId17"/>
    <p:sldId id="388" r:id="rId18"/>
    <p:sldId id="369" r:id="rId19"/>
    <p:sldId id="305" r:id="rId20"/>
    <p:sldId id="306" r:id="rId21"/>
    <p:sldId id="307" r:id="rId22"/>
    <p:sldId id="315" r:id="rId23"/>
    <p:sldId id="363" r:id="rId24"/>
    <p:sldId id="334" r:id="rId25"/>
    <p:sldId id="335" r:id="rId26"/>
    <p:sldId id="338" r:id="rId27"/>
    <p:sldId id="340" r:id="rId28"/>
    <p:sldId id="343" r:id="rId29"/>
    <p:sldId id="355" r:id="rId30"/>
    <p:sldId id="274" r:id="rId31"/>
    <p:sldId id="341" r:id="rId32"/>
    <p:sldId id="275" r:id="rId33"/>
    <p:sldId id="316" r:id="rId34"/>
    <p:sldId id="318" r:id="rId35"/>
    <p:sldId id="351" r:id="rId36"/>
    <p:sldId id="352" r:id="rId37"/>
    <p:sldId id="353" r:id="rId38"/>
    <p:sldId id="276" r:id="rId39"/>
    <p:sldId id="361" r:id="rId40"/>
    <p:sldId id="348" r:id="rId41"/>
    <p:sldId id="284" r:id="rId42"/>
    <p:sldId id="354" r:id="rId43"/>
    <p:sldId id="374" r:id="rId44"/>
    <p:sldId id="311" r:id="rId45"/>
    <p:sldId id="293" r:id="rId46"/>
    <p:sldId id="294" r:id="rId47"/>
    <p:sldId id="384" r:id="rId48"/>
    <p:sldId id="295" r:id="rId49"/>
    <p:sldId id="296" r:id="rId50"/>
    <p:sldId id="297" r:id="rId51"/>
    <p:sldId id="298" r:id="rId52"/>
    <p:sldId id="375" r:id="rId53"/>
    <p:sldId id="358" r:id="rId54"/>
    <p:sldId id="357" r:id="rId55"/>
    <p:sldId id="359" r:id="rId56"/>
    <p:sldId id="280" r:id="rId57"/>
    <p:sldId id="371" r:id="rId58"/>
    <p:sldId id="376" r:id="rId59"/>
    <p:sldId id="312" r:id="rId60"/>
    <p:sldId id="367" r:id="rId61"/>
    <p:sldId id="385" r:id="rId62"/>
    <p:sldId id="386" r:id="rId63"/>
    <p:sldId id="387" r:id="rId64"/>
    <p:sldId id="322" r:id="rId65"/>
    <p:sldId id="290" r:id="rId66"/>
    <p:sldId id="313" r:id="rId67"/>
    <p:sldId id="360" r:id="rId68"/>
    <p:sldId id="350" r:id="rId69"/>
    <p:sldId id="349" r:id="rId70"/>
    <p:sldId id="389" r:id="rId71"/>
  </p:sldIdLst>
  <p:sldSz cx="9144000" cy="6858000" type="screen4x3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FFFF9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showOutlineIcons="0">
    <p:restoredLeft sz="15157" autoAdjust="0"/>
    <p:restoredTop sz="89519" autoAdjust="0"/>
  </p:normalViewPr>
  <p:slideViewPr>
    <p:cSldViewPr>
      <p:cViewPr varScale="1">
        <p:scale>
          <a:sx n="70" d="100"/>
          <a:sy n="70" d="100"/>
        </p:scale>
        <p:origin x="-117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472" y="-84"/>
      </p:cViewPr>
      <p:guideLst>
        <p:guide orient="horz" pos="2924"/>
        <p:guide pos="22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8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3744" y="0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r">
              <a:defRPr sz="1200" smtClean="0"/>
            </a:lvl1pPr>
          </a:lstStyle>
          <a:p>
            <a:pPr>
              <a:defRPr/>
            </a:pPr>
            <a:fld id="{5E0A5A5B-0518-4A12-A31A-8B7CF6EB0686}" type="datetimeFigureOut">
              <a:rPr lang="en-US"/>
              <a:pPr>
                <a:defRPr/>
              </a:pPr>
              <a:t>9/2/2008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17904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3744" y="8817904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01ACBF1B-4639-4168-9A24-7A71EB2108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3744" y="0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605A431-CEFD-433D-AC6F-A44D5AEBB155}" type="datetimeFigureOut">
              <a:rPr lang="en-US"/>
              <a:pPr>
                <a:defRPr/>
              </a:pPr>
              <a:t>9/2/2008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31" tIns="46516" rIns="93031" bIns="4651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9770" y="4409758"/>
            <a:ext cx="5598160" cy="4177665"/>
          </a:xfrm>
          <a:prstGeom prst="rect">
            <a:avLst/>
          </a:prstGeom>
        </p:spPr>
        <p:txBody>
          <a:bodyPr vert="horz" lIns="93031" tIns="46516" rIns="93031" bIns="46516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3744" y="8817904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9ED6C39-7021-432D-B7CC-3B3D7BF9D8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  <p:sp>
        <p:nvSpPr>
          <p:cNvPr id="737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2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  <p:sp>
        <p:nvSpPr>
          <p:cNvPr id="74755" name="Rectangle 7"/>
          <p:cNvSpPr txBox="1">
            <a:spLocks noGrp="1" noChangeArrowheads="1"/>
          </p:cNvSpPr>
          <p:nvPr/>
        </p:nvSpPr>
        <p:spPr bwMode="auto">
          <a:xfrm>
            <a:off x="3963744" y="8817904"/>
            <a:ext cx="3032337" cy="46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31" tIns="46516" rIns="93031" bIns="46516" anchor="b"/>
          <a:lstStyle/>
          <a:p>
            <a:pPr algn="r"/>
            <a:endParaRPr lang="en-US" dirty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  <p:sp>
        <p:nvSpPr>
          <p:cNvPr id="76803" name="Rectangle 7"/>
          <p:cNvSpPr txBox="1">
            <a:spLocks noGrp="1" noChangeArrowheads="1"/>
          </p:cNvSpPr>
          <p:nvPr/>
        </p:nvSpPr>
        <p:spPr bwMode="auto">
          <a:xfrm>
            <a:off x="3963744" y="8817904"/>
            <a:ext cx="3032337" cy="46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31" tIns="46516" rIns="93031" bIns="46516" anchor="b"/>
          <a:lstStyle/>
          <a:p>
            <a:pPr algn="r"/>
            <a:endParaRPr lang="en-US" dirty="0"/>
          </a:p>
        </p:txBody>
      </p:sp>
      <p:sp>
        <p:nvSpPr>
          <p:cNvPr id="768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3027" y="4409758"/>
            <a:ext cx="5131647" cy="417766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  <p:sp>
        <p:nvSpPr>
          <p:cNvPr id="788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2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3027" y="4409758"/>
            <a:ext cx="5131647" cy="417766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3027" y="4409758"/>
            <a:ext cx="5131647" cy="417766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</p:txBody>
      </p:sp>
      <p:sp>
        <p:nvSpPr>
          <p:cNvPr id="870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4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B9BBF-818B-4A40-A710-0E8AE50D86CD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19079-A05F-4A8C-B0A6-C44CDBEDDC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5FE2C-17F9-403A-8077-A7979331121D}" type="datetime1">
              <a:rPr lang="en-US" smtClean="0"/>
              <a:pPr>
                <a:defRPr/>
              </a:pPr>
              <a:t>9/2/2008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Tutorial on Systems Aspects of Probabilistic Databases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AC1EF-D0D6-44C0-B3DC-DAF19AFE11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B981C5-7EFB-4DC3-ACEA-ECFBF64C1282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55E42-D462-4803-B359-E1062195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E1DA9-8CD1-4883-A505-6B5A09DEA56C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8BBAC-8B3A-4692-83E3-B63CCC6D63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5F233E-4A36-4980-8132-DE65705D170D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D882C6-9A37-42F4-9327-2320347B7E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837ED-D65D-41C2-A659-5824433208D1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436C8-2843-4034-9A0F-82B00DDE45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433FB-2032-40C9-AE51-AB41AE051D64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E5E82-AA4B-4FE6-B9BB-CB52BAB058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F95D26-CEA5-4DA8-A0CA-5092E248386D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3A22D-4777-45DC-8B19-05ABF22450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E7C3A-D738-4B7C-B171-4DD15A64C0A1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A7E6F-40A6-46EC-BB7C-D413D2725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29D9E-602C-4021-A835-30B4FD47BC95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A6A3E-E063-416D-A962-C01B0DDA3A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62C878-9283-417E-99E5-E78D6676139C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70F8A-F2C6-4F00-AA71-EE6650750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8A444-9889-4EFD-83B2-BE0DFCC88E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F149D-D93C-42D1-ADB8-A86EE6BF06D9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A4184-69B2-476A-9EB4-C1D08447CF38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134C2D-C5E8-4EB9-9377-E7D1F0AA8D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470FAD6-4783-494A-91F4-181168AA770E}" type="datetime1">
              <a:rPr lang="en-US" smtClean="0"/>
              <a:pPr>
                <a:defRPr/>
              </a:pPr>
              <a:t>9/2/2008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Tutorial on Systems Aspects of Probabilistic Databases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F572570-6FEB-41FB-A94D-8941045593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5" r:id="rId12"/>
    <p:sldLayoutId id="2147483696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chrisre\scratch\TALKS\LAHAR_SIGMOD\Diamond_Recolored_2.avi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C:\Users\chrisre\scratch\TALKS\LAHAR_SIGMOD\Diamond_Recolored_NoParticles.avi" TargetMode="External"/><Relationship Id="rId1" Type="http://schemas.openxmlformats.org/officeDocument/2006/relationships/tags" Target="../tags/tag2.xml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C:\Users\chrisre\scratch\TALKS\LAHAR_SIGMOD\Diamond_Recolored_NoParticles.avi" TargetMode="External"/><Relationship Id="rId1" Type="http://schemas.openxmlformats.org/officeDocument/2006/relationships/tags" Target="../tags/tag3.xml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C:\Users\chrisre\scratch\TALKS\LAHAR_SIGMOD\Diamond_Recolored_2.avi" TargetMode="Externa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C:\Users\chrisre\scratch\TALKS\LAHAR_SIGMOD\Diamond_Recolored_2.avi" TargetMode="Externa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chrisre\scratch\TALKS\LAHAR_SIGMOD\Diamond_Recolored_2.avi" TargetMode="External"/><Relationship Id="rId5" Type="http://schemas.openxmlformats.org/officeDocument/2006/relationships/image" Target="../media/image11.jpe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System Aspects of Probabilistic Data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Magdalena </a:t>
            </a:r>
            <a:r>
              <a:rPr lang="en-US" dirty="0" err="1" smtClean="0"/>
              <a:t>Balazinska</a:t>
            </a:r>
            <a:r>
              <a:rPr lang="en-US" dirty="0" smtClean="0"/>
              <a:t>,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tx1"/>
                </a:solidFill>
              </a:rPr>
              <a:t> Christopher </a:t>
            </a:r>
            <a:r>
              <a:rPr lang="en-US" b="1" dirty="0" err="1" smtClean="0">
                <a:solidFill>
                  <a:schemeClr val="tx1"/>
                </a:solidFill>
              </a:rPr>
              <a:t>Ré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dirty="0" smtClean="0"/>
              <a:t>and Dan </a:t>
            </a:r>
            <a:r>
              <a:rPr lang="en-US" dirty="0" err="1" smtClean="0"/>
              <a:t>Suciu</a:t>
            </a: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University of Washington</a:t>
            </a:r>
            <a:endParaRPr lang="en-US" dirty="0"/>
          </a:p>
        </p:txBody>
      </p:sp>
      <p:pic>
        <p:nvPicPr>
          <p:cNvPr id="81922" name="Picture 2" descr="http://mystiq.cs.washington.edu/pages/img/UWlogo150p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2075"/>
            <a:ext cx="2772455" cy="517525"/>
          </a:xfrm>
          <a:prstGeom prst="rect">
            <a:avLst/>
          </a:prstGeom>
          <a:noFill/>
        </p:spPr>
      </p:pic>
      <p:pic>
        <p:nvPicPr>
          <p:cNvPr id="81924" name="Picture 4" descr="http://mystiq.cs.washington.edu/pages/img/cse_logo_80x133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3811" y="0"/>
            <a:ext cx="1520190" cy="914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slide overview of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dirty="0" smtClean="0"/>
              <a:t>Data are </a:t>
            </a:r>
            <a:r>
              <a:rPr lang="en-US" i="1" dirty="0" smtClean="0"/>
              <a:t>uncertain</a:t>
            </a:r>
            <a:r>
              <a:rPr lang="en-US" dirty="0" smtClean="0"/>
              <a:t> in many applications</a:t>
            </a:r>
          </a:p>
          <a:p>
            <a:pPr lvl="1"/>
            <a:r>
              <a:rPr lang="en-US" dirty="0" smtClean="0"/>
              <a:t>Business: </a:t>
            </a:r>
            <a:r>
              <a:rPr lang="en-US" dirty="0" err="1" smtClean="0"/>
              <a:t>Dedup</a:t>
            </a:r>
            <a:r>
              <a:rPr lang="en-US" dirty="0" smtClean="0"/>
              <a:t>, Info. Extraction</a:t>
            </a:r>
          </a:p>
          <a:p>
            <a:pPr lvl="1"/>
            <a:r>
              <a:rPr lang="en-US" dirty="0" smtClean="0"/>
              <a:t>Data from physical-world: RFID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b="1" dirty="0" smtClean="0"/>
          </a:p>
          <a:p>
            <a:pPr lvl="1"/>
            <a:endParaRPr lang="en-US" u="sng" dirty="0" smtClean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34200" y="6492875"/>
            <a:ext cx="2133600" cy="365125"/>
          </a:xfrm>
        </p:spPr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Diamond_Recolored_2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6248400" y="2133600"/>
            <a:ext cx="2136775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81000" y="3794125"/>
            <a:ext cx="7391400" cy="523220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Probabilistic DBs (</a:t>
            </a:r>
            <a:r>
              <a:rPr lang="en-US" sz="2800" dirty="0" err="1" smtClean="0"/>
              <a:t>pDBs</a:t>
            </a:r>
            <a:r>
              <a:rPr lang="en-US" sz="2800" dirty="0" smtClean="0"/>
              <a:t>) manage uncertainty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762000" y="4413905"/>
            <a:ext cx="8077200" cy="46166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Integrate, Query, and Build Applications on uncertain data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838200" y="5237460"/>
            <a:ext cx="65532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Value</a:t>
            </a:r>
            <a:r>
              <a:rPr lang="en-US" sz="2400" dirty="0" smtClean="0"/>
              <a:t>: Higher recall, without loss of precision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895600" y="6384925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38200" y="5927725"/>
            <a:ext cx="5943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DB Niche: Community that </a:t>
            </a:r>
            <a:r>
              <a:rPr lang="en-US" sz="2400" i="1" dirty="0" smtClean="0"/>
              <a:t>knows</a:t>
            </a:r>
            <a:r>
              <a:rPr lang="en-US" sz="2400" dirty="0" smtClean="0"/>
              <a:t> scale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Overview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rPr lang="en-US" smtClean="0"/>
              <a:t>Part I: Basic Query Processing (Today)</a:t>
            </a:r>
          </a:p>
          <a:p>
            <a:pPr lvl="1"/>
            <a:r>
              <a:rPr lang="en-US" smtClean="0"/>
              <a:t>Two Scenarios for pDBs</a:t>
            </a:r>
          </a:p>
          <a:p>
            <a:pPr lvl="1"/>
            <a:r>
              <a:rPr lang="en-US" smtClean="0"/>
              <a:t>A Basic Query &amp; Data Model </a:t>
            </a:r>
          </a:p>
          <a:p>
            <a:pPr lvl="1"/>
            <a:r>
              <a:rPr lang="en-US" smtClean="0"/>
              <a:t>Basic Query Processing Techniques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228600" y="3886200"/>
            <a:ext cx="8915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b="1" u="sng" dirty="0" smtClean="0">
                <a:solidFill>
                  <a:srgbClr val="FF0000"/>
                </a:solidFill>
              </a:rPr>
              <a:t> Highlights: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The intuition behind and how to compile </a:t>
            </a:r>
            <a:r>
              <a:rPr lang="en-US" sz="2800" i="1" dirty="0" smtClean="0"/>
              <a:t>safe plans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Process </a:t>
            </a:r>
            <a:r>
              <a:rPr lang="en-US" sz="2800" i="1" dirty="0" smtClean="0"/>
              <a:t>any</a:t>
            </a:r>
            <a:r>
              <a:rPr lang="en-US" sz="2800" dirty="0" smtClean="0"/>
              <a:t> SELECT-FROM-WHERE (SFW) query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Process top-k queries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Aggregation: Top-k + measures, OLAP, </a:t>
            </a:r>
            <a:r>
              <a:rPr lang="en-US" sz="2800" b="1" dirty="0" smtClean="0">
                <a:latin typeface="Courier" pitchFamily="49" charset="0"/>
              </a:rPr>
              <a:t>HAVING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4436C8-2843-4034-9A0F-82B00DDE452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Overview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Part II: Advanced Techniques (Tomorrow)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Correlations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Advanced </a:t>
            </a:r>
            <a:r>
              <a:rPr lang="en-US" smtClean="0"/>
              <a:t>Representation &amp; QP</a:t>
            </a:r>
            <a:endParaRPr lang="en-US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Discussion and Open Problems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3886200"/>
            <a:ext cx="8915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b="1" u="sng" dirty="0" smtClean="0">
                <a:solidFill>
                  <a:srgbClr val="FF0000"/>
                </a:solidFill>
              </a:rPr>
              <a:t> Highlights: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Lineage and View Processing (GBs of data)</a:t>
            </a:r>
            <a:endParaRPr lang="en-US" sz="2800" b="1" dirty="0" smtClean="0">
              <a:solidFill>
                <a:schemeClr val="accent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Events on Correlated Streams (GBs of Streams)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Sophisticated Factor Evaluation (Highly Correlated)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Continuous DBs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Hasn’t this been solved? </a:t>
            </a:r>
            <a:br>
              <a:rPr lang="en-US" dirty="0" smtClean="0"/>
            </a:br>
            <a:r>
              <a:rPr lang="en-US" dirty="0" smtClean="0"/>
              <a:t>(an analogy to keep in mind)</a:t>
            </a:r>
            <a:endParaRPr lang="en-US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867400" y="5883275"/>
            <a:ext cx="1905000" cy="457200"/>
          </a:xfrm>
        </p:spPr>
        <p:txBody>
          <a:bodyPr/>
          <a:lstStyle/>
          <a:p>
            <a:fld id="{B638B770-A677-4C8A-9678-6EBF700F4E5C}" type="slidenum">
              <a:rPr lang="en-US"/>
              <a:pPr/>
              <a:t>5</a:t>
            </a:fld>
            <a:endParaRPr lang="en-US"/>
          </a:p>
        </p:txBody>
      </p:sp>
      <p:graphicFrame>
        <p:nvGraphicFramePr>
          <p:cNvPr id="5" name="Group 71"/>
          <p:cNvGraphicFramePr>
            <a:graphicFrameLocks noGrp="1"/>
          </p:cNvGraphicFramePr>
          <p:nvPr/>
        </p:nvGraphicFramePr>
        <p:xfrm>
          <a:off x="152400" y="1768475"/>
          <a:ext cx="6858000" cy="4064001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1354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12" charset="-128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12" charset="-128"/>
                        </a:rPr>
                        <a:t>AI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12" charset="-128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12" charset="-128"/>
                        </a:rPr>
                        <a:t>Databases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5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12" charset="-128"/>
                        </a:rPr>
                        <a:t>Deterministic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12" charset="-128"/>
                        </a:rPr>
                        <a:t>Theorem prover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12" charset="-128"/>
                        </a:rPr>
                        <a:t>Query processing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4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12" charset="-128"/>
                        </a:rPr>
                        <a:t>Probabilistic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12" charset="-128"/>
                        </a:rPr>
                        <a:t>Probabilistic inference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12" charset="-128"/>
                        </a:rPr>
                        <a:t>[this talk]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2000" y="5950803"/>
            <a:ext cx="7696200" cy="830997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Impact</a:t>
            </a:r>
            <a:r>
              <a:rPr lang="en-US" sz="2400" dirty="0" smtClean="0"/>
              <a:t>: Fortune 500 companies </a:t>
            </a:r>
            <a:r>
              <a:rPr lang="en-US" sz="2400" i="1" dirty="0" smtClean="0"/>
              <a:t>rely</a:t>
            </a:r>
            <a:r>
              <a:rPr lang="en-US" sz="2400" dirty="0" smtClean="0"/>
              <a:t> on DBs, but how many have theorem </a:t>
            </a:r>
            <a:r>
              <a:rPr lang="en-US" sz="2400" dirty="0" err="1" smtClean="0"/>
              <a:t>provers</a:t>
            </a:r>
            <a:r>
              <a:rPr lang="en-US" sz="2400" dirty="0" smtClean="0"/>
              <a:t>?</a:t>
            </a:r>
            <a:endParaRPr lang="en-US" sz="2400" dirty="0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4495800"/>
            <a:ext cx="8763000" cy="137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xplosion 2 10"/>
          <p:cNvSpPr/>
          <p:nvPr/>
        </p:nvSpPr>
        <p:spPr>
          <a:xfrm>
            <a:off x="6553200" y="4191000"/>
            <a:ext cx="2819400" cy="1676400"/>
          </a:xfrm>
          <a:prstGeom prst="irregularSeal2">
            <a:avLst/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SCALE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Ancillary Material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pDBs</a:t>
            </a:r>
            <a:r>
              <a:rPr lang="en-US" dirty="0" smtClean="0"/>
              <a:t> have a long history </a:t>
            </a:r>
          </a:p>
          <a:p>
            <a:pPr lvl="1" eaLnBrk="1" hangingPunct="1"/>
            <a:r>
              <a:rPr lang="en-US" dirty="0" err="1" smtClean="0"/>
              <a:t>Cavallo&amp;Pitarelli</a:t>
            </a:r>
            <a:r>
              <a:rPr lang="en-US" dirty="0" smtClean="0"/>
              <a:t> ’87</a:t>
            </a:r>
          </a:p>
          <a:p>
            <a:pPr lvl="1" eaLnBrk="1" hangingPunct="1"/>
            <a:r>
              <a:rPr lang="en-US" dirty="0" err="1" smtClean="0"/>
              <a:t>ProbView</a:t>
            </a:r>
            <a:r>
              <a:rPr lang="en-US" dirty="0" smtClean="0"/>
              <a:t> [</a:t>
            </a:r>
            <a:r>
              <a:rPr lang="en-US" dirty="0" err="1" smtClean="0"/>
              <a:t>Lakshmanan</a:t>
            </a:r>
            <a:r>
              <a:rPr lang="en-US" dirty="0" smtClean="0"/>
              <a:t> </a:t>
            </a:r>
            <a:r>
              <a:rPr lang="en-US" i="1" dirty="0" smtClean="0"/>
              <a:t>et al</a:t>
            </a:r>
            <a:r>
              <a:rPr lang="en-US" dirty="0" smtClean="0"/>
              <a:t>’97]</a:t>
            </a:r>
          </a:p>
          <a:p>
            <a:pPr lvl="1" eaLnBrk="1" hangingPunct="1"/>
            <a:r>
              <a:rPr lang="en-US" dirty="0" smtClean="0"/>
              <a:t>Many active projects today: </a:t>
            </a:r>
            <a:r>
              <a:rPr lang="en-US" dirty="0" err="1" smtClean="0"/>
              <a:t>Mystiq</a:t>
            </a:r>
            <a:r>
              <a:rPr lang="en-US" dirty="0" smtClean="0"/>
              <a:t>, </a:t>
            </a:r>
            <a:r>
              <a:rPr lang="en-US" dirty="0" err="1" smtClean="0"/>
              <a:t>Lahar</a:t>
            </a:r>
            <a:r>
              <a:rPr lang="en-US" dirty="0" smtClean="0"/>
              <a:t>, Trio, </a:t>
            </a:r>
            <a:r>
              <a:rPr lang="en-US" dirty="0" err="1" smtClean="0"/>
              <a:t>MayBMS</a:t>
            </a:r>
            <a:r>
              <a:rPr lang="en-US" dirty="0" smtClean="0"/>
              <a:t>, Maryland, Orion, MCDB, Wisconsin, IBM, </a:t>
            </a:r>
            <a:r>
              <a:rPr lang="en-US" dirty="0" err="1" smtClean="0"/>
              <a:t>BayesStore</a:t>
            </a:r>
            <a:r>
              <a:rPr lang="en-US" dirty="0" smtClean="0"/>
              <a:t>, UMass, Waterloo, SFU and more</a:t>
            </a:r>
          </a:p>
          <a:p>
            <a:pPr eaLnBrk="1" hangingPunct="1"/>
            <a:r>
              <a:rPr lang="en-US" dirty="0" smtClean="0"/>
              <a:t>Many important topics omitted </a:t>
            </a:r>
          </a:p>
          <a:p>
            <a:pPr lvl="1" eaLnBrk="1" hangingPunct="1"/>
            <a:r>
              <a:rPr lang="en-US" dirty="0" smtClean="0"/>
              <a:t>Query languages</a:t>
            </a:r>
          </a:p>
          <a:p>
            <a:pPr lvl="1" eaLnBrk="1" hangingPunct="1"/>
            <a:r>
              <a:rPr lang="en-US" dirty="0" smtClean="0"/>
              <a:t>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Overview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rPr lang="en-US" smtClean="0"/>
              <a:t>Part I: Basic Query Processing (Today)</a:t>
            </a:r>
          </a:p>
          <a:p>
            <a:pPr lvl="1"/>
            <a:r>
              <a:rPr lang="en-US" smtClean="0"/>
              <a:t>Two Scenarios for pDBs</a:t>
            </a:r>
          </a:p>
          <a:p>
            <a:pPr lvl="1"/>
            <a:r>
              <a:rPr lang="en-US" smtClean="0"/>
              <a:t>A Basic Query &amp; Data Model </a:t>
            </a:r>
          </a:p>
          <a:p>
            <a:pPr lvl="1"/>
            <a:r>
              <a:rPr lang="en-US" smtClean="0"/>
              <a:t>Basic Query Processing Techniques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228600" y="3886200"/>
            <a:ext cx="8915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b="1" u="sng" dirty="0" smtClean="0">
                <a:solidFill>
                  <a:srgbClr val="FF0000"/>
                </a:solidFill>
              </a:rPr>
              <a:t> Highlights: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The intuition behind and how to compile </a:t>
            </a:r>
            <a:r>
              <a:rPr lang="en-US" sz="2800" i="1" dirty="0" smtClean="0"/>
              <a:t>safe plans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Process </a:t>
            </a:r>
            <a:r>
              <a:rPr lang="en-US" sz="2800" i="1" dirty="0" smtClean="0"/>
              <a:t>any</a:t>
            </a:r>
            <a:r>
              <a:rPr lang="en-US" sz="2800" dirty="0" smtClean="0"/>
              <a:t> SELECT-FROM-WHERE (SFW) query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Process top-k queries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Aggregation: Top-k + measures, OLAP, </a:t>
            </a:r>
            <a:r>
              <a:rPr lang="en-US" sz="2800" b="1" dirty="0" smtClean="0">
                <a:latin typeface="Courier" pitchFamily="49" charset="0"/>
              </a:rPr>
              <a:t>HAVING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0" y="22860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4436C8-2843-4034-9A0F-82B00DDE452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1: Querying RFID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057650" y="1108075"/>
            <a:ext cx="457200" cy="441325"/>
          </a:xfrm>
        </p:spPr>
        <p:txBody>
          <a:bodyPr/>
          <a:lstStyle/>
          <a:p>
            <a:pPr>
              <a:defRPr/>
            </a:pPr>
            <a:fld id="{DCE35EAA-06D8-45F5-A8EE-D41424E69218}" type="slidenum">
              <a:rPr lang="en-US"/>
              <a:pPr>
                <a:defRPr/>
              </a:pPr>
              <a:t>8</a:t>
            </a:fld>
            <a:endParaRPr lang="en-US"/>
          </a:p>
        </p:txBody>
      </p:sp>
      <p:pic>
        <p:nvPicPr>
          <p:cNvPr id="12293" name="Picture 2" descr="fourth-floor-cropped-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1312863"/>
            <a:ext cx="5791200" cy="459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4" name="Rectangle 3"/>
          <p:cNvSpPr>
            <a:spLocks noChangeArrowheads="1"/>
          </p:cNvSpPr>
          <p:nvPr/>
        </p:nvSpPr>
        <p:spPr bwMode="auto">
          <a:xfrm>
            <a:off x="152400" y="2443163"/>
            <a:ext cx="57912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pic>
        <p:nvPicPr>
          <p:cNvPr id="12295" name="Picture 6" descr="rfid-antenn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10200" y="2290763"/>
            <a:ext cx="1317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6" name="Picture 7" descr="radio-waves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10200" y="2351088"/>
            <a:ext cx="304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7" name="Picture 8" descr="rfid-antenn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06913" y="2259013"/>
            <a:ext cx="131762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8" name="Picture 9" descr="radio-waves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95800" y="2351088"/>
            <a:ext cx="304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9" name="Picture 10" descr="rfid-antenn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30513" y="2290763"/>
            <a:ext cx="131762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00" name="Picture 11" descr="radio-waves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819400" y="2351088"/>
            <a:ext cx="304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01" name="Picture 12" descr="rfid-antenn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87513" y="2290763"/>
            <a:ext cx="131762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02" name="Picture 13" descr="radio-waves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676400" y="2351088"/>
            <a:ext cx="304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03" name="Picture 14" descr="rfid-antenn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0713" y="2290763"/>
            <a:ext cx="131762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04" name="Picture 15" descr="radio-waves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9600" y="2351088"/>
            <a:ext cx="304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305" name="Text Box 16"/>
          <p:cNvSpPr txBox="1">
            <a:spLocks noChangeArrowheads="1"/>
          </p:cNvSpPr>
          <p:nvPr/>
        </p:nvSpPr>
        <p:spPr bwMode="auto">
          <a:xfrm>
            <a:off x="2514600" y="1847850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333333"/>
                </a:solidFill>
                <a:latin typeface="Calibri" pitchFamily="34" charset="0"/>
              </a:rPr>
              <a:t>C</a:t>
            </a:r>
          </a:p>
        </p:txBody>
      </p:sp>
      <p:sp>
        <p:nvSpPr>
          <p:cNvPr id="12306" name="Text Box 17"/>
          <p:cNvSpPr txBox="1">
            <a:spLocks noChangeArrowheads="1"/>
          </p:cNvSpPr>
          <p:nvPr/>
        </p:nvSpPr>
        <p:spPr bwMode="auto">
          <a:xfrm>
            <a:off x="4114800" y="1847850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333333"/>
                </a:solidFill>
                <a:latin typeface="Calibri" pitchFamily="34" charset="0"/>
              </a:rPr>
              <a:t>B</a:t>
            </a:r>
          </a:p>
        </p:txBody>
      </p:sp>
      <p:sp>
        <p:nvSpPr>
          <p:cNvPr id="12307" name="Text Box 18"/>
          <p:cNvSpPr txBox="1">
            <a:spLocks noChangeArrowheads="1"/>
          </p:cNvSpPr>
          <p:nvPr/>
        </p:nvSpPr>
        <p:spPr bwMode="auto">
          <a:xfrm>
            <a:off x="4800600" y="2824163"/>
            <a:ext cx="533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333333"/>
                </a:solidFill>
                <a:latin typeface="Calibri" pitchFamily="34" charset="0"/>
              </a:rPr>
              <a:t>A</a:t>
            </a:r>
          </a:p>
        </p:txBody>
      </p:sp>
      <p:sp>
        <p:nvSpPr>
          <p:cNvPr id="12308" name="Text Box 19"/>
          <p:cNvSpPr txBox="1">
            <a:spLocks noChangeArrowheads="1"/>
          </p:cNvSpPr>
          <p:nvPr/>
        </p:nvSpPr>
        <p:spPr bwMode="auto">
          <a:xfrm>
            <a:off x="1371600" y="1847850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333333"/>
                </a:solidFill>
                <a:latin typeface="Calibri" pitchFamily="34" charset="0"/>
              </a:rPr>
              <a:t>D</a:t>
            </a:r>
          </a:p>
        </p:txBody>
      </p:sp>
      <p:sp>
        <p:nvSpPr>
          <p:cNvPr id="12309" name="Text Box 20"/>
          <p:cNvSpPr txBox="1">
            <a:spLocks noChangeArrowheads="1"/>
          </p:cNvSpPr>
          <p:nvPr/>
        </p:nvSpPr>
        <p:spPr bwMode="auto">
          <a:xfrm>
            <a:off x="152400" y="1604963"/>
            <a:ext cx="533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333333"/>
                </a:solidFill>
                <a:latin typeface="Calibri" pitchFamily="34" charset="0"/>
              </a:rPr>
              <a:t>E</a:t>
            </a:r>
          </a:p>
        </p:txBody>
      </p:sp>
      <p:pic>
        <p:nvPicPr>
          <p:cNvPr id="26" name="Picture 21" descr="radio-waves-blue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486400" y="2443163"/>
            <a:ext cx="228600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2" descr="radio-waves-blue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572000" y="2411413"/>
            <a:ext cx="228600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3" descr="radio-waves-blue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95600" y="2411413"/>
            <a:ext cx="228600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24" descr="radio-waves-blue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52600" y="2443163"/>
            <a:ext cx="228600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5" descr="radio-waves-blue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85800" y="2487613"/>
            <a:ext cx="228600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315" name="Rectangle 65"/>
          <p:cNvSpPr>
            <a:spLocks noChangeArrowheads="1"/>
          </p:cNvSpPr>
          <p:nvPr/>
        </p:nvSpPr>
        <p:spPr bwMode="auto">
          <a:xfrm>
            <a:off x="152400" y="4500563"/>
            <a:ext cx="57912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grpSp>
        <p:nvGrpSpPr>
          <p:cNvPr id="2" name="Group 132"/>
          <p:cNvGrpSpPr>
            <a:grpSpLocks/>
          </p:cNvGrpSpPr>
          <p:nvPr/>
        </p:nvGrpSpPr>
        <p:grpSpPr bwMode="auto">
          <a:xfrm>
            <a:off x="5257800" y="3751263"/>
            <a:ext cx="482600" cy="368300"/>
            <a:chOff x="3216" y="2936"/>
            <a:chExt cx="304" cy="232"/>
          </a:xfrm>
        </p:grpSpPr>
        <p:pic>
          <p:nvPicPr>
            <p:cNvPr id="12323" name="Picture 133" descr="person-purple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360" y="2936"/>
              <a:ext cx="160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24" name="Picture 134" descr="http://rfid.cs.washington.edu/dbicons/mug.png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216" y="2976"/>
              <a:ext cx="144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 useBgFill="1">
        <p:nvSpPr>
          <p:cNvPr id="37" name="Rectangle 36"/>
          <p:cNvSpPr/>
          <p:nvPr/>
        </p:nvSpPr>
        <p:spPr>
          <a:xfrm>
            <a:off x="0" y="4648200"/>
            <a:ext cx="6934200" cy="167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5029200"/>
            <a:ext cx="8305800" cy="1295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Apps: </a:t>
            </a:r>
            <a:r>
              <a:rPr lang="en-US" dirty="0" err="1" smtClean="0"/>
              <a:t>UbiComp</a:t>
            </a:r>
            <a:r>
              <a:rPr lang="en-US" dirty="0" smtClean="0"/>
              <a:t>, Diary, Social Applications,..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In general, Event queries [Cayuga, </a:t>
            </a:r>
            <a:r>
              <a:rPr lang="en-US" dirty="0" err="1" smtClean="0"/>
              <a:t>Sase</a:t>
            </a:r>
            <a:r>
              <a:rPr lang="en-US" dirty="0" smtClean="0"/>
              <a:t>]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381000" y="3352800"/>
            <a:ext cx="5029200" cy="461963"/>
          </a:xfrm>
          <a:prstGeom prst="rect">
            <a:avLst/>
          </a:prstGeom>
          <a:solidFill>
            <a:srgbClr val="00B050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rial Black" pitchFamily="34" charset="0"/>
              </a:rPr>
              <a:t>Joe entered office 422 at t=8</a:t>
            </a: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6096000" y="2514600"/>
            <a:ext cx="3048000" cy="830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Query</a:t>
            </a:r>
            <a:r>
              <a:rPr lang="en-US" sz="2400" i="1">
                <a:latin typeface="Calibri" pitchFamily="34" charset="0"/>
              </a:rPr>
              <a:t>: “Alert when Joe enters 422”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324600" y="3429000"/>
            <a:ext cx="25908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latin typeface="Calibri" pitchFamily="34" charset="0"/>
              </a:rPr>
              <a:t>i.e. Joe outside 422, inside 422</a:t>
            </a:r>
          </a:p>
        </p:txBody>
      </p:sp>
      <p:sp>
        <p:nvSpPr>
          <p:cNvPr id="40" name="Rectangle 34"/>
          <p:cNvSpPr>
            <a:spLocks noChangeArrowheads="1"/>
          </p:cNvSpPr>
          <p:nvPr/>
        </p:nvSpPr>
        <p:spPr bwMode="auto">
          <a:xfrm>
            <a:off x="0" y="0"/>
            <a:ext cx="6859588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[R,Letchner,B&amp;S’07] [http://rfid.cs.washington.edu]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2.96296E-6 L 0.01389 -0.19074 " pathEditMode="relative" rAng="0" ptsTypes="AA">
                                      <p:cBhvr>
                                        <p:cTn id="20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" y="-9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01667 -0.17778 L -0.50833 -0.17778 " pathEditMode="relative" ptsTypes="AA">
                                      <p:cBhvr>
                                        <p:cTn id="2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6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animMotion origin="layout" path="M -0.50833 -0.17778 L -0.50833 -0.3 " pathEditMode="relative" ptsTypes="AA">
                                      <p:cBhvr>
                                        <p:cTn id="5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Diamond_Recolored_NoParticles.avi">
            <a:hlinkClick r:id="" action="ppaction://media"/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3276600" y="1600200"/>
            <a:ext cx="5410200" cy="428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Challenges: Tracking Joe’s Location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ADB119-8B51-43FD-BC0D-8025FB6A37B0}" type="slidenum">
              <a:rPr lang="en-US"/>
              <a:pPr>
                <a:defRPr/>
              </a:pPr>
              <a:t>9</a:t>
            </a:fld>
            <a:endParaRPr lang="en-US"/>
          </a:p>
        </p:txBody>
      </p:sp>
      <p:cxnSp>
        <p:nvCxnSpPr>
          <p:cNvPr id="6" name="Straight Arrow Connector 5"/>
          <p:cNvCxnSpPr>
            <a:stCxn id="9" idx="3"/>
          </p:cNvCxnSpPr>
          <p:nvPr/>
        </p:nvCxnSpPr>
        <p:spPr>
          <a:xfrm>
            <a:off x="2438400" y="2473325"/>
            <a:ext cx="3352800" cy="1412875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9" name="TextBox 6"/>
          <p:cNvSpPr txBox="1">
            <a:spLocks noChangeArrowheads="1"/>
          </p:cNvSpPr>
          <p:nvPr/>
        </p:nvSpPr>
        <p:spPr bwMode="auto">
          <a:xfrm>
            <a:off x="4953000" y="1524000"/>
            <a:ext cx="2819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70C0"/>
                </a:solidFill>
                <a:latin typeface="Calibri" pitchFamily="34" charset="0"/>
              </a:rPr>
              <a:t>6</a:t>
            </a:r>
            <a:r>
              <a:rPr lang="en-US" b="1" baseline="30000">
                <a:solidFill>
                  <a:srgbClr val="0070C0"/>
                </a:solidFill>
                <a:latin typeface="Calibri" pitchFamily="34" charset="0"/>
              </a:rPr>
              <a:t>th</a:t>
            </a:r>
            <a:r>
              <a:rPr lang="en-US" b="1">
                <a:solidFill>
                  <a:srgbClr val="0070C0"/>
                </a:solidFill>
                <a:latin typeface="Calibri" pitchFamily="34" charset="0"/>
              </a:rPr>
              <a:t> Floor in CS building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0" y="2057400"/>
            <a:ext cx="2438400" cy="830263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0070C0"/>
                </a:solidFill>
                <a:latin typeface="Calibri" pitchFamily="34" charset="0"/>
              </a:rPr>
              <a:t>Blue ring is Joe’s Location</a:t>
            </a:r>
          </a:p>
        </p:txBody>
      </p:sp>
      <p:sp useBgFill="1"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57200" y="1371600"/>
            <a:ext cx="1676400" cy="461963"/>
          </a:xfrm>
          <a:prstGeom prst="rect">
            <a:avLst/>
          </a:prstGeom>
          <a:ln w="25400">
            <a:solidFill>
              <a:srgbClr val="92D05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rgbClr val="00B050"/>
                </a:solidFill>
                <a:latin typeface="Calibri" pitchFamily="34" charset="0"/>
              </a:rPr>
              <a:t>Antennas</a:t>
            </a:r>
          </a:p>
        </p:txBody>
      </p:sp>
      <p:cxnSp>
        <p:nvCxnSpPr>
          <p:cNvPr id="32" name="Straight Arrow Connector 31"/>
          <p:cNvCxnSpPr>
            <a:stCxn id="26" idx="3"/>
          </p:cNvCxnSpPr>
          <p:nvPr/>
        </p:nvCxnSpPr>
        <p:spPr>
          <a:xfrm>
            <a:off x="2133600" y="1601788"/>
            <a:ext cx="1828800" cy="1370012"/>
          </a:xfrm>
          <a:prstGeom prst="straightConnector1">
            <a:avLst/>
          </a:prstGeom>
          <a:ln w="508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6" idx="3"/>
          </p:cNvCxnSpPr>
          <p:nvPr/>
        </p:nvCxnSpPr>
        <p:spPr>
          <a:xfrm>
            <a:off x="2133600" y="1601788"/>
            <a:ext cx="2057400" cy="912812"/>
          </a:xfrm>
          <a:prstGeom prst="straightConnector1">
            <a:avLst/>
          </a:prstGeom>
          <a:ln w="508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791200" y="3657600"/>
            <a:ext cx="457200" cy="3810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34"/>
          <p:cNvSpPr>
            <a:spLocks noChangeArrowheads="1"/>
          </p:cNvSpPr>
          <p:nvPr/>
        </p:nvSpPr>
        <p:spPr bwMode="auto">
          <a:xfrm>
            <a:off x="0" y="0"/>
            <a:ext cx="3267075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[RFID Ecosystem @ UW]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135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2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9" grpId="0" animBg="1"/>
      <p:bldP spid="26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Diamond_Recolored_NoParticles.avi">
            <a:hlinkClick r:id="" action="ppaction://media"/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3276600" y="1600200"/>
            <a:ext cx="5410200" cy="428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Box 14"/>
          <p:cNvSpPr txBox="1">
            <a:spLocks noChangeArrowheads="1"/>
          </p:cNvSpPr>
          <p:nvPr/>
        </p:nvSpPr>
        <p:spPr bwMode="auto">
          <a:xfrm>
            <a:off x="4953000" y="1524000"/>
            <a:ext cx="2819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70C0"/>
                </a:solidFill>
                <a:latin typeface="Calibri" pitchFamily="34" charset="0"/>
              </a:rPr>
              <a:t>6</a:t>
            </a:r>
            <a:r>
              <a:rPr lang="en-US" b="1" baseline="30000">
                <a:solidFill>
                  <a:srgbClr val="0070C0"/>
                </a:solidFill>
                <a:latin typeface="Calibri" pitchFamily="34" charset="0"/>
              </a:rPr>
              <a:t>th</a:t>
            </a:r>
            <a:r>
              <a:rPr lang="en-US" b="1">
                <a:solidFill>
                  <a:srgbClr val="0070C0"/>
                </a:solidFill>
                <a:latin typeface="Calibri" pitchFamily="34" charset="0"/>
              </a:rPr>
              <a:t> Floor in CS building</a:t>
            </a:r>
          </a:p>
        </p:txBody>
      </p:sp>
      <p:sp>
        <p:nvSpPr>
          <p:cNvPr id="143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Challenges: Tracking Joe’s Location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B66AE4-892E-4C8A-A23F-CA13D64D9DC4}" type="slidenum">
              <a:rPr lang="en-US"/>
              <a:pPr>
                <a:defRPr/>
              </a:pPr>
              <a:t>10</a:t>
            </a:fld>
            <a:endParaRPr lang="en-US"/>
          </a:p>
        </p:txBody>
      </p:sp>
      <p:cxnSp>
        <p:nvCxnSpPr>
          <p:cNvPr id="6" name="Straight Arrow Connector 5"/>
          <p:cNvCxnSpPr>
            <a:stCxn id="14344" idx="3"/>
          </p:cNvCxnSpPr>
          <p:nvPr/>
        </p:nvCxnSpPr>
        <p:spPr>
          <a:xfrm>
            <a:off x="2438400" y="2473325"/>
            <a:ext cx="3352800" cy="1412875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4" name="TextBox 8"/>
          <p:cNvSpPr txBox="1">
            <a:spLocks noChangeArrowheads="1"/>
          </p:cNvSpPr>
          <p:nvPr/>
        </p:nvSpPr>
        <p:spPr bwMode="auto">
          <a:xfrm>
            <a:off x="0" y="2057400"/>
            <a:ext cx="2438400" cy="830263"/>
          </a:xfrm>
          <a:prstGeom prst="rect">
            <a:avLst/>
          </a:prstGeom>
          <a:noFill/>
          <a:ln w="50800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0070C0"/>
                </a:solidFill>
                <a:latin typeface="Calibri" pitchFamily="34" charset="0"/>
              </a:rPr>
              <a:t>Blue ring is Joe’s Location</a:t>
            </a:r>
          </a:p>
        </p:txBody>
      </p:sp>
      <p:sp useBgFill="1">
        <p:nvSpPr>
          <p:cNvPr id="14345" name="TextBox 25"/>
          <p:cNvSpPr txBox="1">
            <a:spLocks noChangeArrowheads="1"/>
          </p:cNvSpPr>
          <p:nvPr/>
        </p:nvSpPr>
        <p:spPr bwMode="auto">
          <a:xfrm>
            <a:off x="457200" y="1371600"/>
            <a:ext cx="1676400" cy="461963"/>
          </a:xfrm>
          <a:prstGeom prst="rect">
            <a:avLst/>
          </a:prstGeom>
          <a:ln w="25400">
            <a:solidFill>
              <a:srgbClr val="92D05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rgbClr val="00B050"/>
                </a:solidFill>
                <a:latin typeface="Calibri" pitchFamily="34" charset="0"/>
              </a:rPr>
              <a:t>Antennas</a:t>
            </a:r>
          </a:p>
        </p:txBody>
      </p:sp>
      <p:cxnSp>
        <p:nvCxnSpPr>
          <p:cNvPr id="32" name="Straight Arrow Connector 31"/>
          <p:cNvCxnSpPr>
            <a:stCxn id="14345" idx="3"/>
          </p:cNvCxnSpPr>
          <p:nvPr/>
        </p:nvCxnSpPr>
        <p:spPr>
          <a:xfrm>
            <a:off x="2133600" y="1601788"/>
            <a:ext cx="1447800" cy="1217612"/>
          </a:xfrm>
          <a:prstGeom prst="straightConnector1">
            <a:avLst/>
          </a:prstGeom>
          <a:ln w="508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4345" idx="3"/>
          </p:cNvCxnSpPr>
          <p:nvPr/>
        </p:nvCxnSpPr>
        <p:spPr>
          <a:xfrm>
            <a:off x="2133600" y="1601788"/>
            <a:ext cx="1752600" cy="760412"/>
          </a:xfrm>
          <a:prstGeom prst="straightConnector1">
            <a:avLst/>
          </a:prstGeom>
          <a:ln w="508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0" y="1371600"/>
            <a:ext cx="3657600" cy="1200150"/>
          </a:xfrm>
          <a:prstGeom prst="rect">
            <a:avLst/>
          </a:prstGeom>
          <a:solidFill>
            <a:schemeClr val="bg2">
              <a:lumMod val="25000"/>
            </a:schemeClr>
          </a:solidFill>
          <a:ln w="50800"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  <a:cs typeface="+mn-cs"/>
              </a:rPr>
              <a:t>Two Problems: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2400" i="1" dirty="0">
                <a:solidFill>
                  <a:schemeClr val="bg1"/>
                </a:solidFill>
                <a:latin typeface="+mn-lt"/>
                <a:cs typeface="+mn-cs"/>
              </a:rPr>
              <a:t>Missed Readings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2400" i="1" dirty="0">
                <a:solidFill>
                  <a:schemeClr val="bg1"/>
                </a:solidFill>
                <a:latin typeface="+mn-lt"/>
                <a:cs typeface="+mn-cs"/>
              </a:rPr>
              <a:t>Granularity Mismatch</a:t>
            </a:r>
          </a:p>
        </p:txBody>
      </p:sp>
      <p:sp useBgFill="1">
        <p:nvSpPr>
          <p:cNvPr id="13" name="Content Placeholder 4"/>
          <p:cNvSpPr>
            <a:spLocks noGrp="1"/>
          </p:cNvSpPr>
          <p:nvPr>
            <p:ph sz="quarter" idx="1"/>
          </p:nvPr>
        </p:nvSpPr>
        <p:spPr>
          <a:xfrm>
            <a:off x="533400" y="5105400"/>
            <a:ext cx="8229600" cy="1143000"/>
          </a:xfrm>
        </p:spPr>
        <p:txBody>
          <a:bodyPr/>
          <a:lstStyle/>
          <a:p>
            <a:pPr eaLnBrk="1" hangingPunct="1"/>
            <a:r>
              <a:rPr lang="en-US" i="1" dirty="0" smtClean="0"/>
              <a:t>Model Based View (Probabilistic)</a:t>
            </a:r>
            <a:endParaRPr lang="en-US" dirty="0" smtClean="0"/>
          </a:p>
          <a:p>
            <a:pPr lvl="1" eaLnBrk="1" hangingPunct="1"/>
            <a:r>
              <a:rPr lang="en-US" dirty="0" smtClean="0"/>
              <a:t>[</a:t>
            </a:r>
            <a:r>
              <a:rPr lang="en-US" dirty="0" err="1" smtClean="0"/>
              <a:t>Deshpande</a:t>
            </a:r>
            <a:r>
              <a:rPr lang="en-US" dirty="0" smtClean="0"/>
              <a:t> </a:t>
            </a:r>
            <a:r>
              <a:rPr lang="en-US" i="1" dirty="0" smtClean="0"/>
              <a:t>et al 04,</a:t>
            </a:r>
            <a:r>
              <a:rPr lang="en-US" dirty="0" smtClean="0"/>
              <a:t> </a:t>
            </a:r>
            <a:r>
              <a:rPr lang="en-US" dirty="0" err="1" smtClean="0"/>
              <a:t>Kanagal</a:t>
            </a:r>
            <a:r>
              <a:rPr lang="en-US" dirty="0" smtClean="0"/>
              <a:t> &amp; Deshpande’08]</a:t>
            </a:r>
          </a:p>
        </p:txBody>
      </p:sp>
      <p:sp>
        <p:nvSpPr>
          <p:cNvPr id="15" name="Rectangle 34"/>
          <p:cNvSpPr>
            <a:spLocks noChangeArrowheads="1"/>
          </p:cNvSpPr>
          <p:nvPr/>
        </p:nvSpPr>
        <p:spPr bwMode="auto">
          <a:xfrm>
            <a:off x="0" y="0"/>
            <a:ext cx="5207000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[Re et al ‘08, </a:t>
            </a:r>
            <a:r>
              <a:rPr lang="en-US" sz="2400" b="1" dirty="0" err="1">
                <a:solidFill>
                  <a:schemeClr val="bg1"/>
                </a:solidFill>
                <a:latin typeface="+mn-lt"/>
                <a:cs typeface="+mn-cs"/>
              </a:rPr>
              <a:t>Kanagal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 &amp; Deshpande’08]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3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video>
          </p:childTnLst>
        </p:cTn>
      </p:par>
    </p:tnLst>
    <p:bldLst>
      <p:bldP spid="20" grpId="0" uiExpand="1" build="allAtOnce" animBg="1"/>
      <p:bldP spid="13" grpId="0" uiExpand="1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Diamond_Recolored_2.avi">
            <a:hlinkClick r:id="" action="ppaction://media"/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3273425" y="1600200"/>
            <a:ext cx="5411788" cy="428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Probabilities via particle filter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7BCAA3-C4AE-497F-87C7-1FD1C169840A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 useBgFill="1"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52400" y="3352800"/>
            <a:ext cx="4038600" cy="830263"/>
          </a:xfrm>
          <a:prstGeom prst="rect">
            <a:avLst/>
          </a:prstGeom>
          <a:ln w="50800">
            <a:solidFill>
              <a:srgbClr val="FFC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latin typeface="Calibri" pitchFamily="34" charset="0"/>
              </a:rPr>
              <a:t>Each orange particle is a guess of Joe’s location</a:t>
            </a:r>
          </a:p>
        </p:txBody>
      </p:sp>
      <p:cxnSp>
        <p:nvCxnSpPr>
          <p:cNvPr id="18" name="Straight Arrow Connector 17"/>
          <p:cNvCxnSpPr>
            <a:stCxn id="4" idx="3"/>
          </p:cNvCxnSpPr>
          <p:nvPr/>
        </p:nvCxnSpPr>
        <p:spPr>
          <a:xfrm>
            <a:off x="4191000" y="3768725"/>
            <a:ext cx="1905000" cy="269875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" idx="3"/>
          </p:cNvCxnSpPr>
          <p:nvPr/>
        </p:nvCxnSpPr>
        <p:spPr>
          <a:xfrm>
            <a:off x="4191000" y="3768725"/>
            <a:ext cx="2133600" cy="117475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6394" idx="3"/>
          </p:cNvCxnSpPr>
          <p:nvPr/>
        </p:nvCxnSpPr>
        <p:spPr>
          <a:xfrm>
            <a:off x="2667000" y="2701925"/>
            <a:ext cx="3276600" cy="1108075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4" name="TextBox 18"/>
          <p:cNvSpPr txBox="1">
            <a:spLocks noChangeArrowheads="1"/>
          </p:cNvSpPr>
          <p:nvPr/>
        </p:nvSpPr>
        <p:spPr bwMode="auto">
          <a:xfrm>
            <a:off x="228600" y="2286000"/>
            <a:ext cx="2438400" cy="830263"/>
          </a:xfrm>
          <a:prstGeom prst="rect">
            <a:avLst/>
          </a:prstGeom>
          <a:noFill/>
          <a:ln w="50800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rgbClr val="0070C0"/>
                </a:solidFill>
                <a:latin typeface="Calibri" pitchFamily="34" charset="0"/>
              </a:rPr>
              <a:t>Blue ring is </a:t>
            </a:r>
            <a:r>
              <a:rPr lang="en-US" sz="2400" i="1">
                <a:solidFill>
                  <a:srgbClr val="0070C0"/>
                </a:solidFill>
                <a:latin typeface="Calibri" pitchFamily="34" charset="0"/>
              </a:rPr>
              <a:t>ground truth</a:t>
            </a:r>
            <a:endParaRPr lang="en-US" sz="2400">
              <a:solidFill>
                <a:srgbClr val="0070C0"/>
              </a:solidFill>
              <a:latin typeface="Calibri" pitchFamily="34" charset="0"/>
            </a:endParaRPr>
          </a:p>
        </p:txBody>
      </p:sp>
      <p:sp useBgFill="1">
        <p:nvSpPr>
          <p:cNvPr id="16395" name="TextBox 20"/>
          <p:cNvSpPr txBox="1">
            <a:spLocks noChangeArrowheads="1"/>
          </p:cNvSpPr>
          <p:nvPr/>
        </p:nvSpPr>
        <p:spPr bwMode="auto">
          <a:xfrm>
            <a:off x="533400" y="1600200"/>
            <a:ext cx="1676400" cy="461963"/>
          </a:xfrm>
          <a:prstGeom prst="rect">
            <a:avLst/>
          </a:prstGeom>
          <a:ln w="25400">
            <a:solidFill>
              <a:srgbClr val="92D05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rgbClr val="00B050"/>
                </a:solidFill>
                <a:latin typeface="Calibri" pitchFamily="34" charset="0"/>
              </a:rPr>
              <a:t>Antennas</a:t>
            </a:r>
          </a:p>
        </p:txBody>
      </p:sp>
      <p:cxnSp>
        <p:nvCxnSpPr>
          <p:cNvPr id="22" name="Straight Arrow Connector 21"/>
          <p:cNvCxnSpPr>
            <a:stCxn id="16395" idx="3"/>
          </p:cNvCxnSpPr>
          <p:nvPr/>
        </p:nvCxnSpPr>
        <p:spPr>
          <a:xfrm>
            <a:off x="2209800" y="1830388"/>
            <a:ext cx="1447800" cy="1065212"/>
          </a:xfrm>
          <a:prstGeom prst="straightConnector1">
            <a:avLst/>
          </a:prstGeom>
          <a:ln w="508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6395" idx="3"/>
          </p:cNvCxnSpPr>
          <p:nvPr/>
        </p:nvCxnSpPr>
        <p:spPr>
          <a:xfrm>
            <a:off x="2209800" y="1830388"/>
            <a:ext cx="1752600" cy="531812"/>
          </a:xfrm>
          <a:prstGeom prst="straightConnector1">
            <a:avLst/>
          </a:prstGeom>
          <a:ln w="508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0" y="5105400"/>
            <a:ext cx="3657600" cy="1200150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Calibri" pitchFamily="34" charset="0"/>
              </a:rPr>
              <a:t>Particles guess </a:t>
            </a:r>
            <a:r>
              <a:rPr lang="en-US" sz="2400" b="1" i="1">
                <a:solidFill>
                  <a:schemeClr val="bg1"/>
                </a:solidFill>
                <a:latin typeface="Calibri" pitchFamily="34" charset="0"/>
              </a:rPr>
              <a:t>many locations</a:t>
            </a:r>
            <a:r>
              <a:rPr lang="en-US" sz="2400" b="1">
                <a:solidFill>
                  <a:schemeClr val="bg1"/>
                </a:solidFill>
                <a:latin typeface="Calibri" pitchFamily="34" charset="0"/>
              </a:rPr>
              <a:t> per timestep, so data are uncertain</a:t>
            </a:r>
          </a:p>
        </p:txBody>
      </p:sp>
      <p:sp>
        <p:nvSpPr>
          <p:cNvPr id="16399" name="TextBox 24"/>
          <p:cNvSpPr txBox="1">
            <a:spLocks noChangeArrowheads="1"/>
          </p:cNvSpPr>
          <p:nvPr/>
        </p:nvSpPr>
        <p:spPr bwMode="auto">
          <a:xfrm>
            <a:off x="4953000" y="1524000"/>
            <a:ext cx="2819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70C0"/>
                </a:solidFill>
                <a:latin typeface="Calibri" pitchFamily="34" charset="0"/>
              </a:rPr>
              <a:t>6</a:t>
            </a:r>
            <a:r>
              <a:rPr lang="en-US" b="1" baseline="30000">
                <a:solidFill>
                  <a:srgbClr val="0070C0"/>
                </a:solidFill>
                <a:latin typeface="Calibri" pitchFamily="34" charset="0"/>
              </a:rPr>
              <a:t>th</a:t>
            </a:r>
            <a:r>
              <a:rPr lang="en-US" b="1">
                <a:solidFill>
                  <a:srgbClr val="0070C0"/>
                </a:solidFill>
                <a:latin typeface="Calibri" pitchFamily="34" charset="0"/>
              </a:rPr>
              <a:t> Floor in CS building</a:t>
            </a:r>
          </a:p>
        </p:txBody>
      </p:sp>
      <p:sp>
        <p:nvSpPr>
          <p:cNvPr id="19" name="Rectangle 34"/>
          <p:cNvSpPr>
            <a:spLocks noChangeArrowheads="1"/>
          </p:cNvSpPr>
          <p:nvPr/>
        </p:nvSpPr>
        <p:spPr bwMode="auto">
          <a:xfrm>
            <a:off x="0" y="0"/>
            <a:ext cx="2313993" cy="461647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</a:t>
            </a:r>
            <a:r>
              <a:rPr lang="en-US" sz="2400" b="1" dirty="0" err="1">
                <a:solidFill>
                  <a:schemeClr val="bg1"/>
                </a:solidFill>
                <a:latin typeface="+mn-lt"/>
                <a:cs typeface="+mn-cs"/>
              </a:rPr>
              <a:t>Doucet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 et </a:t>
            </a: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al’01]</a:t>
            </a:r>
            <a:endParaRPr lang="en-US" sz="2400" b="1" dirty="0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500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video>
          </p:childTnLst>
        </p:cTn>
      </p:par>
    </p:tnLst>
    <p:bldLst>
      <p:bldP spid="4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Diamond_Recolored_2.avi">
            <a:hlinkClick r:id="" action="ppaction://media"/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3273425" y="1600200"/>
            <a:ext cx="5411788" cy="428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Probabilities via particle filter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7BCAA3-C4AE-497F-87C7-1FD1C169840A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16399" name="TextBox 24"/>
          <p:cNvSpPr txBox="1">
            <a:spLocks noChangeArrowheads="1"/>
          </p:cNvSpPr>
          <p:nvPr/>
        </p:nvSpPr>
        <p:spPr bwMode="auto">
          <a:xfrm>
            <a:off x="4953000" y="1524000"/>
            <a:ext cx="2819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70C0"/>
                </a:solidFill>
                <a:latin typeface="Calibri" pitchFamily="34" charset="0"/>
              </a:rPr>
              <a:t>6</a:t>
            </a:r>
            <a:r>
              <a:rPr lang="en-US" b="1" baseline="30000">
                <a:solidFill>
                  <a:srgbClr val="0070C0"/>
                </a:solidFill>
                <a:latin typeface="Calibri" pitchFamily="34" charset="0"/>
              </a:rPr>
              <a:t>th</a:t>
            </a:r>
            <a:r>
              <a:rPr lang="en-US" b="1">
                <a:solidFill>
                  <a:srgbClr val="0070C0"/>
                </a:solidFill>
                <a:latin typeface="Calibri" pitchFamily="34" charset="0"/>
              </a:rPr>
              <a:t> Floor in CS building</a:t>
            </a:r>
          </a:p>
        </p:txBody>
      </p:sp>
      <p:sp>
        <p:nvSpPr>
          <p:cNvPr id="21" name="Rectangle 34"/>
          <p:cNvSpPr>
            <a:spLocks noChangeArrowheads="1"/>
          </p:cNvSpPr>
          <p:nvPr/>
        </p:nvSpPr>
        <p:spPr bwMode="auto">
          <a:xfrm>
            <a:off x="0" y="0"/>
            <a:ext cx="5207000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>
                <a:solidFill>
                  <a:schemeClr val="bg1"/>
                </a:solidFill>
                <a:latin typeface="+mn-lt"/>
                <a:cs typeface="+mn-cs"/>
              </a:rPr>
              <a:t>[</a:t>
            </a:r>
            <a:r>
              <a:rPr lang="en-US" sz="2400" b="1" smtClean="0">
                <a:solidFill>
                  <a:schemeClr val="bg1"/>
                </a:solidFill>
                <a:latin typeface="+mn-lt"/>
                <a:cs typeface="+mn-cs"/>
              </a:rPr>
              <a:t>R 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et </a:t>
            </a:r>
            <a:r>
              <a:rPr lang="en-US" sz="2400" b="1">
                <a:solidFill>
                  <a:schemeClr val="bg1"/>
                </a:solidFill>
                <a:latin typeface="+mn-lt"/>
                <a:cs typeface="+mn-cs"/>
              </a:rPr>
              <a:t>al </a:t>
            </a:r>
            <a:r>
              <a:rPr lang="en-US" sz="2400" b="1" smtClean="0">
                <a:solidFill>
                  <a:schemeClr val="bg1"/>
                </a:solidFill>
                <a:latin typeface="+mn-lt"/>
                <a:cs typeface="+mn-cs"/>
              </a:rPr>
              <a:t>’08] [</a:t>
            </a:r>
            <a:r>
              <a:rPr lang="en-US" sz="2400" b="1" dirty="0" err="1" smtClean="0">
                <a:solidFill>
                  <a:schemeClr val="bg1"/>
                </a:solidFill>
                <a:latin typeface="+mn-lt"/>
                <a:cs typeface="+mn-cs"/>
              </a:rPr>
              <a:t>Kanagal</a:t>
            </a: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&amp; Deshpande’08]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69410" y="1143000"/>
          <a:ext cx="275479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344404"/>
                <a:gridCol w="963477"/>
                <a:gridCol w="837309"/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 smtClean="0"/>
                        <a:t>Tag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Joe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422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0.4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2"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Hall3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0.4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</a:tr>
              <a:tr h="37084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Hall4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0.2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Joe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422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0.6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2"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Hall3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0.2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</a:tr>
              <a:tr h="37084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Hall4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0.2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Sue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33400" y="4807803"/>
            <a:ext cx="3810000" cy="83099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i="1" dirty="0" smtClean="0"/>
              <a:t>“Joe entered 422 at t=8 with probability 0.36”</a:t>
            </a:r>
            <a:endParaRPr lang="en-US" sz="2400" b="1" i="1" dirty="0"/>
          </a:p>
        </p:txBody>
      </p:sp>
      <p:sp>
        <p:nvSpPr>
          <p:cNvPr id="27" name="TextBox 26"/>
          <p:cNvSpPr txBox="1"/>
          <p:nvPr/>
        </p:nvSpPr>
        <p:spPr>
          <a:xfrm>
            <a:off x="2438400" y="3276600"/>
            <a:ext cx="4419600" cy="830997"/>
          </a:xfrm>
          <a:prstGeom prst="rect">
            <a:avLst/>
          </a:prstGeom>
          <a:solidFill>
            <a:schemeClr val="tx2"/>
          </a:solidFill>
          <a:ln w="508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u="sng" dirty="0" smtClean="0">
                <a:solidFill>
                  <a:srgbClr val="FFFF00"/>
                </a:solidFill>
              </a:rPr>
              <a:t>Shameless Ad</a:t>
            </a:r>
            <a:r>
              <a:rPr lang="en-US" sz="2400" b="1" dirty="0" smtClean="0">
                <a:solidFill>
                  <a:srgbClr val="FFFF00"/>
                </a:solidFill>
              </a:rPr>
              <a:t>: Markov Correlations on Day 2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533400" y="6019800"/>
            <a:ext cx="7620000" cy="46166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libri" pitchFamily="34" charset="0"/>
              </a:rPr>
              <a:t>Query Particle Filter output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</a:rPr>
              <a:t>via At, a model based view</a:t>
            </a:r>
            <a:endParaRPr lang="en-US" sz="24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914400" y="4191000"/>
            <a:ext cx="1905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latin typeface="Calibri" pitchFamily="34" charset="0"/>
              </a:rPr>
              <a:t>At</a:t>
            </a:r>
            <a:r>
              <a:rPr lang="en-US" sz="2400" dirty="0">
                <a:latin typeface="Calibri" pitchFamily="34" charset="0"/>
              </a:rPr>
              <a:t>(</a:t>
            </a:r>
            <a:r>
              <a:rPr lang="en-US" sz="2400" u="sng" dirty="0" err="1">
                <a:latin typeface="Calibri" pitchFamily="34" charset="0"/>
              </a:rPr>
              <a:t>tag</a:t>
            </a:r>
            <a:r>
              <a:rPr lang="en-US" sz="2400" dirty="0" err="1">
                <a:latin typeface="Calibri" pitchFamily="34" charset="0"/>
              </a:rPr>
              <a:t>,loc</a:t>
            </a:r>
            <a:r>
              <a:rPr lang="en-US" sz="2400" dirty="0">
                <a:latin typeface="Calibri" pitchFamily="34" charset="0"/>
              </a:rPr>
              <a:t>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3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video>
          </p:childTnLst>
        </p:cTn>
      </p:par>
    </p:tnLst>
    <p:bldLst>
      <p:bldP spid="26" grpId="0" animBg="1"/>
      <p:bldP spid="27" grpId="0" animBg="1"/>
      <p:bldP spid="27" grpId="1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55199A-BFC4-48FD-B38D-D70F05512593}" type="slidenum">
              <a:rPr lang="en-US"/>
              <a:pPr>
                <a:defRPr/>
              </a:pPr>
              <a:t>13</a:t>
            </a:fld>
            <a:endParaRPr lang="en-US"/>
          </a:p>
        </p:txBody>
      </p:sp>
      <p:pic>
        <p:nvPicPr>
          <p:cNvPr id="18435" name="Picture 10" descr="alice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828800"/>
            <a:ext cx="2971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AutoShape 5"/>
          <p:cNvSpPr>
            <a:spLocks noChangeArrowheads="1"/>
          </p:cNvSpPr>
          <p:nvPr/>
        </p:nvSpPr>
        <p:spPr bwMode="auto">
          <a:xfrm>
            <a:off x="4495800" y="5105400"/>
            <a:ext cx="1219200" cy="11430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 b="1" dirty="0">
                <a:latin typeface="Calibri" pitchFamily="34" charset="0"/>
              </a:rPr>
              <a:t>IMDB</a:t>
            </a:r>
          </a:p>
        </p:txBody>
      </p:sp>
      <p:sp>
        <p:nvSpPr>
          <p:cNvPr id="18437" name="Text Box 7"/>
          <p:cNvSpPr txBox="1">
            <a:spLocks noChangeArrowheads="1"/>
          </p:cNvSpPr>
          <p:nvPr/>
        </p:nvSpPr>
        <p:spPr bwMode="auto">
          <a:xfrm>
            <a:off x="4191000" y="2895600"/>
            <a:ext cx="4724400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Calibri" pitchFamily="34" charset="0"/>
              </a:rPr>
              <a:t>IMDB: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2400">
                <a:latin typeface="Calibri" pitchFamily="34" charset="0"/>
              </a:rPr>
              <a:t> Lots of data !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2400">
                <a:latin typeface="Calibri" pitchFamily="34" charset="0"/>
              </a:rPr>
              <a:t> Well maintained and clean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2400">
                <a:latin typeface="Calibri" pitchFamily="34" charset="0"/>
              </a:rPr>
              <a:t> But no reviews!</a:t>
            </a:r>
          </a:p>
        </p:txBody>
      </p:sp>
      <p:sp>
        <p:nvSpPr>
          <p:cNvPr id="18438" name="Rectangle 8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534400" cy="1143000"/>
          </a:xfrm>
        </p:spPr>
        <p:txBody>
          <a:bodyPr/>
          <a:lstStyle/>
          <a:p>
            <a:pPr eaLnBrk="1" hangingPunct="1"/>
            <a:r>
              <a:rPr lang="en-US" smtClean="0"/>
              <a:t>Example 2: Alice Looks for Movies</a:t>
            </a:r>
          </a:p>
        </p:txBody>
      </p:sp>
      <p:sp>
        <p:nvSpPr>
          <p:cNvPr id="18439" name="AutoShape 3"/>
          <p:cNvSpPr>
            <a:spLocks noChangeArrowheads="1"/>
          </p:cNvSpPr>
          <p:nvPr/>
        </p:nvSpPr>
        <p:spPr bwMode="auto">
          <a:xfrm>
            <a:off x="2498725" y="1676400"/>
            <a:ext cx="4962525" cy="1136650"/>
          </a:xfrm>
          <a:prstGeom prst="wedgeEllipseCallout">
            <a:avLst>
              <a:gd name="adj1" fmla="val -46481"/>
              <a:gd name="adj2" fmla="val 6326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Calibri" pitchFamily="34" charset="0"/>
              </a:rPr>
              <a:t>I’d like to know which</a:t>
            </a:r>
            <a:br>
              <a:rPr lang="en-US" sz="2400">
                <a:latin typeface="Calibri" pitchFamily="34" charset="0"/>
              </a:rPr>
            </a:br>
            <a:r>
              <a:rPr lang="en-US" sz="2400">
                <a:latin typeface="Calibri" pitchFamily="34" charset="0"/>
              </a:rPr>
              <a:t>movies are really good…</a:t>
            </a:r>
            <a:endParaRPr lang="en-US">
              <a:latin typeface="Calibri" pitchFamily="34" charset="0"/>
            </a:endParaRPr>
          </a:p>
        </p:txBody>
      </p:sp>
      <p:sp>
        <p:nvSpPr>
          <p:cNvPr id="8" name="Rectangle 34"/>
          <p:cNvSpPr>
            <a:spLocks noChangeArrowheads="1"/>
          </p:cNvSpPr>
          <p:nvPr/>
        </p:nvSpPr>
        <p:spPr bwMode="auto">
          <a:xfrm>
            <a:off x="0" y="0"/>
            <a:ext cx="20304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[R,Dalvi&amp;S’07]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F35BE6-68F0-4558-A41C-5FB13FA1A40D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93192" name="Documents"/>
          <p:cNvSpPr>
            <a:spLocks noEditPoints="1" noChangeArrowheads="1"/>
          </p:cNvSpPr>
          <p:nvPr/>
        </p:nvSpPr>
        <p:spPr bwMode="auto">
          <a:xfrm>
            <a:off x="7086600" y="1828800"/>
            <a:ext cx="838200" cy="9906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3193" name="Documents"/>
          <p:cNvSpPr>
            <a:spLocks noEditPoints="1" noChangeArrowheads="1"/>
          </p:cNvSpPr>
          <p:nvPr/>
        </p:nvSpPr>
        <p:spPr bwMode="auto">
          <a:xfrm>
            <a:off x="7010400" y="2971800"/>
            <a:ext cx="838200" cy="9906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3194" name="Documents"/>
          <p:cNvSpPr>
            <a:spLocks noEditPoints="1" noChangeArrowheads="1"/>
          </p:cNvSpPr>
          <p:nvPr/>
        </p:nvSpPr>
        <p:spPr bwMode="auto">
          <a:xfrm>
            <a:off x="5867400" y="1676400"/>
            <a:ext cx="838200" cy="9906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9462" name="AutoShape 5"/>
          <p:cNvSpPr>
            <a:spLocks noChangeArrowheads="1"/>
          </p:cNvSpPr>
          <p:nvPr/>
        </p:nvSpPr>
        <p:spPr bwMode="auto">
          <a:xfrm>
            <a:off x="4495800" y="5105400"/>
            <a:ext cx="1219200" cy="11430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 b="1">
                <a:latin typeface="Calibri" pitchFamily="34" charset="0"/>
              </a:rPr>
              <a:t>IMDB</a:t>
            </a:r>
          </a:p>
        </p:txBody>
      </p:sp>
      <p:sp>
        <p:nvSpPr>
          <p:cNvPr id="19463" name="AutoShape 3"/>
          <p:cNvSpPr>
            <a:spLocks noChangeArrowheads="1"/>
          </p:cNvSpPr>
          <p:nvPr/>
        </p:nvSpPr>
        <p:spPr bwMode="auto">
          <a:xfrm>
            <a:off x="1841500" y="601663"/>
            <a:ext cx="4100513" cy="1136650"/>
          </a:xfrm>
          <a:prstGeom prst="wedgeEllipseCallout">
            <a:avLst>
              <a:gd name="adj1" fmla="val -38102"/>
              <a:gd name="adj2" fmla="val 89806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Calibri" pitchFamily="34" charset="0"/>
              </a:rPr>
              <a:t>On the web there</a:t>
            </a:r>
            <a:br>
              <a:rPr lang="en-US" sz="2400">
                <a:latin typeface="Calibri" pitchFamily="34" charset="0"/>
              </a:rPr>
            </a:br>
            <a:r>
              <a:rPr lang="en-US" sz="2400">
                <a:latin typeface="Calibri" pitchFamily="34" charset="0"/>
              </a:rPr>
              <a:t>are lots of reviews…</a:t>
            </a:r>
            <a:endParaRPr lang="en-US">
              <a:latin typeface="Calibri" pitchFamily="34" charset="0"/>
            </a:endParaRPr>
          </a:p>
        </p:txBody>
      </p:sp>
      <p:pic>
        <p:nvPicPr>
          <p:cNvPr id="19464" name="Picture 28" descr="alice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2514600"/>
            <a:ext cx="39624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1304925" y="285750"/>
            <a:ext cx="6219134" cy="649188"/>
          </a:xfrm>
          <a:prstGeom prst="wedgeEllipseCallout">
            <a:avLst>
              <a:gd name="adj1" fmla="val -30077"/>
              <a:gd name="adj2" fmla="val 435815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 smtClean="0">
                <a:latin typeface="Calibri" pitchFamily="34" charset="0"/>
              </a:rPr>
              <a:t>Which movie is the review about?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2065338" y="1600200"/>
            <a:ext cx="3999000" cy="1168539"/>
          </a:xfrm>
          <a:prstGeom prst="wedgeEllipseCallout">
            <a:avLst>
              <a:gd name="adj1" fmla="val -36201"/>
              <a:gd name="adj2" fmla="val 110055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 smtClean="0">
                <a:latin typeface="Calibri" pitchFamily="34" charset="0"/>
              </a:rPr>
              <a:t>…is the review</a:t>
            </a:r>
            <a:r>
              <a:rPr lang="en-US" sz="2400" dirty="0">
                <a:latin typeface="Calibri" pitchFamily="34" charset="0"/>
              </a:rPr>
              <a:t/>
            </a:r>
            <a:br>
              <a:rPr lang="en-US" sz="2400" dirty="0">
                <a:latin typeface="Calibri" pitchFamily="34" charset="0"/>
              </a:rPr>
            </a:br>
            <a:r>
              <a:rPr lang="en-US" sz="2400" dirty="0">
                <a:latin typeface="Calibri" pitchFamily="34" charset="0"/>
              </a:rPr>
              <a:t>positive or negative ?</a:t>
            </a:r>
          </a:p>
        </p:txBody>
      </p:sp>
      <p:sp>
        <p:nvSpPr>
          <p:cNvPr id="12" name="AutoShape 14"/>
          <p:cNvSpPr>
            <a:spLocks noChangeArrowheads="1"/>
          </p:cNvSpPr>
          <p:nvPr/>
        </p:nvSpPr>
        <p:spPr bwMode="auto">
          <a:xfrm>
            <a:off x="2716213" y="3352800"/>
            <a:ext cx="2893216" cy="1168539"/>
          </a:xfrm>
          <a:prstGeom prst="wedgeEllipseCallout">
            <a:avLst>
              <a:gd name="adj1" fmla="val -57708"/>
              <a:gd name="adj2" fmla="val -2751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 smtClean="0">
                <a:latin typeface="Calibri" pitchFamily="34" charset="0"/>
              </a:rPr>
              <a:t>…should I trust</a:t>
            </a:r>
            <a:r>
              <a:rPr lang="en-US" sz="2400" dirty="0">
                <a:latin typeface="Calibri" pitchFamily="34" charset="0"/>
              </a:rPr>
              <a:t/>
            </a:r>
            <a:br>
              <a:rPr lang="en-US" sz="2400" dirty="0">
                <a:latin typeface="Calibri" pitchFamily="34" charset="0"/>
              </a:rPr>
            </a:br>
            <a:r>
              <a:rPr lang="en-US" sz="2400" dirty="0">
                <a:latin typeface="Calibri" pitchFamily="34" charset="0"/>
              </a:rPr>
              <a:t>the reviewer ?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5778500" y="4711700"/>
            <a:ext cx="3220241" cy="193899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dirty="0">
                <a:latin typeface="Calibri" pitchFamily="34" charset="0"/>
              </a:rPr>
              <a:t>Alice needs:</a:t>
            </a:r>
          </a:p>
          <a:p>
            <a:pPr eaLnBrk="0" hangingPunct="0">
              <a:buFontTx/>
              <a:buChar char="•"/>
            </a:pPr>
            <a:r>
              <a:rPr lang="en-US" sz="2400" dirty="0" smtClean="0">
                <a:latin typeface="Calibri" pitchFamily="34" charset="0"/>
              </a:rPr>
              <a:t> Information Extraction</a:t>
            </a:r>
          </a:p>
          <a:p>
            <a:pPr eaLnBrk="0" hangingPunct="0">
              <a:buFontTx/>
              <a:buChar char="•"/>
            </a:pPr>
            <a:r>
              <a:rPr lang="en-US" sz="2400" dirty="0" smtClean="0">
                <a:latin typeface="Calibri" pitchFamily="34" charset="0"/>
              </a:rPr>
              <a:t>Fuzzy </a:t>
            </a:r>
            <a:r>
              <a:rPr lang="en-US" sz="2400" dirty="0">
                <a:latin typeface="Calibri" pitchFamily="34" charset="0"/>
              </a:rPr>
              <a:t>joins</a:t>
            </a:r>
          </a:p>
          <a:p>
            <a:pPr eaLnBrk="0" hangingPunct="0">
              <a:buFontTx/>
              <a:buChar char="•"/>
            </a:pPr>
            <a:r>
              <a:rPr lang="en-US" sz="2400" dirty="0" smtClean="0">
                <a:latin typeface="Calibri" pitchFamily="34" charset="0"/>
              </a:rPr>
              <a:t>Sentiment analysis</a:t>
            </a:r>
          </a:p>
          <a:p>
            <a:pPr eaLnBrk="0" hangingPunct="0">
              <a:buFontTx/>
              <a:buChar char="•"/>
            </a:pPr>
            <a:r>
              <a:rPr lang="en-US" sz="2400" dirty="0" smtClean="0">
                <a:latin typeface="Calibri" pitchFamily="34" charset="0"/>
              </a:rPr>
              <a:t>Social networks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" y="6167735"/>
            <a:ext cx="44958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Forced to deal with uncertainty</a:t>
            </a:r>
            <a:endParaRPr lang="en-US" sz="2400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2" grpId="0" animBg="1"/>
      <p:bldP spid="93193" grpId="0" animBg="1"/>
      <p:bldP spid="93194" grpId="0" animBg="1"/>
      <p:bldP spid="19463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1DAA5-3D52-4F10-A2D9-039820FDAE84}" type="slidenum">
              <a:rPr lang="en-US"/>
              <a:pPr>
                <a:defRPr/>
              </a:pPr>
              <a:t>15</a:t>
            </a:fld>
            <a:endParaRPr lang="en-US"/>
          </a:p>
        </p:txBody>
      </p:sp>
      <p:pic>
        <p:nvPicPr>
          <p:cNvPr id="21507" name="Picture 26" descr="alice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914400"/>
            <a:ext cx="3517900" cy="533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3201" name="AutoShape 17"/>
          <p:cNvSpPr>
            <a:spLocks noChangeArrowheads="1"/>
          </p:cNvSpPr>
          <p:nvPr/>
        </p:nvSpPr>
        <p:spPr bwMode="auto">
          <a:xfrm>
            <a:off x="1524000" y="0"/>
            <a:ext cx="4108450" cy="1328738"/>
          </a:xfrm>
          <a:prstGeom prst="wedgeRoundRectCallout">
            <a:avLst>
              <a:gd name="adj1" fmla="val -41737"/>
              <a:gd name="adj2" fmla="val 91241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Calibri" pitchFamily="34" charset="0"/>
              </a:rPr>
              <a:t>Find actors in Pulp Fiction who</a:t>
            </a:r>
            <a:br>
              <a:rPr lang="en-US" sz="2400">
                <a:latin typeface="Calibri" pitchFamily="34" charset="0"/>
              </a:rPr>
            </a:br>
            <a:r>
              <a:rPr lang="en-US" sz="2400">
                <a:latin typeface="Calibri" pitchFamily="34" charset="0"/>
              </a:rPr>
              <a:t>appeared in two </a:t>
            </a:r>
            <a:r>
              <a:rPr lang="en-US" sz="2400" i="1">
                <a:latin typeface="Calibri" pitchFamily="34" charset="0"/>
              </a:rPr>
              <a:t>bad</a:t>
            </a:r>
            <a:r>
              <a:rPr lang="en-US" sz="2400">
                <a:latin typeface="Calibri" pitchFamily="34" charset="0"/>
              </a:rPr>
              <a:t> movies</a:t>
            </a:r>
            <a:br>
              <a:rPr lang="en-US" sz="2400">
                <a:latin typeface="Calibri" pitchFamily="34" charset="0"/>
              </a:rPr>
            </a:br>
            <a:r>
              <a:rPr lang="en-US" sz="2400">
                <a:latin typeface="Calibri" pitchFamily="34" charset="0"/>
              </a:rPr>
              <a:t>five years earlier</a:t>
            </a:r>
          </a:p>
        </p:txBody>
      </p:sp>
      <p:sp>
        <p:nvSpPr>
          <p:cNvPr id="21" name="AutoShape 17"/>
          <p:cNvSpPr>
            <a:spLocks noChangeArrowheads="1"/>
          </p:cNvSpPr>
          <p:nvPr/>
        </p:nvSpPr>
        <p:spPr bwMode="auto">
          <a:xfrm>
            <a:off x="2209800" y="1828800"/>
            <a:ext cx="2827337" cy="1679575"/>
          </a:xfrm>
          <a:prstGeom prst="wedgeRoundRectCallout">
            <a:avLst>
              <a:gd name="adj1" fmla="val -57468"/>
              <a:gd name="adj2" fmla="val -38940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Calibri" pitchFamily="34" charset="0"/>
              </a:rPr>
              <a:t>Find years when</a:t>
            </a:r>
            <a:br>
              <a:rPr lang="en-US" sz="2400">
                <a:latin typeface="Calibri" pitchFamily="34" charset="0"/>
              </a:rPr>
            </a:br>
            <a:r>
              <a:rPr lang="en-US" sz="2400">
                <a:latin typeface="Calibri" pitchFamily="34" charset="0"/>
              </a:rPr>
              <a:t>‘Anthony Hopkins’</a:t>
            </a:r>
            <a:br>
              <a:rPr lang="en-US" sz="2400">
                <a:latin typeface="Calibri" pitchFamily="34" charset="0"/>
              </a:rPr>
            </a:br>
            <a:r>
              <a:rPr lang="en-US" sz="2400">
                <a:latin typeface="Calibri" pitchFamily="34" charset="0"/>
              </a:rPr>
              <a:t>starred in a good</a:t>
            </a:r>
            <a:br>
              <a:rPr lang="en-US" sz="2400">
                <a:latin typeface="Calibri" pitchFamily="34" charset="0"/>
              </a:rPr>
            </a:br>
            <a:r>
              <a:rPr lang="en-US" sz="2400">
                <a:latin typeface="Calibri" pitchFamily="34" charset="0"/>
              </a:rPr>
              <a:t>movie</a:t>
            </a:r>
          </a:p>
        </p:txBody>
      </p:sp>
      <p:sp>
        <p:nvSpPr>
          <p:cNvPr id="21513" name="AutoShape 5"/>
          <p:cNvSpPr>
            <a:spLocks noChangeArrowheads="1"/>
          </p:cNvSpPr>
          <p:nvPr/>
        </p:nvSpPr>
        <p:spPr bwMode="auto">
          <a:xfrm>
            <a:off x="4495800" y="5105400"/>
            <a:ext cx="1219200" cy="11430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 b="1">
                <a:latin typeface="Calibri" pitchFamily="34" charset="0"/>
              </a:rPr>
              <a:t>IMDB</a:t>
            </a:r>
          </a:p>
        </p:txBody>
      </p:sp>
      <p:sp>
        <p:nvSpPr>
          <p:cNvPr id="312345" name="Rectangle 25"/>
          <p:cNvSpPr>
            <a:spLocks noChangeArrowheads="1"/>
          </p:cNvSpPr>
          <p:nvPr/>
        </p:nvSpPr>
        <p:spPr bwMode="auto">
          <a:xfrm>
            <a:off x="6553200" y="4648200"/>
            <a:ext cx="2284413" cy="1917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>
                <a:latin typeface="Calibri" pitchFamily="34" charset="0"/>
              </a:rPr>
              <a:t>A </a:t>
            </a:r>
            <a:r>
              <a:rPr lang="en-US" sz="2400" b="1">
                <a:latin typeface="Calibri" pitchFamily="34" charset="0"/>
              </a:rPr>
              <a:t>probabilistic</a:t>
            </a:r>
            <a:br>
              <a:rPr lang="en-US" sz="2400" b="1">
                <a:latin typeface="Calibri" pitchFamily="34" charset="0"/>
              </a:rPr>
            </a:br>
            <a:r>
              <a:rPr lang="en-US" sz="2400" b="1">
                <a:latin typeface="Calibri" pitchFamily="34" charset="0"/>
              </a:rPr>
              <a:t>database</a:t>
            </a:r>
            <a:r>
              <a:rPr lang="en-US" sz="2400">
                <a:latin typeface="Calibri" pitchFamily="34" charset="0"/>
              </a:rPr>
              <a:t> can</a:t>
            </a:r>
            <a:br>
              <a:rPr lang="en-US" sz="2400">
                <a:latin typeface="Calibri" pitchFamily="34" charset="0"/>
              </a:rPr>
            </a:br>
            <a:r>
              <a:rPr lang="en-US" sz="2400">
                <a:latin typeface="Calibri" pitchFamily="34" charset="0"/>
              </a:rPr>
              <a:t>help Alice store</a:t>
            </a:r>
            <a:br>
              <a:rPr lang="en-US" sz="2400">
                <a:latin typeface="Calibri" pitchFamily="34" charset="0"/>
              </a:rPr>
            </a:br>
            <a:r>
              <a:rPr lang="en-US" sz="2400">
                <a:latin typeface="Calibri" pitchFamily="34" charset="0"/>
              </a:rPr>
              <a:t>and query her</a:t>
            </a:r>
            <a:br>
              <a:rPr lang="en-US" sz="2400">
                <a:latin typeface="Calibri" pitchFamily="34" charset="0"/>
              </a:rPr>
            </a:br>
            <a:r>
              <a:rPr lang="en-US" sz="2400">
                <a:latin typeface="Calibri" pitchFamily="34" charset="0"/>
              </a:rPr>
              <a:t>uncertain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0200" y="1524000"/>
            <a:ext cx="3733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 smtClean="0"/>
              <a:t>Alice’s workflow: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Download reviews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Information Extraction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Fuzzy Joins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Query </a:t>
            </a:r>
            <a:r>
              <a:rPr lang="en-US" sz="2400" dirty="0" err="1" smtClean="0"/>
              <a:t>pDB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6705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IE </a:t>
            </a:r>
            <a:endParaRPr lang="en-US" dirty="0"/>
          </a:p>
        </p:txBody>
      </p:sp>
      <p:sp>
        <p:nvSpPr>
          <p:cNvPr id="16" name="Documents"/>
          <p:cNvSpPr>
            <a:spLocks noEditPoints="1" noChangeArrowheads="1"/>
          </p:cNvSpPr>
          <p:nvPr/>
        </p:nvSpPr>
        <p:spPr bwMode="auto">
          <a:xfrm>
            <a:off x="5867400" y="0"/>
            <a:ext cx="457200" cy="4572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477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7239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467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FJ 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229600" y="76200"/>
            <a:ext cx="838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pDB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8001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6096000" y="609600"/>
            <a:ext cx="152400" cy="2286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715000" y="0"/>
            <a:ext cx="3429000" cy="838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25809E-6 L 0.08333 1.25809E-6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333 1.25809E-6 L 0.16667 1.25809E-6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667 1.25809E-6 L 0.25 1.25809E-6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01" grpId="0" animBg="1"/>
      <p:bldP spid="21" grpId="0" animBg="1"/>
      <p:bldP spid="312345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3" grpId="1" animBg="1"/>
      <p:bldP spid="23" grpId="2" animBg="1"/>
      <p:bldP spid="23" grpId="3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FFBF9B-2975-4A39-80B7-4C884B4B03FC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588" y="60960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Alice needs Information Extraction</a:t>
            </a:r>
          </a:p>
        </p:txBody>
      </p:sp>
      <p:graphicFrame>
        <p:nvGraphicFramePr>
          <p:cNvPr id="67757" name="Group 173"/>
          <p:cNvGraphicFramePr>
            <a:graphicFrameLocks noGrp="1"/>
          </p:cNvGraphicFramePr>
          <p:nvPr/>
        </p:nvGraphicFramePr>
        <p:xfrm>
          <a:off x="228600" y="3048000"/>
          <a:ext cx="6858000" cy="3111500"/>
        </p:xfrm>
        <a:graphic>
          <a:graphicData uri="http://schemas.openxmlformats.org/drawingml/2006/table">
            <a:tbl>
              <a:tblPr/>
              <a:tblGrid>
                <a:gridCol w="762000"/>
                <a:gridCol w="1371600"/>
                <a:gridCol w="1981200"/>
                <a:gridCol w="1828800"/>
                <a:gridCol w="914400"/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ID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80" charset="-128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House-No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Street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City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Goregaon West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Mumbai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52-A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Goregaon West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Mumbai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Goregaon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West Mumbai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52-A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Goregaon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West Mumbai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. . . 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. . . 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. . . 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. . . 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 . . . 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8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8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8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</a:tbl>
          </a:graphicData>
        </a:graphic>
      </p:graphicFrame>
      <p:sp>
        <p:nvSpPr>
          <p:cNvPr id="25654" name="AutoShape 115"/>
          <p:cNvSpPr>
            <a:spLocks noChangeArrowheads="1"/>
          </p:cNvSpPr>
          <p:nvPr/>
        </p:nvSpPr>
        <p:spPr bwMode="auto">
          <a:xfrm>
            <a:off x="381000" y="1990725"/>
            <a:ext cx="5568950" cy="604838"/>
          </a:xfrm>
          <a:prstGeom prst="foldedCorner">
            <a:avLst>
              <a:gd name="adj" fmla="val 18412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>
                <a:latin typeface="Calibri" pitchFamily="34" charset="0"/>
              </a:rPr>
              <a:t>...52 A Goregaon West Mumbai ...</a:t>
            </a:r>
          </a:p>
        </p:txBody>
      </p:sp>
      <p:sp>
        <p:nvSpPr>
          <p:cNvPr id="67734" name="AutoShape 150"/>
          <p:cNvSpPr>
            <a:spLocks noChangeArrowheads="1"/>
          </p:cNvSpPr>
          <p:nvPr/>
        </p:nvSpPr>
        <p:spPr bwMode="auto">
          <a:xfrm>
            <a:off x="1447800" y="6248400"/>
            <a:ext cx="4714875" cy="508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+mn-lt"/>
                <a:cs typeface="+mn-cs"/>
              </a:rPr>
              <a:t>Here probabilities are meaningful</a:t>
            </a:r>
          </a:p>
        </p:txBody>
      </p:sp>
      <p:sp>
        <p:nvSpPr>
          <p:cNvPr id="25657" name="Rectangle 152"/>
          <p:cNvSpPr>
            <a:spLocks noChangeArrowheads="1"/>
          </p:cNvSpPr>
          <p:nvPr/>
        </p:nvSpPr>
        <p:spPr bwMode="auto">
          <a:xfrm>
            <a:off x="261938" y="2560638"/>
            <a:ext cx="1639887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defTabSz="642938"/>
            <a:r>
              <a:rPr lang="en-US">
                <a:latin typeface="Calibri" pitchFamily="34" charset="0"/>
              </a:rPr>
              <a:t>Address</a:t>
            </a:r>
            <a:r>
              <a:rPr lang="en-US" baseline="30000">
                <a:latin typeface="Calibri" pitchFamily="34" charset="0"/>
              </a:rPr>
              <a:t>p</a:t>
            </a:r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0" y="0"/>
            <a:ext cx="32369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[Gupta&amp;Sarawagi’2006]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IE </a:t>
            </a:r>
            <a:endParaRPr lang="en-US" dirty="0"/>
          </a:p>
        </p:txBody>
      </p:sp>
      <p:sp>
        <p:nvSpPr>
          <p:cNvPr id="11" name="Documents"/>
          <p:cNvSpPr>
            <a:spLocks noEditPoints="1" noChangeArrowheads="1"/>
          </p:cNvSpPr>
          <p:nvPr/>
        </p:nvSpPr>
        <p:spPr bwMode="auto">
          <a:xfrm>
            <a:off x="5867400" y="0"/>
            <a:ext cx="457200" cy="4572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6477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7239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467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FJ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0" y="76200"/>
            <a:ext cx="838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pDB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6" name="Right Arrow 15"/>
          <p:cNvSpPr/>
          <p:nvPr/>
        </p:nvSpPr>
        <p:spPr>
          <a:xfrm>
            <a:off x="8001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Up Arrow 16"/>
          <p:cNvSpPr/>
          <p:nvPr/>
        </p:nvSpPr>
        <p:spPr>
          <a:xfrm>
            <a:off x="6858000" y="533400"/>
            <a:ext cx="152400" cy="2286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715000" y="0"/>
            <a:ext cx="3429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Queries on IE</a:t>
            </a:r>
          </a:p>
        </p:txBody>
      </p:sp>
      <p:sp>
        <p:nvSpPr>
          <p:cNvPr id="297987" name="Rectangle 3"/>
          <p:cNvSpPr>
            <a:spLocks noChangeArrowheads="1"/>
          </p:cNvSpPr>
          <p:nvPr/>
        </p:nvSpPr>
        <p:spPr bwMode="auto">
          <a:xfrm>
            <a:off x="228600" y="2133600"/>
            <a:ext cx="6030913" cy="1173163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407" tIns="45704" rIns="91407" bIns="45704"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dirty="0">
                <a:latin typeface="+mn-lt"/>
                <a:cs typeface="+mn-cs"/>
              </a:rPr>
              <a:t>SELECT DISTINCT x.name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dirty="0">
                <a:latin typeface="+mn-lt"/>
                <a:cs typeface="+mn-cs"/>
              </a:rPr>
              <a:t>FROM Person x,   </a:t>
            </a:r>
            <a:r>
              <a:rPr lang="en-US" sz="2200" dirty="0" err="1">
                <a:latin typeface="+mn-lt"/>
                <a:cs typeface="+mn-cs"/>
              </a:rPr>
              <a:t>Address</a:t>
            </a:r>
            <a:r>
              <a:rPr lang="en-US" sz="2200" baseline="30000" dirty="0" err="1">
                <a:latin typeface="+mn-lt"/>
                <a:cs typeface="+mn-cs"/>
              </a:rPr>
              <a:t>p</a:t>
            </a:r>
            <a:r>
              <a:rPr lang="en-US" sz="2200" dirty="0">
                <a:latin typeface="+mn-lt"/>
                <a:cs typeface="+mn-cs"/>
              </a:rPr>
              <a:t> y</a:t>
            </a:r>
            <a:br>
              <a:rPr lang="en-US" sz="2200" dirty="0">
                <a:latin typeface="+mn-lt"/>
                <a:cs typeface="+mn-cs"/>
              </a:rPr>
            </a:br>
            <a:r>
              <a:rPr lang="en-US" sz="2200" dirty="0">
                <a:latin typeface="+mn-lt"/>
                <a:cs typeface="+mn-cs"/>
              </a:rPr>
              <a:t>WHERE x.ID = y.ID and </a:t>
            </a:r>
            <a:r>
              <a:rPr lang="en-US" sz="2200" dirty="0" err="1">
                <a:latin typeface="+mn-lt"/>
                <a:cs typeface="+mn-cs"/>
              </a:rPr>
              <a:t>y.city</a:t>
            </a:r>
            <a:r>
              <a:rPr lang="en-US" sz="2200" dirty="0">
                <a:latin typeface="+mn-lt"/>
                <a:cs typeface="+mn-cs"/>
              </a:rPr>
              <a:t> = ‘West Mumbai’</a:t>
            </a:r>
          </a:p>
        </p:txBody>
      </p:sp>
      <p:sp>
        <p:nvSpPr>
          <p:cNvPr id="297988" name="Oval 4"/>
          <p:cNvSpPr>
            <a:spLocks noChangeArrowheads="1"/>
          </p:cNvSpPr>
          <p:nvPr/>
        </p:nvSpPr>
        <p:spPr bwMode="auto">
          <a:xfrm>
            <a:off x="2133600" y="2486025"/>
            <a:ext cx="1690688" cy="533400"/>
          </a:xfrm>
          <a:prstGeom prst="ellips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228600" y="1524000"/>
            <a:ext cx="4960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>
                <a:latin typeface="Calibri" pitchFamily="34" charset="0"/>
              </a:rPr>
              <a:t>Find people living in ‘West Mumbai’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IE </a:t>
            </a:r>
            <a:endParaRPr lang="en-US" dirty="0"/>
          </a:p>
        </p:txBody>
      </p:sp>
      <p:sp>
        <p:nvSpPr>
          <p:cNvPr id="15" name="Documents"/>
          <p:cNvSpPr>
            <a:spLocks noEditPoints="1" noChangeArrowheads="1"/>
          </p:cNvSpPr>
          <p:nvPr/>
        </p:nvSpPr>
        <p:spPr bwMode="auto">
          <a:xfrm>
            <a:off x="5867400" y="0"/>
            <a:ext cx="457200" cy="4572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477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7239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467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FJ 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8229600" y="76200"/>
            <a:ext cx="838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pDB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0" name="Right Arrow 19"/>
          <p:cNvSpPr/>
          <p:nvPr/>
        </p:nvSpPr>
        <p:spPr>
          <a:xfrm>
            <a:off x="8001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/>
          <p:cNvSpPr/>
          <p:nvPr/>
        </p:nvSpPr>
        <p:spPr>
          <a:xfrm>
            <a:off x="6858000" y="533400"/>
            <a:ext cx="152400" cy="2286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715000" y="0"/>
            <a:ext cx="3429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Group 173"/>
          <p:cNvGraphicFramePr>
            <a:graphicFrameLocks noGrp="1"/>
          </p:cNvGraphicFramePr>
          <p:nvPr/>
        </p:nvGraphicFramePr>
        <p:xfrm>
          <a:off x="228600" y="3733800"/>
          <a:ext cx="6858000" cy="2222500"/>
        </p:xfrm>
        <a:graphic>
          <a:graphicData uri="http://schemas.openxmlformats.org/drawingml/2006/table">
            <a:tbl>
              <a:tblPr/>
              <a:tblGrid>
                <a:gridCol w="762000"/>
                <a:gridCol w="1371600"/>
                <a:gridCol w="1981200"/>
                <a:gridCol w="1828800"/>
                <a:gridCol w="914400"/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ID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80" charset="-128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House-No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Street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City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Goregaon West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Mumbai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52-A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Goregaon West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Mumbai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Goregaon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West Mumbai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52-A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Goregaon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West Mumbai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Group 171"/>
          <p:cNvGraphicFramePr>
            <a:graphicFrameLocks noGrp="1"/>
          </p:cNvGraphicFramePr>
          <p:nvPr/>
        </p:nvGraphicFramePr>
        <p:xfrm>
          <a:off x="7315200" y="2667000"/>
          <a:ext cx="1514475" cy="612600"/>
        </p:xfrm>
        <a:graphic>
          <a:graphicData uri="http://schemas.openxmlformats.org/drawingml/2006/table">
            <a:tbl>
              <a:tblPr/>
              <a:tblGrid>
                <a:gridCol w="688975"/>
                <a:gridCol w="825500"/>
              </a:tblGrid>
              <a:tr h="263525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By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P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Joe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0.4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52400" y="6096000"/>
            <a:ext cx="792480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If kept only most likely extraction, would return empty set</a:t>
            </a:r>
            <a:endParaRPr lang="en-US" sz="2400" dirty="0"/>
          </a:p>
        </p:txBody>
      </p:sp>
      <p:sp>
        <p:nvSpPr>
          <p:cNvPr id="27" name="Left Arrow 26"/>
          <p:cNvSpPr/>
          <p:nvPr/>
        </p:nvSpPr>
        <p:spPr>
          <a:xfrm>
            <a:off x="7239000" y="4602480"/>
            <a:ext cx="457200" cy="27432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7" grpId="0" animBg="1"/>
      <p:bldP spid="297988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DCAC52-4CC1-4E13-8C06-AA34473DB3D5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Queries on IE</a:t>
            </a:r>
          </a:p>
        </p:txBody>
      </p:sp>
      <p:sp>
        <p:nvSpPr>
          <p:cNvPr id="297987" name="Rectangle 3"/>
          <p:cNvSpPr>
            <a:spLocks noChangeArrowheads="1"/>
          </p:cNvSpPr>
          <p:nvPr/>
        </p:nvSpPr>
        <p:spPr bwMode="auto">
          <a:xfrm>
            <a:off x="685800" y="2362200"/>
            <a:ext cx="6030913" cy="1173163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407" tIns="45704" rIns="91407" bIns="45704"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>
                <a:latin typeface="+mn-lt"/>
                <a:cs typeface="+mn-cs"/>
              </a:rPr>
              <a:t>SELECT DISTINCT x.name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>
                <a:latin typeface="+mn-lt"/>
                <a:cs typeface="+mn-cs"/>
              </a:rPr>
              <a:t>FROM Person x,   Address</a:t>
            </a:r>
            <a:r>
              <a:rPr lang="en-US" sz="2200" baseline="30000">
                <a:latin typeface="+mn-lt"/>
                <a:cs typeface="+mn-cs"/>
              </a:rPr>
              <a:t>p</a:t>
            </a:r>
            <a:r>
              <a:rPr lang="en-US" sz="2200">
                <a:latin typeface="+mn-lt"/>
                <a:cs typeface="+mn-cs"/>
              </a:rPr>
              <a:t> y</a:t>
            </a:r>
            <a:br>
              <a:rPr lang="en-US" sz="2200">
                <a:latin typeface="+mn-lt"/>
                <a:cs typeface="+mn-cs"/>
              </a:rPr>
            </a:br>
            <a:r>
              <a:rPr lang="en-US" sz="2200">
                <a:latin typeface="+mn-lt"/>
                <a:cs typeface="+mn-cs"/>
              </a:rPr>
              <a:t>WHERE x.ID = y.ID and y.city = ‘West Mumbai’</a:t>
            </a:r>
          </a:p>
        </p:txBody>
      </p:sp>
      <p:sp>
        <p:nvSpPr>
          <p:cNvPr id="297988" name="Oval 4"/>
          <p:cNvSpPr>
            <a:spLocks noChangeArrowheads="1"/>
          </p:cNvSpPr>
          <p:nvPr/>
        </p:nvSpPr>
        <p:spPr bwMode="auto">
          <a:xfrm>
            <a:off x="2590800" y="2714625"/>
            <a:ext cx="1690688" cy="533400"/>
          </a:xfrm>
          <a:prstGeom prst="ellips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685800" y="1752600"/>
            <a:ext cx="4960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>
                <a:latin typeface="Calibri" pitchFamily="34" charset="0"/>
              </a:rPr>
              <a:t>Find people living in ‘West Mumbai’</a:t>
            </a:r>
          </a:p>
        </p:txBody>
      </p:sp>
      <p:sp>
        <p:nvSpPr>
          <p:cNvPr id="297990" name="Rectangle 6"/>
          <p:cNvSpPr>
            <a:spLocks noChangeArrowheads="1"/>
          </p:cNvSpPr>
          <p:nvPr/>
        </p:nvSpPr>
        <p:spPr bwMode="auto">
          <a:xfrm>
            <a:off x="609600" y="5527675"/>
            <a:ext cx="8005910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+mn-lt"/>
                <a:cs typeface="+mn-cs"/>
              </a:rPr>
              <a:t>Today: </a:t>
            </a:r>
            <a:r>
              <a:rPr lang="en-US" sz="2800" dirty="0" smtClean="0">
                <a:latin typeface="+mn-lt"/>
                <a:cs typeface="+mn-cs"/>
              </a:rPr>
              <a:t>keep only </a:t>
            </a:r>
            <a:r>
              <a:rPr lang="en-US" sz="2800" dirty="0">
                <a:latin typeface="+mn-lt"/>
                <a:cs typeface="+mn-cs"/>
              </a:rPr>
              <a:t>the </a:t>
            </a:r>
            <a:r>
              <a:rPr lang="en-US" sz="2800" i="1" dirty="0">
                <a:latin typeface="+mn-lt"/>
                <a:cs typeface="+mn-cs"/>
              </a:rPr>
              <a:t>most likely extraction</a:t>
            </a:r>
            <a:r>
              <a:rPr lang="en-US" sz="2800" dirty="0">
                <a:latin typeface="+mn-lt"/>
                <a:cs typeface="+mn-cs"/>
              </a:rPr>
              <a:t>: low recall.</a:t>
            </a:r>
            <a:br>
              <a:rPr lang="en-US" sz="2800" dirty="0">
                <a:latin typeface="+mn-lt"/>
                <a:cs typeface="+mn-cs"/>
              </a:rPr>
            </a:br>
            <a:r>
              <a:rPr lang="en-US" sz="2800" dirty="0" err="1">
                <a:latin typeface="+mn-lt"/>
                <a:cs typeface="+mn-cs"/>
              </a:rPr>
              <a:t>pDBs</a:t>
            </a:r>
            <a:r>
              <a:rPr lang="en-US" sz="2800" dirty="0">
                <a:latin typeface="+mn-lt"/>
                <a:cs typeface="+mn-cs"/>
              </a:rPr>
              <a:t> keeps </a:t>
            </a:r>
            <a:r>
              <a:rPr lang="en-US" sz="2800" b="1" u="sng" dirty="0">
                <a:latin typeface="+mn-lt"/>
                <a:cs typeface="+mn-cs"/>
              </a:rPr>
              <a:t>all</a:t>
            </a:r>
            <a:r>
              <a:rPr lang="en-US" sz="2800" dirty="0">
                <a:latin typeface="+mn-lt"/>
                <a:cs typeface="+mn-cs"/>
              </a:rPr>
              <a:t> extractions: higher recall.</a:t>
            </a:r>
          </a:p>
        </p:txBody>
      </p:sp>
      <p:sp>
        <p:nvSpPr>
          <p:cNvPr id="297991" name="Rectangle 7"/>
          <p:cNvSpPr>
            <a:spLocks noChangeArrowheads="1"/>
          </p:cNvSpPr>
          <p:nvPr/>
        </p:nvSpPr>
        <p:spPr bwMode="auto">
          <a:xfrm>
            <a:off x="685800" y="4114800"/>
            <a:ext cx="6784975" cy="1173163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407" tIns="45704" rIns="91407" bIns="45704"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dirty="0">
                <a:latin typeface="+mn-lt"/>
                <a:cs typeface="+mn-cs"/>
              </a:rPr>
              <a:t>SELECT DISTINCT x.name, u.name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dirty="0">
                <a:latin typeface="+mn-lt"/>
                <a:cs typeface="+mn-cs"/>
              </a:rPr>
              <a:t>FROM Person x,   </a:t>
            </a:r>
            <a:r>
              <a:rPr lang="en-US" sz="2200" dirty="0" err="1">
                <a:latin typeface="+mn-lt"/>
                <a:cs typeface="+mn-cs"/>
              </a:rPr>
              <a:t>Address</a:t>
            </a:r>
            <a:r>
              <a:rPr lang="en-US" sz="2200" baseline="30000" dirty="0" err="1">
                <a:latin typeface="+mn-lt"/>
                <a:cs typeface="+mn-cs"/>
              </a:rPr>
              <a:t>p</a:t>
            </a:r>
            <a:r>
              <a:rPr lang="en-US" sz="2200" dirty="0">
                <a:latin typeface="+mn-lt"/>
                <a:cs typeface="+mn-cs"/>
              </a:rPr>
              <a:t> y, Person u, </a:t>
            </a:r>
            <a:r>
              <a:rPr lang="en-US" sz="2200" dirty="0" err="1">
                <a:latin typeface="+mn-lt"/>
                <a:cs typeface="+mn-cs"/>
              </a:rPr>
              <a:t>Address</a:t>
            </a:r>
            <a:r>
              <a:rPr lang="en-US" sz="2200" baseline="30000" dirty="0" err="1">
                <a:latin typeface="+mn-lt"/>
                <a:cs typeface="+mn-cs"/>
              </a:rPr>
              <a:t>p</a:t>
            </a:r>
            <a:r>
              <a:rPr lang="en-US" sz="2200" dirty="0">
                <a:latin typeface="+mn-lt"/>
                <a:cs typeface="+mn-cs"/>
              </a:rPr>
              <a:t> v</a:t>
            </a:r>
            <a:br>
              <a:rPr lang="en-US" sz="2200" dirty="0">
                <a:latin typeface="+mn-lt"/>
                <a:cs typeface="+mn-cs"/>
              </a:rPr>
            </a:br>
            <a:r>
              <a:rPr lang="en-US" sz="2200" dirty="0">
                <a:latin typeface="+mn-lt"/>
                <a:cs typeface="+mn-cs"/>
              </a:rPr>
              <a:t>WHERE x.ID = y.ID and </a:t>
            </a:r>
            <a:r>
              <a:rPr lang="en-US" sz="2200" dirty="0" err="1">
                <a:latin typeface="+mn-lt"/>
                <a:cs typeface="+mn-cs"/>
              </a:rPr>
              <a:t>y.city</a:t>
            </a:r>
            <a:r>
              <a:rPr lang="en-US" sz="2200" dirty="0">
                <a:latin typeface="+mn-lt"/>
                <a:cs typeface="+mn-cs"/>
              </a:rPr>
              <a:t> = </a:t>
            </a:r>
            <a:r>
              <a:rPr lang="en-US" sz="2200" dirty="0" err="1">
                <a:latin typeface="+mn-lt"/>
                <a:cs typeface="+mn-cs"/>
              </a:rPr>
              <a:t>v.city</a:t>
            </a:r>
            <a:r>
              <a:rPr lang="en-US" sz="2200" dirty="0">
                <a:latin typeface="+mn-lt"/>
                <a:cs typeface="+mn-cs"/>
              </a:rPr>
              <a:t> and u.ID = v.ID</a:t>
            </a:r>
          </a:p>
        </p:txBody>
      </p:sp>
      <p:sp>
        <p:nvSpPr>
          <p:cNvPr id="297993" name="Rectangle 9"/>
          <p:cNvSpPr>
            <a:spLocks noChangeArrowheads="1"/>
          </p:cNvSpPr>
          <p:nvPr/>
        </p:nvSpPr>
        <p:spPr bwMode="auto">
          <a:xfrm>
            <a:off x="685800" y="3627438"/>
            <a:ext cx="7113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>
                <a:latin typeface="Calibri" pitchFamily="34" charset="0"/>
              </a:rPr>
              <a:t>Find people of the same age, living in the same city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590800" y="4464050"/>
            <a:ext cx="3886200" cy="536575"/>
            <a:chOff x="1858" y="2889"/>
            <a:chExt cx="2254" cy="338"/>
          </a:xfrm>
        </p:grpSpPr>
        <p:sp>
          <p:nvSpPr>
            <p:cNvPr id="26635" name="Oval 8"/>
            <p:cNvSpPr>
              <a:spLocks noChangeArrowheads="1"/>
            </p:cNvSpPr>
            <p:nvPr/>
          </p:nvSpPr>
          <p:spPr bwMode="auto">
            <a:xfrm>
              <a:off x="1858" y="2891"/>
              <a:ext cx="840" cy="336"/>
            </a:xfrm>
            <a:prstGeom prst="ellips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6636" name="Oval 13"/>
            <p:cNvSpPr>
              <a:spLocks noChangeArrowheads="1"/>
            </p:cNvSpPr>
            <p:nvPr/>
          </p:nvSpPr>
          <p:spPr bwMode="auto">
            <a:xfrm>
              <a:off x="3272" y="2889"/>
              <a:ext cx="840" cy="336"/>
            </a:xfrm>
            <a:prstGeom prst="ellips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705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IE </a:t>
            </a:r>
            <a:endParaRPr lang="en-US" dirty="0"/>
          </a:p>
        </p:txBody>
      </p:sp>
      <p:sp>
        <p:nvSpPr>
          <p:cNvPr id="15" name="Documents"/>
          <p:cNvSpPr>
            <a:spLocks noEditPoints="1" noChangeArrowheads="1"/>
          </p:cNvSpPr>
          <p:nvPr/>
        </p:nvSpPr>
        <p:spPr bwMode="auto">
          <a:xfrm>
            <a:off x="5867400" y="0"/>
            <a:ext cx="457200" cy="4572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477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7239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467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FJ 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8229600" y="76200"/>
            <a:ext cx="838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pDB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0" name="Right Arrow 19"/>
          <p:cNvSpPr/>
          <p:nvPr/>
        </p:nvSpPr>
        <p:spPr>
          <a:xfrm>
            <a:off x="8001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/>
          <p:cNvSpPr/>
          <p:nvPr/>
        </p:nvSpPr>
        <p:spPr>
          <a:xfrm>
            <a:off x="6858000" y="533400"/>
            <a:ext cx="152400" cy="2286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715000" y="0"/>
            <a:ext cx="3429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9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90" grpId="0" animBg="1"/>
      <p:bldP spid="297991" grpId="0" animBg="1"/>
      <p:bldP spid="29799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64B48-B5EC-4B27-8756-A6E06F93DEDE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8763000" cy="1143000"/>
          </a:xfrm>
        </p:spPr>
        <p:txBody>
          <a:bodyPr lIns="96407" tIns="0" rIns="115689" bIns="0"/>
          <a:lstStyle/>
          <a:p>
            <a:pPr eaLnBrk="1" hangingPunct="1"/>
            <a:r>
              <a:rPr lang="en-US" dirty="0" smtClean="0"/>
              <a:t>Alice needs Fuzzy Joins</a:t>
            </a: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1524000" y="3429000"/>
            <a:ext cx="9318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defTabSz="642938"/>
            <a:r>
              <a:rPr lang="en-US" sz="3200">
                <a:latin typeface="Calibri" pitchFamily="34" charset="0"/>
              </a:rPr>
              <a:t>IMDB</a:t>
            </a: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6324600" y="3276600"/>
            <a:ext cx="117951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defTabSz="642938"/>
            <a:r>
              <a:rPr lang="en-US" sz="2800">
                <a:latin typeface="Calibri" pitchFamily="34" charset="0"/>
              </a:rPr>
              <a:t>Reviews</a:t>
            </a:r>
          </a:p>
        </p:txBody>
      </p:sp>
      <p:graphicFrame>
        <p:nvGraphicFramePr>
          <p:cNvPr id="180282" name="Group 58"/>
          <p:cNvGraphicFramePr>
            <a:graphicFrameLocks noGrp="1"/>
          </p:cNvGraphicFramePr>
          <p:nvPr/>
        </p:nvGraphicFramePr>
        <p:xfrm>
          <a:off x="125413" y="3941763"/>
          <a:ext cx="4500562" cy="2611440"/>
        </p:xfrm>
        <a:graphic>
          <a:graphicData uri="http://schemas.openxmlformats.org/drawingml/2006/table">
            <a:tbl>
              <a:tblPr/>
              <a:tblGrid>
                <a:gridCol w="3482975"/>
                <a:gridCol w="1017587"/>
              </a:tblGrid>
              <a:tr h="382588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Title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Year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Twelve Monkeys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1995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1997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1997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1935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1935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Panet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2005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0249" name="AutoShape 25"/>
          <p:cNvSpPr>
            <a:spLocks noChangeArrowheads="1"/>
          </p:cNvSpPr>
          <p:nvPr/>
        </p:nvSpPr>
        <p:spPr bwMode="auto">
          <a:xfrm flipH="1">
            <a:off x="3043238" y="2022475"/>
            <a:ext cx="2547937" cy="1384300"/>
          </a:xfrm>
          <a:prstGeom prst="wedgeEllipseCallout">
            <a:avLst>
              <a:gd name="adj1" fmla="val -4898"/>
              <a:gd name="adj2" fmla="val 79755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defTabSz="642938"/>
            <a:r>
              <a:rPr lang="en-US" sz="3200">
                <a:latin typeface="Calibri" pitchFamily="34" charset="0"/>
              </a:rPr>
              <a:t>titles don’t</a:t>
            </a:r>
            <a:br>
              <a:rPr lang="en-US" sz="3200">
                <a:latin typeface="Calibri" pitchFamily="34" charset="0"/>
              </a:rPr>
            </a:br>
            <a:r>
              <a:rPr lang="en-US" sz="3200">
                <a:latin typeface="Calibri" pitchFamily="34" charset="0"/>
              </a:rPr>
              <a:t>match</a:t>
            </a:r>
          </a:p>
        </p:txBody>
      </p:sp>
      <p:graphicFrame>
        <p:nvGraphicFramePr>
          <p:cNvPr id="180293" name="Group 69"/>
          <p:cNvGraphicFramePr>
            <a:graphicFrameLocks noGrp="1"/>
          </p:cNvGraphicFramePr>
          <p:nvPr/>
        </p:nvGraphicFramePr>
        <p:xfrm>
          <a:off x="4800600" y="3733800"/>
          <a:ext cx="4179888" cy="2459038"/>
        </p:xfrm>
        <a:graphic>
          <a:graphicData uri="http://schemas.openxmlformats.org/drawingml/2006/table">
            <a:tbl>
              <a:tblPr/>
              <a:tblGrid>
                <a:gridCol w="2366963"/>
                <a:gridCol w="847725"/>
                <a:gridCol w="965200"/>
              </a:tblGrid>
              <a:tr h="59055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81213" algn="l"/>
                        </a:tabLst>
                      </a:pP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Review</a:t>
                      </a:r>
                    </a:p>
                  </a:txBody>
                  <a:tcPr marL="371" marR="371" marT="371" marB="371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</a:tabLst>
                      </a:pP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By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196975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Rating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</a:tr>
              <a:tr h="588963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81213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12 Monkeys</a:t>
                      </a:r>
                    </a:p>
                  </a:txBody>
                  <a:tcPr marL="371" marR="371" marT="371" marB="371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Joe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196975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4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81213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Boy</a:t>
                      </a:r>
                    </a:p>
                  </a:txBody>
                  <a:tcPr marL="371" marR="371" marT="371" marB="371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Jim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196975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2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81213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</a:t>
                      </a:r>
                    </a:p>
                  </a:txBody>
                  <a:tcPr marL="371" marR="371" marT="371" marB="371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Joe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196975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2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05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IE </a:t>
            </a:r>
            <a:endParaRPr lang="en-US" dirty="0"/>
          </a:p>
        </p:txBody>
      </p:sp>
      <p:sp>
        <p:nvSpPr>
          <p:cNvPr id="10" name="Documents"/>
          <p:cNvSpPr>
            <a:spLocks noEditPoints="1" noChangeArrowheads="1"/>
          </p:cNvSpPr>
          <p:nvPr/>
        </p:nvSpPr>
        <p:spPr bwMode="auto">
          <a:xfrm>
            <a:off x="5867400" y="0"/>
            <a:ext cx="457200" cy="4572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6477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7239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467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FJ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229600" y="76200"/>
            <a:ext cx="838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pDB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5" name="Right Arrow 14"/>
          <p:cNvSpPr/>
          <p:nvPr/>
        </p:nvSpPr>
        <p:spPr>
          <a:xfrm>
            <a:off x="8001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/>
          <p:cNvSpPr/>
          <p:nvPr/>
        </p:nvSpPr>
        <p:spPr>
          <a:xfrm>
            <a:off x="7620000" y="533400"/>
            <a:ext cx="152400" cy="2286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715000" y="0"/>
            <a:ext cx="3429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AB0121-C15B-4281-A072-CAE094E7AEFC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 lIns="96407" tIns="0" rIns="115689" bIns="0"/>
          <a:lstStyle/>
          <a:p>
            <a:pPr eaLnBrk="1" hangingPunct="1"/>
            <a:r>
              <a:rPr lang="en-US" dirty="0" smtClean="0"/>
              <a:t>Result of a Fuzzy Join</a:t>
            </a:r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1143000" y="2133600"/>
            <a:ext cx="335597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defTabSz="642938"/>
            <a:r>
              <a:rPr lang="en-US">
                <a:latin typeface="Calibri" pitchFamily="34" charset="0"/>
              </a:rPr>
              <a:t>TitleReviewMatch</a:t>
            </a:r>
            <a:r>
              <a:rPr lang="en-US" baseline="30000">
                <a:latin typeface="Calibri" pitchFamily="34" charset="0"/>
              </a:rPr>
              <a:t>p</a:t>
            </a:r>
          </a:p>
        </p:txBody>
      </p:sp>
      <p:graphicFrame>
        <p:nvGraphicFramePr>
          <p:cNvPr id="182322" name="Group 50"/>
          <p:cNvGraphicFramePr>
            <a:graphicFrameLocks noGrp="1"/>
          </p:cNvGraphicFramePr>
          <p:nvPr/>
        </p:nvGraphicFramePr>
        <p:xfrm>
          <a:off x="1250950" y="2819400"/>
          <a:ext cx="6418263" cy="3590926"/>
        </p:xfrm>
        <a:graphic>
          <a:graphicData uri="http://schemas.openxmlformats.org/drawingml/2006/table">
            <a:tbl>
              <a:tblPr/>
              <a:tblGrid>
                <a:gridCol w="3108325"/>
                <a:gridCol w="2095500"/>
                <a:gridCol w="1214438"/>
              </a:tblGrid>
              <a:tr h="600075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Movie</a:t>
                      </a:r>
                    </a:p>
                  </a:txBody>
                  <a:tcPr marL="45" marR="45" marT="45" marB="4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98675" algn="l"/>
                        </a:tabLst>
                      </a:pP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Review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2144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P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Twelve Monkeys</a:t>
                      </a:r>
                    </a:p>
                  </a:txBody>
                  <a:tcPr marL="45" marR="45" marT="45" marB="4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98675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12 Monkeys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2144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0.7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1997</a:t>
                      </a:r>
                    </a:p>
                  </a:txBody>
                  <a:tcPr marL="45" marR="45" marT="45" marB="4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98675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12 Monkeys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2144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0.45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598488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1935</a:t>
                      </a:r>
                    </a:p>
                  </a:txBody>
                  <a:tcPr marL="45" marR="45" marT="45" marB="4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98675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2144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0.82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1935</a:t>
                      </a:r>
                    </a:p>
                  </a:txBody>
                  <a:tcPr marL="45" marR="45" marT="45" marB="4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98675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Boy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2144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0.68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Planet</a:t>
                      </a:r>
                    </a:p>
                  </a:txBody>
                  <a:tcPr marL="45" marR="45" marT="45" marB="4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98675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214438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0.8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2306" name="Rectangle 34"/>
          <p:cNvSpPr>
            <a:spLocks noChangeArrowheads="1"/>
          </p:cNvSpPr>
          <p:nvPr/>
        </p:nvSpPr>
        <p:spPr bwMode="auto">
          <a:xfrm>
            <a:off x="0" y="0"/>
            <a:ext cx="3675263" cy="461647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[</a:t>
            </a:r>
            <a:r>
              <a:rPr lang="en-US" sz="2400" b="1" dirty="0" err="1" smtClean="0">
                <a:solidFill>
                  <a:schemeClr val="bg1"/>
                </a:solidFill>
                <a:latin typeface="+mn-lt"/>
                <a:cs typeface="+mn-cs"/>
              </a:rPr>
              <a:t>Gravano</a:t>
            </a: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 </a:t>
            </a:r>
            <a:r>
              <a:rPr lang="en-US" sz="2400" b="1" i="1" dirty="0" smtClean="0">
                <a:solidFill>
                  <a:schemeClr val="bg1"/>
                </a:solidFill>
                <a:latin typeface="+mn-lt"/>
                <a:cs typeface="+mn-cs"/>
              </a:rPr>
              <a:t>et al</a:t>
            </a: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’01,Arasu’06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IE </a:t>
            </a:r>
            <a:endParaRPr lang="en-US" dirty="0"/>
          </a:p>
        </p:txBody>
      </p:sp>
      <p:sp>
        <p:nvSpPr>
          <p:cNvPr id="8" name="Documents"/>
          <p:cNvSpPr>
            <a:spLocks noEditPoints="1" noChangeArrowheads="1"/>
          </p:cNvSpPr>
          <p:nvPr/>
        </p:nvSpPr>
        <p:spPr bwMode="auto">
          <a:xfrm>
            <a:off x="5867400" y="0"/>
            <a:ext cx="457200" cy="4572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477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7239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467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FJ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76200"/>
            <a:ext cx="838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pDB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8001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Up Arrow 13"/>
          <p:cNvSpPr/>
          <p:nvPr/>
        </p:nvSpPr>
        <p:spPr>
          <a:xfrm>
            <a:off x="7620000" y="533400"/>
            <a:ext cx="152400" cy="2286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715000" y="0"/>
            <a:ext cx="34290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810000" y="1976735"/>
            <a:ext cx="533400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sz="2400" b="1" i="1" dirty="0" smtClean="0"/>
              <a:t>Higher scores, more likely to match</a:t>
            </a:r>
            <a:endParaRPr lang="en-US" sz="2400" b="1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71745-C315-4A34-B17A-277117B53889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Queries over Fuzzy Joins</a:t>
            </a:r>
          </a:p>
        </p:txBody>
      </p:sp>
      <p:graphicFrame>
        <p:nvGraphicFramePr>
          <p:cNvPr id="184480" name="Group 160"/>
          <p:cNvGraphicFramePr>
            <a:graphicFrameLocks noGrp="1"/>
          </p:cNvGraphicFramePr>
          <p:nvPr/>
        </p:nvGraphicFramePr>
        <p:xfrm>
          <a:off x="1143000" y="1630363"/>
          <a:ext cx="1447800" cy="1143000"/>
        </p:xfrm>
        <a:graphic>
          <a:graphicData uri="http://schemas.openxmlformats.org/drawingml/2006/table">
            <a:tbl>
              <a:tblPr/>
              <a:tblGrid>
                <a:gridCol w="990600"/>
                <a:gridCol w="457200"/>
              </a:tblGrid>
              <a:tr h="22860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9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MovieTitle</a:t>
                      </a:r>
                      <a:endParaRPr kumimoji="0" lang="en-US" sz="9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80" charset="-128"/>
                      </a:endParaRP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Year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Twelve Monkeys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1995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97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1997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35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1935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PL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2005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4486" name="Group 166"/>
          <p:cNvGraphicFramePr>
            <a:graphicFrameLocks noGrp="1"/>
          </p:cNvGraphicFramePr>
          <p:nvPr/>
        </p:nvGraphicFramePr>
        <p:xfrm>
          <a:off x="5334000" y="1630363"/>
          <a:ext cx="1600200" cy="990601"/>
        </p:xfrm>
        <a:graphic>
          <a:graphicData uri="http://schemas.openxmlformats.org/drawingml/2006/table">
            <a:tbl>
              <a:tblPr/>
              <a:tblGrid>
                <a:gridCol w="836613"/>
                <a:gridCol w="306387"/>
                <a:gridCol w="457200"/>
              </a:tblGrid>
              <a:tr h="24765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81213" algn="l"/>
                        </a:tabLst>
                      </a:pPr>
                      <a:r>
                        <a:rPr kumimoji="0" lang="en-US" sz="9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Review</a:t>
                      </a:r>
                    </a:p>
                  </a:txBody>
                  <a:tcPr marL="371" marR="371" marT="371" marB="371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</a:tabLst>
                      </a:pPr>
                      <a:r>
                        <a:rPr kumimoji="0" lang="en-US" sz="9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By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196975" algn="l"/>
                        </a:tabLst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Rating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81213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12 Monkeys</a:t>
                      </a:r>
                    </a:p>
                  </a:txBody>
                  <a:tcPr marL="371" marR="371" marT="371" marB="371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Joe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196975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4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63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81213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Boy</a:t>
                      </a:r>
                    </a:p>
                  </a:txBody>
                  <a:tcPr marL="371" marR="371" marT="371" marB="371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Jim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196975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2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81213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</a:t>
                      </a:r>
                    </a:p>
                  </a:txBody>
                  <a:tcPr marL="371" marR="371" marT="371" marB="371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Joe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196975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2</a:t>
                      </a:r>
                    </a:p>
                  </a:txBody>
                  <a:tcPr marL="371" marR="371" marT="371" marB="37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4483" name="Group 163"/>
          <p:cNvGraphicFramePr>
            <a:graphicFrameLocks noGrp="1"/>
          </p:cNvGraphicFramePr>
          <p:nvPr>
            <p:ph idx="1"/>
          </p:nvPr>
        </p:nvGraphicFramePr>
        <p:xfrm>
          <a:off x="2743200" y="1630363"/>
          <a:ext cx="2438400" cy="1371601"/>
        </p:xfrm>
        <a:graphic>
          <a:graphicData uri="http://schemas.openxmlformats.org/drawingml/2006/table">
            <a:tbl>
              <a:tblPr/>
              <a:tblGrid>
                <a:gridCol w="1219200"/>
                <a:gridCol w="838200"/>
                <a:gridCol w="381000"/>
              </a:tblGrid>
              <a:tr h="22860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9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Movie</a:t>
                      </a:r>
                    </a:p>
                  </a:txBody>
                  <a:tcPr marL="45" marR="45" marT="45" marB="4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98675" algn="l"/>
                        </a:tabLst>
                      </a:pPr>
                      <a:r>
                        <a:rPr kumimoji="0" lang="en-US" sz="9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Review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214438" algn="l"/>
                        </a:tabLst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P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</a:tr>
              <a:tr h="227013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Twelve Monkeys</a:t>
                      </a:r>
                    </a:p>
                  </a:txBody>
                  <a:tcPr marL="45" marR="45" marT="45" marB="4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98675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12 Monkeys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2144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0.7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97</a:t>
                      </a:r>
                    </a:p>
                  </a:txBody>
                  <a:tcPr marL="45" marR="45" marT="45" marB="4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98675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12 Monkeys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2144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0.45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35</a:t>
                      </a:r>
                    </a:p>
                  </a:txBody>
                  <a:tcPr marL="45" marR="45" marT="45" marB="4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98675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2144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0.82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230188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35</a:t>
                      </a:r>
                    </a:p>
                  </a:txBody>
                  <a:tcPr marL="45" marR="45" marT="45" marB="4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98675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Boy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2144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0.68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 Planet</a:t>
                      </a:r>
                    </a:p>
                  </a:txBody>
                  <a:tcPr marL="45" marR="45" marT="45" marB="4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2098675" algn="l"/>
                        </a:tabLst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Monkey Love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1214438" algn="l"/>
                        </a:tabLst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0.8</a:t>
                      </a:r>
                    </a:p>
                  </a:txBody>
                  <a:tcPr marL="45" marR="45" marT="45" marB="45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4395" name="Rectangle 75"/>
          <p:cNvSpPr>
            <a:spLocks noChangeArrowheads="1"/>
          </p:cNvSpPr>
          <p:nvPr/>
        </p:nvSpPr>
        <p:spPr bwMode="auto">
          <a:xfrm>
            <a:off x="152400" y="3276600"/>
            <a:ext cx="4433888" cy="3683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64281" tIns="32140" rIns="64281" bIns="32140">
            <a:spAutoFit/>
          </a:bodyPr>
          <a:lstStyle/>
          <a:p>
            <a:pPr defTabSz="642938"/>
            <a:r>
              <a:rPr lang="en-US" sz="2000">
                <a:latin typeface="Calibri" pitchFamily="34" charset="0"/>
              </a:rPr>
              <a:t>Who reviewed movies made in 1935 ?</a:t>
            </a:r>
          </a:p>
        </p:txBody>
      </p:sp>
      <p:graphicFrame>
        <p:nvGraphicFramePr>
          <p:cNvPr id="184491" name="Group 171"/>
          <p:cNvGraphicFramePr>
            <a:graphicFrameLocks noGrp="1"/>
          </p:cNvGraphicFramePr>
          <p:nvPr/>
        </p:nvGraphicFramePr>
        <p:xfrm>
          <a:off x="7477125" y="3352800"/>
          <a:ext cx="1514475" cy="1371601"/>
        </p:xfrm>
        <a:graphic>
          <a:graphicData uri="http://schemas.openxmlformats.org/drawingml/2006/table">
            <a:tbl>
              <a:tblPr/>
              <a:tblGrid>
                <a:gridCol w="688975"/>
                <a:gridCol w="825500"/>
              </a:tblGrid>
              <a:tr h="263525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By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P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Joe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0.73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Fred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0.68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Jim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0.43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. . .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0.12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4673" name="Rectangle 96"/>
          <p:cNvSpPr>
            <a:spLocks noChangeArrowheads="1"/>
          </p:cNvSpPr>
          <p:nvPr/>
        </p:nvSpPr>
        <p:spPr bwMode="auto">
          <a:xfrm>
            <a:off x="1154113" y="1295400"/>
            <a:ext cx="698500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defTabSz="642938"/>
            <a:r>
              <a:rPr lang="en-US" sz="2200">
                <a:latin typeface="Calibri" pitchFamily="34" charset="0"/>
              </a:rPr>
              <a:t>IMDB</a:t>
            </a:r>
          </a:p>
        </p:txBody>
      </p:sp>
      <p:sp>
        <p:nvSpPr>
          <p:cNvPr id="24674" name="Rectangle 97"/>
          <p:cNvSpPr>
            <a:spLocks noChangeArrowheads="1"/>
          </p:cNvSpPr>
          <p:nvPr/>
        </p:nvSpPr>
        <p:spPr bwMode="auto">
          <a:xfrm>
            <a:off x="5345113" y="1295400"/>
            <a:ext cx="1055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defTabSz="642938"/>
            <a:r>
              <a:rPr lang="en-US" sz="2200">
                <a:latin typeface="Calibri" pitchFamily="34" charset="0"/>
              </a:rPr>
              <a:t>Reviews</a:t>
            </a:r>
          </a:p>
        </p:txBody>
      </p:sp>
      <p:sp>
        <p:nvSpPr>
          <p:cNvPr id="24675" name="Rectangle 98"/>
          <p:cNvSpPr>
            <a:spLocks noChangeArrowheads="1"/>
          </p:cNvSpPr>
          <p:nvPr/>
        </p:nvSpPr>
        <p:spPr bwMode="auto">
          <a:xfrm>
            <a:off x="2709863" y="1295400"/>
            <a:ext cx="2311400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defTabSz="642938"/>
            <a:r>
              <a:rPr lang="en-US" sz="2200">
                <a:latin typeface="Calibri" pitchFamily="34" charset="0"/>
              </a:rPr>
              <a:t>TitleReviewMatch</a:t>
            </a:r>
            <a:r>
              <a:rPr lang="en-US" sz="2200" baseline="30000">
                <a:latin typeface="Calibri" pitchFamily="34" charset="0"/>
              </a:rPr>
              <a:t>p</a:t>
            </a:r>
          </a:p>
        </p:txBody>
      </p:sp>
      <p:sp>
        <p:nvSpPr>
          <p:cNvPr id="184419" name="Rectangle 99"/>
          <p:cNvSpPr>
            <a:spLocks noChangeArrowheads="1"/>
          </p:cNvSpPr>
          <p:nvPr/>
        </p:nvSpPr>
        <p:spPr bwMode="auto">
          <a:xfrm>
            <a:off x="153988" y="3733800"/>
            <a:ext cx="7161212" cy="1016000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407" tIns="45704" rIns="91407" bIns="45704"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000">
                <a:latin typeface="+mn-lt"/>
                <a:cs typeface="+mn-cs"/>
              </a:rPr>
              <a:t>SELECT DISTINCT z.By</a:t>
            </a:r>
            <a:br>
              <a:rPr lang="en-US" sz="2000">
                <a:latin typeface="+mn-lt"/>
                <a:cs typeface="+mn-cs"/>
              </a:rPr>
            </a:br>
            <a:r>
              <a:rPr lang="en-US" sz="2000">
                <a:latin typeface="+mn-lt"/>
                <a:cs typeface="+mn-cs"/>
              </a:rPr>
              <a:t>FROM IMDB x, TitleReviewMatch</a:t>
            </a:r>
            <a:r>
              <a:rPr lang="en-US" sz="2000" baseline="30000">
                <a:latin typeface="+mn-lt"/>
                <a:cs typeface="+mn-cs"/>
              </a:rPr>
              <a:t>p</a:t>
            </a:r>
            <a:r>
              <a:rPr lang="en-US" sz="2000">
                <a:latin typeface="+mn-lt"/>
                <a:cs typeface="+mn-cs"/>
              </a:rPr>
              <a:t> y, Amazon z</a:t>
            </a:r>
            <a:br>
              <a:rPr lang="en-US" sz="2000">
                <a:latin typeface="+mn-lt"/>
                <a:cs typeface="+mn-cs"/>
              </a:rPr>
            </a:br>
            <a:r>
              <a:rPr lang="en-US" sz="2000">
                <a:latin typeface="+mn-lt"/>
                <a:cs typeface="+mn-cs"/>
              </a:rPr>
              <a:t>WHERE x.title=y.title </a:t>
            </a:r>
            <a:r>
              <a:rPr lang="en-US" sz="2000">
                <a:solidFill>
                  <a:srgbClr val="FFFFFF"/>
                </a:solidFill>
                <a:latin typeface="+mn-lt"/>
                <a:cs typeface="+mn-cs"/>
              </a:rPr>
              <a:t> </a:t>
            </a:r>
            <a:r>
              <a:rPr lang="en-US" sz="2000">
                <a:latin typeface="+mn-lt"/>
                <a:cs typeface="+mn-cs"/>
              </a:rPr>
              <a:t>and x.year=1935 and y.review=z.review</a:t>
            </a:r>
          </a:p>
        </p:txBody>
      </p:sp>
      <p:sp>
        <p:nvSpPr>
          <p:cNvPr id="184420" name="AutoShape 100"/>
          <p:cNvSpPr>
            <a:spLocks/>
          </p:cNvSpPr>
          <p:nvPr/>
        </p:nvSpPr>
        <p:spPr bwMode="auto">
          <a:xfrm>
            <a:off x="7848600" y="2438400"/>
            <a:ext cx="1152613" cy="408623"/>
          </a:xfrm>
          <a:prstGeom prst="wedgeRoundRectCallout">
            <a:avLst>
              <a:gd name="adj1" fmla="val -32542"/>
              <a:gd name="adj2" fmla="val 201796"/>
              <a:gd name="adj3" fmla="val 16667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defTabSz="642938"/>
            <a:r>
              <a:rPr lang="en-US" sz="2400" b="1" dirty="0">
                <a:solidFill>
                  <a:schemeClr val="bg1"/>
                </a:solidFill>
                <a:latin typeface="Calibri" pitchFamily="34" charset="0"/>
              </a:rPr>
              <a:t>Ranked !</a:t>
            </a:r>
          </a:p>
        </p:txBody>
      </p:sp>
      <p:sp>
        <p:nvSpPr>
          <p:cNvPr id="184426" name="Oval 106"/>
          <p:cNvSpPr>
            <a:spLocks noChangeArrowheads="1"/>
          </p:cNvSpPr>
          <p:nvPr/>
        </p:nvSpPr>
        <p:spPr bwMode="auto">
          <a:xfrm>
            <a:off x="1828800" y="3962400"/>
            <a:ext cx="2438400" cy="609600"/>
          </a:xfrm>
          <a:prstGeom prst="ellips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84487" name="Rectangle 167"/>
          <p:cNvSpPr>
            <a:spLocks noChangeArrowheads="1"/>
          </p:cNvSpPr>
          <p:nvPr/>
        </p:nvSpPr>
        <p:spPr bwMode="auto">
          <a:xfrm>
            <a:off x="152400" y="4876800"/>
            <a:ext cx="4362450" cy="3683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64281" tIns="32140" rIns="64281" bIns="32140">
            <a:spAutoFit/>
          </a:bodyPr>
          <a:lstStyle/>
          <a:p>
            <a:pPr defTabSz="642938"/>
            <a:r>
              <a:rPr lang="en-US" sz="2000">
                <a:latin typeface="Calibri" pitchFamily="34" charset="0"/>
              </a:rPr>
              <a:t>Find movies reviewed by Jim and Joe</a:t>
            </a:r>
          </a:p>
        </p:txBody>
      </p:sp>
      <p:sp>
        <p:nvSpPr>
          <p:cNvPr id="184488" name="Rectangle 168"/>
          <p:cNvSpPr>
            <a:spLocks noChangeArrowheads="1"/>
          </p:cNvSpPr>
          <p:nvPr/>
        </p:nvSpPr>
        <p:spPr bwMode="auto">
          <a:xfrm>
            <a:off x="152400" y="5257800"/>
            <a:ext cx="5902325" cy="1441450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407" tIns="45704" rIns="91407" bIns="45704"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000">
                <a:latin typeface="+mn-lt"/>
                <a:cs typeface="+mn-cs"/>
              </a:rPr>
              <a:t>SELECT DISTINCT x.Title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000">
                <a:latin typeface="+mn-lt"/>
                <a:cs typeface="+mn-cs"/>
              </a:rPr>
              <a:t>FROM IMDB x, TitleReviewMatch</a:t>
            </a:r>
            <a:r>
              <a:rPr lang="en-US" sz="2000" baseline="30000">
                <a:latin typeface="+mn-lt"/>
                <a:cs typeface="+mn-cs"/>
              </a:rPr>
              <a:t>p</a:t>
            </a:r>
            <a:r>
              <a:rPr lang="en-US" sz="2000">
                <a:latin typeface="+mn-lt"/>
                <a:cs typeface="+mn-cs"/>
              </a:rPr>
              <a:t> y1, Amazon z1,</a:t>
            </a:r>
            <a:br>
              <a:rPr lang="en-US" sz="2000">
                <a:latin typeface="+mn-lt"/>
                <a:cs typeface="+mn-cs"/>
              </a:rPr>
            </a:br>
            <a:r>
              <a:rPr lang="en-US" sz="2000">
                <a:latin typeface="+mn-lt"/>
                <a:cs typeface="+mn-cs"/>
              </a:rPr>
              <a:t>                         TitleReviewMatch</a:t>
            </a:r>
            <a:r>
              <a:rPr lang="en-US" sz="2000" baseline="30000">
                <a:latin typeface="+mn-lt"/>
                <a:cs typeface="+mn-cs"/>
              </a:rPr>
              <a:t>p</a:t>
            </a:r>
            <a:r>
              <a:rPr lang="en-US" sz="2000">
                <a:latin typeface="+mn-lt"/>
                <a:cs typeface="+mn-cs"/>
              </a:rPr>
              <a:t> y2, Amazon z2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000">
                <a:latin typeface="+mn-lt"/>
                <a:cs typeface="+mn-cs"/>
              </a:rPr>
              <a:t>WHERE . . .z1.By=‘Joe’ . . . . z2.By=‘Jim’ . . .</a:t>
            </a:r>
          </a:p>
        </p:txBody>
      </p:sp>
      <p:sp>
        <p:nvSpPr>
          <p:cNvPr id="184489" name="Oval 169"/>
          <p:cNvSpPr>
            <a:spLocks noChangeArrowheads="1"/>
          </p:cNvSpPr>
          <p:nvPr/>
        </p:nvSpPr>
        <p:spPr bwMode="auto">
          <a:xfrm>
            <a:off x="1828800" y="5562600"/>
            <a:ext cx="2667000" cy="914400"/>
          </a:xfrm>
          <a:prstGeom prst="ellips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latin typeface="Calibri" pitchFamily="34" charset="0"/>
            </a:endParaRPr>
          </a:p>
        </p:txBody>
      </p:sp>
      <p:graphicFrame>
        <p:nvGraphicFramePr>
          <p:cNvPr id="184518" name="Group 198"/>
          <p:cNvGraphicFramePr>
            <a:graphicFrameLocks noGrp="1"/>
          </p:cNvGraphicFramePr>
          <p:nvPr/>
        </p:nvGraphicFramePr>
        <p:xfrm>
          <a:off x="6791325" y="5562600"/>
          <a:ext cx="2047875" cy="1108076"/>
        </p:xfrm>
        <a:graphic>
          <a:graphicData uri="http://schemas.openxmlformats.org/drawingml/2006/table">
            <a:tbl>
              <a:tblPr/>
              <a:tblGrid>
                <a:gridCol w="1222375"/>
                <a:gridCol w="825500"/>
              </a:tblGrid>
              <a:tr h="263525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Title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P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95000"/>
                      </a:srgbClr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Gone with…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0.73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Amadeus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0.68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3106738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. . .</a:t>
                      </a:r>
                    </a:p>
                  </a:txBody>
                  <a:tcPr marL="750" marR="750" marT="750" marB="75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95338" algn="l"/>
                          <a:tab pos="990600" algn="l"/>
                        </a:tabLst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80" charset="-128"/>
                        </a:rPr>
                        <a:t>0.43</a:t>
                      </a:r>
                    </a:p>
                  </a:txBody>
                  <a:tcPr marL="750" marR="750" marT="750" marB="75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>
                        <a:alpha val="9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4516" name="Rectangle 196"/>
          <p:cNvSpPr>
            <a:spLocks noChangeArrowheads="1"/>
          </p:cNvSpPr>
          <p:nvPr/>
        </p:nvSpPr>
        <p:spPr bwMode="auto">
          <a:xfrm>
            <a:off x="6400800" y="2895600"/>
            <a:ext cx="1285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>
                <a:latin typeface="Calibri" pitchFamily="34" charset="0"/>
              </a:rPr>
              <a:t>Answer:</a:t>
            </a:r>
          </a:p>
        </p:txBody>
      </p:sp>
      <p:sp>
        <p:nvSpPr>
          <p:cNvPr id="184517" name="Rectangle 197"/>
          <p:cNvSpPr>
            <a:spLocks noChangeArrowheads="1"/>
          </p:cNvSpPr>
          <p:nvPr/>
        </p:nvSpPr>
        <p:spPr bwMode="auto">
          <a:xfrm>
            <a:off x="6477000" y="4953000"/>
            <a:ext cx="1285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>
                <a:latin typeface="Calibri" pitchFamily="34" charset="0"/>
              </a:rPr>
              <a:t>Answer: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IE </a:t>
            </a:r>
            <a:endParaRPr lang="en-US" dirty="0"/>
          </a:p>
        </p:txBody>
      </p:sp>
      <p:sp>
        <p:nvSpPr>
          <p:cNvPr id="22" name="Documents"/>
          <p:cNvSpPr>
            <a:spLocks noEditPoints="1" noChangeArrowheads="1"/>
          </p:cNvSpPr>
          <p:nvPr/>
        </p:nvSpPr>
        <p:spPr bwMode="auto">
          <a:xfrm>
            <a:off x="5867400" y="0"/>
            <a:ext cx="457200" cy="4572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6477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>
            <a:off x="7239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467600" y="87868"/>
            <a:ext cx="457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FJ 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8229600" y="76200"/>
            <a:ext cx="8382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pDB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7" name="Right Arrow 26"/>
          <p:cNvSpPr/>
          <p:nvPr/>
        </p:nvSpPr>
        <p:spPr>
          <a:xfrm>
            <a:off x="8001000" y="228600"/>
            <a:ext cx="152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Up Arrow 27"/>
          <p:cNvSpPr/>
          <p:nvPr/>
        </p:nvSpPr>
        <p:spPr>
          <a:xfrm>
            <a:off x="8610600" y="533400"/>
            <a:ext cx="152400" cy="2286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715000" y="0"/>
            <a:ext cx="3429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4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8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8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8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8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5" grpId="0" autoUpdateAnimBg="0"/>
      <p:bldP spid="184419" grpId="0" animBg="1" autoUpdateAnimBg="0"/>
      <p:bldP spid="184420" grpId="0" animBg="1" autoUpdateAnimBg="0"/>
      <p:bldP spid="184426" grpId="0" animBg="1"/>
      <p:bldP spid="184487" grpId="0" autoUpdateAnimBg="0"/>
      <p:bldP spid="184488" grpId="0" animBg="1" autoUpdateAnimBg="0"/>
      <p:bldP spid="184489" grpId="0" animBg="1"/>
      <p:bldP spid="184516" grpId="0" autoUpdateAnimBg="0"/>
      <p:bldP spid="18451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Application Summary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57200" y="4191000"/>
            <a:ext cx="8229600" cy="1935163"/>
          </a:xfrm>
        </p:spPr>
        <p:txBody>
          <a:bodyPr/>
          <a:lstStyle/>
          <a:p>
            <a:pPr eaLnBrk="1" hangingPunct="1"/>
            <a:r>
              <a:rPr lang="en-US" dirty="0" err="1" smtClean="0"/>
              <a:t>pDBs</a:t>
            </a:r>
            <a:r>
              <a:rPr lang="en-US" dirty="0" smtClean="0"/>
              <a:t> can manage outputs of great techniques</a:t>
            </a:r>
          </a:p>
          <a:p>
            <a:pPr eaLnBrk="1" hangingPunct="1"/>
            <a:r>
              <a:rPr lang="en-US" dirty="0" smtClean="0"/>
              <a:t>Value over standard RDBMs: </a:t>
            </a:r>
            <a:r>
              <a:rPr lang="en-US" u="sng" dirty="0" smtClean="0"/>
              <a:t>Recall</a:t>
            </a:r>
          </a:p>
          <a:p>
            <a:pPr eaLnBrk="1" hangingPunct="1"/>
            <a:r>
              <a:rPr lang="en-US" dirty="0" smtClean="0"/>
              <a:t>To keep precision high, need ranking (by </a:t>
            </a:r>
            <a:r>
              <a:rPr lang="en-US" dirty="0" err="1" smtClean="0"/>
              <a:t>prob</a:t>
            </a:r>
            <a:r>
              <a:rPr lang="en-US" dirty="0" smtClean="0"/>
              <a:t>)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990600" y="5867400"/>
            <a:ext cx="6705600" cy="523875"/>
          </a:xfrm>
          <a:prstGeom prst="rect">
            <a:avLst/>
          </a:prstGeom>
          <a:solidFill>
            <a:schemeClr val="tx2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u="sng" dirty="0">
                <a:solidFill>
                  <a:schemeClr val="bg1"/>
                </a:solidFill>
              </a:rPr>
              <a:t>Major Theme</a:t>
            </a:r>
            <a:r>
              <a:rPr lang="en-US" sz="2800" dirty="0">
                <a:solidFill>
                  <a:schemeClr val="bg1"/>
                </a:solidFill>
              </a:rPr>
              <a:t>: Get high </a:t>
            </a:r>
            <a:r>
              <a:rPr lang="en-US" sz="2800" dirty="0" smtClean="0">
                <a:solidFill>
                  <a:schemeClr val="bg1"/>
                </a:solidFill>
              </a:rPr>
              <a:t>quality efficiently</a:t>
            </a:r>
            <a:r>
              <a:rPr lang="en-US" sz="2800" dirty="0">
                <a:solidFill>
                  <a:schemeClr val="bg1"/>
                </a:solidFill>
              </a:rPr>
              <a:t>!</a:t>
            </a:r>
          </a:p>
        </p:txBody>
      </p:sp>
      <p:pic>
        <p:nvPicPr>
          <p:cNvPr id="5" name="Diamond_Recolored_2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368425" y="1371600"/>
            <a:ext cx="2136775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295400" y="3124200"/>
            <a:ext cx="25146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u="sng"/>
              <a:t>RFID</a:t>
            </a:r>
            <a:r>
              <a:rPr lang="en-US" sz="2400" b="1"/>
              <a:t>: </a:t>
            </a:r>
            <a:r>
              <a:rPr lang="en-US" sz="2400"/>
              <a:t>Particle Filters, HMMS</a:t>
            </a:r>
          </a:p>
        </p:txBody>
      </p:sp>
      <p:pic>
        <p:nvPicPr>
          <p:cNvPr id="7" name="Picture 10" descr="alice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038600" y="1371600"/>
            <a:ext cx="1676400" cy="266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715000" y="1447800"/>
            <a:ext cx="32766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/>
              <a:t>Alice </a:t>
            </a:r>
            <a:r>
              <a:rPr lang="en-US" sz="2400" b="1" dirty="0" smtClean="0"/>
              <a:t>needs:</a:t>
            </a:r>
            <a:endParaRPr lang="en-US" sz="2400" b="1" dirty="0"/>
          </a:p>
          <a:p>
            <a:pPr>
              <a:buFont typeface="Arial" pitchFamily="34" charset="0"/>
              <a:buChar char="•"/>
            </a:pPr>
            <a:r>
              <a:rPr lang="en-US" sz="2400" b="1" dirty="0"/>
              <a:t> </a:t>
            </a:r>
            <a:r>
              <a:rPr lang="en-US" sz="2400" dirty="0"/>
              <a:t>Fuzzy Joins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 IE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 Sentiment Analysis</a:t>
            </a:r>
          </a:p>
          <a:p>
            <a:r>
              <a:rPr lang="en-US" sz="2400" dirty="0"/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3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24579" grpId="0" build="p"/>
      <p:bldP spid="4" grpId="0" animBg="1"/>
      <p:bldP spid="6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Overview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Part I: Basic Query Processing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Two Scenarios for </a:t>
            </a:r>
            <a:r>
              <a:rPr lang="en-US" dirty="0" err="1" smtClean="0"/>
              <a:t>pDBs</a:t>
            </a:r>
            <a:endParaRPr lang="en-US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b="1" dirty="0" smtClean="0"/>
              <a:t>A Basic Query &amp; Data Model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Basic Query Processing Techniques</a:t>
            </a:r>
          </a:p>
          <a:p>
            <a:pPr lvl="1"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304800" y="28194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79B0C4-E488-481D-B7DC-3CEC122DC1AE}" type="slidenum">
              <a:rPr lang="en-US" smtClean="0"/>
              <a:pPr>
                <a:defRPr/>
              </a:pPr>
              <a:t>24</a:t>
            </a:fld>
            <a:endParaRPr lang="en-US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Simple Probabilistic DB (pDB) </a:t>
            </a:r>
          </a:p>
        </p:txBody>
      </p:sp>
      <p:graphicFrame>
        <p:nvGraphicFramePr>
          <p:cNvPr id="55408" name="Group 112"/>
          <p:cNvGraphicFramePr>
            <a:graphicFrameLocks noGrp="1"/>
          </p:cNvGraphicFramePr>
          <p:nvPr/>
        </p:nvGraphicFramePr>
        <p:xfrm>
          <a:off x="1219200" y="2819400"/>
          <a:ext cx="7010400" cy="3200401"/>
        </p:xfrm>
        <a:graphic>
          <a:graphicData uri="http://schemas.openxmlformats.org/drawingml/2006/table">
            <a:tbl>
              <a:tblPr/>
              <a:tblGrid>
                <a:gridCol w="1981200"/>
                <a:gridCol w="1828800"/>
                <a:gridCol w="1828800"/>
                <a:gridCol w="13716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Time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5334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0.62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5334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Jim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0.34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5349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0.45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5318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0.33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5334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Fred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0.11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</a:tbl>
          </a:graphicData>
        </a:graphic>
      </p:graphicFrame>
      <p:sp>
        <p:nvSpPr>
          <p:cNvPr id="29731" name="Rectangle 32"/>
          <p:cNvSpPr>
            <a:spLocks noChangeArrowheads="1"/>
          </p:cNvSpPr>
          <p:nvPr/>
        </p:nvSpPr>
        <p:spPr bwMode="auto">
          <a:xfrm>
            <a:off x="55563" y="2209800"/>
            <a:ext cx="22304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HasObject</a:t>
            </a:r>
            <a:r>
              <a:rPr lang="en-US" baseline="30000"/>
              <a:t>p</a:t>
            </a:r>
            <a:endParaRPr lang="en-US"/>
          </a:p>
        </p:txBody>
      </p:sp>
      <p:sp>
        <p:nvSpPr>
          <p:cNvPr id="55402" name="Rectangle 106"/>
          <p:cNvSpPr>
            <a:spLocks noChangeArrowheads="1"/>
          </p:cNvSpPr>
          <p:nvPr/>
        </p:nvSpPr>
        <p:spPr bwMode="auto">
          <a:xfrm>
            <a:off x="2971800" y="6172200"/>
            <a:ext cx="30075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/>
              <a:t>What does it </a:t>
            </a:r>
            <a:r>
              <a:rPr lang="en-US" sz="2400" i="1" dirty="0"/>
              <a:t>mean</a:t>
            </a:r>
            <a:r>
              <a:rPr lang="en-US" sz="2400" dirty="0"/>
              <a:t> ?</a:t>
            </a:r>
          </a:p>
        </p:txBody>
      </p:sp>
      <p:sp>
        <p:nvSpPr>
          <p:cNvPr id="55403" name="AutoShape 107"/>
          <p:cNvSpPr>
            <a:spLocks noChangeArrowheads="1"/>
          </p:cNvSpPr>
          <p:nvPr/>
        </p:nvSpPr>
        <p:spPr bwMode="auto">
          <a:xfrm>
            <a:off x="2854325" y="1905000"/>
            <a:ext cx="1421542" cy="649188"/>
          </a:xfrm>
          <a:prstGeom prst="wedgeEllipseCallout">
            <a:avLst>
              <a:gd name="adj1" fmla="val -32000"/>
              <a:gd name="adj2" fmla="val 9153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u="sng" dirty="0">
                <a:solidFill>
                  <a:schemeClr val="bg1"/>
                </a:solidFill>
                <a:latin typeface="Arial Black" pitchFamily="34" charset="0"/>
              </a:rPr>
              <a:t>Keys</a:t>
            </a:r>
          </a:p>
        </p:txBody>
      </p:sp>
      <p:sp>
        <p:nvSpPr>
          <p:cNvPr id="55404" name="AutoShape 108"/>
          <p:cNvSpPr>
            <a:spLocks noChangeArrowheads="1"/>
          </p:cNvSpPr>
          <p:nvPr/>
        </p:nvSpPr>
        <p:spPr bwMode="auto">
          <a:xfrm>
            <a:off x="6705600" y="1743075"/>
            <a:ext cx="2493515" cy="649188"/>
          </a:xfrm>
          <a:prstGeom prst="wedgeEllipseCallout">
            <a:avLst>
              <a:gd name="adj1" fmla="val -25468"/>
              <a:gd name="adj2" fmla="val 1630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b="1" dirty="0">
                <a:solidFill>
                  <a:schemeClr val="bg1"/>
                </a:solidFill>
              </a:rPr>
              <a:t>Probability</a:t>
            </a:r>
          </a:p>
        </p:txBody>
      </p:sp>
      <p:sp>
        <p:nvSpPr>
          <p:cNvPr id="55407" name="AutoShape 111"/>
          <p:cNvSpPr>
            <a:spLocks noChangeArrowheads="1"/>
          </p:cNvSpPr>
          <p:nvPr/>
        </p:nvSpPr>
        <p:spPr bwMode="auto">
          <a:xfrm>
            <a:off x="4495800" y="1981200"/>
            <a:ext cx="2090026" cy="649188"/>
          </a:xfrm>
          <a:prstGeom prst="wedgeEllipseCallout">
            <a:avLst>
              <a:gd name="adj1" fmla="val -3583"/>
              <a:gd name="adj2" fmla="val 8923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bg1"/>
                </a:solidFill>
              </a:rPr>
              <a:t>Non-keys</a:t>
            </a:r>
          </a:p>
        </p:txBody>
      </p:sp>
      <p:sp>
        <p:nvSpPr>
          <p:cNvPr id="11" name="Rectangle 34"/>
          <p:cNvSpPr>
            <a:spLocks noChangeArrowheads="1"/>
          </p:cNvSpPr>
          <p:nvPr/>
        </p:nvSpPr>
        <p:spPr bwMode="auto">
          <a:xfrm>
            <a:off x="0" y="0"/>
            <a:ext cx="255746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[Barbara et al. ‘92]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402" grpId="0"/>
      <p:bldP spid="55403" grpId="0" animBg="1"/>
      <p:bldP spid="55404" grpId="0" animBg="1"/>
      <p:bldP spid="5540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64E58-166E-4DBD-AFD4-DC972870B947}" type="slidenum">
              <a:rPr lang="en-US" smtClean="0"/>
              <a:pPr>
                <a:defRPr/>
              </a:pPr>
              <a:t>25</a:t>
            </a:fld>
            <a:endParaRPr lang="en-US" smtClean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Possible Worlds Semantics</a:t>
            </a:r>
          </a:p>
        </p:txBody>
      </p:sp>
      <p:graphicFrame>
        <p:nvGraphicFramePr>
          <p:cNvPr id="62934" name="Group 470"/>
          <p:cNvGraphicFramePr>
            <a:graphicFrameLocks noGrp="1"/>
          </p:cNvGraphicFramePr>
          <p:nvPr/>
        </p:nvGraphicFramePr>
        <p:xfrm>
          <a:off x="1219200" y="1828800"/>
          <a:ext cx="6248400" cy="2377440"/>
        </p:xfrm>
        <a:graphic>
          <a:graphicData uri="http://schemas.openxmlformats.org/drawingml/2006/table">
            <a:tbl>
              <a:tblPr/>
              <a:tblGrid>
                <a:gridCol w="1778000"/>
                <a:gridCol w="1625600"/>
                <a:gridCol w="1625600"/>
                <a:gridCol w="12192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2286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Jim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2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22860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Fred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6" name="Group 462"/>
          <p:cNvGraphicFramePr>
            <a:graphicFrameLocks noGrp="1"/>
          </p:cNvGraphicFramePr>
          <p:nvPr/>
        </p:nvGraphicFramePr>
        <p:xfrm>
          <a:off x="1066800" y="4572000"/>
          <a:ext cx="2209800" cy="82296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7" name="Group 463"/>
          <p:cNvGraphicFramePr>
            <a:graphicFrameLocks noGrp="1"/>
          </p:cNvGraphicFramePr>
          <p:nvPr/>
        </p:nvGraphicFramePr>
        <p:xfrm>
          <a:off x="1447800" y="4743450"/>
          <a:ext cx="2209800" cy="82296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8" name="Group 464"/>
          <p:cNvGraphicFramePr>
            <a:graphicFrameLocks noGrp="1"/>
          </p:cNvGraphicFramePr>
          <p:nvPr/>
        </p:nvGraphicFramePr>
        <p:xfrm>
          <a:off x="1828800" y="4895850"/>
          <a:ext cx="2209800" cy="82296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Fred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9" name="Group 465"/>
          <p:cNvGraphicFramePr>
            <a:graphicFrameLocks noGrp="1"/>
          </p:cNvGraphicFramePr>
          <p:nvPr/>
        </p:nvGraphicFramePr>
        <p:xfrm>
          <a:off x="2209800" y="5048250"/>
          <a:ext cx="2209800" cy="82296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Jim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30" name="Group 466"/>
          <p:cNvGraphicFramePr>
            <a:graphicFrameLocks noGrp="1"/>
          </p:cNvGraphicFramePr>
          <p:nvPr/>
        </p:nvGraphicFramePr>
        <p:xfrm>
          <a:off x="2590800" y="5200650"/>
          <a:ext cx="2209800" cy="82296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Jim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31" name="Group 467"/>
          <p:cNvGraphicFramePr>
            <a:graphicFrameLocks noGrp="1"/>
          </p:cNvGraphicFramePr>
          <p:nvPr/>
        </p:nvGraphicFramePr>
        <p:xfrm>
          <a:off x="2971800" y="5334000"/>
          <a:ext cx="2209800" cy="82296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Jim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Fred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32" name="Group 468"/>
          <p:cNvGraphicFramePr>
            <a:graphicFrameLocks noGrp="1"/>
          </p:cNvGraphicFramePr>
          <p:nvPr/>
        </p:nvGraphicFramePr>
        <p:xfrm>
          <a:off x="3352800" y="5562600"/>
          <a:ext cx="2209800" cy="54864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33" name="Group 469"/>
          <p:cNvGraphicFramePr>
            <a:graphicFrameLocks noGrp="1"/>
          </p:cNvGraphicFramePr>
          <p:nvPr/>
        </p:nvGraphicFramePr>
        <p:xfrm>
          <a:off x="3733800" y="5715000"/>
          <a:ext cx="2209800" cy="54864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Jim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3" name="Group 459"/>
          <p:cNvGraphicFramePr>
            <a:graphicFrameLocks noGrp="1"/>
          </p:cNvGraphicFramePr>
          <p:nvPr/>
        </p:nvGraphicFramePr>
        <p:xfrm>
          <a:off x="4114800" y="5867400"/>
          <a:ext cx="2209800" cy="54864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2" name="Group 458"/>
          <p:cNvGraphicFramePr>
            <a:graphicFrameLocks noGrp="1"/>
          </p:cNvGraphicFramePr>
          <p:nvPr/>
        </p:nvGraphicFramePr>
        <p:xfrm>
          <a:off x="4495800" y="6019800"/>
          <a:ext cx="2209800" cy="54864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4" name="Group 460"/>
          <p:cNvGraphicFramePr>
            <a:graphicFrameLocks noGrp="1"/>
          </p:cNvGraphicFramePr>
          <p:nvPr/>
        </p:nvGraphicFramePr>
        <p:xfrm>
          <a:off x="4876800" y="6172200"/>
          <a:ext cx="2209800" cy="54864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Fred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5" name="Group 461"/>
          <p:cNvGraphicFramePr>
            <a:graphicFrameLocks noGrp="1"/>
          </p:cNvGraphicFramePr>
          <p:nvPr/>
        </p:nvGraphicFramePr>
        <p:xfrm>
          <a:off x="5257800" y="6313488"/>
          <a:ext cx="2209800" cy="27432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</a:tbl>
          </a:graphicData>
        </a:graphic>
      </p:graphicFrame>
      <p:sp>
        <p:nvSpPr>
          <p:cNvPr id="62885" name="Rectangle 421"/>
          <p:cNvSpPr>
            <a:spLocks noChangeArrowheads="1"/>
          </p:cNvSpPr>
          <p:nvPr/>
        </p:nvSpPr>
        <p:spPr bwMode="auto">
          <a:xfrm>
            <a:off x="304800" y="5562600"/>
            <a:ext cx="660400" cy="406400"/>
          </a:xfrm>
          <a:prstGeom prst="rect">
            <a:avLst/>
          </a:prstGeom>
          <a:solidFill>
            <a:srgbClr val="F8A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/>
              <a:t>p</a:t>
            </a:r>
            <a:r>
              <a:rPr lang="en-US" sz="2000" baseline="-25000"/>
              <a:t>1</a:t>
            </a:r>
            <a:r>
              <a:rPr lang="en-US" sz="2000"/>
              <a:t>p</a:t>
            </a:r>
            <a:r>
              <a:rPr lang="en-US" sz="2000" baseline="-25000"/>
              <a:t>3</a:t>
            </a:r>
          </a:p>
        </p:txBody>
      </p:sp>
      <p:cxnSp>
        <p:nvCxnSpPr>
          <p:cNvPr id="62887" name="AutoShape 423"/>
          <p:cNvCxnSpPr>
            <a:cxnSpLocks noChangeShapeType="1"/>
            <a:endCxn id="62885" idx="0"/>
          </p:cNvCxnSpPr>
          <p:nvPr/>
        </p:nvCxnSpPr>
        <p:spPr bwMode="auto">
          <a:xfrm flipH="1">
            <a:off x="635000" y="5118100"/>
            <a:ext cx="431800" cy="444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2888" name="Rectangle 424"/>
          <p:cNvSpPr>
            <a:spLocks noChangeArrowheads="1"/>
          </p:cNvSpPr>
          <p:nvPr/>
        </p:nvSpPr>
        <p:spPr bwMode="auto">
          <a:xfrm>
            <a:off x="762000" y="5715000"/>
            <a:ext cx="660400" cy="406400"/>
          </a:xfrm>
          <a:prstGeom prst="rect">
            <a:avLst/>
          </a:prstGeom>
          <a:solidFill>
            <a:srgbClr val="F8A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/>
              <a:t>p</a:t>
            </a:r>
            <a:r>
              <a:rPr lang="en-US" sz="2000" baseline="-25000"/>
              <a:t>1</a:t>
            </a:r>
            <a:r>
              <a:rPr lang="en-US" sz="2000"/>
              <a:t>p</a:t>
            </a:r>
            <a:r>
              <a:rPr lang="en-US" sz="2000" baseline="-25000"/>
              <a:t>4</a:t>
            </a:r>
          </a:p>
        </p:txBody>
      </p:sp>
      <p:cxnSp>
        <p:nvCxnSpPr>
          <p:cNvPr id="62889" name="AutoShape 425"/>
          <p:cNvCxnSpPr>
            <a:cxnSpLocks noChangeShapeType="1"/>
            <a:endCxn id="62888" idx="0"/>
          </p:cNvCxnSpPr>
          <p:nvPr/>
        </p:nvCxnSpPr>
        <p:spPr bwMode="auto">
          <a:xfrm flipH="1">
            <a:off x="1092200" y="5289550"/>
            <a:ext cx="355600" cy="425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2890" name="Rectangle 426"/>
          <p:cNvSpPr>
            <a:spLocks noChangeArrowheads="1"/>
          </p:cNvSpPr>
          <p:nvPr/>
        </p:nvSpPr>
        <p:spPr bwMode="auto">
          <a:xfrm>
            <a:off x="1847850" y="6299200"/>
            <a:ext cx="1760538" cy="406400"/>
          </a:xfrm>
          <a:prstGeom prst="rect">
            <a:avLst/>
          </a:prstGeom>
          <a:solidFill>
            <a:srgbClr val="F8A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/>
              <a:t>p</a:t>
            </a:r>
            <a:r>
              <a:rPr lang="en-US" sz="2000" baseline="-25000"/>
              <a:t>1</a:t>
            </a:r>
            <a:r>
              <a:rPr lang="en-US" sz="2000"/>
              <a:t>(1- p</a:t>
            </a:r>
            <a:r>
              <a:rPr lang="en-US" sz="2000" baseline="-25000"/>
              <a:t>3</a:t>
            </a:r>
            <a:r>
              <a:rPr lang="en-US" sz="2000"/>
              <a:t>-p</a:t>
            </a:r>
            <a:r>
              <a:rPr lang="en-US" sz="2000" baseline="-25000"/>
              <a:t>4</a:t>
            </a:r>
            <a:r>
              <a:rPr lang="en-US" sz="2000"/>
              <a:t>-p</a:t>
            </a:r>
            <a:r>
              <a:rPr lang="en-US" sz="2000" baseline="-25000"/>
              <a:t>5</a:t>
            </a:r>
            <a:r>
              <a:rPr lang="en-US" sz="2000"/>
              <a:t>)</a:t>
            </a:r>
            <a:endParaRPr lang="en-US" sz="2000" baseline="-25000"/>
          </a:p>
        </p:txBody>
      </p:sp>
      <p:cxnSp>
        <p:nvCxnSpPr>
          <p:cNvPr id="62892" name="AutoShape 428"/>
          <p:cNvCxnSpPr>
            <a:cxnSpLocks noChangeShapeType="1"/>
            <a:endCxn id="62890" idx="0"/>
          </p:cNvCxnSpPr>
          <p:nvPr/>
        </p:nvCxnSpPr>
        <p:spPr bwMode="auto">
          <a:xfrm flipH="1">
            <a:off x="2728913" y="6122988"/>
            <a:ext cx="623887" cy="1762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0949" name="AutoShape 430"/>
          <p:cNvSpPr>
            <a:spLocks noChangeArrowheads="1"/>
          </p:cNvSpPr>
          <p:nvPr/>
        </p:nvSpPr>
        <p:spPr bwMode="auto">
          <a:xfrm>
            <a:off x="7164388" y="4724400"/>
            <a:ext cx="1825625" cy="1136650"/>
          </a:xfrm>
          <a:prstGeom prst="wedgeEllipseCallout">
            <a:avLst>
              <a:gd name="adj1" fmla="val -66176"/>
              <a:gd name="adj2" fmla="val -54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/>
              <a:t>Possible</a:t>
            </a:r>
            <a:br>
              <a:rPr lang="en-US" sz="2400"/>
            </a:br>
            <a:r>
              <a:rPr lang="en-US" sz="2400"/>
              <a:t>worlds</a:t>
            </a:r>
          </a:p>
        </p:txBody>
      </p:sp>
      <p:sp>
        <p:nvSpPr>
          <p:cNvPr id="30950" name="AutoShape 431"/>
          <p:cNvSpPr>
            <a:spLocks noChangeArrowheads="1"/>
          </p:cNvSpPr>
          <p:nvPr/>
        </p:nvSpPr>
        <p:spPr bwMode="auto">
          <a:xfrm>
            <a:off x="7688263" y="2773363"/>
            <a:ext cx="1081087" cy="619125"/>
          </a:xfrm>
          <a:prstGeom prst="wedgeEllipseCallout">
            <a:avLst>
              <a:gd name="adj1" fmla="val -66176"/>
              <a:gd name="adj2" fmla="val -54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/>
              <a:t>PDB</a:t>
            </a:r>
          </a:p>
        </p:txBody>
      </p:sp>
      <p:sp>
        <p:nvSpPr>
          <p:cNvPr id="30951" name="Rectangle 472"/>
          <p:cNvSpPr>
            <a:spLocks noChangeArrowheads="1"/>
          </p:cNvSpPr>
          <p:nvPr/>
        </p:nvSpPr>
        <p:spPr bwMode="auto">
          <a:xfrm>
            <a:off x="152400" y="1219200"/>
            <a:ext cx="22304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/>
              <a:t>HasObject</a:t>
            </a:r>
            <a:r>
              <a:rPr lang="en-US" baseline="30000"/>
              <a:t>p</a:t>
            </a:r>
          </a:p>
        </p:txBody>
      </p:sp>
      <p:sp>
        <p:nvSpPr>
          <p:cNvPr id="62937" name="Rectangle 473"/>
          <p:cNvSpPr>
            <a:spLocks noChangeArrowheads="1"/>
          </p:cNvSpPr>
          <p:nvPr/>
        </p:nvSpPr>
        <p:spPr bwMode="auto">
          <a:xfrm>
            <a:off x="992188" y="4267200"/>
            <a:ext cx="10144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400"/>
              <a:t>HasObject</a:t>
            </a:r>
            <a:endParaRPr lang="en-US" sz="1400" baseline="30000"/>
          </a:p>
        </p:txBody>
      </p:sp>
      <p:sp>
        <p:nvSpPr>
          <p:cNvPr id="27" name="Rectangle 34"/>
          <p:cNvSpPr>
            <a:spLocks noChangeArrowheads="1"/>
          </p:cNvSpPr>
          <p:nvPr/>
        </p:nvSpPr>
        <p:spPr bwMode="auto">
          <a:xfrm>
            <a:off x="0" y="0"/>
            <a:ext cx="3598639" cy="461647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[Fagin,Halpern,Megido’90]</a:t>
            </a:r>
            <a:endParaRPr lang="en-US" sz="2400" b="1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29" name="Left Arrow 28"/>
          <p:cNvSpPr/>
          <p:nvPr/>
        </p:nvSpPr>
        <p:spPr>
          <a:xfrm>
            <a:off x="7543800" y="2209800"/>
            <a:ext cx="381000" cy="304800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Left Arrow 29"/>
          <p:cNvSpPr/>
          <p:nvPr/>
        </p:nvSpPr>
        <p:spPr>
          <a:xfrm>
            <a:off x="7543800" y="3124200"/>
            <a:ext cx="381000" cy="304800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Arrow 34"/>
          <p:cNvSpPr/>
          <p:nvPr/>
        </p:nvSpPr>
        <p:spPr>
          <a:xfrm>
            <a:off x="7543800" y="3429000"/>
            <a:ext cx="381000" cy="304800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191000" y="1295400"/>
            <a:ext cx="472440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Distribution over possible worlds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6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6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62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6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6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6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6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6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85" grpId="0" animBg="1" autoUpdateAnimBg="0"/>
      <p:bldP spid="62888" grpId="0" animBg="1" autoUpdateAnimBg="0"/>
      <p:bldP spid="62890" grpId="0" animBg="1" autoUpdateAnimBg="0"/>
      <p:bldP spid="62937" grpId="0"/>
      <p:bldP spid="29" grpId="0" animBg="1"/>
      <p:bldP spid="29" grpId="1" animBg="1"/>
      <p:bldP spid="29" grpId="2" animBg="1"/>
      <p:bldP spid="29" grpId="3" animBg="1"/>
      <p:bldP spid="30" grpId="0" animBg="1"/>
      <p:bldP spid="30" grpId="1" animBg="1"/>
      <p:bldP spid="35" grpId="0" animBg="1"/>
      <p:bldP spid="35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99264-D8FF-463B-A7DC-53889DEF0AE6}" type="slidenum">
              <a:rPr lang="en-US" smtClean="0"/>
              <a:pPr>
                <a:defRPr/>
              </a:pPr>
              <a:t>26</a:t>
            </a:fld>
            <a:endParaRPr lang="en-US" smtClean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Two Approaches to Queries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1336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Standard queries, probabilistic answers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Query: “find all movies with rating &gt; 4”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Answers: list of </a:t>
            </a:r>
            <a:r>
              <a:rPr lang="en-US" dirty="0" err="1" smtClean="0"/>
              <a:t>tuples</a:t>
            </a:r>
            <a:r>
              <a:rPr lang="en-US" dirty="0" smtClean="0"/>
              <a:t> with probabilities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Queries with explicit probabilities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Query: find all Movie-review matches with probability in [0.3, 0.8]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Answer: …</a:t>
            </a:r>
          </a:p>
        </p:txBody>
      </p:sp>
      <p:sp>
        <p:nvSpPr>
          <p:cNvPr id="31749" name="AutoShape 4"/>
          <p:cNvSpPr>
            <a:spLocks noChangeArrowheads="1"/>
          </p:cNvSpPr>
          <p:nvPr/>
        </p:nvSpPr>
        <p:spPr bwMode="auto">
          <a:xfrm>
            <a:off x="114300" y="1317625"/>
            <a:ext cx="2171700" cy="510778"/>
          </a:xfrm>
          <a:prstGeom prst="wedgeRoundRectCallout">
            <a:avLst>
              <a:gd name="adj1" fmla="val 70669"/>
              <a:gd name="adj2" fmla="val 15830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400" b="1" dirty="0" smtClean="0">
                <a:solidFill>
                  <a:schemeClr val="bg1"/>
                </a:solidFill>
              </a:rPr>
              <a:t>This tutorial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1750" name="AutoShape 5"/>
          <p:cNvSpPr>
            <a:spLocks noChangeArrowheads="1"/>
          </p:cNvSpPr>
          <p:nvPr/>
        </p:nvSpPr>
        <p:spPr bwMode="auto">
          <a:xfrm>
            <a:off x="3657600" y="5715000"/>
            <a:ext cx="3070629" cy="510778"/>
          </a:xfrm>
          <a:prstGeom prst="wedgeRoundRectCallout">
            <a:avLst>
              <a:gd name="adj1" fmla="val -43250"/>
              <a:gd name="adj2" fmla="val -8380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b="1" dirty="0" smtClean="0">
                <a:solidFill>
                  <a:schemeClr val="bg1"/>
                </a:solidFill>
              </a:rPr>
              <a:t>[Koch ’08] </a:t>
            </a:r>
            <a:r>
              <a:rPr lang="en-US" sz="2400" b="1" dirty="0" err="1" smtClean="0">
                <a:solidFill>
                  <a:schemeClr val="bg1"/>
                </a:solidFill>
              </a:rPr>
              <a:t>MayBMS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animBg="1"/>
      <p:bldP spid="3175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926" name="Group 462"/>
          <p:cNvGraphicFramePr>
            <a:graphicFrameLocks noGrp="1"/>
          </p:cNvGraphicFramePr>
          <p:nvPr/>
        </p:nvGraphicFramePr>
        <p:xfrm>
          <a:off x="1066800" y="4572000"/>
          <a:ext cx="2209800" cy="82296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3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12D32D-1932-4685-95BE-EE2FF8BF2A20}" type="slidenum">
              <a:rPr lang="en-US" smtClean="0"/>
              <a:pPr>
                <a:defRPr/>
              </a:pPr>
              <a:t>27</a:t>
            </a:fld>
            <a:endParaRPr lang="en-US" dirty="0" smtClean="0"/>
          </a:p>
        </p:txBody>
      </p:sp>
      <p:graphicFrame>
        <p:nvGraphicFramePr>
          <p:cNvPr id="62927" name="Group 463"/>
          <p:cNvGraphicFramePr>
            <a:graphicFrameLocks noGrp="1"/>
          </p:cNvGraphicFramePr>
          <p:nvPr/>
        </p:nvGraphicFramePr>
        <p:xfrm>
          <a:off x="1447800" y="4743450"/>
          <a:ext cx="2209800" cy="82296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28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Possible Worlds </a:t>
            </a:r>
            <a:r>
              <a:rPr lang="en-US" i="1" dirty="0" smtClean="0"/>
              <a:t>Query</a:t>
            </a:r>
            <a:r>
              <a:rPr lang="en-US" dirty="0" smtClean="0"/>
              <a:t> Semantics</a:t>
            </a:r>
          </a:p>
        </p:txBody>
      </p:sp>
      <p:graphicFrame>
        <p:nvGraphicFramePr>
          <p:cNvPr id="62934" name="Group 470"/>
          <p:cNvGraphicFramePr>
            <a:graphicFrameLocks noGrp="1"/>
          </p:cNvGraphicFramePr>
          <p:nvPr/>
        </p:nvGraphicFramePr>
        <p:xfrm>
          <a:off x="1219200" y="1828800"/>
          <a:ext cx="6248400" cy="2377440"/>
        </p:xfrm>
        <a:graphic>
          <a:graphicData uri="http://schemas.openxmlformats.org/drawingml/2006/table">
            <a:tbl>
              <a:tblPr/>
              <a:tblGrid>
                <a:gridCol w="1778000"/>
                <a:gridCol w="1625600"/>
                <a:gridCol w="1625600"/>
                <a:gridCol w="12192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2286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Jim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2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22860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Fred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A5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8" name="Group 464"/>
          <p:cNvGraphicFramePr>
            <a:graphicFrameLocks noGrp="1"/>
          </p:cNvGraphicFramePr>
          <p:nvPr/>
        </p:nvGraphicFramePr>
        <p:xfrm>
          <a:off x="1828800" y="4895850"/>
          <a:ext cx="2209800" cy="82296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Fred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9" name="Group 465"/>
          <p:cNvGraphicFramePr>
            <a:graphicFrameLocks noGrp="1"/>
          </p:cNvGraphicFramePr>
          <p:nvPr/>
        </p:nvGraphicFramePr>
        <p:xfrm>
          <a:off x="2209800" y="5048250"/>
          <a:ext cx="2209800" cy="82296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Jim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30" name="Group 466"/>
          <p:cNvGraphicFramePr>
            <a:graphicFrameLocks noGrp="1"/>
          </p:cNvGraphicFramePr>
          <p:nvPr/>
        </p:nvGraphicFramePr>
        <p:xfrm>
          <a:off x="2590800" y="5200650"/>
          <a:ext cx="2209800" cy="82296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Jim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31" name="Group 467"/>
          <p:cNvGraphicFramePr>
            <a:graphicFrameLocks noGrp="1"/>
          </p:cNvGraphicFramePr>
          <p:nvPr/>
        </p:nvGraphicFramePr>
        <p:xfrm>
          <a:off x="2971800" y="5334000"/>
          <a:ext cx="2209800" cy="82296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Jim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Fred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32" name="Group 468"/>
          <p:cNvGraphicFramePr>
            <a:graphicFrameLocks noGrp="1"/>
          </p:cNvGraphicFramePr>
          <p:nvPr/>
        </p:nvGraphicFramePr>
        <p:xfrm>
          <a:off x="3352800" y="5562600"/>
          <a:ext cx="2209800" cy="54864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33" name="Group 469"/>
          <p:cNvGraphicFramePr>
            <a:graphicFrameLocks noGrp="1"/>
          </p:cNvGraphicFramePr>
          <p:nvPr/>
        </p:nvGraphicFramePr>
        <p:xfrm>
          <a:off x="3733800" y="5715000"/>
          <a:ext cx="2209800" cy="54864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Laptop77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Jim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3" name="Group 459"/>
          <p:cNvGraphicFramePr>
            <a:graphicFrameLocks noGrp="1"/>
          </p:cNvGraphicFramePr>
          <p:nvPr/>
        </p:nvGraphicFramePr>
        <p:xfrm>
          <a:off x="4114800" y="5867400"/>
          <a:ext cx="2209800" cy="54864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2" name="Group 458"/>
          <p:cNvGraphicFramePr>
            <a:graphicFrameLocks noGrp="1"/>
          </p:cNvGraphicFramePr>
          <p:nvPr/>
        </p:nvGraphicFramePr>
        <p:xfrm>
          <a:off x="4495800" y="6019800"/>
          <a:ext cx="2209800" cy="54864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John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4" name="Group 460"/>
          <p:cNvGraphicFramePr>
            <a:graphicFrameLocks noGrp="1"/>
          </p:cNvGraphicFramePr>
          <p:nvPr/>
        </p:nvGraphicFramePr>
        <p:xfrm>
          <a:off x="4876800" y="6172200"/>
          <a:ext cx="2209800" cy="54864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Book302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9:18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Fred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25" name="Group 461"/>
          <p:cNvGraphicFramePr>
            <a:graphicFrameLocks noGrp="1"/>
          </p:cNvGraphicFramePr>
          <p:nvPr/>
        </p:nvGraphicFramePr>
        <p:xfrm>
          <a:off x="5257800" y="6313488"/>
          <a:ext cx="2209800" cy="274320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685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Object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ＭＳ Ｐゴシック" pitchFamily="34" charset="-128"/>
                        </a:rPr>
                        <a:t>Tim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Person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</a:tbl>
          </a:graphicData>
        </a:graphic>
      </p:graphicFrame>
      <p:sp>
        <p:nvSpPr>
          <p:cNvPr id="32991" name="AutoShape 431"/>
          <p:cNvSpPr>
            <a:spLocks noChangeArrowheads="1"/>
          </p:cNvSpPr>
          <p:nvPr/>
        </p:nvSpPr>
        <p:spPr bwMode="auto">
          <a:xfrm>
            <a:off x="7688263" y="2773363"/>
            <a:ext cx="1081087" cy="619125"/>
          </a:xfrm>
          <a:prstGeom prst="wedgeEllipseCallout">
            <a:avLst>
              <a:gd name="adj1" fmla="val -66176"/>
              <a:gd name="adj2" fmla="val -54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/>
              <a:t>PDB</a:t>
            </a:r>
          </a:p>
        </p:txBody>
      </p:sp>
      <p:sp>
        <p:nvSpPr>
          <p:cNvPr id="32992" name="Rectangle 472"/>
          <p:cNvSpPr>
            <a:spLocks noChangeArrowheads="1"/>
          </p:cNvSpPr>
          <p:nvPr/>
        </p:nvSpPr>
        <p:spPr bwMode="auto">
          <a:xfrm>
            <a:off x="152400" y="1219200"/>
            <a:ext cx="22304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/>
              <a:t>HasObject</a:t>
            </a:r>
            <a:r>
              <a:rPr lang="en-US" baseline="30000"/>
              <a:t>p</a:t>
            </a:r>
          </a:p>
        </p:txBody>
      </p:sp>
      <p:sp>
        <p:nvSpPr>
          <p:cNvPr id="62937" name="Rectangle 473"/>
          <p:cNvSpPr>
            <a:spLocks noChangeArrowheads="1"/>
          </p:cNvSpPr>
          <p:nvPr/>
        </p:nvSpPr>
        <p:spPr bwMode="auto">
          <a:xfrm>
            <a:off x="992188" y="4267200"/>
            <a:ext cx="10144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400"/>
              <a:t>HasObject</a:t>
            </a:r>
            <a:endParaRPr lang="en-US" sz="1400" baseline="30000"/>
          </a:p>
        </p:txBody>
      </p:sp>
      <p:sp>
        <p:nvSpPr>
          <p:cNvPr id="32994" name="TextBox 28"/>
          <p:cNvSpPr txBox="1">
            <a:spLocks noChangeArrowheads="1"/>
          </p:cNvSpPr>
          <p:nvPr/>
        </p:nvSpPr>
        <p:spPr bwMode="auto">
          <a:xfrm>
            <a:off x="5029200" y="4343400"/>
            <a:ext cx="4114800" cy="830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r>
              <a:rPr lang="en-US" sz="2400" i="1" dirty="0"/>
              <a:t>“John has laptop77 and doesn’t have book302</a:t>
            </a:r>
            <a:r>
              <a:rPr lang="en-US" sz="2400" dirty="0"/>
              <a:t>”</a:t>
            </a:r>
          </a:p>
        </p:txBody>
      </p:sp>
      <p:sp>
        <p:nvSpPr>
          <p:cNvPr id="25" name="Rectangle 421"/>
          <p:cNvSpPr>
            <a:spLocks noChangeArrowheads="1"/>
          </p:cNvSpPr>
          <p:nvPr/>
        </p:nvSpPr>
        <p:spPr bwMode="auto">
          <a:xfrm>
            <a:off x="254000" y="5257800"/>
            <a:ext cx="660400" cy="406400"/>
          </a:xfrm>
          <a:prstGeom prst="rect">
            <a:avLst/>
          </a:prstGeom>
          <a:solidFill>
            <a:srgbClr val="F8A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000"/>
              <a:t>p</a:t>
            </a:r>
            <a:r>
              <a:rPr lang="en-US" sz="2000" baseline="-25000"/>
              <a:t>1</a:t>
            </a:r>
            <a:r>
              <a:rPr lang="en-US" sz="2000"/>
              <a:t>p</a:t>
            </a:r>
            <a:r>
              <a:rPr lang="en-US" sz="2000" baseline="-25000"/>
              <a:t>3</a:t>
            </a:r>
          </a:p>
        </p:txBody>
      </p:sp>
      <p:sp>
        <p:nvSpPr>
          <p:cNvPr id="26" name="Rectangle 421"/>
          <p:cNvSpPr>
            <a:spLocks noChangeArrowheads="1"/>
          </p:cNvSpPr>
          <p:nvPr/>
        </p:nvSpPr>
        <p:spPr bwMode="auto">
          <a:xfrm>
            <a:off x="762000" y="5791200"/>
            <a:ext cx="659155" cy="400110"/>
          </a:xfrm>
          <a:prstGeom prst="rect">
            <a:avLst/>
          </a:prstGeom>
          <a:solidFill>
            <a:srgbClr val="F8A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dirty="0" smtClean="0"/>
              <a:t>p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p</a:t>
            </a:r>
            <a:r>
              <a:rPr lang="en-US" sz="2000" baseline="-25000" dirty="0"/>
              <a:t>5</a:t>
            </a:r>
          </a:p>
        </p:txBody>
      </p:sp>
      <p:sp>
        <p:nvSpPr>
          <p:cNvPr id="27" name="Rectangle 426"/>
          <p:cNvSpPr>
            <a:spLocks noChangeArrowheads="1"/>
          </p:cNvSpPr>
          <p:nvPr/>
        </p:nvSpPr>
        <p:spPr bwMode="auto">
          <a:xfrm>
            <a:off x="1847850" y="6299200"/>
            <a:ext cx="1760538" cy="406400"/>
          </a:xfrm>
          <a:prstGeom prst="rect">
            <a:avLst/>
          </a:prstGeom>
          <a:solidFill>
            <a:srgbClr val="F8A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dirty="0"/>
              <a:t>p</a:t>
            </a:r>
            <a:r>
              <a:rPr lang="en-US" sz="2000" baseline="-25000" dirty="0"/>
              <a:t>1</a:t>
            </a:r>
            <a:r>
              <a:rPr lang="en-US" sz="2000" dirty="0"/>
              <a:t>(1- p</a:t>
            </a:r>
            <a:r>
              <a:rPr lang="en-US" sz="2000" baseline="-25000" dirty="0"/>
              <a:t>3</a:t>
            </a:r>
            <a:r>
              <a:rPr lang="en-US" sz="2000" dirty="0"/>
              <a:t>-p</a:t>
            </a:r>
            <a:r>
              <a:rPr lang="en-US" sz="2000" baseline="-25000" dirty="0"/>
              <a:t>4</a:t>
            </a:r>
            <a:r>
              <a:rPr lang="en-US" sz="2000" dirty="0"/>
              <a:t>-p</a:t>
            </a:r>
            <a:r>
              <a:rPr lang="en-US" sz="2000" baseline="-25000" dirty="0"/>
              <a:t>5</a:t>
            </a:r>
            <a:r>
              <a:rPr lang="en-US" sz="2000" dirty="0"/>
              <a:t>)</a:t>
            </a:r>
            <a:endParaRPr lang="en-US" sz="2000" baseline="-25000" dirty="0"/>
          </a:p>
        </p:txBody>
      </p:sp>
      <p:cxnSp>
        <p:nvCxnSpPr>
          <p:cNvPr id="29" name="Straight Arrow Connector 28"/>
          <p:cNvCxnSpPr>
            <a:endCxn id="25" idx="0"/>
          </p:cNvCxnSpPr>
          <p:nvPr/>
        </p:nvCxnSpPr>
        <p:spPr>
          <a:xfrm rot="10800000" flipV="1">
            <a:off x="584200" y="5105400"/>
            <a:ext cx="482600" cy="152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26" idx="0"/>
          </p:cNvCxnSpPr>
          <p:nvPr/>
        </p:nvCxnSpPr>
        <p:spPr>
          <a:xfrm rot="10800000" flipV="1">
            <a:off x="1091578" y="5410200"/>
            <a:ext cx="737222" cy="381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27" idx="0"/>
          </p:cNvCxnSpPr>
          <p:nvPr/>
        </p:nvCxnSpPr>
        <p:spPr>
          <a:xfrm rot="10800000" flipV="1">
            <a:off x="2728120" y="5867400"/>
            <a:ext cx="624681" cy="4318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426"/>
          <p:cNvSpPr>
            <a:spLocks noChangeArrowheads="1"/>
          </p:cNvSpPr>
          <p:nvPr/>
        </p:nvSpPr>
        <p:spPr bwMode="auto">
          <a:xfrm>
            <a:off x="7086600" y="5334000"/>
            <a:ext cx="1721946" cy="523220"/>
          </a:xfrm>
          <a:prstGeom prst="rect">
            <a:avLst/>
          </a:prstGeom>
          <a:solidFill>
            <a:srgbClr val="F8A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800" dirty="0" smtClean="0"/>
              <a:t>= p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(1-p</a:t>
            </a:r>
            <a:r>
              <a:rPr lang="en-US" sz="2800" baseline="-25000" dirty="0" smtClean="0"/>
              <a:t>4</a:t>
            </a:r>
            <a:r>
              <a:rPr lang="en-US" sz="2800" dirty="0" smtClean="0"/>
              <a:t>)</a:t>
            </a:r>
            <a:endParaRPr lang="en-US" sz="2000" baseline="-25000" dirty="0"/>
          </a:p>
        </p:txBody>
      </p:sp>
      <p:sp>
        <p:nvSpPr>
          <p:cNvPr id="41" name="TextBox 40"/>
          <p:cNvSpPr txBox="1"/>
          <p:nvPr/>
        </p:nvSpPr>
        <p:spPr>
          <a:xfrm>
            <a:off x="5410200" y="5943600"/>
            <a:ext cx="2895600" cy="83099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QP Goal: Compute cleverly, </a:t>
            </a:r>
            <a:r>
              <a:rPr lang="en-US" sz="2400" i="1" dirty="0" smtClean="0"/>
              <a:t>directly</a:t>
            </a:r>
            <a:endParaRPr lang="en-US" sz="24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2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2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2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2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62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62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62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62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62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62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0"/>
                            </p:stCondLst>
                            <p:childTnLst>
                              <p:par>
                                <p:cTn id="74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62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62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500"/>
                            </p:stCondLst>
                            <p:childTnLst>
                              <p:par>
                                <p:cTn id="7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6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000"/>
                            </p:stCondLst>
                            <p:childTnLst>
                              <p:par>
                                <p:cTn id="83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62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62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500"/>
                            </p:stCondLst>
                            <p:childTnLst>
                              <p:par>
                                <p:cTn id="8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000"/>
                            </p:stCondLst>
                            <p:childTnLst>
                              <p:par>
                                <p:cTn id="92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62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62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7500"/>
                            </p:stCondLst>
                            <p:childTnLst>
                              <p:par>
                                <p:cTn id="9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6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8000"/>
                            </p:stCondLst>
                            <p:childTnLst>
                              <p:par>
                                <p:cTn id="101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62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62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500"/>
                            </p:stCondLst>
                            <p:childTnLst>
                              <p:par>
                                <p:cTn id="10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9000"/>
                            </p:stCondLst>
                            <p:childTnLst>
                              <p:par>
                                <p:cTn id="1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9500"/>
                            </p:stCondLst>
                            <p:childTnLst>
                              <p:par>
                                <p:cTn id="1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37" grpId="0"/>
      <p:bldP spid="25" grpId="0" animBg="1" autoUpdateAnimBg="0"/>
      <p:bldP spid="26" grpId="0" animBg="1" autoUpdateAnimBg="0"/>
      <p:bldP spid="27" grpId="0" animBg="1" autoUpdateAnimBg="0"/>
      <p:bldP spid="39" grpId="0" animBg="1" autoUpdateAnimBg="0"/>
      <p:bldP spid="4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Overview of Part I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Part I: Basic Query Processing (TODAY)</a:t>
            </a:r>
          </a:p>
          <a:p>
            <a:pPr lvl="1" eaLnBrk="1" hangingPunct="1"/>
            <a:r>
              <a:rPr lang="en-US" smtClean="0"/>
              <a:t>Motivating Applications </a:t>
            </a:r>
          </a:p>
          <a:p>
            <a:pPr lvl="1" eaLnBrk="1" hangingPunct="1"/>
            <a:r>
              <a:rPr lang="en-US" smtClean="0"/>
              <a:t>A Simple Data Model (Representation)</a:t>
            </a:r>
          </a:p>
          <a:p>
            <a:pPr lvl="1" eaLnBrk="1" hangingPunct="1"/>
            <a:r>
              <a:rPr lang="en-US" smtClean="0"/>
              <a:t>Basic Query Processing Techniques</a:t>
            </a:r>
          </a:p>
          <a:p>
            <a:pPr eaLnBrk="1" hangingPunct="1">
              <a:buFont typeface="Arial" pitchFamily="34" charset="0"/>
              <a:buNone/>
            </a:pPr>
            <a:endParaRPr lang="en-US" smtClean="0"/>
          </a:p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Basic Query Processing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SELECT-FROM-WHERE Queries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Compiling Safe Queries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Unsafe Queries (Sampling)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Top-K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Aggregation Queries + Probabilities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Top-K + Measures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OLAP Queries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HAVING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286000"/>
            <a:ext cx="3657600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Natural start, workhorse RDMS queries.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0" y="4876800"/>
            <a:ext cx="3657600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Believe these are </a:t>
            </a:r>
            <a:r>
              <a:rPr lang="en-US" sz="2400" b="1" dirty="0" smtClean="0"/>
              <a:t>very </a:t>
            </a:r>
            <a:r>
              <a:rPr lang="en-US" sz="2400" dirty="0" smtClean="0"/>
              <a:t>important for applications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5B1CF8-7D49-437D-928E-07F7A5306C0E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Extensional Query Evaluation</a:t>
            </a:r>
          </a:p>
        </p:txBody>
      </p:sp>
      <p:sp>
        <p:nvSpPr>
          <p:cNvPr id="35845" name="Rectangle 3"/>
          <p:cNvSpPr>
            <a:spLocks noChangeArrowheads="1"/>
          </p:cNvSpPr>
          <p:nvPr/>
        </p:nvSpPr>
        <p:spPr bwMode="auto">
          <a:xfrm>
            <a:off x="533400" y="1371600"/>
            <a:ext cx="72469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Goal: Make relational ops compute probabilities</a:t>
            </a:r>
          </a:p>
        </p:txBody>
      </p:sp>
      <p:sp>
        <p:nvSpPr>
          <p:cNvPr id="35846" name="Rectangle 4"/>
          <p:cNvSpPr>
            <a:spLocks noChangeArrowheads="1"/>
          </p:cNvSpPr>
          <p:nvPr/>
        </p:nvSpPr>
        <p:spPr bwMode="auto">
          <a:xfrm>
            <a:off x="1981200" y="3810000"/>
            <a:ext cx="401072" cy="52322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Symbol" pitchFamily="18" charset="2"/>
              </a:rPr>
              <a:t>s</a:t>
            </a:r>
            <a:endParaRPr lang="en-US" sz="2800" dirty="0">
              <a:latin typeface="Calibri" pitchFamily="34" charset="0"/>
            </a:endParaRPr>
          </a:p>
        </p:txBody>
      </p:sp>
      <p:graphicFrame>
        <p:nvGraphicFramePr>
          <p:cNvPr id="283853" name="Group 205"/>
          <p:cNvGraphicFramePr>
            <a:graphicFrameLocks noGrp="1"/>
          </p:cNvGraphicFramePr>
          <p:nvPr/>
        </p:nvGraphicFramePr>
        <p:xfrm>
          <a:off x="1828800" y="4881563"/>
          <a:ext cx="609600" cy="1371600"/>
        </p:xfrm>
        <a:graphic>
          <a:graphicData uri="http://schemas.openxmlformats.org/drawingml/2006/table">
            <a:tbl>
              <a:tblPr/>
              <a:tblGrid>
                <a:gridCol w="342900"/>
                <a:gridCol w="2667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83854" name="Group 206"/>
          <p:cNvGraphicFramePr>
            <a:graphicFrameLocks noGrp="1"/>
          </p:cNvGraphicFramePr>
          <p:nvPr/>
        </p:nvGraphicFramePr>
        <p:xfrm>
          <a:off x="1828800" y="1905000"/>
          <a:ext cx="609600" cy="1371600"/>
        </p:xfrm>
        <a:graphic>
          <a:graphicData uri="http://schemas.openxmlformats.org/drawingml/2006/table">
            <a:tbl>
              <a:tblPr/>
              <a:tblGrid>
                <a:gridCol w="342900"/>
                <a:gridCol w="2667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5875" name="AutoShape 33"/>
          <p:cNvCxnSpPr>
            <a:cxnSpLocks noChangeShapeType="1"/>
            <a:endCxn id="35846" idx="2"/>
          </p:cNvCxnSpPr>
          <p:nvPr/>
        </p:nvCxnSpPr>
        <p:spPr bwMode="auto">
          <a:xfrm rot="5400000" flipH="1" flipV="1">
            <a:off x="1902547" y="4602376"/>
            <a:ext cx="548345" cy="100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83682" name="AutoShape 34"/>
          <p:cNvCxnSpPr>
            <a:cxnSpLocks noChangeShapeType="1"/>
            <a:stCxn id="35846" idx="0"/>
          </p:cNvCxnSpPr>
          <p:nvPr/>
        </p:nvCxnSpPr>
        <p:spPr bwMode="auto">
          <a:xfrm rot="16200000" flipV="1">
            <a:off x="1907638" y="3535902"/>
            <a:ext cx="538160" cy="100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5877" name="Rectangle 35"/>
          <p:cNvSpPr>
            <a:spLocks noChangeArrowheads="1"/>
          </p:cNvSpPr>
          <p:nvPr/>
        </p:nvSpPr>
        <p:spPr bwMode="auto">
          <a:xfrm>
            <a:off x="3581400" y="3810000"/>
            <a:ext cx="914400" cy="46166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Courier" pitchFamily="49" charset="0"/>
              </a:rPr>
              <a:t>JOIN</a:t>
            </a:r>
            <a:endParaRPr lang="en-US" sz="2400" b="1" dirty="0">
              <a:latin typeface="Courier" pitchFamily="49" charset="0"/>
            </a:endParaRPr>
          </a:p>
        </p:txBody>
      </p:sp>
      <p:graphicFrame>
        <p:nvGraphicFramePr>
          <p:cNvPr id="283789" name="Group 141"/>
          <p:cNvGraphicFramePr>
            <a:graphicFrameLocks noGrp="1"/>
          </p:cNvGraphicFramePr>
          <p:nvPr/>
        </p:nvGraphicFramePr>
        <p:xfrm>
          <a:off x="2743200" y="4729163"/>
          <a:ext cx="1219200" cy="1371600"/>
        </p:xfrm>
        <a:graphic>
          <a:graphicData uri="http://schemas.openxmlformats.org/drawingml/2006/table">
            <a:tbl>
              <a:tblPr/>
              <a:tblGrid>
                <a:gridCol w="522514"/>
                <a:gridCol w="696686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83786" name="Group 138"/>
          <p:cNvGraphicFramePr>
            <a:graphicFrameLocks noGrp="1"/>
          </p:cNvGraphicFramePr>
          <p:nvPr/>
        </p:nvGraphicFramePr>
        <p:xfrm>
          <a:off x="2752724" y="2057400"/>
          <a:ext cx="2200276" cy="1371600"/>
        </p:xfrm>
        <a:graphic>
          <a:graphicData uri="http://schemas.openxmlformats.org/drawingml/2006/table">
            <a:tbl>
              <a:tblPr/>
              <a:tblGrid>
                <a:gridCol w="572072"/>
                <a:gridCol w="572072"/>
                <a:gridCol w="1056132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cs typeface="Arial" pitchFamily="34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cs typeface="Arial" pitchFamily="34" charset="0"/>
                        </a:rPr>
                        <a:t>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 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5910" name="AutoShape 68"/>
          <p:cNvCxnSpPr>
            <a:cxnSpLocks noChangeShapeType="1"/>
            <a:endCxn id="35877" idx="1"/>
          </p:cNvCxnSpPr>
          <p:nvPr/>
        </p:nvCxnSpPr>
        <p:spPr bwMode="auto">
          <a:xfrm rot="5400000" flipH="1" flipV="1">
            <a:off x="3046730" y="4194503"/>
            <a:ext cx="68834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83717" name="AutoShape 69"/>
          <p:cNvCxnSpPr>
            <a:cxnSpLocks noChangeShapeType="1"/>
            <a:stCxn id="35877" idx="0"/>
          </p:cNvCxnSpPr>
          <p:nvPr/>
        </p:nvCxnSpPr>
        <p:spPr bwMode="auto">
          <a:xfrm rot="16200000" flipV="1">
            <a:off x="3791748" y="3563148"/>
            <a:ext cx="350836" cy="1428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aphicFrame>
        <p:nvGraphicFramePr>
          <p:cNvPr id="283792" name="Group 144"/>
          <p:cNvGraphicFramePr>
            <a:graphicFrameLocks noGrp="1"/>
          </p:cNvGraphicFramePr>
          <p:nvPr/>
        </p:nvGraphicFramePr>
        <p:xfrm>
          <a:off x="4267200" y="4729163"/>
          <a:ext cx="1219200" cy="1371600"/>
        </p:xfrm>
        <a:graphic>
          <a:graphicData uri="http://schemas.openxmlformats.org/drawingml/2006/table">
            <a:tbl>
              <a:tblPr/>
              <a:tblGrid>
                <a:gridCol w="562708"/>
                <a:gridCol w="656492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5926" name="AutoShape 84"/>
          <p:cNvCxnSpPr>
            <a:cxnSpLocks noChangeShapeType="1"/>
            <a:endCxn id="35877" idx="3"/>
          </p:cNvCxnSpPr>
          <p:nvPr/>
        </p:nvCxnSpPr>
        <p:spPr bwMode="auto">
          <a:xfrm rot="16200000" flipV="1">
            <a:off x="4265948" y="4270685"/>
            <a:ext cx="688380" cy="22867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5927" name="Rectangle 85"/>
          <p:cNvSpPr>
            <a:spLocks noChangeArrowheads="1"/>
          </p:cNvSpPr>
          <p:nvPr/>
        </p:nvSpPr>
        <p:spPr bwMode="auto">
          <a:xfrm>
            <a:off x="6477000" y="3663950"/>
            <a:ext cx="460382" cy="52322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Symbol" pitchFamily="18" charset="2"/>
              </a:rPr>
              <a:t>P</a:t>
            </a:r>
            <a:endParaRPr lang="en-US" sz="2800" dirty="0">
              <a:latin typeface="Calibri" pitchFamily="34" charset="0"/>
            </a:endParaRPr>
          </a:p>
        </p:txBody>
      </p:sp>
      <p:graphicFrame>
        <p:nvGraphicFramePr>
          <p:cNvPr id="283799" name="Group 151"/>
          <p:cNvGraphicFramePr>
            <a:graphicFrameLocks noGrp="1"/>
          </p:cNvGraphicFramePr>
          <p:nvPr/>
        </p:nvGraphicFramePr>
        <p:xfrm>
          <a:off x="6196013" y="4419600"/>
          <a:ext cx="1119187" cy="1828800"/>
        </p:xfrm>
        <a:graphic>
          <a:graphicData uri="http://schemas.openxmlformats.org/drawingml/2006/table">
            <a:tbl>
              <a:tblPr/>
              <a:tblGrid>
                <a:gridCol w="495300"/>
                <a:gridCol w="623887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83796" name="Group 148"/>
          <p:cNvGraphicFramePr>
            <a:graphicFrameLocks noGrp="1"/>
          </p:cNvGraphicFramePr>
          <p:nvPr/>
        </p:nvGraphicFramePr>
        <p:xfrm>
          <a:off x="5105400" y="1992313"/>
          <a:ext cx="3352800" cy="1371600"/>
        </p:xfrm>
        <a:graphic>
          <a:graphicData uri="http://schemas.openxmlformats.org/drawingml/2006/table">
            <a:tbl>
              <a:tblPr/>
              <a:tblGrid>
                <a:gridCol w="622663"/>
                <a:gridCol w="2730137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1-(1-p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)(1-p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)…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5959" name="AutoShape 117"/>
          <p:cNvCxnSpPr>
            <a:cxnSpLocks noChangeShapeType="1"/>
            <a:endCxn id="35927" idx="2"/>
          </p:cNvCxnSpPr>
          <p:nvPr/>
        </p:nvCxnSpPr>
        <p:spPr bwMode="auto">
          <a:xfrm rot="5400000" flipH="1" flipV="1">
            <a:off x="6583038" y="4295448"/>
            <a:ext cx="232431" cy="1587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83766" name="AutoShape 118"/>
          <p:cNvCxnSpPr>
            <a:cxnSpLocks noChangeShapeType="1"/>
            <a:stCxn id="35927" idx="0"/>
          </p:cNvCxnSpPr>
          <p:nvPr/>
        </p:nvCxnSpPr>
        <p:spPr bwMode="auto">
          <a:xfrm rot="16200000" flipV="1">
            <a:off x="6544471" y="3501229"/>
            <a:ext cx="304800" cy="2064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83861" name="Rectangle 213"/>
          <p:cNvSpPr>
            <a:spLocks noChangeArrowheads="1"/>
          </p:cNvSpPr>
          <p:nvPr/>
        </p:nvSpPr>
        <p:spPr bwMode="auto">
          <a:xfrm>
            <a:off x="2819400" y="6218238"/>
            <a:ext cx="4981620" cy="52322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i="1" dirty="0" smtClean="0">
                <a:latin typeface="+mn-lt"/>
                <a:cs typeface="+mn-cs"/>
              </a:rPr>
              <a:t>Why? It’s SQL–scale </a:t>
            </a:r>
            <a:r>
              <a:rPr lang="en-US" sz="2800" i="1" smtClean="0">
                <a:latin typeface="+mn-lt"/>
                <a:cs typeface="+mn-cs"/>
              </a:rPr>
              <a:t>and SQL-fast</a:t>
            </a:r>
            <a:endParaRPr lang="en-US" sz="2800" dirty="0">
              <a:latin typeface="+mn-lt"/>
              <a:cs typeface="+mn-cs"/>
            </a:endParaRPr>
          </a:p>
        </p:txBody>
      </p:sp>
      <p:sp>
        <p:nvSpPr>
          <p:cNvPr id="32" name="Rectangle 34"/>
          <p:cNvSpPr>
            <a:spLocks noChangeArrowheads="1"/>
          </p:cNvSpPr>
          <p:nvPr/>
        </p:nvSpPr>
        <p:spPr bwMode="auto">
          <a:xfrm>
            <a:off x="0" y="0"/>
            <a:ext cx="4257675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[Fuhr&amp;Roellke’97, </a:t>
            </a:r>
            <a:r>
              <a:rPr lang="en-US" sz="2400" b="1" dirty="0" err="1">
                <a:solidFill>
                  <a:schemeClr val="bg1"/>
                </a:solidFill>
                <a:latin typeface="+mn-lt"/>
                <a:cs typeface="+mn-cs"/>
              </a:rPr>
              <a:t>Dalvi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 &amp; S ‘04]</a:t>
            </a:r>
          </a:p>
        </p:txBody>
      </p:sp>
      <p:sp>
        <p:nvSpPr>
          <p:cNvPr id="283862" name="AutoShape 214"/>
          <p:cNvSpPr>
            <a:spLocks noChangeArrowheads="1"/>
          </p:cNvSpPr>
          <p:nvPr/>
        </p:nvSpPr>
        <p:spPr bwMode="auto">
          <a:xfrm>
            <a:off x="5257800" y="874812"/>
            <a:ext cx="3810000" cy="649188"/>
          </a:xfrm>
          <a:prstGeom prst="wedgeEllipseCallout">
            <a:avLst>
              <a:gd name="adj1" fmla="val -14062"/>
              <a:gd name="adj2" fmla="val 21306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2400" dirty="0" smtClean="0">
                <a:latin typeface="Calibri" pitchFamily="34" charset="0"/>
              </a:rPr>
              <a:t>“Not </a:t>
            </a:r>
            <a:r>
              <a:rPr lang="en-US" sz="2400" b="1" dirty="0" smtClean="0">
                <a:latin typeface="Calibri" pitchFamily="34" charset="0"/>
              </a:rPr>
              <a:t>all</a:t>
            </a:r>
            <a:r>
              <a:rPr lang="en-US" sz="2400" dirty="0" smtClean="0">
                <a:latin typeface="Calibri" pitchFamily="34" charset="0"/>
              </a:rPr>
              <a:t> are false”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239000" y="3512403"/>
            <a:ext cx="1905000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Removes Duplicates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8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8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83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861" grpId="0" animBg="1" autoUpdateAnimBg="0"/>
      <p:bldP spid="283862" grpId="0" animBg="1" autoUpdateAnimBg="0"/>
      <p:bldP spid="5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Extensional Plan to SQL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05600" y="4114800"/>
          <a:ext cx="2362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814"/>
                <a:gridCol w="722586"/>
                <a:gridCol w="685800"/>
              </a:tblGrid>
              <a:tr h="228600">
                <a:tc>
                  <a:txBody>
                    <a:bodyPr/>
                    <a:lstStyle/>
                    <a:p>
                      <a:r>
                        <a:rPr lang="en-US" dirty="0" smtClean="0"/>
                        <a:t>Person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Bob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sz="2400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4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Joe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NYC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sz="2400" b="1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4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Jon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sz="2400" b="1" baseline="-25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4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Jeff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sz="2400" b="1" baseline="-25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4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1055" name="TextBox 4"/>
          <p:cNvSpPr txBox="1">
            <a:spLocks noChangeArrowheads="1"/>
          </p:cNvSpPr>
          <p:nvPr/>
        </p:nvSpPr>
        <p:spPr bwMode="auto">
          <a:xfrm>
            <a:off x="228600" y="1524000"/>
            <a:ext cx="3429000" cy="830997"/>
          </a:xfrm>
          <a:prstGeom prst="rect">
            <a:avLst/>
          </a:prstGeom>
          <a:noFill/>
          <a:ln w="9525">
            <a:solidFill>
              <a:schemeClr val="accent1">
                <a:shade val="95000"/>
                <a:satMod val="10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SELECT DISTINCT </a:t>
            </a:r>
            <a:r>
              <a:rPr lang="en-US" sz="2400" dirty="0">
                <a:latin typeface="+mj-lt"/>
              </a:rPr>
              <a:t>loc</a:t>
            </a:r>
          </a:p>
          <a:p>
            <a:r>
              <a:rPr lang="en-US" sz="2400" b="1" dirty="0"/>
              <a:t>FROM</a:t>
            </a:r>
            <a:r>
              <a:rPr lang="en-US" sz="2400" dirty="0"/>
              <a:t> </a:t>
            </a:r>
            <a:r>
              <a:rPr lang="en-US" sz="2400" dirty="0" err="1" smtClean="0"/>
              <a:t>HomeOffice</a:t>
            </a:r>
            <a:endParaRPr lang="en-US" sz="2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0" y="1143000"/>
          <a:ext cx="3657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834640"/>
              </a:tblGrid>
              <a:tr h="137160">
                <a:tc>
                  <a:txBody>
                    <a:bodyPr/>
                    <a:lstStyle/>
                    <a:p>
                      <a:r>
                        <a:rPr lang="en-US" dirty="0" smtClean="0"/>
                        <a:t>Loc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SEA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1-(1-p</a:t>
                      </a:r>
                      <a:r>
                        <a:rPr lang="en-US" sz="2400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)(1-p</a:t>
                      </a:r>
                      <a:r>
                        <a:rPr lang="en-US" sz="2400" b="1" baseline="-25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)(1-p</a:t>
                      </a:r>
                      <a:r>
                        <a:rPr lang="en-US" sz="2400" b="1" baseline="-25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NYC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baseline="0" dirty="0" smtClean="0"/>
                        <a:t>p</a:t>
                      </a:r>
                      <a:r>
                        <a:rPr lang="en-US" sz="2400" b="1" baseline="-25000" dirty="0" smtClean="0"/>
                        <a:t>2</a:t>
                      </a:r>
                      <a:endParaRPr lang="en-US" sz="2400" b="1" baseline="-25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70" name="TextBox 9"/>
          <p:cNvSpPr txBox="1">
            <a:spLocks noChangeArrowheads="1"/>
          </p:cNvSpPr>
          <p:nvPr/>
        </p:nvSpPr>
        <p:spPr bwMode="auto">
          <a:xfrm>
            <a:off x="0" y="3078540"/>
            <a:ext cx="4572000" cy="1569660"/>
          </a:xfrm>
          <a:prstGeom prst="rect">
            <a:avLst/>
          </a:prstGeom>
          <a:noFill/>
          <a:ln w="9525">
            <a:solidFill>
              <a:schemeClr val="accent1">
                <a:shade val="95000"/>
                <a:satMod val="10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SELECT</a:t>
            </a:r>
            <a:r>
              <a:rPr lang="en-US" sz="2400" dirty="0"/>
              <a:t> </a:t>
            </a:r>
            <a:r>
              <a:rPr lang="en-US" sz="2400" dirty="0" smtClean="0"/>
              <a:t>loc, </a:t>
            </a:r>
            <a:endParaRPr lang="en-US" sz="2400" dirty="0"/>
          </a:p>
          <a:p>
            <a:r>
              <a:rPr lang="en-US" sz="2400" dirty="0"/>
              <a:t>         </a:t>
            </a:r>
            <a:r>
              <a:rPr lang="en-US" sz="2400" dirty="0" smtClean="0"/>
              <a:t>   1 </a:t>
            </a:r>
            <a:r>
              <a:rPr lang="en-US" sz="2400" dirty="0"/>
              <a:t>–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PRODUCT</a:t>
            </a:r>
            <a:r>
              <a:rPr lang="en-US" sz="2400" dirty="0"/>
              <a:t>(1-p) as </a:t>
            </a:r>
            <a:r>
              <a:rPr lang="en-US" sz="2400" dirty="0" smtClean="0"/>
              <a:t>p</a:t>
            </a:r>
          </a:p>
          <a:p>
            <a:r>
              <a:rPr lang="en-US" sz="2400" b="1" dirty="0" smtClean="0"/>
              <a:t>FROM</a:t>
            </a:r>
            <a:r>
              <a:rPr lang="en-US" sz="2400" dirty="0" smtClean="0"/>
              <a:t> </a:t>
            </a:r>
            <a:r>
              <a:rPr lang="en-US" sz="2400" dirty="0" err="1" smtClean="0"/>
              <a:t>HomeOffice</a:t>
            </a:r>
            <a:endParaRPr lang="en-US" sz="2400" dirty="0"/>
          </a:p>
          <a:p>
            <a:r>
              <a:rPr lang="en-US" sz="2400" b="1" dirty="0"/>
              <a:t>GROUP </a:t>
            </a:r>
            <a:r>
              <a:rPr lang="en-US" sz="2400" b="1" dirty="0" smtClean="0"/>
              <a:t>BY </a:t>
            </a:r>
            <a:r>
              <a:rPr lang="en-US" sz="2400" dirty="0" smtClean="0"/>
              <a:t>loc</a:t>
            </a:r>
            <a:endParaRPr lang="en-US" sz="2400" dirty="0"/>
          </a:p>
        </p:txBody>
      </p:sp>
      <p:sp>
        <p:nvSpPr>
          <p:cNvPr id="15" name="Down Arrow 14"/>
          <p:cNvSpPr/>
          <p:nvPr/>
        </p:nvSpPr>
        <p:spPr>
          <a:xfrm>
            <a:off x="1524000" y="2590800"/>
            <a:ext cx="7620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Up Arrow 29"/>
          <p:cNvSpPr/>
          <p:nvPr/>
        </p:nvSpPr>
        <p:spPr>
          <a:xfrm>
            <a:off x="7467600" y="2438400"/>
            <a:ext cx="762000" cy="457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Up Arrow 30"/>
          <p:cNvSpPr/>
          <p:nvPr/>
        </p:nvSpPr>
        <p:spPr>
          <a:xfrm>
            <a:off x="7467600" y="3581400"/>
            <a:ext cx="762000" cy="457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0" y="4960203"/>
            <a:ext cx="4648200" cy="830997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FF0000"/>
                </a:solidFill>
              </a:rPr>
              <a:t>Important point</a:t>
            </a:r>
            <a:r>
              <a:rPr lang="en-US" sz="2400" dirty="0" smtClean="0"/>
              <a:t>: Extensional Evaluation is </a:t>
            </a:r>
            <a:r>
              <a:rPr lang="en-US" sz="2400" i="1" dirty="0" smtClean="0"/>
              <a:t>SQL – so SQL fast</a:t>
            </a:r>
            <a:endParaRPr lang="en-US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6934200" y="6396335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/>
              <a:t>HomeOffice</a:t>
            </a:r>
            <a:endParaRPr lang="en-US" sz="2400" dirty="0"/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0" y="0"/>
            <a:ext cx="4257675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[Fuhr&amp;Roellke’97, </a:t>
            </a:r>
            <a:r>
              <a:rPr lang="en-US" sz="2400" b="1" dirty="0" err="1">
                <a:solidFill>
                  <a:schemeClr val="bg1"/>
                </a:solidFill>
                <a:latin typeface="+mn-lt"/>
                <a:cs typeface="+mn-cs"/>
              </a:rPr>
              <a:t>Dalvi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 &amp; S ‘04]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091535"/>
            <a:ext cx="46482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 </a:t>
            </a:r>
            <a:r>
              <a:rPr lang="en-US" sz="2400" dirty="0" err="1" smtClean="0"/>
              <a:t>pDBs</a:t>
            </a:r>
            <a:r>
              <a:rPr lang="en-US" sz="2400" dirty="0" smtClean="0"/>
              <a:t> are just SQL, but…</a:t>
            </a:r>
            <a:endParaRPr lang="en-US" sz="2400" dirty="0"/>
          </a:p>
        </p:txBody>
      </p:sp>
      <p:sp>
        <p:nvSpPr>
          <p:cNvPr id="17" name="Oval Callout 16"/>
          <p:cNvSpPr/>
          <p:nvPr/>
        </p:nvSpPr>
        <p:spPr>
          <a:xfrm>
            <a:off x="4648200" y="5334000"/>
            <a:ext cx="2057400" cy="838200"/>
          </a:xfrm>
          <a:prstGeom prst="wedgeEllipseCallout">
            <a:avLst>
              <a:gd name="adj1" fmla="val 103840"/>
              <a:gd name="adj2" fmla="val -2663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NB: Remove attribute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086600" y="2971800"/>
            <a:ext cx="1828800" cy="58477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Symbol" pitchFamily="18" charset="2"/>
              </a:rPr>
              <a:t>P</a:t>
            </a:r>
            <a:r>
              <a:rPr lang="en-US" sz="3200" baseline="-25000" dirty="0" smtClean="0">
                <a:latin typeface="Symbol" pitchFamily="18" charset="2"/>
              </a:rPr>
              <a:t>{-</a:t>
            </a:r>
            <a:r>
              <a:rPr lang="en-US" sz="3200" baseline="-25000" dirty="0" smtClean="0"/>
              <a:t>person}</a:t>
            </a:r>
            <a:endParaRPr lang="en-US" sz="3200" baseline="-25000" dirty="0">
              <a:latin typeface="Symbol" pitchFamily="18" charset="2"/>
            </a:endParaRPr>
          </a:p>
        </p:txBody>
      </p:sp>
      <p:sp>
        <p:nvSpPr>
          <p:cNvPr id="19" name="Left-Right Arrow 18"/>
          <p:cNvSpPr/>
          <p:nvPr/>
        </p:nvSpPr>
        <p:spPr>
          <a:xfrm>
            <a:off x="4724400" y="3124200"/>
            <a:ext cx="1981200" cy="5334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Translation</a:t>
            </a:r>
            <a:endParaRPr lang="en-US" sz="2400" b="1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4436C8-2843-4034-9A0F-82B00DDE4529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" grpId="0" animBg="1"/>
      <p:bldP spid="15" grpId="0" animBg="1"/>
      <p:bldP spid="30" grpId="0" animBg="1"/>
      <p:bldP spid="31" grpId="0" animBg="1"/>
      <p:bldP spid="32" grpId="0" animBg="1"/>
      <p:bldP spid="33" grpId="0"/>
      <p:bldP spid="36" grpId="0" animBg="1"/>
      <p:bldP spid="17" grpId="0" animBg="1"/>
      <p:bldP spid="18" grpId="0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Arrow Connector 50"/>
          <p:cNvCxnSpPr>
            <a:stCxn id="30" idx="0"/>
            <a:endCxn id="29" idx="2"/>
          </p:cNvCxnSpPr>
          <p:nvPr/>
        </p:nvCxnSpPr>
        <p:spPr>
          <a:xfrm rot="16200000" flipV="1">
            <a:off x="6201077" y="3400123"/>
            <a:ext cx="1066800" cy="127695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9CD3C6-43EE-4848-ABB3-125781D9A309}" type="slidenum">
              <a:rPr lang="en-US"/>
              <a:pPr>
                <a:defRPr/>
              </a:pPr>
              <a:t>32</a:t>
            </a:fld>
            <a:endParaRPr lang="en-US"/>
          </a:p>
        </p:txBody>
      </p:sp>
      <p:graphicFrame>
        <p:nvGraphicFramePr>
          <p:cNvPr id="129250" name="Group 226"/>
          <p:cNvGraphicFramePr>
            <a:graphicFrameLocks noGrp="1"/>
          </p:cNvGraphicFramePr>
          <p:nvPr/>
        </p:nvGraphicFramePr>
        <p:xfrm>
          <a:off x="-1" y="5715000"/>
          <a:ext cx="2057402" cy="457200"/>
        </p:xfrm>
        <a:graphic>
          <a:graphicData uri="http://schemas.openxmlformats.org/drawingml/2006/table">
            <a:tbl>
              <a:tblPr/>
              <a:tblGrid>
                <a:gridCol w="715618"/>
                <a:gridCol w="805070"/>
                <a:gridCol w="536714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9254" name="Group 230"/>
          <p:cNvGraphicFramePr>
            <a:graphicFrameLocks noGrp="1"/>
          </p:cNvGraphicFramePr>
          <p:nvPr/>
        </p:nvGraphicFramePr>
        <p:xfrm>
          <a:off x="2209800" y="5410200"/>
          <a:ext cx="1219200" cy="1371600"/>
        </p:xfrm>
        <a:graphic>
          <a:graphicData uri="http://schemas.openxmlformats.org/drawingml/2006/table">
            <a:tbl>
              <a:tblPr/>
              <a:tblGrid>
                <a:gridCol w="711200"/>
                <a:gridCol w="508000"/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9096" name="Rectangle 72"/>
          <p:cNvSpPr>
            <a:spLocks noChangeArrowheads="1"/>
          </p:cNvSpPr>
          <p:nvPr/>
        </p:nvSpPr>
        <p:spPr bwMode="auto">
          <a:xfrm>
            <a:off x="3886200" y="228600"/>
            <a:ext cx="3978275" cy="15621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latin typeface="+mn-lt"/>
                <a:cs typeface="+mn-cs"/>
              </a:rPr>
              <a:t>SELECT DISTINCT x.City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latin typeface="+mn-lt"/>
                <a:cs typeface="+mn-cs"/>
              </a:rPr>
              <a:t>FROM Person</a:t>
            </a:r>
            <a:r>
              <a:rPr lang="en-US" baseline="30000">
                <a:latin typeface="+mn-lt"/>
                <a:cs typeface="+mn-cs"/>
              </a:rPr>
              <a:t>p</a:t>
            </a:r>
            <a:r>
              <a:rPr lang="en-US">
                <a:latin typeface="+mn-lt"/>
                <a:cs typeface="+mn-cs"/>
              </a:rPr>
              <a:t> x, Purchase</a:t>
            </a:r>
            <a:r>
              <a:rPr lang="en-US" baseline="30000">
                <a:latin typeface="+mn-lt"/>
                <a:cs typeface="+mn-cs"/>
              </a:rPr>
              <a:t>p</a:t>
            </a:r>
            <a:r>
              <a:rPr lang="en-US">
                <a:latin typeface="+mn-lt"/>
                <a:cs typeface="+mn-cs"/>
              </a:rPr>
              <a:t> 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latin typeface="+mn-lt"/>
                <a:cs typeface="+mn-cs"/>
              </a:rPr>
              <a:t>WHERE x.Name = y.Cust </a:t>
            </a:r>
            <a:br>
              <a:rPr lang="en-US">
                <a:latin typeface="+mn-lt"/>
                <a:cs typeface="+mn-cs"/>
              </a:rPr>
            </a:br>
            <a:r>
              <a:rPr lang="en-US">
                <a:latin typeface="+mn-lt"/>
                <a:cs typeface="+mn-cs"/>
              </a:rPr>
              <a:t>         and y.Product = ‘Gadget’</a:t>
            </a:r>
          </a:p>
        </p:txBody>
      </p:sp>
      <p:graphicFrame>
        <p:nvGraphicFramePr>
          <p:cNvPr id="129308" name="Group 284"/>
          <p:cNvGraphicFramePr>
            <a:graphicFrameLocks noGrp="1"/>
          </p:cNvGraphicFramePr>
          <p:nvPr/>
        </p:nvGraphicFramePr>
        <p:xfrm>
          <a:off x="2057400" y="3505200"/>
          <a:ext cx="2286000" cy="1371600"/>
        </p:xfrm>
        <a:graphic>
          <a:graphicData uri="http://schemas.openxmlformats.org/drawingml/2006/table">
            <a:tbl>
              <a:tblPr/>
              <a:tblGrid>
                <a:gridCol w="703385"/>
                <a:gridCol w="762000"/>
                <a:gridCol w="820615"/>
              </a:tblGrid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9298" name="Group 274"/>
          <p:cNvGraphicFramePr>
            <a:graphicFrameLocks noGrp="1"/>
          </p:cNvGraphicFramePr>
          <p:nvPr/>
        </p:nvGraphicFramePr>
        <p:xfrm>
          <a:off x="0" y="2133600"/>
          <a:ext cx="4648200" cy="457200"/>
        </p:xfrm>
        <a:graphic>
          <a:graphicData uri="http://schemas.openxmlformats.org/drawingml/2006/table">
            <a:tbl>
              <a:tblPr/>
              <a:tblGrid>
                <a:gridCol w="787831"/>
                <a:gridCol w="3860369"/>
              </a:tblGrid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1-(1-p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)(1- 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)(1- 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kumimoji="0" lang="en-US" sz="24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9267" name="Group 243"/>
          <p:cNvGraphicFramePr>
            <a:graphicFrameLocks noGrp="1"/>
          </p:cNvGraphicFramePr>
          <p:nvPr/>
        </p:nvGraphicFramePr>
        <p:xfrm>
          <a:off x="4191000" y="5334000"/>
          <a:ext cx="2057400" cy="457200"/>
        </p:xfrm>
        <a:graphic>
          <a:graphicData uri="http://schemas.openxmlformats.org/drawingml/2006/table">
            <a:tbl>
              <a:tblPr/>
              <a:tblGrid>
                <a:gridCol w="685800"/>
                <a:gridCol w="857250"/>
                <a:gridCol w="5143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9270" name="Group 246"/>
          <p:cNvGraphicFramePr>
            <a:graphicFrameLocks noGrp="1"/>
          </p:cNvGraphicFramePr>
          <p:nvPr/>
        </p:nvGraphicFramePr>
        <p:xfrm>
          <a:off x="6781800" y="5410200"/>
          <a:ext cx="1295400" cy="1371600"/>
        </p:xfrm>
        <a:graphic>
          <a:graphicData uri="http://schemas.openxmlformats.org/drawingml/2006/table">
            <a:tbl>
              <a:tblPr/>
              <a:tblGrid>
                <a:gridCol w="755650"/>
                <a:gridCol w="53975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9310" name="Group 286"/>
          <p:cNvGraphicFramePr>
            <a:graphicFrameLocks noGrp="1"/>
          </p:cNvGraphicFramePr>
          <p:nvPr/>
        </p:nvGraphicFramePr>
        <p:xfrm>
          <a:off x="5715000" y="4038600"/>
          <a:ext cx="3429000" cy="457200"/>
        </p:xfrm>
        <a:graphic>
          <a:graphicData uri="http://schemas.openxmlformats.org/drawingml/2006/table">
            <a:tbl>
              <a:tblPr/>
              <a:tblGrid>
                <a:gridCol w="653143"/>
                <a:gridCol w="2775857"/>
              </a:tblGrid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</a:rPr>
                        <a:t>Jon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1-(1-q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)(1-q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)(1-q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kumimoji="0" lang="en-US" sz="24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315" name="Group 291"/>
          <p:cNvGraphicFramePr>
            <a:graphicFrameLocks noGrp="1"/>
          </p:cNvGraphicFramePr>
          <p:nvPr/>
        </p:nvGraphicFramePr>
        <p:xfrm>
          <a:off x="4953000" y="2211388"/>
          <a:ext cx="4038600" cy="457200"/>
        </p:xfrm>
        <a:graphic>
          <a:graphicData uri="http://schemas.openxmlformats.org/drawingml/2006/table">
            <a:tbl>
              <a:tblPr/>
              <a:tblGrid>
                <a:gridCol w="734916"/>
                <a:gridCol w="3303684"/>
              </a:tblGrid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(1-(1-q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)(1-q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)(1-q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))</a:t>
                      </a:r>
                      <a:endParaRPr kumimoji="0" lang="en-US" sz="24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9293" name="Oval 269"/>
          <p:cNvSpPr>
            <a:spLocks noChangeArrowheads="1"/>
          </p:cNvSpPr>
          <p:nvPr/>
        </p:nvSpPr>
        <p:spPr bwMode="auto">
          <a:xfrm>
            <a:off x="381000" y="1295400"/>
            <a:ext cx="1643063" cy="6191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latin typeface="Calibri" pitchFamily="34" charset="0"/>
              </a:rPr>
              <a:t>Wrong !</a:t>
            </a:r>
          </a:p>
        </p:txBody>
      </p:sp>
      <p:sp>
        <p:nvSpPr>
          <p:cNvPr id="129294" name="Oval 270"/>
          <p:cNvSpPr>
            <a:spLocks noChangeArrowheads="1"/>
          </p:cNvSpPr>
          <p:nvPr/>
        </p:nvSpPr>
        <p:spPr bwMode="auto">
          <a:xfrm>
            <a:off x="7165975" y="2809875"/>
            <a:ext cx="1487488" cy="6191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latin typeface="Calibri" pitchFamily="34" charset="0"/>
              </a:rPr>
              <a:t>Correct</a:t>
            </a:r>
          </a:p>
        </p:txBody>
      </p:sp>
      <p:sp>
        <p:nvSpPr>
          <p:cNvPr id="129316" name="Rectangle 292"/>
          <p:cNvSpPr>
            <a:spLocks noChangeArrowheads="1"/>
          </p:cNvSpPr>
          <p:nvPr/>
        </p:nvSpPr>
        <p:spPr bwMode="auto">
          <a:xfrm>
            <a:off x="3581400" y="6172200"/>
            <a:ext cx="3027363" cy="52863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dirty="0">
                <a:latin typeface="+mn-lt"/>
                <a:cs typeface="+mn-cs"/>
              </a:rPr>
              <a:t>Depends on plan !!!</a:t>
            </a:r>
          </a:p>
        </p:txBody>
      </p:sp>
      <p:sp>
        <p:nvSpPr>
          <p:cNvPr id="28" name="Rectangle 34"/>
          <p:cNvSpPr>
            <a:spLocks noChangeArrowheads="1"/>
          </p:cNvSpPr>
          <p:nvPr/>
        </p:nvSpPr>
        <p:spPr bwMode="auto">
          <a:xfrm>
            <a:off x="0" y="0"/>
            <a:ext cx="17764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[Dalvi&amp;S’04]</a:t>
            </a:r>
          </a:p>
        </p:txBody>
      </p:sp>
      <p:sp>
        <p:nvSpPr>
          <p:cNvPr id="29" name="Rectangle 35"/>
          <p:cNvSpPr>
            <a:spLocks noChangeArrowheads="1"/>
          </p:cNvSpPr>
          <p:nvPr/>
        </p:nvSpPr>
        <p:spPr bwMode="auto">
          <a:xfrm>
            <a:off x="5638800" y="3043535"/>
            <a:ext cx="914400" cy="46166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Courier" pitchFamily="49" charset="0"/>
              </a:rPr>
              <a:t>JOIN</a:t>
            </a:r>
            <a:endParaRPr lang="en-US" sz="2400" b="1" dirty="0">
              <a:latin typeface="Courier" pitchFamily="49" charset="0"/>
            </a:endParaRPr>
          </a:p>
        </p:txBody>
      </p:sp>
      <p:sp>
        <p:nvSpPr>
          <p:cNvPr id="30" name="Rectangle 100"/>
          <p:cNvSpPr>
            <a:spLocks noChangeArrowheads="1"/>
          </p:cNvSpPr>
          <p:nvPr/>
        </p:nvSpPr>
        <p:spPr bwMode="auto">
          <a:xfrm>
            <a:off x="7162800" y="4572000"/>
            <a:ext cx="420308" cy="46166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Symbol" pitchFamily="18" charset="2"/>
              </a:rPr>
              <a:t>P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31" name="Rectangle 35"/>
          <p:cNvSpPr>
            <a:spLocks noChangeArrowheads="1"/>
          </p:cNvSpPr>
          <p:nvPr/>
        </p:nvSpPr>
        <p:spPr bwMode="auto">
          <a:xfrm>
            <a:off x="914400" y="4419600"/>
            <a:ext cx="914400" cy="46166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Courier" pitchFamily="49" charset="0"/>
              </a:rPr>
              <a:t>JOIN</a:t>
            </a:r>
            <a:endParaRPr lang="en-US" sz="2400" b="1" dirty="0">
              <a:latin typeface="Courier" pitchFamily="49" charset="0"/>
            </a:endParaRPr>
          </a:p>
        </p:txBody>
      </p:sp>
      <p:cxnSp>
        <p:nvCxnSpPr>
          <p:cNvPr id="33" name="Straight Arrow Connector 32"/>
          <p:cNvCxnSpPr>
            <a:endCxn id="31" idx="2"/>
          </p:cNvCxnSpPr>
          <p:nvPr/>
        </p:nvCxnSpPr>
        <p:spPr>
          <a:xfrm rot="5400000" flipH="1" flipV="1">
            <a:off x="802333" y="5145733"/>
            <a:ext cx="833735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31" idx="2"/>
          </p:cNvCxnSpPr>
          <p:nvPr/>
        </p:nvCxnSpPr>
        <p:spPr>
          <a:xfrm rot="10800000">
            <a:off x="1371600" y="4881266"/>
            <a:ext cx="1447802" cy="52893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1" idx="0"/>
            <a:endCxn id="41" idx="2"/>
          </p:cNvCxnSpPr>
          <p:nvPr/>
        </p:nvCxnSpPr>
        <p:spPr>
          <a:xfrm rot="5400000" flipH="1" flipV="1">
            <a:off x="910105" y="3956515"/>
            <a:ext cx="924580" cy="159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00"/>
          <p:cNvSpPr>
            <a:spLocks noChangeArrowheads="1"/>
          </p:cNvSpPr>
          <p:nvPr/>
        </p:nvSpPr>
        <p:spPr bwMode="auto">
          <a:xfrm>
            <a:off x="1143000" y="2971800"/>
            <a:ext cx="460382" cy="52322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Symbol" pitchFamily="18" charset="2"/>
              </a:rPr>
              <a:t>P</a:t>
            </a:r>
            <a:endParaRPr lang="en-US" sz="2800" dirty="0">
              <a:latin typeface="Calibri" pitchFamily="34" charset="0"/>
            </a:endParaRPr>
          </a:p>
        </p:txBody>
      </p:sp>
      <p:cxnSp>
        <p:nvCxnSpPr>
          <p:cNvPr id="44" name="Straight Arrow Connector 43"/>
          <p:cNvCxnSpPr>
            <a:endCxn id="30" idx="2"/>
          </p:cNvCxnSpPr>
          <p:nvPr/>
        </p:nvCxnSpPr>
        <p:spPr>
          <a:xfrm rot="16200000" flipV="1">
            <a:off x="7232011" y="5174609"/>
            <a:ext cx="300335" cy="184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29" idx="2"/>
          </p:cNvCxnSpPr>
          <p:nvPr/>
        </p:nvCxnSpPr>
        <p:spPr>
          <a:xfrm rot="5400000" flipH="1" flipV="1">
            <a:off x="4686300" y="3924300"/>
            <a:ext cx="1828800" cy="990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57400" y="2743200"/>
            <a:ext cx="2514600" cy="46166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Not independent!</a:t>
            </a:r>
            <a:endParaRPr lang="en-US" sz="2400" dirty="0"/>
          </a:p>
        </p:txBody>
      </p:sp>
      <p:sp>
        <p:nvSpPr>
          <p:cNvPr id="36" name="Oval 35"/>
          <p:cNvSpPr/>
          <p:nvPr/>
        </p:nvSpPr>
        <p:spPr>
          <a:xfrm>
            <a:off x="3505200" y="40386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505200" y="35814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3505200" y="44958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3505200" y="40386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9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3 -0.00555 L -0.2125 0.25532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" y="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2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29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2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29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2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293" grpId="0" animBg="1" autoUpdateAnimBg="0"/>
      <p:bldP spid="129294" grpId="0" animBg="1" autoUpdateAnimBg="0"/>
      <p:bldP spid="129316" grpId="0" animBg="1" autoUpdateAnimBg="0"/>
      <p:bldP spid="29" grpId="0" animBg="1"/>
      <p:bldP spid="30" grpId="0" animBg="1"/>
      <p:bldP spid="35" grpId="0" animBg="1"/>
      <p:bldP spid="36" grpId="0" animBg="1"/>
      <p:bldP spid="38" grpId="0" animBg="1"/>
      <p:bldP spid="40" grpId="0" animBg="1"/>
      <p:bldP spid="43" grpId="0" animBg="1"/>
      <p:bldP spid="43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Safe Plans</a:t>
            </a:r>
          </a:p>
        </p:txBody>
      </p:sp>
      <p:sp>
        <p:nvSpPr>
          <p:cNvPr id="37891" name="Content Placeholder 2"/>
          <p:cNvSpPr txBox="1">
            <a:spLocks/>
          </p:cNvSpPr>
          <p:nvPr/>
        </p:nvSpPr>
        <p:spPr bwMode="auto">
          <a:xfrm>
            <a:off x="457200" y="1371600"/>
            <a:ext cx="8229600" cy="475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>
                <a:latin typeface="Calibri" pitchFamily="34" charset="0"/>
              </a:rPr>
              <a:t>A plan that correctly computes probabilities is called a </a:t>
            </a:r>
            <a:r>
              <a:rPr lang="en-US" sz="3200" b="1" dirty="0">
                <a:latin typeface="Calibri" pitchFamily="34" charset="0"/>
              </a:rPr>
              <a:t>safe </a:t>
            </a:r>
            <a:r>
              <a:rPr lang="en-US" sz="3200" b="1" dirty="0" smtClean="0">
                <a:latin typeface="Calibri" pitchFamily="34" charset="0"/>
              </a:rPr>
              <a:t>plan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3200" dirty="0" smtClean="0">
              <a:latin typeface="Calibri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3200" dirty="0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3200" dirty="0" smtClean="0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Query Compilation = finding this condition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Q: When are projected </a:t>
            </a:r>
            <a:r>
              <a:rPr lang="en-US" sz="3200" dirty="0" err="1" smtClean="0">
                <a:latin typeface="Calibri" pitchFamily="34" charset="0"/>
              </a:rPr>
              <a:t>tuples</a:t>
            </a:r>
            <a:r>
              <a:rPr lang="en-US" sz="3200" dirty="0" smtClean="0">
                <a:latin typeface="Calibri" pitchFamily="34" charset="0"/>
              </a:rPr>
              <a:t> independent?</a:t>
            </a:r>
          </a:p>
          <a:p>
            <a:pPr marL="1257300" lvl="2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3200" dirty="0" smtClean="0">
              <a:latin typeface="Calibri" pitchFamily="34" charset="0"/>
            </a:endParaRPr>
          </a:p>
          <a:p>
            <a:pPr marL="1257300" lvl="2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3200" dirty="0" smtClean="0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3200" dirty="0">
              <a:latin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2634294"/>
            <a:ext cx="8610600" cy="1175706"/>
          </a:xfrm>
          <a:prstGeom prst="rect">
            <a:avLst/>
          </a:prstGeom>
          <a:solidFill>
            <a:schemeClr val="accent1"/>
          </a:solidFill>
          <a:ln w="635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800100" lvl="1" indent="-342900" algn="ctr">
              <a:spcBef>
                <a:spcPct val="20000"/>
              </a:spcBef>
            </a:pPr>
            <a:r>
              <a:rPr lang="en-US" sz="3200" b="1" dirty="0" smtClean="0">
                <a:solidFill>
                  <a:schemeClr val="bg1"/>
                </a:solidFill>
                <a:latin typeface="Calibri" pitchFamily="34" charset="0"/>
              </a:rPr>
              <a:t>Intuition: A plan is safe if </a:t>
            </a:r>
          </a:p>
          <a:p>
            <a:pPr marL="800100" lvl="1" indent="-342900" algn="ctr">
              <a:spcBef>
                <a:spcPct val="20000"/>
              </a:spcBef>
            </a:pPr>
            <a:r>
              <a:rPr lang="en-US" sz="3200" b="1" dirty="0" smtClean="0">
                <a:solidFill>
                  <a:schemeClr val="bg1"/>
                </a:solidFill>
                <a:latin typeface="Calibri" pitchFamily="34" charset="0"/>
              </a:rPr>
              <a:t>it </a:t>
            </a:r>
            <a:r>
              <a:rPr lang="en-US" sz="3200" b="1" i="1" dirty="0" smtClean="0">
                <a:solidFill>
                  <a:schemeClr val="bg1"/>
                </a:solidFill>
                <a:latin typeface="Calibri" pitchFamily="34" charset="0"/>
              </a:rPr>
              <a:t>only</a:t>
            </a:r>
            <a:r>
              <a:rPr lang="en-US" sz="3200" b="1" dirty="0" smtClean="0">
                <a:solidFill>
                  <a:schemeClr val="bg1"/>
                </a:solidFill>
                <a:latin typeface="Calibri" pitchFamily="34" charset="0"/>
              </a:rPr>
              <a:t> multiplies </a:t>
            </a:r>
            <a:r>
              <a:rPr lang="en-US" sz="3200" b="1" i="1" dirty="0" smtClean="0">
                <a:solidFill>
                  <a:schemeClr val="bg1"/>
                </a:solidFill>
                <a:latin typeface="Calibri" pitchFamily="34" charset="0"/>
              </a:rPr>
              <a:t>independent </a:t>
            </a:r>
            <a:r>
              <a:rPr lang="en-US" sz="3200" b="1" dirty="0" smtClean="0">
                <a:solidFill>
                  <a:schemeClr val="bg1"/>
                </a:solidFill>
                <a:latin typeface="Calibri" pitchFamily="34" charset="0"/>
              </a:rPr>
              <a:t>probabilities</a:t>
            </a:r>
            <a:r>
              <a:rPr lang="en-US" sz="3200" dirty="0" smtClean="0">
                <a:latin typeface="Calibri" pitchFamily="34" charset="0"/>
              </a:rPr>
              <a:t>.</a:t>
            </a:r>
            <a:endParaRPr lang="en-US" dirty="0"/>
          </a:p>
        </p:txBody>
      </p:sp>
      <p:sp>
        <p:nvSpPr>
          <p:cNvPr id="5" name="Rectangle 34"/>
          <p:cNvSpPr>
            <a:spLocks noChangeArrowheads="1"/>
          </p:cNvSpPr>
          <p:nvPr/>
        </p:nvSpPr>
        <p:spPr bwMode="auto">
          <a:xfrm>
            <a:off x="0" y="0"/>
            <a:ext cx="17764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[Dalvi&amp;S’04]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2E5E82-AA4B-4FE6-B9BB-CB52BAB058CF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A Definition of Independence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054" name="Object 11"/>
          <p:cNvGraphicFramePr>
            <a:graphicFrameLocks noChangeAspect="1"/>
          </p:cNvGraphicFramePr>
          <p:nvPr/>
        </p:nvGraphicFramePr>
        <p:xfrm>
          <a:off x="4102100" y="2032000"/>
          <a:ext cx="914400" cy="198438"/>
        </p:xfrm>
        <a:graphic>
          <a:graphicData uri="http://schemas.openxmlformats.org/presentationml/2006/ole">
            <p:oleObj spid="_x0000_s2054" name="Equation" r:id="rId4" imgW="914400" imgH="198720" progId="Equation.DSMT4">
              <p:embed/>
            </p:oleObj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343400" y="5181600"/>
            <a:ext cx="4800600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2400" i="1" dirty="0" smtClean="0"/>
              <a:t>No </a:t>
            </a:r>
            <a:r>
              <a:rPr lang="en-US" sz="2400" i="1" dirty="0" err="1" smtClean="0"/>
              <a:t>tuple</a:t>
            </a:r>
            <a:r>
              <a:rPr lang="en-US" sz="2400" i="1" dirty="0" smtClean="0"/>
              <a:t> used by </a:t>
            </a:r>
            <a:r>
              <a:rPr lang="en-US" sz="2400" b="1" i="1" dirty="0" smtClean="0"/>
              <a:t>both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qa</a:t>
            </a:r>
            <a:r>
              <a:rPr lang="en-US" sz="2400" i="1" dirty="0" smtClean="0"/>
              <a:t> </a:t>
            </a:r>
            <a:r>
              <a:rPr lang="en-US" sz="2400" i="1" u="sng" dirty="0" smtClean="0"/>
              <a:t>and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qb</a:t>
            </a:r>
            <a:r>
              <a:rPr lang="en-US" sz="2400" i="1" dirty="0" smtClean="0"/>
              <a:t>.</a:t>
            </a:r>
            <a:endParaRPr lang="en-US" sz="2400" i="1" dirty="0"/>
          </a:p>
        </p:txBody>
      </p:sp>
      <p:sp>
        <p:nvSpPr>
          <p:cNvPr id="39" name="TextBox 38"/>
          <p:cNvSpPr txBox="1"/>
          <p:nvPr/>
        </p:nvSpPr>
        <p:spPr>
          <a:xfrm>
            <a:off x="4267200" y="28860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990600" y="1295400"/>
            <a:ext cx="7162800" cy="13849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Query q is </a:t>
            </a:r>
            <a:r>
              <a:rPr lang="en-US" sz="2800" b="1" u="sng" dirty="0" smtClean="0">
                <a:solidFill>
                  <a:schemeClr val="bg1"/>
                </a:solidFill>
              </a:rPr>
              <a:t>independent</a:t>
            </a:r>
            <a:r>
              <a:rPr lang="en-US" sz="2800" b="1" dirty="0" smtClean="0">
                <a:solidFill>
                  <a:schemeClr val="bg1"/>
                </a:solidFill>
              </a:rPr>
              <a:t> on variable x if q{x ←`a’} and q{x ← `b’} are independent events for any distinct constants </a:t>
            </a:r>
            <a:r>
              <a:rPr lang="en-US" sz="2800" b="1" dirty="0" err="1" smtClean="0">
                <a:solidFill>
                  <a:schemeClr val="bg1"/>
                </a:solidFill>
              </a:rPr>
              <a:t>a,b</a:t>
            </a:r>
            <a:endParaRPr lang="en-US" sz="24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0" y="2895600"/>
            <a:ext cx="4114800" cy="830997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Fundamental judgment for large scale QP (GB, TB)</a:t>
            </a:r>
            <a:endParaRPr lang="en-US" sz="2400" dirty="0"/>
          </a:p>
        </p:txBody>
      </p:sp>
      <p:sp>
        <p:nvSpPr>
          <p:cNvPr id="45" name="TextBox 44"/>
          <p:cNvSpPr txBox="1"/>
          <p:nvPr/>
        </p:nvSpPr>
        <p:spPr>
          <a:xfrm>
            <a:off x="0" y="0"/>
            <a:ext cx="2667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Rectangle 34"/>
          <p:cNvSpPr>
            <a:spLocks noChangeArrowheads="1"/>
          </p:cNvSpPr>
          <p:nvPr/>
        </p:nvSpPr>
        <p:spPr bwMode="auto">
          <a:xfrm>
            <a:off x="0" y="0"/>
            <a:ext cx="7239000" cy="400091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bg1"/>
                </a:solidFill>
                <a:latin typeface="+mn-lt"/>
                <a:cs typeface="+mn-cs"/>
              </a:rPr>
              <a:t>[</a:t>
            </a:r>
            <a:r>
              <a:rPr lang="en-US" sz="2000" b="1" dirty="0" smtClean="0">
                <a:solidFill>
                  <a:schemeClr val="bg1"/>
                </a:solidFill>
                <a:latin typeface="+mn-lt"/>
                <a:cs typeface="+mn-cs"/>
              </a:rPr>
              <a:t>Dalvi&amp;S’04][R,Dalvi,S’06][R&amp;S’07a][R&amp;S’07b][R,Letchner,B&amp;S’08]</a:t>
            </a:r>
            <a:endParaRPr lang="en-US" sz="2000" b="1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371600" y="5943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4191000" y="2895600"/>
            <a:ext cx="4953000" cy="830997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Safe Plans: reduce problem of evaluate q to q{x</a:t>
            </a:r>
            <a:r>
              <a:rPr lang="en-US" sz="2400" dirty="0" smtClean="0">
                <a:latin typeface="Times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" pitchFamily="18" charset="0"/>
              </a:rPr>
              <a:t>← </a:t>
            </a:r>
            <a:r>
              <a:rPr lang="en-US" sz="2400" dirty="0" smtClean="0">
                <a:solidFill>
                  <a:schemeClr val="bg1"/>
                </a:solidFill>
              </a:rPr>
              <a:t>a} for some a.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400" y="6320135"/>
            <a:ext cx="8382000" cy="461665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If x is shared in all </a:t>
            </a:r>
            <a:r>
              <a:rPr lang="en-US" sz="2400" dirty="0" err="1" smtClean="0"/>
              <a:t>subgoals</a:t>
            </a:r>
            <a:r>
              <a:rPr lang="en-US" sz="2400" dirty="0" smtClean="0"/>
              <a:t> of q then x is independent on q.  </a:t>
            </a:r>
            <a:endParaRPr lang="en-US" sz="2400" dirty="0"/>
          </a:p>
        </p:txBody>
      </p:sp>
      <p:sp>
        <p:nvSpPr>
          <p:cNvPr id="16" name="Oval Callout 15"/>
          <p:cNvSpPr/>
          <p:nvPr/>
        </p:nvSpPr>
        <p:spPr>
          <a:xfrm>
            <a:off x="1905000" y="5257800"/>
            <a:ext cx="2209800" cy="914400"/>
          </a:xfrm>
          <a:prstGeom prst="wedgeEllipseCallout">
            <a:avLst>
              <a:gd name="adj1" fmla="val 91811"/>
              <a:gd name="adj2" fmla="val 777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And no Self-Joins</a:t>
            </a:r>
            <a:endParaRPr lang="en-US" sz="2400" b="1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2E5E82-AA4B-4FE6-B9BB-CB52BAB058CF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0" y="4124980"/>
            <a:ext cx="388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" pitchFamily="18" charset="0"/>
              </a:rPr>
              <a:t>q = R(</a:t>
            </a:r>
            <a:r>
              <a:rPr lang="en-US" sz="2800" i="1" dirty="0" err="1" smtClean="0">
                <a:latin typeface="Times" pitchFamily="18" charset="0"/>
              </a:rPr>
              <a:t>x,y</a:t>
            </a:r>
            <a:r>
              <a:rPr lang="en-US" sz="2800" i="1" dirty="0" smtClean="0">
                <a:latin typeface="Times" pitchFamily="18" charset="0"/>
              </a:rPr>
              <a:t>), S(</a:t>
            </a:r>
            <a:r>
              <a:rPr lang="en-US" sz="2800" i="1" dirty="0" err="1" smtClean="0">
                <a:latin typeface="Times" pitchFamily="18" charset="0"/>
              </a:rPr>
              <a:t>x,y</a:t>
            </a:r>
            <a:r>
              <a:rPr lang="en-US" sz="2800" i="1" dirty="0" smtClean="0">
                <a:latin typeface="Times" pitchFamily="18" charset="0"/>
              </a:rPr>
              <a:t>), T(</a:t>
            </a:r>
            <a:r>
              <a:rPr lang="en-US" sz="2800" i="1" dirty="0" err="1" smtClean="0">
                <a:latin typeface="Times" pitchFamily="18" charset="0"/>
              </a:rPr>
              <a:t>z,x</a:t>
            </a:r>
            <a:r>
              <a:rPr lang="en-US" sz="2800" i="1" dirty="0" smtClean="0">
                <a:latin typeface="Times" pitchFamily="18" charset="0"/>
              </a:rPr>
              <a:t>)</a:t>
            </a:r>
            <a:endParaRPr lang="en-US" sz="2800" i="1" dirty="0">
              <a:latin typeface="Times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38600" y="4114800"/>
            <a:ext cx="586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" pitchFamily="18" charset="0"/>
              </a:rPr>
              <a:t>q</a:t>
            </a:r>
            <a:r>
              <a:rPr lang="en-US" sz="2400" dirty="0" smtClean="0">
                <a:latin typeface="Times" pitchFamily="18" charset="0"/>
              </a:rPr>
              <a:t>{ </a:t>
            </a:r>
            <a:r>
              <a:rPr lang="en-US" sz="2400" i="1" dirty="0" smtClean="0">
                <a:latin typeface="Times" pitchFamily="18" charset="0"/>
              </a:rPr>
              <a:t>x</a:t>
            </a:r>
            <a:r>
              <a:rPr lang="en-US" sz="2400" dirty="0" smtClean="0">
                <a:latin typeface="Times" pitchFamily="18" charset="0"/>
              </a:rPr>
              <a:t> ←`a’}</a:t>
            </a:r>
            <a:r>
              <a:rPr lang="en-US" sz="2400" i="1" dirty="0" smtClean="0">
                <a:latin typeface="Times" pitchFamily="18" charset="0"/>
              </a:rPr>
              <a:t> = R(`</a:t>
            </a:r>
            <a:r>
              <a:rPr lang="en-US" sz="2400" i="1" dirty="0" err="1" smtClean="0">
                <a:latin typeface="Times" pitchFamily="18" charset="0"/>
              </a:rPr>
              <a:t>a’,y</a:t>
            </a:r>
            <a:r>
              <a:rPr lang="en-US" sz="2400" i="1" dirty="0" smtClean="0">
                <a:latin typeface="Times" pitchFamily="18" charset="0"/>
              </a:rPr>
              <a:t>), S(`</a:t>
            </a:r>
            <a:r>
              <a:rPr lang="en-US" sz="2400" i="1" dirty="0" err="1" smtClean="0">
                <a:latin typeface="Times" pitchFamily="18" charset="0"/>
              </a:rPr>
              <a:t>a’,y</a:t>
            </a:r>
            <a:r>
              <a:rPr lang="en-US" sz="2400" i="1" dirty="0" smtClean="0">
                <a:latin typeface="Times" pitchFamily="18" charset="0"/>
              </a:rPr>
              <a:t>), T(</a:t>
            </a:r>
            <a:r>
              <a:rPr lang="en-US" sz="2400" i="1" dirty="0" err="1" smtClean="0">
                <a:latin typeface="Times" pitchFamily="18" charset="0"/>
              </a:rPr>
              <a:t>z,`a</a:t>
            </a:r>
            <a:r>
              <a:rPr lang="en-US" sz="2400" i="1" dirty="0" smtClean="0">
                <a:latin typeface="Times" pitchFamily="18" charset="0"/>
              </a:rPr>
              <a:t>’)</a:t>
            </a:r>
            <a:endParaRPr lang="en-US" sz="2400" i="1" dirty="0">
              <a:latin typeface="Times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38600" y="4567535"/>
            <a:ext cx="586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" pitchFamily="18" charset="0"/>
              </a:rPr>
              <a:t>q</a:t>
            </a:r>
            <a:r>
              <a:rPr lang="en-US" sz="2400" dirty="0" smtClean="0">
                <a:latin typeface="Times" pitchFamily="18" charset="0"/>
              </a:rPr>
              <a:t>{ </a:t>
            </a:r>
            <a:r>
              <a:rPr lang="en-US" sz="2400" i="1" dirty="0" smtClean="0">
                <a:latin typeface="Times" pitchFamily="18" charset="0"/>
              </a:rPr>
              <a:t>x</a:t>
            </a:r>
            <a:r>
              <a:rPr lang="en-US" sz="2400" dirty="0" smtClean="0">
                <a:latin typeface="Times" pitchFamily="18" charset="0"/>
              </a:rPr>
              <a:t> ←`b’} = </a:t>
            </a:r>
            <a:r>
              <a:rPr lang="en-US" sz="2400" i="1" dirty="0" smtClean="0">
                <a:latin typeface="Times" pitchFamily="18" charset="0"/>
              </a:rPr>
              <a:t>R(</a:t>
            </a:r>
            <a:r>
              <a:rPr lang="en-US" sz="2400" dirty="0" smtClean="0">
                <a:latin typeface="Times" pitchFamily="18" charset="0"/>
              </a:rPr>
              <a:t>`</a:t>
            </a:r>
            <a:r>
              <a:rPr lang="en-US" sz="2400" dirty="0" err="1" smtClean="0">
                <a:latin typeface="Times" pitchFamily="18" charset="0"/>
              </a:rPr>
              <a:t>b’,</a:t>
            </a:r>
            <a:r>
              <a:rPr lang="en-US" sz="2400" i="1" dirty="0" err="1" smtClean="0">
                <a:latin typeface="Times" pitchFamily="18" charset="0"/>
              </a:rPr>
              <a:t>y</a:t>
            </a:r>
            <a:r>
              <a:rPr lang="en-US" sz="2400" i="1" dirty="0" smtClean="0">
                <a:latin typeface="Times" pitchFamily="18" charset="0"/>
              </a:rPr>
              <a:t>), S(</a:t>
            </a:r>
            <a:r>
              <a:rPr lang="en-US" sz="2400" dirty="0" smtClean="0">
                <a:latin typeface="Times" pitchFamily="18" charset="0"/>
              </a:rPr>
              <a:t>`</a:t>
            </a:r>
            <a:r>
              <a:rPr lang="en-US" sz="2400" dirty="0" err="1" smtClean="0">
                <a:latin typeface="Times" pitchFamily="18" charset="0"/>
              </a:rPr>
              <a:t>b’,</a:t>
            </a:r>
            <a:r>
              <a:rPr lang="en-US" sz="2400" i="1" dirty="0" err="1" smtClean="0">
                <a:latin typeface="Times" pitchFamily="18" charset="0"/>
              </a:rPr>
              <a:t>y</a:t>
            </a:r>
            <a:r>
              <a:rPr lang="en-US" sz="2400" i="1" dirty="0" smtClean="0">
                <a:latin typeface="Times" pitchFamily="18" charset="0"/>
              </a:rPr>
              <a:t>), T(</a:t>
            </a:r>
            <a:r>
              <a:rPr lang="en-US" sz="2400" i="1" dirty="0" err="1" smtClean="0">
                <a:latin typeface="Times" pitchFamily="18" charset="0"/>
              </a:rPr>
              <a:t>z,</a:t>
            </a:r>
            <a:r>
              <a:rPr lang="en-US" sz="2400" dirty="0" err="1" smtClean="0">
                <a:latin typeface="Times" pitchFamily="18" charset="0"/>
              </a:rPr>
              <a:t>`b</a:t>
            </a:r>
            <a:r>
              <a:rPr lang="en-US" sz="2400" dirty="0" smtClean="0">
                <a:latin typeface="Times" pitchFamily="18" charset="0"/>
              </a:rPr>
              <a:t>’</a:t>
            </a:r>
            <a:r>
              <a:rPr lang="en-US" sz="2400" i="1" dirty="0" smtClean="0">
                <a:latin typeface="Times" pitchFamily="18" charset="0"/>
              </a:rPr>
              <a:t>)</a:t>
            </a:r>
            <a:endParaRPr lang="en-US" sz="2400" i="1" dirty="0">
              <a:latin typeface="Times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4" grpId="1" animBg="1"/>
      <p:bldP spid="51" grpId="0" animBg="1"/>
      <p:bldP spid="55" grpId="0" animBg="1"/>
      <p:bldP spid="16" grpId="0" animBg="1"/>
      <p:bldP spid="18" grpId="0"/>
      <p:bldP spid="19" grpId="0"/>
      <p:bldP spid="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Compiling Safe Plans (Top-Down)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10400" y="0"/>
            <a:ext cx="21336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i="1" dirty="0" smtClean="0"/>
              <a:t>Example coming…</a:t>
            </a:r>
            <a:endParaRPr lang="en-US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3124200" y="0"/>
            <a:ext cx="3886200" cy="36933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Assuming no self-joins, </a:t>
            </a:r>
            <a:r>
              <a:rPr lang="en-US" dirty="0" err="1" smtClean="0"/>
              <a:t>tuple</a:t>
            </a:r>
            <a:r>
              <a:rPr lang="en-US" dirty="0" smtClean="0"/>
              <a:t> </a:t>
            </a:r>
            <a:r>
              <a:rPr lang="en-US" dirty="0" err="1" smtClean="0"/>
              <a:t>indep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533400" y="1066800"/>
            <a:ext cx="8382000" cy="358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14350" lvl="1" indent="-514350">
              <a:spcBef>
                <a:spcPct val="20000"/>
              </a:spcBef>
            </a:pPr>
            <a:r>
              <a:rPr lang="en-US" sz="2800" b="1" dirty="0" smtClean="0">
                <a:solidFill>
                  <a:schemeClr val="tx2"/>
                </a:solidFill>
                <a:latin typeface="Calibri" pitchFamily="34" charset="0"/>
              </a:rPr>
              <a:t>Compile</a:t>
            </a:r>
            <a:r>
              <a:rPr lang="en-US" sz="2800" dirty="0" smtClean="0">
                <a:latin typeface="Calibri" pitchFamily="34" charset="0"/>
              </a:rPr>
              <a:t>[Query 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</a:t>
            </a:r>
            <a:r>
              <a:rPr lang="en-US" sz="2800" dirty="0" smtClean="0">
                <a:latin typeface="Calibri" pitchFamily="34" charset="0"/>
              </a:rPr>
              <a:t>] </a:t>
            </a:r>
            <a:r>
              <a:rPr lang="en-US" sz="2800" b="1" dirty="0" smtClean="0">
                <a:latin typeface="Calibri" pitchFamily="34" charset="0"/>
              </a:rPr>
              <a:t>returns </a:t>
            </a:r>
            <a:r>
              <a:rPr lang="en-US" sz="2800" dirty="0" smtClean="0">
                <a:latin typeface="Calibri" pitchFamily="34" charset="0"/>
              </a:rPr>
              <a:t>A plan</a:t>
            </a:r>
          </a:p>
          <a:p>
            <a:pPr marL="514350" lvl="1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800" b="1" dirty="0" smtClean="0">
                <a:latin typeface="Calibri" pitchFamily="34" charset="0"/>
              </a:rPr>
              <a:t>If </a:t>
            </a:r>
            <a:r>
              <a:rPr lang="en-US" sz="2800" dirty="0" smtClean="0">
                <a:latin typeface="Calibri" pitchFamily="34" charset="0"/>
              </a:rPr>
              <a:t>single </a:t>
            </a:r>
            <a:r>
              <a:rPr lang="en-US" sz="2800" dirty="0" err="1" smtClean="0">
                <a:latin typeface="Calibri" pitchFamily="34" charset="0"/>
              </a:rPr>
              <a:t>subgoal</a:t>
            </a:r>
            <a:r>
              <a:rPr lang="en-US" sz="2800" dirty="0" smtClean="0">
                <a:latin typeface="Calibri" pitchFamily="34" charset="0"/>
              </a:rPr>
              <a:t> R with no variables </a:t>
            </a:r>
            <a:r>
              <a:rPr lang="en-US" sz="2800" b="1" dirty="0" smtClean="0">
                <a:latin typeface="Calibri" pitchFamily="34" charset="0"/>
              </a:rPr>
              <a:t>then</a:t>
            </a:r>
            <a:r>
              <a:rPr lang="en-US" sz="2800" dirty="0" smtClean="0">
                <a:latin typeface="Calibri" pitchFamily="34" charset="0"/>
              </a:rPr>
              <a:t> </a:t>
            </a:r>
            <a:r>
              <a:rPr lang="en-US" sz="2800" b="1" dirty="0" smtClean="0">
                <a:latin typeface="Calibri" pitchFamily="34" charset="0"/>
              </a:rPr>
              <a:t>return</a:t>
            </a:r>
            <a:r>
              <a:rPr lang="en-US" sz="2800" dirty="0" smtClean="0">
                <a:latin typeface="Calibri" pitchFamily="34" charset="0"/>
              </a:rPr>
              <a:t> R</a:t>
            </a:r>
          </a:p>
          <a:p>
            <a:pPr marL="514350" lvl="1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800" b="1" dirty="0" smtClean="0">
                <a:latin typeface="Calibri" pitchFamily="34" charset="0"/>
              </a:rPr>
              <a:t>If</a:t>
            </a:r>
            <a:r>
              <a:rPr lang="en-US" sz="2800" dirty="0" smtClean="0">
                <a:latin typeface="Calibri" pitchFamily="34" charset="0"/>
              </a:rPr>
              <a:t> exists x </a:t>
            </a:r>
            <a:r>
              <a:rPr lang="en-US" sz="2800" dirty="0" err="1" smtClean="0">
                <a:latin typeface="Calibri" pitchFamily="34" charset="0"/>
              </a:rPr>
              <a:t>s.t</a:t>
            </a:r>
            <a:r>
              <a:rPr lang="en-US" sz="2800" dirty="0" smtClean="0">
                <a:latin typeface="Calibri" pitchFamily="34" charset="0"/>
              </a:rPr>
              <a:t>. 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</a:t>
            </a:r>
            <a:r>
              <a:rPr lang="en-US" sz="2800" dirty="0" smtClean="0">
                <a:latin typeface="Calibri" pitchFamily="34" charset="0"/>
              </a:rPr>
              <a:t> is independent on x </a:t>
            </a:r>
            <a:r>
              <a:rPr lang="en-US" sz="2800" b="1" dirty="0" smtClean="0">
                <a:latin typeface="Calibri" pitchFamily="34" charset="0"/>
              </a:rPr>
              <a:t>then</a:t>
            </a:r>
          </a:p>
          <a:p>
            <a:pPr marL="971550" lvl="2" indent="-514350">
              <a:spcBef>
                <a:spcPct val="20000"/>
              </a:spcBef>
            </a:pPr>
            <a:r>
              <a:rPr lang="en-US" sz="2800" b="1" dirty="0" smtClean="0">
                <a:latin typeface="Calibri" pitchFamily="34" charset="0"/>
              </a:rPr>
              <a:t>Return</a:t>
            </a:r>
            <a:r>
              <a:rPr lang="en-US" sz="2800" dirty="0" smtClean="0">
                <a:latin typeface="Calibri" pitchFamily="34" charset="0"/>
              </a:rPr>
              <a:t> </a:t>
            </a:r>
            <a:r>
              <a:rPr lang="en-US" sz="2800" dirty="0" smtClean="0">
                <a:latin typeface="Symbol" pitchFamily="18" charset="2"/>
              </a:rPr>
              <a:t>P</a:t>
            </a:r>
            <a:r>
              <a:rPr lang="en-US" sz="2800" baseline="-25000" dirty="0" smtClean="0"/>
              <a:t>-{x}</a:t>
            </a:r>
            <a:r>
              <a:rPr lang="en-US" sz="2800" dirty="0" smtClean="0">
                <a:latin typeface="Calibri" pitchFamily="34" charset="0"/>
              </a:rPr>
              <a:t>(  </a:t>
            </a:r>
            <a:r>
              <a:rPr lang="en-US" sz="2800" b="1" dirty="0" smtClean="0">
                <a:solidFill>
                  <a:schemeClr val="tx2"/>
                </a:solidFill>
                <a:latin typeface="Calibri" pitchFamily="34" charset="0"/>
              </a:rPr>
              <a:t>Compile</a:t>
            </a:r>
            <a:r>
              <a:rPr lang="en-US" sz="2800" dirty="0" smtClean="0">
                <a:latin typeface="Calibri" pitchFamily="34" charset="0"/>
              </a:rPr>
              <a:t>[ 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</a:t>
            </a:r>
            <a:r>
              <a:rPr lang="en-US" sz="2800" dirty="0" smtClean="0">
                <a:latin typeface="Calibri" pitchFamily="34" charset="0"/>
              </a:rPr>
              <a:t>{x </a:t>
            </a:r>
            <a:r>
              <a:rPr lang="en-US" sz="2800" b="1" dirty="0" smtClean="0"/>
              <a:t>←</a:t>
            </a:r>
            <a:r>
              <a:rPr lang="en-US" sz="2800" dirty="0" smtClean="0">
                <a:latin typeface="Calibri" pitchFamily="34" charset="0"/>
              </a:rPr>
              <a:t> </a:t>
            </a:r>
            <a:r>
              <a:rPr lang="en-US" sz="2800" dirty="0" err="1" smtClean="0">
                <a:latin typeface="Calibri" pitchFamily="34" charset="0"/>
              </a:rPr>
              <a:t>FreshConst</a:t>
            </a:r>
            <a:r>
              <a:rPr lang="en-US" sz="2800" dirty="0" smtClean="0">
                <a:latin typeface="Calibri" pitchFamily="34" charset="0"/>
              </a:rPr>
              <a:t>()} ] )</a:t>
            </a:r>
          </a:p>
          <a:p>
            <a:pPr marL="514350" lvl="1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800" b="1" dirty="0" err="1" smtClean="0">
                <a:latin typeface="Calibri" pitchFamily="34" charset="0"/>
              </a:rPr>
              <a:t>ElsIf</a:t>
            </a:r>
            <a:r>
              <a:rPr lang="en-US" sz="2800" dirty="0" smtClean="0">
                <a:latin typeface="Calibri" pitchFamily="34" charset="0"/>
              </a:rPr>
              <a:t> q=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q1q2</a:t>
            </a:r>
            <a:r>
              <a:rPr lang="en-US" sz="2800" dirty="0" smtClean="0">
                <a:latin typeface="Calibri" pitchFamily="34" charset="0"/>
              </a:rPr>
              <a:t> so that </a:t>
            </a:r>
            <a:r>
              <a:rPr lang="en-US" sz="2800" dirty="0" err="1" smtClean="0">
                <a:latin typeface="Calibri" pitchFamily="34" charset="0"/>
              </a:rPr>
              <a:t>qi</a:t>
            </a:r>
            <a:r>
              <a:rPr lang="en-US" sz="2800" dirty="0" smtClean="0">
                <a:latin typeface="Calibri" pitchFamily="34" charset="0"/>
              </a:rPr>
              <a:t> do not share variables </a:t>
            </a:r>
            <a:r>
              <a:rPr lang="en-US" sz="2800" b="1" dirty="0" smtClean="0">
                <a:latin typeface="Calibri" pitchFamily="34" charset="0"/>
              </a:rPr>
              <a:t>then</a:t>
            </a:r>
          </a:p>
          <a:p>
            <a:pPr marL="971550" lvl="2" indent="-514350">
              <a:spcBef>
                <a:spcPct val="20000"/>
              </a:spcBef>
            </a:pPr>
            <a:r>
              <a:rPr lang="en-US" sz="2800" b="1" dirty="0" smtClean="0">
                <a:latin typeface="Calibri" pitchFamily="34" charset="0"/>
              </a:rPr>
              <a:t>return</a:t>
            </a:r>
            <a:r>
              <a:rPr lang="en-US" sz="2800" dirty="0" smtClean="0">
                <a:latin typeface="Calibri" pitchFamily="34" charset="0"/>
              </a:rPr>
              <a:t> Join(</a:t>
            </a:r>
            <a:r>
              <a:rPr lang="en-US" sz="2800" b="1" dirty="0" smtClean="0">
                <a:solidFill>
                  <a:schemeClr val="tx2"/>
                </a:solidFill>
                <a:latin typeface="Calibri" pitchFamily="34" charset="0"/>
              </a:rPr>
              <a:t>Compile</a:t>
            </a:r>
            <a:r>
              <a:rPr lang="en-US" sz="2800" dirty="0" smtClean="0">
                <a:latin typeface="Calibri" pitchFamily="34" charset="0"/>
              </a:rPr>
              <a:t>[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q1</a:t>
            </a:r>
            <a:r>
              <a:rPr lang="en-US" sz="2800" dirty="0" smtClean="0">
                <a:latin typeface="Calibri" pitchFamily="34" charset="0"/>
              </a:rPr>
              <a:t>], </a:t>
            </a:r>
            <a:r>
              <a:rPr lang="en-US" sz="2800" b="1" dirty="0" smtClean="0">
                <a:solidFill>
                  <a:schemeClr val="tx2"/>
                </a:solidFill>
                <a:latin typeface="Calibri" pitchFamily="34" charset="0"/>
              </a:rPr>
              <a:t>Compile</a:t>
            </a:r>
            <a:r>
              <a:rPr lang="en-US" sz="2800" dirty="0" smtClean="0">
                <a:latin typeface="Calibri" pitchFamily="34" charset="0"/>
              </a:rPr>
              <a:t>[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q2</a:t>
            </a:r>
            <a:r>
              <a:rPr lang="en-US" sz="2800" dirty="0" smtClean="0">
                <a:latin typeface="Calibri" pitchFamily="34" charset="0"/>
              </a:rPr>
              <a:t>]) </a:t>
            </a:r>
          </a:p>
          <a:p>
            <a:pPr marL="514350" lvl="1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800" b="1" dirty="0" smtClean="0">
                <a:latin typeface="Calibri" pitchFamily="34" charset="0"/>
              </a:rPr>
              <a:t>Else</a:t>
            </a:r>
            <a:r>
              <a:rPr lang="en-US" sz="2800" dirty="0" smtClean="0">
                <a:latin typeface="Calibri" pitchFamily="34" charset="0"/>
              </a:rPr>
              <a:t> </a:t>
            </a:r>
            <a:r>
              <a:rPr lang="en-US" sz="2800" b="1" dirty="0" smtClean="0">
                <a:latin typeface="Calibri" pitchFamily="34" charset="0"/>
              </a:rPr>
              <a:t>return</a:t>
            </a:r>
            <a:r>
              <a:rPr lang="en-US" sz="2800" dirty="0" smtClean="0">
                <a:latin typeface="Calibri" pitchFamily="34" charset="0"/>
              </a:rPr>
              <a:t> “No Safe Plan”</a:t>
            </a:r>
          </a:p>
          <a:p>
            <a:pPr marL="342900" indent="-342900">
              <a:spcBef>
                <a:spcPct val="20000"/>
              </a:spcBef>
            </a:pPr>
            <a:endParaRPr lang="en-US" sz="2800" dirty="0">
              <a:latin typeface="Calibri" pitchFamily="34" charset="0"/>
            </a:endParaRPr>
          </a:p>
          <a:p>
            <a:pPr marL="800100" lvl="1" indent="-342900">
              <a:spcBef>
                <a:spcPct val="20000"/>
              </a:spcBef>
            </a:pPr>
            <a:endParaRPr lang="en-US" sz="2800" dirty="0" smtClean="0">
              <a:latin typeface="Calibri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2E5E82-AA4B-4FE6-B9BB-CB52BAB058CF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15" name="Rectangle 34"/>
          <p:cNvSpPr>
            <a:spLocks noChangeArrowheads="1"/>
          </p:cNvSpPr>
          <p:nvPr/>
        </p:nvSpPr>
        <p:spPr bwMode="auto">
          <a:xfrm>
            <a:off x="0" y="0"/>
            <a:ext cx="1524000" cy="400091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bg1"/>
                </a:solidFill>
                <a:latin typeface="+mn-lt"/>
                <a:cs typeface="+mn-cs"/>
              </a:rPr>
              <a:t>[</a:t>
            </a:r>
            <a:r>
              <a:rPr lang="en-US" sz="2000" b="1" dirty="0" smtClean="0">
                <a:solidFill>
                  <a:schemeClr val="bg1"/>
                </a:solidFill>
                <a:latin typeface="+mn-lt"/>
                <a:cs typeface="+mn-cs"/>
              </a:rPr>
              <a:t>Dalvi&amp;S’04]</a:t>
            </a:r>
            <a:endParaRPr lang="en-US" sz="2000" b="1" dirty="0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Compiling Safe Plans (Top-Down)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33400" y="1066800"/>
            <a:ext cx="8382000" cy="358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14350" lvl="1" indent="-514350">
              <a:spcBef>
                <a:spcPct val="20000"/>
              </a:spcBef>
            </a:pPr>
            <a:r>
              <a:rPr lang="en-US" sz="2800" b="1" dirty="0" smtClean="0">
                <a:solidFill>
                  <a:schemeClr val="tx2"/>
                </a:solidFill>
                <a:latin typeface="Calibri" pitchFamily="34" charset="0"/>
              </a:rPr>
              <a:t>Compile</a:t>
            </a:r>
            <a:r>
              <a:rPr lang="en-US" sz="2800" dirty="0" smtClean="0">
                <a:latin typeface="Calibri" pitchFamily="34" charset="0"/>
              </a:rPr>
              <a:t>[Query 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</a:t>
            </a:r>
            <a:r>
              <a:rPr lang="en-US" sz="2800" dirty="0" smtClean="0">
                <a:latin typeface="Calibri" pitchFamily="34" charset="0"/>
              </a:rPr>
              <a:t>] </a:t>
            </a:r>
            <a:r>
              <a:rPr lang="en-US" sz="2800" b="1" dirty="0" smtClean="0">
                <a:latin typeface="Calibri" pitchFamily="34" charset="0"/>
              </a:rPr>
              <a:t>returns </a:t>
            </a:r>
            <a:r>
              <a:rPr lang="en-US" sz="2800" dirty="0" smtClean="0">
                <a:latin typeface="Calibri" pitchFamily="34" charset="0"/>
              </a:rPr>
              <a:t>A plan</a:t>
            </a:r>
          </a:p>
          <a:p>
            <a:pPr marL="514350" lvl="1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800" b="1" dirty="0" smtClean="0">
                <a:latin typeface="Calibri" pitchFamily="34" charset="0"/>
              </a:rPr>
              <a:t>If </a:t>
            </a:r>
            <a:r>
              <a:rPr lang="en-US" sz="2800" dirty="0" smtClean="0">
                <a:latin typeface="Calibri" pitchFamily="34" charset="0"/>
              </a:rPr>
              <a:t>single </a:t>
            </a:r>
            <a:r>
              <a:rPr lang="en-US" sz="2800" dirty="0" err="1" smtClean="0">
                <a:latin typeface="Calibri" pitchFamily="34" charset="0"/>
              </a:rPr>
              <a:t>subgoal</a:t>
            </a:r>
            <a:r>
              <a:rPr lang="en-US" sz="2800" dirty="0" smtClean="0">
                <a:latin typeface="Calibri" pitchFamily="34" charset="0"/>
              </a:rPr>
              <a:t> R with no variables </a:t>
            </a:r>
            <a:r>
              <a:rPr lang="en-US" sz="2800" b="1" dirty="0" smtClean="0">
                <a:latin typeface="Calibri" pitchFamily="34" charset="0"/>
              </a:rPr>
              <a:t>then</a:t>
            </a:r>
            <a:r>
              <a:rPr lang="en-US" sz="2800" dirty="0" smtClean="0">
                <a:latin typeface="Calibri" pitchFamily="34" charset="0"/>
              </a:rPr>
              <a:t> </a:t>
            </a:r>
            <a:r>
              <a:rPr lang="en-US" sz="2800" b="1" dirty="0" smtClean="0">
                <a:latin typeface="Calibri" pitchFamily="34" charset="0"/>
              </a:rPr>
              <a:t>return</a:t>
            </a:r>
            <a:r>
              <a:rPr lang="en-US" sz="2800" dirty="0" smtClean="0">
                <a:latin typeface="Calibri" pitchFamily="34" charset="0"/>
              </a:rPr>
              <a:t> R</a:t>
            </a:r>
          </a:p>
          <a:p>
            <a:pPr marL="514350" lvl="1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800" b="1" dirty="0" smtClean="0">
                <a:latin typeface="Calibri" pitchFamily="34" charset="0"/>
              </a:rPr>
              <a:t>If</a:t>
            </a:r>
            <a:r>
              <a:rPr lang="en-US" sz="2800" dirty="0" smtClean="0">
                <a:latin typeface="Calibri" pitchFamily="34" charset="0"/>
              </a:rPr>
              <a:t> exists x </a:t>
            </a:r>
            <a:r>
              <a:rPr lang="en-US" sz="2800" dirty="0" err="1" smtClean="0">
                <a:latin typeface="Calibri" pitchFamily="34" charset="0"/>
              </a:rPr>
              <a:t>s.t</a:t>
            </a:r>
            <a:r>
              <a:rPr lang="en-US" sz="2800" dirty="0" smtClean="0">
                <a:latin typeface="Calibri" pitchFamily="34" charset="0"/>
              </a:rPr>
              <a:t>. 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</a:t>
            </a:r>
            <a:r>
              <a:rPr lang="en-US" sz="2800" dirty="0" smtClean="0">
                <a:latin typeface="Calibri" pitchFamily="34" charset="0"/>
              </a:rPr>
              <a:t> is independent on x </a:t>
            </a:r>
            <a:r>
              <a:rPr lang="en-US" sz="2800" b="1" dirty="0" smtClean="0">
                <a:latin typeface="Calibri" pitchFamily="34" charset="0"/>
              </a:rPr>
              <a:t>then</a:t>
            </a:r>
          </a:p>
          <a:p>
            <a:pPr marL="971550" lvl="2" indent="-514350">
              <a:spcBef>
                <a:spcPct val="20000"/>
              </a:spcBef>
            </a:pPr>
            <a:r>
              <a:rPr lang="en-US" sz="2800" b="1" dirty="0" smtClean="0">
                <a:latin typeface="Calibri" pitchFamily="34" charset="0"/>
              </a:rPr>
              <a:t>Return</a:t>
            </a:r>
            <a:r>
              <a:rPr lang="en-US" sz="2800" dirty="0" smtClean="0">
                <a:latin typeface="Calibri" pitchFamily="34" charset="0"/>
              </a:rPr>
              <a:t> </a:t>
            </a:r>
            <a:r>
              <a:rPr lang="en-US" sz="2800" dirty="0" smtClean="0">
                <a:latin typeface="Symbol" pitchFamily="18" charset="2"/>
              </a:rPr>
              <a:t>P</a:t>
            </a:r>
            <a:r>
              <a:rPr lang="en-US" sz="2800" baseline="-25000" dirty="0" smtClean="0"/>
              <a:t>-{x}</a:t>
            </a:r>
            <a:r>
              <a:rPr lang="en-US" sz="2800" dirty="0" smtClean="0">
                <a:latin typeface="Calibri" pitchFamily="34" charset="0"/>
              </a:rPr>
              <a:t>(  </a:t>
            </a:r>
            <a:r>
              <a:rPr lang="en-US" sz="2800" b="1" dirty="0" smtClean="0">
                <a:solidFill>
                  <a:schemeClr val="tx2"/>
                </a:solidFill>
                <a:latin typeface="Calibri" pitchFamily="34" charset="0"/>
              </a:rPr>
              <a:t>Compile</a:t>
            </a:r>
            <a:r>
              <a:rPr lang="en-US" sz="2800" dirty="0" smtClean="0">
                <a:latin typeface="Calibri" pitchFamily="34" charset="0"/>
              </a:rPr>
              <a:t>[ 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</a:t>
            </a:r>
            <a:r>
              <a:rPr lang="en-US" sz="2800" dirty="0" smtClean="0">
                <a:latin typeface="Calibri" pitchFamily="34" charset="0"/>
              </a:rPr>
              <a:t>{x </a:t>
            </a:r>
            <a:r>
              <a:rPr lang="en-US" sz="2800" b="1" dirty="0" smtClean="0"/>
              <a:t>←</a:t>
            </a:r>
            <a:r>
              <a:rPr lang="en-US" sz="2800" dirty="0" smtClean="0">
                <a:latin typeface="Calibri" pitchFamily="34" charset="0"/>
              </a:rPr>
              <a:t> </a:t>
            </a:r>
            <a:r>
              <a:rPr lang="en-US" sz="2800" dirty="0" err="1" smtClean="0">
                <a:latin typeface="Calibri" pitchFamily="34" charset="0"/>
              </a:rPr>
              <a:t>FreshConst</a:t>
            </a:r>
            <a:r>
              <a:rPr lang="en-US" sz="2800" dirty="0" smtClean="0">
                <a:latin typeface="Calibri" pitchFamily="34" charset="0"/>
              </a:rPr>
              <a:t>()} ] )</a:t>
            </a:r>
          </a:p>
          <a:p>
            <a:pPr marL="514350" lvl="1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800" b="1" dirty="0" err="1" smtClean="0">
                <a:latin typeface="Calibri" pitchFamily="34" charset="0"/>
              </a:rPr>
              <a:t>ElsIf</a:t>
            </a:r>
            <a:r>
              <a:rPr lang="en-US" sz="2800" dirty="0" smtClean="0">
                <a:latin typeface="Calibri" pitchFamily="34" charset="0"/>
              </a:rPr>
              <a:t> q=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q1q2</a:t>
            </a:r>
            <a:r>
              <a:rPr lang="en-US" sz="2800" dirty="0" smtClean="0">
                <a:latin typeface="Calibri" pitchFamily="34" charset="0"/>
              </a:rPr>
              <a:t> so that </a:t>
            </a:r>
            <a:r>
              <a:rPr lang="en-US" sz="2800" dirty="0" err="1" smtClean="0">
                <a:latin typeface="Calibri" pitchFamily="34" charset="0"/>
              </a:rPr>
              <a:t>qi</a:t>
            </a:r>
            <a:r>
              <a:rPr lang="en-US" sz="2800" dirty="0" smtClean="0">
                <a:latin typeface="Calibri" pitchFamily="34" charset="0"/>
              </a:rPr>
              <a:t> do not share variables </a:t>
            </a:r>
            <a:r>
              <a:rPr lang="en-US" sz="2800" b="1" dirty="0" smtClean="0">
                <a:latin typeface="Calibri" pitchFamily="34" charset="0"/>
              </a:rPr>
              <a:t>then</a:t>
            </a:r>
          </a:p>
          <a:p>
            <a:pPr marL="971550" lvl="2" indent="-514350">
              <a:spcBef>
                <a:spcPct val="20000"/>
              </a:spcBef>
            </a:pPr>
            <a:r>
              <a:rPr lang="en-US" sz="2800" b="1" dirty="0" smtClean="0">
                <a:latin typeface="Calibri" pitchFamily="34" charset="0"/>
              </a:rPr>
              <a:t>return</a:t>
            </a:r>
            <a:r>
              <a:rPr lang="en-US" sz="2800" dirty="0" smtClean="0">
                <a:latin typeface="Calibri" pitchFamily="34" charset="0"/>
              </a:rPr>
              <a:t> Join(</a:t>
            </a:r>
            <a:r>
              <a:rPr lang="en-US" sz="2800" b="1" dirty="0" smtClean="0">
                <a:solidFill>
                  <a:schemeClr val="tx2"/>
                </a:solidFill>
                <a:latin typeface="Calibri" pitchFamily="34" charset="0"/>
              </a:rPr>
              <a:t>Compile</a:t>
            </a:r>
            <a:r>
              <a:rPr lang="en-US" sz="2800" dirty="0" smtClean="0">
                <a:latin typeface="Calibri" pitchFamily="34" charset="0"/>
              </a:rPr>
              <a:t>[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q1</a:t>
            </a:r>
            <a:r>
              <a:rPr lang="en-US" sz="2800" dirty="0" smtClean="0">
                <a:latin typeface="Calibri" pitchFamily="34" charset="0"/>
              </a:rPr>
              <a:t>], </a:t>
            </a:r>
            <a:r>
              <a:rPr lang="en-US" sz="2800" b="1" dirty="0" smtClean="0">
                <a:solidFill>
                  <a:schemeClr val="tx2"/>
                </a:solidFill>
                <a:latin typeface="Calibri" pitchFamily="34" charset="0"/>
              </a:rPr>
              <a:t>Compile</a:t>
            </a:r>
            <a:r>
              <a:rPr lang="en-US" sz="2800" dirty="0" smtClean="0">
                <a:latin typeface="Calibri" pitchFamily="34" charset="0"/>
              </a:rPr>
              <a:t>[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q2</a:t>
            </a:r>
            <a:r>
              <a:rPr lang="en-US" sz="2800" dirty="0" smtClean="0">
                <a:latin typeface="Calibri" pitchFamily="34" charset="0"/>
              </a:rPr>
              <a:t>]) </a:t>
            </a:r>
          </a:p>
          <a:p>
            <a:pPr marL="514350" lvl="1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800" b="1" dirty="0" smtClean="0">
                <a:latin typeface="Calibri" pitchFamily="34" charset="0"/>
              </a:rPr>
              <a:t>Else</a:t>
            </a:r>
            <a:r>
              <a:rPr lang="en-US" sz="2800" dirty="0" smtClean="0">
                <a:latin typeface="Calibri" pitchFamily="34" charset="0"/>
              </a:rPr>
              <a:t> </a:t>
            </a:r>
            <a:r>
              <a:rPr lang="en-US" sz="2800" b="1" dirty="0" smtClean="0">
                <a:latin typeface="Calibri" pitchFamily="34" charset="0"/>
              </a:rPr>
              <a:t>return</a:t>
            </a:r>
            <a:r>
              <a:rPr lang="en-US" sz="2800" dirty="0" smtClean="0">
                <a:latin typeface="Calibri" pitchFamily="34" charset="0"/>
              </a:rPr>
              <a:t> “No Safe Plan”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2800" dirty="0">
              <a:latin typeface="Calibri" pitchFamily="34" charset="0"/>
            </a:endParaRPr>
          </a:p>
          <a:p>
            <a:pPr marL="800100" lvl="1" indent="-342900">
              <a:spcBef>
                <a:spcPct val="20000"/>
              </a:spcBef>
            </a:pPr>
            <a:endParaRPr lang="en-US" sz="2800" dirty="0" smtClean="0">
              <a:latin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800" y="47244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Compile</a:t>
            </a:r>
            <a:r>
              <a:rPr lang="en-US" sz="2400" dirty="0" smtClean="0"/>
              <a:t>[ </a:t>
            </a:r>
            <a:r>
              <a:rPr lang="en-US" sz="2400" dirty="0" smtClean="0">
                <a:solidFill>
                  <a:srgbClr val="FF0000"/>
                </a:solidFill>
              </a:rPr>
              <a:t>R(x),S(</a:t>
            </a:r>
            <a:r>
              <a:rPr lang="en-US" sz="2400" dirty="0" err="1" smtClean="0">
                <a:solidFill>
                  <a:srgbClr val="FF0000"/>
                </a:solidFill>
              </a:rPr>
              <a:t>x,y</a:t>
            </a:r>
            <a:r>
              <a:rPr lang="en-US" sz="2400" dirty="0" smtClean="0">
                <a:solidFill>
                  <a:srgbClr val="FF0000"/>
                </a:solidFill>
              </a:rPr>
              <a:t>)</a:t>
            </a:r>
            <a:r>
              <a:rPr lang="en-US" sz="2400" dirty="0" smtClean="0"/>
              <a:t> ]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276600" y="5329535"/>
            <a:ext cx="3733800" cy="46166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Compile</a:t>
            </a:r>
            <a:r>
              <a:rPr lang="en-US" sz="2400" dirty="0" smtClean="0"/>
              <a:t>[ </a:t>
            </a:r>
            <a:r>
              <a:rPr lang="en-US" sz="2400" dirty="0" smtClean="0">
                <a:solidFill>
                  <a:srgbClr val="FF0000"/>
                </a:solidFill>
              </a:rPr>
              <a:t>R(`a’),S(`</a:t>
            </a:r>
            <a:r>
              <a:rPr lang="en-US" sz="2400" dirty="0" err="1" smtClean="0">
                <a:solidFill>
                  <a:srgbClr val="FF0000"/>
                </a:solidFill>
              </a:rPr>
              <a:t>a’,y</a:t>
            </a:r>
            <a:r>
              <a:rPr lang="en-US" sz="2400" dirty="0" smtClean="0">
                <a:solidFill>
                  <a:srgbClr val="FF0000"/>
                </a:solidFill>
              </a:rPr>
              <a:t>)</a:t>
            </a:r>
            <a:r>
              <a:rPr lang="en-US" sz="2400" dirty="0" smtClean="0"/>
              <a:t> ]</a:t>
            </a:r>
            <a:endParaRPr lang="en-US" sz="2400" dirty="0"/>
          </a:p>
        </p:txBody>
      </p:sp>
      <p:sp>
        <p:nvSpPr>
          <p:cNvPr id="16" name="Right Arrow 15"/>
          <p:cNvSpPr/>
          <p:nvPr/>
        </p:nvSpPr>
        <p:spPr>
          <a:xfrm>
            <a:off x="0" y="3810000"/>
            <a:ext cx="4572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362200" y="5862935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Compile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FF0000"/>
                </a:solidFill>
              </a:rPr>
              <a:t>R(`a’)</a:t>
            </a:r>
            <a:r>
              <a:rPr lang="en-US" sz="2400" dirty="0" smtClean="0"/>
              <a:t>)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943600" y="5562600"/>
            <a:ext cx="2819400" cy="46166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Compile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FF0000"/>
                </a:solidFill>
              </a:rPr>
              <a:t>S(`</a:t>
            </a:r>
            <a:r>
              <a:rPr lang="en-US" sz="2400" dirty="0" err="1" smtClean="0">
                <a:solidFill>
                  <a:srgbClr val="FF0000"/>
                </a:solidFill>
              </a:rPr>
              <a:t>a’,y</a:t>
            </a:r>
            <a:r>
              <a:rPr lang="en-US" sz="2400" dirty="0" smtClean="0">
                <a:solidFill>
                  <a:srgbClr val="FF0000"/>
                </a:solidFill>
              </a:rPr>
              <a:t>)</a:t>
            </a:r>
            <a:r>
              <a:rPr lang="en-US" sz="2400" dirty="0" smtClean="0"/>
              <a:t>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0" y="6391870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Compile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FF0000"/>
                </a:solidFill>
              </a:rPr>
              <a:t>S(`</a:t>
            </a:r>
            <a:r>
              <a:rPr lang="en-US" sz="2400" dirty="0" err="1" smtClean="0">
                <a:solidFill>
                  <a:srgbClr val="FF0000"/>
                </a:solidFill>
              </a:rPr>
              <a:t>a’,`b</a:t>
            </a:r>
            <a:r>
              <a:rPr lang="en-US" sz="2400" dirty="0" smtClean="0">
                <a:solidFill>
                  <a:srgbClr val="FF0000"/>
                </a:solidFill>
              </a:rPr>
              <a:t>’)</a:t>
            </a:r>
            <a:r>
              <a:rPr lang="en-US" sz="2400" dirty="0" smtClean="0"/>
              <a:t>)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81000" y="6019800"/>
            <a:ext cx="2133600" cy="52322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A safe plan!</a:t>
            </a:r>
            <a:endParaRPr lang="en-US" sz="2800" dirty="0"/>
          </a:p>
        </p:txBody>
      </p:sp>
      <p:sp>
        <p:nvSpPr>
          <p:cNvPr id="19" name="Right Arrow 18"/>
          <p:cNvSpPr/>
          <p:nvPr/>
        </p:nvSpPr>
        <p:spPr>
          <a:xfrm>
            <a:off x="0" y="2743200"/>
            <a:ext cx="4572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581400" y="5867400"/>
            <a:ext cx="381000" cy="46166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7315200" y="6396335"/>
            <a:ext cx="304800" cy="4616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</a:t>
            </a:r>
            <a:endParaRPr lang="en-US" sz="2400" b="1" dirty="0"/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4648200" y="5481935"/>
            <a:ext cx="914400" cy="46166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Courier" pitchFamily="49" charset="0"/>
              </a:rPr>
              <a:t>JOIN</a:t>
            </a:r>
            <a:endParaRPr lang="en-US" sz="2400" b="1" dirty="0">
              <a:latin typeface="Courier" pitchFamily="49" charset="0"/>
            </a:endParaRPr>
          </a:p>
        </p:txBody>
      </p:sp>
      <p:cxnSp>
        <p:nvCxnSpPr>
          <p:cNvPr id="24" name="Straight Arrow Connector 23"/>
          <p:cNvCxnSpPr>
            <a:stCxn id="20" idx="3"/>
            <a:endCxn id="22" idx="1"/>
          </p:cNvCxnSpPr>
          <p:nvPr/>
        </p:nvCxnSpPr>
        <p:spPr>
          <a:xfrm flipV="1">
            <a:off x="3962400" y="5712768"/>
            <a:ext cx="685800" cy="38546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0"/>
          </p:cNvCxnSpPr>
          <p:nvPr/>
        </p:nvCxnSpPr>
        <p:spPr>
          <a:xfrm rot="5400000" flipH="1" flipV="1">
            <a:off x="4993334" y="5369867"/>
            <a:ext cx="224135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7" idx="1"/>
            <a:endCxn id="22" idx="3"/>
          </p:cNvCxnSpPr>
          <p:nvPr/>
        </p:nvCxnSpPr>
        <p:spPr>
          <a:xfrm rot="10800000">
            <a:off x="5562600" y="5712768"/>
            <a:ext cx="457200" cy="26384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1" idx="1"/>
            <a:endCxn id="27" idx="3"/>
          </p:cNvCxnSpPr>
          <p:nvPr/>
        </p:nvCxnSpPr>
        <p:spPr>
          <a:xfrm rot="10800000">
            <a:off x="6858000" y="5976610"/>
            <a:ext cx="457200" cy="65055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Arrow 22"/>
          <p:cNvSpPr/>
          <p:nvPr/>
        </p:nvSpPr>
        <p:spPr>
          <a:xfrm>
            <a:off x="0" y="1752600"/>
            <a:ext cx="4572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648200" y="4724400"/>
            <a:ext cx="914400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Symbol" pitchFamily="18" charset="2"/>
              </a:rPr>
              <a:t>P</a:t>
            </a:r>
            <a:r>
              <a:rPr lang="en-US" sz="2800" baseline="-25000" dirty="0" smtClean="0"/>
              <a:t>-{x}</a:t>
            </a:r>
            <a:endParaRPr lang="en-US" sz="2800" dirty="0"/>
          </a:p>
        </p:txBody>
      </p:sp>
      <p:sp>
        <p:nvSpPr>
          <p:cNvPr id="27" name="TextBox 26"/>
          <p:cNvSpPr txBox="1"/>
          <p:nvPr/>
        </p:nvSpPr>
        <p:spPr>
          <a:xfrm>
            <a:off x="6019800" y="5715000"/>
            <a:ext cx="838200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Symbol" pitchFamily="18" charset="2"/>
              </a:rPr>
              <a:t>P</a:t>
            </a:r>
            <a:r>
              <a:rPr lang="en-US" sz="2800" baseline="-25000" dirty="0" smtClean="0"/>
              <a:t>-{y}</a:t>
            </a:r>
            <a:endParaRPr lang="en-US" sz="2800" dirty="0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2E5E82-AA4B-4FE6-B9BB-CB52BAB058CF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29" name="Rectangle 34"/>
          <p:cNvSpPr>
            <a:spLocks noChangeArrowheads="1"/>
          </p:cNvSpPr>
          <p:nvPr/>
        </p:nvSpPr>
        <p:spPr bwMode="auto">
          <a:xfrm>
            <a:off x="0" y="0"/>
            <a:ext cx="1524000" cy="400091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bg1"/>
                </a:solidFill>
                <a:latin typeface="+mn-lt"/>
                <a:cs typeface="+mn-cs"/>
              </a:rPr>
              <a:t>[</a:t>
            </a:r>
            <a:r>
              <a:rPr lang="en-US" sz="2000" b="1" dirty="0" smtClean="0">
                <a:solidFill>
                  <a:schemeClr val="bg1"/>
                </a:solidFill>
                <a:latin typeface="+mn-lt"/>
                <a:cs typeface="+mn-cs"/>
              </a:rPr>
              <a:t>Dalvi&amp;S’04]</a:t>
            </a:r>
            <a:endParaRPr lang="en-US" sz="2000" b="1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24200" y="0"/>
            <a:ext cx="3886200" cy="36933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Assuming no self-joins, </a:t>
            </a:r>
            <a:r>
              <a:rPr lang="en-US" dirty="0" err="1" smtClean="0"/>
              <a:t>tuple</a:t>
            </a:r>
            <a:r>
              <a:rPr lang="en-US" dirty="0" smtClean="0"/>
              <a:t> </a:t>
            </a:r>
            <a:r>
              <a:rPr lang="en-US" dirty="0" err="1" smtClean="0"/>
              <a:t>indep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6" grpId="0" animBg="1"/>
      <p:bldP spid="16" grpId="1" animBg="1"/>
      <p:bldP spid="12" grpId="0"/>
      <p:bldP spid="12" grpId="1"/>
      <p:bldP spid="13" grpId="0"/>
      <p:bldP spid="13" grpId="1"/>
      <p:bldP spid="14" grpId="1"/>
      <p:bldP spid="14" grpId="2"/>
      <p:bldP spid="18" grpId="0" animBg="1"/>
      <p:bldP spid="19" grpId="0" animBg="1"/>
      <p:bldP spid="19" grpId="1" animBg="1"/>
      <p:bldP spid="19" grpId="2" animBg="1"/>
      <p:bldP spid="20" grpId="0" uiExpand="1" build="allAtOnce" animBg="1"/>
      <p:bldP spid="21" grpId="0" build="allAtOnce" animBg="1"/>
      <p:bldP spid="22" grpId="0" animBg="1"/>
      <p:bldP spid="23" grpId="0" animBg="1"/>
      <p:bldP spid="23" grpId="1" animBg="1"/>
      <p:bldP spid="25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Compiling Safe Plans (Top-Down)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800" y="47244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Compile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FF0000"/>
                </a:solidFill>
              </a:rPr>
              <a:t>R(x),S(</a:t>
            </a:r>
            <a:r>
              <a:rPr lang="en-US" sz="2400" dirty="0" err="1" smtClean="0">
                <a:solidFill>
                  <a:srgbClr val="FF0000"/>
                </a:solidFill>
              </a:rPr>
              <a:t>x,y</a:t>
            </a:r>
            <a:r>
              <a:rPr lang="en-US" sz="2400" dirty="0" smtClean="0">
                <a:solidFill>
                  <a:srgbClr val="FF0000"/>
                </a:solidFill>
              </a:rPr>
              <a:t>),T(y)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22" name="Right Arrow 21"/>
          <p:cNvSpPr/>
          <p:nvPr/>
        </p:nvSpPr>
        <p:spPr>
          <a:xfrm>
            <a:off x="0" y="1752600"/>
            <a:ext cx="5334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410200" y="4724400"/>
            <a:ext cx="2438400" cy="52322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No Safe Plan! </a:t>
            </a:r>
            <a:endParaRPr lang="en-US" sz="2800" dirty="0"/>
          </a:p>
        </p:txBody>
      </p:sp>
      <p:sp>
        <p:nvSpPr>
          <p:cNvPr id="26" name="TextBox 25"/>
          <p:cNvSpPr txBox="1"/>
          <p:nvPr/>
        </p:nvSpPr>
        <p:spPr>
          <a:xfrm>
            <a:off x="1676400" y="5786735"/>
            <a:ext cx="6019800" cy="46166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Does our algorithm miss some plans?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33400" y="1066800"/>
            <a:ext cx="8382000" cy="358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14350" lvl="1" indent="-514350">
              <a:spcBef>
                <a:spcPct val="20000"/>
              </a:spcBef>
            </a:pPr>
            <a:r>
              <a:rPr lang="en-US" sz="2800" b="1" dirty="0" smtClean="0">
                <a:solidFill>
                  <a:schemeClr val="tx2"/>
                </a:solidFill>
                <a:latin typeface="Calibri" pitchFamily="34" charset="0"/>
              </a:rPr>
              <a:t>Compile</a:t>
            </a:r>
            <a:r>
              <a:rPr lang="en-US" sz="2800" dirty="0" smtClean="0">
                <a:latin typeface="Calibri" pitchFamily="34" charset="0"/>
              </a:rPr>
              <a:t>[Query 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</a:t>
            </a:r>
            <a:r>
              <a:rPr lang="en-US" sz="2800" dirty="0" smtClean="0">
                <a:latin typeface="Calibri" pitchFamily="34" charset="0"/>
              </a:rPr>
              <a:t>] </a:t>
            </a:r>
            <a:r>
              <a:rPr lang="en-US" sz="2800" b="1" dirty="0" smtClean="0">
                <a:latin typeface="Calibri" pitchFamily="34" charset="0"/>
              </a:rPr>
              <a:t>returns </a:t>
            </a:r>
            <a:r>
              <a:rPr lang="en-US" sz="2800" dirty="0" smtClean="0">
                <a:latin typeface="Calibri" pitchFamily="34" charset="0"/>
              </a:rPr>
              <a:t>A plan</a:t>
            </a:r>
          </a:p>
          <a:p>
            <a:pPr marL="514350" lvl="1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800" b="1" dirty="0" smtClean="0">
                <a:latin typeface="Calibri" pitchFamily="34" charset="0"/>
              </a:rPr>
              <a:t>If </a:t>
            </a:r>
            <a:r>
              <a:rPr lang="en-US" sz="2800" dirty="0" smtClean="0">
                <a:latin typeface="Calibri" pitchFamily="34" charset="0"/>
              </a:rPr>
              <a:t>single </a:t>
            </a:r>
            <a:r>
              <a:rPr lang="en-US" sz="2800" dirty="0" err="1" smtClean="0">
                <a:latin typeface="Calibri" pitchFamily="34" charset="0"/>
              </a:rPr>
              <a:t>subgoal</a:t>
            </a:r>
            <a:r>
              <a:rPr lang="en-US" sz="2800" dirty="0" smtClean="0">
                <a:latin typeface="Calibri" pitchFamily="34" charset="0"/>
              </a:rPr>
              <a:t> R with no variables </a:t>
            </a:r>
            <a:r>
              <a:rPr lang="en-US" sz="2800" b="1" dirty="0" smtClean="0">
                <a:latin typeface="Calibri" pitchFamily="34" charset="0"/>
              </a:rPr>
              <a:t>then</a:t>
            </a:r>
            <a:r>
              <a:rPr lang="en-US" sz="2800" dirty="0" smtClean="0">
                <a:latin typeface="Calibri" pitchFamily="34" charset="0"/>
              </a:rPr>
              <a:t> </a:t>
            </a:r>
            <a:r>
              <a:rPr lang="en-US" sz="2800" b="1" dirty="0" smtClean="0">
                <a:latin typeface="Calibri" pitchFamily="34" charset="0"/>
              </a:rPr>
              <a:t>return</a:t>
            </a:r>
            <a:r>
              <a:rPr lang="en-US" sz="2800" dirty="0" smtClean="0">
                <a:latin typeface="Calibri" pitchFamily="34" charset="0"/>
              </a:rPr>
              <a:t> R</a:t>
            </a:r>
          </a:p>
          <a:p>
            <a:pPr marL="514350" lvl="1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800" b="1" dirty="0" smtClean="0">
                <a:latin typeface="Calibri" pitchFamily="34" charset="0"/>
              </a:rPr>
              <a:t>If</a:t>
            </a:r>
            <a:r>
              <a:rPr lang="en-US" sz="2800" dirty="0" smtClean="0">
                <a:latin typeface="Calibri" pitchFamily="34" charset="0"/>
              </a:rPr>
              <a:t> exists x </a:t>
            </a:r>
            <a:r>
              <a:rPr lang="en-US" sz="2800" dirty="0" err="1" smtClean="0">
                <a:latin typeface="Calibri" pitchFamily="34" charset="0"/>
              </a:rPr>
              <a:t>s.t</a:t>
            </a:r>
            <a:r>
              <a:rPr lang="en-US" sz="2800" dirty="0" smtClean="0">
                <a:latin typeface="Calibri" pitchFamily="34" charset="0"/>
              </a:rPr>
              <a:t>. 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</a:t>
            </a:r>
            <a:r>
              <a:rPr lang="en-US" sz="2800" dirty="0" smtClean="0">
                <a:latin typeface="Calibri" pitchFamily="34" charset="0"/>
              </a:rPr>
              <a:t> is independent on x </a:t>
            </a:r>
            <a:r>
              <a:rPr lang="en-US" sz="2800" b="1" dirty="0" smtClean="0">
                <a:latin typeface="Calibri" pitchFamily="34" charset="0"/>
              </a:rPr>
              <a:t>then</a:t>
            </a:r>
          </a:p>
          <a:p>
            <a:pPr marL="971550" lvl="2" indent="-514350">
              <a:spcBef>
                <a:spcPct val="20000"/>
              </a:spcBef>
            </a:pPr>
            <a:r>
              <a:rPr lang="en-US" sz="2800" b="1" dirty="0" smtClean="0">
                <a:latin typeface="Calibri" pitchFamily="34" charset="0"/>
              </a:rPr>
              <a:t>Return</a:t>
            </a:r>
            <a:r>
              <a:rPr lang="en-US" sz="2800" dirty="0" smtClean="0">
                <a:latin typeface="Calibri" pitchFamily="34" charset="0"/>
              </a:rPr>
              <a:t> </a:t>
            </a:r>
            <a:r>
              <a:rPr lang="en-US" sz="2800" dirty="0" smtClean="0">
                <a:latin typeface="Symbol" pitchFamily="18" charset="2"/>
              </a:rPr>
              <a:t>P</a:t>
            </a:r>
            <a:r>
              <a:rPr lang="en-US" sz="2800" baseline="-25000" dirty="0" smtClean="0"/>
              <a:t>-{x}</a:t>
            </a:r>
            <a:r>
              <a:rPr lang="en-US" sz="2800" dirty="0" smtClean="0">
                <a:latin typeface="Calibri" pitchFamily="34" charset="0"/>
              </a:rPr>
              <a:t>(  </a:t>
            </a:r>
            <a:r>
              <a:rPr lang="en-US" sz="2800" b="1" dirty="0" smtClean="0">
                <a:solidFill>
                  <a:schemeClr val="tx2"/>
                </a:solidFill>
                <a:latin typeface="Calibri" pitchFamily="34" charset="0"/>
              </a:rPr>
              <a:t>Compile</a:t>
            </a:r>
            <a:r>
              <a:rPr lang="en-US" sz="2800" dirty="0" smtClean="0">
                <a:latin typeface="Calibri" pitchFamily="34" charset="0"/>
              </a:rPr>
              <a:t>[ 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</a:t>
            </a:r>
            <a:r>
              <a:rPr lang="en-US" sz="2800" dirty="0" smtClean="0">
                <a:latin typeface="Calibri" pitchFamily="34" charset="0"/>
              </a:rPr>
              <a:t>{x </a:t>
            </a:r>
            <a:r>
              <a:rPr lang="en-US" sz="2800" b="1" dirty="0" smtClean="0"/>
              <a:t>←</a:t>
            </a:r>
            <a:r>
              <a:rPr lang="en-US" sz="2800" dirty="0" smtClean="0">
                <a:latin typeface="Calibri" pitchFamily="34" charset="0"/>
              </a:rPr>
              <a:t> </a:t>
            </a:r>
            <a:r>
              <a:rPr lang="en-US" sz="2800" dirty="0" err="1" smtClean="0">
                <a:latin typeface="Calibri" pitchFamily="34" charset="0"/>
              </a:rPr>
              <a:t>FreshConst</a:t>
            </a:r>
            <a:r>
              <a:rPr lang="en-US" sz="2800" dirty="0" smtClean="0">
                <a:latin typeface="Calibri" pitchFamily="34" charset="0"/>
              </a:rPr>
              <a:t>()} ] )</a:t>
            </a:r>
          </a:p>
          <a:p>
            <a:pPr marL="514350" lvl="1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800" b="1" dirty="0" err="1" smtClean="0">
                <a:latin typeface="Calibri" pitchFamily="34" charset="0"/>
              </a:rPr>
              <a:t>ElsIf</a:t>
            </a:r>
            <a:r>
              <a:rPr lang="en-US" sz="2800" dirty="0" smtClean="0">
                <a:latin typeface="Calibri" pitchFamily="34" charset="0"/>
              </a:rPr>
              <a:t> q=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q1q2</a:t>
            </a:r>
            <a:r>
              <a:rPr lang="en-US" sz="2800" dirty="0" smtClean="0">
                <a:latin typeface="Calibri" pitchFamily="34" charset="0"/>
              </a:rPr>
              <a:t> so that </a:t>
            </a:r>
            <a:r>
              <a:rPr lang="en-US" sz="2800" dirty="0" err="1" smtClean="0">
                <a:latin typeface="Calibri" pitchFamily="34" charset="0"/>
              </a:rPr>
              <a:t>qi</a:t>
            </a:r>
            <a:r>
              <a:rPr lang="en-US" sz="2800" dirty="0" smtClean="0">
                <a:latin typeface="Calibri" pitchFamily="34" charset="0"/>
              </a:rPr>
              <a:t> do not share variables </a:t>
            </a:r>
            <a:r>
              <a:rPr lang="en-US" sz="2800" b="1" dirty="0" smtClean="0">
                <a:latin typeface="Calibri" pitchFamily="34" charset="0"/>
              </a:rPr>
              <a:t>then</a:t>
            </a:r>
          </a:p>
          <a:p>
            <a:pPr marL="971550" lvl="2" indent="-514350">
              <a:spcBef>
                <a:spcPct val="20000"/>
              </a:spcBef>
            </a:pPr>
            <a:r>
              <a:rPr lang="en-US" sz="2800" b="1" dirty="0" smtClean="0">
                <a:latin typeface="Calibri" pitchFamily="34" charset="0"/>
              </a:rPr>
              <a:t>return</a:t>
            </a:r>
            <a:r>
              <a:rPr lang="en-US" sz="2800" dirty="0" smtClean="0">
                <a:latin typeface="Calibri" pitchFamily="34" charset="0"/>
              </a:rPr>
              <a:t> Join(</a:t>
            </a:r>
            <a:r>
              <a:rPr lang="en-US" sz="2800" b="1" dirty="0" smtClean="0">
                <a:solidFill>
                  <a:schemeClr val="tx2"/>
                </a:solidFill>
                <a:latin typeface="Calibri" pitchFamily="34" charset="0"/>
              </a:rPr>
              <a:t>Compile</a:t>
            </a:r>
            <a:r>
              <a:rPr lang="en-US" sz="2800" dirty="0" smtClean="0">
                <a:latin typeface="Calibri" pitchFamily="34" charset="0"/>
              </a:rPr>
              <a:t>[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q1</a:t>
            </a:r>
            <a:r>
              <a:rPr lang="en-US" sz="2800" dirty="0" smtClean="0">
                <a:latin typeface="Calibri" pitchFamily="34" charset="0"/>
              </a:rPr>
              <a:t>], </a:t>
            </a:r>
            <a:r>
              <a:rPr lang="en-US" sz="2800" b="1" dirty="0" smtClean="0">
                <a:solidFill>
                  <a:schemeClr val="tx2"/>
                </a:solidFill>
                <a:latin typeface="Calibri" pitchFamily="34" charset="0"/>
              </a:rPr>
              <a:t>Compile</a:t>
            </a:r>
            <a:r>
              <a:rPr lang="en-US" sz="2800" dirty="0" smtClean="0">
                <a:latin typeface="Calibri" pitchFamily="34" charset="0"/>
              </a:rPr>
              <a:t>[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</a:rPr>
              <a:t>q2</a:t>
            </a:r>
            <a:r>
              <a:rPr lang="en-US" sz="2800" dirty="0" smtClean="0">
                <a:latin typeface="Calibri" pitchFamily="34" charset="0"/>
              </a:rPr>
              <a:t>]) </a:t>
            </a:r>
          </a:p>
          <a:p>
            <a:pPr marL="514350" lvl="1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800" b="1" dirty="0" smtClean="0">
                <a:latin typeface="Calibri" pitchFamily="34" charset="0"/>
              </a:rPr>
              <a:t>Else</a:t>
            </a:r>
            <a:r>
              <a:rPr lang="en-US" sz="2800" dirty="0" smtClean="0">
                <a:latin typeface="Calibri" pitchFamily="34" charset="0"/>
              </a:rPr>
              <a:t> </a:t>
            </a:r>
            <a:r>
              <a:rPr lang="en-US" sz="2800" b="1" dirty="0" smtClean="0">
                <a:latin typeface="Calibri" pitchFamily="34" charset="0"/>
              </a:rPr>
              <a:t>return</a:t>
            </a:r>
            <a:r>
              <a:rPr lang="en-US" sz="2800" dirty="0" smtClean="0">
                <a:latin typeface="Calibri" pitchFamily="34" charset="0"/>
              </a:rPr>
              <a:t> “No Safe Plan”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2800" dirty="0">
              <a:latin typeface="Calibri" pitchFamily="34" charset="0"/>
            </a:endParaRPr>
          </a:p>
          <a:p>
            <a:pPr marL="800100" lvl="1" indent="-342900">
              <a:spcBef>
                <a:spcPct val="20000"/>
              </a:spcBef>
            </a:pPr>
            <a:endParaRPr lang="en-US" sz="2800" dirty="0" smtClean="0">
              <a:latin typeface="Calibri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2E5E82-AA4B-4FE6-B9BB-CB52BAB058CF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124200" y="0"/>
            <a:ext cx="3886200" cy="36933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Assuming no self-joins, </a:t>
            </a:r>
            <a:r>
              <a:rPr lang="en-US" dirty="0" err="1" smtClean="0"/>
              <a:t>tuple</a:t>
            </a:r>
            <a:r>
              <a:rPr lang="en-US" dirty="0" smtClean="0"/>
              <a:t> </a:t>
            </a:r>
            <a:r>
              <a:rPr lang="en-US" dirty="0" err="1" smtClean="0"/>
              <a:t>indep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3.33333E-6 0.0722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7222 L 3.33333E-6 0.2277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22778 L 3.33333E-6 0.3722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2" grpId="3" animBg="1"/>
      <p:bldP spid="23" grpId="0" animBg="1"/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57076C-1BED-414C-966A-D7293FD4E1A4}" type="slidenum">
              <a:rPr lang="en-US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Thm: The algorithm is Complete</a:t>
            </a:r>
          </a:p>
        </p:txBody>
      </p:sp>
      <p:sp>
        <p:nvSpPr>
          <p:cNvPr id="130052" name="Rectangle 4"/>
          <p:cNvSpPr>
            <a:spLocks noChangeArrowheads="1"/>
          </p:cNvSpPr>
          <p:nvPr/>
        </p:nvSpPr>
        <p:spPr bwMode="auto">
          <a:xfrm>
            <a:off x="774700" y="1749425"/>
            <a:ext cx="4198938" cy="5889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 err="1">
                <a:latin typeface="+mn-lt"/>
                <a:cs typeface="+mn-cs"/>
              </a:rPr>
              <a:t>Q</a:t>
            </a:r>
            <a:r>
              <a:rPr lang="en-US" sz="3200" baseline="-25000" dirty="0" err="1">
                <a:latin typeface="+mn-lt"/>
                <a:cs typeface="+mn-cs"/>
              </a:rPr>
              <a:t>bad</a:t>
            </a:r>
            <a:r>
              <a:rPr lang="en-US" sz="3200" dirty="0">
                <a:latin typeface="+mn-lt"/>
                <a:cs typeface="+mn-cs"/>
              </a:rPr>
              <a:t> :- R(x), S(</a:t>
            </a:r>
            <a:r>
              <a:rPr lang="en-US" sz="3200" dirty="0" err="1">
                <a:latin typeface="+mn-lt"/>
                <a:cs typeface="+mn-cs"/>
              </a:rPr>
              <a:t>x,y</a:t>
            </a:r>
            <a:r>
              <a:rPr lang="en-US" sz="3200" dirty="0">
                <a:latin typeface="+mn-lt"/>
                <a:cs typeface="+mn-cs"/>
              </a:rPr>
              <a:t>), T(y)</a:t>
            </a:r>
          </a:p>
        </p:txBody>
      </p:sp>
      <p:sp>
        <p:nvSpPr>
          <p:cNvPr id="130053" name="AutoShape 5"/>
          <p:cNvSpPr>
            <a:spLocks noChangeArrowheads="1"/>
          </p:cNvSpPr>
          <p:nvPr/>
        </p:nvSpPr>
        <p:spPr bwMode="auto">
          <a:xfrm>
            <a:off x="6172200" y="1600200"/>
            <a:ext cx="2704517" cy="1055608"/>
          </a:xfrm>
          <a:prstGeom prst="wedgeRoundRectCallout">
            <a:avLst>
              <a:gd name="adj1" fmla="val -91009"/>
              <a:gd name="adj2" fmla="val 433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Data complexity</a:t>
            </a:r>
            <a:br>
              <a:rPr lang="en-US" sz="2800" b="1" dirty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is #P complete</a:t>
            </a:r>
          </a:p>
        </p:txBody>
      </p:sp>
      <p:sp>
        <p:nvSpPr>
          <p:cNvPr id="130054" name="Rectangle 6"/>
          <p:cNvSpPr>
            <a:spLocks noChangeArrowheads="1"/>
          </p:cNvSpPr>
          <p:nvPr/>
        </p:nvSpPr>
        <p:spPr bwMode="auto">
          <a:xfrm>
            <a:off x="304800" y="3981450"/>
            <a:ext cx="8577263" cy="1809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latin typeface="+mn-lt"/>
                <a:cs typeface="+mn-cs"/>
              </a:rPr>
              <a:t>Theorem</a:t>
            </a:r>
            <a:r>
              <a:rPr lang="en-US" sz="2800" dirty="0">
                <a:latin typeface="+mn-lt"/>
                <a:cs typeface="+mn-cs"/>
              </a:rPr>
              <a:t> The following are equivalent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 Q has PTIME data complexity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 Q admits an extensional plan (and one finds it in PTIME)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 Q does not have </a:t>
            </a:r>
            <a:r>
              <a:rPr lang="en-US" sz="2800" dirty="0" err="1">
                <a:latin typeface="+mn-lt"/>
                <a:cs typeface="+mn-cs"/>
              </a:rPr>
              <a:t>Q</a:t>
            </a:r>
            <a:r>
              <a:rPr lang="en-US" sz="2800" baseline="-25000" dirty="0" err="1">
                <a:latin typeface="+mn-lt"/>
                <a:cs typeface="+mn-cs"/>
              </a:rPr>
              <a:t>bad</a:t>
            </a:r>
            <a:r>
              <a:rPr lang="en-US" sz="2800" dirty="0">
                <a:latin typeface="+mn-lt"/>
                <a:cs typeface="+mn-cs"/>
              </a:rPr>
              <a:t> as a </a:t>
            </a:r>
            <a:r>
              <a:rPr lang="en-US" sz="2800" dirty="0" err="1">
                <a:latin typeface="+mn-lt"/>
                <a:cs typeface="+mn-cs"/>
              </a:rPr>
              <a:t>subquery</a:t>
            </a:r>
            <a:endParaRPr lang="en-US" sz="2800" dirty="0">
              <a:latin typeface="+mn-lt"/>
              <a:cs typeface="+mn-cs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09600" y="2779693"/>
            <a:ext cx="7239000" cy="954107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 smtClean="0">
                <a:solidFill>
                  <a:schemeClr val="bg1"/>
                </a:solidFill>
              </a:rPr>
              <a:t>Bottomline</a:t>
            </a:r>
            <a:r>
              <a:rPr lang="en-US" sz="2800" b="1" dirty="0" smtClean="0">
                <a:solidFill>
                  <a:schemeClr val="bg1"/>
                </a:solidFill>
              </a:rPr>
              <a:t>: If there is a plan, we find it. </a:t>
            </a:r>
          </a:p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If we don’t find a plan, it’s provably hard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1" name="Rectangle 34"/>
          <p:cNvSpPr>
            <a:spLocks noChangeArrowheads="1"/>
          </p:cNvSpPr>
          <p:nvPr/>
        </p:nvSpPr>
        <p:spPr bwMode="auto">
          <a:xfrm>
            <a:off x="0" y="0"/>
            <a:ext cx="17764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[Dalvi&amp;S’04]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" y="6324600"/>
            <a:ext cx="8458200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NB: </a:t>
            </a:r>
            <a:r>
              <a:rPr lang="en-US" sz="2400" b="1" i="1" dirty="0" smtClean="0"/>
              <a:t>never </a:t>
            </a:r>
            <a:r>
              <a:rPr lang="en-US" sz="2400" b="1" dirty="0" smtClean="0"/>
              <a:t>looked at the data, so is query compilation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3" grpId="0" animBg="1" autoUpdateAnimBg="0"/>
      <p:bldP spid="130054" grpId="0" animBg="1" autoUpdateAnimBg="0"/>
      <p:bldP spid="10" grpId="0" uiExpand="1" build="allAtOnce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Basic Query Processing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SELECT-FROM-WHERE Queries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Compiling Safe Queries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Unsafe Queries (Sampling)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Top-K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Aggregation Queries + Probabilities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Top-K + Measures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OLAP Queries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HAVING Queries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8600" y="2590800"/>
            <a:ext cx="609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44C141-DC2E-46ED-8B4C-C86ED272D890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Intensional</a:t>
            </a:r>
            <a:r>
              <a:rPr lang="en-US" dirty="0" smtClean="0"/>
              <a:t> Query Evaluation</a:t>
            </a:r>
          </a:p>
        </p:txBody>
      </p:sp>
      <p:sp>
        <p:nvSpPr>
          <p:cNvPr id="3078" name="Rectangle 3"/>
          <p:cNvSpPr>
            <a:spLocks noChangeArrowheads="1"/>
          </p:cNvSpPr>
          <p:nvPr/>
        </p:nvSpPr>
        <p:spPr bwMode="auto">
          <a:xfrm>
            <a:off x="533400" y="1371600"/>
            <a:ext cx="83533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Goal: Make relational ops compute </a:t>
            </a:r>
            <a:r>
              <a:rPr lang="en-US" sz="2800" dirty="0" smtClean="0">
                <a:latin typeface="Calibri" pitchFamily="34" charset="0"/>
              </a:rPr>
              <a:t>Boolean </a:t>
            </a:r>
            <a:r>
              <a:rPr lang="en-US" sz="2800" i="1" dirty="0" smtClean="0">
                <a:latin typeface="Calibri" pitchFamily="34" charset="0"/>
              </a:rPr>
              <a:t>expression </a:t>
            </a:r>
            <a:r>
              <a:rPr lang="en-US" sz="2800" i="1" dirty="0">
                <a:latin typeface="Calibri" pitchFamily="34" charset="0"/>
              </a:rPr>
              <a:t>f</a:t>
            </a:r>
          </a:p>
        </p:txBody>
      </p:sp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304800" y="3810000"/>
            <a:ext cx="36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Symbol" pitchFamily="18" charset="2"/>
              </a:rPr>
              <a:t>s</a:t>
            </a:r>
            <a:endParaRPr lang="en-US">
              <a:latin typeface="Calibri" pitchFamily="34" charset="0"/>
            </a:endParaRPr>
          </a:p>
        </p:txBody>
      </p:sp>
      <p:graphicFrame>
        <p:nvGraphicFramePr>
          <p:cNvPr id="283853" name="Group 205"/>
          <p:cNvGraphicFramePr>
            <a:graphicFrameLocks noGrp="1"/>
          </p:cNvGraphicFramePr>
          <p:nvPr/>
        </p:nvGraphicFramePr>
        <p:xfrm>
          <a:off x="152400" y="4881563"/>
          <a:ext cx="609600" cy="1371600"/>
        </p:xfrm>
        <a:graphic>
          <a:graphicData uri="http://schemas.openxmlformats.org/drawingml/2006/table">
            <a:tbl>
              <a:tblPr/>
              <a:tblGrid>
                <a:gridCol w="342900"/>
                <a:gridCol w="2667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83854" name="Group 206"/>
          <p:cNvGraphicFramePr>
            <a:graphicFrameLocks noGrp="1"/>
          </p:cNvGraphicFramePr>
          <p:nvPr/>
        </p:nvGraphicFramePr>
        <p:xfrm>
          <a:off x="152400" y="1905000"/>
          <a:ext cx="609600" cy="1371600"/>
        </p:xfrm>
        <a:graphic>
          <a:graphicData uri="http://schemas.openxmlformats.org/drawingml/2006/table">
            <a:tbl>
              <a:tblPr/>
              <a:tblGrid>
                <a:gridCol w="342900"/>
                <a:gridCol w="2667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108" name="AutoShape 33"/>
          <p:cNvCxnSpPr>
            <a:cxnSpLocks noChangeShapeType="1"/>
            <a:endCxn id="3079" idx="2"/>
          </p:cNvCxnSpPr>
          <p:nvPr/>
        </p:nvCxnSpPr>
        <p:spPr bwMode="auto">
          <a:xfrm flipH="1" flipV="1">
            <a:off x="488950" y="4267200"/>
            <a:ext cx="6350" cy="6143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83682" name="AutoShape 34"/>
          <p:cNvCxnSpPr>
            <a:cxnSpLocks noChangeShapeType="1"/>
            <a:stCxn id="3079" idx="0"/>
          </p:cNvCxnSpPr>
          <p:nvPr/>
        </p:nvCxnSpPr>
        <p:spPr bwMode="auto">
          <a:xfrm flipV="1">
            <a:off x="488950" y="3271838"/>
            <a:ext cx="63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aphicFrame>
        <p:nvGraphicFramePr>
          <p:cNvPr id="283789" name="Group 141"/>
          <p:cNvGraphicFramePr>
            <a:graphicFrameLocks noGrp="1"/>
          </p:cNvGraphicFramePr>
          <p:nvPr/>
        </p:nvGraphicFramePr>
        <p:xfrm>
          <a:off x="1066800" y="4729163"/>
          <a:ext cx="1066800" cy="1371600"/>
        </p:xfrm>
        <a:graphic>
          <a:graphicData uri="http://schemas.openxmlformats.org/drawingml/2006/table">
            <a:tbl>
              <a:tblPr/>
              <a:tblGrid>
                <a:gridCol w="457200"/>
                <a:gridCol w="6096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83786" name="Group 138"/>
          <p:cNvGraphicFramePr>
            <a:graphicFrameLocks noGrp="1"/>
          </p:cNvGraphicFramePr>
          <p:nvPr/>
        </p:nvGraphicFramePr>
        <p:xfrm>
          <a:off x="1152524" y="2057400"/>
          <a:ext cx="2200276" cy="1432560"/>
        </p:xfrm>
        <a:graphic>
          <a:graphicData uri="http://schemas.openxmlformats.org/drawingml/2006/table">
            <a:tbl>
              <a:tblPr/>
              <a:tblGrid>
                <a:gridCol w="572072"/>
                <a:gridCol w="572072"/>
                <a:gridCol w="1056132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  <a:r>
                        <a:rPr kumimoji="0" lang="en-US" sz="2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˄ f</a:t>
                      </a:r>
                      <a:r>
                        <a:rPr kumimoji="0" lang="en-US" sz="2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143" name="AutoShape 68"/>
          <p:cNvCxnSpPr>
            <a:cxnSpLocks noChangeShapeType="1"/>
            <a:endCxn id="29" idx="1"/>
          </p:cNvCxnSpPr>
          <p:nvPr/>
        </p:nvCxnSpPr>
        <p:spPr bwMode="auto">
          <a:xfrm rot="5400000" flipH="1" flipV="1">
            <a:off x="1446535" y="4346899"/>
            <a:ext cx="459731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83717" name="AutoShape 69"/>
          <p:cNvCxnSpPr>
            <a:cxnSpLocks noChangeShapeType="1"/>
          </p:cNvCxnSpPr>
          <p:nvPr/>
        </p:nvCxnSpPr>
        <p:spPr bwMode="auto">
          <a:xfrm flipH="1" flipV="1">
            <a:off x="2219325" y="3459163"/>
            <a:ext cx="12700" cy="569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aphicFrame>
        <p:nvGraphicFramePr>
          <p:cNvPr id="283792" name="Group 144"/>
          <p:cNvGraphicFramePr>
            <a:graphicFrameLocks noGrp="1"/>
          </p:cNvGraphicFramePr>
          <p:nvPr/>
        </p:nvGraphicFramePr>
        <p:xfrm>
          <a:off x="2590800" y="4729163"/>
          <a:ext cx="990600" cy="1371600"/>
        </p:xfrm>
        <a:graphic>
          <a:graphicData uri="http://schemas.openxmlformats.org/drawingml/2006/table">
            <a:tbl>
              <a:tblPr/>
              <a:tblGrid>
                <a:gridCol w="457200"/>
                <a:gridCol w="5334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159" name="AutoShape 84"/>
          <p:cNvCxnSpPr>
            <a:cxnSpLocks noChangeShapeType="1"/>
            <a:endCxn id="29" idx="3"/>
          </p:cNvCxnSpPr>
          <p:nvPr/>
        </p:nvCxnSpPr>
        <p:spPr bwMode="auto">
          <a:xfrm rot="16200000" flipV="1">
            <a:off x="2665736" y="4346898"/>
            <a:ext cx="459733" cy="3048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160" name="Rectangle 85"/>
          <p:cNvSpPr>
            <a:spLocks noChangeArrowheads="1"/>
          </p:cNvSpPr>
          <p:nvPr/>
        </p:nvSpPr>
        <p:spPr bwMode="auto">
          <a:xfrm>
            <a:off x="4800600" y="3663950"/>
            <a:ext cx="417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Symbol" pitchFamily="18" charset="2"/>
              </a:rPr>
              <a:t>P</a:t>
            </a:r>
            <a:endParaRPr lang="en-US" dirty="0">
              <a:latin typeface="Calibri" pitchFamily="34" charset="0"/>
            </a:endParaRPr>
          </a:p>
        </p:txBody>
      </p:sp>
      <p:graphicFrame>
        <p:nvGraphicFramePr>
          <p:cNvPr id="283799" name="Group 151"/>
          <p:cNvGraphicFramePr>
            <a:graphicFrameLocks noGrp="1"/>
          </p:cNvGraphicFramePr>
          <p:nvPr/>
        </p:nvGraphicFramePr>
        <p:xfrm>
          <a:off x="4519613" y="4419600"/>
          <a:ext cx="1119187" cy="1828800"/>
        </p:xfrm>
        <a:graphic>
          <a:graphicData uri="http://schemas.openxmlformats.org/drawingml/2006/table">
            <a:tbl>
              <a:tblPr/>
              <a:tblGrid>
                <a:gridCol w="495300"/>
                <a:gridCol w="623887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83796" name="Group 148"/>
          <p:cNvGraphicFramePr>
            <a:graphicFrameLocks noGrp="1"/>
          </p:cNvGraphicFramePr>
          <p:nvPr/>
        </p:nvGraphicFramePr>
        <p:xfrm>
          <a:off x="3657600" y="1905000"/>
          <a:ext cx="2438400" cy="1432560"/>
        </p:xfrm>
        <a:graphic>
          <a:graphicData uri="http://schemas.openxmlformats.org/drawingml/2006/table">
            <a:tbl>
              <a:tblPr/>
              <a:tblGrid>
                <a:gridCol w="452846"/>
                <a:gridCol w="1985554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  <a:r>
                        <a:rPr kumimoji="0" lang="en-US" sz="2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˅ f</a:t>
                      </a:r>
                      <a:r>
                        <a:rPr kumimoji="0" lang="en-US" sz="2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192" name="AutoShape 117"/>
          <p:cNvCxnSpPr>
            <a:cxnSpLocks noChangeShapeType="1"/>
            <a:endCxn id="3160" idx="2"/>
          </p:cNvCxnSpPr>
          <p:nvPr/>
        </p:nvCxnSpPr>
        <p:spPr bwMode="auto">
          <a:xfrm rot="16200000" flipV="1">
            <a:off x="4862911" y="4267596"/>
            <a:ext cx="298450" cy="555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83766" name="AutoShape 118"/>
          <p:cNvCxnSpPr>
            <a:cxnSpLocks noChangeShapeType="1"/>
            <a:stCxn id="3160" idx="0"/>
          </p:cNvCxnSpPr>
          <p:nvPr/>
        </p:nvCxnSpPr>
        <p:spPr bwMode="auto">
          <a:xfrm rot="5400000" flipH="1" flipV="1">
            <a:off x="4857353" y="3511154"/>
            <a:ext cx="304800" cy="7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2" name="Rectangle 34"/>
          <p:cNvSpPr>
            <a:spLocks noChangeArrowheads="1"/>
          </p:cNvSpPr>
          <p:nvPr/>
        </p:nvSpPr>
        <p:spPr bwMode="auto">
          <a:xfrm>
            <a:off x="0" y="0"/>
            <a:ext cx="6575425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[Fuhr&amp;Roellke’97, </a:t>
            </a:r>
            <a:r>
              <a:rPr lang="en-US" sz="2400" b="1" dirty="0" err="1">
                <a:solidFill>
                  <a:schemeClr val="bg1"/>
                </a:solidFill>
                <a:latin typeface="+mn-lt"/>
                <a:cs typeface="+mn-cs"/>
              </a:rPr>
              <a:t>Graedel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 et al. ’98, </a:t>
            </a:r>
            <a:r>
              <a:rPr lang="en-US" sz="2400" b="1" dirty="0" err="1">
                <a:solidFill>
                  <a:schemeClr val="bg1"/>
                </a:solidFill>
                <a:latin typeface="+mn-lt"/>
                <a:cs typeface="+mn-cs"/>
              </a:rPr>
              <a:t>Dalvi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 &amp; S ‘04]</a:t>
            </a:r>
          </a:p>
        </p:txBody>
      </p:sp>
      <p:sp>
        <p:nvSpPr>
          <p:cNvPr id="27" name="Rectangle 213"/>
          <p:cNvSpPr>
            <a:spLocks noChangeArrowheads="1"/>
          </p:cNvSpPr>
          <p:nvPr/>
        </p:nvSpPr>
        <p:spPr bwMode="auto">
          <a:xfrm>
            <a:off x="6629400" y="3276600"/>
            <a:ext cx="2414444" cy="52322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i="1" dirty="0">
                <a:latin typeface="+mn-lt"/>
                <a:cs typeface="+mn-cs"/>
              </a:rPr>
              <a:t>f is a </a:t>
            </a:r>
            <a:r>
              <a:rPr lang="en-US" sz="2800" i="1" dirty="0" smtClean="0">
                <a:latin typeface="+mn-lt"/>
                <a:cs typeface="+mn-cs"/>
              </a:rPr>
              <a:t>small DNF</a:t>
            </a:r>
            <a:endParaRPr lang="en-US" sz="2800" dirty="0">
              <a:latin typeface="+mn-lt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48400" y="1981200"/>
            <a:ext cx="2895600" cy="9540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/>
              <a:t>Pr[</a:t>
            </a:r>
            <a:r>
              <a:rPr lang="en-US" sz="2800" dirty="0"/>
              <a:t>q</a:t>
            </a:r>
            <a:r>
              <a:rPr lang="en-US" sz="2800" b="1" dirty="0"/>
              <a:t>]</a:t>
            </a:r>
            <a:r>
              <a:rPr lang="en-US" sz="2800" dirty="0"/>
              <a:t> reduced to</a:t>
            </a:r>
          </a:p>
          <a:p>
            <a:pPr>
              <a:defRPr/>
            </a:pPr>
            <a:r>
              <a:rPr lang="en-US" sz="2800" b="1" dirty="0" smtClean="0"/>
              <a:t>Pr[</a:t>
            </a:r>
            <a:r>
              <a:rPr lang="en-US" sz="2800" i="1" dirty="0" smtClean="0"/>
              <a:t>f</a:t>
            </a:r>
            <a:r>
              <a:rPr lang="en-US" sz="2800" dirty="0" smtClean="0"/>
              <a:t> </a:t>
            </a:r>
            <a:r>
              <a:rPr lang="en-US" sz="2800" dirty="0"/>
              <a:t>is SAT</a:t>
            </a:r>
            <a:r>
              <a:rPr lang="en-US" sz="2800" b="1" dirty="0"/>
              <a:t>]</a:t>
            </a:r>
            <a:r>
              <a:rPr lang="en-US" sz="2800" dirty="0"/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7400" y="5943600"/>
            <a:ext cx="3276600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NB</a:t>
            </a:r>
            <a:r>
              <a:rPr lang="en-US" sz="2400" dirty="0" smtClean="0"/>
              <a:t>: f is also known as </a:t>
            </a:r>
            <a:r>
              <a:rPr lang="en-US" sz="2400" i="1" dirty="0" smtClean="0"/>
              <a:t>lineage</a:t>
            </a:r>
            <a:endParaRPr lang="en-US" sz="2400" i="1" dirty="0"/>
          </a:p>
        </p:txBody>
      </p:sp>
      <p:sp>
        <p:nvSpPr>
          <p:cNvPr id="29" name="Rectangle 35"/>
          <p:cNvSpPr>
            <a:spLocks noChangeArrowheads="1"/>
          </p:cNvSpPr>
          <p:nvPr/>
        </p:nvSpPr>
        <p:spPr bwMode="auto">
          <a:xfrm>
            <a:off x="1828800" y="4038600"/>
            <a:ext cx="914400" cy="46166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Courier" pitchFamily="49" charset="0"/>
              </a:rPr>
              <a:t>JOIN</a:t>
            </a:r>
            <a:endParaRPr lang="en-US" sz="2400" b="1" dirty="0">
              <a:latin typeface="Courier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91200" y="4114800"/>
            <a:ext cx="3124200" cy="8309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  <a:effectLst>
            <a:outerShdw blurRad="139700" dist="38100" dir="2700000" sx="106000" sy="106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Idea: </a:t>
            </a:r>
            <a:r>
              <a:rPr lang="en-US" sz="2400" b="1" i="1" dirty="0" smtClean="0">
                <a:solidFill>
                  <a:schemeClr val="bg1"/>
                </a:solidFill>
              </a:rPr>
              <a:t>Approximate Pr[f is SAT]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4400" y="6396335"/>
            <a:ext cx="4648200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Tuples</a:t>
            </a:r>
            <a:r>
              <a:rPr lang="en-US" sz="2400" dirty="0" smtClean="0"/>
              <a:t> = variables in expression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8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83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utoUpdateAnimBg="0"/>
      <p:bldP spid="30" grpId="0" animBg="1"/>
      <p:bldP spid="28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C2F4CF-5095-4ECE-80EF-74863748292F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Monte Carlo Simulation</a:t>
            </a:r>
          </a:p>
        </p:txBody>
      </p:sp>
      <p:sp>
        <p:nvSpPr>
          <p:cNvPr id="276485" name="Rectangle 5"/>
          <p:cNvSpPr>
            <a:spLocks noChangeArrowheads="1"/>
          </p:cNvSpPr>
          <p:nvPr/>
        </p:nvSpPr>
        <p:spPr bwMode="auto">
          <a:xfrm>
            <a:off x="304800" y="2438400"/>
            <a:ext cx="3655231" cy="2031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>
                <a:latin typeface="+mn-lt"/>
                <a:cs typeface="+mn-cs"/>
              </a:rPr>
              <a:t>Set</a:t>
            </a:r>
            <a:r>
              <a:rPr lang="en-US" dirty="0" smtClean="0">
                <a:latin typeface="+mn-lt"/>
                <a:cs typeface="+mn-cs"/>
              </a:rPr>
              <a:t> </a:t>
            </a:r>
            <a:r>
              <a:rPr lang="en-US" dirty="0" err="1" smtClean="0">
                <a:latin typeface="+mn-lt"/>
                <a:cs typeface="+mn-cs"/>
              </a:rPr>
              <a:t>Cnt</a:t>
            </a:r>
            <a:r>
              <a:rPr lang="en-US" dirty="0" smtClean="0">
                <a:latin typeface="+mn-lt"/>
                <a:cs typeface="+mn-cs"/>
              </a:rPr>
              <a:t> </a:t>
            </a:r>
            <a:r>
              <a:rPr lang="en-US" dirty="0" smtClean="0">
                <a:latin typeface="cmsy10" charset="0"/>
                <a:cs typeface="+mn-cs"/>
              </a:rPr>
              <a:t>= </a:t>
            </a:r>
            <a:r>
              <a:rPr lang="en-US" dirty="0" smtClean="0">
                <a:latin typeface="+mn-lt"/>
                <a:cs typeface="+mn-cs"/>
              </a:rPr>
              <a:t>0</a:t>
            </a: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repeat</a:t>
            </a:r>
            <a:r>
              <a:rPr lang="en-US" dirty="0">
                <a:latin typeface="+mn-lt"/>
                <a:cs typeface="+mn-cs"/>
              </a:rPr>
              <a:t> N times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     randomly choose X</a:t>
            </a:r>
            <a:r>
              <a:rPr lang="en-US" baseline="-25000" dirty="0">
                <a:latin typeface="+mn-lt"/>
                <a:cs typeface="+mn-cs"/>
              </a:rPr>
              <a:t>1</a:t>
            </a:r>
            <a:r>
              <a:rPr lang="en-US" dirty="0">
                <a:latin typeface="+mn-lt"/>
                <a:cs typeface="+mn-cs"/>
              </a:rPr>
              <a:t>, X</a:t>
            </a:r>
            <a:r>
              <a:rPr lang="en-US" baseline="-25000" dirty="0">
                <a:latin typeface="+mn-lt"/>
                <a:cs typeface="+mn-cs"/>
              </a:rPr>
              <a:t>2</a:t>
            </a:r>
            <a:r>
              <a:rPr lang="en-US" dirty="0">
                <a:latin typeface="+mn-lt"/>
                <a:cs typeface="+mn-cs"/>
              </a:rPr>
              <a:t>, X</a:t>
            </a:r>
            <a:r>
              <a:rPr lang="en-US" baseline="-25000" dirty="0">
                <a:latin typeface="+mn-lt"/>
                <a:cs typeface="+mn-cs"/>
              </a:rPr>
              <a:t>3</a:t>
            </a:r>
            <a:r>
              <a:rPr lang="en-US" dirty="0">
                <a:latin typeface="+mn-lt"/>
                <a:cs typeface="+mn-cs"/>
              </a:rPr>
              <a:t> </a:t>
            </a:r>
            <a:r>
              <a:rPr lang="en-US" b="1" dirty="0" smtClean="0">
                <a:latin typeface="cmsy10" charset="0"/>
                <a:cs typeface="+mn-cs"/>
              </a:rPr>
              <a:t>in</a:t>
            </a:r>
            <a:r>
              <a:rPr lang="en-US" dirty="0" smtClean="0">
                <a:latin typeface="+mn-lt"/>
                <a:cs typeface="+mn-cs"/>
              </a:rPr>
              <a:t> </a:t>
            </a:r>
            <a:r>
              <a:rPr lang="en-US" dirty="0">
                <a:latin typeface="+mn-lt"/>
                <a:cs typeface="+mn-cs"/>
              </a:rPr>
              <a:t>{0,1}</a:t>
            </a:r>
            <a:br>
              <a:rPr lang="en-US" dirty="0">
                <a:latin typeface="+mn-lt"/>
                <a:cs typeface="+mn-cs"/>
              </a:rPr>
            </a:br>
            <a:r>
              <a:rPr lang="en-US" dirty="0">
                <a:latin typeface="+mn-lt"/>
                <a:cs typeface="+mn-cs"/>
              </a:rPr>
              <a:t>     </a:t>
            </a:r>
            <a:r>
              <a:rPr lang="en-US" b="1" dirty="0">
                <a:latin typeface="+mn-lt"/>
                <a:cs typeface="+mn-cs"/>
              </a:rPr>
              <a:t>if</a:t>
            </a:r>
            <a:r>
              <a:rPr lang="en-US" dirty="0">
                <a:latin typeface="+mn-lt"/>
                <a:cs typeface="+mn-cs"/>
              </a:rPr>
              <a:t> E(X</a:t>
            </a:r>
            <a:r>
              <a:rPr lang="en-US" baseline="-25000" dirty="0">
                <a:latin typeface="+mn-lt"/>
                <a:cs typeface="+mn-cs"/>
              </a:rPr>
              <a:t>1</a:t>
            </a:r>
            <a:r>
              <a:rPr lang="en-US" dirty="0">
                <a:latin typeface="+mn-lt"/>
                <a:cs typeface="+mn-cs"/>
              </a:rPr>
              <a:t>, X</a:t>
            </a:r>
            <a:r>
              <a:rPr lang="en-US" baseline="-25000" dirty="0">
                <a:latin typeface="+mn-lt"/>
                <a:cs typeface="+mn-cs"/>
              </a:rPr>
              <a:t>2</a:t>
            </a:r>
            <a:r>
              <a:rPr lang="en-US" dirty="0">
                <a:latin typeface="+mn-lt"/>
                <a:cs typeface="+mn-cs"/>
              </a:rPr>
              <a:t>, X</a:t>
            </a:r>
            <a:r>
              <a:rPr lang="en-US" baseline="-25000" dirty="0">
                <a:latin typeface="+mn-lt"/>
                <a:cs typeface="+mn-cs"/>
              </a:rPr>
              <a:t>3</a:t>
            </a:r>
            <a:r>
              <a:rPr lang="en-US" dirty="0">
                <a:latin typeface="+mn-lt"/>
                <a:cs typeface="+mn-cs"/>
              </a:rPr>
              <a:t>) = 1 </a:t>
            </a:r>
            <a:br>
              <a:rPr lang="en-US" dirty="0">
                <a:latin typeface="+mn-lt"/>
                <a:cs typeface="+mn-cs"/>
              </a:rPr>
            </a:br>
            <a:r>
              <a:rPr lang="en-US" dirty="0">
                <a:latin typeface="+mn-lt"/>
                <a:cs typeface="+mn-cs"/>
              </a:rPr>
              <a:t>           </a:t>
            </a:r>
            <a:r>
              <a:rPr lang="en-US" b="1" dirty="0">
                <a:latin typeface="+mn-lt"/>
                <a:cs typeface="+mn-cs"/>
              </a:rPr>
              <a:t>then</a:t>
            </a:r>
            <a:r>
              <a:rPr lang="en-US" dirty="0">
                <a:latin typeface="+mn-lt"/>
                <a:cs typeface="+mn-cs"/>
              </a:rPr>
              <a:t> </a:t>
            </a:r>
            <a:r>
              <a:rPr lang="en-US" dirty="0" err="1">
                <a:latin typeface="+mn-lt"/>
                <a:cs typeface="+mn-cs"/>
              </a:rPr>
              <a:t>Cnt</a:t>
            </a:r>
            <a:r>
              <a:rPr lang="en-US" dirty="0">
                <a:latin typeface="+mn-lt"/>
                <a:cs typeface="+mn-cs"/>
              </a:rPr>
              <a:t> = Cnt+1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P = </a:t>
            </a:r>
            <a:r>
              <a:rPr lang="en-US" dirty="0" err="1">
                <a:latin typeface="+mn-lt"/>
                <a:cs typeface="+mn-cs"/>
              </a:rPr>
              <a:t>Cnt</a:t>
            </a:r>
            <a:r>
              <a:rPr lang="en-US" dirty="0">
                <a:latin typeface="+mn-lt"/>
                <a:cs typeface="+mn-cs"/>
              </a:rPr>
              <a:t>/N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return</a:t>
            </a:r>
            <a:r>
              <a:rPr lang="en-US" dirty="0">
                <a:latin typeface="+mn-lt"/>
                <a:cs typeface="+mn-cs"/>
              </a:rPr>
              <a:t> P /*   </a:t>
            </a:r>
            <a:r>
              <a:rPr lang="en-US" dirty="0">
                <a:latin typeface="cmsy10" charset="0"/>
                <a:cs typeface="+mn-cs"/>
              </a:rPr>
              <a:t>'</a:t>
            </a:r>
            <a:r>
              <a:rPr lang="en-US" dirty="0">
                <a:latin typeface="+mn-lt"/>
                <a:cs typeface="+mn-cs"/>
              </a:rPr>
              <a:t> Pr(E) */</a:t>
            </a:r>
          </a:p>
        </p:txBody>
      </p:sp>
      <p:sp>
        <p:nvSpPr>
          <p:cNvPr id="276486" name="Rectangle 6"/>
          <p:cNvSpPr>
            <a:spLocks noChangeArrowheads="1"/>
          </p:cNvSpPr>
          <p:nvPr/>
        </p:nvSpPr>
        <p:spPr bwMode="auto">
          <a:xfrm>
            <a:off x="685800" y="5562600"/>
            <a:ext cx="7924800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>
                <a:latin typeface="+mn-lt"/>
                <a:cs typeface="+mn-cs"/>
              </a:rPr>
              <a:t>(0/1)-Estimator Theorem</a:t>
            </a:r>
            <a:r>
              <a:rPr lang="en-US" dirty="0" smtClean="0">
                <a:latin typeface="+mn-lt"/>
                <a:cs typeface="+mn-cs"/>
              </a:rPr>
              <a:t>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latin typeface="+mn-lt"/>
                <a:cs typeface="+mn-cs"/>
              </a:rPr>
              <a:t>If                                                          then</a:t>
            </a:r>
            <a:endParaRPr lang="en-US" b="1" dirty="0" smtClean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latin typeface="+mn-lt"/>
                <a:cs typeface="+mn-cs"/>
              </a:rPr>
              <a:t> </a:t>
            </a:r>
            <a:endParaRPr lang="en-US" dirty="0">
              <a:latin typeface="+mn-lt"/>
              <a:cs typeface="+mn-cs"/>
            </a:endParaRPr>
          </a:p>
        </p:txBody>
      </p:sp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6553200" y="1828800"/>
            <a:ext cx="2438400" cy="2438400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0969" name="Oval 9"/>
          <p:cNvSpPr>
            <a:spLocks noChangeArrowheads="1"/>
          </p:cNvSpPr>
          <p:nvPr/>
        </p:nvSpPr>
        <p:spPr bwMode="auto">
          <a:xfrm>
            <a:off x="7086600" y="2438400"/>
            <a:ext cx="9144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1</a:t>
            </a:r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2</a:t>
            </a:r>
          </a:p>
        </p:txBody>
      </p:sp>
      <p:sp>
        <p:nvSpPr>
          <p:cNvPr id="40970" name="Oval 10"/>
          <p:cNvSpPr>
            <a:spLocks noChangeArrowheads="1"/>
          </p:cNvSpPr>
          <p:nvPr/>
        </p:nvSpPr>
        <p:spPr bwMode="auto">
          <a:xfrm>
            <a:off x="7772400" y="2438400"/>
            <a:ext cx="9144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1</a:t>
            </a:r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3</a:t>
            </a:r>
          </a:p>
        </p:txBody>
      </p:sp>
      <p:sp>
        <p:nvSpPr>
          <p:cNvPr id="40971" name="Oval 11"/>
          <p:cNvSpPr>
            <a:spLocks noChangeArrowheads="1"/>
          </p:cNvSpPr>
          <p:nvPr/>
        </p:nvSpPr>
        <p:spPr bwMode="auto">
          <a:xfrm>
            <a:off x="7543800" y="2895600"/>
            <a:ext cx="9144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2</a:t>
            </a:r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3</a:t>
            </a:r>
          </a:p>
        </p:txBody>
      </p:sp>
      <p:sp>
        <p:nvSpPr>
          <p:cNvPr id="40972" name="Rectangle 12"/>
          <p:cNvSpPr>
            <a:spLocks noChangeArrowheads="1"/>
          </p:cNvSpPr>
          <p:nvPr/>
        </p:nvSpPr>
        <p:spPr bwMode="auto">
          <a:xfrm>
            <a:off x="460375" y="1344613"/>
            <a:ext cx="995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alibri" pitchFamily="34" charset="0"/>
              </a:rPr>
              <a:t>Naïve:</a:t>
            </a:r>
          </a:p>
        </p:txBody>
      </p:sp>
      <p:sp>
        <p:nvSpPr>
          <p:cNvPr id="276494" name="AutoShape 14"/>
          <p:cNvSpPr>
            <a:spLocks noChangeArrowheads="1"/>
          </p:cNvSpPr>
          <p:nvPr/>
        </p:nvSpPr>
        <p:spPr bwMode="auto">
          <a:xfrm>
            <a:off x="4038600" y="3881199"/>
            <a:ext cx="3200400" cy="91940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</a:rPr>
              <a:t>Good: Works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</a:rPr>
              <a:t>for any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</a:rPr>
              <a:t>E 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</a:rPr>
              <a:t>(not just DNF)</a:t>
            </a:r>
            <a:endParaRPr lang="en-US" sz="2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7" name="Rectangle 34"/>
          <p:cNvSpPr>
            <a:spLocks noChangeArrowheads="1"/>
          </p:cNvSpPr>
          <p:nvPr/>
        </p:nvSpPr>
        <p:spPr bwMode="auto">
          <a:xfrm>
            <a:off x="0" y="0"/>
            <a:ext cx="323056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[Karp,Luby&amp;Madras’89]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1219200" y="1371600"/>
          <a:ext cx="3200400" cy="457200"/>
        </p:xfrm>
        <a:graphic>
          <a:graphicData uri="http://schemas.openxmlformats.org/presentationml/2006/ole">
            <p:oleObj spid="_x0000_s118786" name="Equation" r:id="rId4" imgW="1600200" imgH="228600" progId="Equation.DSMT4">
              <p:embed/>
            </p:oleObj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1014413" y="5932630"/>
          <a:ext cx="2719387" cy="772970"/>
        </p:xfrm>
        <a:graphic>
          <a:graphicData uri="http://schemas.openxmlformats.org/presentationml/2006/ole">
            <p:oleObj spid="_x0000_s118787" name="Equation" r:id="rId5" imgW="1384200" imgH="393480" progId="Equation.DSMT4">
              <p:embed/>
            </p:oleObj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4781550" y="6002338"/>
          <a:ext cx="3468688" cy="477837"/>
        </p:xfrm>
        <a:graphic>
          <a:graphicData uri="http://schemas.openxmlformats.org/presentationml/2006/ole">
            <p:oleObj spid="_x0000_s118788" name="Equation" r:id="rId6" imgW="1473120" imgH="203040" progId="Equation.DSMT4">
              <p:embed/>
            </p:oleObj>
          </a:graphicData>
        </a:graphic>
      </p:graphicFrame>
      <p:sp>
        <p:nvSpPr>
          <p:cNvPr id="276487" name="AutoShape 7"/>
          <p:cNvSpPr>
            <a:spLocks noChangeArrowheads="1"/>
          </p:cNvSpPr>
          <p:nvPr/>
        </p:nvSpPr>
        <p:spPr bwMode="auto">
          <a:xfrm>
            <a:off x="4419600" y="4953000"/>
            <a:ext cx="3239721" cy="1168539"/>
          </a:xfrm>
          <a:prstGeom prst="wedgeEllipseCallout">
            <a:avLst>
              <a:gd name="adj1" fmla="val -118157"/>
              <a:gd name="adj2" fmla="val 5332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libri" pitchFamily="34" charset="0"/>
              </a:rPr>
              <a:t>May be very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</a:rPr>
              <a:t>big </a:t>
            </a:r>
          </a:p>
          <a:p>
            <a:pPr algn="ctr"/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</a:rPr>
              <a:t>(Pr(E) very small)</a:t>
            </a:r>
            <a:endParaRPr lang="en-US" sz="2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781800" y="3200400"/>
            <a:ext cx="228600" cy="228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7086600" y="3505200"/>
            <a:ext cx="228600" cy="228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7620000" y="2057400"/>
            <a:ext cx="228600" cy="228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772400" y="3886200"/>
            <a:ext cx="228600" cy="228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04800" y="4655403"/>
            <a:ext cx="365760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Bad: Many samples (N) until get a sat assignment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4343400" y="2743200"/>
            <a:ext cx="1219200" cy="46166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sample</a:t>
            </a:r>
            <a:endParaRPr lang="en-US" sz="2400" dirty="0"/>
          </a:p>
        </p:txBody>
      </p:sp>
      <p:cxnSp>
        <p:nvCxnSpPr>
          <p:cNvPr id="28" name="Straight Arrow Connector 27"/>
          <p:cNvCxnSpPr>
            <a:stCxn id="26" idx="3"/>
            <a:endCxn id="21" idx="2"/>
          </p:cNvCxnSpPr>
          <p:nvPr/>
        </p:nvCxnSpPr>
        <p:spPr>
          <a:xfrm>
            <a:off x="5562600" y="2974033"/>
            <a:ext cx="1219200" cy="340667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772400" y="3048000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3581400" y="1905000"/>
            <a:ext cx="3048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Estimate Pr[E] = 1/6</a:t>
            </a:r>
            <a:endParaRPr lang="en-US" sz="2400" dirty="0"/>
          </a:p>
        </p:txBody>
      </p:sp>
      <p:sp>
        <p:nvSpPr>
          <p:cNvPr id="31" name="Oval 30"/>
          <p:cNvSpPr/>
          <p:nvPr/>
        </p:nvSpPr>
        <p:spPr>
          <a:xfrm>
            <a:off x="6019800" y="1828800"/>
            <a:ext cx="228600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4400" y="3352800"/>
            <a:ext cx="228600" cy="228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7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7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7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5" grpId="0" animBg="1" autoUpdateAnimBg="0"/>
      <p:bldP spid="276486" grpId="0" animBg="1" autoUpdateAnimBg="0"/>
      <p:bldP spid="276494" grpId="0" animBg="1" autoUpdateAnimBg="0"/>
      <p:bldP spid="276487" grpId="0" animBg="1" autoUpdateAnimBg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C2F4CF-5095-4ECE-80EF-74863748292F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Monte Carlo Simulation</a:t>
            </a:r>
          </a:p>
        </p:txBody>
      </p:sp>
      <p:sp>
        <p:nvSpPr>
          <p:cNvPr id="276486" name="Rectangle 6"/>
          <p:cNvSpPr>
            <a:spLocks noChangeArrowheads="1"/>
          </p:cNvSpPr>
          <p:nvPr/>
        </p:nvSpPr>
        <p:spPr bwMode="auto">
          <a:xfrm>
            <a:off x="685800" y="5562600"/>
            <a:ext cx="7924800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err="1" smtClean="0">
                <a:latin typeface="+mn-lt"/>
                <a:cs typeface="+mn-cs"/>
              </a:rPr>
              <a:t>Luby</a:t>
            </a:r>
            <a:r>
              <a:rPr lang="en-US" b="1" dirty="0" smtClean="0">
                <a:latin typeface="+mn-lt"/>
                <a:cs typeface="+mn-cs"/>
              </a:rPr>
              <a:t>-Karp Theorem</a:t>
            </a:r>
            <a:r>
              <a:rPr lang="en-US" dirty="0" smtClean="0">
                <a:latin typeface="+mn-lt"/>
                <a:cs typeface="+mn-cs"/>
              </a:rPr>
              <a:t>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latin typeface="+mn-lt"/>
                <a:cs typeface="+mn-cs"/>
              </a:rPr>
              <a:t>If                                                          then</a:t>
            </a:r>
            <a:endParaRPr lang="en-US" b="1" dirty="0" smtClean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latin typeface="+mn-lt"/>
                <a:cs typeface="+mn-cs"/>
              </a:rPr>
              <a:t> </a:t>
            </a:r>
            <a:endParaRPr lang="en-US" dirty="0">
              <a:latin typeface="+mn-lt"/>
              <a:cs typeface="+mn-cs"/>
            </a:endParaRPr>
          </a:p>
        </p:txBody>
      </p:sp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6553200" y="1828800"/>
            <a:ext cx="2438400" cy="2438400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0969" name="Oval 9"/>
          <p:cNvSpPr>
            <a:spLocks noChangeArrowheads="1"/>
          </p:cNvSpPr>
          <p:nvPr/>
        </p:nvSpPr>
        <p:spPr bwMode="auto">
          <a:xfrm>
            <a:off x="7086600" y="2438400"/>
            <a:ext cx="914400" cy="762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1</a:t>
            </a:r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2</a:t>
            </a:r>
          </a:p>
        </p:txBody>
      </p:sp>
      <p:sp>
        <p:nvSpPr>
          <p:cNvPr id="40970" name="Oval 10"/>
          <p:cNvSpPr>
            <a:spLocks noChangeArrowheads="1"/>
          </p:cNvSpPr>
          <p:nvPr/>
        </p:nvSpPr>
        <p:spPr bwMode="auto">
          <a:xfrm>
            <a:off x="7772400" y="2438400"/>
            <a:ext cx="914400" cy="762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1</a:t>
            </a:r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3</a:t>
            </a:r>
          </a:p>
        </p:txBody>
      </p:sp>
      <p:sp>
        <p:nvSpPr>
          <p:cNvPr id="40971" name="Oval 11"/>
          <p:cNvSpPr>
            <a:spLocks noChangeArrowheads="1"/>
          </p:cNvSpPr>
          <p:nvPr/>
        </p:nvSpPr>
        <p:spPr bwMode="auto">
          <a:xfrm>
            <a:off x="7543800" y="2895600"/>
            <a:ext cx="914400" cy="762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2</a:t>
            </a:r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3</a:t>
            </a:r>
          </a:p>
        </p:txBody>
      </p:sp>
      <p:sp>
        <p:nvSpPr>
          <p:cNvPr id="40972" name="Rectangle 12"/>
          <p:cNvSpPr>
            <a:spLocks noChangeArrowheads="1"/>
          </p:cNvSpPr>
          <p:nvPr/>
        </p:nvSpPr>
        <p:spPr bwMode="auto">
          <a:xfrm>
            <a:off x="76200" y="1344613"/>
            <a:ext cx="11474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latin typeface="Calibri" pitchFamily="34" charset="0"/>
              </a:rPr>
              <a:t>Improved: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17" name="Rectangle 34"/>
          <p:cNvSpPr>
            <a:spLocks noChangeArrowheads="1"/>
          </p:cNvSpPr>
          <p:nvPr/>
        </p:nvSpPr>
        <p:spPr bwMode="auto">
          <a:xfrm>
            <a:off x="0" y="0"/>
            <a:ext cx="323056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[Karp,Luby&amp;Madras’89]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1219200" y="1371600"/>
          <a:ext cx="3200400" cy="457200"/>
        </p:xfrm>
        <a:graphic>
          <a:graphicData uri="http://schemas.openxmlformats.org/presentationml/2006/ole">
            <p:oleObj spid="_x0000_s119810" name="Equation" r:id="rId4" imgW="1600200" imgH="228600" progId="Equation.DSMT4">
              <p:embed/>
            </p:oleObj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1381125" y="5932488"/>
          <a:ext cx="1971675" cy="773112"/>
        </p:xfrm>
        <a:graphic>
          <a:graphicData uri="http://schemas.openxmlformats.org/presentationml/2006/ole">
            <p:oleObj spid="_x0000_s119811" name="Equation" r:id="rId5" imgW="1002960" imgH="393480" progId="Equation.DSMT4">
              <p:embed/>
            </p:oleObj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4781550" y="6002338"/>
          <a:ext cx="3468688" cy="477837"/>
        </p:xfrm>
        <a:graphic>
          <a:graphicData uri="http://schemas.openxmlformats.org/presentationml/2006/ole">
            <p:oleObj spid="_x0000_s119812" name="Equation" r:id="rId6" imgW="1473120" imgH="203040" progId="Equation.DSMT4">
              <p:embed/>
            </p:oleObj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6200" y="1992868"/>
            <a:ext cx="5943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u="sng" dirty="0" smtClean="0"/>
              <a:t>Key idea</a:t>
            </a:r>
            <a:r>
              <a:rPr lang="en-US" sz="2400" dirty="0" smtClean="0"/>
              <a:t>: Estimate </a:t>
            </a:r>
            <a:r>
              <a:rPr lang="en-US" sz="2400" i="1" dirty="0" smtClean="0"/>
              <a:t>overlap</a:t>
            </a:r>
            <a:r>
              <a:rPr lang="en-US" sz="2400" dirty="0" smtClean="0"/>
              <a:t> of SAT assigns</a:t>
            </a:r>
            <a:endParaRPr lang="en-US" sz="2400" dirty="0"/>
          </a:p>
        </p:txBody>
      </p:sp>
      <p:sp>
        <p:nvSpPr>
          <p:cNvPr id="24" name="Oval 8"/>
          <p:cNvSpPr>
            <a:spLocks noChangeArrowheads="1"/>
          </p:cNvSpPr>
          <p:nvPr/>
        </p:nvSpPr>
        <p:spPr bwMode="auto">
          <a:xfrm>
            <a:off x="6553200" y="1828800"/>
            <a:ext cx="2438400" cy="2438400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5" name="Oval 9"/>
          <p:cNvSpPr>
            <a:spLocks noChangeArrowheads="1"/>
          </p:cNvSpPr>
          <p:nvPr/>
        </p:nvSpPr>
        <p:spPr bwMode="auto">
          <a:xfrm>
            <a:off x="7086600" y="2438400"/>
            <a:ext cx="9144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1</a:t>
            </a:r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2</a:t>
            </a:r>
          </a:p>
        </p:txBody>
      </p:sp>
      <p:sp>
        <p:nvSpPr>
          <p:cNvPr id="26" name="Oval 10"/>
          <p:cNvSpPr>
            <a:spLocks noChangeArrowheads="1"/>
          </p:cNvSpPr>
          <p:nvPr/>
        </p:nvSpPr>
        <p:spPr bwMode="auto">
          <a:xfrm>
            <a:off x="7772400" y="2438400"/>
            <a:ext cx="9144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1</a:t>
            </a:r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3</a:t>
            </a:r>
          </a:p>
        </p:txBody>
      </p:sp>
      <p:sp>
        <p:nvSpPr>
          <p:cNvPr id="27" name="Oval 11"/>
          <p:cNvSpPr>
            <a:spLocks noChangeArrowheads="1"/>
          </p:cNvSpPr>
          <p:nvPr/>
        </p:nvSpPr>
        <p:spPr bwMode="auto">
          <a:xfrm>
            <a:off x="7543800" y="2895600"/>
            <a:ext cx="9144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2</a:t>
            </a:r>
            <a:r>
              <a:rPr lang="en-US" sz="1600">
                <a:latin typeface="Calibri" pitchFamily="34" charset="0"/>
              </a:rPr>
              <a:t>X</a:t>
            </a:r>
            <a:r>
              <a:rPr lang="en-US" sz="1600" baseline="-25000">
                <a:latin typeface="Calibri" pitchFamily="34" charset="0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67400" y="1143000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</a:rPr>
              <a:t>Samples from here</a:t>
            </a:r>
            <a:endParaRPr lang="en-US" sz="2000" b="1" dirty="0">
              <a:solidFill>
                <a:srgbClr val="FF0000"/>
              </a:solidFill>
            </a:endParaRPr>
          </a:p>
        </p:txBody>
      </p:sp>
      <p:cxnSp>
        <p:nvCxnSpPr>
          <p:cNvPr id="31" name="Straight Arrow Connector 30"/>
          <p:cNvCxnSpPr>
            <a:endCxn id="25" idx="7"/>
          </p:cNvCxnSpPr>
          <p:nvPr/>
        </p:nvCxnSpPr>
        <p:spPr>
          <a:xfrm rot="16200000" flipH="1">
            <a:off x="7078148" y="1761051"/>
            <a:ext cx="949792" cy="628089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utoShape 7"/>
          <p:cNvSpPr>
            <a:spLocks noChangeArrowheads="1"/>
          </p:cNvSpPr>
          <p:nvPr/>
        </p:nvSpPr>
        <p:spPr bwMode="auto">
          <a:xfrm>
            <a:off x="-228600" y="4800600"/>
            <a:ext cx="2354661" cy="649188"/>
          </a:xfrm>
          <a:prstGeom prst="wedgeEllipseCallout">
            <a:avLst>
              <a:gd name="adj1" fmla="val 40564"/>
              <a:gd name="adj2" fmla="val 13990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</a:rPr>
              <a:t>Better now!</a:t>
            </a:r>
            <a:endParaRPr lang="en-US" sz="2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4" name="AutoShape 14"/>
          <p:cNvSpPr>
            <a:spLocks noChangeArrowheads="1"/>
          </p:cNvSpPr>
          <p:nvPr/>
        </p:nvSpPr>
        <p:spPr bwMode="auto">
          <a:xfrm>
            <a:off x="2116602" y="4899422"/>
            <a:ext cx="6951198" cy="51077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2400" b="1" u="sng" dirty="0" smtClean="0">
                <a:solidFill>
                  <a:schemeClr val="bg1"/>
                </a:solidFill>
                <a:latin typeface="Calibri" pitchFamily="34" charset="0"/>
              </a:rPr>
              <a:t>Bottom Line</a:t>
            </a: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</a:rPr>
              <a:t>: if E from SFW query, efficient technique</a:t>
            </a:r>
            <a:endParaRPr lang="en-US" sz="24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2762071"/>
            <a:ext cx="586740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1. Pick a monomial (randomly) – satisfy it</a:t>
            </a:r>
          </a:p>
          <a:p>
            <a:r>
              <a:rPr lang="en-US" sz="2400" dirty="0" smtClean="0"/>
              <a:t>2. Pick other </a:t>
            </a:r>
            <a:r>
              <a:rPr lang="en-US" sz="2400" dirty="0" err="1" smtClean="0"/>
              <a:t>vars</a:t>
            </a:r>
            <a:r>
              <a:rPr lang="en-US" sz="2400" dirty="0" smtClean="0"/>
              <a:t> randomly</a:t>
            </a:r>
          </a:p>
          <a:p>
            <a:r>
              <a:rPr lang="en-US" sz="2400" dirty="0" smtClean="0"/>
              <a:t>3. Count </a:t>
            </a:r>
            <a:r>
              <a:rPr lang="en-US" sz="2400" i="1" dirty="0" smtClean="0"/>
              <a:t>overlap</a:t>
            </a:r>
            <a:endParaRPr lang="en-US" sz="2400" i="1" dirty="0"/>
          </a:p>
        </p:txBody>
      </p:sp>
      <p:sp>
        <p:nvSpPr>
          <p:cNvPr id="30" name="Oval 29"/>
          <p:cNvSpPr/>
          <p:nvPr/>
        </p:nvSpPr>
        <p:spPr>
          <a:xfrm>
            <a:off x="1676400" y="1219200"/>
            <a:ext cx="685800" cy="685800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772400" y="2667000"/>
            <a:ext cx="228600" cy="228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28600" y="4338935"/>
            <a:ext cx="3886200" cy="46166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 2 sets, so contributes ½ </a:t>
            </a:r>
            <a:endParaRPr lang="en-US" sz="2400" dirty="0"/>
          </a:p>
        </p:txBody>
      </p:sp>
      <p:sp>
        <p:nvSpPr>
          <p:cNvPr id="36" name="Right Arrow 35"/>
          <p:cNvSpPr/>
          <p:nvPr/>
        </p:nvSpPr>
        <p:spPr>
          <a:xfrm>
            <a:off x="0" y="2895600"/>
            <a:ext cx="381000" cy="2286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343400" y="4338935"/>
            <a:ext cx="4267200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NB: Because DNF still </a:t>
            </a:r>
            <a:r>
              <a:rPr lang="en-US" sz="2400" dirty="0" err="1" smtClean="0"/>
              <a:t>sats</a:t>
            </a:r>
            <a:r>
              <a:rPr lang="en-US" sz="2400" dirty="0" smtClean="0"/>
              <a:t> E</a:t>
            </a:r>
            <a:endParaRPr lang="en-US" sz="2400" dirty="0"/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rot="16200000" flipV="1">
            <a:off x="4953000" y="2814935"/>
            <a:ext cx="914400" cy="21336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3.33333E-6 0.06111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6111 L -3.33333E-6 0.1166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6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/>
      <p:bldP spid="33" grpId="0" animBg="1" autoUpdateAnimBg="0"/>
      <p:bldP spid="34" grpId="0" animBg="1" autoUpdateAnimBg="0"/>
      <p:bldP spid="28" grpId="0" animBg="1"/>
      <p:bldP spid="30" grpId="0" animBg="1"/>
      <p:bldP spid="32" grpId="0" animBg="1"/>
      <p:bldP spid="35" grpId="0" animBg="1"/>
      <p:bldP spid="36" grpId="0" animBg="1"/>
      <p:bldP spid="36" grpId="1" animBg="1"/>
      <p:bldP spid="36" grpId="2" animBg="1"/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Basic Query Processing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SELECT-FROM-WHERE Queries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Compiling Safe Queries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Unsafe Queries (Sampling)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Top-K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Aggregation Queries + Probabilities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Top-K + Measures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OLAP Queries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HAVING Queries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8600" y="3124200"/>
            <a:ext cx="609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Motivation for Top-K for SFW queries</a:t>
            </a:r>
            <a:endParaRPr lang="en-US" dirty="0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 smtClean="0"/>
              <a:t>LK is fast in theory…</a:t>
            </a:r>
          </a:p>
          <a:p>
            <a:pPr eaLnBrk="1" hangingPunct="1">
              <a:buNone/>
            </a:pPr>
            <a:endParaRPr lang="en-US" dirty="0" smtClean="0"/>
          </a:p>
          <a:p>
            <a:pPr eaLnBrk="1" hangingPunct="1"/>
            <a:endParaRPr lang="en-US" dirty="0" smtClean="0"/>
          </a:p>
        </p:txBody>
      </p:sp>
      <p:sp>
        <p:nvSpPr>
          <p:cNvPr id="4" name="Rectangle 34"/>
          <p:cNvSpPr>
            <a:spLocks noChangeArrowheads="1"/>
          </p:cNvSpPr>
          <p:nvPr/>
        </p:nvSpPr>
        <p:spPr bwMode="auto">
          <a:xfrm>
            <a:off x="0" y="0"/>
            <a:ext cx="20304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[R,Dalvi&amp;S’07]</a:t>
            </a:r>
          </a:p>
        </p:txBody>
      </p:sp>
      <p:pic>
        <p:nvPicPr>
          <p:cNvPr id="5" name="Picture 26" descr="alice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936954"/>
            <a:ext cx="1704577" cy="2311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17"/>
          <p:cNvSpPr>
            <a:spLocks noChangeArrowheads="1"/>
          </p:cNvSpPr>
          <p:nvPr/>
        </p:nvSpPr>
        <p:spPr bwMode="auto">
          <a:xfrm>
            <a:off x="609600" y="2108154"/>
            <a:ext cx="3962400" cy="1328023"/>
          </a:xfrm>
          <a:prstGeom prst="wedgeRoundRectCallout">
            <a:avLst>
              <a:gd name="adj1" fmla="val -35093"/>
              <a:gd name="adj2" fmla="val 6864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>
                <a:latin typeface="Calibri" pitchFamily="34" charset="0"/>
              </a:rPr>
              <a:t>Find </a:t>
            </a:r>
            <a:r>
              <a:rPr lang="en-US" sz="2400" dirty="0" smtClean="0">
                <a:latin typeface="Calibri" pitchFamily="34" charset="0"/>
              </a:rPr>
              <a:t>the top actor in Pulp </a:t>
            </a:r>
            <a:r>
              <a:rPr lang="en-US" sz="2400" dirty="0">
                <a:latin typeface="Calibri" pitchFamily="34" charset="0"/>
              </a:rPr>
              <a:t>Fiction </a:t>
            </a:r>
            <a:r>
              <a:rPr lang="en-US" sz="2400" dirty="0" smtClean="0">
                <a:latin typeface="Calibri" pitchFamily="34" charset="0"/>
              </a:rPr>
              <a:t>who appeared </a:t>
            </a:r>
            <a:r>
              <a:rPr lang="en-US" sz="2400" dirty="0">
                <a:latin typeface="Calibri" pitchFamily="34" charset="0"/>
              </a:rPr>
              <a:t>in two </a:t>
            </a:r>
            <a:r>
              <a:rPr lang="en-US" sz="2400" i="1" dirty="0">
                <a:latin typeface="Calibri" pitchFamily="34" charset="0"/>
              </a:rPr>
              <a:t>bad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smtClean="0">
                <a:latin typeface="Calibri" pitchFamily="34" charset="0"/>
              </a:rPr>
              <a:t>movies five </a:t>
            </a:r>
            <a:r>
              <a:rPr lang="en-US" sz="2400" dirty="0">
                <a:latin typeface="Calibri" pitchFamily="34" charset="0"/>
              </a:rPr>
              <a:t>years earlier</a:t>
            </a:r>
          </a:p>
        </p:txBody>
      </p:sp>
      <p:cxnSp>
        <p:nvCxnSpPr>
          <p:cNvPr id="9" name="Straight Connector 14"/>
          <p:cNvCxnSpPr>
            <a:cxnSpLocks noChangeShapeType="1"/>
          </p:cNvCxnSpPr>
          <p:nvPr/>
        </p:nvCxnSpPr>
        <p:spPr bwMode="auto">
          <a:xfrm rot="5400000">
            <a:off x="1523207" y="5028406"/>
            <a:ext cx="22860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" name="Straight Connector 15"/>
          <p:cNvCxnSpPr>
            <a:cxnSpLocks noChangeShapeType="1"/>
          </p:cNvCxnSpPr>
          <p:nvPr/>
        </p:nvCxnSpPr>
        <p:spPr bwMode="auto">
          <a:xfrm rot="5400000">
            <a:off x="6095207" y="5028406"/>
            <a:ext cx="22860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" name="Straight Connector 16"/>
          <p:cNvCxnSpPr>
            <a:cxnSpLocks noChangeShapeType="1"/>
          </p:cNvCxnSpPr>
          <p:nvPr/>
        </p:nvCxnSpPr>
        <p:spPr bwMode="auto">
          <a:xfrm>
            <a:off x="2057400" y="4038600"/>
            <a:ext cx="54102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2" name="TextBox 17"/>
          <p:cNvSpPr txBox="1">
            <a:spLocks noChangeArrowheads="1"/>
          </p:cNvSpPr>
          <p:nvPr/>
        </p:nvSpPr>
        <p:spPr bwMode="auto">
          <a:xfrm>
            <a:off x="2362200" y="3352800"/>
            <a:ext cx="60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0.0</a:t>
            </a: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6934200" y="3352800"/>
            <a:ext cx="685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1.0</a:t>
            </a:r>
          </a:p>
        </p:txBody>
      </p:sp>
      <p:sp>
        <p:nvSpPr>
          <p:cNvPr id="14" name="Rounded Rectangle 13"/>
          <p:cNvSpPr>
            <a:spLocks noChangeArrowheads="1"/>
          </p:cNvSpPr>
          <p:nvPr/>
        </p:nvSpPr>
        <p:spPr bwMode="auto">
          <a:xfrm>
            <a:off x="2667000" y="4267200"/>
            <a:ext cx="45720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5" name="Rounded Rectangle 14"/>
          <p:cNvSpPr>
            <a:spLocks noChangeArrowheads="1"/>
          </p:cNvSpPr>
          <p:nvPr/>
        </p:nvSpPr>
        <p:spPr bwMode="auto">
          <a:xfrm>
            <a:off x="2667000" y="4724400"/>
            <a:ext cx="45720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6" name="Rounded Rectangle 15"/>
          <p:cNvSpPr>
            <a:spLocks noChangeArrowheads="1"/>
          </p:cNvSpPr>
          <p:nvPr/>
        </p:nvSpPr>
        <p:spPr bwMode="auto">
          <a:xfrm>
            <a:off x="2667000" y="5257800"/>
            <a:ext cx="45720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7" name="Rounded Rectangle 16"/>
          <p:cNvSpPr>
            <a:spLocks noChangeArrowheads="1"/>
          </p:cNvSpPr>
          <p:nvPr/>
        </p:nvSpPr>
        <p:spPr bwMode="auto">
          <a:xfrm>
            <a:off x="2667000" y="5791200"/>
            <a:ext cx="45720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8" name="Line Callout 3 (Border and Accent Bar) 17"/>
          <p:cNvSpPr>
            <a:spLocks/>
          </p:cNvSpPr>
          <p:nvPr/>
        </p:nvSpPr>
        <p:spPr bwMode="auto">
          <a:xfrm>
            <a:off x="6096000" y="3581400"/>
            <a:ext cx="228600" cy="304800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246296"/>
              <a:gd name="adj8" fmla="val 1241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/>
              <a:t>1</a:t>
            </a:r>
          </a:p>
        </p:txBody>
      </p:sp>
      <p:sp>
        <p:nvSpPr>
          <p:cNvPr id="19" name="Line Callout 3 (Border and Accent Bar) 18"/>
          <p:cNvSpPr>
            <a:spLocks/>
          </p:cNvSpPr>
          <p:nvPr/>
        </p:nvSpPr>
        <p:spPr bwMode="auto">
          <a:xfrm>
            <a:off x="3733800" y="5105400"/>
            <a:ext cx="228600" cy="304800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246296"/>
              <a:gd name="adj8" fmla="val 1241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>
                <a:latin typeface="Calibri" pitchFamily="34" charset="0"/>
              </a:rPr>
              <a:t>3</a:t>
            </a:r>
            <a:endParaRPr lang="en-US"/>
          </a:p>
        </p:txBody>
      </p:sp>
      <p:sp>
        <p:nvSpPr>
          <p:cNvPr id="20" name="Line Callout 3 (Border and Accent Bar) 19"/>
          <p:cNvSpPr>
            <a:spLocks/>
          </p:cNvSpPr>
          <p:nvPr/>
        </p:nvSpPr>
        <p:spPr bwMode="auto">
          <a:xfrm>
            <a:off x="2971800" y="4114800"/>
            <a:ext cx="228600" cy="304800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246296"/>
              <a:gd name="adj8" fmla="val 1241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/>
              <a:t>4</a:t>
            </a:r>
          </a:p>
        </p:txBody>
      </p:sp>
      <p:sp>
        <p:nvSpPr>
          <p:cNvPr id="21" name="Line Callout 3 (Border and Accent Bar) 20"/>
          <p:cNvSpPr>
            <a:spLocks/>
          </p:cNvSpPr>
          <p:nvPr/>
        </p:nvSpPr>
        <p:spPr bwMode="auto">
          <a:xfrm>
            <a:off x="5334000" y="4572000"/>
            <a:ext cx="228600" cy="304800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246296"/>
              <a:gd name="adj8" fmla="val 1241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/>
              <a:t>2</a:t>
            </a:r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5638800" y="2590800"/>
            <a:ext cx="2833276" cy="523220"/>
          </a:xfrm>
          <a:prstGeom prst="rect">
            <a:avLst/>
          </a:prstGeom>
          <a:solidFill>
            <a:schemeClr val="tx2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libri" pitchFamily="34" charset="0"/>
              </a:rPr>
              <a:t>Can we do better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</a:rPr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24400" y="1676400"/>
            <a:ext cx="4267200" cy="523220"/>
          </a:xfrm>
          <a:prstGeom prst="rect">
            <a:avLst/>
          </a:prstGeom>
          <a:ln w="508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sz="2800" u="sng" dirty="0" smtClean="0"/>
              <a:t>Naïve</a:t>
            </a:r>
            <a:r>
              <a:rPr lang="en-US" sz="2800" dirty="0" smtClean="0"/>
              <a:t>: </a:t>
            </a:r>
            <a:r>
              <a:rPr lang="en-US" sz="2800" dirty="0" err="1" smtClean="0"/>
              <a:t>Sim</a:t>
            </a:r>
            <a:r>
              <a:rPr lang="en-US" sz="2800" dirty="0" smtClean="0"/>
              <a:t> until all small</a:t>
            </a:r>
            <a:endParaRPr lang="en-US" sz="2400" dirty="0" smtClean="0"/>
          </a:p>
        </p:txBody>
      </p:sp>
      <p:sp>
        <p:nvSpPr>
          <p:cNvPr id="34" name="TextBox 23"/>
          <p:cNvSpPr txBox="1">
            <a:spLocks noChangeArrowheads="1"/>
          </p:cNvSpPr>
          <p:nvPr/>
        </p:nvSpPr>
        <p:spPr bwMode="auto">
          <a:xfrm>
            <a:off x="7162800" y="4202112"/>
            <a:ext cx="2209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Calibri" pitchFamily="34" charset="0"/>
              </a:rPr>
              <a:t>Christopher </a:t>
            </a:r>
            <a:r>
              <a:rPr lang="en-US" dirty="0" err="1">
                <a:latin typeface="Calibri" pitchFamily="34" charset="0"/>
              </a:rPr>
              <a:t>Walken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35" name="TextBox 24"/>
          <p:cNvSpPr txBox="1">
            <a:spLocks noChangeArrowheads="1"/>
          </p:cNvSpPr>
          <p:nvPr/>
        </p:nvSpPr>
        <p:spPr bwMode="auto">
          <a:xfrm>
            <a:off x="7162800" y="5192712"/>
            <a:ext cx="2209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Harvey Keitel</a:t>
            </a:r>
          </a:p>
        </p:txBody>
      </p:sp>
      <p:sp>
        <p:nvSpPr>
          <p:cNvPr id="36" name="TextBox 25"/>
          <p:cNvSpPr txBox="1">
            <a:spLocks noChangeArrowheads="1"/>
          </p:cNvSpPr>
          <p:nvPr/>
        </p:nvSpPr>
        <p:spPr bwMode="auto">
          <a:xfrm>
            <a:off x="7162800" y="4659312"/>
            <a:ext cx="2209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Calibri" pitchFamily="34" charset="0"/>
              </a:rPr>
              <a:t>Samuel L. Jackson</a:t>
            </a:r>
          </a:p>
        </p:txBody>
      </p:sp>
      <p:sp>
        <p:nvSpPr>
          <p:cNvPr id="37" name="TextBox 26"/>
          <p:cNvSpPr txBox="1">
            <a:spLocks noChangeArrowheads="1"/>
          </p:cNvSpPr>
          <p:nvPr/>
        </p:nvSpPr>
        <p:spPr bwMode="auto">
          <a:xfrm>
            <a:off x="7162800" y="5726112"/>
            <a:ext cx="2286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Bruce Willis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" y="6324600"/>
            <a:ext cx="6477000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“Confidence intervals” contain true probability</a:t>
            </a:r>
            <a:endParaRPr lang="en-US" sz="2400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2000" fill="hold"/>
                                        <p:tgtEl>
                                          <p:spTgt spid="14"/>
                                        </p:tgtEl>
                                      </p:cBhvr>
                                      <p:by x="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833 0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2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-0.19167 3.33333E-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" dur="2000" fill="hold"/>
                                        <p:tgtEl>
                                          <p:spTgt spid="16"/>
                                        </p:tgtEl>
                                      </p:cBhvr>
                                      <p:by x="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075 -4.44444E-6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-0.1 -2.22222E-6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13" grpId="0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4" grpId="0"/>
      <p:bldP spid="35" grpId="0"/>
      <p:bldP spid="36" grpId="0"/>
      <p:bldP spid="3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 algn="ctr">
              <a:defRPr/>
            </a:pPr>
            <a:fld id="{291037F1-CC7A-4FEB-8351-6F0BB9FA516E}" type="slidenum">
              <a:rPr lang="en-US"/>
              <a:pPr algn="ctr">
                <a:defRPr/>
              </a:pPr>
              <a:t>45</a:t>
            </a:fld>
            <a:endParaRPr lang="en-US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A Better Method: Multisimulation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3886200"/>
          </a:xfrm>
        </p:spPr>
        <p:txBody>
          <a:bodyPr/>
          <a:lstStyle/>
          <a:p>
            <a:pPr eaLnBrk="1" hangingPunct="1"/>
            <a:r>
              <a:rPr lang="en-US" sz="2800" smtClean="0"/>
              <a:t>Separate Top-K with few simulations</a:t>
            </a:r>
          </a:p>
          <a:p>
            <a:pPr lvl="1" eaLnBrk="1" hangingPunct="1"/>
            <a:r>
              <a:rPr lang="en-US" sz="2400" smtClean="0"/>
              <a:t>Concentrate on intervals in Top-K</a:t>
            </a:r>
          </a:p>
          <a:p>
            <a:pPr lvl="1" eaLnBrk="1" hangingPunct="1"/>
            <a:r>
              <a:rPr lang="en-US" sz="2400" smtClean="0"/>
              <a:t>Asymptotically, confidence intervals are nested</a:t>
            </a:r>
          </a:p>
          <a:p>
            <a:pPr eaLnBrk="1" hangingPunct="1"/>
            <a:r>
              <a:rPr lang="en-US" sz="2800" smtClean="0"/>
              <a:t>Compare against </a:t>
            </a:r>
            <a:r>
              <a:rPr lang="en-US" sz="2800" i="1" smtClean="0">
                <a:latin typeface="Times" pitchFamily="18" charset="0"/>
              </a:rPr>
              <a:t>OPT: </a:t>
            </a:r>
            <a:r>
              <a:rPr lang="en-US" sz="2400" smtClean="0"/>
              <a:t>“knows” intervals to simulate</a:t>
            </a:r>
          </a:p>
          <a:p>
            <a:pPr eaLnBrk="1" hangingPunct="1"/>
            <a:endParaRPr lang="en-US" sz="2800" smtClean="0"/>
          </a:p>
        </p:txBody>
      </p:sp>
      <p:sp>
        <p:nvSpPr>
          <p:cNvPr id="46087" name="Footer Placeholder 5"/>
          <p:cNvSpPr txBox="1">
            <a:spLocks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/>
            <a:r>
              <a:rPr lang="en-US" sz="1200"/>
              <a:t>Evaluating Complex SQL on PDBs</a:t>
            </a:r>
          </a:p>
        </p:txBody>
      </p:sp>
      <p:sp>
        <p:nvSpPr>
          <p:cNvPr id="46088" name="Slide Number Placeholder 6"/>
          <p:cNvSpPr txBox="1">
            <a:spLocks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F7C3336-95F5-47FD-B068-63868061BBAB}" type="slidenum">
              <a:rPr lang="en-US" sz="1200">
                <a:latin typeface="Arial Black" pitchFamily="34" charset="0"/>
              </a:rPr>
              <a:pPr algn="r"/>
              <a:t>45</a:t>
            </a:fld>
            <a:endParaRPr lang="en-US" sz="1200">
              <a:latin typeface="Arial Black" pitchFamily="34" charset="0"/>
            </a:endParaRPr>
          </a:p>
        </p:txBody>
      </p:sp>
      <p:sp>
        <p:nvSpPr>
          <p:cNvPr id="46089" name="Date Placeholder 7"/>
          <p:cNvSpPr txBox="1">
            <a:spLocks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en-US" sz="1200"/>
              <a:t>12/8/2006</a:t>
            </a:r>
          </a:p>
        </p:txBody>
      </p:sp>
      <p:cxnSp>
        <p:nvCxnSpPr>
          <p:cNvPr id="11" name="Straight Connector 10"/>
          <p:cNvCxnSpPr>
            <a:cxnSpLocks noChangeShapeType="1"/>
          </p:cNvCxnSpPr>
          <p:nvPr/>
        </p:nvCxnSpPr>
        <p:spPr bwMode="auto">
          <a:xfrm rot="5400000">
            <a:off x="685007" y="5333206"/>
            <a:ext cx="22860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" name="Straight Connector 11"/>
          <p:cNvCxnSpPr>
            <a:cxnSpLocks noChangeShapeType="1"/>
          </p:cNvCxnSpPr>
          <p:nvPr/>
        </p:nvCxnSpPr>
        <p:spPr bwMode="auto">
          <a:xfrm rot="5400000">
            <a:off x="5257007" y="5333206"/>
            <a:ext cx="22860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" name="Straight Connector 12"/>
          <p:cNvCxnSpPr>
            <a:cxnSpLocks noChangeShapeType="1"/>
          </p:cNvCxnSpPr>
          <p:nvPr/>
        </p:nvCxnSpPr>
        <p:spPr bwMode="auto">
          <a:xfrm>
            <a:off x="1219200" y="4343400"/>
            <a:ext cx="54102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524000" y="3657600"/>
            <a:ext cx="60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0.0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096000" y="3657600"/>
            <a:ext cx="685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1.0</a:t>
            </a:r>
          </a:p>
        </p:txBody>
      </p:sp>
      <p:sp>
        <p:nvSpPr>
          <p:cNvPr id="16" name="Rounded Rectangle 15"/>
          <p:cNvSpPr>
            <a:spLocks noChangeArrowheads="1"/>
          </p:cNvSpPr>
          <p:nvPr/>
        </p:nvSpPr>
        <p:spPr bwMode="auto">
          <a:xfrm>
            <a:off x="1828800" y="4572000"/>
            <a:ext cx="45720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7" name="Rounded Rectangle 16"/>
          <p:cNvSpPr>
            <a:spLocks noChangeArrowheads="1"/>
          </p:cNvSpPr>
          <p:nvPr/>
        </p:nvSpPr>
        <p:spPr bwMode="auto">
          <a:xfrm>
            <a:off x="1828800" y="5029200"/>
            <a:ext cx="45720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8" name="Rounded Rectangle 17"/>
          <p:cNvSpPr>
            <a:spLocks noChangeArrowheads="1"/>
          </p:cNvSpPr>
          <p:nvPr/>
        </p:nvSpPr>
        <p:spPr bwMode="auto">
          <a:xfrm>
            <a:off x="1828800" y="5562600"/>
            <a:ext cx="45720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9" name="Rounded Rectangle 18"/>
          <p:cNvSpPr>
            <a:spLocks noChangeArrowheads="1"/>
          </p:cNvSpPr>
          <p:nvPr/>
        </p:nvSpPr>
        <p:spPr bwMode="auto">
          <a:xfrm>
            <a:off x="1828800" y="6096000"/>
            <a:ext cx="45720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6400800" y="4495800"/>
            <a:ext cx="2209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Christopher Walken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6400800" y="5486400"/>
            <a:ext cx="2209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Harvey Keitel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400800" y="4953000"/>
            <a:ext cx="2209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Samuel L. Jackson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6400800" y="6019800"/>
            <a:ext cx="2286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Bruce Willis</a:t>
            </a:r>
          </a:p>
        </p:txBody>
      </p:sp>
      <p:sp>
        <p:nvSpPr>
          <p:cNvPr id="24" name="Line Callout 3 (Border and Accent Bar) 23"/>
          <p:cNvSpPr>
            <a:spLocks/>
          </p:cNvSpPr>
          <p:nvPr/>
        </p:nvSpPr>
        <p:spPr bwMode="auto">
          <a:xfrm>
            <a:off x="5257800" y="3886200"/>
            <a:ext cx="228600" cy="304800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246296"/>
              <a:gd name="adj8" fmla="val 1241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/>
              <a:t>1</a:t>
            </a:r>
          </a:p>
        </p:txBody>
      </p:sp>
      <p:sp>
        <p:nvSpPr>
          <p:cNvPr id="25" name="Line Callout 3 (Border and Accent Bar) 24"/>
          <p:cNvSpPr>
            <a:spLocks/>
          </p:cNvSpPr>
          <p:nvPr/>
        </p:nvSpPr>
        <p:spPr bwMode="auto">
          <a:xfrm>
            <a:off x="2895600" y="5410200"/>
            <a:ext cx="228600" cy="304800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246296"/>
              <a:gd name="adj8" fmla="val 1241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>
                <a:latin typeface="Calibri" pitchFamily="34" charset="0"/>
              </a:rPr>
              <a:t>3</a:t>
            </a:r>
            <a:endParaRPr lang="en-US"/>
          </a:p>
        </p:txBody>
      </p:sp>
      <p:sp>
        <p:nvSpPr>
          <p:cNvPr id="26" name="Line Callout 3 (Border and Accent Bar) 25"/>
          <p:cNvSpPr>
            <a:spLocks/>
          </p:cNvSpPr>
          <p:nvPr/>
        </p:nvSpPr>
        <p:spPr bwMode="auto">
          <a:xfrm>
            <a:off x="2133600" y="4419600"/>
            <a:ext cx="228600" cy="304800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246296"/>
              <a:gd name="adj8" fmla="val 1241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/>
              <a:t>4</a:t>
            </a:r>
          </a:p>
        </p:txBody>
      </p:sp>
      <p:sp>
        <p:nvSpPr>
          <p:cNvPr id="27" name="Line Callout 3 (Border and Accent Bar) 26"/>
          <p:cNvSpPr>
            <a:spLocks/>
          </p:cNvSpPr>
          <p:nvPr/>
        </p:nvSpPr>
        <p:spPr bwMode="auto">
          <a:xfrm>
            <a:off x="4495800" y="4876800"/>
            <a:ext cx="228600" cy="304800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246296"/>
              <a:gd name="adj8" fmla="val 1241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/>
              <a:t>2</a:t>
            </a:r>
          </a:p>
        </p:txBody>
      </p:sp>
      <p:sp>
        <p:nvSpPr>
          <p:cNvPr id="28" name="Rectangle 34"/>
          <p:cNvSpPr>
            <a:spLocks noChangeArrowheads="1"/>
          </p:cNvSpPr>
          <p:nvPr/>
        </p:nvSpPr>
        <p:spPr bwMode="auto">
          <a:xfrm>
            <a:off x="0" y="0"/>
            <a:ext cx="20304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[R,Dalvi&amp;S’07]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by x="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833 0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-0.19167 3.33333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</p:cBhvr>
                                      <p:by x="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075 -4.44444E-6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-0.1 -2.22222E-6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/>
      <p:bldP spid="21" grpId="0"/>
      <p:bldP spid="22" grpId="0"/>
      <p:bldP spid="23" grpId="0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1B5098-EC8D-4A7B-B472-ECBD93B22D25}" type="slidenum">
              <a:rPr lang="en-US"/>
              <a:pPr>
                <a:defRPr/>
              </a:pPr>
              <a:t>46</a:t>
            </a:fld>
            <a:endParaRPr lang="en-US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Key Idea:</a:t>
            </a:r>
            <a:r>
              <a:rPr lang="en-US" smtClean="0"/>
              <a:t> Critical Region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7315200" cy="3886200"/>
          </a:xfrm>
        </p:spPr>
        <p:txBody>
          <a:bodyPr/>
          <a:lstStyle/>
          <a:p>
            <a:pPr eaLnBrk="1" hangingPunct="1"/>
            <a:r>
              <a:rPr lang="en-US" sz="2800" smtClean="0"/>
              <a:t>The </a:t>
            </a:r>
            <a:r>
              <a:rPr lang="en-US" sz="2800" i="1" smtClean="0"/>
              <a:t>critical region</a:t>
            </a:r>
            <a:r>
              <a:rPr lang="en-US" sz="2800" smtClean="0"/>
              <a:t> is the interval</a:t>
            </a:r>
          </a:p>
          <a:p>
            <a:pPr lvl="1" eaLnBrk="1" hangingPunct="1"/>
            <a:r>
              <a:rPr lang="en-US" sz="2400" smtClean="0"/>
              <a:t> (kth-highest min, k+1</a:t>
            </a:r>
            <a:r>
              <a:rPr lang="en-US" sz="2400" baseline="30000" smtClean="0"/>
              <a:t>st</a:t>
            </a:r>
            <a:r>
              <a:rPr lang="en-US" sz="2400" smtClean="0"/>
              <a:t> higest max)</a:t>
            </a:r>
          </a:p>
          <a:p>
            <a:pPr lvl="1" eaLnBrk="1" hangingPunct="1"/>
            <a:r>
              <a:rPr lang="en-US" sz="2400" smtClean="0"/>
              <a:t>For k = 2</a:t>
            </a:r>
          </a:p>
          <a:p>
            <a:pPr eaLnBrk="1" hangingPunct="1"/>
            <a:endParaRPr lang="en-US" sz="2800" smtClean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38600" y="3810000"/>
            <a:ext cx="1371600" cy="2590800"/>
          </a:xfrm>
          <a:prstGeom prst="rect">
            <a:avLst/>
          </a:prstGeom>
          <a:solidFill>
            <a:srgbClr val="FF0000">
              <a:alpha val="54117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cxnSp>
        <p:nvCxnSpPr>
          <p:cNvPr id="47112" name="Straight Connector 9"/>
          <p:cNvCxnSpPr>
            <a:cxnSpLocks noChangeShapeType="1"/>
          </p:cNvCxnSpPr>
          <p:nvPr/>
        </p:nvCxnSpPr>
        <p:spPr bwMode="auto">
          <a:xfrm rot="5400000">
            <a:off x="608807" y="5180806"/>
            <a:ext cx="22860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113" name="Straight Connector 10"/>
          <p:cNvCxnSpPr>
            <a:cxnSpLocks noChangeShapeType="1"/>
          </p:cNvCxnSpPr>
          <p:nvPr/>
        </p:nvCxnSpPr>
        <p:spPr bwMode="auto">
          <a:xfrm rot="5400000">
            <a:off x="5180807" y="5180806"/>
            <a:ext cx="22860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114" name="Straight Connector 11"/>
          <p:cNvCxnSpPr>
            <a:cxnSpLocks noChangeShapeType="1"/>
          </p:cNvCxnSpPr>
          <p:nvPr/>
        </p:nvCxnSpPr>
        <p:spPr bwMode="auto">
          <a:xfrm>
            <a:off x="1143000" y="4191000"/>
            <a:ext cx="54102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7115" name="TextBox 12"/>
          <p:cNvSpPr txBox="1">
            <a:spLocks noChangeArrowheads="1"/>
          </p:cNvSpPr>
          <p:nvPr/>
        </p:nvSpPr>
        <p:spPr bwMode="auto">
          <a:xfrm>
            <a:off x="1447800" y="3505200"/>
            <a:ext cx="60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0.0</a:t>
            </a:r>
          </a:p>
        </p:txBody>
      </p:sp>
      <p:sp>
        <p:nvSpPr>
          <p:cNvPr id="47116" name="TextBox 13"/>
          <p:cNvSpPr txBox="1">
            <a:spLocks noChangeArrowheads="1"/>
          </p:cNvSpPr>
          <p:nvPr/>
        </p:nvSpPr>
        <p:spPr bwMode="auto">
          <a:xfrm>
            <a:off x="6019800" y="3505200"/>
            <a:ext cx="685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1.0</a:t>
            </a:r>
          </a:p>
        </p:txBody>
      </p:sp>
      <p:sp>
        <p:nvSpPr>
          <p:cNvPr id="47117" name="Rounded Rectangle 14"/>
          <p:cNvSpPr>
            <a:spLocks noChangeArrowheads="1"/>
          </p:cNvSpPr>
          <p:nvPr/>
        </p:nvSpPr>
        <p:spPr bwMode="auto">
          <a:xfrm>
            <a:off x="2590800" y="4419600"/>
            <a:ext cx="33528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7118" name="Rounded Rectangle 15"/>
          <p:cNvSpPr>
            <a:spLocks noChangeArrowheads="1"/>
          </p:cNvSpPr>
          <p:nvPr/>
        </p:nvSpPr>
        <p:spPr bwMode="auto">
          <a:xfrm>
            <a:off x="4495800" y="5029200"/>
            <a:ext cx="18288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7119" name="Rounded Rectangle 16"/>
          <p:cNvSpPr>
            <a:spLocks noChangeArrowheads="1"/>
          </p:cNvSpPr>
          <p:nvPr/>
        </p:nvSpPr>
        <p:spPr bwMode="auto">
          <a:xfrm>
            <a:off x="1905000" y="5334000"/>
            <a:ext cx="32004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7120" name="Rounded Rectangle 17"/>
          <p:cNvSpPr>
            <a:spLocks noChangeArrowheads="1"/>
          </p:cNvSpPr>
          <p:nvPr/>
        </p:nvSpPr>
        <p:spPr bwMode="auto">
          <a:xfrm>
            <a:off x="4038600" y="5638800"/>
            <a:ext cx="13716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7121" name="Rounded Rectangle 18"/>
          <p:cNvSpPr>
            <a:spLocks noChangeArrowheads="1"/>
          </p:cNvSpPr>
          <p:nvPr/>
        </p:nvSpPr>
        <p:spPr bwMode="auto">
          <a:xfrm>
            <a:off x="2057400" y="4724400"/>
            <a:ext cx="10668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8" name="Rectangle 34"/>
          <p:cNvSpPr>
            <a:spLocks noChangeArrowheads="1"/>
          </p:cNvSpPr>
          <p:nvPr/>
        </p:nvSpPr>
        <p:spPr bwMode="auto">
          <a:xfrm>
            <a:off x="0" y="0"/>
            <a:ext cx="20304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[R,Dalvi&amp;S’07]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1B5098-EC8D-4A7B-B472-ECBD93B22D25}" type="slidenum">
              <a:rPr lang="en-US"/>
              <a:pPr>
                <a:defRPr/>
              </a:pPr>
              <a:t>47</a:t>
            </a:fld>
            <a:endParaRPr lang="en-US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Key Idea:</a:t>
            </a:r>
            <a:r>
              <a:rPr lang="en-US" smtClean="0"/>
              <a:t> Critical Region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7315200" cy="38862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The </a:t>
            </a:r>
            <a:r>
              <a:rPr lang="en-US" sz="2800" i="1" dirty="0" smtClean="0"/>
              <a:t>critical region</a:t>
            </a:r>
            <a:r>
              <a:rPr lang="en-US" sz="2800" dirty="0" smtClean="0"/>
              <a:t> is the interval</a:t>
            </a:r>
          </a:p>
          <a:p>
            <a:pPr lvl="1" eaLnBrk="1" hangingPunct="1"/>
            <a:r>
              <a:rPr lang="en-US" sz="2400" dirty="0" smtClean="0"/>
              <a:t> (</a:t>
            </a:r>
            <a:r>
              <a:rPr lang="en-US" sz="2400" dirty="0" err="1" smtClean="0"/>
              <a:t>kth</a:t>
            </a:r>
            <a:r>
              <a:rPr lang="en-US" sz="2400" dirty="0" smtClean="0"/>
              <a:t>-highest min, k+1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 </a:t>
            </a:r>
            <a:r>
              <a:rPr lang="en-US" sz="2400" dirty="0" err="1" smtClean="0"/>
              <a:t>higest</a:t>
            </a:r>
            <a:r>
              <a:rPr lang="en-US" sz="2400" dirty="0" smtClean="0"/>
              <a:t> max)</a:t>
            </a:r>
          </a:p>
          <a:p>
            <a:pPr lvl="1" eaLnBrk="1" hangingPunct="1"/>
            <a:r>
              <a:rPr lang="en-US" sz="2400" dirty="0" smtClean="0"/>
              <a:t>For k = 2</a:t>
            </a:r>
          </a:p>
          <a:p>
            <a:pPr eaLnBrk="1" hangingPunct="1"/>
            <a:endParaRPr lang="en-US" sz="2800" dirty="0" smtClean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38600" y="3810000"/>
            <a:ext cx="1371600" cy="2590800"/>
          </a:xfrm>
          <a:prstGeom prst="rect">
            <a:avLst/>
          </a:prstGeom>
          <a:solidFill>
            <a:srgbClr val="FF0000">
              <a:alpha val="54117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cxnSp>
        <p:nvCxnSpPr>
          <p:cNvPr id="47112" name="Straight Connector 9"/>
          <p:cNvCxnSpPr>
            <a:cxnSpLocks noChangeShapeType="1"/>
          </p:cNvCxnSpPr>
          <p:nvPr/>
        </p:nvCxnSpPr>
        <p:spPr bwMode="auto">
          <a:xfrm rot="5400000">
            <a:off x="608807" y="5180806"/>
            <a:ext cx="22860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113" name="Straight Connector 10"/>
          <p:cNvCxnSpPr>
            <a:cxnSpLocks noChangeShapeType="1"/>
          </p:cNvCxnSpPr>
          <p:nvPr/>
        </p:nvCxnSpPr>
        <p:spPr bwMode="auto">
          <a:xfrm rot="5400000">
            <a:off x="5180807" y="5180806"/>
            <a:ext cx="22860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114" name="Straight Connector 11"/>
          <p:cNvCxnSpPr>
            <a:cxnSpLocks noChangeShapeType="1"/>
          </p:cNvCxnSpPr>
          <p:nvPr/>
        </p:nvCxnSpPr>
        <p:spPr bwMode="auto">
          <a:xfrm>
            <a:off x="1143000" y="4191000"/>
            <a:ext cx="54102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7115" name="TextBox 12"/>
          <p:cNvSpPr txBox="1">
            <a:spLocks noChangeArrowheads="1"/>
          </p:cNvSpPr>
          <p:nvPr/>
        </p:nvSpPr>
        <p:spPr bwMode="auto">
          <a:xfrm>
            <a:off x="1447800" y="3505200"/>
            <a:ext cx="60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0.0</a:t>
            </a:r>
          </a:p>
        </p:txBody>
      </p:sp>
      <p:sp>
        <p:nvSpPr>
          <p:cNvPr id="47116" name="TextBox 13"/>
          <p:cNvSpPr txBox="1">
            <a:spLocks noChangeArrowheads="1"/>
          </p:cNvSpPr>
          <p:nvPr/>
        </p:nvSpPr>
        <p:spPr bwMode="auto">
          <a:xfrm>
            <a:off x="6019800" y="3505200"/>
            <a:ext cx="685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1.0</a:t>
            </a:r>
          </a:p>
        </p:txBody>
      </p:sp>
      <p:sp>
        <p:nvSpPr>
          <p:cNvPr id="47117" name="Rounded Rectangle 14"/>
          <p:cNvSpPr>
            <a:spLocks noChangeArrowheads="1"/>
          </p:cNvSpPr>
          <p:nvPr/>
        </p:nvSpPr>
        <p:spPr bwMode="auto">
          <a:xfrm>
            <a:off x="2590800" y="4419600"/>
            <a:ext cx="33528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7118" name="Rounded Rectangle 15"/>
          <p:cNvSpPr>
            <a:spLocks noChangeArrowheads="1"/>
          </p:cNvSpPr>
          <p:nvPr/>
        </p:nvSpPr>
        <p:spPr bwMode="auto">
          <a:xfrm>
            <a:off x="4495800" y="5029200"/>
            <a:ext cx="18288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7119" name="Rounded Rectangle 16"/>
          <p:cNvSpPr>
            <a:spLocks noChangeArrowheads="1"/>
          </p:cNvSpPr>
          <p:nvPr/>
        </p:nvSpPr>
        <p:spPr bwMode="auto">
          <a:xfrm>
            <a:off x="1905000" y="5334000"/>
            <a:ext cx="32004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7120" name="Rounded Rectangle 17"/>
          <p:cNvSpPr>
            <a:spLocks noChangeArrowheads="1"/>
          </p:cNvSpPr>
          <p:nvPr/>
        </p:nvSpPr>
        <p:spPr bwMode="auto">
          <a:xfrm>
            <a:off x="4038600" y="5638800"/>
            <a:ext cx="13716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7121" name="Rounded Rectangle 18"/>
          <p:cNvSpPr>
            <a:spLocks noChangeArrowheads="1"/>
          </p:cNvSpPr>
          <p:nvPr/>
        </p:nvSpPr>
        <p:spPr bwMode="auto">
          <a:xfrm>
            <a:off x="2057400" y="4724400"/>
            <a:ext cx="10668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8" name="Rectangle 34"/>
          <p:cNvSpPr>
            <a:spLocks noChangeArrowheads="1"/>
          </p:cNvSpPr>
          <p:nvPr/>
        </p:nvSpPr>
        <p:spPr bwMode="auto">
          <a:xfrm>
            <a:off x="0" y="0"/>
            <a:ext cx="20304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[R,Dalvi&amp;S’07]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0" y="2895600"/>
            <a:ext cx="1828800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Separated the top 2</a:t>
            </a:r>
            <a:endParaRPr lang="en-US" sz="2400" dirty="0"/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2628900" y="5067300"/>
            <a:ext cx="3124200" cy="1588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1" idx="1"/>
          </p:cNvCxnSpPr>
          <p:nvPr/>
        </p:nvCxnSpPr>
        <p:spPr>
          <a:xfrm rot="10800000" flipV="1">
            <a:off x="4267200" y="3311098"/>
            <a:ext cx="2514600" cy="42270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7117"/>
                                        </p:tgtEl>
                                      </p:cBhvr>
                                      <p:by x="25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62535E-7 L -0.13334 4.62535E-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47119"/>
                                        </p:tgtEl>
                                      </p:cBhvr>
                                      <p:by x="4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 4.71785E-7 L 3.33333E-6 4.71785E-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5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-0.06667 -4.44444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47120"/>
                                        </p:tgtEl>
                                      </p:cBhvr>
                                      <p:by x="75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9" grpId="2" animBg="1"/>
      <p:bldP spid="9" grpId="3" animBg="1"/>
      <p:bldP spid="47117" grpId="0" animBg="1"/>
      <p:bldP spid="47117" grpId="1" animBg="1"/>
      <p:bldP spid="47119" grpId="0" animBg="1"/>
      <p:bldP spid="47119" grpId="1" animBg="1"/>
      <p:bldP spid="47120" grpId="0" animBg="1"/>
      <p:bldP spid="21" grpId="0" uiExpand="1" build="allAtOnce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77000" y="6248400"/>
            <a:ext cx="2133600" cy="457200"/>
          </a:xfrm>
        </p:spPr>
        <p:txBody>
          <a:bodyPr/>
          <a:lstStyle/>
          <a:p>
            <a:pPr algn="ctr">
              <a:defRPr/>
            </a:pPr>
            <a:fld id="{6D85EF43-F6E5-46AB-8D02-7F63E2010913}" type="slidenum">
              <a:rPr lang="en-US"/>
              <a:pPr algn="ctr">
                <a:defRPr/>
              </a:pPr>
              <a:t>48</a:t>
            </a:fld>
            <a:endParaRPr lang="en-US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Three Simple Rules: </a:t>
            </a:r>
            <a:r>
              <a:rPr lang="en-US" u="sng" smtClean="0"/>
              <a:t>Rule 1</a:t>
            </a:r>
          </a:p>
        </p:txBody>
      </p:sp>
      <p:sp>
        <p:nvSpPr>
          <p:cNvPr id="48134" name="Rectangle 21"/>
          <p:cNvSpPr>
            <a:spLocks noChangeArrowheads="1"/>
          </p:cNvSpPr>
          <p:nvPr/>
        </p:nvSpPr>
        <p:spPr bwMode="auto">
          <a:xfrm>
            <a:off x="3886200" y="3657600"/>
            <a:ext cx="1371600" cy="2590800"/>
          </a:xfrm>
          <a:prstGeom prst="rect">
            <a:avLst/>
          </a:prstGeom>
          <a:solidFill>
            <a:srgbClr val="FF0000">
              <a:alpha val="54117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cxnSp>
        <p:nvCxnSpPr>
          <p:cNvPr id="48135" name="Straight Connector 22"/>
          <p:cNvCxnSpPr>
            <a:cxnSpLocks noChangeShapeType="1"/>
          </p:cNvCxnSpPr>
          <p:nvPr/>
        </p:nvCxnSpPr>
        <p:spPr bwMode="auto">
          <a:xfrm rot="5400000">
            <a:off x="456407" y="5028406"/>
            <a:ext cx="22860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8136" name="Straight Connector 23"/>
          <p:cNvCxnSpPr>
            <a:cxnSpLocks noChangeShapeType="1"/>
          </p:cNvCxnSpPr>
          <p:nvPr/>
        </p:nvCxnSpPr>
        <p:spPr bwMode="auto">
          <a:xfrm rot="5400000">
            <a:off x="5028407" y="5028406"/>
            <a:ext cx="22860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8137" name="Straight Connector 24"/>
          <p:cNvCxnSpPr>
            <a:cxnSpLocks noChangeShapeType="1"/>
          </p:cNvCxnSpPr>
          <p:nvPr/>
        </p:nvCxnSpPr>
        <p:spPr bwMode="auto">
          <a:xfrm>
            <a:off x="990600" y="4038600"/>
            <a:ext cx="54102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8138" name="TextBox 25"/>
          <p:cNvSpPr txBox="1">
            <a:spLocks noChangeArrowheads="1"/>
          </p:cNvSpPr>
          <p:nvPr/>
        </p:nvSpPr>
        <p:spPr bwMode="auto">
          <a:xfrm>
            <a:off x="1295400" y="3352800"/>
            <a:ext cx="60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0.0</a:t>
            </a:r>
          </a:p>
        </p:txBody>
      </p:sp>
      <p:sp>
        <p:nvSpPr>
          <p:cNvPr id="48139" name="TextBox 26"/>
          <p:cNvSpPr txBox="1">
            <a:spLocks noChangeArrowheads="1"/>
          </p:cNvSpPr>
          <p:nvPr/>
        </p:nvSpPr>
        <p:spPr bwMode="auto">
          <a:xfrm>
            <a:off x="5867400" y="3352800"/>
            <a:ext cx="685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1.0</a:t>
            </a:r>
          </a:p>
        </p:txBody>
      </p:sp>
      <p:sp>
        <p:nvSpPr>
          <p:cNvPr id="48140" name="Rounded Rectangle 27"/>
          <p:cNvSpPr>
            <a:spLocks noChangeArrowheads="1"/>
          </p:cNvSpPr>
          <p:nvPr/>
        </p:nvSpPr>
        <p:spPr bwMode="auto">
          <a:xfrm>
            <a:off x="2438400" y="4267200"/>
            <a:ext cx="33528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8141" name="Rounded Rectangle 28"/>
          <p:cNvSpPr>
            <a:spLocks noChangeArrowheads="1"/>
          </p:cNvSpPr>
          <p:nvPr/>
        </p:nvSpPr>
        <p:spPr bwMode="auto">
          <a:xfrm>
            <a:off x="4343400" y="4876800"/>
            <a:ext cx="18288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8142" name="Rounded Rectangle 29"/>
          <p:cNvSpPr>
            <a:spLocks noChangeArrowheads="1"/>
          </p:cNvSpPr>
          <p:nvPr/>
        </p:nvSpPr>
        <p:spPr bwMode="auto">
          <a:xfrm>
            <a:off x="1752600" y="5181600"/>
            <a:ext cx="32004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8143" name="Rounded Rectangle 30"/>
          <p:cNvSpPr>
            <a:spLocks noChangeArrowheads="1"/>
          </p:cNvSpPr>
          <p:nvPr/>
        </p:nvSpPr>
        <p:spPr bwMode="auto">
          <a:xfrm>
            <a:off x="3886200" y="5486400"/>
            <a:ext cx="13716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8144" name="Rounded Rectangle 31"/>
          <p:cNvSpPr>
            <a:spLocks noChangeArrowheads="1"/>
          </p:cNvSpPr>
          <p:nvPr/>
        </p:nvSpPr>
        <p:spPr bwMode="auto">
          <a:xfrm>
            <a:off x="1905000" y="4572000"/>
            <a:ext cx="10668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cxnSp>
        <p:nvCxnSpPr>
          <p:cNvPr id="37" name="Straight Arrow Connector 36"/>
          <p:cNvCxnSpPr>
            <a:cxnSpLocks noChangeShapeType="1"/>
          </p:cNvCxnSpPr>
          <p:nvPr/>
        </p:nvCxnSpPr>
        <p:spPr bwMode="auto">
          <a:xfrm rot="5400000">
            <a:off x="5257800" y="3352800"/>
            <a:ext cx="990600" cy="685800"/>
          </a:xfrm>
          <a:prstGeom prst="straightConnector1">
            <a:avLst/>
          </a:prstGeom>
          <a:noFill/>
          <a:ln w="762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0" name="Rectangle 3"/>
          <p:cNvSpPr txBox="1">
            <a:spLocks noChangeArrowheads="1"/>
          </p:cNvSpPr>
          <p:nvPr/>
        </p:nvSpPr>
        <p:spPr bwMode="auto">
          <a:xfrm>
            <a:off x="457200" y="1981200"/>
            <a:ext cx="7696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800" kern="0" dirty="0">
                <a:latin typeface="+mn-lt"/>
                <a:cs typeface="+mn-cs"/>
              </a:rPr>
              <a:t>Pick a “Double Crosser”</a:t>
            </a:r>
          </a:p>
          <a:p>
            <a:pPr marL="800100" lvl="1" indent="-342900" fontAlgn="auto">
              <a:spcBef>
                <a:spcPct val="20000"/>
              </a:spcBef>
              <a:spcAft>
                <a:spcPts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i="1" kern="0" dirty="0">
                <a:latin typeface="+mn-lt"/>
                <a:cs typeface="+mn-cs"/>
              </a:rPr>
              <a:t>OPT</a:t>
            </a:r>
            <a:r>
              <a:rPr lang="en-US" sz="2400" kern="0" dirty="0">
                <a:latin typeface="+mn-lt"/>
                <a:cs typeface="+mn-cs"/>
              </a:rPr>
              <a:t> must pick this too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/>
            </a:pPr>
            <a:endParaRPr lang="en-US" sz="2400" kern="0" dirty="0">
              <a:latin typeface="+mn-lt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8"/>
          <p:cNvSpPr>
            <a:spLocks noChangeArrowheads="1"/>
          </p:cNvSpPr>
          <p:nvPr/>
        </p:nvSpPr>
        <p:spPr bwMode="auto">
          <a:xfrm>
            <a:off x="3657600" y="3810000"/>
            <a:ext cx="2133600" cy="2590800"/>
          </a:xfrm>
          <a:prstGeom prst="rect">
            <a:avLst/>
          </a:prstGeom>
          <a:solidFill>
            <a:srgbClr val="FF0000">
              <a:alpha val="54117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CAF4E5-A2C2-43A5-BC9F-E54D8B615070}" type="slidenum">
              <a:rPr lang="en-US"/>
              <a:pPr>
                <a:defRPr/>
              </a:pPr>
              <a:t>49</a:t>
            </a:fld>
            <a:endParaRPr lang="en-US"/>
          </a:p>
        </p:txBody>
      </p:sp>
      <p:sp>
        <p:nvSpPr>
          <p:cNvPr id="491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Three Simple Rules: </a:t>
            </a:r>
            <a:r>
              <a:rPr lang="en-US" u="sng" smtClean="0"/>
              <a:t>Rule 2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7696200" cy="3886200"/>
          </a:xfrm>
        </p:spPr>
        <p:txBody>
          <a:bodyPr/>
          <a:lstStyle/>
          <a:p>
            <a:pPr eaLnBrk="1" hangingPunct="1"/>
            <a:r>
              <a:rPr lang="en-US" sz="2800" smtClean="0"/>
              <a:t>All lower/upper crossers then maximal</a:t>
            </a:r>
          </a:p>
          <a:p>
            <a:pPr lvl="1" eaLnBrk="1" hangingPunct="1"/>
            <a:r>
              <a:rPr lang="en-US" sz="2000" i="1" smtClean="0"/>
              <a:t>OPT</a:t>
            </a:r>
            <a:r>
              <a:rPr lang="en-US" sz="2000" smtClean="0"/>
              <a:t> must pick this too</a:t>
            </a:r>
          </a:p>
          <a:p>
            <a:pPr lvl="1" eaLnBrk="1" hangingPunct="1"/>
            <a:endParaRPr lang="en-US" sz="2400" smtClean="0"/>
          </a:p>
        </p:txBody>
      </p:sp>
      <p:cxnSp>
        <p:nvCxnSpPr>
          <p:cNvPr id="49160" name="Straight Connector 8"/>
          <p:cNvCxnSpPr>
            <a:cxnSpLocks noChangeShapeType="1"/>
          </p:cNvCxnSpPr>
          <p:nvPr/>
        </p:nvCxnSpPr>
        <p:spPr bwMode="auto">
          <a:xfrm rot="5400000">
            <a:off x="685007" y="5180806"/>
            <a:ext cx="22860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9161" name="Straight Connector 9"/>
          <p:cNvCxnSpPr>
            <a:cxnSpLocks noChangeShapeType="1"/>
          </p:cNvCxnSpPr>
          <p:nvPr/>
        </p:nvCxnSpPr>
        <p:spPr bwMode="auto">
          <a:xfrm rot="5400000">
            <a:off x="5257007" y="5180806"/>
            <a:ext cx="22860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9162" name="Straight Connector 10"/>
          <p:cNvCxnSpPr>
            <a:cxnSpLocks noChangeShapeType="1"/>
          </p:cNvCxnSpPr>
          <p:nvPr/>
        </p:nvCxnSpPr>
        <p:spPr bwMode="auto">
          <a:xfrm>
            <a:off x="1219200" y="4191000"/>
            <a:ext cx="54102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9163" name="TextBox 11"/>
          <p:cNvSpPr txBox="1">
            <a:spLocks noChangeArrowheads="1"/>
          </p:cNvSpPr>
          <p:nvPr/>
        </p:nvSpPr>
        <p:spPr bwMode="auto">
          <a:xfrm>
            <a:off x="1524000" y="3505200"/>
            <a:ext cx="60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0.0</a:t>
            </a:r>
          </a:p>
        </p:txBody>
      </p:sp>
      <p:sp>
        <p:nvSpPr>
          <p:cNvPr id="49164" name="TextBox 12"/>
          <p:cNvSpPr txBox="1">
            <a:spLocks noChangeArrowheads="1"/>
          </p:cNvSpPr>
          <p:nvPr/>
        </p:nvSpPr>
        <p:spPr bwMode="auto">
          <a:xfrm>
            <a:off x="6096000" y="3505200"/>
            <a:ext cx="685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1.0</a:t>
            </a:r>
          </a:p>
        </p:txBody>
      </p:sp>
      <p:sp>
        <p:nvSpPr>
          <p:cNvPr id="49165" name="Rounded Rectangle 13"/>
          <p:cNvSpPr>
            <a:spLocks noChangeArrowheads="1"/>
          </p:cNvSpPr>
          <p:nvPr/>
        </p:nvSpPr>
        <p:spPr bwMode="auto">
          <a:xfrm>
            <a:off x="1828800" y="4419600"/>
            <a:ext cx="39624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9166" name="Rounded Rectangle 14"/>
          <p:cNvSpPr>
            <a:spLocks noChangeArrowheads="1"/>
          </p:cNvSpPr>
          <p:nvPr/>
        </p:nvSpPr>
        <p:spPr bwMode="auto">
          <a:xfrm>
            <a:off x="3886200" y="5029200"/>
            <a:ext cx="19050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9167" name="Rounded Rectangle 15"/>
          <p:cNvSpPr>
            <a:spLocks noChangeArrowheads="1"/>
          </p:cNvSpPr>
          <p:nvPr/>
        </p:nvSpPr>
        <p:spPr bwMode="auto">
          <a:xfrm>
            <a:off x="3657600" y="5334000"/>
            <a:ext cx="21336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9168" name="Rounded Rectangle 16"/>
          <p:cNvSpPr>
            <a:spLocks noChangeArrowheads="1"/>
          </p:cNvSpPr>
          <p:nvPr/>
        </p:nvSpPr>
        <p:spPr bwMode="auto">
          <a:xfrm>
            <a:off x="3352800" y="5638800"/>
            <a:ext cx="24384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9169" name="Rounded Rectangle 17"/>
          <p:cNvSpPr>
            <a:spLocks noChangeArrowheads="1"/>
          </p:cNvSpPr>
          <p:nvPr/>
        </p:nvSpPr>
        <p:spPr bwMode="auto">
          <a:xfrm>
            <a:off x="2514600" y="4724400"/>
            <a:ext cx="32766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cxnSp>
        <p:nvCxnSpPr>
          <p:cNvPr id="20" name="Straight Arrow Connector 19"/>
          <p:cNvCxnSpPr>
            <a:cxnSpLocks noChangeShapeType="1"/>
          </p:cNvCxnSpPr>
          <p:nvPr/>
        </p:nvCxnSpPr>
        <p:spPr bwMode="auto">
          <a:xfrm rot="16200000" flipH="1">
            <a:off x="2667000" y="3581400"/>
            <a:ext cx="990600" cy="533400"/>
          </a:xfrm>
          <a:prstGeom prst="straightConnector1">
            <a:avLst/>
          </a:prstGeom>
          <a:noFill/>
          <a:ln w="76200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4D3A23-8581-4CEA-B0F1-6E2C29F6361E}" type="slidenum">
              <a:rPr lang="en-US"/>
              <a:pPr>
                <a:defRPr/>
              </a:pPr>
              <a:t>50</a:t>
            </a:fld>
            <a:endParaRPr lang="en-US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Three Simple Rules: </a:t>
            </a:r>
            <a:r>
              <a:rPr lang="en-US" u="sng" smtClean="0"/>
              <a:t>Rule 3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6858000" cy="1066800"/>
          </a:xfrm>
        </p:spPr>
        <p:txBody>
          <a:bodyPr/>
          <a:lstStyle/>
          <a:p>
            <a:pPr eaLnBrk="1" hangingPunct="1"/>
            <a:r>
              <a:rPr lang="en-US" sz="2800" smtClean="0"/>
              <a:t>Pick an upper and a lower crosser</a:t>
            </a:r>
          </a:p>
          <a:p>
            <a:pPr lvl="1" eaLnBrk="1" hangingPunct="1"/>
            <a:r>
              <a:rPr lang="en-US" sz="2400" i="1" smtClean="0"/>
              <a:t>OPT</a:t>
            </a:r>
            <a:r>
              <a:rPr lang="en-US" sz="2400" smtClean="0"/>
              <a:t> may only pick 1 of these two</a:t>
            </a:r>
          </a:p>
          <a:p>
            <a:pPr lvl="1" eaLnBrk="1" hangingPunct="1"/>
            <a:endParaRPr lang="en-US" sz="2400" smtClean="0"/>
          </a:p>
          <a:p>
            <a:pPr lvl="1" eaLnBrk="1" hangingPunct="1"/>
            <a:endParaRPr lang="en-US" sz="2400" smtClean="0"/>
          </a:p>
        </p:txBody>
      </p:sp>
      <p:sp>
        <p:nvSpPr>
          <p:cNvPr id="50183" name="Rectangle 8"/>
          <p:cNvSpPr>
            <a:spLocks noChangeArrowheads="1"/>
          </p:cNvSpPr>
          <p:nvPr/>
        </p:nvSpPr>
        <p:spPr bwMode="auto">
          <a:xfrm>
            <a:off x="4114800" y="3505200"/>
            <a:ext cx="1371600" cy="2590800"/>
          </a:xfrm>
          <a:prstGeom prst="rect">
            <a:avLst/>
          </a:prstGeom>
          <a:solidFill>
            <a:srgbClr val="FF0000">
              <a:alpha val="54117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cxnSp>
        <p:nvCxnSpPr>
          <p:cNvPr id="50184" name="Straight Connector 9"/>
          <p:cNvCxnSpPr>
            <a:cxnSpLocks noChangeShapeType="1"/>
          </p:cNvCxnSpPr>
          <p:nvPr/>
        </p:nvCxnSpPr>
        <p:spPr bwMode="auto">
          <a:xfrm rot="5400000">
            <a:off x="685801" y="4876800"/>
            <a:ext cx="22860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0185" name="Straight Connector 10"/>
          <p:cNvCxnSpPr>
            <a:cxnSpLocks noChangeShapeType="1"/>
          </p:cNvCxnSpPr>
          <p:nvPr/>
        </p:nvCxnSpPr>
        <p:spPr bwMode="auto">
          <a:xfrm rot="5400000">
            <a:off x="5257801" y="4876800"/>
            <a:ext cx="22860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0186" name="Straight Connector 11"/>
          <p:cNvCxnSpPr>
            <a:cxnSpLocks noChangeShapeType="1"/>
          </p:cNvCxnSpPr>
          <p:nvPr/>
        </p:nvCxnSpPr>
        <p:spPr bwMode="auto">
          <a:xfrm>
            <a:off x="1219200" y="3886200"/>
            <a:ext cx="54102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50187" name="TextBox 12"/>
          <p:cNvSpPr txBox="1">
            <a:spLocks noChangeArrowheads="1"/>
          </p:cNvSpPr>
          <p:nvPr/>
        </p:nvSpPr>
        <p:spPr bwMode="auto">
          <a:xfrm>
            <a:off x="1524000" y="3200400"/>
            <a:ext cx="60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0.0</a:t>
            </a:r>
          </a:p>
        </p:txBody>
      </p:sp>
      <p:sp>
        <p:nvSpPr>
          <p:cNvPr id="50188" name="TextBox 13"/>
          <p:cNvSpPr txBox="1">
            <a:spLocks noChangeArrowheads="1"/>
          </p:cNvSpPr>
          <p:nvPr/>
        </p:nvSpPr>
        <p:spPr bwMode="auto">
          <a:xfrm>
            <a:off x="6096000" y="3200400"/>
            <a:ext cx="685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1.0</a:t>
            </a:r>
          </a:p>
        </p:txBody>
      </p:sp>
      <p:sp>
        <p:nvSpPr>
          <p:cNvPr id="50189" name="Rounded Rectangle 14"/>
          <p:cNvSpPr>
            <a:spLocks noChangeArrowheads="1"/>
          </p:cNvSpPr>
          <p:nvPr/>
        </p:nvSpPr>
        <p:spPr bwMode="auto">
          <a:xfrm>
            <a:off x="2667000" y="4114800"/>
            <a:ext cx="28194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50190" name="Rounded Rectangle 15"/>
          <p:cNvSpPr>
            <a:spLocks noChangeArrowheads="1"/>
          </p:cNvSpPr>
          <p:nvPr/>
        </p:nvSpPr>
        <p:spPr bwMode="auto">
          <a:xfrm>
            <a:off x="5715000" y="4724400"/>
            <a:ext cx="6858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50191" name="Rounded Rectangle 16"/>
          <p:cNvSpPr>
            <a:spLocks noChangeArrowheads="1"/>
          </p:cNvSpPr>
          <p:nvPr/>
        </p:nvSpPr>
        <p:spPr bwMode="auto">
          <a:xfrm>
            <a:off x="1981200" y="5029200"/>
            <a:ext cx="32004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50192" name="Rounded Rectangle 17"/>
          <p:cNvSpPr>
            <a:spLocks noChangeArrowheads="1"/>
          </p:cNvSpPr>
          <p:nvPr/>
        </p:nvSpPr>
        <p:spPr bwMode="auto">
          <a:xfrm>
            <a:off x="4114800" y="5334000"/>
            <a:ext cx="22860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50193" name="Rounded Rectangle 18"/>
          <p:cNvSpPr>
            <a:spLocks noChangeArrowheads="1"/>
          </p:cNvSpPr>
          <p:nvPr/>
        </p:nvSpPr>
        <p:spPr bwMode="auto">
          <a:xfrm>
            <a:off x="2133600" y="4419600"/>
            <a:ext cx="10668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cxnSp>
        <p:nvCxnSpPr>
          <p:cNvPr id="20" name="Straight Arrow Connector 19"/>
          <p:cNvCxnSpPr>
            <a:cxnSpLocks noChangeShapeType="1"/>
          </p:cNvCxnSpPr>
          <p:nvPr/>
        </p:nvCxnSpPr>
        <p:spPr bwMode="auto">
          <a:xfrm rot="16200000" flipH="1">
            <a:off x="2819400" y="3276600"/>
            <a:ext cx="990600" cy="533400"/>
          </a:xfrm>
          <a:prstGeom prst="straightConnector1">
            <a:avLst/>
          </a:prstGeom>
          <a:noFill/>
          <a:ln w="762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 rot="5400000">
            <a:off x="6362700" y="4457700"/>
            <a:ext cx="914400" cy="838200"/>
          </a:xfrm>
          <a:prstGeom prst="straightConnector1">
            <a:avLst/>
          </a:prstGeom>
          <a:noFill/>
          <a:ln w="76200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 algn="ctr">
              <a:defRPr/>
            </a:pPr>
            <a:fld id="{D9CEE399-8C56-4C2D-9E83-78E908A950C5}" type="slidenum">
              <a:rPr lang="en-US"/>
              <a:pPr algn="ctr">
                <a:defRPr/>
              </a:pPr>
              <a:t>51</a:t>
            </a:fld>
            <a:endParaRPr lang="en-US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Multisimulation Performance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u="sng" dirty="0" err="1" smtClean="0"/>
              <a:t>Thm</a:t>
            </a:r>
            <a:r>
              <a:rPr lang="en-US" sz="2800" dirty="0" smtClean="0"/>
              <a:t>: </a:t>
            </a:r>
            <a:r>
              <a:rPr lang="en-US" sz="2800" dirty="0" err="1" smtClean="0"/>
              <a:t>Multisimulation</a:t>
            </a:r>
            <a:r>
              <a:rPr lang="en-US" sz="2800" dirty="0" smtClean="0"/>
              <a:t> performs at most twice as many simulations as </a:t>
            </a:r>
            <a:r>
              <a:rPr lang="en-US" sz="2800" dirty="0" smtClean="0">
                <a:latin typeface="Times" pitchFamily="18" charset="0"/>
              </a:rPr>
              <a:t>OPT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And, no deterministic algorithm can do better on every instance.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u="sng" dirty="0" smtClean="0"/>
              <a:t>Practice</a:t>
            </a:r>
            <a:r>
              <a:rPr lang="en-US" dirty="0" smtClean="0"/>
              <a:t>: </a:t>
            </a:r>
            <a:r>
              <a:rPr lang="en-US" b="1" dirty="0" smtClean="0"/>
              <a:t>very</a:t>
            </a:r>
            <a:r>
              <a:rPr lang="en-US" dirty="0" smtClean="0"/>
              <a:t> slow </a:t>
            </a:r>
            <a:r>
              <a:rPr lang="en-US" dirty="0" err="1" smtClean="0"/>
              <a:t>w.o</a:t>
            </a:r>
            <a:r>
              <a:rPr lang="en-US" dirty="0" smtClean="0"/>
              <a:t>. low-level optimization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Still slow with current techniques.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Open question!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dirty="0" smtClean="0"/>
          </a:p>
        </p:txBody>
      </p:sp>
      <p:sp>
        <p:nvSpPr>
          <p:cNvPr id="8" name="Rectangle 34"/>
          <p:cNvSpPr>
            <a:spLocks noChangeArrowheads="1"/>
          </p:cNvSpPr>
          <p:nvPr/>
        </p:nvSpPr>
        <p:spPr bwMode="auto">
          <a:xfrm>
            <a:off x="0" y="0"/>
            <a:ext cx="20304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[R,Dalvi&amp;S’07]</a:t>
            </a:r>
          </a:p>
        </p:txBody>
      </p:sp>
      <p:sp>
        <p:nvSpPr>
          <p:cNvPr id="9" name="Oval Callout 8"/>
          <p:cNvSpPr/>
          <p:nvPr/>
        </p:nvSpPr>
        <p:spPr>
          <a:xfrm>
            <a:off x="4724400" y="5029200"/>
            <a:ext cx="4038600" cy="990600"/>
          </a:xfrm>
          <a:prstGeom prst="wedgeEllipseCallout">
            <a:avLst>
              <a:gd name="adj1" fmla="val -98435"/>
              <a:gd name="adj2" fmla="val -925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1" hangingPunct="1">
              <a:lnSpc>
                <a:spcPct val="90000"/>
              </a:lnSpc>
            </a:pPr>
            <a:r>
              <a:rPr lang="en-US" sz="2800" b="1" dirty="0" smtClean="0"/>
              <a:t> Slow v. SQL, </a:t>
            </a:r>
            <a:r>
              <a:rPr lang="en-US" sz="2800" b="1" u="sng" dirty="0" smtClean="0"/>
              <a:t>not</a:t>
            </a:r>
            <a:r>
              <a:rPr lang="en-US" sz="2800" b="1" dirty="0" smtClean="0"/>
              <a:t> inference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Basic Query Processing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SELECT-FROM-WHERE Queries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Compiling Safe Queries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Unsafe Queries (Sampling)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Top-K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Aggregation Queries + Probabilities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Top-K + Measures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OLAP Queries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HAVING Queries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8600" y="4572000"/>
            <a:ext cx="609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Semantics for Top-K +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The worst speeder? 2 speeders?</a:t>
            </a:r>
          </a:p>
          <a:p>
            <a:r>
              <a:rPr lang="en-US" dirty="0" smtClean="0"/>
              <a:t>Combine </a:t>
            </a:r>
            <a:r>
              <a:rPr lang="en-US" dirty="0" err="1" smtClean="0"/>
              <a:t>prob+measure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All 3 semantics: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Create single </a:t>
            </a:r>
            <a:r>
              <a:rPr lang="en-US" i="1" dirty="0" smtClean="0"/>
              <a:t>score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Return ranked by score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562600" y="2377440"/>
          <a:ext cx="3124200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040859"/>
                <a:gridCol w="864141"/>
              </a:tblGrid>
              <a:tr h="89916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License</a:t>
                      </a:r>
                      <a:r>
                        <a:rPr lang="en-US" sz="2400" baseline="0" dirty="0" smtClean="0"/>
                        <a:t> Plate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Speed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A-123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0.2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0.8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B-456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0.9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0.1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C-789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34"/>
          <p:cNvSpPr>
            <a:spLocks noChangeArrowheads="1"/>
          </p:cNvSpPr>
          <p:nvPr/>
        </p:nvSpPr>
        <p:spPr bwMode="auto">
          <a:xfrm>
            <a:off x="0" y="0"/>
            <a:ext cx="5186061" cy="461647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[</a:t>
            </a:r>
            <a:r>
              <a:rPr lang="en-US" sz="2400" b="1" dirty="0" err="1" smtClean="0">
                <a:solidFill>
                  <a:schemeClr val="bg1"/>
                </a:solidFill>
                <a:latin typeface="+mn-lt"/>
                <a:cs typeface="+mn-cs"/>
              </a:rPr>
              <a:t>Soliman</a:t>
            </a: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 et al’07][Zhang&amp;Chomicki’08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56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24000" y="2819400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A-123 </a:t>
            </a:r>
            <a:r>
              <a:rPr lang="en-US" sz="2800" b="1" dirty="0" smtClean="0"/>
              <a:t>either </a:t>
            </a:r>
            <a:r>
              <a:rPr lang="en-US" sz="2800" dirty="0" smtClean="0"/>
              <a:t>200 </a:t>
            </a:r>
            <a:r>
              <a:rPr lang="en-US" sz="2800" b="1" dirty="0" smtClean="0"/>
              <a:t>or</a:t>
            </a:r>
            <a:r>
              <a:rPr lang="en-US" sz="2800" dirty="0" smtClean="0"/>
              <a:t> 50</a:t>
            </a:r>
            <a:endParaRPr lang="en-US" sz="2800" dirty="0"/>
          </a:p>
        </p:txBody>
      </p:sp>
      <p:cxnSp>
        <p:nvCxnSpPr>
          <p:cNvPr id="10" name="Straight Arrow Connector 9"/>
          <p:cNvCxnSpPr>
            <a:stCxn id="8" idx="2"/>
          </p:cNvCxnSpPr>
          <p:nvPr/>
        </p:nvCxnSpPr>
        <p:spPr>
          <a:xfrm rot="16200000" flipH="1">
            <a:off x="4262110" y="2585710"/>
            <a:ext cx="619780" cy="2133600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2"/>
          </p:cNvCxnSpPr>
          <p:nvPr/>
        </p:nvCxnSpPr>
        <p:spPr>
          <a:xfrm rot="16200000" flipH="1">
            <a:off x="4452610" y="2395210"/>
            <a:ext cx="162580" cy="2057400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Callout 14"/>
          <p:cNvSpPr/>
          <p:nvPr/>
        </p:nvSpPr>
        <p:spPr>
          <a:xfrm>
            <a:off x="5257800" y="5638800"/>
            <a:ext cx="2590800" cy="1066800"/>
          </a:xfrm>
          <a:prstGeom prst="wedgeEllipseCallout">
            <a:avLst>
              <a:gd name="adj1" fmla="val -90442"/>
              <a:gd name="adj2" fmla="val -659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mtClean="0"/>
              <a:t>Differ in score def</a:t>
            </a:r>
            <a:endParaRPr lang="en-US" sz="2800" b="1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Semantic 1: Expectation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The worst speeder? 2 speeders?</a:t>
            </a:r>
          </a:p>
          <a:p>
            <a:pPr eaLnBrk="1" hangingPunct="1"/>
            <a:r>
              <a:rPr lang="en-US" dirty="0" smtClean="0"/>
              <a:t>Expectation</a:t>
            </a:r>
          </a:p>
          <a:p>
            <a:pPr lvl="1" eaLnBrk="1" hangingPunct="1"/>
            <a:r>
              <a:rPr lang="en-US" i="1" dirty="0" smtClean="0"/>
              <a:t>Score</a:t>
            </a:r>
            <a:r>
              <a:rPr lang="en-US" dirty="0" smtClean="0"/>
              <a:t>=Expected Speed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1000" y="3733800"/>
          <a:ext cx="2819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600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License</a:t>
                      </a:r>
                      <a:r>
                        <a:rPr lang="en-US" sz="2400" baseline="0" dirty="0" smtClean="0"/>
                        <a:t> Plate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E[Speed]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A-123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80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B-456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74.5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C-789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74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648200" y="5218093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Top1 = {A-123}</a:t>
            </a:r>
          </a:p>
          <a:p>
            <a:r>
              <a:rPr lang="en-US" sz="2800" dirty="0" smtClean="0"/>
              <a:t>Top2 = {A-123,B-456}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1524000" y="6248400"/>
            <a:ext cx="6553200" cy="46166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Linear </a:t>
            </a:r>
            <a:r>
              <a:rPr lang="en-US" sz="2400" b="1" dirty="0" err="1" smtClean="0"/>
              <a:t>apx</a:t>
            </a:r>
            <a:r>
              <a:rPr lang="en-US" sz="2400" b="1" dirty="0" smtClean="0"/>
              <a:t>, so fast to compute!</a:t>
            </a:r>
            <a:endParaRPr lang="en-US" sz="2400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67400" y="2072640"/>
          <a:ext cx="3124200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040859"/>
                <a:gridCol w="864141"/>
              </a:tblGrid>
              <a:tr h="89916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License</a:t>
                      </a:r>
                      <a:r>
                        <a:rPr lang="en-US" sz="2400" baseline="0" dirty="0" smtClean="0"/>
                        <a:t> Plate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Speed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Conf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A-123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0.2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0.8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B-456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0.9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0.1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C-789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76600" y="4572000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200 *.2 + 50 *.8</a:t>
            </a:r>
            <a:endParaRPr lang="en-US" sz="240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8" grpId="0" animBg="1"/>
      <p:bldP spid="1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Semantic 2: U-</a:t>
            </a:r>
            <a:r>
              <a:rPr lang="en-US" dirty="0" err="1" smtClean="0"/>
              <a:t>kRanks</a:t>
            </a:r>
            <a:endParaRPr lang="en-US" dirty="0" smtClean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The worst speeder? 2 speeders?</a:t>
            </a:r>
          </a:p>
          <a:p>
            <a:pPr eaLnBrk="1" hangingPunct="1"/>
            <a:r>
              <a:rPr lang="en-US" dirty="0" smtClean="0"/>
              <a:t>U-</a:t>
            </a:r>
            <a:r>
              <a:rPr lang="en-US" dirty="0" err="1" smtClean="0"/>
              <a:t>kRank</a:t>
            </a:r>
            <a:endParaRPr lang="en-US" dirty="0" smtClean="0"/>
          </a:p>
          <a:p>
            <a:pPr lvl="1" eaLnBrk="1" hangingPunct="1"/>
            <a:r>
              <a:rPr lang="en-US" i="1" dirty="0" smtClean="0"/>
              <a:t>Score(t)</a:t>
            </a:r>
            <a:r>
              <a:rPr lang="en-US" dirty="0" smtClean="0"/>
              <a:t>=Pr[t at rank k]</a:t>
            </a:r>
          </a:p>
          <a:p>
            <a:pPr lvl="1" eaLnBrk="1" hangingPunct="1">
              <a:buNone/>
            </a:pPr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52400" y="3810000"/>
          <a:ext cx="3276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531"/>
                <a:gridCol w="1058410"/>
                <a:gridCol w="10686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License</a:t>
                      </a:r>
                      <a:r>
                        <a:rPr lang="en-US" sz="2400" baseline="0" dirty="0" smtClean="0"/>
                        <a:t> Plate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Rank 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Rank</a:t>
                      </a:r>
                      <a:r>
                        <a:rPr lang="en-US" sz="2400" baseline="0" dirty="0" smtClean="0"/>
                        <a:t> 2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A-123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0.0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B-456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0.72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0.14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C-789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0.08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0.496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38800" y="5294293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Top1 = {B-456}</a:t>
            </a:r>
          </a:p>
          <a:p>
            <a:r>
              <a:rPr lang="en-US" sz="2800" dirty="0" smtClean="0"/>
              <a:t>Top2 = {B-456,C-789}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1905000" y="6248400"/>
            <a:ext cx="6096000" cy="46166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NB: </a:t>
            </a:r>
            <a:r>
              <a:rPr lang="en-US" sz="2400" b="1" dirty="0" err="1" smtClean="0"/>
              <a:t>Soliman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et al </a:t>
            </a:r>
            <a:r>
              <a:rPr lang="en-US" sz="2400" b="1" dirty="0" smtClean="0"/>
              <a:t>consider </a:t>
            </a:r>
            <a:r>
              <a:rPr lang="en-US" sz="2400" b="1" i="1" dirty="0" smtClean="0"/>
              <a:t>correlations</a:t>
            </a:r>
            <a:endParaRPr lang="en-US" sz="2400" b="1" i="1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0" y="0"/>
            <a:ext cx="2429922" cy="461647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[</a:t>
            </a:r>
            <a:r>
              <a:rPr lang="en-US" sz="2400" b="1" dirty="0" err="1" smtClean="0">
                <a:solidFill>
                  <a:schemeClr val="bg1"/>
                </a:solidFill>
                <a:latin typeface="+mn-lt"/>
                <a:cs typeface="+mn-cs"/>
              </a:rPr>
              <a:t>Soliman</a:t>
            </a: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 et al’07]</a:t>
            </a:r>
            <a:endParaRPr lang="en-US" sz="2400" b="1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67400" y="2072640"/>
          <a:ext cx="3124200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040859"/>
                <a:gridCol w="864141"/>
              </a:tblGrid>
              <a:tr h="89916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License</a:t>
                      </a:r>
                      <a:r>
                        <a:rPr lang="en-US" sz="2400" baseline="0" dirty="0" smtClean="0"/>
                        <a:t> Plate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Speed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Conf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A-123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0.2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0.8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B-456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0.9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0.1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C-789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0" y="3429000"/>
            <a:ext cx="1371600" cy="461665"/>
          </a:xfrm>
          <a:prstGeom prst="rect">
            <a:avLst/>
          </a:prstGeom>
          <a:noFill/>
          <a:ln w="38100">
            <a:noFill/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0.8 * 0.9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1371600" y="5105400"/>
            <a:ext cx="609600" cy="381000"/>
          </a:xfrm>
          <a:prstGeom prst="rect">
            <a:avLst/>
          </a:prstGeom>
          <a:noFill/>
          <a:ln w="38100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086600" y="3505200"/>
            <a:ext cx="1905000" cy="304800"/>
          </a:xfrm>
          <a:prstGeom prst="rect">
            <a:avLst/>
          </a:prstGeom>
          <a:noFill/>
          <a:ln w="63500">
            <a:solidFill>
              <a:srgbClr val="FFFF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086600" y="3962400"/>
            <a:ext cx="1905000" cy="304800"/>
          </a:xfrm>
          <a:prstGeom prst="rect">
            <a:avLst/>
          </a:prstGeom>
          <a:noFill/>
          <a:ln w="63500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191000" y="3505200"/>
            <a:ext cx="457200" cy="304800"/>
          </a:xfrm>
          <a:prstGeom prst="rect">
            <a:avLst/>
          </a:prstGeom>
          <a:noFill/>
          <a:ln w="63500">
            <a:solidFill>
              <a:srgbClr val="FFFF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876800" y="3505200"/>
            <a:ext cx="457200" cy="304800"/>
          </a:xfrm>
          <a:prstGeom prst="rect">
            <a:avLst/>
          </a:prstGeom>
          <a:noFill/>
          <a:ln w="63500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Curved Connector 19"/>
          <p:cNvCxnSpPr>
            <a:stCxn id="13" idx="1"/>
            <a:endCxn id="15" idx="0"/>
          </p:cNvCxnSpPr>
          <p:nvPr/>
        </p:nvCxnSpPr>
        <p:spPr>
          <a:xfrm rot="10800000">
            <a:off x="4419600" y="3505200"/>
            <a:ext cx="2667000" cy="152400"/>
          </a:xfrm>
          <a:prstGeom prst="curvedConnector4">
            <a:avLst>
              <a:gd name="adj1" fmla="val 62601"/>
              <a:gd name="adj2" fmla="val 482836"/>
            </a:avLst>
          </a:prstGeom>
          <a:ln w="508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hape 25"/>
          <p:cNvCxnSpPr>
            <a:stCxn id="14" idx="1"/>
          </p:cNvCxnSpPr>
          <p:nvPr/>
        </p:nvCxnSpPr>
        <p:spPr>
          <a:xfrm rot="10800000">
            <a:off x="5257800" y="3657600"/>
            <a:ext cx="1828800" cy="457200"/>
          </a:xfrm>
          <a:prstGeom prst="curvedConnector3">
            <a:avLst>
              <a:gd name="adj1" fmla="val 17910"/>
            </a:avLst>
          </a:prstGeom>
          <a:ln w="635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8" grpId="0" animBg="1"/>
      <p:bldP spid="9" grpId="0"/>
      <p:bldP spid="12" grpId="0" animBg="1"/>
      <p:bldP spid="13" grpId="0" animBg="1"/>
      <p:bldP spid="14" grpId="0" animBg="1"/>
      <p:bldP spid="15" grpId="0" animBg="1"/>
      <p:bldP spid="18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Semantic 3: Global-Top-K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The worst speeder? 2 speeders?</a:t>
            </a:r>
          </a:p>
          <a:p>
            <a:pPr eaLnBrk="1" hangingPunct="1"/>
            <a:r>
              <a:rPr lang="en-US" i="1" dirty="0" smtClean="0"/>
              <a:t>Global-Top-K </a:t>
            </a:r>
          </a:p>
          <a:p>
            <a:pPr lvl="1" eaLnBrk="1" hangingPunct="1"/>
            <a:r>
              <a:rPr lang="en-US" i="1" dirty="0" smtClean="0"/>
              <a:t>Score</a:t>
            </a:r>
            <a:r>
              <a:rPr lang="en-US" dirty="0" smtClean="0"/>
              <a:t>(t)=Pr[t in top-k]</a:t>
            </a:r>
          </a:p>
          <a:p>
            <a:pPr lvl="1"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0" y="0"/>
            <a:ext cx="2940767" cy="461647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[Zhang&amp;Chomicki’08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]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04800" y="3749040"/>
          <a:ext cx="32765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781"/>
                <a:gridCol w="992909"/>
                <a:gridCol w="99290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License</a:t>
                      </a:r>
                      <a:r>
                        <a:rPr lang="en-US" sz="2400" baseline="0" dirty="0" smtClean="0"/>
                        <a:t> Plate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Top-1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Top-2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A-123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0.2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B-456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0.72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0.98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C-789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0.08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0.8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648200" y="5446693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Top1 = {B-456}</a:t>
            </a:r>
          </a:p>
          <a:p>
            <a:r>
              <a:rPr lang="en-US" sz="2800" dirty="0" smtClean="0"/>
              <a:t>Top2 = {B-456,C-789}</a:t>
            </a:r>
            <a:endParaRPr lang="en-US" sz="280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867400" y="2072640"/>
          <a:ext cx="3124200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040859"/>
                <a:gridCol w="864141"/>
              </a:tblGrid>
              <a:tr h="89916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License</a:t>
                      </a:r>
                      <a:r>
                        <a:rPr lang="en-US" sz="2400" baseline="0" dirty="0" smtClean="0"/>
                        <a:t> Plate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Speed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Conf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A-123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0.2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0.8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B-456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0.9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0.1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C-789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Comparing the 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Z&amp;C’s three properties for top-</a:t>
            </a:r>
            <a:r>
              <a:rPr lang="en-US" i="1" dirty="0" smtClean="0"/>
              <a:t>k</a:t>
            </a:r>
            <a:endParaRPr lang="en-US" i="1" dirty="0"/>
          </a:p>
        </p:txBody>
      </p:sp>
      <p:sp>
        <p:nvSpPr>
          <p:cNvPr id="4" name="Rectangle 34"/>
          <p:cNvSpPr>
            <a:spLocks noChangeArrowheads="1"/>
          </p:cNvSpPr>
          <p:nvPr/>
        </p:nvSpPr>
        <p:spPr bwMode="auto">
          <a:xfrm>
            <a:off x="0" y="0"/>
            <a:ext cx="2940767" cy="461647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[Zhang&amp;Chomicki’08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057400"/>
            <a:ext cx="8229600" cy="954107"/>
          </a:xfrm>
          <a:prstGeom prst="rect">
            <a:avLst/>
          </a:prstGeom>
          <a:solidFill>
            <a:srgbClr val="FFFF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Exact k</a:t>
            </a:r>
            <a:r>
              <a:rPr lang="en-US" sz="2800" b="1" dirty="0" smtClean="0"/>
              <a:t>: If the cardinality of the db is large then the top-k has k exactly distinct values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09600" y="3124200"/>
            <a:ext cx="8229600" cy="95410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chemeClr val="bg1"/>
                </a:solidFill>
              </a:rPr>
              <a:t>Faithful</a:t>
            </a:r>
            <a:r>
              <a:rPr lang="en-US" sz="2800" b="1" dirty="0" smtClean="0">
                <a:solidFill>
                  <a:schemeClr val="bg1"/>
                </a:solidFill>
              </a:rPr>
              <a:t>: If the probability and score of t is higher than u, then u in top-k implies t in top-k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4191000"/>
            <a:ext cx="8229600" cy="954107"/>
          </a:xfrm>
          <a:prstGeom prst="rect">
            <a:avLst/>
          </a:prstGeom>
          <a:solidFill>
            <a:srgbClr val="FFFF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Stability</a:t>
            </a:r>
            <a:r>
              <a:rPr lang="en-US" sz="2800" b="1" dirty="0" smtClean="0"/>
              <a:t>: Raising the score/probability of a </a:t>
            </a:r>
            <a:r>
              <a:rPr lang="en-US" sz="2800" b="1" dirty="0" err="1" smtClean="0"/>
              <a:t>tuple</a:t>
            </a:r>
            <a:r>
              <a:rPr lang="en-US" sz="2800" b="1" dirty="0" smtClean="0"/>
              <a:t> in top-k, will not remove it from the top-k.</a:t>
            </a:r>
            <a:endParaRPr 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62000" y="542038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THM [Z&amp;C’08]:</a:t>
            </a:r>
            <a:r>
              <a:rPr lang="en-US" sz="2800" dirty="0" smtClean="0"/>
              <a:t> Global-top-k has these properties.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762000" y="6167735"/>
            <a:ext cx="5791200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Expectation also has these properties</a:t>
            </a:r>
            <a:endParaRPr lang="en-US" sz="2400" b="1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Basic Query Processing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SELECT-FROM-WHERE Queries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Compiling Safe Queries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Unsafe Queries (Sampling)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Top-K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Aggregation Queries + Probabilities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Top-K + Measures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OLAP Queries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HAVING Queries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8600" y="5029200"/>
            <a:ext cx="609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Motivation for OLAP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Customer Relationship Management App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Data is </a:t>
            </a:r>
            <a:r>
              <a:rPr lang="en-US" i="1" u="sng" dirty="0" smtClean="0"/>
              <a:t>dirty: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Extracted/Classified from text (</a:t>
            </a:r>
            <a:r>
              <a:rPr lang="en-US" i="1" dirty="0" smtClean="0"/>
              <a:t>e.g.</a:t>
            </a:r>
            <a:r>
              <a:rPr lang="en-US" dirty="0" smtClean="0"/>
              <a:t> Color, Brake)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Attributes are non-leaf/ambiguous (</a:t>
            </a:r>
            <a:r>
              <a:rPr lang="en-US" i="1" dirty="0" smtClean="0"/>
              <a:t>e.g.</a:t>
            </a:r>
            <a:r>
              <a:rPr lang="en-US" dirty="0" smtClean="0"/>
              <a:t> EAST)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Do we need probabilities?</a:t>
            </a:r>
          </a:p>
        </p:txBody>
      </p:sp>
      <p:sp>
        <p:nvSpPr>
          <p:cNvPr id="6" name="Rectangle 34"/>
          <p:cNvSpPr>
            <a:spLocks noChangeArrowheads="1"/>
          </p:cNvSpPr>
          <p:nvPr/>
        </p:nvSpPr>
        <p:spPr bwMode="auto">
          <a:xfrm>
            <a:off x="0" y="0"/>
            <a:ext cx="2438400" cy="461647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[Burdick et </a:t>
            </a: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al’05]</a:t>
            </a:r>
            <a:endParaRPr lang="en-US" sz="2400" b="1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0" y="2209800"/>
          <a:ext cx="533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880110"/>
                <a:gridCol w="826770"/>
                <a:gridCol w="1524000"/>
                <a:gridCol w="1143000"/>
              </a:tblGrid>
              <a:tr h="5334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Auto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Loc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Color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Brake?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F-150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$200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:1,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0.8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F-150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EAST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$140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:0.5,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:0.5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1.0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Truck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$500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:1,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0.9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Oval Callout 9"/>
          <p:cNvSpPr/>
          <p:nvPr/>
        </p:nvSpPr>
        <p:spPr>
          <a:xfrm>
            <a:off x="5867400" y="990600"/>
            <a:ext cx="2514600" cy="838200"/>
          </a:xfrm>
          <a:prstGeom prst="wedgeEllipseCallout">
            <a:avLst>
              <a:gd name="adj1" fmla="val -53156"/>
              <a:gd name="adj2" fmla="val 197665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Is it a brake repair?</a:t>
            </a:r>
            <a:endParaRPr lang="en-US" sz="2400" b="1" dirty="0"/>
          </a:p>
        </p:txBody>
      </p:sp>
      <p:sp>
        <p:nvSpPr>
          <p:cNvPr id="11" name="Oval Callout 10"/>
          <p:cNvSpPr/>
          <p:nvPr/>
        </p:nvSpPr>
        <p:spPr>
          <a:xfrm>
            <a:off x="-304800" y="609600"/>
            <a:ext cx="2514600" cy="838200"/>
          </a:xfrm>
          <a:prstGeom prst="wedgeEllipseCallout">
            <a:avLst>
              <a:gd name="adj1" fmla="val 69504"/>
              <a:gd name="adj2" fmla="val 26822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East = NY? East= MA?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010400" y="2971800"/>
            <a:ext cx="1981200" cy="830997"/>
          </a:xfrm>
          <a:prstGeom prst="rect">
            <a:avLst/>
          </a:prstGeom>
          <a:solidFill>
            <a:srgbClr val="00B0F0"/>
          </a:solidFill>
          <a:ln w="381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Sources of uncertainty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OLAP Data &amp; Query Model</a:t>
            </a:r>
            <a:endParaRPr lang="en-US" dirty="0"/>
          </a:p>
        </p:txBody>
      </p:sp>
      <p:sp useBgFill="1">
        <p:nvSpPr>
          <p:cNvPr id="4" name="Rectangle 3"/>
          <p:cNvSpPr/>
          <p:nvPr/>
        </p:nvSpPr>
        <p:spPr>
          <a:xfrm>
            <a:off x="1371600" y="4267199"/>
            <a:ext cx="24384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81400" y="1219200"/>
          <a:ext cx="533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880110"/>
                <a:gridCol w="826770"/>
                <a:gridCol w="1524000"/>
                <a:gridCol w="1143000"/>
              </a:tblGrid>
              <a:tr h="5334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Auto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Loc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Color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Brake?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F-150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$200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:1,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0.8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F-150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EAST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$140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:0.5,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:0.5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1.0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Truck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MA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$500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:1,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0.9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00200" y="388619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NY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743200" y="388619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MA</a:t>
            </a:r>
            <a:endParaRPr lang="en-US" sz="2400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143542" y="5181347"/>
            <a:ext cx="2742406" cy="12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38200" y="5257799"/>
            <a:ext cx="388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524000" y="4343399"/>
            <a:ext cx="7620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T1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465986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F-150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09600" y="563879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RAM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2743200" y="1752600"/>
            <a:ext cx="762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T1</a:t>
            </a:r>
            <a:endParaRPr lang="en-US" sz="2400" b="1" dirty="0"/>
          </a:p>
        </p:txBody>
      </p:sp>
      <p:sp>
        <p:nvSpPr>
          <p:cNvPr id="24" name="Oval 23"/>
          <p:cNvSpPr/>
          <p:nvPr/>
        </p:nvSpPr>
        <p:spPr>
          <a:xfrm>
            <a:off x="2743200" y="2209800"/>
            <a:ext cx="762000" cy="381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2743200" y="2667000"/>
            <a:ext cx="762000" cy="3810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T3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2057400" y="4800599"/>
            <a:ext cx="990600" cy="381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3048000" y="4800599"/>
            <a:ext cx="762000" cy="9906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T3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981200" y="327660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EAST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28600" y="4495800"/>
            <a:ext cx="553998" cy="145673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400" b="1" dirty="0" smtClean="0"/>
              <a:t>TRUCKS</a:t>
            </a:r>
            <a:endParaRPr lang="en-US" sz="24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5181600" y="3581400"/>
            <a:ext cx="3657600" cy="830997"/>
          </a:xfrm>
          <a:prstGeom prst="rect">
            <a:avLst/>
          </a:prstGeom>
          <a:noFill/>
          <a:ln w="6350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“Cost of F-150 brake repairs in NY”</a:t>
            </a:r>
            <a:endParaRPr lang="en-US" sz="2400" i="1" dirty="0"/>
          </a:p>
        </p:txBody>
      </p:sp>
      <p:sp>
        <p:nvSpPr>
          <p:cNvPr id="36" name="Rectangle 35"/>
          <p:cNvSpPr/>
          <p:nvPr/>
        </p:nvSpPr>
        <p:spPr>
          <a:xfrm>
            <a:off x="1371600" y="3733800"/>
            <a:ext cx="1066800" cy="1447800"/>
          </a:xfrm>
          <a:prstGeom prst="rect">
            <a:avLst/>
          </a:prstGeom>
          <a:noFill/>
          <a:ln w="6350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5105400" y="4572000"/>
            <a:ext cx="3886200" cy="830997"/>
          </a:xfrm>
          <a:prstGeom prst="rect">
            <a:avLst/>
          </a:prstGeom>
          <a:noFill/>
          <a:ln w="635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“Cost of F-150 brake repairs in EAST”</a:t>
            </a:r>
            <a:endParaRPr lang="en-US" sz="2400" i="1" dirty="0"/>
          </a:p>
        </p:txBody>
      </p:sp>
      <p:sp>
        <p:nvSpPr>
          <p:cNvPr id="39" name="Rectangle 38"/>
          <p:cNvSpPr/>
          <p:nvPr/>
        </p:nvSpPr>
        <p:spPr>
          <a:xfrm>
            <a:off x="685800" y="4267200"/>
            <a:ext cx="3352800" cy="914400"/>
          </a:xfrm>
          <a:prstGeom prst="rect">
            <a:avLst/>
          </a:prstGeom>
          <a:noFill/>
          <a:ln w="635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5562600" y="5715000"/>
            <a:ext cx="2514600" cy="46166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Query Regions</a:t>
            </a:r>
            <a:endParaRPr lang="en-US" sz="2400" b="1" dirty="0"/>
          </a:p>
        </p:txBody>
      </p:sp>
      <p:sp>
        <p:nvSpPr>
          <p:cNvPr id="41" name="Rectangle 34"/>
          <p:cNvSpPr>
            <a:spLocks noChangeArrowheads="1"/>
          </p:cNvSpPr>
          <p:nvPr/>
        </p:nvSpPr>
        <p:spPr bwMode="auto">
          <a:xfrm>
            <a:off x="0" y="0"/>
            <a:ext cx="2438400" cy="461647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[Burdick et </a:t>
            </a: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al’05]</a:t>
            </a:r>
            <a:endParaRPr lang="en-US" sz="2400" b="1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cxnSp>
        <p:nvCxnSpPr>
          <p:cNvPr id="43" name="Straight Arrow Connector 42"/>
          <p:cNvCxnSpPr>
            <a:stCxn id="40" idx="1"/>
            <a:endCxn id="36" idx="3"/>
          </p:cNvCxnSpPr>
          <p:nvPr/>
        </p:nvCxnSpPr>
        <p:spPr>
          <a:xfrm rot="10800000">
            <a:off x="2438400" y="4457701"/>
            <a:ext cx="3124200" cy="1488133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0" idx="1"/>
            <a:endCxn id="39" idx="3"/>
          </p:cNvCxnSpPr>
          <p:nvPr/>
        </p:nvCxnSpPr>
        <p:spPr>
          <a:xfrm rot="10800000">
            <a:off x="4038600" y="4724401"/>
            <a:ext cx="1524000" cy="1221433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8200" y="6400800"/>
            <a:ext cx="342900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Size is not significant</a:t>
            </a:r>
            <a:endParaRPr lang="en-US" sz="2400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Semantics for OLAP</a:t>
            </a:r>
            <a:endParaRPr lang="en-US" dirty="0"/>
          </a:p>
        </p:txBody>
      </p:sp>
      <p:sp useBgFill="1">
        <p:nvSpPr>
          <p:cNvPr id="4" name="Rectangle 3"/>
          <p:cNvSpPr/>
          <p:nvPr/>
        </p:nvSpPr>
        <p:spPr>
          <a:xfrm>
            <a:off x="1371600" y="4267199"/>
            <a:ext cx="24384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19200" y="1219200"/>
          <a:ext cx="533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880110"/>
                <a:gridCol w="826770"/>
                <a:gridCol w="1524000"/>
                <a:gridCol w="1143000"/>
              </a:tblGrid>
              <a:tr h="5334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Auto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Loc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Color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Brake?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F-150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$200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:1,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0.8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F-150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EAST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$140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:0.5,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:0.5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1.0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Truck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MA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$500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:1,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0.9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00200" y="388619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NY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743200" y="388619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MA</a:t>
            </a:r>
            <a:endParaRPr lang="en-US" sz="2400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143542" y="5181347"/>
            <a:ext cx="2742406" cy="12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38200" y="5257799"/>
            <a:ext cx="388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524000" y="4343399"/>
            <a:ext cx="7620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T1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465986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F-150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09600" y="563879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RAM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381000" y="1752600"/>
            <a:ext cx="762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T1</a:t>
            </a:r>
            <a:endParaRPr lang="en-US" sz="2400" b="1" dirty="0"/>
          </a:p>
        </p:txBody>
      </p:sp>
      <p:sp>
        <p:nvSpPr>
          <p:cNvPr id="24" name="Oval 23"/>
          <p:cNvSpPr/>
          <p:nvPr/>
        </p:nvSpPr>
        <p:spPr>
          <a:xfrm>
            <a:off x="381000" y="2209800"/>
            <a:ext cx="762000" cy="381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81000" y="2667000"/>
            <a:ext cx="762000" cy="3810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T3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2057400" y="4800599"/>
            <a:ext cx="990600" cy="381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3048000" y="4800599"/>
            <a:ext cx="762000" cy="9906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T3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981200" y="327660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EAST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28600" y="4495800"/>
            <a:ext cx="553998" cy="145673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400" b="1" dirty="0" smtClean="0"/>
              <a:t>TRUCKS</a:t>
            </a:r>
            <a:endParaRPr lang="en-US" sz="2400" b="1" dirty="0"/>
          </a:p>
        </p:txBody>
      </p:sp>
      <p:sp>
        <p:nvSpPr>
          <p:cNvPr id="41" name="Rectangle 34"/>
          <p:cNvSpPr>
            <a:spLocks noChangeArrowheads="1"/>
          </p:cNvSpPr>
          <p:nvPr/>
        </p:nvSpPr>
        <p:spPr bwMode="auto">
          <a:xfrm>
            <a:off x="0" y="0"/>
            <a:ext cx="2438400" cy="461647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[Burdick et </a:t>
            </a: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al’05]</a:t>
            </a:r>
            <a:endParaRPr lang="en-US" sz="2400" b="1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8200" y="6400800"/>
            <a:ext cx="342900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Size is not significant</a:t>
            </a:r>
            <a:endParaRPr lang="en-US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4876800" y="5228272"/>
            <a:ext cx="396240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sz="2400" b="1" dirty="0" smtClean="0"/>
              <a:t>Not faithful</a:t>
            </a:r>
            <a:r>
              <a:rPr lang="en-US" sz="2400" dirty="0" smtClean="0"/>
              <a:t>: Color uncertainty, breaks report! 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876800" y="3200400"/>
            <a:ext cx="4267200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i="1" dirty="0" err="1" smtClean="0"/>
              <a:t>Sem</a:t>
            </a:r>
            <a:r>
              <a:rPr lang="en-US" sz="2800" i="1" dirty="0" smtClean="0"/>
              <a:t> 1, </a:t>
            </a:r>
            <a:r>
              <a:rPr lang="en-US" sz="2800" b="1" i="1" dirty="0" smtClean="0"/>
              <a:t>None</a:t>
            </a:r>
            <a:r>
              <a:rPr lang="en-US" sz="2800" dirty="0" smtClean="0"/>
              <a:t>. Any uncertainty, ignore </a:t>
            </a:r>
            <a:r>
              <a:rPr lang="en-US" sz="2800" dirty="0" err="1" smtClean="0"/>
              <a:t>tuple</a:t>
            </a:r>
            <a:r>
              <a:rPr lang="en-US" sz="2800" dirty="0" smtClean="0"/>
              <a:t>.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267200"/>
            <a:ext cx="3352800" cy="914400"/>
          </a:xfrm>
          <a:prstGeom prst="rect">
            <a:avLst/>
          </a:prstGeom>
          <a:noFill/>
          <a:ln w="635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Semantics for OLAP</a:t>
            </a:r>
            <a:endParaRPr lang="en-US" dirty="0"/>
          </a:p>
        </p:txBody>
      </p:sp>
      <p:sp useBgFill="1">
        <p:nvSpPr>
          <p:cNvPr id="4" name="Rectangle 3"/>
          <p:cNvSpPr/>
          <p:nvPr/>
        </p:nvSpPr>
        <p:spPr>
          <a:xfrm>
            <a:off x="1371600" y="4267199"/>
            <a:ext cx="24384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19200" y="1219200"/>
          <a:ext cx="533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880110"/>
                <a:gridCol w="826770"/>
                <a:gridCol w="1524000"/>
                <a:gridCol w="1143000"/>
              </a:tblGrid>
              <a:tr h="5334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Auto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Loc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Color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Brake?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F-150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$200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:1,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0.8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F-150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EAST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$140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:0.5,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:0.5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1.0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Truck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MA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$500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:1,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0.9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00200" y="388619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NY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743200" y="388619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MA</a:t>
            </a:r>
            <a:endParaRPr lang="en-US" sz="2400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143542" y="5181347"/>
            <a:ext cx="2742406" cy="12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38200" y="5257799"/>
            <a:ext cx="388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524000" y="4343399"/>
            <a:ext cx="7620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T1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465986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F-150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09600" y="563879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RAM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381000" y="1752600"/>
            <a:ext cx="762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T1</a:t>
            </a:r>
            <a:endParaRPr lang="en-US" sz="2400" b="1" dirty="0"/>
          </a:p>
        </p:txBody>
      </p:sp>
      <p:sp>
        <p:nvSpPr>
          <p:cNvPr id="24" name="Oval 23"/>
          <p:cNvSpPr/>
          <p:nvPr/>
        </p:nvSpPr>
        <p:spPr>
          <a:xfrm>
            <a:off x="381000" y="2209800"/>
            <a:ext cx="762000" cy="381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81000" y="2667000"/>
            <a:ext cx="762000" cy="3810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T3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2057400" y="4800599"/>
            <a:ext cx="990600" cy="381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3048000" y="4800599"/>
            <a:ext cx="762000" cy="9906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T3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981200" y="327660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EAST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28600" y="4495800"/>
            <a:ext cx="553998" cy="145673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400" b="1" dirty="0" smtClean="0"/>
              <a:t>TRUCKS</a:t>
            </a:r>
            <a:endParaRPr lang="en-US" sz="2400" b="1" dirty="0"/>
          </a:p>
        </p:txBody>
      </p:sp>
      <p:sp>
        <p:nvSpPr>
          <p:cNvPr id="41" name="Rectangle 34"/>
          <p:cNvSpPr>
            <a:spLocks noChangeArrowheads="1"/>
          </p:cNvSpPr>
          <p:nvPr/>
        </p:nvSpPr>
        <p:spPr bwMode="auto">
          <a:xfrm>
            <a:off x="0" y="0"/>
            <a:ext cx="2438400" cy="461647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[Burdick et </a:t>
            </a: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al’05]</a:t>
            </a:r>
            <a:endParaRPr lang="en-US" sz="2400" b="1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8200" y="6400800"/>
            <a:ext cx="304800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Size is not significant</a:t>
            </a:r>
            <a:endParaRPr 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4419600" y="3200400"/>
            <a:ext cx="4724400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i="1" dirty="0" err="1" smtClean="0"/>
              <a:t>Sem</a:t>
            </a:r>
            <a:r>
              <a:rPr lang="en-US" sz="2800" i="1" dirty="0" smtClean="0"/>
              <a:t> 2:</a:t>
            </a:r>
            <a:r>
              <a:rPr lang="en-US" sz="2800" b="1" i="1" dirty="0" smtClean="0"/>
              <a:t>Contains</a:t>
            </a:r>
            <a:r>
              <a:rPr lang="en-US" sz="2800" dirty="0" smtClean="0"/>
              <a:t>. Contained in query’s region.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267200"/>
            <a:ext cx="3352800" cy="914400"/>
          </a:xfrm>
          <a:prstGeom prst="rect">
            <a:avLst/>
          </a:prstGeom>
          <a:noFill/>
          <a:ln w="6350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447800" y="4038600"/>
            <a:ext cx="1066800" cy="1143000"/>
          </a:xfrm>
          <a:prstGeom prst="rect">
            <a:avLst/>
          </a:prstGeom>
          <a:solidFill>
            <a:schemeClr val="tx2">
              <a:lumMod val="40000"/>
              <a:lumOff val="60000"/>
              <a:alpha val="45000"/>
            </a:schemeClr>
          </a:solidFill>
          <a:ln w="6350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590800" y="4038600"/>
            <a:ext cx="1219200" cy="1143000"/>
          </a:xfrm>
          <a:prstGeom prst="rect">
            <a:avLst/>
          </a:prstGeom>
          <a:solidFill>
            <a:srgbClr val="FFFF99">
              <a:alpha val="45000"/>
            </a:srgbClr>
          </a:solidFill>
          <a:ln w="635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648200" y="4800600"/>
            <a:ext cx="3733800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sz="2400" b="1" dirty="0" smtClean="0"/>
              <a:t>Not Consistent</a:t>
            </a:r>
            <a:r>
              <a:rPr lang="en-US" sz="2400" dirty="0" smtClean="0"/>
              <a:t>.</a:t>
            </a:r>
          </a:p>
          <a:p>
            <a:pPr marL="0" lvl="1"/>
            <a:r>
              <a:rPr lang="en-US" sz="2400" dirty="0" smtClean="0"/>
              <a:t> NY + MA != East</a:t>
            </a:r>
          </a:p>
          <a:p>
            <a:pPr marL="0" lvl="1"/>
            <a:r>
              <a:rPr lang="en-US" sz="2400" i="1" dirty="0" smtClean="0"/>
              <a:t>i.e.</a:t>
            </a:r>
            <a:r>
              <a:rPr lang="en-US" sz="2400" dirty="0" smtClean="0"/>
              <a:t> Blue + Yellow ≠ Green</a:t>
            </a:r>
          </a:p>
          <a:p>
            <a:pPr marL="0" lvl="1"/>
            <a:r>
              <a:rPr lang="en-US" sz="2400" dirty="0" smtClean="0"/>
              <a:t>(t2 not in either.)</a:t>
            </a:r>
            <a:endParaRPr lang="en-US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 animBg="1"/>
      <p:bldP spid="36" grpId="0" animBg="1"/>
      <p:bldP spid="3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Semantics for OLAP</a:t>
            </a:r>
            <a:endParaRPr lang="en-US" dirty="0"/>
          </a:p>
        </p:txBody>
      </p:sp>
      <p:sp useBgFill="1">
        <p:nvSpPr>
          <p:cNvPr id="4" name="Rectangle 3"/>
          <p:cNvSpPr/>
          <p:nvPr/>
        </p:nvSpPr>
        <p:spPr>
          <a:xfrm>
            <a:off x="1371600" y="4267199"/>
            <a:ext cx="24384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19200" y="1219200"/>
          <a:ext cx="533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880110"/>
                <a:gridCol w="826770"/>
                <a:gridCol w="1524000"/>
                <a:gridCol w="1143000"/>
              </a:tblGrid>
              <a:tr h="5334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Auto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Loc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Color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Brake?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F-150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$200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:1,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0.8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F-150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EAST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$140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:0.5,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:0.5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1.0</a:t>
                      </a:r>
                      <a:endParaRPr 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Truck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MA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$500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sz="2400" dirty="0" smtClean="0"/>
                        <a:t>:1,</a:t>
                      </a:r>
                      <a:r>
                        <a:rPr lang="en-US" sz="24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sz="2400" dirty="0" smtClean="0"/>
                        <a:t>:0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0.9</a:t>
                      </a:r>
                      <a:endParaRPr lang="en-US" sz="2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00200" y="388619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NY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743200" y="388619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MA</a:t>
            </a:r>
            <a:endParaRPr lang="en-US" sz="2400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143542" y="5181347"/>
            <a:ext cx="2742406" cy="12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38200" y="5257799"/>
            <a:ext cx="388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524000" y="4343399"/>
            <a:ext cx="7620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T1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465986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F-150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09600" y="563879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RAM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381000" y="1752600"/>
            <a:ext cx="762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T1</a:t>
            </a:r>
            <a:endParaRPr lang="en-US" sz="2400" b="1" dirty="0"/>
          </a:p>
        </p:txBody>
      </p:sp>
      <p:sp>
        <p:nvSpPr>
          <p:cNvPr id="24" name="Oval 23"/>
          <p:cNvSpPr/>
          <p:nvPr/>
        </p:nvSpPr>
        <p:spPr>
          <a:xfrm>
            <a:off x="381000" y="2209800"/>
            <a:ext cx="762000" cy="381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81000" y="2667000"/>
            <a:ext cx="762000" cy="3810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T3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2057400" y="4800599"/>
            <a:ext cx="990600" cy="381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3048000" y="4800599"/>
            <a:ext cx="762000" cy="9906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T3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981200" y="327660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EAST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28600" y="4495800"/>
            <a:ext cx="553998" cy="145673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400" b="1" dirty="0" smtClean="0"/>
              <a:t>TRUCKS</a:t>
            </a:r>
            <a:endParaRPr lang="en-US" sz="2400" b="1" dirty="0"/>
          </a:p>
        </p:txBody>
      </p:sp>
      <p:sp>
        <p:nvSpPr>
          <p:cNvPr id="41" name="Rectangle 34"/>
          <p:cNvSpPr>
            <a:spLocks noChangeArrowheads="1"/>
          </p:cNvSpPr>
          <p:nvPr/>
        </p:nvSpPr>
        <p:spPr bwMode="auto">
          <a:xfrm>
            <a:off x="0" y="0"/>
            <a:ext cx="2438400" cy="461647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[Burdick et </a:t>
            </a: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cs"/>
              </a:rPr>
              <a:t>al’05]</a:t>
            </a:r>
            <a:endParaRPr lang="en-US" sz="2400" b="1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8200" y="6400800"/>
            <a:ext cx="342900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Size is not significant</a:t>
            </a:r>
            <a:endParaRPr 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4419600" y="3200400"/>
            <a:ext cx="4724400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i="1" dirty="0" err="1" smtClean="0"/>
              <a:t>Sem</a:t>
            </a:r>
            <a:r>
              <a:rPr lang="en-US" sz="2800" i="1" dirty="0" smtClean="0"/>
              <a:t> 3:</a:t>
            </a:r>
            <a:r>
              <a:rPr lang="en-US" sz="2800" b="1" i="1" dirty="0" smtClean="0"/>
              <a:t> Overlaps</a:t>
            </a:r>
            <a:r>
              <a:rPr lang="en-US" sz="2800" dirty="0" smtClean="0"/>
              <a:t>. Probability in each region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267200"/>
            <a:ext cx="3352800" cy="914400"/>
          </a:xfrm>
          <a:prstGeom prst="rect">
            <a:avLst/>
          </a:prstGeom>
          <a:noFill/>
          <a:ln w="6350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447800" y="4038600"/>
            <a:ext cx="1066800" cy="1143000"/>
          </a:xfrm>
          <a:prstGeom prst="rect">
            <a:avLst/>
          </a:prstGeom>
          <a:solidFill>
            <a:schemeClr val="tx2">
              <a:lumMod val="40000"/>
              <a:lumOff val="60000"/>
              <a:alpha val="45000"/>
            </a:schemeClr>
          </a:solidFill>
          <a:ln w="6350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590800" y="4038600"/>
            <a:ext cx="1219200" cy="1143000"/>
          </a:xfrm>
          <a:prstGeom prst="rect">
            <a:avLst/>
          </a:prstGeom>
          <a:solidFill>
            <a:srgbClr val="FFFF99">
              <a:alpha val="45000"/>
            </a:srgbClr>
          </a:solidFill>
          <a:ln w="635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648200" y="4800600"/>
            <a:ext cx="449580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sz="2400" b="1" dirty="0" smtClean="0"/>
              <a:t>Motivation for </a:t>
            </a:r>
            <a:r>
              <a:rPr lang="en-US" sz="2400" b="1" dirty="0" err="1" smtClean="0"/>
              <a:t>pDB</a:t>
            </a:r>
            <a:r>
              <a:rPr lang="en-US" sz="2400" b="1" dirty="0" smtClean="0"/>
              <a:t> approach</a:t>
            </a:r>
          </a:p>
          <a:p>
            <a:pPr marL="0" lvl="1">
              <a:buFontTx/>
              <a:buChar char="-"/>
            </a:pPr>
            <a:r>
              <a:rPr lang="en-US" sz="2400" dirty="0" smtClean="0"/>
              <a:t>Consistent for Sum</a:t>
            </a:r>
            <a:endParaRPr lang="en-US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 animBg="1"/>
      <p:bldP spid="36" grpId="0" animBg="1"/>
      <p:bldP spid="3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OLAP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Answer semantics: </a:t>
            </a:r>
            <a:r>
              <a:rPr lang="en-US" i="1" dirty="0" smtClean="0"/>
              <a:t>expectations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SUM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AVG 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dirty="0" smtClean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dirty="0" smtClean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34"/>
          <p:cNvSpPr>
            <a:spLocks noChangeArrowheads="1"/>
          </p:cNvSpPr>
          <p:nvPr/>
        </p:nvSpPr>
        <p:spPr bwMode="auto">
          <a:xfrm>
            <a:off x="0" y="0"/>
            <a:ext cx="23606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[Burdick </a:t>
            </a:r>
            <a:r>
              <a:rPr lang="en-US" sz="2400" b="1" i="1" dirty="0">
                <a:solidFill>
                  <a:schemeClr val="bg1"/>
                </a:solidFill>
                <a:latin typeface="+mn-lt"/>
                <a:cs typeface="+mn-cs"/>
              </a:rPr>
              <a:t>et al</a:t>
            </a: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’05]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81200" y="2547937"/>
          <a:ext cx="4800600" cy="881063"/>
        </p:xfrm>
        <a:graphic>
          <a:graphicData uri="http://schemas.openxmlformats.org/presentationml/2006/ole">
            <p:oleObj spid="_x0000_s130050" name="Equation" r:id="rId4" imgW="1866600" imgH="342720" progId="Equation.DSMT4">
              <p:embed/>
            </p:oleObj>
          </a:graphicData>
        </a:graphic>
      </p:graphicFrame>
      <p:cxnSp>
        <p:nvCxnSpPr>
          <p:cNvPr id="8" name="Straight Arrow Connector 7"/>
          <p:cNvCxnSpPr>
            <a:stCxn id="10" idx="2"/>
          </p:cNvCxnSpPr>
          <p:nvPr/>
        </p:nvCxnSpPr>
        <p:spPr>
          <a:xfrm rot="5400000">
            <a:off x="6460182" y="1773883"/>
            <a:ext cx="1290937" cy="80010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67400" y="1066800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/>
              <a:t>Tuple</a:t>
            </a:r>
            <a:r>
              <a:rPr lang="en-US" sz="2400" dirty="0" smtClean="0"/>
              <a:t> contributes to Q</a:t>
            </a:r>
            <a:endParaRPr lang="en-US" sz="2400" dirty="0"/>
          </a:p>
        </p:txBody>
      </p:sp>
      <p:graphicFrame>
        <p:nvGraphicFramePr>
          <p:cNvPr id="130051" name="Object 3"/>
          <p:cNvGraphicFramePr>
            <a:graphicFrameLocks noChangeAspect="1"/>
          </p:cNvGraphicFramePr>
          <p:nvPr/>
        </p:nvGraphicFramePr>
        <p:xfrm>
          <a:off x="1905000" y="4038600"/>
          <a:ext cx="4441825" cy="1076325"/>
        </p:xfrm>
        <a:graphic>
          <a:graphicData uri="http://schemas.openxmlformats.org/presentationml/2006/ole">
            <p:oleObj spid="_x0000_s130051" name="Equation" r:id="rId5" imgW="1726920" imgH="419040" progId="Equation.DSMT4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188803"/>
            <a:ext cx="807720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When COUNT big, good approximation [</a:t>
            </a:r>
            <a:r>
              <a:rPr lang="en-US" sz="2400" dirty="0" err="1" smtClean="0"/>
              <a:t>Jayram</a:t>
            </a:r>
            <a:r>
              <a:rPr lang="en-US" sz="2400" dirty="0" smtClean="0"/>
              <a:t> </a:t>
            </a:r>
            <a:r>
              <a:rPr lang="en-US" sz="2400" i="1" dirty="0" smtClean="0"/>
              <a:t>et al</a:t>
            </a:r>
            <a:r>
              <a:rPr lang="en-US" sz="2400" dirty="0" smtClean="0"/>
              <a:t> ‘07]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838200" y="5874603"/>
            <a:ext cx="7467600" cy="83099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lvl="2"/>
            <a:r>
              <a:rPr lang="en-US" sz="2400" b="1" dirty="0" smtClean="0">
                <a:solidFill>
                  <a:schemeClr val="bg1"/>
                </a:solidFill>
              </a:rPr>
              <a:t>Important, well-studied problem: I/O optimizations, constraints [Burdick </a:t>
            </a:r>
            <a:r>
              <a:rPr lang="en-US" sz="2400" b="1" i="1" dirty="0" smtClean="0">
                <a:solidFill>
                  <a:schemeClr val="bg1"/>
                </a:solidFill>
              </a:rPr>
              <a:t>et al</a:t>
            </a:r>
            <a:r>
              <a:rPr lang="en-US" sz="2400" b="1" dirty="0" smtClean="0">
                <a:solidFill>
                  <a:schemeClr val="bg1"/>
                </a:solidFill>
              </a:rPr>
              <a:t>’06,07]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0200" y="3195935"/>
            <a:ext cx="5257800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lvl="2"/>
            <a:r>
              <a:rPr lang="en-US" sz="2400" b="1" dirty="0" smtClean="0">
                <a:solidFill>
                  <a:schemeClr val="bg1"/>
                </a:solidFill>
              </a:rPr>
              <a:t>Faithful, consistent and efficient!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781800" y="4198203"/>
            <a:ext cx="236220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/>
              <a:t>Difficult to implement!</a:t>
            </a:r>
            <a:endParaRPr lang="en-US" sz="2400" i="1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 animBg="1"/>
      <p:bldP spid="14" grpId="0" animBg="1"/>
      <p:bldP spid="17" grpId="0" animBg="1"/>
      <p:bldP spid="18" grpId="0" uiExpand="1" build="allAtOnce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Motivation for HAVING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457200" y="1524000"/>
          <a:ext cx="66294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350"/>
                <a:gridCol w="1771650"/>
                <a:gridCol w="2286000"/>
                <a:gridCol w="9144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Item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Forecaster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Amount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</a:t>
                      </a:r>
                      <a:endParaRPr lang="en-US" sz="2400" dirty="0"/>
                    </a:p>
                  </a:txBody>
                  <a:tcPr/>
                </a:tc>
              </a:tr>
              <a:tr h="533400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Widget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Alice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$-99k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0.99</a:t>
                      </a:r>
                      <a:endParaRPr lang="en-US" sz="2400" dirty="0"/>
                    </a:p>
                  </a:txBody>
                  <a:tcPr/>
                </a:tc>
              </a:tr>
              <a:tr h="5334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Bob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$100M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0.01</a:t>
                      </a:r>
                      <a:endParaRPr lang="en-US" sz="2400" dirty="0"/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Whatsit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Alice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$1M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838200" y="4343400"/>
            <a:ext cx="3886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latin typeface="Calibri" pitchFamily="34" charset="0"/>
              </a:rPr>
              <a:t>SELECT SUM(Amount)</a:t>
            </a:r>
          </a:p>
          <a:p>
            <a:r>
              <a:rPr lang="en-US" sz="2400">
                <a:latin typeface="Calibri" pitchFamily="34" charset="0"/>
              </a:rPr>
              <a:t>FROM Profit</a:t>
            </a:r>
          </a:p>
          <a:p>
            <a:r>
              <a:rPr lang="en-US" sz="2400">
                <a:latin typeface="Calibri" pitchFamily="34" charset="0"/>
              </a:rPr>
              <a:t>WHERE item=‘Widget’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4572000" y="4267200"/>
            <a:ext cx="42672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latin typeface="Calibri" pitchFamily="34" charset="0"/>
              </a:rPr>
              <a:t>SELECT item FROM Profit</a:t>
            </a:r>
          </a:p>
          <a:p>
            <a:r>
              <a:rPr lang="en-US" sz="2400">
                <a:latin typeface="Calibri" pitchFamily="34" charset="0"/>
              </a:rPr>
              <a:t>WHERE item =‘Widget’</a:t>
            </a:r>
          </a:p>
          <a:p>
            <a:r>
              <a:rPr lang="en-US" sz="2400">
                <a:latin typeface="Calibri" pitchFamily="34" charset="0"/>
              </a:rPr>
              <a:t>GROUP BY item</a:t>
            </a:r>
          </a:p>
          <a:p>
            <a:r>
              <a:rPr lang="en-US" sz="2400">
                <a:latin typeface="Calibri" pitchFamily="34" charset="0"/>
              </a:rPr>
              <a:t>HAVING SUM(Amount) &gt; 0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685800" y="4038600"/>
            <a:ext cx="3581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u="sng">
                <a:latin typeface="Calibri" pitchFamily="34" charset="0"/>
              </a:rPr>
              <a:t>Expectation Style [OLAP Style]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4648200" y="39624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u="sng">
                <a:latin typeface="Calibri" pitchFamily="34" charset="0"/>
              </a:rPr>
              <a:t>HAVING style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0" y="5638800"/>
            <a:ext cx="45720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>
                <a:latin typeface="Calibri" pitchFamily="34" charset="0"/>
              </a:rPr>
              <a:t>Ans:  -99k *.99 +100M*0.01        ~900K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5410200" y="5791200"/>
            <a:ext cx="2438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>
                <a:latin typeface="Calibri" pitchFamily="34" charset="0"/>
              </a:rPr>
              <a:t>Ans: 0.01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95800" y="3886200"/>
            <a:ext cx="4495800" cy="2667000"/>
          </a:xfrm>
          <a:prstGeom prst="rect">
            <a:avLst/>
          </a:prstGeom>
          <a:noFill/>
          <a:ln w="1016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0452" name="TextBox 10"/>
          <p:cNvSpPr txBox="1">
            <a:spLocks noChangeArrowheads="1"/>
          </p:cNvSpPr>
          <p:nvPr/>
        </p:nvSpPr>
        <p:spPr bwMode="auto">
          <a:xfrm>
            <a:off x="7162800" y="2524125"/>
            <a:ext cx="1447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="1">
                <a:latin typeface="Calibri" pitchFamily="34" charset="0"/>
              </a:rPr>
              <a:t>Profit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8B195-A4B7-4D25-9218-ACBB20DA22F6}" type="slidenum">
              <a:rPr lang="en-US"/>
              <a:pPr>
                <a:defRPr/>
              </a:pPr>
              <a:t>65</a:t>
            </a:fld>
            <a:endParaRPr lang="en-US"/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0" y="0"/>
            <a:ext cx="13065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[R&amp;S’07]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7" grpId="0"/>
      <p:bldP spid="38" grpId="0"/>
      <p:bldP spid="3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of HAVING results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Safety uses the independence test </a:t>
            </a:r>
          </a:p>
          <a:p>
            <a:pPr lvl="1" eaLnBrk="1" hangingPunct="1"/>
            <a:r>
              <a:rPr lang="en-US" dirty="0" smtClean="0"/>
              <a:t>Twist: Safety </a:t>
            </a:r>
            <a:r>
              <a:rPr lang="en-US" i="1" dirty="0" smtClean="0"/>
              <a:t>depends</a:t>
            </a:r>
            <a:r>
              <a:rPr lang="en-US" dirty="0" smtClean="0"/>
              <a:t> on the aggregate</a:t>
            </a:r>
          </a:p>
          <a:p>
            <a:pPr lvl="1" eaLnBrk="1" hangingPunct="1"/>
            <a:r>
              <a:rPr lang="en-US" dirty="0" smtClean="0"/>
              <a:t>If the “plan is safe” then so is COUNT, MIN,MAX</a:t>
            </a:r>
          </a:p>
          <a:p>
            <a:pPr lvl="2" eaLnBrk="1" hangingPunct="1"/>
            <a:r>
              <a:rPr lang="en-US" dirty="0" smtClean="0"/>
              <a:t>Not true for SUM and AVG!</a:t>
            </a:r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Theoretical Algorithms</a:t>
            </a:r>
          </a:p>
          <a:p>
            <a:pPr lvl="1" eaLnBrk="1" hangingPunct="1"/>
            <a:r>
              <a:rPr lang="en-US" dirty="0" smtClean="0"/>
              <a:t>Require innovation to make SQL efficient</a:t>
            </a:r>
          </a:p>
          <a:p>
            <a:pPr lvl="2" eaLnBrk="1" hangingPunct="1"/>
            <a:r>
              <a:rPr lang="en-US" dirty="0" smtClean="0"/>
              <a:t>Native operators, sort based algorithm, etc.</a:t>
            </a:r>
          </a:p>
          <a:p>
            <a:pPr eaLnBrk="1" hangingPunct="1"/>
            <a:endParaRPr lang="en-US" dirty="0" smtClean="0"/>
          </a:p>
        </p:txBody>
      </p:sp>
      <p:sp>
        <p:nvSpPr>
          <p:cNvPr id="4" name="Rectangle 34"/>
          <p:cNvSpPr>
            <a:spLocks noChangeArrowheads="1"/>
          </p:cNvSpPr>
          <p:nvPr/>
        </p:nvSpPr>
        <p:spPr bwMode="auto">
          <a:xfrm>
            <a:off x="0" y="0"/>
            <a:ext cx="1306513" cy="461963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1421" tIns="45711" rIns="91421" bIns="45711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+mn-lt"/>
                <a:cs typeface="+mn-cs"/>
              </a:rPr>
              <a:t>[R&amp;S’07]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Top-K &amp; Aggregation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Diverse semantics driven by applications</a:t>
            </a:r>
          </a:p>
          <a:p>
            <a:pPr lvl="1"/>
            <a:r>
              <a:rPr lang="en-US" dirty="0" smtClean="0"/>
              <a:t>Top K: U-</a:t>
            </a:r>
            <a:r>
              <a:rPr lang="en-US" dirty="0" err="1" smtClean="0"/>
              <a:t>kRanks</a:t>
            </a:r>
            <a:r>
              <a:rPr lang="en-US" dirty="0" smtClean="0"/>
              <a:t> and Global-top-k</a:t>
            </a:r>
          </a:p>
          <a:p>
            <a:pPr lvl="1"/>
            <a:r>
              <a:rPr lang="en-US" dirty="0" smtClean="0"/>
              <a:t>OLAP &amp; HAVING</a:t>
            </a:r>
          </a:p>
          <a:p>
            <a:pPr lvl="1"/>
            <a:r>
              <a:rPr lang="en-US" dirty="0" smtClean="0"/>
              <a:t>Skylines too! [Pei </a:t>
            </a:r>
            <a:r>
              <a:rPr lang="en-US" i="1" dirty="0" smtClean="0"/>
              <a:t>et al ‘08</a:t>
            </a:r>
            <a:r>
              <a:rPr lang="en-US" dirty="0" smtClean="0"/>
              <a:t>]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Lots of interest in the community</a:t>
            </a:r>
          </a:p>
          <a:p>
            <a:pPr lvl="1"/>
            <a:r>
              <a:rPr lang="en-US" u="sng" dirty="0" smtClean="0"/>
              <a:t>Conjecture</a:t>
            </a:r>
            <a:r>
              <a:rPr lang="en-US" dirty="0" smtClean="0"/>
              <a:t>: Aggregation and Top-k are </a:t>
            </a:r>
            <a:r>
              <a:rPr lang="en-US" i="1" dirty="0" smtClean="0">
                <a:solidFill>
                  <a:srgbClr val="FF0000"/>
                </a:solidFill>
              </a:rPr>
              <a:t>more important</a:t>
            </a:r>
            <a:r>
              <a:rPr lang="en-US" dirty="0" smtClean="0"/>
              <a:t> for probabilistic databases than RDBMS</a:t>
            </a:r>
          </a:p>
          <a:p>
            <a:pPr lvl="2"/>
            <a:r>
              <a:rPr lang="en-US" dirty="0" err="1" smtClean="0"/>
              <a:t>Tuple</a:t>
            </a:r>
            <a:r>
              <a:rPr lang="en-US" dirty="0" smtClean="0"/>
              <a:t> carries less information</a:t>
            </a:r>
          </a:p>
          <a:p>
            <a:pPr lvl="2"/>
            <a:r>
              <a:rPr lang="en-US" dirty="0" smtClean="0"/>
              <a:t>Many  </a:t>
            </a:r>
            <a:r>
              <a:rPr lang="en-US" dirty="0" err="1" smtClean="0"/>
              <a:t>prob</a:t>
            </a:r>
            <a:r>
              <a:rPr lang="en-US" dirty="0" smtClean="0"/>
              <a:t> </a:t>
            </a:r>
            <a:r>
              <a:rPr lang="en-US" dirty="0" err="1" smtClean="0"/>
              <a:t>tuples</a:t>
            </a:r>
            <a:r>
              <a:rPr lang="en-US" dirty="0" smtClean="0"/>
              <a:t> not as valuable as 1 correct </a:t>
            </a:r>
            <a:r>
              <a:rPr lang="en-US" dirty="0" err="1" smtClean="0"/>
              <a:t>tuple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Take-home messages of Day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pDBs</a:t>
            </a:r>
            <a:r>
              <a:rPr lang="en-US" dirty="0" smtClean="0"/>
              <a:t> used in diverse application domains</a:t>
            </a:r>
          </a:p>
          <a:p>
            <a:pPr lvl="1"/>
            <a:r>
              <a:rPr lang="en-US" dirty="0" smtClean="0"/>
              <a:t>RFID, Information Extraction, Sentiment Analysis</a:t>
            </a:r>
          </a:p>
          <a:p>
            <a:pPr lvl="1"/>
            <a:r>
              <a:rPr lang="en-US" dirty="0" smtClean="0"/>
              <a:t>Value: Higher Recall, without loss </a:t>
            </a:r>
            <a:r>
              <a:rPr lang="en-US" smtClean="0"/>
              <a:t>of precision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The fundamentals of QP in </a:t>
            </a:r>
            <a:r>
              <a:rPr lang="en-US" dirty="0" err="1" smtClean="0"/>
              <a:t>pDBs</a:t>
            </a:r>
            <a:endParaRPr lang="en-US" dirty="0" smtClean="0"/>
          </a:p>
          <a:p>
            <a:pPr lvl="1"/>
            <a:r>
              <a:rPr lang="en-US" dirty="0" smtClean="0"/>
              <a:t>Compile a safe query to SQL</a:t>
            </a:r>
          </a:p>
          <a:p>
            <a:pPr lvl="1"/>
            <a:r>
              <a:rPr lang="en-US" dirty="0" smtClean="0"/>
              <a:t>Evaluate an unsafe plan (Monte Carlo)</a:t>
            </a:r>
          </a:p>
          <a:p>
            <a:pPr lvl="1"/>
            <a:r>
              <a:rPr lang="en-US" dirty="0" smtClean="0"/>
              <a:t>Top-K Semantics for </a:t>
            </a:r>
            <a:r>
              <a:rPr lang="en-US" dirty="0" err="1" smtClean="0"/>
              <a:t>pDBs</a:t>
            </a:r>
            <a:endParaRPr lang="en-US" dirty="0" smtClean="0"/>
          </a:p>
          <a:p>
            <a:pPr lvl="1"/>
            <a:r>
              <a:rPr lang="en-US" dirty="0" smtClean="0"/>
              <a:t>OLAP on Probabilistic </a:t>
            </a:r>
            <a:r>
              <a:rPr lang="en-US" dirty="0" err="1" smtClean="0"/>
              <a:t>pDBs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68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Advertisement for Day Two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</a:p>
          <a:p>
            <a:pPr lvl="1"/>
            <a:r>
              <a:rPr lang="en-US" dirty="0" smtClean="0"/>
              <a:t>RFID with movies, Smoothed data</a:t>
            </a:r>
          </a:p>
          <a:p>
            <a:r>
              <a:rPr lang="en-US" dirty="0" smtClean="0"/>
              <a:t>Advanced representations</a:t>
            </a:r>
          </a:p>
          <a:p>
            <a:pPr lvl="1"/>
            <a:r>
              <a:rPr lang="en-US" dirty="0" smtClean="0"/>
              <a:t>Lineage, Markov Models, Graphical Models, World Sets, Continuous Function.</a:t>
            </a:r>
          </a:p>
          <a:p>
            <a:r>
              <a:rPr lang="en-US" dirty="0" smtClean="0"/>
              <a:t>Advanced QP</a:t>
            </a:r>
          </a:p>
          <a:p>
            <a:pPr lvl="1"/>
            <a:r>
              <a:rPr lang="en-US" dirty="0" smtClean="0"/>
              <a:t>Lazy Evaluation in Trio, Probabilistic Automaton, Probabilistic Inference, Sampling Technique.</a:t>
            </a:r>
            <a:endParaRPr lang="en-US" dirty="0"/>
          </a:p>
        </p:txBody>
      </p:sp>
      <p:sp>
        <p:nvSpPr>
          <p:cNvPr id="5" name="Explosion 2 4"/>
          <p:cNvSpPr/>
          <p:nvPr/>
        </p:nvSpPr>
        <p:spPr>
          <a:xfrm>
            <a:off x="1981200" y="2209800"/>
            <a:ext cx="4953000" cy="2209800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And More</a:t>
            </a:r>
            <a:r>
              <a:rPr lang="en-US" sz="3600" b="1" dirty="0"/>
              <a:t>!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6488668"/>
            <a:ext cx="78486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All sales final. </a:t>
            </a:r>
            <a:r>
              <a:rPr lang="en-US" sz="2000" dirty="0"/>
              <a:t>O</a:t>
            </a:r>
            <a:r>
              <a:rPr lang="en-US" sz="2000" dirty="0" smtClean="0"/>
              <a:t>ffer not valid in Alaska, or where prohibited by law.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69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C1EF-D0D6-44C0-B3DC-DAF19AFE11E2}" type="slidenum">
              <a:rPr lang="en-US" smtClean="0"/>
              <a:pPr>
                <a:defRPr/>
              </a:pPr>
              <a:t>70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8|14.6|5.9|22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7|13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48.5|45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22.3|21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22.3|21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6.5|10.4|5.6|3.5|6.3|10.5|8|0.7|7.7|2.7|7.2|1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6.5|10.4|5.6|3.5|6.3|10.5|8|0.7|7.7|2.7|7.2|1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7|32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1|15.9|11.8|21.5|11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5885</TotalTime>
  <Words>4211</Words>
  <Application>Microsoft Office PowerPoint</Application>
  <PresentationFormat>On-screen Show (4:3)</PresentationFormat>
  <Paragraphs>1524</Paragraphs>
  <Slides>70</Slides>
  <Notes>70</Notes>
  <HiddenSlides>0</HiddenSlides>
  <MMClips>6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2" baseType="lpstr">
      <vt:lpstr>Office Theme</vt:lpstr>
      <vt:lpstr>Equation</vt:lpstr>
      <vt:lpstr>System Aspects of Probabilistic Data Management</vt:lpstr>
      <vt:lpstr>One slide overview of motivation</vt:lpstr>
      <vt:lpstr>Overview of tutorial</vt:lpstr>
      <vt:lpstr>Overview of tutorial</vt:lpstr>
      <vt:lpstr>Hasn’t this been solved?  (an analogy to keep in mind)</vt:lpstr>
      <vt:lpstr>Ancillary Material</vt:lpstr>
      <vt:lpstr>Overview of tutorial</vt:lpstr>
      <vt:lpstr>Example 1: Querying RFID</vt:lpstr>
      <vt:lpstr>Challenges: Tracking Joe’s Location</vt:lpstr>
      <vt:lpstr>Challenges: Tracking Joe’s Location</vt:lpstr>
      <vt:lpstr>Probabilities via particle filter</vt:lpstr>
      <vt:lpstr>Probabilities via particle filter</vt:lpstr>
      <vt:lpstr>Example 2: Alice Looks for Movies</vt:lpstr>
      <vt:lpstr>Slide 14</vt:lpstr>
      <vt:lpstr>Slide 15</vt:lpstr>
      <vt:lpstr>Alice needs Information Extraction</vt:lpstr>
      <vt:lpstr>Queries on IE</vt:lpstr>
      <vt:lpstr>Queries on IE</vt:lpstr>
      <vt:lpstr>Alice needs Fuzzy Joins</vt:lpstr>
      <vt:lpstr>Result of a Fuzzy Join</vt:lpstr>
      <vt:lpstr>Queries over Fuzzy Joins</vt:lpstr>
      <vt:lpstr>Application Summary</vt:lpstr>
      <vt:lpstr>Overview of tutorial</vt:lpstr>
      <vt:lpstr>Simple Probabilistic DB (pDB) </vt:lpstr>
      <vt:lpstr>Possible Worlds Semantics</vt:lpstr>
      <vt:lpstr>Two Approaches to Queries</vt:lpstr>
      <vt:lpstr>Possible Worlds Query Semantics</vt:lpstr>
      <vt:lpstr>Overview of Part I</vt:lpstr>
      <vt:lpstr>Basic Query Processing Outline</vt:lpstr>
      <vt:lpstr>Extensional Query Evaluation</vt:lpstr>
      <vt:lpstr>Extensional Plan to SQL</vt:lpstr>
      <vt:lpstr>Slide 32</vt:lpstr>
      <vt:lpstr>Slide 33</vt:lpstr>
      <vt:lpstr>Slide 34</vt:lpstr>
      <vt:lpstr>Slide 35</vt:lpstr>
      <vt:lpstr>Slide 36</vt:lpstr>
      <vt:lpstr>Slide 37</vt:lpstr>
      <vt:lpstr>Thm: The algorithm is Complete</vt:lpstr>
      <vt:lpstr>Basic Query Processing Techniques</vt:lpstr>
      <vt:lpstr>Intensional Query Evaluation</vt:lpstr>
      <vt:lpstr>Monte Carlo Simulation</vt:lpstr>
      <vt:lpstr>Monte Carlo Simulation</vt:lpstr>
      <vt:lpstr>Basic Query Processing Techniques</vt:lpstr>
      <vt:lpstr>Motivation for Top-K for SFW queries</vt:lpstr>
      <vt:lpstr>A Better Method: Multisimulation</vt:lpstr>
      <vt:lpstr>Key Idea: Critical Region</vt:lpstr>
      <vt:lpstr>Key Idea: Critical Region</vt:lpstr>
      <vt:lpstr>Three Simple Rules: Rule 1</vt:lpstr>
      <vt:lpstr>Three Simple Rules: Rule 2</vt:lpstr>
      <vt:lpstr>Three Simple Rules: Rule 3</vt:lpstr>
      <vt:lpstr>Multisimulation Performance</vt:lpstr>
      <vt:lpstr>Basic Query Processing Outline</vt:lpstr>
      <vt:lpstr>3 Semantics for Top-K + Measures</vt:lpstr>
      <vt:lpstr>Semantic 1: Expectation</vt:lpstr>
      <vt:lpstr>Semantic 2: U-kRanks</vt:lpstr>
      <vt:lpstr>Semantic 3: Global-Top-K</vt:lpstr>
      <vt:lpstr>Comparing the semantics</vt:lpstr>
      <vt:lpstr>Basic Query Processing Outline</vt:lpstr>
      <vt:lpstr>Motivation for OLAP</vt:lpstr>
      <vt:lpstr>OLAP Data &amp; Query Model</vt:lpstr>
      <vt:lpstr>3 Semantics for OLAP</vt:lpstr>
      <vt:lpstr>3 Semantics for OLAP</vt:lpstr>
      <vt:lpstr>3 Semantics for OLAP</vt:lpstr>
      <vt:lpstr>OLAP Algorithms</vt:lpstr>
      <vt:lpstr>Motivation for HAVING</vt:lpstr>
      <vt:lpstr>Summary of HAVING results</vt:lpstr>
      <vt:lpstr>Top-K &amp; Aggregation Summary</vt:lpstr>
      <vt:lpstr>Take-home messages of Day 1</vt:lpstr>
      <vt:lpstr>Advertisement for Day Two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Aspects of Probabilistic Data Management</dc:title>
  <dc:creator>chrisre</dc:creator>
  <cp:lastModifiedBy>chrisre</cp:lastModifiedBy>
  <cp:revision>324</cp:revision>
  <dcterms:created xsi:type="dcterms:W3CDTF">2008-07-27T07:07:02Z</dcterms:created>
  <dcterms:modified xsi:type="dcterms:W3CDTF">2008-09-02T22:08:20Z</dcterms:modified>
</cp:coreProperties>
</file>