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diagrams/layout3.xml" ContentType="application/vnd.openxmlformats-officedocument.drawingml.diagramLayout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Default Extension="png" ContentType="image/png"/>
  <Default Extension="bin" ContentType="application/vnd.ms-office.legacyDiagramTex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3.xml" ContentType="application/vnd.openxmlformats-officedocument.drawingml.diagramData+xml"/>
  <Override PartName="/ppt/notesSlides/notesSlide6.xml" ContentType="application/vnd.openxmlformats-officedocument.presentationml.notesSlide+xml"/>
  <Override PartName="/ppt/legacyDocTextInfo.bin" ContentType="application/vnd.ms-office.legacyDocTextInfo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handoutMasterIdLst>
    <p:handoutMasterId r:id="rId50"/>
  </p:handoutMasterIdLst>
  <p:sldIdLst>
    <p:sldId id="673" r:id="rId2"/>
    <p:sldId id="624" r:id="rId3"/>
    <p:sldId id="256" r:id="rId4"/>
    <p:sldId id="609" r:id="rId5"/>
    <p:sldId id="696" r:id="rId6"/>
    <p:sldId id="697" r:id="rId7"/>
    <p:sldId id="607" r:id="rId8"/>
    <p:sldId id="608" r:id="rId9"/>
    <p:sldId id="594" r:id="rId10"/>
    <p:sldId id="666" r:id="rId11"/>
    <p:sldId id="600" r:id="rId12"/>
    <p:sldId id="601" r:id="rId13"/>
    <p:sldId id="695" r:id="rId14"/>
    <p:sldId id="676" r:id="rId15"/>
    <p:sldId id="674" r:id="rId16"/>
    <p:sldId id="675" r:id="rId17"/>
    <p:sldId id="633" r:id="rId18"/>
    <p:sldId id="632" r:id="rId19"/>
    <p:sldId id="634" r:id="rId20"/>
    <p:sldId id="635" r:id="rId21"/>
    <p:sldId id="638" r:id="rId22"/>
    <p:sldId id="639" r:id="rId23"/>
    <p:sldId id="641" r:id="rId24"/>
    <p:sldId id="662" r:id="rId25"/>
    <p:sldId id="665" r:id="rId26"/>
    <p:sldId id="661" r:id="rId27"/>
    <p:sldId id="655" r:id="rId28"/>
    <p:sldId id="656" r:id="rId29"/>
    <p:sldId id="668" r:id="rId30"/>
    <p:sldId id="659" r:id="rId31"/>
    <p:sldId id="660" r:id="rId32"/>
    <p:sldId id="670" r:id="rId33"/>
    <p:sldId id="671" r:id="rId34"/>
    <p:sldId id="672" r:id="rId35"/>
    <p:sldId id="648" r:id="rId36"/>
    <p:sldId id="692" r:id="rId37"/>
    <p:sldId id="602" r:id="rId38"/>
    <p:sldId id="694" r:id="rId39"/>
    <p:sldId id="678" r:id="rId40"/>
    <p:sldId id="679" r:id="rId41"/>
    <p:sldId id="680" r:id="rId42"/>
    <p:sldId id="681" r:id="rId43"/>
    <p:sldId id="683" r:id="rId44"/>
    <p:sldId id="686" r:id="rId45"/>
    <p:sldId id="691" r:id="rId46"/>
    <p:sldId id="693" r:id="rId47"/>
    <p:sldId id="698" r:id="rId4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20202"/>
    <a:srgbClr val="040404"/>
    <a:srgbClr val="000000"/>
    <a:srgbClr val="660033"/>
    <a:srgbClr val="CCCCFF"/>
    <a:srgbClr val="EDF3DB"/>
    <a:srgbClr val="DDDDDD"/>
    <a:srgbClr val="CC3300"/>
    <a:srgbClr val="66FFCC"/>
    <a:srgbClr val="A5C24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15" autoAdjust="0"/>
    <p:restoredTop sz="86477" autoAdjust="0"/>
  </p:normalViewPr>
  <p:slideViewPr>
    <p:cSldViewPr>
      <p:cViewPr>
        <p:scale>
          <a:sx n="69" d="100"/>
          <a:sy n="69" d="100"/>
        </p:scale>
        <p:origin x="-924" y="-6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4" y="507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2070" y="30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microsoft.com/office/2006/relationships/legacyDocTextInfo" Target="legacyDocTextInfo.bin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A7DF05-B386-4971-B524-65451986B79F}" type="doc">
      <dgm:prSet loTypeId="urn:microsoft.com/office/officeart/2005/8/layout/arrow2" loCatId="process" qsTypeId="urn:microsoft.com/office/officeart/2005/8/quickstyle/simple1#1" qsCatId="simple" csTypeId="urn:microsoft.com/office/officeart/2005/8/colors/accent1_2#2" csCatId="accent1" phldr="1"/>
      <dgm:spPr/>
    </dgm:pt>
    <dgm:pt modelId="{9152FAD8-F03D-4F48-8852-F940E50EBA0B}">
      <dgm:prSet phldrT="[Text]" custT="1"/>
      <dgm:spPr/>
      <dgm:t>
        <a:bodyPr/>
        <a:lstStyle/>
        <a:p>
          <a:pPr algn="ctr"/>
          <a:r>
            <a:rPr lang="en-US" sz="1800" kern="1200" dirty="0" smtClean="0">
              <a:solidFill>
                <a:srgbClr val="EDF3DB"/>
              </a:solidFill>
              <a:latin typeface="Arial" pitchFamily="34" charset="0"/>
              <a:ea typeface="+mn-ea"/>
              <a:cs typeface="Arial" pitchFamily="34" charset="0"/>
            </a:rPr>
            <a:t>Complexity</a:t>
          </a:r>
          <a:endParaRPr lang="en-US" sz="1800" kern="1200" dirty="0">
            <a:solidFill>
              <a:srgbClr val="EDF3DB"/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79577D82-CCB1-4387-8A67-22EA97521317}" type="sibTrans" cxnId="{2B69A001-5923-440B-A462-F338A2A355A5}">
      <dgm:prSet/>
      <dgm:spPr/>
      <dgm:t>
        <a:bodyPr/>
        <a:lstStyle/>
        <a:p>
          <a:endParaRPr lang="en-US"/>
        </a:p>
      </dgm:t>
    </dgm:pt>
    <dgm:pt modelId="{1C3D9D63-9BD2-4C34-B31D-DD52628D35D5}" type="parTrans" cxnId="{2B69A001-5923-440B-A462-F338A2A355A5}">
      <dgm:prSet/>
      <dgm:spPr/>
      <dgm:t>
        <a:bodyPr/>
        <a:lstStyle/>
        <a:p>
          <a:endParaRPr lang="en-US"/>
        </a:p>
      </dgm:t>
    </dgm:pt>
    <dgm:pt modelId="{3DD57FEC-B90D-4BC8-BAA1-DA0BBA7C48B2}" type="pres">
      <dgm:prSet presAssocID="{BCA7DF05-B386-4971-B524-65451986B79F}" presName="arrowDiagram" presStyleCnt="0">
        <dgm:presLayoutVars>
          <dgm:chMax val="5"/>
          <dgm:dir/>
          <dgm:resizeHandles val="exact"/>
        </dgm:presLayoutVars>
      </dgm:prSet>
      <dgm:spPr/>
    </dgm:pt>
    <dgm:pt modelId="{F5CBA39D-E888-4793-B690-4FA9F6138862}" type="pres">
      <dgm:prSet presAssocID="{BCA7DF05-B386-4971-B524-65451986B79F}" presName="arrow" presStyleLbl="bgShp" presStyleIdx="0" presStyleCnt="1" custAng="19158451" custScaleX="33626" custScaleY="73670" custLinFactNeighborX="-14265" custLinFactNeighborY="26021"/>
      <dgm:spPr/>
    </dgm:pt>
    <dgm:pt modelId="{FA233E39-BCA5-4829-8765-2A966BAC8D0E}" type="pres">
      <dgm:prSet presAssocID="{BCA7DF05-B386-4971-B524-65451986B79F}" presName="arrowDiagram1" presStyleCnt="0">
        <dgm:presLayoutVars>
          <dgm:bulletEnabled val="1"/>
        </dgm:presLayoutVars>
      </dgm:prSet>
      <dgm:spPr/>
    </dgm:pt>
    <dgm:pt modelId="{E65FE322-E4BC-4BFD-A755-B3E547A5D7F2}" type="pres">
      <dgm:prSet presAssocID="{9152FAD8-F03D-4F48-8852-F940E50EBA0B}" presName="bullet1" presStyleLbl="node1" presStyleIdx="0" presStyleCnt="1" custFlipVert="1" custFlipHor="0" custScaleX="560670" custScaleY="175505" custLinFactX="-300000" custLinFactY="200000" custLinFactNeighborX="-336174" custLinFactNeighborY="229535"/>
      <dgm:spPr>
        <a:prstGeom prst="flowChartAlternateProcess">
          <a:avLst/>
        </a:prstGeom>
      </dgm:spPr>
    </dgm:pt>
    <dgm:pt modelId="{879D00F0-272A-472C-AAEF-A80FFD0001AB}" type="pres">
      <dgm:prSet presAssocID="{9152FAD8-F03D-4F48-8852-F940E50EBA0B}" presName="textBox1" presStyleLbl="revTx" presStyleIdx="0" presStyleCnt="1" custFlipHor="1" custScaleX="93956" custScaleY="35715" custLinFactNeighborX="-56815" custLinFactNeighborY="259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9717279-37D5-4DEE-BCA0-C9829864C4D8}" type="presOf" srcId="{9152FAD8-F03D-4F48-8852-F940E50EBA0B}" destId="{879D00F0-272A-472C-AAEF-A80FFD0001AB}" srcOrd="0" destOrd="0" presId="urn:microsoft.com/office/officeart/2005/8/layout/arrow2"/>
    <dgm:cxn modelId="{121208D2-CCB0-4EBD-83E2-5FE8E227D314}" type="presOf" srcId="{BCA7DF05-B386-4971-B524-65451986B79F}" destId="{3DD57FEC-B90D-4BC8-BAA1-DA0BBA7C48B2}" srcOrd="0" destOrd="0" presId="urn:microsoft.com/office/officeart/2005/8/layout/arrow2"/>
    <dgm:cxn modelId="{2B69A001-5923-440B-A462-F338A2A355A5}" srcId="{BCA7DF05-B386-4971-B524-65451986B79F}" destId="{9152FAD8-F03D-4F48-8852-F940E50EBA0B}" srcOrd="0" destOrd="0" parTransId="{1C3D9D63-9BD2-4C34-B31D-DD52628D35D5}" sibTransId="{79577D82-CCB1-4387-8A67-22EA97521317}"/>
    <dgm:cxn modelId="{85E9C439-A1D4-42E1-83DA-457A3B8A7188}" type="presParOf" srcId="{3DD57FEC-B90D-4BC8-BAA1-DA0BBA7C48B2}" destId="{F5CBA39D-E888-4793-B690-4FA9F6138862}" srcOrd="0" destOrd="0" presId="urn:microsoft.com/office/officeart/2005/8/layout/arrow2"/>
    <dgm:cxn modelId="{17902A50-666E-46F1-B2DD-11BA11AAE23A}" type="presParOf" srcId="{3DD57FEC-B90D-4BC8-BAA1-DA0BBA7C48B2}" destId="{FA233E39-BCA5-4829-8765-2A966BAC8D0E}" srcOrd="1" destOrd="0" presId="urn:microsoft.com/office/officeart/2005/8/layout/arrow2"/>
    <dgm:cxn modelId="{2B590332-BC2F-40C2-8585-5EDC297B23B2}" type="presParOf" srcId="{FA233E39-BCA5-4829-8765-2A966BAC8D0E}" destId="{E65FE322-E4BC-4BFD-A755-B3E547A5D7F2}" srcOrd="0" destOrd="0" presId="urn:microsoft.com/office/officeart/2005/8/layout/arrow2"/>
    <dgm:cxn modelId="{51103EF3-7A63-4CBC-A2D2-DC164115E71A}" type="presParOf" srcId="{FA233E39-BCA5-4829-8765-2A966BAC8D0E}" destId="{879D00F0-272A-472C-AAEF-A80FFD0001AB}" srcOrd="1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A7DF05-B386-4971-B524-65451986B79F}" type="doc">
      <dgm:prSet loTypeId="urn:microsoft.com/office/officeart/2005/8/layout/arrow2" loCatId="process" qsTypeId="urn:microsoft.com/office/officeart/2005/8/quickstyle/simple1#2" qsCatId="simple" csTypeId="urn:microsoft.com/office/officeart/2005/8/colors/accent1_2#3" csCatId="accent1" phldr="1"/>
      <dgm:spPr/>
    </dgm:pt>
    <dgm:pt modelId="{9152FAD8-F03D-4F48-8852-F940E50EBA0B}">
      <dgm:prSet phldrT="[Text]" custT="1"/>
      <dgm:spPr/>
      <dgm:t>
        <a:bodyPr/>
        <a:lstStyle/>
        <a:p>
          <a:pPr algn="ctr"/>
          <a:r>
            <a:rPr lang="en-US" sz="1800" kern="1200" dirty="0" smtClean="0">
              <a:solidFill>
                <a:srgbClr val="EDF3DB"/>
              </a:solidFill>
              <a:latin typeface="Arial" pitchFamily="34" charset="0"/>
              <a:ea typeface="+mn-ea"/>
              <a:cs typeface="Arial" pitchFamily="34" charset="0"/>
            </a:rPr>
            <a:t>Treatment</a:t>
          </a:r>
          <a:r>
            <a:rPr lang="en-US" sz="2000" b="1" kern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US" sz="1800" kern="1200" dirty="0" smtClean="0">
              <a:solidFill>
                <a:srgbClr val="EDF3DB"/>
              </a:solidFill>
              <a:latin typeface="Arial" pitchFamily="34" charset="0"/>
              <a:ea typeface="+mn-ea"/>
              <a:cs typeface="Arial" pitchFamily="34" charset="0"/>
            </a:rPr>
            <a:t>Refractory</a:t>
          </a:r>
          <a:endParaRPr lang="en-US" sz="1800" kern="1200" dirty="0">
            <a:solidFill>
              <a:srgbClr val="EDF3DB"/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79577D82-CCB1-4387-8A67-22EA97521317}" type="sibTrans" cxnId="{2B69A001-5923-440B-A462-F338A2A355A5}">
      <dgm:prSet/>
      <dgm:spPr/>
      <dgm:t>
        <a:bodyPr/>
        <a:lstStyle/>
        <a:p>
          <a:endParaRPr lang="en-US"/>
        </a:p>
      </dgm:t>
    </dgm:pt>
    <dgm:pt modelId="{1C3D9D63-9BD2-4C34-B31D-DD52628D35D5}" type="parTrans" cxnId="{2B69A001-5923-440B-A462-F338A2A355A5}">
      <dgm:prSet/>
      <dgm:spPr/>
      <dgm:t>
        <a:bodyPr/>
        <a:lstStyle/>
        <a:p>
          <a:endParaRPr lang="en-US"/>
        </a:p>
      </dgm:t>
    </dgm:pt>
    <dgm:pt modelId="{3DD57FEC-B90D-4BC8-BAA1-DA0BBA7C48B2}" type="pres">
      <dgm:prSet presAssocID="{BCA7DF05-B386-4971-B524-65451986B79F}" presName="arrowDiagram" presStyleCnt="0">
        <dgm:presLayoutVars>
          <dgm:chMax val="5"/>
          <dgm:dir/>
          <dgm:resizeHandles val="exact"/>
        </dgm:presLayoutVars>
      </dgm:prSet>
      <dgm:spPr/>
    </dgm:pt>
    <dgm:pt modelId="{F5CBA39D-E888-4793-B690-4FA9F6138862}" type="pres">
      <dgm:prSet presAssocID="{BCA7DF05-B386-4971-B524-65451986B79F}" presName="arrow" presStyleLbl="bgShp" presStyleIdx="0" presStyleCnt="1" custAng="19517102" custScaleX="43117" custScaleY="77896" custLinFactNeighborX="10945" custLinFactNeighborY="18059"/>
      <dgm:spPr/>
      <dgm:t>
        <a:bodyPr/>
        <a:lstStyle/>
        <a:p>
          <a:endParaRPr lang="en-US"/>
        </a:p>
      </dgm:t>
    </dgm:pt>
    <dgm:pt modelId="{FA233E39-BCA5-4829-8765-2A966BAC8D0E}" type="pres">
      <dgm:prSet presAssocID="{BCA7DF05-B386-4971-B524-65451986B79F}" presName="arrowDiagram1" presStyleCnt="0">
        <dgm:presLayoutVars>
          <dgm:bulletEnabled val="1"/>
        </dgm:presLayoutVars>
      </dgm:prSet>
      <dgm:spPr/>
    </dgm:pt>
    <dgm:pt modelId="{E65FE322-E4BC-4BFD-A755-B3E547A5D7F2}" type="pres">
      <dgm:prSet presAssocID="{9152FAD8-F03D-4F48-8852-F940E50EBA0B}" presName="bullet1" presStyleLbl="node1" presStyleIdx="0" presStyleCnt="1" custFlipHor="1" custScaleX="602196" custScaleY="226997" custLinFactX="-183207" custLinFactY="128026" custLinFactNeighborX="-200000" custLinFactNeighborY="200000"/>
      <dgm:spPr>
        <a:prstGeom prst="flowChartAlternateProcess">
          <a:avLst/>
        </a:prstGeom>
      </dgm:spPr>
    </dgm:pt>
    <dgm:pt modelId="{879D00F0-272A-472C-AAEF-A80FFD0001AB}" type="pres">
      <dgm:prSet presAssocID="{9152FAD8-F03D-4F48-8852-F940E50EBA0B}" presName="textBox1" presStyleLbl="revTx" presStyleIdx="0" presStyleCnt="1" custAng="0" custFlipHor="1" custScaleX="112069" custScaleY="50073" custLinFactNeighborX="-15562" custLinFactNeighborY="13790">
        <dgm:presLayoutVars>
          <dgm:bulletEnabled val="1"/>
        </dgm:presLayoutVars>
      </dgm:prSet>
      <dgm:spPr>
        <a:prstGeom prst="flowChartProcess">
          <a:avLst/>
        </a:prstGeom>
      </dgm:spPr>
      <dgm:t>
        <a:bodyPr/>
        <a:lstStyle/>
        <a:p>
          <a:endParaRPr lang="en-US"/>
        </a:p>
      </dgm:t>
    </dgm:pt>
  </dgm:ptLst>
  <dgm:cxnLst>
    <dgm:cxn modelId="{FBBF5145-B113-4E50-9F0B-8D208131373E}" type="presOf" srcId="{BCA7DF05-B386-4971-B524-65451986B79F}" destId="{3DD57FEC-B90D-4BC8-BAA1-DA0BBA7C48B2}" srcOrd="0" destOrd="0" presId="urn:microsoft.com/office/officeart/2005/8/layout/arrow2"/>
    <dgm:cxn modelId="{2B69A001-5923-440B-A462-F338A2A355A5}" srcId="{BCA7DF05-B386-4971-B524-65451986B79F}" destId="{9152FAD8-F03D-4F48-8852-F940E50EBA0B}" srcOrd="0" destOrd="0" parTransId="{1C3D9D63-9BD2-4C34-B31D-DD52628D35D5}" sibTransId="{79577D82-CCB1-4387-8A67-22EA97521317}"/>
    <dgm:cxn modelId="{5FCE9723-15AB-4B81-93B7-A59F20C0085B}" type="presOf" srcId="{9152FAD8-F03D-4F48-8852-F940E50EBA0B}" destId="{879D00F0-272A-472C-AAEF-A80FFD0001AB}" srcOrd="0" destOrd="0" presId="urn:microsoft.com/office/officeart/2005/8/layout/arrow2"/>
    <dgm:cxn modelId="{04290C29-3D1B-41C2-B701-A5C8EF524721}" type="presParOf" srcId="{3DD57FEC-B90D-4BC8-BAA1-DA0BBA7C48B2}" destId="{F5CBA39D-E888-4793-B690-4FA9F6138862}" srcOrd="0" destOrd="0" presId="urn:microsoft.com/office/officeart/2005/8/layout/arrow2"/>
    <dgm:cxn modelId="{28BC1AFD-5B5D-4253-BE8F-D1085B3E2CAE}" type="presParOf" srcId="{3DD57FEC-B90D-4BC8-BAA1-DA0BBA7C48B2}" destId="{FA233E39-BCA5-4829-8765-2A966BAC8D0E}" srcOrd="1" destOrd="0" presId="urn:microsoft.com/office/officeart/2005/8/layout/arrow2"/>
    <dgm:cxn modelId="{3D62016B-9F87-4A5A-AB14-2F206F5AE693}" type="presParOf" srcId="{FA233E39-BCA5-4829-8765-2A966BAC8D0E}" destId="{E65FE322-E4BC-4BFD-A755-B3E547A5D7F2}" srcOrd="0" destOrd="0" presId="urn:microsoft.com/office/officeart/2005/8/layout/arrow2"/>
    <dgm:cxn modelId="{4F098552-7504-4BDA-B48A-015D81DCB8CA}" type="presParOf" srcId="{FA233E39-BCA5-4829-8765-2A966BAC8D0E}" destId="{879D00F0-272A-472C-AAEF-A80FFD0001AB}" srcOrd="1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A7DF05-B386-4971-B524-65451986B79F}" type="doc">
      <dgm:prSet loTypeId="urn:microsoft.com/office/officeart/2005/8/layout/arrow2" loCatId="process" qsTypeId="urn:microsoft.com/office/officeart/2005/8/quickstyle/simple1#3" qsCatId="simple" csTypeId="urn:microsoft.com/office/officeart/2005/8/colors/accent1_2#4" csCatId="accent1" phldr="1"/>
      <dgm:spPr/>
    </dgm:pt>
    <dgm:pt modelId="{9152FAD8-F03D-4F48-8852-F940E50EBA0B}">
      <dgm:prSet phldrT="[Text]" custT="1"/>
      <dgm:spPr/>
      <dgm:t>
        <a:bodyPr/>
        <a:lstStyle/>
        <a:p>
          <a:pPr algn="ctr"/>
          <a:r>
            <a:rPr lang="en-US" sz="1800" kern="1200" dirty="0" smtClean="0">
              <a:solidFill>
                <a:srgbClr val="EDF3DB"/>
              </a:solidFill>
              <a:latin typeface="Arial" pitchFamily="34" charset="0"/>
              <a:ea typeface="+mn-ea"/>
              <a:cs typeface="Arial" pitchFamily="34" charset="0"/>
            </a:rPr>
            <a:t>Comorbidities</a:t>
          </a:r>
          <a:endParaRPr lang="en-US" sz="1800" kern="1200" dirty="0">
            <a:solidFill>
              <a:srgbClr val="EDF3DB"/>
            </a:solidFill>
            <a:latin typeface="Arial" pitchFamily="34" charset="0"/>
            <a:ea typeface="+mn-ea"/>
            <a:cs typeface="Arial" pitchFamily="34" charset="0"/>
          </a:endParaRPr>
        </a:p>
      </dgm:t>
    </dgm:pt>
    <dgm:pt modelId="{79577D82-CCB1-4387-8A67-22EA97521317}" type="sibTrans" cxnId="{2B69A001-5923-440B-A462-F338A2A355A5}">
      <dgm:prSet/>
      <dgm:spPr/>
      <dgm:t>
        <a:bodyPr/>
        <a:lstStyle/>
        <a:p>
          <a:endParaRPr lang="en-US"/>
        </a:p>
      </dgm:t>
    </dgm:pt>
    <dgm:pt modelId="{1C3D9D63-9BD2-4C34-B31D-DD52628D35D5}" type="parTrans" cxnId="{2B69A001-5923-440B-A462-F338A2A355A5}">
      <dgm:prSet/>
      <dgm:spPr/>
      <dgm:t>
        <a:bodyPr/>
        <a:lstStyle/>
        <a:p>
          <a:endParaRPr lang="en-US"/>
        </a:p>
      </dgm:t>
    </dgm:pt>
    <dgm:pt modelId="{3DD57FEC-B90D-4BC8-BAA1-DA0BBA7C48B2}" type="pres">
      <dgm:prSet presAssocID="{BCA7DF05-B386-4971-B524-65451986B79F}" presName="arrowDiagram" presStyleCnt="0">
        <dgm:presLayoutVars>
          <dgm:chMax val="5"/>
          <dgm:dir/>
          <dgm:resizeHandles val="exact"/>
        </dgm:presLayoutVars>
      </dgm:prSet>
      <dgm:spPr/>
    </dgm:pt>
    <dgm:pt modelId="{F5CBA39D-E888-4793-B690-4FA9F6138862}" type="pres">
      <dgm:prSet presAssocID="{BCA7DF05-B386-4971-B524-65451986B79F}" presName="arrow" presStyleLbl="bgShp" presStyleIdx="0" presStyleCnt="1" custAng="20201536" custScaleX="56214" custScaleY="97089" custLinFactNeighborX="15408" custLinFactNeighborY="27831"/>
      <dgm:spPr/>
      <dgm:t>
        <a:bodyPr/>
        <a:lstStyle/>
        <a:p>
          <a:endParaRPr lang="en-US"/>
        </a:p>
      </dgm:t>
    </dgm:pt>
    <dgm:pt modelId="{FA233E39-BCA5-4829-8765-2A966BAC8D0E}" type="pres">
      <dgm:prSet presAssocID="{BCA7DF05-B386-4971-B524-65451986B79F}" presName="arrowDiagram1" presStyleCnt="0">
        <dgm:presLayoutVars>
          <dgm:bulletEnabled val="1"/>
        </dgm:presLayoutVars>
      </dgm:prSet>
      <dgm:spPr/>
    </dgm:pt>
    <dgm:pt modelId="{E65FE322-E4BC-4BFD-A755-B3E547A5D7F2}" type="pres">
      <dgm:prSet presAssocID="{9152FAD8-F03D-4F48-8852-F940E50EBA0B}" presName="bullet1" presStyleLbl="node1" presStyleIdx="0" presStyleCnt="1" custFlipHor="1" custScaleX="795267" custScaleY="162518" custLinFactX="-110609" custLinFactY="212617" custLinFactNeighborX="-200000" custLinFactNeighborY="300000"/>
      <dgm:spPr>
        <a:prstGeom prst="flowChartAlternateProcess">
          <a:avLst/>
        </a:prstGeom>
      </dgm:spPr>
      <dgm:t>
        <a:bodyPr/>
        <a:lstStyle/>
        <a:p>
          <a:endParaRPr lang="en-US"/>
        </a:p>
      </dgm:t>
    </dgm:pt>
    <dgm:pt modelId="{879D00F0-272A-472C-AAEF-A80FFD0001AB}" type="pres">
      <dgm:prSet presAssocID="{9152FAD8-F03D-4F48-8852-F940E50EBA0B}" presName="textBox1" presStyleLbl="revTx" presStyleIdx="0" presStyleCnt="1" custFlipHor="1" custScaleX="207588" custScaleY="38811" custLinFactNeighborX="-68749" custLinFactNeighborY="408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42560FF-52BE-4A7A-A112-A303404C2DE9}" type="presOf" srcId="{9152FAD8-F03D-4F48-8852-F940E50EBA0B}" destId="{879D00F0-272A-472C-AAEF-A80FFD0001AB}" srcOrd="0" destOrd="0" presId="urn:microsoft.com/office/officeart/2005/8/layout/arrow2"/>
    <dgm:cxn modelId="{6E1E5885-D207-4CB1-A189-3AF13C4E01CE}" type="presOf" srcId="{BCA7DF05-B386-4971-B524-65451986B79F}" destId="{3DD57FEC-B90D-4BC8-BAA1-DA0BBA7C48B2}" srcOrd="0" destOrd="0" presId="urn:microsoft.com/office/officeart/2005/8/layout/arrow2"/>
    <dgm:cxn modelId="{2B69A001-5923-440B-A462-F338A2A355A5}" srcId="{BCA7DF05-B386-4971-B524-65451986B79F}" destId="{9152FAD8-F03D-4F48-8852-F940E50EBA0B}" srcOrd="0" destOrd="0" parTransId="{1C3D9D63-9BD2-4C34-B31D-DD52628D35D5}" sibTransId="{79577D82-CCB1-4387-8A67-22EA97521317}"/>
    <dgm:cxn modelId="{319B4050-78D2-4780-8A05-EA4E69EB87F9}" type="presParOf" srcId="{3DD57FEC-B90D-4BC8-BAA1-DA0BBA7C48B2}" destId="{F5CBA39D-E888-4793-B690-4FA9F6138862}" srcOrd="0" destOrd="0" presId="urn:microsoft.com/office/officeart/2005/8/layout/arrow2"/>
    <dgm:cxn modelId="{EA476F54-9AB0-4DD0-B785-93D8FF3083FA}" type="presParOf" srcId="{3DD57FEC-B90D-4BC8-BAA1-DA0BBA7C48B2}" destId="{FA233E39-BCA5-4829-8765-2A966BAC8D0E}" srcOrd="1" destOrd="0" presId="urn:microsoft.com/office/officeart/2005/8/layout/arrow2"/>
    <dgm:cxn modelId="{9BDB0D35-99BE-4715-B452-3C48080C4D69}" type="presParOf" srcId="{FA233E39-BCA5-4829-8765-2A966BAC8D0E}" destId="{E65FE322-E4BC-4BFD-A755-B3E547A5D7F2}" srcOrd="0" destOrd="0" presId="urn:microsoft.com/office/officeart/2005/8/layout/arrow2"/>
    <dgm:cxn modelId="{8BBEA00C-C89F-4C07-89FA-86FBDFD5909C}" type="presParOf" srcId="{FA233E39-BCA5-4829-8765-2A966BAC8D0E}" destId="{879D00F0-272A-472C-AAEF-A80FFD0001AB}" srcOrd="1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xmlns="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5CBA39D-E888-4793-B690-4FA9F6138862}">
      <dsp:nvSpPr>
        <dsp:cNvPr id="0" name=""/>
        <dsp:cNvSpPr/>
      </dsp:nvSpPr>
      <dsp:spPr>
        <a:xfrm rot="19158451">
          <a:off x="391990" y="1048426"/>
          <a:ext cx="1204281" cy="164901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FE322-E4BC-4BFD-A755-B3E547A5D7F2}">
      <dsp:nvSpPr>
        <dsp:cNvPr id="0" name=""/>
        <dsp:cNvSpPr/>
      </dsp:nvSpPr>
      <dsp:spPr>
        <a:xfrm flipV="1">
          <a:off x="0" y="1663555"/>
          <a:ext cx="1485907" cy="465129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9D00F0-272A-472C-AAEF-A80FFD0001AB}">
      <dsp:nvSpPr>
        <dsp:cNvPr id="0" name=""/>
        <dsp:cNvSpPr/>
      </dsp:nvSpPr>
      <dsp:spPr>
        <a:xfrm flipH="1">
          <a:off x="54326" y="1716748"/>
          <a:ext cx="1345976" cy="589983"/>
        </a:xfrm>
        <a:prstGeom prst="round2Diag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40431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rgbClr val="EDF3DB"/>
              </a:solidFill>
              <a:latin typeface="Arial" pitchFamily="34" charset="0"/>
              <a:ea typeface="+mn-ea"/>
              <a:cs typeface="Arial" pitchFamily="34" charset="0"/>
            </a:rPr>
            <a:t>Complexity</a:t>
          </a:r>
          <a:endParaRPr lang="en-US" sz="1800" kern="1200" dirty="0">
            <a:solidFill>
              <a:srgbClr val="EDF3DB"/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flipH="1">
        <a:off x="54326" y="1716748"/>
        <a:ext cx="1345976" cy="589983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5CBA39D-E888-4793-B690-4FA9F6138862}">
      <dsp:nvSpPr>
        <dsp:cNvPr id="0" name=""/>
        <dsp:cNvSpPr/>
      </dsp:nvSpPr>
      <dsp:spPr>
        <a:xfrm rot="19517102">
          <a:off x="960050" y="661899"/>
          <a:ext cx="1568568" cy="1771129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FE322-E4BC-4BFD-A755-B3E547A5D7F2}">
      <dsp:nvSpPr>
        <dsp:cNvPr id="0" name=""/>
        <dsp:cNvSpPr/>
      </dsp:nvSpPr>
      <dsp:spPr>
        <a:xfrm flipH="1">
          <a:off x="595345" y="1173235"/>
          <a:ext cx="1621155" cy="611092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9D00F0-272A-472C-AAEF-A80FFD0001AB}">
      <dsp:nvSpPr>
        <dsp:cNvPr id="0" name=""/>
        <dsp:cNvSpPr/>
      </dsp:nvSpPr>
      <dsp:spPr>
        <a:xfrm flipH="1">
          <a:off x="668102" y="1245994"/>
          <a:ext cx="1630799" cy="840223"/>
        </a:xfrm>
        <a:prstGeom prst="flowChartProcess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42647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rgbClr val="EDF3DB"/>
              </a:solidFill>
              <a:latin typeface="Arial" pitchFamily="34" charset="0"/>
              <a:ea typeface="+mn-ea"/>
              <a:cs typeface="Arial" pitchFamily="34" charset="0"/>
            </a:rPr>
            <a:t>Treatment</a:t>
          </a:r>
          <a:r>
            <a:rPr lang="en-US" sz="2000" b="1" kern="12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US" sz="1800" kern="1200" dirty="0" smtClean="0">
              <a:solidFill>
                <a:srgbClr val="EDF3DB"/>
              </a:solidFill>
              <a:latin typeface="Arial" pitchFamily="34" charset="0"/>
              <a:ea typeface="+mn-ea"/>
              <a:cs typeface="Arial" pitchFamily="34" charset="0"/>
            </a:rPr>
            <a:t>Refractory</a:t>
          </a:r>
          <a:endParaRPr lang="en-US" sz="1800" kern="1200" dirty="0">
            <a:solidFill>
              <a:srgbClr val="EDF3DB"/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flipH="1">
        <a:off x="668102" y="1245994"/>
        <a:ext cx="1630799" cy="840223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5CBA39D-E888-4793-B690-4FA9F6138862}">
      <dsp:nvSpPr>
        <dsp:cNvPr id="0" name=""/>
        <dsp:cNvSpPr/>
      </dsp:nvSpPr>
      <dsp:spPr>
        <a:xfrm rot="20201536">
          <a:off x="782790" y="1010061"/>
          <a:ext cx="1884742" cy="2034499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FE322-E4BC-4BFD-A755-B3E547A5D7F2}">
      <dsp:nvSpPr>
        <dsp:cNvPr id="0" name=""/>
        <dsp:cNvSpPr/>
      </dsp:nvSpPr>
      <dsp:spPr>
        <a:xfrm flipH="1">
          <a:off x="457201" y="2015614"/>
          <a:ext cx="1973114" cy="403218"/>
        </a:xfrm>
        <a:prstGeom prst="flowChartAlternateProcess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9D00F0-272A-472C-AAEF-A80FFD0001AB}">
      <dsp:nvSpPr>
        <dsp:cNvPr id="0" name=""/>
        <dsp:cNvSpPr/>
      </dsp:nvSpPr>
      <dsp:spPr>
        <a:xfrm flipH="1">
          <a:off x="0" y="2049484"/>
          <a:ext cx="2784004" cy="600203"/>
        </a:xfrm>
        <a:prstGeom prst="round2Diag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31467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rgbClr val="EDF3DB"/>
              </a:solidFill>
              <a:latin typeface="Arial" pitchFamily="34" charset="0"/>
              <a:ea typeface="+mn-ea"/>
              <a:cs typeface="Arial" pitchFamily="34" charset="0"/>
            </a:rPr>
            <a:t>Comorbidities</a:t>
          </a:r>
          <a:endParaRPr lang="en-US" sz="1800" kern="1200" dirty="0">
            <a:solidFill>
              <a:srgbClr val="EDF3DB"/>
            </a:solidFill>
            <a:latin typeface="Arial" pitchFamily="34" charset="0"/>
            <a:ea typeface="+mn-ea"/>
            <a:cs typeface="Arial" pitchFamily="34" charset="0"/>
          </a:endParaRPr>
        </a:p>
      </dsp:txBody>
      <dsp:txXfrm flipH="1">
        <a:off x="0" y="2049484"/>
        <a:ext cx="2784004" cy="6002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microsoft.com/office/2006/relationships/legacyDiagramText" Target="legacyDiagramText1.bin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144955A-1288-472C-86C0-58729425CADC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E705AB1-8970-4D83-B641-4D3EC56FE8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066580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E63B391-A0EB-4C63-B40C-4421B129E2B3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FB0657A-EBAF-47E1-BC5B-8EAC7B9DDA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358538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05D150-ECCB-4C98-B324-9E6051EA8BF5}" type="slidenum">
              <a:rPr lang="en-US" smtClean="0"/>
              <a:pPr>
                <a:defRPr/>
              </a:pPr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26EBEF-A3ED-4576-809D-3512A3AE1BB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26EBEF-A3ED-4576-809D-3512A3AE1BB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97F4EB-F494-44BE-B704-F579F13CA95A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15565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7201BAD-7001-413B-9366-7259E9501FEC}" type="slidenum">
              <a:rPr lang="en-US" sz="1200"/>
              <a:pPr algn="r"/>
              <a:t>11</a:t>
            </a:fld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97F4EB-F494-44BE-B704-F579F13CA95A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15565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7201BAD-7001-413B-9366-7259E9501FEC}" type="slidenum">
              <a:rPr lang="en-US" sz="1200"/>
              <a:pPr algn="r"/>
              <a:t>12</a:t>
            </a:fld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B0657A-EBAF-47E1-BC5B-8EAC7B9DDA9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2457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37E10E7-AAC0-4A1F-8ED6-00ABA8B16155}" type="slidenum">
              <a:rPr lang="en-US" sz="1200"/>
              <a:pPr algn="r"/>
              <a:t>17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57C3BAEC-0085-4430-B78C-020D428EF143}" type="slidenum">
              <a:rPr lang="en-US" sz="1200">
                <a:latin typeface="+mn-lt"/>
              </a:rPr>
              <a:pPr algn="r">
                <a:defRPr/>
              </a:pPr>
              <a:t>18</a:t>
            </a:fld>
            <a:endParaRPr lang="en-US" sz="1200" dirty="0">
              <a:latin typeface="+mn-lt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8F9D0005-BDA9-4ECA-9470-7EEC7D3B2D0A}" type="slidenum">
              <a:rPr lang="en-US" sz="1200">
                <a:latin typeface="+mn-lt"/>
              </a:rPr>
              <a:pPr algn="r">
                <a:defRPr/>
              </a:pPr>
              <a:t>19</a:t>
            </a:fld>
            <a:endParaRPr lang="en-US" sz="1200" dirty="0">
              <a:latin typeface="+mn-lt"/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8F9D0005-BDA9-4ECA-9470-7EEC7D3B2D0A}" type="slidenum">
              <a:rPr lang="en-US" sz="1200">
                <a:latin typeface="+mn-lt"/>
              </a:rPr>
              <a:pPr algn="r">
                <a:defRPr/>
              </a:pPr>
              <a:t>20</a:t>
            </a:fld>
            <a:endParaRPr lang="en-US" sz="1200" dirty="0">
              <a:latin typeface="+mn-lt"/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B0657A-EBAF-47E1-BC5B-8EAC7B9DDA9C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E790E53-0E94-4AFD-A558-7ADC0D245BE0}" type="slidenum">
              <a:rPr lang="en-US" sz="1200"/>
              <a:pPr algn="r"/>
              <a:t>22</a:t>
            </a:fld>
            <a:endParaRPr lang="en-US" sz="1200" dirty="0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819A2D6-DF0D-4CED-AF41-4C1D766BBB21}" type="slidenum">
              <a:rPr lang="en-US" sz="1200"/>
              <a:pPr algn="r"/>
              <a:t>23</a:t>
            </a:fld>
            <a:endParaRPr lang="en-US" sz="1200" dirty="0"/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B0657A-EBAF-47E1-BC5B-8EAC7B9DDA9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B0657A-EBAF-47E1-BC5B-8EAC7B9DDA9C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B0657A-EBAF-47E1-BC5B-8EAC7B9DDA9C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B0657A-EBAF-47E1-BC5B-8EAC7B9DDA9C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B0657A-EBAF-47E1-BC5B-8EAC7B9DDA9C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B0657A-EBAF-47E1-BC5B-8EAC7B9DDA9C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4C5B37-699B-463C-8F92-70FB46C78F3C}" type="slidenum">
              <a:rPr lang="en-US"/>
              <a:pPr/>
              <a:t>33</a:t>
            </a:fld>
            <a:endParaRPr lang="en-US" dirty="0"/>
          </a:p>
        </p:txBody>
      </p:sp>
      <p:sp>
        <p:nvSpPr>
          <p:cNvPr id="544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815" y="4342150"/>
            <a:ext cx="5028370" cy="4115425"/>
          </a:xfrm>
        </p:spPr>
        <p:txBody>
          <a:bodyPr lIns="89858" tIns="44930" rIns="89858" bIns="44930"/>
          <a:lstStyle/>
          <a:p>
            <a:pPr marL="112334" indent="-112334"/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97F4EB-F494-44BE-B704-F579F13CA95A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15565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7201BAD-7001-413B-9366-7259E9501FEC}" type="slidenum">
              <a:rPr lang="en-US" sz="1200"/>
              <a:pPr algn="r"/>
              <a:t>37</a:t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C9ECF-AD70-491F-8A9E-77E1400C621E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4BB4C-F849-480F-A4BA-D2B4EF142C9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4C9A3-5E0A-4503-A787-156A7A7025E1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7FF90-C15B-4BB8-B53E-568BC08EF8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6727ED-A0D5-4A43-A3FD-AC4DA5998B1D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8AA28-C75E-44A7-B60A-7F3CB2D6B5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CD230E-FA9D-4791-B4C7-BB776DB11EA2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4E21FE-CBBE-4C20-BF65-BCB400CAD8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E14EA8-608E-4020-9824-7A74FDCF5558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E3C49-427E-4967-BD71-895CFF4808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CC4A4-8BB6-41C7-AD8A-160F888AF2B3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98492-A36E-4EAA-8D51-C7479E5289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BA19C9-387C-4D23-ADC0-45F03FF6B242}" type="datetimeFigureOut">
              <a:rPr lang="en-US" smtClean="0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070E70-638F-4BBA-93B2-7D89F554C21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762000" y="2133600"/>
            <a:ext cx="7772400" cy="152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1066800" y="4800600"/>
            <a:ext cx="7543800" cy="914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BA19C9-387C-4D23-ADC0-45F03FF6B242}" type="datetimeFigureOut">
              <a:rPr lang="en-US" smtClean="0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070E70-638F-4BBA-93B2-7D89F554C21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7"/>
          </p:nvPr>
        </p:nvSpPr>
        <p:spPr>
          <a:xfrm>
            <a:off x="1600200" y="2667000"/>
            <a:ext cx="1371600" cy="533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8"/>
          </p:nvPr>
        </p:nvSpPr>
        <p:spPr>
          <a:xfrm>
            <a:off x="1600200" y="3352800"/>
            <a:ext cx="1447800" cy="68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3" name="Content Placeholder 22"/>
          <p:cNvSpPr>
            <a:spLocks noGrp="1"/>
          </p:cNvSpPr>
          <p:nvPr>
            <p:ph sz="quarter" idx="21"/>
          </p:nvPr>
        </p:nvSpPr>
        <p:spPr>
          <a:xfrm>
            <a:off x="1981200" y="5257800"/>
            <a:ext cx="1295400" cy="68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9" name="Content Placeholder 38"/>
          <p:cNvSpPr>
            <a:spLocks noGrp="1"/>
          </p:cNvSpPr>
          <p:nvPr>
            <p:ph sz="quarter" idx="29"/>
          </p:nvPr>
        </p:nvSpPr>
        <p:spPr>
          <a:xfrm>
            <a:off x="7467600" y="4038600"/>
            <a:ext cx="1143000" cy="60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1" name="Content Placeholder 40"/>
          <p:cNvSpPr>
            <a:spLocks noGrp="1"/>
          </p:cNvSpPr>
          <p:nvPr>
            <p:ph sz="quarter" idx="30"/>
          </p:nvPr>
        </p:nvSpPr>
        <p:spPr>
          <a:xfrm>
            <a:off x="6019800" y="4724400"/>
            <a:ext cx="1981200" cy="68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3" name="Content Placeholder 42"/>
          <p:cNvSpPr>
            <a:spLocks noGrp="1"/>
          </p:cNvSpPr>
          <p:nvPr>
            <p:ph sz="quarter" idx="31"/>
          </p:nvPr>
        </p:nvSpPr>
        <p:spPr>
          <a:xfrm>
            <a:off x="5943600" y="5638800"/>
            <a:ext cx="2667000" cy="45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32"/>
          </p:nvPr>
        </p:nvSpPr>
        <p:spPr>
          <a:xfrm>
            <a:off x="228600" y="1981200"/>
            <a:ext cx="1066800" cy="533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7" name="Text Placeholder 46"/>
          <p:cNvSpPr>
            <a:spLocks noGrp="1"/>
          </p:cNvSpPr>
          <p:nvPr>
            <p:ph type="body" sz="quarter" idx="33" hasCustomPrompt="1"/>
          </p:nvPr>
        </p:nvSpPr>
        <p:spPr>
          <a:xfrm>
            <a:off x="228600" y="2667000"/>
            <a:ext cx="1066800" cy="457200"/>
          </a:xfrm>
        </p:spPr>
        <p:txBody>
          <a:bodyPr/>
          <a:lstStyle/>
          <a:p>
            <a:pPr lvl="0"/>
            <a:r>
              <a:rPr lang="en-US" dirty="0" err="1" smtClean="0"/>
              <a:t>Clik</a:t>
            </a:r>
            <a:r>
              <a:rPr lang="en-US" dirty="0" smtClean="0"/>
              <a:t>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9" name="Text Placeholder 48"/>
          <p:cNvSpPr>
            <a:spLocks noGrp="1"/>
          </p:cNvSpPr>
          <p:nvPr>
            <p:ph type="body" sz="quarter" idx="34"/>
          </p:nvPr>
        </p:nvSpPr>
        <p:spPr>
          <a:xfrm>
            <a:off x="228600" y="3352800"/>
            <a:ext cx="1066800" cy="533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1" name="Text Placeholder 50"/>
          <p:cNvSpPr>
            <a:spLocks noGrp="1"/>
          </p:cNvSpPr>
          <p:nvPr>
            <p:ph type="body" sz="quarter" idx="35"/>
          </p:nvPr>
        </p:nvSpPr>
        <p:spPr>
          <a:xfrm>
            <a:off x="304800" y="5334000"/>
            <a:ext cx="1219200" cy="60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52"/>
          <p:cNvSpPr>
            <a:spLocks noGrp="1"/>
          </p:cNvSpPr>
          <p:nvPr>
            <p:ph type="body" sz="quarter" idx="36"/>
          </p:nvPr>
        </p:nvSpPr>
        <p:spPr>
          <a:xfrm>
            <a:off x="1524000" y="1981200"/>
            <a:ext cx="1447800" cy="533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5" name="Text Placeholder 54"/>
          <p:cNvSpPr>
            <a:spLocks noGrp="1"/>
          </p:cNvSpPr>
          <p:nvPr>
            <p:ph type="body" sz="quarter" idx="37"/>
          </p:nvPr>
        </p:nvSpPr>
        <p:spPr>
          <a:xfrm>
            <a:off x="7620000" y="2133600"/>
            <a:ext cx="1219200" cy="68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38"/>
          </p:nvPr>
        </p:nvSpPr>
        <p:spPr>
          <a:xfrm>
            <a:off x="5715000" y="2133600"/>
            <a:ext cx="1371600" cy="6858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9" name="Text Placeholder 58"/>
          <p:cNvSpPr>
            <a:spLocks noGrp="1"/>
          </p:cNvSpPr>
          <p:nvPr>
            <p:ph type="body" sz="quarter" idx="39"/>
          </p:nvPr>
        </p:nvSpPr>
        <p:spPr>
          <a:xfrm>
            <a:off x="3581400" y="1981200"/>
            <a:ext cx="1371600" cy="533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1" name="Text Placeholder 60"/>
          <p:cNvSpPr>
            <a:spLocks noGrp="1"/>
          </p:cNvSpPr>
          <p:nvPr>
            <p:ph type="body" sz="quarter" idx="40"/>
          </p:nvPr>
        </p:nvSpPr>
        <p:spPr>
          <a:xfrm>
            <a:off x="3657600" y="2743200"/>
            <a:ext cx="1295400" cy="533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3" name="Text Placeholder 62"/>
          <p:cNvSpPr>
            <a:spLocks noGrp="1"/>
          </p:cNvSpPr>
          <p:nvPr>
            <p:ph type="body" sz="quarter" idx="41"/>
          </p:nvPr>
        </p:nvSpPr>
        <p:spPr>
          <a:xfrm>
            <a:off x="3733800" y="3429000"/>
            <a:ext cx="1219200" cy="6096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42"/>
          </p:nvPr>
        </p:nvSpPr>
        <p:spPr>
          <a:xfrm>
            <a:off x="7086600" y="3124200"/>
            <a:ext cx="1371600" cy="6858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43"/>
          </p:nvPr>
        </p:nvSpPr>
        <p:spPr>
          <a:xfrm>
            <a:off x="1752600" y="4419600"/>
            <a:ext cx="1524000" cy="533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44"/>
          </p:nvPr>
        </p:nvSpPr>
        <p:spPr>
          <a:xfrm>
            <a:off x="3657600" y="4495800"/>
            <a:ext cx="1752600" cy="1295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57200" y="1981200"/>
            <a:ext cx="8153400" cy="2667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09600" y="4953000"/>
            <a:ext cx="7924800" cy="152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BA19C9-387C-4D23-ADC0-45F03FF6B242}" type="datetimeFigureOut">
              <a:rPr lang="en-US" smtClean="0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070E70-638F-4BBA-93B2-7D89F554C21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E5C0D-18F8-4FB2-9D42-89AE0E98C0F8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0669A-B843-4625-85A1-28446C1DF2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52400" y="2057400"/>
            <a:ext cx="1143000" cy="60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132186" y="2791407"/>
            <a:ext cx="1143000" cy="45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76200" y="3429000"/>
            <a:ext cx="1219200" cy="53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1600200" y="2057400"/>
            <a:ext cx="1143000" cy="60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1524000" y="2819400"/>
            <a:ext cx="1219200" cy="45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1524000" y="3429000"/>
            <a:ext cx="1219200" cy="53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9"/>
          </p:nvPr>
        </p:nvSpPr>
        <p:spPr>
          <a:xfrm>
            <a:off x="1524000" y="4114800"/>
            <a:ext cx="1219200" cy="45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20"/>
          </p:nvPr>
        </p:nvSpPr>
        <p:spPr>
          <a:xfrm>
            <a:off x="152400" y="4953000"/>
            <a:ext cx="1219200" cy="76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1"/>
          </p:nvPr>
        </p:nvSpPr>
        <p:spPr>
          <a:xfrm>
            <a:off x="1600200" y="4953000"/>
            <a:ext cx="1219200" cy="76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2"/>
          </p:nvPr>
        </p:nvSpPr>
        <p:spPr>
          <a:xfrm>
            <a:off x="3048000" y="2057400"/>
            <a:ext cx="1219200" cy="60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3"/>
          </p:nvPr>
        </p:nvSpPr>
        <p:spPr>
          <a:xfrm>
            <a:off x="3048000" y="2819400"/>
            <a:ext cx="1295400" cy="53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4"/>
          </p:nvPr>
        </p:nvSpPr>
        <p:spPr>
          <a:xfrm>
            <a:off x="3048000" y="3505200"/>
            <a:ext cx="1371600" cy="53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5"/>
          </p:nvPr>
        </p:nvSpPr>
        <p:spPr>
          <a:xfrm>
            <a:off x="3048000" y="4267200"/>
            <a:ext cx="1676400" cy="167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26"/>
          </p:nvPr>
        </p:nvSpPr>
        <p:spPr>
          <a:xfrm>
            <a:off x="4953000" y="2057400"/>
            <a:ext cx="1371600" cy="68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27"/>
          </p:nvPr>
        </p:nvSpPr>
        <p:spPr>
          <a:xfrm>
            <a:off x="6781800" y="2362200"/>
            <a:ext cx="1524000" cy="53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28"/>
          </p:nvPr>
        </p:nvSpPr>
        <p:spPr>
          <a:xfrm>
            <a:off x="5943600" y="3124200"/>
            <a:ext cx="2057400" cy="45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29"/>
          </p:nvPr>
        </p:nvSpPr>
        <p:spPr>
          <a:xfrm>
            <a:off x="6934200" y="3810000"/>
            <a:ext cx="1295400" cy="68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30"/>
          </p:nvPr>
        </p:nvSpPr>
        <p:spPr>
          <a:xfrm>
            <a:off x="5638800" y="4724400"/>
            <a:ext cx="2209800" cy="68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31"/>
          </p:nvPr>
        </p:nvSpPr>
        <p:spPr>
          <a:xfrm>
            <a:off x="5791200" y="5486400"/>
            <a:ext cx="2362200" cy="76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5" name="Text Placeholder 44"/>
          <p:cNvSpPr>
            <a:spLocks noGrp="1"/>
          </p:cNvSpPr>
          <p:nvPr>
            <p:ph type="body" sz="quarter" idx="32"/>
          </p:nvPr>
        </p:nvSpPr>
        <p:spPr>
          <a:xfrm>
            <a:off x="228600" y="6019800"/>
            <a:ext cx="2514600" cy="30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C1525-ED78-450C-BA35-5722E69E8748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BFC7EF-4F4A-43A7-A752-CCE2C1EC91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57200" y="2057400"/>
            <a:ext cx="3886200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4876800" y="2057400"/>
            <a:ext cx="3886200" cy="1981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4876800" y="4267200"/>
            <a:ext cx="3962400" cy="23622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8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ight Triangle 11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78328E-6416-4430-AC2E-59054F12AA47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830F9-27E2-42E1-91F6-DDC2ECA456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365D3-ADD4-476F-A993-A47EFFD886B6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BEC36-0E89-42E5-87A4-DCA9B0D5A8A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082-3EAA-4AA6-94B4-285436605349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47490-DA64-4D54-9724-55BD3B2B163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 advClick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4A0267-79C4-4D3C-8223-DE42548D7E4A}" type="datetimeFigureOut">
              <a:rPr lang="en-US" smtClean="0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763CA-E503-4B31-96DE-D9EBF6D54E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59D42C-AA21-405A-9086-D0218D399B4B}" type="datetimeFigureOut">
              <a:rPr lang="en-US" smtClean="0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EBBCC6-1BAE-4ED1-9AA8-EB2B4FDA8E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981200" y="1981200"/>
            <a:ext cx="5486400" cy="60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85800" y="2743200"/>
            <a:ext cx="8153400" cy="3276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59D42C-AA21-405A-9086-D0218D399B4B}" type="datetimeFigureOut">
              <a:rPr lang="en-US" smtClean="0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EBBCC6-1BAE-4ED1-9AA8-EB2B4FDA8E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676400" y="1981200"/>
            <a:ext cx="5334000" cy="53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85800" y="3048000"/>
            <a:ext cx="2438400" cy="68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914400" y="4343400"/>
            <a:ext cx="2362200" cy="167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105400" y="2971800"/>
            <a:ext cx="2667000" cy="76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5257800" y="4191000"/>
            <a:ext cx="2743200" cy="1752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3BA19C9-387C-4D23-ADC0-45F03FF6B242}" type="datetimeFigureOut">
              <a:rPr lang="en-US"/>
              <a:pPr>
                <a:defRPr/>
              </a:pPr>
              <a:t>6/15/2011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C070E70-638F-4BBA-93B2-7D89F554C2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73" r:id="rId7"/>
    <p:sldLayoutId id="2147483674" r:id="rId8"/>
    <p:sldLayoutId id="2147483677" r:id="rId9"/>
    <p:sldLayoutId id="2147483675" r:id="rId10"/>
    <p:sldLayoutId id="2147483665" r:id="rId11"/>
    <p:sldLayoutId id="2147483664" r:id="rId12"/>
    <p:sldLayoutId id="2147483676" r:id="rId13"/>
    <p:sldLayoutId id="2147483672" r:id="rId14"/>
    <p:sldLayoutId id="2147483663" r:id="rId15"/>
    <p:sldLayoutId id="2147483662" r:id="rId16"/>
    <p:sldLayoutId id="2147483678" r:id="rId17"/>
    <p:sldLayoutId id="2147483680" r:id="rId18"/>
    <p:sldLayoutId id="2147483681" r:id="rId19"/>
    <p:sldLayoutId id="2147483682" r:id="rId20"/>
  </p:sldLayoutIdLst>
  <p:transition advClick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nchesterhospitalchiro.com/images/lumbar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ealthquality.va.gov/index.asp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healthquality.va.gov/Low_Back_Pain_LBP_Clinical_Practice_Guideline.asp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eacpa.org/" TargetMode="External"/><Relationship Id="rId2" Type="http://schemas.openxmlformats.org/officeDocument/2006/relationships/hyperlink" Target="http://www.nationalpainfoundation.org/" TargetMode="Externa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healthquality.va.gov/Chronic_Opioid_Therapy_COT.asp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3"/>
          <p:cNvSpPr txBox="1">
            <a:spLocks noChangeArrowheads="1"/>
          </p:cNvSpPr>
          <p:nvPr/>
        </p:nvSpPr>
        <p:spPr bwMode="auto">
          <a:xfrm>
            <a:off x="381000" y="5638800"/>
            <a:ext cx="3524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Courtesy of C. Buckenmaier, MD</a:t>
            </a:r>
          </a:p>
        </p:txBody>
      </p:sp>
      <p:pic>
        <p:nvPicPr>
          <p:cNvPr id="8" name="Picture 7" descr="Wounded le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587500"/>
            <a:ext cx="4260850" cy="5041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Radiograph of injured spin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76800" y="1587500"/>
            <a:ext cx="4127500" cy="5041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76200"/>
            <a:ext cx="8305800" cy="1389888"/>
          </a:xfr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en-US" sz="3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THE BEGINNING OEF-OIF Trauma and Axial Load Injuries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WHY PAIN?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229600" cy="4389437"/>
          </a:xfrm>
        </p:spPr>
        <p:txBody>
          <a:bodyPr/>
          <a:lstStyle/>
          <a:p>
            <a:endParaRPr lang="en-US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HIGH PREVALENCE  (&gt;50%) AND POOR CLINICAL OUTCOMES</a:t>
            </a:r>
          </a:p>
          <a:p>
            <a:pPr lvl="1"/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Suffering and dissatisfied patients</a:t>
            </a:r>
          </a:p>
          <a:p>
            <a:pPr lvl="1"/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Suffering and dissatisfied providers</a:t>
            </a:r>
          </a:p>
          <a:p>
            <a:pPr lvl="1">
              <a:buNone/>
            </a:pPr>
            <a:endParaRPr lang="en-US" sz="1400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BURDEN ON HEALTH SYSTEM</a:t>
            </a:r>
          </a:p>
          <a:p>
            <a:pPr lvl="1"/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Costs </a:t>
            </a:r>
          </a:p>
          <a:p>
            <a:pPr lvl="1"/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Suffering and dissatisfied administrators</a:t>
            </a:r>
          </a:p>
          <a:p>
            <a:pPr lvl="1">
              <a:buNone/>
            </a:pPr>
            <a:endParaRPr lang="en-US" sz="1800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BURDEN ON SOCIETY </a:t>
            </a:r>
          </a:p>
          <a:p>
            <a:pPr lvl="1"/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Costs</a:t>
            </a:r>
          </a:p>
          <a:p>
            <a:pPr lvl="1"/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Suffering and dissatisfied policy makers</a:t>
            </a:r>
          </a:p>
          <a:p>
            <a:pPr lvl="1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Grp="1"/>
          </p:cNvSpPr>
          <p:nvPr>
            <p:ph type="ctrTitle"/>
          </p:nvPr>
        </p:nvSpPr>
        <p:spPr>
          <a:xfrm>
            <a:off x="381000" y="152400"/>
            <a:ext cx="8229600" cy="9906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dirty="0" smtClean="0">
                <a:solidFill>
                  <a:schemeClr val="bg1"/>
                </a:solidFill>
                <a:effectLst/>
                <a:latin typeface="Arial" charset="0"/>
              </a:rPr>
              <a:t>Stepped Integrated Pain Care in the VHA: </a:t>
            </a:r>
            <a:br>
              <a:rPr lang="en-US" sz="3200" dirty="0" smtClean="0">
                <a:solidFill>
                  <a:schemeClr val="bg1"/>
                </a:solidFill>
                <a:effectLst/>
                <a:latin typeface="Arial" charset="0"/>
              </a:rPr>
            </a:br>
            <a:r>
              <a:rPr lang="en-US" sz="2800" dirty="0" smtClean="0">
                <a:solidFill>
                  <a:schemeClr val="bg1"/>
                </a:solidFill>
                <a:effectLst/>
                <a:latin typeface="Arial" charset="0"/>
              </a:rPr>
              <a:t>Meeting the Needs of Our Veteran Population</a:t>
            </a:r>
            <a:endParaRPr lang="en-US" sz="3200" dirty="0" smtClean="0"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5" name="Rectangle 3"/>
          <p:cNvSpPr>
            <a:spLocks noGrp="1"/>
          </p:cNvSpPr>
          <p:nvPr>
            <p:ph type="subTitle" idx="1"/>
          </p:nvPr>
        </p:nvSpPr>
        <p:spPr>
          <a:xfrm>
            <a:off x="533400" y="1295400"/>
            <a:ext cx="8382000" cy="2057400"/>
          </a:xfrm>
          <a:scene3d>
            <a:camera prst="obliqueTopLeft"/>
            <a:lightRig rig="threePt" dir="t"/>
          </a:scene3d>
        </p:spPr>
        <p:txBody>
          <a:bodyPr/>
          <a:lstStyle/>
          <a:p>
            <a:pPr marL="514350" indent="-514350" algn="l" eaLnBrk="1" hangingPunct="1">
              <a:buClr>
                <a:srgbClr val="CCCCFF"/>
              </a:buClr>
            </a:pPr>
            <a:r>
              <a:rPr lang="en-US" sz="2000" b="1" dirty="0" smtClean="0">
                <a:solidFill>
                  <a:srgbClr val="FFC000"/>
                </a:solidFill>
                <a:latin typeface="Arial" charset="0"/>
                <a:cs typeface="Arial" charset="0"/>
              </a:rPr>
              <a:t>LECTURE  1:  Anthony Mariano</a:t>
            </a:r>
          </a:p>
          <a:p>
            <a:pPr marL="514350" indent="-514350" algn="l" eaLnBrk="1" hangingPunct="1">
              <a:buClr>
                <a:srgbClr val="CCCCFF"/>
              </a:buClr>
            </a:pPr>
            <a:r>
              <a:rPr lang="en-US" sz="2400" b="1" dirty="0" smtClean="0">
                <a:solidFill>
                  <a:srgbClr val="FFC000"/>
                </a:solidFill>
                <a:latin typeface="Arial" charset="0"/>
                <a:cs typeface="Arial" charset="0"/>
              </a:rPr>
              <a:t>	</a:t>
            </a:r>
            <a:r>
              <a:rPr lang="en-US" sz="2400" dirty="0" smtClean="0">
                <a:solidFill>
                  <a:srgbClr val="FFC000"/>
                </a:solidFill>
                <a:latin typeface="Arial" charset="0"/>
                <a:cs typeface="Arial" charset="0"/>
              </a:rPr>
              <a:t>Implementing a Biopsychosocial Model of Chronic Pain Care: The Collaborative Care Model</a:t>
            </a:r>
          </a:p>
          <a:p>
            <a:pPr marL="514350" indent="-514350" algn="l" eaLnBrk="1" hangingPunct="1">
              <a:buClr>
                <a:srgbClr val="CCCCFF"/>
              </a:buClr>
            </a:pPr>
            <a:endParaRPr lang="en-US" sz="1400" dirty="0" smtClean="0">
              <a:solidFill>
                <a:schemeClr val="bg1">
                  <a:lumMod val="95000"/>
                </a:schemeClr>
              </a:solidFill>
              <a:latin typeface="Arial" charset="0"/>
              <a:cs typeface="Arial" charset="0"/>
            </a:endParaRPr>
          </a:p>
          <a:p>
            <a:pPr marL="514350" indent="-514350" algn="l" eaLnBrk="1" hangingPunct="1">
              <a:buClr>
                <a:srgbClr val="CCCCFF"/>
              </a:buClr>
            </a:pPr>
            <a:r>
              <a:rPr lang="en-US" sz="20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  <a:cs typeface="Arial" charset="0"/>
              </a:rPr>
              <a:t>LECTURE  2 and  LECTURE 3:  Rollin Gallagher</a:t>
            </a:r>
          </a:p>
          <a:p>
            <a:pPr marL="514350" indent="-514350" algn="l" eaLnBrk="1" hangingPunct="1">
              <a:buClr>
                <a:srgbClr val="CCCCFF"/>
              </a:buClr>
            </a:pP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  <a:latin typeface="Arial" charset="0"/>
                <a:cs typeface="Arial" charset="0"/>
              </a:rPr>
              <a:t>	The VHA’s Pain Management Strategy for providing a Continuum of Care</a:t>
            </a:r>
          </a:p>
          <a:p>
            <a:pPr marL="971550" lvl="1" indent="-514350" algn="l" eaLnBrk="1" hangingPunct="1">
              <a:buClr>
                <a:srgbClr val="CCCCFF"/>
              </a:buClr>
              <a:buFont typeface="+mj-lt"/>
              <a:buAutoNum type="arabicPeriod"/>
            </a:pPr>
            <a:r>
              <a:rPr lang="en-US" sz="1600" dirty="0" smtClean="0">
                <a:solidFill>
                  <a:schemeClr val="bg1">
                    <a:lumMod val="95000"/>
                  </a:schemeClr>
                </a:solidFill>
                <a:latin typeface="Arial" charset="0"/>
                <a:cs typeface="Arial" charset="0"/>
              </a:rPr>
              <a:t>VHA Directive 2009-053: A systems approach to delivering biopsychosocial care, the Stepped Care Model</a:t>
            </a:r>
            <a:endParaRPr lang="en-US" sz="2000" dirty="0" smtClean="0">
              <a:solidFill>
                <a:schemeClr val="bg1">
                  <a:lumMod val="95000"/>
                </a:schemeClr>
              </a:solidFill>
              <a:latin typeface="Arial" charset="0"/>
              <a:cs typeface="Arial" charset="0"/>
            </a:endParaRPr>
          </a:p>
          <a:p>
            <a:pPr marL="971550" lvl="1" indent="-514350" algn="l" eaLnBrk="1" hangingPunct="1">
              <a:buClr>
                <a:srgbClr val="CCCCFF"/>
              </a:buClr>
              <a:buFont typeface="+mj-lt"/>
              <a:buAutoNum type="arabicPeriod"/>
            </a:pPr>
            <a:r>
              <a:rPr lang="en-US" sz="1600" dirty="0" smtClean="0">
                <a:solidFill>
                  <a:schemeClr val="bg1">
                    <a:lumMod val="95000"/>
                  </a:schemeClr>
                </a:solidFill>
                <a:latin typeface="Arial" charset="0"/>
                <a:cs typeface="Arial" charset="0"/>
              </a:rPr>
              <a:t>Standard Biopsychosocial Pain Assessment in Common Conditions (low back pain, neuropathic pain, headache): Linking Biopsychosocial Pathophysiology to Treatment Planning and Management</a:t>
            </a:r>
          </a:p>
          <a:p>
            <a:pPr marL="971550" lvl="1" indent="-514350" algn="l" eaLnBrk="1" hangingPunct="1">
              <a:buClr>
                <a:srgbClr val="CCCCFF"/>
              </a:buClr>
            </a:pPr>
            <a:endParaRPr lang="en-US" sz="1400" dirty="0" smtClean="0">
              <a:solidFill>
                <a:schemeClr val="bg1">
                  <a:lumMod val="95000"/>
                </a:schemeClr>
              </a:solidFill>
              <a:latin typeface="Arial" charset="0"/>
              <a:cs typeface="Arial" charset="0"/>
            </a:endParaRPr>
          </a:p>
          <a:p>
            <a:pPr marL="514350" indent="-514350" algn="l" eaLnBrk="1" hangingPunct="1">
              <a:buClr>
                <a:srgbClr val="CCCCFF"/>
              </a:buClr>
            </a:pPr>
            <a:r>
              <a:rPr lang="en-US" sz="20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  <a:cs typeface="Arial" charset="0"/>
              </a:rPr>
              <a:t>LECTURE  4: Anthony Mariano</a:t>
            </a:r>
          </a:p>
          <a:p>
            <a:pPr marL="514350" indent="-514350" algn="l" eaLnBrk="1" hangingPunct="1">
              <a:buClr>
                <a:srgbClr val="CCCCFF"/>
              </a:buClr>
            </a:pPr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  <a:latin typeface="Arial" charset="0"/>
                <a:cs typeface="Arial" charset="0"/>
              </a:rPr>
              <a:t>	Practical Suggestions for Helping Veterans with Complex Pain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"/>
            <a:ext cx="8153400" cy="1495425"/>
          </a:xfrm>
        </p:spPr>
        <p:txBody>
          <a:bodyPr/>
          <a:lstStyle/>
          <a:p>
            <a:pPr marR="0" algn="l" eaLnBrk="1" hangingPunct="1"/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FACULTY</a:t>
            </a:r>
            <a:endParaRPr lang="en-US" sz="2800" b="1" dirty="0" smtClean="0">
              <a:solidFill>
                <a:schemeClr val="bg1">
                  <a:lumMod val="95000"/>
                </a:schemeClr>
              </a:solidFill>
              <a:latin typeface="Arial" charset="0"/>
            </a:endParaRPr>
          </a:p>
          <a:p>
            <a:pPr marR="0" algn="l" eaLnBrk="1" hangingPunct="1"/>
            <a:r>
              <a:rPr lang="en-US" sz="28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                </a:t>
            </a:r>
            <a:br>
              <a:rPr lang="en-US" sz="28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</a:br>
            <a:r>
              <a:rPr lang="en-US" sz="24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Rollin M. Gallagher, MD MPH</a:t>
            </a:r>
          </a:p>
          <a:p>
            <a:pPr marR="0" algn="l" eaLnBrk="1" hangingPunct="1"/>
            <a:r>
              <a:rPr lang="en-US" sz="20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Deputy National Program Director for Pain Management, VHA</a:t>
            </a:r>
          </a:p>
          <a:p>
            <a:pPr marR="0" algn="l" eaLnBrk="1" hangingPunct="1"/>
            <a:r>
              <a:rPr lang="en-US" sz="18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    Director for Pain Policy Research &amp; Primary Care, Penn Pain Medicine</a:t>
            </a:r>
          </a:p>
          <a:p>
            <a:pPr marR="0" algn="l" eaLnBrk="1" hangingPunct="1"/>
            <a:r>
              <a:rPr lang="en-US" sz="18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    Clinical Professor of Psychiatry and Anesthesiology</a:t>
            </a:r>
          </a:p>
          <a:p>
            <a:pPr marR="0" algn="l" eaLnBrk="1" hangingPunct="1"/>
            <a:r>
              <a:rPr lang="en-US" sz="18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    University of Pennsylvania School of Medicine</a:t>
            </a:r>
          </a:p>
          <a:p>
            <a:pPr marR="0" algn="l" eaLnBrk="1" hangingPunct="1"/>
            <a:r>
              <a:rPr lang="en-US" sz="18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    Philadelphia, PA</a:t>
            </a:r>
          </a:p>
          <a:p>
            <a:pPr marR="0" algn="l" eaLnBrk="1" hangingPunct="1"/>
            <a:endParaRPr lang="en-US" sz="2000" b="1" dirty="0" smtClean="0">
              <a:solidFill>
                <a:schemeClr val="bg1">
                  <a:lumMod val="95000"/>
                </a:schemeClr>
              </a:solidFill>
              <a:latin typeface="Arial" charset="0"/>
            </a:endParaRPr>
          </a:p>
          <a:p>
            <a:pPr algn="l">
              <a:buClr>
                <a:schemeClr val="accent3"/>
              </a:buClr>
            </a:pPr>
            <a:r>
              <a:rPr lang="en-US" sz="24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Anthony J. Mariano, PhD</a:t>
            </a:r>
          </a:p>
          <a:p>
            <a:pPr algn="l">
              <a:buClr>
                <a:schemeClr val="accent3"/>
              </a:buClr>
            </a:pPr>
            <a:r>
              <a:rPr lang="en-US" sz="20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Puget Sound VA Health Care System</a:t>
            </a:r>
          </a:p>
          <a:p>
            <a:pPr algn="l">
              <a:buClr>
                <a:schemeClr val="accent3"/>
              </a:buClr>
            </a:pPr>
            <a:r>
              <a:rPr lang="en-US" sz="20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Clinical Director, Pain Clinic</a:t>
            </a:r>
          </a:p>
          <a:p>
            <a:pPr algn="l">
              <a:buClr>
                <a:schemeClr val="accent3"/>
              </a:buClr>
            </a:pPr>
            <a:r>
              <a:rPr lang="en-US" sz="18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    Assistant Clinical Professor</a:t>
            </a:r>
          </a:p>
          <a:p>
            <a:pPr algn="l">
              <a:buClr>
                <a:schemeClr val="accent3"/>
              </a:buClr>
            </a:pPr>
            <a:r>
              <a:rPr lang="en-US" sz="18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    Department of Psychiatry and Behavioral Sciences </a:t>
            </a:r>
          </a:p>
          <a:p>
            <a:pPr algn="l">
              <a:buClr>
                <a:schemeClr val="accent3"/>
              </a:buClr>
            </a:pPr>
            <a:r>
              <a:rPr lang="en-US" sz="18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    University of  Washington Medical School</a:t>
            </a:r>
          </a:p>
          <a:p>
            <a:pPr algn="l">
              <a:buClr>
                <a:schemeClr val="accent3"/>
              </a:buClr>
            </a:pPr>
            <a:r>
              <a:rPr lang="en-US" sz="1800" b="1" dirty="0" smtClean="0">
                <a:solidFill>
                  <a:schemeClr val="bg1">
                    <a:lumMod val="95000"/>
                  </a:schemeClr>
                </a:solidFill>
                <a:latin typeface="Arial" charset="0"/>
              </a:rPr>
              <a:t>    Seattle, Washington</a:t>
            </a:r>
          </a:p>
          <a:p>
            <a:pPr algn="l">
              <a:buClr>
                <a:schemeClr val="accent3"/>
              </a:buClr>
            </a:pPr>
            <a:endParaRPr lang="en-US" sz="2800" b="1" dirty="0" smtClean="0">
              <a:solidFill>
                <a:srgbClr val="CCCCFF"/>
              </a:solidFill>
              <a:latin typeface="Arial" charset="0"/>
            </a:endParaRPr>
          </a:p>
          <a:p>
            <a:pPr marR="0" algn="l" eaLnBrk="1" hangingPunct="1"/>
            <a:endParaRPr lang="en-US" sz="2800" b="1" dirty="0" smtClean="0">
              <a:solidFill>
                <a:srgbClr val="CCCCFF"/>
              </a:solidFill>
              <a:latin typeface="Arial" charset="0"/>
            </a:endParaRPr>
          </a:p>
          <a:p>
            <a:pPr marR="0" algn="l" eaLnBrk="1" hangingPunct="1"/>
            <a:endParaRPr lang="en-US" sz="2800" b="1" dirty="0" smtClean="0">
              <a:solidFill>
                <a:srgbClr val="CCCCFF"/>
              </a:solidFill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38200"/>
            <a:ext cx="8229600" cy="4781550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u="sng" dirty="0" smtClean="0">
                <a:solidFill>
                  <a:schemeClr val="bg1"/>
                </a:solidFill>
              </a:rPr>
              <a:t>Provides</a:t>
            </a:r>
            <a:r>
              <a:rPr lang="en-US" b="1" dirty="0" smtClean="0">
                <a:solidFill>
                  <a:schemeClr val="bg1"/>
                </a:solidFill>
              </a:rPr>
              <a:t>:</a:t>
            </a: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sz="4800" dirty="0" smtClean="0">
                <a:solidFill>
                  <a:schemeClr val="bg1"/>
                </a:solidFill>
              </a:rPr>
              <a:t>Concepts that integrate the process of care to the interaction with and management of the patient in the medical home model and ties them to core competencies.</a:t>
            </a:r>
            <a:endParaRPr 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09800"/>
            <a:ext cx="8229600" cy="5105400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b="1" u="sng" dirty="0" smtClean="0">
                <a:solidFill>
                  <a:schemeClr val="bg1"/>
                </a:solidFill>
              </a:rPr>
              <a:t>Provides</a:t>
            </a:r>
            <a:r>
              <a:rPr lang="en-US" b="1" dirty="0" smtClean="0">
                <a:solidFill>
                  <a:schemeClr val="bg1"/>
                </a:solidFill>
              </a:rPr>
              <a:t>:</a:t>
            </a: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sz="4400" b="1" dirty="0" smtClean="0">
                <a:solidFill>
                  <a:schemeClr val="bg1"/>
                </a:solidFill>
              </a:rPr>
              <a:t>Practical tips on history taking, physical examination and clinical decision-making and ties them to core competencies:  </a:t>
            </a: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  </a:t>
            </a:r>
            <a:r>
              <a:rPr lang="en-US" sz="4400" dirty="0" smtClean="0">
                <a:solidFill>
                  <a:schemeClr val="bg1"/>
                </a:solidFill>
              </a:rPr>
              <a:t>- Anchored in illustrated 	pathophysiology, epidemiology 	</a:t>
            </a:r>
            <a:br>
              <a:rPr lang="en-US" sz="4400" dirty="0" smtClean="0">
                <a:solidFill>
                  <a:schemeClr val="bg1"/>
                </a:solidFill>
              </a:rPr>
            </a:br>
            <a:r>
              <a:rPr lang="en-US" sz="4400" dirty="0" smtClean="0">
                <a:solidFill>
                  <a:schemeClr val="bg1"/>
                </a:solidFill>
              </a:rPr>
              <a:t>   - Case examples</a:t>
            </a:r>
            <a:br>
              <a:rPr lang="en-US" sz="4400" dirty="0" smtClean="0">
                <a:solidFill>
                  <a:schemeClr val="bg1"/>
                </a:solidFill>
              </a:rPr>
            </a:br>
            <a:r>
              <a:rPr lang="en-US" sz="4400" dirty="0" smtClean="0">
                <a:solidFill>
                  <a:schemeClr val="bg1"/>
                </a:solidFill>
              </a:rPr>
              <a:t>	</a:t>
            </a: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1143000"/>
          </a:xfrm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3810000"/>
          </a:xfrm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>
            <a:noAutofit/>
          </a:bodyPr>
          <a:lstStyle/>
          <a:p>
            <a:pPr>
              <a:buClr>
                <a:srgbClr val="CCCCFF"/>
              </a:buClr>
            </a:pPr>
            <a:r>
              <a:rPr lang="en-US" sz="2800" dirty="0" smtClean="0">
                <a:solidFill>
                  <a:srgbClr val="EDF3DB"/>
                </a:solidFill>
              </a:rPr>
              <a:t>Discuss chronic pain in context of new directions in primary care</a:t>
            </a:r>
          </a:p>
          <a:p>
            <a:pPr>
              <a:buClr>
                <a:srgbClr val="CCCCFF"/>
              </a:buClr>
            </a:pPr>
            <a:r>
              <a:rPr lang="en-US" sz="2800" dirty="0" smtClean="0">
                <a:solidFill>
                  <a:srgbClr val="EDF3DB"/>
                </a:solidFill>
              </a:rPr>
              <a:t>Introduce concept of “complex” chronic pain</a:t>
            </a:r>
          </a:p>
          <a:p>
            <a:pPr>
              <a:buClr>
                <a:srgbClr val="CCCCFF"/>
              </a:buClr>
            </a:pPr>
            <a:r>
              <a:rPr lang="en-US" sz="2800" dirty="0" smtClean="0">
                <a:solidFill>
                  <a:srgbClr val="EDF3DB"/>
                </a:solidFill>
              </a:rPr>
              <a:t>Identify shortcomings of traditional model and practices</a:t>
            </a:r>
          </a:p>
          <a:p>
            <a:pPr>
              <a:buClr>
                <a:srgbClr val="CCCCFF"/>
              </a:buClr>
            </a:pPr>
            <a:r>
              <a:rPr lang="en-US" sz="2800" dirty="0" smtClean="0">
                <a:solidFill>
                  <a:srgbClr val="EDF3DB"/>
                </a:solidFill>
              </a:rPr>
              <a:t>Provide alternative model of chronic pain care that is more consistent with the principles of the Veteran-centered medical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52400"/>
            <a:ext cx="83058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Clr>
                <a:srgbClr val="CCCCFF"/>
              </a:buClr>
            </a:pPr>
            <a:r>
              <a:rPr lang="en-US" sz="2800" b="1" dirty="0" smtClean="0">
                <a:solidFill>
                  <a:srgbClr val="FFC000"/>
                </a:solidFill>
                <a:cs typeface="Arial" charset="0"/>
              </a:rPr>
              <a:t>LECTURE  1:  Anthony Mariano</a:t>
            </a:r>
          </a:p>
          <a:p>
            <a:pPr marL="514350" indent="-514350">
              <a:buClr>
                <a:srgbClr val="CCCCFF"/>
              </a:buClr>
            </a:pPr>
            <a:r>
              <a:rPr lang="en-US" sz="3200" b="1" dirty="0" smtClean="0">
                <a:solidFill>
                  <a:srgbClr val="FFC000"/>
                </a:solidFill>
                <a:cs typeface="Arial" charset="0"/>
              </a:rPr>
              <a:t>	</a:t>
            </a:r>
            <a:r>
              <a:rPr lang="en-US" sz="3200" dirty="0" smtClean="0">
                <a:solidFill>
                  <a:srgbClr val="FFC000"/>
                </a:solidFill>
                <a:cs typeface="Arial" charset="0"/>
              </a:rPr>
              <a:t>Implementing a Biopsychosocial Model of Chronic Pain Care: The Collaborative Care Model</a:t>
            </a:r>
          </a:p>
          <a:p>
            <a:endParaRPr lang="en-US" sz="3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>
                <a:solidFill>
                  <a:srgbClr val="CCCCFF"/>
                </a:solidFill>
              </a:rPr>
              <a:t>Overview</a:t>
            </a:r>
            <a:endParaRPr lang="en-US" sz="4800" dirty="0">
              <a:solidFill>
                <a:srgbClr val="CCCC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>
              <a:buClr>
                <a:srgbClr val="CCCCFF"/>
              </a:buClr>
            </a:pPr>
            <a:r>
              <a:rPr lang="en-US" sz="2800" dirty="0" smtClean="0">
                <a:solidFill>
                  <a:srgbClr val="FFC000"/>
                </a:solidFill>
              </a:rPr>
              <a:t>Pain and primary care: new directions</a:t>
            </a:r>
          </a:p>
          <a:p>
            <a:pPr marL="641033" lvl="1" indent="-274320"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chemeClr val="bg1"/>
                </a:solidFill>
              </a:rPr>
              <a:t>VHA Pain Management Directive 2009-053</a:t>
            </a:r>
          </a:p>
          <a:p>
            <a:pPr marL="915670" lvl="2" indent="-274320"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chemeClr val="bg1"/>
                </a:solidFill>
              </a:rPr>
              <a:t>Stepped-care strategy</a:t>
            </a:r>
          </a:p>
          <a:p>
            <a:pPr marL="915670" lvl="2" indent="-274320"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chemeClr val="bg1"/>
                </a:solidFill>
              </a:rPr>
              <a:t>Core competencies </a:t>
            </a:r>
          </a:p>
          <a:p>
            <a:pPr marL="641033" lvl="1" indent="-274320"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chemeClr val="bg1"/>
                </a:solidFill>
              </a:rPr>
              <a:t>Veteran-centered Medical Home</a:t>
            </a:r>
          </a:p>
          <a:p>
            <a:pPr marL="274320" indent="-274320">
              <a:buClr>
                <a:srgbClr val="CCCCFF"/>
              </a:buClr>
            </a:pPr>
            <a:r>
              <a:rPr lang="en-US" sz="2800" dirty="0" smtClean="0">
                <a:solidFill>
                  <a:srgbClr val="EDF3DB"/>
                </a:solidFill>
              </a:rPr>
              <a:t>Why do we struggle so much with chronic pain?</a:t>
            </a:r>
          </a:p>
          <a:p>
            <a:pPr marL="274320" indent="-274320">
              <a:buClr>
                <a:srgbClr val="CCCCFF"/>
              </a:buClr>
            </a:pPr>
            <a:r>
              <a:rPr lang="en-US" dirty="0" smtClean="0">
                <a:solidFill>
                  <a:srgbClr val="EDF3DB"/>
                </a:solidFill>
              </a:rPr>
              <a:t>Conceptual burdens: biomedical model</a:t>
            </a:r>
          </a:p>
          <a:p>
            <a:pPr marL="274320" indent="-274320">
              <a:buClr>
                <a:srgbClr val="CCCCFF"/>
              </a:buClr>
            </a:pPr>
            <a:r>
              <a:rPr lang="en-US" sz="2800" dirty="0" smtClean="0">
                <a:solidFill>
                  <a:srgbClr val="EDF3DB"/>
                </a:solidFill>
              </a:rPr>
              <a:t>Collaborative Self-management Model</a:t>
            </a:r>
          </a:p>
          <a:p>
            <a:pPr marL="822008" lvl="4" indent="-274320">
              <a:buClr>
                <a:srgbClr val="CCCCFF"/>
              </a:buClr>
              <a:buSzPct val="95000"/>
            </a:pPr>
            <a:r>
              <a:rPr lang="en-US" sz="2400" dirty="0" smtClean="0">
                <a:solidFill>
                  <a:srgbClr val="EDF3DB"/>
                </a:solidFill>
              </a:rPr>
              <a:t>Integrated “total person” care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685800"/>
          </a:xfrm>
        </p:spPr>
        <p:txBody>
          <a:bodyPr>
            <a:normAutofit/>
          </a:bodyPr>
          <a:lstStyle/>
          <a:p>
            <a:r>
              <a:rPr lang="en-US" sz="30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VA Stepped Pain Care (VHA Directive 2009-053)</a:t>
            </a:r>
            <a:endParaRPr lang="en-US" sz="3000" dirty="0"/>
          </a:p>
        </p:txBody>
      </p:sp>
      <p:grpSp>
        <p:nvGrpSpPr>
          <p:cNvPr id="24" name="Group 23" descr="VA Stepped Pain Care (VHA Directive 2009 to 053)"/>
          <p:cNvGrpSpPr/>
          <p:nvPr/>
        </p:nvGrpSpPr>
        <p:grpSpPr>
          <a:xfrm>
            <a:off x="-304800" y="838200"/>
            <a:ext cx="9448800" cy="5715000"/>
            <a:chOff x="-304800" y="1143000"/>
            <a:chExt cx="9448800" cy="5715000"/>
          </a:xfrm>
        </p:grpSpPr>
        <p:grpSp>
          <p:nvGrpSpPr>
            <p:cNvPr id="8" name="Group 7" descr="Complexity, treatment refractory, comorbidities, risk"/>
            <p:cNvGrpSpPr/>
            <p:nvPr/>
          </p:nvGrpSpPr>
          <p:grpSpPr>
            <a:xfrm>
              <a:off x="-304800" y="1143000"/>
              <a:ext cx="4800600" cy="5715000"/>
              <a:chOff x="-304800" y="-228600"/>
              <a:chExt cx="4800600" cy="7086600"/>
            </a:xfrm>
          </p:grpSpPr>
          <p:grpSp>
            <p:nvGrpSpPr>
              <p:cNvPr id="9" name="Group 16"/>
              <p:cNvGrpSpPr/>
              <p:nvPr/>
            </p:nvGrpSpPr>
            <p:grpSpPr>
              <a:xfrm>
                <a:off x="-304800" y="-228600"/>
                <a:ext cx="4267200" cy="7086600"/>
                <a:chOff x="-304800" y="-228600"/>
                <a:chExt cx="4267200" cy="7086600"/>
              </a:xfrm>
            </p:grpSpPr>
            <p:graphicFrame>
              <p:nvGraphicFramePr>
                <p:cNvPr id="14" name="Diagram 13"/>
                <p:cNvGraphicFramePr/>
                <p:nvPr/>
              </p:nvGraphicFramePr>
              <p:xfrm>
                <a:off x="76200" y="3657600"/>
                <a:ext cx="3581400" cy="3200400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2" r:lo="rId3" r:qs="rId4" r:cs="rId5"/>
                </a:graphicData>
              </a:graphic>
            </p:graphicFrame>
            <p:graphicFrame>
              <p:nvGraphicFramePr>
                <p:cNvPr id="15" name="Diagram 14"/>
                <p:cNvGraphicFramePr/>
                <p:nvPr/>
              </p:nvGraphicFramePr>
              <p:xfrm>
                <a:off x="-304800" y="2133600"/>
                <a:ext cx="3810000" cy="2819400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7" r:lo="rId8" r:qs="rId9" r:cs="rId10"/>
                </a:graphicData>
              </a:graphic>
            </p:graphicFrame>
            <p:graphicFrame>
              <p:nvGraphicFramePr>
                <p:cNvPr id="16" name="Diagram 15"/>
                <p:cNvGraphicFramePr/>
                <p:nvPr/>
              </p:nvGraphicFramePr>
              <p:xfrm>
                <a:off x="609600" y="-228600"/>
                <a:ext cx="3352800" cy="3581400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12" r:lo="rId13" r:qs="rId14" r:cs="rId15"/>
                </a:graphicData>
              </a:graphic>
            </p:graphicFrame>
          </p:grpSp>
          <p:sp>
            <p:nvSpPr>
              <p:cNvPr id="10" name="TextBox 20"/>
              <p:cNvSpPr txBox="1">
                <a:spLocks noChangeArrowheads="1"/>
              </p:cNvSpPr>
              <p:nvPr/>
            </p:nvSpPr>
            <p:spPr bwMode="auto">
              <a:xfrm>
                <a:off x="2743200" y="990600"/>
                <a:ext cx="1219200" cy="369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US" dirty="0">
                  <a:latin typeface="Constantia" pitchFamily="18" charset="0"/>
                </a:endParaRPr>
              </a:p>
            </p:txBody>
          </p:sp>
          <p:sp>
            <p:nvSpPr>
              <p:cNvPr id="11" name="TextBox 21"/>
              <p:cNvSpPr txBox="1">
                <a:spLocks noChangeArrowheads="1"/>
              </p:cNvSpPr>
              <p:nvPr/>
            </p:nvSpPr>
            <p:spPr bwMode="auto">
              <a:xfrm>
                <a:off x="2133600" y="762000"/>
                <a:ext cx="2362200" cy="4000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dirty="0">
                    <a:latin typeface="Constantia" pitchFamily="18" charset="0"/>
                  </a:rPr>
                  <a:t>RISK</a:t>
                </a: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2590800" y="762000"/>
                <a:ext cx="1447800" cy="457200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3" name="TextBox 23"/>
              <p:cNvSpPr txBox="1">
                <a:spLocks noChangeArrowheads="1"/>
              </p:cNvSpPr>
              <p:nvPr/>
            </p:nvSpPr>
            <p:spPr bwMode="auto">
              <a:xfrm>
                <a:off x="2819400" y="838200"/>
                <a:ext cx="990600" cy="381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EDF3DB"/>
                    </a:solidFill>
                    <a:cs typeface="Arial" charset="0"/>
                  </a:rPr>
                  <a:t>RISK</a:t>
                </a:r>
              </a:p>
            </p:txBody>
          </p:sp>
        </p:grpSp>
        <p:sp>
          <p:nvSpPr>
            <p:cNvPr id="17" name="Text Placeholder 26" descr="Tertiary, &#10;Interdisciplinary Pain Centers&#10; Advanced pain medicine diagnostics and interventions&#10; CARF accredited pain rehabilitation"/>
            <p:cNvSpPr txBox="1">
              <a:spLocks/>
            </p:cNvSpPr>
            <p:nvPr/>
          </p:nvSpPr>
          <p:spPr>
            <a:xfrm>
              <a:off x="4267200" y="1524000"/>
              <a:ext cx="3811588" cy="1752600"/>
            </a:xfrm>
            <a:prstGeom prst="rect">
              <a:avLst/>
            </a:prstGeom>
            <a:solidFill>
              <a:srgbClr val="EDF3DB"/>
            </a:solidFill>
          </p:spPr>
          <p:txBody>
            <a:bodyPr/>
            <a:lstStyle/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charset="0"/>
                  <a:ea typeface="+mj-ea"/>
                  <a:cs typeface="Arial" charset="0"/>
                </a:rPr>
                <a:t>Tertiary, 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charset="0"/>
                  <a:ea typeface="+mj-ea"/>
                  <a:cs typeface="Arial" charset="0"/>
                </a:rPr>
                <a:t>Interdisciplinary Pain Centers</a:t>
              </a:r>
            </a:p>
            <a:p>
              <a:pPr marL="273050" marR="0" lvl="0" indent="-27305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 Advanced pain medicine diagnostics &amp; interventions</a:t>
              </a:r>
            </a:p>
            <a:p>
              <a:pPr marL="273050" marR="0" lvl="0" indent="-27305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 CARF accredited pain rehabilitation</a:t>
              </a:r>
            </a:p>
            <a:p>
              <a:pPr marL="273050" marR="0" lvl="0" indent="-2730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70C0"/>
                </a:buClr>
                <a:buSzPct val="95000"/>
                <a:tabLst/>
                <a:defRPr/>
              </a:pPr>
              <a:endPara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EDF3DB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8" name="Text Placeholder 27" descr="Primary Care&#10; Routine screening for presence &amp; intensity of pain&#10; Comprehensive biopsychosocial pain assessment&#10; Evidence-based management of common pain conditions&#10; Support from MH-PC Integration, OEF/OIF, &amp; Post-Deployment Teams&#10; Expanded care management &#10; Pharmacy Pain Care Clinics"/>
            <p:cNvSpPr txBox="1">
              <a:spLocks/>
            </p:cNvSpPr>
            <p:nvPr/>
          </p:nvSpPr>
          <p:spPr>
            <a:xfrm>
              <a:off x="3048000" y="5105400"/>
              <a:ext cx="5029200" cy="1752600"/>
            </a:xfrm>
            <a:prstGeom prst="rect">
              <a:avLst/>
            </a:prstGeom>
            <a:solidFill>
              <a:srgbClr val="CCCCFF"/>
            </a:solidFill>
          </p:spPr>
          <p:txBody>
            <a:bodyPr/>
            <a:lstStyle/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charset="0"/>
                  <a:ea typeface="+mj-ea"/>
                  <a:cs typeface="Arial" charset="0"/>
                </a:rPr>
                <a:t>Primary Care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Routine screening for presence &amp; intensity of pain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Comprehensive biopsychosocial pain assessment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Evidence-based management of common pain conditions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Support from MH-PC Integration, OEF/OIF, &amp; Post-Deployment Teams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Expanded care management 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Pharmacy Pain Care Clinics</a:t>
              </a:r>
            </a:p>
          </p:txBody>
        </p:sp>
        <p:sp>
          <p:nvSpPr>
            <p:cNvPr id="19" name="Content Placeholder 18" descr="Secondary Consultation &#10;Pain Medicine&#10;Rehabilitation Medicine&#10;Behavioral Pain Management &#10;Multidisciplinary Pain Clinics&#10;SUD Programs &#10;Mental Health Programs"/>
            <p:cNvSpPr txBox="1">
              <a:spLocks/>
            </p:cNvSpPr>
            <p:nvPr/>
          </p:nvSpPr>
          <p:spPr>
            <a:xfrm>
              <a:off x="3581400" y="3276600"/>
              <a:ext cx="4497388" cy="18288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charset="0"/>
                  <a:ea typeface="+mj-ea"/>
                  <a:cs typeface="Arial" charset="0"/>
                </a:rPr>
                <a:t>Secondary Consultation 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Pain Medicine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Rehabilitation Medicine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Behavioral Pain Management 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Multidisciplinary Pain Clinics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SUD Programs </a:t>
              </a:r>
            </a:p>
            <a:p>
              <a:pPr marL="273050" marR="0" lvl="0" indent="-2730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Pct val="95000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Mental Health Programs</a:t>
              </a:r>
              <a:endParaRPr kumimoji="0" lang="en-US" sz="1600" b="0" i="0" u="none" strike="noStrike" kern="1200" cap="none" spc="0" normalizeH="0" baseline="0" noProof="0" dirty="0" smtClean="0">
                <a:ln>
                  <a:solidFill>
                    <a:srgbClr val="CCCCFF"/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  <a:p>
              <a:pPr marL="273050" marR="0" lvl="0" indent="-27305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70C0"/>
                </a:buClr>
                <a:buSzPct val="95000"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grpSp>
          <p:nvGrpSpPr>
            <p:cNvPr id="20" name="Group 19" descr="Step 1, step 2, step 3"/>
            <p:cNvGrpSpPr/>
            <p:nvPr/>
          </p:nvGrpSpPr>
          <p:grpSpPr>
            <a:xfrm>
              <a:off x="8001000" y="1676400"/>
              <a:ext cx="1143000" cy="4876800"/>
              <a:chOff x="8001000" y="1676400"/>
              <a:chExt cx="1143000" cy="4876800"/>
            </a:xfrm>
          </p:grpSpPr>
          <p:sp>
            <p:nvSpPr>
              <p:cNvPr id="21" name="Content Placeholder 18"/>
              <p:cNvSpPr txBox="1">
                <a:spLocks/>
              </p:cNvSpPr>
              <p:nvPr/>
            </p:nvSpPr>
            <p:spPr bwMode="auto">
              <a:xfrm>
                <a:off x="8001000" y="3581400"/>
                <a:ext cx="1143000" cy="1143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273050" indent="-273050" algn="ctr">
                  <a:spcBef>
                    <a:spcPct val="20000"/>
                  </a:spcBef>
                  <a:buClr>
                    <a:srgbClr val="0070C0"/>
                  </a:buClr>
                  <a:buSzPct val="95000"/>
                  <a:buFont typeface="Wingdings 2" pitchFamily="18" charset="2"/>
                  <a:buNone/>
                  <a:defRPr/>
                </a:pPr>
                <a:r>
                  <a:rPr lang="en-US" sz="2000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STEP</a:t>
                </a:r>
              </a:p>
              <a:p>
                <a:pPr marL="273050" indent="-273050" algn="ctr">
                  <a:spcBef>
                    <a:spcPct val="20000"/>
                  </a:spcBef>
                  <a:buClr>
                    <a:srgbClr val="0070C0"/>
                  </a:buClr>
                  <a:buSzPct val="95000"/>
                  <a:buFont typeface="Wingdings 2" pitchFamily="18" charset="2"/>
                  <a:buNone/>
                  <a:defRPr/>
                </a:pPr>
                <a:r>
                  <a:rPr lang="en-US" sz="2000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</a:p>
              <a:p>
                <a:pPr marL="273050" indent="-273050">
                  <a:spcBef>
                    <a:spcPct val="20000"/>
                  </a:spcBef>
                  <a:buClr>
                    <a:srgbClr val="0070C0"/>
                  </a:buClr>
                  <a:buSzPct val="95000"/>
                  <a:buFont typeface="Wingdings 2" pitchFamily="18" charset="2"/>
                  <a:buNone/>
                  <a:defRPr/>
                </a:pPr>
                <a:endParaRPr lang="en-US" sz="2000" dirty="0">
                  <a:latin typeface="+mn-lt"/>
                </a:endParaRPr>
              </a:p>
            </p:txBody>
          </p:sp>
          <p:sp>
            <p:nvSpPr>
              <p:cNvPr id="22" name="Content Placeholder 18"/>
              <p:cNvSpPr txBox="1">
                <a:spLocks/>
              </p:cNvSpPr>
              <p:nvPr/>
            </p:nvSpPr>
            <p:spPr bwMode="auto">
              <a:xfrm>
                <a:off x="8001000" y="5410200"/>
                <a:ext cx="1143000" cy="1143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273050" indent="-273050" algn="ctr">
                  <a:spcBef>
                    <a:spcPct val="20000"/>
                  </a:spcBef>
                  <a:buClr>
                    <a:srgbClr val="0070C0"/>
                  </a:buClr>
                  <a:buSzPct val="95000"/>
                  <a:buFont typeface="Wingdings 2" pitchFamily="18" charset="2"/>
                  <a:buNone/>
                  <a:defRPr/>
                </a:pPr>
                <a:r>
                  <a:rPr lang="en-US" sz="2000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STEP</a:t>
                </a:r>
              </a:p>
              <a:p>
                <a:pPr marL="273050" indent="-273050" algn="ctr">
                  <a:spcBef>
                    <a:spcPct val="20000"/>
                  </a:spcBef>
                  <a:buClr>
                    <a:srgbClr val="0070C0"/>
                  </a:buClr>
                  <a:buSzPct val="95000"/>
                  <a:buFont typeface="Wingdings 2" pitchFamily="18" charset="2"/>
                  <a:buNone/>
                  <a:defRPr/>
                </a:pPr>
                <a:r>
                  <a:rPr lang="en-US" sz="2000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1</a:t>
                </a:r>
              </a:p>
              <a:p>
                <a:pPr marL="273050" indent="-273050">
                  <a:spcBef>
                    <a:spcPct val="20000"/>
                  </a:spcBef>
                  <a:buClr>
                    <a:srgbClr val="0070C0"/>
                  </a:buClr>
                  <a:buSzPct val="95000"/>
                  <a:buFont typeface="Wingdings 2" pitchFamily="18" charset="2"/>
                  <a:buNone/>
                  <a:defRPr/>
                </a:pPr>
                <a:endParaRPr lang="en-US" sz="2000" dirty="0">
                  <a:latin typeface="+mn-lt"/>
                </a:endParaRPr>
              </a:p>
            </p:txBody>
          </p:sp>
          <p:sp>
            <p:nvSpPr>
              <p:cNvPr id="23" name="Content Placeholder 18"/>
              <p:cNvSpPr txBox="1">
                <a:spLocks/>
              </p:cNvSpPr>
              <p:nvPr/>
            </p:nvSpPr>
            <p:spPr bwMode="auto">
              <a:xfrm>
                <a:off x="8001000" y="1676400"/>
                <a:ext cx="1143000" cy="1143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273050" indent="-273050" algn="ctr">
                  <a:spcBef>
                    <a:spcPct val="20000"/>
                  </a:spcBef>
                  <a:buClr>
                    <a:srgbClr val="0070C0"/>
                  </a:buClr>
                  <a:buSzPct val="95000"/>
                  <a:buFont typeface="Wingdings 2" pitchFamily="18" charset="2"/>
                  <a:buNone/>
                  <a:defRPr/>
                </a:pPr>
                <a:r>
                  <a:rPr lang="en-US" sz="2000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STEP</a:t>
                </a:r>
              </a:p>
              <a:p>
                <a:pPr marL="273050" indent="-273050" algn="ctr">
                  <a:spcBef>
                    <a:spcPct val="20000"/>
                  </a:spcBef>
                  <a:buClr>
                    <a:srgbClr val="0070C0"/>
                  </a:buClr>
                  <a:buSzPct val="95000"/>
                  <a:buFont typeface="Wingdings 2" pitchFamily="18" charset="2"/>
                  <a:buNone/>
                  <a:defRPr/>
                </a:pPr>
                <a:r>
                  <a:rPr lang="en-US" sz="2000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</a:p>
              <a:p>
                <a:pPr marL="273050" indent="-273050">
                  <a:spcBef>
                    <a:spcPct val="20000"/>
                  </a:spcBef>
                  <a:buClr>
                    <a:srgbClr val="0070C0"/>
                  </a:buClr>
                  <a:buSzPct val="95000"/>
                  <a:buFont typeface="Wingdings 2" pitchFamily="18" charset="2"/>
                  <a:buNone/>
                  <a:defRPr/>
                </a:pPr>
                <a:endParaRPr lang="en-US" sz="2000" dirty="0">
                  <a:latin typeface="+mn-lt"/>
                </a:endParaRPr>
              </a:p>
            </p:txBody>
          </p:sp>
        </p:grpSp>
      </p:grp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>
                <a:solidFill>
                  <a:srgbClr val="CCCCFF"/>
                </a:solidFill>
              </a:rPr>
              <a:t>Medical Home Principles 1</a:t>
            </a:r>
            <a:endParaRPr lang="en-US" sz="4400" dirty="0">
              <a:solidFill>
                <a:srgbClr val="CCCC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CCCCFF"/>
              </a:buClr>
            </a:pPr>
            <a:r>
              <a:rPr lang="en-US" sz="2800" dirty="0" smtClean="0">
                <a:solidFill>
                  <a:srgbClr val="EDF3DB"/>
                </a:solidFill>
              </a:rPr>
              <a:t>Comprehensive, Veteran-centered primary care</a:t>
            </a:r>
          </a:p>
          <a:p>
            <a:pPr lvl="1"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rgbClr val="EDF3DB"/>
                </a:solidFill>
              </a:rPr>
              <a:t>Whole person orientation</a:t>
            </a:r>
          </a:p>
          <a:p>
            <a:pPr lvl="1"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rgbClr val="EDF3DB"/>
                </a:solidFill>
              </a:rPr>
              <a:t>Team-based care directed and coordinated by PCP</a:t>
            </a:r>
          </a:p>
          <a:p>
            <a:pPr>
              <a:buClr>
                <a:srgbClr val="CCCCFF"/>
              </a:buClr>
            </a:pPr>
            <a:r>
              <a:rPr lang="en-US" dirty="0" smtClean="0">
                <a:solidFill>
                  <a:srgbClr val="EDF3DB"/>
                </a:solidFill>
              </a:rPr>
              <a:t>Veteran as an active partner in the team</a:t>
            </a:r>
          </a:p>
          <a:p>
            <a:pPr lvl="1"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rgbClr val="EDF3DB"/>
                </a:solidFill>
              </a:rPr>
              <a:t>Shared decision making: interactive, dynamic  and collaborative process</a:t>
            </a:r>
          </a:p>
          <a:p>
            <a:pPr lvl="1"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rgbClr val="EDF3DB"/>
                </a:solidFill>
              </a:rPr>
              <a:t>Incorporates patient preferences</a:t>
            </a:r>
          </a:p>
          <a:p>
            <a:pPr lvl="1"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rgbClr val="EDF3DB"/>
                </a:solidFill>
              </a:rPr>
              <a:t>Fosters shared responsibility for health care decisions and outcomes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800" dirty="0" smtClean="0">
                <a:solidFill>
                  <a:srgbClr val="FFC000"/>
                </a:solidFill>
                <a:latin typeface="Arial" charset="0"/>
                <a:cs typeface="Arial" charset="0"/>
              </a:rPr>
              <a:t>Primary Care Competencies</a:t>
            </a:r>
          </a:p>
        </p:txBody>
      </p:sp>
      <p:sp>
        <p:nvSpPr>
          <p:cNvPr id="1546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28638" lvl="2" indent="-514350">
              <a:lnSpc>
                <a:spcPct val="90000"/>
              </a:lnSpc>
              <a:buClr>
                <a:srgbClr val="CCCCFF"/>
              </a:buClr>
              <a:buNone/>
            </a:pPr>
            <a:r>
              <a:rPr lang="en-US" sz="2800" dirty="0" smtClean="0">
                <a:solidFill>
                  <a:srgbClr val="FFC000"/>
                </a:solidFill>
                <a:latin typeface="Arial" charset="0"/>
                <a:cs typeface="Arial" charset="0"/>
              </a:rPr>
              <a:t>Dr. Gallagher: Lecture #2 and #3</a:t>
            </a:r>
          </a:p>
          <a:p>
            <a:pPr marL="528638" lvl="2" indent="-514350">
              <a:lnSpc>
                <a:spcPct val="90000"/>
              </a:lnSpc>
              <a:buClr>
                <a:srgbClr val="CCCCFF"/>
              </a:buClr>
              <a:buNone/>
            </a:pP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528638" lvl="2" indent="-51435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+mj-lt"/>
              <a:buAutoNum type="arabicParenR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Conduct of comprehensive pain assessment, including diagnostic formulation</a:t>
            </a:r>
          </a:p>
          <a:p>
            <a:pPr marL="528638" lvl="2" indent="-514350">
              <a:lnSpc>
                <a:spcPct val="90000"/>
              </a:lnSpc>
              <a:buClr>
                <a:srgbClr val="CCCCFF"/>
              </a:buClr>
              <a:buSzPct val="95000"/>
              <a:buFont typeface="+mj-lt"/>
              <a:buAutoNum type="arabicParenR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Conduct of routine physical/neurological examinations: differentiate pain generators and mechanisms</a:t>
            </a:r>
            <a:endParaRPr lang="en-US" sz="27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528638" lvl="2" indent="-514350">
              <a:lnSpc>
                <a:spcPct val="90000"/>
              </a:lnSpc>
              <a:buClr>
                <a:srgbClr val="CCCCFF"/>
              </a:buClr>
              <a:buSzPct val="95000"/>
              <a:buFont typeface="+mj-lt"/>
              <a:buAutoNum type="arabicParenR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Judicious use of diagnostic tests/procedures and secondary consultation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800" dirty="0" smtClean="0">
                <a:solidFill>
                  <a:srgbClr val="FFC000"/>
                </a:solidFill>
                <a:latin typeface="Arial" charset="0"/>
                <a:cs typeface="Arial" charset="0"/>
              </a:rPr>
              <a:t>Primary Care Competencies</a:t>
            </a:r>
          </a:p>
        </p:txBody>
      </p:sp>
      <p:sp>
        <p:nvSpPr>
          <p:cNvPr id="1546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28638" lvl="2" indent="-514350">
              <a:lnSpc>
                <a:spcPct val="90000"/>
              </a:lnSpc>
              <a:buClr>
                <a:srgbClr val="CCCCFF"/>
              </a:buClr>
              <a:buNone/>
            </a:pPr>
            <a:r>
              <a:rPr lang="en-US" sz="2800" dirty="0" smtClean="0">
                <a:solidFill>
                  <a:srgbClr val="FFC000"/>
                </a:solidFill>
                <a:latin typeface="Arial" charset="0"/>
                <a:cs typeface="Arial" charset="0"/>
              </a:rPr>
              <a:t>Dr. Gallagher: Lecture #2 and #3</a:t>
            </a:r>
          </a:p>
          <a:p>
            <a:pPr marL="528638" lvl="2" indent="-514350">
              <a:lnSpc>
                <a:spcPct val="90000"/>
              </a:lnSpc>
              <a:buClr>
                <a:srgbClr val="CCCCFF"/>
              </a:buClr>
              <a:buNone/>
            </a:pP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528638" lvl="2" indent="-514350">
              <a:lnSpc>
                <a:spcPct val="90000"/>
              </a:lnSpc>
              <a:buClr>
                <a:srgbClr val="CCCCFF"/>
              </a:buClr>
              <a:buSzPct val="95000"/>
              <a:buFont typeface="+mj-lt"/>
              <a:buAutoNum type="arabicParenR" startAt="4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Knowledge/use of common metrics for measuring function</a:t>
            </a:r>
          </a:p>
          <a:p>
            <a:pPr marL="528638" lvl="2" indent="-514350">
              <a:lnSpc>
                <a:spcPct val="90000"/>
              </a:lnSpc>
              <a:buClr>
                <a:srgbClr val="CCCCFF"/>
              </a:buClr>
              <a:buSzPct val="95000"/>
              <a:buFont typeface="+mj-lt"/>
              <a:buAutoNum type="arabicParenR" startAt="4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Knowledge of accepted clinical practice guidelines</a:t>
            </a:r>
          </a:p>
          <a:p>
            <a:pPr marL="528638" lvl="2" indent="-514350">
              <a:lnSpc>
                <a:spcPct val="90000"/>
              </a:lnSpc>
              <a:buClr>
                <a:srgbClr val="CCCCFF"/>
              </a:buClr>
              <a:buSzPct val="95000"/>
              <a:buFont typeface="+mj-lt"/>
              <a:buAutoNum type="arabicParenR" startAt="4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Rational, algorithmic based </a:t>
            </a:r>
            <a:r>
              <a:rPr lang="en-US" sz="2800" dirty="0" err="1" smtClean="0">
                <a:solidFill>
                  <a:srgbClr val="EDF3DB"/>
                </a:solidFill>
                <a:latin typeface="Arial" charset="0"/>
                <a:cs typeface="Arial" charset="0"/>
              </a:rPr>
              <a:t>polypharmacy</a:t>
            </a: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528638" lvl="2" indent="-514350">
              <a:lnSpc>
                <a:spcPct val="90000"/>
              </a:lnSpc>
              <a:buClr>
                <a:srgbClr val="CCCCFF"/>
              </a:buClr>
              <a:buSzPct val="95000"/>
              <a:buFont typeface="+mj-lt"/>
              <a:buAutoNum type="arabicParenR" startAt="4"/>
            </a:pPr>
            <a:r>
              <a:rPr lang="en-US" sz="2800" dirty="0" err="1" smtClean="0">
                <a:solidFill>
                  <a:srgbClr val="EDF3DB"/>
                </a:solidFill>
                <a:latin typeface="Arial" charset="0"/>
                <a:cs typeface="Arial" charset="0"/>
              </a:rPr>
              <a:t>Opioid</a:t>
            </a: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 management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>
            <a:normAutofit/>
          </a:bodyPr>
          <a:lstStyle/>
          <a:p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389437"/>
          </a:xfrm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>
            <a:noAutofit/>
          </a:bodyPr>
          <a:lstStyle/>
          <a:p>
            <a:pPr>
              <a:buClr>
                <a:srgbClr val="CCCCFF"/>
              </a:buClr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Identify causal models of disease</a:t>
            </a:r>
          </a:p>
          <a:p>
            <a:pPr>
              <a:buClr>
                <a:srgbClr val="CCCCFF"/>
              </a:buClr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Recognize mechanisms underlying these models</a:t>
            </a:r>
          </a:p>
          <a:p>
            <a:pPr>
              <a:buClr>
                <a:srgbClr val="CCCCFF"/>
              </a:buClr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Describe biopsychosocial formulation of these models for each unique disease population</a:t>
            </a:r>
          </a:p>
          <a:p>
            <a:pPr>
              <a:buClr>
                <a:srgbClr val="CCCCFF"/>
              </a:buClr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Indicate evidence basis for treatment</a:t>
            </a:r>
          </a:p>
          <a:p>
            <a:pPr>
              <a:buClr>
                <a:srgbClr val="CCCCFF"/>
              </a:buClr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Identify chronic disease management approaches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5" descr="ANS activation, stress, pain, brain process model"/>
          <p:cNvGrpSpPr/>
          <p:nvPr/>
        </p:nvGrpSpPr>
        <p:grpSpPr>
          <a:xfrm>
            <a:off x="0" y="152400"/>
            <a:ext cx="9144000" cy="6096000"/>
            <a:chOff x="0" y="152400"/>
            <a:chExt cx="9144000" cy="6096000"/>
          </a:xfrm>
        </p:grpSpPr>
        <p:sp>
          <p:nvSpPr>
            <p:cNvPr id="371714" name="Line 2"/>
            <p:cNvSpPr>
              <a:spLocks noChangeShapeType="1"/>
            </p:cNvSpPr>
            <p:nvPr/>
          </p:nvSpPr>
          <p:spPr bwMode="auto">
            <a:xfrm>
              <a:off x="4826000" y="3476625"/>
              <a:ext cx="522288" cy="0"/>
            </a:xfrm>
            <a:prstGeom prst="line">
              <a:avLst/>
            </a:prstGeom>
            <a:noFill/>
            <a:ln w="38100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1715" name="Oval 3"/>
            <p:cNvSpPr>
              <a:spLocks noChangeArrowheads="1"/>
            </p:cNvSpPr>
            <p:nvPr/>
          </p:nvSpPr>
          <p:spPr bwMode="auto">
            <a:xfrm>
              <a:off x="3743325" y="2344738"/>
              <a:ext cx="739775" cy="622300"/>
            </a:xfrm>
            <a:prstGeom prst="ellipse">
              <a:avLst/>
            </a:prstGeom>
            <a:solidFill>
              <a:srgbClr val="9999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dirty="0">
                <a:latin typeface="Arial" charset="0"/>
              </a:endParaRPr>
            </a:p>
          </p:txBody>
        </p:sp>
        <p:sp>
          <p:nvSpPr>
            <p:cNvPr id="371716" name="Line 4"/>
            <p:cNvSpPr>
              <a:spLocks noChangeShapeType="1"/>
            </p:cNvSpPr>
            <p:nvPr/>
          </p:nvSpPr>
          <p:spPr bwMode="auto">
            <a:xfrm>
              <a:off x="4125913" y="2967038"/>
              <a:ext cx="0" cy="487362"/>
            </a:xfrm>
            <a:prstGeom prst="line">
              <a:avLst/>
            </a:prstGeom>
            <a:noFill/>
            <a:ln w="38100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1717" name="Line 5"/>
            <p:cNvSpPr>
              <a:spLocks noChangeShapeType="1"/>
            </p:cNvSpPr>
            <p:nvPr/>
          </p:nvSpPr>
          <p:spPr bwMode="auto">
            <a:xfrm>
              <a:off x="865188" y="3476625"/>
              <a:ext cx="3960812" cy="0"/>
            </a:xfrm>
            <a:prstGeom prst="line">
              <a:avLst/>
            </a:prstGeom>
            <a:noFill/>
            <a:ln w="38100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1718" name="Line 6"/>
            <p:cNvSpPr>
              <a:spLocks noChangeShapeType="1"/>
            </p:cNvSpPr>
            <p:nvPr/>
          </p:nvSpPr>
          <p:spPr bwMode="auto">
            <a:xfrm flipH="1" flipV="1">
              <a:off x="661988" y="3251200"/>
              <a:ext cx="228600" cy="214313"/>
            </a:xfrm>
            <a:prstGeom prst="line">
              <a:avLst/>
            </a:prstGeom>
            <a:noFill/>
            <a:ln w="38100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1719" name="Line 7"/>
            <p:cNvSpPr>
              <a:spLocks noChangeShapeType="1"/>
            </p:cNvSpPr>
            <p:nvPr/>
          </p:nvSpPr>
          <p:spPr bwMode="auto">
            <a:xfrm flipH="1">
              <a:off x="700088" y="3476625"/>
              <a:ext cx="203200" cy="136525"/>
            </a:xfrm>
            <a:prstGeom prst="line">
              <a:avLst/>
            </a:prstGeom>
            <a:noFill/>
            <a:ln w="38100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1720" name="Oval 8"/>
            <p:cNvSpPr>
              <a:spLocks noChangeArrowheads="1"/>
            </p:cNvSpPr>
            <p:nvPr/>
          </p:nvSpPr>
          <p:spPr bwMode="auto">
            <a:xfrm>
              <a:off x="1577975" y="3590925"/>
              <a:ext cx="522288" cy="203200"/>
            </a:xfrm>
            <a:prstGeom prst="ellipse">
              <a:avLst/>
            </a:pr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dirty="0">
                <a:latin typeface="Arial" charset="0"/>
              </a:endParaRPr>
            </a:p>
          </p:txBody>
        </p:sp>
        <p:sp>
          <p:nvSpPr>
            <p:cNvPr id="371721" name="Oval 9"/>
            <p:cNvSpPr>
              <a:spLocks noChangeArrowheads="1"/>
            </p:cNvSpPr>
            <p:nvPr/>
          </p:nvSpPr>
          <p:spPr bwMode="auto">
            <a:xfrm flipH="1">
              <a:off x="3883025" y="4179888"/>
              <a:ext cx="739775" cy="622300"/>
            </a:xfrm>
            <a:prstGeom prst="ellipse">
              <a:avLst/>
            </a:prstGeom>
            <a:solidFill>
              <a:srgbClr val="9999FF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dirty="0">
                <a:latin typeface="Arial" charset="0"/>
              </a:endParaRPr>
            </a:p>
          </p:txBody>
        </p:sp>
        <p:sp>
          <p:nvSpPr>
            <p:cNvPr id="371722" name="Line 10"/>
            <p:cNvSpPr>
              <a:spLocks noChangeShapeType="1"/>
            </p:cNvSpPr>
            <p:nvPr/>
          </p:nvSpPr>
          <p:spPr bwMode="auto">
            <a:xfrm flipH="1">
              <a:off x="4240213" y="3692525"/>
              <a:ext cx="0" cy="487363"/>
            </a:xfrm>
            <a:prstGeom prst="line">
              <a:avLst/>
            </a:prstGeom>
            <a:noFill/>
            <a:ln w="38100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1723" name="Line 11"/>
            <p:cNvSpPr>
              <a:spLocks noChangeShapeType="1"/>
            </p:cNvSpPr>
            <p:nvPr/>
          </p:nvSpPr>
          <p:spPr bwMode="auto">
            <a:xfrm>
              <a:off x="763588" y="3681413"/>
              <a:ext cx="4597400" cy="0"/>
            </a:xfrm>
            <a:prstGeom prst="line">
              <a:avLst/>
            </a:prstGeom>
            <a:noFill/>
            <a:ln w="38100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1724" name="Line 12"/>
            <p:cNvSpPr>
              <a:spLocks noChangeShapeType="1"/>
            </p:cNvSpPr>
            <p:nvPr/>
          </p:nvSpPr>
          <p:spPr bwMode="auto">
            <a:xfrm flipH="1" flipV="1">
              <a:off x="482600" y="3465513"/>
              <a:ext cx="230188" cy="215900"/>
            </a:xfrm>
            <a:prstGeom prst="line">
              <a:avLst/>
            </a:prstGeom>
            <a:noFill/>
            <a:ln w="38100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1725" name="Line 13"/>
            <p:cNvSpPr>
              <a:spLocks noChangeShapeType="1"/>
            </p:cNvSpPr>
            <p:nvPr/>
          </p:nvSpPr>
          <p:spPr bwMode="auto">
            <a:xfrm flipH="1">
              <a:off x="520700" y="3692525"/>
              <a:ext cx="204788" cy="136525"/>
            </a:xfrm>
            <a:prstGeom prst="line">
              <a:avLst/>
            </a:prstGeom>
            <a:noFill/>
            <a:ln w="38100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1726" name="Oval 14"/>
            <p:cNvSpPr>
              <a:spLocks noChangeArrowheads="1"/>
            </p:cNvSpPr>
            <p:nvPr/>
          </p:nvSpPr>
          <p:spPr bwMode="auto">
            <a:xfrm>
              <a:off x="865188" y="3590925"/>
              <a:ext cx="522287" cy="203200"/>
            </a:xfrm>
            <a:prstGeom prst="ellipse">
              <a:avLst/>
            </a:prstGeom>
            <a:solidFill>
              <a:srgbClr val="9966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dirty="0">
                <a:latin typeface="Arial" charset="0"/>
              </a:endParaRPr>
            </a:p>
          </p:txBody>
        </p:sp>
        <p:sp>
          <p:nvSpPr>
            <p:cNvPr id="371727" name="Oval 15"/>
            <p:cNvSpPr>
              <a:spLocks noChangeArrowheads="1"/>
            </p:cNvSpPr>
            <p:nvPr/>
          </p:nvSpPr>
          <p:spPr bwMode="auto">
            <a:xfrm>
              <a:off x="2241550" y="3567113"/>
              <a:ext cx="520700" cy="204787"/>
            </a:xfrm>
            <a:prstGeom prst="ellipse">
              <a:avLst/>
            </a:prstGeom>
            <a:solidFill>
              <a:srgbClr val="9966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dirty="0">
                <a:latin typeface="Arial" charset="0"/>
              </a:endParaRPr>
            </a:p>
          </p:txBody>
        </p:sp>
        <p:sp>
          <p:nvSpPr>
            <p:cNvPr id="371728" name="Oval 16"/>
            <p:cNvSpPr>
              <a:spLocks noChangeArrowheads="1"/>
            </p:cNvSpPr>
            <p:nvPr/>
          </p:nvSpPr>
          <p:spPr bwMode="auto">
            <a:xfrm>
              <a:off x="2954338" y="3567113"/>
              <a:ext cx="522287" cy="204787"/>
            </a:xfrm>
            <a:prstGeom prst="ellipse">
              <a:avLst/>
            </a:prstGeom>
            <a:solidFill>
              <a:srgbClr val="9966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dirty="0">
                <a:latin typeface="Arial" charset="0"/>
              </a:endParaRPr>
            </a:p>
          </p:txBody>
        </p:sp>
        <p:sp>
          <p:nvSpPr>
            <p:cNvPr id="371729" name="Oval 17"/>
            <p:cNvSpPr>
              <a:spLocks noChangeArrowheads="1"/>
            </p:cNvSpPr>
            <p:nvPr/>
          </p:nvSpPr>
          <p:spPr bwMode="auto">
            <a:xfrm>
              <a:off x="3654425" y="3579813"/>
              <a:ext cx="522288" cy="203200"/>
            </a:xfrm>
            <a:prstGeom prst="ellipse">
              <a:avLst/>
            </a:prstGeom>
            <a:solidFill>
              <a:srgbClr val="9966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dirty="0">
                <a:latin typeface="Arial" charset="0"/>
              </a:endParaRPr>
            </a:p>
          </p:txBody>
        </p:sp>
        <p:sp>
          <p:nvSpPr>
            <p:cNvPr id="371730" name="Oval 18"/>
            <p:cNvSpPr>
              <a:spLocks noChangeArrowheads="1"/>
            </p:cNvSpPr>
            <p:nvPr/>
          </p:nvSpPr>
          <p:spPr bwMode="auto">
            <a:xfrm>
              <a:off x="4303713" y="3567113"/>
              <a:ext cx="522287" cy="204787"/>
            </a:xfrm>
            <a:prstGeom prst="ellipse">
              <a:avLst/>
            </a:prstGeom>
            <a:solidFill>
              <a:srgbClr val="9966FF"/>
            </a:soli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 dirty="0">
                <a:latin typeface="Arial" charset="0"/>
              </a:endParaRPr>
            </a:p>
          </p:txBody>
        </p:sp>
        <p:sp>
          <p:nvSpPr>
            <p:cNvPr id="371731" name="Text Box 19"/>
            <p:cNvSpPr txBox="1">
              <a:spLocks noChangeArrowheads="1"/>
            </p:cNvSpPr>
            <p:nvPr/>
          </p:nvSpPr>
          <p:spPr bwMode="auto">
            <a:xfrm>
              <a:off x="866775" y="3111500"/>
              <a:ext cx="919163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fr-FR" altLang="fr-FR" sz="1600" b="0" dirty="0">
                  <a:solidFill>
                    <a:srgbClr val="FFFFCC"/>
                  </a:solidFill>
                  <a:latin typeface="Arial Black" pitchFamily="34" charset="0"/>
                </a:rPr>
                <a:t>C fiber</a:t>
              </a:r>
            </a:p>
          </p:txBody>
        </p:sp>
        <p:sp>
          <p:nvSpPr>
            <p:cNvPr id="371732" name="Text Box 20"/>
            <p:cNvSpPr txBox="1">
              <a:spLocks noChangeArrowheads="1"/>
            </p:cNvSpPr>
            <p:nvPr/>
          </p:nvSpPr>
          <p:spPr bwMode="auto">
            <a:xfrm>
              <a:off x="241300" y="3876675"/>
              <a:ext cx="14732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fr-FR" altLang="fr-FR" sz="1400" b="0" dirty="0">
                  <a:solidFill>
                    <a:srgbClr val="FFFFCC"/>
                  </a:solidFill>
                  <a:latin typeface="Arial Black" pitchFamily="34" charset="0"/>
                </a:rPr>
                <a:t> </a:t>
              </a:r>
              <a:r>
                <a:rPr lang="fr-FR" altLang="fr-FR" sz="1600" b="0" dirty="0">
                  <a:solidFill>
                    <a:srgbClr val="FFFFCC"/>
                  </a:solidFill>
                  <a:latin typeface="Arial Black" pitchFamily="34" charset="0"/>
                </a:rPr>
                <a:t>Abeta fiber</a:t>
              </a:r>
            </a:p>
          </p:txBody>
        </p:sp>
        <p:sp>
          <p:nvSpPr>
            <p:cNvPr id="371733" name="Rectangle 21"/>
            <p:cNvSpPr>
              <a:spLocks noChangeArrowheads="1"/>
            </p:cNvSpPr>
            <p:nvPr/>
          </p:nvSpPr>
          <p:spPr bwMode="auto">
            <a:xfrm>
              <a:off x="304800" y="1828800"/>
              <a:ext cx="1471613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fr-FR" altLang="fr-FR" sz="1800" b="0" dirty="0">
                  <a:solidFill>
                    <a:srgbClr val="FFFFCC"/>
                  </a:solidFill>
                  <a:latin typeface="Arial Black" pitchFamily="34" charset="0"/>
                </a:rPr>
                <a:t>Nerve </a:t>
              </a:r>
            </a:p>
            <a:p>
              <a:pPr eaLnBrk="0" hangingPunct="0"/>
              <a:r>
                <a:rPr lang="fr-FR" altLang="fr-FR" sz="1800" b="0" dirty="0">
                  <a:solidFill>
                    <a:srgbClr val="FFFFCC"/>
                  </a:solidFill>
                  <a:latin typeface="Arial Black" pitchFamily="34" charset="0"/>
                </a:rPr>
                <a:t>injury </a:t>
              </a:r>
            </a:p>
          </p:txBody>
        </p:sp>
        <p:sp>
          <p:nvSpPr>
            <p:cNvPr id="371734" name="AutoShape 22"/>
            <p:cNvSpPr>
              <a:spLocks noChangeArrowheads="1"/>
            </p:cNvSpPr>
            <p:nvPr/>
          </p:nvSpPr>
          <p:spPr bwMode="auto">
            <a:xfrm>
              <a:off x="1563688" y="3192463"/>
              <a:ext cx="1120775" cy="917575"/>
            </a:xfrm>
            <a:prstGeom prst="irregularSeal1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 dirty="0">
                <a:latin typeface="Arial" charset="0"/>
              </a:endParaRPr>
            </a:p>
          </p:txBody>
        </p:sp>
        <p:sp>
          <p:nvSpPr>
            <p:cNvPr id="371735" name="Line 23"/>
            <p:cNvSpPr>
              <a:spLocks noChangeShapeType="1"/>
            </p:cNvSpPr>
            <p:nvPr/>
          </p:nvSpPr>
          <p:spPr bwMode="auto">
            <a:xfrm>
              <a:off x="1336675" y="2535238"/>
              <a:ext cx="492125" cy="74136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3" name="Group 24"/>
            <p:cNvGrpSpPr>
              <a:grpSpLocks/>
            </p:cNvGrpSpPr>
            <p:nvPr/>
          </p:nvGrpSpPr>
          <p:grpSpPr bwMode="auto">
            <a:xfrm>
              <a:off x="3455988" y="4845050"/>
              <a:ext cx="1809750" cy="1030288"/>
              <a:chOff x="2020" y="3134"/>
              <a:chExt cx="1136" cy="728"/>
            </a:xfrm>
          </p:grpSpPr>
          <p:sp>
            <p:nvSpPr>
              <p:cNvPr id="371737" name="Rectangle 25"/>
              <p:cNvSpPr>
                <a:spLocks noChangeArrowheads="1"/>
              </p:cNvSpPr>
              <p:nvPr/>
            </p:nvSpPr>
            <p:spPr bwMode="auto">
              <a:xfrm>
                <a:off x="2020" y="3409"/>
                <a:ext cx="1136" cy="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fr-FR" altLang="fr-FR" sz="1800" b="0" dirty="0">
                    <a:solidFill>
                      <a:srgbClr val="FFFFCC"/>
                    </a:solidFill>
                    <a:latin typeface="Arial Black" pitchFamily="34" charset="0"/>
                  </a:rPr>
                  <a:t>Phenotypical</a:t>
                </a:r>
              </a:p>
              <a:p>
                <a:pPr algn="ctr" eaLnBrk="0" hangingPunct="0"/>
                <a:r>
                  <a:rPr lang="fr-FR" altLang="fr-FR" sz="1800" b="0" dirty="0">
                    <a:solidFill>
                      <a:srgbClr val="FFFFCC"/>
                    </a:solidFill>
                    <a:latin typeface="Arial Black" pitchFamily="34" charset="0"/>
                  </a:rPr>
                  <a:t>Changes </a:t>
                </a:r>
              </a:p>
            </p:txBody>
          </p:sp>
          <p:sp>
            <p:nvSpPr>
              <p:cNvPr id="371738" name="AutoShape 26"/>
              <p:cNvSpPr>
                <a:spLocks noChangeArrowheads="1"/>
              </p:cNvSpPr>
              <p:nvPr/>
            </p:nvSpPr>
            <p:spPr bwMode="auto">
              <a:xfrm flipV="1">
                <a:off x="2144" y="3134"/>
                <a:ext cx="880" cy="288"/>
              </a:xfrm>
              <a:prstGeom prst="curvedUpArrow">
                <a:avLst>
                  <a:gd name="adj1" fmla="val 61111"/>
                  <a:gd name="adj2" fmla="val 122222"/>
                  <a:gd name="adj3" fmla="val 33333"/>
                </a:avLst>
              </a:prstGeom>
              <a:solidFill>
                <a:srgbClr val="99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 dirty="0">
                  <a:latin typeface="Arial" charset="0"/>
                </a:endParaRPr>
              </a:p>
            </p:txBody>
          </p:sp>
        </p:grpSp>
        <p:sp>
          <p:nvSpPr>
            <p:cNvPr id="378907" name="Text Box 27"/>
            <p:cNvSpPr txBox="1">
              <a:spLocks noChangeArrowheads="1"/>
            </p:cNvSpPr>
            <p:nvPr/>
          </p:nvSpPr>
          <p:spPr bwMode="auto">
            <a:xfrm>
              <a:off x="6629400" y="1524000"/>
              <a:ext cx="2171700" cy="70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fr-FR" altLang="fr-FR" sz="2000" b="0" dirty="0">
                  <a:solidFill>
                    <a:srgbClr val="FFFFCC"/>
                  </a:solidFill>
                  <a:latin typeface="Arial Black" pitchFamily="34" charset="0"/>
                </a:rPr>
                <a:t>Spinal cord </a:t>
              </a:r>
            </a:p>
            <a:p>
              <a:pPr algn="ctr" eaLnBrk="0" hangingPunct="0"/>
              <a:r>
                <a:rPr lang="fr-FR" altLang="fr-FR" sz="2000" b="0" dirty="0">
                  <a:solidFill>
                    <a:srgbClr val="FFFFCC"/>
                  </a:solidFill>
                  <a:latin typeface="Arial Black" pitchFamily="34" charset="0"/>
                </a:rPr>
                <a:t>Damage</a:t>
              </a:r>
            </a:p>
          </p:txBody>
        </p:sp>
        <p:sp>
          <p:nvSpPr>
            <p:cNvPr id="378908" name="AutoShape 28"/>
            <p:cNvSpPr>
              <a:spLocks/>
            </p:cNvSpPr>
            <p:nvPr/>
          </p:nvSpPr>
          <p:spPr bwMode="auto">
            <a:xfrm>
              <a:off x="5348288" y="2590800"/>
              <a:ext cx="1052512" cy="2778125"/>
            </a:xfrm>
            <a:prstGeom prst="leftBracket">
              <a:avLst>
                <a:gd name="adj" fmla="val 21996"/>
              </a:avLst>
            </a:prstGeom>
            <a:noFill/>
            <a:ln w="57150">
              <a:solidFill>
                <a:srgbClr val="FF505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 sz="1800" dirty="0">
                <a:latin typeface="Arial" charset="0"/>
              </a:endParaRPr>
            </a:p>
          </p:txBody>
        </p:sp>
        <p:sp>
          <p:nvSpPr>
            <p:cNvPr id="378909" name="Line 29"/>
            <p:cNvSpPr>
              <a:spLocks noChangeShapeType="1"/>
            </p:cNvSpPr>
            <p:nvPr/>
          </p:nvSpPr>
          <p:spPr bwMode="auto">
            <a:xfrm>
              <a:off x="5410200" y="3886200"/>
              <a:ext cx="866775" cy="0"/>
            </a:xfrm>
            <a:prstGeom prst="line">
              <a:avLst/>
            </a:prstGeom>
            <a:noFill/>
            <a:ln w="76200">
              <a:solidFill>
                <a:srgbClr val="FF505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4" name="Group 30"/>
            <p:cNvGrpSpPr>
              <a:grpSpLocks/>
            </p:cNvGrpSpPr>
            <p:nvPr/>
          </p:nvGrpSpPr>
          <p:grpSpPr bwMode="auto">
            <a:xfrm>
              <a:off x="6553200" y="2209800"/>
              <a:ext cx="2266950" cy="973138"/>
              <a:chOff x="3867" y="890"/>
              <a:chExt cx="1428" cy="613"/>
            </a:xfrm>
          </p:grpSpPr>
          <p:sp>
            <p:nvSpPr>
              <p:cNvPr id="371743" name="Oval 31"/>
              <p:cNvSpPr>
                <a:spLocks noChangeArrowheads="1"/>
              </p:cNvSpPr>
              <p:nvPr/>
            </p:nvSpPr>
            <p:spPr bwMode="auto">
              <a:xfrm>
                <a:off x="3867" y="890"/>
                <a:ext cx="1428" cy="6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800" dirty="0">
                  <a:latin typeface="Arial" charset="0"/>
                </a:endParaRPr>
              </a:p>
            </p:txBody>
          </p:sp>
          <p:sp>
            <p:nvSpPr>
              <p:cNvPr id="371744" name="Text Box 32"/>
              <p:cNvSpPr txBox="1">
                <a:spLocks noChangeArrowheads="1"/>
              </p:cNvSpPr>
              <p:nvPr/>
            </p:nvSpPr>
            <p:spPr bwMode="auto">
              <a:xfrm>
                <a:off x="4030" y="994"/>
                <a:ext cx="1102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/>
                <a:r>
                  <a:rPr lang="fr-FR" altLang="fr-FR" sz="1800" b="0" dirty="0">
                    <a:solidFill>
                      <a:srgbClr val="FF6600"/>
                    </a:solidFill>
                    <a:latin typeface="Arial Black" pitchFamily="34" charset="0"/>
                  </a:rPr>
                  <a:t>Neuro-</a:t>
                </a:r>
              </a:p>
              <a:p>
                <a:pPr algn="ctr" eaLnBrk="0" hangingPunct="0"/>
                <a:r>
                  <a:rPr lang="fr-FR" altLang="fr-FR" sz="1800" b="0" dirty="0">
                    <a:solidFill>
                      <a:srgbClr val="FF6600"/>
                    </a:solidFill>
                    <a:latin typeface="Arial Black" pitchFamily="34" charset="0"/>
                  </a:rPr>
                  <a:t>plasticity</a:t>
                </a:r>
              </a:p>
            </p:txBody>
          </p:sp>
        </p:grpSp>
        <p:grpSp>
          <p:nvGrpSpPr>
            <p:cNvPr id="5" name="Group 33"/>
            <p:cNvGrpSpPr>
              <a:grpSpLocks/>
            </p:cNvGrpSpPr>
            <p:nvPr/>
          </p:nvGrpSpPr>
          <p:grpSpPr bwMode="auto">
            <a:xfrm>
              <a:off x="6553200" y="3505200"/>
              <a:ext cx="2266950" cy="973138"/>
              <a:chOff x="3867" y="2115"/>
              <a:chExt cx="1428" cy="613"/>
            </a:xfrm>
          </p:grpSpPr>
          <p:sp>
            <p:nvSpPr>
              <p:cNvPr id="371746" name="Oval 34"/>
              <p:cNvSpPr>
                <a:spLocks noChangeArrowheads="1"/>
              </p:cNvSpPr>
              <p:nvPr/>
            </p:nvSpPr>
            <p:spPr bwMode="auto">
              <a:xfrm>
                <a:off x="3867" y="2115"/>
                <a:ext cx="1428" cy="6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800" dirty="0">
                  <a:latin typeface="Arial" charset="0"/>
                </a:endParaRPr>
              </a:p>
            </p:txBody>
          </p:sp>
          <p:sp>
            <p:nvSpPr>
              <p:cNvPr id="371747" name="Text Box 35"/>
              <p:cNvSpPr txBox="1">
                <a:spLocks noChangeArrowheads="1"/>
              </p:cNvSpPr>
              <p:nvPr/>
            </p:nvSpPr>
            <p:spPr bwMode="auto">
              <a:xfrm>
                <a:off x="3949" y="2219"/>
                <a:ext cx="1264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/>
                <a:r>
                  <a:rPr lang="fr-FR" altLang="fr-FR" sz="1800" b="0" dirty="0">
                    <a:solidFill>
                      <a:srgbClr val="FF6600"/>
                    </a:solidFill>
                    <a:latin typeface="Arial Black" pitchFamily="34" charset="0"/>
                  </a:rPr>
                  <a:t>Central sensitization</a:t>
                </a:r>
              </a:p>
            </p:txBody>
          </p:sp>
        </p:grpSp>
        <p:grpSp>
          <p:nvGrpSpPr>
            <p:cNvPr id="6" name="Group 36"/>
            <p:cNvGrpSpPr>
              <a:grpSpLocks/>
            </p:cNvGrpSpPr>
            <p:nvPr/>
          </p:nvGrpSpPr>
          <p:grpSpPr bwMode="auto">
            <a:xfrm>
              <a:off x="6629400" y="4800600"/>
              <a:ext cx="2209800" cy="1192213"/>
              <a:chOff x="3899" y="3228"/>
              <a:chExt cx="1428" cy="613"/>
            </a:xfrm>
          </p:grpSpPr>
          <p:sp>
            <p:nvSpPr>
              <p:cNvPr id="371749" name="Oval 37"/>
              <p:cNvSpPr>
                <a:spLocks noChangeArrowheads="1"/>
              </p:cNvSpPr>
              <p:nvPr/>
            </p:nvSpPr>
            <p:spPr bwMode="auto">
              <a:xfrm>
                <a:off x="3899" y="3228"/>
                <a:ext cx="1428" cy="6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 sz="1800" dirty="0">
                  <a:latin typeface="Arial" charset="0"/>
                </a:endParaRPr>
              </a:p>
            </p:txBody>
          </p:sp>
          <p:sp>
            <p:nvSpPr>
              <p:cNvPr id="371750" name="Rectangle 38"/>
              <p:cNvSpPr>
                <a:spLocks noChangeArrowheads="1"/>
              </p:cNvSpPr>
              <p:nvPr/>
            </p:nvSpPr>
            <p:spPr bwMode="auto">
              <a:xfrm>
                <a:off x="3921" y="3246"/>
                <a:ext cx="1384" cy="4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/>
                <a:r>
                  <a:rPr lang="fr-FR" altLang="fr-FR" sz="1800" b="0" dirty="0">
                    <a:solidFill>
                      <a:srgbClr val="FF6600"/>
                    </a:solidFill>
                    <a:latin typeface="Arial Black" pitchFamily="34" charset="0"/>
                  </a:rPr>
                  <a:t>Alteration </a:t>
                </a:r>
              </a:p>
              <a:p>
                <a:pPr algn="ctr" eaLnBrk="0" hangingPunct="0"/>
                <a:r>
                  <a:rPr lang="fr-FR" altLang="fr-FR" sz="1800" b="0" dirty="0">
                    <a:solidFill>
                      <a:srgbClr val="FF6600"/>
                    </a:solidFill>
                    <a:latin typeface="Arial Black" pitchFamily="34" charset="0"/>
                  </a:rPr>
                  <a:t>of modulatory </a:t>
                </a:r>
              </a:p>
              <a:p>
                <a:pPr algn="ctr" eaLnBrk="0" hangingPunct="0"/>
                <a:r>
                  <a:rPr lang="fr-FR" altLang="fr-FR" sz="1800" b="0" dirty="0">
                    <a:solidFill>
                      <a:srgbClr val="FF6600"/>
                    </a:solidFill>
                    <a:latin typeface="Arial Black" pitchFamily="34" charset="0"/>
                  </a:rPr>
                  <a:t>systems</a:t>
                </a:r>
              </a:p>
            </p:txBody>
          </p:sp>
        </p:grpSp>
        <p:grpSp>
          <p:nvGrpSpPr>
            <p:cNvPr id="7" name="Group 39"/>
            <p:cNvGrpSpPr>
              <a:grpSpLocks/>
            </p:cNvGrpSpPr>
            <p:nvPr/>
          </p:nvGrpSpPr>
          <p:grpSpPr bwMode="auto">
            <a:xfrm>
              <a:off x="1898650" y="2041525"/>
              <a:ext cx="1870075" cy="2974975"/>
              <a:chOff x="1041" y="1153"/>
              <a:chExt cx="1175" cy="2102"/>
            </a:xfrm>
          </p:grpSpPr>
          <p:sp>
            <p:nvSpPr>
              <p:cNvPr id="371752" name="Rectangle 40"/>
              <p:cNvSpPr>
                <a:spLocks noChangeArrowheads="1"/>
              </p:cNvSpPr>
              <p:nvPr/>
            </p:nvSpPr>
            <p:spPr bwMode="auto">
              <a:xfrm>
                <a:off x="1041" y="2802"/>
                <a:ext cx="890" cy="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fr-FR" altLang="fr-FR" sz="1800" b="0" dirty="0">
                    <a:solidFill>
                      <a:srgbClr val="FFFFCC"/>
                    </a:solidFill>
                    <a:latin typeface="Arial Black" pitchFamily="34" charset="0"/>
                  </a:rPr>
                  <a:t>Ectopic </a:t>
                </a:r>
              </a:p>
              <a:p>
                <a:pPr eaLnBrk="0" hangingPunct="0"/>
                <a:r>
                  <a:rPr lang="fr-FR" altLang="fr-FR" sz="1800" b="0" dirty="0">
                    <a:solidFill>
                      <a:srgbClr val="FFFFCC"/>
                    </a:solidFill>
                    <a:latin typeface="Arial Black" pitchFamily="34" charset="0"/>
                  </a:rPr>
                  <a:t>discharge</a:t>
                </a:r>
              </a:p>
            </p:txBody>
          </p:sp>
          <p:sp>
            <p:nvSpPr>
              <p:cNvPr id="371753" name="AutoShape 41"/>
              <p:cNvSpPr>
                <a:spLocks noChangeArrowheads="1"/>
              </p:cNvSpPr>
              <p:nvPr/>
            </p:nvSpPr>
            <p:spPr bwMode="auto">
              <a:xfrm>
                <a:off x="1640" y="1592"/>
                <a:ext cx="576" cy="576"/>
              </a:xfrm>
              <a:prstGeom prst="lightningBol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 dirty="0">
                  <a:latin typeface="Arial" charset="0"/>
                </a:endParaRPr>
              </a:p>
            </p:txBody>
          </p:sp>
          <p:sp>
            <p:nvSpPr>
              <p:cNvPr id="371754" name="Rectangle 42"/>
              <p:cNvSpPr>
                <a:spLocks noChangeArrowheads="1"/>
              </p:cNvSpPr>
              <p:nvPr/>
            </p:nvSpPr>
            <p:spPr bwMode="auto">
              <a:xfrm>
                <a:off x="1176" y="1153"/>
                <a:ext cx="889" cy="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fr-FR" altLang="fr-FR" sz="1800" b="0" dirty="0">
                    <a:solidFill>
                      <a:srgbClr val="FFFFCC"/>
                    </a:solidFill>
                    <a:latin typeface="Arial Black" pitchFamily="34" charset="0"/>
                  </a:rPr>
                  <a:t>Ectopic </a:t>
                </a:r>
              </a:p>
              <a:p>
                <a:pPr eaLnBrk="0" hangingPunct="0"/>
                <a:r>
                  <a:rPr lang="fr-FR" altLang="fr-FR" sz="1800" b="0" dirty="0">
                    <a:solidFill>
                      <a:srgbClr val="FFFFCC"/>
                    </a:solidFill>
                    <a:latin typeface="Arial Black" pitchFamily="34" charset="0"/>
                  </a:rPr>
                  <a:t>discharge</a:t>
                </a:r>
              </a:p>
            </p:txBody>
          </p:sp>
          <p:sp>
            <p:nvSpPr>
              <p:cNvPr id="371755" name="AutoShape 43"/>
              <p:cNvSpPr>
                <a:spLocks noChangeArrowheads="1"/>
              </p:cNvSpPr>
              <p:nvPr/>
            </p:nvSpPr>
            <p:spPr bwMode="auto">
              <a:xfrm flipV="1">
                <a:off x="1378" y="2270"/>
                <a:ext cx="576" cy="576"/>
              </a:xfrm>
              <a:prstGeom prst="lightningBol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 dirty="0">
                  <a:latin typeface="Arial" charset="0"/>
                </a:endParaRPr>
              </a:p>
            </p:txBody>
          </p:sp>
        </p:grpSp>
        <p:sp>
          <p:nvSpPr>
            <p:cNvPr id="378925" name="Text Box 45" descr="ANS activation, stress, pain and brain processing model.&#10;nerve injury; ectopic discharge; abeta fiber; C fiber; spinal cord damage; neuro-plasticity; central sensitization"/>
            <p:cNvSpPr txBox="1">
              <a:spLocks noChangeArrowheads="1"/>
            </p:cNvSpPr>
            <p:nvPr/>
          </p:nvSpPr>
          <p:spPr bwMode="auto">
            <a:xfrm>
              <a:off x="0" y="152400"/>
              <a:ext cx="9144000" cy="1016000"/>
            </a:xfrm>
            <a:prstGeom prst="rect">
              <a:avLst/>
            </a:prstGeom>
            <a:noFill/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3200" dirty="0">
                  <a:solidFill>
                    <a:srgbClr val="FF3300"/>
                  </a:solidFill>
                  <a:latin typeface="Arial" charset="0"/>
                </a:rPr>
                <a:t>ANS activation  &lt;  Stress  &lt;  Pain</a:t>
              </a:r>
              <a:r>
                <a:rPr lang="en-US" sz="2800" dirty="0">
                  <a:latin typeface="Arial" charset="0"/>
                </a:rPr>
                <a:t>   </a:t>
              </a:r>
              <a:r>
                <a:rPr lang="en-US" sz="2800" dirty="0">
                  <a:solidFill>
                    <a:schemeClr val="bg1"/>
                  </a:solidFill>
                  <a:latin typeface="Arial" charset="0"/>
                </a:rPr>
                <a:t>&lt; </a:t>
              </a:r>
              <a:r>
                <a:rPr lang="en-US" sz="2800" dirty="0">
                  <a:latin typeface="Arial" charset="0"/>
                </a:rPr>
                <a:t>    </a:t>
              </a:r>
              <a:r>
                <a:rPr lang="en-US" sz="2800" dirty="0">
                  <a:solidFill>
                    <a:srgbClr val="FFFFCC"/>
                  </a:solidFill>
                  <a:latin typeface="Arial" charset="0"/>
                </a:rPr>
                <a:t>BRAIN 						          PROCESSING</a:t>
              </a:r>
              <a:endParaRPr lang="en-US" sz="5400" dirty="0">
                <a:solidFill>
                  <a:srgbClr val="FFFFCC"/>
                </a:solidFill>
                <a:latin typeface="Verdana" pitchFamily="34" charset="0"/>
              </a:endParaRPr>
            </a:p>
          </p:txBody>
        </p:sp>
        <p:sp>
          <p:nvSpPr>
            <p:cNvPr id="378926" name="Line 46"/>
            <p:cNvSpPr>
              <a:spLocks noChangeShapeType="1"/>
            </p:cNvSpPr>
            <p:nvPr/>
          </p:nvSpPr>
          <p:spPr bwMode="auto">
            <a:xfrm>
              <a:off x="2514600" y="685800"/>
              <a:ext cx="2514600" cy="106680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8927" name="Line 47"/>
            <p:cNvSpPr>
              <a:spLocks noChangeShapeType="1"/>
            </p:cNvSpPr>
            <p:nvPr/>
          </p:nvSpPr>
          <p:spPr bwMode="auto">
            <a:xfrm>
              <a:off x="5029200" y="1698625"/>
              <a:ext cx="0" cy="152400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8928" name="Line 48"/>
            <p:cNvSpPr>
              <a:spLocks noChangeShapeType="1"/>
            </p:cNvSpPr>
            <p:nvPr/>
          </p:nvSpPr>
          <p:spPr bwMode="auto">
            <a:xfrm flipH="1">
              <a:off x="2590800" y="3222625"/>
              <a:ext cx="2438400" cy="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1761" name="Text Box 49"/>
            <p:cNvSpPr txBox="1">
              <a:spLocks noChangeArrowheads="1"/>
            </p:cNvSpPr>
            <p:nvPr/>
          </p:nvSpPr>
          <p:spPr bwMode="auto">
            <a:xfrm>
              <a:off x="4168775" y="944563"/>
              <a:ext cx="611188" cy="92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>
              <a:spAutoFit/>
            </a:bodyPr>
            <a:lstStyle/>
            <a:p>
              <a:endParaRPr lang="en-US" sz="2800" b="0" dirty="0">
                <a:latin typeface="Arial" charset="0"/>
              </a:endParaRPr>
            </a:p>
          </p:txBody>
        </p:sp>
        <p:sp>
          <p:nvSpPr>
            <p:cNvPr id="378930" name="Text Box 50"/>
            <p:cNvSpPr txBox="1">
              <a:spLocks noChangeArrowheads="1"/>
            </p:cNvSpPr>
            <p:nvPr/>
          </p:nvSpPr>
          <p:spPr bwMode="auto">
            <a:xfrm>
              <a:off x="1676400" y="2743200"/>
              <a:ext cx="965200" cy="64135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600" dirty="0">
                  <a:solidFill>
                    <a:srgbClr val="FF6600"/>
                  </a:solidFill>
                  <a:latin typeface="Arial" charset="0"/>
                </a:rPr>
                <a:t>+++</a:t>
              </a:r>
            </a:p>
          </p:txBody>
        </p:sp>
        <p:sp>
          <p:nvSpPr>
            <p:cNvPr id="378932" name="Line 52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381000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371765" name="AutoShape 53"/>
            <p:cNvSpPr>
              <a:spLocks noChangeArrowheads="1"/>
            </p:cNvSpPr>
            <p:nvPr/>
          </p:nvSpPr>
          <p:spPr bwMode="auto">
            <a:xfrm>
              <a:off x="0" y="4267200"/>
              <a:ext cx="2514600" cy="1981200"/>
            </a:xfrm>
            <a:prstGeom prst="irregularSeal2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800" b="0" dirty="0">
                  <a:latin typeface="Arial" charset="0"/>
                </a:rPr>
                <a:t>Limb </a:t>
              </a:r>
            </a:p>
            <a:p>
              <a:pPr algn="ctr"/>
              <a:r>
                <a:rPr lang="en-US" sz="2800" b="0" dirty="0">
                  <a:latin typeface="Arial" charset="0"/>
                </a:rPr>
                <a:t>trauma</a:t>
              </a:r>
            </a:p>
          </p:txBody>
        </p:sp>
      </p:grpSp>
      <p:sp>
        <p:nvSpPr>
          <p:cNvPr id="54" name="Title 53"/>
          <p:cNvSpPr>
            <a:spLocks noGrp="1"/>
          </p:cNvSpPr>
          <p:nvPr>
            <p:ph type="title"/>
          </p:nvPr>
        </p:nvSpPr>
        <p:spPr>
          <a:xfrm>
            <a:off x="2438400" y="6324600"/>
            <a:ext cx="4343400" cy="381000"/>
          </a:xfrm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vert="horz">
            <a:no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CCCCFF"/>
              </a:buClr>
              <a:buSzPct val="95000"/>
            </a:pPr>
            <a:r>
              <a:rPr lang="fr-FR" altLang="fr-FR" sz="1400" b="0" dirty="0" smtClean="0">
                <a:solidFill>
                  <a:srgbClr val="EDF3DB"/>
                </a:solidFill>
                <a:effectLst/>
                <a:latin typeface="Arial" charset="0"/>
                <a:ea typeface="+mn-ea"/>
                <a:cs typeface="Arial" charset="0"/>
              </a:rPr>
              <a:t>Adapted from Woolf &amp; Mannion, Lancet 1999</a:t>
            </a:r>
            <a:br>
              <a:rPr lang="fr-FR" altLang="fr-FR" sz="1400" b="0" dirty="0" smtClean="0">
                <a:solidFill>
                  <a:srgbClr val="EDF3DB"/>
                </a:solidFill>
                <a:effectLst/>
                <a:latin typeface="Arial" charset="0"/>
                <a:ea typeface="+mn-ea"/>
                <a:cs typeface="Arial" charset="0"/>
              </a:rPr>
            </a:br>
            <a:r>
              <a:rPr lang="fr-FR" altLang="fr-FR" sz="1400" b="0" dirty="0" smtClean="0">
                <a:solidFill>
                  <a:srgbClr val="EDF3DB"/>
                </a:solidFill>
                <a:effectLst/>
                <a:latin typeface="Arial" charset="0"/>
                <a:ea typeface="+mn-ea"/>
                <a:cs typeface="Arial" charset="0"/>
              </a:rPr>
              <a:t>Attal &amp; Bouhassira, Acta Neurol Scand 1999</a:t>
            </a:r>
            <a:endParaRPr sz="1400" b="0" smtClean="0">
              <a:solidFill>
                <a:srgbClr val="EDF3DB"/>
              </a:solidFill>
              <a:effectLst/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vert="horz" lIns="0" rIns="0" bIns="0" anchor="b">
            <a:normAutofit fontScale="90000"/>
          </a:bodyPr>
          <a:lstStyle/>
          <a:p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Expectation of Pain Activates </a:t>
            </a:r>
            <a:b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</a:br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the Anterior Cingular Gyrus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85800" y="6096000"/>
            <a:ext cx="8229600" cy="609600"/>
          </a:xfrm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vert="horz">
            <a:noAutofit/>
          </a:bodyPr>
          <a:lstStyle/>
          <a:p>
            <a:pPr marL="0" indent="0" algn="ctr">
              <a:lnSpc>
                <a:spcPct val="90000"/>
              </a:lnSpc>
              <a:buClr>
                <a:srgbClr val="CCCCFF"/>
              </a:buClr>
              <a:buNone/>
            </a:pPr>
            <a:r>
              <a:rPr lang="en-US" sz="20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The Clinical Pain Experience is often paired with Fear-Anxiety which may be conditioned.</a:t>
            </a:r>
          </a:p>
        </p:txBody>
      </p:sp>
      <p:grpSp>
        <p:nvGrpSpPr>
          <p:cNvPr id="2" name="Group 8" descr="Z-score showing brains in different conditions."/>
          <p:cNvGrpSpPr/>
          <p:nvPr/>
        </p:nvGrpSpPr>
        <p:grpSpPr>
          <a:xfrm>
            <a:off x="1676400" y="1943100"/>
            <a:ext cx="5943600" cy="4152900"/>
            <a:chOff x="1676400" y="1943100"/>
            <a:chExt cx="5943600" cy="4152900"/>
          </a:xfrm>
        </p:grpSpPr>
        <p:pic>
          <p:nvPicPr>
            <p:cNvPr id="381955" name="Picture 3" descr="Slide 2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676400" y="2438400"/>
              <a:ext cx="5943600" cy="3657600"/>
            </a:xfrm>
            <a:prstGeom prst="rect">
              <a:avLst/>
            </a:prstGeom>
            <a:noFill/>
          </p:spPr>
        </p:pic>
        <p:sp>
          <p:nvSpPr>
            <p:cNvPr id="381961" name="Text Box 9"/>
            <p:cNvSpPr txBox="1">
              <a:spLocks noChangeArrowheads="1"/>
            </p:cNvSpPr>
            <p:nvPr/>
          </p:nvSpPr>
          <p:spPr bwMode="auto">
            <a:xfrm>
              <a:off x="5791201" y="1943100"/>
              <a:ext cx="1219200" cy="64135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latin typeface="Arial" pitchFamily="34" charset="0"/>
                  <a:cs typeface="Arial" pitchFamily="34" charset="0"/>
                </a:rPr>
                <a:t>First condition</a:t>
              </a:r>
            </a:p>
          </p:txBody>
        </p:sp>
        <p:sp>
          <p:nvSpPr>
            <p:cNvPr id="381962" name="Text Box 10"/>
            <p:cNvSpPr txBox="1">
              <a:spLocks noChangeArrowheads="1"/>
            </p:cNvSpPr>
            <p:nvPr/>
          </p:nvSpPr>
          <p:spPr bwMode="auto">
            <a:xfrm>
              <a:off x="4284662" y="1943100"/>
              <a:ext cx="1103313" cy="64135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latin typeface="Arial" pitchFamily="34" charset="0"/>
                  <a:cs typeface="Arial" pitchFamily="34" charset="0"/>
                </a:rPr>
                <a:t>Second condition</a:t>
              </a:r>
            </a:p>
          </p:txBody>
        </p:sp>
        <p:sp>
          <p:nvSpPr>
            <p:cNvPr id="381963" name="Text Box 11"/>
            <p:cNvSpPr txBox="1">
              <a:spLocks noChangeArrowheads="1"/>
            </p:cNvSpPr>
            <p:nvPr/>
          </p:nvSpPr>
          <p:spPr bwMode="auto">
            <a:xfrm>
              <a:off x="2590800" y="1973263"/>
              <a:ext cx="1290637" cy="58102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latin typeface="Arial" pitchFamily="34" charset="0"/>
                  <a:cs typeface="Arial" pitchFamily="34" charset="0"/>
                </a:rPr>
                <a:t>Third condition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 descr="The Cycles of Pain: Acute Pain to Chronic Pain Disease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1000"/>
            <a:ext cx="9144000" cy="457200"/>
          </a:xfrm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vert="horz" lIns="0" rIns="0" bIns="0" anchor="b">
            <a:noAutofit/>
          </a:bodyPr>
          <a:lstStyle/>
          <a:p>
            <a:r>
              <a:rPr lang="en-US" sz="2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The Cycles of Pain: Acute Pain to Chronic Pain Disease</a:t>
            </a:r>
          </a:p>
        </p:txBody>
      </p:sp>
      <p:grpSp>
        <p:nvGrpSpPr>
          <p:cNvPr id="2" name="Group 20" descr="The cycles of pain acute pain to chronic pain disease: pathoogical maintenance; Pathophysiology of maintenance; secodary pathology; disability."/>
          <p:cNvGrpSpPr/>
          <p:nvPr/>
        </p:nvGrpSpPr>
        <p:grpSpPr>
          <a:xfrm>
            <a:off x="304801" y="1295400"/>
            <a:ext cx="8686799" cy="5410200"/>
            <a:chOff x="153989" y="762000"/>
            <a:chExt cx="9294811" cy="5943600"/>
          </a:xfrm>
        </p:grpSpPr>
        <p:sp>
          <p:nvSpPr>
            <p:cNvPr id="379928" name="Arc 24"/>
            <p:cNvSpPr>
              <a:spLocks/>
            </p:cNvSpPr>
            <p:nvPr/>
          </p:nvSpPr>
          <p:spPr bwMode="auto">
            <a:xfrm rot="167277">
              <a:off x="153989" y="5105400"/>
              <a:ext cx="6767274" cy="1600200"/>
            </a:xfrm>
            <a:custGeom>
              <a:avLst/>
              <a:gdLst>
                <a:gd name="T0" fmla="*/ 921687609 w 42813"/>
                <a:gd name="T1" fmla="*/ 35541204 h 30132"/>
                <a:gd name="T2" fmla="*/ 37803542 w 42813"/>
                <a:gd name="T3" fmla="*/ 0 h 30132"/>
                <a:gd name="T4" fmla="*/ 465009619 w 42813"/>
                <a:gd name="T5" fmla="*/ 24062639 h 30132"/>
                <a:gd name="T6" fmla="*/ 0 60000 65536"/>
                <a:gd name="T7" fmla="*/ 0 60000 65536"/>
                <a:gd name="T8" fmla="*/ 0 60000 65536"/>
                <a:gd name="T9" fmla="*/ 0 w 42813"/>
                <a:gd name="T10" fmla="*/ 0 h 30132"/>
                <a:gd name="T11" fmla="*/ 42813 w 42813"/>
                <a:gd name="T12" fmla="*/ 30132 h 301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813" h="30132" fill="none" extrusionOk="0">
                  <a:moveTo>
                    <a:pt x="42813" y="12602"/>
                  </a:moveTo>
                  <a:cubicBezTo>
                    <a:pt x="40860" y="22776"/>
                    <a:pt x="31959" y="30131"/>
                    <a:pt x="21600" y="30132"/>
                  </a:cubicBezTo>
                  <a:cubicBezTo>
                    <a:pt x="9670" y="30132"/>
                    <a:pt x="0" y="20461"/>
                    <a:pt x="0" y="8532"/>
                  </a:cubicBezTo>
                  <a:cubicBezTo>
                    <a:pt x="-1" y="5598"/>
                    <a:pt x="597" y="2695"/>
                    <a:pt x="1756" y="0"/>
                  </a:cubicBezTo>
                </a:path>
                <a:path w="42813" h="30132" stroke="0" extrusionOk="0">
                  <a:moveTo>
                    <a:pt x="42813" y="12602"/>
                  </a:moveTo>
                  <a:cubicBezTo>
                    <a:pt x="40860" y="22776"/>
                    <a:pt x="31959" y="30131"/>
                    <a:pt x="21600" y="30132"/>
                  </a:cubicBezTo>
                  <a:cubicBezTo>
                    <a:pt x="9670" y="30132"/>
                    <a:pt x="0" y="20461"/>
                    <a:pt x="0" y="8532"/>
                  </a:cubicBezTo>
                  <a:cubicBezTo>
                    <a:pt x="-1" y="5598"/>
                    <a:pt x="597" y="2695"/>
                    <a:pt x="1756" y="0"/>
                  </a:cubicBezTo>
                  <a:lnTo>
                    <a:pt x="21600" y="8532"/>
                  </a:lnTo>
                  <a:close/>
                </a:path>
              </a:pathLst>
            </a:custGeom>
            <a:noFill/>
            <a:ln w="57150">
              <a:solidFill>
                <a:srgbClr val="CCCCFF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 dirty="0">
                <a:solidFill>
                  <a:srgbClr val="000000"/>
                </a:solidFill>
              </a:endParaRPr>
            </a:p>
          </p:txBody>
        </p:sp>
        <p:grpSp>
          <p:nvGrpSpPr>
            <p:cNvPr id="3" name="Group 19"/>
            <p:cNvGrpSpPr/>
            <p:nvPr/>
          </p:nvGrpSpPr>
          <p:grpSpPr>
            <a:xfrm>
              <a:off x="153989" y="762000"/>
              <a:ext cx="9294811" cy="5923009"/>
              <a:chOff x="153989" y="762000"/>
              <a:chExt cx="9294811" cy="5923009"/>
            </a:xfrm>
          </p:grpSpPr>
          <p:sp>
            <p:nvSpPr>
              <p:cNvPr id="379907" name="Text Box 3" descr="The cycles of pain: acute pain to chronic pain disease:&#10;Pathopysiology of maintenance; psychopathology of maintenance; secondary pathology; disability."/>
              <p:cNvSpPr txBox="1">
                <a:spLocks noChangeArrowheads="1"/>
              </p:cNvSpPr>
              <p:nvPr/>
            </p:nvSpPr>
            <p:spPr bwMode="auto">
              <a:xfrm>
                <a:off x="6629400" y="863600"/>
                <a:ext cx="2819400" cy="20928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2000" b="1" u="sng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Secondary Pathology:</a:t>
                </a:r>
              </a:p>
              <a:p>
                <a:pPr>
                  <a:buFontTx/>
                  <a:buChar char="-"/>
                </a:pPr>
                <a:r>
                  <a:rPr lang="en-US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Muscle atrophy,</a:t>
                </a:r>
              </a:p>
              <a:p>
                <a:r>
                  <a:rPr lang="en-US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  weakness;</a:t>
                </a:r>
              </a:p>
              <a:p>
                <a:pPr>
                  <a:buFontTx/>
                  <a:buChar char="-"/>
                </a:pPr>
                <a:r>
                  <a:rPr lang="en-US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Bone loss;</a:t>
                </a:r>
              </a:p>
              <a:p>
                <a:r>
                  <a:rPr lang="en-US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-Depression</a:t>
                </a:r>
              </a:p>
              <a:p>
                <a:r>
                  <a:rPr lang="en-US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-Cortical atrophy</a:t>
                </a:r>
              </a:p>
            </p:txBody>
          </p:sp>
          <p:sp>
            <p:nvSpPr>
              <p:cNvPr id="379908" name="Text Box 4" descr="The cycles of pain: acute pain to chronic pain disease:&#10;Pathopysiology of maintenance; psychopathology of maintenance; secondary pathology; disability."/>
              <p:cNvSpPr txBox="1">
                <a:spLocks noChangeArrowheads="1"/>
              </p:cNvSpPr>
              <p:nvPr/>
            </p:nvSpPr>
            <p:spPr bwMode="auto">
              <a:xfrm>
                <a:off x="7315200" y="3886200"/>
                <a:ext cx="1888999" cy="22654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rgbClr val="EDF3DB"/>
                    </a:solidFill>
                  </a:rPr>
                  <a:t>- </a:t>
                </a:r>
                <a:r>
                  <a:rPr lang="en-US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Less active, Kinesiophobia</a:t>
                </a:r>
              </a:p>
              <a:p>
                <a:r>
                  <a:rPr lang="en-US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- Decreased </a:t>
                </a:r>
              </a:p>
              <a:p>
                <a:r>
                  <a:rPr lang="en-US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    motivation</a:t>
                </a:r>
              </a:p>
              <a:p>
                <a:r>
                  <a:rPr lang="en-US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- Increased</a:t>
                </a:r>
              </a:p>
              <a:p>
                <a:r>
                  <a:rPr lang="en-US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   isolation</a:t>
                </a:r>
              </a:p>
              <a:p>
                <a:r>
                  <a:rPr lang="en-US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- Role loss</a:t>
                </a:r>
              </a:p>
            </p:txBody>
          </p:sp>
          <p:sp>
            <p:nvSpPr>
              <p:cNvPr id="379909" name="Rectangle 5" descr="The cycles of pain: acute pain to chronic pain disease:&#10;Pathopysiology of maintenance; psychopathology of maintenance; secondary pathology; disability."/>
              <p:cNvSpPr>
                <a:spLocks noChangeArrowheads="1"/>
              </p:cNvSpPr>
              <p:nvPr/>
            </p:nvSpPr>
            <p:spPr bwMode="auto">
              <a:xfrm>
                <a:off x="7264400" y="3416300"/>
                <a:ext cx="132279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b="1" u="sng" dirty="0">
                    <a:solidFill>
                      <a:srgbClr val="EDF3DB"/>
                    </a:solidFill>
                    <a:latin typeface="Arial" pitchFamily="34" charset="0"/>
                    <a:cs typeface="Arial" pitchFamily="34" charset="0"/>
                  </a:rPr>
                  <a:t>Disability</a:t>
                </a:r>
              </a:p>
            </p:txBody>
          </p:sp>
          <p:graphicFrame>
            <p:nvGraphicFramePr>
              <p:cNvPr id="374790" name="Diagram 2" descr="The cycles of pain: acute pain to chronic pain disease:&#10;Pathopysiology of maintenance; psychopathology of maintenance; secondary pathology; disability."/>
              <p:cNvGraphicFramePr>
                <a:graphicFrameLocks/>
              </p:cNvGraphicFramePr>
              <p:nvPr>
                <p:ph idx="4294967295"/>
              </p:nvPr>
            </p:nvGraphicFramePr>
            <p:xfrm>
              <a:off x="457200" y="1600200"/>
              <a:ext cx="8153400" cy="4564063"/>
            </p:xfrm>
            <a:graphic>
              <a:graphicData uri="http://schemas.openxmlformats.org/drawingml/2006/compatibility">
                <com:legacyDrawing xmlns:com="http://schemas.openxmlformats.org/drawingml/2006/compatibility" spid="_x0000_s3074"/>
              </a:graphicData>
            </a:graphic>
          </p:graphicFrame>
          <p:sp>
            <p:nvSpPr>
              <p:cNvPr id="379920" name="Rectangle 16" descr="The cycles of pain: acute pain to chronic pain disease:&#10;Pathopysiology of maintenance; psychopathology of maintenance; secondary pathology; disability."/>
              <p:cNvSpPr>
                <a:spLocks noChangeArrowheads="1"/>
              </p:cNvSpPr>
              <p:nvPr/>
            </p:nvSpPr>
            <p:spPr bwMode="auto">
              <a:xfrm>
                <a:off x="1143000" y="762000"/>
                <a:ext cx="3581400" cy="914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r>
                  <a:rPr lang="en-US" sz="2000" b="1" u="sng" dirty="0">
                    <a:solidFill>
                      <a:srgbClr val="EDF3DB"/>
                    </a:solidFill>
                    <a:latin typeface="Arial" charset="0"/>
                  </a:rPr>
                  <a:t>Pathophysiology of Maintenance:</a:t>
                </a:r>
              </a:p>
              <a:p>
                <a:pPr eaLnBrk="0" hangingPunct="0">
                  <a:buFontTx/>
                  <a:buChar char="-"/>
                </a:pPr>
                <a:r>
                  <a:rPr lang="en-US" dirty="0">
                    <a:solidFill>
                      <a:srgbClr val="EDF3DB"/>
                    </a:solidFill>
                    <a:latin typeface="Arial" charset="0"/>
                  </a:rPr>
                  <a:t>Radiculopathy</a:t>
                </a:r>
              </a:p>
              <a:p>
                <a:pPr eaLnBrk="0" hangingPunct="0">
                  <a:buFontTx/>
                  <a:buChar char="-"/>
                </a:pPr>
                <a:r>
                  <a:rPr lang="en-US" dirty="0">
                    <a:solidFill>
                      <a:srgbClr val="EDF3DB"/>
                    </a:solidFill>
                    <a:latin typeface="Arial" charset="0"/>
                  </a:rPr>
                  <a:t>Neuroma traction</a:t>
                </a:r>
              </a:p>
              <a:p>
                <a:pPr eaLnBrk="0" hangingPunct="0">
                  <a:buFontTx/>
                  <a:buChar char="-"/>
                </a:pPr>
                <a:r>
                  <a:rPr lang="en-US" dirty="0">
                    <a:solidFill>
                      <a:srgbClr val="EDF3DB"/>
                    </a:solidFill>
                    <a:latin typeface="Arial" charset="0"/>
                  </a:rPr>
                  <a:t>Myofascial sensitization</a:t>
                </a:r>
              </a:p>
              <a:p>
                <a:pPr eaLnBrk="0" hangingPunct="0">
                  <a:buFontTx/>
                  <a:buChar char="-"/>
                </a:pPr>
                <a:r>
                  <a:rPr lang="en-US" dirty="0">
                    <a:solidFill>
                      <a:srgbClr val="EDF3DB"/>
                    </a:solidFill>
                    <a:latin typeface="Arial" charset="0"/>
                  </a:rPr>
                  <a:t>Brain / SC pathology (loss, reorganization)</a:t>
                </a:r>
              </a:p>
            </p:txBody>
          </p:sp>
          <p:sp>
            <p:nvSpPr>
              <p:cNvPr id="379921" name="Text Box 17" descr="The cycles of pain: acute pain to chronic pain disease:&#10;Pathopysiology of maintenance; psychopathology of maintenance; secondary pathology; disability."/>
              <p:cNvSpPr txBox="1">
                <a:spLocks noChangeArrowheads="1"/>
              </p:cNvSpPr>
              <p:nvPr/>
            </p:nvSpPr>
            <p:spPr bwMode="auto">
              <a:xfrm>
                <a:off x="153989" y="2362200"/>
                <a:ext cx="2609070" cy="26035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2000" b="1" u="sng" dirty="0">
                    <a:solidFill>
                      <a:srgbClr val="EDF3DB"/>
                    </a:solidFill>
                    <a:latin typeface="Arial" charset="0"/>
                  </a:rPr>
                  <a:t>Psychopathology</a:t>
                </a:r>
              </a:p>
              <a:p>
                <a:pPr eaLnBrk="0" hangingPunct="0"/>
                <a:r>
                  <a:rPr lang="en-US" sz="2000" b="1" u="sng" dirty="0">
                    <a:solidFill>
                      <a:srgbClr val="EDF3DB"/>
                    </a:solidFill>
                    <a:latin typeface="Arial" charset="0"/>
                  </a:rPr>
                  <a:t>of maintenance:</a:t>
                </a:r>
              </a:p>
              <a:p>
                <a:pPr eaLnBrk="0" hangingPunct="0">
                  <a:buFontTx/>
                  <a:buChar char="-"/>
                </a:pPr>
                <a:r>
                  <a:rPr lang="en-US" dirty="0">
                    <a:solidFill>
                      <a:srgbClr val="EDF3DB"/>
                    </a:solidFill>
                    <a:latin typeface="Arial" charset="0"/>
                  </a:rPr>
                  <a:t>Encoded anxiety </a:t>
                </a:r>
              </a:p>
              <a:p>
                <a:pPr eaLnBrk="0" hangingPunct="0"/>
                <a:r>
                  <a:rPr lang="en-US" dirty="0">
                    <a:solidFill>
                      <a:srgbClr val="EDF3DB"/>
                    </a:solidFill>
                    <a:latin typeface="Arial" charset="0"/>
                  </a:rPr>
                  <a:t>  dysregulation</a:t>
                </a:r>
              </a:p>
              <a:p>
                <a:pPr eaLnBrk="0" hangingPunct="0"/>
                <a:r>
                  <a:rPr lang="en-US" dirty="0">
                    <a:solidFill>
                      <a:srgbClr val="EDF3DB"/>
                    </a:solidFill>
                    <a:latin typeface="Arial" charset="0"/>
                  </a:rPr>
                  <a:t>   - PTSD</a:t>
                </a:r>
              </a:p>
              <a:p>
                <a:pPr eaLnBrk="0" hangingPunct="0"/>
                <a:r>
                  <a:rPr lang="en-US" dirty="0">
                    <a:solidFill>
                      <a:srgbClr val="EDF3DB"/>
                    </a:solidFill>
                    <a:latin typeface="Arial" charset="0"/>
                  </a:rPr>
                  <a:t>-Emotional </a:t>
                </a:r>
              </a:p>
              <a:p>
                <a:pPr eaLnBrk="0" hangingPunct="0"/>
                <a:r>
                  <a:rPr lang="en-US" dirty="0">
                    <a:solidFill>
                      <a:srgbClr val="EDF3DB"/>
                    </a:solidFill>
                    <a:latin typeface="Arial" charset="0"/>
                  </a:rPr>
                  <a:t>  allodynia</a:t>
                </a:r>
              </a:p>
              <a:p>
                <a:pPr eaLnBrk="0" hangingPunct="0"/>
                <a:r>
                  <a:rPr lang="en-US" dirty="0">
                    <a:solidFill>
                      <a:srgbClr val="EDF3DB"/>
                    </a:solidFill>
                    <a:latin typeface="Arial" charset="0"/>
                  </a:rPr>
                  <a:t>-Mood </a:t>
                </a:r>
                <a:r>
                  <a:rPr lang="en-US" dirty="0" smtClean="0">
                    <a:solidFill>
                      <a:srgbClr val="EDF3DB"/>
                    </a:solidFill>
                    <a:latin typeface="Arial" charset="0"/>
                  </a:rPr>
                  <a:t>disorder</a:t>
                </a:r>
                <a:endParaRPr lang="en-US" dirty="0">
                  <a:solidFill>
                    <a:srgbClr val="EDF3DB"/>
                  </a:solidFill>
                  <a:latin typeface="Arial" charset="0"/>
                </a:endParaRPr>
              </a:p>
            </p:txBody>
          </p:sp>
          <p:sp>
            <p:nvSpPr>
              <p:cNvPr id="379922" name="Text Box 18" descr="The cycles of pain: acute pain to chronic pain disease:&#10;Pathopysiology of maintenance; psychopathology of maintenance; secondary pathology; disability."/>
              <p:cNvSpPr txBox="1">
                <a:spLocks noChangeArrowheads="1"/>
              </p:cNvSpPr>
              <p:nvPr/>
            </p:nvSpPr>
            <p:spPr bwMode="auto">
              <a:xfrm>
                <a:off x="2057400" y="4419600"/>
                <a:ext cx="2434214" cy="22654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 u="sng" dirty="0">
                    <a:solidFill>
                      <a:srgbClr val="EDF3DB"/>
                    </a:solidFill>
                    <a:latin typeface="Arial" charset="0"/>
                  </a:rPr>
                  <a:t>Neurogenic</a:t>
                </a:r>
              </a:p>
              <a:p>
                <a:pPr eaLnBrk="0" hangingPunct="0"/>
                <a:r>
                  <a:rPr lang="en-US" i="1" u="sng" dirty="0">
                    <a:solidFill>
                      <a:srgbClr val="EDF3DB"/>
                    </a:solidFill>
                    <a:latin typeface="Arial" charset="0"/>
                  </a:rPr>
                  <a:t>Inflammation</a:t>
                </a:r>
                <a:r>
                  <a:rPr lang="en-US" dirty="0">
                    <a:solidFill>
                      <a:srgbClr val="EDF3DB"/>
                    </a:solidFill>
                    <a:latin typeface="Arial" charset="0"/>
                  </a:rPr>
                  <a:t>:</a:t>
                </a:r>
              </a:p>
              <a:p>
                <a:pPr eaLnBrk="0" hangingPunct="0"/>
                <a:r>
                  <a:rPr lang="en-US" sz="2000" dirty="0">
                    <a:solidFill>
                      <a:srgbClr val="FFFFFF"/>
                    </a:solidFill>
                    <a:latin typeface="Arial" charset="0"/>
                  </a:rPr>
                  <a:t>- </a:t>
                </a:r>
                <a:r>
                  <a:rPr lang="en-US" dirty="0">
                    <a:solidFill>
                      <a:srgbClr val="FFFFFF"/>
                    </a:solidFill>
                    <a:latin typeface="Arial" charset="0"/>
                  </a:rPr>
                  <a:t>Glial activation</a:t>
                </a:r>
              </a:p>
              <a:p>
                <a:pPr eaLnBrk="0" hangingPunct="0"/>
                <a:r>
                  <a:rPr lang="en-US" dirty="0">
                    <a:solidFill>
                      <a:srgbClr val="FFFFFF"/>
                    </a:solidFill>
                    <a:latin typeface="Arial" charset="0"/>
                  </a:rPr>
                  <a:t>- Pro-inflammatory</a:t>
                </a:r>
              </a:p>
              <a:p>
                <a:pPr eaLnBrk="0" hangingPunct="0"/>
                <a:r>
                  <a:rPr lang="en-US" dirty="0">
                    <a:solidFill>
                      <a:srgbClr val="FFFFFF"/>
                    </a:solidFill>
                    <a:latin typeface="Arial" charset="0"/>
                  </a:rPr>
                  <a:t>  cytokines</a:t>
                </a:r>
              </a:p>
              <a:p>
                <a:pPr eaLnBrk="0" hangingPunct="0"/>
                <a:r>
                  <a:rPr lang="en-US" dirty="0">
                    <a:solidFill>
                      <a:srgbClr val="FFFFFF"/>
                    </a:solidFill>
                    <a:latin typeface="Arial" charset="0"/>
                  </a:rPr>
                  <a:t>- blood-nerve barrier</a:t>
                </a:r>
              </a:p>
              <a:p>
                <a:pPr eaLnBrk="0" hangingPunct="0"/>
                <a:r>
                  <a:rPr lang="en-US" dirty="0">
                    <a:solidFill>
                      <a:srgbClr val="FFFFFF"/>
                    </a:solidFill>
                    <a:latin typeface="Arial" charset="0"/>
                  </a:rPr>
                  <a:t>  </a:t>
                </a:r>
                <a:r>
                  <a:rPr lang="en-US" dirty="0" smtClean="0">
                    <a:solidFill>
                      <a:srgbClr val="FFFFFF"/>
                    </a:solidFill>
                    <a:latin typeface="Arial" charset="0"/>
                  </a:rPr>
                  <a:t>disruption</a:t>
                </a:r>
                <a:endParaRPr lang="en-US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  <p:sp>
            <p:nvSpPr>
              <p:cNvPr id="374803" name="Text Box 19" descr="The cycles of pain: acute pain to chronic pain disease:&#10;Pathopysiology of maintenance; psychopathology of maintenance; secondary pathology; disability."/>
              <p:cNvSpPr txBox="1">
                <a:spLocks noChangeArrowheads="1"/>
              </p:cNvSpPr>
              <p:nvPr/>
            </p:nvSpPr>
            <p:spPr bwMode="auto">
              <a:xfrm>
                <a:off x="2895600" y="2667000"/>
                <a:ext cx="1390124" cy="923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 u="sng" dirty="0">
                    <a:solidFill>
                      <a:srgbClr val="EDF3DB"/>
                    </a:solidFill>
                    <a:latin typeface="Arial" charset="0"/>
                  </a:rPr>
                  <a:t>Acute injury</a:t>
                </a:r>
              </a:p>
              <a:p>
                <a:pPr eaLnBrk="0" hangingPunct="0"/>
                <a:r>
                  <a:rPr lang="en-US" i="1" u="sng" dirty="0">
                    <a:solidFill>
                      <a:srgbClr val="EDF3DB"/>
                    </a:solidFill>
                    <a:latin typeface="Arial" charset="0"/>
                  </a:rPr>
                  <a:t>and pain</a:t>
                </a:r>
                <a:endParaRPr lang="en-US" i="1" dirty="0">
                  <a:solidFill>
                    <a:srgbClr val="EDF3DB"/>
                  </a:solidFill>
                  <a:latin typeface="Arial" charset="0"/>
                </a:endParaRPr>
              </a:p>
              <a:p>
                <a:pPr eaLnBrk="0" hangingPunct="0"/>
                <a:endParaRPr lang="en-US" i="1" dirty="0">
                  <a:solidFill>
                    <a:srgbClr val="FF5050"/>
                  </a:solidFill>
                  <a:latin typeface="Arial" charset="0"/>
                </a:endParaRPr>
              </a:p>
            </p:txBody>
          </p:sp>
          <p:sp>
            <p:nvSpPr>
              <p:cNvPr id="379924" name="Text Box 20" descr="The cycles of pain: acute pain to chronic pain disease:&#10;Pathopysiology of maintenance; psychopathology of maintenance; secondary pathology; disability."/>
              <p:cNvSpPr txBox="1">
                <a:spLocks noChangeArrowheads="1"/>
              </p:cNvSpPr>
              <p:nvPr/>
            </p:nvSpPr>
            <p:spPr bwMode="auto">
              <a:xfrm>
                <a:off x="5029200" y="4343400"/>
                <a:ext cx="1673806" cy="22315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 eaLnBrk="0" hangingPunct="0"/>
                <a:r>
                  <a:rPr lang="en-US" i="1" u="sng" dirty="0">
                    <a:solidFill>
                      <a:srgbClr val="EDF3DB"/>
                    </a:solidFill>
                    <a:latin typeface="Arial" charset="0"/>
                  </a:rPr>
                  <a:t>Peripheral</a:t>
                </a:r>
              </a:p>
              <a:p>
                <a:pPr algn="r" eaLnBrk="0" hangingPunct="0"/>
                <a:r>
                  <a:rPr lang="en-US" i="1" u="sng" dirty="0">
                    <a:solidFill>
                      <a:srgbClr val="EDF3DB"/>
                    </a:solidFill>
                    <a:latin typeface="Arial" charset="0"/>
                  </a:rPr>
                  <a:t>Sensitization:</a:t>
                </a:r>
              </a:p>
              <a:p>
                <a:pPr algn="r" eaLnBrk="0" hangingPunct="0"/>
                <a:r>
                  <a:rPr lang="en-US" sz="1800" dirty="0">
                    <a:solidFill>
                      <a:srgbClr val="EDF3DB"/>
                    </a:solidFill>
                    <a:latin typeface="Arial" charset="0"/>
                  </a:rPr>
                  <a:t>Na+ channels</a:t>
                </a:r>
              </a:p>
              <a:p>
                <a:pPr algn="r" eaLnBrk="0" hangingPunct="0"/>
                <a:r>
                  <a:rPr lang="en-US" sz="1800" dirty="0">
                    <a:solidFill>
                      <a:srgbClr val="EDF3DB"/>
                    </a:solidFill>
                    <a:latin typeface="Arial" charset="0"/>
                  </a:rPr>
                  <a:t>Lower threshold</a:t>
                </a:r>
              </a:p>
              <a:p>
                <a:pPr algn="r" eaLnBrk="0" hangingPunct="0"/>
                <a:endParaRPr lang="en-US" dirty="0">
                  <a:solidFill>
                    <a:srgbClr val="FF9900"/>
                  </a:solidFill>
                  <a:latin typeface="Arial" charset="0"/>
                </a:endParaRPr>
              </a:p>
            </p:txBody>
          </p:sp>
          <p:sp>
            <p:nvSpPr>
              <p:cNvPr id="379925" name="Arc 21"/>
              <p:cNvSpPr>
                <a:spLocks/>
              </p:cNvSpPr>
              <p:nvPr/>
            </p:nvSpPr>
            <p:spPr bwMode="auto">
              <a:xfrm flipH="1">
                <a:off x="381000" y="1600200"/>
                <a:ext cx="715963" cy="1752600"/>
              </a:xfrm>
              <a:custGeom>
                <a:avLst/>
                <a:gdLst>
                  <a:gd name="T0" fmla="*/ 0 w 16895"/>
                  <a:gd name="T1" fmla="*/ 0 h 21600"/>
                  <a:gd name="T2" fmla="*/ 30340513 w 16895"/>
                  <a:gd name="T3" fmla="*/ 53603028 h 21600"/>
                  <a:gd name="T4" fmla="*/ 0 w 16895"/>
                  <a:gd name="T5" fmla="*/ 142204006 h 21600"/>
                  <a:gd name="T6" fmla="*/ 0 60000 65536"/>
                  <a:gd name="T7" fmla="*/ 0 60000 65536"/>
                  <a:gd name="T8" fmla="*/ 0 60000 65536"/>
                  <a:gd name="T9" fmla="*/ 0 w 16895"/>
                  <a:gd name="T10" fmla="*/ 0 h 21600"/>
                  <a:gd name="T11" fmla="*/ 16895 w 1689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895" h="21600" fill="none" extrusionOk="0">
                    <a:moveTo>
                      <a:pt x="-1" y="0"/>
                    </a:moveTo>
                    <a:cubicBezTo>
                      <a:pt x="6577" y="0"/>
                      <a:pt x="12796" y="2997"/>
                      <a:pt x="16895" y="8141"/>
                    </a:cubicBezTo>
                  </a:path>
                  <a:path w="16895" h="21600" stroke="0" extrusionOk="0">
                    <a:moveTo>
                      <a:pt x="-1" y="0"/>
                    </a:moveTo>
                    <a:cubicBezTo>
                      <a:pt x="6577" y="0"/>
                      <a:pt x="12796" y="2997"/>
                      <a:pt x="16895" y="8141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57150">
                <a:solidFill>
                  <a:srgbClr val="CCCCFF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926" name="Text Box 22" descr="Central &#10;sensitization&#10;"/>
              <p:cNvSpPr txBox="1">
                <a:spLocks noChangeArrowheads="1"/>
              </p:cNvSpPr>
              <p:nvPr/>
            </p:nvSpPr>
            <p:spPr bwMode="auto">
              <a:xfrm>
                <a:off x="4953000" y="2438400"/>
                <a:ext cx="1454244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 u="sng" dirty="0">
                    <a:solidFill>
                      <a:srgbClr val="EDF3DB"/>
                    </a:solidFill>
                    <a:latin typeface="Arial" charset="0"/>
                  </a:rPr>
                  <a:t>Central </a:t>
                </a:r>
              </a:p>
              <a:p>
                <a:pPr eaLnBrk="0" hangingPunct="0"/>
                <a:r>
                  <a:rPr lang="en-US" i="1" u="sng" dirty="0">
                    <a:solidFill>
                      <a:srgbClr val="EDF3DB"/>
                    </a:solidFill>
                    <a:latin typeface="Arial" charset="0"/>
                  </a:rPr>
                  <a:t>sensitization</a:t>
                </a:r>
              </a:p>
            </p:txBody>
          </p:sp>
          <p:sp>
            <p:nvSpPr>
              <p:cNvPr id="379927" name="Arc 23"/>
              <p:cNvSpPr>
                <a:spLocks/>
              </p:cNvSpPr>
              <p:nvPr/>
            </p:nvSpPr>
            <p:spPr bwMode="auto">
              <a:xfrm rot="1214761">
                <a:off x="5672138" y="2025650"/>
                <a:ext cx="546100" cy="1030288"/>
              </a:xfrm>
              <a:custGeom>
                <a:avLst/>
                <a:gdLst>
                  <a:gd name="T0" fmla="*/ 7266916 w 19051"/>
                  <a:gd name="T1" fmla="*/ 0 h 21422"/>
                  <a:gd name="T2" fmla="*/ 50033330 w 19051"/>
                  <a:gd name="T3" fmla="*/ 16888556 h 21422"/>
                  <a:gd name="T4" fmla="*/ 0 w 19051"/>
                  <a:gd name="T5" fmla="*/ 32178832 h 21422"/>
                  <a:gd name="T6" fmla="*/ 0 60000 65536"/>
                  <a:gd name="T7" fmla="*/ 0 60000 65536"/>
                  <a:gd name="T8" fmla="*/ 0 60000 65536"/>
                  <a:gd name="T9" fmla="*/ 0 w 19051"/>
                  <a:gd name="T10" fmla="*/ 0 h 21422"/>
                  <a:gd name="T11" fmla="*/ 19051 w 19051"/>
                  <a:gd name="T12" fmla="*/ 21422 h 214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51" h="21422" fill="none" extrusionOk="0">
                    <a:moveTo>
                      <a:pt x="2767" y="-1"/>
                    </a:moveTo>
                    <a:cubicBezTo>
                      <a:pt x="9693" y="894"/>
                      <a:pt x="15759" y="5083"/>
                      <a:pt x="19051" y="11242"/>
                    </a:cubicBezTo>
                  </a:path>
                  <a:path w="19051" h="21422" stroke="0" extrusionOk="0">
                    <a:moveTo>
                      <a:pt x="2767" y="-1"/>
                    </a:moveTo>
                    <a:cubicBezTo>
                      <a:pt x="9693" y="894"/>
                      <a:pt x="15759" y="5083"/>
                      <a:pt x="19051" y="11242"/>
                    </a:cubicBezTo>
                    <a:lnTo>
                      <a:pt x="0" y="21422"/>
                    </a:lnTo>
                    <a:close/>
                  </a:path>
                </a:pathLst>
              </a:custGeom>
              <a:noFill/>
              <a:ln w="57150">
                <a:solidFill>
                  <a:srgbClr val="CCCCFF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929" name="Arc 25"/>
              <p:cNvSpPr>
                <a:spLocks/>
              </p:cNvSpPr>
              <p:nvPr/>
            </p:nvSpPr>
            <p:spPr bwMode="auto">
              <a:xfrm rot="1699233" flipV="1">
                <a:off x="6477000" y="3733800"/>
                <a:ext cx="531813" cy="777875"/>
              </a:xfrm>
              <a:custGeom>
                <a:avLst/>
                <a:gdLst>
                  <a:gd name="T0" fmla="*/ 10268299 w 21600"/>
                  <a:gd name="T1" fmla="*/ 0 h 13775"/>
                  <a:gd name="T2" fmla="*/ 13091933 w 21600"/>
                  <a:gd name="T3" fmla="*/ 43926645 h 13775"/>
                  <a:gd name="T4" fmla="*/ 0 w 21600"/>
                  <a:gd name="T5" fmla="*/ 42737217 h 1377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3775"/>
                  <a:gd name="T11" fmla="*/ 21600 w 21600"/>
                  <a:gd name="T12" fmla="*/ 13775 h 137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3775" fill="none" extrusionOk="0">
                    <a:moveTo>
                      <a:pt x="16939" y="-1"/>
                    </a:moveTo>
                    <a:cubicBezTo>
                      <a:pt x="19957" y="3814"/>
                      <a:pt x="21600" y="8537"/>
                      <a:pt x="21600" y="13402"/>
                    </a:cubicBezTo>
                    <a:cubicBezTo>
                      <a:pt x="21600" y="13526"/>
                      <a:pt x="21598" y="13650"/>
                      <a:pt x="21596" y="13774"/>
                    </a:cubicBezTo>
                  </a:path>
                  <a:path w="21600" h="13775" stroke="0" extrusionOk="0">
                    <a:moveTo>
                      <a:pt x="16939" y="-1"/>
                    </a:moveTo>
                    <a:cubicBezTo>
                      <a:pt x="19957" y="3814"/>
                      <a:pt x="21600" y="8537"/>
                      <a:pt x="21600" y="13402"/>
                    </a:cubicBezTo>
                    <a:cubicBezTo>
                      <a:pt x="21600" y="13526"/>
                      <a:pt x="21598" y="13650"/>
                      <a:pt x="21596" y="13774"/>
                    </a:cubicBezTo>
                    <a:lnTo>
                      <a:pt x="0" y="13402"/>
                    </a:lnTo>
                    <a:close/>
                  </a:path>
                </a:pathLst>
              </a:custGeom>
              <a:noFill/>
              <a:ln w="57150">
                <a:solidFill>
                  <a:srgbClr val="CCCCFF"/>
                </a:solidFill>
                <a:round/>
                <a:headEnd type="triangle" w="med" len="med"/>
                <a:tailEnd type="triangle" w="med" len="med"/>
              </a:ln>
            </p:spPr>
            <p:txBody>
              <a:bodyPr rot="10800000"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930" name="Arc 26"/>
              <p:cNvSpPr>
                <a:spLocks/>
              </p:cNvSpPr>
              <p:nvPr/>
            </p:nvSpPr>
            <p:spPr bwMode="auto">
              <a:xfrm>
                <a:off x="7721600" y="2997200"/>
                <a:ext cx="528638" cy="647700"/>
              </a:xfrm>
              <a:custGeom>
                <a:avLst/>
                <a:gdLst>
                  <a:gd name="T0" fmla="*/ 10498345 w 21390"/>
                  <a:gd name="T1" fmla="*/ 0 h 13081"/>
                  <a:gd name="T2" fmla="*/ 13064898 w 21390"/>
                  <a:gd name="T3" fmla="*/ 45222536 h 13081"/>
                  <a:gd name="T4" fmla="*/ 0 w 21390"/>
                  <a:gd name="T5" fmla="*/ 58703591 h 13081"/>
                  <a:gd name="T6" fmla="*/ 0 60000 65536"/>
                  <a:gd name="T7" fmla="*/ 0 60000 65536"/>
                  <a:gd name="T8" fmla="*/ 0 60000 65536"/>
                  <a:gd name="T9" fmla="*/ 0 w 21390"/>
                  <a:gd name="T10" fmla="*/ 0 h 13081"/>
                  <a:gd name="T11" fmla="*/ 21390 w 21390"/>
                  <a:gd name="T12" fmla="*/ 13081 h 130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390" h="13081" fill="none" extrusionOk="0">
                    <a:moveTo>
                      <a:pt x="17188" y="-1"/>
                    </a:moveTo>
                    <a:cubicBezTo>
                      <a:pt x="19428" y="2943"/>
                      <a:pt x="20875" y="6413"/>
                      <a:pt x="21390" y="10076"/>
                    </a:cubicBezTo>
                  </a:path>
                  <a:path w="21390" h="13081" stroke="0" extrusionOk="0">
                    <a:moveTo>
                      <a:pt x="17188" y="-1"/>
                    </a:moveTo>
                    <a:cubicBezTo>
                      <a:pt x="19428" y="2943"/>
                      <a:pt x="20875" y="6413"/>
                      <a:pt x="21390" y="10076"/>
                    </a:cubicBezTo>
                    <a:lnTo>
                      <a:pt x="0" y="13081"/>
                    </a:lnTo>
                    <a:close/>
                  </a:path>
                </a:pathLst>
              </a:custGeom>
              <a:noFill/>
              <a:ln w="57150">
                <a:solidFill>
                  <a:srgbClr val="CCCCFF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931" name="Arc 27"/>
              <p:cNvSpPr>
                <a:spLocks/>
              </p:cNvSpPr>
              <p:nvPr/>
            </p:nvSpPr>
            <p:spPr bwMode="auto">
              <a:xfrm rot="20642735" flipV="1">
                <a:off x="5945188" y="4572000"/>
                <a:ext cx="1293812" cy="1752600"/>
              </a:xfrm>
              <a:custGeom>
                <a:avLst/>
                <a:gdLst>
                  <a:gd name="T0" fmla="*/ 0 w 18852"/>
                  <a:gd name="T1" fmla="*/ 901940 h 21600"/>
                  <a:gd name="T2" fmla="*/ 88794263 w 18852"/>
                  <a:gd name="T3" fmla="*/ 49857010 h 21600"/>
                  <a:gd name="T4" fmla="*/ 11431349 w 18852"/>
                  <a:gd name="T5" fmla="*/ 142204006 h 21600"/>
                  <a:gd name="T6" fmla="*/ 0 60000 65536"/>
                  <a:gd name="T7" fmla="*/ 0 60000 65536"/>
                  <a:gd name="T8" fmla="*/ 0 60000 65536"/>
                  <a:gd name="T9" fmla="*/ 0 w 18852"/>
                  <a:gd name="T10" fmla="*/ 0 h 21600"/>
                  <a:gd name="T11" fmla="*/ 18852 w 1885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852" h="21600" fill="none" extrusionOk="0">
                    <a:moveTo>
                      <a:pt x="-1" y="136"/>
                    </a:moveTo>
                    <a:cubicBezTo>
                      <a:pt x="805" y="45"/>
                      <a:pt x="1616" y="-1"/>
                      <a:pt x="2427" y="0"/>
                    </a:cubicBezTo>
                    <a:cubicBezTo>
                      <a:pt x="8746" y="0"/>
                      <a:pt x="14748" y="2767"/>
                      <a:pt x="18852" y="7572"/>
                    </a:cubicBezTo>
                  </a:path>
                  <a:path w="18852" h="21600" stroke="0" extrusionOk="0">
                    <a:moveTo>
                      <a:pt x="-1" y="136"/>
                    </a:moveTo>
                    <a:cubicBezTo>
                      <a:pt x="805" y="45"/>
                      <a:pt x="1616" y="-1"/>
                      <a:pt x="2427" y="0"/>
                    </a:cubicBezTo>
                    <a:cubicBezTo>
                      <a:pt x="8746" y="0"/>
                      <a:pt x="14748" y="2767"/>
                      <a:pt x="18852" y="7572"/>
                    </a:cubicBezTo>
                    <a:lnTo>
                      <a:pt x="2427" y="21600"/>
                    </a:lnTo>
                    <a:close/>
                  </a:path>
                </a:pathLst>
              </a:custGeom>
              <a:noFill/>
              <a:ln w="57150">
                <a:solidFill>
                  <a:srgbClr val="CCCCFF"/>
                </a:solidFill>
                <a:round/>
                <a:headEnd/>
                <a:tailEnd type="triangle" w="med" len="med"/>
              </a:ln>
            </p:spPr>
            <p:txBody>
              <a:bodyPr rot="10800000"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932" name="Arc 28"/>
              <p:cNvSpPr>
                <a:spLocks/>
              </p:cNvSpPr>
              <p:nvPr/>
            </p:nvSpPr>
            <p:spPr bwMode="auto">
              <a:xfrm flipH="1" flipV="1">
                <a:off x="4648200" y="1371600"/>
                <a:ext cx="1600200" cy="76200"/>
              </a:xfrm>
              <a:custGeom>
                <a:avLst/>
                <a:gdLst>
                  <a:gd name="T0" fmla="*/ 0 w 43200"/>
                  <a:gd name="T1" fmla="*/ 268369 h 21636"/>
                  <a:gd name="T2" fmla="*/ 26344036 w 43200"/>
                  <a:gd name="T3" fmla="*/ 267922 h 21636"/>
                  <a:gd name="T4" fmla="*/ 13172018 w 43200"/>
                  <a:gd name="T5" fmla="*/ 267922 h 21636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636"/>
                  <a:gd name="T11" fmla="*/ 43200 w 43200"/>
                  <a:gd name="T12" fmla="*/ 21636 h 216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636" fill="none" extrusionOk="0">
                    <a:moveTo>
                      <a:pt x="0" y="21635"/>
                    </a:moveTo>
                    <a:cubicBezTo>
                      <a:pt x="0" y="21623"/>
                      <a:pt x="0" y="21611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1636" stroke="0" extrusionOk="0">
                    <a:moveTo>
                      <a:pt x="0" y="21635"/>
                    </a:moveTo>
                    <a:cubicBezTo>
                      <a:pt x="0" y="21623"/>
                      <a:pt x="0" y="21611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57150">
                <a:solidFill>
                  <a:srgbClr val="CCCCFF"/>
                </a:solidFill>
                <a:round/>
                <a:headEnd type="triangle" w="med" len="med"/>
                <a:tailEnd type="triangle" w="med" len="med"/>
              </a:ln>
            </p:spPr>
            <p:txBody>
              <a:bodyPr rot="10800000" wrap="none" anchor="ctr"/>
              <a:lstStyle/>
              <a:p>
                <a:endParaRPr lang="en-US" dirty="0">
                  <a:solidFill>
                    <a:srgbClr val="CCCCFF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Typical Case: Not Polytrauma</a:t>
            </a:r>
          </a:p>
        </p:txBody>
      </p:sp>
      <p:sp>
        <p:nvSpPr>
          <p:cNvPr id="23553" name="Rectangle 2"/>
          <p:cNvSpPr>
            <a:spLocks noGrp="1" noChangeArrowheads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rgbClr val="CCCCFF"/>
              </a:buClr>
              <a:buNone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John, a 26 y/o tank commander:</a:t>
            </a:r>
          </a:p>
          <a:p>
            <a:pPr marL="547687" lvl="2" indent="-27305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5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Discharged 3 months ago</a:t>
            </a:r>
          </a:p>
          <a:p>
            <a:pPr marL="547687" lvl="2" indent="-27305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5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High school graduate, while deployed became a father of 2 y/o son but divorced by wife; they now live in the Midwest with her family</a:t>
            </a:r>
          </a:p>
          <a:p>
            <a:pPr marL="547687" lvl="2" indent="-27305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5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Daily low back pain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76200"/>
            <a:ext cx="8305800" cy="1143000"/>
          </a:xfr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Low Back Pain Assessment</a:t>
            </a:r>
          </a:p>
        </p:txBody>
      </p:sp>
      <p:sp>
        <p:nvSpPr>
          <p:cNvPr id="36866" name="Rectangle 3" descr="5 Points of pain history"/>
          <p:cNvSpPr>
            <a:spLocks noGrp="1" noChangeArrowheads="1"/>
          </p:cNvSpPr>
          <p:nvPr>
            <p:ph idx="4294967295"/>
          </p:nvPr>
        </p:nvSpPr>
        <p:spPr>
          <a:xfrm>
            <a:off x="228600" y="1143000"/>
            <a:ext cx="8610600" cy="5715000"/>
          </a:xfrm>
          <a:noFill/>
        </p:spPr>
        <p:txBody>
          <a:bodyPr/>
          <a:lstStyle/>
          <a:p>
            <a:pPr marL="0" lvl="1" indent="0" eaLnBrk="1" hangingPunct="1">
              <a:lnSpc>
                <a:spcPct val="90000"/>
              </a:lnSpc>
              <a:buClr>
                <a:srgbClr val="CCCCFF"/>
              </a:buClr>
              <a:buSzPct val="95000"/>
              <a:buNone/>
            </a:pPr>
            <a:r>
              <a:rPr lang="en-US" sz="2200" b="1" u="sng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5 Ps of Pain History:</a:t>
            </a:r>
            <a:r>
              <a:rPr lang="en-US" sz="22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endParaRPr lang="en-US" sz="900" b="1" dirty="0" smtClean="0">
              <a:latin typeface="Arial" pitchFamily="34" charset="0"/>
              <a:cs typeface="Arial" pitchFamily="34" charset="0"/>
            </a:endParaRPr>
          </a:p>
          <a:p>
            <a:pPr marL="274320" lvl="1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Predisposition: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Prior episodes, cancer, systemic disease, occupational (vibration, heavy lifting) / recreational hazards, obesity, smoking, deconditioning</a:t>
            </a:r>
          </a:p>
          <a:p>
            <a:pPr marL="274320" lvl="1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Precipitation: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Onset incident: forces (e.g., compression, twist), direction, context &amp; co-occurring events</a:t>
            </a:r>
          </a:p>
          <a:p>
            <a:pPr marL="274320" lvl="1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Pattern: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Temporal daily pattern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Physical: axial, radicular, weakness, sensory changes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600" u="sng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Red flags</a:t>
            </a:r>
            <a:r>
              <a:rPr lang="en-US" sz="1600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: incontinence, fever, high pain after injury, recumbent pain, CA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Aggravators: activities, stressors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Effects on role function (work, home), relations (co-workers, family, spouse, sex)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Co-morbidities (sleep, depression, anxiety, substance abuse)</a:t>
            </a:r>
          </a:p>
          <a:p>
            <a:pPr marL="274320" lvl="1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Patient beliefs: what do you think is wrong?</a:t>
            </a:r>
          </a:p>
          <a:p>
            <a:pPr marL="274320" lvl="1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Prior treatments: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Medication trials, injections, physical therapy, CAM, adherence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None/>
            </a:pPr>
            <a:r>
              <a:rPr 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	                                      </a:t>
            </a: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Gallagher RM. </a:t>
            </a:r>
            <a:r>
              <a:rPr lang="en-US" sz="1600" u="sng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Am J Phys Med &amp; Rehab</a:t>
            </a: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 2005;84(3):S64-76 </a:t>
            </a:r>
          </a:p>
        </p:txBody>
      </p:sp>
      <p:sp>
        <p:nvSpPr>
          <p:cNvPr id="36868" name="Line 6" descr="right pointing arrow"/>
          <p:cNvSpPr>
            <a:spLocks noChangeShapeType="1"/>
          </p:cNvSpPr>
          <p:nvPr/>
        </p:nvSpPr>
        <p:spPr bwMode="auto">
          <a:xfrm>
            <a:off x="0" y="4214650"/>
            <a:ext cx="533400" cy="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0" rIns="0" bIns="0" anchor="b">
            <a:normAutofit/>
          </a:bodyPr>
          <a:lstStyle/>
          <a:p>
            <a:pPr eaLnBrk="1" hangingPunct="1">
              <a:defRPr/>
            </a:pPr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Low Back Pain Assessment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35163"/>
            <a:ext cx="8229600" cy="4618037"/>
          </a:xfrm>
        </p:spPr>
        <p:txBody>
          <a:bodyPr vert="horz">
            <a:normAutofit fontScale="70000" lnSpcReduction="20000"/>
          </a:bodyPr>
          <a:lstStyle/>
          <a:p>
            <a:pPr marL="0" indent="0" eaLnBrk="1" hangingPunct="1">
              <a:lnSpc>
                <a:spcPct val="90000"/>
              </a:lnSpc>
              <a:buClr>
                <a:srgbClr val="CCCCFF"/>
              </a:buClr>
              <a:buNone/>
            </a:pPr>
            <a:r>
              <a:rPr lang="en-US" sz="4000" u="sng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5 Ps of Pain History</a:t>
            </a:r>
            <a:r>
              <a:rPr lang="en-US" sz="40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: John a 26 y/o tank commander</a:t>
            </a:r>
          </a:p>
          <a:p>
            <a:pPr marL="274320" lvl="1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7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Predisposition: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4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Rigorous physical training and deployment with inherent risks for mechanical strain and spinal injury</a:t>
            </a:r>
          </a:p>
          <a:p>
            <a:pPr marL="274320" lvl="1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3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Precipitation: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4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Prolonged sitting with vibration and heavy axial loads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4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Incident forces = repeat compression and twisting in high stress, urgent environment</a:t>
            </a:r>
          </a:p>
          <a:p>
            <a:pPr marL="274320" lvl="1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3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Pattern: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4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Physical:  axial pain; pain into hips and thighs suggestion of  radicular pain or trigger points/muscular pain.  No reported weakness, sensory symptoms (e.g., numbness, paresthesias)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400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Red flags</a:t>
            </a:r>
            <a:r>
              <a:rPr lang="en-US" sz="34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: None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0" rIns="0" bIns="0" anchor="b">
            <a:noAutofit/>
          </a:bodyPr>
          <a:lstStyle/>
          <a:p>
            <a:pPr eaLnBrk="1" hangingPunct="1">
              <a:defRPr/>
            </a:pPr>
            <a:r>
              <a:rPr lang="en-US" sz="40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Low Back Pain Assessment </a:t>
            </a:r>
            <a:r>
              <a:rPr lang="en-US" sz="2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(cont’d)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35163"/>
            <a:ext cx="8229600" cy="4618037"/>
          </a:xfrm>
        </p:spPr>
        <p:txBody>
          <a:bodyPr vert="horz">
            <a:normAutofit fontScale="55000" lnSpcReduction="20000"/>
          </a:bodyPr>
          <a:lstStyle/>
          <a:p>
            <a:pPr marL="0" indent="0" eaLnBrk="1" hangingPunct="1">
              <a:lnSpc>
                <a:spcPct val="90000"/>
              </a:lnSpc>
              <a:buClr>
                <a:srgbClr val="CCCCFF"/>
              </a:buClr>
              <a:buNone/>
            </a:pPr>
            <a:r>
              <a:rPr lang="en-US" sz="51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5 Ps of Pain History: John a 26 y/o tank commander</a:t>
            </a:r>
          </a:p>
          <a:p>
            <a:pPr marL="274320" lvl="1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42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Pattern (cont’d):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Aggravators: walking more than ¼ mile; sitting longer than 30-45 minutes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Effects on role function: unable to work, little interest in socializing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Co-morbidities:  sleep disturbance; mild depression; anxiety about separation from son; 2-3 beers daily</a:t>
            </a:r>
          </a:p>
          <a:p>
            <a:pPr marL="274320" lvl="1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42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Patient beliefs: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Not clear – “just get rid of the pain… there must be something wrong in there”</a:t>
            </a:r>
          </a:p>
          <a:p>
            <a:pPr marL="274320" lvl="1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42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Prior treatments: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Medication trials on NSAIDS, gabapentin low dose, vicodin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3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Lumbar spine injections, probably epidurals under fluoroscopy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0" rIns="0" bIns="0" anchor="b">
            <a:normAutofit/>
          </a:bodyPr>
          <a:lstStyle/>
          <a:p>
            <a:pPr eaLnBrk="1" hangingPunct="1">
              <a:defRPr/>
            </a:pPr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Differential Diagnosis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>
            <a:normAutofit/>
          </a:bodyPr>
          <a:lstStyle/>
          <a:p>
            <a:pPr marL="274320" indent="-274320" eaLnBrk="1" hangingPunct="1">
              <a:lnSpc>
                <a:spcPct val="9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Idiopathic / musculoskeletal	85%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5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Muscles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5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Facets</a:t>
            </a:r>
          </a:p>
          <a:p>
            <a:pPr marL="548957" lvl="2" indent="-274320" eaLnBrk="1" hangingPunct="1">
              <a:lnSpc>
                <a:spcPct val="9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5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Discs</a:t>
            </a:r>
          </a:p>
          <a:p>
            <a:pPr marL="274320" indent="-274320" eaLnBrk="1" hangingPunct="1">
              <a:lnSpc>
                <a:spcPct val="9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Herniated disc				7%</a:t>
            </a:r>
          </a:p>
          <a:p>
            <a:pPr marL="274320" indent="-274320" eaLnBrk="1" hangingPunct="1">
              <a:lnSpc>
                <a:spcPct val="9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Compression Fracture		4%</a:t>
            </a:r>
          </a:p>
          <a:p>
            <a:pPr marL="274320" indent="-274320" eaLnBrk="1" hangingPunct="1">
              <a:lnSpc>
                <a:spcPct val="9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Spondylolisthesis			3%</a:t>
            </a:r>
          </a:p>
          <a:p>
            <a:pPr marL="274320" indent="-274320" eaLnBrk="1" hangingPunct="1">
              <a:lnSpc>
                <a:spcPct val="9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Malignancy				0.7%</a:t>
            </a:r>
          </a:p>
          <a:p>
            <a:pPr marL="274320" indent="-274320" eaLnBrk="1" hangingPunct="1">
              <a:lnSpc>
                <a:spcPct val="9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Infection					0.05%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rrowheads="1"/>
          </p:cNvSpPr>
          <p:nvPr>
            <p:ph type="title"/>
          </p:nvPr>
        </p:nvSpPr>
        <p:spPr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0" rIns="0" bIns="0" anchor="b">
            <a:normAutofit/>
          </a:bodyPr>
          <a:lstStyle/>
          <a:p>
            <a:pPr eaLnBrk="1" hangingPunct="1">
              <a:defRPr/>
            </a:pPr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Facet Joint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>
            <a:normAutofit fontScale="85000" lnSpcReduction="20000"/>
          </a:bodyPr>
          <a:lstStyle/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15-40% LBP due to facet disease</a:t>
            </a:r>
          </a:p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May have normal x-ray</a:t>
            </a:r>
          </a:p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Synovial joint</a:t>
            </a:r>
          </a:p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Sensory fibers with mechanoreceptors and </a:t>
            </a:r>
            <a:r>
              <a:rPr lang="en-US" sz="2800" dirty="0" err="1" smtClean="0">
                <a:solidFill>
                  <a:srgbClr val="EDF3DB"/>
                </a:solidFill>
                <a:latin typeface="Arial" charset="0"/>
                <a:cs typeface="Arial" charset="0"/>
              </a:rPr>
              <a:t>nociceptive</a:t>
            </a: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 fibers</a:t>
            </a:r>
          </a:p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Injury often with twisting heavy loads</a:t>
            </a:r>
          </a:p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Contribute to mechanical load redistribution so injury often from hyperextension against flexion loads</a:t>
            </a:r>
          </a:p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Physical Exam: </a:t>
            </a:r>
          </a:p>
          <a:p>
            <a:pPr marL="548957" lvl="2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5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Ipsilateral pain on lateral spine flexion and tenderness on deep palpation</a:t>
            </a:r>
          </a:p>
          <a:p>
            <a:pPr marL="461963" lvl="1" indent="106363" eaLnBrk="1" hangingPunct="1">
              <a:buClr>
                <a:srgbClr val="CCCCFF"/>
              </a:buClr>
              <a:buSzPct val="95000"/>
              <a:buNone/>
              <a:defRPr/>
            </a:pPr>
            <a:r>
              <a:rPr lang="en-US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  <a:hlinkClick r:id="rId3"/>
              </a:rPr>
              <a:t>http://www.winchesterhospitalchiro.com/images/lumbar</a:t>
            </a:r>
            <a:endParaRPr lang="en-US" sz="28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3011" name="Picture 4" descr="Lumbar facet arthritis, which is 15% to 40% LBP due to facet disease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0"/>
            <a:ext cx="32766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Rot="1" noChangeArrowheads="1"/>
          </p:cNvSpPr>
          <p:nvPr>
            <p:ph type="title"/>
          </p:nvPr>
        </p:nvSpPr>
        <p:spPr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0" rIns="0" bIns="0" anchor="b">
            <a:normAutofit/>
          </a:bodyPr>
          <a:lstStyle/>
          <a:p>
            <a:pPr eaLnBrk="1" hangingPunct="1">
              <a:defRPr/>
            </a:pPr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Radiculopathy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>
            <a:normAutofit fontScale="92500" lnSpcReduction="10000"/>
          </a:bodyPr>
          <a:lstStyle/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Pain radiating to leg, foot</a:t>
            </a:r>
          </a:p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R/o referred myofascial pain</a:t>
            </a:r>
          </a:p>
          <a:p>
            <a:pPr marL="548957" lvl="2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5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Like greater trochanteric </a:t>
            </a:r>
            <a:br>
              <a:rPr lang="en-US" sz="2500" dirty="0" smtClean="0">
                <a:solidFill>
                  <a:srgbClr val="EDF3DB"/>
                </a:solidFill>
                <a:latin typeface="Arial" charset="0"/>
                <a:cs typeface="Arial" charset="0"/>
              </a:rPr>
            </a:br>
            <a:r>
              <a:rPr lang="en-US" sz="25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bursitis</a:t>
            </a:r>
          </a:p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Isolated disc herniation</a:t>
            </a:r>
          </a:p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Lateral recess stenosis from facet OA with disc</a:t>
            </a:r>
          </a:p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Physical exam:</a:t>
            </a:r>
          </a:p>
          <a:p>
            <a:pPr marL="548957" lvl="2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5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Loss of segment-specific (e.g., L4, L5, S1) sensory, motor, or reflex (patella L4; achillies S1) function</a:t>
            </a:r>
          </a:p>
          <a:p>
            <a:pPr marL="548957" lvl="2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5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Positive stretch signs (seated pt. straightens leg; pt. on back, examiner lifts straightened leg)</a:t>
            </a:r>
          </a:p>
        </p:txBody>
      </p:sp>
      <p:pic>
        <p:nvPicPr>
          <p:cNvPr id="46083" name="Picture 4" descr="stenosi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228600"/>
            <a:ext cx="34290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/>
          </p:cNvSpPr>
          <p:nvPr>
            <p:ph type="title"/>
          </p:nvPr>
        </p:nvSpPr>
        <p:spPr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0" rIns="0" bIns="0" anchor="b">
            <a:normAutofit/>
          </a:bodyPr>
          <a:lstStyle/>
          <a:p>
            <a:pPr eaLnBrk="1" hangingPunct="1"/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Low Back Examination</a:t>
            </a:r>
          </a:p>
        </p:txBody>
      </p:sp>
      <p:sp>
        <p:nvSpPr>
          <p:cNvPr id="57346" name="Rectangle 3"/>
          <p:cNvSpPr>
            <a:spLocks noGrp="1"/>
          </p:cNvSpPr>
          <p:nvPr>
            <p:ph idx="1"/>
          </p:nvPr>
        </p:nvSpPr>
        <p:spPr/>
        <p:txBody>
          <a:bodyPr vert="horz">
            <a:normAutofit/>
          </a:bodyPr>
          <a:lstStyle/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  <a:hlinkClick r:id="rId3"/>
              </a:rPr>
              <a:t>http://www.healthquality.va.gov/index.asp</a:t>
            </a: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</a:pP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  <a:hlinkClick r:id="rId4"/>
              </a:rPr>
              <a:t>http://www.healthquality.va.gov/Low_Back_Pain_LBP_Clinical_Practice_Guideline.asp</a:t>
            </a: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0"/>
            <a:ext cx="8229600" cy="5105400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Practical tips on formulation, goal-oriented management planning, and clinical decision-making:  </a:t>
            </a: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   - </a:t>
            </a:r>
            <a:r>
              <a:rPr lang="en-US" sz="3600" dirty="0" smtClean="0">
                <a:solidFill>
                  <a:schemeClr val="bg1"/>
                </a:solidFill>
              </a:rPr>
              <a:t>Tips on developing a collaborative 	model with patient</a:t>
            </a: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   - </a:t>
            </a:r>
            <a:r>
              <a:rPr lang="en-US" sz="3600" dirty="0" smtClean="0">
                <a:solidFill>
                  <a:schemeClr val="bg1"/>
                </a:solidFill>
              </a:rPr>
              <a:t>Specific, office-based interventions 	such 	as PT	</a:t>
            </a:r>
            <a:br>
              <a:rPr lang="en-US" sz="3600" dirty="0" smtClean="0">
                <a:solidFill>
                  <a:schemeClr val="bg1"/>
                </a:solidFill>
              </a:rPr>
            </a:br>
            <a:r>
              <a:rPr lang="en-US" sz="3600" dirty="0" smtClean="0">
                <a:solidFill>
                  <a:schemeClr val="bg1"/>
                </a:solidFill>
              </a:rPr>
              <a:t>   - Medication guidelines and use of 	opioid analgesics</a:t>
            </a:r>
            <a:r>
              <a:rPr lang="en-US" sz="4400" dirty="0" smtClean="0">
                <a:solidFill>
                  <a:schemeClr val="bg1"/>
                </a:solidFill>
              </a:rPr>
              <a:t/>
            </a:r>
            <a:br>
              <a:rPr lang="en-US" sz="4400" dirty="0" smtClean="0">
                <a:solidFill>
                  <a:schemeClr val="bg1"/>
                </a:solidFill>
              </a:rPr>
            </a:br>
            <a:r>
              <a:rPr lang="en-US" sz="4400" dirty="0" smtClean="0">
                <a:solidFill>
                  <a:schemeClr val="bg1"/>
                </a:solidFill>
              </a:rPr>
              <a:t>	</a:t>
            </a: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 vert="horz" lIns="0" rIns="0" bIns="0" anchor="b">
            <a:normAutofit fontScale="90000"/>
          </a:bodyPr>
          <a:lstStyle/>
          <a:p>
            <a:pPr eaLnBrk="1" hangingPunct="1"/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Collaborative Self-management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4389437"/>
          </a:xfrm>
        </p:spPr>
        <p:txBody>
          <a:bodyPr vert="horz">
            <a:normAutofit/>
          </a:bodyPr>
          <a:lstStyle/>
          <a:p>
            <a:pPr marL="274320" indent="-274320" eaLnBrk="1" hangingPunct="1">
              <a:buClr>
                <a:srgbClr val="CCCCFF"/>
              </a:buClr>
              <a:buFont typeface="Wingdings 2" pitchFamily="18" charset="2"/>
              <a:buChar char=""/>
            </a:pPr>
            <a:r>
              <a:rPr lang="en-US" sz="3200" b="1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The essential clinical tasks are to</a:t>
            </a:r>
          </a:p>
          <a:p>
            <a:pPr marL="547370" lvl="3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7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Establish a collaborative relationship</a:t>
            </a:r>
          </a:p>
          <a:p>
            <a:pPr marL="547370" lvl="3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7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Shift the patient from a biomedical model to a biopsychosocial model</a:t>
            </a:r>
          </a:p>
          <a:p>
            <a:pPr marL="547370" lvl="3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7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Identify long-term functional goals</a:t>
            </a:r>
          </a:p>
          <a:p>
            <a:pPr marL="547370" lvl="3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7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Facilitate self-management</a:t>
            </a:r>
          </a:p>
          <a:p>
            <a:pPr marL="547370" lvl="3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7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Support efforts to address other life 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0" rIns="0" bIns="0" anchor="b">
            <a:noAutofit/>
          </a:bodyPr>
          <a:lstStyle/>
          <a:p>
            <a:pPr eaLnBrk="1" hangingPunct="1">
              <a:defRPr/>
            </a:pPr>
            <a:r>
              <a:rPr lang="en-US" sz="40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Therapy for Nonspecific </a:t>
            </a:r>
            <a:br>
              <a:rPr lang="en-US" sz="4000" dirty="0" smtClean="0">
                <a:solidFill>
                  <a:srgbClr val="CCCCFF"/>
                </a:solidFill>
                <a:latin typeface="Arial" charset="0"/>
                <a:cs typeface="Arial" charset="0"/>
              </a:rPr>
            </a:br>
            <a:r>
              <a:rPr lang="en-US" sz="40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Acute (0 - 4 weeks) Low Back Pain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>
            <a:normAutofit lnSpcReduction="10000"/>
          </a:bodyPr>
          <a:lstStyle/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Education and reassurance</a:t>
            </a: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Brief Rest (2-3 days) / Decrease Activity (be very detailed)</a:t>
            </a: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Prevent “kinesiophobia” (fear of movement) : provide effective pain control to facilitate graduated activity</a:t>
            </a: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Medications</a:t>
            </a: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Physical Therapy techniques</a:t>
            </a: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Goal: Resumption of activities  as soon as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0" rIns="0" bIns="0" anchor="b">
            <a:noAutofit/>
          </a:bodyPr>
          <a:lstStyle/>
          <a:p>
            <a:pPr eaLnBrk="1" hangingPunct="1">
              <a:defRPr/>
            </a:pPr>
            <a:r>
              <a:rPr lang="en-US" sz="4000" dirty="0">
                <a:solidFill>
                  <a:srgbClr val="CCCCFF"/>
                </a:solidFill>
                <a:latin typeface="Arial" charset="0"/>
                <a:cs typeface="Arial" charset="0"/>
              </a:rPr>
              <a:t>Things </a:t>
            </a:r>
            <a:r>
              <a:rPr lang="en-US" sz="4000" b="1" dirty="0">
                <a:solidFill>
                  <a:srgbClr val="FF0000"/>
                </a:solidFill>
                <a:latin typeface="Arial" charset="0"/>
                <a:cs typeface="Arial" charset="0"/>
              </a:rPr>
              <a:t>“Not to Do”</a:t>
            </a:r>
            <a:r>
              <a:rPr lang="en-US" sz="4000" dirty="0">
                <a:solidFill>
                  <a:srgbClr val="CCCCFF"/>
                </a:solidFill>
                <a:latin typeface="Arial" charset="0"/>
                <a:cs typeface="Arial" charset="0"/>
              </a:rPr>
              <a:t> </a:t>
            </a:r>
            <a:r>
              <a:rPr lang="en-US" sz="40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for </a:t>
            </a:r>
            <a:r>
              <a:rPr lang="en-US" sz="4000" dirty="0">
                <a:solidFill>
                  <a:srgbClr val="CCCCFF"/>
                </a:solidFill>
                <a:latin typeface="Arial" charset="0"/>
                <a:cs typeface="Arial" charset="0"/>
              </a:rPr>
              <a:t/>
            </a:r>
            <a:br>
              <a:rPr lang="en-US" sz="4000" dirty="0">
                <a:solidFill>
                  <a:srgbClr val="CCCCFF"/>
                </a:solidFill>
                <a:latin typeface="Arial" charset="0"/>
                <a:cs typeface="Arial" charset="0"/>
              </a:rPr>
            </a:br>
            <a:r>
              <a:rPr lang="en-US" sz="4000" dirty="0">
                <a:solidFill>
                  <a:srgbClr val="CCCCFF"/>
                </a:solidFill>
                <a:latin typeface="Arial" charset="0"/>
                <a:cs typeface="Arial" charset="0"/>
              </a:rPr>
              <a:t>Acute (0 - 4 weeks) Low Back Pain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>
            <a:normAutofit fontScale="62500" lnSpcReduction="20000"/>
          </a:bodyPr>
          <a:lstStyle/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Avoid Prolonged </a:t>
            </a:r>
            <a:r>
              <a:rPr lang="en-US" sz="2800" b="1" u="sng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Bed Rest</a:t>
            </a: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800" b="1" u="sng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Avoid regular, round-the-clock use of opioid analgesics</a:t>
            </a: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/>
            </a:r>
            <a:b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</a:b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without exhausting other options (e.g., NSAIDs, tramadol, acetaminophen, muscle relaxants).  Use opioid “rescue” dose for emergencies, 5-10 pills “on hand” so patient does not have to go to ER or can stay at work to avoid losing a job</a:t>
            </a: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800" b="1" u="sng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Avoid expensive diagnostic imaging</a:t>
            </a: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 and its false positives, without suspicion for serious condition</a:t>
            </a: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800" b="1" u="sng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Avoid specialty referral</a:t>
            </a: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 for non-serious conditions</a:t>
            </a: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800" b="1" u="sng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Avoid injection therapy</a:t>
            </a: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 without specific indication and without pairing with other interventions</a:t>
            </a: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274320" lvl="1" indent="-274320" eaLnBrk="1" hangingPunct="1"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800" b="1" u="sng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Avoid surgical referral</a:t>
            </a: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 in the absence of an identified anatomic lesion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237488"/>
          </a:xfrm>
        </p:spPr>
        <p:txBody>
          <a:bodyPr>
            <a:noAutofit/>
          </a:bodyPr>
          <a:lstStyle/>
          <a:p>
            <a:r>
              <a:rPr lang="en-US" sz="44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Pain Management Options Based on Biopsychosocial Model</a:t>
            </a:r>
            <a:endParaRPr lang="en-US" sz="4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828800" y="1828800"/>
            <a:ext cx="5486400" cy="609600"/>
          </a:xfrm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vert="horz" tIns="0">
            <a:noAutofit/>
          </a:bodyPr>
          <a:lstStyle/>
          <a:p>
            <a:pPr marL="0" lvl="1" indent="0" algn="ctr">
              <a:lnSpc>
                <a:spcPct val="110000"/>
              </a:lnSpc>
              <a:buClr>
                <a:srgbClr val="CCCCFF"/>
              </a:buClr>
              <a:buSzPct val="95000"/>
              <a:buNone/>
            </a:pPr>
            <a:r>
              <a:rPr lang="en-US" alt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Therapeutic Objectives: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85800" y="2286000"/>
            <a:ext cx="8153400" cy="1828800"/>
          </a:xfrm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vert="horz">
            <a:noAutofit/>
          </a:bodyPr>
          <a:lstStyle/>
          <a:p>
            <a:pPr>
              <a:buClr>
                <a:srgbClr val="CCCCFF"/>
              </a:buClr>
              <a:buNone/>
            </a:pPr>
            <a:r>
              <a:rPr lang="en-US" sz="20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Empowerment: 	</a:t>
            </a:r>
            <a:r>
              <a:rPr lang="en-US" sz="2000" dirty="0" smtClean="0">
                <a:solidFill>
                  <a:srgbClr val="EDF3DB"/>
                </a:solidFill>
                <a:latin typeface="Arial" charset="0"/>
                <a:cs typeface="Arial" charset="0"/>
                <a:hlinkClick r:id="rId2"/>
              </a:rPr>
              <a:t>http://www. painfoundation.org</a:t>
            </a:r>
            <a:r>
              <a:rPr lang="en-US" sz="20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; </a:t>
            </a:r>
          </a:p>
          <a:p>
            <a:pPr>
              <a:buClr>
                <a:srgbClr val="CCCCFF"/>
              </a:buClr>
              <a:buNone/>
            </a:pPr>
            <a:r>
              <a:rPr lang="en-US" sz="20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			</a:t>
            </a:r>
            <a:r>
              <a:rPr lang="en-US" sz="2000" dirty="0" smtClean="0">
                <a:solidFill>
                  <a:srgbClr val="EDF3DB"/>
                </a:solidFill>
                <a:latin typeface="Arial" charset="0"/>
                <a:cs typeface="Arial" charset="0"/>
                <a:hlinkClick r:id="rId3"/>
              </a:rPr>
              <a:t>http://www.theacpa.org</a:t>
            </a:r>
            <a:r>
              <a:rPr lang="en-US" sz="20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/>
            </a:r>
            <a:br>
              <a:rPr lang="en-US" sz="2000" dirty="0" smtClean="0">
                <a:solidFill>
                  <a:srgbClr val="EDF3DB"/>
                </a:solidFill>
                <a:latin typeface="Arial" charset="0"/>
                <a:cs typeface="Arial" charset="0"/>
              </a:rPr>
            </a:br>
            <a:endParaRPr lang="en-US" sz="20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0" indent="0">
              <a:buClr>
                <a:srgbClr val="CCCCFF"/>
              </a:buClr>
              <a:buNone/>
            </a:pPr>
            <a:r>
              <a:rPr lang="en-US" sz="20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Increase mastery and control over fear, anxiety, stress reaction, environmental pain triggers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76400" y="4191000"/>
          <a:ext cx="6096000" cy="2433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itchFamily="34" charset="0"/>
                          <a:cs typeface="Arial" pitchFamily="34" charset="0"/>
                        </a:rPr>
                        <a:t>Pain Diary</a:t>
                      </a:r>
                      <a:endParaRPr 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itchFamily="34" charset="0"/>
                          <a:cs typeface="Arial" pitchFamily="34" charset="0"/>
                        </a:rPr>
                        <a:t>Sleep Hygiene</a:t>
                      </a:r>
                      <a:endParaRPr lang="en-US" sz="16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itchFamily="34" charset="0"/>
                          <a:cs typeface="Arial" pitchFamily="34" charset="0"/>
                        </a:rPr>
                        <a:t>Relaxation skills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itchFamily="34" charset="0"/>
                          <a:cs typeface="Arial" pitchFamily="34" charset="0"/>
                        </a:rPr>
                        <a:t>Self hypnosis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itchFamily="34" charset="0"/>
                          <a:cs typeface="Arial" pitchFamily="34" charset="0"/>
                        </a:rPr>
                        <a:t>Journal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itchFamily="34" charset="0"/>
                          <a:cs typeface="Arial" pitchFamily="34" charset="0"/>
                        </a:rPr>
                        <a:t>Distraction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itchFamily="34" charset="0"/>
                          <a:cs typeface="Arial" pitchFamily="34" charset="0"/>
                        </a:rPr>
                        <a:t>Cognitive training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Arial" pitchFamily="34" charset="0"/>
                          <a:cs typeface="Arial" pitchFamily="34" charset="0"/>
                        </a:rPr>
                        <a:t>Attitude adjustment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28600" indent="0"/>
                      <a:r>
                        <a:rPr lang="en-US" sz="1600" dirty="0" smtClean="0">
                          <a:latin typeface="Arial" pitchFamily="34" charset="0"/>
                          <a:cs typeface="Arial" pitchFamily="34" charset="0"/>
                        </a:rPr>
                        <a:t>Distraction &amp; problem  solving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600" dirty="0" smtClean="0">
                          <a:latin typeface="Arial" pitchFamily="34" charset="0"/>
                          <a:cs typeface="Arial" pitchFamily="34" charset="0"/>
                        </a:rPr>
                        <a:t>Acceptance of chronicity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28600" indent="0"/>
                      <a:r>
                        <a:rPr lang="en-US" sz="1600" dirty="0" smtClean="0">
                          <a:latin typeface="Arial" pitchFamily="34" charset="0"/>
                          <a:cs typeface="Arial" pitchFamily="34" charset="0"/>
                        </a:rPr>
                        <a:t>Reframing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600" dirty="0" smtClean="0">
                          <a:latin typeface="Arial" pitchFamily="34" charset="0"/>
                          <a:cs typeface="Arial" pitchFamily="34" charset="0"/>
                        </a:rPr>
                        <a:t>Mastery</a:t>
                      </a:r>
                      <a:endParaRPr lang="en-US" sz="16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0" rIns="0" bIns="0" anchor="b">
            <a:normAutofit/>
          </a:bodyPr>
          <a:lstStyle/>
          <a:p>
            <a:pPr eaLnBrk="1" hangingPunct="1">
              <a:defRPr/>
            </a:pPr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What physical therapy?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 vert="horz" lIns="45720" tIns="0" rIns="45720" bIns="0" anchor="t">
            <a:noAutofit/>
          </a:bodyPr>
          <a:lstStyle/>
          <a:p>
            <a:pPr eaLnBrk="1" hangingPunct="1">
              <a:lnSpc>
                <a:spcPct val="8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Williams flexion exercises</a:t>
            </a:r>
          </a:p>
          <a:p>
            <a:pPr eaLnBrk="1" hangingPunct="1">
              <a:lnSpc>
                <a:spcPct val="8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But did not work in everybody</a:t>
            </a:r>
          </a:p>
          <a:p>
            <a:pPr eaLnBrk="1" hangingPunct="1">
              <a:lnSpc>
                <a:spcPct val="8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Flexion caused increased intradiscal pressure</a:t>
            </a:r>
          </a:p>
          <a:p>
            <a:pPr marL="546100" lvl="3" indent="-273050" eaLnBrk="1" hangingPunct="1">
              <a:lnSpc>
                <a:spcPct val="80000"/>
              </a:lnSpc>
              <a:buClr>
                <a:srgbClr val="CCCCFF"/>
              </a:buClr>
              <a:buSzPct val="95000"/>
              <a:buFont typeface="Wingdings 2" pitchFamily="18" charset="2"/>
              <a:buChar char=""/>
              <a:defRPr/>
            </a:pPr>
            <a:r>
              <a:rPr lang="en-US" sz="27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Nachemson AL 1981</a:t>
            </a:r>
          </a:p>
          <a:p>
            <a:pPr eaLnBrk="1" hangingPunct="1">
              <a:lnSpc>
                <a:spcPct val="8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Used now for stenosis patients</a:t>
            </a:r>
          </a:p>
        </p:txBody>
      </p:sp>
      <p:pic>
        <p:nvPicPr>
          <p:cNvPr id="65540" name="Picture 6" descr="man doing situps"/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 cstate="print">
            <a:lum contrast="6000"/>
          </a:blip>
          <a:srcRect t="13585" b="13585"/>
          <a:stretch>
            <a:fillRect/>
          </a:stretch>
        </p:blipFill>
        <p:spPr>
          <a:xfrm>
            <a:off x="4876800" y="4495800"/>
            <a:ext cx="3886200" cy="1981200"/>
          </a:xfrm>
        </p:spPr>
      </p:pic>
      <p:pic>
        <p:nvPicPr>
          <p:cNvPr id="65539" name="Picture 4" descr="disc pressure"/>
          <p:cNvPicPr>
            <a:picLocks noGrp="1" noChangeAspect="1" noChangeArrowheads="1"/>
          </p:cNvPicPr>
          <p:nvPr>
            <p:ph type="pic" sz="quarter" idx="12"/>
          </p:nvPr>
        </p:nvPicPr>
        <p:blipFill>
          <a:blip r:embed="rId4" cstate="print">
            <a:lum bright="-12000" contrast="12000"/>
          </a:blip>
          <a:srcRect t="4837" b="4837"/>
          <a:stretch>
            <a:fillRect/>
          </a:stretch>
        </p:blipFill>
        <p:spPr>
          <a:xfrm>
            <a:off x="4838700" y="1905000"/>
            <a:ext cx="3962400" cy="2362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0" anchor="b">
            <a:normAutofit/>
          </a:bodyPr>
          <a:lstStyle/>
          <a:p>
            <a:pPr eaLnBrk="1" hangingPunct="1"/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Mc Kenzie Extensions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/>
        <p:txBody>
          <a:bodyPr vert="horz" lIns="45720" tIns="0" rIns="45720" bIns="0" anchor="t">
            <a:noAutofit/>
          </a:bodyPr>
          <a:lstStyle/>
          <a:p>
            <a:pPr eaLnBrk="1" hangingPunct="1">
              <a:lnSpc>
                <a:spcPct val="8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Goal is centralization of leg pain</a:t>
            </a:r>
          </a:p>
          <a:p>
            <a:pPr eaLnBrk="1" hangingPunct="1">
              <a:lnSpc>
                <a:spcPct val="8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Decrease intradiscal tension</a:t>
            </a:r>
          </a:p>
          <a:p>
            <a:pPr eaLnBrk="1" hangingPunct="1">
              <a:lnSpc>
                <a:spcPct val="8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Decrease nerve root tension</a:t>
            </a:r>
          </a:p>
          <a:p>
            <a:pPr eaLnBrk="1" hangingPunct="1">
              <a:lnSpc>
                <a:spcPct val="80000"/>
              </a:lnSpc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76/87 patients achieved centralization and outcomes good-excellent in 83%</a:t>
            </a:r>
          </a:p>
        </p:txBody>
      </p:sp>
      <p:pic>
        <p:nvPicPr>
          <p:cNvPr id="28" name="Picture 4" descr="woman doing back chair leg left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14231" y="1827212"/>
            <a:ext cx="2576512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6" descr="man doing stomach pushups"/>
          <p:cNvPicPr>
            <a:picLocks noChangeAspect="1" noChangeArrowheads="1"/>
          </p:cNvPicPr>
          <p:nvPr/>
        </p:nvPicPr>
        <p:blipFill>
          <a:blip r:embed="rId4" cstate="print">
            <a:lum bright="-6000" contrast="6000"/>
          </a:blip>
          <a:srcRect l="17731" t="27531" r="25533" b="11237"/>
          <a:stretch>
            <a:fillRect/>
          </a:stretch>
        </p:blipFill>
        <p:spPr bwMode="auto">
          <a:xfrm>
            <a:off x="5715000" y="4724400"/>
            <a:ext cx="2974975" cy="198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389888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Q (quality): Recognizing Neuropathic Pain</a:t>
            </a:r>
            <a:endParaRPr lang="en-US" sz="4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600200"/>
            <a:ext cx="5562600" cy="762000"/>
          </a:xfrm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vert="horz" tIns="0">
            <a:noAutofit/>
          </a:bodyPr>
          <a:lstStyle/>
          <a:p>
            <a:pPr marL="0" lvl="1" indent="0">
              <a:lnSpc>
                <a:spcPct val="130000"/>
              </a:lnSpc>
              <a:buClr>
                <a:srgbClr val="CCCCFF"/>
              </a:buClr>
              <a:buSzPct val="95000"/>
              <a:buNone/>
            </a:pPr>
            <a:r>
              <a:rPr lang="en-US" alt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YOU DO NOT NEED LABORATORY TESTS TO DIAGNOSE AND TREAT NEUROPATHIC PAIN!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57200" y="2590800"/>
            <a:ext cx="3200400" cy="457200"/>
          </a:xfrm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vert="horz" tIns="0">
            <a:noAutofit/>
          </a:bodyPr>
          <a:lstStyle/>
          <a:p>
            <a:pPr marL="0" lvl="1" indent="0">
              <a:lnSpc>
                <a:spcPct val="150000"/>
              </a:lnSpc>
              <a:buClr>
                <a:srgbClr val="CCCCFF"/>
              </a:buClr>
              <a:buSzPct val="95000"/>
              <a:buNone/>
            </a:pPr>
            <a:r>
              <a:rPr lang="en-US" altLang="en-US" sz="1600" b="1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Common signs and symptoms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09600" y="3124200"/>
            <a:ext cx="2362200" cy="2362200"/>
          </a:xfrm>
        </p:spPr>
        <p:txBody>
          <a:bodyPr>
            <a:noAutofit/>
          </a:bodyPr>
          <a:lstStyle/>
          <a:p>
            <a:pPr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Persistent burning sensation</a:t>
            </a:r>
          </a:p>
          <a:p>
            <a:pPr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Paroxysmal lancinating pains</a:t>
            </a:r>
          </a:p>
          <a:p>
            <a:pPr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Paresthesias</a:t>
            </a:r>
          </a:p>
          <a:p>
            <a:pPr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Dysesthesias</a:t>
            </a:r>
          </a:p>
          <a:p>
            <a:pPr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Hyperalgesias</a:t>
            </a:r>
          </a:p>
          <a:p>
            <a:pPr>
              <a:buClr>
                <a:srgbClr val="CCCCFF"/>
              </a:buClr>
              <a:buFont typeface="Wingdings 2" pitchFamily="18" charset="2"/>
              <a:buChar char=""/>
              <a:defRPr/>
            </a:pPr>
            <a:r>
              <a:rPr 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Allodynias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533400" y="6172200"/>
            <a:ext cx="4495800" cy="609600"/>
          </a:xfrm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vert="horz" tIns="0">
            <a:noAutofit/>
          </a:bodyPr>
          <a:lstStyle/>
          <a:p>
            <a:pPr marL="0" lvl="1" indent="0">
              <a:lnSpc>
                <a:spcPct val="150000"/>
              </a:lnSpc>
              <a:buClr>
                <a:srgbClr val="CCCCFF"/>
              </a:buClr>
              <a:buSzPct val="95000"/>
              <a:buNone/>
            </a:pPr>
            <a:r>
              <a:rPr lang="en-US" altLang="en-US" sz="14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Galer BS. Neurology. 1995;45(suppl 9):S17-S25; Backonja M-M et al. Neurol Clin.1998;16:775-789.</a:t>
            </a:r>
          </a:p>
        </p:txBody>
      </p:sp>
      <p:pic>
        <p:nvPicPr>
          <p:cNvPr id="10" name="Picture 6" descr="Lightning at night reflecting neuropathic pai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828800"/>
            <a:ext cx="3505200" cy="46767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746" name="Picture 2" descr="Male characters repesenting neuropathy types: 1. mononeuropathy, 2.  mononeuropathy multiplex, 3. plexopathy, 4. polyneuropath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409700"/>
            <a:ext cx="8535987" cy="4838700"/>
          </a:xfrm>
          <a:prstGeom prst="rect">
            <a:avLst/>
          </a:prstGeom>
          <a:noFill/>
        </p:spPr>
      </p:pic>
      <p:sp>
        <p:nvSpPr>
          <p:cNvPr id="54374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vert="horz" lIns="0" rIns="0" bIns="0" anchor="b">
            <a:normAutofit fontScale="90000"/>
          </a:bodyPr>
          <a:lstStyle/>
          <a:p>
            <a:r>
              <a:rPr lang="en-US" sz="48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R (Radiating and pattern): Pain Drawing &amp; Neuropathy Types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6248400"/>
            <a:ext cx="8382000" cy="52322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indent="0" eaLnBrk="0" hangingPunct="0">
              <a:buNone/>
            </a:pP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Adapted from:  Boulton AJM et al. </a:t>
            </a:r>
            <a:r>
              <a:rPr lang="en-US" sz="1400" i="1" dirty="0" smtClean="0">
                <a:solidFill>
                  <a:schemeClr val="bg1"/>
                </a:solidFill>
                <a:latin typeface="Arial" charset="0"/>
              </a:rPr>
              <a:t>Med Clin North Am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. 1998;82:909-929; Portenoy RK. </a:t>
            </a:r>
            <a:r>
              <a:rPr lang="en-US" sz="1400" i="1" dirty="0" smtClean="0">
                <a:solidFill>
                  <a:schemeClr val="bg1"/>
                </a:solidFill>
                <a:latin typeface="Arial" charset="0"/>
              </a:rPr>
              <a:t>Pain Management: Theory and Practice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. 1996:108-113; Katz N. </a:t>
            </a:r>
            <a:r>
              <a:rPr lang="en-US" sz="1400" i="1" dirty="0" smtClean="0">
                <a:solidFill>
                  <a:schemeClr val="bg1"/>
                </a:solidFill>
                <a:latin typeface="Arial" charset="0"/>
              </a:rPr>
              <a:t>Clin J Pain</a:t>
            </a:r>
            <a:r>
              <a:rPr lang="en-US" sz="1400" dirty="0" smtClean="0">
                <a:solidFill>
                  <a:schemeClr val="bg1"/>
                </a:solidFill>
                <a:latin typeface="Arial" charset="0"/>
              </a:rPr>
              <a:t>. 2000;16:S41-S48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vert="horz" lIns="0" rIns="0" bIns="0" anchor="b">
            <a:normAutofit/>
          </a:bodyPr>
          <a:lstStyle/>
          <a:p>
            <a:r>
              <a:rPr lang="en-US" sz="40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Differential Diagnosis of Pattern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3124200" cy="659352"/>
          </a:xfrm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vert="horz" tIns="0">
            <a:noAutofit/>
          </a:bodyPr>
          <a:lstStyle/>
          <a:p>
            <a:pPr marL="0" lvl="1" indent="0">
              <a:lnSpc>
                <a:spcPct val="90000"/>
              </a:lnSpc>
              <a:buClr>
                <a:srgbClr val="CCCCFF"/>
              </a:buClr>
              <a:buSzPct val="95000"/>
            </a:pPr>
            <a:r>
              <a:rPr lang="en-US" altLang="en-US" sz="2400" u="sng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Mononeuropathy</a:t>
            </a:r>
            <a:r>
              <a:rPr lang="en-US" altLang="en-US" sz="24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: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3"/>
          </p:nvPr>
        </p:nvSpPr>
        <p:spPr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vert="horz" tIns="0">
            <a:noAutofit/>
          </a:bodyPr>
          <a:lstStyle/>
          <a:p>
            <a:pPr marL="0" lvl="1" indent="0">
              <a:lnSpc>
                <a:spcPct val="90000"/>
              </a:lnSpc>
              <a:buClr>
                <a:srgbClr val="CCCCFF"/>
              </a:buClr>
              <a:buSzPct val="95000"/>
            </a:pPr>
            <a:r>
              <a:rPr lang="en-US" altLang="en-US" sz="2400" u="sng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Plexopathy</a:t>
            </a:r>
            <a:r>
              <a:rPr lang="en-US" altLang="en-US" sz="24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:</a:t>
            </a:r>
          </a:p>
        </p:txBody>
      </p:sp>
      <p:sp>
        <p:nvSpPr>
          <p:cNvPr id="545795" name="Rectangle 3"/>
          <p:cNvSpPr>
            <a:spLocks noGrp="1" noChangeArrowheads="1"/>
          </p:cNvSpPr>
          <p:nvPr>
            <p:ph sz="quarter" idx="2"/>
          </p:nvPr>
        </p:nvSpPr>
        <p:spPr>
          <a:xfrm>
            <a:off x="457200" y="2819400"/>
            <a:ext cx="4040188" cy="3733800"/>
          </a:xfrm>
        </p:spPr>
        <p:txBody>
          <a:bodyPr vert="horz" lIns="45720" tIns="0" rIns="45720" bIns="0" anchor="t">
            <a:noAutofit/>
          </a:bodyPr>
          <a:lstStyle/>
          <a:p>
            <a:pPr marL="0" lvl="1" indent="0">
              <a:buClr>
                <a:srgbClr val="CCCCFF"/>
              </a:buClr>
              <a:buSzPct val="95000"/>
              <a:buNone/>
            </a:pPr>
            <a:r>
              <a:rPr lang="en-US" alt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One nerve distribution</a:t>
            </a:r>
          </a:p>
          <a:p>
            <a:pPr marL="0" lvl="1" indent="0">
              <a:buClr>
                <a:srgbClr val="CCCCFF"/>
              </a:buClr>
              <a:buSzPct val="95000"/>
              <a:buNone/>
            </a:pPr>
            <a:r>
              <a:rPr lang="en-US" alt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Associated with:</a:t>
            </a:r>
          </a:p>
          <a:p>
            <a:pPr marL="273050" lvl="1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Injuries:</a:t>
            </a:r>
          </a:p>
          <a:p>
            <a:pPr marL="547370" lvl="2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Trauma / Surgery</a:t>
            </a:r>
          </a:p>
          <a:p>
            <a:pPr marL="547370" lvl="2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Neuroma</a:t>
            </a:r>
          </a:p>
          <a:p>
            <a:pPr marL="547370" lvl="2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Herniated disc</a:t>
            </a:r>
          </a:p>
          <a:p>
            <a:pPr marL="273050" lvl="1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Disease</a:t>
            </a:r>
          </a:p>
          <a:p>
            <a:pPr marL="547370" lvl="2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Post-herpetic neuralgia</a:t>
            </a:r>
          </a:p>
          <a:p>
            <a:pPr marL="273050" lvl="1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Entrapment:</a:t>
            </a:r>
          </a:p>
          <a:p>
            <a:pPr marL="547370" lvl="2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Carpal tunnel syndrome</a:t>
            </a:r>
          </a:p>
          <a:p>
            <a:pPr marL="547370" lvl="2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Tarsal tunnel syndrome</a:t>
            </a:r>
          </a:p>
          <a:p>
            <a:pPr marL="547370" lvl="2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Spinal stenosis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4"/>
          </p:nvPr>
        </p:nvSpPr>
        <p:spPr>
          <a:xfrm>
            <a:off x="4645025" y="2895600"/>
            <a:ext cx="4041775" cy="3124200"/>
          </a:xfrm>
        </p:spPr>
        <p:txBody>
          <a:bodyPr vert="horz" lIns="45720" tIns="0" rIns="45720" bIns="0" anchor="t">
            <a:noAutofit/>
          </a:bodyPr>
          <a:lstStyle/>
          <a:p>
            <a:pPr marL="0" lvl="1" indent="0">
              <a:buClr>
                <a:srgbClr val="CCCCFF"/>
              </a:buClr>
              <a:buSzPct val="95000"/>
              <a:buNone/>
              <a:tabLst>
                <a:tab pos="0" algn="l"/>
              </a:tabLst>
            </a:pPr>
            <a:r>
              <a:rPr lang="en-US" alt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Nerve plexus distribution</a:t>
            </a:r>
          </a:p>
          <a:p>
            <a:pPr marL="0" lvl="1" indent="0">
              <a:buClr>
                <a:srgbClr val="CCCCFF"/>
              </a:buClr>
              <a:buSzPct val="95000"/>
              <a:buNone/>
            </a:pPr>
            <a:r>
              <a:rPr lang="en-US" alt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Associated with:</a:t>
            </a:r>
          </a:p>
          <a:p>
            <a:pPr marL="273050" lvl="1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Injuries</a:t>
            </a:r>
          </a:p>
          <a:p>
            <a:pPr marL="547370" lvl="2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Brachial plexus injury</a:t>
            </a:r>
          </a:p>
          <a:p>
            <a:pPr marL="547370" lvl="2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Cancer surgery</a:t>
            </a:r>
          </a:p>
          <a:p>
            <a:pPr marL="547370" lvl="2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Radiotherapy</a:t>
            </a:r>
          </a:p>
          <a:p>
            <a:pPr marL="273050" lvl="1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Disease</a:t>
            </a:r>
          </a:p>
          <a:p>
            <a:pPr marL="547370" lvl="2" indent="-273050">
              <a:buClr>
                <a:srgbClr val="CCCCFF"/>
              </a:buClr>
              <a:buSzPct val="95000"/>
              <a:buFont typeface="Wingdings 2" pitchFamily="18" charset="2"/>
              <a:buChar char=""/>
            </a:pPr>
            <a:r>
              <a:rPr lang="en-US" altLang="en-US" sz="16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Cancer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 sz="3200" dirty="0" smtClean="0">
                <a:solidFill>
                  <a:srgbClr val="CCCCFF"/>
                </a:solidFill>
                <a:latin typeface="Arial" charset="0"/>
                <a:cs typeface="Arial" charset="0"/>
              </a:rPr>
              <a:t>Algorithm for Medication Selection in Chronic Pain with and without Co-Morbid Depression</a:t>
            </a:r>
            <a:endParaRPr lang="en-US" sz="3200" dirty="0"/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>
          <a:xfrm>
            <a:off x="304800" y="6248400"/>
            <a:ext cx="8229600" cy="609600"/>
          </a:xfrm>
        </p:spPr>
        <p:txBody>
          <a:bodyPr/>
          <a:lstStyle/>
          <a:p>
            <a:pPr marL="0" indent="0" eaLnBrk="1" hangingPunct="1">
              <a:buClr>
                <a:srgbClr val="CCCCFF"/>
              </a:buClr>
              <a:buNone/>
            </a:pPr>
            <a:r>
              <a:rPr lang="en-US" sz="14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Gallagher RM, Verma S. Semin Clin Neurosurgery.  2004</a:t>
            </a:r>
          </a:p>
          <a:p>
            <a:pPr marL="0" indent="0" eaLnBrk="1" hangingPunct="1">
              <a:buClr>
                <a:srgbClr val="CCCCFF"/>
              </a:buClr>
              <a:buNone/>
            </a:pPr>
            <a:r>
              <a:rPr lang="en-US" sz="14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This information concerns uses that have not been approved by the US FDA.</a:t>
            </a:r>
          </a:p>
        </p:txBody>
      </p:sp>
      <p:grpSp>
        <p:nvGrpSpPr>
          <p:cNvPr id="2" name="Group 73" descr="Algorithm for Medication Selection in Chronic Pain with and without CoMorbid Depression"/>
          <p:cNvGrpSpPr/>
          <p:nvPr/>
        </p:nvGrpSpPr>
        <p:grpSpPr>
          <a:xfrm>
            <a:off x="304800" y="1905000"/>
            <a:ext cx="8229600" cy="4267200"/>
            <a:chOff x="304800" y="2057400"/>
            <a:chExt cx="8229600" cy="4267200"/>
          </a:xfrm>
        </p:grpSpPr>
        <p:sp>
          <p:nvSpPr>
            <p:cNvPr id="25" name="Text Placeholder 23"/>
            <p:cNvSpPr txBox="1">
              <a:spLocks/>
            </p:cNvSpPr>
            <p:nvPr/>
          </p:nvSpPr>
          <p:spPr>
            <a:xfrm>
              <a:off x="381000" y="2286000"/>
              <a:ext cx="1143000" cy="609600"/>
            </a:xfrm>
            <a:prstGeom prst="rect">
              <a:avLst/>
            </a:prstGeom>
            <a:solidFill>
              <a:srgbClr val="660033"/>
            </a:solidFill>
            <a:ln w="28575">
              <a:solidFill>
                <a:srgbClr val="660033"/>
              </a:solidFill>
            </a:ln>
          </p:spPr>
          <p:txBody>
            <a:bodyPr vert="horz" anchor="ctr">
              <a:normAutofit fontScale="47500" lnSpcReduction="20000"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Nociceptive</a:t>
              </a:r>
              <a:br>
                <a:rPr kumimoji="0" lang="en-U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pain (arthritis)</a:t>
              </a:r>
            </a:p>
          </p:txBody>
        </p:sp>
        <p:sp>
          <p:nvSpPr>
            <p:cNvPr id="26" name="Text Placeholder 24"/>
            <p:cNvSpPr txBox="1">
              <a:spLocks/>
            </p:cNvSpPr>
            <p:nvPr/>
          </p:nvSpPr>
          <p:spPr>
            <a:xfrm>
              <a:off x="360786" y="3352800"/>
              <a:ext cx="1315614" cy="457200"/>
            </a:xfrm>
            <a:prstGeom prst="rect">
              <a:avLst/>
            </a:prstGeom>
            <a:noFill/>
            <a:ln w="28575">
              <a:solidFill>
                <a:srgbClr val="CCCCFF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DF3DB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Evaluate risks</a:t>
              </a:r>
            </a:p>
          </p:txBody>
        </p:sp>
        <p:sp>
          <p:nvSpPr>
            <p:cNvPr id="27" name="Text Placeholder 25"/>
            <p:cNvSpPr txBox="1">
              <a:spLocks/>
            </p:cNvSpPr>
            <p:nvPr/>
          </p:nvSpPr>
          <p:spPr>
            <a:xfrm>
              <a:off x="304800" y="4419600"/>
              <a:ext cx="1219200" cy="914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Short-term</a:t>
              </a:r>
              <a:b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NSAIDs,</a:t>
              </a:r>
              <a:b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Cox-II (?),</a:t>
              </a:r>
              <a:b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1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tramadol</a:t>
              </a:r>
              <a: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,   </a:t>
              </a:r>
              <a:r>
                <a:rPr kumimoji="0" lang="en-US" sz="11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opioids</a:t>
              </a:r>
              <a:endPara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8" name="Text Placeholder 26"/>
            <p:cNvSpPr txBox="1">
              <a:spLocks/>
            </p:cNvSpPr>
            <p:nvPr/>
          </p:nvSpPr>
          <p:spPr>
            <a:xfrm>
              <a:off x="1866900" y="2286000"/>
              <a:ext cx="1219200" cy="609600"/>
            </a:xfrm>
            <a:prstGeom prst="rect">
              <a:avLst/>
            </a:prstGeom>
            <a:solidFill>
              <a:srgbClr val="660033"/>
            </a:solidFill>
            <a:ln w="28575">
              <a:solidFill>
                <a:srgbClr val="66003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 fontScale="92500"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Neuropathic</a:t>
              </a:r>
              <a:b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pain (radiculopathy)</a:t>
              </a:r>
              <a:endParaRPr kumimoji="0" 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9" name="Text Placeholder 27"/>
            <p:cNvSpPr txBox="1">
              <a:spLocks/>
            </p:cNvSpPr>
            <p:nvPr/>
          </p:nvSpPr>
          <p:spPr>
            <a:xfrm>
              <a:off x="1866900" y="3276600"/>
              <a:ext cx="1219200" cy="609600"/>
            </a:xfrm>
            <a:prstGeom prst="rect">
              <a:avLst/>
            </a:prstGeom>
            <a:solidFill>
              <a:srgbClr val="020202"/>
            </a:solidFill>
            <a:ln w="9525">
              <a:solidFill>
                <a:srgbClr val="040404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Secondary sleep</a:t>
              </a:r>
              <a:b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disturbance</a:t>
              </a:r>
              <a:endPara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0" name="Text Placeholder 28"/>
            <p:cNvSpPr txBox="1">
              <a:spLocks/>
            </p:cNvSpPr>
            <p:nvPr/>
          </p:nvSpPr>
          <p:spPr>
            <a:xfrm>
              <a:off x="1866900" y="4114800"/>
              <a:ext cx="1219200" cy="533400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 fontScale="92500" lnSpcReduction="10000"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DF3DB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Persists after</a:t>
              </a:r>
              <a:b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DF3DB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DF3DB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adequate</a:t>
              </a:r>
              <a:b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DF3DB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DF3DB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analgesia</a:t>
              </a:r>
              <a:endPara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DF3DB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1" name="Text Placeholder 29"/>
            <p:cNvSpPr txBox="1">
              <a:spLocks/>
            </p:cNvSpPr>
            <p:nvPr/>
          </p:nvSpPr>
          <p:spPr>
            <a:xfrm>
              <a:off x="1752600" y="4724400"/>
              <a:ext cx="1447800" cy="457200"/>
            </a:xfrm>
            <a:prstGeom prst="rect">
              <a:avLst/>
            </a:prstGeom>
            <a:noFill/>
            <a:ln w="28575">
              <a:solidFill>
                <a:srgbClr val="CCCCFF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DF3DB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Evaluate risks</a:t>
              </a:r>
              <a:endParaRPr kumimoji="0" 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DF3DB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2" name="Text Placeholder 30"/>
            <p:cNvSpPr txBox="1">
              <a:spLocks/>
            </p:cNvSpPr>
            <p:nvPr/>
          </p:nvSpPr>
          <p:spPr>
            <a:xfrm>
              <a:off x="381000" y="5562600"/>
              <a:ext cx="1295400" cy="7620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Antihistamine,</a:t>
              </a:r>
              <a:b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zolpidem,</a:t>
              </a:r>
              <a:b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low-dose</a:t>
              </a:r>
              <a:b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benzodiazepine</a:t>
              </a:r>
              <a:endPara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3" name="Text Placeholder 31"/>
            <p:cNvSpPr txBox="1">
              <a:spLocks/>
            </p:cNvSpPr>
            <p:nvPr/>
          </p:nvSpPr>
          <p:spPr>
            <a:xfrm>
              <a:off x="1866900" y="5562600"/>
              <a:ext cx="1219200" cy="7620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Trazodone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Low-dose</a:t>
              </a:r>
              <a:b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TCA</a:t>
              </a:r>
              <a:endPara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4" name="Text Placeholder 32"/>
            <p:cNvSpPr txBox="1">
              <a:spLocks/>
            </p:cNvSpPr>
            <p:nvPr/>
          </p:nvSpPr>
          <p:spPr>
            <a:xfrm>
              <a:off x="3810000" y="2286000"/>
              <a:ext cx="1219200" cy="609600"/>
            </a:xfrm>
            <a:prstGeom prst="rect">
              <a:avLst/>
            </a:prstGeom>
            <a:solidFill>
              <a:srgbClr val="020202"/>
            </a:solidFill>
            <a:ln w="9525">
              <a:solidFill>
                <a:srgbClr val="040404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Secondary depression</a:t>
              </a:r>
              <a:endPara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5" name="Text Placeholder 33"/>
            <p:cNvSpPr txBox="1">
              <a:spLocks/>
            </p:cNvSpPr>
            <p:nvPr/>
          </p:nvSpPr>
          <p:spPr>
            <a:xfrm>
              <a:off x="3771900" y="3092670"/>
              <a:ext cx="1295400" cy="533400"/>
            </a:xfrm>
            <a:prstGeom prst="rect">
              <a:avLst/>
            </a:prstGeom>
            <a:solidFill>
              <a:srgbClr val="020202"/>
            </a:solidFill>
            <a:ln w="9525">
              <a:solidFill>
                <a:srgbClr val="040404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 fontScale="92500" lnSpcReduction="10000"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Persists after</a:t>
              </a:r>
              <a:b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adequate</a:t>
              </a:r>
              <a:b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analgesia</a:t>
              </a:r>
              <a:endParaRPr kumimoji="0" 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6" name="Text Placeholder 34"/>
            <p:cNvSpPr txBox="1">
              <a:spLocks/>
            </p:cNvSpPr>
            <p:nvPr/>
          </p:nvSpPr>
          <p:spPr>
            <a:xfrm>
              <a:off x="3619500" y="4191000"/>
              <a:ext cx="1600200" cy="533400"/>
            </a:xfrm>
            <a:prstGeom prst="rect">
              <a:avLst/>
            </a:prstGeom>
            <a:noFill/>
            <a:ln w="28575">
              <a:solidFill>
                <a:srgbClr val="CCCCFF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DF3DB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Evaluate risks</a:t>
              </a:r>
              <a:endParaRPr kumimoji="0" 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DF3DB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7" name="Text Placeholder 38"/>
            <p:cNvSpPr txBox="1">
              <a:spLocks/>
            </p:cNvSpPr>
            <p:nvPr/>
          </p:nvSpPr>
          <p:spPr>
            <a:xfrm>
              <a:off x="3581400" y="5029200"/>
              <a:ext cx="1676400" cy="1295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Lidocaine</a:t>
              </a:r>
              <a: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 patch;</a:t>
              </a:r>
              <a:b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1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gabapentin</a:t>
              </a:r>
              <a: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 &amp; other AED (Ca+ &amp; Na+ channels);alpha 2 agonists (</a:t>
              </a:r>
              <a:r>
                <a:rPr kumimoji="0" lang="en-US" sz="11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tizanidine</a:t>
              </a:r>
              <a: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, </a:t>
              </a:r>
              <a:r>
                <a:rPr kumimoji="0" lang="en-US" sz="11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clonidine</a:t>
              </a:r>
              <a: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);</a:t>
              </a:r>
              <a:b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1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tramadol</a:t>
              </a:r>
              <a:r>
                <a:rPr kumimoji="0" lang="en-US" sz="11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; </a:t>
              </a:r>
              <a:r>
                <a:rPr kumimoji="0" lang="en-US" sz="11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opioid</a:t>
              </a:r>
              <a:endPara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8" name="Text Placeholder 43"/>
            <p:cNvSpPr txBox="1">
              <a:spLocks/>
            </p:cNvSpPr>
            <p:nvPr/>
          </p:nvSpPr>
          <p:spPr>
            <a:xfrm>
              <a:off x="5334000" y="2057400"/>
              <a:ext cx="1371600" cy="685800"/>
            </a:xfrm>
            <a:prstGeom prst="rect">
              <a:avLst/>
            </a:prstGeom>
            <a:solidFill>
              <a:srgbClr val="660033"/>
            </a:solidFill>
            <a:ln w="28575">
              <a:solidFill>
                <a:srgbClr val="66003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Pain condition +</a:t>
              </a:r>
              <a:b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</a:br>
              <a: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depression</a:t>
              </a:r>
              <a:endParaRPr kumimoji="0" 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9" name="Text Placeholder 44"/>
            <p:cNvSpPr txBox="1">
              <a:spLocks/>
            </p:cNvSpPr>
            <p:nvPr/>
          </p:nvSpPr>
          <p:spPr>
            <a:xfrm>
              <a:off x="7010400" y="2286000"/>
              <a:ext cx="1524000" cy="533400"/>
            </a:xfrm>
            <a:prstGeom prst="rect">
              <a:avLst/>
            </a:prstGeom>
            <a:solidFill>
              <a:srgbClr val="020202"/>
            </a:solidFill>
            <a:ln w="9525">
              <a:solidFill>
                <a:srgbClr val="040404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Primary D.</a:t>
              </a:r>
              <a:endPara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40" name="Text Placeholder 45"/>
            <p:cNvSpPr txBox="1">
              <a:spLocks/>
            </p:cNvSpPr>
            <p:nvPr/>
          </p:nvSpPr>
          <p:spPr>
            <a:xfrm>
              <a:off x="6781800" y="3276600"/>
              <a:ext cx="1752600" cy="457200"/>
            </a:xfrm>
            <a:prstGeom prst="rect">
              <a:avLst/>
            </a:prstGeom>
            <a:noFill/>
            <a:ln w="28575">
              <a:solidFill>
                <a:srgbClr val="CCCCFF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DF3DB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Evaluate risks</a:t>
              </a:r>
              <a:endParaRPr kumimoji="0" 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DF3DB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41" name="Text Placeholder 46"/>
            <p:cNvSpPr txBox="1">
              <a:spLocks/>
            </p:cNvSpPr>
            <p:nvPr/>
          </p:nvSpPr>
          <p:spPr>
            <a:xfrm>
              <a:off x="7239000" y="4114800"/>
              <a:ext cx="1295400" cy="457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SSRI trial</a:t>
              </a:r>
              <a:endPara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42" name="Text Placeholder 47"/>
            <p:cNvSpPr txBox="1">
              <a:spLocks/>
            </p:cNvSpPr>
            <p:nvPr/>
          </p:nvSpPr>
          <p:spPr>
            <a:xfrm>
              <a:off x="6324600" y="4876800"/>
              <a:ext cx="2209800" cy="4572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SNRIs: venlafaxine, duloxetine</a:t>
              </a:r>
              <a:endPara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43" name="Text Placeholder 48"/>
            <p:cNvSpPr txBox="1">
              <a:spLocks/>
            </p:cNvSpPr>
            <p:nvPr/>
          </p:nvSpPr>
          <p:spPr>
            <a:xfrm>
              <a:off x="6172200" y="5715000"/>
              <a:ext cx="2362200" cy="6096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CCFF"/>
                </a:buClr>
                <a:buSzPct val="95000"/>
                <a:buFont typeface="Wingdings 2" pitchFamily="18" charset="2"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Titrate TCAs (Na+  channels and SNRI) : desipramine, nortriptyline,</a:t>
              </a:r>
              <a:endPara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cxnSp>
          <p:nvCxnSpPr>
            <p:cNvPr id="44" name="Straight Connector 43"/>
            <p:cNvCxnSpPr>
              <a:stCxn id="25" idx="3"/>
              <a:endCxn id="28" idx="1"/>
            </p:cNvCxnSpPr>
            <p:nvPr/>
          </p:nvCxnSpPr>
          <p:spPr>
            <a:xfrm>
              <a:off x="1524000" y="2590800"/>
              <a:ext cx="342900" cy="1588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25" idx="2"/>
              <a:endCxn id="26" idx="0"/>
            </p:cNvCxnSpPr>
            <p:nvPr/>
          </p:nvCxnSpPr>
          <p:spPr>
            <a:xfrm rot="16200000" flipH="1">
              <a:off x="752146" y="3095953"/>
              <a:ext cx="404648" cy="3941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rot="5400000">
              <a:off x="692370" y="4116118"/>
              <a:ext cx="583327" cy="13135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rot="16200000" flipH="1">
              <a:off x="2234105" y="3095954"/>
              <a:ext cx="404648" cy="3941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rot="5400000">
              <a:off x="2330670" y="3996560"/>
              <a:ext cx="225972" cy="10509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1534510" y="4519448"/>
              <a:ext cx="325821" cy="1588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30" idx="2"/>
              <a:endCxn id="31" idx="0"/>
            </p:cNvCxnSpPr>
            <p:nvPr/>
          </p:nvCxnSpPr>
          <p:spPr>
            <a:xfrm rot="5400000">
              <a:off x="2438400" y="4686300"/>
              <a:ext cx="76200" cy="1588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1282262" y="5391807"/>
              <a:ext cx="1261241" cy="12098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16200000" flipH="1">
              <a:off x="2412123" y="5281446"/>
              <a:ext cx="210211" cy="10515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rot="5400000">
              <a:off x="2431831" y="5495598"/>
              <a:ext cx="173423" cy="7883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rot="16200000" flipH="1">
              <a:off x="1204748" y="5482457"/>
              <a:ext cx="218095" cy="2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16200000" flipH="1">
              <a:off x="7575336" y="3029607"/>
              <a:ext cx="409901" cy="5257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16200000" flipH="1">
              <a:off x="7223891" y="3825108"/>
              <a:ext cx="186559" cy="3941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6968359" y="3904597"/>
              <a:ext cx="1261241" cy="12098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rot="5400000">
              <a:off x="8117928" y="4008388"/>
              <a:ext cx="173423" cy="7883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/>
            <p:nvPr/>
          </p:nvCxnSpPr>
          <p:spPr>
            <a:xfrm rot="5400000">
              <a:off x="6473060" y="4392012"/>
              <a:ext cx="1022134" cy="10510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5087007" y="3121572"/>
              <a:ext cx="2238703" cy="1588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6200000" flipH="1">
              <a:off x="7223891" y="3215510"/>
              <a:ext cx="186559" cy="3941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6737131" y="2123090"/>
              <a:ext cx="1035269" cy="1588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4240924" y="2133600"/>
              <a:ext cx="1093076" cy="1588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16200000" flipH="1">
              <a:off x="7666640" y="2224909"/>
              <a:ext cx="186559" cy="3941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16200000" flipH="1">
              <a:off x="4165381" y="2214399"/>
              <a:ext cx="186559" cy="3941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 rot="5400000">
              <a:off x="4175234" y="2987567"/>
              <a:ext cx="183933" cy="1588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V="1">
              <a:off x="5257800" y="4340772"/>
              <a:ext cx="1216572" cy="1040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rot="16200000" flipH="1">
              <a:off x="5516617" y="5033141"/>
              <a:ext cx="1366345" cy="2627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rot="5400000">
              <a:off x="6211614" y="4600902"/>
              <a:ext cx="528147" cy="2629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rot="5400000">
              <a:off x="4272456" y="4871550"/>
              <a:ext cx="252248" cy="10506"/>
            </a:xfrm>
            <a:prstGeom prst="straightConnector1">
              <a:avLst/>
            </a:prstGeom>
            <a:ln w="28575">
              <a:solidFill>
                <a:srgbClr val="CCCC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flipV="1">
              <a:off x="3352800" y="2592388"/>
              <a:ext cx="457200" cy="3667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16200000" flipH="1">
              <a:off x="2501463" y="3442138"/>
              <a:ext cx="1707930" cy="5255"/>
            </a:xfrm>
            <a:prstGeom prst="line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3376449" y="4288220"/>
              <a:ext cx="228599" cy="1588"/>
            </a:xfrm>
            <a:prstGeom prst="straightConnector1">
              <a:avLst/>
            </a:prstGeom>
            <a:ln w="28575">
              <a:solidFill>
                <a:srgbClr val="CCCCFF"/>
              </a:solidFill>
            </a:ln>
            <a:effectLst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>
                <a:solidFill>
                  <a:srgbClr val="CCCCFF"/>
                </a:solidFill>
              </a:rPr>
              <a:t>Opioids: rational prescribing</a:t>
            </a:r>
            <a:endParaRPr lang="en-US" sz="4800" dirty="0">
              <a:solidFill>
                <a:srgbClr val="CCCC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EDF3DB"/>
                </a:solidFill>
              </a:rPr>
              <a:t>Help is on the way!</a:t>
            </a:r>
          </a:p>
          <a:p>
            <a:r>
              <a:rPr lang="en-US" sz="2400" dirty="0" smtClean="0">
                <a:solidFill>
                  <a:srgbClr val="EDF3DB"/>
                </a:solidFill>
              </a:rPr>
              <a:t>VA/</a:t>
            </a:r>
            <a:r>
              <a:rPr lang="en-US" sz="2400" dirty="0" err="1" smtClean="0">
                <a:solidFill>
                  <a:srgbClr val="EDF3DB"/>
                </a:solidFill>
              </a:rPr>
              <a:t>DoD</a:t>
            </a:r>
            <a:r>
              <a:rPr lang="en-US" sz="2400" dirty="0" smtClean="0">
                <a:solidFill>
                  <a:srgbClr val="EDF3DB"/>
                </a:solidFill>
              </a:rPr>
              <a:t> Clinical Practice Guidelines: Management of Opioid Therapy for Chronic Pain</a:t>
            </a:r>
          </a:p>
          <a:p>
            <a:pPr lvl="1"/>
            <a:r>
              <a:rPr lang="en-US" sz="1800" dirty="0" smtClean="0">
                <a:solidFill>
                  <a:srgbClr val="EDF3DB"/>
                </a:solidFill>
                <a:hlinkClick r:id="rId2"/>
              </a:rPr>
              <a:t>http://www.healthquality.va.gov/Chronic_Opioid_Therapy_COT.asp</a:t>
            </a:r>
            <a:endParaRPr lang="en-US" sz="1800" dirty="0" smtClean="0">
              <a:solidFill>
                <a:srgbClr val="EDF3DB"/>
              </a:solidFill>
            </a:endParaRPr>
          </a:p>
          <a:p>
            <a:pPr lvl="1">
              <a:buNone/>
            </a:pPr>
            <a:endParaRPr lang="en-US" dirty="0" smtClean="0">
              <a:solidFill>
                <a:srgbClr val="EDF3DB"/>
              </a:solidFill>
            </a:endParaRPr>
          </a:p>
          <a:p>
            <a:pPr marL="273050" lvl="1" indent="-273050">
              <a:buSzPct val="95000"/>
            </a:pPr>
            <a:r>
              <a:rPr lang="en-US" dirty="0" smtClean="0">
                <a:solidFill>
                  <a:srgbClr val="EDF3DB"/>
                </a:solidFill>
              </a:rPr>
              <a:t>VA National Pain Management Strategy Committee has almost completed National Opioid Pain Care Agreement Policy</a:t>
            </a:r>
          </a:p>
          <a:p>
            <a:pPr lvl="1"/>
            <a:r>
              <a:rPr lang="en-US" sz="2000" dirty="0" smtClean="0">
                <a:solidFill>
                  <a:srgbClr val="EDF3DB"/>
                </a:solidFill>
              </a:rPr>
              <a:t>Several years in development, extensive contribution from the field; final stages of final admin review and concurrence</a:t>
            </a:r>
          </a:p>
          <a:p>
            <a:pPr lvl="1"/>
            <a:r>
              <a:rPr lang="en-US" sz="2000" dirty="0" smtClean="0">
                <a:solidFill>
                  <a:srgbClr val="EDF3DB"/>
                </a:solidFill>
              </a:rPr>
              <a:t>Educational tool, risks/benefits, mutual expectations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solidFill>
                  <a:srgbClr val="FFC000"/>
                </a:solidFill>
                <a:latin typeface="Arial" charset="0"/>
                <a:cs typeface="Arial" charset="0"/>
              </a:rPr>
              <a:t>Primary Care Competencies</a:t>
            </a:r>
          </a:p>
        </p:txBody>
      </p:sp>
      <p:sp>
        <p:nvSpPr>
          <p:cNvPr id="15462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389437"/>
          </a:xfrm>
        </p:spPr>
        <p:txBody>
          <a:bodyPr/>
          <a:lstStyle/>
          <a:p>
            <a:pPr marL="528638" lvl="2" indent="-514350" eaLnBrk="1" hangingPunct="1">
              <a:lnSpc>
                <a:spcPct val="90000"/>
              </a:lnSpc>
              <a:buClr>
                <a:srgbClr val="CCCCFF"/>
              </a:buClr>
              <a:buNone/>
            </a:pPr>
            <a:r>
              <a:rPr lang="en-US" sz="2800" dirty="0" smtClean="0">
                <a:solidFill>
                  <a:srgbClr val="FFC000"/>
                </a:solidFill>
                <a:latin typeface="Arial" charset="0"/>
                <a:cs typeface="Arial" charset="0"/>
              </a:rPr>
              <a:t>Lecture #4: Practical advice on the longitudinal care of the patient  in the medical home, collaborative, biopsychosocial model of pain management. Dr. Mariano </a:t>
            </a:r>
          </a:p>
          <a:p>
            <a:pPr marL="528638" lvl="2" indent="-514350">
              <a:lnSpc>
                <a:spcPct val="90000"/>
              </a:lnSpc>
              <a:buClr>
                <a:srgbClr val="CCCCFF"/>
              </a:buClr>
              <a:buNone/>
            </a:pP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528638" lvl="2" indent="-514350">
              <a:lnSpc>
                <a:spcPct val="90000"/>
              </a:lnSpc>
              <a:buClr>
                <a:srgbClr val="CCCCFF"/>
              </a:buClr>
              <a:buSzPct val="95000"/>
              <a:buFont typeface="+mj-lt"/>
              <a:buAutoNum type="arabicParenR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Providing reassurance and validation</a:t>
            </a:r>
          </a:p>
          <a:p>
            <a:pPr marL="528638" lvl="2" indent="-514350">
              <a:lnSpc>
                <a:spcPct val="90000"/>
              </a:lnSpc>
              <a:buClr>
                <a:srgbClr val="CCCCFF"/>
              </a:buClr>
              <a:buSzPct val="95000"/>
              <a:buFont typeface="+mj-lt"/>
              <a:buAutoNum type="arabicParenR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Facilitating self-management </a:t>
            </a:r>
          </a:p>
          <a:p>
            <a:pPr marL="528638" lvl="2" indent="-514350">
              <a:lnSpc>
                <a:spcPct val="90000"/>
              </a:lnSpc>
              <a:buClr>
                <a:srgbClr val="CCCCFF"/>
              </a:buClr>
              <a:buSzPct val="95000"/>
              <a:buFont typeface="+mj-lt"/>
              <a:buAutoNum type="arabicParenR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Negotiating behaviorally specific and feasible goals</a:t>
            </a:r>
          </a:p>
          <a:p>
            <a:pPr marL="514350" lvl="2" indent="-514350">
              <a:buClr>
                <a:srgbClr val="CCCCFF"/>
              </a:buClr>
              <a:buSzPct val="95000"/>
              <a:buFont typeface="+mj-lt"/>
              <a:buAutoNum type="arabicParenR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Helping Veterans with psychiatric/behavioral </a:t>
            </a:r>
            <a:r>
              <a:rPr lang="en-US" sz="2800" dirty="0" err="1" smtClean="0">
                <a:solidFill>
                  <a:srgbClr val="EDF3DB"/>
                </a:solidFill>
                <a:latin typeface="Arial" charset="0"/>
                <a:cs typeface="Arial" charset="0"/>
              </a:rPr>
              <a:t>comorbidities</a:t>
            </a: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828800"/>
            <a:ext cx="8229600" cy="4781550"/>
          </a:xfrm>
        </p:spPr>
        <p:txBody>
          <a:bodyPr/>
          <a:lstStyle/>
          <a:p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smtClean="0">
                <a:solidFill>
                  <a:srgbClr val="FFC000"/>
                </a:solidFill>
              </a:rPr>
              <a:t>Provides concepts that integrate the process of care and specific techniques in the clinic to the interaction with the patient in the medical home</a:t>
            </a:r>
            <a:r>
              <a:rPr lang="en-US" sz="4800" dirty="0" smtClean="0">
                <a:solidFill>
                  <a:schemeClr val="bg1"/>
                </a:solidFill>
              </a:rPr>
              <a:t/>
            </a:r>
            <a:br>
              <a:rPr lang="en-US" sz="4800" dirty="0" smtClean="0">
                <a:solidFill>
                  <a:schemeClr val="bg1"/>
                </a:solidFill>
              </a:rPr>
            </a:br>
            <a:r>
              <a:rPr lang="en-US" sz="4800" dirty="0" smtClean="0">
                <a:solidFill>
                  <a:schemeClr val="bg1"/>
                </a:solidFill>
              </a:rPr>
              <a:t>…..to achieve a satisfied patient, a gratified provider, and a happy director!</a:t>
            </a:r>
            <a:endParaRPr lang="en-US" sz="48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>
                <a:solidFill>
                  <a:srgbClr val="CCCCFF"/>
                </a:solidFill>
              </a:rPr>
              <a:t>Disabling beliefs</a:t>
            </a:r>
            <a:endParaRPr lang="en-US" sz="4800" dirty="0">
              <a:solidFill>
                <a:srgbClr val="CCCCFF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EDF3DB"/>
                </a:solidFill>
              </a:rPr>
              <a:t>Shared by patients who are overwhelmed by pain and providers who find these people overwhelming:</a:t>
            </a:r>
          </a:p>
          <a:p>
            <a:pPr lvl="1"/>
            <a:r>
              <a:rPr lang="en-US" dirty="0" smtClean="0">
                <a:solidFill>
                  <a:srgbClr val="EDF3DB"/>
                </a:solidFill>
              </a:rPr>
              <a:t>Belief that objective evidence of disease/injury is required for pain to be “real”</a:t>
            </a:r>
          </a:p>
          <a:p>
            <a:pPr lvl="1"/>
            <a:r>
              <a:rPr lang="en-US" dirty="0" smtClean="0">
                <a:solidFill>
                  <a:srgbClr val="EDF3DB"/>
                </a:solidFill>
              </a:rPr>
              <a:t>View of pain as the only problem</a:t>
            </a:r>
          </a:p>
          <a:p>
            <a:pPr lvl="1"/>
            <a:r>
              <a:rPr lang="en-US" dirty="0" smtClean="0">
                <a:solidFill>
                  <a:srgbClr val="EDF3DB"/>
                </a:solidFill>
              </a:rPr>
              <a:t>Expectation that urgent pain relief is the major goal of treatment</a:t>
            </a:r>
          </a:p>
          <a:p>
            <a:pPr lvl="1"/>
            <a:r>
              <a:rPr lang="en-US" dirty="0" smtClean="0">
                <a:solidFill>
                  <a:srgbClr val="EDF3DB"/>
                </a:solidFill>
              </a:rPr>
              <a:t>Overconfidence in medical solutions </a:t>
            </a:r>
          </a:p>
          <a:p>
            <a:pPr lvl="1"/>
            <a:r>
              <a:rPr lang="en-US" dirty="0" smtClean="0">
                <a:solidFill>
                  <a:srgbClr val="EDF3DB"/>
                </a:solidFill>
              </a:rPr>
              <a:t>Provider is the “expert” responsible for outcomes</a:t>
            </a:r>
          </a:p>
          <a:p>
            <a:pPr lvl="1"/>
            <a:r>
              <a:rPr lang="en-US" dirty="0" smtClean="0">
                <a:solidFill>
                  <a:srgbClr val="EDF3DB"/>
                </a:solidFill>
              </a:rPr>
              <a:t>Pt. is helpless “victim” of underlying disease/injury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srgbClr val="EDF3DB"/>
                </a:solidFill>
              </a:rPr>
              <a:t>It is impossible to help complex pain patients if you share these beliefs</a:t>
            </a:r>
          </a:p>
          <a:p>
            <a:endParaRPr lang="en-US" sz="2800" dirty="0" smtClean="0">
              <a:solidFill>
                <a:srgbClr val="EDF3DB"/>
              </a:solidFill>
            </a:endParaRPr>
          </a:p>
          <a:p>
            <a:r>
              <a:rPr lang="en-US" sz="2800" dirty="0" smtClean="0">
                <a:solidFill>
                  <a:srgbClr val="EDF3DB"/>
                </a:solidFill>
              </a:rPr>
              <a:t>Your efforts to help by providing short-term solutions and urgent pain relief will likely make long-term problems worse</a:t>
            </a:r>
            <a:endParaRPr lang="en-US" sz="2800" dirty="0">
              <a:solidFill>
                <a:srgbClr val="EDF3D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CCCCFF"/>
                </a:solidFill>
              </a:rPr>
              <a:t>Iatrogenic cycle of complex </a:t>
            </a:r>
            <a:r>
              <a:rPr lang="en-US" sz="3600" dirty="0">
                <a:solidFill>
                  <a:srgbClr val="CCCCFF"/>
                </a:solidFill>
              </a:rPr>
              <a:t>chronic pain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259388" y="1752600"/>
            <a:ext cx="3884612" cy="5105400"/>
          </a:xfrm>
        </p:spPr>
        <p:txBody>
          <a:bodyPr/>
          <a:lstStyle/>
          <a:p>
            <a:pPr>
              <a:buSzPct val="100000"/>
              <a:buNone/>
            </a:pPr>
            <a:r>
              <a:rPr lang="en-US" sz="2800" b="1" dirty="0" smtClean="0">
                <a:solidFill>
                  <a:srgbClr val="EDF3DB"/>
                </a:solidFill>
              </a:rPr>
              <a:t>Hopeful phase</a:t>
            </a:r>
          </a:p>
          <a:p>
            <a:pPr>
              <a:buClr>
                <a:srgbClr val="CCCCFF"/>
              </a:buClr>
            </a:pPr>
            <a:r>
              <a:rPr lang="en-US" sz="2000" dirty="0" smtClean="0">
                <a:solidFill>
                  <a:srgbClr val="EDF3DB"/>
                </a:solidFill>
              </a:rPr>
              <a:t>Share disabling beliefs based on medical model</a:t>
            </a:r>
          </a:p>
          <a:p>
            <a:pPr lvl="1">
              <a:buClr>
                <a:srgbClr val="CCCCFF"/>
              </a:buClr>
              <a:buSzPct val="95000"/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EDF3DB"/>
                </a:solidFill>
              </a:rPr>
              <a:t>Pain is only problem</a:t>
            </a:r>
          </a:p>
          <a:p>
            <a:pPr lvl="1">
              <a:buClr>
                <a:srgbClr val="CCCCFF"/>
              </a:buClr>
              <a:buSzPct val="95000"/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EDF3DB"/>
                </a:solidFill>
              </a:rPr>
              <a:t>Goal: urgent pain relief</a:t>
            </a:r>
          </a:p>
          <a:p>
            <a:pPr lvl="1">
              <a:buClr>
                <a:srgbClr val="CCCCFF"/>
              </a:buClr>
              <a:buSzPct val="95000"/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EDF3DB"/>
                </a:solidFill>
              </a:rPr>
              <a:t>Medical solutions are  possible if pain is “real”</a:t>
            </a:r>
          </a:p>
          <a:p>
            <a:pPr>
              <a:buClr>
                <a:schemeClr val="accent1"/>
              </a:buClr>
              <a:buSzPct val="100000"/>
              <a:buNone/>
            </a:pPr>
            <a:r>
              <a:rPr lang="en-US" sz="2800" b="1" dirty="0" smtClean="0">
                <a:solidFill>
                  <a:srgbClr val="EDF3DB"/>
                </a:solidFill>
              </a:rPr>
              <a:t>Doubtful phase</a:t>
            </a:r>
          </a:p>
          <a:p>
            <a:pPr>
              <a:buClr>
                <a:srgbClr val="CCCCFF"/>
              </a:buClr>
            </a:pPr>
            <a:r>
              <a:rPr lang="en-US" sz="2000" dirty="0" smtClean="0">
                <a:solidFill>
                  <a:srgbClr val="EDF3DB"/>
                </a:solidFill>
              </a:rPr>
              <a:t>Standard treatments fail</a:t>
            </a:r>
          </a:p>
          <a:p>
            <a:pPr>
              <a:buClr>
                <a:srgbClr val="CCCCFF"/>
              </a:buClr>
            </a:pPr>
            <a:r>
              <a:rPr lang="en-US" sz="2000" dirty="0" smtClean="0">
                <a:solidFill>
                  <a:srgbClr val="EDF3DB"/>
                </a:solidFill>
              </a:rPr>
              <a:t>Increased demands in pursuit of validation and relief</a:t>
            </a:r>
          </a:p>
          <a:p>
            <a:pPr>
              <a:buClr>
                <a:srgbClr val="CCCCFF"/>
              </a:buClr>
            </a:pPr>
            <a:r>
              <a:rPr lang="en-US" sz="2000" dirty="0" smtClean="0">
                <a:solidFill>
                  <a:srgbClr val="EDF3DB"/>
                </a:solidFill>
              </a:rPr>
              <a:t>Repeat and escalate</a:t>
            </a:r>
            <a:endParaRPr lang="en-US" sz="2000" dirty="0">
              <a:solidFill>
                <a:srgbClr val="EDF3DB"/>
              </a:solidFill>
            </a:endParaRPr>
          </a:p>
        </p:txBody>
      </p:sp>
      <p:pic>
        <p:nvPicPr>
          <p:cNvPr id="37892" name="Picture 4" descr="Female doctor speaking to male patient.&#10;The Cycle of Pain: Severe Chronic Pain, Tational Treatment, Non Rational Treatment, Mutual Frustration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 l="17250" t="3903" r="18750" b="11708"/>
          <a:stretch>
            <a:fillRect/>
          </a:stretch>
        </p:blipFill>
        <p:spPr>
          <a:xfrm>
            <a:off x="533400" y="1752600"/>
            <a:ext cx="4573588" cy="417195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CCCCFF"/>
                </a:solidFill>
              </a:rPr>
              <a:t>Iatrogenic cycle of complex </a:t>
            </a:r>
            <a:r>
              <a:rPr lang="en-US" sz="3600" dirty="0">
                <a:solidFill>
                  <a:srgbClr val="CCCCFF"/>
                </a:solidFill>
              </a:rPr>
              <a:t>chronic pain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259388" y="1752600"/>
            <a:ext cx="3884612" cy="4800600"/>
          </a:xfrm>
        </p:spPr>
        <p:txBody>
          <a:bodyPr/>
          <a:lstStyle/>
          <a:p>
            <a:pPr>
              <a:buSzPct val="100000"/>
              <a:buNone/>
            </a:pPr>
            <a:r>
              <a:rPr lang="en-US" sz="2800" b="1" dirty="0" smtClean="0">
                <a:solidFill>
                  <a:srgbClr val="EDF3DB"/>
                </a:solidFill>
              </a:rPr>
              <a:t>Hopeless Phase</a:t>
            </a:r>
          </a:p>
          <a:p>
            <a:pPr>
              <a:lnSpc>
                <a:spcPct val="90000"/>
              </a:lnSpc>
              <a:buClr>
                <a:srgbClr val="CCCCFF"/>
              </a:buClr>
            </a:pPr>
            <a:r>
              <a:rPr lang="en-US" sz="3000" dirty="0" smtClean="0">
                <a:solidFill>
                  <a:srgbClr val="EDF3DB"/>
                </a:solidFill>
              </a:rPr>
              <a:t> </a:t>
            </a:r>
            <a:r>
              <a:rPr lang="en-US" sz="2400" dirty="0" smtClean="0">
                <a:solidFill>
                  <a:srgbClr val="EDF3DB"/>
                </a:solidFill>
              </a:rPr>
              <a:t>“gives in”: </a:t>
            </a:r>
          </a:p>
          <a:p>
            <a:pPr lvl="1">
              <a:lnSpc>
                <a:spcPct val="90000"/>
              </a:lnSpc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rgbClr val="EDF3DB"/>
                </a:solidFill>
              </a:rPr>
              <a:t>non-rational treatment</a:t>
            </a:r>
          </a:p>
          <a:p>
            <a:pPr lvl="1">
              <a:lnSpc>
                <a:spcPct val="90000"/>
              </a:lnSpc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rgbClr val="EDF3DB"/>
                </a:solidFill>
              </a:rPr>
              <a:t>reinforce beliefs in medical solutions</a:t>
            </a:r>
          </a:p>
          <a:p>
            <a:pPr lvl="1">
              <a:lnSpc>
                <a:spcPct val="90000"/>
              </a:lnSpc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rgbClr val="EDF3DB"/>
                </a:solidFill>
              </a:rPr>
              <a:t>excessive risk</a:t>
            </a:r>
          </a:p>
          <a:p>
            <a:pPr>
              <a:lnSpc>
                <a:spcPct val="90000"/>
              </a:lnSpc>
              <a:buClr>
                <a:srgbClr val="CCCCFF"/>
              </a:buClr>
            </a:pPr>
            <a:r>
              <a:rPr lang="en-US" sz="2400" dirty="0" smtClean="0">
                <a:solidFill>
                  <a:srgbClr val="EDF3DB"/>
                </a:solidFill>
              </a:rPr>
              <a:t>“gives up”:</a:t>
            </a:r>
          </a:p>
          <a:p>
            <a:pPr lvl="1">
              <a:lnSpc>
                <a:spcPct val="90000"/>
              </a:lnSpc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rgbClr val="EDF3DB"/>
                </a:solidFill>
              </a:rPr>
              <a:t>nothing to offer </a:t>
            </a:r>
          </a:p>
          <a:p>
            <a:pPr lvl="1">
              <a:lnSpc>
                <a:spcPct val="90000"/>
              </a:lnSpc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rgbClr val="EDF3DB"/>
                </a:solidFill>
              </a:rPr>
              <a:t>reject patient</a:t>
            </a:r>
          </a:p>
          <a:p>
            <a:pPr lvl="1">
              <a:lnSpc>
                <a:spcPct val="90000"/>
              </a:lnSpc>
              <a:buClr>
                <a:srgbClr val="CCCCFF"/>
              </a:buClr>
              <a:buSzPct val="95000"/>
            </a:pPr>
            <a:r>
              <a:rPr lang="en-US" dirty="0" smtClean="0">
                <a:solidFill>
                  <a:srgbClr val="EDF3DB"/>
                </a:solidFill>
              </a:rPr>
              <a:t>another negative experience</a:t>
            </a:r>
            <a:endParaRPr lang="en-US" dirty="0">
              <a:solidFill>
                <a:srgbClr val="EDF3DB"/>
              </a:solidFill>
            </a:endParaRPr>
          </a:p>
        </p:txBody>
      </p:sp>
      <p:pic>
        <p:nvPicPr>
          <p:cNvPr id="37892" name="Picture 4" descr="Female doctor speaking to male patient.&#10;The Cycle of Pain: Severe Chronic Pain, Tational Treatment, Non Rational Treatment, Mutual Frustration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 l="17250" t="3903" r="18750" b="11708"/>
          <a:stretch>
            <a:fillRect/>
          </a:stretch>
        </p:blipFill>
        <p:spPr>
          <a:xfrm>
            <a:off x="533400" y="1752600"/>
            <a:ext cx="4573588" cy="4171950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914400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rgbClr val="CCCCFF"/>
                </a:solidFill>
              </a:rPr>
              <a:t>Collaborative self-management</a:t>
            </a:r>
          </a:p>
        </p:txBody>
      </p:sp>
      <p:pic>
        <p:nvPicPr>
          <p:cNvPr id="563203" name="Picture 3" descr="VEMA Model showing: validation (much of our struggle with patients relates to our communication of doubt), education (the basis of effective, long-term care is a shared understanding of chronic pain), motivation (patients vary in their willingness to engage in self-management), and activation (the primary clinical focus is on changing the way patients react to pain)."/>
          <p:cNvPicPr>
            <a:picLocks noChangeAspect="1" noChangeArrowheads="1"/>
          </p:cNvPicPr>
          <p:nvPr/>
        </p:nvPicPr>
        <p:blipFill>
          <a:blip r:embed="rId2" cstate="print"/>
          <a:srcRect l="32249" t="5203" r="17999" b="14310"/>
          <a:stretch>
            <a:fillRect/>
          </a:stretch>
        </p:blipFill>
        <p:spPr bwMode="auto">
          <a:xfrm>
            <a:off x="1447800" y="1312862"/>
            <a:ext cx="5943600" cy="554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>
                <a:solidFill>
                  <a:srgbClr val="CCCCFF"/>
                </a:solidFill>
              </a:rPr>
              <a:t>VEMA: Validation</a:t>
            </a:r>
            <a:endParaRPr lang="en-US" sz="3200" dirty="0">
              <a:solidFill>
                <a:srgbClr val="CCCC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>
              <a:spcBef>
                <a:spcPts val="672"/>
              </a:spcBef>
              <a:buClr>
                <a:srgbClr val="CCCCFF"/>
              </a:buClr>
            </a:pPr>
            <a:r>
              <a:rPr lang="en-US" sz="2800" dirty="0" smtClean="0">
                <a:solidFill>
                  <a:srgbClr val="EDF3DB"/>
                </a:solidFill>
              </a:rPr>
              <a:t>From the first interview, it is important to communicate that you believe the patient has a “real” problem</a:t>
            </a:r>
          </a:p>
          <a:p>
            <a:pPr marL="641033" lvl="1" indent="-274320">
              <a:spcBef>
                <a:spcPts val="672"/>
              </a:spcBef>
              <a:buClr>
                <a:srgbClr val="CCCCFF"/>
              </a:buClr>
            </a:pPr>
            <a:r>
              <a:rPr lang="en-US" dirty="0" smtClean="0">
                <a:solidFill>
                  <a:srgbClr val="EDF3DB"/>
                </a:solidFill>
              </a:rPr>
              <a:t>Quality care begins with the pt. feeling believed</a:t>
            </a:r>
          </a:p>
          <a:p>
            <a:pPr marL="274320" indent="-274320">
              <a:spcBef>
                <a:spcPts val="672"/>
              </a:spcBef>
              <a:buClr>
                <a:srgbClr val="CCCCFF"/>
              </a:buClr>
            </a:pPr>
            <a:r>
              <a:rPr lang="en-US" sz="2800" dirty="0" smtClean="0">
                <a:solidFill>
                  <a:srgbClr val="EDF3DB"/>
                </a:solidFill>
              </a:rPr>
              <a:t>Provide reassurance by</a:t>
            </a:r>
          </a:p>
          <a:p>
            <a:pPr marL="641033" lvl="1" indent="-274320">
              <a:spcBef>
                <a:spcPts val="672"/>
              </a:spcBef>
              <a:buClr>
                <a:srgbClr val="CCCCFF"/>
              </a:buClr>
            </a:pPr>
            <a:r>
              <a:rPr lang="en-US" dirty="0" smtClean="0">
                <a:solidFill>
                  <a:srgbClr val="EDF3DB"/>
                </a:solidFill>
              </a:rPr>
              <a:t>Educating them about the limits of objective tests</a:t>
            </a:r>
          </a:p>
          <a:p>
            <a:pPr marL="641033" lvl="1" indent="-274320">
              <a:spcBef>
                <a:spcPts val="672"/>
              </a:spcBef>
              <a:buClr>
                <a:srgbClr val="CCCCFF"/>
              </a:buClr>
            </a:pPr>
            <a:r>
              <a:rPr lang="en-US" dirty="0" smtClean="0">
                <a:solidFill>
                  <a:srgbClr val="EDF3DB"/>
                </a:solidFill>
              </a:rPr>
              <a:t>Informing them that many patients have significant pain and no objective findings (normalize)</a:t>
            </a:r>
          </a:p>
          <a:p>
            <a:pPr marL="641033" lvl="1" indent="-274320">
              <a:spcBef>
                <a:spcPts val="672"/>
              </a:spcBef>
              <a:buClr>
                <a:srgbClr val="CCCCFF"/>
              </a:buClr>
            </a:pPr>
            <a:r>
              <a:rPr lang="en-US" dirty="0" smtClean="0">
                <a:solidFill>
                  <a:srgbClr val="EDF3DB"/>
                </a:solidFill>
              </a:rPr>
              <a:t>Acknowledging their frustration with past medical efforts to evaluate and treat their 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>
                <a:solidFill>
                  <a:srgbClr val="CCCCFF"/>
                </a:solidFill>
              </a:rPr>
              <a:t>Avoid “hot” phrases</a:t>
            </a:r>
            <a:endParaRPr lang="en-US" sz="4800" dirty="0">
              <a:solidFill>
                <a:srgbClr val="CCCCFF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301240"/>
          <a:ext cx="8229600" cy="3032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There’s nothing wrong with you.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We can’t measure pain with tests.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You shouldn’t have this much pain.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Stress “turns up</a:t>
                      </a:r>
                      <a:r>
                        <a:rPr lang="en-US" baseline="0" dirty="0" smtClean="0"/>
                        <a:t> the volume” of everyone’s pain.</a:t>
                      </a:r>
                      <a:endParaRPr lang="en-US" dirty="0"/>
                    </a:p>
                  </a:txBody>
                  <a:tcPr/>
                </a:tc>
              </a:tr>
              <a:tr h="635317">
                <a:tc>
                  <a:txBody>
                    <a:bodyPr/>
                    <a:lstStyle/>
                    <a:p>
                      <a:r>
                        <a:rPr lang="en-US" dirty="0" smtClean="0"/>
                        <a:t>Accept your pain.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Expect</a:t>
                      </a:r>
                      <a:r>
                        <a:rPr lang="en-US" baseline="0" dirty="0" smtClean="0"/>
                        <a:t> pain to be a small part of your life and it won’t be a large part.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You’ll</a:t>
                      </a:r>
                      <a:r>
                        <a:rPr lang="en-US" baseline="0" dirty="0" smtClean="0"/>
                        <a:t> have to live with the pain.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 want to help you live better with pain.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Nothing can be done.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“No medical solutions” does not mean no solutions.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“Degenerative”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>
                <a:solidFill>
                  <a:srgbClr val="CCCCFF"/>
                </a:solidFill>
              </a:rPr>
              <a:t>Conclusions</a:t>
            </a:r>
            <a:endParaRPr lang="en-US" sz="4800" dirty="0">
              <a:solidFill>
                <a:srgbClr val="CCCCFF"/>
              </a:solidFill>
            </a:endParaRPr>
          </a:p>
        </p:txBody>
      </p:sp>
      <p:sp>
        <p:nvSpPr>
          <p:cNvPr id="6113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>
            <a:normAutofit/>
          </a:bodyPr>
          <a:lstStyle/>
          <a:p>
            <a:pPr marL="274320" indent="-274320"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The aggressive pursuit of urgent pain relief is harmful to complex pain patients and excessively costly to the health care system</a:t>
            </a:r>
          </a:p>
          <a:p>
            <a:pPr marL="274320" indent="-274320">
              <a:buFont typeface="Wingdings 2" pitchFamily="18" charset="2"/>
              <a:buChar char=""/>
            </a:pPr>
            <a:endParaRPr lang="en-US" sz="2800" dirty="0" smtClean="0">
              <a:solidFill>
                <a:srgbClr val="EDF3DB"/>
              </a:solidFill>
              <a:latin typeface="Arial" charset="0"/>
              <a:cs typeface="Arial" charset="0"/>
            </a:endParaRPr>
          </a:p>
          <a:p>
            <a:pPr marL="274320" indent="-274320">
              <a:buFont typeface="Wingdings 2" pitchFamily="18" charset="2"/>
              <a:buChar char=""/>
            </a:pPr>
            <a:r>
              <a:rPr lang="en-US" sz="2800" dirty="0" smtClean="0">
                <a:solidFill>
                  <a:srgbClr val="EDF3DB"/>
                </a:solidFill>
                <a:latin typeface="Arial" charset="0"/>
                <a:cs typeface="Arial" charset="0"/>
              </a:rPr>
              <a:t>Our most “difficult” patients require better care, not more invasive, experimental and expensive treatment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0"/>
            <a:ext cx="8305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THANK YOU FOR LISTENING! 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QUESTIONS AND DISCUSSION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ST_ACTIVE_THIS_SESSION" val="NO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rgbClr val="073763"/>
      </a:dk1>
      <a:lt1>
        <a:sysClr val="window" lastClr="FFFFFF"/>
      </a:lt1>
      <a:dk2>
        <a:srgbClr val="003760"/>
      </a:dk2>
      <a:lt2>
        <a:srgbClr val="073763"/>
      </a:lt2>
      <a:accent1>
        <a:srgbClr val="0F6FC6"/>
      </a:accent1>
      <a:accent2>
        <a:srgbClr val="0070C0"/>
      </a:accent2>
      <a:accent3>
        <a:srgbClr val="0070C0"/>
      </a:accent3>
      <a:accent4>
        <a:srgbClr val="0070C0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8534</TotalTime>
  <Words>2049</Words>
  <Application>Microsoft Office PowerPoint</Application>
  <PresentationFormat>On-screen Show (4:3)</PresentationFormat>
  <Paragraphs>474</Paragraphs>
  <Slides>47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Flow</vt:lpstr>
      <vt:lpstr>THE BEGINNING OEF-OIF Trauma and Axial Load Injuries</vt:lpstr>
      <vt:lpstr>WHY PAIN?</vt:lpstr>
      <vt:lpstr>Stepped Integrated Pain Care in the VHA:  Meeting the Needs of Our Veteran Population</vt:lpstr>
      <vt:lpstr>Slide 4</vt:lpstr>
      <vt:lpstr> Provides: Concepts that integrate the process of care to the interaction with and management of the patient in the medical home model and ties them to core competencies.</vt:lpstr>
      <vt:lpstr>      Provides: Practical tips on history taking, physical examination and clinical decision-making and ties them to core competencies:      - Anchored in illustrated  pathophysiology, epidemiology      - Case examples   </vt:lpstr>
      <vt:lpstr>Learning Objectives</vt:lpstr>
      <vt:lpstr>Overview</vt:lpstr>
      <vt:lpstr>VA Stepped Pain Care (VHA Directive 2009-053)</vt:lpstr>
      <vt:lpstr>Medical Home Principles 1</vt:lpstr>
      <vt:lpstr>Primary Care Competencies</vt:lpstr>
      <vt:lpstr>Primary Care Competencies</vt:lpstr>
      <vt:lpstr>Learning Objectives</vt:lpstr>
      <vt:lpstr>Adapted from Woolf &amp; Mannion, Lancet 1999 Attal &amp; Bouhassira, Acta Neurol Scand 1999</vt:lpstr>
      <vt:lpstr>Expectation of Pain Activates  the Anterior Cingular Gyrus</vt:lpstr>
      <vt:lpstr>The Cycles of Pain: Acute Pain to Chronic Pain Disease</vt:lpstr>
      <vt:lpstr>Typical Case: Not Polytrauma</vt:lpstr>
      <vt:lpstr>Low Back Pain Assessment</vt:lpstr>
      <vt:lpstr>Low Back Pain Assessment</vt:lpstr>
      <vt:lpstr>Low Back Pain Assessment (cont’d)</vt:lpstr>
      <vt:lpstr>Differential Diagnosis</vt:lpstr>
      <vt:lpstr>Facet Joint</vt:lpstr>
      <vt:lpstr>Radiculopathy</vt:lpstr>
      <vt:lpstr>Low Back Examination</vt:lpstr>
      <vt:lpstr>      Practical tips on formulation, goal-oriented management planning, and clinical decision-making:      - Tips on developing a collaborative  model with patient    - Specific, office-based interventions  such  as PT     - Medication guidelines and use of  opioid analgesics   </vt:lpstr>
      <vt:lpstr>Collaborative Self-management</vt:lpstr>
      <vt:lpstr>Therapy for Nonspecific  Acute (0 - 4 weeks) Low Back Pain</vt:lpstr>
      <vt:lpstr>Things “Not to Do” for  Acute (0 - 4 weeks) Low Back Pain</vt:lpstr>
      <vt:lpstr>Pain Management Options Based on Biopsychosocial Model</vt:lpstr>
      <vt:lpstr>What physical therapy?</vt:lpstr>
      <vt:lpstr>Mc Kenzie Extensions</vt:lpstr>
      <vt:lpstr>Q (quality): Recognizing Neuropathic Pain</vt:lpstr>
      <vt:lpstr>R (Radiating and pattern): Pain Drawing &amp; Neuropathy Types</vt:lpstr>
      <vt:lpstr>Differential Diagnosis of Pattern</vt:lpstr>
      <vt:lpstr>Algorithm for Medication Selection in Chronic Pain with and without Co-Morbid Depression</vt:lpstr>
      <vt:lpstr>Opioids: rational prescribing</vt:lpstr>
      <vt:lpstr>Primary Care Competencies</vt:lpstr>
      <vt:lpstr> Provides concepts that integrate the process of care and specific techniques in the clinic to the interaction with the patient in the medical home …..to achieve a satisfied patient, a gratified provider, and a happy director!</vt:lpstr>
      <vt:lpstr>Disabling beliefs</vt:lpstr>
      <vt:lpstr>Slide 40</vt:lpstr>
      <vt:lpstr>Iatrogenic cycle of complex chronic pain</vt:lpstr>
      <vt:lpstr>Iatrogenic cycle of complex chronic pain</vt:lpstr>
      <vt:lpstr>Collaborative self-management</vt:lpstr>
      <vt:lpstr>VEMA: Validation</vt:lpstr>
      <vt:lpstr>Avoid “hot” phrases</vt:lpstr>
      <vt:lpstr>Conclusions</vt:lpstr>
      <vt:lpstr>THANK YOU FOR LISTENING!   QUESTIONS AND DISCUSSION</vt:lpstr>
    </vt:vector>
  </TitlesOfParts>
  <Company>Professional Solutions, LLC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Depression and Anxiety in Primary Care</dc:title>
  <dc:subject>VA Mental Health</dc:subject>
  <dc:creator>Department of  Veterans Affairs</dc:creator>
  <cp:keywords>evaluation, depression, anxiety, suicidal, diagnose, risk, Arlinghaus, Jennifer Patterson, modalities, triage, treatment</cp:keywords>
  <cp:lastModifiedBy>VHATAMMurphJ1</cp:lastModifiedBy>
  <cp:revision>1474</cp:revision>
  <dcterms:created xsi:type="dcterms:W3CDTF">2010-01-07T21:33:03Z</dcterms:created>
  <dcterms:modified xsi:type="dcterms:W3CDTF">2011-06-15T13:11:13Z</dcterms:modified>
  <cp:category>EES Presentation</cp:category>
  <cp:contentStatus>Final</cp:contentStatus>
</cp:coreProperties>
</file>