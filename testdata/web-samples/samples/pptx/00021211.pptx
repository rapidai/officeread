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Layouts/slideLayout3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drawings/drawing2.xml" ContentType="application/vnd.openxmlformats-officedocument.drawingml.chartshape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charts/chart3.xml" ContentType="application/vnd.openxmlformats-officedocument.drawingml.chart+xml"/>
  <Override PartName="/ppt/notesSlides/notesSlide7.xml" ContentType="application/vnd.openxmlformats-officedocument.presentationml.notesSlide+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charts/chart1.xml" ContentType="application/vnd.openxmlformats-officedocument.drawingml.char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drawings/drawing1.xml" ContentType="application/vnd.openxmlformats-officedocument.drawingml.chartshape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Masters/slideMaster5.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Default Extension="wmf" ContentType="image/x-wmf"/>
  <Default Extension="rels" ContentType="application/vnd.openxmlformats-package.relationships+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84" r:id="rId3"/>
    <p:sldMasterId id="2147483775" r:id="rId4"/>
    <p:sldMasterId id="2147483729" r:id="rId5"/>
  </p:sldMasterIdLst>
  <p:notesMasterIdLst>
    <p:notesMasterId r:id="rId39"/>
  </p:notesMasterIdLst>
  <p:sldIdLst>
    <p:sldId id="269" r:id="rId6"/>
    <p:sldId id="270" r:id="rId7"/>
    <p:sldId id="271" r:id="rId8"/>
    <p:sldId id="287" r:id="rId9"/>
    <p:sldId id="288" r:id="rId10"/>
    <p:sldId id="272" r:id="rId11"/>
    <p:sldId id="273" r:id="rId12"/>
    <p:sldId id="257" r:id="rId13"/>
    <p:sldId id="274" r:id="rId14"/>
    <p:sldId id="256" r:id="rId15"/>
    <p:sldId id="289" r:id="rId16"/>
    <p:sldId id="260" r:id="rId17"/>
    <p:sldId id="266" r:id="rId18"/>
    <p:sldId id="290" r:id="rId19"/>
    <p:sldId id="291" r:id="rId20"/>
    <p:sldId id="268" r:id="rId21"/>
    <p:sldId id="261" r:id="rId22"/>
    <p:sldId id="267" r:id="rId23"/>
    <p:sldId id="262" r:id="rId24"/>
    <p:sldId id="263" r:id="rId25"/>
    <p:sldId id="280" r:id="rId26"/>
    <p:sldId id="282" r:id="rId27"/>
    <p:sldId id="276" r:id="rId28"/>
    <p:sldId id="265" r:id="rId29"/>
    <p:sldId id="283" r:id="rId30"/>
    <p:sldId id="277" r:id="rId31"/>
    <p:sldId id="278" r:id="rId32"/>
    <p:sldId id="296" r:id="rId33"/>
    <p:sldId id="298" r:id="rId34"/>
    <p:sldId id="285" r:id="rId35"/>
    <p:sldId id="284" r:id="rId36"/>
    <p:sldId id="286" r:id="rId37"/>
    <p:sldId id="292" r:id="rId3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4" autoAdjust="0"/>
    <p:restoredTop sz="94660"/>
  </p:normalViewPr>
  <p:slideViewPr>
    <p:cSldViewPr>
      <p:cViewPr varScale="1">
        <p:scale>
          <a:sx n="82" d="100"/>
          <a:sy n="82" d="100"/>
        </p:scale>
        <p:origin x="-90" y="-4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834"/>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ehaider\AppData\Local\Microsoft\Windows\Temporary%20Internet%20Files\Content.IE5\CW8KS1DJ\March1st%5b1%5d.csv"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Book1"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Primary</a:t>
            </a:r>
            <a:r>
              <a:rPr lang="en-US" baseline="0"/>
              <a:t> School Enrollment for Selected Countries</a:t>
            </a:r>
            <a:endParaRPr lang="en-US"/>
          </a:p>
        </c:rich>
      </c:tx>
      <c:layout/>
    </c:title>
    <c:plotArea>
      <c:layout/>
      <c:scatterChart>
        <c:scatterStyle val="lineMarker"/>
        <c:ser>
          <c:idx val="0"/>
          <c:order val="0"/>
          <c:tx>
            <c:strRef>
              <c:f>'March1st(1)'!$C$1</c:f>
              <c:strCache>
                <c:ptCount val="1"/>
                <c:pt idx="0">
                  <c:v>School enrollment, primary (% net)</c:v>
                </c:pt>
              </c:strCache>
            </c:strRef>
          </c:tx>
          <c:spPr>
            <a:ln w="28575">
              <a:noFill/>
            </a:ln>
          </c:spPr>
          <c:dLbls>
            <c:dLbl>
              <c:idx val="0"/>
              <c:layout>
                <c:manualLayout>
                  <c:x val="-0.13968253968253969"/>
                  <c:y val="-3.3802816901408454E-2"/>
                </c:manualLayout>
              </c:layout>
              <c:tx>
                <c:rich>
                  <a:bodyPr/>
                  <a:lstStyle/>
                  <a:p>
                    <a:pPr marL="0" marR="0" indent="0" algn="ctr" defTabSz="914400" rtl="0" eaLnBrk="1" fontAlgn="auto" latinLnBrk="0" hangingPunct="1">
                      <a:lnSpc>
                        <a:spcPct val="100000"/>
                      </a:lnSpc>
                      <a:spcBef>
                        <a:spcPts val="0"/>
                      </a:spcBef>
                      <a:spcAft>
                        <a:spcPts val="0"/>
                      </a:spcAft>
                      <a:buClrTx/>
                      <a:buSzTx/>
                      <a:buFontTx/>
                      <a:buNone/>
                      <a:tabLst/>
                      <a:defRPr sz="1400" b="0" i="0" u="none" strike="noStrike" kern="1200" baseline="0">
                        <a:solidFill>
                          <a:sysClr val="windowText" lastClr="000000"/>
                        </a:solidFill>
                        <a:latin typeface="+mn-lt"/>
                        <a:ea typeface="+mn-ea"/>
                        <a:cs typeface="+mn-cs"/>
                      </a:defRPr>
                    </a:pPr>
                    <a:r>
                      <a:rPr lang="en-US" sz="1400" b="0" i="0" baseline="0"/>
                      <a:t>Haiti (1,088)</a:t>
                    </a:r>
                    <a:endParaRPr lang="en-US" sz="1400"/>
                  </a:p>
                </c:rich>
              </c:tx>
              <c:spPr/>
              <c:showVal val="1"/>
            </c:dLbl>
            <c:dLbl>
              <c:idx val="1"/>
              <c:layout>
                <c:manualLayout>
                  <c:x val="-3.1746031746031746E-3"/>
                  <c:y val="-1.1267605633802861E-2"/>
                </c:manualLayout>
              </c:layout>
              <c:tx>
                <c:rich>
                  <a:bodyPr/>
                  <a:lstStyle/>
                  <a:p>
                    <a:pPr marL="0" marR="0" indent="0" algn="ctr" defTabSz="914400" rtl="0" eaLnBrk="1" fontAlgn="auto" latinLnBrk="0" hangingPunct="1">
                      <a:lnSpc>
                        <a:spcPct val="100000"/>
                      </a:lnSpc>
                      <a:spcBef>
                        <a:spcPts val="0"/>
                      </a:spcBef>
                      <a:spcAft>
                        <a:spcPts val="0"/>
                      </a:spcAft>
                      <a:buClrTx/>
                      <a:buSzTx/>
                      <a:buFontTx/>
                      <a:buNone/>
                      <a:tabLst/>
                      <a:defRPr sz="1400" b="0" i="0" u="none" strike="noStrike" kern="1200" baseline="0">
                        <a:solidFill>
                          <a:sysClr val="windowText" lastClr="000000"/>
                        </a:solidFill>
                        <a:latin typeface="+mn-lt"/>
                        <a:ea typeface="+mn-ea"/>
                        <a:cs typeface="+mn-cs"/>
                      </a:defRPr>
                    </a:pPr>
                    <a:r>
                      <a:rPr lang="en-US" sz="1400" b="0" i="0" baseline="0"/>
                      <a:t>Kenya (1,470)</a:t>
                    </a:r>
                    <a:endParaRPr lang="en-US" sz="1400"/>
                  </a:p>
                </c:rich>
              </c:tx>
              <c:spPr/>
              <c:showVal val="1"/>
            </c:dLbl>
            <c:dLbl>
              <c:idx val="2"/>
              <c:layout>
                <c:manualLayout>
                  <c:x val="-2.2222222222222275E-2"/>
                  <c:y val="4.8826291079812387E-2"/>
                </c:manualLayout>
              </c:layout>
              <c:tx>
                <c:rich>
                  <a:bodyPr/>
                  <a:lstStyle/>
                  <a:p>
                    <a:pPr marL="0" marR="0" indent="0" algn="ctr" defTabSz="914400" rtl="0" eaLnBrk="1" fontAlgn="auto" latinLnBrk="0" hangingPunct="1">
                      <a:lnSpc>
                        <a:spcPct val="100000"/>
                      </a:lnSpc>
                      <a:spcBef>
                        <a:spcPts val="0"/>
                      </a:spcBef>
                      <a:spcAft>
                        <a:spcPts val="0"/>
                      </a:spcAft>
                      <a:buClrTx/>
                      <a:buSzTx/>
                      <a:buFontTx/>
                      <a:buNone/>
                      <a:tabLst/>
                      <a:defRPr sz="1400" b="0" i="0" u="none" strike="noStrike" kern="1200" baseline="0">
                        <a:solidFill>
                          <a:sysClr val="windowText" lastClr="000000"/>
                        </a:solidFill>
                        <a:latin typeface="+mn-lt"/>
                        <a:ea typeface="+mn-ea"/>
                        <a:cs typeface="+mn-cs"/>
                      </a:defRPr>
                    </a:pPr>
                    <a:r>
                      <a:rPr lang="en-US" sz="1400" b="0" i="0" baseline="0"/>
                      <a:t>Nigeria (1,924)</a:t>
                    </a:r>
                    <a:endParaRPr lang="en-US" sz="1400"/>
                  </a:p>
                </c:rich>
              </c:tx>
              <c:spPr/>
              <c:showVal val="1"/>
            </c:dLbl>
            <c:dLbl>
              <c:idx val="3"/>
              <c:layout/>
              <c:tx>
                <c:rich>
                  <a:bodyPr/>
                  <a:lstStyle/>
                  <a:p>
                    <a:pPr marL="0" marR="0" indent="0" algn="ctr" defTabSz="914400" rtl="0" eaLnBrk="1" fontAlgn="auto" latinLnBrk="0" hangingPunct="1">
                      <a:lnSpc>
                        <a:spcPct val="100000"/>
                      </a:lnSpc>
                      <a:spcBef>
                        <a:spcPts val="0"/>
                      </a:spcBef>
                      <a:spcAft>
                        <a:spcPts val="0"/>
                      </a:spcAft>
                      <a:buClrTx/>
                      <a:buSzTx/>
                      <a:buFontTx/>
                      <a:buNone/>
                      <a:tabLst/>
                      <a:defRPr sz="1400" b="0" i="0" u="none" strike="noStrike" kern="1200" baseline="0">
                        <a:solidFill>
                          <a:sysClr val="windowText" lastClr="000000"/>
                        </a:solidFill>
                        <a:latin typeface="+mn-lt"/>
                        <a:ea typeface="+mn-ea"/>
                        <a:cs typeface="+mn-cs"/>
                      </a:defRPr>
                    </a:pPr>
                    <a:r>
                      <a:rPr lang="en-US" sz="1400" b="0" i="0" baseline="0"/>
                      <a:t>Pakistan (2,444)</a:t>
                    </a:r>
                    <a:endParaRPr lang="en-US" sz="1400"/>
                  </a:p>
                </c:rich>
              </c:tx>
              <c:spPr/>
              <c:showVal val="1"/>
            </c:dLbl>
            <c:dLbl>
              <c:idx val="4"/>
              <c:layout>
                <c:manualLayout>
                  <c:x val="-4.7619047619047701E-3"/>
                  <c:y val="-3.7558685446009446E-2"/>
                </c:manualLayout>
              </c:layout>
              <c:tx>
                <c:rich>
                  <a:bodyPr/>
                  <a:lstStyle/>
                  <a:p>
                    <a:r>
                      <a:rPr lang="en-US" sz="1400" b="0" i="0" baseline="0"/>
                      <a:t>Nicaragua (2,479)</a:t>
                    </a:r>
                    <a:endParaRPr lang="en-US" sz="1400"/>
                  </a:p>
                </c:rich>
              </c:tx>
              <c:showVal val="1"/>
            </c:dLbl>
            <c:dLbl>
              <c:idx val="5"/>
              <c:layout>
                <c:manualLayout>
                  <c:x val="0"/>
                  <c:y val="-4.8826291079812387E-2"/>
                </c:manualLayout>
              </c:layout>
              <c:tx>
                <c:rich>
                  <a:bodyPr/>
                  <a:lstStyle/>
                  <a:p>
                    <a:pPr marL="0" marR="0" indent="0" algn="ctr" defTabSz="914400" rtl="0" eaLnBrk="1" fontAlgn="auto" latinLnBrk="0" hangingPunct="1">
                      <a:lnSpc>
                        <a:spcPct val="100000"/>
                      </a:lnSpc>
                      <a:spcBef>
                        <a:spcPts val="0"/>
                      </a:spcBef>
                      <a:spcAft>
                        <a:spcPts val="0"/>
                      </a:spcAft>
                      <a:buClrTx/>
                      <a:buSzTx/>
                      <a:buFontTx/>
                      <a:buNone/>
                      <a:tabLst/>
                      <a:defRPr sz="1400" b="0" i="0" u="none" strike="noStrike" kern="1200" baseline="0">
                        <a:solidFill>
                          <a:sysClr val="windowText" lastClr="000000"/>
                        </a:solidFill>
                        <a:latin typeface="+mn-lt"/>
                        <a:ea typeface="+mn-ea"/>
                        <a:cs typeface="+mn-cs"/>
                      </a:defRPr>
                    </a:pPr>
                    <a:r>
                      <a:rPr lang="en-US" sz="1400" b="0" i="0" baseline="0"/>
                      <a:t>Honduras (3,664)</a:t>
                    </a:r>
                    <a:endParaRPr lang="en-US" sz="1400"/>
                  </a:p>
                </c:rich>
              </c:tx>
              <c:spPr/>
              <c:showVal val="1"/>
            </c:dLbl>
            <c:delete val="1"/>
          </c:dLbls>
          <c:trendline>
            <c:trendlineType val="linear"/>
          </c:trendline>
          <c:xVal>
            <c:numRef>
              <c:f>'March1st(1)'!$B$2:$B$7</c:f>
              <c:numCache>
                <c:formatCode>0</c:formatCode>
                <c:ptCount val="6"/>
                <c:pt idx="0">
                  <c:v>1087.7401113963299</c:v>
                </c:pt>
                <c:pt idx="1">
                  <c:v>1469.5963647876101</c:v>
                </c:pt>
                <c:pt idx="2">
                  <c:v>1924.3016076891201</c:v>
                </c:pt>
                <c:pt idx="3">
                  <c:v>2444.05539514882</c:v>
                </c:pt>
                <c:pt idx="4">
                  <c:v>2479.1675421134501</c:v>
                </c:pt>
                <c:pt idx="5">
                  <c:v>3664.4578041612999</c:v>
                </c:pt>
              </c:numCache>
            </c:numRef>
          </c:xVal>
          <c:yVal>
            <c:numRef>
              <c:f>'March1st(1)'!$C$2:$C$7</c:f>
              <c:numCache>
                <c:formatCode>General</c:formatCode>
                <c:ptCount val="6"/>
                <c:pt idx="0">
                  <c:v>76</c:v>
                </c:pt>
                <c:pt idx="1">
                  <c:v>86.290468627566582</c:v>
                </c:pt>
                <c:pt idx="2">
                  <c:v>63.807096135521697</c:v>
                </c:pt>
                <c:pt idx="3">
                  <c:v>65.61527957299657</c:v>
                </c:pt>
                <c:pt idx="4">
                  <c:v>95.519049869461483</c:v>
                </c:pt>
                <c:pt idx="5">
                  <c:v>93.269031557945979</c:v>
                </c:pt>
              </c:numCache>
            </c:numRef>
          </c:yVal>
        </c:ser>
        <c:axId val="103924480"/>
        <c:axId val="103932672"/>
      </c:scatterChart>
      <c:valAx>
        <c:axId val="103924480"/>
        <c:scaling>
          <c:orientation val="minMax"/>
        </c:scaling>
        <c:axPos val="b"/>
        <c:title>
          <c:tx>
            <c:rich>
              <a:bodyPr/>
              <a:lstStyle/>
              <a:p>
                <a:pPr>
                  <a:defRPr/>
                </a:pPr>
                <a:r>
                  <a:rPr lang="en-US" sz="1800" b="0" i="0" u="none" strike="noStrike" baseline="0" dirty="0"/>
                  <a:t>GDP per capita, PPP (constant 2005 international </a:t>
                </a:r>
                <a:r>
                  <a:rPr lang="en-US" sz="1800" b="0" i="0" u="none" strike="noStrike" baseline="0" dirty="0" smtClean="0"/>
                  <a:t>$)</a:t>
                </a:r>
                <a:r>
                  <a:rPr lang="en-US" sz="1000" b="0" i="0" u="none" strike="noStrike" baseline="30000" dirty="0" smtClean="0"/>
                  <a:t> </a:t>
                </a:r>
                <a:r>
                  <a:rPr lang="en-US" sz="2000" b="0" i="0" u="none" strike="noStrike" baseline="30000" dirty="0" smtClean="0"/>
                  <a:t>2</a:t>
                </a:r>
                <a:r>
                  <a:rPr lang="en-US" sz="1800" b="1" i="0" u="none" strike="noStrike" baseline="0" dirty="0" smtClean="0"/>
                  <a:t> </a:t>
                </a:r>
                <a:endParaRPr lang="en-US" sz="1800" dirty="0"/>
              </a:p>
            </c:rich>
          </c:tx>
          <c:layout/>
        </c:title>
        <c:numFmt formatCode="0" sourceLinked="1"/>
        <c:majorTickMark val="none"/>
        <c:tickLblPos val="nextTo"/>
        <c:crossAx val="103932672"/>
        <c:crosses val="autoZero"/>
        <c:crossBetween val="midCat"/>
      </c:valAx>
      <c:valAx>
        <c:axId val="103932672"/>
        <c:scaling>
          <c:orientation val="minMax"/>
          <c:min val="50"/>
        </c:scaling>
        <c:axPos val="l"/>
        <c:majorGridlines>
          <c:spPr>
            <a:ln>
              <a:solidFill>
                <a:sysClr val="windowText" lastClr="000000">
                  <a:tint val="75000"/>
                  <a:shade val="95000"/>
                  <a:satMod val="105000"/>
                  <a:alpha val="46000"/>
                </a:sysClr>
              </a:solidFill>
            </a:ln>
          </c:spPr>
        </c:majorGridlines>
        <c:title>
          <c:tx>
            <c:rich>
              <a:bodyPr/>
              <a:lstStyle/>
              <a:p>
                <a:pPr>
                  <a:defRPr/>
                </a:pPr>
                <a:r>
                  <a:rPr lang="en-US" sz="1600" b="0" i="0" u="none" strike="noStrike" baseline="0" dirty="0"/>
                  <a:t>School enrollment, primary (% net</a:t>
                </a:r>
                <a:r>
                  <a:rPr lang="en-US" sz="1600" b="0" i="0" u="none" strike="noStrike" baseline="0" dirty="0" smtClean="0"/>
                  <a:t>)</a:t>
                </a:r>
                <a:r>
                  <a:rPr lang="en-US" sz="1600" b="0" i="0" u="none" strike="noStrike" baseline="30000" dirty="0" smtClean="0"/>
                  <a:t> 1</a:t>
                </a:r>
                <a:r>
                  <a:rPr lang="en-US" sz="1600" b="1" i="0" u="none" strike="noStrike" baseline="0" dirty="0" smtClean="0"/>
                  <a:t> </a:t>
                </a:r>
                <a:endParaRPr lang="en-US" sz="1600" dirty="0"/>
              </a:p>
            </c:rich>
          </c:tx>
          <c:layout/>
        </c:title>
        <c:numFmt formatCode="General" sourceLinked="1"/>
        <c:majorTickMark val="none"/>
        <c:tickLblPos val="nextTo"/>
        <c:crossAx val="103924480"/>
        <c:crosses val="autoZero"/>
        <c:crossBetween val="midCat"/>
      </c:valAx>
    </c:plotArea>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manualLayout>
          <c:layoutTarget val="inner"/>
          <c:xMode val="edge"/>
          <c:yMode val="edge"/>
          <c:x val="1.6975308641975387E-2"/>
          <c:y val="0"/>
          <c:w val="0.97376543209876876"/>
          <c:h val="1"/>
        </c:manualLayout>
      </c:layout>
      <c:lineChart>
        <c:grouping val="standard"/>
        <c:marker val="1"/>
        <c:axId val="104210816"/>
        <c:axId val="104212736"/>
      </c:lineChart>
      <c:catAx>
        <c:axId val="104210816"/>
        <c:scaling>
          <c:orientation val="minMax"/>
        </c:scaling>
        <c:delete val="1"/>
        <c:axPos val="b"/>
        <c:majorTickMark val="none"/>
        <c:tickLblPos val="none"/>
        <c:crossAx val="104212736"/>
        <c:crosses val="autoZero"/>
        <c:auto val="1"/>
        <c:lblAlgn val="ctr"/>
        <c:lblOffset val="100"/>
      </c:catAx>
      <c:valAx>
        <c:axId val="104212736"/>
        <c:scaling>
          <c:orientation val="minMax"/>
          <c:max val="1.2"/>
          <c:min val="0"/>
        </c:scaling>
        <c:delete val="1"/>
        <c:axPos val="l"/>
        <c:numFmt formatCode="General" sourceLinked="1"/>
        <c:majorTickMark val="none"/>
        <c:tickLblPos val="none"/>
        <c:crossAx val="104210816"/>
        <c:crosses val="autoZero"/>
        <c:crossBetween val="between"/>
      </c:valAx>
      <c:spPr>
        <a:noFill/>
        <a:ln w="25400">
          <a:noFill/>
        </a:ln>
      </c:spPr>
    </c:plotArea>
    <c:plotVisOnly val="1"/>
  </c:chart>
  <c:externalData r:id="rId1"/>
  <c:userShapes r:id="rId2"/>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manualLayout>
          <c:layoutTarget val="inner"/>
          <c:xMode val="edge"/>
          <c:yMode val="edge"/>
          <c:x val="1.6975308641975387E-2"/>
          <c:y val="0"/>
          <c:w val="0.97376543209876876"/>
          <c:h val="1"/>
        </c:manualLayout>
      </c:layout>
      <c:lineChart>
        <c:grouping val="standard"/>
        <c:ser>
          <c:idx val="0"/>
          <c:order val="0"/>
          <c:marker>
            <c:symbol val="none"/>
          </c:marker>
          <c:dLbls>
            <c:dLbl>
              <c:idx val="1"/>
              <c:layout>
                <c:manualLayout>
                  <c:x val="-4.6296296296296519E-3"/>
                  <c:y val="-2.8060326608944893E-3"/>
                </c:manualLayout>
              </c:layout>
              <c:tx>
                <c:rich>
                  <a:bodyPr/>
                  <a:lstStyle/>
                  <a:p>
                    <a:pPr>
                      <a:defRPr sz="1600"/>
                    </a:pPr>
                    <a:r>
                      <a:rPr lang="en-US" sz="1600" dirty="0" smtClean="0"/>
                      <a:t>Pakistani Demand</a:t>
                    </a:r>
                    <a:endParaRPr lang="en-US" sz="1600" dirty="0"/>
                  </a:p>
                </c:rich>
              </c:tx>
              <c:spPr/>
              <c:showVal val="1"/>
            </c:dLbl>
            <c:delete val="1"/>
          </c:dLbls>
          <c:val>
            <c:numRef>
              <c:f>Sheet1!$B$17:$C$17</c:f>
              <c:numCache>
                <c:formatCode>General</c:formatCode>
                <c:ptCount val="2"/>
                <c:pt idx="0">
                  <c:v>1</c:v>
                </c:pt>
                <c:pt idx="1">
                  <c:v>0</c:v>
                </c:pt>
              </c:numCache>
            </c:numRef>
          </c:val>
        </c:ser>
        <c:ser>
          <c:idx val="1"/>
          <c:order val="1"/>
          <c:marker>
            <c:symbol val="none"/>
          </c:marker>
          <c:dLbls>
            <c:dLbl>
              <c:idx val="0"/>
              <c:layout>
                <c:manualLayout>
                  <c:x val="0.45914698162729678"/>
                  <c:y val="-0.63847144106986642"/>
                </c:manualLayout>
              </c:layout>
              <c:tx>
                <c:rich>
                  <a:bodyPr/>
                  <a:lstStyle/>
                  <a:p>
                    <a:r>
                      <a:rPr lang="en-US" sz="1600" dirty="0" smtClean="0"/>
                      <a:t>Haitian Supply?</a:t>
                    </a:r>
                    <a:endParaRPr lang="en-US" sz="1600" dirty="0"/>
                  </a:p>
                </c:rich>
              </c:tx>
              <c:showVal val="1"/>
            </c:dLbl>
            <c:dLbl>
              <c:idx val="1"/>
              <c:layout/>
              <c:tx>
                <c:rich>
                  <a:bodyPr/>
                  <a:lstStyle/>
                  <a:p>
                    <a:r>
                      <a:rPr lang="en-US" sz="1600" dirty="0" smtClean="0"/>
                      <a:t>Pakistani</a:t>
                    </a:r>
                    <a:r>
                      <a:rPr lang="en-US" sz="1600" baseline="0" dirty="0" smtClean="0"/>
                      <a:t> Supply</a:t>
                    </a:r>
                    <a:endParaRPr lang="en-US" sz="1600" dirty="0"/>
                  </a:p>
                </c:rich>
              </c:tx>
              <c:showVal val="1"/>
            </c:dLbl>
            <c:txPr>
              <a:bodyPr/>
              <a:lstStyle/>
              <a:p>
                <a:pPr>
                  <a:defRPr sz="1600"/>
                </a:pPr>
                <a:endParaRPr lang="en-US"/>
              </a:p>
            </c:txPr>
            <c:showVal val="1"/>
          </c:dLbls>
          <c:val>
            <c:numRef>
              <c:f>Sheet1!$B$18:$C$18</c:f>
              <c:numCache>
                <c:formatCode>General</c:formatCode>
                <c:ptCount val="2"/>
                <c:pt idx="0">
                  <c:v>0</c:v>
                </c:pt>
                <c:pt idx="1">
                  <c:v>1</c:v>
                </c:pt>
              </c:numCache>
            </c:numRef>
          </c:val>
        </c:ser>
        <c:marker val="1"/>
        <c:axId val="121430016"/>
        <c:axId val="121431936"/>
      </c:lineChart>
      <c:catAx>
        <c:axId val="121430016"/>
        <c:scaling>
          <c:orientation val="minMax"/>
        </c:scaling>
        <c:delete val="1"/>
        <c:axPos val="b"/>
        <c:majorTickMark val="none"/>
        <c:tickLblPos val="none"/>
        <c:crossAx val="121431936"/>
        <c:crosses val="autoZero"/>
        <c:auto val="1"/>
        <c:lblAlgn val="ctr"/>
        <c:lblOffset val="100"/>
      </c:catAx>
      <c:valAx>
        <c:axId val="121431936"/>
        <c:scaling>
          <c:orientation val="minMax"/>
          <c:max val="1.2"/>
          <c:min val="0"/>
        </c:scaling>
        <c:delete val="1"/>
        <c:axPos val="l"/>
        <c:numFmt formatCode="General" sourceLinked="1"/>
        <c:majorTickMark val="none"/>
        <c:tickLblPos val="none"/>
        <c:crossAx val="121430016"/>
        <c:crosses val="autoZero"/>
        <c:crossBetween val="between"/>
      </c:valAx>
    </c:plotArea>
    <c:plotVisOnly val="1"/>
  </c:chart>
  <c:externalData r:id="rId1"/>
  <c:userShapes r:id="rId2"/>
</c:chartSpace>
</file>

<file path=ppt/drawings/drawing1.xml><?xml version="1.0" encoding="utf-8"?>
<c:userShapes xmlns:c="http://schemas.openxmlformats.org/drawingml/2006/chart">
  <cdr:relSizeAnchor xmlns:cdr="http://schemas.openxmlformats.org/drawingml/2006/chartDrawing">
    <cdr:from>
      <cdr:x>0.18519</cdr:x>
      <cdr:y>0.10069</cdr:y>
    </cdr:from>
    <cdr:to>
      <cdr:x>0.62917</cdr:x>
      <cdr:y>0.80814</cdr:y>
    </cdr:to>
    <cdr:sp macro="" textlink="">
      <cdr:nvSpPr>
        <cdr:cNvPr id="3" name="Straight Connector 2"/>
        <cdr:cNvSpPr/>
      </cdr:nvSpPr>
      <cdr:spPr>
        <a:xfrm xmlns:a="http://schemas.openxmlformats.org/drawingml/2006/main" rot="10800000" flipV="1">
          <a:off x="1523999" y="455719"/>
          <a:ext cx="3653817" cy="3201881"/>
        </a:xfrm>
        <a:prstGeom xmlns:a="http://schemas.openxmlformats.org/drawingml/2006/main" prst="line">
          <a:avLst/>
        </a:prstGeom>
        <a:ln xmlns:a="http://schemas.openxmlformats.org/drawingml/2006/main" w="28575">
          <a:solidFill>
            <a:schemeClr val="accent2"/>
          </a:solidFill>
          <a:prstDash val="sys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0.52062</cdr:x>
      <cdr:y>0.52381</cdr:y>
    </cdr:from>
    <cdr:to>
      <cdr:x>0.69091</cdr:x>
      <cdr:y>0.55131</cdr:y>
    </cdr:to>
    <cdr:sp macro="" textlink="">
      <cdr:nvSpPr>
        <cdr:cNvPr id="5" name="Straight Arrow Connector 4"/>
        <cdr:cNvSpPr/>
      </cdr:nvSpPr>
      <cdr:spPr>
        <a:xfrm xmlns:a="http://schemas.openxmlformats.org/drawingml/2006/main" rot="5400000" flipH="1" flipV="1">
          <a:off x="4363804" y="2514600"/>
          <a:ext cx="1427396" cy="131996"/>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0.69091</cdr:x>
      <cdr:y>0.49206</cdr:y>
    </cdr:from>
    <cdr:to>
      <cdr:x>0.87273</cdr:x>
      <cdr:y>0.57143</cdr:y>
    </cdr:to>
    <cdr:sp macro="" textlink="">
      <cdr:nvSpPr>
        <cdr:cNvPr id="6" name="TextBox 5"/>
        <cdr:cNvSpPr txBox="1"/>
      </cdr:nvSpPr>
      <cdr:spPr>
        <a:xfrm xmlns:a="http://schemas.openxmlformats.org/drawingml/2006/main">
          <a:off x="5791200" y="2362200"/>
          <a:ext cx="1524000" cy="381000"/>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r>
            <a:rPr lang="en-US" sz="1100" dirty="0" smtClean="0"/>
            <a:t>Pakistani  equilibrium</a:t>
          </a:r>
          <a:endParaRPr lang="en-US" sz="1100" dirty="0"/>
        </a:p>
      </cdr:txBody>
    </cdr:sp>
  </cdr:relSizeAnchor>
  <cdr:relSizeAnchor xmlns:cdr="http://schemas.openxmlformats.org/drawingml/2006/chartDrawing">
    <cdr:from>
      <cdr:x>0.66364</cdr:x>
      <cdr:y>0.31746</cdr:y>
    </cdr:from>
    <cdr:to>
      <cdr:x>0.7</cdr:x>
      <cdr:y>0.38096</cdr:y>
    </cdr:to>
    <cdr:sp macro="" textlink="">
      <cdr:nvSpPr>
        <cdr:cNvPr id="7" name="Oval 6"/>
        <cdr:cNvSpPr/>
      </cdr:nvSpPr>
      <cdr:spPr>
        <a:xfrm xmlns:a="http://schemas.openxmlformats.org/drawingml/2006/main">
          <a:off x="5562600" y="1524000"/>
          <a:ext cx="304770" cy="304839"/>
        </a:xfrm>
        <a:prstGeom xmlns:a="http://schemas.openxmlformats.org/drawingml/2006/main" prst="ellipse">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0.70909</cdr:x>
      <cdr:y>0.30159</cdr:y>
    </cdr:from>
    <cdr:to>
      <cdr:x>0.82727</cdr:x>
      <cdr:y>0.33333</cdr:y>
    </cdr:to>
    <cdr:sp macro="" textlink="">
      <cdr:nvSpPr>
        <cdr:cNvPr id="9" name="Straight Arrow Connector 8"/>
        <cdr:cNvSpPr/>
      </cdr:nvSpPr>
      <cdr:spPr>
        <a:xfrm xmlns:a="http://schemas.openxmlformats.org/drawingml/2006/main" flipV="1">
          <a:off x="5943600" y="1447800"/>
          <a:ext cx="990600" cy="152400"/>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0.82727</cdr:x>
      <cdr:y>0.26984</cdr:y>
    </cdr:from>
    <cdr:to>
      <cdr:x>1</cdr:x>
      <cdr:y>0.33334</cdr:y>
    </cdr:to>
    <cdr:sp macro="" textlink="">
      <cdr:nvSpPr>
        <cdr:cNvPr id="10" name="TextBox 9"/>
        <cdr:cNvSpPr txBox="1"/>
      </cdr:nvSpPr>
      <cdr:spPr>
        <a:xfrm xmlns:a="http://schemas.openxmlformats.org/drawingml/2006/main">
          <a:off x="6934200" y="1295400"/>
          <a:ext cx="1447823" cy="304839"/>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r>
            <a:rPr lang="en-US" sz="1100" dirty="0" smtClean="0"/>
            <a:t>Haitian equilibrium</a:t>
          </a:r>
          <a:endParaRPr lang="en-US" sz="1100" dirty="0"/>
        </a:p>
      </cdr:txBody>
    </cdr:sp>
  </cdr:relSizeAnchor>
  <cdr:relSizeAnchor xmlns:cdr="http://schemas.openxmlformats.org/drawingml/2006/chartDrawing">
    <cdr:from>
      <cdr:x>0.75455</cdr:x>
      <cdr:y>0.93651</cdr:y>
    </cdr:from>
    <cdr:to>
      <cdr:x>0.91818</cdr:x>
      <cdr:y>0.98413</cdr:y>
    </cdr:to>
    <cdr:sp macro="" textlink="">
      <cdr:nvSpPr>
        <cdr:cNvPr id="8" name="TextBox 7"/>
        <cdr:cNvSpPr txBox="1"/>
      </cdr:nvSpPr>
      <cdr:spPr>
        <a:xfrm xmlns:a="http://schemas.openxmlformats.org/drawingml/2006/main">
          <a:off x="6324600" y="4495800"/>
          <a:ext cx="1371600" cy="228600"/>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r>
            <a:rPr lang="en-US" sz="1100" dirty="0" smtClean="0"/>
            <a:t>Pakistan Demand</a:t>
          </a:r>
          <a:endParaRPr lang="en-US" sz="1100" dirty="0"/>
        </a:p>
      </cdr:txBody>
    </cdr:sp>
  </cdr:relSizeAnchor>
  <cdr:relSizeAnchor xmlns:cdr="http://schemas.openxmlformats.org/drawingml/2006/chartDrawing">
    <cdr:from>
      <cdr:x>0.74545</cdr:x>
      <cdr:y>0.15873</cdr:y>
    </cdr:from>
    <cdr:to>
      <cdr:x>0.87273</cdr:x>
      <cdr:y>0.22222</cdr:y>
    </cdr:to>
    <cdr:sp macro="" textlink="">
      <cdr:nvSpPr>
        <cdr:cNvPr id="12" name="TextBox 11"/>
        <cdr:cNvSpPr txBox="1"/>
      </cdr:nvSpPr>
      <cdr:spPr>
        <a:xfrm xmlns:a="http://schemas.openxmlformats.org/drawingml/2006/main">
          <a:off x="6248400" y="762000"/>
          <a:ext cx="1066800" cy="304800"/>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r>
            <a:rPr lang="en-US" sz="1100" dirty="0" smtClean="0"/>
            <a:t>Pakistan Supply</a:t>
          </a:r>
          <a:endParaRPr lang="en-US" sz="1100" dirty="0"/>
        </a:p>
      </cdr:txBody>
    </cdr:sp>
  </cdr:relSizeAnchor>
  <cdr:relSizeAnchor xmlns:cdr="http://schemas.openxmlformats.org/drawingml/2006/chartDrawing">
    <cdr:from>
      <cdr:x>0.49091</cdr:x>
      <cdr:y>0.03175</cdr:y>
    </cdr:from>
    <cdr:to>
      <cdr:x>0.99091</cdr:x>
      <cdr:y>0.87302</cdr:y>
    </cdr:to>
    <cdr:cxnSp macro="">
      <cdr:nvCxnSpPr>
        <cdr:cNvPr id="11" name="Straight Connector 10"/>
        <cdr:cNvCxnSpPr/>
      </cdr:nvCxnSpPr>
      <cdr:spPr>
        <a:xfrm xmlns:a="http://schemas.openxmlformats.org/drawingml/2006/main">
          <a:off x="4114800" y="152400"/>
          <a:ext cx="4191000" cy="4038600"/>
        </a:xfrm>
        <a:prstGeom xmlns:a="http://schemas.openxmlformats.org/drawingml/2006/main" prst="line">
          <a:avLst/>
        </a:prstGeom>
        <a:noFill xmlns:a="http://schemas.openxmlformats.org/drawingml/2006/main"/>
        <a:ln xmlns:a="http://schemas.openxmlformats.org/drawingml/2006/main" w="34925" cap="flat" cmpd="sng" algn="ctr">
          <a:solidFill>
            <a:srgbClr val="4F81BD">
              <a:shade val="95000"/>
              <a:satMod val="105000"/>
            </a:srgbClr>
          </a:solidFill>
          <a:prstDash val="sysDash"/>
        </a:ln>
        <a:effectLst xmlns:a="http://schemas.openxmlformats.org/drawingml/2006/mai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0.51818</cdr:x>
      <cdr:y>0.04762</cdr:y>
    </cdr:from>
    <cdr:to>
      <cdr:x>0.79091</cdr:x>
      <cdr:y>0.11111</cdr:y>
    </cdr:to>
    <cdr:sp macro="" textlink="">
      <cdr:nvSpPr>
        <cdr:cNvPr id="14" name="TextBox 13"/>
        <cdr:cNvSpPr txBox="1"/>
      </cdr:nvSpPr>
      <cdr:spPr>
        <a:xfrm xmlns:a="http://schemas.openxmlformats.org/drawingml/2006/main">
          <a:off x="4343400" y="228600"/>
          <a:ext cx="2286000" cy="304800"/>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r>
            <a:rPr lang="en-US" sz="1100" dirty="0" smtClean="0"/>
            <a:t>Haitian Demand?</a:t>
          </a:r>
          <a:endParaRPr 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0.52727</cdr:x>
      <cdr:y>0.25397</cdr:y>
    </cdr:from>
    <cdr:to>
      <cdr:x>0.94545</cdr:x>
      <cdr:y>1</cdr:y>
    </cdr:to>
    <cdr:sp macro="" textlink="">
      <cdr:nvSpPr>
        <cdr:cNvPr id="3" name="Straight Connector 2"/>
        <cdr:cNvSpPr/>
      </cdr:nvSpPr>
      <cdr:spPr>
        <a:xfrm xmlns:a="http://schemas.openxmlformats.org/drawingml/2006/main" rot="10800000" flipV="1">
          <a:off x="4419600" y="1295400"/>
          <a:ext cx="3505200" cy="3581399"/>
        </a:xfrm>
        <a:prstGeom xmlns:a="http://schemas.openxmlformats.org/drawingml/2006/main" prst="line">
          <a:avLst/>
        </a:prstGeom>
        <a:ln xmlns:a="http://schemas.openxmlformats.org/drawingml/2006/main" w="28575">
          <a:solidFill>
            <a:schemeClr val="accent2"/>
          </a:solidFill>
          <a:prstDash val="sys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0.33636</cdr:x>
      <cdr:y>0.55131</cdr:y>
    </cdr:from>
    <cdr:to>
      <cdr:x>0.52062</cdr:x>
      <cdr:y>0.5873</cdr:y>
    </cdr:to>
    <cdr:sp macro="" textlink="">
      <cdr:nvSpPr>
        <cdr:cNvPr id="5" name="Straight Arrow Connector 4"/>
        <cdr:cNvSpPr/>
      </cdr:nvSpPr>
      <cdr:spPr>
        <a:xfrm xmlns:a="http://schemas.openxmlformats.org/drawingml/2006/main" rot="5400000">
          <a:off x="3505228" y="1960790"/>
          <a:ext cx="172781" cy="1544437"/>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0.15455</cdr:x>
      <cdr:y>0.55556</cdr:y>
    </cdr:from>
    <cdr:to>
      <cdr:x>0.33637</cdr:x>
      <cdr:y>0.63493</cdr:y>
    </cdr:to>
    <cdr:sp macro="" textlink="">
      <cdr:nvSpPr>
        <cdr:cNvPr id="6" name="TextBox 5"/>
        <cdr:cNvSpPr txBox="1"/>
      </cdr:nvSpPr>
      <cdr:spPr>
        <a:xfrm xmlns:a="http://schemas.openxmlformats.org/drawingml/2006/main">
          <a:off x="1295400" y="2667000"/>
          <a:ext cx="1524015" cy="381024"/>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r>
            <a:rPr lang="en-US" sz="1100" dirty="0" smtClean="0"/>
            <a:t>Pakistani  equilibrium</a:t>
          </a:r>
          <a:endParaRPr lang="en-US" sz="1100" dirty="0"/>
        </a:p>
      </cdr:txBody>
    </cdr:sp>
  </cdr:relSizeAnchor>
  <cdr:relSizeAnchor xmlns:cdr="http://schemas.openxmlformats.org/drawingml/2006/chartDrawing">
    <cdr:from>
      <cdr:x>0.74545</cdr:x>
      <cdr:y>0.55556</cdr:y>
    </cdr:from>
    <cdr:to>
      <cdr:x>0.78181</cdr:x>
      <cdr:y>0.61906</cdr:y>
    </cdr:to>
    <cdr:sp macro="" textlink="">
      <cdr:nvSpPr>
        <cdr:cNvPr id="7" name="Oval 6"/>
        <cdr:cNvSpPr/>
      </cdr:nvSpPr>
      <cdr:spPr>
        <a:xfrm xmlns:a="http://schemas.openxmlformats.org/drawingml/2006/main">
          <a:off x="6248400" y="2667000"/>
          <a:ext cx="304770" cy="304839"/>
        </a:xfrm>
        <a:prstGeom xmlns:a="http://schemas.openxmlformats.org/drawingml/2006/main" prst="ellipse">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0.76364</cdr:x>
      <cdr:y>0.57143</cdr:y>
    </cdr:from>
    <cdr:to>
      <cdr:x>0.81818</cdr:x>
      <cdr:y>0.69841</cdr:y>
    </cdr:to>
    <cdr:sp macro="" textlink="">
      <cdr:nvSpPr>
        <cdr:cNvPr id="9" name="Straight Arrow Connector 8"/>
        <cdr:cNvSpPr/>
      </cdr:nvSpPr>
      <cdr:spPr>
        <a:xfrm xmlns:a="http://schemas.openxmlformats.org/drawingml/2006/main">
          <a:off x="6400800" y="2743200"/>
          <a:ext cx="457200" cy="609600"/>
        </a:xfrm>
        <a:prstGeom xmlns:a="http://schemas.openxmlformats.org/drawingml/2006/main" prst="straightConnector1">
          <a:avLst/>
        </a:prstGeom>
        <a:ln xmlns:a="http://schemas.openxmlformats.org/drawingml/2006/main">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0.74545</cdr:x>
      <cdr:y>0.69841</cdr:y>
    </cdr:from>
    <cdr:to>
      <cdr:x>0.91818</cdr:x>
      <cdr:y>0.76191</cdr:y>
    </cdr:to>
    <cdr:sp macro="" textlink="">
      <cdr:nvSpPr>
        <cdr:cNvPr id="10" name="TextBox 9"/>
        <cdr:cNvSpPr txBox="1"/>
      </cdr:nvSpPr>
      <cdr:spPr>
        <a:xfrm xmlns:a="http://schemas.openxmlformats.org/drawingml/2006/main">
          <a:off x="6248400" y="3352800"/>
          <a:ext cx="1447823" cy="304839"/>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r>
            <a:rPr lang="en-US" sz="1100" dirty="0" smtClean="0"/>
            <a:t>Haitian equilibrium</a:t>
          </a:r>
          <a:endParaRPr lang="en-US"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4AF63F91-0DA1-41BD-9D87-DA8ABB869493}" type="datetimeFigureOut">
              <a:rPr lang="en-US"/>
              <a:pPr>
                <a:defRPr/>
              </a:pPr>
              <a:t>3/2/2010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F83204A1-1CF0-48D9-B44C-4E960F567921}"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p:cNvSpPr>
          <p:nvPr>
            <p:ph type="sldImg"/>
          </p:nvPr>
        </p:nvSpPr>
        <p:spPr bwMode="auto">
          <a:noFill/>
          <a:ln>
            <a:solidFill>
              <a:srgbClr val="000000"/>
            </a:solidFill>
            <a:miter lim="800000"/>
            <a:headEnd/>
            <a:tailEnd/>
          </a:ln>
        </p:spPr>
      </p:sp>
      <p:sp>
        <p:nvSpPr>
          <p:cNvPr id="6553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6553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8307EE6-BA25-4F91-AF26-96A9B403248F}" type="slidenum">
              <a:rPr lang="en-US">
                <a:cs typeface="Arial" charset="0"/>
              </a:rPr>
              <a:pPr fontAlgn="base">
                <a:spcBef>
                  <a:spcPct val="0"/>
                </a:spcBef>
                <a:spcAft>
                  <a:spcPct val="0"/>
                </a:spcAft>
                <a:defRPr/>
              </a:pPr>
              <a:t>18</a:t>
            </a:fld>
            <a:endParaRPr lang="en-US">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p:cNvSpPr>
          <p:nvPr>
            <p:ph type="sldImg"/>
          </p:nvPr>
        </p:nvSpPr>
        <p:spPr bwMode="auto">
          <a:noFill/>
          <a:ln>
            <a:solidFill>
              <a:srgbClr val="000000"/>
            </a:solidFill>
            <a:miter lim="800000"/>
            <a:headEnd/>
            <a:tailEnd/>
          </a:ln>
        </p:spPr>
      </p:sp>
      <p:sp>
        <p:nvSpPr>
          <p:cNvPr id="7270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Need a curve for haitian demand</a:t>
            </a:r>
          </a:p>
        </p:txBody>
      </p:sp>
      <p:sp>
        <p:nvSpPr>
          <p:cNvPr id="7168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D574E1E-6F8B-4C6D-BF62-59DE7C9F6C7D}" type="slidenum">
              <a:rPr lang="en-US">
                <a:cs typeface="Arial" charset="0"/>
              </a:rPr>
              <a:pPr fontAlgn="base">
                <a:spcBef>
                  <a:spcPct val="0"/>
                </a:spcBef>
                <a:spcAft>
                  <a:spcPct val="0"/>
                </a:spcAft>
                <a:defRPr/>
              </a:pPr>
              <a:t>24</a:t>
            </a:fld>
            <a:endParaRPr lang="en-US">
              <a:cs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Image Placeholder 1"/>
          <p:cNvSpPr>
            <a:spLocks noGrp="1" noRot="1" noChangeAspect="1"/>
          </p:cNvSpPr>
          <p:nvPr>
            <p:ph type="sldImg"/>
          </p:nvPr>
        </p:nvSpPr>
        <p:spPr bwMode="auto">
          <a:noFill/>
          <a:ln>
            <a:solidFill>
              <a:srgbClr val="000000"/>
            </a:solidFill>
            <a:miter lim="800000"/>
            <a:headEnd/>
            <a:tailEnd/>
          </a:ln>
        </p:spPr>
      </p:sp>
      <p:sp>
        <p:nvSpPr>
          <p:cNvPr id="7475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Need a curve for haitian demand</a:t>
            </a:r>
          </a:p>
        </p:txBody>
      </p:sp>
      <p:sp>
        <p:nvSpPr>
          <p:cNvPr id="71683"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53F80F32-1D41-4304-A9EB-8DC491658010}" type="slidenum">
              <a:rPr lang="en-US" sz="1200">
                <a:latin typeface="+mn-lt"/>
              </a:rPr>
              <a:pPr algn="r">
                <a:defRPr/>
              </a:pPr>
              <a:t>25</a:t>
            </a:fld>
            <a:endParaRPr lang="en-US" sz="1200">
              <a:latin typeface="+mn-l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p:cNvSpPr>
          <p:nvPr>
            <p:ph type="sldImg"/>
          </p:nvPr>
        </p:nvSpPr>
        <p:spPr bwMode="auto">
          <a:noFill/>
          <a:ln>
            <a:solidFill>
              <a:srgbClr val="000000"/>
            </a:solidFill>
            <a:miter lim="800000"/>
            <a:headEnd/>
            <a:tailEnd/>
          </a:ln>
        </p:spPr>
      </p:sp>
      <p:sp>
        <p:nvSpPr>
          <p:cNvPr id="7680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7373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D11EAE5-159C-4518-A539-613AAA762081}" type="slidenum">
              <a:rPr lang="en-US">
                <a:cs typeface="Arial" charset="0"/>
              </a:rPr>
              <a:pPr fontAlgn="base">
                <a:spcBef>
                  <a:spcPct val="0"/>
                </a:spcBef>
                <a:spcAft>
                  <a:spcPct val="0"/>
                </a:spcAft>
                <a:defRPr/>
              </a:pPr>
              <a:t>26</a:t>
            </a:fld>
            <a:endParaRPr lang="en-US">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Image Placeholder 1"/>
          <p:cNvSpPr>
            <a:spLocks noGrp="1" noRot="1" noChangeAspect="1"/>
          </p:cNvSpPr>
          <p:nvPr>
            <p:ph type="sldImg"/>
          </p:nvPr>
        </p:nvSpPr>
        <p:spPr bwMode="auto">
          <a:noFill/>
          <a:ln>
            <a:solidFill>
              <a:srgbClr val="000000"/>
            </a:solidFill>
            <a:miter lim="800000"/>
            <a:headEnd/>
            <a:tailEnd/>
          </a:ln>
        </p:spPr>
      </p:sp>
      <p:sp>
        <p:nvSpPr>
          <p:cNvPr id="7885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7577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0F4DE71-FA8B-4B37-BAF8-66E989BE788C}" type="slidenum">
              <a:rPr lang="en-US">
                <a:cs typeface="Arial" charset="0"/>
              </a:rPr>
              <a:pPr fontAlgn="base">
                <a:spcBef>
                  <a:spcPct val="0"/>
                </a:spcBef>
                <a:spcAft>
                  <a:spcPct val="0"/>
                </a:spcAft>
                <a:defRPr/>
              </a:pPr>
              <a:t>27</a:t>
            </a:fld>
            <a:endParaRPr lang="en-US">
              <a:cs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p:cNvSpPr>
            <a:spLocks noGrp="1" noRot="1" noChangeAspect="1"/>
          </p:cNvSpPr>
          <p:nvPr>
            <p:ph type="sldImg"/>
          </p:nvPr>
        </p:nvSpPr>
        <p:spPr bwMode="auto">
          <a:noFill/>
          <a:ln>
            <a:solidFill>
              <a:srgbClr val="000000"/>
            </a:solidFill>
            <a:miter lim="800000"/>
            <a:headEnd/>
            <a:tailEnd/>
          </a:ln>
        </p:spPr>
      </p:sp>
      <p:sp>
        <p:nvSpPr>
          <p:cNvPr id="8089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7782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89BB956-DDF6-4B96-A0B9-21A1744CCBBE}" type="slidenum">
              <a:rPr lang="en-US">
                <a:cs typeface="Arial" charset="0"/>
              </a:rPr>
              <a:pPr fontAlgn="base">
                <a:spcBef>
                  <a:spcPct val="0"/>
                </a:spcBef>
                <a:spcAft>
                  <a:spcPct val="0"/>
                </a:spcAft>
                <a:defRPr/>
              </a:pPr>
              <a:t>28</a:t>
            </a:fld>
            <a:endParaRPr lang="en-US">
              <a:cs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p:cNvSpPr>
            <a:spLocks noGrp="1" noRot="1" noChangeAspect="1"/>
          </p:cNvSpPr>
          <p:nvPr>
            <p:ph type="sldImg"/>
          </p:nvPr>
        </p:nvSpPr>
        <p:spPr bwMode="auto">
          <a:noFill/>
          <a:ln>
            <a:solidFill>
              <a:srgbClr val="000000"/>
            </a:solidFill>
            <a:miter lim="800000"/>
            <a:headEnd/>
            <a:tailEnd/>
          </a:ln>
        </p:spPr>
      </p:sp>
      <p:sp>
        <p:nvSpPr>
          <p:cNvPr id="8089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7782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lgn="r" rtl="0" fontAlgn="base">
              <a:spcBef>
                <a:spcPct val="0"/>
              </a:spcBef>
              <a:spcAft>
                <a:spcPct val="0"/>
              </a:spcAft>
              <a:defRPr/>
            </a:pPr>
            <a:fld id="{089BB956-DDF6-4B96-A0B9-21A1744CCBBE}" type="slidenum">
              <a:rPr lang="en-US" sz="1200" kern="1200">
                <a:solidFill>
                  <a:prstClr val="black"/>
                </a:solidFill>
                <a:latin typeface="Arial" charset="0"/>
                <a:ea typeface="+mn-ea"/>
                <a:cs typeface="Arial" charset="0"/>
              </a:rPr>
              <a:pPr algn="r" rtl="0" fontAlgn="base">
                <a:spcBef>
                  <a:spcPct val="0"/>
                </a:spcBef>
                <a:spcAft>
                  <a:spcPct val="0"/>
                </a:spcAft>
                <a:defRPr/>
              </a:pPr>
              <a:t>29</a:t>
            </a:fld>
            <a:endParaRPr lang="en-US" sz="1200" kern="1200">
              <a:solidFill>
                <a:prstClr val="black"/>
              </a:solidFill>
              <a:latin typeface="Arial" charset="0"/>
              <a:ea typeface="+mn-ea"/>
              <a:cs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p:cNvSpPr>
          <p:nvPr>
            <p:ph type="sldImg"/>
          </p:nvPr>
        </p:nvSpPr>
        <p:spPr bwMode="auto">
          <a:noFill/>
          <a:ln>
            <a:solidFill>
              <a:srgbClr val="000000"/>
            </a:solidFill>
            <a:miter lim="800000"/>
            <a:headEnd/>
            <a:tailEnd/>
          </a:ln>
        </p:spPr>
      </p:sp>
      <p:sp>
        <p:nvSpPr>
          <p:cNvPr id="6553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6553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8307EE6-BA25-4F91-AF26-96A9B403248F}" type="slidenum">
              <a:rPr lang="en-US">
                <a:cs typeface="Arial" charset="0"/>
              </a:rPr>
              <a:pPr fontAlgn="base">
                <a:spcBef>
                  <a:spcPct val="0"/>
                </a:spcBef>
                <a:spcAft>
                  <a:spcPct val="0"/>
                </a:spcAft>
                <a:defRPr/>
              </a:pPr>
              <a:t>33</a:t>
            </a:fld>
            <a:endParaRPr lang="en-US">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B28FE1A-78F4-42BC-BD60-CBEE41CBA7D1}"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B23279-CD12-4801-9FB2-64D787F9DAC2}"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7264CCD-1EFC-438E-B3D3-EE794D84173E}"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BC78DB9-E658-4DDE-BF78-D7DD2C1D21E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26B2D6B9-C2EB-4DD5-A4D8-3498DC96B26D}"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A481A82-FF9A-4E3A-88DD-B8BED21F627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B6BB4F6-9EAF-4723-A4E5-A2711CDE397C}"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F6B92B-0131-457E-8EDC-955AB72AA0F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3C923DED-FFB4-4F63-B32F-AA84D9571392}" type="datetimeFigureOut">
              <a:rPr lang="en-US"/>
              <a:pPr>
                <a:defRPr/>
              </a:pPr>
              <a:t>3/2/2010</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91B3860-EDA1-4C28-A3FA-1CA6DF15984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AB06F08-2650-483A-BA1D-5F1D890F5E20}" type="datetimeFigureOut">
              <a:rPr lang="en-US"/>
              <a:pPr>
                <a:defRPr/>
              </a:pPr>
              <a:t>3/2/2010</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095D8F30-1604-4C7C-9304-867479B15DB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FE4905D-FCEE-4990-B403-A46C560804F7}" type="datetimeFigureOut">
              <a:rPr lang="en-US"/>
              <a:pPr>
                <a:defRPr/>
              </a:pPr>
              <a:t>3/2/2010</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E394C864-F7F1-4CB6-B412-BAC06C9847F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CE70744-464E-4C65-BDF7-7DE80A1D61A9}"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88F5F5A-5101-47A1-BFCE-52B2D212A4E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DE4C783-BBD0-4CA2-B996-8BACF02680BD}"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D936A97-12F2-47D3-B996-55548503C1A2}"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F435597-7A72-4182-ACA5-264F62BB53B2}"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F8F5ACB-CC6A-4373-9E00-6F8D531161D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D80D960-0068-4389-8706-B85EC09CA4E9}"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37CE8A-53D7-487C-A0E5-B8870E6A804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F7BC76E-9268-4E0A-A546-3987CE4E346B}"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72137E1-2536-453C-969A-E80F8D3E4E53}"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46258F5-DDE6-4379-9A7C-A38EA5C3045F}"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CE52AAF-85CF-49CC-AE85-4439FC7B848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50389F8-BE2F-4937-9813-AA0C4C04F0A8}"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C79945C-3140-45B0-A800-5132AF1CB768}"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E6473F53-3B72-4FB1-B85E-CC69E6830960}"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DF01055-3E70-4B44-ABE4-14CB46313245}"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677B4A9-AD0A-455A-B8CE-40A2B10FAEFE}" type="datetimeFigureOut">
              <a:rPr lang="en-US"/>
              <a:pPr>
                <a:defRPr/>
              </a:pPr>
              <a:t>3/2/2010</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0824463-08CD-452A-A8D8-3023B530D407}"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91365FAD-9517-4AF0-B607-BB34BA958807}" type="datetimeFigureOut">
              <a:rPr lang="en-US"/>
              <a:pPr>
                <a:defRPr/>
              </a:pPr>
              <a:t>3/2/2010</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F4B0171-F3AC-48C9-9039-FBB0582F533B}"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DDD2532-F64D-4D29-99CF-7F48A693CD50}" type="datetimeFigureOut">
              <a:rPr lang="en-US"/>
              <a:pPr>
                <a:defRPr/>
              </a:pPr>
              <a:t>3/2/2010</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CD66D09-D3A9-4E81-8C8B-681D88932E01}"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994B8A0-10A9-460C-9F7E-F72E8CCC4389}"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19854B6-963D-4EFC-BD08-A19568D767E2}"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66391F8-1FBB-4584-88A1-E3D0C2E431F2}"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FFBDBAF-D19E-41BB-8D45-2FC152F79A65}"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E3A4CB1-67DB-4655-9736-044D3B364DAA}"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E4BD7DF-3114-4285-9F75-812C7884CE1B}"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842E1E0-F5A5-4B78-86D5-A4B73035F76E}"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819BBA4-1462-455D-ADBB-5B452232CE51}"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197D4B3-6726-4040-90C0-80E92E292236}"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4D089F1-65B2-4FBF-962D-719BFB9625E5}" type="slidenum">
              <a:rPr lang="en-US"/>
              <a:pPr>
                <a:defRPr/>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CCEE474-CEE7-4656-8F03-B9F2BB523BB2}"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7AD986-E738-46C1-B134-0F8D3C5178AE}" type="slidenum">
              <a:rPr lang="en-US"/>
              <a:pPr>
                <a:defRPr/>
              </a:pPr>
              <a:t>‹#›</a:t>
            </a:fld>
            <a:endParaRPr lang="en-US"/>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43D2DC5C-D954-4BAB-81DC-AEB08296954D}" type="datetimeFigureOut">
              <a:rPr lang="en-US" smtClean="0"/>
              <a:pPr>
                <a:defRPr/>
              </a:pPr>
              <a:t>3/2/2010</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0E8230A2-9BBF-425D-90C4-BBD98168F095}" type="slidenum">
              <a:rPr lang="en-US" smtClean="0"/>
              <a:pPr>
                <a:defRPr/>
              </a:pPr>
              <a:t>‹#›</a:t>
            </a:fld>
            <a:endParaRPr lang="en-US"/>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51652F31-5B73-4FCE-856D-7D5E236DD5F8}"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90AAB22-4A1C-4EA6-A102-C865C45BD1DD}" type="slidenum">
              <a:rPr lang="en-US"/>
              <a:pPr>
                <a:defRPr/>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7E4AF7A3-C690-4BA4-BBC4-EE5E672CBD1D}"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9CA46F6-FC76-4D6C-9F0D-AEC4919E5619}" type="slidenum">
              <a:rPr lang="en-US"/>
              <a:pPr>
                <a:defRPr/>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385BAF7F-FF37-4039-A78A-372FE9A4E0BB}" type="datetimeFigureOut">
              <a:rPr lang="en-US"/>
              <a:pPr>
                <a:defRPr/>
              </a:pPr>
              <a:t>3/2/2010</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E3DAF3B0-B491-4BFC-985E-D39BF9172740}" type="slidenum">
              <a:rPr lang="en-US"/>
              <a:pPr>
                <a:defRPr/>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88BBE95-FAF2-4F93-A12B-40C4418281C7}" type="datetimeFigureOut">
              <a:rPr lang="en-US"/>
              <a:pPr>
                <a:defRPr/>
              </a:pPr>
              <a:t>3/2/2010</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486FBFF-6AD6-4182-9DDD-158A1538E822}" type="slidenum">
              <a:rPr lang="en-US"/>
              <a:pPr>
                <a:defRPr/>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6C1845B-AC5C-4807-8924-99E3BB622F43}" type="datetimeFigureOut">
              <a:rPr lang="en-US"/>
              <a:pPr>
                <a:defRPr/>
              </a:pPr>
              <a:t>3/2/2010</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D9E8C2D-791E-4D70-A075-E169D0DD2AA7}" type="slidenum">
              <a:rPr lang="en-US"/>
              <a:pPr>
                <a:defRPr/>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B638BF2-D3BD-49F6-B65D-C973E0BCFD7A}"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837BEAA-5187-46C0-A021-ACE78B7A90D1}" type="slidenum">
              <a:rPr lang="en-US"/>
              <a:pPr>
                <a:defRPr/>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8C4C665-503B-47EE-B1B9-858ADF040C8B}"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0CAFC99-52F6-4027-8461-9D4F14581E53}" type="slidenum">
              <a:rPr lang="en-US"/>
              <a:pPr>
                <a:defRPr/>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CD4D98D-FAF9-4278-A165-D1691040C354}"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47B04D8-AD01-41C3-85F4-FC2E9DD847A2}" type="slidenum">
              <a:rPr lang="en-US"/>
              <a:pPr>
                <a:defRPr/>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15223CF-9B3D-4466-974A-ED37E60D03A2}"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41F55D2-5A3C-42A0-93C0-89DF25D5F67F}" type="slidenum">
              <a:rPr lang="en-US"/>
              <a:pPr>
                <a:defRPr/>
              </a:pPr>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BFF999A-F744-40AC-A16A-0E5F8BC3926E}" type="datetimeFigureOut">
              <a:rPr lang="en-US" smtClean="0"/>
              <a:t>3/2/2010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B91E8-7A66-4326-AD0C-95D8941537E5}" type="slidenum">
              <a:rPr lang="en-US" smtClean="0"/>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FF999A-F744-40AC-A16A-0E5F8BC3926E}" type="datetimeFigureOut">
              <a:rPr lang="en-US" smtClean="0"/>
              <a:t>3/2/2010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B91E8-7A66-4326-AD0C-95D8941537E5}"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BFF999A-F744-40AC-A16A-0E5F8BC3926E}" type="datetimeFigureOut">
              <a:rPr lang="en-US" smtClean="0"/>
              <a:t>3/2/2010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B91E8-7A66-4326-AD0C-95D8941537E5}" type="slidenum">
              <a:rPr lang="en-US" smtClean="0"/>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BFF999A-F744-40AC-A16A-0E5F8BC3926E}" type="datetimeFigureOut">
              <a:rPr lang="en-US" smtClean="0"/>
              <a:t>3/2/2010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8B91E8-7A66-4326-AD0C-95D8941537E5}"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FF999A-F744-40AC-A16A-0E5F8BC3926E}" type="datetimeFigureOut">
              <a:rPr lang="en-US" smtClean="0"/>
              <a:t>3/2/2010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8B91E8-7A66-4326-AD0C-95D8941537E5}"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BFF999A-F744-40AC-A16A-0E5F8BC3926E}" type="datetimeFigureOut">
              <a:rPr lang="en-US" smtClean="0"/>
              <a:t>3/2/2010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8B91E8-7A66-4326-AD0C-95D8941537E5}"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FF999A-F744-40AC-A16A-0E5F8BC3926E}" type="datetimeFigureOut">
              <a:rPr lang="en-US" smtClean="0"/>
              <a:t>3/2/2010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8B91E8-7A66-4326-AD0C-95D8941537E5}" type="slidenum">
              <a:rPr lang="en-US" smtClean="0"/>
              <a:t>‹#›</a:t>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FF999A-F744-40AC-A16A-0E5F8BC3926E}" type="datetimeFigureOut">
              <a:rPr lang="en-US" smtClean="0"/>
              <a:t>3/2/2010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8B91E8-7A66-4326-AD0C-95D8941537E5}" type="slidenum">
              <a:rPr lang="en-US" smtClean="0"/>
              <a:t>‹#›</a:t>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FF999A-F744-40AC-A16A-0E5F8BC3926E}" type="datetimeFigureOut">
              <a:rPr lang="en-US" smtClean="0"/>
              <a:t>3/2/2010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8B91E8-7A66-4326-AD0C-95D8941537E5}"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FF999A-F744-40AC-A16A-0E5F8BC3926E}" type="datetimeFigureOut">
              <a:rPr lang="en-US" smtClean="0"/>
              <a:t>3/2/2010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B91E8-7A66-4326-AD0C-95D8941537E5}" type="slidenum">
              <a:rPr lang="en-US" smtClean="0"/>
              <a:t>‹#›</a:t>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FF999A-F744-40AC-A16A-0E5F8BC3926E}" type="datetimeFigureOut">
              <a:rPr lang="en-US" smtClean="0"/>
              <a:t>3/2/2010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B91E8-7A66-4326-AD0C-95D8941537E5}" type="slidenum">
              <a:rPr lang="en-US" smtClean="0"/>
              <a:t>‹#›</a:t>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5586B11A-C4A1-47DA-838B-350693314B92}"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637B658-DD6B-4322-85F9-46631A5ED872}" type="slidenum">
              <a:rPr lang="en-US"/>
              <a:pPr>
                <a:defRPr/>
              </a:pPr>
              <a:t>‹#›</a:t>
            </a:fld>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229D45E-D662-4E2F-905E-5A7393B98CC3}"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88641BF-97F6-448C-9D87-AFCB787CAA74}" type="slidenum">
              <a:rPr lang="en-US"/>
              <a:pPr>
                <a:defRPr/>
              </a:pPr>
              <a:t>‹#›</a:t>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64979371-032F-4E98-BB5B-F93E97F64926}"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CAC8D70-C4A5-4098-8B28-67C22413EEDB}" type="slidenum">
              <a:rPr lang="en-US"/>
              <a:pPr>
                <a:defRPr/>
              </a:pPr>
              <a:t>‹#›</a:t>
            </a:fld>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79013FF0-2C43-4F18-BCD9-BEB3D2B79A29}"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4F4BD28-ECBD-4DB1-B59A-B848334A878E}" type="slidenum">
              <a:rPr lang="en-US"/>
              <a:pPr>
                <a:defRPr/>
              </a:pPr>
              <a:t>‹#›</a:t>
            </a:fld>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DB4E0D35-4DF3-4804-A854-4BD49CD5B99F}" type="datetimeFigureOut">
              <a:rPr lang="en-US"/>
              <a:pPr>
                <a:defRPr/>
              </a:pPr>
              <a:t>3/2/2010</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0341D83-EDCD-4E03-A7B6-367F5BC2700F}" type="slidenum">
              <a:rPr lang="en-US"/>
              <a:pPr>
                <a:defRPr/>
              </a:pPr>
              <a:t>‹#›</a:t>
            </a:fld>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78457E2A-483E-4F43-9E17-1751C9EE7F99}" type="datetimeFigureOut">
              <a:rPr lang="en-US"/>
              <a:pPr>
                <a:defRPr/>
              </a:pPr>
              <a:t>3/2/2010</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7198CCDD-1151-4221-AB8C-83D9F4491FFC}" type="slidenum">
              <a:rPr lang="en-US"/>
              <a:pPr>
                <a:defRPr/>
              </a:pPr>
              <a:t>‹#›</a:t>
            </a:fld>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9B021B5-2365-412A-95CA-93EC7C520D61}" type="datetimeFigureOut">
              <a:rPr lang="en-US"/>
              <a:pPr>
                <a:defRPr/>
              </a:pPr>
              <a:t>3/2/2010</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EA228E6-CCAD-4FE1-A9B3-B885F931B7E1}" type="slidenum">
              <a:rPr lang="en-US"/>
              <a:pPr>
                <a:defRPr/>
              </a:pPr>
              <a:t>‹#›</a:t>
            </a:fld>
            <a:endParaRPr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EBED18A-5E42-438F-AFB8-328B143EF8DF}"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9ED6C64-C831-46F2-A46B-D1E687F532CD}" type="slidenum">
              <a:rPr lang="en-US"/>
              <a:pPr>
                <a:defRPr/>
              </a:pPr>
              <a:t>‹#›</a:t>
            </a:fld>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C60F4AF-DB58-4BEA-8A0F-63F811CEF708}" type="datetimeFigureOut">
              <a:rPr lang="en-US"/>
              <a:pPr>
                <a:defRPr/>
              </a:pPr>
              <a:t>3/2/2010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8E79B24-A81A-4EFC-B2E3-2CD40F8F7D9E}" type="slidenum">
              <a:rPr lang="en-US"/>
              <a:pPr>
                <a:defRPr/>
              </a:pPr>
              <a:t>‹#›</a:t>
            </a:fld>
            <a:endParaRPr 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BDB195C-B6E3-4A29-8044-05B4575524FD}"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F3EC69C-FF6F-489F-9D12-77DE2183FD73}" type="slidenum">
              <a:rPr lang="en-US"/>
              <a:pPr>
                <a:defRPr/>
              </a:pPr>
              <a:t>‹#›</a:t>
            </a:fld>
            <a:endParaRPr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CE2C420-66F9-4F8D-962D-E0127173286D}" type="datetimeFigureOut">
              <a:rPr lang="en-US"/>
              <a:pPr>
                <a:defRPr/>
              </a:pPr>
              <a:t>3/2/2010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8C159BC-8616-4CC9-A696-500297B52B4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DDEBCF"/>
            </a:gs>
            <a:gs pos="50000">
              <a:srgbClr val="9CB86E"/>
            </a:gs>
            <a:gs pos="100000">
              <a:srgbClr val="156B13"/>
            </a:gs>
          </a:gsLst>
          <a:lin ang="10800000" scaled="1"/>
        </a:gra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BDC4979B-9F8F-4AB8-93AF-4C8699291353}" type="datetimeFigureOut">
              <a:rPr lang="en-US"/>
              <a:pPr>
                <a:defRPr/>
              </a:pPr>
              <a:t>3/2/2010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F8D3A536-9073-4593-BBB5-1C11CB555FD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DDEBCF"/>
            </a:gs>
            <a:gs pos="50000">
              <a:srgbClr val="9CB86E"/>
            </a:gs>
            <a:gs pos="100000">
              <a:srgbClr val="156B13"/>
            </a:gs>
          </a:gsLst>
          <a:lin ang="10800000" scaled="1"/>
        </a:gradFill>
        <a:effectLst/>
      </p:bgPr>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331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Calibri"/>
                <a:cs typeface="+mn-cs"/>
              </a:defRPr>
            </a:lvl1pPr>
          </a:lstStyle>
          <a:p>
            <a:pPr>
              <a:defRPr/>
            </a:pPr>
            <a:fld id="{F4B28599-2CBE-4F78-A12B-6621938AD12D}" type="datetimeFigureOut">
              <a:rPr lang="en-US"/>
              <a:pPr>
                <a:defRPr/>
              </a:pPr>
              <a:t>3/2/2010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Calibri"/>
                <a:cs typeface="+mn-cs"/>
              </a:defRPr>
            </a:lvl1pPr>
          </a:lstStyle>
          <a:p>
            <a:pPr>
              <a:defRPr/>
            </a:pPr>
            <a:fld id="{ED5B587F-38C6-4939-AC7C-95EB984DAAC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DDEBCF"/>
            </a:gs>
            <a:gs pos="50000">
              <a:srgbClr val="9CB86E"/>
            </a:gs>
            <a:gs pos="100000">
              <a:srgbClr val="156B13"/>
            </a:gs>
          </a:gsLst>
          <a:lin ang="10800000" scaled="1"/>
        </a:gradFill>
        <a:effectLst/>
      </p:bgPr>
    </p:bg>
    <p:spTree>
      <p:nvGrpSpPr>
        <p:cNvPr id="1" name=""/>
        <p:cNvGrpSpPr/>
        <p:nvPr/>
      </p:nvGrpSpPr>
      <p:grpSpPr>
        <a:xfrm>
          <a:off x="0" y="0"/>
          <a:ext cx="0" cy="0"/>
          <a:chOff x="0" y="0"/>
          <a:chExt cx="0" cy="0"/>
        </a:xfrm>
      </p:grpSpPr>
      <p:sp>
        <p:nvSpPr>
          <p:cNvPr id="2560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560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Calibri"/>
                <a:cs typeface="+mn-cs"/>
              </a:defRPr>
            </a:lvl1pPr>
          </a:lstStyle>
          <a:p>
            <a:pPr>
              <a:defRPr/>
            </a:pPr>
            <a:fld id="{43D2DC5C-D954-4BAB-81DC-AEB08296954D}" type="datetimeFigureOut">
              <a:rPr lang="en-US"/>
              <a:pPr>
                <a:defRPr/>
              </a:pPr>
              <a:t>3/2/2010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Calibri"/>
                <a:cs typeface="+mn-cs"/>
              </a:defRPr>
            </a:lvl1pPr>
          </a:lstStyle>
          <a:p>
            <a:pPr>
              <a:defRPr/>
            </a:pPr>
            <a:fld id="{0E8230A2-9BBF-425D-90C4-BBD98168F09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52" r:id="rId1"/>
    <p:sldLayoutId id="2147483753" r:id="rId2"/>
    <p:sldLayoutId id="2147483774"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FF999A-F744-40AC-A16A-0E5F8BC3926E}" type="datetimeFigureOut">
              <a:rPr lang="en-US" smtClean="0"/>
              <a:t>3/2/2010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8B91E8-7A66-4326-AD0C-95D8941537E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DDEBCF"/>
            </a:gs>
            <a:gs pos="50000">
              <a:srgbClr val="9CB86E"/>
            </a:gs>
            <a:gs pos="100000">
              <a:srgbClr val="156B13"/>
            </a:gs>
          </a:gsLst>
          <a:lin ang="10800000" scaled="1"/>
        </a:gradFill>
        <a:effectLst/>
      </p:bgPr>
    </p:bg>
    <p:spTree>
      <p:nvGrpSpPr>
        <p:cNvPr id="1" name=""/>
        <p:cNvGrpSpPr/>
        <p:nvPr/>
      </p:nvGrpSpPr>
      <p:grpSpPr>
        <a:xfrm>
          <a:off x="0" y="0"/>
          <a:ext cx="0" cy="0"/>
          <a:chOff x="0" y="0"/>
          <a:chExt cx="0" cy="0"/>
        </a:xfrm>
      </p:grpSpPr>
      <p:sp>
        <p:nvSpPr>
          <p:cNvPr id="3789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789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mn-lt"/>
                <a:cs typeface="+mn-cs"/>
              </a:defRPr>
            </a:lvl1pPr>
          </a:lstStyle>
          <a:p>
            <a:pPr>
              <a:defRPr/>
            </a:pPr>
            <a:fld id="{8130A6FB-2BBF-4566-ACB6-86F5B529A4BB}" type="datetimeFigureOut">
              <a:rPr lang="en-US"/>
              <a:pPr>
                <a:defRPr/>
              </a:pPr>
              <a:t>3/2/2010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mn-lt"/>
                <a:cs typeface="+mn-cs"/>
              </a:defRPr>
            </a:lvl1pPr>
          </a:lstStyle>
          <a:p>
            <a:pPr>
              <a:defRPr/>
            </a:pPr>
            <a:fld id="{A0378BB6-09ED-403D-8C8F-897376C6956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4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wmf"/><Relationship Id="rId1" Type="http://schemas.openxmlformats.org/officeDocument/2006/relationships/slideLayout" Target="../slideLayouts/slideLayout24.xml"/><Relationship Id="rId4" Type="http://schemas.openxmlformats.org/officeDocument/2006/relationships/slide" Target="slide6.xml"/></Relationships>
</file>

<file path=ppt/slides/_rels/slide3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15.emf"/><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8.xml"/><Relationship Id="rId1" Type="http://schemas.openxmlformats.org/officeDocument/2006/relationships/slideLayout" Target="../slideLayouts/slideLayout24.xml"/><Relationship Id="rId4" Type="http://schemas.openxmlformats.org/officeDocument/2006/relationships/slide" Target="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ctrTitle"/>
          </p:nvPr>
        </p:nvSpPr>
        <p:spPr>
          <a:xfrm>
            <a:off x="685800" y="1143000"/>
            <a:ext cx="7772400" cy="2457450"/>
          </a:xfrm>
        </p:spPr>
        <p:txBody>
          <a:bodyPr/>
          <a:lstStyle/>
          <a:p>
            <a:pPr eaLnBrk="1" hangingPunct="1"/>
            <a:r>
              <a:rPr lang="en-US" smtClean="0"/>
              <a:t>Private Schools, Earthquakes: What we know from Pakistan (with insights for Haiti)</a:t>
            </a:r>
          </a:p>
        </p:txBody>
      </p:sp>
      <p:sp>
        <p:nvSpPr>
          <p:cNvPr id="3" name="Subtitle 2"/>
          <p:cNvSpPr>
            <a:spLocks noGrp="1"/>
          </p:cNvSpPr>
          <p:nvPr>
            <p:ph type="subTitle" idx="1"/>
          </p:nvPr>
        </p:nvSpPr>
        <p:spPr/>
        <p:txBody>
          <a:bodyPr rtlCol="0">
            <a:normAutofit fontScale="92500" lnSpcReduction="20000"/>
          </a:bodyPr>
          <a:lstStyle/>
          <a:p>
            <a:pPr eaLnBrk="1" fontAlgn="auto" hangingPunct="1">
              <a:spcAft>
                <a:spcPts val="0"/>
              </a:spcAft>
              <a:buFont typeface="Arial" pitchFamily="34" charset="0"/>
              <a:buNone/>
              <a:defRPr/>
            </a:pPr>
            <a:r>
              <a:rPr lang="en-US" dirty="0" err="1" smtClean="0">
                <a:solidFill>
                  <a:schemeClr val="bg1">
                    <a:lumMod val="95000"/>
                  </a:schemeClr>
                </a:solidFill>
              </a:rPr>
              <a:t>Jishnu</a:t>
            </a:r>
            <a:r>
              <a:rPr lang="en-US" dirty="0" smtClean="0">
                <a:solidFill>
                  <a:schemeClr val="bg1">
                    <a:lumMod val="95000"/>
                  </a:schemeClr>
                </a:solidFill>
              </a:rPr>
              <a:t> Das (World Bank)</a:t>
            </a:r>
          </a:p>
          <a:p>
            <a:pPr eaLnBrk="1" fontAlgn="auto" hangingPunct="1">
              <a:spcAft>
                <a:spcPts val="0"/>
              </a:spcAft>
              <a:buFont typeface="Arial" pitchFamily="34" charset="0"/>
              <a:buNone/>
              <a:defRPr/>
            </a:pPr>
            <a:r>
              <a:rPr lang="en-US" dirty="0" err="1" smtClean="0">
                <a:solidFill>
                  <a:schemeClr val="bg1">
                    <a:lumMod val="95000"/>
                  </a:schemeClr>
                </a:solidFill>
              </a:rPr>
              <a:t>Tahir</a:t>
            </a:r>
            <a:r>
              <a:rPr lang="en-US" dirty="0" smtClean="0">
                <a:solidFill>
                  <a:schemeClr val="bg1">
                    <a:lumMod val="95000"/>
                  </a:schemeClr>
                </a:solidFill>
              </a:rPr>
              <a:t> </a:t>
            </a:r>
            <a:r>
              <a:rPr lang="en-US" dirty="0" err="1" smtClean="0">
                <a:solidFill>
                  <a:schemeClr val="bg1">
                    <a:lumMod val="95000"/>
                  </a:schemeClr>
                </a:solidFill>
              </a:rPr>
              <a:t>Andrabi</a:t>
            </a:r>
            <a:r>
              <a:rPr lang="en-US" dirty="0" smtClean="0">
                <a:solidFill>
                  <a:schemeClr val="bg1">
                    <a:lumMod val="95000"/>
                  </a:schemeClr>
                </a:solidFill>
              </a:rPr>
              <a:t> (Pomona College)</a:t>
            </a:r>
          </a:p>
          <a:p>
            <a:pPr eaLnBrk="1" fontAlgn="auto" hangingPunct="1">
              <a:spcAft>
                <a:spcPts val="0"/>
              </a:spcAft>
              <a:buFont typeface="Arial" pitchFamily="34" charset="0"/>
              <a:buNone/>
              <a:defRPr/>
            </a:pPr>
            <a:r>
              <a:rPr lang="en-US" dirty="0" smtClean="0">
                <a:solidFill>
                  <a:schemeClr val="bg1">
                    <a:lumMod val="95000"/>
                  </a:schemeClr>
                </a:solidFill>
              </a:rPr>
              <a:t>(with inputs from Natalie </a:t>
            </a:r>
            <a:r>
              <a:rPr lang="en-US" dirty="0" err="1" smtClean="0">
                <a:solidFill>
                  <a:schemeClr val="bg1">
                    <a:lumMod val="95000"/>
                  </a:schemeClr>
                </a:solidFill>
              </a:rPr>
              <a:t>Bau</a:t>
            </a:r>
            <a:r>
              <a:rPr lang="en-US" dirty="0" smtClean="0">
                <a:solidFill>
                  <a:schemeClr val="bg1">
                    <a:lumMod val="95000"/>
                  </a:schemeClr>
                </a:solidFill>
              </a:rPr>
              <a:t> and </a:t>
            </a:r>
            <a:r>
              <a:rPr lang="en-US" dirty="0" err="1" smtClean="0">
                <a:solidFill>
                  <a:schemeClr val="bg1">
                    <a:lumMod val="95000"/>
                  </a:schemeClr>
                </a:solidFill>
              </a:rPr>
              <a:t>Erum</a:t>
            </a:r>
            <a:r>
              <a:rPr lang="en-US" dirty="0" smtClean="0">
                <a:solidFill>
                  <a:schemeClr val="bg1">
                    <a:lumMod val="95000"/>
                  </a:schemeClr>
                </a:solidFill>
              </a:rPr>
              <a:t> </a:t>
            </a:r>
            <a:r>
              <a:rPr lang="en-US" dirty="0" err="1" smtClean="0">
                <a:solidFill>
                  <a:schemeClr val="bg1">
                    <a:lumMod val="95000"/>
                  </a:schemeClr>
                </a:solidFill>
              </a:rPr>
              <a:t>Haider</a:t>
            </a:r>
            <a:r>
              <a:rPr lang="en-US" dirty="0" smtClean="0">
                <a:solidFill>
                  <a:schemeClr val="bg1">
                    <a:lumMod val="95000"/>
                  </a:schemeClr>
                </a:solidFill>
              </a:rPr>
              <a:t>, World Bank)</a:t>
            </a:r>
            <a:endParaRPr lang="en-US" dirty="0">
              <a:solidFill>
                <a:schemeClr val="bg1">
                  <a:lumMod val="9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smtClean="0"/>
              <a:t>What could Pakistan and Haiti have in common?</a:t>
            </a:r>
            <a:endParaRPr lang="en-US" dirty="0"/>
          </a:p>
        </p:txBody>
      </p:sp>
      <p:sp>
        <p:nvSpPr>
          <p:cNvPr id="52226" name="Content Placeholder 2"/>
          <p:cNvSpPr>
            <a:spLocks noGrp="1"/>
          </p:cNvSpPr>
          <p:nvPr>
            <p:ph idx="1"/>
          </p:nvPr>
        </p:nvSpPr>
        <p:spPr>
          <a:xfrm>
            <a:off x="457200" y="1371600"/>
            <a:ext cx="8229600" cy="4525963"/>
          </a:xfrm>
        </p:spPr>
        <p:txBody>
          <a:bodyPr/>
          <a:lstStyle/>
          <a:p>
            <a:pPr eaLnBrk="1" hangingPunct="1">
              <a:lnSpc>
                <a:spcPct val="80000"/>
              </a:lnSpc>
            </a:pPr>
            <a:r>
              <a:rPr lang="en-US" sz="2000" dirty="0" smtClean="0"/>
              <a:t>Poor </a:t>
            </a:r>
            <a:r>
              <a:rPr lang="en-US" sz="2000" dirty="0" smtClean="0"/>
              <a:t>countries</a:t>
            </a:r>
            <a:endParaRPr lang="en-US" sz="2000" dirty="0" smtClean="0"/>
          </a:p>
          <a:p>
            <a:pPr eaLnBrk="1" hangingPunct="1">
              <a:lnSpc>
                <a:spcPct val="80000"/>
              </a:lnSpc>
            </a:pPr>
            <a:r>
              <a:rPr lang="en-US" sz="2000" dirty="0" smtClean="0"/>
              <a:t>Poor investments in education</a:t>
            </a:r>
          </a:p>
          <a:p>
            <a:pPr eaLnBrk="1" hangingPunct="1">
              <a:lnSpc>
                <a:spcPct val="80000"/>
              </a:lnSpc>
            </a:pPr>
            <a:r>
              <a:rPr lang="en-US" sz="2000" dirty="0" smtClean="0"/>
              <a:t>Poor educational outcomes</a:t>
            </a:r>
          </a:p>
          <a:p>
            <a:pPr eaLnBrk="1" hangingPunct="1">
              <a:lnSpc>
                <a:spcPct val="80000"/>
              </a:lnSpc>
            </a:pPr>
            <a:r>
              <a:rPr lang="en-US" sz="2000" dirty="0" smtClean="0"/>
              <a:t>Private </a:t>
            </a:r>
            <a:r>
              <a:rPr lang="en-US" sz="2000" dirty="0" smtClean="0"/>
              <a:t>school </a:t>
            </a:r>
            <a:r>
              <a:rPr lang="en-US" sz="2000" dirty="0" smtClean="0"/>
              <a:t>presence</a:t>
            </a:r>
          </a:p>
          <a:p>
            <a:pPr lvl="1" eaLnBrk="1" hangingPunct="1">
              <a:lnSpc>
                <a:spcPct val="80000"/>
              </a:lnSpc>
            </a:pPr>
            <a:r>
              <a:rPr lang="en-US" sz="1800" dirty="0" smtClean="0"/>
              <a:t>Large and growing in Pakistan (NOT </a:t>
            </a:r>
            <a:r>
              <a:rPr lang="en-US" sz="1800" dirty="0" err="1" smtClean="0"/>
              <a:t>madrassas</a:t>
            </a:r>
            <a:r>
              <a:rPr lang="en-US" sz="1800" dirty="0" smtClean="0"/>
              <a:t>, which account for 1-1.5% of enrollment)</a:t>
            </a:r>
          </a:p>
          <a:p>
            <a:pPr lvl="1" eaLnBrk="1" hangingPunct="1">
              <a:lnSpc>
                <a:spcPct val="80000"/>
              </a:lnSpc>
            </a:pPr>
            <a:r>
              <a:rPr lang="en-US" sz="1800" dirty="0" smtClean="0"/>
              <a:t>Much larger in Haiti</a:t>
            </a:r>
          </a:p>
          <a:p>
            <a:pPr eaLnBrk="1" hangingPunct="1">
              <a:lnSpc>
                <a:spcPct val="80000"/>
              </a:lnSpc>
            </a:pPr>
            <a:r>
              <a:rPr lang="en-US" sz="2000" dirty="0" smtClean="0"/>
              <a:t>Pakistan has </a:t>
            </a:r>
            <a:r>
              <a:rPr lang="en-US" sz="2000" i="1" dirty="0" smtClean="0"/>
              <a:t>much better information on private schools </a:t>
            </a:r>
            <a:r>
              <a:rPr lang="en-US" sz="2000" dirty="0" smtClean="0"/>
              <a:t>(LEAPS and APPEAR projects)</a:t>
            </a:r>
          </a:p>
          <a:p>
            <a:pPr lvl="1" eaLnBrk="1" hangingPunct="1">
              <a:lnSpc>
                <a:spcPct val="80000"/>
              </a:lnSpc>
            </a:pPr>
            <a:r>
              <a:rPr lang="en-US" sz="2000" dirty="0" smtClean="0"/>
              <a:t>Argue that this provides valuable insights for Haiti</a:t>
            </a:r>
          </a:p>
        </p:txBody>
      </p:sp>
      <p:graphicFrame>
        <p:nvGraphicFramePr>
          <p:cNvPr id="52256" name="Group 32"/>
          <p:cNvGraphicFramePr>
            <a:graphicFrameLocks noGrp="1"/>
          </p:cNvGraphicFramePr>
          <p:nvPr/>
        </p:nvGraphicFramePr>
        <p:xfrm>
          <a:off x="152400" y="4267200"/>
          <a:ext cx="8839200" cy="2090866"/>
        </p:xfrm>
        <a:graphic>
          <a:graphicData uri="http://schemas.openxmlformats.org/drawingml/2006/table">
            <a:tbl>
              <a:tblPr/>
              <a:tblGrid>
                <a:gridCol w="2511425"/>
                <a:gridCol w="1100138"/>
                <a:gridCol w="2281237"/>
                <a:gridCol w="1425575"/>
                <a:gridCol w="1520825"/>
              </a:tblGrid>
              <a:tr h="171450">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Garamond" pitchFamily="18" charset="0"/>
                        <a:ea typeface="Calibri" pitchFamily="34" charset="0"/>
                        <a:cs typeface="Times New Roman" pitchFamily="18" charset="0"/>
                      </a:endParaRPr>
                    </a:p>
                  </a:txBody>
                  <a:tcPr marL="68580" marR="6858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Calibri" pitchFamily="34" charset="0"/>
                          <a:cs typeface="Arial" charset="0"/>
                        </a:rPr>
                        <a:t>Haiti</a:t>
                      </a:r>
                      <a:r>
                        <a:rPr kumimoji="0" lang="en-US" sz="1800" b="0" i="0" u="none" strike="noStrike" cap="none" normalizeH="0" baseline="30000" smtClean="0">
                          <a:ln>
                            <a:noFill/>
                          </a:ln>
                          <a:solidFill>
                            <a:schemeClr val="tx1"/>
                          </a:solidFill>
                          <a:effectLst/>
                          <a:latin typeface="Calibri" pitchFamily="34" charset="0"/>
                          <a:cs typeface="Arial" charset="0"/>
                        </a:rPr>
                        <a:t>1</a:t>
                      </a:r>
                      <a:endParaRPr kumimoji="0" lang="en-US" sz="1800" b="0" i="0" u="none" strike="noStrike" cap="none" normalizeH="0" baseline="3000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Calibri" pitchFamily="34" charset="0"/>
                          <a:cs typeface="Arial" charset="0"/>
                        </a:rPr>
                        <a:t>Pakistan</a:t>
                      </a:r>
                      <a:r>
                        <a:rPr kumimoji="0" lang="en-US" sz="1800" b="0" i="0" u="none" strike="noStrike" cap="none" normalizeH="0" baseline="30000" smtClean="0">
                          <a:ln>
                            <a:noFill/>
                          </a:ln>
                          <a:solidFill>
                            <a:schemeClr val="tx1"/>
                          </a:solidFill>
                          <a:effectLst/>
                          <a:latin typeface="Calibri" pitchFamily="34" charset="0"/>
                          <a:cs typeface="Arial" charset="0"/>
                        </a:rPr>
                        <a:t>2</a:t>
                      </a:r>
                    </a:p>
                  </a:txBody>
                  <a:tcPr marL="68580" marR="6858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r>
              <a:tr h="293688">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cs typeface="Arial" charset="0"/>
                        </a:rPr>
                        <a:t>GDP/Capita (PPP in 2005 US dollars)</a:t>
                      </a:r>
                      <a:endParaRPr kumimoji="0" lang="en-US" sz="15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dirty="0" smtClean="0">
                          <a:ln>
                            <a:noFill/>
                          </a:ln>
                          <a:solidFill>
                            <a:schemeClr val="tx1"/>
                          </a:solidFill>
                          <a:effectLst/>
                          <a:latin typeface="Calibri" pitchFamily="34" charset="0"/>
                          <a:cs typeface="Arial" charset="0"/>
                        </a:rPr>
                        <a:t>1,088</a:t>
                      </a:r>
                      <a:endParaRPr kumimoji="0" lang="en-US" sz="15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dirty="0" smtClean="0">
                          <a:ln>
                            <a:noFill/>
                          </a:ln>
                          <a:solidFill>
                            <a:schemeClr val="tx1"/>
                          </a:solidFill>
                          <a:effectLst/>
                          <a:latin typeface="Calibri" pitchFamily="34" charset="0"/>
                          <a:cs typeface="Arial" charset="0"/>
                        </a:rPr>
                        <a:t>2,444</a:t>
                      </a:r>
                      <a:endParaRPr kumimoji="0" lang="en-US" sz="15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hMerge="1">
                  <a:txBody>
                    <a:bodyPr/>
                    <a:lstStyle/>
                    <a:p>
                      <a:endParaRPr lang="en-US"/>
                    </a:p>
                  </a:txBody>
                  <a:tcPr/>
                </a:tc>
              </a:tr>
              <a:tr h="157163">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5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cs typeface="Arial" charset="0"/>
                        </a:rPr>
                        <a:t>Primary</a:t>
                      </a:r>
                    </a:p>
                  </a:txBody>
                  <a:tcPr marL="68580" marR="6858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Secondary</a:t>
                      </a:r>
                    </a:p>
                  </a:txBody>
                  <a:tcPr marL="68580" marR="6858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Primary</a:t>
                      </a:r>
                    </a:p>
                  </a:txBody>
                  <a:tcPr marL="68580" marR="6858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Secondary</a:t>
                      </a:r>
                    </a:p>
                  </a:txBody>
                  <a:tcPr marL="68580" marR="6858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390525">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cs typeface="Arial" charset="0"/>
                        </a:rPr>
                        <a:t>Net enrollment (% of relevant age group)</a:t>
                      </a:r>
                      <a:endParaRPr kumimoji="0" lang="en-US" sz="15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dirty="0" smtClean="0">
                          <a:ln>
                            <a:noFill/>
                          </a:ln>
                          <a:solidFill>
                            <a:schemeClr val="tx1"/>
                          </a:solidFill>
                          <a:effectLst/>
                          <a:latin typeface="Calibri" pitchFamily="34" charset="0"/>
                          <a:cs typeface="Arial" charset="0"/>
                        </a:rPr>
                        <a:t>76</a:t>
                      </a: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cs typeface="Arial" charset="0"/>
                        </a:rPr>
                        <a:t>22</a:t>
                      </a:r>
                      <a:r>
                        <a:rPr kumimoji="0" lang="en-US" sz="1800" b="0" i="0" u="none" strike="noStrike" cap="none" normalizeH="0" baseline="30000" smtClean="0">
                          <a:ln>
                            <a:noFill/>
                          </a:ln>
                          <a:solidFill>
                            <a:schemeClr val="tx1"/>
                          </a:solidFill>
                          <a:effectLst/>
                          <a:latin typeface="Calibri" pitchFamily="34" charset="0"/>
                          <a:cs typeface="Arial" charset="0"/>
                        </a:rPr>
                        <a:t>3</a:t>
                      </a: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66</a:t>
                      </a: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32</a:t>
                      </a:r>
                    </a:p>
                  </a:txBody>
                  <a:tcPr marL="68580" marR="6858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428625">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cs typeface="Arial" charset="0"/>
                        </a:rPr>
                        <a:t>Private School enrollment (% of total enrollment)</a:t>
                      </a:r>
                    </a:p>
                  </a:txBody>
                  <a:tcPr marL="68580" marR="6858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75</a:t>
                      </a:r>
                    </a:p>
                  </a:txBody>
                  <a:tcPr marL="68580" marR="6858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82</a:t>
                      </a:r>
                    </a:p>
                  </a:txBody>
                  <a:tcPr marL="68580" marR="6858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34</a:t>
                      </a:r>
                    </a:p>
                  </a:txBody>
                  <a:tcPr marL="68580" marR="6858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5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t>
                      </a:r>
                    </a:p>
                  </a:txBody>
                  <a:tcPr marL="68580" marR="6858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2253" name="Text Box 33"/>
          <p:cNvSpPr txBox="1">
            <a:spLocks noChangeArrowheads="1"/>
          </p:cNvSpPr>
          <p:nvPr/>
        </p:nvSpPr>
        <p:spPr bwMode="auto">
          <a:xfrm>
            <a:off x="228600" y="6324600"/>
            <a:ext cx="8153400" cy="549275"/>
          </a:xfrm>
          <a:prstGeom prst="rect">
            <a:avLst/>
          </a:prstGeom>
          <a:noFill/>
          <a:ln w="9525">
            <a:noFill/>
            <a:miter lim="800000"/>
            <a:headEnd/>
            <a:tailEnd/>
          </a:ln>
        </p:spPr>
        <p:txBody>
          <a:bodyPr>
            <a:spAutoFit/>
          </a:bodyPr>
          <a:lstStyle/>
          <a:p>
            <a:pPr>
              <a:spcBef>
                <a:spcPct val="50000"/>
              </a:spcBef>
            </a:pPr>
            <a:r>
              <a:rPr lang="en-US" sz="1200" dirty="0">
                <a:latin typeface="Calibri" pitchFamily="34" charset="0"/>
              </a:rPr>
              <a:t>1 – Wolff,  2008		2 – 2007 figures, World Bank</a:t>
            </a:r>
          </a:p>
          <a:p>
            <a:pPr>
              <a:spcBef>
                <a:spcPct val="50000"/>
              </a:spcBef>
            </a:pPr>
            <a:endParaRPr lang="en-US" sz="1200" dirty="0">
              <a:latin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226">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226">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225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2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5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p:txBody>
          <a:bodyPr/>
          <a:lstStyle/>
          <a:p>
            <a:pPr eaLnBrk="1" hangingPunct="1"/>
            <a:r>
              <a:rPr lang="en-US" smtClean="0"/>
              <a:t>Outline</a:t>
            </a:r>
          </a:p>
        </p:txBody>
      </p:sp>
      <p:sp>
        <p:nvSpPr>
          <p:cNvPr id="53250" name="Content Placeholder 2"/>
          <p:cNvSpPr>
            <a:spLocks noGrp="1"/>
          </p:cNvSpPr>
          <p:nvPr>
            <p:ph idx="1"/>
          </p:nvPr>
        </p:nvSpPr>
        <p:spPr/>
        <p:txBody>
          <a:bodyPr/>
          <a:lstStyle/>
          <a:p>
            <a:pPr eaLnBrk="1" hangingPunct="1">
              <a:lnSpc>
                <a:spcPct val="80000"/>
              </a:lnSpc>
            </a:pPr>
            <a:r>
              <a:rPr lang="en-US" sz="2500" dirty="0" smtClean="0"/>
              <a:t>Facts about Pakistani private schools</a:t>
            </a:r>
          </a:p>
          <a:p>
            <a:pPr lvl="1" eaLnBrk="1" hangingPunct="1">
              <a:lnSpc>
                <a:spcPct val="80000"/>
              </a:lnSpc>
            </a:pPr>
            <a:r>
              <a:rPr lang="en-US" sz="2200" dirty="0" smtClean="0"/>
              <a:t>Growth</a:t>
            </a:r>
          </a:p>
          <a:p>
            <a:pPr lvl="1" eaLnBrk="1" hangingPunct="1">
              <a:lnSpc>
                <a:spcPct val="80000"/>
              </a:lnSpc>
            </a:pPr>
            <a:r>
              <a:rPr lang="en-US" sz="2200" dirty="0" smtClean="0"/>
              <a:t>Costs</a:t>
            </a:r>
          </a:p>
          <a:p>
            <a:pPr lvl="1" eaLnBrk="1" hangingPunct="1">
              <a:lnSpc>
                <a:spcPct val="80000"/>
              </a:lnSpc>
            </a:pPr>
            <a:r>
              <a:rPr lang="en-US" sz="2200" dirty="0" smtClean="0"/>
              <a:t>Quality</a:t>
            </a:r>
          </a:p>
          <a:p>
            <a:pPr lvl="1" eaLnBrk="1" hangingPunct="1">
              <a:lnSpc>
                <a:spcPct val="80000"/>
              </a:lnSpc>
            </a:pPr>
            <a:r>
              <a:rPr lang="en-US" sz="2200" dirty="0" smtClean="0"/>
              <a:t>Recovery after earthquakes</a:t>
            </a:r>
          </a:p>
          <a:p>
            <a:pPr lvl="1" eaLnBrk="1" hangingPunct="1">
              <a:lnSpc>
                <a:spcPct val="80000"/>
              </a:lnSpc>
            </a:pPr>
            <a:r>
              <a:rPr lang="en-US" sz="2200" dirty="0" smtClean="0"/>
              <a:t>Location patterns and what they mean</a:t>
            </a:r>
          </a:p>
          <a:p>
            <a:pPr eaLnBrk="1" hangingPunct="1">
              <a:lnSpc>
                <a:spcPct val="80000"/>
              </a:lnSpc>
            </a:pPr>
            <a:r>
              <a:rPr lang="en-US" sz="2500" dirty="0" smtClean="0"/>
              <a:t>Key message</a:t>
            </a:r>
          </a:p>
          <a:p>
            <a:pPr lvl="1" eaLnBrk="1" hangingPunct="1">
              <a:lnSpc>
                <a:spcPct val="80000"/>
              </a:lnSpc>
            </a:pPr>
            <a:r>
              <a:rPr lang="en-US" sz="2200" dirty="0" smtClean="0"/>
              <a:t>In Pakistan private schools provide a cheap, higher quality alternative to public schools </a:t>
            </a:r>
            <a:r>
              <a:rPr lang="en-US" sz="2200" i="1" dirty="0" smtClean="0"/>
              <a:t>but</a:t>
            </a:r>
            <a:r>
              <a:rPr lang="en-US" sz="2200" dirty="0" smtClean="0"/>
              <a:t> they do not arise everywhere</a:t>
            </a:r>
          </a:p>
          <a:p>
            <a:pPr lvl="2" eaLnBrk="1" hangingPunct="1">
              <a:lnSpc>
                <a:spcPct val="80000"/>
              </a:lnSpc>
            </a:pPr>
            <a:r>
              <a:rPr lang="en-US" sz="1900" dirty="0" smtClean="0"/>
              <a:t> due to </a:t>
            </a:r>
            <a:r>
              <a:rPr lang="en-US" sz="1900" i="1" dirty="0" smtClean="0"/>
              <a:t>supply constraints</a:t>
            </a:r>
            <a:r>
              <a:rPr lang="en-US" sz="1900" dirty="0" smtClean="0"/>
              <a:t> in the availability of teachers</a:t>
            </a:r>
          </a:p>
          <a:p>
            <a:pPr eaLnBrk="1" hangingPunct="1">
              <a:lnSpc>
                <a:spcPct val="80000"/>
              </a:lnSpc>
            </a:pPr>
            <a:r>
              <a:rPr lang="en-US" sz="2500" dirty="0" smtClean="0"/>
              <a:t>Argue that we can reexamine Haitian education in the light of these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25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3250">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250">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250">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250">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3250">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325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325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Pakistani private schools</a:t>
            </a:r>
            <a:endParaRPr lang="en-US" dirty="0"/>
          </a:p>
        </p:txBody>
      </p:sp>
      <p:sp>
        <p:nvSpPr>
          <p:cNvPr id="3" name="Content Placeholder 2"/>
          <p:cNvSpPr>
            <a:spLocks noGrp="1"/>
          </p:cNvSpPr>
          <p:nvPr>
            <p:ph idx="1"/>
          </p:nvPr>
        </p:nvSpPr>
        <p:spPr/>
        <p:txBody>
          <a:bodyPr/>
          <a:lstStyle/>
          <a:p>
            <a:r>
              <a:rPr lang="en-US" dirty="0" smtClean="0"/>
              <a:t>Secular, “mom and pop” schools</a:t>
            </a:r>
          </a:p>
          <a:p>
            <a:r>
              <a:rPr lang="en-US" dirty="0" smtClean="0"/>
              <a:t>Mostly unregistered </a:t>
            </a:r>
          </a:p>
          <a:p>
            <a:r>
              <a:rPr lang="en-US" dirty="0" smtClean="0"/>
              <a:t>No regulation (even on curriculum)</a:t>
            </a:r>
          </a:p>
          <a:p>
            <a:endParaRPr lang="en-US" dirty="0" smtClean="0"/>
          </a:p>
          <a:p>
            <a:endParaRPr lang="en-US" dirty="0" smtClean="0"/>
          </a:p>
          <a:p>
            <a:r>
              <a:rPr lang="en-US" dirty="0" smtClean="0"/>
              <a:t>Recipe for disaster?</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7000"/>
            <a:ext cx="8229600" cy="1143000"/>
          </a:xfrm>
        </p:spPr>
        <p:txBody>
          <a:bodyPr/>
          <a:lstStyle/>
          <a:p>
            <a:r>
              <a:rPr lang="en-US" dirty="0" smtClean="0"/>
              <a:t>What we know from existing work</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r>
              <a:rPr lang="en-US" smtClean="0"/>
              <a:t>Private School Growth</a:t>
            </a:r>
          </a:p>
        </p:txBody>
      </p:sp>
      <p:sp>
        <p:nvSpPr>
          <p:cNvPr id="8" name="Content Placeholder 7"/>
          <p:cNvSpPr>
            <a:spLocks noGrp="1"/>
          </p:cNvSpPr>
          <p:nvPr>
            <p:ph idx="1"/>
          </p:nvPr>
        </p:nvSpPr>
        <p:spPr>
          <a:xfrm>
            <a:off x="457200" y="1371600"/>
            <a:ext cx="8229600" cy="5181600"/>
          </a:xfrm>
        </p:spPr>
        <p:txBody>
          <a:bodyPr/>
          <a:lstStyle/>
          <a:p>
            <a:r>
              <a:rPr lang="en-US" dirty="0" smtClean="0"/>
              <a:t>Enrollment shares in private schools increased dramatically, from less than 5% in 1990 to 35% in 2007 in Pakistan</a:t>
            </a:r>
          </a:p>
          <a:p>
            <a:pPr lvl="1"/>
            <a:r>
              <a:rPr lang="en-US" dirty="0" smtClean="0"/>
              <a:t>Large portion of the growth has come in </a:t>
            </a:r>
            <a:r>
              <a:rPr lang="en-US" i="1" dirty="0" smtClean="0"/>
              <a:t>rural regions</a:t>
            </a:r>
          </a:p>
          <a:p>
            <a:pPr lvl="1"/>
            <a:r>
              <a:rPr lang="en-US" dirty="0" smtClean="0"/>
              <a:t>Not specific to Pakistan—identical patterns in India</a:t>
            </a:r>
          </a:p>
          <a:p>
            <a:pPr lvl="1"/>
            <a:r>
              <a:rPr lang="en-US" dirty="0" smtClean="0"/>
              <a:t>Enrollment shares increased even as the government poured money into </a:t>
            </a:r>
            <a:r>
              <a:rPr lang="en-US" i="1" dirty="0" smtClean="0"/>
              <a:t>public</a:t>
            </a:r>
            <a:r>
              <a:rPr lang="en-US" dirty="0" smtClean="0"/>
              <a:t> schools</a:t>
            </a:r>
          </a:p>
          <a:p>
            <a:pPr>
              <a:buNone/>
            </a:pPr>
            <a:endParaRPr lang="en-US" sz="2000" dirty="0" smtClean="0"/>
          </a:p>
          <a:p>
            <a:pPr>
              <a:buNone/>
            </a:pPr>
            <a:r>
              <a:rPr lang="en-US" sz="2000" dirty="0" smtClean="0">
                <a:hlinkClick r:id="rId2" action="ppaction://hlinksldjump"/>
              </a:rPr>
              <a:t>Click here to see pictures</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p:txBody>
          <a:bodyPr/>
          <a:lstStyle/>
          <a:p>
            <a:pPr eaLnBrk="1" hangingPunct="1"/>
            <a:r>
              <a:rPr lang="en-US" sz="3200" smtClean="0"/>
              <a:t>Private School Costs</a:t>
            </a:r>
          </a:p>
        </p:txBody>
      </p:sp>
      <p:sp>
        <p:nvSpPr>
          <p:cNvPr id="6" name="Content Placeholder 5"/>
          <p:cNvSpPr>
            <a:spLocks noGrp="1"/>
          </p:cNvSpPr>
          <p:nvPr>
            <p:ph idx="1"/>
          </p:nvPr>
        </p:nvSpPr>
        <p:spPr>
          <a:xfrm>
            <a:off x="457200" y="1600200"/>
            <a:ext cx="8229600" cy="4800600"/>
          </a:xfrm>
        </p:spPr>
        <p:txBody>
          <a:bodyPr/>
          <a:lstStyle/>
          <a:p>
            <a:r>
              <a:rPr lang="en-US" dirty="0" smtClean="0"/>
              <a:t>Private schools are (very) cheap</a:t>
            </a:r>
          </a:p>
          <a:p>
            <a:r>
              <a:rPr lang="en-US" dirty="0" smtClean="0"/>
              <a:t>The median fee in a private school is still less than a dime a day</a:t>
            </a:r>
          </a:p>
          <a:p>
            <a:pPr lvl="1"/>
            <a:r>
              <a:rPr lang="en-US" dirty="0" smtClean="0"/>
              <a:t>Fees represent 1.7% of average household expenditure in rural areas</a:t>
            </a:r>
          </a:p>
          <a:p>
            <a:r>
              <a:rPr lang="en-US" dirty="0" smtClean="0"/>
              <a:t>Cost per student in a private school is ½ of that in a public school (lower bound estimate: other estimates suggest 1/6)</a:t>
            </a:r>
          </a:p>
          <a:p>
            <a:pPr>
              <a:buNone/>
            </a:pPr>
            <a:endParaRPr lang="en-US" sz="2000" dirty="0" smtClean="0"/>
          </a:p>
          <a:p>
            <a:pPr>
              <a:buNone/>
            </a:pPr>
            <a:r>
              <a:rPr lang="en-US" sz="2000" dirty="0" smtClean="0">
                <a:hlinkClick r:id="rId2" action="ppaction://hlinksldjump"/>
              </a:rPr>
              <a:t>Click here to see the table of fees in Pakistani provinces</a:t>
            </a:r>
            <a:endParaRPr lang="en-US" sz="2000" dirty="0" smtClean="0"/>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r>
              <a:rPr lang="en-US" smtClean="0"/>
              <a:t>Why are private schools so cheap?</a:t>
            </a:r>
          </a:p>
        </p:txBody>
      </p:sp>
      <p:sp>
        <p:nvSpPr>
          <p:cNvPr id="3" name="Content Placeholder 2"/>
          <p:cNvSpPr>
            <a:spLocks noGrp="1"/>
          </p:cNvSpPr>
          <p:nvPr>
            <p:ph idx="1"/>
          </p:nvPr>
        </p:nvSpPr>
        <p:spPr>
          <a:xfrm>
            <a:off x="457200" y="4114800"/>
            <a:ext cx="8001000" cy="2362200"/>
          </a:xfrm>
        </p:spPr>
        <p:txBody>
          <a:bodyPr rtlCol="0">
            <a:normAutofit fontScale="85000" lnSpcReduction="10000"/>
          </a:bodyPr>
          <a:lstStyle/>
          <a:p>
            <a:pPr eaLnBrk="1" fontAlgn="auto" hangingPunct="1">
              <a:spcAft>
                <a:spcPts val="0"/>
              </a:spcAft>
              <a:buFont typeface="Arial" pitchFamily="34" charset="0"/>
              <a:buChar char="•"/>
              <a:defRPr/>
            </a:pPr>
            <a:r>
              <a:rPr lang="en-US" dirty="0" smtClean="0"/>
              <a:t>Private schools hire</a:t>
            </a:r>
          </a:p>
          <a:p>
            <a:pPr lvl="1" eaLnBrk="1" fontAlgn="auto" hangingPunct="1">
              <a:spcAft>
                <a:spcPts val="0"/>
              </a:spcAft>
              <a:buFont typeface="Arial" pitchFamily="34" charset="0"/>
              <a:buChar char="–"/>
              <a:defRPr/>
            </a:pPr>
            <a:r>
              <a:rPr lang="en-US" dirty="0" smtClean="0"/>
              <a:t>Mostly female, local teachers with</a:t>
            </a:r>
          </a:p>
          <a:p>
            <a:pPr lvl="1" eaLnBrk="1" fontAlgn="auto" hangingPunct="1">
              <a:spcAft>
                <a:spcPts val="0"/>
              </a:spcAft>
              <a:buFont typeface="Arial" pitchFamily="34" charset="0"/>
              <a:buChar char="–"/>
              <a:defRPr/>
            </a:pPr>
            <a:r>
              <a:rPr lang="en-US" dirty="0" smtClean="0"/>
              <a:t>Only secondary education and no training whom they</a:t>
            </a:r>
          </a:p>
          <a:p>
            <a:pPr lvl="1" eaLnBrk="1" fontAlgn="auto" hangingPunct="1">
              <a:spcAft>
                <a:spcPts val="0"/>
              </a:spcAft>
              <a:buFont typeface="Arial" pitchFamily="34" charset="0"/>
              <a:buChar char="–"/>
              <a:defRPr/>
            </a:pPr>
            <a:r>
              <a:rPr lang="en-US" dirty="0" smtClean="0"/>
              <a:t>Pay very low wages ($15 a month)</a:t>
            </a:r>
          </a:p>
          <a:p>
            <a:pPr lvl="2" eaLnBrk="1" fontAlgn="auto" hangingPunct="1">
              <a:spcAft>
                <a:spcPts val="0"/>
              </a:spcAft>
              <a:buFont typeface="Arial" pitchFamily="34" charset="0"/>
              <a:buChar char="•"/>
              <a:defRPr/>
            </a:pPr>
            <a:r>
              <a:rPr lang="en-US" dirty="0" smtClean="0"/>
              <a:t>Teachers in public schools make </a:t>
            </a:r>
            <a:r>
              <a:rPr lang="en-US" i="1" dirty="0" smtClean="0"/>
              <a:t>5 times as much as those in private</a:t>
            </a:r>
            <a:endParaRPr lang="en-US" dirty="0"/>
          </a:p>
        </p:txBody>
      </p:sp>
      <p:pic>
        <p:nvPicPr>
          <p:cNvPr id="56323" name="Picture 2"/>
          <p:cNvPicPr>
            <a:picLocks noChangeAspect="1" noChangeArrowheads="1"/>
          </p:cNvPicPr>
          <p:nvPr/>
        </p:nvPicPr>
        <p:blipFill>
          <a:blip r:embed="rId2"/>
          <a:srcRect/>
          <a:stretch>
            <a:fillRect/>
          </a:stretch>
        </p:blipFill>
        <p:spPr bwMode="auto">
          <a:xfrm>
            <a:off x="1828800" y="1143000"/>
            <a:ext cx="5276850" cy="2990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pPr eaLnBrk="1" hangingPunct="1"/>
            <a:r>
              <a:rPr lang="en-US" sz="3600" dirty="0" smtClean="0"/>
              <a:t>But inputs are NOT outputs!</a:t>
            </a:r>
          </a:p>
        </p:txBody>
      </p:sp>
      <p:graphicFrame>
        <p:nvGraphicFramePr>
          <p:cNvPr id="4" name="Content Placeholder 3"/>
          <p:cNvGraphicFramePr>
            <a:graphicFrameLocks noGrp="1"/>
          </p:cNvGraphicFramePr>
          <p:nvPr>
            <p:ph idx="1"/>
          </p:nvPr>
        </p:nvGraphicFramePr>
        <p:xfrm>
          <a:off x="838200" y="1219200"/>
          <a:ext cx="7543800" cy="5316911"/>
        </p:xfrm>
        <a:graphic>
          <a:graphicData uri="http://schemas.openxmlformats.org/drawingml/2006/table">
            <a:tbl>
              <a:tblPr firstRow="1" bandRow="1">
                <a:tableStyleId>{F5AB1C69-6EDB-4FF4-983F-18BD219EF322}</a:tableStyleId>
              </a:tblPr>
              <a:tblGrid>
                <a:gridCol w="838200"/>
                <a:gridCol w="838200"/>
                <a:gridCol w="838200"/>
                <a:gridCol w="838200"/>
                <a:gridCol w="838200"/>
                <a:gridCol w="838200"/>
                <a:gridCol w="838200"/>
                <a:gridCol w="838200"/>
                <a:gridCol w="838200"/>
              </a:tblGrid>
              <a:tr h="208382">
                <a:tc gridSpan="9">
                  <a:txBody>
                    <a:bodyPr/>
                    <a:lstStyle/>
                    <a:p>
                      <a:pPr algn="ctr" fontAlgn="ctr"/>
                      <a:r>
                        <a:rPr lang="en-US" sz="1200" u="none" strike="noStrike" dirty="0"/>
                        <a:t>Effect of Private on Educational Outcomes Controlling for Age,  Gender, and District</a:t>
                      </a:r>
                      <a:endParaRPr lang="en-US" sz="1200" b="1" i="0" u="none" strike="noStrike" dirty="0">
                        <a:solidFill>
                          <a:srgbClr val="000000"/>
                        </a:solidFill>
                        <a:latin typeface="Garamond"/>
                      </a:endParaRP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457467">
                <a:tc>
                  <a:txBody>
                    <a:bodyPr/>
                    <a:lstStyle/>
                    <a:p>
                      <a:pPr algn="l" fontAlgn="ctr"/>
                      <a:r>
                        <a:rPr lang="en-US" sz="1200" u="none" strike="noStrike"/>
                        <a:t> </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dirty="0"/>
                        <a:t>All Enrollees</a:t>
                      </a:r>
                      <a:endParaRPr lang="en-US" sz="1200" b="0" i="0" u="none" strike="noStrike" dirty="0">
                        <a:solidFill>
                          <a:srgbClr val="000000"/>
                        </a:solidFill>
                        <a:latin typeface="Garamond"/>
                      </a:endParaRPr>
                    </a:p>
                  </a:txBody>
                  <a:tcPr marL="9525" marR="9525" marT="9525" marB="0" anchor="ctr"/>
                </a:tc>
                <a:tc>
                  <a:txBody>
                    <a:bodyPr/>
                    <a:lstStyle/>
                    <a:p>
                      <a:pPr algn="l" fontAlgn="ctr"/>
                      <a:r>
                        <a:rPr lang="en-US" sz="1200" u="none" strike="noStrike"/>
                        <a:t>R Squared</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All Girls</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R Squared</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All Boys</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R Squared</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All Enrollees With Village Fixed Effects</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R Squared</a:t>
                      </a:r>
                      <a:endParaRPr lang="en-US" sz="1200" b="0" i="0" u="none" strike="noStrike">
                        <a:solidFill>
                          <a:srgbClr val="000000"/>
                        </a:solidFill>
                        <a:latin typeface="Garamond"/>
                      </a:endParaRPr>
                    </a:p>
                  </a:txBody>
                  <a:tcPr marL="9525" marR="9525" marT="9525" marB="0" anchor="ctr"/>
                </a:tc>
              </a:tr>
              <a:tr h="208382">
                <a:tc>
                  <a:txBody>
                    <a:bodyPr/>
                    <a:lstStyle/>
                    <a:p>
                      <a:pPr algn="l" fontAlgn="ctr"/>
                      <a:r>
                        <a:rPr lang="en-US" sz="1200" u="none" strike="noStrike"/>
                        <a:t>English Score</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0.801***</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0.234</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0.609***</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0.151</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1.003***</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0.288</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0.840***</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0.374</a:t>
                      </a:r>
                      <a:endParaRPr lang="en-US" sz="1200" b="0" i="0" u="none" strike="noStrike">
                        <a:solidFill>
                          <a:srgbClr val="000000"/>
                        </a:solidFill>
                        <a:latin typeface="Garamond"/>
                      </a:endParaRPr>
                    </a:p>
                  </a:txBody>
                  <a:tcPr marL="9525" marR="9525" marT="9525" marB="0" anchor="ctr"/>
                </a:tc>
              </a:tr>
              <a:tr h="208382">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(0.075)</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dirty="0"/>
                        <a:t>(0.089)</a:t>
                      </a:r>
                      <a:endParaRPr lang="en-US" sz="1200" b="0" i="0" u="none" strike="noStrike" dirty="0">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(0.103)</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(0.084)</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r>
              <a:tr h="208382">
                <a:tc>
                  <a:txBody>
                    <a:bodyPr/>
                    <a:lstStyle/>
                    <a:p>
                      <a:pPr algn="l" fontAlgn="ctr"/>
                      <a:r>
                        <a:rPr lang="en-US" sz="1200" u="none" strike="noStrike"/>
                        <a:t>Urdu Score</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0.628***</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0.154</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0.588***</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0.129</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0.679***</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0.168</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0.742***</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0.314</a:t>
                      </a:r>
                      <a:endParaRPr lang="en-US" sz="1200" b="0" i="0" u="none" strike="noStrike">
                        <a:solidFill>
                          <a:srgbClr val="000000"/>
                        </a:solidFill>
                        <a:latin typeface="Garamond"/>
                      </a:endParaRPr>
                    </a:p>
                  </a:txBody>
                  <a:tcPr marL="9525" marR="9525" marT="9525" marB="0" anchor="ctr"/>
                </a:tc>
              </a:tr>
              <a:tr h="208382">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(0.082)</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(0.100)</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(0.125)</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(0.081)</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r>
              <a:tr h="208382">
                <a:tc>
                  <a:txBody>
                    <a:bodyPr/>
                    <a:lstStyle/>
                    <a:p>
                      <a:pPr algn="l" fontAlgn="ctr"/>
                      <a:r>
                        <a:rPr lang="en-US" sz="1200" u="none" strike="noStrike"/>
                        <a:t>Math Score</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0.690***</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0.147</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0.772***</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0.141</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0.620***</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0.155</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0.787***</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0.312</a:t>
                      </a:r>
                      <a:endParaRPr lang="en-US" sz="1200" b="0" i="0" u="none" strike="noStrike">
                        <a:solidFill>
                          <a:srgbClr val="000000"/>
                        </a:solidFill>
                        <a:latin typeface="Garamond"/>
                      </a:endParaRPr>
                    </a:p>
                  </a:txBody>
                  <a:tcPr marL="9525" marR="9525" marT="9525" marB="0" anchor="ctr"/>
                </a:tc>
              </a:tr>
              <a:tr h="208382">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(0.089)</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(0.123)</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(0.126)</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(0.095)</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r>
              <a:tr h="457467">
                <a:tc>
                  <a:txBody>
                    <a:bodyPr/>
                    <a:lstStyle/>
                    <a:p>
                      <a:pPr algn="l" fontAlgn="ctr"/>
                      <a:r>
                        <a:rPr lang="en-US" sz="1200" u="none" strike="noStrike"/>
                        <a:t>TIMSS Adjusted Math Score</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55.790***</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0.133</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60.489***</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0.125</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52.188***</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0.137</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62.921***</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0.297</a:t>
                      </a:r>
                      <a:endParaRPr lang="en-US" sz="1200" b="0" i="0" u="none" strike="noStrike">
                        <a:solidFill>
                          <a:srgbClr val="000000"/>
                        </a:solidFill>
                        <a:latin typeface="Garamond"/>
                      </a:endParaRPr>
                    </a:p>
                  </a:txBody>
                  <a:tcPr marL="9525" marR="9525" marT="9525" marB="0" anchor="ctr"/>
                </a:tc>
              </a:tr>
              <a:tr h="208382">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(7.857)</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(11.023)</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(11.228)</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(8.220)</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r>
              <a:tr h="457467">
                <a:tc>
                  <a:txBody>
                    <a:bodyPr/>
                    <a:lstStyle/>
                    <a:p>
                      <a:pPr algn="l" fontAlgn="ctr"/>
                      <a:r>
                        <a:rPr lang="en-US" sz="1200" u="none" strike="noStrike"/>
                        <a:t>All Ideology Related Questions</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0.277***</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0.041</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dirty="0"/>
                        <a:t>0.338***</a:t>
                      </a:r>
                      <a:endParaRPr lang="en-US" sz="1200" b="0" i="0" u="none" strike="noStrike" dirty="0">
                        <a:solidFill>
                          <a:srgbClr val="000000"/>
                        </a:solidFill>
                        <a:latin typeface="Garamond"/>
                      </a:endParaRPr>
                    </a:p>
                  </a:txBody>
                  <a:tcPr marL="9525" marR="9525" marT="9525" marB="0" anchor="ctr"/>
                </a:tc>
                <a:tc>
                  <a:txBody>
                    <a:bodyPr/>
                    <a:lstStyle/>
                    <a:p>
                      <a:pPr algn="l" fontAlgn="ctr"/>
                      <a:r>
                        <a:rPr lang="en-US" sz="1200" u="none" strike="noStrike"/>
                        <a:t>0.051</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0.235**</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0.033</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0.310***</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0.157</a:t>
                      </a:r>
                      <a:endParaRPr lang="en-US" sz="1200" b="0" i="0" u="none" strike="noStrike">
                        <a:solidFill>
                          <a:srgbClr val="000000"/>
                        </a:solidFill>
                        <a:latin typeface="Garamond"/>
                      </a:endParaRPr>
                    </a:p>
                  </a:txBody>
                  <a:tcPr marL="9525" marR="9525" marT="9525" marB="0" anchor="ctr"/>
                </a:tc>
              </a:tr>
              <a:tr h="208382">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(0.081)</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(0.112)</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(0.116)</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(0.089)</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r>
              <a:tr h="457467">
                <a:tc>
                  <a:txBody>
                    <a:bodyPr/>
                    <a:lstStyle/>
                    <a:p>
                      <a:pPr algn="l" fontAlgn="ctr"/>
                      <a:r>
                        <a:rPr lang="en-US" sz="1200" u="none" strike="noStrike"/>
                        <a:t>Pro Government Index</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0.215**</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0.027</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0.196</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0.029</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0.246**</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0.028</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0.201**</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0.147</a:t>
                      </a:r>
                      <a:endParaRPr lang="en-US" sz="1200" b="0" i="0" u="none" strike="noStrike">
                        <a:solidFill>
                          <a:srgbClr val="000000"/>
                        </a:solidFill>
                        <a:latin typeface="Garamond"/>
                      </a:endParaRPr>
                    </a:p>
                  </a:txBody>
                  <a:tcPr marL="9525" marR="9525" marT="9525" marB="0" anchor="ctr"/>
                </a:tc>
              </a:tr>
              <a:tr h="208382">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dirty="0"/>
                        <a:t>(0.083)</a:t>
                      </a:r>
                      <a:endParaRPr lang="en-US" sz="1200" b="0" i="0" u="none" strike="noStrike" dirty="0">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(0.123)</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(0.115)</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(0.093)</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r>
              <a:tr h="307580">
                <a:tc>
                  <a:txBody>
                    <a:bodyPr/>
                    <a:lstStyle/>
                    <a:p>
                      <a:pPr algn="l" fontAlgn="ctr"/>
                      <a:r>
                        <a:rPr lang="en-US" sz="1200" u="none" strike="noStrike"/>
                        <a:t>Pakistan Knowledge</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0.292***</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0.035</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0.415***</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0.059</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0.192</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0.023</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0.331***</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0.151</a:t>
                      </a:r>
                      <a:endParaRPr lang="en-US" sz="1200" b="0" i="0" u="none" strike="noStrike">
                        <a:solidFill>
                          <a:srgbClr val="000000"/>
                        </a:solidFill>
                        <a:latin typeface="Garamond"/>
                      </a:endParaRPr>
                    </a:p>
                  </a:txBody>
                  <a:tcPr marL="9525" marR="9525" marT="9525" marB="0" anchor="ctr"/>
                </a:tc>
              </a:tr>
              <a:tr h="208382">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(0.084)</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(0.110)</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(0.117)</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(0.094)</a:t>
                      </a:r>
                      <a:endParaRPr lang="en-US" sz="1200" b="0" i="0" u="none" strike="noStrike">
                        <a:solidFill>
                          <a:srgbClr val="000000"/>
                        </a:solidFill>
                        <a:latin typeface="Garamond"/>
                      </a:endParaRPr>
                    </a:p>
                  </a:txBody>
                  <a:tcPr marL="9525" marR="9525" marT="9525" marB="0" anchor="ctr"/>
                </a:tc>
                <a:tc>
                  <a:txBody>
                    <a:bodyPr/>
                    <a:lstStyle/>
                    <a:p>
                      <a:pPr algn="l" fontAlgn="ctr"/>
                      <a:endParaRPr lang="en-US" sz="1200" b="0" i="0" u="none" strike="noStrike">
                        <a:solidFill>
                          <a:srgbClr val="000000"/>
                        </a:solidFill>
                        <a:latin typeface="Garamond"/>
                      </a:endParaRPr>
                    </a:p>
                  </a:txBody>
                  <a:tcPr marL="9525" marR="9525" marT="9525" marB="0" anchor="ctr"/>
                </a:tc>
              </a:tr>
              <a:tr h="208382">
                <a:tc>
                  <a:txBody>
                    <a:bodyPr/>
                    <a:lstStyle/>
                    <a:p>
                      <a:pPr algn="l" fontAlgn="ctr"/>
                      <a:r>
                        <a:rPr lang="en-US" sz="1200" u="none" strike="noStrike"/>
                        <a:t>Male Bias</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-0.123*</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0.060</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-0.039</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0.027</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-0.197</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0.008</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-0.200**</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0.206</a:t>
                      </a:r>
                      <a:endParaRPr lang="en-US" sz="1200" b="0" i="0" u="none" strike="noStrike">
                        <a:solidFill>
                          <a:srgbClr val="000000"/>
                        </a:solidFill>
                        <a:latin typeface="Garamond"/>
                      </a:endParaRPr>
                    </a:p>
                  </a:txBody>
                  <a:tcPr marL="9525" marR="9525" marT="9525" marB="0" anchor="ctr"/>
                </a:tc>
              </a:tr>
              <a:tr h="208382">
                <a:tc>
                  <a:txBody>
                    <a:bodyPr/>
                    <a:lstStyle/>
                    <a:p>
                      <a:pPr algn="l" fontAlgn="ctr"/>
                      <a:r>
                        <a:rPr lang="en-US" sz="1200" u="none" strike="noStrike"/>
                        <a:t> </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(0.072)</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 </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(0.086)</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 </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(0.119)</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 </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a:t>(0.085)</a:t>
                      </a:r>
                      <a:endParaRPr lang="en-US" sz="1200" b="0" i="0" u="none" strike="noStrike">
                        <a:solidFill>
                          <a:srgbClr val="000000"/>
                        </a:solidFill>
                        <a:latin typeface="Garamond"/>
                      </a:endParaRPr>
                    </a:p>
                  </a:txBody>
                  <a:tcPr marL="9525" marR="9525" marT="9525" marB="0" anchor="ctr"/>
                </a:tc>
                <a:tc>
                  <a:txBody>
                    <a:bodyPr/>
                    <a:lstStyle/>
                    <a:p>
                      <a:pPr algn="l" fontAlgn="ctr"/>
                      <a:r>
                        <a:rPr lang="en-US" sz="1200" u="none" strike="noStrike" dirty="0"/>
                        <a:t> </a:t>
                      </a:r>
                      <a:endParaRPr lang="en-US" sz="1200" b="0" i="0" u="none" strike="noStrike" dirty="0">
                        <a:solidFill>
                          <a:srgbClr val="000000"/>
                        </a:solidFill>
                        <a:latin typeface="Garamond"/>
                      </a:endParaRPr>
                    </a:p>
                  </a:txBody>
                  <a:tcPr marL="9525" marR="9525" marT="9525" marB="0" anchor="ctr"/>
                </a:tc>
              </a:tr>
            </a:tbl>
          </a:graphicData>
        </a:graphic>
      </p:graphicFrame>
      <p:grpSp>
        <p:nvGrpSpPr>
          <p:cNvPr id="18" name="Group 17"/>
          <p:cNvGrpSpPr/>
          <p:nvPr/>
        </p:nvGrpSpPr>
        <p:grpSpPr>
          <a:xfrm>
            <a:off x="152400" y="152400"/>
            <a:ext cx="3352800" cy="3124200"/>
            <a:chOff x="152400" y="152400"/>
            <a:chExt cx="3352800" cy="3124200"/>
          </a:xfrm>
        </p:grpSpPr>
        <p:sp>
          <p:nvSpPr>
            <p:cNvPr id="5" name="Oval 4"/>
            <p:cNvSpPr/>
            <p:nvPr/>
          </p:nvSpPr>
          <p:spPr>
            <a:xfrm>
              <a:off x="1447800" y="1905000"/>
              <a:ext cx="990600" cy="1371600"/>
            </a:xfrm>
            <a:prstGeom prst="ellipse">
              <a:avLst/>
            </a:prstGeom>
            <a:solidFill>
              <a:schemeClr val="accent1">
                <a:alpha val="3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rot="16200000" flipV="1">
              <a:off x="495300" y="800100"/>
              <a:ext cx="15240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52400" y="152400"/>
              <a:ext cx="3352800" cy="369332"/>
            </a:xfrm>
            <a:prstGeom prst="rect">
              <a:avLst/>
            </a:prstGeom>
            <a:noFill/>
          </p:spPr>
          <p:txBody>
            <a:bodyPr wrap="square" rtlCol="0">
              <a:spAutoFit/>
            </a:bodyPr>
            <a:lstStyle/>
            <a:p>
              <a:r>
                <a:rPr lang="en-US" dirty="0" smtClean="0"/>
                <a:t>Far better test-score outcomes</a:t>
              </a:r>
              <a:endParaRPr lang="en-US" dirty="0"/>
            </a:p>
          </p:txBody>
        </p:sp>
      </p:grpSp>
      <p:grpSp>
        <p:nvGrpSpPr>
          <p:cNvPr id="19" name="Group 18"/>
          <p:cNvGrpSpPr/>
          <p:nvPr/>
        </p:nvGrpSpPr>
        <p:grpSpPr>
          <a:xfrm>
            <a:off x="1600200" y="164068"/>
            <a:ext cx="6324600" cy="3645932"/>
            <a:chOff x="1600200" y="164068"/>
            <a:chExt cx="6324600" cy="3645932"/>
          </a:xfrm>
        </p:grpSpPr>
        <p:sp>
          <p:nvSpPr>
            <p:cNvPr id="10" name="Oval 9"/>
            <p:cNvSpPr/>
            <p:nvPr/>
          </p:nvSpPr>
          <p:spPr>
            <a:xfrm>
              <a:off x="1600200" y="3276600"/>
              <a:ext cx="762000" cy="533400"/>
            </a:xfrm>
            <a:prstGeom prst="ellipse">
              <a:avLst/>
            </a:prstGeom>
            <a:solidFill>
              <a:schemeClr val="bg1">
                <a:lumMod val="65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rot="5400000" flipH="1" flipV="1">
              <a:off x="2095500" y="495300"/>
              <a:ext cx="2895600" cy="2819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648200" y="164068"/>
              <a:ext cx="3276600" cy="646331"/>
            </a:xfrm>
            <a:prstGeom prst="rect">
              <a:avLst/>
            </a:prstGeom>
            <a:noFill/>
          </p:spPr>
          <p:txBody>
            <a:bodyPr wrap="square" rtlCol="0">
              <a:spAutoFit/>
            </a:bodyPr>
            <a:lstStyle/>
            <a:p>
              <a:r>
                <a:rPr lang="en-US" dirty="0" smtClean="0"/>
                <a:t>1/3</a:t>
              </a:r>
              <a:r>
                <a:rPr lang="en-US" baseline="30000" dirty="0" smtClean="0"/>
                <a:t>rd</a:t>
              </a:r>
              <a:r>
                <a:rPr lang="en-US" dirty="0" smtClean="0"/>
                <a:t> TIMSS standard-deviation</a:t>
              </a:r>
              <a:endParaRPr lang="en-US" dirty="0"/>
            </a:p>
          </p:txBody>
        </p:sp>
      </p:grpSp>
      <p:grpSp>
        <p:nvGrpSpPr>
          <p:cNvPr id="22" name="Group 21"/>
          <p:cNvGrpSpPr/>
          <p:nvPr/>
        </p:nvGrpSpPr>
        <p:grpSpPr>
          <a:xfrm>
            <a:off x="1447800" y="1"/>
            <a:ext cx="7543800" cy="6476999"/>
            <a:chOff x="1447800" y="1"/>
            <a:chExt cx="7543800" cy="6476999"/>
          </a:xfrm>
        </p:grpSpPr>
        <p:sp>
          <p:nvSpPr>
            <p:cNvPr id="14" name="Oval 13"/>
            <p:cNvSpPr/>
            <p:nvPr/>
          </p:nvSpPr>
          <p:spPr>
            <a:xfrm>
              <a:off x="1447800" y="4038600"/>
              <a:ext cx="990600" cy="2438400"/>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p:nvCxnSpPr>
          <p:spPr>
            <a:xfrm flipV="1">
              <a:off x="2286000" y="685800"/>
              <a:ext cx="5257800" cy="3581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162800" y="1"/>
              <a:ext cx="1828800" cy="646331"/>
            </a:xfrm>
            <a:prstGeom prst="rect">
              <a:avLst/>
            </a:prstGeom>
            <a:noFill/>
          </p:spPr>
          <p:txBody>
            <a:bodyPr wrap="square" rtlCol="0">
              <a:spAutoFit/>
            </a:bodyPr>
            <a:lstStyle/>
            <a:p>
              <a:r>
                <a:rPr lang="en-US" dirty="0" smtClean="0"/>
                <a:t>“Better” civic values</a:t>
              </a:r>
              <a:endParaRPr lang="en-US"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ctrTitle"/>
          </p:nvPr>
        </p:nvSpPr>
        <p:spPr>
          <a:xfrm>
            <a:off x="762000" y="152400"/>
            <a:ext cx="7772400" cy="990600"/>
          </a:xfrm>
        </p:spPr>
        <p:txBody>
          <a:bodyPr/>
          <a:lstStyle/>
          <a:p>
            <a:pPr eaLnBrk="1" hangingPunct="1"/>
            <a:r>
              <a:rPr lang="en-US" sz="3600" smtClean="0"/>
              <a:t>Causality?</a:t>
            </a:r>
          </a:p>
        </p:txBody>
      </p:sp>
      <p:sp>
        <p:nvSpPr>
          <p:cNvPr id="58370" name="Subtitle 2"/>
          <p:cNvSpPr>
            <a:spLocks noGrp="1"/>
          </p:cNvSpPr>
          <p:nvPr>
            <p:ph type="subTitle" idx="1"/>
          </p:nvPr>
        </p:nvSpPr>
        <p:spPr>
          <a:xfrm>
            <a:off x="914400" y="1447800"/>
            <a:ext cx="7543800" cy="5105400"/>
          </a:xfrm>
        </p:spPr>
        <p:txBody>
          <a:bodyPr/>
          <a:lstStyle/>
          <a:p>
            <a:pPr algn="l" eaLnBrk="1" hangingPunct="1">
              <a:buFont typeface="Arial" charset="0"/>
              <a:buChar char="•"/>
            </a:pPr>
            <a:r>
              <a:rPr lang="en-US" sz="2800" dirty="0" smtClean="0">
                <a:solidFill>
                  <a:schemeClr val="tx1"/>
                </a:solidFill>
              </a:rPr>
              <a:t>In two different papers, we show that the results that children in private schools report higher test-scores and better civic values are causal</a:t>
            </a:r>
          </a:p>
          <a:p>
            <a:pPr marL="114300" lvl="1" algn="l" eaLnBrk="1" hangingPunct="1"/>
            <a:r>
              <a:rPr lang="en-US" sz="2400" dirty="0" smtClean="0">
                <a:solidFill>
                  <a:schemeClr val="tx1"/>
                </a:solidFill>
              </a:rPr>
              <a:t>	- Using children who switch from one type of school to another over time</a:t>
            </a:r>
          </a:p>
          <a:p>
            <a:pPr marL="114300" lvl="1" algn="l" eaLnBrk="1" hangingPunct="1"/>
            <a:r>
              <a:rPr lang="en-US" sz="2400" dirty="0" smtClean="0">
                <a:solidFill>
                  <a:schemeClr val="tx1"/>
                </a:solidFill>
              </a:rPr>
              <a:t>	- Using instrumental variables</a:t>
            </a:r>
          </a:p>
          <a:p>
            <a:pPr marL="114300" lvl="1" algn="l" eaLnBrk="1" hangingPunct="1">
              <a:buFont typeface="Arial" charset="0"/>
              <a:buChar char="•"/>
            </a:pPr>
            <a:endParaRPr lang="en-US" sz="2400" dirty="0" smtClean="0">
              <a:solidFill>
                <a:schemeClr val="tx1"/>
              </a:solidFill>
            </a:endParaRPr>
          </a:p>
          <a:p>
            <a:pPr marL="114300" lvl="1" algn="l" eaLnBrk="1" hangingPunct="1"/>
            <a:r>
              <a:rPr lang="en-US" sz="2400" dirty="0" smtClean="0">
                <a:solidFill>
                  <a:schemeClr val="tx1"/>
                </a:solidFill>
              </a:rPr>
              <a:t>Message? Test-scores and civic outcomes  are better in totally decentralized, unregulated private schools relative to public schools. Unqualified teachers in private schools produce (far) better outcomes than qualified teachers in government schools—and at less than half the price.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7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37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37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7000"/>
            <a:ext cx="8229600" cy="1143000"/>
          </a:xfrm>
        </p:spPr>
        <p:txBody>
          <a:bodyPr/>
          <a:lstStyle/>
          <a:p>
            <a:r>
              <a:rPr lang="en-US" dirty="0" smtClean="0"/>
              <a:t>Schooling and the Pakistani Earthquake of 2005: New work</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868362"/>
          </a:xfrm>
        </p:spPr>
        <p:txBody>
          <a:bodyPr>
            <a:normAutofit/>
          </a:bodyPr>
          <a:lstStyle/>
          <a:p>
            <a:pPr eaLnBrk="1" hangingPunct="1">
              <a:defRPr/>
            </a:pPr>
            <a:r>
              <a:rPr lang="en-US" sz="4000" dirty="0" smtClean="0"/>
              <a:t>School Destruction in the Earthquake</a:t>
            </a:r>
          </a:p>
        </p:txBody>
      </p:sp>
      <p:pic>
        <p:nvPicPr>
          <p:cNvPr id="60418" name="Picture 2"/>
          <p:cNvPicPr>
            <a:picLocks noGrp="1" noChangeAspect="1" noChangeArrowheads="1"/>
          </p:cNvPicPr>
          <p:nvPr>
            <p:ph idx="1"/>
          </p:nvPr>
        </p:nvPicPr>
        <p:blipFill>
          <a:blip r:embed="rId2"/>
          <a:srcRect/>
          <a:stretch>
            <a:fillRect/>
          </a:stretch>
        </p:blipFill>
        <p:spPr>
          <a:xfrm>
            <a:off x="914400" y="1066800"/>
            <a:ext cx="7467600" cy="5434012"/>
          </a:xfr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792162"/>
          </a:xfrm>
        </p:spPr>
        <p:txBody>
          <a:bodyPr>
            <a:normAutofit/>
          </a:bodyPr>
          <a:lstStyle/>
          <a:p>
            <a:pPr eaLnBrk="1" hangingPunct="1">
              <a:defRPr/>
            </a:pPr>
            <a:r>
              <a:rPr lang="en-US" sz="4000" dirty="0" smtClean="0"/>
              <a:t>Recovery from the Pakistani Earthquake</a:t>
            </a:r>
          </a:p>
        </p:txBody>
      </p:sp>
      <p:pic>
        <p:nvPicPr>
          <p:cNvPr id="61442" name="Picture 2"/>
          <p:cNvPicPr>
            <a:picLocks noGrp="1" noChangeAspect="1" noChangeArrowheads="1"/>
          </p:cNvPicPr>
          <p:nvPr>
            <p:ph idx="1"/>
          </p:nvPr>
        </p:nvPicPr>
        <p:blipFill>
          <a:blip r:embed="rId2"/>
          <a:srcRect/>
          <a:stretch>
            <a:fillRect/>
          </a:stretch>
        </p:blipFill>
        <p:spPr>
          <a:xfrm>
            <a:off x="838200" y="1066800"/>
            <a:ext cx="7497762" cy="5448300"/>
          </a:xfr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Perhaps because of this</a:t>
            </a:r>
            <a:endParaRPr lang="en-US" dirty="0"/>
          </a:p>
        </p:txBody>
      </p:sp>
      <p:sp>
        <p:nvSpPr>
          <p:cNvPr id="3" name="Content Placeholder 2"/>
          <p:cNvSpPr>
            <a:spLocks noGrp="1"/>
          </p:cNvSpPr>
          <p:nvPr>
            <p:ph idx="1"/>
          </p:nvPr>
        </p:nvSpPr>
        <p:spPr>
          <a:xfrm>
            <a:off x="457200" y="1600200"/>
            <a:ext cx="8229600" cy="4724400"/>
          </a:xfrm>
        </p:spPr>
        <p:txBody>
          <a:bodyPr/>
          <a:lstStyle/>
          <a:p>
            <a:r>
              <a:rPr lang="en-US" sz="2800" dirty="0" smtClean="0"/>
              <a:t>New household survey in 2009 that compares households close to fault-line with those further away suggests (TBC!):</a:t>
            </a:r>
          </a:p>
          <a:p>
            <a:pPr lvl="1"/>
            <a:r>
              <a:rPr lang="en-US" dirty="0" smtClean="0"/>
              <a:t>No impact of earthquake on 2009 enrollment</a:t>
            </a:r>
          </a:p>
          <a:p>
            <a:pPr lvl="1"/>
            <a:r>
              <a:rPr lang="en-US" dirty="0" smtClean="0"/>
              <a:t>No impact of earthquake on 2009 test-scores</a:t>
            </a:r>
          </a:p>
          <a:p>
            <a:pPr lvl="1"/>
            <a:r>
              <a:rPr lang="en-US" dirty="0" smtClean="0"/>
              <a:t>Even though disruption was higher closer to the fault-line</a:t>
            </a:r>
          </a:p>
          <a:p>
            <a:r>
              <a:rPr lang="en-US" sz="2800" dirty="0" smtClean="0"/>
              <a:t>Could reflect pre-existing baseline differences (unlikely)</a:t>
            </a:r>
          </a:p>
          <a:p>
            <a:r>
              <a:rPr lang="en-US" sz="2800" dirty="0" smtClean="0"/>
              <a:t>Could reflect survivorship bias (work underway)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8400"/>
            <a:ext cx="8229600" cy="1143000"/>
          </a:xfrm>
        </p:spPr>
        <p:txBody>
          <a:bodyPr/>
          <a:lstStyle/>
          <a:p>
            <a:r>
              <a:rPr lang="en-US" dirty="0" smtClean="0"/>
              <a:t>So why not only private schools?</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a:xfrm>
            <a:off x="0" y="228600"/>
            <a:ext cx="9144000" cy="792163"/>
          </a:xfrm>
        </p:spPr>
        <p:txBody>
          <a:bodyPr/>
          <a:lstStyle/>
          <a:p>
            <a:pPr eaLnBrk="1" hangingPunct="1"/>
            <a:r>
              <a:rPr lang="en-US" sz="4800" dirty="0" smtClean="0"/>
              <a:t>Key </a:t>
            </a:r>
            <a:r>
              <a:rPr lang="en-US" sz="4800" dirty="0" smtClean="0"/>
              <a:t>problems are on the supply-side</a:t>
            </a:r>
            <a:endParaRPr lang="en-US" sz="4800" dirty="0" smtClean="0"/>
          </a:p>
        </p:txBody>
      </p:sp>
      <p:sp>
        <p:nvSpPr>
          <p:cNvPr id="62466" name="Content Placeholder 3"/>
          <p:cNvSpPr>
            <a:spLocks noGrp="1"/>
          </p:cNvSpPr>
          <p:nvPr>
            <p:ph idx="1"/>
          </p:nvPr>
        </p:nvSpPr>
        <p:spPr>
          <a:xfrm>
            <a:off x="533400" y="5029200"/>
            <a:ext cx="8229600" cy="1249363"/>
          </a:xfrm>
        </p:spPr>
        <p:txBody>
          <a:bodyPr/>
          <a:lstStyle/>
          <a:p>
            <a:pPr eaLnBrk="1" hangingPunct="1"/>
            <a:r>
              <a:rPr lang="en-US" dirty="0" smtClean="0"/>
              <a:t>Across villages, private schools are overwhelmingly in richer and larger villages</a:t>
            </a:r>
          </a:p>
        </p:txBody>
      </p:sp>
      <p:pic>
        <p:nvPicPr>
          <p:cNvPr id="62467" name="Picture 3"/>
          <p:cNvPicPr>
            <a:picLocks noChangeAspect="1" noChangeArrowheads="1"/>
          </p:cNvPicPr>
          <p:nvPr/>
        </p:nvPicPr>
        <p:blipFill>
          <a:blip r:embed="rId2"/>
          <a:srcRect/>
          <a:stretch>
            <a:fillRect/>
          </a:stretch>
        </p:blipFill>
        <p:spPr bwMode="auto">
          <a:xfrm>
            <a:off x="1752600" y="1295400"/>
            <a:ext cx="5551488" cy="3657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DDEBCF"/>
            </a:gs>
            <a:gs pos="50000">
              <a:srgbClr val="DDEBCF"/>
            </a:gs>
            <a:gs pos="50000">
              <a:srgbClr val="9CB86E"/>
            </a:gs>
            <a:gs pos="100000">
              <a:srgbClr val="156B13"/>
            </a:gs>
          </a:gsLst>
          <a:lin ang="10800000" scaled="1"/>
        </a:gradFill>
        <a:effectLst/>
      </p:bgPr>
    </p:bg>
    <p:spTree>
      <p:nvGrpSpPr>
        <p:cNvPr id="1" name=""/>
        <p:cNvGrpSpPr/>
        <p:nvPr/>
      </p:nvGrpSpPr>
      <p:grpSpPr>
        <a:xfrm>
          <a:off x="0" y="0"/>
          <a:ext cx="0" cy="0"/>
          <a:chOff x="0" y="0"/>
          <a:chExt cx="0" cy="0"/>
        </a:xfrm>
      </p:grpSpPr>
      <p:sp>
        <p:nvSpPr>
          <p:cNvPr id="63490" name="Title 1"/>
          <p:cNvSpPr>
            <a:spLocks noGrp="1"/>
          </p:cNvSpPr>
          <p:nvPr>
            <p:ph type="title"/>
          </p:nvPr>
        </p:nvSpPr>
        <p:spPr>
          <a:xfrm>
            <a:off x="0" y="152400"/>
            <a:ext cx="9144000" cy="792163"/>
          </a:xfrm>
        </p:spPr>
        <p:txBody>
          <a:bodyPr/>
          <a:lstStyle/>
          <a:p>
            <a:pPr eaLnBrk="1" hangingPunct="1"/>
            <a:r>
              <a:rPr lang="en-US" sz="2800" smtClean="0"/>
              <a:t>Supply-side issues: A typical village in Punjab, Pakistan</a:t>
            </a:r>
          </a:p>
        </p:txBody>
      </p:sp>
      <p:sp>
        <p:nvSpPr>
          <p:cNvPr id="63491" name="Content Placeholder 3"/>
          <p:cNvSpPr>
            <a:spLocks noGrp="1"/>
          </p:cNvSpPr>
          <p:nvPr>
            <p:ph idx="1"/>
          </p:nvPr>
        </p:nvSpPr>
        <p:spPr>
          <a:xfrm>
            <a:off x="609600" y="5105400"/>
            <a:ext cx="8229600" cy="990600"/>
          </a:xfrm>
        </p:spPr>
        <p:txBody>
          <a:bodyPr/>
          <a:lstStyle/>
          <a:p>
            <a:pPr eaLnBrk="1" hangingPunct="1"/>
            <a:r>
              <a:rPr lang="en-US" sz="2800" i="1" dirty="0" smtClean="0"/>
              <a:t>Within </a:t>
            </a:r>
            <a:r>
              <a:rPr lang="en-US" sz="2800" dirty="0" smtClean="0"/>
              <a:t>villages, </a:t>
            </a:r>
            <a:r>
              <a:rPr lang="en-US" sz="2800" dirty="0" smtClean="0"/>
              <a:t>private schools </a:t>
            </a:r>
            <a:r>
              <a:rPr lang="en-US" sz="2800" dirty="0" smtClean="0"/>
              <a:t>are overwhelmingly in the centre</a:t>
            </a:r>
            <a:endParaRPr lang="en-US" sz="2800" i="1" dirty="0" smtClean="0"/>
          </a:p>
        </p:txBody>
      </p:sp>
      <p:pic>
        <p:nvPicPr>
          <p:cNvPr id="63492" name="Picture 2"/>
          <p:cNvPicPr>
            <a:picLocks noChangeAspect="1" noChangeArrowheads="1"/>
          </p:cNvPicPr>
          <p:nvPr/>
        </p:nvPicPr>
        <p:blipFill>
          <a:blip r:embed="rId2"/>
          <a:srcRect/>
          <a:stretch>
            <a:fillRect/>
          </a:stretch>
        </p:blipFill>
        <p:spPr bwMode="auto">
          <a:xfrm>
            <a:off x="4572000" y="914400"/>
            <a:ext cx="4572000" cy="3810000"/>
          </a:xfrm>
          <a:prstGeom prst="rect">
            <a:avLst/>
          </a:prstGeom>
          <a:noFill/>
          <a:ln w="9525">
            <a:noFill/>
            <a:miter lim="800000"/>
            <a:headEnd/>
            <a:tailEnd/>
          </a:ln>
        </p:spPr>
      </p:pic>
      <p:grpSp>
        <p:nvGrpSpPr>
          <p:cNvPr id="63493" name="Group 8"/>
          <p:cNvGrpSpPr>
            <a:grpSpLocks/>
          </p:cNvGrpSpPr>
          <p:nvPr/>
        </p:nvGrpSpPr>
        <p:grpSpPr bwMode="auto">
          <a:xfrm>
            <a:off x="0" y="914400"/>
            <a:ext cx="4572000" cy="3810000"/>
            <a:chOff x="457200" y="914400"/>
            <a:chExt cx="3742606" cy="3276600"/>
          </a:xfrm>
        </p:grpSpPr>
        <p:pic>
          <p:nvPicPr>
            <p:cNvPr id="63494" name="Picture 4" descr="20.jpg"/>
            <p:cNvPicPr>
              <a:picLocks noChangeAspect="1"/>
            </p:cNvPicPr>
            <p:nvPr/>
          </p:nvPicPr>
          <p:blipFill>
            <a:blip r:embed="rId3"/>
            <a:srcRect/>
            <a:stretch>
              <a:fillRect/>
            </a:stretch>
          </p:blipFill>
          <p:spPr bwMode="auto">
            <a:xfrm>
              <a:off x="457200" y="914400"/>
              <a:ext cx="3742606" cy="3276600"/>
            </a:xfrm>
            <a:prstGeom prst="rect">
              <a:avLst/>
            </a:prstGeom>
            <a:noFill/>
            <a:ln w="9525">
              <a:noFill/>
              <a:miter lim="800000"/>
              <a:headEnd/>
              <a:tailEnd/>
            </a:ln>
          </p:spPr>
        </p:pic>
        <p:sp>
          <p:nvSpPr>
            <p:cNvPr id="8" name="Rectangle 7"/>
            <p:cNvSpPr/>
            <p:nvPr/>
          </p:nvSpPr>
          <p:spPr>
            <a:xfrm>
              <a:off x="457200" y="4114546"/>
              <a:ext cx="838188" cy="76454"/>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endParaRP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pPr eaLnBrk="1" hangingPunct="1"/>
            <a:r>
              <a:rPr lang="en-US" sz="2800" dirty="0" smtClean="0"/>
              <a:t>Centrally related to the availability of teachers</a:t>
            </a:r>
          </a:p>
        </p:txBody>
      </p:sp>
      <p:sp>
        <p:nvSpPr>
          <p:cNvPr id="4" name="Content Placeholder 3"/>
          <p:cNvSpPr>
            <a:spLocks noGrp="1"/>
          </p:cNvSpPr>
          <p:nvPr>
            <p:ph idx="1"/>
          </p:nvPr>
        </p:nvSpPr>
        <p:spPr/>
        <p:txBody>
          <a:bodyPr rtlCol="0">
            <a:normAutofit fontScale="92500" lnSpcReduction="20000"/>
          </a:bodyPr>
          <a:lstStyle/>
          <a:p>
            <a:pPr eaLnBrk="1" fontAlgn="auto" hangingPunct="1">
              <a:spcAft>
                <a:spcPts val="0"/>
              </a:spcAft>
              <a:buFont typeface="Arial" pitchFamily="34" charset="0"/>
              <a:buChar char="•"/>
              <a:defRPr/>
            </a:pPr>
            <a:r>
              <a:rPr lang="en-US" dirty="0" smtClean="0"/>
              <a:t>Private schools are causally 300 percent more likely to locate in villages with a government secondary school—the students of today are the teachers of tomorrow</a:t>
            </a:r>
          </a:p>
          <a:p>
            <a:pPr eaLnBrk="1" fontAlgn="auto" hangingPunct="1">
              <a:spcAft>
                <a:spcPts val="0"/>
              </a:spcAft>
              <a:buFont typeface="Arial" pitchFamily="34" charset="0"/>
              <a:buChar char="•"/>
              <a:defRPr/>
            </a:pPr>
            <a:r>
              <a:rPr lang="en-US" dirty="0" smtClean="0"/>
              <a:t>Therefore, for private schools to arise at low costs and operate without subsidies require initial subsidies for </a:t>
            </a:r>
            <a:r>
              <a:rPr lang="en-US" i="1" dirty="0" smtClean="0"/>
              <a:t>secondary education!</a:t>
            </a:r>
            <a:endParaRPr lang="en-US" dirty="0" smtClean="0"/>
          </a:p>
          <a:p>
            <a:pPr eaLnBrk="1" fontAlgn="auto" hangingPunct="1">
              <a:spcAft>
                <a:spcPts val="0"/>
              </a:spcAft>
              <a:buFont typeface="Arial" pitchFamily="34" charset="0"/>
              <a:buChar char="•"/>
              <a:defRPr/>
            </a:pPr>
            <a:endParaRPr lang="en-US" dirty="0" smtClean="0"/>
          </a:p>
          <a:p>
            <a:pPr eaLnBrk="1" fontAlgn="auto" hangingPunct="1">
              <a:spcAft>
                <a:spcPts val="0"/>
              </a:spcAft>
              <a:buFont typeface="Arial" pitchFamily="34" charset="0"/>
              <a:buChar char="•"/>
              <a:defRPr/>
            </a:pPr>
            <a:endParaRPr lang="en-US" dirty="0" smtClean="0"/>
          </a:p>
          <a:p>
            <a:pPr eaLnBrk="1" fontAlgn="auto" hangingPunct="1">
              <a:spcAft>
                <a:spcPts val="0"/>
              </a:spcAft>
              <a:buFont typeface="Arial" pitchFamily="34" charset="0"/>
              <a:buChar char="•"/>
              <a:defRPr/>
            </a:pPr>
            <a:r>
              <a:rPr lang="en-US" dirty="0" smtClean="0">
                <a:hlinkClick r:id="rId3" action="ppaction://hlinksldjump"/>
              </a:rPr>
              <a:t>Click here to see picture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tx2">
                <a:lumMod val="20000"/>
                <a:lumOff val="80000"/>
              </a:schemeClr>
            </a:gs>
            <a:gs pos="89999">
              <a:schemeClr val="tx2">
                <a:lumMod val="75000"/>
              </a:schemeClr>
            </a:gs>
            <a:gs pos="100000">
              <a:srgbClr val="FF0000"/>
            </a:gs>
          </a:gsLst>
          <a:lin ang="13500000" scaled="1"/>
          <a:tileRect/>
        </a:gradFill>
        <a:effectLst/>
      </p:bgPr>
    </p:bg>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pPr eaLnBrk="1" hangingPunct="1"/>
            <a:r>
              <a:rPr lang="en-US" smtClean="0">
                <a:solidFill>
                  <a:schemeClr val="bg1"/>
                </a:solidFill>
              </a:rPr>
              <a:t>Back to Haiti</a:t>
            </a:r>
          </a:p>
        </p:txBody>
      </p:sp>
      <p:sp>
        <p:nvSpPr>
          <p:cNvPr id="66563" name="Content Placeholder 2"/>
          <p:cNvSpPr>
            <a:spLocks noGrp="1"/>
          </p:cNvSpPr>
          <p:nvPr>
            <p:ph idx="1"/>
          </p:nvPr>
        </p:nvSpPr>
        <p:spPr/>
        <p:txBody>
          <a:bodyPr/>
          <a:lstStyle/>
          <a:p>
            <a:pPr eaLnBrk="1" hangingPunct="1"/>
            <a:r>
              <a:rPr lang="en-US" dirty="0" smtClean="0"/>
              <a:t>Current Thinking</a:t>
            </a:r>
          </a:p>
          <a:p>
            <a:pPr lvl="1" eaLnBrk="1" hangingPunct="1"/>
            <a:r>
              <a:rPr lang="en-US" dirty="0" smtClean="0"/>
              <a:t>Educational outcomes are poor</a:t>
            </a:r>
          </a:p>
          <a:p>
            <a:pPr lvl="1" eaLnBrk="1" hangingPunct="1"/>
            <a:r>
              <a:rPr lang="en-US" dirty="0" smtClean="0"/>
              <a:t>Costs are high with most kids in private schools</a:t>
            </a:r>
          </a:p>
          <a:p>
            <a:pPr lvl="1" eaLnBrk="1" hangingPunct="1"/>
            <a:r>
              <a:rPr lang="en-US" dirty="0" smtClean="0"/>
              <a:t>Private schools are poor because inputs are poor</a:t>
            </a:r>
          </a:p>
          <a:p>
            <a:pPr lvl="1" eaLnBrk="1" hangingPunct="1"/>
            <a:r>
              <a:rPr lang="en-US" dirty="0" smtClean="0"/>
              <a:t>Therefore, we require free government education</a:t>
            </a:r>
          </a:p>
          <a:p>
            <a:pPr eaLnBrk="1" hangingPunct="1"/>
            <a:endParaRPr lang="en-US" dirty="0" smtClean="0"/>
          </a:p>
          <a:p>
            <a:pPr eaLnBrk="1" hangingPunct="1"/>
            <a:r>
              <a:rPr lang="en-US" dirty="0" smtClean="0"/>
              <a:t>Reevaluate in the context of Pakistan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5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56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56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5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tx2">
                <a:lumMod val="20000"/>
                <a:lumOff val="80000"/>
              </a:schemeClr>
            </a:gs>
            <a:gs pos="89999">
              <a:schemeClr val="tx2">
                <a:lumMod val="75000"/>
              </a:schemeClr>
            </a:gs>
            <a:gs pos="100000">
              <a:srgbClr val="FF0000"/>
            </a:gs>
          </a:gsLst>
          <a:lin ang="13500000" scaled="1"/>
          <a:tileRect/>
        </a:gradFill>
        <a:effectLst/>
      </p:bgPr>
    </p:bg>
    <p:spTree>
      <p:nvGrpSpPr>
        <p:cNvPr id="1" name=""/>
        <p:cNvGrpSpPr/>
        <p:nvPr/>
      </p:nvGrpSpPr>
      <p:grpSpPr>
        <a:xfrm>
          <a:off x="0" y="0"/>
          <a:ext cx="0" cy="0"/>
          <a:chOff x="0" y="0"/>
          <a:chExt cx="0" cy="0"/>
        </a:xfrm>
      </p:grpSpPr>
      <p:graphicFrame>
        <p:nvGraphicFramePr>
          <p:cNvPr id="9" name="Chart 8"/>
          <p:cNvGraphicFramePr/>
          <p:nvPr/>
        </p:nvGraphicFramePr>
        <p:xfrm>
          <a:off x="0" y="1524000"/>
          <a:ext cx="8915400" cy="4267200"/>
        </p:xfrm>
        <a:graphic>
          <a:graphicData uri="http://schemas.openxmlformats.org/drawingml/2006/chart">
            <c:chart xmlns:c="http://schemas.openxmlformats.org/drawingml/2006/chart" xmlns:r="http://schemas.openxmlformats.org/officeDocument/2006/relationships" r:id="rId2"/>
          </a:graphicData>
        </a:graphic>
      </p:graphicFrame>
      <p:sp>
        <p:nvSpPr>
          <p:cNvPr id="67587" name="Title 1"/>
          <p:cNvSpPr>
            <a:spLocks noGrp="1"/>
          </p:cNvSpPr>
          <p:nvPr>
            <p:ph type="title"/>
          </p:nvPr>
        </p:nvSpPr>
        <p:spPr/>
        <p:txBody>
          <a:bodyPr/>
          <a:lstStyle/>
          <a:p>
            <a:pPr eaLnBrk="1" hangingPunct="1"/>
            <a:r>
              <a:rPr lang="en-US" sz="3200" smtClean="0">
                <a:solidFill>
                  <a:schemeClr val="bg1"/>
                </a:solidFill>
              </a:rPr>
              <a:t>Educational outcomes again:</a:t>
            </a:r>
            <a:r>
              <a:rPr lang="en-US" sz="3200" smtClean="0"/>
              <a:t> Is enrollment worse than other similar-income countries?</a:t>
            </a:r>
          </a:p>
        </p:txBody>
      </p:sp>
      <p:sp>
        <p:nvSpPr>
          <p:cNvPr id="4" name="Oval 3"/>
          <p:cNvSpPr/>
          <p:nvPr/>
        </p:nvSpPr>
        <p:spPr>
          <a:xfrm>
            <a:off x="2743200" y="3200400"/>
            <a:ext cx="381000" cy="533400"/>
          </a:xfrm>
          <a:prstGeom prst="ellipse">
            <a:avLst/>
          </a:prstGeom>
          <a:solidFill>
            <a:schemeClr val="accent2">
              <a:alpha val="29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6" name="Straight Arrow Connector 5"/>
          <p:cNvCxnSpPr/>
          <p:nvPr/>
        </p:nvCxnSpPr>
        <p:spPr>
          <a:xfrm rot="16200000" flipH="1">
            <a:off x="2133600" y="2514600"/>
            <a:ext cx="685800" cy="685800"/>
          </a:xfrm>
          <a:prstGeom prst="straightConnector1">
            <a:avLst/>
          </a:prstGeom>
          <a:ln w="19050" cmpd="sng">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67590" name="Text Box 6"/>
          <p:cNvSpPr txBox="1">
            <a:spLocks noChangeArrowheads="1"/>
          </p:cNvSpPr>
          <p:nvPr/>
        </p:nvSpPr>
        <p:spPr bwMode="auto">
          <a:xfrm>
            <a:off x="228600" y="5827713"/>
            <a:ext cx="8610600" cy="954087"/>
          </a:xfrm>
          <a:prstGeom prst="rect">
            <a:avLst/>
          </a:prstGeom>
          <a:noFill/>
          <a:ln w="9525">
            <a:noFill/>
            <a:miter lim="800000"/>
            <a:headEnd/>
            <a:tailEnd/>
          </a:ln>
        </p:spPr>
        <p:txBody>
          <a:bodyPr>
            <a:spAutoFit/>
          </a:bodyPr>
          <a:lstStyle/>
          <a:p>
            <a:pPr>
              <a:spcBef>
                <a:spcPct val="50000"/>
              </a:spcBef>
            </a:pPr>
            <a:r>
              <a:rPr lang="en-US" sz="1600">
                <a:latin typeface="Calibri" pitchFamily="34" charset="0"/>
              </a:rPr>
              <a:t>1 – Most recent enrollment figures: Haiti – Wolff (2008); Nigeria – World Bank, 2006; rest – World Bank, 2007</a:t>
            </a:r>
          </a:p>
          <a:p>
            <a:pPr>
              <a:spcBef>
                <a:spcPct val="50000"/>
              </a:spcBef>
            </a:pPr>
            <a:r>
              <a:rPr lang="en-US" sz="1600">
                <a:latin typeface="Calibri" pitchFamily="34" charset="0"/>
              </a:rPr>
              <a:t>2 – World Bank, 2008 figures</a:t>
            </a:r>
          </a:p>
        </p:txBody>
      </p:sp>
      <p:sp>
        <p:nvSpPr>
          <p:cNvPr id="67591" name="TextBox 1"/>
          <p:cNvSpPr txBox="1">
            <a:spLocks noChangeArrowheads="1"/>
          </p:cNvSpPr>
          <p:nvPr/>
        </p:nvSpPr>
        <p:spPr bwMode="auto">
          <a:xfrm>
            <a:off x="1143000" y="2057400"/>
            <a:ext cx="2819400" cy="304800"/>
          </a:xfrm>
          <a:prstGeom prst="rect">
            <a:avLst/>
          </a:prstGeom>
          <a:noFill/>
          <a:ln w="9525">
            <a:noFill/>
            <a:miter lim="800000"/>
            <a:headEnd/>
            <a:tailEnd/>
          </a:ln>
        </p:spPr>
        <p:txBody>
          <a:bodyPr/>
          <a:lstStyle/>
          <a:p>
            <a:r>
              <a:rPr lang="en-US" sz="1100">
                <a:latin typeface="Calibri" pitchFamily="34" charset="0"/>
              </a:rPr>
              <a:t>Are Haitian outcomes abnormally bad relative to its income level?</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tx2">
                <a:lumMod val="20000"/>
                <a:lumOff val="80000"/>
              </a:schemeClr>
            </a:gs>
            <a:gs pos="89999">
              <a:schemeClr val="tx2">
                <a:lumMod val="75000"/>
              </a:schemeClr>
            </a:gs>
            <a:gs pos="100000">
              <a:srgbClr val="FF0000"/>
            </a:gs>
          </a:gsLst>
          <a:lin ang="13500000" scaled="1"/>
          <a:tileRect/>
        </a:gradFill>
        <a:effectLst/>
      </p:bgPr>
    </p:bg>
    <p:spTree>
      <p:nvGrpSpPr>
        <p:cNvPr id="1" name=""/>
        <p:cNvGrpSpPr/>
        <p:nvPr/>
      </p:nvGrpSpPr>
      <p:grpSpPr>
        <a:xfrm>
          <a:off x="0" y="0"/>
          <a:ext cx="0" cy="0"/>
          <a:chOff x="0" y="0"/>
          <a:chExt cx="0" cy="0"/>
        </a:xfrm>
      </p:grpSpPr>
      <p:sp>
        <p:nvSpPr>
          <p:cNvPr id="68610" name="Title 1"/>
          <p:cNvSpPr>
            <a:spLocks noGrp="1"/>
          </p:cNvSpPr>
          <p:nvPr>
            <p:ph type="title"/>
          </p:nvPr>
        </p:nvSpPr>
        <p:spPr>
          <a:xfrm>
            <a:off x="990600" y="533400"/>
            <a:ext cx="6858000" cy="228600"/>
          </a:xfrm>
        </p:spPr>
        <p:txBody>
          <a:bodyPr/>
          <a:lstStyle/>
          <a:p>
            <a:pPr eaLnBrk="1" hangingPunct="1"/>
            <a:r>
              <a:rPr lang="en-US" sz="2400" dirty="0" smtClean="0">
                <a:solidFill>
                  <a:schemeClr val="bg1"/>
                </a:solidFill>
              </a:rPr>
              <a:t>Costs of schooling:</a:t>
            </a:r>
            <a:r>
              <a:rPr lang="en-US" sz="2400" dirty="0" smtClean="0"/>
              <a:t> comparing Haiti and Pakistan, all  numbers are converted to 2005 PPP adjusted dollars  using UN Stats on PPP</a:t>
            </a:r>
          </a:p>
        </p:txBody>
      </p:sp>
      <p:sp>
        <p:nvSpPr>
          <p:cNvPr id="68611" name="TextBox 32"/>
          <p:cNvSpPr txBox="1">
            <a:spLocks noChangeArrowheads="1"/>
          </p:cNvSpPr>
          <p:nvPr/>
        </p:nvSpPr>
        <p:spPr bwMode="auto">
          <a:xfrm>
            <a:off x="152400" y="5181600"/>
            <a:ext cx="8839200" cy="1954213"/>
          </a:xfrm>
          <a:prstGeom prst="rect">
            <a:avLst/>
          </a:prstGeom>
          <a:noFill/>
          <a:ln w="9525">
            <a:noFill/>
            <a:miter lim="800000"/>
            <a:headEnd/>
            <a:tailEnd/>
          </a:ln>
        </p:spPr>
        <p:txBody>
          <a:bodyPr wrap="square">
            <a:spAutoFit/>
          </a:bodyPr>
          <a:lstStyle/>
          <a:p>
            <a:r>
              <a:rPr lang="en-US" sz="1100" dirty="0">
                <a:solidFill>
                  <a:srgbClr val="000000"/>
                </a:solidFill>
                <a:latin typeface="Calibri" pitchFamily="34" charset="0"/>
              </a:rPr>
              <a:t>1- </a:t>
            </a:r>
            <a:r>
              <a:rPr lang="en-US" sz="1100" dirty="0" err="1">
                <a:solidFill>
                  <a:srgbClr val="000000"/>
                </a:solidFill>
                <a:latin typeface="Calibri" pitchFamily="34" charset="0"/>
              </a:rPr>
              <a:t>Salmi</a:t>
            </a:r>
            <a:r>
              <a:rPr lang="en-US" sz="1100" dirty="0">
                <a:solidFill>
                  <a:srgbClr val="000000"/>
                </a:solidFill>
                <a:latin typeface="Calibri" pitchFamily="34" charset="0"/>
              </a:rPr>
              <a:t>, J. (2000) “Equity and Quality in Private Education: the Haitian Paradox,” Compare, 30:2, pp163-178</a:t>
            </a:r>
          </a:p>
          <a:p>
            <a:r>
              <a:rPr lang="en-US" sz="1100" dirty="0">
                <a:solidFill>
                  <a:srgbClr val="000000"/>
                </a:solidFill>
                <a:latin typeface="Calibri" pitchFamily="34" charset="0"/>
              </a:rPr>
              <a:t>2- World Bank, (2007) Project Appraisal Report: Grant to Haiti for Education for All Project (internal document). Washington, DC </a:t>
            </a:r>
          </a:p>
          <a:p>
            <a:r>
              <a:rPr lang="en-US" sz="1100" dirty="0">
                <a:solidFill>
                  <a:srgbClr val="000000"/>
                </a:solidFill>
                <a:latin typeface="Calibri" pitchFamily="34" charset="0"/>
              </a:rPr>
              <a:t>3- </a:t>
            </a:r>
            <a:r>
              <a:rPr lang="en-US" sz="1100" dirty="0" err="1">
                <a:solidFill>
                  <a:srgbClr val="000000"/>
                </a:solidFill>
                <a:latin typeface="Calibri" pitchFamily="34" charset="0"/>
              </a:rPr>
              <a:t>Salmi</a:t>
            </a:r>
            <a:r>
              <a:rPr lang="en-US" sz="1100" dirty="0">
                <a:solidFill>
                  <a:srgbClr val="000000"/>
                </a:solidFill>
                <a:latin typeface="Calibri" pitchFamily="34" charset="0"/>
              </a:rPr>
              <a:t>, op cit. </a:t>
            </a:r>
          </a:p>
          <a:p>
            <a:r>
              <a:rPr lang="en-US" sz="1100" dirty="0">
                <a:solidFill>
                  <a:srgbClr val="000000"/>
                </a:solidFill>
                <a:latin typeface="Calibri" pitchFamily="34" charset="0"/>
              </a:rPr>
              <a:t>4- Reported fees (World Bank 2007, citing 2005 DHS). Because of the shortage of public schools, only children who attend expensive private pre-primary schools that teach reading and writing secure a place. Public schools are also prone to rent-seeking, or requiring parents to pay part of school costs (</a:t>
            </a:r>
            <a:r>
              <a:rPr lang="en-US" sz="1100" dirty="0" err="1">
                <a:solidFill>
                  <a:srgbClr val="000000"/>
                </a:solidFill>
                <a:latin typeface="Calibri" pitchFamily="34" charset="0"/>
              </a:rPr>
              <a:t>Salmi</a:t>
            </a:r>
            <a:r>
              <a:rPr lang="en-US" sz="1100" dirty="0">
                <a:solidFill>
                  <a:srgbClr val="000000"/>
                </a:solidFill>
                <a:latin typeface="Calibri" pitchFamily="34" charset="0"/>
              </a:rPr>
              <a:t>, 2000)</a:t>
            </a:r>
          </a:p>
          <a:p>
            <a:r>
              <a:rPr lang="en-US" sz="1100" dirty="0">
                <a:solidFill>
                  <a:srgbClr val="000000"/>
                </a:solidFill>
                <a:latin typeface="Calibri" pitchFamily="34" charset="0"/>
              </a:rPr>
              <a:t>5- LEAPS Report, 2007</a:t>
            </a:r>
            <a:br>
              <a:rPr lang="en-US" sz="1100" dirty="0">
                <a:solidFill>
                  <a:srgbClr val="000000"/>
                </a:solidFill>
                <a:latin typeface="Calibri" pitchFamily="34" charset="0"/>
              </a:rPr>
            </a:br>
            <a:r>
              <a:rPr lang="en-US" sz="1100" dirty="0">
                <a:solidFill>
                  <a:srgbClr val="FF0000"/>
                </a:solidFill>
                <a:latin typeface="Calibri" pitchFamily="34" charset="0"/>
              </a:rPr>
              <a:t>* The 2005 DHS calculated average school fees across the Haiti education system.  Since the private sector makes up most of the education system, this average serves a s an approximation on average  private school fees.  </a:t>
            </a:r>
          </a:p>
          <a:p>
            <a:endParaRPr lang="en-US" sz="1400" dirty="0">
              <a:solidFill>
                <a:srgbClr val="000000"/>
              </a:solidFill>
              <a:latin typeface="Calibri" pitchFamily="34" charset="0"/>
            </a:endParaRPr>
          </a:p>
          <a:p>
            <a:endParaRPr lang="en-US" sz="1200" baseline="30000" dirty="0">
              <a:solidFill>
                <a:srgbClr val="000000"/>
              </a:solidFill>
              <a:latin typeface="Calibri" pitchFamily="34" charset="0"/>
            </a:endParaRPr>
          </a:p>
        </p:txBody>
      </p:sp>
      <p:graphicFrame>
        <p:nvGraphicFramePr>
          <p:cNvPr id="68672" name="Group 64"/>
          <p:cNvGraphicFramePr>
            <a:graphicFrameLocks noGrp="1"/>
          </p:cNvGraphicFramePr>
          <p:nvPr/>
        </p:nvGraphicFramePr>
        <p:xfrm>
          <a:off x="152400" y="1295400"/>
          <a:ext cx="8839198" cy="3818863"/>
        </p:xfrm>
        <a:graphic>
          <a:graphicData uri="http://schemas.openxmlformats.org/drawingml/2006/table">
            <a:tbl>
              <a:tblPr/>
              <a:tblGrid>
                <a:gridCol w="1095536"/>
                <a:gridCol w="1092415"/>
                <a:gridCol w="1095536"/>
                <a:gridCol w="1092415"/>
                <a:gridCol w="1095536"/>
                <a:gridCol w="1122067"/>
                <a:gridCol w="1123627"/>
                <a:gridCol w="1122066"/>
              </a:tblGrid>
              <a:tr h="417079">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Garamond" pitchFamily="18"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Garamond" pitchFamily="18"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Calibri" pitchFamily="34" charset="0"/>
                          <a:cs typeface="Arial" charset="0"/>
                        </a:rPr>
                        <a:t>Haiti</a:t>
                      </a:r>
                      <a:endParaRPr kumimoji="0" lang="en-US" sz="24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Calibri" pitchFamily="34" charset="0"/>
                          <a:cs typeface="Arial" charset="0"/>
                        </a:rPr>
                        <a:t>Pakistan</a:t>
                      </a:r>
                      <a:r>
                        <a:rPr kumimoji="0" lang="en-US" sz="2400" b="0" i="0" u="none" strike="noStrike" cap="none" normalizeH="0" baseline="30000" smtClean="0">
                          <a:ln>
                            <a:noFill/>
                          </a:ln>
                          <a:solidFill>
                            <a:schemeClr val="tx1"/>
                          </a:solidFill>
                          <a:effectLst/>
                          <a:latin typeface="Calibri" pitchFamily="34" charset="0"/>
                          <a:cs typeface="Arial" charset="0"/>
                        </a:rPr>
                        <a:t>5</a:t>
                      </a:r>
                      <a:endParaRPr kumimoji="0" lang="en-US" sz="24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62531">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200" b="0" i="0" u="none" strike="noStrike" cap="none" normalizeH="0" baseline="0" smtClean="0">
                        <a:ln>
                          <a:noFill/>
                        </a:ln>
                        <a:solidFill>
                          <a:schemeClr val="tx1"/>
                        </a:solidFill>
                        <a:effectLst/>
                        <a:latin typeface="Garamond" pitchFamily="18"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200" b="0" i="0" u="none" strike="noStrike" cap="none" normalizeH="0" baseline="0" smtClean="0">
                        <a:ln>
                          <a:noFill/>
                        </a:ln>
                        <a:solidFill>
                          <a:schemeClr val="tx1"/>
                        </a:solidFill>
                        <a:effectLst/>
                        <a:latin typeface="Garamond" pitchFamily="18"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Percentage of enrolled primary school students</a:t>
                      </a:r>
                      <a:r>
                        <a:rPr kumimoji="0" lang="en-US" sz="1200" b="0" i="0" u="none" strike="noStrike" cap="none" normalizeH="0" baseline="30000" smtClean="0">
                          <a:ln>
                            <a:noFill/>
                          </a:ln>
                          <a:solidFill>
                            <a:schemeClr val="tx1"/>
                          </a:solidFill>
                          <a:effectLst/>
                          <a:latin typeface="Calibri" pitchFamily="34" charset="0"/>
                          <a:cs typeface="Arial" charset="0"/>
                        </a:rPr>
                        <a:t> 1</a:t>
                      </a:r>
                      <a:endParaRPr kumimoji="0" lang="en-US" sz="1200" b="0" i="0" u="none" strike="noStrike" cap="none" normalizeH="0" baseline="3000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Fees ($ per year)</a:t>
                      </a:r>
                      <a:r>
                        <a:rPr kumimoji="0" lang="en-US" sz="1200" b="0" i="0" u="none" strike="noStrike" cap="none" normalizeH="0" baseline="30000" smtClean="0">
                          <a:ln>
                            <a:noFill/>
                          </a:ln>
                          <a:solidFill>
                            <a:schemeClr val="tx1"/>
                          </a:solidFill>
                          <a:effectLst/>
                          <a:latin typeface="Calibri" pitchFamily="34" charset="0"/>
                          <a:cs typeface="Arial" charset="0"/>
                        </a:rPr>
                        <a:t> 2</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Total cost per Student ($ per year)</a:t>
                      </a:r>
                      <a:r>
                        <a:rPr kumimoji="0" lang="en-US" sz="1200" b="0" i="0" u="none" strike="noStrike" cap="none" normalizeH="0" baseline="30000" smtClean="0">
                          <a:ln>
                            <a:noFill/>
                          </a:ln>
                          <a:solidFill>
                            <a:schemeClr val="tx1"/>
                          </a:solidFill>
                          <a:effectLst/>
                          <a:latin typeface="Calibri" pitchFamily="34" charset="0"/>
                          <a:cs typeface="Arial" charset="0"/>
                        </a:rPr>
                        <a:t> 3</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Percentage of enrolled primary school students</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Fees ($ per year)</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Total cost per Student ($ per year)</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39093">
                <a:tc rowSpan="3">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Private Schools</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Religious affiliated schools</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Calibri" pitchFamily="34" charset="0"/>
                        <a:cs typeface="Arial" charset="0"/>
                      </a:endParaRPr>
                    </a:p>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Calibri" pitchFamily="34" charset="0"/>
                          <a:cs typeface="Arial" charset="0"/>
                        </a:rPr>
                        <a:t>75</a:t>
                      </a:r>
                      <a:endParaRPr kumimoji="0" lang="en-US" sz="1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Calibri" pitchFamily="34" charset="0"/>
                        <a:cs typeface="Arial" charset="0"/>
                      </a:endParaRPr>
                    </a:p>
                    <a:p>
                      <a:pPr marL="0" marR="0" lvl="0" indent="0" algn="ctr" defTabSz="914400" rtl="0" eaLnBrk="1" fontAlgn="base" latinLnBrk="0" hangingPunct="1">
                        <a:lnSpc>
                          <a:spcPct val="115000"/>
                        </a:lnSpc>
                        <a:spcBef>
                          <a:spcPct val="0"/>
                        </a:spcBef>
                        <a:spcAft>
                          <a:spcPct val="0"/>
                        </a:spcAft>
                        <a:buClrTx/>
                        <a:buSzTx/>
                        <a:buFontTx/>
                        <a:buNone/>
                        <a:tabLst/>
                      </a:pPr>
                      <a:r>
                        <a:rPr kumimoji="0" lang="en-US" sz="1600" b="0" i="0" u="none" strike="noStrike" cap="none" normalizeH="0" baseline="0" dirty="0" smtClean="0">
                          <a:ln>
                            <a:noFill/>
                          </a:ln>
                          <a:solidFill>
                            <a:srgbClr val="FF0000"/>
                          </a:solidFill>
                          <a:effectLst/>
                          <a:latin typeface="Calibri" pitchFamily="34" charset="0"/>
                          <a:cs typeface="Arial" charset="0"/>
                        </a:rPr>
                        <a:t>~167</a:t>
                      </a:r>
                      <a:r>
                        <a:rPr kumimoji="0" lang="en-US" sz="1600" b="0" i="0" u="none" strike="noStrike" cap="none" normalizeH="0" baseline="30000" dirty="0" smtClean="0">
                          <a:ln>
                            <a:noFill/>
                          </a:ln>
                          <a:solidFill>
                            <a:srgbClr val="FF0000"/>
                          </a:solidFill>
                          <a:effectLst/>
                          <a:latin typeface="Calibri" pitchFamily="34" charset="0"/>
                          <a:cs typeface="Arial" charset="0"/>
                        </a:rPr>
                        <a:t>*</a:t>
                      </a:r>
                      <a:endParaRPr kumimoji="0" lang="en-US" sz="1600" b="0" i="0" u="none" strike="noStrike" cap="none" normalizeH="0" baseline="0" dirty="0" smtClean="0">
                        <a:ln>
                          <a:noFill/>
                        </a:ln>
                        <a:solidFill>
                          <a:srgbClr val="FF0000"/>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Calibri" pitchFamily="34" charset="0"/>
                          <a:ea typeface="+mn-ea"/>
                          <a:cs typeface="Arial" charset="0"/>
                        </a:rPr>
                        <a:t>46.65</a:t>
                      </a:r>
                      <a:endParaRPr kumimoji="0" lang="en-US" sz="1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1.3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N/A</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200" b="0" i="0" u="none" strike="noStrike" cap="none" normalizeH="0" baseline="0" smtClean="0">
                        <a:ln>
                          <a:noFill/>
                        </a:ln>
                        <a:solidFill>
                          <a:schemeClr val="tx1"/>
                        </a:solidFill>
                        <a:effectLst/>
                        <a:latin typeface="Calibri" pitchFamily="34" charset="0"/>
                        <a:cs typeface="Arial" charset="0"/>
                      </a:endParaRPr>
                    </a:p>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N/A</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200" b="0" i="0" u="none" strike="noStrike" cap="none" normalizeH="0" baseline="0" smtClean="0">
                        <a:ln>
                          <a:noFill/>
                        </a:ln>
                        <a:solidFill>
                          <a:schemeClr val="tx1"/>
                        </a:solidFill>
                        <a:effectLst/>
                        <a:latin typeface="Garamond" pitchFamily="18"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0667">
                <a:tc vMerge="1">
                  <a:txBody>
                    <a:bodyPr/>
                    <a:lstStyle/>
                    <a:p>
                      <a:endParaRPr lang="en-U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Commercial (for-profit) Schools</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Calibri" pitchFamily="34" charset="0"/>
                        <a:cs typeface="Arial" charset="0"/>
                      </a:endParaRPr>
                    </a:p>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Calibri" pitchFamily="34" charset="0"/>
                          <a:cs typeface="Arial" charset="0"/>
                        </a:rPr>
                        <a:t>64.05</a:t>
                      </a:r>
                      <a:endParaRPr kumimoji="0" lang="en-US" sz="1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34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Calibri" pitchFamily="34" charset="0"/>
                          <a:ea typeface="+mn-ea"/>
                          <a:cs typeface="Arial" charset="0"/>
                        </a:rPr>
                        <a:t>46</a:t>
                      </a:r>
                      <a:endParaRPr kumimoji="0" lang="en-US" sz="1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Calibri" pitchFamily="34" charset="0"/>
                          <a:ea typeface="+mn-ea"/>
                          <a:cs typeface="Arial" charset="0"/>
                        </a:rPr>
                        <a:t>60</a:t>
                      </a:r>
                      <a:endParaRPr kumimoji="0" lang="en-US" sz="1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25618">
                <a:tc vMerge="1">
                  <a:txBody>
                    <a:bodyPr/>
                    <a:lstStyle/>
                    <a:p>
                      <a:endParaRPr lang="en-U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NGO/Community Schools</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&lt;1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N/A</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200" b="0" i="0" u="none" strike="noStrike" cap="none" normalizeH="0" baseline="0" smtClean="0">
                        <a:ln>
                          <a:noFill/>
                        </a:ln>
                        <a:solidFill>
                          <a:schemeClr val="tx1"/>
                        </a:solidFill>
                        <a:effectLst/>
                        <a:latin typeface="Calibri" pitchFamily="34" charset="0"/>
                        <a:cs typeface="Arial" charset="0"/>
                      </a:endParaRPr>
                    </a:p>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N/A</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200" b="0" i="0" u="none" strike="noStrike" cap="none" normalizeH="0" baseline="0" smtClean="0">
                        <a:ln>
                          <a:noFill/>
                        </a:ln>
                        <a:solidFill>
                          <a:schemeClr val="tx1"/>
                        </a:solidFill>
                        <a:effectLst/>
                        <a:latin typeface="Garamond" pitchFamily="18"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5012">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Public Schools</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sz="1200" b="0" i="0" u="none" strike="noStrike" cap="none" normalizeH="0" baseline="0" smtClean="0">
                        <a:ln>
                          <a:noFill/>
                        </a:ln>
                        <a:solidFill>
                          <a:schemeClr val="tx1"/>
                        </a:solidFill>
                        <a:effectLst/>
                        <a:latin typeface="Garamond" pitchFamily="18"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25</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Calibri" pitchFamily="34" charset="0"/>
                          <a:cs typeface="Arial" charset="0"/>
                        </a:rPr>
                        <a:t>4.11</a:t>
                      </a:r>
                      <a:r>
                        <a:rPr kumimoji="0" lang="en-US" sz="1200" b="0" i="0" u="none" strike="noStrike" cap="none" normalizeH="0" baseline="30000" dirty="0" smtClean="0">
                          <a:ln>
                            <a:noFill/>
                          </a:ln>
                          <a:solidFill>
                            <a:schemeClr val="tx1"/>
                          </a:solidFill>
                          <a:effectLst/>
                          <a:latin typeface="Calibri" pitchFamily="34" charset="0"/>
                          <a:cs typeface="Arial" charset="0"/>
                        </a:rPr>
                        <a:t>4</a:t>
                      </a:r>
                      <a:endParaRPr kumimoji="0" lang="en-US" sz="1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64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cs typeface="Arial" charset="0"/>
                        </a:rPr>
                        <a:t>0</a:t>
                      </a:r>
                      <a:endPar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Calibri" pitchFamily="34" charset="0"/>
                          <a:cs typeface="Arial" charset="0"/>
                        </a:rPr>
                        <a:t>82-247</a:t>
                      </a:r>
                      <a:endParaRPr kumimoji="0" lang="en-US" sz="12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4" name="Right Brace 33"/>
          <p:cNvSpPr/>
          <p:nvPr/>
        </p:nvSpPr>
        <p:spPr>
          <a:xfrm>
            <a:off x="2438400" y="3200400"/>
            <a:ext cx="381000" cy="1447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solidFill>
                <a:prstClr val="black"/>
              </a:solidFill>
            </a:endParaRPr>
          </a:p>
        </p:txBody>
      </p:sp>
      <p:sp>
        <p:nvSpPr>
          <p:cNvPr id="35" name="Right Brace 34"/>
          <p:cNvSpPr/>
          <p:nvPr/>
        </p:nvSpPr>
        <p:spPr>
          <a:xfrm>
            <a:off x="3505200" y="3276600"/>
            <a:ext cx="228600" cy="14478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solidFill>
                <a:prstClr val="black"/>
              </a:solidFill>
            </a:endParaRPr>
          </a:p>
        </p:txBody>
      </p:sp>
      <p:sp>
        <p:nvSpPr>
          <p:cNvPr id="36" name="Right Brace 35"/>
          <p:cNvSpPr/>
          <p:nvPr/>
        </p:nvSpPr>
        <p:spPr>
          <a:xfrm>
            <a:off x="4648200" y="3810000"/>
            <a:ext cx="228600" cy="9144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solidFill>
                <a:prstClr val="black"/>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tx2">
                <a:lumMod val="20000"/>
                <a:lumOff val="80000"/>
              </a:schemeClr>
            </a:gs>
            <a:gs pos="89999">
              <a:schemeClr val="tx2">
                <a:lumMod val="75000"/>
              </a:schemeClr>
            </a:gs>
            <a:gs pos="100000">
              <a:srgbClr val="FF0000"/>
            </a:gs>
          </a:gsLst>
          <a:lin ang="13500000" scaled="1"/>
          <a:tileRect/>
        </a:gradFill>
        <a:effectLst/>
      </p:bgPr>
    </p:bg>
    <p:spTree>
      <p:nvGrpSpPr>
        <p:cNvPr id="1" name=""/>
        <p:cNvGrpSpPr/>
        <p:nvPr/>
      </p:nvGrpSpPr>
      <p:grpSpPr>
        <a:xfrm>
          <a:off x="0" y="0"/>
          <a:ext cx="0" cy="0"/>
          <a:chOff x="0" y="0"/>
          <a:chExt cx="0" cy="0"/>
        </a:xfrm>
      </p:grpSpPr>
      <p:pic>
        <p:nvPicPr>
          <p:cNvPr id="69636" name="Picture 3"/>
          <p:cNvPicPr>
            <a:picLocks noChangeAspect="1" noChangeArrowheads="1"/>
          </p:cNvPicPr>
          <p:nvPr/>
        </p:nvPicPr>
        <p:blipFill>
          <a:blip r:embed="rId2"/>
          <a:srcRect/>
          <a:stretch>
            <a:fillRect/>
          </a:stretch>
        </p:blipFill>
        <p:spPr bwMode="auto">
          <a:xfrm>
            <a:off x="0" y="381000"/>
            <a:ext cx="4729163" cy="2362200"/>
          </a:xfrm>
          <a:prstGeom prst="rect">
            <a:avLst/>
          </a:prstGeom>
          <a:noFill/>
          <a:ln w="9525">
            <a:noFill/>
            <a:miter lim="800000"/>
            <a:headEnd/>
            <a:tailEnd/>
          </a:ln>
        </p:spPr>
      </p:pic>
      <p:pic>
        <p:nvPicPr>
          <p:cNvPr id="69634" name="Picture 7"/>
          <p:cNvPicPr>
            <a:picLocks noChangeAspect="1" noChangeArrowheads="1"/>
          </p:cNvPicPr>
          <p:nvPr/>
        </p:nvPicPr>
        <p:blipFill>
          <a:blip r:embed="rId3"/>
          <a:srcRect/>
          <a:stretch>
            <a:fillRect/>
          </a:stretch>
        </p:blipFill>
        <p:spPr bwMode="auto">
          <a:xfrm>
            <a:off x="152400" y="2362200"/>
            <a:ext cx="3657600" cy="1619250"/>
          </a:xfrm>
          <a:prstGeom prst="rect">
            <a:avLst/>
          </a:prstGeom>
          <a:noFill/>
          <a:ln w="9525">
            <a:noFill/>
            <a:miter lim="800000"/>
            <a:headEnd/>
            <a:tailEnd/>
          </a:ln>
        </p:spPr>
      </p:pic>
      <p:sp>
        <p:nvSpPr>
          <p:cNvPr id="5" name="Oval 4"/>
          <p:cNvSpPr/>
          <p:nvPr/>
        </p:nvSpPr>
        <p:spPr>
          <a:xfrm>
            <a:off x="5105400" y="762000"/>
            <a:ext cx="2895600" cy="914400"/>
          </a:xfrm>
          <a:prstGeom prst="ellipse">
            <a:avLst/>
          </a:prstGeom>
          <a:solidFill>
            <a:schemeClr val="accent2">
              <a:alpha val="14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Oval 6"/>
          <p:cNvSpPr/>
          <p:nvPr/>
        </p:nvSpPr>
        <p:spPr>
          <a:xfrm>
            <a:off x="0" y="1143000"/>
            <a:ext cx="2895600" cy="914400"/>
          </a:xfrm>
          <a:prstGeom prst="ellipse">
            <a:avLst/>
          </a:prstGeom>
          <a:solidFill>
            <a:schemeClr val="accent2">
              <a:alpha val="14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Oval 8"/>
          <p:cNvSpPr/>
          <p:nvPr/>
        </p:nvSpPr>
        <p:spPr>
          <a:xfrm>
            <a:off x="304800" y="2514600"/>
            <a:ext cx="2895600" cy="762000"/>
          </a:xfrm>
          <a:prstGeom prst="ellipse">
            <a:avLst/>
          </a:prstGeom>
          <a:solidFill>
            <a:schemeClr val="accent2">
              <a:alpha val="14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9641" name="Picture 10"/>
          <p:cNvPicPr>
            <a:picLocks noChangeAspect="1" noChangeArrowheads="1"/>
          </p:cNvPicPr>
          <p:nvPr/>
        </p:nvPicPr>
        <p:blipFill>
          <a:blip r:embed="rId4"/>
          <a:srcRect/>
          <a:stretch>
            <a:fillRect/>
          </a:stretch>
        </p:blipFill>
        <p:spPr bwMode="auto">
          <a:xfrm>
            <a:off x="0" y="4495800"/>
            <a:ext cx="4876800" cy="882650"/>
          </a:xfrm>
          <a:prstGeom prst="rect">
            <a:avLst/>
          </a:prstGeom>
          <a:noFill/>
          <a:ln w="9525">
            <a:noFill/>
            <a:miter lim="800000"/>
            <a:headEnd/>
            <a:tailEnd/>
          </a:ln>
        </p:spPr>
      </p:pic>
      <p:pic>
        <p:nvPicPr>
          <p:cNvPr id="69642" name="Picture 11"/>
          <p:cNvPicPr>
            <a:picLocks noChangeAspect="1" noChangeArrowheads="1"/>
          </p:cNvPicPr>
          <p:nvPr/>
        </p:nvPicPr>
        <p:blipFill>
          <a:blip r:embed="rId5"/>
          <a:srcRect/>
          <a:stretch>
            <a:fillRect/>
          </a:stretch>
        </p:blipFill>
        <p:spPr bwMode="auto">
          <a:xfrm>
            <a:off x="3870325" y="152400"/>
            <a:ext cx="5273675" cy="2657475"/>
          </a:xfrm>
          <a:prstGeom prst="rect">
            <a:avLst/>
          </a:prstGeom>
          <a:noFill/>
          <a:ln w="9525">
            <a:noFill/>
            <a:miter lim="800000"/>
            <a:headEnd/>
            <a:tailEnd/>
          </a:ln>
        </p:spPr>
      </p:pic>
      <p:graphicFrame>
        <p:nvGraphicFramePr>
          <p:cNvPr id="69678" name="Group 46"/>
          <p:cNvGraphicFramePr>
            <a:graphicFrameLocks noGrp="1"/>
          </p:cNvGraphicFramePr>
          <p:nvPr/>
        </p:nvGraphicFramePr>
        <p:xfrm>
          <a:off x="5029200" y="1587119"/>
          <a:ext cx="4114800" cy="5278796"/>
        </p:xfrm>
        <a:graphic>
          <a:graphicData uri="http://schemas.openxmlformats.org/drawingml/2006/table">
            <a:tbl>
              <a:tblPr/>
              <a:tblGrid>
                <a:gridCol w="2639106"/>
                <a:gridCol w="1475694"/>
              </a:tblGrid>
              <a:tr h="943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FFFFFF"/>
                          </a:solidFill>
                          <a:effectLst/>
                          <a:latin typeface="Calibri" pitchFamily="34" charset="0"/>
                          <a:cs typeface="Arial" charset="0"/>
                        </a:rPr>
                        <a:t>Source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FFFFFF"/>
                          </a:solidFill>
                          <a:effectLst/>
                          <a:latin typeface="Calibri" pitchFamily="34" charset="0"/>
                          <a:cs typeface="Arial" charset="0"/>
                        </a:rPr>
                        <a:t>School Fees/ Expenditures (PPP Adjust 2005 US$)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859196">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cs typeface="Times New Roman" pitchFamily="18" charset="0"/>
                        </a:rPr>
                        <a:t>Wolff, Laurence. 2008. </a:t>
                      </a:r>
                      <a:r>
                        <a:rPr kumimoji="0" lang="en-US" sz="1100" b="0" i="1" u="none" strike="noStrike" cap="none" normalizeH="0" baseline="0" dirty="0" smtClean="0">
                          <a:ln>
                            <a:noFill/>
                          </a:ln>
                          <a:solidFill>
                            <a:schemeClr val="tx1"/>
                          </a:solidFill>
                          <a:effectLst/>
                          <a:latin typeface="Calibri" pitchFamily="34" charset="0"/>
                          <a:cs typeface="Times New Roman" pitchFamily="18" charset="0"/>
                        </a:rPr>
                        <a:t>Education in Haiti: The Way Forward.</a:t>
                      </a:r>
                      <a:endParaRPr kumimoji="0" lang="en-US" sz="11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cs typeface="Times New Roman" pitchFamily="18" charset="0"/>
                        </a:rPr>
                        <a:t>Washington, DC: PREAL </a:t>
                      </a:r>
                      <a:endParaRPr kumimoji="0" lang="en-US" sz="1100" b="0" i="0" u="none" strike="noStrike" cap="none" normalizeH="0" baseline="0" dirty="0" smtClean="0">
                        <a:ln>
                          <a:noFill/>
                        </a:ln>
                        <a:solidFill>
                          <a:schemeClr val="tx1"/>
                        </a:solidFill>
                        <a:effectLst/>
                        <a:latin typeface="Calibri" pitchFamily="34"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cs typeface="Times New Roman" pitchFamily="18" charset="0"/>
                        </a:rPr>
                        <a:t>Private Total Expenditures: 181 </a:t>
                      </a:r>
                      <a:endParaRPr kumimoji="0" lang="en-US" sz="11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cs typeface="Times New Roman" pitchFamily="18" charset="0"/>
                        </a:rPr>
                        <a:t>Public Total Expenditures: </a:t>
                      </a:r>
                      <a:r>
                        <a:rPr kumimoji="0" lang="en-US" sz="1100" b="0" i="0" u="none" strike="noStrike" cap="none" normalizeH="0" baseline="0" dirty="0" smtClean="0">
                          <a:ln>
                            <a:noFill/>
                          </a:ln>
                          <a:solidFill>
                            <a:schemeClr val="tx1"/>
                          </a:solidFill>
                          <a:effectLst/>
                          <a:latin typeface="Calibri" pitchFamily="34" charset="0"/>
                          <a:cs typeface="Times New Roman" pitchFamily="18" charset="0"/>
                        </a:rPr>
                        <a:t>226</a:t>
                      </a:r>
                      <a:endParaRPr kumimoji="0" lang="en-US" sz="1100" b="0" i="0" u="none" strike="noStrike" cap="none" normalizeH="0" baseline="0" dirty="0" smtClean="0">
                        <a:ln>
                          <a:noFill/>
                        </a:ln>
                        <a:solidFill>
                          <a:schemeClr val="tx1"/>
                        </a:solidFill>
                        <a:effectLst/>
                        <a:latin typeface="Calibri" pitchFamily="34"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5932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Calibri" pitchFamily="34" charset="0"/>
                          <a:cs typeface="Arial" charset="0"/>
                        </a:rPr>
                        <a:t>World Bank, (2006) “Haiti: Options and Opportunities for Inclusive Growth Country Economic Memorandum” Washington, DC</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Calibri" pitchFamily="34" charset="0"/>
                          <a:cs typeface="Arial" charset="0"/>
                        </a:rPr>
                        <a:t>Direct cost: 251</a:t>
                      </a:r>
                      <a:endParaRPr kumimoji="0" lang="en-US" sz="1100" b="0" i="0" u="none" strike="noStrike" cap="none" normalizeH="0" baseline="0" dirty="0" smtClean="0">
                        <a:ln>
                          <a:noFill/>
                        </a:ln>
                        <a:solidFill>
                          <a:srgbClr val="000000"/>
                        </a:solidFill>
                        <a:effectLst/>
                        <a:latin typeface="Calibri" pitchFamily="34"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5864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err="1" smtClean="0">
                          <a:ln>
                            <a:noFill/>
                          </a:ln>
                          <a:solidFill>
                            <a:srgbClr val="000000"/>
                          </a:solidFill>
                          <a:effectLst/>
                          <a:latin typeface="Calibri" pitchFamily="34" charset="0"/>
                          <a:cs typeface="Arial" charset="0"/>
                        </a:rPr>
                        <a:t>Kattan</a:t>
                      </a:r>
                      <a:r>
                        <a:rPr kumimoji="0" lang="en-US" sz="1100" b="0" i="0" u="none" strike="noStrike" cap="none" normalizeH="0" baseline="0" dirty="0" smtClean="0">
                          <a:ln>
                            <a:noFill/>
                          </a:ln>
                          <a:solidFill>
                            <a:srgbClr val="000000"/>
                          </a:solidFill>
                          <a:effectLst/>
                          <a:latin typeface="Calibri" pitchFamily="34" charset="0"/>
                          <a:cs typeface="Arial" charset="0"/>
                        </a:rPr>
                        <a:t>, Raja </a:t>
                      </a:r>
                      <a:r>
                        <a:rPr kumimoji="0" lang="en-US" sz="1100" b="0" i="0" u="none" strike="noStrike" cap="none" normalizeH="0" baseline="0" dirty="0" err="1" smtClean="0">
                          <a:ln>
                            <a:noFill/>
                          </a:ln>
                          <a:solidFill>
                            <a:srgbClr val="000000"/>
                          </a:solidFill>
                          <a:effectLst/>
                          <a:latin typeface="Calibri" pitchFamily="34" charset="0"/>
                          <a:cs typeface="Arial" charset="0"/>
                        </a:rPr>
                        <a:t>Bentaout</a:t>
                      </a:r>
                      <a:r>
                        <a:rPr kumimoji="0" lang="en-US" sz="1100" b="0" i="0" u="none" strike="noStrike" cap="none" normalizeH="0" baseline="0" dirty="0" smtClean="0">
                          <a:ln>
                            <a:noFill/>
                          </a:ln>
                          <a:solidFill>
                            <a:srgbClr val="000000"/>
                          </a:solidFill>
                          <a:effectLst/>
                          <a:latin typeface="Calibri" pitchFamily="34" charset="0"/>
                          <a:cs typeface="Arial" charset="0"/>
                        </a:rPr>
                        <a:t>, (2006) “Implementation of Free Basic Education Policy,” World Bank, Washington DC</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smtClean="0">
                        <a:ln>
                          <a:noFill/>
                        </a:ln>
                        <a:solidFill>
                          <a:srgbClr val="000000"/>
                        </a:solidFill>
                        <a:effectLst/>
                        <a:latin typeface="Calibri" pitchFamily="34"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Calibri" pitchFamily="34" charset="0"/>
                          <a:cs typeface="Arial" charset="0"/>
                        </a:rPr>
                        <a:t>Direct cost: 178</a:t>
                      </a:r>
                      <a:endParaRPr kumimoji="0" lang="en-US" sz="1100" b="0" i="0" u="none" strike="noStrike" cap="none" normalizeH="0" baseline="0" dirty="0" smtClean="0">
                        <a:ln>
                          <a:noFill/>
                        </a:ln>
                        <a:solidFill>
                          <a:srgbClr val="000000"/>
                        </a:solidFill>
                        <a:effectLst/>
                        <a:latin typeface="Calibri" pitchFamily="34"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5102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rgbClr val="000000"/>
                          </a:solidFill>
                          <a:effectLst/>
                          <a:latin typeface="Calibri" pitchFamily="34" charset="0"/>
                          <a:cs typeface="Arial" charset="0"/>
                        </a:rPr>
                        <a:t>World Bank (2007) “Project Appraisal Document of a Proposed Grant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rgbClr val="000000"/>
                          </a:solidFill>
                          <a:effectLst/>
                          <a:latin typeface="Calibri" pitchFamily="34" charset="0"/>
                          <a:cs typeface="Arial" charset="0"/>
                        </a:rPr>
                        <a:t>To The Republic Of Haiti – Education for All Project,” Washington DC</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Calibri" pitchFamily="34" charset="0"/>
                          <a:cs typeface="Arial" charset="0"/>
                        </a:rPr>
                        <a:t>Overall Average Tuition: </a:t>
                      </a:r>
                      <a:r>
                        <a:rPr kumimoji="0" lang="en-US" sz="1100" b="0" i="0" u="none" strike="noStrike" cap="none" normalizeH="0" baseline="0" dirty="0" smtClean="0">
                          <a:ln>
                            <a:noFill/>
                          </a:ln>
                          <a:solidFill>
                            <a:srgbClr val="000000"/>
                          </a:solidFill>
                          <a:effectLst/>
                          <a:latin typeface="Calibri" pitchFamily="34" charset="0"/>
                          <a:cs typeface="Arial" charset="0"/>
                        </a:rPr>
                        <a:t>167</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Calibri" pitchFamily="34" charset="0"/>
                          <a:cs typeface="Arial" charset="0"/>
                        </a:rPr>
                        <a:t>Public School Fee: </a:t>
                      </a:r>
                      <a:r>
                        <a:rPr kumimoji="0" lang="en-US" sz="1100" b="0" i="0" u="none" strike="noStrike" cap="none" normalizeH="0" baseline="0" dirty="0" smtClean="0">
                          <a:ln>
                            <a:noFill/>
                          </a:ln>
                          <a:solidFill>
                            <a:srgbClr val="000000"/>
                          </a:solidFill>
                          <a:effectLst/>
                          <a:latin typeface="Calibri" pitchFamily="34" charset="0"/>
                          <a:cs typeface="Arial" charset="0"/>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76063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Calibri" pitchFamily="34" charset="0"/>
                          <a:cs typeface="Arial" charset="0"/>
                        </a:rPr>
                        <a:t>USAID, (2007) “Working Paper: School Effectiveness in </a:t>
                      </a:r>
                      <a:r>
                        <a:rPr kumimoji="0" lang="en-US" sz="1100" b="0" i="0" u="none" strike="noStrike" cap="none" normalizeH="0" baseline="0" dirty="0" err="1" smtClean="0">
                          <a:ln>
                            <a:noFill/>
                          </a:ln>
                          <a:solidFill>
                            <a:srgbClr val="000000"/>
                          </a:solidFill>
                          <a:effectLst/>
                          <a:latin typeface="Calibri" pitchFamily="34" charset="0"/>
                          <a:cs typeface="Arial" charset="0"/>
                        </a:rPr>
                        <a:t>Maïssade</a:t>
                      </a:r>
                      <a:r>
                        <a:rPr kumimoji="0" lang="en-US" sz="1100" b="0" i="0" u="none" strike="noStrike" cap="none" normalizeH="0" baseline="0" dirty="0" smtClean="0">
                          <a:ln>
                            <a:noFill/>
                          </a:ln>
                          <a:solidFill>
                            <a:srgbClr val="000000"/>
                          </a:solidFill>
                          <a:effectLst/>
                          <a:latin typeface="Calibri" pitchFamily="34" charset="0"/>
                          <a:cs typeface="Arial" charset="0"/>
                        </a:rPr>
                        <a:t>, Haiti,” Washington DC</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Calibri" pitchFamily="34" charset="0"/>
                          <a:cs typeface="Arial" charset="0"/>
                        </a:rPr>
                        <a:t>Average Tuition: 10 </a:t>
                      </a:r>
                      <a:r>
                        <a:rPr kumimoji="0" lang="en-US" sz="1100" b="0" i="0" u="none" strike="noStrike" cap="none" normalizeH="0" baseline="0" dirty="0" smtClean="0">
                          <a:ln>
                            <a:noFill/>
                          </a:ln>
                          <a:solidFill>
                            <a:srgbClr val="000000"/>
                          </a:solidFill>
                          <a:effectLst/>
                          <a:latin typeface="Calibri" pitchFamily="34" charset="0"/>
                          <a:cs typeface="Arial" charset="0"/>
                        </a:rPr>
                        <a:t>– 15  for Community Schools (highly subsidized) </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5932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err="1" smtClean="0">
                          <a:ln>
                            <a:noFill/>
                          </a:ln>
                          <a:solidFill>
                            <a:srgbClr val="000000"/>
                          </a:solidFill>
                          <a:effectLst/>
                          <a:latin typeface="Calibri" pitchFamily="34" charset="0"/>
                          <a:cs typeface="Arial" charset="0"/>
                        </a:rPr>
                        <a:t>Salmi</a:t>
                      </a:r>
                      <a:r>
                        <a:rPr kumimoji="0" lang="en-US" sz="1100" b="0" i="0" u="none" strike="noStrike" cap="none" normalizeH="0" baseline="0" dirty="0" smtClean="0">
                          <a:ln>
                            <a:noFill/>
                          </a:ln>
                          <a:solidFill>
                            <a:srgbClr val="000000"/>
                          </a:solidFill>
                          <a:effectLst/>
                          <a:latin typeface="Calibri" pitchFamily="34" charset="0"/>
                          <a:cs typeface="Arial" charset="0"/>
                        </a:rPr>
                        <a:t>, J. (2000) “Equity and Quality in Private Education: the Haitian Paradox,” Compare, 30:2, pp163-178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000000"/>
                          </a:solidFill>
                          <a:effectLst/>
                          <a:latin typeface="Calibri" pitchFamily="34" charset="0"/>
                          <a:cs typeface="Arial" charset="0"/>
                        </a:rPr>
                        <a:t>Average Direct Cost: 58 </a:t>
                      </a:r>
                      <a:endParaRPr kumimoji="0" lang="en-US" sz="1100" b="0" i="0" u="none" strike="noStrike" cap="none" normalizeH="0" baseline="0" dirty="0" smtClean="0">
                        <a:ln>
                          <a:noFill/>
                        </a:ln>
                        <a:solidFill>
                          <a:srgbClr val="000000"/>
                        </a:solidFill>
                        <a:effectLst/>
                        <a:latin typeface="Calibri" pitchFamily="34" charset="0"/>
                        <a:cs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20" name="Oval 19"/>
          <p:cNvSpPr/>
          <p:nvPr/>
        </p:nvSpPr>
        <p:spPr>
          <a:xfrm>
            <a:off x="5410200" y="1066800"/>
            <a:ext cx="2895600" cy="533400"/>
          </a:xfrm>
          <a:prstGeom prst="ellipse">
            <a:avLst/>
          </a:prstGeom>
          <a:solidFill>
            <a:schemeClr val="accent2">
              <a:alpha val="14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2" name="Straight Arrow Connector 21"/>
          <p:cNvCxnSpPr/>
          <p:nvPr/>
        </p:nvCxnSpPr>
        <p:spPr>
          <a:xfrm rot="10800000">
            <a:off x="2743200" y="1981200"/>
            <a:ext cx="2209800" cy="1752600"/>
          </a:xfrm>
          <a:prstGeom prst="straightConnector1">
            <a:avLst/>
          </a:prstGeom>
          <a:ln w="34925" cmpd="sng">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16200000" flipV="1">
            <a:off x="6781800" y="2286000"/>
            <a:ext cx="1446214" cy="74614"/>
          </a:xfrm>
          <a:prstGeom prst="straightConnector1">
            <a:avLst/>
          </a:prstGeom>
          <a:ln w="34925" cmpd="sng">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0800000">
            <a:off x="3124200" y="3048000"/>
            <a:ext cx="1828800" cy="1143000"/>
          </a:xfrm>
          <a:prstGeom prst="straightConnector1">
            <a:avLst/>
          </a:prstGeom>
          <a:ln w="34925" cmpd="sng">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rot="10800000">
            <a:off x="3733800" y="4953000"/>
            <a:ext cx="1143000" cy="685800"/>
          </a:xfrm>
          <a:prstGeom prst="straightConnector1">
            <a:avLst/>
          </a:prstGeom>
          <a:ln w="34925" cmpd="sng">
            <a:solidFill>
              <a:schemeClr val="accent2"/>
            </a:solidFill>
            <a:tailEnd type="arrow"/>
          </a:ln>
        </p:spPr>
        <p:style>
          <a:lnRef idx="1">
            <a:schemeClr val="accent1"/>
          </a:lnRef>
          <a:fillRef idx="0">
            <a:schemeClr val="accent1"/>
          </a:fillRef>
          <a:effectRef idx="0">
            <a:schemeClr val="accent1"/>
          </a:effectRef>
          <a:fontRef idx="minor">
            <a:schemeClr val="tx1"/>
          </a:fontRef>
        </p:style>
      </p:cxnSp>
      <p:pic>
        <p:nvPicPr>
          <p:cNvPr id="69673" name="Picture 2"/>
          <p:cNvPicPr>
            <a:picLocks noChangeAspect="1" noChangeArrowheads="1"/>
          </p:cNvPicPr>
          <p:nvPr/>
        </p:nvPicPr>
        <p:blipFill>
          <a:blip r:embed="rId6" cstate="print"/>
          <a:srcRect/>
          <a:stretch>
            <a:fillRect/>
          </a:stretch>
        </p:blipFill>
        <p:spPr bwMode="auto">
          <a:xfrm>
            <a:off x="457200" y="5410200"/>
            <a:ext cx="3657600" cy="1447800"/>
          </a:xfrm>
          <a:prstGeom prst="rect">
            <a:avLst/>
          </a:prstGeom>
          <a:noFill/>
          <a:ln w="9525">
            <a:noFill/>
            <a:miter lim="800000"/>
            <a:headEnd/>
            <a:tailEnd/>
          </a:ln>
        </p:spPr>
      </p:pic>
      <p:pic>
        <p:nvPicPr>
          <p:cNvPr id="28" name="Picture 8"/>
          <p:cNvPicPr>
            <a:picLocks noChangeAspect="1" noChangeArrowheads="1"/>
          </p:cNvPicPr>
          <p:nvPr/>
        </p:nvPicPr>
        <p:blipFill>
          <a:blip r:embed="rId7"/>
          <a:srcRect/>
          <a:stretch>
            <a:fillRect/>
          </a:stretch>
        </p:blipFill>
        <p:spPr bwMode="auto">
          <a:xfrm>
            <a:off x="0" y="4191000"/>
            <a:ext cx="4876800" cy="228600"/>
          </a:xfrm>
          <a:prstGeom prst="rect">
            <a:avLst/>
          </a:prstGeom>
          <a:noFill/>
          <a:ln w="9525">
            <a:noFill/>
            <a:miter lim="800000"/>
            <a:headEnd/>
            <a:tailEnd/>
          </a:ln>
        </p:spPr>
      </p:pic>
      <p:sp>
        <p:nvSpPr>
          <p:cNvPr id="16" name="Oval 15"/>
          <p:cNvSpPr/>
          <p:nvPr/>
        </p:nvSpPr>
        <p:spPr>
          <a:xfrm>
            <a:off x="3352800" y="4114800"/>
            <a:ext cx="1524000" cy="304800"/>
          </a:xfrm>
          <a:prstGeom prst="ellipse">
            <a:avLst/>
          </a:prstGeom>
          <a:solidFill>
            <a:schemeClr val="accent2">
              <a:alpha val="14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Oval 20"/>
          <p:cNvSpPr/>
          <p:nvPr/>
        </p:nvSpPr>
        <p:spPr>
          <a:xfrm>
            <a:off x="838200" y="4495800"/>
            <a:ext cx="2895600" cy="914400"/>
          </a:xfrm>
          <a:prstGeom prst="ellipse">
            <a:avLst/>
          </a:prstGeom>
          <a:solidFill>
            <a:schemeClr val="accent2">
              <a:alpha val="14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Oval 31"/>
          <p:cNvSpPr/>
          <p:nvPr/>
        </p:nvSpPr>
        <p:spPr>
          <a:xfrm>
            <a:off x="762000" y="5638800"/>
            <a:ext cx="2895600" cy="914400"/>
          </a:xfrm>
          <a:prstGeom prst="ellipse">
            <a:avLst/>
          </a:prstGeom>
          <a:solidFill>
            <a:schemeClr val="accent2">
              <a:alpha val="14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33" name="Straight Arrow Connector 32"/>
          <p:cNvCxnSpPr/>
          <p:nvPr/>
        </p:nvCxnSpPr>
        <p:spPr>
          <a:xfrm rot="16200000" flipV="1">
            <a:off x="4381500" y="4533900"/>
            <a:ext cx="685800" cy="457200"/>
          </a:xfrm>
          <a:prstGeom prst="straightConnector1">
            <a:avLst/>
          </a:prstGeom>
          <a:ln w="34925" cmpd="sng">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32" idx="6"/>
          </p:cNvCxnSpPr>
          <p:nvPr/>
        </p:nvCxnSpPr>
        <p:spPr>
          <a:xfrm rot="10800000">
            <a:off x="3657600" y="6096000"/>
            <a:ext cx="1295400" cy="381000"/>
          </a:xfrm>
          <a:prstGeom prst="straightConnector1">
            <a:avLst/>
          </a:prstGeom>
          <a:ln w="34925" cmpd="sng">
            <a:solidFill>
              <a:schemeClr val="accent2"/>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20" grpId="0" animBg="1"/>
      <p:bldP spid="20" grpId="1" animBg="1"/>
      <p:bldP spid="16" grpId="0" animBg="1"/>
      <p:bldP spid="21" grpId="0" animBg="1"/>
      <p:bldP spid="3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tx2">
                <a:lumMod val="20000"/>
                <a:lumOff val="80000"/>
              </a:schemeClr>
            </a:gs>
            <a:gs pos="89999">
              <a:schemeClr val="tx2">
                <a:lumMod val="75000"/>
              </a:schemeClr>
            </a:gs>
            <a:gs pos="100000">
              <a:srgbClr val="FF0000"/>
            </a:gs>
          </a:gsLst>
          <a:lin ang="135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124200"/>
            <a:ext cx="8229600" cy="1143000"/>
          </a:xfrm>
        </p:spPr>
        <p:txBody>
          <a:bodyPr rtlCol="0">
            <a:normAutofit fontScale="90000"/>
          </a:bodyPr>
          <a:lstStyle/>
          <a:p>
            <a:pPr eaLnBrk="1" fontAlgn="auto" hangingPunct="1">
              <a:spcAft>
                <a:spcPts val="0"/>
              </a:spcAft>
              <a:defRPr/>
            </a:pPr>
            <a:r>
              <a:rPr lang="en-US" dirty="0" smtClean="0"/>
              <a:t>Haiti and Pakistan: Making sense of it all (</a:t>
            </a:r>
            <a:r>
              <a:rPr lang="en-US" i="1" dirty="0" smtClean="0"/>
              <a:t>if</a:t>
            </a:r>
            <a:r>
              <a:rPr lang="en-US" dirty="0" smtClean="0"/>
              <a:t> the numbers are correct!)</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tx2">
                <a:lumMod val="20000"/>
                <a:lumOff val="80000"/>
              </a:schemeClr>
            </a:gs>
            <a:gs pos="89999">
              <a:schemeClr val="tx2">
                <a:lumMod val="75000"/>
              </a:schemeClr>
            </a:gs>
            <a:gs pos="100000">
              <a:srgbClr val="FF0000"/>
            </a:gs>
          </a:gsLst>
          <a:lin ang="13500000" scaled="1"/>
          <a:tileRect/>
        </a:gradFill>
        <a:effectLst/>
      </p:bgPr>
    </p:bg>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pPr eaLnBrk="1" hangingPunct="1"/>
            <a:r>
              <a:rPr lang="en-US" sz="4000" dirty="0" smtClean="0">
                <a:solidFill>
                  <a:schemeClr val="bg1"/>
                </a:solidFill>
              </a:rPr>
              <a:t>The </a:t>
            </a:r>
            <a:r>
              <a:rPr lang="en-US" sz="4000" dirty="0" smtClean="0">
                <a:solidFill>
                  <a:schemeClr val="bg1"/>
                </a:solidFill>
              </a:rPr>
              <a:t>derived </a:t>
            </a:r>
            <a:r>
              <a:rPr lang="en-US" sz="4000" dirty="0" smtClean="0">
                <a:solidFill>
                  <a:schemeClr val="bg1"/>
                </a:solidFill>
              </a:rPr>
              <a:t>d</a:t>
            </a:r>
            <a:r>
              <a:rPr lang="en-US" sz="4000" dirty="0" smtClean="0">
                <a:solidFill>
                  <a:schemeClr val="bg1"/>
                </a:solidFill>
              </a:rPr>
              <a:t>emand </a:t>
            </a:r>
            <a:r>
              <a:rPr lang="en-US" sz="4000" dirty="0" smtClean="0">
                <a:solidFill>
                  <a:schemeClr val="bg1"/>
                </a:solidFill>
              </a:rPr>
              <a:t>for </a:t>
            </a:r>
            <a:r>
              <a:rPr lang="en-US" sz="4000" dirty="0" smtClean="0">
                <a:solidFill>
                  <a:schemeClr val="bg1"/>
                </a:solidFill>
              </a:rPr>
              <a:t>private </a:t>
            </a:r>
            <a:r>
              <a:rPr lang="en-US" sz="4000" dirty="0" smtClean="0">
                <a:solidFill>
                  <a:schemeClr val="bg1"/>
                </a:solidFill>
              </a:rPr>
              <a:t>s</a:t>
            </a:r>
            <a:r>
              <a:rPr lang="en-US" sz="4000" dirty="0" smtClean="0">
                <a:solidFill>
                  <a:schemeClr val="bg1"/>
                </a:solidFill>
              </a:rPr>
              <a:t>chooling</a:t>
            </a:r>
            <a:r>
              <a:rPr lang="en-US" sz="4000" dirty="0" smtClean="0">
                <a:solidFill>
                  <a:schemeClr val="bg1"/>
                </a:solidFill>
              </a:rPr>
              <a:t>: Case 1 is </a:t>
            </a:r>
            <a:r>
              <a:rPr lang="en-US" sz="4000" dirty="0" smtClean="0">
                <a:solidFill>
                  <a:schemeClr val="bg1"/>
                </a:solidFill>
              </a:rPr>
              <a:t>fees </a:t>
            </a:r>
            <a:r>
              <a:rPr lang="en-US" sz="4000" dirty="0" smtClean="0">
                <a:solidFill>
                  <a:schemeClr val="bg1"/>
                </a:solidFill>
              </a:rPr>
              <a:t>are high</a:t>
            </a:r>
          </a:p>
        </p:txBody>
      </p:sp>
      <p:graphicFrame>
        <p:nvGraphicFramePr>
          <p:cNvPr id="11" name="Content Placeholder 10"/>
          <p:cNvGraphicFramePr>
            <a:graphicFrameLocks noGrp="1"/>
          </p:cNvGraphicFramePr>
          <p:nvPr>
            <p:ph idx="1"/>
          </p:nvPr>
        </p:nvGraphicFramePr>
        <p:xfrm>
          <a:off x="457200" y="1600200"/>
          <a:ext cx="838200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4" name="Oval 3"/>
          <p:cNvSpPr/>
          <p:nvPr/>
        </p:nvSpPr>
        <p:spPr>
          <a:xfrm>
            <a:off x="4495800" y="4191000"/>
            <a:ext cx="381000" cy="381000"/>
          </a:xfrm>
          <a:prstGeom prst="ellipse">
            <a:avLst/>
          </a:prstGeom>
          <a:solidFill>
            <a:schemeClr val="accent1">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1685" name="TextBox 4"/>
          <p:cNvSpPr txBox="1">
            <a:spLocks noChangeArrowheads="1"/>
          </p:cNvSpPr>
          <p:nvPr/>
        </p:nvSpPr>
        <p:spPr bwMode="auto">
          <a:xfrm>
            <a:off x="152400" y="1752600"/>
            <a:ext cx="2286000" cy="2289175"/>
          </a:xfrm>
          <a:prstGeom prst="rect">
            <a:avLst/>
          </a:prstGeom>
          <a:noFill/>
          <a:ln w="9525">
            <a:noFill/>
            <a:miter lim="800000"/>
            <a:headEnd/>
            <a:tailEnd/>
          </a:ln>
        </p:spPr>
        <p:txBody>
          <a:bodyPr>
            <a:spAutoFit/>
          </a:bodyPr>
          <a:lstStyle/>
          <a:p>
            <a:r>
              <a:rPr lang="en-US">
                <a:latin typeface="Calibri" pitchFamily="34" charset="0"/>
              </a:rPr>
              <a:t>Moving from Pakistani equilibrium to Haitian equilibrium consistent with</a:t>
            </a:r>
          </a:p>
          <a:p>
            <a:pPr>
              <a:buFontTx/>
              <a:buAutoNum type="alphaLcParenR"/>
            </a:pPr>
            <a:r>
              <a:rPr lang="en-US" i="1">
                <a:latin typeface="Calibri" pitchFamily="34" charset="0"/>
              </a:rPr>
              <a:t>Far higher demand in Haiti</a:t>
            </a:r>
            <a:endParaRPr lang="en-US">
              <a:latin typeface="Calibri" pitchFamily="34" charset="0"/>
            </a:endParaRPr>
          </a:p>
          <a:p>
            <a:pPr>
              <a:buFontTx/>
              <a:buAutoNum type="alphaLcParenR"/>
            </a:pPr>
            <a:r>
              <a:rPr lang="en-US">
                <a:latin typeface="Calibri" pitchFamily="34" charset="0"/>
              </a:rPr>
              <a:t>Supply may be worse or better</a:t>
            </a:r>
            <a:endParaRPr lang="en-US" i="1">
              <a:latin typeface="Calibri" pitchFamily="34" charset="0"/>
            </a:endParaRPr>
          </a:p>
        </p:txBody>
      </p:sp>
      <p:cxnSp>
        <p:nvCxnSpPr>
          <p:cNvPr id="7" name="Straight Connector 6"/>
          <p:cNvCxnSpPr/>
          <p:nvPr/>
        </p:nvCxnSpPr>
        <p:spPr>
          <a:xfrm>
            <a:off x="2514600" y="2286000"/>
            <a:ext cx="4191000" cy="403860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3048000" y="2438400"/>
            <a:ext cx="3581400" cy="3505200"/>
          </a:xfrm>
          <a:prstGeom prst="line">
            <a:avLst/>
          </a:prstGeom>
          <a:ln w="34925">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C6D9F1"/>
            </a:gs>
            <a:gs pos="30000">
              <a:srgbClr val="C6D9F1"/>
            </a:gs>
            <a:gs pos="89999">
              <a:srgbClr val="17375E"/>
            </a:gs>
            <a:gs pos="100000">
              <a:srgbClr val="FF0000"/>
            </a:gs>
          </a:gsLst>
          <a:lin ang="13500000" scaled="1"/>
        </a:gradFill>
        <a:effectLst/>
      </p:bgPr>
    </p:bg>
    <p:spTree>
      <p:nvGrpSpPr>
        <p:cNvPr id="1" name=""/>
        <p:cNvGrpSpPr/>
        <p:nvPr/>
      </p:nvGrpSpPr>
      <p:grpSpPr>
        <a:xfrm>
          <a:off x="0" y="0"/>
          <a:ext cx="0" cy="0"/>
          <a:chOff x="0" y="0"/>
          <a:chExt cx="0" cy="0"/>
        </a:xfrm>
      </p:grpSpPr>
      <p:sp>
        <p:nvSpPr>
          <p:cNvPr id="73730" name="Title 1"/>
          <p:cNvSpPr>
            <a:spLocks noGrp="1"/>
          </p:cNvSpPr>
          <p:nvPr>
            <p:ph type="title" idx="4294967295"/>
          </p:nvPr>
        </p:nvSpPr>
        <p:spPr/>
        <p:txBody>
          <a:bodyPr/>
          <a:lstStyle/>
          <a:p>
            <a:pPr eaLnBrk="1" hangingPunct="1"/>
            <a:r>
              <a:rPr lang="en-US" sz="4000" dirty="0" smtClean="0">
                <a:solidFill>
                  <a:schemeClr val="bg1"/>
                </a:solidFill>
              </a:rPr>
              <a:t>Derived demand for private schooling: Case 2 is Fees are not high</a:t>
            </a:r>
          </a:p>
        </p:txBody>
      </p:sp>
      <p:graphicFrame>
        <p:nvGraphicFramePr>
          <p:cNvPr id="11" name="Content Placeholder 10"/>
          <p:cNvGraphicFramePr>
            <a:graphicFrameLocks noGrp="1"/>
          </p:cNvGraphicFramePr>
          <p:nvPr>
            <p:ph idx="4294967295"/>
          </p:nvPr>
        </p:nvGraphicFramePr>
        <p:xfrm>
          <a:off x="457200" y="1600200"/>
          <a:ext cx="838200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4" name="Oval 3"/>
          <p:cNvSpPr/>
          <p:nvPr/>
        </p:nvSpPr>
        <p:spPr>
          <a:xfrm>
            <a:off x="4495800" y="4191000"/>
            <a:ext cx="381000" cy="381000"/>
          </a:xfrm>
          <a:prstGeom prst="ellipse">
            <a:avLst/>
          </a:prstGeom>
          <a:solidFill>
            <a:schemeClr val="accent1">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3733" name="TextBox 4"/>
          <p:cNvSpPr txBox="1">
            <a:spLocks noChangeArrowheads="1"/>
          </p:cNvSpPr>
          <p:nvPr/>
        </p:nvSpPr>
        <p:spPr bwMode="auto">
          <a:xfrm>
            <a:off x="152400" y="1752600"/>
            <a:ext cx="2286000" cy="2308324"/>
          </a:xfrm>
          <a:prstGeom prst="rect">
            <a:avLst/>
          </a:prstGeom>
          <a:noFill/>
          <a:ln w="9525">
            <a:noFill/>
            <a:miter lim="800000"/>
            <a:headEnd/>
            <a:tailEnd/>
          </a:ln>
        </p:spPr>
        <p:txBody>
          <a:bodyPr>
            <a:spAutoFit/>
          </a:bodyPr>
          <a:lstStyle/>
          <a:p>
            <a:r>
              <a:rPr lang="en-US" dirty="0">
                <a:latin typeface="Calibri" pitchFamily="34" charset="0"/>
              </a:rPr>
              <a:t>Moving from Pakistani equilibrium to Haitian equilibrium consistent with</a:t>
            </a:r>
          </a:p>
          <a:p>
            <a:pPr>
              <a:buFontTx/>
              <a:buAutoNum type="alphaLcParenR"/>
            </a:pPr>
            <a:r>
              <a:rPr lang="en-US" dirty="0">
                <a:latin typeface="Calibri" pitchFamily="34" charset="0"/>
              </a:rPr>
              <a:t>Better supply in Haiti</a:t>
            </a:r>
          </a:p>
          <a:p>
            <a:pPr>
              <a:buFontTx/>
              <a:buAutoNum type="alphaLcParenR"/>
            </a:pPr>
            <a:r>
              <a:rPr lang="en-US" dirty="0">
                <a:latin typeface="Calibri" pitchFamily="34" charset="0"/>
              </a:rPr>
              <a:t>Demand </a:t>
            </a:r>
            <a:r>
              <a:rPr lang="en-US" dirty="0" smtClean="0">
                <a:latin typeface="Calibri" pitchFamily="34" charset="0"/>
              </a:rPr>
              <a:t> probably higher</a:t>
            </a:r>
            <a:endParaRPr lang="en-US" dirty="0">
              <a:latin typeface="Calibri"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tx2">
                <a:lumMod val="20000"/>
                <a:lumOff val="80000"/>
              </a:schemeClr>
            </a:gs>
            <a:gs pos="89999">
              <a:schemeClr val="tx2">
                <a:lumMod val="75000"/>
              </a:schemeClr>
            </a:gs>
            <a:gs pos="100000">
              <a:srgbClr val="FF0000"/>
            </a:gs>
          </a:gsLst>
          <a:lin ang="13500000" scaled="1"/>
          <a:tileRect/>
        </a:gradFill>
        <a:effectLst/>
      </p:bgPr>
    </p:bg>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pPr eaLnBrk="1" hangingPunct="1"/>
            <a:r>
              <a:rPr lang="en-US" sz="4000" smtClean="0">
                <a:solidFill>
                  <a:schemeClr val="bg1"/>
                </a:solidFill>
              </a:rPr>
              <a:t>Pakistan and Haiti: Putting it together</a:t>
            </a:r>
          </a:p>
        </p:txBody>
      </p:sp>
      <p:sp>
        <p:nvSpPr>
          <p:cNvPr id="75779" name="Content Placeholder 5"/>
          <p:cNvSpPr>
            <a:spLocks noGrp="1"/>
          </p:cNvSpPr>
          <p:nvPr>
            <p:ph idx="1"/>
          </p:nvPr>
        </p:nvSpPr>
        <p:spPr/>
        <p:txBody>
          <a:bodyPr/>
          <a:lstStyle/>
          <a:p>
            <a:pPr eaLnBrk="1" hangingPunct="1"/>
            <a:r>
              <a:rPr lang="en-US" dirty="0" smtClean="0"/>
              <a:t>From Pakistan we know that</a:t>
            </a:r>
          </a:p>
          <a:p>
            <a:pPr lvl="1" eaLnBrk="1" hangingPunct="1"/>
            <a:r>
              <a:rPr lang="en-US" dirty="0" smtClean="0"/>
              <a:t>Educational outcomes at these levels more to do with time on educational instruction and ability to monitor, hire, fire and reward teachers rather than wages and qualifications</a:t>
            </a:r>
          </a:p>
          <a:p>
            <a:pPr lvl="1" eaLnBrk="1" hangingPunct="1"/>
            <a:r>
              <a:rPr lang="en-US" dirty="0" smtClean="0"/>
              <a:t>Fixed cost of setting up a school is very small, but finding teachers in rural areas is hard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tx2">
                <a:lumMod val="20000"/>
                <a:lumOff val="80000"/>
              </a:schemeClr>
            </a:gs>
            <a:gs pos="89999">
              <a:schemeClr val="tx2">
                <a:lumMod val="75000"/>
              </a:schemeClr>
            </a:gs>
            <a:gs pos="100000">
              <a:srgbClr val="FF0000"/>
            </a:gs>
          </a:gsLst>
          <a:lin ang="13500000" scaled="1"/>
          <a:tileRect/>
        </a:gradFill>
        <a:effectLst/>
      </p:bgPr>
    </p:bg>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pPr eaLnBrk="1" hangingPunct="1"/>
            <a:r>
              <a:rPr lang="en-US" sz="4000" smtClean="0">
                <a:solidFill>
                  <a:schemeClr val="bg1"/>
                </a:solidFill>
              </a:rPr>
              <a:t>Pakistan and Haiti: Putting it together</a:t>
            </a:r>
          </a:p>
        </p:txBody>
      </p:sp>
      <p:sp>
        <p:nvSpPr>
          <p:cNvPr id="77827" name="Content Placeholder 5"/>
          <p:cNvSpPr>
            <a:spLocks noGrp="1"/>
          </p:cNvSpPr>
          <p:nvPr>
            <p:ph idx="1"/>
          </p:nvPr>
        </p:nvSpPr>
        <p:spPr/>
        <p:txBody>
          <a:bodyPr/>
          <a:lstStyle/>
          <a:p>
            <a:pPr eaLnBrk="1" hangingPunct="1">
              <a:lnSpc>
                <a:spcPct val="80000"/>
              </a:lnSpc>
            </a:pPr>
            <a:r>
              <a:rPr lang="en-US" sz="2500" dirty="0" smtClean="0"/>
              <a:t>Three possibilities</a:t>
            </a:r>
          </a:p>
          <a:p>
            <a:pPr lvl="1" eaLnBrk="1" hangingPunct="1">
              <a:lnSpc>
                <a:spcPct val="80000"/>
              </a:lnSpc>
            </a:pPr>
            <a:r>
              <a:rPr lang="en-US" sz="2200" dirty="0" smtClean="0"/>
              <a:t>The data are wrong and private schools in Haiti are fairly “good”</a:t>
            </a:r>
          </a:p>
          <a:p>
            <a:pPr lvl="1" eaLnBrk="1" hangingPunct="1">
              <a:lnSpc>
                <a:spcPct val="80000"/>
              </a:lnSpc>
            </a:pPr>
            <a:r>
              <a:rPr lang="en-US" sz="2200" dirty="0" smtClean="0"/>
              <a:t>OR, the problem is spatially localized</a:t>
            </a:r>
          </a:p>
          <a:p>
            <a:pPr lvl="2" eaLnBrk="1" hangingPunct="1">
              <a:lnSpc>
                <a:spcPct val="80000"/>
              </a:lnSpc>
            </a:pPr>
            <a:r>
              <a:rPr lang="en-US" sz="1900" dirty="0" smtClean="0"/>
              <a:t>With severe constraints on labor market mobility (esp. rural to rural). Are their security/safety issues?</a:t>
            </a:r>
          </a:p>
          <a:p>
            <a:pPr lvl="2" eaLnBrk="1" hangingPunct="1">
              <a:lnSpc>
                <a:spcPct val="80000"/>
              </a:lnSpc>
            </a:pPr>
            <a:r>
              <a:rPr lang="en-US" sz="1900" dirty="0" smtClean="0"/>
              <a:t>&amp; Very low secondary school penetration: no teachers available locally</a:t>
            </a:r>
          </a:p>
          <a:p>
            <a:pPr lvl="1" eaLnBrk="1" hangingPunct="1">
              <a:lnSpc>
                <a:spcPct val="80000"/>
              </a:lnSpc>
            </a:pPr>
            <a:r>
              <a:rPr lang="en-US" sz="2200" dirty="0" smtClean="0"/>
              <a:t>AND/OR Government schools are rationed (not the case in Pakistan) so private schools also represent very low demand for certain types of children</a:t>
            </a:r>
          </a:p>
          <a:p>
            <a:pPr lvl="2" eaLnBrk="1" hangingPunct="1">
              <a:lnSpc>
                <a:spcPct val="80000"/>
              </a:lnSpc>
            </a:pPr>
            <a:r>
              <a:rPr lang="en-US" sz="1900" dirty="0" smtClean="0"/>
              <a:t>Plausible, but still hard to explain </a:t>
            </a:r>
            <a:r>
              <a:rPr lang="en-US" sz="1900" i="1" dirty="0" smtClean="0"/>
              <a:t>higher prices and lower quality</a:t>
            </a:r>
          </a:p>
          <a:p>
            <a:pPr lvl="1" eaLnBrk="1" hangingPunct="1">
              <a:lnSpc>
                <a:spcPct val="80000"/>
              </a:lnSpc>
            </a:pPr>
            <a:r>
              <a:rPr lang="en-US" sz="2200" dirty="0" smtClean="0"/>
              <a:t>There are enormous regulatory and bribery costs in setting up even “illegal” unregistered schools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82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782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782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782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782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8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tx2">
                <a:lumMod val="20000"/>
                <a:lumOff val="80000"/>
              </a:schemeClr>
            </a:gs>
            <a:gs pos="30000">
              <a:schemeClr val="tx2">
                <a:lumMod val="20000"/>
                <a:lumOff val="80000"/>
              </a:schemeClr>
            </a:gs>
            <a:gs pos="89999">
              <a:schemeClr val="tx2">
                <a:lumMod val="75000"/>
              </a:schemeClr>
            </a:gs>
            <a:gs pos="100000">
              <a:srgbClr val="FF0000"/>
            </a:gs>
          </a:gsLst>
          <a:lin ang="13500000" scaled="1"/>
          <a:tileRect/>
        </a:gradFill>
        <a:effectLst/>
      </p:bgPr>
    </p:bg>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pPr eaLnBrk="1" hangingPunct="1"/>
            <a:r>
              <a:rPr lang="en-US" smtClean="0">
                <a:solidFill>
                  <a:schemeClr val="bg1"/>
                </a:solidFill>
              </a:rPr>
              <a:t>If we believe all this</a:t>
            </a:r>
          </a:p>
        </p:txBody>
      </p:sp>
      <p:sp>
        <p:nvSpPr>
          <p:cNvPr id="6" name="Content Placeholder 5"/>
          <p:cNvSpPr>
            <a:spLocks noGrp="1"/>
          </p:cNvSpPr>
          <p:nvPr>
            <p:ph idx="1"/>
          </p:nvPr>
        </p:nvSpPr>
        <p:spPr/>
        <p:txBody>
          <a:bodyPr>
            <a:normAutofit/>
          </a:bodyPr>
          <a:lstStyle/>
          <a:p>
            <a:pPr eaLnBrk="1" hangingPunct="1">
              <a:lnSpc>
                <a:spcPct val="90000"/>
              </a:lnSpc>
              <a:buFont typeface="Arial" pitchFamily="34" charset="0"/>
              <a:buChar char="•"/>
              <a:defRPr/>
            </a:pPr>
            <a:r>
              <a:rPr lang="en-US" sz="2700" dirty="0" smtClean="0"/>
              <a:t>Problem in Haiti is a spatial distribution issue</a:t>
            </a:r>
          </a:p>
          <a:p>
            <a:pPr lvl="1" eaLnBrk="1" hangingPunct="1">
              <a:lnSpc>
                <a:spcPct val="90000"/>
              </a:lnSpc>
              <a:buFont typeface="Arial" pitchFamily="34" charset="0"/>
              <a:buChar char="–"/>
              <a:defRPr/>
            </a:pPr>
            <a:r>
              <a:rPr lang="en-US" sz="2400" dirty="0" smtClean="0"/>
              <a:t>Private schools are geographically highly concentrated (?)</a:t>
            </a:r>
          </a:p>
          <a:p>
            <a:pPr lvl="1" eaLnBrk="1" hangingPunct="1">
              <a:lnSpc>
                <a:spcPct val="90000"/>
              </a:lnSpc>
              <a:buFont typeface="Arial" pitchFamily="34" charset="0"/>
              <a:buChar char="–"/>
              <a:defRPr/>
            </a:pPr>
            <a:r>
              <a:rPr lang="en-US" sz="2400" dirty="0" smtClean="0"/>
              <a:t>Two types of rural areas</a:t>
            </a:r>
          </a:p>
          <a:p>
            <a:pPr lvl="2" eaLnBrk="1" hangingPunct="1">
              <a:lnSpc>
                <a:spcPct val="90000"/>
              </a:lnSpc>
              <a:buFont typeface="Arial" pitchFamily="34" charset="0"/>
              <a:buChar char="•"/>
              <a:defRPr/>
            </a:pPr>
            <a:r>
              <a:rPr lang="en-US" sz="2000" dirty="0" smtClean="0"/>
              <a:t>Areas with government and private schools</a:t>
            </a:r>
          </a:p>
          <a:p>
            <a:pPr lvl="2" eaLnBrk="1" hangingPunct="1">
              <a:lnSpc>
                <a:spcPct val="90000"/>
              </a:lnSpc>
              <a:buFont typeface="Arial" pitchFamily="34" charset="0"/>
              <a:buChar char="•"/>
              <a:defRPr/>
            </a:pPr>
            <a:r>
              <a:rPr lang="en-US" sz="2000" dirty="0" smtClean="0"/>
              <a:t>Areas without government schools</a:t>
            </a:r>
          </a:p>
          <a:p>
            <a:pPr lvl="3" eaLnBrk="1" hangingPunct="1">
              <a:lnSpc>
                <a:spcPct val="90000"/>
              </a:lnSpc>
              <a:buFont typeface="Arial" pitchFamily="34" charset="0"/>
              <a:buChar char="–"/>
              <a:defRPr/>
            </a:pPr>
            <a:r>
              <a:rPr lang="en-US" sz="1700" dirty="0" smtClean="0"/>
              <a:t>Here private schools are non-existent or very low quality (&amp; price)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tx2">
                <a:lumMod val="20000"/>
                <a:lumOff val="80000"/>
              </a:schemeClr>
            </a:gs>
            <a:gs pos="30000">
              <a:schemeClr val="tx2">
                <a:lumMod val="20000"/>
                <a:lumOff val="80000"/>
              </a:schemeClr>
            </a:gs>
            <a:gs pos="89999">
              <a:schemeClr val="tx2">
                <a:lumMod val="75000"/>
              </a:schemeClr>
            </a:gs>
            <a:gs pos="100000">
              <a:srgbClr val="FF0000"/>
            </a:gs>
          </a:gsLst>
          <a:lin ang="13500000" scaled="1"/>
          <a:tileRect/>
        </a:gradFill>
        <a:effectLst/>
      </p:bgPr>
    </p:bg>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pPr eaLnBrk="1" hangingPunct="1"/>
            <a:r>
              <a:rPr lang="en-US" sz="3600" dirty="0" smtClean="0"/>
              <a:t>Question is what institutions will work</a:t>
            </a:r>
            <a:endParaRPr lang="en-US" sz="3600" dirty="0" smtClean="0">
              <a:solidFill>
                <a:schemeClr val="bg1"/>
              </a:solidFill>
            </a:endParaRPr>
          </a:p>
        </p:txBody>
      </p:sp>
      <p:sp>
        <p:nvSpPr>
          <p:cNvPr id="4" name="Content Placeholder 2"/>
          <p:cNvSpPr>
            <a:spLocks noGrp="1"/>
          </p:cNvSpPr>
          <p:nvPr>
            <p:ph idx="1"/>
          </p:nvPr>
        </p:nvSpPr>
        <p:spPr>
          <a:xfrm>
            <a:off x="685800" y="1371600"/>
            <a:ext cx="8229600" cy="5334000"/>
          </a:xfrm>
        </p:spPr>
        <p:txBody>
          <a:bodyPr/>
          <a:lstStyle/>
          <a:p>
            <a:pPr lvl="1" eaLnBrk="1" hangingPunct="1">
              <a:lnSpc>
                <a:spcPct val="90000"/>
              </a:lnSpc>
              <a:defRPr/>
            </a:pPr>
            <a:r>
              <a:rPr lang="en-US" sz="2100" dirty="0" smtClean="0"/>
              <a:t>Always possible to setup very high cost, well functioning boutique schools. Some of this in Pakistan</a:t>
            </a:r>
          </a:p>
          <a:p>
            <a:pPr lvl="2" eaLnBrk="1" hangingPunct="1">
              <a:lnSpc>
                <a:spcPct val="90000"/>
              </a:lnSpc>
              <a:defRPr/>
            </a:pPr>
            <a:r>
              <a:rPr lang="en-US" sz="2100" dirty="0" smtClean="0"/>
              <a:t>Partially </a:t>
            </a:r>
            <a:r>
              <a:rPr lang="en-US" sz="2100" dirty="0" smtClean="0"/>
              <a:t>useful</a:t>
            </a:r>
          </a:p>
          <a:p>
            <a:pPr lvl="2" eaLnBrk="1" hangingPunct="1">
              <a:lnSpc>
                <a:spcPct val="90000"/>
              </a:lnSpc>
              <a:buNone/>
              <a:defRPr/>
            </a:pPr>
            <a:endParaRPr lang="en-US" sz="2100" dirty="0" smtClean="0"/>
          </a:p>
          <a:p>
            <a:pPr lvl="1" eaLnBrk="1" hangingPunct="1">
              <a:lnSpc>
                <a:spcPct val="90000"/>
              </a:lnSpc>
              <a:buFont typeface="Arial" pitchFamily="34" charset="0"/>
              <a:buChar char="–"/>
              <a:defRPr/>
            </a:pPr>
            <a:r>
              <a:rPr lang="en-US" sz="2100" dirty="0" smtClean="0"/>
              <a:t>If the problem is supply, fix supply by increasing availability of </a:t>
            </a:r>
            <a:r>
              <a:rPr lang="en-US" sz="2100" i="1" dirty="0" smtClean="0"/>
              <a:t>government</a:t>
            </a:r>
            <a:r>
              <a:rPr lang="en-US" sz="2100" dirty="0" smtClean="0"/>
              <a:t> secondary education</a:t>
            </a:r>
          </a:p>
          <a:p>
            <a:pPr lvl="2" eaLnBrk="1" hangingPunct="1">
              <a:lnSpc>
                <a:spcPct val="90000"/>
              </a:lnSpc>
              <a:buFont typeface="Arial" pitchFamily="34" charset="0"/>
              <a:buChar char="•"/>
              <a:defRPr/>
            </a:pPr>
            <a:r>
              <a:rPr lang="en-US" sz="2100" dirty="0" smtClean="0"/>
              <a:t>Longer term solution that can yield large benefits</a:t>
            </a:r>
          </a:p>
          <a:p>
            <a:pPr lvl="1" eaLnBrk="1" hangingPunct="1">
              <a:lnSpc>
                <a:spcPct val="90000"/>
              </a:lnSpc>
              <a:buFont typeface="Arial" pitchFamily="34" charset="0"/>
              <a:buChar char="–"/>
              <a:defRPr/>
            </a:pPr>
            <a:r>
              <a:rPr lang="en-US" sz="2100" dirty="0" smtClean="0"/>
              <a:t>In the short-run, tent schools set up in Pakistan spontaneously within a month of the quake</a:t>
            </a:r>
          </a:p>
          <a:p>
            <a:pPr lvl="1" eaLnBrk="1" hangingPunct="1">
              <a:lnSpc>
                <a:spcPct val="90000"/>
              </a:lnSpc>
              <a:buFont typeface="Arial" pitchFamily="34" charset="0"/>
              <a:buChar char="–"/>
              <a:defRPr/>
            </a:pPr>
            <a:endParaRPr lang="en-US" sz="2100" dirty="0" smtClean="0"/>
          </a:p>
          <a:p>
            <a:pPr lvl="1" eaLnBrk="1" hangingPunct="1">
              <a:lnSpc>
                <a:spcPct val="90000"/>
              </a:lnSpc>
              <a:buFont typeface="Arial" pitchFamily="34" charset="0"/>
              <a:buChar char="–"/>
              <a:defRPr/>
            </a:pPr>
            <a:r>
              <a:rPr lang="en-US" sz="2100" dirty="0" smtClean="0"/>
              <a:t>But pinning down the prices and spatial distribution is key to figuring out future policy</a:t>
            </a:r>
          </a:p>
          <a:p>
            <a:pPr lvl="1" eaLnBrk="1" hangingPunct="1">
              <a:lnSpc>
                <a:spcPct val="90000"/>
              </a:lnSpc>
              <a:buFont typeface="Arial" pitchFamily="34" charset="0"/>
              <a:buChar char="–"/>
              <a:defRPr/>
            </a:pPr>
            <a:r>
              <a:rPr lang="en-US" sz="2100" dirty="0" smtClean="0"/>
              <a:t>Right now, there are 2 totally different potential views of what is going on.</a:t>
            </a:r>
          </a:p>
          <a:p>
            <a:pPr lvl="1" eaLnBrk="1" hangingPunct="1">
              <a:lnSpc>
                <a:spcPct val="90000"/>
              </a:lnSpc>
              <a:buFont typeface="Arial" pitchFamily="34" charset="0"/>
              <a:buChar char="–"/>
              <a:defRPr/>
            </a:pPr>
            <a:r>
              <a:rPr lang="en-US" sz="2100" dirty="0" smtClean="0"/>
              <a:t>At least with regard to schooling, </a:t>
            </a:r>
            <a:r>
              <a:rPr lang="en-US" sz="2100" i="1" dirty="0" smtClean="0"/>
              <a:t>that</a:t>
            </a:r>
            <a:r>
              <a:rPr lang="en-US" sz="2100" dirty="0" smtClean="0"/>
              <a:t> is the real Haitian Paradox</a:t>
            </a:r>
          </a:p>
          <a:p>
            <a:endParaRPr lang="en-US" sz="2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a:xfrm>
            <a:off x="457200" y="2590800"/>
            <a:ext cx="8229600" cy="1143000"/>
          </a:xfrm>
        </p:spPr>
        <p:txBody>
          <a:bodyPr/>
          <a:lstStyle/>
          <a:p>
            <a:pPr eaLnBrk="1" hangingPunct="1"/>
            <a:r>
              <a:rPr lang="en-US" dirty="0" smtClean="0"/>
              <a:t>Supplementary Slides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r>
              <a:rPr lang="en-US" dirty="0" smtClean="0"/>
              <a:t>Private </a:t>
            </a:r>
            <a:r>
              <a:rPr lang="en-US" dirty="0" smtClean="0"/>
              <a:t>School Growth</a:t>
            </a:r>
            <a:endParaRPr lang="en-US" dirty="0" smtClean="0"/>
          </a:p>
        </p:txBody>
      </p:sp>
      <p:pic>
        <p:nvPicPr>
          <p:cNvPr id="54274" name="Picture 2"/>
          <p:cNvPicPr>
            <a:picLocks noChangeAspect="1" noChangeArrowheads="1"/>
          </p:cNvPicPr>
          <p:nvPr/>
        </p:nvPicPr>
        <p:blipFill>
          <a:blip r:embed="rId2"/>
          <a:srcRect/>
          <a:stretch>
            <a:fillRect/>
          </a:stretch>
        </p:blipFill>
        <p:spPr bwMode="auto">
          <a:xfrm>
            <a:off x="381000" y="1447800"/>
            <a:ext cx="3962400" cy="2900363"/>
          </a:xfrm>
          <a:prstGeom prst="rect">
            <a:avLst/>
          </a:prstGeom>
          <a:noFill/>
          <a:ln w="9525">
            <a:noFill/>
            <a:miter lim="800000"/>
            <a:headEnd/>
            <a:tailEnd/>
          </a:ln>
        </p:spPr>
      </p:pic>
      <p:pic>
        <p:nvPicPr>
          <p:cNvPr id="54275" name="Picture 3"/>
          <p:cNvPicPr>
            <a:picLocks noChangeAspect="1" noChangeArrowheads="1"/>
          </p:cNvPicPr>
          <p:nvPr/>
        </p:nvPicPr>
        <p:blipFill>
          <a:blip r:embed="rId3"/>
          <a:srcRect/>
          <a:stretch>
            <a:fillRect/>
          </a:stretch>
        </p:blipFill>
        <p:spPr bwMode="auto">
          <a:xfrm>
            <a:off x="4800600" y="1447800"/>
            <a:ext cx="3810000" cy="2890838"/>
          </a:xfrm>
          <a:prstGeom prst="rect">
            <a:avLst/>
          </a:prstGeom>
          <a:noFill/>
          <a:ln w="9525">
            <a:noFill/>
            <a:miter lim="800000"/>
            <a:headEnd/>
            <a:tailEnd/>
          </a:ln>
        </p:spPr>
      </p:pic>
      <p:sp>
        <p:nvSpPr>
          <p:cNvPr id="54276" name="TextBox 5"/>
          <p:cNvSpPr txBox="1">
            <a:spLocks noChangeArrowheads="1"/>
          </p:cNvSpPr>
          <p:nvPr/>
        </p:nvSpPr>
        <p:spPr bwMode="auto">
          <a:xfrm>
            <a:off x="533400" y="4495800"/>
            <a:ext cx="3733800" cy="646113"/>
          </a:xfrm>
          <a:prstGeom prst="rect">
            <a:avLst/>
          </a:prstGeom>
          <a:noFill/>
          <a:ln w="9525">
            <a:noFill/>
            <a:miter lim="800000"/>
            <a:headEnd/>
            <a:tailEnd/>
          </a:ln>
        </p:spPr>
        <p:txBody>
          <a:bodyPr>
            <a:spAutoFit/>
          </a:bodyPr>
          <a:lstStyle/>
          <a:p>
            <a:r>
              <a:rPr lang="en-US" dirty="0">
                <a:latin typeface="Calibri" pitchFamily="34" charset="0"/>
              </a:rPr>
              <a:t>Pakistan: Private School Enrollment Incidence in the 1990s</a:t>
            </a:r>
          </a:p>
        </p:txBody>
      </p:sp>
      <p:sp>
        <p:nvSpPr>
          <p:cNvPr id="54277" name="TextBox 6"/>
          <p:cNvSpPr txBox="1">
            <a:spLocks noChangeArrowheads="1"/>
          </p:cNvSpPr>
          <p:nvPr/>
        </p:nvSpPr>
        <p:spPr bwMode="auto">
          <a:xfrm>
            <a:off x="4800600" y="4459287"/>
            <a:ext cx="3733800" cy="646113"/>
          </a:xfrm>
          <a:prstGeom prst="rect">
            <a:avLst/>
          </a:prstGeom>
          <a:noFill/>
          <a:ln w="9525">
            <a:noFill/>
            <a:miter lim="800000"/>
            <a:headEnd/>
            <a:tailEnd/>
          </a:ln>
        </p:spPr>
        <p:txBody>
          <a:bodyPr>
            <a:spAutoFit/>
          </a:bodyPr>
          <a:lstStyle/>
          <a:p>
            <a:r>
              <a:rPr lang="en-US" dirty="0">
                <a:latin typeface="Calibri" pitchFamily="34" charset="0"/>
              </a:rPr>
              <a:t>India: Private School Enrollment Incidence in the 1990s</a:t>
            </a:r>
          </a:p>
        </p:txBody>
      </p:sp>
      <p:sp>
        <p:nvSpPr>
          <p:cNvPr id="54278" name="TextBox 7"/>
          <p:cNvSpPr txBox="1">
            <a:spLocks noChangeArrowheads="1"/>
          </p:cNvSpPr>
          <p:nvPr/>
        </p:nvSpPr>
        <p:spPr bwMode="auto">
          <a:xfrm>
            <a:off x="0" y="5638800"/>
            <a:ext cx="8991600" cy="1200329"/>
          </a:xfrm>
          <a:prstGeom prst="rect">
            <a:avLst/>
          </a:prstGeom>
          <a:noFill/>
          <a:ln w="9525">
            <a:noFill/>
            <a:miter lim="800000"/>
            <a:headEnd/>
            <a:tailEnd/>
          </a:ln>
        </p:spPr>
        <p:txBody>
          <a:bodyPr wrap="square">
            <a:spAutoFit/>
          </a:bodyPr>
          <a:lstStyle/>
          <a:p>
            <a:r>
              <a:rPr lang="en-US" dirty="0">
                <a:latin typeface="Calibri" pitchFamily="34" charset="0"/>
              </a:rPr>
              <a:t>Private Schools dramatically increased their share of the educational market even as governments poured money into the public sector. Most of the growth was in </a:t>
            </a:r>
            <a:r>
              <a:rPr lang="en-US" i="1" dirty="0">
                <a:latin typeface="Calibri" pitchFamily="34" charset="0"/>
              </a:rPr>
              <a:t>rural</a:t>
            </a:r>
            <a:r>
              <a:rPr lang="en-US" dirty="0">
                <a:latin typeface="Calibri" pitchFamily="34" charset="0"/>
              </a:rPr>
              <a:t> </a:t>
            </a:r>
            <a:r>
              <a:rPr lang="en-US" dirty="0" smtClean="0">
                <a:latin typeface="Calibri" pitchFamily="34" charset="0"/>
              </a:rPr>
              <a:t>areas</a:t>
            </a:r>
          </a:p>
          <a:p>
            <a:endParaRPr lang="en-US" dirty="0" smtClean="0">
              <a:latin typeface="Calibri" pitchFamily="34" charset="0"/>
            </a:endParaRPr>
          </a:p>
          <a:p>
            <a:r>
              <a:rPr lang="en-US" dirty="0" smtClean="0">
                <a:latin typeface="Calibri" pitchFamily="34" charset="0"/>
                <a:hlinkClick r:id="rId4" action="ppaction://hlinksldjump"/>
              </a:rPr>
              <a:t>Click here to return to main presentation </a:t>
            </a:r>
            <a:endParaRPr lang="en-US" dirty="0">
              <a:latin typeface="Calibri" pitchFamily="34" charset="0"/>
            </a:endParaRPr>
          </a:p>
        </p:txBody>
      </p:sp>
      <p:sp>
        <p:nvSpPr>
          <p:cNvPr id="8" name="TextBox 7"/>
          <p:cNvSpPr txBox="1"/>
          <p:nvPr/>
        </p:nvSpPr>
        <p:spPr>
          <a:xfrm>
            <a:off x="0" y="5181600"/>
            <a:ext cx="8839200" cy="276999"/>
          </a:xfrm>
          <a:prstGeom prst="rect">
            <a:avLst/>
          </a:prstGeom>
          <a:noFill/>
        </p:spPr>
        <p:txBody>
          <a:bodyPr wrap="square" rtlCol="0">
            <a:spAutoFit/>
          </a:bodyPr>
          <a:lstStyle/>
          <a:p>
            <a:r>
              <a:rPr lang="en-US" sz="1200" dirty="0" smtClean="0"/>
              <a:t>The figures show the growth rate of private school enrollment shares for every PCE </a:t>
            </a:r>
            <a:r>
              <a:rPr lang="en-US" sz="1200" dirty="0" err="1" smtClean="0"/>
              <a:t>decile</a:t>
            </a:r>
            <a:r>
              <a:rPr lang="en-US" sz="1200" dirty="0" smtClean="0"/>
              <a:t> and grouped by urban and rural areas</a:t>
            </a:r>
            <a:endParaRPr lang="en-US" sz="12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a:xfrm>
            <a:off x="0" y="274638"/>
            <a:ext cx="9144000" cy="487362"/>
          </a:xfrm>
        </p:spPr>
        <p:txBody>
          <a:bodyPr/>
          <a:lstStyle/>
          <a:p>
            <a:pPr eaLnBrk="1" hangingPunct="1"/>
            <a:r>
              <a:rPr lang="en-US" sz="3200" dirty="0" smtClean="0"/>
              <a:t>Private </a:t>
            </a:r>
            <a:r>
              <a:rPr lang="en-US" sz="3200" dirty="0" smtClean="0"/>
              <a:t>School </a:t>
            </a:r>
            <a:r>
              <a:rPr lang="en-US" sz="3200" dirty="0" smtClean="0"/>
              <a:t>Costs</a:t>
            </a:r>
          </a:p>
        </p:txBody>
      </p:sp>
      <p:pic>
        <p:nvPicPr>
          <p:cNvPr id="55298" name="Picture 2"/>
          <p:cNvPicPr>
            <a:picLocks noChangeAspect="1" noChangeArrowheads="1"/>
          </p:cNvPicPr>
          <p:nvPr/>
        </p:nvPicPr>
        <p:blipFill>
          <a:blip r:embed="rId2"/>
          <a:srcRect/>
          <a:stretch>
            <a:fillRect/>
          </a:stretch>
        </p:blipFill>
        <p:spPr bwMode="auto">
          <a:xfrm>
            <a:off x="1219200" y="838200"/>
            <a:ext cx="6781800" cy="5418138"/>
          </a:xfrm>
          <a:prstGeom prst="rect">
            <a:avLst/>
          </a:prstGeom>
          <a:noFill/>
          <a:ln w="9525">
            <a:noFill/>
            <a:miter lim="800000"/>
            <a:headEnd/>
            <a:tailEnd/>
          </a:ln>
        </p:spPr>
      </p:pic>
      <p:sp>
        <p:nvSpPr>
          <p:cNvPr id="55299" name="TextBox 5"/>
          <p:cNvSpPr txBox="1">
            <a:spLocks noChangeArrowheads="1"/>
          </p:cNvSpPr>
          <p:nvPr/>
        </p:nvSpPr>
        <p:spPr bwMode="auto">
          <a:xfrm>
            <a:off x="762000" y="6096000"/>
            <a:ext cx="8229600" cy="366713"/>
          </a:xfrm>
          <a:prstGeom prst="rect">
            <a:avLst/>
          </a:prstGeom>
          <a:noFill/>
          <a:ln w="9525">
            <a:noFill/>
            <a:miter lim="800000"/>
            <a:headEnd/>
            <a:tailEnd/>
          </a:ln>
        </p:spPr>
        <p:txBody>
          <a:bodyPr>
            <a:spAutoFit/>
          </a:bodyPr>
          <a:lstStyle/>
          <a:p>
            <a:r>
              <a:rPr lang="en-US">
                <a:latin typeface="Calibri" pitchFamily="34" charset="0"/>
              </a:rPr>
              <a:t>Private schools are (very) cheap: currently, they still cost less than a dime a day</a:t>
            </a:r>
          </a:p>
        </p:txBody>
      </p:sp>
      <p:sp>
        <p:nvSpPr>
          <p:cNvPr id="55300" name="TextBox 4"/>
          <p:cNvSpPr txBox="1">
            <a:spLocks noChangeArrowheads="1"/>
          </p:cNvSpPr>
          <p:nvPr/>
        </p:nvSpPr>
        <p:spPr bwMode="auto">
          <a:xfrm>
            <a:off x="762000" y="6400800"/>
            <a:ext cx="1600200" cy="307975"/>
          </a:xfrm>
          <a:prstGeom prst="rect">
            <a:avLst/>
          </a:prstGeom>
          <a:noFill/>
          <a:ln w="9525">
            <a:noFill/>
            <a:miter lim="800000"/>
            <a:headEnd/>
            <a:tailEnd/>
          </a:ln>
        </p:spPr>
        <p:txBody>
          <a:bodyPr>
            <a:spAutoFit/>
          </a:bodyPr>
          <a:lstStyle/>
          <a:p>
            <a:r>
              <a:rPr lang="en-US" sz="1400">
                <a:latin typeface="Calibri" pitchFamily="34" charset="0"/>
              </a:rPr>
              <a:t>Note: $1=60 PKR</a:t>
            </a:r>
          </a:p>
        </p:txBody>
      </p:sp>
      <p:sp>
        <p:nvSpPr>
          <p:cNvPr id="6" name="Rectangle 5"/>
          <p:cNvSpPr/>
          <p:nvPr/>
        </p:nvSpPr>
        <p:spPr>
          <a:xfrm>
            <a:off x="5077822" y="6488668"/>
            <a:ext cx="4066178" cy="369332"/>
          </a:xfrm>
          <a:prstGeom prst="rect">
            <a:avLst/>
          </a:prstGeom>
        </p:spPr>
        <p:txBody>
          <a:bodyPr wrap="none">
            <a:spAutoFit/>
          </a:bodyPr>
          <a:lstStyle/>
          <a:p>
            <a:r>
              <a:rPr lang="en-US" dirty="0" smtClean="0">
                <a:latin typeface="Calibri" pitchFamily="34" charset="0"/>
                <a:hlinkClick r:id="rId3" action="ppaction://hlinksldjump"/>
              </a:rPr>
              <a:t>Click here to return to main presentation </a:t>
            </a:r>
            <a:endParaRPr lang="en-US" dirty="0">
              <a:latin typeface="Calibri"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a:xfrm>
            <a:off x="0" y="152400"/>
            <a:ext cx="9144000" cy="792163"/>
          </a:xfrm>
        </p:spPr>
        <p:txBody>
          <a:bodyPr/>
          <a:lstStyle/>
          <a:p>
            <a:pPr eaLnBrk="1" hangingPunct="1"/>
            <a:r>
              <a:rPr lang="en-US" sz="2800" smtClean="0"/>
              <a:t>Centrally related to the availability of teachers</a:t>
            </a:r>
          </a:p>
        </p:txBody>
      </p:sp>
      <p:sp>
        <p:nvSpPr>
          <p:cNvPr id="4" name="Content Placeholder 3"/>
          <p:cNvSpPr>
            <a:spLocks noGrp="1"/>
          </p:cNvSpPr>
          <p:nvPr>
            <p:ph idx="1"/>
          </p:nvPr>
        </p:nvSpPr>
        <p:spPr>
          <a:xfrm>
            <a:off x="457200" y="5410200"/>
            <a:ext cx="8229600" cy="1173163"/>
          </a:xfrm>
        </p:spPr>
        <p:txBody>
          <a:bodyPr rtlCol="0">
            <a:normAutofit fontScale="77500" lnSpcReduction="20000"/>
          </a:bodyPr>
          <a:lstStyle/>
          <a:p>
            <a:pPr eaLnBrk="1" fontAlgn="auto" hangingPunct="1">
              <a:spcAft>
                <a:spcPts val="0"/>
              </a:spcAft>
              <a:buFont typeface="Arial" pitchFamily="34" charset="0"/>
              <a:buChar char="•"/>
              <a:defRPr/>
            </a:pPr>
            <a:r>
              <a:rPr lang="en-US" dirty="0" smtClean="0"/>
              <a:t>Private schools are causally 300 percent more likely to locate in villages with a government secondary school—the students of today are the teachers of tomorrow</a:t>
            </a:r>
            <a:endParaRPr lang="en-US" dirty="0"/>
          </a:p>
        </p:txBody>
      </p:sp>
      <p:pic>
        <p:nvPicPr>
          <p:cNvPr id="64515" name="Picture 4"/>
          <p:cNvPicPr>
            <a:picLocks noChangeAspect="1" noChangeArrowheads="1"/>
          </p:cNvPicPr>
          <p:nvPr/>
        </p:nvPicPr>
        <p:blipFill>
          <a:blip r:embed="rId3"/>
          <a:srcRect/>
          <a:stretch>
            <a:fillRect/>
          </a:stretch>
        </p:blipFill>
        <p:spPr bwMode="auto">
          <a:xfrm>
            <a:off x="1828800" y="914400"/>
            <a:ext cx="5416550" cy="3829050"/>
          </a:xfrm>
          <a:prstGeom prst="rect">
            <a:avLst/>
          </a:prstGeom>
          <a:noFill/>
          <a:ln w="9525">
            <a:noFill/>
            <a:miter lim="800000"/>
            <a:headEnd/>
            <a:tailEnd/>
          </a:ln>
        </p:spPr>
      </p:pic>
      <p:sp>
        <p:nvSpPr>
          <p:cNvPr id="5" name="Rectangle 4"/>
          <p:cNvSpPr/>
          <p:nvPr/>
        </p:nvSpPr>
        <p:spPr>
          <a:xfrm>
            <a:off x="0" y="6488668"/>
            <a:ext cx="4066178" cy="369332"/>
          </a:xfrm>
          <a:prstGeom prst="rect">
            <a:avLst/>
          </a:prstGeom>
        </p:spPr>
        <p:txBody>
          <a:bodyPr wrap="none">
            <a:spAutoFit/>
          </a:bodyPr>
          <a:lstStyle/>
          <a:p>
            <a:r>
              <a:rPr lang="en-US" dirty="0" smtClean="0">
                <a:latin typeface="Calibri" pitchFamily="34" charset="0"/>
                <a:hlinkClick r:id="rId4" action="ppaction://hlinksldjump"/>
              </a:rPr>
              <a:t>Click here to return to main presentation </a:t>
            </a:r>
            <a:endParaRPr lang="en-US" dirty="0">
              <a:latin typeface="Calibri"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822</TotalTime>
  <Words>2053</Words>
  <Application>Microsoft Office PowerPoint</Application>
  <PresentationFormat>On-screen Show (4:3)</PresentationFormat>
  <Paragraphs>379</Paragraphs>
  <Slides>33</Slides>
  <Notes>8</Notes>
  <HiddenSlides>0</HiddenSlides>
  <MMClips>0</MMClips>
  <ScaleCrop>false</ScaleCrop>
  <HeadingPairs>
    <vt:vector size="4" baseType="variant">
      <vt:variant>
        <vt:lpstr>Theme</vt:lpstr>
      </vt:variant>
      <vt:variant>
        <vt:i4>5</vt:i4>
      </vt:variant>
      <vt:variant>
        <vt:lpstr>Slide Titles</vt:lpstr>
      </vt:variant>
      <vt:variant>
        <vt:i4>33</vt:i4>
      </vt:variant>
    </vt:vector>
  </HeadingPairs>
  <TitlesOfParts>
    <vt:vector size="38" baseType="lpstr">
      <vt:lpstr>Office Theme</vt:lpstr>
      <vt:lpstr>1_Office Theme</vt:lpstr>
      <vt:lpstr>3_Office Theme</vt:lpstr>
      <vt:lpstr>Custom Design</vt:lpstr>
      <vt:lpstr>2_Office Theme</vt:lpstr>
      <vt:lpstr>Private Schools, Earthquakes: What we know from Pakistan (with insights for Haiti)</vt:lpstr>
      <vt:lpstr>What could Pakistan and Haiti have in common?</vt:lpstr>
      <vt:lpstr>Outline</vt:lpstr>
      <vt:lpstr>Pakistani private schools</vt:lpstr>
      <vt:lpstr>What we know from existing work</vt:lpstr>
      <vt:lpstr>Private School Growth</vt:lpstr>
      <vt:lpstr>Private School Costs</vt:lpstr>
      <vt:lpstr>Why are private schools so cheap?</vt:lpstr>
      <vt:lpstr>But inputs are NOT outputs!</vt:lpstr>
      <vt:lpstr>Causality?</vt:lpstr>
      <vt:lpstr>Schooling and the Pakistani Earthquake of 2005: New work</vt:lpstr>
      <vt:lpstr>School Destruction in the Earthquake</vt:lpstr>
      <vt:lpstr>Recovery from the Pakistani Earthquake</vt:lpstr>
      <vt:lpstr>Perhaps because of this</vt:lpstr>
      <vt:lpstr>So why not only private schools?</vt:lpstr>
      <vt:lpstr>Key problems are on the supply-side</vt:lpstr>
      <vt:lpstr>Supply-side issues: A typical village in Punjab, Pakistan</vt:lpstr>
      <vt:lpstr>Centrally related to the availability of teachers</vt:lpstr>
      <vt:lpstr>Back to Haiti</vt:lpstr>
      <vt:lpstr>Educational outcomes again: Is enrollment worse than other similar-income countries?</vt:lpstr>
      <vt:lpstr>Costs of schooling: comparing Haiti and Pakistan, all  numbers are converted to 2005 PPP adjusted dollars  using UN Stats on PPP</vt:lpstr>
      <vt:lpstr>Slide 22</vt:lpstr>
      <vt:lpstr>Haiti and Pakistan: Making sense of it all (if the numbers are correct!)</vt:lpstr>
      <vt:lpstr>The derived demand for private schooling: Case 1 is fees are high</vt:lpstr>
      <vt:lpstr>Derived demand for private schooling: Case 2 is Fees are not high</vt:lpstr>
      <vt:lpstr>Pakistan and Haiti: Putting it together</vt:lpstr>
      <vt:lpstr>Pakistan and Haiti: Putting it together</vt:lpstr>
      <vt:lpstr>If we believe all this</vt:lpstr>
      <vt:lpstr>Question is what institutions will work</vt:lpstr>
      <vt:lpstr>Supplementary Slides</vt:lpstr>
      <vt:lpstr>Private School Growth</vt:lpstr>
      <vt:lpstr>Private School Costs</vt:lpstr>
      <vt:lpstr>Centrally related to the availability of teachers</vt:lpstr>
    </vt:vector>
  </TitlesOfParts>
  <Company>The World Bank Group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ehaider</dc:creator>
  <cp:lastModifiedBy>NBau</cp:lastModifiedBy>
  <cp:revision>63</cp:revision>
  <dcterms:created xsi:type="dcterms:W3CDTF">2010-02-28T19:46:28Z</dcterms:created>
  <dcterms:modified xsi:type="dcterms:W3CDTF">2010-03-02T22:41:06Z</dcterms:modified>
</cp:coreProperties>
</file>