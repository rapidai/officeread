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3" r:id="rId3"/>
    <p:sldId id="257" r:id="rId4"/>
    <p:sldId id="259" r:id="rId5"/>
    <p:sldId id="260" r:id="rId6"/>
    <p:sldId id="261" r:id="rId7"/>
    <p:sldId id="262" r:id="rId8"/>
    <p:sldId id="264" r:id="rId9"/>
    <p:sldId id="265" r:id="rId10"/>
    <p:sldId id="266" r:id="rId11"/>
    <p:sldId id="258" r:id="rId12"/>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CECFF"/>
    <a:srgbClr val="FFFF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331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1A6CE32-3820-4026-A0F4-A44E2018CA39}" type="slidenum">
              <a:rPr lang="en-GB"/>
              <a:pPr>
                <a:defRPr/>
              </a:pPr>
              <a:t>‹#›</a:t>
            </a:fld>
            <a:endParaRPr 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p>
            <a:fld id="{A08DD798-A785-494A-A945-FFA2DC2BDE1C}" type="slidenum">
              <a:rPr lang="en-GB" smtClean="0"/>
              <a:pPr/>
              <a:t>1</a:t>
            </a:fld>
            <a:endParaRPr lang="en-GB" smtClean="0"/>
          </a:p>
        </p:txBody>
      </p:sp>
      <p:sp>
        <p:nvSpPr>
          <p:cNvPr id="14339" name="Rectangle 2"/>
          <p:cNvSpPr>
            <a:spLocks noRot="1" noChangeArrowheads="1" noTextEdit="1"/>
          </p:cNvSpPr>
          <p:nvPr>
            <p:ph type="sldImg"/>
          </p:nvPr>
        </p:nvSpPr>
        <p:spPr>
          <a:ln/>
        </p:spPr>
      </p:sp>
      <p:sp>
        <p:nvSpPr>
          <p:cNvPr id="143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F6D1C67E-8215-4EDA-B740-B314C1C59302}" type="slidenum">
              <a:rPr lang="en-GB" smtClean="0"/>
              <a:pPr/>
              <a:t>2</a:t>
            </a:fld>
            <a:endParaRPr lang="en-GB" smtClean="0"/>
          </a:p>
        </p:txBody>
      </p:sp>
      <p:sp>
        <p:nvSpPr>
          <p:cNvPr id="15363" name="Rectangle 2"/>
          <p:cNvSpPr>
            <a:spLocks noRo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F5D38DAC-5AC7-4BE7-B925-D2C32D14A990}" type="slidenum">
              <a:rPr lang="en-GB" smtClean="0"/>
              <a:pPr/>
              <a:t>3</a:t>
            </a:fld>
            <a:endParaRPr lang="en-GB" smtClean="0"/>
          </a:p>
        </p:txBody>
      </p:sp>
      <p:sp>
        <p:nvSpPr>
          <p:cNvPr id="16387" name="Rectangle 2"/>
          <p:cNvSpPr>
            <a:spLocks noRo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58076D98-46B2-423F-A98D-E61FB9333A5C}" type="slidenum">
              <a:rPr lang="en-GB" smtClean="0"/>
              <a:pPr/>
              <a:t>4</a:t>
            </a:fld>
            <a:endParaRPr lang="en-GB" smtClean="0"/>
          </a:p>
        </p:txBody>
      </p:sp>
      <p:sp>
        <p:nvSpPr>
          <p:cNvPr id="17411" name="Rectangle 2"/>
          <p:cNvSpPr>
            <a:spLocks noRo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69035E91-3F7C-40E6-8DA2-EDBE3CA105AE}" type="slidenum">
              <a:rPr lang="en-GB" smtClean="0"/>
              <a:pPr/>
              <a:t>5</a:t>
            </a:fld>
            <a:endParaRPr lang="en-GB" smtClean="0"/>
          </a:p>
        </p:txBody>
      </p:sp>
      <p:sp>
        <p:nvSpPr>
          <p:cNvPr id="18435" name="Rectangle 2"/>
          <p:cNvSpPr>
            <a:spLocks noRo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F50606B7-0EAC-41EE-9983-2806BF59C0EA}" type="slidenum">
              <a:rPr lang="en-GB" smtClean="0"/>
              <a:pPr/>
              <a:t>6</a:t>
            </a:fld>
            <a:endParaRPr lang="en-GB" smtClean="0"/>
          </a:p>
        </p:txBody>
      </p:sp>
      <p:sp>
        <p:nvSpPr>
          <p:cNvPr id="19459" name="Rectangle 2"/>
          <p:cNvSpPr>
            <a:spLocks noRo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26D31A12-28B9-492D-BDA2-A1B20661A372}" type="slidenum">
              <a:rPr lang="en-GB" smtClean="0"/>
              <a:pPr/>
              <a:t>7</a:t>
            </a:fld>
            <a:endParaRPr lang="en-GB" smtClean="0"/>
          </a:p>
        </p:txBody>
      </p:sp>
      <p:sp>
        <p:nvSpPr>
          <p:cNvPr id="20483" name="Rectangle 2"/>
          <p:cNvSpPr>
            <a:spLocks noRo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A9EB8109-FE33-4DCD-9A3C-F7322A1EE834}" type="slidenum">
              <a:rPr lang="en-GB" smtClean="0"/>
              <a:pPr/>
              <a:t>8</a:t>
            </a:fld>
            <a:endParaRPr lang="en-GB" smtClean="0"/>
          </a:p>
        </p:txBody>
      </p:sp>
      <p:sp>
        <p:nvSpPr>
          <p:cNvPr id="21507" name="Rectangle 2"/>
          <p:cNvSpPr>
            <a:spLocks noRo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42E7E7EB-038C-4809-B382-A572029FEA3A}" type="slidenum">
              <a:rPr lang="en-GB" smtClean="0"/>
              <a:pPr/>
              <a:t>9</a:t>
            </a:fld>
            <a:endParaRPr lang="en-GB" smtClean="0"/>
          </a:p>
        </p:txBody>
      </p:sp>
      <p:sp>
        <p:nvSpPr>
          <p:cNvPr id="22531" name="Rectangle 2"/>
          <p:cNvSpPr>
            <a:spLocks noRo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26F457FE-89D6-4EE8-9E27-2B44AE9A18CA}" type="slidenum">
              <a:rPr lang="en-GB" smtClean="0"/>
              <a:pPr/>
              <a:t>10</a:t>
            </a:fld>
            <a:endParaRPr lang="en-GB" smtClean="0"/>
          </a:p>
        </p:txBody>
      </p:sp>
      <p:sp>
        <p:nvSpPr>
          <p:cNvPr id="23555" name="Rectangle 2"/>
          <p:cNvSpPr>
            <a:spLocks noRo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EBD6F1D2-EE22-429D-87F2-FA71E5E57242}" type="slidenum">
              <a:rPr lang="en-GB" smtClean="0"/>
              <a:pPr/>
              <a:t>11</a:t>
            </a:fld>
            <a:endParaRPr lang="en-GB" smtClean="0"/>
          </a:p>
        </p:txBody>
      </p:sp>
      <p:sp>
        <p:nvSpPr>
          <p:cNvPr id="24579" name="Rectangle 2"/>
          <p:cNvSpPr>
            <a:spLocks noRo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6" name="Rectangle 6"/>
          <p:cNvSpPr>
            <a:spLocks noGrp="1" noChangeArrowheads="1"/>
          </p:cNvSpPr>
          <p:nvPr>
            <p:ph type="sldNum" sz="quarter" idx="12"/>
          </p:nvPr>
        </p:nvSpPr>
        <p:spPr>
          <a:ln/>
        </p:spPr>
        <p:txBody>
          <a:bodyPr/>
          <a:lstStyle>
            <a:lvl1pPr>
              <a:defRPr/>
            </a:lvl1pPr>
          </a:lstStyle>
          <a:p>
            <a:pPr>
              <a:defRPr/>
            </a:pPr>
            <a:fld id="{F8037B26-BFDA-4DB2-B303-CD002242A3C6}"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6" name="Rectangle 6"/>
          <p:cNvSpPr>
            <a:spLocks noGrp="1" noChangeArrowheads="1"/>
          </p:cNvSpPr>
          <p:nvPr>
            <p:ph type="sldNum" sz="quarter" idx="12"/>
          </p:nvPr>
        </p:nvSpPr>
        <p:spPr>
          <a:ln/>
        </p:spPr>
        <p:txBody>
          <a:bodyPr/>
          <a:lstStyle>
            <a:lvl1pPr>
              <a:defRPr/>
            </a:lvl1pPr>
          </a:lstStyle>
          <a:p>
            <a:pPr>
              <a:defRPr/>
            </a:pPr>
            <a:fld id="{10484112-F6A5-4AEB-81A7-7E0731BCDC87}"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6" name="Rectangle 6"/>
          <p:cNvSpPr>
            <a:spLocks noGrp="1" noChangeArrowheads="1"/>
          </p:cNvSpPr>
          <p:nvPr>
            <p:ph type="sldNum" sz="quarter" idx="12"/>
          </p:nvPr>
        </p:nvSpPr>
        <p:spPr>
          <a:ln/>
        </p:spPr>
        <p:txBody>
          <a:bodyPr/>
          <a:lstStyle>
            <a:lvl1pPr>
              <a:defRPr/>
            </a:lvl1pPr>
          </a:lstStyle>
          <a:p>
            <a:pPr>
              <a:defRPr/>
            </a:pPr>
            <a:fld id="{FF9ADB44-D3A1-49FE-A546-2D39E1861892}"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7" name="Rectangle 6"/>
          <p:cNvSpPr>
            <a:spLocks noGrp="1" noChangeArrowheads="1"/>
          </p:cNvSpPr>
          <p:nvPr>
            <p:ph type="sldNum" sz="quarter" idx="12"/>
          </p:nvPr>
        </p:nvSpPr>
        <p:spPr>
          <a:ln/>
        </p:spPr>
        <p:txBody>
          <a:bodyPr/>
          <a:lstStyle>
            <a:lvl1pPr>
              <a:defRPr/>
            </a:lvl1pPr>
          </a:lstStyle>
          <a:p>
            <a:pPr>
              <a:defRPr/>
            </a:pPr>
            <a:fld id="{32DE491F-0118-45D5-B810-1F6CBFAEC8E7}"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9" name="Rectangle 6"/>
          <p:cNvSpPr>
            <a:spLocks noGrp="1" noChangeArrowheads="1"/>
          </p:cNvSpPr>
          <p:nvPr>
            <p:ph type="sldNum" sz="quarter" idx="12"/>
          </p:nvPr>
        </p:nvSpPr>
        <p:spPr>
          <a:ln/>
        </p:spPr>
        <p:txBody>
          <a:bodyPr/>
          <a:lstStyle>
            <a:lvl1pPr>
              <a:defRPr/>
            </a:lvl1pPr>
          </a:lstStyle>
          <a:p>
            <a:pPr>
              <a:defRPr/>
            </a:pPr>
            <a:fld id="{4A409A4F-6D52-420A-915F-987992C18191}"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5" name="Rectangle 6"/>
          <p:cNvSpPr>
            <a:spLocks noGrp="1" noChangeArrowheads="1"/>
          </p:cNvSpPr>
          <p:nvPr>
            <p:ph type="sldNum" sz="quarter" idx="12"/>
          </p:nvPr>
        </p:nvSpPr>
        <p:spPr>
          <a:ln/>
        </p:spPr>
        <p:txBody>
          <a:bodyPr/>
          <a:lstStyle>
            <a:lvl1pPr>
              <a:defRPr/>
            </a:lvl1pPr>
          </a:lstStyle>
          <a:p>
            <a:pPr>
              <a:defRPr/>
            </a:pPr>
            <a:fld id="{A7C5006B-0CA7-4ED4-BB65-710FA7FAC4B6}"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4" name="Rectangle 6"/>
          <p:cNvSpPr>
            <a:spLocks noGrp="1" noChangeArrowheads="1"/>
          </p:cNvSpPr>
          <p:nvPr>
            <p:ph type="sldNum" sz="quarter" idx="12"/>
          </p:nvPr>
        </p:nvSpPr>
        <p:spPr>
          <a:ln/>
        </p:spPr>
        <p:txBody>
          <a:bodyPr/>
          <a:lstStyle>
            <a:lvl1pPr>
              <a:defRPr/>
            </a:lvl1pPr>
          </a:lstStyle>
          <a:p>
            <a:pPr>
              <a:defRPr/>
            </a:pPr>
            <a:fld id="{BBE7BA36-8D12-4491-9214-B415489AABD6}"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7" name="Rectangle 6"/>
          <p:cNvSpPr>
            <a:spLocks noGrp="1" noChangeArrowheads="1"/>
          </p:cNvSpPr>
          <p:nvPr>
            <p:ph type="sldNum" sz="quarter" idx="12"/>
          </p:nvPr>
        </p:nvSpPr>
        <p:spPr>
          <a:ln/>
        </p:spPr>
        <p:txBody>
          <a:bodyPr/>
          <a:lstStyle>
            <a:lvl1pPr>
              <a:defRPr/>
            </a:lvl1pPr>
          </a:lstStyle>
          <a:p>
            <a:pPr>
              <a:defRPr/>
            </a:pPr>
            <a:fld id="{BCD12D6B-B772-4EA2-A0CA-8B733B0D96AC}"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7" name="Rectangle 6"/>
          <p:cNvSpPr>
            <a:spLocks noGrp="1" noChangeArrowheads="1"/>
          </p:cNvSpPr>
          <p:nvPr>
            <p:ph type="sldNum" sz="quarter" idx="12"/>
          </p:nvPr>
        </p:nvSpPr>
        <p:spPr>
          <a:ln/>
        </p:spPr>
        <p:txBody>
          <a:bodyPr/>
          <a:lstStyle>
            <a:lvl1pPr>
              <a:defRPr/>
            </a:lvl1pPr>
          </a:lstStyle>
          <a:p>
            <a:pPr>
              <a:defRPr/>
            </a:pPr>
            <a:fld id="{28FDC04B-AB2C-4A37-81AF-674F815F5EC5}"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6" name="Rectangle 6"/>
          <p:cNvSpPr>
            <a:spLocks noGrp="1" noChangeArrowheads="1"/>
          </p:cNvSpPr>
          <p:nvPr>
            <p:ph type="sldNum" sz="quarter" idx="12"/>
          </p:nvPr>
        </p:nvSpPr>
        <p:spPr>
          <a:ln/>
        </p:spPr>
        <p:txBody>
          <a:bodyPr/>
          <a:lstStyle>
            <a:lvl1pPr>
              <a:defRPr/>
            </a:lvl1pPr>
          </a:lstStyle>
          <a:p>
            <a:pPr>
              <a:defRPr/>
            </a:pPr>
            <a:fld id="{02BB08C1-FE0A-4B60-8F0C-6CE0FAEFF91E}"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r>
              <a:rPr lang="en-GB"/>
              <a:t>After the Wall: http://afterthewall.bangor.ac.uk</a:t>
            </a:r>
          </a:p>
        </p:txBody>
      </p:sp>
      <p:sp>
        <p:nvSpPr>
          <p:cNvPr id="6" name="Rectangle 6"/>
          <p:cNvSpPr>
            <a:spLocks noGrp="1" noChangeArrowheads="1"/>
          </p:cNvSpPr>
          <p:nvPr>
            <p:ph type="sldNum" sz="quarter" idx="12"/>
          </p:nvPr>
        </p:nvSpPr>
        <p:spPr>
          <a:ln/>
        </p:spPr>
        <p:txBody>
          <a:bodyPr/>
          <a:lstStyle>
            <a:lvl1pPr>
              <a:defRPr/>
            </a:lvl1pPr>
          </a:lstStyle>
          <a:p>
            <a:pPr>
              <a:defRPr/>
            </a:pPr>
            <a:fld id="{CDD97646-93B5-4542-AF14-81A8576914E6}"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GB"/>
              <a:t>After the Wall: http://afterthewall.bangor.ac.uk</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3602720-BFB0-445E-B726-72F9EFBB655D}"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dipbt.bundestag.de/dip21/btd/12/078/1207820.pd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Footer Placeholder 4"/>
          <p:cNvSpPr>
            <a:spLocks noGrp="1"/>
          </p:cNvSpPr>
          <p:nvPr>
            <p:ph type="ftr" sz="quarter" idx="11"/>
          </p:nvPr>
        </p:nvSpPr>
        <p:spPr>
          <a:noFill/>
        </p:spPr>
        <p:txBody>
          <a:bodyPr/>
          <a:lstStyle/>
          <a:p>
            <a:r>
              <a:rPr lang="en-GB" smtClean="0"/>
              <a:t>After the Wall: http://afterthewall.bangor.ac.uk</a:t>
            </a:r>
          </a:p>
        </p:txBody>
      </p:sp>
      <p:sp>
        <p:nvSpPr>
          <p:cNvPr id="2051" name="Rectangle 2"/>
          <p:cNvSpPr>
            <a:spLocks noGrp="1" noChangeArrowheads="1"/>
          </p:cNvSpPr>
          <p:nvPr>
            <p:ph type="ctrTitle"/>
          </p:nvPr>
        </p:nvSpPr>
        <p:spPr>
          <a:xfrm>
            <a:off x="685800" y="908050"/>
            <a:ext cx="7772400" cy="1470025"/>
          </a:xfrm>
        </p:spPr>
        <p:txBody>
          <a:bodyPr/>
          <a:lstStyle/>
          <a:p>
            <a:pPr eaLnBrk="1" hangingPunct="1"/>
            <a:r>
              <a:rPr lang="en-GB" sz="3200" smtClean="0">
                <a:solidFill>
                  <a:srgbClr val="0033CC"/>
                </a:solidFill>
              </a:rPr>
              <a:t>‘Aufarbeitung von Geschichte und Folgen der SED-Diktatur in Deutschland’</a:t>
            </a:r>
          </a:p>
        </p:txBody>
      </p:sp>
      <p:sp>
        <p:nvSpPr>
          <p:cNvPr id="2052" name="Rectangle 3"/>
          <p:cNvSpPr>
            <a:spLocks noGrp="1" noChangeArrowheads="1"/>
          </p:cNvSpPr>
          <p:nvPr>
            <p:ph type="subTitle" idx="1"/>
          </p:nvPr>
        </p:nvSpPr>
        <p:spPr>
          <a:xfrm>
            <a:off x="1371600" y="2708275"/>
            <a:ext cx="6400800" cy="2328863"/>
          </a:xfrm>
        </p:spPr>
        <p:txBody>
          <a:bodyPr/>
          <a:lstStyle/>
          <a:p>
            <a:pPr eaLnBrk="1" hangingPunct="1"/>
            <a:r>
              <a:rPr lang="en-GB" smtClean="0">
                <a:solidFill>
                  <a:srgbClr val="0033CC"/>
                </a:solidFill>
              </a:rPr>
              <a:t>What was the first Enquete-Kommission on working through the history and consequences of the SED dictatorship in Germany?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4"/>
          <p:cNvSpPr>
            <a:spLocks noGrp="1"/>
          </p:cNvSpPr>
          <p:nvPr>
            <p:ph type="ftr" sz="quarter" idx="11"/>
          </p:nvPr>
        </p:nvSpPr>
        <p:spPr>
          <a:noFill/>
        </p:spPr>
        <p:txBody>
          <a:bodyPr/>
          <a:lstStyle/>
          <a:p>
            <a:r>
              <a:rPr lang="en-GB" smtClean="0"/>
              <a:t>After the Wall: http://afterthewall.bangor.ac.uk</a:t>
            </a:r>
          </a:p>
        </p:txBody>
      </p:sp>
      <p:sp>
        <p:nvSpPr>
          <p:cNvPr id="3075" name="Rectangle 2"/>
          <p:cNvSpPr>
            <a:spLocks noGrp="1" noChangeArrowheads="1"/>
          </p:cNvSpPr>
          <p:nvPr>
            <p:ph type="title"/>
          </p:nvPr>
        </p:nvSpPr>
        <p:spPr/>
        <p:txBody>
          <a:bodyPr/>
          <a:lstStyle/>
          <a:p>
            <a:pPr eaLnBrk="1" hangingPunct="1"/>
            <a:r>
              <a:rPr lang="en-GB" sz="3000" smtClean="0"/>
              <a:t>Presentation outline</a:t>
            </a:r>
          </a:p>
        </p:txBody>
      </p:sp>
      <p:sp>
        <p:nvSpPr>
          <p:cNvPr id="3076" name="Rectangle 3"/>
          <p:cNvSpPr>
            <a:spLocks noGrp="1" noChangeArrowheads="1"/>
          </p:cNvSpPr>
          <p:nvPr>
            <p:ph type="body" idx="1"/>
          </p:nvPr>
        </p:nvSpPr>
        <p:spPr/>
        <p:txBody>
          <a:bodyPr/>
          <a:lstStyle/>
          <a:p>
            <a:pPr eaLnBrk="1" hangingPunct="1"/>
            <a:endParaRPr lang="en-GB" sz="1000" smtClean="0"/>
          </a:p>
          <a:p>
            <a:pPr eaLnBrk="1" hangingPunct="1"/>
            <a:r>
              <a:rPr lang="en-GB" sz="2400" smtClean="0"/>
              <a:t>What is an Enquete-Kommission?</a:t>
            </a:r>
          </a:p>
          <a:p>
            <a:pPr eaLnBrk="1" hangingPunct="1"/>
            <a:endParaRPr lang="en-GB" sz="1000" smtClean="0"/>
          </a:p>
          <a:p>
            <a:pPr eaLnBrk="1" hangingPunct="1"/>
            <a:r>
              <a:rPr lang="en-GB" sz="2400" smtClean="0"/>
              <a:t>The basics of the first Enquete-Kommission</a:t>
            </a:r>
          </a:p>
          <a:p>
            <a:pPr eaLnBrk="1" hangingPunct="1"/>
            <a:endParaRPr lang="en-GB" sz="1000" smtClean="0"/>
          </a:p>
          <a:p>
            <a:pPr eaLnBrk="1" hangingPunct="1"/>
            <a:r>
              <a:rPr lang="en-GB" sz="2400" smtClean="0"/>
              <a:t>The aims of the first Enquete-Kommission</a:t>
            </a:r>
          </a:p>
          <a:p>
            <a:pPr eaLnBrk="1" hangingPunct="1"/>
            <a:endParaRPr lang="en-GB" sz="1000" smtClean="0"/>
          </a:p>
          <a:p>
            <a:pPr eaLnBrk="1" hangingPunct="1"/>
            <a:r>
              <a:rPr lang="en-GB" sz="2400" smtClean="0"/>
              <a:t>Outcomes of the first Enquete-Kommission</a:t>
            </a:r>
          </a:p>
          <a:p>
            <a:pPr eaLnBrk="1" hangingPunct="1"/>
            <a:endParaRPr lang="en-GB" sz="2400" smtClean="0"/>
          </a:p>
          <a:p>
            <a:pPr eaLnBrk="1" hangingPunct="1"/>
            <a:endParaRPr lang="en-GB" sz="2400" smtClean="0"/>
          </a:p>
          <a:p>
            <a:pPr eaLnBrk="1" hangingPunct="1"/>
            <a:endParaRPr lang="en-GB" sz="24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p:cNvSpPr>
            <a:spLocks noGrp="1"/>
          </p:cNvSpPr>
          <p:nvPr>
            <p:ph type="ftr" sz="quarter" idx="11"/>
          </p:nvPr>
        </p:nvSpPr>
        <p:spPr>
          <a:noFill/>
        </p:spPr>
        <p:txBody>
          <a:bodyPr/>
          <a:lstStyle/>
          <a:p>
            <a:r>
              <a:rPr lang="en-GB" smtClean="0"/>
              <a:t>After the Wall: http://afterthewall.bangor.ac.uk</a:t>
            </a:r>
          </a:p>
        </p:txBody>
      </p:sp>
      <p:sp>
        <p:nvSpPr>
          <p:cNvPr id="4099" name="Rectangle 2"/>
          <p:cNvSpPr>
            <a:spLocks noGrp="1" noChangeArrowheads="1"/>
          </p:cNvSpPr>
          <p:nvPr>
            <p:ph type="title"/>
          </p:nvPr>
        </p:nvSpPr>
        <p:spPr/>
        <p:txBody>
          <a:bodyPr/>
          <a:lstStyle/>
          <a:p>
            <a:pPr eaLnBrk="1" hangingPunct="1"/>
            <a:r>
              <a:rPr lang="en-GB" sz="3000" smtClean="0"/>
              <a:t>What is an Enquete-Kommission?</a:t>
            </a:r>
          </a:p>
        </p:txBody>
      </p:sp>
      <p:sp>
        <p:nvSpPr>
          <p:cNvPr id="4100" name="Rectangle 3"/>
          <p:cNvSpPr>
            <a:spLocks noGrp="1" noChangeArrowheads="1"/>
          </p:cNvSpPr>
          <p:nvPr>
            <p:ph type="body" idx="1"/>
          </p:nvPr>
        </p:nvSpPr>
        <p:spPr/>
        <p:txBody>
          <a:bodyPr/>
          <a:lstStyle/>
          <a:p>
            <a:pPr eaLnBrk="1" hangingPunct="1"/>
            <a:r>
              <a:rPr lang="en-GB" sz="2400" smtClean="0"/>
              <a:t>Working groups set up by national or regional government.</a:t>
            </a:r>
          </a:p>
          <a:p>
            <a:pPr eaLnBrk="1" hangingPunct="1"/>
            <a:endParaRPr lang="en-GB" sz="1000" smtClean="0"/>
          </a:p>
          <a:p>
            <a:pPr eaLnBrk="1" hangingPunct="1"/>
            <a:r>
              <a:rPr lang="en-GB" sz="2400" smtClean="0"/>
              <a:t>Aim to come up with solutions for long-term social problems or issues.</a:t>
            </a:r>
          </a:p>
          <a:p>
            <a:pPr eaLnBrk="1" hangingPunct="1"/>
            <a:endParaRPr lang="en-GB" sz="1000" smtClean="0"/>
          </a:p>
          <a:p>
            <a:pPr eaLnBrk="1" hangingPunct="1"/>
            <a:r>
              <a:rPr lang="en-GB" sz="2400" smtClean="0"/>
              <a:t>The working group should come to a collective agreement about the issue in question.</a:t>
            </a:r>
          </a:p>
          <a:p>
            <a:pPr eaLnBrk="1" hangingPunct="1"/>
            <a:endParaRPr lang="en-GB" sz="1000" smtClean="0"/>
          </a:p>
          <a:p>
            <a:pPr eaLnBrk="1" hangingPunct="1"/>
            <a:r>
              <a:rPr lang="en-GB" sz="2400" smtClean="0"/>
              <a:t>This should represent the majority of the population, including the interests of marginalised groups.</a:t>
            </a:r>
          </a:p>
          <a:p>
            <a:pPr eaLnBrk="1" hangingPunct="1"/>
            <a:endParaRPr lang="en-GB"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p:spPr>
        <p:txBody>
          <a:bodyPr/>
          <a:lstStyle/>
          <a:p>
            <a:r>
              <a:rPr lang="en-GB" smtClean="0"/>
              <a:t>After the Wall: http://afterthewall.bangor.ac.uk</a:t>
            </a:r>
          </a:p>
        </p:txBody>
      </p:sp>
      <p:sp>
        <p:nvSpPr>
          <p:cNvPr id="5123" name="Rectangle 2"/>
          <p:cNvSpPr>
            <a:spLocks noGrp="1" noChangeArrowheads="1"/>
          </p:cNvSpPr>
          <p:nvPr>
            <p:ph type="title"/>
          </p:nvPr>
        </p:nvSpPr>
        <p:spPr/>
        <p:txBody>
          <a:bodyPr/>
          <a:lstStyle/>
          <a:p>
            <a:pPr eaLnBrk="1" hangingPunct="1"/>
            <a:r>
              <a:rPr lang="en-GB" sz="3000" smtClean="0"/>
              <a:t>The basics of the first Enquete-Kommission</a:t>
            </a:r>
          </a:p>
        </p:txBody>
      </p:sp>
      <p:sp>
        <p:nvSpPr>
          <p:cNvPr id="5124" name="Rectangle 3"/>
          <p:cNvSpPr>
            <a:spLocks noGrp="1" noChangeArrowheads="1"/>
          </p:cNvSpPr>
          <p:nvPr>
            <p:ph type="body" idx="1"/>
          </p:nvPr>
        </p:nvSpPr>
        <p:spPr/>
        <p:txBody>
          <a:bodyPr/>
          <a:lstStyle/>
          <a:p>
            <a:pPr eaLnBrk="1" hangingPunct="1"/>
            <a:r>
              <a:rPr lang="en-GB" sz="2400" smtClean="0"/>
              <a:t>The first Enquete-Kommission began in 1992 and lasted for two years.</a:t>
            </a:r>
          </a:p>
          <a:p>
            <a:pPr eaLnBrk="1" hangingPunct="1"/>
            <a:endParaRPr lang="en-GB" sz="1000" smtClean="0"/>
          </a:p>
          <a:p>
            <a:pPr eaLnBrk="1" hangingPunct="1"/>
            <a:r>
              <a:rPr lang="en-GB" sz="2400" smtClean="0"/>
              <a:t>Its overarching aim was to work through the history and consequences of the SED dictatorship in Germany.</a:t>
            </a:r>
          </a:p>
          <a:p>
            <a:pPr eaLnBrk="1" hangingPunct="1"/>
            <a:endParaRPr lang="en-GB" sz="1000" smtClean="0"/>
          </a:p>
          <a:p>
            <a:pPr eaLnBrk="1" hangingPunct="1"/>
            <a:r>
              <a:rPr lang="en-GB" sz="2400" smtClean="0"/>
              <a:t>The Enquete-Kommission consisted of members of the </a:t>
            </a:r>
            <a:r>
              <a:rPr lang="en-GB" sz="2400" i="1" smtClean="0"/>
              <a:t>Bundestag</a:t>
            </a:r>
            <a:r>
              <a:rPr lang="en-GB" sz="2400" smtClean="0"/>
              <a:t>, political specialists, eye-witnesses and academics.</a:t>
            </a:r>
          </a:p>
          <a:p>
            <a:pPr eaLnBrk="1" hangingPunct="1"/>
            <a:endParaRPr lang="en-GB" sz="240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4"/>
          <p:cNvSpPr>
            <a:spLocks noGrp="1"/>
          </p:cNvSpPr>
          <p:nvPr>
            <p:ph type="ftr" sz="quarter" idx="11"/>
          </p:nvPr>
        </p:nvSpPr>
        <p:spPr>
          <a:noFill/>
        </p:spPr>
        <p:txBody>
          <a:bodyPr/>
          <a:lstStyle/>
          <a:p>
            <a:r>
              <a:rPr lang="en-GB" smtClean="0"/>
              <a:t>After the Wall: http://afterthewall.bangor.ac.uk</a:t>
            </a:r>
          </a:p>
        </p:txBody>
      </p:sp>
      <p:sp>
        <p:nvSpPr>
          <p:cNvPr id="6147" name="Rectangle 2"/>
          <p:cNvSpPr>
            <a:spLocks noGrp="1" noChangeArrowheads="1"/>
          </p:cNvSpPr>
          <p:nvPr>
            <p:ph type="title"/>
          </p:nvPr>
        </p:nvSpPr>
        <p:spPr/>
        <p:txBody>
          <a:bodyPr/>
          <a:lstStyle/>
          <a:p>
            <a:pPr eaLnBrk="1" hangingPunct="1"/>
            <a:r>
              <a:rPr lang="en-GB" sz="3000" smtClean="0"/>
              <a:t>The aims of the first Enquete-Kommission (1)</a:t>
            </a:r>
          </a:p>
        </p:txBody>
      </p:sp>
      <p:sp>
        <p:nvSpPr>
          <p:cNvPr id="6148" name="Rectangle 3"/>
          <p:cNvSpPr>
            <a:spLocks noGrp="1" noChangeArrowheads="1"/>
          </p:cNvSpPr>
          <p:nvPr>
            <p:ph type="body" idx="1"/>
          </p:nvPr>
        </p:nvSpPr>
        <p:spPr/>
        <p:txBody>
          <a:bodyPr/>
          <a:lstStyle/>
          <a:p>
            <a:pPr marL="457200" indent="-457200" eaLnBrk="1" hangingPunct="1">
              <a:buFontTx/>
              <a:buNone/>
            </a:pPr>
            <a:r>
              <a:rPr lang="en-GB" sz="2400" dirty="0" smtClean="0"/>
              <a:t>The Enquete-Kommission had five aims:</a:t>
            </a:r>
          </a:p>
          <a:p>
            <a:pPr marL="457200" indent="-457200" eaLnBrk="1" hangingPunct="1">
              <a:buFontTx/>
              <a:buNone/>
            </a:pPr>
            <a:endParaRPr lang="en-GB" sz="1000" dirty="0" smtClean="0"/>
          </a:p>
          <a:p>
            <a:pPr marL="838200" lvl="1" indent="-381000" eaLnBrk="1" hangingPunct="1">
              <a:buFontTx/>
              <a:buAutoNum type="arabicPeriod"/>
            </a:pPr>
            <a:r>
              <a:rPr lang="en-GB" sz="2400" dirty="0" smtClean="0"/>
              <a:t>To ensure that the dictatorial powers which oppressed people in the GDR were never given a political chance in unified Germany.</a:t>
            </a:r>
          </a:p>
          <a:p>
            <a:pPr marL="838200" lvl="1" indent="-381000" eaLnBrk="1" hangingPunct="1">
              <a:buFontTx/>
              <a:buAutoNum type="arabicPeriod"/>
            </a:pPr>
            <a:endParaRPr lang="en-GB" sz="1000" dirty="0" smtClean="0"/>
          </a:p>
          <a:p>
            <a:pPr marL="838200" lvl="1" indent="-381000" eaLnBrk="1" hangingPunct="1">
              <a:buFontTx/>
              <a:buAutoNum type="arabicPeriod"/>
            </a:pPr>
            <a:r>
              <a:rPr lang="en-GB" sz="2400" dirty="0" smtClean="0"/>
              <a:t>To provide the victims of the regime with ‘historical justice’ by </a:t>
            </a:r>
            <a:r>
              <a:rPr lang="en-GB" sz="2400" dirty="0" smtClean="0">
                <a:solidFill>
                  <a:srgbClr val="0033CC"/>
                </a:solidFill>
              </a:rPr>
              <a:t>redressing the </a:t>
            </a:r>
            <a:r>
              <a:rPr lang="en-GB" sz="2400" dirty="0" smtClean="0">
                <a:solidFill>
                  <a:srgbClr val="0033CC"/>
                </a:solidFill>
              </a:rPr>
              <a:t>injustice </a:t>
            </a:r>
            <a:r>
              <a:rPr lang="en-GB" sz="2400" dirty="0" smtClean="0"/>
              <a:t>of the SED. </a:t>
            </a:r>
          </a:p>
          <a:p>
            <a:pPr marL="838200" lvl="1" indent="-381000" eaLnBrk="1" hangingPunct="1">
              <a:buFontTx/>
              <a:buAutoNum type="arabicPeriod"/>
            </a:pPr>
            <a:endParaRPr lang="en-GB" sz="1000" dirty="0" smtClean="0"/>
          </a:p>
          <a:p>
            <a:pPr marL="838200" lvl="1" indent="-381000" eaLnBrk="1" hangingPunct="1">
              <a:buFontTx/>
              <a:buAutoNum type="arabicPeriod"/>
            </a:pPr>
            <a:r>
              <a:rPr lang="en-GB" sz="2400" dirty="0" smtClean="0"/>
              <a:t>To contribute to the inner unity of Germany by increasing awareness about how the SED regime impacted upon the lives of every person in the GDR as well as on west German society and politics.</a:t>
            </a:r>
          </a:p>
          <a:p>
            <a:pPr marL="838200" lvl="1" indent="-381000" eaLnBrk="1" hangingPunct="1">
              <a:buFontTx/>
              <a:buAutoNum type="arabicPeriod"/>
            </a:pPr>
            <a:endParaRPr lang="en-GB"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p:cNvSpPr>
            <a:spLocks noGrp="1"/>
          </p:cNvSpPr>
          <p:nvPr>
            <p:ph type="ftr" sz="quarter" idx="11"/>
          </p:nvPr>
        </p:nvSpPr>
        <p:spPr>
          <a:noFill/>
        </p:spPr>
        <p:txBody>
          <a:bodyPr/>
          <a:lstStyle/>
          <a:p>
            <a:r>
              <a:rPr lang="en-GB" smtClean="0"/>
              <a:t>After the Wall: http://afterthewall.bangor.ac.uk</a:t>
            </a:r>
          </a:p>
        </p:txBody>
      </p:sp>
      <p:sp>
        <p:nvSpPr>
          <p:cNvPr id="7171" name="Rectangle 2"/>
          <p:cNvSpPr>
            <a:spLocks noGrp="1" noChangeArrowheads="1"/>
          </p:cNvSpPr>
          <p:nvPr>
            <p:ph type="title"/>
          </p:nvPr>
        </p:nvSpPr>
        <p:spPr/>
        <p:txBody>
          <a:bodyPr/>
          <a:lstStyle/>
          <a:p>
            <a:pPr eaLnBrk="1" hangingPunct="1"/>
            <a:r>
              <a:rPr lang="en-GB" sz="3000" smtClean="0"/>
              <a:t>The aims of the first Enquete-Kommission (2)</a:t>
            </a:r>
          </a:p>
        </p:txBody>
      </p:sp>
      <p:sp>
        <p:nvSpPr>
          <p:cNvPr id="7172" name="Rectangle 3"/>
          <p:cNvSpPr>
            <a:spLocks noGrp="1" noChangeArrowheads="1"/>
          </p:cNvSpPr>
          <p:nvPr>
            <p:ph type="body" idx="1"/>
          </p:nvPr>
        </p:nvSpPr>
        <p:spPr/>
        <p:txBody>
          <a:bodyPr/>
          <a:lstStyle/>
          <a:p>
            <a:pPr marL="990600" lvl="1" indent="-533400" eaLnBrk="1" hangingPunct="1">
              <a:buFontTx/>
              <a:buAutoNum type="arabicPeriod" startAt="4"/>
            </a:pPr>
            <a:r>
              <a:rPr lang="en-GB" sz="2400" smtClean="0"/>
              <a:t>To contribute to the affirmation of the ‘fundamental democratic consensus’ in unified Germany by working through the history and consequences of the SED dictatorship.</a:t>
            </a:r>
          </a:p>
          <a:p>
            <a:pPr marL="990600" lvl="1" indent="-533400" eaLnBrk="1" hangingPunct="1">
              <a:buFontTx/>
              <a:buAutoNum type="arabicPeriod" startAt="4"/>
            </a:pPr>
            <a:endParaRPr lang="en-GB" sz="1000" smtClean="0"/>
          </a:p>
          <a:p>
            <a:pPr marL="990600" lvl="1" indent="-533400" eaLnBrk="1" hangingPunct="1">
              <a:buFontTx/>
              <a:buAutoNum type="arabicPeriod" startAt="4"/>
            </a:pPr>
            <a:r>
              <a:rPr lang="en-GB" sz="2400" smtClean="0"/>
              <a:t>To guide the legislative body with regard to continuing to eliminate the consequences of the SED regime in Germany.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p:cNvSpPr>
            <a:spLocks noGrp="1"/>
          </p:cNvSpPr>
          <p:nvPr>
            <p:ph type="ftr" sz="quarter" idx="11"/>
          </p:nvPr>
        </p:nvSpPr>
        <p:spPr>
          <a:noFill/>
        </p:spPr>
        <p:txBody>
          <a:bodyPr/>
          <a:lstStyle/>
          <a:p>
            <a:r>
              <a:rPr lang="en-GB" smtClean="0"/>
              <a:t>After the Wall: http://afterthewall.bangor.ac.uk</a:t>
            </a:r>
          </a:p>
        </p:txBody>
      </p:sp>
      <p:sp>
        <p:nvSpPr>
          <p:cNvPr id="8195" name="Rectangle 2"/>
          <p:cNvSpPr>
            <a:spLocks noGrp="1" noChangeArrowheads="1"/>
          </p:cNvSpPr>
          <p:nvPr>
            <p:ph type="title"/>
          </p:nvPr>
        </p:nvSpPr>
        <p:spPr/>
        <p:txBody>
          <a:bodyPr/>
          <a:lstStyle/>
          <a:p>
            <a:pPr eaLnBrk="1" hangingPunct="1"/>
            <a:r>
              <a:rPr lang="en-GB" sz="3000" smtClean="0"/>
              <a:t>Outcomes of the first Enquete-Kommission (1)</a:t>
            </a:r>
          </a:p>
        </p:txBody>
      </p:sp>
      <p:sp>
        <p:nvSpPr>
          <p:cNvPr id="8196" name="Rectangle 3"/>
          <p:cNvSpPr>
            <a:spLocks noGrp="1" noChangeArrowheads="1"/>
          </p:cNvSpPr>
          <p:nvPr>
            <p:ph type="body" idx="1"/>
          </p:nvPr>
        </p:nvSpPr>
        <p:spPr/>
        <p:txBody>
          <a:bodyPr/>
          <a:lstStyle/>
          <a:p>
            <a:pPr marL="609600" indent="-609600" eaLnBrk="1" hangingPunct="1">
              <a:buFontTx/>
              <a:buAutoNum type="arabicPeriod"/>
            </a:pPr>
            <a:r>
              <a:rPr lang="en-GB" sz="2400" b="1" smtClean="0"/>
              <a:t>Learning through remembering: </a:t>
            </a:r>
            <a:r>
              <a:rPr lang="en-GB" sz="2400" smtClean="0"/>
              <a:t>Germans must learn from each other’s life experiences. In order to work through the consequences of the SED regime, it is necessary to understand how different people lived within it.</a:t>
            </a:r>
          </a:p>
          <a:p>
            <a:pPr marL="609600" indent="-609600" eaLnBrk="1" hangingPunct="1">
              <a:buFontTx/>
              <a:buAutoNum type="arabicPeriod"/>
            </a:pPr>
            <a:endParaRPr lang="en-GB" sz="2400" smtClean="0"/>
          </a:p>
          <a:p>
            <a:pPr marL="609600" indent="-609600" eaLnBrk="1" hangingPunct="1">
              <a:buFontTx/>
              <a:buAutoNum type="arabicPeriod"/>
            </a:pPr>
            <a:r>
              <a:rPr lang="en-GB" sz="2400" b="1" smtClean="0"/>
              <a:t>The term ‘dictatorship’:</a:t>
            </a:r>
            <a:r>
              <a:rPr lang="en-GB" sz="2400" smtClean="0"/>
              <a:t> The SED regime should be known as a dictatorship as it provided no democratic voting system for the GDR population.</a:t>
            </a:r>
            <a:endParaRPr lang="en-GB" sz="2400" b="1" smtClean="0"/>
          </a:p>
          <a:p>
            <a:pPr marL="609600" indent="-609600" eaLnBrk="1" hangingPunct="1">
              <a:buFontTx/>
              <a:buNone/>
            </a:pPr>
            <a:r>
              <a:rPr lang="en-GB" sz="2400" smtClean="0"/>
              <a:t>	</a:t>
            </a:r>
          </a:p>
          <a:p>
            <a:pPr marL="609600" indent="-609600" eaLnBrk="1" hangingPunct="1">
              <a:buFontTx/>
              <a:buNone/>
            </a:pPr>
            <a:endParaRPr lang="en-GB"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1"/>
          </p:nvPr>
        </p:nvSpPr>
        <p:spPr>
          <a:noFill/>
        </p:spPr>
        <p:txBody>
          <a:bodyPr/>
          <a:lstStyle/>
          <a:p>
            <a:r>
              <a:rPr lang="en-GB" smtClean="0"/>
              <a:t>After the Wall: http://afterthewall.bangor.ac.uk</a:t>
            </a:r>
          </a:p>
        </p:txBody>
      </p:sp>
      <p:sp>
        <p:nvSpPr>
          <p:cNvPr id="9219" name="Rectangle 2"/>
          <p:cNvSpPr>
            <a:spLocks noGrp="1" noChangeArrowheads="1"/>
          </p:cNvSpPr>
          <p:nvPr>
            <p:ph type="title"/>
          </p:nvPr>
        </p:nvSpPr>
        <p:spPr/>
        <p:txBody>
          <a:bodyPr/>
          <a:lstStyle/>
          <a:p>
            <a:pPr eaLnBrk="1" hangingPunct="1"/>
            <a:r>
              <a:rPr lang="en-GB" sz="3000" smtClean="0"/>
              <a:t>Outcomes of the first Enquete-Kommission (2)</a:t>
            </a:r>
          </a:p>
        </p:txBody>
      </p:sp>
      <p:sp>
        <p:nvSpPr>
          <p:cNvPr id="9220" name="Rectangle 3"/>
          <p:cNvSpPr>
            <a:spLocks noGrp="1" noChangeArrowheads="1"/>
          </p:cNvSpPr>
          <p:nvPr>
            <p:ph type="body" idx="1"/>
          </p:nvPr>
        </p:nvSpPr>
        <p:spPr/>
        <p:txBody>
          <a:bodyPr/>
          <a:lstStyle/>
          <a:p>
            <a:pPr marL="609600" indent="-609600" eaLnBrk="1" hangingPunct="1">
              <a:buFontTx/>
              <a:buAutoNum type="arabicPeriod" startAt="3"/>
            </a:pPr>
            <a:r>
              <a:rPr lang="en-GB" sz="2400" b="1" dirty="0" smtClean="0"/>
              <a:t>Continuing to work through the GDR past:</a:t>
            </a:r>
            <a:r>
              <a:rPr lang="en-GB" sz="2400" dirty="0" smtClean="0"/>
              <a:t> Germany must continue to work intensively through the history of the SED dictatorship as part of a democratic political culture.</a:t>
            </a:r>
          </a:p>
          <a:p>
            <a:pPr marL="609600" indent="-609600" eaLnBrk="1" hangingPunct="1">
              <a:buFontTx/>
              <a:buAutoNum type="arabicPeriod" startAt="3"/>
            </a:pPr>
            <a:endParaRPr lang="en-GB" sz="2400" dirty="0" smtClean="0"/>
          </a:p>
          <a:p>
            <a:pPr marL="609600" indent="-609600" eaLnBrk="1" hangingPunct="1">
              <a:buFontTx/>
              <a:buAutoNum type="arabicPeriod" startAt="3"/>
            </a:pPr>
            <a:r>
              <a:rPr lang="en-GB" sz="2400" b="1" dirty="0" smtClean="0"/>
              <a:t>Duties of </a:t>
            </a:r>
            <a:r>
              <a:rPr lang="en-GB" sz="2400" b="1" dirty="0" smtClean="0"/>
              <a:t>research</a:t>
            </a:r>
            <a:r>
              <a:rPr lang="en-GB" sz="2400" b="1" dirty="0" smtClean="0"/>
              <a:t>:</a:t>
            </a:r>
            <a:r>
              <a:rPr lang="en-GB" sz="2400" dirty="0" smtClean="0"/>
              <a:t> It is crucial that Germany takes on the task of researching the SED dictatorship on a </a:t>
            </a:r>
            <a:r>
              <a:rPr lang="en-GB" sz="2400" i="1" dirty="0" smtClean="0"/>
              <a:t>national</a:t>
            </a:r>
            <a:r>
              <a:rPr lang="en-GB" sz="2400" dirty="0" smtClean="0"/>
              <a:t> level. This should include access to the files of political parties, mass organisations, the judiciary and the Stasi. The research should also feed into appropriate learning materials for schools.</a:t>
            </a:r>
            <a:endParaRPr lang="en-GB" sz="2400" b="1" dirty="0" smtClean="0"/>
          </a:p>
          <a:p>
            <a:pPr marL="609600" indent="-609600" eaLnBrk="1" hangingPunct="1">
              <a:buFontTx/>
              <a:buAutoNum type="arabicPeriod" startAt="3"/>
            </a:pPr>
            <a:endParaRPr lang="en-GB" sz="2400" dirty="0" smtClean="0"/>
          </a:p>
          <a:p>
            <a:pPr marL="609600" indent="-609600" eaLnBrk="1" hangingPunct="1">
              <a:buFontTx/>
              <a:buAutoNum type="arabicPeriod" startAt="3"/>
            </a:pPr>
            <a:endParaRPr lang="en-GB" sz="2400" b="1"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p:cNvSpPr>
            <a:spLocks noGrp="1"/>
          </p:cNvSpPr>
          <p:nvPr>
            <p:ph type="ftr" sz="quarter" idx="11"/>
          </p:nvPr>
        </p:nvSpPr>
        <p:spPr>
          <a:noFill/>
        </p:spPr>
        <p:txBody>
          <a:bodyPr/>
          <a:lstStyle/>
          <a:p>
            <a:r>
              <a:rPr lang="en-GB" smtClean="0"/>
              <a:t>After the Wall: http://afterthewall.bangor.ac.uk</a:t>
            </a:r>
          </a:p>
        </p:txBody>
      </p:sp>
      <p:sp>
        <p:nvSpPr>
          <p:cNvPr id="10243" name="Rectangle 2"/>
          <p:cNvSpPr>
            <a:spLocks noGrp="1" noChangeArrowheads="1"/>
          </p:cNvSpPr>
          <p:nvPr>
            <p:ph type="title"/>
          </p:nvPr>
        </p:nvSpPr>
        <p:spPr/>
        <p:txBody>
          <a:bodyPr/>
          <a:lstStyle/>
          <a:p>
            <a:pPr eaLnBrk="1" hangingPunct="1"/>
            <a:r>
              <a:rPr lang="en-GB" sz="3000" smtClean="0"/>
              <a:t>Outcomes of the first Enquete-Kommission (3)</a:t>
            </a:r>
          </a:p>
        </p:txBody>
      </p:sp>
      <p:sp>
        <p:nvSpPr>
          <p:cNvPr id="10244" name="Rectangle 3"/>
          <p:cNvSpPr>
            <a:spLocks noGrp="1" noChangeArrowheads="1"/>
          </p:cNvSpPr>
          <p:nvPr>
            <p:ph type="body" idx="1"/>
          </p:nvPr>
        </p:nvSpPr>
        <p:spPr/>
        <p:txBody>
          <a:bodyPr/>
          <a:lstStyle/>
          <a:p>
            <a:pPr marL="609600" indent="-609600" eaLnBrk="1" hangingPunct="1">
              <a:buFontTx/>
              <a:buAutoNum type="arabicPeriod" startAt="5"/>
            </a:pPr>
            <a:r>
              <a:rPr lang="en-GB" sz="2400" b="1" smtClean="0"/>
              <a:t>Towards political and moral responsibility</a:t>
            </a:r>
            <a:r>
              <a:rPr lang="en-GB" sz="2400" smtClean="0"/>
              <a:t>: The perpetrators of the SED regime must be made responsible for their actions. This will pave the way towards reconciliation between the perpetrators and the victims of the regime.</a:t>
            </a:r>
          </a:p>
          <a:p>
            <a:pPr marL="609600" indent="-609600" eaLnBrk="1" hangingPunct="1">
              <a:buFontTx/>
              <a:buAutoNum type="arabicPeriod" startAt="5"/>
            </a:pPr>
            <a:endParaRPr lang="en-GB" sz="2400" smtClean="0"/>
          </a:p>
          <a:p>
            <a:pPr marL="609600" indent="-609600" eaLnBrk="1" hangingPunct="1">
              <a:buFontTx/>
              <a:buAutoNum type="arabicPeriod" startAt="5"/>
            </a:pPr>
            <a:r>
              <a:rPr lang="en-GB" sz="2400" b="1" smtClean="0"/>
              <a:t>The comparability of totalitarian systems</a:t>
            </a:r>
            <a:r>
              <a:rPr lang="en-GB" sz="2400" smtClean="0"/>
              <a:t>: Identifying the similarities and differences between the SED and National Socialist dictatorships contributes to political self-awareness and democratic culture.</a:t>
            </a:r>
            <a:endParaRPr lang="en-GB" sz="2400" b="1"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p:cNvSpPr>
            <a:spLocks noGrp="1"/>
          </p:cNvSpPr>
          <p:nvPr>
            <p:ph type="ftr" sz="quarter" idx="11"/>
          </p:nvPr>
        </p:nvSpPr>
        <p:spPr>
          <a:noFill/>
        </p:spPr>
        <p:txBody>
          <a:bodyPr/>
          <a:lstStyle/>
          <a:p>
            <a:r>
              <a:rPr lang="en-GB" smtClean="0"/>
              <a:t>After the Wall: http://afterthewall.bangor.ac.uk</a:t>
            </a:r>
          </a:p>
        </p:txBody>
      </p:sp>
      <p:sp>
        <p:nvSpPr>
          <p:cNvPr id="11267" name="Rectangle 2"/>
          <p:cNvSpPr>
            <a:spLocks noGrp="1" noChangeArrowheads="1"/>
          </p:cNvSpPr>
          <p:nvPr>
            <p:ph type="title"/>
          </p:nvPr>
        </p:nvSpPr>
        <p:spPr/>
        <p:txBody>
          <a:bodyPr/>
          <a:lstStyle/>
          <a:p>
            <a:pPr eaLnBrk="1" hangingPunct="1"/>
            <a:r>
              <a:rPr lang="en-GB" sz="3000" smtClean="0"/>
              <a:t>Outcomes of the first Enquete-Kommission (4)</a:t>
            </a:r>
          </a:p>
        </p:txBody>
      </p:sp>
      <p:sp>
        <p:nvSpPr>
          <p:cNvPr id="11268" name="Rectangle 3"/>
          <p:cNvSpPr>
            <a:spLocks noGrp="1" noChangeArrowheads="1"/>
          </p:cNvSpPr>
          <p:nvPr>
            <p:ph type="body" idx="1"/>
          </p:nvPr>
        </p:nvSpPr>
        <p:spPr/>
        <p:txBody>
          <a:bodyPr/>
          <a:lstStyle/>
          <a:p>
            <a:pPr marL="609600" indent="-609600" eaLnBrk="1" hangingPunct="1">
              <a:buFontTx/>
              <a:buAutoNum type="arabicPeriod" startAt="7"/>
            </a:pPr>
            <a:r>
              <a:rPr lang="en-GB" sz="2400" b="1" smtClean="0"/>
              <a:t>Working through the past and shaping the future</a:t>
            </a:r>
            <a:r>
              <a:rPr lang="en-GB" sz="2400" smtClean="0"/>
              <a:t>: As well as working through the consequences of the SED dictatorship, Germany should remember the presence of solidarity and resistance in the GDR, which led to the democratic revolution of 1989. This is an important part of unified Germany’s identity.</a:t>
            </a:r>
            <a:endParaRPr lang="en-GB" sz="2400" b="1"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p:cNvSpPr>
            <a:spLocks noGrp="1"/>
          </p:cNvSpPr>
          <p:nvPr>
            <p:ph type="ftr" sz="quarter" idx="11"/>
          </p:nvPr>
        </p:nvSpPr>
        <p:spPr>
          <a:noFill/>
        </p:spPr>
        <p:txBody>
          <a:bodyPr/>
          <a:lstStyle/>
          <a:p>
            <a:r>
              <a:rPr lang="en-GB" smtClean="0"/>
              <a:t>After the Wall: http://afterthewall.bangor.ac.uk</a:t>
            </a:r>
          </a:p>
        </p:txBody>
      </p:sp>
      <p:sp>
        <p:nvSpPr>
          <p:cNvPr id="12291" name="Rectangle 2"/>
          <p:cNvSpPr>
            <a:spLocks noGrp="1" noChangeArrowheads="1"/>
          </p:cNvSpPr>
          <p:nvPr>
            <p:ph type="title"/>
          </p:nvPr>
        </p:nvSpPr>
        <p:spPr/>
        <p:txBody>
          <a:bodyPr/>
          <a:lstStyle/>
          <a:p>
            <a:pPr eaLnBrk="1" hangingPunct="1"/>
            <a:r>
              <a:rPr lang="en-GB" sz="3000" smtClean="0"/>
              <a:t>Useful sources</a:t>
            </a:r>
          </a:p>
        </p:txBody>
      </p:sp>
      <p:sp>
        <p:nvSpPr>
          <p:cNvPr id="12292" name="Rectangle 3"/>
          <p:cNvSpPr>
            <a:spLocks noGrp="1" noChangeArrowheads="1"/>
          </p:cNvSpPr>
          <p:nvPr>
            <p:ph type="body" idx="1"/>
          </p:nvPr>
        </p:nvSpPr>
        <p:spPr/>
        <p:txBody>
          <a:bodyPr/>
          <a:lstStyle/>
          <a:p>
            <a:pPr eaLnBrk="1" hangingPunct="1"/>
            <a:r>
              <a:rPr lang="en-GB" sz="2400" smtClean="0"/>
              <a:t>A full version of the report can be found at: </a:t>
            </a:r>
            <a:r>
              <a:rPr lang="en-GB" sz="2400" smtClean="0">
                <a:hlinkClick r:id="rId3"/>
              </a:rPr>
              <a:t>http://dipbt.bundestag.de/dip21/btd/12/078/1207820.pdf</a:t>
            </a:r>
            <a:r>
              <a:rPr lang="en-GB" sz="2400" smtClean="0"/>
              <a:t>. This presentation has focused primarily on the information outlined on pp. 5-6 and 279-283 of the report.</a:t>
            </a:r>
          </a:p>
          <a:p>
            <a:pPr eaLnBrk="1" hangingPunct="1"/>
            <a:endParaRPr lang="en-GB" sz="2400" smtClean="0"/>
          </a:p>
          <a:p>
            <a:pPr eaLnBrk="1" hangingPunct="1"/>
            <a:endParaRPr lang="en-GB" sz="2400" smtClean="0"/>
          </a:p>
        </p:txBody>
      </p:sp>
    </p:spTree>
  </p:cSld>
  <p:clrMapOvr>
    <a:masterClrMapping/>
  </p:clrMapOvr>
</p:sld>
</file>

<file path=ppt/theme/theme1.xml><?xml version="1.0" encoding="utf-8"?>
<a:theme xmlns:a="http://schemas.openxmlformats.org/drawingml/2006/main" name="Default Design">
  <a:themeElements>
    <a:clrScheme name="Default Design 14">
      <a:dk1>
        <a:srgbClr val="0033CC"/>
      </a:dk1>
      <a:lt1>
        <a:srgbClr val="FFFFFF"/>
      </a:lt1>
      <a:dk2>
        <a:srgbClr val="0033CC"/>
      </a:dk2>
      <a:lt2>
        <a:srgbClr val="FFFFFF"/>
      </a:lt2>
      <a:accent1>
        <a:srgbClr val="BBE0E3"/>
      </a:accent1>
      <a:accent2>
        <a:srgbClr val="333399"/>
      </a:accent2>
      <a:accent3>
        <a:srgbClr val="FFFFFF"/>
      </a:accent3>
      <a:accent4>
        <a:srgbClr val="002AAE"/>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33CC"/>
        </a:dk1>
        <a:lt1>
          <a:srgbClr val="CCECFF"/>
        </a:lt1>
        <a:dk2>
          <a:srgbClr val="0033CC"/>
        </a:dk2>
        <a:lt2>
          <a:srgbClr val="FFFFFF"/>
        </a:lt2>
        <a:accent1>
          <a:srgbClr val="BBE0E3"/>
        </a:accent1>
        <a:accent2>
          <a:srgbClr val="333399"/>
        </a:accent2>
        <a:accent3>
          <a:srgbClr val="E2F4FF"/>
        </a:accent3>
        <a:accent4>
          <a:srgbClr val="002AAE"/>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33CC"/>
        </a:dk1>
        <a:lt1>
          <a:srgbClr val="FFFFFF"/>
        </a:lt1>
        <a:dk2>
          <a:srgbClr val="0033CC"/>
        </a:dk2>
        <a:lt2>
          <a:srgbClr val="FFFFFF"/>
        </a:lt2>
        <a:accent1>
          <a:srgbClr val="BBE0E3"/>
        </a:accent1>
        <a:accent2>
          <a:srgbClr val="333399"/>
        </a:accent2>
        <a:accent3>
          <a:srgbClr val="FFFFFF"/>
        </a:accent3>
        <a:accent4>
          <a:srgbClr val="002AAE"/>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TotalTime>
  <Words>733</Words>
  <Application>Microsoft Office PowerPoint</Application>
  <PresentationFormat>On-screen Show (4:3)</PresentationFormat>
  <Paragraphs>77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Default Design</vt:lpstr>
      <vt:lpstr>‘Aufarbeitung von Geschichte und Folgen der SED-Diktatur in Deutschland’</vt:lpstr>
      <vt:lpstr>Presentation outline</vt:lpstr>
      <vt:lpstr>What is an Enquete-Kommission?</vt:lpstr>
      <vt:lpstr>The basics of the first Enquete-Kommission</vt:lpstr>
      <vt:lpstr>The aims of the first Enquete-Kommission (1)</vt:lpstr>
      <vt:lpstr>The aims of the first Enquete-Kommission (2)</vt:lpstr>
      <vt:lpstr>Outcomes of the first Enquete-Kommission (1)</vt:lpstr>
      <vt:lpstr>Outcomes of the first Enquete-Kommission (2)</vt:lpstr>
      <vt:lpstr>Outcomes of the first Enquete-Kommission (3)</vt:lpstr>
      <vt:lpstr>Outcomes of the first Enquete-Kommission (4)</vt:lpstr>
      <vt:lpstr>Useful sources</vt:lpstr>
    </vt:vector>
  </TitlesOfParts>
  <Company>University of Bath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‘Aufarbeitung von Geschichte und Folgen der SED-Diktatur in Deutschland’</dc:title>
  <dc:creator>ml1ch</dc:creator>
  <cp:lastModifiedBy>mls202</cp:lastModifiedBy>
  <cp:revision>21</cp:revision>
  <dcterms:created xsi:type="dcterms:W3CDTF">2011-07-19T11:17:52Z</dcterms:created>
  <dcterms:modified xsi:type="dcterms:W3CDTF">2011-11-24T14:01:52Z</dcterms:modified>
</cp:coreProperties>
</file>