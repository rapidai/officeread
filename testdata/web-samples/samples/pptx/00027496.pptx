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82" r:id="rId4"/>
    <p:sldId id="279" r:id="rId5"/>
    <p:sldId id="281" r:id="rId6"/>
    <p:sldId id="283" r:id="rId7"/>
    <p:sldId id="285" r:id="rId8"/>
    <p:sldId id="286" r:id="rId9"/>
    <p:sldId id="284" r:id="rId10"/>
    <p:sldId id="258" r:id="rId1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287"/>
    <a:srgbClr val="CC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>
        <p:scale>
          <a:sx n="100" d="100"/>
          <a:sy n="100" d="100"/>
        </p:scale>
        <p:origin x="-6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998CD655-806C-46B0-BB39-0883574938CD}" type="datetime1">
              <a:rPr lang="en-AU"/>
              <a:pPr>
                <a:defRPr/>
              </a:pPr>
              <a:t>12/05/2011</a:t>
            </a:fld>
            <a:endParaRPr lang="en-AU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 smtClean="0"/>
              <a:t>Click to edit Master text styles</a:t>
            </a:r>
          </a:p>
          <a:p>
            <a:pPr lvl="1"/>
            <a:r>
              <a:rPr lang="en-AU" noProof="0" smtClean="0"/>
              <a:t>Second level</a:t>
            </a:r>
          </a:p>
          <a:p>
            <a:pPr lvl="2"/>
            <a:r>
              <a:rPr lang="en-AU" noProof="0" smtClean="0"/>
              <a:t>Third level</a:t>
            </a:r>
          </a:p>
          <a:p>
            <a:pPr lvl="3"/>
            <a:r>
              <a:rPr lang="en-AU" noProof="0" smtClean="0"/>
              <a:t>Fourth level</a:t>
            </a:r>
          </a:p>
          <a:p>
            <a:pPr lvl="4"/>
            <a:r>
              <a:rPr lang="en-AU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A608E31B-C042-4E85-B5EB-12506A2C072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0D5C7-5948-4F57-AB0E-D5EC64E70B34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3756D-0840-41A4-A8CD-C8791CD1E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F620F-E073-41EB-A23D-E7C552531162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DECAC-6A7B-4A2C-B0DC-8C0CC7BABC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E528F-4FC1-4977-8C16-71779F872F72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890EB-7B37-4EDC-B6A8-80F83BE635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DAA55-DAA2-4CDB-9DF9-FDB6ECE509C1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AEC39-A42E-4630-A000-60C7641718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ABFB7-C09B-4B5A-9E6C-56FAA4040DC7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6550E-5489-4F30-B728-0E8E532CCD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966F3-7DBD-455A-B732-8C984759CC7E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8128C-6650-4E8C-A9BA-FFF686E11C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4C369-6711-404C-BF28-AA6FCF89364C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35DB9-104B-4345-AAD5-3000A370FB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44FD4-997A-41BA-8BD0-640AABBAD1E7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2B14-AD1D-4177-B62B-0AD8DF88B5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F17BA-A561-4FD9-9165-71115272C1AD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356BB-3ACA-48F5-BE0B-FD419E2EB9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820BB-FC4E-4245-AE46-1E3505EEA079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81DBB-BADE-4694-B17D-3CF12E36A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4BD1C-FEC8-4607-9D88-7A40ED23D413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87B3F-E1AA-4D8C-922B-31A54F6567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98B0"/>
                </a:solidFill>
              </a:defRPr>
            </a:lvl1pPr>
          </a:lstStyle>
          <a:p>
            <a:pPr>
              <a:defRPr/>
            </a:pPr>
            <a:fld id="{1AA86C61-CAE5-47B7-8F5B-1B06CE2379F6}" type="datetime1">
              <a:rPr lang="en-US"/>
              <a:pPr>
                <a:defRPr/>
              </a:pPr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98B0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98B0"/>
                </a:solidFill>
              </a:defRPr>
            </a:lvl1pPr>
          </a:lstStyle>
          <a:p>
            <a:pPr>
              <a:defRPr/>
            </a:pPr>
            <a:fld id="{D2E06F2D-8121-499C-9B92-D1F803EE1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107950" y="3068638"/>
            <a:ext cx="903605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endParaRPr lang="en-AU" sz="3600">
              <a:solidFill>
                <a:srgbClr val="CC0000"/>
              </a:solidFill>
              <a:latin typeface="Trebuchet MS" pitchFamily="34" charset="0"/>
            </a:endParaRPr>
          </a:p>
        </p:txBody>
      </p:sp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714375" y="3214688"/>
            <a:ext cx="8429625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14400"/>
            <a:endParaRPr lang="en-AU" sz="1000" b="1">
              <a:solidFill>
                <a:schemeClr val="bg2"/>
              </a:solidFill>
              <a:latin typeface="Trebuchet MS" pitchFamily="34" charset="0"/>
            </a:endParaRPr>
          </a:p>
        </p:txBody>
      </p:sp>
      <p:sp>
        <p:nvSpPr>
          <p:cNvPr id="2052" name="TextBox 3"/>
          <p:cNvSpPr txBox="1">
            <a:spLocks noChangeArrowheads="1"/>
          </p:cNvSpPr>
          <p:nvPr/>
        </p:nvSpPr>
        <p:spPr bwMode="auto">
          <a:xfrm>
            <a:off x="7429500" y="6611938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>
                <a:solidFill>
                  <a:schemeClr val="bg1"/>
                </a:solidFill>
              </a:rPr>
              <a:t>CRICOS No. 00213J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857250" y="4267200"/>
            <a:ext cx="8143875" cy="1295400"/>
          </a:xfrm>
        </p:spPr>
        <p:txBody>
          <a:bodyPr lIns="0" rIns="0" anchor="ctr"/>
          <a:lstStyle/>
          <a:p>
            <a:pPr algn="r" eaLnBrk="1" hangingPunct="1">
              <a:defRPr/>
            </a:pPr>
            <a:r>
              <a:rPr lang="en-US" sz="2000" dirty="0" smtClean="0">
                <a:solidFill>
                  <a:schemeClr val="tx1"/>
                </a:solidFill>
                <a:latin typeface="Cambria" pitchFamily="18" charset="0"/>
                <a:cs typeface="Arial" charset="0"/>
              </a:rPr>
              <a:t>Alexia Lennon, Barry Watson, Narelle Haworth, Ray Bingham</a:t>
            </a:r>
            <a:endParaRPr lang="en-US" sz="1500" dirty="0" smtClean="0">
              <a:solidFill>
                <a:schemeClr val="tx1"/>
              </a:solidFill>
              <a:latin typeface="Cambria" pitchFamily="18" charset="0"/>
              <a:cs typeface="Arial" charset="0"/>
            </a:endParaRPr>
          </a:p>
          <a:p>
            <a:pPr algn="r" eaLnBrk="1" hangingPunct="1">
              <a:defRPr/>
            </a:pPr>
            <a:r>
              <a:rPr lang="en-AU" sz="1400" dirty="0" smtClean="0">
                <a:latin typeface="Cambria" pitchFamily="18" charset="0"/>
              </a:rPr>
              <a:t>Directions in Road Safety Symposium</a:t>
            </a:r>
          </a:p>
          <a:p>
            <a:pPr algn="r" eaLnBrk="1" hangingPunct="1">
              <a:defRPr/>
            </a:pPr>
            <a:r>
              <a:rPr lang="en-AU" sz="1400" dirty="0" smtClean="0">
                <a:solidFill>
                  <a:schemeClr val="tx1"/>
                </a:solidFill>
                <a:latin typeface="Cambria" pitchFamily="18" charset="0"/>
                <a:cs typeface="Arial" charset="0"/>
              </a:rPr>
              <a:t>Adelaide May 2011</a:t>
            </a:r>
            <a:endParaRPr lang="en-US" sz="1800" dirty="0" smtClean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51520" y="2743200"/>
            <a:ext cx="8749605" cy="1981200"/>
          </a:xfrm>
        </p:spPr>
        <p:txBody>
          <a:bodyPr lIns="0" rIns="0"/>
          <a:lstStyle/>
          <a:p>
            <a:pPr algn="l" eaLnBrk="1" hangingPunct="1"/>
            <a:r>
              <a:rPr lang="en-US" sz="3600" dirty="0" smtClean="0">
                <a:solidFill>
                  <a:schemeClr val="tx2"/>
                </a:solidFill>
                <a:latin typeface="Cambria" pitchFamily="18" charset="0"/>
                <a:ea typeface="ＭＳ Ｐゴシック"/>
                <a:cs typeface="ＭＳ Ｐゴシック"/>
              </a:rPr>
              <a:t>Developing and testing a model of aggressive  driving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260648"/>
            <a:ext cx="7772400" cy="1470025"/>
          </a:xfrm>
        </p:spPr>
        <p:txBody>
          <a:bodyPr/>
          <a:lstStyle/>
          <a:p>
            <a:r>
              <a:rPr lang="en-AU" sz="4000" dirty="0" smtClean="0"/>
              <a:t>Current program of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1844824"/>
            <a:ext cx="8784976" cy="4320480"/>
          </a:xfrm>
        </p:spPr>
        <p:txBody>
          <a:bodyPr/>
          <a:lstStyle/>
          <a:p>
            <a:pPr marL="361950" indent="-361950" algn="l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5287"/>
                </a:solidFill>
              </a:rPr>
              <a:t> ARC Discovery funding 2011-2014</a:t>
            </a:r>
          </a:p>
          <a:p>
            <a:pPr marL="361950" indent="-361950" algn="l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5287"/>
                </a:solidFill>
              </a:rPr>
              <a:t> APAI PhD scholar appointed to the project (April)</a:t>
            </a:r>
          </a:p>
          <a:p>
            <a:pPr marL="361950" indent="-361950" algn="l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5287"/>
                </a:solidFill>
              </a:rPr>
              <a:t> 4 sub-studies</a:t>
            </a:r>
          </a:p>
          <a:p>
            <a:pPr marL="819150" lvl="1" indent="-361950" algn="l"/>
            <a:r>
              <a:rPr lang="en-US" sz="2400" dirty="0" smtClean="0">
                <a:solidFill>
                  <a:srgbClr val="005287"/>
                </a:solidFill>
              </a:rPr>
              <a:t>Study 1: Refining the model; </a:t>
            </a:r>
            <a:r>
              <a:rPr lang="en-US" sz="2400" dirty="0" err="1" smtClean="0">
                <a:solidFill>
                  <a:srgbClr val="005287"/>
                </a:solidFill>
              </a:rPr>
              <a:t>operationalising</a:t>
            </a:r>
            <a:r>
              <a:rPr lang="en-US" sz="2400" dirty="0" smtClean="0">
                <a:solidFill>
                  <a:srgbClr val="005287"/>
                </a:solidFill>
              </a:rPr>
              <a:t> variables(?)</a:t>
            </a:r>
          </a:p>
          <a:p>
            <a:pPr marL="819150" lvl="1" indent="-361950" algn="l"/>
            <a:r>
              <a:rPr lang="en-US" sz="2400" dirty="0" smtClean="0">
                <a:solidFill>
                  <a:srgbClr val="005287"/>
                </a:solidFill>
              </a:rPr>
              <a:t>Study 2: Testing the model</a:t>
            </a:r>
          </a:p>
          <a:p>
            <a:pPr marL="819150" lvl="1" indent="-361950" algn="l"/>
            <a:r>
              <a:rPr lang="en-US" sz="2400" dirty="0" smtClean="0">
                <a:solidFill>
                  <a:srgbClr val="005287"/>
                </a:solidFill>
              </a:rPr>
              <a:t>Study 3: Checking </a:t>
            </a:r>
            <a:r>
              <a:rPr lang="en-US" sz="2400" dirty="0" err="1" smtClean="0">
                <a:solidFill>
                  <a:srgbClr val="005287"/>
                </a:solidFill>
              </a:rPr>
              <a:t>operationalisation</a:t>
            </a:r>
            <a:r>
              <a:rPr lang="en-US" sz="2400" dirty="0" smtClean="0">
                <a:solidFill>
                  <a:srgbClr val="005287"/>
                </a:solidFill>
              </a:rPr>
              <a:t> and testing of model in simulated driving conditions</a:t>
            </a:r>
          </a:p>
          <a:p>
            <a:pPr marL="819150" lvl="1" indent="-361950" algn="l"/>
            <a:r>
              <a:rPr lang="en-US" sz="2400" dirty="0" smtClean="0">
                <a:solidFill>
                  <a:srgbClr val="005287"/>
                </a:solidFill>
              </a:rPr>
              <a:t>Study 4: Pilot study to examine external validity of model in semi-naturalistic conditions (instrumented vehicle data)</a:t>
            </a:r>
          </a:p>
          <a:p>
            <a:pPr marL="819150" lvl="1" indent="-361950" algn="l"/>
            <a:endParaRPr lang="en-US" sz="2400" dirty="0" smtClean="0">
              <a:solidFill>
                <a:srgbClr val="005287"/>
              </a:solidFill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model </a:t>
            </a:r>
            <a:endParaRPr lang="en-AU" dirty="0"/>
          </a:p>
        </p:txBody>
      </p:sp>
      <p:pic>
        <p:nvPicPr>
          <p:cNvPr id="4" name="Content Placeholder 3" descr="AGG-Dr-Model-figu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641" y="1340768"/>
            <a:ext cx="6266718" cy="4525963"/>
          </a:xfr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 smtClean="0"/>
              <a:t>Study 1: Refining the model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708525"/>
          </a:xfrm>
        </p:spPr>
        <p:txBody>
          <a:bodyPr/>
          <a:lstStyle/>
          <a:p>
            <a:pPr>
              <a:buNone/>
            </a:pPr>
            <a:r>
              <a:rPr lang="en-AU" sz="2400" dirty="0" smtClean="0"/>
              <a:t>Aims:</a:t>
            </a:r>
          </a:p>
          <a:p>
            <a:pPr>
              <a:buNone/>
            </a:pPr>
            <a:r>
              <a:rPr lang="en-AU" sz="2600" dirty="0" smtClean="0"/>
              <a:t>	</a:t>
            </a:r>
            <a:r>
              <a:rPr lang="en-AU" sz="2400" dirty="0" smtClean="0"/>
              <a:t>Examine cognitive, affective, &amp; appraisal processes components of model</a:t>
            </a:r>
          </a:p>
          <a:p>
            <a:pPr>
              <a:buNone/>
            </a:pPr>
            <a:r>
              <a:rPr lang="en-AU" sz="2400" dirty="0" smtClean="0"/>
              <a:t>	Explore function of aggressive driving behaviours</a:t>
            </a:r>
          </a:p>
          <a:p>
            <a:pPr>
              <a:buNone/>
            </a:pPr>
            <a:r>
              <a:rPr lang="en-AU" sz="2400" dirty="0" smtClean="0"/>
              <a:t>	Inform development of driving scenarios</a:t>
            </a:r>
          </a:p>
          <a:p>
            <a:pPr>
              <a:buNone/>
            </a:pPr>
            <a:r>
              <a:rPr lang="en-AU" sz="2400" dirty="0" smtClean="0"/>
              <a:t>Mixed methods design</a:t>
            </a:r>
          </a:p>
          <a:p>
            <a:pPr lvl="1">
              <a:buNone/>
            </a:pPr>
            <a:r>
              <a:rPr lang="en-AU" sz="2400" dirty="0" smtClean="0"/>
              <a:t>1A: driver diaries (n = 156); structured; 2 weeks of entries focussed on thoughts, emotions and conflict events as recipient &amp; perpetrator; </a:t>
            </a:r>
          </a:p>
          <a:p>
            <a:pPr lvl="1">
              <a:buNone/>
            </a:pPr>
            <a:r>
              <a:rPr lang="en-AU" sz="2400" dirty="0" smtClean="0"/>
              <a:t>	plus standardised instruments (</a:t>
            </a:r>
            <a:r>
              <a:rPr lang="en-AU" sz="2400" dirty="0" err="1" smtClean="0"/>
              <a:t>eg</a:t>
            </a:r>
            <a:r>
              <a:rPr lang="en-AU" sz="2400" dirty="0" smtClean="0"/>
              <a:t>. DAX; DAS)</a:t>
            </a:r>
          </a:p>
          <a:p>
            <a:pPr lvl="1">
              <a:buNone/>
            </a:pPr>
            <a:r>
              <a:rPr lang="en-AU" sz="2400" dirty="0" smtClean="0"/>
              <a:t>1B: follow-up interviews (drivers w high levels incidents)</a:t>
            </a:r>
            <a:endParaRPr lang="en-AU" sz="2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dirty="0" smtClean="0"/>
              <a:t>Anticipated outcomes:</a:t>
            </a:r>
          </a:p>
          <a:p>
            <a:pPr lvl="1">
              <a:buNone/>
            </a:pPr>
            <a:r>
              <a:rPr lang="en-AU" sz="2400" dirty="0" smtClean="0"/>
              <a:t>Better identification of trigger events, functions of aggressive driving behaviour</a:t>
            </a:r>
          </a:p>
          <a:p>
            <a:pPr lvl="1">
              <a:buNone/>
            </a:pPr>
            <a:endParaRPr lang="en-AU" sz="2400" dirty="0" smtClean="0"/>
          </a:p>
          <a:p>
            <a:pPr lvl="1">
              <a:buNone/>
            </a:pPr>
            <a:r>
              <a:rPr lang="en-AU" sz="2400" dirty="0" smtClean="0"/>
              <a:t>Identification of critical issues</a:t>
            </a:r>
          </a:p>
          <a:p>
            <a:pPr lvl="1">
              <a:buNone/>
            </a:pPr>
            <a:endParaRPr lang="en-AU" sz="2400" dirty="0" smtClean="0"/>
          </a:p>
          <a:p>
            <a:pPr lvl="1">
              <a:buNone/>
            </a:pPr>
            <a:r>
              <a:rPr lang="en-AU" sz="2400" dirty="0" smtClean="0"/>
              <a:t>Identification/verification of critical variables to include for later studies</a:t>
            </a:r>
          </a:p>
          <a:p>
            <a:pPr lvl="1">
              <a:buNone/>
            </a:pPr>
            <a:endParaRPr lang="en-AU" sz="2400" dirty="0" smtClean="0"/>
          </a:p>
          <a:p>
            <a:pPr lvl="1">
              <a:buNone/>
            </a:pPr>
            <a:r>
              <a:rPr lang="en-AU" sz="2400" dirty="0" smtClean="0"/>
              <a:t>Refinement of model</a:t>
            </a:r>
          </a:p>
          <a:p>
            <a:pPr lvl="1">
              <a:buNone/>
            </a:pPr>
            <a:endParaRPr lang="en-AU" sz="2400" dirty="0" smtClean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 smtClean="0"/>
              <a:t>Study 2: Internet survey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AU" sz="2400" dirty="0" smtClean="0"/>
              <a:t>Aims:</a:t>
            </a:r>
          </a:p>
          <a:p>
            <a:pPr lvl="1">
              <a:buNone/>
            </a:pPr>
            <a:r>
              <a:rPr lang="en-AU" sz="2200" dirty="0" smtClean="0"/>
              <a:t>Explore </a:t>
            </a:r>
            <a:r>
              <a:rPr lang="en-AU" sz="2200" dirty="0" err="1" smtClean="0"/>
              <a:t>generalisability</a:t>
            </a:r>
            <a:r>
              <a:rPr lang="en-AU" sz="2200" dirty="0" smtClean="0"/>
              <a:t> of model </a:t>
            </a:r>
          </a:p>
          <a:p>
            <a:pPr lvl="1">
              <a:buNone/>
            </a:pPr>
            <a:r>
              <a:rPr lang="en-AU" sz="2200" dirty="0" smtClean="0"/>
              <a:t>Refine model</a:t>
            </a:r>
          </a:p>
          <a:p>
            <a:pPr lvl="1">
              <a:buNone/>
            </a:pPr>
            <a:r>
              <a:rPr lang="en-AU" sz="2200" dirty="0" smtClean="0"/>
              <a:t>Address key issues</a:t>
            </a:r>
          </a:p>
          <a:p>
            <a:pPr>
              <a:buNone/>
            </a:pPr>
            <a:r>
              <a:rPr lang="en-AU" sz="2400" dirty="0" smtClean="0"/>
              <a:t>Method</a:t>
            </a:r>
          </a:p>
          <a:p>
            <a:pPr>
              <a:buNone/>
            </a:pPr>
            <a:r>
              <a:rPr lang="en-AU" sz="2200" dirty="0" smtClean="0"/>
              <a:t>Internet survey with video streaming of simulated driving scenarios</a:t>
            </a:r>
          </a:p>
          <a:p>
            <a:pPr>
              <a:buNone/>
            </a:pPr>
            <a:r>
              <a:rPr lang="en-AU" sz="2200" dirty="0" smtClean="0"/>
              <a:t>Seeking representative sample general driving pop n = 300</a:t>
            </a:r>
          </a:p>
          <a:p>
            <a:pPr>
              <a:buNone/>
            </a:pPr>
            <a:r>
              <a:rPr lang="en-AU" sz="2200" dirty="0" smtClean="0"/>
              <a:t>Variables: state/trait anger; hostility; anxiety; sensation seeking; anger expression (driving); driving history; emotional, cognitive and behavioural responses to vignettes</a:t>
            </a:r>
          </a:p>
          <a:p>
            <a:pPr>
              <a:buNone/>
            </a:pPr>
            <a:endParaRPr lang="en-AU" sz="2400" dirty="0" smtClean="0"/>
          </a:p>
          <a:p>
            <a:pPr>
              <a:buNone/>
            </a:pPr>
            <a:endParaRPr lang="en-AU" sz="2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AU" sz="2800" dirty="0" smtClean="0"/>
              <a:t>Anticipated outcomes</a:t>
            </a:r>
          </a:p>
          <a:p>
            <a:pPr lvl="1">
              <a:buNone/>
            </a:pPr>
            <a:r>
              <a:rPr lang="en-AU" sz="2400" dirty="0" smtClean="0"/>
              <a:t>Refinement of model </a:t>
            </a:r>
            <a:r>
              <a:rPr lang="en-AU" sz="2400" dirty="0" err="1" smtClean="0"/>
              <a:t>esp</a:t>
            </a:r>
            <a:r>
              <a:rPr lang="en-AU" sz="2400" dirty="0" smtClean="0"/>
              <a:t> cognitive/affective appraisal processes, functions of </a:t>
            </a:r>
            <a:r>
              <a:rPr lang="en-AU" sz="2400" dirty="0" err="1" smtClean="0"/>
              <a:t>AgDr</a:t>
            </a:r>
            <a:r>
              <a:rPr lang="en-AU" sz="2400" dirty="0" smtClean="0"/>
              <a:t>, attributions re other driver behaviour; </a:t>
            </a:r>
          </a:p>
          <a:p>
            <a:pPr lvl="1">
              <a:buNone/>
            </a:pPr>
            <a:r>
              <a:rPr lang="en-AU" sz="2400" dirty="0" smtClean="0"/>
              <a:t>Examine validity of model </a:t>
            </a:r>
          </a:p>
          <a:p>
            <a:pPr lvl="1">
              <a:buNone/>
            </a:pPr>
            <a:r>
              <a:rPr lang="en-AU" sz="2400" dirty="0" smtClean="0"/>
              <a:t>Identify/explore </a:t>
            </a:r>
            <a:r>
              <a:rPr lang="en-AU" sz="2400" dirty="0" err="1" smtClean="0"/>
              <a:t>mediational</a:t>
            </a:r>
            <a:r>
              <a:rPr lang="en-AU" sz="2400" dirty="0" smtClean="0"/>
              <a:t> role(?) of emotions/cognitions on self-reported behaviour</a:t>
            </a:r>
          </a:p>
          <a:p>
            <a:pPr lvl="1">
              <a:buNone/>
            </a:pPr>
            <a:r>
              <a:rPr lang="en-AU" sz="2400" dirty="0" smtClean="0"/>
              <a:t>Inform scenarios for Study 3</a:t>
            </a:r>
            <a:endParaRPr lang="en-AU" sz="2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 smtClean="0"/>
              <a:t>Study 3: Driving simulator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/>
          <a:lstStyle/>
          <a:p>
            <a:pPr>
              <a:buNone/>
            </a:pPr>
            <a:r>
              <a:rPr lang="en-AU" sz="2800" dirty="0" smtClean="0"/>
              <a:t>Aims</a:t>
            </a:r>
          </a:p>
          <a:p>
            <a:pPr>
              <a:buNone/>
            </a:pPr>
            <a:r>
              <a:rPr lang="en-AU" sz="2400" dirty="0" smtClean="0"/>
              <a:t>In depth refinement and testing of specific components of model in more real world conditions </a:t>
            </a:r>
          </a:p>
          <a:p>
            <a:pPr>
              <a:buNone/>
            </a:pPr>
            <a:r>
              <a:rPr lang="en-AU" sz="2400" dirty="0" smtClean="0"/>
              <a:t>Examine relationship victimisation/perpetration by focus on perceptions of other driver intent</a:t>
            </a:r>
          </a:p>
          <a:p>
            <a:pPr>
              <a:buNone/>
            </a:pPr>
            <a:r>
              <a:rPr lang="en-AU" sz="2800" dirty="0" smtClean="0"/>
              <a:t>Method</a:t>
            </a:r>
          </a:p>
          <a:p>
            <a:pPr>
              <a:buNone/>
            </a:pPr>
            <a:r>
              <a:rPr lang="en-AU" sz="2400" dirty="0" smtClean="0"/>
              <a:t>Advanced driving simulator; small sample (n =78)</a:t>
            </a:r>
          </a:p>
          <a:p>
            <a:pPr>
              <a:buNone/>
            </a:pPr>
            <a:r>
              <a:rPr lang="en-AU" sz="2400" dirty="0" smtClean="0"/>
              <a:t>Standardised instruments; 20-30 min simulated drive; interviews to recall internal experiences assoc w key events </a:t>
            </a:r>
          </a:p>
          <a:p>
            <a:pPr>
              <a:buNone/>
            </a:pPr>
            <a:r>
              <a:rPr lang="en-AU" sz="2400" dirty="0" smtClean="0"/>
              <a:t>Categorise perceptions of ‘other driver’ intent</a:t>
            </a:r>
          </a:p>
          <a:p>
            <a:pPr>
              <a:buNone/>
            </a:pPr>
            <a:endParaRPr lang="en-AU" sz="2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Unresolved issues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Recruitment</a:t>
            </a:r>
          </a:p>
          <a:p>
            <a:r>
              <a:rPr lang="en-AU" dirty="0" smtClean="0"/>
              <a:t>Representativeness</a:t>
            </a:r>
          </a:p>
          <a:p>
            <a:r>
              <a:rPr lang="en-AU" dirty="0" err="1" smtClean="0"/>
              <a:t>Operationalisation</a:t>
            </a:r>
            <a:endParaRPr lang="en-AU" dirty="0" smtClean="0"/>
          </a:p>
          <a:p>
            <a:r>
              <a:rPr lang="en-AU" dirty="0" smtClean="0"/>
              <a:t>Validity</a:t>
            </a:r>
            <a:endParaRPr lang="en-AU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000660"/>
          </a:xfrm>
        </p:spPr>
        <p:txBody>
          <a:bodyPr/>
          <a:lstStyle/>
          <a:p>
            <a:pPr algn="ctr">
              <a:buNone/>
            </a:pPr>
            <a:endParaRPr lang="en-AU" dirty="0" smtClean="0"/>
          </a:p>
          <a:p>
            <a:pPr algn="ctr">
              <a:buNone/>
            </a:pPr>
            <a:endParaRPr lang="en-AU" dirty="0" smtClean="0"/>
          </a:p>
          <a:p>
            <a:pPr algn="ctr">
              <a:buNone/>
            </a:pPr>
            <a:r>
              <a:rPr lang="en-AU" sz="2400" b="1" i="1" dirty="0" smtClean="0"/>
              <a:t>Mark </a:t>
            </a:r>
            <a:r>
              <a:rPr lang="en-AU" sz="2400" b="1" i="1" dirty="0" smtClean="0"/>
              <a:t>your Diaries!</a:t>
            </a:r>
          </a:p>
          <a:p>
            <a:pPr algn="ctr">
              <a:buNone/>
            </a:pPr>
            <a:r>
              <a:rPr lang="en-AU" sz="2400" i="1" dirty="0" smtClean="0"/>
              <a:t>10</a:t>
            </a:r>
            <a:r>
              <a:rPr lang="en-AU" sz="2400" i="1" baseline="30000" dirty="0" smtClean="0"/>
              <a:t>th</a:t>
            </a:r>
            <a:r>
              <a:rPr lang="en-AU" sz="2400" i="1" dirty="0" smtClean="0"/>
              <a:t> National Injury Prevention &amp; Safety Promotion Conference, Brisbane</a:t>
            </a:r>
          </a:p>
          <a:p>
            <a:pPr algn="ctr">
              <a:buNone/>
            </a:pPr>
            <a:r>
              <a:rPr lang="en-AU" sz="2400" i="1" dirty="0" smtClean="0"/>
              <a:t>November 2-4</a:t>
            </a:r>
            <a:r>
              <a:rPr lang="en-AU" sz="2400" i="1" baseline="30000" dirty="0" smtClean="0"/>
              <a:t>th</a:t>
            </a:r>
            <a:r>
              <a:rPr lang="en-AU" sz="2400" i="1" dirty="0" smtClean="0"/>
              <a:t> 2011, </a:t>
            </a:r>
          </a:p>
          <a:p>
            <a:pPr algn="ctr">
              <a:buNone/>
            </a:pPr>
            <a:r>
              <a:rPr lang="en-AU" sz="2000" i="1" dirty="0" smtClean="0"/>
              <a:t>Brisbane Convention and Exhibition Centre</a:t>
            </a:r>
            <a:endParaRPr lang="en-AU" sz="2000" i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rgbClr val="005287"/>
      </a:dk1>
      <a:lt1>
        <a:sysClr val="window" lastClr="FFFFFF"/>
      </a:lt1>
      <a:dk2>
        <a:srgbClr val="CD1140"/>
      </a:dk2>
      <a:lt2>
        <a:srgbClr val="FFFFFF"/>
      </a:lt2>
      <a:accent1>
        <a:srgbClr val="CD1140"/>
      </a:accent1>
      <a:accent2>
        <a:srgbClr val="E2C5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D1140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1382</TotalTime>
  <Words>345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Developing and testing a model of aggressive  driving</vt:lpstr>
      <vt:lpstr>Current program of research</vt:lpstr>
      <vt:lpstr>The model </vt:lpstr>
      <vt:lpstr>Study 1: Refining the model</vt:lpstr>
      <vt:lpstr>Slide 5</vt:lpstr>
      <vt:lpstr>Study 2: Internet survey</vt:lpstr>
      <vt:lpstr>Slide 7</vt:lpstr>
      <vt:lpstr>Study 3: Driving simulator</vt:lpstr>
      <vt:lpstr>Unresolved issues</vt:lpstr>
      <vt:lpstr>Slide 10</vt:lpstr>
    </vt:vector>
  </TitlesOfParts>
  <Company>Evans and Hartshorn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Meredith Evans</dc:creator>
  <cp:lastModifiedBy>lennona</cp:lastModifiedBy>
  <cp:revision>127</cp:revision>
  <dcterms:created xsi:type="dcterms:W3CDTF">2009-02-16T00:16:40Z</dcterms:created>
  <dcterms:modified xsi:type="dcterms:W3CDTF">2011-05-12T11:54:38Z</dcterms:modified>
</cp:coreProperties>
</file>