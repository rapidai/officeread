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  <p:sldMasterId id="2147483666" r:id="rId2"/>
  </p:sldMasterIdLst>
  <p:notesMasterIdLst>
    <p:notesMasterId r:id="rId28"/>
  </p:notesMasterIdLst>
  <p:handoutMasterIdLst>
    <p:handoutMasterId r:id="rId29"/>
  </p:handoutMasterIdLst>
  <p:sldIdLst>
    <p:sldId id="256" r:id="rId3"/>
    <p:sldId id="258" r:id="rId4"/>
    <p:sldId id="257" r:id="rId5"/>
    <p:sldId id="273" r:id="rId6"/>
    <p:sldId id="276" r:id="rId7"/>
    <p:sldId id="284" r:id="rId8"/>
    <p:sldId id="285" r:id="rId9"/>
    <p:sldId id="286" r:id="rId10"/>
    <p:sldId id="287" r:id="rId11"/>
    <p:sldId id="275" r:id="rId12"/>
    <p:sldId id="283" r:id="rId13"/>
    <p:sldId id="260" r:id="rId14"/>
    <p:sldId id="277" r:id="rId15"/>
    <p:sldId id="261" r:id="rId16"/>
    <p:sldId id="262" r:id="rId17"/>
    <p:sldId id="263" r:id="rId18"/>
    <p:sldId id="279" r:id="rId19"/>
    <p:sldId id="267" r:id="rId20"/>
    <p:sldId id="269" r:id="rId21"/>
    <p:sldId id="280" r:id="rId22"/>
    <p:sldId id="270" r:id="rId23"/>
    <p:sldId id="281" r:id="rId24"/>
    <p:sldId id="271" r:id="rId25"/>
    <p:sldId id="272" r:id="rId26"/>
    <p:sldId id="282" r:id="rId27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00"/>
    <a:srgbClr val="3A3A3A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7" d="100"/>
          <a:sy n="77" d="100"/>
        </p:scale>
        <p:origin x="-870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12863-8D74-4B7A-B796-DD5F306A8C89}" type="datetimeFigureOut">
              <a:rPr lang="en-US" smtClean="0"/>
              <a:t>10/22/2012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287A5-00D0-4250-BC4F-75AAB29DB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8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63584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64" name="Shape 1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8" name="Shape 12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to see if students would advance to Level 4 - Pressure!</a:t>
            </a:r>
          </a:p>
          <a:p>
            <a:endParaRPr lang="en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Shape 14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 sz="1100"/>
              <a:t>		 	 	 		</a:t>
            </a:r>
          </a:p>
          <a:p>
            <a:pPr lvl="0" rtl="0">
              <a:buNone/>
            </a:pPr>
            <a:r>
              <a:rPr lang="en" sz="2200"/>
              <a:t>Brown,H.D.&amp;Abeywickrama,P. (2010). LanguageAssessment: Principles and classroom practices (2nd ed). Pearson Longman. </a:t>
            </a:r>
          </a:p>
          <a:p>
            <a:endParaRPr lang="en" sz="2200"/>
          </a:p>
        </p:txBody>
      </p:sp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Valid, Washback, Reliable, Authentic, Practical</a:t>
            </a:r>
          </a:p>
          <a:p>
            <a:endParaRPr lang="en"/>
          </a:p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Theoretical Framework: </a:t>
            </a:r>
          </a:p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 principles of assessment: T</a:t>
            </a:r>
          </a:p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	placement</a:t>
            </a:r>
          </a:p>
          <a:p>
            <a:pPr lvl="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 diagnostics</a:t>
            </a:r>
          </a:p>
          <a:p>
            <a:pPr lvl="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evaluation</a:t>
            </a:r>
          </a:p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benchmarks </a:t>
            </a:r>
          </a:p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need exemplars</a:t>
            </a:r>
          </a:p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need more interaction and practice with different levels of students</a:t>
            </a:r>
          </a:p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observing testing, testing and being tested on your testing</a:t>
            </a:r>
          </a:p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becoming familiar with the languaging around testing and rubrics</a:t>
            </a:r>
          </a:p>
          <a:p>
            <a:pPr marL="342900" lvl="0" indent="-222250" rtl="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quick training in IELTS, CLB, CEFR</a:t>
            </a:r>
          </a:p>
          <a:p>
            <a:pPr marL="342900" lvl="0" indent="-222250">
              <a:spcBef>
                <a:spcPts val="640"/>
              </a:spcBef>
              <a:buClr>
                <a:srgbClr val="000000"/>
              </a:buClr>
              <a:buSzPct val="110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Can Do checklists!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75" name="Shape 17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4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31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marL="742950" indent="-285750" rtl="0">
              <a:defRPr/>
            </a:lvl2pPr>
            <a:lvl3pPr marL="1143000" indent="-228600" rtl="0">
              <a:defRPr/>
            </a:lvl3pPr>
            <a:lvl4pPr marL="1600200" indent="-228600"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69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1pPr>
            <a:lvl2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4pPr>
            <a:lvl5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7pPr>
            <a:lvl8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ll dir="r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" type="obj">
  <p:cSld name="obj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222250" algn="l" rtl="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3746426"/>
      </p:ext>
    </p:extLst>
  </p:cSld>
  <p:clrMapOvr>
    <a:masterClrMapping/>
  </p:clrMapOvr>
  <p:transition spd="slow">
    <p:pull dir="r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rtl="0">
              <a:defRPr/>
            </a:lvl2pPr>
            <a:lvl3pPr marL="0" marR="0" indent="0" algn="l" rtl="0">
              <a:defRPr/>
            </a:lvl3pPr>
            <a:lvl4pPr marL="0" marR="0" indent="0" algn="l" rtl="0">
              <a:defRPr/>
            </a:lvl4pPr>
            <a:lvl5pPr marL="0" marR="0" indent="0" algn="l" rtl="0">
              <a:defRPr/>
            </a:lvl5pPr>
            <a:lvl6pPr marL="0" marR="0" indent="0" algn="l" rtl="0">
              <a:defRPr/>
            </a:lvl6pPr>
            <a:lvl7pPr marL="0" marR="0" indent="0" algn="l" rtl="0">
              <a:defRPr/>
            </a:lvl7pPr>
            <a:lvl8pPr marL="0" marR="0" indent="0" algn="l" rtl="0">
              <a:defRPr/>
            </a:lvl8pPr>
            <a:lvl9pPr marL="0" marR="0" indent="0" algn="l" rtl="0"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640"/>
              </a:spcBef>
              <a:buClr>
                <a:srgbClr val="888888"/>
              </a:buClr>
              <a:buFont typeface="Calibri"/>
              <a:buNone/>
              <a:defRPr sz="3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ctr" rtl="0">
              <a:spcBef>
                <a:spcPts val="560"/>
              </a:spcBef>
              <a:buClr>
                <a:srgbClr val="888888"/>
              </a:buClr>
              <a:buFont typeface="Calibri"/>
              <a:buNone/>
              <a:defRPr sz="28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ctr" rtl="0">
              <a:spcBef>
                <a:spcPts val="480"/>
              </a:spcBef>
              <a:buClr>
                <a:srgbClr val="888888"/>
              </a:buClr>
              <a:buFont typeface="Calibri"/>
              <a:buNone/>
              <a:defRPr sz="24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" userDrawn="1">
  <p:cSld name="obj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600201"/>
            <a:ext cx="8229600" cy="19008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577850" indent="-457200" algn="l" rtl="0">
              <a:spcBef>
                <a:spcPts val="640"/>
              </a:spcBef>
              <a:buClr>
                <a:schemeClr val="dk1"/>
              </a:buClr>
              <a:buFont typeface="Arial" pitchFamily="34" charset="0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 smtClean="0"/>
              <a:t>First</a:t>
            </a:r>
          </a:p>
          <a:p>
            <a:pPr lvl="1"/>
            <a:r>
              <a:rPr lang="en-US" dirty="0" smtClean="0"/>
              <a:t>Second</a:t>
            </a:r>
          </a:p>
          <a:p>
            <a:pPr lvl="2"/>
            <a:r>
              <a:rPr lang="en-US" dirty="0" smtClean="0"/>
              <a:t> third</a:t>
            </a:r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36"/>
          <p:cNvSpPr txBox="1">
            <a:spLocks noGrp="1"/>
          </p:cNvSpPr>
          <p:nvPr>
            <p:ph type="body" idx="13" hasCustomPrompt="1"/>
          </p:nvPr>
        </p:nvSpPr>
        <p:spPr>
          <a:xfrm>
            <a:off x="457200" y="3789040"/>
            <a:ext cx="8229600" cy="233712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577850" indent="-457200" algn="l" rtl="0">
              <a:spcBef>
                <a:spcPts val="640"/>
              </a:spcBef>
              <a:buClr>
                <a:schemeClr val="dk1"/>
              </a:buClr>
              <a:buFont typeface="Arial" pitchFamily="34" charset="0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 smtClean="0"/>
              <a:t>First</a:t>
            </a:r>
          </a:p>
          <a:p>
            <a:pPr lvl="1"/>
            <a:r>
              <a:rPr lang="en-US" dirty="0" smtClean="0"/>
              <a:t>Second</a:t>
            </a:r>
          </a:p>
          <a:p>
            <a:pPr lvl="2"/>
            <a:r>
              <a:rPr lang="en-US" dirty="0" smtClean="0"/>
              <a:t> third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1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7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8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Head" type="secHead">
  <p:cSld name="secHead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defRPr sz="4000" b="1" cap="small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Clr>
                <a:srgbClr val="888888"/>
              </a:buClr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457200" indent="0" rtl="0">
              <a:buClr>
                <a:srgbClr val="888888"/>
              </a:buClr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marL="914400" indent="0" rtl="0"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marL="1371600" indent="0" rtl="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marL="1828800" indent="0" rtl="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marL="2286000" indent="0" rtl="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marL="2743200" indent="0" rtl="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marL="3200400" indent="0" rtl="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marL="3657600" indent="0" rtl="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Obj" type="twoObj">
  <p:cSld name="twoObj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TxTwoObj" type="twoTxTwoObj">
  <p:cSld name="twoTxTwoObj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Calibri"/>
              <a:buNone/>
              <a:defRPr sz="2400" b="1"/>
            </a:lvl1pPr>
            <a:lvl2pPr marL="457200" indent="0" rtl="0">
              <a:buFont typeface="Calibri"/>
              <a:buNone/>
              <a:defRPr sz="2000" b="1"/>
            </a:lvl2pPr>
            <a:lvl3pPr marL="914400" indent="0" rtl="0">
              <a:buFont typeface="Calibri"/>
              <a:buNone/>
              <a:defRPr sz="1800" b="1"/>
            </a:lvl3pPr>
            <a:lvl4pPr marL="1371600" indent="0" rtl="0">
              <a:buFont typeface="Calibri"/>
              <a:buNone/>
              <a:defRPr sz="1600" b="1"/>
            </a:lvl4pPr>
            <a:lvl5pPr marL="1828800" indent="0" rtl="0">
              <a:buFont typeface="Calibri"/>
              <a:buNone/>
              <a:defRPr sz="1600" b="1"/>
            </a:lvl5pPr>
            <a:lvl6pPr marL="2286000" indent="0" rtl="0">
              <a:buFont typeface="Calibri"/>
              <a:buNone/>
              <a:defRPr sz="1600" b="1"/>
            </a:lvl6pPr>
            <a:lvl7pPr marL="2743200" indent="0" rtl="0">
              <a:buFont typeface="Calibri"/>
              <a:buNone/>
              <a:defRPr sz="1600" b="1"/>
            </a:lvl7pPr>
            <a:lvl8pPr marL="3200400" indent="0" rtl="0">
              <a:buFont typeface="Calibri"/>
              <a:buNone/>
              <a:defRPr sz="1600" b="1"/>
            </a:lvl8pPr>
            <a:lvl9pPr marL="3657600" indent="0" rtl="0"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Calibri"/>
              <a:buNone/>
              <a:defRPr sz="2400" b="1"/>
            </a:lvl1pPr>
            <a:lvl2pPr marL="457200" indent="0" rtl="0">
              <a:buFont typeface="Calibri"/>
              <a:buNone/>
              <a:defRPr sz="2000" b="1"/>
            </a:lvl2pPr>
            <a:lvl3pPr marL="914400" indent="0" rtl="0">
              <a:buFont typeface="Calibri"/>
              <a:buNone/>
              <a:defRPr sz="1800" b="1"/>
            </a:lvl3pPr>
            <a:lvl4pPr marL="1371600" indent="0" rtl="0">
              <a:buFont typeface="Calibri"/>
              <a:buNone/>
              <a:defRPr sz="1600" b="1"/>
            </a:lvl4pPr>
            <a:lvl5pPr marL="1828800" indent="0" rtl="0">
              <a:buFont typeface="Calibri"/>
              <a:buNone/>
              <a:defRPr sz="1600" b="1"/>
            </a:lvl5pPr>
            <a:lvl6pPr marL="2286000" indent="0" rtl="0">
              <a:buFont typeface="Calibri"/>
              <a:buNone/>
              <a:defRPr sz="1600" b="1"/>
            </a:lvl6pPr>
            <a:lvl7pPr marL="2743200" indent="0" rtl="0">
              <a:buFont typeface="Calibri"/>
              <a:buNone/>
              <a:defRPr sz="1600" b="1"/>
            </a:lvl7pPr>
            <a:lvl8pPr marL="3200400" indent="0" rtl="0">
              <a:buFont typeface="Calibri"/>
              <a:buNone/>
              <a:defRPr sz="1600" b="1"/>
            </a:lvl8pPr>
            <a:lvl9pPr marL="3657600" indent="0" rtl="0"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Tx" type="objTx">
  <p:cSld name="objTx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20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3200"/>
            </a:lvl1pPr>
            <a:lvl2pPr rtl="0">
              <a:defRPr sz="2800"/>
            </a:lvl2pPr>
            <a:lvl3pPr rtl="0">
              <a:defRPr sz="2400"/>
            </a:lvl3pPr>
            <a:lvl4pPr rtl="0">
              <a:defRPr sz="2000"/>
            </a:lvl4pPr>
            <a:lvl5pPr rtl="0">
              <a:defRPr sz="2000"/>
            </a:lvl5pPr>
            <a:lvl6pPr rtl="0">
              <a:defRPr sz="2000"/>
            </a:lvl6pPr>
            <a:lvl7pPr rtl="0">
              <a:defRPr sz="2000"/>
            </a:lvl7pPr>
            <a:lvl8pPr rtl="0">
              <a:defRPr sz="2000"/>
            </a:lvl8pPr>
            <a:lvl9pPr rtl="0">
              <a:defRPr sz="2000"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buFont typeface="Calibri"/>
              <a:buNone/>
              <a:defRPr sz="1400"/>
            </a:lvl1pPr>
            <a:lvl2pPr marL="457200" indent="0" rtl="0">
              <a:buFont typeface="Calibri"/>
              <a:buNone/>
              <a:defRPr sz="1200"/>
            </a:lvl2pPr>
            <a:lvl3pPr marL="914400" indent="0" rtl="0">
              <a:buFont typeface="Calibri"/>
              <a:buNone/>
              <a:defRPr sz="1000"/>
            </a:lvl3pPr>
            <a:lvl4pPr marL="1371600" indent="0" rtl="0">
              <a:buFont typeface="Calibri"/>
              <a:buNone/>
              <a:defRPr sz="900"/>
            </a:lvl4pPr>
            <a:lvl5pPr marL="1828800" indent="0" rtl="0">
              <a:buFont typeface="Calibri"/>
              <a:buNone/>
              <a:defRPr sz="900"/>
            </a:lvl5pPr>
            <a:lvl6pPr marL="2286000" indent="0" rtl="0">
              <a:buFont typeface="Calibri"/>
              <a:buNone/>
              <a:defRPr sz="900"/>
            </a:lvl6pPr>
            <a:lvl7pPr marL="2743200" indent="0" rtl="0">
              <a:buFont typeface="Calibri"/>
              <a:buNone/>
              <a:defRPr sz="900"/>
            </a:lvl7pPr>
            <a:lvl8pPr marL="3200400" indent="0" rtl="0">
              <a:buFont typeface="Calibri"/>
              <a:buNone/>
              <a:defRPr sz="900"/>
            </a:lvl8pPr>
            <a:lvl9pPr marL="3657600" indent="0" rtl="0"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x" type="picTx">
  <p:cSld name="picTx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20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buClr>
                <a:srgbClr val="888888"/>
              </a:buClr>
              <a:buFont typeface="Calibri"/>
              <a:buNone/>
              <a:defRPr sz="3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buClr>
                <a:schemeClr val="dk1"/>
              </a:buClr>
              <a:buFont typeface="Calibri"/>
              <a:buNone/>
              <a:defRPr sz="2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buClr>
                <a:schemeClr val="dk1"/>
              </a:buClr>
              <a:buFont typeface="Calibri"/>
              <a:buNone/>
              <a:defRPr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buFont typeface="Calibri"/>
              <a:buNone/>
              <a:defRPr sz="1400"/>
            </a:lvl1pPr>
            <a:lvl2pPr marL="457200" indent="0" rtl="0">
              <a:buFont typeface="Calibri"/>
              <a:buNone/>
              <a:defRPr sz="1200"/>
            </a:lvl2pPr>
            <a:lvl3pPr marL="914400" indent="0" rtl="0">
              <a:buFont typeface="Calibri"/>
              <a:buNone/>
              <a:defRPr sz="1000"/>
            </a:lvl3pPr>
            <a:lvl4pPr marL="1371600" indent="0" rtl="0">
              <a:buFont typeface="Calibri"/>
              <a:buNone/>
              <a:defRPr sz="900"/>
            </a:lvl4pPr>
            <a:lvl5pPr marL="1828800" indent="0" rtl="0">
              <a:buFont typeface="Calibri"/>
              <a:buNone/>
              <a:defRPr sz="900"/>
            </a:lvl5pPr>
            <a:lvl6pPr marL="2286000" indent="0" rtl="0">
              <a:buFont typeface="Calibri"/>
              <a:buNone/>
              <a:defRPr sz="900"/>
            </a:lvl6pPr>
            <a:lvl7pPr marL="2743200" indent="0" rtl="0">
              <a:buFont typeface="Calibri"/>
              <a:buNone/>
              <a:defRPr sz="900"/>
            </a:lvl7pPr>
            <a:lvl8pPr marL="3200400" indent="0" rtl="0">
              <a:buFont typeface="Calibri"/>
              <a:buNone/>
              <a:defRPr sz="900"/>
            </a:lvl8pPr>
            <a:lvl9pPr marL="3657600" indent="0" rtl="0"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x" type="vertTx">
  <p:cSld name="vertTx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222250" algn="l" rtl="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itleAndTx" type="vertTitleAndTx">
  <p:cSld name="vertTitleAndTx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222250" algn="l" rtl="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" type="obj">
  <p:cSld name="1_obj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222250" algn="l" rtl="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829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l" rtl="0">
              <a:spcBef>
                <a:spcPts val="600"/>
              </a:spcBef>
              <a:buClr>
                <a:schemeClr val="dk1"/>
              </a:buClr>
              <a:buSzPct val="166666"/>
              <a:buFont typeface="Arial"/>
              <a:buChar char="•"/>
              <a:defRPr sz="3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indent="-285750" algn="l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indent="-228600" algn="l" rtl="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indent="-228600" algn="l" rtl="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indent="-228600" algn="l" rtl="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67" r:id="rId7"/>
  </p:sldLayoutIdLst>
  <p:transition spd="slow">
    <p:pull dir="rd"/>
  </p:transition>
  <p:timing>
    <p:tnLst>
      <p:par>
        <p:cTn id="1" dur="indefinite" restart="never" nodeType="tmRoot"/>
      </p:par>
    </p:tnLst>
  </p:timing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rtl="0">
              <a:defRPr/>
            </a:lvl2pPr>
            <a:lvl3pPr marL="0" marR="0" indent="0" algn="l" rtl="0">
              <a:defRPr/>
            </a:lvl3pPr>
            <a:lvl4pPr marL="0" marR="0" indent="0" algn="l" rtl="0">
              <a:defRPr/>
            </a:lvl4pPr>
            <a:lvl5pPr marL="0" marR="0" indent="0" algn="l" rtl="0">
              <a:defRPr/>
            </a:lvl5pPr>
            <a:lvl6pPr marL="0" marR="0" indent="0" algn="l" rtl="0">
              <a:defRPr/>
            </a:lvl6pPr>
            <a:lvl7pPr marL="0" marR="0" indent="0" algn="l" rtl="0">
              <a:defRPr/>
            </a:lvl7pPr>
            <a:lvl8pPr marL="0" marR="0" indent="0" algn="l" rtl="0">
              <a:defRPr/>
            </a:lvl8pPr>
            <a:lvl9pPr marL="0" marR="0" indent="0" algn="l" rtl="0">
              <a:defRPr/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222250" algn="l" rtl="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1BCA0EF-3009-4058-B15A-70A33B0CAAB1}" type="slidenum">
              <a:rPr lang="en-US" smtClean="0"/>
              <a:t>‹#›</a:t>
            </a:fld>
            <a:endParaRPr dirty="0"/>
          </a:p>
        </p:txBody>
      </p:sp>
      <p:sp>
        <p:nvSpPr>
          <p:cNvPr id="26" name="Shape 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70" r:id="rId3"/>
    <p:sldLayoutId id="2147483669" r:id="rId4"/>
    <p:sldLayoutId id="2147483668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71" r:id="rId15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ebookbrowse.com/tesol-grammaring-larsen-freeman-may2008-final-pdf-d134981911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C:\Users\Sung\Desktop\TSL Canada\Main.jpg"/>
          <p:cNvPicPr>
            <a:picLocks noChangeAspect="1" noChangeArrowheads="1"/>
          </p:cNvPicPr>
          <p:nvPr/>
        </p:nvPicPr>
        <p:blipFill>
          <a:blip r:embed="rId3"/>
          <a:srcRect t="3125" r="904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99" name="Shape 99"/>
          <p:cNvSpPr txBox="1">
            <a:spLocks noGrp="1"/>
          </p:cNvSpPr>
          <p:nvPr>
            <p:ph type="subTitle" idx="1"/>
          </p:nvPr>
        </p:nvSpPr>
        <p:spPr>
          <a:xfrm>
            <a:off x="1285852" y="3610049"/>
            <a:ext cx="6400799" cy="547838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>
              <a:lnSpc>
                <a:spcPct val="250000"/>
              </a:lnSpc>
              <a:spcBef>
                <a:spcPts val="400"/>
              </a:spcBef>
              <a:buClr>
                <a:srgbClr val="006600"/>
              </a:buClr>
              <a:buSzPct val="25000"/>
            </a:pPr>
            <a:r>
              <a:rPr lang="en" sz="1400" dirty="0">
                <a:solidFill>
                  <a:schemeClr val="tx1"/>
                </a:solidFill>
              </a:rPr>
              <a:t>Karen Densky, TRU &amp; Kimberly Bare, TRU</a:t>
            </a:r>
          </a:p>
          <a:p>
            <a:pPr marL="0" marR="0" lvl="0" indent="0" rtl="0">
              <a:lnSpc>
                <a:spcPct val="250000"/>
              </a:lnSpc>
              <a:spcBef>
                <a:spcPts val="400"/>
              </a:spcBef>
              <a:buClr>
                <a:srgbClr val="006600"/>
              </a:buClr>
              <a:buSzPct val="25000"/>
            </a:pPr>
            <a:r>
              <a:rPr lang="en" sz="1400" b="0" i="0" u="none" strike="noStrike" cap="none" baseline="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Laura </a:t>
            </a:r>
            <a:r>
              <a:rPr lang="en" sz="1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Blumenthal, DC</a:t>
            </a:r>
            <a:r>
              <a:rPr lang="en" sz="1400" dirty="0">
                <a:solidFill>
                  <a:schemeClr val="tx1"/>
                </a:solidFill>
              </a:rPr>
              <a:t>, Elina Supataeva, SUCCESS, &amp; Kelsey Ehler, EPIK</a:t>
            </a:r>
          </a:p>
          <a:p>
            <a:pPr>
              <a:lnSpc>
                <a:spcPct val="250000"/>
              </a:lnSpc>
              <a:spcBef>
                <a:spcPts val="400"/>
              </a:spcBef>
              <a:buClr>
                <a:srgbClr val="006600"/>
              </a:buClr>
              <a:buSzPct val="25000"/>
            </a:pPr>
            <a:r>
              <a:rPr lang="en" sz="1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Karen </a:t>
            </a:r>
            <a:r>
              <a:rPr lang="en" sz="1400" b="0" i="0" u="none" strike="noStrike" cap="none" baseline="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Rauser</a:t>
            </a:r>
            <a:r>
              <a:rPr lang="en" sz="1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400" dirty="0">
                <a:solidFill>
                  <a:schemeClr val="tx1"/>
                </a:solidFill>
              </a:rPr>
              <a:t>UBC Okanagan</a:t>
            </a:r>
            <a:r>
              <a:rPr lang="en" sz="1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&amp;</a:t>
            </a:r>
            <a:r>
              <a:rPr lang="en" sz="1400" dirty="0">
                <a:solidFill>
                  <a:schemeClr val="tx1"/>
                </a:solidFill>
              </a:rPr>
              <a:t> Jessica Bedford, UBC Okanagan</a:t>
            </a:r>
          </a:p>
          <a:p>
            <a:pPr marL="0" marR="0" lvl="0" indent="0" rtl="0">
              <a:lnSpc>
                <a:spcPct val="250000"/>
              </a:lnSpc>
              <a:spcBef>
                <a:spcPts val="400"/>
              </a:spcBef>
              <a:buClr>
                <a:srgbClr val="006600"/>
              </a:buClr>
              <a:buSzPct val="25000"/>
            </a:pPr>
            <a:r>
              <a:rPr lang="en" sz="1400" b="0" i="0" u="none" strike="noStrike" cap="none" baseline="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Carolyn Kristjánsson,</a:t>
            </a:r>
            <a:r>
              <a:rPr lang="en" sz="1400" b="0" i="0" u="none" strike="noStrike" cap="none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 b="0" i="0" u="none" strike="noStrike" cap="none" baseline="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TWU </a:t>
            </a:r>
            <a:r>
              <a:rPr lang="en" sz="1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&amp; Nathan Kielstra, TWU</a:t>
            </a:r>
          </a:p>
          <a:p>
            <a:pPr>
              <a:lnSpc>
                <a:spcPct val="250000"/>
              </a:lnSpc>
              <a:buClr>
                <a:srgbClr val="006600"/>
              </a:buClr>
            </a:pPr>
            <a:endParaRPr lang="en" sz="1400" b="0" i="0" u="none" strike="noStrike" cap="none" baseline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250000"/>
              </a:lnSpc>
              <a:buClr>
                <a:srgbClr val="006600"/>
              </a:buClr>
            </a:pPr>
            <a:endParaRPr lang="en" sz="1400" b="0" i="0" u="none" strike="noStrike" cap="none" baseline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250000"/>
              </a:lnSpc>
              <a:buClr>
                <a:srgbClr val="006600"/>
              </a:buClr>
            </a:pPr>
            <a:endParaRPr lang="en" sz="1400" b="0" i="0" u="none" strike="noStrike" cap="none" baseline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250000"/>
              </a:lnSpc>
              <a:buClr>
                <a:srgbClr val="006600"/>
              </a:buClr>
            </a:pPr>
            <a:endParaRPr lang="en" sz="1400" b="0" i="0" u="none" strike="noStrike" cap="none" baseline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250000"/>
              </a:lnSpc>
              <a:buClr>
                <a:srgbClr val="006600"/>
              </a:buClr>
            </a:pPr>
            <a:endParaRPr lang="en" sz="1400" b="0" i="0" u="none" strike="noStrike" cap="none" baseline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Diamond 8"/>
          <p:cNvSpPr/>
          <p:nvPr/>
        </p:nvSpPr>
        <p:spPr>
          <a:xfrm>
            <a:off x="4427438" y="3610049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0" y="1928802"/>
            <a:ext cx="9144000" cy="1142984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Shape 98"/>
          <p:cNvSpPr txBox="1">
            <a:spLocks noGrp="1"/>
          </p:cNvSpPr>
          <p:nvPr>
            <p:ph type="ctrTitle"/>
          </p:nvPr>
        </p:nvSpPr>
        <p:spPr>
          <a:xfrm>
            <a:off x="-785850" y="1928802"/>
            <a:ext cx="7772400" cy="63090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" sz="3500" b="1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What I wished I had </a:t>
            </a:r>
            <a:r>
              <a:rPr lang="en" sz="3500" b="1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learned</a:t>
            </a:r>
            <a:endParaRPr lang="en" sz="3500" b="1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73055" y="2285992"/>
            <a:ext cx="50994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440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 my TESOL program</a:t>
            </a:r>
            <a:endParaRPr lang="en-CA" sz="4400" dirty="0">
              <a:solidFill>
                <a:schemeClr val="bg1"/>
              </a:solidFill>
            </a:endParaRPr>
          </a:p>
        </p:txBody>
      </p:sp>
      <p:sp>
        <p:nvSpPr>
          <p:cNvPr id="25" name="Diamond 24"/>
          <p:cNvSpPr/>
          <p:nvPr/>
        </p:nvSpPr>
        <p:spPr>
          <a:xfrm>
            <a:off x="4429124" y="4251867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Diamond 25"/>
          <p:cNvSpPr/>
          <p:nvPr/>
        </p:nvSpPr>
        <p:spPr>
          <a:xfrm>
            <a:off x="4429124" y="4823371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Diamond 26"/>
          <p:cNvSpPr/>
          <p:nvPr/>
        </p:nvSpPr>
        <p:spPr>
          <a:xfrm>
            <a:off x="4429124" y="5394875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Diamond 27"/>
          <p:cNvSpPr/>
          <p:nvPr/>
        </p:nvSpPr>
        <p:spPr>
          <a:xfrm>
            <a:off x="4429124" y="5967503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0" name="Shape 100"/>
          <p:cNvSpPr txBox="1"/>
          <p:nvPr/>
        </p:nvSpPr>
        <p:spPr>
          <a:xfrm>
            <a:off x="4457745" y="6572272"/>
            <a:ext cx="5329229" cy="2923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3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3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Conference2012,</a:t>
            </a:r>
            <a:r>
              <a:rPr lang="en" sz="1300" b="0" i="0" u="none" strike="noStrike" cap="none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3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Kamloops</a:t>
            </a:r>
            <a:r>
              <a:rPr lang="en" sz="13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3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r>
              <a:rPr lang="en" sz="1300" b="0" i="0" u="none" strike="noStrike" cap="none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3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Oct</a:t>
            </a:r>
            <a:r>
              <a:rPr lang="en" sz="13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. 11-13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build="p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Sung\Desktop\TSL Canada\pages.jpg"/>
          <p:cNvPicPr>
            <a:picLocks noChangeAspect="1" noChangeArrowheads="1"/>
          </p:cNvPicPr>
          <p:nvPr/>
        </p:nvPicPr>
        <p:blipFill>
          <a:blip r:embed="rId3"/>
          <a:srcRect r="90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0"/>
            <a:ext cx="9144000" cy="1071546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-32" y="1785926"/>
            <a:ext cx="8229600" cy="384037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lvl="0" rtl="0">
              <a:lnSpc>
                <a:spcPct val="200000"/>
              </a:lnSpc>
              <a:buNone/>
            </a:pPr>
            <a:r>
              <a:rPr lang="en" sz="2300" dirty="0"/>
              <a:t>
	</a:t>
            </a:r>
            <a:r>
              <a:rPr lang="en" sz="2300" dirty="0" smtClean="0"/>
              <a:t> </a:t>
            </a:r>
            <a:r>
              <a:rPr lang="en" sz="2300" dirty="0"/>
              <a:t>TESOL Listserve in Teacher Education</a:t>
            </a:r>
          </a:p>
          <a:p>
            <a:pPr lvl="0" rtl="0">
              <a:lnSpc>
                <a:spcPct val="200000"/>
              </a:lnSpc>
              <a:buNone/>
            </a:pPr>
            <a:r>
              <a:rPr lang="en" sz="2300" dirty="0"/>
              <a:t>	</a:t>
            </a:r>
            <a:r>
              <a:rPr lang="en" sz="2300" dirty="0" smtClean="0"/>
              <a:t> Panel </a:t>
            </a:r>
            <a:r>
              <a:rPr lang="en" sz="2300" dirty="0"/>
              <a:t>at Tri-TESOL (Washington, Oct, 2011)</a:t>
            </a:r>
          </a:p>
          <a:p>
            <a:pPr lvl="0" rtl="0">
              <a:lnSpc>
                <a:spcPct val="200000"/>
              </a:lnSpc>
              <a:buNone/>
            </a:pPr>
            <a:r>
              <a:rPr lang="en" sz="2300" dirty="0"/>
              <a:t>	</a:t>
            </a:r>
            <a:r>
              <a:rPr lang="en" sz="2300" dirty="0" smtClean="0"/>
              <a:t> Reconnection </a:t>
            </a:r>
            <a:r>
              <a:rPr lang="en" sz="2300" dirty="0"/>
              <a:t>at BC TEAL</a:t>
            </a:r>
          </a:p>
          <a:p>
            <a:pPr>
              <a:lnSpc>
                <a:spcPct val="200000"/>
              </a:lnSpc>
            </a:pPr>
            <a:endParaRPr lang="en" sz="2300" dirty="0"/>
          </a:p>
        </p:txBody>
      </p:sp>
      <p:sp>
        <p:nvSpPr>
          <p:cNvPr id="5" name="TextBox 4"/>
          <p:cNvSpPr txBox="1"/>
          <p:nvPr/>
        </p:nvSpPr>
        <p:spPr>
          <a:xfrm>
            <a:off x="-71470" y="1052736"/>
            <a:ext cx="10001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4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The Power of Listserves &amp; Conferences for Collaboration</a:t>
            </a:r>
            <a:endParaRPr lang="en-CA" sz="2400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Shape 116"/>
          <p:cNvSpPr txBox="1">
            <a:spLocks noGrp="1"/>
          </p:cNvSpPr>
          <p:nvPr>
            <p:ph type="title"/>
          </p:nvPr>
        </p:nvSpPr>
        <p:spPr>
          <a:xfrm>
            <a:off x="-32" y="161386"/>
            <a:ext cx="3228940" cy="133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" sz="2700" dirty="0">
                <a:solidFill>
                  <a:schemeClr val="bg1"/>
                </a:solidFill>
              </a:rPr>
              <a:t>
</a:t>
            </a:r>
            <a:r>
              <a:rPr lang="en" sz="2700" b="1" dirty="0">
                <a:solidFill>
                  <a:schemeClr val="bg1"/>
                </a:solidFill>
              </a:rPr>
              <a:t>Panel </a:t>
            </a:r>
            <a:r>
              <a:rPr lang="en" sz="2700" b="1" dirty="0" smtClean="0">
                <a:solidFill>
                  <a:schemeClr val="bg1"/>
                </a:solidFill>
              </a:rPr>
              <a:t>Background </a:t>
            </a:r>
            <a:r>
              <a:rPr lang="en" sz="2700" dirty="0" smtClean="0">
                <a:solidFill>
                  <a:schemeClr val="bg1"/>
                </a:solidFill>
              </a:rPr>
              <a:t/>
            </a:r>
            <a:br>
              <a:rPr lang="en" sz="2700" dirty="0" smtClean="0">
                <a:solidFill>
                  <a:schemeClr val="bg1"/>
                </a:solidFill>
              </a:rPr>
            </a:br>
            <a:endParaRPr lang="en" sz="2700" dirty="0">
              <a:solidFill>
                <a:schemeClr val="bg1"/>
              </a:solidFill>
            </a:endParaRPr>
          </a:p>
        </p:txBody>
      </p:sp>
      <p:sp>
        <p:nvSpPr>
          <p:cNvPr id="13" name="Diamond 12"/>
          <p:cNvSpPr/>
          <p:nvPr/>
        </p:nvSpPr>
        <p:spPr>
          <a:xfrm>
            <a:off x="285720" y="2983090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Diamond 13"/>
          <p:cNvSpPr/>
          <p:nvPr/>
        </p:nvSpPr>
        <p:spPr>
          <a:xfrm>
            <a:off x="285720" y="3767784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Diamond 14"/>
          <p:cNvSpPr/>
          <p:nvPr/>
        </p:nvSpPr>
        <p:spPr>
          <a:xfrm>
            <a:off x="285720" y="4553602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/>
          <p:cNvSpPr/>
          <p:nvPr/>
        </p:nvSpPr>
        <p:spPr>
          <a:xfrm>
            <a:off x="0" y="6643710"/>
            <a:ext cx="9144000" cy="214290"/>
          </a:xfrm>
          <a:prstGeom prst="rect">
            <a:avLst/>
          </a:prstGeom>
          <a:solidFill>
            <a:srgbClr val="0066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-32" y="0"/>
            <a:ext cx="9144032" cy="6858000"/>
            <a:chOff x="0" y="0"/>
            <a:chExt cx="9144032" cy="6858000"/>
          </a:xfrm>
        </p:grpSpPr>
        <p:pic>
          <p:nvPicPr>
            <p:cNvPr id="3075" name="Picture 3" descr="C:\Users\Sung\Desktop\TSL Canada\3.jpg"/>
            <p:cNvPicPr>
              <a:picLocks noChangeAspect="1" noChangeArrowheads="1"/>
            </p:cNvPicPr>
            <p:nvPr/>
          </p:nvPicPr>
          <p:blipFill>
            <a:blip r:embed="rId3"/>
            <a:srcRect l="904"/>
            <a:stretch>
              <a:fillRect/>
            </a:stretch>
          </p:blipFill>
          <p:spPr bwMode="auto">
            <a:xfrm>
              <a:off x="0" y="0"/>
              <a:ext cx="9144032" cy="6858000"/>
            </a:xfrm>
            <a:prstGeom prst="rect">
              <a:avLst/>
            </a:prstGeom>
            <a:noFill/>
          </p:spPr>
        </p:pic>
        <p:sp>
          <p:nvSpPr>
            <p:cNvPr id="25" name="Rectangle 24"/>
            <p:cNvSpPr/>
            <p:nvPr/>
          </p:nvSpPr>
          <p:spPr>
            <a:xfrm>
              <a:off x="0" y="0"/>
              <a:ext cx="9144000" cy="1071546"/>
            </a:xfrm>
            <a:prstGeom prst="rect">
              <a:avLst/>
            </a:prstGeom>
            <a:solidFill>
              <a:srgbClr val="000000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07" name="Shape 107"/>
          <p:cNvSpPr/>
          <p:nvPr/>
        </p:nvSpPr>
        <p:spPr>
          <a:xfrm>
            <a:off x="899592" y="2525531"/>
            <a:ext cx="786524" cy="79439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10" name="Shape 110"/>
          <p:cNvSpPr/>
          <p:nvPr/>
        </p:nvSpPr>
        <p:spPr>
          <a:xfrm>
            <a:off x="500034" y="4939826"/>
            <a:ext cx="1571636" cy="645837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11" name="Shape 111"/>
          <p:cNvSpPr/>
          <p:nvPr/>
        </p:nvSpPr>
        <p:spPr>
          <a:xfrm>
            <a:off x="467424" y="1268760"/>
            <a:ext cx="1675684" cy="92869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pic>
        <p:nvPicPr>
          <p:cNvPr id="3074" name="Picture 2" descr="C:\Users\Sung\Desktop\TSL Canada\UBClogo.gif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62001" y="3652981"/>
            <a:ext cx="681041" cy="928694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2357422" y="2598003"/>
            <a:ext cx="6244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" sz="1600" b="1" dirty="0" smtClean="0">
                <a:latin typeface="Calibri" pitchFamily="34" charset="0"/>
                <a:cs typeface="Calibri" pitchFamily="34" charset="0"/>
              </a:rPr>
              <a:t>Douglas College</a:t>
            </a:r>
            <a:r>
              <a:rPr lang="en" sz="1600" dirty="0" smtClean="0">
                <a:latin typeface="Calibri" pitchFamily="34" charset="0"/>
                <a:cs typeface="Calibri" pitchFamily="34" charset="0"/>
              </a:rPr>
              <a:t>, New Westminster, BC: TESL Certificate                              </a:t>
            </a:r>
          </a:p>
          <a:p>
            <a:pPr lvl="0"/>
            <a:r>
              <a:rPr lang="en" sz="1600" dirty="0" smtClean="0">
                <a:latin typeface="Calibri" pitchFamily="34" charset="0"/>
                <a:cs typeface="Calibri" pitchFamily="34" charset="0"/>
              </a:rPr>
              <a:t>14 weeks, 15 credits, TESL Canada Level II Professional Certification </a:t>
            </a:r>
          </a:p>
          <a:p>
            <a:endParaRPr lang="en-CA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57422" y="3573016"/>
            <a:ext cx="554190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" sz="1600" b="1" dirty="0" smtClean="0">
                <a:latin typeface="Calibri" pitchFamily="34" charset="0"/>
                <a:cs typeface="Calibri" pitchFamily="34" charset="0"/>
              </a:rPr>
              <a:t>Okanagan College</a:t>
            </a:r>
            <a:r>
              <a:rPr lang="en" sz="1600" dirty="0" smtClean="0">
                <a:latin typeface="Calibri" pitchFamily="34" charset="0"/>
                <a:cs typeface="Calibri" pitchFamily="34" charset="0"/>
              </a:rPr>
              <a:t>, Kelowna, BC: TESL Certificate                            </a:t>
            </a:r>
          </a:p>
          <a:p>
            <a:pPr lvl="0"/>
            <a:r>
              <a:rPr lang="en" sz="1600" dirty="0" smtClean="0">
                <a:latin typeface="Calibri" pitchFamily="34" charset="0"/>
                <a:cs typeface="Calibri" pitchFamily="34" charset="0"/>
              </a:rPr>
              <a:t>140 hours, 6 courses + practicum/project, part-time 6 months </a:t>
            </a:r>
          </a:p>
          <a:p>
            <a:pPr lvl="0"/>
            <a:r>
              <a:rPr lang="en" sz="1600" dirty="0" smtClean="0">
                <a:latin typeface="Calibri" pitchFamily="34" charset="0"/>
                <a:cs typeface="Calibri" pitchFamily="34" charset="0"/>
              </a:rPr>
              <a:t>(20 hrs per month) or full-time intensive summer program </a:t>
            </a:r>
          </a:p>
          <a:p>
            <a:endParaRPr lang="en-CA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70331" y="1340768"/>
            <a:ext cx="55595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600" b="1" dirty="0" smtClean="0">
                <a:latin typeface="Calibri" pitchFamily="34" charset="0"/>
                <a:cs typeface="Calibri" pitchFamily="34" charset="0"/>
              </a:rPr>
              <a:t>TRU</a:t>
            </a:r>
            <a:r>
              <a:rPr lang="en" sz="1600" dirty="0" smtClean="0">
                <a:latin typeface="Calibri" pitchFamily="34" charset="0"/>
                <a:cs typeface="Calibri" pitchFamily="34" charset="0"/>
              </a:rPr>
              <a:t>, Kamloops, BC: TESL Certificate                                                  </a:t>
            </a:r>
          </a:p>
          <a:p>
            <a:r>
              <a:rPr lang="en" sz="1600" dirty="0" smtClean="0">
                <a:latin typeface="Calibri" pitchFamily="34" charset="0"/>
                <a:cs typeface="Calibri" pitchFamily="34" charset="0"/>
              </a:rPr>
              <a:t>13 weeks, 15 credits,                                                                              </a:t>
            </a:r>
          </a:p>
          <a:p>
            <a:r>
              <a:rPr lang="en" sz="1600" dirty="0" smtClean="0">
                <a:latin typeface="Calibri" pitchFamily="34" charset="0"/>
                <a:cs typeface="Calibri" pitchFamily="34" charset="0"/>
              </a:rPr>
              <a:t>TESL Canada Level I Professional Certification </a:t>
            </a:r>
          </a:p>
          <a:p>
            <a:endParaRPr lang="en-CA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57422" y="4797152"/>
            <a:ext cx="59747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" sz="16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TWU</a:t>
            </a:r>
            <a:r>
              <a:rPr lang="en" sz="16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, Langley, BC: MA TESOL                                                          </a:t>
            </a:r>
          </a:p>
          <a:p>
            <a:pPr lvl="0"/>
            <a:r>
              <a:rPr lang="en" sz="16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Resident Program: 12 academic months, 36 credits;                               </a:t>
            </a:r>
          </a:p>
          <a:p>
            <a:pPr lvl="0"/>
            <a:r>
              <a:rPr lang="en" sz="16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Online Program: 2½ -3 years, 36 credits,                                                     </a:t>
            </a:r>
          </a:p>
          <a:p>
            <a:pPr lvl="0"/>
            <a:r>
              <a:rPr lang="en" sz="16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TESL Canada Level III Professional Certification</a:t>
            </a:r>
          </a:p>
          <a:p>
            <a:endParaRPr lang="en-CA" sz="16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Shape 116"/>
          <p:cNvSpPr txBox="1">
            <a:spLocks/>
          </p:cNvSpPr>
          <p:nvPr/>
        </p:nvSpPr>
        <p:spPr>
          <a:xfrm>
            <a:off x="-5732" y="145996"/>
            <a:ext cx="3857652" cy="133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  <a:sym typeface="Arial"/>
              </a:rPr>
              <a:t>
Overview of Programs</a:t>
            </a:r>
            <a:b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  <a:sym typeface="Arial"/>
              </a:rPr>
            </a:br>
            <a:endParaRPr kumimoji="0" lang="en" sz="27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itchFamily="34" charset="0"/>
              <a:cs typeface="Calibri" pitchFamily="34" charset="0"/>
              <a:sym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643710"/>
            <a:ext cx="9144000" cy="214290"/>
          </a:xfrm>
          <a:prstGeom prst="rect">
            <a:avLst/>
          </a:prstGeom>
          <a:solidFill>
            <a:srgbClr val="0066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4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5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2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6" name="Rectangle 5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14" name="Rectangle 13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2143116"/>
            <a:ext cx="8229600" cy="4525963"/>
          </a:xfrm>
        </p:spPr>
        <p:txBody>
          <a:bodyPr/>
          <a:lstStyle/>
          <a:p>
            <a:pPr marL="346075" indent="-225425">
              <a:buNone/>
            </a:pPr>
            <a:r>
              <a:rPr lang="en-US" sz="2200" dirty="0" smtClean="0"/>
              <a:t>   What </a:t>
            </a:r>
            <a:r>
              <a:rPr lang="en-US" sz="2200" dirty="0"/>
              <a:t>possibilities do our programs make available to teachers, not only in terms of what to do, but who they see themselves to be, and how they interpret what they </a:t>
            </a:r>
            <a:r>
              <a:rPr lang="en-US" sz="2200" dirty="0" smtClean="0"/>
              <a:t>do?</a:t>
            </a:r>
          </a:p>
          <a:p>
            <a:pPr marL="120650" indent="0">
              <a:buNone/>
            </a:pPr>
            <a:endParaRPr lang="en-US" sz="2200" dirty="0"/>
          </a:p>
          <a:p>
            <a:pPr>
              <a:buNone/>
            </a:pPr>
            <a:r>
              <a:rPr lang="en-US" sz="2200" dirty="0" smtClean="0"/>
              <a:t>   What </a:t>
            </a:r>
            <a:r>
              <a:rPr lang="en-US" sz="2200" dirty="0"/>
              <a:t>possibilities might not be available that would </a:t>
            </a:r>
            <a:r>
              <a:rPr lang="en-US" sz="2200" dirty="0" smtClean="0"/>
              <a:t>be helpful? </a:t>
            </a:r>
          </a:p>
          <a:p>
            <a:pPr>
              <a:buNone/>
            </a:pPr>
            <a:r>
              <a:rPr lang="en-US" sz="2200" dirty="0" smtClean="0"/>
              <a:t>   </a:t>
            </a:r>
            <a:r>
              <a:rPr lang="en-US" sz="2200" dirty="0" smtClean="0">
                <a:sym typeface="Symbol"/>
              </a:rPr>
              <a:t> </a:t>
            </a:r>
            <a:r>
              <a:rPr lang="en-US" sz="2200" dirty="0" smtClean="0"/>
              <a:t>Presentation focus</a:t>
            </a:r>
            <a:endParaRPr lang="en-US" sz="2200" dirty="0"/>
          </a:p>
        </p:txBody>
      </p:sp>
      <p:sp>
        <p:nvSpPr>
          <p:cNvPr id="7" name="Shape 116"/>
          <p:cNvSpPr txBox="1">
            <a:spLocks/>
          </p:cNvSpPr>
          <p:nvPr/>
        </p:nvSpPr>
        <p:spPr>
          <a:xfrm>
            <a:off x="-32" y="161386"/>
            <a:ext cx="3857652" cy="133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  <a:sym typeface="Arial"/>
              </a:rPr>
              <a:t>
Our Guiding</a:t>
            </a:r>
            <a:r>
              <a:rPr kumimoji="0" lang="en" sz="27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  <a:sym typeface="Arial"/>
              </a:rPr>
              <a:t> Questions</a:t>
            </a: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  <a:sym typeface="Arial"/>
              </a:rPr>
              <a:t/>
            </a:r>
            <a:b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  <a:sym typeface="Arial"/>
              </a:rPr>
            </a:br>
            <a:endParaRPr kumimoji="0" lang="en" sz="27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itchFamily="34" charset="0"/>
              <a:cs typeface="Calibri" pitchFamily="34" charset="0"/>
              <a:sym typeface="Arial"/>
            </a:endParaRPr>
          </a:p>
        </p:txBody>
      </p:sp>
      <p:sp>
        <p:nvSpPr>
          <p:cNvPr id="9" name="Diamond 8"/>
          <p:cNvSpPr/>
          <p:nvPr/>
        </p:nvSpPr>
        <p:spPr>
          <a:xfrm>
            <a:off x="293214" y="2357430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Diamond 9"/>
          <p:cNvSpPr/>
          <p:nvPr/>
        </p:nvSpPr>
        <p:spPr>
          <a:xfrm>
            <a:off x="293214" y="3857628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526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2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96" y="2689251"/>
            <a:ext cx="8229600" cy="4525963"/>
          </a:xfrm>
        </p:spPr>
        <p:txBody>
          <a:bodyPr/>
          <a:lstStyle/>
          <a:p>
            <a:pPr marL="346075" indent="-225425">
              <a:buNone/>
            </a:pPr>
            <a:r>
              <a:rPr lang="en-US" sz="2200" dirty="0" smtClean="0"/>
              <a:t>   Recent TESOL graduates reflect on a situation in their practice  which suggests a gap in their teacher education program</a:t>
            </a:r>
          </a:p>
          <a:p>
            <a:pPr>
              <a:buNone/>
            </a:pP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   TESOL educators respond with possibilities for addressing the gap</a:t>
            </a:r>
            <a:endParaRPr lang="en-US" sz="2200" dirty="0"/>
          </a:p>
        </p:txBody>
      </p:sp>
      <p:sp>
        <p:nvSpPr>
          <p:cNvPr id="9" name="Shape 116"/>
          <p:cNvSpPr txBox="1">
            <a:spLocks/>
          </p:cNvSpPr>
          <p:nvPr/>
        </p:nvSpPr>
        <p:spPr>
          <a:xfrm>
            <a:off x="-32" y="161386"/>
            <a:ext cx="3857652" cy="133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  <a:sym typeface="Arial"/>
              </a:rPr>
              <a:t>
Presentation Format</a:t>
            </a:r>
            <a:b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  <a:sym typeface="Arial"/>
              </a:rPr>
            </a:br>
            <a:endParaRPr kumimoji="0" lang="en" sz="27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itchFamily="34" charset="0"/>
              <a:cs typeface="Calibri" pitchFamily="34" charset="0"/>
              <a:sym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36512" y="1052736"/>
            <a:ext cx="52501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“Sets” of presenters from each program </a:t>
            </a:r>
          </a:p>
          <a:p>
            <a:endParaRPr lang="en-CA" sz="2400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Diamond 12"/>
          <p:cNvSpPr/>
          <p:nvPr/>
        </p:nvSpPr>
        <p:spPr>
          <a:xfrm>
            <a:off x="221206" y="2857496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Diamond 13"/>
          <p:cNvSpPr/>
          <p:nvPr/>
        </p:nvSpPr>
        <p:spPr>
          <a:xfrm>
            <a:off x="221206" y="4000504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625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Sung\Desktop\TSL Canada\2.jpg"/>
          <p:cNvPicPr>
            <a:picLocks noChangeAspect="1" noChangeArrowheads="1"/>
          </p:cNvPicPr>
          <p:nvPr/>
        </p:nvPicPr>
        <p:blipFill>
          <a:blip r:embed="rId2"/>
          <a:srcRect l="90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143108" y="0"/>
            <a:ext cx="4857784" cy="6858000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28596" y="292894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/>
          <a:p>
            <a:pPr marL="0" marR="0" lvl="0" indent="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Conversation #1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iamond 6"/>
          <p:cNvSpPr/>
          <p:nvPr/>
        </p:nvSpPr>
        <p:spPr>
          <a:xfrm>
            <a:off x="4500562" y="4428008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Diamond 7"/>
          <p:cNvSpPr/>
          <p:nvPr/>
        </p:nvSpPr>
        <p:spPr>
          <a:xfrm>
            <a:off x="4502248" y="5929330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40" y="3851315"/>
            <a:ext cx="2857520" cy="2720957"/>
          </a:xfrm>
        </p:spPr>
        <p:txBody>
          <a:bodyPr/>
          <a:lstStyle/>
          <a:p>
            <a:pPr marL="120650" lvl="0" indent="0" algn="ctr">
              <a:buNone/>
            </a:pPr>
            <a:endParaRPr lang="en" sz="2000" dirty="0" smtClean="0">
              <a:solidFill>
                <a:srgbClr val="888888"/>
              </a:solidFill>
            </a:endParaRPr>
          </a:p>
          <a:p>
            <a:pPr marL="120650" lvl="0" indent="0" algn="ctr">
              <a:buNone/>
            </a:pPr>
            <a:endParaRPr lang="en" sz="2000" dirty="0">
              <a:solidFill>
                <a:srgbClr val="888888"/>
              </a:solidFill>
            </a:endParaRPr>
          </a:p>
          <a:p>
            <a:pPr marL="120650" indent="0" algn="ctr">
              <a:buNone/>
            </a:pPr>
            <a:r>
              <a:rPr lang="en" sz="2000" b="1" dirty="0">
                <a:solidFill>
                  <a:schemeClr val="tx1"/>
                </a:solidFill>
              </a:rPr>
              <a:t>Kimberly Bare</a:t>
            </a:r>
            <a:r>
              <a:rPr lang="en" sz="2000" dirty="0">
                <a:solidFill>
                  <a:schemeClr val="tx1"/>
                </a:solidFill>
              </a:rPr>
              <a:t>, </a:t>
            </a:r>
            <a:r>
              <a:rPr lang="en" sz="2000" dirty="0" smtClean="0">
                <a:solidFill>
                  <a:schemeClr val="tx1"/>
                </a:solidFill>
              </a:rPr>
              <a:t>TRU</a:t>
            </a:r>
          </a:p>
          <a:p>
            <a:pPr marL="120650" indent="0" algn="ctr">
              <a:buNone/>
            </a:pPr>
            <a:r>
              <a:rPr lang="en" sz="2000" dirty="0">
                <a:solidFill>
                  <a:schemeClr val="tx1"/>
                </a:solidFill>
              </a:rPr>
              <a:t>&amp;</a:t>
            </a:r>
          </a:p>
          <a:p>
            <a:pPr marL="120650" lvl="0" indent="0" algn="ctr">
              <a:buNone/>
            </a:pPr>
            <a:r>
              <a:rPr lang="en" sz="2000" b="1" dirty="0" smtClean="0">
                <a:solidFill>
                  <a:schemeClr val="tx1"/>
                </a:solidFill>
              </a:rPr>
              <a:t>Karen </a:t>
            </a:r>
            <a:r>
              <a:rPr lang="en" sz="2000" b="1" dirty="0">
                <a:solidFill>
                  <a:schemeClr val="tx1"/>
                </a:solidFill>
              </a:rPr>
              <a:t>Densky</a:t>
            </a:r>
            <a:r>
              <a:rPr lang="en" sz="2000" dirty="0">
                <a:solidFill>
                  <a:schemeClr val="tx1"/>
                </a:solidFill>
              </a:rPr>
              <a:t>, TRU </a:t>
            </a:r>
            <a:endParaRPr lang="en" sz="2000" dirty="0" smtClean="0">
              <a:solidFill>
                <a:schemeClr val="tx1"/>
              </a:solidFill>
            </a:endParaRPr>
          </a:p>
          <a:p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0" y="6643710"/>
            <a:ext cx="9144000" cy="214290"/>
          </a:xfrm>
          <a:prstGeom prst="rect">
            <a:avLst/>
          </a:prstGeom>
          <a:solidFill>
            <a:srgbClr val="0066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188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142844" y="1571612"/>
            <a:ext cx="8229600" cy="3939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Graduate of the TESL Certificate at TRU and currently an MEd student at TRU</a:t>
            </a:r>
            <a:r>
              <a:rPr lang="en" sz="22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98958"/>
              <a:buFont typeface="Arial"/>
              <a:buChar char="•"/>
            </a:pPr>
            <a:endParaRPr lang="en" sz="22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teaching at TRU with students from Indonesia (high school) and Japan (university</a:t>
            </a:r>
            <a:r>
              <a:rPr lang="en" sz="22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98958"/>
              <a:buFont typeface="Arial"/>
              <a:buChar char="•"/>
            </a:pPr>
            <a:endParaRPr lang="en" sz="22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biggest challenge: How to take advantage of the teachable moment?</a:t>
            </a:r>
          </a:p>
          <a:p>
            <a:pPr marL="742950" marR="0" lvl="1" indent="-285750" algn="l" rtl="0">
              <a:spcBef>
                <a:spcPts val="560"/>
              </a:spcBef>
              <a:buClr>
                <a:schemeClr val="dk1"/>
              </a:buClr>
              <a:buSzPct val="101190"/>
              <a:buNone/>
            </a:pPr>
            <a:r>
              <a:rPr lang="en" sz="20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-Vocabulary</a:t>
            </a:r>
            <a:r>
              <a:rPr lang="en" sz="20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using without a license</a:t>
            </a:r>
          </a:p>
          <a:p>
            <a:pPr marL="742950" marR="0" lvl="1" indent="-285750" algn="l" rtl="0">
              <a:spcBef>
                <a:spcPts val="560"/>
              </a:spcBef>
              <a:buClr>
                <a:schemeClr val="dk1"/>
              </a:buClr>
              <a:buSzPct val="88541"/>
              <a:buNone/>
            </a:pPr>
            <a:r>
              <a:rPr lang="en" sz="2000" dirty="0" smtClean="0"/>
              <a:t>-Grammar </a:t>
            </a:r>
            <a:r>
              <a:rPr lang="en" sz="2000" dirty="0"/>
              <a:t>knowledge gaps</a:t>
            </a:r>
          </a:p>
        </p:txBody>
      </p:sp>
      <p:sp>
        <p:nvSpPr>
          <p:cNvPr id="9" name="Shape 136"/>
          <p:cNvSpPr txBox="1">
            <a:spLocks/>
          </p:cNvSpPr>
          <p:nvPr/>
        </p:nvSpPr>
        <p:spPr>
          <a:xfrm>
            <a:off x="57176" y="214290"/>
            <a:ext cx="8229600" cy="8463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TRU Graduate</a:t>
            </a: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Kimberly Bare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54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285720" y="1643050"/>
            <a:ext cx="8229600" cy="367789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indent="0"/>
            <a:r>
              <a:rPr lang="en" sz="2200" dirty="0" smtClean="0"/>
              <a:t> The </a:t>
            </a:r>
            <a:r>
              <a:rPr lang="en" sz="2200" dirty="0"/>
              <a:t>Dialogical Classroom &amp; </a:t>
            </a:r>
            <a:r>
              <a:rPr lang="en" sz="2200" dirty="0" smtClean="0"/>
              <a:t>Grammaring</a:t>
            </a:r>
          </a:p>
          <a:p>
            <a:pPr marL="0" indent="0"/>
            <a:endParaRPr lang="en" sz="2200" dirty="0" smtClean="0"/>
          </a:p>
          <a:p>
            <a:pPr marL="0" indent="0"/>
            <a:r>
              <a:rPr lang="en" sz="2200" dirty="0" smtClean="0"/>
              <a:t> What </a:t>
            </a:r>
            <a:r>
              <a:rPr lang="en" sz="2200" dirty="0"/>
              <a:t>is a dialogical classroom? </a:t>
            </a:r>
            <a:endParaRPr lang="en" sz="2200" dirty="0" smtClean="0"/>
          </a:p>
          <a:p>
            <a:pPr marL="0" indent="0"/>
            <a:endParaRPr lang="en" sz="2200" dirty="0"/>
          </a:p>
          <a:p>
            <a:pPr marL="0" indent="0"/>
            <a:r>
              <a:rPr lang="en" sz="2200" dirty="0" smtClean="0"/>
              <a:t> What </a:t>
            </a:r>
            <a:r>
              <a:rPr lang="en" sz="2200" dirty="0"/>
              <a:t>is grammaring</a:t>
            </a:r>
            <a:r>
              <a:rPr lang="en" sz="2200" dirty="0" smtClean="0"/>
              <a:t>?</a:t>
            </a:r>
          </a:p>
          <a:p>
            <a:pPr marL="0" indent="0"/>
            <a:endParaRPr lang="en" sz="2200" dirty="0"/>
          </a:p>
          <a:p>
            <a:pPr marL="0" indent="0"/>
            <a:r>
              <a:rPr lang="en" sz="2200" dirty="0" smtClean="0"/>
              <a:t> "</a:t>
            </a:r>
            <a:r>
              <a:rPr lang="en" sz="2200" dirty="0"/>
              <a:t>In order to overcome the inert knowledge problem, it's better to </a:t>
            </a:r>
            <a:r>
              <a:rPr lang="en" sz="2200" dirty="0" smtClean="0"/>
              <a:t> think </a:t>
            </a:r>
            <a:r>
              <a:rPr lang="en" sz="2200" dirty="0"/>
              <a:t>of grammar as a skill rather than as an area of language" </a:t>
            </a:r>
            <a:endParaRPr lang="en" sz="2200" dirty="0" smtClean="0"/>
          </a:p>
          <a:p>
            <a:pPr marL="0" indent="0">
              <a:buNone/>
            </a:pPr>
            <a:r>
              <a:rPr lang="en" sz="2200" dirty="0" smtClean="0"/>
              <a:t>(</a:t>
            </a:r>
            <a:r>
              <a:rPr lang="en" sz="2200" dirty="0"/>
              <a:t>Larson-Freeman, 2008).</a:t>
            </a:r>
          </a:p>
        </p:txBody>
      </p:sp>
      <p:sp>
        <p:nvSpPr>
          <p:cNvPr id="9" name="Shape 122"/>
          <p:cNvSpPr txBox="1">
            <a:spLocks/>
          </p:cNvSpPr>
          <p:nvPr/>
        </p:nvSpPr>
        <p:spPr>
          <a:xfrm>
            <a:off x="-32" y="-285776"/>
            <a:ext cx="5857916" cy="135417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kumimoji="0" lang="e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Karen Densky, TRU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695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13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15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16" name="Rectangle 15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14" name="Rectangle 13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7" name="Shape 122"/>
          <p:cNvSpPr txBox="1">
            <a:spLocks/>
          </p:cNvSpPr>
          <p:nvPr/>
        </p:nvSpPr>
        <p:spPr>
          <a:xfrm>
            <a:off x="-32" y="-285776"/>
            <a:ext cx="5857916" cy="135417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kumimoji="0" lang="e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kumimoji="0" lang="e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" sz="25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cont…</a:t>
            </a: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Karen Densky, TRU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Shape 166"/>
          <p:cNvSpPr txBox="1"/>
          <p:nvPr/>
        </p:nvSpPr>
        <p:spPr>
          <a:xfrm>
            <a:off x="357158" y="1660161"/>
            <a:ext cx="7929618" cy="3554789"/>
          </a:xfrm>
          <a:prstGeom prst="rect">
            <a:avLst/>
          </a:prstGeom>
        </p:spPr>
        <p:txBody>
          <a:bodyPr wrap="square" lIns="91425" tIns="91425" rIns="91425" bIns="91425" anchor="ctr" anchorCtr="0">
            <a:spAutoFit/>
          </a:bodyPr>
          <a:lstStyle/>
          <a:p>
            <a:pPr lvl="0" rtl="0">
              <a:spcBef>
                <a:spcPts val="640"/>
              </a:spcBef>
              <a:buFont typeface="Arial" pitchFamily="34" charset="0"/>
              <a:buChar char="•"/>
            </a:pPr>
            <a:r>
              <a:rPr lang="en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Some 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Practical Ideas:</a:t>
            </a:r>
          </a:p>
          <a:p>
            <a:pPr marL="342900" lvl="0" indent="-342900" rtl="0">
              <a:spcBef>
                <a:spcPts val="640"/>
              </a:spcBef>
              <a:buClr>
                <a:schemeClr val="dk1"/>
              </a:buClr>
              <a:buSzPct val="98958"/>
            </a:pPr>
            <a:endParaRPr lang="en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rtl="0">
              <a:lnSpc>
                <a:spcPct val="150000"/>
              </a:lnSpc>
              <a:spcBef>
                <a:spcPts val="640"/>
              </a:spcBef>
              <a:buClr>
                <a:schemeClr val="dk1"/>
              </a:buClr>
              <a:buSzPct val="98958"/>
            </a:pPr>
            <a:r>
              <a:rPr lang="en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Add </a:t>
            </a:r>
            <a:r>
              <a:rPr lang="e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in the ESL Learning Centre as a component of practicum.</a:t>
            </a:r>
          </a:p>
          <a:p>
            <a:pPr marL="342900" lvl="0" indent="-342900" rtl="0">
              <a:lnSpc>
                <a:spcPct val="150000"/>
              </a:lnSpc>
              <a:spcBef>
                <a:spcPts val="640"/>
              </a:spcBef>
              <a:buClr>
                <a:schemeClr val="dk1"/>
              </a:buClr>
              <a:buSzPct val="98958"/>
            </a:pPr>
            <a:r>
              <a:rPr lang="en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Watch </a:t>
            </a:r>
            <a:r>
              <a:rPr lang="e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DLF virtual seminar.</a:t>
            </a:r>
          </a:p>
          <a:p>
            <a:pPr marL="342900" lvl="0" indent="-342900" rtl="0">
              <a:lnSpc>
                <a:spcPct val="150000"/>
              </a:lnSpc>
              <a:spcBef>
                <a:spcPts val="640"/>
              </a:spcBef>
              <a:buClr>
                <a:schemeClr val="dk1"/>
              </a:buClr>
              <a:buSzPct val="98958"/>
            </a:pPr>
            <a:r>
              <a:rPr lang="en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Model </a:t>
            </a:r>
            <a:r>
              <a:rPr lang="e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dialogical classroom in all TESL classes.</a:t>
            </a:r>
          </a:p>
          <a:p>
            <a:pPr marL="342900" lvl="0" indent="-342900" rtl="0">
              <a:lnSpc>
                <a:spcPct val="150000"/>
              </a:lnSpc>
              <a:spcBef>
                <a:spcPts val="640"/>
              </a:spcBef>
              <a:buClr>
                <a:schemeClr val="dk1"/>
              </a:buClr>
              <a:buSzPct val="98958"/>
            </a:pPr>
            <a:r>
              <a:rPr lang="en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Pre-program </a:t>
            </a:r>
            <a:r>
              <a:rPr lang="e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course/requirements</a:t>
            </a:r>
          </a:p>
          <a:p>
            <a:pPr>
              <a:lnSpc>
                <a:spcPct val="150000"/>
              </a:lnSpc>
            </a:pPr>
            <a:endParaRPr lang="en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353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Sung\Desktop\TSL Canada\2.jpg"/>
          <p:cNvPicPr>
            <a:picLocks noChangeAspect="1" noChangeArrowheads="1"/>
          </p:cNvPicPr>
          <p:nvPr/>
        </p:nvPicPr>
        <p:blipFill>
          <a:blip r:embed="rId2"/>
          <a:srcRect l="90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2143108" y="0"/>
            <a:ext cx="4857784" cy="6858000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366" y="3786190"/>
            <a:ext cx="8229600" cy="4525963"/>
          </a:xfrm>
        </p:spPr>
        <p:txBody>
          <a:bodyPr/>
          <a:lstStyle/>
          <a:p>
            <a:pPr marL="120650" lvl="0" indent="0" algn="ctr">
              <a:buNone/>
            </a:pPr>
            <a:endParaRPr lang="en" sz="2000" dirty="0" smtClean="0">
              <a:solidFill>
                <a:srgbClr val="888888"/>
              </a:solidFill>
            </a:endParaRPr>
          </a:p>
          <a:p>
            <a:pPr marL="120650" lvl="0" indent="0" algn="ctr">
              <a:buNone/>
            </a:pPr>
            <a:endParaRPr lang="en" sz="2000" dirty="0">
              <a:solidFill>
                <a:schemeClr val="tx1"/>
              </a:solidFill>
            </a:endParaRPr>
          </a:p>
          <a:p>
            <a:pPr marL="120650" lvl="0" indent="0" algn="ctr">
              <a:buNone/>
            </a:pPr>
            <a:r>
              <a:rPr lang="en" sz="2000" b="1" dirty="0" smtClean="0">
                <a:solidFill>
                  <a:schemeClr val="tx1"/>
                </a:solidFill>
              </a:rPr>
              <a:t>Elina </a:t>
            </a:r>
            <a:r>
              <a:rPr lang="en" sz="2000" b="1" dirty="0">
                <a:solidFill>
                  <a:schemeClr val="tx1"/>
                </a:solidFill>
              </a:rPr>
              <a:t>Supataeva</a:t>
            </a:r>
            <a:r>
              <a:rPr lang="en" sz="2000" dirty="0">
                <a:solidFill>
                  <a:schemeClr val="tx1"/>
                </a:solidFill>
              </a:rPr>
              <a:t>, </a:t>
            </a:r>
            <a:r>
              <a:rPr lang="en" sz="2000" dirty="0" smtClean="0">
                <a:solidFill>
                  <a:schemeClr val="tx1"/>
                </a:solidFill>
              </a:rPr>
              <a:t>SUCCESS </a:t>
            </a:r>
          </a:p>
          <a:p>
            <a:pPr marL="120650" lvl="0" indent="0" algn="ctr">
              <a:buNone/>
            </a:pPr>
            <a:r>
              <a:rPr lang="en" sz="2000" b="1" dirty="0" smtClean="0">
                <a:solidFill>
                  <a:schemeClr val="tx1"/>
                </a:solidFill>
              </a:rPr>
              <a:t>Kelsey </a:t>
            </a:r>
            <a:r>
              <a:rPr lang="en" sz="2000" b="1" dirty="0">
                <a:solidFill>
                  <a:schemeClr val="tx1"/>
                </a:solidFill>
              </a:rPr>
              <a:t>Ehler</a:t>
            </a:r>
            <a:r>
              <a:rPr lang="en" sz="2000" dirty="0">
                <a:solidFill>
                  <a:schemeClr val="tx1"/>
                </a:solidFill>
              </a:rPr>
              <a:t>, </a:t>
            </a:r>
            <a:r>
              <a:rPr lang="en" sz="2000" dirty="0" smtClean="0">
                <a:solidFill>
                  <a:schemeClr val="tx1"/>
                </a:solidFill>
              </a:rPr>
              <a:t>EPIK</a:t>
            </a:r>
          </a:p>
          <a:p>
            <a:pPr marL="120650" lvl="0" indent="0" algn="ctr">
              <a:buNone/>
            </a:pPr>
            <a:r>
              <a:rPr lang="en" sz="2000" dirty="0">
                <a:solidFill>
                  <a:schemeClr val="tx1"/>
                </a:solidFill>
              </a:rPr>
              <a:t>&amp;</a:t>
            </a:r>
          </a:p>
          <a:p>
            <a:pPr marL="120650" indent="0" algn="ctr">
              <a:buNone/>
            </a:pPr>
            <a:r>
              <a:rPr lang="en" sz="2000" b="1" dirty="0">
                <a:solidFill>
                  <a:schemeClr val="tx1"/>
                </a:solidFill>
              </a:rPr>
              <a:t>Laura Blumenthal</a:t>
            </a:r>
            <a:r>
              <a:rPr lang="en" sz="2000" dirty="0">
                <a:solidFill>
                  <a:schemeClr val="tx1"/>
                </a:solidFill>
              </a:rPr>
              <a:t>, </a:t>
            </a:r>
            <a:r>
              <a:rPr lang="en" sz="2000" dirty="0" smtClean="0">
                <a:solidFill>
                  <a:schemeClr val="tx1"/>
                </a:solidFill>
              </a:rPr>
              <a:t>Douglas College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928942"/>
            <a:ext cx="8229600" cy="1143000"/>
          </a:xfrm>
        </p:spPr>
        <p:txBody>
          <a:bodyPr/>
          <a:lstStyle/>
          <a:p>
            <a:r>
              <a:rPr lang="en-US" sz="3000" b="1" dirty="0" smtClean="0">
                <a:solidFill>
                  <a:schemeClr val="bg1"/>
                </a:solidFill>
              </a:rPr>
              <a:t>Conversation #2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10" name="Diamond 9"/>
          <p:cNvSpPr/>
          <p:nvPr/>
        </p:nvSpPr>
        <p:spPr>
          <a:xfrm>
            <a:off x="4500562" y="4428008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Diamond 10"/>
          <p:cNvSpPr/>
          <p:nvPr/>
        </p:nvSpPr>
        <p:spPr>
          <a:xfrm>
            <a:off x="4502248" y="6215082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0" y="6643710"/>
            <a:ext cx="9144000" cy="214290"/>
          </a:xfrm>
          <a:prstGeom prst="rect">
            <a:avLst/>
          </a:prstGeom>
          <a:solidFill>
            <a:srgbClr val="0066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036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pic>
          <p:nvPicPr>
            <p:cNvPr id="9" name="Picture 3" descr="C:\Users\Sung\Desktop\TSL Canada\3.jpg"/>
            <p:cNvPicPr>
              <a:picLocks noChangeAspect="1" noChangeArrowheads="1"/>
            </p:cNvPicPr>
            <p:nvPr/>
          </p:nvPicPr>
          <p:blipFill>
            <a:blip r:embed="rId3"/>
            <a:srcRect l="904"/>
            <a:stretch>
              <a:fillRect/>
            </a:stretch>
          </p:blipFill>
          <p:spPr bwMode="auto">
            <a:xfrm>
              <a:off x="-32" y="0"/>
              <a:ext cx="9144032" cy="6858000"/>
            </a:xfrm>
            <a:prstGeom prst="rect">
              <a:avLst/>
            </a:prstGeom>
            <a:noFill/>
          </p:spPr>
        </p:pic>
        <p:sp>
          <p:nvSpPr>
            <p:cNvPr id="8" name="Rectangle 7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395536" y="1525469"/>
            <a:ext cx="5729270" cy="433960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rtl="0">
              <a:buNone/>
            </a:pPr>
            <a:r>
              <a:rPr lang="en" sz="2200" dirty="0"/>
              <a:t> Elina Supataeva </a:t>
            </a:r>
            <a:r>
              <a:rPr lang="en" sz="2000" dirty="0"/>
              <a:t>(SUCCESS, Surrey, BC)</a:t>
            </a:r>
          </a:p>
          <a:p>
            <a:pPr marL="914400" lvl="0" indent="-317500" rtl="0">
              <a:buClr>
                <a:schemeClr val="dk1"/>
              </a:buClr>
              <a:buSzPct val="72916"/>
              <a:buFont typeface="Arial"/>
              <a:buChar char="•"/>
            </a:pPr>
            <a:endParaRPr lang="en" sz="2000" dirty="0" smtClean="0"/>
          </a:p>
          <a:p>
            <a:pPr marL="914400" lvl="0" indent="-317500" rtl="0">
              <a:buClr>
                <a:schemeClr val="dk1"/>
              </a:buClr>
              <a:buSzPct val="72916"/>
              <a:buFont typeface="Arial"/>
              <a:buChar char="•"/>
            </a:pPr>
            <a:endParaRPr lang="en" sz="2000" dirty="0" smtClean="0"/>
          </a:p>
          <a:p>
            <a:pPr marL="914400" lvl="0" indent="-317500" rtl="0">
              <a:buClr>
                <a:schemeClr val="dk1"/>
              </a:buClr>
              <a:buSzPct val="72916"/>
              <a:buFont typeface="Arial"/>
              <a:buChar char="•"/>
            </a:pPr>
            <a:r>
              <a:rPr lang="en" sz="2000" dirty="0" smtClean="0"/>
              <a:t>Preparing </a:t>
            </a:r>
            <a:r>
              <a:rPr lang="en" sz="2000" dirty="0"/>
              <a:t>a "unit summary"</a:t>
            </a:r>
          </a:p>
          <a:p>
            <a:pPr marL="914400" lvl="0" indent="-317500" rtl="0">
              <a:buClr>
                <a:schemeClr val="dk1"/>
              </a:buClr>
              <a:buSzPct val="72916"/>
              <a:buFont typeface="Arial"/>
              <a:buChar char="•"/>
            </a:pPr>
            <a:r>
              <a:rPr lang="en" sz="2000" dirty="0"/>
              <a:t>Using authentic </a:t>
            </a:r>
            <a:r>
              <a:rPr lang="en" sz="2000" dirty="0" smtClean="0"/>
              <a:t>materials</a:t>
            </a:r>
          </a:p>
          <a:p>
            <a:pPr lvl="0" rtl="0">
              <a:buNone/>
            </a:pPr>
            <a:endParaRPr lang="en" sz="2200" dirty="0" smtClean="0"/>
          </a:p>
          <a:p>
            <a:pPr lvl="0" rtl="0">
              <a:buNone/>
            </a:pPr>
            <a:r>
              <a:rPr lang="en" sz="2200" dirty="0" smtClean="0"/>
              <a:t>Kelsey </a:t>
            </a:r>
            <a:r>
              <a:rPr lang="en" sz="2200" dirty="0"/>
              <a:t>Ehler</a:t>
            </a:r>
            <a:r>
              <a:rPr lang="en" sz="2000" dirty="0"/>
              <a:t> (EPIK, Andong, Korea)</a:t>
            </a:r>
          </a:p>
          <a:p>
            <a:pPr marL="914400" lvl="0" indent="-317500" rtl="0">
              <a:buClr>
                <a:schemeClr val="dk1"/>
              </a:buClr>
              <a:buSzPct val="72916"/>
              <a:buFont typeface="Arial"/>
              <a:buChar char="•"/>
            </a:pPr>
            <a:endParaRPr lang="en" sz="2000" dirty="0" smtClean="0"/>
          </a:p>
          <a:p>
            <a:pPr marL="596900" lvl="0" indent="0" rtl="0">
              <a:buClr>
                <a:schemeClr val="dk1"/>
              </a:buClr>
              <a:buSzPct val="72916"/>
              <a:buNone/>
            </a:pPr>
            <a:endParaRPr lang="en" sz="2000" dirty="0"/>
          </a:p>
          <a:p>
            <a:pPr marL="914400" lvl="0" indent="-317500" rtl="0">
              <a:buClr>
                <a:schemeClr val="dk1"/>
              </a:buClr>
              <a:buSzPct val="72916"/>
              <a:buFont typeface="Arial"/>
              <a:buChar char="•"/>
            </a:pPr>
            <a:r>
              <a:rPr lang="en" sz="2000" dirty="0" smtClean="0"/>
              <a:t>Teaching </a:t>
            </a:r>
            <a:r>
              <a:rPr lang="en" sz="2000" dirty="0"/>
              <a:t>high-school children</a:t>
            </a:r>
          </a:p>
          <a:p>
            <a:pPr marL="914400" lvl="0" indent="-317500">
              <a:buClr>
                <a:schemeClr val="dk1"/>
              </a:buClr>
              <a:buSzPct val="72916"/>
              <a:buFont typeface="Arial"/>
              <a:buChar char="•"/>
            </a:pPr>
            <a:r>
              <a:rPr lang="en" sz="2000" dirty="0"/>
              <a:t>Teaching unmotivated students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071546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4" name="Shape 124"/>
          <p:cNvSpPr/>
          <p:nvPr/>
        </p:nvSpPr>
        <p:spPr>
          <a:xfrm>
            <a:off x="1115616" y="1916832"/>
            <a:ext cx="1228794" cy="71438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25" name="Shape 125"/>
          <p:cNvSpPr/>
          <p:nvPr/>
        </p:nvSpPr>
        <p:spPr>
          <a:xfrm>
            <a:off x="1115616" y="4238723"/>
            <a:ext cx="1385005" cy="78581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0" y="-263995"/>
            <a:ext cx="8929750" cy="135417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" sz="3000" dirty="0"/>
              <a:t>
</a:t>
            </a:r>
            <a:r>
              <a:rPr lang="en" sz="2700" b="1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Douglas</a:t>
            </a:r>
            <a:r>
              <a:rPr lang="en" sz="2700" b="1" i="0" u="none" strike="noStrike" cap="none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700" b="1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College Graduates                           </a:t>
            </a:r>
            <a:r>
              <a:rPr lang="en" sz="3000" b="1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sz="3000" b="1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200" b="0" i="0" u="none" strike="noStrike" cap="none" baseline="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Elina Supataeva &amp; Kelsey </a:t>
            </a:r>
            <a:r>
              <a:rPr lang="en" sz="2200" b="0" i="0" u="none" strike="noStrike" cap="none" baseline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Ehler  </a:t>
            </a:r>
            <a:r>
              <a:rPr lang="en" sz="2200" b="0" i="0" u="none" strike="noStrike" cap="none" baseline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" sz="2200" smtClean="0">
                <a:solidFill>
                  <a:schemeClr val="tx1"/>
                </a:solidFill>
              </a:rPr>
              <a:t>video</a:t>
            </a:r>
            <a:r>
              <a:rPr lang="en" sz="2200" b="0" i="0" u="none" strike="noStrike" cap="none" baseline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" sz="2200" b="0" i="0" u="none" strike="noStrike" cap="none" baseline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2100f784-1e4c-4702-9d5a-3aae30c5d1c9@exchserv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700808"/>
            <a:ext cx="1886973" cy="1758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dfb0674e-f068-4af3-a31f-9a5eeec02357@exchserve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953360"/>
            <a:ext cx="1886973" cy="185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552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pic>
          <p:nvPicPr>
            <p:cNvPr id="7" name="Picture 3" descr="C:\Users\Sung\Desktop\TSL Canada\3.jpg"/>
            <p:cNvPicPr>
              <a:picLocks noChangeAspect="1" noChangeArrowheads="1"/>
            </p:cNvPicPr>
            <p:nvPr/>
          </p:nvPicPr>
          <p:blipFill>
            <a:blip r:embed="rId3"/>
            <a:srcRect l="904"/>
            <a:stretch>
              <a:fillRect/>
            </a:stretch>
          </p:blipFill>
          <p:spPr bwMode="auto">
            <a:xfrm>
              <a:off x="-32" y="0"/>
              <a:ext cx="9144032" cy="6858000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17576" y="1428736"/>
            <a:ext cx="8269200" cy="15850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457200" lvl="0" indent="-317500" rtl="0">
              <a:buClr>
                <a:schemeClr val="dk1"/>
              </a:buClr>
              <a:buSzPct val="72916"/>
              <a:buFont typeface="Arial"/>
              <a:buChar char="•"/>
            </a:pPr>
            <a:r>
              <a:rPr lang="en" sz="2200" dirty="0"/>
              <a:t>Post-teaching write-ups</a:t>
            </a:r>
          </a:p>
          <a:p>
            <a:pPr marL="914400" lvl="1" indent="-317500" rtl="0">
              <a:buClr>
                <a:schemeClr val="dk1"/>
              </a:buClr>
              <a:buSzPct val="43750"/>
              <a:buNone/>
            </a:pPr>
            <a:r>
              <a:rPr lang="en" sz="2000" dirty="0" smtClean="0"/>
              <a:t>- Modeling </a:t>
            </a:r>
            <a:r>
              <a:rPr lang="en" sz="2000" dirty="0"/>
              <a:t>by TESL facilitators</a:t>
            </a:r>
          </a:p>
          <a:p>
            <a:pPr marL="914400" lvl="1" indent="-317500" rtl="0">
              <a:buClr>
                <a:schemeClr val="dk1"/>
              </a:buClr>
              <a:buSzPct val="43750"/>
              <a:buNone/>
            </a:pPr>
            <a:r>
              <a:rPr lang="en" sz="2000" dirty="0" smtClean="0"/>
              <a:t>- Showing </a:t>
            </a:r>
            <a:r>
              <a:rPr lang="en" sz="2000" dirty="0"/>
              <a:t>real-world samples</a:t>
            </a:r>
          </a:p>
          <a:p>
            <a:pPr marL="914400" lvl="1" indent="-317500" rtl="0">
              <a:buClr>
                <a:schemeClr val="dk1"/>
              </a:buClr>
              <a:buSzPct val="43750"/>
              <a:buNone/>
            </a:pPr>
            <a:r>
              <a:rPr lang="en" sz="2000" dirty="0" smtClean="0"/>
              <a:t>- Changing </a:t>
            </a:r>
            <a:r>
              <a:rPr lang="en" sz="2000" dirty="0"/>
              <a:t>practicum </a:t>
            </a:r>
            <a:r>
              <a:rPr lang="en" sz="2000" dirty="0" smtClean="0"/>
              <a:t>requirements</a:t>
            </a:r>
            <a:endParaRPr lang="en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-32" y="4502546"/>
            <a:ext cx="55435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317500">
              <a:buClr>
                <a:schemeClr val="dk1"/>
              </a:buClr>
              <a:buSzPct val="72916"/>
              <a:buFont typeface="Arial"/>
              <a:buChar char="•"/>
            </a:pPr>
            <a:r>
              <a:rPr lang="en" sz="2200" dirty="0" smtClean="0">
                <a:latin typeface="Calibri" pitchFamily="34" charset="0"/>
                <a:cs typeface="Calibri" pitchFamily="34" charset="0"/>
              </a:rPr>
              <a:t>Strategies for motivating the unmotivated:</a:t>
            </a:r>
          </a:p>
          <a:p>
            <a:pPr marL="914400" lvl="1" indent="-317500">
              <a:buClr>
                <a:schemeClr val="dk1"/>
              </a:buClr>
              <a:buSzPct val="43750"/>
            </a:pPr>
            <a:r>
              <a:rPr lang="en" sz="2000" dirty="0" smtClean="0">
                <a:latin typeface="Calibri" pitchFamily="34" charset="0"/>
                <a:cs typeface="Calibri" pitchFamily="34" charset="0"/>
              </a:rPr>
              <a:t>- Setting goals in "chunks"</a:t>
            </a:r>
          </a:p>
          <a:p>
            <a:pPr marL="914400" lvl="1" indent="-317500">
              <a:buClr>
                <a:schemeClr val="dk1"/>
              </a:buClr>
              <a:buSzPct val="43750"/>
            </a:pPr>
            <a:r>
              <a:rPr lang="en" sz="2000" dirty="0" smtClean="0">
                <a:latin typeface="Calibri" pitchFamily="34" charset="0"/>
                <a:cs typeface="Calibri" pitchFamily="34" charset="0"/>
              </a:rPr>
              <a:t>- Adding elements of competition</a:t>
            </a:r>
          </a:p>
          <a:p>
            <a:pPr marL="914400" lvl="1" indent="-317500">
              <a:buClr>
                <a:schemeClr val="dk1"/>
              </a:buClr>
              <a:buSzPct val="43750"/>
            </a:pPr>
            <a:r>
              <a:rPr lang="en" sz="2000" dirty="0" smtClean="0">
                <a:latin typeface="Calibri" pitchFamily="34" charset="0"/>
                <a:cs typeface="Calibri" pitchFamily="34" charset="0"/>
              </a:rPr>
              <a:t>- Project-driven curricula</a:t>
            </a:r>
          </a:p>
          <a:p>
            <a:endParaRPr lang="en-CA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32" y="2924944"/>
            <a:ext cx="560281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317500">
              <a:lnSpc>
                <a:spcPct val="150000"/>
              </a:lnSpc>
              <a:buClr>
                <a:schemeClr val="dk1"/>
              </a:buClr>
              <a:buSzPct val="72916"/>
              <a:buFont typeface="Arial"/>
              <a:buChar char="•"/>
            </a:pPr>
            <a:r>
              <a:rPr lang="en" sz="2200" dirty="0" smtClean="0">
                <a:latin typeface="Calibri" pitchFamily="34" charset="0"/>
                <a:cs typeface="Calibri" pitchFamily="34" charset="0"/>
              </a:rPr>
              <a:t>Materials adaptation techniques &amp; practice</a:t>
            </a:r>
          </a:p>
          <a:p>
            <a:pPr marL="457200" lvl="0" indent="-317500">
              <a:lnSpc>
                <a:spcPct val="150000"/>
              </a:lnSpc>
              <a:buClr>
                <a:schemeClr val="dk1"/>
              </a:buClr>
              <a:buSzPct val="72916"/>
              <a:buFont typeface="Arial"/>
              <a:buChar char="•"/>
            </a:pPr>
            <a:endParaRPr lang="en" sz="2200" dirty="0" smtClean="0">
              <a:latin typeface="Calibri" pitchFamily="34" charset="0"/>
              <a:cs typeface="Calibri" pitchFamily="34" charset="0"/>
            </a:endParaRPr>
          </a:p>
          <a:p>
            <a:pPr marL="457200" indent="-317500">
              <a:lnSpc>
                <a:spcPct val="150000"/>
              </a:lnSpc>
              <a:buSzPct val="72916"/>
              <a:buFont typeface="Arial" pitchFamily="34" charset="0"/>
              <a:buChar char="•"/>
            </a:pPr>
            <a:r>
              <a:rPr lang="en" sz="2200" dirty="0" smtClean="0">
                <a:latin typeface="Calibri" pitchFamily="34" charset="0"/>
                <a:cs typeface="Calibri" pitchFamily="34" charset="0"/>
              </a:rPr>
              <a:t>Adding an elective in teaching children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CA" sz="2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1071546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Shape 122"/>
          <p:cNvSpPr txBox="1">
            <a:spLocks/>
          </p:cNvSpPr>
          <p:nvPr/>
        </p:nvSpPr>
        <p:spPr>
          <a:xfrm>
            <a:off x="-32" y="-285776"/>
            <a:ext cx="5857916" cy="135417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Response</a:t>
            </a: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Laura Blumenthal, DC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build="p"/>
      <p:bldP spid="12" grpId="0" uiExpand="1" build="p"/>
      <p:bldP spid="1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Sung\Desktop\TSL Canada\2.jpg"/>
          <p:cNvPicPr>
            <a:picLocks noChangeAspect="1" noChangeArrowheads="1"/>
          </p:cNvPicPr>
          <p:nvPr/>
        </p:nvPicPr>
        <p:blipFill>
          <a:blip r:embed="rId2"/>
          <a:srcRect l="90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2143108" y="0"/>
            <a:ext cx="4857784" cy="6858000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28596" y="292894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Tx/>
              <a:buFont typeface="Calibr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Conversation #3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Diamond 11"/>
          <p:cNvSpPr/>
          <p:nvPr/>
        </p:nvSpPr>
        <p:spPr>
          <a:xfrm>
            <a:off x="4500562" y="4500570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Diamond 12"/>
          <p:cNvSpPr/>
          <p:nvPr/>
        </p:nvSpPr>
        <p:spPr>
          <a:xfrm>
            <a:off x="4502248" y="5929330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4612" y="3929090"/>
            <a:ext cx="3643338" cy="1500198"/>
          </a:xfrm>
        </p:spPr>
        <p:txBody>
          <a:bodyPr/>
          <a:lstStyle/>
          <a:p>
            <a:pPr marL="120650" lvl="0" indent="0" algn="ctr">
              <a:buNone/>
            </a:pPr>
            <a:endParaRPr lang="en" sz="2000" dirty="0" smtClean="0">
              <a:solidFill>
                <a:srgbClr val="888888"/>
              </a:solidFill>
            </a:endParaRPr>
          </a:p>
          <a:p>
            <a:pPr marL="120650" lvl="0" indent="0" algn="ctr">
              <a:buNone/>
            </a:pPr>
            <a:endParaRPr lang="en" sz="2000" dirty="0">
              <a:solidFill>
                <a:srgbClr val="888888"/>
              </a:solidFill>
            </a:endParaRPr>
          </a:p>
          <a:p>
            <a:pPr marL="120650" lvl="0" indent="0" algn="ctr">
              <a:buNone/>
            </a:pPr>
            <a:r>
              <a:rPr lang="en" sz="2000" b="1" dirty="0" smtClean="0"/>
              <a:t>Jessica Bedford</a:t>
            </a:r>
            <a:r>
              <a:rPr lang="en" sz="2000" dirty="0" smtClean="0"/>
              <a:t>, UBCO</a:t>
            </a:r>
          </a:p>
          <a:p>
            <a:pPr marL="120650" lvl="0" indent="0" algn="ctr">
              <a:buNone/>
            </a:pPr>
            <a:r>
              <a:rPr lang="en" sz="2000" dirty="0"/>
              <a:t>&amp;</a:t>
            </a:r>
          </a:p>
          <a:p>
            <a:pPr marL="120650" indent="0" algn="ctr">
              <a:buNone/>
            </a:pPr>
            <a:r>
              <a:rPr lang="en" sz="2000" b="1" dirty="0" smtClean="0">
                <a:solidFill>
                  <a:schemeClr val="tx1"/>
                </a:solidFill>
              </a:rPr>
              <a:t>Karen Rauser</a:t>
            </a:r>
            <a:r>
              <a:rPr lang="en" sz="2000" dirty="0" smtClean="0">
                <a:solidFill>
                  <a:schemeClr val="tx1"/>
                </a:solidFill>
              </a:rPr>
              <a:t>, UBCO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0" y="6643734"/>
            <a:ext cx="9144000" cy="214290"/>
          </a:xfrm>
          <a:prstGeom prst="rect">
            <a:avLst/>
          </a:prstGeom>
          <a:solidFill>
            <a:srgbClr val="0066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74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36" name="Shape 136"/>
          <p:cNvSpPr txBox="1">
            <a:spLocks noGrp="1"/>
          </p:cNvSpPr>
          <p:nvPr>
            <p:ph type="title"/>
          </p:nvPr>
        </p:nvSpPr>
        <p:spPr>
          <a:xfrm>
            <a:off x="57176" y="214290"/>
            <a:ext cx="8229600" cy="8463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" sz="2700" b="1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Okanagan College</a:t>
            </a:r>
            <a:r>
              <a:rPr lang="en" sz="2700" b="1" i="0" u="none" strike="noStrike" cap="none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Graduate</a:t>
            </a:r>
            <a:r>
              <a:rPr lang="en" sz="3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sz="3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200" dirty="0" smtClean="0"/>
              <a:t>Jessica Bedford</a:t>
            </a:r>
            <a:endParaRPr lang="en" sz="22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Shape 137"/>
          <p:cNvSpPr txBox="1">
            <a:spLocks noGrp="1"/>
          </p:cNvSpPr>
          <p:nvPr>
            <p:ph type="body" idx="1"/>
          </p:nvPr>
        </p:nvSpPr>
        <p:spPr>
          <a:xfrm>
            <a:off x="385762" y="1933923"/>
            <a:ext cx="9615526" cy="292383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r>
              <a:rPr lang="en" sz="2200" dirty="0" smtClean="0"/>
              <a:t>Context</a:t>
            </a:r>
            <a:r>
              <a:rPr lang="en" sz="2200" dirty="0"/>
              <a:t>: </a:t>
            </a:r>
            <a:r>
              <a:rPr lang="en" sz="2000" dirty="0"/>
              <a:t>ELSA Level 3 Oral Advancement </a:t>
            </a:r>
            <a:r>
              <a:rPr lang="en" sz="2000" dirty="0" smtClean="0"/>
              <a:t>Assessments</a:t>
            </a:r>
          </a:p>
          <a:p>
            <a:pPr lvl="0" rtl="0">
              <a:buFontTx/>
              <a:buChar char="-"/>
            </a:pPr>
            <a:endParaRPr lang="en" sz="2200" dirty="0"/>
          </a:p>
          <a:p>
            <a:r>
              <a:rPr lang="en" sz="2200" dirty="0" smtClean="0"/>
              <a:t>Critical </a:t>
            </a:r>
            <a:r>
              <a:rPr lang="en" sz="2200" dirty="0"/>
              <a:t>Questions: </a:t>
            </a:r>
          </a:p>
          <a:p>
            <a:pPr lvl="0" rtl="0">
              <a:buNone/>
            </a:pPr>
            <a:r>
              <a:rPr lang="en" sz="2000" dirty="0" smtClean="0"/>
              <a:t>       - How </a:t>
            </a:r>
            <a:r>
              <a:rPr lang="en" sz="2000" dirty="0"/>
              <a:t>do I assess students without having practical experience? </a:t>
            </a:r>
          </a:p>
          <a:p>
            <a:pPr lvl="0" rtl="0">
              <a:buNone/>
            </a:pPr>
            <a:r>
              <a:rPr lang="en" sz="2000" dirty="0" smtClean="0"/>
              <a:t>       - How </a:t>
            </a:r>
            <a:r>
              <a:rPr lang="en" sz="2000" dirty="0"/>
              <a:t>can I prevent bias from entering into testing?</a:t>
            </a:r>
          </a:p>
          <a:p>
            <a:pPr marL="120650" lvl="0" rtl="0">
              <a:buNone/>
            </a:pPr>
            <a:r>
              <a:rPr lang="en" sz="2000" dirty="0" smtClean="0"/>
              <a:t>         - How </a:t>
            </a:r>
            <a:r>
              <a:rPr lang="en" sz="2000" dirty="0"/>
              <a:t>can I perfect my testing skills</a:t>
            </a:r>
            <a:r>
              <a:rPr lang="en" sz="2200" dirty="0"/>
              <a:t>?</a:t>
            </a:r>
          </a:p>
          <a:p>
            <a:endParaRPr lang="en" sz="2200" dirty="0"/>
          </a:p>
        </p:txBody>
      </p:sp>
      <p:sp>
        <p:nvSpPr>
          <p:cNvPr id="9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414366" y="2016373"/>
            <a:ext cx="8229600" cy="27699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284163" lvl="0" indent="-163513" rtl="0">
              <a:buClr>
                <a:srgbClr val="000000"/>
              </a:buClr>
              <a:buSzPct val="34375"/>
              <a:buFont typeface="Arial"/>
              <a:buNone/>
            </a:pPr>
            <a:r>
              <a:rPr lang="en" sz="2200" dirty="0"/>
              <a:t>
"The testing discipline sometimes possesses an aura of sanctity that can cause teachers to feel inadequate as they approach the task of mastering principles and designing effective instruments." </a:t>
            </a:r>
            <a:endParaRPr lang="en" sz="2200" dirty="0" smtClean="0"/>
          </a:p>
          <a:p>
            <a:pPr lvl="0" rtl="0">
              <a:buClr>
                <a:srgbClr val="000000"/>
              </a:buClr>
              <a:buSzPct val="34375"/>
              <a:buFont typeface="Arial"/>
              <a:buNone/>
            </a:pPr>
            <a:r>
              <a:rPr lang="en" sz="2200" dirty="0" smtClean="0"/>
              <a:t>   (</a:t>
            </a:r>
            <a:r>
              <a:rPr lang="en" sz="2200" dirty="0"/>
              <a:t>Brown, 2010, p. x)</a:t>
            </a:r>
          </a:p>
          <a:p>
            <a:endParaRPr lang="en" sz="2200" dirty="0"/>
          </a:p>
          <a:p>
            <a:endParaRPr lang="en" sz="2200" dirty="0"/>
          </a:p>
        </p:txBody>
      </p:sp>
      <p:sp>
        <p:nvSpPr>
          <p:cNvPr id="9" name="Shape 122"/>
          <p:cNvSpPr txBox="1">
            <a:spLocks/>
          </p:cNvSpPr>
          <p:nvPr/>
        </p:nvSpPr>
        <p:spPr>
          <a:xfrm>
            <a:off x="-32" y="-285776"/>
            <a:ext cx="5857916" cy="135417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kumimoji="0" lang="e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Karen Rauser, UBCO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48" name="Shape 148"/>
          <p:cNvSpPr txBox="1"/>
          <p:nvPr/>
        </p:nvSpPr>
        <p:spPr>
          <a:xfrm>
            <a:off x="285720" y="1428736"/>
            <a:ext cx="8501090" cy="4231897"/>
          </a:xfrm>
          <a:prstGeom prst="rect">
            <a:avLst/>
          </a:prstGeom>
          <a:noFill/>
        </p:spPr>
        <p:txBody>
          <a:bodyPr wrap="square" lIns="91425" tIns="91425" rIns="91425" bIns="91425" anchor="t" anchorCtr="0">
            <a:spAutoFit/>
          </a:bodyPr>
          <a:lstStyle/>
          <a:p>
            <a:pPr lvl="0" rtl="0">
              <a:buFont typeface="Arial" pitchFamily="34" charset="0"/>
              <a:buChar char="•"/>
            </a:pPr>
            <a:r>
              <a:rPr lang="en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" sz="2100" dirty="0" smtClean="0">
                <a:latin typeface="Calibri" pitchFamily="34" charset="0"/>
                <a:cs typeface="Calibri" pitchFamily="34" charset="0"/>
              </a:rPr>
              <a:t>Practical </a:t>
            </a:r>
            <a:r>
              <a:rPr lang="en" sz="2100" dirty="0">
                <a:latin typeface="Calibri" pitchFamily="34" charset="0"/>
                <a:cs typeface="Calibri" pitchFamily="34" charset="0"/>
              </a:rPr>
              <a:t>t</a:t>
            </a:r>
            <a:r>
              <a:rPr lang="en" sz="2100" dirty="0" smtClean="0">
                <a:latin typeface="Calibri" pitchFamily="34" charset="0"/>
                <a:cs typeface="Calibri" pitchFamily="34" charset="0"/>
              </a:rPr>
              <a:t>eaching </a:t>
            </a:r>
            <a:r>
              <a:rPr lang="en" sz="2100" dirty="0">
                <a:latin typeface="Calibri" pitchFamily="34" charset="0"/>
                <a:cs typeface="Calibri" pitchFamily="34" charset="0"/>
              </a:rPr>
              <a:t>on </a:t>
            </a:r>
            <a:r>
              <a:rPr lang="en" sz="2100" dirty="0" smtClean="0">
                <a:latin typeface="Calibri" pitchFamily="34" charset="0"/>
                <a:cs typeface="Calibri" pitchFamily="34" charset="0"/>
              </a:rPr>
              <a:t>assessment </a:t>
            </a:r>
            <a:r>
              <a:rPr lang="en" sz="2100" dirty="0">
                <a:latin typeface="Calibri" pitchFamily="34" charset="0"/>
                <a:cs typeface="Calibri" pitchFamily="34" charset="0"/>
              </a:rPr>
              <a:t>should include: </a:t>
            </a:r>
          </a:p>
          <a:p>
            <a:pPr lvl="0" rtl="0">
              <a:buNone/>
            </a:pPr>
            <a:r>
              <a:rPr lang="en" sz="1900" dirty="0" smtClean="0">
                <a:latin typeface="Calibri" pitchFamily="34" charset="0"/>
                <a:cs typeface="Calibri" pitchFamily="34" charset="0"/>
              </a:rPr>
              <a:t>               -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familiarity with Benchmarks/standards of assessment</a:t>
            </a:r>
          </a:p>
          <a:p>
            <a:pPr lvl="0" rtl="0">
              <a:buNone/>
            </a:pPr>
            <a:r>
              <a:rPr lang="en" sz="1900" dirty="0" smtClean="0">
                <a:latin typeface="Calibri" pitchFamily="34" charset="0"/>
                <a:cs typeface="Calibri" pitchFamily="34" charset="0"/>
              </a:rPr>
              <a:t>               -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exemplars</a:t>
            </a:r>
          </a:p>
          <a:p>
            <a:pPr lvl="0" rtl="0">
              <a:buNone/>
            </a:pPr>
            <a:r>
              <a:rPr lang="en" sz="1900" dirty="0" smtClean="0">
                <a:latin typeface="Calibri" pitchFamily="34" charset="0"/>
                <a:cs typeface="Calibri" pitchFamily="34" charset="0"/>
              </a:rPr>
              <a:t>               -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practice with assessment. </a:t>
            </a:r>
          </a:p>
          <a:p>
            <a:endParaRPr lang="en" dirty="0">
              <a:latin typeface="Calibri" pitchFamily="34" charset="0"/>
              <a:cs typeface="Calibri" pitchFamily="34" charset="0"/>
            </a:endParaRPr>
          </a:p>
          <a:p>
            <a:pPr lvl="0" rtl="0">
              <a:buFont typeface="Arial" pitchFamily="34" charset="0"/>
              <a:buChar char="•"/>
            </a:pPr>
            <a:r>
              <a:rPr lang="en" sz="2100" dirty="0" smtClean="0">
                <a:latin typeface="Calibri" pitchFamily="34" charset="0"/>
                <a:cs typeface="Calibri" pitchFamily="34" charset="0"/>
              </a:rPr>
              <a:t> Theoretical </a:t>
            </a:r>
            <a:r>
              <a:rPr lang="en" sz="2100" dirty="0">
                <a:latin typeface="Calibri" pitchFamily="34" charset="0"/>
                <a:cs typeface="Calibri" pitchFamily="34" charset="0"/>
              </a:rPr>
              <a:t>base - might be beyond the scope of this </a:t>
            </a:r>
            <a:r>
              <a:rPr lang="en" sz="2100" dirty="0" smtClean="0">
                <a:latin typeface="Calibri" pitchFamily="34" charset="0"/>
                <a:cs typeface="Calibri" pitchFamily="34" charset="0"/>
              </a:rPr>
              <a:t>program,                      but </a:t>
            </a:r>
            <a:r>
              <a:rPr lang="en" sz="2100" dirty="0">
                <a:latin typeface="Calibri" pitchFamily="34" charset="0"/>
                <a:cs typeface="Calibri" pitchFamily="34" charset="0"/>
              </a:rPr>
              <a:t>could include: </a:t>
            </a:r>
          </a:p>
          <a:p>
            <a:pPr lvl="0" rtl="0">
              <a:buNone/>
            </a:pPr>
            <a:r>
              <a:rPr lang="en" sz="1900" dirty="0" smtClean="0">
                <a:latin typeface="Calibri" pitchFamily="34" charset="0"/>
                <a:cs typeface="Calibri" pitchFamily="34" charset="0"/>
              </a:rPr>
              <a:t>               -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principles of assessment: V-WRAP</a:t>
            </a:r>
          </a:p>
          <a:p>
            <a:pPr lvl="0" rtl="0">
              <a:buNone/>
            </a:pPr>
            <a:r>
              <a:rPr lang="en" sz="1900" dirty="0" smtClean="0">
                <a:latin typeface="Calibri" pitchFamily="34" charset="0"/>
                <a:cs typeface="Calibri" pitchFamily="34" charset="0"/>
              </a:rPr>
              <a:t>               -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formative vs summative</a:t>
            </a:r>
          </a:p>
          <a:p>
            <a:pPr lvl="0" rtl="0">
              <a:buNone/>
            </a:pPr>
            <a:r>
              <a:rPr lang="en" sz="1900" dirty="0" smtClean="0">
                <a:latin typeface="Calibri" pitchFamily="34" charset="0"/>
                <a:cs typeface="Calibri" pitchFamily="34" charset="0"/>
              </a:rPr>
              <a:t>               -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variety of assessment tasks</a:t>
            </a:r>
          </a:p>
          <a:p>
            <a:endParaRPr lang="en" dirty="0">
              <a:latin typeface="Calibri" pitchFamily="34" charset="0"/>
              <a:cs typeface="Calibri" pitchFamily="34" charset="0"/>
            </a:endParaRPr>
          </a:p>
          <a:p>
            <a:pPr lvl="0" rtl="0">
              <a:buFont typeface="Arial" pitchFamily="34" charset="0"/>
              <a:buChar char="•"/>
            </a:pPr>
            <a:r>
              <a:rPr lang="en" sz="2100" dirty="0">
                <a:latin typeface="Calibri" pitchFamily="34" charset="0"/>
                <a:cs typeface="Calibri" pitchFamily="34" charset="0"/>
              </a:rPr>
              <a:t> </a:t>
            </a:r>
            <a:r>
              <a:rPr lang="en" sz="2100" dirty="0" smtClean="0">
                <a:latin typeface="Calibri" pitchFamily="34" charset="0"/>
                <a:cs typeface="Calibri" pitchFamily="34" charset="0"/>
              </a:rPr>
              <a:t>Possible </a:t>
            </a:r>
            <a:r>
              <a:rPr lang="en" sz="2100" dirty="0">
                <a:latin typeface="Calibri" pitchFamily="34" charset="0"/>
                <a:cs typeface="Calibri" pitchFamily="34" charset="0"/>
              </a:rPr>
              <a:t>p</a:t>
            </a:r>
            <a:r>
              <a:rPr lang="en" sz="2100" dirty="0" smtClean="0">
                <a:latin typeface="Calibri" pitchFamily="34" charset="0"/>
                <a:cs typeface="Calibri" pitchFamily="34" charset="0"/>
              </a:rPr>
              <a:t>rogram </a:t>
            </a:r>
            <a:r>
              <a:rPr lang="en" sz="2100" dirty="0">
                <a:latin typeface="Calibri" pitchFamily="34" charset="0"/>
                <a:cs typeface="Calibri" pitchFamily="34" charset="0"/>
              </a:rPr>
              <a:t>s</a:t>
            </a:r>
            <a:r>
              <a:rPr lang="en" sz="2100" dirty="0" smtClean="0">
                <a:latin typeface="Calibri" pitchFamily="34" charset="0"/>
                <a:cs typeface="Calibri" pitchFamily="34" charset="0"/>
              </a:rPr>
              <a:t>olutions</a:t>
            </a:r>
            <a:r>
              <a:rPr lang="en" sz="2100" dirty="0">
                <a:latin typeface="Calibri" pitchFamily="34" charset="0"/>
                <a:cs typeface="Calibri" pitchFamily="34" charset="0"/>
              </a:rPr>
              <a:t>: </a:t>
            </a:r>
          </a:p>
          <a:p>
            <a:pPr lvl="0" rtl="0">
              <a:buNone/>
            </a:pPr>
            <a:r>
              <a:rPr lang="en" sz="1900" dirty="0" smtClean="0">
                <a:latin typeface="Calibri" pitchFamily="34" charset="0"/>
                <a:cs typeface="Calibri" pitchFamily="34" charset="0"/>
              </a:rPr>
              <a:t>               -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D</a:t>
            </a:r>
            <a:r>
              <a:rPr lang="en" sz="1900" dirty="0" smtClean="0">
                <a:latin typeface="Calibri" pitchFamily="34" charset="0"/>
                <a:cs typeface="Calibri" pitchFamily="34" charset="0"/>
              </a:rPr>
              <a:t>on't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skip assessment!</a:t>
            </a:r>
          </a:p>
          <a:p>
            <a:pPr>
              <a:buNone/>
            </a:pPr>
            <a:r>
              <a:rPr lang="en" sz="1900" dirty="0" smtClean="0">
                <a:latin typeface="Calibri" pitchFamily="34" charset="0"/>
                <a:cs typeface="Calibri" pitchFamily="34" charset="0"/>
              </a:rPr>
              <a:t>               -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Assessment as </a:t>
            </a:r>
            <a:r>
              <a:rPr lang="en" sz="1900" dirty="0" smtClean="0">
                <a:latin typeface="Calibri" pitchFamily="34" charset="0"/>
                <a:cs typeface="Calibri" pitchFamily="34" charset="0"/>
              </a:rPr>
              <a:t>its </a:t>
            </a:r>
            <a:r>
              <a:rPr lang="en" sz="1900" dirty="0">
                <a:latin typeface="Calibri" pitchFamily="34" charset="0"/>
                <a:cs typeface="Calibri" pitchFamily="34" charset="0"/>
              </a:rPr>
              <a:t>own module or elective course?</a:t>
            </a:r>
          </a:p>
        </p:txBody>
      </p:sp>
      <p:sp>
        <p:nvSpPr>
          <p:cNvPr id="9" name="Shape 122"/>
          <p:cNvSpPr txBox="1">
            <a:spLocks/>
          </p:cNvSpPr>
          <p:nvPr/>
        </p:nvSpPr>
        <p:spPr>
          <a:xfrm>
            <a:off x="-32" y="-285776"/>
            <a:ext cx="5857916" cy="135417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kumimoji="0" lang="e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kumimoji="0" lang="e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" sz="25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cont... </a:t>
            </a: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Karen Rauser, UBCO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Sung\Desktop\TSL Canada\2.jpg"/>
          <p:cNvPicPr>
            <a:picLocks noChangeAspect="1" noChangeArrowheads="1"/>
          </p:cNvPicPr>
          <p:nvPr/>
        </p:nvPicPr>
        <p:blipFill>
          <a:blip r:embed="rId2"/>
          <a:srcRect l="90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143108" y="0"/>
            <a:ext cx="4857784" cy="6858000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28596" y="292894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/>
          <a:p>
            <a:pPr marL="0" marR="0" lvl="0" indent="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Conversation #4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Diamond 6"/>
          <p:cNvSpPr/>
          <p:nvPr/>
        </p:nvSpPr>
        <p:spPr>
          <a:xfrm>
            <a:off x="4500562" y="4428008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Diamond 7"/>
          <p:cNvSpPr/>
          <p:nvPr/>
        </p:nvSpPr>
        <p:spPr>
          <a:xfrm>
            <a:off x="4502248" y="5856768"/>
            <a:ext cx="144000" cy="144000"/>
          </a:xfrm>
          <a:prstGeom prst="diamond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86050" y="3786190"/>
            <a:ext cx="3500494" cy="1928826"/>
          </a:xfrm>
        </p:spPr>
        <p:txBody>
          <a:bodyPr/>
          <a:lstStyle/>
          <a:p>
            <a:pPr marL="120650" lvl="0" indent="0" algn="ctr">
              <a:buNone/>
            </a:pPr>
            <a:endParaRPr lang="en" sz="2000" dirty="0" smtClean="0">
              <a:solidFill>
                <a:srgbClr val="888888"/>
              </a:solidFill>
            </a:endParaRPr>
          </a:p>
          <a:p>
            <a:pPr marL="120650" lvl="0" indent="0" algn="ctr">
              <a:buNone/>
            </a:pPr>
            <a:endParaRPr lang="en" sz="2000" dirty="0">
              <a:solidFill>
                <a:srgbClr val="888888"/>
              </a:solidFill>
            </a:endParaRPr>
          </a:p>
          <a:p>
            <a:pPr marL="120650" indent="0" algn="ctr">
              <a:buNone/>
            </a:pPr>
            <a:r>
              <a:rPr lang="en" sz="2000" b="1" dirty="0" smtClean="0">
                <a:solidFill>
                  <a:schemeClr val="tx1"/>
                </a:solidFill>
              </a:rPr>
              <a:t>Nathan Kielstra</a:t>
            </a:r>
            <a:r>
              <a:rPr lang="en" sz="2000" dirty="0" smtClean="0">
                <a:solidFill>
                  <a:schemeClr val="tx1"/>
                </a:solidFill>
              </a:rPr>
              <a:t>, TWU</a:t>
            </a:r>
          </a:p>
          <a:p>
            <a:pPr marL="120650" indent="0" algn="ctr">
              <a:buNone/>
            </a:pPr>
            <a:r>
              <a:rPr lang="en" sz="2000" dirty="0">
                <a:solidFill>
                  <a:schemeClr val="tx1"/>
                </a:solidFill>
              </a:rPr>
              <a:t>&amp;</a:t>
            </a:r>
          </a:p>
          <a:p>
            <a:pPr marL="120650" lvl="0" indent="0" algn="ctr">
              <a:buNone/>
            </a:pPr>
            <a:r>
              <a:rPr lang="en" sz="2000" b="1" dirty="0" smtClean="0">
                <a:solidFill>
                  <a:schemeClr val="tx1"/>
                </a:solidFill>
              </a:rPr>
              <a:t>Carolyn Kristj</a:t>
            </a:r>
            <a:r>
              <a:rPr lang="is-IS" sz="2000" b="1" dirty="0" smtClean="0">
                <a:solidFill>
                  <a:schemeClr val="tx1"/>
                </a:solidFill>
              </a:rPr>
              <a:t>ánsson</a:t>
            </a:r>
            <a:r>
              <a:rPr lang="en" sz="2000" dirty="0" smtClean="0">
                <a:solidFill>
                  <a:schemeClr val="tx1"/>
                </a:solidFill>
              </a:rPr>
              <a:t>, TWU </a:t>
            </a:r>
          </a:p>
          <a:p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6643710"/>
            <a:ext cx="9144000" cy="214290"/>
          </a:xfrm>
          <a:prstGeom prst="rect">
            <a:avLst/>
          </a:prstGeom>
          <a:solidFill>
            <a:srgbClr val="0066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904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285720" y="1196752"/>
            <a:ext cx="8229600" cy="48705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r>
              <a:rPr lang="en" sz="21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Graduate </a:t>
            </a:r>
            <a:r>
              <a:rPr lang="en" sz="21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lang="en" sz="21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 TESOL program, first semester of instructing </a:t>
            </a:r>
            <a:r>
              <a:rPr lang="en" sz="21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post-secondary </a:t>
            </a:r>
            <a:r>
              <a:rPr lang="en" sz="21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courses at the university</a:t>
            </a:r>
            <a:r>
              <a:rPr lang="en" sz="21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342900" marR="0" lvl="0" indent="-342900" algn="l" rtl="0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endParaRPr lang="en" sz="21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r>
              <a:rPr lang="en" sz="21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biggest challenge:   </a:t>
            </a:r>
            <a:endParaRPr lang="en" sz="2100" b="0" i="0" u="none" strike="noStrike" cap="none" baseline="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80"/>
              </a:spcBef>
              <a:buClr>
                <a:schemeClr val="dk1"/>
              </a:buClr>
              <a:buSzPct val="100694"/>
              <a:buNone/>
            </a:pPr>
            <a:r>
              <a:rPr lang="en" sz="2100" dirty="0" smtClean="0"/>
              <a:t>      </a:t>
            </a:r>
            <a:r>
              <a:rPr lang="en" sz="21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" sz="21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is/should be my relationship with my students</a:t>
            </a:r>
            <a:r>
              <a:rPr lang="en" sz="21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342900" marR="0" lvl="0" indent="-342900" algn="l" rtl="0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endParaRPr lang="en" sz="21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r>
              <a:rPr lang="en" sz="2100" dirty="0" smtClean="0"/>
              <a:t>Four</a:t>
            </a:r>
            <a:r>
              <a:rPr lang="en" sz="21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1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stories that illustrate the challenge:</a:t>
            </a:r>
          </a:p>
          <a:p>
            <a:pPr marL="742950" marR="0" lvl="1" indent="-285750" algn="l" rtl="0">
              <a:spcBef>
                <a:spcPts val="400"/>
              </a:spcBef>
              <a:buClr>
                <a:schemeClr val="dk1"/>
              </a:buClr>
              <a:buSzPct val="100000"/>
              <a:buNone/>
            </a:pPr>
            <a:r>
              <a:rPr lang="en" sz="19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Magician (The </a:t>
            </a:r>
            <a:r>
              <a:rPr lang="en" sz="19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I never </a:t>
            </a:r>
            <a:r>
              <a:rPr lang="en" sz="19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knew)</a:t>
            </a:r>
            <a:endParaRPr lang="en" sz="19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00"/>
              </a:spcBef>
              <a:buClr>
                <a:schemeClr val="dk1"/>
              </a:buClr>
              <a:buSzPct val="100000"/>
              <a:buNone/>
            </a:pPr>
            <a:r>
              <a:rPr lang="en" sz="19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Ghost (The </a:t>
            </a:r>
            <a:r>
              <a:rPr lang="en" sz="19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who never </a:t>
            </a:r>
            <a:r>
              <a:rPr lang="en" sz="19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tried)</a:t>
            </a:r>
            <a:endParaRPr lang="en" sz="19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00"/>
              </a:spcBef>
              <a:buClr>
                <a:schemeClr val="dk1"/>
              </a:buClr>
              <a:buSzPct val="100000"/>
              <a:buNone/>
            </a:pPr>
            <a:r>
              <a:rPr lang="en" sz="19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Desperate “Criminal” (The student</a:t>
            </a:r>
            <a:r>
              <a:rPr lang="en" sz="19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who takes the wrong path)</a:t>
            </a:r>
          </a:p>
          <a:p>
            <a:pPr marL="742950" marR="0" lvl="1" indent="-285750" algn="l" rtl="0">
              <a:spcBef>
                <a:spcPts val="400"/>
              </a:spcBef>
              <a:buClr>
                <a:schemeClr val="dk1"/>
              </a:buClr>
              <a:buSzPct val="100000"/>
              <a:buNone/>
            </a:pPr>
            <a:r>
              <a:rPr lang="en" sz="1900" baseline="0" dirty="0" smtClean="0"/>
              <a:t>- The</a:t>
            </a:r>
            <a:r>
              <a:rPr lang="en" sz="1900" dirty="0" smtClean="0"/>
              <a:t> Timid Leader (The student who takes the right path)</a:t>
            </a:r>
          </a:p>
          <a:p>
            <a:pPr marL="742950" marR="0" lvl="1" indent="-28575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endParaRPr lang="en" sz="21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50"/>
              </a:spcBef>
              <a:buClr>
                <a:schemeClr val="dk1"/>
              </a:buClr>
              <a:buSzPct val="100694"/>
              <a:buFont typeface="Arial"/>
              <a:buChar char="•"/>
            </a:pPr>
            <a:r>
              <a:rPr lang="en" sz="21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university ELT: Educator, Advisor, Advocate, or Mentor?</a:t>
            </a:r>
          </a:p>
        </p:txBody>
      </p:sp>
      <p:sp>
        <p:nvSpPr>
          <p:cNvPr id="9" name="Shape 136"/>
          <p:cNvSpPr txBox="1">
            <a:spLocks/>
          </p:cNvSpPr>
          <p:nvPr/>
        </p:nvSpPr>
        <p:spPr>
          <a:xfrm>
            <a:off x="57176" y="214290"/>
            <a:ext cx="8229600" cy="8463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TWU Graduate</a:t>
            </a: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Nathan Kielstra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285720" y="1547707"/>
            <a:ext cx="8462744" cy="115412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200" dirty="0" smtClean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• What </a:t>
            </a:r>
            <a:r>
              <a:rPr lang="en" sz="2200" dirty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should my relationship be?</a:t>
            </a: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000" dirty="0" smtClean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- Judgement </a:t>
            </a:r>
            <a:r>
              <a:rPr lang="en" sz="2000" dirty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grounded in values &amp; beliefs                                           </a:t>
            </a:r>
            <a:endParaRPr lang="en" sz="2000" dirty="0" smtClean="0">
              <a:solidFill>
                <a:srgbClr val="000000"/>
              </a:solidFill>
              <a:latin typeface="Calibri" pitchFamily="34" charset="0"/>
              <a:ea typeface="Arial"/>
              <a:cs typeface="Calibri" pitchFamily="34" charset="0"/>
              <a:sym typeface="Arial"/>
            </a:endParaRPr>
          </a:p>
          <a:p>
            <a:pPr marL="45720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 dirty="0" smtClean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e.g</a:t>
            </a:r>
            <a:r>
              <a:rPr lang="en" sz="1800" dirty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., </a:t>
            </a:r>
            <a:r>
              <a:rPr lang="en" sz="1800" dirty="0" smtClean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cultural, professional</a:t>
            </a:r>
            <a:r>
              <a:rPr lang="en" sz="1800" dirty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, institutional</a:t>
            </a:r>
            <a:r>
              <a:rPr lang="en" sz="1800" dirty="0" smtClean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, philosophical, spiritual</a:t>
            </a:r>
            <a:r>
              <a:rPr lang="en" sz="1800" dirty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, religious</a:t>
            </a:r>
            <a:r>
              <a:rPr lang="en" sz="1800" dirty="0" smtClean="0">
                <a:solidFill>
                  <a:srgbClr val="000000"/>
                </a:solidFill>
                <a:latin typeface="Calibri" pitchFamily="34" charset="0"/>
                <a:ea typeface="Arial"/>
                <a:cs typeface="Calibri" pitchFamily="34" charset="0"/>
                <a:sym typeface="Arial"/>
              </a:rPr>
              <a:t>, personal </a:t>
            </a:r>
          </a:p>
        </p:txBody>
      </p:sp>
      <p:sp>
        <p:nvSpPr>
          <p:cNvPr id="9" name="Shape 122"/>
          <p:cNvSpPr txBox="1">
            <a:spLocks/>
          </p:cNvSpPr>
          <p:nvPr/>
        </p:nvSpPr>
        <p:spPr>
          <a:xfrm>
            <a:off x="-32" y="-285776"/>
            <a:ext cx="5857916" cy="13849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ct val="25000"/>
              <a:defRPr/>
            </a:pP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kumimoji="0" lang="e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00" dirty="0" smtClean="0">
                <a:latin typeface="Calibri" pitchFamily="34" charset="0"/>
                <a:cs typeface="Calibri" pitchFamily="34" charset="0"/>
              </a:rPr>
              <a:t>Carolyn </a:t>
            </a:r>
            <a:r>
              <a:rPr lang="en" sz="2200" dirty="0" smtClean="0">
                <a:solidFill>
                  <a:schemeClr val="dk1"/>
                </a:solidFill>
                <a:latin typeface="Calibri" pitchFamily="34" charset="0"/>
                <a:ea typeface="Calibri"/>
                <a:cs typeface="Calibri" pitchFamily="34" charset="0"/>
                <a:sym typeface="Calibri"/>
              </a:rPr>
              <a:t>Kristjánsson, TWU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Calibri"/>
              <a:cs typeface="Calibri" pitchFamily="34" charset="0"/>
              <a:sym typeface="Calibri"/>
            </a:endParaRPr>
          </a:p>
        </p:txBody>
      </p:sp>
      <p:sp>
        <p:nvSpPr>
          <p:cNvPr id="10" name="Shape 184"/>
          <p:cNvSpPr txBox="1">
            <a:spLocks/>
          </p:cNvSpPr>
          <p:nvPr/>
        </p:nvSpPr>
        <p:spPr>
          <a:xfrm>
            <a:off x="285720" y="2907309"/>
            <a:ext cx="7643866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• </a:t>
            </a: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Beyond prescription: “What is the role of the teacher?”</a:t>
            </a:r>
          </a:p>
        </p:txBody>
      </p:sp>
      <p:sp>
        <p:nvSpPr>
          <p:cNvPr id="11" name="Shape 184"/>
          <p:cNvSpPr txBox="1">
            <a:spLocks/>
          </p:cNvSpPr>
          <p:nvPr/>
        </p:nvSpPr>
        <p:spPr>
          <a:xfrm>
            <a:off x="285720" y="3623969"/>
            <a:ext cx="7643866" cy="75401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kumimoji="0" lang="en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• </a:t>
            </a: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Issues of worldview, ethical/moral practice, &amp; social justice</a:t>
            </a:r>
            <a:r>
              <a:rPr kumimoji="0" lang="e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                    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kumimoji="0" lang="en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  </a:t>
            </a:r>
            <a:r>
              <a:rPr kumimoji="0" lang="e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(cf., Johnston, 2002; Hafernik, Messerschmitt, &amp; Vandrick, 2002)</a:t>
            </a:r>
          </a:p>
        </p:txBody>
      </p:sp>
      <p:sp>
        <p:nvSpPr>
          <p:cNvPr id="13" name="Shape 184"/>
          <p:cNvSpPr txBox="1">
            <a:spLocks/>
          </p:cNvSpPr>
          <p:nvPr/>
        </p:nvSpPr>
        <p:spPr>
          <a:xfrm>
            <a:off x="285720" y="4626381"/>
            <a:ext cx="7643866" cy="45880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• Questions of boundaries and burnout</a:t>
            </a:r>
          </a:p>
        </p:txBody>
      </p:sp>
      <p:sp>
        <p:nvSpPr>
          <p:cNvPr id="14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84"/>
          <p:cNvSpPr txBox="1">
            <a:spLocks/>
          </p:cNvSpPr>
          <p:nvPr/>
        </p:nvSpPr>
        <p:spPr>
          <a:xfrm>
            <a:off x="312510" y="5346461"/>
            <a:ext cx="7643866" cy="4816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• </a:t>
            </a:r>
            <a:r>
              <a:rPr lang="en" sz="2200" dirty="0" smtClean="0">
                <a:latin typeface="Calibri" pitchFamily="34" charset="0"/>
                <a:cs typeface="Calibri" pitchFamily="34" charset="0"/>
              </a:rPr>
              <a:t>Need for g</a:t>
            </a:r>
            <a:r>
              <a:rPr lang="en" sz="2200" noProof="0" dirty="0" smtClean="0">
                <a:latin typeface="Calibri" pitchFamily="34" charset="0"/>
                <a:cs typeface="Calibri" pitchFamily="34" charset="0"/>
              </a:rPr>
              <a:t>uided exploration </a:t>
            </a:r>
            <a:endParaRPr kumimoji="0" lang="en" sz="2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Arial"/>
              <a:cs typeface="Calibri" pitchFamily="34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build="p"/>
      <p:bldP spid="10" grpId="0"/>
      <p:bldP spid="11" grpId="0"/>
      <p:bldP spid="13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9" name="Shape 122"/>
          <p:cNvSpPr txBox="1">
            <a:spLocks/>
          </p:cNvSpPr>
          <p:nvPr/>
        </p:nvSpPr>
        <p:spPr>
          <a:xfrm>
            <a:off x="-32" y="-285776"/>
            <a:ext cx="5857916" cy="13849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ct val="25000"/>
              <a:defRPr/>
            </a:pP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kumimoji="0" lang="e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Response cont…</a:t>
            </a: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00" dirty="0" smtClean="0">
                <a:latin typeface="Calibri" pitchFamily="34" charset="0"/>
                <a:cs typeface="Calibri" pitchFamily="34" charset="0"/>
              </a:rPr>
              <a:t>Carolyn </a:t>
            </a:r>
            <a:r>
              <a:rPr lang="en" sz="2200" dirty="0" smtClean="0">
                <a:solidFill>
                  <a:schemeClr val="dk1"/>
                </a:solidFill>
                <a:latin typeface="Calibri" pitchFamily="34" charset="0"/>
                <a:ea typeface="Calibri"/>
                <a:cs typeface="Calibri" pitchFamily="34" charset="0"/>
                <a:sym typeface="Calibri"/>
              </a:rPr>
              <a:t>Kristjánsson, TWU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Calibri"/>
              <a:cs typeface="Calibri" pitchFamily="34" charset="0"/>
              <a:sym typeface="Calibri"/>
            </a:endParaRPr>
          </a:p>
        </p:txBody>
      </p:sp>
      <p:sp>
        <p:nvSpPr>
          <p:cNvPr id="12" name="Shape 184"/>
          <p:cNvSpPr txBox="1">
            <a:spLocks/>
          </p:cNvSpPr>
          <p:nvPr/>
        </p:nvSpPr>
        <p:spPr>
          <a:xfrm>
            <a:off x="285720" y="1556792"/>
            <a:ext cx="8390736" cy="392103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kumimoji="0" lang="en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• </a:t>
            </a:r>
            <a:r>
              <a:rPr kumimoji="0" lang="e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TWU MATESOL – more opportunities for explicit attention</a:t>
            </a: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- Leadership course</a:t>
            </a:r>
          </a:p>
          <a:p>
            <a:pPr marL="457200" lvl="7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Font typeface="Arial"/>
              <a:buNone/>
              <a:defRPr/>
            </a:pPr>
            <a:r>
              <a:rPr kumimoji="0" lang="e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- Curriculum course</a:t>
            </a:r>
            <a:endParaRPr lang="en" sz="2000" noProof="0" dirty="0" smtClean="0">
              <a:latin typeface="Calibri" pitchFamily="34" charset="0"/>
              <a:cs typeface="Calibri" pitchFamily="34" charset="0"/>
            </a:endParaRPr>
          </a:p>
          <a:p>
            <a:pPr marL="568325" lvl="8">
              <a:lnSpc>
                <a:spcPct val="115000"/>
              </a:lnSpc>
              <a:buClr>
                <a:schemeClr val="dk1"/>
              </a:buClr>
              <a:buFont typeface="Arial"/>
              <a:buNone/>
              <a:defRPr/>
            </a:pPr>
            <a:r>
              <a:rPr kumimoji="0" lang="e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P</a:t>
            </a:r>
            <a:r>
              <a:rPr kumimoji="0" lang="e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hilosophies</a:t>
            </a:r>
            <a:r>
              <a:rPr kumimoji="0" lang="en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 </a:t>
            </a:r>
            <a:r>
              <a:rPr kumimoji="0" lang="en" sz="18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o</a:t>
            </a:r>
            <a:r>
              <a:rPr kumimoji="0" lang="en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f </a:t>
            </a:r>
            <a:r>
              <a:rPr kumimoji="0" lang="en" sz="18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L</a:t>
            </a:r>
            <a:r>
              <a:rPr kumimoji="0" lang="en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anguage </a:t>
            </a:r>
            <a:r>
              <a:rPr kumimoji="0" lang="en" sz="18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E</a:t>
            </a:r>
            <a:r>
              <a:rPr kumimoji="0" lang="en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ducation (P</a:t>
            </a:r>
            <a:r>
              <a:rPr kumimoji="0" lang="e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OLEs): </a:t>
            </a:r>
            <a:r>
              <a:rPr kumimoji="0" lang="en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 </a:t>
            </a:r>
            <a:r>
              <a:rPr kumimoji="0" lang="e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parameters of </a:t>
            </a:r>
            <a:r>
              <a:rPr kumimoji="0" lang="en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T-S relationships    </a:t>
            </a:r>
            <a:endParaRPr kumimoji="0" lang="en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Arial"/>
              <a:cs typeface="Calibri" pitchFamily="34" charset="0"/>
              <a:sym typeface="Arial"/>
            </a:endParaRPr>
          </a:p>
          <a:p>
            <a:pPr marL="568325" lvl="7">
              <a:lnSpc>
                <a:spcPct val="115000"/>
              </a:lnSpc>
              <a:buClr>
                <a:schemeClr val="dk1"/>
              </a:buClr>
              <a:defRPr/>
            </a:pPr>
            <a:r>
              <a:rPr kumimoji="0" lang="e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T responsibilities and power in planned, taught, &amp; hidden curriculum</a:t>
            </a:r>
          </a:p>
          <a:p>
            <a:pPr marL="457200" marR="0" lvl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-</a:t>
            </a:r>
            <a:r>
              <a:rPr kumimoji="0" lang="en" sz="20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 </a:t>
            </a:r>
            <a:r>
              <a:rPr kumimoji="0" lang="e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Internship course  </a:t>
            </a:r>
          </a:p>
          <a:p>
            <a:pPr marL="568325" marR="0" lvl="0" algn="l" defTabSz="914400" rtl="0" eaLnBrk="1" fontAlgn="auto" latinLnBrk="0" hangingPunct="1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lang="en" sz="1800" dirty="0" smtClean="0">
                <a:latin typeface="Calibri" pitchFamily="34" charset="0"/>
                <a:cs typeface="Calibri" pitchFamily="34" charset="0"/>
              </a:rPr>
              <a:t>Lesson plans that incorporate activities to</a:t>
            </a:r>
            <a:r>
              <a:rPr kumimoji="0" lang="e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 facilitate T-S relationships </a:t>
            </a:r>
          </a:p>
          <a:p>
            <a:pPr marL="568325" marR="0" lvl="0" algn="l" defTabSz="914400" rtl="0" eaLnBrk="1" fontAlgn="auto" latinLnBrk="0" hangingPunct="1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lang="en" sz="1800" dirty="0">
                <a:latin typeface="Calibri" pitchFamily="34" charset="0"/>
                <a:cs typeface="Calibri" pitchFamily="34" charset="0"/>
              </a:rPr>
              <a:t>R</a:t>
            </a:r>
            <a:r>
              <a:rPr kumimoji="0" lang="e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elated reflective assignments</a:t>
            </a:r>
          </a:p>
          <a:p>
            <a:pPr marL="568325" marR="0" lvl="0" algn="l" defTabSz="914400" rtl="0" eaLnBrk="1" fontAlgn="auto" latinLnBrk="0" hangingPunct="1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Personal</a:t>
            </a:r>
            <a:r>
              <a:rPr kumimoji="0" lang="en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 </a:t>
            </a:r>
            <a:r>
              <a:rPr kumimoji="0" lang="e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Arial"/>
                <a:cs typeface="Calibri" pitchFamily="34" charset="0"/>
                <a:sym typeface="Arial"/>
              </a:rPr>
              <a:t>POLE statement</a:t>
            </a:r>
          </a:p>
          <a:p>
            <a:pPr marL="342900" marR="0" lvl="0" indent="-2222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Char char="•"/>
              <a:tabLst/>
              <a:defRPr/>
            </a:pPr>
            <a:endParaRPr kumimoji="0" lang="e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Arial"/>
              <a:cs typeface="Calibri" pitchFamily="34" charset="0"/>
              <a:sym typeface="Arial"/>
            </a:endParaRPr>
          </a:p>
        </p:txBody>
      </p:sp>
      <p:sp>
        <p:nvSpPr>
          <p:cNvPr id="14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53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Sung\Desktop\TSL Canada\2.jpg"/>
          <p:cNvPicPr>
            <a:picLocks noChangeAspect="1" noChangeArrowheads="1"/>
          </p:cNvPicPr>
          <p:nvPr/>
        </p:nvPicPr>
        <p:blipFill>
          <a:blip r:embed="rId3"/>
          <a:srcRect l="90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143108" y="0"/>
            <a:ext cx="4857784" cy="6858000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85720" y="292894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/>
          <a:p>
            <a:pPr marL="0" marR="0" lvl="0" indent="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 Conclusion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786050" y="3786190"/>
            <a:ext cx="3500494" cy="192882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/>
          <a:p>
            <a:pPr marL="120650" marR="0" lvl="0" indent="0" algn="ctr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None/>
              <a:tabLst/>
              <a:defRPr/>
            </a:pPr>
            <a:endParaRPr kumimoji="0" lang="en" sz="2000" b="0" i="0" u="none" strike="noStrike" kern="0" cap="none" spc="0" normalizeH="0" baseline="0" noProof="0" dirty="0" smtClean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22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Tx/>
              <a:buFont typeface="Arial"/>
              <a:buChar char="•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2090480" y="4286256"/>
            <a:ext cx="4857784" cy="907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>
              <a:buNone/>
            </a:pPr>
            <a:endParaRPr lang="en-US" sz="2300" dirty="0" smtClean="0"/>
          </a:p>
          <a:p>
            <a:pPr>
              <a:buNone/>
            </a:pPr>
            <a:endParaRPr sz="2500" dirty="0"/>
          </a:p>
        </p:txBody>
      </p:sp>
      <p:sp>
        <p:nvSpPr>
          <p:cNvPr id="11" name="Rectangle 10"/>
          <p:cNvSpPr/>
          <p:nvPr/>
        </p:nvSpPr>
        <p:spPr>
          <a:xfrm>
            <a:off x="0" y="6643710"/>
            <a:ext cx="9144000" cy="214290"/>
          </a:xfrm>
          <a:prstGeom prst="rect">
            <a:avLst/>
          </a:prstGeom>
          <a:solidFill>
            <a:srgbClr val="0066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5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7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8" name="Rectangle 7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179512" y="1396405"/>
            <a:ext cx="7643866" cy="447041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463550" indent="-342900">
              <a:buFont typeface="Arial" pitchFamily="34" charset="0"/>
              <a:buChar char="•"/>
            </a:pPr>
            <a:r>
              <a:rPr lang="en-US" sz="2200" dirty="0" smtClean="0"/>
              <a:t>“</a:t>
            </a:r>
            <a:r>
              <a:rPr lang="en-US" sz="2200" dirty="0"/>
              <a:t>Becoming an English language teacher means becoming part of a worldwide community of professionals with shared goals, values, discourse, and practices but one with a self-critical view of its own practices and a commitment to a transformative approach to its own role</a:t>
            </a:r>
            <a:r>
              <a:rPr lang="en-US" sz="2200" dirty="0" smtClean="0"/>
              <a:t>”</a:t>
            </a:r>
            <a:r>
              <a:rPr lang="en-US" sz="2400" dirty="0"/>
              <a:t> </a:t>
            </a:r>
            <a:r>
              <a:rPr lang="en-US" sz="2000" dirty="0"/>
              <a:t>(Richards 2008, p. 160).</a:t>
            </a:r>
          </a:p>
          <a:p>
            <a:pPr marL="463550" indent="-342900">
              <a:buFont typeface="Arial" pitchFamily="34" charset="0"/>
              <a:buChar char="•"/>
            </a:pPr>
            <a:endParaRPr lang="en-US" sz="2200" dirty="0"/>
          </a:p>
          <a:p>
            <a:pPr marL="463550" indent="-342900">
              <a:buFont typeface="Arial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Conversations</a:t>
            </a:r>
            <a:r>
              <a:rPr lang="en-US" sz="2200" dirty="0"/>
              <a:t> between new and veteran members </a:t>
            </a:r>
            <a:r>
              <a:rPr lang="en-US" sz="2200" dirty="0" smtClean="0"/>
              <a:t>can be a </a:t>
            </a:r>
            <a:r>
              <a:rPr lang="en-US" sz="2200" dirty="0"/>
              <a:t>key source of insight in</a:t>
            </a:r>
          </a:p>
          <a:p>
            <a:pPr lvl="2"/>
            <a:r>
              <a:rPr lang="en-US" sz="2000" dirty="0"/>
              <a:t>the transformative approach </a:t>
            </a:r>
            <a:r>
              <a:rPr lang="en-US" sz="2000" dirty="0" smtClean="0"/>
              <a:t>of this community</a:t>
            </a:r>
            <a:endParaRPr lang="en-US" sz="2000" dirty="0"/>
          </a:p>
          <a:p>
            <a:pPr lvl="2"/>
            <a:r>
              <a:rPr lang="en-US" sz="2000" dirty="0"/>
              <a:t>the rhythm and renewal of language teacher education</a:t>
            </a:r>
          </a:p>
          <a:p>
            <a:pPr lvl="2"/>
            <a:r>
              <a:rPr lang="en-US" sz="2000" dirty="0"/>
              <a:t>the practice of </a:t>
            </a:r>
            <a:r>
              <a:rPr lang="en-US" sz="2000" dirty="0" err="1"/>
              <a:t>ELT</a:t>
            </a:r>
            <a:r>
              <a:rPr lang="en-US" sz="2000" dirty="0"/>
              <a:t>  </a:t>
            </a:r>
            <a:r>
              <a:rPr lang="en-US" sz="1800" dirty="0"/>
              <a:t>(</a:t>
            </a:r>
            <a:r>
              <a:rPr lang="en-US" sz="1800" dirty="0" smtClean="0"/>
              <a:t>cf</a:t>
            </a:r>
            <a:r>
              <a:rPr lang="en-US" sz="1800" dirty="0"/>
              <a:t>., Wenger, 1998</a:t>
            </a:r>
            <a:r>
              <a:rPr lang="en-US" sz="1800" dirty="0" smtClean="0"/>
              <a:t>)</a:t>
            </a:r>
            <a:endParaRPr lang="en-US" sz="1800" dirty="0"/>
          </a:p>
        </p:txBody>
      </p:sp>
      <p:sp>
        <p:nvSpPr>
          <p:cNvPr id="9" name="Shape 122"/>
          <p:cNvSpPr txBox="1">
            <a:spLocks/>
          </p:cNvSpPr>
          <p:nvPr/>
        </p:nvSpPr>
        <p:spPr>
          <a:xfrm>
            <a:off x="-32" y="-101110"/>
            <a:ext cx="5857916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ct val="25000"/>
              <a:defRPr/>
            </a:pPr>
            <a:r>
              <a:rPr kumimoji="0" lang="e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kumimoji="0" lang="e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7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 few additional</a:t>
            </a:r>
            <a:r>
              <a:rPr kumimoji="0" lang="en" sz="27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thoughts </a:t>
            </a:r>
            <a:endParaRPr kumimoji="0" lang="e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Calibri"/>
              <a:cs typeface="Calibri" pitchFamily="34" charset="0"/>
              <a:sym typeface="Calibri"/>
            </a:endParaRPr>
          </a:p>
        </p:txBody>
      </p:sp>
      <p:sp>
        <p:nvSpPr>
          <p:cNvPr id="14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457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ung\Desktop\TSL Canada\5.jpg"/>
          <p:cNvPicPr>
            <a:picLocks noChangeAspect="1" noChangeArrowheads="1"/>
          </p:cNvPicPr>
          <p:nvPr/>
        </p:nvPicPr>
        <p:blipFill>
          <a:blip r:embed="rId3"/>
          <a:srcRect r="904"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6643710"/>
            <a:ext cx="9144000" cy="214290"/>
          </a:xfrm>
          <a:prstGeom prst="rect">
            <a:avLst/>
          </a:prstGeom>
          <a:solidFill>
            <a:srgbClr val="0066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59832" y="2643182"/>
            <a:ext cx="3744416" cy="857256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Shape 195"/>
          <p:cNvSpPr txBox="1">
            <a:spLocks/>
          </p:cNvSpPr>
          <p:nvPr/>
        </p:nvSpPr>
        <p:spPr>
          <a:xfrm>
            <a:off x="3059832" y="2643182"/>
            <a:ext cx="3744416" cy="76940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tabLst/>
              <a:defRPr/>
            </a:pPr>
            <a:r>
              <a:rPr kumimoji="0" lang="e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Your thoughts?</a:t>
            </a:r>
            <a:endParaRPr kumimoji="0" lang="en" sz="4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32" y="0"/>
            <a:ext cx="9144032" cy="6858000"/>
            <a:chOff x="-32" y="0"/>
            <a:chExt cx="9144032" cy="6858000"/>
          </a:xfrm>
        </p:grpSpPr>
        <p:grpSp>
          <p:nvGrpSpPr>
            <p:cNvPr id="4" name="Group 3"/>
            <p:cNvGrpSpPr/>
            <p:nvPr/>
          </p:nvGrpSpPr>
          <p:grpSpPr>
            <a:xfrm>
              <a:off x="-32" y="0"/>
              <a:ext cx="9144032" cy="6858000"/>
              <a:chOff x="0" y="0"/>
              <a:chExt cx="9144032" cy="6858000"/>
            </a:xfrm>
          </p:grpSpPr>
          <p:pic>
            <p:nvPicPr>
              <p:cNvPr id="6" name="Picture 3" descr="C:\Users\Sung\Desktop\TSL Canada\3.jpg"/>
              <p:cNvPicPr>
                <a:picLocks noChangeAspect="1" noChangeArrowheads="1"/>
              </p:cNvPicPr>
              <p:nvPr/>
            </p:nvPicPr>
            <p:blipFill>
              <a:blip r:embed="rId3"/>
              <a:srcRect l="904"/>
              <a:stretch>
                <a:fillRect/>
              </a:stretch>
            </p:blipFill>
            <p:spPr bwMode="auto">
              <a:xfrm>
                <a:off x="0" y="0"/>
                <a:ext cx="9144032" cy="6858000"/>
              </a:xfrm>
              <a:prstGeom prst="rect">
                <a:avLst/>
              </a:prstGeom>
              <a:noFill/>
            </p:spPr>
          </p:pic>
          <p:sp>
            <p:nvSpPr>
              <p:cNvPr id="7" name="Rectangle 6"/>
              <p:cNvSpPr/>
              <p:nvPr/>
            </p:nvSpPr>
            <p:spPr>
              <a:xfrm>
                <a:off x="0" y="0"/>
                <a:ext cx="9144000" cy="1071546"/>
              </a:xfrm>
              <a:prstGeom prst="rect">
                <a:avLst/>
              </a:prstGeom>
              <a:solidFill>
                <a:srgbClr val="000000">
                  <a:alpha val="4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0" y="6643710"/>
              <a:ext cx="9144000" cy="214290"/>
            </a:xfrm>
            <a:prstGeom prst="rect">
              <a:avLst/>
            </a:prstGeom>
            <a:solidFill>
              <a:srgbClr val="006600">
                <a:alpha val="5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01" name="Shape 201"/>
          <p:cNvSpPr txBox="1"/>
          <p:nvPr/>
        </p:nvSpPr>
        <p:spPr>
          <a:xfrm>
            <a:off x="357158" y="1124744"/>
            <a:ext cx="7858180" cy="5109061"/>
          </a:xfrm>
          <a:prstGeom prst="rect">
            <a:avLst/>
          </a:prstGeom>
          <a:noFill/>
        </p:spPr>
        <p:txBody>
          <a:bodyPr wrap="square" lIns="91425" tIns="91425" rIns="91425" bIns="91425" anchor="t" anchorCtr="0">
            <a:spAutoFit/>
          </a:bodyPr>
          <a:lstStyle/>
          <a:p>
            <a:pPr lvl="0" rtl="0">
              <a:buFont typeface="Arial" pitchFamily="34" charset="0"/>
              <a:buChar char="•"/>
            </a:pPr>
            <a:endParaRPr lang="en" sz="1600" dirty="0">
              <a:latin typeface="Calibri" pitchFamily="34" charset="0"/>
              <a:cs typeface="Calibri" pitchFamily="34" charset="0"/>
            </a:endParaRPr>
          </a:p>
          <a:p>
            <a:pPr marL="285750" lvl="0" indent="-285750" rtl="0"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en" sz="1600" dirty="0" smtClean="0">
                <a:latin typeface="Calibri" pitchFamily="34" charset="0"/>
                <a:cs typeface="Calibri" pitchFamily="34" charset="0"/>
              </a:rPr>
              <a:t>Brown,H.D. &amp; Abeywickrama,P. (2010). </a:t>
            </a:r>
          </a:p>
          <a:p>
            <a:pPr marL="285750" lvl="0" indent="-285750" rtl="0">
              <a:buClr>
                <a:srgbClr val="000000"/>
              </a:buClr>
              <a:buSzPct val="50000"/>
            </a:pPr>
            <a:r>
              <a:rPr lang="en" sz="1600" i="1" dirty="0" smtClean="0">
                <a:latin typeface="Calibri" pitchFamily="34" charset="0"/>
                <a:cs typeface="Calibri" pitchFamily="34" charset="0"/>
              </a:rPr>
              <a:t>	Language assessment: Principles and classroom practices</a:t>
            </a:r>
            <a:r>
              <a:rPr lang="en" sz="1600" dirty="0" smtClean="0">
                <a:latin typeface="Calibri" pitchFamily="34" charset="0"/>
                <a:cs typeface="Calibri" pitchFamily="34" charset="0"/>
              </a:rPr>
              <a:t> (2nd ed). Pearson Longman. </a:t>
            </a:r>
          </a:p>
          <a:p>
            <a:pPr>
              <a:buFont typeface="Arial" pitchFamily="34" charset="0"/>
              <a:buChar char="•"/>
            </a:pPr>
            <a:endParaRPr lang="en" sz="1600" dirty="0" smtClean="0">
              <a:latin typeface="Calibri" pitchFamily="34" charset="0"/>
              <a:cs typeface="Calibri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" sz="1600" dirty="0" smtClean="0">
                <a:latin typeface="Calibri" pitchFamily="34" charset="0"/>
                <a:cs typeface="Calibri" pitchFamily="34" charset="0"/>
              </a:rPr>
              <a:t>Hafernik, J., Messershmitt, D.,, &amp; Vandrick, S. (2002). </a:t>
            </a:r>
          </a:p>
          <a:p>
            <a:pPr marL="285750" indent="-285750"/>
            <a:r>
              <a:rPr lang="en" sz="1600" i="1" dirty="0" smtClean="0">
                <a:latin typeface="Calibri" pitchFamily="34" charset="0"/>
                <a:cs typeface="Calibri" pitchFamily="34" charset="0"/>
              </a:rPr>
              <a:t>	Ethical issues for ESL faculty: Social justice in practice. </a:t>
            </a:r>
            <a:r>
              <a:rPr lang="en" sz="1600" dirty="0" smtClean="0">
                <a:latin typeface="Calibri" pitchFamily="34" charset="0"/>
                <a:cs typeface="Calibri" pitchFamily="34" charset="0"/>
              </a:rPr>
              <a:t>Mahwah, NJ: Erlbaum.</a:t>
            </a:r>
          </a:p>
          <a:p>
            <a:pPr lvl="0" rtl="0">
              <a:buFont typeface="Arial" pitchFamily="34" charset="0"/>
              <a:buChar char="•"/>
            </a:pPr>
            <a:endParaRPr lang="en" sz="1600" dirty="0" smtClean="0">
              <a:latin typeface="Calibri" pitchFamily="34" charset="0"/>
              <a:ea typeface="Times New Roman"/>
              <a:cs typeface="Calibri" pitchFamily="34" charset="0"/>
              <a:sym typeface="Times New Roman"/>
            </a:endParaRPr>
          </a:p>
          <a:p>
            <a:pPr marL="285750" lvl="0" indent="-285750" rtl="0">
              <a:buFont typeface="Arial" pitchFamily="34" charset="0"/>
              <a:buChar char="•"/>
            </a:pPr>
            <a:r>
              <a:rPr lang="en" sz="1600" dirty="0" smtClean="0">
                <a:latin typeface="Calibri" pitchFamily="34" charset="0"/>
                <a:ea typeface="Times New Roman"/>
                <a:cs typeface="Calibri" pitchFamily="34" charset="0"/>
                <a:sym typeface="Times New Roman"/>
              </a:rPr>
              <a:t>Hall</a:t>
            </a:r>
            <a:r>
              <a:rPr lang="en" sz="1600" dirty="0">
                <a:latin typeface="Calibri" pitchFamily="34" charset="0"/>
                <a:ea typeface="Times New Roman"/>
                <a:cs typeface="Calibri" pitchFamily="34" charset="0"/>
                <a:sym typeface="Times New Roman"/>
              </a:rPr>
              <a:t>, J., Vitanova, G. &amp; Marchenkova, L. (Eds).  (1997). </a:t>
            </a:r>
            <a:endParaRPr lang="en" sz="1600" dirty="0" smtClean="0">
              <a:latin typeface="Calibri" pitchFamily="34" charset="0"/>
              <a:ea typeface="Times New Roman"/>
              <a:cs typeface="Calibri" pitchFamily="34" charset="0"/>
              <a:sym typeface="Times New Roman"/>
            </a:endParaRPr>
          </a:p>
          <a:p>
            <a:pPr marL="285750" lvl="0" indent="-285750" rtl="0"/>
            <a:r>
              <a:rPr lang="en" sz="1600" i="1" dirty="0" smtClean="0">
                <a:latin typeface="Calibri" pitchFamily="34" charset="0"/>
                <a:ea typeface="Times New Roman"/>
                <a:cs typeface="Calibri" pitchFamily="34" charset="0"/>
                <a:sym typeface="Times New Roman"/>
              </a:rPr>
              <a:t>	Dialogue </a:t>
            </a:r>
            <a:r>
              <a:rPr lang="en" sz="1600" i="1" dirty="0">
                <a:latin typeface="Calibri" pitchFamily="34" charset="0"/>
                <a:ea typeface="Times New Roman"/>
                <a:cs typeface="Calibri" pitchFamily="34" charset="0"/>
                <a:sym typeface="Times New Roman"/>
              </a:rPr>
              <a:t>with Bakhtin on Second </a:t>
            </a:r>
            <a:r>
              <a:rPr lang="en" sz="1600" i="1" dirty="0" smtClean="0">
                <a:latin typeface="Calibri" pitchFamily="34" charset="0"/>
                <a:ea typeface="Times New Roman"/>
                <a:cs typeface="Calibri" pitchFamily="34" charset="0"/>
                <a:sym typeface="Times New Roman"/>
              </a:rPr>
              <a:t>and Foreign </a:t>
            </a:r>
            <a:r>
              <a:rPr lang="en" sz="1600" i="1" dirty="0">
                <a:latin typeface="Calibri" pitchFamily="34" charset="0"/>
                <a:ea typeface="Times New Roman"/>
                <a:cs typeface="Calibri" pitchFamily="34" charset="0"/>
                <a:sym typeface="Times New Roman"/>
              </a:rPr>
              <a:t>Language Learning</a:t>
            </a:r>
            <a:r>
              <a:rPr lang="en" sz="1600" dirty="0">
                <a:latin typeface="Calibri" pitchFamily="34" charset="0"/>
                <a:ea typeface="Times New Roman"/>
                <a:cs typeface="Calibri" pitchFamily="34" charset="0"/>
                <a:sym typeface="Times New Roman"/>
              </a:rPr>
              <a:t>. New York: Routledge.</a:t>
            </a:r>
          </a:p>
          <a:p>
            <a:pPr>
              <a:buFont typeface="Arial" pitchFamily="34" charset="0"/>
              <a:buChar char="•"/>
            </a:pPr>
            <a:endParaRPr lang="en" sz="1600" dirty="0" smtClean="0">
              <a:latin typeface="Calibri" pitchFamily="34" charset="0"/>
              <a:ea typeface="Times New Roman"/>
              <a:cs typeface="Calibri" pitchFamily="34" charset="0"/>
              <a:sym typeface="Times New Roman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" sz="1600" dirty="0" smtClean="0">
                <a:latin typeface="Calibri" pitchFamily="34" charset="0"/>
                <a:ea typeface="Times New Roman"/>
                <a:cs typeface="Calibri" pitchFamily="34" charset="0"/>
                <a:sym typeface="Times New Roman"/>
              </a:rPr>
              <a:t>Johnston, B. (2002). </a:t>
            </a:r>
          </a:p>
          <a:p>
            <a:pPr marL="285750" indent="-285750"/>
            <a:r>
              <a:rPr lang="en" sz="1600" i="1" dirty="0" smtClean="0">
                <a:latin typeface="Calibri" pitchFamily="34" charset="0"/>
                <a:ea typeface="Times New Roman"/>
                <a:cs typeface="Calibri" pitchFamily="34" charset="0"/>
                <a:sym typeface="Times New Roman"/>
              </a:rPr>
              <a:t>	Values in English language teaching. </a:t>
            </a:r>
            <a:r>
              <a:rPr lang="en" sz="1600" dirty="0">
                <a:latin typeface="Calibri" pitchFamily="34" charset="0"/>
                <a:cs typeface="Calibri" pitchFamily="34" charset="0"/>
              </a:rPr>
              <a:t>Mahwah, NJ: </a:t>
            </a:r>
            <a:r>
              <a:rPr lang="en" sz="1600" dirty="0" smtClean="0">
                <a:latin typeface="Calibri" pitchFamily="34" charset="0"/>
                <a:cs typeface="Calibri" pitchFamily="34" charset="0"/>
              </a:rPr>
              <a:t>Erlbaum.</a:t>
            </a:r>
            <a:endParaRPr lang="en" sz="1600" dirty="0" smtClean="0">
              <a:latin typeface="Calibri" pitchFamily="34" charset="0"/>
              <a:ea typeface="Times New Roman"/>
              <a:cs typeface="Calibri" pitchFamily="34" charset="0"/>
              <a:sym typeface="Times New Roman"/>
            </a:endParaRPr>
          </a:p>
          <a:p>
            <a:pPr>
              <a:buFont typeface="Arial" pitchFamily="34" charset="0"/>
              <a:buChar char="•"/>
            </a:pPr>
            <a:endParaRPr lang="en" sz="1600" dirty="0">
              <a:latin typeface="Calibri" pitchFamily="34" charset="0"/>
              <a:ea typeface="Times New Roman"/>
              <a:cs typeface="Calibri" pitchFamily="34" charset="0"/>
              <a:sym typeface="Times New Roman"/>
            </a:endParaRPr>
          </a:p>
          <a:p>
            <a:pPr marL="285750" lvl="0" indent="-285750" rtl="0">
              <a:buFont typeface="Arial" pitchFamily="34" charset="0"/>
              <a:buChar char="•"/>
            </a:pPr>
            <a:r>
              <a:rPr lang="en" sz="1600" dirty="0">
                <a:latin typeface="Calibri" pitchFamily="34" charset="0"/>
                <a:cs typeface="Calibri" pitchFamily="34" charset="0"/>
              </a:rPr>
              <a:t>Larson-Freeman (2008). </a:t>
            </a:r>
            <a:endParaRPr lang="en" sz="1600" dirty="0" smtClean="0">
              <a:latin typeface="Calibri" pitchFamily="34" charset="0"/>
              <a:cs typeface="Calibri" pitchFamily="34" charset="0"/>
            </a:endParaRPr>
          </a:p>
          <a:p>
            <a:pPr marL="285750" lvl="0" indent="-285750" rtl="0"/>
            <a:r>
              <a:rPr lang="en" sz="1600" dirty="0" smtClean="0">
                <a:latin typeface="Calibri" pitchFamily="34" charset="0"/>
                <a:cs typeface="Calibri" pitchFamily="34" charset="0"/>
              </a:rPr>
              <a:t>	Grammaring</a:t>
            </a:r>
            <a:r>
              <a:rPr lang="en" sz="1600" dirty="0">
                <a:latin typeface="Calibri" pitchFamily="34" charset="0"/>
                <a:cs typeface="Calibri" pitchFamily="34" charset="0"/>
              </a:rPr>
              <a:t>: A TESOL Virtual </a:t>
            </a:r>
            <a:r>
              <a:rPr lang="en" sz="1600" dirty="0" smtClean="0">
                <a:latin typeface="Calibri" pitchFamily="34" charset="0"/>
                <a:cs typeface="Calibri" pitchFamily="34" charset="0"/>
              </a:rPr>
              <a:t>Seminar. Retrieved from: </a:t>
            </a:r>
            <a:r>
              <a:rPr lang="en" sz="1600" dirty="0" smtClean="0">
                <a:latin typeface="Calibri" pitchFamily="34" charset="0"/>
                <a:cs typeface="Calibri" pitchFamily="34" charset="0"/>
                <a:hlinkClick r:id="rId4"/>
              </a:rPr>
              <a:t>http</a:t>
            </a:r>
            <a:r>
              <a:rPr lang="en" sz="1600" dirty="0">
                <a:latin typeface="Calibri" pitchFamily="34" charset="0"/>
                <a:cs typeface="Calibri" pitchFamily="34" charset="0"/>
                <a:hlinkClick r:id="rId4"/>
              </a:rPr>
              <a:t>://</a:t>
            </a:r>
            <a:r>
              <a:rPr lang="en" sz="1600" dirty="0" smtClean="0">
                <a:latin typeface="Calibri" pitchFamily="34" charset="0"/>
                <a:cs typeface="Calibri" pitchFamily="34" charset="0"/>
                <a:hlinkClick r:id="rId4"/>
              </a:rPr>
              <a:t>ebookbrowse.com/tesol-grammaring-larsen-freeman-may2008-final-pdf-d134981911</a:t>
            </a:r>
            <a:endParaRPr lang="en" sz="1600" dirty="0" smtClean="0">
              <a:latin typeface="Calibri" pitchFamily="34" charset="0"/>
              <a:cs typeface="Calibri" pitchFamily="34" charset="0"/>
            </a:endParaRPr>
          </a:p>
          <a:p>
            <a:pPr marL="285750" lvl="0" indent="-285750" rtl="0">
              <a:buFont typeface="Arial" pitchFamily="34" charset="0"/>
              <a:buChar char="•"/>
            </a:pPr>
            <a:endParaRPr lang="en" sz="1600" dirty="0" smtClean="0">
              <a:latin typeface="Calibri" pitchFamily="34" charset="0"/>
              <a:cs typeface="Calibri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Richards, J. (2008). </a:t>
            </a:r>
            <a:r>
              <a:rPr lang="en" sz="16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                                                                                                                                 Second </a:t>
            </a:r>
            <a:r>
              <a:rPr lang="en" sz="16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language teacher education today. </a:t>
            </a:r>
            <a:r>
              <a:rPr lang="en" sz="16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RELC</a:t>
            </a:r>
            <a:r>
              <a:rPr lang="en" sz="16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" sz="16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Journal, 39, </a:t>
            </a:r>
            <a:r>
              <a:rPr lang="en" sz="16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158-177.</a:t>
            </a:r>
            <a:endParaRPr lang="en" sz="16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marL="285750" lvl="0" indent="-285750" rtl="0">
              <a:buFont typeface="Arial" pitchFamily="34" charset="0"/>
              <a:buChar char="•"/>
            </a:pPr>
            <a:endParaRPr lang="en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122"/>
          <p:cNvSpPr txBox="1">
            <a:spLocks/>
          </p:cNvSpPr>
          <p:nvPr/>
        </p:nvSpPr>
        <p:spPr>
          <a:xfrm>
            <a:off x="-32" y="217436"/>
            <a:ext cx="3571900" cy="135417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ct val="25000"/>
              <a:defRPr/>
            </a:pPr>
            <a:r>
              <a:rPr kumimoji="0" lang="en" sz="27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kumimoji="0" lang="en" sz="27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References</a:t>
            </a:r>
            <a:r>
              <a:rPr kumimoji="0" lang="en" sz="27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" sz="27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endParaRPr kumimoji="0" lang="en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Calibri"/>
              <a:cs typeface="Calibri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Sung\Desktop\TSL Canada\2.jpg"/>
          <p:cNvPicPr>
            <a:picLocks noChangeAspect="1" noChangeArrowheads="1"/>
          </p:cNvPicPr>
          <p:nvPr/>
        </p:nvPicPr>
        <p:blipFill>
          <a:blip r:embed="rId3"/>
          <a:srcRect l="90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143108" y="0"/>
            <a:ext cx="4857784" cy="6858000"/>
          </a:xfrm>
          <a:prstGeom prst="rect">
            <a:avLst/>
          </a:prstGeom>
          <a:solidFill>
            <a:srgbClr val="00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2840" y="315009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/>
          <a:p>
            <a:pPr marL="0" marR="0" lvl="0" indent="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  <a:tabLst/>
              <a:defRPr/>
            </a:pPr>
            <a:r>
              <a:rPr lang="en-US" sz="3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Special thanks to </a:t>
            </a:r>
          </a:p>
          <a:p>
            <a:pPr marL="0" marR="0" lvl="0" indent="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  <a:tabLst/>
              <a:defRPr/>
            </a:pPr>
            <a:r>
              <a:rPr lang="en-US" sz="3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Sung Kim</a:t>
            </a:r>
          </a:p>
          <a:p>
            <a:pPr marL="0" marR="0" lvl="0" indent="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  <a:tabLst/>
              <a:defRPr/>
            </a:pPr>
            <a:r>
              <a:rPr lang="en-US" sz="3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for this PowerPoint design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2090480" y="4286256"/>
            <a:ext cx="4857784" cy="907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>
              <a:buNone/>
            </a:pPr>
            <a:endParaRPr lang="en-US" sz="2300" dirty="0" smtClean="0"/>
          </a:p>
          <a:p>
            <a:pPr>
              <a:buNone/>
            </a:pPr>
            <a:endParaRPr sz="2500" dirty="0"/>
          </a:p>
        </p:txBody>
      </p:sp>
      <p:sp>
        <p:nvSpPr>
          <p:cNvPr id="11" name="Rectangle 10"/>
          <p:cNvSpPr/>
          <p:nvPr/>
        </p:nvSpPr>
        <p:spPr>
          <a:xfrm>
            <a:off x="0" y="6643710"/>
            <a:ext cx="9144000" cy="214290"/>
          </a:xfrm>
          <a:prstGeom prst="rect">
            <a:avLst/>
          </a:prstGeom>
          <a:solidFill>
            <a:srgbClr val="00660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Shape 100"/>
          <p:cNvSpPr txBox="1"/>
          <p:nvPr/>
        </p:nvSpPr>
        <p:spPr>
          <a:xfrm>
            <a:off x="7143768" y="6643710"/>
            <a:ext cx="2143140" cy="261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" sz="1100" b="0" i="0" u="none" strike="noStrike" cap="none" baseline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TESL Canada </a:t>
            </a:r>
            <a:r>
              <a:rPr lang="en" sz="1100" b="0" i="0" u="none" strike="noStrike" cap="none" baseline="0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Conference2012</a:t>
            </a:r>
            <a:endParaRPr lang="en" sz="1100" b="0" i="0" u="none" strike="noStrike" cap="none" baseline="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940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1991</TotalTime>
  <Words>1140</Words>
  <Application>Microsoft Office PowerPoint</Application>
  <PresentationFormat>On-screen Show (4:3)</PresentationFormat>
  <Paragraphs>238</Paragraphs>
  <Slides>25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/>
      <vt:lpstr/>
      <vt:lpstr>What I wished I had learned</vt:lpstr>
      <vt:lpstr>
Panel Background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Conversation #2</vt:lpstr>
      <vt:lpstr>
Douglas College Graduates                            Elina Supataeva &amp; Kelsey Ehler  (video)</vt:lpstr>
      <vt:lpstr>PowerPoint Presentation</vt:lpstr>
      <vt:lpstr>PowerPoint Presentation</vt:lpstr>
      <vt:lpstr>Okanagan College Graduate Jessica Bedford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 wished I had learned        in my TESOL program</dc:title>
  <dc:creator>Carolyn Kristjansson</dc:creator>
  <cp:lastModifiedBy>Carolyn Kristjansson</cp:lastModifiedBy>
  <cp:revision>140</cp:revision>
  <dcterms:modified xsi:type="dcterms:W3CDTF">2012-10-23T05:45:03Z</dcterms:modified>
</cp:coreProperties>
</file>