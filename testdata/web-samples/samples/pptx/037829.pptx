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51206400" cy="32918400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731407" algn="l" rtl="0" fontAlgn="base">
      <a:spcBef>
        <a:spcPct val="0"/>
      </a:spcBef>
      <a:spcAft>
        <a:spcPct val="0"/>
      </a:spcAft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1462814" algn="l" rtl="0" fontAlgn="base">
      <a:spcBef>
        <a:spcPct val="0"/>
      </a:spcBef>
      <a:spcAft>
        <a:spcPct val="0"/>
      </a:spcAft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2194221" algn="l" rtl="0" fontAlgn="base">
      <a:spcBef>
        <a:spcPct val="0"/>
      </a:spcBef>
      <a:spcAft>
        <a:spcPct val="0"/>
      </a:spcAft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2925628" algn="l" rtl="0" fontAlgn="base">
      <a:spcBef>
        <a:spcPct val="0"/>
      </a:spcBef>
      <a:spcAft>
        <a:spcPct val="0"/>
      </a:spcAft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3657035" algn="l" defTabSz="1462814" rtl="0" eaLnBrk="1" latinLnBrk="0" hangingPunct="1"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4388441" algn="l" defTabSz="1462814" rtl="0" eaLnBrk="1" latinLnBrk="0" hangingPunct="1"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5119849" algn="l" defTabSz="1462814" rtl="0" eaLnBrk="1" latinLnBrk="0" hangingPunct="1"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5851255" algn="l" defTabSz="1462814" rtl="0" eaLnBrk="1" latinLnBrk="0" hangingPunct="1">
      <a:defRPr sz="39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1EEFF"/>
    <a:srgbClr val="CCFFCC"/>
    <a:srgbClr val="009900"/>
    <a:srgbClr val="008000"/>
    <a:srgbClr val="006699"/>
    <a:srgbClr val="003366"/>
    <a:srgbClr val="336699"/>
    <a:srgbClr val="FF3300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30199" autoAdjust="0"/>
    <p:restoredTop sz="88968" autoAdjust="0"/>
  </p:normalViewPr>
  <p:slideViewPr>
    <p:cSldViewPr>
      <p:cViewPr varScale="1">
        <p:scale>
          <a:sx n="13" d="100"/>
          <a:sy n="13" d="100"/>
        </p:scale>
        <p:origin x="-942" y="-204"/>
      </p:cViewPr>
      <p:guideLst>
        <p:guide orient="horz" pos="10368"/>
        <p:guide pos="161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27040" cy="46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7561" tIns="13781" rIns="27561" bIns="13781" numCol="1" anchor="t" anchorCtr="0" compatLnSpc="1">
            <a:prstTxWarp prst="textNoShape">
              <a:avLst/>
            </a:prstTxWarp>
          </a:bodyPr>
          <a:lstStyle>
            <a:lvl1pPr>
              <a:defRPr sz="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6412" y="1"/>
            <a:ext cx="3027040" cy="46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7561" tIns="13781" rIns="27561" bIns="13781" numCol="1" anchor="t" anchorCtr="0" compatLnSpc="1">
            <a:prstTxWarp prst="textNoShape">
              <a:avLst/>
            </a:prstTxWarp>
          </a:bodyPr>
          <a:lstStyle>
            <a:lvl1pPr algn="r">
              <a:defRPr sz="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5813" y="696913"/>
            <a:ext cx="541337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8708" y="4409849"/>
            <a:ext cx="5587587" cy="417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7561" tIns="13781" rIns="27561" bIns="13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7881"/>
            <a:ext cx="3027040" cy="46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7561" tIns="13781" rIns="27561" bIns="13781" numCol="1" anchor="b" anchorCtr="0" compatLnSpc="1">
            <a:prstTxWarp prst="textNoShape">
              <a:avLst/>
            </a:prstTxWarp>
          </a:bodyPr>
          <a:lstStyle>
            <a:lvl1pPr>
              <a:defRPr sz="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6412" y="8817881"/>
            <a:ext cx="3027040" cy="46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7561" tIns="13781" rIns="27561" bIns="13781" numCol="1" anchor="b" anchorCtr="0" compatLnSpc="1">
            <a:prstTxWarp prst="textNoShape">
              <a:avLst/>
            </a:prstTxWarp>
          </a:bodyPr>
          <a:lstStyle>
            <a:lvl1pPr algn="r">
              <a:defRPr sz="400" b="0">
                <a:latin typeface="Arial" charset="0"/>
              </a:defRPr>
            </a:lvl1pPr>
          </a:lstStyle>
          <a:p>
            <a:fld id="{49D6C325-AEF0-4936-9973-A74B09725D8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731407" algn="l" rtl="0" fontAlgn="base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1462814" algn="l" rtl="0" fontAlgn="base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2194221" algn="l" rtl="0" fontAlgn="base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2925628" algn="l" rtl="0" fontAlgn="base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3657035" algn="l" defTabSz="14628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388441" algn="l" defTabSz="14628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119849" algn="l" defTabSz="14628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5851255" algn="l" defTabSz="14628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6D78F8-61B4-4F7F-A082-EAA240B2C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1733525" y="3266290"/>
            <a:ext cx="256032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1506812" y="3266290"/>
            <a:ext cx="153619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400113" y="3266290"/>
            <a:ext cx="51205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1241903" y="3266290"/>
            <a:ext cx="51205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120640" y="20848322"/>
            <a:ext cx="43525440" cy="9480499"/>
          </a:xfrm>
        </p:spPr>
        <p:txBody>
          <a:bodyPr/>
          <a:lstStyle>
            <a:lvl1pPr marR="50159" algn="l">
              <a:defRPr sz="22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120640" y="13606272"/>
            <a:ext cx="43525440" cy="7242048"/>
          </a:xfrm>
        </p:spPr>
        <p:txBody>
          <a:bodyPr lIns="551750" tIns="250795" anchor="b"/>
          <a:lstStyle>
            <a:lvl1pPr marL="0" indent="0" algn="l">
              <a:spcBef>
                <a:spcPts val="0"/>
              </a:spcBef>
              <a:buNone/>
              <a:defRPr sz="10900">
                <a:solidFill>
                  <a:schemeClr val="tx1"/>
                </a:solidFill>
              </a:defRPr>
            </a:lvl1pPr>
            <a:lvl2pPr marL="2507953" indent="0" algn="ctr">
              <a:buNone/>
            </a:lvl2pPr>
            <a:lvl3pPr marL="5015907" indent="0" algn="ctr">
              <a:buNone/>
            </a:lvl3pPr>
            <a:lvl4pPr marL="7523861" indent="0" algn="ctr">
              <a:buNone/>
            </a:lvl4pPr>
            <a:lvl5pPr marL="10031815" indent="0" algn="ctr">
              <a:buNone/>
            </a:lvl5pPr>
            <a:lvl6pPr marL="12539768" indent="0" algn="ctr">
              <a:buNone/>
            </a:lvl6pPr>
            <a:lvl7pPr marL="15047721" indent="0" algn="ctr">
              <a:buNone/>
            </a:lvl7pPr>
            <a:lvl8pPr marL="17555676" indent="0" algn="ctr">
              <a:buNone/>
            </a:lvl8pPr>
            <a:lvl9pPr marL="20063629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2CC13A-AE7E-4E6E-87D0-1621C04B62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27042132" y="5154662"/>
            <a:ext cx="24203963" cy="277977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2094209" y="0"/>
            <a:ext cx="30881403" cy="3175359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26633837" y="6645792"/>
            <a:ext cx="19751040" cy="66568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33284160" y="0"/>
            <a:ext cx="15361920" cy="204825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33284160" y="20482560"/>
            <a:ext cx="17922240" cy="5486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33284160" y="0"/>
            <a:ext cx="7680960" cy="204825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33310839" y="20383506"/>
            <a:ext cx="11708127" cy="1253489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33284160" y="20482560"/>
            <a:ext cx="8961120" cy="124358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33284160" y="6583680"/>
            <a:ext cx="17922240" cy="1389888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33284160" y="8412480"/>
            <a:ext cx="17922240" cy="1207008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5547360" y="20482560"/>
            <a:ext cx="27736800" cy="124358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2987040" y="20482560"/>
            <a:ext cx="29870400" cy="124358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2054213" y="11704320"/>
            <a:ext cx="31577280" cy="87782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2054213" y="10241280"/>
            <a:ext cx="31577280" cy="1024128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25603200" y="20482560"/>
            <a:ext cx="7680960" cy="1243584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01590" tIns="250795" rIns="501590" bIns="250795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8653" y="6488028"/>
            <a:ext cx="32021069" cy="4691933"/>
          </a:xfrm>
        </p:spPr>
        <p:txBody>
          <a:bodyPr lIns="451431" tIns="250795" bIns="0" anchor="t"/>
          <a:lstStyle>
            <a:lvl1pPr marL="300954" indent="0">
              <a:buNone/>
              <a:defRPr sz="109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8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E5AADE-D5B9-4D27-AD19-05900F633D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33696" y="1930870"/>
            <a:ext cx="47621952" cy="425407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652" y="2457907"/>
            <a:ext cx="45676109" cy="3730752"/>
          </a:xfrm>
        </p:spPr>
        <p:txBody>
          <a:bodyPr tIns="351114"/>
          <a:lstStyle>
            <a:lvl1pPr algn="l">
              <a:buNone/>
              <a:defRPr sz="20800" b="0" cap="none" spc="-823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2080616" y="3266290"/>
            <a:ext cx="153619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302213" y="3266290"/>
            <a:ext cx="153619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2511321" y="3266290"/>
            <a:ext cx="51205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2669532" y="3266290"/>
            <a:ext cx="51205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802678" y="3266290"/>
            <a:ext cx="204827" cy="1755648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0" y="2457907"/>
            <a:ext cx="46085760" cy="438912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0325" y="8498407"/>
            <a:ext cx="22616160" cy="21724622"/>
          </a:xfrm>
        </p:spPr>
        <p:txBody>
          <a:bodyPr/>
          <a:lstStyle>
            <a:lvl1pPr>
              <a:defRPr sz="15300"/>
            </a:lvl1pPr>
            <a:lvl2pPr>
              <a:defRPr sz="13200"/>
            </a:lvl2pPr>
            <a:lvl3pPr>
              <a:defRPr sz="10900"/>
            </a:lvl3pPr>
            <a:lvl4pPr>
              <a:defRPr sz="9900"/>
            </a:lvl4pPr>
            <a:lvl5pPr>
              <a:defRPr sz="9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69925" y="8498407"/>
            <a:ext cx="22616160" cy="21724622"/>
          </a:xfrm>
        </p:spPr>
        <p:txBody>
          <a:bodyPr/>
          <a:lstStyle>
            <a:lvl1pPr>
              <a:defRPr sz="15300"/>
            </a:lvl1pPr>
            <a:lvl2pPr>
              <a:defRPr sz="13200"/>
            </a:lvl2pPr>
            <a:lvl3pPr>
              <a:defRPr sz="10900"/>
            </a:lvl3pPr>
            <a:lvl4pPr>
              <a:defRPr sz="9900"/>
            </a:lvl4pPr>
            <a:lvl5pPr>
              <a:defRPr sz="9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EBDA40-46CD-4BED-B7CD-6E431DCD48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1930874"/>
            <a:ext cx="49655648" cy="425407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7013" y="2457907"/>
            <a:ext cx="43525440" cy="4389120"/>
          </a:xfrm>
        </p:spPr>
        <p:txBody>
          <a:bodyPr anchor="t"/>
          <a:lstStyle>
            <a:lvl1pPr>
              <a:defRPr sz="22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3" y="8686800"/>
            <a:ext cx="22625053" cy="3070858"/>
          </a:xfrm>
        </p:spPr>
        <p:txBody>
          <a:bodyPr anchor="ctr"/>
          <a:lstStyle>
            <a:lvl1pPr marL="401273" indent="0" algn="l">
              <a:buNone/>
              <a:defRPr sz="13200" b="1">
                <a:solidFill>
                  <a:schemeClr val="accent2"/>
                </a:solidFill>
              </a:defRPr>
            </a:lvl1pPr>
            <a:lvl2pPr>
              <a:buNone/>
              <a:defRPr sz="10900" b="1"/>
            </a:lvl2pPr>
            <a:lvl3pPr>
              <a:buNone/>
              <a:defRPr sz="9900" b="1"/>
            </a:lvl3pPr>
            <a:lvl4pPr>
              <a:buNone/>
              <a:defRPr sz="8800" b="1"/>
            </a:lvl4pPr>
            <a:lvl5pPr>
              <a:buNone/>
              <a:defRPr sz="88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26012143" y="8686800"/>
            <a:ext cx="22633940" cy="3070858"/>
          </a:xfrm>
        </p:spPr>
        <p:txBody>
          <a:bodyPr anchor="ctr"/>
          <a:lstStyle>
            <a:lvl1pPr marL="401273" indent="0">
              <a:buNone/>
              <a:defRPr sz="13200" b="1">
                <a:solidFill>
                  <a:schemeClr val="accent2"/>
                </a:solidFill>
              </a:defRPr>
            </a:lvl1pPr>
            <a:lvl2pPr>
              <a:buNone/>
              <a:defRPr sz="10900" b="1"/>
            </a:lvl2pPr>
            <a:lvl3pPr>
              <a:buNone/>
              <a:defRPr sz="9900" b="1"/>
            </a:lvl3pPr>
            <a:lvl4pPr>
              <a:buNone/>
              <a:defRPr sz="8800" b="1"/>
            </a:lvl4pPr>
            <a:lvl5pPr>
              <a:buNone/>
              <a:defRPr sz="88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560323" y="11803377"/>
            <a:ext cx="22625053" cy="19004890"/>
          </a:xfrm>
        </p:spPr>
        <p:txBody>
          <a:bodyPr/>
          <a:lstStyle>
            <a:lvl1pPr>
              <a:defRPr sz="13200"/>
            </a:lvl1pPr>
            <a:lvl2pPr>
              <a:defRPr sz="10900"/>
            </a:lvl2pPr>
            <a:lvl3pPr>
              <a:defRPr sz="9900"/>
            </a:lvl3pPr>
            <a:lvl4pPr>
              <a:defRPr sz="8800"/>
            </a:lvl4pPr>
            <a:lvl5pPr>
              <a:defRPr sz="8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143" y="11803377"/>
            <a:ext cx="22633940" cy="19004890"/>
          </a:xfrm>
        </p:spPr>
        <p:txBody>
          <a:bodyPr/>
          <a:lstStyle>
            <a:lvl1pPr>
              <a:defRPr sz="13200"/>
            </a:lvl1pPr>
            <a:lvl2pPr>
              <a:defRPr sz="10900"/>
            </a:lvl2pPr>
            <a:lvl3pPr>
              <a:defRPr sz="9900"/>
            </a:lvl3pPr>
            <a:lvl4pPr>
              <a:defRPr sz="8800"/>
            </a:lvl4pPr>
            <a:lvl5pPr>
              <a:defRPr sz="8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C61AFD2-A163-4080-8F3F-60BF0A9646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91624" y="3266290"/>
            <a:ext cx="256032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64910" y="3266290"/>
            <a:ext cx="153619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58212" y="3266290"/>
            <a:ext cx="51205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1" y="3266290"/>
            <a:ext cx="51205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838714" y="3266290"/>
            <a:ext cx="153619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060312" y="3266290"/>
            <a:ext cx="153619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1269420" y="3266290"/>
            <a:ext cx="51205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1427633" y="3266290"/>
            <a:ext cx="51205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1560777" y="3266290"/>
            <a:ext cx="204827" cy="1755648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0" y="2457907"/>
            <a:ext cx="43525440" cy="4389120"/>
          </a:xfrm>
        </p:spPr>
        <p:txBody>
          <a:bodyPr/>
          <a:lstStyle>
            <a:lvl1pPr>
              <a:defRPr sz="22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3EFC15D-6810-4150-8556-0BE91FEDDD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B0EFAD-65A0-405E-B8F4-C698E5F972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0" y="1310640"/>
            <a:ext cx="46085760" cy="5577840"/>
          </a:xfrm>
        </p:spPr>
        <p:txBody>
          <a:bodyPr anchor="ctr"/>
          <a:lstStyle>
            <a:lvl1pPr algn="l">
              <a:buNone/>
              <a:defRPr sz="197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40480" y="6888480"/>
            <a:ext cx="14081760" cy="21945600"/>
          </a:xfrm>
        </p:spPr>
        <p:txBody>
          <a:bodyPr/>
          <a:lstStyle>
            <a:lvl1pPr marL="300954" indent="0">
              <a:buNone/>
              <a:defRPr sz="9900"/>
            </a:lvl1pPr>
            <a:lvl2pPr>
              <a:buNone/>
              <a:defRPr sz="6500"/>
            </a:lvl2pPr>
            <a:lvl3pPr>
              <a:buNone/>
              <a:defRPr sz="5500"/>
            </a:lvl3pPr>
            <a:lvl4pPr>
              <a:buNone/>
              <a:defRPr sz="4900"/>
            </a:lvl4pPr>
            <a:lvl5pPr>
              <a:buNone/>
              <a:defRPr sz="4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202400" y="6888480"/>
            <a:ext cx="30723840" cy="21945600"/>
          </a:xfrm>
        </p:spPr>
        <p:txBody>
          <a:bodyPr/>
          <a:lstStyle>
            <a:lvl1pPr>
              <a:defRPr sz="17600"/>
            </a:lvl1pPr>
            <a:lvl2pPr>
              <a:defRPr sz="15300"/>
            </a:lvl2pPr>
            <a:lvl3pPr>
              <a:defRPr sz="13200"/>
            </a:lvl3pPr>
            <a:lvl4pPr>
              <a:defRPr sz="10900"/>
            </a:lvl4pPr>
            <a:lvl5pPr>
              <a:defRPr sz="10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D5BD21-9137-4256-BBBB-B1F4C8F1F7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60979" y="3"/>
            <a:ext cx="49158144" cy="901457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033893" y="9048134"/>
            <a:ext cx="4918268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47734763" y="5800773"/>
            <a:ext cx="637262" cy="719411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5120640" y="2118009"/>
            <a:ext cx="38404800" cy="3368395"/>
          </a:xfrm>
        </p:spPr>
        <p:txBody>
          <a:bodyPr anchor="b"/>
          <a:lstStyle>
            <a:lvl1pPr algn="l">
              <a:buNone/>
              <a:defRPr sz="115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60979" y="9090151"/>
            <a:ext cx="49158144" cy="2380869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76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5120640" y="5520691"/>
            <a:ext cx="38404800" cy="3291840"/>
          </a:xfrm>
        </p:spPr>
        <p:txBody>
          <a:bodyPr/>
          <a:lstStyle>
            <a:lvl1pPr marL="150478" indent="0">
              <a:spcBef>
                <a:spcPts val="0"/>
              </a:spcBef>
              <a:buNone/>
              <a:defRPr sz="7700">
                <a:solidFill>
                  <a:srgbClr val="FFFFFF"/>
                </a:solidFill>
              </a:defRPr>
            </a:lvl1pPr>
            <a:lvl2pPr>
              <a:defRPr sz="6500"/>
            </a:lvl2pPr>
            <a:lvl3pPr>
              <a:defRPr sz="5500"/>
            </a:lvl3pPr>
            <a:lvl4pPr>
              <a:defRPr sz="4900"/>
            </a:lvl4pPr>
            <a:lvl5pPr>
              <a:defRPr sz="4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48588203" y="6532293"/>
            <a:ext cx="637262" cy="719411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46645602" y="7027476"/>
            <a:ext cx="637262" cy="719411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271200" y="266398"/>
            <a:ext cx="11948160" cy="1752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20640" y="266398"/>
            <a:ext cx="31150560" cy="1752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219360" y="266398"/>
            <a:ext cx="2560320" cy="1752600"/>
          </a:xfrm>
        </p:spPr>
        <p:txBody>
          <a:bodyPr/>
          <a:lstStyle>
            <a:extLst/>
          </a:lstStyle>
          <a:p>
            <a:fld id="{303788C7-6B63-4086-95ED-F00B56151B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17DDDA-2B8A-4DC6-B372-48715983A4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124640" y="1318270"/>
            <a:ext cx="11094720" cy="28087320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760" y="1318270"/>
            <a:ext cx="32857440" cy="2808732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99A0FF-0CBA-41A1-89B3-DA606C6B74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33525" y="3266290"/>
            <a:ext cx="256032" cy="175564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506812" y="3266290"/>
            <a:ext cx="153619" cy="175564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400113" y="3266290"/>
            <a:ext cx="51205" cy="175564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1241903" y="3266290"/>
            <a:ext cx="51205" cy="175564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1590" tIns="250795" rIns="501590" bIns="250795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120640" y="2457907"/>
            <a:ext cx="43525440" cy="4389120"/>
          </a:xfrm>
          <a:prstGeom prst="rect">
            <a:avLst/>
          </a:prstGeom>
        </p:spPr>
        <p:txBody>
          <a:bodyPr vert="horz" lIns="501590" tIns="250795" rIns="501590" bIns="250795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120640" y="8561088"/>
            <a:ext cx="43525440" cy="21945600"/>
          </a:xfrm>
          <a:prstGeom prst="rect">
            <a:avLst/>
          </a:prstGeom>
        </p:spPr>
        <p:txBody>
          <a:bodyPr vert="horz" lIns="501590" tIns="250795" rIns="501590" bIns="250795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36271200" y="30800042"/>
            <a:ext cx="11948160" cy="1752600"/>
          </a:xfrm>
          <a:prstGeom prst="rect">
            <a:avLst/>
          </a:prstGeom>
        </p:spPr>
        <p:txBody>
          <a:bodyPr vert="horz" lIns="501590" tIns="250795" rIns="501590" bIns="250795" anchor="b"/>
          <a:lstStyle>
            <a:lvl1pPr algn="l" eaLnBrk="1" latinLnBrk="0" hangingPunct="1">
              <a:defRPr kumimoji="0" sz="6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120640" y="30800042"/>
            <a:ext cx="31150560" cy="1752600"/>
          </a:xfrm>
          <a:prstGeom prst="rect">
            <a:avLst/>
          </a:prstGeom>
        </p:spPr>
        <p:txBody>
          <a:bodyPr vert="horz" lIns="501590" tIns="250795" rIns="501590" bIns="250795" anchor="b"/>
          <a:lstStyle>
            <a:lvl1pPr algn="r" eaLnBrk="1" latinLnBrk="0" hangingPunct="1">
              <a:defRPr kumimoji="0" sz="6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8219360" y="30800042"/>
            <a:ext cx="2560320" cy="1752600"/>
          </a:xfrm>
          <a:prstGeom prst="rect">
            <a:avLst/>
          </a:prstGeom>
        </p:spPr>
        <p:txBody>
          <a:bodyPr vert="horz" lIns="501590" tIns="250795" rIns="501590" bIns="250795" anchor="b"/>
          <a:lstStyle>
            <a:lvl1pPr algn="l" eaLnBrk="1" latinLnBrk="0" hangingPunct="1">
              <a:defRPr kumimoji="0" sz="6500">
                <a:solidFill>
                  <a:schemeClr val="tx2"/>
                </a:solidFill>
              </a:defRPr>
            </a:lvl1pPr>
            <a:extLst/>
          </a:lstStyle>
          <a:p>
            <a:fld id="{2AD61AD8-3D31-466B-B8FD-E991C99D16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22000" kern="1200" spc="-548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2257158" indent="-1880965" algn="l" rtl="0" eaLnBrk="1" latinLnBrk="0" hangingPunct="1">
        <a:spcBef>
          <a:spcPts val="3840"/>
        </a:spcBef>
        <a:buClr>
          <a:schemeClr val="tx2"/>
        </a:buClr>
        <a:buSzPct val="95000"/>
        <a:buFont typeface="Wingdings"/>
        <a:buChar char=""/>
        <a:defRPr kumimoji="0" sz="16400" kern="1200">
          <a:solidFill>
            <a:schemeClr val="tx1"/>
          </a:solidFill>
          <a:latin typeface="+mn-lt"/>
          <a:ea typeface="+mn-ea"/>
          <a:cs typeface="+mn-cs"/>
        </a:defRPr>
      </a:lvl1pPr>
      <a:lvl2pPr marL="4062885" indent="-1567471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14300" kern="1200">
          <a:solidFill>
            <a:schemeClr val="tx1"/>
          </a:solidFill>
          <a:latin typeface="+mn-lt"/>
          <a:ea typeface="+mn-ea"/>
          <a:cs typeface="+mn-cs"/>
        </a:defRPr>
      </a:lvl2pPr>
      <a:lvl3pPr marL="5467339" indent="-1253977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132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952" indent="-1253977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12100" kern="1200">
          <a:solidFill>
            <a:schemeClr val="tx1"/>
          </a:solidFill>
          <a:latin typeface="+mn-lt"/>
          <a:ea typeface="+mn-ea"/>
          <a:cs typeface="+mn-cs"/>
        </a:defRPr>
      </a:lvl4pPr>
      <a:lvl5pPr marL="8125770" indent="-1153659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0900" kern="1200">
          <a:solidFill>
            <a:schemeClr val="tx1"/>
          </a:solidFill>
          <a:latin typeface="+mn-lt"/>
          <a:ea typeface="+mn-ea"/>
          <a:cs typeface="+mn-cs"/>
        </a:defRPr>
      </a:lvl5pPr>
      <a:lvl6pPr marL="9379747" indent="-1153659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9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33087" indent="-1003182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1486427" indent="-1003182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9768" indent="-1003182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8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079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1590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5238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0318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5397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0477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75556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0636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image" Target="../media/image2.png"/><Relationship Id="rId16" Type="http://schemas.openxmlformats.org/officeDocument/2006/relationships/image" Target="../media/image16.jpe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>
                <a:alpha val="59000"/>
              </a:srgbClr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51206400" cy="5029200"/>
          </a:xfrm>
          <a:solidFill>
            <a:schemeClr val="tx2">
              <a:lumMod val="25000"/>
            </a:schemeClr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n-US" sz="9600" dirty="0" smtClean="0">
                <a:solidFill>
                  <a:srgbClr val="C1EEFF"/>
                </a:solidFill>
                <a:effectLst/>
              </a:rPr>
              <a:t>Deriving</a:t>
            </a:r>
            <a:r>
              <a:rPr lang="en-US" sz="9600" dirty="0" smtClean="0">
                <a:effectLst/>
              </a:rPr>
              <a:t> Daytime Variables </a:t>
            </a:r>
            <a:br>
              <a:rPr lang="en-US" sz="9600" dirty="0" smtClean="0">
                <a:effectLst/>
              </a:rPr>
            </a:br>
            <a:r>
              <a:rPr lang="en-US" sz="9600" dirty="0" smtClean="0">
                <a:effectLst/>
              </a:rPr>
              <a:t>from </a:t>
            </a:r>
            <a:r>
              <a:rPr lang="en-US" sz="9600" dirty="0" smtClean="0">
                <a:effectLst/>
              </a:rPr>
              <a:t>the </a:t>
            </a:r>
            <a:r>
              <a:rPr lang="en-US" sz="9600" dirty="0" err="1" smtClean="0">
                <a:effectLst/>
              </a:rPr>
              <a:t>Ameriflux</a:t>
            </a:r>
            <a:r>
              <a:rPr lang="en-US" sz="9600" dirty="0" smtClean="0">
                <a:effectLst/>
              </a:rPr>
              <a:t> Standard Eddy Covariance </a:t>
            </a:r>
            <a:r>
              <a:rPr lang="en-US" sz="9600" dirty="0" smtClean="0">
                <a:effectLst/>
              </a:rPr>
              <a:t>Data Set</a:t>
            </a:r>
            <a:r>
              <a:rPr lang="en-US" sz="105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ahoma" pitchFamily="34" charset="0"/>
              </a:rPr>
              <a:t/>
            </a:r>
            <a:br>
              <a:rPr lang="en-US" sz="105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ahoma" pitchFamily="34" charset="0"/>
              </a:rPr>
            </a:br>
            <a:r>
              <a:rPr lang="en-US" sz="105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ahoma" pitchFamily="34" charset="0"/>
              </a:rPr>
              <a:t/>
            </a:r>
            <a:br>
              <a:rPr lang="en-US" sz="105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ahoma" pitchFamily="34" charset="0"/>
              </a:rPr>
            </a:br>
            <a:endParaRPr lang="en-US" sz="4300" cap="none" dirty="0">
              <a:solidFill>
                <a:schemeClr val="accent1">
                  <a:lumMod val="40000"/>
                  <a:lumOff val="60000"/>
                </a:schemeClr>
              </a:solidFill>
              <a:latin typeface="Tahoma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0" y="3200400"/>
            <a:ext cx="51206400" cy="201336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>
              <a:spcBef>
                <a:spcPts val="1333"/>
              </a:spcBef>
            </a:pP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Catharine van </a:t>
            </a:r>
            <a:r>
              <a:rPr lang="en-US" sz="36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Ingen</a:t>
            </a:r>
            <a:r>
              <a:rPr lang="en-US" sz="3600" baseline="300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ac</a:t>
            </a:r>
            <a:r>
              <a:rPr lang="en-US" sz="36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(vaningen@microsoft.com)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, D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e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 </a:t>
            </a:r>
            <a:r>
              <a:rPr lang="en-US" sz="36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Agarwal</a:t>
            </a:r>
            <a:r>
              <a:rPr lang="en-US" sz="3600" baseline="300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abd</a:t>
            </a:r>
            <a:r>
              <a:rPr lang="en-US" sz="36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(daagarwal@lbl.gov)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Marty </a:t>
            </a:r>
            <a:r>
              <a:rPr lang="en-US" sz="36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Humphrey</a:t>
            </a:r>
            <a:r>
              <a:rPr lang="en-US" sz="3600" baseline="300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e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(humphrey@cs.virginia.edu) , </a:t>
            </a:r>
            <a:r>
              <a:rPr lang="en-US" sz="36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Jie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Li</a:t>
            </a:r>
            <a:r>
              <a:rPr lang="en-US" sz="36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e</a:t>
            </a: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(jl3yhhrey@cs.virginia.edu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36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>
              <a:spcBef>
                <a:spcPts val="1333"/>
              </a:spcBef>
            </a:pPr>
            <a:r>
              <a:rPr lang="en-US" sz="3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Berkeley 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Water </a:t>
            </a:r>
            <a:r>
              <a:rPr lang="en-US" sz="32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Center</a:t>
            </a:r>
            <a:r>
              <a:rPr lang="en-US" sz="3200" baseline="300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; </a:t>
            </a:r>
            <a:r>
              <a:rPr lang="en-GB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Lawrence Berkeley National Laboratory</a:t>
            </a:r>
            <a:r>
              <a:rPr lang="en-US" sz="32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</a:t>
            </a:r>
            <a:r>
              <a:rPr lang="en-GB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; Microsoft Research</a:t>
            </a:r>
            <a:r>
              <a:rPr lang="en-US" sz="32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</a:t>
            </a:r>
            <a:r>
              <a:rPr lang="en-GB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; University of California, Berkeley</a:t>
            </a:r>
            <a:r>
              <a:rPr lang="en-US" sz="32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</a:t>
            </a:r>
            <a:r>
              <a:rPr lang="en-GB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; University of Virginia</a:t>
            </a:r>
            <a:r>
              <a:rPr lang="en-US" sz="3200" baseline="30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e</a:t>
            </a:r>
            <a:endParaRPr lang="en-GB" sz="32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81000" y="5181600"/>
            <a:ext cx="16230598" cy="1127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4300" dirty="0" smtClean="0">
                <a:solidFill>
                  <a:schemeClr val="bg1"/>
                </a:solidFill>
              </a:rPr>
              <a:t>Abstract</a:t>
            </a:r>
          </a:p>
          <a:p>
            <a:r>
              <a:rPr lang="en-US" sz="3600" b="0" dirty="0" smtClean="0">
                <a:solidFill>
                  <a:schemeClr val="bg1"/>
                </a:solidFill>
              </a:rPr>
              <a:t>A gap-filled, quality assessed eddy covariance dataset has recently become available for the </a:t>
            </a:r>
            <a:r>
              <a:rPr lang="en-US" sz="3600" b="0" dirty="0" err="1" smtClean="0">
                <a:solidFill>
                  <a:schemeClr val="bg1"/>
                </a:solidFill>
              </a:rPr>
              <a:t>AmeriFlux</a:t>
            </a:r>
            <a:r>
              <a:rPr lang="en-US" sz="3600" b="0" dirty="0" smtClean="0">
                <a:solidFill>
                  <a:schemeClr val="bg1"/>
                </a:solidFill>
              </a:rPr>
              <a:t> network</a:t>
            </a:r>
            <a:r>
              <a:rPr lang="en-US" sz="3600" b="0" dirty="0" smtClean="0">
                <a:solidFill>
                  <a:schemeClr val="bg1"/>
                </a:solidFill>
              </a:rPr>
              <a:t>. This dataset uses standard processing and produces commonly used science variables. </a:t>
            </a:r>
            <a:r>
              <a:rPr lang="en-US" sz="3600" b="0" dirty="0" smtClean="0">
                <a:solidFill>
                  <a:schemeClr val="bg1"/>
                </a:solidFill>
              </a:rPr>
              <a:t>This shared </a:t>
            </a:r>
            <a:r>
              <a:rPr lang="en-US" sz="3600" b="0" dirty="0" smtClean="0">
                <a:solidFill>
                  <a:schemeClr val="bg1"/>
                </a:solidFill>
              </a:rPr>
              <a:t>dataset enables robust comparisons across different analyses. Of course, there are many </a:t>
            </a:r>
            <a:r>
              <a:rPr lang="en-US" sz="3600" b="0" dirty="0" smtClean="0">
                <a:solidFill>
                  <a:schemeClr val="bg1"/>
                </a:solidFill>
              </a:rPr>
              <a:t>remaining questions</a:t>
            </a:r>
            <a:r>
              <a:rPr lang="en-US" sz="3600" b="0" dirty="0" smtClean="0">
                <a:solidFill>
                  <a:schemeClr val="bg1"/>
                </a:solidFill>
              </a:rPr>
              <a:t>. One of those is how to define "during the day" which is an important concept for many </a:t>
            </a:r>
            <a:r>
              <a:rPr lang="en-US" sz="3600" b="0" dirty="0" smtClean="0">
                <a:solidFill>
                  <a:schemeClr val="bg1"/>
                </a:solidFill>
              </a:rPr>
              <a:t>analyses. Some </a:t>
            </a:r>
            <a:r>
              <a:rPr lang="en-US" sz="3600" b="0" dirty="0" smtClean="0">
                <a:solidFill>
                  <a:schemeClr val="bg1"/>
                </a:solidFill>
              </a:rPr>
              <a:t>studies have used local time – for example 9am to 5pm; others have used thresholds </a:t>
            </a:r>
            <a:r>
              <a:rPr lang="en-US" sz="3600" b="0" dirty="0" smtClean="0">
                <a:solidFill>
                  <a:schemeClr val="bg1"/>
                </a:solidFill>
              </a:rPr>
              <a:t>on photosynthetic </a:t>
            </a:r>
            <a:r>
              <a:rPr lang="en-US" sz="3600" b="0" dirty="0" smtClean="0">
                <a:solidFill>
                  <a:schemeClr val="bg1"/>
                </a:solidFill>
              </a:rPr>
              <a:t>active radiation (PAR). A related question is how to derive quantities such as the Bowen </a:t>
            </a:r>
            <a:r>
              <a:rPr lang="en-US" sz="3600" b="0" dirty="0" smtClean="0">
                <a:solidFill>
                  <a:schemeClr val="bg1"/>
                </a:solidFill>
              </a:rPr>
              <a:t>ratio. Most </a:t>
            </a:r>
            <a:r>
              <a:rPr lang="en-US" sz="3600" b="0" dirty="0" smtClean="0">
                <a:solidFill>
                  <a:schemeClr val="bg1"/>
                </a:solidFill>
              </a:rPr>
              <a:t>studies compute the ratio of the averages of the latent heat (LE) and sensible heat (H). In this study, </a:t>
            </a:r>
            <a:r>
              <a:rPr lang="en-US" sz="3600" b="0" dirty="0" smtClean="0">
                <a:solidFill>
                  <a:schemeClr val="bg1"/>
                </a:solidFill>
              </a:rPr>
              <a:t>we  </a:t>
            </a:r>
            <a:r>
              <a:rPr lang="en-US" sz="3600" b="0" dirty="0" smtClean="0">
                <a:solidFill>
                  <a:schemeClr val="bg1"/>
                </a:solidFill>
              </a:rPr>
              <a:t>use different methods of defining "during the day" for GPP, LE, and H. We evaluate the differences </a:t>
            </a:r>
            <a:r>
              <a:rPr lang="en-US" sz="3600" b="0" dirty="0" smtClean="0">
                <a:solidFill>
                  <a:schemeClr val="bg1"/>
                </a:solidFill>
              </a:rPr>
              <a:t>between methods </a:t>
            </a:r>
            <a:r>
              <a:rPr lang="en-US" sz="3600" b="0" dirty="0" smtClean="0">
                <a:solidFill>
                  <a:schemeClr val="bg1"/>
                </a:solidFill>
              </a:rPr>
              <a:t>in two ways. First, we look at a number of statistics of </a:t>
            </a:r>
            <a:r>
              <a:rPr lang="en-US" sz="3600" b="0" dirty="0" smtClean="0">
                <a:solidFill>
                  <a:schemeClr val="bg1"/>
                </a:solidFill>
              </a:rPr>
              <a:t>GPP. Second</a:t>
            </a:r>
            <a:r>
              <a:rPr lang="en-US" sz="3600" b="0" dirty="0" smtClean="0">
                <a:solidFill>
                  <a:schemeClr val="bg1"/>
                </a:solidFill>
              </a:rPr>
              <a:t>, we look </a:t>
            </a:r>
            <a:r>
              <a:rPr lang="en-US" sz="3600" b="0" dirty="0" smtClean="0">
                <a:solidFill>
                  <a:schemeClr val="bg1"/>
                </a:solidFill>
              </a:rPr>
              <a:t>at differences </a:t>
            </a:r>
            <a:r>
              <a:rPr lang="en-US" sz="3600" b="0" dirty="0" smtClean="0">
                <a:solidFill>
                  <a:schemeClr val="bg1"/>
                </a:solidFill>
              </a:rPr>
              <a:t>in the derived Bowen </a:t>
            </a:r>
            <a:r>
              <a:rPr lang="en-US" sz="3600" b="0" dirty="0" smtClean="0">
                <a:solidFill>
                  <a:schemeClr val="bg1"/>
                </a:solidFill>
              </a:rPr>
              <a:t>ratio.  </a:t>
            </a:r>
            <a:r>
              <a:rPr lang="en-US" sz="3600" b="0" dirty="0" smtClean="0">
                <a:solidFill>
                  <a:schemeClr val="bg1"/>
                </a:solidFill>
              </a:rPr>
              <a:t>Our goal is not science </a:t>
            </a:r>
            <a:r>
              <a:rPr lang="en-US" sz="3600" b="0" dirty="0" smtClean="0">
                <a:solidFill>
                  <a:schemeClr val="bg1"/>
                </a:solidFill>
              </a:rPr>
              <a:t>per se</a:t>
            </a:r>
            <a:r>
              <a:rPr lang="en-US" sz="3600" b="0" dirty="0" smtClean="0">
                <a:solidFill>
                  <a:schemeClr val="bg1"/>
                </a:solidFill>
              </a:rPr>
              <a:t>, but rather informatics in support of the science.</a:t>
            </a:r>
            <a:endParaRPr lang="en-US" sz="3600" b="0" dirty="0" smtClean="0">
              <a:solidFill>
                <a:schemeClr val="bg1"/>
              </a:solidFill>
            </a:endParaRPr>
          </a:p>
          <a:p>
            <a:endParaRPr lang="en-US" sz="3700" b="0" dirty="0" smtClean="0">
              <a:solidFill>
                <a:schemeClr val="bg1"/>
              </a:solidFill>
            </a:endParaRPr>
          </a:p>
          <a:p>
            <a:endParaRPr lang="en-US" sz="3600" dirty="0" smtClean="0">
              <a:solidFill>
                <a:schemeClr val="bg1"/>
              </a:solidFill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33451800" y="11430000"/>
            <a:ext cx="16687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The daytime values computed with local time daytime differ from those computed with PAR &gt; 5 or solar elevation. The computed daytimes always give a higher value of GPP. </a:t>
            </a:r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23" name="Rectangle 42"/>
          <p:cNvSpPr>
            <a:spLocks noChangeArrowheads="1"/>
          </p:cNvSpPr>
          <p:nvPr/>
        </p:nvSpPr>
        <p:spPr bwMode="auto">
          <a:xfrm>
            <a:off x="40538400" y="31651026"/>
            <a:ext cx="10287000" cy="88637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73141" rIns="0" bIns="73141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URL:  http://www.fluxdata.org</a:t>
            </a:r>
            <a:r>
              <a:rPr lang="en-US" sz="4800" dirty="0" smtClean="0">
                <a:solidFill>
                  <a:schemeClr val="bg1"/>
                </a:solidFill>
              </a:rPr>
              <a:t>/</a:t>
            </a:r>
            <a:r>
              <a:rPr lang="en-US" sz="4800" dirty="0" smtClean="0">
                <a:solidFill>
                  <a:schemeClr val="bg1"/>
                </a:solidFill>
              </a:rPr>
              <a:t>	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7449800" y="13639800"/>
            <a:ext cx="16427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203 site-years of data from 53 </a:t>
            </a:r>
            <a:r>
              <a:rPr lang="en-US" sz="3600" dirty="0" err="1" smtClean="0">
                <a:solidFill>
                  <a:schemeClr val="bg1"/>
                </a:solidFill>
              </a:rPr>
              <a:t>AmeriFlux</a:t>
            </a:r>
            <a:r>
              <a:rPr lang="en-US" sz="3600" dirty="0" smtClean="0">
                <a:solidFill>
                  <a:schemeClr val="bg1"/>
                </a:solidFill>
              </a:rPr>
              <a:t> sites </a:t>
            </a:r>
            <a:r>
              <a:rPr lang="en-US" sz="3600" dirty="0" smtClean="0">
                <a:solidFill>
                  <a:schemeClr val="bg1"/>
                </a:solidFill>
              </a:rPr>
              <a:t>were used in this study</a:t>
            </a:r>
            <a:endParaRPr lang="en-US" sz="3600" dirty="0" smtClean="0">
              <a:solidFill>
                <a:schemeClr val="bg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0" y="0"/>
            <a:ext cx="62728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solidFill>
                  <a:srgbClr val="C1EEFF"/>
                </a:solidFill>
                <a:latin typeface="+mj-lt"/>
              </a:rPr>
              <a:t>B31A-0286</a:t>
            </a:r>
            <a:endParaRPr lang="en-US" sz="9600" dirty="0">
              <a:solidFill>
                <a:srgbClr val="C1EEFF"/>
              </a:solidFill>
              <a:latin typeface="+mj-lt"/>
            </a:endParaRPr>
          </a:p>
        </p:txBody>
      </p:sp>
      <p:sp>
        <p:nvSpPr>
          <p:cNvPr id="128" name="Rectangle 14"/>
          <p:cNvSpPr>
            <a:spLocks noChangeArrowheads="1"/>
          </p:cNvSpPr>
          <p:nvPr/>
        </p:nvSpPr>
        <p:spPr bwMode="auto">
          <a:xfrm>
            <a:off x="42367200" y="15087600"/>
            <a:ext cx="7391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Annual values of GPP computed with local time daytime tend to be  consistent. The 9am to 5pm daytime values tend to be 25% larger – a bit less than simple linear scaling of the time window. The differences are larger with smaller annual GPP values. </a:t>
            </a:r>
            <a:endParaRPr lang="en-US" sz="3600" b="0" dirty="0" smtClean="0">
              <a:solidFill>
                <a:schemeClr val="bg1"/>
              </a:solidFill>
            </a:endParaRPr>
          </a:p>
        </p:txBody>
      </p:sp>
      <p:grpSp>
        <p:nvGrpSpPr>
          <p:cNvPr id="129" name="Group 128"/>
          <p:cNvGrpSpPr/>
          <p:nvPr/>
        </p:nvGrpSpPr>
        <p:grpSpPr>
          <a:xfrm>
            <a:off x="374650" y="31458694"/>
            <a:ext cx="19208750" cy="1243013"/>
            <a:chOff x="17526000" y="29406056"/>
            <a:chExt cx="19208750" cy="1243013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526000" y="29448125"/>
              <a:ext cx="5022850" cy="1158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783800" y="29448125"/>
              <a:ext cx="1139825" cy="1158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155400" y="29515594"/>
              <a:ext cx="2865437" cy="1023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7203400" y="29500512"/>
              <a:ext cx="1566863" cy="1054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9108400" y="29527500"/>
              <a:ext cx="2298700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1470600" y="29436219"/>
              <a:ext cx="1182687" cy="1182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2918400" y="29713237"/>
              <a:ext cx="2236787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5509200" y="29406056"/>
              <a:ext cx="1225550" cy="1243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18897600" y="24079200"/>
          <a:ext cx="6578599" cy="6459855"/>
        </p:xfrm>
        <a:graphic>
          <a:graphicData uri="http://schemas.openxmlformats.org/drawingml/2006/table">
            <a:tbl>
              <a:tblPr/>
              <a:tblGrid>
                <a:gridCol w="875455"/>
                <a:gridCol w="2236216"/>
                <a:gridCol w="1421028"/>
                <a:gridCol w="20459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site 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Tower PI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PI E-Mail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US-ARb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ARM Southern Great Plains burn site- Lamont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Margaret Torn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mstorn@lbl.gov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US-ARc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ARM Southern Great Plains control site- Lamont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Margaret Torn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mstorn@lbl.gov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US-ARM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ARM Southern Great Plains site- Lamont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Margaret Torn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mstorn@lbl.gov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US-Bar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Bartlett Experimental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Andrew Richardson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latin typeface="Calibri"/>
                        </a:rPr>
                        <a:t>andrew.richardson@unh.edu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US-Blo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Blodgett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Allen Goldstein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latin typeface="Calibri"/>
                        </a:rPr>
                        <a:t>ahg@nature.berkeley.edu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US-Bo2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Bondville (companion site)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Carl Bernacchi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bernacch@uiuc.edu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US-Dk1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Duke Forest-open field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 Katul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gaby@duke.edu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US-Dk2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Duke Forest-hardwoods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 Katul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gaby@duke.edu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US-Dk3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Duke Forest - loblolly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 Katul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gaby@duke.edu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US-Fmf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Flagstaff - Managed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Sabina Dore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Sabina.Dore@nau.edu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US-FR2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Freeman Ranch- Mesquite Juniper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Marcy Litvak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mlitvak@unm.edu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US-Fuf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Flagstaff - Unmanaged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Sabina Dore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Sabina.Dore@nau.edu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US-Fwf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Flagstaff - Wildfire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Sabina Dore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Sabina.Dore@nau.edu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US-Ha1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Harvard Forest EMS Tower (HFR1)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Bill Munger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jwmunger@seas.harvard.edu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US-Ha2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Harvard Forest Hemlock 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Julian Hadley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jhadley@fas.harvard.edu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US-Ho1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Howland Forest (main tower)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Dave Hollinger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davidh@hypatia.unh.edu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US-Ho2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Howland Forest (west tower)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Dave Hollinger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davidh@hypatia.unh.edu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US-IB1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Fermi National Accelerator Laboratory- Batavia (Agricultural site)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Roser Matamala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matamala@anl.gov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US-IB2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Fermi National Accelerator Laboratory- Batavia (Prairie site)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Roser Matamala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matamala@anl.gov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US-KS1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Kennedy Space Center (slash pine)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Bert Drake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drakeb@si.edu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US-KS2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Kennedy Space Center (scrub oak)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Bert Drake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drakeb@si.edu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US-Los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Lost Creek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 Davis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davis@essc.psu.edu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US-LPH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Little Prospect Hill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Julian Hadley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jhadley@fas.harvard.edu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US-Me1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 - Eyerly burn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US-Me2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Metolius-intermediate aged ponderosa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US-Me3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Metolius-second young aged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US-Me4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Metolius-old aged ponderosa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Morgan Monroe State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Danilo Dragoni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ddragoni@indiana.edu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Table 132"/>
          <p:cNvGraphicFramePr>
            <a:graphicFrameLocks noGrp="1"/>
          </p:cNvGraphicFramePr>
          <p:nvPr/>
        </p:nvGraphicFramePr>
        <p:xfrm>
          <a:off x="25984200" y="24126825"/>
          <a:ext cx="6578599" cy="6412230"/>
        </p:xfrm>
        <a:graphic>
          <a:graphicData uri="http://schemas.openxmlformats.org/drawingml/2006/table">
            <a:tbl>
              <a:tblPr/>
              <a:tblGrid>
                <a:gridCol w="875455"/>
                <a:gridCol w="2236216"/>
                <a:gridCol w="1421028"/>
                <a:gridCol w="2045900"/>
              </a:tblGrid>
              <a:tr h="38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site 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Tower PI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PI E-Mail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US-Me1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 - Eyerly burn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US-Me2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Metolius-intermediate aged ponderosa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US-Me3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Metolius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-second young aged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US-Me4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Metolius-old aged ponderosa pine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 Law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bev.law@oregonstate.edu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US-MMS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Morgan Monroe State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Danilo Dragoni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ddragoni@indiana.edu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MOz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Missouri Ozark 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Lianhong Gu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lianhong-gu@ornl.gov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US-NC1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NC_Clearcut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US-NC2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NC_Loblolly Plantation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Mead - irrigated continuous maize 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Shashi Verma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sverma@unlnotes.unl.edu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US-Ne2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Mead - irrigated maize-soybean rotation 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Shashi Verma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sverma@unlnotes.unl.edu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US-Ne3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Mead - rainfed maize-soybean rotation 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Shashi Verma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sverma@unlnotes.unl.edu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US-NR1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Niwot Ridge Forest (LTER NWT1)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 Monson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Russell.Monson@colorado.edu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US-Oho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Oak Openings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US-PFa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Park Falls/WLEF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 Davis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davis@essc.psu.edu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US-SRM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Santa Rita Mesquite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 Scott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rscott@tucson.ars.ag.gov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US-Syv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Sylvania Wilderness Area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 Davis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davis@essc.psu.edu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US-Ton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Tonzi Ranch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Dennis Baldocchi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baldocchi@nature.berkeley.edu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US-UMB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Univ. of Mich. Biological Station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Peter Curtis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curtis.7@osu.edu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US-Var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Vaira Ranch- Ione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Dennis Baldocchi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baldocchi@nature.berkeley.edu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US-WCr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Willow Creek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Ken Davis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davis@essc.psu.edu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Young red pine (YRP)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hardwood (IHW)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 red pine (IRP)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Mature red pine (MRP)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Mixed young jack pine (MYJP)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US-Wi6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Pine barrens #1 (PB1)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Red pine clearcut (RPCC)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Young hardwood clearcut (YHW)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US-Wi9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Young Jack pine (YJP)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 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Jiquan.Chen@utoledo.edu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US-Wkg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Walnut Gulch Kendall Grasslands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 Scott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rscott@tucson.ars.ag.gov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5" name="TextBox 134"/>
          <p:cNvSpPr txBox="1"/>
          <p:nvPr/>
        </p:nvSpPr>
        <p:spPr>
          <a:xfrm>
            <a:off x="20345400" y="31433869"/>
            <a:ext cx="1113317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Our thanks to Tower Primary Investigators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and their sponsors</a:t>
            </a:r>
          </a:p>
        </p:txBody>
      </p:sp>
      <p:pic>
        <p:nvPicPr>
          <p:cNvPr id="136" name="Picture 135" descr="AGUposter-site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97600" y="5562600"/>
            <a:ext cx="13113460" cy="8001000"/>
          </a:xfrm>
          <a:prstGeom prst="rect">
            <a:avLst/>
          </a:prstGeom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0796396" y="27279600"/>
            <a:ext cx="9409494" cy="3452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1" name="Picture 17" descr="C:\Documents and Settings\vaningen\Desktop\DataAnalysisAGU\DataAnalysis2\Graph_GPP\US-Ho1.2003.synth.hourly.coreplusquality.csv.jp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85800" y="17325975"/>
            <a:ext cx="8191500" cy="6143625"/>
          </a:xfrm>
          <a:prstGeom prst="rect">
            <a:avLst/>
          </a:prstGeom>
          <a:noFill/>
        </p:spPr>
      </p:pic>
      <p:pic>
        <p:nvPicPr>
          <p:cNvPr id="1042" name="Picture 18" descr="C:\Documents and Settings\vaningen\Desktop\DataAnalysisAGU\DataAnalysis2\Graph_GPP\US-KS2.2004.synth.hourly.coreplusquality.csv.jpg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9906000" y="24784228"/>
            <a:ext cx="8229600" cy="6152972"/>
          </a:xfrm>
          <a:prstGeom prst="rect">
            <a:avLst/>
          </a:prstGeom>
          <a:noFill/>
        </p:spPr>
      </p:pic>
      <p:sp>
        <p:nvSpPr>
          <p:cNvPr id="144" name="TextBox 143"/>
          <p:cNvSpPr txBox="1"/>
          <p:nvPr/>
        </p:nvSpPr>
        <p:spPr>
          <a:xfrm>
            <a:off x="1828800" y="17859375"/>
            <a:ext cx="21323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 smtClean="0">
                <a:solidFill>
                  <a:schemeClr val="bg1"/>
                </a:solidFill>
              </a:rPr>
              <a:t>US-HO1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lat. = 45.2041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b</a:t>
            </a:r>
            <a:r>
              <a:rPr lang="en-US" sz="2400" b="0" dirty="0" smtClean="0">
                <a:solidFill>
                  <a:schemeClr val="bg1"/>
                </a:solidFill>
              </a:rPr>
              <a:t>iome = ENF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2003</a:t>
            </a:r>
            <a:endParaRPr lang="en-US" sz="2400" b="0" dirty="0">
              <a:solidFill>
                <a:schemeClr val="bg1"/>
              </a:solidFill>
            </a:endParaRPr>
          </a:p>
        </p:txBody>
      </p:sp>
      <p:pic>
        <p:nvPicPr>
          <p:cNvPr id="1043" name="Picture 19" descr="C:\Documents and Settings\vaningen\Desktop\DataAnalysisAGU\DataAnalysis2\Graph_GPP\US-Ne1.2004.synth.hourly.coreplusquality.csv.jpg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62000" y="24717375"/>
            <a:ext cx="8191500" cy="6219825"/>
          </a:xfrm>
          <a:prstGeom prst="rect">
            <a:avLst/>
          </a:prstGeom>
          <a:noFill/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0786486" y="22631400"/>
            <a:ext cx="9429314" cy="3452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33450554" y="6248400"/>
            <a:ext cx="8030384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42214800" y="6248400"/>
            <a:ext cx="8020756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8" name="Rectangle 14"/>
          <p:cNvSpPr>
            <a:spLocks noChangeArrowheads="1"/>
          </p:cNvSpPr>
          <p:nvPr/>
        </p:nvSpPr>
        <p:spPr bwMode="auto">
          <a:xfrm>
            <a:off x="381000" y="14554200"/>
            <a:ext cx="15163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4000" dirty="0" smtClean="0">
                <a:solidFill>
                  <a:schemeClr val="bg1"/>
                </a:solidFill>
              </a:rPr>
              <a:t>Example computations of </a:t>
            </a:r>
            <a:r>
              <a:rPr lang="en-US" sz="4000" dirty="0" smtClean="0">
                <a:solidFill>
                  <a:schemeClr val="bg1"/>
                </a:solidFill>
              </a:rPr>
              <a:t>daytime </a:t>
            </a:r>
            <a:r>
              <a:rPr lang="en-US" sz="4000" dirty="0" smtClean="0">
                <a:solidFill>
                  <a:schemeClr val="bg1"/>
                </a:solidFill>
              </a:rPr>
              <a:t>GPP over a site year.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905000" y="25307506"/>
            <a:ext cx="2132315" cy="1589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chemeClr val="bg1"/>
                </a:solidFill>
              </a:rPr>
              <a:t>US-Ne1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lat. = 41.1651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biome = </a:t>
            </a:r>
            <a:r>
              <a:rPr lang="en-US" sz="2400" b="0" dirty="0" smtClean="0">
                <a:solidFill>
                  <a:schemeClr val="bg1"/>
                </a:solidFill>
              </a:rPr>
              <a:t>CRO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2004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049000" y="25298400"/>
            <a:ext cx="21323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 smtClean="0">
                <a:solidFill>
                  <a:schemeClr val="bg1"/>
                </a:solidFill>
              </a:rPr>
              <a:t>US-KS2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l</a:t>
            </a:r>
            <a:r>
              <a:rPr lang="en-US" sz="2400" b="0" dirty="0" smtClean="0">
                <a:solidFill>
                  <a:schemeClr val="bg1"/>
                </a:solidFill>
              </a:rPr>
              <a:t>at. = 28.6086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b</a:t>
            </a:r>
            <a:r>
              <a:rPr lang="en-US" sz="2400" b="0" dirty="0" smtClean="0">
                <a:solidFill>
                  <a:schemeClr val="bg1"/>
                </a:solidFill>
              </a:rPr>
              <a:t>iome = CSH</a:t>
            </a:r>
          </a:p>
          <a:p>
            <a:r>
              <a:rPr lang="en-US" sz="2400" b="0" dirty="0" smtClean="0">
                <a:solidFill>
                  <a:schemeClr val="bg1"/>
                </a:solidFill>
              </a:rPr>
              <a:t>2004</a:t>
            </a:r>
            <a:endParaRPr lang="en-US" sz="2400" b="0" dirty="0">
              <a:solidFill>
                <a:schemeClr val="bg1"/>
              </a:solidFill>
            </a:endParaRPr>
          </a:p>
        </p:txBody>
      </p:sp>
      <p:pic>
        <p:nvPicPr>
          <p:cNvPr id="1048" name="Picture 24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34201885" y="15011400"/>
            <a:ext cx="717471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4" name="Rectangle 14"/>
          <p:cNvSpPr>
            <a:spLocks noChangeArrowheads="1"/>
          </p:cNvSpPr>
          <p:nvPr/>
        </p:nvSpPr>
        <p:spPr bwMode="auto">
          <a:xfrm>
            <a:off x="381000" y="15544800"/>
            <a:ext cx="16840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Local time based daytimes are simple time windows of 9am to 5pm and 10am to 4pm.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 </a:t>
            </a:r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55" name="Rectangle 14"/>
          <p:cNvSpPr>
            <a:spLocks noChangeArrowheads="1"/>
          </p:cNvSpPr>
          <p:nvPr/>
        </p:nvSpPr>
        <p:spPr bwMode="auto">
          <a:xfrm>
            <a:off x="9448800" y="16611600"/>
            <a:ext cx="8458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PAR (or PPFD) daytime uses the observed photosynthetic active radiation flux data. “Daytime” is when PAR &gt; is above 5 or above 20.</a:t>
            </a:r>
            <a:endParaRPr lang="en-US" sz="3600" b="0" dirty="0" smtClean="0">
              <a:solidFill>
                <a:schemeClr val="bg1"/>
              </a:solidFill>
              <a:cs typeface="Tahoma" pitchFamily="34" charset="0"/>
            </a:endParaRPr>
          </a:p>
          <a:p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56" name="Rectangle 14"/>
          <p:cNvSpPr>
            <a:spLocks noChangeArrowheads="1"/>
          </p:cNvSpPr>
          <p:nvPr/>
        </p:nvSpPr>
        <p:spPr bwMode="auto">
          <a:xfrm>
            <a:off x="9448800" y="19126200"/>
            <a:ext cx="9067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Solar elevation </a:t>
            </a:r>
            <a:r>
              <a:rPr lang="en-US" sz="3600" b="0" dirty="0" smtClean="0">
                <a:solidFill>
                  <a:schemeClr val="bg1"/>
                </a:solidFill>
              </a:rPr>
              <a:t>(or </a:t>
            </a:r>
            <a:r>
              <a:rPr lang="en-US" sz="3600" b="0" dirty="0" err="1" smtClean="0">
                <a:solidFill>
                  <a:schemeClr val="bg1"/>
                </a:solidFill>
              </a:rPr>
              <a:t>daylength</a:t>
            </a:r>
            <a:r>
              <a:rPr lang="en-US" sz="3600" b="0" dirty="0" smtClean="0">
                <a:solidFill>
                  <a:schemeClr val="bg1"/>
                </a:solidFill>
              </a:rPr>
              <a:t> equation) daytime is centered at local noon with a length of day (</a:t>
            </a:r>
            <a:r>
              <a:rPr lang="en-US" sz="3600" b="0" dirty="0" err="1" smtClean="0">
                <a:solidFill>
                  <a:schemeClr val="bg1"/>
                </a:solidFill>
              </a:rPr>
              <a:t>Daylength</a:t>
            </a:r>
            <a:r>
              <a:rPr lang="en-US" sz="3600" b="0" dirty="0" smtClean="0">
                <a:solidFill>
                  <a:schemeClr val="bg1"/>
                </a:solidFill>
              </a:rPr>
              <a:t>) computed as:</a:t>
            </a:r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57" name="Rectangle 14"/>
          <p:cNvSpPr>
            <a:spLocks noChangeArrowheads="1"/>
          </p:cNvSpPr>
          <p:nvPr/>
        </p:nvSpPr>
        <p:spPr bwMode="auto">
          <a:xfrm>
            <a:off x="9372600" y="21031200"/>
            <a:ext cx="8839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Declination = 23.5 * </a:t>
            </a:r>
            <a:r>
              <a:rPr lang="en-US" sz="3600" b="0" dirty="0" err="1" smtClean="0">
                <a:solidFill>
                  <a:schemeClr val="bg1"/>
                </a:solidFill>
                <a:cs typeface="Tahoma" pitchFamily="34" charset="0"/>
              </a:rPr>
              <a:t>cos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(2</a:t>
            </a:r>
            <a:r>
              <a:rPr lang="en-US" sz="38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p</a:t>
            </a:r>
            <a:r>
              <a:rPr lang="en-US" sz="36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*</a:t>
            </a:r>
          </a:p>
          <a:p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        (</a:t>
            </a:r>
            <a:r>
              <a:rPr lang="en-US" sz="3600" b="0" dirty="0" err="1" smtClean="0">
                <a:solidFill>
                  <a:schemeClr val="bg1"/>
                </a:solidFill>
                <a:cs typeface="Tahoma" pitchFamily="34" charset="0"/>
              </a:rPr>
              <a:t>DayOfYear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 – 172) /365)</a:t>
            </a:r>
          </a:p>
          <a:p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 </a:t>
            </a:r>
          </a:p>
          <a:p>
            <a:r>
              <a:rPr lang="en-US" sz="3600" b="0" dirty="0" err="1" smtClean="0">
                <a:solidFill>
                  <a:schemeClr val="bg1"/>
                </a:solidFill>
                <a:cs typeface="Tahoma" pitchFamily="34" charset="0"/>
              </a:rPr>
              <a:t>Daylength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 = </a:t>
            </a:r>
            <a:r>
              <a:rPr lang="en-US" sz="3600" b="0" dirty="0" err="1" smtClean="0">
                <a:solidFill>
                  <a:schemeClr val="bg1"/>
                </a:solidFill>
                <a:cs typeface="Tahoma" pitchFamily="34" charset="0"/>
              </a:rPr>
              <a:t>acos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(- tan(</a:t>
            </a:r>
            <a:r>
              <a:rPr lang="en-US" sz="38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p</a:t>
            </a:r>
            <a:r>
              <a:rPr lang="en-US" sz="36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*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Latitude /180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)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* tan(</a:t>
            </a:r>
            <a:r>
              <a:rPr lang="en-US" sz="38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p</a:t>
            </a:r>
            <a:r>
              <a:rPr lang="en-US" sz="36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* Declination/180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)) </a:t>
            </a:r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* 2/15 *180/</a:t>
            </a:r>
            <a:r>
              <a:rPr lang="en-US" sz="3800" b="0" dirty="0" smtClean="0">
                <a:solidFill>
                  <a:schemeClr val="bg1"/>
                </a:solidFill>
                <a:latin typeface="Symbol" pitchFamily="18" charset="2"/>
                <a:cs typeface="Tahoma" pitchFamily="34" charset="0"/>
              </a:rPr>
              <a:t>p</a:t>
            </a:r>
            <a:endParaRPr lang="en-US" sz="3800" b="0" dirty="0" smtClean="0">
              <a:solidFill>
                <a:schemeClr val="bg1"/>
              </a:solidFill>
              <a:cs typeface="Tahoma" pitchFamily="34" charset="0"/>
            </a:endParaRPr>
          </a:p>
          <a:p>
            <a:r>
              <a:rPr lang="en-US" sz="3600" b="0" dirty="0" smtClean="0">
                <a:solidFill>
                  <a:schemeClr val="bg1"/>
                </a:solidFill>
                <a:cs typeface="Tahoma" pitchFamily="34" charset="0"/>
              </a:rPr>
              <a:t> </a:t>
            </a:r>
          </a:p>
          <a:p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58" name="Rectangle 14"/>
          <p:cNvSpPr>
            <a:spLocks noChangeArrowheads="1"/>
          </p:cNvSpPr>
          <p:nvPr/>
        </p:nvSpPr>
        <p:spPr bwMode="auto">
          <a:xfrm>
            <a:off x="34518600" y="22707600"/>
            <a:ext cx="5562600" cy="807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2" tIns="73141" rIns="146282" bIns="73141"/>
          <a:lstStyle/>
          <a:p>
            <a:r>
              <a:rPr lang="en-US" sz="3600" b="0" dirty="0" smtClean="0">
                <a:solidFill>
                  <a:schemeClr val="bg1"/>
                </a:solidFill>
              </a:rPr>
              <a:t>While the annual values of GPP computed with the PAR &gt; 5 and solar elevation tend to be the same, the actual duration of the “daytime” are different. </a:t>
            </a:r>
          </a:p>
          <a:p>
            <a:endParaRPr lang="en-US" sz="3600" b="0" dirty="0" smtClean="0">
              <a:solidFill>
                <a:schemeClr val="bg1"/>
              </a:solidFill>
            </a:endParaRPr>
          </a:p>
          <a:p>
            <a:r>
              <a:rPr lang="en-US" sz="3600" b="0" dirty="0" smtClean="0">
                <a:solidFill>
                  <a:schemeClr val="bg1"/>
                </a:solidFill>
              </a:rPr>
              <a:t>The plots at left show the number of site-days with a given length of daytime. Season are defined with 3 month duration; winter begins in December. </a:t>
            </a:r>
            <a:endParaRPr lang="en-US" sz="3600" b="0" dirty="0" smtClean="0">
              <a:solidFill>
                <a:schemeClr val="bg1"/>
              </a:solidFill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48615600" y="24841200"/>
            <a:ext cx="2286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9" name="Picture 25" descr="C:\Documents and Settings\vaningen\Desktop\DataAnalysisagu1\DataAnalysis3\Bowen_PAR_vs_Ref\Yearly\Bowen_PAR_vs_Ref_Yearly.bmp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18135600" y="15087600"/>
            <a:ext cx="7239000" cy="5429250"/>
          </a:xfrm>
          <a:prstGeom prst="rect">
            <a:avLst/>
          </a:prstGeom>
          <a:noFill/>
        </p:spPr>
      </p:pic>
      <p:pic>
        <p:nvPicPr>
          <p:cNvPr id="1050" name="Picture 26" descr="C:\Documents and Settings\vaningen\Desktop\DataAnalysisagu1\DataAnalysis3\Bowen_Solar_vs_Ref\Yearly\Bowen_Solar_vs_Ref_Yearly.bmp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25679400" y="15087600"/>
            <a:ext cx="7239000" cy="5429250"/>
          </a:xfrm>
          <a:prstGeom prst="rect">
            <a:avLst/>
          </a:prstGeom>
          <a:noFill/>
        </p:spPr>
      </p:pic>
      <p:sp>
        <p:nvSpPr>
          <p:cNvPr id="161" name="Rectangle 160"/>
          <p:cNvSpPr/>
          <p:nvPr/>
        </p:nvSpPr>
        <p:spPr>
          <a:xfrm>
            <a:off x="30327600" y="15163800"/>
            <a:ext cx="175260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20802600" y="16002000"/>
            <a:ext cx="175260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/>
          <p:nvPr/>
        </p:nvSpPr>
        <p:spPr>
          <a:xfrm>
            <a:off x="22783800" y="15163800"/>
            <a:ext cx="175260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/>
          <p:cNvSpPr txBox="1"/>
          <p:nvPr/>
        </p:nvSpPr>
        <p:spPr>
          <a:xfrm>
            <a:off x="18745200" y="20955000"/>
            <a:ext cx="1432560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solidFill>
                  <a:schemeClr val="bg1"/>
                </a:solidFill>
              </a:rPr>
              <a:t>Daytime values of Bowen Ratio computed by solar elevation and PAR&gt;5 differ more than the daily GPP values. We’re don’t yet know why. </a:t>
            </a:r>
            <a:endParaRPr lang="en-US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2221</TotalTime>
  <Words>1086</Words>
  <Application>Microsoft Office PowerPoint</Application>
  <PresentationFormat>Custom</PresentationFormat>
  <Paragraphs>277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Metro</vt:lpstr>
      <vt:lpstr>Deriving Daytime Variables  from the Ameriflux Standard Eddy Covariance Data Set  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Catharine van Ingen</dc:creator>
  <cp:lastModifiedBy>Catharine van Ingen</cp:lastModifiedBy>
  <cp:revision>187</cp:revision>
  <dcterms:created xsi:type="dcterms:W3CDTF">2006-10-10T17:47:21Z</dcterms:created>
  <dcterms:modified xsi:type="dcterms:W3CDTF">2008-12-16T06:04:31Z</dcterms:modified>
</cp:coreProperties>
</file>