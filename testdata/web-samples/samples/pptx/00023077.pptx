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comments/comment1.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7" r:id="rId2"/>
    <p:sldId id="749" r:id="rId3"/>
    <p:sldId id="753" r:id="rId4"/>
    <p:sldId id="746" r:id="rId5"/>
    <p:sldId id="754" r:id="rId6"/>
    <p:sldId id="755" r:id="rId7"/>
    <p:sldId id="711" r:id="rId8"/>
    <p:sldId id="740" r:id="rId9"/>
    <p:sldId id="758" r:id="rId10"/>
    <p:sldId id="759" r:id="rId11"/>
    <p:sldId id="757" r:id="rId12"/>
    <p:sldId id="760" r:id="rId13"/>
    <p:sldId id="756" r:id="rId14"/>
    <p:sldId id="761" r:id="rId15"/>
    <p:sldId id="762" r:id="rId16"/>
    <p:sldId id="745" r:id="rId17"/>
    <p:sldId id="750" r:id="rId18"/>
  </p:sldIdLst>
  <p:sldSz cx="9144000" cy="6858000" type="screen4x3"/>
  <p:notesSz cx="7019925" cy="9305925"/>
  <p:defaultTextStyle>
    <a:defPPr>
      <a:defRPr lang="en-US"/>
    </a:defPPr>
    <a:lvl1pPr algn="l" rtl="0" fontAlgn="base">
      <a:spcBef>
        <a:spcPct val="0"/>
      </a:spcBef>
      <a:spcAft>
        <a:spcPct val="0"/>
      </a:spcAft>
      <a:defRPr sz="2400" b="1" kern="1200">
        <a:solidFill>
          <a:schemeClr val="tx1"/>
        </a:solidFill>
        <a:latin typeface="Times New Roman" pitchFamily="18" charset="0"/>
        <a:ea typeface="+mn-ea"/>
        <a:cs typeface="+mn-cs"/>
      </a:defRPr>
    </a:lvl1pPr>
    <a:lvl2pPr marL="457200" algn="l" rtl="0" fontAlgn="base">
      <a:spcBef>
        <a:spcPct val="0"/>
      </a:spcBef>
      <a:spcAft>
        <a:spcPct val="0"/>
      </a:spcAft>
      <a:defRPr sz="2400" b="1" kern="1200">
        <a:solidFill>
          <a:schemeClr val="tx1"/>
        </a:solidFill>
        <a:latin typeface="Times New Roman" pitchFamily="18" charset="0"/>
        <a:ea typeface="+mn-ea"/>
        <a:cs typeface="+mn-cs"/>
      </a:defRPr>
    </a:lvl2pPr>
    <a:lvl3pPr marL="914400" algn="l" rtl="0" fontAlgn="base">
      <a:spcBef>
        <a:spcPct val="0"/>
      </a:spcBef>
      <a:spcAft>
        <a:spcPct val="0"/>
      </a:spcAft>
      <a:defRPr sz="2400" b="1" kern="1200">
        <a:solidFill>
          <a:schemeClr val="tx1"/>
        </a:solidFill>
        <a:latin typeface="Times New Roman" pitchFamily="18" charset="0"/>
        <a:ea typeface="+mn-ea"/>
        <a:cs typeface="+mn-cs"/>
      </a:defRPr>
    </a:lvl3pPr>
    <a:lvl4pPr marL="1371600" algn="l" rtl="0" fontAlgn="base">
      <a:spcBef>
        <a:spcPct val="0"/>
      </a:spcBef>
      <a:spcAft>
        <a:spcPct val="0"/>
      </a:spcAft>
      <a:defRPr sz="2400" b="1" kern="1200">
        <a:solidFill>
          <a:schemeClr val="tx1"/>
        </a:solidFill>
        <a:latin typeface="Times New Roman" pitchFamily="18" charset="0"/>
        <a:ea typeface="+mn-ea"/>
        <a:cs typeface="+mn-cs"/>
      </a:defRPr>
    </a:lvl4pPr>
    <a:lvl5pPr marL="1828800" algn="l" rtl="0" fontAlgn="base">
      <a:spcBef>
        <a:spcPct val="0"/>
      </a:spcBef>
      <a:spcAft>
        <a:spcPct val="0"/>
      </a:spcAft>
      <a:defRPr sz="2400" b="1" kern="1200">
        <a:solidFill>
          <a:schemeClr val="tx1"/>
        </a:solidFill>
        <a:latin typeface="Times New Roman" pitchFamily="18" charset="0"/>
        <a:ea typeface="+mn-ea"/>
        <a:cs typeface="+mn-cs"/>
      </a:defRPr>
    </a:lvl5pPr>
    <a:lvl6pPr marL="2286000" algn="l" defTabSz="914400" rtl="0" eaLnBrk="1" latinLnBrk="0" hangingPunct="1">
      <a:defRPr sz="2400" b="1" kern="1200">
        <a:solidFill>
          <a:schemeClr val="tx1"/>
        </a:solidFill>
        <a:latin typeface="Times New Roman" pitchFamily="18" charset="0"/>
        <a:ea typeface="+mn-ea"/>
        <a:cs typeface="+mn-cs"/>
      </a:defRPr>
    </a:lvl6pPr>
    <a:lvl7pPr marL="2743200" algn="l" defTabSz="914400" rtl="0" eaLnBrk="1" latinLnBrk="0" hangingPunct="1">
      <a:defRPr sz="2400" b="1" kern="1200">
        <a:solidFill>
          <a:schemeClr val="tx1"/>
        </a:solidFill>
        <a:latin typeface="Times New Roman" pitchFamily="18" charset="0"/>
        <a:ea typeface="+mn-ea"/>
        <a:cs typeface="+mn-cs"/>
      </a:defRPr>
    </a:lvl7pPr>
    <a:lvl8pPr marL="3200400" algn="l" defTabSz="914400" rtl="0" eaLnBrk="1" latinLnBrk="0" hangingPunct="1">
      <a:defRPr sz="2400" b="1" kern="1200">
        <a:solidFill>
          <a:schemeClr val="tx1"/>
        </a:solidFill>
        <a:latin typeface="Times New Roman" pitchFamily="18" charset="0"/>
        <a:ea typeface="+mn-ea"/>
        <a:cs typeface="+mn-cs"/>
      </a:defRPr>
    </a:lvl8pPr>
    <a:lvl9pPr marL="3657600" algn="l" defTabSz="914400" rtl="0" eaLnBrk="1" latinLnBrk="0" hangingPunct="1">
      <a:defRPr sz="2400" b="1" kern="1200">
        <a:solidFill>
          <a:schemeClr val="tx1"/>
        </a:solidFill>
        <a:latin typeface="Times New Roman" pitchFamily="18"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hapththompr" initials="v" lastIdx="5"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00"/>
    <a:srgbClr val="DDDDDD"/>
    <a:srgbClr val="FFFF00"/>
    <a:srgbClr val="009900"/>
    <a:srgbClr val="006600"/>
    <a:srgbClr val="CC6600"/>
    <a:srgbClr val="99FF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84" autoAdjust="0"/>
    <p:restoredTop sz="91828" autoAdjust="0"/>
  </p:normalViewPr>
  <p:slideViewPr>
    <p:cSldViewPr>
      <p:cViewPr varScale="1">
        <p:scale>
          <a:sx n="38" d="100"/>
          <a:sy n="38" d="100"/>
        </p:scale>
        <p:origin x="-69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398"/>
    </p:cViewPr>
  </p:sorterViewPr>
  <p:notesViewPr>
    <p:cSldViewPr>
      <p:cViewPr>
        <p:scale>
          <a:sx n="66" d="100"/>
          <a:sy n="66" d="100"/>
        </p:scale>
        <p:origin x="-2256" y="-72"/>
      </p:cViewPr>
      <p:guideLst>
        <p:guide orient="horz" pos="2931"/>
        <p:guide pos="221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1-08-08T10:51:47.852" idx="5">
    <p:pos x="10" y="10"/>
    <p:text>format with more bullets and sub-buillets, less paragraph style.</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3597" tIns="46800" rIns="93597" bIns="46800" numCol="1" anchor="t" anchorCtr="0" compatLnSpc="1">
            <a:prstTxWarp prst="textNoShape">
              <a:avLst/>
            </a:prstTxWarp>
          </a:bodyPr>
          <a:lstStyle>
            <a:lvl1pPr defTabSz="936014">
              <a:defRPr sz="1100" b="0"/>
            </a:lvl1pPr>
          </a:lstStyle>
          <a:p>
            <a:pPr>
              <a:defRPr/>
            </a:pPr>
            <a:endParaRPr lang="en-US"/>
          </a:p>
        </p:txBody>
      </p:sp>
      <p:sp>
        <p:nvSpPr>
          <p:cNvPr id="39939" name="Rectangle 3"/>
          <p:cNvSpPr>
            <a:spLocks noGrp="1" noChangeArrowheads="1"/>
          </p:cNvSpPr>
          <p:nvPr>
            <p:ph type="dt" idx="1"/>
          </p:nvPr>
        </p:nvSpPr>
        <p:spPr bwMode="auto">
          <a:xfrm>
            <a:off x="3975100" y="0"/>
            <a:ext cx="3043238" cy="465138"/>
          </a:xfrm>
          <a:prstGeom prst="rect">
            <a:avLst/>
          </a:prstGeom>
          <a:noFill/>
          <a:ln w="9525">
            <a:noFill/>
            <a:miter lim="800000"/>
            <a:headEnd/>
            <a:tailEnd/>
          </a:ln>
          <a:effectLst/>
        </p:spPr>
        <p:txBody>
          <a:bodyPr vert="horz" wrap="square" lIns="93597" tIns="46800" rIns="93597" bIns="46800" numCol="1" anchor="t" anchorCtr="0" compatLnSpc="1">
            <a:prstTxWarp prst="textNoShape">
              <a:avLst/>
            </a:prstTxWarp>
          </a:bodyPr>
          <a:lstStyle>
            <a:lvl1pPr algn="r" defTabSz="936014">
              <a:defRPr sz="1100" b="0"/>
            </a:lvl1pPr>
          </a:lstStyle>
          <a:p>
            <a:pPr>
              <a:defRPr/>
            </a:pPr>
            <a:endParaRPr lang="en-US"/>
          </a:p>
        </p:txBody>
      </p:sp>
      <p:sp>
        <p:nvSpPr>
          <p:cNvPr id="19460" name="Rectangle 4"/>
          <p:cNvSpPr>
            <a:spLocks noGrp="1" noRot="1" noChangeAspect="1" noChangeArrowheads="1" noTextEdit="1"/>
          </p:cNvSpPr>
          <p:nvPr>
            <p:ph type="sldImg" idx="2"/>
          </p:nvPr>
        </p:nvSpPr>
        <p:spPr bwMode="auto">
          <a:xfrm>
            <a:off x="1185863" y="698500"/>
            <a:ext cx="4651375" cy="3489325"/>
          </a:xfrm>
          <a:prstGeom prst="rect">
            <a:avLst/>
          </a:prstGeom>
          <a:noFill/>
          <a:ln w="9525">
            <a:solidFill>
              <a:srgbClr val="000000"/>
            </a:solidFill>
            <a:miter lim="800000"/>
            <a:headEnd/>
            <a:tailEnd/>
          </a:ln>
        </p:spPr>
      </p:sp>
      <p:sp>
        <p:nvSpPr>
          <p:cNvPr id="39941" name="Rectangle 5"/>
          <p:cNvSpPr>
            <a:spLocks noGrp="1" noChangeArrowheads="1"/>
          </p:cNvSpPr>
          <p:nvPr>
            <p:ph type="body" sz="quarter" idx="3"/>
          </p:nvPr>
        </p:nvSpPr>
        <p:spPr bwMode="auto">
          <a:xfrm>
            <a:off x="701675" y="4419600"/>
            <a:ext cx="5616575" cy="4187825"/>
          </a:xfrm>
          <a:prstGeom prst="rect">
            <a:avLst/>
          </a:prstGeom>
          <a:noFill/>
          <a:ln w="9525">
            <a:noFill/>
            <a:miter lim="800000"/>
            <a:headEnd/>
            <a:tailEnd/>
          </a:ln>
          <a:effectLst/>
        </p:spPr>
        <p:txBody>
          <a:bodyPr vert="horz" wrap="square" lIns="93597" tIns="46800" rIns="93597" bIns="4680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9942" name="Rectangle 6"/>
          <p:cNvSpPr>
            <a:spLocks noGrp="1" noChangeArrowheads="1"/>
          </p:cNvSpPr>
          <p:nvPr>
            <p:ph type="ftr" sz="quarter" idx="4"/>
          </p:nvPr>
        </p:nvSpPr>
        <p:spPr bwMode="auto">
          <a:xfrm>
            <a:off x="0" y="8839200"/>
            <a:ext cx="3043238" cy="465138"/>
          </a:xfrm>
          <a:prstGeom prst="rect">
            <a:avLst/>
          </a:prstGeom>
          <a:noFill/>
          <a:ln w="9525">
            <a:noFill/>
            <a:miter lim="800000"/>
            <a:headEnd/>
            <a:tailEnd/>
          </a:ln>
          <a:effectLst/>
        </p:spPr>
        <p:txBody>
          <a:bodyPr vert="horz" wrap="square" lIns="93597" tIns="46800" rIns="93597" bIns="46800" numCol="1" anchor="b" anchorCtr="0" compatLnSpc="1">
            <a:prstTxWarp prst="textNoShape">
              <a:avLst/>
            </a:prstTxWarp>
          </a:bodyPr>
          <a:lstStyle>
            <a:lvl1pPr defTabSz="936014">
              <a:defRPr sz="1100" b="0"/>
            </a:lvl1pPr>
          </a:lstStyle>
          <a:p>
            <a:pPr>
              <a:defRPr/>
            </a:pPr>
            <a:endParaRPr lang="en-US"/>
          </a:p>
        </p:txBody>
      </p:sp>
      <p:sp>
        <p:nvSpPr>
          <p:cNvPr id="39943" name="Rectangle 7"/>
          <p:cNvSpPr>
            <a:spLocks noGrp="1" noChangeArrowheads="1"/>
          </p:cNvSpPr>
          <p:nvPr>
            <p:ph type="sldNum" sz="quarter" idx="5"/>
          </p:nvPr>
        </p:nvSpPr>
        <p:spPr bwMode="auto">
          <a:xfrm>
            <a:off x="3975100" y="8839200"/>
            <a:ext cx="3043238" cy="465138"/>
          </a:xfrm>
          <a:prstGeom prst="rect">
            <a:avLst/>
          </a:prstGeom>
          <a:noFill/>
          <a:ln w="9525">
            <a:noFill/>
            <a:miter lim="800000"/>
            <a:headEnd/>
            <a:tailEnd/>
          </a:ln>
          <a:effectLst/>
        </p:spPr>
        <p:txBody>
          <a:bodyPr vert="horz" wrap="square" lIns="93597" tIns="46800" rIns="93597" bIns="46800" numCol="1" anchor="b" anchorCtr="0" compatLnSpc="1">
            <a:prstTxWarp prst="textNoShape">
              <a:avLst/>
            </a:prstTxWarp>
          </a:bodyPr>
          <a:lstStyle>
            <a:lvl1pPr algn="r" defTabSz="936014">
              <a:defRPr sz="1100" b="0"/>
            </a:lvl1pPr>
          </a:lstStyle>
          <a:p>
            <a:pPr>
              <a:defRPr/>
            </a:pPr>
            <a:fld id="{40377044-A14F-4E0F-9B23-FDDF9DBB09C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85863" y="700088"/>
            <a:ext cx="4651375" cy="3489325"/>
          </a:xfrm>
          <a:ln/>
        </p:spPr>
      </p:sp>
      <p:sp>
        <p:nvSpPr>
          <p:cNvPr id="21507" name="Rectangle 3"/>
          <p:cNvSpPr>
            <a:spLocks noGrp="1" noChangeArrowheads="1"/>
          </p:cNvSpPr>
          <p:nvPr>
            <p:ph type="body" idx="1"/>
          </p:nvPr>
        </p:nvSpPr>
        <p:spPr>
          <a:xfrm>
            <a:off x="701675" y="4419600"/>
            <a:ext cx="5616575" cy="4186238"/>
          </a:xfrm>
          <a:noFill/>
          <a:ln/>
        </p:spPr>
        <p:txBody>
          <a:bodyPr/>
          <a:lstStyle/>
          <a:p>
            <a:pPr eaLnBrk="1" hangingPunct="1">
              <a:lnSpc>
                <a:spcPct val="80000"/>
              </a:lnSpc>
            </a:pPr>
            <a:endParaRPr lang="en-US" sz="10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85863" y="700088"/>
            <a:ext cx="4651375" cy="3489325"/>
          </a:xfrm>
          <a:ln/>
        </p:spPr>
      </p:sp>
      <p:sp>
        <p:nvSpPr>
          <p:cNvPr id="22531" name="Rectangle 3"/>
          <p:cNvSpPr>
            <a:spLocks noGrp="1" noChangeArrowheads="1"/>
          </p:cNvSpPr>
          <p:nvPr>
            <p:ph type="body" idx="1"/>
          </p:nvPr>
        </p:nvSpPr>
        <p:spPr>
          <a:xfrm>
            <a:off x="701675" y="4419600"/>
            <a:ext cx="5616575" cy="4186238"/>
          </a:xfrm>
          <a:noFill/>
          <a:ln/>
        </p:spPr>
        <p:txBody>
          <a:bodyPr/>
          <a:lstStyle/>
          <a:p>
            <a:pPr eaLnBrk="1" hangingPunct="1">
              <a:lnSpc>
                <a:spcPct val="80000"/>
              </a:lnSpc>
            </a:pPr>
            <a:endParaRPr lang="en-US" sz="100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Examples of permanent housing include, but are not limited to, a house or apartment with a month-to-month or annual lease term or home ownership.</a:t>
            </a:r>
            <a:endParaRPr lang="en-US" dirty="0"/>
          </a:p>
        </p:txBody>
      </p:sp>
      <p:sp>
        <p:nvSpPr>
          <p:cNvPr id="4" name="Slide Number Placeholder 3"/>
          <p:cNvSpPr>
            <a:spLocks noGrp="1"/>
          </p:cNvSpPr>
          <p:nvPr>
            <p:ph type="sldNum" sz="quarter" idx="10"/>
          </p:nvPr>
        </p:nvSpPr>
        <p:spPr/>
        <p:txBody>
          <a:bodyPr/>
          <a:lstStyle/>
          <a:p>
            <a:pPr>
              <a:defRPr/>
            </a:pPr>
            <a:fld id="{40377044-A14F-4E0F-9B23-FDDF9DBB09C1}" type="slidenum">
              <a:rPr lang="en-US" smtClean="0"/>
              <a:pPr>
                <a:defRPr/>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smtClean="0"/>
              <a:t>When serving eligible participants who (</a:t>
            </a:r>
            <a:r>
              <a:rPr lang="en-US" sz="1200" dirty="0" err="1" smtClean="0"/>
              <a:t>i</a:t>
            </a:r>
            <a:r>
              <a:rPr lang="en-US" sz="1200" dirty="0" smtClean="0"/>
              <a:t>) are homeless and scheduled to become residents of permanent housing or (ii) have exited permanent housing in order to seek other housing that is responsive to their needs and preferences, in addition to the required supportive services, grantees may focus on providing the following supportive services: </a:t>
            </a:r>
          </a:p>
          <a:p>
            <a:endParaRPr lang="en-US" dirty="0"/>
          </a:p>
        </p:txBody>
      </p:sp>
      <p:sp>
        <p:nvSpPr>
          <p:cNvPr id="4" name="Slide Number Placeholder 3"/>
          <p:cNvSpPr>
            <a:spLocks noGrp="1"/>
          </p:cNvSpPr>
          <p:nvPr>
            <p:ph type="sldNum" sz="quarter" idx="10"/>
          </p:nvPr>
        </p:nvSpPr>
        <p:spPr/>
        <p:txBody>
          <a:bodyPr/>
          <a:lstStyle/>
          <a:p>
            <a:pPr>
              <a:defRPr/>
            </a:pPr>
            <a:fld id="{40377044-A14F-4E0F-9B23-FDDF9DBB09C1}" type="slidenum">
              <a:rPr lang="en-US" smtClean="0"/>
              <a:pPr>
                <a:defRPr/>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MAINSTREAM: (e.g., HUD–VA Supported Housing (VASH) program, HUD Housing Choice Voucher programs, McKinney-Vento funded supportive housing programs, Temporary Assistance for Needy Families (TANF), etc.) </a:t>
            </a:r>
            <a:endParaRPr lang="en-US" dirty="0"/>
          </a:p>
        </p:txBody>
      </p:sp>
      <p:sp>
        <p:nvSpPr>
          <p:cNvPr id="4" name="Slide Number Placeholder 3"/>
          <p:cNvSpPr>
            <a:spLocks noGrp="1"/>
          </p:cNvSpPr>
          <p:nvPr>
            <p:ph type="sldNum" sz="quarter" idx="10"/>
          </p:nvPr>
        </p:nvSpPr>
        <p:spPr/>
        <p:txBody>
          <a:bodyPr/>
          <a:lstStyle/>
          <a:p>
            <a:pPr>
              <a:defRPr/>
            </a:pPr>
            <a:fld id="{40377044-A14F-4E0F-9B23-FDDF9DBB09C1}" type="slidenum">
              <a:rPr lang="en-US" smtClean="0"/>
              <a:pPr>
                <a:defRPr/>
              </a:pPr>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Eviction within two weeks from a private dwelling (including housing provided by family or friends);</a:t>
            </a:r>
          </a:p>
          <a:p>
            <a:r>
              <a:rPr lang="en-US" sz="1200" dirty="0" smtClean="0"/>
              <a:t>Discharge within two weeks from an institution in which the person has been a resident for more than 180 days (including prisons, mental health institutions, hospitals);</a:t>
            </a:r>
          </a:p>
          <a:p>
            <a:r>
              <a:rPr lang="en-US" sz="1200" dirty="0" smtClean="0"/>
              <a:t>Residency in housing that has been condemned by housing officials and is no longer meant for human habitation;</a:t>
            </a:r>
          </a:p>
          <a:p>
            <a:r>
              <a:rPr lang="en-US" sz="1200" dirty="0" smtClean="0"/>
              <a:t>Sudden and significant loss of income;</a:t>
            </a:r>
          </a:p>
          <a:p>
            <a:r>
              <a:rPr lang="en-US" sz="1200" dirty="0" smtClean="0"/>
              <a:t>Sudden and significant increase in utility costs;</a:t>
            </a:r>
          </a:p>
          <a:p>
            <a:r>
              <a:rPr lang="en-US" sz="1200" dirty="0" smtClean="0"/>
              <a:t>Mental health and substance use issues;</a:t>
            </a:r>
          </a:p>
          <a:p>
            <a:r>
              <a:rPr lang="en-US" sz="1200" dirty="0" smtClean="0"/>
              <a:t>Physical disabilities and other chronic health issues, including HIV/ AIDS;</a:t>
            </a:r>
          </a:p>
          <a:p>
            <a:r>
              <a:rPr lang="en-US" sz="1200" dirty="0" smtClean="0"/>
              <a:t>Severe housing cost burden (greater than 50 percent of income for housing costs);</a:t>
            </a:r>
          </a:p>
          <a:p>
            <a:r>
              <a:rPr lang="en-US" sz="1200" dirty="0" smtClean="0"/>
              <a:t>Homeless in last 12 months;</a:t>
            </a:r>
          </a:p>
          <a:p>
            <a:endParaRPr lang="en-US" dirty="0"/>
          </a:p>
        </p:txBody>
      </p:sp>
      <p:sp>
        <p:nvSpPr>
          <p:cNvPr id="4" name="Slide Number Placeholder 3"/>
          <p:cNvSpPr>
            <a:spLocks noGrp="1"/>
          </p:cNvSpPr>
          <p:nvPr>
            <p:ph type="sldNum" sz="quarter" idx="10"/>
          </p:nvPr>
        </p:nvSpPr>
        <p:spPr/>
        <p:txBody>
          <a:bodyPr/>
          <a:lstStyle/>
          <a:p>
            <a:pPr>
              <a:defRPr/>
            </a:pPr>
            <a:fld id="{40377044-A14F-4E0F-9B23-FDDF9DBB09C1}" type="slidenum">
              <a:rPr lang="en-US" smtClean="0"/>
              <a:pPr>
                <a:defRPr/>
              </a:pPr>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Young head of household (under 25 with children or pregnant);</a:t>
            </a:r>
          </a:p>
          <a:p>
            <a:r>
              <a:rPr lang="en-US" sz="1200" dirty="0" smtClean="0"/>
              <a:t>Current or past involvement with child welfare, including foster care;</a:t>
            </a:r>
          </a:p>
          <a:p>
            <a:r>
              <a:rPr lang="en-US" sz="1200" dirty="0" smtClean="0"/>
              <a:t>Pending foreclosure of rental housing;</a:t>
            </a:r>
          </a:p>
          <a:p>
            <a:r>
              <a:rPr lang="en-US" sz="1200" dirty="0" smtClean="0"/>
              <a:t>Extremely low income (less than 30 percent of area median income);</a:t>
            </a:r>
          </a:p>
          <a:p>
            <a:r>
              <a:rPr lang="en-US" sz="1200" dirty="0" smtClean="0"/>
              <a:t>High overcrowding (the number of persons in household exceeds health and/or safety standards for the housing unit size);</a:t>
            </a:r>
          </a:p>
          <a:p>
            <a:r>
              <a:rPr lang="en-US" sz="1200" dirty="0" smtClean="0"/>
              <a:t>Past institutional care (prison, treatment facility, hospital);</a:t>
            </a:r>
          </a:p>
          <a:p>
            <a:r>
              <a:rPr lang="en-US" sz="1200" dirty="0" smtClean="0"/>
              <a:t>Recent traumatic life event, such as death of a spouse or primary care provider, or recent health crisis that prevented the household from meeting its financial responsibilities;</a:t>
            </a:r>
          </a:p>
          <a:p>
            <a:r>
              <a:rPr lang="en-US" sz="1200" dirty="0" smtClean="0"/>
              <a:t>Credit problems that preclude obtaining of housing; or</a:t>
            </a:r>
          </a:p>
          <a:p>
            <a:r>
              <a:rPr lang="en-US" sz="1200" dirty="0" smtClean="0"/>
              <a:t>Significant amount of medical debt.</a:t>
            </a:r>
          </a:p>
          <a:p>
            <a:endParaRPr lang="en-US" dirty="0"/>
          </a:p>
        </p:txBody>
      </p:sp>
      <p:sp>
        <p:nvSpPr>
          <p:cNvPr id="4" name="Slide Number Placeholder 3"/>
          <p:cNvSpPr>
            <a:spLocks noGrp="1"/>
          </p:cNvSpPr>
          <p:nvPr>
            <p:ph type="sldNum" sz="quarter" idx="10"/>
          </p:nvPr>
        </p:nvSpPr>
        <p:spPr/>
        <p:txBody>
          <a:bodyPr/>
          <a:lstStyle/>
          <a:p>
            <a:pPr>
              <a:defRPr/>
            </a:pPr>
            <a:fld id="{40377044-A14F-4E0F-9B23-FDDF9DBB09C1}" type="slidenum">
              <a:rPr lang="en-US" smtClean="0"/>
              <a:pPr>
                <a:defRPr/>
              </a:pPr>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185863" y="700088"/>
            <a:ext cx="4651375" cy="3489325"/>
          </a:xfrm>
          <a:ln/>
        </p:spPr>
      </p:sp>
      <p:sp>
        <p:nvSpPr>
          <p:cNvPr id="25603" name="Rectangle 3"/>
          <p:cNvSpPr>
            <a:spLocks noGrp="1" noChangeArrowheads="1"/>
          </p:cNvSpPr>
          <p:nvPr>
            <p:ph type="body" idx="1"/>
          </p:nvPr>
        </p:nvSpPr>
        <p:spPr>
          <a:xfrm>
            <a:off x="701675" y="4419600"/>
            <a:ext cx="5616575" cy="4186238"/>
          </a:xfrm>
          <a:noFill/>
          <a:ln/>
        </p:spPr>
        <p:txBody>
          <a:bodyPr/>
          <a:lstStyle/>
          <a:p>
            <a:pPr eaLnBrk="1" hangingPunct="1">
              <a:lnSpc>
                <a:spcPct val="80000"/>
              </a:lnSpc>
            </a:pPr>
            <a:r>
              <a:rPr lang="en-US" sz="1000" b="1" smtClean="0"/>
              <a:t>         </a:t>
            </a:r>
            <a:r>
              <a:rPr lang="en-US" sz="1000" smtClean="0"/>
              <a:t>                                                                                                                                                                                                                                                                                                                                                                                                                                                                                                                                                                                                                                                                                                                                                                                                          </a:t>
            </a:r>
            <a:r>
              <a:rPr lang="en-US" sz="1000" b="1" smtClean="0"/>
              <a:t>     </a:t>
            </a:r>
            <a:r>
              <a:rPr lang="en-US" sz="1000" smtClean="0"/>
              <a:t>                                                                                                                                                                                                                                                                                                                                                                                                                                                                                                                                                                                                                  </a:t>
            </a:r>
            <a:r>
              <a:rPr lang="en-US" sz="1000" b="1" smtClean="0"/>
              <a:t>HUD VASH</a:t>
            </a:r>
          </a:p>
          <a:p>
            <a:pPr eaLnBrk="1" hangingPunct="1">
              <a:lnSpc>
                <a:spcPct val="80000"/>
              </a:lnSpc>
            </a:pPr>
            <a:r>
              <a:rPr lang="en-US" sz="1000" smtClean="0"/>
              <a:t>Replicate, partner with and learn from successful local scattered site supportive housing programs</a:t>
            </a:r>
          </a:p>
          <a:p>
            <a:pPr lvl="1" eaLnBrk="1" hangingPunct="1">
              <a:lnSpc>
                <a:spcPct val="80000"/>
              </a:lnSpc>
            </a:pPr>
            <a:r>
              <a:rPr lang="en-US" sz="1000" smtClean="0"/>
              <a:t>Shelter + Care</a:t>
            </a:r>
          </a:p>
          <a:p>
            <a:pPr lvl="1" eaLnBrk="1" hangingPunct="1">
              <a:lnSpc>
                <a:spcPct val="80000"/>
              </a:lnSpc>
            </a:pPr>
            <a:r>
              <a:rPr lang="en-US" sz="1000" smtClean="0"/>
              <a:t>Community Mental Health</a:t>
            </a:r>
          </a:p>
          <a:p>
            <a:pPr lvl="1" eaLnBrk="1" hangingPunct="1">
              <a:lnSpc>
                <a:spcPct val="80000"/>
              </a:lnSpc>
            </a:pPr>
            <a:r>
              <a:rPr lang="en-US" sz="1000" smtClean="0"/>
              <a:t>Replicate what has worked with experienced PSH for homeless Veterans across the country </a:t>
            </a:r>
          </a:p>
          <a:p>
            <a:pPr eaLnBrk="1" hangingPunct="1">
              <a:lnSpc>
                <a:spcPct val="80000"/>
              </a:lnSpc>
            </a:pPr>
            <a:r>
              <a:rPr lang="en-US" sz="1000" smtClean="0"/>
              <a:t>Use VASH vouchers to set aside units in new &amp; existing supportive housing projects </a:t>
            </a:r>
          </a:p>
          <a:p>
            <a:pPr lvl="1" eaLnBrk="1" hangingPunct="1">
              <a:lnSpc>
                <a:spcPct val="80000"/>
              </a:lnSpc>
            </a:pPr>
            <a:r>
              <a:rPr lang="en-US" sz="1000" smtClean="0"/>
              <a:t>Projects in development may need operating subsidies for units to serve homeless Veterans</a:t>
            </a:r>
          </a:p>
          <a:p>
            <a:pPr lvl="1" eaLnBrk="1" hangingPunct="1">
              <a:lnSpc>
                <a:spcPct val="80000"/>
              </a:lnSpc>
            </a:pPr>
            <a:r>
              <a:rPr lang="en-US" sz="1000" smtClean="0"/>
              <a:t>Local funding partnerships integrate capital, operating and services resources to produce supportive housing</a:t>
            </a:r>
          </a:p>
          <a:p>
            <a:pPr eaLnBrk="1" hangingPunct="1">
              <a:lnSpc>
                <a:spcPct val="80000"/>
              </a:lnSpc>
            </a:pPr>
            <a:r>
              <a:rPr lang="en-US" sz="1000" smtClean="0"/>
              <a:t>Partner with affordable housing providers who offer resident services to build healthy communities</a:t>
            </a:r>
          </a:p>
          <a:p>
            <a:pPr lvl="1" eaLnBrk="1" hangingPunct="1">
              <a:lnSpc>
                <a:spcPct val="80000"/>
              </a:lnSpc>
            </a:pPr>
            <a:r>
              <a:rPr lang="en-US" sz="1000" smtClean="0"/>
              <a:t>Integrated housing opportunities for families and people with disabilities</a:t>
            </a:r>
          </a:p>
          <a:p>
            <a:pPr eaLnBrk="1" hangingPunct="1">
              <a:lnSpc>
                <a:spcPct val="80000"/>
              </a:lnSpc>
            </a:pPr>
            <a:r>
              <a:rPr lang="en-US" sz="1000" smtClean="0"/>
              <a:t>Deliver effective supportive housing opportunities for homeless Veterans – invest in quality!</a:t>
            </a:r>
          </a:p>
          <a:p>
            <a:pPr eaLnBrk="1" hangingPunct="1">
              <a:lnSpc>
                <a:spcPct val="80000"/>
              </a:lnSpc>
            </a:pPr>
            <a:endParaRPr lang="en-US" sz="1000" b="1" smtClean="0"/>
          </a:p>
          <a:p>
            <a:pPr eaLnBrk="1" hangingPunct="1">
              <a:lnSpc>
                <a:spcPct val="80000"/>
              </a:lnSpc>
            </a:pPr>
            <a:r>
              <a:rPr lang="en-US" sz="1000" b="1" smtClean="0"/>
              <a:t>CTI</a:t>
            </a:r>
          </a:p>
          <a:p>
            <a:pPr eaLnBrk="1" hangingPunct="1">
              <a:lnSpc>
                <a:spcPct val="80000"/>
              </a:lnSpc>
            </a:pPr>
            <a:r>
              <a:rPr lang="en-US" sz="1000" smtClean="0"/>
              <a:t>- This is a time limited case management model to ensure housing stability through transitional services tiered to be reduced over time as individuals exit from institutional systems of care.</a:t>
            </a:r>
          </a:p>
          <a:p>
            <a:pPr eaLnBrk="1" hangingPunct="1">
              <a:lnSpc>
                <a:spcPct val="80000"/>
              </a:lnSpc>
            </a:pPr>
            <a:r>
              <a:rPr lang="en-US" sz="1000" smtClean="0"/>
              <a:t>- The premise is to strengthen an individual’s long-term ties to services, family, friends and other support networks to assist in reducing the possibility of an individual or family cycling out in to homelessness.</a:t>
            </a:r>
          </a:p>
          <a:p>
            <a:pPr eaLnBrk="1" hangingPunct="1">
              <a:lnSpc>
                <a:spcPct val="80000"/>
              </a:lnSpc>
            </a:pPr>
            <a:r>
              <a:rPr lang="en-US" sz="1000" smtClean="0"/>
              <a:t>-CTI ideally lasts no more than 9 months and is broken down in to 3 phases that each last approximately 3 months.</a:t>
            </a:r>
          </a:p>
          <a:p>
            <a:pPr eaLnBrk="1" hangingPunct="1">
              <a:lnSpc>
                <a:spcPct val="80000"/>
              </a:lnSpc>
            </a:pPr>
            <a:r>
              <a:rPr lang="en-US" sz="1000" smtClean="0"/>
              <a:t>- Consists of 3 phases</a:t>
            </a:r>
          </a:p>
          <a:p>
            <a:pPr lvl="1" eaLnBrk="1" hangingPunct="1">
              <a:lnSpc>
                <a:spcPct val="80000"/>
              </a:lnSpc>
            </a:pPr>
            <a:r>
              <a:rPr lang="en-US" sz="1000" smtClean="0"/>
              <a:t>Transition to Community</a:t>
            </a:r>
          </a:p>
          <a:p>
            <a:pPr lvl="1" eaLnBrk="1" hangingPunct="1">
              <a:lnSpc>
                <a:spcPct val="80000"/>
              </a:lnSpc>
            </a:pPr>
            <a:r>
              <a:rPr lang="en-US" sz="1000" smtClean="0"/>
              <a:t>Try-Out</a:t>
            </a:r>
          </a:p>
          <a:p>
            <a:pPr lvl="1" eaLnBrk="1" hangingPunct="1">
              <a:lnSpc>
                <a:spcPct val="80000"/>
              </a:lnSpc>
            </a:pPr>
            <a:r>
              <a:rPr lang="en-US" sz="1000" smtClean="0"/>
              <a:t>Transfer of Care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1184275" y="698500"/>
            <a:ext cx="4651375" cy="3489325"/>
          </a:xfrm>
          <a:ln/>
        </p:spPr>
      </p:sp>
      <p:sp>
        <p:nvSpPr>
          <p:cNvPr id="2662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5F766C20-993F-4D5D-90FC-FAFF1312408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5" name="Rectangle 6"/>
          <p:cNvSpPr>
            <a:spLocks noGrp="1" noChangeArrowheads="1"/>
          </p:cNvSpPr>
          <p:nvPr>
            <p:ph type="sldNum" sz="quarter" idx="11"/>
          </p:nvPr>
        </p:nvSpPr>
        <p:spPr>
          <a:ln/>
        </p:spPr>
        <p:txBody>
          <a:bodyPr/>
          <a:lstStyle>
            <a:lvl1pPr>
              <a:defRPr/>
            </a:lvl1pPr>
          </a:lstStyle>
          <a:p>
            <a:pPr>
              <a:defRPr/>
            </a:pPr>
            <a:fld id="{43A38DE6-2BD5-4EED-9F4E-7915FEC3C59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5" name="Rectangle 6"/>
          <p:cNvSpPr>
            <a:spLocks noGrp="1" noChangeArrowheads="1"/>
          </p:cNvSpPr>
          <p:nvPr>
            <p:ph type="sldNum" sz="quarter" idx="11"/>
          </p:nvPr>
        </p:nvSpPr>
        <p:spPr>
          <a:ln/>
        </p:spPr>
        <p:txBody>
          <a:bodyPr/>
          <a:lstStyle>
            <a:lvl1pPr>
              <a:defRPr/>
            </a:lvl1pPr>
          </a:lstStyle>
          <a:p>
            <a:pPr>
              <a:defRPr/>
            </a:pPr>
            <a:fld id="{DC95B8F5-479C-4578-A676-C74D95062FB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7033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033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6" name="Rectangle 6"/>
          <p:cNvSpPr>
            <a:spLocks noGrp="1" noChangeArrowheads="1"/>
          </p:cNvSpPr>
          <p:nvPr>
            <p:ph type="sldNum" sz="quarter" idx="11"/>
          </p:nvPr>
        </p:nvSpPr>
        <p:spPr>
          <a:ln/>
        </p:spPr>
        <p:txBody>
          <a:bodyPr/>
          <a:lstStyle>
            <a:lvl1pPr>
              <a:defRPr/>
            </a:lvl1pPr>
          </a:lstStyle>
          <a:p>
            <a:pPr>
              <a:defRPr/>
            </a:pPr>
            <a:fld id="{DE64D413-3914-4A83-9223-34D03561847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8" name="Rectangle 6"/>
          <p:cNvSpPr>
            <a:spLocks noGrp="1" noChangeArrowheads="1"/>
          </p:cNvSpPr>
          <p:nvPr>
            <p:ph type="sldNum" sz="quarter" idx="11"/>
          </p:nvPr>
        </p:nvSpPr>
        <p:spPr>
          <a:ln/>
        </p:spPr>
        <p:txBody>
          <a:bodyPr/>
          <a:lstStyle>
            <a:lvl1pPr>
              <a:defRPr/>
            </a:lvl1pPr>
          </a:lstStyle>
          <a:p>
            <a:pPr>
              <a:defRPr/>
            </a:pPr>
            <a:fld id="{96AF5185-A4E5-4DC9-848B-16B266A4DC4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4" name="Rectangle 6"/>
          <p:cNvSpPr>
            <a:spLocks noGrp="1" noChangeArrowheads="1"/>
          </p:cNvSpPr>
          <p:nvPr>
            <p:ph type="sldNum" sz="quarter" idx="11"/>
          </p:nvPr>
        </p:nvSpPr>
        <p:spPr>
          <a:ln/>
        </p:spPr>
        <p:txBody>
          <a:bodyPr/>
          <a:lstStyle>
            <a:lvl1pPr>
              <a:defRPr/>
            </a:lvl1pPr>
          </a:lstStyle>
          <a:p>
            <a:pPr>
              <a:defRPr/>
            </a:pPr>
            <a:fld id="{DEBB9656-1C4E-43CD-B4B5-BC592BDAEFE0}"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3" name="Rectangle 6"/>
          <p:cNvSpPr>
            <a:spLocks noGrp="1" noChangeArrowheads="1"/>
          </p:cNvSpPr>
          <p:nvPr>
            <p:ph type="sldNum" sz="quarter" idx="11"/>
          </p:nvPr>
        </p:nvSpPr>
        <p:spPr>
          <a:ln/>
        </p:spPr>
        <p:txBody>
          <a:bodyPr/>
          <a:lstStyle>
            <a:lvl1pPr>
              <a:defRPr/>
            </a:lvl1pPr>
          </a:lstStyle>
          <a:p>
            <a:pPr>
              <a:defRPr/>
            </a:pPr>
            <a:fld id="{C9249FAB-A2B6-4044-8D92-E622078B66A6}"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6" name="Rectangle 6"/>
          <p:cNvSpPr>
            <a:spLocks noGrp="1" noChangeArrowheads="1"/>
          </p:cNvSpPr>
          <p:nvPr>
            <p:ph type="sldNum" sz="quarter" idx="11"/>
          </p:nvPr>
        </p:nvSpPr>
        <p:spPr>
          <a:ln/>
        </p:spPr>
        <p:txBody>
          <a:bodyPr/>
          <a:lstStyle>
            <a:lvl1pPr>
              <a:defRPr/>
            </a:lvl1pPr>
          </a:lstStyle>
          <a:p>
            <a:pPr>
              <a:defRPr/>
            </a:pPr>
            <a:fld id="{7AEB46AC-E854-41CC-A26F-74099DAB07F7}"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6" name="Rectangle 6"/>
          <p:cNvSpPr>
            <a:spLocks noGrp="1" noChangeArrowheads="1"/>
          </p:cNvSpPr>
          <p:nvPr>
            <p:ph type="sldNum" sz="quarter" idx="11"/>
          </p:nvPr>
        </p:nvSpPr>
        <p:spPr>
          <a:ln/>
        </p:spPr>
        <p:txBody>
          <a:bodyPr/>
          <a:lstStyle>
            <a:lvl1pPr>
              <a:defRPr/>
            </a:lvl1pPr>
          </a:lstStyle>
          <a:p>
            <a:pPr>
              <a:defRPr/>
            </a:pPr>
            <a:fld id="{3C464328-AF1F-4890-9CE7-622881D063C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5" name="Rectangle 6"/>
          <p:cNvSpPr>
            <a:spLocks noGrp="1" noChangeArrowheads="1"/>
          </p:cNvSpPr>
          <p:nvPr>
            <p:ph type="sldNum" sz="quarter" idx="11"/>
          </p:nvPr>
        </p:nvSpPr>
        <p:spPr>
          <a:ln/>
        </p:spPr>
        <p:txBody>
          <a:bodyPr/>
          <a:lstStyle>
            <a:lvl1pPr>
              <a:defRPr/>
            </a:lvl1pPr>
          </a:lstStyle>
          <a:p>
            <a:pPr>
              <a:defRPr/>
            </a:pPr>
            <a:fld id="{64BFB6A2-7159-4F0A-8480-6047BC2A8FE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966788"/>
            <a:ext cx="1943100" cy="4851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966788"/>
            <a:ext cx="5676900" cy="4851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5" name="Rectangle 6"/>
          <p:cNvSpPr>
            <a:spLocks noGrp="1" noChangeArrowheads="1"/>
          </p:cNvSpPr>
          <p:nvPr>
            <p:ph type="sldNum" sz="quarter" idx="11"/>
          </p:nvPr>
        </p:nvSpPr>
        <p:spPr>
          <a:ln/>
        </p:spPr>
        <p:txBody>
          <a:bodyPr/>
          <a:lstStyle>
            <a:lvl1pPr>
              <a:defRPr/>
            </a:lvl1pPr>
          </a:lstStyle>
          <a:p>
            <a:pPr>
              <a:defRPr/>
            </a:pPr>
            <a:fld id="{60750E20-4DC0-4A82-9D5D-789C95CCF13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966788"/>
            <a:ext cx="7772400" cy="485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4" name="Rectangle 6"/>
          <p:cNvSpPr>
            <a:spLocks noGrp="1" noChangeArrowheads="1"/>
          </p:cNvSpPr>
          <p:nvPr>
            <p:ph type="sldNum" sz="quarter" idx="11"/>
          </p:nvPr>
        </p:nvSpPr>
        <p:spPr>
          <a:ln/>
        </p:spPr>
        <p:txBody>
          <a:bodyPr/>
          <a:lstStyle>
            <a:lvl1pPr>
              <a:defRPr/>
            </a:lvl1pPr>
          </a:lstStyle>
          <a:p>
            <a:pPr>
              <a:defRPr/>
            </a:pPr>
            <a:fld id="{C70B6165-C3C9-4E7A-BC64-D9E809DEB646}"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966788"/>
            <a:ext cx="7772400"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703388"/>
            <a:ext cx="7772400" cy="4114800"/>
          </a:xfrm>
        </p:spPr>
        <p:txBody>
          <a:bodyPr/>
          <a:lstStyle/>
          <a:p>
            <a:pPr lvl="0"/>
            <a:endParaRPr lang="en-US" noProof="0" smtClean="0"/>
          </a:p>
        </p:txBody>
      </p:sp>
      <p:sp>
        <p:nvSpPr>
          <p:cNvPr id="4" name="Rectangle 5"/>
          <p:cNvSpPr>
            <a:spLocks noGrp="1" noChangeArrowheads="1"/>
          </p:cNvSpPr>
          <p:nvPr>
            <p:ph type="ftr" sz="quarter" idx="10"/>
          </p:nvPr>
        </p:nvSpPr>
        <p:spPr>
          <a:ln/>
        </p:spPr>
        <p:txBody>
          <a:bodyPr/>
          <a:lstStyle>
            <a:lvl1pPr>
              <a:defRPr/>
            </a:lvl1pPr>
          </a:lstStyle>
          <a:p>
            <a:pPr>
              <a:defRPr/>
            </a:pPr>
            <a:r>
              <a:rPr lang="en-US"/>
              <a:t>DRAFT</a:t>
            </a:r>
          </a:p>
        </p:txBody>
      </p:sp>
      <p:sp>
        <p:nvSpPr>
          <p:cNvPr id="5" name="Rectangle 6"/>
          <p:cNvSpPr>
            <a:spLocks noGrp="1" noChangeArrowheads="1"/>
          </p:cNvSpPr>
          <p:nvPr>
            <p:ph type="sldNum" sz="quarter" idx="11"/>
          </p:nvPr>
        </p:nvSpPr>
        <p:spPr>
          <a:ln/>
        </p:spPr>
        <p:txBody>
          <a:bodyPr/>
          <a:lstStyle>
            <a:lvl1pPr>
              <a:defRPr/>
            </a:lvl1pPr>
          </a:lstStyle>
          <a:p>
            <a:pPr>
              <a:defRPr/>
            </a:pPr>
            <a:fld id="{B26B7930-82C2-4BCB-8397-7724040BCD9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966788"/>
            <a:ext cx="7772400" cy="838200"/>
          </a:xfrm>
          <a:prstGeom prst="rect">
            <a:avLst/>
          </a:prstGeom>
          <a:noFill/>
          <a:ln w="9525">
            <a:noFill/>
            <a:miter lim="800000"/>
            <a:headEnd/>
            <a:tailEnd/>
          </a:ln>
          <a:effectLst/>
        </p:spPr>
        <p:txBody>
          <a:bodyPr vert="horz" wrap="square" lIns="91427" tIns="45713" rIns="91427" bIns="45713" numCol="1" anchor="ctr" anchorCtr="0" compatLnSpc="1">
            <a:prstTxWarp prst="textNoShape">
              <a:avLst/>
            </a:prstTxWarp>
          </a:bodyPr>
          <a:lstStyle/>
          <a:p>
            <a:pPr lvl="0"/>
            <a:r>
              <a:rPr lang="en-US" smtClean="0"/>
              <a:t>Energy Conservation Program</a:t>
            </a:r>
          </a:p>
        </p:txBody>
      </p:sp>
      <p:sp>
        <p:nvSpPr>
          <p:cNvPr id="1027" name="Rectangle 3"/>
          <p:cNvSpPr>
            <a:spLocks noGrp="1" noChangeArrowheads="1"/>
          </p:cNvSpPr>
          <p:nvPr>
            <p:ph type="body" idx="1"/>
          </p:nvPr>
        </p:nvSpPr>
        <p:spPr bwMode="auto">
          <a:xfrm>
            <a:off x="685800" y="1703388"/>
            <a:ext cx="7772400" cy="4114800"/>
          </a:xfrm>
          <a:prstGeom prst="rect">
            <a:avLst/>
          </a:prstGeom>
          <a:noFill/>
          <a:ln w="9525">
            <a:noFill/>
            <a:miter lim="800000"/>
            <a:headEnd/>
            <a:tailEnd/>
          </a:ln>
        </p:spPr>
        <p:txBody>
          <a:bodyPr vert="horz" wrap="square" lIns="91427" tIns="45713" rIns="91427" bIns="45713" numCol="1" anchor="t" anchorCtr="0" compatLnSpc="1">
            <a:prstTxWarp prst="textNoShape">
              <a:avLst/>
            </a:prstTxWarp>
          </a:bodyPr>
          <a:lstStyle/>
          <a:p>
            <a:pPr lvl="0"/>
            <a:r>
              <a:rPr lang="en-US" smtClean="0"/>
              <a:t>FIRST LEVEL</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Rectangle 5"/>
          <p:cNvSpPr>
            <a:spLocks noGrp="1" noChangeArrowheads="1"/>
          </p:cNvSpPr>
          <p:nvPr>
            <p:ph type="ftr" sz="quarter" idx="3"/>
          </p:nvPr>
        </p:nvSpPr>
        <p:spPr bwMode="auto">
          <a:xfrm>
            <a:off x="0" y="6553200"/>
            <a:ext cx="2895600" cy="457200"/>
          </a:xfrm>
          <a:prstGeom prst="rect">
            <a:avLst/>
          </a:prstGeom>
          <a:noFill/>
          <a:ln w="9525" algn="ctr">
            <a:noFill/>
            <a:miter lim="800000"/>
            <a:headEnd/>
            <a:tailEnd/>
          </a:ln>
          <a:effectLst/>
        </p:spPr>
        <p:txBody>
          <a:bodyPr vert="horz" wrap="square" lIns="91427" tIns="45713" rIns="91427" bIns="45713" numCol="1" anchor="t" anchorCtr="0" compatLnSpc="1">
            <a:prstTxWarp prst="textNoShape">
              <a:avLst/>
            </a:prstTxWarp>
          </a:bodyPr>
          <a:lstStyle>
            <a:lvl1pPr>
              <a:defRPr sz="1400" b="0">
                <a:latin typeface="Arial" charset="0"/>
              </a:defRPr>
            </a:lvl1pPr>
          </a:lstStyle>
          <a:p>
            <a:pPr>
              <a:defRPr/>
            </a:pPr>
            <a:r>
              <a:rPr lang="en-US"/>
              <a:t>DRAFT</a:t>
            </a:r>
          </a:p>
        </p:txBody>
      </p:sp>
      <p:sp>
        <p:nvSpPr>
          <p:cNvPr id="1030" name="Rectangle 6"/>
          <p:cNvSpPr>
            <a:spLocks noGrp="1" noChangeArrowheads="1"/>
          </p:cNvSpPr>
          <p:nvPr>
            <p:ph type="sldNum" sz="quarter" idx="4"/>
          </p:nvPr>
        </p:nvSpPr>
        <p:spPr bwMode="auto">
          <a:xfrm>
            <a:off x="7239000" y="6534150"/>
            <a:ext cx="1905000" cy="45720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r">
              <a:defRPr sz="1400" b="0">
                <a:latin typeface="Arial" charset="0"/>
              </a:defRPr>
            </a:lvl1pPr>
          </a:lstStyle>
          <a:p>
            <a:pPr>
              <a:defRPr/>
            </a:pPr>
            <a:fld id="{B698B59A-3614-4CB7-A93B-C96FD753EB1F}" type="slidenum">
              <a:rPr lang="en-US"/>
              <a:pPr>
                <a:defRPr/>
              </a:pPr>
              <a:t>‹#›</a:t>
            </a:fld>
            <a:endParaRPr lang="en-US"/>
          </a:p>
        </p:txBody>
      </p:sp>
      <p:sp>
        <p:nvSpPr>
          <p:cNvPr id="1032" name="Rectangle 8"/>
          <p:cNvSpPr>
            <a:spLocks noChangeArrowheads="1"/>
          </p:cNvSpPr>
          <p:nvPr userDrawn="1"/>
        </p:nvSpPr>
        <p:spPr bwMode="auto">
          <a:xfrm>
            <a:off x="0" y="0"/>
            <a:ext cx="9144000" cy="990600"/>
          </a:xfrm>
          <a:prstGeom prst="rect">
            <a:avLst/>
          </a:prstGeom>
          <a:gradFill rotWithShape="0">
            <a:gsLst>
              <a:gs pos="0">
                <a:srgbClr val="0000FF">
                  <a:gamma/>
                  <a:shade val="46275"/>
                  <a:invGamma/>
                </a:srgbClr>
              </a:gs>
              <a:gs pos="100000">
                <a:srgbClr val="0000FF"/>
              </a:gs>
            </a:gsLst>
            <a:lin ang="18900000" scaled="1"/>
          </a:gradFill>
          <a:ln w="9525">
            <a:solidFill>
              <a:schemeClr val="tx1"/>
            </a:solidFill>
            <a:miter lim="800000"/>
            <a:headEnd/>
            <a:tailEnd/>
          </a:ln>
          <a:effectLst/>
        </p:spPr>
        <p:txBody>
          <a:bodyPr wrap="none" lIns="91427" tIns="45713" rIns="91427" bIns="45713" anchor="ctr"/>
          <a:lstStyle/>
          <a:p>
            <a:pPr algn="ctr">
              <a:defRPr/>
            </a:pPr>
            <a:r>
              <a:rPr lang="en-US" b="0"/>
              <a:t> </a:t>
            </a:r>
          </a:p>
        </p:txBody>
      </p:sp>
      <p:pic>
        <p:nvPicPr>
          <p:cNvPr id="1031" name="Picture 11" descr="Official_VA_Seal_embossed_web_1-25in"/>
          <p:cNvPicPr>
            <a:picLocks noChangeAspect="1" noChangeArrowheads="1"/>
          </p:cNvPicPr>
          <p:nvPr userDrawn="1"/>
        </p:nvPicPr>
        <p:blipFill>
          <a:blip r:embed="rId15" cstate="print"/>
          <a:srcRect/>
          <a:stretch>
            <a:fillRect/>
          </a:stretch>
        </p:blipFill>
        <p:spPr bwMode="auto">
          <a:xfrm>
            <a:off x="152400" y="228600"/>
            <a:ext cx="609600" cy="609600"/>
          </a:xfrm>
          <a:prstGeom prst="rect">
            <a:avLst/>
          </a:prstGeom>
          <a:noFill/>
          <a:ln w="9525">
            <a:noFill/>
            <a:miter lim="800000"/>
            <a:headEnd/>
            <a:tailEnd/>
          </a:ln>
        </p:spPr>
      </p:pic>
      <p:sp>
        <p:nvSpPr>
          <p:cNvPr id="1036" name="Text Box 12"/>
          <p:cNvSpPr txBox="1">
            <a:spLocks noChangeArrowheads="1"/>
          </p:cNvSpPr>
          <p:nvPr userDrawn="1"/>
        </p:nvSpPr>
        <p:spPr bwMode="auto">
          <a:xfrm>
            <a:off x="838200" y="304800"/>
            <a:ext cx="3657600" cy="549275"/>
          </a:xfrm>
          <a:prstGeom prst="rect">
            <a:avLst/>
          </a:prstGeom>
          <a:noFill/>
          <a:ln w="9525">
            <a:noFill/>
            <a:miter lim="800000"/>
            <a:headEnd/>
            <a:tailEnd/>
          </a:ln>
          <a:effectLst/>
        </p:spPr>
        <p:txBody>
          <a:bodyPr lIns="91427" tIns="45713" rIns="91427" bIns="45713">
            <a:spAutoFit/>
          </a:bodyPr>
          <a:lstStyle/>
          <a:p>
            <a:pPr>
              <a:spcBef>
                <a:spcPct val="50000"/>
              </a:spcBef>
              <a:defRPr/>
            </a:pPr>
            <a:r>
              <a:rPr lang="en-US" sz="1200">
                <a:solidFill>
                  <a:srgbClr val="6699FF"/>
                </a:solidFill>
                <a:latin typeface="AvantGarde" pitchFamily="34" charset="0"/>
              </a:rPr>
              <a:t>U.S. Department of Veterans Affairs</a:t>
            </a:r>
          </a:p>
          <a:p>
            <a:pPr>
              <a:spcBef>
                <a:spcPct val="50000"/>
              </a:spcBef>
              <a:defRPr/>
            </a:pPr>
            <a:r>
              <a:rPr lang="en-US" sz="1200" b="0">
                <a:solidFill>
                  <a:schemeClr val="bg1"/>
                </a:solidFill>
                <a:latin typeface="AvantGarde" pitchFamily="34" charset="0"/>
              </a:rPr>
              <a:t>Veterans Health Administration</a:t>
            </a:r>
          </a:p>
        </p:txBody>
      </p:sp>
      <p:sp>
        <p:nvSpPr>
          <p:cNvPr id="1039" name="Rectangle 15"/>
          <p:cNvSpPr>
            <a:spLocks noChangeArrowheads="1"/>
          </p:cNvSpPr>
          <p:nvPr/>
        </p:nvSpPr>
        <p:spPr bwMode="auto">
          <a:xfrm>
            <a:off x="3657600" y="152400"/>
            <a:ext cx="5486400" cy="838200"/>
          </a:xfrm>
          <a:prstGeom prst="rect">
            <a:avLst/>
          </a:prstGeom>
          <a:noFill/>
          <a:ln w="9525">
            <a:noFill/>
            <a:miter lim="800000"/>
            <a:headEnd/>
            <a:tailEnd/>
          </a:ln>
          <a:effectLst/>
        </p:spPr>
        <p:txBody>
          <a:bodyPr lIns="91427" tIns="45713" rIns="91427" bIns="45713" anchor="ctr"/>
          <a:lstStyle/>
          <a:p>
            <a:pPr>
              <a:defRPr/>
            </a:pPr>
            <a:endParaRPr lang="en-US" sz="3400" b="0" i="1">
              <a:solidFill>
                <a:schemeClr val="tx2"/>
              </a:solidFill>
              <a:effectLst>
                <a:outerShdw blurRad="38100" dist="38100" dir="2700000" algn="tl">
                  <a:srgbClr val="C0C0C0"/>
                </a:outerShdw>
              </a:effectLst>
              <a:latin typeface="AvantGarde"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2pPr>
      <a:lvl3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3pPr>
      <a:lvl4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4pPr>
      <a:lvl5pPr algn="l" rtl="0" eaLnBrk="0" fontAlgn="base" hangingPunct="0">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5pPr>
      <a:lvl6pPr marL="4572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6pPr>
      <a:lvl7pPr marL="9144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7pPr>
      <a:lvl8pPr marL="13716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8pPr>
      <a:lvl9pPr marL="1828800" algn="l" rtl="0" fontAlgn="base">
        <a:spcBef>
          <a:spcPct val="0"/>
        </a:spcBef>
        <a:spcAft>
          <a:spcPct val="0"/>
        </a:spcAft>
        <a:defRPr sz="3400" i="1">
          <a:solidFill>
            <a:schemeClr val="tx2"/>
          </a:solidFill>
          <a:effectLst>
            <a:outerShdw blurRad="38100" dist="38100" dir="2700000" algn="tl">
              <a:srgbClr val="C0C0C0"/>
            </a:outerShdw>
          </a:effectLst>
          <a:latin typeface="AvantGarde" pitchFamily="34" charset="0"/>
        </a:defRPr>
      </a:lvl9pPr>
    </p:titleStyle>
    <p:bodyStyle>
      <a:lvl1pPr marL="342900" indent="-342900" algn="l" rtl="0" eaLnBrk="0" fontAlgn="base" hangingPunct="0">
        <a:spcBef>
          <a:spcPct val="20000"/>
        </a:spcBef>
        <a:spcAft>
          <a:spcPct val="0"/>
        </a:spcAft>
        <a:buClr>
          <a:srgbClr val="0000FF"/>
        </a:buClr>
        <a:buChar char="•"/>
        <a:defRPr sz="2800" b="1">
          <a:solidFill>
            <a:srgbClr val="0000FF"/>
          </a:solidFill>
          <a:latin typeface="+mn-lt"/>
          <a:ea typeface="+mn-ea"/>
          <a:cs typeface="+mn-cs"/>
        </a:defRPr>
      </a:lvl1pPr>
      <a:lvl2pPr marL="742950" indent="-285750" algn="l" rtl="0" eaLnBrk="0" fontAlgn="base" hangingPunct="0">
        <a:spcBef>
          <a:spcPct val="20000"/>
        </a:spcBef>
        <a:spcAft>
          <a:spcPct val="0"/>
        </a:spcAft>
        <a:buClr>
          <a:srgbClr val="0000FF"/>
        </a:buClr>
        <a:buChar char="–"/>
        <a:defRPr sz="2400">
          <a:solidFill>
            <a:schemeClr val="tx1"/>
          </a:solidFill>
          <a:latin typeface="+mn-lt"/>
        </a:defRPr>
      </a:lvl2pPr>
      <a:lvl3pPr marL="1143000" indent="-228600" algn="l" rtl="0" eaLnBrk="0" fontAlgn="base" hangingPunct="0">
        <a:spcBef>
          <a:spcPct val="20000"/>
        </a:spcBef>
        <a:spcAft>
          <a:spcPct val="0"/>
        </a:spcAft>
        <a:buClr>
          <a:srgbClr val="0000FF"/>
        </a:buClr>
        <a:buChar char="•"/>
        <a:defRPr sz="2000">
          <a:solidFill>
            <a:schemeClr val="tx1"/>
          </a:solidFill>
          <a:latin typeface="+mn-lt"/>
        </a:defRPr>
      </a:lvl3pPr>
      <a:lvl4pPr marL="1600200" indent="-228600" algn="l" rtl="0" eaLnBrk="0" fontAlgn="base" hangingPunct="0">
        <a:spcBef>
          <a:spcPct val="20000"/>
        </a:spcBef>
        <a:spcAft>
          <a:spcPct val="0"/>
        </a:spcAft>
        <a:buClr>
          <a:srgbClr val="0000FF"/>
        </a:buClr>
        <a:buChar char="–"/>
        <a:defRPr>
          <a:solidFill>
            <a:schemeClr val="tx1"/>
          </a:solidFill>
          <a:latin typeface="+mn-lt"/>
        </a:defRPr>
      </a:lvl4pPr>
      <a:lvl5pPr marL="2057400" indent="-228600" algn="l" rtl="0" eaLnBrk="0" fontAlgn="base" hangingPunct="0">
        <a:spcBef>
          <a:spcPct val="20000"/>
        </a:spcBef>
        <a:spcAft>
          <a:spcPct val="0"/>
        </a:spcAft>
        <a:buClr>
          <a:srgbClr val="0000FF"/>
        </a:buClr>
        <a:buChar char="»"/>
        <a:defRPr sz="1600">
          <a:solidFill>
            <a:schemeClr val="tx1"/>
          </a:solidFill>
          <a:latin typeface="+mn-lt"/>
        </a:defRPr>
      </a:lvl5pPr>
      <a:lvl6pPr marL="2514600" indent="-228600" algn="l" rtl="0" fontAlgn="base">
        <a:spcBef>
          <a:spcPct val="20000"/>
        </a:spcBef>
        <a:spcAft>
          <a:spcPct val="0"/>
        </a:spcAft>
        <a:buClr>
          <a:srgbClr val="0000FF"/>
        </a:buClr>
        <a:buChar char="»"/>
        <a:defRPr sz="1600">
          <a:solidFill>
            <a:schemeClr val="tx1"/>
          </a:solidFill>
          <a:latin typeface="+mn-lt"/>
        </a:defRPr>
      </a:lvl6pPr>
      <a:lvl7pPr marL="2971800" indent="-228600" algn="l" rtl="0" fontAlgn="base">
        <a:spcBef>
          <a:spcPct val="20000"/>
        </a:spcBef>
        <a:spcAft>
          <a:spcPct val="0"/>
        </a:spcAft>
        <a:buClr>
          <a:srgbClr val="0000FF"/>
        </a:buClr>
        <a:buChar char="»"/>
        <a:defRPr sz="1600">
          <a:solidFill>
            <a:schemeClr val="tx1"/>
          </a:solidFill>
          <a:latin typeface="+mn-lt"/>
        </a:defRPr>
      </a:lvl7pPr>
      <a:lvl8pPr marL="3429000" indent="-228600" algn="l" rtl="0" fontAlgn="base">
        <a:spcBef>
          <a:spcPct val="20000"/>
        </a:spcBef>
        <a:spcAft>
          <a:spcPct val="0"/>
        </a:spcAft>
        <a:buClr>
          <a:srgbClr val="0000FF"/>
        </a:buClr>
        <a:buChar char="»"/>
        <a:defRPr sz="1600">
          <a:solidFill>
            <a:schemeClr val="tx1"/>
          </a:solidFill>
          <a:latin typeface="+mn-lt"/>
        </a:defRPr>
      </a:lvl8pPr>
      <a:lvl9pPr marL="3886200" indent="-228600" algn="l" rtl="0" fontAlgn="base">
        <a:spcBef>
          <a:spcPct val="20000"/>
        </a:spcBef>
        <a:spcAft>
          <a:spcPct val="0"/>
        </a:spcAft>
        <a:buClr>
          <a:srgbClr val="0000FF"/>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1.va.gov/HOMELESS/SSVF.as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huduser.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www.va.gov/homeless/SSVF.asp"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mailto:SSVF@va.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6"/>
          <p:cNvSpPr>
            <a:spLocks noGrp="1" noChangeArrowheads="1"/>
          </p:cNvSpPr>
          <p:nvPr>
            <p:ph type="ctrTitle"/>
          </p:nvPr>
        </p:nvSpPr>
        <p:spPr>
          <a:xfrm>
            <a:off x="685800" y="1676400"/>
            <a:ext cx="7772400" cy="2362200"/>
          </a:xfrm>
        </p:spPr>
        <p:txBody>
          <a:bodyPr/>
          <a:lstStyle/>
          <a:p>
            <a:pPr algn="ctr" eaLnBrk="1" hangingPunct="1">
              <a:defRPr/>
            </a:pPr>
            <a:r>
              <a:rPr lang="en-US" sz="3800" smtClean="0"/>
              <a:t/>
            </a:r>
            <a:br>
              <a:rPr lang="en-US" sz="3800" smtClean="0"/>
            </a:br>
            <a:endParaRPr lang="en-US" sz="3800" smtClean="0"/>
          </a:p>
        </p:txBody>
      </p:sp>
      <p:sp>
        <p:nvSpPr>
          <p:cNvPr id="2051" name="Rectangle 1027"/>
          <p:cNvSpPr>
            <a:spLocks noGrp="1" noChangeArrowheads="1"/>
          </p:cNvSpPr>
          <p:nvPr>
            <p:ph type="subTitle" idx="1"/>
          </p:nvPr>
        </p:nvSpPr>
        <p:spPr>
          <a:xfrm>
            <a:off x="381000" y="1600200"/>
            <a:ext cx="8458200" cy="4419600"/>
          </a:xfrm>
        </p:spPr>
        <p:txBody>
          <a:bodyPr/>
          <a:lstStyle/>
          <a:p>
            <a:pPr eaLnBrk="1" hangingPunct="1"/>
            <a:r>
              <a:rPr lang="en-US" sz="3000" smtClean="0">
                <a:solidFill>
                  <a:schemeClr val="tx1"/>
                </a:solidFill>
              </a:rPr>
              <a:t>Supportive Services for Veteran Families (SSVF)</a:t>
            </a:r>
          </a:p>
          <a:p>
            <a:pPr eaLnBrk="1" hangingPunct="1"/>
            <a:endParaRPr lang="en-US" smtClean="0">
              <a:solidFill>
                <a:schemeClr val="tx1"/>
              </a:solidFill>
            </a:endParaRPr>
          </a:p>
          <a:p>
            <a:pPr eaLnBrk="1" hangingPunct="1"/>
            <a:r>
              <a:rPr lang="en-US" sz="2400" b="0" smtClean="0">
                <a:solidFill>
                  <a:schemeClr val="tx1"/>
                </a:solidFill>
              </a:rPr>
              <a:t>SSVF Grants:  What They are (and Aren’t)</a:t>
            </a:r>
          </a:p>
          <a:p>
            <a:pPr eaLnBrk="1" hangingPunct="1"/>
            <a:endParaRPr lang="en-US" sz="2400" b="0" smtClean="0">
              <a:solidFill>
                <a:schemeClr val="tx1"/>
              </a:solidFill>
            </a:endParaRPr>
          </a:p>
          <a:p>
            <a:pPr eaLnBrk="1" hangingPunct="1"/>
            <a:r>
              <a:rPr lang="en-US" sz="2400" b="0" smtClean="0">
                <a:solidFill>
                  <a:schemeClr val="tx1"/>
                </a:solidFill>
              </a:rPr>
              <a:t>Linda Southcott, Supervisor Regional Coordinator</a:t>
            </a:r>
          </a:p>
          <a:p>
            <a:pPr eaLnBrk="1" hangingPunct="1"/>
            <a:r>
              <a:rPr lang="en-US" sz="2400" b="0" smtClean="0">
                <a:solidFill>
                  <a:schemeClr val="tx1"/>
                </a:solidFill>
              </a:rPr>
              <a:t>Jeffrey  Houser, Compliance Officer</a:t>
            </a:r>
          </a:p>
          <a:p>
            <a:pPr eaLnBrk="1" hangingPunct="1"/>
            <a:endParaRPr lang="en-US" sz="2400" b="0" smtClean="0">
              <a:solidFill>
                <a:schemeClr val="tx1"/>
              </a:solidFill>
            </a:endParaRPr>
          </a:p>
        </p:txBody>
      </p:sp>
      <p:sp>
        <p:nvSpPr>
          <p:cNvPr id="2052" name="TextBox 3"/>
          <p:cNvSpPr txBox="1">
            <a:spLocks noChangeArrowheads="1"/>
          </p:cNvSpPr>
          <p:nvPr/>
        </p:nvSpPr>
        <p:spPr bwMode="auto">
          <a:xfrm>
            <a:off x="2286000" y="5562600"/>
            <a:ext cx="5029200" cy="400050"/>
          </a:xfrm>
          <a:prstGeom prst="rect">
            <a:avLst/>
          </a:prstGeom>
          <a:noFill/>
          <a:ln w="9525">
            <a:noFill/>
            <a:miter lim="800000"/>
            <a:headEnd/>
            <a:tailEnd/>
          </a:ln>
        </p:spPr>
        <p:txBody>
          <a:bodyPr>
            <a:spAutoFit/>
          </a:bodyPr>
          <a:lstStyle/>
          <a:p>
            <a:r>
              <a:rPr lang="en-US" sz="2000">
                <a:hlinkClick r:id="rId3"/>
              </a:rPr>
              <a:t>http://www.va.gov/HOMELESS/SSVF.asp</a:t>
            </a:r>
            <a:r>
              <a:rPr lang="en-US" sz="2000"/>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3"/>
          <p:cNvSpPr>
            <a:spLocks noGrp="1"/>
          </p:cNvSpPr>
          <p:nvPr>
            <p:ph type="sldNum" sz="quarter" idx="11"/>
          </p:nvPr>
        </p:nvSpPr>
        <p:spPr>
          <a:noFill/>
        </p:spPr>
        <p:txBody>
          <a:bodyPr/>
          <a:lstStyle/>
          <a:p>
            <a:fld id="{96578DA3-84BC-4043-87D6-F785627F40ED}" type="slidenum">
              <a:rPr lang="en-US" smtClean="0"/>
              <a:pPr/>
              <a:t>2</a:t>
            </a:fld>
            <a:endParaRPr lang="en-US" dirty="0" smtClean="0"/>
          </a:p>
        </p:txBody>
      </p:sp>
      <p:sp>
        <p:nvSpPr>
          <p:cNvPr id="1242115" name="Rectangle 3"/>
          <p:cNvSpPr>
            <a:spLocks noChangeArrowheads="1"/>
          </p:cNvSpPr>
          <p:nvPr/>
        </p:nvSpPr>
        <p:spPr bwMode="auto">
          <a:xfrm>
            <a:off x="2819400" y="0"/>
            <a:ext cx="6324600" cy="990600"/>
          </a:xfrm>
          <a:prstGeom prst="rect">
            <a:avLst/>
          </a:prstGeom>
          <a:noFill/>
          <a:ln w="9525">
            <a:noFill/>
            <a:miter lim="800000"/>
            <a:headEnd/>
            <a:tailEnd/>
          </a:ln>
          <a:effectLst/>
        </p:spPr>
        <p:txBody>
          <a:bodyPr lIns="91427" tIns="45713" rIns="91427" bIns="45713" anchor="ctr"/>
          <a:lstStyle/>
          <a:p>
            <a:pPr algn="r">
              <a:defRPr/>
            </a:pPr>
            <a:r>
              <a:rPr lang="en-US" sz="3000" i="1" dirty="0" smtClean="0">
                <a:solidFill>
                  <a:schemeClr val="bg1"/>
                </a:solidFill>
                <a:effectLst>
                  <a:outerShdw blurRad="38100" dist="38100" dir="2700000" algn="tl">
                    <a:srgbClr val="C0C0C0"/>
                  </a:outerShdw>
                </a:effectLst>
                <a:latin typeface="AvantGarde" pitchFamily="34" charset="0"/>
              </a:rPr>
              <a:t>SSVF Program Update</a:t>
            </a:r>
            <a:endParaRPr lang="en-US" sz="3000" i="1" dirty="0">
              <a:solidFill>
                <a:schemeClr val="bg1"/>
              </a:solidFill>
              <a:effectLst>
                <a:outerShdw blurRad="38100" dist="38100" dir="2700000" algn="tl">
                  <a:srgbClr val="C0C0C0"/>
                </a:outerShdw>
              </a:effectLst>
              <a:latin typeface="AvantGarde" pitchFamily="34" charset="0"/>
            </a:endParaRPr>
          </a:p>
        </p:txBody>
      </p:sp>
      <p:sp>
        <p:nvSpPr>
          <p:cNvPr id="3076" name="Rectangle 4"/>
          <p:cNvSpPr>
            <a:spLocks noChangeArrowheads="1"/>
          </p:cNvSpPr>
          <p:nvPr/>
        </p:nvSpPr>
        <p:spPr bwMode="auto">
          <a:xfrm>
            <a:off x="228600" y="1219200"/>
            <a:ext cx="8686800" cy="5257800"/>
          </a:xfrm>
          <a:prstGeom prst="rect">
            <a:avLst/>
          </a:prstGeom>
          <a:noFill/>
          <a:ln w="9525">
            <a:noFill/>
            <a:miter lim="800000"/>
            <a:headEnd/>
            <a:tailEnd/>
          </a:ln>
        </p:spPr>
        <p:txBody>
          <a:bodyPr lIns="91427" tIns="45713" rIns="91427" bIns="45713"/>
          <a:lstStyle/>
          <a:p>
            <a:pPr marL="236538" indent="-236538">
              <a:spcBef>
                <a:spcPct val="50000"/>
              </a:spcBef>
              <a:buClr>
                <a:srgbClr val="0000FF"/>
              </a:buClr>
            </a:pPr>
            <a:r>
              <a:rPr lang="en-US" sz="2800" dirty="0">
                <a:solidFill>
                  <a:srgbClr val="0000FF"/>
                </a:solidFill>
                <a:latin typeface="AvantGarde" pitchFamily="34" charset="0"/>
              </a:rPr>
              <a:t>Where are we in the process? </a:t>
            </a:r>
          </a:p>
          <a:p>
            <a:pPr marL="236538" indent="-236538">
              <a:spcBef>
                <a:spcPct val="50000"/>
              </a:spcBef>
              <a:buClr>
                <a:schemeClr val="tx1"/>
              </a:buClr>
              <a:buFontTx/>
              <a:buChar char="•"/>
            </a:pPr>
            <a:r>
              <a:rPr lang="en-US" sz="2800" b="0" dirty="0">
                <a:latin typeface="AvantGarde" pitchFamily="34" charset="0"/>
              </a:rPr>
              <a:t>VA has awarded $59.5M to 85 grantees (private non-profit organizations and consumer cooperatives) in 40 states and the District of Columbia.</a:t>
            </a:r>
          </a:p>
          <a:p>
            <a:pPr marL="236538" indent="-236538">
              <a:spcBef>
                <a:spcPct val="50000"/>
              </a:spcBef>
              <a:buClr>
                <a:schemeClr val="tx1"/>
              </a:buClr>
              <a:buFontTx/>
              <a:buChar char="•"/>
            </a:pPr>
            <a:r>
              <a:rPr lang="en-US" sz="2800" b="0" dirty="0">
                <a:latin typeface="AvantGarde" pitchFamily="34" charset="0"/>
              </a:rPr>
              <a:t>Currently grantees are completing the Grant Agreement and other required documents.</a:t>
            </a:r>
          </a:p>
          <a:p>
            <a:pPr marL="236538" indent="-236538">
              <a:spcBef>
                <a:spcPct val="50000"/>
              </a:spcBef>
              <a:buClr>
                <a:schemeClr val="tx1"/>
              </a:buClr>
              <a:buFontTx/>
              <a:buChar char="•"/>
            </a:pPr>
            <a:r>
              <a:rPr lang="en-US" sz="2800" b="0" dirty="0">
                <a:latin typeface="AvantGarde" pitchFamily="34" charset="0"/>
              </a:rPr>
              <a:t>Anticipate services to begin between August 15-30th, 2011.</a:t>
            </a:r>
          </a:p>
          <a:p>
            <a:pPr marL="236538" indent="-236538">
              <a:spcBef>
                <a:spcPct val="50000"/>
              </a:spcBef>
              <a:buClr>
                <a:schemeClr val="tx1"/>
              </a:buClr>
              <a:buFontTx/>
              <a:buChar char="•"/>
            </a:pPr>
            <a:r>
              <a:rPr lang="en-US" sz="2800" b="0" dirty="0">
                <a:latin typeface="AvantGarde" pitchFamily="34" charset="0"/>
              </a:rPr>
              <a:t>Grants run for a One Year Period.</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3505200" y="0"/>
            <a:ext cx="5638800" cy="914400"/>
          </a:xfrm>
        </p:spPr>
        <p:txBody>
          <a:bodyPr/>
          <a:lstStyle/>
          <a:p>
            <a:pPr algn="r" eaLnBrk="1" hangingPunct="1">
              <a:defRPr/>
            </a:pPr>
            <a:r>
              <a:rPr lang="en-US" b="1" dirty="0" smtClean="0">
                <a:solidFill>
                  <a:schemeClr val="bg1"/>
                </a:solidFill>
              </a:rPr>
              <a:t>    SSVF  Grants: </a:t>
            </a:r>
            <a:br>
              <a:rPr lang="en-US" b="1" dirty="0" smtClean="0">
                <a:solidFill>
                  <a:schemeClr val="bg1"/>
                </a:solidFill>
              </a:rPr>
            </a:br>
            <a:r>
              <a:rPr lang="en-US" b="1" dirty="0" smtClean="0">
                <a:solidFill>
                  <a:schemeClr val="bg1"/>
                </a:solidFill>
              </a:rPr>
              <a:t>What They Are...</a:t>
            </a:r>
            <a:endParaRPr lang="en-US" sz="3200" b="1" dirty="0" smtClean="0">
              <a:solidFill>
                <a:schemeClr val="bg1"/>
              </a:solidFill>
            </a:endParaRPr>
          </a:p>
        </p:txBody>
      </p:sp>
      <p:sp>
        <p:nvSpPr>
          <p:cNvPr id="4099" name="Content Placeholder 3"/>
          <p:cNvSpPr>
            <a:spLocks noGrp="1"/>
          </p:cNvSpPr>
          <p:nvPr>
            <p:ph sz="quarter" idx="1"/>
          </p:nvPr>
        </p:nvSpPr>
        <p:spPr>
          <a:xfrm>
            <a:off x="381000" y="1066800"/>
            <a:ext cx="8534400" cy="5410200"/>
          </a:xfrm>
        </p:spPr>
        <p:txBody>
          <a:bodyPr/>
          <a:lstStyle/>
          <a:p>
            <a:pPr marL="236538" indent="-236538">
              <a:spcBef>
                <a:spcPct val="50000"/>
              </a:spcBef>
              <a:buNone/>
            </a:pPr>
            <a:r>
              <a:rPr lang="en-US" dirty="0" smtClean="0"/>
              <a:t>Goal/Purpose of SSVF Grants</a:t>
            </a:r>
          </a:p>
          <a:p>
            <a:pPr marL="636588" lvl="1" indent="-236538">
              <a:spcBef>
                <a:spcPct val="50000"/>
              </a:spcBef>
              <a:buClr>
                <a:schemeClr val="tx1"/>
              </a:buClr>
            </a:pPr>
            <a:r>
              <a:rPr lang="en-US" sz="2200" dirty="0" smtClean="0"/>
              <a:t>To provide supportive service grants to private non-profit and consumer cooperative’s who will coordinate or provide supportive services to very low income veteran families.</a:t>
            </a:r>
          </a:p>
          <a:p>
            <a:pPr marL="1036638" lvl="2" indent="-236538">
              <a:spcBef>
                <a:spcPct val="50000"/>
              </a:spcBef>
              <a:buClr>
                <a:schemeClr val="tx1"/>
              </a:buClr>
              <a:buNone/>
            </a:pPr>
            <a:r>
              <a:rPr lang="en-US" sz="2200" dirty="0" smtClean="0"/>
              <a:t>1)  Are residing in permanent housing </a:t>
            </a:r>
          </a:p>
          <a:p>
            <a:pPr marL="1036638" lvl="2" indent="-236538">
              <a:spcBef>
                <a:spcPct val="50000"/>
              </a:spcBef>
              <a:buClr>
                <a:schemeClr val="tx1"/>
              </a:buClr>
              <a:buNone/>
            </a:pPr>
            <a:r>
              <a:rPr lang="en-US" sz="2200" dirty="0" smtClean="0"/>
              <a:t>2)  Are homeless and scheduled to become residents of permanent housing within a specified time period.</a:t>
            </a:r>
          </a:p>
          <a:p>
            <a:pPr marL="1036638" lvl="2" indent="-236538">
              <a:spcBef>
                <a:spcPct val="50000"/>
              </a:spcBef>
              <a:buClr>
                <a:schemeClr val="tx1"/>
              </a:buClr>
              <a:buNone/>
            </a:pPr>
            <a:r>
              <a:rPr lang="en-US" sz="2200" dirty="0" smtClean="0"/>
              <a:t>3)  After exiting permanent housing within a specified time period, are seeking other housing that is responsive to such very  low-income veteran family’s needs and preferences.</a:t>
            </a:r>
          </a:p>
          <a:p>
            <a:pPr marL="636588" lvl="1" indent="-236538">
              <a:spcBef>
                <a:spcPct val="50000"/>
              </a:spcBef>
              <a:buClr>
                <a:schemeClr val="tx1"/>
              </a:buClr>
            </a:pPr>
            <a:r>
              <a:rPr lang="en-US" sz="2200" dirty="0" smtClean="0"/>
              <a:t>Modeled after HUD’s HPRP initiative</a:t>
            </a:r>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1"/>
          </p:nvPr>
        </p:nvSpPr>
        <p:spPr>
          <a:noFill/>
        </p:spPr>
        <p:txBody>
          <a:bodyPr/>
          <a:lstStyle/>
          <a:p>
            <a:fld id="{31E576FE-05DC-4579-8389-BBCCAEAFC4D1}" type="slidenum">
              <a:rPr lang="en-US" smtClean="0"/>
              <a:pPr/>
              <a:t>4</a:t>
            </a:fld>
            <a:endParaRPr lang="en-US" smtClean="0"/>
          </a:p>
        </p:txBody>
      </p:sp>
      <p:sp>
        <p:nvSpPr>
          <p:cNvPr id="5123" name="Rectangle 2"/>
          <p:cNvSpPr>
            <a:spLocks noChangeArrowheads="1"/>
          </p:cNvSpPr>
          <p:nvPr/>
        </p:nvSpPr>
        <p:spPr bwMode="auto">
          <a:xfrm>
            <a:off x="134938" y="1143000"/>
            <a:ext cx="8686800" cy="6063198"/>
          </a:xfrm>
          <a:prstGeom prst="rect">
            <a:avLst/>
          </a:prstGeom>
          <a:noFill/>
          <a:ln w="25400">
            <a:noFill/>
            <a:miter lim="800000"/>
            <a:headEnd/>
            <a:tailEnd type="none" w="lg" len="lg"/>
          </a:ln>
        </p:spPr>
        <p:txBody>
          <a:bodyPr>
            <a:spAutoFit/>
          </a:bodyPr>
          <a:lstStyle/>
          <a:p>
            <a:pPr marL="236538" indent="-236538">
              <a:buFontTx/>
              <a:buChar char="•"/>
            </a:pPr>
            <a:r>
              <a:rPr lang="en-US" sz="2800" b="0" dirty="0" smtClean="0">
                <a:latin typeface="AvantGarde" pitchFamily="34" charset="0"/>
              </a:rPr>
              <a:t>Grants for VA entities: </a:t>
            </a:r>
          </a:p>
          <a:p>
            <a:pPr marL="693738" lvl="1" indent="-236538"/>
            <a:r>
              <a:rPr lang="en-US" sz="2800" b="0" dirty="0" smtClean="0">
                <a:solidFill>
                  <a:srgbClr val="0000FF"/>
                </a:solidFill>
                <a:latin typeface="AvantGarde" pitchFamily="34" charset="0"/>
              </a:rPr>
              <a:t>Grantees </a:t>
            </a:r>
            <a:r>
              <a:rPr lang="en-US" sz="2800" b="0" dirty="0">
                <a:solidFill>
                  <a:srgbClr val="0000FF"/>
                </a:solidFill>
                <a:latin typeface="AvantGarde" pitchFamily="34" charset="0"/>
              </a:rPr>
              <a:t>will be community-based organizations</a:t>
            </a:r>
            <a:r>
              <a:rPr lang="en-US" sz="2800" b="0" dirty="0">
                <a:latin typeface="AvantGarde" pitchFamily="34" charset="0"/>
              </a:rPr>
              <a:t>.</a:t>
            </a:r>
          </a:p>
          <a:p>
            <a:pPr marL="236538" indent="-236538">
              <a:buFontTx/>
              <a:buChar char="•"/>
            </a:pPr>
            <a:r>
              <a:rPr lang="en-US" sz="2800" b="0" dirty="0" smtClean="0">
                <a:latin typeface="AvantGarde" pitchFamily="34" charset="0"/>
              </a:rPr>
              <a:t>Services for the Veteran only:</a:t>
            </a:r>
          </a:p>
          <a:p>
            <a:pPr marL="693738" lvl="1" indent="-236538"/>
            <a:r>
              <a:rPr lang="en-US" sz="2800" b="0" dirty="0" smtClean="0">
                <a:solidFill>
                  <a:srgbClr val="0000FF"/>
                </a:solidFill>
                <a:latin typeface="AvantGarde" pitchFamily="34" charset="0"/>
              </a:rPr>
              <a:t>Services are available for Veterans </a:t>
            </a:r>
            <a:r>
              <a:rPr lang="en-US" sz="2800" b="0" i="1" dirty="0">
                <a:solidFill>
                  <a:srgbClr val="0000FF"/>
                </a:solidFill>
                <a:latin typeface="AvantGarde" pitchFamily="34" charset="0"/>
              </a:rPr>
              <a:t>and their families.</a:t>
            </a:r>
          </a:p>
          <a:p>
            <a:pPr marL="236538" indent="-236538">
              <a:buFontTx/>
              <a:buChar char="•"/>
            </a:pPr>
            <a:r>
              <a:rPr lang="en-US" sz="2800" b="0" dirty="0" smtClean="0">
                <a:latin typeface="AvantGarde" pitchFamily="34" charset="0"/>
              </a:rPr>
              <a:t>Reactions to homelessness:</a:t>
            </a:r>
          </a:p>
          <a:p>
            <a:pPr marL="693738" lvl="1" indent="-236538"/>
            <a:r>
              <a:rPr lang="en-US" sz="2800" b="0" dirty="0" smtClean="0">
                <a:solidFill>
                  <a:srgbClr val="0000FF"/>
                </a:solidFill>
                <a:latin typeface="AvantGarde" pitchFamily="34" charset="0"/>
              </a:rPr>
              <a:t>Focus is on homeless </a:t>
            </a:r>
            <a:r>
              <a:rPr lang="en-US" sz="2800" b="0" u="sng" dirty="0" smtClean="0">
                <a:solidFill>
                  <a:srgbClr val="0000FF"/>
                </a:solidFill>
                <a:latin typeface="AvantGarde" pitchFamily="34" charset="0"/>
              </a:rPr>
              <a:t>prevention</a:t>
            </a:r>
            <a:r>
              <a:rPr lang="en-US" sz="2800" b="0" dirty="0" smtClean="0">
                <a:solidFill>
                  <a:srgbClr val="0000FF"/>
                </a:solidFill>
                <a:latin typeface="AvantGarde" pitchFamily="34" charset="0"/>
              </a:rPr>
              <a:t> and </a:t>
            </a:r>
            <a:r>
              <a:rPr lang="en-US" sz="2800" b="0" dirty="0">
                <a:solidFill>
                  <a:srgbClr val="0000FF"/>
                </a:solidFill>
                <a:latin typeface="AvantGarde" pitchFamily="34" charset="0"/>
              </a:rPr>
              <a:t>rapid </a:t>
            </a:r>
            <a:r>
              <a:rPr lang="en-US" sz="2800" b="0" dirty="0" smtClean="0">
                <a:solidFill>
                  <a:srgbClr val="0000FF"/>
                </a:solidFill>
                <a:latin typeface="AvantGarde" pitchFamily="34" charset="0"/>
              </a:rPr>
              <a:t>re-housing.</a:t>
            </a:r>
            <a:endParaRPr lang="en-US" sz="2800" b="0" dirty="0">
              <a:solidFill>
                <a:srgbClr val="0000FF"/>
              </a:solidFill>
              <a:latin typeface="AvantGarde" pitchFamily="34" charset="0"/>
            </a:endParaRPr>
          </a:p>
          <a:p>
            <a:pPr marL="236538" indent="-236538">
              <a:buFontTx/>
              <a:buChar char="•"/>
            </a:pPr>
            <a:r>
              <a:rPr lang="en-US" sz="2800" b="0" dirty="0" smtClean="0">
                <a:latin typeface="AvantGarde" pitchFamily="34" charset="0"/>
              </a:rPr>
              <a:t>Permanent subsidies to Veterans and their families:</a:t>
            </a:r>
          </a:p>
          <a:p>
            <a:pPr marL="693738" lvl="1" indent="-236538"/>
            <a:r>
              <a:rPr lang="en-US" sz="2800" b="0" dirty="0" smtClean="0">
                <a:solidFill>
                  <a:srgbClr val="0000FF"/>
                </a:solidFill>
                <a:latin typeface="AvantGarde" pitchFamily="34" charset="0"/>
              </a:rPr>
              <a:t>Temporary </a:t>
            </a:r>
            <a:r>
              <a:rPr lang="en-US" sz="2800" b="0" dirty="0">
                <a:solidFill>
                  <a:srgbClr val="0000FF"/>
                </a:solidFill>
                <a:latin typeface="AvantGarde" pitchFamily="34" charset="0"/>
              </a:rPr>
              <a:t>financial assistance payments may be provided to third parties on behalf of participants.</a:t>
            </a:r>
          </a:p>
          <a:p>
            <a:pPr marL="236538" indent="-236538"/>
            <a:endParaRPr lang="en-US" sz="2000" b="0" dirty="0">
              <a:latin typeface="AvantGarde" pitchFamily="34" charset="0"/>
            </a:endParaRPr>
          </a:p>
          <a:p>
            <a:pPr marL="236538" indent="-236538">
              <a:buFontTx/>
              <a:buChar char="•"/>
            </a:pPr>
            <a:endParaRPr lang="en-US" sz="2000" b="0" dirty="0">
              <a:latin typeface="AvantGarde" pitchFamily="34" charset="0"/>
            </a:endParaRPr>
          </a:p>
          <a:p>
            <a:pPr marL="236538" indent="-236538">
              <a:buFontTx/>
              <a:buChar char="•"/>
            </a:pPr>
            <a:endParaRPr lang="en-US" sz="2000" b="0" dirty="0">
              <a:latin typeface="AvantGarde" pitchFamily="34" charset="0"/>
            </a:endParaRPr>
          </a:p>
          <a:p>
            <a:pPr marL="236538" indent="-236538">
              <a:buFontTx/>
              <a:buChar char="•"/>
            </a:pPr>
            <a:endParaRPr lang="en-US" sz="2000" b="0" dirty="0">
              <a:latin typeface="AvantGarde" pitchFamily="34" charset="0"/>
            </a:endParaRPr>
          </a:p>
        </p:txBody>
      </p:sp>
      <p:sp>
        <p:nvSpPr>
          <p:cNvPr id="1233924" name="Rectangle 4"/>
          <p:cNvSpPr>
            <a:spLocks noChangeArrowheads="1"/>
          </p:cNvSpPr>
          <p:nvPr/>
        </p:nvSpPr>
        <p:spPr bwMode="auto">
          <a:xfrm>
            <a:off x="2819400" y="0"/>
            <a:ext cx="6324600" cy="990600"/>
          </a:xfrm>
          <a:prstGeom prst="rect">
            <a:avLst/>
          </a:prstGeom>
          <a:noFill/>
          <a:ln w="9525">
            <a:noFill/>
            <a:miter lim="800000"/>
            <a:headEnd/>
            <a:tailEnd/>
          </a:ln>
          <a:effectLst/>
        </p:spPr>
        <p:txBody>
          <a:bodyPr lIns="91427" tIns="45713" rIns="91427" bIns="45713" anchor="ctr"/>
          <a:lstStyle/>
          <a:p>
            <a:pPr algn="r">
              <a:defRPr/>
            </a:pPr>
            <a:r>
              <a:rPr lang="en-US" sz="3000" i="1" dirty="0" smtClean="0">
                <a:solidFill>
                  <a:schemeClr val="bg1"/>
                </a:solidFill>
                <a:effectLst>
                  <a:outerShdw blurRad="38100" dist="38100" dir="2700000" algn="tl">
                    <a:srgbClr val="C0C0C0"/>
                  </a:outerShdw>
                </a:effectLst>
                <a:latin typeface="AvantGarde" pitchFamily="34" charset="0"/>
              </a:rPr>
              <a:t>SSVF Grants: </a:t>
            </a:r>
          </a:p>
          <a:p>
            <a:pPr algn="r">
              <a:defRPr/>
            </a:pPr>
            <a:r>
              <a:rPr lang="en-US" sz="3000" i="1" dirty="0" smtClean="0">
                <a:solidFill>
                  <a:schemeClr val="bg1"/>
                </a:solidFill>
                <a:effectLst>
                  <a:outerShdw blurRad="38100" dist="38100" dir="2700000" algn="tl">
                    <a:srgbClr val="C0C0C0"/>
                  </a:outerShdw>
                </a:effectLst>
                <a:latin typeface="AvantGarde" pitchFamily="34" charset="0"/>
              </a:rPr>
              <a:t>What They Are Not…</a:t>
            </a:r>
            <a:endParaRPr lang="en-US" sz="2000" i="1" dirty="0">
              <a:solidFill>
                <a:schemeClr val="bg1"/>
              </a:solidFill>
              <a:effectLst>
                <a:outerShdw blurRad="38100" dist="38100" dir="2700000" algn="tl">
                  <a:srgbClr val="C0C0C0"/>
                </a:outerShdw>
              </a:effectLst>
              <a:latin typeface="AvantGarde"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4191000" y="0"/>
            <a:ext cx="4953000" cy="914400"/>
          </a:xfrm>
          <a:noFill/>
        </p:spPr>
        <p:txBody>
          <a:bodyPr/>
          <a:lstStyle/>
          <a:p>
            <a:pPr algn="r" eaLnBrk="1" hangingPunct="1">
              <a:defRPr/>
            </a:pPr>
            <a:r>
              <a:rPr lang="en-US" sz="2800" b="1" dirty="0" smtClean="0"/>
              <a:t>    </a:t>
            </a:r>
            <a:r>
              <a:rPr lang="en-US" sz="2800" b="1" dirty="0" smtClean="0">
                <a:solidFill>
                  <a:schemeClr val="bg1">
                    <a:lumMod val="95000"/>
                  </a:schemeClr>
                </a:solidFill>
              </a:rPr>
              <a:t>Key Terms/Definitions</a:t>
            </a:r>
          </a:p>
        </p:txBody>
      </p:sp>
      <p:sp>
        <p:nvSpPr>
          <p:cNvPr id="4099" name="Content Placeholder 3"/>
          <p:cNvSpPr>
            <a:spLocks noGrp="1"/>
          </p:cNvSpPr>
          <p:nvPr>
            <p:ph sz="quarter" idx="1"/>
          </p:nvPr>
        </p:nvSpPr>
        <p:spPr>
          <a:xfrm>
            <a:off x="381000" y="1295400"/>
            <a:ext cx="8534400" cy="5181600"/>
          </a:xfrm>
        </p:spPr>
        <p:txBody>
          <a:bodyPr/>
          <a:lstStyle/>
          <a:p>
            <a:pPr marL="236538" indent="-236538">
              <a:spcBef>
                <a:spcPct val="50000"/>
              </a:spcBef>
              <a:defRPr/>
            </a:pPr>
            <a:r>
              <a:rPr lang="en-US" sz="2000" i="1" dirty="0" smtClean="0"/>
              <a:t>Homeless </a:t>
            </a:r>
            <a:r>
              <a:rPr lang="en-US" sz="2000" dirty="0" smtClean="0"/>
              <a:t>has the meaning given that term in section 103 of the McKinney- Vento Homeless Assistance Act (42 U.S.C. 11302).</a:t>
            </a:r>
          </a:p>
          <a:p>
            <a:pPr marL="236538" indent="-236538">
              <a:spcBef>
                <a:spcPct val="50000"/>
              </a:spcBef>
              <a:defRPr/>
            </a:pPr>
            <a:r>
              <a:rPr lang="en-US" sz="2000" i="1" dirty="0" smtClean="0"/>
              <a:t>Permanent housing </a:t>
            </a:r>
            <a:r>
              <a:rPr lang="en-US" sz="2000" dirty="0" smtClean="0"/>
              <a:t>means community-based housing without a designated length of stay. </a:t>
            </a:r>
          </a:p>
          <a:p>
            <a:pPr>
              <a:defRPr/>
            </a:pPr>
            <a:r>
              <a:rPr lang="en-US" sz="2000" i="1" dirty="0" smtClean="0"/>
              <a:t>Supportive services </a:t>
            </a:r>
            <a:r>
              <a:rPr lang="en-US" sz="2000" dirty="0" smtClean="0"/>
              <a:t>means any of the following provided to address the needs of a participant:</a:t>
            </a:r>
          </a:p>
          <a:p>
            <a:pPr lvl="1">
              <a:defRPr/>
            </a:pPr>
            <a:r>
              <a:rPr lang="en-US" sz="1600" dirty="0" smtClean="0"/>
              <a:t>Outreach services as specified under § 62.30 of the Final Rule;</a:t>
            </a:r>
          </a:p>
          <a:p>
            <a:pPr lvl="1">
              <a:defRPr/>
            </a:pPr>
            <a:r>
              <a:rPr lang="en-US" sz="1600" dirty="0" smtClean="0"/>
              <a:t>Case management services as specified under § 62.31 of the Final Rule;</a:t>
            </a:r>
          </a:p>
          <a:p>
            <a:pPr lvl="1">
              <a:defRPr/>
            </a:pPr>
            <a:r>
              <a:rPr lang="en-US" sz="1600" dirty="0" smtClean="0"/>
              <a:t>Assisting participants in obtaining VA benefits as specified under § 62.32 of the Final Rule;</a:t>
            </a:r>
          </a:p>
          <a:p>
            <a:pPr lvl="1">
              <a:defRPr/>
            </a:pPr>
            <a:r>
              <a:rPr lang="en-US" sz="1600" dirty="0" smtClean="0"/>
              <a:t>Assisting participants in obtaining and coordinating other public benefits as specified under § 62.33 of the Final Rule; and</a:t>
            </a:r>
          </a:p>
          <a:p>
            <a:pPr lvl="1">
              <a:defRPr/>
            </a:pPr>
            <a:r>
              <a:rPr lang="en-US" sz="1600" dirty="0" smtClean="0"/>
              <a:t>Other services as specified under § 62.34 of the Final Rule.</a:t>
            </a:r>
          </a:p>
          <a:p>
            <a:pPr marL="236538" indent="-236538">
              <a:spcBef>
                <a:spcPct val="50000"/>
              </a:spcBef>
              <a:buFontTx/>
              <a:buNone/>
              <a:defRPr/>
            </a:pPr>
            <a:endParaRPr lang="en-US" sz="2000" dirty="0" smtClean="0"/>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5</a:t>
            </a:fld>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4267200" y="0"/>
            <a:ext cx="4876800" cy="914400"/>
          </a:xfrm>
          <a:noFill/>
        </p:spPr>
        <p:txBody>
          <a:bodyPr/>
          <a:lstStyle/>
          <a:p>
            <a:pPr algn="r" eaLnBrk="1" hangingPunct="1">
              <a:defRPr/>
            </a:pPr>
            <a:r>
              <a:rPr lang="en-US" b="1" dirty="0" smtClean="0"/>
              <a:t>    </a:t>
            </a:r>
            <a:r>
              <a:rPr lang="en-US" sz="2800" b="1" dirty="0" smtClean="0">
                <a:solidFill>
                  <a:schemeClr val="bg1">
                    <a:lumMod val="95000"/>
                  </a:schemeClr>
                </a:solidFill>
              </a:rPr>
              <a:t>Key Terms/Definitions</a:t>
            </a:r>
          </a:p>
        </p:txBody>
      </p:sp>
      <p:sp>
        <p:nvSpPr>
          <p:cNvPr id="4099" name="Content Placeholder 3"/>
          <p:cNvSpPr>
            <a:spLocks noGrp="1"/>
          </p:cNvSpPr>
          <p:nvPr>
            <p:ph sz="quarter" idx="1"/>
          </p:nvPr>
        </p:nvSpPr>
        <p:spPr>
          <a:xfrm>
            <a:off x="381000" y="1066800"/>
            <a:ext cx="8534400" cy="5410200"/>
          </a:xfrm>
        </p:spPr>
        <p:txBody>
          <a:bodyPr/>
          <a:lstStyle/>
          <a:p>
            <a:pPr marL="236538" indent="-236538">
              <a:spcBef>
                <a:spcPct val="50000"/>
              </a:spcBef>
              <a:defRPr/>
            </a:pPr>
            <a:r>
              <a:rPr lang="en-US" sz="2000" i="1" dirty="0" smtClean="0"/>
              <a:t>Very low-income veteran family </a:t>
            </a:r>
            <a:r>
              <a:rPr lang="en-US" sz="2000" dirty="0" smtClean="0"/>
              <a:t>means a veteran family whose annual income, as determined in accordance with 24 CFR 5.609, does not exceed 50 percent of the median income for an area or community.</a:t>
            </a:r>
          </a:p>
          <a:p>
            <a:pPr marL="236538" indent="-236538">
              <a:spcBef>
                <a:spcPct val="50000"/>
              </a:spcBef>
              <a:defRPr/>
            </a:pPr>
            <a:r>
              <a:rPr lang="en-US" sz="2000" dirty="0" smtClean="0"/>
              <a:t> The median income for an area or community will be determined using the income limits most recently published by the Department of Housing and Urban Development (HUD) for programs under section 8 of the United States Housing Act of 1937 (42 U.S.C. 1437f) (</a:t>
            </a:r>
            <a:r>
              <a:rPr lang="en-US" sz="2000" i="1" dirty="0" smtClean="0">
                <a:hlinkClick r:id="rId2"/>
              </a:rPr>
              <a:t>http:// www.huduser.org</a:t>
            </a:r>
            <a:r>
              <a:rPr lang="en-US" sz="2000" dirty="0" smtClean="0"/>
              <a:t>).</a:t>
            </a:r>
          </a:p>
          <a:p>
            <a:pPr>
              <a:defRPr/>
            </a:pPr>
            <a:r>
              <a:rPr lang="en-US" sz="2000" i="1" dirty="0" smtClean="0"/>
              <a:t>Veteran </a:t>
            </a:r>
            <a:r>
              <a:rPr lang="en-US" sz="2000" dirty="0" smtClean="0"/>
              <a:t>means a person who served in the active military, naval, or air service, and who was discharged or released there from under conditions other than dishonorable.</a:t>
            </a:r>
          </a:p>
          <a:p>
            <a:pPr>
              <a:defRPr/>
            </a:pPr>
            <a:r>
              <a:rPr lang="en-US" sz="2000" i="1" dirty="0" smtClean="0"/>
              <a:t>Veteran family </a:t>
            </a:r>
            <a:r>
              <a:rPr lang="en-US" sz="2000" dirty="0" smtClean="0"/>
              <a:t>means a veteran who is a single person or a family in which the head of household, or the spouse of the head of household, is a veteran.</a:t>
            </a:r>
          </a:p>
          <a:p>
            <a:pPr marL="236538" indent="-236538">
              <a:spcBef>
                <a:spcPct val="50000"/>
              </a:spcBef>
              <a:buFontTx/>
              <a:buNone/>
              <a:defRPr/>
            </a:pPr>
            <a:endParaRPr lang="en-US" sz="2000" dirty="0" smtClean="0"/>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1"/>
          </p:nvPr>
        </p:nvSpPr>
        <p:spPr>
          <a:noFill/>
        </p:spPr>
        <p:txBody>
          <a:bodyPr/>
          <a:lstStyle/>
          <a:p>
            <a:fld id="{5D106BBC-CB73-425E-B0BE-5F6653278ADC}" type="slidenum">
              <a:rPr lang="en-US" smtClean="0"/>
              <a:pPr/>
              <a:t>7</a:t>
            </a:fld>
            <a:endParaRPr lang="en-US" smtClean="0"/>
          </a:p>
        </p:txBody>
      </p:sp>
      <p:sp>
        <p:nvSpPr>
          <p:cNvPr id="6147" name="Rectangle 2"/>
          <p:cNvSpPr>
            <a:spLocks noChangeArrowheads="1"/>
          </p:cNvSpPr>
          <p:nvPr/>
        </p:nvSpPr>
        <p:spPr bwMode="auto">
          <a:xfrm>
            <a:off x="63500" y="1066800"/>
            <a:ext cx="8915400" cy="5105400"/>
          </a:xfrm>
          <a:prstGeom prst="rect">
            <a:avLst/>
          </a:prstGeom>
          <a:noFill/>
          <a:ln w="9525">
            <a:noFill/>
            <a:miter lim="800000"/>
            <a:headEnd/>
            <a:tailEnd/>
          </a:ln>
        </p:spPr>
        <p:txBody>
          <a:bodyPr lIns="91427" tIns="45713" rIns="91427" bIns="45713"/>
          <a:lstStyle/>
          <a:p>
            <a:pPr>
              <a:spcBef>
                <a:spcPct val="50000"/>
              </a:spcBef>
              <a:buClr>
                <a:srgbClr val="0000FF"/>
              </a:buClr>
              <a:buFont typeface="Wingdings" pitchFamily="2" charset="2"/>
              <a:buNone/>
            </a:pPr>
            <a:r>
              <a:rPr lang="en-US" sz="2000" dirty="0">
                <a:solidFill>
                  <a:srgbClr val="0000FF"/>
                </a:solidFill>
                <a:latin typeface="AvantGarde" pitchFamily="34" charset="0"/>
              </a:rPr>
              <a:t>Required Supportive Services:</a:t>
            </a:r>
          </a:p>
          <a:p>
            <a:pPr lvl="1" indent="-342900">
              <a:lnSpc>
                <a:spcPct val="120000"/>
              </a:lnSpc>
              <a:buClr>
                <a:srgbClr val="0000FF"/>
              </a:buClr>
              <a:buFont typeface="Wingdings" pitchFamily="2" charset="2"/>
              <a:buAutoNum type="alphaUcPeriod"/>
            </a:pPr>
            <a:r>
              <a:rPr lang="en-US" sz="2000" b="0" dirty="0">
                <a:latin typeface="AvantGarde" pitchFamily="34" charset="0"/>
              </a:rPr>
              <a:t>Outreach services</a:t>
            </a:r>
          </a:p>
          <a:p>
            <a:pPr lvl="1" indent="-342900">
              <a:lnSpc>
                <a:spcPct val="120000"/>
              </a:lnSpc>
              <a:buClr>
                <a:srgbClr val="0000FF"/>
              </a:buClr>
              <a:buFont typeface="Wingdings" pitchFamily="2" charset="2"/>
              <a:buAutoNum type="alphaUcPeriod"/>
            </a:pPr>
            <a:r>
              <a:rPr lang="en-US" sz="2000" b="0" dirty="0">
                <a:latin typeface="AvantGarde" pitchFamily="34" charset="0"/>
              </a:rPr>
              <a:t>Case management services</a:t>
            </a:r>
          </a:p>
          <a:p>
            <a:pPr lvl="1" indent="-342900">
              <a:lnSpc>
                <a:spcPct val="120000"/>
              </a:lnSpc>
              <a:buClr>
                <a:srgbClr val="0000FF"/>
              </a:buClr>
              <a:buFont typeface="Wingdings" pitchFamily="2" charset="2"/>
              <a:buAutoNum type="alphaUcPeriod"/>
            </a:pPr>
            <a:r>
              <a:rPr lang="en-US" sz="2000" b="0" dirty="0">
                <a:latin typeface="AvantGarde" pitchFamily="34" charset="0"/>
              </a:rPr>
              <a:t>Assist participants to obtain VA benefits </a:t>
            </a:r>
          </a:p>
          <a:p>
            <a:pPr lvl="1" indent="-342900">
              <a:lnSpc>
                <a:spcPct val="120000"/>
              </a:lnSpc>
              <a:buClr>
                <a:srgbClr val="0000FF"/>
              </a:buClr>
              <a:buFont typeface="Wingdings" pitchFamily="2" charset="2"/>
              <a:buAutoNum type="alphaUcPeriod"/>
            </a:pPr>
            <a:r>
              <a:rPr lang="en-US" sz="2000" b="0" dirty="0">
                <a:latin typeface="AvantGarde" pitchFamily="34" charset="0"/>
              </a:rPr>
              <a:t>Assist participants to obtain and coordinate the provision of other public benefits provided by Federal, State, or local agencies, or any eligible entity in the area or community served by the grantee (provided directly or through referral to partner agencies) </a:t>
            </a:r>
          </a:p>
        </p:txBody>
      </p:sp>
      <p:graphicFrame>
        <p:nvGraphicFramePr>
          <p:cNvPr id="1127535" name="Group 111"/>
          <p:cNvGraphicFramePr>
            <a:graphicFrameLocks noGrp="1"/>
          </p:cNvGraphicFramePr>
          <p:nvPr>
            <p:ph/>
          </p:nvPr>
        </p:nvGraphicFramePr>
        <p:xfrm>
          <a:off x="685800" y="4114800"/>
          <a:ext cx="7834313" cy="2164080"/>
        </p:xfrm>
        <a:graphic>
          <a:graphicData uri="http://schemas.openxmlformats.org/drawingml/2006/table">
            <a:tbl>
              <a:tblPr/>
              <a:tblGrid>
                <a:gridCol w="3886200"/>
                <a:gridCol w="3948113"/>
              </a:tblGrid>
              <a:tr h="1309688">
                <a:tc>
                  <a:txBody>
                    <a:bodyPr/>
                    <a:lstStyle/>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Housing counseling services</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Health care services</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Personal financial planning services</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Transportation services </a:t>
                      </a:r>
                    </a:p>
                    <a:p>
                      <a:pPr marL="228600" marR="0" lvl="0" indent="-228600"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Income support services </a:t>
                      </a:r>
                    </a:p>
                  </a:txBody>
                  <a:tcPr horzOverflow="overflow">
                    <a:lnL cap="flat">
                      <a:noFill/>
                    </a:lnL>
                    <a:lnR>
                      <a:noFill/>
                    </a:lnR>
                    <a:lnT cap="flat">
                      <a:noFill/>
                    </a:lnT>
                    <a:lnB cap="flat">
                      <a:noFill/>
                    </a:lnB>
                    <a:lnTlToBr>
                      <a:noFill/>
                    </a:lnTlToBr>
                    <a:lnBlToTr>
                      <a:noFill/>
                    </a:lnBlToTr>
                    <a:noFill/>
                  </a:tcPr>
                </a:tc>
                <a:tc>
                  <a:txBody>
                    <a:bodyPr/>
                    <a:lstStyle/>
                    <a:p>
                      <a:pPr marL="236538" marR="0" lvl="0" indent="-236538"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Fiduciary and representative payee services</a:t>
                      </a:r>
                    </a:p>
                    <a:p>
                      <a:pPr marL="236538" marR="0" lvl="0" indent="-236538"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Legal services</a:t>
                      </a:r>
                    </a:p>
                    <a:p>
                      <a:pPr marL="236538" marR="0" lvl="0" indent="-236538"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Child care</a:t>
                      </a:r>
                    </a:p>
                    <a:p>
                      <a:pPr marL="236538" marR="0" lvl="0" indent="-236538" algn="l" defTabSz="914400" rtl="0" eaLnBrk="1" fontAlgn="base" latinLnBrk="0" hangingPunct="1">
                        <a:lnSpc>
                          <a:spcPct val="100000"/>
                        </a:lnSpc>
                        <a:spcBef>
                          <a:spcPct val="20000"/>
                        </a:spcBef>
                        <a:spcAft>
                          <a:spcPct val="0"/>
                        </a:spcAft>
                        <a:buClrTx/>
                        <a:buSzTx/>
                        <a:buFontTx/>
                        <a:buChar char="•"/>
                        <a:tabLst/>
                      </a:pPr>
                      <a:r>
                        <a:rPr kumimoji="0" lang="en-US" sz="2000" b="0" i="0" u="none" strike="noStrike" cap="none" normalizeH="0" baseline="0" smtClean="0">
                          <a:ln>
                            <a:noFill/>
                          </a:ln>
                          <a:solidFill>
                            <a:schemeClr val="tx1"/>
                          </a:solidFill>
                          <a:effectLst/>
                          <a:latin typeface="AvantGarde" pitchFamily="34" charset="0"/>
                        </a:rPr>
                        <a:t>Daily living services</a:t>
                      </a:r>
                    </a:p>
                  </a:txBody>
                  <a:tcPr horzOverflow="overflow">
                    <a:lnL>
                      <a:noFill/>
                    </a:lnL>
                    <a:lnR cap="flat">
                      <a:noFill/>
                    </a:lnR>
                    <a:lnT cap="flat">
                      <a:noFill/>
                    </a:lnT>
                    <a:lnB cap="flat">
                      <a:noFill/>
                    </a:lnB>
                    <a:lnTlToBr>
                      <a:noFill/>
                    </a:lnTlToBr>
                    <a:lnBlToTr>
                      <a:noFill/>
                    </a:lnBlToTr>
                    <a:noFill/>
                  </a:tcPr>
                </a:tc>
              </a:tr>
            </a:tbl>
          </a:graphicData>
        </a:graphic>
      </p:graphicFrame>
      <p:sp>
        <p:nvSpPr>
          <p:cNvPr id="1127524" name="Rectangle 100"/>
          <p:cNvSpPr>
            <a:spLocks noChangeArrowheads="1"/>
          </p:cNvSpPr>
          <p:nvPr/>
        </p:nvSpPr>
        <p:spPr bwMode="auto">
          <a:xfrm>
            <a:off x="3505200" y="0"/>
            <a:ext cx="5638800" cy="990600"/>
          </a:xfrm>
          <a:prstGeom prst="rect">
            <a:avLst/>
          </a:prstGeom>
          <a:noFill/>
          <a:ln w="9525">
            <a:noFill/>
            <a:miter lim="800000"/>
            <a:headEnd/>
            <a:tailEnd/>
          </a:ln>
          <a:effectLst/>
        </p:spPr>
        <p:txBody>
          <a:bodyPr lIns="91427" tIns="45713" rIns="91427" bIns="45713" anchor="ctr"/>
          <a:lstStyle/>
          <a:p>
            <a:pPr algn="r">
              <a:defRPr/>
            </a:pPr>
            <a:r>
              <a:rPr lang="en-US" sz="3000" i="1" dirty="0">
                <a:solidFill>
                  <a:schemeClr val="bg1"/>
                </a:solidFill>
                <a:effectLst>
                  <a:outerShdw blurRad="38100" dist="38100" dir="2700000" algn="tl">
                    <a:srgbClr val="C0C0C0"/>
                  </a:outerShdw>
                </a:effectLst>
                <a:latin typeface="AvantGarde" pitchFamily="34" charset="0"/>
              </a:rPr>
              <a:t>Supportive </a:t>
            </a:r>
            <a:r>
              <a:rPr lang="en-US" sz="3000" i="1" dirty="0" smtClean="0">
                <a:solidFill>
                  <a:schemeClr val="bg1"/>
                </a:solidFill>
                <a:effectLst>
                  <a:outerShdw blurRad="38100" dist="38100" dir="2700000" algn="tl">
                    <a:srgbClr val="C0C0C0"/>
                  </a:outerShdw>
                </a:effectLst>
                <a:latin typeface="AvantGarde" pitchFamily="34" charset="0"/>
              </a:rPr>
              <a:t>Services: </a:t>
            </a:r>
          </a:p>
          <a:p>
            <a:pPr algn="r">
              <a:defRPr/>
            </a:pPr>
            <a:r>
              <a:rPr lang="en-US" sz="3000" i="1" dirty="0" smtClean="0">
                <a:solidFill>
                  <a:schemeClr val="bg1"/>
                </a:solidFill>
                <a:effectLst>
                  <a:outerShdw blurRad="38100" dist="38100" dir="2700000" algn="tl">
                    <a:srgbClr val="C0C0C0"/>
                  </a:outerShdw>
                </a:effectLst>
                <a:latin typeface="AvantGarde" pitchFamily="34" charset="0"/>
              </a:rPr>
              <a:t>What They Are…</a:t>
            </a:r>
            <a:endParaRPr lang="en-US" sz="3000" i="1" dirty="0">
              <a:solidFill>
                <a:schemeClr val="bg1"/>
              </a:solidFill>
              <a:effectLst>
                <a:outerShdw blurRad="38100" dist="38100" dir="2700000" algn="tl">
                  <a:srgbClr val="C0C0C0"/>
                </a:outerShdw>
              </a:effectLst>
              <a:latin typeface="AvantGarde"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1"/>
          </p:nvPr>
        </p:nvSpPr>
        <p:spPr>
          <a:noFill/>
        </p:spPr>
        <p:txBody>
          <a:bodyPr/>
          <a:lstStyle/>
          <a:p>
            <a:fld id="{998596FA-54E0-46E8-A338-EE8F92FA9567}" type="slidenum">
              <a:rPr lang="en-US" smtClean="0"/>
              <a:pPr/>
              <a:t>8</a:t>
            </a:fld>
            <a:endParaRPr lang="en-US" smtClean="0"/>
          </a:p>
        </p:txBody>
      </p:sp>
      <p:sp>
        <p:nvSpPr>
          <p:cNvPr id="7171" name="Rectangle 2"/>
          <p:cNvSpPr>
            <a:spLocks noChangeArrowheads="1"/>
          </p:cNvSpPr>
          <p:nvPr/>
        </p:nvSpPr>
        <p:spPr bwMode="auto">
          <a:xfrm>
            <a:off x="76200" y="1069974"/>
            <a:ext cx="9067800" cy="5330825"/>
          </a:xfrm>
          <a:prstGeom prst="rect">
            <a:avLst/>
          </a:prstGeom>
          <a:noFill/>
          <a:ln w="9525">
            <a:noFill/>
            <a:miter lim="800000"/>
            <a:headEnd/>
            <a:tailEnd/>
          </a:ln>
        </p:spPr>
        <p:txBody>
          <a:bodyPr lIns="91427" tIns="45713" rIns="91427" bIns="45713"/>
          <a:lstStyle/>
          <a:p>
            <a:pPr>
              <a:lnSpc>
                <a:spcPct val="120000"/>
              </a:lnSpc>
              <a:buClr>
                <a:srgbClr val="0000FF"/>
              </a:buClr>
              <a:buFont typeface="Wingdings" pitchFamily="2" charset="2"/>
              <a:buNone/>
            </a:pPr>
            <a:r>
              <a:rPr lang="en-US" dirty="0">
                <a:solidFill>
                  <a:srgbClr val="0000FF"/>
                </a:solidFill>
                <a:latin typeface="AvantGarde" pitchFamily="34" charset="0"/>
              </a:rPr>
              <a:t>Optional Supportive Services:</a:t>
            </a:r>
          </a:p>
          <a:p>
            <a:pPr>
              <a:lnSpc>
                <a:spcPct val="120000"/>
              </a:lnSpc>
              <a:buClr>
                <a:srgbClr val="0000FF"/>
              </a:buClr>
              <a:buFont typeface="Wingdings" pitchFamily="2" charset="2"/>
              <a:buNone/>
            </a:pPr>
            <a:r>
              <a:rPr lang="en-US" b="0" dirty="0">
                <a:latin typeface="AvantGarde" pitchFamily="34" charset="0"/>
              </a:rPr>
              <a:t>Temporary financial assistance payments </a:t>
            </a:r>
          </a:p>
          <a:p>
            <a:pPr marL="463550" lvl="1" indent="-349250">
              <a:lnSpc>
                <a:spcPct val="120000"/>
              </a:lnSpc>
              <a:buClr>
                <a:srgbClr val="0000FF"/>
              </a:buClr>
              <a:buFontTx/>
              <a:buChar char="•"/>
            </a:pPr>
            <a:r>
              <a:rPr lang="en-US" b="0" dirty="0">
                <a:latin typeface="AvantGarde" pitchFamily="34" charset="0"/>
              </a:rPr>
              <a:t>Payments must help participants remain in or obtain permanent housing and can be for the following purposes:</a:t>
            </a:r>
          </a:p>
          <a:p>
            <a:pPr marL="463550" lvl="1" indent="-349250">
              <a:lnSpc>
                <a:spcPct val="120000"/>
              </a:lnSpc>
              <a:buClr>
                <a:srgbClr val="0000FF"/>
              </a:buClr>
              <a:buFontTx/>
              <a:buChar char="•"/>
            </a:pPr>
            <a:endParaRPr lang="en-US" b="0" dirty="0">
              <a:latin typeface="AvantGarde" pitchFamily="34" charset="0"/>
            </a:endParaRPr>
          </a:p>
          <a:p>
            <a:pPr marL="463550" lvl="1" indent="-349250">
              <a:lnSpc>
                <a:spcPct val="120000"/>
              </a:lnSpc>
              <a:buClr>
                <a:srgbClr val="0000FF"/>
              </a:buClr>
              <a:buFontTx/>
              <a:buChar char="•"/>
            </a:pPr>
            <a:endParaRPr lang="en-US" b="0" dirty="0">
              <a:latin typeface="AvantGarde" pitchFamily="34" charset="0"/>
            </a:endParaRPr>
          </a:p>
          <a:p>
            <a:pPr marL="463550" lvl="1" indent="-349250">
              <a:lnSpc>
                <a:spcPct val="120000"/>
              </a:lnSpc>
              <a:buClr>
                <a:srgbClr val="0000FF"/>
              </a:buClr>
              <a:buFontTx/>
              <a:buChar char="•"/>
            </a:pPr>
            <a:endParaRPr lang="en-US" b="0" dirty="0">
              <a:latin typeface="AvantGarde" pitchFamily="34" charset="0"/>
            </a:endParaRPr>
          </a:p>
          <a:p>
            <a:pPr marL="463550" lvl="1" indent="-349250">
              <a:lnSpc>
                <a:spcPct val="120000"/>
              </a:lnSpc>
              <a:buClr>
                <a:srgbClr val="0000FF"/>
              </a:buClr>
              <a:buFontTx/>
              <a:buChar char="•"/>
            </a:pPr>
            <a:endParaRPr lang="en-US" b="0" dirty="0">
              <a:latin typeface="AvantGarde" pitchFamily="34" charset="0"/>
            </a:endParaRPr>
          </a:p>
          <a:p>
            <a:pPr marL="463550" lvl="1" indent="-349250">
              <a:lnSpc>
                <a:spcPct val="120000"/>
              </a:lnSpc>
              <a:buClr>
                <a:srgbClr val="0000FF"/>
              </a:buClr>
              <a:buFontTx/>
              <a:buChar char="•"/>
            </a:pPr>
            <a:endParaRPr lang="en-US" sz="2000" b="0" dirty="0">
              <a:latin typeface="AvantGarde" pitchFamily="34" charset="0"/>
            </a:endParaRPr>
          </a:p>
          <a:p>
            <a:pPr marL="463550" lvl="1" indent="-349250">
              <a:lnSpc>
                <a:spcPct val="120000"/>
              </a:lnSpc>
              <a:buClr>
                <a:srgbClr val="0000FF"/>
              </a:buClr>
              <a:buFontTx/>
              <a:buChar char="•"/>
            </a:pPr>
            <a:r>
              <a:rPr lang="en-US" b="0" dirty="0">
                <a:latin typeface="AvantGarde" pitchFamily="34" charset="0"/>
              </a:rPr>
              <a:t>Payments are subject to the restrictions including the development of sustainability plan and payments can only be made to third parties.</a:t>
            </a:r>
          </a:p>
        </p:txBody>
      </p:sp>
      <p:sp>
        <p:nvSpPr>
          <p:cNvPr id="1199273" name="Rectangle 169"/>
          <p:cNvSpPr>
            <a:spLocks noChangeArrowheads="1"/>
          </p:cNvSpPr>
          <p:nvPr/>
        </p:nvSpPr>
        <p:spPr bwMode="auto">
          <a:xfrm>
            <a:off x="3505200" y="0"/>
            <a:ext cx="5638800" cy="990600"/>
          </a:xfrm>
          <a:prstGeom prst="rect">
            <a:avLst/>
          </a:prstGeom>
          <a:noFill/>
          <a:ln w="9525">
            <a:noFill/>
            <a:miter lim="800000"/>
            <a:headEnd/>
            <a:tailEnd/>
          </a:ln>
          <a:effectLst/>
        </p:spPr>
        <p:txBody>
          <a:bodyPr lIns="91427" tIns="45713" rIns="91427" bIns="45713" anchor="ctr"/>
          <a:lstStyle/>
          <a:p>
            <a:pPr algn="r">
              <a:defRPr/>
            </a:pPr>
            <a:r>
              <a:rPr lang="en-US" sz="3000" i="1" dirty="0">
                <a:solidFill>
                  <a:schemeClr val="bg1"/>
                </a:solidFill>
                <a:effectLst>
                  <a:outerShdw blurRad="38100" dist="38100" dir="2700000" algn="tl">
                    <a:srgbClr val="C0C0C0"/>
                  </a:outerShdw>
                </a:effectLst>
                <a:latin typeface="AvantGarde" pitchFamily="34" charset="0"/>
              </a:rPr>
              <a:t>Supportive </a:t>
            </a:r>
            <a:r>
              <a:rPr lang="en-US" sz="3000" i="1" dirty="0" smtClean="0">
                <a:solidFill>
                  <a:schemeClr val="bg1"/>
                </a:solidFill>
                <a:effectLst>
                  <a:outerShdw blurRad="38100" dist="38100" dir="2700000" algn="tl">
                    <a:srgbClr val="C0C0C0"/>
                  </a:outerShdw>
                </a:effectLst>
                <a:latin typeface="AvantGarde" pitchFamily="34" charset="0"/>
              </a:rPr>
              <a:t>Services: </a:t>
            </a:r>
          </a:p>
          <a:p>
            <a:pPr algn="r">
              <a:defRPr/>
            </a:pPr>
            <a:r>
              <a:rPr lang="en-US" sz="3000" i="1" dirty="0" smtClean="0">
                <a:solidFill>
                  <a:schemeClr val="bg1"/>
                </a:solidFill>
                <a:effectLst>
                  <a:outerShdw blurRad="38100" dist="38100" dir="2700000" algn="tl">
                    <a:srgbClr val="C0C0C0"/>
                  </a:outerShdw>
                </a:effectLst>
                <a:latin typeface="AvantGarde" pitchFamily="34" charset="0"/>
              </a:rPr>
              <a:t>What They Are… </a:t>
            </a:r>
            <a:r>
              <a:rPr lang="en-US" sz="2000" i="1" dirty="0">
                <a:solidFill>
                  <a:schemeClr val="bg1"/>
                </a:solidFill>
                <a:effectLst>
                  <a:outerShdw blurRad="38100" dist="38100" dir="2700000" algn="tl">
                    <a:srgbClr val="C0C0C0"/>
                  </a:outerShdw>
                </a:effectLst>
                <a:latin typeface="AvantGarde" pitchFamily="34" charset="0"/>
              </a:rPr>
              <a:t>(cont’d)</a:t>
            </a:r>
          </a:p>
        </p:txBody>
      </p:sp>
      <p:graphicFrame>
        <p:nvGraphicFramePr>
          <p:cNvPr id="1199385" name="Group 281"/>
          <p:cNvGraphicFramePr>
            <a:graphicFrameLocks noGrp="1"/>
          </p:cNvGraphicFramePr>
          <p:nvPr>
            <p:ph/>
          </p:nvPr>
        </p:nvGraphicFramePr>
        <p:xfrm>
          <a:off x="533400" y="3124200"/>
          <a:ext cx="7772400" cy="1773936"/>
        </p:xfrm>
        <a:graphic>
          <a:graphicData uri="http://schemas.openxmlformats.org/drawingml/2006/table">
            <a:tbl>
              <a:tblPr/>
              <a:tblGrid>
                <a:gridCol w="3886200"/>
                <a:gridCol w="3886200"/>
              </a:tblGrid>
              <a:tr h="1676401">
                <a:tc>
                  <a:txBody>
                    <a:bodyPr/>
                    <a:lstStyle/>
                    <a:p>
                      <a:pPr marL="233363" marR="0" lvl="0" indent="-233363" algn="l" defTabSz="914400" rtl="0" eaLnBrk="1" fontAlgn="base" latinLnBrk="0" hangingPunct="1">
                        <a:lnSpc>
                          <a:spcPct val="100000"/>
                        </a:lnSpc>
                        <a:spcBef>
                          <a:spcPct val="20000"/>
                        </a:spcBef>
                        <a:spcAft>
                          <a:spcPct val="0"/>
                        </a:spcAft>
                        <a:buClr>
                          <a:schemeClr val="tx1"/>
                        </a:buClr>
                        <a:buSzTx/>
                        <a:buFontTx/>
                        <a:buChar char="•"/>
                        <a:tabLst/>
                      </a:pPr>
                      <a:r>
                        <a:rPr kumimoji="0" lang="en-US" sz="2400" b="0" i="1" u="none" strike="noStrike" cap="none" normalizeH="0" baseline="0" dirty="0" smtClean="0">
                          <a:ln>
                            <a:noFill/>
                          </a:ln>
                          <a:solidFill>
                            <a:schemeClr val="tx1"/>
                          </a:solidFill>
                          <a:effectLst/>
                          <a:latin typeface="AvantGarde" pitchFamily="34" charset="0"/>
                        </a:rPr>
                        <a:t>Rent, penalties, or fees</a:t>
                      </a:r>
                    </a:p>
                    <a:p>
                      <a:pPr marL="233363" marR="0" lvl="0" indent="-233363" algn="l" defTabSz="914400" rtl="0" eaLnBrk="1" fontAlgn="base" latinLnBrk="0" hangingPunct="1">
                        <a:lnSpc>
                          <a:spcPct val="100000"/>
                        </a:lnSpc>
                        <a:spcBef>
                          <a:spcPct val="20000"/>
                        </a:spcBef>
                        <a:spcAft>
                          <a:spcPct val="0"/>
                        </a:spcAft>
                        <a:buClr>
                          <a:schemeClr val="tx1"/>
                        </a:buClr>
                        <a:buSzTx/>
                        <a:buFontTx/>
                        <a:buChar char="•"/>
                        <a:tabLst/>
                      </a:pPr>
                      <a:r>
                        <a:rPr kumimoji="0" lang="en-US" sz="2400" b="0" i="1" u="none" strike="noStrike" cap="none" normalizeH="0" baseline="0" dirty="0" smtClean="0">
                          <a:ln>
                            <a:noFill/>
                          </a:ln>
                          <a:solidFill>
                            <a:schemeClr val="tx1"/>
                          </a:solidFill>
                          <a:effectLst/>
                          <a:latin typeface="AvantGarde" pitchFamily="34" charset="0"/>
                        </a:rPr>
                        <a:t>Utility fees </a:t>
                      </a:r>
                    </a:p>
                    <a:p>
                      <a:pPr marL="233363" marR="0" lvl="0" indent="-233363" algn="l" defTabSz="914400" rtl="0" eaLnBrk="1" fontAlgn="base" latinLnBrk="0" hangingPunct="1">
                        <a:lnSpc>
                          <a:spcPct val="100000"/>
                        </a:lnSpc>
                        <a:spcBef>
                          <a:spcPct val="20000"/>
                        </a:spcBef>
                        <a:spcAft>
                          <a:spcPct val="0"/>
                        </a:spcAft>
                        <a:buClr>
                          <a:schemeClr val="tx1"/>
                        </a:buClr>
                        <a:buSzTx/>
                        <a:buFontTx/>
                        <a:buChar char="•"/>
                        <a:tabLst/>
                      </a:pPr>
                      <a:r>
                        <a:rPr kumimoji="0" lang="en-US" sz="2400" b="0" i="1" u="none" strike="noStrike" cap="none" normalizeH="0" baseline="0" dirty="0" smtClean="0">
                          <a:ln>
                            <a:noFill/>
                          </a:ln>
                          <a:solidFill>
                            <a:schemeClr val="tx1"/>
                          </a:solidFill>
                          <a:effectLst/>
                          <a:latin typeface="AvantGarde" pitchFamily="34" charset="0"/>
                        </a:rPr>
                        <a:t>Security or utility deposits</a:t>
                      </a:r>
                    </a:p>
                    <a:p>
                      <a:pPr marL="233363" marR="0" lvl="0" indent="-233363" algn="l" defTabSz="914400" rtl="0" eaLnBrk="1" fontAlgn="base" latinLnBrk="0" hangingPunct="1">
                        <a:lnSpc>
                          <a:spcPct val="100000"/>
                        </a:lnSpc>
                        <a:spcBef>
                          <a:spcPct val="20000"/>
                        </a:spcBef>
                        <a:spcAft>
                          <a:spcPct val="0"/>
                        </a:spcAft>
                        <a:buClr>
                          <a:schemeClr val="tx1"/>
                        </a:buClr>
                        <a:buSzTx/>
                        <a:buFontTx/>
                        <a:buChar char="•"/>
                        <a:tabLst/>
                      </a:pPr>
                      <a:r>
                        <a:rPr kumimoji="0" lang="en-US" sz="2400" b="0" i="1" u="none" strike="noStrike" cap="none" normalizeH="0" baseline="0" dirty="0" smtClean="0">
                          <a:ln>
                            <a:noFill/>
                          </a:ln>
                          <a:solidFill>
                            <a:schemeClr val="tx1"/>
                          </a:solidFill>
                          <a:effectLst/>
                          <a:latin typeface="AvantGarde" pitchFamily="34" charset="0"/>
                        </a:rPr>
                        <a:t>Moving costs</a:t>
                      </a:r>
                      <a:endParaRPr kumimoji="0" lang="en-US" sz="2400" b="0" i="1" u="none" strike="noStrike" cap="none" normalizeH="0" baseline="0" dirty="0" smtClean="0">
                        <a:ln>
                          <a:noFill/>
                        </a:ln>
                        <a:solidFill>
                          <a:srgbClr val="0000FF"/>
                        </a:solidFill>
                        <a:effectLst/>
                        <a:latin typeface="AvantGarde" pitchFamily="34" charset="0"/>
                      </a:endParaRPr>
                    </a:p>
                  </a:txBody>
                  <a:tcPr horzOverflow="overflow">
                    <a:lnL>
                      <a:noFill/>
                    </a:lnL>
                    <a:lnR>
                      <a:noFill/>
                    </a:lnR>
                    <a:lnT>
                      <a:noFill/>
                    </a:lnT>
                    <a:lnB>
                      <a:noFill/>
                    </a:lnB>
                    <a:lnTlToBr>
                      <a:noFill/>
                    </a:lnTlToBr>
                    <a:lnBlToTr>
                      <a:noFill/>
                    </a:lnBlToTr>
                    <a:noFill/>
                  </a:tcPr>
                </a:tc>
                <a:tc>
                  <a:txBody>
                    <a:bodyPr/>
                    <a:lstStyle/>
                    <a:p>
                      <a:pPr marL="233363" marR="0" lvl="0" indent="-233363" algn="l" defTabSz="914400" rtl="0" eaLnBrk="1" fontAlgn="base" latinLnBrk="0" hangingPunct="1">
                        <a:lnSpc>
                          <a:spcPct val="100000"/>
                        </a:lnSpc>
                        <a:spcBef>
                          <a:spcPct val="20000"/>
                        </a:spcBef>
                        <a:spcAft>
                          <a:spcPct val="0"/>
                        </a:spcAft>
                        <a:buClr>
                          <a:schemeClr val="tx1"/>
                        </a:buClr>
                        <a:buSzTx/>
                        <a:buFontTx/>
                        <a:buChar char="•"/>
                        <a:tabLst/>
                      </a:pPr>
                      <a:r>
                        <a:rPr kumimoji="0" lang="en-US" sz="2400" b="0" i="1" u="none" strike="noStrike" cap="none" normalizeH="0" baseline="0" dirty="0" smtClean="0">
                          <a:ln>
                            <a:noFill/>
                          </a:ln>
                          <a:solidFill>
                            <a:schemeClr val="tx1"/>
                          </a:solidFill>
                          <a:effectLst/>
                          <a:latin typeface="AvantGarde" pitchFamily="34" charset="0"/>
                        </a:rPr>
                        <a:t>Purchase of emergency supplies</a:t>
                      </a:r>
                    </a:p>
                    <a:p>
                      <a:pPr marL="233363" marR="0" lvl="0" indent="-233363" algn="l" defTabSz="914400" rtl="0" eaLnBrk="1" fontAlgn="base" latinLnBrk="0" hangingPunct="1">
                        <a:lnSpc>
                          <a:spcPct val="100000"/>
                        </a:lnSpc>
                        <a:spcBef>
                          <a:spcPct val="20000"/>
                        </a:spcBef>
                        <a:spcAft>
                          <a:spcPct val="0"/>
                        </a:spcAft>
                        <a:buClr>
                          <a:schemeClr val="tx1"/>
                        </a:buClr>
                        <a:buSzTx/>
                        <a:buFontTx/>
                        <a:buChar char="•"/>
                        <a:tabLst/>
                      </a:pPr>
                      <a:r>
                        <a:rPr kumimoji="0" lang="en-US" sz="2400" b="0" i="1" u="none" strike="noStrike" cap="none" normalizeH="0" baseline="0" dirty="0" smtClean="0">
                          <a:ln>
                            <a:noFill/>
                          </a:ln>
                          <a:solidFill>
                            <a:schemeClr val="tx1"/>
                          </a:solidFill>
                          <a:effectLst/>
                          <a:latin typeface="AvantGarde" pitchFamily="34" charset="0"/>
                        </a:rPr>
                        <a:t>Transportation</a:t>
                      </a:r>
                    </a:p>
                    <a:p>
                      <a:pPr marL="233363" marR="0" lvl="0" indent="-233363" algn="l" defTabSz="914400" rtl="0" eaLnBrk="1" fontAlgn="base" latinLnBrk="0" hangingPunct="1">
                        <a:lnSpc>
                          <a:spcPct val="100000"/>
                        </a:lnSpc>
                        <a:spcBef>
                          <a:spcPct val="20000"/>
                        </a:spcBef>
                        <a:spcAft>
                          <a:spcPct val="0"/>
                        </a:spcAft>
                        <a:buClr>
                          <a:schemeClr val="tx1"/>
                        </a:buClr>
                        <a:buSzTx/>
                        <a:buFontTx/>
                        <a:buChar char="•"/>
                        <a:tabLst/>
                      </a:pPr>
                      <a:r>
                        <a:rPr kumimoji="0" lang="en-US" sz="2400" b="0" i="1" u="none" strike="noStrike" cap="none" normalizeH="0" baseline="0" dirty="0" smtClean="0">
                          <a:ln>
                            <a:noFill/>
                          </a:ln>
                          <a:solidFill>
                            <a:schemeClr val="tx1"/>
                          </a:solidFill>
                          <a:effectLst/>
                          <a:latin typeface="AvantGarde" pitchFamily="34" charset="0"/>
                        </a:rPr>
                        <a:t>Child care</a:t>
                      </a:r>
                      <a:endParaRPr kumimoji="0" lang="en-US" sz="2400" b="0" i="1" u="none" strike="noStrike" cap="none" normalizeH="0" baseline="0" dirty="0" smtClean="0">
                        <a:ln>
                          <a:noFill/>
                        </a:ln>
                        <a:solidFill>
                          <a:srgbClr val="0000FF"/>
                        </a:solidFill>
                        <a:effectLst/>
                        <a:latin typeface="AvantGarde" pitchFamily="34" charset="0"/>
                      </a:endParaRPr>
                    </a:p>
                  </a:txBody>
                  <a:tcPr horzOverflow="overflow">
                    <a:lnL>
                      <a:noFill/>
                    </a:lnL>
                    <a:lnR>
                      <a:noFill/>
                    </a:lnR>
                    <a:lnT>
                      <a:noFill/>
                    </a:lnT>
                    <a:lnB>
                      <a:noFill/>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3505200" y="0"/>
            <a:ext cx="5638800" cy="914400"/>
          </a:xfrm>
          <a:noFill/>
        </p:spPr>
        <p:txBody>
          <a:bodyPr/>
          <a:lstStyle/>
          <a:p>
            <a:pPr algn="r" eaLnBrk="1" hangingPunct="1">
              <a:defRPr/>
            </a:pPr>
            <a:r>
              <a:rPr lang="en-US" b="1" dirty="0" smtClean="0">
                <a:solidFill>
                  <a:schemeClr val="bg1"/>
                </a:solidFill>
              </a:rPr>
              <a:t>    Requirements</a:t>
            </a:r>
            <a:endParaRPr lang="en-US" sz="3200" b="1" dirty="0" smtClean="0">
              <a:solidFill>
                <a:schemeClr val="bg1"/>
              </a:solidFill>
            </a:endParaRPr>
          </a:p>
        </p:txBody>
      </p:sp>
      <p:sp>
        <p:nvSpPr>
          <p:cNvPr id="4099" name="Content Placeholder 3"/>
          <p:cNvSpPr>
            <a:spLocks noGrp="1"/>
          </p:cNvSpPr>
          <p:nvPr>
            <p:ph sz="quarter" idx="1"/>
          </p:nvPr>
        </p:nvSpPr>
        <p:spPr>
          <a:xfrm>
            <a:off x="381000" y="1066800"/>
            <a:ext cx="8534400" cy="5410200"/>
          </a:xfrm>
        </p:spPr>
        <p:txBody>
          <a:bodyPr/>
          <a:lstStyle/>
          <a:p>
            <a:pPr marL="236538" indent="-236538">
              <a:spcBef>
                <a:spcPct val="50000"/>
              </a:spcBef>
              <a:defRPr/>
            </a:pPr>
            <a:r>
              <a:rPr lang="en-US" sz="2400" dirty="0" smtClean="0"/>
              <a:t>Grantees may use a maximum of 10 percent of supportive services grant funds for administrative costs.</a:t>
            </a:r>
          </a:p>
          <a:p>
            <a:pPr marL="236538" indent="-236538">
              <a:spcBef>
                <a:spcPct val="50000"/>
              </a:spcBef>
              <a:defRPr/>
            </a:pPr>
            <a:r>
              <a:rPr lang="en-US" sz="2400" dirty="0" smtClean="0"/>
              <a:t>Grantees must use between 60 and 75 percent of supportive services grant funds to provide supportive services to very low-income veteran families </a:t>
            </a:r>
          </a:p>
          <a:p>
            <a:pPr marL="236538" indent="-236538">
              <a:spcBef>
                <a:spcPct val="50000"/>
              </a:spcBef>
              <a:defRPr/>
            </a:pPr>
            <a:r>
              <a:rPr lang="en-US" sz="2400" dirty="0" smtClean="0"/>
              <a:t>Grantees must use between 20 and 35 percent of supportive services grant funds to provide supportive services to very low-income veteran families who are residing in permanent housing, </a:t>
            </a:r>
          </a:p>
          <a:p>
            <a:pPr marL="236538" indent="-236538">
              <a:spcBef>
                <a:spcPct val="50000"/>
              </a:spcBef>
              <a:defRPr/>
            </a:pPr>
            <a:r>
              <a:rPr lang="en-US" sz="2400" dirty="0" smtClean="0"/>
              <a:t>VA encourages grantees to target prevention assistance to those very low- income veteran families at the greatest risk of becoming homeless.</a:t>
            </a:r>
          </a:p>
          <a:p>
            <a:pPr marL="236538" indent="-236538">
              <a:spcBef>
                <a:spcPct val="50000"/>
              </a:spcBef>
              <a:defRPr/>
            </a:pPr>
            <a:endParaRPr lang="en-US" sz="2000" dirty="0" smtClean="0"/>
          </a:p>
          <a:p>
            <a:pPr marL="236538" indent="-236538">
              <a:spcBef>
                <a:spcPct val="50000"/>
              </a:spcBef>
              <a:defRPr/>
            </a:pPr>
            <a:endParaRPr lang="en-US" sz="2000" dirty="0" smtClean="0"/>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9</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3505200" y="0"/>
            <a:ext cx="5638800" cy="914400"/>
          </a:xfrm>
          <a:noFill/>
        </p:spPr>
        <p:txBody>
          <a:bodyPr/>
          <a:lstStyle/>
          <a:p>
            <a:pPr algn="r" eaLnBrk="1" hangingPunct="1">
              <a:defRPr/>
            </a:pPr>
            <a:r>
              <a:rPr lang="en-US" b="1" dirty="0" smtClean="0">
                <a:solidFill>
                  <a:schemeClr val="bg1"/>
                </a:solidFill>
              </a:rPr>
              <a:t>    Requirements</a:t>
            </a:r>
            <a:endParaRPr lang="en-US" sz="3200" b="1" dirty="0" smtClean="0">
              <a:solidFill>
                <a:schemeClr val="bg1"/>
              </a:solidFill>
            </a:endParaRPr>
          </a:p>
        </p:txBody>
      </p:sp>
      <p:sp>
        <p:nvSpPr>
          <p:cNvPr id="4099" name="Content Placeholder 3"/>
          <p:cNvSpPr>
            <a:spLocks noGrp="1"/>
          </p:cNvSpPr>
          <p:nvPr>
            <p:ph sz="quarter" idx="1"/>
          </p:nvPr>
        </p:nvSpPr>
        <p:spPr>
          <a:xfrm>
            <a:off x="381000" y="1066800"/>
            <a:ext cx="8534400" cy="5410200"/>
          </a:xfrm>
        </p:spPr>
        <p:txBody>
          <a:bodyPr/>
          <a:lstStyle/>
          <a:p>
            <a:pPr marL="236538" indent="-236538">
              <a:spcBef>
                <a:spcPct val="50000"/>
              </a:spcBef>
              <a:buNone/>
              <a:defRPr/>
            </a:pPr>
            <a:r>
              <a:rPr lang="en-US" sz="2400" dirty="0" smtClean="0"/>
              <a:t>When serving eligible participants, in addition to the required supportive services, grantees may focus on providing the following supportive services: </a:t>
            </a:r>
          </a:p>
          <a:p>
            <a:pPr marL="236538" indent="-236538">
              <a:spcBef>
                <a:spcPct val="50000"/>
              </a:spcBef>
              <a:defRPr/>
            </a:pPr>
            <a:r>
              <a:rPr lang="en-US" sz="2000" dirty="0" smtClean="0">
                <a:solidFill>
                  <a:schemeClr val="tx1"/>
                </a:solidFill>
              </a:rPr>
              <a:t>Housing counseling; assisting participants in understanding leases; securing utilities; making moving arrangements; representative payee services concerning rent and utilities; and mediation and outreach to property owners related to locating or retaining housing. </a:t>
            </a:r>
          </a:p>
          <a:p>
            <a:pPr marL="236538" indent="-236538">
              <a:spcBef>
                <a:spcPct val="50000"/>
              </a:spcBef>
              <a:defRPr/>
            </a:pPr>
            <a:r>
              <a:rPr lang="en-US" sz="2000" dirty="0" smtClean="0">
                <a:solidFill>
                  <a:schemeClr val="tx1"/>
                </a:solidFill>
              </a:rPr>
              <a:t>Grantees may also assist participants by providing rental assistance, security or utility deposits, moving costs or emergency supplies, using other Federal resources, such as the HPRP Program, or supportive services grant funds.</a:t>
            </a:r>
            <a:endParaRPr lang="en-US" sz="2000" dirty="0" smtClean="0"/>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10</a:t>
            </a:fld>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3505200" y="0"/>
            <a:ext cx="5638800" cy="914400"/>
          </a:xfrm>
          <a:noFill/>
        </p:spPr>
        <p:txBody>
          <a:bodyPr/>
          <a:lstStyle/>
          <a:p>
            <a:pPr algn="r" eaLnBrk="1" hangingPunct="1">
              <a:defRPr/>
            </a:pPr>
            <a:r>
              <a:rPr lang="en-US" b="1" dirty="0" smtClean="0">
                <a:solidFill>
                  <a:schemeClr val="bg1"/>
                </a:solidFill>
              </a:rPr>
              <a:t>    What SSVF  Is Not</a:t>
            </a:r>
            <a:endParaRPr lang="en-US" sz="3200" b="1" dirty="0" smtClean="0">
              <a:solidFill>
                <a:schemeClr val="bg1"/>
              </a:solidFill>
            </a:endParaRPr>
          </a:p>
        </p:txBody>
      </p:sp>
      <p:sp>
        <p:nvSpPr>
          <p:cNvPr id="4099" name="Content Placeholder 3"/>
          <p:cNvSpPr>
            <a:spLocks noGrp="1"/>
          </p:cNvSpPr>
          <p:nvPr>
            <p:ph sz="quarter" idx="1"/>
          </p:nvPr>
        </p:nvSpPr>
        <p:spPr>
          <a:xfrm>
            <a:off x="381000" y="1066800"/>
            <a:ext cx="8534400" cy="5410200"/>
          </a:xfrm>
        </p:spPr>
        <p:txBody>
          <a:bodyPr/>
          <a:lstStyle/>
          <a:p>
            <a:pPr marL="236538" indent="-236538">
              <a:spcBef>
                <a:spcPct val="50000"/>
              </a:spcBef>
              <a:buFontTx/>
              <a:buNone/>
              <a:defRPr/>
            </a:pPr>
            <a:r>
              <a:rPr lang="en-US" sz="2400" dirty="0" smtClean="0"/>
              <a:t>The SSVF Program is not intended to provide long-term support for participants, nor will it be able to address all of the financial and supportive services needs of participants that affect housing stability.</a:t>
            </a:r>
          </a:p>
          <a:p>
            <a:pPr marL="236538" indent="-236538">
              <a:spcBef>
                <a:spcPct val="50000"/>
              </a:spcBef>
              <a:buFontTx/>
              <a:buNone/>
              <a:defRPr/>
            </a:pPr>
            <a:endParaRPr lang="en-US" sz="2400" dirty="0" smtClean="0"/>
          </a:p>
          <a:p>
            <a:pPr>
              <a:defRPr/>
            </a:pPr>
            <a:r>
              <a:rPr lang="en-US" sz="2400" dirty="0" smtClean="0">
                <a:solidFill>
                  <a:schemeClr val="tx1"/>
                </a:solidFill>
              </a:rPr>
              <a:t>When participants require long- term support, grantees should focus on connecting such participants to mainstream Federal and community resources that can provide ongoing support as required.</a:t>
            </a:r>
          </a:p>
          <a:p>
            <a:pPr>
              <a:defRPr/>
            </a:pPr>
            <a:r>
              <a:rPr lang="en-US" sz="2400" dirty="0" smtClean="0">
                <a:solidFill>
                  <a:schemeClr val="tx1"/>
                </a:solidFill>
              </a:rPr>
              <a:t>Grantees will not provide direct healthcare / therapeutic services or daily living supports.</a:t>
            </a:r>
          </a:p>
          <a:p>
            <a:pPr marL="236538" indent="-236538">
              <a:spcBef>
                <a:spcPct val="50000"/>
              </a:spcBef>
              <a:buFontTx/>
              <a:buNone/>
              <a:defRPr/>
            </a:pPr>
            <a:endParaRPr lang="en-US" sz="2000" dirty="0" smtClean="0"/>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4114800" y="0"/>
            <a:ext cx="5029200" cy="914400"/>
          </a:xfrm>
          <a:noFill/>
        </p:spPr>
        <p:txBody>
          <a:bodyPr/>
          <a:lstStyle/>
          <a:p>
            <a:pPr algn="r" eaLnBrk="1" hangingPunct="1">
              <a:defRPr/>
            </a:pPr>
            <a:r>
              <a:rPr lang="en-US" b="1" dirty="0" smtClean="0">
                <a:solidFill>
                  <a:schemeClr val="bg1"/>
                </a:solidFill>
              </a:rPr>
              <a:t>But For…</a:t>
            </a:r>
            <a:endParaRPr lang="en-US" sz="3200" b="1" dirty="0" smtClean="0">
              <a:solidFill>
                <a:schemeClr val="bg1"/>
              </a:solidFill>
            </a:endParaRPr>
          </a:p>
        </p:txBody>
      </p:sp>
      <p:sp>
        <p:nvSpPr>
          <p:cNvPr id="4099" name="Content Placeholder 3"/>
          <p:cNvSpPr>
            <a:spLocks noGrp="1"/>
          </p:cNvSpPr>
          <p:nvPr>
            <p:ph sz="quarter" idx="1"/>
          </p:nvPr>
        </p:nvSpPr>
        <p:spPr>
          <a:xfrm>
            <a:off x="381000" y="1066800"/>
            <a:ext cx="8534400" cy="5410200"/>
          </a:xfrm>
        </p:spPr>
        <p:txBody>
          <a:bodyPr/>
          <a:lstStyle/>
          <a:p>
            <a:pPr>
              <a:defRPr/>
            </a:pPr>
            <a:endParaRPr lang="en-US" dirty="0" smtClean="0"/>
          </a:p>
          <a:p>
            <a:pPr marL="236538" indent="-236538">
              <a:spcBef>
                <a:spcPct val="50000"/>
              </a:spcBef>
              <a:buNone/>
              <a:defRPr/>
            </a:pPr>
            <a:r>
              <a:rPr lang="en-US" dirty="0" smtClean="0"/>
              <a:t>When serving participants who are residing in permanent housing, it is helpful to remember that the defining question to ask is: </a:t>
            </a:r>
          </a:p>
          <a:p>
            <a:pPr marL="236538" indent="-236538">
              <a:spcBef>
                <a:spcPct val="50000"/>
              </a:spcBef>
              <a:defRPr/>
            </a:pPr>
            <a:endParaRPr lang="en-US" sz="2000" dirty="0" smtClean="0"/>
          </a:p>
          <a:p>
            <a:pPr marL="236538" indent="-236538">
              <a:spcBef>
                <a:spcPct val="50000"/>
              </a:spcBef>
              <a:buFontTx/>
              <a:buNone/>
              <a:defRPr/>
            </a:pPr>
            <a:r>
              <a:rPr lang="en-US" sz="2000" dirty="0" smtClean="0">
                <a:solidFill>
                  <a:schemeClr val="tx1"/>
                </a:solidFill>
              </a:rPr>
              <a:t>“</a:t>
            </a:r>
            <a:r>
              <a:rPr lang="en-US" dirty="0" smtClean="0">
                <a:solidFill>
                  <a:schemeClr val="tx1"/>
                </a:solidFill>
              </a:rPr>
              <a:t>Would this individual or family be homeless </a:t>
            </a:r>
            <a:r>
              <a:rPr lang="en-US" u="sng" dirty="0" smtClean="0">
                <a:solidFill>
                  <a:schemeClr val="tx1"/>
                </a:solidFill>
              </a:rPr>
              <a:t>but for</a:t>
            </a:r>
            <a:r>
              <a:rPr lang="en-US" dirty="0" smtClean="0">
                <a:solidFill>
                  <a:schemeClr val="tx1"/>
                </a:solidFill>
              </a:rPr>
              <a:t> this assistance?”</a:t>
            </a:r>
          </a:p>
          <a:p>
            <a:pPr marL="236538" indent="-236538">
              <a:spcBef>
                <a:spcPct val="50000"/>
              </a:spcBef>
              <a:buNone/>
              <a:defRPr/>
            </a:pPr>
            <a:endParaRPr lang="en-US" sz="2000" dirty="0" smtClean="0"/>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12</a:t>
            </a:fld>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4572000" y="76200"/>
            <a:ext cx="4572000" cy="914400"/>
          </a:xfrm>
          <a:noFill/>
        </p:spPr>
        <p:txBody>
          <a:bodyPr/>
          <a:lstStyle/>
          <a:p>
            <a:pPr algn="r" eaLnBrk="1" hangingPunct="1">
              <a:defRPr/>
            </a:pPr>
            <a:r>
              <a:rPr lang="en-US" b="1" dirty="0" smtClean="0"/>
              <a:t>    </a:t>
            </a:r>
            <a:r>
              <a:rPr lang="en-US" b="1" dirty="0" smtClean="0">
                <a:solidFill>
                  <a:schemeClr val="bg1"/>
                </a:solidFill>
              </a:rPr>
              <a:t>Approach</a:t>
            </a:r>
            <a:endParaRPr lang="en-US" sz="3200" b="1" dirty="0" smtClean="0">
              <a:solidFill>
                <a:schemeClr val="bg1"/>
              </a:solidFill>
            </a:endParaRPr>
          </a:p>
        </p:txBody>
      </p:sp>
      <p:sp>
        <p:nvSpPr>
          <p:cNvPr id="4099" name="Content Placeholder 3"/>
          <p:cNvSpPr>
            <a:spLocks noGrp="1"/>
          </p:cNvSpPr>
          <p:nvPr>
            <p:ph sz="quarter" idx="1"/>
          </p:nvPr>
        </p:nvSpPr>
        <p:spPr>
          <a:xfrm>
            <a:off x="381000" y="1066800"/>
            <a:ext cx="8534400" cy="5410200"/>
          </a:xfrm>
        </p:spPr>
        <p:txBody>
          <a:bodyPr/>
          <a:lstStyle/>
          <a:p>
            <a:pPr marL="236538" indent="-236538">
              <a:spcBef>
                <a:spcPct val="50000"/>
              </a:spcBef>
              <a:buNone/>
              <a:defRPr/>
            </a:pPr>
            <a:r>
              <a:rPr lang="en-US" sz="2400" dirty="0" smtClean="0"/>
              <a:t>The aim of the provision of supportive services is to rapidly transition to stable housing. In doing so, Grantees are expected to leverage supportive services grant. </a:t>
            </a:r>
          </a:p>
          <a:p>
            <a:pPr marL="236538" indent="-236538">
              <a:spcBef>
                <a:spcPct val="50000"/>
              </a:spcBef>
              <a:buNone/>
              <a:defRPr/>
            </a:pPr>
            <a:endParaRPr lang="en-US" sz="2400" dirty="0" smtClean="0"/>
          </a:p>
          <a:p>
            <a:pPr>
              <a:defRPr/>
            </a:pPr>
            <a:r>
              <a:rPr lang="en-US" sz="2400" dirty="0" smtClean="0">
                <a:solidFill>
                  <a:schemeClr val="tx1"/>
                </a:solidFill>
              </a:rPr>
              <a:t>Grantees are encouraged to establish relationships with the local community’s Continuum of Care.</a:t>
            </a:r>
          </a:p>
          <a:p>
            <a:pPr>
              <a:defRPr/>
            </a:pPr>
            <a:r>
              <a:rPr lang="en-US" sz="2400" dirty="0" smtClean="0">
                <a:solidFill>
                  <a:schemeClr val="tx1"/>
                </a:solidFill>
              </a:rPr>
              <a:t>VA staff are encouraged to establish relationships with SSVF Grantees.</a:t>
            </a:r>
          </a:p>
          <a:p>
            <a:pPr>
              <a:defRPr/>
            </a:pPr>
            <a:r>
              <a:rPr lang="en-US" sz="2400" dirty="0" smtClean="0">
                <a:solidFill>
                  <a:schemeClr val="tx1"/>
                </a:solidFill>
              </a:rPr>
              <a:t>SSVF Regional Coordinators will liaison with Grantees and VA staff to develop a community network for information and referral.</a:t>
            </a:r>
          </a:p>
          <a:p>
            <a:pPr>
              <a:defRPr/>
            </a:pPr>
            <a:endParaRPr lang="en-US" sz="2400" dirty="0" smtClean="0">
              <a:solidFill>
                <a:schemeClr val="tx1"/>
              </a:solidFill>
            </a:endParaRPr>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3505200" y="0"/>
            <a:ext cx="5638800" cy="914400"/>
          </a:xfrm>
          <a:noFill/>
        </p:spPr>
        <p:txBody>
          <a:bodyPr/>
          <a:lstStyle/>
          <a:p>
            <a:pPr algn="r" eaLnBrk="1" hangingPunct="1">
              <a:defRPr/>
            </a:pPr>
            <a:r>
              <a:rPr lang="en-US" b="1" dirty="0" smtClean="0">
                <a:solidFill>
                  <a:schemeClr val="bg1"/>
                </a:solidFill>
              </a:rPr>
              <a:t>    Risk Factors</a:t>
            </a:r>
            <a:endParaRPr lang="en-US" sz="3200" b="1" dirty="0" smtClean="0">
              <a:solidFill>
                <a:schemeClr val="bg1"/>
              </a:solidFill>
            </a:endParaRPr>
          </a:p>
        </p:txBody>
      </p:sp>
      <p:sp>
        <p:nvSpPr>
          <p:cNvPr id="15363" name="Content Placeholder 3"/>
          <p:cNvSpPr>
            <a:spLocks noGrp="1"/>
          </p:cNvSpPr>
          <p:nvPr>
            <p:ph sz="quarter" idx="1"/>
          </p:nvPr>
        </p:nvSpPr>
        <p:spPr>
          <a:xfrm>
            <a:off x="381000" y="1066800"/>
            <a:ext cx="8534400" cy="5410200"/>
          </a:xfrm>
        </p:spPr>
        <p:txBody>
          <a:bodyPr/>
          <a:lstStyle/>
          <a:p>
            <a:endParaRPr lang="en-US" sz="2000" dirty="0" smtClean="0"/>
          </a:p>
          <a:p>
            <a:r>
              <a:rPr lang="en-US" sz="2400" dirty="0" smtClean="0"/>
              <a:t>Eviction</a:t>
            </a:r>
          </a:p>
          <a:p>
            <a:r>
              <a:rPr lang="en-US" sz="2400" dirty="0" smtClean="0"/>
              <a:t>Discharge institution (including prisons, mental health institutions, hospitals);</a:t>
            </a:r>
          </a:p>
          <a:p>
            <a:r>
              <a:rPr lang="en-US" sz="2400" dirty="0" smtClean="0"/>
              <a:t>Residing in housing not meant for human habitation;</a:t>
            </a:r>
          </a:p>
          <a:p>
            <a:r>
              <a:rPr lang="en-US" sz="2400" dirty="0" smtClean="0"/>
              <a:t>Sudden and significant loss of income;</a:t>
            </a:r>
          </a:p>
          <a:p>
            <a:r>
              <a:rPr lang="en-US" sz="2400" dirty="0" smtClean="0"/>
              <a:t>Sudden and significant increase in utility costs;</a:t>
            </a:r>
          </a:p>
          <a:p>
            <a:r>
              <a:rPr lang="en-US" sz="2400" dirty="0" smtClean="0"/>
              <a:t>Mental health and substance use issues;</a:t>
            </a:r>
          </a:p>
          <a:p>
            <a:r>
              <a:rPr lang="en-US" sz="2400" dirty="0" smtClean="0"/>
              <a:t>Physical disabilities and other chronic health issues, including HIV/ AIDS;</a:t>
            </a:r>
          </a:p>
          <a:p>
            <a:r>
              <a:rPr lang="en-US" sz="2400" dirty="0" smtClean="0"/>
              <a:t>Severe housing cost burden (&gt;50% of housing costs);</a:t>
            </a:r>
          </a:p>
          <a:p>
            <a:r>
              <a:rPr lang="en-US" sz="2400" dirty="0" smtClean="0"/>
              <a:t>Experience of homelessness in last 12 months;</a:t>
            </a:r>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3"/>
          <p:cNvSpPr>
            <a:spLocks noGrp="1"/>
          </p:cNvSpPr>
          <p:nvPr>
            <p:ph type="title"/>
          </p:nvPr>
        </p:nvSpPr>
        <p:spPr>
          <a:xfrm>
            <a:off x="3505200" y="0"/>
            <a:ext cx="5638800" cy="914400"/>
          </a:xfrm>
          <a:noFill/>
        </p:spPr>
        <p:txBody>
          <a:bodyPr/>
          <a:lstStyle/>
          <a:p>
            <a:pPr algn="r" eaLnBrk="1" hangingPunct="1">
              <a:defRPr/>
            </a:pPr>
            <a:r>
              <a:rPr lang="en-US" b="1" dirty="0" smtClean="0">
                <a:solidFill>
                  <a:schemeClr val="bg1"/>
                </a:solidFill>
              </a:rPr>
              <a:t>    Risk Factors</a:t>
            </a:r>
            <a:endParaRPr lang="en-US" sz="3200" b="1" dirty="0" smtClean="0">
              <a:solidFill>
                <a:schemeClr val="bg1"/>
              </a:solidFill>
            </a:endParaRPr>
          </a:p>
        </p:txBody>
      </p:sp>
      <p:sp>
        <p:nvSpPr>
          <p:cNvPr id="16387" name="Content Placeholder 3"/>
          <p:cNvSpPr>
            <a:spLocks noGrp="1"/>
          </p:cNvSpPr>
          <p:nvPr>
            <p:ph sz="quarter" idx="1"/>
          </p:nvPr>
        </p:nvSpPr>
        <p:spPr>
          <a:xfrm>
            <a:off x="381000" y="1066800"/>
            <a:ext cx="8534400" cy="5410200"/>
          </a:xfrm>
        </p:spPr>
        <p:txBody>
          <a:bodyPr/>
          <a:lstStyle/>
          <a:p>
            <a:r>
              <a:rPr lang="en-US" sz="2400" dirty="0" smtClean="0"/>
              <a:t>Young head of household:</a:t>
            </a:r>
          </a:p>
          <a:p>
            <a:r>
              <a:rPr lang="en-US" sz="2400" dirty="0" smtClean="0"/>
              <a:t>Involvement with child welfare, including foster care;</a:t>
            </a:r>
          </a:p>
          <a:p>
            <a:r>
              <a:rPr lang="en-US" sz="2400" dirty="0" smtClean="0"/>
              <a:t>Pending foreclosure of rental housing;</a:t>
            </a:r>
          </a:p>
          <a:p>
            <a:r>
              <a:rPr lang="en-US" sz="2400" dirty="0" smtClean="0"/>
              <a:t>Extremely low income (&lt;30% AMI);</a:t>
            </a:r>
          </a:p>
          <a:p>
            <a:r>
              <a:rPr lang="en-US" sz="2400" dirty="0" smtClean="0"/>
              <a:t>High overcrowding;</a:t>
            </a:r>
          </a:p>
          <a:p>
            <a:r>
              <a:rPr lang="en-US" sz="2400" dirty="0" smtClean="0"/>
              <a:t>Past institutional care;</a:t>
            </a:r>
          </a:p>
          <a:p>
            <a:r>
              <a:rPr lang="en-US" sz="2400" dirty="0" smtClean="0"/>
              <a:t>Recent traumatic life event or recent health crisis that prevented the household from meeting its financial responsibilities;</a:t>
            </a:r>
          </a:p>
          <a:p>
            <a:r>
              <a:rPr lang="en-US" sz="2400" dirty="0" smtClean="0"/>
              <a:t>Credit problems that preclude obtaining of housing; or</a:t>
            </a:r>
          </a:p>
          <a:p>
            <a:r>
              <a:rPr lang="en-US" sz="2400" dirty="0" smtClean="0"/>
              <a:t>Significant amount of medical debt.</a:t>
            </a:r>
          </a:p>
        </p:txBody>
      </p:sp>
      <p:sp>
        <p:nvSpPr>
          <p:cNvPr id="4" name="Slide Number Placeholder 3"/>
          <p:cNvSpPr>
            <a:spLocks noGrp="1"/>
          </p:cNvSpPr>
          <p:nvPr>
            <p:ph type="sldNum" sz="quarter" idx="11"/>
          </p:nvPr>
        </p:nvSpPr>
        <p:spPr/>
        <p:txBody>
          <a:bodyPr/>
          <a:lstStyle/>
          <a:p>
            <a:pPr>
              <a:defRPr/>
            </a:pPr>
            <a:fld id="{43A38DE6-2BD5-4EED-9F4E-7915FEC3C591}" type="slidenum">
              <a:rPr lang="en-US" smtClean="0"/>
              <a:pPr>
                <a:defRPr/>
              </a:pPr>
              <a:t>15</a:t>
            </a:fld>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1"/>
          </p:nvPr>
        </p:nvSpPr>
        <p:spPr>
          <a:noFill/>
        </p:spPr>
        <p:txBody>
          <a:bodyPr/>
          <a:lstStyle/>
          <a:p>
            <a:fld id="{ED93D917-EE34-453E-A18B-754FF90A866B}" type="slidenum">
              <a:rPr lang="en-US" smtClean="0"/>
              <a:pPr/>
              <a:t>16</a:t>
            </a:fld>
            <a:endParaRPr lang="en-US" smtClean="0"/>
          </a:p>
        </p:txBody>
      </p:sp>
      <p:graphicFrame>
        <p:nvGraphicFramePr>
          <p:cNvPr id="1231874" name="Group 2"/>
          <p:cNvGraphicFramePr>
            <a:graphicFrameLocks noGrp="1"/>
          </p:cNvGraphicFramePr>
          <p:nvPr>
            <p:ph/>
          </p:nvPr>
        </p:nvGraphicFramePr>
        <p:xfrm>
          <a:off x="1276350" y="4267200"/>
          <a:ext cx="7772400" cy="990600"/>
        </p:xfrm>
        <a:graphic>
          <a:graphicData uri="http://schemas.openxmlformats.org/drawingml/2006/table">
            <a:tbl>
              <a:tblPr/>
              <a:tblGrid>
                <a:gridCol w="4057650"/>
                <a:gridCol w="3714750"/>
              </a:tblGrid>
              <a:tr h="990600">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smtClean="0">
                        <a:ln>
                          <a:noFill/>
                        </a:ln>
                        <a:solidFill>
                          <a:schemeClr val="tx1"/>
                        </a:solidFill>
                        <a:effectLst/>
                        <a:latin typeface="AvantGarde" pitchFamily="34" charset="0"/>
                      </a:endParaRPr>
                    </a:p>
                  </a:txBody>
                  <a:tcPr horzOverflow="overflow">
                    <a:lnL cap="flat">
                      <a:noFill/>
                    </a:lnL>
                    <a:lnR>
                      <a:noFill/>
                    </a:lnR>
                    <a:lnT cap="flat">
                      <a:noFill/>
                    </a:lnT>
                    <a:lnB cap="flat">
                      <a:noFill/>
                    </a:lnB>
                    <a:lnTlToBr>
                      <a:noFill/>
                    </a:lnTlToBr>
                    <a:lnBlToTr>
                      <a:noFill/>
                    </a:lnBlToTr>
                    <a:noFill/>
                  </a:tcPr>
                </a:tc>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smtClean="0">
                        <a:ln>
                          <a:noFill/>
                        </a:ln>
                        <a:solidFill>
                          <a:schemeClr val="tx1"/>
                        </a:solidFill>
                        <a:effectLst/>
                        <a:latin typeface="AvantGarde" pitchFamily="34" charset="0"/>
                      </a:endParaRPr>
                    </a:p>
                  </a:txBody>
                  <a:tcPr horzOverflow="overflow">
                    <a:lnL>
                      <a:noFill/>
                    </a:lnL>
                    <a:lnR cap="flat">
                      <a:noFill/>
                    </a:lnR>
                    <a:lnT cap="flat">
                      <a:noFill/>
                    </a:lnT>
                    <a:lnB cap="flat">
                      <a:noFill/>
                    </a:lnB>
                    <a:lnTlToBr>
                      <a:noFill/>
                    </a:lnTlToBr>
                    <a:lnBlToTr>
                      <a:noFill/>
                    </a:lnBlToTr>
                    <a:noFill/>
                  </a:tcPr>
                </a:tc>
              </a:tr>
            </a:tbl>
          </a:graphicData>
        </a:graphic>
      </p:graphicFrame>
      <p:sp>
        <p:nvSpPr>
          <p:cNvPr id="17414" name="Rectangle 11"/>
          <p:cNvSpPr>
            <a:spLocks noChangeArrowheads="1"/>
          </p:cNvSpPr>
          <p:nvPr/>
        </p:nvSpPr>
        <p:spPr bwMode="auto">
          <a:xfrm>
            <a:off x="152400" y="1143000"/>
            <a:ext cx="8686800" cy="5508625"/>
          </a:xfrm>
          <a:prstGeom prst="rect">
            <a:avLst/>
          </a:prstGeom>
          <a:noFill/>
          <a:ln w="25400">
            <a:noFill/>
            <a:miter lim="800000"/>
            <a:headEnd/>
            <a:tailEnd type="none" w="lg" len="lg"/>
          </a:ln>
        </p:spPr>
        <p:txBody>
          <a:bodyPr>
            <a:spAutoFit/>
          </a:bodyPr>
          <a:lstStyle/>
          <a:p>
            <a:pPr marL="236538" indent="-236538"/>
            <a:r>
              <a:rPr lang="en-US" dirty="0">
                <a:solidFill>
                  <a:srgbClr val="0000FF"/>
                </a:solidFill>
                <a:latin typeface="AvantGarde" pitchFamily="34" charset="0"/>
              </a:rPr>
              <a:t>How SSVF Complements Other Programs</a:t>
            </a:r>
          </a:p>
          <a:p>
            <a:pPr marL="236538" indent="-236538"/>
            <a:endParaRPr lang="en-US" b="0" dirty="0">
              <a:latin typeface="AvantGarde" pitchFamily="34" charset="0"/>
            </a:endParaRPr>
          </a:p>
          <a:p>
            <a:pPr marL="236538" indent="-236538">
              <a:buFontTx/>
              <a:buChar char="•"/>
            </a:pPr>
            <a:r>
              <a:rPr lang="en-US" b="0" dirty="0">
                <a:latin typeface="AvantGarde" pitchFamily="34" charset="0"/>
              </a:rPr>
              <a:t>A services “bridge”/enhancement to permanent supportive housing (e.g. in conjunction with the HUD-VASH Program)</a:t>
            </a:r>
          </a:p>
          <a:p>
            <a:pPr marL="236538" indent="-236538">
              <a:buFontTx/>
              <a:buChar char="•"/>
            </a:pPr>
            <a:endParaRPr lang="en-US" b="0" dirty="0">
              <a:latin typeface="AvantGarde" pitchFamily="34" charset="0"/>
            </a:endParaRPr>
          </a:p>
          <a:p>
            <a:pPr marL="236538" indent="-236538">
              <a:buFontTx/>
              <a:buChar char="•"/>
            </a:pPr>
            <a:r>
              <a:rPr lang="en-US" b="0" dirty="0">
                <a:latin typeface="AvantGarde" pitchFamily="34" charset="0"/>
              </a:rPr>
              <a:t>A stand-alone, short-term, intensive case management model  (e.g. in conjunction with a program using a critical time intervention model)</a:t>
            </a:r>
          </a:p>
          <a:p>
            <a:pPr marL="236538" indent="-236538">
              <a:buFontTx/>
              <a:buChar char="•"/>
            </a:pPr>
            <a:endParaRPr lang="en-US" b="0" dirty="0">
              <a:latin typeface="AvantGarde" pitchFamily="34" charset="0"/>
            </a:endParaRPr>
          </a:p>
          <a:p>
            <a:pPr marL="236538" indent="-236538">
              <a:buFontTx/>
              <a:buChar char="•"/>
            </a:pPr>
            <a:r>
              <a:rPr lang="en-US" b="0" dirty="0">
                <a:latin typeface="AvantGarde" pitchFamily="34" charset="0"/>
              </a:rPr>
              <a:t>A homelessness, eviction, or housing crisis prevention program (e.g. in conjunction with a program such as HUD’s Homelessness Prevention and Rapid Re-Housing Program (HPRP)</a:t>
            </a:r>
          </a:p>
          <a:p>
            <a:pPr marL="236538" indent="-236538"/>
            <a:endParaRPr lang="en-US" sz="2000" b="0" dirty="0">
              <a:latin typeface="AvantGarde" pitchFamily="34" charset="0"/>
            </a:endParaRPr>
          </a:p>
          <a:p>
            <a:pPr marL="236538" indent="-236538"/>
            <a:r>
              <a:rPr lang="en-US" sz="2000" b="0" dirty="0">
                <a:latin typeface="AvantGarde" pitchFamily="34" charset="0"/>
              </a:rPr>
              <a:t> </a:t>
            </a:r>
          </a:p>
        </p:txBody>
      </p:sp>
      <p:sp>
        <p:nvSpPr>
          <p:cNvPr id="1231885" name="Rectangle 13"/>
          <p:cNvSpPr>
            <a:spLocks noChangeArrowheads="1"/>
          </p:cNvSpPr>
          <p:nvPr/>
        </p:nvSpPr>
        <p:spPr bwMode="auto">
          <a:xfrm>
            <a:off x="2819400" y="0"/>
            <a:ext cx="6324600" cy="990600"/>
          </a:xfrm>
          <a:prstGeom prst="rect">
            <a:avLst/>
          </a:prstGeom>
          <a:noFill/>
          <a:ln w="9525">
            <a:noFill/>
            <a:miter lim="800000"/>
            <a:headEnd/>
            <a:tailEnd/>
          </a:ln>
          <a:effectLst/>
        </p:spPr>
        <p:txBody>
          <a:bodyPr lIns="91427" tIns="45713" rIns="91427" bIns="45713" anchor="ctr"/>
          <a:lstStyle/>
          <a:p>
            <a:pPr algn="r">
              <a:defRPr/>
            </a:pPr>
            <a:r>
              <a:rPr lang="en-US" sz="3000" i="1" dirty="0" smtClean="0">
                <a:solidFill>
                  <a:schemeClr val="bg1"/>
                </a:solidFill>
                <a:effectLst>
                  <a:outerShdw blurRad="38100" dist="38100" dir="2700000" algn="tl">
                    <a:srgbClr val="C0C0C0"/>
                  </a:outerShdw>
                </a:effectLst>
                <a:latin typeface="AvantGarde" pitchFamily="34" charset="0"/>
              </a:rPr>
              <a:t>Integrating SSVF into </a:t>
            </a:r>
          </a:p>
          <a:p>
            <a:pPr algn="r">
              <a:defRPr/>
            </a:pPr>
            <a:r>
              <a:rPr lang="en-US" sz="3000" i="1" dirty="0" smtClean="0">
                <a:solidFill>
                  <a:schemeClr val="bg1"/>
                </a:solidFill>
                <a:effectLst>
                  <a:outerShdw blurRad="38100" dist="38100" dir="2700000" algn="tl">
                    <a:srgbClr val="C0C0C0"/>
                  </a:outerShdw>
                </a:effectLst>
                <a:latin typeface="AvantGarde" pitchFamily="34" charset="0"/>
              </a:rPr>
              <a:t>VA and Community</a:t>
            </a:r>
            <a:endParaRPr lang="en-US" sz="2000" i="1" dirty="0">
              <a:solidFill>
                <a:schemeClr val="bg1"/>
              </a:solidFill>
              <a:effectLst>
                <a:outerShdw blurRad="38100" dist="38100" dir="2700000" algn="tl">
                  <a:srgbClr val="C0C0C0"/>
                </a:outerShdw>
              </a:effectLst>
              <a:latin typeface="AvantGarde"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p:spPr>
        <p:txBody>
          <a:bodyPr/>
          <a:lstStyle/>
          <a:p>
            <a:fld id="{82D774FA-1DBC-491C-9F5E-8A7693EADED1}" type="slidenum">
              <a:rPr lang="en-US" smtClean="0"/>
              <a:pPr/>
              <a:t>17</a:t>
            </a:fld>
            <a:endParaRPr lang="en-US" smtClean="0"/>
          </a:p>
        </p:txBody>
      </p:sp>
      <p:sp>
        <p:nvSpPr>
          <p:cNvPr id="1244162" name="Rectangle 2"/>
          <p:cNvSpPr>
            <a:spLocks noChangeArrowheads="1"/>
          </p:cNvSpPr>
          <p:nvPr/>
        </p:nvSpPr>
        <p:spPr bwMode="auto">
          <a:xfrm>
            <a:off x="3657600" y="0"/>
            <a:ext cx="5486400" cy="990600"/>
          </a:xfrm>
          <a:prstGeom prst="rect">
            <a:avLst/>
          </a:prstGeom>
          <a:noFill/>
          <a:ln w="9525">
            <a:noFill/>
            <a:miter lim="800000"/>
            <a:headEnd/>
            <a:tailEnd/>
          </a:ln>
          <a:effectLst/>
        </p:spPr>
        <p:txBody>
          <a:bodyPr lIns="91427" tIns="45713" rIns="91427" bIns="45713" anchor="ctr"/>
          <a:lstStyle/>
          <a:p>
            <a:pPr algn="r">
              <a:defRPr/>
            </a:pPr>
            <a:r>
              <a:rPr lang="en-US" sz="3000" i="1" dirty="0">
                <a:solidFill>
                  <a:schemeClr val="bg1"/>
                </a:solidFill>
                <a:effectLst>
                  <a:outerShdw blurRad="38100" dist="38100" dir="2700000" algn="tl">
                    <a:srgbClr val="C0C0C0"/>
                  </a:outerShdw>
                </a:effectLst>
                <a:latin typeface="AvantGarde" pitchFamily="34" charset="0"/>
              </a:rPr>
              <a:t>For More Information</a:t>
            </a:r>
          </a:p>
        </p:txBody>
      </p:sp>
      <p:sp>
        <p:nvSpPr>
          <p:cNvPr id="18436" name="Text Box 3"/>
          <p:cNvSpPr txBox="1">
            <a:spLocks noChangeArrowheads="1"/>
          </p:cNvSpPr>
          <p:nvPr/>
        </p:nvSpPr>
        <p:spPr bwMode="auto">
          <a:xfrm>
            <a:off x="0" y="1600200"/>
            <a:ext cx="9144000" cy="3540125"/>
          </a:xfrm>
          <a:prstGeom prst="rect">
            <a:avLst/>
          </a:prstGeom>
          <a:noFill/>
          <a:ln w="25400">
            <a:noFill/>
            <a:miter lim="800000"/>
            <a:headEnd/>
            <a:tailEnd type="none" w="lg" len="lg"/>
          </a:ln>
        </p:spPr>
        <p:txBody>
          <a:bodyPr>
            <a:spAutoFit/>
          </a:bodyPr>
          <a:lstStyle/>
          <a:p>
            <a:pPr algn="ctr">
              <a:spcBef>
                <a:spcPct val="50000"/>
              </a:spcBef>
            </a:pPr>
            <a:endParaRPr lang="en-US" sz="2800">
              <a:latin typeface="AvantGarde" pitchFamily="34" charset="0"/>
            </a:endParaRPr>
          </a:p>
          <a:p>
            <a:pPr algn="ctr">
              <a:spcBef>
                <a:spcPct val="50000"/>
              </a:spcBef>
            </a:pPr>
            <a:r>
              <a:rPr lang="en-US" sz="2800">
                <a:latin typeface="AvantGarde" pitchFamily="34" charset="0"/>
              </a:rPr>
              <a:t>For more information about the SSVF Program, please visit:</a:t>
            </a:r>
          </a:p>
          <a:p>
            <a:pPr algn="ctr">
              <a:spcBef>
                <a:spcPct val="50000"/>
              </a:spcBef>
            </a:pPr>
            <a:r>
              <a:rPr lang="en-US" sz="2800">
                <a:latin typeface="AvantGarde" pitchFamily="34" charset="0"/>
                <a:hlinkClick r:id="rId3"/>
              </a:rPr>
              <a:t>http://www.va.gov/homeless/SSVF.asp</a:t>
            </a:r>
            <a:r>
              <a:rPr lang="en-US" sz="2800">
                <a:latin typeface="AvantGarde" pitchFamily="34" charset="0"/>
              </a:rPr>
              <a:t> </a:t>
            </a:r>
          </a:p>
          <a:p>
            <a:pPr algn="ctr">
              <a:spcBef>
                <a:spcPct val="50000"/>
              </a:spcBef>
            </a:pPr>
            <a:r>
              <a:rPr lang="en-US" sz="2800"/>
              <a:t>Email: </a:t>
            </a:r>
            <a:r>
              <a:rPr lang="en-US" sz="2800">
                <a:hlinkClick r:id="rId4"/>
              </a:rPr>
              <a:t>SSVF@va.gov</a:t>
            </a:r>
            <a:r>
              <a:rPr lang="en-US" sz="2800"/>
              <a:t> or </a:t>
            </a:r>
          </a:p>
          <a:p>
            <a:pPr algn="ctr">
              <a:spcBef>
                <a:spcPct val="50000"/>
              </a:spcBef>
            </a:pPr>
            <a:r>
              <a:rPr lang="en-US" sz="2800"/>
              <a:t>Call (toll-free) 1-877-737–0111</a:t>
            </a:r>
            <a:endParaRPr lang="en-US" sz="2800">
              <a:latin typeface="AvantGarde"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Default Design">
      <a:majorFont>
        <a:latin typeface="AvantGarde"/>
        <a:ea typeface=""/>
        <a:cs typeface=""/>
      </a:majorFont>
      <a:minorFont>
        <a:latin typeface="AvantGard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triangle" w="lg" len="lg"/>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triangle" w="lg" len="lg"/>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880</TotalTime>
  <Words>1968</Words>
  <Application>Microsoft Office PowerPoint</Application>
  <PresentationFormat>On-screen Show (4:3)</PresentationFormat>
  <Paragraphs>206</Paragraphs>
  <Slides>17</Slides>
  <Notes>12</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Default Design</vt:lpstr>
      <vt:lpstr> </vt:lpstr>
      <vt:lpstr>Slide 2</vt:lpstr>
      <vt:lpstr>    SSVF  Grants:  What They Are...</vt:lpstr>
      <vt:lpstr>Slide 4</vt:lpstr>
      <vt:lpstr>    Key Terms/Definitions</vt:lpstr>
      <vt:lpstr>    Key Terms/Definitions</vt:lpstr>
      <vt:lpstr>Slide 7</vt:lpstr>
      <vt:lpstr>Slide 8</vt:lpstr>
      <vt:lpstr>    Requirements</vt:lpstr>
      <vt:lpstr>    Requirements</vt:lpstr>
      <vt:lpstr>    What SSVF  Is Not</vt:lpstr>
      <vt:lpstr>But For…</vt:lpstr>
      <vt:lpstr>    Approach</vt:lpstr>
      <vt:lpstr>    Risk Factors</vt:lpstr>
      <vt:lpstr>    Risk Factors</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cp:lastModifiedBy>vhaphidonet</cp:lastModifiedBy>
  <cp:revision>88</cp:revision>
  <dcterms:modified xsi:type="dcterms:W3CDTF">2011-08-19T19:23:01Z</dcterms:modified>
</cp:coreProperties>
</file>