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319" r:id="rId9"/>
    <p:sldId id="278" r:id="rId10"/>
    <p:sldId id="272" r:id="rId11"/>
    <p:sldId id="274" r:id="rId12"/>
    <p:sldId id="275" r:id="rId13"/>
    <p:sldId id="277" r:id="rId14"/>
    <p:sldId id="279" r:id="rId15"/>
    <p:sldId id="280" r:id="rId16"/>
    <p:sldId id="283" r:id="rId17"/>
    <p:sldId id="285" r:id="rId18"/>
    <p:sldId id="259" r:id="rId19"/>
    <p:sldId id="260" r:id="rId20"/>
    <p:sldId id="261" r:id="rId21"/>
    <p:sldId id="262" r:id="rId22"/>
    <p:sldId id="263" r:id="rId23"/>
    <p:sldId id="290" r:id="rId24"/>
    <p:sldId id="288" r:id="rId25"/>
    <p:sldId id="289" r:id="rId26"/>
    <p:sldId id="291" r:id="rId27"/>
    <p:sldId id="292" r:id="rId28"/>
    <p:sldId id="294" r:id="rId29"/>
    <p:sldId id="293" r:id="rId30"/>
    <p:sldId id="295" r:id="rId31"/>
    <p:sldId id="296" r:id="rId32"/>
    <p:sldId id="298" r:id="rId33"/>
    <p:sldId id="297" r:id="rId34"/>
    <p:sldId id="299" r:id="rId35"/>
    <p:sldId id="303" r:id="rId36"/>
    <p:sldId id="302" r:id="rId37"/>
    <p:sldId id="304" r:id="rId38"/>
    <p:sldId id="307" r:id="rId39"/>
    <p:sldId id="309" r:id="rId40"/>
    <p:sldId id="320" r:id="rId41"/>
    <p:sldId id="308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21" r:id="rId51"/>
    <p:sldId id="318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C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b="1" dirty="0"/>
              <a:t>Profile of </a:t>
            </a:r>
            <a:r>
              <a:rPr lang="en-US" b="1" dirty="0" smtClean="0"/>
              <a:t>Personal Meaning</a:t>
            </a:r>
          </a:p>
          <a:p>
            <a:pPr>
              <a:defRPr/>
            </a:pPr>
            <a:endParaRPr lang="en-US" b="1" dirty="0" smtClean="0"/>
          </a:p>
          <a:p>
            <a:pPr>
              <a:defRPr/>
            </a:pPr>
            <a:endParaRPr lang="en-US" b="1" dirty="0"/>
          </a:p>
        </c:rich>
      </c:tx>
      <c:layout>
        <c:manualLayout>
          <c:xMode val="edge"/>
          <c:yMode val="edge"/>
          <c:x val="0.23635794711328834"/>
          <c:y val="3.701582756700867E-2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Profile of personal meaning</c:v>
                </c:pt>
              </c:strCache>
            </c:strRef>
          </c:tx>
          <c:invertIfNegative val="0"/>
          <c:cat>
            <c:strRef>
              <c:f>Sheet1!$A$2:$A$9</c:f>
              <c:strCache>
                <c:ptCount val="8"/>
                <c:pt idx="0">
                  <c:v>Relationship</c:v>
                </c:pt>
                <c:pt idx="1">
                  <c:v>Fair treatment</c:v>
                </c:pt>
                <c:pt idx="2">
                  <c:v>Positive affect</c:v>
                </c:pt>
                <c:pt idx="3">
                  <c:v>Achievement</c:v>
                </c:pt>
                <c:pt idx="4">
                  <c:v>Intimacy</c:v>
                </c:pt>
                <c:pt idx="5">
                  <c:v>Self-acceptance</c:v>
                </c:pt>
                <c:pt idx="6">
                  <c:v>Self-transcendence</c:v>
                </c:pt>
                <c:pt idx="7">
                  <c:v>Religion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7.5</c:v>
                </c:pt>
                <c:pt idx="1">
                  <c:v>7.3</c:v>
                </c:pt>
                <c:pt idx="2">
                  <c:v>7.25</c:v>
                </c:pt>
                <c:pt idx="3">
                  <c:v>7.2</c:v>
                </c:pt>
                <c:pt idx="4">
                  <c:v>7</c:v>
                </c:pt>
                <c:pt idx="5">
                  <c:v>6.9</c:v>
                </c:pt>
                <c:pt idx="6">
                  <c:v>6.85</c:v>
                </c:pt>
                <c:pt idx="7">
                  <c:v>6.55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5402880"/>
        <c:axId val="35404416"/>
      </c:barChart>
      <c:catAx>
        <c:axId val="354028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5404416"/>
        <c:crosses val="autoZero"/>
        <c:auto val="1"/>
        <c:lblAlgn val="ctr"/>
        <c:lblOffset val="100"/>
        <c:noMultiLvlLbl val="0"/>
      </c:catAx>
      <c:valAx>
        <c:axId val="3540441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2029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CA"/>
                  <a:t>Mean Rating
</a:t>
                </a:r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nextTo"/>
        <c:crossAx val="3540288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029"/>
      </a:pPr>
      <a:endParaRPr lang="en-US"/>
    </a:p>
  </c:txPr>
  <c:externalData r:id="rId2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34D-4930-47FE-B9A8-337629D2350E}" type="datetimeFigureOut">
              <a:rPr lang="en-CA" smtClean="0"/>
              <a:t>08/10/2011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CF3818F-58C0-4EB8-90F2-88885C8CFE3C}" type="slidenum">
              <a:rPr lang="en-CA" smtClean="0"/>
              <a:t>‹#›</a:t>
            </a:fld>
            <a:endParaRPr lang="en-CA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34D-4930-47FE-B9A8-337629D2350E}" type="datetimeFigureOut">
              <a:rPr lang="en-CA" smtClean="0"/>
              <a:t>08/10/2011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818F-58C0-4EB8-90F2-88885C8CFE3C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34D-4930-47FE-B9A8-337629D2350E}" type="datetimeFigureOut">
              <a:rPr lang="en-CA" smtClean="0"/>
              <a:t>08/10/2011</a:t>
            </a:fld>
            <a:endParaRPr lang="en-CA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818F-58C0-4EB8-90F2-88885C8CFE3C}" type="slidenum">
              <a:rPr lang="en-CA" smtClean="0"/>
              <a:t>‹#›</a:t>
            </a:fld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34D-4930-47FE-B9A8-337629D2350E}" type="datetimeFigureOut">
              <a:rPr lang="en-CA" smtClean="0"/>
              <a:t>08/10/2011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818F-58C0-4EB8-90F2-88885C8CFE3C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34D-4930-47FE-B9A8-337629D2350E}" type="datetimeFigureOut">
              <a:rPr lang="en-CA" smtClean="0"/>
              <a:t>08/10/2011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818F-58C0-4EB8-90F2-88885C8CFE3C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34D-4930-47FE-B9A8-337629D2350E}" type="datetimeFigureOut">
              <a:rPr lang="en-CA" smtClean="0"/>
              <a:t>08/10/2011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818F-58C0-4EB8-90F2-88885C8CFE3C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34D-4930-47FE-B9A8-337629D2350E}" type="datetimeFigureOut">
              <a:rPr lang="en-CA" smtClean="0"/>
              <a:t>08/10/2011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818F-58C0-4EB8-90F2-88885C8CFE3C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34D-4930-47FE-B9A8-337629D2350E}" type="datetimeFigureOut">
              <a:rPr lang="en-CA" smtClean="0"/>
              <a:t>08/10/2011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818F-58C0-4EB8-90F2-88885C8CFE3C}" type="slidenum">
              <a:rPr lang="en-CA" smtClean="0"/>
              <a:t>‹#›</a:t>
            </a:fld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34D-4930-47FE-B9A8-337629D2350E}" type="datetimeFigureOut">
              <a:rPr lang="en-CA" smtClean="0"/>
              <a:t>08/10/2011</a:t>
            </a:fld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818F-58C0-4EB8-90F2-88885C8CFE3C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34D-4930-47FE-B9A8-337629D2350E}" type="datetimeFigureOut">
              <a:rPr lang="en-CA" smtClean="0"/>
              <a:t>08/10/2011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818F-58C0-4EB8-90F2-88885C8CFE3C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34D-4930-47FE-B9A8-337629D2350E}" type="datetimeFigureOut">
              <a:rPr lang="en-CA" smtClean="0"/>
              <a:t>08/10/2011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818F-58C0-4EB8-90F2-88885C8CFE3C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24B8334D-4930-47FE-B9A8-337629D2350E}" type="datetimeFigureOut">
              <a:rPr lang="en-CA" smtClean="0"/>
              <a:t>08/10/2011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CF3818F-58C0-4EB8-90F2-88885C8CFE3C}" type="slidenum">
              <a:rPr lang="en-CA" smtClean="0"/>
              <a:t>‹#›</a:t>
            </a:fld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 smtClean="0"/>
              <a:t>Pathways to Happiness and Flourishing</a:t>
            </a:r>
            <a:endParaRPr lang="en-CA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/>
              <a:t>Lesson 10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0159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Learning Objectives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916760"/>
          </a:xfrm>
        </p:spPr>
        <p:txBody>
          <a:bodyPr>
            <a:normAutofit/>
          </a:bodyPr>
          <a:lstStyle/>
          <a:p>
            <a:pPr marL="571500" lvl="0" indent="-457200">
              <a:buFont typeface="+mj-lt"/>
              <a:buAutoNum type="arabicPeriod"/>
            </a:pPr>
            <a:r>
              <a:rPr lang="en-US" sz="2800" dirty="0"/>
              <a:t>Gain a clear understanding of well-being.</a:t>
            </a:r>
            <a:endParaRPr lang="en-CA" sz="2800" dirty="0"/>
          </a:p>
          <a:p>
            <a:pPr marL="571500" lvl="0" indent="-457200">
              <a:buFont typeface="+mj-lt"/>
              <a:buAutoNum type="arabicPeriod"/>
            </a:pPr>
            <a:endParaRPr lang="en-US" sz="2800" dirty="0" smtClean="0"/>
          </a:p>
          <a:p>
            <a:pPr marL="571500" lvl="0" indent="-457200">
              <a:buFont typeface="+mj-lt"/>
              <a:buAutoNum type="arabicPeriod"/>
            </a:pPr>
            <a:r>
              <a:rPr lang="en-US" sz="2800" dirty="0" smtClean="0"/>
              <a:t>Identify </a:t>
            </a:r>
            <a:r>
              <a:rPr lang="en-US" sz="2800" dirty="0"/>
              <a:t>the pathways to </a:t>
            </a:r>
            <a:r>
              <a:rPr lang="en-US" sz="2800" dirty="0" smtClean="0"/>
              <a:t>flourishing</a:t>
            </a:r>
            <a:r>
              <a:rPr lang="en-US" sz="2800" dirty="0" smtClean="0"/>
              <a:t>.</a:t>
            </a:r>
            <a:endParaRPr lang="en-CA" sz="2800" dirty="0"/>
          </a:p>
          <a:p>
            <a:pPr marL="571500" lvl="0" indent="-457200">
              <a:buFont typeface="+mj-lt"/>
              <a:buAutoNum type="arabicPeriod"/>
            </a:pPr>
            <a:endParaRPr lang="en-US" sz="2800" dirty="0" smtClean="0"/>
          </a:p>
          <a:p>
            <a:pPr marL="571500" lvl="0" indent="-457200">
              <a:buFont typeface="+mj-lt"/>
              <a:buAutoNum type="arabicPeriod"/>
            </a:pPr>
            <a:r>
              <a:rPr lang="en-US" sz="2800" dirty="0" smtClean="0"/>
              <a:t>Highlight </a:t>
            </a:r>
            <a:r>
              <a:rPr lang="en-US" sz="2800" dirty="0"/>
              <a:t>important lessons learned in Part 1.</a:t>
            </a:r>
            <a:endParaRPr lang="en-CA" sz="2800" dirty="0"/>
          </a:p>
          <a:p>
            <a:pPr marL="571500" lvl="0" indent="-457200">
              <a:buFont typeface="+mj-lt"/>
              <a:buAutoNum type="arabicPeriod"/>
            </a:pPr>
            <a:endParaRPr lang="en-US" sz="2800" dirty="0" smtClean="0"/>
          </a:p>
          <a:p>
            <a:pPr marL="571500" lvl="0" indent="-457200">
              <a:buFont typeface="+mj-lt"/>
              <a:buAutoNum type="arabicPeriod"/>
            </a:pPr>
            <a:r>
              <a:rPr lang="en-US" sz="2800" dirty="0" smtClean="0"/>
              <a:t>Highlight </a:t>
            </a:r>
            <a:r>
              <a:rPr lang="en-US" sz="2800" dirty="0"/>
              <a:t>new lessons to be learned in Part 2</a:t>
            </a:r>
            <a:r>
              <a:rPr lang="en-US" sz="2800" dirty="0" smtClean="0"/>
              <a:t>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24365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A Message from Steve Jobs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CA" sz="2600" dirty="0" smtClean="0"/>
              <a:t>At the </a:t>
            </a:r>
            <a:r>
              <a:rPr lang="en-CA" sz="2600" dirty="0" smtClean="0"/>
              <a:t>2005 Stanford Commencement, </a:t>
            </a:r>
            <a:r>
              <a:rPr lang="en-CA" sz="2600" dirty="0" smtClean="0"/>
              <a:t>Steve Jobs</a:t>
            </a:r>
            <a:r>
              <a:rPr lang="en-CA" sz="2600" dirty="0" smtClean="0"/>
              <a:t> shared with us his philosophy of life:</a:t>
            </a:r>
          </a:p>
          <a:p>
            <a:pPr marL="114300" indent="0">
              <a:buNone/>
            </a:pPr>
            <a:endParaRPr lang="en-CA" sz="2600" dirty="0" smtClean="0"/>
          </a:p>
          <a:p>
            <a:pPr marL="114300" indent="0">
              <a:buNone/>
            </a:pPr>
            <a:r>
              <a:rPr lang="en-CA" sz="2600" dirty="0" smtClean="0"/>
              <a:t>“</a:t>
            </a:r>
            <a:r>
              <a:rPr lang="en-CA" sz="2600" dirty="0"/>
              <a:t>If today were the last day of my life, would I want to do what I am about to do today</a:t>
            </a:r>
            <a:r>
              <a:rPr lang="en-CA" sz="2600" dirty="0" smtClean="0"/>
              <a:t>?”</a:t>
            </a:r>
          </a:p>
          <a:p>
            <a:r>
              <a:rPr lang="en-CA" sz="2600" dirty="0" smtClean="0"/>
              <a:t>Death teaches us how to  live with a sense of urgency, passion</a:t>
            </a:r>
            <a:r>
              <a:rPr lang="en-CA" sz="2600" dirty="0" smtClean="0"/>
              <a:t> and purpose.</a:t>
            </a:r>
          </a:p>
          <a:p>
            <a:r>
              <a:rPr lang="en-CA" sz="2600" dirty="0" smtClean="0"/>
              <a:t>Follow your own heart, pursue your dream with courage and determination.  </a:t>
            </a:r>
          </a:p>
          <a:p>
            <a:endParaRPr lang="en-CA" sz="2600" dirty="0" smtClean="0"/>
          </a:p>
          <a:p>
            <a:endParaRPr lang="en-CA" sz="2600" dirty="0"/>
          </a:p>
          <a:p>
            <a:endParaRPr lang="en-CA" dirty="0" smtClean="0"/>
          </a:p>
          <a:p>
            <a:pPr marL="11430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573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The Purpose of M4L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772744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To </a:t>
            </a:r>
            <a:r>
              <a:rPr lang="en-US" sz="2800" dirty="0"/>
              <a:t>awaken people from their slumber and meaningless existence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To gain a better understanding of self, which is one’s worst enemy and biggest obstacle.</a:t>
            </a:r>
            <a:endParaRPr lang="en-CA" sz="2800" dirty="0"/>
          </a:p>
          <a:p>
            <a:pPr lvl="0"/>
            <a:r>
              <a:rPr lang="en-US" sz="2800" dirty="0"/>
              <a:t>To provide road signs to living a more </a:t>
            </a:r>
            <a:r>
              <a:rPr lang="en-US" sz="2800" dirty="0" smtClean="0"/>
              <a:t>worthy and rewarding </a:t>
            </a:r>
            <a:r>
              <a:rPr lang="en-US" sz="2800" dirty="0"/>
              <a:t>life.</a:t>
            </a:r>
            <a:endParaRPr lang="en-CA" sz="2800" dirty="0"/>
          </a:p>
          <a:p>
            <a:pPr lvl="0"/>
            <a:r>
              <a:rPr lang="en-US" sz="2800" dirty="0" smtClean="0"/>
              <a:t>To </a:t>
            </a:r>
            <a:r>
              <a:rPr lang="en-US" sz="2800" dirty="0"/>
              <a:t>fulfill one’s potential </a:t>
            </a:r>
            <a:r>
              <a:rPr lang="en-US" sz="2800" dirty="0" smtClean="0"/>
              <a:t>and calling.</a:t>
            </a:r>
          </a:p>
          <a:p>
            <a:pPr lvl="0"/>
            <a:r>
              <a:rPr lang="en-US" sz="2800" dirty="0" smtClean="0"/>
              <a:t>To learn how to flourish in spite of fate, circumstances and human foibles.</a:t>
            </a:r>
            <a:endParaRPr lang="en-CA" sz="2800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1123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What is the Good Life?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44752"/>
          </a:xfrm>
        </p:spPr>
        <p:txBody>
          <a:bodyPr>
            <a:normAutofit/>
          </a:bodyPr>
          <a:lstStyle/>
          <a:p>
            <a:pPr lvl="0"/>
            <a:r>
              <a:rPr lang="en-CA" sz="2800" dirty="0"/>
              <a:t>People have </a:t>
            </a:r>
            <a:r>
              <a:rPr lang="en-CA" sz="2800" dirty="0" smtClean="0"/>
              <a:t>very different </a:t>
            </a:r>
            <a:r>
              <a:rPr lang="en-CA" sz="2800" dirty="0"/>
              <a:t>ideas of what constitutes the good </a:t>
            </a:r>
            <a:r>
              <a:rPr lang="en-CA" sz="2800" dirty="0" smtClean="0"/>
              <a:t>life and how to flourish.</a:t>
            </a:r>
            <a:endParaRPr lang="en-CA" sz="2800" dirty="0" smtClean="0"/>
          </a:p>
          <a:p>
            <a:pPr lvl="0"/>
            <a:endParaRPr lang="en-CA" sz="2800" dirty="0"/>
          </a:p>
          <a:p>
            <a:pPr lvl="0"/>
            <a:r>
              <a:rPr lang="en-CA" sz="2800" dirty="0"/>
              <a:t>Wrong pursuits </a:t>
            </a:r>
            <a:r>
              <a:rPr lang="en-CA" sz="2800" dirty="0" smtClean="0"/>
              <a:t>lead </a:t>
            </a:r>
            <a:r>
              <a:rPr lang="en-CA" sz="2800" dirty="0"/>
              <a:t>to tragic consequences</a:t>
            </a:r>
            <a:r>
              <a:rPr lang="en-CA" sz="2800" dirty="0" smtClean="0"/>
              <a:t>.</a:t>
            </a:r>
          </a:p>
          <a:p>
            <a:pPr lvl="0"/>
            <a:endParaRPr lang="en-CA" sz="2800" dirty="0"/>
          </a:p>
          <a:p>
            <a:pPr lvl="0"/>
            <a:r>
              <a:rPr lang="en-CA" sz="2800" dirty="0"/>
              <a:t>Correct </a:t>
            </a:r>
            <a:r>
              <a:rPr lang="en-CA" sz="2800" dirty="0" smtClean="0"/>
              <a:t>pursuits </a:t>
            </a:r>
            <a:r>
              <a:rPr lang="en-CA" sz="2800" dirty="0"/>
              <a:t>lead to flourishing</a:t>
            </a:r>
            <a:r>
              <a:rPr lang="en-CA" sz="2800" dirty="0" smtClean="0"/>
              <a:t>.</a:t>
            </a:r>
          </a:p>
          <a:p>
            <a:pPr lvl="0"/>
            <a:endParaRPr lang="en-CA" sz="2800" dirty="0"/>
          </a:p>
          <a:p>
            <a:pPr lvl="0"/>
            <a:r>
              <a:rPr lang="en-CA" sz="2800" dirty="0"/>
              <a:t>Therefore, </a:t>
            </a:r>
            <a:r>
              <a:rPr lang="en-CA" sz="2800" i="1" dirty="0"/>
              <a:t>be careful what you dream for.</a:t>
            </a:r>
            <a:endParaRPr lang="en-CA" sz="2800" dirty="0"/>
          </a:p>
          <a:p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3977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sz="4000" dirty="0" smtClean="0"/>
              <a:t>A new vision for flourishing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lvl="0" indent="0">
              <a:buNone/>
            </a:pPr>
            <a:r>
              <a:rPr lang="en-CA" sz="2800" dirty="0" smtClean="0"/>
              <a:t> </a:t>
            </a:r>
          </a:p>
          <a:p>
            <a:pPr lvl="0"/>
            <a:r>
              <a:rPr lang="en-CA" sz="2800" dirty="0" smtClean="0"/>
              <a:t>The good life is not just about you– not just about your happiness and success.</a:t>
            </a:r>
          </a:p>
          <a:p>
            <a:pPr lvl="0"/>
            <a:endParaRPr lang="en-CA" sz="2800" dirty="0"/>
          </a:p>
          <a:p>
            <a:pPr lvl="0"/>
            <a:r>
              <a:rPr lang="en-CA" sz="2800" dirty="0" smtClean="0"/>
              <a:t>The </a:t>
            </a:r>
            <a:r>
              <a:rPr lang="en-CA" sz="2800" dirty="0"/>
              <a:t>whole is more than the sum of its parts</a:t>
            </a:r>
            <a:r>
              <a:rPr lang="en-CA" sz="2800" dirty="0" smtClean="0"/>
              <a:t>.</a:t>
            </a:r>
          </a:p>
          <a:p>
            <a:pPr lvl="0"/>
            <a:endParaRPr lang="en-CA" sz="2800" dirty="0"/>
          </a:p>
          <a:p>
            <a:pPr lvl="0"/>
            <a:r>
              <a:rPr lang="en-CA" sz="2800" dirty="0"/>
              <a:t>Good people + Good community + World peace = Good </a:t>
            </a:r>
            <a:r>
              <a:rPr lang="en-CA" sz="2800" dirty="0" smtClean="0"/>
              <a:t>life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713103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types of</a:t>
            </a:r>
            <a:r>
              <a:rPr lang="en-CA" sz="4000" dirty="0" smtClean="0"/>
              <a:t> </a:t>
            </a:r>
            <a:r>
              <a:rPr lang="en-CA" sz="4000" dirty="0" smtClean="0"/>
              <a:t>Well-Being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lvl="0" indent="0">
              <a:buNone/>
            </a:pPr>
            <a:r>
              <a:rPr lang="en-CA" sz="2800" dirty="0" smtClean="0"/>
              <a:t>The good life entails different types of well-being</a:t>
            </a:r>
            <a:endParaRPr lang="en-CA" sz="2800" dirty="0"/>
          </a:p>
          <a:p>
            <a:pPr marL="628650" lvl="0" indent="-514350">
              <a:buClr>
                <a:srgbClr val="93A299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564B3C"/>
                </a:solidFill>
              </a:rPr>
              <a:t>Psychological </a:t>
            </a:r>
            <a:r>
              <a:rPr lang="en-US" sz="2800" dirty="0" smtClean="0">
                <a:solidFill>
                  <a:srgbClr val="564B3C"/>
                </a:solidFill>
              </a:rPr>
              <a:t>well-being</a:t>
            </a:r>
            <a:endParaRPr lang="en-CA" sz="2800" dirty="0" smtClean="0">
              <a:solidFill>
                <a:srgbClr val="564B3C"/>
              </a:solidFill>
            </a:endParaRPr>
          </a:p>
          <a:p>
            <a:pPr marL="628650" lvl="0" indent="-514350">
              <a:buClr>
                <a:srgbClr val="93A299"/>
              </a:buClr>
              <a:buFont typeface="+mj-lt"/>
              <a:buAutoNum type="arabicPeriod"/>
            </a:pPr>
            <a:r>
              <a:rPr lang="en-CA" sz="2800" dirty="0" smtClean="0">
                <a:solidFill>
                  <a:srgbClr val="564B3C"/>
                </a:solidFill>
              </a:rPr>
              <a:t>Physical well-being</a:t>
            </a:r>
          </a:p>
          <a:p>
            <a:pPr marL="628650" lvl="0" indent="-514350">
              <a:buClr>
                <a:srgbClr val="93A299"/>
              </a:buClr>
              <a:buFont typeface="+mj-lt"/>
              <a:buAutoNum type="arabicPeriod"/>
            </a:pPr>
            <a:r>
              <a:rPr lang="en-US" sz="2800" dirty="0" smtClean="0"/>
              <a:t>Social/relational </a:t>
            </a:r>
            <a:r>
              <a:rPr lang="en-US" sz="2800" dirty="0"/>
              <a:t>well-being</a:t>
            </a:r>
            <a:endParaRPr lang="en-CA" sz="2800" dirty="0"/>
          </a:p>
          <a:p>
            <a:pPr marL="628650" lvl="0" indent="-514350">
              <a:buFont typeface="+mj-lt"/>
              <a:buAutoNum type="arabicPeriod"/>
            </a:pPr>
            <a:r>
              <a:rPr lang="en-US" sz="2800" dirty="0"/>
              <a:t>Spiritual well-being</a:t>
            </a:r>
            <a:endParaRPr lang="en-CA" sz="2800" dirty="0"/>
          </a:p>
          <a:p>
            <a:pPr marL="628650" lvl="0" indent="-514350">
              <a:buFont typeface="+mj-lt"/>
              <a:buAutoNum type="arabicPeriod"/>
            </a:pPr>
            <a:r>
              <a:rPr lang="en-US" sz="2800" dirty="0"/>
              <a:t>Existential </a:t>
            </a:r>
            <a:r>
              <a:rPr lang="en-US" sz="2800" dirty="0" smtClean="0"/>
              <a:t>well-being</a:t>
            </a:r>
          </a:p>
          <a:p>
            <a:pPr marL="628650" lvl="0" indent="-514350">
              <a:buFont typeface="+mj-lt"/>
              <a:buAutoNum type="arabicPeriod"/>
            </a:pPr>
            <a:r>
              <a:rPr lang="en-US" sz="2800" dirty="0" smtClean="0"/>
              <a:t>Financial well-being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808438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Psychological well-being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 smtClean="0"/>
              <a:t>Ryff</a:t>
            </a:r>
            <a:r>
              <a:rPr lang="en-CA" dirty="0" smtClean="0"/>
              <a:t> and Keyes (1995): Dimensions of psychological well-being</a:t>
            </a:r>
          </a:p>
          <a:p>
            <a:endParaRPr lang="en-CA" dirty="0" smtClean="0"/>
          </a:p>
          <a:p>
            <a:r>
              <a:rPr lang="en-CA" dirty="0" smtClean="0"/>
              <a:t>Self-acceptance </a:t>
            </a:r>
          </a:p>
          <a:p>
            <a:r>
              <a:rPr lang="en-CA" dirty="0" smtClean="0"/>
              <a:t>Person growth</a:t>
            </a:r>
          </a:p>
          <a:p>
            <a:r>
              <a:rPr lang="en-CA" dirty="0" smtClean="0"/>
              <a:t>Purpose in life</a:t>
            </a:r>
          </a:p>
          <a:p>
            <a:r>
              <a:rPr lang="en-CA" dirty="0" smtClean="0"/>
              <a:t>Environmental mastery</a:t>
            </a:r>
          </a:p>
          <a:p>
            <a:r>
              <a:rPr lang="en-CA" dirty="0" smtClean="0"/>
              <a:t>Autonomy</a:t>
            </a:r>
          </a:p>
          <a:p>
            <a:r>
              <a:rPr lang="en-CA" dirty="0" smtClean="0"/>
              <a:t>Positive relationships with others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5046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1.The </a:t>
            </a:r>
            <a:r>
              <a:rPr lang="en-CA" dirty="0" smtClean="0"/>
              <a:t>Philosophical Pathway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7494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The Ultimate Concern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CA" sz="2600" b="1" dirty="0" smtClean="0"/>
              <a:t>Make sense of life and know </a:t>
            </a:r>
            <a:r>
              <a:rPr lang="en-CA" sz="2600" b="1" dirty="0" smtClean="0">
                <a:solidFill>
                  <a:srgbClr val="564B3C"/>
                </a:solidFill>
              </a:rPr>
              <a:t>what you really </a:t>
            </a:r>
            <a:r>
              <a:rPr lang="en-CA" sz="2600" b="1" dirty="0">
                <a:solidFill>
                  <a:srgbClr val="564B3C"/>
                </a:solidFill>
              </a:rPr>
              <a:t>want in </a:t>
            </a:r>
            <a:r>
              <a:rPr lang="en-CA" sz="2600" b="1" dirty="0" smtClean="0">
                <a:solidFill>
                  <a:srgbClr val="564B3C"/>
                </a:solidFill>
              </a:rPr>
              <a:t>life.</a:t>
            </a:r>
          </a:p>
          <a:p>
            <a:pPr>
              <a:buClr>
                <a:srgbClr val="93A299"/>
              </a:buClr>
            </a:pPr>
            <a:r>
              <a:rPr lang="en-CA" sz="2800" dirty="0" smtClean="0">
                <a:solidFill>
                  <a:srgbClr val="564B3C"/>
                </a:solidFill>
              </a:rPr>
              <a:t>Make </a:t>
            </a:r>
            <a:r>
              <a:rPr lang="en-CA" sz="2800" dirty="0">
                <a:solidFill>
                  <a:srgbClr val="564B3C"/>
                </a:solidFill>
              </a:rPr>
              <a:t>sense of the self and one’s role in the world </a:t>
            </a:r>
            <a:endParaRPr lang="en-CA" sz="2600" dirty="0" smtClean="0"/>
          </a:p>
          <a:p>
            <a:pPr marL="114300" lvl="0" indent="0">
              <a:buNone/>
            </a:pPr>
            <a:r>
              <a:rPr lang="en-CA" sz="2600" dirty="0" smtClean="0"/>
              <a:t>What is your overall life orientation? </a:t>
            </a:r>
          </a:p>
          <a:p>
            <a:pPr lvl="0"/>
            <a:r>
              <a:rPr lang="en-CA" sz="2600" dirty="0" smtClean="0"/>
              <a:t>Pleasure</a:t>
            </a:r>
            <a:r>
              <a:rPr lang="en-CA" sz="2600" dirty="0" smtClean="0"/>
              <a:t> and excitement? </a:t>
            </a:r>
          </a:p>
          <a:p>
            <a:pPr lvl="0"/>
            <a:r>
              <a:rPr lang="en-CA" sz="2600" dirty="0" smtClean="0"/>
              <a:t>Money, fame and power?</a:t>
            </a:r>
          </a:p>
          <a:p>
            <a:pPr lvl="0"/>
            <a:r>
              <a:rPr lang="en-CA" sz="2600" dirty="0" smtClean="0">
                <a:solidFill>
                  <a:srgbClr val="564B3C"/>
                </a:solidFill>
              </a:rPr>
              <a:t>An </a:t>
            </a:r>
            <a:r>
              <a:rPr lang="en-CA" sz="2600" dirty="0">
                <a:solidFill>
                  <a:srgbClr val="564B3C"/>
                </a:solidFill>
              </a:rPr>
              <a:t>ordinary </a:t>
            </a:r>
            <a:r>
              <a:rPr lang="en-CA" sz="2600" dirty="0" smtClean="0">
                <a:solidFill>
                  <a:srgbClr val="564B3C"/>
                </a:solidFill>
              </a:rPr>
              <a:t>family </a:t>
            </a:r>
            <a:r>
              <a:rPr lang="en-CA" sz="2600" dirty="0">
                <a:solidFill>
                  <a:srgbClr val="564B3C"/>
                </a:solidFill>
              </a:rPr>
              <a:t>life</a:t>
            </a:r>
            <a:r>
              <a:rPr lang="en-CA" sz="2600" dirty="0" smtClean="0">
                <a:solidFill>
                  <a:srgbClr val="564B3C"/>
                </a:solidFill>
              </a:rPr>
              <a:t>?</a:t>
            </a:r>
          </a:p>
          <a:p>
            <a:pPr lvl="0"/>
            <a:r>
              <a:rPr lang="en-CA" sz="2600" dirty="0" smtClean="0">
                <a:solidFill>
                  <a:srgbClr val="564B3C"/>
                </a:solidFill>
              </a:rPr>
              <a:t>A meaningful life?</a:t>
            </a:r>
          </a:p>
          <a:p>
            <a:pPr lvl="0"/>
            <a:endParaRPr lang="en-CA" sz="2600" dirty="0" smtClean="0"/>
          </a:p>
          <a:p>
            <a:pPr lvl="0"/>
            <a:endParaRPr lang="en-CA" sz="2600" dirty="0" smtClean="0"/>
          </a:p>
          <a:p>
            <a:pPr lvl="0"/>
            <a:endParaRPr lang="en-CA" sz="2600" dirty="0" smtClean="0"/>
          </a:p>
          <a:p>
            <a:pPr lvl="0"/>
            <a:endParaRPr lang="en-CA" sz="2600" dirty="0" smtClean="0"/>
          </a:p>
          <a:p>
            <a:pPr lvl="0"/>
            <a:endParaRPr lang="en-CA" sz="2600" dirty="0"/>
          </a:p>
          <a:p>
            <a:endParaRPr lang="en-CA" sz="2600" dirty="0"/>
          </a:p>
        </p:txBody>
      </p:sp>
    </p:spTree>
    <p:extLst>
      <p:ext uri="{BB962C8B-B14F-4D97-AF65-F5344CB8AC3E}">
        <p14:creationId xmlns:p14="http://schemas.microsoft.com/office/powerpoint/2010/main" val="1966192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8 Major Existential Q’s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916760"/>
          </a:xfrm>
        </p:spPr>
        <p:txBody>
          <a:bodyPr>
            <a:normAutofit/>
          </a:bodyPr>
          <a:lstStyle/>
          <a:p>
            <a:pPr marL="571500" lvl="0" indent="-457200">
              <a:buFont typeface="+mj-lt"/>
              <a:buAutoNum type="arabicPeriod"/>
            </a:pPr>
            <a:r>
              <a:rPr lang="en-CA" sz="2600" dirty="0"/>
              <a:t>Who am I?</a:t>
            </a:r>
          </a:p>
          <a:p>
            <a:pPr marL="571500" lvl="0" indent="-457200">
              <a:buFont typeface="+mj-lt"/>
              <a:buAutoNum type="arabicPeriod"/>
            </a:pPr>
            <a:r>
              <a:rPr lang="en-CA" sz="2600" dirty="0"/>
              <a:t>How and where do I find happiness?</a:t>
            </a:r>
          </a:p>
          <a:p>
            <a:pPr marL="571500" lvl="0" indent="-457200">
              <a:buFont typeface="+mj-lt"/>
              <a:buAutoNum type="arabicPeriod"/>
            </a:pPr>
            <a:r>
              <a:rPr lang="en-CA" sz="2600" dirty="0"/>
              <a:t>What should I do with my life?</a:t>
            </a:r>
          </a:p>
          <a:p>
            <a:pPr marL="571500" lvl="0" indent="-457200">
              <a:buFont typeface="+mj-lt"/>
              <a:buAutoNum type="arabicPeriod"/>
            </a:pPr>
            <a:r>
              <a:rPr lang="en-CA" sz="2600" dirty="0"/>
              <a:t>How can I avoid making the wrong choices in the major areas of my life?</a:t>
            </a:r>
          </a:p>
          <a:p>
            <a:pPr marL="571500" lvl="0" indent="-457200">
              <a:buFont typeface="+mj-lt"/>
              <a:buAutoNum type="arabicPeriod"/>
            </a:pPr>
            <a:r>
              <a:rPr lang="en-CA" sz="2600" dirty="0"/>
              <a:t>Where do I belong?</a:t>
            </a:r>
          </a:p>
          <a:p>
            <a:pPr marL="571500" lvl="0" indent="-457200">
              <a:buFont typeface="+mj-lt"/>
              <a:buAutoNum type="arabicPeriod"/>
            </a:pPr>
            <a:r>
              <a:rPr lang="en-CA" sz="2600" dirty="0"/>
              <a:t>What is the point of all my striving?</a:t>
            </a:r>
          </a:p>
          <a:p>
            <a:pPr marL="571500" lvl="0" indent="-457200">
              <a:buFont typeface="+mj-lt"/>
              <a:buAutoNum type="arabicPeriod"/>
            </a:pPr>
            <a:r>
              <a:rPr lang="en-CA" sz="2600" dirty="0"/>
              <a:t>What will happen to me after I die?</a:t>
            </a:r>
          </a:p>
          <a:p>
            <a:pPr marL="571500" lvl="0" indent="-457200">
              <a:buFont typeface="+mj-lt"/>
              <a:buAutoNum type="arabicPeriod"/>
            </a:pPr>
            <a:r>
              <a:rPr lang="en-CA" sz="2600" dirty="0"/>
              <a:t>What would make my life more meaningful and significant</a:t>
            </a:r>
            <a:r>
              <a:rPr lang="en-CA" sz="2600" dirty="0" smtClean="0"/>
              <a:t>?</a:t>
            </a:r>
            <a:endParaRPr lang="en-CA" sz="2600" dirty="0"/>
          </a:p>
        </p:txBody>
      </p:sp>
    </p:spTree>
    <p:extLst>
      <p:ext uri="{BB962C8B-B14F-4D97-AF65-F5344CB8AC3E}">
        <p14:creationId xmlns:p14="http://schemas.microsoft.com/office/powerpoint/2010/main" val="247917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Self-Knowledge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CA" sz="2800" dirty="0" smtClean="0"/>
          </a:p>
          <a:p>
            <a:pPr lvl="0"/>
            <a:r>
              <a:rPr lang="en-CA" sz="2800" b="1" dirty="0" smtClean="0"/>
              <a:t>Know what kind of person you want to become.</a:t>
            </a:r>
          </a:p>
          <a:p>
            <a:pPr lvl="0"/>
            <a:endParaRPr lang="en-CA" sz="2800" b="1" dirty="0"/>
          </a:p>
          <a:p>
            <a:pPr lvl="0"/>
            <a:r>
              <a:rPr lang="en-CA" sz="2800" dirty="0" smtClean="0"/>
              <a:t>The good life is an authentic life</a:t>
            </a:r>
          </a:p>
          <a:p>
            <a:pPr lvl="0"/>
            <a:endParaRPr lang="en-CA" sz="2800" b="1" dirty="0" smtClean="0"/>
          </a:p>
          <a:p>
            <a:pPr lvl="0"/>
            <a:r>
              <a:rPr lang="en-CA" sz="2800" dirty="0" smtClean="0"/>
              <a:t>“</a:t>
            </a:r>
            <a:r>
              <a:rPr lang="en-CA" sz="2800" dirty="0"/>
              <a:t>The unexamined life is not worth living.” – </a:t>
            </a:r>
            <a:r>
              <a:rPr lang="en-CA" sz="2800" dirty="0" smtClean="0"/>
              <a:t>Socrates</a:t>
            </a:r>
          </a:p>
          <a:p>
            <a:pPr lvl="0"/>
            <a:endParaRPr lang="en-CA" sz="2800" dirty="0"/>
          </a:p>
          <a:p>
            <a:pPr lvl="0"/>
            <a:r>
              <a:rPr lang="en-CA" sz="2800" dirty="0"/>
              <a:t>“Know thyself.” – Socrates</a:t>
            </a:r>
          </a:p>
          <a:p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413356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2.The </a:t>
            </a:r>
            <a:r>
              <a:rPr lang="en-CA" dirty="0" smtClean="0"/>
              <a:t>Meaning </a:t>
            </a:r>
            <a:r>
              <a:rPr lang="en-CA" dirty="0" smtClean="0"/>
              <a:t>Pathway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3686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4000" dirty="0" smtClean="0"/>
              <a:t>Advantages of the Meaning Pursuit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772744"/>
          </a:xfrm>
        </p:spPr>
        <p:txBody>
          <a:bodyPr>
            <a:normAutofit/>
          </a:bodyPr>
          <a:lstStyle/>
          <a:p>
            <a:pPr lvl="0"/>
            <a:endParaRPr lang="en-CA" sz="2800" dirty="0" smtClean="0"/>
          </a:p>
          <a:p>
            <a:pPr lvl="0"/>
            <a:r>
              <a:rPr lang="en-CA" sz="2800" b="1" dirty="0" smtClean="0"/>
              <a:t>Meaning provides the royal road to the good life.</a:t>
            </a:r>
          </a:p>
          <a:p>
            <a:pPr lvl="0"/>
            <a:r>
              <a:rPr lang="en-CA" sz="2800" dirty="0" smtClean="0"/>
              <a:t>Protects you against adversities and fears.</a:t>
            </a:r>
          </a:p>
          <a:p>
            <a:pPr lvl="0"/>
            <a:r>
              <a:rPr lang="en-CA" sz="2800" dirty="0" smtClean="0"/>
              <a:t>Avoids </a:t>
            </a:r>
            <a:r>
              <a:rPr lang="en-CA" sz="2800" dirty="0"/>
              <a:t>the pitfalls of self-centered pursuit of happiness and success</a:t>
            </a:r>
            <a:r>
              <a:rPr lang="en-CA" sz="2800" dirty="0" smtClean="0"/>
              <a:t>.</a:t>
            </a:r>
            <a:endParaRPr lang="en-CA" sz="2800" dirty="0"/>
          </a:p>
          <a:p>
            <a:pPr lvl="0"/>
            <a:r>
              <a:rPr lang="en-CA" sz="2800" dirty="0" smtClean="0"/>
              <a:t>Happiness </a:t>
            </a:r>
            <a:r>
              <a:rPr lang="en-CA" sz="2800" dirty="0"/>
              <a:t>and flourishing will sneak in through the back door.</a:t>
            </a:r>
          </a:p>
          <a:p>
            <a:pPr lvl="0"/>
            <a:endParaRPr lang="en-CA" sz="2800" dirty="0"/>
          </a:p>
          <a:p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82647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Self-Transcendence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endParaRPr lang="en-CA" sz="2800" dirty="0" smtClean="0"/>
          </a:p>
          <a:p>
            <a:pPr lvl="0"/>
            <a:r>
              <a:rPr lang="en-CA" sz="2800" b="1" dirty="0" smtClean="0"/>
              <a:t>Self-transcendence is essential </a:t>
            </a:r>
            <a:r>
              <a:rPr lang="en-CA" sz="2800" b="1" dirty="0"/>
              <a:t>to living a meaningful </a:t>
            </a:r>
            <a:r>
              <a:rPr lang="en-CA" sz="2800" b="1" dirty="0" smtClean="0"/>
              <a:t>life.</a:t>
            </a:r>
          </a:p>
          <a:p>
            <a:pPr lvl="0"/>
            <a:endParaRPr lang="en-CA" sz="2800" b="1" dirty="0"/>
          </a:p>
          <a:p>
            <a:pPr lvl="0"/>
            <a:r>
              <a:rPr lang="en-CA" sz="2800" dirty="0"/>
              <a:t>Enables us to rise above external and internal constraints</a:t>
            </a:r>
            <a:r>
              <a:rPr lang="en-CA" sz="2800" dirty="0" smtClean="0"/>
              <a:t>.</a:t>
            </a:r>
          </a:p>
          <a:p>
            <a:pPr lvl="0"/>
            <a:endParaRPr lang="en-CA" sz="2800" dirty="0"/>
          </a:p>
          <a:p>
            <a:pPr lvl="0"/>
            <a:r>
              <a:rPr lang="en-CA" sz="2800" dirty="0"/>
              <a:t>Allows us to reach beyond ourselves </a:t>
            </a:r>
            <a:r>
              <a:rPr lang="en-CA" sz="2800" dirty="0" smtClean="0"/>
              <a:t>and live </a:t>
            </a:r>
            <a:r>
              <a:rPr lang="en-CA" sz="2800" dirty="0" smtClean="0"/>
              <a:t>for the </a:t>
            </a:r>
            <a:r>
              <a:rPr lang="en-CA" sz="2800" dirty="0" smtClean="0"/>
              <a:t>people </a:t>
            </a:r>
            <a:r>
              <a:rPr lang="en-CA" sz="2800" dirty="0"/>
              <a:t>we love </a:t>
            </a:r>
            <a:r>
              <a:rPr lang="en-CA" sz="2800" dirty="0" smtClean="0"/>
              <a:t>and the</a:t>
            </a:r>
            <a:r>
              <a:rPr lang="en-CA" sz="2800" dirty="0" smtClean="0"/>
              <a:t> </a:t>
            </a:r>
            <a:r>
              <a:rPr lang="en-CA" sz="2800" dirty="0"/>
              <a:t>causes we care about</a:t>
            </a:r>
            <a:r>
              <a:rPr lang="en-CA" sz="2800" dirty="0" smtClean="0"/>
              <a:t>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508192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4000" dirty="0" err="1" smtClean="0"/>
              <a:t>Frankl’s</a:t>
            </a:r>
            <a:r>
              <a:rPr lang="en-CA" sz="4000" dirty="0" smtClean="0"/>
              <a:t> (1985) 3 </a:t>
            </a:r>
            <a:r>
              <a:rPr lang="en-CA" sz="4000" dirty="0" smtClean="0"/>
              <a:t>avenues </a:t>
            </a:r>
            <a:r>
              <a:rPr lang="en-CA" sz="4000" dirty="0" smtClean="0"/>
              <a:t>to Meaning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 dirty="0"/>
              <a:t>Giving or contributing something to the world through our work</a:t>
            </a:r>
            <a:r>
              <a:rPr lang="en-CA" dirty="0" smtClean="0"/>
              <a:t>.</a:t>
            </a:r>
            <a:endParaRPr lang="en-CA" dirty="0"/>
          </a:p>
          <a:p>
            <a:pPr lvl="0"/>
            <a:r>
              <a:rPr lang="en-CA" dirty="0"/>
              <a:t>Experiencing something or encountering someone</a:t>
            </a:r>
            <a:r>
              <a:rPr lang="en-CA" dirty="0" smtClean="0"/>
              <a:t>.</a:t>
            </a:r>
            <a:endParaRPr lang="en-CA" dirty="0"/>
          </a:p>
          <a:p>
            <a:r>
              <a:rPr lang="en-CA" dirty="0"/>
              <a:t>Choosing a courageous attitude towards unavoidable suffering.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698329"/>
            <a:ext cx="3860734" cy="311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53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Sources of Meaning</a:t>
            </a:r>
            <a:endParaRPr lang="en-CA" sz="40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graphicFrame>
        <p:nvGraphicFramePr>
          <p:cNvPr id="7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8747882"/>
              </p:ext>
            </p:extLst>
          </p:nvPr>
        </p:nvGraphicFramePr>
        <p:xfrm>
          <a:off x="1310432" y="1679600"/>
          <a:ext cx="6611103" cy="4989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4514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459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4000" dirty="0" smtClean="0"/>
              <a:t>PURE as a definition of</a:t>
            </a:r>
            <a:br>
              <a:rPr lang="en-CA" sz="4000" dirty="0" smtClean="0"/>
            </a:br>
            <a:r>
              <a:rPr lang="en-CA" sz="4000" dirty="0" smtClean="0"/>
              <a:t>meaning in life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Meaning in life can be operationally defined in terms of PURE, which stands for:</a:t>
            </a:r>
          </a:p>
          <a:p>
            <a:pPr lvl="1"/>
            <a:r>
              <a:rPr lang="en-CA" sz="2400" b="1" dirty="0" smtClean="0"/>
              <a:t>P</a:t>
            </a:r>
            <a:r>
              <a:rPr lang="en-CA" sz="2400" dirty="0" smtClean="0"/>
              <a:t>urpose</a:t>
            </a:r>
          </a:p>
          <a:p>
            <a:pPr lvl="1"/>
            <a:endParaRPr lang="en-CA" sz="2400" dirty="0" smtClean="0"/>
          </a:p>
          <a:p>
            <a:pPr lvl="1"/>
            <a:r>
              <a:rPr lang="en-CA" sz="2400" b="1" dirty="0" smtClean="0"/>
              <a:t>U</a:t>
            </a:r>
            <a:r>
              <a:rPr lang="en-CA" sz="2400" dirty="0" smtClean="0"/>
              <a:t>nderstanding</a:t>
            </a:r>
          </a:p>
          <a:p>
            <a:pPr lvl="1"/>
            <a:endParaRPr lang="en-CA" sz="2400" dirty="0" smtClean="0"/>
          </a:p>
          <a:p>
            <a:pPr lvl="1"/>
            <a:r>
              <a:rPr lang="en-CA" sz="2400" b="1" dirty="0" smtClean="0"/>
              <a:t>R</a:t>
            </a:r>
            <a:r>
              <a:rPr lang="en-CA" sz="2400" dirty="0" smtClean="0"/>
              <a:t>esponsibility</a:t>
            </a:r>
          </a:p>
          <a:p>
            <a:pPr lvl="1"/>
            <a:endParaRPr lang="en-CA" sz="2400" dirty="0" smtClean="0"/>
          </a:p>
          <a:p>
            <a:pPr lvl="1"/>
            <a:r>
              <a:rPr lang="en-CA" sz="2400" b="1" dirty="0" smtClean="0"/>
              <a:t>E</a:t>
            </a:r>
            <a:r>
              <a:rPr lang="en-CA" sz="2400" dirty="0" smtClean="0"/>
              <a:t>njoyment 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98138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Purpose</a:t>
            </a:r>
            <a:endParaRPr lang="en-CA" sz="40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752600"/>
            <a:ext cx="4590958" cy="4373563"/>
          </a:xfrm>
        </p:spPr>
        <p:txBody>
          <a:bodyPr/>
          <a:lstStyle/>
          <a:p>
            <a:pPr marL="114300" indent="0">
              <a:buNone/>
            </a:pPr>
            <a:r>
              <a:rPr lang="en-CA" dirty="0"/>
              <a:t>Involves:</a:t>
            </a:r>
          </a:p>
          <a:p>
            <a:r>
              <a:rPr lang="en-CA" dirty="0"/>
              <a:t>Clarifying our life direction and core values.</a:t>
            </a:r>
          </a:p>
          <a:p>
            <a:r>
              <a:rPr lang="en-CA" dirty="0"/>
              <a:t>Organizing our activities.</a:t>
            </a:r>
          </a:p>
          <a:p>
            <a:r>
              <a:rPr lang="en-CA" dirty="0"/>
              <a:t>Deliberating your daily plans.</a:t>
            </a:r>
          </a:p>
          <a:p>
            <a:r>
              <a:rPr lang="en-CA" dirty="0"/>
              <a:t>Pursuing one’s calling and mission in life with passion and </a:t>
            </a:r>
            <a:r>
              <a:rPr lang="en-CA" dirty="0" smtClean="0"/>
              <a:t>commitment.</a:t>
            </a:r>
            <a:endParaRPr lang="en-CA" dirty="0"/>
          </a:p>
        </p:txBody>
      </p:sp>
      <p:pic>
        <p:nvPicPr>
          <p:cNvPr id="3074" name="Picture 2" descr="C:\Users\Paul\Documents\My Dropbox\My Documents\M4L\ppt images\Lesson 6 ppt images\lighthouse-vector-for-free-rowing-adobe-ai-vector-art-small-free-vector-art-beside-free-vector-artwork-boat-free-artwork-image-412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053580"/>
            <a:ext cx="3772314" cy="3319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138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Understanding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1680" y="1791741"/>
            <a:ext cx="6995120" cy="4541138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CA" dirty="0" smtClean="0"/>
              <a:t>Involves:</a:t>
            </a:r>
          </a:p>
          <a:p>
            <a:r>
              <a:rPr lang="en-CA" dirty="0" smtClean="0"/>
              <a:t>Full awareness of the situation and the consequences of one`s actions.</a:t>
            </a:r>
          </a:p>
          <a:p>
            <a:r>
              <a:rPr lang="en-CA" dirty="0" smtClean="0"/>
              <a:t>Knowing right from wrong.</a:t>
            </a:r>
          </a:p>
          <a:p>
            <a:r>
              <a:rPr lang="en-CA" dirty="0"/>
              <a:t>U</a:t>
            </a:r>
            <a:r>
              <a:rPr lang="en-CA" dirty="0" smtClean="0"/>
              <a:t>nderstanding the legal/ethical principles in decision making.</a:t>
            </a:r>
          </a:p>
          <a:p>
            <a:r>
              <a:rPr lang="en-CA" dirty="0" smtClean="0"/>
              <a:t>Self-knowledge of our strengths and weaknesses.</a:t>
            </a:r>
          </a:p>
          <a:p>
            <a:r>
              <a:rPr lang="en-CA" dirty="0" smtClean="0"/>
              <a:t>Understanding/knowing the world we live in.</a:t>
            </a:r>
          </a:p>
          <a:p>
            <a:r>
              <a:rPr lang="en-CA" dirty="0" smtClean="0"/>
              <a:t>Achieving a sense of coherence.</a:t>
            </a:r>
            <a:endParaRPr lang="en-CA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54" b="10440"/>
          <a:stretch/>
        </p:blipFill>
        <p:spPr bwMode="auto">
          <a:xfrm>
            <a:off x="395536" y="1700808"/>
            <a:ext cx="1296144" cy="4632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138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Responsibility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3466728" cy="4373563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CA" dirty="0" smtClean="0"/>
              <a:t>Involves:</a:t>
            </a:r>
          </a:p>
          <a:p>
            <a:r>
              <a:rPr lang="en-CA" dirty="0" smtClean="0"/>
              <a:t>Taking full responsibility of our own life.</a:t>
            </a:r>
          </a:p>
          <a:p>
            <a:r>
              <a:rPr lang="en-CA" dirty="0" smtClean="0"/>
              <a:t>Assuming responsibility for our decisions and actions.</a:t>
            </a:r>
          </a:p>
          <a:p>
            <a:r>
              <a:rPr lang="en-CA" dirty="0" smtClean="0"/>
              <a:t>Holding ourselves accountable.</a:t>
            </a:r>
          </a:p>
          <a:p>
            <a:r>
              <a:rPr lang="en-CA" dirty="0" smtClean="0"/>
              <a:t>Being a moral agent.</a:t>
            </a:r>
            <a:endParaRPr lang="en-CA" dirty="0"/>
          </a:p>
        </p:txBody>
      </p:sp>
      <p:grpSp>
        <p:nvGrpSpPr>
          <p:cNvPr id="5" name="Group 4"/>
          <p:cNvGrpSpPr/>
          <p:nvPr/>
        </p:nvGrpSpPr>
        <p:grpSpPr>
          <a:xfrm>
            <a:off x="3851920" y="1844824"/>
            <a:ext cx="4932252" cy="4248472"/>
            <a:chOff x="3851920" y="1844824"/>
            <a:chExt cx="4932252" cy="4248472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08" t="8388" r="9389" b="8571"/>
            <a:stretch/>
          </p:blipFill>
          <p:spPr bwMode="auto">
            <a:xfrm>
              <a:off x="3851920" y="1844824"/>
              <a:ext cx="4932252" cy="4248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3851920" y="2132856"/>
              <a:ext cx="1512168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98138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Enjoyment/Evaluation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CA" dirty="0" smtClean="0"/>
          </a:p>
          <a:p>
            <a:r>
              <a:rPr lang="en-CA" dirty="0" smtClean="0"/>
              <a:t>The natural outcome of leading a purposeful and responsible life.</a:t>
            </a:r>
          </a:p>
          <a:p>
            <a:r>
              <a:rPr lang="en-CA" dirty="0" smtClean="0"/>
              <a:t>But a positive outcome is not inevitable.</a:t>
            </a:r>
          </a:p>
          <a:p>
            <a:r>
              <a:rPr lang="en-CA" dirty="0" smtClean="0"/>
              <a:t>Sometimes, the personal costs of being responsible can be too high.</a:t>
            </a:r>
          </a:p>
          <a:p>
            <a:r>
              <a:rPr lang="en-CA" dirty="0" smtClean="0"/>
              <a:t>This stage involves reflection and sometimes re-evaluation </a:t>
            </a:r>
            <a:r>
              <a:rPr lang="en-CA" dirty="0"/>
              <a:t>of PURE.</a:t>
            </a:r>
          </a:p>
          <a:p>
            <a:endParaRPr lang="en-CA" dirty="0" smtClean="0"/>
          </a:p>
          <a:p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398138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3.The </a:t>
            </a:r>
            <a:r>
              <a:rPr lang="en-CA" dirty="0" smtClean="0"/>
              <a:t>Virtue Pathway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9487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4000" dirty="0" smtClean="0"/>
              <a:t>The Good Life is </a:t>
            </a:r>
            <a:br>
              <a:rPr lang="en-CA" sz="4000" dirty="0" smtClean="0"/>
            </a:br>
            <a:r>
              <a:rPr lang="en-CA" sz="4000" dirty="0" smtClean="0"/>
              <a:t>a Virtuous Life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CA" sz="2800" b="1" dirty="0" smtClean="0"/>
              <a:t>The</a:t>
            </a:r>
            <a:r>
              <a:rPr lang="en-CA" sz="2800" b="1" dirty="0" smtClean="0"/>
              <a:t> </a:t>
            </a:r>
            <a:r>
              <a:rPr lang="en-CA" sz="2800" b="1" dirty="0"/>
              <a:t>good life is based on </a:t>
            </a:r>
            <a:r>
              <a:rPr lang="en-CA" sz="2800" b="1" dirty="0" smtClean="0"/>
              <a:t>virtue and inner </a:t>
            </a:r>
            <a:r>
              <a:rPr lang="en-CA" sz="2800" b="1" dirty="0"/>
              <a:t>goodness</a:t>
            </a:r>
            <a:r>
              <a:rPr lang="en-CA" sz="2800" dirty="0"/>
              <a:t>.</a:t>
            </a:r>
          </a:p>
          <a:p>
            <a:pPr lvl="0"/>
            <a:r>
              <a:rPr lang="en-CA" sz="2800" dirty="0"/>
              <a:t>“The end of life is eudaimonia.”—Aristotle</a:t>
            </a:r>
          </a:p>
          <a:p>
            <a:pPr lvl="0"/>
            <a:r>
              <a:rPr lang="en-CA" sz="2800" dirty="0"/>
              <a:t>Eudaimonia means well-being, virtue and human flourishing.</a:t>
            </a:r>
          </a:p>
          <a:p>
            <a:pPr lvl="0"/>
            <a:r>
              <a:rPr lang="en-CA" sz="2800" dirty="0"/>
              <a:t>To live the good life is to become what we ought to be as human beings—moral agents who strive for moral excellence.</a:t>
            </a:r>
          </a:p>
          <a:p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00413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4000" dirty="0" smtClean="0"/>
              <a:t>Is the </a:t>
            </a:r>
            <a:r>
              <a:rPr lang="en-CA" sz="4000" dirty="0" smtClean="0"/>
              <a:t>Good Life </a:t>
            </a:r>
            <a:r>
              <a:rPr lang="en-CA" sz="4000" dirty="0" smtClean="0"/>
              <a:t>possible without </a:t>
            </a:r>
            <a:r>
              <a:rPr lang="en-CA" sz="4000" dirty="0" smtClean="0"/>
              <a:t>Inner Goodness?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CA" sz="2800" dirty="0" smtClean="0"/>
              <a:t>We </a:t>
            </a:r>
            <a:r>
              <a:rPr lang="en-CA" sz="2800" dirty="0"/>
              <a:t>feel good from doing good</a:t>
            </a:r>
            <a:r>
              <a:rPr lang="en-CA" sz="2800" dirty="0" smtClean="0"/>
              <a:t>.</a:t>
            </a:r>
          </a:p>
          <a:p>
            <a:pPr lvl="0"/>
            <a:endParaRPr lang="en-CA" sz="2800" dirty="0"/>
          </a:p>
          <a:p>
            <a:pPr lvl="0"/>
            <a:r>
              <a:rPr lang="en-CA" sz="2800" dirty="0"/>
              <a:t>We are moral beings living in a moral universe</a:t>
            </a:r>
            <a:r>
              <a:rPr lang="en-CA" sz="2800" dirty="0" smtClean="0"/>
              <a:t>.</a:t>
            </a:r>
          </a:p>
          <a:p>
            <a:pPr lvl="0"/>
            <a:endParaRPr lang="en-CA" sz="2800" dirty="0"/>
          </a:p>
          <a:p>
            <a:pPr lvl="0"/>
            <a:r>
              <a:rPr lang="en-CA" sz="2800" dirty="0"/>
              <a:t>We cannot flourish without a moral compass.</a:t>
            </a:r>
          </a:p>
        </p:txBody>
      </p:sp>
    </p:spTree>
    <p:extLst>
      <p:ext uri="{BB962C8B-B14F-4D97-AF65-F5344CB8AC3E}">
        <p14:creationId xmlns:p14="http://schemas.microsoft.com/office/powerpoint/2010/main" val="3842768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4.The </a:t>
            </a:r>
            <a:r>
              <a:rPr lang="en-CA" dirty="0" smtClean="0"/>
              <a:t>Spiritual Pathway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8395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4000" dirty="0" smtClean="0"/>
              <a:t>The Good Life is</a:t>
            </a:r>
            <a:br>
              <a:rPr lang="en-CA" sz="4000" dirty="0" smtClean="0"/>
            </a:br>
            <a:r>
              <a:rPr lang="en-CA" sz="4000" dirty="0" smtClean="0"/>
              <a:t>a Spiritual Life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CA" sz="2800" b="1" dirty="0" smtClean="0"/>
              <a:t>Spirituality is good for survival and flourishing.</a:t>
            </a:r>
          </a:p>
          <a:p>
            <a:pPr lvl="0"/>
            <a:r>
              <a:rPr lang="en-CA" sz="2800" dirty="0" smtClean="0"/>
              <a:t>Good for your adaptation and well-being</a:t>
            </a:r>
          </a:p>
          <a:p>
            <a:pPr lvl="0"/>
            <a:r>
              <a:rPr lang="en-CA" sz="2800" dirty="0" smtClean="0"/>
              <a:t>A </a:t>
            </a:r>
            <a:r>
              <a:rPr lang="en-CA" sz="2800" dirty="0"/>
              <a:t>moral compass and answers to the big questions.</a:t>
            </a:r>
          </a:p>
          <a:p>
            <a:pPr lvl="0"/>
            <a:r>
              <a:rPr lang="en-CA" sz="2800" dirty="0"/>
              <a:t>Belief in an Ultimate Rescuer.</a:t>
            </a:r>
          </a:p>
          <a:p>
            <a:pPr lvl="0"/>
            <a:r>
              <a:rPr lang="en-CA" sz="2800" dirty="0"/>
              <a:t>Hope beyond the grave.</a:t>
            </a:r>
          </a:p>
          <a:p>
            <a:pPr lvl="0"/>
            <a:r>
              <a:rPr lang="en-CA" sz="2800" dirty="0"/>
              <a:t>Significance in mundane activities.</a:t>
            </a:r>
          </a:p>
          <a:p>
            <a:pPr marL="114300" indent="0">
              <a:buNone/>
            </a:pP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487034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5.The </a:t>
            </a:r>
            <a:r>
              <a:rPr lang="en-CA" dirty="0" smtClean="0"/>
              <a:t>Freedom Pathway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31841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4 Types of Freedom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lvl="0" indent="-457200">
              <a:buFont typeface="+mj-lt"/>
              <a:buAutoNum type="arabicPeriod"/>
            </a:pPr>
            <a:endParaRPr lang="en-CA" sz="2800" dirty="0" smtClean="0"/>
          </a:p>
          <a:p>
            <a:pPr marL="571500" lvl="0" indent="-457200">
              <a:buFont typeface="+mj-lt"/>
              <a:buAutoNum type="arabicPeriod"/>
            </a:pPr>
            <a:r>
              <a:rPr lang="en-CA" sz="2800" dirty="0" smtClean="0"/>
              <a:t>Physical </a:t>
            </a:r>
            <a:r>
              <a:rPr lang="en-CA" sz="2800" dirty="0"/>
              <a:t>freedom – the ability to move around and control our own body.</a:t>
            </a:r>
          </a:p>
          <a:p>
            <a:pPr marL="571500" lvl="0" indent="-457200">
              <a:buFont typeface="+mj-lt"/>
              <a:buAutoNum type="arabicPeriod"/>
            </a:pPr>
            <a:r>
              <a:rPr lang="en-CA" sz="2800" dirty="0"/>
              <a:t>Psychological freedom – the freedom to love, work and make choices.</a:t>
            </a:r>
          </a:p>
          <a:p>
            <a:pPr marL="571500" lvl="0" indent="-457200">
              <a:buFont typeface="+mj-lt"/>
              <a:buAutoNum type="arabicPeriod"/>
            </a:pPr>
            <a:r>
              <a:rPr lang="en-CA" sz="2800" dirty="0"/>
              <a:t>Spiritual freedom – liberation from sins, inner demons and destructive desires.</a:t>
            </a:r>
          </a:p>
          <a:p>
            <a:pPr marL="571500" lvl="0" indent="-457200">
              <a:buFont typeface="+mj-lt"/>
              <a:buAutoNum type="arabicPeriod"/>
            </a:pPr>
            <a:r>
              <a:rPr lang="en-CA" sz="2800" dirty="0"/>
              <a:t>Political freedom – the freedom to exercise human rights.</a:t>
            </a:r>
          </a:p>
        </p:txBody>
      </p:sp>
    </p:spTree>
    <p:extLst>
      <p:ext uri="{BB962C8B-B14F-4D97-AF65-F5344CB8AC3E}">
        <p14:creationId xmlns:p14="http://schemas.microsoft.com/office/powerpoint/2010/main" val="391333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4000" dirty="0" err="1" smtClean="0"/>
              <a:t>Frankl’s</a:t>
            </a:r>
            <a:r>
              <a:rPr lang="en-CA" sz="4000" dirty="0"/>
              <a:t> </a:t>
            </a:r>
            <a:r>
              <a:rPr lang="en-CA" sz="4000" dirty="0" smtClean="0"/>
              <a:t>3 Basic Tenets of </a:t>
            </a:r>
            <a:r>
              <a:rPr lang="en-CA" sz="4000" dirty="0" err="1" smtClean="0"/>
              <a:t>Logotherapy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lvl="0" indent="-457200">
              <a:buFont typeface="+mj-lt"/>
              <a:buAutoNum type="arabicPeriod"/>
            </a:pPr>
            <a:endParaRPr lang="en-US" sz="2800" dirty="0" smtClean="0"/>
          </a:p>
          <a:p>
            <a:pPr marL="114300" lvl="0" indent="0">
              <a:buNone/>
            </a:pPr>
            <a:endParaRPr lang="en-US" sz="2800" dirty="0" smtClean="0"/>
          </a:p>
          <a:p>
            <a:pPr marL="571500" lvl="0" indent="-457200">
              <a:buFont typeface="+mj-lt"/>
              <a:buAutoNum type="arabicPeriod"/>
            </a:pPr>
            <a:r>
              <a:rPr lang="en-US" sz="2800" dirty="0" smtClean="0"/>
              <a:t>Freedom </a:t>
            </a:r>
            <a:r>
              <a:rPr lang="en-US" sz="2800" dirty="0"/>
              <a:t>of choice</a:t>
            </a:r>
            <a:endParaRPr lang="en-CA" sz="2800" dirty="0"/>
          </a:p>
          <a:p>
            <a:pPr marL="571500" lvl="0" indent="-457200">
              <a:buFont typeface="+mj-lt"/>
              <a:buAutoNum type="arabicPeriod"/>
            </a:pPr>
            <a:endParaRPr lang="en-US" sz="2800" dirty="0" smtClean="0"/>
          </a:p>
          <a:p>
            <a:pPr marL="571500" lvl="0" indent="-457200">
              <a:buFont typeface="+mj-lt"/>
              <a:buAutoNum type="arabicPeriod"/>
            </a:pPr>
            <a:r>
              <a:rPr lang="en-US" sz="2800" dirty="0" smtClean="0"/>
              <a:t>Will </a:t>
            </a:r>
            <a:r>
              <a:rPr lang="en-US" sz="2800" dirty="0"/>
              <a:t>to </a:t>
            </a:r>
            <a:r>
              <a:rPr lang="en-US" sz="2800" dirty="0" smtClean="0"/>
              <a:t>meaning</a:t>
            </a:r>
          </a:p>
          <a:p>
            <a:pPr marL="571500" lvl="0" indent="-457200">
              <a:buFont typeface="+mj-lt"/>
              <a:buAutoNum type="arabicPeriod"/>
            </a:pPr>
            <a:endParaRPr lang="en-CA" sz="2800" dirty="0"/>
          </a:p>
          <a:p>
            <a:pPr marL="571500" lvl="0" indent="-457200">
              <a:buFont typeface="+mj-lt"/>
              <a:buAutoNum type="arabicPeriod"/>
            </a:pPr>
            <a:r>
              <a:rPr lang="en-US" sz="2800" dirty="0"/>
              <a:t>Meaning of life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744018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Freedom of choice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988768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b="1" dirty="0" smtClean="0"/>
              <a:t>You are always free to live a meaningful life regardless of circumstances.</a:t>
            </a:r>
          </a:p>
          <a:p>
            <a:endParaRPr lang="en-US" dirty="0"/>
          </a:p>
          <a:p>
            <a:r>
              <a:rPr lang="en-US" dirty="0" smtClean="0"/>
              <a:t>“</a:t>
            </a:r>
            <a:r>
              <a:rPr lang="en-US" dirty="0"/>
              <a:t>Everything can be taken from a man or a woman but one thing: the last of human freedoms to choose one’s attitude in any given set of circumstances, to choose one’s own way.” – Viktor Frankl </a:t>
            </a:r>
            <a:endParaRPr lang="en-US" dirty="0" smtClean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4842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6.The </a:t>
            </a:r>
            <a:r>
              <a:rPr lang="en-CA" dirty="0" smtClean="0"/>
              <a:t>responsibility</a:t>
            </a:r>
            <a:r>
              <a:rPr lang="en-CA" dirty="0" smtClean="0"/>
              <a:t> Pathway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7182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4000" dirty="0" smtClean="0"/>
              <a:t>Responsibility is the key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988768"/>
          </a:xfrm>
        </p:spPr>
        <p:txBody>
          <a:bodyPr>
            <a:normAutofit/>
          </a:bodyPr>
          <a:lstStyle/>
          <a:p>
            <a:pPr lvl="0"/>
            <a:r>
              <a:rPr lang="en-CA" sz="2800" b="1" dirty="0" smtClean="0"/>
              <a:t>Just do it – do the right thing no matter what</a:t>
            </a:r>
            <a:r>
              <a:rPr lang="en-CA" sz="2800" dirty="0" smtClean="0"/>
              <a:t>.</a:t>
            </a:r>
          </a:p>
          <a:p>
            <a:pPr lvl="0"/>
            <a:endParaRPr lang="en-CA" sz="2800" dirty="0" smtClean="0"/>
          </a:p>
          <a:p>
            <a:pPr lvl="0"/>
            <a:r>
              <a:rPr lang="en-CA" sz="2800" dirty="0" smtClean="0"/>
              <a:t>Blaming never get us anywhere, responsible action will.</a:t>
            </a:r>
          </a:p>
          <a:p>
            <a:pPr lvl="0"/>
            <a:endParaRPr lang="en-CA" sz="2800" b="1" dirty="0"/>
          </a:p>
          <a:p>
            <a:pPr lvl="0"/>
            <a:r>
              <a:rPr lang="en-CA" sz="2800" dirty="0" smtClean="0"/>
              <a:t>We are responsible for the rippling effects of our words and actions.</a:t>
            </a:r>
          </a:p>
          <a:p>
            <a:pPr lvl="0"/>
            <a:endParaRPr lang="en-CA" sz="2800" dirty="0"/>
          </a:p>
          <a:p>
            <a:pPr lvl="0"/>
            <a:r>
              <a:rPr lang="en-CA" sz="2800" dirty="0" smtClean="0"/>
              <a:t>We are responsible for making life better for ourselves and others.</a:t>
            </a:r>
            <a:endParaRPr lang="en-CA" sz="2800" dirty="0"/>
          </a:p>
          <a:p>
            <a:pPr marL="114300" lvl="0" indent="0">
              <a:buNone/>
            </a:pPr>
            <a:endParaRPr lang="en-CA" sz="2800" b="1" dirty="0"/>
          </a:p>
        </p:txBody>
      </p:sp>
    </p:spTree>
    <p:extLst>
      <p:ext uri="{BB962C8B-B14F-4D97-AF65-F5344CB8AC3E}">
        <p14:creationId xmlns:p14="http://schemas.microsoft.com/office/powerpoint/2010/main" val="148238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err="1" smtClean="0"/>
              <a:t>Frankl’s</a:t>
            </a:r>
            <a:r>
              <a:rPr lang="en-CA" sz="4000" dirty="0" smtClean="0"/>
              <a:t> </a:t>
            </a:r>
            <a:r>
              <a:rPr lang="en-CA" sz="4000" dirty="0" smtClean="0"/>
              <a:t>definition</a:t>
            </a:r>
            <a:r>
              <a:rPr lang="en-CA" sz="4000" dirty="0" smtClean="0"/>
              <a:t> </a:t>
            </a:r>
            <a:r>
              <a:rPr lang="en-CA" sz="4000" dirty="0" smtClean="0"/>
              <a:t>(1985)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CA" sz="2800" dirty="0" smtClean="0"/>
          </a:p>
          <a:p>
            <a:pPr lvl="0"/>
            <a:r>
              <a:rPr lang="en-CA" sz="2800" dirty="0" smtClean="0"/>
              <a:t>To </a:t>
            </a:r>
            <a:r>
              <a:rPr lang="en-CA" sz="2800" dirty="0"/>
              <a:t>Frankl, responsibility means “response-ability” to meet the demand of meaning unique in each situation as well as the demand of </a:t>
            </a:r>
            <a:r>
              <a:rPr lang="en-CA" sz="2800" dirty="0" smtClean="0"/>
              <a:t>life as a whole.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14696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7. The </a:t>
            </a:r>
            <a:r>
              <a:rPr lang="en-CA" dirty="0" smtClean="0"/>
              <a:t>Wisdom Pathway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69075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4000" dirty="0" smtClean="0"/>
              <a:t>What is Life Intelligence (LQ)?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700736"/>
          </a:xfrm>
        </p:spPr>
        <p:txBody>
          <a:bodyPr>
            <a:normAutofit/>
          </a:bodyPr>
          <a:lstStyle/>
          <a:p>
            <a:pPr lvl="0"/>
            <a:endParaRPr lang="en-CA" sz="2800" dirty="0" smtClean="0"/>
          </a:p>
          <a:p>
            <a:pPr lvl="0"/>
            <a:r>
              <a:rPr lang="en-CA" sz="2800" b="1" dirty="0" smtClean="0"/>
              <a:t>You need </a:t>
            </a:r>
            <a:r>
              <a:rPr lang="en-CA" sz="2800" b="1" dirty="0"/>
              <a:t>wisdom and courage to live </a:t>
            </a:r>
            <a:r>
              <a:rPr lang="en-CA" sz="2800" b="1" dirty="0" smtClean="0"/>
              <a:t>well and die well.</a:t>
            </a:r>
          </a:p>
          <a:p>
            <a:pPr lvl="0"/>
            <a:endParaRPr lang="en-CA" sz="2800" b="1" dirty="0" smtClean="0"/>
          </a:p>
          <a:p>
            <a:pPr lvl="0"/>
            <a:r>
              <a:rPr lang="en-CA" sz="2800" dirty="0" smtClean="0"/>
              <a:t>LQ is the ability to learn wisdom and courage.</a:t>
            </a:r>
            <a:endParaRPr lang="en-CA" sz="2800" dirty="0"/>
          </a:p>
          <a:p>
            <a:pPr lvl="0"/>
            <a:r>
              <a:rPr lang="en-CA" sz="2800" dirty="0" smtClean="0"/>
              <a:t>So many people  have ruined their own lives because of a lack of LQ.</a:t>
            </a:r>
            <a:endParaRPr lang="en-CA" sz="2800" b="1" dirty="0"/>
          </a:p>
          <a:p>
            <a:pPr lvl="0"/>
            <a:r>
              <a:rPr lang="en-CA" sz="2800" dirty="0" smtClean="0"/>
              <a:t>LQ includes multiple intelligences</a:t>
            </a:r>
            <a:endParaRPr lang="en-CA" sz="2800" dirty="0" smtClean="0"/>
          </a:p>
          <a:p>
            <a:pPr lvl="0"/>
            <a:endParaRPr lang="en-CA" sz="2800" b="1" dirty="0"/>
          </a:p>
        </p:txBody>
      </p:sp>
    </p:spTree>
    <p:extLst>
      <p:ext uri="{BB962C8B-B14F-4D97-AF65-F5344CB8AC3E}">
        <p14:creationId xmlns:p14="http://schemas.microsoft.com/office/powerpoint/2010/main" val="286252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4000" dirty="0" smtClean="0"/>
              <a:t>The </a:t>
            </a:r>
            <a:r>
              <a:rPr lang="en-CA" sz="4000" dirty="0" smtClean="0"/>
              <a:t>4 main</a:t>
            </a:r>
            <a:r>
              <a:rPr lang="en-CA" sz="4000" dirty="0" smtClean="0"/>
              <a:t/>
            </a:r>
            <a:br>
              <a:rPr lang="en-CA" sz="4000" dirty="0" smtClean="0"/>
            </a:br>
            <a:r>
              <a:rPr lang="en-CA" sz="4000" dirty="0" smtClean="0"/>
              <a:t>Components of LQ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916760"/>
          </a:xfrm>
        </p:spPr>
        <p:txBody>
          <a:bodyPr>
            <a:normAutofit/>
          </a:bodyPr>
          <a:lstStyle/>
          <a:p>
            <a:pPr lvl="0"/>
            <a:endParaRPr lang="en-CA" sz="2600" dirty="0" smtClean="0"/>
          </a:p>
          <a:p>
            <a:pPr lvl="0"/>
            <a:r>
              <a:rPr lang="en-CA" sz="2600" dirty="0" smtClean="0"/>
              <a:t>Courage</a:t>
            </a:r>
          </a:p>
          <a:p>
            <a:pPr lvl="0"/>
            <a:endParaRPr lang="en-CA" sz="2600" dirty="0"/>
          </a:p>
          <a:p>
            <a:pPr lvl="0"/>
            <a:r>
              <a:rPr lang="en-CA" sz="2600" dirty="0" smtClean="0"/>
              <a:t>Self-knowledge</a:t>
            </a:r>
          </a:p>
          <a:p>
            <a:pPr lvl="0"/>
            <a:endParaRPr lang="en-CA" sz="2600" dirty="0"/>
          </a:p>
          <a:p>
            <a:pPr lvl="0"/>
            <a:r>
              <a:rPr lang="en-CA" sz="2600" dirty="0"/>
              <a:t>Understanding life, others, and the human </a:t>
            </a:r>
            <a:r>
              <a:rPr lang="en-CA" sz="2600" dirty="0" smtClean="0"/>
              <a:t>condition</a:t>
            </a:r>
          </a:p>
          <a:p>
            <a:pPr lvl="0"/>
            <a:endParaRPr lang="en-CA" sz="2600" dirty="0"/>
          </a:p>
          <a:p>
            <a:pPr lvl="0"/>
            <a:r>
              <a:rPr lang="en-CA" sz="2600" dirty="0"/>
              <a:t>Problem-solving</a:t>
            </a:r>
          </a:p>
          <a:p>
            <a:endParaRPr lang="en-CA" sz="2600" dirty="0"/>
          </a:p>
        </p:txBody>
      </p:sp>
    </p:spTree>
    <p:extLst>
      <p:ext uri="{BB962C8B-B14F-4D97-AF65-F5344CB8AC3E}">
        <p14:creationId xmlns:p14="http://schemas.microsoft.com/office/powerpoint/2010/main" val="287482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How do we develop LQ?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CA" sz="2800" dirty="0"/>
              <a:t>Reflecting on one’s life experiences, especially from painful experiences.</a:t>
            </a:r>
          </a:p>
          <a:p>
            <a:pPr lvl="0"/>
            <a:r>
              <a:rPr lang="en-CA" sz="2800" dirty="0"/>
              <a:t>Learning from other people, especially wise people.</a:t>
            </a:r>
          </a:p>
          <a:p>
            <a:pPr lvl="0"/>
            <a:r>
              <a:rPr lang="en-CA" sz="2800" dirty="0"/>
              <a:t>Learning from the wisdom literature.</a:t>
            </a:r>
          </a:p>
          <a:p>
            <a:pPr lvl="0"/>
            <a:r>
              <a:rPr lang="en-CA" sz="2800" dirty="0"/>
              <a:t>Cultivating an attitude of being open-minded, curious, and inquisitive.</a:t>
            </a:r>
          </a:p>
          <a:p>
            <a:pPr lvl="0"/>
            <a:r>
              <a:rPr lang="en-CA" sz="2800" dirty="0"/>
              <a:t>Develop the courage to explore and engage life.</a:t>
            </a:r>
          </a:p>
        </p:txBody>
      </p:sp>
    </p:spTree>
    <p:extLst>
      <p:ext uri="{BB962C8B-B14F-4D97-AF65-F5344CB8AC3E}">
        <p14:creationId xmlns:p14="http://schemas.microsoft.com/office/powerpoint/2010/main" val="217810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8. The </a:t>
            </a:r>
            <a:r>
              <a:rPr lang="en-CA" dirty="0" smtClean="0"/>
              <a:t>Self-esteem Pathway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96254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Feeling good about yourself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CA" sz="2800" b="1" dirty="0" smtClean="0">
                <a:solidFill>
                  <a:srgbClr val="564B3C"/>
                </a:solidFill>
              </a:rPr>
              <a:t>Love yourself for your inner qualities</a:t>
            </a:r>
            <a:r>
              <a:rPr lang="en-CA" sz="2800" dirty="0" smtClean="0">
                <a:solidFill>
                  <a:srgbClr val="564B3C"/>
                </a:solidFill>
              </a:rPr>
              <a:t>.</a:t>
            </a:r>
          </a:p>
          <a:p>
            <a:pPr marL="114300" indent="0">
              <a:buNone/>
            </a:pPr>
            <a:endParaRPr lang="en-CA" sz="2800" dirty="0">
              <a:solidFill>
                <a:srgbClr val="564B3C"/>
              </a:solidFill>
            </a:endParaRPr>
          </a:p>
          <a:p>
            <a:r>
              <a:rPr lang="en-CA" dirty="0" smtClean="0"/>
              <a:t>Build self-esteem  based on your human dignity, self-respect and inner goodness rather than possession, position and pretension.</a:t>
            </a:r>
          </a:p>
          <a:p>
            <a:endParaRPr lang="en-CA" dirty="0"/>
          </a:p>
          <a:p>
            <a:r>
              <a:rPr lang="en-CA" dirty="0" smtClean="0"/>
              <a:t>Failure for a noble ideal is more honourable than success thru manipulation and ruthless competition.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6443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4000" dirty="0" smtClean="0"/>
              <a:t>Restoring a Healthy</a:t>
            </a:r>
            <a:br>
              <a:rPr lang="en-CA" sz="4000" dirty="0" smtClean="0"/>
            </a:br>
            <a:r>
              <a:rPr lang="en-CA" sz="4000" dirty="0" smtClean="0"/>
              <a:t>Sense of Self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lvl="0" indent="0">
              <a:buClr>
                <a:srgbClr val="93A299"/>
              </a:buClr>
              <a:buNone/>
            </a:pPr>
            <a:endParaRPr lang="en-CA" sz="2800" dirty="0">
              <a:solidFill>
                <a:srgbClr val="564B3C"/>
              </a:solidFill>
            </a:endParaRPr>
          </a:p>
          <a:p>
            <a:pPr lvl="0"/>
            <a:r>
              <a:rPr lang="en-CA" sz="2800" dirty="0" smtClean="0"/>
              <a:t>Recognize</a:t>
            </a:r>
            <a:r>
              <a:rPr lang="en-CA" sz="2800" dirty="0" smtClean="0"/>
              <a:t> </a:t>
            </a:r>
            <a:r>
              <a:rPr lang="en-CA" sz="2800" dirty="0"/>
              <a:t>the dark sides of the self.</a:t>
            </a:r>
          </a:p>
          <a:p>
            <a:pPr lvl="0"/>
            <a:r>
              <a:rPr lang="en-CA" sz="2800" dirty="0" smtClean="0"/>
              <a:t>Reconcile </a:t>
            </a:r>
            <a:r>
              <a:rPr lang="en-CA" sz="2800" dirty="0"/>
              <a:t>the negative and positive aspects of the self.</a:t>
            </a:r>
          </a:p>
          <a:p>
            <a:pPr lvl="0"/>
            <a:r>
              <a:rPr lang="en-CA" sz="2800" dirty="0" smtClean="0"/>
              <a:t>Avoid </a:t>
            </a:r>
            <a:r>
              <a:rPr lang="en-CA" sz="2800" dirty="0" smtClean="0"/>
              <a:t>self-deceptions</a:t>
            </a:r>
            <a:r>
              <a:rPr lang="en-CA" sz="2800" dirty="0" smtClean="0"/>
              <a:t>.</a:t>
            </a:r>
            <a:endParaRPr lang="en-CA" sz="2800" dirty="0"/>
          </a:p>
          <a:p>
            <a:pPr lvl="0"/>
            <a:r>
              <a:rPr lang="en-CA" sz="2800" dirty="0" smtClean="0"/>
              <a:t>Self-concept </a:t>
            </a:r>
            <a:r>
              <a:rPr lang="en-CA" sz="2800" dirty="0"/>
              <a:t>is an ongoing process of </a:t>
            </a:r>
            <a:r>
              <a:rPr lang="en-CA" sz="2800" dirty="0" smtClean="0"/>
              <a:t>meaning-making.</a:t>
            </a:r>
            <a:endParaRPr lang="en-CA" sz="2800" dirty="0"/>
          </a:p>
          <a:p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95299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Self-Deception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CA" sz="2600" dirty="0"/>
              <a:t>We tend to know ourselves less than we think we do.</a:t>
            </a:r>
          </a:p>
          <a:p>
            <a:pPr lvl="0"/>
            <a:r>
              <a:rPr lang="en-CA" sz="2600" dirty="0"/>
              <a:t>There are many </a:t>
            </a:r>
            <a:r>
              <a:rPr lang="en-CA" sz="2600" dirty="0" smtClean="0"/>
              <a:t>reasons for self-deception.</a:t>
            </a:r>
            <a:endParaRPr lang="en-CA" sz="2600" dirty="0"/>
          </a:p>
          <a:p>
            <a:pPr lvl="1"/>
            <a:r>
              <a:rPr lang="en-CA" sz="2400" dirty="0" smtClean="0"/>
              <a:t>Pride and ambition.</a:t>
            </a:r>
          </a:p>
          <a:p>
            <a:pPr lvl="1"/>
            <a:r>
              <a:rPr lang="en-CA" sz="2400" dirty="0" smtClean="0"/>
              <a:t>D</a:t>
            </a:r>
            <a:r>
              <a:rPr lang="en-CA" sz="2400" dirty="0" smtClean="0"/>
              <a:t>efense </a:t>
            </a:r>
            <a:r>
              <a:rPr lang="en-CA" sz="2400" dirty="0"/>
              <a:t>mechanisms, such as </a:t>
            </a:r>
            <a:r>
              <a:rPr lang="en-CA" sz="2400" dirty="0" smtClean="0"/>
              <a:t>denial.</a:t>
            </a:r>
            <a:endParaRPr lang="en-CA" sz="2400" dirty="0"/>
          </a:p>
          <a:p>
            <a:pPr lvl="1"/>
            <a:r>
              <a:rPr lang="en-CA" sz="2400" dirty="0"/>
              <a:t>I</a:t>
            </a:r>
            <a:r>
              <a:rPr lang="en-CA" sz="2400" dirty="0" smtClean="0"/>
              <a:t>ntentional bias and prejudice. </a:t>
            </a:r>
            <a:endParaRPr lang="en-CA" sz="2400" dirty="0"/>
          </a:p>
          <a:p>
            <a:pPr lvl="1"/>
            <a:r>
              <a:rPr lang="en-CA" sz="2400" dirty="0"/>
              <a:t>U</a:t>
            </a:r>
            <a:r>
              <a:rPr lang="en-CA" sz="2400" dirty="0" smtClean="0"/>
              <a:t>nintentional </a:t>
            </a:r>
            <a:r>
              <a:rPr lang="en-CA" sz="2400" dirty="0"/>
              <a:t>blind spot.</a:t>
            </a:r>
          </a:p>
          <a:p>
            <a:pPr lvl="1"/>
            <a:r>
              <a:rPr lang="en-CA" sz="2400" dirty="0"/>
              <a:t>F</a:t>
            </a:r>
            <a:r>
              <a:rPr lang="en-CA" sz="2400" dirty="0" smtClean="0"/>
              <a:t>alse </a:t>
            </a:r>
            <a:r>
              <a:rPr lang="en-CA" sz="2400" dirty="0"/>
              <a:t>feedback from close associates.</a:t>
            </a:r>
          </a:p>
          <a:p>
            <a:endParaRPr lang="en-CA" sz="2600" dirty="0"/>
          </a:p>
        </p:txBody>
      </p:sp>
    </p:spTree>
    <p:extLst>
      <p:ext uri="{BB962C8B-B14F-4D97-AF65-F5344CB8AC3E}">
        <p14:creationId xmlns:p14="http://schemas.microsoft.com/office/powerpoint/2010/main" val="113695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9. The </a:t>
            </a:r>
            <a:r>
              <a:rPr lang="en-CA" dirty="0" smtClean="0"/>
              <a:t>Resilience Pathway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8530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Four Prototypical Life Trajectories</a:t>
            </a:r>
            <a:endParaRPr lang="en-CA" dirty="0"/>
          </a:p>
        </p:txBody>
      </p:sp>
      <p:pic>
        <p:nvPicPr>
          <p:cNvPr id="409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72816"/>
            <a:ext cx="8613696" cy="479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655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4000" dirty="0" smtClean="0"/>
              <a:t>The Good Life in Tough Times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CA" sz="2800" b="1" dirty="0" smtClean="0"/>
          </a:p>
          <a:p>
            <a:pPr lvl="0"/>
            <a:r>
              <a:rPr lang="en-CA" sz="2800" b="1" dirty="0" smtClean="0"/>
              <a:t>Meaning makes life worth living in the midst of suffering and death</a:t>
            </a:r>
            <a:r>
              <a:rPr lang="en-CA" sz="2800" dirty="0" smtClean="0"/>
              <a:t>.</a:t>
            </a:r>
          </a:p>
          <a:p>
            <a:pPr lvl="0"/>
            <a:r>
              <a:rPr lang="en-CA" sz="2800" dirty="0" smtClean="0"/>
              <a:t>Find </a:t>
            </a:r>
            <a:r>
              <a:rPr lang="en-CA" sz="2800" dirty="0"/>
              <a:t>meaning through a heroic attitude (Frankl, 1985</a:t>
            </a:r>
            <a:r>
              <a:rPr lang="en-CA" sz="2800" dirty="0" smtClean="0"/>
              <a:t>).</a:t>
            </a:r>
          </a:p>
          <a:p>
            <a:pPr lvl="0">
              <a:buClr>
                <a:srgbClr val="93A299"/>
              </a:buClr>
            </a:pPr>
            <a:r>
              <a:rPr lang="en-CA" sz="2800" dirty="0">
                <a:solidFill>
                  <a:srgbClr val="564B3C"/>
                </a:solidFill>
              </a:rPr>
              <a:t>Whatever does not kill you make you stronger.</a:t>
            </a:r>
          </a:p>
          <a:p>
            <a:pPr lvl="0"/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30529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The ABCDE Strategy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2800" b="1" dirty="0"/>
              <a:t>Accept </a:t>
            </a:r>
            <a:r>
              <a:rPr lang="en-US" sz="2800" dirty="0"/>
              <a:t>and confront reality – </a:t>
            </a:r>
            <a:r>
              <a:rPr lang="en-US" sz="2800" i="1" dirty="0"/>
              <a:t>the reality principle</a:t>
            </a:r>
            <a:endParaRPr lang="en-CA" sz="2800" dirty="0"/>
          </a:p>
          <a:p>
            <a:pPr lvl="0"/>
            <a:r>
              <a:rPr lang="en-US" sz="2800" b="1" dirty="0"/>
              <a:t>Believe </a:t>
            </a:r>
            <a:r>
              <a:rPr lang="en-US" sz="2800" dirty="0"/>
              <a:t>that life is worth living – </a:t>
            </a:r>
            <a:r>
              <a:rPr lang="en-US" sz="2800" i="1" dirty="0"/>
              <a:t>the faith principle</a:t>
            </a:r>
            <a:endParaRPr lang="en-CA" sz="2800" dirty="0"/>
          </a:p>
          <a:p>
            <a:pPr lvl="0"/>
            <a:r>
              <a:rPr lang="en-US" sz="2800" b="1" dirty="0"/>
              <a:t>Commit </a:t>
            </a:r>
            <a:r>
              <a:rPr lang="en-US" sz="2800" dirty="0"/>
              <a:t>to goals and actions – </a:t>
            </a:r>
            <a:r>
              <a:rPr lang="en-US" sz="2800" i="1" dirty="0"/>
              <a:t>the action principle</a:t>
            </a:r>
            <a:endParaRPr lang="en-CA" sz="2800" dirty="0"/>
          </a:p>
          <a:p>
            <a:pPr lvl="0"/>
            <a:r>
              <a:rPr lang="en-US" sz="2800" b="1" dirty="0"/>
              <a:t>Discover </a:t>
            </a:r>
            <a:r>
              <a:rPr lang="en-US" sz="2800" dirty="0"/>
              <a:t>the meaning and significance of self and situations – </a:t>
            </a:r>
            <a:r>
              <a:rPr lang="en-US" sz="2800" i="1" dirty="0"/>
              <a:t>the Aha! Principle</a:t>
            </a:r>
            <a:endParaRPr lang="en-CA" sz="2800" dirty="0"/>
          </a:p>
          <a:p>
            <a:pPr lvl="0"/>
            <a:r>
              <a:rPr lang="en-US" sz="2800" b="1" dirty="0"/>
              <a:t>Evaluate </a:t>
            </a:r>
            <a:r>
              <a:rPr lang="en-US" sz="2800" dirty="0"/>
              <a:t>the above – </a:t>
            </a:r>
            <a:r>
              <a:rPr lang="en-US" sz="2800" i="1" dirty="0"/>
              <a:t>the self-regulation principle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41277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Tragic Optimism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CA" sz="2800" dirty="0" smtClean="0"/>
              <a:t>Elements </a:t>
            </a:r>
            <a:r>
              <a:rPr lang="en-CA" sz="2800" dirty="0"/>
              <a:t>of Meaning-Centred </a:t>
            </a:r>
            <a:r>
              <a:rPr lang="en-CA" sz="2800" dirty="0" smtClean="0"/>
              <a:t>Tragic </a:t>
            </a:r>
            <a:r>
              <a:rPr lang="en-CA" sz="2800" dirty="0" err="1" smtClean="0"/>
              <a:t>Optism</a:t>
            </a:r>
            <a:r>
              <a:rPr lang="en-CA" sz="2800" dirty="0" smtClean="0"/>
              <a:t>.</a:t>
            </a:r>
            <a:endParaRPr lang="en-CA" sz="2800" dirty="0"/>
          </a:p>
          <a:p>
            <a:pPr lvl="0"/>
            <a:endParaRPr lang="en-CA" sz="2800" dirty="0" smtClean="0"/>
          </a:p>
          <a:p>
            <a:pPr lvl="0"/>
            <a:r>
              <a:rPr lang="en-CA" sz="2800" dirty="0" smtClean="0"/>
              <a:t>Acceptance </a:t>
            </a:r>
            <a:r>
              <a:rPr lang="en-CA" sz="2800" dirty="0"/>
              <a:t>of the worst.</a:t>
            </a:r>
          </a:p>
          <a:p>
            <a:pPr lvl="0"/>
            <a:r>
              <a:rPr lang="en-CA" sz="2800" dirty="0"/>
              <a:t>Affirmation in the value and meaning of life.</a:t>
            </a:r>
          </a:p>
          <a:p>
            <a:pPr lvl="0"/>
            <a:r>
              <a:rPr lang="en-CA" sz="2800" dirty="0"/>
              <a:t>Self-transcendence (altruism).</a:t>
            </a:r>
          </a:p>
          <a:p>
            <a:pPr lvl="0"/>
            <a:r>
              <a:rPr lang="en-CA" sz="2800" dirty="0"/>
              <a:t>Faith in God and others.</a:t>
            </a:r>
          </a:p>
          <a:p>
            <a:pPr lvl="0"/>
            <a:r>
              <a:rPr lang="en-CA" sz="2800" dirty="0"/>
              <a:t>Courage to face adversity.</a:t>
            </a:r>
            <a:endParaRPr lang="en-CA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90709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The Power of Acceptance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 smtClean="0"/>
              <a:t>Accept </a:t>
            </a:r>
            <a:r>
              <a:rPr lang="en-US" sz="2800" dirty="0"/>
              <a:t>what cannot be changed.</a:t>
            </a:r>
            <a:endParaRPr lang="en-CA" sz="2800" dirty="0"/>
          </a:p>
          <a:p>
            <a:pPr lvl="0"/>
            <a:r>
              <a:rPr lang="en-US" sz="2800" dirty="0" smtClean="0"/>
              <a:t>Accept </a:t>
            </a:r>
            <a:r>
              <a:rPr lang="en-US" sz="2800" dirty="0"/>
              <a:t>reality, limitations, loss, trauma, and existential givens.</a:t>
            </a:r>
            <a:endParaRPr lang="en-CA" sz="2800" dirty="0"/>
          </a:p>
          <a:p>
            <a:pPr lvl="0"/>
            <a:r>
              <a:rPr lang="en-US" sz="2800" dirty="0"/>
              <a:t>Acceptance does not mean giving up or resignation.</a:t>
            </a:r>
            <a:endParaRPr lang="en-CA" sz="2800" dirty="0"/>
          </a:p>
          <a:p>
            <a:pPr lvl="0"/>
            <a:r>
              <a:rPr lang="en-US" sz="2800" dirty="0" smtClean="0"/>
              <a:t>Confront </a:t>
            </a:r>
            <a:r>
              <a:rPr lang="en-US" sz="2800" dirty="0"/>
              <a:t>one’s worse fears with courage and tragic optimism</a:t>
            </a:r>
            <a:r>
              <a:rPr lang="en-US" sz="2800" dirty="0" smtClean="0"/>
              <a:t>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67529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Concluding Remarks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4095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9 Pathways to flourishing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457200">
              <a:buFont typeface="+mj-lt"/>
              <a:buAutoNum type="arabicPeriod"/>
            </a:pPr>
            <a:r>
              <a:rPr lang="en-CA" b="1" dirty="0" smtClean="0"/>
              <a:t>Philosophy </a:t>
            </a:r>
            <a:r>
              <a:rPr lang="en-CA" dirty="0" smtClean="0"/>
              <a:t>– Make sense of life.</a:t>
            </a:r>
          </a:p>
          <a:p>
            <a:pPr marL="571500" indent="-457200">
              <a:buFont typeface="+mj-lt"/>
              <a:buAutoNum type="arabicPeriod"/>
            </a:pPr>
            <a:r>
              <a:rPr lang="en-CA" b="1" dirty="0" smtClean="0"/>
              <a:t>Meaning</a:t>
            </a:r>
            <a:r>
              <a:rPr lang="en-CA" dirty="0" smtClean="0"/>
              <a:t> – Provides the royal road to the good life.</a:t>
            </a:r>
          </a:p>
          <a:p>
            <a:pPr marL="571500" indent="-457200">
              <a:buFont typeface="+mj-lt"/>
              <a:buAutoNum type="arabicPeriod"/>
            </a:pPr>
            <a:r>
              <a:rPr lang="en-CA" b="1" dirty="0" smtClean="0"/>
              <a:t>Virtue</a:t>
            </a:r>
            <a:r>
              <a:rPr lang="en-CA" dirty="0" smtClean="0"/>
              <a:t> – The good life based on inner goodness.</a:t>
            </a:r>
          </a:p>
          <a:p>
            <a:pPr marL="571500" indent="-457200">
              <a:buFont typeface="+mj-lt"/>
              <a:buAutoNum type="arabicPeriod"/>
            </a:pPr>
            <a:r>
              <a:rPr lang="en-CA" b="1" dirty="0" smtClean="0"/>
              <a:t>Spirituality</a:t>
            </a:r>
            <a:r>
              <a:rPr lang="en-CA" dirty="0" smtClean="0"/>
              <a:t> – Good for survival and flourishing.</a:t>
            </a:r>
          </a:p>
          <a:p>
            <a:pPr marL="571500" indent="-457200">
              <a:buFont typeface="+mj-lt"/>
              <a:buAutoNum type="arabicPeriod"/>
            </a:pPr>
            <a:r>
              <a:rPr lang="en-CA" b="1" dirty="0" smtClean="0"/>
              <a:t>Freedom</a:t>
            </a:r>
            <a:r>
              <a:rPr lang="en-CA" dirty="0" smtClean="0"/>
              <a:t> – Free to choose a meaningful life.</a:t>
            </a:r>
          </a:p>
          <a:p>
            <a:pPr marL="571500" indent="-457200">
              <a:buFont typeface="+mj-lt"/>
              <a:buAutoNum type="arabicPeriod"/>
            </a:pPr>
            <a:r>
              <a:rPr lang="en-CA" b="1" dirty="0" smtClean="0"/>
              <a:t>Responsibility</a:t>
            </a:r>
            <a:r>
              <a:rPr lang="en-CA" dirty="0" smtClean="0"/>
              <a:t> – Do what is right no matter what.</a:t>
            </a:r>
          </a:p>
          <a:p>
            <a:pPr marL="571500" indent="-457200">
              <a:buFont typeface="+mj-lt"/>
              <a:buAutoNum type="arabicPeriod"/>
            </a:pPr>
            <a:r>
              <a:rPr lang="en-CA" b="1" dirty="0" smtClean="0"/>
              <a:t>Wisdom</a:t>
            </a:r>
            <a:r>
              <a:rPr lang="en-CA" dirty="0" smtClean="0"/>
              <a:t> – Need wisdom and courage to live well.</a:t>
            </a:r>
          </a:p>
          <a:p>
            <a:pPr marL="571500" indent="-457200">
              <a:buFont typeface="+mj-lt"/>
              <a:buAutoNum type="arabicPeriod"/>
            </a:pPr>
            <a:r>
              <a:rPr lang="en-CA" b="1" dirty="0" smtClean="0"/>
              <a:t>Self-esteem</a:t>
            </a:r>
            <a:r>
              <a:rPr lang="en-CA" dirty="0" smtClean="0"/>
              <a:t> – Love yourself for your inner qualities.</a:t>
            </a:r>
          </a:p>
          <a:p>
            <a:pPr marL="571500" indent="-457200">
              <a:buFont typeface="+mj-lt"/>
              <a:buAutoNum type="arabicPeriod"/>
            </a:pPr>
            <a:r>
              <a:rPr lang="en-CA" b="1" dirty="0" smtClean="0"/>
              <a:t>Resilience </a:t>
            </a:r>
            <a:r>
              <a:rPr lang="en-CA" dirty="0" smtClean="0"/>
              <a:t>– Meaning makes life </a:t>
            </a:r>
            <a:r>
              <a:rPr lang="en-CA" smtClean="0"/>
              <a:t>worth living.</a:t>
            </a:r>
            <a:endParaRPr lang="en-CA" dirty="0" smtClean="0"/>
          </a:p>
          <a:p>
            <a:pPr marL="571500" indent="-45720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02018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32" name="Oval 31"/>
          <p:cNvSpPr/>
          <p:nvPr/>
        </p:nvSpPr>
        <p:spPr>
          <a:xfrm>
            <a:off x="4198184" y="2979511"/>
            <a:ext cx="2286013" cy="818854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18" name="Group 21"/>
          <p:cNvGrpSpPr>
            <a:grpSpLocks/>
          </p:cNvGrpSpPr>
          <p:nvPr/>
        </p:nvGrpSpPr>
        <p:grpSpPr bwMode="auto">
          <a:xfrm>
            <a:off x="1448040" y="116632"/>
            <a:ext cx="6292312" cy="6705600"/>
            <a:chOff x="2217" y="988"/>
            <a:chExt cx="8175" cy="8715"/>
          </a:xfrm>
        </p:grpSpPr>
        <p:sp>
          <p:nvSpPr>
            <p:cNvPr id="19" name="AutoShape 34"/>
            <p:cNvSpPr>
              <a:spLocks noChangeShapeType="1"/>
            </p:cNvSpPr>
            <p:nvPr/>
          </p:nvSpPr>
          <p:spPr bwMode="auto">
            <a:xfrm>
              <a:off x="3735" y="3295"/>
              <a:ext cx="2295" cy="43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AutoShape 33"/>
            <p:cNvSpPr>
              <a:spLocks noChangeShapeType="1"/>
            </p:cNvSpPr>
            <p:nvPr/>
          </p:nvSpPr>
          <p:spPr bwMode="auto">
            <a:xfrm flipH="1">
              <a:off x="6285" y="3295"/>
              <a:ext cx="2295" cy="43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grpSp>
          <p:nvGrpSpPr>
            <p:cNvPr id="21" name="Group 22"/>
            <p:cNvGrpSpPr>
              <a:grpSpLocks/>
            </p:cNvGrpSpPr>
            <p:nvPr/>
          </p:nvGrpSpPr>
          <p:grpSpPr bwMode="auto">
            <a:xfrm>
              <a:off x="2217" y="988"/>
              <a:ext cx="8175" cy="8715"/>
              <a:chOff x="2217" y="988"/>
              <a:chExt cx="8175" cy="8715"/>
            </a:xfrm>
          </p:grpSpPr>
          <p:sp>
            <p:nvSpPr>
              <p:cNvPr id="22" name="Text Box 2"/>
              <p:cNvSpPr txBox="1">
                <a:spLocks noChangeArrowheads="1"/>
              </p:cNvSpPr>
              <p:nvPr/>
            </p:nvSpPr>
            <p:spPr bwMode="auto">
              <a:xfrm>
                <a:off x="4290" y="7648"/>
                <a:ext cx="3825" cy="205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The PURE Principles of Meaningful Living</a:t>
                </a:r>
                <a:endParaRPr kumimoji="0" lang="en-US" sz="7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</a:pP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Purpose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</a:pP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Understanding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</a:pP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Responsibility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</a:pP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Enjoyment</a:t>
                </a:r>
                <a:endParaRPr kumimoji="0" lang="en-US" sz="7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3" name="Text Box 31"/>
              <p:cNvSpPr txBox="1">
                <a:spLocks noChangeArrowheads="1"/>
              </p:cNvSpPr>
              <p:nvPr/>
            </p:nvSpPr>
            <p:spPr bwMode="auto">
              <a:xfrm>
                <a:off x="2217" y="988"/>
                <a:ext cx="3153" cy="230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ABCDE Strategy of Resilience</a:t>
                </a:r>
                <a:endParaRPr kumimoji="0" lang="en-US" sz="7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</a:pP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Acceptance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</a:pP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Belief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</a:pP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Commitment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</a:pP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Discovery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</a:pP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Enjoyment and Evaluation</a:t>
                </a:r>
                <a:endParaRPr kumimoji="0" lang="en-US" sz="7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4" name="Text Box 30"/>
              <p:cNvSpPr txBox="1">
                <a:spLocks noChangeArrowheads="1"/>
              </p:cNvSpPr>
              <p:nvPr/>
            </p:nvSpPr>
            <p:spPr bwMode="auto">
              <a:xfrm>
                <a:off x="6927" y="988"/>
                <a:ext cx="3465" cy="231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Elements of Tragic Optimism</a:t>
                </a:r>
                <a:endParaRPr kumimoji="0" lang="en-US" sz="7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Acceptance of the worst</a:t>
                </a:r>
                <a:endParaRPr kumimoji="0" lang="en-US" sz="7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Affirmation in the value and meaning of life</a:t>
                </a:r>
                <a:endParaRPr kumimoji="0" lang="en-US" sz="7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Self-transcendence (altruism)</a:t>
                </a:r>
                <a:endParaRPr kumimoji="0" lang="en-US" sz="7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Faith in God and others</a:t>
                </a:r>
                <a:endParaRPr kumimoji="0" lang="en-US" sz="7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Courage to face adversity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5" name="AutoShape 29"/>
              <p:cNvSpPr>
                <a:spLocks noChangeShapeType="1"/>
              </p:cNvSpPr>
              <p:nvPr/>
            </p:nvSpPr>
            <p:spPr bwMode="auto">
              <a:xfrm>
                <a:off x="5370" y="2098"/>
                <a:ext cx="1557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26" name="Oval 28"/>
              <p:cNvSpPr>
                <a:spLocks noChangeArrowheads="1"/>
              </p:cNvSpPr>
              <p:nvPr/>
            </p:nvSpPr>
            <p:spPr bwMode="auto">
              <a:xfrm>
                <a:off x="3450" y="4738"/>
                <a:ext cx="2970" cy="105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27" name="Oval 27"/>
              <p:cNvSpPr>
                <a:spLocks noChangeArrowheads="1"/>
              </p:cNvSpPr>
              <p:nvPr/>
            </p:nvSpPr>
            <p:spPr bwMode="auto">
              <a:xfrm>
                <a:off x="5790" y="4723"/>
                <a:ext cx="2970" cy="105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28" name="Text Box 2"/>
              <p:cNvSpPr txBox="1">
                <a:spLocks noChangeArrowheads="1"/>
              </p:cNvSpPr>
              <p:nvPr/>
            </p:nvSpPr>
            <p:spPr bwMode="auto">
              <a:xfrm>
                <a:off x="4290" y="5023"/>
                <a:ext cx="1500" cy="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CA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Approach</a:t>
                </a:r>
                <a:endParaRPr kumimoji="0" lang="en-C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9" name="Text Box 2"/>
              <p:cNvSpPr txBox="1">
                <a:spLocks noChangeArrowheads="1"/>
              </p:cNvSpPr>
              <p:nvPr/>
            </p:nvSpPr>
            <p:spPr bwMode="auto">
              <a:xfrm>
                <a:off x="6687" y="5023"/>
                <a:ext cx="1361" cy="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Avoidance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0" name="Oval 24"/>
              <p:cNvSpPr>
                <a:spLocks noChangeArrowheads="1"/>
              </p:cNvSpPr>
              <p:nvPr/>
            </p:nvSpPr>
            <p:spPr bwMode="auto">
              <a:xfrm>
                <a:off x="7332" y="4753"/>
                <a:ext cx="630" cy="40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31" name="Oval 23"/>
              <p:cNvSpPr>
                <a:spLocks noChangeArrowheads="1"/>
              </p:cNvSpPr>
              <p:nvPr/>
            </p:nvSpPr>
            <p:spPr bwMode="auto">
              <a:xfrm>
                <a:off x="6927" y="5428"/>
                <a:ext cx="630" cy="31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5186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4001</TotalTime>
  <Words>1711</Words>
  <Application>Microsoft Office PowerPoint</Application>
  <PresentationFormat>On-screen Show (4:3)</PresentationFormat>
  <Paragraphs>295</Paragraphs>
  <Slides>51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Apothecary</vt:lpstr>
      <vt:lpstr>Lesson 10</vt:lpstr>
      <vt:lpstr>Learning Objectives</vt:lpstr>
      <vt:lpstr>A Message from Steve Jobs</vt:lpstr>
      <vt:lpstr>The Purpose of M4L</vt:lpstr>
      <vt:lpstr>What is the Good Life?</vt:lpstr>
      <vt:lpstr>A new vision for flourishing</vt:lpstr>
      <vt:lpstr>types of Well-Being</vt:lpstr>
      <vt:lpstr>Psychological well-being</vt:lpstr>
      <vt:lpstr>1.The Philosophical Pathway</vt:lpstr>
      <vt:lpstr>The Ultimate Concern</vt:lpstr>
      <vt:lpstr>8 Major Existential Q’s</vt:lpstr>
      <vt:lpstr>Self-Knowledge</vt:lpstr>
      <vt:lpstr>2.The Meaning Pathway</vt:lpstr>
      <vt:lpstr>Advantages of the Meaning Pursuit</vt:lpstr>
      <vt:lpstr>Self-Transcendence</vt:lpstr>
      <vt:lpstr>Frankl’s (1985) 3 avenues to Meaning</vt:lpstr>
      <vt:lpstr>Sources of Meaning</vt:lpstr>
      <vt:lpstr>PURE as a definition of meaning in life</vt:lpstr>
      <vt:lpstr>Purpose</vt:lpstr>
      <vt:lpstr>Understanding</vt:lpstr>
      <vt:lpstr>Responsibility</vt:lpstr>
      <vt:lpstr>Enjoyment/Evaluation</vt:lpstr>
      <vt:lpstr>3.The Virtue Pathway</vt:lpstr>
      <vt:lpstr>The Good Life is  a Virtuous Life</vt:lpstr>
      <vt:lpstr>Is the Good Life possible without Inner Goodness?</vt:lpstr>
      <vt:lpstr>4.The Spiritual Pathway</vt:lpstr>
      <vt:lpstr>The Good Life is a Spiritual Life</vt:lpstr>
      <vt:lpstr>5.The Freedom Pathway</vt:lpstr>
      <vt:lpstr>4 Types of Freedom</vt:lpstr>
      <vt:lpstr>Frankl’s 3 Basic Tenets of Logotherapy</vt:lpstr>
      <vt:lpstr>Freedom of choice</vt:lpstr>
      <vt:lpstr>6.The responsibility Pathway</vt:lpstr>
      <vt:lpstr>Responsibility is the key</vt:lpstr>
      <vt:lpstr>Frankl’s definition (1985)</vt:lpstr>
      <vt:lpstr>7. The Wisdom Pathway</vt:lpstr>
      <vt:lpstr>What is Life Intelligence (LQ)?</vt:lpstr>
      <vt:lpstr>The 4 main Components of LQ</vt:lpstr>
      <vt:lpstr>How do we develop LQ?</vt:lpstr>
      <vt:lpstr>8. The Self-esteem Pathway</vt:lpstr>
      <vt:lpstr>Feeling good about yourself</vt:lpstr>
      <vt:lpstr>Restoring a Healthy Sense of Self</vt:lpstr>
      <vt:lpstr>Self-Deception</vt:lpstr>
      <vt:lpstr>9. The Resilience Pathway</vt:lpstr>
      <vt:lpstr>Four Prototypical Life Trajectories</vt:lpstr>
      <vt:lpstr>The Good Life in Tough Times</vt:lpstr>
      <vt:lpstr>The ABCDE Strategy</vt:lpstr>
      <vt:lpstr>Tragic Optimism</vt:lpstr>
      <vt:lpstr>The Power of Acceptance</vt:lpstr>
      <vt:lpstr>Concluding Remarks</vt:lpstr>
      <vt:lpstr>9 Pathways to flourishing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</dc:title>
  <dc:creator>Paul T. P. Wong</dc:creator>
  <cp:lastModifiedBy>Paul Wong</cp:lastModifiedBy>
  <cp:revision>40</cp:revision>
  <dcterms:created xsi:type="dcterms:W3CDTF">2011-08-12T19:59:22Z</dcterms:created>
  <dcterms:modified xsi:type="dcterms:W3CDTF">2011-10-11T16:11:17Z</dcterms:modified>
</cp:coreProperties>
</file>