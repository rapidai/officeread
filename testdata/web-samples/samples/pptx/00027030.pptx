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5" d="100"/>
          <a:sy n="65" d="100"/>
        </p:scale>
        <p:origin x="-582"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Subtitle 8"/>
          <p:cNvSpPr>
            <a:spLocks noGrp="1"/>
          </p:cNvSpPr>
          <p:nvPr>
            <p:ph type="subTitle" idx="1"/>
          </p:nvPr>
        </p:nvSpPr>
        <p:spPr>
          <a:xfrm>
            <a:off x="457200" y="3699804"/>
            <a:ext cx="8305800" cy="1143000"/>
          </a:xfrm>
        </p:spPr>
        <p:txBody>
          <a:bodyPr>
            <a:noAutofit/>
          </a:bodyPr>
          <a:lstStyle>
            <a:lvl1pPr marL="0" indent="0" algn="ctr">
              <a:buNone/>
              <a:defRPr sz="2200" spc="10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Title 27"/>
          <p:cNvSpPr>
            <a:spLocks noGrp="1"/>
          </p:cNvSpPr>
          <p:nvPr>
            <p:ph type="ctrTitle"/>
          </p:nvPr>
        </p:nvSpPr>
        <p:spPr>
          <a:xfrm>
            <a:off x="457200" y="1433732"/>
            <a:ext cx="8305800" cy="1981200"/>
          </a:xfrm>
          <a:ln w="6350" cap="rnd">
            <a:noFill/>
          </a:ln>
        </p:spPr>
        <p:txBody>
          <a:bodyPr anchor="b" anchorCtr="0">
            <a:noAutofit/>
          </a:bodyPr>
          <a:lstStyle>
            <a:lvl1pPr algn="ctr">
              <a:defRPr lang="en-US" sz="4800" b="0" dirty="0">
                <a:ln w="3200">
                  <a:solidFill>
                    <a:schemeClr val="bg2">
                      <a:shade val="75000"/>
                      <a:alpha val="25000"/>
                    </a:schemeClr>
                  </a:solidFill>
                  <a:prstDash val="solid"/>
                  <a:round/>
                </a:ln>
                <a:solidFill>
                  <a:srgbClr val="F9F9F9"/>
                </a:solidFill>
                <a:effectLst>
                  <a:innerShdw blurRad="50800" dist="25400" dir="13500000">
                    <a:srgbClr val="000000">
                      <a:alpha val="70000"/>
                    </a:srgbClr>
                  </a:innerShdw>
                </a:effectLst>
              </a:defRPr>
            </a:lvl1pPr>
          </a:lstStyle>
          <a:p>
            <a:r>
              <a:rPr kumimoji="0" lang="en-US" smtClean="0"/>
              <a:t>Click to edit Master title style</a:t>
            </a:r>
            <a:endParaRPr kumimoji="0" lang="en-US"/>
          </a:p>
        </p:txBody>
      </p:sp>
      <p:cxnSp>
        <p:nvCxnSpPr>
          <p:cNvPr id="8" name="Straight Connector 7"/>
          <p:cNvCxnSpPr/>
          <p:nvPr/>
        </p:nvCxnSpPr>
        <p:spPr>
          <a:xfrm>
            <a:off x="1463626" y="3550126"/>
            <a:ext cx="2971800" cy="1588"/>
          </a:xfrm>
          <a:prstGeom prst="line">
            <a:avLst/>
          </a:prstGeom>
          <a:ln w="9525" cap="flat" cmpd="sng" algn="ctr">
            <a:solidFill>
              <a:schemeClr val="bg2">
                <a:tint val="20000"/>
              </a:schemeClr>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708574" y="3550126"/>
            <a:ext cx="2971800" cy="1588"/>
          </a:xfrm>
          <a:prstGeom prst="line">
            <a:avLst/>
          </a:prstGeom>
          <a:ln w="9525" cap="flat" cmpd="sng" algn="ctr">
            <a:solidFill>
              <a:schemeClr val="bg2">
                <a:tint val="20000"/>
              </a:schemeClr>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4540348" y="3526302"/>
            <a:ext cx="45720" cy="45720"/>
          </a:xfrm>
          <a:prstGeom prst="ellipse">
            <a:avLst/>
          </a:prstGeom>
          <a:effectLst>
            <a:outerShdw blurRad="31750" dir="2700000" algn="tl" rotWithShape="0">
              <a:srgbClr val="000000">
                <a:alpha val="55000"/>
              </a:srgbClr>
            </a:outerShdw>
          </a:effectLst>
        </p:spPr>
        <p:style>
          <a:lnRef idx="2">
            <a:schemeClr val="accent2"/>
          </a:lnRef>
          <a:fillRef idx="1">
            <a:schemeClr val="accent2"/>
          </a:fillRef>
          <a:effectRef idx="0">
            <a:schemeClr val="accent2"/>
          </a:effectRef>
          <a:fontRef idx="minor">
            <a:schemeClr val="lt1"/>
          </a:fontRef>
        </p:style>
        <p:txBody>
          <a:bodyPr rtlCol="0" anchor="ctr"/>
          <a:lstStyle/>
          <a:p>
            <a:pPr algn="ctr" eaLnBrk="1" latinLnBrk="0" hangingPunct="1"/>
            <a:endParaRPr kumimoji="0" lang="en-US" dirty="0"/>
          </a:p>
        </p:txBody>
      </p:sp>
      <p:sp>
        <p:nvSpPr>
          <p:cNvPr id="15" name="Date Placeholder 14"/>
          <p:cNvSpPr>
            <a:spLocks noGrp="1"/>
          </p:cNvSpPr>
          <p:nvPr>
            <p:ph type="dt" sz="half" idx="10"/>
          </p:nvPr>
        </p:nvSpPr>
        <p:spPr/>
        <p:txBody>
          <a:bodyPr/>
          <a:lstStyle/>
          <a:p>
            <a:fld id="{B39480F8-6450-490E-A42D-26E0F7222422}" type="datetimeFigureOut">
              <a:rPr lang="en-US" smtClean="0"/>
              <a:pPr/>
              <a:t>12/14/2011</a:t>
            </a:fld>
            <a:endParaRPr lang="en-AU" dirty="0"/>
          </a:p>
        </p:txBody>
      </p:sp>
      <p:sp>
        <p:nvSpPr>
          <p:cNvPr id="16" name="Slide Number Placeholder 15"/>
          <p:cNvSpPr>
            <a:spLocks noGrp="1"/>
          </p:cNvSpPr>
          <p:nvPr>
            <p:ph type="sldNum" sz="quarter" idx="11"/>
          </p:nvPr>
        </p:nvSpPr>
        <p:spPr/>
        <p:txBody>
          <a:bodyPr/>
          <a:lstStyle/>
          <a:p>
            <a:fld id="{DEF25A61-FCB4-49EE-A020-F23CDD3ACB25}" type="slidenum">
              <a:rPr lang="en-AU" smtClean="0"/>
              <a:pPr/>
              <a:t>‹#›</a:t>
            </a:fld>
            <a:endParaRPr lang="en-AU" dirty="0"/>
          </a:p>
        </p:txBody>
      </p:sp>
      <p:sp>
        <p:nvSpPr>
          <p:cNvPr id="17" name="Footer Placeholder 16"/>
          <p:cNvSpPr>
            <a:spLocks noGrp="1"/>
          </p:cNvSpPr>
          <p:nvPr>
            <p:ph type="ftr" sz="quarter" idx="12"/>
          </p:nvPr>
        </p:nvSpPr>
        <p:spPr/>
        <p:txBody>
          <a:bodyPr/>
          <a:lstStyle/>
          <a:p>
            <a:endParaRPr lang="en-AU"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9" name="Content Placeholder 8"/>
          <p:cNvSpPr>
            <a:spLocks noGrp="1"/>
          </p:cNvSpPr>
          <p:nvPr>
            <p:ph idx="1"/>
          </p:nvPr>
        </p:nvSpPr>
        <p:spPr>
          <a:xfrm>
            <a:off x="457200" y="1524000"/>
            <a:ext cx="8229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4" name="Date Placeholder 13"/>
          <p:cNvSpPr>
            <a:spLocks noGrp="1"/>
          </p:cNvSpPr>
          <p:nvPr>
            <p:ph type="dt" sz="half" idx="14"/>
          </p:nvPr>
        </p:nvSpPr>
        <p:spPr/>
        <p:txBody>
          <a:bodyPr/>
          <a:lstStyle/>
          <a:p>
            <a:fld id="{B39480F8-6450-490E-A42D-26E0F7222422}" type="datetimeFigureOut">
              <a:rPr lang="en-US" smtClean="0"/>
              <a:pPr/>
              <a:t>12/14/2011</a:t>
            </a:fld>
            <a:endParaRPr lang="en-AU" dirty="0"/>
          </a:p>
        </p:txBody>
      </p:sp>
      <p:sp>
        <p:nvSpPr>
          <p:cNvPr id="15" name="Slide Number Placeholder 14"/>
          <p:cNvSpPr>
            <a:spLocks noGrp="1"/>
          </p:cNvSpPr>
          <p:nvPr>
            <p:ph type="sldNum" sz="quarter" idx="15"/>
          </p:nvPr>
        </p:nvSpPr>
        <p:spPr/>
        <p:txBody>
          <a:bodyPr/>
          <a:lstStyle>
            <a:lvl1pPr algn="ctr">
              <a:defRPr/>
            </a:lvl1pPr>
          </a:lstStyle>
          <a:p>
            <a:fld id="{DEF25A61-FCB4-49EE-A020-F23CDD3ACB25}" type="slidenum">
              <a:rPr lang="en-AU" smtClean="0"/>
              <a:pPr/>
              <a:t>‹#›</a:t>
            </a:fld>
            <a:endParaRPr lang="en-AU" dirty="0"/>
          </a:p>
        </p:txBody>
      </p:sp>
      <p:sp>
        <p:nvSpPr>
          <p:cNvPr id="16" name="Footer Placeholder 15"/>
          <p:cNvSpPr>
            <a:spLocks noGrp="1"/>
          </p:cNvSpPr>
          <p:nvPr>
            <p:ph type="ftr" sz="quarter" idx="16"/>
          </p:nvPr>
        </p:nvSpPr>
        <p:spPr/>
        <p:txBody>
          <a:bodyPr/>
          <a:lstStyle/>
          <a:p>
            <a:endParaRPr lang="en-AU" dirty="0"/>
          </a:p>
        </p:txBody>
      </p:sp>
      <p:sp>
        <p:nvSpPr>
          <p:cNvPr id="17" name="Title 16"/>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39480F8-6450-490E-A42D-26E0F7222422}" type="datetimeFigureOut">
              <a:rPr lang="en-US" smtClean="0"/>
              <a:pPr/>
              <a:t>12/14/2011</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DEF25A61-FCB4-49EE-A020-F23CDD3ACB25}" type="slidenum">
              <a:rPr lang="en-AU" smtClean="0"/>
              <a:pPr/>
              <a:t>‹#›</a:t>
            </a:fld>
            <a:endParaRPr lang="en-AU" dirty="0"/>
          </a:p>
        </p:txBody>
      </p:sp>
      <p:sp>
        <p:nvSpPr>
          <p:cNvPr id="2" name="Title 1"/>
          <p:cNvSpPr>
            <a:spLocks noGrp="1"/>
          </p:cNvSpPr>
          <p:nvPr>
            <p:ph type="title"/>
          </p:nvPr>
        </p:nvSpPr>
        <p:spPr>
          <a:xfrm>
            <a:off x="685800" y="3505200"/>
            <a:ext cx="7924800" cy="1371600"/>
          </a:xfrm>
        </p:spPr>
        <p:txBody>
          <a:bodyPr>
            <a:noAutofit/>
          </a:bodyPr>
          <a:lstStyle>
            <a:lvl1pPr algn="l" rtl="0">
              <a:spcBef>
                <a:spcPct val="0"/>
              </a:spcBef>
              <a:buNone/>
              <a:defRPr lang="en-US" sz="4800" b="0" dirty="0">
                <a:ln w="3200">
                  <a:solidFill>
                    <a:schemeClr val="bg2">
                      <a:shade val="25000"/>
                      <a:alpha val="25000"/>
                    </a:schemeClr>
                  </a:solidFill>
                  <a:prstDash val="solid"/>
                  <a:round/>
                </a:ln>
                <a:solidFill>
                  <a:srgbClr val="F9F9F9"/>
                </a:solidFill>
                <a:effectLst>
                  <a:innerShdw blurRad="38100" dist="25400" dir="13500000">
                    <a:prstClr val="black">
                      <a:alpha val="70000"/>
                    </a:prstClr>
                  </a:inn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4958864"/>
            <a:ext cx="7924800" cy="984736"/>
          </a:xfrm>
        </p:spPr>
        <p:txBody>
          <a:bodyPr anchor="t"/>
          <a:lstStyle>
            <a:lvl1pPr marL="0" indent="0">
              <a:buNone/>
              <a:defRPr sz="2000" spc="10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cxnSp>
        <p:nvCxnSpPr>
          <p:cNvPr id="7" name="Straight Connector 6"/>
          <p:cNvCxnSpPr/>
          <p:nvPr/>
        </p:nvCxnSpPr>
        <p:spPr>
          <a:xfrm>
            <a:off x="685800" y="4916992"/>
            <a:ext cx="7924800" cy="4301"/>
          </a:xfrm>
          <a:prstGeom prst="line">
            <a:avLst/>
          </a:prstGeom>
          <a:noFill/>
          <a:ln w="9525" cap="flat" cmpd="sng" algn="ctr">
            <a:solidFill>
              <a:srgbClr val="E9E9E8"/>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B39480F8-6450-490E-A42D-26E0F7222422}" type="datetimeFigureOut">
              <a:rPr lang="en-US" smtClean="0"/>
              <a:pPr/>
              <a:t>12/14/2011</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DEF25A61-FCB4-49EE-A020-F23CDD3ACB25}" type="slidenum">
              <a:rPr lang="en-AU" smtClean="0"/>
              <a:pPr/>
              <a:t>‹#›</a:t>
            </a:fld>
            <a:endParaRPr lang="en-AU" dirty="0"/>
          </a:p>
        </p:txBody>
      </p:sp>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11" name="Content Placeholder 10"/>
          <p:cNvSpPr>
            <a:spLocks noGrp="1"/>
          </p:cNvSpPr>
          <p:nvPr>
            <p:ph sz="half" idx="1"/>
          </p:nvPr>
        </p:nvSpPr>
        <p:spPr>
          <a:xfrm>
            <a:off x="457200" y="1524000"/>
            <a:ext cx="4059936"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2"/>
          </p:nvPr>
        </p:nvSpPr>
        <p:spPr>
          <a:xfrm>
            <a:off x="4648200" y="1524000"/>
            <a:ext cx="4059936"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p:txBody>
          <a:bodyPr/>
          <a:lstStyle/>
          <a:p>
            <a:fld id="{DEF25A61-FCB4-49EE-A020-F23CDD3ACB25}" type="slidenum">
              <a:rPr lang="en-AU" smtClean="0"/>
              <a:pPr/>
              <a:t>‹#›</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7" name="Date Placeholder 6"/>
          <p:cNvSpPr>
            <a:spLocks noGrp="1"/>
          </p:cNvSpPr>
          <p:nvPr>
            <p:ph type="dt" sz="half" idx="10"/>
          </p:nvPr>
        </p:nvSpPr>
        <p:spPr/>
        <p:txBody>
          <a:bodyPr/>
          <a:lstStyle/>
          <a:p>
            <a:fld id="{B39480F8-6450-490E-A42D-26E0F7222422}" type="datetimeFigureOut">
              <a:rPr lang="en-US" smtClean="0"/>
              <a:pPr/>
              <a:t>12/14/2011</a:t>
            </a:fld>
            <a:endParaRPr lang="en-AU" dirty="0"/>
          </a:p>
        </p:txBody>
      </p:sp>
      <p:sp>
        <p:nvSpPr>
          <p:cNvPr id="3" name="Text Placeholder 2"/>
          <p:cNvSpPr>
            <a:spLocks noGrp="1"/>
          </p:cNvSpPr>
          <p:nvPr>
            <p:ph type="body" idx="1"/>
          </p:nvPr>
        </p:nvSpPr>
        <p:spPr>
          <a:xfrm>
            <a:off x="457200" y="1399593"/>
            <a:ext cx="4040188" cy="762000"/>
          </a:xfrm>
          <a:noFill/>
          <a:ln w="25400" cap="rnd" cmpd="sng" algn="ctr">
            <a:noFill/>
            <a:prstDash val="solid"/>
          </a:ln>
          <a:effectLst>
            <a:softEdge rad="63500"/>
          </a:effectLst>
          <a:sp3d prstMaterial="flat"/>
        </p:spPr>
        <p:style>
          <a:lnRef idx="3">
            <a:schemeClr val="lt1"/>
          </a:lnRef>
          <a:fillRef idx="1">
            <a:schemeClr val="accent5"/>
          </a:fillRef>
          <a:effectRef idx="1">
            <a:schemeClr val="accent5"/>
          </a:effectRef>
          <a:fontRef idx="minor">
            <a:schemeClr val="lt1"/>
          </a:fontRef>
        </p:style>
        <p:txBody>
          <a:bodyPr lIns="91440" tIns="45720" rIns="91440" bIns="45720" anchor="b">
            <a:noAutofit/>
          </a:bodyPr>
          <a:lstStyle>
            <a:lvl1pPr marL="0" indent="0" algn="l">
              <a:spcBef>
                <a:spcPts val="0"/>
              </a:spcBef>
              <a:buNone/>
              <a:defRPr sz="2600" b="1">
                <a:solidFill>
                  <a:schemeClr val="tx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32" name="Content Placeholder 31"/>
          <p:cNvSpPr>
            <a:spLocks noGrp="1"/>
          </p:cNvSpPr>
          <p:nvPr>
            <p:ph sz="half" idx="2"/>
          </p:nvPr>
        </p:nvSpPr>
        <p:spPr>
          <a:xfrm>
            <a:off x="457200" y="2201896"/>
            <a:ext cx="4038600" cy="391363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34" name="Content Placeholder 33"/>
          <p:cNvSpPr>
            <a:spLocks noGrp="1"/>
          </p:cNvSpPr>
          <p:nvPr>
            <p:ph sz="quarter" idx="4"/>
          </p:nvPr>
        </p:nvSpPr>
        <p:spPr>
          <a:xfrm>
            <a:off x="4649788" y="2201896"/>
            <a:ext cx="4038600" cy="391363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 name="Title 1"/>
          <p:cNvSpPr>
            <a:spLocks noGrp="1"/>
          </p:cNvSpPr>
          <p:nvPr>
            <p:ph type="title"/>
          </p:nvPr>
        </p:nvSpPr>
        <p:spPr>
          <a:xfrm>
            <a:off x="457200" y="155448"/>
            <a:ext cx="8229600" cy="1143000"/>
          </a:xfrm>
        </p:spPr>
        <p:txBody>
          <a:bodyPr anchor="b" anchorCtr="0"/>
          <a:lstStyle>
            <a:lvl1pPr>
              <a:defRPr/>
            </a:lvl1pPr>
          </a:lstStyle>
          <a:p>
            <a:r>
              <a:rPr kumimoji="0" lang="en-US" smtClean="0"/>
              <a:t>Click to edit Master title style</a:t>
            </a:r>
            <a:endParaRPr kumimoji="0" lang="en-US"/>
          </a:p>
        </p:txBody>
      </p:sp>
      <p:sp>
        <p:nvSpPr>
          <p:cNvPr id="12" name="Text Placeholder 11"/>
          <p:cNvSpPr>
            <a:spLocks noGrp="1"/>
          </p:cNvSpPr>
          <p:nvPr>
            <p:ph type="body" idx="3"/>
          </p:nvPr>
        </p:nvSpPr>
        <p:spPr>
          <a:xfrm>
            <a:off x="4648200" y="1399593"/>
            <a:ext cx="4040188" cy="762000"/>
          </a:xfrm>
          <a:noFill/>
          <a:ln w="25400" cap="rnd" cmpd="sng" algn="ctr">
            <a:noFill/>
            <a:prstDash val="solid"/>
          </a:ln>
          <a:effectLst>
            <a:softEdge rad="63500"/>
          </a:effectLst>
        </p:spPr>
        <p:style>
          <a:lnRef idx="3">
            <a:schemeClr val="lt1"/>
          </a:lnRef>
          <a:fillRef idx="1">
            <a:schemeClr val="accent5"/>
          </a:fillRef>
          <a:effectRef idx="1">
            <a:schemeClr val="accent5"/>
          </a:effectRef>
          <a:fontRef idx="minor">
            <a:schemeClr val="lt1"/>
          </a:fontRef>
        </p:style>
        <p:txBody>
          <a:bodyPr lIns="91440" tIns="45720" rIns="91440" bIns="45720" anchor="b">
            <a:noAutofit/>
          </a:bodyPr>
          <a:lstStyle>
            <a:lvl1pPr marL="0" indent="0" algn="l">
              <a:spcBef>
                <a:spcPts val="0"/>
              </a:spcBef>
              <a:buNone/>
              <a:defRPr sz="2600" b="1" baseline="0">
                <a:solidFill>
                  <a:schemeClr val="tx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cxnSp>
        <p:nvCxnSpPr>
          <p:cNvPr id="10" name="Straight Connector 9"/>
          <p:cNvCxnSpPr/>
          <p:nvPr/>
        </p:nvCxnSpPr>
        <p:spPr>
          <a:xfrm>
            <a:off x="562945" y="2180219"/>
            <a:ext cx="3749040" cy="1588"/>
          </a:xfrm>
          <a:prstGeom prst="line">
            <a:avLst/>
          </a:prstGeom>
          <a:noFill/>
          <a:ln w="12700" cap="flat" cmpd="sng" algn="ctr">
            <a:solidFill>
              <a:schemeClr val="bg2">
                <a:tint val="20000"/>
              </a:schemeClr>
            </a:solidFill>
            <a:prstDash val="solid"/>
          </a:ln>
          <a:effectLst>
            <a:outerShdw blurRad="34925"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754880" y="2180219"/>
            <a:ext cx="3749040" cy="1588"/>
          </a:xfrm>
          <a:prstGeom prst="line">
            <a:avLst/>
          </a:prstGeom>
          <a:noFill/>
          <a:ln w="12700" cap="flat" cmpd="sng" algn="ctr">
            <a:solidFill>
              <a:schemeClr val="bg2">
                <a:tint val="20000"/>
              </a:schemeClr>
            </a:solidFill>
            <a:prstDash val="solid"/>
          </a:ln>
          <a:effectLst>
            <a:outerShdw blurRad="34925"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39480F8-6450-490E-A42D-26E0F7222422}" type="datetimeFigureOut">
              <a:rPr lang="en-US" smtClean="0"/>
              <a:pPr/>
              <a:t>12/14/2011</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DEF25A61-FCB4-49EE-A020-F23CDD3ACB25}" type="slidenum">
              <a:rPr lang="en-AU" smtClean="0"/>
              <a:pPr/>
              <a:t>‹#›</a:t>
            </a:fld>
            <a:endParaRPr lang="en-AU" dirty="0"/>
          </a:p>
        </p:txBody>
      </p:sp>
      <p:sp>
        <p:nvSpPr>
          <p:cNvPr id="2" name="Title 1"/>
          <p:cNvSpPr>
            <a:spLocks noGrp="1"/>
          </p:cNvSpPr>
          <p:nvPr>
            <p:ph type="title"/>
          </p:nvPr>
        </p:nvSpPr>
        <p:spPr/>
        <p:txBody>
          <a:bodyPr/>
          <a:lstStyle/>
          <a:p>
            <a:r>
              <a:rPr kumimoji="0" lang="en-US" smtClean="0"/>
              <a:t>Click to edit Master title style</a:t>
            </a:r>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9480F8-6450-490E-A42D-26E0F7222422}" type="datetimeFigureOut">
              <a:rPr lang="en-US" smtClean="0"/>
              <a:pPr/>
              <a:t>12/14/2011</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DEF25A61-FCB4-49EE-A020-F23CDD3ACB25}" type="slidenum">
              <a:rPr lang="en-AU" smtClean="0"/>
              <a:pPr/>
              <a:t>‹#›</a:t>
            </a:fld>
            <a:endParaRPr lang="en-AU"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9" name="Content Placeholder 28"/>
          <p:cNvSpPr>
            <a:spLocks noGrp="1"/>
          </p:cNvSpPr>
          <p:nvPr>
            <p:ph sz="quarter" idx="1"/>
          </p:nvPr>
        </p:nvSpPr>
        <p:spPr>
          <a:xfrm>
            <a:off x="457200" y="457200"/>
            <a:ext cx="6248400" cy="5715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3" name="Text Placeholder 2"/>
          <p:cNvSpPr>
            <a:spLocks noGrp="1"/>
          </p:cNvSpPr>
          <p:nvPr>
            <p:ph type="body" idx="2"/>
          </p:nvPr>
        </p:nvSpPr>
        <p:spPr>
          <a:xfrm>
            <a:off x="6781800" y="1600200"/>
            <a:ext cx="1984248" cy="3733800"/>
          </a:xfrm>
        </p:spPr>
        <p:txBody>
          <a:bodyPr tIns="45720" bIns="45720" anchor="t" anchorCtr="0"/>
          <a:lstStyle>
            <a:lvl1pPr marL="0" indent="0">
              <a:lnSpc>
                <a:spcPct val="1250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31" name="Title 30"/>
          <p:cNvSpPr>
            <a:spLocks noGrp="1"/>
          </p:cNvSpPr>
          <p:nvPr>
            <p:ph type="title"/>
          </p:nvPr>
        </p:nvSpPr>
        <p:spPr>
          <a:xfrm>
            <a:off x="6781800" y="457200"/>
            <a:ext cx="1981200" cy="1066800"/>
          </a:xfrm>
        </p:spPr>
        <p:txBody>
          <a:bodyPr lIns="91440" tIns="91440" anchor="b" anchorCtr="0"/>
          <a:lstStyle>
            <a:lvl1pPr algn="l">
              <a:buNone/>
              <a:defRPr sz="1800" b="1" spc="-50" baseline="0">
                <a:ln w="3175">
                  <a:noFill/>
                </a:ln>
                <a:solidFill>
                  <a:schemeClr val="tx2"/>
                </a:solidFill>
                <a:effectLst/>
                <a:latin typeface="+mn-lt"/>
                <a:ea typeface="+mn-ea"/>
                <a:cs typeface="+mn-cs"/>
              </a:defRPr>
            </a:lvl1pPr>
          </a:lstStyle>
          <a:p>
            <a:r>
              <a:rPr kumimoji="0" lang="en-US" smtClean="0"/>
              <a:t>Click to edit Master title style</a:t>
            </a:r>
            <a:endParaRPr kumimoji="0" lang="en-US"/>
          </a:p>
        </p:txBody>
      </p:sp>
      <p:sp>
        <p:nvSpPr>
          <p:cNvPr id="8" name="Date Placeholder 7"/>
          <p:cNvSpPr>
            <a:spLocks noGrp="1"/>
          </p:cNvSpPr>
          <p:nvPr>
            <p:ph type="dt" sz="half" idx="14"/>
          </p:nvPr>
        </p:nvSpPr>
        <p:spPr/>
        <p:txBody>
          <a:bodyPr/>
          <a:lstStyle/>
          <a:p>
            <a:fld id="{B39480F8-6450-490E-A42D-26E0F7222422}" type="datetimeFigureOut">
              <a:rPr lang="en-US" smtClean="0"/>
              <a:pPr/>
              <a:t>12/14/2011</a:t>
            </a:fld>
            <a:endParaRPr lang="en-AU" dirty="0"/>
          </a:p>
        </p:txBody>
      </p:sp>
      <p:sp>
        <p:nvSpPr>
          <p:cNvPr id="9" name="Slide Number Placeholder 8"/>
          <p:cNvSpPr>
            <a:spLocks noGrp="1"/>
          </p:cNvSpPr>
          <p:nvPr>
            <p:ph type="sldNum" sz="quarter" idx="15"/>
          </p:nvPr>
        </p:nvSpPr>
        <p:spPr/>
        <p:txBody>
          <a:bodyPr/>
          <a:lstStyle/>
          <a:p>
            <a:fld id="{DEF25A61-FCB4-49EE-A020-F23CDD3ACB25}" type="slidenum">
              <a:rPr lang="en-AU" smtClean="0"/>
              <a:pPr/>
              <a:t>‹#›</a:t>
            </a:fld>
            <a:endParaRPr lang="en-AU" dirty="0"/>
          </a:p>
        </p:txBody>
      </p:sp>
      <p:sp>
        <p:nvSpPr>
          <p:cNvPr id="10" name="Footer Placeholder 9"/>
          <p:cNvSpPr>
            <a:spLocks noGrp="1"/>
          </p:cNvSpPr>
          <p:nvPr>
            <p:ph type="ftr" sz="quarter" idx="16"/>
          </p:nvPr>
        </p:nvSpPr>
        <p:spPr/>
        <p:txBody>
          <a:bodyPr/>
          <a:lstStyle/>
          <a:p>
            <a:endParaRPr lang="en-AU"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29400" y="457200"/>
            <a:ext cx="2057400" cy="1066800"/>
          </a:xfrm>
        </p:spPr>
        <p:txBody>
          <a:bodyPr lIns="91440" tIns="91440" anchor="b" anchorCtr="0"/>
          <a:lstStyle>
            <a:lvl1pPr algn="l">
              <a:buNone/>
              <a:defRPr sz="1800" b="1" spc="-50" baseline="0">
                <a:ln w="3175">
                  <a:noFill/>
                </a:ln>
                <a:solidFill>
                  <a:schemeClr val="tx2"/>
                </a:solidFill>
                <a:effectLst/>
                <a:latin typeface="+mn-lt"/>
                <a:ea typeface="+mn-ea"/>
                <a:cs typeface="+mn-cs"/>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57200" y="457200"/>
            <a:ext cx="6019800" cy="5562600"/>
          </a:xfrm>
          <a:solidFill>
            <a:schemeClr val="tx2">
              <a:tint val="40000"/>
            </a:schemeClr>
          </a:solidFill>
          <a:effectLst>
            <a:outerShdw blurRad="88900" sx="103000" sy="103000" algn="ctr" rotWithShape="0">
              <a:prstClr val="black">
                <a:alpha val="32000"/>
              </a:prstClr>
            </a:outerShdw>
            <a:softEdge rad="127000"/>
          </a:effectLst>
        </p:spPr>
        <p:txBody>
          <a:bodyPr/>
          <a:lstStyle>
            <a:lvl1pPr marL="0" indent="0">
              <a:buNone/>
              <a:defRPr sz="3200">
                <a:solidFill>
                  <a:schemeClr val="bg1"/>
                </a:solidFill>
              </a:defRPr>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6629400" y="1600200"/>
            <a:ext cx="2057400" cy="4419600"/>
          </a:xfrm>
        </p:spPr>
        <p:txBody>
          <a:bodyPr anchor="t" anchorCtr="0"/>
          <a:lstStyle>
            <a:lvl1pPr marL="0" indent="0">
              <a:lnSpc>
                <a:spcPct val="125000"/>
              </a:lnSpc>
              <a:spcAft>
                <a:spcPts val="1000"/>
              </a:spcAft>
              <a:buFontTx/>
              <a:buNone/>
              <a:defRPr sz="1600" b="0">
                <a:solidFill>
                  <a:schemeClr val="tx2"/>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8" name="Date Placeholder 7"/>
          <p:cNvSpPr>
            <a:spLocks noGrp="1"/>
          </p:cNvSpPr>
          <p:nvPr>
            <p:ph type="dt" sz="half" idx="10"/>
          </p:nvPr>
        </p:nvSpPr>
        <p:spPr/>
        <p:txBody>
          <a:bodyPr/>
          <a:lstStyle/>
          <a:p>
            <a:fld id="{B39480F8-6450-490E-A42D-26E0F7222422}" type="datetimeFigureOut">
              <a:rPr lang="en-US" smtClean="0"/>
              <a:pPr/>
              <a:t>12/14/2011</a:t>
            </a:fld>
            <a:endParaRPr lang="en-AU" dirty="0"/>
          </a:p>
        </p:txBody>
      </p:sp>
      <p:sp>
        <p:nvSpPr>
          <p:cNvPr id="9" name="Slide Number Placeholder 8"/>
          <p:cNvSpPr>
            <a:spLocks noGrp="1"/>
          </p:cNvSpPr>
          <p:nvPr>
            <p:ph type="sldNum" sz="quarter" idx="11"/>
          </p:nvPr>
        </p:nvSpPr>
        <p:spPr/>
        <p:txBody>
          <a:bodyPr/>
          <a:lstStyle/>
          <a:p>
            <a:fld id="{DEF25A61-FCB4-49EE-A020-F23CDD3ACB25}" type="slidenum">
              <a:rPr lang="en-AU" smtClean="0"/>
              <a:pPr/>
              <a:t>‹#›</a:t>
            </a:fld>
            <a:endParaRPr lang="en-AU" dirty="0"/>
          </a:p>
        </p:txBody>
      </p:sp>
      <p:sp>
        <p:nvSpPr>
          <p:cNvPr id="10" name="Footer Placeholder 9"/>
          <p:cNvSpPr>
            <a:spLocks noGrp="1"/>
          </p:cNvSpPr>
          <p:nvPr>
            <p:ph type="ftr" sz="quarter" idx="12"/>
          </p:nvPr>
        </p:nvSpPr>
        <p:spPr/>
        <p:txBody>
          <a:bodyPr/>
          <a:lstStyle/>
          <a:p>
            <a:endParaRPr lang="en-AU"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39480F8-6450-490E-A42D-26E0F7222422}" type="datetimeFigureOut">
              <a:rPr lang="en-US" smtClean="0"/>
              <a:pPr/>
              <a:t>12/14/2011</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DEF25A61-FCB4-49EE-A020-F23CDD3ACB25}" type="slidenum">
              <a:rPr lang="en-AU" smtClean="0"/>
              <a:pPr/>
              <a:t>‹#›</a:t>
            </a:fld>
            <a:endParaRPr lang="en-AU"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39480F8-6450-490E-A42D-26E0F7222422}" type="datetimeFigureOut">
              <a:rPr lang="en-US" smtClean="0"/>
              <a:pPr/>
              <a:t>12/14/2011</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DEF25A61-FCB4-49EE-A020-F23CDD3ACB25}" type="slidenum">
              <a:rPr lang="en-AU" smtClean="0"/>
              <a:pPr/>
              <a:t>‹#›</a:t>
            </a:fld>
            <a:endParaRPr lang="en-AU"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9" name="Text Placeholder 8"/>
          <p:cNvSpPr>
            <a:spLocks noGrp="1"/>
          </p:cNvSpPr>
          <p:nvPr>
            <p:ph type="body" idx="1"/>
          </p:nvPr>
        </p:nvSpPr>
        <p:spPr>
          <a:xfrm>
            <a:off x="457200" y="1447800"/>
            <a:ext cx="8229600" cy="46783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5791200" y="6203667"/>
            <a:ext cx="2590800" cy="384048"/>
          </a:xfrm>
          <a:prstGeom prst="rect">
            <a:avLst/>
          </a:prstGeom>
        </p:spPr>
        <p:txBody>
          <a:bodyPr vert="horz" anchor="ctr" anchorCtr="0"/>
          <a:lstStyle>
            <a:lvl1pPr algn="l" eaLnBrk="1" latinLnBrk="0" hangingPunct="1">
              <a:defRPr kumimoji="0" sz="1200">
                <a:solidFill>
                  <a:schemeClr val="tx2"/>
                </a:solidFill>
              </a:defRPr>
            </a:lvl1pPr>
          </a:lstStyle>
          <a:p>
            <a:fld id="{B39480F8-6450-490E-A42D-26E0F7222422}" type="datetimeFigureOut">
              <a:rPr lang="en-US" smtClean="0"/>
              <a:pPr/>
              <a:t>12/14/2011</a:t>
            </a:fld>
            <a:endParaRPr lang="en-AU" dirty="0"/>
          </a:p>
        </p:txBody>
      </p:sp>
      <p:sp>
        <p:nvSpPr>
          <p:cNvPr id="10" name="Footer Placeholder 9"/>
          <p:cNvSpPr>
            <a:spLocks noGrp="1"/>
          </p:cNvSpPr>
          <p:nvPr>
            <p:ph type="ftr" sz="quarter" idx="3"/>
          </p:nvPr>
        </p:nvSpPr>
        <p:spPr>
          <a:xfrm>
            <a:off x="2133600" y="6203667"/>
            <a:ext cx="3581400" cy="384048"/>
          </a:xfrm>
          <a:prstGeom prst="rect">
            <a:avLst/>
          </a:prstGeom>
        </p:spPr>
        <p:txBody>
          <a:bodyPr vert="horz" anchor="ctr" anchorCtr="0"/>
          <a:lstStyle>
            <a:lvl1pPr algn="r" eaLnBrk="1" latinLnBrk="0" hangingPunct="1">
              <a:defRPr kumimoji="0" sz="1200">
                <a:solidFill>
                  <a:schemeClr val="tx2"/>
                </a:solidFill>
              </a:defRPr>
            </a:lvl1pPr>
          </a:lstStyle>
          <a:p>
            <a:endParaRPr lang="en-AU" dirty="0"/>
          </a:p>
        </p:txBody>
      </p:sp>
      <p:sp>
        <p:nvSpPr>
          <p:cNvPr id="22" name="Slide Number Placeholder 21"/>
          <p:cNvSpPr>
            <a:spLocks noGrp="1"/>
          </p:cNvSpPr>
          <p:nvPr>
            <p:ph type="sldNum" sz="quarter" idx="4"/>
          </p:nvPr>
        </p:nvSpPr>
        <p:spPr>
          <a:xfrm>
            <a:off x="8410575" y="6181531"/>
            <a:ext cx="609600" cy="457200"/>
          </a:xfrm>
          <a:prstGeom prst="rect">
            <a:avLst/>
          </a:prstGeom>
          <a:noFill/>
        </p:spPr>
        <p:txBody>
          <a:bodyPr vert="horz" lIns="0" tIns="0" rIns="0" bIns="0" anchor="ctr" anchorCtr="0">
            <a:noAutofit/>
          </a:bodyPr>
          <a:lstStyle>
            <a:lvl1pPr algn="ctr" eaLnBrk="1" latinLnBrk="0" hangingPunct="1">
              <a:defRPr kumimoji="0" sz="1600" baseline="0">
                <a:solidFill>
                  <a:schemeClr val="tx2"/>
                </a:solidFill>
              </a:defRPr>
            </a:lvl1pPr>
          </a:lstStyle>
          <a:p>
            <a:fld id="{DEF25A61-FCB4-49EE-A020-F23CDD3ACB25}" type="slidenum">
              <a:rPr lang="en-AU" smtClean="0"/>
              <a:pPr/>
              <a:t>‹#›</a:t>
            </a:fld>
            <a:endParaRPr lang="en-AU" dirty="0"/>
          </a:p>
        </p:txBody>
      </p:sp>
      <p:sp>
        <p:nvSpPr>
          <p:cNvPr id="5" name="Title Placeholder 4"/>
          <p:cNvSpPr>
            <a:spLocks noGrp="1"/>
          </p:cNvSpPr>
          <p:nvPr>
            <p:ph type="title"/>
          </p:nvPr>
        </p:nvSpPr>
        <p:spPr>
          <a:xfrm>
            <a:off x="457200" y="152400"/>
            <a:ext cx="8229600" cy="1219200"/>
          </a:xfrm>
          <a:prstGeom prst="rect">
            <a:avLst/>
          </a:prstGeom>
          <a:ln w="6350" cap="rnd">
            <a:noFill/>
          </a:ln>
        </p:spPr>
        <p:txBody>
          <a:bodyPr vert="horz" anchor="b" anchorCtr="0">
            <a:normAutofit/>
          </a:bodyPr>
          <a:lstStyle/>
          <a:p>
            <a:r>
              <a:rPr kumimoji="0" lang="en-US" smtClean="0"/>
              <a:t>Click to edit Master title style</a:t>
            </a:r>
            <a:endParaRPr kumimoji="0" lang="en-US"/>
          </a:p>
        </p:txBody>
      </p:sp>
    </p:spTree>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lang="en-US" sz="4200" b="0" kern="1200" spc="-100" baseline="0" dirty="0">
          <a:ln w="3200">
            <a:solidFill>
              <a:schemeClr val="bg2">
                <a:shade val="75000"/>
                <a:alpha val="25000"/>
              </a:schemeClr>
            </a:solidFill>
            <a:prstDash val="solid"/>
            <a:round/>
          </a:ln>
          <a:solidFill>
            <a:srgbClr val="F9F9F9"/>
          </a:solidFill>
          <a:effectLst>
            <a:innerShdw blurRad="50800" dist="25400" dir="13500000">
              <a:prstClr val="black">
                <a:alpha val="70000"/>
              </a:prstClr>
            </a:innerShdw>
          </a:effectLst>
          <a:latin typeface="+mj-lt"/>
          <a:ea typeface="+mj-ea"/>
          <a:cs typeface="+mj-cs"/>
        </a:defRPr>
      </a:lvl1pPr>
    </p:titleStyle>
    <p:bodyStyle>
      <a:lvl1pPr marL="274320" indent="-274320" algn="l" rtl="0" eaLnBrk="1" latinLnBrk="0" hangingPunct="1">
        <a:spcBef>
          <a:spcPts val="600"/>
        </a:spcBef>
        <a:buClr>
          <a:schemeClr val="accent2"/>
        </a:buClr>
        <a:buSzPct val="85000"/>
        <a:buFont typeface="Wingdings 2"/>
        <a:buChar char=""/>
        <a:defRPr kumimoji="0" sz="2600" kern="1200">
          <a:solidFill>
            <a:schemeClr val="tx1"/>
          </a:solidFill>
          <a:latin typeface="+mn-lt"/>
          <a:ea typeface="+mn-ea"/>
          <a:cs typeface="+mn-cs"/>
        </a:defRPr>
      </a:lvl1pPr>
      <a:lvl2pPr marL="640080" indent="-274320" algn="l" rtl="0" eaLnBrk="1" latinLnBrk="0" hangingPunct="1">
        <a:spcBef>
          <a:spcPts val="300"/>
        </a:spcBef>
        <a:buClr>
          <a:schemeClr val="accent2">
            <a:shade val="75000"/>
          </a:schemeClr>
        </a:buClr>
        <a:buSzPct val="85000"/>
        <a:buFont typeface="Wingdings 2"/>
        <a:buChar char=""/>
        <a:defRPr kumimoji="0" sz="2400" kern="1200">
          <a:solidFill>
            <a:schemeClr val="tx2"/>
          </a:solidFill>
          <a:latin typeface="+mn-lt"/>
          <a:ea typeface="+mn-ea"/>
          <a:cs typeface="+mn-cs"/>
        </a:defRPr>
      </a:lvl2pPr>
      <a:lvl3pPr marL="1005840" indent="-228600" algn="l" rtl="0" eaLnBrk="1" latinLnBrk="0" hangingPunct="1">
        <a:spcBef>
          <a:spcPts val="300"/>
        </a:spcBef>
        <a:buClr>
          <a:schemeClr val="accent2">
            <a:shade val="50000"/>
          </a:schemeClr>
        </a:buClr>
        <a:buSzPct val="85000"/>
        <a:buFont typeface="Wingdings 2"/>
        <a:buChar char=""/>
        <a:defRPr kumimoji="0" sz="2100" kern="1200">
          <a:solidFill>
            <a:schemeClr val="tx1"/>
          </a:solidFill>
          <a:latin typeface="+mn-lt"/>
          <a:ea typeface="+mn-ea"/>
          <a:cs typeface="+mn-cs"/>
        </a:defRPr>
      </a:lvl3pPr>
      <a:lvl4pPr marL="1280160" indent="-228600" algn="l" rtl="0" eaLnBrk="1" latinLnBrk="0" hangingPunct="1">
        <a:spcBef>
          <a:spcPts val="300"/>
        </a:spcBef>
        <a:buClr>
          <a:schemeClr val="accent2">
            <a:shade val="75000"/>
          </a:schemeClr>
        </a:buClr>
        <a:buSzPct val="85000"/>
        <a:buFont typeface="Wingdings 2" pitchFamily="18" charset="2"/>
        <a:buChar char=""/>
        <a:defRPr kumimoji="0" sz="1900" kern="1200">
          <a:solidFill>
            <a:schemeClr val="tx1"/>
          </a:solidFill>
          <a:latin typeface="+mn-lt"/>
          <a:ea typeface="+mn-ea"/>
          <a:cs typeface="+mn-cs"/>
        </a:defRPr>
      </a:lvl4pPr>
      <a:lvl5pPr marL="1554480" indent="-228600" algn="l" rtl="0" eaLnBrk="1" latinLnBrk="0" hangingPunct="1">
        <a:spcBef>
          <a:spcPts val="340"/>
        </a:spcBef>
        <a:buClr>
          <a:schemeClr val="accent2">
            <a:shade val="75000"/>
          </a:schemeClr>
        </a:buClr>
        <a:buSzPct val="85000"/>
        <a:buFont typeface="Wingdings 2" pitchFamily="18" charset="2"/>
        <a:buChar char=""/>
        <a:defRPr kumimoji="0" sz="1600" kern="1200">
          <a:solidFill>
            <a:schemeClr val="tx1"/>
          </a:solidFill>
          <a:latin typeface="+mn-lt"/>
          <a:ea typeface="+mn-ea"/>
          <a:cs typeface="+mn-cs"/>
        </a:defRPr>
      </a:lvl5pPr>
      <a:lvl6pPr marL="1828800" indent="-228600" algn="l" rtl="0" eaLnBrk="1" latinLnBrk="0" hangingPunct="1">
        <a:spcBef>
          <a:spcPts val="340"/>
        </a:spcBef>
        <a:buClr>
          <a:schemeClr val="accent2">
            <a:shade val="75000"/>
          </a:schemeClr>
        </a:buClr>
        <a:buSzPct val="85000"/>
        <a:buFont typeface="Wingdings 2" pitchFamily="18" charset="2"/>
        <a:buChar char="?"/>
        <a:defRPr kumimoji="0" sz="1700" kern="1200">
          <a:solidFill>
            <a:schemeClr val="tx1"/>
          </a:solidFill>
          <a:latin typeface="+mn-lt"/>
          <a:ea typeface="+mn-ea"/>
          <a:cs typeface="+mn-cs"/>
        </a:defRPr>
      </a:lvl6pPr>
      <a:lvl7pPr marL="2011680" indent="-182880" algn="l" rtl="0" eaLnBrk="1" latinLnBrk="0" hangingPunct="1">
        <a:spcBef>
          <a:spcPts val="340"/>
        </a:spcBef>
        <a:buClr>
          <a:schemeClr val="accent2">
            <a:shade val="75000"/>
          </a:schemeClr>
        </a:buClr>
        <a:buSzPct val="85000"/>
        <a:buFont typeface="Wingdings 2" pitchFamily="18" charset="2"/>
        <a:buChar char="?"/>
        <a:defRPr kumimoji="0" sz="1600" kern="1200" baseline="0">
          <a:solidFill>
            <a:schemeClr val="tx1"/>
          </a:solidFill>
          <a:latin typeface="+mn-lt"/>
          <a:ea typeface="+mn-ea"/>
          <a:cs typeface="+mn-cs"/>
        </a:defRPr>
      </a:lvl7pPr>
      <a:lvl8pPr marL="228600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8pPr>
      <a:lvl9pPr marL="256032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www.youtube.com/watch?v=LUMI1AWu_00&amp;feature=related"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AU" dirty="0" smtClean="0"/>
              <a:t>Reading Contemporary Fiction</a:t>
            </a:r>
          </a:p>
          <a:p>
            <a:r>
              <a:rPr lang="en-AU" dirty="0" smtClean="0"/>
              <a:t>ACL1001</a:t>
            </a:r>
            <a:endParaRPr lang="en-AU" dirty="0"/>
          </a:p>
        </p:txBody>
      </p:sp>
      <p:sp>
        <p:nvSpPr>
          <p:cNvPr id="2" name="Title 1"/>
          <p:cNvSpPr>
            <a:spLocks noGrp="1"/>
          </p:cNvSpPr>
          <p:nvPr>
            <p:ph type="ctrTitle"/>
          </p:nvPr>
        </p:nvSpPr>
        <p:spPr/>
        <p:txBody>
          <a:bodyPr/>
          <a:lstStyle/>
          <a:p>
            <a:r>
              <a:rPr lang="en-AU" dirty="0" smtClean="0"/>
              <a:t>Grunge Writing</a:t>
            </a:r>
            <a:br>
              <a:rPr lang="en-AU" dirty="0" smtClean="0"/>
            </a:br>
            <a:r>
              <a:rPr lang="en-AU" dirty="0" smtClean="0"/>
              <a:t>Before and After</a:t>
            </a:r>
            <a:endParaRPr lang="en-AU"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AU" dirty="0" smtClean="0"/>
          </a:p>
          <a:p>
            <a:endParaRPr lang="en-AU" dirty="0" smtClean="0"/>
          </a:p>
          <a:p>
            <a:r>
              <a:rPr lang="en-AU" dirty="0" smtClean="0"/>
              <a:t>What is Grunge?</a:t>
            </a:r>
          </a:p>
          <a:p>
            <a:endParaRPr lang="en-AU" dirty="0" smtClean="0"/>
          </a:p>
          <a:p>
            <a:endParaRPr lang="en-AU" dirty="0" smtClean="0"/>
          </a:p>
          <a:p>
            <a:r>
              <a:rPr lang="en-AU" dirty="0" smtClean="0"/>
              <a:t>What is Grunge writing?</a:t>
            </a:r>
            <a:endParaRPr lang="en-AU" dirty="0"/>
          </a:p>
        </p:txBody>
      </p:sp>
      <p:sp>
        <p:nvSpPr>
          <p:cNvPr id="3" name="Title 2"/>
          <p:cNvSpPr>
            <a:spLocks noGrp="1"/>
          </p:cNvSpPr>
          <p:nvPr>
            <p:ph type="title"/>
          </p:nvPr>
        </p:nvSpPr>
        <p:spPr/>
        <p:txBody>
          <a:bodyPr/>
          <a:lstStyle/>
          <a:p>
            <a:r>
              <a:rPr lang="en-AU" dirty="0" smtClean="0"/>
              <a:t>Definitions</a:t>
            </a:r>
            <a:endParaRPr lang="en-AU"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AU" dirty="0" smtClean="0"/>
              <a:t>The term Grunge literature, for the purposes of this lecture, refers to a group of Australian writings that were published between the early and mid 90s. </a:t>
            </a:r>
          </a:p>
          <a:p>
            <a:r>
              <a:rPr lang="en-AU" dirty="0" smtClean="0"/>
              <a:t>This period starts with Andrew McGahan's </a:t>
            </a:r>
            <a:r>
              <a:rPr lang="en-AU" i="1" dirty="0" smtClean="0"/>
              <a:t>Praise </a:t>
            </a:r>
            <a:r>
              <a:rPr lang="en-AU" dirty="0" smtClean="0"/>
              <a:t>and ends around the time Christos Tsiolkas's </a:t>
            </a:r>
            <a:r>
              <a:rPr lang="en-AU" i="1" dirty="0" smtClean="0"/>
              <a:t>Loaded </a:t>
            </a:r>
            <a:r>
              <a:rPr lang="en-AU" dirty="0" smtClean="0"/>
              <a:t>was eventually removed from the shelves for the first time -- but before it was put back on the shelves in the wake of the movie, </a:t>
            </a:r>
            <a:r>
              <a:rPr lang="en-AU" i="1" dirty="0" smtClean="0">
                <a:hlinkClick r:id="rId2"/>
              </a:rPr>
              <a:t>Head-On</a:t>
            </a:r>
            <a:r>
              <a:rPr lang="en-AU" dirty="0" smtClean="0"/>
              <a:t>. </a:t>
            </a:r>
          </a:p>
          <a:p>
            <a:endParaRPr lang="en-AU" dirty="0"/>
          </a:p>
        </p:txBody>
      </p:sp>
      <p:sp>
        <p:nvSpPr>
          <p:cNvPr id="3" name="Title 2"/>
          <p:cNvSpPr>
            <a:spLocks noGrp="1"/>
          </p:cNvSpPr>
          <p:nvPr>
            <p:ph type="title"/>
          </p:nvPr>
        </p:nvSpPr>
        <p:spPr/>
        <p:txBody>
          <a:bodyPr/>
          <a:lstStyle/>
          <a:p>
            <a:endParaRPr lang="en-AU"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AU" dirty="0" smtClean="0"/>
              <a:t>Clare Mendes </a:t>
            </a:r>
          </a:p>
          <a:p>
            <a:pPr>
              <a:buNone/>
            </a:pPr>
            <a:endParaRPr lang="en-AU" dirty="0" smtClean="0"/>
          </a:p>
          <a:p>
            <a:r>
              <a:rPr lang="en-AU" dirty="0" smtClean="0"/>
              <a:t>Edward Berridge</a:t>
            </a:r>
          </a:p>
          <a:p>
            <a:pPr>
              <a:buNone/>
            </a:pPr>
            <a:endParaRPr lang="en-AU" dirty="0" smtClean="0"/>
          </a:p>
          <a:p>
            <a:r>
              <a:rPr lang="en-AU" dirty="0" smtClean="0"/>
              <a:t>Neil Boyack</a:t>
            </a:r>
          </a:p>
          <a:p>
            <a:pPr>
              <a:buNone/>
            </a:pPr>
            <a:endParaRPr lang="en-AU" dirty="0" smtClean="0"/>
          </a:p>
          <a:p>
            <a:r>
              <a:rPr lang="en-AU" dirty="0" smtClean="0"/>
              <a:t>Justine Ettler</a:t>
            </a:r>
          </a:p>
          <a:p>
            <a:pPr>
              <a:buNone/>
            </a:pPr>
            <a:r>
              <a:rPr lang="en-AU" dirty="0" smtClean="0"/>
              <a:t> </a:t>
            </a:r>
          </a:p>
          <a:p>
            <a:r>
              <a:rPr lang="en-AU" dirty="0" smtClean="0"/>
              <a:t>Leonie Stephens </a:t>
            </a:r>
          </a:p>
          <a:p>
            <a:endParaRPr lang="en-AU" dirty="0"/>
          </a:p>
        </p:txBody>
      </p:sp>
      <p:sp>
        <p:nvSpPr>
          <p:cNvPr id="2" name="Title 1"/>
          <p:cNvSpPr>
            <a:spLocks noGrp="1"/>
          </p:cNvSpPr>
          <p:nvPr>
            <p:ph type="title"/>
          </p:nvPr>
        </p:nvSpPr>
        <p:spPr/>
        <p:txBody>
          <a:bodyPr>
            <a:normAutofit fontScale="90000"/>
          </a:bodyPr>
          <a:lstStyle/>
          <a:p>
            <a:r>
              <a:rPr lang="en-AU" dirty="0" smtClean="0"/>
              <a:t/>
            </a:r>
            <a:br>
              <a:rPr lang="en-AU" dirty="0" smtClean="0"/>
            </a:br>
            <a:r>
              <a:rPr lang="en-AU" dirty="0" smtClean="0"/>
              <a:t/>
            </a:r>
            <a:br>
              <a:rPr lang="en-AU" dirty="0" smtClean="0"/>
            </a:br>
            <a:r>
              <a:rPr lang="en-AU" dirty="0" smtClean="0"/>
              <a:t/>
            </a:r>
            <a:br>
              <a:rPr lang="en-AU" dirty="0" smtClean="0"/>
            </a:br>
            <a:r>
              <a:rPr lang="en-AU" dirty="0" smtClean="0"/>
              <a:t/>
            </a:r>
            <a:br>
              <a:rPr lang="en-AU" dirty="0" smtClean="0"/>
            </a:br>
            <a:r>
              <a:rPr lang="en-AU" dirty="0" smtClean="0"/>
              <a:t/>
            </a:r>
            <a:br>
              <a:rPr lang="en-AU" dirty="0" smtClean="0"/>
            </a:br>
            <a:r>
              <a:rPr lang="en-AU" dirty="0" smtClean="0"/>
              <a:t>Some of the writers include:</a:t>
            </a:r>
            <a:br>
              <a:rPr lang="en-AU" dirty="0" smtClean="0"/>
            </a:br>
            <a:endParaRPr lang="en-AU"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AU" dirty="0" smtClean="0"/>
              <a:t>It began in 1992 with a quirky book about half-hearted ugly people who did drugs and had a lot of sex. It finished in late 1996 after the publication of a frenetic book about a handsome Greek-Australian homosexual who did drugs and had a lot of sex. In between there were a dozen books and a number of stories and poems published which were largely about people who did drugs and had a lot of sex. </a:t>
            </a:r>
          </a:p>
        </p:txBody>
      </p:sp>
      <p:sp>
        <p:nvSpPr>
          <p:cNvPr id="3" name="Title 2"/>
          <p:cNvSpPr>
            <a:spLocks noGrp="1"/>
          </p:cNvSpPr>
          <p:nvPr>
            <p:ph type="title"/>
          </p:nvPr>
        </p:nvSpPr>
        <p:spPr/>
        <p:txBody>
          <a:bodyPr/>
          <a:lstStyle/>
          <a:p>
            <a:r>
              <a:rPr lang="en-AU" dirty="0" smtClean="0"/>
              <a:t>The bookends of Grunge</a:t>
            </a:r>
            <a:endParaRPr lang="en-AU"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AU" dirty="0" smtClean="0"/>
              <a:t>In 1996 Ian Syson wrote an article in </a:t>
            </a:r>
            <a:r>
              <a:rPr lang="en-AU" i="1" dirty="0" smtClean="0"/>
              <a:t>overland </a:t>
            </a:r>
            <a:r>
              <a:rPr lang="en-AU" dirty="0" smtClean="0"/>
              <a:t>'Smells Like Market Spirit', where he suggested that: </a:t>
            </a:r>
          </a:p>
          <a:p>
            <a:pPr>
              <a:buNone/>
            </a:pPr>
            <a:r>
              <a:rPr lang="en-AU" dirty="0" smtClean="0"/>
              <a:t>  “Grunge's time was almost over; it was a spent force; it had gone about as far as the marketeers could push it”. </a:t>
            </a:r>
          </a:p>
          <a:p>
            <a:pPr>
              <a:buNone/>
            </a:pPr>
            <a:endParaRPr lang="en-AU" dirty="0" smtClean="0"/>
          </a:p>
          <a:p>
            <a:r>
              <a:rPr lang="en-AU" dirty="0" smtClean="0"/>
              <a:t>A number of reviews and articles were starting to develop an increasingly cynical tone about the whole Grunge process. </a:t>
            </a:r>
          </a:p>
          <a:p>
            <a:endParaRPr lang="en-AU" dirty="0"/>
          </a:p>
        </p:txBody>
      </p:sp>
      <p:sp>
        <p:nvSpPr>
          <p:cNvPr id="3" name="Title 2"/>
          <p:cNvSpPr>
            <a:spLocks noGrp="1"/>
          </p:cNvSpPr>
          <p:nvPr>
            <p:ph type="title"/>
          </p:nvPr>
        </p:nvSpPr>
        <p:spPr/>
        <p:txBody>
          <a:bodyPr/>
          <a:lstStyle/>
          <a:p>
            <a:endParaRPr lang="en-AU"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AU" dirty="0" smtClean="0"/>
              <a:t>Since 1996 we have seen few if any Australian novels marketed implicitly or explicitly as Grunge writing. However, the term post-Grunge is one that has come to prominence. </a:t>
            </a:r>
          </a:p>
          <a:p>
            <a:pPr>
              <a:buNone/>
            </a:pPr>
            <a:endParaRPr lang="en-AU" dirty="0" smtClean="0"/>
          </a:p>
          <a:p>
            <a:r>
              <a:rPr lang="en-AU" dirty="0" smtClean="0"/>
              <a:t>In the late 90s there were a bunch of anthologies and novels that seemed to have been inspired by Grunge but came very much after its high point . </a:t>
            </a:r>
          </a:p>
          <a:p>
            <a:endParaRPr lang="en-AU" dirty="0"/>
          </a:p>
        </p:txBody>
      </p:sp>
      <p:sp>
        <p:nvSpPr>
          <p:cNvPr id="3" name="Title 2"/>
          <p:cNvSpPr>
            <a:spLocks noGrp="1"/>
          </p:cNvSpPr>
          <p:nvPr>
            <p:ph type="title"/>
          </p:nvPr>
        </p:nvSpPr>
        <p:spPr/>
        <p:txBody>
          <a:bodyPr/>
          <a:lstStyle/>
          <a:p>
            <a:endParaRPr lang="en-AU"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r>
              <a:rPr lang="en-AU" sz="2000" dirty="0" smtClean="0"/>
              <a:t>Patricia Cornelius's </a:t>
            </a:r>
            <a:r>
              <a:rPr lang="en-AU" sz="2000" b="1" i="1" dirty="0" smtClean="0"/>
              <a:t>My Sister Jill </a:t>
            </a:r>
            <a:r>
              <a:rPr lang="en-AU" sz="2000" dirty="0" smtClean="0"/>
              <a:t>(2003) is just as emotionally and physically tough as those books produced in the early 90s. </a:t>
            </a:r>
          </a:p>
          <a:p>
            <a:r>
              <a:rPr lang="en-AU" sz="2000" dirty="0" smtClean="0"/>
              <a:t>McGahan's work has gained a softer focus and has matured somewhat but he still deals with tough issues. And Christos Tsiolkas has of course kept up his confronting style: </a:t>
            </a:r>
          </a:p>
          <a:p>
            <a:r>
              <a:rPr lang="en-AU" sz="2000" i="1" dirty="0" smtClean="0"/>
              <a:t>Who's Afraid of the Working Class </a:t>
            </a:r>
            <a:endParaRPr lang="en-AU" sz="2000" dirty="0" smtClean="0"/>
          </a:p>
          <a:p>
            <a:r>
              <a:rPr lang="en-AU" sz="2000" i="1" dirty="0" smtClean="0"/>
              <a:t>Jesus Man</a:t>
            </a:r>
            <a:r>
              <a:rPr lang="en-AU" sz="2000" dirty="0" smtClean="0"/>
              <a:t>, his novel published in 1999. In it one of the main characters commits suicide by cutting off his own penis. </a:t>
            </a:r>
          </a:p>
          <a:p>
            <a:r>
              <a:rPr lang="en-AU" sz="2000" i="1" dirty="0" smtClean="0"/>
              <a:t>Dead Caucasians </a:t>
            </a:r>
            <a:endParaRPr lang="en-AU" sz="2000" dirty="0" smtClean="0"/>
          </a:p>
          <a:p>
            <a:r>
              <a:rPr lang="en-AU" sz="2000" i="1" dirty="0" smtClean="0"/>
              <a:t>Dead Europe </a:t>
            </a:r>
            <a:endParaRPr lang="en-AU" sz="2000" dirty="0" smtClean="0"/>
          </a:p>
          <a:p>
            <a:r>
              <a:rPr lang="en-AU" sz="2000" i="1" dirty="0" smtClean="0"/>
              <a:t>The Slap </a:t>
            </a:r>
            <a:endParaRPr lang="en-AU" sz="2000" dirty="0" smtClean="0"/>
          </a:p>
          <a:p>
            <a:endParaRPr lang="en-AU" sz="2000" dirty="0"/>
          </a:p>
        </p:txBody>
      </p:sp>
      <p:sp>
        <p:nvSpPr>
          <p:cNvPr id="3" name="Title 2"/>
          <p:cNvSpPr>
            <a:spLocks noGrp="1"/>
          </p:cNvSpPr>
          <p:nvPr>
            <p:ph type="title"/>
          </p:nvPr>
        </p:nvSpPr>
        <p:spPr/>
        <p:txBody>
          <a:bodyPr>
            <a:normAutofit fontScale="90000"/>
          </a:bodyPr>
          <a:lstStyle/>
          <a:p>
            <a:r>
              <a:rPr lang="en-AU" dirty="0" smtClean="0"/>
              <a:t>Is Grunge Lit still being written?</a:t>
            </a:r>
            <a:endParaRPr lang="en-AU"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2285992"/>
            <a:ext cx="8229600" cy="3810008"/>
          </a:xfrm>
        </p:spPr>
        <p:txBody>
          <a:bodyPr/>
          <a:lstStyle/>
          <a:p>
            <a:pPr>
              <a:buNone/>
            </a:pPr>
            <a:endParaRPr lang="en-AU" dirty="0" smtClean="0"/>
          </a:p>
          <a:p>
            <a:r>
              <a:rPr lang="en-AU" dirty="0" smtClean="0"/>
              <a:t>Rawness  </a:t>
            </a:r>
          </a:p>
          <a:p>
            <a:r>
              <a:rPr lang="en-AU" dirty="0" smtClean="0"/>
              <a:t>Vulgarity </a:t>
            </a:r>
          </a:p>
          <a:p>
            <a:r>
              <a:rPr lang="en-AU" dirty="0" smtClean="0"/>
              <a:t>Explicit </a:t>
            </a:r>
          </a:p>
          <a:p>
            <a:r>
              <a:rPr lang="en-AU" dirty="0" smtClean="0"/>
              <a:t>Spare or ‘dirty’ realism </a:t>
            </a:r>
          </a:p>
          <a:p>
            <a:r>
              <a:rPr lang="en-AU" dirty="0" smtClean="0"/>
              <a:t>“in your face” </a:t>
            </a:r>
          </a:p>
          <a:p>
            <a:endParaRPr lang="en-AU" dirty="0"/>
          </a:p>
        </p:txBody>
      </p:sp>
      <p:sp>
        <p:nvSpPr>
          <p:cNvPr id="3" name="Title 2"/>
          <p:cNvSpPr>
            <a:spLocks noGrp="1"/>
          </p:cNvSpPr>
          <p:nvPr>
            <p:ph type="title"/>
          </p:nvPr>
        </p:nvSpPr>
        <p:spPr>
          <a:xfrm>
            <a:off x="457200" y="571480"/>
            <a:ext cx="8229600" cy="1428760"/>
          </a:xfrm>
        </p:spPr>
        <p:txBody>
          <a:bodyPr>
            <a:normAutofit/>
          </a:bodyPr>
          <a:lstStyle/>
          <a:p>
            <a:r>
              <a:rPr lang="en-AU" sz="3600" dirty="0" smtClean="0"/>
              <a:t>If Grunge writing has any shared characteristics, they are:</a:t>
            </a:r>
            <a:endParaRPr lang="en-AU" sz="3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AU" dirty="0" smtClean="0"/>
              <a:t>Grunge was a literature of anger and protest that came from younger writers alienated by mainstream publishing tendencies.</a:t>
            </a:r>
          </a:p>
          <a:p>
            <a:endParaRPr lang="en-AU" dirty="0" smtClean="0"/>
          </a:p>
          <a:p>
            <a:r>
              <a:rPr lang="en-AU" dirty="0" smtClean="0"/>
              <a:t>Grunge was also a label generated by critics and publishing companies to publicise and give a certain kind of credibility to an emerging trend in Australian writing. Paradoxically, a form of writing captured by mainstream publishing. </a:t>
            </a:r>
          </a:p>
          <a:p>
            <a:pPr>
              <a:buNone/>
            </a:pPr>
            <a:endParaRPr lang="en-AU" dirty="0"/>
          </a:p>
        </p:txBody>
      </p:sp>
      <p:sp>
        <p:nvSpPr>
          <p:cNvPr id="3" name="Title 2"/>
          <p:cNvSpPr>
            <a:spLocks noGrp="1"/>
          </p:cNvSpPr>
          <p:nvPr>
            <p:ph type="title"/>
          </p:nvPr>
        </p:nvSpPr>
        <p:spPr/>
        <p:txBody>
          <a:bodyPr/>
          <a:lstStyle/>
          <a:p>
            <a:endParaRPr lang="en-AU"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AU" dirty="0" smtClean="0"/>
              <a:t>Naturalism </a:t>
            </a:r>
          </a:p>
          <a:p>
            <a:r>
              <a:rPr lang="en-AU" dirty="0" smtClean="0"/>
              <a:t>Social realism </a:t>
            </a:r>
          </a:p>
          <a:p>
            <a:r>
              <a:rPr lang="en-AU" dirty="0" smtClean="0"/>
              <a:t>Kitchen sink drama and the angry young men in Britain </a:t>
            </a:r>
          </a:p>
          <a:p>
            <a:r>
              <a:rPr lang="en-AU" dirty="0" smtClean="0"/>
              <a:t>American realists like Henry Miller and Raymond Carver </a:t>
            </a:r>
          </a:p>
          <a:p>
            <a:r>
              <a:rPr lang="en-AU" dirty="0" smtClean="0"/>
              <a:t>Beat poets such as Allen Ginsberg and Jack Kerouac</a:t>
            </a:r>
          </a:p>
          <a:p>
            <a:r>
              <a:rPr lang="en-AU" dirty="0" smtClean="0"/>
              <a:t>Dirty realism </a:t>
            </a:r>
          </a:p>
          <a:p>
            <a:r>
              <a:rPr lang="en-AU" dirty="0" smtClean="0"/>
              <a:t>Neo-realism </a:t>
            </a:r>
          </a:p>
          <a:p>
            <a:endParaRPr lang="en-AU" dirty="0"/>
          </a:p>
        </p:txBody>
      </p:sp>
      <p:sp>
        <p:nvSpPr>
          <p:cNvPr id="3" name="Title 2"/>
          <p:cNvSpPr>
            <a:spLocks noGrp="1"/>
          </p:cNvSpPr>
          <p:nvPr>
            <p:ph type="title"/>
          </p:nvPr>
        </p:nvSpPr>
        <p:spPr/>
        <p:txBody>
          <a:bodyPr/>
          <a:lstStyle/>
          <a:p>
            <a:r>
              <a:rPr lang="en-AU" dirty="0" smtClean="0"/>
              <a:t>The long history of Grunge.</a:t>
            </a:r>
            <a:endParaRPr lang="en-AU"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AU" b="1" dirty="0" smtClean="0"/>
              <a:t>The New Writing </a:t>
            </a:r>
          </a:p>
          <a:p>
            <a:r>
              <a:rPr lang="en-AU" dirty="0" smtClean="0"/>
              <a:t>In the late 1960s and early 1970s a new phase of Australian writing seemed to begin. Peter Carey, Michael Wilding and their cohort represented a new perhaps even revolutionary phase of writing in Australia at the levels of both Form and Content </a:t>
            </a:r>
          </a:p>
          <a:p>
            <a:endParaRPr lang="en-AU" dirty="0"/>
          </a:p>
        </p:txBody>
      </p:sp>
      <p:sp>
        <p:nvSpPr>
          <p:cNvPr id="3" name="Title 2"/>
          <p:cNvSpPr>
            <a:spLocks noGrp="1"/>
          </p:cNvSpPr>
          <p:nvPr>
            <p:ph type="title"/>
          </p:nvPr>
        </p:nvSpPr>
        <p:spPr/>
        <p:txBody>
          <a:bodyPr/>
          <a:lstStyle/>
          <a:p>
            <a:r>
              <a:rPr lang="en-AU" dirty="0" smtClean="0"/>
              <a:t>Historical Contexts</a:t>
            </a:r>
            <a:endParaRPr lang="en-AU"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7500" lnSpcReduction="20000"/>
          </a:bodyPr>
          <a:lstStyle/>
          <a:p>
            <a:r>
              <a:rPr lang="en-AU" dirty="0" smtClean="0"/>
              <a:t>Peter Carey, Michael Wilding, Frank Moorhouse, Vicki Viidikas, and Helen Garner, wrote stories and novels which shared a lot of the thematic characteristics of '90s Grunge. </a:t>
            </a:r>
          </a:p>
          <a:p>
            <a:r>
              <a:rPr lang="en-AU" dirty="0" smtClean="0"/>
              <a:t>drugs </a:t>
            </a:r>
          </a:p>
          <a:p>
            <a:r>
              <a:rPr lang="en-AU" dirty="0" smtClean="0"/>
              <a:t>sex </a:t>
            </a:r>
          </a:p>
          <a:p>
            <a:r>
              <a:rPr lang="en-AU" dirty="0" smtClean="0"/>
              <a:t>alienation </a:t>
            </a:r>
          </a:p>
          <a:p>
            <a:r>
              <a:rPr lang="en-AU" dirty="0" smtClean="0"/>
              <a:t>ennui – weariness, discontent, boredom </a:t>
            </a:r>
          </a:p>
          <a:p>
            <a:r>
              <a:rPr lang="en-AU" dirty="0" smtClean="0"/>
              <a:t>generational conflict </a:t>
            </a:r>
          </a:p>
          <a:p>
            <a:pPr>
              <a:buNone/>
            </a:pPr>
            <a:endParaRPr lang="en-AU" dirty="0" smtClean="0"/>
          </a:p>
          <a:p>
            <a:r>
              <a:rPr lang="en-AU" dirty="0" smtClean="0"/>
              <a:t>Often influenced by new writing from America , they were responding to what they saw as a staid and boring realist tradition which very rarely explored beyond the edge of the ordinary. What Patrick White had referred to as "journalistic dun-coloured realism". </a:t>
            </a:r>
            <a:endParaRPr lang="en-AU" dirty="0"/>
          </a:p>
        </p:txBody>
      </p:sp>
      <p:sp>
        <p:nvSpPr>
          <p:cNvPr id="3" name="Title 2"/>
          <p:cNvSpPr>
            <a:spLocks noGrp="1"/>
          </p:cNvSpPr>
          <p:nvPr>
            <p:ph type="title"/>
          </p:nvPr>
        </p:nvSpPr>
        <p:spPr/>
        <p:txBody>
          <a:bodyPr/>
          <a:lstStyle/>
          <a:p>
            <a:r>
              <a:rPr lang="en-AU" dirty="0" smtClean="0"/>
              <a:t>Historical Contexts</a:t>
            </a:r>
            <a:endParaRPr lang="en-AU"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AU" dirty="0" smtClean="0"/>
              <a:t>However, the New Writing was a school of writing that, according to Michael Wilding, quickly lost the sense of radicalism that spawned it. It too easily became a protest literature which was merely protesting about the right to say fuck on the page, leaving behind a long developed sense in Australian writing of its strong relationship with the struggles and lives of ordinary Australians. </a:t>
            </a:r>
            <a:endParaRPr lang="en-AU" dirty="0"/>
          </a:p>
        </p:txBody>
      </p:sp>
      <p:sp>
        <p:nvSpPr>
          <p:cNvPr id="3" name="Title 2"/>
          <p:cNvSpPr>
            <a:spLocks noGrp="1"/>
          </p:cNvSpPr>
          <p:nvPr>
            <p:ph type="title"/>
          </p:nvPr>
        </p:nvSpPr>
        <p:spPr/>
        <p:txBody>
          <a:bodyPr/>
          <a:lstStyle/>
          <a:p>
            <a:r>
              <a:rPr lang="en-AU" dirty="0" smtClean="0"/>
              <a:t>The end of New Writing</a:t>
            </a:r>
            <a:endParaRPr lang="en-AU"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AU" dirty="0" smtClean="0"/>
              <a:t>As Mark Davis has pointed out in </a:t>
            </a:r>
            <a:r>
              <a:rPr lang="en-AU" i="1" dirty="0" smtClean="0"/>
              <a:t>Gangland</a:t>
            </a:r>
            <a:r>
              <a:rPr lang="en-AU" dirty="0" smtClean="0"/>
              <a:t>, the past 40 years is a period in which the generation which took control of Australian cultural production in the 1970s became conservative and cemented their places in the arts world. People who had to fight to be heard in the first place erected barriers like the ones they had demolished in order to preserve their newly obtained kingdoms. </a:t>
            </a:r>
          </a:p>
          <a:p>
            <a:r>
              <a:rPr lang="en-AU" dirty="0" smtClean="0"/>
              <a:t>They sewed up the public sphere for their own ends. </a:t>
            </a:r>
            <a:endParaRPr lang="en-AU" dirty="0"/>
          </a:p>
        </p:txBody>
      </p:sp>
      <p:sp>
        <p:nvSpPr>
          <p:cNvPr id="3" name="Title 2"/>
          <p:cNvSpPr>
            <a:spLocks noGrp="1"/>
          </p:cNvSpPr>
          <p:nvPr>
            <p:ph type="title"/>
          </p:nvPr>
        </p:nvSpPr>
        <p:spPr/>
        <p:txBody>
          <a:bodyPr/>
          <a:lstStyle/>
          <a:p>
            <a:endParaRPr lang="en-AU"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AU" dirty="0" smtClean="0"/>
              <a:t>Writers like McGahan, Ettler, Berridge, Tsiolkas, Boyack were indeed shut out of the loop. </a:t>
            </a:r>
          </a:p>
          <a:p>
            <a:r>
              <a:rPr lang="en-AU" dirty="0" smtClean="0"/>
              <a:t>When Grunge emerged in mainstream publishing, the texts were understood as a form of revolt. Like the New Writers before them, they wanted to talk about sex, drugs, music and alienation. </a:t>
            </a:r>
          </a:p>
          <a:p>
            <a:r>
              <a:rPr lang="en-AU" dirty="0" smtClean="0"/>
              <a:t>Interestingly, this revolt usually meant, on the formal level, a return to the realism rejected over twenty years before. </a:t>
            </a:r>
          </a:p>
          <a:p>
            <a:pPr>
              <a:buNone/>
            </a:pPr>
            <a:endParaRPr lang="en-AU" dirty="0"/>
          </a:p>
        </p:txBody>
      </p:sp>
      <p:sp>
        <p:nvSpPr>
          <p:cNvPr id="3" name="Title 2"/>
          <p:cNvSpPr>
            <a:spLocks noGrp="1"/>
          </p:cNvSpPr>
          <p:nvPr>
            <p:ph type="title"/>
          </p:nvPr>
        </p:nvSpPr>
        <p:spPr/>
        <p:txBody>
          <a:bodyPr/>
          <a:lstStyle/>
          <a:p>
            <a:r>
              <a:rPr lang="en-AU" dirty="0" smtClean="0"/>
              <a:t>From New Writing to Grunge</a:t>
            </a:r>
            <a:endParaRPr lang="en-AU"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928802"/>
            <a:ext cx="8229600" cy="4167198"/>
          </a:xfrm>
        </p:spPr>
        <p:txBody>
          <a:bodyPr/>
          <a:lstStyle/>
          <a:p>
            <a:r>
              <a:rPr lang="en-AU" dirty="0" smtClean="0"/>
              <a:t>What has come after Grunge? </a:t>
            </a:r>
          </a:p>
          <a:p>
            <a:endParaRPr lang="en-AU" dirty="0" smtClean="0"/>
          </a:p>
          <a:p>
            <a:r>
              <a:rPr lang="en-AU" dirty="0" smtClean="0"/>
              <a:t>What have been its effects and influences? </a:t>
            </a:r>
          </a:p>
          <a:p>
            <a:endParaRPr lang="en-AU" dirty="0" smtClean="0"/>
          </a:p>
          <a:p>
            <a:r>
              <a:rPr lang="en-AU" dirty="0" smtClean="0"/>
              <a:t>Is there still evidence of this kind of writing today?</a:t>
            </a:r>
          </a:p>
          <a:p>
            <a:endParaRPr lang="en-AU" dirty="0" smtClean="0"/>
          </a:p>
          <a:p>
            <a:r>
              <a:rPr lang="en-AU" dirty="0" smtClean="0"/>
              <a:t>ABR</a:t>
            </a:r>
          </a:p>
          <a:p>
            <a:pPr>
              <a:buNone/>
            </a:pPr>
            <a:endParaRPr lang="en-AU" dirty="0" smtClean="0"/>
          </a:p>
          <a:p>
            <a:pPr>
              <a:buNone/>
            </a:pPr>
            <a:endParaRPr lang="en-AU" dirty="0"/>
          </a:p>
        </p:txBody>
      </p:sp>
      <p:sp>
        <p:nvSpPr>
          <p:cNvPr id="3" name="Title 2"/>
          <p:cNvSpPr>
            <a:spLocks noGrp="1"/>
          </p:cNvSpPr>
          <p:nvPr>
            <p:ph type="title"/>
          </p:nvPr>
        </p:nvSpPr>
        <p:spPr>
          <a:xfrm>
            <a:off x="457200" y="500042"/>
            <a:ext cx="8229600" cy="1214446"/>
          </a:xfrm>
        </p:spPr>
        <p:txBody>
          <a:bodyPr>
            <a:noAutofit/>
          </a:bodyPr>
          <a:lstStyle/>
          <a:p>
            <a:r>
              <a:rPr lang="en-AU" sz="4400" dirty="0" smtClean="0"/>
              <a:t/>
            </a:r>
            <a:br>
              <a:rPr lang="en-AU" sz="4400" dirty="0" smtClean="0"/>
            </a:br>
            <a:r>
              <a:rPr lang="en-AU" sz="4400" dirty="0" smtClean="0"/>
              <a:t>After Grunge/post Grunge </a:t>
            </a:r>
            <a:br>
              <a:rPr lang="en-AU" sz="4400" dirty="0" smtClean="0"/>
            </a:br>
            <a:endParaRPr lang="en-AU" sz="4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AU" dirty="0" smtClean="0"/>
              <a:t>Kalinda Ashton's novel </a:t>
            </a:r>
            <a:r>
              <a:rPr lang="en-AU" i="1" dirty="0" smtClean="0"/>
              <a:t>The Danger Game </a:t>
            </a:r>
            <a:r>
              <a:rPr lang="en-AU" dirty="0" smtClean="0"/>
              <a:t>was conceived in this post-Grunge period. </a:t>
            </a:r>
          </a:p>
          <a:p>
            <a:r>
              <a:rPr lang="en-AU" dirty="0" smtClean="0"/>
              <a:t>Ashton, born in 1978, is one of a new group of young Australian writers who have come through the creative writing system flourishing in the universities. As such she has been influenced by the writing of the nineties and is particularly influenced by Christos Tsiolkas -- as are a lot of young writers.</a:t>
            </a:r>
          </a:p>
          <a:p>
            <a:pPr>
              <a:buNone/>
            </a:pPr>
            <a:endParaRPr lang="en-AU" dirty="0"/>
          </a:p>
        </p:txBody>
      </p:sp>
      <p:sp>
        <p:nvSpPr>
          <p:cNvPr id="3" name="Title 2"/>
          <p:cNvSpPr>
            <a:spLocks noGrp="1"/>
          </p:cNvSpPr>
          <p:nvPr>
            <p:ph type="title"/>
          </p:nvPr>
        </p:nvSpPr>
        <p:spPr/>
        <p:txBody>
          <a:bodyPr/>
          <a:lstStyle/>
          <a:p>
            <a:r>
              <a:rPr lang="en-AU" i="1" dirty="0" smtClean="0"/>
              <a:t>The Danger Game</a:t>
            </a:r>
            <a:endParaRPr lang="en-AU" i="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AU" dirty="0" smtClean="0"/>
              <a:t>Tsiolkas has led the charge in a number of areas:</a:t>
            </a:r>
          </a:p>
          <a:p>
            <a:r>
              <a:rPr lang="en-AU" dirty="0" smtClean="0"/>
              <a:t>representing the urban</a:t>
            </a:r>
          </a:p>
          <a:p>
            <a:r>
              <a:rPr lang="en-AU" dirty="0" smtClean="0"/>
              <a:t>representing the edge </a:t>
            </a:r>
          </a:p>
          <a:p>
            <a:r>
              <a:rPr lang="en-AU" dirty="0" smtClean="0"/>
              <a:t>migration </a:t>
            </a:r>
          </a:p>
          <a:p>
            <a:r>
              <a:rPr lang="en-AU" dirty="0" smtClean="0"/>
              <a:t>sexuality</a:t>
            </a:r>
          </a:p>
          <a:p>
            <a:r>
              <a:rPr lang="en-AU" dirty="0" smtClean="0"/>
              <a:t>politics</a:t>
            </a:r>
          </a:p>
          <a:p>
            <a:r>
              <a:rPr lang="en-AU" dirty="0" smtClean="0"/>
              <a:t>history </a:t>
            </a:r>
          </a:p>
          <a:p>
            <a:r>
              <a:rPr lang="en-AU" dirty="0" smtClean="0"/>
              <a:t>His novel </a:t>
            </a:r>
            <a:r>
              <a:rPr lang="en-AU" i="1" dirty="0" smtClean="0"/>
              <a:t>The Slap </a:t>
            </a:r>
            <a:r>
              <a:rPr lang="en-AU" dirty="0" smtClean="0"/>
              <a:t>was recently long-listed for the Man/Booker prize.</a:t>
            </a:r>
          </a:p>
          <a:p>
            <a:pPr>
              <a:buNone/>
            </a:pPr>
            <a:endParaRPr lang="en-AU" dirty="0"/>
          </a:p>
        </p:txBody>
      </p:sp>
      <p:sp>
        <p:nvSpPr>
          <p:cNvPr id="3" name="Title 2"/>
          <p:cNvSpPr>
            <a:spLocks noGrp="1"/>
          </p:cNvSpPr>
          <p:nvPr>
            <p:ph type="title"/>
          </p:nvPr>
        </p:nvSpPr>
        <p:spPr/>
        <p:txBody>
          <a:bodyPr/>
          <a:lstStyle/>
          <a:p>
            <a:endParaRPr lang="en-AU"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AU" sz="2800" dirty="0" smtClean="0"/>
              <a:t>What the Grunge writers have done, like so many radical literary movements before them, is to lay bare some social and historical truths. A close examination of recent post-Grunge Australian fiction reveals a serious attention to Australian history on the part of a number of younger writers. </a:t>
            </a:r>
            <a:endParaRPr lang="en-AU" sz="2800" dirty="0"/>
          </a:p>
        </p:txBody>
      </p:sp>
      <p:sp>
        <p:nvSpPr>
          <p:cNvPr id="3" name="Title 2"/>
          <p:cNvSpPr>
            <a:spLocks noGrp="1"/>
          </p:cNvSpPr>
          <p:nvPr>
            <p:ph type="title"/>
          </p:nvPr>
        </p:nvSpPr>
        <p:spPr/>
        <p:txBody>
          <a:bodyPr/>
          <a:lstStyle/>
          <a:p>
            <a:r>
              <a:rPr lang="en-AU" dirty="0" smtClean="0"/>
              <a:t>Cultural Relevance</a:t>
            </a:r>
            <a:endParaRPr lang="en-AU"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Paper">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Paper">
      <a:fillStyleLst>
        <a:solidFill>
          <a:schemeClr val="phClr"/>
        </a:solidFill>
        <a:blipFill>
          <a:blip xmlns:r="http://schemas.openxmlformats.org/officeDocument/2006/relationships" r:embed="rId1">
            <a:duotone>
              <a:schemeClr val="phClr">
                <a:shade val="63000"/>
                <a:tint val="82000"/>
              </a:schemeClr>
              <a:schemeClr val="phClr">
                <a:tint val="10000"/>
                <a:satMod val="400000"/>
              </a:schemeClr>
            </a:duotone>
          </a:blip>
          <a:tile tx="0" ty="0" sx="40000" sy="40000" flip="none" algn="tl"/>
        </a:blipFill>
        <a:blipFill>
          <a:blip xmlns:r="http://schemas.openxmlformats.org/officeDocument/2006/relationships" r:embed="rId1">
            <a:duotone>
              <a:schemeClr val="phClr">
                <a:shade val="40000"/>
              </a:schemeClr>
              <a:schemeClr val="phClr">
                <a:tint val="42000"/>
              </a:schemeClr>
            </a:duotone>
          </a:blip>
          <a:tile tx="0" ty="0" sx="40000" sy="40000" flip="none" algn="tl"/>
        </a:blipFill>
      </a:fillStyleLst>
      <a:lnStyleLst>
        <a:ln w="12700" cap="flat" cmpd="sng" algn="ctr">
          <a:solidFill>
            <a:schemeClr val="phClr"/>
          </a:solidFill>
          <a:prstDash val="solid"/>
        </a:ln>
        <a:ln w="38100" cap="flat" cmpd="sng" algn="ctr">
          <a:solidFill>
            <a:schemeClr val="phClr"/>
          </a:solidFill>
          <a:prstDash val="solid"/>
        </a:ln>
        <a:ln w="63500" cap="flat" cmpd="sng" algn="ctr">
          <a:solidFill>
            <a:schemeClr val="phClr"/>
          </a:solidFill>
          <a:prstDash val="solid"/>
        </a:ln>
      </a:lnStyleLst>
      <a:effectStyleLst>
        <a:effectStyle>
          <a:effectLst>
            <a:outerShdw blurRad="95000" rotWithShape="0">
              <a:srgbClr val="000000">
                <a:alpha val="50000"/>
              </a:srgbClr>
            </a:outerShdw>
            <a:softEdge rad="12700"/>
          </a:effectLst>
        </a:effectStyle>
        <a:effectStyle>
          <a:effectLst>
            <a:outerShdw blurRad="95000" rotWithShape="0">
              <a:srgbClr val="000000">
                <a:alpha val="50000"/>
              </a:srgbClr>
            </a:outerShdw>
            <a:softEdge rad="12700"/>
          </a:effectLst>
        </a:effectStyle>
        <a:effectStyle>
          <a:effectLst>
            <a:outerShdw blurRad="95000" algn="tl" rotWithShape="0">
              <a:srgbClr val="000000">
                <a:alpha val="50000"/>
              </a:srgbClr>
            </a:outerShdw>
          </a:effectLst>
          <a:scene3d>
            <a:camera prst="orthographicFront"/>
            <a:lightRig rig="soft" dir="t">
              <a:rot lat="0" lon="0" rev="18000000"/>
            </a:lightRig>
          </a:scene3d>
          <a:sp3d prstMaterial="dkEdge">
            <a:bevelT w="73660" h="44450" prst="riblet"/>
          </a:sp3d>
        </a:effectStyle>
      </a:effectStyleLst>
      <a:bgFillStyleLst>
        <a:solidFill>
          <a:schemeClr val="phClr"/>
        </a:solidFill>
        <a:blipFill>
          <a:blip xmlns:r="http://schemas.openxmlformats.org/officeDocument/2006/relationships" r:embed="rId1">
            <a:duotone>
              <a:schemeClr val="phClr">
                <a:shade val="55000"/>
                <a:alpha val="20000"/>
              </a:schemeClr>
              <a:schemeClr val="phClr">
                <a:tint val="40000"/>
                <a:shade val="90000"/>
                <a:satMod val="60000"/>
                <a:alpha val="20000"/>
              </a:schemeClr>
            </a:duotone>
          </a:blip>
          <a:tile tx="0" ty="0" sx="58000" sy="38000" flip="none" algn="tl"/>
        </a:blipFill>
        <a:blipFill>
          <a:blip xmlns:r="http://schemas.openxmlformats.org/officeDocument/2006/relationships" r:embed="rId2">
            <a:duotone>
              <a:schemeClr val="phClr">
                <a:shade val="12000"/>
                <a:satMod val="240000"/>
              </a:schemeClr>
              <a:schemeClr val="phClr">
                <a:tint val="65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Paper</Template>
  <TotalTime>41</TotalTime>
  <Words>1095</Words>
  <Application>Microsoft Office PowerPoint</Application>
  <PresentationFormat>On-screen Show (4:3)</PresentationFormat>
  <Paragraphs>98</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Paper</vt:lpstr>
      <vt:lpstr>Grunge Writing Before and After</vt:lpstr>
      <vt:lpstr>Definitions</vt:lpstr>
      <vt:lpstr>Slide 3</vt:lpstr>
      <vt:lpstr>     Some of the writers include: </vt:lpstr>
      <vt:lpstr>The bookends of Grunge</vt:lpstr>
      <vt:lpstr>Slide 6</vt:lpstr>
      <vt:lpstr>Slide 7</vt:lpstr>
      <vt:lpstr>Is Grunge Lit still being written?</vt:lpstr>
      <vt:lpstr>If Grunge writing has any shared characteristics, they are:</vt:lpstr>
      <vt:lpstr>Slide 10</vt:lpstr>
      <vt:lpstr>The long history of Grunge.</vt:lpstr>
      <vt:lpstr>Historical Contexts</vt:lpstr>
      <vt:lpstr>Historical Contexts</vt:lpstr>
      <vt:lpstr>The end of New Writing</vt:lpstr>
      <vt:lpstr>Slide 15</vt:lpstr>
      <vt:lpstr>From New Writing to Grunge</vt:lpstr>
      <vt:lpstr> After Grunge/post Grunge  </vt:lpstr>
      <vt:lpstr>The Danger Game</vt:lpstr>
      <vt:lpstr>Slide 19</vt:lpstr>
      <vt:lpstr>Cultural Relevance</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Grunge Writing Before and After</dc:title>
  <dc:creator>Natalie Kon-yu </dc:creator>
  <cp:lastModifiedBy>Natalie Kon-yu </cp:lastModifiedBy>
  <cp:revision>5</cp:revision>
  <dcterms:created xsi:type="dcterms:W3CDTF">2011-03-20T22:32:54Z</dcterms:created>
  <dcterms:modified xsi:type="dcterms:W3CDTF">2011-12-14T01:20:05Z</dcterms:modified>
</cp:coreProperties>
</file>