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2" r:id="rId3"/>
    <p:sldId id="273" r:id="rId4"/>
    <p:sldId id="275" r:id="rId5"/>
    <p:sldId id="276" r:id="rId6"/>
    <p:sldId id="278" r:id="rId7"/>
    <p:sldId id="279" r:id="rId8"/>
    <p:sldId id="280" r:id="rId9"/>
    <p:sldId id="281" r:id="rId10"/>
    <p:sldId id="282" r:id="rId11"/>
    <p:sldId id="286" r:id="rId12"/>
    <p:sldId id="284" r:id="rId13"/>
    <p:sldId id="285" r:id="rId14"/>
    <p:sldId id="277" r:id="rId15"/>
    <p:sldId id="287" r:id="rId16"/>
    <p:sldId id="283" r:id="rId17"/>
    <p:sldId id="270" r:id="rId18"/>
    <p:sldId id="288" r:id="rId19"/>
    <p:sldId id="289" r:id="rId20"/>
    <p:sldId id="257" r:id="rId21"/>
    <p:sldId id="258" r:id="rId22"/>
    <p:sldId id="259" r:id="rId23"/>
    <p:sldId id="260" r:id="rId24"/>
    <p:sldId id="261" r:id="rId25"/>
    <p:sldId id="262" r:id="rId26"/>
    <p:sldId id="268" r:id="rId27"/>
    <p:sldId id="263" r:id="rId28"/>
    <p:sldId id="265" r:id="rId29"/>
    <p:sldId id="266" r:id="rId30"/>
    <p:sldId id="264" r:id="rId31"/>
    <p:sldId id="267" r:id="rId32"/>
    <p:sldId id="294" r:id="rId33"/>
    <p:sldId id="269" r:id="rId34"/>
    <p:sldId id="295" r:id="rId35"/>
    <p:sldId id="290" r:id="rId36"/>
    <p:sldId id="292" r:id="rId37"/>
    <p:sldId id="291" r:id="rId38"/>
    <p:sldId id="293" r:id="rId39"/>
  </p:sldIdLst>
  <p:sldSz cx="9144000" cy="6858000" type="screen4x3"/>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A492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098"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F93496-DFBF-489D-843B-D0504010B3E5}" type="datetimeFigureOut">
              <a:rPr lang="en-US" smtClean="0"/>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510421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F93496-DFBF-489D-843B-D0504010B3E5}" type="datetimeFigureOut">
              <a:rPr lang="en-US" smtClean="0"/>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214576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F93496-DFBF-489D-843B-D0504010B3E5}" type="datetimeFigureOut">
              <a:rPr lang="en-US" smtClean="0"/>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2924820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F93496-DFBF-489D-843B-D0504010B3E5}" type="datetimeFigureOut">
              <a:rPr lang="en-US" smtClean="0"/>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114370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F93496-DFBF-489D-843B-D0504010B3E5}" type="datetimeFigureOut">
              <a:rPr lang="en-US" smtClean="0"/>
              <a:t>5/10/2012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1482913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F93496-DFBF-489D-843B-D0504010B3E5}" type="datetimeFigureOut">
              <a:rPr lang="en-US" smtClean="0"/>
              <a:t>5/10/2012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90559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F93496-DFBF-489D-843B-D0504010B3E5}" type="datetimeFigureOut">
              <a:rPr lang="en-US" smtClean="0"/>
              <a:t>5/10/2012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3999178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F93496-DFBF-489D-843B-D0504010B3E5}" type="datetimeFigureOut">
              <a:rPr lang="en-US" smtClean="0"/>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137491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F93496-DFBF-489D-843B-D0504010B3E5}" type="datetimeFigureOut">
              <a:rPr lang="en-US" smtClean="0"/>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15429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F93496-DFBF-489D-843B-D0504010B3E5}" type="datetimeFigureOut">
              <a:rPr lang="en-US" smtClean="0"/>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113802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F93496-DFBF-489D-843B-D0504010B3E5}" type="datetimeFigureOut">
              <a:rPr lang="en-US" smtClean="0"/>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D9320B-A965-4E0B-ADD4-62A65C7095A3}" type="slidenum">
              <a:rPr lang="en-US" smtClean="0"/>
              <a:t>‹#›</a:t>
            </a:fld>
            <a:endParaRPr lang="en-US"/>
          </a:p>
        </p:txBody>
      </p:sp>
    </p:spTree>
    <p:extLst>
      <p:ext uri="{BB962C8B-B14F-4D97-AF65-F5344CB8AC3E}">
        <p14:creationId xmlns:p14="http://schemas.microsoft.com/office/powerpoint/2010/main" val="4070153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25000">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93496-DFBF-489D-843B-D0504010B3E5}" type="datetimeFigureOut">
              <a:rPr lang="en-US" smtClean="0"/>
              <a:t>5/10/2012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D9320B-A965-4E0B-ADD4-62A65C7095A3}" type="slidenum">
              <a:rPr lang="en-US" smtClean="0"/>
              <a:t>‹#›</a:t>
            </a:fld>
            <a:endParaRPr lang="en-US"/>
          </a:p>
        </p:txBody>
      </p:sp>
    </p:spTree>
    <p:extLst>
      <p:ext uri="{BB962C8B-B14F-4D97-AF65-F5344CB8AC3E}">
        <p14:creationId xmlns:p14="http://schemas.microsoft.com/office/powerpoint/2010/main" val="3987092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7.xml"/><Relationship Id="rId5" Type="http://schemas.openxmlformats.org/officeDocument/2006/relationships/image" Target="../media/image49.jpeg"/><Relationship Id="rId4" Type="http://schemas.openxmlformats.org/officeDocument/2006/relationships/image" Target="../media/image48.jpeg"/></Relationships>
</file>

<file path=ppt/slides/_rels/slide21.xml.rels><?xml version="1.0" encoding="UTF-8" standalone="yes"?>
<Relationships xmlns="http://schemas.openxmlformats.org/package/2006/relationships"><Relationship Id="rId3" Type="http://schemas.openxmlformats.org/officeDocument/2006/relationships/hyperlink" Target="http://www.libraries.iub.edu/index.php?pageId=2048" TargetMode="External"/><Relationship Id="rId2" Type="http://schemas.openxmlformats.org/officeDocument/2006/relationships/image" Target="../media/image50.jpeg"/><Relationship Id="rId1" Type="http://schemas.openxmlformats.org/officeDocument/2006/relationships/slideLayout" Target="../slideLayouts/slideLayout7.xml"/><Relationship Id="rId5" Type="http://schemas.openxmlformats.org/officeDocument/2006/relationships/image" Target="../media/image52.jpeg"/><Relationship Id="rId4" Type="http://schemas.openxmlformats.org/officeDocument/2006/relationships/image" Target="../media/image51.jpeg"/></Relationships>
</file>

<file path=ppt/slides/_rels/slide2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7.xml"/><Relationship Id="rId4" Type="http://schemas.openxmlformats.org/officeDocument/2006/relationships/image" Target="../media/image55.jpeg"/></Relationships>
</file>

<file path=ppt/slides/_rels/slide2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hyperlink" Target="http://www.libraries.iub.edu/index.php?pageId=1854" TargetMode="Externa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jpeg"/><Relationship Id="rId4" Type="http://schemas.openxmlformats.org/officeDocument/2006/relationships/image" Target="../media/image57.jpeg"/></Relationships>
</file>

<file path=ppt/slides/_rels/slide2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hyperlink" Target="http://www.libraries.iub.edu/index.php?pageId=1494" TargetMode="Externa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jpeg"/><Relationship Id="rId4" Type="http://schemas.openxmlformats.org/officeDocument/2006/relationships/image" Target="../media/image61.jpeg"/></Relationships>
</file>

<file path=ppt/slides/_rels/slide2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jpeg"/></Relationships>
</file>

<file path=ppt/slides/_rels/slide2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7.xml"/><Relationship Id="rId4" Type="http://schemas.openxmlformats.org/officeDocument/2006/relationships/image" Target="../media/image72.jpeg"/></Relationships>
</file>

<file path=ppt/slides/_rels/slide2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7.xml"/><Relationship Id="rId4" Type="http://schemas.openxmlformats.org/officeDocument/2006/relationships/image" Target="../media/image75.jpeg"/></Relationships>
</file>

<file path=ppt/slides/_rels/slide2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7.xml"/><Relationship Id="rId6" Type="http://schemas.openxmlformats.org/officeDocument/2006/relationships/image" Target="../media/image83.jpeg"/><Relationship Id="rId5" Type="http://schemas.openxmlformats.org/officeDocument/2006/relationships/hyperlink" Target="http://www.libraries.iub.edu/index.php?pageId=3723" TargetMode="External"/><Relationship Id="rId4" Type="http://schemas.openxmlformats.org/officeDocument/2006/relationships/image" Target="../media/image82.jpeg"/></Relationships>
</file>

<file path=ppt/slides/_rels/slide3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7.xml"/><Relationship Id="rId4" Type="http://schemas.openxmlformats.org/officeDocument/2006/relationships/image" Target="../media/image86.jpeg"/></Relationships>
</file>

<file path=ppt/slides/_rels/slide3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7.xml"/><Relationship Id="rId5" Type="http://schemas.openxmlformats.org/officeDocument/2006/relationships/hyperlink" Target="http://www.indiana.edu/~libwylie/about.html" TargetMode="External"/><Relationship Id="rId4" Type="http://schemas.openxmlformats.org/officeDocument/2006/relationships/image" Target="../media/image89.jpeg"/></Relationships>
</file>

<file path=ppt/slides/_rels/slide34.xml.rels><?xml version="1.0" encoding="UTF-8" standalone="yes"?>
<Relationships xmlns="http://schemas.openxmlformats.org/package/2006/relationships"><Relationship Id="rId8" Type="http://schemas.openxmlformats.org/officeDocument/2006/relationships/image" Target="../media/image94.jpeg"/><Relationship Id="rId3" Type="http://schemas.openxmlformats.org/officeDocument/2006/relationships/hyperlink" Target="http://www.indiana.edu/~libcirc/alf/pages/P9270035.htm" TargetMode="External"/><Relationship Id="rId7" Type="http://schemas.openxmlformats.org/officeDocument/2006/relationships/image" Target="../media/image93.jpeg"/><Relationship Id="rId2" Type="http://schemas.openxmlformats.org/officeDocument/2006/relationships/image" Target="../media/image90.jpeg"/><Relationship Id="rId1" Type="http://schemas.openxmlformats.org/officeDocument/2006/relationships/slideLayout" Target="../slideLayouts/slideLayout7.xml"/><Relationship Id="rId6" Type="http://schemas.openxmlformats.org/officeDocument/2006/relationships/image" Target="../media/image92.jpeg"/><Relationship Id="rId5" Type="http://schemas.openxmlformats.org/officeDocument/2006/relationships/hyperlink" Target="http://www.indiana.edu/~libcirc/alf/pages/P9270032.htm" TargetMode="External"/><Relationship Id="rId4" Type="http://schemas.openxmlformats.org/officeDocument/2006/relationships/image" Target="../media/image91.jpeg"/><Relationship Id="rId9" Type="http://schemas.openxmlformats.org/officeDocument/2006/relationships/image" Target="../media/image95.jpeg"/></Relationships>
</file>

<file path=ppt/slides/_rels/slide35.xml.rels><?xml version="1.0" encoding="UTF-8" standalone="yes"?>
<Relationships xmlns="http://schemas.openxmlformats.org/package/2006/relationships"><Relationship Id="rId8" Type="http://schemas.openxmlformats.org/officeDocument/2006/relationships/image" Target="../media/image101.jpeg"/><Relationship Id="rId3" Type="http://schemas.openxmlformats.org/officeDocument/2006/relationships/image" Target="../media/image97.jpeg"/><Relationship Id="rId7" Type="http://schemas.openxmlformats.org/officeDocument/2006/relationships/hyperlink" Target="http://www.iue.indiana.edu/Library/LibInfo.html" TargetMode="External"/><Relationship Id="rId2" Type="http://schemas.openxmlformats.org/officeDocument/2006/relationships/image" Target="../media/image96.jpeg"/><Relationship Id="rId1" Type="http://schemas.openxmlformats.org/officeDocument/2006/relationships/slideLayout" Target="../slideLayouts/slideLayout7.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jpeg"/></Relationships>
</file>

<file path=ppt/slides/_rels/slide36.xml.rels><?xml version="1.0" encoding="UTF-8" standalone="yes"?>
<Relationships xmlns="http://schemas.openxmlformats.org/package/2006/relationships"><Relationship Id="rId8" Type="http://schemas.openxmlformats.org/officeDocument/2006/relationships/image" Target="../media/image108.jpeg"/><Relationship Id="rId3" Type="http://schemas.openxmlformats.org/officeDocument/2006/relationships/image" Target="../media/image103.jpeg"/><Relationship Id="rId7" Type="http://schemas.openxmlformats.org/officeDocument/2006/relationships/image" Target="../media/image107.jpeg"/><Relationship Id="rId12" Type="http://schemas.openxmlformats.org/officeDocument/2006/relationships/image" Target="../media/image112.jpeg"/><Relationship Id="rId2" Type="http://schemas.openxmlformats.org/officeDocument/2006/relationships/image" Target="../media/image102.png"/><Relationship Id="rId1" Type="http://schemas.openxmlformats.org/officeDocument/2006/relationships/slideLayout" Target="../slideLayouts/slideLayout7.xml"/><Relationship Id="rId6" Type="http://schemas.openxmlformats.org/officeDocument/2006/relationships/image" Target="../media/image106.jpeg"/><Relationship Id="rId11" Type="http://schemas.openxmlformats.org/officeDocument/2006/relationships/image" Target="../media/image111.png"/><Relationship Id="rId5" Type="http://schemas.openxmlformats.org/officeDocument/2006/relationships/image" Target="../media/image105.jpeg"/><Relationship Id="rId10" Type="http://schemas.openxmlformats.org/officeDocument/2006/relationships/image" Target="../media/image110.jpeg"/><Relationship Id="rId4" Type="http://schemas.openxmlformats.org/officeDocument/2006/relationships/image" Target="../media/image104.jpeg"/><Relationship Id="rId9" Type="http://schemas.openxmlformats.org/officeDocument/2006/relationships/image" Target="../media/image109.png"/></Relationships>
</file>

<file path=ppt/slides/_rels/slide3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jpe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image" Target="../media/image113.jpe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jpeg"/><Relationship Id="rId9" Type="http://schemas.openxmlformats.org/officeDocument/2006/relationships/image" Target="../media/image120.png"/></Relationships>
</file>

<file path=ppt/slides/_rels/slide38.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http://www.libraries.iub.edu/secure/images/libraryPhotos/C_103/AboutBann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3952" y="5176"/>
            <a:ext cx="9121170" cy="1752600"/>
          </a:xfrm>
          <a:prstGeom prst="rect">
            <a:avLst/>
          </a:prstGeom>
          <a:noFill/>
        </p:spPr>
      </p:pic>
      <p:sp>
        <p:nvSpPr>
          <p:cNvPr id="4" name="Rectangle 2"/>
          <p:cNvSpPr txBox="1">
            <a:spLocks noChangeArrowheads="1"/>
          </p:cNvSpPr>
          <p:nvPr/>
        </p:nvSpPr>
        <p:spPr>
          <a:xfrm>
            <a:off x="0" y="1757776"/>
            <a:ext cx="9135122" cy="5100224"/>
          </a:xfrm>
          <a:prstGeom prst="rect">
            <a:avLst/>
          </a:prstGeom>
          <a:blipFill>
            <a:blip r:embed="rId3"/>
            <a:tile tx="0" ty="0" sx="100000" sy="100000" flip="none" algn="tl"/>
          </a:blip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endParaRPr lang="en-US" i="1" dirty="0" smtClean="0">
              <a:latin typeface="Garamond" pitchFamily="18" charset="0"/>
            </a:endParaRPr>
          </a:p>
          <a:p>
            <a:pPr>
              <a:defRPr/>
            </a:pPr>
            <a:r>
              <a:rPr lang="en-US" i="1" dirty="0" smtClean="0">
                <a:latin typeface="Garamond" pitchFamily="18" charset="0"/>
              </a:rPr>
              <a:t> </a:t>
            </a:r>
            <a:r>
              <a:rPr lang="en-US" dirty="0" smtClean="0">
                <a:latin typeface="Garamond" pitchFamily="18" charset="0"/>
              </a:rPr>
              <a:t>The IUB Libraries:</a:t>
            </a:r>
            <a:br>
              <a:rPr lang="en-US" dirty="0" smtClean="0">
                <a:latin typeface="Garamond" pitchFamily="18" charset="0"/>
              </a:rPr>
            </a:br>
            <a:r>
              <a:rPr lang="en-US" dirty="0" smtClean="0">
                <a:latin typeface="Garamond" pitchFamily="18" charset="0"/>
              </a:rPr>
              <a:t>Fire, Space and Staff </a:t>
            </a:r>
            <a:br>
              <a:rPr lang="en-US" dirty="0" smtClean="0">
                <a:latin typeface="Garamond" pitchFamily="18" charset="0"/>
              </a:rPr>
            </a:br>
            <a:r>
              <a:rPr lang="en-US" sz="2300" dirty="0" smtClean="0">
                <a:latin typeface="Garamond" pitchFamily="18" charset="0"/>
              </a:rPr>
              <a:t>May 7, 2012</a:t>
            </a:r>
          </a:p>
        </p:txBody>
      </p:sp>
    </p:spTree>
    <p:extLst>
      <p:ext uri="{BB962C8B-B14F-4D97-AF65-F5344CB8AC3E}">
        <p14:creationId xmlns:p14="http://schemas.microsoft.com/office/powerpoint/2010/main" val="10489422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a:spLocks noChangeArrowheads="1"/>
          </p:cNvSpPr>
          <p:nvPr/>
        </p:nvSpPr>
        <p:spPr bwMode="auto">
          <a:xfrm>
            <a:off x="6629400" y="304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Indiana's state government founded Indiana University in 1820 as the State Seminary, and officially changed the name to "Indiana University" in 1838.</a:t>
            </a:r>
          </a:p>
        </p:txBody>
      </p:sp>
      <p:pic>
        <p:nvPicPr>
          <p:cNvPr id="4" name="Picture 6" descr="SLIDE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107870"/>
            <a:ext cx="5943600" cy="375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SLIDE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6400800" cy="4216400"/>
          </a:xfrm>
          <a:prstGeom prst="rect">
            <a:avLst/>
          </a:prstGeom>
          <a:noFill/>
        </p:spPr>
      </p:pic>
    </p:spTree>
    <p:extLst>
      <p:ext uri="{BB962C8B-B14F-4D97-AF65-F5344CB8AC3E}">
        <p14:creationId xmlns:p14="http://schemas.microsoft.com/office/powerpoint/2010/main" val="35409253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SLIDE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4" y="0"/>
            <a:ext cx="5410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descr="SLIDE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712" y="1659987"/>
            <a:ext cx="4205288"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5628139" y="551765"/>
            <a:ext cx="2826434" cy="646331"/>
          </a:xfrm>
          <a:prstGeom prst="rect">
            <a:avLst/>
          </a:prstGeom>
          <a:noFill/>
        </p:spPr>
        <p:txBody>
          <a:bodyPr wrap="square" rtlCol="0">
            <a:spAutoFit/>
          </a:bodyPr>
          <a:lstStyle/>
          <a:p>
            <a:r>
              <a:rPr lang="en-US" dirty="0" smtClean="0"/>
              <a:t>President Andrew Wylie and Prof. Bernard Hall </a:t>
            </a:r>
            <a:endParaRPr lang="en-US" dirty="0"/>
          </a:p>
        </p:txBody>
      </p:sp>
    </p:spTree>
    <p:extLst>
      <p:ext uri="{BB962C8B-B14F-4D97-AF65-F5344CB8AC3E}">
        <p14:creationId xmlns:p14="http://schemas.microsoft.com/office/powerpoint/2010/main" val="35386570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6" descr="SLIDE2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562600" y="685800"/>
            <a:ext cx="3427413" cy="5516563"/>
          </a:xfrm>
          <a:noFill/>
        </p:spPr>
      </p:pic>
      <p:sp>
        <p:nvSpPr>
          <p:cNvPr id="6147" name="Rectangle 11"/>
          <p:cNvSpPr>
            <a:spLocks noGrp="1" noChangeArrowheads="1"/>
          </p:cNvSpPr>
          <p:nvPr>
            <p:ph type="title"/>
          </p:nvPr>
        </p:nvSpPr>
        <p:spPr>
          <a:xfrm>
            <a:off x="228600" y="4343400"/>
            <a:ext cx="3124200" cy="1371600"/>
          </a:xfrm>
          <a:noFill/>
        </p:spPr>
        <p:txBody>
          <a:bodyPr/>
          <a:lstStyle/>
          <a:p>
            <a:pPr eaLnBrk="1" hangingPunct="1"/>
            <a:r>
              <a:rPr lang="en-US" sz="1800" b="1" smtClean="0"/>
              <a:t>Seminary Square</a:t>
            </a:r>
            <a:br>
              <a:rPr lang="en-US" sz="1800" b="1" smtClean="0"/>
            </a:br>
            <a:r>
              <a:rPr lang="en-US" sz="1800" smtClean="0"/>
              <a:t>see also history at:</a:t>
            </a:r>
            <a:br>
              <a:rPr lang="en-US" sz="1800" smtClean="0"/>
            </a:br>
            <a:r>
              <a:rPr lang="en-US" sz="1800" smtClean="0"/>
              <a:t>http://www.iub.edu/about/history.shtml</a:t>
            </a:r>
          </a:p>
        </p:txBody>
      </p:sp>
      <p:pic>
        <p:nvPicPr>
          <p:cNvPr id="6148" name="Picture 12" descr="SLIDE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886200"/>
            <a:ext cx="1851025" cy="2971800"/>
          </a:xfrm>
          <a:prstGeom prst="rect">
            <a:avLst/>
          </a:prstGeom>
          <a:noFill/>
          <a:ln w="12700">
            <a:solidFill>
              <a:srgbClr val="C4C6D2"/>
            </a:solidFill>
            <a:miter lim="800000"/>
            <a:headEnd/>
            <a:tailEnd/>
          </a:ln>
          <a:extLst>
            <a:ext uri="{909E8E84-426E-40DD-AFC4-6F175D3DCCD1}">
              <a14:hiddenFill xmlns:a14="http://schemas.microsoft.com/office/drawing/2010/main">
                <a:solidFill>
                  <a:srgbClr val="FFFFFF"/>
                </a:solidFill>
              </a14:hiddenFill>
            </a:ext>
          </a:extLst>
        </p:spPr>
      </p:pic>
      <p:pic>
        <p:nvPicPr>
          <p:cNvPr id="6149" name="Picture 14" descr="SLIDE37"/>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0" y="0"/>
            <a:ext cx="5562600" cy="4049713"/>
          </a:xfrm>
          <a:noFill/>
          <a:ln w="12700">
            <a:solidFill>
              <a:srgbClr val="C4C6D2"/>
            </a:solidFill>
            <a:miter lim="800000"/>
            <a:headEnd/>
            <a:tailEnd/>
          </a:ln>
        </p:spPr>
      </p:pic>
    </p:spTree>
    <p:extLst>
      <p:ext uri="{BB962C8B-B14F-4D97-AF65-F5344CB8AC3E}">
        <p14:creationId xmlns:p14="http://schemas.microsoft.com/office/powerpoint/2010/main" val="1475320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4" descr="SLIDE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292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5" descr="SLIDE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3282950"/>
            <a:ext cx="54102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6"/>
          <p:cNvSpPr txBox="1">
            <a:spLocks noChangeArrowheads="1"/>
          </p:cNvSpPr>
          <p:nvPr/>
        </p:nvSpPr>
        <p:spPr bwMode="auto">
          <a:xfrm>
            <a:off x="5334000" y="1066800"/>
            <a:ext cx="3276600" cy="1616075"/>
          </a:xfrm>
          <a:prstGeom prst="rect">
            <a:avLst/>
          </a:prstGeom>
          <a:noFill/>
          <a:ln w="12700">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a:solidFill>
                  <a:srgbClr val="A50021"/>
                </a:solidFill>
              </a:rPr>
              <a:t>Collection housed in Wylie Hall by 1891 was 9,000 volumes.</a:t>
            </a:r>
          </a:p>
          <a:p>
            <a:pPr algn="ctr" eaLnBrk="1" hangingPunct="1">
              <a:spcBef>
                <a:spcPct val="50000"/>
              </a:spcBef>
            </a:pPr>
            <a:r>
              <a:rPr lang="en-US">
                <a:solidFill>
                  <a:srgbClr val="A50021"/>
                </a:solidFill>
              </a:rPr>
              <a:t>There were 98 periodical subscriptions in 1887.</a:t>
            </a:r>
          </a:p>
        </p:txBody>
      </p:sp>
    </p:spTree>
    <p:extLst>
      <p:ext uri="{BB962C8B-B14F-4D97-AF65-F5344CB8AC3E}">
        <p14:creationId xmlns:p14="http://schemas.microsoft.com/office/powerpoint/2010/main" val="4273626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6" descr="SLIDE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715000" cy="3152775"/>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pic>
        <p:nvPicPr>
          <p:cNvPr id="9219" name="Picture 8" descr="SLIDE4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953000"/>
            <a:ext cx="1360488" cy="1905000"/>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pic>
        <p:nvPicPr>
          <p:cNvPr id="9220" name="Picture 10" descr="SLIDE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3048000"/>
            <a:ext cx="4876800" cy="3822700"/>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pic>
        <p:nvPicPr>
          <p:cNvPr id="9221" name="Picture 12" descr="SLIDE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44450"/>
            <a:ext cx="4191000"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13"/>
          <p:cNvSpPr txBox="1">
            <a:spLocks noChangeArrowheads="1"/>
          </p:cNvSpPr>
          <p:nvPr/>
        </p:nvSpPr>
        <p:spPr bwMode="auto">
          <a:xfrm>
            <a:off x="685800" y="3429000"/>
            <a:ext cx="3200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000" b="1">
                <a:solidFill>
                  <a:srgbClr val="A50021"/>
                </a:solidFill>
              </a:rPr>
              <a:t>Library Hall, named after David Maxwell, first president of the IU Board of Trustees.</a:t>
            </a:r>
          </a:p>
        </p:txBody>
      </p:sp>
    </p:spTree>
    <p:extLst>
      <p:ext uri="{BB962C8B-B14F-4D97-AF65-F5344CB8AC3E}">
        <p14:creationId xmlns:p14="http://schemas.microsoft.com/office/powerpoint/2010/main" val="34907617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SLIDE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0"/>
            <a:ext cx="5562600" cy="3897313"/>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pic>
        <p:nvPicPr>
          <p:cNvPr id="10243" name="Picture 5" descr="SLIDE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98863"/>
            <a:ext cx="4267200" cy="3259137"/>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sp>
        <p:nvSpPr>
          <p:cNvPr id="10244" name="Text Box 6"/>
          <p:cNvSpPr txBox="1">
            <a:spLocks noChangeArrowheads="1"/>
          </p:cNvSpPr>
          <p:nvPr/>
        </p:nvSpPr>
        <p:spPr bwMode="auto">
          <a:xfrm>
            <a:off x="152400" y="381000"/>
            <a:ext cx="29718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b="1">
                <a:solidFill>
                  <a:srgbClr val="A50021"/>
                </a:solidFill>
              </a:rPr>
              <a:t>Space became an issue as Maxwell Hall reached capacity in 1901-1902.  </a:t>
            </a:r>
          </a:p>
          <a:p>
            <a:pPr algn="ctr" eaLnBrk="1" hangingPunct="1">
              <a:spcBef>
                <a:spcPct val="50000"/>
              </a:spcBef>
            </a:pPr>
            <a:r>
              <a:rPr lang="en-US" b="1">
                <a:solidFill>
                  <a:srgbClr val="A50021"/>
                </a:solidFill>
              </a:rPr>
              <a:t>Construction on the “New” Library began</a:t>
            </a:r>
          </a:p>
        </p:txBody>
      </p:sp>
    </p:spTree>
    <p:extLst>
      <p:ext uri="{BB962C8B-B14F-4D97-AF65-F5344CB8AC3E}">
        <p14:creationId xmlns:p14="http://schemas.microsoft.com/office/powerpoint/2010/main" val="27938224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descr="SLIDE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81600" cy="4090988"/>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pic>
        <p:nvPicPr>
          <p:cNvPr id="11267" name="Picture 6" descr="SLIDE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265488"/>
            <a:ext cx="5486400" cy="3592512"/>
          </a:xfrm>
          <a:prstGeom prst="rect">
            <a:avLst/>
          </a:prstGeom>
          <a:noFill/>
          <a:ln w="9525">
            <a:solidFill>
              <a:srgbClr val="A50021"/>
            </a:solidFill>
            <a:miter lim="800000"/>
            <a:headEnd/>
            <a:tailEnd/>
          </a:ln>
          <a:extLst>
            <a:ext uri="{909E8E84-426E-40DD-AFC4-6F175D3DCCD1}">
              <a14:hiddenFill xmlns:a14="http://schemas.microsoft.com/office/drawing/2010/main">
                <a:solidFill>
                  <a:srgbClr val="FFFFFF"/>
                </a:solidFill>
              </a14:hiddenFill>
            </a:ext>
          </a:extLst>
        </p:spPr>
      </p:pic>
      <p:sp>
        <p:nvSpPr>
          <p:cNvPr id="11268" name="Text Box 10"/>
          <p:cNvSpPr txBox="1">
            <a:spLocks noChangeArrowheads="1"/>
          </p:cNvSpPr>
          <p:nvPr/>
        </p:nvSpPr>
        <p:spPr bwMode="auto">
          <a:xfrm>
            <a:off x="5410200" y="457200"/>
            <a:ext cx="3505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a:t>The “New” Library was funded by the Indiana General Assembly at a little more than half the anticipated costs. </a:t>
            </a:r>
          </a:p>
        </p:txBody>
      </p:sp>
      <p:sp>
        <p:nvSpPr>
          <p:cNvPr id="11269" name="Text Box 11"/>
          <p:cNvSpPr txBox="1">
            <a:spLocks noChangeArrowheads="1"/>
          </p:cNvSpPr>
          <p:nvPr/>
        </p:nvSpPr>
        <p:spPr bwMode="auto">
          <a:xfrm>
            <a:off x="152400" y="4572000"/>
            <a:ext cx="2743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800" b="1">
                <a:solidFill>
                  <a:srgbClr val="A50021"/>
                </a:solidFill>
              </a:rPr>
              <a:t>Franklin Hall 1904-1969</a:t>
            </a:r>
          </a:p>
        </p:txBody>
      </p:sp>
    </p:spTree>
    <p:extLst>
      <p:ext uri="{BB962C8B-B14F-4D97-AF65-F5344CB8AC3E}">
        <p14:creationId xmlns:p14="http://schemas.microsoft.com/office/powerpoint/2010/main" val="2193817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6" descr="SLIDE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362200"/>
            <a:ext cx="18748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9" descr="SLIDE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436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10"/>
          <p:cNvSpPr txBox="1">
            <a:spLocks noChangeArrowheads="1"/>
          </p:cNvSpPr>
          <p:nvPr/>
        </p:nvSpPr>
        <p:spPr bwMode="auto">
          <a:xfrm>
            <a:off x="7467600" y="2667000"/>
            <a:ext cx="1676400" cy="192563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600">
                <a:solidFill>
                  <a:schemeClr val="bg1"/>
                </a:solidFill>
              </a:rPr>
              <a:t>Trend in the 1950s towards having a special place for undergraduates – Harvard first.</a:t>
            </a:r>
          </a:p>
          <a:p>
            <a:pPr eaLnBrk="1" hangingPunct="1">
              <a:spcBef>
                <a:spcPct val="50000"/>
              </a:spcBef>
            </a:pPr>
            <a:endParaRPr lang="en-US" sz="1600">
              <a:solidFill>
                <a:schemeClr val="bg1"/>
              </a:solidFill>
            </a:endParaRPr>
          </a:p>
        </p:txBody>
      </p:sp>
      <p:pic>
        <p:nvPicPr>
          <p:cNvPr id="12293" name="Picture 11" descr="SLIDE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4324350"/>
            <a:ext cx="33528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12" descr="SLIDE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0"/>
            <a:ext cx="3200400"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Text Box 13"/>
          <p:cNvSpPr txBox="1">
            <a:spLocks noChangeArrowheads="1"/>
          </p:cNvSpPr>
          <p:nvPr/>
        </p:nvSpPr>
        <p:spPr bwMode="auto">
          <a:xfrm>
            <a:off x="304800" y="4776788"/>
            <a:ext cx="5334000" cy="1928812"/>
          </a:xfrm>
          <a:prstGeom prst="rect">
            <a:avLst/>
          </a:prstGeom>
          <a:noFill/>
          <a:ln w="28575">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b="1"/>
              <a:t>Volumes held</a:t>
            </a:r>
          </a:p>
          <a:p>
            <a:pPr eaLnBrk="1" hangingPunct="1">
              <a:spcBef>
                <a:spcPct val="50000"/>
              </a:spcBef>
            </a:pPr>
            <a:r>
              <a:rPr lang="en-US" sz="1400" b="1"/>
              <a:t>	1904 	  53,000</a:t>
            </a:r>
          </a:p>
          <a:p>
            <a:pPr eaLnBrk="1" hangingPunct="1">
              <a:spcBef>
                <a:spcPct val="50000"/>
              </a:spcBef>
            </a:pPr>
            <a:r>
              <a:rPr lang="en-US" sz="1400" b="1"/>
              <a:t>	Inventory of the stacks in 1921</a:t>
            </a:r>
          </a:p>
          <a:p>
            <a:pPr eaLnBrk="1" hangingPunct="1">
              <a:spcBef>
                <a:spcPct val="50000"/>
              </a:spcBef>
            </a:pPr>
            <a:r>
              <a:rPr lang="en-US" sz="1400" b="1"/>
              <a:t>	1925 	167,592</a:t>
            </a:r>
          </a:p>
          <a:p>
            <a:pPr eaLnBrk="1" hangingPunct="1">
              <a:spcBef>
                <a:spcPct val="50000"/>
              </a:spcBef>
            </a:pPr>
            <a:r>
              <a:rPr lang="en-US" sz="1400" b="1"/>
              <a:t>	1969	2,300,000</a:t>
            </a:r>
          </a:p>
          <a:p>
            <a:pPr eaLnBrk="1" hangingPunct="1">
              <a:spcBef>
                <a:spcPct val="50000"/>
              </a:spcBef>
            </a:pPr>
            <a:r>
              <a:rPr lang="en-US" sz="1400" b="1"/>
              <a:t>	2005	7,241,929</a:t>
            </a:r>
          </a:p>
        </p:txBody>
      </p:sp>
    </p:spTree>
    <p:extLst>
      <p:ext uri="{BB962C8B-B14F-4D97-AF65-F5344CB8AC3E}">
        <p14:creationId xmlns:p14="http://schemas.microsoft.com/office/powerpoint/2010/main" val="33846120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SLIDE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8538"/>
            <a:ext cx="8229600" cy="5468937"/>
          </a:xfrm>
          <a:prstGeom prst="rect">
            <a:avLst/>
          </a:prstGeom>
          <a:noFill/>
          <a:ln w="38100">
            <a:solidFill>
              <a:srgbClr val="A50021"/>
            </a:solidFill>
            <a:miter lim="800000"/>
            <a:headEnd/>
            <a:tailEnd/>
          </a:ln>
          <a:extLst>
            <a:ext uri="{909E8E84-426E-40DD-AFC4-6F175D3DCCD1}">
              <a14:hiddenFill xmlns:a14="http://schemas.microsoft.com/office/drawing/2010/main">
                <a:solidFill>
                  <a:srgbClr val="FFFFFF"/>
                </a:solidFill>
              </a14:hiddenFill>
            </a:ext>
          </a:extLst>
        </p:spPr>
      </p:pic>
      <p:sp>
        <p:nvSpPr>
          <p:cNvPr id="13315" name="TextBox 2"/>
          <p:cNvSpPr txBox="1">
            <a:spLocks noChangeArrowheads="1"/>
          </p:cNvSpPr>
          <p:nvPr/>
        </p:nvSpPr>
        <p:spPr bwMode="auto">
          <a:xfrm>
            <a:off x="457200" y="381000"/>
            <a:ext cx="830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Fire…. May 1969 						courtesy IDS</a:t>
            </a:r>
          </a:p>
        </p:txBody>
      </p:sp>
    </p:spTree>
    <p:extLst>
      <p:ext uri="{BB962C8B-B14F-4D97-AF65-F5344CB8AC3E}">
        <p14:creationId xmlns:p14="http://schemas.microsoft.com/office/powerpoint/2010/main" val="21620671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38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4" descr="SLID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9" y="2638983"/>
            <a:ext cx="6472311" cy="427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7"/>
          <p:cNvSpPr txBox="1">
            <a:spLocks noChangeArrowheads="1"/>
          </p:cNvSpPr>
          <p:nvPr/>
        </p:nvSpPr>
        <p:spPr bwMode="auto">
          <a:xfrm>
            <a:off x="6705600" y="3200400"/>
            <a:ext cx="2057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dirty="0">
                <a:solidFill>
                  <a:srgbClr val="A50021"/>
                </a:solidFill>
              </a:rPr>
              <a:t>The “New” Library as conceived!</a:t>
            </a:r>
          </a:p>
        </p:txBody>
      </p:sp>
    </p:spTree>
    <p:extLst>
      <p:ext uri="{BB962C8B-B14F-4D97-AF65-F5344CB8AC3E}">
        <p14:creationId xmlns:p14="http://schemas.microsoft.com/office/powerpoint/2010/main" val="33271294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9" descr="SLIDE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6113" y="381000"/>
            <a:ext cx="4687887" cy="64770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363" name="Picture 10" descr="SLID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181600" cy="3824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5364" name="Text Box 11"/>
          <p:cNvSpPr txBox="1">
            <a:spLocks noChangeArrowheads="1"/>
          </p:cNvSpPr>
          <p:nvPr/>
        </p:nvSpPr>
        <p:spPr bwMode="auto">
          <a:xfrm>
            <a:off x="381000" y="4191000"/>
            <a:ext cx="3657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A50021"/>
                </a:solidFill>
              </a:rPr>
              <a:t>The “New” Library Construction 1966-1969</a:t>
            </a:r>
          </a:p>
        </p:txBody>
      </p:sp>
    </p:spTree>
    <p:extLst>
      <p:ext uri="{BB962C8B-B14F-4D97-AF65-F5344CB8AC3E}">
        <p14:creationId xmlns:p14="http://schemas.microsoft.com/office/powerpoint/2010/main" val="19375745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descr="SLIDE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545013" cy="6858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638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0088" y="700088"/>
            <a:ext cx="46291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 Box 6"/>
          <p:cNvSpPr txBox="1">
            <a:spLocks noChangeArrowheads="1"/>
          </p:cNvSpPr>
          <p:nvPr/>
        </p:nvSpPr>
        <p:spPr bwMode="auto">
          <a:xfrm>
            <a:off x="4648200" y="0"/>
            <a:ext cx="426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a:t>       Stoned 1969           Re-stoned 2007</a:t>
            </a:r>
          </a:p>
        </p:txBody>
      </p:sp>
      <p:sp>
        <p:nvSpPr>
          <p:cNvPr id="16389" name="Line 7"/>
          <p:cNvSpPr>
            <a:spLocks noChangeShapeType="1"/>
          </p:cNvSpPr>
          <p:nvPr/>
        </p:nvSpPr>
        <p:spPr bwMode="auto">
          <a:xfrm flipH="1">
            <a:off x="4800600" y="171450"/>
            <a:ext cx="3048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0" name="Line 8"/>
          <p:cNvSpPr>
            <a:spLocks noChangeShapeType="1"/>
          </p:cNvSpPr>
          <p:nvPr/>
        </p:nvSpPr>
        <p:spPr bwMode="auto">
          <a:xfrm flipH="1">
            <a:off x="8763000" y="304800"/>
            <a:ext cx="0" cy="28575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2166006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04" y="3486601"/>
            <a:ext cx="5867946" cy="3350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7783"/>
            <a:ext cx="4969115" cy="331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
            <a:ext cx="3901088" cy="3163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3337979"/>
            <a:ext cx="2590800" cy="3498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52623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SLIDE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09725"/>
            <a:ext cx="69342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 Box 5"/>
          <p:cNvSpPr txBox="1">
            <a:spLocks noChangeArrowheads="1"/>
          </p:cNvSpPr>
          <p:nvPr/>
        </p:nvSpPr>
        <p:spPr bwMode="auto">
          <a:xfrm>
            <a:off x="685800" y="381000"/>
            <a:ext cx="624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A50021"/>
                </a:solidFill>
              </a:rPr>
              <a:t>The “New” Library Summer 1969….</a:t>
            </a:r>
          </a:p>
        </p:txBody>
      </p:sp>
    </p:spTree>
    <p:extLst>
      <p:ext uri="{BB962C8B-B14F-4D97-AF65-F5344CB8AC3E}">
        <p14:creationId xmlns:p14="http://schemas.microsoft.com/office/powerpoint/2010/main" val="25563063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268" y="2580244"/>
            <a:ext cx="4648200" cy="4046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38929"/>
            <a:ext cx="188595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352800" y="457200"/>
            <a:ext cx="5029200" cy="1938992"/>
          </a:xfrm>
          <a:prstGeom prst="rect">
            <a:avLst/>
          </a:prstGeom>
          <a:noFill/>
        </p:spPr>
        <p:txBody>
          <a:bodyPr wrap="square" rtlCol="0">
            <a:spAutoFit/>
          </a:bodyPr>
          <a:lstStyle/>
          <a:p>
            <a:r>
              <a:rPr lang="en-US" sz="2800" b="1" dirty="0" smtClean="0"/>
              <a:t>Periodical/Journal Access</a:t>
            </a:r>
          </a:p>
          <a:p>
            <a:r>
              <a:rPr lang="en-US" sz="2300" dirty="0" smtClean="0"/>
              <a:t>1918 Bound Periodicals RR: 150</a:t>
            </a:r>
          </a:p>
          <a:p>
            <a:r>
              <a:rPr lang="en-US" sz="2300" dirty="0" smtClean="0"/>
              <a:t>1969: 19,000 est. </a:t>
            </a:r>
          </a:p>
          <a:p>
            <a:r>
              <a:rPr lang="en-US" sz="2300" dirty="0" smtClean="0"/>
              <a:t>2011 Serials </a:t>
            </a:r>
            <a:r>
              <a:rPr lang="en-US" sz="2300" dirty="0"/>
              <a:t>subscriptions: </a:t>
            </a:r>
            <a:endParaRPr lang="en-US" sz="2300" dirty="0" smtClean="0"/>
          </a:p>
          <a:p>
            <a:r>
              <a:rPr lang="en-US" sz="2300" dirty="0" smtClean="0"/>
              <a:t>        (</a:t>
            </a:r>
            <a:r>
              <a:rPr lang="en-US" sz="2300" dirty="0"/>
              <a:t>print) </a:t>
            </a:r>
            <a:r>
              <a:rPr lang="en-US" sz="2300" dirty="0" smtClean="0"/>
              <a:t> 11,778</a:t>
            </a:r>
            <a:r>
              <a:rPr lang="en-US" sz="2300" dirty="0"/>
              <a:t>; (electronic) 60,315</a:t>
            </a:r>
          </a:p>
        </p:txBody>
      </p:sp>
    </p:spTree>
    <p:extLst>
      <p:ext uri="{BB962C8B-B14F-4D97-AF65-F5344CB8AC3E}">
        <p14:creationId xmlns:p14="http://schemas.microsoft.com/office/powerpoint/2010/main" val="6596796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05400" y="6054048"/>
            <a:ext cx="3886200" cy="584775"/>
          </a:xfrm>
          <a:prstGeom prst="rect">
            <a:avLst/>
          </a:prstGeom>
          <a:solidFill>
            <a:schemeClr val="bg2">
              <a:lumMod val="90000"/>
            </a:schemeClr>
          </a:solidFill>
        </p:spPr>
        <p:txBody>
          <a:bodyPr wrap="square" rtlCol="0">
            <a:spAutoFit/>
          </a:bodyPr>
          <a:lstStyle/>
          <a:p>
            <a:pPr algn="ctr"/>
            <a:r>
              <a:rPr lang="en-US" sz="3200" dirty="0" smtClean="0"/>
              <a:t>LILLY LIBRARY</a:t>
            </a:r>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8601" y="2602706"/>
            <a:ext cx="3183597" cy="151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descr="SLIDE1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199" y="152399"/>
            <a:ext cx="4406900" cy="29080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6" descr="SLIDE1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8200" y="4674454"/>
            <a:ext cx="284480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SLIDE1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42783"/>
            <a:ext cx="3505200" cy="228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105400" y="4343400"/>
            <a:ext cx="3810000" cy="1477328"/>
          </a:xfrm>
          <a:prstGeom prst="rect">
            <a:avLst/>
          </a:prstGeom>
          <a:noFill/>
        </p:spPr>
        <p:txBody>
          <a:bodyPr wrap="square" rtlCol="0">
            <a:spAutoFit/>
          </a:bodyPr>
          <a:lstStyle/>
          <a:p>
            <a:r>
              <a:rPr lang="en-US" dirty="0" smtClean="0"/>
              <a:t>Special Collections consisted of a small </a:t>
            </a:r>
            <a:r>
              <a:rPr lang="en-US" dirty="0"/>
              <a:t>room in </a:t>
            </a:r>
            <a:r>
              <a:rPr lang="en-US" dirty="0" smtClean="0"/>
              <a:t>the Main Library (Franklin) </a:t>
            </a:r>
            <a:r>
              <a:rPr lang="en-US" dirty="0"/>
              <a:t>but then with gift from the Lilly Family, moved into the Lilly Library in the sixties</a:t>
            </a:r>
            <a:r>
              <a:rPr lang="en-US" dirty="0" smtClean="0"/>
              <a:t>.</a:t>
            </a:r>
            <a:endParaRPr lang="en-US" dirty="0"/>
          </a:p>
        </p:txBody>
      </p:sp>
      <p:pic>
        <p:nvPicPr>
          <p:cNvPr id="9" name="Picture 6" descr="SLIDE1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199" y="3197126"/>
            <a:ext cx="1925188" cy="24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96120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616" y="838200"/>
            <a:ext cx="8609784" cy="584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05616" y="304800"/>
            <a:ext cx="8609784" cy="369332"/>
          </a:xfrm>
          <a:prstGeom prst="rect">
            <a:avLst/>
          </a:prstGeom>
          <a:noFill/>
        </p:spPr>
        <p:txBody>
          <a:bodyPr wrap="square" rtlCol="0">
            <a:spAutoFit/>
          </a:bodyPr>
          <a:lstStyle/>
          <a:p>
            <a:r>
              <a:rPr lang="en-US" dirty="0" smtClean="0"/>
              <a:t>IU Bloomington – 1930s</a:t>
            </a:r>
            <a:endParaRPr lang="en-US" dirty="0"/>
          </a:p>
        </p:txBody>
      </p:sp>
    </p:spTree>
    <p:extLst>
      <p:ext uri="{BB962C8B-B14F-4D97-AF65-F5344CB8AC3E}">
        <p14:creationId xmlns:p14="http://schemas.microsoft.com/office/powerpoint/2010/main" val="23403176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descr="SLIDE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5" y="1524000"/>
            <a:ext cx="4267200"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5" descr="SLIDE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8600"/>
            <a:ext cx="4114800" cy="623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6"/>
          <p:cNvSpPr txBox="1">
            <a:spLocks noChangeArrowheads="1"/>
          </p:cNvSpPr>
          <p:nvPr/>
        </p:nvSpPr>
        <p:spPr bwMode="auto">
          <a:xfrm>
            <a:off x="304800" y="381000"/>
            <a:ext cx="403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a:solidFill>
                  <a:srgbClr val="A50021"/>
                </a:solidFill>
              </a:rPr>
              <a:t>Law Library</a:t>
            </a:r>
          </a:p>
        </p:txBody>
      </p:sp>
      <p:sp>
        <p:nvSpPr>
          <p:cNvPr id="2" name="TextBox 1"/>
          <p:cNvSpPr txBox="1"/>
          <p:nvPr/>
        </p:nvSpPr>
        <p:spPr>
          <a:xfrm>
            <a:off x="98425" y="5029200"/>
            <a:ext cx="4321175" cy="646331"/>
          </a:xfrm>
          <a:prstGeom prst="rect">
            <a:avLst/>
          </a:prstGeom>
          <a:noFill/>
        </p:spPr>
        <p:txBody>
          <a:bodyPr wrap="square" rtlCol="0">
            <a:spAutoFit/>
          </a:bodyPr>
          <a:lstStyle/>
          <a:p>
            <a:r>
              <a:rPr lang="en-US" dirty="0" smtClean="0"/>
              <a:t>The oldest departmental library, </a:t>
            </a:r>
            <a:r>
              <a:rPr lang="en-US" smtClean="0"/>
              <a:t>established in the 1840s.  </a:t>
            </a:r>
            <a:endParaRPr lang="en-US"/>
          </a:p>
        </p:txBody>
      </p:sp>
    </p:spTree>
    <p:extLst>
      <p:ext uri="{BB962C8B-B14F-4D97-AF65-F5344CB8AC3E}">
        <p14:creationId xmlns:p14="http://schemas.microsoft.com/office/powerpoint/2010/main" val="3413502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www.libraries.iub.edu/secure/images/libraryPhotos/Spea/spea07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69" y="2286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22869" y="2971800"/>
            <a:ext cx="3810000" cy="1754326"/>
          </a:xfrm>
          <a:prstGeom prst="rect">
            <a:avLst/>
          </a:prstGeom>
          <a:noFill/>
        </p:spPr>
        <p:txBody>
          <a:bodyPr wrap="square" rtlCol="0">
            <a:spAutoFit/>
          </a:bodyPr>
          <a:lstStyle/>
          <a:p>
            <a:r>
              <a:rPr lang="en-US" dirty="0" smtClean="0"/>
              <a:t>The Business SPEA Information Commons developed from the Business SPEA Library, which was a merger of the Business Library and the Bureau of Public Affairs Library in the 1970s.    </a:t>
            </a:r>
            <a:endParaRPr lang="en-US" dirty="0"/>
          </a:p>
        </p:txBody>
      </p:sp>
      <p:pic>
        <p:nvPicPr>
          <p:cNvPr id="2054" name="Picture 6" descr="http://www.libraries.iub.edu/secure/images/libraryPhotos/Spea/spea04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4560" y="228600"/>
            <a:ext cx="2549549" cy="169545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newsinfo.iu.edu/pub/libs/images/usr/1104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739" y="4572000"/>
            <a:ext cx="2414461" cy="17716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Business/SPEA Information Commons Studen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894" y="2020163"/>
            <a:ext cx="2619861" cy="18288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441794" y="5781809"/>
            <a:ext cx="3886200" cy="584775"/>
          </a:xfrm>
          <a:prstGeom prst="rect">
            <a:avLst/>
          </a:prstGeom>
          <a:solidFill>
            <a:schemeClr val="bg2">
              <a:lumMod val="90000"/>
            </a:schemeClr>
          </a:solidFill>
        </p:spPr>
        <p:txBody>
          <a:bodyPr wrap="square" rtlCol="0">
            <a:spAutoFit/>
          </a:bodyPr>
          <a:lstStyle/>
          <a:p>
            <a:pPr algn="ctr"/>
            <a:r>
              <a:rPr lang="en-US" sz="3200" dirty="0" smtClean="0"/>
              <a:t>BUSINESS-SPEA</a:t>
            </a:r>
            <a:endParaRPr lang="en-US" sz="3200" dirty="0"/>
          </a:p>
        </p:txBody>
      </p:sp>
      <p:sp>
        <p:nvSpPr>
          <p:cNvPr id="3" name="TextBox 2"/>
          <p:cNvSpPr txBox="1"/>
          <p:nvPr/>
        </p:nvSpPr>
        <p:spPr>
          <a:xfrm>
            <a:off x="4038599" y="4267200"/>
            <a:ext cx="4966155" cy="1477328"/>
          </a:xfrm>
          <a:prstGeom prst="rect">
            <a:avLst/>
          </a:prstGeom>
          <a:noFill/>
        </p:spPr>
        <p:txBody>
          <a:bodyPr wrap="square" rtlCol="0">
            <a:spAutoFit/>
          </a:bodyPr>
          <a:lstStyle/>
          <a:p>
            <a:r>
              <a:rPr lang="en-US" dirty="0" smtClean="0"/>
              <a:t>A Library Committee appointed by Wells in 1935; Pilot study room in 1936 led to the Business Administration Reading Room in 1937 in the Social Sciences Building; In 1942, the Business and Economics Library was housed in </a:t>
            </a:r>
            <a:r>
              <a:rPr lang="en-US" dirty="0" err="1" smtClean="0"/>
              <a:t>Rawles</a:t>
            </a:r>
            <a:r>
              <a:rPr lang="en-US" dirty="0" smtClean="0"/>
              <a:t> Hall.</a:t>
            </a:r>
            <a:endParaRPr lang="en-US" dirty="0"/>
          </a:p>
        </p:txBody>
      </p:sp>
    </p:spTree>
    <p:extLst>
      <p:ext uri="{BB962C8B-B14F-4D97-AF65-F5344CB8AC3E}">
        <p14:creationId xmlns:p14="http://schemas.microsoft.com/office/powerpoint/2010/main" val="37986634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libraries.iub.edu/secure/images/libraryPhotos/Chem/Chem0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30267" y="3200400"/>
            <a:ext cx="4876800" cy="3170099"/>
          </a:xfrm>
          <a:prstGeom prst="rect">
            <a:avLst/>
          </a:prstGeom>
          <a:noFill/>
        </p:spPr>
        <p:txBody>
          <a:bodyPr wrap="square" rtlCol="0">
            <a:spAutoFit/>
          </a:bodyPr>
          <a:lstStyle/>
          <a:p>
            <a:r>
              <a:rPr lang="en-US" sz="1700" dirty="0"/>
              <a:t>The core collection of the original Chemistry Library was donated by Dr. Robert Edward Lyons around 1895. </a:t>
            </a:r>
            <a:r>
              <a:rPr lang="en-US" sz="1700" dirty="0" smtClean="0"/>
              <a:t>From </a:t>
            </a:r>
            <a:r>
              <a:rPr lang="en-US" sz="1700" dirty="0"/>
              <a:t>1895-1931, the Chemistry Library was housed in a room in Wylie Hall. It was moved to the ground floor of the new Chemistry Building in the early 1930s. The library was extensively remodeled and enlarged around 1965, and the present quarters were occupied during the remodeling and expansion of the Chemistry Building in the early 1990s</a:t>
            </a:r>
            <a:r>
              <a:rPr lang="en-US" sz="1700" dirty="0" smtClean="0"/>
              <a:t>.</a:t>
            </a:r>
          </a:p>
          <a:p>
            <a:endParaRPr lang="en-US" sz="1700" dirty="0" smtClean="0"/>
          </a:p>
          <a:p>
            <a:pPr algn="r"/>
            <a:r>
              <a:rPr lang="en-US" sz="1500" dirty="0" smtClean="0">
                <a:hlinkClick r:id="rId3"/>
              </a:rPr>
              <a:t>http://www.libraries.iub.edu/index.php?pageId=2048</a:t>
            </a:r>
            <a:endParaRPr lang="en-US" sz="1500" dirty="0" smtClean="0"/>
          </a:p>
          <a:p>
            <a:endParaRPr lang="en-US" sz="1500" dirty="0"/>
          </a:p>
        </p:txBody>
      </p:sp>
      <p:pic>
        <p:nvPicPr>
          <p:cNvPr id="3076" name="Picture 4" descr="http://www.libraries.iub.edu/secure/images/libraryPhotos/Chem/Chem02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7067" y="457200"/>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www.libraries.iub.edu/secure/images/libraryPhotos/Chem/Chem01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2443" y="3794849"/>
            <a:ext cx="2979247" cy="1981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105400" y="6019800"/>
            <a:ext cx="3886200" cy="584775"/>
          </a:xfrm>
          <a:prstGeom prst="rect">
            <a:avLst/>
          </a:prstGeom>
          <a:solidFill>
            <a:schemeClr val="bg2">
              <a:lumMod val="90000"/>
            </a:schemeClr>
          </a:solidFill>
        </p:spPr>
        <p:txBody>
          <a:bodyPr wrap="square" rtlCol="0">
            <a:spAutoFit/>
          </a:bodyPr>
          <a:lstStyle/>
          <a:p>
            <a:pPr algn="ctr"/>
            <a:r>
              <a:rPr lang="en-US" sz="3200" dirty="0" smtClean="0"/>
              <a:t>CHEMISTRY LIBRARY</a:t>
            </a:r>
            <a:endParaRPr lang="en-US" sz="3200" dirty="0"/>
          </a:p>
        </p:txBody>
      </p:sp>
    </p:spTree>
    <p:extLst>
      <p:ext uri="{BB962C8B-B14F-4D97-AF65-F5344CB8AC3E}">
        <p14:creationId xmlns:p14="http://schemas.microsoft.com/office/powerpoint/2010/main" val="18294502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libraries.iub.edu/secure/images/libraryPhotos/Educ/CmpExt00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2" y="3048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105400" y="6019800"/>
            <a:ext cx="3886200" cy="584775"/>
          </a:xfrm>
          <a:prstGeom prst="rect">
            <a:avLst/>
          </a:prstGeom>
          <a:solidFill>
            <a:schemeClr val="bg2">
              <a:lumMod val="90000"/>
            </a:schemeClr>
          </a:solidFill>
        </p:spPr>
        <p:txBody>
          <a:bodyPr wrap="square" rtlCol="0">
            <a:spAutoFit/>
          </a:bodyPr>
          <a:lstStyle/>
          <a:p>
            <a:pPr algn="ctr"/>
            <a:r>
              <a:rPr lang="en-US" sz="3200" b="1" dirty="0" smtClean="0"/>
              <a:t>EDUCATION LIBRARY</a:t>
            </a:r>
            <a:endParaRPr lang="en-US" sz="3200" b="1" dirty="0"/>
          </a:p>
        </p:txBody>
      </p:sp>
      <p:pic>
        <p:nvPicPr>
          <p:cNvPr id="4100" name="Picture 4" descr="http://www.libraries.iub.edu/secure/images/libraryPhotos/Educ/Edu00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16637"/>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www.libraries.iub.edu/secure/images/libraryPhotos/Educ/Edu002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810000"/>
            <a:ext cx="2862247" cy="190339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419600" y="3048000"/>
            <a:ext cx="4267200" cy="2862322"/>
          </a:xfrm>
          <a:prstGeom prst="rect">
            <a:avLst/>
          </a:prstGeom>
          <a:noFill/>
        </p:spPr>
        <p:txBody>
          <a:bodyPr wrap="square" rtlCol="0">
            <a:spAutoFit/>
          </a:bodyPr>
          <a:lstStyle/>
          <a:p>
            <a:r>
              <a:rPr lang="en-US" dirty="0" smtClean="0"/>
              <a:t>University School Library may have been the beginning of both the former SLIS Library and the Education Library.  The Education Library  was known as the Education Reading Room until the 1970s when it became an official branch library. The Education Library was housed in the Education Building (now the Music Library Building) until 1993 when it moved into the new Wright Education Building. </a:t>
            </a:r>
            <a:endParaRPr lang="en-US" dirty="0"/>
          </a:p>
        </p:txBody>
      </p:sp>
    </p:spTree>
    <p:extLst>
      <p:ext uri="{BB962C8B-B14F-4D97-AF65-F5344CB8AC3E}">
        <p14:creationId xmlns:p14="http://schemas.microsoft.com/office/powerpoint/2010/main" val="32713104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4876800"/>
            <a:ext cx="8686800" cy="1200329"/>
          </a:xfrm>
          <a:prstGeom prst="rect">
            <a:avLst/>
          </a:prstGeom>
          <a:noFill/>
        </p:spPr>
        <p:txBody>
          <a:bodyPr wrap="square" rtlCol="0">
            <a:spAutoFit/>
          </a:bodyPr>
          <a:lstStyle/>
          <a:p>
            <a:r>
              <a:rPr lang="en-US" dirty="0" smtClean="0"/>
              <a:t>IU-Bloomington's first Fine Arts Library was established in the late 1930s as part of the Departmental office on the second floor, east wing of the University Library which was then located in Franklin Hall. </a:t>
            </a:r>
          </a:p>
          <a:p>
            <a:pPr algn="r"/>
            <a:r>
              <a:rPr lang="en-US" dirty="0" smtClean="0">
                <a:hlinkClick r:id="rId2"/>
              </a:rPr>
              <a:t>http://www.libraries.iub.edu/index.php?pageId=1854</a:t>
            </a:r>
            <a:endParaRPr lang="en-US" dirty="0" smtClean="0"/>
          </a:p>
        </p:txBody>
      </p:sp>
      <p:sp>
        <p:nvSpPr>
          <p:cNvPr id="5" name="TextBox 4"/>
          <p:cNvSpPr txBox="1"/>
          <p:nvPr/>
        </p:nvSpPr>
        <p:spPr>
          <a:xfrm>
            <a:off x="5029200" y="6172200"/>
            <a:ext cx="3886200" cy="584775"/>
          </a:xfrm>
          <a:prstGeom prst="rect">
            <a:avLst/>
          </a:prstGeom>
          <a:solidFill>
            <a:schemeClr val="bg2">
              <a:lumMod val="90000"/>
            </a:schemeClr>
          </a:solidFill>
        </p:spPr>
        <p:txBody>
          <a:bodyPr wrap="square" rtlCol="0">
            <a:spAutoFit/>
          </a:bodyPr>
          <a:lstStyle/>
          <a:p>
            <a:pPr algn="ctr"/>
            <a:r>
              <a:rPr lang="en-US" sz="3200" b="1" dirty="0" smtClean="0"/>
              <a:t>FINE ARTS LIBRARY</a:t>
            </a:r>
            <a:endParaRPr lang="en-US" sz="3200" b="1" dirty="0"/>
          </a:p>
        </p:txBody>
      </p:sp>
      <p:pic>
        <p:nvPicPr>
          <p:cNvPr id="5122" name="Picture 2" descr="http://www.libraries.iub.edu/secure/images/libraryPhotos/FineArts/Thurs0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988" y="1875663"/>
            <a:ext cx="4304424" cy="281939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www.libraries.iub.edu/secure/images/libraryPhotos/FineArts/Thurs07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04799"/>
            <a:ext cx="2362200" cy="157086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www.libraries.iub.edu/secure/images/libraryPhotos/FineArts/CmpExt305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434728" y="866774"/>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9191" y="208097"/>
            <a:ext cx="2473526" cy="30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82021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088" y="2782669"/>
            <a:ext cx="4142112" cy="2600712"/>
          </a:xfrm>
          <a:prstGeom prst="rect">
            <a:avLst/>
          </a:prstGeom>
        </p:spPr>
        <p:txBody>
          <a:bodyPr wrap="square">
            <a:spAutoFit/>
          </a:bodyPr>
          <a:lstStyle/>
          <a:p>
            <a:r>
              <a:rPr lang="en-US" sz="1500" dirty="0"/>
              <a:t>In 1871, the collection of David Dale Owen, geologist, was purchased by the </a:t>
            </a:r>
            <a:r>
              <a:rPr lang="en-US" sz="1500" dirty="0" smtClean="0"/>
              <a:t>University (housed in the Main Library).  The Geology and Geography Library was mentioned in 1894-95 (departments separated in 1946).  The </a:t>
            </a:r>
            <a:r>
              <a:rPr lang="en-US" sz="1500" dirty="0"/>
              <a:t>library was moved to Science Hall (now Lindley Hall) in 1903, but returned to Owen Hall in 1937. Upon completion of the current Geology Building in 1962, the collection was moved to its present </a:t>
            </a:r>
            <a:r>
              <a:rPr lang="en-US" sz="1500" dirty="0" smtClean="0"/>
              <a:t>location.</a:t>
            </a:r>
            <a:endParaRPr lang="en-US" dirty="0" smtClean="0"/>
          </a:p>
          <a:p>
            <a:r>
              <a:rPr lang="en-US" sz="1400" dirty="0" smtClean="0">
                <a:hlinkClick r:id="rId2"/>
              </a:rPr>
              <a:t>http://www.libraries.iub.edu/index.php?pageId=1494</a:t>
            </a:r>
            <a:endParaRPr lang="en-US" sz="1400" dirty="0" smtClean="0"/>
          </a:p>
          <a:p>
            <a:endParaRPr lang="en-US" sz="1400" dirty="0"/>
          </a:p>
        </p:txBody>
      </p:sp>
      <p:sp>
        <p:nvSpPr>
          <p:cNvPr id="3" name="TextBox 2"/>
          <p:cNvSpPr txBox="1"/>
          <p:nvPr/>
        </p:nvSpPr>
        <p:spPr>
          <a:xfrm>
            <a:off x="4800600" y="6172200"/>
            <a:ext cx="4191000" cy="584775"/>
          </a:xfrm>
          <a:prstGeom prst="rect">
            <a:avLst/>
          </a:prstGeom>
          <a:solidFill>
            <a:schemeClr val="bg2">
              <a:lumMod val="90000"/>
            </a:schemeClr>
          </a:solidFill>
        </p:spPr>
        <p:txBody>
          <a:bodyPr wrap="square" rtlCol="0">
            <a:spAutoFit/>
          </a:bodyPr>
          <a:lstStyle/>
          <a:p>
            <a:pPr algn="ctr"/>
            <a:r>
              <a:rPr lang="en-US" sz="3200" b="1" dirty="0" smtClean="0"/>
              <a:t>GEOSCIENCES LIBRARY</a:t>
            </a:r>
            <a:endParaRPr lang="en-US" sz="3200" b="1" dirty="0"/>
          </a:p>
        </p:txBody>
      </p:sp>
      <p:pic>
        <p:nvPicPr>
          <p:cNvPr id="6146" name="Picture 2" descr="http://www.libraries.iub.edu/secure/images/libraryPhotos/Geol/geol06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959" y="179033"/>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libraries.iub.edu/secure/images/libraryPhotos/Geol/geol03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0370" y="170155"/>
            <a:ext cx="2265029" cy="150624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www.libraries.iub.edu/secure/images/libraryPhotos/Geol/geol018.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799" y="198268"/>
            <a:ext cx="2222753" cy="14781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495800" y="1905000"/>
            <a:ext cx="4419599" cy="1200329"/>
          </a:xfrm>
          <a:prstGeom prst="rect">
            <a:avLst/>
          </a:prstGeom>
          <a:noFill/>
        </p:spPr>
        <p:txBody>
          <a:bodyPr wrap="square" rtlCol="0">
            <a:spAutoFit/>
          </a:bodyPr>
          <a:lstStyle/>
          <a:p>
            <a:r>
              <a:rPr lang="en-US" dirty="0" smtClean="0"/>
              <a:t>The Geography and Map Library, closed in January 2010 and many of its materials were merged with the Geology Library to form the…</a:t>
            </a:r>
            <a:endParaRPr lang="en-US" dirty="0"/>
          </a:p>
        </p:txBody>
      </p:sp>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1100" y="3169327"/>
            <a:ext cx="3810000" cy="28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05174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0600" y="6172200"/>
            <a:ext cx="4191000" cy="584775"/>
          </a:xfrm>
          <a:prstGeom prst="rect">
            <a:avLst/>
          </a:prstGeom>
          <a:solidFill>
            <a:schemeClr val="bg2">
              <a:lumMod val="90000"/>
            </a:schemeClr>
          </a:solidFill>
        </p:spPr>
        <p:txBody>
          <a:bodyPr wrap="square" rtlCol="0">
            <a:spAutoFit/>
          </a:bodyPr>
          <a:lstStyle/>
          <a:p>
            <a:pPr algn="ctr"/>
            <a:r>
              <a:rPr lang="en-US" sz="3200" b="1" dirty="0" smtClean="0"/>
              <a:t>HPER LIBRARY</a:t>
            </a:r>
            <a:endParaRPr lang="en-US" sz="3200" b="1" dirty="0"/>
          </a:p>
        </p:txBody>
      </p:sp>
      <p:pic>
        <p:nvPicPr>
          <p:cNvPr id="7170" name="Picture 2" descr="http://www.libraries.iub.edu/secure/images/libraryPhotos/HPER/CmpExt30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152400"/>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libraries.iub.edu/secure/images/libraryPhotos/HPER/Thurs02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54619"/>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libraries.iub.edu/secure/images/libraryPhotos/HPER/Thurs05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191" y="28194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114800" y="2971800"/>
            <a:ext cx="3810000" cy="1477328"/>
          </a:xfrm>
          <a:prstGeom prst="rect">
            <a:avLst/>
          </a:prstGeom>
          <a:noFill/>
        </p:spPr>
        <p:txBody>
          <a:bodyPr wrap="square" rtlCol="0">
            <a:spAutoFit/>
          </a:bodyPr>
          <a:lstStyle/>
          <a:p>
            <a:r>
              <a:rPr lang="en-US" dirty="0" smtClean="0"/>
              <a:t>The HPER Library is one of the youngest branch libraries, established in 1978 to support the School of Health, Physical Education and Recreation.  </a:t>
            </a:r>
            <a:endParaRPr lang="en-US" dirty="0"/>
          </a:p>
        </p:txBody>
      </p:sp>
      <p:pic>
        <p:nvPicPr>
          <p:cNvPr id="717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4648200"/>
            <a:ext cx="3631301"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16485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00600" y="5715000"/>
            <a:ext cx="4191000" cy="1077218"/>
          </a:xfrm>
          <a:prstGeom prst="rect">
            <a:avLst/>
          </a:prstGeom>
          <a:solidFill>
            <a:schemeClr val="bg2">
              <a:lumMod val="90000"/>
            </a:schemeClr>
          </a:solidFill>
        </p:spPr>
        <p:txBody>
          <a:bodyPr wrap="square" rtlCol="0">
            <a:spAutoFit/>
          </a:bodyPr>
          <a:lstStyle/>
          <a:p>
            <a:pPr algn="ctr"/>
            <a:r>
              <a:rPr lang="en-US" sz="3200" b="1" dirty="0" smtClean="0"/>
              <a:t>WEIL JOURNALISM LIBRARY</a:t>
            </a:r>
            <a:endParaRPr lang="en-US" sz="3200" b="1" dirty="0"/>
          </a:p>
        </p:txBody>
      </p:sp>
      <p:pic>
        <p:nvPicPr>
          <p:cNvPr id="13316" name="Picture 4" descr="http://www.libraries.iub.edu/secure/images/libraryPhotos/Jrnlsm/jour0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133600"/>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www.libraries.iub.edu/secure/images/libraryPhotos/Jrnlsm/CmpExt301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 y="1524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25194" y="3657600"/>
            <a:ext cx="2667000" cy="2308324"/>
          </a:xfrm>
          <a:prstGeom prst="rect">
            <a:avLst/>
          </a:prstGeom>
          <a:noFill/>
        </p:spPr>
        <p:txBody>
          <a:bodyPr wrap="square" rtlCol="0">
            <a:spAutoFit/>
          </a:bodyPr>
          <a:lstStyle/>
          <a:p>
            <a:r>
              <a:rPr lang="en-US" dirty="0" smtClean="0"/>
              <a:t>Established in the 1960s, the Journalism Library was renovated in 2004 then books/journals moved to Wells or ALF in 2007.  Now operated by the School of Journalism instead of the Libraries. </a:t>
            </a:r>
            <a:endParaRPr lang="en-US" dirty="0"/>
          </a:p>
        </p:txBody>
      </p:sp>
    </p:spTree>
    <p:extLst>
      <p:ext uri="{BB962C8B-B14F-4D97-AF65-F5344CB8AC3E}">
        <p14:creationId xmlns:p14="http://schemas.microsoft.com/office/powerpoint/2010/main" val="7210570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ww.libraries.iub.edu/secure/images/libraryPhotos/LifeSci/CmpExt31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40026"/>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800600" y="6096000"/>
            <a:ext cx="4191000" cy="584775"/>
          </a:xfrm>
          <a:prstGeom prst="rect">
            <a:avLst/>
          </a:prstGeom>
          <a:solidFill>
            <a:schemeClr val="bg2">
              <a:lumMod val="90000"/>
            </a:schemeClr>
          </a:solidFill>
        </p:spPr>
        <p:txBody>
          <a:bodyPr wrap="square" rtlCol="0">
            <a:spAutoFit/>
          </a:bodyPr>
          <a:lstStyle/>
          <a:p>
            <a:pPr algn="ctr"/>
            <a:r>
              <a:rPr lang="en-US" sz="3200" b="1" dirty="0" smtClean="0"/>
              <a:t>LIFE SCIENCES LIBRARY</a:t>
            </a:r>
            <a:endParaRPr lang="en-US" sz="3200" b="1" dirty="0"/>
          </a:p>
        </p:txBody>
      </p:sp>
      <p:sp>
        <p:nvSpPr>
          <p:cNvPr id="2" name="TextBox 1"/>
          <p:cNvSpPr txBox="1"/>
          <p:nvPr/>
        </p:nvSpPr>
        <p:spPr>
          <a:xfrm>
            <a:off x="4343400" y="152400"/>
            <a:ext cx="4648200" cy="5909310"/>
          </a:xfrm>
          <a:prstGeom prst="rect">
            <a:avLst/>
          </a:prstGeom>
          <a:noFill/>
        </p:spPr>
        <p:txBody>
          <a:bodyPr wrap="square" rtlCol="0">
            <a:spAutoFit/>
          </a:bodyPr>
          <a:lstStyle/>
          <a:p>
            <a:r>
              <a:rPr lang="en-US" dirty="0" smtClean="0"/>
              <a:t>Life Sciences’ history begins with the Zoology Library and also the Botany Library (described in the University catalog in 1891-92). These two libraries were merged in 1937-38 to establish the Biology Library.  </a:t>
            </a:r>
          </a:p>
          <a:p>
            <a:endParaRPr lang="en-US" dirty="0"/>
          </a:p>
          <a:p>
            <a:r>
              <a:rPr lang="en-US" dirty="0" smtClean="0"/>
              <a:t>Included Jordan-</a:t>
            </a:r>
            <a:r>
              <a:rPr lang="en-US" dirty="0" err="1" smtClean="0"/>
              <a:t>Eigemann</a:t>
            </a:r>
            <a:r>
              <a:rPr lang="en-US" dirty="0"/>
              <a:t> </a:t>
            </a:r>
            <a:r>
              <a:rPr lang="en-US" dirty="0" smtClean="0"/>
              <a:t>collection of fishes (solid in 1929 for $5,000 to buy more journals); Dr. Kinsey’s private entomology collection in the 1940’s; and the Dean Library of 1308 items on Indiana botany.</a:t>
            </a:r>
          </a:p>
          <a:p>
            <a:endParaRPr lang="en-US" dirty="0"/>
          </a:p>
          <a:p>
            <a:r>
              <a:rPr lang="en-US" dirty="0" smtClean="0"/>
              <a:t>The Medical Library was housed in the Main Library as a seminar room; moved to Science Hall in 1907; Anatomy and Physiology Library existed in 1913 in Owen Hall.  These merged when the new Medical Building was finished in 1937 (Myers).  </a:t>
            </a:r>
          </a:p>
          <a:p>
            <a:endParaRPr lang="en-US" dirty="0"/>
          </a:p>
          <a:p>
            <a:r>
              <a:rPr lang="en-US" dirty="0" smtClean="0"/>
              <a:t>In the late 1990’s Medical Sciences Library merged with Biology to for the…</a:t>
            </a:r>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 y="2667000"/>
            <a:ext cx="409099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descr="http://www.libraries.iub.edu/secure/images/libraryPhotos/LifeSci/IMG_015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7546" y="5460712"/>
            <a:ext cx="1694100" cy="127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3531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00600" y="6324600"/>
            <a:ext cx="4238724" cy="369332"/>
          </a:xfrm>
          <a:prstGeom prst="rect">
            <a:avLst/>
          </a:prstGeom>
          <a:solidFill>
            <a:schemeClr val="bg2">
              <a:lumMod val="90000"/>
            </a:schemeClr>
          </a:solidFill>
        </p:spPr>
        <p:txBody>
          <a:bodyPr wrap="none">
            <a:spAutoFit/>
          </a:bodyPr>
          <a:lstStyle/>
          <a:p>
            <a:r>
              <a:rPr lang="en-US" b="1" dirty="0" smtClean="0">
                <a:effectLst/>
              </a:rPr>
              <a:t>Neal-Marshall Black Culture Center Library</a:t>
            </a:r>
            <a:endParaRPr lang="en-US" dirty="0"/>
          </a:p>
        </p:txBody>
      </p:sp>
      <p:pic>
        <p:nvPicPr>
          <p:cNvPr id="10242" name="Picture 2" descr="http://www.libraries.iub.edu/secure/images/libraryPhotos/AfAm/aflib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55562"/>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www.libraries.iub.edu/secure/images/libraryPhotos/AfAm/aflib0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0480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267200" y="609600"/>
            <a:ext cx="4572000" cy="646331"/>
          </a:xfrm>
          <a:prstGeom prst="rect">
            <a:avLst/>
          </a:prstGeom>
          <a:noFill/>
        </p:spPr>
        <p:txBody>
          <a:bodyPr wrap="square" rtlCol="0">
            <a:spAutoFit/>
          </a:bodyPr>
          <a:lstStyle/>
          <a:p>
            <a:r>
              <a:rPr lang="en-US" dirty="0" smtClean="0"/>
              <a:t>The Black Culture Center Library was established in the 1970s.</a:t>
            </a:r>
            <a:endParaRPr lang="en-US" dirty="0"/>
          </a:p>
        </p:txBody>
      </p:sp>
      <p:pic>
        <p:nvPicPr>
          <p:cNvPr id="10246" name="Picture 6" descr="http://www.libraries.iub.edu/secure/images/libraryPhotos/AfAm/aflib01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7400"/>
            <a:ext cx="3810000"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9440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http://www.libraries.iub.edu/secure/images/libraryPhotos/Opt/opt03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00600" y="6096000"/>
            <a:ext cx="4191000" cy="584775"/>
          </a:xfrm>
          <a:prstGeom prst="rect">
            <a:avLst/>
          </a:prstGeom>
          <a:solidFill>
            <a:schemeClr val="bg2">
              <a:lumMod val="90000"/>
            </a:schemeClr>
          </a:solidFill>
        </p:spPr>
        <p:txBody>
          <a:bodyPr wrap="square" rtlCol="0">
            <a:spAutoFit/>
          </a:bodyPr>
          <a:lstStyle/>
          <a:p>
            <a:pPr algn="ctr"/>
            <a:r>
              <a:rPr lang="en-US" sz="3200" b="1" dirty="0" smtClean="0"/>
              <a:t>OPTOMETRY LIBRARY</a:t>
            </a:r>
            <a:endParaRPr lang="en-US" sz="3200" b="1" dirty="0"/>
          </a:p>
        </p:txBody>
      </p:sp>
      <p:pic>
        <p:nvPicPr>
          <p:cNvPr id="11270" name="Picture 6" descr="http://www.libraries.iub.edu/secure/images/libraryPhotos/Opt/opt08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9797" y="1066800"/>
            <a:ext cx="5041803"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41755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Books in the Math Depart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914400"/>
            <a:ext cx="4333875" cy="35052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http://www.libraries.iub.edu/secure/images/libraryPhotos/SwainH/CmpExt40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61" y="152401"/>
            <a:ext cx="3552179"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76800" y="5334000"/>
            <a:ext cx="4191000" cy="1384995"/>
          </a:xfrm>
          <a:prstGeom prst="rect">
            <a:avLst/>
          </a:prstGeom>
          <a:solidFill>
            <a:schemeClr val="bg2">
              <a:lumMod val="90000"/>
            </a:schemeClr>
          </a:solidFill>
        </p:spPr>
        <p:txBody>
          <a:bodyPr wrap="square" rtlCol="0">
            <a:spAutoFit/>
          </a:bodyPr>
          <a:lstStyle/>
          <a:p>
            <a:pPr algn="ctr"/>
            <a:r>
              <a:rPr lang="en-US" sz="3200" b="1" dirty="0" smtClean="0"/>
              <a:t>SWAIN HALL LIBRARY</a:t>
            </a:r>
          </a:p>
          <a:p>
            <a:pPr algn="ctr"/>
            <a:r>
              <a:rPr lang="en-US" sz="2600" b="1" dirty="0" smtClean="0"/>
              <a:t>Math, Physics, Astronomy, Computer Science</a:t>
            </a:r>
            <a:endParaRPr lang="en-US" sz="2600" b="1" dirty="0"/>
          </a:p>
        </p:txBody>
      </p:sp>
      <p:sp>
        <p:nvSpPr>
          <p:cNvPr id="2" name="TextBox 1"/>
          <p:cNvSpPr txBox="1"/>
          <p:nvPr/>
        </p:nvSpPr>
        <p:spPr>
          <a:xfrm>
            <a:off x="224161" y="2971800"/>
            <a:ext cx="3552179" cy="2585323"/>
          </a:xfrm>
          <a:prstGeom prst="rect">
            <a:avLst/>
          </a:prstGeom>
          <a:noFill/>
        </p:spPr>
        <p:txBody>
          <a:bodyPr wrap="square" rtlCol="0">
            <a:spAutoFit/>
          </a:bodyPr>
          <a:lstStyle/>
          <a:p>
            <a:r>
              <a:rPr lang="en-US" dirty="0" smtClean="0"/>
              <a:t>Individual departmental libraries for math, physics, astronomy were merged when Swain Hall opened in June 1940. </a:t>
            </a:r>
          </a:p>
          <a:p>
            <a:pPr marL="285750" indent="-285750">
              <a:buFont typeface="Arial" pitchFamily="34" charset="0"/>
              <a:buChar char="•"/>
            </a:pPr>
            <a:r>
              <a:rPr lang="en-US" dirty="0" smtClean="0"/>
              <a:t>Math collection dates to 1891-92</a:t>
            </a:r>
          </a:p>
          <a:p>
            <a:pPr marL="285750" indent="-285750">
              <a:buFont typeface="Arial" pitchFamily="34" charset="0"/>
              <a:buChar char="•"/>
            </a:pPr>
            <a:r>
              <a:rPr lang="en-US" dirty="0" smtClean="0"/>
              <a:t>Astronomy collection dates to Kirkwood Observatory 1900</a:t>
            </a:r>
          </a:p>
          <a:p>
            <a:pPr marL="285750" indent="-285750">
              <a:buFont typeface="Arial" pitchFamily="34" charset="0"/>
              <a:buChar char="•"/>
            </a:pPr>
            <a:r>
              <a:rPr lang="en-US" dirty="0" smtClean="0"/>
              <a:t>Physics collection dates to 1902-03</a:t>
            </a:r>
            <a:endParaRPr lang="en-US" dirty="0"/>
          </a:p>
        </p:txBody>
      </p:sp>
    </p:spTree>
    <p:extLst>
      <p:ext uri="{BB962C8B-B14F-4D97-AF65-F5344CB8AC3E}">
        <p14:creationId xmlns:p14="http://schemas.microsoft.com/office/powerpoint/2010/main" val="9555962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www.libraries.iub.edu/secure/images/libraryPhotos/Music/CmpExt2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91812"/>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www.libraries.iub.edu/secure/images/libraryPhotos/Music/Mus02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0650" y="1600200"/>
            <a:ext cx="2291728"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ttp://www.libraries.iub.edu/secure/images/libraryPhotos/Music/Mus06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2378" y="1"/>
            <a:ext cx="2921621" cy="19428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16876" y="5638800"/>
            <a:ext cx="4191000" cy="1077218"/>
          </a:xfrm>
          <a:prstGeom prst="rect">
            <a:avLst/>
          </a:prstGeom>
          <a:solidFill>
            <a:schemeClr val="bg2">
              <a:lumMod val="90000"/>
            </a:schemeClr>
          </a:solidFill>
        </p:spPr>
        <p:txBody>
          <a:bodyPr wrap="square" rtlCol="0">
            <a:spAutoFit/>
          </a:bodyPr>
          <a:lstStyle/>
          <a:p>
            <a:pPr algn="ctr"/>
            <a:r>
              <a:rPr lang="en-US" sz="3200" b="1" dirty="0" smtClean="0">
                <a:effectLst/>
              </a:rPr>
              <a:t>William &amp; Gayle Cook  </a:t>
            </a:r>
            <a:r>
              <a:rPr lang="en-US" sz="3200" b="1" dirty="0" smtClean="0"/>
              <a:t>MUSIC LIBRARY</a:t>
            </a:r>
            <a:endParaRPr lang="en-US" sz="3200" b="1" dirty="0"/>
          </a:p>
        </p:txBody>
      </p:sp>
      <p:sp>
        <p:nvSpPr>
          <p:cNvPr id="2" name="TextBox 1"/>
          <p:cNvSpPr txBox="1"/>
          <p:nvPr/>
        </p:nvSpPr>
        <p:spPr>
          <a:xfrm>
            <a:off x="228600" y="3352800"/>
            <a:ext cx="4495800" cy="2123658"/>
          </a:xfrm>
          <a:prstGeom prst="rect">
            <a:avLst/>
          </a:prstGeom>
          <a:noFill/>
        </p:spPr>
        <p:txBody>
          <a:bodyPr wrap="square" rtlCol="0">
            <a:spAutoFit/>
          </a:bodyPr>
          <a:lstStyle/>
          <a:p>
            <a:r>
              <a:rPr lang="en-US" dirty="0" smtClean="0"/>
              <a:t>Housed in Mitchell Hall in the Dean’s Office, the Music Library began around 1922; moved to new Music Building in 1937; moved to the renovated Education Building in </a:t>
            </a:r>
            <a:r>
              <a:rPr lang="en-US" dirty="0" smtClean="0">
                <a:effectLst/>
              </a:rPr>
              <a:t>January 1996.</a:t>
            </a:r>
          </a:p>
          <a:p>
            <a:endParaRPr lang="en-US" sz="1500" dirty="0" smtClean="0"/>
          </a:p>
          <a:p>
            <a:pPr algn="r"/>
            <a:r>
              <a:rPr lang="en-US" sz="1500" dirty="0" smtClean="0">
                <a:hlinkClick r:id="rId5"/>
              </a:rPr>
              <a:t>http://www.libraries.iub.edu/index.php?pageId=3723</a:t>
            </a:r>
            <a:r>
              <a:rPr lang="en-US" sz="1500" dirty="0" smtClean="0"/>
              <a:t> and Lowell’s dissertation.</a:t>
            </a:r>
          </a:p>
          <a:p>
            <a:endParaRPr lang="en-US" sz="1500" dirty="0"/>
          </a:p>
        </p:txBody>
      </p:sp>
      <p:pic>
        <p:nvPicPr>
          <p:cNvPr id="12296" name="Picture 8" descr="http://www.libraries.iub.edu/secure/images/libraryPhotos/Music/score.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625" y="5829746"/>
            <a:ext cx="1047750"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1904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libraries.iub.edu/secure/images/libraryPhotos/ArcvH/CmpExt40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00487"/>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13678" y="2819400"/>
            <a:ext cx="3808520" cy="1200329"/>
          </a:xfrm>
          <a:prstGeom prst="rect">
            <a:avLst/>
          </a:prstGeom>
          <a:noFill/>
        </p:spPr>
        <p:txBody>
          <a:bodyPr wrap="square" rtlCol="0">
            <a:spAutoFit/>
          </a:bodyPr>
          <a:lstStyle/>
          <a:p>
            <a:pPr algn="ctr"/>
            <a:r>
              <a:rPr lang="en-US" dirty="0" smtClean="0"/>
              <a:t>University Archives and Records Management was housed in Bryan Hall until 2009 when it moved to the Herman B Wells Library.  </a:t>
            </a:r>
            <a:endParaRPr lang="en-US" dirty="0"/>
          </a:p>
        </p:txBody>
      </p:sp>
      <p:sp>
        <p:nvSpPr>
          <p:cNvPr id="5" name="TextBox 4"/>
          <p:cNvSpPr txBox="1"/>
          <p:nvPr/>
        </p:nvSpPr>
        <p:spPr>
          <a:xfrm>
            <a:off x="4871621" y="3004066"/>
            <a:ext cx="3810000" cy="2031325"/>
          </a:xfrm>
          <a:prstGeom prst="rect">
            <a:avLst/>
          </a:prstGeom>
          <a:noFill/>
        </p:spPr>
        <p:txBody>
          <a:bodyPr wrap="square" rtlCol="0">
            <a:spAutoFit/>
          </a:bodyPr>
          <a:lstStyle/>
          <a:p>
            <a:r>
              <a:rPr lang="en-US" dirty="0" smtClean="0">
                <a:effectLst/>
              </a:rPr>
              <a:t>It’s primary mission is to collect, organize, make accessible and preserve records documenting Indiana University's origins and development and the activities and achievements of its officers, faculty, students, alumni and benefactors</a:t>
            </a:r>
            <a:endParaRPr lang="en-US" dirty="0"/>
          </a:p>
        </p:txBody>
      </p:sp>
      <p:pic>
        <p:nvPicPr>
          <p:cNvPr id="1028" name="Picture 4" descr="http://www.libraries.iub.edu/secure/images/libraryPhotos/ArcvH/arcv07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621" y="228600"/>
            <a:ext cx="3810000" cy="253365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libraries.iub.edu/secure/images/libraryPhotos/ArcvH/arcv06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280" y="41148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4953000" y="5088408"/>
            <a:ext cx="3886200" cy="1569660"/>
          </a:xfrm>
          <a:prstGeom prst="rect">
            <a:avLst/>
          </a:prstGeom>
          <a:noFill/>
        </p:spPr>
        <p:txBody>
          <a:bodyPr wrap="square" rtlCol="0">
            <a:spAutoFit/>
          </a:bodyPr>
          <a:lstStyle/>
          <a:p>
            <a:pPr algn="ctr"/>
            <a:r>
              <a:rPr lang="en-US" sz="3200" dirty="0" smtClean="0"/>
              <a:t>UNIVERSITY ARCHIVES AND RECORDS MANAGEMENT</a:t>
            </a:r>
            <a:endParaRPr lang="en-US" sz="3200" dirty="0"/>
          </a:p>
        </p:txBody>
      </p:sp>
    </p:spTree>
    <p:extLst>
      <p:ext uri="{BB962C8B-B14F-4D97-AF65-F5344CB8AC3E}">
        <p14:creationId xmlns:p14="http://schemas.microsoft.com/office/powerpoint/2010/main" val="24552456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www.libraries.iub.edu/secure/images/libraryPhotos/Wylie_Hero/wylie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7876" y="3429000"/>
            <a:ext cx="38100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816876" y="6096000"/>
            <a:ext cx="4191000" cy="584775"/>
          </a:xfrm>
          <a:prstGeom prst="rect">
            <a:avLst/>
          </a:prstGeom>
          <a:solidFill>
            <a:schemeClr val="bg2">
              <a:lumMod val="90000"/>
            </a:schemeClr>
          </a:solidFill>
        </p:spPr>
        <p:txBody>
          <a:bodyPr wrap="square" rtlCol="0">
            <a:spAutoFit/>
          </a:bodyPr>
          <a:lstStyle/>
          <a:p>
            <a:pPr algn="ctr"/>
            <a:r>
              <a:rPr lang="en-US" sz="3200" dirty="0" smtClean="0">
                <a:effectLst/>
              </a:rPr>
              <a:t>WYLIE HOUSE MUSEUM</a:t>
            </a:r>
            <a:endParaRPr lang="en-US" sz="3200" dirty="0"/>
          </a:p>
        </p:txBody>
      </p:sp>
      <p:pic>
        <p:nvPicPr>
          <p:cNvPr id="14340" name="Picture 4" descr="http://www.indiana.edu/~libwylie/images/exhibits/wyliehouse1+bi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5295900" cy="3590925"/>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http://www.indiana.edu/~libwylie/images/other_projects/2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0" y="152400"/>
            <a:ext cx="2228850" cy="2971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85491" y="4135042"/>
            <a:ext cx="4531385" cy="1200329"/>
          </a:xfrm>
          <a:prstGeom prst="rect">
            <a:avLst/>
          </a:prstGeom>
        </p:spPr>
        <p:txBody>
          <a:bodyPr wrap="square">
            <a:spAutoFit/>
          </a:bodyPr>
          <a:lstStyle/>
          <a:p>
            <a:r>
              <a:rPr lang="en-US" dirty="0" smtClean="0"/>
              <a:t>Built in 1835, Wylie House was the home of Indiana University's first president, Andrew Wylie, and his family. </a:t>
            </a:r>
            <a:endParaRPr lang="en-US" dirty="0" smtClean="0">
              <a:hlinkClick r:id="rId5"/>
            </a:endParaRPr>
          </a:p>
          <a:p>
            <a:r>
              <a:rPr lang="en-US" dirty="0" smtClean="0">
                <a:hlinkClick r:id="rId5"/>
              </a:rPr>
              <a:t>http://www.indiana.edu/~libwylie/about.html</a:t>
            </a:r>
            <a:endParaRPr lang="en-US" dirty="0"/>
          </a:p>
        </p:txBody>
      </p:sp>
    </p:spTree>
    <p:extLst>
      <p:ext uri="{BB962C8B-B14F-4D97-AF65-F5344CB8AC3E}">
        <p14:creationId xmlns:p14="http://schemas.microsoft.com/office/powerpoint/2010/main" val="30470387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7" descr="alf1s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505200"/>
            <a:ext cx="5257800"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9" descr="P927003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41960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11" descr="P927003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50520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13" descr="16%20Collections%20Vaul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0"/>
            <a:ext cx="4724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4" descr="alfjuly20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5562600"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16" descr="27%20Refili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542925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Text Box 17"/>
          <p:cNvSpPr txBox="1">
            <a:spLocks noChangeArrowheads="1"/>
          </p:cNvSpPr>
          <p:nvPr/>
        </p:nvSpPr>
        <p:spPr bwMode="auto">
          <a:xfrm>
            <a:off x="228600" y="5867400"/>
            <a:ext cx="2286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600" b="1">
                <a:solidFill>
                  <a:srgbClr val="A50021"/>
                </a:solidFill>
              </a:rPr>
              <a:t>THE BEST--ALF</a:t>
            </a:r>
          </a:p>
        </p:txBody>
      </p:sp>
    </p:spTree>
    <p:extLst>
      <p:ext uri="{BB962C8B-B14F-4D97-AF65-F5344CB8AC3E}">
        <p14:creationId xmlns:p14="http://schemas.microsoft.com/office/powerpoint/2010/main" val="19952618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descr="SLIDE1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191000"/>
            <a:ext cx="37338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5" descr="SLIDE1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7338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14" descr="Photograph of &#10;the IUPUI University Library by Si Cao, 19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0"/>
            <a:ext cx="4191000"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15" descr="[Walter E. Helmke Libra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819400"/>
            <a:ext cx="22860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25" descr="Welcome to IUS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1752600"/>
            <a:ext cx="3657600"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28" descr="Hayes Hall">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924300"/>
            <a:ext cx="3886200"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Text Box 29"/>
          <p:cNvSpPr txBox="1">
            <a:spLocks noChangeArrowheads="1"/>
          </p:cNvSpPr>
          <p:nvPr/>
        </p:nvSpPr>
        <p:spPr bwMode="auto">
          <a:xfrm>
            <a:off x="3967163" y="4495800"/>
            <a:ext cx="5334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4500" b="1">
                <a:solidFill>
                  <a:srgbClr val="A50021"/>
                </a:solidFill>
              </a:rPr>
              <a:t>8</a:t>
            </a:r>
          </a:p>
        </p:txBody>
      </p:sp>
    </p:spTree>
    <p:extLst>
      <p:ext uri="{BB962C8B-B14F-4D97-AF65-F5344CB8AC3E}">
        <p14:creationId xmlns:p14="http://schemas.microsoft.com/office/powerpoint/2010/main" val="12523186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32" y="1"/>
            <a:ext cx="164162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943600" y="2397713"/>
            <a:ext cx="1342034" cy="369332"/>
          </a:xfrm>
          <a:prstGeom prst="rect">
            <a:avLst/>
          </a:prstGeom>
        </p:spPr>
        <p:txBody>
          <a:bodyPr wrap="none">
            <a:spAutoFit/>
          </a:bodyPr>
          <a:lstStyle/>
          <a:p>
            <a:r>
              <a:rPr lang="en-US" dirty="0" smtClean="0"/>
              <a:t>1904 </a:t>
            </a:r>
            <a:r>
              <a:rPr lang="en-US" dirty="0"/>
              <a:t>– 1921</a:t>
            </a:r>
          </a:p>
        </p:txBody>
      </p:sp>
      <p:sp>
        <p:nvSpPr>
          <p:cNvPr id="3" name="Rectangle 2"/>
          <p:cNvSpPr/>
          <p:nvPr/>
        </p:nvSpPr>
        <p:spPr>
          <a:xfrm>
            <a:off x="1772371" y="2425941"/>
            <a:ext cx="1371600" cy="369332"/>
          </a:xfrm>
          <a:prstGeom prst="rect">
            <a:avLst/>
          </a:prstGeom>
        </p:spPr>
        <p:txBody>
          <a:bodyPr wrap="square">
            <a:spAutoFit/>
          </a:bodyPr>
          <a:lstStyle/>
          <a:p>
            <a:r>
              <a:rPr lang="en-US" dirty="0"/>
              <a:t>1880 – </a:t>
            </a:r>
            <a:r>
              <a:rPr lang="en-US" dirty="0" smtClean="0"/>
              <a:t>1893</a:t>
            </a:r>
            <a:endParaRPr lang="en-US" dirty="0"/>
          </a:p>
        </p:txBody>
      </p:sp>
      <p:sp>
        <p:nvSpPr>
          <p:cNvPr id="4" name="Rectangle 3"/>
          <p:cNvSpPr/>
          <p:nvPr/>
        </p:nvSpPr>
        <p:spPr>
          <a:xfrm>
            <a:off x="122571" y="2438400"/>
            <a:ext cx="1520741" cy="369332"/>
          </a:xfrm>
          <a:prstGeom prst="rect">
            <a:avLst/>
          </a:prstGeom>
        </p:spPr>
        <p:txBody>
          <a:bodyPr wrap="square">
            <a:spAutoFit/>
          </a:bodyPr>
          <a:lstStyle/>
          <a:p>
            <a:r>
              <a:rPr lang="en-US" dirty="0"/>
              <a:t>1841 – </a:t>
            </a:r>
            <a:r>
              <a:rPr lang="en-US" dirty="0" smtClean="0"/>
              <a:t>1879</a:t>
            </a:r>
            <a:endParaRPr lang="en-US" dirty="0"/>
          </a:p>
        </p:txBody>
      </p:sp>
      <p:sp>
        <p:nvSpPr>
          <p:cNvPr id="5" name="Rectangle 4"/>
          <p:cNvSpPr/>
          <p:nvPr/>
        </p:nvSpPr>
        <p:spPr>
          <a:xfrm>
            <a:off x="7545786" y="2370137"/>
            <a:ext cx="1342034" cy="369332"/>
          </a:xfrm>
          <a:prstGeom prst="rect">
            <a:avLst/>
          </a:prstGeom>
        </p:spPr>
        <p:txBody>
          <a:bodyPr wrap="none">
            <a:spAutoFit/>
          </a:bodyPr>
          <a:lstStyle/>
          <a:p>
            <a:r>
              <a:rPr lang="en-US" dirty="0"/>
              <a:t>1921 – 1943</a:t>
            </a:r>
          </a:p>
        </p:txBody>
      </p:sp>
      <p:pic>
        <p:nvPicPr>
          <p:cNvPr id="6149" name="Picture 5" descr="U:\iulibraryhistorysite\imgs\gallery\walexan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881" y="-3461"/>
            <a:ext cx="1848271" cy="235615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U:\iulibraryhistorysite\imgs\gallery\rmill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 y="3278080"/>
            <a:ext cx="1625600" cy="243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22571" y="5726668"/>
            <a:ext cx="1371600" cy="369332"/>
          </a:xfrm>
          <a:prstGeom prst="rect">
            <a:avLst/>
          </a:prstGeom>
        </p:spPr>
        <p:txBody>
          <a:bodyPr wrap="square">
            <a:spAutoFit/>
          </a:bodyPr>
          <a:lstStyle/>
          <a:p>
            <a:r>
              <a:rPr lang="en-US" dirty="0"/>
              <a:t>1942 – </a:t>
            </a:r>
            <a:r>
              <a:rPr lang="en-US" dirty="0" smtClean="0"/>
              <a:t>1972</a:t>
            </a:r>
            <a:endParaRPr lang="en-US" dirty="0"/>
          </a:p>
        </p:txBody>
      </p:sp>
      <p:sp>
        <p:nvSpPr>
          <p:cNvPr id="7" name="Rectangle 6"/>
          <p:cNvSpPr/>
          <p:nvPr/>
        </p:nvSpPr>
        <p:spPr>
          <a:xfrm>
            <a:off x="2756611" y="5734636"/>
            <a:ext cx="1342034" cy="369332"/>
          </a:xfrm>
          <a:prstGeom prst="rect">
            <a:avLst/>
          </a:prstGeom>
        </p:spPr>
        <p:txBody>
          <a:bodyPr wrap="none">
            <a:spAutoFit/>
          </a:bodyPr>
          <a:lstStyle/>
          <a:p>
            <a:r>
              <a:rPr lang="en-US" dirty="0"/>
              <a:t>1989 – 1996</a:t>
            </a:r>
          </a:p>
        </p:txBody>
      </p:sp>
      <p:pic>
        <p:nvPicPr>
          <p:cNvPr id="615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1569" y="3278080"/>
            <a:ext cx="1372119" cy="244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9" descr="Brenda Johnson, Ruth Lilly Dean of University Librari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6675" y="3576638"/>
            <a:ext cx="1562100" cy="175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 name="Picture 10" descr="U:\iulibraryhistorysite\imgs\gallery\psteele.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7128" y="3278081"/>
            <a:ext cx="1860926" cy="24485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943600" y="5646003"/>
            <a:ext cx="1437519" cy="369332"/>
          </a:xfrm>
          <a:prstGeom prst="rect">
            <a:avLst/>
          </a:prstGeom>
        </p:spPr>
        <p:txBody>
          <a:bodyPr wrap="square">
            <a:spAutoFit/>
          </a:bodyPr>
          <a:lstStyle/>
          <a:p>
            <a:r>
              <a:rPr lang="en-US" dirty="0"/>
              <a:t>2005 – </a:t>
            </a:r>
            <a:r>
              <a:rPr lang="en-US" dirty="0" smtClean="0"/>
              <a:t>2010</a:t>
            </a:r>
            <a:endParaRPr lang="en-US" dirty="0"/>
          </a:p>
        </p:txBody>
      </p:sp>
      <p:sp>
        <p:nvSpPr>
          <p:cNvPr id="9" name="Rectangle 8"/>
          <p:cNvSpPr/>
          <p:nvPr/>
        </p:nvSpPr>
        <p:spPr>
          <a:xfrm>
            <a:off x="4281034" y="5726668"/>
            <a:ext cx="1342034" cy="369332"/>
          </a:xfrm>
          <a:prstGeom prst="rect">
            <a:avLst/>
          </a:prstGeom>
        </p:spPr>
        <p:txBody>
          <a:bodyPr wrap="none">
            <a:spAutoFit/>
          </a:bodyPr>
          <a:lstStyle/>
          <a:p>
            <a:r>
              <a:rPr lang="en-US" dirty="0"/>
              <a:t>1996 – 2005</a:t>
            </a:r>
          </a:p>
        </p:txBody>
      </p:sp>
      <p:pic>
        <p:nvPicPr>
          <p:cNvPr id="6155" name="Picture 11" descr="U:\iulibraryhistorysite\imgs\gallery\thorin.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6668" y="3278081"/>
            <a:ext cx="1550767" cy="243692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7611807" y="5345668"/>
            <a:ext cx="1437519" cy="369332"/>
          </a:xfrm>
          <a:prstGeom prst="rect">
            <a:avLst/>
          </a:prstGeom>
        </p:spPr>
        <p:txBody>
          <a:bodyPr wrap="square">
            <a:spAutoFit/>
          </a:bodyPr>
          <a:lstStyle/>
          <a:p>
            <a:r>
              <a:rPr lang="en-US" dirty="0" smtClean="0"/>
              <a:t>2010 -</a:t>
            </a:r>
            <a:endParaRPr lang="en-US" dirty="0"/>
          </a:p>
        </p:txBody>
      </p:sp>
      <p:sp>
        <p:nvSpPr>
          <p:cNvPr id="12" name="Rectangle 11"/>
          <p:cNvSpPr/>
          <p:nvPr/>
        </p:nvSpPr>
        <p:spPr>
          <a:xfrm>
            <a:off x="3048000" y="2414556"/>
            <a:ext cx="1371600" cy="369332"/>
          </a:xfrm>
          <a:prstGeom prst="rect">
            <a:avLst/>
          </a:prstGeom>
        </p:spPr>
        <p:txBody>
          <a:bodyPr wrap="square">
            <a:spAutoFit/>
          </a:bodyPr>
          <a:lstStyle/>
          <a:p>
            <a:r>
              <a:rPr lang="en-US" dirty="0" smtClean="0"/>
              <a:t>1896 </a:t>
            </a:r>
            <a:r>
              <a:rPr lang="en-US" dirty="0"/>
              <a:t>– </a:t>
            </a:r>
            <a:r>
              <a:rPr lang="en-US" dirty="0" smtClean="0"/>
              <a:t>1898</a:t>
            </a:r>
            <a:endParaRPr lang="en-US" dirty="0"/>
          </a:p>
        </p:txBody>
      </p:sp>
      <p:pic>
        <p:nvPicPr>
          <p:cNvPr id="2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0914" y="-9508"/>
            <a:ext cx="1869548"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3" descr="U:\iulibraryhistorysite\imgs\gallery\wwspangler.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8902" y="-3461"/>
            <a:ext cx="1478539" cy="236566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210122" y="-1981"/>
            <a:ext cx="1717072" cy="2354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4" descr="U:\iulibraryhistorysite\imgs\gallery\wejenkins.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88239" y="-3462"/>
            <a:ext cx="1592880" cy="23656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4343400" y="2400502"/>
            <a:ext cx="1419688" cy="369332"/>
          </a:xfrm>
          <a:prstGeom prst="rect">
            <a:avLst/>
          </a:prstGeom>
        </p:spPr>
        <p:txBody>
          <a:bodyPr wrap="square">
            <a:spAutoFit/>
          </a:bodyPr>
          <a:lstStyle/>
          <a:p>
            <a:r>
              <a:rPr lang="en-US" dirty="0"/>
              <a:t>1898 – </a:t>
            </a:r>
            <a:r>
              <a:rPr lang="en-US" dirty="0" smtClean="0"/>
              <a:t>1903</a:t>
            </a:r>
            <a:endParaRPr lang="en-US" dirty="0"/>
          </a:p>
        </p:txBody>
      </p:sp>
    </p:spTree>
    <p:extLst>
      <p:ext uri="{BB962C8B-B14F-4D97-AF65-F5344CB8AC3E}">
        <p14:creationId xmlns:p14="http://schemas.microsoft.com/office/powerpoint/2010/main" val="27581006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2" descr="SLIDE1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1774" y="1"/>
            <a:ext cx="28822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21" descr="SLIDE1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750" y="4960939"/>
            <a:ext cx="2849735"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23" descr="SLID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7876" y="1905001"/>
            <a:ext cx="2983157" cy="197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6900" y="1344612"/>
            <a:ext cx="952500"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0"/>
            <a:ext cx="1943100" cy="2781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1401" y="3880393"/>
            <a:ext cx="838200" cy="970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2781034"/>
            <a:ext cx="6551952" cy="411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52078" y="1390651"/>
            <a:ext cx="1204672" cy="1390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51953" y="3881565"/>
            <a:ext cx="839447" cy="1009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850411" y="1"/>
            <a:ext cx="903415"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53826" y="133351"/>
            <a:ext cx="1615281"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9172" y="0"/>
            <a:ext cx="919766" cy="1390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73553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SLIDE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27150"/>
            <a:ext cx="64008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5"/>
          <p:cNvSpPr txBox="1">
            <a:spLocks noChangeArrowheads="1"/>
          </p:cNvSpPr>
          <p:nvPr/>
        </p:nvSpPr>
        <p:spPr bwMode="auto">
          <a:xfrm>
            <a:off x="838200" y="5791200"/>
            <a:ext cx="784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A50021"/>
                </a:solidFill>
              </a:rPr>
              <a:t>http://www.indiana.edu/~libweb/info/history/</a:t>
            </a:r>
          </a:p>
        </p:txBody>
      </p:sp>
      <p:sp>
        <p:nvSpPr>
          <p:cNvPr id="33796" name="Text Box 6"/>
          <p:cNvSpPr txBox="1">
            <a:spLocks noChangeArrowheads="1"/>
          </p:cNvSpPr>
          <p:nvPr/>
        </p:nvSpPr>
        <p:spPr bwMode="auto">
          <a:xfrm>
            <a:off x="228600" y="457200"/>
            <a:ext cx="8610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700" i="1">
                <a:solidFill>
                  <a:srgbClr val="A50021"/>
                </a:solidFill>
              </a:rPr>
              <a:t>“A good book is the lifeblood of the master spirit”</a:t>
            </a:r>
          </a:p>
        </p:txBody>
      </p:sp>
    </p:spTree>
    <p:extLst>
      <p:ext uri="{BB962C8B-B14F-4D97-AF65-F5344CB8AC3E}">
        <p14:creationId xmlns:p14="http://schemas.microsoft.com/office/powerpoint/2010/main" val="148849037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71&quot;/&gt;&lt;/object&gt;&lt;object type=&quot;3&quot; unique_id=&quot;10005&quot;&gt;&lt;property id=&quot;20148&quot; value=&quot;5&quot;/&gt;&lt;property id=&quot;20300&quot; value=&quot;Slide 2&quot;/&gt;&lt;property id=&quot;20307&quot; value=&quot;272&quot;/&gt;&lt;/object&gt;&lt;object type=&quot;3&quot; unique_id=&quot;10006&quot;&gt;&lt;property id=&quot;20148&quot; value=&quot;5&quot;/&gt;&lt;property id=&quot;20300&quot; value=&quot;Slide 3&quot;/&gt;&lt;property id=&quot;20307&quot; value=&quot;273&quot;/&gt;&lt;/object&gt;&lt;object type=&quot;3&quot; unique_id=&quot;10007&quot;&gt;&lt;property id=&quot;20148&quot; value=&quot;5&quot;/&gt;&lt;property id=&quot;20300&quot; value=&quot;Slide 4 - &amp;quot;Seminary Square&amp;#x0D;&amp;#x0A;see also history at:&amp;#x0D;&amp;#x0A;http://www.iub.edu/about/history.shtml&amp;quot;&quot;/&gt;&lt;property id=&quot;20307&quot; value=&quot;275&quot;/&gt;&lt;/object&gt;&lt;object type=&quot;3&quot; unique_id=&quot;10008&quot;&gt;&lt;property id=&quot;20148&quot; value=&quot;5&quot;/&gt;&lt;property id=&quot;20300&quot; value=&quot;Slide 5&quot;/&gt;&lt;property id=&quot;20307&quot; value=&quot;276&quot;/&gt;&lt;/object&gt;&lt;object type=&quot;3&quot; unique_id=&quot;10009&quot;&gt;&lt;property id=&quot;20148&quot; value=&quot;5&quot;/&gt;&lt;property id=&quot;20300&quot; value=&quot;Slide 6&quot;/&gt;&lt;property id=&quot;20307&quot; value=&quot;278&quot;/&gt;&lt;/object&gt;&lt;object type=&quot;3&quot; unique_id=&quot;10010&quot;&gt;&lt;property id=&quot;20148&quot; value=&quot;5&quot;/&gt;&lt;property id=&quot;20300&quot; value=&quot;Slide 7&quot;/&gt;&lt;property id=&quot;20307&quot; value=&quot;279&quot;/&gt;&lt;/object&gt;&lt;object type=&quot;3&quot; unique_id=&quot;10011&quot;&gt;&lt;property id=&quot;20148&quot; value=&quot;5&quot;/&gt;&lt;property id=&quot;20300&quot; value=&quot;Slide 8&quot;/&gt;&lt;property id=&quot;20307&quot; value=&quot;280&quot;/&gt;&lt;/object&gt;&lt;object type=&quot;3&quot; unique_id=&quot;10012&quot;&gt;&lt;property id=&quot;20148&quot; value=&quot;5&quot;/&gt;&lt;property id=&quot;20300&quot; value=&quot;Slide 9&quot;/&gt;&lt;property id=&quot;20307&quot; value=&quot;281&quot;/&gt;&lt;/object&gt;&lt;object type=&quot;3&quot; unique_id=&quot;10013&quot;&gt;&lt;property id=&quot;20148&quot; value=&quot;5&quot;/&gt;&lt;property id=&quot;20300&quot; value=&quot;Slide 10&quot;/&gt;&lt;property id=&quot;20307&quot; value=&quot;282&quot;/&gt;&lt;/object&gt;&lt;object type=&quot;3&quot; unique_id=&quot;10014&quot;&gt;&lt;property id=&quot;20148&quot; value=&quot;5&quot;/&gt;&lt;property id=&quot;20300&quot; value=&quot;Slide 11&quot;/&gt;&lt;property id=&quot;20307&quot; value=&quot;286&quot;/&gt;&lt;/object&gt;&lt;object type=&quot;3&quot; unique_id=&quot;10015&quot;&gt;&lt;property id=&quot;20148&quot; value=&quot;5&quot;/&gt;&lt;property id=&quot;20300&quot; value=&quot;Slide 12&quot;/&gt;&lt;property id=&quot;20307&quot; value=&quot;284&quot;/&gt;&lt;/object&gt;&lt;object type=&quot;3&quot; unique_id=&quot;10016&quot;&gt;&lt;property id=&quot;20148&quot; value=&quot;5&quot;/&gt;&lt;property id=&quot;20300&quot; value=&quot;Slide 13&quot;/&gt;&lt;property id=&quot;20307&quot; value=&quot;285&quot;/&gt;&lt;/object&gt;&lt;object type=&quot;3&quot; unique_id=&quot;10017&quot;&gt;&lt;property id=&quot;20148&quot; value=&quot;5&quot;/&gt;&lt;property id=&quot;20300&quot; value=&quot;Slide 14&quot;/&gt;&lt;property id=&quot;20307&quot; value=&quot;277&quot;/&gt;&lt;/object&gt;&lt;object type=&quot;3&quot; unique_id=&quot;10018&quot;&gt;&lt;property id=&quot;20148&quot; value=&quot;5&quot;/&gt;&lt;property id=&quot;20300&quot; value=&quot;Slide 15&quot;/&gt;&lt;property id=&quot;20307&quot; value=&quot;287&quot;/&gt;&lt;/object&gt;&lt;object type=&quot;3&quot; unique_id=&quot;10019&quot;&gt;&lt;property id=&quot;20148&quot; value=&quot;5&quot;/&gt;&lt;property id=&quot;20300&quot; value=&quot;Slide 16&quot;/&gt;&lt;property id=&quot;20307&quot; value=&quot;283&quot;/&gt;&lt;/object&gt;&lt;object type=&quot;3&quot; unique_id=&quot;10020&quot;&gt;&lt;property id=&quot;20148&quot; value=&quot;5&quot;/&gt;&lt;property id=&quot;20300&quot; value=&quot;Slide 17&quot;/&gt;&lt;property id=&quot;20307&quot; value=&quot;270&quot;/&gt;&lt;/object&gt;&lt;object type=&quot;3&quot; unique_id=&quot;10021&quot;&gt;&lt;property id=&quot;20148&quot; value=&quot;5&quot;/&gt;&lt;property id=&quot;20300&quot; value=&quot;Slide 18&quot;/&gt;&lt;property id=&quot;20307&quot; value=&quot;288&quot;/&gt;&lt;/object&gt;&lt;object type=&quot;3&quot; unique_id=&quot;10022&quot;&gt;&lt;property id=&quot;20148&quot; value=&quot;5&quot;/&gt;&lt;property id=&quot;20300&quot; value=&quot;Slide 19&quot;/&gt;&lt;property id=&quot;20307&quot; value=&quot;289&quot;/&gt;&lt;/object&gt;&lt;object type=&quot;3&quot; unique_id=&quot;10023&quot;&gt;&lt;property id=&quot;20148&quot; value=&quot;5&quot;/&gt;&lt;property id=&quot;20300&quot; value=&quot;Slide 20&quot;/&gt;&lt;property id=&quot;20307&quot; value=&quot;257&quot;/&gt;&lt;/object&gt;&lt;object type=&quot;3&quot; unique_id=&quot;10024&quot;&gt;&lt;property id=&quot;20148&quot; value=&quot;5&quot;/&gt;&lt;property id=&quot;20300&quot; value=&quot;Slide 21&quot;/&gt;&lt;property id=&quot;20307&quot; value=&quot;258&quot;/&gt;&lt;/object&gt;&lt;object type=&quot;3&quot; unique_id=&quot;10025&quot;&gt;&lt;property id=&quot;20148&quot; value=&quot;5&quot;/&gt;&lt;property id=&quot;20300&quot; value=&quot;Slide 22&quot;/&gt;&lt;property id=&quot;20307&quot; value=&quot;259&quot;/&gt;&lt;/object&gt;&lt;object type=&quot;3&quot; unique_id=&quot;10026&quot;&gt;&lt;property id=&quot;20148&quot; value=&quot;5&quot;/&gt;&lt;property id=&quot;20300&quot; value=&quot;Slide 23&quot;/&gt;&lt;property id=&quot;20307&quot; value=&quot;260&quot;/&gt;&lt;/object&gt;&lt;object type=&quot;3&quot; unique_id=&quot;10027&quot;&gt;&lt;property id=&quot;20148&quot; value=&quot;5&quot;/&gt;&lt;property id=&quot;20300&quot; value=&quot;Slide 24&quot;/&gt;&lt;property id=&quot;20307&quot; value=&quot;261&quot;/&gt;&lt;/object&gt;&lt;object type=&quot;3&quot; unique_id=&quot;10028&quot;&gt;&lt;property id=&quot;20148&quot; value=&quot;5&quot;/&gt;&lt;property id=&quot;20300&quot; value=&quot;Slide 25&quot;/&gt;&lt;property id=&quot;20307&quot; value=&quot;262&quot;/&gt;&lt;/object&gt;&lt;object type=&quot;3&quot; unique_id=&quot;10029&quot;&gt;&lt;property id=&quot;20148&quot; value=&quot;5&quot;/&gt;&lt;property id=&quot;20300&quot; value=&quot;Slide 26&quot;/&gt;&lt;property id=&quot;20307&quot; value=&quot;268&quot;/&gt;&lt;/object&gt;&lt;object type=&quot;3&quot; unique_id=&quot;10030&quot;&gt;&lt;property id=&quot;20148&quot; value=&quot;5&quot;/&gt;&lt;property id=&quot;20300&quot; value=&quot;Slide 27&quot;/&gt;&lt;property id=&quot;20307&quot; value=&quot;263&quot;/&gt;&lt;/object&gt;&lt;object type=&quot;3&quot; unique_id=&quot;10031&quot;&gt;&lt;property id=&quot;20148&quot; value=&quot;5&quot;/&gt;&lt;property id=&quot;20300&quot; value=&quot;Slide 28&quot;/&gt;&lt;property id=&quot;20307&quot; value=&quot;265&quot;/&gt;&lt;/object&gt;&lt;object type=&quot;3&quot; unique_id=&quot;10032&quot;&gt;&lt;property id=&quot;20148&quot; value=&quot;5&quot;/&gt;&lt;property id=&quot;20300&quot; value=&quot;Slide 29&quot;/&gt;&lt;property id=&quot;20307&quot; value=&quot;266&quot;/&gt;&lt;/object&gt;&lt;object type=&quot;3&quot; unique_id=&quot;10033&quot;&gt;&lt;property id=&quot;20148&quot; value=&quot;5&quot;/&gt;&lt;property id=&quot;20300&quot; value=&quot;Slide 30&quot;/&gt;&lt;property id=&quot;20307&quot; value=&quot;264&quot;/&gt;&lt;/object&gt;&lt;object type=&quot;3&quot; unique_id=&quot;10034&quot;&gt;&lt;property id=&quot;20148&quot; value=&quot;5&quot;/&gt;&lt;property id=&quot;20300&quot; value=&quot;Slide 31&quot;/&gt;&lt;property id=&quot;20307&quot; value=&quot;267&quot;/&gt;&lt;/object&gt;&lt;object type=&quot;3&quot; unique_id=&quot;10035&quot;&gt;&lt;property id=&quot;20148&quot; value=&quot;5&quot;/&gt;&lt;property id=&quot;20300&quot; value=&quot;Slide 32&quot;/&gt;&lt;property id=&quot;20307&quot; value=&quot;294&quot;/&gt;&lt;/object&gt;&lt;object type=&quot;3&quot; unique_id=&quot;10036&quot;&gt;&lt;property id=&quot;20148&quot; value=&quot;5&quot;/&gt;&lt;property id=&quot;20300&quot; value=&quot;Slide 33&quot;/&gt;&lt;property id=&quot;20307&quot; value=&quot;269&quot;/&gt;&lt;/object&gt;&lt;object type=&quot;3&quot; unique_id=&quot;10037&quot;&gt;&lt;property id=&quot;20148&quot; value=&quot;5&quot;/&gt;&lt;property id=&quot;20300&quot; value=&quot;Slide 34&quot;/&gt;&lt;property id=&quot;20307&quot; value=&quot;290&quot;/&gt;&lt;/object&gt;&lt;object type=&quot;3&quot; unique_id=&quot;10038&quot;&gt;&lt;property id=&quot;20148&quot; value=&quot;5&quot;/&gt;&lt;property id=&quot;20300&quot; value=&quot;Slide 35&quot;/&gt;&lt;property id=&quot;20307&quot; value=&quot;292&quot;/&gt;&lt;/object&gt;&lt;object type=&quot;3&quot; unique_id=&quot;10039&quot;&gt;&lt;property id=&quot;20148&quot; value=&quot;5&quot;/&gt;&lt;property id=&quot;20300&quot; value=&quot;Slide 36&quot;/&gt;&lt;property id=&quot;20307&quot; value=&quot;291&quot;/&gt;&lt;/object&gt;&lt;object type=&quot;3&quot; unique_id=&quot;10040&quot;&gt;&lt;property id=&quot;20148&quot; value=&quot;5&quot;/&gt;&lt;property id=&quot;20300&quot; value=&quot;Slide 37&quot;/&gt;&lt;property id=&quot;20307&quot; value=&quot;2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TotalTime>
  <Words>1094</Words>
  <Application>Microsoft Office PowerPoint</Application>
  <PresentationFormat>On-screen Show (4:3)</PresentationFormat>
  <Paragraphs>96</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Seminary Square see also history at: http://www.iub.edu/about/history.shtml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Indiana University Libraries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malcomb</dc:creator>
  <cp:lastModifiedBy>malcomb</cp:lastModifiedBy>
  <cp:revision>34</cp:revision>
  <dcterms:created xsi:type="dcterms:W3CDTF">2012-05-05T17:12:42Z</dcterms:created>
  <dcterms:modified xsi:type="dcterms:W3CDTF">2012-05-10T18:14:05Z</dcterms:modified>
</cp:coreProperties>
</file>