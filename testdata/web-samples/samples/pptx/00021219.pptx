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2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33.xml" ContentType="application/vnd.openxmlformats-officedocument.presentationml.slide+xml"/>
  <Default Extension="bin" ContentType="application/vnd.openxmlformats-officedocument.presentationml.printerSettings"/>
  <Override PartName="/ppt/tags/tag1.xml" ContentType="application/vnd.openxmlformats-officedocument.presentationml.tags+xml"/>
  <Default Extension="wmf" ContentType="image/x-wmf"/>
  <Override PartName="/ppt/drawings/drawing2.xml" ContentType="application/vnd.openxmlformats-officedocument.drawingml.chartshapes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slide5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1.xml" ContentType="application/vnd.openxmlformats-officedocument.presentationml.slide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Default Extension="gif" ContentType="image/gif"/>
  <Override PartName="/ppt/slides/slide27.xml" ContentType="application/vnd.openxmlformats-officedocument.presentationml.slide+xml"/>
  <Override PartName="/ppt/charts/chart4.xml" ContentType="application/vnd.openxmlformats-officedocument.drawingml.chart+xml"/>
  <Override PartName="/ppt/slides/slide11.xml" ContentType="application/vnd.openxmlformats-officedocument.presentationml.slide+xml"/>
  <Override PartName="/ppt/slides/slide65.xml" ContentType="application/vnd.openxmlformats-officedocument.presentationml.slide+xml"/>
  <Override PartName="/ppt/slides/slide46.xml" ContentType="application/vnd.openxmlformats-officedocument.presentationml.slide+xml"/>
  <Override PartName="/ppt/embeddings/oleObject2.bin" ContentType="application/vnd.openxmlformats-officedocument.oleObject"/>
  <Override PartName="/ppt/notesSlides/notesSlide8.xml" ContentType="application/vnd.openxmlformats-officedocument.presentationml.notesSlide+xml"/>
  <Override PartName="/ppt/slides/slide70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slides/slide53.xml" ContentType="application/vnd.openxmlformats-officedocument.presentationml.slide+xml"/>
  <Override PartName="/ppt/slides/slide15.xml" ContentType="application/vnd.openxmlformats-officedocument.presentationml.slide+xml"/>
  <Override PartName="/ppt/slides/slide69.xml" ContentType="application/vnd.openxmlformats-officedocument.presentationml.slide+xml"/>
  <Override PartName="/ppt/tags/tag2.xml" ContentType="application/vnd.openxmlformats-officedocument.presentationml.tags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38.xml" ContentType="application/vnd.openxmlformats-officedocument.presentationml.slide+xml"/>
  <Override PartName="/ppt/slides/slide57.xml" ContentType="application/vnd.openxmlformats-officedocument.presentationml.slide+xml"/>
  <Override PartName="/ppt/drawings/drawing3.xml" ContentType="application/vnd.openxmlformats-officedocument.drawingml.chartshapes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62.xml" ContentType="application/vnd.openxmlformats-officedocument.presentationml.slid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ppt/notesSlides/notesSlide7.xml" ContentType="application/vnd.openxmlformats-officedocument.presentationml.notesSlide+xml"/>
  <Default Extension="jpeg" ContentType="image/jpeg"/>
  <Default Extension="vml" ContentType="application/vnd.openxmlformats-officedocument.vmlDrawing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s/slide66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1.xml" ContentType="application/vnd.openxmlformats-officedocument.presentationml.slide+xml"/>
  <Default Extension="emf" ContentType="image/x-emf"/>
  <Default Extension="rels" ContentType="application/vnd.openxmlformats-package.relationships+xml"/>
  <Override PartName="/ppt/slides/slide16.xml" ContentType="application/vnd.openxmlformats-officedocument.presentationml.slide+xml"/>
  <Override PartName="/ppt/slides/slide35.xml" ContentType="application/vnd.openxmlformats-officedocument.presentationml.slide+xml"/>
  <Override PartName="/ppt/slides/slide54.xml" ContentType="application/vnd.openxmlformats-officedocument.presentationml.slide+xml"/>
  <Override PartName="/ppt/slides/slide1.xml" ContentType="application/vnd.openxmlformats-officedocument.presentationml.slide+xml"/>
  <Default Extension="xlsx" ContentType="application/vnd.openxmlformats-officedocument.spreadsheetml.sheet"/>
  <Override PartName="/ppt/slides/slide21.xml" ContentType="application/vnd.openxmlformats-officedocument.presentationml.slide+xml"/>
  <Override PartName="/ppt/slides/slide40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39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25.xml" ContentType="application/vnd.openxmlformats-officedocument.presentationml.slide+xml"/>
  <Override PartName="/ppt/slides/slide44.xml" ContentType="application/vnd.openxmlformats-officedocument.presentationml.slide+xml"/>
  <Override PartName="/ppt/charts/chart2.xml" ContentType="application/vnd.openxmlformats-officedocument.drawingml.chart+xml"/>
  <Override PartName="/ppt/slides/slide63.xml" ContentType="application/vnd.openxmlformats-officedocument.presentationml.slide+xml"/>
  <Override PartName="/ppt/slideLayouts/slideLayout12.xml" ContentType="application/vnd.openxmlformats-officedocument.presentationml.slideLayout+xml"/>
  <Override PartName="/ppt/theme/themeOverride2.xml" ContentType="application/vnd.openxmlformats-officedocument.themeOverr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tableStyles.xml" ContentType="application/vnd.openxmlformats-officedocument.presentationml.tableStyles+xml"/>
  <Override PartName="/ppt/slides/slide51.xml" ContentType="application/vnd.openxmlformats-officedocument.presentationml.slide+xml"/>
  <Override PartName="/ppt/slides/slide67.xml" ContentType="application/vnd.openxmlformats-officedocument.presentationml.slide+xml"/>
  <Override PartName="/ppt/slides/slide48.xml" ContentType="application/vnd.openxmlformats-officedocument.presentationml.slide+xml"/>
  <Override PartName="/ppt/slides/slide32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29.xml" ContentType="application/vnd.openxmlformats-officedocument.presentationml.slide+xml"/>
  <Override PartName="/ppt/charts/chart6.xml" ContentType="application/vnd.openxmlformats-officedocument.drawingml.chart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slides/slide36.xml" ContentType="application/vnd.openxmlformats-officedocument.presentationml.slide+xml"/>
  <Override PartName="/ppt/drawings/drawing1.xml" ContentType="application/vnd.openxmlformats-officedocument.drawingml.chartshapes+xml"/>
  <Override PartName="/ppt/slides/slide55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0.xml" ContentType="application/vnd.openxmlformats-officedocument.presentationml.slide+xml"/>
  <Override PartName="/ppt/slides/slide26.xml" ContentType="application/vnd.openxmlformats-officedocument.presentationml.slide+xml"/>
  <Override PartName="/ppt/slides/slide45.xml" ContentType="application/vnd.openxmlformats-officedocument.presentationml.slide+xml"/>
  <Override PartName="/ppt/charts/chart3.xml" ContentType="application/vnd.openxmlformats-officedocument.drawingml.chart+xml"/>
  <Override PartName="/ppt/slides/slide64.xml" ContentType="application/vnd.openxmlformats-officedocument.presentationml.slide+xml"/>
  <Override PartName="/ppt/embeddings/oleObject1.bin" ContentType="application/vnd.openxmlformats-officedocument.oleObject"/>
  <Default Extension="pdf" ContentType="application/pdf"/>
  <Default Extension="png" ContentType="image/pn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73"/>
  </p:notesMasterIdLst>
  <p:sldIdLst>
    <p:sldId id="340" r:id="rId2"/>
    <p:sldId id="34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29" r:id="rId36"/>
    <p:sldId id="282" r:id="rId37"/>
    <p:sldId id="298" r:id="rId38"/>
    <p:sldId id="285" r:id="rId39"/>
    <p:sldId id="299" r:id="rId40"/>
    <p:sldId id="331" r:id="rId41"/>
    <p:sldId id="286" r:id="rId42"/>
    <p:sldId id="287" r:id="rId43"/>
    <p:sldId id="284" r:id="rId44"/>
    <p:sldId id="283" r:id="rId45"/>
    <p:sldId id="338" r:id="rId46"/>
    <p:sldId id="315" r:id="rId47"/>
    <p:sldId id="337" r:id="rId48"/>
    <p:sldId id="316" r:id="rId49"/>
    <p:sldId id="309" r:id="rId50"/>
    <p:sldId id="334" r:id="rId51"/>
    <p:sldId id="335" r:id="rId52"/>
    <p:sldId id="307" r:id="rId53"/>
    <p:sldId id="312" r:id="rId54"/>
    <p:sldId id="311" r:id="rId55"/>
    <p:sldId id="374" r:id="rId56"/>
    <p:sldId id="313" r:id="rId57"/>
    <p:sldId id="330" r:id="rId58"/>
    <p:sldId id="375" r:id="rId59"/>
    <p:sldId id="336" r:id="rId60"/>
    <p:sldId id="333" r:id="rId61"/>
    <p:sldId id="339" r:id="rId62"/>
    <p:sldId id="288" r:id="rId63"/>
    <p:sldId id="289" r:id="rId64"/>
    <p:sldId id="290" r:id="rId65"/>
    <p:sldId id="376" r:id="rId66"/>
    <p:sldId id="292" r:id="rId67"/>
    <p:sldId id="293" r:id="rId68"/>
    <p:sldId id="294" r:id="rId69"/>
    <p:sldId id="295" r:id="rId70"/>
    <p:sldId id="304" r:id="rId71"/>
    <p:sldId id="332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8671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-66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notesMaster" Target="notesMasters/notesMaster1.xml"/><Relationship Id="rId74" Type="http://schemas.openxmlformats.org/officeDocument/2006/relationships/printerSettings" Target="printerSettings/printerSettings1.bin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ndreslagar-cavilla:svn:graphs:source:overload-histogram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kaustubh:Documents:memplotperhou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ndreslagar-cavilla:svn:graphs:source:overload4.xlsx" TargetMode="External"/><Relationship Id="rId2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Macintosh%20HD:Users:Gueyoung:Documents:Research:Cost%20Sensitive:Submission:EuroSys10:experiments:results:performance_costs.xls" TargetMode="External"/><Relationship Id="rId3" Type="http://schemas.openxmlformats.org/officeDocument/2006/relationships/chartUserShapes" Target="../drawings/drawing2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Macintosh%20HD:Users:Gueyoung:Documents:Research:Cost%20Sensitive:Submission:EuroSys10:experiments:results:power_costs.xls" TargetMode="External"/><Relationship Id="rId3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autoTitleDeleted val="1"/>
    <c:plotArea>
      <c:layout>
        <c:manualLayout>
          <c:layoutTarget val="inner"/>
          <c:xMode val="edge"/>
          <c:yMode val="edge"/>
          <c:x val="0.166997343475181"/>
          <c:y val="0.0380213328433574"/>
          <c:w val="0.6580973545634"/>
          <c:h val="0.771905086034748"/>
        </c:manualLayout>
      </c:layout>
      <c:barChart>
        <c:barDir val="col"/>
        <c:grouping val="clustered"/>
        <c:ser>
          <c:idx val="0"/>
          <c:order val="0"/>
          <c:tx>
            <c:v>Frequency</c:v>
          </c:tx>
          <c:spPr>
            <a:solidFill>
              <a:srgbClr val="9999FF"/>
            </a:solidFill>
            <a:ln w="12700">
              <a:solidFill>
                <a:srgbClr val="000000"/>
              </a:solidFill>
              <a:prstDash val="solid"/>
            </a:ln>
          </c:spPr>
          <c:cat>
            <c:numRef>
              <c:f>'overload-histogram.xlsx'!BinValues</c:f>
              <c:numCache>
                <c:formatCode>General</c:formatCode>
                <c:ptCount val="61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</c:numCache>
            </c:numRef>
          </c:cat>
          <c:val>
            <c:numRef>
              <c:f>'overload-histogram.xlsx'!Frequencies</c:f>
              <c:numCache>
                <c:formatCode>General</c:formatCode>
                <c:ptCount val="61"/>
                <c:pt idx="0">
                  <c:v>0.0</c:v>
                </c:pt>
                <c:pt idx="1">
                  <c:v>80.0</c:v>
                </c:pt>
                <c:pt idx="2">
                  <c:v>1383.0</c:v>
                </c:pt>
                <c:pt idx="3">
                  <c:v>1478.0</c:v>
                </c:pt>
                <c:pt idx="4">
                  <c:v>1635.0</c:v>
                </c:pt>
                <c:pt idx="5">
                  <c:v>1564.0</c:v>
                </c:pt>
                <c:pt idx="6">
                  <c:v>1412.0</c:v>
                </c:pt>
                <c:pt idx="7">
                  <c:v>1323.0</c:v>
                </c:pt>
                <c:pt idx="8">
                  <c:v>1166.0</c:v>
                </c:pt>
                <c:pt idx="9">
                  <c:v>999.0</c:v>
                </c:pt>
                <c:pt idx="10">
                  <c:v>836.0</c:v>
                </c:pt>
                <c:pt idx="11">
                  <c:v>747.0</c:v>
                </c:pt>
                <c:pt idx="12">
                  <c:v>668.0</c:v>
                </c:pt>
                <c:pt idx="13">
                  <c:v>481.0</c:v>
                </c:pt>
                <c:pt idx="14">
                  <c:v>372.0</c:v>
                </c:pt>
                <c:pt idx="15">
                  <c:v>317.0</c:v>
                </c:pt>
                <c:pt idx="16">
                  <c:v>323.0</c:v>
                </c:pt>
                <c:pt idx="17">
                  <c:v>337.0</c:v>
                </c:pt>
                <c:pt idx="18">
                  <c:v>345.0</c:v>
                </c:pt>
                <c:pt idx="19">
                  <c:v>310.0</c:v>
                </c:pt>
                <c:pt idx="20">
                  <c:v>333.0</c:v>
                </c:pt>
                <c:pt idx="21">
                  <c:v>291.0</c:v>
                </c:pt>
                <c:pt idx="22">
                  <c:v>237.0</c:v>
                </c:pt>
                <c:pt idx="23">
                  <c:v>236.0</c:v>
                </c:pt>
                <c:pt idx="24">
                  <c:v>208.0</c:v>
                </c:pt>
                <c:pt idx="25">
                  <c:v>168.0</c:v>
                </c:pt>
                <c:pt idx="26">
                  <c:v>191.0</c:v>
                </c:pt>
                <c:pt idx="27">
                  <c:v>171.0</c:v>
                </c:pt>
                <c:pt idx="28">
                  <c:v>140.0</c:v>
                </c:pt>
                <c:pt idx="29">
                  <c:v>144.0</c:v>
                </c:pt>
                <c:pt idx="30">
                  <c:v>129.0</c:v>
                </c:pt>
                <c:pt idx="31">
                  <c:v>110.0</c:v>
                </c:pt>
                <c:pt idx="32">
                  <c:v>108.0</c:v>
                </c:pt>
                <c:pt idx="33">
                  <c:v>79.0</c:v>
                </c:pt>
                <c:pt idx="34">
                  <c:v>87.0</c:v>
                </c:pt>
                <c:pt idx="35">
                  <c:v>89.0</c:v>
                </c:pt>
                <c:pt idx="36">
                  <c:v>84.0</c:v>
                </c:pt>
                <c:pt idx="37">
                  <c:v>111.0</c:v>
                </c:pt>
                <c:pt idx="38">
                  <c:v>130.0</c:v>
                </c:pt>
                <c:pt idx="39">
                  <c:v>100.0</c:v>
                </c:pt>
                <c:pt idx="40">
                  <c:v>106.0</c:v>
                </c:pt>
                <c:pt idx="41">
                  <c:v>136.0</c:v>
                </c:pt>
                <c:pt idx="42">
                  <c:v>98.0</c:v>
                </c:pt>
                <c:pt idx="43">
                  <c:v>98.0</c:v>
                </c:pt>
                <c:pt idx="44">
                  <c:v>73.0</c:v>
                </c:pt>
                <c:pt idx="45">
                  <c:v>81.0</c:v>
                </c:pt>
                <c:pt idx="46">
                  <c:v>66.0</c:v>
                </c:pt>
                <c:pt idx="47">
                  <c:v>73.0</c:v>
                </c:pt>
                <c:pt idx="48">
                  <c:v>65.0</c:v>
                </c:pt>
                <c:pt idx="49">
                  <c:v>63.0</c:v>
                </c:pt>
                <c:pt idx="50">
                  <c:v>69.0</c:v>
                </c:pt>
                <c:pt idx="51">
                  <c:v>76.0</c:v>
                </c:pt>
                <c:pt idx="52">
                  <c:v>71.0</c:v>
                </c:pt>
                <c:pt idx="53">
                  <c:v>79.0</c:v>
                </c:pt>
                <c:pt idx="54">
                  <c:v>48.0</c:v>
                </c:pt>
                <c:pt idx="55">
                  <c:v>64.0</c:v>
                </c:pt>
                <c:pt idx="56">
                  <c:v>57.0</c:v>
                </c:pt>
                <c:pt idx="57">
                  <c:v>48.0</c:v>
                </c:pt>
                <c:pt idx="58">
                  <c:v>38.0</c:v>
                </c:pt>
                <c:pt idx="59">
                  <c:v>43.0</c:v>
                </c:pt>
                <c:pt idx="60">
                  <c:v>32.0</c:v>
                </c:pt>
              </c:numCache>
            </c:numRef>
          </c:val>
        </c:ser>
        <c:gapWidth val="0"/>
        <c:axId val="538672408"/>
        <c:axId val="504564488"/>
      </c:barChart>
      <c:lineChart>
        <c:grouping val="standard"/>
        <c:ser>
          <c:idx val="1"/>
          <c:order val="1"/>
          <c:tx>
            <c:v>Cumulative %</c:v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2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'overload-histogram.xlsx'!BinValues</c:f>
              <c:numCache>
                <c:formatCode>General</c:formatCode>
                <c:ptCount val="61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</c:numCache>
            </c:numRef>
          </c:cat>
          <c:val>
            <c:numRef>
              <c:f>'overload-histogram.xlsx'!CumFrequencies</c:f>
              <c:numCache>
                <c:formatCode>0.00%</c:formatCode>
                <c:ptCount val="61"/>
                <c:pt idx="0">
                  <c:v>0.0</c:v>
                </c:pt>
                <c:pt idx="1">
                  <c:v>0.00344619626087706</c:v>
                </c:pt>
                <c:pt idx="2">
                  <c:v>0.0630223141207892</c:v>
                </c:pt>
                <c:pt idx="3">
                  <c:v>0.126690790040493</c:v>
                </c:pt>
                <c:pt idx="4">
                  <c:v>0.197122426122168</c:v>
                </c:pt>
                <c:pt idx="5">
                  <c:v>0.264495563022314</c:v>
                </c:pt>
                <c:pt idx="6">
                  <c:v>0.325320927026794</c:v>
                </c:pt>
                <c:pt idx="7">
                  <c:v>0.382312397691048</c:v>
                </c:pt>
                <c:pt idx="8">
                  <c:v>0.432540708193332</c:v>
                </c:pt>
                <c:pt idx="9">
                  <c:v>0.475575084001034</c:v>
                </c:pt>
                <c:pt idx="10">
                  <c:v>0.511587834927199</c:v>
                </c:pt>
                <c:pt idx="11">
                  <c:v>0.543766692513139</c:v>
                </c:pt>
                <c:pt idx="12">
                  <c:v>0.572542431291462</c:v>
                </c:pt>
                <c:pt idx="13">
                  <c:v>0.593262686309985</c:v>
                </c:pt>
                <c:pt idx="14">
                  <c:v>0.609287498923064</c:v>
                </c:pt>
                <c:pt idx="15">
                  <c:v>0.622943051606789</c:v>
                </c:pt>
                <c:pt idx="16">
                  <c:v>0.63685706901008</c:v>
                </c:pt>
                <c:pt idx="17">
                  <c:v>0.651374170759025</c:v>
                </c:pt>
                <c:pt idx="18">
                  <c:v>0.666235892134057</c:v>
                </c:pt>
                <c:pt idx="19">
                  <c:v>0.679589902644955</c:v>
                </c:pt>
                <c:pt idx="20">
                  <c:v>0.693934694580856</c:v>
                </c:pt>
                <c:pt idx="21">
                  <c:v>0.706470233479797</c:v>
                </c:pt>
                <c:pt idx="22">
                  <c:v>0.716679589902645</c:v>
                </c:pt>
                <c:pt idx="23">
                  <c:v>0.726845868872232</c:v>
                </c:pt>
                <c:pt idx="24">
                  <c:v>0.735805979150513</c:v>
                </c:pt>
                <c:pt idx="25">
                  <c:v>0.743042991298354</c:v>
                </c:pt>
                <c:pt idx="26">
                  <c:v>0.751270784871198</c:v>
                </c:pt>
                <c:pt idx="27">
                  <c:v>0.758637029378823</c:v>
                </c:pt>
                <c:pt idx="28">
                  <c:v>0.764667872835358</c:v>
                </c:pt>
                <c:pt idx="29">
                  <c:v>0.770871026104936</c:v>
                </c:pt>
                <c:pt idx="30">
                  <c:v>0.776428017575601</c:v>
                </c:pt>
                <c:pt idx="31">
                  <c:v>0.781166537434307</c:v>
                </c:pt>
                <c:pt idx="32">
                  <c:v>0.785818902386491</c:v>
                </c:pt>
                <c:pt idx="33">
                  <c:v>0.789222021194107</c:v>
                </c:pt>
                <c:pt idx="34">
                  <c:v>0.792969759627811</c:v>
                </c:pt>
                <c:pt idx="35">
                  <c:v>0.796803652968036</c:v>
                </c:pt>
                <c:pt idx="36">
                  <c:v>0.800422159041957</c:v>
                </c:pt>
                <c:pt idx="37">
                  <c:v>0.805203756353924</c:v>
                </c:pt>
                <c:pt idx="38">
                  <c:v>0.810803825277849</c:v>
                </c:pt>
                <c:pt idx="39">
                  <c:v>0.815111570603946</c:v>
                </c:pt>
                <c:pt idx="40">
                  <c:v>0.819677780649608</c:v>
                </c:pt>
                <c:pt idx="41">
                  <c:v>0.825536314293099</c:v>
                </c:pt>
                <c:pt idx="42">
                  <c:v>0.829757904712673</c:v>
                </c:pt>
                <c:pt idx="43">
                  <c:v>0.833979495132248</c:v>
                </c:pt>
                <c:pt idx="44">
                  <c:v>0.837124149220298</c:v>
                </c:pt>
                <c:pt idx="45">
                  <c:v>0.840613422934436</c:v>
                </c:pt>
                <c:pt idx="46">
                  <c:v>0.843456534849659</c:v>
                </c:pt>
                <c:pt idx="47">
                  <c:v>0.84660118893771</c:v>
                </c:pt>
                <c:pt idx="48">
                  <c:v>0.849401223399672</c:v>
                </c:pt>
                <c:pt idx="49">
                  <c:v>0.852115102955113</c:v>
                </c:pt>
                <c:pt idx="50">
                  <c:v>0.855087447230119</c:v>
                </c:pt>
                <c:pt idx="51">
                  <c:v>0.858361333677953</c:v>
                </c:pt>
                <c:pt idx="52">
                  <c:v>0.861419832859481</c:v>
                </c:pt>
                <c:pt idx="53">
                  <c:v>0.864822951667097</c:v>
                </c:pt>
                <c:pt idx="54">
                  <c:v>0.866890669423623</c:v>
                </c:pt>
                <c:pt idx="55">
                  <c:v>0.869647626432325</c:v>
                </c:pt>
                <c:pt idx="56">
                  <c:v>0.8721030412682</c:v>
                </c:pt>
                <c:pt idx="57">
                  <c:v>0.874170759024726</c:v>
                </c:pt>
                <c:pt idx="58">
                  <c:v>0.875807702248643</c:v>
                </c:pt>
                <c:pt idx="59">
                  <c:v>0.877660032738864</c:v>
                </c:pt>
                <c:pt idx="60">
                  <c:v>0.879038511243215</c:v>
                </c:pt>
              </c:numCache>
            </c:numRef>
          </c:val>
        </c:ser>
        <c:marker val="1"/>
        <c:axId val="552226552"/>
        <c:axId val="551932200"/>
      </c:lineChart>
      <c:catAx>
        <c:axId val="53867240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baseline="0" dirty="0" smtClean="0"/>
                  <a:t> VM </a:t>
                </a:r>
                <a:r>
                  <a:rPr lang="en-US" dirty="0" smtClean="0"/>
                  <a:t>Lifetime </a:t>
                </a:r>
                <a:r>
                  <a:rPr lang="en-US" dirty="0"/>
                  <a:t>(min)</a:t>
                </a:r>
              </a:p>
            </c:rich>
          </c:tx>
          <c:layout>
            <c:manualLayout>
              <c:xMode val="edge"/>
              <c:yMode val="edge"/>
              <c:x val="0.338571850393701"/>
              <c:y val="0.923811726136463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504564488"/>
        <c:crosses val="autoZero"/>
        <c:auto val="1"/>
        <c:lblAlgn val="ctr"/>
        <c:lblOffset val="100"/>
        <c:tickLblSkip val="10"/>
        <c:tickMarkSkip val="1"/>
      </c:catAx>
      <c:valAx>
        <c:axId val="504564488"/>
        <c:scaling>
          <c:orientation val="minMax"/>
          <c:max val="2000.0"/>
        </c:scaling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Frequency</a:t>
                </a:r>
              </a:p>
            </c:rich>
          </c:tx>
          <c:layout>
            <c:manualLayout>
              <c:xMode val="edge"/>
              <c:yMode val="edge"/>
              <c:x val="0.000250760829828146"/>
              <c:y val="0.326069668742482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538672408"/>
        <c:crosses val="autoZero"/>
        <c:crossBetween val="between"/>
      </c:valAx>
      <c:catAx>
        <c:axId val="552226552"/>
        <c:scaling>
          <c:orientation val="minMax"/>
        </c:scaling>
        <c:delete val="1"/>
        <c:axPos val="b"/>
        <c:numFmt formatCode="General" sourceLinked="1"/>
        <c:tickLblPos val="nextTo"/>
        <c:crossAx val="551932200"/>
        <c:crosses val="autoZero"/>
        <c:auto val="1"/>
        <c:lblAlgn val="ctr"/>
        <c:lblOffset val="100"/>
      </c:catAx>
      <c:valAx>
        <c:axId val="551932200"/>
        <c:scaling>
          <c:orientation val="minMax"/>
        </c:scaling>
        <c:axPos val="r"/>
        <c:numFmt formatCode="0.00%" sourceLinked="1"/>
        <c:majorTickMark val="cross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552226552"/>
        <c:crosses val="max"/>
        <c:crossBetween val="between"/>
        <c:majorUnit val="0.2"/>
      </c:valAx>
      <c:spPr>
        <a:solidFill>
          <a:schemeClr val="bg1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</c:chart>
  <c:spPr>
    <a:solidFill>
      <a:srgbClr val="FFFFFF"/>
    </a:solidFill>
    <a:ln w="3175">
      <a:solidFill>
        <a:schemeClr val="bg1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Times New Roman"/>
          <a:ea typeface="Arial"/>
          <a:cs typeface="Times New Roman"/>
        </a:defRPr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167847428288823"/>
          <c:y val="0.0652456263435638"/>
          <c:w val="0.796481155209364"/>
          <c:h val="0.737892713970816"/>
        </c:manualLayout>
      </c:layout>
      <c:areaChart>
        <c:grouping val="standard"/>
        <c:ser>
          <c:idx val="0"/>
          <c:order val="0"/>
          <c:cat>
            <c:numRef>
              <c:f>'memplotperhour.out'!$B$1:$B$742</c:f>
              <c:numCache>
                <c:formatCode>General</c:formatCode>
                <c:ptCount val="742"/>
                <c:pt idx="0">
                  <c:v>1.0</c:v>
                </c:pt>
                <c:pt idx="1">
                  <c:v>1.041666666666667</c:v>
                </c:pt>
                <c:pt idx="2">
                  <c:v>1.083333333333333</c:v>
                </c:pt>
                <c:pt idx="3">
                  <c:v>1.125</c:v>
                </c:pt>
                <c:pt idx="4">
                  <c:v>1.166666666666667</c:v>
                </c:pt>
                <c:pt idx="5">
                  <c:v>1.208333333333334</c:v>
                </c:pt>
                <c:pt idx="6">
                  <c:v>1.25</c:v>
                </c:pt>
                <c:pt idx="7">
                  <c:v>1.291666666666667</c:v>
                </c:pt>
                <c:pt idx="8">
                  <c:v>1.333333333333334</c:v>
                </c:pt>
                <c:pt idx="9">
                  <c:v>1.375000000000001</c:v>
                </c:pt>
                <c:pt idx="10">
                  <c:v>1.416666666666667</c:v>
                </c:pt>
                <c:pt idx="11">
                  <c:v>1.458333333333334</c:v>
                </c:pt>
                <c:pt idx="12">
                  <c:v>1.500000000000001</c:v>
                </c:pt>
                <c:pt idx="13">
                  <c:v>1.541666666666668</c:v>
                </c:pt>
                <c:pt idx="14">
                  <c:v>1.583333333333334</c:v>
                </c:pt>
                <c:pt idx="15">
                  <c:v>1.625000000000001</c:v>
                </c:pt>
                <c:pt idx="16">
                  <c:v>1.666666666666668</c:v>
                </c:pt>
                <c:pt idx="17">
                  <c:v>1.708333333333335</c:v>
                </c:pt>
                <c:pt idx="18">
                  <c:v>1.750000000000001</c:v>
                </c:pt>
                <c:pt idx="19">
                  <c:v>1.791666666666668</c:v>
                </c:pt>
                <c:pt idx="20">
                  <c:v>1.833333333333335</c:v>
                </c:pt>
                <c:pt idx="21">
                  <c:v>1.875000000000002</c:v>
                </c:pt>
                <c:pt idx="22">
                  <c:v>1.916666666666668</c:v>
                </c:pt>
                <c:pt idx="23">
                  <c:v>1.958333333333335</c:v>
                </c:pt>
                <c:pt idx="24">
                  <c:v>2.000000000000002</c:v>
                </c:pt>
                <c:pt idx="25">
                  <c:v>2.041666666666668</c:v>
                </c:pt>
                <c:pt idx="26">
                  <c:v>2.083333333333335</c:v>
                </c:pt>
                <c:pt idx="27">
                  <c:v>2.125000000000001</c:v>
                </c:pt>
                <c:pt idx="28">
                  <c:v>2.166666666666668</c:v>
                </c:pt>
                <c:pt idx="29">
                  <c:v>2.208333333333334</c:v>
                </c:pt>
                <c:pt idx="30">
                  <c:v>2.250000000000001</c:v>
                </c:pt>
                <c:pt idx="31">
                  <c:v>2.291666666666667</c:v>
                </c:pt>
                <c:pt idx="32">
                  <c:v>2.333333333333334</c:v>
                </c:pt>
                <c:pt idx="33">
                  <c:v>2.375</c:v>
                </c:pt>
                <c:pt idx="34">
                  <c:v>2.416666666666666</c:v>
                </c:pt>
                <c:pt idx="35">
                  <c:v>2.458333333333333</c:v>
                </c:pt>
                <c:pt idx="36">
                  <c:v>2.5</c:v>
                </c:pt>
                <c:pt idx="37">
                  <c:v>2.541666666666667</c:v>
                </c:pt>
                <c:pt idx="38">
                  <c:v>2.583333333333333</c:v>
                </c:pt>
                <c:pt idx="39">
                  <c:v>2.625</c:v>
                </c:pt>
                <c:pt idx="40">
                  <c:v>2.666666666666666</c:v>
                </c:pt>
                <c:pt idx="41">
                  <c:v>2.708333333333332</c:v>
                </c:pt>
                <c:pt idx="42">
                  <c:v>2.75</c:v>
                </c:pt>
                <c:pt idx="43">
                  <c:v>2.791666666666666</c:v>
                </c:pt>
                <c:pt idx="44">
                  <c:v>2.833333333333332</c:v>
                </c:pt>
                <c:pt idx="45">
                  <c:v>2.874999999999999</c:v>
                </c:pt>
                <c:pt idx="46">
                  <c:v>2.916666666666664</c:v>
                </c:pt>
                <c:pt idx="47">
                  <c:v>2.958333333333332</c:v>
                </c:pt>
                <c:pt idx="48">
                  <c:v>2.999999999999998</c:v>
                </c:pt>
                <c:pt idx="49">
                  <c:v>3.041666666666665</c:v>
                </c:pt>
                <c:pt idx="50">
                  <c:v>3.083333333333331</c:v>
                </c:pt>
                <c:pt idx="51">
                  <c:v>3.124999999999998</c:v>
                </c:pt>
                <c:pt idx="52">
                  <c:v>3.166666666666664</c:v>
                </c:pt>
                <c:pt idx="53">
                  <c:v>3.208333333333331</c:v>
                </c:pt>
                <c:pt idx="54">
                  <c:v>3.249999999999997</c:v>
                </c:pt>
                <c:pt idx="55">
                  <c:v>3.291666666666664</c:v>
                </c:pt>
                <c:pt idx="56">
                  <c:v>3.33333333333333</c:v>
                </c:pt>
                <c:pt idx="57">
                  <c:v>3.374999999999997</c:v>
                </c:pt>
                <c:pt idx="58">
                  <c:v>3.416666666666662</c:v>
                </c:pt>
                <c:pt idx="59">
                  <c:v>3.45833333333333</c:v>
                </c:pt>
                <c:pt idx="60">
                  <c:v>3.499999999999996</c:v>
                </c:pt>
                <c:pt idx="61">
                  <c:v>3.541666666666663</c:v>
                </c:pt>
                <c:pt idx="62">
                  <c:v>3.58333333333333</c:v>
                </c:pt>
                <c:pt idx="63">
                  <c:v>3.624999999999996</c:v>
                </c:pt>
                <c:pt idx="64">
                  <c:v>3.666666666666662</c:v>
                </c:pt>
                <c:pt idx="65">
                  <c:v>3.708333333333329</c:v>
                </c:pt>
                <c:pt idx="66">
                  <c:v>3.749999999999995</c:v>
                </c:pt>
                <c:pt idx="67">
                  <c:v>3.791666666666662</c:v>
                </c:pt>
                <c:pt idx="68">
                  <c:v>3.833333333333329</c:v>
                </c:pt>
                <c:pt idx="69">
                  <c:v>3.874999999999995</c:v>
                </c:pt>
                <c:pt idx="70">
                  <c:v>3.916666666666662</c:v>
                </c:pt>
                <c:pt idx="71">
                  <c:v>3.958333333333328</c:v>
                </c:pt>
                <c:pt idx="72">
                  <c:v>3.999999999999995</c:v>
                </c:pt>
                <c:pt idx="73">
                  <c:v>4.041666666666661</c:v>
                </c:pt>
                <c:pt idx="74">
                  <c:v>4.08333333333333</c:v>
                </c:pt>
                <c:pt idx="75">
                  <c:v>4.124999999999995</c:v>
                </c:pt>
                <c:pt idx="76">
                  <c:v>4.166666666666663</c:v>
                </c:pt>
                <c:pt idx="77">
                  <c:v>4.20833333333333</c:v>
                </c:pt>
                <c:pt idx="78">
                  <c:v>4.249999999999996</c:v>
                </c:pt>
                <c:pt idx="79">
                  <c:v>4.291666666666663</c:v>
                </c:pt>
                <c:pt idx="80">
                  <c:v>4.33333333333333</c:v>
                </c:pt>
                <c:pt idx="81">
                  <c:v>4.374999999999996</c:v>
                </c:pt>
                <c:pt idx="82">
                  <c:v>4.416666666666665</c:v>
                </c:pt>
                <c:pt idx="83">
                  <c:v>4.45833333333333</c:v>
                </c:pt>
                <c:pt idx="84">
                  <c:v>4.499999999999998</c:v>
                </c:pt>
                <c:pt idx="85">
                  <c:v>4.541666666666666</c:v>
                </c:pt>
                <c:pt idx="86">
                  <c:v>4.583333333333333</c:v>
                </c:pt>
                <c:pt idx="87">
                  <c:v>4.624999999999997</c:v>
                </c:pt>
                <c:pt idx="88">
                  <c:v>4.666666666666666</c:v>
                </c:pt>
                <c:pt idx="89">
                  <c:v>4.708333333333332</c:v>
                </c:pt>
                <c:pt idx="90">
                  <c:v>4.75</c:v>
                </c:pt>
                <c:pt idx="91">
                  <c:v>4.791666666666666</c:v>
                </c:pt>
                <c:pt idx="92">
                  <c:v>4.833333333333333</c:v>
                </c:pt>
                <c:pt idx="93">
                  <c:v>4.875000000000001</c:v>
                </c:pt>
                <c:pt idx="94">
                  <c:v>4.916666666666667</c:v>
                </c:pt>
                <c:pt idx="95">
                  <c:v>4.958333333333335</c:v>
                </c:pt>
                <c:pt idx="96">
                  <c:v>5.000000000000002</c:v>
                </c:pt>
                <c:pt idx="97">
                  <c:v>5.041666666666668</c:v>
                </c:pt>
                <c:pt idx="98">
                  <c:v>5.083333333333336</c:v>
                </c:pt>
                <c:pt idx="99">
                  <c:v>5.125000000000002</c:v>
                </c:pt>
                <c:pt idx="100">
                  <c:v>5.16666666666667</c:v>
                </c:pt>
                <c:pt idx="101">
                  <c:v>5.208333333333337</c:v>
                </c:pt>
                <c:pt idx="102">
                  <c:v>5.250000000000004</c:v>
                </c:pt>
                <c:pt idx="103">
                  <c:v>5.29166666666667</c:v>
                </c:pt>
                <c:pt idx="104">
                  <c:v>5.333333333333338</c:v>
                </c:pt>
                <c:pt idx="105">
                  <c:v>5.375000000000004</c:v>
                </c:pt>
                <c:pt idx="106">
                  <c:v>5.416666666666671</c:v>
                </c:pt>
                <c:pt idx="107">
                  <c:v>5.45833333333334</c:v>
                </c:pt>
                <c:pt idx="108">
                  <c:v>5.500000000000005</c:v>
                </c:pt>
                <c:pt idx="109">
                  <c:v>5.541666666666672</c:v>
                </c:pt>
                <c:pt idx="110">
                  <c:v>5.58333333333334</c:v>
                </c:pt>
                <c:pt idx="111">
                  <c:v>5.625000000000005</c:v>
                </c:pt>
                <c:pt idx="112">
                  <c:v>5.666666666666672</c:v>
                </c:pt>
                <c:pt idx="113">
                  <c:v>5.70833333333334</c:v>
                </c:pt>
                <c:pt idx="114">
                  <c:v>5.750000000000007</c:v>
                </c:pt>
                <c:pt idx="115">
                  <c:v>5.791666666666674</c:v>
                </c:pt>
                <c:pt idx="116">
                  <c:v>5.83333333333334</c:v>
                </c:pt>
                <c:pt idx="117">
                  <c:v>5.875000000000008</c:v>
                </c:pt>
                <c:pt idx="118">
                  <c:v>5.916666666666674</c:v>
                </c:pt>
                <c:pt idx="119">
                  <c:v>5.958333333333341</c:v>
                </c:pt>
                <c:pt idx="120">
                  <c:v>6.000000000000009</c:v>
                </c:pt>
                <c:pt idx="121">
                  <c:v>6.041666666666675</c:v>
                </c:pt>
                <c:pt idx="122">
                  <c:v>6.083333333333342</c:v>
                </c:pt>
                <c:pt idx="123">
                  <c:v>6.125000000000009</c:v>
                </c:pt>
                <c:pt idx="124">
                  <c:v>6.166666666666677</c:v>
                </c:pt>
                <c:pt idx="125">
                  <c:v>6.208333333333343</c:v>
                </c:pt>
                <c:pt idx="126">
                  <c:v>6.250000000000011</c:v>
                </c:pt>
                <c:pt idx="127">
                  <c:v>6.291666666666677</c:v>
                </c:pt>
                <c:pt idx="128">
                  <c:v>6.333333333333345</c:v>
                </c:pt>
                <c:pt idx="129">
                  <c:v>6.375000000000011</c:v>
                </c:pt>
                <c:pt idx="130">
                  <c:v>6.416666666666678</c:v>
                </c:pt>
                <c:pt idx="131">
                  <c:v>6.458333333333346</c:v>
                </c:pt>
                <c:pt idx="132">
                  <c:v>6.500000000000012</c:v>
                </c:pt>
                <c:pt idx="133">
                  <c:v>6.54166666666668</c:v>
                </c:pt>
                <c:pt idx="134">
                  <c:v>6.583333333333347</c:v>
                </c:pt>
                <c:pt idx="135">
                  <c:v>6.625000000000011</c:v>
                </c:pt>
                <c:pt idx="136">
                  <c:v>6.666666666666679</c:v>
                </c:pt>
                <c:pt idx="137">
                  <c:v>6.708333333333348</c:v>
                </c:pt>
                <c:pt idx="138">
                  <c:v>6.750000000000014</c:v>
                </c:pt>
                <c:pt idx="139">
                  <c:v>6.791666666666681</c:v>
                </c:pt>
                <c:pt idx="140">
                  <c:v>6.833333333333348</c:v>
                </c:pt>
                <c:pt idx="141">
                  <c:v>6.875000000000015</c:v>
                </c:pt>
                <c:pt idx="142">
                  <c:v>6.916666666666682</c:v>
                </c:pt>
                <c:pt idx="143">
                  <c:v>6.958333333333348</c:v>
                </c:pt>
                <c:pt idx="144">
                  <c:v>7.000000000000016</c:v>
                </c:pt>
                <c:pt idx="145">
                  <c:v>7.041666666666683</c:v>
                </c:pt>
                <c:pt idx="146">
                  <c:v>7.08333333333335</c:v>
                </c:pt>
                <c:pt idx="147">
                  <c:v>7.125000000000016</c:v>
                </c:pt>
                <c:pt idx="148">
                  <c:v>7.166666666666684</c:v>
                </c:pt>
                <c:pt idx="149">
                  <c:v>7.20833333333335</c:v>
                </c:pt>
                <c:pt idx="150">
                  <c:v>7.250000000000018</c:v>
                </c:pt>
                <c:pt idx="151">
                  <c:v>7.291666666666684</c:v>
                </c:pt>
                <c:pt idx="152">
                  <c:v>7.333333333333351</c:v>
                </c:pt>
                <c:pt idx="153">
                  <c:v>7.375000000000019</c:v>
                </c:pt>
                <c:pt idx="154">
                  <c:v>7.416666666666685</c:v>
                </c:pt>
                <c:pt idx="155">
                  <c:v>7.458333333333352</c:v>
                </c:pt>
                <c:pt idx="156">
                  <c:v>7.50000000000002</c:v>
                </c:pt>
                <c:pt idx="157">
                  <c:v>7.541666666666686</c:v>
                </c:pt>
                <c:pt idx="158">
                  <c:v>7.583333333333353</c:v>
                </c:pt>
                <c:pt idx="159">
                  <c:v>7.625000000000019</c:v>
                </c:pt>
                <c:pt idx="160">
                  <c:v>7.666666666666686</c:v>
                </c:pt>
                <c:pt idx="161">
                  <c:v>7.708333333333355</c:v>
                </c:pt>
                <c:pt idx="162">
                  <c:v>7.750000000000021</c:v>
                </c:pt>
                <c:pt idx="163">
                  <c:v>7.791666666666688</c:v>
                </c:pt>
                <c:pt idx="164">
                  <c:v>7.833333333333356</c:v>
                </c:pt>
                <c:pt idx="165">
                  <c:v>7.875000000000022</c:v>
                </c:pt>
                <c:pt idx="166">
                  <c:v>7.91666666666669</c:v>
                </c:pt>
                <c:pt idx="167">
                  <c:v>7.958333333333356</c:v>
                </c:pt>
                <c:pt idx="168">
                  <c:v>8.000000000000023</c:v>
                </c:pt>
                <c:pt idx="169">
                  <c:v>8.04166666666669</c:v>
                </c:pt>
                <c:pt idx="170">
                  <c:v>8.083333333333355</c:v>
                </c:pt>
                <c:pt idx="171">
                  <c:v>8.125000000000021</c:v>
                </c:pt>
                <c:pt idx="172">
                  <c:v>8.16666666666669</c:v>
                </c:pt>
                <c:pt idx="173">
                  <c:v>8.208333333333352</c:v>
                </c:pt>
                <c:pt idx="174">
                  <c:v>8.25000000000002</c:v>
                </c:pt>
                <c:pt idx="175">
                  <c:v>8.291666666666685</c:v>
                </c:pt>
                <c:pt idx="176">
                  <c:v>8.333333333333351</c:v>
                </c:pt>
                <c:pt idx="177">
                  <c:v>8.37500000000002</c:v>
                </c:pt>
                <c:pt idx="178">
                  <c:v>8.416666666666685</c:v>
                </c:pt>
                <c:pt idx="179">
                  <c:v>8.45833333333335</c:v>
                </c:pt>
                <c:pt idx="180">
                  <c:v>8.500000000000015</c:v>
                </c:pt>
                <c:pt idx="181">
                  <c:v>8.541666666666682</c:v>
                </c:pt>
                <c:pt idx="182">
                  <c:v>8.58333333333335</c:v>
                </c:pt>
                <c:pt idx="183">
                  <c:v>8.625000000000014</c:v>
                </c:pt>
                <c:pt idx="184">
                  <c:v>8.66666666666668</c:v>
                </c:pt>
                <c:pt idx="185">
                  <c:v>8.708333333333345</c:v>
                </c:pt>
                <c:pt idx="186">
                  <c:v>8.750000000000012</c:v>
                </c:pt>
                <c:pt idx="187">
                  <c:v>8.791666666666678</c:v>
                </c:pt>
                <c:pt idx="188">
                  <c:v>8.833333333333344</c:v>
                </c:pt>
                <c:pt idx="189">
                  <c:v>8.87500000000001</c:v>
                </c:pt>
                <c:pt idx="190">
                  <c:v>8.916666666666676</c:v>
                </c:pt>
                <c:pt idx="191">
                  <c:v>8.958333333333342</c:v>
                </c:pt>
                <c:pt idx="192">
                  <c:v>9.000000000000008</c:v>
                </c:pt>
                <c:pt idx="193">
                  <c:v>9.041666666666675</c:v>
                </c:pt>
                <c:pt idx="194">
                  <c:v>9.08333333333334</c:v>
                </c:pt>
                <c:pt idx="195">
                  <c:v>9.125000000000007</c:v>
                </c:pt>
                <c:pt idx="196">
                  <c:v>9.166666666666674</c:v>
                </c:pt>
                <c:pt idx="197">
                  <c:v>9.208333333333337</c:v>
                </c:pt>
                <c:pt idx="198">
                  <c:v>9.250000000000005</c:v>
                </c:pt>
                <c:pt idx="199">
                  <c:v>9.291666666666671</c:v>
                </c:pt>
                <c:pt idx="200">
                  <c:v>9.333333333333337</c:v>
                </c:pt>
                <c:pt idx="201">
                  <c:v>9.375000000000005</c:v>
                </c:pt>
                <c:pt idx="202">
                  <c:v>9.41666666666667</c:v>
                </c:pt>
                <c:pt idx="203">
                  <c:v>9.458333333333335</c:v>
                </c:pt>
                <c:pt idx="204">
                  <c:v>9.500000000000001</c:v>
                </c:pt>
                <c:pt idx="205">
                  <c:v>9.541666666666667</c:v>
                </c:pt>
                <c:pt idx="206">
                  <c:v>9.583333333333333</c:v>
                </c:pt>
                <c:pt idx="207">
                  <c:v>9.625</c:v>
                </c:pt>
                <c:pt idx="208">
                  <c:v>9.666666666666667</c:v>
                </c:pt>
                <c:pt idx="209">
                  <c:v>9.70833333333333</c:v>
                </c:pt>
                <c:pt idx="210">
                  <c:v>9.75</c:v>
                </c:pt>
                <c:pt idx="211">
                  <c:v>9.791666666666664</c:v>
                </c:pt>
                <c:pt idx="212">
                  <c:v>9.83333333333333</c:v>
                </c:pt>
                <c:pt idx="213">
                  <c:v>9.874999999999998</c:v>
                </c:pt>
                <c:pt idx="214">
                  <c:v>9.91666666666666</c:v>
                </c:pt>
                <c:pt idx="215">
                  <c:v>9.958333333333328</c:v>
                </c:pt>
                <c:pt idx="216">
                  <c:v>9.999999999999996</c:v>
                </c:pt>
                <c:pt idx="217">
                  <c:v>10.04166666666666</c:v>
                </c:pt>
                <c:pt idx="218">
                  <c:v>10.08333333333333</c:v>
                </c:pt>
                <c:pt idx="219">
                  <c:v>10.125</c:v>
                </c:pt>
                <c:pt idx="220">
                  <c:v>10.16666666666666</c:v>
                </c:pt>
                <c:pt idx="221">
                  <c:v>10.20833333333333</c:v>
                </c:pt>
                <c:pt idx="222">
                  <c:v>10.25</c:v>
                </c:pt>
                <c:pt idx="223">
                  <c:v>10.29166666666666</c:v>
                </c:pt>
                <c:pt idx="224">
                  <c:v>10.33333333333332</c:v>
                </c:pt>
                <c:pt idx="225">
                  <c:v>10.375</c:v>
                </c:pt>
                <c:pt idx="226">
                  <c:v>10.41666666666666</c:v>
                </c:pt>
                <c:pt idx="227">
                  <c:v>10.45833333333332</c:v>
                </c:pt>
                <c:pt idx="228">
                  <c:v>10.5</c:v>
                </c:pt>
                <c:pt idx="229">
                  <c:v>10.54166666666665</c:v>
                </c:pt>
                <c:pt idx="230">
                  <c:v>10.58333333333332</c:v>
                </c:pt>
                <c:pt idx="231">
                  <c:v>10.625</c:v>
                </c:pt>
                <c:pt idx="232">
                  <c:v>10.66666666666665</c:v>
                </c:pt>
                <c:pt idx="233">
                  <c:v>10.70833333333332</c:v>
                </c:pt>
                <c:pt idx="234">
                  <c:v>10.74999999999998</c:v>
                </c:pt>
                <c:pt idx="235">
                  <c:v>10.79166666666665</c:v>
                </c:pt>
                <c:pt idx="236">
                  <c:v>10.83333333333332</c:v>
                </c:pt>
                <c:pt idx="237">
                  <c:v>10.87499999999998</c:v>
                </c:pt>
                <c:pt idx="238">
                  <c:v>10.91666666666665</c:v>
                </c:pt>
                <c:pt idx="239">
                  <c:v>10.95833333333331</c:v>
                </c:pt>
                <c:pt idx="240">
                  <c:v>10.99999999999998</c:v>
                </c:pt>
                <c:pt idx="241">
                  <c:v>11.04166666666665</c:v>
                </c:pt>
                <c:pt idx="242">
                  <c:v>11.08333333333331</c:v>
                </c:pt>
                <c:pt idx="243">
                  <c:v>11.12499999999998</c:v>
                </c:pt>
                <c:pt idx="244">
                  <c:v>11.16666666666664</c:v>
                </c:pt>
                <c:pt idx="245">
                  <c:v>11.20833333333331</c:v>
                </c:pt>
                <c:pt idx="246">
                  <c:v>11.24999999999998</c:v>
                </c:pt>
                <c:pt idx="247">
                  <c:v>11.29166666666664</c:v>
                </c:pt>
                <c:pt idx="248">
                  <c:v>11.33333333333331</c:v>
                </c:pt>
                <c:pt idx="249">
                  <c:v>11.37499999999998</c:v>
                </c:pt>
                <c:pt idx="250">
                  <c:v>11.41666666666664</c:v>
                </c:pt>
                <c:pt idx="251">
                  <c:v>11.45833333333331</c:v>
                </c:pt>
                <c:pt idx="252">
                  <c:v>11.49999999999997</c:v>
                </c:pt>
                <c:pt idx="253">
                  <c:v>11.54166666666664</c:v>
                </c:pt>
                <c:pt idx="254">
                  <c:v>11.58333333333331</c:v>
                </c:pt>
                <c:pt idx="255">
                  <c:v>11.62499999999997</c:v>
                </c:pt>
                <c:pt idx="256">
                  <c:v>11.66666666666664</c:v>
                </c:pt>
                <c:pt idx="257">
                  <c:v>11.7083333333333</c:v>
                </c:pt>
                <c:pt idx="258">
                  <c:v>11.74999999999997</c:v>
                </c:pt>
                <c:pt idx="259">
                  <c:v>11.79166666666664</c:v>
                </c:pt>
                <c:pt idx="260">
                  <c:v>11.8333333333333</c:v>
                </c:pt>
                <c:pt idx="261">
                  <c:v>11.87499999999997</c:v>
                </c:pt>
                <c:pt idx="262">
                  <c:v>11.91666666666663</c:v>
                </c:pt>
                <c:pt idx="263">
                  <c:v>11.9583333333333</c:v>
                </c:pt>
                <c:pt idx="264">
                  <c:v>11.99999999999997</c:v>
                </c:pt>
                <c:pt idx="265">
                  <c:v>12.04166666666663</c:v>
                </c:pt>
                <c:pt idx="266">
                  <c:v>12.0833333333333</c:v>
                </c:pt>
                <c:pt idx="267">
                  <c:v>12.12499999999996</c:v>
                </c:pt>
                <c:pt idx="268">
                  <c:v>12.16666666666663</c:v>
                </c:pt>
                <c:pt idx="269">
                  <c:v>12.2083333333333</c:v>
                </c:pt>
                <c:pt idx="270">
                  <c:v>12.24999999999996</c:v>
                </c:pt>
                <c:pt idx="271">
                  <c:v>12.29166666666663</c:v>
                </c:pt>
                <c:pt idx="272">
                  <c:v>12.3333333333333</c:v>
                </c:pt>
                <c:pt idx="273">
                  <c:v>12.37499999999996</c:v>
                </c:pt>
                <c:pt idx="274">
                  <c:v>12.41666666666663</c:v>
                </c:pt>
                <c:pt idx="275">
                  <c:v>12.4583333333333</c:v>
                </c:pt>
                <c:pt idx="276">
                  <c:v>12.49999999999996</c:v>
                </c:pt>
                <c:pt idx="277">
                  <c:v>12.54166666666663</c:v>
                </c:pt>
                <c:pt idx="278">
                  <c:v>12.5833333333333</c:v>
                </c:pt>
                <c:pt idx="279">
                  <c:v>12.62499999999996</c:v>
                </c:pt>
                <c:pt idx="280">
                  <c:v>12.66666666666662</c:v>
                </c:pt>
                <c:pt idx="281">
                  <c:v>12.70833333333329</c:v>
                </c:pt>
                <c:pt idx="282">
                  <c:v>12.74999999999996</c:v>
                </c:pt>
                <c:pt idx="283">
                  <c:v>12.79166666666662</c:v>
                </c:pt>
                <c:pt idx="284">
                  <c:v>12.8333333333333</c:v>
                </c:pt>
                <c:pt idx="285">
                  <c:v>12.87499999999995</c:v>
                </c:pt>
                <c:pt idx="286">
                  <c:v>12.91666666666662</c:v>
                </c:pt>
                <c:pt idx="287">
                  <c:v>12.9583333333333</c:v>
                </c:pt>
                <c:pt idx="288">
                  <c:v>12.99999999999995</c:v>
                </c:pt>
                <c:pt idx="289">
                  <c:v>13.04166666666662</c:v>
                </c:pt>
                <c:pt idx="290">
                  <c:v>13.08333333333328</c:v>
                </c:pt>
                <c:pt idx="291">
                  <c:v>13.12499999999995</c:v>
                </c:pt>
                <c:pt idx="292">
                  <c:v>13.16666666666662</c:v>
                </c:pt>
                <c:pt idx="293">
                  <c:v>13.20833333333328</c:v>
                </c:pt>
                <c:pt idx="294">
                  <c:v>13.24999999999995</c:v>
                </c:pt>
                <c:pt idx="295">
                  <c:v>13.29166666666661</c:v>
                </c:pt>
                <c:pt idx="296">
                  <c:v>13.33333333333328</c:v>
                </c:pt>
                <c:pt idx="297">
                  <c:v>13.37499999999995</c:v>
                </c:pt>
                <c:pt idx="298">
                  <c:v>13.41666666666661</c:v>
                </c:pt>
                <c:pt idx="299">
                  <c:v>13.45833333333328</c:v>
                </c:pt>
                <c:pt idx="300">
                  <c:v>13.49999999999994</c:v>
                </c:pt>
                <c:pt idx="301">
                  <c:v>13.54166666666661</c:v>
                </c:pt>
                <c:pt idx="302">
                  <c:v>13.58333333333328</c:v>
                </c:pt>
                <c:pt idx="303">
                  <c:v>13.62499999999994</c:v>
                </c:pt>
                <c:pt idx="304">
                  <c:v>13.66666666666661</c:v>
                </c:pt>
                <c:pt idx="305">
                  <c:v>13.70833333333328</c:v>
                </c:pt>
                <c:pt idx="306">
                  <c:v>13.74999999999994</c:v>
                </c:pt>
                <c:pt idx="307">
                  <c:v>13.79166666666661</c:v>
                </c:pt>
                <c:pt idx="308">
                  <c:v>13.83333333333327</c:v>
                </c:pt>
                <c:pt idx="309">
                  <c:v>13.87499999999994</c:v>
                </c:pt>
                <c:pt idx="310">
                  <c:v>13.91666666666661</c:v>
                </c:pt>
                <c:pt idx="311">
                  <c:v>13.95833333333327</c:v>
                </c:pt>
                <c:pt idx="312">
                  <c:v>13.99999999999994</c:v>
                </c:pt>
                <c:pt idx="313">
                  <c:v>14.0416666666666</c:v>
                </c:pt>
                <c:pt idx="314">
                  <c:v>14.08333333333327</c:v>
                </c:pt>
                <c:pt idx="315">
                  <c:v>14.12499999999994</c:v>
                </c:pt>
                <c:pt idx="316">
                  <c:v>14.1666666666666</c:v>
                </c:pt>
                <c:pt idx="317">
                  <c:v>14.20833333333327</c:v>
                </c:pt>
                <c:pt idx="318">
                  <c:v>14.24999999999993</c:v>
                </c:pt>
                <c:pt idx="319">
                  <c:v>14.2916666666666</c:v>
                </c:pt>
                <c:pt idx="320">
                  <c:v>14.33333333333327</c:v>
                </c:pt>
                <c:pt idx="321">
                  <c:v>14.37499999999993</c:v>
                </c:pt>
                <c:pt idx="322">
                  <c:v>14.4166666666666</c:v>
                </c:pt>
                <c:pt idx="323">
                  <c:v>14.45833333333326</c:v>
                </c:pt>
                <c:pt idx="324">
                  <c:v>14.49999999999993</c:v>
                </c:pt>
                <c:pt idx="325">
                  <c:v>14.5416666666666</c:v>
                </c:pt>
                <c:pt idx="326">
                  <c:v>14.58333333333326</c:v>
                </c:pt>
                <c:pt idx="327">
                  <c:v>14.62499999999993</c:v>
                </c:pt>
                <c:pt idx="328">
                  <c:v>14.6666666666666</c:v>
                </c:pt>
                <c:pt idx="329">
                  <c:v>14.70833333333326</c:v>
                </c:pt>
                <c:pt idx="330">
                  <c:v>14.74999999999993</c:v>
                </c:pt>
                <c:pt idx="331">
                  <c:v>14.79166666666659</c:v>
                </c:pt>
                <c:pt idx="332">
                  <c:v>14.83333333333326</c:v>
                </c:pt>
                <c:pt idx="333">
                  <c:v>14.87499999999993</c:v>
                </c:pt>
                <c:pt idx="334">
                  <c:v>14.9166666666666</c:v>
                </c:pt>
                <c:pt idx="335">
                  <c:v>14.95833333333326</c:v>
                </c:pt>
                <c:pt idx="336">
                  <c:v>14.99999999999992</c:v>
                </c:pt>
                <c:pt idx="337">
                  <c:v>15.04166666666659</c:v>
                </c:pt>
                <c:pt idx="338">
                  <c:v>15.08333333333326</c:v>
                </c:pt>
                <c:pt idx="339">
                  <c:v>15.12499999999992</c:v>
                </c:pt>
                <c:pt idx="340">
                  <c:v>15.1666666666666</c:v>
                </c:pt>
                <c:pt idx="341">
                  <c:v>15.20833333333325</c:v>
                </c:pt>
                <c:pt idx="342">
                  <c:v>15.24999999999992</c:v>
                </c:pt>
                <c:pt idx="343">
                  <c:v>15.29166666666659</c:v>
                </c:pt>
                <c:pt idx="344">
                  <c:v>15.33333333333325</c:v>
                </c:pt>
                <c:pt idx="345">
                  <c:v>15.37499999999992</c:v>
                </c:pt>
                <c:pt idx="346">
                  <c:v>15.41666666666658</c:v>
                </c:pt>
                <c:pt idx="347">
                  <c:v>15.45833333333325</c:v>
                </c:pt>
                <c:pt idx="348">
                  <c:v>15.49999999999992</c:v>
                </c:pt>
                <c:pt idx="349">
                  <c:v>15.54166666666658</c:v>
                </c:pt>
                <c:pt idx="350">
                  <c:v>15.58333333333325</c:v>
                </c:pt>
                <c:pt idx="351">
                  <c:v>15.62499999999991</c:v>
                </c:pt>
                <c:pt idx="352">
                  <c:v>15.66666666666658</c:v>
                </c:pt>
                <c:pt idx="353">
                  <c:v>15.70833333333325</c:v>
                </c:pt>
                <c:pt idx="354">
                  <c:v>15.74999999999991</c:v>
                </c:pt>
                <c:pt idx="355">
                  <c:v>15.79166666666658</c:v>
                </c:pt>
                <c:pt idx="356">
                  <c:v>15.83333333333325</c:v>
                </c:pt>
                <c:pt idx="357">
                  <c:v>15.87499999999991</c:v>
                </c:pt>
                <c:pt idx="358">
                  <c:v>15.91666666666658</c:v>
                </c:pt>
                <c:pt idx="359">
                  <c:v>15.95833333333324</c:v>
                </c:pt>
                <c:pt idx="360">
                  <c:v>15.99999999999991</c:v>
                </c:pt>
                <c:pt idx="361">
                  <c:v>16.04166666666658</c:v>
                </c:pt>
                <c:pt idx="362">
                  <c:v>16.08333333333323</c:v>
                </c:pt>
                <c:pt idx="363">
                  <c:v>16.12499999999991</c:v>
                </c:pt>
                <c:pt idx="364">
                  <c:v>16.16666666666658</c:v>
                </c:pt>
                <c:pt idx="365">
                  <c:v>16.20833333333324</c:v>
                </c:pt>
                <c:pt idx="366">
                  <c:v>16.24999999999991</c:v>
                </c:pt>
                <c:pt idx="367">
                  <c:v>16.29166666666658</c:v>
                </c:pt>
                <c:pt idx="368">
                  <c:v>16.33333333333324</c:v>
                </c:pt>
                <c:pt idx="369">
                  <c:v>16.37499999999992</c:v>
                </c:pt>
                <c:pt idx="370">
                  <c:v>16.41666666666659</c:v>
                </c:pt>
                <c:pt idx="371">
                  <c:v>16.45833333333324</c:v>
                </c:pt>
                <c:pt idx="372">
                  <c:v>16.49999999999992</c:v>
                </c:pt>
                <c:pt idx="373">
                  <c:v>16.54166666666659</c:v>
                </c:pt>
                <c:pt idx="374">
                  <c:v>16.58333333333325</c:v>
                </c:pt>
                <c:pt idx="375">
                  <c:v>16.62499999999993</c:v>
                </c:pt>
                <c:pt idx="376">
                  <c:v>16.66666666666659</c:v>
                </c:pt>
                <c:pt idx="377">
                  <c:v>16.70833333333325</c:v>
                </c:pt>
                <c:pt idx="378">
                  <c:v>16.74999999999993</c:v>
                </c:pt>
                <c:pt idx="379">
                  <c:v>16.7916666666666</c:v>
                </c:pt>
                <c:pt idx="380">
                  <c:v>16.83333333333325</c:v>
                </c:pt>
                <c:pt idx="381">
                  <c:v>16.87499999999993</c:v>
                </c:pt>
                <c:pt idx="382">
                  <c:v>16.9166666666666</c:v>
                </c:pt>
                <c:pt idx="383">
                  <c:v>16.95833333333326</c:v>
                </c:pt>
                <c:pt idx="384">
                  <c:v>16.99999999999994</c:v>
                </c:pt>
                <c:pt idx="385">
                  <c:v>17.0416666666666</c:v>
                </c:pt>
                <c:pt idx="386">
                  <c:v>17.08333333333326</c:v>
                </c:pt>
                <c:pt idx="387">
                  <c:v>17.12499999999994</c:v>
                </c:pt>
                <c:pt idx="388">
                  <c:v>17.16666666666661</c:v>
                </c:pt>
                <c:pt idx="389">
                  <c:v>17.20833333333327</c:v>
                </c:pt>
                <c:pt idx="390">
                  <c:v>17.24999999999994</c:v>
                </c:pt>
                <c:pt idx="391">
                  <c:v>17.29166666666661</c:v>
                </c:pt>
                <c:pt idx="392">
                  <c:v>17.33333333333328</c:v>
                </c:pt>
                <c:pt idx="393">
                  <c:v>17.37499999999995</c:v>
                </c:pt>
                <c:pt idx="394">
                  <c:v>17.41666666666661</c:v>
                </c:pt>
                <c:pt idx="395">
                  <c:v>17.45833333333327</c:v>
                </c:pt>
                <c:pt idx="396">
                  <c:v>17.49999999999995</c:v>
                </c:pt>
                <c:pt idx="397">
                  <c:v>17.54166666666662</c:v>
                </c:pt>
                <c:pt idx="398">
                  <c:v>17.58333333333328</c:v>
                </c:pt>
                <c:pt idx="399">
                  <c:v>17.62499999999995</c:v>
                </c:pt>
                <c:pt idx="400">
                  <c:v>17.66666666666662</c:v>
                </c:pt>
                <c:pt idx="401">
                  <c:v>17.70833333333328</c:v>
                </c:pt>
                <c:pt idx="402">
                  <c:v>17.74999999999996</c:v>
                </c:pt>
                <c:pt idx="403">
                  <c:v>17.79166666666663</c:v>
                </c:pt>
                <c:pt idx="404">
                  <c:v>17.83333333333328</c:v>
                </c:pt>
                <c:pt idx="405">
                  <c:v>17.87499999999996</c:v>
                </c:pt>
                <c:pt idx="406">
                  <c:v>17.91666666666663</c:v>
                </c:pt>
                <c:pt idx="407">
                  <c:v>17.95833333333329</c:v>
                </c:pt>
                <c:pt idx="408">
                  <c:v>17.99999999999996</c:v>
                </c:pt>
                <c:pt idx="409">
                  <c:v>18.04166666666663</c:v>
                </c:pt>
                <c:pt idx="410">
                  <c:v>18.08333333333329</c:v>
                </c:pt>
                <c:pt idx="411">
                  <c:v>18.12499999999997</c:v>
                </c:pt>
                <c:pt idx="412">
                  <c:v>18.16666666666664</c:v>
                </c:pt>
                <c:pt idx="413">
                  <c:v>18.20833333333329</c:v>
                </c:pt>
                <c:pt idx="414">
                  <c:v>18.24999999999997</c:v>
                </c:pt>
                <c:pt idx="415">
                  <c:v>18.29166666666664</c:v>
                </c:pt>
                <c:pt idx="416">
                  <c:v>18.3333333333333</c:v>
                </c:pt>
                <c:pt idx="417">
                  <c:v>18.37499999999998</c:v>
                </c:pt>
                <c:pt idx="418">
                  <c:v>18.41666666666664</c:v>
                </c:pt>
                <c:pt idx="419">
                  <c:v>18.4583333333333</c:v>
                </c:pt>
                <c:pt idx="420">
                  <c:v>18.49999999999998</c:v>
                </c:pt>
                <c:pt idx="421">
                  <c:v>18.54166666666665</c:v>
                </c:pt>
                <c:pt idx="422">
                  <c:v>18.5833333333333</c:v>
                </c:pt>
                <c:pt idx="423">
                  <c:v>18.62499999999998</c:v>
                </c:pt>
                <c:pt idx="424">
                  <c:v>18.66666666666665</c:v>
                </c:pt>
                <c:pt idx="425">
                  <c:v>18.70833333333331</c:v>
                </c:pt>
                <c:pt idx="426">
                  <c:v>18.74999999999999</c:v>
                </c:pt>
                <c:pt idx="427">
                  <c:v>18.79166666666665</c:v>
                </c:pt>
                <c:pt idx="428">
                  <c:v>18.83333333333331</c:v>
                </c:pt>
                <c:pt idx="429">
                  <c:v>18.87499999999999</c:v>
                </c:pt>
                <c:pt idx="430">
                  <c:v>18.91666666666666</c:v>
                </c:pt>
                <c:pt idx="431">
                  <c:v>18.95833333333332</c:v>
                </c:pt>
                <c:pt idx="432">
                  <c:v>18.99999999999999</c:v>
                </c:pt>
                <c:pt idx="433">
                  <c:v>19.04166666666666</c:v>
                </c:pt>
                <c:pt idx="434">
                  <c:v>19.08333333333332</c:v>
                </c:pt>
                <c:pt idx="435">
                  <c:v>19.125</c:v>
                </c:pt>
                <c:pt idx="436">
                  <c:v>19.16666666666666</c:v>
                </c:pt>
                <c:pt idx="437">
                  <c:v>19.20833333333332</c:v>
                </c:pt>
                <c:pt idx="438">
                  <c:v>19.25</c:v>
                </c:pt>
                <c:pt idx="439">
                  <c:v>19.29166666666667</c:v>
                </c:pt>
                <c:pt idx="440">
                  <c:v>19.33333333333333</c:v>
                </c:pt>
                <c:pt idx="441">
                  <c:v>19.375</c:v>
                </c:pt>
                <c:pt idx="442">
                  <c:v>19.41666666666667</c:v>
                </c:pt>
                <c:pt idx="443">
                  <c:v>19.45833333333333</c:v>
                </c:pt>
                <c:pt idx="444">
                  <c:v>19.50000000000001</c:v>
                </c:pt>
                <c:pt idx="445">
                  <c:v>19.54166666666667</c:v>
                </c:pt>
                <c:pt idx="446">
                  <c:v>19.58333333333333</c:v>
                </c:pt>
                <c:pt idx="447">
                  <c:v>19.62500000000001</c:v>
                </c:pt>
                <c:pt idx="448">
                  <c:v>19.66666666666668</c:v>
                </c:pt>
                <c:pt idx="449">
                  <c:v>19.70833333333334</c:v>
                </c:pt>
                <c:pt idx="450">
                  <c:v>19.75000000000001</c:v>
                </c:pt>
                <c:pt idx="451">
                  <c:v>19.79166666666668</c:v>
                </c:pt>
                <c:pt idx="452">
                  <c:v>19.83333333333334</c:v>
                </c:pt>
                <c:pt idx="453">
                  <c:v>19.87500000000002</c:v>
                </c:pt>
                <c:pt idx="454">
                  <c:v>19.91666666666669</c:v>
                </c:pt>
                <c:pt idx="455">
                  <c:v>19.95833333333334</c:v>
                </c:pt>
                <c:pt idx="456">
                  <c:v>20.00000000000002</c:v>
                </c:pt>
                <c:pt idx="457">
                  <c:v>20.04166666666669</c:v>
                </c:pt>
                <c:pt idx="458">
                  <c:v>20.08333333333335</c:v>
                </c:pt>
                <c:pt idx="459">
                  <c:v>20.12500000000002</c:v>
                </c:pt>
                <c:pt idx="460">
                  <c:v>20.16666666666669</c:v>
                </c:pt>
                <c:pt idx="461">
                  <c:v>20.20833333333335</c:v>
                </c:pt>
                <c:pt idx="462">
                  <c:v>20.25000000000003</c:v>
                </c:pt>
                <c:pt idx="463">
                  <c:v>20.2916666666667</c:v>
                </c:pt>
                <c:pt idx="464">
                  <c:v>20.33333333333335</c:v>
                </c:pt>
                <c:pt idx="465">
                  <c:v>20.37500000000003</c:v>
                </c:pt>
                <c:pt idx="466">
                  <c:v>20.4166666666667</c:v>
                </c:pt>
                <c:pt idx="467">
                  <c:v>20.45833333333336</c:v>
                </c:pt>
                <c:pt idx="468">
                  <c:v>20.50000000000004</c:v>
                </c:pt>
                <c:pt idx="469">
                  <c:v>20.5416666666667</c:v>
                </c:pt>
                <c:pt idx="470">
                  <c:v>20.58333333333336</c:v>
                </c:pt>
                <c:pt idx="471">
                  <c:v>20.62500000000004</c:v>
                </c:pt>
                <c:pt idx="472">
                  <c:v>20.66666666666671</c:v>
                </c:pt>
                <c:pt idx="473">
                  <c:v>20.70833333333336</c:v>
                </c:pt>
                <c:pt idx="474">
                  <c:v>20.75000000000004</c:v>
                </c:pt>
                <c:pt idx="475">
                  <c:v>20.79166666666671</c:v>
                </c:pt>
                <c:pt idx="476">
                  <c:v>20.83333333333337</c:v>
                </c:pt>
                <c:pt idx="477">
                  <c:v>20.87500000000005</c:v>
                </c:pt>
                <c:pt idx="478">
                  <c:v>20.91666666666671</c:v>
                </c:pt>
                <c:pt idx="479">
                  <c:v>20.95833333333337</c:v>
                </c:pt>
                <c:pt idx="480">
                  <c:v>21.00000000000005</c:v>
                </c:pt>
                <c:pt idx="481">
                  <c:v>21.04166666666672</c:v>
                </c:pt>
                <c:pt idx="482">
                  <c:v>21.08333333333338</c:v>
                </c:pt>
                <c:pt idx="483">
                  <c:v>21.12500000000005</c:v>
                </c:pt>
                <c:pt idx="484">
                  <c:v>21.16666666666672</c:v>
                </c:pt>
                <c:pt idx="485">
                  <c:v>21.20833333333338</c:v>
                </c:pt>
                <c:pt idx="486">
                  <c:v>21.25000000000006</c:v>
                </c:pt>
                <c:pt idx="487">
                  <c:v>21.29166666666672</c:v>
                </c:pt>
                <c:pt idx="488">
                  <c:v>21.33333333333338</c:v>
                </c:pt>
                <c:pt idx="489">
                  <c:v>21.37500000000006</c:v>
                </c:pt>
                <c:pt idx="490">
                  <c:v>21.41666666666673</c:v>
                </c:pt>
                <c:pt idx="491">
                  <c:v>21.45833333333339</c:v>
                </c:pt>
                <c:pt idx="492">
                  <c:v>21.50000000000006</c:v>
                </c:pt>
                <c:pt idx="493">
                  <c:v>21.54166666666673</c:v>
                </c:pt>
                <c:pt idx="494">
                  <c:v>21.58333333333339</c:v>
                </c:pt>
                <c:pt idx="495">
                  <c:v>21.62500000000007</c:v>
                </c:pt>
                <c:pt idx="496">
                  <c:v>21.66666666666674</c:v>
                </c:pt>
                <c:pt idx="497">
                  <c:v>21.70833333333339</c:v>
                </c:pt>
                <c:pt idx="498">
                  <c:v>21.75000000000007</c:v>
                </c:pt>
                <c:pt idx="499">
                  <c:v>21.79166666666674</c:v>
                </c:pt>
                <c:pt idx="500">
                  <c:v>21.83333333333341</c:v>
                </c:pt>
                <c:pt idx="501">
                  <c:v>21.87500000000007</c:v>
                </c:pt>
                <c:pt idx="502">
                  <c:v>21.91666666666674</c:v>
                </c:pt>
                <c:pt idx="503">
                  <c:v>21.9583333333334</c:v>
                </c:pt>
                <c:pt idx="504">
                  <c:v>22.00000000000008</c:v>
                </c:pt>
                <c:pt idx="505">
                  <c:v>22.04166666666675</c:v>
                </c:pt>
                <c:pt idx="506">
                  <c:v>22.0833333333334</c:v>
                </c:pt>
                <c:pt idx="507">
                  <c:v>22.12500000000008</c:v>
                </c:pt>
                <c:pt idx="508">
                  <c:v>22.16666666666675</c:v>
                </c:pt>
                <c:pt idx="509">
                  <c:v>22.20833333333341</c:v>
                </c:pt>
                <c:pt idx="510">
                  <c:v>22.25000000000009</c:v>
                </c:pt>
                <c:pt idx="511">
                  <c:v>22.29166666666675</c:v>
                </c:pt>
                <c:pt idx="512">
                  <c:v>22.33333333333342</c:v>
                </c:pt>
                <c:pt idx="513">
                  <c:v>22.37500000000009</c:v>
                </c:pt>
                <c:pt idx="514">
                  <c:v>22.41666666666676</c:v>
                </c:pt>
                <c:pt idx="515">
                  <c:v>22.45833333333341</c:v>
                </c:pt>
                <c:pt idx="516">
                  <c:v>22.50000000000009</c:v>
                </c:pt>
                <c:pt idx="517">
                  <c:v>22.54166666666676</c:v>
                </c:pt>
                <c:pt idx="518">
                  <c:v>22.58333333333342</c:v>
                </c:pt>
                <c:pt idx="519">
                  <c:v>22.6250000000001</c:v>
                </c:pt>
                <c:pt idx="520">
                  <c:v>22.66666666666676</c:v>
                </c:pt>
                <c:pt idx="521">
                  <c:v>22.70833333333342</c:v>
                </c:pt>
                <c:pt idx="522">
                  <c:v>22.7500000000001</c:v>
                </c:pt>
                <c:pt idx="523">
                  <c:v>22.79166666666677</c:v>
                </c:pt>
                <c:pt idx="524">
                  <c:v>22.83333333333344</c:v>
                </c:pt>
                <c:pt idx="525">
                  <c:v>22.8750000000001</c:v>
                </c:pt>
                <c:pt idx="526">
                  <c:v>22.91666666666677</c:v>
                </c:pt>
                <c:pt idx="527">
                  <c:v>22.95833333333343</c:v>
                </c:pt>
                <c:pt idx="528">
                  <c:v>23.00000000000011</c:v>
                </c:pt>
                <c:pt idx="529">
                  <c:v>23.04166666666677</c:v>
                </c:pt>
                <c:pt idx="530">
                  <c:v>23.08333333333343</c:v>
                </c:pt>
                <c:pt idx="531">
                  <c:v>23.12500000000011</c:v>
                </c:pt>
                <c:pt idx="532">
                  <c:v>23.16666666666678</c:v>
                </c:pt>
                <c:pt idx="533">
                  <c:v>23.20833333333344</c:v>
                </c:pt>
                <c:pt idx="534">
                  <c:v>23.25000000000011</c:v>
                </c:pt>
                <c:pt idx="535">
                  <c:v>23.29166666666678</c:v>
                </c:pt>
                <c:pt idx="536">
                  <c:v>23.33333333333345</c:v>
                </c:pt>
                <c:pt idx="537">
                  <c:v>23.37500000000012</c:v>
                </c:pt>
                <c:pt idx="538">
                  <c:v>23.41666666666679</c:v>
                </c:pt>
                <c:pt idx="539">
                  <c:v>23.45833333333344</c:v>
                </c:pt>
                <c:pt idx="540">
                  <c:v>23.50000000000012</c:v>
                </c:pt>
                <c:pt idx="541">
                  <c:v>23.54166666666679</c:v>
                </c:pt>
                <c:pt idx="542">
                  <c:v>23.58333333333345</c:v>
                </c:pt>
                <c:pt idx="543">
                  <c:v>23.62500000000012</c:v>
                </c:pt>
                <c:pt idx="544">
                  <c:v>23.66666666666679</c:v>
                </c:pt>
                <c:pt idx="545">
                  <c:v>23.70833333333345</c:v>
                </c:pt>
                <c:pt idx="546">
                  <c:v>23.75000000000013</c:v>
                </c:pt>
                <c:pt idx="547">
                  <c:v>23.7916666666668</c:v>
                </c:pt>
                <c:pt idx="548">
                  <c:v>23.83333333333346</c:v>
                </c:pt>
                <c:pt idx="549">
                  <c:v>23.87500000000013</c:v>
                </c:pt>
                <c:pt idx="550">
                  <c:v>23.9166666666668</c:v>
                </c:pt>
                <c:pt idx="551">
                  <c:v>23.95833333333346</c:v>
                </c:pt>
                <c:pt idx="552">
                  <c:v>24.00000000000014</c:v>
                </c:pt>
                <c:pt idx="553">
                  <c:v>24.0416666666668</c:v>
                </c:pt>
                <c:pt idx="554">
                  <c:v>24.08333333333346</c:v>
                </c:pt>
                <c:pt idx="555">
                  <c:v>24.12500000000014</c:v>
                </c:pt>
                <c:pt idx="556">
                  <c:v>24.16666666666681</c:v>
                </c:pt>
                <c:pt idx="557">
                  <c:v>24.20833333333346</c:v>
                </c:pt>
                <c:pt idx="558">
                  <c:v>24.25000000000014</c:v>
                </c:pt>
                <c:pt idx="559">
                  <c:v>24.29166666666681</c:v>
                </c:pt>
                <c:pt idx="560">
                  <c:v>24.33333333333348</c:v>
                </c:pt>
                <c:pt idx="561">
                  <c:v>24.37500000000015</c:v>
                </c:pt>
                <c:pt idx="562">
                  <c:v>24.41666666666681</c:v>
                </c:pt>
                <c:pt idx="563">
                  <c:v>24.45833333333347</c:v>
                </c:pt>
                <c:pt idx="564">
                  <c:v>24.50000000000015</c:v>
                </c:pt>
                <c:pt idx="565">
                  <c:v>24.54166666666682</c:v>
                </c:pt>
                <c:pt idx="566">
                  <c:v>24.58333333333347</c:v>
                </c:pt>
                <c:pt idx="567">
                  <c:v>24.62500000000015</c:v>
                </c:pt>
                <c:pt idx="568">
                  <c:v>24.66666666666682</c:v>
                </c:pt>
                <c:pt idx="569">
                  <c:v>24.70833333333348</c:v>
                </c:pt>
                <c:pt idx="570">
                  <c:v>24.75000000000016</c:v>
                </c:pt>
                <c:pt idx="571">
                  <c:v>24.79166666666682</c:v>
                </c:pt>
                <c:pt idx="572">
                  <c:v>24.83333333333348</c:v>
                </c:pt>
                <c:pt idx="573">
                  <c:v>24.87500000000016</c:v>
                </c:pt>
                <c:pt idx="574">
                  <c:v>24.91666666666683</c:v>
                </c:pt>
                <c:pt idx="575">
                  <c:v>24.95833333333349</c:v>
                </c:pt>
                <c:pt idx="576">
                  <c:v>25.00000000000016</c:v>
                </c:pt>
                <c:pt idx="577">
                  <c:v>25.04166666666683</c:v>
                </c:pt>
                <c:pt idx="578">
                  <c:v>25.08333333333349</c:v>
                </c:pt>
                <c:pt idx="579">
                  <c:v>25.12500000000017</c:v>
                </c:pt>
                <c:pt idx="580">
                  <c:v>25.16666666666683</c:v>
                </c:pt>
                <c:pt idx="581">
                  <c:v>25.20833333333349</c:v>
                </c:pt>
                <c:pt idx="582">
                  <c:v>25.25000000000017</c:v>
                </c:pt>
                <c:pt idx="583">
                  <c:v>25.29166666666684</c:v>
                </c:pt>
                <c:pt idx="584">
                  <c:v>25.33333333333351</c:v>
                </c:pt>
                <c:pt idx="585">
                  <c:v>25.37500000000017</c:v>
                </c:pt>
                <c:pt idx="586">
                  <c:v>25.41666666666684</c:v>
                </c:pt>
                <c:pt idx="587">
                  <c:v>25.4583333333335</c:v>
                </c:pt>
                <c:pt idx="588">
                  <c:v>25.50000000000018</c:v>
                </c:pt>
                <c:pt idx="589">
                  <c:v>25.54166666666685</c:v>
                </c:pt>
                <c:pt idx="590">
                  <c:v>25.5833333333335</c:v>
                </c:pt>
                <c:pt idx="591">
                  <c:v>25.62500000000018</c:v>
                </c:pt>
                <c:pt idx="592">
                  <c:v>25.66666666666685</c:v>
                </c:pt>
                <c:pt idx="593">
                  <c:v>25.70833333333351</c:v>
                </c:pt>
                <c:pt idx="594">
                  <c:v>25.75000000000018</c:v>
                </c:pt>
                <c:pt idx="595">
                  <c:v>25.79166666666685</c:v>
                </c:pt>
                <c:pt idx="596">
                  <c:v>25.83333333333352</c:v>
                </c:pt>
                <c:pt idx="597">
                  <c:v>25.87500000000019</c:v>
                </c:pt>
                <c:pt idx="598">
                  <c:v>25.91666666666686</c:v>
                </c:pt>
                <c:pt idx="599">
                  <c:v>25.95833333333351</c:v>
                </c:pt>
                <c:pt idx="600">
                  <c:v>26.00000000000019</c:v>
                </c:pt>
                <c:pt idx="601">
                  <c:v>26.04166666666686</c:v>
                </c:pt>
                <c:pt idx="602">
                  <c:v>26.08333333333352</c:v>
                </c:pt>
                <c:pt idx="603">
                  <c:v>26.1250000000002</c:v>
                </c:pt>
                <c:pt idx="604">
                  <c:v>26.16666666666686</c:v>
                </c:pt>
                <c:pt idx="605">
                  <c:v>26.20833333333352</c:v>
                </c:pt>
                <c:pt idx="606">
                  <c:v>26.2500000000002</c:v>
                </c:pt>
                <c:pt idx="607">
                  <c:v>26.29166666666687</c:v>
                </c:pt>
                <c:pt idx="608">
                  <c:v>26.33333333333352</c:v>
                </c:pt>
                <c:pt idx="609">
                  <c:v>26.3750000000002</c:v>
                </c:pt>
                <c:pt idx="610">
                  <c:v>26.41666666666687</c:v>
                </c:pt>
                <c:pt idx="611">
                  <c:v>26.45833333333353</c:v>
                </c:pt>
                <c:pt idx="612">
                  <c:v>26.50000000000021</c:v>
                </c:pt>
                <c:pt idx="613">
                  <c:v>26.54166666666687</c:v>
                </c:pt>
                <c:pt idx="614">
                  <c:v>26.58333333333353</c:v>
                </c:pt>
                <c:pt idx="615">
                  <c:v>26.62500000000021</c:v>
                </c:pt>
                <c:pt idx="616">
                  <c:v>26.66666666666688</c:v>
                </c:pt>
                <c:pt idx="617">
                  <c:v>26.70833333333354</c:v>
                </c:pt>
                <c:pt idx="618">
                  <c:v>26.75000000000021</c:v>
                </c:pt>
                <c:pt idx="619">
                  <c:v>26.79166666666688</c:v>
                </c:pt>
                <c:pt idx="620">
                  <c:v>26.83333333333355</c:v>
                </c:pt>
                <c:pt idx="621">
                  <c:v>26.87500000000022</c:v>
                </c:pt>
                <c:pt idx="622">
                  <c:v>26.91666666666688</c:v>
                </c:pt>
                <c:pt idx="623">
                  <c:v>26.95833333333354</c:v>
                </c:pt>
                <c:pt idx="624">
                  <c:v>27.00000000000022</c:v>
                </c:pt>
                <c:pt idx="625">
                  <c:v>27.04166666666689</c:v>
                </c:pt>
                <c:pt idx="626">
                  <c:v>27.08333333333355</c:v>
                </c:pt>
                <c:pt idx="627">
                  <c:v>27.12500000000022</c:v>
                </c:pt>
                <c:pt idx="628">
                  <c:v>27.16666666666689</c:v>
                </c:pt>
                <c:pt idx="629">
                  <c:v>27.20833333333355</c:v>
                </c:pt>
                <c:pt idx="630">
                  <c:v>27.25000000000023</c:v>
                </c:pt>
                <c:pt idx="631">
                  <c:v>27.2916666666669</c:v>
                </c:pt>
                <c:pt idx="632">
                  <c:v>27.33333333333356</c:v>
                </c:pt>
                <c:pt idx="633">
                  <c:v>27.37500000000023</c:v>
                </c:pt>
                <c:pt idx="634">
                  <c:v>27.4166666666669</c:v>
                </c:pt>
                <c:pt idx="635">
                  <c:v>27.45833333333356</c:v>
                </c:pt>
                <c:pt idx="636">
                  <c:v>27.50000000000023</c:v>
                </c:pt>
                <c:pt idx="637">
                  <c:v>27.5416666666669</c:v>
                </c:pt>
                <c:pt idx="638">
                  <c:v>27.58333333333356</c:v>
                </c:pt>
                <c:pt idx="639">
                  <c:v>27.62500000000024</c:v>
                </c:pt>
                <c:pt idx="640">
                  <c:v>27.66666666666691</c:v>
                </c:pt>
                <c:pt idx="641">
                  <c:v>27.70833333333356</c:v>
                </c:pt>
                <c:pt idx="642">
                  <c:v>27.75000000000024</c:v>
                </c:pt>
                <c:pt idx="643">
                  <c:v>27.79166666666691</c:v>
                </c:pt>
                <c:pt idx="644">
                  <c:v>27.83333333333358</c:v>
                </c:pt>
                <c:pt idx="645">
                  <c:v>27.87500000000025</c:v>
                </c:pt>
                <c:pt idx="646">
                  <c:v>27.91666666666691</c:v>
                </c:pt>
                <c:pt idx="647">
                  <c:v>27.95833333333357</c:v>
                </c:pt>
                <c:pt idx="648">
                  <c:v>28.00000000000025</c:v>
                </c:pt>
                <c:pt idx="649">
                  <c:v>28.04166666666692</c:v>
                </c:pt>
                <c:pt idx="650">
                  <c:v>28.08333333333357</c:v>
                </c:pt>
                <c:pt idx="651">
                  <c:v>28.12500000000025</c:v>
                </c:pt>
                <c:pt idx="652">
                  <c:v>28.16666666666692</c:v>
                </c:pt>
                <c:pt idx="653">
                  <c:v>28.20833333333358</c:v>
                </c:pt>
                <c:pt idx="654">
                  <c:v>28.25000000000026</c:v>
                </c:pt>
                <c:pt idx="655">
                  <c:v>28.29166666666692</c:v>
                </c:pt>
                <c:pt idx="656">
                  <c:v>28.33333333333358</c:v>
                </c:pt>
                <c:pt idx="657">
                  <c:v>28.37500000000026</c:v>
                </c:pt>
                <c:pt idx="658">
                  <c:v>28.41666666666693</c:v>
                </c:pt>
                <c:pt idx="659">
                  <c:v>28.45833333333359</c:v>
                </c:pt>
                <c:pt idx="660">
                  <c:v>28.50000000000026</c:v>
                </c:pt>
                <c:pt idx="661">
                  <c:v>28.54166666666693</c:v>
                </c:pt>
                <c:pt idx="662">
                  <c:v>28.58333333333359</c:v>
                </c:pt>
                <c:pt idx="663">
                  <c:v>28.62500000000027</c:v>
                </c:pt>
                <c:pt idx="664">
                  <c:v>28.66666666666693</c:v>
                </c:pt>
                <c:pt idx="665">
                  <c:v>28.70833333333359</c:v>
                </c:pt>
                <c:pt idx="666">
                  <c:v>28.75000000000027</c:v>
                </c:pt>
                <c:pt idx="667">
                  <c:v>28.79166666666694</c:v>
                </c:pt>
                <c:pt idx="668">
                  <c:v>28.83333333333361</c:v>
                </c:pt>
                <c:pt idx="669">
                  <c:v>28.87500000000027</c:v>
                </c:pt>
                <c:pt idx="670">
                  <c:v>28.91666666666694</c:v>
                </c:pt>
                <c:pt idx="671">
                  <c:v>28.9583333333336</c:v>
                </c:pt>
                <c:pt idx="672">
                  <c:v>29.00000000000028</c:v>
                </c:pt>
                <c:pt idx="673">
                  <c:v>29.04166666666694</c:v>
                </c:pt>
                <c:pt idx="674">
                  <c:v>29.0833333333336</c:v>
                </c:pt>
                <c:pt idx="675">
                  <c:v>29.12500000000028</c:v>
                </c:pt>
                <c:pt idx="676">
                  <c:v>29.16666666666695</c:v>
                </c:pt>
                <c:pt idx="677">
                  <c:v>29.20833333333361</c:v>
                </c:pt>
                <c:pt idx="678">
                  <c:v>29.25000000000028</c:v>
                </c:pt>
                <c:pt idx="679">
                  <c:v>29.29166666666695</c:v>
                </c:pt>
                <c:pt idx="680">
                  <c:v>29.33333333333362</c:v>
                </c:pt>
                <c:pt idx="681">
                  <c:v>29.37500000000029</c:v>
                </c:pt>
                <c:pt idx="682">
                  <c:v>29.41666666666696</c:v>
                </c:pt>
                <c:pt idx="683">
                  <c:v>29.45833333333361</c:v>
                </c:pt>
                <c:pt idx="684">
                  <c:v>29.50000000000029</c:v>
                </c:pt>
                <c:pt idx="685">
                  <c:v>29.54166666666696</c:v>
                </c:pt>
                <c:pt idx="686">
                  <c:v>29.58333333333362</c:v>
                </c:pt>
                <c:pt idx="687">
                  <c:v>29.62500000000029</c:v>
                </c:pt>
                <c:pt idx="688">
                  <c:v>29.66666666666696</c:v>
                </c:pt>
                <c:pt idx="689">
                  <c:v>29.70833333333362</c:v>
                </c:pt>
                <c:pt idx="690">
                  <c:v>29.7500000000003</c:v>
                </c:pt>
                <c:pt idx="691">
                  <c:v>29.79166666666697</c:v>
                </c:pt>
                <c:pt idx="692">
                  <c:v>29.83333333333362</c:v>
                </c:pt>
                <c:pt idx="693">
                  <c:v>29.8750000000003</c:v>
                </c:pt>
                <c:pt idx="694">
                  <c:v>29.91666666666697</c:v>
                </c:pt>
                <c:pt idx="695">
                  <c:v>29.95833333333363</c:v>
                </c:pt>
                <c:pt idx="696">
                  <c:v>30.00000000000031</c:v>
                </c:pt>
                <c:pt idx="697">
                  <c:v>30.04166666666697</c:v>
                </c:pt>
                <c:pt idx="698">
                  <c:v>30.08333333333363</c:v>
                </c:pt>
                <c:pt idx="699">
                  <c:v>30.12500000000031</c:v>
                </c:pt>
                <c:pt idx="700">
                  <c:v>30.16666666666698</c:v>
                </c:pt>
                <c:pt idx="701">
                  <c:v>30.20833333333363</c:v>
                </c:pt>
                <c:pt idx="702">
                  <c:v>30.25000000000031</c:v>
                </c:pt>
                <c:pt idx="703">
                  <c:v>30.29166666666698</c:v>
                </c:pt>
                <c:pt idx="704">
                  <c:v>30.33333333333364</c:v>
                </c:pt>
                <c:pt idx="705">
                  <c:v>30.37500000000032</c:v>
                </c:pt>
                <c:pt idx="706">
                  <c:v>30.41666666666698</c:v>
                </c:pt>
                <c:pt idx="707">
                  <c:v>30.45833333333364</c:v>
                </c:pt>
                <c:pt idx="708">
                  <c:v>30.50000000000032</c:v>
                </c:pt>
                <c:pt idx="709">
                  <c:v>30.54166666666699</c:v>
                </c:pt>
                <c:pt idx="710">
                  <c:v>30.58333333333365</c:v>
                </c:pt>
                <c:pt idx="711">
                  <c:v>30.62500000000032</c:v>
                </c:pt>
                <c:pt idx="712">
                  <c:v>30.66666666666699</c:v>
                </c:pt>
                <c:pt idx="713">
                  <c:v>30.70833333333365</c:v>
                </c:pt>
                <c:pt idx="714">
                  <c:v>30.75000000000033</c:v>
                </c:pt>
                <c:pt idx="715">
                  <c:v>30.79166666666699</c:v>
                </c:pt>
                <c:pt idx="716">
                  <c:v>30.83333333333366</c:v>
                </c:pt>
                <c:pt idx="717">
                  <c:v>30.87500000000033</c:v>
                </c:pt>
                <c:pt idx="718">
                  <c:v>30.916666666667</c:v>
                </c:pt>
                <c:pt idx="719">
                  <c:v>30.95833333333366</c:v>
                </c:pt>
                <c:pt idx="720">
                  <c:v>31.00000000000033</c:v>
                </c:pt>
                <c:pt idx="721">
                  <c:v>31.041666666667</c:v>
                </c:pt>
                <c:pt idx="722">
                  <c:v>31.08333333333366</c:v>
                </c:pt>
                <c:pt idx="723">
                  <c:v>31.12500000000034</c:v>
                </c:pt>
                <c:pt idx="724">
                  <c:v>31.16666666666701</c:v>
                </c:pt>
                <c:pt idx="725">
                  <c:v>31.20833333333366</c:v>
                </c:pt>
                <c:pt idx="726">
                  <c:v>31.25000000000034</c:v>
                </c:pt>
                <c:pt idx="727">
                  <c:v>31.29166666666701</c:v>
                </c:pt>
                <c:pt idx="728">
                  <c:v>31.33333333333368</c:v>
                </c:pt>
                <c:pt idx="729">
                  <c:v>31.37500000000034</c:v>
                </c:pt>
                <c:pt idx="730">
                  <c:v>31.41666666666701</c:v>
                </c:pt>
                <c:pt idx="731">
                  <c:v>31.45833333333367</c:v>
                </c:pt>
                <c:pt idx="732">
                  <c:v>31.50000000000035</c:v>
                </c:pt>
                <c:pt idx="733">
                  <c:v>31.54166666666702</c:v>
                </c:pt>
                <c:pt idx="734">
                  <c:v>31.58333333333367</c:v>
                </c:pt>
                <c:pt idx="735">
                  <c:v>31.62500000000035</c:v>
                </c:pt>
                <c:pt idx="736">
                  <c:v>31.66666666666702</c:v>
                </c:pt>
                <c:pt idx="737">
                  <c:v>31.70833333333368</c:v>
                </c:pt>
                <c:pt idx="738">
                  <c:v>31.75000000000036</c:v>
                </c:pt>
                <c:pt idx="739">
                  <c:v>31.79166666666702</c:v>
                </c:pt>
                <c:pt idx="740">
                  <c:v>31.83333333333368</c:v>
                </c:pt>
                <c:pt idx="741">
                  <c:v>31.87500000000036</c:v>
                </c:pt>
              </c:numCache>
            </c:numRef>
          </c:cat>
          <c:val>
            <c:numRef>
              <c:f>'memplotperhour.out'!$A$1:$A$742</c:f>
              <c:numCache>
                <c:formatCode>General</c:formatCode>
                <c:ptCount val="742"/>
                <c:pt idx="0">
                  <c:v>5.4987332685674E6</c:v>
                </c:pt>
                <c:pt idx="1">
                  <c:v>5.45032871546745E6</c:v>
                </c:pt>
                <c:pt idx="2">
                  <c:v>5.40809958811401E6</c:v>
                </c:pt>
                <c:pt idx="3">
                  <c:v>5.38175038266353E6</c:v>
                </c:pt>
                <c:pt idx="4">
                  <c:v>5.3750645113916E6</c:v>
                </c:pt>
                <c:pt idx="5">
                  <c:v>5.29047262162874E6</c:v>
                </c:pt>
                <c:pt idx="6">
                  <c:v>5.34916823678735E6</c:v>
                </c:pt>
                <c:pt idx="7">
                  <c:v>5.53514914052621E6</c:v>
                </c:pt>
                <c:pt idx="8">
                  <c:v>5.19235159100042E6</c:v>
                </c:pt>
                <c:pt idx="9">
                  <c:v>5.10848268353059E6</c:v>
                </c:pt>
                <c:pt idx="10">
                  <c:v>5.17752189062409E6</c:v>
                </c:pt>
                <c:pt idx="11">
                  <c:v>5.23011062526427E6</c:v>
                </c:pt>
                <c:pt idx="12">
                  <c:v>5.17545632761729E6</c:v>
                </c:pt>
                <c:pt idx="13">
                  <c:v>5.18146787773809E6</c:v>
                </c:pt>
                <c:pt idx="14">
                  <c:v>5.17751270234675E6</c:v>
                </c:pt>
                <c:pt idx="15">
                  <c:v>5.23814298061037E6</c:v>
                </c:pt>
                <c:pt idx="16">
                  <c:v>5.2437731238536E6</c:v>
                </c:pt>
                <c:pt idx="17">
                  <c:v>5.2177054378531E6</c:v>
                </c:pt>
                <c:pt idx="18">
                  <c:v>5.20657610339734E6</c:v>
                </c:pt>
                <c:pt idx="19">
                  <c:v>5.20690395976071E6</c:v>
                </c:pt>
                <c:pt idx="20">
                  <c:v>5.13528149129568E6</c:v>
                </c:pt>
                <c:pt idx="21">
                  <c:v>5.17346820340475E6</c:v>
                </c:pt>
                <c:pt idx="22">
                  <c:v>5.13141681258153E6</c:v>
                </c:pt>
                <c:pt idx="23">
                  <c:v>5.10781528050945E6</c:v>
                </c:pt>
                <c:pt idx="24">
                  <c:v>5.09226740623493E6</c:v>
                </c:pt>
                <c:pt idx="25">
                  <c:v>5.1037198885445E6</c:v>
                </c:pt>
                <c:pt idx="26">
                  <c:v>5.1040759833874E6</c:v>
                </c:pt>
                <c:pt idx="27">
                  <c:v>5.09119276509567E6</c:v>
                </c:pt>
                <c:pt idx="28">
                  <c:v>5.12074508278658E6</c:v>
                </c:pt>
                <c:pt idx="29">
                  <c:v>5.18397660533183E6</c:v>
                </c:pt>
                <c:pt idx="30">
                  <c:v>5.19733831993793E6</c:v>
                </c:pt>
                <c:pt idx="31">
                  <c:v>5.13566031492702E6</c:v>
                </c:pt>
                <c:pt idx="32">
                  <c:v>5.14060039403736E6</c:v>
                </c:pt>
                <c:pt idx="33">
                  <c:v>5.1491741501458E6</c:v>
                </c:pt>
                <c:pt idx="34">
                  <c:v>5.16969084320402E6</c:v>
                </c:pt>
                <c:pt idx="35">
                  <c:v>5.18985166930546E6</c:v>
                </c:pt>
                <c:pt idx="36">
                  <c:v>5.15649718818756E6</c:v>
                </c:pt>
                <c:pt idx="37">
                  <c:v>5.16432981347367E6</c:v>
                </c:pt>
                <c:pt idx="38">
                  <c:v>5.21019594901045E6</c:v>
                </c:pt>
                <c:pt idx="39">
                  <c:v>5.2384985824835E6</c:v>
                </c:pt>
                <c:pt idx="40">
                  <c:v>5.24779796654296E6</c:v>
                </c:pt>
                <c:pt idx="41">
                  <c:v>5.16480106473402E6</c:v>
                </c:pt>
                <c:pt idx="42">
                  <c:v>5.17278304042976E6</c:v>
                </c:pt>
                <c:pt idx="43">
                  <c:v>5.20217694301831E6</c:v>
                </c:pt>
                <c:pt idx="44">
                  <c:v>5.20023531081125E6</c:v>
                </c:pt>
                <c:pt idx="45">
                  <c:v>5.22621807345042E6</c:v>
                </c:pt>
                <c:pt idx="46">
                  <c:v>5.17717860052159E6</c:v>
                </c:pt>
                <c:pt idx="47">
                  <c:v>5.09779491639142E6</c:v>
                </c:pt>
                <c:pt idx="48">
                  <c:v>5.13340416936421E6</c:v>
                </c:pt>
                <c:pt idx="49">
                  <c:v>5.17218920057173E6</c:v>
                </c:pt>
                <c:pt idx="50">
                  <c:v>5.19999476476092E6</c:v>
                </c:pt>
                <c:pt idx="51">
                  <c:v>5.17849309066357E6</c:v>
                </c:pt>
                <c:pt idx="52">
                  <c:v>5.13870458974054E6</c:v>
                </c:pt>
                <c:pt idx="53">
                  <c:v>5.19316565985429E6</c:v>
                </c:pt>
                <c:pt idx="54">
                  <c:v>5.23403501131856E6</c:v>
                </c:pt>
                <c:pt idx="55">
                  <c:v>5.23414347310493E6</c:v>
                </c:pt>
                <c:pt idx="56">
                  <c:v>5.21701801738873E6</c:v>
                </c:pt>
                <c:pt idx="57">
                  <c:v>5.19453872433466E6</c:v>
                </c:pt>
                <c:pt idx="58">
                  <c:v>5.23467263086908E6</c:v>
                </c:pt>
                <c:pt idx="59">
                  <c:v>5.2560338143457E6</c:v>
                </c:pt>
                <c:pt idx="60">
                  <c:v>5.21683735316438E6</c:v>
                </c:pt>
                <c:pt idx="61">
                  <c:v>5.22176462430078E6</c:v>
                </c:pt>
                <c:pt idx="62">
                  <c:v>5.24889706543673E6</c:v>
                </c:pt>
                <c:pt idx="63">
                  <c:v>5.20020571158529E6</c:v>
                </c:pt>
                <c:pt idx="64">
                  <c:v>5.22732184143404E6</c:v>
                </c:pt>
                <c:pt idx="65">
                  <c:v>5.20835581569776E6</c:v>
                </c:pt>
                <c:pt idx="66">
                  <c:v>5.20731993370047E6</c:v>
                </c:pt>
                <c:pt idx="67">
                  <c:v>5.2250008425127E6</c:v>
                </c:pt>
                <c:pt idx="68">
                  <c:v>5.20591275038095E6</c:v>
                </c:pt>
                <c:pt idx="69">
                  <c:v>5.05772095429541E6</c:v>
                </c:pt>
                <c:pt idx="70">
                  <c:v>4.99696915284387E6</c:v>
                </c:pt>
                <c:pt idx="71">
                  <c:v>4.9882910351615E6</c:v>
                </c:pt>
                <c:pt idx="72">
                  <c:v>5.0004315598328E6</c:v>
                </c:pt>
                <c:pt idx="73">
                  <c:v>4.9732354265133E6</c:v>
                </c:pt>
                <c:pt idx="74">
                  <c:v>4.98116358572538E6</c:v>
                </c:pt>
                <c:pt idx="75">
                  <c:v>5.01158254393571E6</c:v>
                </c:pt>
                <c:pt idx="76">
                  <c:v>5.0563656632977E6</c:v>
                </c:pt>
                <c:pt idx="77">
                  <c:v>5.08557128575967E6</c:v>
                </c:pt>
                <c:pt idx="78">
                  <c:v>5.11317863755905E6</c:v>
                </c:pt>
                <c:pt idx="79">
                  <c:v>5.06559167761244E6</c:v>
                </c:pt>
                <c:pt idx="80">
                  <c:v>5.01639075883415E6</c:v>
                </c:pt>
                <c:pt idx="81">
                  <c:v>5.3193280234538E6</c:v>
                </c:pt>
                <c:pt idx="82">
                  <c:v>5.67761801429836E6</c:v>
                </c:pt>
                <c:pt idx="83">
                  <c:v>5.68647167011062E6</c:v>
                </c:pt>
                <c:pt idx="84">
                  <c:v>5.5596421855849E6</c:v>
                </c:pt>
                <c:pt idx="85">
                  <c:v>5.61082399149496E6</c:v>
                </c:pt>
                <c:pt idx="86">
                  <c:v>5.66297074110474E6</c:v>
                </c:pt>
                <c:pt idx="87">
                  <c:v>5.70562741672628E6</c:v>
                </c:pt>
                <c:pt idx="88">
                  <c:v>5.70582130049968E6</c:v>
                </c:pt>
                <c:pt idx="89">
                  <c:v>5.66318350026039E6</c:v>
                </c:pt>
                <c:pt idx="90">
                  <c:v>5.66265111194928E6</c:v>
                </c:pt>
                <c:pt idx="91">
                  <c:v>5.67719501418534E6</c:v>
                </c:pt>
                <c:pt idx="92">
                  <c:v>5.67809170946662E6</c:v>
                </c:pt>
                <c:pt idx="93">
                  <c:v>5.67437320334504E6</c:v>
                </c:pt>
                <c:pt idx="94">
                  <c:v>5.59969106409541E6</c:v>
                </c:pt>
                <c:pt idx="95">
                  <c:v>5.57058752829084E6</c:v>
                </c:pt>
                <c:pt idx="96">
                  <c:v>5.58135821184046E6</c:v>
                </c:pt>
                <c:pt idx="97">
                  <c:v>5.6018626734433E6</c:v>
                </c:pt>
                <c:pt idx="98">
                  <c:v>5.63277604773537E6</c:v>
                </c:pt>
                <c:pt idx="99">
                  <c:v>5.64471758514903E6</c:v>
                </c:pt>
                <c:pt idx="100">
                  <c:v>5.63966986347374E6</c:v>
                </c:pt>
                <c:pt idx="101">
                  <c:v>5.62091146382939E6</c:v>
                </c:pt>
                <c:pt idx="102">
                  <c:v>5.67829491518729E6</c:v>
                </c:pt>
                <c:pt idx="103">
                  <c:v>5.70038494327226E6</c:v>
                </c:pt>
                <c:pt idx="104">
                  <c:v>5.49804791562191E6</c:v>
                </c:pt>
                <c:pt idx="105">
                  <c:v>5.34016181715723E6</c:v>
                </c:pt>
                <c:pt idx="106">
                  <c:v>5.33106058296383E6</c:v>
                </c:pt>
                <c:pt idx="107">
                  <c:v>5.31893187110119E6</c:v>
                </c:pt>
                <c:pt idx="108">
                  <c:v>5.32431686278766E6</c:v>
                </c:pt>
                <c:pt idx="109">
                  <c:v>5.36910007851012E6</c:v>
                </c:pt>
                <c:pt idx="110">
                  <c:v>5.33917351261817E6</c:v>
                </c:pt>
                <c:pt idx="111">
                  <c:v>5.28690997718284E6</c:v>
                </c:pt>
                <c:pt idx="112">
                  <c:v>5.30520899287225E6</c:v>
                </c:pt>
                <c:pt idx="113">
                  <c:v>5.3771282207558E6</c:v>
                </c:pt>
                <c:pt idx="114">
                  <c:v>5.32106461971589E6</c:v>
                </c:pt>
                <c:pt idx="115">
                  <c:v>5.3084525782513E6</c:v>
                </c:pt>
                <c:pt idx="116">
                  <c:v>5.28021010361481E6</c:v>
                </c:pt>
                <c:pt idx="117">
                  <c:v>5.2354882117039E6</c:v>
                </c:pt>
                <c:pt idx="118">
                  <c:v>5.24066454808176E6</c:v>
                </c:pt>
                <c:pt idx="119">
                  <c:v>5.23479798260437E6</c:v>
                </c:pt>
                <c:pt idx="120">
                  <c:v>5.26147579739233E6</c:v>
                </c:pt>
                <c:pt idx="121">
                  <c:v>5.37611187421096E6</c:v>
                </c:pt>
                <c:pt idx="122">
                  <c:v>5.37936391056873E6</c:v>
                </c:pt>
                <c:pt idx="123">
                  <c:v>5.38779744214029E6</c:v>
                </c:pt>
                <c:pt idx="124">
                  <c:v>5.33764515849044E6</c:v>
                </c:pt>
                <c:pt idx="125">
                  <c:v>5.47682171094413E6</c:v>
                </c:pt>
                <c:pt idx="126">
                  <c:v>5.50728934793459E6</c:v>
                </c:pt>
                <c:pt idx="127">
                  <c:v>5.52979629829354E6</c:v>
                </c:pt>
                <c:pt idx="128">
                  <c:v>5.40831033830036E6</c:v>
                </c:pt>
                <c:pt idx="129">
                  <c:v>5.35920497536028E6</c:v>
                </c:pt>
                <c:pt idx="130">
                  <c:v>5.31877748079257E6</c:v>
                </c:pt>
                <c:pt idx="131">
                  <c:v>5.2516921837331E6</c:v>
                </c:pt>
                <c:pt idx="132">
                  <c:v>5.19790795178446E6</c:v>
                </c:pt>
                <c:pt idx="133">
                  <c:v>5.28408251520217E6</c:v>
                </c:pt>
                <c:pt idx="134">
                  <c:v>5.31073699424062E6</c:v>
                </c:pt>
                <c:pt idx="135">
                  <c:v>5.4141363819129E6</c:v>
                </c:pt>
                <c:pt idx="136">
                  <c:v>5.36859852685023E6</c:v>
                </c:pt>
                <c:pt idx="137">
                  <c:v>5.43755307647963E6</c:v>
                </c:pt>
                <c:pt idx="138">
                  <c:v>5.39393543534919E6</c:v>
                </c:pt>
                <c:pt idx="139">
                  <c:v>5.37127525073614E6</c:v>
                </c:pt>
                <c:pt idx="140">
                  <c:v>5.37913861087784E6</c:v>
                </c:pt>
                <c:pt idx="141">
                  <c:v>5.37460510153974E6</c:v>
                </c:pt>
                <c:pt idx="142">
                  <c:v>5.34079282077225E6</c:v>
                </c:pt>
                <c:pt idx="143">
                  <c:v>5.24337000089464E6</c:v>
                </c:pt>
                <c:pt idx="144">
                  <c:v>5.16371000735519E6</c:v>
                </c:pt>
                <c:pt idx="145">
                  <c:v>5.17845786494479E6</c:v>
                </c:pt>
                <c:pt idx="146">
                  <c:v>5.25538530139009E6</c:v>
                </c:pt>
                <c:pt idx="147">
                  <c:v>5.26155896693404E6</c:v>
                </c:pt>
                <c:pt idx="148">
                  <c:v>5.31349456141117E6</c:v>
                </c:pt>
                <c:pt idx="149">
                  <c:v>5.31500450130424E6</c:v>
                </c:pt>
                <c:pt idx="150">
                  <c:v>5.34024420314685E6</c:v>
                </c:pt>
                <c:pt idx="151">
                  <c:v>5.31907001241779E6</c:v>
                </c:pt>
                <c:pt idx="152">
                  <c:v>5.32272444875155E6</c:v>
                </c:pt>
                <c:pt idx="153">
                  <c:v>5.1353482026909E6</c:v>
                </c:pt>
                <c:pt idx="154">
                  <c:v>5.2863912637661E6</c:v>
                </c:pt>
                <c:pt idx="155">
                  <c:v>5.28695172495631E6</c:v>
                </c:pt>
                <c:pt idx="156">
                  <c:v>5.2084717839663E6</c:v>
                </c:pt>
                <c:pt idx="157">
                  <c:v>5.32088293741092E6</c:v>
                </c:pt>
                <c:pt idx="158">
                  <c:v>5.29518454386905E6</c:v>
                </c:pt>
                <c:pt idx="159">
                  <c:v>5.33585313452142E6</c:v>
                </c:pt>
                <c:pt idx="160">
                  <c:v>5.29522588744919E6</c:v>
                </c:pt>
                <c:pt idx="161">
                  <c:v>5.30424864791509E6</c:v>
                </c:pt>
                <c:pt idx="162">
                  <c:v>5.33392501214015E6</c:v>
                </c:pt>
                <c:pt idx="163">
                  <c:v>5.32974022961415E6</c:v>
                </c:pt>
                <c:pt idx="164">
                  <c:v>5.33840101171978E6</c:v>
                </c:pt>
                <c:pt idx="165">
                  <c:v>5.31671995379322E6</c:v>
                </c:pt>
                <c:pt idx="166">
                  <c:v>5.18055228807769E6</c:v>
                </c:pt>
                <c:pt idx="167">
                  <c:v>5.20856448983953E6</c:v>
                </c:pt>
                <c:pt idx="168">
                  <c:v>5.20574101140371E6</c:v>
                </c:pt>
                <c:pt idx="169">
                  <c:v>5.18417757832554E6</c:v>
                </c:pt>
                <c:pt idx="170">
                  <c:v>5.23097443606899E6</c:v>
                </c:pt>
                <c:pt idx="171">
                  <c:v>5.22924246961808E6</c:v>
                </c:pt>
                <c:pt idx="172">
                  <c:v>5.20175461609916E6</c:v>
                </c:pt>
                <c:pt idx="173">
                  <c:v>5.22334096853001E6</c:v>
                </c:pt>
                <c:pt idx="174">
                  <c:v>5.24157136096649E6</c:v>
                </c:pt>
                <c:pt idx="175">
                  <c:v>5.28024032954662E6</c:v>
                </c:pt>
                <c:pt idx="176">
                  <c:v>5.24813345862954E6</c:v>
                </c:pt>
                <c:pt idx="177">
                  <c:v>5.26909250600264E6</c:v>
                </c:pt>
                <c:pt idx="178">
                  <c:v>5.26587144329014E6</c:v>
                </c:pt>
                <c:pt idx="179">
                  <c:v>5.34540732828982E6</c:v>
                </c:pt>
                <c:pt idx="180">
                  <c:v>5.26795711084166E6</c:v>
                </c:pt>
                <c:pt idx="181">
                  <c:v>5.30539295420519E6</c:v>
                </c:pt>
                <c:pt idx="182">
                  <c:v>5.26540114746795E6</c:v>
                </c:pt>
                <c:pt idx="183">
                  <c:v>5.2888352050901E6</c:v>
                </c:pt>
                <c:pt idx="184">
                  <c:v>5.38779214936225E6</c:v>
                </c:pt>
                <c:pt idx="185">
                  <c:v>5.38377625964821E6</c:v>
                </c:pt>
                <c:pt idx="186">
                  <c:v>5.2942251296951E6</c:v>
                </c:pt>
                <c:pt idx="187">
                  <c:v>5.36274848132587E6</c:v>
                </c:pt>
                <c:pt idx="188">
                  <c:v>5.3305879513862E6</c:v>
                </c:pt>
                <c:pt idx="189">
                  <c:v>5.24936363943497E6</c:v>
                </c:pt>
                <c:pt idx="190">
                  <c:v>5.28931658410222E6</c:v>
                </c:pt>
                <c:pt idx="191">
                  <c:v>5.23792065647428E6</c:v>
                </c:pt>
                <c:pt idx="192">
                  <c:v>5.1306474212925E6</c:v>
                </c:pt>
                <c:pt idx="193">
                  <c:v>5.13979868823942E6</c:v>
                </c:pt>
                <c:pt idx="194">
                  <c:v>5.22536330197774E6</c:v>
                </c:pt>
                <c:pt idx="195">
                  <c:v>5.22536007550377E6</c:v>
                </c:pt>
                <c:pt idx="196">
                  <c:v>5.19165617597238E6</c:v>
                </c:pt>
                <c:pt idx="197">
                  <c:v>5.24989323661584E6</c:v>
                </c:pt>
                <c:pt idx="198">
                  <c:v>5.29129598430093E6</c:v>
                </c:pt>
                <c:pt idx="199">
                  <c:v>5.24016890703462E6</c:v>
                </c:pt>
                <c:pt idx="200">
                  <c:v>5.27780525077324E6</c:v>
                </c:pt>
                <c:pt idx="201">
                  <c:v>5.24003992534645E6</c:v>
                </c:pt>
                <c:pt idx="202">
                  <c:v>5.17892134396451E6</c:v>
                </c:pt>
                <c:pt idx="203">
                  <c:v>5.20963073575933E6</c:v>
                </c:pt>
                <c:pt idx="204">
                  <c:v>5.31725350836753E6</c:v>
                </c:pt>
                <c:pt idx="205">
                  <c:v>5.25545736804725E6</c:v>
                </c:pt>
                <c:pt idx="206">
                  <c:v>5.2072242647875E6</c:v>
                </c:pt>
                <c:pt idx="207">
                  <c:v>5.28642486171974E6</c:v>
                </c:pt>
                <c:pt idx="208">
                  <c:v>5.30755502265012E6</c:v>
                </c:pt>
                <c:pt idx="209">
                  <c:v>5.2491403932275E6</c:v>
                </c:pt>
                <c:pt idx="210">
                  <c:v>5.32800751140899E6</c:v>
                </c:pt>
                <c:pt idx="211">
                  <c:v>5.29276926900155E6</c:v>
                </c:pt>
                <c:pt idx="212">
                  <c:v>5.29490100246531E6</c:v>
                </c:pt>
                <c:pt idx="213">
                  <c:v>5.30618449811022E6</c:v>
                </c:pt>
                <c:pt idx="214">
                  <c:v>5.21334986643106E6</c:v>
                </c:pt>
                <c:pt idx="215">
                  <c:v>5.14607963974251E6</c:v>
                </c:pt>
                <c:pt idx="216">
                  <c:v>5.13833455991149E6</c:v>
                </c:pt>
                <c:pt idx="217">
                  <c:v>5.1799517166839E6</c:v>
                </c:pt>
                <c:pt idx="218">
                  <c:v>5.24859469258922E6</c:v>
                </c:pt>
                <c:pt idx="219">
                  <c:v>5.22219544617365E6</c:v>
                </c:pt>
                <c:pt idx="220">
                  <c:v>5.18501019322481E6</c:v>
                </c:pt>
                <c:pt idx="221">
                  <c:v>5.33981762986207E6</c:v>
                </c:pt>
                <c:pt idx="222">
                  <c:v>5.43556294804291E6</c:v>
                </c:pt>
                <c:pt idx="223">
                  <c:v>5.40635692802894E6</c:v>
                </c:pt>
                <c:pt idx="224">
                  <c:v>5.44729478430708E6</c:v>
                </c:pt>
                <c:pt idx="225">
                  <c:v>5.450274460398E6</c:v>
                </c:pt>
                <c:pt idx="226">
                  <c:v>5.36125984469901E6</c:v>
                </c:pt>
                <c:pt idx="227">
                  <c:v>5.45167097650835E6</c:v>
                </c:pt>
                <c:pt idx="228">
                  <c:v>5.57416978013318E6</c:v>
                </c:pt>
                <c:pt idx="229">
                  <c:v>5.53580803191651E6</c:v>
                </c:pt>
                <c:pt idx="230">
                  <c:v>5.52221057637156E6</c:v>
                </c:pt>
                <c:pt idx="231">
                  <c:v>5.57580216995786E6</c:v>
                </c:pt>
                <c:pt idx="232">
                  <c:v>5.57680158814093E6</c:v>
                </c:pt>
                <c:pt idx="233">
                  <c:v>5.47877815634528E6</c:v>
                </c:pt>
                <c:pt idx="234">
                  <c:v>5.51020761794478E6</c:v>
                </c:pt>
                <c:pt idx="235">
                  <c:v>5.53280532666804E6</c:v>
                </c:pt>
                <c:pt idx="236">
                  <c:v>5.49732545527571E6</c:v>
                </c:pt>
                <c:pt idx="237">
                  <c:v>5.52284138175038E6</c:v>
                </c:pt>
                <c:pt idx="238">
                  <c:v>5.46487508550636E6</c:v>
                </c:pt>
                <c:pt idx="239">
                  <c:v>5.41624760719703E6</c:v>
                </c:pt>
                <c:pt idx="240">
                  <c:v>5.39643410489583E6</c:v>
                </c:pt>
                <c:pt idx="241">
                  <c:v>5.4634988969E6</c:v>
                </c:pt>
                <c:pt idx="242">
                  <c:v>5.49952132705467E6</c:v>
                </c:pt>
                <c:pt idx="243">
                  <c:v>5.51036525444345E6</c:v>
                </c:pt>
                <c:pt idx="244">
                  <c:v>5.54738170694226E6</c:v>
                </c:pt>
                <c:pt idx="245">
                  <c:v>5.52014274472843E6</c:v>
                </c:pt>
                <c:pt idx="246">
                  <c:v>5.53845486085523E6</c:v>
                </c:pt>
                <c:pt idx="247">
                  <c:v>5.58366350440504E6</c:v>
                </c:pt>
                <c:pt idx="248">
                  <c:v>5.56607801031897E6</c:v>
                </c:pt>
                <c:pt idx="249">
                  <c:v>5.51177897562006E6</c:v>
                </c:pt>
                <c:pt idx="250">
                  <c:v>5.48476971366122E6</c:v>
                </c:pt>
                <c:pt idx="251">
                  <c:v>5.2367764263958E6</c:v>
                </c:pt>
                <c:pt idx="252">
                  <c:v>5.17381622239551E6</c:v>
                </c:pt>
                <c:pt idx="253">
                  <c:v>5.0737023964521E6</c:v>
                </c:pt>
                <c:pt idx="254">
                  <c:v>5.18553904434377E6</c:v>
                </c:pt>
                <c:pt idx="255">
                  <c:v>5.3914846216813E6</c:v>
                </c:pt>
                <c:pt idx="256">
                  <c:v>5.48459026761663E6</c:v>
                </c:pt>
                <c:pt idx="257">
                  <c:v>5.45483096861762E6</c:v>
                </c:pt>
                <c:pt idx="258">
                  <c:v>5.46871208649524E6</c:v>
                </c:pt>
                <c:pt idx="259">
                  <c:v>5.45912350764393E6</c:v>
                </c:pt>
                <c:pt idx="260">
                  <c:v>5.44133332885743E6</c:v>
                </c:pt>
                <c:pt idx="261">
                  <c:v>5.40831736762095E6</c:v>
                </c:pt>
                <c:pt idx="262">
                  <c:v>5.37789245153759E6</c:v>
                </c:pt>
                <c:pt idx="263">
                  <c:v>5.34521633474599E6</c:v>
                </c:pt>
                <c:pt idx="264">
                  <c:v>5.32313114652923E6</c:v>
                </c:pt>
                <c:pt idx="265">
                  <c:v>5.26738598987381E6</c:v>
                </c:pt>
                <c:pt idx="266">
                  <c:v>5.31098801775796E6</c:v>
                </c:pt>
                <c:pt idx="267">
                  <c:v>5.3523183954053E6</c:v>
                </c:pt>
                <c:pt idx="268">
                  <c:v>5.2233617464076E6</c:v>
                </c:pt>
                <c:pt idx="269">
                  <c:v>5.35621679445277E6</c:v>
                </c:pt>
                <c:pt idx="270">
                  <c:v>5.3497606503883E6</c:v>
                </c:pt>
                <c:pt idx="271">
                  <c:v>5.28589640796725E6</c:v>
                </c:pt>
                <c:pt idx="272">
                  <c:v>5.11129718407246E6</c:v>
                </c:pt>
                <c:pt idx="273">
                  <c:v>5.11317734550122E6</c:v>
                </c:pt>
                <c:pt idx="274">
                  <c:v>5.2264771811465E6</c:v>
                </c:pt>
                <c:pt idx="275">
                  <c:v>5.14036979069394E6</c:v>
                </c:pt>
                <c:pt idx="276">
                  <c:v>5.16898322569034E6</c:v>
                </c:pt>
                <c:pt idx="277">
                  <c:v>5.12363215040717E6</c:v>
                </c:pt>
                <c:pt idx="278">
                  <c:v>5.2489121240228E6</c:v>
                </c:pt>
                <c:pt idx="279">
                  <c:v>5.37330847009396E6</c:v>
                </c:pt>
                <c:pt idx="280">
                  <c:v>5.33826305787821E6</c:v>
                </c:pt>
                <c:pt idx="281">
                  <c:v>5.3943699420639E6</c:v>
                </c:pt>
                <c:pt idx="282">
                  <c:v>5.43682400016764E6</c:v>
                </c:pt>
                <c:pt idx="283">
                  <c:v>5.38207505069193E6</c:v>
                </c:pt>
                <c:pt idx="284">
                  <c:v>5.33937696392171E6</c:v>
                </c:pt>
                <c:pt idx="285">
                  <c:v>5.38214546068941E6</c:v>
                </c:pt>
                <c:pt idx="286">
                  <c:v>5.36554566452764E6</c:v>
                </c:pt>
                <c:pt idx="287">
                  <c:v>5.25926430429435E6</c:v>
                </c:pt>
                <c:pt idx="288">
                  <c:v>5.25139788563088E6</c:v>
                </c:pt>
                <c:pt idx="289">
                  <c:v>5.3157715666153E6</c:v>
                </c:pt>
                <c:pt idx="290">
                  <c:v>5.33382485701939E6</c:v>
                </c:pt>
                <c:pt idx="291">
                  <c:v>5.27740571952919E6</c:v>
                </c:pt>
                <c:pt idx="292">
                  <c:v>4.92755176444518E6</c:v>
                </c:pt>
                <c:pt idx="293">
                  <c:v>5.033768947905E6</c:v>
                </c:pt>
                <c:pt idx="294">
                  <c:v>5.01732479970414E6</c:v>
                </c:pt>
                <c:pt idx="295">
                  <c:v>4.98903743628682E6</c:v>
                </c:pt>
                <c:pt idx="296">
                  <c:v>5.25256127398655E6</c:v>
                </c:pt>
                <c:pt idx="297">
                  <c:v>5.15364899078591E6</c:v>
                </c:pt>
                <c:pt idx="298">
                  <c:v>5.23567069785738E6</c:v>
                </c:pt>
                <c:pt idx="299">
                  <c:v>5.22738511875883E6</c:v>
                </c:pt>
                <c:pt idx="300">
                  <c:v>5.20614818419115E6</c:v>
                </c:pt>
                <c:pt idx="301">
                  <c:v>5.42501880256231E6</c:v>
                </c:pt>
                <c:pt idx="302">
                  <c:v>5.53913586405062E6</c:v>
                </c:pt>
                <c:pt idx="303">
                  <c:v>5.6111603513703E6</c:v>
                </c:pt>
                <c:pt idx="304">
                  <c:v>5.64940639782829E6</c:v>
                </c:pt>
                <c:pt idx="305">
                  <c:v>5.58645840896003E6</c:v>
                </c:pt>
                <c:pt idx="306">
                  <c:v>5.5296777328159E6</c:v>
                </c:pt>
                <c:pt idx="307">
                  <c:v>5.43783513728098E6</c:v>
                </c:pt>
                <c:pt idx="308">
                  <c:v>5.46895911284183E6</c:v>
                </c:pt>
                <c:pt idx="309">
                  <c:v>5.46414740474195E6</c:v>
                </c:pt>
                <c:pt idx="310">
                  <c:v>5.34986295890781E6</c:v>
                </c:pt>
                <c:pt idx="311">
                  <c:v>5.3803631228094E6</c:v>
                </c:pt>
                <c:pt idx="312">
                  <c:v>5.34183128460558E6</c:v>
                </c:pt>
                <c:pt idx="313">
                  <c:v>5.30392343940807E6</c:v>
                </c:pt>
                <c:pt idx="314">
                  <c:v>5.36135036614156E6</c:v>
                </c:pt>
                <c:pt idx="315">
                  <c:v>5.36704361703395E6</c:v>
                </c:pt>
                <c:pt idx="316">
                  <c:v>5.3830654246681E6</c:v>
                </c:pt>
                <c:pt idx="317">
                  <c:v>5.41073876523152E6</c:v>
                </c:pt>
                <c:pt idx="318">
                  <c:v>5.50514104702583E6</c:v>
                </c:pt>
                <c:pt idx="319">
                  <c:v>5.55938523184175E6</c:v>
                </c:pt>
                <c:pt idx="320">
                  <c:v>5.51920459546662E6</c:v>
                </c:pt>
                <c:pt idx="321">
                  <c:v>5.47835356488924E6</c:v>
                </c:pt>
                <c:pt idx="322">
                  <c:v>5.3161610975705E6</c:v>
                </c:pt>
                <c:pt idx="323">
                  <c:v>5.3885852754434E6</c:v>
                </c:pt>
                <c:pt idx="324">
                  <c:v>5.41545674223829E6</c:v>
                </c:pt>
                <c:pt idx="325">
                  <c:v>5.34931414508537E6</c:v>
                </c:pt>
                <c:pt idx="326">
                  <c:v>5.42197805975702E6</c:v>
                </c:pt>
                <c:pt idx="327">
                  <c:v>5.35122177122787E6</c:v>
                </c:pt>
                <c:pt idx="328">
                  <c:v>5.24991657918391E6</c:v>
                </c:pt>
                <c:pt idx="329">
                  <c:v>5.34891670383113E6</c:v>
                </c:pt>
                <c:pt idx="330">
                  <c:v>5.33816917275445E6</c:v>
                </c:pt>
                <c:pt idx="331">
                  <c:v>5.06396294951911E6</c:v>
                </c:pt>
                <c:pt idx="332">
                  <c:v>4.94021735168066E6</c:v>
                </c:pt>
                <c:pt idx="333">
                  <c:v>4.94881847997264E6</c:v>
                </c:pt>
                <c:pt idx="334">
                  <c:v>4.90123405384793E6</c:v>
                </c:pt>
                <c:pt idx="335">
                  <c:v>4.9054960313217E6</c:v>
                </c:pt>
                <c:pt idx="336">
                  <c:v>4.85729665981553E6</c:v>
                </c:pt>
                <c:pt idx="337">
                  <c:v>4.76211897306216E6</c:v>
                </c:pt>
                <c:pt idx="338">
                  <c:v>4.87488014618282E6</c:v>
                </c:pt>
                <c:pt idx="339">
                  <c:v>4.82869126556595E6</c:v>
                </c:pt>
                <c:pt idx="340">
                  <c:v>4.9018454261184E6</c:v>
                </c:pt>
                <c:pt idx="341">
                  <c:v>4.89965288939918E6</c:v>
                </c:pt>
                <c:pt idx="342">
                  <c:v>4.86981443127643E6</c:v>
                </c:pt>
                <c:pt idx="343">
                  <c:v>4.93481827531512E6</c:v>
                </c:pt>
                <c:pt idx="344">
                  <c:v>4.98273664079971E6</c:v>
                </c:pt>
                <c:pt idx="345">
                  <c:v>5.36204223871449E6</c:v>
                </c:pt>
                <c:pt idx="346">
                  <c:v>5.3230413205391E6</c:v>
                </c:pt>
                <c:pt idx="347">
                  <c:v>5.3844967906654E6</c:v>
                </c:pt>
                <c:pt idx="348">
                  <c:v>5.43345891961588E6</c:v>
                </c:pt>
                <c:pt idx="349">
                  <c:v>5.34123770771983E6</c:v>
                </c:pt>
                <c:pt idx="350">
                  <c:v>5.3966665453305E6</c:v>
                </c:pt>
                <c:pt idx="351">
                  <c:v>5.46020739565262E6</c:v>
                </c:pt>
                <c:pt idx="352">
                  <c:v>5.52745071710185E6</c:v>
                </c:pt>
                <c:pt idx="353">
                  <c:v>5.50454614899611E6</c:v>
                </c:pt>
                <c:pt idx="354">
                  <c:v>5.49337743602696E6</c:v>
                </c:pt>
                <c:pt idx="355">
                  <c:v>5.50189979142031E6</c:v>
                </c:pt>
                <c:pt idx="356">
                  <c:v>5.4573693576602E6</c:v>
                </c:pt>
                <c:pt idx="357">
                  <c:v>5.4799821331801E6</c:v>
                </c:pt>
                <c:pt idx="358">
                  <c:v>5.4186968122901E6</c:v>
                </c:pt>
                <c:pt idx="359">
                  <c:v>5.40954540954005E6</c:v>
                </c:pt>
                <c:pt idx="360">
                  <c:v>5.31684007087546E6</c:v>
                </c:pt>
                <c:pt idx="361">
                  <c:v>5.37902389889616E6</c:v>
                </c:pt>
                <c:pt idx="362">
                  <c:v>5.3881651098145E6</c:v>
                </c:pt>
                <c:pt idx="363">
                  <c:v>5.38728613695925E6</c:v>
                </c:pt>
                <c:pt idx="364">
                  <c:v>5.20618762829742E6</c:v>
                </c:pt>
                <c:pt idx="365">
                  <c:v>5.36616162213786E6</c:v>
                </c:pt>
                <c:pt idx="366">
                  <c:v>5.45115695643565E6</c:v>
                </c:pt>
                <c:pt idx="367">
                  <c:v>5.42474763603069E6</c:v>
                </c:pt>
                <c:pt idx="368">
                  <c:v>5.42995434945708E6</c:v>
                </c:pt>
                <c:pt idx="369">
                  <c:v>5.42534456693723E6</c:v>
                </c:pt>
                <c:pt idx="370">
                  <c:v>5.3889496491539E6</c:v>
                </c:pt>
                <c:pt idx="371">
                  <c:v>5.36367537555665E6</c:v>
                </c:pt>
                <c:pt idx="372">
                  <c:v>5.38420712787862E6</c:v>
                </c:pt>
                <c:pt idx="373">
                  <c:v>5.40031853479197E6</c:v>
                </c:pt>
                <c:pt idx="374">
                  <c:v>5.3080384280059E6</c:v>
                </c:pt>
                <c:pt idx="375">
                  <c:v>5.4097159273669E6</c:v>
                </c:pt>
                <c:pt idx="376">
                  <c:v>5.39920673366668E6</c:v>
                </c:pt>
                <c:pt idx="377">
                  <c:v>5.37429425416202E6</c:v>
                </c:pt>
                <c:pt idx="378">
                  <c:v>5.38183799230237E6</c:v>
                </c:pt>
                <c:pt idx="379">
                  <c:v>5.3259328305789E6</c:v>
                </c:pt>
                <c:pt idx="380">
                  <c:v>5.40159686698558E6</c:v>
                </c:pt>
                <c:pt idx="381">
                  <c:v>5.39912233627584E6</c:v>
                </c:pt>
                <c:pt idx="382">
                  <c:v>5.32083522554292E6</c:v>
                </c:pt>
                <c:pt idx="383">
                  <c:v>5.34192613123487E6</c:v>
                </c:pt>
                <c:pt idx="384">
                  <c:v>5.27853475676179E6</c:v>
                </c:pt>
                <c:pt idx="385">
                  <c:v>5.34555639659749E6</c:v>
                </c:pt>
                <c:pt idx="386">
                  <c:v>5.31797818769355E6</c:v>
                </c:pt>
                <c:pt idx="387">
                  <c:v>5.31127023756365E6</c:v>
                </c:pt>
                <c:pt idx="388">
                  <c:v>5.27872831615315E6</c:v>
                </c:pt>
                <c:pt idx="389">
                  <c:v>5.4127768386368E6</c:v>
                </c:pt>
                <c:pt idx="390">
                  <c:v>5.43716988604471E6</c:v>
                </c:pt>
                <c:pt idx="391">
                  <c:v>5.39140718026411E6</c:v>
                </c:pt>
                <c:pt idx="392">
                  <c:v>5.45884668887729E6</c:v>
                </c:pt>
                <c:pt idx="393">
                  <c:v>5.36307132861499E6</c:v>
                </c:pt>
                <c:pt idx="394">
                  <c:v>5.43847040470388E6</c:v>
                </c:pt>
                <c:pt idx="395">
                  <c:v>5.34648627454307E6</c:v>
                </c:pt>
                <c:pt idx="396">
                  <c:v>5.37531351224623E6</c:v>
                </c:pt>
                <c:pt idx="397">
                  <c:v>5.46869799821203E6</c:v>
                </c:pt>
                <c:pt idx="398">
                  <c:v>5.37676266587147E6</c:v>
                </c:pt>
                <c:pt idx="399">
                  <c:v>5.48338752463349E6</c:v>
                </c:pt>
                <c:pt idx="400">
                  <c:v>5.46607030125942E6</c:v>
                </c:pt>
                <c:pt idx="401">
                  <c:v>5.52134582122197E6</c:v>
                </c:pt>
                <c:pt idx="402">
                  <c:v>5.44977105081955E6</c:v>
                </c:pt>
                <c:pt idx="403">
                  <c:v>5.4892112422157E6</c:v>
                </c:pt>
                <c:pt idx="404">
                  <c:v>5.5062560038058E6</c:v>
                </c:pt>
                <c:pt idx="405">
                  <c:v>5.44355646026974E6</c:v>
                </c:pt>
                <c:pt idx="406">
                  <c:v>5.44625892477311E6</c:v>
                </c:pt>
                <c:pt idx="407">
                  <c:v>5.38611103280706E6</c:v>
                </c:pt>
                <c:pt idx="408">
                  <c:v>5.4111798654302E6</c:v>
                </c:pt>
                <c:pt idx="409">
                  <c:v>5.41003093460277E6</c:v>
                </c:pt>
                <c:pt idx="410">
                  <c:v>5.4300059814089E6</c:v>
                </c:pt>
                <c:pt idx="411">
                  <c:v>5.43477586589234E6</c:v>
                </c:pt>
                <c:pt idx="412">
                  <c:v>5.39682915994438E6</c:v>
                </c:pt>
                <c:pt idx="413">
                  <c:v>5.46644460210132E6</c:v>
                </c:pt>
                <c:pt idx="414">
                  <c:v>5.4562860909652E6</c:v>
                </c:pt>
                <c:pt idx="415">
                  <c:v>5.33361712083111E6</c:v>
                </c:pt>
                <c:pt idx="416">
                  <c:v>5.35358973705923E6</c:v>
                </c:pt>
                <c:pt idx="417">
                  <c:v>5.29956998232572E6</c:v>
                </c:pt>
                <c:pt idx="418">
                  <c:v>5.4452416119153E6</c:v>
                </c:pt>
                <c:pt idx="419">
                  <c:v>5.28766577263274E6</c:v>
                </c:pt>
                <c:pt idx="420">
                  <c:v>5.36778184715674E6</c:v>
                </c:pt>
                <c:pt idx="421">
                  <c:v>5.35538525130988E6</c:v>
                </c:pt>
                <c:pt idx="422">
                  <c:v>5.33657054416518E6</c:v>
                </c:pt>
                <c:pt idx="423">
                  <c:v>5.39285905814506E6</c:v>
                </c:pt>
                <c:pt idx="424">
                  <c:v>5.38712429727035E6</c:v>
                </c:pt>
                <c:pt idx="425">
                  <c:v>5.39377826872313E6</c:v>
                </c:pt>
                <c:pt idx="426">
                  <c:v>5.41280535768986E6</c:v>
                </c:pt>
                <c:pt idx="427">
                  <c:v>5.38229202033431E6</c:v>
                </c:pt>
                <c:pt idx="428">
                  <c:v>5.36571853186642E6</c:v>
                </c:pt>
                <c:pt idx="429">
                  <c:v>5.3892497751901E6</c:v>
                </c:pt>
                <c:pt idx="430">
                  <c:v>5.29593128186363E6</c:v>
                </c:pt>
                <c:pt idx="431">
                  <c:v>5.31958737434643E6</c:v>
                </c:pt>
                <c:pt idx="432">
                  <c:v>5.28654875391125E6</c:v>
                </c:pt>
                <c:pt idx="433">
                  <c:v>5.15183512942236E6</c:v>
                </c:pt>
                <c:pt idx="434">
                  <c:v>5.33319106971222E6</c:v>
                </c:pt>
                <c:pt idx="435">
                  <c:v>5.23381374818758E6</c:v>
                </c:pt>
                <c:pt idx="436">
                  <c:v>5.29960402129712E6</c:v>
                </c:pt>
                <c:pt idx="437">
                  <c:v>5.34128080282905E6</c:v>
                </c:pt>
                <c:pt idx="438">
                  <c:v>5.32767982223695E6</c:v>
                </c:pt>
                <c:pt idx="439">
                  <c:v>5.35440179544891E6</c:v>
                </c:pt>
                <c:pt idx="440">
                  <c:v>5.2768659454451E6</c:v>
                </c:pt>
                <c:pt idx="441">
                  <c:v>5.26425021767305E6</c:v>
                </c:pt>
                <c:pt idx="442">
                  <c:v>5.35355018539001E6</c:v>
                </c:pt>
                <c:pt idx="443">
                  <c:v>5.29087077495098E6</c:v>
                </c:pt>
                <c:pt idx="444">
                  <c:v>5.1412899524972E6</c:v>
                </c:pt>
                <c:pt idx="445">
                  <c:v>5.29632943562451E6</c:v>
                </c:pt>
                <c:pt idx="446">
                  <c:v>5.22947932638566E6</c:v>
                </c:pt>
                <c:pt idx="447">
                  <c:v>5.40231703761373E6</c:v>
                </c:pt>
                <c:pt idx="448">
                  <c:v>5.37033927860151E6</c:v>
                </c:pt>
                <c:pt idx="449">
                  <c:v>5.32032713115229E6</c:v>
                </c:pt>
                <c:pt idx="450">
                  <c:v>5.31408053204679E6</c:v>
                </c:pt>
                <c:pt idx="451">
                  <c:v>5.32268048220732E6</c:v>
                </c:pt>
                <c:pt idx="452">
                  <c:v>5.32422147405782E6</c:v>
                </c:pt>
                <c:pt idx="453">
                  <c:v>5.22069958680854E6</c:v>
                </c:pt>
                <c:pt idx="454">
                  <c:v>5.28022257049794E6</c:v>
                </c:pt>
                <c:pt idx="455">
                  <c:v>5.21569803231171E6</c:v>
                </c:pt>
                <c:pt idx="456">
                  <c:v>5.17391004014776E6</c:v>
                </c:pt>
                <c:pt idx="457">
                  <c:v>5.16449259849994E6</c:v>
                </c:pt>
                <c:pt idx="458">
                  <c:v>5.15693295071842E6</c:v>
                </c:pt>
                <c:pt idx="459">
                  <c:v>5.22277916729464E6</c:v>
                </c:pt>
                <c:pt idx="460">
                  <c:v>5.19999736708534E6</c:v>
                </c:pt>
                <c:pt idx="461">
                  <c:v>5.21590299527862E6</c:v>
                </c:pt>
                <c:pt idx="462">
                  <c:v>5.10791435465081E6</c:v>
                </c:pt>
                <c:pt idx="463">
                  <c:v>5.21661403235026E6</c:v>
                </c:pt>
                <c:pt idx="464">
                  <c:v>5.12686960731889E6</c:v>
                </c:pt>
                <c:pt idx="465">
                  <c:v>5.2420916037893E6</c:v>
                </c:pt>
                <c:pt idx="466">
                  <c:v>5.34317951043281E6</c:v>
                </c:pt>
                <c:pt idx="467">
                  <c:v>5.28898558879436E6</c:v>
                </c:pt>
                <c:pt idx="468">
                  <c:v>5.20515891518578E6</c:v>
                </c:pt>
                <c:pt idx="469">
                  <c:v>5.2032367046782E6</c:v>
                </c:pt>
                <c:pt idx="470">
                  <c:v>5.32406981612699E6</c:v>
                </c:pt>
                <c:pt idx="471">
                  <c:v>5.33341547974778E6</c:v>
                </c:pt>
                <c:pt idx="472">
                  <c:v>5.36844471888375E6</c:v>
                </c:pt>
                <c:pt idx="473">
                  <c:v>5.31466241351624E6</c:v>
                </c:pt>
                <c:pt idx="474">
                  <c:v>5.28804070359215E6</c:v>
                </c:pt>
                <c:pt idx="475">
                  <c:v>5.26210218355847E6</c:v>
                </c:pt>
                <c:pt idx="476">
                  <c:v>5.31861254723974E6</c:v>
                </c:pt>
                <c:pt idx="477">
                  <c:v>5.33372141900529E6</c:v>
                </c:pt>
                <c:pt idx="478">
                  <c:v>5.23943160284161E6</c:v>
                </c:pt>
                <c:pt idx="479">
                  <c:v>5.21784480680007E6</c:v>
                </c:pt>
                <c:pt idx="480">
                  <c:v>5.15627666315998E6</c:v>
                </c:pt>
                <c:pt idx="481">
                  <c:v>5.13324394828986E6</c:v>
                </c:pt>
                <c:pt idx="482">
                  <c:v>5.29916601630022E6</c:v>
                </c:pt>
                <c:pt idx="483">
                  <c:v>5.26087587731039E6</c:v>
                </c:pt>
                <c:pt idx="484">
                  <c:v>5.25573907023849E6</c:v>
                </c:pt>
                <c:pt idx="485">
                  <c:v>5.29305205018286E6</c:v>
                </c:pt>
                <c:pt idx="486">
                  <c:v>5.30634083028246E6</c:v>
                </c:pt>
                <c:pt idx="487">
                  <c:v>5.3593828520526E6</c:v>
                </c:pt>
                <c:pt idx="488">
                  <c:v>5.21604405598741E6</c:v>
                </c:pt>
                <c:pt idx="489">
                  <c:v>5.22741889067801E6</c:v>
                </c:pt>
                <c:pt idx="490">
                  <c:v>5.31957583859592E6</c:v>
                </c:pt>
                <c:pt idx="491">
                  <c:v>5.41367271717093E6</c:v>
                </c:pt>
                <c:pt idx="492">
                  <c:v>5.37988887601733E6</c:v>
                </c:pt>
                <c:pt idx="493">
                  <c:v>5.4279282107245E6</c:v>
                </c:pt>
                <c:pt idx="494">
                  <c:v>5.3958529825122E6</c:v>
                </c:pt>
                <c:pt idx="495">
                  <c:v>5.4324440592866E6</c:v>
                </c:pt>
                <c:pt idx="496">
                  <c:v>5.43779593244841E6</c:v>
                </c:pt>
                <c:pt idx="497">
                  <c:v>5.37752825874013E6</c:v>
                </c:pt>
                <c:pt idx="498">
                  <c:v>5.41445633699865E6</c:v>
                </c:pt>
                <c:pt idx="499">
                  <c:v>5.41970421471612E6</c:v>
                </c:pt>
                <c:pt idx="500">
                  <c:v>5.40787255847539E6</c:v>
                </c:pt>
                <c:pt idx="501">
                  <c:v>5.4302653588789E6</c:v>
                </c:pt>
                <c:pt idx="502">
                  <c:v>5.32111104782117E6</c:v>
                </c:pt>
                <c:pt idx="503">
                  <c:v>5.34568919140893E6</c:v>
                </c:pt>
                <c:pt idx="504">
                  <c:v>5.27502378505175E6</c:v>
                </c:pt>
                <c:pt idx="505">
                  <c:v>5.35328640880983E6</c:v>
                </c:pt>
                <c:pt idx="506">
                  <c:v>5.3349780933519E6</c:v>
                </c:pt>
                <c:pt idx="507">
                  <c:v>5.2391705878671E6</c:v>
                </c:pt>
                <c:pt idx="508">
                  <c:v>5.44064425319827E6</c:v>
                </c:pt>
                <c:pt idx="509">
                  <c:v>5.50648401529401E6</c:v>
                </c:pt>
                <c:pt idx="510">
                  <c:v>5.51687700321031E6</c:v>
                </c:pt>
                <c:pt idx="511">
                  <c:v>5.52935841410383E6</c:v>
                </c:pt>
                <c:pt idx="512">
                  <c:v>5.39099413478427E6</c:v>
                </c:pt>
                <c:pt idx="513">
                  <c:v>5.41011646859154E6</c:v>
                </c:pt>
                <c:pt idx="514">
                  <c:v>5.46266839006982E6</c:v>
                </c:pt>
                <c:pt idx="515">
                  <c:v>5.46770027841453E6</c:v>
                </c:pt>
                <c:pt idx="516">
                  <c:v>5.33692909551061E6</c:v>
                </c:pt>
                <c:pt idx="517">
                  <c:v>5.36059483921033E6</c:v>
                </c:pt>
                <c:pt idx="518">
                  <c:v>5.40009398596186E6</c:v>
                </c:pt>
                <c:pt idx="519">
                  <c:v>5.39912551987197E6</c:v>
                </c:pt>
                <c:pt idx="520">
                  <c:v>5.43865475036922E6</c:v>
                </c:pt>
                <c:pt idx="521">
                  <c:v>5.3927299044945E6</c:v>
                </c:pt>
                <c:pt idx="522">
                  <c:v>5.35411300726413E6</c:v>
                </c:pt>
                <c:pt idx="523">
                  <c:v>5.44618707875468E6</c:v>
                </c:pt>
                <c:pt idx="524">
                  <c:v>5.36473917216691E6</c:v>
                </c:pt>
                <c:pt idx="525">
                  <c:v>5.41489341873509E6</c:v>
                </c:pt>
                <c:pt idx="526">
                  <c:v>5.3161356401665E6</c:v>
                </c:pt>
                <c:pt idx="527">
                  <c:v>5.32346648835033E6</c:v>
                </c:pt>
                <c:pt idx="528">
                  <c:v>5.23424484119763E6</c:v>
                </c:pt>
                <c:pt idx="529">
                  <c:v>5.23210868179395E6</c:v>
                </c:pt>
                <c:pt idx="530">
                  <c:v>5.23653135378987E6</c:v>
                </c:pt>
                <c:pt idx="531">
                  <c:v>5.27267182853854E6</c:v>
                </c:pt>
                <c:pt idx="532">
                  <c:v>5.22855129000797E6</c:v>
                </c:pt>
                <c:pt idx="533">
                  <c:v>5.29258673048237E6</c:v>
                </c:pt>
                <c:pt idx="534">
                  <c:v>5.32965602137662E6</c:v>
                </c:pt>
                <c:pt idx="535">
                  <c:v>5.29616935038974E6</c:v>
                </c:pt>
                <c:pt idx="536">
                  <c:v>5.31774740185061E6</c:v>
                </c:pt>
                <c:pt idx="537">
                  <c:v>5.29604297599683E6</c:v>
                </c:pt>
                <c:pt idx="538">
                  <c:v>5.31475133123816E6</c:v>
                </c:pt>
                <c:pt idx="539">
                  <c:v>5.26720503273585E6</c:v>
                </c:pt>
                <c:pt idx="540">
                  <c:v>5.23192265163541E6</c:v>
                </c:pt>
                <c:pt idx="541">
                  <c:v>5.0962915138233E6</c:v>
                </c:pt>
                <c:pt idx="542">
                  <c:v>5.15930818566238E6</c:v>
                </c:pt>
                <c:pt idx="543">
                  <c:v>5.21578349106048E6</c:v>
                </c:pt>
                <c:pt idx="544">
                  <c:v>5.20989122453136E6</c:v>
                </c:pt>
                <c:pt idx="545">
                  <c:v>5.2477565847519E6</c:v>
                </c:pt>
                <c:pt idx="546">
                  <c:v>5.15945007315235E6</c:v>
                </c:pt>
                <c:pt idx="547">
                  <c:v>5.23740146686391E6</c:v>
                </c:pt>
                <c:pt idx="548">
                  <c:v>5.22609204479291E6</c:v>
                </c:pt>
                <c:pt idx="549">
                  <c:v>5.1962534208784E6</c:v>
                </c:pt>
                <c:pt idx="550">
                  <c:v>5.19420593129256E6</c:v>
                </c:pt>
                <c:pt idx="551">
                  <c:v>5.11778226243852E6</c:v>
                </c:pt>
                <c:pt idx="552">
                  <c:v>5.111945266543E6</c:v>
                </c:pt>
                <c:pt idx="553">
                  <c:v>5.14478644528575E6</c:v>
                </c:pt>
                <c:pt idx="554">
                  <c:v>5.20695790803526E6</c:v>
                </c:pt>
                <c:pt idx="555">
                  <c:v>5.21526204763736E6</c:v>
                </c:pt>
                <c:pt idx="556">
                  <c:v>5.13597098315906E6</c:v>
                </c:pt>
                <c:pt idx="557">
                  <c:v>5.23714401106476E6</c:v>
                </c:pt>
                <c:pt idx="558">
                  <c:v>5.19460180035691E6</c:v>
                </c:pt>
                <c:pt idx="559">
                  <c:v>5.28141568878165E6</c:v>
                </c:pt>
                <c:pt idx="560">
                  <c:v>5.27819058708939E6</c:v>
                </c:pt>
                <c:pt idx="561">
                  <c:v>5.22394965760875E6</c:v>
                </c:pt>
                <c:pt idx="562">
                  <c:v>5.23587642452704E6</c:v>
                </c:pt>
                <c:pt idx="563">
                  <c:v>5.22249928684613E6</c:v>
                </c:pt>
                <c:pt idx="564">
                  <c:v>5.21224777643054E6</c:v>
                </c:pt>
                <c:pt idx="565">
                  <c:v>5.23509076875009E6</c:v>
                </c:pt>
                <c:pt idx="566">
                  <c:v>5.23016541271832E6</c:v>
                </c:pt>
                <c:pt idx="567">
                  <c:v>5.24771903305003E6</c:v>
                </c:pt>
                <c:pt idx="568">
                  <c:v>5.24056355355437E6</c:v>
                </c:pt>
                <c:pt idx="569">
                  <c:v>5.25737407229648E6</c:v>
                </c:pt>
                <c:pt idx="570">
                  <c:v>5.25304198135244E6</c:v>
                </c:pt>
                <c:pt idx="571">
                  <c:v>5.2229525604358E6</c:v>
                </c:pt>
                <c:pt idx="572">
                  <c:v>5.26127125273653E6</c:v>
                </c:pt>
                <c:pt idx="573">
                  <c:v>5.21009373872444E6</c:v>
                </c:pt>
                <c:pt idx="574">
                  <c:v>5.22534351267101E6</c:v>
                </c:pt>
                <c:pt idx="575">
                  <c:v>5.11808120678741E6</c:v>
                </c:pt>
                <c:pt idx="576">
                  <c:v>5.1603909355702E6</c:v>
                </c:pt>
                <c:pt idx="577">
                  <c:v>5.21156043677624E6</c:v>
                </c:pt>
                <c:pt idx="578">
                  <c:v>5.19656232179447E6</c:v>
                </c:pt>
                <c:pt idx="579">
                  <c:v>5.2403938034502E6</c:v>
                </c:pt>
                <c:pt idx="580">
                  <c:v>5.17560794849343E6</c:v>
                </c:pt>
                <c:pt idx="581">
                  <c:v>5.25839951041928E6</c:v>
                </c:pt>
                <c:pt idx="582">
                  <c:v>5.29588635778203E6</c:v>
                </c:pt>
                <c:pt idx="583">
                  <c:v>5.30322564225575E6</c:v>
                </c:pt>
                <c:pt idx="584">
                  <c:v>5.30618836579641E6</c:v>
                </c:pt>
                <c:pt idx="585">
                  <c:v>5.25272594837043E6</c:v>
                </c:pt>
                <c:pt idx="586">
                  <c:v>5.32295212949539E6</c:v>
                </c:pt>
                <c:pt idx="587">
                  <c:v>5.33157225195979E6</c:v>
                </c:pt>
                <c:pt idx="588">
                  <c:v>5.3188670341435E6</c:v>
                </c:pt>
                <c:pt idx="589">
                  <c:v>5.1983663111912E6</c:v>
                </c:pt>
                <c:pt idx="590">
                  <c:v>5.38036863660954E6</c:v>
                </c:pt>
                <c:pt idx="591">
                  <c:v>5.449399344578E6</c:v>
                </c:pt>
                <c:pt idx="592">
                  <c:v>5.45680402087393E6</c:v>
                </c:pt>
                <c:pt idx="593">
                  <c:v>5.42021739889656E6</c:v>
                </c:pt>
                <c:pt idx="594">
                  <c:v>5.43981352156793E6</c:v>
                </c:pt>
                <c:pt idx="595">
                  <c:v>5.46722466921264E6</c:v>
                </c:pt>
                <c:pt idx="596">
                  <c:v>5.44330864716585E6</c:v>
                </c:pt>
                <c:pt idx="597">
                  <c:v>5.47935819230403E6</c:v>
                </c:pt>
                <c:pt idx="598">
                  <c:v>5.38021823615533E6</c:v>
                </c:pt>
                <c:pt idx="599">
                  <c:v>5.36831367147839E6</c:v>
                </c:pt>
                <c:pt idx="600">
                  <c:v>5.37427669588073E6</c:v>
                </c:pt>
                <c:pt idx="601">
                  <c:v>5.33589621568538E6</c:v>
                </c:pt>
                <c:pt idx="602">
                  <c:v>5.43260644882578E6</c:v>
                </c:pt>
                <c:pt idx="603">
                  <c:v>5.42596431647208E6</c:v>
                </c:pt>
                <c:pt idx="604">
                  <c:v>5.41978152654361E6</c:v>
                </c:pt>
                <c:pt idx="605">
                  <c:v>5.4506349451291E6</c:v>
                </c:pt>
                <c:pt idx="606">
                  <c:v>5.45614293091442E6</c:v>
                </c:pt>
                <c:pt idx="607">
                  <c:v>5.49701252821544E6</c:v>
                </c:pt>
                <c:pt idx="608">
                  <c:v>5.41438042930968E6</c:v>
                </c:pt>
                <c:pt idx="609">
                  <c:v>5.36179643021821E6</c:v>
                </c:pt>
                <c:pt idx="610">
                  <c:v>5.41245951797928E6</c:v>
                </c:pt>
                <c:pt idx="611">
                  <c:v>5.36445048059051E6</c:v>
                </c:pt>
                <c:pt idx="612">
                  <c:v>5.30791244469173E6</c:v>
                </c:pt>
                <c:pt idx="613">
                  <c:v>5.17690596315942E6</c:v>
                </c:pt>
                <c:pt idx="614">
                  <c:v>5.30546146807291E6</c:v>
                </c:pt>
                <c:pt idx="615">
                  <c:v>5.33386292260253E6</c:v>
                </c:pt>
                <c:pt idx="616">
                  <c:v>5.34716564056987E6</c:v>
                </c:pt>
                <c:pt idx="617">
                  <c:v>5.21732221144821E6</c:v>
                </c:pt>
                <c:pt idx="618">
                  <c:v>5.33162476598435E6</c:v>
                </c:pt>
                <c:pt idx="619">
                  <c:v>5.27738046389601E6</c:v>
                </c:pt>
                <c:pt idx="620">
                  <c:v>5.31829796653755E6</c:v>
                </c:pt>
                <c:pt idx="621">
                  <c:v>5.31650411341265E6</c:v>
                </c:pt>
                <c:pt idx="622">
                  <c:v>5.26634257568029E6</c:v>
                </c:pt>
                <c:pt idx="623">
                  <c:v>5.21782814339572E6</c:v>
                </c:pt>
                <c:pt idx="624">
                  <c:v>5.21714490905913E6</c:v>
                </c:pt>
                <c:pt idx="625">
                  <c:v>5.21002092135333E6</c:v>
                </c:pt>
                <c:pt idx="626">
                  <c:v>5.28788846258209E6</c:v>
                </c:pt>
                <c:pt idx="627">
                  <c:v>5.27566887802996E6</c:v>
                </c:pt>
                <c:pt idx="628">
                  <c:v>5.29986657240666E6</c:v>
                </c:pt>
                <c:pt idx="629">
                  <c:v>5.27957584522084E6</c:v>
                </c:pt>
                <c:pt idx="630">
                  <c:v>5.34871184305747E6</c:v>
                </c:pt>
                <c:pt idx="631">
                  <c:v>5.30765744566146E6</c:v>
                </c:pt>
                <c:pt idx="632">
                  <c:v>5.25806815230853E6</c:v>
                </c:pt>
                <c:pt idx="633">
                  <c:v>5.22681001336172E6</c:v>
                </c:pt>
                <c:pt idx="634">
                  <c:v>5.25600666794725E6</c:v>
                </c:pt>
                <c:pt idx="635">
                  <c:v>5.2610732831278E6</c:v>
                </c:pt>
                <c:pt idx="636">
                  <c:v>5.08869488395725E6</c:v>
                </c:pt>
                <c:pt idx="637">
                  <c:v>5.16772228906569E6</c:v>
                </c:pt>
                <c:pt idx="638">
                  <c:v>5.14670552398932E6</c:v>
                </c:pt>
                <c:pt idx="639">
                  <c:v>5.2527387448263E6</c:v>
                </c:pt>
                <c:pt idx="640">
                  <c:v>5.23220884935809E6</c:v>
                </c:pt>
                <c:pt idx="641">
                  <c:v>5.22727725211686E6</c:v>
                </c:pt>
                <c:pt idx="642">
                  <c:v>5.22813001440327E6</c:v>
                </c:pt>
                <c:pt idx="643">
                  <c:v>5.24129209747687E6</c:v>
                </c:pt>
                <c:pt idx="644">
                  <c:v>5.23089522478899E6</c:v>
                </c:pt>
                <c:pt idx="645">
                  <c:v>5.31016960940496E6</c:v>
                </c:pt>
                <c:pt idx="646">
                  <c:v>5.30119611051358E6</c:v>
                </c:pt>
                <c:pt idx="647">
                  <c:v>5.2283591609482E6</c:v>
                </c:pt>
                <c:pt idx="648">
                  <c:v>5.24934520383947E6</c:v>
                </c:pt>
                <c:pt idx="649">
                  <c:v>5.21745054034363E6</c:v>
                </c:pt>
                <c:pt idx="650">
                  <c:v>5.31939106252046E6</c:v>
                </c:pt>
                <c:pt idx="651">
                  <c:v>5.27773178282478E6</c:v>
                </c:pt>
                <c:pt idx="652">
                  <c:v>5.31068668159441E6</c:v>
                </c:pt>
                <c:pt idx="653">
                  <c:v>5.36765096253516E6</c:v>
                </c:pt>
                <c:pt idx="654">
                  <c:v>5.37467715943112E6</c:v>
                </c:pt>
                <c:pt idx="655">
                  <c:v>5.38013394096739E6</c:v>
                </c:pt>
                <c:pt idx="656">
                  <c:v>5.33275335984779E6</c:v>
                </c:pt>
                <c:pt idx="657">
                  <c:v>5.26656036185866E6</c:v>
                </c:pt>
                <c:pt idx="658">
                  <c:v>5.36380011321268E6</c:v>
                </c:pt>
                <c:pt idx="659">
                  <c:v>5.32925317250021E6</c:v>
                </c:pt>
                <c:pt idx="660">
                  <c:v>5.28694111430695E6</c:v>
                </c:pt>
                <c:pt idx="661">
                  <c:v>5.21610350585579E6</c:v>
                </c:pt>
                <c:pt idx="662">
                  <c:v>5.21163579355917E6</c:v>
                </c:pt>
                <c:pt idx="663">
                  <c:v>5.2642449641457E6</c:v>
                </c:pt>
                <c:pt idx="664">
                  <c:v>5.3067798492162E6</c:v>
                </c:pt>
                <c:pt idx="665">
                  <c:v>5.26282689638394E6</c:v>
                </c:pt>
                <c:pt idx="666">
                  <c:v>5.31844244848142E6</c:v>
                </c:pt>
                <c:pt idx="667">
                  <c:v>5.02597461357309E6</c:v>
                </c:pt>
                <c:pt idx="668">
                  <c:v>5.05172969394116E6</c:v>
                </c:pt>
                <c:pt idx="669">
                  <c:v>5.29792784808406E6</c:v>
                </c:pt>
                <c:pt idx="670">
                  <c:v>5.19892904003337E6</c:v>
                </c:pt>
                <c:pt idx="671">
                  <c:v>5.19681421247937E6</c:v>
                </c:pt>
                <c:pt idx="672">
                  <c:v>5.01597705974701E6</c:v>
                </c:pt>
                <c:pt idx="673">
                  <c:v>5.070285965096E6</c:v>
                </c:pt>
                <c:pt idx="674">
                  <c:v>5.11408610227747E6</c:v>
                </c:pt>
                <c:pt idx="675">
                  <c:v>5.16216335619448E6</c:v>
                </c:pt>
                <c:pt idx="676">
                  <c:v>5.16882965933397E6</c:v>
                </c:pt>
                <c:pt idx="677">
                  <c:v>5.20102677014418E6</c:v>
                </c:pt>
                <c:pt idx="678">
                  <c:v>5.23448463747356E6</c:v>
                </c:pt>
                <c:pt idx="679">
                  <c:v>5.21901800237654E6</c:v>
                </c:pt>
                <c:pt idx="680">
                  <c:v>5.15552822717893E6</c:v>
                </c:pt>
                <c:pt idx="681">
                  <c:v>5.06110499773333E6</c:v>
                </c:pt>
                <c:pt idx="682">
                  <c:v>5.19862117259632E6</c:v>
                </c:pt>
                <c:pt idx="683">
                  <c:v>5.09684145115874E6</c:v>
                </c:pt>
                <c:pt idx="684">
                  <c:v>5.13472695835235E6</c:v>
                </c:pt>
                <c:pt idx="685">
                  <c:v>5.10847179109014E6</c:v>
                </c:pt>
                <c:pt idx="686">
                  <c:v>5.23278996839458E6</c:v>
                </c:pt>
                <c:pt idx="687">
                  <c:v>5.18692415171963E6</c:v>
                </c:pt>
                <c:pt idx="688">
                  <c:v>5.19510627231151E6</c:v>
                </c:pt>
                <c:pt idx="689">
                  <c:v>5.18238822084922E6</c:v>
                </c:pt>
                <c:pt idx="690">
                  <c:v>5.16271382514488E6</c:v>
                </c:pt>
                <c:pt idx="691">
                  <c:v>5.34739886077481E6</c:v>
                </c:pt>
                <c:pt idx="692">
                  <c:v>5.28786153280789E6</c:v>
                </c:pt>
                <c:pt idx="693">
                  <c:v>5.31773759680372E6</c:v>
                </c:pt>
                <c:pt idx="694">
                  <c:v>5.21433374914437E6</c:v>
                </c:pt>
                <c:pt idx="695">
                  <c:v>5.22594972091941E6</c:v>
                </c:pt>
                <c:pt idx="696">
                  <c:v>5.1307486195947E6</c:v>
                </c:pt>
                <c:pt idx="697">
                  <c:v>5.20621324295085E6</c:v>
                </c:pt>
                <c:pt idx="698">
                  <c:v>5.19493429527691E6</c:v>
                </c:pt>
                <c:pt idx="699">
                  <c:v>5.23720158635092E6</c:v>
                </c:pt>
                <c:pt idx="700">
                  <c:v>5.18724510843327E6</c:v>
                </c:pt>
                <c:pt idx="701">
                  <c:v>5.22317156512127E6</c:v>
                </c:pt>
                <c:pt idx="702">
                  <c:v>5.30748232580667E6</c:v>
                </c:pt>
                <c:pt idx="703">
                  <c:v>5.26937288297601E6</c:v>
                </c:pt>
                <c:pt idx="704">
                  <c:v>5.30372344061892E6</c:v>
                </c:pt>
                <c:pt idx="705">
                  <c:v>5.28813556390953E6</c:v>
                </c:pt>
                <c:pt idx="706">
                  <c:v>5.27219349015034E6</c:v>
                </c:pt>
                <c:pt idx="707">
                  <c:v>5.24902313871228E6</c:v>
                </c:pt>
                <c:pt idx="708">
                  <c:v>5.27337021583396E6</c:v>
                </c:pt>
                <c:pt idx="709">
                  <c:v>5.26181842768943E6</c:v>
                </c:pt>
                <c:pt idx="710">
                  <c:v>5.20736199288646E6</c:v>
                </c:pt>
                <c:pt idx="711">
                  <c:v>5.20572837758136E6</c:v>
                </c:pt>
                <c:pt idx="712">
                  <c:v>5.23792961057036E6</c:v>
                </c:pt>
                <c:pt idx="713">
                  <c:v>5.26376211976802E6</c:v>
                </c:pt>
                <c:pt idx="714">
                  <c:v>5.23983148348887E6</c:v>
                </c:pt>
                <c:pt idx="715">
                  <c:v>5.26409916447473E6</c:v>
                </c:pt>
                <c:pt idx="716">
                  <c:v>5.2649902555743E6</c:v>
                </c:pt>
                <c:pt idx="717">
                  <c:v>5.28152972876487E6</c:v>
                </c:pt>
                <c:pt idx="718">
                  <c:v>5.2436383839763E6</c:v>
                </c:pt>
                <c:pt idx="719">
                  <c:v>5.18860767146457E6</c:v>
                </c:pt>
                <c:pt idx="720">
                  <c:v>5.11594070113984E6</c:v>
                </c:pt>
                <c:pt idx="721">
                  <c:v>5.16125167978198E6</c:v>
                </c:pt>
                <c:pt idx="722">
                  <c:v>5.13540382873496E6</c:v>
                </c:pt>
                <c:pt idx="723">
                  <c:v>5.17523716260621E6</c:v>
                </c:pt>
                <c:pt idx="724">
                  <c:v>5.25086488750249E6</c:v>
                </c:pt>
                <c:pt idx="725">
                  <c:v>5.17893564817163E6</c:v>
                </c:pt>
                <c:pt idx="726">
                  <c:v>5.27987054051118E6</c:v>
                </c:pt>
                <c:pt idx="727">
                  <c:v>5.26699201788849E6</c:v>
                </c:pt>
                <c:pt idx="728">
                  <c:v>5.30931835240584E6</c:v>
                </c:pt>
                <c:pt idx="729">
                  <c:v>5.23879545427794E6</c:v>
                </c:pt>
                <c:pt idx="730">
                  <c:v>5.19627285832246E6</c:v>
                </c:pt>
                <c:pt idx="731">
                  <c:v>5.23438710371286E6</c:v>
                </c:pt>
                <c:pt idx="732">
                  <c:v>5.2834346448619E6</c:v>
                </c:pt>
                <c:pt idx="733">
                  <c:v>5.21239046265618E6</c:v>
                </c:pt>
                <c:pt idx="734">
                  <c:v>5.21088005931739E6</c:v>
                </c:pt>
                <c:pt idx="735">
                  <c:v>5.25644267383811E6</c:v>
                </c:pt>
                <c:pt idx="736">
                  <c:v>5.23772271023533E6</c:v>
                </c:pt>
                <c:pt idx="737">
                  <c:v>5.22016498003307E6</c:v>
                </c:pt>
                <c:pt idx="738">
                  <c:v>5.202570035627E6</c:v>
                </c:pt>
                <c:pt idx="739">
                  <c:v>5.25985777875208E6</c:v>
                </c:pt>
                <c:pt idx="740">
                  <c:v>5.26948313381423E6</c:v>
                </c:pt>
                <c:pt idx="741">
                  <c:v>5.24498959555289E6</c:v>
                </c:pt>
              </c:numCache>
            </c:numRef>
          </c:val>
        </c:ser>
        <c:axId val="489568680"/>
        <c:axId val="626814440"/>
      </c:areaChart>
      <c:lineChart>
        <c:grouping val="standard"/>
        <c:ser>
          <c:idx val="1"/>
          <c:order val="1"/>
          <c:marker>
            <c:symbol val="none"/>
          </c:marker>
          <c:val>
            <c:numRef>
              <c:f>'memplotperhour.out'!$D$1:$D$742</c:f>
              <c:numCache>
                <c:formatCode>General</c:formatCode>
                <c:ptCount val="742"/>
                <c:pt idx="0">
                  <c:v>7.69591314450196E6</c:v>
                </c:pt>
                <c:pt idx="1">
                  <c:v>7.69591314450196E6</c:v>
                </c:pt>
                <c:pt idx="2">
                  <c:v>7.69591314450196E6</c:v>
                </c:pt>
                <c:pt idx="3">
                  <c:v>7.69591314450196E6</c:v>
                </c:pt>
                <c:pt idx="4">
                  <c:v>7.69591314450196E6</c:v>
                </c:pt>
                <c:pt idx="5">
                  <c:v>7.69591314450196E6</c:v>
                </c:pt>
                <c:pt idx="6">
                  <c:v>7.69591314450196E6</c:v>
                </c:pt>
                <c:pt idx="7">
                  <c:v>7.69591314450196E6</c:v>
                </c:pt>
                <c:pt idx="8">
                  <c:v>7.69591314450196E6</c:v>
                </c:pt>
                <c:pt idx="9">
                  <c:v>7.69591314450196E6</c:v>
                </c:pt>
                <c:pt idx="10">
                  <c:v>7.69591314450196E6</c:v>
                </c:pt>
                <c:pt idx="11">
                  <c:v>7.69591314450196E6</c:v>
                </c:pt>
                <c:pt idx="12">
                  <c:v>7.69591314450196E6</c:v>
                </c:pt>
                <c:pt idx="13">
                  <c:v>7.69591314450196E6</c:v>
                </c:pt>
                <c:pt idx="14">
                  <c:v>7.69591314450196E6</c:v>
                </c:pt>
                <c:pt idx="15">
                  <c:v>7.69591314450196E6</c:v>
                </c:pt>
                <c:pt idx="16">
                  <c:v>7.69591314450196E6</c:v>
                </c:pt>
                <c:pt idx="17">
                  <c:v>7.69591314450196E6</c:v>
                </c:pt>
                <c:pt idx="18">
                  <c:v>7.69591314450196E6</c:v>
                </c:pt>
                <c:pt idx="19">
                  <c:v>7.69591314450196E6</c:v>
                </c:pt>
                <c:pt idx="20">
                  <c:v>7.69591314450196E6</c:v>
                </c:pt>
                <c:pt idx="21">
                  <c:v>7.69591314450196E6</c:v>
                </c:pt>
                <c:pt idx="22">
                  <c:v>7.69591314450196E6</c:v>
                </c:pt>
                <c:pt idx="23">
                  <c:v>7.69591314450196E6</c:v>
                </c:pt>
                <c:pt idx="24">
                  <c:v>7.69591314450196E6</c:v>
                </c:pt>
                <c:pt idx="25">
                  <c:v>7.69591314450196E6</c:v>
                </c:pt>
                <c:pt idx="26">
                  <c:v>7.69591314450196E6</c:v>
                </c:pt>
                <c:pt idx="27">
                  <c:v>7.69591314450196E6</c:v>
                </c:pt>
                <c:pt idx="28">
                  <c:v>7.69591314450196E6</c:v>
                </c:pt>
                <c:pt idx="29">
                  <c:v>7.69591314450196E6</c:v>
                </c:pt>
                <c:pt idx="30">
                  <c:v>7.69591314450196E6</c:v>
                </c:pt>
                <c:pt idx="31">
                  <c:v>7.69591314450196E6</c:v>
                </c:pt>
                <c:pt idx="32">
                  <c:v>7.69591314450196E6</c:v>
                </c:pt>
                <c:pt idx="33">
                  <c:v>7.69591314450196E6</c:v>
                </c:pt>
                <c:pt idx="34">
                  <c:v>7.69591314450196E6</c:v>
                </c:pt>
                <c:pt idx="35">
                  <c:v>7.69591314450196E6</c:v>
                </c:pt>
                <c:pt idx="36">
                  <c:v>7.69591314450196E6</c:v>
                </c:pt>
                <c:pt idx="37">
                  <c:v>7.69591314450196E6</c:v>
                </c:pt>
                <c:pt idx="38">
                  <c:v>7.69591314450196E6</c:v>
                </c:pt>
                <c:pt idx="39">
                  <c:v>7.69591314450196E6</c:v>
                </c:pt>
                <c:pt idx="40">
                  <c:v>7.69591314450196E6</c:v>
                </c:pt>
                <c:pt idx="41">
                  <c:v>7.69591314450196E6</c:v>
                </c:pt>
                <c:pt idx="42">
                  <c:v>7.69591314450196E6</c:v>
                </c:pt>
                <c:pt idx="43">
                  <c:v>7.69591314450196E6</c:v>
                </c:pt>
                <c:pt idx="44">
                  <c:v>7.69591314450196E6</c:v>
                </c:pt>
                <c:pt idx="45">
                  <c:v>7.69591314450196E6</c:v>
                </c:pt>
                <c:pt idx="46">
                  <c:v>7.69591314450196E6</c:v>
                </c:pt>
                <c:pt idx="47">
                  <c:v>7.69591314450196E6</c:v>
                </c:pt>
                <c:pt idx="48">
                  <c:v>7.69591314450196E6</c:v>
                </c:pt>
                <c:pt idx="49">
                  <c:v>7.69591314450196E6</c:v>
                </c:pt>
                <c:pt idx="50">
                  <c:v>7.69591314450196E6</c:v>
                </c:pt>
                <c:pt idx="51">
                  <c:v>7.69591314450196E6</c:v>
                </c:pt>
                <c:pt idx="52">
                  <c:v>7.69591314450196E6</c:v>
                </c:pt>
                <c:pt idx="53">
                  <c:v>7.69591314450196E6</c:v>
                </c:pt>
                <c:pt idx="54">
                  <c:v>7.69591314450196E6</c:v>
                </c:pt>
                <c:pt idx="55">
                  <c:v>7.69591314450196E6</c:v>
                </c:pt>
                <c:pt idx="56">
                  <c:v>7.69591314450196E6</c:v>
                </c:pt>
                <c:pt idx="57">
                  <c:v>7.69591314450196E6</c:v>
                </c:pt>
                <c:pt idx="58">
                  <c:v>7.69591314450196E6</c:v>
                </c:pt>
                <c:pt idx="59">
                  <c:v>7.69591314450196E6</c:v>
                </c:pt>
                <c:pt idx="60">
                  <c:v>7.69591314450196E6</c:v>
                </c:pt>
                <c:pt idx="61">
                  <c:v>7.69591314450196E6</c:v>
                </c:pt>
                <c:pt idx="62">
                  <c:v>7.69591314450196E6</c:v>
                </c:pt>
                <c:pt idx="63">
                  <c:v>7.69591314450196E6</c:v>
                </c:pt>
                <c:pt idx="64">
                  <c:v>7.69591314450196E6</c:v>
                </c:pt>
                <c:pt idx="65">
                  <c:v>7.69591314450196E6</c:v>
                </c:pt>
                <c:pt idx="66">
                  <c:v>7.69591314450196E6</c:v>
                </c:pt>
                <c:pt idx="67">
                  <c:v>7.69591314450196E6</c:v>
                </c:pt>
                <c:pt idx="68">
                  <c:v>7.69591314450196E6</c:v>
                </c:pt>
                <c:pt idx="69">
                  <c:v>7.69591314450196E6</c:v>
                </c:pt>
                <c:pt idx="70">
                  <c:v>7.69591314450196E6</c:v>
                </c:pt>
                <c:pt idx="71">
                  <c:v>7.69591314450196E6</c:v>
                </c:pt>
                <c:pt idx="72">
                  <c:v>7.69591314450196E6</c:v>
                </c:pt>
                <c:pt idx="73">
                  <c:v>7.69591314450196E6</c:v>
                </c:pt>
                <c:pt idx="74">
                  <c:v>7.69591314450196E6</c:v>
                </c:pt>
                <c:pt idx="75">
                  <c:v>7.69591314450196E6</c:v>
                </c:pt>
                <c:pt idx="76">
                  <c:v>7.69591314450196E6</c:v>
                </c:pt>
                <c:pt idx="77">
                  <c:v>7.69591314450196E6</c:v>
                </c:pt>
                <c:pt idx="78">
                  <c:v>7.69591314450196E6</c:v>
                </c:pt>
                <c:pt idx="79">
                  <c:v>7.69591314450196E6</c:v>
                </c:pt>
                <c:pt idx="80">
                  <c:v>7.69591314450196E6</c:v>
                </c:pt>
                <c:pt idx="81">
                  <c:v>7.69591314450196E6</c:v>
                </c:pt>
                <c:pt idx="82">
                  <c:v>7.69591314450196E6</c:v>
                </c:pt>
                <c:pt idx="83">
                  <c:v>7.69591314450196E6</c:v>
                </c:pt>
                <c:pt idx="84">
                  <c:v>7.69591314450196E6</c:v>
                </c:pt>
                <c:pt idx="85">
                  <c:v>7.69591314450196E6</c:v>
                </c:pt>
                <c:pt idx="86">
                  <c:v>7.69591314450196E6</c:v>
                </c:pt>
                <c:pt idx="87">
                  <c:v>7.69591314450196E6</c:v>
                </c:pt>
                <c:pt idx="88">
                  <c:v>7.69591314450196E6</c:v>
                </c:pt>
                <c:pt idx="89">
                  <c:v>7.69591314450196E6</c:v>
                </c:pt>
                <c:pt idx="90">
                  <c:v>7.69591314450196E6</c:v>
                </c:pt>
                <c:pt idx="91">
                  <c:v>7.69591314450196E6</c:v>
                </c:pt>
                <c:pt idx="92">
                  <c:v>7.69591314450196E6</c:v>
                </c:pt>
                <c:pt idx="93">
                  <c:v>7.69591314450196E6</c:v>
                </c:pt>
                <c:pt idx="94">
                  <c:v>7.69591314450196E6</c:v>
                </c:pt>
                <c:pt idx="95">
                  <c:v>7.69591314450196E6</c:v>
                </c:pt>
                <c:pt idx="96">
                  <c:v>7.69591314450196E6</c:v>
                </c:pt>
                <c:pt idx="97">
                  <c:v>7.69591314450196E6</c:v>
                </c:pt>
                <c:pt idx="98">
                  <c:v>7.69591314450196E6</c:v>
                </c:pt>
                <c:pt idx="99">
                  <c:v>7.69591314450196E6</c:v>
                </c:pt>
                <c:pt idx="100">
                  <c:v>7.69591314450196E6</c:v>
                </c:pt>
                <c:pt idx="101">
                  <c:v>7.69591314450196E6</c:v>
                </c:pt>
                <c:pt idx="102">
                  <c:v>7.69591314450196E6</c:v>
                </c:pt>
                <c:pt idx="103">
                  <c:v>7.69591314450196E6</c:v>
                </c:pt>
                <c:pt idx="104">
                  <c:v>7.69591314450196E6</c:v>
                </c:pt>
                <c:pt idx="105">
                  <c:v>7.69591314450196E6</c:v>
                </c:pt>
                <c:pt idx="106">
                  <c:v>7.69591314450196E6</c:v>
                </c:pt>
                <c:pt idx="107">
                  <c:v>7.69591314450196E6</c:v>
                </c:pt>
                <c:pt idx="108">
                  <c:v>7.69591314450196E6</c:v>
                </c:pt>
                <c:pt idx="109">
                  <c:v>7.69591314450196E6</c:v>
                </c:pt>
                <c:pt idx="110">
                  <c:v>7.69591314450196E6</c:v>
                </c:pt>
                <c:pt idx="111">
                  <c:v>7.69591314450196E6</c:v>
                </c:pt>
                <c:pt idx="112">
                  <c:v>7.69591314450196E6</c:v>
                </c:pt>
                <c:pt idx="113">
                  <c:v>7.69591314450196E6</c:v>
                </c:pt>
                <c:pt idx="114">
                  <c:v>7.69591314450196E6</c:v>
                </c:pt>
                <c:pt idx="115">
                  <c:v>7.69591314450196E6</c:v>
                </c:pt>
                <c:pt idx="116">
                  <c:v>7.69591314450196E6</c:v>
                </c:pt>
                <c:pt idx="117">
                  <c:v>7.69591314450196E6</c:v>
                </c:pt>
                <c:pt idx="118">
                  <c:v>7.69591314450196E6</c:v>
                </c:pt>
                <c:pt idx="119">
                  <c:v>7.69591314450196E6</c:v>
                </c:pt>
                <c:pt idx="120">
                  <c:v>7.69591314450196E6</c:v>
                </c:pt>
                <c:pt idx="121">
                  <c:v>7.69591314450196E6</c:v>
                </c:pt>
                <c:pt idx="122">
                  <c:v>7.69591314450196E6</c:v>
                </c:pt>
                <c:pt idx="123">
                  <c:v>7.69591314450196E6</c:v>
                </c:pt>
                <c:pt idx="124">
                  <c:v>7.69591314450196E6</c:v>
                </c:pt>
                <c:pt idx="125">
                  <c:v>7.69591314450196E6</c:v>
                </c:pt>
                <c:pt idx="126">
                  <c:v>7.69591314450196E6</c:v>
                </c:pt>
                <c:pt idx="127">
                  <c:v>7.69591314450196E6</c:v>
                </c:pt>
                <c:pt idx="128">
                  <c:v>7.69591314450196E6</c:v>
                </c:pt>
                <c:pt idx="129">
                  <c:v>7.69591314450196E6</c:v>
                </c:pt>
                <c:pt idx="130">
                  <c:v>7.69591314450196E6</c:v>
                </c:pt>
                <c:pt idx="131">
                  <c:v>7.69591314450196E6</c:v>
                </c:pt>
                <c:pt idx="132">
                  <c:v>7.69591314450196E6</c:v>
                </c:pt>
                <c:pt idx="133">
                  <c:v>7.69591314450196E6</c:v>
                </c:pt>
                <c:pt idx="134">
                  <c:v>7.69591314450196E6</c:v>
                </c:pt>
                <c:pt idx="135">
                  <c:v>7.69591314450196E6</c:v>
                </c:pt>
                <c:pt idx="136">
                  <c:v>7.69591314450196E6</c:v>
                </c:pt>
                <c:pt idx="137">
                  <c:v>7.69591314450196E6</c:v>
                </c:pt>
                <c:pt idx="138">
                  <c:v>7.69591314450196E6</c:v>
                </c:pt>
                <c:pt idx="139">
                  <c:v>7.69591314450196E6</c:v>
                </c:pt>
                <c:pt idx="140">
                  <c:v>7.69591314450196E6</c:v>
                </c:pt>
                <c:pt idx="141">
                  <c:v>7.69591314450196E6</c:v>
                </c:pt>
                <c:pt idx="142">
                  <c:v>7.69591314450196E6</c:v>
                </c:pt>
                <c:pt idx="143">
                  <c:v>7.69591314450196E6</c:v>
                </c:pt>
                <c:pt idx="144">
                  <c:v>7.69591314450196E6</c:v>
                </c:pt>
                <c:pt idx="145">
                  <c:v>7.69591314450196E6</c:v>
                </c:pt>
                <c:pt idx="146">
                  <c:v>7.69591314450196E6</c:v>
                </c:pt>
                <c:pt idx="147">
                  <c:v>7.69591314450196E6</c:v>
                </c:pt>
                <c:pt idx="148">
                  <c:v>7.69591314450196E6</c:v>
                </c:pt>
                <c:pt idx="149">
                  <c:v>7.69591314450196E6</c:v>
                </c:pt>
                <c:pt idx="150">
                  <c:v>7.69591314450196E6</c:v>
                </c:pt>
                <c:pt idx="151">
                  <c:v>7.69591314450196E6</c:v>
                </c:pt>
                <c:pt idx="152">
                  <c:v>7.69591314450196E6</c:v>
                </c:pt>
                <c:pt idx="153">
                  <c:v>7.69591314450196E6</c:v>
                </c:pt>
                <c:pt idx="154">
                  <c:v>7.69591314450196E6</c:v>
                </c:pt>
                <c:pt idx="155">
                  <c:v>7.69591314450196E6</c:v>
                </c:pt>
                <c:pt idx="156">
                  <c:v>7.69591314450196E6</c:v>
                </c:pt>
                <c:pt idx="157">
                  <c:v>7.69591314450196E6</c:v>
                </c:pt>
                <c:pt idx="158">
                  <c:v>7.69591314450196E6</c:v>
                </c:pt>
                <c:pt idx="159">
                  <c:v>7.69591314450196E6</c:v>
                </c:pt>
                <c:pt idx="160">
                  <c:v>7.69591314450196E6</c:v>
                </c:pt>
                <c:pt idx="161">
                  <c:v>7.69591314450196E6</c:v>
                </c:pt>
                <c:pt idx="162">
                  <c:v>7.69591314450196E6</c:v>
                </c:pt>
                <c:pt idx="163">
                  <c:v>7.69591314450196E6</c:v>
                </c:pt>
                <c:pt idx="164">
                  <c:v>7.69591314450196E6</c:v>
                </c:pt>
                <c:pt idx="165">
                  <c:v>7.69591314450196E6</c:v>
                </c:pt>
                <c:pt idx="166">
                  <c:v>7.69591314450196E6</c:v>
                </c:pt>
                <c:pt idx="167">
                  <c:v>7.69591314450196E6</c:v>
                </c:pt>
                <c:pt idx="168">
                  <c:v>7.69591314450196E6</c:v>
                </c:pt>
                <c:pt idx="169">
                  <c:v>7.69591314450196E6</c:v>
                </c:pt>
                <c:pt idx="170">
                  <c:v>7.69591314450196E6</c:v>
                </c:pt>
                <c:pt idx="171">
                  <c:v>7.69591314450196E6</c:v>
                </c:pt>
                <c:pt idx="172">
                  <c:v>7.69591314450196E6</c:v>
                </c:pt>
                <c:pt idx="173">
                  <c:v>7.69591314450196E6</c:v>
                </c:pt>
                <c:pt idx="174">
                  <c:v>7.69591314450196E6</c:v>
                </c:pt>
                <c:pt idx="175">
                  <c:v>7.69591314450196E6</c:v>
                </c:pt>
                <c:pt idx="176">
                  <c:v>7.69591314450196E6</c:v>
                </c:pt>
                <c:pt idx="177">
                  <c:v>7.69591314450196E6</c:v>
                </c:pt>
                <c:pt idx="178">
                  <c:v>7.69591314450196E6</c:v>
                </c:pt>
                <c:pt idx="179">
                  <c:v>7.69591314450196E6</c:v>
                </c:pt>
                <c:pt idx="180">
                  <c:v>7.69591314450196E6</c:v>
                </c:pt>
                <c:pt idx="181">
                  <c:v>7.69591314450196E6</c:v>
                </c:pt>
                <c:pt idx="182">
                  <c:v>7.69591314450196E6</c:v>
                </c:pt>
                <c:pt idx="183">
                  <c:v>7.69591314450196E6</c:v>
                </c:pt>
                <c:pt idx="184">
                  <c:v>7.69591314450196E6</c:v>
                </c:pt>
                <c:pt idx="185">
                  <c:v>7.69591314450196E6</c:v>
                </c:pt>
                <c:pt idx="186">
                  <c:v>7.69591314450196E6</c:v>
                </c:pt>
                <c:pt idx="187">
                  <c:v>7.69591314450196E6</c:v>
                </c:pt>
                <c:pt idx="188">
                  <c:v>7.69591314450196E6</c:v>
                </c:pt>
                <c:pt idx="189">
                  <c:v>7.69591314450196E6</c:v>
                </c:pt>
                <c:pt idx="190">
                  <c:v>7.69591314450196E6</c:v>
                </c:pt>
                <c:pt idx="191">
                  <c:v>7.69591314450196E6</c:v>
                </c:pt>
                <c:pt idx="192">
                  <c:v>7.69591314450196E6</c:v>
                </c:pt>
                <c:pt idx="193">
                  <c:v>7.69591314450196E6</c:v>
                </c:pt>
                <c:pt idx="194">
                  <c:v>7.69591314450196E6</c:v>
                </c:pt>
                <c:pt idx="195">
                  <c:v>7.69591314450196E6</c:v>
                </c:pt>
                <c:pt idx="196">
                  <c:v>7.69591314450196E6</c:v>
                </c:pt>
                <c:pt idx="197">
                  <c:v>7.69591314450196E6</c:v>
                </c:pt>
                <c:pt idx="198">
                  <c:v>7.69591314450196E6</c:v>
                </c:pt>
                <c:pt idx="199">
                  <c:v>7.69591314450196E6</c:v>
                </c:pt>
                <c:pt idx="200">
                  <c:v>7.69591314450196E6</c:v>
                </c:pt>
                <c:pt idx="201">
                  <c:v>7.69591314450196E6</c:v>
                </c:pt>
                <c:pt idx="202">
                  <c:v>7.69591314450196E6</c:v>
                </c:pt>
                <c:pt idx="203">
                  <c:v>7.69591314450196E6</c:v>
                </c:pt>
                <c:pt idx="204">
                  <c:v>7.69591314450196E6</c:v>
                </c:pt>
                <c:pt idx="205">
                  <c:v>7.69591314450196E6</c:v>
                </c:pt>
                <c:pt idx="206">
                  <c:v>7.69591314450196E6</c:v>
                </c:pt>
                <c:pt idx="207">
                  <c:v>7.69591314450196E6</c:v>
                </c:pt>
                <c:pt idx="208">
                  <c:v>7.69591314450196E6</c:v>
                </c:pt>
                <c:pt idx="209">
                  <c:v>7.69591314450196E6</c:v>
                </c:pt>
                <c:pt idx="210">
                  <c:v>7.69591314450196E6</c:v>
                </c:pt>
                <c:pt idx="211">
                  <c:v>7.69591314450196E6</c:v>
                </c:pt>
                <c:pt idx="212">
                  <c:v>7.69591314450196E6</c:v>
                </c:pt>
                <c:pt idx="213">
                  <c:v>7.69591314450196E6</c:v>
                </c:pt>
                <c:pt idx="214">
                  <c:v>7.69591314450196E6</c:v>
                </c:pt>
                <c:pt idx="215">
                  <c:v>7.69591314450196E6</c:v>
                </c:pt>
                <c:pt idx="216">
                  <c:v>7.69591314450196E6</c:v>
                </c:pt>
                <c:pt idx="217">
                  <c:v>7.69591314450196E6</c:v>
                </c:pt>
                <c:pt idx="218">
                  <c:v>7.69591314450196E6</c:v>
                </c:pt>
                <c:pt idx="219">
                  <c:v>7.69591314450196E6</c:v>
                </c:pt>
                <c:pt idx="220">
                  <c:v>7.69591314450196E6</c:v>
                </c:pt>
                <c:pt idx="221">
                  <c:v>7.69591314450196E6</c:v>
                </c:pt>
                <c:pt idx="222">
                  <c:v>7.69591314450196E6</c:v>
                </c:pt>
                <c:pt idx="223">
                  <c:v>7.69591314450196E6</c:v>
                </c:pt>
                <c:pt idx="224">
                  <c:v>7.69591314450196E6</c:v>
                </c:pt>
                <c:pt idx="225">
                  <c:v>7.69591314450196E6</c:v>
                </c:pt>
                <c:pt idx="226">
                  <c:v>7.69591314450196E6</c:v>
                </c:pt>
                <c:pt idx="227">
                  <c:v>7.69591314450196E6</c:v>
                </c:pt>
                <c:pt idx="228">
                  <c:v>7.69591314450196E6</c:v>
                </c:pt>
                <c:pt idx="229">
                  <c:v>7.69591314450196E6</c:v>
                </c:pt>
                <c:pt idx="230">
                  <c:v>7.69591314450196E6</c:v>
                </c:pt>
                <c:pt idx="231">
                  <c:v>7.69591314450196E6</c:v>
                </c:pt>
                <c:pt idx="232">
                  <c:v>7.69591314450196E6</c:v>
                </c:pt>
                <c:pt idx="233">
                  <c:v>7.69591314450196E6</c:v>
                </c:pt>
                <c:pt idx="234">
                  <c:v>7.69591314450196E6</c:v>
                </c:pt>
                <c:pt idx="235">
                  <c:v>7.69591314450196E6</c:v>
                </c:pt>
                <c:pt idx="236">
                  <c:v>7.69591314450196E6</c:v>
                </c:pt>
                <c:pt idx="237">
                  <c:v>7.69591314450196E6</c:v>
                </c:pt>
                <c:pt idx="238">
                  <c:v>7.69591314450196E6</c:v>
                </c:pt>
                <c:pt idx="239">
                  <c:v>7.69591314450196E6</c:v>
                </c:pt>
                <c:pt idx="240">
                  <c:v>7.69591314450196E6</c:v>
                </c:pt>
                <c:pt idx="241">
                  <c:v>7.69591314450196E6</c:v>
                </c:pt>
                <c:pt idx="242">
                  <c:v>7.69591314450196E6</c:v>
                </c:pt>
                <c:pt idx="243">
                  <c:v>7.69591314450196E6</c:v>
                </c:pt>
                <c:pt idx="244">
                  <c:v>7.69591314450196E6</c:v>
                </c:pt>
                <c:pt idx="245">
                  <c:v>7.69591314450196E6</c:v>
                </c:pt>
                <c:pt idx="246">
                  <c:v>7.69591314450196E6</c:v>
                </c:pt>
                <c:pt idx="247">
                  <c:v>7.69591314450196E6</c:v>
                </c:pt>
                <c:pt idx="248">
                  <c:v>7.69591314450196E6</c:v>
                </c:pt>
                <c:pt idx="249">
                  <c:v>7.69591314450196E6</c:v>
                </c:pt>
                <c:pt idx="250">
                  <c:v>7.69591314450196E6</c:v>
                </c:pt>
                <c:pt idx="251">
                  <c:v>7.69591314450196E6</c:v>
                </c:pt>
                <c:pt idx="252">
                  <c:v>7.69591314450196E6</c:v>
                </c:pt>
                <c:pt idx="253">
                  <c:v>7.69591314450196E6</c:v>
                </c:pt>
                <c:pt idx="254">
                  <c:v>7.69591314450196E6</c:v>
                </c:pt>
                <c:pt idx="255">
                  <c:v>7.69591314450196E6</c:v>
                </c:pt>
                <c:pt idx="256">
                  <c:v>7.69591314450196E6</c:v>
                </c:pt>
                <c:pt idx="257">
                  <c:v>7.69591314450196E6</c:v>
                </c:pt>
                <c:pt idx="258">
                  <c:v>7.69591314450196E6</c:v>
                </c:pt>
                <c:pt idx="259">
                  <c:v>7.69591314450196E6</c:v>
                </c:pt>
                <c:pt idx="260">
                  <c:v>7.69591314450196E6</c:v>
                </c:pt>
                <c:pt idx="261">
                  <c:v>7.69591314450196E6</c:v>
                </c:pt>
                <c:pt idx="262">
                  <c:v>7.69591314450196E6</c:v>
                </c:pt>
                <c:pt idx="263">
                  <c:v>7.69591314450196E6</c:v>
                </c:pt>
                <c:pt idx="264">
                  <c:v>7.69591314450196E6</c:v>
                </c:pt>
                <c:pt idx="265">
                  <c:v>7.69591314450196E6</c:v>
                </c:pt>
                <c:pt idx="266">
                  <c:v>7.69591314450196E6</c:v>
                </c:pt>
                <c:pt idx="267">
                  <c:v>7.69591314450196E6</c:v>
                </c:pt>
                <c:pt idx="268">
                  <c:v>7.69591314450196E6</c:v>
                </c:pt>
                <c:pt idx="269">
                  <c:v>7.69591314450196E6</c:v>
                </c:pt>
                <c:pt idx="270">
                  <c:v>7.69591314450196E6</c:v>
                </c:pt>
                <c:pt idx="271">
                  <c:v>7.69591314450196E6</c:v>
                </c:pt>
                <c:pt idx="272">
                  <c:v>7.69591314450196E6</c:v>
                </c:pt>
                <c:pt idx="273">
                  <c:v>7.69591314450196E6</c:v>
                </c:pt>
                <c:pt idx="274">
                  <c:v>7.69591314450196E6</c:v>
                </c:pt>
                <c:pt idx="275">
                  <c:v>7.69591314450196E6</c:v>
                </c:pt>
                <c:pt idx="276">
                  <c:v>7.69591314450196E6</c:v>
                </c:pt>
                <c:pt idx="277">
                  <c:v>7.69591314450196E6</c:v>
                </c:pt>
                <c:pt idx="278">
                  <c:v>7.69591314450196E6</c:v>
                </c:pt>
                <c:pt idx="279">
                  <c:v>7.69591314450196E6</c:v>
                </c:pt>
                <c:pt idx="280">
                  <c:v>7.69591314450196E6</c:v>
                </c:pt>
                <c:pt idx="281">
                  <c:v>7.69591314450196E6</c:v>
                </c:pt>
                <c:pt idx="282">
                  <c:v>7.69591314450196E6</c:v>
                </c:pt>
                <c:pt idx="283">
                  <c:v>7.69591314450196E6</c:v>
                </c:pt>
                <c:pt idx="284">
                  <c:v>7.69591314450196E6</c:v>
                </c:pt>
                <c:pt idx="285">
                  <c:v>7.69591314450196E6</c:v>
                </c:pt>
                <c:pt idx="286">
                  <c:v>7.69591314450196E6</c:v>
                </c:pt>
                <c:pt idx="287">
                  <c:v>7.69591314450196E6</c:v>
                </c:pt>
                <c:pt idx="288">
                  <c:v>7.69591314450196E6</c:v>
                </c:pt>
                <c:pt idx="289">
                  <c:v>7.69591314450196E6</c:v>
                </c:pt>
                <c:pt idx="290">
                  <c:v>7.69591314450196E6</c:v>
                </c:pt>
                <c:pt idx="291">
                  <c:v>7.69591314450196E6</c:v>
                </c:pt>
                <c:pt idx="292">
                  <c:v>7.69591314450196E6</c:v>
                </c:pt>
                <c:pt idx="293">
                  <c:v>7.69591314450196E6</c:v>
                </c:pt>
                <c:pt idx="294">
                  <c:v>7.69591314450196E6</c:v>
                </c:pt>
                <c:pt idx="295">
                  <c:v>7.69591314450196E6</c:v>
                </c:pt>
                <c:pt idx="296">
                  <c:v>7.69591314450196E6</c:v>
                </c:pt>
                <c:pt idx="297">
                  <c:v>7.69591314450196E6</c:v>
                </c:pt>
                <c:pt idx="298">
                  <c:v>7.69591314450196E6</c:v>
                </c:pt>
                <c:pt idx="299">
                  <c:v>7.69591314450196E6</c:v>
                </c:pt>
                <c:pt idx="300">
                  <c:v>7.69591314450196E6</c:v>
                </c:pt>
                <c:pt idx="301">
                  <c:v>7.69591314450196E6</c:v>
                </c:pt>
                <c:pt idx="302">
                  <c:v>7.69591314450196E6</c:v>
                </c:pt>
                <c:pt idx="303">
                  <c:v>7.69591314450196E6</c:v>
                </c:pt>
                <c:pt idx="304">
                  <c:v>7.69591314450196E6</c:v>
                </c:pt>
                <c:pt idx="305">
                  <c:v>7.69591314450196E6</c:v>
                </c:pt>
                <c:pt idx="306">
                  <c:v>7.69591314450196E6</c:v>
                </c:pt>
                <c:pt idx="307">
                  <c:v>7.69591314450196E6</c:v>
                </c:pt>
                <c:pt idx="308">
                  <c:v>7.69591314450196E6</c:v>
                </c:pt>
                <c:pt idx="309">
                  <c:v>7.69591314450196E6</c:v>
                </c:pt>
                <c:pt idx="310">
                  <c:v>7.69591314450196E6</c:v>
                </c:pt>
                <c:pt idx="311">
                  <c:v>7.69591314450196E6</c:v>
                </c:pt>
                <c:pt idx="312">
                  <c:v>7.69591314450196E6</c:v>
                </c:pt>
                <c:pt idx="313">
                  <c:v>7.69591314450196E6</c:v>
                </c:pt>
                <c:pt idx="314">
                  <c:v>7.69591314450196E6</c:v>
                </c:pt>
                <c:pt idx="315">
                  <c:v>7.69591314450196E6</c:v>
                </c:pt>
                <c:pt idx="316">
                  <c:v>7.69591314450196E6</c:v>
                </c:pt>
                <c:pt idx="317">
                  <c:v>7.69591314450196E6</c:v>
                </c:pt>
                <c:pt idx="318">
                  <c:v>7.69591314450196E6</c:v>
                </c:pt>
                <c:pt idx="319">
                  <c:v>7.69591314450196E6</c:v>
                </c:pt>
                <c:pt idx="320">
                  <c:v>7.69591314450196E6</c:v>
                </c:pt>
                <c:pt idx="321">
                  <c:v>7.69591314450196E6</c:v>
                </c:pt>
                <c:pt idx="322">
                  <c:v>7.69591314450196E6</c:v>
                </c:pt>
                <c:pt idx="323">
                  <c:v>7.69591314450196E6</c:v>
                </c:pt>
                <c:pt idx="324">
                  <c:v>7.69591314450196E6</c:v>
                </c:pt>
                <c:pt idx="325">
                  <c:v>7.69591314450196E6</c:v>
                </c:pt>
                <c:pt idx="326">
                  <c:v>7.69591314450196E6</c:v>
                </c:pt>
                <c:pt idx="327">
                  <c:v>7.69591314450196E6</c:v>
                </c:pt>
                <c:pt idx="328">
                  <c:v>7.69591314450196E6</c:v>
                </c:pt>
                <c:pt idx="329">
                  <c:v>7.69591314450196E6</c:v>
                </c:pt>
                <c:pt idx="330">
                  <c:v>7.69591314450196E6</c:v>
                </c:pt>
                <c:pt idx="331">
                  <c:v>7.69591314450196E6</c:v>
                </c:pt>
                <c:pt idx="332">
                  <c:v>7.69591314450196E6</c:v>
                </c:pt>
                <c:pt idx="333">
                  <c:v>7.69591314450196E6</c:v>
                </c:pt>
                <c:pt idx="334">
                  <c:v>7.69591314450196E6</c:v>
                </c:pt>
                <c:pt idx="335">
                  <c:v>7.69591314450196E6</c:v>
                </c:pt>
                <c:pt idx="336">
                  <c:v>7.69591314450196E6</c:v>
                </c:pt>
                <c:pt idx="337">
                  <c:v>7.69591314450196E6</c:v>
                </c:pt>
                <c:pt idx="338">
                  <c:v>7.69591314450196E6</c:v>
                </c:pt>
                <c:pt idx="339">
                  <c:v>7.69591314450196E6</c:v>
                </c:pt>
                <c:pt idx="340">
                  <c:v>7.69591314450196E6</c:v>
                </c:pt>
                <c:pt idx="341">
                  <c:v>7.69591314450196E6</c:v>
                </c:pt>
                <c:pt idx="342">
                  <c:v>7.69591314450196E6</c:v>
                </c:pt>
                <c:pt idx="343">
                  <c:v>7.69591314450196E6</c:v>
                </c:pt>
                <c:pt idx="344">
                  <c:v>7.69591314450196E6</c:v>
                </c:pt>
                <c:pt idx="345">
                  <c:v>7.69591314450196E6</c:v>
                </c:pt>
                <c:pt idx="346">
                  <c:v>7.69591314450196E6</c:v>
                </c:pt>
                <c:pt idx="347">
                  <c:v>7.69591314450196E6</c:v>
                </c:pt>
                <c:pt idx="348">
                  <c:v>7.69591314450196E6</c:v>
                </c:pt>
                <c:pt idx="349">
                  <c:v>7.69591314450196E6</c:v>
                </c:pt>
                <c:pt idx="350">
                  <c:v>7.69591314450196E6</c:v>
                </c:pt>
                <c:pt idx="351">
                  <c:v>7.69591314450196E6</c:v>
                </c:pt>
                <c:pt idx="352">
                  <c:v>7.69591314450196E6</c:v>
                </c:pt>
                <c:pt idx="353">
                  <c:v>7.69591314450196E6</c:v>
                </c:pt>
                <c:pt idx="354">
                  <c:v>7.69591314450196E6</c:v>
                </c:pt>
                <c:pt idx="355">
                  <c:v>7.69591314450196E6</c:v>
                </c:pt>
                <c:pt idx="356">
                  <c:v>7.69591314450196E6</c:v>
                </c:pt>
                <c:pt idx="357">
                  <c:v>7.69591314450196E6</c:v>
                </c:pt>
                <c:pt idx="358">
                  <c:v>7.69591314450196E6</c:v>
                </c:pt>
                <c:pt idx="359">
                  <c:v>7.69591314450196E6</c:v>
                </c:pt>
                <c:pt idx="360">
                  <c:v>7.69591314450196E6</c:v>
                </c:pt>
                <c:pt idx="361">
                  <c:v>7.69591314450196E6</c:v>
                </c:pt>
                <c:pt idx="362">
                  <c:v>7.69591314450196E6</c:v>
                </c:pt>
                <c:pt idx="363">
                  <c:v>7.69591314450196E6</c:v>
                </c:pt>
                <c:pt idx="364">
                  <c:v>7.69591314450196E6</c:v>
                </c:pt>
                <c:pt idx="365">
                  <c:v>7.69591314450196E6</c:v>
                </c:pt>
                <c:pt idx="366">
                  <c:v>7.69591314450196E6</c:v>
                </c:pt>
                <c:pt idx="367">
                  <c:v>7.69591314450196E6</c:v>
                </c:pt>
                <c:pt idx="368">
                  <c:v>7.69591314450196E6</c:v>
                </c:pt>
                <c:pt idx="369">
                  <c:v>7.69591314450196E6</c:v>
                </c:pt>
                <c:pt idx="370">
                  <c:v>7.69591314450196E6</c:v>
                </c:pt>
                <c:pt idx="371">
                  <c:v>7.69591314450196E6</c:v>
                </c:pt>
                <c:pt idx="372">
                  <c:v>7.69591314450196E6</c:v>
                </c:pt>
                <c:pt idx="373">
                  <c:v>7.69591314450196E6</c:v>
                </c:pt>
                <c:pt idx="374">
                  <c:v>7.69591314450196E6</c:v>
                </c:pt>
                <c:pt idx="375">
                  <c:v>7.69591314450196E6</c:v>
                </c:pt>
                <c:pt idx="376">
                  <c:v>7.69591314450196E6</c:v>
                </c:pt>
                <c:pt idx="377">
                  <c:v>7.69591314450196E6</c:v>
                </c:pt>
                <c:pt idx="378">
                  <c:v>7.69591314450196E6</c:v>
                </c:pt>
                <c:pt idx="379">
                  <c:v>7.69591314450196E6</c:v>
                </c:pt>
                <c:pt idx="380">
                  <c:v>7.69591314450196E6</c:v>
                </c:pt>
                <c:pt idx="381">
                  <c:v>7.69591314450196E6</c:v>
                </c:pt>
                <c:pt idx="382">
                  <c:v>7.69591314450196E6</c:v>
                </c:pt>
                <c:pt idx="383">
                  <c:v>7.69591314450196E6</c:v>
                </c:pt>
                <c:pt idx="384">
                  <c:v>7.69591314450196E6</c:v>
                </c:pt>
                <c:pt idx="385">
                  <c:v>7.69591314450196E6</c:v>
                </c:pt>
                <c:pt idx="386">
                  <c:v>7.69591314450196E6</c:v>
                </c:pt>
                <c:pt idx="387">
                  <c:v>7.69591314450196E6</c:v>
                </c:pt>
                <c:pt idx="388">
                  <c:v>7.69591314450196E6</c:v>
                </c:pt>
                <c:pt idx="389">
                  <c:v>7.69591314450196E6</c:v>
                </c:pt>
                <c:pt idx="390">
                  <c:v>7.69591314450196E6</c:v>
                </c:pt>
                <c:pt idx="391">
                  <c:v>7.69591314450196E6</c:v>
                </c:pt>
                <c:pt idx="392">
                  <c:v>7.69591314450196E6</c:v>
                </c:pt>
                <c:pt idx="393">
                  <c:v>7.69591314450196E6</c:v>
                </c:pt>
                <c:pt idx="394">
                  <c:v>7.69591314450196E6</c:v>
                </c:pt>
                <c:pt idx="395">
                  <c:v>7.69591314450196E6</c:v>
                </c:pt>
                <c:pt idx="396">
                  <c:v>7.69591314450196E6</c:v>
                </c:pt>
                <c:pt idx="397">
                  <c:v>7.69591314450196E6</c:v>
                </c:pt>
                <c:pt idx="398">
                  <c:v>7.69591314450196E6</c:v>
                </c:pt>
                <c:pt idx="399">
                  <c:v>7.69591314450196E6</c:v>
                </c:pt>
                <c:pt idx="400">
                  <c:v>7.69591314450196E6</c:v>
                </c:pt>
                <c:pt idx="401">
                  <c:v>7.69591314450196E6</c:v>
                </c:pt>
                <c:pt idx="402">
                  <c:v>7.69591314450196E6</c:v>
                </c:pt>
                <c:pt idx="403">
                  <c:v>7.69591314450196E6</c:v>
                </c:pt>
                <c:pt idx="404">
                  <c:v>7.69591314450196E6</c:v>
                </c:pt>
                <c:pt idx="405">
                  <c:v>7.69591314450196E6</c:v>
                </c:pt>
                <c:pt idx="406">
                  <c:v>7.69591314450196E6</c:v>
                </c:pt>
                <c:pt idx="407">
                  <c:v>7.69591314450196E6</c:v>
                </c:pt>
                <c:pt idx="408">
                  <c:v>7.69591314450196E6</c:v>
                </c:pt>
                <c:pt idx="409">
                  <c:v>7.69591314450196E6</c:v>
                </c:pt>
                <c:pt idx="410">
                  <c:v>7.69591314450196E6</c:v>
                </c:pt>
                <c:pt idx="411">
                  <c:v>7.69591314450196E6</c:v>
                </c:pt>
                <c:pt idx="412">
                  <c:v>7.69591314450196E6</c:v>
                </c:pt>
                <c:pt idx="413">
                  <c:v>7.69591314450196E6</c:v>
                </c:pt>
                <c:pt idx="414">
                  <c:v>7.69591314450196E6</c:v>
                </c:pt>
                <c:pt idx="415">
                  <c:v>7.69591314450196E6</c:v>
                </c:pt>
                <c:pt idx="416">
                  <c:v>7.69591314450196E6</c:v>
                </c:pt>
                <c:pt idx="417">
                  <c:v>7.69591314450196E6</c:v>
                </c:pt>
                <c:pt idx="418">
                  <c:v>7.69591314450196E6</c:v>
                </c:pt>
                <c:pt idx="419">
                  <c:v>7.69591314450196E6</c:v>
                </c:pt>
                <c:pt idx="420">
                  <c:v>7.69591314450196E6</c:v>
                </c:pt>
                <c:pt idx="421">
                  <c:v>7.69591314450196E6</c:v>
                </c:pt>
                <c:pt idx="422">
                  <c:v>7.69591314450196E6</c:v>
                </c:pt>
                <c:pt idx="423">
                  <c:v>7.69591314450196E6</c:v>
                </c:pt>
                <c:pt idx="424">
                  <c:v>7.69591314450196E6</c:v>
                </c:pt>
                <c:pt idx="425">
                  <c:v>7.69591314450196E6</c:v>
                </c:pt>
                <c:pt idx="426">
                  <c:v>7.69591314450196E6</c:v>
                </c:pt>
                <c:pt idx="427">
                  <c:v>7.69591314450196E6</c:v>
                </c:pt>
                <c:pt idx="428">
                  <c:v>7.69591314450196E6</c:v>
                </c:pt>
                <c:pt idx="429">
                  <c:v>7.69591314450196E6</c:v>
                </c:pt>
                <c:pt idx="430">
                  <c:v>7.69591314450196E6</c:v>
                </c:pt>
                <c:pt idx="431">
                  <c:v>7.69591314450196E6</c:v>
                </c:pt>
                <c:pt idx="432">
                  <c:v>7.69591314450196E6</c:v>
                </c:pt>
                <c:pt idx="433">
                  <c:v>7.69591314450196E6</c:v>
                </c:pt>
                <c:pt idx="434">
                  <c:v>7.69591314450196E6</c:v>
                </c:pt>
                <c:pt idx="435">
                  <c:v>7.69591314450196E6</c:v>
                </c:pt>
                <c:pt idx="436">
                  <c:v>7.69591314450196E6</c:v>
                </c:pt>
                <c:pt idx="437">
                  <c:v>7.69591314450196E6</c:v>
                </c:pt>
                <c:pt idx="438">
                  <c:v>7.69591314450196E6</c:v>
                </c:pt>
                <c:pt idx="439">
                  <c:v>7.69591314450196E6</c:v>
                </c:pt>
                <c:pt idx="440">
                  <c:v>7.69591314450196E6</c:v>
                </c:pt>
                <c:pt idx="441">
                  <c:v>7.69591314450196E6</c:v>
                </c:pt>
                <c:pt idx="442">
                  <c:v>7.69591314450196E6</c:v>
                </c:pt>
                <c:pt idx="443">
                  <c:v>7.69591314450196E6</c:v>
                </c:pt>
                <c:pt idx="444">
                  <c:v>7.69591314450196E6</c:v>
                </c:pt>
                <c:pt idx="445">
                  <c:v>7.69591314450196E6</c:v>
                </c:pt>
                <c:pt idx="446">
                  <c:v>7.69591314450196E6</c:v>
                </c:pt>
                <c:pt idx="447">
                  <c:v>7.69591314450196E6</c:v>
                </c:pt>
                <c:pt idx="448">
                  <c:v>7.69591314450196E6</c:v>
                </c:pt>
                <c:pt idx="449">
                  <c:v>7.69591314450196E6</c:v>
                </c:pt>
                <c:pt idx="450">
                  <c:v>7.69591314450196E6</c:v>
                </c:pt>
                <c:pt idx="451">
                  <c:v>7.69591314450196E6</c:v>
                </c:pt>
                <c:pt idx="452">
                  <c:v>7.69591314450196E6</c:v>
                </c:pt>
                <c:pt idx="453">
                  <c:v>7.69591314450196E6</c:v>
                </c:pt>
                <c:pt idx="454">
                  <c:v>7.69591314450196E6</c:v>
                </c:pt>
                <c:pt idx="455">
                  <c:v>7.69591314450196E6</c:v>
                </c:pt>
                <c:pt idx="456">
                  <c:v>7.69591314450196E6</c:v>
                </c:pt>
                <c:pt idx="457">
                  <c:v>7.69591314450196E6</c:v>
                </c:pt>
                <c:pt idx="458">
                  <c:v>7.69591314450196E6</c:v>
                </c:pt>
                <c:pt idx="459">
                  <c:v>7.69591314450196E6</c:v>
                </c:pt>
                <c:pt idx="460">
                  <c:v>7.69591314450196E6</c:v>
                </c:pt>
                <c:pt idx="461">
                  <c:v>7.69591314450196E6</c:v>
                </c:pt>
                <c:pt idx="462">
                  <c:v>7.69591314450196E6</c:v>
                </c:pt>
                <c:pt idx="463">
                  <c:v>7.69591314450196E6</c:v>
                </c:pt>
                <c:pt idx="464">
                  <c:v>7.69591314450196E6</c:v>
                </c:pt>
                <c:pt idx="465">
                  <c:v>7.69591314450196E6</c:v>
                </c:pt>
                <c:pt idx="466">
                  <c:v>7.69591314450196E6</c:v>
                </c:pt>
                <c:pt idx="467">
                  <c:v>7.69591314450196E6</c:v>
                </c:pt>
                <c:pt idx="468">
                  <c:v>7.69591314450196E6</c:v>
                </c:pt>
                <c:pt idx="469">
                  <c:v>7.69591314450196E6</c:v>
                </c:pt>
                <c:pt idx="470">
                  <c:v>7.69591314450196E6</c:v>
                </c:pt>
                <c:pt idx="471">
                  <c:v>7.69591314450196E6</c:v>
                </c:pt>
                <c:pt idx="472">
                  <c:v>7.69591314450196E6</c:v>
                </c:pt>
                <c:pt idx="473">
                  <c:v>7.69591314450196E6</c:v>
                </c:pt>
                <c:pt idx="474">
                  <c:v>7.69591314450196E6</c:v>
                </c:pt>
                <c:pt idx="475">
                  <c:v>7.69591314450196E6</c:v>
                </c:pt>
                <c:pt idx="476">
                  <c:v>7.69591314450196E6</c:v>
                </c:pt>
                <c:pt idx="477">
                  <c:v>7.69591314450196E6</c:v>
                </c:pt>
                <c:pt idx="478">
                  <c:v>7.69591314450196E6</c:v>
                </c:pt>
                <c:pt idx="479">
                  <c:v>7.69591314450196E6</c:v>
                </c:pt>
                <c:pt idx="480">
                  <c:v>7.69591314450196E6</c:v>
                </c:pt>
                <c:pt idx="481">
                  <c:v>7.69591314450196E6</c:v>
                </c:pt>
                <c:pt idx="482">
                  <c:v>7.69591314450196E6</c:v>
                </c:pt>
                <c:pt idx="483">
                  <c:v>7.69591314450196E6</c:v>
                </c:pt>
                <c:pt idx="484">
                  <c:v>7.69591314450196E6</c:v>
                </c:pt>
                <c:pt idx="485">
                  <c:v>7.69591314450196E6</c:v>
                </c:pt>
                <c:pt idx="486">
                  <c:v>7.69591314450196E6</c:v>
                </c:pt>
                <c:pt idx="487">
                  <c:v>7.69591314450196E6</c:v>
                </c:pt>
                <c:pt idx="488">
                  <c:v>7.69591314450196E6</c:v>
                </c:pt>
                <c:pt idx="489">
                  <c:v>7.69591314450196E6</c:v>
                </c:pt>
                <c:pt idx="490">
                  <c:v>7.69591314450196E6</c:v>
                </c:pt>
                <c:pt idx="491">
                  <c:v>7.69591314450196E6</c:v>
                </c:pt>
                <c:pt idx="492">
                  <c:v>7.69591314450196E6</c:v>
                </c:pt>
                <c:pt idx="493">
                  <c:v>7.69591314450196E6</c:v>
                </c:pt>
                <c:pt idx="494">
                  <c:v>7.69591314450196E6</c:v>
                </c:pt>
                <c:pt idx="495">
                  <c:v>7.69591314450196E6</c:v>
                </c:pt>
                <c:pt idx="496">
                  <c:v>7.69591314450196E6</c:v>
                </c:pt>
                <c:pt idx="497">
                  <c:v>7.69591314450196E6</c:v>
                </c:pt>
                <c:pt idx="498">
                  <c:v>7.69591314450196E6</c:v>
                </c:pt>
                <c:pt idx="499">
                  <c:v>7.69591314450196E6</c:v>
                </c:pt>
                <c:pt idx="500">
                  <c:v>7.69591314450196E6</c:v>
                </c:pt>
                <c:pt idx="501">
                  <c:v>7.69591314450196E6</c:v>
                </c:pt>
                <c:pt idx="502">
                  <c:v>7.69591314450196E6</c:v>
                </c:pt>
                <c:pt idx="503">
                  <c:v>7.69591314450196E6</c:v>
                </c:pt>
                <c:pt idx="504">
                  <c:v>7.69591314450196E6</c:v>
                </c:pt>
                <c:pt idx="505">
                  <c:v>7.69591314450196E6</c:v>
                </c:pt>
                <c:pt idx="506">
                  <c:v>7.69591314450196E6</c:v>
                </c:pt>
                <c:pt idx="507">
                  <c:v>7.69591314450196E6</c:v>
                </c:pt>
                <c:pt idx="508">
                  <c:v>7.69591314450196E6</c:v>
                </c:pt>
                <c:pt idx="509">
                  <c:v>7.69591314450196E6</c:v>
                </c:pt>
                <c:pt idx="510">
                  <c:v>7.69591314450196E6</c:v>
                </c:pt>
                <c:pt idx="511">
                  <c:v>7.69591314450196E6</c:v>
                </c:pt>
                <c:pt idx="512">
                  <c:v>7.69591314450196E6</c:v>
                </c:pt>
                <c:pt idx="513">
                  <c:v>7.69591314450196E6</c:v>
                </c:pt>
                <c:pt idx="514">
                  <c:v>7.69591314450196E6</c:v>
                </c:pt>
                <c:pt idx="515">
                  <c:v>7.69591314450196E6</c:v>
                </c:pt>
                <c:pt idx="516">
                  <c:v>7.69591314450196E6</c:v>
                </c:pt>
                <c:pt idx="517">
                  <c:v>7.69591314450196E6</c:v>
                </c:pt>
                <c:pt idx="518">
                  <c:v>7.69591314450196E6</c:v>
                </c:pt>
                <c:pt idx="519">
                  <c:v>7.69591314450196E6</c:v>
                </c:pt>
                <c:pt idx="520">
                  <c:v>7.69591314450196E6</c:v>
                </c:pt>
                <c:pt idx="521">
                  <c:v>7.69591314450196E6</c:v>
                </c:pt>
                <c:pt idx="522">
                  <c:v>7.69591314450196E6</c:v>
                </c:pt>
                <c:pt idx="523">
                  <c:v>7.69591314450196E6</c:v>
                </c:pt>
                <c:pt idx="524">
                  <c:v>7.69591314450196E6</c:v>
                </c:pt>
                <c:pt idx="525">
                  <c:v>7.69591314450196E6</c:v>
                </c:pt>
                <c:pt idx="526">
                  <c:v>7.69591314450196E6</c:v>
                </c:pt>
                <c:pt idx="527">
                  <c:v>7.69591314450196E6</c:v>
                </c:pt>
                <c:pt idx="528">
                  <c:v>7.69591314450196E6</c:v>
                </c:pt>
                <c:pt idx="529">
                  <c:v>7.69591314450196E6</c:v>
                </c:pt>
                <c:pt idx="530">
                  <c:v>7.69591314450196E6</c:v>
                </c:pt>
                <c:pt idx="531">
                  <c:v>7.69591314450196E6</c:v>
                </c:pt>
                <c:pt idx="532">
                  <c:v>7.69591314450196E6</c:v>
                </c:pt>
                <c:pt idx="533">
                  <c:v>7.69591314450196E6</c:v>
                </c:pt>
                <c:pt idx="534">
                  <c:v>7.69591314450196E6</c:v>
                </c:pt>
                <c:pt idx="535">
                  <c:v>7.69591314450196E6</c:v>
                </c:pt>
                <c:pt idx="536">
                  <c:v>7.69591314450196E6</c:v>
                </c:pt>
                <c:pt idx="537">
                  <c:v>7.69591314450196E6</c:v>
                </c:pt>
                <c:pt idx="538">
                  <c:v>7.69591314450196E6</c:v>
                </c:pt>
                <c:pt idx="539">
                  <c:v>7.69591314450196E6</c:v>
                </c:pt>
                <c:pt idx="540">
                  <c:v>7.69591314450196E6</c:v>
                </c:pt>
                <c:pt idx="541">
                  <c:v>7.69591314450196E6</c:v>
                </c:pt>
                <c:pt idx="542">
                  <c:v>7.69591314450196E6</c:v>
                </c:pt>
                <c:pt idx="543">
                  <c:v>7.69591314450196E6</c:v>
                </c:pt>
                <c:pt idx="544">
                  <c:v>7.69591314450196E6</c:v>
                </c:pt>
                <c:pt idx="545">
                  <c:v>7.69591314450196E6</c:v>
                </c:pt>
                <c:pt idx="546">
                  <c:v>7.69591314450196E6</c:v>
                </c:pt>
                <c:pt idx="547">
                  <c:v>7.69591314450196E6</c:v>
                </c:pt>
                <c:pt idx="548">
                  <c:v>7.69591314450196E6</c:v>
                </c:pt>
                <c:pt idx="549">
                  <c:v>7.69591314450196E6</c:v>
                </c:pt>
                <c:pt idx="550">
                  <c:v>7.69591314450196E6</c:v>
                </c:pt>
                <c:pt idx="551">
                  <c:v>7.69591314450196E6</c:v>
                </c:pt>
                <c:pt idx="552">
                  <c:v>7.69591314450196E6</c:v>
                </c:pt>
                <c:pt idx="553">
                  <c:v>7.69591314450196E6</c:v>
                </c:pt>
                <c:pt idx="554">
                  <c:v>7.69591314450196E6</c:v>
                </c:pt>
                <c:pt idx="555">
                  <c:v>7.69591314450196E6</c:v>
                </c:pt>
                <c:pt idx="556">
                  <c:v>7.69591314450196E6</c:v>
                </c:pt>
                <c:pt idx="557">
                  <c:v>7.69591314450196E6</c:v>
                </c:pt>
                <c:pt idx="558">
                  <c:v>7.69591314450196E6</c:v>
                </c:pt>
                <c:pt idx="559">
                  <c:v>7.69591314450196E6</c:v>
                </c:pt>
                <c:pt idx="560">
                  <c:v>7.69591314450196E6</c:v>
                </c:pt>
                <c:pt idx="561">
                  <c:v>7.69591314450196E6</c:v>
                </c:pt>
                <c:pt idx="562">
                  <c:v>7.69591314450196E6</c:v>
                </c:pt>
                <c:pt idx="563">
                  <c:v>7.69591314450196E6</c:v>
                </c:pt>
                <c:pt idx="564">
                  <c:v>7.69591314450196E6</c:v>
                </c:pt>
                <c:pt idx="565">
                  <c:v>7.69591314450196E6</c:v>
                </c:pt>
                <c:pt idx="566">
                  <c:v>7.69591314450196E6</c:v>
                </c:pt>
                <c:pt idx="567">
                  <c:v>7.69591314450196E6</c:v>
                </c:pt>
                <c:pt idx="568">
                  <c:v>7.69591314450196E6</c:v>
                </c:pt>
                <c:pt idx="569">
                  <c:v>7.69591314450196E6</c:v>
                </c:pt>
                <c:pt idx="570">
                  <c:v>7.69591314450196E6</c:v>
                </c:pt>
                <c:pt idx="571">
                  <c:v>7.69591314450196E6</c:v>
                </c:pt>
                <c:pt idx="572">
                  <c:v>7.69591314450196E6</c:v>
                </c:pt>
                <c:pt idx="573">
                  <c:v>7.69591314450196E6</c:v>
                </c:pt>
                <c:pt idx="574">
                  <c:v>7.69591314450196E6</c:v>
                </c:pt>
                <c:pt idx="575">
                  <c:v>7.69591314450196E6</c:v>
                </c:pt>
                <c:pt idx="576">
                  <c:v>7.69591314450196E6</c:v>
                </c:pt>
                <c:pt idx="577">
                  <c:v>7.69591314450196E6</c:v>
                </c:pt>
                <c:pt idx="578">
                  <c:v>7.69591314450196E6</c:v>
                </c:pt>
                <c:pt idx="579">
                  <c:v>7.69591314450196E6</c:v>
                </c:pt>
                <c:pt idx="580">
                  <c:v>7.69591314450196E6</c:v>
                </c:pt>
                <c:pt idx="581">
                  <c:v>7.69591314450196E6</c:v>
                </c:pt>
                <c:pt idx="582">
                  <c:v>7.69591314450196E6</c:v>
                </c:pt>
                <c:pt idx="583">
                  <c:v>7.69591314450196E6</c:v>
                </c:pt>
                <c:pt idx="584">
                  <c:v>7.69591314450196E6</c:v>
                </c:pt>
                <c:pt idx="585">
                  <c:v>7.69591314450196E6</c:v>
                </c:pt>
                <c:pt idx="586">
                  <c:v>7.69591314450196E6</c:v>
                </c:pt>
                <c:pt idx="587">
                  <c:v>7.69591314450196E6</c:v>
                </c:pt>
                <c:pt idx="588">
                  <c:v>7.69591314450196E6</c:v>
                </c:pt>
                <c:pt idx="589">
                  <c:v>7.69591314450196E6</c:v>
                </c:pt>
                <c:pt idx="590">
                  <c:v>7.69591314450196E6</c:v>
                </c:pt>
                <c:pt idx="591">
                  <c:v>7.69591314450196E6</c:v>
                </c:pt>
                <c:pt idx="592">
                  <c:v>7.69591314450196E6</c:v>
                </c:pt>
                <c:pt idx="593">
                  <c:v>7.69591314450196E6</c:v>
                </c:pt>
                <c:pt idx="594">
                  <c:v>7.69591314450196E6</c:v>
                </c:pt>
                <c:pt idx="595">
                  <c:v>7.69591314450196E6</c:v>
                </c:pt>
                <c:pt idx="596">
                  <c:v>7.69591314450196E6</c:v>
                </c:pt>
                <c:pt idx="597">
                  <c:v>7.69591314450196E6</c:v>
                </c:pt>
                <c:pt idx="598">
                  <c:v>7.69591314450196E6</c:v>
                </c:pt>
                <c:pt idx="599">
                  <c:v>7.69591314450196E6</c:v>
                </c:pt>
                <c:pt idx="600">
                  <c:v>7.69591314450196E6</c:v>
                </c:pt>
                <c:pt idx="601">
                  <c:v>7.69591314450196E6</c:v>
                </c:pt>
                <c:pt idx="602">
                  <c:v>7.69591314450196E6</c:v>
                </c:pt>
                <c:pt idx="603">
                  <c:v>7.69591314450196E6</c:v>
                </c:pt>
                <c:pt idx="604">
                  <c:v>7.69591314450196E6</c:v>
                </c:pt>
                <c:pt idx="605">
                  <c:v>7.69591314450196E6</c:v>
                </c:pt>
                <c:pt idx="606">
                  <c:v>7.69591314450196E6</c:v>
                </c:pt>
                <c:pt idx="607">
                  <c:v>7.69591314450196E6</c:v>
                </c:pt>
                <c:pt idx="608">
                  <c:v>7.69591314450196E6</c:v>
                </c:pt>
                <c:pt idx="609">
                  <c:v>7.69591314450196E6</c:v>
                </c:pt>
                <c:pt idx="610">
                  <c:v>7.69591314450196E6</c:v>
                </c:pt>
                <c:pt idx="611">
                  <c:v>7.69591314450196E6</c:v>
                </c:pt>
                <c:pt idx="612">
                  <c:v>7.69591314450196E6</c:v>
                </c:pt>
                <c:pt idx="613">
                  <c:v>7.69591314450196E6</c:v>
                </c:pt>
                <c:pt idx="614">
                  <c:v>7.69591314450196E6</c:v>
                </c:pt>
                <c:pt idx="615">
                  <c:v>7.69591314450196E6</c:v>
                </c:pt>
                <c:pt idx="616">
                  <c:v>7.69591314450196E6</c:v>
                </c:pt>
                <c:pt idx="617">
                  <c:v>7.69591314450196E6</c:v>
                </c:pt>
                <c:pt idx="618">
                  <c:v>7.69591314450196E6</c:v>
                </c:pt>
                <c:pt idx="619">
                  <c:v>7.69591314450196E6</c:v>
                </c:pt>
                <c:pt idx="620">
                  <c:v>7.69591314450196E6</c:v>
                </c:pt>
                <c:pt idx="621">
                  <c:v>7.69591314450196E6</c:v>
                </c:pt>
                <c:pt idx="622">
                  <c:v>7.69591314450196E6</c:v>
                </c:pt>
                <c:pt idx="623">
                  <c:v>7.69591314450196E6</c:v>
                </c:pt>
                <c:pt idx="624">
                  <c:v>7.69591314450196E6</c:v>
                </c:pt>
                <c:pt idx="625">
                  <c:v>7.69591314450196E6</c:v>
                </c:pt>
                <c:pt idx="626">
                  <c:v>7.69591314450196E6</c:v>
                </c:pt>
                <c:pt idx="627">
                  <c:v>7.69591314450196E6</c:v>
                </c:pt>
                <c:pt idx="628">
                  <c:v>7.69591314450196E6</c:v>
                </c:pt>
                <c:pt idx="629">
                  <c:v>7.69591314450196E6</c:v>
                </c:pt>
                <c:pt idx="630">
                  <c:v>7.69591314450196E6</c:v>
                </c:pt>
                <c:pt idx="631">
                  <c:v>7.69591314450196E6</c:v>
                </c:pt>
                <c:pt idx="632">
                  <c:v>7.69591314450196E6</c:v>
                </c:pt>
                <c:pt idx="633">
                  <c:v>7.69591314450196E6</c:v>
                </c:pt>
                <c:pt idx="634">
                  <c:v>7.69591314450196E6</c:v>
                </c:pt>
                <c:pt idx="635">
                  <c:v>7.69591314450196E6</c:v>
                </c:pt>
                <c:pt idx="636">
                  <c:v>7.69591314450196E6</c:v>
                </c:pt>
                <c:pt idx="637">
                  <c:v>7.69591314450196E6</c:v>
                </c:pt>
                <c:pt idx="638">
                  <c:v>7.69591314450196E6</c:v>
                </c:pt>
                <c:pt idx="639">
                  <c:v>7.69591314450196E6</c:v>
                </c:pt>
                <c:pt idx="640">
                  <c:v>7.69591314450196E6</c:v>
                </c:pt>
                <c:pt idx="641">
                  <c:v>7.69591314450196E6</c:v>
                </c:pt>
                <c:pt idx="642">
                  <c:v>7.69591314450196E6</c:v>
                </c:pt>
                <c:pt idx="643">
                  <c:v>7.69591314450196E6</c:v>
                </c:pt>
                <c:pt idx="644">
                  <c:v>7.69591314450196E6</c:v>
                </c:pt>
                <c:pt idx="645">
                  <c:v>7.69591314450196E6</c:v>
                </c:pt>
                <c:pt idx="646">
                  <c:v>7.69591314450196E6</c:v>
                </c:pt>
                <c:pt idx="647">
                  <c:v>7.69591314450196E6</c:v>
                </c:pt>
                <c:pt idx="648">
                  <c:v>7.69591314450196E6</c:v>
                </c:pt>
                <c:pt idx="649">
                  <c:v>7.69591314450196E6</c:v>
                </c:pt>
                <c:pt idx="650">
                  <c:v>7.69591314450196E6</c:v>
                </c:pt>
                <c:pt idx="651">
                  <c:v>7.69591314450196E6</c:v>
                </c:pt>
                <c:pt idx="652">
                  <c:v>7.69591314450196E6</c:v>
                </c:pt>
                <c:pt idx="653">
                  <c:v>7.69591314450196E6</c:v>
                </c:pt>
                <c:pt idx="654">
                  <c:v>7.69591314450196E6</c:v>
                </c:pt>
                <c:pt idx="655">
                  <c:v>7.69591314450196E6</c:v>
                </c:pt>
                <c:pt idx="656">
                  <c:v>7.69591314450196E6</c:v>
                </c:pt>
                <c:pt idx="657">
                  <c:v>7.69591314450196E6</c:v>
                </c:pt>
                <c:pt idx="658">
                  <c:v>7.69591314450196E6</c:v>
                </c:pt>
                <c:pt idx="659">
                  <c:v>7.69591314450196E6</c:v>
                </c:pt>
                <c:pt idx="660">
                  <c:v>7.69591314450196E6</c:v>
                </c:pt>
                <c:pt idx="661">
                  <c:v>7.69591314450196E6</c:v>
                </c:pt>
                <c:pt idx="662">
                  <c:v>7.69591314450196E6</c:v>
                </c:pt>
                <c:pt idx="663">
                  <c:v>7.69591314450196E6</c:v>
                </c:pt>
                <c:pt idx="664">
                  <c:v>7.69591314450196E6</c:v>
                </c:pt>
                <c:pt idx="665">
                  <c:v>7.69591314450196E6</c:v>
                </c:pt>
                <c:pt idx="666">
                  <c:v>7.69591314450196E6</c:v>
                </c:pt>
                <c:pt idx="667">
                  <c:v>7.69591314450196E6</c:v>
                </c:pt>
                <c:pt idx="668">
                  <c:v>7.69591314450196E6</c:v>
                </c:pt>
                <c:pt idx="669">
                  <c:v>7.69591314450196E6</c:v>
                </c:pt>
                <c:pt idx="670">
                  <c:v>7.69591314450196E6</c:v>
                </c:pt>
                <c:pt idx="671">
                  <c:v>7.69591314450196E6</c:v>
                </c:pt>
                <c:pt idx="672">
                  <c:v>7.69591314450196E6</c:v>
                </c:pt>
                <c:pt idx="673">
                  <c:v>7.69591314450196E6</c:v>
                </c:pt>
                <c:pt idx="674">
                  <c:v>7.69591314450196E6</c:v>
                </c:pt>
                <c:pt idx="675">
                  <c:v>7.69591314450196E6</c:v>
                </c:pt>
                <c:pt idx="676">
                  <c:v>7.69591314450196E6</c:v>
                </c:pt>
                <c:pt idx="677">
                  <c:v>7.69591314450196E6</c:v>
                </c:pt>
                <c:pt idx="678">
                  <c:v>7.69591314450196E6</c:v>
                </c:pt>
                <c:pt idx="679">
                  <c:v>7.69591314450196E6</c:v>
                </c:pt>
                <c:pt idx="680">
                  <c:v>7.69591314450196E6</c:v>
                </c:pt>
                <c:pt idx="681">
                  <c:v>7.69591314450196E6</c:v>
                </c:pt>
                <c:pt idx="682">
                  <c:v>7.69591314450196E6</c:v>
                </c:pt>
                <c:pt idx="683">
                  <c:v>7.69591314450196E6</c:v>
                </c:pt>
                <c:pt idx="684">
                  <c:v>7.69591314450196E6</c:v>
                </c:pt>
                <c:pt idx="685">
                  <c:v>7.69591314450196E6</c:v>
                </c:pt>
                <c:pt idx="686">
                  <c:v>7.69591314450196E6</c:v>
                </c:pt>
                <c:pt idx="687">
                  <c:v>7.69591314450196E6</c:v>
                </c:pt>
                <c:pt idx="688">
                  <c:v>7.69591314450196E6</c:v>
                </c:pt>
                <c:pt idx="689">
                  <c:v>7.69591314450196E6</c:v>
                </c:pt>
                <c:pt idx="690">
                  <c:v>7.69591314450196E6</c:v>
                </c:pt>
                <c:pt idx="691">
                  <c:v>7.69591314450196E6</c:v>
                </c:pt>
                <c:pt idx="692">
                  <c:v>7.69591314450196E6</c:v>
                </c:pt>
                <c:pt idx="693">
                  <c:v>7.69591314450196E6</c:v>
                </c:pt>
                <c:pt idx="694">
                  <c:v>7.69591314450196E6</c:v>
                </c:pt>
                <c:pt idx="695">
                  <c:v>7.69591314450196E6</c:v>
                </c:pt>
                <c:pt idx="696">
                  <c:v>7.69591314450196E6</c:v>
                </c:pt>
                <c:pt idx="697">
                  <c:v>7.69591314450196E6</c:v>
                </c:pt>
                <c:pt idx="698">
                  <c:v>7.69591314450196E6</c:v>
                </c:pt>
                <c:pt idx="699">
                  <c:v>7.69591314450196E6</c:v>
                </c:pt>
                <c:pt idx="700">
                  <c:v>7.69591314450196E6</c:v>
                </c:pt>
                <c:pt idx="701">
                  <c:v>7.69591314450196E6</c:v>
                </c:pt>
                <c:pt idx="702">
                  <c:v>7.69591314450196E6</c:v>
                </c:pt>
                <c:pt idx="703">
                  <c:v>7.69591314450196E6</c:v>
                </c:pt>
                <c:pt idx="704">
                  <c:v>7.69591314450196E6</c:v>
                </c:pt>
                <c:pt idx="705">
                  <c:v>7.69591314450196E6</c:v>
                </c:pt>
                <c:pt idx="706">
                  <c:v>7.69591314450196E6</c:v>
                </c:pt>
                <c:pt idx="707">
                  <c:v>7.69591314450196E6</c:v>
                </c:pt>
                <c:pt idx="708">
                  <c:v>7.69591314450196E6</c:v>
                </c:pt>
                <c:pt idx="709">
                  <c:v>7.69591314450196E6</c:v>
                </c:pt>
                <c:pt idx="710">
                  <c:v>7.69591314450196E6</c:v>
                </c:pt>
                <c:pt idx="711">
                  <c:v>7.69591314450196E6</c:v>
                </c:pt>
                <c:pt idx="712">
                  <c:v>7.69591314450196E6</c:v>
                </c:pt>
                <c:pt idx="713">
                  <c:v>7.69591314450196E6</c:v>
                </c:pt>
                <c:pt idx="714">
                  <c:v>7.69591314450196E6</c:v>
                </c:pt>
                <c:pt idx="715">
                  <c:v>7.69591314450196E6</c:v>
                </c:pt>
                <c:pt idx="716">
                  <c:v>7.69591314450196E6</c:v>
                </c:pt>
                <c:pt idx="717">
                  <c:v>7.69591314450196E6</c:v>
                </c:pt>
                <c:pt idx="718">
                  <c:v>7.69591314450196E6</c:v>
                </c:pt>
                <c:pt idx="719">
                  <c:v>7.69591314450196E6</c:v>
                </c:pt>
                <c:pt idx="720">
                  <c:v>7.69591314450196E6</c:v>
                </c:pt>
                <c:pt idx="721">
                  <c:v>7.69591314450196E6</c:v>
                </c:pt>
                <c:pt idx="722">
                  <c:v>7.69591314450196E6</c:v>
                </c:pt>
                <c:pt idx="723">
                  <c:v>7.69591314450196E6</c:v>
                </c:pt>
                <c:pt idx="724">
                  <c:v>7.69591314450196E6</c:v>
                </c:pt>
                <c:pt idx="725">
                  <c:v>7.69591314450196E6</c:v>
                </c:pt>
                <c:pt idx="726">
                  <c:v>7.69591314450196E6</c:v>
                </c:pt>
                <c:pt idx="727">
                  <c:v>7.69591314450196E6</c:v>
                </c:pt>
                <c:pt idx="728">
                  <c:v>7.69591314450196E6</c:v>
                </c:pt>
                <c:pt idx="729">
                  <c:v>7.69591314450196E6</c:v>
                </c:pt>
                <c:pt idx="730">
                  <c:v>7.69591314450196E6</c:v>
                </c:pt>
                <c:pt idx="731">
                  <c:v>7.69591314450196E6</c:v>
                </c:pt>
                <c:pt idx="732">
                  <c:v>7.69591314450196E6</c:v>
                </c:pt>
                <c:pt idx="733">
                  <c:v>7.69591314450196E6</c:v>
                </c:pt>
                <c:pt idx="734">
                  <c:v>7.69591314450196E6</c:v>
                </c:pt>
                <c:pt idx="735">
                  <c:v>7.69591314450196E6</c:v>
                </c:pt>
                <c:pt idx="736">
                  <c:v>7.69591314450196E6</c:v>
                </c:pt>
                <c:pt idx="737">
                  <c:v>7.69591314450196E6</c:v>
                </c:pt>
                <c:pt idx="738">
                  <c:v>7.69591314450196E6</c:v>
                </c:pt>
                <c:pt idx="739">
                  <c:v>7.69591314450196E6</c:v>
                </c:pt>
                <c:pt idx="740">
                  <c:v>7.69591314450196E6</c:v>
                </c:pt>
                <c:pt idx="741">
                  <c:v>7.69591314450196E6</c:v>
                </c:pt>
              </c:numCache>
            </c:numRef>
          </c:val>
        </c:ser>
        <c:marker val="1"/>
        <c:axId val="489568680"/>
        <c:axId val="626814440"/>
      </c:lineChart>
      <c:catAx>
        <c:axId val="48956868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Days</a:t>
                </a:r>
              </a:p>
            </c:rich>
          </c:tx>
          <c:layout/>
        </c:title>
        <c:numFmt formatCode="General" sourceLinked="1"/>
        <c:tickLblPos val="nextTo"/>
        <c:crossAx val="626814440"/>
        <c:crosses val="autoZero"/>
        <c:auto val="1"/>
        <c:lblAlgn val="ctr"/>
        <c:lblOffset val="100"/>
        <c:tickLblSkip val="48"/>
        <c:tickMarkSkip val="24"/>
      </c:catAx>
      <c:valAx>
        <c:axId val="626814440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Memory</a:t>
                </a:r>
                <a:endParaRPr lang="en-US" dirty="0"/>
              </a:p>
            </c:rich>
          </c:tx>
          <c:layout/>
        </c:title>
        <c:numFmt formatCode="General" sourceLinked="1"/>
        <c:tickLblPos val="nextTo"/>
        <c:crossAx val="489568680"/>
        <c:crosses val="autoZero"/>
        <c:crossBetween val="between"/>
        <c:dispUnits>
          <c:builtInUnit val="millions"/>
        </c:dispUnits>
      </c:valAx>
      <c:spPr>
        <a:ln>
          <a:solidFill>
            <a:srgbClr val="000000"/>
          </a:solidFill>
        </a:ln>
      </c:spPr>
    </c:plotArea>
    <c:plotVisOnly val="1"/>
    <c:dispBlanksAs val="zero"/>
  </c:chart>
  <c:txPr>
    <a:bodyPr/>
    <a:lstStyle/>
    <a:p>
      <a:pPr>
        <a:defRPr sz="1400">
          <a:latin typeface="Times New Roman"/>
          <a:cs typeface="Times New Roman"/>
        </a:defRPr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Descriptor</c:v>
                </c:pt>
              </c:strCache>
            </c:strRef>
          </c:tx>
          <c:spPr>
            <a:gradFill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</a:gradFill>
            <a:scene3d>
              <a:camera prst="orthographicFront"/>
              <a:lightRig rig="threePt" dir="t"/>
            </a:scene3d>
            <a:sp3d>
              <a:bevelT w="63500" h="38100"/>
            </a:sp3d>
          </c:spPr>
          <c:cat>
            <c:numRef>
              <c:f>Sheet1!$A$2:$A$6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8.0</c:v>
                </c:pt>
                <c:pt idx="3">
                  <c:v>16.0</c:v>
                </c:pt>
                <c:pt idx="4">
                  <c:v>32.0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71.66999999999998</c:v>
                </c:pt>
                <c:pt idx="1">
                  <c:v>76.5</c:v>
                </c:pt>
                <c:pt idx="2">
                  <c:v>74.25</c:v>
                </c:pt>
                <c:pt idx="3">
                  <c:v>73.5</c:v>
                </c:pt>
                <c:pt idx="4">
                  <c:v>71.75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Xend</c:v>
                </c:pt>
              </c:strCache>
            </c:strRef>
          </c:tx>
          <c:spPr>
            <a:gradFill>
              <a:gsLst>
                <a:gs pos="45000">
                  <a:srgbClr val="FF7A00"/>
                </a:gs>
                <a:gs pos="70000">
                  <a:srgbClr val="FC6204"/>
                </a:gs>
                <a:gs pos="100000">
                  <a:srgbClr val="FF0000"/>
                </a:gs>
              </a:gsLst>
              <a:lin ang="5400000" scaled="0"/>
            </a:gradFill>
            <a:scene3d>
              <a:camera prst="orthographicFront"/>
              <a:lightRig rig="threePt" dir="t"/>
            </a:scene3d>
            <a:sp3d>
              <a:bevelT w="63500" h="38100"/>
            </a:sp3d>
          </c:spPr>
          <c:cat>
            <c:numRef>
              <c:f>Sheet1!$A$2:$A$6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8.0</c:v>
                </c:pt>
                <c:pt idx="3">
                  <c:v>16.0</c:v>
                </c:pt>
                <c:pt idx="4">
                  <c:v>32.0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92.66999999999998</c:v>
                </c:pt>
                <c:pt idx="1">
                  <c:v>82.5</c:v>
                </c:pt>
                <c:pt idx="2">
                  <c:v>58.75</c:v>
                </c:pt>
                <c:pt idx="3">
                  <c:v>64.75</c:v>
                </c:pt>
                <c:pt idx="4">
                  <c:v>36.25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Start Clones</c:v>
                </c:pt>
              </c:strCache>
            </c:strRef>
          </c:tx>
          <c:spPr>
            <a:gradFill>
              <a:gsLst>
                <a:gs pos="0">
                  <a:srgbClr val="E6DCAC"/>
                </a:gs>
                <a:gs pos="12000">
                  <a:srgbClr val="E6D78A"/>
                </a:gs>
                <a:gs pos="45000">
                  <a:srgbClr val="E6D78A"/>
                </a:gs>
                <a:gs pos="77000">
                  <a:srgbClr val="C7AC4C"/>
                </a:gs>
              </a:gsLst>
              <a:lin ang="5400000" scaled="0"/>
            </a:gradFill>
            <a:scene3d>
              <a:camera prst="orthographicFront"/>
              <a:lightRig rig="threePt" dir="t"/>
            </a:scene3d>
            <a:sp3d>
              <a:bevelT w="69850" h="38100"/>
            </a:sp3d>
          </c:spPr>
          <c:cat>
            <c:numRef>
              <c:f>Sheet1!$A$2:$A$6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8.0</c:v>
                </c:pt>
                <c:pt idx="3">
                  <c:v>16.0</c:v>
                </c:pt>
                <c:pt idx="4">
                  <c:v>32.0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9.67</c:v>
                </c:pt>
                <c:pt idx="1">
                  <c:v>15.75</c:v>
                </c:pt>
                <c:pt idx="2">
                  <c:v>28.0</c:v>
                </c:pt>
                <c:pt idx="3">
                  <c:v>54.25</c:v>
                </c:pt>
                <c:pt idx="4">
                  <c:v>112.0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Multicast</c:v>
                </c:pt>
              </c:strCache>
            </c:strRef>
          </c:tx>
          <c:spPr>
            <a:gradFill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  <a:scene3d>
              <a:camera prst="orthographicFront"/>
              <a:lightRig rig="threePt" dir="t"/>
            </a:scene3d>
            <a:sp3d>
              <a:bevelT w="63500" h="38100"/>
            </a:sp3d>
          </c:spPr>
          <c:cat>
            <c:numRef>
              <c:f>Sheet1!$A$2:$A$6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8.0</c:v>
                </c:pt>
                <c:pt idx="3">
                  <c:v>16.0</c:v>
                </c:pt>
                <c:pt idx="4">
                  <c:v>32.0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104.0</c:v>
                </c:pt>
                <c:pt idx="1">
                  <c:v>115.67</c:v>
                </c:pt>
                <c:pt idx="2">
                  <c:v>119.82</c:v>
                </c:pt>
                <c:pt idx="3">
                  <c:v>136.25</c:v>
                </c:pt>
                <c:pt idx="4">
                  <c:v>224.75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Spawn</c:v>
                </c:pt>
              </c:strCache>
            </c:strRef>
          </c:tx>
          <c:spPr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scene3d>
              <a:camera prst="orthographicFront"/>
              <a:lightRig rig="threePt" dir="t"/>
            </a:scene3d>
            <a:sp3d>
              <a:bevelT w="63500" h="38100"/>
            </a:sp3d>
          </c:spPr>
          <c:cat>
            <c:numRef>
              <c:f>Sheet1!$A$2:$A$6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8.0</c:v>
                </c:pt>
                <c:pt idx="3">
                  <c:v>16.0</c:v>
                </c:pt>
                <c:pt idx="4">
                  <c:v>32.0</c:v>
                </c:pt>
              </c:numCache>
            </c:numRef>
          </c:cat>
          <c:val>
            <c:numRef>
              <c:f>Sheet1!$F$2:$F$6</c:f>
              <c:numCache>
                <c:formatCode>General</c:formatCode>
                <c:ptCount val="5"/>
                <c:pt idx="0">
                  <c:v>203.33</c:v>
                </c:pt>
                <c:pt idx="1">
                  <c:v>208.67</c:v>
                </c:pt>
                <c:pt idx="2">
                  <c:v>207.11</c:v>
                </c:pt>
                <c:pt idx="3">
                  <c:v>204.3</c:v>
                </c:pt>
                <c:pt idx="4">
                  <c:v>201.97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Devices</c:v>
                </c:pt>
              </c:strCache>
            </c:strRef>
          </c:tx>
          <c:spPr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scene3d>
              <a:camera prst="orthographicFront"/>
              <a:lightRig rig="threePt" dir="t"/>
            </a:scene3d>
            <a:sp3d>
              <a:bevelT w="63500" h="38100"/>
            </a:sp3d>
          </c:spPr>
          <c:cat>
            <c:numRef>
              <c:f>Sheet1!$A$2:$A$6</c: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8.0</c:v>
                </c:pt>
                <c:pt idx="3">
                  <c:v>16.0</c:v>
                </c:pt>
                <c:pt idx="4">
                  <c:v>32.0</c:v>
                </c:pt>
              </c:numCache>
            </c:numRef>
          </c:cat>
          <c:val>
            <c:numRef>
              <c:f>Sheet1!$G$2:$G$6</c:f>
              <c:numCache>
                <c:formatCode>General</c:formatCode>
                <c:ptCount val="5"/>
                <c:pt idx="0">
                  <c:v>168.67</c:v>
                </c:pt>
                <c:pt idx="1">
                  <c:v>166.92</c:v>
                </c:pt>
                <c:pt idx="2">
                  <c:v>173.68</c:v>
                </c:pt>
                <c:pt idx="3">
                  <c:v>171.75</c:v>
                </c:pt>
                <c:pt idx="4">
                  <c:v>188.3800000000002</c:v>
                </c:pt>
              </c:numCache>
            </c:numRef>
          </c:val>
        </c:ser>
        <c:overlap val="100"/>
        <c:axId val="572048328"/>
        <c:axId val="572051656"/>
      </c:barChart>
      <c:catAx>
        <c:axId val="572048328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572051656"/>
        <c:crosses val="autoZero"/>
        <c:auto val="1"/>
        <c:lblAlgn val="ctr"/>
        <c:lblOffset val="10"/>
      </c:catAx>
      <c:valAx>
        <c:axId val="572051656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57204832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/>
      <c:txPr>
        <a:bodyPr/>
        <a:lstStyle/>
        <a:p>
          <a:pPr>
            <a:defRPr sz="2400"/>
          </a:pPr>
          <a:endParaRPr lang="en-US"/>
        </a:p>
      </c:txPr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>
        <c:manualLayout>
          <c:layoutTarget val="inner"/>
          <c:xMode val="edge"/>
          <c:yMode val="edge"/>
          <c:x val="0.151455869021544"/>
          <c:y val="0.0424868501806743"/>
          <c:w val="0.845891513560805"/>
          <c:h val="0.748868022291866"/>
        </c:manualLayout>
      </c:layout>
      <c:lineChart>
        <c:grouping val="standard"/>
        <c:ser>
          <c:idx val="3"/>
          <c:order val="0"/>
          <c:tx>
            <c:strRef>
              <c:f>Sheet2!$A$9</c:f>
              <c:strCache>
                <c:ptCount val="1"/>
                <c:pt idx="0">
                  <c:v>Kal 50-50 Mix Th90</c:v>
                </c:pt>
              </c:strCache>
            </c:strRef>
          </c:tx>
          <c:spPr>
            <a:ln w="50800"/>
          </c:spPr>
          <c:marker>
            <c:symbol val="diamond"/>
            <c:size val="11"/>
          </c:marker>
          <c:cat>
            <c:numRef>
              <c:f>Sheet2!$B$5:$F$5</c:f>
              <c:numCache>
                <c:formatCode>General</c:formatCode>
                <c:ptCount val="5"/>
                <c:pt idx="0">
                  <c:v>0.0</c:v>
                </c:pt>
                <c:pt idx="1">
                  <c:v>5.0</c:v>
                </c:pt>
                <c:pt idx="2">
                  <c:v>10.0</c:v>
                </c:pt>
                <c:pt idx="3">
                  <c:v>20.0</c:v>
                </c:pt>
                <c:pt idx="4">
                  <c:v>30.0</c:v>
                </c:pt>
              </c:numCache>
            </c:numRef>
          </c:cat>
          <c:val>
            <c:numRef>
              <c:f>Sheet2!$B$9:$F$9</c:f>
              <c:numCache>
                <c:formatCode>General</c:formatCode>
                <c:ptCount val="5"/>
                <c:pt idx="0">
                  <c:v>58.46</c:v>
                </c:pt>
                <c:pt idx="1">
                  <c:v>55.64</c:v>
                </c:pt>
                <c:pt idx="2">
                  <c:v>52.56</c:v>
                </c:pt>
                <c:pt idx="3">
                  <c:v>47.0</c:v>
                </c:pt>
                <c:pt idx="4">
                  <c:v>43.28</c:v>
                </c:pt>
              </c:numCache>
            </c:numRef>
          </c:val>
        </c:ser>
        <c:ser>
          <c:idx val="5"/>
          <c:order val="1"/>
          <c:tx>
            <c:strRef>
              <c:f>Sheet2!$A$11</c:f>
              <c:strCache>
                <c:ptCount val="1"/>
                <c:pt idx="0">
                  <c:v>Elastic Cloud Th60</c:v>
                </c:pt>
              </c:strCache>
            </c:strRef>
          </c:tx>
          <c:spPr>
            <a:ln w="50800">
              <a:solidFill>
                <a:schemeClr val="tx1"/>
              </a:solidFill>
              <a:prstDash val="sysDot"/>
            </a:ln>
          </c:spPr>
          <c:marker>
            <c:symbol val="circle"/>
            <c:size val="9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cat>
            <c:numRef>
              <c:f>Sheet2!$B$5:$F$5</c:f>
              <c:numCache>
                <c:formatCode>General</c:formatCode>
                <c:ptCount val="5"/>
                <c:pt idx="0">
                  <c:v>0.0</c:v>
                </c:pt>
                <c:pt idx="1">
                  <c:v>5.0</c:v>
                </c:pt>
                <c:pt idx="2">
                  <c:v>10.0</c:v>
                </c:pt>
                <c:pt idx="3">
                  <c:v>20.0</c:v>
                </c:pt>
                <c:pt idx="4">
                  <c:v>30.0</c:v>
                </c:pt>
              </c:numCache>
            </c:numRef>
          </c:cat>
          <c:val>
            <c:numRef>
              <c:f>Sheet2!$B$11:$F$11</c:f>
              <c:numCache>
                <c:formatCode>General</c:formatCode>
                <c:ptCount val="5"/>
                <c:pt idx="0">
                  <c:v>89.0</c:v>
                </c:pt>
                <c:pt idx="1">
                  <c:v>87.0</c:v>
                </c:pt>
                <c:pt idx="2">
                  <c:v>85.0</c:v>
                </c:pt>
                <c:pt idx="3">
                  <c:v>80.0</c:v>
                </c:pt>
                <c:pt idx="4">
                  <c:v>76.0</c:v>
                </c:pt>
              </c:numCache>
            </c:numRef>
          </c:val>
        </c:ser>
        <c:marker val="1"/>
        <c:axId val="578978056"/>
        <c:axId val="551647464"/>
      </c:lineChart>
      <c:catAx>
        <c:axId val="57897805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 b="0" i="0"/>
                </a:pPr>
                <a:r>
                  <a:rPr lang="en-US" sz="1600" b="0" i="0"/>
                  <a:t>% Memory Pages Shareable</a:t>
                </a:r>
              </a:p>
            </c:rich>
          </c:tx>
          <c:layout>
            <c:manualLayout>
              <c:xMode val="edge"/>
              <c:yMode val="edge"/>
              <c:x val="0.259473315835521"/>
              <c:y val="0.909778554380565"/>
            </c:manualLayout>
          </c:layout>
        </c:title>
        <c:numFmt formatCode="General" sourceLinked="1"/>
        <c:tickLblPos val="nextTo"/>
        <c:txPr>
          <a:bodyPr anchor="t" anchorCtr="1"/>
          <a:lstStyle/>
          <a:p>
            <a:pPr>
              <a:defRPr sz="1400"/>
            </a:pPr>
            <a:endParaRPr lang="en-US"/>
          </a:p>
        </c:txPr>
        <c:crossAx val="551647464"/>
        <c:crosses val="autoZero"/>
        <c:auto val="1"/>
        <c:lblAlgn val="ctr"/>
        <c:lblOffset val="25"/>
        <c:tickLblSkip val="1"/>
        <c:tickMarkSkip val="1"/>
      </c:catAx>
      <c:valAx>
        <c:axId val="551647464"/>
        <c:scaling>
          <c:orientation val="minMax"/>
          <c:max val="94.0"/>
          <c:min val="35.0"/>
        </c:scaling>
        <c:axPos val="l"/>
        <c:title>
          <c:tx>
            <c:rich>
              <a:bodyPr/>
              <a:lstStyle/>
              <a:p>
                <a:pPr>
                  <a:defRPr sz="1600" b="0" i="0"/>
                </a:pPr>
                <a:r>
                  <a:rPr lang="en-US" sz="1600" b="0" i="0"/>
                  <a:t>Physical Machines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78978056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</c:chart>
  <c:spPr>
    <a:ln>
      <a:solidFill>
        <a:schemeClr val="bg1"/>
      </a:solidFill>
    </a:ln>
  </c:spPr>
  <c:txPr>
    <a:bodyPr/>
    <a:lstStyle/>
    <a:p>
      <a:pPr>
        <a:defRPr sz="1400">
          <a:latin typeface="Times New Roman"/>
          <a:cs typeface="Times New Roman"/>
        </a:defRPr>
      </a:pPr>
      <a:endParaRPr lang="en-US"/>
    </a:p>
  </c:txPr>
  <c:externalData r:id="rId1"/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0.204640819354102"/>
          <c:y val="0.0495495495495495"/>
          <c:w val="0.755504108182129"/>
          <c:h val="0.732991771298859"/>
        </c:manualLayout>
      </c:layout>
      <c:lineChart>
        <c:grouping val="standard"/>
        <c:ser>
          <c:idx val="0"/>
          <c:order val="0"/>
          <c:cat>
            <c:numRef>
              <c:f>Sheet2!$A$2:$A$9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Sheet2!$B$13:$B$20</c:f>
              <c:numCache>
                <c:formatCode>General</c:formatCode>
                <c:ptCount val="8"/>
                <c:pt idx="0">
                  <c:v>15.0</c:v>
                </c:pt>
                <c:pt idx="1">
                  <c:v>41.0</c:v>
                </c:pt>
                <c:pt idx="2">
                  <c:v>68.0</c:v>
                </c:pt>
                <c:pt idx="3">
                  <c:v>122.0</c:v>
                </c:pt>
                <c:pt idx="4">
                  <c:v>201.0</c:v>
                </c:pt>
                <c:pt idx="5">
                  <c:v>301.0</c:v>
                </c:pt>
                <c:pt idx="6">
                  <c:v>452.0</c:v>
                </c:pt>
                <c:pt idx="7">
                  <c:v>670.0</c:v>
                </c:pt>
              </c:numCache>
            </c:numRef>
          </c:val>
        </c:ser>
        <c:ser>
          <c:idx val="1"/>
          <c:order val="1"/>
          <c:cat>
            <c:numRef>
              <c:f>Sheet2!$A$2:$A$9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Sheet2!$C$13:$C$20</c:f>
              <c:numCache>
                <c:formatCode>General</c:formatCode>
                <c:ptCount val="8"/>
                <c:pt idx="0">
                  <c:v>9.0</c:v>
                </c:pt>
                <c:pt idx="1">
                  <c:v>13.0</c:v>
                </c:pt>
                <c:pt idx="2">
                  <c:v>26.0</c:v>
                </c:pt>
                <c:pt idx="3">
                  <c:v>54.0</c:v>
                </c:pt>
                <c:pt idx="4">
                  <c:v>99.0</c:v>
                </c:pt>
                <c:pt idx="5">
                  <c:v>154.0</c:v>
                </c:pt>
                <c:pt idx="6">
                  <c:v>250.0</c:v>
                </c:pt>
                <c:pt idx="7">
                  <c:v>390.0</c:v>
                </c:pt>
              </c:numCache>
            </c:numRef>
          </c:val>
        </c:ser>
        <c:ser>
          <c:idx val="2"/>
          <c:order val="2"/>
          <c:cat>
            <c:numRef>
              <c:f>Sheet2!$A$2:$A$9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Sheet2!$D$13:$D$20</c:f>
              <c:numCache>
                <c:formatCode>General</c:formatCode>
                <c:ptCount val="8"/>
                <c:pt idx="0">
                  <c:v>7.0</c:v>
                </c:pt>
                <c:pt idx="1">
                  <c:v>12.0</c:v>
                </c:pt>
                <c:pt idx="2">
                  <c:v>18.0</c:v>
                </c:pt>
                <c:pt idx="3">
                  <c:v>29.0</c:v>
                </c:pt>
                <c:pt idx="4">
                  <c:v>41.0</c:v>
                </c:pt>
                <c:pt idx="5">
                  <c:v>62.0</c:v>
                </c:pt>
                <c:pt idx="6">
                  <c:v>97.0</c:v>
                </c:pt>
                <c:pt idx="7">
                  <c:v>154.0</c:v>
                </c:pt>
              </c:numCache>
            </c:numRef>
          </c:val>
        </c:ser>
        <c:ser>
          <c:idx val="3"/>
          <c:order val="3"/>
          <c:spPr>
            <a:ln>
              <a:solidFill>
                <a:schemeClr val="tx1">
                  <a:lumMod val="85000"/>
                  <a:lumOff val="15000"/>
                </a:schemeClr>
              </a:solidFill>
            </a:ln>
          </c:spPr>
          <c:marker>
            <c:spPr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c:spPr>
          </c:marker>
          <c:cat>
            <c:numRef>
              <c:f>Sheet2!$A$2:$A$9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Sheet2!$E$13:$E$20</c:f>
              <c:numCache>
                <c:formatCode>General</c:formatCode>
                <c:ptCount val="8"/>
                <c:pt idx="0">
                  <c:v>22.0</c:v>
                </c:pt>
                <c:pt idx="1">
                  <c:v>54.0</c:v>
                </c:pt>
                <c:pt idx="2">
                  <c:v>104.0</c:v>
                </c:pt>
                <c:pt idx="3">
                  <c:v>169.0</c:v>
                </c:pt>
                <c:pt idx="4">
                  <c:v>230.0</c:v>
                </c:pt>
                <c:pt idx="5">
                  <c:v>310.0</c:v>
                </c:pt>
                <c:pt idx="6">
                  <c:v>394.0</c:v>
                </c:pt>
                <c:pt idx="7">
                  <c:v>482.0</c:v>
                </c:pt>
              </c:numCache>
            </c:numRef>
          </c:val>
        </c:ser>
        <c:ser>
          <c:idx val="4"/>
          <c:order val="4"/>
          <c:spPr>
            <a:ln>
              <a:solidFill>
                <a:schemeClr val="tx1">
                  <a:lumMod val="65000"/>
                  <a:lumOff val="35000"/>
                </a:schemeClr>
              </a:solidFill>
            </a:ln>
          </c:spPr>
          <c:marker>
            <c:symbol val="square"/>
            <c:size val="7"/>
            <c:spPr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c:spPr>
          </c:marker>
          <c:cat>
            <c:numRef>
              <c:f>Sheet2!$A$2:$A$9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Sheet2!$F$13:$F$20</c:f>
              <c:numCache>
                <c:formatCode>General</c:formatCode>
                <c:ptCount val="8"/>
                <c:pt idx="0">
                  <c:v>21.0</c:v>
                </c:pt>
                <c:pt idx="1">
                  <c:v>55.0</c:v>
                </c:pt>
                <c:pt idx="2">
                  <c:v>110.0</c:v>
                </c:pt>
                <c:pt idx="3">
                  <c:v>174.0</c:v>
                </c:pt>
                <c:pt idx="4">
                  <c:v>257.0</c:v>
                </c:pt>
                <c:pt idx="5">
                  <c:v>354.0</c:v>
                </c:pt>
                <c:pt idx="6">
                  <c:v>440.0</c:v>
                </c:pt>
                <c:pt idx="7">
                  <c:v>544.0</c:v>
                </c:pt>
              </c:numCache>
            </c:numRef>
          </c:val>
        </c:ser>
        <c:marker val="1"/>
        <c:axId val="477008568"/>
        <c:axId val="538535704"/>
      </c:lineChart>
      <c:catAx>
        <c:axId val="477008568"/>
        <c:scaling>
          <c:orientation val="minMax"/>
        </c:scaling>
        <c:axPos val="b"/>
        <c:numFmt formatCode="General" sourceLinked="1"/>
        <c:tickLblPos val="nextTo"/>
        <c:crossAx val="538535704"/>
        <c:crosses val="autoZero"/>
        <c:auto val="1"/>
        <c:lblAlgn val="ctr"/>
        <c:lblOffset val="100"/>
      </c:catAx>
      <c:valAx>
        <c:axId val="538535704"/>
        <c:scaling>
          <c:orientation val="minMax"/>
        </c:scaling>
        <c:axPos val="l"/>
        <c:majorGridlines>
          <c:spPr>
            <a:ln>
              <a:prstDash val="sysDot"/>
            </a:ln>
          </c:spPr>
        </c:majorGridlines>
        <c:numFmt formatCode="General" sourceLinked="1"/>
        <c:tickLblPos val="nextTo"/>
        <c:crossAx val="477008568"/>
        <c:crosses val="autoZero"/>
        <c:crossBetween val="between"/>
      </c:valAx>
      <c:spPr>
        <a:ln>
          <a:solidFill>
            <a:schemeClr val="tx1">
              <a:lumMod val="65000"/>
              <a:lumOff val="35000"/>
            </a:schemeClr>
          </a:solidFill>
        </a:ln>
      </c:spPr>
    </c:plotArea>
    <c:plotVisOnly val="1"/>
  </c:chart>
  <c:spPr>
    <a:ln>
      <a:noFill/>
    </a:ln>
  </c:spPr>
  <c:txPr>
    <a:bodyPr/>
    <a:lstStyle/>
    <a:p>
      <a:pPr>
        <a:defRPr sz="1200" b="1">
          <a:latin typeface="Times New Roman"/>
          <a:cs typeface="Times New Roman"/>
        </a:defRPr>
      </a:pPr>
      <a:endParaRPr lang="en-US"/>
    </a:p>
  </c:txPr>
  <c:externalData r:id="rId2"/>
  <c:userShapes r:id="rId3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0.194981741412758"/>
          <c:y val="0.0509259259259259"/>
          <c:w val="0.740939176081251"/>
          <c:h val="0.680722317459396"/>
        </c:manualLayout>
      </c:layout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Migration (MySQL)</c:v>
                </c:pt>
              </c:strCache>
            </c:strRef>
          </c:tx>
          <c:spPr>
            <a:ln w="25400">
              <a:solidFill>
                <a:srgbClr val="666699"/>
              </a:solidFill>
              <a:prstDash val="solid"/>
            </a:ln>
          </c:spPr>
          <c:marker>
            <c:spPr>
              <a:solidFill>
                <a:srgbClr val="4F81BD"/>
              </a:solidFill>
              <a:ln>
                <a:solidFill>
                  <a:srgbClr val="666699"/>
                </a:solidFill>
                <a:prstDash val="solid"/>
              </a:ln>
            </c:spPr>
          </c:marker>
          <c:cat>
            <c:numRef>
              <c:f>Sheet1!$A$23:$A$30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Sheet1!$B$23:$B$30</c:f>
              <c:numCache>
                <c:formatCode>General</c:formatCode>
                <c:ptCount val="8"/>
                <c:pt idx="0">
                  <c:v>12.84916201117318</c:v>
                </c:pt>
                <c:pt idx="1">
                  <c:v>12.74281274281271</c:v>
                </c:pt>
                <c:pt idx="2">
                  <c:v>12.60377358490566</c:v>
                </c:pt>
                <c:pt idx="3">
                  <c:v>12.71929824561402</c:v>
                </c:pt>
                <c:pt idx="4">
                  <c:v>12.83880171184023</c:v>
                </c:pt>
                <c:pt idx="5">
                  <c:v>12.91899441340782</c:v>
                </c:pt>
                <c:pt idx="6">
                  <c:v>13.0732375085558</c:v>
                </c:pt>
                <c:pt idx="7">
                  <c:v>13.421926910299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Migration (Tomcat)</c:v>
                </c:pt>
              </c:strCache>
            </c:strRef>
          </c:tx>
          <c:spPr>
            <a:ln w="25400">
              <a:solidFill>
                <a:srgbClr val="DD2D32"/>
              </a:solidFill>
              <a:prstDash val="solid"/>
            </a:ln>
          </c:spPr>
          <c:marker>
            <c:spPr>
              <a:solidFill>
                <a:srgbClr val="C0504D"/>
              </a:solidFill>
              <a:ln>
                <a:solidFill>
                  <a:srgbClr val="DD2D32"/>
                </a:solidFill>
                <a:prstDash val="solid"/>
              </a:ln>
            </c:spPr>
          </c:marker>
          <c:cat>
            <c:numRef>
              <c:f>Sheet1!$A$23:$A$30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Sheet1!$C$23:$C$30</c:f>
              <c:numCache>
                <c:formatCode>General</c:formatCode>
                <c:ptCount val="8"/>
                <c:pt idx="0">
                  <c:v>9.78964401294502</c:v>
                </c:pt>
                <c:pt idx="1">
                  <c:v>9.819324430479183</c:v>
                </c:pt>
                <c:pt idx="2">
                  <c:v>10.12947448591012</c:v>
                </c:pt>
                <c:pt idx="3">
                  <c:v>10.28867505551442</c:v>
                </c:pt>
                <c:pt idx="4">
                  <c:v>10.54913294797688</c:v>
                </c:pt>
                <c:pt idx="5">
                  <c:v>10.81272084805655</c:v>
                </c:pt>
                <c:pt idx="6">
                  <c:v>11.0957004160888</c:v>
                </c:pt>
                <c:pt idx="7">
                  <c:v>11.52542372881355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Migration (Apache)</c:v>
                </c:pt>
              </c:strCache>
            </c:strRef>
          </c:tx>
          <c:spPr>
            <a:ln w="25400">
              <a:solidFill>
                <a:srgbClr val="99CC00"/>
              </a:solidFill>
              <a:prstDash val="solid"/>
            </a:ln>
          </c:spPr>
          <c:marker>
            <c:spPr>
              <a:solidFill>
                <a:srgbClr val="9BBB59"/>
              </a:solidFill>
              <a:ln>
                <a:solidFill>
                  <a:srgbClr val="99CC00"/>
                </a:solidFill>
                <a:prstDash val="solid"/>
              </a:ln>
            </c:spPr>
          </c:marker>
          <c:cat>
            <c:numRef>
              <c:f>Sheet1!$A$23:$A$30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Sheet1!$D$23:$D$30</c:f>
              <c:numCache>
                <c:formatCode>General</c:formatCode>
                <c:ptCount val="8"/>
                <c:pt idx="0">
                  <c:v>11.78343949044587</c:v>
                </c:pt>
                <c:pt idx="1">
                  <c:v>11.9651347068146</c:v>
                </c:pt>
                <c:pt idx="2">
                  <c:v>11.97511664074651</c:v>
                </c:pt>
                <c:pt idx="3">
                  <c:v>11.79138321995465</c:v>
                </c:pt>
                <c:pt idx="4">
                  <c:v>11.85296324081021</c:v>
                </c:pt>
                <c:pt idx="5">
                  <c:v>11.90828402366866</c:v>
                </c:pt>
                <c:pt idx="6">
                  <c:v>11.84493898061737</c:v>
                </c:pt>
                <c:pt idx="7">
                  <c:v>12.12553495007135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Add replica (MySQL)</c:v>
                </c:pt>
              </c:strCache>
            </c:strRef>
          </c:tx>
          <c:spPr>
            <a:ln w="2540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c:spPr>
          <c:marker>
            <c:spPr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</c:spPr>
          </c:marker>
          <c:cat>
            <c:numRef>
              <c:f>Sheet1!$A$23:$A$30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Sheet1!$E$23:$E$30</c:f>
              <c:numCache>
                <c:formatCode>General</c:formatCode>
                <c:ptCount val="8"/>
                <c:pt idx="0">
                  <c:v>12.3762376237624</c:v>
                </c:pt>
                <c:pt idx="1">
                  <c:v>12.62214983713355</c:v>
                </c:pt>
                <c:pt idx="2">
                  <c:v>13.43523732904267</c:v>
                </c:pt>
                <c:pt idx="3">
                  <c:v>13.4433962264151</c:v>
                </c:pt>
                <c:pt idx="4">
                  <c:v>14.12125863392172</c:v>
                </c:pt>
                <c:pt idx="5">
                  <c:v>14.72809667673716</c:v>
                </c:pt>
                <c:pt idx="6">
                  <c:v>14.90774907749078</c:v>
                </c:pt>
                <c:pt idx="7">
                  <c:v>15.62054208273895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Remove replica (MySQL)</c:v>
                </c:pt>
              </c:strCache>
            </c:strRef>
          </c:tx>
          <c:spPr>
            <a:ln w="2540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c:spPr>
          <c:marker>
            <c:symbol val="square"/>
            <c:size val="7"/>
            <c:spPr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c:spPr>
          </c:marker>
          <c:cat>
            <c:numRef>
              <c:f>Sheet1!$A$23:$A$30</c:f>
              <c:numCache>
                <c:formatCode>General</c:formatCode>
                <c:ptCount val="8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</c:numCache>
            </c:numRef>
          </c:cat>
          <c:val>
            <c:numRef>
              <c:f>Sheet1!$F$23:$F$30</c:f>
              <c:numCache>
                <c:formatCode>General</c:formatCode>
                <c:ptCount val="8"/>
                <c:pt idx="0">
                  <c:v>12.57285595337222</c:v>
                </c:pt>
                <c:pt idx="1">
                  <c:v>12.36863379143087</c:v>
                </c:pt>
                <c:pt idx="2">
                  <c:v>12.93929712460064</c:v>
                </c:pt>
                <c:pt idx="3">
                  <c:v>13.49019607843137</c:v>
                </c:pt>
                <c:pt idx="4">
                  <c:v>14.21947449768162</c:v>
                </c:pt>
                <c:pt idx="5">
                  <c:v>14.86792452830193</c:v>
                </c:pt>
                <c:pt idx="6">
                  <c:v>15.59701492537312</c:v>
                </c:pt>
                <c:pt idx="7">
                  <c:v>16.31768953068589</c:v>
                </c:pt>
              </c:numCache>
            </c:numRef>
          </c:val>
        </c:ser>
        <c:marker val="1"/>
        <c:axId val="489553080"/>
        <c:axId val="488811784"/>
      </c:lineChart>
      <c:catAx>
        <c:axId val="489553080"/>
        <c:scaling>
          <c:orientation val="minMax"/>
        </c:scaling>
        <c:axPos val="b"/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488811784"/>
        <c:crosses val="autoZero"/>
        <c:auto val="1"/>
        <c:lblAlgn val="ctr"/>
        <c:lblOffset val="100"/>
      </c:catAx>
      <c:valAx>
        <c:axId val="488811784"/>
        <c:scaling>
          <c:orientation val="minMax"/>
          <c:min val="8.0"/>
        </c:scaling>
        <c:axPos val="l"/>
        <c:majorGridlines>
          <c:spPr>
            <a:ln w="3175">
              <a:solidFill>
                <a:srgbClr val="808080"/>
              </a:solidFill>
              <a:prstDash val="sysDot"/>
            </a:ln>
          </c:spPr>
        </c:majorGridlines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489553080"/>
        <c:crosses val="autoZero"/>
        <c:crossBetween val="between"/>
      </c:valAx>
      <c:spPr>
        <a:solidFill>
          <a:srgbClr val="FFFFFF"/>
        </a:solidFill>
        <a:ln w="9525">
          <a:solidFill>
            <a:schemeClr val="tx1">
              <a:lumMod val="65000"/>
              <a:lumOff val="35000"/>
            </a:schemeClr>
          </a:solidFill>
        </a:ln>
      </c:spPr>
    </c:plotArea>
    <c:plotVisOnly val="1"/>
    <c:dispBlanksAs val="gap"/>
  </c:chart>
  <c:spPr>
    <a:solidFill>
      <a:srgbClr val="FFFFFF"/>
    </a:solidFill>
    <a:ln w="3175">
      <a:noFill/>
      <a:prstDash val="solid"/>
    </a:ln>
  </c:spPr>
  <c:txPr>
    <a:bodyPr/>
    <a:lstStyle/>
    <a:p>
      <a:pPr>
        <a:defRPr sz="1200" b="1">
          <a:latin typeface="Times New Roman"/>
          <a:cs typeface="Times New Roman"/>
        </a:defRPr>
      </a:pPr>
      <a:endParaRPr lang="en-US"/>
    </a:p>
  </c:txPr>
  <c:externalData r:id="rId2"/>
  <c:userShapes r:id="rId3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0.24492</cdr:x>
      <cdr:y>0.20211</cdr:y>
    </cdr:from>
    <cdr:to>
      <cdr:x>0.46117</cdr:x>
      <cdr:y>0.28471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099597" y="1177823"/>
          <a:ext cx="1853790" cy="4813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2200">
            <a:latin typeface="Times New Roman"/>
            <a:cs typeface="Times New Roman"/>
          </a:endParaRPr>
        </a:p>
      </cdr:txBody>
    </cdr:sp>
  </cdr:relSizeAnchor>
  <cdr:relSizeAnchor xmlns:cdr="http://schemas.openxmlformats.org/drawingml/2006/chartDrawing">
    <cdr:from>
      <cdr:x>0.68246</cdr:x>
      <cdr:y>0.08313</cdr:y>
    </cdr:from>
    <cdr:to>
      <cdr:x>0.9535</cdr:x>
      <cdr:y>0.16046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82359" y="168433"/>
          <a:ext cx="1144726" cy="15668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1600" dirty="0" smtClean="0">
              <a:latin typeface="Times New Roman"/>
              <a:cs typeface="Times New Roman"/>
            </a:rPr>
            <a:t>Status Quo</a:t>
          </a:r>
          <a:endParaRPr lang="en-US" sz="1600" dirty="0">
            <a:latin typeface="Times New Roman"/>
            <a:cs typeface="Times New Roman"/>
          </a:endParaRPr>
        </a:p>
      </cdr:txBody>
    </cdr:sp>
  </cdr:relSizeAnchor>
  <cdr:relSizeAnchor xmlns:cdr="http://schemas.openxmlformats.org/drawingml/2006/chartDrawing">
    <cdr:from>
      <cdr:x>0.61796</cdr:x>
      <cdr:y>0.44222</cdr:y>
    </cdr:from>
    <cdr:to>
      <cdr:x>0.95564</cdr:x>
      <cdr:y>0.55778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2825550" y="1110354"/>
          <a:ext cx="1543957" cy="2901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600" dirty="0" smtClean="0">
              <a:latin typeface="Times New Roman"/>
              <a:cs typeface="Times New Roman"/>
            </a:rPr>
            <a:t>Kaleidoscope</a:t>
          </a:r>
          <a:endParaRPr lang="en-US" sz="1600" dirty="0">
            <a:latin typeface="Times New Roman"/>
            <a:cs typeface="Times New Roman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0.22159</cdr:x>
      <cdr:y>0.89084</cdr:y>
    </cdr:from>
    <cdr:to>
      <cdr:x>0.95004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76717" y="2511634"/>
          <a:ext cx="2553353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400" b="1" dirty="0">
              <a:latin typeface="Times New Roman"/>
              <a:cs typeface="Times New Roman"/>
            </a:rPr>
            <a:t>Number</a:t>
          </a:r>
          <a:r>
            <a:rPr lang="en-US" sz="1400" b="1" baseline="0" dirty="0">
              <a:latin typeface="Times New Roman"/>
              <a:cs typeface="Times New Roman"/>
            </a:rPr>
            <a:t> of concurrent sessions</a:t>
          </a:r>
          <a:endParaRPr lang="en-US" sz="1400" b="1" dirty="0">
            <a:latin typeface="Times New Roman"/>
            <a:cs typeface="Times New Roman"/>
          </a:endParaRPr>
        </a:p>
      </cdr:txBody>
    </cdr:sp>
  </cdr:relSizeAnchor>
  <cdr:relSizeAnchor xmlns:cdr="http://schemas.openxmlformats.org/drawingml/2006/chartDrawing">
    <cdr:from>
      <cdr:x>2.28232E-6</cdr:x>
      <cdr:y>0.12288</cdr:y>
    </cdr:from>
    <cdr:to>
      <cdr:x>0.08781</cdr:x>
      <cdr:y>0.7188</cdr:y>
    </cdr:to>
    <cdr:sp macro="" textlink="">
      <cdr:nvSpPr>
        <cdr:cNvPr id="3" name="TextBox 2"/>
        <cdr:cNvSpPr txBox="1"/>
      </cdr:nvSpPr>
      <cdr:spPr>
        <a:xfrm xmlns:a="http://schemas.openxmlformats.org/drawingml/2006/main" rot="16200000">
          <a:off x="-686168" y="1032627"/>
          <a:ext cx="1680130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400" b="1" baseline="0" dirty="0">
              <a:latin typeface="Times New Roman"/>
              <a:cs typeface="Times New Roman"/>
            </a:rPr>
            <a:t>Delta res. time (ms)</a:t>
          </a:r>
          <a:endParaRPr lang="en-US" sz="1400" b="1" dirty="0">
            <a:latin typeface="Times New Roman"/>
            <a:cs typeface="Times New Roman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0.00066</cdr:x>
      <cdr:y>0.14124</cdr:y>
    </cdr:from>
    <cdr:to>
      <cdr:x>0.05718</cdr:x>
      <cdr:y>0.6254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528129" y="931712"/>
          <a:ext cx="1371201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400" b="1" dirty="0">
              <a:latin typeface="Times New Roman"/>
              <a:cs typeface="Times New Roman"/>
            </a:rPr>
            <a:t>Delta Watt</a:t>
          </a:r>
          <a:r>
            <a:rPr lang="en-US" sz="1400" b="1" baseline="0" dirty="0">
              <a:latin typeface="Times New Roman"/>
              <a:cs typeface="Times New Roman"/>
            </a:rPr>
            <a:t> (%)</a:t>
          </a:r>
          <a:endParaRPr lang="en-US" sz="1400" b="1" dirty="0">
            <a:latin typeface="Times New Roman"/>
            <a:cs typeface="Times New Roman"/>
          </a:endParaRPr>
        </a:p>
      </cdr:txBody>
    </cdr:sp>
  </cdr:relSizeAnchor>
  <cdr:relSizeAnchor xmlns:cdr="http://schemas.openxmlformats.org/drawingml/2006/chartDrawing">
    <cdr:from>
      <cdr:x>0.21739</cdr:x>
      <cdr:y>0.84133</cdr:y>
    </cdr:from>
    <cdr:to>
      <cdr:x>0.68829</cdr:x>
      <cdr:y>0.95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762000" y="2895600"/>
          <a:ext cx="1650599" cy="37401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wrap="none" rtlCol="0" anchor="t">
          <a:spAutoFit/>
        </a:bodyPr>
        <a:lstStyle xmlns:a="http://schemas.openxmlformats.org/drawingml/2006/main">
          <a:lvl1pPr marL="0" indent="0">
            <a:defRPr sz="1100">
              <a:solidFill>
                <a:sysClr val="windowText" lastClr="000000"/>
              </a:solidFill>
              <a:latin typeface="Calibri"/>
            </a:defRPr>
          </a:lvl1pPr>
          <a:lvl2pPr marL="457200" indent="0">
            <a:defRPr sz="1100">
              <a:solidFill>
                <a:sysClr val="windowText" lastClr="000000"/>
              </a:solidFill>
              <a:latin typeface="Calibri"/>
            </a:defRPr>
          </a:lvl2pPr>
          <a:lvl3pPr marL="914400" indent="0">
            <a:defRPr sz="1100">
              <a:solidFill>
                <a:sysClr val="windowText" lastClr="000000"/>
              </a:solidFill>
              <a:latin typeface="Calibri"/>
            </a:defRPr>
          </a:lvl3pPr>
          <a:lvl4pPr marL="1371600" indent="0">
            <a:defRPr sz="1100">
              <a:solidFill>
                <a:sysClr val="windowText" lastClr="000000"/>
              </a:solidFill>
              <a:latin typeface="Calibri"/>
            </a:defRPr>
          </a:lvl4pPr>
          <a:lvl5pPr marL="1828800" indent="0">
            <a:defRPr sz="1100">
              <a:solidFill>
                <a:sysClr val="windowText" lastClr="000000"/>
              </a:solidFill>
              <a:latin typeface="Calibri"/>
            </a:defRPr>
          </a:lvl5pPr>
          <a:lvl6pPr marL="2286000" indent="0">
            <a:defRPr sz="1100">
              <a:solidFill>
                <a:sysClr val="windowText" lastClr="000000"/>
              </a:solidFill>
              <a:latin typeface="Calibri"/>
            </a:defRPr>
          </a:lvl6pPr>
          <a:lvl7pPr marL="2743200" indent="0">
            <a:defRPr sz="1100">
              <a:solidFill>
                <a:sysClr val="windowText" lastClr="000000"/>
              </a:solidFill>
              <a:latin typeface="Calibri"/>
            </a:defRPr>
          </a:lvl7pPr>
          <a:lvl8pPr marL="3200400" indent="0">
            <a:defRPr sz="1100">
              <a:solidFill>
                <a:sysClr val="windowText" lastClr="000000"/>
              </a:solidFill>
              <a:latin typeface="Calibri"/>
            </a:defRPr>
          </a:lvl8pPr>
          <a:lvl9pPr marL="3657600" indent="0">
            <a:defRPr sz="11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r>
            <a:rPr lang="en-US" sz="1400" b="1" dirty="0">
              <a:latin typeface="Times New Roman"/>
              <a:cs typeface="Times New Roman"/>
            </a:rPr>
            <a:t>Number</a:t>
          </a:r>
          <a:r>
            <a:rPr lang="en-US" sz="1400" b="1" baseline="0" dirty="0">
              <a:latin typeface="Times New Roman"/>
              <a:cs typeface="Times New Roman"/>
            </a:rPr>
            <a:t> of concurrent sessions</a:t>
          </a:r>
          <a:endParaRPr lang="en-US" sz="1400" b="1" dirty="0">
            <a:latin typeface="Times New Roman"/>
            <a:cs typeface="Times New Roman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62-B914-C549-8120-79BB38A0980D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57EF3-9E00-EC41-BB1C-7C85BDCA44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57EF3-9E00-EC41-BB1C-7C85BDCA441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Elasticity aspect of cloud</a:t>
            </a:r>
            <a:r>
              <a:rPr lang="en-US" baseline="0" dirty="0" smtClean="0"/>
              <a:t> is something new not in the past. Consistent hashing is something all elastic data stores need: efficient add/removal in the face of unpredictable and frequent changes in demand/availability of replicas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57EF3-9E00-EC41-BB1C-7C85BDCA441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57EF3-9E00-EC41-BB1C-7C85BDCA441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Median, 8 minutes. Most, &lt;10minutes, Most servers created last 4 minutes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57EF3-9E00-EC41-BB1C-7C85BDCA441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Multicast + start clones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E690D-A2C7-42F7-8EF7-7F2DBB30417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E0030D7-321F-2E4C-8559-5CE1A23F28BE}" type="slidenum">
              <a:rPr lang="en-US"/>
              <a:pPr/>
              <a:t>49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Challenges:</a:t>
            </a:r>
          </a:p>
          <a:p>
            <a:pPr lvl="1">
              <a:buFont typeface="Lucida Grande"/>
              <a:buChar char="-"/>
            </a:pPr>
            <a:r>
              <a:rPr lang="en-US" sz="1800" dirty="0" smtClean="0">
                <a:cs typeface="ＭＳ Ｐゴシック" charset="-128"/>
              </a:rPr>
              <a:t>Multi-tier applications </a:t>
            </a:r>
          </a:p>
          <a:p>
            <a:pPr lvl="1">
              <a:buFont typeface="Lucida Grande"/>
              <a:buChar char="-"/>
            </a:pPr>
            <a:r>
              <a:rPr lang="en-US" sz="1800" dirty="0" smtClean="0">
                <a:cs typeface="ＭＳ Ｐゴシック" charset="-128"/>
              </a:rPr>
              <a:t>Preserve end-to-end performance</a:t>
            </a:r>
            <a:endParaRPr lang="en-US" sz="1800" dirty="0" smtClean="0">
              <a:latin typeface="+mn-lt"/>
            </a:endParaRPr>
          </a:p>
          <a:p>
            <a:pPr lvl="1">
              <a:buFont typeface="Lucida Grande"/>
              <a:buChar char="-"/>
            </a:pPr>
            <a:r>
              <a:rPr lang="en-US" sz="1800" dirty="0" smtClean="0">
                <a:latin typeface="+mn-lt"/>
                <a:cs typeface="ＭＳ Ｐゴシック" charset="-128"/>
              </a:rPr>
              <a:t> Minimize power usage/cost</a:t>
            </a:r>
          </a:p>
          <a:p>
            <a:pPr lvl="1">
              <a:buFont typeface="Lucida Grande"/>
              <a:buChar char="-"/>
            </a:pPr>
            <a:r>
              <a:rPr lang="en-US" sz="1800" dirty="0" smtClean="0">
                <a:cs typeface="ＭＳ Ｐゴシック" charset="-128"/>
              </a:rPr>
              <a:t>Continuous reconfiguration is never free</a:t>
            </a:r>
          </a:p>
          <a:p>
            <a:pPr lvl="1">
              <a:buFont typeface="Lucida Grande"/>
              <a:buChar char="-"/>
            </a:pPr>
            <a:endParaRPr lang="en-US" sz="1800" dirty="0" smtClean="0">
              <a:cs typeface="ＭＳ Ｐゴシック" charset="-128"/>
            </a:endParaRP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Reference:</a:t>
            </a:r>
            <a:r>
              <a:rPr lang="en-US" baseline="0" dirty="0" smtClean="0"/>
              <a:t> deep analysis of EC2 outage</a:t>
            </a:r>
          </a:p>
          <a:p>
            <a:r>
              <a:rPr lang="en-US" baseline="0" dirty="0" smtClean="0"/>
              <a:t>EC2 places </a:t>
            </a:r>
            <a:r>
              <a:rPr lang="en-US" baseline="0" dirty="0" err="1" smtClean="0"/>
              <a:t>VMs</a:t>
            </a:r>
            <a:r>
              <a:rPr lang="en-US" baseline="0" dirty="0" smtClean="0"/>
              <a:t> from a single user on different hosts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57EF3-9E00-EC41-BB1C-7C85BDCA441B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Hey</a:t>
            </a:r>
            <a:r>
              <a:rPr lang="en-US" baseline="0" dirty="0" smtClean="0"/>
              <a:t> you – get off my cloud (</a:t>
            </a:r>
            <a:r>
              <a:rPr lang="en-US" baseline="0" dirty="0" err="1" smtClean="0"/>
              <a:t>Ristenpart</a:t>
            </a:r>
            <a:r>
              <a:rPr lang="en-US" baseline="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57EF3-9E00-EC41-BB1C-7C85BDCA441B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04287-2411-40DE-8F70-C4D367020639}" type="datetimeFigureOut">
              <a:rPr lang="en-US"/>
              <a:pPr>
                <a:defRPr/>
              </a:pPr>
              <a:t>6/7/11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AB418-73B1-4E47-9879-30A0E1017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82DA4-8A4B-1D47-9B80-BE16BADAA17C}" type="datetimeFigureOut">
              <a:rPr lang="en-US" smtClean="0"/>
              <a:pPr/>
              <a:t>6/7/11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F25FD-82F0-D948-834B-B2A4628DCA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gi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chart" Target="../charts/char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4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4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Cloud Computing: Recent Trends, Challenges and Open Problems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1044" y="3886200"/>
            <a:ext cx="6615289" cy="1752600"/>
          </a:xfrm>
        </p:spPr>
        <p:txBody>
          <a:bodyPr/>
          <a:lstStyle/>
          <a:p>
            <a:r>
              <a:rPr lang="en-US" dirty="0" err="1" smtClean="0"/>
              <a:t>Kaustubh</a:t>
            </a:r>
            <a:r>
              <a:rPr lang="en-US" dirty="0" smtClean="0"/>
              <a:t> Joshi, H. Andrés Lagar-Cavilla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kaustubh,andres}@research.att.com</a:t>
            </a:r>
            <a:endParaRPr lang="en-US" dirty="0" smtClean="0"/>
          </a:p>
          <a:p>
            <a:r>
              <a:rPr lang="en-US" dirty="0" smtClean="0"/>
              <a:t>AT&amp;T Labs – Research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Tutorial?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Our assumptions about this audience</a:t>
            </a:r>
          </a:p>
          <a:p>
            <a:r>
              <a:rPr lang="en-US" dirty="0" smtClean="0"/>
              <a:t>You’re in research</a:t>
            </a:r>
          </a:p>
          <a:p>
            <a:r>
              <a:rPr lang="en-US" dirty="0" smtClean="0"/>
              <a:t>You can code </a:t>
            </a:r>
          </a:p>
          <a:p>
            <a:pPr lvl="1"/>
            <a:r>
              <a:rPr lang="en-US" dirty="0" smtClean="0"/>
              <a:t>(or once upon a time, you could code)</a:t>
            </a:r>
          </a:p>
          <a:p>
            <a:r>
              <a:rPr lang="en-US" dirty="0" smtClean="0"/>
              <a:t>Therefore, you can </a:t>
            </a:r>
            <a:r>
              <a:rPr lang="en-US" dirty="0" err="1" smtClean="0"/>
              <a:t>google</a:t>
            </a:r>
            <a:r>
              <a:rPr lang="en-US" dirty="0" smtClean="0"/>
              <a:t> and follow a tutorial</a:t>
            </a:r>
          </a:p>
          <a:p>
            <a:r>
              <a:rPr lang="en-US" dirty="0" smtClean="0"/>
              <a:t>You’re not interested in “how </a:t>
            </a:r>
            <a:r>
              <a:rPr lang="en-US" dirty="0" err="1" smtClean="0"/>
              <a:t>to”s</a:t>
            </a:r>
            <a:endParaRPr lang="en-US" dirty="0" smtClean="0"/>
          </a:p>
          <a:p>
            <a:r>
              <a:rPr lang="en-US" dirty="0" smtClean="0"/>
              <a:t>You’re interested in the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91965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Historical overview</a:t>
            </a:r>
          </a:p>
          <a:p>
            <a:pPr lvl="1"/>
            <a:r>
              <a:rPr lang="en-US" dirty="0" err="1" smtClean="0"/>
              <a:t>IaaS</a:t>
            </a:r>
            <a:r>
              <a:rPr lang="en-US" dirty="0" smtClean="0"/>
              <a:t>, </a:t>
            </a:r>
            <a:r>
              <a:rPr lang="en-US" dirty="0" err="1" smtClean="0"/>
              <a:t>PaaS</a:t>
            </a:r>
            <a:endParaRPr lang="en-US" dirty="0" smtClean="0"/>
          </a:p>
          <a:p>
            <a:r>
              <a:rPr lang="en-US" dirty="0" smtClean="0"/>
              <a:t>Research Directions</a:t>
            </a:r>
          </a:p>
          <a:p>
            <a:pPr lvl="1"/>
            <a:r>
              <a:rPr lang="en-US" dirty="0" smtClean="0"/>
              <a:t>Users: scaling, elasticity, persistence, availability</a:t>
            </a:r>
          </a:p>
          <a:p>
            <a:pPr lvl="1"/>
            <a:r>
              <a:rPr lang="en-US" dirty="0" smtClean="0"/>
              <a:t>Providers: provisioning, elasticity, diagnosis</a:t>
            </a:r>
          </a:p>
          <a:p>
            <a:r>
              <a:rPr lang="en-US" dirty="0" smtClean="0"/>
              <a:t>Open Challenges</a:t>
            </a:r>
          </a:p>
          <a:p>
            <a:pPr lvl="1"/>
            <a:r>
              <a:rPr lang="en-US" dirty="0" smtClean="0"/>
              <a:t>Security, privacy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Alphabet Soup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, </a:t>
            </a:r>
            <a:r>
              <a:rPr lang="en-US" dirty="0" err="1" smtClean="0"/>
              <a:t>PaaS</a:t>
            </a:r>
            <a:r>
              <a:rPr lang="en-US" dirty="0" smtClean="0"/>
              <a:t>, </a:t>
            </a:r>
            <a:r>
              <a:rPr lang="en-US" dirty="0" err="1" smtClean="0"/>
              <a:t>CaaS</a:t>
            </a:r>
            <a:r>
              <a:rPr lang="en-US" dirty="0" smtClean="0"/>
              <a:t>, </a:t>
            </a:r>
            <a:r>
              <a:rPr lang="en-US" dirty="0" err="1" smtClean="0"/>
              <a:t>SaaS</a:t>
            </a:r>
            <a:endParaRPr lang="en-US" dirty="0" smtClean="0"/>
          </a:p>
          <a:p>
            <a:r>
              <a:rPr lang="en-US" dirty="0" smtClean="0"/>
              <a:t>What are all these </a:t>
            </a:r>
            <a:r>
              <a:rPr lang="en-US" dirty="0" err="1" smtClean="0"/>
              <a:t>aaSes</a:t>
            </a:r>
            <a:r>
              <a:rPr lang="en-US" dirty="0" smtClean="0"/>
              <a:t>?</a:t>
            </a:r>
          </a:p>
          <a:p>
            <a:r>
              <a:rPr lang="en-US" dirty="0" smtClean="0"/>
              <a:t>Let’s answer a different question</a:t>
            </a:r>
          </a:p>
          <a:p>
            <a:r>
              <a:rPr lang="en-US" dirty="0" smtClean="0"/>
              <a:t>What was the tipping point?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Before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“cloud” meant the Internet/the network</a:t>
            </a:r>
            <a:endParaRPr lang="en-US" dirty="0"/>
          </a:p>
        </p:txBody>
      </p:sp>
      <p:pic>
        <p:nvPicPr>
          <p:cNvPr id="4" name="Picture 3" descr="cloud-network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265" y="2315576"/>
            <a:ext cx="4540957" cy="4177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August 2006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Amazon Elastic Compute Cloud, EC2</a:t>
            </a:r>
          </a:p>
          <a:p>
            <a:r>
              <a:rPr lang="en-US" dirty="0" smtClean="0"/>
              <a:t>Successfully articulated </a:t>
            </a:r>
            <a:r>
              <a:rPr lang="en-US" dirty="0" err="1" smtClean="0"/>
              <a:t>IaaS</a:t>
            </a:r>
            <a:r>
              <a:rPr lang="en-US" dirty="0" smtClean="0"/>
              <a:t> offering</a:t>
            </a:r>
          </a:p>
          <a:p>
            <a:r>
              <a:rPr lang="en-US" dirty="0" err="1" smtClean="0"/>
              <a:t>IaaS</a:t>
            </a:r>
            <a:r>
              <a:rPr lang="en-US" dirty="0" smtClean="0"/>
              <a:t> == Infrastructure as a Service</a:t>
            </a:r>
          </a:p>
          <a:p>
            <a:r>
              <a:rPr lang="en-US" dirty="0" smtClean="0"/>
              <a:t>Swipe your credit card, and spin up your VM</a:t>
            </a:r>
          </a:p>
          <a:p>
            <a:r>
              <a:rPr lang="en-US" dirty="0" smtClean="0"/>
              <a:t>Why VM?</a:t>
            </a:r>
          </a:p>
          <a:p>
            <a:pPr lvl="1"/>
            <a:r>
              <a:rPr lang="en-US" dirty="0" smtClean="0"/>
              <a:t>Easy to maintain (black box)</a:t>
            </a:r>
          </a:p>
          <a:p>
            <a:pPr lvl="1"/>
            <a:r>
              <a:rPr lang="en-US" dirty="0" smtClean="0"/>
              <a:t>User can be root (forego sys admin)</a:t>
            </a:r>
          </a:p>
          <a:p>
            <a:pPr lvl="1"/>
            <a:r>
              <a:rPr lang="en-US" dirty="0" smtClean="0"/>
              <a:t>Isolation, security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can only go so far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VM is an x86 container</a:t>
            </a:r>
          </a:p>
          <a:p>
            <a:pPr lvl="1"/>
            <a:r>
              <a:rPr lang="en-US" dirty="0" smtClean="0"/>
              <a:t>Your least common denominator is assembly</a:t>
            </a:r>
          </a:p>
          <a:p>
            <a:r>
              <a:rPr lang="en-US" dirty="0" smtClean="0"/>
              <a:t>Elastic Block Store (EBS)</a:t>
            </a:r>
          </a:p>
          <a:p>
            <a:pPr lvl="1"/>
            <a:r>
              <a:rPr lang="en-US" dirty="0" smtClean="0"/>
              <a:t>Your least common denominator is a byte</a:t>
            </a:r>
          </a:p>
          <a:p>
            <a:r>
              <a:rPr lang="en-US" dirty="0" err="1" smtClean="0"/>
              <a:t>Rackspace</a:t>
            </a:r>
            <a:r>
              <a:rPr lang="en-US" dirty="0" smtClean="0"/>
              <a:t>, </a:t>
            </a:r>
            <a:r>
              <a:rPr lang="en-US" dirty="0" err="1" smtClean="0"/>
              <a:t>Mosho</a:t>
            </a:r>
            <a:r>
              <a:rPr lang="en-US" dirty="0" smtClean="0"/>
              <a:t>, </a:t>
            </a:r>
            <a:r>
              <a:rPr lang="en-US" dirty="0" err="1" smtClean="0"/>
              <a:t>GoGrid</a:t>
            </a:r>
            <a:r>
              <a:rPr lang="en-US" dirty="0" smtClean="0"/>
              <a:t>, 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into </a:t>
            </a:r>
            <a:r>
              <a:rPr lang="en-US" dirty="0" err="1" smtClean="0"/>
              <a:t>PaaS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Platform as a Service is higher level</a:t>
            </a:r>
          </a:p>
          <a:p>
            <a:r>
              <a:rPr lang="en-US" dirty="0" err="1" smtClean="0"/>
              <a:t>SimpleDB</a:t>
            </a:r>
            <a:r>
              <a:rPr lang="en-US" dirty="0" smtClean="0"/>
              <a:t> (Relational tables)</a:t>
            </a:r>
          </a:p>
          <a:p>
            <a:r>
              <a:rPr lang="en-US" dirty="0" smtClean="0"/>
              <a:t>Simple Queue Service</a:t>
            </a:r>
          </a:p>
          <a:p>
            <a:r>
              <a:rPr lang="en-US" dirty="0" smtClean="0"/>
              <a:t>Elastic Load Balancing</a:t>
            </a:r>
          </a:p>
          <a:p>
            <a:r>
              <a:rPr lang="en-US" dirty="0" smtClean="0"/>
              <a:t>Flexible Payment Service</a:t>
            </a:r>
          </a:p>
          <a:p>
            <a:r>
              <a:rPr lang="en-US" dirty="0" smtClean="0"/>
              <a:t>Beanstalk (upload your JAR)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PaaS</a:t>
            </a:r>
            <a:r>
              <a:rPr lang="en-US" dirty="0" smtClean="0"/>
              <a:t> diversity (and lock-in)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Microsoft Azure</a:t>
            </a:r>
          </a:p>
          <a:p>
            <a:pPr lvl="1"/>
            <a:r>
              <a:rPr lang="en-US" dirty="0" smtClean="0"/>
              <a:t>.NET, SQL</a:t>
            </a:r>
          </a:p>
          <a:p>
            <a:r>
              <a:rPr lang="en-US" dirty="0" smtClean="0"/>
              <a:t>Google App Engine</a:t>
            </a:r>
          </a:p>
          <a:p>
            <a:pPr lvl="1"/>
            <a:r>
              <a:rPr lang="en-US" dirty="0" smtClean="0"/>
              <a:t>Python, Java, GQL, </a:t>
            </a:r>
            <a:r>
              <a:rPr lang="en-US" dirty="0" err="1" smtClean="0"/>
              <a:t>memcached</a:t>
            </a:r>
            <a:endParaRPr lang="en-US" dirty="0" smtClean="0"/>
          </a:p>
          <a:p>
            <a:r>
              <a:rPr lang="en-US" dirty="0" err="1" smtClean="0"/>
              <a:t>Heroku</a:t>
            </a:r>
            <a:endParaRPr lang="en-US" dirty="0" smtClean="0"/>
          </a:p>
          <a:p>
            <a:pPr lvl="1"/>
            <a:r>
              <a:rPr lang="en-US" dirty="0" smtClean="0"/>
              <a:t>Ruby</a:t>
            </a:r>
          </a:p>
          <a:p>
            <a:r>
              <a:rPr lang="en-US" dirty="0" err="1" smtClean="0"/>
              <a:t>Joyent</a:t>
            </a:r>
            <a:endParaRPr lang="en-US" dirty="0" smtClean="0"/>
          </a:p>
          <a:p>
            <a:pPr lvl="1"/>
            <a:r>
              <a:rPr lang="en-US" dirty="0" err="1" smtClean="0"/>
              <a:t>Node.js</a:t>
            </a:r>
            <a:r>
              <a:rPr lang="en-US" dirty="0" smtClean="0"/>
              <a:t> and JavaScript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Focus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Infrastructure</a:t>
            </a:r>
          </a:p>
          <a:p>
            <a:r>
              <a:rPr lang="en-US" dirty="0" smtClean="0"/>
              <a:t>and Platform</a:t>
            </a:r>
          </a:p>
          <a:p>
            <a:r>
              <a:rPr lang="en-US" dirty="0" smtClean="0"/>
              <a:t>as a Service</a:t>
            </a:r>
          </a:p>
          <a:p>
            <a:pPr lvl="1"/>
            <a:r>
              <a:rPr lang="en-US" dirty="0" smtClean="0"/>
              <a:t>(not Gmail)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603091" y="2331844"/>
            <a:ext cx="1503091" cy="1201099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029397" y="2634245"/>
            <a:ext cx="629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x86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3603091" y="3685343"/>
            <a:ext cx="1503091" cy="1201099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858469" y="3685343"/>
            <a:ext cx="1503091" cy="1201099"/>
          </a:xfrm>
          <a:prstGeom prst="roundRect">
            <a:avLst/>
          </a:prstGeom>
          <a:noFill/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858469" y="2369677"/>
            <a:ext cx="1503091" cy="1201099"/>
          </a:xfrm>
          <a:prstGeom prst="roundRect">
            <a:avLst/>
          </a:prstGeom>
          <a:noFill/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06751" y="2703275"/>
            <a:ext cx="62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JAR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967585" y="3988533"/>
            <a:ext cx="74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Byte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7182506" y="3844236"/>
            <a:ext cx="8750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Key </a:t>
            </a:r>
          </a:p>
          <a:p>
            <a:pPr algn="ctr"/>
            <a:r>
              <a:rPr lang="en-US" sz="2400" dirty="0" smtClean="0"/>
              <a:t>Value</a:t>
            </a:r>
            <a:endParaRPr lang="en-US" sz="2400" dirty="0"/>
          </a:p>
        </p:txBody>
      </p:sp>
      <p:sp>
        <p:nvSpPr>
          <p:cNvPr id="13" name="Right Arrow 12"/>
          <p:cNvSpPr/>
          <p:nvPr/>
        </p:nvSpPr>
        <p:spPr>
          <a:xfrm>
            <a:off x="5368448" y="3164940"/>
            <a:ext cx="1393386" cy="823593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 Different?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Hardware-centric vs. </a:t>
            </a:r>
            <a:r>
              <a:rPr lang="en-US" b="1" dirty="0" smtClean="0"/>
              <a:t>API-centric</a:t>
            </a:r>
          </a:p>
          <a:p>
            <a:r>
              <a:rPr lang="en-US" dirty="0" smtClean="0"/>
              <a:t>Never care about drivers again</a:t>
            </a:r>
          </a:p>
          <a:p>
            <a:pPr lvl="1"/>
            <a:r>
              <a:rPr lang="en-US" dirty="0" smtClean="0"/>
              <a:t>Or sys-</a:t>
            </a:r>
            <a:r>
              <a:rPr lang="en-US" dirty="0" err="1" smtClean="0"/>
              <a:t>admins</a:t>
            </a:r>
            <a:r>
              <a:rPr lang="en-US" dirty="0" smtClean="0"/>
              <a:t>, or power bills</a:t>
            </a:r>
          </a:p>
          <a:p>
            <a:r>
              <a:rPr lang="en-US" dirty="0" smtClean="0"/>
              <a:t>You can scale if you have the money</a:t>
            </a:r>
          </a:p>
          <a:p>
            <a:pPr lvl="1"/>
            <a:r>
              <a:rPr lang="en-US" dirty="0" smtClean="0"/>
              <a:t>You can deploy on two continents</a:t>
            </a:r>
          </a:p>
          <a:p>
            <a:pPr lvl="1"/>
            <a:r>
              <a:rPr lang="en-US" dirty="0" smtClean="0"/>
              <a:t>And ten thousand servers</a:t>
            </a:r>
          </a:p>
          <a:p>
            <a:pPr lvl="1"/>
            <a:r>
              <a:rPr lang="en-US" dirty="0" smtClean="0"/>
              <a:t>And 2TB of storage</a:t>
            </a:r>
          </a:p>
          <a:p>
            <a:r>
              <a:rPr lang="en-US" dirty="0" smtClean="0"/>
              <a:t>Do </a:t>
            </a:r>
            <a:r>
              <a:rPr lang="en-US" b="1" dirty="0" smtClean="0"/>
              <a:t>you</a:t>
            </a:r>
            <a:r>
              <a:rPr lang="en-US" dirty="0" smtClean="0"/>
              <a:t> </a:t>
            </a:r>
            <a:r>
              <a:rPr lang="en-US" b="1" dirty="0" smtClean="0"/>
              <a:t>know how to</a:t>
            </a:r>
            <a:r>
              <a:rPr lang="en-US" dirty="0" smtClean="0"/>
              <a:t> do that?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New Concerns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User</a:t>
            </a:r>
          </a:p>
          <a:p>
            <a:r>
              <a:rPr lang="en-US" dirty="0" smtClean="0"/>
              <a:t>How will I horizontally scale my application</a:t>
            </a:r>
          </a:p>
          <a:p>
            <a:r>
              <a:rPr lang="en-US" dirty="0" smtClean="0"/>
              <a:t>How will my application deal with distribution</a:t>
            </a:r>
          </a:p>
          <a:p>
            <a:pPr lvl="1"/>
            <a:r>
              <a:rPr lang="en-US" dirty="0" smtClean="0"/>
              <a:t>Latency, partitioning, concurrency</a:t>
            </a:r>
          </a:p>
          <a:p>
            <a:r>
              <a:rPr lang="en-US" dirty="0" smtClean="0"/>
              <a:t>How will I guarantee availability</a:t>
            </a:r>
          </a:p>
          <a:p>
            <a:pPr lvl="1"/>
            <a:r>
              <a:rPr lang="en-US" dirty="0" smtClean="0"/>
              <a:t>Failures will happen. Dependencies are unknown.</a:t>
            </a:r>
          </a:p>
          <a:p>
            <a:pPr>
              <a:buNone/>
            </a:pPr>
            <a:r>
              <a:rPr lang="en-US" dirty="0" smtClean="0"/>
              <a:t>Provider</a:t>
            </a:r>
          </a:p>
          <a:p>
            <a:r>
              <a:rPr lang="en-US" dirty="0" smtClean="0"/>
              <a:t>How will I maximize multiplexing?</a:t>
            </a:r>
          </a:p>
          <a:p>
            <a:r>
              <a:rPr lang="en-US" dirty="0" smtClean="0"/>
              <a:t>Can I scale *and* provide </a:t>
            </a:r>
            <a:r>
              <a:rPr lang="en-US" dirty="0" err="1" smtClean="0"/>
              <a:t>SLAs</a:t>
            </a:r>
            <a:r>
              <a:rPr lang="en-US" dirty="0" smtClean="0"/>
              <a:t>?</a:t>
            </a:r>
          </a:p>
          <a:p>
            <a:r>
              <a:rPr lang="en-US" dirty="0" smtClean="0"/>
              <a:t>How can I diagnose infrastructure problems?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Thesis Statement from User POV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Cloud is an IP layer</a:t>
            </a:r>
          </a:p>
          <a:p>
            <a:pPr lvl="1"/>
            <a:r>
              <a:rPr lang="en-US" dirty="0" smtClean="0"/>
              <a:t>It provides a best-effort substrate</a:t>
            </a:r>
          </a:p>
          <a:p>
            <a:pPr lvl="1"/>
            <a:r>
              <a:rPr lang="en-US" dirty="0" smtClean="0"/>
              <a:t>Cost-effective</a:t>
            </a:r>
          </a:p>
          <a:p>
            <a:pPr lvl="1"/>
            <a:r>
              <a:rPr lang="en-US" dirty="0" smtClean="0"/>
              <a:t>On-demand</a:t>
            </a:r>
          </a:p>
          <a:p>
            <a:pPr lvl="1"/>
            <a:r>
              <a:rPr lang="en-US" dirty="0" smtClean="0"/>
              <a:t>Compute, storage</a:t>
            </a:r>
          </a:p>
          <a:p>
            <a:r>
              <a:rPr lang="en-US" dirty="0" smtClean="0"/>
              <a:t>But you have to build your own TCP</a:t>
            </a:r>
          </a:p>
          <a:p>
            <a:pPr lvl="1"/>
            <a:r>
              <a:rPr lang="en-US" dirty="0" smtClean="0"/>
              <a:t>Fault tolerance!</a:t>
            </a:r>
          </a:p>
          <a:p>
            <a:pPr lvl="1"/>
            <a:r>
              <a:rPr lang="en-US" dirty="0" smtClean="0"/>
              <a:t>Availability, durability, </a:t>
            </a:r>
            <a:r>
              <a:rPr lang="en-US" dirty="0" err="1" smtClean="0"/>
              <a:t>QoS</a:t>
            </a:r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53"/>
            <a:ext cx="8229600" cy="1143000"/>
          </a:xfrm>
        </p:spPr>
        <p:txBody>
          <a:bodyPr/>
          <a:lstStyle/>
          <a:p>
            <a:r>
              <a:rPr lang="en-US" dirty="0" smtClean="0"/>
              <a:t>Let’s Take the Example of Storage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Horizontal Scaling in Web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X servers -&gt; </a:t>
            </a:r>
            <a:r>
              <a:rPr lang="en-US" dirty="0" err="1" smtClean="0"/>
              <a:t>f(X</a:t>
            </a:r>
            <a:r>
              <a:rPr lang="en-US" dirty="0" smtClean="0"/>
              <a:t>) throughput</a:t>
            </a:r>
          </a:p>
          <a:p>
            <a:pPr lvl="1"/>
            <a:r>
              <a:rPr lang="en-US" dirty="0" smtClean="0"/>
              <a:t>X load -&gt; </a:t>
            </a:r>
            <a:r>
              <a:rPr lang="en-US" dirty="0" err="1" smtClean="0"/>
              <a:t>f(X</a:t>
            </a:r>
            <a:r>
              <a:rPr lang="en-US" dirty="0" smtClean="0"/>
              <a:t>) servers</a:t>
            </a:r>
          </a:p>
          <a:p>
            <a:r>
              <a:rPr lang="en-US" dirty="0" smtClean="0"/>
              <a:t>Web and app servers are mostly SIMD</a:t>
            </a:r>
          </a:p>
          <a:p>
            <a:pPr lvl="1"/>
            <a:r>
              <a:rPr lang="en-US" dirty="0" smtClean="0"/>
              <a:t>Process requests in parallel, independently</a:t>
            </a:r>
          </a:p>
          <a:p>
            <a:r>
              <a:rPr lang="en-US" dirty="0" smtClean="0"/>
              <a:t>But down there, there is a data store</a:t>
            </a:r>
          </a:p>
          <a:p>
            <a:pPr lvl="1"/>
            <a:r>
              <a:rPr lang="en-US" dirty="0" smtClean="0"/>
              <a:t>Consistent</a:t>
            </a:r>
          </a:p>
          <a:p>
            <a:pPr lvl="1"/>
            <a:r>
              <a:rPr lang="en-US" dirty="0" smtClean="0"/>
              <a:t>Reliable</a:t>
            </a:r>
          </a:p>
          <a:p>
            <a:pPr lvl="1"/>
            <a:r>
              <a:rPr lang="en-US" dirty="0" smtClean="0"/>
              <a:t>Usually relational</a:t>
            </a:r>
          </a:p>
          <a:p>
            <a:r>
              <a:rPr lang="en-US" dirty="0" smtClean="0"/>
              <a:t>DB defines your horizontal scaling capacity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Stores Drive System Design</a:t>
            </a: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412875"/>
            <a:ext cx="5448300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905500" y="1566748"/>
            <a:ext cx="3042963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Alexa</a:t>
            </a:r>
            <a:r>
              <a:rPr lang="en-US" dirty="0" smtClean="0"/>
              <a:t> </a:t>
            </a:r>
            <a:r>
              <a:rPr lang="en-US" dirty="0" err="1" smtClean="0"/>
              <a:t>GrepTheWeb</a:t>
            </a:r>
            <a:r>
              <a:rPr lang="en-US" dirty="0" smtClean="0"/>
              <a:t> Case Study</a:t>
            </a:r>
          </a:p>
          <a:p>
            <a:pPr>
              <a:buFont typeface="Arial"/>
              <a:buChar char="•"/>
            </a:pPr>
            <a:r>
              <a:rPr lang="en-US" dirty="0" smtClean="0"/>
              <a:t> Storage APIs changing  how applications are built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Elasticity </a:t>
            </a:r>
            <a:r>
              <a:rPr lang="en-US" dirty="0" smtClean="0"/>
              <a:t>of demand means elasticity of storage </a:t>
            </a:r>
            <a:r>
              <a:rPr lang="en-US" dirty="0" err="1" smtClean="0"/>
              <a:t>QoS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Cloud SQL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Traditional Relational </a:t>
            </a:r>
            <a:r>
              <a:rPr lang="en-US" dirty="0" err="1" smtClean="0"/>
              <a:t>DBs</a:t>
            </a:r>
            <a:endParaRPr lang="en-US" dirty="0" smtClean="0"/>
          </a:p>
          <a:p>
            <a:r>
              <a:rPr lang="en-US" dirty="0" smtClean="0"/>
              <a:t>If you don’t want to build your relational TCP</a:t>
            </a:r>
          </a:p>
          <a:p>
            <a:pPr lvl="1"/>
            <a:r>
              <a:rPr lang="en-US" dirty="0" smtClean="0"/>
              <a:t>Azure</a:t>
            </a:r>
          </a:p>
          <a:p>
            <a:pPr lvl="1"/>
            <a:r>
              <a:rPr lang="en-US" dirty="0" smtClean="0"/>
              <a:t>Amazon RDS</a:t>
            </a:r>
          </a:p>
          <a:p>
            <a:pPr lvl="1"/>
            <a:r>
              <a:rPr lang="en-US" dirty="0" smtClean="0"/>
              <a:t>Google Query Language (GQL)</a:t>
            </a:r>
          </a:p>
          <a:p>
            <a:pPr lvl="1"/>
            <a:r>
              <a:rPr lang="en-US" dirty="0" smtClean="0"/>
              <a:t>You can always bundle </a:t>
            </a:r>
            <a:r>
              <a:rPr lang="en-US" dirty="0" err="1" smtClean="0"/>
              <a:t>MySQL</a:t>
            </a:r>
            <a:r>
              <a:rPr lang="en-US" dirty="0" smtClean="0"/>
              <a:t> in your VM</a:t>
            </a:r>
          </a:p>
          <a:p>
            <a:r>
              <a:rPr lang="en-US" dirty="0" smtClean="0"/>
              <a:t>Remember: Best effort. Might not suit your needs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Value Stores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primitives: PUT and GET</a:t>
            </a:r>
          </a:p>
          <a:p>
            <a:r>
              <a:rPr lang="en-US" dirty="0" smtClean="0"/>
              <a:t>Simple -&gt; highly replicated and available</a:t>
            </a:r>
          </a:p>
          <a:p>
            <a:r>
              <a:rPr lang="en-US" dirty="0" smtClean="0"/>
              <a:t>One or more of</a:t>
            </a:r>
          </a:p>
          <a:p>
            <a:pPr lvl="1"/>
            <a:r>
              <a:rPr lang="en-US" dirty="0" smtClean="0"/>
              <a:t>No range queries</a:t>
            </a:r>
          </a:p>
          <a:p>
            <a:pPr lvl="1"/>
            <a:r>
              <a:rPr lang="en-US" dirty="0" smtClean="0"/>
              <a:t>No secondary keys</a:t>
            </a:r>
          </a:p>
          <a:p>
            <a:pPr lvl="1"/>
            <a:r>
              <a:rPr lang="en-US" dirty="0" smtClean="0"/>
              <a:t>No transactions</a:t>
            </a:r>
          </a:p>
          <a:p>
            <a:pPr lvl="1"/>
            <a:r>
              <a:rPr lang="en-US" b="1" dirty="0" smtClean="0"/>
              <a:t>Eventual consistency</a:t>
            </a:r>
          </a:p>
          <a:p>
            <a:r>
              <a:rPr lang="en-US" dirty="0" smtClean="0"/>
              <a:t>Are you missing </a:t>
            </a:r>
            <a:r>
              <a:rPr lang="en-US" dirty="0" err="1" smtClean="0"/>
              <a:t>MySQL</a:t>
            </a:r>
            <a:r>
              <a:rPr lang="en-US" dirty="0" smtClean="0"/>
              <a:t> already?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Scalable Data Stores:</a:t>
            </a:r>
            <a:br>
              <a:rPr lang="en-US" sz="3600" dirty="0" smtClean="0"/>
            </a:br>
            <a:r>
              <a:rPr lang="en-US" sz="3600" dirty="0" smtClean="0"/>
              <a:t>Elasticity via Consistent Hashes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5493988" cy="47413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E.g.: Dynamo, Cassandra key-stores</a:t>
            </a:r>
          </a:p>
          <a:p>
            <a:r>
              <a:rPr lang="en-US" dirty="0" smtClean="0"/>
              <a:t>Each nodes mapped to </a:t>
            </a:r>
            <a:r>
              <a:rPr lang="en-US" dirty="0" err="1" smtClean="0"/>
              <a:t>k</a:t>
            </a:r>
            <a:r>
              <a:rPr lang="en-US" dirty="0" smtClean="0"/>
              <a:t> pseudo-random angles on circle</a:t>
            </a:r>
          </a:p>
          <a:p>
            <a:r>
              <a:rPr lang="en-US" dirty="0" smtClean="0"/>
              <a:t>Each key hashed to a point on the circle</a:t>
            </a:r>
          </a:p>
          <a:p>
            <a:r>
              <a:rPr lang="en-US" dirty="0" smtClean="0"/>
              <a:t>Object assigned to next </a:t>
            </a:r>
            <a:r>
              <a:rPr lang="en-US" dirty="0" err="1" smtClean="0"/>
              <a:t>w</a:t>
            </a:r>
            <a:r>
              <a:rPr lang="en-US" dirty="0" smtClean="0"/>
              <a:t> nodes on circle</a:t>
            </a:r>
          </a:p>
          <a:p>
            <a:r>
              <a:rPr lang="en-US" dirty="0" smtClean="0"/>
              <a:t>Permanent Node removal:</a:t>
            </a:r>
          </a:p>
          <a:p>
            <a:pPr lvl="1"/>
            <a:r>
              <a:rPr lang="en-US" dirty="0" smtClean="0"/>
              <a:t>Objects dispersed uniformly among remaining nodes (for large </a:t>
            </a:r>
            <a:r>
              <a:rPr lang="en-US" dirty="0" err="1" smtClean="0"/>
              <a:t>k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Node addition:</a:t>
            </a:r>
          </a:p>
          <a:p>
            <a:pPr lvl="1"/>
            <a:r>
              <a:rPr lang="en-US" dirty="0" smtClean="0"/>
              <a:t>Steals data from </a:t>
            </a:r>
            <a:r>
              <a:rPr lang="en-US" dirty="0" err="1" smtClean="0"/>
              <a:t>k</a:t>
            </a:r>
            <a:r>
              <a:rPr lang="en-US" dirty="0" smtClean="0"/>
              <a:t> random nodes</a:t>
            </a:r>
          </a:p>
          <a:p>
            <a:r>
              <a:rPr lang="en-US" dirty="0" smtClean="0"/>
              <a:t>Node temporarily unavailable?</a:t>
            </a:r>
          </a:p>
          <a:p>
            <a:pPr lvl="1"/>
            <a:r>
              <a:rPr lang="en-US" dirty="0" smtClean="0"/>
              <a:t>Sloppy quorums</a:t>
            </a:r>
          </a:p>
          <a:p>
            <a:pPr lvl="1"/>
            <a:r>
              <a:rPr lang="en-US" dirty="0" smtClean="0"/>
              <a:t>Choose new node</a:t>
            </a:r>
          </a:p>
          <a:p>
            <a:pPr lvl="1"/>
            <a:r>
              <a:rPr lang="en-US" dirty="0" smtClean="0"/>
              <a:t>Invoke consistency mechanisms on rejoin</a:t>
            </a:r>
          </a:p>
        </p:txBody>
      </p:sp>
      <p:sp>
        <p:nvSpPr>
          <p:cNvPr id="12" name="Oval 11"/>
          <p:cNvSpPr/>
          <p:nvPr/>
        </p:nvSpPr>
        <p:spPr>
          <a:xfrm>
            <a:off x="5745447" y="2449212"/>
            <a:ext cx="2625642" cy="2547695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947147" y="2380632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676867" y="3513595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211106" y="4668747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685085" y="4737327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302509" y="3795517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142526" y="2669961"/>
            <a:ext cx="137160" cy="13716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878567" y="4928327"/>
            <a:ext cx="137160" cy="13716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616505" y="2532801"/>
            <a:ext cx="137160" cy="13716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814027" y="3098314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8048522" y="4396212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979942" y="2807121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814027" y="4259052"/>
            <a:ext cx="137160" cy="13716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rot="5400000" flipH="1" flipV="1">
            <a:off x="6354788" y="5040526"/>
            <a:ext cx="361559" cy="1371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76867" y="5303588"/>
            <a:ext cx="166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Object key hash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158193" y="1854140"/>
            <a:ext cx="185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 nodes, </a:t>
            </a:r>
            <a:r>
              <a:rPr lang="en-US" dirty="0" err="1" smtClean="0"/>
              <a:t>w</a:t>
            </a:r>
            <a:r>
              <a:rPr lang="en-US" dirty="0" smtClean="0"/>
              <a:t>=3, </a:t>
            </a:r>
            <a:r>
              <a:rPr lang="en-US" dirty="0" err="1" smtClean="0"/>
              <a:t>r</a:t>
            </a:r>
            <a:r>
              <a:rPr lang="en-US" dirty="0" smtClean="0"/>
              <a:t>=1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 rot="10800000">
            <a:off x="7084312" y="5065490"/>
            <a:ext cx="895631" cy="422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V="1">
            <a:off x="7672112" y="5034842"/>
            <a:ext cx="595124" cy="2948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6200000" flipV="1">
            <a:off x="7763243" y="4940566"/>
            <a:ext cx="920836" cy="1576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569842" y="5479832"/>
            <a:ext cx="1602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Store object at next </a:t>
            </a:r>
            <a:r>
              <a:rPr lang="en-US" dirty="0" err="1" smtClean="0"/>
              <a:t>k</a:t>
            </a:r>
            <a:r>
              <a:rPr lang="en-US" dirty="0" smtClean="0"/>
              <a:t> nodes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Eventual Consistency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78" y="1600200"/>
            <a:ext cx="5164748" cy="487506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Clients A and B concurrently write to same key</a:t>
            </a:r>
          </a:p>
          <a:p>
            <a:pPr lvl="1"/>
            <a:r>
              <a:rPr lang="en-US" dirty="0" smtClean="0"/>
              <a:t>Network partitioned</a:t>
            </a:r>
          </a:p>
          <a:p>
            <a:pPr lvl="1"/>
            <a:r>
              <a:rPr lang="en-US" dirty="0" smtClean="0"/>
              <a:t>Or, too far apart: USA – Europe</a:t>
            </a:r>
          </a:p>
          <a:p>
            <a:r>
              <a:rPr lang="en-US" dirty="0" smtClean="0"/>
              <a:t>Later, client C reads key</a:t>
            </a:r>
          </a:p>
          <a:p>
            <a:pPr lvl="1"/>
            <a:r>
              <a:rPr lang="en-US" dirty="0" smtClean="0"/>
              <a:t>Conflicting vector (A, B)</a:t>
            </a:r>
          </a:p>
          <a:p>
            <a:pPr lvl="1"/>
            <a:r>
              <a:rPr lang="en-US" dirty="0" smtClean="0"/>
              <a:t>Timestamp-based tie-breaker: Cassandra [LADIS 09], </a:t>
            </a:r>
            <a:r>
              <a:rPr lang="en-US" dirty="0" err="1" smtClean="0"/>
              <a:t>SimpleDB</a:t>
            </a:r>
            <a:r>
              <a:rPr lang="en-US" dirty="0" smtClean="0"/>
              <a:t>, S3</a:t>
            </a:r>
          </a:p>
          <a:p>
            <a:pPr lvl="2"/>
            <a:r>
              <a:rPr lang="en-US" dirty="0" smtClean="0"/>
              <a:t>Poor!</a:t>
            </a:r>
          </a:p>
          <a:p>
            <a:pPr lvl="1"/>
            <a:r>
              <a:rPr lang="en-US" dirty="0" smtClean="0"/>
              <a:t>Application-level conflict solver: Dynamo [SOSP 09], Amazon shopping carts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05799" y="1600200"/>
            <a:ext cx="133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(K=X, V=Y)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723823" y="3455878"/>
            <a:ext cx="1339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Client B</a:t>
            </a:r>
          </a:p>
          <a:p>
            <a:pPr algn="ctr"/>
            <a:r>
              <a:rPr lang="en-US" dirty="0" smtClean="0"/>
              <a:t>(K=X, V=B)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7014441" y="2302818"/>
            <a:ext cx="666574" cy="1589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 flipV="1">
            <a:off x="6295020" y="2789302"/>
            <a:ext cx="1055092" cy="666576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346935" y="2789302"/>
            <a:ext cx="1046425" cy="666576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66726" y="3455878"/>
            <a:ext cx="1339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Client A</a:t>
            </a:r>
          </a:p>
          <a:p>
            <a:pPr algn="ctr"/>
            <a:r>
              <a:rPr lang="en-US" dirty="0" smtClean="0"/>
              <a:t>(K=X, V=A)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101752" y="4804397"/>
            <a:ext cx="2585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Client C Reads K=X</a:t>
            </a:r>
          </a:p>
          <a:p>
            <a:pPr algn="ctr"/>
            <a:r>
              <a:rPr lang="en-US" b="1" dirty="0" smtClean="0"/>
              <a:t>V = &lt;A,B&gt;</a:t>
            </a:r>
          </a:p>
          <a:p>
            <a:pPr algn="ctr"/>
            <a:r>
              <a:rPr lang="en-US" dirty="0" smtClean="0"/>
              <a:t>(or even V = &lt;A,B,Y&gt;)!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15" idx="2"/>
            <a:endCxn id="16" idx="0"/>
          </p:cNvCxnSpPr>
          <p:nvPr/>
        </p:nvCxnSpPr>
        <p:spPr>
          <a:xfrm rot="16200000" flipH="1">
            <a:off x="6414175" y="3824296"/>
            <a:ext cx="702188" cy="1258013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</p:cNvCxnSpPr>
          <p:nvPr/>
        </p:nvCxnSpPr>
        <p:spPr>
          <a:xfrm rot="5400000">
            <a:off x="7520642" y="3931679"/>
            <a:ext cx="702188" cy="1043248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KV Store Key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simple: PUT &amp; GET</a:t>
            </a:r>
          </a:p>
          <a:p>
            <a:r>
              <a:rPr lang="en-US" dirty="0" smtClean="0"/>
              <a:t>Simplicity -&gt; replication &amp; availability</a:t>
            </a:r>
          </a:p>
          <a:p>
            <a:r>
              <a:rPr lang="en-US" dirty="0" smtClean="0"/>
              <a:t>Consistent hashing -&gt; elasticity, scalability</a:t>
            </a:r>
          </a:p>
          <a:p>
            <a:r>
              <a:rPr lang="en-US" dirty="0" smtClean="0"/>
              <a:t>Replication &amp; availability -&gt; eventual consistency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Key Value Stores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Amazon Simple Storage Service (S3)</a:t>
            </a:r>
          </a:p>
          <a:p>
            <a:pPr lvl="1"/>
            <a:r>
              <a:rPr lang="en-US" dirty="0" smtClean="0"/>
              <a:t>“Classical” KV store</a:t>
            </a:r>
          </a:p>
          <a:p>
            <a:pPr lvl="1"/>
            <a:r>
              <a:rPr lang="en-US" dirty="0" smtClean="0"/>
              <a:t>“Classically” eventual consistent</a:t>
            </a:r>
          </a:p>
          <a:p>
            <a:pPr lvl="2"/>
            <a:r>
              <a:rPr lang="en-US" dirty="0" smtClean="0"/>
              <a:t>&lt;K,V1&gt;</a:t>
            </a:r>
          </a:p>
          <a:p>
            <a:pPr lvl="2"/>
            <a:r>
              <a:rPr lang="en-US" dirty="0" smtClean="0"/>
              <a:t>Write &lt;K,V2&gt;</a:t>
            </a:r>
          </a:p>
          <a:p>
            <a:pPr lvl="2"/>
            <a:r>
              <a:rPr lang="en-US" dirty="0" smtClean="0"/>
              <a:t>Read K -&gt; V1!</a:t>
            </a:r>
          </a:p>
          <a:p>
            <a:pPr lvl="1"/>
            <a:r>
              <a:rPr lang="en-US" dirty="0" smtClean="0"/>
              <a:t>Read your Writes consistency</a:t>
            </a:r>
          </a:p>
          <a:p>
            <a:pPr lvl="2"/>
            <a:r>
              <a:rPr lang="en-US" dirty="0" smtClean="0"/>
              <a:t>Read K -&gt; V2 (phew!)</a:t>
            </a:r>
          </a:p>
          <a:p>
            <a:pPr lvl="1"/>
            <a:r>
              <a:rPr lang="en-US" dirty="0" smtClean="0"/>
              <a:t>Timestamp-based tie-breaking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Key Value Stores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Amazon </a:t>
            </a:r>
            <a:r>
              <a:rPr lang="en-US" dirty="0" err="1" smtClean="0"/>
              <a:t>SimpleDB</a:t>
            </a:r>
            <a:endParaRPr lang="en-US" dirty="0" smtClean="0"/>
          </a:p>
          <a:p>
            <a:pPr lvl="1"/>
            <a:r>
              <a:rPr lang="en-US" dirty="0" smtClean="0"/>
              <a:t>Is it really a KV store?</a:t>
            </a:r>
          </a:p>
          <a:p>
            <a:pPr lvl="2"/>
            <a:r>
              <a:rPr lang="en-US" dirty="0" smtClean="0"/>
              <a:t>It certainly isn’t a relational DB</a:t>
            </a:r>
          </a:p>
          <a:p>
            <a:pPr lvl="1"/>
            <a:r>
              <a:rPr lang="en-US" dirty="0" smtClean="0"/>
              <a:t>Tables and selects</a:t>
            </a:r>
          </a:p>
          <a:p>
            <a:pPr lvl="1"/>
            <a:r>
              <a:rPr lang="en-US" dirty="0" smtClean="0"/>
              <a:t>No joins, no transactions</a:t>
            </a:r>
          </a:p>
          <a:p>
            <a:pPr lvl="1"/>
            <a:r>
              <a:rPr lang="en-US" dirty="0" smtClean="0"/>
              <a:t>Eventually consistent</a:t>
            </a:r>
          </a:p>
          <a:p>
            <a:pPr lvl="2"/>
            <a:r>
              <a:rPr lang="en-US" dirty="0" smtClean="0"/>
              <a:t>Timestamp tie-breaking</a:t>
            </a:r>
          </a:p>
          <a:p>
            <a:pPr lvl="1"/>
            <a:r>
              <a:rPr lang="en-US" dirty="0" smtClean="0"/>
              <a:t>Optional Consistent Reads</a:t>
            </a:r>
          </a:p>
          <a:p>
            <a:pPr lvl="2"/>
            <a:r>
              <a:rPr lang="en-US" dirty="0" smtClean="0"/>
              <a:t>Costly! Reconcile all copies</a:t>
            </a:r>
          </a:p>
          <a:p>
            <a:pPr lvl="1"/>
            <a:r>
              <a:rPr lang="en-US" dirty="0" smtClean="0"/>
              <a:t>Conditional Put for “transactions”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Pick your poison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Perhaps the most obvious instance of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	“BUILD YOUR OWN TCP”</a:t>
            </a:r>
          </a:p>
          <a:p>
            <a:endParaRPr lang="en-US" dirty="0" smtClean="0"/>
          </a:p>
          <a:p>
            <a:r>
              <a:rPr lang="en-US" dirty="0" smtClean="0"/>
              <a:t>Do you want scalability?</a:t>
            </a:r>
          </a:p>
          <a:p>
            <a:r>
              <a:rPr lang="en-US" dirty="0" smtClean="0"/>
              <a:t>Consistency?</a:t>
            </a:r>
          </a:p>
          <a:p>
            <a:r>
              <a:rPr lang="en-US" dirty="0" smtClean="0"/>
              <a:t>Survivability?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EC2 Storage Options: </a:t>
            </a:r>
            <a:br>
              <a:rPr lang="en-US" dirty="0" smtClean="0"/>
            </a:br>
            <a:r>
              <a:rPr lang="en-US" dirty="0" smtClean="0"/>
              <a:t>TPC-W Performance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356"/>
                <a:gridCol w="2215444"/>
                <a:gridCol w="2463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Flavor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Throughput (WIPS)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Cost High Load ($/WIPS)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MySQL</a:t>
                      </a:r>
                      <a:r>
                        <a:rPr lang="en-US" sz="2400" dirty="0" smtClean="0"/>
                        <a:t> in your own VM (EBS underneath)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477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0.005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RDS (</a:t>
                      </a:r>
                      <a:r>
                        <a:rPr lang="en-US" sz="2400" dirty="0" err="1" smtClean="0"/>
                        <a:t>MySQL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aaS</a:t>
                      </a:r>
                      <a:r>
                        <a:rPr lang="en-US" sz="2400" baseline="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462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0.005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SimpleDB</a:t>
                      </a:r>
                      <a:r>
                        <a:rPr lang="en-US" sz="2400" dirty="0" smtClean="0"/>
                        <a:t> (non-relational DB, range queries)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128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0.005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S3 (B-trees, update queues on top of KV store)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1100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0.009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53901" y="5508481"/>
            <a:ext cx="357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Kossman</a:t>
            </a:r>
            <a:r>
              <a:rPr lang="en-US" dirty="0" smtClean="0"/>
              <a:t> et al, [SIGMOD 10,08]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Durability use case: Disaster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Disaster Recovery (DR) typically too expensive</a:t>
            </a:r>
          </a:p>
          <a:p>
            <a:pPr lvl="1"/>
            <a:r>
              <a:rPr lang="en-US" dirty="0" smtClean="0"/>
              <a:t>Dedicated infrastructure</a:t>
            </a:r>
          </a:p>
          <a:p>
            <a:pPr lvl="1"/>
            <a:r>
              <a:rPr lang="en-US" dirty="0" smtClean="0"/>
              <a:t>“mirror” datacenter</a:t>
            </a:r>
          </a:p>
          <a:p>
            <a:r>
              <a:rPr lang="en-US" dirty="0" smtClean="0"/>
              <a:t>Cloud: not anymore!</a:t>
            </a:r>
          </a:p>
          <a:p>
            <a:pPr lvl="1"/>
            <a:r>
              <a:rPr lang="en-US" dirty="0" smtClean="0"/>
              <a:t>Infrastructure is a Service</a:t>
            </a:r>
          </a:p>
          <a:p>
            <a:r>
              <a:rPr lang="en-US" dirty="0" smtClean="0"/>
              <a:t>But cloud storage </a:t>
            </a:r>
            <a:r>
              <a:rPr lang="en-US" dirty="0" err="1" smtClean="0"/>
              <a:t>SLAs</a:t>
            </a:r>
            <a:r>
              <a:rPr lang="en-US" dirty="0" smtClean="0"/>
              <a:t> become key</a:t>
            </a:r>
          </a:p>
          <a:p>
            <a:r>
              <a:rPr lang="en-US" dirty="0" smtClean="0"/>
              <a:t>Do you feel confident about backing up to a single cloud?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Will My Data Be Available?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Maybe ….</a:t>
            </a:r>
            <a:endParaRPr lang="en-US" dirty="0"/>
          </a:p>
        </p:txBody>
      </p:sp>
      <p:pic>
        <p:nvPicPr>
          <p:cNvPr id="4" name="Picture 3" descr="Screen shot 2011-05-17 at 2.14.5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7" y="2127252"/>
            <a:ext cx="6725356" cy="4418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Availability Under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DepSky</a:t>
            </a:r>
            <a:r>
              <a:rPr lang="en-US" dirty="0" smtClean="0"/>
              <a:t> [</a:t>
            </a:r>
            <a:r>
              <a:rPr lang="en-US" dirty="0" err="1" smtClean="0"/>
              <a:t>Eurosys</a:t>
            </a:r>
            <a:r>
              <a:rPr lang="en-US" dirty="0" smtClean="0"/>
              <a:t> 11], </a:t>
            </a:r>
            <a:r>
              <a:rPr lang="en-US" dirty="0" err="1" smtClean="0"/>
              <a:t>Skute</a:t>
            </a:r>
            <a:r>
              <a:rPr lang="en-US" dirty="0" smtClean="0"/>
              <a:t> [SOCC 10]</a:t>
            </a:r>
          </a:p>
          <a:p>
            <a:r>
              <a:rPr lang="en-US" dirty="0" smtClean="0"/>
              <a:t>Write-many, read-any (availability)</a:t>
            </a:r>
          </a:p>
          <a:p>
            <a:pPr lvl="1"/>
            <a:r>
              <a:rPr lang="en-US" dirty="0" smtClean="0"/>
              <a:t>Increased </a:t>
            </a:r>
            <a:r>
              <a:rPr lang="en-US" b="1" dirty="0" smtClean="0"/>
              <a:t>latency </a:t>
            </a:r>
            <a:r>
              <a:rPr lang="en-US" dirty="0" smtClean="0"/>
              <a:t>on writes</a:t>
            </a:r>
          </a:p>
          <a:p>
            <a:r>
              <a:rPr lang="en-US" dirty="0" smtClean="0"/>
              <a:t>By distributing, we can get more properties “for free”</a:t>
            </a:r>
          </a:p>
          <a:p>
            <a:pPr lvl="1"/>
            <a:r>
              <a:rPr lang="en-US" dirty="0" smtClean="0"/>
              <a:t>Confidentiality? </a:t>
            </a:r>
          </a:p>
          <a:p>
            <a:pPr lvl="1"/>
            <a:r>
              <a:rPr lang="en-US" dirty="0" smtClean="0"/>
              <a:t>Privacy?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Availability Under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DepSky</a:t>
            </a:r>
            <a:r>
              <a:rPr lang="en-US" dirty="0" smtClean="0"/>
              <a:t> [</a:t>
            </a:r>
            <a:r>
              <a:rPr lang="en-US" dirty="0" err="1" smtClean="0"/>
              <a:t>Eurosys</a:t>
            </a:r>
            <a:r>
              <a:rPr lang="en-US" dirty="0" smtClean="0"/>
              <a:t> 11], </a:t>
            </a:r>
            <a:r>
              <a:rPr lang="en-US" dirty="0" err="1" smtClean="0"/>
              <a:t>Skute</a:t>
            </a:r>
            <a:r>
              <a:rPr lang="en-US" dirty="0" smtClean="0"/>
              <a:t> [SOCC 10]</a:t>
            </a:r>
          </a:p>
          <a:p>
            <a:r>
              <a:rPr lang="en-US" dirty="0" smtClean="0"/>
              <a:t>Confidentiality. Privacy.</a:t>
            </a:r>
          </a:p>
          <a:p>
            <a:r>
              <a:rPr lang="en-US" dirty="0" smtClean="0"/>
              <a:t>Write 2f+1, read f+1</a:t>
            </a:r>
          </a:p>
          <a:p>
            <a:pPr lvl="1"/>
            <a:r>
              <a:rPr lang="en-US" dirty="0" smtClean="0"/>
              <a:t>Information Dispersal Algorithms</a:t>
            </a:r>
          </a:p>
          <a:p>
            <a:pPr lvl="2"/>
            <a:r>
              <a:rPr lang="en-US" dirty="0" smtClean="0"/>
              <a:t>Need f+1 parts to reconstruct item</a:t>
            </a:r>
          </a:p>
          <a:p>
            <a:pPr lvl="1"/>
            <a:r>
              <a:rPr lang="en-US" dirty="0" smtClean="0"/>
              <a:t>Secret sharing -&gt; need f+1 key fragments</a:t>
            </a:r>
          </a:p>
          <a:p>
            <a:pPr lvl="1"/>
            <a:r>
              <a:rPr lang="en-US" dirty="0" smtClean="0"/>
              <a:t>Erasure Codes -&gt; need f+1 data chunks </a:t>
            </a:r>
          </a:p>
          <a:p>
            <a:r>
              <a:rPr lang="en-US" b="1" dirty="0" smtClean="0"/>
              <a:t>Increased latency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Deal with Latency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problem, but also an opportunity</a:t>
            </a:r>
          </a:p>
          <a:p>
            <a:r>
              <a:rPr lang="en-US" dirty="0" smtClean="0"/>
              <a:t>Multiple Clouds!</a:t>
            </a:r>
          </a:p>
          <a:p>
            <a:pPr lvl="1"/>
            <a:r>
              <a:rPr lang="en-US" dirty="0" smtClean="0"/>
              <a:t>“Regions” in EC2</a:t>
            </a:r>
          </a:p>
          <a:p>
            <a:r>
              <a:rPr lang="en-US" dirty="0" smtClean="0"/>
              <a:t>Minimize client RTT</a:t>
            </a:r>
          </a:p>
          <a:p>
            <a:pPr lvl="1"/>
            <a:r>
              <a:rPr lang="en-US" dirty="0" smtClean="0"/>
              <a:t>Client in the East, should server be in the West</a:t>
            </a:r>
          </a:p>
          <a:p>
            <a:pPr lvl="1"/>
            <a:r>
              <a:rPr lang="en-US" dirty="0" smtClean="0"/>
              <a:t>Nature is tyrannical</a:t>
            </a:r>
          </a:p>
          <a:p>
            <a:r>
              <a:rPr lang="en-US" dirty="0" smtClean="0"/>
              <a:t>But, CAP will bite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Wide-area Data Stores: CAP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219" y="1417638"/>
            <a:ext cx="8389581" cy="470852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Pick 2: </a:t>
            </a:r>
            <a:r>
              <a:rPr lang="en-US" sz="2800" b="1" dirty="0" smtClean="0"/>
              <a:t>C</a:t>
            </a:r>
            <a:r>
              <a:rPr lang="en-US" sz="2800" dirty="0" smtClean="0"/>
              <a:t>onsistency, </a:t>
            </a:r>
            <a:r>
              <a:rPr lang="en-US" sz="2800" b="1" dirty="0" smtClean="0"/>
              <a:t>A</a:t>
            </a:r>
            <a:r>
              <a:rPr lang="en-US" sz="2800" dirty="0" smtClean="0"/>
              <a:t>vailability, </a:t>
            </a:r>
            <a:r>
              <a:rPr lang="en-US" sz="2800" b="1" dirty="0" smtClean="0"/>
              <a:t>P</a:t>
            </a:r>
            <a:r>
              <a:rPr lang="en-US" sz="2800" dirty="0" smtClean="0"/>
              <a:t>artition-Tolerance</a:t>
            </a:r>
          </a:p>
          <a:p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endParaRPr lang="en-US" sz="2800" dirty="0"/>
          </a:p>
        </p:txBody>
      </p:sp>
      <p:grpSp>
        <p:nvGrpSpPr>
          <p:cNvPr id="4" name="Group 33"/>
          <p:cNvGrpSpPr/>
          <p:nvPr/>
        </p:nvGrpSpPr>
        <p:grpSpPr>
          <a:xfrm>
            <a:off x="917727" y="1982027"/>
            <a:ext cx="1895354" cy="1889926"/>
            <a:chOff x="773879" y="2523693"/>
            <a:chExt cx="1895354" cy="1889926"/>
          </a:xfrm>
        </p:grpSpPr>
        <p:grpSp>
          <p:nvGrpSpPr>
            <p:cNvPr id="5" name="Group 21"/>
            <p:cNvGrpSpPr/>
            <p:nvPr/>
          </p:nvGrpSpPr>
          <p:grpSpPr>
            <a:xfrm>
              <a:off x="773879" y="2523693"/>
              <a:ext cx="1895354" cy="1889926"/>
              <a:chOff x="3610974" y="2523693"/>
              <a:chExt cx="1895354" cy="1889926"/>
            </a:xfrm>
          </p:grpSpPr>
          <p:sp>
            <p:nvSpPr>
              <p:cNvPr id="18" name="Pie 17"/>
              <p:cNvSpPr/>
              <p:nvPr/>
            </p:nvSpPr>
            <p:spPr>
              <a:xfrm rot="14416763">
                <a:off x="3633680" y="2510066"/>
                <a:ext cx="1855369" cy="1889926"/>
              </a:xfrm>
              <a:prstGeom prst="pie">
                <a:avLst>
                  <a:gd name="adj1" fmla="val 1757857"/>
                  <a:gd name="adj2" fmla="val 9013430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Pie 19"/>
              <p:cNvSpPr/>
              <p:nvPr/>
            </p:nvSpPr>
            <p:spPr>
              <a:xfrm>
                <a:off x="3637973" y="2523693"/>
                <a:ext cx="1855369" cy="1889926"/>
              </a:xfrm>
              <a:prstGeom prst="pie">
                <a:avLst>
                  <a:gd name="adj1" fmla="val 1757857"/>
                  <a:gd name="adj2" fmla="val 9068672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Pie 20"/>
              <p:cNvSpPr/>
              <p:nvPr/>
            </p:nvSpPr>
            <p:spPr>
              <a:xfrm rot="7240371">
                <a:off x="3628252" y="2515886"/>
                <a:ext cx="1855369" cy="1889926"/>
              </a:xfrm>
              <a:prstGeom prst="pie">
                <a:avLst>
                  <a:gd name="adj1" fmla="val 1757857"/>
                  <a:gd name="adj2" fmla="val 9013430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1078251" y="2909386"/>
              <a:ext cx="40347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C</a:t>
              </a:r>
              <a:endParaRPr lang="en-US" sz="32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65996" y="2909386"/>
              <a:ext cx="422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A</a:t>
              </a:r>
              <a:endParaRPr lang="en-US" sz="32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81727" y="3629977"/>
              <a:ext cx="39666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P</a:t>
              </a:r>
              <a:endParaRPr lang="en-US" sz="3200" dirty="0"/>
            </a:p>
          </p:txBody>
        </p:sp>
      </p:grpSp>
      <p:grpSp>
        <p:nvGrpSpPr>
          <p:cNvPr id="6" name="Group 34"/>
          <p:cNvGrpSpPr/>
          <p:nvPr/>
        </p:nvGrpSpPr>
        <p:grpSpPr>
          <a:xfrm>
            <a:off x="6327529" y="1982027"/>
            <a:ext cx="1895354" cy="1889926"/>
            <a:chOff x="773879" y="2523693"/>
            <a:chExt cx="1895354" cy="1889926"/>
          </a:xfrm>
        </p:grpSpPr>
        <p:grpSp>
          <p:nvGrpSpPr>
            <p:cNvPr id="7" name="Group 21"/>
            <p:cNvGrpSpPr/>
            <p:nvPr/>
          </p:nvGrpSpPr>
          <p:grpSpPr>
            <a:xfrm>
              <a:off x="773879" y="2523693"/>
              <a:ext cx="1895354" cy="1889926"/>
              <a:chOff x="3610974" y="2523693"/>
              <a:chExt cx="1895354" cy="1889926"/>
            </a:xfrm>
          </p:grpSpPr>
          <p:sp>
            <p:nvSpPr>
              <p:cNvPr id="40" name="Pie 39"/>
              <p:cNvSpPr/>
              <p:nvPr/>
            </p:nvSpPr>
            <p:spPr>
              <a:xfrm rot="14416763">
                <a:off x="3633680" y="2510066"/>
                <a:ext cx="1855369" cy="1889926"/>
              </a:xfrm>
              <a:prstGeom prst="pie">
                <a:avLst>
                  <a:gd name="adj1" fmla="val 1757857"/>
                  <a:gd name="adj2" fmla="val 9013430"/>
                </a:avLst>
              </a:prstGeom>
              <a:solidFill>
                <a:srgbClr val="BFBFBF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Pie 40"/>
              <p:cNvSpPr/>
              <p:nvPr/>
            </p:nvSpPr>
            <p:spPr>
              <a:xfrm>
                <a:off x="3637973" y="2523693"/>
                <a:ext cx="1855369" cy="1889926"/>
              </a:xfrm>
              <a:prstGeom prst="pie">
                <a:avLst>
                  <a:gd name="adj1" fmla="val 1757857"/>
                  <a:gd name="adj2" fmla="val 9068672"/>
                </a:avLst>
              </a:prstGeom>
              <a:solidFill>
                <a:srgbClr val="BFBFBF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Pie 41"/>
              <p:cNvSpPr/>
              <p:nvPr/>
            </p:nvSpPr>
            <p:spPr>
              <a:xfrm rot="7240371">
                <a:off x="3628252" y="2515886"/>
                <a:ext cx="1855369" cy="1889926"/>
              </a:xfrm>
              <a:prstGeom prst="pie">
                <a:avLst>
                  <a:gd name="adj1" fmla="val 1757857"/>
                  <a:gd name="adj2" fmla="val 9013430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1078251" y="2909386"/>
              <a:ext cx="40347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C</a:t>
              </a:r>
              <a:endParaRPr lang="en-US" sz="32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965996" y="2909386"/>
              <a:ext cx="422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A</a:t>
              </a:r>
              <a:endParaRPr lang="en-US" sz="32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481727" y="3629977"/>
              <a:ext cx="39666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P</a:t>
              </a:r>
              <a:endParaRPr lang="en-US" sz="3200" dirty="0"/>
            </a:p>
          </p:txBody>
        </p:sp>
      </p:grpSp>
      <p:grpSp>
        <p:nvGrpSpPr>
          <p:cNvPr id="8" name="Group 42"/>
          <p:cNvGrpSpPr/>
          <p:nvPr/>
        </p:nvGrpSpPr>
        <p:grpSpPr>
          <a:xfrm>
            <a:off x="3627049" y="1982027"/>
            <a:ext cx="1895354" cy="1889926"/>
            <a:chOff x="773879" y="2523693"/>
            <a:chExt cx="1895354" cy="1889926"/>
          </a:xfrm>
        </p:grpSpPr>
        <p:grpSp>
          <p:nvGrpSpPr>
            <p:cNvPr id="9" name="Group 21"/>
            <p:cNvGrpSpPr/>
            <p:nvPr/>
          </p:nvGrpSpPr>
          <p:grpSpPr>
            <a:xfrm>
              <a:off x="773879" y="2523693"/>
              <a:ext cx="1895354" cy="1889926"/>
              <a:chOff x="3610974" y="2523693"/>
              <a:chExt cx="1895354" cy="1889926"/>
            </a:xfrm>
          </p:grpSpPr>
          <p:sp>
            <p:nvSpPr>
              <p:cNvPr id="48" name="Pie 47"/>
              <p:cNvSpPr/>
              <p:nvPr/>
            </p:nvSpPr>
            <p:spPr>
              <a:xfrm rot="14416763">
                <a:off x="3633680" y="2510066"/>
                <a:ext cx="1855369" cy="1889926"/>
              </a:xfrm>
              <a:prstGeom prst="pie">
                <a:avLst>
                  <a:gd name="adj1" fmla="val 1757857"/>
                  <a:gd name="adj2" fmla="val 9013430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Pie 48"/>
              <p:cNvSpPr/>
              <p:nvPr/>
            </p:nvSpPr>
            <p:spPr>
              <a:xfrm>
                <a:off x="3637973" y="2523693"/>
                <a:ext cx="1855369" cy="1889926"/>
              </a:xfrm>
              <a:prstGeom prst="pie">
                <a:avLst>
                  <a:gd name="adj1" fmla="val 1757857"/>
                  <a:gd name="adj2" fmla="val 9068672"/>
                </a:avLst>
              </a:prstGeom>
              <a:solidFill>
                <a:srgbClr val="BFBFBF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Pie 49"/>
              <p:cNvSpPr/>
              <p:nvPr/>
            </p:nvSpPr>
            <p:spPr>
              <a:xfrm rot="7240371">
                <a:off x="3628252" y="2515886"/>
                <a:ext cx="1855369" cy="1889926"/>
              </a:xfrm>
              <a:prstGeom prst="pie">
                <a:avLst>
                  <a:gd name="adj1" fmla="val 1757857"/>
                  <a:gd name="adj2" fmla="val 9013430"/>
                </a:avLst>
              </a:prstGeom>
              <a:solidFill>
                <a:srgbClr val="BFBFBF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1078251" y="2909386"/>
              <a:ext cx="40347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C</a:t>
              </a:r>
              <a:endParaRPr lang="en-US" sz="32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965996" y="2909386"/>
              <a:ext cx="422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A</a:t>
              </a:r>
              <a:endParaRPr lang="en-US" sz="32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481727" y="3629977"/>
              <a:ext cx="39666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P</a:t>
              </a:r>
              <a:endParaRPr lang="en-US" sz="3200" dirty="0"/>
            </a:p>
          </p:txBody>
        </p:sp>
      </p:grp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815133" y="4043533"/>
          <a:ext cx="7871668" cy="2261971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4869316"/>
                <a:gridCol w="3002352"/>
              </a:tblGrid>
              <a:tr h="2261971">
                <a:tc>
                  <a:txBody>
                    <a:bodyPr/>
                    <a:lstStyle/>
                    <a:p>
                      <a:pPr>
                        <a:buFont typeface="Arial"/>
                        <a:buChar char="•"/>
                      </a:pPr>
                      <a:r>
                        <a:rPr lang="en-US" baseline="0" dirty="0" smtClean="0"/>
                        <a:t> Role of A and P interchangeable</a:t>
                      </a:r>
                      <a:r>
                        <a:rPr lang="en-US" dirty="0" smtClean="0"/>
                        <a:t> for multi-site</a:t>
                      </a:r>
                    </a:p>
                    <a:p>
                      <a:pPr>
                        <a:buFont typeface="Arial"/>
                        <a:buChar char="•"/>
                      </a:pPr>
                      <a:r>
                        <a:rPr lang="en-US" dirty="0" smtClean="0"/>
                        <a:t> ACID guarantees</a:t>
                      </a:r>
                      <a:r>
                        <a:rPr lang="en-US" baseline="0" dirty="0" smtClean="0"/>
                        <a:t> possible, but can’t have system available when there is a network partition</a:t>
                      </a:r>
                    </a:p>
                    <a:p>
                      <a:pPr>
                        <a:buFont typeface="Arial"/>
                        <a:buChar char="•"/>
                      </a:pPr>
                      <a:r>
                        <a:rPr lang="en-US" baseline="0" dirty="0" smtClean="0"/>
                        <a:t> T</a:t>
                      </a:r>
                      <a:r>
                        <a:rPr lang="en-US" dirty="0" smtClean="0"/>
                        <a:t>raditional </a:t>
                      </a:r>
                      <a:r>
                        <a:rPr lang="en-US" baseline="0" dirty="0" err="1" smtClean="0"/>
                        <a:t>DBs</a:t>
                      </a:r>
                      <a:r>
                        <a:rPr lang="en-US" baseline="0" dirty="0" smtClean="0"/>
                        <a:t>: </a:t>
                      </a:r>
                      <a:r>
                        <a:rPr lang="en-US" baseline="0" dirty="0" err="1" smtClean="0"/>
                        <a:t>MySQL</a:t>
                      </a:r>
                      <a:r>
                        <a:rPr lang="en-US" baseline="0" dirty="0" smtClean="0"/>
                        <a:t>, Oracle</a:t>
                      </a:r>
                    </a:p>
                    <a:p>
                      <a:pPr>
                        <a:buFont typeface="Arial"/>
                        <a:buChar char="•"/>
                      </a:pPr>
                      <a:r>
                        <a:rPr lang="en-US" dirty="0" smtClean="0"/>
                        <a:t> But what about latency?</a:t>
                      </a:r>
                    </a:p>
                    <a:p>
                      <a:pPr>
                        <a:buFont typeface="Arial"/>
                        <a:buChar char="•"/>
                      </a:pPr>
                      <a:r>
                        <a:rPr lang="en-US" baseline="0" dirty="0" smtClean="0"/>
                        <a:t> Latency-consistency tradeoff is fundamental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/>
                        <a:buChar char="•"/>
                      </a:pPr>
                      <a:r>
                        <a:rPr lang="en-US" dirty="0" smtClean="0"/>
                        <a:t> “Eventual</a:t>
                      </a:r>
                      <a:r>
                        <a:rPr lang="en-US" baseline="0" dirty="0" smtClean="0"/>
                        <a:t> consistency” e.g., Dynamo, Cassandra</a:t>
                      </a:r>
                    </a:p>
                    <a:p>
                      <a:pPr>
                        <a:buFont typeface="Arial"/>
                        <a:buChar char="•"/>
                      </a:pPr>
                      <a:r>
                        <a:rPr lang="en-US" baseline="0" dirty="0" smtClean="0"/>
                        <a:t> Must be able to resolve conflicts</a:t>
                      </a:r>
                    </a:p>
                    <a:p>
                      <a:pPr>
                        <a:buFont typeface="Arial"/>
                        <a:buChar char="•"/>
                      </a:pPr>
                      <a:r>
                        <a:rPr lang="en-US" baseline="0" dirty="0" smtClean="0"/>
                        <a:t> Suitable for cross-DC replication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102710" y="1102998"/>
            <a:ext cx="4371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Brewer, PODC 04 keynote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Your Own </a:t>
            </a:r>
            <a:r>
              <a:rPr lang="en-US" dirty="0" err="1" smtClean="0"/>
              <a:t>NoSQL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Netflix Use Case Scenario</a:t>
            </a:r>
          </a:p>
          <a:p>
            <a:pPr lvl="1"/>
            <a:r>
              <a:rPr lang="en-US" dirty="0" smtClean="0"/>
              <a:t>Cassandra, </a:t>
            </a:r>
            <a:r>
              <a:rPr lang="en-US" dirty="0" err="1" smtClean="0"/>
              <a:t>MongoDB</a:t>
            </a:r>
            <a:r>
              <a:rPr lang="en-US" dirty="0" smtClean="0"/>
              <a:t>, </a:t>
            </a:r>
            <a:r>
              <a:rPr lang="en-US" dirty="0" err="1" smtClean="0"/>
              <a:t>Riak</a:t>
            </a:r>
            <a:r>
              <a:rPr lang="en-US" dirty="0" smtClean="0"/>
              <a:t>, </a:t>
            </a:r>
            <a:r>
              <a:rPr lang="en-US" dirty="0" err="1" smtClean="0"/>
              <a:t>Translattice</a:t>
            </a:r>
            <a:endParaRPr lang="en-US" dirty="0" smtClean="0"/>
          </a:p>
          <a:p>
            <a:r>
              <a:rPr lang="en-US" dirty="0" smtClean="0"/>
              <a:t>Multiple “Clouds”</a:t>
            </a:r>
          </a:p>
          <a:p>
            <a:pPr lvl="1"/>
            <a:r>
              <a:rPr lang="en-US" dirty="0" smtClean="0"/>
              <a:t>EC2 availability zones</a:t>
            </a:r>
          </a:p>
          <a:p>
            <a:pPr lvl="1"/>
            <a:r>
              <a:rPr lang="en-US" dirty="0" smtClean="0"/>
              <a:t>Do you automatically replicate?</a:t>
            </a:r>
          </a:p>
          <a:p>
            <a:pPr lvl="1"/>
            <a:r>
              <a:rPr lang="en-US" dirty="0" smtClean="0"/>
              <a:t>How are reads/writes satisfied in the normal case?</a:t>
            </a:r>
          </a:p>
          <a:p>
            <a:r>
              <a:rPr lang="en-US" dirty="0" smtClean="0"/>
              <a:t>Partitioned behavior</a:t>
            </a:r>
          </a:p>
          <a:p>
            <a:pPr lvl="1"/>
            <a:r>
              <a:rPr lang="en-US" dirty="0" smtClean="0"/>
              <a:t>Write availability? Consistency?</a:t>
            </a:r>
          </a:p>
          <a:p>
            <a:pPr lvl="2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Your Own </a:t>
            </a:r>
            <a:r>
              <a:rPr lang="en-US" dirty="0" err="1" smtClean="0"/>
              <a:t>NoSQL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(</a:t>
            </a:r>
            <a:r>
              <a:rPr lang="en-US" dirty="0" err="1" smtClean="0"/>
              <a:t>r,w</a:t>
            </a:r>
            <a:r>
              <a:rPr lang="en-US" dirty="0" smtClean="0"/>
              <a:t>) parameter for </a:t>
            </a:r>
            <a:r>
              <a:rPr lang="en-US" dirty="0" err="1" smtClean="0"/>
              <a:t>n</a:t>
            </a:r>
            <a:r>
              <a:rPr lang="en-US" dirty="0" smtClean="0"/>
              <a:t> replicas</a:t>
            </a:r>
          </a:p>
          <a:p>
            <a:pPr lvl="1"/>
            <a:r>
              <a:rPr lang="en-US" dirty="0" smtClean="0"/>
              <a:t>Read succeeds after contacting </a:t>
            </a:r>
            <a:r>
              <a:rPr lang="en-US" dirty="0" err="1" smtClean="0"/>
              <a:t>r</a:t>
            </a:r>
            <a:r>
              <a:rPr lang="en-US" dirty="0" smtClean="0"/>
              <a:t> ≤ </a:t>
            </a:r>
            <a:r>
              <a:rPr lang="en-US" dirty="0" err="1" smtClean="0"/>
              <a:t>n</a:t>
            </a:r>
            <a:r>
              <a:rPr lang="en-US" dirty="0" smtClean="0"/>
              <a:t>  replicas</a:t>
            </a:r>
          </a:p>
          <a:p>
            <a:pPr lvl="1"/>
            <a:r>
              <a:rPr lang="en-US" dirty="0" smtClean="0"/>
              <a:t>Write succeeds after contacting </a:t>
            </a:r>
            <a:r>
              <a:rPr lang="en-US" dirty="0" err="1" smtClean="0"/>
              <a:t>w</a:t>
            </a:r>
            <a:r>
              <a:rPr lang="en-US" dirty="0" smtClean="0"/>
              <a:t> ≤ </a:t>
            </a:r>
            <a:r>
              <a:rPr lang="en-US" dirty="0" err="1" smtClean="0"/>
              <a:t>n</a:t>
            </a:r>
            <a:r>
              <a:rPr lang="en-US" dirty="0" smtClean="0"/>
              <a:t>  replicas</a:t>
            </a:r>
          </a:p>
          <a:p>
            <a:pPr lvl="1"/>
            <a:r>
              <a:rPr lang="en-US" dirty="0" smtClean="0"/>
              <a:t>(</a:t>
            </a:r>
            <a:r>
              <a:rPr lang="en-US" dirty="0" err="1" smtClean="0"/>
              <a:t>r+w</a:t>
            </a:r>
            <a:r>
              <a:rPr lang="en-US" dirty="0" smtClean="0"/>
              <a:t>) &gt; </a:t>
            </a:r>
            <a:r>
              <a:rPr lang="en-US" dirty="0" err="1" smtClean="0"/>
              <a:t>n</a:t>
            </a:r>
            <a:r>
              <a:rPr lang="en-US" dirty="0" smtClean="0"/>
              <a:t>: quorum, clients resolve </a:t>
            </a:r>
            <a:r>
              <a:rPr lang="en-US" dirty="0" err="1" smtClean="0"/>
              <a:t>inconsitencies</a:t>
            </a:r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 err="1" smtClean="0"/>
              <a:t>r+w</a:t>
            </a:r>
            <a:r>
              <a:rPr lang="en-US" dirty="0" smtClean="0"/>
              <a:t>) ≤ </a:t>
            </a:r>
            <a:r>
              <a:rPr lang="en-US" dirty="0" err="1" smtClean="0"/>
              <a:t>n</a:t>
            </a:r>
            <a:r>
              <a:rPr lang="en-US" dirty="0" smtClean="0"/>
              <a:t>: sloppy quorum, transient inconsistency</a:t>
            </a:r>
          </a:p>
          <a:p>
            <a:r>
              <a:rPr lang="en-US" dirty="0" smtClean="0"/>
              <a:t>Fixed (</a:t>
            </a:r>
            <a:r>
              <a:rPr lang="en-US" dirty="0" err="1" smtClean="0"/>
              <a:t>r</a:t>
            </a:r>
            <a:r>
              <a:rPr lang="en-US" dirty="0" smtClean="0"/>
              <a:t>=1, </a:t>
            </a:r>
            <a:r>
              <a:rPr lang="en-US" dirty="0" err="1" smtClean="0"/>
              <a:t>w</a:t>
            </a:r>
            <a:r>
              <a:rPr lang="en-US" dirty="0" smtClean="0"/>
              <a:t>=n/2 + 1) -&gt; e.g. </a:t>
            </a:r>
            <a:r>
              <a:rPr lang="en-US" dirty="0" err="1" smtClean="0"/>
              <a:t>MongoDB</a:t>
            </a:r>
            <a:endParaRPr lang="en-US" dirty="0" smtClean="0"/>
          </a:p>
          <a:p>
            <a:pPr lvl="1"/>
            <a:r>
              <a:rPr lang="en-US" dirty="0" smtClean="0"/>
              <a:t>Write availability lost on one side of a partition</a:t>
            </a:r>
          </a:p>
          <a:p>
            <a:r>
              <a:rPr lang="en-US" dirty="0" smtClean="0"/>
              <a:t>Configurable (</a:t>
            </a:r>
            <a:r>
              <a:rPr lang="en-US" dirty="0" err="1" smtClean="0"/>
              <a:t>r,w</a:t>
            </a:r>
            <a:r>
              <a:rPr lang="en-US" dirty="0" smtClean="0"/>
              <a:t>) -&gt; e.g. Cassandra</a:t>
            </a:r>
          </a:p>
          <a:p>
            <a:pPr lvl="1"/>
            <a:r>
              <a:rPr lang="en-US" dirty="0" smtClean="0"/>
              <a:t>Always write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Cloud is IP</a:t>
            </a:r>
          </a:p>
          <a:p>
            <a:pPr lvl="1"/>
            <a:r>
              <a:rPr lang="en-US" dirty="0" smtClean="0"/>
              <a:t>Key value stores are not as feature-full as </a:t>
            </a:r>
            <a:r>
              <a:rPr lang="en-US" dirty="0" err="1" smtClean="0"/>
              <a:t>MySQL</a:t>
            </a:r>
            <a:endParaRPr lang="en-US" dirty="0" smtClean="0"/>
          </a:p>
          <a:p>
            <a:pPr lvl="1"/>
            <a:r>
              <a:rPr lang="en-US" dirty="0" smtClean="0"/>
              <a:t>Things fail</a:t>
            </a:r>
          </a:p>
          <a:p>
            <a:r>
              <a:rPr lang="en-US" dirty="0" smtClean="0"/>
              <a:t>You need to build your own TCP</a:t>
            </a:r>
          </a:p>
          <a:p>
            <a:pPr lvl="1"/>
            <a:r>
              <a:rPr lang="en-US" dirty="0" smtClean="0"/>
              <a:t>Throughput in horizontal scalable stores</a:t>
            </a:r>
          </a:p>
          <a:p>
            <a:pPr lvl="1"/>
            <a:r>
              <a:rPr lang="en-US" dirty="0" smtClean="0"/>
              <a:t>Data durability by writing to multiple clouds</a:t>
            </a:r>
          </a:p>
          <a:p>
            <a:pPr lvl="1"/>
            <a:r>
              <a:rPr lang="en-US" dirty="0" smtClean="0"/>
              <a:t>Consistency in the event of partitions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01" y="2003634"/>
            <a:ext cx="3007926" cy="30079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Provider Point of View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326" y="3680492"/>
            <a:ext cx="4583474" cy="27959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8516" y="1553920"/>
            <a:ext cx="10251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Cloud</a:t>
            </a:r>
          </a:p>
          <a:p>
            <a:r>
              <a:rPr lang="en-US" sz="2800" dirty="0" smtClean="0"/>
              <a:t>User</a:t>
            </a:r>
            <a:endParaRPr lang="en-US" sz="2800" dirty="0"/>
          </a:p>
        </p:txBody>
      </p:sp>
      <p:sp>
        <p:nvSpPr>
          <p:cNvPr id="19" name="Cloud 18"/>
          <p:cNvSpPr/>
          <p:nvPr/>
        </p:nvSpPr>
        <p:spPr>
          <a:xfrm>
            <a:off x="1713047" y="1200212"/>
            <a:ext cx="3232417" cy="2018582"/>
          </a:xfrm>
          <a:prstGeom prst="cloud">
            <a:avLst/>
          </a:prstGeom>
          <a:noFill/>
          <a:ln w="2857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64160" y="5522304"/>
            <a:ext cx="14144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Cloud</a:t>
            </a:r>
          </a:p>
          <a:p>
            <a:r>
              <a:rPr lang="en-US" sz="2800" dirty="0" smtClean="0"/>
              <a:t>Provider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3345083" y="4088230"/>
            <a:ext cx="75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chemeClr val="accent2"/>
                </a:solidFill>
                <a:latin typeface="Lucida Handwriting"/>
                <a:cs typeface="Lucida Handwriting"/>
              </a:rPr>
              <a:t>?</a:t>
            </a:r>
            <a:endParaRPr lang="en-US" sz="5400" dirty="0">
              <a:solidFill>
                <a:schemeClr val="accent2"/>
              </a:solidFill>
              <a:latin typeface="Lucida Handwriting"/>
              <a:cs typeface="Lucida Handwriting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rcRect l="8623" t="11429" b="28571"/>
          <a:stretch>
            <a:fillRect/>
          </a:stretch>
        </p:blipFill>
        <p:spPr>
          <a:xfrm>
            <a:off x="2178580" y="1553920"/>
            <a:ext cx="2307817" cy="114330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535" y="5011560"/>
            <a:ext cx="1595076" cy="15950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Provider Concerns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Lets focus on </a:t>
            </a:r>
            <a:r>
              <a:rPr lang="en-US" dirty="0" err="1" smtClean="0"/>
              <a:t>VMs</a:t>
            </a:r>
            <a:endParaRPr lang="en-US" dirty="0" smtClean="0"/>
          </a:p>
          <a:p>
            <a:r>
              <a:rPr lang="en-US" dirty="0" smtClean="0"/>
              <a:t>Better multiplexing means more money</a:t>
            </a:r>
          </a:p>
          <a:p>
            <a:pPr lvl="1"/>
            <a:r>
              <a:rPr lang="en-US" dirty="0" smtClean="0"/>
              <a:t>But less isolation</a:t>
            </a:r>
          </a:p>
          <a:p>
            <a:pPr lvl="1"/>
            <a:r>
              <a:rPr lang="en-US" dirty="0" smtClean="0"/>
              <a:t>Less security</a:t>
            </a:r>
          </a:p>
          <a:p>
            <a:pPr lvl="1"/>
            <a:r>
              <a:rPr lang="en-US" dirty="0" smtClean="0"/>
              <a:t>More performance interference</a:t>
            </a:r>
          </a:p>
          <a:p>
            <a:r>
              <a:rPr lang="en-US" dirty="0" smtClean="0"/>
              <a:t>The trick </a:t>
            </a:r>
            <a:endParaRPr lang="en-US" dirty="0" smtClean="0"/>
          </a:p>
          <a:p>
            <a:pPr lvl="1"/>
            <a:r>
              <a:rPr lang="en-US" dirty="0" smtClean="0"/>
              <a:t>Isolate namespaces</a:t>
            </a:r>
          </a:p>
          <a:p>
            <a:pPr lvl="1"/>
            <a:r>
              <a:rPr lang="en-US" dirty="0" smtClean="0"/>
              <a:t>Share resources</a:t>
            </a:r>
          </a:p>
          <a:p>
            <a:pPr lvl="1"/>
            <a:r>
              <a:rPr lang="en-US" dirty="0" smtClean="0"/>
              <a:t>Manage </a:t>
            </a:r>
            <a:r>
              <a:rPr lang="en-US" dirty="0" smtClean="0"/>
              <a:t>performance interference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Multiplexing: The Good News…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77607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 from a static data center hosting business</a:t>
            </a:r>
          </a:p>
          <a:p>
            <a:r>
              <a:rPr lang="en-US" dirty="0" smtClean="0"/>
              <a:t>Several customers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Massive over-provisioning</a:t>
            </a:r>
          </a:p>
          <a:p>
            <a:r>
              <a:rPr lang="en-US" dirty="0" smtClean="0"/>
              <a:t>Large opportunity to increase efficiency</a:t>
            </a:r>
          </a:p>
          <a:p>
            <a:r>
              <a:rPr lang="en-US" dirty="0" smtClean="0"/>
              <a:t>How do we get there?</a:t>
            </a:r>
            <a:endParaRPr lang="en-US" dirty="0"/>
          </a:p>
        </p:txBody>
      </p:sp>
      <p:pic>
        <p:nvPicPr>
          <p:cNvPr id="8" name="Picture 7" descr="max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222274" y="1619787"/>
            <a:ext cx="2853139" cy="4075913"/>
          </a:xfrm>
          <a:prstGeom prst="rect">
            <a:avLst/>
          </a:prstGeom>
        </p:spPr>
      </p:pic>
      <p:pic>
        <p:nvPicPr>
          <p:cNvPr id="10" name="Picture 9" descr="util_3_d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231173"/>
            <a:ext cx="4292726" cy="28531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914839" y="1417638"/>
            <a:ext cx="3882240" cy="193829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CPU usage is too elastic…</a:t>
            </a:r>
          </a:p>
          <a:p>
            <a:r>
              <a:rPr lang="en-US" sz="2400" dirty="0" smtClean="0"/>
              <a:t>Median lifetime &lt; 10min</a:t>
            </a:r>
          </a:p>
          <a:p>
            <a:r>
              <a:rPr lang="en-US" sz="2400" dirty="0" smtClean="0"/>
              <a:t>What does this imply for VM lifecycle operations?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Multiplexing: The Bad News…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51980"/>
          <a:ext cx="4457639" cy="2846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407287"/>
            <a:ext cx="4156796" cy="11094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 memory is not…</a:t>
            </a:r>
          </a:p>
          <a:p>
            <a:pPr marL="800100" lvl="1" indent="-342900">
              <a:spcBef>
                <a:spcPct val="20000"/>
              </a:spcBef>
              <a:buFont typeface="Arial"/>
              <a:buChar char="•"/>
            </a:pPr>
            <a:r>
              <a:rPr lang="en-US" sz="3200" noProof="0" dirty="0" smtClean="0"/>
              <a:t>&lt; 2x </a:t>
            </a:r>
            <a:r>
              <a:rPr lang="en-US" sz="3200" dirty="0" smtClean="0"/>
              <a:t>of peak usage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Chart 7"/>
          <p:cNvGraphicFramePr/>
          <p:nvPr/>
        </p:nvGraphicFramePr>
        <p:xfrm>
          <a:off x="4613996" y="3141579"/>
          <a:ext cx="4183083" cy="3328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Elasticity Challenge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Make efficient use of memory</a:t>
            </a:r>
          </a:p>
          <a:p>
            <a:pPr lvl="1"/>
            <a:r>
              <a:rPr lang="en-US" dirty="0" smtClean="0"/>
              <a:t>Memory oversubscription</a:t>
            </a:r>
          </a:p>
          <a:p>
            <a:pPr lvl="1"/>
            <a:r>
              <a:rPr lang="en-US" dirty="0" smtClean="0"/>
              <a:t>De-duplication</a:t>
            </a:r>
          </a:p>
          <a:p>
            <a:r>
              <a:rPr lang="en-US" dirty="0" smtClean="0"/>
              <a:t>Make VM instantiation fast and cheap</a:t>
            </a:r>
          </a:p>
          <a:p>
            <a:pPr lvl="1"/>
            <a:r>
              <a:rPr lang="en-US" dirty="0" smtClean="0"/>
              <a:t>VM granularity</a:t>
            </a:r>
          </a:p>
          <a:p>
            <a:pPr lvl="1"/>
            <a:r>
              <a:rPr lang="en-US" dirty="0" smtClean="0"/>
              <a:t>Cached resume/cloning</a:t>
            </a:r>
          </a:p>
          <a:p>
            <a:r>
              <a:rPr lang="en-US" dirty="0" smtClean="0"/>
              <a:t>Allow dynamic reallocation of resources</a:t>
            </a:r>
          </a:p>
          <a:p>
            <a:pPr lvl="1"/>
            <a:r>
              <a:rPr lang="en-US" dirty="0" smtClean="0"/>
              <a:t>VM migration and resizing</a:t>
            </a:r>
          </a:p>
          <a:p>
            <a:pPr lvl="1"/>
            <a:r>
              <a:rPr lang="en-US" dirty="0" smtClean="0"/>
              <a:t>Efficient bin-packing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do </a:t>
            </a:r>
            <a:r>
              <a:rPr lang="en-US" dirty="0" err="1" smtClean="0"/>
              <a:t>VMs</a:t>
            </a:r>
            <a:r>
              <a:rPr lang="en-US" dirty="0" smtClean="0"/>
              <a:t> Isolate Memory?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08" y="1161443"/>
            <a:ext cx="8229600" cy="523918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Shadow Page Tables: another level of indirection</a:t>
            </a:r>
            <a:endParaRPr lang="en-US" sz="2800" dirty="0"/>
          </a:p>
        </p:txBody>
      </p:sp>
      <p:sp>
        <p:nvSpPr>
          <p:cNvPr id="42" name="Rectangle 1059"/>
          <p:cNvSpPr>
            <a:spLocks noChangeArrowheads="1"/>
          </p:cNvSpPr>
          <p:nvPr/>
        </p:nvSpPr>
        <p:spPr bwMode="auto">
          <a:xfrm>
            <a:off x="2365040" y="2724299"/>
            <a:ext cx="999418" cy="2667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Physical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400" dirty="0" smtClean="0"/>
              <a:t>Address</a:t>
            </a:r>
            <a:endParaRPr lang="en-US" sz="1200" dirty="0"/>
          </a:p>
        </p:txBody>
      </p:sp>
      <p:grpSp>
        <p:nvGrpSpPr>
          <p:cNvPr id="43" name="Group 1098"/>
          <p:cNvGrpSpPr>
            <a:grpSpLocks/>
          </p:cNvGrpSpPr>
          <p:nvPr/>
        </p:nvGrpSpPr>
        <p:grpSpPr bwMode="auto">
          <a:xfrm>
            <a:off x="2362848" y="3277827"/>
            <a:ext cx="1001609" cy="1056736"/>
            <a:chOff x="4176" y="1248"/>
            <a:chExt cx="1203" cy="1152"/>
          </a:xfrm>
          <a:noFill/>
        </p:grpSpPr>
        <p:sp>
          <p:nvSpPr>
            <p:cNvPr id="70" name="Rectangle 1095"/>
            <p:cNvSpPr>
              <a:spLocks noChangeArrowheads="1"/>
            </p:cNvSpPr>
            <p:nvPr/>
          </p:nvSpPr>
          <p:spPr bwMode="auto">
            <a:xfrm>
              <a:off x="4176" y="1248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71" name="Rectangle 1096"/>
            <p:cNvSpPr>
              <a:spLocks noChangeArrowheads="1"/>
            </p:cNvSpPr>
            <p:nvPr/>
          </p:nvSpPr>
          <p:spPr bwMode="auto">
            <a:xfrm>
              <a:off x="4179" y="1632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72" name="Rectangle 1097"/>
            <p:cNvSpPr>
              <a:spLocks noChangeArrowheads="1"/>
            </p:cNvSpPr>
            <p:nvPr/>
          </p:nvSpPr>
          <p:spPr bwMode="auto">
            <a:xfrm>
              <a:off x="4179" y="2016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</p:grpSp>
      <p:grpSp>
        <p:nvGrpSpPr>
          <p:cNvPr id="44" name="Group 1088"/>
          <p:cNvGrpSpPr>
            <a:grpSpLocks/>
          </p:cNvGrpSpPr>
          <p:nvPr/>
        </p:nvGrpSpPr>
        <p:grpSpPr bwMode="auto">
          <a:xfrm>
            <a:off x="755677" y="4057799"/>
            <a:ext cx="1052019" cy="1157377"/>
            <a:chOff x="2784" y="2592"/>
            <a:chExt cx="1104" cy="110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6" name="Rectangle 1035"/>
            <p:cNvSpPr>
              <a:spLocks noChangeArrowheads="1"/>
            </p:cNvSpPr>
            <p:nvPr/>
          </p:nvSpPr>
          <p:spPr bwMode="auto">
            <a:xfrm>
              <a:off x="2784" y="3312"/>
              <a:ext cx="1104" cy="38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 smtClean="0"/>
                <a:t>Process 2</a:t>
              </a:r>
              <a:endParaRPr lang="en-US" sz="1400" dirty="0"/>
            </a:p>
          </p:txBody>
        </p:sp>
        <p:sp>
          <p:nvSpPr>
            <p:cNvPr id="67" name="Rectangle 1071"/>
            <p:cNvSpPr>
              <a:spLocks noChangeArrowheads="1"/>
            </p:cNvSpPr>
            <p:nvPr/>
          </p:nvSpPr>
          <p:spPr bwMode="auto">
            <a:xfrm>
              <a:off x="2784" y="259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a</a:t>
              </a:r>
              <a:endParaRPr lang="en-US" sz="1200" dirty="0"/>
            </a:p>
          </p:txBody>
        </p:sp>
        <p:sp>
          <p:nvSpPr>
            <p:cNvPr id="68" name="Rectangle 1072"/>
            <p:cNvSpPr>
              <a:spLocks noChangeArrowheads="1"/>
            </p:cNvSpPr>
            <p:nvPr/>
          </p:nvSpPr>
          <p:spPr bwMode="auto">
            <a:xfrm>
              <a:off x="2784" y="283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err="1" smtClean="0"/>
                <a:t>b</a:t>
              </a:r>
              <a:endParaRPr lang="en-US" sz="1200" dirty="0"/>
            </a:p>
          </p:txBody>
        </p:sp>
        <p:sp>
          <p:nvSpPr>
            <p:cNvPr id="69" name="Rectangle 1073"/>
            <p:cNvSpPr>
              <a:spLocks noChangeArrowheads="1"/>
            </p:cNvSpPr>
            <p:nvPr/>
          </p:nvSpPr>
          <p:spPr bwMode="auto">
            <a:xfrm>
              <a:off x="2784" y="307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err="1" smtClean="0"/>
                <a:t>c</a:t>
              </a:r>
              <a:endParaRPr lang="en-US" sz="1200" dirty="0"/>
            </a:p>
          </p:txBody>
        </p:sp>
      </p:grpSp>
      <p:grpSp>
        <p:nvGrpSpPr>
          <p:cNvPr id="45" name="Group 1089"/>
          <p:cNvGrpSpPr>
            <a:grpSpLocks/>
          </p:cNvGrpSpPr>
          <p:nvPr/>
        </p:nvGrpSpPr>
        <p:grpSpPr bwMode="auto">
          <a:xfrm>
            <a:off x="2365040" y="4334563"/>
            <a:ext cx="999418" cy="1056736"/>
            <a:chOff x="720" y="2544"/>
            <a:chExt cx="1200" cy="1152"/>
          </a:xfrm>
          <a:noFill/>
        </p:grpSpPr>
        <p:sp>
          <p:nvSpPr>
            <p:cNvPr id="63" name="Rectangle 1062"/>
            <p:cNvSpPr>
              <a:spLocks noChangeArrowheads="1"/>
            </p:cNvSpPr>
            <p:nvPr/>
          </p:nvSpPr>
          <p:spPr bwMode="auto">
            <a:xfrm>
              <a:off x="720" y="2928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5</a:t>
              </a:r>
              <a:endParaRPr lang="en-US" sz="1200" dirty="0"/>
            </a:p>
          </p:txBody>
        </p:sp>
        <p:sp>
          <p:nvSpPr>
            <p:cNvPr id="64" name="Rectangle 1063"/>
            <p:cNvSpPr>
              <a:spLocks noChangeArrowheads="1"/>
            </p:cNvSpPr>
            <p:nvPr/>
          </p:nvSpPr>
          <p:spPr bwMode="auto">
            <a:xfrm>
              <a:off x="720" y="3312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FREE</a:t>
              </a:r>
              <a:endParaRPr lang="en-US" sz="1200" dirty="0"/>
            </a:p>
          </p:txBody>
        </p:sp>
        <p:sp>
          <p:nvSpPr>
            <p:cNvPr id="65" name="Rectangle 1074"/>
            <p:cNvSpPr>
              <a:spLocks noChangeArrowheads="1"/>
            </p:cNvSpPr>
            <p:nvPr/>
          </p:nvSpPr>
          <p:spPr bwMode="auto">
            <a:xfrm>
              <a:off x="720" y="2544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4</a:t>
              </a:r>
              <a:endParaRPr lang="en-US" sz="1200" dirty="0"/>
            </a:p>
          </p:txBody>
        </p:sp>
      </p:grpSp>
      <p:grpSp>
        <p:nvGrpSpPr>
          <p:cNvPr id="46" name="Group 1093"/>
          <p:cNvGrpSpPr>
            <a:grpSpLocks/>
          </p:cNvGrpSpPr>
          <p:nvPr/>
        </p:nvGrpSpPr>
        <p:grpSpPr bwMode="auto">
          <a:xfrm>
            <a:off x="2365040" y="3277827"/>
            <a:ext cx="1001609" cy="1056736"/>
            <a:chOff x="717" y="1392"/>
            <a:chExt cx="1203" cy="1152"/>
          </a:xfrm>
          <a:noFill/>
        </p:grpSpPr>
        <p:sp>
          <p:nvSpPr>
            <p:cNvPr id="60" name="Rectangle 1061"/>
            <p:cNvSpPr>
              <a:spLocks noChangeArrowheads="1"/>
            </p:cNvSpPr>
            <p:nvPr/>
          </p:nvSpPr>
          <p:spPr bwMode="auto">
            <a:xfrm>
              <a:off x="717" y="1392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61" name="Rectangle 1075"/>
            <p:cNvSpPr>
              <a:spLocks noChangeArrowheads="1"/>
            </p:cNvSpPr>
            <p:nvPr/>
          </p:nvSpPr>
          <p:spPr bwMode="auto">
            <a:xfrm>
              <a:off x="720" y="1776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  <p:sp>
          <p:nvSpPr>
            <p:cNvPr id="62" name="Rectangle 1081"/>
            <p:cNvSpPr>
              <a:spLocks noChangeArrowheads="1"/>
            </p:cNvSpPr>
            <p:nvPr/>
          </p:nvSpPr>
          <p:spPr bwMode="auto">
            <a:xfrm>
              <a:off x="720" y="2160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3</a:t>
              </a:r>
              <a:endParaRPr lang="en-US" sz="1200" dirty="0"/>
            </a:p>
          </p:txBody>
        </p:sp>
      </p:grpSp>
      <p:cxnSp>
        <p:nvCxnSpPr>
          <p:cNvPr id="47" name="AutoShape 1082"/>
          <p:cNvCxnSpPr>
            <a:cxnSpLocks noChangeShapeType="1"/>
          </p:cNvCxnSpPr>
          <p:nvPr/>
        </p:nvCxnSpPr>
        <p:spPr bwMode="auto">
          <a:xfrm>
            <a:off x="1807696" y="4435205"/>
            <a:ext cx="557344" cy="7548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48" name="AutoShape 1083"/>
          <p:cNvCxnSpPr>
            <a:cxnSpLocks noChangeShapeType="1"/>
          </p:cNvCxnSpPr>
          <p:nvPr/>
        </p:nvCxnSpPr>
        <p:spPr bwMode="auto">
          <a:xfrm>
            <a:off x="1807696" y="4686808"/>
            <a:ext cx="557344" cy="17612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grpSp>
        <p:nvGrpSpPr>
          <p:cNvPr id="50" name="Group 1099"/>
          <p:cNvGrpSpPr>
            <a:grpSpLocks/>
          </p:cNvGrpSpPr>
          <p:nvPr/>
        </p:nvGrpSpPr>
        <p:grpSpPr bwMode="auto">
          <a:xfrm>
            <a:off x="755677" y="2799780"/>
            <a:ext cx="1052019" cy="1157377"/>
            <a:chOff x="2784" y="1392"/>
            <a:chExt cx="1104" cy="1104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6" name="Rectangle 1077"/>
            <p:cNvSpPr>
              <a:spLocks noChangeArrowheads="1"/>
            </p:cNvSpPr>
            <p:nvPr/>
          </p:nvSpPr>
          <p:spPr bwMode="auto">
            <a:xfrm>
              <a:off x="2784" y="2112"/>
              <a:ext cx="1104" cy="38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 smtClean="0"/>
                <a:t>Process 1</a:t>
              </a:r>
              <a:endParaRPr lang="en-US" sz="1400" dirty="0"/>
            </a:p>
          </p:txBody>
        </p:sp>
        <p:sp>
          <p:nvSpPr>
            <p:cNvPr id="57" name="Rectangle 1078"/>
            <p:cNvSpPr>
              <a:spLocks noChangeArrowheads="1"/>
            </p:cNvSpPr>
            <p:nvPr/>
          </p:nvSpPr>
          <p:spPr bwMode="auto">
            <a:xfrm>
              <a:off x="2784" y="139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58" name="Rectangle 1079"/>
            <p:cNvSpPr>
              <a:spLocks noChangeArrowheads="1"/>
            </p:cNvSpPr>
            <p:nvPr/>
          </p:nvSpPr>
          <p:spPr bwMode="auto">
            <a:xfrm>
              <a:off x="2784" y="163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59" name="Rectangle 1080"/>
            <p:cNvSpPr>
              <a:spLocks noChangeArrowheads="1"/>
            </p:cNvSpPr>
            <p:nvPr/>
          </p:nvSpPr>
          <p:spPr bwMode="auto">
            <a:xfrm>
              <a:off x="2784" y="187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/>
                <a:t>c</a:t>
              </a:r>
            </a:p>
          </p:txBody>
        </p:sp>
      </p:grpSp>
      <p:cxnSp>
        <p:nvCxnSpPr>
          <p:cNvPr id="51" name="AutoShape 1086"/>
          <p:cNvCxnSpPr>
            <a:cxnSpLocks noChangeShapeType="1"/>
          </p:cNvCxnSpPr>
          <p:nvPr/>
        </p:nvCxnSpPr>
        <p:spPr bwMode="auto">
          <a:xfrm>
            <a:off x="1807696" y="3177186"/>
            <a:ext cx="557650" cy="62900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54" name="AutoShape 1104"/>
          <p:cNvCxnSpPr>
            <a:cxnSpLocks noChangeShapeType="1"/>
          </p:cNvCxnSpPr>
          <p:nvPr/>
        </p:nvCxnSpPr>
        <p:spPr bwMode="auto">
          <a:xfrm>
            <a:off x="1807696" y="2925582"/>
            <a:ext cx="557344" cy="5283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55" name="AutoShape 1105"/>
          <p:cNvCxnSpPr>
            <a:cxnSpLocks noChangeShapeType="1"/>
          </p:cNvCxnSpPr>
          <p:nvPr/>
        </p:nvCxnSpPr>
        <p:spPr bwMode="auto">
          <a:xfrm flipV="1">
            <a:off x="1807696" y="3957157"/>
            <a:ext cx="559842" cy="22644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sp>
        <p:nvSpPr>
          <p:cNvPr id="73" name="TextBox 72"/>
          <p:cNvSpPr txBox="1"/>
          <p:nvPr/>
        </p:nvSpPr>
        <p:spPr>
          <a:xfrm>
            <a:off x="610880" y="2253855"/>
            <a:ext cx="3103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Page Tables (virtual to physical)</a:t>
            </a:r>
            <a:endParaRPr lang="en-US" dirty="0"/>
          </a:p>
        </p:txBody>
      </p:sp>
      <p:sp>
        <p:nvSpPr>
          <p:cNvPr id="85" name="Rounded Rectangle 84"/>
          <p:cNvSpPr/>
          <p:nvPr/>
        </p:nvSpPr>
        <p:spPr>
          <a:xfrm>
            <a:off x="551706" y="2253855"/>
            <a:ext cx="3537967" cy="3582428"/>
          </a:xfrm>
          <a:prstGeom prst="roundRect">
            <a:avLst>
              <a:gd name="adj" fmla="val 5770"/>
            </a:avLst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1807696" y="5466951"/>
            <a:ext cx="51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</a:t>
            </a:r>
            <a:endParaRPr lang="en-US" dirty="0"/>
          </a:p>
        </p:txBody>
      </p:sp>
      <p:sp>
        <p:nvSpPr>
          <p:cNvPr id="87" name="Rectangle 1059"/>
          <p:cNvSpPr>
            <a:spLocks noChangeArrowheads="1"/>
          </p:cNvSpPr>
          <p:nvPr/>
        </p:nvSpPr>
        <p:spPr bwMode="auto">
          <a:xfrm>
            <a:off x="4346842" y="4334563"/>
            <a:ext cx="999418" cy="23147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pPr algn="ctr"/>
            <a:r>
              <a:rPr lang="en-US" sz="1400" dirty="0"/>
              <a:t>Physical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400" dirty="0" smtClean="0"/>
              <a:t>Address</a:t>
            </a:r>
            <a:endParaRPr lang="en-US" sz="1200" dirty="0"/>
          </a:p>
        </p:txBody>
      </p:sp>
      <p:grpSp>
        <p:nvGrpSpPr>
          <p:cNvPr id="88" name="Group 1098"/>
          <p:cNvGrpSpPr>
            <a:grpSpLocks/>
          </p:cNvGrpSpPr>
          <p:nvPr/>
        </p:nvGrpSpPr>
        <p:grpSpPr bwMode="auto">
          <a:xfrm>
            <a:off x="4344650" y="4888091"/>
            <a:ext cx="1001609" cy="1056736"/>
            <a:chOff x="4176" y="1248"/>
            <a:chExt cx="1203" cy="1152"/>
          </a:xfrm>
          <a:noFill/>
        </p:grpSpPr>
        <p:sp>
          <p:nvSpPr>
            <p:cNvPr id="89" name="Rectangle 1095"/>
            <p:cNvSpPr>
              <a:spLocks noChangeArrowheads="1"/>
            </p:cNvSpPr>
            <p:nvPr/>
          </p:nvSpPr>
          <p:spPr bwMode="auto">
            <a:xfrm>
              <a:off x="4176" y="1248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90" name="Rectangle 1096"/>
            <p:cNvSpPr>
              <a:spLocks noChangeArrowheads="1"/>
            </p:cNvSpPr>
            <p:nvPr/>
          </p:nvSpPr>
          <p:spPr bwMode="auto">
            <a:xfrm>
              <a:off x="4179" y="1632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91" name="Rectangle 1097"/>
            <p:cNvSpPr>
              <a:spLocks noChangeArrowheads="1"/>
            </p:cNvSpPr>
            <p:nvPr/>
          </p:nvSpPr>
          <p:spPr bwMode="auto">
            <a:xfrm>
              <a:off x="4179" y="2016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</p:grpSp>
      <p:grpSp>
        <p:nvGrpSpPr>
          <p:cNvPr id="92" name="Group 1089"/>
          <p:cNvGrpSpPr>
            <a:grpSpLocks/>
          </p:cNvGrpSpPr>
          <p:nvPr/>
        </p:nvGrpSpPr>
        <p:grpSpPr bwMode="auto">
          <a:xfrm>
            <a:off x="4346842" y="5944828"/>
            <a:ext cx="999418" cy="704491"/>
            <a:chOff x="720" y="2544"/>
            <a:chExt cx="1200" cy="768"/>
          </a:xfrm>
          <a:noFill/>
        </p:grpSpPr>
        <p:sp>
          <p:nvSpPr>
            <p:cNvPr id="93" name="Rectangle 1062"/>
            <p:cNvSpPr>
              <a:spLocks noChangeArrowheads="1"/>
            </p:cNvSpPr>
            <p:nvPr/>
          </p:nvSpPr>
          <p:spPr bwMode="auto">
            <a:xfrm>
              <a:off x="720" y="2928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5</a:t>
              </a:r>
              <a:endParaRPr lang="en-US" sz="1200" dirty="0"/>
            </a:p>
          </p:txBody>
        </p:sp>
        <p:sp>
          <p:nvSpPr>
            <p:cNvPr id="95" name="Rectangle 1074"/>
            <p:cNvSpPr>
              <a:spLocks noChangeArrowheads="1"/>
            </p:cNvSpPr>
            <p:nvPr/>
          </p:nvSpPr>
          <p:spPr bwMode="auto">
            <a:xfrm>
              <a:off x="720" y="2544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4</a:t>
              </a:r>
              <a:endParaRPr lang="en-US" sz="1200" dirty="0"/>
            </a:p>
          </p:txBody>
        </p:sp>
      </p:grpSp>
      <p:grpSp>
        <p:nvGrpSpPr>
          <p:cNvPr id="96" name="Group 1093"/>
          <p:cNvGrpSpPr>
            <a:grpSpLocks/>
          </p:cNvGrpSpPr>
          <p:nvPr/>
        </p:nvGrpSpPr>
        <p:grpSpPr bwMode="auto">
          <a:xfrm>
            <a:off x="4346842" y="4888091"/>
            <a:ext cx="1001609" cy="1056736"/>
            <a:chOff x="717" y="1392"/>
            <a:chExt cx="1203" cy="1152"/>
          </a:xfrm>
          <a:noFill/>
        </p:grpSpPr>
        <p:sp>
          <p:nvSpPr>
            <p:cNvPr id="97" name="Rectangle 1061"/>
            <p:cNvSpPr>
              <a:spLocks noChangeArrowheads="1"/>
            </p:cNvSpPr>
            <p:nvPr/>
          </p:nvSpPr>
          <p:spPr bwMode="auto">
            <a:xfrm>
              <a:off x="717" y="1392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98" name="Rectangle 1075"/>
            <p:cNvSpPr>
              <a:spLocks noChangeArrowheads="1"/>
            </p:cNvSpPr>
            <p:nvPr/>
          </p:nvSpPr>
          <p:spPr bwMode="auto">
            <a:xfrm>
              <a:off x="720" y="1776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  <p:sp>
          <p:nvSpPr>
            <p:cNvPr id="99" name="Rectangle 1081"/>
            <p:cNvSpPr>
              <a:spLocks noChangeArrowheads="1"/>
            </p:cNvSpPr>
            <p:nvPr/>
          </p:nvSpPr>
          <p:spPr bwMode="auto">
            <a:xfrm>
              <a:off x="720" y="2160"/>
              <a:ext cx="1200" cy="384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3</a:t>
              </a:r>
              <a:endParaRPr lang="en-US" sz="1200" dirty="0"/>
            </a:p>
          </p:txBody>
        </p:sp>
      </p:grpSp>
      <p:sp>
        <p:nvSpPr>
          <p:cNvPr id="107" name="Rectangle 1059"/>
          <p:cNvSpPr>
            <a:spLocks noChangeArrowheads="1"/>
          </p:cNvSpPr>
          <p:nvPr/>
        </p:nvSpPr>
        <p:spPr bwMode="auto">
          <a:xfrm>
            <a:off x="6156268" y="4334563"/>
            <a:ext cx="999418" cy="2314754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pPr algn="ctr"/>
            <a:r>
              <a:rPr lang="en-US" sz="1400" dirty="0" smtClean="0"/>
              <a:t>Machine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400" dirty="0" smtClean="0"/>
              <a:t>Address</a:t>
            </a:r>
            <a:endParaRPr lang="en-US" sz="1200" dirty="0"/>
          </a:p>
        </p:txBody>
      </p:sp>
      <p:grpSp>
        <p:nvGrpSpPr>
          <p:cNvPr id="108" name="Group 1098"/>
          <p:cNvGrpSpPr>
            <a:grpSpLocks/>
          </p:cNvGrpSpPr>
          <p:nvPr/>
        </p:nvGrpSpPr>
        <p:grpSpPr bwMode="auto">
          <a:xfrm>
            <a:off x="6154076" y="4888091"/>
            <a:ext cx="1001609" cy="1056736"/>
            <a:chOff x="4176" y="1248"/>
            <a:chExt cx="1203" cy="1152"/>
          </a:xfrm>
          <a:noFill/>
        </p:grpSpPr>
        <p:sp>
          <p:nvSpPr>
            <p:cNvPr id="109" name="Rectangle 1095"/>
            <p:cNvSpPr>
              <a:spLocks noChangeArrowheads="1"/>
            </p:cNvSpPr>
            <p:nvPr/>
          </p:nvSpPr>
          <p:spPr bwMode="auto">
            <a:xfrm>
              <a:off x="4176" y="1248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100</a:t>
              </a:r>
              <a:endParaRPr lang="en-US" sz="1200" dirty="0"/>
            </a:p>
          </p:txBody>
        </p:sp>
        <p:sp>
          <p:nvSpPr>
            <p:cNvPr id="110" name="Rectangle 1096"/>
            <p:cNvSpPr>
              <a:spLocks noChangeArrowheads="1"/>
            </p:cNvSpPr>
            <p:nvPr/>
          </p:nvSpPr>
          <p:spPr bwMode="auto">
            <a:xfrm>
              <a:off x="4179" y="1632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200</a:t>
              </a:r>
              <a:endParaRPr lang="en-US" sz="1200" dirty="0"/>
            </a:p>
          </p:txBody>
        </p:sp>
        <p:sp>
          <p:nvSpPr>
            <p:cNvPr id="111" name="Rectangle 1097"/>
            <p:cNvSpPr>
              <a:spLocks noChangeArrowheads="1"/>
            </p:cNvSpPr>
            <p:nvPr/>
          </p:nvSpPr>
          <p:spPr bwMode="auto">
            <a:xfrm>
              <a:off x="4179" y="2016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</p:grpSp>
      <p:grpSp>
        <p:nvGrpSpPr>
          <p:cNvPr id="112" name="Group 1089"/>
          <p:cNvGrpSpPr>
            <a:grpSpLocks/>
          </p:cNvGrpSpPr>
          <p:nvPr/>
        </p:nvGrpSpPr>
        <p:grpSpPr bwMode="auto">
          <a:xfrm>
            <a:off x="6156268" y="5944828"/>
            <a:ext cx="999418" cy="704491"/>
            <a:chOff x="720" y="2544"/>
            <a:chExt cx="1200" cy="768"/>
          </a:xfrm>
          <a:noFill/>
        </p:grpSpPr>
        <p:sp>
          <p:nvSpPr>
            <p:cNvPr id="113" name="Rectangle 1062"/>
            <p:cNvSpPr>
              <a:spLocks noChangeArrowheads="1"/>
            </p:cNvSpPr>
            <p:nvPr/>
          </p:nvSpPr>
          <p:spPr bwMode="auto">
            <a:xfrm>
              <a:off x="720" y="2928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500</a:t>
              </a:r>
              <a:endParaRPr lang="en-US" sz="1200" dirty="0"/>
            </a:p>
          </p:txBody>
        </p:sp>
        <p:sp>
          <p:nvSpPr>
            <p:cNvPr id="115" name="Rectangle 1074"/>
            <p:cNvSpPr>
              <a:spLocks noChangeArrowheads="1"/>
            </p:cNvSpPr>
            <p:nvPr/>
          </p:nvSpPr>
          <p:spPr bwMode="auto">
            <a:xfrm>
              <a:off x="720" y="2544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400</a:t>
              </a:r>
              <a:endParaRPr lang="en-US" sz="1200" dirty="0"/>
            </a:p>
          </p:txBody>
        </p:sp>
      </p:grpSp>
      <p:grpSp>
        <p:nvGrpSpPr>
          <p:cNvPr id="116" name="Group 1093"/>
          <p:cNvGrpSpPr>
            <a:grpSpLocks/>
          </p:cNvGrpSpPr>
          <p:nvPr/>
        </p:nvGrpSpPr>
        <p:grpSpPr bwMode="auto">
          <a:xfrm>
            <a:off x="6156268" y="4888091"/>
            <a:ext cx="1001609" cy="1056736"/>
            <a:chOff x="717" y="1392"/>
            <a:chExt cx="1203" cy="1152"/>
          </a:xfrm>
          <a:noFill/>
        </p:grpSpPr>
        <p:sp>
          <p:nvSpPr>
            <p:cNvPr id="117" name="Rectangle 1061"/>
            <p:cNvSpPr>
              <a:spLocks noChangeArrowheads="1"/>
            </p:cNvSpPr>
            <p:nvPr/>
          </p:nvSpPr>
          <p:spPr bwMode="auto">
            <a:xfrm>
              <a:off x="717" y="1392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  <p:sp>
          <p:nvSpPr>
            <p:cNvPr id="118" name="Rectangle 1075"/>
            <p:cNvSpPr>
              <a:spLocks noChangeArrowheads="1"/>
            </p:cNvSpPr>
            <p:nvPr/>
          </p:nvSpPr>
          <p:spPr bwMode="auto">
            <a:xfrm>
              <a:off x="720" y="1776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1200" dirty="0"/>
            </a:p>
          </p:txBody>
        </p:sp>
        <p:sp>
          <p:nvSpPr>
            <p:cNvPr id="119" name="Rectangle 1081"/>
            <p:cNvSpPr>
              <a:spLocks noChangeArrowheads="1"/>
            </p:cNvSpPr>
            <p:nvPr/>
          </p:nvSpPr>
          <p:spPr bwMode="auto">
            <a:xfrm>
              <a:off x="720" y="2160"/>
              <a:ext cx="1200" cy="384"/>
            </a:xfrm>
            <a:prstGeom prst="rect">
              <a:avLst/>
            </a:prstGeom>
            <a:grpFill/>
            <a:ln w="25400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300</a:t>
              </a:r>
              <a:endParaRPr lang="en-US" sz="1200" dirty="0"/>
            </a:p>
          </p:txBody>
        </p:sp>
      </p:grpSp>
      <p:cxnSp>
        <p:nvCxnSpPr>
          <p:cNvPr id="120" name="AutoShape 1104"/>
          <p:cNvCxnSpPr>
            <a:cxnSpLocks noChangeShapeType="1"/>
          </p:cNvCxnSpPr>
          <p:nvPr/>
        </p:nvCxnSpPr>
        <p:spPr bwMode="auto">
          <a:xfrm>
            <a:off x="5343761" y="5001633"/>
            <a:ext cx="812507" cy="6258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22" name="AutoShape 1104"/>
          <p:cNvCxnSpPr>
            <a:cxnSpLocks noChangeShapeType="1"/>
          </p:cNvCxnSpPr>
          <p:nvPr/>
        </p:nvCxnSpPr>
        <p:spPr bwMode="auto">
          <a:xfrm flipV="1">
            <a:off x="5341569" y="5416459"/>
            <a:ext cx="817197" cy="3789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24" name="AutoShape 1104"/>
          <p:cNvCxnSpPr>
            <a:cxnSpLocks noChangeShapeType="1"/>
          </p:cNvCxnSpPr>
          <p:nvPr/>
        </p:nvCxnSpPr>
        <p:spPr bwMode="auto">
          <a:xfrm flipV="1">
            <a:off x="5348451" y="5768705"/>
            <a:ext cx="810315" cy="9273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27" name="AutoShape 1104"/>
          <p:cNvCxnSpPr>
            <a:cxnSpLocks noChangeShapeType="1"/>
          </p:cNvCxnSpPr>
          <p:nvPr/>
        </p:nvCxnSpPr>
        <p:spPr bwMode="auto">
          <a:xfrm>
            <a:off x="5346260" y="6120950"/>
            <a:ext cx="810008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30" name="AutoShape 1104"/>
          <p:cNvCxnSpPr>
            <a:cxnSpLocks noChangeShapeType="1"/>
          </p:cNvCxnSpPr>
          <p:nvPr/>
        </p:nvCxnSpPr>
        <p:spPr bwMode="auto">
          <a:xfrm>
            <a:off x="5346260" y="6473195"/>
            <a:ext cx="810008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sp>
        <p:nvSpPr>
          <p:cNvPr id="133" name="TextBox 132"/>
          <p:cNvSpPr txBox="1"/>
          <p:nvPr/>
        </p:nvSpPr>
        <p:spPr>
          <a:xfrm>
            <a:off x="4846435" y="3873133"/>
            <a:ext cx="120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Hypervisor</a:t>
            </a:r>
            <a:endParaRPr lang="en-US" dirty="0"/>
          </a:p>
        </p:txBody>
      </p:sp>
      <p:sp>
        <p:nvSpPr>
          <p:cNvPr id="134" name="Rectangle 1059"/>
          <p:cNvSpPr>
            <a:spLocks noChangeArrowheads="1"/>
          </p:cNvSpPr>
          <p:nvPr/>
        </p:nvSpPr>
        <p:spPr bwMode="auto">
          <a:xfrm>
            <a:off x="7339461" y="2121888"/>
            <a:ext cx="999418" cy="1258019"/>
          </a:xfrm>
          <a:prstGeom prst="rect">
            <a:avLst/>
          </a:prstGeom>
          <a:noFill/>
          <a:ln w="25400">
            <a:solidFill>
              <a:srgbClr val="4F6228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pPr algn="ctr"/>
            <a:r>
              <a:rPr lang="en-US" sz="1400" dirty="0" smtClean="0"/>
              <a:t>Machine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400" dirty="0" smtClean="0"/>
              <a:t>Address</a:t>
            </a:r>
            <a:endParaRPr lang="en-US" sz="1200" dirty="0"/>
          </a:p>
        </p:txBody>
      </p:sp>
      <p:sp>
        <p:nvSpPr>
          <p:cNvPr id="136" name="Rectangle 1095"/>
          <p:cNvSpPr>
            <a:spLocks noChangeArrowheads="1"/>
          </p:cNvSpPr>
          <p:nvPr/>
        </p:nvSpPr>
        <p:spPr bwMode="auto">
          <a:xfrm>
            <a:off x="7337269" y="2675416"/>
            <a:ext cx="999111" cy="352245"/>
          </a:xfrm>
          <a:prstGeom prst="rect">
            <a:avLst/>
          </a:prstGeom>
          <a:noFill/>
          <a:ln w="25400">
            <a:solidFill>
              <a:srgbClr val="4F6228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200" dirty="0" smtClean="0"/>
              <a:t>1</a:t>
            </a:r>
            <a:endParaRPr lang="en-US" sz="1200" dirty="0"/>
          </a:p>
        </p:txBody>
      </p:sp>
      <p:sp>
        <p:nvSpPr>
          <p:cNvPr id="137" name="Rectangle 1096"/>
          <p:cNvSpPr>
            <a:spLocks noChangeArrowheads="1"/>
          </p:cNvSpPr>
          <p:nvPr/>
        </p:nvSpPr>
        <p:spPr bwMode="auto">
          <a:xfrm>
            <a:off x="7339767" y="3027661"/>
            <a:ext cx="999111" cy="352245"/>
          </a:xfrm>
          <a:prstGeom prst="rect">
            <a:avLst/>
          </a:prstGeom>
          <a:noFill/>
          <a:ln w="25400">
            <a:solidFill>
              <a:srgbClr val="4F6228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200" dirty="0" smtClean="0"/>
              <a:t>2</a:t>
            </a:r>
            <a:endParaRPr lang="en-US" sz="1200" dirty="0"/>
          </a:p>
        </p:txBody>
      </p:sp>
      <p:grpSp>
        <p:nvGrpSpPr>
          <p:cNvPr id="139" name="Group 1088"/>
          <p:cNvGrpSpPr>
            <a:grpSpLocks/>
          </p:cNvGrpSpPr>
          <p:nvPr/>
        </p:nvGrpSpPr>
        <p:grpSpPr bwMode="auto">
          <a:xfrm>
            <a:off x="5730098" y="2975903"/>
            <a:ext cx="1052019" cy="654169"/>
            <a:chOff x="2784" y="3072"/>
            <a:chExt cx="1104" cy="62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40" name="Rectangle 1035"/>
            <p:cNvSpPr>
              <a:spLocks noChangeArrowheads="1"/>
            </p:cNvSpPr>
            <p:nvPr/>
          </p:nvSpPr>
          <p:spPr bwMode="auto">
            <a:xfrm>
              <a:off x="2784" y="3312"/>
              <a:ext cx="1104" cy="38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 smtClean="0"/>
                <a:t>Process 2</a:t>
              </a:r>
              <a:endParaRPr lang="en-US" sz="1400" dirty="0"/>
            </a:p>
          </p:txBody>
        </p:sp>
        <p:sp>
          <p:nvSpPr>
            <p:cNvPr id="143" name="Rectangle 1073"/>
            <p:cNvSpPr>
              <a:spLocks noChangeArrowheads="1"/>
            </p:cNvSpPr>
            <p:nvPr/>
          </p:nvSpPr>
          <p:spPr bwMode="auto">
            <a:xfrm>
              <a:off x="2784" y="307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err="1" smtClean="0"/>
                <a:t>c</a:t>
              </a:r>
              <a:endParaRPr lang="en-US" sz="1200" dirty="0"/>
            </a:p>
          </p:txBody>
        </p:sp>
      </p:grpSp>
      <p:grpSp>
        <p:nvGrpSpPr>
          <p:cNvPr id="154" name="Group 1099"/>
          <p:cNvGrpSpPr>
            <a:grpSpLocks/>
          </p:cNvGrpSpPr>
          <p:nvPr/>
        </p:nvGrpSpPr>
        <p:grpSpPr bwMode="auto">
          <a:xfrm>
            <a:off x="5632756" y="1969018"/>
            <a:ext cx="1052019" cy="654169"/>
            <a:chOff x="2784" y="1872"/>
            <a:chExt cx="1104" cy="624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55" name="Rectangle 1077"/>
            <p:cNvSpPr>
              <a:spLocks noChangeArrowheads="1"/>
            </p:cNvSpPr>
            <p:nvPr/>
          </p:nvSpPr>
          <p:spPr bwMode="auto">
            <a:xfrm>
              <a:off x="2784" y="2112"/>
              <a:ext cx="1104" cy="38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 smtClean="0"/>
                <a:t>Process 1</a:t>
              </a:r>
              <a:endParaRPr lang="en-US" sz="1400" dirty="0"/>
            </a:p>
          </p:txBody>
        </p:sp>
        <p:sp>
          <p:nvSpPr>
            <p:cNvPr id="158" name="Rectangle 1080"/>
            <p:cNvSpPr>
              <a:spLocks noChangeArrowheads="1"/>
            </p:cNvSpPr>
            <p:nvPr/>
          </p:nvSpPr>
          <p:spPr bwMode="auto">
            <a:xfrm>
              <a:off x="2784" y="1872"/>
              <a:ext cx="1104" cy="24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1200" dirty="0" smtClean="0"/>
                <a:t>a</a:t>
              </a:r>
              <a:endParaRPr lang="en-US" sz="1200" dirty="0"/>
            </a:p>
          </p:txBody>
        </p:sp>
      </p:grpSp>
      <p:cxnSp>
        <p:nvCxnSpPr>
          <p:cNvPr id="160" name="AutoShape 1104"/>
          <p:cNvCxnSpPr>
            <a:cxnSpLocks noChangeShapeType="1"/>
            <a:endCxn id="136" idx="1"/>
          </p:cNvCxnSpPr>
          <p:nvPr/>
        </p:nvCxnSpPr>
        <p:spPr bwMode="auto">
          <a:xfrm>
            <a:off x="6684775" y="2421904"/>
            <a:ext cx="652494" cy="42963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61" name="AutoShape 1105"/>
          <p:cNvCxnSpPr>
            <a:cxnSpLocks noChangeShapeType="1"/>
            <a:endCxn id="137" idx="1"/>
          </p:cNvCxnSpPr>
          <p:nvPr/>
        </p:nvCxnSpPr>
        <p:spPr bwMode="auto">
          <a:xfrm flipV="1">
            <a:off x="6782117" y="3203784"/>
            <a:ext cx="557650" cy="22500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sp>
        <p:nvSpPr>
          <p:cNvPr id="168" name="TextBox 167"/>
          <p:cNvSpPr txBox="1"/>
          <p:nvPr/>
        </p:nvSpPr>
        <p:spPr>
          <a:xfrm>
            <a:off x="7337269" y="5298496"/>
            <a:ext cx="1469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Physical to</a:t>
            </a:r>
          </a:p>
          <a:p>
            <a:pPr algn="ctr"/>
            <a:r>
              <a:rPr lang="en-US" dirty="0" smtClean="0"/>
              <a:t>Machine map</a:t>
            </a:r>
            <a:endParaRPr lang="en-US" dirty="0"/>
          </a:p>
        </p:txBody>
      </p:sp>
      <p:sp>
        <p:nvSpPr>
          <p:cNvPr id="169" name="TextBox 168"/>
          <p:cNvSpPr txBox="1"/>
          <p:nvPr/>
        </p:nvSpPr>
        <p:spPr>
          <a:xfrm>
            <a:off x="6749305" y="3335986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Shadow page tables</a:t>
            </a:r>
            <a:endParaRPr lang="en-US" dirty="0"/>
          </a:p>
        </p:txBody>
      </p:sp>
      <p:sp>
        <p:nvSpPr>
          <p:cNvPr id="171" name="Oval 170"/>
          <p:cNvSpPr/>
          <p:nvPr/>
        </p:nvSpPr>
        <p:spPr>
          <a:xfrm>
            <a:off x="4379303" y="1969018"/>
            <a:ext cx="678480" cy="671727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/>
          <p:cNvSpPr txBox="1"/>
          <p:nvPr/>
        </p:nvSpPr>
        <p:spPr>
          <a:xfrm>
            <a:off x="4405398" y="2121888"/>
            <a:ext cx="57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173" name="Right Arrow 172"/>
          <p:cNvSpPr/>
          <p:nvPr/>
        </p:nvSpPr>
        <p:spPr>
          <a:xfrm>
            <a:off x="5027820" y="2253855"/>
            <a:ext cx="604936" cy="18466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4635086" y="3042840"/>
            <a:ext cx="422697" cy="402566"/>
          </a:xfrm>
          <a:prstGeom prst="ellipse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TextBox 174"/>
          <p:cNvSpPr txBox="1"/>
          <p:nvPr/>
        </p:nvSpPr>
        <p:spPr>
          <a:xfrm>
            <a:off x="4680413" y="30428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176" name="Rounded Rectangle 175"/>
          <p:cNvSpPr/>
          <p:nvPr/>
        </p:nvSpPr>
        <p:spPr>
          <a:xfrm>
            <a:off x="5388893" y="1729674"/>
            <a:ext cx="3417385" cy="2076521"/>
          </a:xfrm>
          <a:prstGeom prst="roundRect">
            <a:avLst>
              <a:gd name="adj" fmla="val 5770"/>
            </a:avLst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Arrow Connector 177"/>
          <p:cNvCxnSpPr>
            <a:stCxn id="87" idx="0"/>
            <a:endCxn id="174" idx="4"/>
          </p:cNvCxnSpPr>
          <p:nvPr/>
        </p:nvCxnSpPr>
        <p:spPr>
          <a:xfrm rot="16200000" flipV="1">
            <a:off x="4401915" y="3889927"/>
            <a:ext cx="889157" cy="1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>
            <a:endCxn id="175" idx="1"/>
          </p:cNvCxnSpPr>
          <p:nvPr/>
        </p:nvCxnSpPr>
        <p:spPr>
          <a:xfrm>
            <a:off x="4089673" y="3227506"/>
            <a:ext cx="5907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74" idx="6"/>
          </p:cNvCxnSpPr>
          <p:nvPr/>
        </p:nvCxnSpPr>
        <p:spPr>
          <a:xfrm>
            <a:off x="5057783" y="3244123"/>
            <a:ext cx="33111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Oversubscription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599"/>
            <a:ext cx="8229600" cy="544036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Populate on demand: </a:t>
            </a:r>
            <a:r>
              <a:rPr lang="en-US" sz="2400" dirty="0" smtClean="0"/>
              <a:t>only works one way</a:t>
            </a:r>
          </a:p>
          <a:p>
            <a:r>
              <a:rPr lang="en-US" sz="2800" dirty="0" smtClean="0"/>
              <a:t>Hypervisor paging</a:t>
            </a:r>
          </a:p>
          <a:p>
            <a:pPr lvl="1"/>
            <a:r>
              <a:rPr lang="en-US" sz="2162" dirty="0" smtClean="0"/>
              <a:t>To disk: IO-bound</a:t>
            </a:r>
          </a:p>
          <a:p>
            <a:pPr lvl="1"/>
            <a:r>
              <a:rPr lang="en-US" sz="2162" dirty="0" smtClean="0"/>
              <a:t>Network memory: </a:t>
            </a:r>
            <a:r>
              <a:rPr lang="en-US" sz="2162" dirty="0" err="1" smtClean="0"/>
              <a:t>Overdriver</a:t>
            </a:r>
            <a:r>
              <a:rPr lang="en-US" sz="2162" dirty="0" smtClean="0"/>
              <a:t> [VEE’11]</a:t>
            </a:r>
            <a:endParaRPr lang="en-US" sz="2000" dirty="0" smtClean="0"/>
          </a:p>
          <a:p>
            <a:r>
              <a:rPr lang="en-US" sz="2800" dirty="0" smtClean="0"/>
              <a:t>Ballooning [Waldspurger’02]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Respect guest OS paging policies</a:t>
            </a:r>
          </a:p>
          <a:p>
            <a:pPr lvl="1"/>
            <a:r>
              <a:rPr lang="en-US" sz="2400" dirty="0" smtClean="0"/>
              <a:t>Allocates memory to free memory</a:t>
            </a:r>
          </a:p>
          <a:p>
            <a:pPr lvl="1"/>
            <a:r>
              <a:rPr lang="en-US" sz="2400" dirty="0" smtClean="0"/>
              <a:t>When to stop? Handle with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8937" y="3460761"/>
            <a:ext cx="1621568" cy="142886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8937" y="3091429"/>
            <a:ext cx="51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98814" y="34607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Guest OS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49027" y="4243298"/>
            <a:ext cx="891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Balloon </a:t>
            </a:r>
          </a:p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30872" y="3442914"/>
            <a:ext cx="710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VMM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235542" y="3460761"/>
            <a:ext cx="1621568" cy="142886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235542" y="3091429"/>
            <a:ext cx="51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VM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35281" y="3460761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Guest OS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165741" y="4889629"/>
            <a:ext cx="891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Balloon </a:t>
            </a:r>
          </a:p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15" name="Can 14"/>
          <p:cNvSpPr/>
          <p:nvPr/>
        </p:nvSpPr>
        <p:spPr>
          <a:xfrm>
            <a:off x="7540859" y="3377410"/>
            <a:ext cx="612340" cy="750128"/>
          </a:xfrm>
          <a:prstGeom prst="can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6845888" y="3535247"/>
            <a:ext cx="694971" cy="217227"/>
          </a:xfrm>
          <a:prstGeom prst="rightArrow">
            <a:avLst/>
          </a:prstGeom>
          <a:noFill/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8" name="Straight Connector 27"/>
          <p:cNvCxnSpPr/>
          <p:nvPr/>
        </p:nvCxnSpPr>
        <p:spPr>
          <a:xfrm>
            <a:off x="5235542" y="3793150"/>
            <a:ext cx="1610346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18937" y="3791562"/>
            <a:ext cx="1610346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30872" y="4010377"/>
            <a:ext cx="9773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Release</a:t>
            </a:r>
          </a:p>
          <a:p>
            <a:pPr algn="ctr"/>
            <a:r>
              <a:rPr lang="en-US" dirty="0" smtClean="0"/>
              <a:t>pages to</a:t>
            </a:r>
          </a:p>
          <a:p>
            <a:pPr algn="ctr"/>
            <a:r>
              <a:rPr lang="en-US" dirty="0" smtClean="0"/>
              <a:t>VMM 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845888" y="3752474"/>
            <a:ext cx="80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OS </a:t>
            </a:r>
          </a:p>
          <a:p>
            <a:pPr algn="ctr"/>
            <a:r>
              <a:rPr lang="en-US" dirty="0" smtClean="0"/>
              <a:t>paging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912175" y="3460761"/>
            <a:ext cx="1196060" cy="33397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hape 32"/>
          <p:cNvCxnSpPr/>
          <p:nvPr/>
        </p:nvCxnSpPr>
        <p:spPr>
          <a:xfrm rot="10800000">
            <a:off x="4501836" y="3830094"/>
            <a:ext cx="733706" cy="511296"/>
          </a:xfrm>
          <a:prstGeom prst="curvedConnector3">
            <a:avLst>
              <a:gd name="adj1" fmla="val 9945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ght Arrow 36"/>
          <p:cNvSpPr/>
          <p:nvPr/>
        </p:nvSpPr>
        <p:spPr>
          <a:xfrm>
            <a:off x="2922374" y="4193041"/>
            <a:ext cx="989801" cy="184667"/>
          </a:xfrm>
          <a:prstGeom prst="rightArrow">
            <a:avLst>
              <a:gd name="adj1" fmla="val 51283"/>
              <a:gd name="adj2" fmla="val 55266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extBox 37"/>
          <p:cNvSpPr txBox="1"/>
          <p:nvPr/>
        </p:nvSpPr>
        <p:spPr>
          <a:xfrm>
            <a:off x="2739558" y="4427964"/>
            <a:ext cx="1319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Inflating the</a:t>
            </a:r>
          </a:p>
          <a:p>
            <a:pPr algn="ctr"/>
            <a:r>
              <a:rPr lang="en-US" dirty="0" smtClean="0"/>
              <a:t>Balloon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rcRect l="17723" r="17723" b="19938"/>
          <a:stretch>
            <a:fillRect/>
          </a:stretch>
        </p:blipFill>
        <p:spPr>
          <a:xfrm>
            <a:off x="1553600" y="4398805"/>
            <a:ext cx="295427" cy="36639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rcRect l="17723" r="17723" b="19938"/>
          <a:stretch>
            <a:fillRect/>
          </a:stretch>
        </p:blipFill>
        <p:spPr>
          <a:xfrm>
            <a:off x="5320247" y="3884385"/>
            <a:ext cx="736972" cy="914009"/>
          </a:xfrm>
          <a:prstGeom prst="rect">
            <a:avLst/>
          </a:prstGeom>
        </p:spPr>
      </p:pic>
      <p:cxnSp>
        <p:nvCxnSpPr>
          <p:cNvPr id="22" name="Shape 21"/>
          <p:cNvCxnSpPr/>
          <p:nvPr/>
        </p:nvCxnSpPr>
        <p:spPr>
          <a:xfrm flipH="1">
            <a:off x="5965632" y="3830093"/>
            <a:ext cx="502076" cy="597871"/>
          </a:xfrm>
          <a:prstGeom prst="curvedConnector4">
            <a:avLst>
              <a:gd name="adj1" fmla="val -9394"/>
              <a:gd name="adj2" fmla="val 10148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06170" y="4427964"/>
            <a:ext cx="9397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Allocate</a:t>
            </a:r>
          </a:p>
          <a:p>
            <a:pPr algn="ctr"/>
            <a:r>
              <a:rPr lang="en-US" dirty="0" smtClean="0"/>
              <a:t>pinned </a:t>
            </a:r>
          </a:p>
          <a:p>
            <a:pPr algn="ctr"/>
            <a:r>
              <a:rPr lang="en-US" dirty="0" smtClean="0"/>
              <a:t>pages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 smtClean="0"/>
              <a:t>Memory Consolidation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45364"/>
            <a:ext cx="8444415" cy="5443306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Trade computation for memory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sz="2400" dirty="0" smtClean="0"/>
          </a:p>
          <a:p>
            <a:r>
              <a:rPr lang="en-US" sz="2400" dirty="0" smtClean="0"/>
              <a:t>Memory Buddies [VEE’09]</a:t>
            </a:r>
          </a:p>
          <a:p>
            <a:pPr lvl="1"/>
            <a:r>
              <a:rPr lang="en-US" sz="2000" dirty="0" smtClean="0"/>
              <a:t>Bloom filters to compare cross-machine similarity and find migration targets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645869" y="1705154"/>
            <a:ext cx="2790041" cy="2667000"/>
            <a:chOff x="838643" y="2057400"/>
            <a:chExt cx="4041775" cy="4038600"/>
          </a:xfrm>
        </p:grpSpPr>
        <p:sp>
          <p:nvSpPr>
            <p:cNvPr id="5" name="Rectangle 1059"/>
            <p:cNvSpPr>
              <a:spLocks noChangeArrowheads="1"/>
            </p:cNvSpPr>
            <p:nvPr/>
          </p:nvSpPr>
          <p:spPr bwMode="auto">
            <a:xfrm>
              <a:off x="841818" y="2057400"/>
              <a:ext cx="1447800" cy="4038600"/>
            </a:xfrm>
            <a:prstGeom prst="rect">
              <a:avLst/>
            </a:prstGeom>
            <a:solidFill>
              <a:srgbClr val="B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/>
                <a:t>Physical</a:t>
              </a:r>
              <a:r>
                <a:rPr lang="en-US" sz="1200" dirty="0"/>
                <a:t/>
              </a:r>
              <a:br>
                <a:rPr lang="en-US" sz="1200" dirty="0"/>
              </a:br>
              <a:r>
                <a:rPr lang="en-US" sz="1400" dirty="0"/>
                <a:t>RAM</a:t>
              </a:r>
              <a:endParaRPr lang="en-US" sz="1200" dirty="0"/>
            </a:p>
          </p:txBody>
        </p:sp>
        <p:grpSp>
          <p:nvGrpSpPr>
            <p:cNvPr id="6" name="Group 1098"/>
            <p:cNvGrpSpPr>
              <a:grpSpLocks/>
            </p:cNvGrpSpPr>
            <p:nvPr/>
          </p:nvGrpSpPr>
          <p:grpSpPr bwMode="auto">
            <a:xfrm>
              <a:off x="838643" y="2895600"/>
              <a:ext cx="1450975" cy="1600200"/>
              <a:chOff x="4176" y="1248"/>
              <a:chExt cx="1203" cy="1152"/>
            </a:xfrm>
          </p:grpSpPr>
          <p:sp>
            <p:nvSpPr>
              <p:cNvPr id="7" name="Rectangle 1095"/>
              <p:cNvSpPr>
                <a:spLocks noChangeArrowheads="1"/>
              </p:cNvSpPr>
              <p:nvPr/>
            </p:nvSpPr>
            <p:spPr bwMode="auto">
              <a:xfrm>
                <a:off x="4176" y="1248"/>
                <a:ext cx="1200" cy="38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FREE</a:t>
                </a:r>
              </a:p>
            </p:txBody>
          </p:sp>
          <p:sp>
            <p:nvSpPr>
              <p:cNvPr id="8" name="Rectangle 1096"/>
              <p:cNvSpPr>
                <a:spLocks noChangeArrowheads="1"/>
              </p:cNvSpPr>
              <p:nvPr/>
            </p:nvSpPr>
            <p:spPr bwMode="auto">
              <a:xfrm>
                <a:off x="4179" y="1632"/>
                <a:ext cx="1200" cy="384"/>
              </a:xfrm>
              <a:prstGeom prst="rect">
                <a:avLst/>
              </a:prstGeom>
              <a:solidFill>
                <a:srgbClr val="FFA135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D</a:t>
                </a:r>
              </a:p>
            </p:txBody>
          </p:sp>
          <p:sp>
            <p:nvSpPr>
              <p:cNvPr id="9" name="Rectangle 1097"/>
              <p:cNvSpPr>
                <a:spLocks noChangeArrowheads="1"/>
              </p:cNvSpPr>
              <p:nvPr/>
            </p:nvSpPr>
            <p:spPr bwMode="auto">
              <a:xfrm>
                <a:off x="4179" y="2016"/>
                <a:ext cx="1200" cy="38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FREE</a:t>
                </a:r>
              </a:p>
            </p:txBody>
          </p:sp>
        </p:grpSp>
        <p:grpSp>
          <p:nvGrpSpPr>
            <p:cNvPr id="10" name="Group 1088"/>
            <p:cNvGrpSpPr>
              <a:grpSpLocks/>
            </p:cNvGrpSpPr>
            <p:nvPr/>
          </p:nvGrpSpPr>
          <p:grpSpPr bwMode="auto">
            <a:xfrm>
              <a:off x="3356418" y="4343400"/>
              <a:ext cx="1524000" cy="1752600"/>
              <a:chOff x="2784" y="2592"/>
              <a:chExt cx="1104" cy="1104"/>
            </a:xfrm>
          </p:grpSpPr>
          <p:sp>
            <p:nvSpPr>
              <p:cNvPr id="11" name="Rectangle 1035"/>
              <p:cNvSpPr>
                <a:spLocks noChangeArrowheads="1"/>
              </p:cNvSpPr>
              <p:nvPr/>
            </p:nvSpPr>
            <p:spPr bwMode="auto">
              <a:xfrm>
                <a:off x="2784" y="3312"/>
                <a:ext cx="1104" cy="38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dirty="0"/>
                  <a:t>VM 1</a:t>
                </a:r>
                <a:br>
                  <a:rPr lang="en-US" sz="1400" dirty="0"/>
                </a:br>
                <a:r>
                  <a:rPr lang="en-US" sz="1400" dirty="0"/>
                  <a:t>Page Table</a:t>
                </a:r>
              </a:p>
            </p:txBody>
          </p:sp>
          <p:sp>
            <p:nvSpPr>
              <p:cNvPr id="12" name="Rectangle 1071"/>
              <p:cNvSpPr>
                <a:spLocks noChangeArrowheads="1"/>
              </p:cNvSpPr>
              <p:nvPr/>
            </p:nvSpPr>
            <p:spPr bwMode="auto">
              <a:xfrm>
                <a:off x="2784" y="2592"/>
                <a:ext cx="1104" cy="24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A</a:t>
                </a:r>
              </a:p>
            </p:txBody>
          </p:sp>
          <p:sp>
            <p:nvSpPr>
              <p:cNvPr id="13" name="Rectangle 1072"/>
              <p:cNvSpPr>
                <a:spLocks noChangeArrowheads="1"/>
              </p:cNvSpPr>
              <p:nvPr/>
            </p:nvSpPr>
            <p:spPr bwMode="auto">
              <a:xfrm>
                <a:off x="2784" y="2832"/>
                <a:ext cx="1104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  <p:sp>
            <p:nvSpPr>
              <p:cNvPr id="14" name="Rectangle 1073"/>
              <p:cNvSpPr>
                <a:spLocks noChangeArrowheads="1"/>
              </p:cNvSpPr>
              <p:nvPr/>
            </p:nvSpPr>
            <p:spPr bwMode="auto">
              <a:xfrm>
                <a:off x="2784" y="3072"/>
                <a:ext cx="1104" cy="24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C</a:t>
                </a:r>
              </a:p>
            </p:txBody>
          </p:sp>
        </p:grpSp>
        <p:grpSp>
          <p:nvGrpSpPr>
            <p:cNvPr id="15" name="Group 1089"/>
            <p:cNvGrpSpPr>
              <a:grpSpLocks/>
            </p:cNvGrpSpPr>
            <p:nvPr/>
          </p:nvGrpSpPr>
          <p:grpSpPr bwMode="auto">
            <a:xfrm>
              <a:off x="841818" y="4495800"/>
              <a:ext cx="1447800" cy="1600200"/>
              <a:chOff x="720" y="2544"/>
              <a:chExt cx="1200" cy="1152"/>
            </a:xfrm>
          </p:grpSpPr>
          <p:sp>
            <p:nvSpPr>
              <p:cNvPr id="16" name="Rectangle 1062"/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1200" cy="38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  <p:sp>
            <p:nvSpPr>
              <p:cNvPr id="17" name="Rectangle 1063"/>
              <p:cNvSpPr>
                <a:spLocks noChangeArrowheads="1"/>
              </p:cNvSpPr>
              <p:nvPr/>
            </p:nvSpPr>
            <p:spPr bwMode="auto">
              <a:xfrm>
                <a:off x="720" y="3312"/>
                <a:ext cx="1200" cy="38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C</a:t>
                </a:r>
              </a:p>
            </p:txBody>
          </p:sp>
          <p:sp>
            <p:nvSpPr>
              <p:cNvPr id="18" name="Rectangle 1074"/>
              <p:cNvSpPr>
                <a:spLocks noChangeArrowheads="1"/>
              </p:cNvSpPr>
              <p:nvPr/>
            </p:nvSpPr>
            <p:spPr bwMode="auto">
              <a:xfrm>
                <a:off x="720" y="2544"/>
                <a:ext cx="1200" cy="38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 dirty="0"/>
                  <a:t>A</a:t>
                </a:r>
              </a:p>
            </p:txBody>
          </p:sp>
        </p:grpSp>
        <p:grpSp>
          <p:nvGrpSpPr>
            <p:cNvPr id="19" name="Group 1093"/>
            <p:cNvGrpSpPr>
              <a:grpSpLocks/>
            </p:cNvGrpSpPr>
            <p:nvPr/>
          </p:nvGrpSpPr>
          <p:grpSpPr bwMode="auto">
            <a:xfrm>
              <a:off x="841818" y="2895600"/>
              <a:ext cx="1450975" cy="1600200"/>
              <a:chOff x="717" y="1392"/>
              <a:chExt cx="1203" cy="1152"/>
            </a:xfrm>
          </p:grpSpPr>
          <p:sp>
            <p:nvSpPr>
              <p:cNvPr id="20" name="Rectangle 1061"/>
              <p:cNvSpPr>
                <a:spLocks noChangeArrowheads="1"/>
              </p:cNvSpPr>
              <p:nvPr/>
            </p:nvSpPr>
            <p:spPr bwMode="auto">
              <a:xfrm>
                <a:off x="717" y="1392"/>
                <a:ext cx="1200" cy="38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A</a:t>
                </a:r>
              </a:p>
            </p:txBody>
          </p:sp>
          <p:sp>
            <p:nvSpPr>
              <p:cNvPr id="21" name="Rectangle 1075"/>
              <p:cNvSpPr>
                <a:spLocks noChangeArrowheads="1"/>
              </p:cNvSpPr>
              <p:nvPr/>
            </p:nvSpPr>
            <p:spPr bwMode="auto">
              <a:xfrm>
                <a:off x="720" y="1776"/>
                <a:ext cx="1200" cy="3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D</a:t>
                </a:r>
              </a:p>
            </p:txBody>
          </p:sp>
          <p:sp>
            <p:nvSpPr>
              <p:cNvPr id="22" name="Rectangle 1081"/>
              <p:cNvSpPr>
                <a:spLocks noChangeArrowheads="1"/>
              </p:cNvSpPr>
              <p:nvPr/>
            </p:nvSpPr>
            <p:spPr bwMode="auto">
              <a:xfrm>
                <a:off x="720" y="2160"/>
                <a:ext cx="1200" cy="38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</p:grpSp>
        <p:cxnSp>
          <p:nvCxnSpPr>
            <p:cNvPr id="23" name="AutoShape 1082"/>
            <p:cNvCxnSpPr>
              <a:cxnSpLocks noChangeShapeType="1"/>
            </p:cNvCxnSpPr>
            <p:nvPr/>
          </p:nvCxnSpPr>
          <p:spPr bwMode="auto">
            <a:xfrm flipH="1">
              <a:off x="2302318" y="4533900"/>
              <a:ext cx="1041400" cy="2286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AutoShape 1083"/>
            <p:cNvCxnSpPr>
              <a:cxnSpLocks noChangeShapeType="1"/>
            </p:cNvCxnSpPr>
            <p:nvPr/>
          </p:nvCxnSpPr>
          <p:spPr bwMode="auto">
            <a:xfrm flipH="1">
              <a:off x="2302318" y="4914900"/>
              <a:ext cx="1041400" cy="3810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AutoShape 1084"/>
            <p:cNvCxnSpPr>
              <a:cxnSpLocks noChangeShapeType="1"/>
            </p:cNvCxnSpPr>
            <p:nvPr/>
          </p:nvCxnSpPr>
          <p:spPr bwMode="auto">
            <a:xfrm flipH="1">
              <a:off x="2302318" y="5295900"/>
              <a:ext cx="1041400" cy="5334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grpSp>
          <p:nvGrpSpPr>
            <p:cNvPr id="26" name="Group 1099"/>
            <p:cNvGrpSpPr>
              <a:grpSpLocks/>
            </p:cNvGrpSpPr>
            <p:nvPr/>
          </p:nvGrpSpPr>
          <p:grpSpPr bwMode="auto">
            <a:xfrm>
              <a:off x="3356418" y="2438400"/>
              <a:ext cx="1524000" cy="1752600"/>
              <a:chOff x="2784" y="1392"/>
              <a:chExt cx="1104" cy="1104"/>
            </a:xfrm>
          </p:grpSpPr>
          <p:sp>
            <p:nvSpPr>
              <p:cNvPr id="27" name="Rectangle 1077"/>
              <p:cNvSpPr>
                <a:spLocks noChangeArrowheads="1"/>
              </p:cNvSpPr>
              <p:nvPr/>
            </p:nvSpPr>
            <p:spPr bwMode="auto">
              <a:xfrm>
                <a:off x="2784" y="2112"/>
                <a:ext cx="1104" cy="38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dirty="0"/>
                  <a:t>VM 2</a:t>
                </a:r>
                <a:br>
                  <a:rPr lang="en-US" sz="1400" dirty="0"/>
                </a:br>
                <a:r>
                  <a:rPr lang="en-US" sz="1400" dirty="0"/>
                  <a:t>Page Table</a:t>
                </a:r>
              </a:p>
            </p:txBody>
          </p:sp>
          <p:sp>
            <p:nvSpPr>
              <p:cNvPr id="28" name="Rectangle 1078"/>
              <p:cNvSpPr>
                <a:spLocks noChangeArrowheads="1"/>
              </p:cNvSpPr>
              <p:nvPr/>
            </p:nvSpPr>
            <p:spPr bwMode="auto">
              <a:xfrm>
                <a:off x="2784" y="1392"/>
                <a:ext cx="1104" cy="24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A</a:t>
                </a:r>
              </a:p>
            </p:txBody>
          </p:sp>
          <p:sp>
            <p:nvSpPr>
              <p:cNvPr id="29" name="Rectangle 1079"/>
              <p:cNvSpPr>
                <a:spLocks noChangeArrowheads="1"/>
              </p:cNvSpPr>
              <p:nvPr/>
            </p:nvSpPr>
            <p:spPr bwMode="auto">
              <a:xfrm>
                <a:off x="2784" y="1632"/>
                <a:ext cx="1104" cy="24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D</a:t>
                </a:r>
              </a:p>
            </p:txBody>
          </p:sp>
          <p:sp>
            <p:nvSpPr>
              <p:cNvPr id="30" name="Rectangle 1080"/>
              <p:cNvSpPr>
                <a:spLocks noChangeArrowheads="1"/>
              </p:cNvSpPr>
              <p:nvPr/>
            </p:nvSpPr>
            <p:spPr bwMode="auto">
              <a:xfrm>
                <a:off x="2784" y="1872"/>
                <a:ext cx="1104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 dirty="0"/>
                  <a:t>B</a:t>
                </a:r>
              </a:p>
            </p:txBody>
          </p:sp>
        </p:grpSp>
        <p:cxnSp>
          <p:nvCxnSpPr>
            <p:cNvPr id="31" name="AutoShape 1086"/>
            <p:cNvCxnSpPr>
              <a:cxnSpLocks noChangeShapeType="1"/>
            </p:cNvCxnSpPr>
            <p:nvPr/>
          </p:nvCxnSpPr>
          <p:spPr bwMode="auto">
            <a:xfrm flipH="1">
              <a:off x="2305493" y="3009900"/>
              <a:ext cx="1038225" cy="6858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AutoShape 1091"/>
            <p:cNvCxnSpPr>
              <a:cxnSpLocks noChangeShapeType="1"/>
            </p:cNvCxnSpPr>
            <p:nvPr/>
          </p:nvCxnSpPr>
          <p:spPr bwMode="auto">
            <a:xfrm flipH="1">
              <a:off x="2302318" y="3390900"/>
              <a:ext cx="1041400" cy="1905000"/>
            </a:xfrm>
            <a:prstGeom prst="straightConnector1">
              <a:avLst/>
            </a:prstGeom>
            <a:noFill/>
            <a:ln w="25400" cap="flat" cmpd="sng" algn="ctr">
              <a:solidFill>
                <a:srgbClr val="A0484A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AutoShape 1092"/>
            <p:cNvCxnSpPr>
              <a:cxnSpLocks noChangeShapeType="1"/>
            </p:cNvCxnSpPr>
            <p:nvPr/>
          </p:nvCxnSpPr>
          <p:spPr bwMode="auto">
            <a:xfrm flipH="1">
              <a:off x="2302318" y="2628900"/>
              <a:ext cx="1041400" cy="2133600"/>
            </a:xfrm>
            <a:prstGeom prst="straightConnector1">
              <a:avLst/>
            </a:prstGeom>
            <a:noFill/>
            <a:ln w="25400" cap="flat" cmpd="sng" algn="ctr">
              <a:solidFill>
                <a:srgbClr val="5176A0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AutoShape 1104"/>
            <p:cNvCxnSpPr>
              <a:cxnSpLocks noChangeShapeType="1"/>
            </p:cNvCxnSpPr>
            <p:nvPr/>
          </p:nvCxnSpPr>
          <p:spPr bwMode="auto">
            <a:xfrm flipH="1">
              <a:off x="2302318" y="2628900"/>
              <a:ext cx="1041400" cy="5334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AutoShape 1105"/>
            <p:cNvCxnSpPr>
              <a:cxnSpLocks noChangeShapeType="1"/>
            </p:cNvCxnSpPr>
            <p:nvPr/>
          </p:nvCxnSpPr>
          <p:spPr bwMode="auto">
            <a:xfrm flipH="1">
              <a:off x="2305493" y="3390900"/>
              <a:ext cx="1038225" cy="8382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</p:grpSp>
      <p:sp>
        <p:nvSpPr>
          <p:cNvPr id="40" name="TextBox 39"/>
          <p:cNvSpPr txBox="1"/>
          <p:nvPr/>
        </p:nvSpPr>
        <p:spPr>
          <a:xfrm>
            <a:off x="991215" y="4372154"/>
            <a:ext cx="2943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Page Sharing [OSDI’02]</a:t>
            </a:r>
          </a:p>
          <a:p>
            <a:pPr indent="-91440">
              <a:buFont typeface="Arial"/>
              <a:buChar char="•"/>
            </a:pPr>
            <a:r>
              <a:rPr lang="en-US" dirty="0" smtClean="0"/>
              <a:t> VMM fingerprints pages</a:t>
            </a:r>
          </a:p>
          <a:p>
            <a:pPr indent="-91440">
              <a:buFont typeface="Arial"/>
              <a:buChar char="•"/>
            </a:pPr>
            <a:r>
              <a:rPr lang="en-US" dirty="0" smtClean="0"/>
              <a:t> Maps matching pages COW</a:t>
            </a:r>
          </a:p>
          <a:p>
            <a:pPr indent="-91440">
              <a:buFont typeface="Arial"/>
              <a:buChar char="•"/>
            </a:pPr>
            <a:r>
              <a:rPr lang="en-US" dirty="0" smtClean="0"/>
              <a:t> 33% savings</a:t>
            </a:r>
          </a:p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282583" y="4372154"/>
            <a:ext cx="2785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Difference Engine [OSDI’08]</a:t>
            </a:r>
          </a:p>
          <a:p>
            <a:pPr indent="-91440">
              <a:buFont typeface="Arial"/>
              <a:buChar char="•"/>
            </a:pPr>
            <a:r>
              <a:rPr lang="en-US" dirty="0" smtClean="0"/>
              <a:t> Identify similar pages</a:t>
            </a:r>
          </a:p>
          <a:p>
            <a:pPr indent="-91440">
              <a:buFont typeface="Arial"/>
              <a:buChar char="•"/>
            </a:pPr>
            <a:r>
              <a:rPr lang="en-US" dirty="0" smtClean="0"/>
              <a:t> Delta compression</a:t>
            </a:r>
          </a:p>
          <a:p>
            <a:pPr indent="-91440">
              <a:buFont typeface="Arial"/>
              <a:buChar char="•"/>
            </a:pPr>
            <a:r>
              <a:rPr lang="en-US" dirty="0" smtClean="0"/>
              <a:t>Up to 75% savings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673540" y="1536636"/>
            <a:ext cx="710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VMM</a:t>
            </a:r>
          </a:p>
          <a:p>
            <a:pPr algn="ctr"/>
            <a:r>
              <a:rPr lang="en-US" dirty="0" smtClean="0"/>
              <a:t>P2M </a:t>
            </a:r>
          </a:p>
          <a:p>
            <a:pPr algn="ctr"/>
            <a:r>
              <a:rPr lang="en-US" dirty="0" smtClean="0"/>
              <a:t>Map</a:t>
            </a:r>
            <a:endParaRPr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4937237" y="1705154"/>
            <a:ext cx="2790041" cy="2667000"/>
            <a:chOff x="838643" y="2057400"/>
            <a:chExt cx="4041775" cy="4038600"/>
          </a:xfrm>
        </p:grpSpPr>
        <p:sp>
          <p:nvSpPr>
            <p:cNvPr id="44" name="Rectangle 1059"/>
            <p:cNvSpPr>
              <a:spLocks noChangeArrowheads="1"/>
            </p:cNvSpPr>
            <p:nvPr/>
          </p:nvSpPr>
          <p:spPr bwMode="auto">
            <a:xfrm>
              <a:off x="841818" y="2057400"/>
              <a:ext cx="1447800" cy="4038600"/>
            </a:xfrm>
            <a:prstGeom prst="rect">
              <a:avLst/>
            </a:prstGeom>
            <a:solidFill>
              <a:srgbClr val="B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</a:bodyPr>
            <a:lstStyle/>
            <a:p>
              <a:pPr algn="ctr"/>
              <a:r>
                <a:rPr lang="en-US" sz="1400" dirty="0"/>
                <a:t>Physical</a:t>
              </a:r>
              <a:r>
                <a:rPr lang="en-US" sz="1200" dirty="0"/>
                <a:t/>
              </a:r>
              <a:br>
                <a:rPr lang="en-US" sz="1200" dirty="0"/>
              </a:br>
              <a:r>
                <a:rPr lang="en-US" sz="1400" dirty="0"/>
                <a:t>RAM</a:t>
              </a:r>
              <a:endParaRPr lang="en-US" sz="1200" dirty="0"/>
            </a:p>
          </p:txBody>
        </p:sp>
        <p:grpSp>
          <p:nvGrpSpPr>
            <p:cNvPr id="45" name="Group 1098"/>
            <p:cNvGrpSpPr>
              <a:grpSpLocks/>
            </p:cNvGrpSpPr>
            <p:nvPr/>
          </p:nvGrpSpPr>
          <p:grpSpPr bwMode="auto">
            <a:xfrm>
              <a:off x="838643" y="2895600"/>
              <a:ext cx="1450975" cy="1600200"/>
              <a:chOff x="4176" y="1248"/>
              <a:chExt cx="1203" cy="1152"/>
            </a:xfrm>
          </p:grpSpPr>
          <p:sp>
            <p:nvSpPr>
              <p:cNvPr id="72" name="Rectangle 1095"/>
              <p:cNvSpPr>
                <a:spLocks noChangeArrowheads="1"/>
              </p:cNvSpPr>
              <p:nvPr/>
            </p:nvSpPr>
            <p:spPr bwMode="auto">
              <a:xfrm>
                <a:off x="4176" y="1248"/>
                <a:ext cx="1200" cy="38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FREE</a:t>
                </a:r>
              </a:p>
            </p:txBody>
          </p:sp>
          <p:sp>
            <p:nvSpPr>
              <p:cNvPr id="73" name="Rectangle 1096"/>
              <p:cNvSpPr>
                <a:spLocks noChangeArrowheads="1"/>
              </p:cNvSpPr>
              <p:nvPr/>
            </p:nvSpPr>
            <p:spPr bwMode="auto">
              <a:xfrm>
                <a:off x="4179" y="1632"/>
                <a:ext cx="1200" cy="384"/>
              </a:xfrm>
              <a:prstGeom prst="rect">
                <a:avLst/>
              </a:prstGeom>
              <a:solidFill>
                <a:srgbClr val="FFA135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D</a:t>
                </a:r>
              </a:p>
            </p:txBody>
          </p:sp>
          <p:sp>
            <p:nvSpPr>
              <p:cNvPr id="74" name="Rectangle 1097"/>
              <p:cNvSpPr>
                <a:spLocks noChangeArrowheads="1"/>
              </p:cNvSpPr>
              <p:nvPr/>
            </p:nvSpPr>
            <p:spPr bwMode="auto">
              <a:xfrm>
                <a:off x="4179" y="2016"/>
                <a:ext cx="1200" cy="384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FREE</a:t>
                </a:r>
              </a:p>
            </p:txBody>
          </p:sp>
        </p:grpSp>
        <p:grpSp>
          <p:nvGrpSpPr>
            <p:cNvPr id="46" name="Group 1088"/>
            <p:cNvGrpSpPr>
              <a:grpSpLocks/>
            </p:cNvGrpSpPr>
            <p:nvPr/>
          </p:nvGrpSpPr>
          <p:grpSpPr bwMode="auto">
            <a:xfrm>
              <a:off x="3356418" y="4343400"/>
              <a:ext cx="1524000" cy="1752600"/>
              <a:chOff x="2784" y="2592"/>
              <a:chExt cx="1104" cy="1104"/>
            </a:xfrm>
          </p:grpSpPr>
          <p:sp>
            <p:nvSpPr>
              <p:cNvPr id="68" name="Rectangle 1035"/>
              <p:cNvSpPr>
                <a:spLocks noChangeArrowheads="1"/>
              </p:cNvSpPr>
              <p:nvPr/>
            </p:nvSpPr>
            <p:spPr bwMode="auto">
              <a:xfrm>
                <a:off x="2784" y="3312"/>
                <a:ext cx="1104" cy="38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dirty="0"/>
                  <a:t>VM 1</a:t>
                </a:r>
                <a:br>
                  <a:rPr lang="en-US" sz="1400" dirty="0"/>
                </a:br>
                <a:r>
                  <a:rPr lang="en-US" sz="1400" dirty="0"/>
                  <a:t>Page Table</a:t>
                </a:r>
              </a:p>
            </p:txBody>
          </p:sp>
          <p:sp>
            <p:nvSpPr>
              <p:cNvPr id="69" name="Rectangle 1071"/>
              <p:cNvSpPr>
                <a:spLocks noChangeArrowheads="1"/>
              </p:cNvSpPr>
              <p:nvPr/>
            </p:nvSpPr>
            <p:spPr bwMode="auto">
              <a:xfrm>
                <a:off x="2784" y="2592"/>
                <a:ext cx="1104" cy="24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A</a:t>
                </a:r>
              </a:p>
            </p:txBody>
          </p:sp>
          <p:sp>
            <p:nvSpPr>
              <p:cNvPr id="70" name="Rectangle 1072"/>
              <p:cNvSpPr>
                <a:spLocks noChangeArrowheads="1"/>
              </p:cNvSpPr>
              <p:nvPr/>
            </p:nvSpPr>
            <p:spPr bwMode="auto">
              <a:xfrm>
                <a:off x="2784" y="2832"/>
                <a:ext cx="1104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  <p:sp>
            <p:nvSpPr>
              <p:cNvPr id="71" name="Rectangle 1073"/>
              <p:cNvSpPr>
                <a:spLocks noChangeArrowheads="1"/>
              </p:cNvSpPr>
              <p:nvPr/>
            </p:nvSpPr>
            <p:spPr bwMode="auto">
              <a:xfrm>
                <a:off x="2784" y="3072"/>
                <a:ext cx="1104" cy="24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C</a:t>
                </a:r>
              </a:p>
            </p:txBody>
          </p:sp>
        </p:grpSp>
        <p:grpSp>
          <p:nvGrpSpPr>
            <p:cNvPr id="47" name="Group 1089"/>
            <p:cNvGrpSpPr>
              <a:grpSpLocks/>
            </p:cNvGrpSpPr>
            <p:nvPr/>
          </p:nvGrpSpPr>
          <p:grpSpPr bwMode="auto">
            <a:xfrm>
              <a:off x="841818" y="4495800"/>
              <a:ext cx="1447800" cy="1600200"/>
              <a:chOff x="720" y="2544"/>
              <a:chExt cx="1200" cy="1152"/>
            </a:xfrm>
          </p:grpSpPr>
          <p:sp>
            <p:nvSpPr>
              <p:cNvPr id="65" name="Rectangle 1062"/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1200" cy="38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  <p:sp>
            <p:nvSpPr>
              <p:cNvPr id="66" name="Rectangle 1063"/>
              <p:cNvSpPr>
                <a:spLocks noChangeArrowheads="1"/>
              </p:cNvSpPr>
              <p:nvPr/>
            </p:nvSpPr>
            <p:spPr bwMode="auto">
              <a:xfrm>
                <a:off x="1624" y="3312"/>
                <a:ext cx="296" cy="38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C</a:t>
                </a:r>
              </a:p>
            </p:txBody>
          </p:sp>
          <p:sp>
            <p:nvSpPr>
              <p:cNvPr id="67" name="Rectangle 1074"/>
              <p:cNvSpPr>
                <a:spLocks noChangeArrowheads="1"/>
              </p:cNvSpPr>
              <p:nvPr/>
            </p:nvSpPr>
            <p:spPr bwMode="auto">
              <a:xfrm>
                <a:off x="720" y="2544"/>
                <a:ext cx="1200" cy="38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 dirty="0"/>
                  <a:t>A</a:t>
                </a:r>
              </a:p>
            </p:txBody>
          </p:sp>
        </p:grpSp>
        <p:grpSp>
          <p:nvGrpSpPr>
            <p:cNvPr id="48" name="Group 1093"/>
            <p:cNvGrpSpPr>
              <a:grpSpLocks/>
            </p:cNvGrpSpPr>
            <p:nvPr/>
          </p:nvGrpSpPr>
          <p:grpSpPr bwMode="auto">
            <a:xfrm>
              <a:off x="841818" y="2895600"/>
              <a:ext cx="1450975" cy="1600200"/>
              <a:chOff x="717" y="1392"/>
              <a:chExt cx="1203" cy="1152"/>
            </a:xfrm>
          </p:grpSpPr>
          <p:sp>
            <p:nvSpPr>
              <p:cNvPr id="62" name="Rectangle 1061"/>
              <p:cNvSpPr>
                <a:spLocks noChangeArrowheads="1"/>
              </p:cNvSpPr>
              <p:nvPr/>
            </p:nvSpPr>
            <p:spPr bwMode="auto">
              <a:xfrm>
                <a:off x="717" y="1392"/>
                <a:ext cx="1200" cy="384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A</a:t>
                </a:r>
              </a:p>
            </p:txBody>
          </p:sp>
          <p:sp>
            <p:nvSpPr>
              <p:cNvPr id="63" name="Rectangle 1075"/>
              <p:cNvSpPr>
                <a:spLocks noChangeArrowheads="1"/>
              </p:cNvSpPr>
              <p:nvPr/>
            </p:nvSpPr>
            <p:spPr bwMode="auto">
              <a:xfrm>
                <a:off x="720" y="1776"/>
                <a:ext cx="1200" cy="3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D</a:t>
                </a:r>
              </a:p>
            </p:txBody>
          </p:sp>
          <p:sp>
            <p:nvSpPr>
              <p:cNvPr id="64" name="Rectangle 1081"/>
              <p:cNvSpPr>
                <a:spLocks noChangeArrowheads="1"/>
              </p:cNvSpPr>
              <p:nvPr/>
            </p:nvSpPr>
            <p:spPr bwMode="auto">
              <a:xfrm>
                <a:off x="720" y="2160"/>
                <a:ext cx="1200" cy="38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</p:grpSp>
        <p:cxnSp>
          <p:nvCxnSpPr>
            <p:cNvPr id="49" name="AutoShape 1082"/>
            <p:cNvCxnSpPr>
              <a:cxnSpLocks noChangeShapeType="1"/>
            </p:cNvCxnSpPr>
            <p:nvPr/>
          </p:nvCxnSpPr>
          <p:spPr bwMode="auto">
            <a:xfrm flipH="1">
              <a:off x="2302318" y="4533900"/>
              <a:ext cx="1041400" cy="2286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AutoShape 1083"/>
            <p:cNvCxnSpPr>
              <a:cxnSpLocks noChangeShapeType="1"/>
            </p:cNvCxnSpPr>
            <p:nvPr/>
          </p:nvCxnSpPr>
          <p:spPr bwMode="auto">
            <a:xfrm flipH="1">
              <a:off x="2302318" y="4914900"/>
              <a:ext cx="1041400" cy="3810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AutoShape 1084"/>
            <p:cNvCxnSpPr>
              <a:cxnSpLocks noChangeShapeType="1"/>
            </p:cNvCxnSpPr>
            <p:nvPr/>
          </p:nvCxnSpPr>
          <p:spPr bwMode="auto">
            <a:xfrm flipH="1">
              <a:off x="2302318" y="5295900"/>
              <a:ext cx="1041400" cy="5334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grpSp>
          <p:nvGrpSpPr>
            <p:cNvPr id="52" name="Group 1099"/>
            <p:cNvGrpSpPr>
              <a:grpSpLocks/>
            </p:cNvGrpSpPr>
            <p:nvPr/>
          </p:nvGrpSpPr>
          <p:grpSpPr bwMode="auto">
            <a:xfrm>
              <a:off x="3356418" y="2438400"/>
              <a:ext cx="1524000" cy="1752600"/>
              <a:chOff x="2784" y="1392"/>
              <a:chExt cx="1104" cy="1104"/>
            </a:xfrm>
          </p:grpSpPr>
          <p:sp>
            <p:nvSpPr>
              <p:cNvPr id="58" name="Rectangle 1077"/>
              <p:cNvSpPr>
                <a:spLocks noChangeArrowheads="1"/>
              </p:cNvSpPr>
              <p:nvPr/>
            </p:nvSpPr>
            <p:spPr bwMode="auto">
              <a:xfrm>
                <a:off x="2784" y="2112"/>
                <a:ext cx="1104" cy="38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dirty="0"/>
                  <a:t>VM 2</a:t>
                </a:r>
                <a:br>
                  <a:rPr lang="en-US" sz="1400" dirty="0"/>
                </a:br>
                <a:r>
                  <a:rPr lang="en-US" sz="1400" dirty="0"/>
                  <a:t>Page Table</a:t>
                </a:r>
              </a:p>
            </p:txBody>
          </p:sp>
          <p:sp>
            <p:nvSpPr>
              <p:cNvPr id="59" name="Rectangle 1078"/>
              <p:cNvSpPr>
                <a:spLocks noChangeArrowheads="1"/>
              </p:cNvSpPr>
              <p:nvPr/>
            </p:nvSpPr>
            <p:spPr bwMode="auto">
              <a:xfrm>
                <a:off x="2784" y="1392"/>
                <a:ext cx="1104" cy="24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A</a:t>
                </a:r>
              </a:p>
            </p:txBody>
          </p:sp>
          <p:sp>
            <p:nvSpPr>
              <p:cNvPr id="60" name="Rectangle 1079"/>
              <p:cNvSpPr>
                <a:spLocks noChangeArrowheads="1"/>
              </p:cNvSpPr>
              <p:nvPr/>
            </p:nvSpPr>
            <p:spPr bwMode="auto">
              <a:xfrm>
                <a:off x="2784" y="1632"/>
                <a:ext cx="1104" cy="24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D</a:t>
                </a:r>
              </a:p>
            </p:txBody>
          </p:sp>
          <p:sp>
            <p:nvSpPr>
              <p:cNvPr id="61" name="Rectangle 1080"/>
              <p:cNvSpPr>
                <a:spLocks noChangeArrowheads="1"/>
              </p:cNvSpPr>
              <p:nvPr/>
            </p:nvSpPr>
            <p:spPr bwMode="auto">
              <a:xfrm>
                <a:off x="2784" y="1872"/>
                <a:ext cx="1104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/>
                  <a:t>B</a:t>
                </a:r>
              </a:p>
            </p:txBody>
          </p:sp>
        </p:grpSp>
        <p:cxnSp>
          <p:nvCxnSpPr>
            <p:cNvPr id="53" name="AutoShape 1086"/>
            <p:cNvCxnSpPr>
              <a:cxnSpLocks noChangeShapeType="1"/>
            </p:cNvCxnSpPr>
            <p:nvPr/>
          </p:nvCxnSpPr>
          <p:spPr bwMode="auto">
            <a:xfrm flipH="1">
              <a:off x="2305493" y="3009900"/>
              <a:ext cx="1038225" cy="6858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AutoShape 1091"/>
            <p:cNvCxnSpPr>
              <a:cxnSpLocks noChangeShapeType="1"/>
            </p:cNvCxnSpPr>
            <p:nvPr/>
          </p:nvCxnSpPr>
          <p:spPr bwMode="auto">
            <a:xfrm flipH="1">
              <a:off x="2302318" y="3390900"/>
              <a:ext cx="1041400" cy="1905000"/>
            </a:xfrm>
            <a:prstGeom prst="straightConnector1">
              <a:avLst/>
            </a:prstGeom>
            <a:noFill/>
            <a:ln w="25400" cap="flat" cmpd="sng" algn="ctr">
              <a:solidFill>
                <a:srgbClr val="A0484A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AutoShape 1092"/>
            <p:cNvCxnSpPr>
              <a:cxnSpLocks noChangeShapeType="1"/>
            </p:cNvCxnSpPr>
            <p:nvPr/>
          </p:nvCxnSpPr>
          <p:spPr bwMode="auto">
            <a:xfrm flipH="1">
              <a:off x="2302318" y="2628900"/>
              <a:ext cx="1041400" cy="2133600"/>
            </a:xfrm>
            <a:prstGeom prst="straightConnector1">
              <a:avLst/>
            </a:prstGeom>
            <a:noFill/>
            <a:ln w="25400" cap="flat" cmpd="sng" algn="ctr">
              <a:solidFill>
                <a:srgbClr val="5176A0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AutoShape 1104"/>
            <p:cNvCxnSpPr>
              <a:cxnSpLocks noChangeShapeType="1"/>
            </p:cNvCxnSpPr>
            <p:nvPr/>
          </p:nvCxnSpPr>
          <p:spPr bwMode="auto">
            <a:xfrm flipH="1">
              <a:off x="2302318" y="2628900"/>
              <a:ext cx="1041400" cy="5334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AutoShape 1105"/>
            <p:cNvCxnSpPr>
              <a:cxnSpLocks noChangeShapeType="1"/>
            </p:cNvCxnSpPr>
            <p:nvPr/>
          </p:nvCxnSpPr>
          <p:spPr bwMode="auto">
            <a:xfrm flipH="1">
              <a:off x="2305493" y="3390900"/>
              <a:ext cx="1038225" cy="8382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</p:spPr>
        </p:cxnSp>
      </p:grpSp>
      <p:sp>
        <p:nvSpPr>
          <p:cNvPr id="75" name="TextBox 74"/>
          <p:cNvSpPr txBox="1"/>
          <p:nvPr/>
        </p:nvSpPr>
        <p:spPr>
          <a:xfrm>
            <a:off x="5964908" y="1536636"/>
            <a:ext cx="710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VMM</a:t>
            </a:r>
          </a:p>
          <a:p>
            <a:pPr algn="ctr"/>
            <a:r>
              <a:rPr lang="en-US" dirty="0" smtClean="0"/>
              <a:t>P2M </a:t>
            </a:r>
          </a:p>
          <a:p>
            <a:pPr algn="ctr"/>
            <a:r>
              <a:rPr lang="en-US" dirty="0" smtClean="0"/>
              <a:t>Map</a:t>
            </a:r>
            <a:endParaRPr lang="en-US" dirty="0"/>
          </a:p>
        </p:txBody>
      </p:sp>
      <p:cxnSp>
        <p:nvCxnSpPr>
          <p:cNvPr id="76" name="AutoShape 1091"/>
          <p:cNvCxnSpPr>
            <a:cxnSpLocks noChangeShapeType="1"/>
            <a:stCxn id="66" idx="1"/>
            <a:endCxn id="63" idx="1"/>
          </p:cNvCxnSpPr>
          <p:nvPr/>
        </p:nvCxnSpPr>
        <p:spPr bwMode="auto">
          <a:xfrm rot="10800000">
            <a:off x="4941927" y="2787050"/>
            <a:ext cx="750570" cy="1408982"/>
          </a:xfrm>
          <a:prstGeom prst="curvedConnector3">
            <a:avLst>
              <a:gd name="adj1" fmla="val 157651"/>
            </a:avLst>
          </a:prstGeom>
          <a:noFill/>
          <a:ln w="25400" cap="flat" cmpd="sng" algn="ctr">
            <a:solidFill>
              <a:srgbClr val="A0484A"/>
            </a:solidFill>
            <a:prstDash val="sysDot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Arrow 17"/>
          <p:cNvSpPr/>
          <p:nvPr/>
        </p:nvSpPr>
        <p:spPr>
          <a:xfrm>
            <a:off x="2656576" y="4229082"/>
            <a:ext cx="2677423" cy="82296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Page-granular </a:t>
            </a:r>
            <a:r>
              <a:rPr lang="en-US" dirty="0" err="1" smtClean="0"/>
              <a:t>VMs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Cloning</a:t>
            </a:r>
            <a:endParaRPr lang="en-US" sz="2400" dirty="0" smtClean="0"/>
          </a:p>
          <a:p>
            <a:pPr lvl="1"/>
            <a:r>
              <a:rPr lang="en-US" sz="2000" dirty="0" smtClean="0"/>
              <a:t>Logical replicas</a:t>
            </a:r>
          </a:p>
          <a:p>
            <a:pPr lvl="1"/>
            <a:r>
              <a:rPr lang="en-US" sz="2000" dirty="0" smtClean="0"/>
              <a:t>State copied on demand</a:t>
            </a:r>
          </a:p>
          <a:p>
            <a:pPr lvl="1"/>
            <a:r>
              <a:rPr lang="en-US" sz="2000" dirty="0" smtClean="0"/>
              <a:t>Allocated on </a:t>
            </a:r>
            <a:r>
              <a:rPr lang="en-US" sz="2000" dirty="0" smtClean="0"/>
              <a:t>demand</a:t>
            </a:r>
          </a:p>
          <a:p>
            <a:r>
              <a:rPr lang="en-US" sz="2400" dirty="0" smtClean="0"/>
              <a:t>Fast VM Instantiation</a:t>
            </a:r>
            <a:endParaRPr lang="en-US" sz="2400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1066860" y="4072963"/>
            <a:ext cx="1508171" cy="1091863"/>
          </a:xfrm>
          <a:prstGeom prst="roundRect">
            <a:avLst>
              <a:gd name="adj" fmla="val 12366"/>
            </a:avLst>
          </a:prstGeom>
          <a:gradFill>
            <a:gsLst>
              <a:gs pos="0">
                <a:srgbClr val="92D050">
                  <a:alpha val="59000"/>
                </a:srgbClr>
              </a:gs>
              <a:gs pos="50000">
                <a:srgbClr val="92D050">
                  <a:alpha val="83000"/>
                </a:srgbClr>
              </a:gs>
              <a:gs pos="100000">
                <a:srgbClr val="92D05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solidFill>
              <a:srgbClr val="92D050"/>
            </a:solidFill>
          </a:ln>
          <a:effectLst>
            <a:outerShdw blurRad="50800" dist="50800" dir="5400000" algn="ctr" rotWithShape="0">
              <a:srgbClr val="92D050">
                <a:alpha val="2000"/>
              </a:srgbClr>
            </a:outerShdw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934200" y="4098026"/>
            <a:ext cx="914400" cy="838200"/>
          </a:xfrm>
          <a:prstGeom prst="roundRect">
            <a:avLst>
              <a:gd name="adj" fmla="val 12366"/>
            </a:avLst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50000">
                <a:schemeClr val="bg2">
                  <a:lumMod val="40000"/>
                  <a:lumOff val="60000"/>
                </a:schemeClr>
              </a:gs>
              <a:gs pos="100000">
                <a:schemeClr val="bg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tx1">
                <a:lumMod val="50000"/>
              </a:schemeClr>
            </a:solidFill>
          </a:ln>
          <a:effectLst>
            <a:outerShdw blurRad="50800" dist="50800" dir="5400000" algn="ctr" rotWithShape="0">
              <a:srgbClr val="92D050">
                <a:alpha val="2000"/>
              </a:srgbClr>
            </a:outerShdw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en-US"/>
          </a:p>
        </p:txBody>
      </p:sp>
      <p:pic>
        <p:nvPicPr>
          <p:cNvPr id="6" name="Picture 5" descr="switc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912" y="3453243"/>
            <a:ext cx="1409700" cy="1409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62600" y="5393426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VM Descriptor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2600" y="5393426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VM Descriptor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479026"/>
            <a:ext cx="228600" cy="228600"/>
          </a:xfrm>
          <a:prstGeom prst="roundRect">
            <a:avLst>
              <a:gd name="adj" fmla="val 12366"/>
            </a:avLst>
          </a:prstGeom>
          <a:gradFill>
            <a:gsLst>
              <a:gs pos="0">
                <a:srgbClr val="92D050">
                  <a:alpha val="59000"/>
                </a:srgbClr>
              </a:gs>
              <a:gs pos="50000">
                <a:srgbClr val="92D050">
                  <a:alpha val="83000"/>
                </a:srgbClr>
              </a:gs>
              <a:gs pos="100000">
                <a:srgbClr val="92D05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solidFill>
              <a:srgbClr val="92D050"/>
            </a:solidFill>
          </a:ln>
          <a:effectLst>
            <a:outerShdw blurRad="50800" dist="50800" dir="5400000" algn="ctr" rotWithShape="0">
              <a:srgbClr val="92D050">
                <a:alpha val="2000"/>
              </a:srgbClr>
            </a:outerShdw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715000" y="4098026"/>
            <a:ext cx="228600" cy="228600"/>
          </a:xfrm>
          <a:prstGeom prst="roundRect">
            <a:avLst>
              <a:gd name="adj" fmla="val 12366"/>
            </a:avLst>
          </a:prstGeom>
          <a:gradFill>
            <a:gsLst>
              <a:gs pos="0">
                <a:srgbClr val="92D050">
                  <a:alpha val="59000"/>
                </a:srgbClr>
              </a:gs>
              <a:gs pos="50000">
                <a:srgbClr val="92D050">
                  <a:alpha val="83000"/>
                </a:srgbClr>
              </a:gs>
              <a:gs pos="100000">
                <a:srgbClr val="92D05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solidFill>
              <a:srgbClr val="92D050"/>
            </a:solidFill>
          </a:ln>
          <a:effectLst>
            <a:outerShdw blurRad="50800" dist="50800" dir="5400000" algn="ctr" rotWithShape="0">
              <a:srgbClr val="92D050">
                <a:alpha val="2000"/>
              </a:srgbClr>
            </a:outerShdw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562600" y="5393426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VM Descriptor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021826"/>
            <a:ext cx="2590800" cy="1295400"/>
          </a:xfrm>
          <a:prstGeom prst="roundRect">
            <a:avLst>
              <a:gd name="adj" fmla="val 12366"/>
            </a:avLst>
          </a:prstGeom>
          <a:noFill/>
          <a:ln>
            <a:solidFill>
              <a:srgbClr val="FF0000"/>
            </a:solidFill>
          </a:ln>
          <a:effectLst>
            <a:outerShdw blurRad="50800" dist="50800" dir="5400000" algn="ctr" rotWithShape="0">
              <a:srgbClr val="92D050">
                <a:alpha val="2000"/>
              </a:srgbClr>
            </a:outerShdw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638800" y="4936226"/>
            <a:ext cx="228600" cy="228600"/>
          </a:xfrm>
          <a:prstGeom prst="roundRect">
            <a:avLst>
              <a:gd name="adj" fmla="val 12366"/>
            </a:avLst>
          </a:prstGeom>
          <a:gradFill>
            <a:gsLst>
              <a:gs pos="0">
                <a:srgbClr val="92D050">
                  <a:alpha val="59000"/>
                </a:srgbClr>
              </a:gs>
              <a:gs pos="50000">
                <a:srgbClr val="92D050">
                  <a:alpha val="83000"/>
                </a:srgbClr>
              </a:gs>
              <a:gs pos="100000">
                <a:srgbClr val="92D05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solidFill>
              <a:srgbClr val="92D050"/>
            </a:solidFill>
          </a:ln>
          <a:effectLst>
            <a:outerShdw blurRad="50800" dist="50800" dir="5400000" algn="ctr" rotWithShape="0">
              <a:srgbClr val="92D050">
                <a:alpha val="2000"/>
              </a:srgbClr>
            </a:outerShdw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00130" y="4149163"/>
            <a:ext cx="205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Parent VM:</a:t>
            </a:r>
          </a:p>
          <a:p>
            <a:pPr algn="ctr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Disk, OS, Processes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334000" y="5698226"/>
            <a:ext cx="35052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Metadata, Page tables, GDT, vcpu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~1MB for 1GB VM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2970" y="4012896"/>
            <a:ext cx="945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Clone</a:t>
            </a:r>
          </a:p>
          <a:p>
            <a:r>
              <a:rPr lang="en-US" dirty="0" smtClean="0"/>
              <a:t>Private</a:t>
            </a:r>
          </a:p>
          <a:p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57530" y="5052042"/>
            <a:ext cx="2032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On-demand fetches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Fast VM Instantiation?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full VM is, well, full … and big</a:t>
            </a:r>
          </a:p>
          <a:p>
            <a:r>
              <a:rPr lang="en-US" dirty="0" smtClean="0"/>
              <a:t>Spin up new </a:t>
            </a:r>
            <a:r>
              <a:rPr lang="en-US" dirty="0" err="1" smtClean="0"/>
              <a:t>VMs</a:t>
            </a:r>
            <a:endParaRPr lang="en-US" dirty="0" smtClean="0"/>
          </a:p>
          <a:p>
            <a:pPr lvl="1"/>
            <a:r>
              <a:rPr lang="en-US" dirty="0" smtClean="0"/>
              <a:t>Swap in VM (IO-bound  copy)</a:t>
            </a:r>
          </a:p>
          <a:p>
            <a:pPr lvl="1"/>
            <a:r>
              <a:rPr lang="en-US" dirty="0" smtClean="0"/>
              <a:t>Boot</a:t>
            </a:r>
          </a:p>
          <a:p>
            <a:r>
              <a:rPr lang="en-US" dirty="0" smtClean="0"/>
              <a:t>80 seconds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220 seconds 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10 minutes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 Time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78180" y="853440"/>
          <a:ext cx="8298180" cy="4579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3055620" y="5044440"/>
            <a:ext cx="23622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Clones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 rot="16200000">
            <a:off x="-800100" y="2354580"/>
            <a:ext cx="2590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Milliseconds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13120" y="2819400"/>
            <a:ext cx="853440" cy="1524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50620" y="5562918"/>
            <a:ext cx="669798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Scalable Cloning: Roughly Constant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ecweb-degraded-dur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8363" y="4046094"/>
            <a:ext cx="4925637" cy="2750959"/>
          </a:xfrm>
          <a:prstGeom prst="rect">
            <a:avLst/>
          </a:prstGeom>
          <a:noFill/>
        </p:spPr>
      </p:pic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Memory Coloring</a:t>
            </a:r>
            <a:endParaRPr lang="en-US" dirty="0"/>
          </a:p>
        </p:txBody>
      </p:sp>
      <p:sp>
        <p:nvSpPr>
          <p:cNvPr id="69635" name="Rectangle 3"/>
          <p:cNvSpPr>
            <a:spLocks noGrp="1"/>
          </p:cNvSpPr>
          <p:nvPr>
            <p:ph type="body" sz="half" idx="1"/>
          </p:nvPr>
        </p:nvSpPr>
        <p:spPr>
          <a:xfrm>
            <a:off x="187158" y="4286604"/>
            <a:ext cx="4360037" cy="204858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84" charset="0"/>
              </a:rPr>
              <a:t>Introspective coloring</a:t>
            </a:r>
          </a:p>
          <a:p>
            <a:pPr lvl="1"/>
            <a:r>
              <a:rPr lang="en-US" sz="2400" dirty="0" smtClean="0">
                <a:latin typeface="Times New Roman" pitchFamily="84" charset="0"/>
              </a:rPr>
              <a:t>code/data/process/kernel</a:t>
            </a:r>
          </a:p>
          <a:p>
            <a:r>
              <a:rPr lang="en-US" sz="2800" dirty="0" smtClean="0">
                <a:latin typeface="Times New Roman" pitchFamily="84" charset="0"/>
              </a:rPr>
              <a:t>Different policy by </a:t>
            </a:r>
            <a:r>
              <a:rPr lang="en-US" sz="2800" dirty="0">
                <a:latin typeface="Times New Roman" pitchFamily="84" charset="0"/>
              </a:rPr>
              <a:t>region</a:t>
            </a:r>
            <a:endParaRPr lang="en-US" sz="2800" dirty="0" smtClean="0">
              <a:latin typeface="Times New Roman" pitchFamily="84" charset="0"/>
            </a:endParaRPr>
          </a:p>
          <a:p>
            <a:pPr lvl="1"/>
            <a:r>
              <a:rPr lang="en-US" sz="2400" dirty="0" err="1" smtClean="0">
                <a:latin typeface="Times New Roman" pitchFamily="84" charset="0"/>
              </a:rPr>
              <a:t>Prefetch</a:t>
            </a:r>
            <a:r>
              <a:rPr lang="en-US" sz="2400" dirty="0" smtClean="0">
                <a:latin typeface="Times New Roman" pitchFamily="84" charset="0"/>
              </a:rPr>
              <a:t>, page sharing</a:t>
            </a:r>
          </a:p>
        </p:txBody>
      </p:sp>
      <p:pic>
        <p:nvPicPr>
          <p:cNvPr id="69637" name="Picture 3" descr="memsrv-specweb-support-warm.pdf"/>
          <p:cNvPicPr>
            <a:picLocks noGrp="1" noChangeAspect="1"/>
          </p:cNvPicPr>
          <p:nvPr>
            <p:ph type="clipArt" sz="half" idx="2"/>
          </p:nvPr>
        </p:nvPicPr>
        <mc:AlternateContent>
          <mc:Choice xmlns:ma="http://schemas.microsoft.com/office/mac/drawingml/2008/main" Requires="ma">
            <p:blipFill>
              <a:blip r:embed="rId3"/>
              <a:srcRect/>
              <a:stretch>
                <a:fillRect/>
              </a:stretch>
            </p:blipFill>
          </mc:Choice>
          <mc:Fallback>
            <p:blipFill>
              <a:blip r:embed="rId4"/>
              <a:srcRect/>
              <a:stretch>
                <a:fillRect/>
              </a:stretch>
            </p:blipFill>
          </mc:Fallback>
        </mc:AlternateContent>
        <p:spPr>
          <a:xfrm>
            <a:off x="457200" y="1417637"/>
            <a:ext cx="3093328" cy="2343143"/>
          </a:xfrm>
          <a:noFill/>
          <a:ln/>
        </p:spPr>
      </p:pic>
      <p:sp>
        <p:nvSpPr>
          <p:cNvPr id="8" name="Rectangle 3"/>
          <p:cNvSpPr txBox="1">
            <a:spLocks/>
          </p:cNvSpPr>
          <p:nvPr/>
        </p:nvSpPr>
        <p:spPr>
          <a:xfrm>
            <a:off x="3954300" y="1417637"/>
            <a:ext cx="4576244" cy="2628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84" charset="0"/>
                <a:ea typeface="+mn-ea"/>
                <a:cs typeface="+mn-cs"/>
              </a:rPr>
              <a:t>Network demand fetch has poor performance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800" dirty="0" err="1" smtClean="0">
                <a:latin typeface="Times New Roman" pitchFamily="84" charset="0"/>
              </a:rPr>
              <a:t>Prefetch</a:t>
            </a:r>
            <a:r>
              <a:rPr lang="en-US" sz="2800" dirty="0" smtClean="0">
                <a:latin typeface="Times New Roman" pitchFamily="84" charset="0"/>
              </a:rPr>
              <a:t>!? </a:t>
            </a:r>
          </a:p>
          <a:p>
            <a:pPr marL="800100" lvl="1" indent="-342900">
              <a:spcBef>
                <a:spcPct val="20000"/>
              </a:spcBef>
              <a:buFont typeface="Arial"/>
              <a:buChar char="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84" charset="0"/>
                <a:ea typeface="+mn-ea"/>
                <a:cs typeface="+mn-cs"/>
              </a:rPr>
              <a:t>Semantically related regions are interwoven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Clone Memory Footprints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446312"/>
            <a:ext cx="8419432" cy="119379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For scientific computing jobs (compute)</a:t>
            </a:r>
          </a:p>
          <a:p>
            <a:pPr lvl="1"/>
            <a:r>
              <a:rPr lang="en-US" sz="2400" dirty="0" smtClean="0"/>
              <a:t>99.9% footprint reduction (40MB instead of 32GB)</a:t>
            </a:r>
          </a:p>
        </p:txBody>
      </p:sp>
      <p:pic>
        <p:nvPicPr>
          <p:cNvPr id="4" name="Picture 4" descr="kaleidoscope-footpri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6638" y="2440996"/>
            <a:ext cx="6299994" cy="351749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717289" y="595849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270041" y="3827899"/>
            <a:ext cx="3379537" cy="1958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server workloads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More modest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0%-60%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reduction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6020047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 smtClean="0"/>
              <a:t>Transient </a:t>
            </a:r>
            <a:r>
              <a:rPr lang="en-US" sz="2400" dirty="0" err="1" smtClean="0"/>
              <a:t>VMs</a:t>
            </a:r>
            <a:r>
              <a:rPr lang="en-US" sz="2400" dirty="0" smtClean="0"/>
              <a:t> improve efficiency of approach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for Data Centers</a:t>
            </a: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457200" y="1600200"/>
            <a:ext cx="4040188" cy="4525963"/>
          </a:xfrm>
        </p:spPr>
        <p:txBody>
          <a:bodyPr/>
          <a:lstStyle/>
          <a:p>
            <a:pPr>
              <a:buFont typeface="Arial" pitchFamily="84" charset="0"/>
              <a:buNone/>
            </a:pPr>
            <a:r>
              <a:rPr lang="en-US" dirty="0" smtClean="0"/>
              <a:t>vs. </a:t>
            </a:r>
            <a:r>
              <a:rPr lang="en-US" dirty="0"/>
              <a:t>Today’s clouds</a:t>
            </a:r>
            <a:endParaRPr lang="en-US" dirty="0" smtClean="0"/>
          </a:p>
          <a:p>
            <a:r>
              <a:rPr lang="en-US" dirty="0" smtClean="0"/>
              <a:t>30</a:t>
            </a:r>
            <a:r>
              <a:rPr lang="en-US" dirty="0"/>
              <a:t>%</a:t>
            </a:r>
            <a:r>
              <a:rPr lang="en-US" dirty="0" smtClean="0"/>
              <a:t> smaller datacenters possible</a:t>
            </a:r>
          </a:p>
          <a:p>
            <a:r>
              <a:rPr lang="en-US" dirty="0" smtClean="0"/>
              <a:t>With better </a:t>
            </a:r>
            <a:r>
              <a:rPr lang="en-US" dirty="0" err="1" smtClean="0"/>
              <a:t>QoS</a:t>
            </a:r>
            <a:endParaRPr lang="en-US" dirty="0" smtClean="0"/>
          </a:p>
          <a:p>
            <a:pPr lvl="1"/>
            <a:r>
              <a:rPr lang="en-US" dirty="0" smtClean="0"/>
              <a:t>98% fewer overloads</a:t>
            </a:r>
            <a:endParaRPr lang="en-US" dirty="0"/>
          </a:p>
        </p:txBody>
      </p:sp>
      <p:pic>
        <p:nvPicPr>
          <p:cNvPr id="72710" name="Picture 6" descr="new-minsl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8858" y="3621087"/>
            <a:ext cx="4189412" cy="3236913"/>
          </a:xfrm>
          <a:prstGeom prst="rect">
            <a:avLst/>
          </a:prstGeom>
          <a:noFill/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497387" y="1417638"/>
          <a:ext cx="4572355" cy="2510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AutoShape 5"/>
          <p:cNvSpPr>
            <a:spLocks noChangeArrowheads="1"/>
          </p:cNvSpPr>
          <p:nvPr/>
        </p:nvSpPr>
        <p:spPr bwMode="auto">
          <a:xfrm>
            <a:off x="2074863" y="4964112"/>
            <a:ext cx="417512" cy="454025"/>
          </a:xfrm>
          <a:prstGeom prst="flowChartMagneticDisk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latinLnBrk="1"/>
            <a:endParaRPr kumimoji="1" lang="en-US" sz="1000" b="1">
              <a:solidFill>
                <a:schemeClr val="bg1"/>
              </a:solidFill>
              <a:latin typeface="Calibri" charset="0"/>
            </a:endParaRPr>
          </a:p>
        </p:txBody>
      </p:sp>
      <p:pic>
        <p:nvPicPr>
          <p:cNvPr id="37893" name="Picture 6" descr="zseries8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876800"/>
            <a:ext cx="4619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4" name="Picture 7" descr="zseries8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5029200"/>
            <a:ext cx="4619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Picture 8" descr="zseries8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5181600"/>
            <a:ext cx="4619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6" name="AutoShape 9"/>
          <p:cNvSpPr>
            <a:spLocks noChangeArrowheads="1"/>
          </p:cNvSpPr>
          <p:nvPr/>
        </p:nvSpPr>
        <p:spPr bwMode="auto">
          <a:xfrm>
            <a:off x="2227263" y="5116512"/>
            <a:ext cx="417512" cy="454025"/>
          </a:xfrm>
          <a:prstGeom prst="flowChartMagneticDisk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latinLnBrk="1"/>
            <a:endParaRPr kumimoji="1" lang="en-US" sz="1000" b="1">
              <a:solidFill>
                <a:schemeClr val="bg1"/>
              </a:solidFill>
              <a:latin typeface="Calibri" charset="0"/>
            </a:endParaRPr>
          </a:p>
        </p:txBody>
      </p:sp>
      <p:sp>
        <p:nvSpPr>
          <p:cNvPr id="37897" name="AutoShape 10"/>
          <p:cNvSpPr>
            <a:spLocks noChangeArrowheads="1"/>
          </p:cNvSpPr>
          <p:nvPr/>
        </p:nvSpPr>
        <p:spPr bwMode="auto">
          <a:xfrm>
            <a:off x="2379663" y="5268912"/>
            <a:ext cx="417512" cy="454025"/>
          </a:xfrm>
          <a:prstGeom prst="flowChartMagneticDisk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latinLnBrk="1"/>
            <a:endParaRPr kumimoji="1" lang="en-US" sz="1000" b="1">
              <a:solidFill>
                <a:schemeClr val="bg1"/>
              </a:solidFill>
              <a:latin typeface="Calibri" charset="0"/>
            </a:endParaRPr>
          </a:p>
        </p:txBody>
      </p:sp>
      <p:sp>
        <p:nvSpPr>
          <p:cNvPr id="37898" name="Rectangle 11"/>
          <p:cNvSpPr>
            <a:spLocks noChangeArrowheads="1"/>
          </p:cNvSpPr>
          <p:nvPr/>
        </p:nvSpPr>
        <p:spPr bwMode="auto">
          <a:xfrm>
            <a:off x="1117600" y="5789612"/>
            <a:ext cx="2119313" cy="51752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Arial Unicode MS" charset="0"/>
              </a:rPr>
              <a:t>Shared Resource Pool with Applications</a:t>
            </a:r>
          </a:p>
        </p:txBody>
      </p:sp>
      <p:cxnSp>
        <p:nvCxnSpPr>
          <p:cNvPr id="37902" name="AutoShape 15"/>
          <p:cNvCxnSpPr>
            <a:cxnSpLocks noChangeShapeType="1"/>
            <a:stCxn id="37897" idx="4"/>
            <a:endCxn id="37900" idx="2"/>
          </p:cNvCxnSpPr>
          <p:nvPr/>
        </p:nvCxnSpPr>
        <p:spPr bwMode="auto">
          <a:xfrm flipV="1">
            <a:off x="2797175" y="3733800"/>
            <a:ext cx="263525" cy="1762125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7903" name="AutoShape 16"/>
          <p:cNvCxnSpPr>
            <a:cxnSpLocks noChangeShapeType="1"/>
            <a:stCxn id="37901" idx="2"/>
          </p:cNvCxnSpPr>
          <p:nvPr/>
        </p:nvCxnSpPr>
        <p:spPr bwMode="auto">
          <a:xfrm rot="16200000" flipH="1">
            <a:off x="434976" y="4217987"/>
            <a:ext cx="1573212" cy="452437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7904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3657600" y="1143000"/>
            <a:ext cx="5257800" cy="518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Monitor: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demand, utilization, performance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Decide: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Are there any bottlenecks?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Who is affected?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How much more do they need?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Act: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Adjust VM sizes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Migrate </a:t>
            </a:r>
            <a:r>
              <a:rPr lang="en-US" sz="2400" dirty="0" err="1" smtClean="0"/>
              <a:t>VMs</a:t>
            </a:r>
            <a:endParaRPr lang="en-US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Add/remove VM replicas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Add/remove capacity</a:t>
            </a:r>
          </a:p>
          <a:p>
            <a:pPr lvl="1">
              <a:buNone/>
            </a:pPr>
            <a:endParaRPr lang="en-US" sz="2400" dirty="0" smtClean="0">
              <a:cs typeface="ＭＳ Ｐゴシック" charset="-128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600200" y="1066800"/>
            <a:ext cx="1143000" cy="1068388"/>
            <a:chOff x="3648" y="3167"/>
            <a:chExt cx="720" cy="673"/>
          </a:xfrm>
        </p:grpSpPr>
        <p:pic>
          <p:nvPicPr>
            <p:cNvPr id="37908" name="Picture 20" descr="MCj01875870000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73" y="3167"/>
              <a:ext cx="566" cy="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9" name="AutoShape 21"/>
            <p:cNvSpPr>
              <a:spLocks noChangeArrowheads="1"/>
            </p:cNvSpPr>
            <p:nvPr/>
          </p:nvSpPr>
          <p:spPr bwMode="auto">
            <a:xfrm>
              <a:off x="3648" y="3168"/>
              <a:ext cx="720" cy="672"/>
            </a:xfrm>
            <a:prstGeom prst="cube">
              <a:avLst>
                <a:gd name="adj" fmla="val 25000"/>
              </a:avLst>
            </a:prstGeom>
            <a:solidFill>
              <a:srgbClr val="969696">
                <a:alpha val="5215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>
                <a:latin typeface="Calibri" charset="0"/>
              </a:endParaRPr>
            </a:p>
          </p:txBody>
        </p:sp>
      </p:grpSp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Dynamic Resource Reallocation</a:t>
            </a:r>
            <a:endParaRPr lang="en-US" dirty="0"/>
          </a:p>
        </p:txBody>
      </p:sp>
      <p:grpSp>
        <p:nvGrpSpPr>
          <p:cNvPr id="3" name="Group 31"/>
          <p:cNvGrpSpPr/>
          <p:nvPr/>
        </p:nvGrpSpPr>
        <p:grpSpPr>
          <a:xfrm>
            <a:off x="990600" y="2204921"/>
            <a:ext cx="2362200" cy="2138479"/>
            <a:chOff x="602718" y="1898118"/>
            <a:chExt cx="2970695" cy="3016193"/>
          </a:xfrm>
        </p:grpSpPr>
        <p:sp>
          <p:nvSpPr>
            <p:cNvPr id="27" name="Circular Arrow 26"/>
            <p:cNvSpPr/>
            <p:nvPr/>
          </p:nvSpPr>
          <p:spPr>
            <a:xfrm rot="600000" flipH="1">
              <a:off x="774303" y="1898118"/>
              <a:ext cx="2425888" cy="2368055"/>
            </a:xfrm>
            <a:prstGeom prst="circularArrow">
              <a:avLst>
                <a:gd name="adj1" fmla="val 12500"/>
                <a:gd name="adj2" fmla="val 732848"/>
                <a:gd name="adj3" fmla="val 20457681"/>
                <a:gd name="adj4" fmla="val 12229749"/>
                <a:gd name="adj5" fmla="val 14383"/>
              </a:avLst>
            </a:prstGeom>
            <a:solidFill>
              <a:schemeClr val="accent3">
                <a:lumMod val="60000"/>
                <a:lumOff val="40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Circular Arrow 29"/>
            <p:cNvSpPr/>
            <p:nvPr/>
          </p:nvSpPr>
          <p:spPr>
            <a:xfrm rot="8100000" flipH="1">
              <a:off x="754013" y="2392313"/>
              <a:ext cx="2819400" cy="2438400"/>
            </a:xfrm>
            <a:prstGeom prst="circularArrow">
              <a:avLst>
                <a:gd name="adj1" fmla="val 12500"/>
                <a:gd name="adj2" fmla="val 732848"/>
                <a:gd name="adj3" fmla="val 20457681"/>
                <a:gd name="adj4" fmla="val 13088092"/>
                <a:gd name="adj5" fmla="val 14383"/>
              </a:avLst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Circular Arrow 30"/>
            <p:cNvSpPr/>
            <p:nvPr/>
          </p:nvSpPr>
          <p:spPr>
            <a:xfrm rot="14760000" flipH="1">
              <a:off x="357797" y="2479447"/>
              <a:ext cx="2679785" cy="2189944"/>
            </a:xfrm>
            <a:prstGeom prst="circularArrow">
              <a:avLst>
                <a:gd name="adj1" fmla="val 12500"/>
                <a:gd name="adj2" fmla="val 732848"/>
                <a:gd name="adj3" fmla="val 20457681"/>
                <a:gd name="adj4" fmla="val 11999226"/>
                <a:gd name="adj5" fmla="val 14383"/>
              </a:avLst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7899" name="Rectangle 12"/>
          <p:cNvSpPr>
            <a:spLocks noChangeArrowheads="1"/>
          </p:cNvSpPr>
          <p:nvPr/>
        </p:nvSpPr>
        <p:spPr bwMode="auto">
          <a:xfrm>
            <a:off x="1676400" y="2209800"/>
            <a:ext cx="762000" cy="3048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n>
                  <a:solidFill>
                    <a:srgbClr val="000000"/>
                  </a:solidFill>
                </a:ln>
                <a:noFill/>
                <a:latin typeface="Arial Unicode MS" charset="0"/>
              </a:rPr>
              <a:t>Decide</a:t>
            </a:r>
          </a:p>
        </p:txBody>
      </p:sp>
      <p:sp>
        <p:nvSpPr>
          <p:cNvPr id="37901" name="Rectangle 14"/>
          <p:cNvSpPr>
            <a:spLocks noChangeArrowheads="1"/>
          </p:cNvSpPr>
          <p:nvPr/>
        </p:nvSpPr>
        <p:spPr bwMode="auto">
          <a:xfrm>
            <a:off x="355600" y="3352800"/>
            <a:ext cx="1277938" cy="30480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n>
                  <a:solidFill>
                    <a:schemeClr val="tx1"/>
                  </a:solidFill>
                </a:ln>
                <a:latin typeface="Arial Unicode MS" charset="0"/>
              </a:rPr>
              <a:t>Act</a:t>
            </a:r>
            <a:r>
              <a:rPr lang="en-US" sz="1400" b="1" dirty="0">
                <a:latin typeface="Arial Unicode MS" charset="0"/>
              </a:rPr>
              <a:t>/Adapt </a:t>
            </a:r>
          </a:p>
        </p:txBody>
      </p:sp>
      <p:sp>
        <p:nvSpPr>
          <p:cNvPr id="37900" name="Rectangle 13"/>
          <p:cNvSpPr>
            <a:spLocks noChangeArrowheads="1"/>
          </p:cNvSpPr>
          <p:nvPr/>
        </p:nvSpPr>
        <p:spPr bwMode="auto">
          <a:xfrm>
            <a:off x="2489200" y="3429000"/>
            <a:ext cx="1143000" cy="304800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Arial Unicode MS" charset="0"/>
              </a:rPr>
              <a:t>Monitor.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Blackbox</a:t>
            </a:r>
            <a:r>
              <a:rPr lang="en-US" dirty="0" smtClean="0"/>
              <a:t>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Hotspot </a:t>
            </a:r>
            <a:r>
              <a:rPr lang="en-US" dirty="0" smtClean="0"/>
              <a:t>Detection </a:t>
            </a:r>
            <a:r>
              <a:rPr lang="en-US" dirty="0" smtClean="0"/>
              <a:t>[NSDI’07]</a:t>
            </a:r>
            <a:endParaRPr lang="en-US" dirty="0" smtClean="0"/>
          </a:p>
          <a:p>
            <a:pPr lvl="1"/>
            <a:r>
              <a:rPr lang="en-US" dirty="0" smtClean="0"/>
              <a:t>Application agnostic profiles</a:t>
            </a:r>
          </a:p>
          <a:p>
            <a:pPr lvl="1"/>
            <a:r>
              <a:rPr lang="en-US" dirty="0" smtClean="0"/>
              <a:t>CPU, network, disk – can monitor in VMM</a:t>
            </a:r>
          </a:p>
          <a:p>
            <a:pPr lvl="1"/>
            <a:r>
              <a:rPr lang="en-US" dirty="0" smtClean="0"/>
              <a:t>Migrate VM when high utilization</a:t>
            </a:r>
          </a:p>
          <a:p>
            <a:pPr lvl="1"/>
            <a:r>
              <a:rPr lang="en-US" dirty="0" smtClean="0"/>
              <a:t>e.g., Volume = 1/(1-CPU)*1/(1-Net)*1/(1-Disk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Pick migrations to maximize volume per byte moved</a:t>
            </a:r>
          </a:p>
          <a:p>
            <a:r>
              <a:rPr lang="en-US" sz="3294" dirty="0" smtClean="0"/>
              <a:t>Drawbacks</a:t>
            </a:r>
          </a:p>
          <a:p>
            <a:pPr lvl="1"/>
            <a:r>
              <a:rPr lang="en-US" dirty="0" smtClean="0"/>
              <a:t>What is a good high utilization watermark?</a:t>
            </a:r>
          </a:p>
          <a:p>
            <a:pPr lvl="1"/>
            <a:r>
              <a:rPr lang="en-US" dirty="0" smtClean="0"/>
              <a:t>Detect problems only after they’ve happened</a:t>
            </a:r>
          </a:p>
          <a:p>
            <a:pPr lvl="1"/>
            <a:r>
              <a:rPr lang="en-US" dirty="0" smtClean="0"/>
              <a:t>No predictive capability – how much more is needed?</a:t>
            </a:r>
          </a:p>
          <a:p>
            <a:pPr lvl="1"/>
            <a:r>
              <a:rPr lang="en-US" dirty="0" smtClean="0"/>
              <a:t>Dependencies between </a:t>
            </a:r>
            <a:r>
              <a:rPr lang="en-US" dirty="0" err="1" smtClean="0"/>
              <a:t>VMs</a:t>
            </a:r>
            <a:r>
              <a:rPr lang="en-US" dirty="0" smtClean="0"/>
              <a:t>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888235" y="3478657"/>
            <a:ext cx="3389824" cy="3222852"/>
            <a:chOff x="2583" y="1230"/>
            <a:chExt cx="3033" cy="2914"/>
          </a:xfrm>
        </p:grpSpPr>
        <p:pic>
          <p:nvPicPr>
            <p:cNvPr id="7" name="Picture 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90" y="3351"/>
              <a:ext cx="2226" cy="153"/>
            </a:xfrm>
            <a:prstGeom prst="rect">
              <a:avLst/>
            </a:prstGeom>
            <a:noFill/>
          </p:spPr>
        </p:pic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 rot="16200000">
              <a:off x="1810" y="2003"/>
              <a:ext cx="2179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Fraction of 2</a:t>
              </a:r>
              <a:r>
                <a:rPr lang="en-US" sz="2000" baseline="30000" dirty="0"/>
                <a:t>nd</a:t>
              </a:r>
              <a:r>
                <a:rPr lang="en-US" sz="2000" dirty="0"/>
                <a:t> Most </a:t>
              </a:r>
              <a:r>
                <a:rPr lang="en-US" sz="2000" dirty="0" smtClean="0"/>
                <a:t>Popular Transaction</a:t>
              </a:r>
              <a:endParaRPr lang="en-US" sz="2000" dirty="0"/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3504" y="3504"/>
              <a:ext cx="2112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Fraction of Most </a:t>
              </a:r>
              <a:r>
                <a:rPr lang="en-US" sz="2000" dirty="0" smtClean="0"/>
                <a:t>Popular Transaction</a:t>
              </a:r>
              <a:endParaRPr lang="en-US" sz="2000" dirty="0"/>
            </a:p>
          </p:txBody>
        </p:sp>
        <p:pic>
          <p:nvPicPr>
            <p:cNvPr id="10" name="Picture 1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16" y="1230"/>
              <a:ext cx="2256" cy="2082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Up the Stack: </a:t>
            </a:r>
            <a:r>
              <a:rPr lang="en-US" dirty="0" err="1" smtClean="0"/>
              <a:t>Graybox</a:t>
            </a:r>
            <a:r>
              <a:rPr lang="en-US" dirty="0" smtClean="0"/>
              <a:t>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86" y="1600199"/>
            <a:ext cx="2641404" cy="1722485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Queuing models</a:t>
            </a:r>
            <a:endParaRPr lang="en-US" sz="2400" dirty="0" smtClean="0"/>
          </a:p>
          <a:p>
            <a:r>
              <a:rPr lang="en-US" sz="2400" dirty="0" smtClean="0"/>
              <a:t>Response time </a:t>
            </a:r>
          </a:p>
          <a:p>
            <a:r>
              <a:rPr lang="en-US" sz="2400" dirty="0" smtClean="0"/>
              <a:t>Predictive</a:t>
            </a:r>
            <a:endParaRPr lang="en-US" sz="2400" dirty="0" smtClean="0"/>
          </a:p>
          <a:p>
            <a:r>
              <a:rPr lang="en-US" sz="2400" dirty="0" smtClean="0"/>
              <a:t>Dependencies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78059" y="4611093"/>
            <a:ext cx="4669553" cy="16600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/>
              <a:t>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earn models on the fly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Exploit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non-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stationarity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lang="en-US" sz="2800" dirty="0" smtClean="0"/>
              <a:t>Online </a:t>
            </a:r>
            <a:r>
              <a:rPr lang="en-US" sz="2800" dirty="0" smtClean="0"/>
              <a:t>regression [NSDI’07]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Graybox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1138" name="Object 3"/>
          <p:cNvGraphicFramePr>
            <a:graphicFrameLocks noChangeAspect="1"/>
          </p:cNvGraphicFramePr>
          <p:nvPr/>
        </p:nvGraphicFramePr>
        <p:xfrm>
          <a:off x="1888207" y="1600199"/>
          <a:ext cx="7059405" cy="2391559"/>
        </p:xfrm>
        <a:graphic>
          <a:graphicData uri="http://schemas.openxmlformats.org/presentationml/2006/ole">
            <p:oleObj spid="_x0000_s91138" name="Visio" r:id="rId5" imgW="8788400" imgH="29845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Content Placeholder 2"/>
          <p:cNvSpPr txBox="1">
            <a:spLocks/>
          </p:cNvSpPr>
          <p:nvPr/>
        </p:nvSpPr>
        <p:spPr bwMode="auto">
          <a:xfrm>
            <a:off x="717550" y="1295400"/>
            <a:ext cx="7772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400" dirty="0" smtClean="0">
                <a:latin typeface="Calibri" pitchFamily="34" charset="0"/>
                <a:ea typeface="ＭＳ Ｐゴシック" pitchFamily="34" charset="-128"/>
              </a:rPr>
              <a:t>Different actions, costs, outcomes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latin typeface="Calibri" pitchFamily="34" charset="0"/>
                <a:ea typeface="ＭＳ Ｐゴシック" pitchFamily="34" charset="-128"/>
              </a:rPr>
              <a:t>Change VM allocations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latin typeface="Calibri" pitchFamily="34" charset="0"/>
                <a:ea typeface="ＭＳ Ｐゴシック" pitchFamily="34" charset="-128"/>
              </a:rPr>
              <a:t>VM migrations, add/remove VM clones</a:t>
            </a:r>
          </a:p>
          <a:p>
            <a:pPr marL="800100" lvl="1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latin typeface="Calibri" pitchFamily="34" charset="0"/>
                <a:ea typeface="ＭＳ Ｐゴシック" pitchFamily="34" charset="-128"/>
              </a:rPr>
              <a:t>Add or remove</a:t>
            </a:r>
            <a:r>
              <a:rPr lang="en-US" sz="2000" dirty="0" smtClean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sz="2000" dirty="0" smtClean="0">
                <a:latin typeface="Calibri" pitchFamily="34" charset="0"/>
                <a:ea typeface="ＭＳ Ｐゴシック" pitchFamily="34" charset="-128"/>
              </a:rPr>
              <a:t>physical </a:t>
            </a:r>
            <a:r>
              <a:rPr lang="en-US" sz="2000" dirty="0" smtClean="0">
                <a:latin typeface="Calibri" pitchFamily="34" charset="0"/>
                <a:ea typeface="ＭＳ Ｐゴシック" pitchFamily="34" charset="-128"/>
              </a:rPr>
              <a:t>capacity</a:t>
            </a:r>
            <a:endParaRPr lang="en-US" sz="2000" dirty="0" smtClean="0">
              <a:latin typeface="Calibri" pitchFamily="34" charset="0"/>
              <a:ea typeface="ＭＳ Ｐゴシック" pitchFamily="34" charset="-128"/>
            </a:endParaRPr>
          </a:p>
        </p:txBody>
      </p:sp>
      <p:sp>
        <p:nvSpPr>
          <p:cNvPr id="58372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Comparative Analysis of Actions</a:t>
            </a:r>
          </a:p>
        </p:txBody>
      </p:sp>
      <p:sp>
        <p:nvSpPr>
          <p:cNvPr id="58374" name="Slide Number Placeholder 7"/>
          <p:cNvSpPr>
            <a:spLocks noGrp="1"/>
          </p:cNvSpPr>
          <p:nvPr>
            <p:ph type="sldNum" sz="quarter" idx="11"/>
          </p:nvPr>
        </p:nvSpPr>
        <p:spPr bwMode="auto">
          <a:xfrm>
            <a:off x="2557219" y="3577015"/>
            <a:ext cx="28956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6895570-3896-49FB-9ACA-ACFF116F592F}" type="slidenum">
              <a:rPr lang="en-US">
                <a:latin typeface="Calibri" pitchFamily="34" charset="0"/>
              </a:rPr>
              <a:pPr/>
              <a:t>52</a:t>
            </a:fld>
            <a:endParaRPr lang="en-US">
              <a:latin typeface="Calibri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52400" y="2876425"/>
            <a:ext cx="8991600" cy="3811032"/>
            <a:chOff x="152400" y="1992868"/>
            <a:chExt cx="8991600" cy="3811032"/>
          </a:xfrm>
        </p:grpSpPr>
        <p:sp>
          <p:nvSpPr>
            <p:cNvPr id="12" name="TextBox 5"/>
            <p:cNvSpPr txBox="1">
              <a:spLocks noChangeArrowheads="1"/>
            </p:cNvSpPr>
            <p:nvPr/>
          </p:nvSpPr>
          <p:spPr bwMode="auto">
            <a:xfrm>
              <a:off x="1168864" y="1992868"/>
              <a:ext cx="23088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>
                  <a:latin typeface="Calibri" charset="0"/>
                </a:rPr>
                <a:t>Response time Penalty</a:t>
              </a:r>
              <a:endParaRPr lang="en-US" dirty="0">
                <a:latin typeface="Calibri" charset="0"/>
              </a:endParaRPr>
            </a:p>
          </p:txBody>
        </p:sp>
        <p:graphicFrame>
          <p:nvGraphicFramePr>
            <p:cNvPr id="13" name="Chart 12"/>
            <p:cNvGraphicFramePr/>
            <p:nvPr/>
          </p:nvGraphicFramePr>
          <p:xfrm>
            <a:off x="152400" y="2362200"/>
            <a:ext cx="3886200" cy="315504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pic>
          <p:nvPicPr>
            <p:cNvPr id="14" name="Picture 8" descr="actions.jp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12038" y="2667000"/>
              <a:ext cx="1731962" cy="2286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5" name="Chart 14"/>
            <p:cNvGraphicFramePr>
              <a:graphicFrameLocks/>
            </p:cNvGraphicFramePr>
            <p:nvPr/>
          </p:nvGraphicFramePr>
          <p:xfrm>
            <a:off x="3962400" y="2362200"/>
            <a:ext cx="3505200" cy="34417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TextBox 5"/>
            <p:cNvSpPr txBox="1">
              <a:spLocks noChangeArrowheads="1"/>
            </p:cNvSpPr>
            <p:nvPr/>
          </p:nvSpPr>
          <p:spPr bwMode="auto">
            <a:xfrm>
              <a:off x="5105491" y="1992868"/>
              <a:ext cx="157225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>
                  <a:latin typeface="Calibri" charset="0"/>
                </a:rPr>
                <a:t>Energy Penalty</a:t>
              </a:r>
              <a:endParaRPr lang="en-US" dirty="0">
                <a:latin typeface="Calibri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Acting to Balance Cost </a:t>
            </a:r>
            <a:r>
              <a:rPr lang="en-US" sz="3600" dirty="0"/>
              <a:t>vs.</a:t>
            </a:r>
            <a:r>
              <a:rPr lang="en-US" sz="3600" dirty="0" smtClean="0"/>
              <a:t> Benefit</a:t>
            </a:r>
            <a:endParaRPr lang="en-US" sz="3600" dirty="0"/>
          </a:p>
        </p:txBody>
      </p:sp>
      <p:sp>
        <p:nvSpPr>
          <p:cNvPr id="47107" name="Text Box 5"/>
          <p:cNvSpPr txBox="1">
            <a:spLocks noChangeArrowheads="1"/>
          </p:cNvSpPr>
          <p:nvPr/>
        </p:nvSpPr>
        <p:spPr bwMode="auto">
          <a:xfrm>
            <a:off x="7543800" y="3058558"/>
            <a:ext cx="7239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ko-KR" b="1">
                <a:latin typeface="Calibri" charset="0"/>
                <a:cs typeface="맑은 고딕" charset="0"/>
              </a:rPr>
              <a:t>Time</a:t>
            </a:r>
          </a:p>
        </p:txBody>
      </p:sp>
      <p:sp>
        <p:nvSpPr>
          <p:cNvPr id="47108" name="Line 12"/>
          <p:cNvSpPr>
            <a:spLocks noChangeShapeType="1"/>
          </p:cNvSpPr>
          <p:nvPr/>
        </p:nvSpPr>
        <p:spPr bwMode="auto">
          <a:xfrm flipV="1">
            <a:off x="2438400" y="336335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47109" name="Straight Arrow Connector 35"/>
          <p:cNvCxnSpPr>
            <a:cxnSpLocks noChangeShapeType="1"/>
          </p:cNvCxnSpPr>
          <p:nvPr/>
        </p:nvCxnSpPr>
        <p:spPr bwMode="auto">
          <a:xfrm>
            <a:off x="1219200" y="3515758"/>
            <a:ext cx="70104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7110" name="TextBox 51"/>
          <p:cNvSpPr txBox="1">
            <a:spLocks noChangeArrowheads="1"/>
          </p:cNvSpPr>
          <p:nvPr/>
        </p:nvSpPr>
        <p:spPr bwMode="auto">
          <a:xfrm>
            <a:off x="990600" y="1218645"/>
            <a:ext cx="70866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 dirty="0" smtClean="0">
                <a:solidFill>
                  <a:srgbClr val="4F81BD"/>
                </a:solidFill>
                <a:latin typeface="Calibri" charset="0"/>
              </a:rPr>
              <a:t> Adaptation </a:t>
            </a:r>
            <a:r>
              <a:rPr lang="en-US" sz="2000" b="1" dirty="0">
                <a:solidFill>
                  <a:srgbClr val="4F81BD"/>
                </a:solidFill>
                <a:latin typeface="Calibri" charset="0"/>
              </a:rPr>
              <a:t>costs</a:t>
            </a:r>
            <a:r>
              <a:rPr lang="en-US" sz="2000" b="1" dirty="0" smtClean="0">
                <a:solidFill>
                  <a:srgbClr val="4F81BD"/>
                </a:solidFill>
                <a:latin typeface="Calibri" charset="0"/>
              </a:rPr>
              <a:t> are immediate, benefits accrued </a:t>
            </a:r>
            <a:r>
              <a:rPr lang="en-US" sz="2000" b="1" dirty="0">
                <a:solidFill>
                  <a:srgbClr val="4F81BD"/>
                </a:solidFill>
                <a:latin typeface="Calibri" charset="0"/>
              </a:rPr>
              <a:t>over </a:t>
            </a:r>
            <a:r>
              <a:rPr lang="en-US" sz="2000" b="1" dirty="0" smtClean="0">
                <a:solidFill>
                  <a:srgbClr val="4F81BD"/>
                </a:solidFill>
                <a:latin typeface="Calibri" charset="0"/>
              </a:rPr>
              <a:t>time </a:t>
            </a:r>
          </a:p>
          <a:p>
            <a:pPr>
              <a:buFont typeface="Arial"/>
              <a:buChar char="•"/>
            </a:pPr>
            <a:r>
              <a:rPr lang="en-US" sz="2000" b="1" dirty="0" smtClean="0">
                <a:solidFill>
                  <a:srgbClr val="4F81BD"/>
                </a:solidFill>
                <a:latin typeface="Calibri" charset="0"/>
              </a:rPr>
              <a:t> Pick actions to maximize benefit after recouping costs</a:t>
            </a:r>
            <a:endParaRPr lang="en-US" sz="2000" b="1" dirty="0">
              <a:solidFill>
                <a:srgbClr val="4F81BD"/>
              </a:solidFill>
              <a:latin typeface="Calibri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38400" y="3504645"/>
            <a:ext cx="762000" cy="1676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200400" y="2742645"/>
            <a:ext cx="4191000" cy="76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6" name="Straight Arrow Connector 55"/>
          <p:cNvCxnSpPr/>
          <p:nvPr/>
        </p:nvCxnSpPr>
        <p:spPr>
          <a:xfrm rot="16200000" flipH="1">
            <a:off x="1828800" y="2895045"/>
            <a:ext cx="762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4" name="TextBox 56"/>
          <p:cNvSpPr txBox="1">
            <a:spLocks noChangeArrowheads="1"/>
          </p:cNvSpPr>
          <p:nvPr/>
        </p:nvSpPr>
        <p:spPr bwMode="auto">
          <a:xfrm>
            <a:off x="3810000" y="4114245"/>
            <a:ext cx="12573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adaptation </a:t>
            </a:r>
          </a:p>
          <a:p>
            <a:r>
              <a:rPr lang="en-US">
                <a:latin typeface="Calibri" charset="0"/>
              </a:rPr>
              <a:t>completed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rot="10800000">
            <a:off x="3200400" y="3580845"/>
            <a:ext cx="7620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6" name="TextBox 59"/>
          <p:cNvSpPr txBox="1">
            <a:spLocks noChangeArrowheads="1"/>
          </p:cNvSpPr>
          <p:nvPr/>
        </p:nvSpPr>
        <p:spPr bwMode="auto">
          <a:xfrm>
            <a:off x="1371600" y="2209245"/>
            <a:ext cx="12573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adaptation </a:t>
            </a:r>
          </a:p>
          <a:p>
            <a:r>
              <a:rPr lang="en-US">
                <a:latin typeface="Calibri" charset="0"/>
              </a:rPr>
              <a:t>starts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1690661" y="5384962"/>
            <a:ext cx="2762787" cy="369338"/>
            <a:chOff x="1767826" y="5580156"/>
            <a:chExt cx="2761712" cy="369439"/>
          </a:xfrm>
        </p:grpSpPr>
        <p:cxnSp>
          <p:nvCxnSpPr>
            <p:cNvPr id="62" name="Straight Connector 61"/>
            <p:cNvCxnSpPr/>
            <p:nvPr/>
          </p:nvCxnSpPr>
          <p:spPr>
            <a:xfrm>
              <a:off x="2515275" y="5580156"/>
              <a:ext cx="761704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124" name="TextBox 62"/>
            <p:cNvSpPr txBox="1">
              <a:spLocks noChangeArrowheads="1"/>
            </p:cNvSpPr>
            <p:nvPr/>
          </p:nvSpPr>
          <p:spPr bwMode="auto">
            <a:xfrm>
              <a:off x="1767826" y="5580162"/>
              <a:ext cx="2761712" cy="3694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latin typeface="Calibri" charset="0"/>
                </a:rPr>
                <a:t>known </a:t>
              </a:r>
              <a:r>
                <a:rPr lang="en-US" dirty="0" smtClean="0">
                  <a:latin typeface="Calibri" charset="0"/>
                </a:rPr>
                <a:t>adaptation duration</a:t>
              </a:r>
              <a:endParaRPr lang="en-US" dirty="0">
                <a:latin typeface="Calibri" charset="0"/>
              </a:endParaRPr>
            </a:p>
          </p:txBody>
        </p:sp>
      </p:grp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3002468" y="1980645"/>
            <a:ext cx="5059874" cy="457200"/>
            <a:chOff x="3002468" y="2209800"/>
            <a:chExt cx="5059874" cy="457200"/>
          </a:xfrm>
        </p:grpSpPr>
        <p:cxnSp>
          <p:nvCxnSpPr>
            <p:cNvPr id="64" name="Straight Connector 63"/>
            <p:cNvCxnSpPr/>
            <p:nvPr/>
          </p:nvCxnSpPr>
          <p:spPr>
            <a:xfrm>
              <a:off x="3200400" y="2667000"/>
              <a:ext cx="4191000" cy="0"/>
            </a:xfrm>
            <a:prstGeom prst="line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122" name="TextBox 65"/>
            <p:cNvSpPr txBox="1">
              <a:spLocks noChangeArrowheads="1"/>
            </p:cNvSpPr>
            <p:nvPr/>
          </p:nvSpPr>
          <p:spPr bwMode="auto">
            <a:xfrm>
              <a:off x="3002468" y="2209800"/>
              <a:ext cx="505987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 smtClean="0">
                  <a:latin typeface="Calibri" charset="0"/>
                </a:rPr>
                <a:t>unknown window W of </a:t>
              </a:r>
              <a:r>
                <a:rPr lang="en-US" dirty="0">
                  <a:latin typeface="Calibri" charset="0"/>
                </a:rPr>
                <a:t>benefit </a:t>
              </a:r>
              <a:r>
                <a:rPr lang="en-US" dirty="0" smtClean="0">
                  <a:latin typeface="Calibri" charset="0"/>
                </a:rPr>
                <a:t>accrual (forecasting)</a:t>
              </a:r>
              <a:endParaRPr lang="en-US" dirty="0">
                <a:latin typeface="Calibri" charset="0"/>
              </a:endParaRPr>
            </a:p>
          </p:txBody>
        </p:sp>
      </p:grpSp>
      <p:cxnSp>
        <p:nvCxnSpPr>
          <p:cNvPr id="70" name="Straight Arrow Connector 69"/>
          <p:cNvCxnSpPr/>
          <p:nvPr/>
        </p:nvCxnSpPr>
        <p:spPr>
          <a:xfrm rot="5400000" flipH="1" flipV="1">
            <a:off x="5601494" y="4086464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20" name="TextBox 70"/>
          <p:cNvSpPr txBox="1">
            <a:spLocks noChangeArrowheads="1"/>
          </p:cNvSpPr>
          <p:nvPr/>
        </p:nvSpPr>
        <p:spPr bwMode="auto">
          <a:xfrm>
            <a:off x="5213558" y="4582558"/>
            <a:ext cx="21778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Calibri" charset="0"/>
              </a:rPr>
              <a:t>time to recoup costs</a:t>
            </a:r>
            <a:endParaRPr lang="en-US" dirty="0">
              <a:latin typeface="Calibri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0" y="2742645"/>
            <a:ext cx="2971800" cy="773113"/>
          </a:xfrm>
          <a:prstGeom prst="rect">
            <a:avLst/>
          </a:prstGeom>
          <a:solidFill>
            <a:srgbClr val="66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3" name="Group 8"/>
          <p:cNvGrpSpPr>
            <a:grpSpLocks/>
          </p:cNvGrpSpPr>
          <p:nvPr/>
        </p:nvGrpSpPr>
        <p:grpSpPr bwMode="auto">
          <a:xfrm>
            <a:off x="0" y="5795216"/>
            <a:ext cx="9336956" cy="633413"/>
            <a:chOff x="1371600" y="2438399"/>
            <a:chExt cx="9336015" cy="633026"/>
          </a:xfrm>
        </p:grpSpPr>
        <p:sp>
          <p:nvSpPr>
            <p:cNvPr id="24" name="TextBox 9"/>
            <p:cNvSpPr txBox="1">
              <a:spLocks noChangeArrowheads="1"/>
            </p:cNvSpPr>
            <p:nvPr/>
          </p:nvSpPr>
          <p:spPr bwMode="auto">
            <a:xfrm>
              <a:off x="1371600" y="2438399"/>
              <a:ext cx="9336015" cy="49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600" i="1" dirty="0">
                  <a:latin typeface="Times New Roman" charset="0"/>
                  <a:ea typeface="Times New Roman" charset="0"/>
                  <a:cs typeface="Times New Roman" charset="0"/>
                </a:rPr>
                <a:t>U =</a:t>
              </a:r>
              <a:r>
                <a:rPr lang="en-US" sz="2600" i="1" dirty="0" smtClean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sz="2600" dirty="0" smtClean="0">
                  <a:latin typeface="Times New Roman" charset="0"/>
                  <a:ea typeface="Times New Roman" charset="0"/>
                  <a:cs typeface="Times New Roman" charset="0"/>
                </a:rPr>
                <a:t>(</a:t>
              </a:r>
              <a:r>
                <a:rPr lang="en-US" sz="2600" i="1" dirty="0" smtClean="0">
                  <a:latin typeface="Times New Roman" charset="0"/>
                  <a:ea typeface="Times New Roman" charset="0"/>
                  <a:cs typeface="Times New Roman" charset="0"/>
                </a:rPr>
                <a:t>W </a:t>
              </a:r>
              <a:r>
                <a:rPr lang="en-US" sz="2600" i="1" dirty="0">
                  <a:latin typeface="Times New Roman" charset="0"/>
                  <a:ea typeface="Times New Roman" charset="0"/>
                  <a:cs typeface="Times New Roman" charset="0"/>
                </a:rPr>
                <a:t>- </a:t>
              </a:r>
              <a:r>
                <a:rPr lang="ko-KR" altLang="en-US" sz="2600" dirty="0">
                  <a:latin typeface="Times New Roman" charset="0"/>
                  <a:ea typeface="Arial Unicode MS" charset="0"/>
                  <a:cs typeface="Arial Unicode MS" charset="0"/>
                </a:rPr>
                <a:t>∑</a:t>
              </a:r>
              <a:r>
                <a:rPr lang="en-US" altLang="ko-KR" sz="2600" i="1" dirty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ko-KR" sz="2600" i="1" dirty="0" err="1">
                  <a:latin typeface="Times New Roman" charset="0"/>
                  <a:ea typeface="Times New Roman" charset="0"/>
                  <a:cs typeface="Times New Roman" charset="0"/>
                </a:rPr>
                <a:t>d</a:t>
              </a:r>
              <a:r>
                <a:rPr lang="en-US" altLang="ko-KR" sz="1600" i="1" dirty="0" err="1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altLang="ko-KR" sz="1600" i="1" baseline="30000" dirty="0" err="1">
                  <a:latin typeface="Times New Roman" charset="0"/>
                  <a:ea typeface="Times New Roman" charset="0"/>
                  <a:cs typeface="Times New Roman" charset="0"/>
                </a:rPr>
                <a:t>k</a:t>
              </a:r>
              <a:r>
                <a:rPr lang="en-US" altLang="ko-KR" sz="2600" dirty="0">
                  <a:latin typeface="Times New Roman" charset="0"/>
                  <a:ea typeface="Times New Roman" charset="0"/>
                  <a:cs typeface="Times New Roman" charset="0"/>
                </a:rPr>
                <a:t>)</a:t>
              </a:r>
              <a:r>
                <a:rPr lang="en-US" altLang="ko-KR" sz="2600" i="1" dirty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ko-KR" altLang="en-US" sz="2600" dirty="0" smtClean="0">
                  <a:latin typeface="Times New Roman" charset="0"/>
                  <a:ea typeface="Arial Unicode MS" charset="0"/>
                  <a:cs typeface="Arial Unicode MS" charset="0"/>
                </a:rPr>
                <a:t>∑</a:t>
              </a:r>
              <a:r>
                <a:rPr lang="en-US" altLang="ko-KR" sz="2600" dirty="0" smtClean="0">
                  <a:latin typeface="Times New Roman" charset="0"/>
                  <a:ea typeface="Arial Unicode MS" charset="0"/>
                  <a:cs typeface="Arial Unicode MS" charset="0"/>
                </a:rPr>
                <a:t> (</a:t>
              </a:r>
              <a:r>
                <a:rPr lang="en-US" altLang="ko-KR" sz="2600" dirty="0" err="1" smtClean="0">
                  <a:latin typeface="Times New Roman" charset="0"/>
                  <a:ea typeface="Arial Unicode MS" charset="0"/>
                  <a:cs typeface="Arial Unicode MS" charset="0"/>
                </a:rPr>
                <a:t>ΔPerf+</a:t>
              </a:r>
              <a:r>
                <a:rPr lang="en-US" altLang="ko-KR" sz="2600" dirty="0" err="1" smtClean="0">
                  <a:latin typeface="Times New Roman" charset="0"/>
                  <a:ea typeface="Arial Unicode MS" charset="0"/>
                  <a:cs typeface="Arial Unicode MS" charset="0"/>
                </a:rPr>
                <a:t>ΔResources</a:t>
              </a:r>
              <a:r>
                <a:rPr lang="en-US" altLang="ko-KR" sz="2600" dirty="0" smtClean="0">
                  <a:latin typeface="Times New Roman" charset="0"/>
                  <a:ea typeface="Arial Unicode MS" charset="0"/>
                  <a:cs typeface="Arial Unicode MS" charset="0"/>
                </a:rPr>
                <a:t>) </a:t>
              </a:r>
              <a:r>
                <a:rPr lang="en-US" altLang="ko-KR" sz="2600" i="1" dirty="0" smtClean="0">
                  <a:latin typeface="Times New Roman" charset="0"/>
                  <a:ea typeface="Times New Roman" charset="0"/>
                  <a:cs typeface="Times New Roman" charset="0"/>
                </a:rPr>
                <a:t>−</a:t>
              </a:r>
              <a:r>
                <a:rPr lang="ko-KR" altLang="en-US" sz="2600" dirty="0" smtClean="0">
                  <a:latin typeface="Times New Roman" charset="0"/>
                  <a:ea typeface="Arial Unicode MS" charset="0"/>
                  <a:cs typeface="Arial Unicode MS" charset="0"/>
                </a:rPr>
                <a:t>∑</a:t>
              </a:r>
              <a:r>
                <a:rPr lang="en-US" altLang="ko-KR" sz="2600" i="1" dirty="0" smtClean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ko-KR" sz="2600" dirty="0">
                  <a:latin typeface="Times New Roman" charset="0"/>
                  <a:ea typeface="Times New Roman" charset="0"/>
                  <a:cs typeface="Times New Roman" charset="0"/>
                </a:rPr>
                <a:t>(</a:t>
              </a:r>
              <a:r>
                <a:rPr lang="en-US" altLang="ko-KR" sz="2600" i="1" dirty="0" err="1">
                  <a:latin typeface="Times New Roman" charset="0"/>
                  <a:ea typeface="Times New Roman" charset="0"/>
                  <a:cs typeface="Times New Roman" charset="0"/>
                </a:rPr>
                <a:t>d</a:t>
              </a:r>
              <a:r>
                <a:rPr lang="en-US" altLang="ko-KR" sz="1400" i="1" dirty="0" err="1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altLang="ko-KR" sz="1400" i="1" baseline="30000" dirty="0" err="1">
                  <a:latin typeface="Times New Roman" charset="0"/>
                  <a:ea typeface="Times New Roman" charset="0"/>
                  <a:cs typeface="Times New Roman" charset="0"/>
                </a:rPr>
                <a:t>k</a:t>
              </a:r>
              <a:r>
                <a:rPr lang="en-US" altLang="ko-KR" sz="2600" i="1" dirty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ko-KR" altLang="en-US" sz="2600" dirty="0">
                  <a:latin typeface="Times New Roman" charset="0"/>
                  <a:ea typeface="Arial Unicode MS" charset="0"/>
                  <a:cs typeface="Arial Unicode MS" charset="0"/>
                </a:rPr>
                <a:t>∑</a:t>
              </a:r>
              <a:r>
                <a:rPr lang="en-US" altLang="ko-KR" sz="2600" dirty="0" smtClean="0">
                  <a:latin typeface="Times New Roman" charset="0"/>
                  <a:ea typeface="Times New Roman" charset="0"/>
                  <a:cs typeface="Times New Roman" charset="0"/>
                </a:rPr>
                <a:t> </a:t>
              </a:r>
              <a:r>
                <a:rPr lang="en-US" altLang="ko-KR" sz="2600" dirty="0" err="1" smtClean="0">
                  <a:latin typeface="Times New Roman" charset="0"/>
                  <a:ea typeface="Times New Roman" charset="0"/>
                  <a:cs typeface="Times New Roman" charset="0"/>
                </a:rPr>
                <a:t>Perf</a:t>
              </a:r>
              <a:r>
                <a:rPr lang="en-US" altLang="ko-KR" sz="2600" baseline="-25000" dirty="0" err="1" smtClean="0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altLang="ko-KR" sz="2600" dirty="0" err="1" smtClean="0">
                  <a:latin typeface="Times New Roman" charset="0"/>
                  <a:ea typeface="Times New Roman" charset="0"/>
                  <a:cs typeface="Times New Roman" charset="0"/>
                </a:rPr>
                <a:t>+Resources</a:t>
              </a:r>
              <a:r>
                <a:rPr lang="en-US" altLang="ko-KR" sz="2600" dirty="0" smtClean="0">
                  <a:latin typeface="Times New Roman" charset="0"/>
                  <a:ea typeface="Times New Roman" charset="0"/>
                  <a:cs typeface="Times New Roman" charset="0"/>
                </a:rPr>
                <a:t>)</a:t>
              </a:r>
              <a:r>
                <a:rPr lang="en-US" altLang="ko-KR" sz="2600" i="1" dirty="0" smtClean="0"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r>
                <a:rPr lang="en-US" sz="2600" i="1" dirty="0" smtClean="0"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  <a:endParaRPr lang="en-US" sz="2600" i="1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25" name="TextBox 10"/>
            <p:cNvSpPr txBox="1">
              <a:spLocks noChangeArrowheads="1"/>
            </p:cNvSpPr>
            <p:nvPr/>
          </p:nvSpPr>
          <p:spPr bwMode="auto">
            <a:xfrm>
              <a:off x="2791050" y="2761671"/>
              <a:ext cx="60358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i="1" dirty="0" err="1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sz="1400" i="1" baseline="30000" dirty="0" err="1">
                  <a:latin typeface="Times New Roman" charset="0"/>
                  <a:ea typeface="Times New Roman" charset="0"/>
                  <a:cs typeface="Times New Roman" charset="0"/>
                </a:rPr>
                <a:t>k</a:t>
              </a:r>
              <a:r>
                <a:rPr lang="ko-KR" altLang="en-US" sz="1400" i="1" dirty="0">
                  <a:latin typeface="Times New Roman" charset="0"/>
                  <a:ea typeface="Arial Unicode MS" charset="0"/>
                  <a:cs typeface="Arial Unicode MS" charset="0"/>
                </a:rPr>
                <a:t>∈</a:t>
              </a:r>
              <a:r>
                <a:rPr lang="en-US" altLang="ko-KR" sz="1400" i="1" dirty="0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sz="1400" i="1" dirty="0"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</a:p>
          </p:txBody>
        </p:sp>
        <p:sp>
          <p:nvSpPr>
            <p:cNvPr id="26" name="TextBox 11"/>
            <p:cNvSpPr txBox="1">
              <a:spLocks noChangeArrowheads="1"/>
            </p:cNvSpPr>
            <p:nvPr/>
          </p:nvSpPr>
          <p:spPr bwMode="auto">
            <a:xfrm>
              <a:off x="3724946" y="2753424"/>
              <a:ext cx="51390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400" i="1">
                  <a:latin typeface="Times New Roman" charset="0"/>
                  <a:ea typeface="Times New Roman" charset="0"/>
                  <a:cs typeface="Times New Roman" charset="0"/>
                </a:rPr>
                <a:t>s</a:t>
              </a:r>
              <a:r>
                <a:rPr lang="ko-KR" altLang="en-US" sz="1400" i="1">
                  <a:latin typeface="Times New Roman" charset="0"/>
                  <a:ea typeface="Arial Unicode MS" charset="0"/>
                  <a:cs typeface="Arial Unicode MS" charset="0"/>
                </a:rPr>
                <a:t>∈</a:t>
              </a:r>
              <a:r>
                <a:rPr lang="en-US" altLang="ko-KR" sz="1400" i="1">
                  <a:latin typeface="Times New Roman" charset="0"/>
                  <a:ea typeface="Times New Roman" charset="0"/>
                  <a:cs typeface="Times New Roman" charset="0"/>
                </a:rPr>
                <a:t>S</a:t>
              </a:r>
              <a:r>
                <a:rPr lang="en-US" sz="1400" i="1"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</a:p>
          </p:txBody>
        </p:sp>
        <p:sp>
          <p:nvSpPr>
            <p:cNvPr id="27" name="TextBox 12"/>
            <p:cNvSpPr txBox="1">
              <a:spLocks noChangeArrowheads="1"/>
            </p:cNvSpPr>
            <p:nvPr/>
          </p:nvSpPr>
          <p:spPr bwMode="auto">
            <a:xfrm>
              <a:off x="4702066" y="2763648"/>
              <a:ext cx="60358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 i="1" dirty="0" err="1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sz="1400" i="1" baseline="30000" dirty="0" err="1">
                  <a:latin typeface="Times New Roman" charset="0"/>
                  <a:ea typeface="Times New Roman" charset="0"/>
                  <a:cs typeface="Times New Roman" charset="0"/>
                </a:rPr>
                <a:t>k</a:t>
              </a:r>
              <a:r>
                <a:rPr lang="ko-KR" altLang="en-US" sz="1400" i="1" dirty="0">
                  <a:latin typeface="Times New Roman" charset="0"/>
                  <a:ea typeface="Arial Unicode MS" charset="0"/>
                  <a:cs typeface="Arial Unicode MS" charset="0"/>
                </a:rPr>
                <a:t>∈</a:t>
              </a:r>
              <a:r>
                <a:rPr lang="en-US" altLang="ko-KR" sz="1400" i="1" dirty="0">
                  <a:latin typeface="Times New Roman" charset="0"/>
                  <a:ea typeface="Times New Roman" charset="0"/>
                  <a:cs typeface="Times New Roman" charset="0"/>
                </a:rPr>
                <a:t>A</a:t>
              </a:r>
              <a:r>
                <a:rPr lang="en-US" sz="1400" i="1" dirty="0"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</a:p>
          </p:txBody>
        </p:sp>
        <p:sp>
          <p:nvSpPr>
            <p:cNvPr id="28" name="TextBox 13"/>
            <p:cNvSpPr txBox="1">
              <a:spLocks noChangeArrowheads="1"/>
            </p:cNvSpPr>
            <p:nvPr/>
          </p:nvSpPr>
          <p:spPr bwMode="auto">
            <a:xfrm>
              <a:off x="5575485" y="2740223"/>
              <a:ext cx="51390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400" i="1">
                  <a:latin typeface="Times New Roman" charset="0"/>
                  <a:ea typeface="Times New Roman" charset="0"/>
                  <a:cs typeface="Times New Roman" charset="0"/>
                </a:rPr>
                <a:t>s</a:t>
              </a:r>
              <a:r>
                <a:rPr lang="ko-KR" altLang="en-US" sz="1400" i="1">
                  <a:latin typeface="Times New Roman" charset="0"/>
                  <a:ea typeface="Arial Unicode MS" charset="0"/>
                  <a:cs typeface="Arial Unicode MS" charset="0"/>
                </a:rPr>
                <a:t>∈</a:t>
              </a:r>
              <a:r>
                <a:rPr lang="en-US" altLang="ko-KR" sz="1400" i="1">
                  <a:latin typeface="Times New Roman" charset="0"/>
                  <a:ea typeface="Times New Roman" charset="0"/>
                  <a:cs typeface="Times New Roman" charset="0"/>
                </a:rPr>
                <a:t>S</a:t>
              </a:r>
              <a:r>
                <a:rPr lang="en-US" sz="1400" i="1">
                  <a:latin typeface="Times New Roman" charset="0"/>
                  <a:ea typeface="Times New Roman" charset="0"/>
                  <a:cs typeface="Times New Roman" charset="0"/>
                </a:rPr>
                <a:t>  </a:t>
              </a:r>
            </a:p>
          </p:txBody>
        </p:sp>
      </p:grpSp>
      <p:grpSp>
        <p:nvGrpSpPr>
          <p:cNvPr id="29" name="Group 18"/>
          <p:cNvGrpSpPr>
            <a:grpSpLocks/>
          </p:cNvGrpSpPr>
          <p:nvPr/>
        </p:nvGrpSpPr>
        <p:grpSpPr bwMode="auto">
          <a:xfrm>
            <a:off x="617800" y="5795217"/>
            <a:ext cx="4805060" cy="1019260"/>
            <a:chOff x="4501039" y="3886200"/>
            <a:chExt cx="1036753" cy="911247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501039" y="3886200"/>
              <a:ext cx="1036753" cy="533072"/>
            </a:xfrm>
            <a:prstGeom prst="rect">
              <a:avLst/>
            </a:prstGeom>
            <a:noFill/>
            <a:ln w="381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  <p:sp>
          <p:nvSpPr>
            <p:cNvPr id="31" name="TextBox 17"/>
            <p:cNvSpPr txBox="1">
              <a:spLocks noChangeArrowheads="1"/>
            </p:cNvSpPr>
            <p:nvPr/>
          </p:nvSpPr>
          <p:spPr bwMode="auto">
            <a:xfrm>
              <a:off x="4853604" y="4467254"/>
              <a:ext cx="434676" cy="330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smtClean="0"/>
                <a:t>Benefit</a:t>
              </a:r>
              <a:endParaRPr lang="en-US" sz="1800" dirty="0"/>
            </a:p>
          </p:txBody>
        </p:sp>
      </p:grpSp>
      <p:grpSp>
        <p:nvGrpSpPr>
          <p:cNvPr id="32" name="Group 21"/>
          <p:cNvGrpSpPr>
            <a:grpSpLocks/>
          </p:cNvGrpSpPr>
          <p:nvPr/>
        </p:nvGrpSpPr>
        <p:grpSpPr bwMode="auto">
          <a:xfrm>
            <a:off x="5583074" y="5795216"/>
            <a:ext cx="3415565" cy="902732"/>
            <a:chOff x="6553198" y="3886200"/>
            <a:chExt cx="1066776" cy="902176"/>
          </a:xfrm>
        </p:grpSpPr>
        <p:sp>
          <p:nvSpPr>
            <p:cNvPr id="33" name="Rectangle 32"/>
            <p:cNvSpPr/>
            <p:nvPr/>
          </p:nvSpPr>
          <p:spPr bwMode="auto">
            <a:xfrm>
              <a:off x="6553198" y="3886200"/>
              <a:ext cx="1066776" cy="533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  <p:sp>
          <p:nvSpPr>
            <p:cNvPr id="34" name="TextBox 20"/>
            <p:cNvSpPr txBox="1">
              <a:spLocks noChangeArrowheads="1"/>
            </p:cNvSpPr>
            <p:nvPr/>
          </p:nvSpPr>
          <p:spPr bwMode="auto">
            <a:xfrm>
              <a:off x="6771023" y="4419272"/>
              <a:ext cx="677530" cy="369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 smtClean="0"/>
                <a:t>Adaptation Cost </a:t>
              </a:r>
              <a:endParaRPr lang="en-US" sz="1800" dirty="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Conjoint Sequential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6800"/>
            <a:ext cx="7696200" cy="4983163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339806" y="1221264"/>
            <a:ext cx="990601" cy="239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300118" y="1184751"/>
            <a:ext cx="989012" cy="239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210969" y="1221264"/>
            <a:ext cx="1233487" cy="239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160168" y="1184751"/>
            <a:ext cx="1235076" cy="239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356769" y="1214914"/>
            <a:ext cx="1071562" cy="239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305970" y="1165701"/>
            <a:ext cx="1069975" cy="24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3253580" y="1129189"/>
            <a:ext cx="1069975" cy="239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57" name="TextBox 137"/>
          <p:cNvSpPr txBox="1">
            <a:spLocks noChangeArrowheads="1"/>
          </p:cNvSpPr>
          <p:nvPr/>
        </p:nvSpPr>
        <p:spPr bwMode="auto">
          <a:xfrm>
            <a:off x="3202492" y="1072838"/>
            <a:ext cx="14117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600" dirty="0" err="1" smtClean="0">
                <a:latin typeface="+mn-lt"/>
                <a:ea typeface="Times New Roman" charset="0"/>
                <a:cs typeface=""/>
              </a:rPr>
              <a:t>Perf</a:t>
            </a:r>
            <a:r>
              <a:rPr lang="en-US" altLang="ko-KR" sz="1600" dirty="0" smtClean="0">
                <a:latin typeface="+mn-lt"/>
                <a:ea typeface="Times New Roman" charset="0"/>
                <a:cs typeface=""/>
              </a:rPr>
              <a:t>. Model</a:t>
            </a:r>
            <a:endParaRPr lang="ko-KR" altLang="en-US" sz="1600" dirty="0">
              <a:latin typeface="+mn-lt"/>
              <a:cs typeface=""/>
            </a:endParaRP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7258844" y="1146651"/>
            <a:ext cx="989012" cy="239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59" name="TextBox 137"/>
          <p:cNvSpPr txBox="1">
            <a:spLocks noChangeArrowheads="1"/>
          </p:cNvSpPr>
          <p:nvPr/>
        </p:nvSpPr>
        <p:spPr bwMode="auto">
          <a:xfrm>
            <a:off x="7185704" y="1079837"/>
            <a:ext cx="1738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600" dirty="0" smtClean="0">
                <a:latin typeface="+mn-lt"/>
                <a:ea typeface="Times New Roman" charset="0"/>
                <a:cs typeface=""/>
              </a:rPr>
              <a:t>Pwr. Model</a:t>
            </a:r>
            <a:endParaRPr lang="ko-KR" altLang="en-US" sz="1600" dirty="0">
              <a:latin typeface="+mn-lt"/>
              <a:cs typeface=""/>
            </a:endParaRP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5118894" y="1146651"/>
            <a:ext cx="1233487" cy="239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73" name="TextBox 137"/>
          <p:cNvSpPr txBox="1">
            <a:spLocks noChangeArrowheads="1"/>
          </p:cNvSpPr>
          <p:nvPr/>
        </p:nvSpPr>
        <p:spPr bwMode="auto">
          <a:xfrm>
            <a:off x="5088070" y="1081586"/>
            <a:ext cx="14671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600" dirty="0" err="1" smtClean="0">
                <a:latin typeface="+mn-lt"/>
                <a:ea typeface="Times New Roman" charset="0"/>
                <a:cs typeface=""/>
              </a:rPr>
              <a:t>Reconf</a:t>
            </a:r>
            <a:r>
              <a:rPr lang="en-US" altLang="ko-KR" sz="1600" dirty="0" smtClean="0">
                <a:latin typeface="+mn-lt"/>
                <a:ea typeface="Times New Roman" charset="0"/>
                <a:cs typeface=""/>
              </a:rPr>
              <a:t>. Model</a:t>
            </a:r>
            <a:endParaRPr lang="ko-KR" altLang="en-US" sz="1600" dirty="0">
              <a:latin typeface="+mn-lt"/>
              <a:cs typeface="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172243" y="4800288"/>
            <a:ext cx="5630864" cy="2009776"/>
          </a:xfrm>
          <a:prstGeom prst="roundRect">
            <a:avLst>
              <a:gd name="adj" fmla="val 2689"/>
            </a:avLst>
          </a:prstGeom>
          <a:solidFill>
            <a:schemeClr val="bg1"/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>
              <a:solidFill>
                <a:srgbClr val="FFFFFF"/>
              </a:solidFill>
              <a:ea typeface="Arial Unicode MS" pitchFamily="-107" charset="0"/>
              <a:cs typeface="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27981" y="4809813"/>
            <a:ext cx="1154112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5593" y="4762189"/>
            <a:ext cx="1154112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5547143" y="5232089"/>
            <a:ext cx="1971675" cy="1371600"/>
          </a:xfrm>
          <a:prstGeom prst="roundRect">
            <a:avLst>
              <a:gd name="adj" fmla="val 372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ea typeface="Arial Unicode MS" charset="0"/>
              <a:cs typeface="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5496343" y="5186052"/>
            <a:ext cx="1970088" cy="1370013"/>
          </a:xfrm>
          <a:prstGeom prst="roundRect">
            <a:avLst>
              <a:gd name="adj" fmla="val 372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ea typeface="Arial Unicode MS" charset="0"/>
              <a:cs typeface=""/>
            </a:endParaRPr>
          </a:p>
        </p:txBody>
      </p:sp>
      <p:cxnSp>
        <p:nvCxnSpPr>
          <p:cNvPr id="80" name="Straight Arrow Connector 79"/>
          <p:cNvCxnSpPr/>
          <p:nvPr/>
        </p:nvCxnSpPr>
        <p:spPr bwMode="auto">
          <a:xfrm>
            <a:off x="3737829" y="1476056"/>
            <a:ext cx="1004887" cy="39528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11" idx="2"/>
          </p:cNvCxnSpPr>
          <p:nvPr/>
        </p:nvCxnSpPr>
        <p:spPr bwMode="auto">
          <a:xfrm rot="16200000" flipH="1">
            <a:off x="5622527" y="1666161"/>
            <a:ext cx="410373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9" idx="2"/>
          </p:cNvCxnSpPr>
          <p:nvPr/>
        </p:nvCxnSpPr>
        <p:spPr bwMode="auto">
          <a:xfrm rot="5400000">
            <a:off x="7184629" y="1220866"/>
            <a:ext cx="410369" cy="89058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4534318" y="4714564"/>
            <a:ext cx="1154114" cy="217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84" name="TextBox 137"/>
          <p:cNvSpPr txBox="1">
            <a:spLocks noChangeArrowheads="1"/>
          </p:cNvSpPr>
          <p:nvPr/>
        </p:nvSpPr>
        <p:spPr bwMode="auto">
          <a:xfrm>
            <a:off x="4463432" y="4625433"/>
            <a:ext cx="166397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600" dirty="0">
                <a:latin typeface="+mn-lt"/>
                <a:ea typeface="Times New Roman" charset="0"/>
                <a:cs typeface=""/>
              </a:rPr>
              <a:t>Adapt. Action</a:t>
            </a:r>
          </a:p>
        </p:txBody>
      </p:sp>
      <p:sp>
        <p:nvSpPr>
          <p:cNvPr id="85" name="Rounded Rectangle 84"/>
          <p:cNvSpPr/>
          <p:nvPr/>
        </p:nvSpPr>
        <p:spPr bwMode="auto">
          <a:xfrm>
            <a:off x="7791869" y="5241614"/>
            <a:ext cx="960438" cy="649288"/>
          </a:xfrm>
          <a:prstGeom prst="roundRect">
            <a:avLst>
              <a:gd name="adj" fmla="val 811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ea typeface="Arial Unicode MS" charset="0"/>
              <a:cs typeface=""/>
            </a:endParaRPr>
          </a:p>
        </p:txBody>
      </p:sp>
      <p:sp>
        <p:nvSpPr>
          <p:cNvPr id="86" name="Rounded Rectangle 85"/>
          <p:cNvSpPr>
            <a:spLocks noChangeArrowheads="1"/>
          </p:cNvSpPr>
          <p:nvPr/>
        </p:nvSpPr>
        <p:spPr bwMode="auto">
          <a:xfrm>
            <a:off x="8066506" y="5478153"/>
            <a:ext cx="587375" cy="35559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87" name="Rounded Rectangle 86"/>
          <p:cNvSpPr>
            <a:spLocks noChangeArrowheads="1"/>
          </p:cNvSpPr>
          <p:nvPr/>
        </p:nvSpPr>
        <p:spPr bwMode="auto">
          <a:xfrm>
            <a:off x="7963317" y="5394014"/>
            <a:ext cx="587375" cy="3540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89" name="TextBox 180"/>
          <p:cNvSpPr txBox="1">
            <a:spLocks noChangeArrowheads="1"/>
          </p:cNvSpPr>
          <p:nvPr/>
        </p:nvSpPr>
        <p:spPr bwMode="auto">
          <a:xfrm>
            <a:off x="5755367" y="6538857"/>
            <a:ext cx="1407974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100" dirty="0">
                <a:latin typeface="+mn-lt"/>
                <a:ea typeface="Times New Roman" charset="0"/>
                <a:cs typeface=""/>
              </a:rPr>
              <a:t>Active Hosts </a:t>
            </a:r>
            <a:endParaRPr lang="ko-KR" altLang="en-US" sz="1100" dirty="0">
              <a:latin typeface="+mn-lt"/>
              <a:cs typeface=""/>
            </a:endParaRPr>
          </a:p>
        </p:txBody>
      </p:sp>
      <p:sp>
        <p:nvSpPr>
          <p:cNvPr id="91" name="Rounded Rectangle 90"/>
          <p:cNvSpPr>
            <a:spLocks noChangeArrowheads="1"/>
          </p:cNvSpPr>
          <p:nvPr/>
        </p:nvSpPr>
        <p:spPr bwMode="auto">
          <a:xfrm>
            <a:off x="5515393" y="6238563"/>
            <a:ext cx="1828800" cy="2301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92" name="Rounded Rectangle 91"/>
          <p:cNvSpPr>
            <a:spLocks noChangeArrowheads="1"/>
          </p:cNvSpPr>
          <p:nvPr/>
        </p:nvSpPr>
        <p:spPr bwMode="auto">
          <a:xfrm>
            <a:off x="5516981" y="5205101"/>
            <a:ext cx="350837" cy="9683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93" name="Rounded Rectangle 92"/>
          <p:cNvSpPr>
            <a:spLocks noChangeArrowheads="1"/>
          </p:cNvSpPr>
          <p:nvPr/>
        </p:nvSpPr>
        <p:spPr bwMode="auto">
          <a:xfrm>
            <a:off x="5936081" y="5205101"/>
            <a:ext cx="422276" cy="9683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94" name="Rounded Rectangle 93"/>
          <p:cNvSpPr>
            <a:spLocks noChangeArrowheads="1"/>
          </p:cNvSpPr>
          <p:nvPr/>
        </p:nvSpPr>
        <p:spPr bwMode="auto">
          <a:xfrm>
            <a:off x="6437731" y="5205101"/>
            <a:ext cx="414337" cy="9683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95" name="TextBox 114"/>
          <p:cNvSpPr txBox="1">
            <a:spLocks noChangeArrowheads="1"/>
          </p:cNvSpPr>
          <p:nvPr/>
        </p:nvSpPr>
        <p:spPr bwMode="auto">
          <a:xfrm rot="10800000">
            <a:off x="5487651" y="5205566"/>
            <a:ext cx="353943" cy="72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Domain-0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96" name="TextBox 146"/>
          <p:cNvSpPr txBox="1">
            <a:spLocks noChangeArrowheads="1"/>
          </p:cNvSpPr>
          <p:nvPr/>
        </p:nvSpPr>
        <p:spPr bwMode="auto">
          <a:xfrm>
            <a:off x="5944499" y="6194160"/>
            <a:ext cx="1150069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Hypervisor</a:t>
            </a:r>
            <a:endParaRPr lang="ko-KR" altLang="en-US" sz="1100">
              <a:latin typeface="+mn-lt"/>
              <a:cs typeface=""/>
            </a:endParaRPr>
          </a:p>
        </p:txBody>
      </p:sp>
      <p:grpSp>
        <p:nvGrpSpPr>
          <p:cNvPr id="5" name="Group 155"/>
          <p:cNvGrpSpPr>
            <a:grpSpLocks/>
          </p:cNvGrpSpPr>
          <p:nvPr/>
        </p:nvGrpSpPr>
        <p:grpSpPr bwMode="auto">
          <a:xfrm>
            <a:off x="5945203" y="5006100"/>
            <a:ext cx="353944" cy="1035837"/>
            <a:chOff x="8445168" y="3326860"/>
            <a:chExt cx="274346" cy="885718"/>
          </a:xfrm>
        </p:grpSpPr>
        <p:sp>
          <p:nvSpPr>
            <p:cNvPr id="144" name="Rounded Rectangle 143"/>
            <p:cNvSpPr/>
            <p:nvPr/>
          </p:nvSpPr>
          <p:spPr>
            <a:xfrm>
              <a:off x="8460265" y="3505206"/>
              <a:ext cx="237485" cy="707372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ea typeface="Arial Unicode MS" charset="0"/>
                <a:cs typeface=""/>
              </a:endParaRPr>
            </a:p>
          </p:txBody>
        </p:sp>
        <p:sp>
          <p:nvSpPr>
            <p:cNvPr id="145" name="TextBox 152"/>
            <p:cNvSpPr txBox="1">
              <a:spLocks noChangeArrowheads="1"/>
            </p:cNvSpPr>
            <p:nvPr/>
          </p:nvSpPr>
          <p:spPr bwMode="auto">
            <a:xfrm rot="10800000">
              <a:off x="8445168" y="3326860"/>
              <a:ext cx="274346" cy="856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>
                  <a:latin typeface="+mn-lt"/>
                  <a:ea typeface="Times New Roman" charset="0"/>
                  <a:cs typeface=""/>
                </a:rPr>
                <a:t>Web Server</a:t>
              </a:r>
              <a:endParaRPr lang="ko-KR" altLang="en-US" sz="1100">
                <a:latin typeface="+mn-lt"/>
                <a:cs typeface=""/>
              </a:endParaRPr>
            </a:p>
          </p:txBody>
        </p:sp>
      </p:grpSp>
      <p:grpSp>
        <p:nvGrpSpPr>
          <p:cNvPr id="18" name="Group 160"/>
          <p:cNvGrpSpPr>
            <a:grpSpLocks/>
          </p:cNvGrpSpPr>
          <p:nvPr/>
        </p:nvGrpSpPr>
        <p:grpSpPr bwMode="auto">
          <a:xfrm>
            <a:off x="6446674" y="5086582"/>
            <a:ext cx="353943" cy="944851"/>
            <a:chOff x="8445122" y="3404118"/>
            <a:chExt cx="277914" cy="809292"/>
          </a:xfrm>
        </p:grpSpPr>
        <p:sp>
          <p:nvSpPr>
            <p:cNvPr id="142" name="Rounded Rectangle 141"/>
            <p:cNvSpPr/>
            <p:nvPr/>
          </p:nvSpPr>
          <p:spPr>
            <a:xfrm>
              <a:off x="8460535" y="3504190"/>
              <a:ext cx="236834" cy="709220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ea typeface="Arial Unicode MS" charset="0"/>
                <a:cs typeface=""/>
              </a:endParaRPr>
            </a:p>
          </p:txBody>
        </p:sp>
        <p:sp>
          <p:nvSpPr>
            <p:cNvPr id="143" name="TextBox 152"/>
            <p:cNvSpPr txBox="1">
              <a:spLocks noChangeArrowheads="1"/>
            </p:cNvSpPr>
            <p:nvPr/>
          </p:nvSpPr>
          <p:spPr bwMode="auto">
            <a:xfrm rot="10800000">
              <a:off x="8445122" y="3404118"/>
              <a:ext cx="277914" cy="80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 dirty="0">
                  <a:latin typeface="+mn-lt"/>
                  <a:ea typeface="Times New Roman" charset="0"/>
                  <a:cs typeface=""/>
                </a:rPr>
                <a:t>App. Server</a:t>
              </a:r>
              <a:endParaRPr lang="ko-KR" altLang="en-US" sz="1100" dirty="0">
                <a:latin typeface="+mn-lt"/>
                <a:cs typeface=""/>
              </a:endParaRPr>
            </a:p>
          </p:txBody>
        </p:sp>
      </p:grpSp>
      <p:sp>
        <p:nvSpPr>
          <p:cNvPr id="99" name="Rounded Rectangle 98"/>
          <p:cNvSpPr>
            <a:spLocks noChangeArrowheads="1"/>
          </p:cNvSpPr>
          <p:nvPr/>
        </p:nvSpPr>
        <p:spPr bwMode="auto">
          <a:xfrm>
            <a:off x="6921918" y="5205101"/>
            <a:ext cx="422276" cy="9699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grpSp>
        <p:nvGrpSpPr>
          <p:cNvPr id="19" name="Group 160"/>
          <p:cNvGrpSpPr>
            <a:grpSpLocks/>
          </p:cNvGrpSpPr>
          <p:nvPr/>
        </p:nvGrpSpPr>
        <p:grpSpPr bwMode="auto">
          <a:xfrm>
            <a:off x="6939560" y="4999097"/>
            <a:ext cx="353943" cy="983345"/>
            <a:chOff x="8445113" y="3342014"/>
            <a:chExt cx="277914" cy="741331"/>
          </a:xfrm>
        </p:grpSpPr>
        <p:sp>
          <p:nvSpPr>
            <p:cNvPr id="140" name="Rounded Rectangle 139"/>
            <p:cNvSpPr/>
            <p:nvPr/>
          </p:nvSpPr>
          <p:spPr>
            <a:xfrm>
              <a:off x="8459928" y="3505607"/>
              <a:ext cx="238081" cy="577738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ea typeface="Arial Unicode MS" charset="0"/>
                <a:cs typeface=""/>
              </a:endParaRPr>
            </a:p>
          </p:txBody>
        </p:sp>
        <p:sp>
          <p:nvSpPr>
            <p:cNvPr id="141" name="TextBox 152"/>
            <p:cNvSpPr txBox="1">
              <a:spLocks noChangeArrowheads="1"/>
            </p:cNvSpPr>
            <p:nvPr/>
          </p:nvSpPr>
          <p:spPr bwMode="auto">
            <a:xfrm rot="10800000">
              <a:off x="8445113" y="3342014"/>
              <a:ext cx="277914" cy="7154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>
                  <a:latin typeface="+mn-lt"/>
                  <a:ea typeface="Times New Roman" charset="0"/>
                  <a:cs typeface=""/>
                </a:rPr>
                <a:t>DB Server</a:t>
              </a:r>
              <a:endParaRPr lang="ko-KR" altLang="en-US" sz="1100">
                <a:latin typeface="+mn-lt"/>
                <a:cs typeface=""/>
              </a:endParaRPr>
            </a:p>
          </p:txBody>
        </p:sp>
      </p:grpSp>
      <p:sp>
        <p:nvSpPr>
          <p:cNvPr id="101" name="TextBox 114"/>
          <p:cNvSpPr txBox="1">
            <a:spLocks noChangeArrowheads="1"/>
          </p:cNvSpPr>
          <p:nvPr/>
        </p:nvSpPr>
        <p:spPr bwMode="auto">
          <a:xfrm rot="16200000">
            <a:off x="6032118" y="5891199"/>
            <a:ext cx="353943" cy="42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VM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02" name="TextBox 114"/>
          <p:cNvSpPr txBox="1">
            <a:spLocks noChangeArrowheads="1"/>
          </p:cNvSpPr>
          <p:nvPr/>
        </p:nvSpPr>
        <p:spPr bwMode="auto">
          <a:xfrm rot="16200000">
            <a:off x="6520230" y="5899404"/>
            <a:ext cx="353943" cy="393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VM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03" name="TextBox 114"/>
          <p:cNvSpPr txBox="1">
            <a:spLocks noChangeArrowheads="1"/>
          </p:cNvSpPr>
          <p:nvPr/>
        </p:nvSpPr>
        <p:spPr bwMode="auto">
          <a:xfrm rot="16200000">
            <a:off x="7017893" y="5886987"/>
            <a:ext cx="353943" cy="418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VM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04" name="Rounded Rectangle 103"/>
          <p:cNvSpPr/>
          <p:nvPr/>
        </p:nvSpPr>
        <p:spPr bwMode="auto">
          <a:xfrm>
            <a:off x="3250030" y="5181288"/>
            <a:ext cx="1970086" cy="1377949"/>
          </a:xfrm>
          <a:prstGeom prst="roundRect">
            <a:avLst>
              <a:gd name="adj" fmla="val 497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ea typeface="Arial Unicode MS" charset="0"/>
              <a:cs typeface=""/>
            </a:endParaRPr>
          </a:p>
        </p:txBody>
      </p:sp>
      <p:sp>
        <p:nvSpPr>
          <p:cNvPr id="105" name="Rounded Rectangle 104"/>
          <p:cNvSpPr>
            <a:spLocks noChangeArrowheads="1"/>
          </p:cNvSpPr>
          <p:nvPr/>
        </p:nvSpPr>
        <p:spPr bwMode="auto">
          <a:xfrm>
            <a:off x="3319881" y="6275076"/>
            <a:ext cx="1830388" cy="233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106" name="Rounded Rectangle 105"/>
          <p:cNvSpPr>
            <a:spLocks noChangeArrowheads="1"/>
          </p:cNvSpPr>
          <p:nvPr/>
        </p:nvSpPr>
        <p:spPr bwMode="auto">
          <a:xfrm>
            <a:off x="3319881" y="5240026"/>
            <a:ext cx="352425" cy="9683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107" name="Rounded Rectangle 106"/>
          <p:cNvSpPr>
            <a:spLocks noChangeArrowheads="1"/>
          </p:cNvSpPr>
          <p:nvPr/>
        </p:nvSpPr>
        <p:spPr bwMode="auto">
          <a:xfrm>
            <a:off x="3750092" y="5240026"/>
            <a:ext cx="422276" cy="968374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108" name="Rounded Rectangle 107"/>
          <p:cNvSpPr>
            <a:spLocks noChangeArrowheads="1"/>
          </p:cNvSpPr>
          <p:nvPr/>
        </p:nvSpPr>
        <p:spPr bwMode="auto">
          <a:xfrm>
            <a:off x="4229518" y="5240026"/>
            <a:ext cx="422276" cy="968374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sp>
        <p:nvSpPr>
          <p:cNvPr id="109" name="Rounded Rectangle 108"/>
          <p:cNvSpPr>
            <a:spLocks noChangeArrowheads="1"/>
          </p:cNvSpPr>
          <p:nvPr/>
        </p:nvSpPr>
        <p:spPr bwMode="auto">
          <a:xfrm>
            <a:off x="4720056" y="5240026"/>
            <a:ext cx="422276" cy="968374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100">
              <a:solidFill>
                <a:srgbClr val="FFFFFF"/>
              </a:solidFill>
              <a:latin typeface="+mn-lt"/>
              <a:ea typeface="Arial Unicode MS" charset="0"/>
              <a:cs typeface=""/>
            </a:endParaRPr>
          </a:p>
        </p:txBody>
      </p:sp>
      <p:grpSp>
        <p:nvGrpSpPr>
          <p:cNvPr id="20" name="Group 163"/>
          <p:cNvGrpSpPr>
            <a:grpSpLocks/>
          </p:cNvGrpSpPr>
          <p:nvPr/>
        </p:nvGrpSpPr>
        <p:grpSpPr bwMode="auto">
          <a:xfrm>
            <a:off x="3755855" y="4589662"/>
            <a:ext cx="353942" cy="1476767"/>
            <a:chOff x="8408504" y="2911481"/>
            <a:chExt cx="277588" cy="1356086"/>
          </a:xfrm>
        </p:grpSpPr>
        <p:sp>
          <p:nvSpPr>
            <p:cNvPr id="138" name="Rounded Rectangle 137"/>
            <p:cNvSpPr/>
            <p:nvPr/>
          </p:nvSpPr>
          <p:spPr>
            <a:xfrm>
              <a:off x="8432623" y="3505507"/>
              <a:ext cx="245271" cy="762060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ea typeface="Arial Unicode MS" charset="0"/>
                <a:cs typeface=""/>
              </a:endParaRPr>
            </a:p>
          </p:txBody>
        </p:sp>
        <p:sp>
          <p:nvSpPr>
            <p:cNvPr id="139" name="TextBox 152"/>
            <p:cNvSpPr txBox="1">
              <a:spLocks noChangeArrowheads="1"/>
            </p:cNvSpPr>
            <p:nvPr/>
          </p:nvSpPr>
          <p:spPr bwMode="auto">
            <a:xfrm rot="10800000">
              <a:off x="8408504" y="2911481"/>
              <a:ext cx="277588" cy="1270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 dirty="0" smtClean="0">
                  <a:latin typeface="+mn-lt"/>
                  <a:ea typeface="Times New Roman" charset="0"/>
                  <a:cs typeface=""/>
                </a:rPr>
                <a:t>DB </a:t>
              </a:r>
              <a:r>
                <a:rPr lang="en-US" altLang="ko-KR" sz="1100" dirty="0">
                  <a:latin typeface="+mn-lt"/>
                  <a:ea typeface="Times New Roman" charset="0"/>
                  <a:cs typeface=""/>
                </a:rPr>
                <a:t>Server</a:t>
              </a:r>
              <a:endParaRPr lang="ko-KR" altLang="en-US" sz="1100" dirty="0">
                <a:latin typeface="+mn-lt"/>
                <a:cs typeface=""/>
              </a:endParaRPr>
            </a:p>
          </p:txBody>
        </p:sp>
      </p:grpSp>
      <p:grpSp>
        <p:nvGrpSpPr>
          <p:cNvPr id="21" name="Group 166"/>
          <p:cNvGrpSpPr>
            <a:grpSpLocks/>
          </p:cNvGrpSpPr>
          <p:nvPr/>
        </p:nvGrpSpPr>
        <p:grpSpPr bwMode="auto">
          <a:xfrm>
            <a:off x="4243977" y="5237060"/>
            <a:ext cx="353943" cy="829369"/>
            <a:chOff x="8446170" y="3505010"/>
            <a:chExt cx="275807" cy="762556"/>
          </a:xfrm>
        </p:grpSpPr>
        <p:sp>
          <p:nvSpPr>
            <p:cNvPr id="136" name="Rounded Rectangle 135"/>
            <p:cNvSpPr/>
            <p:nvPr/>
          </p:nvSpPr>
          <p:spPr>
            <a:xfrm>
              <a:off x="8462135" y="3505010"/>
              <a:ext cx="235039" cy="762556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ea typeface="Arial Unicode MS" charset="0"/>
                <a:cs typeface=""/>
              </a:endParaRPr>
            </a:p>
          </p:txBody>
        </p:sp>
        <p:sp>
          <p:nvSpPr>
            <p:cNvPr id="137" name="TextBox 152"/>
            <p:cNvSpPr txBox="1">
              <a:spLocks noChangeArrowheads="1"/>
            </p:cNvSpPr>
            <p:nvPr/>
          </p:nvSpPr>
          <p:spPr bwMode="auto">
            <a:xfrm rot="10800000">
              <a:off x="8446170" y="3508587"/>
              <a:ext cx="275807" cy="704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 dirty="0" smtClean="0">
                  <a:latin typeface="+mn-lt"/>
                  <a:ea typeface="Times New Roman" charset="0"/>
                  <a:cs typeface=""/>
                </a:rPr>
                <a:t>DB </a:t>
              </a:r>
              <a:r>
                <a:rPr lang="en-US" altLang="ko-KR" sz="1100" dirty="0">
                  <a:latin typeface="+mn-lt"/>
                  <a:ea typeface="Times New Roman" charset="0"/>
                  <a:cs typeface=""/>
                </a:rPr>
                <a:t>Server</a:t>
              </a:r>
              <a:endParaRPr lang="ko-KR" altLang="en-US" sz="1100" dirty="0">
                <a:latin typeface="+mn-lt"/>
                <a:cs typeface=""/>
              </a:endParaRPr>
            </a:p>
          </p:txBody>
        </p:sp>
      </p:grpSp>
      <p:grpSp>
        <p:nvGrpSpPr>
          <p:cNvPr id="22" name="Group 169"/>
          <p:cNvGrpSpPr>
            <a:grpSpLocks/>
          </p:cNvGrpSpPr>
          <p:nvPr/>
        </p:nvGrpSpPr>
        <p:grpSpPr bwMode="auto">
          <a:xfrm>
            <a:off x="4748786" y="5181064"/>
            <a:ext cx="403088" cy="885359"/>
            <a:chOff x="8455472" y="3454418"/>
            <a:chExt cx="314103" cy="813145"/>
          </a:xfrm>
        </p:grpSpPr>
        <p:sp>
          <p:nvSpPr>
            <p:cNvPr id="134" name="Rounded Rectangle 133"/>
            <p:cNvSpPr/>
            <p:nvPr/>
          </p:nvSpPr>
          <p:spPr>
            <a:xfrm>
              <a:off x="8462788" y="3505610"/>
              <a:ext cx="306787" cy="761953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ea typeface="Arial Unicode MS" charset="0"/>
                <a:cs typeface=""/>
              </a:endParaRPr>
            </a:p>
          </p:txBody>
        </p:sp>
        <p:sp>
          <p:nvSpPr>
            <p:cNvPr id="135" name="TextBox 152"/>
            <p:cNvSpPr txBox="1">
              <a:spLocks noChangeArrowheads="1"/>
            </p:cNvSpPr>
            <p:nvPr/>
          </p:nvSpPr>
          <p:spPr bwMode="auto">
            <a:xfrm rot="10800000">
              <a:off x="8455472" y="3454418"/>
              <a:ext cx="275807" cy="812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square"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 dirty="0" smtClean="0">
                  <a:latin typeface="+mn-lt"/>
                  <a:ea typeface="Times New Roman" charset="0"/>
                  <a:cs typeface=""/>
                </a:rPr>
                <a:t>App</a:t>
              </a:r>
              <a:r>
                <a:rPr lang="en-US" altLang="ko-KR" sz="1100" dirty="0">
                  <a:latin typeface="+mn-lt"/>
                  <a:ea typeface="Times New Roman" charset="0"/>
                  <a:cs typeface=""/>
                </a:rPr>
                <a:t>. Server</a:t>
              </a:r>
              <a:endParaRPr lang="ko-KR" altLang="en-US" sz="1100" dirty="0">
                <a:latin typeface="+mn-lt"/>
                <a:cs typeface=""/>
              </a:endParaRPr>
            </a:p>
          </p:txBody>
        </p:sp>
      </p:grpSp>
      <p:sp>
        <p:nvSpPr>
          <p:cNvPr id="113" name="TextBox 114"/>
          <p:cNvSpPr txBox="1">
            <a:spLocks noChangeArrowheads="1"/>
          </p:cNvSpPr>
          <p:nvPr/>
        </p:nvSpPr>
        <p:spPr bwMode="auto">
          <a:xfrm rot="10800000">
            <a:off x="3313601" y="5177570"/>
            <a:ext cx="353943" cy="820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Domain-0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14" name="TextBox 146"/>
          <p:cNvSpPr txBox="1">
            <a:spLocks noChangeArrowheads="1"/>
          </p:cNvSpPr>
          <p:nvPr/>
        </p:nvSpPr>
        <p:spPr bwMode="auto">
          <a:xfrm>
            <a:off x="3609971" y="6222156"/>
            <a:ext cx="113860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Hypervisor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 rot="16200000">
            <a:off x="3866663" y="5914651"/>
            <a:ext cx="353943" cy="44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VM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16" name="TextBox 114"/>
          <p:cNvSpPr txBox="1">
            <a:spLocks noChangeArrowheads="1"/>
          </p:cNvSpPr>
          <p:nvPr/>
        </p:nvSpPr>
        <p:spPr bwMode="auto">
          <a:xfrm rot="16200000">
            <a:off x="4358595" y="5901681"/>
            <a:ext cx="353943" cy="46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VM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17" name="TextBox 114"/>
          <p:cNvSpPr txBox="1">
            <a:spLocks noChangeArrowheads="1"/>
          </p:cNvSpPr>
          <p:nvPr/>
        </p:nvSpPr>
        <p:spPr bwMode="auto">
          <a:xfrm rot="16200000">
            <a:off x="4812317" y="5922686"/>
            <a:ext cx="353943" cy="44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prstTxWarp prst="textNoShape">
              <a:avLst/>
            </a:prstTxWarp>
            <a:spAutoFit/>
          </a:bodyPr>
          <a:lstStyle/>
          <a:p>
            <a:r>
              <a:rPr lang="en-US" altLang="ko-KR" sz="1100">
                <a:latin typeface="+mn-lt"/>
                <a:ea typeface="Times New Roman" charset="0"/>
                <a:cs typeface=""/>
              </a:rPr>
              <a:t>VM</a:t>
            </a:r>
            <a:endParaRPr lang="ko-KR" altLang="en-US" sz="1100">
              <a:latin typeface="+mn-lt"/>
              <a:cs typeface=""/>
            </a:endParaRPr>
          </a:p>
        </p:txBody>
      </p:sp>
      <p:sp>
        <p:nvSpPr>
          <p:cNvPr id="118" name="TextBox 180"/>
          <p:cNvSpPr txBox="1">
            <a:spLocks noChangeArrowheads="1"/>
          </p:cNvSpPr>
          <p:nvPr/>
        </p:nvSpPr>
        <p:spPr bwMode="auto">
          <a:xfrm>
            <a:off x="8066506" y="5946790"/>
            <a:ext cx="685801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altLang="ko-KR" sz="1100" dirty="0" smtClean="0">
                <a:latin typeface="+mn-lt"/>
                <a:ea typeface="Times New Roman" charset="0"/>
                <a:cs typeface=""/>
              </a:rPr>
              <a:t>Storage </a:t>
            </a:r>
            <a:endParaRPr lang="ko-KR" altLang="en-US" sz="1100" dirty="0">
              <a:latin typeface="+mn-lt"/>
              <a:cs typeface=""/>
            </a:endParaRPr>
          </a:p>
        </p:txBody>
      </p:sp>
      <p:grpSp>
        <p:nvGrpSpPr>
          <p:cNvPr id="23" name="Group 262"/>
          <p:cNvGrpSpPr>
            <a:grpSpLocks/>
          </p:cNvGrpSpPr>
          <p:nvPr/>
        </p:nvGrpSpPr>
        <p:grpSpPr bwMode="auto">
          <a:xfrm>
            <a:off x="7824345" y="5238807"/>
            <a:ext cx="703032" cy="430886"/>
            <a:chOff x="3733800" y="3685860"/>
            <a:chExt cx="762000" cy="557097"/>
          </a:xfrm>
        </p:grpSpPr>
        <p:sp>
          <p:nvSpPr>
            <p:cNvPr id="132" name="Rounded Rectangle 131"/>
            <p:cNvSpPr>
              <a:spLocks noChangeArrowheads="1"/>
            </p:cNvSpPr>
            <p:nvPr/>
          </p:nvSpPr>
          <p:spPr bwMode="auto">
            <a:xfrm>
              <a:off x="3784632" y="3767482"/>
              <a:ext cx="633201" cy="45770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63500" dist="38100" dir="2700000" algn="tl" rotWithShape="0">
                <a:srgbClr val="000000">
                  <a:alpha val="39998"/>
                </a:srgb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100">
                <a:solidFill>
                  <a:srgbClr val="FFFFFF"/>
                </a:solidFill>
                <a:latin typeface="+mn-lt"/>
                <a:ea typeface="Arial Unicode MS" charset="0"/>
                <a:cs typeface=""/>
              </a:endParaRPr>
            </a:p>
          </p:txBody>
        </p:sp>
        <p:sp>
          <p:nvSpPr>
            <p:cNvPr id="133" name="TextBox 146"/>
            <p:cNvSpPr txBox="1">
              <a:spLocks noChangeArrowheads="1"/>
            </p:cNvSpPr>
            <p:nvPr/>
          </p:nvSpPr>
          <p:spPr bwMode="auto">
            <a:xfrm>
              <a:off x="3733800" y="3685860"/>
              <a:ext cx="762000" cy="557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100">
                  <a:latin typeface="+mn-lt"/>
                  <a:ea typeface="Times New Roman" charset="0"/>
                  <a:cs typeface=""/>
                </a:rPr>
                <a:t>OS </a:t>
              </a:r>
            </a:p>
            <a:p>
              <a:r>
                <a:rPr lang="en-US" altLang="ko-KR" sz="1100">
                  <a:latin typeface="+mn-lt"/>
                  <a:ea typeface="Times New Roman" charset="0"/>
                  <a:cs typeface=""/>
                </a:rPr>
                <a:t>Image</a:t>
              </a:r>
              <a:endParaRPr lang="ko-KR" altLang="en-US" sz="1100">
                <a:latin typeface="+mn-lt"/>
                <a:cs typeface=""/>
              </a:endParaRPr>
            </a:p>
          </p:txBody>
        </p:sp>
      </p:grpSp>
      <p:sp>
        <p:nvSpPr>
          <p:cNvPr id="123" name="TextBox 117"/>
          <p:cNvSpPr txBox="1">
            <a:spLocks noChangeArrowheads="1"/>
          </p:cNvSpPr>
          <p:nvPr/>
        </p:nvSpPr>
        <p:spPr bwMode="auto">
          <a:xfrm>
            <a:off x="3096071" y="4733139"/>
            <a:ext cx="18034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600" b="1" dirty="0" smtClean="0">
                <a:latin typeface="+mn-lt"/>
                <a:ea typeface="Times New Roman" charset="0"/>
                <a:cs typeface=""/>
              </a:rPr>
              <a:t>Infrastructure</a:t>
            </a:r>
            <a:endParaRPr lang="ko-KR" altLang="en-US" sz="1600" b="1" dirty="0">
              <a:latin typeface="+mn-lt"/>
              <a:cs typeface=""/>
            </a:endParaRPr>
          </a:p>
        </p:txBody>
      </p:sp>
      <p:cxnSp>
        <p:nvCxnSpPr>
          <p:cNvPr id="125" name="Straight Arrow Connector 124"/>
          <p:cNvCxnSpPr/>
          <p:nvPr/>
        </p:nvCxnSpPr>
        <p:spPr bwMode="auto">
          <a:xfrm rot="5400000">
            <a:off x="5487613" y="5056669"/>
            <a:ext cx="228600" cy="1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 bwMode="auto">
          <a:xfrm rot="10800000">
            <a:off x="7526758" y="5690877"/>
            <a:ext cx="246063" cy="158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>
            <a:spLocks noChangeArrowheads="1"/>
          </p:cNvSpPr>
          <p:nvPr/>
        </p:nvSpPr>
        <p:spPr bwMode="auto">
          <a:xfrm>
            <a:off x="5999581" y="4809813"/>
            <a:ext cx="1154112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53" name="Rectangle 152"/>
          <p:cNvSpPr>
            <a:spLocks noChangeArrowheads="1"/>
          </p:cNvSpPr>
          <p:nvPr/>
        </p:nvSpPr>
        <p:spPr bwMode="auto">
          <a:xfrm>
            <a:off x="5947193" y="4762189"/>
            <a:ext cx="1154112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54" name="Rectangle 153"/>
          <p:cNvSpPr>
            <a:spLocks noChangeArrowheads="1"/>
          </p:cNvSpPr>
          <p:nvPr/>
        </p:nvSpPr>
        <p:spPr bwMode="auto">
          <a:xfrm>
            <a:off x="5905918" y="4714564"/>
            <a:ext cx="1154114" cy="217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+mn-lt"/>
              <a:cs typeface=""/>
            </a:endParaRPr>
          </a:p>
        </p:txBody>
      </p:sp>
      <p:sp>
        <p:nvSpPr>
          <p:cNvPr id="151" name="TextBox 137"/>
          <p:cNvSpPr txBox="1">
            <a:spLocks noChangeArrowheads="1"/>
          </p:cNvSpPr>
          <p:nvPr/>
        </p:nvSpPr>
        <p:spPr bwMode="auto">
          <a:xfrm>
            <a:off x="5982118" y="4638364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altLang="ko-KR" sz="1600" dirty="0" smtClean="0">
                <a:latin typeface="+mn-lt"/>
                <a:ea typeface="Times New Roman" charset="0"/>
                <a:cs typeface=""/>
              </a:rPr>
              <a:t>Demand</a:t>
            </a:r>
            <a:endParaRPr lang="en-US" altLang="ko-KR" sz="1600" dirty="0">
              <a:latin typeface="+mn-lt"/>
              <a:ea typeface="Times New Roman" charset="0"/>
              <a:cs typeface=""/>
            </a:endParaRPr>
          </a:p>
        </p:txBody>
      </p:sp>
      <p:sp>
        <p:nvSpPr>
          <p:cNvPr id="165" name="Rounded Rectangle 164"/>
          <p:cNvSpPr/>
          <p:nvPr/>
        </p:nvSpPr>
        <p:spPr bwMode="auto">
          <a:xfrm>
            <a:off x="3128586" y="1908203"/>
            <a:ext cx="5682803" cy="2724123"/>
          </a:xfrm>
          <a:prstGeom prst="roundRect">
            <a:avLst>
              <a:gd name="adj" fmla="val 2689"/>
            </a:avLst>
          </a:prstGeom>
          <a:solidFill>
            <a:schemeClr val="bg1"/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>
              <a:solidFill>
                <a:srgbClr val="FFFFFF"/>
              </a:solidFill>
              <a:ea typeface="Arial Unicode MS" pitchFamily="-107" charset="0"/>
              <a:cs typeface=""/>
            </a:endParaRPr>
          </a:p>
        </p:txBody>
      </p:sp>
      <p:sp>
        <p:nvSpPr>
          <p:cNvPr id="166" name="TextBox 117"/>
          <p:cNvSpPr txBox="1">
            <a:spLocks noChangeArrowheads="1"/>
          </p:cNvSpPr>
          <p:nvPr/>
        </p:nvSpPr>
        <p:spPr bwMode="auto">
          <a:xfrm>
            <a:off x="3172243" y="1966469"/>
            <a:ext cx="1752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 smtClean="0">
                <a:latin typeface="+mn-lt"/>
                <a:ea typeface="Times New Roman" charset="0"/>
                <a:cs typeface=""/>
              </a:rPr>
              <a:t>Controller</a:t>
            </a:r>
            <a:endParaRPr lang="ko-KR" altLang="en-US" sz="1600" b="1" dirty="0">
              <a:latin typeface="+mn-lt"/>
              <a:cs typeface=""/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5096254" y="2021396"/>
            <a:ext cx="3444875" cy="2493427"/>
            <a:chOff x="5105400" y="935573"/>
            <a:chExt cx="3444875" cy="2493427"/>
          </a:xfrm>
        </p:grpSpPr>
        <p:grpSp>
          <p:nvGrpSpPr>
            <p:cNvPr id="119" name="Group 126"/>
            <p:cNvGrpSpPr>
              <a:grpSpLocks/>
            </p:cNvGrpSpPr>
            <p:nvPr/>
          </p:nvGrpSpPr>
          <p:grpSpPr bwMode="auto">
            <a:xfrm>
              <a:off x="5105400" y="1392238"/>
              <a:ext cx="3200400" cy="779462"/>
              <a:chOff x="4724401" y="1734783"/>
              <a:chExt cx="3200400" cy="779818"/>
            </a:xfrm>
          </p:grpSpPr>
          <p:cxnSp>
            <p:nvCxnSpPr>
              <p:cNvPr id="120" name="Straight Arrow Connector 119"/>
              <p:cNvCxnSpPr/>
              <p:nvPr/>
            </p:nvCxnSpPr>
            <p:spPr bwMode="auto">
              <a:xfrm rot="10800000" flipV="1">
                <a:off x="4984751" y="1734783"/>
                <a:ext cx="1035050" cy="500290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 bwMode="auto">
              <a:xfrm rot="10800000" flipV="1">
                <a:off x="5562601" y="1809429"/>
                <a:ext cx="493713" cy="381174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 bwMode="auto">
              <a:xfrm rot="16200000" flipH="1">
                <a:off x="6020525" y="2037339"/>
                <a:ext cx="304939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 bwMode="auto">
              <a:xfrm rot="16200000" flipH="1">
                <a:off x="6267354" y="1826989"/>
                <a:ext cx="424057" cy="388937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0" name="Group 76"/>
              <p:cNvGrpSpPr>
                <a:grpSpLocks/>
              </p:cNvGrpSpPr>
              <p:nvPr/>
            </p:nvGrpSpPr>
            <p:grpSpPr bwMode="auto">
              <a:xfrm>
                <a:off x="4724401" y="2206081"/>
                <a:ext cx="457200" cy="306932"/>
                <a:chOff x="6477000" y="1295400"/>
                <a:chExt cx="457200" cy="307069"/>
              </a:xfrm>
            </p:grpSpPr>
            <p:sp>
              <p:nvSpPr>
                <p:cNvPr id="161" name="Oval 160"/>
                <p:cNvSpPr/>
                <p:nvPr/>
              </p:nvSpPr>
              <p:spPr>
                <a:xfrm>
                  <a:off x="6553200" y="1295804"/>
                  <a:ext cx="304800" cy="30666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62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0" y="1295400"/>
                  <a:ext cx="457200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new1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grpSp>
            <p:nvGrpSpPr>
              <p:cNvPr id="131" name="Group 79"/>
              <p:cNvGrpSpPr>
                <a:grpSpLocks/>
              </p:cNvGrpSpPr>
              <p:nvPr/>
            </p:nvGrpSpPr>
            <p:grpSpPr bwMode="auto">
              <a:xfrm>
                <a:off x="5334001" y="2208008"/>
                <a:ext cx="457200" cy="306593"/>
                <a:chOff x="6477000" y="1295400"/>
                <a:chExt cx="457200" cy="306730"/>
              </a:xfrm>
            </p:grpSpPr>
            <p:sp>
              <p:nvSpPr>
                <p:cNvPr id="158" name="Oval 157"/>
                <p:cNvSpPr/>
                <p:nvPr/>
              </p:nvSpPr>
              <p:spPr>
                <a:xfrm>
                  <a:off x="6553200" y="1295466"/>
                  <a:ext cx="304800" cy="30666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59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0" y="1295400"/>
                  <a:ext cx="457200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new2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grpSp>
            <p:nvGrpSpPr>
              <p:cNvPr id="146" name="Group 83"/>
              <p:cNvGrpSpPr>
                <a:grpSpLocks/>
              </p:cNvGrpSpPr>
              <p:nvPr/>
            </p:nvGrpSpPr>
            <p:grpSpPr bwMode="auto">
              <a:xfrm>
                <a:off x="5943601" y="2206081"/>
                <a:ext cx="457199" cy="306932"/>
                <a:chOff x="6477001" y="1295400"/>
                <a:chExt cx="457199" cy="307069"/>
              </a:xfrm>
            </p:grpSpPr>
            <p:sp>
              <p:nvSpPr>
                <p:cNvPr id="156" name="Oval 155"/>
                <p:cNvSpPr/>
                <p:nvPr/>
              </p:nvSpPr>
              <p:spPr>
                <a:xfrm>
                  <a:off x="6553201" y="1295804"/>
                  <a:ext cx="304800" cy="30666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57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1" y="1295400"/>
                  <a:ext cx="457199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new3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sp>
            <p:nvSpPr>
              <p:cNvPr id="147" name="TextBox 46"/>
              <p:cNvSpPr txBox="1">
                <a:spLocks noChangeArrowheads="1"/>
              </p:cNvSpPr>
              <p:nvPr/>
            </p:nvSpPr>
            <p:spPr bwMode="auto">
              <a:xfrm>
                <a:off x="6553200" y="2190395"/>
                <a:ext cx="533400" cy="246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1000" b="1">
                    <a:latin typeface="Times New Roman" charset="0"/>
                    <a:cs typeface="맑은 고딕" charset="0"/>
                  </a:rPr>
                  <a:t>…….</a:t>
                </a:r>
                <a:endParaRPr lang="ko-KR" altLang="en-US" sz="1000" b="1">
                  <a:latin typeface="Times New Roman" charset="0"/>
                  <a:cs typeface="맑은 고딕" charset="0"/>
                </a:endParaRPr>
              </a:p>
            </p:txBody>
          </p:sp>
          <p:grpSp>
            <p:nvGrpSpPr>
              <p:cNvPr id="148" name="Group 91"/>
              <p:cNvGrpSpPr>
                <a:grpSpLocks/>
              </p:cNvGrpSpPr>
              <p:nvPr/>
            </p:nvGrpSpPr>
            <p:grpSpPr bwMode="auto">
              <a:xfrm>
                <a:off x="7315201" y="2208008"/>
                <a:ext cx="609600" cy="306593"/>
                <a:chOff x="6477000" y="1295399"/>
                <a:chExt cx="609600" cy="306730"/>
              </a:xfrm>
            </p:grpSpPr>
            <p:sp>
              <p:nvSpPr>
                <p:cNvPr id="150" name="Oval 149"/>
                <p:cNvSpPr/>
                <p:nvPr/>
              </p:nvSpPr>
              <p:spPr>
                <a:xfrm>
                  <a:off x="6553200" y="1295465"/>
                  <a:ext cx="304800" cy="30666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55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0" y="1295399"/>
                  <a:ext cx="609600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</a:t>
                  </a:r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n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cxnSp>
            <p:nvCxnSpPr>
              <p:cNvPr id="149" name="Straight Arrow Connector 148"/>
              <p:cNvCxnSpPr/>
              <p:nvPr/>
            </p:nvCxnSpPr>
            <p:spPr bwMode="auto">
              <a:xfrm>
                <a:off x="6356351" y="1750665"/>
                <a:ext cx="1111250" cy="501879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Group 130"/>
            <p:cNvGrpSpPr>
              <a:grpSpLocks/>
            </p:cNvGrpSpPr>
            <p:nvPr/>
          </p:nvGrpSpPr>
          <p:grpSpPr bwMode="auto">
            <a:xfrm>
              <a:off x="5877531" y="935573"/>
              <a:ext cx="1370387" cy="590015"/>
              <a:chOff x="5034704" y="1130419"/>
              <a:chExt cx="1370796" cy="590014"/>
            </a:xfrm>
          </p:grpSpPr>
          <p:grpSp>
            <p:nvGrpSpPr>
              <p:cNvPr id="164" name="Group 59"/>
              <p:cNvGrpSpPr>
                <a:grpSpLocks/>
              </p:cNvGrpSpPr>
              <p:nvPr/>
            </p:nvGrpSpPr>
            <p:grpSpPr bwMode="auto">
              <a:xfrm>
                <a:off x="5557996" y="1388179"/>
                <a:ext cx="505001" cy="332254"/>
                <a:chOff x="6523860" y="1134271"/>
                <a:chExt cx="505003" cy="332624"/>
              </a:xfrm>
            </p:grpSpPr>
            <p:sp>
              <p:nvSpPr>
                <p:cNvPr id="168" name="Oval 167"/>
                <p:cNvSpPr/>
                <p:nvPr/>
              </p:nvSpPr>
              <p:spPr>
                <a:xfrm>
                  <a:off x="6552566" y="1160167"/>
                  <a:ext cx="304892" cy="30672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69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523860" y="1134271"/>
                  <a:ext cx="505003" cy="2464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max</a:t>
                  </a:r>
                  <a:endParaRPr lang="ko-KR" altLang="en-US" sz="1000" b="1" i="1" baseline="-25000">
                    <a:latin typeface="Times New Roman" charset="0"/>
                    <a:cs typeface="맑은 고딕" charset="0"/>
                  </a:endParaRPr>
                </a:p>
              </p:txBody>
            </p:sp>
          </p:grpSp>
          <p:sp>
            <p:nvSpPr>
              <p:cNvPr id="167" name="TextBox 127"/>
              <p:cNvSpPr txBox="1">
                <a:spLocks noChangeArrowheads="1"/>
              </p:cNvSpPr>
              <p:nvPr/>
            </p:nvSpPr>
            <p:spPr bwMode="auto">
              <a:xfrm>
                <a:off x="5034704" y="1130419"/>
                <a:ext cx="1370796" cy="3385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600" dirty="0" smtClean="0">
                    <a:latin typeface="Calibri" charset="0"/>
                  </a:rPr>
                  <a:t>Current </a:t>
                </a:r>
                <a:r>
                  <a:rPr lang="en-US" sz="1600" dirty="0" err="1" smtClean="0">
                    <a:latin typeface="Calibri" charset="0"/>
                  </a:rPr>
                  <a:t>config</a:t>
                </a:r>
                <a:endParaRPr lang="en-US" sz="1600" dirty="0">
                  <a:latin typeface="Calibri" charset="0"/>
                </a:endParaRPr>
              </a:p>
            </p:txBody>
          </p:sp>
        </p:grpSp>
        <p:grpSp>
          <p:nvGrpSpPr>
            <p:cNvPr id="170" name="Group 131"/>
            <p:cNvGrpSpPr>
              <a:grpSpLocks/>
            </p:cNvGrpSpPr>
            <p:nvPr/>
          </p:nvGrpSpPr>
          <p:grpSpPr bwMode="auto">
            <a:xfrm>
              <a:off x="5113338" y="2076450"/>
              <a:ext cx="3200400" cy="779463"/>
              <a:chOff x="4724401" y="1734783"/>
              <a:chExt cx="3200400" cy="779818"/>
            </a:xfrm>
          </p:grpSpPr>
          <p:cxnSp>
            <p:nvCxnSpPr>
              <p:cNvPr id="171" name="Straight Arrow Connector 170"/>
              <p:cNvCxnSpPr/>
              <p:nvPr/>
            </p:nvCxnSpPr>
            <p:spPr bwMode="auto">
              <a:xfrm rot="10800000" flipV="1">
                <a:off x="4984751" y="1734783"/>
                <a:ext cx="1035050" cy="500291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/>
              <p:cNvCxnSpPr/>
              <p:nvPr/>
            </p:nvCxnSpPr>
            <p:spPr bwMode="auto">
              <a:xfrm rot="10800000" flipV="1">
                <a:off x="5562601" y="1809430"/>
                <a:ext cx="493712" cy="381174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/>
              <p:cNvCxnSpPr/>
              <p:nvPr/>
            </p:nvCxnSpPr>
            <p:spPr bwMode="auto">
              <a:xfrm rot="16200000" flipH="1">
                <a:off x="6020526" y="2037340"/>
                <a:ext cx="304939" cy="1587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/>
              <p:cNvCxnSpPr/>
              <p:nvPr/>
            </p:nvCxnSpPr>
            <p:spPr bwMode="auto">
              <a:xfrm rot="16200000" flipH="1">
                <a:off x="6267354" y="1826989"/>
                <a:ext cx="424055" cy="38893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5" name="Group 76"/>
              <p:cNvGrpSpPr>
                <a:grpSpLocks/>
              </p:cNvGrpSpPr>
              <p:nvPr/>
            </p:nvGrpSpPr>
            <p:grpSpPr bwMode="auto">
              <a:xfrm>
                <a:off x="4724401" y="2206081"/>
                <a:ext cx="457200" cy="306932"/>
                <a:chOff x="6477000" y="1295400"/>
                <a:chExt cx="457200" cy="307069"/>
              </a:xfrm>
            </p:grpSpPr>
            <p:sp>
              <p:nvSpPr>
                <p:cNvPr id="191" name="Oval 190"/>
                <p:cNvSpPr/>
                <p:nvPr/>
              </p:nvSpPr>
              <p:spPr>
                <a:xfrm>
                  <a:off x="6553200" y="1295805"/>
                  <a:ext cx="304800" cy="30666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92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0" y="1295400"/>
                  <a:ext cx="457200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new1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grpSp>
            <p:nvGrpSpPr>
              <p:cNvPr id="176" name="Group 79"/>
              <p:cNvGrpSpPr>
                <a:grpSpLocks/>
              </p:cNvGrpSpPr>
              <p:nvPr/>
            </p:nvGrpSpPr>
            <p:grpSpPr bwMode="auto">
              <a:xfrm>
                <a:off x="5334001" y="2208008"/>
                <a:ext cx="457200" cy="306593"/>
                <a:chOff x="6477000" y="1295400"/>
                <a:chExt cx="457200" cy="306730"/>
              </a:xfrm>
            </p:grpSpPr>
            <p:sp>
              <p:nvSpPr>
                <p:cNvPr id="189" name="Oval 188"/>
                <p:cNvSpPr/>
                <p:nvPr/>
              </p:nvSpPr>
              <p:spPr>
                <a:xfrm>
                  <a:off x="6553200" y="1295465"/>
                  <a:ext cx="304800" cy="30666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90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0" y="1295400"/>
                  <a:ext cx="457200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new2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grpSp>
            <p:nvGrpSpPr>
              <p:cNvPr id="178" name="Group 83"/>
              <p:cNvGrpSpPr>
                <a:grpSpLocks/>
              </p:cNvGrpSpPr>
              <p:nvPr/>
            </p:nvGrpSpPr>
            <p:grpSpPr bwMode="auto">
              <a:xfrm>
                <a:off x="5943601" y="2206081"/>
                <a:ext cx="457199" cy="306932"/>
                <a:chOff x="6477001" y="1295400"/>
                <a:chExt cx="457199" cy="307069"/>
              </a:xfrm>
            </p:grpSpPr>
            <p:sp>
              <p:nvSpPr>
                <p:cNvPr id="187" name="Oval 186"/>
                <p:cNvSpPr/>
                <p:nvPr/>
              </p:nvSpPr>
              <p:spPr>
                <a:xfrm>
                  <a:off x="6553201" y="1295805"/>
                  <a:ext cx="304800" cy="30666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88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1" y="1295400"/>
                  <a:ext cx="457199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new3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sp>
            <p:nvSpPr>
              <p:cNvPr id="180" name="TextBox 46"/>
              <p:cNvSpPr txBox="1">
                <a:spLocks noChangeArrowheads="1"/>
              </p:cNvSpPr>
              <p:nvPr/>
            </p:nvSpPr>
            <p:spPr bwMode="auto">
              <a:xfrm>
                <a:off x="6553200" y="2190395"/>
                <a:ext cx="533400" cy="246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ko-KR" sz="1000" b="1">
                    <a:latin typeface="Times New Roman" charset="0"/>
                    <a:cs typeface="맑은 고딕" charset="0"/>
                  </a:rPr>
                  <a:t>…….</a:t>
                </a:r>
                <a:endParaRPr lang="ko-KR" altLang="en-US" sz="1000" b="1">
                  <a:latin typeface="Times New Roman" charset="0"/>
                  <a:cs typeface="맑은 고딕" charset="0"/>
                </a:endParaRPr>
              </a:p>
            </p:txBody>
          </p:sp>
          <p:grpSp>
            <p:nvGrpSpPr>
              <p:cNvPr id="183" name="Group 91"/>
              <p:cNvGrpSpPr>
                <a:grpSpLocks/>
              </p:cNvGrpSpPr>
              <p:nvPr/>
            </p:nvGrpSpPr>
            <p:grpSpPr bwMode="auto">
              <a:xfrm>
                <a:off x="7315201" y="2208008"/>
                <a:ext cx="609600" cy="306593"/>
                <a:chOff x="6477000" y="1295399"/>
                <a:chExt cx="609600" cy="306730"/>
              </a:xfrm>
            </p:grpSpPr>
            <p:sp>
              <p:nvSpPr>
                <p:cNvPr id="185" name="Oval 184"/>
                <p:cNvSpPr/>
                <p:nvPr/>
              </p:nvSpPr>
              <p:spPr>
                <a:xfrm>
                  <a:off x="6553200" y="1295464"/>
                  <a:ext cx="304800" cy="306665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sz="1000">
                    <a:solidFill>
                      <a:srgbClr val="FFFFFF"/>
                    </a:solidFill>
                    <a:latin typeface="Times New Roman" charset="0"/>
                    <a:cs typeface="맑은 고딕" pitchFamily="50" charset="-127"/>
                  </a:endParaRPr>
                </a:p>
              </p:txBody>
            </p:sp>
            <p:sp>
              <p:nvSpPr>
                <p:cNvPr id="186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6477000" y="1295399"/>
                  <a:ext cx="609600" cy="2463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c</a:t>
                  </a:r>
                  <a:r>
                    <a:rPr lang="en-US" altLang="ko-KR" sz="1000" b="1" i="1" baseline="-25000">
                      <a:latin typeface="Times New Roman" charset="0"/>
                      <a:cs typeface="맑은 고딕" charset="0"/>
                    </a:rPr>
                    <a:t>new</a:t>
                  </a:r>
                  <a:r>
                    <a:rPr lang="en-US" altLang="ko-KR" sz="1000" b="1" i="1">
                      <a:latin typeface="Times New Roman" charset="0"/>
                      <a:cs typeface="맑은 고딕" charset="0"/>
                    </a:rPr>
                    <a:t>n</a:t>
                  </a:r>
                  <a:endParaRPr lang="ko-KR" altLang="en-US" sz="1000" b="1" i="1">
                    <a:latin typeface="Times New Roman" charset="0"/>
                    <a:cs typeface="맑은 고딕" charset="0"/>
                  </a:endParaRPr>
                </a:p>
              </p:txBody>
            </p:sp>
          </p:grpSp>
          <p:cxnSp>
            <p:nvCxnSpPr>
              <p:cNvPr id="184" name="Straight Arrow Connector 183"/>
              <p:cNvCxnSpPr/>
              <p:nvPr/>
            </p:nvCxnSpPr>
            <p:spPr bwMode="auto">
              <a:xfrm>
                <a:off x="6356351" y="1750665"/>
                <a:ext cx="1111250" cy="50187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3" name="Oval 192"/>
            <p:cNvSpPr/>
            <p:nvPr/>
          </p:nvSpPr>
          <p:spPr bwMode="auto">
            <a:xfrm>
              <a:off x="6405563" y="1862138"/>
              <a:ext cx="304800" cy="30638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000">
                <a:solidFill>
                  <a:srgbClr val="FFFFFF"/>
                </a:solidFill>
                <a:latin typeface="Times New Roman" charset="0"/>
                <a:cs typeface="맑은 고딕" pitchFamily="50" charset="-127"/>
              </a:endParaRPr>
            </a:p>
          </p:txBody>
        </p:sp>
        <p:sp>
          <p:nvSpPr>
            <p:cNvPr id="194" name="TextBox 46"/>
            <p:cNvSpPr txBox="1">
              <a:spLocks noChangeArrowheads="1"/>
            </p:cNvSpPr>
            <p:nvPr/>
          </p:nvSpPr>
          <p:spPr bwMode="auto">
            <a:xfrm rot="5400000">
              <a:off x="6400007" y="2861468"/>
              <a:ext cx="4318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altLang="ko-KR" sz="1000" b="1">
                  <a:latin typeface="Times New Roman" charset="0"/>
                  <a:cs typeface="맑은 고딕" charset="0"/>
                </a:rPr>
                <a:t>……</a:t>
              </a:r>
            </a:p>
          </p:txBody>
        </p:sp>
        <p:grpSp>
          <p:nvGrpSpPr>
            <p:cNvPr id="195" name="Group 166"/>
            <p:cNvGrpSpPr>
              <a:grpSpLocks/>
            </p:cNvGrpSpPr>
            <p:nvPr/>
          </p:nvGrpSpPr>
          <p:grpSpPr bwMode="auto">
            <a:xfrm>
              <a:off x="6416675" y="3090863"/>
              <a:ext cx="2133600" cy="338137"/>
              <a:chOff x="5595588" y="3700046"/>
              <a:chExt cx="2133319" cy="338554"/>
            </a:xfrm>
          </p:grpSpPr>
          <p:sp>
            <p:nvSpPr>
              <p:cNvPr id="196" name="Oval 195"/>
              <p:cNvSpPr/>
              <p:nvPr/>
            </p:nvSpPr>
            <p:spPr bwMode="auto">
              <a:xfrm>
                <a:off x="5595588" y="3731835"/>
                <a:ext cx="304760" cy="30676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 sz="1000">
                  <a:solidFill>
                    <a:srgbClr val="FFFFFF"/>
                  </a:solidFill>
                  <a:latin typeface="Times New Roman" charset="0"/>
                  <a:cs typeface="맑은 고딕" pitchFamily="50" charset="-127"/>
                </a:endParaRPr>
              </a:p>
            </p:txBody>
          </p:sp>
          <p:sp>
            <p:nvSpPr>
              <p:cNvPr id="197" name="TextBox 165"/>
              <p:cNvSpPr txBox="1">
                <a:spLocks noChangeArrowheads="1"/>
              </p:cNvSpPr>
              <p:nvPr/>
            </p:nvSpPr>
            <p:spPr bwMode="auto">
              <a:xfrm>
                <a:off x="5867400" y="3700046"/>
                <a:ext cx="18615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600" dirty="0">
                    <a:latin typeface="Calibri" charset="0"/>
                  </a:rPr>
                  <a:t>Ideal configuration</a:t>
                </a:r>
              </a:p>
            </p:txBody>
          </p:sp>
        </p:grpSp>
      </p:grpSp>
      <p:sp>
        <p:nvSpPr>
          <p:cNvPr id="205" name="TextBox 165"/>
          <p:cNvSpPr txBox="1">
            <a:spLocks noChangeArrowheads="1"/>
          </p:cNvSpPr>
          <p:nvPr/>
        </p:nvSpPr>
        <p:spPr bwMode="auto">
          <a:xfrm rot="1425297">
            <a:off x="6599422" y="2459491"/>
            <a:ext cx="1457651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 err="1" smtClean="0">
                <a:latin typeface="Calibri" charset="0"/>
              </a:rPr>
              <a:t>Reconf</a:t>
            </a:r>
            <a:r>
              <a:rPr lang="en-US" sz="1600" dirty="0" smtClean="0">
                <a:latin typeface="Calibri" charset="0"/>
              </a:rPr>
              <a:t>. Actions</a:t>
            </a:r>
          </a:p>
          <a:p>
            <a:pPr algn="ctr"/>
            <a:r>
              <a:rPr lang="en-US" sz="1600" dirty="0" smtClean="0">
                <a:latin typeface="Calibri" charset="0"/>
              </a:rPr>
              <a:t>(costs)</a:t>
            </a:r>
            <a:endParaRPr lang="en-US" sz="1600" dirty="0">
              <a:latin typeface="Calibri" charset="0"/>
            </a:endParaRPr>
          </a:p>
        </p:txBody>
      </p:sp>
      <p:sp>
        <p:nvSpPr>
          <p:cNvPr id="206" name="TextBox 127"/>
          <p:cNvSpPr txBox="1">
            <a:spLocks noChangeArrowheads="1"/>
          </p:cNvSpPr>
          <p:nvPr/>
        </p:nvSpPr>
        <p:spPr bwMode="auto">
          <a:xfrm>
            <a:off x="4387376" y="2305023"/>
            <a:ext cx="1179630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alibri" charset="0"/>
              </a:rPr>
              <a:t>Stop </a:t>
            </a:r>
            <a:r>
              <a:rPr lang="en-US" sz="1600" dirty="0" err="1" smtClean="0">
                <a:latin typeface="Calibri" charset="0"/>
              </a:rPr>
              <a:t>reconf</a:t>
            </a:r>
            <a:r>
              <a:rPr lang="en-US" sz="1600" dirty="0" smtClean="0">
                <a:latin typeface="Calibri" charset="0"/>
              </a:rPr>
              <a:t>.</a:t>
            </a:r>
          </a:p>
          <a:p>
            <a:pPr algn="ctr"/>
            <a:r>
              <a:rPr lang="en-US" sz="1600" dirty="0" smtClean="0">
                <a:latin typeface="Calibri" charset="0"/>
              </a:rPr>
              <a:t>(benefit)</a:t>
            </a:r>
            <a:endParaRPr lang="en-US" sz="1600" dirty="0">
              <a:latin typeface="Calibri" charset="0"/>
            </a:endParaRPr>
          </a:p>
        </p:txBody>
      </p:sp>
      <p:sp>
        <p:nvSpPr>
          <p:cNvPr id="207" name="Oval 206"/>
          <p:cNvSpPr/>
          <p:nvPr/>
        </p:nvSpPr>
        <p:spPr bwMode="auto">
          <a:xfrm>
            <a:off x="3651338" y="2689198"/>
            <a:ext cx="304800" cy="3063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>
              <a:solidFill>
                <a:srgbClr val="FFFFFF"/>
              </a:solidFill>
              <a:latin typeface="Times New Roman" charset="0"/>
              <a:cs typeface="맑은 고딕" pitchFamily="50" charset="-127"/>
            </a:endParaRPr>
          </a:p>
        </p:txBody>
      </p:sp>
      <p:cxnSp>
        <p:nvCxnSpPr>
          <p:cNvPr id="208" name="Straight Arrow Connector 207"/>
          <p:cNvCxnSpPr>
            <a:endCxn id="207" idx="7"/>
          </p:cNvCxnSpPr>
          <p:nvPr/>
        </p:nvCxnSpPr>
        <p:spPr bwMode="auto">
          <a:xfrm rot="10800000" flipV="1">
            <a:off x="3911502" y="2458217"/>
            <a:ext cx="2508717" cy="275850"/>
          </a:xfrm>
          <a:prstGeom prst="straightConnector1">
            <a:avLst/>
          </a:prstGeom>
          <a:ln w="6350" cap="flat" cmpd="sng" algn="ctr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>
            <a:endCxn id="207" idx="6"/>
          </p:cNvCxnSpPr>
          <p:nvPr/>
        </p:nvCxnSpPr>
        <p:spPr bwMode="auto">
          <a:xfrm rot="10800000">
            <a:off x="3956138" y="2842392"/>
            <a:ext cx="1825916" cy="261938"/>
          </a:xfrm>
          <a:prstGeom prst="straightConnector1">
            <a:avLst/>
          </a:prstGeom>
          <a:ln w="6350" cap="flat" cmpd="sng" algn="ctr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/>
          <p:cNvCxnSpPr>
            <a:endCxn id="207" idx="7"/>
          </p:cNvCxnSpPr>
          <p:nvPr/>
        </p:nvCxnSpPr>
        <p:spPr bwMode="auto">
          <a:xfrm rot="10800000">
            <a:off x="3911502" y="2734068"/>
            <a:ext cx="3851753" cy="370263"/>
          </a:xfrm>
          <a:prstGeom prst="straightConnector1">
            <a:avLst/>
          </a:prstGeom>
          <a:ln w="6350" cap="flat" cmpd="sng" algn="ctr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>
            <a:endCxn id="207" idx="5"/>
          </p:cNvCxnSpPr>
          <p:nvPr/>
        </p:nvCxnSpPr>
        <p:spPr bwMode="auto">
          <a:xfrm rot="10800000">
            <a:off x="3911502" y="2950717"/>
            <a:ext cx="1268891" cy="836238"/>
          </a:xfrm>
          <a:prstGeom prst="straightConnector1">
            <a:avLst/>
          </a:prstGeom>
          <a:ln w="6350" cap="flat" cmpd="sng" algn="ctr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/>
          <p:cNvCxnSpPr>
            <a:endCxn id="207" idx="5"/>
          </p:cNvCxnSpPr>
          <p:nvPr/>
        </p:nvCxnSpPr>
        <p:spPr bwMode="auto">
          <a:xfrm rot="10800000">
            <a:off x="3911501" y="2950718"/>
            <a:ext cx="2496028" cy="1410913"/>
          </a:xfrm>
          <a:prstGeom prst="straightConnector1">
            <a:avLst/>
          </a:prstGeom>
          <a:ln w="6350" cap="flat" cmpd="sng" algn="ctr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>
            <a:endCxn id="207" idx="6"/>
          </p:cNvCxnSpPr>
          <p:nvPr/>
        </p:nvCxnSpPr>
        <p:spPr bwMode="auto">
          <a:xfrm rot="10800000">
            <a:off x="3956138" y="2842392"/>
            <a:ext cx="3815054" cy="946150"/>
          </a:xfrm>
          <a:prstGeom prst="straightConnector1">
            <a:avLst/>
          </a:prstGeom>
          <a:ln w="6350" cap="flat" cmpd="sng" algn="ctr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127"/>
          <p:cNvSpPr txBox="1">
            <a:spLocks noChangeArrowheads="1"/>
          </p:cNvSpPr>
          <p:nvPr/>
        </p:nvSpPr>
        <p:spPr bwMode="auto">
          <a:xfrm>
            <a:off x="3312920" y="3067609"/>
            <a:ext cx="11971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alibri" charset="0"/>
              </a:rPr>
              <a:t>Final </a:t>
            </a:r>
            <a:r>
              <a:rPr lang="en-US" sz="1600" dirty="0" err="1" smtClean="0">
                <a:latin typeface="Calibri" charset="0"/>
              </a:rPr>
              <a:t>reconf</a:t>
            </a:r>
            <a:r>
              <a:rPr lang="en-US" sz="1600" dirty="0" smtClean="0">
                <a:latin typeface="Calibri" charset="0"/>
              </a:rPr>
              <a:t>.</a:t>
            </a:r>
          </a:p>
        </p:txBody>
      </p:sp>
      <p:cxnSp>
        <p:nvCxnSpPr>
          <p:cNvPr id="244" name="Straight Arrow Connector 243"/>
          <p:cNvCxnSpPr/>
          <p:nvPr/>
        </p:nvCxnSpPr>
        <p:spPr bwMode="auto">
          <a:xfrm rot="5400000">
            <a:off x="4784407" y="5056669"/>
            <a:ext cx="228600" cy="1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>
            <a:stCxn id="16" idx="0"/>
            <a:endCxn id="151" idx="2"/>
          </p:cNvCxnSpPr>
          <p:nvPr/>
        </p:nvCxnSpPr>
        <p:spPr bwMode="auto">
          <a:xfrm rot="16200000" flipV="1">
            <a:off x="6374836" y="5079500"/>
            <a:ext cx="209134" cy="396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Circular Arrow 266"/>
          <p:cNvSpPr/>
          <p:nvPr/>
        </p:nvSpPr>
        <p:spPr>
          <a:xfrm rot="19821814">
            <a:off x="3317561" y="5228384"/>
            <a:ext cx="2064149" cy="1947956"/>
          </a:xfrm>
          <a:prstGeom prst="circularArrow">
            <a:avLst>
              <a:gd name="adj1" fmla="val 4413"/>
              <a:gd name="adj2" fmla="val 697461"/>
              <a:gd name="adj3" fmla="val 20358149"/>
              <a:gd name="adj4" fmla="val 15442718"/>
              <a:gd name="adj5" fmla="val 5580"/>
            </a:avLst>
          </a:prstGeom>
          <a:solidFill>
            <a:schemeClr val="bg1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0" name="Rectangle 159"/>
          <p:cNvSpPr/>
          <p:nvPr/>
        </p:nvSpPr>
        <p:spPr>
          <a:xfrm>
            <a:off x="192773" y="1795951"/>
            <a:ext cx="290329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288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Adjust VM quotas</a:t>
            </a:r>
          </a:p>
          <a:p>
            <a:pPr indent="18288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Add VM replicas</a:t>
            </a:r>
          </a:p>
          <a:p>
            <a:pPr indent="18288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Remove VM replicas </a:t>
            </a:r>
          </a:p>
          <a:p>
            <a:pPr indent="18288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Migrate </a:t>
            </a:r>
            <a:r>
              <a:rPr lang="en-US" sz="2400" dirty="0" err="1" smtClean="0"/>
              <a:t>VMs</a:t>
            </a:r>
            <a:endParaRPr lang="en-US" sz="2400" dirty="0" smtClean="0"/>
          </a:p>
          <a:p>
            <a:pPr indent="18288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Remove capacity</a:t>
            </a:r>
          </a:p>
          <a:p>
            <a:pPr indent="182880">
              <a:lnSpc>
                <a:spcPct val="90000"/>
              </a:lnSpc>
              <a:buFont typeface="Arial"/>
              <a:buChar char="•"/>
            </a:pPr>
            <a:r>
              <a:rPr lang="en-US" sz="2400" dirty="0" smtClean="0"/>
              <a:t>Add capacity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92773" y="4845443"/>
            <a:ext cx="27781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Optimize performance, infrastructure use, adaptation penalties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8866"/>
            <a:ext cx="8229600" cy="1143000"/>
          </a:xfrm>
        </p:spPr>
        <p:txBody>
          <a:bodyPr/>
          <a:lstStyle/>
          <a:p>
            <a:r>
              <a:rPr lang="en-US" dirty="0" smtClean="0"/>
              <a:t>Let’s talk about failures</a:t>
            </a:r>
            <a:endParaRPr lang="en-US" dirty="0"/>
          </a:p>
        </p:txBody>
      </p:sp>
      <p:pic>
        <p:nvPicPr>
          <p:cNvPr id="4" name="Picture 3" descr="Screen shot 2011-05-17 at 2.14.5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02" y="1635243"/>
            <a:ext cx="6725356" cy="4418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5467"/>
          </a:xfrm>
        </p:spPr>
        <p:txBody>
          <a:bodyPr>
            <a:normAutofit/>
          </a:bodyPr>
          <a:lstStyle/>
          <a:p>
            <a:r>
              <a:rPr lang="en-US" smtClean="0"/>
              <a:t>Assume Anything can Fail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70105"/>
            <a:ext cx="8546472" cy="5440362"/>
          </a:xfrm>
        </p:spPr>
        <p:txBody>
          <a:bodyPr>
            <a:normAutofit/>
          </a:bodyPr>
          <a:lstStyle/>
          <a:p>
            <a:r>
              <a:rPr lang="en-US" dirty="0" smtClean="0"/>
              <a:t>But can it fail all at once?</a:t>
            </a:r>
            <a:endParaRPr lang="en-US" dirty="0" smtClean="0"/>
          </a:p>
          <a:p>
            <a:pPr lvl="1"/>
            <a:r>
              <a:rPr lang="en-US" dirty="0" smtClean="0"/>
              <a:t>How to avoid single</a:t>
            </a:r>
            <a:r>
              <a:rPr lang="en-US" dirty="0" smtClean="0"/>
              <a:t> </a:t>
            </a:r>
            <a:r>
              <a:rPr lang="en-US" dirty="0" smtClean="0"/>
              <a:t>failure points?</a:t>
            </a:r>
            <a:endParaRPr lang="en-US" dirty="0" smtClean="0"/>
          </a:p>
          <a:p>
            <a:r>
              <a:rPr lang="en-US" dirty="0" smtClean="0"/>
              <a:t>EC2 availability zones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 err="1" smtClean="0"/>
              <a:t>DCs</a:t>
            </a:r>
            <a:r>
              <a:rPr lang="en-US" dirty="0" smtClean="0"/>
              <a:t>, close proximity</a:t>
            </a:r>
            <a:endParaRPr lang="en-US" dirty="0" smtClean="0"/>
          </a:p>
          <a:p>
            <a:pPr lvl="1"/>
            <a:r>
              <a:rPr lang="en-US" dirty="0" smtClean="0"/>
              <a:t>March outage was across </a:t>
            </a:r>
            <a:r>
              <a:rPr lang="en-US" dirty="0" smtClean="0"/>
              <a:t>zones</a:t>
            </a:r>
          </a:p>
          <a:p>
            <a:pPr lvl="1"/>
            <a:r>
              <a:rPr lang="en-US" dirty="0" smtClean="0"/>
              <a:t>EBS control plane dependency across zones</a:t>
            </a:r>
            <a:endParaRPr lang="en-US" dirty="0" smtClean="0"/>
          </a:p>
          <a:p>
            <a:pPr lvl="1"/>
            <a:r>
              <a:rPr lang="en-US" dirty="0" smtClean="0"/>
              <a:t>Ease of use</a:t>
            </a:r>
            <a:r>
              <a:rPr lang="en-US" dirty="0" smtClean="0"/>
              <a:t>/efficiency/independence </a:t>
            </a:r>
            <a:r>
              <a:rPr lang="en-US" dirty="0" smtClean="0"/>
              <a:t>tradeoff</a:t>
            </a:r>
            <a:endParaRPr lang="en-US" dirty="0" smtClean="0"/>
          </a:p>
          <a:p>
            <a:r>
              <a:rPr lang="en-US" dirty="0" smtClean="0"/>
              <a:t>What about racks</a:t>
            </a:r>
            <a:r>
              <a:rPr lang="en-US" dirty="0" smtClean="0"/>
              <a:t>, switches, </a:t>
            </a:r>
            <a:r>
              <a:rPr lang="en-US" dirty="0" smtClean="0"/>
              <a:t>power circuits?</a:t>
            </a:r>
            <a:endParaRPr lang="en-US" dirty="0" smtClean="0"/>
          </a:p>
          <a:p>
            <a:pPr lvl="1"/>
            <a:r>
              <a:rPr lang="en-US" dirty="0" smtClean="0"/>
              <a:t>Fine-grained availability control</a:t>
            </a:r>
          </a:p>
          <a:p>
            <a:pPr lvl="1"/>
            <a:r>
              <a:rPr lang="en-US" dirty="0" smtClean="0"/>
              <a:t>Without exposing proprietary information?</a:t>
            </a:r>
          </a:p>
        </p:txBody>
      </p:sp>
      <p:pic>
        <p:nvPicPr>
          <p:cNvPr id="5" name="Picture 4" descr="ResourceLevels-crop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37590"/>
              <a:stretch>
                <a:fillRect/>
              </a:stretch>
            </p:blipFill>
          </mc:Choice>
          <mc:Fallback>
            <p:blipFill>
              <a:blip r:embed="rId4"/>
              <a:srcRect l="37590"/>
              <a:stretch>
                <a:fillRect/>
              </a:stretch>
            </p:blipFill>
          </mc:Fallback>
        </mc:AlternateContent>
        <p:spPr>
          <a:xfrm>
            <a:off x="6333513" y="1270106"/>
            <a:ext cx="2670159" cy="2482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Peeking over the Wall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686801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Users provide VM-level HA </a:t>
            </a:r>
            <a:r>
              <a:rPr lang="en-US" dirty="0" smtClean="0"/>
              <a:t>groups [DCDV’11]</a:t>
            </a:r>
          </a:p>
          <a:p>
            <a:pPr lvl="1"/>
            <a:r>
              <a:rPr lang="en-US" dirty="0" smtClean="0"/>
              <a:t>Application-level constraints</a:t>
            </a:r>
          </a:p>
          <a:p>
            <a:pPr lvl="1"/>
            <a:r>
              <a:rPr lang="en-US" dirty="0" smtClean="0"/>
              <a:t>e.g., primary and backup </a:t>
            </a:r>
            <a:r>
              <a:rPr lang="en-US" dirty="0" err="1" smtClean="0"/>
              <a:t>VMs</a:t>
            </a:r>
            <a:endParaRPr lang="en-US" dirty="0" smtClean="0"/>
          </a:p>
          <a:p>
            <a:pPr lvl="1"/>
            <a:r>
              <a:rPr lang="en-US" dirty="0" smtClean="0"/>
              <a:t>Provider places HA group to avoid common risk factors</a:t>
            </a:r>
          </a:p>
          <a:p>
            <a:r>
              <a:rPr lang="en-US" dirty="0" smtClean="0"/>
              <a:t>Users provide desired MTBF for HA </a:t>
            </a:r>
            <a:r>
              <a:rPr lang="en-US" dirty="0" smtClean="0"/>
              <a:t>groups [DSN’10]</a:t>
            </a:r>
          </a:p>
          <a:p>
            <a:pPr lvl="1"/>
            <a:r>
              <a:rPr lang="en-US" dirty="0" smtClean="0"/>
              <a:t>Providers use infrastructure dependencies and MTBF values to guide placement</a:t>
            </a:r>
          </a:p>
          <a:p>
            <a:pPr lvl="1"/>
            <a:r>
              <a:rPr lang="en-US" dirty="0" smtClean="0"/>
              <a:t>Optimization problem: capacity, availability, performance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Center 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27938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Whose problem is it?</a:t>
            </a:r>
          </a:p>
          <a:p>
            <a:pPr lvl="1"/>
            <a:r>
              <a:rPr lang="en-US" dirty="0" smtClean="0"/>
              <a:t>Application? Host? Network?</a:t>
            </a:r>
          </a:p>
          <a:p>
            <a:r>
              <a:rPr lang="en-US" dirty="0" smtClean="0"/>
              <a:t>Who detects it?</a:t>
            </a:r>
            <a:endParaRPr lang="en-US" dirty="0" smtClean="0"/>
          </a:p>
          <a:p>
            <a:pPr lvl="1"/>
            <a:r>
              <a:rPr lang="en-US" dirty="0" smtClean="0"/>
              <a:t>Cloud users don’t </a:t>
            </a:r>
            <a:r>
              <a:rPr lang="en-US" dirty="0" smtClean="0"/>
              <a:t>know topology</a:t>
            </a:r>
          </a:p>
          <a:p>
            <a:pPr lvl="1"/>
            <a:r>
              <a:rPr lang="en-US" dirty="0" smtClean="0"/>
              <a:t>Providers don’t know applications</a:t>
            </a:r>
          </a:p>
        </p:txBody>
      </p:sp>
      <p:graphicFrame>
        <p:nvGraphicFramePr>
          <p:cNvPr id="137218" name="Object 2"/>
          <p:cNvGraphicFramePr>
            <a:graphicFrameLocks noChangeAspect="1"/>
          </p:cNvGraphicFramePr>
          <p:nvPr/>
        </p:nvGraphicFramePr>
        <p:xfrm>
          <a:off x="1181100" y="3368675"/>
          <a:ext cx="6934200" cy="2987675"/>
        </p:xfrm>
        <a:graphic>
          <a:graphicData uri="http://schemas.openxmlformats.org/presentationml/2006/ole">
            <p:oleObj spid="_x0000_s137218" name="Visio" r:id="rId3" imgW="5626100" imgH="3340100" progId="">
              <p:embed/>
            </p:oleObj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876E0CC-6134-4D81-B876-3E8DBC324A9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045995" y="4915063"/>
            <a:ext cx="1323473" cy="1234076"/>
          </a:xfrm>
          <a:custGeom>
            <a:avLst/>
            <a:gdLst>
              <a:gd name="connsiteX0" fmla="*/ 0 w 1323473"/>
              <a:gd name="connsiteY0" fmla="*/ 1234076 h 1234076"/>
              <a:gd name="connsiteX1" fmla="*/ 213894 w 1323473"/>
              <a:gd name="connsiteY1" fmla="*/ 538919 h 1234076"/>
              <a:gd name="connsiteX2" fmla="*/ 1029368 w 1323473"/>
              <a:gd name="connsiteY2" fmla="*/ 17550 h 1234076"/>
              <a:gd name="connsiteX3" fmla="*/ 1323473 w 1323473"/>
              <a:gd name="connsiteY3" fmla="*/ 1193971 h 1234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3473" h="1234076">
                <a:moveTo>
                  <a:pt x="0" y="1234076"/>
                </a:moveTo>
                <a:cubicBezTo>
                  <a:pt x="21166" y="987874"/>
                  <a:pt x="42333" y="741673"/>
                  <a:pt x="213894" y="538919"/>
                </a:cubicBezTo>
                <a:cubicBezTo>
                  <a:pt x="385455" y="336165"/>
                  <a:pt x="844438" y="-91625"/>
                  <a:pt x="1029368" y="17550"/>
                </a:cubicBezTo>
                <a:cubicBezTo>
                  <a:pt x="1214298" y="126725"/>
                  <a:pt x="1268885" y="660348"/>
                  <a:pt x="1323473" y="1193971"/>
                </a:cubicBezTo>
              </a:path>
            </a:pathLst>
          </a:custGeom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290109" y="3956666"/>
            <a:ext cx="2910833" cy="2125631"/>
          </a:xfrm>
          <a:custGeom>
            <a:avLst/>
            <a:gdLst>
              <a:gd name="connsiteX0" fmla="*/ 210412 w 2910833"/>
              <a:gd name="connsiteY0" fmla="*/ 2125631 h 2125631"/>
              <a:gd name="connsiteX1" fmla="*/ 36623 w 2910833"/>
              <a:gd name="connsiteY1" fmla="*/ 1537421 h 2125631"/>
              <a:gd name="connsiteX2" fmla="*/ 838728 w 2910833"/>
              <a:gd name="connsiteY2" fmla="*/ 922473 h 2125631"/>
              <a:gd name="connsiteX3" fmla="*/ 1934938 w 2910833"/>
              <a:gd name="connsiteY3" fmla="*/ 52 h 2125631"/>
              <a:gd name="connsiteX4" fmla="*/ 2723675 w 2910833"/>
              <a:gd name="connsiteY4" fmla="*/ 882368 h 2125631"/>
              <a:gd name="connsiteX5" fmla="*/ 2763780 w 2910833"/>
              <a:gd name="connsiteY5" fmla="*/ 1564158 h 2125631"/>
              <a:gd name="connsiteX6" fmla="*/ 2910833 w 2910833"/>
              <a:gd name="connsiteY6" fmla="*/ 2125631 h 2125631"/>
              <a:gd name="connsiteX7" fmla="*/ 2910833 w 2910833"/>
              <a:gd name="connsiteY7" fmla="*/ 2125631 h 212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10833" h="2125631">
                <a:moveTo>
                  <a:pt x="210412" y="2125631"/>
                </a:moveTo>
                <a:cubicBezTo>
                  <a:pt x="71158" y="1931789"/>
                  <a:pt x="-68096" y="1737947"/>
                  <a:pt x="36623" y="1537421"/>
                </a:cubicBezTo>
                <a:cubicBezTo>
                  <a:pt x="141342" y="1336895"/>
                  <a:pt x="522342" y="1178701"/>
                  <a:pt x="838728" y="922473"/>
                </a:cubicBezTo>
                <a:cubicBezTo>
                  <a:pt x="1155114" y="666245"/>
                  <a:pt x="1620780" y="6736"/>
                  <a:pt x="1934938" y="52"/>
                </a:cubicBezTo>
                <a:cubicBezTo>
                  <a:pt x="2249096" y="-6632"/>
                  <a:pt x="2585535" y="621684"/>
                  <a:pt x="2723675" y="882368"/>
                </a:cubicBezTo>
                <a:cubicBezTo>
                  <a:pt x="2861815" y="1143052"/>
                  <a:pt x="2732587" y="1356948"/>
                  <a:pt x="2763780" y="1564158"/>
                </a:cubicBezTo>
                <a:cubicBezTo>
                  <a:pt x="2794973" y="1771368"/>
                  <a:pt x="2910833" y="2125631"/>
                  <a:pt x="2910833" y="2125631"/>
                </a:cubicBezTo>
                <a:lnTo>
                  <a:pt x="2910833" y="2125631"/>
                </a:lnTo>
              </a:path>
            </a:pathLst>
          </a:custGeom>
          <a:ln w="5080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3914942" y="3822959"/>
            <a:ext cx="3870087" cy="2245970"/>
          </a:xfrm>
          <a:custGeom>
            <a:avLst/>
            <a:gdLst>
              <a:gd name="connsiteX0" fmla="*/ 0 w 3870087"/>
              <a:gd name="connsiteY0" fmla="*/ 2232602 h 2245970"/>
              <a:gd name="connsiteX1" fmla="*/ 173790 w 3870087"/>
              <a:gd name="connsiteY1" fmla="*/ 1631023 h 2245970"/>
              <a:gd name="connsiteX2" fmla="*/ 213895 w 3870087"/>
              <a:gd name="connsiteY2" fmla="*/ 1042812 h 2245970"/>
              <a:gd name="connsiteX3" fmla="*/ 2513263 w 3870087"/>
              <a:gd name="connsiteY3" fmla="*/ 75 h 2245970"/>
              <a:gd name="connsiteX4" fmla="*/ 3863474 w 3870087"/>
              <a:gd name="connsiteY4" fmla="*/ 1096286 h 2245970"/>
              <a:gd name="connsiteX5" fmla="*/ 3021263 w 3870087"/>
              <a:gd name="connsiteY5" fmla="*/ 1537444 h 2245970"/>
              <a:gd name="connsiteX6" fmla="*/ 2820737 w 3870087"/>
              <a:gd name="connsiteY6" fmla="*/ 2245970 h 224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0087" h="2245970">
                <a:moveTo>
                  <a:pt x="0" y="2232602"/>
                </a:moveTo>
                <a:cubicBezTo>
                  <a:pt x="69070" y="2030961"/>
                  <a:pt x="138141" y="1829321"/>
                  <a:pt x="173790" y="1631023"/>
                </a:cubicBezTo>
                <a:cubicBezTo>
                  <a:pt x="209439" y="1432725"/>
                  <a:pt x="-176017" y="1314637"/>
                  <a:pt x="213895" y="1042812"/>
                </a:cubicBezTo>
                <a:cubicBezTo>
                  <a:pt x="603807" y="770987"/>
                  <a:pt x="1905000" y="-8837"/>
                  <a:pt x="2513263" y="75"/>
                </a:cubicBezTo>
                <a:cubicBezTo>
                  <a:pt x="3121526" y="8987"/>
                  <a:pt x="3778807" y="840058"/>
                  <a:pt x="3863474" y="1096286"/>
                </a:cubicBezTo>
                <a:cubicBezTo>
                  <a:pt x="3948141" y="1352514"/>
                  <a:pt x="3195052" y="1345830"/>
                  <a:pt x="3021263" y="1537444"/>
                </a:cubicBezTo>
                <a:cubicBezTo>
                  <a:pt x="2847474" y="1729058"/>
                  <a:pt x="2820737" y="2245970"/>
                  <a:pt x="2820737" y="2245970"/>
                </a:cubicBezTo>
              </a:path>
            </a:pathLst>
          </a:cu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95700" y="4451350"/>
            <a:ext cx="990600" cy="762000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66037" y="6356350"/>
            <a:ext cx="366760" cy="30618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86088" y="6354964"/>
            <a:ext cx="366760" cy="30618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28940" y="6354964"/>
            <a:ext cx="366760" cy="30618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862615" y="6354964"/>
            <a:ext cx="366760" cy="30618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31562" y="6356350"/>
            <a:ext cx="366760" cy="30618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86300" y="6301942"/>
            <a:ext cx="457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Lightweight, application independent monitors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6301942"/>
            <a:ext cx="1073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[NSDI’11]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416" y="1600200"/>
            <a:ext cx="7938384" cy="4525963"/>
          </a:xfrm>
        </p:spPr>
        <p:txBody>
          <a:bodyPr/>
          <a:lstStyle/>
          <a:p>
            <a:r>
              <a:rPr lang="en-US" dirty="0" smtClean="0"/>
              <a:t>Every VM gets private/public IP</a:t>
            </a:r>
            <a:endParaRPr lang="en-US" dirty="0" smtClean="0"/>
          </a:p>
          <a:p>
            <a:r>
              <a:rPr lang="en-US" dirty="0" err="1" smtClean="0"/>
              <a:t>VMs</a:t>
            </a:r>
            <a:r>
              <a:rPr lang="en-US" dirty="0" smtClean="0"/>
              <a:t> </a:t>
            </a:r>
            <a:r>
              <a:rPr lang="en-US" dirty="0" smtClean="0"/>
              <a:t>can choose access policy by IP/groups</a:t>
            </a:r>
          </a:p>
          <a:p>
            <a:r>
              <a:rPr lang="en-US" dirty="0" smtClean="0"/>
              <a:t>IP firewalls ensure isolation</a:t>
            </a:r>
          </a:p>
          <a:p>
            <a:r>
              <a:rPr lang="en-US" dirty="0" smtClean="0"/>
              <a:t>Good enough?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Information Leakage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Is your target on in a cloud?</a:t>
            </a:r>
          </a:p>
          <a:p>
            <a:pPr lvl="1"/>
            <a:r>
              <a:rPr lang="en-US" dirty="0" err="1" smtClean="0"/>
              <a:t>Traceroute</a:t>
            </a:r>
            <a:endParaRPr lang="en-US" dirty="0" smtClean="0"/>
          </a:p>
          <a:p>
            <a:pPr lvl="1"/>
            <a:r>
              <a:rPr lang="en-US" dirty="0" smtClean="0"/>
              <a:t>Network triangulation</a:t>
            </a:r>
          </a:p>
          <a:p>
            <a:r>
              <a:rPr lang="en-US" dirty="0" smtClean="0"/>
              <a:t>Are you on the same machine?</a:t>
            </a:r>
          </a:p>
          <a:p>
            <a:pPr lvl="1"/>
            <a:r>
              <a:rPr lang="en-US" dirty="0" smtClean="0"/>
              <a:t>IP addresses</a:t>
            </a:r>
          </a:p>
          <a:p>
            <a:pPr lvl="1"/>
            <a:r>
              <a:rPr lang="en-US" dirty="0" smtClean="0"/>
              <a:t>Latency checks</a:t>
            </a:r>
          </a:p>
          <a:p>
            <a:pPr lvl="1"/>
            <a:r>
              <a:rPr lang="en-US" dirty="0" smtClean="0"/>
              <a:t>Side channels (cache interference)</a:t>
            </a:r>
          </a:p>
          <a:p>
            <a:r>
              <a:rPr lang="en-US" dirty="0" smtClean="0"/>
              <a:t>Can you get on the same machine?</a:t>
            </a:r>
          </a:p>
          <a:p>
            <a:pPr lvl="1"/>
            <a:r>
              <a:rPr lang="en-US" dirty="0" smtClean="0"/>
              <a:t>Pigeon-hole principle</a:t>
            </a:r>
          </a:p>
          <a:p>
            <a:pPr lvl="1"/>
            <a:r>
              <a:rPr lang="en-US" dirty="0" smtClean="0"/>
              <a:t>Placement locality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Security Evolved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652" y="3251917"/>
            <a:ext cx="4874148" cy="333391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64240" y="4445368"/>
            <a:ext cx="3770433" cy="1950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Remove external addressability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/>
              <a:t>Doesn’t </a:t>
            </a:r>
            <a:r>
              <a:rPr lang="en-US" sz="3200" dirty="0" smtClean="0"/>
              <a:t>protect external facing assets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40" y="1417638"/>
            <a:ext cx="8070207" cy="2743103"/>
          </a:xfrm>
        </p:spPr>
        <p:txBody>
          <a:bodyPr>
            <a:normAutofit/>
          </a:bodyPr>
          <a:lstStyle/>
          <a:p>
            <a:r>
              <a:rPr lang="en-US" dirty="0" smtClean="0"/>
              <a:t>Virtual private clouds</a:t>
            </a:r>
          </a:p>
          <a:p>
            <a:pPr lvl="1"/>
            <a:r>
              <a:rPr lang="en-US" dirty="0" smtClean="0"/>
              <a:t>Amazon, AT&amp;T, Verizon</a:t>
            </a:r>
            <a:endParaRPr lang="en-US" dirty="0" smtClean="0"/>
          </a:p>
          <a:p>
            <a:pPr lvl="1"/>
            <a:r>
              <a:rPr lang="en-US" dirty="0" smtClean="0"/>
              <a:t>MPLS VPN </a:t>
            </a:r>
            <a:r>
              <a:rPr lang="en-US" dirty="0" smtClean="0"/>
              <a:t>connection to cloud gateway</a:t>
            </a:r>
          </a:p>
          <a:p>
            <a:pPr lvl="1"/>
            <a:r>
              <a:rPr lang="en-US" dirty="0" smtClean="0"/>
              <a:t>Internal </a:t>
            </a:r>
            <a:r>
              <a:rPr lang="en-US" dirty="0" err="1" smtClean="0"/>
              <a:t>VLANs</a:t>
            </a:r>
            <a:r>
              <a:rPr lang="en-US" dirty="0" smtClean="0"/>
              <a:t> within cloud</a:t>
            </a:r>
          </a:p>
          <a:p>
            <a:pPr lvl="1"/>
            <a:r>
              <a:rPr lang="en-US" dirty="0" smtClean="0"/>
              <a:t>Virtual gateways, firewalls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404" y="6259416"/>
            <a:ext cx="21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</a:rPr>
              <a:t>Source: Amazon AWS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Security: Trusted Computing 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Isolation is the fundamental property of </a:t>
            </a:r>
            <a:r>
              <a:rPr lang="en-US" dirty="0" err="1" smtClean="0"/>
              <a:t>IaaS</a:t>
            </a:r>
            <a:endParaRPr lang="en-US" dirty="0" smtClean="0"/>
          </a:p>
          <a:p>
            <a:r>
              <a:rPr lang="en-US" dirty="0" smtClean="0"/>
              <a:t>That’s why we have </a:t>
            </a:r>
            <a:r>
              <a:rPr lang="en-US" dirty="0" err="1" smtClean="0"/>
              <a:t>VMs</a:t>
            </a:r>
            <a:r>
              <a:rPr lang="en-US" dirty="0" smtClean="0"/>
              <a:t> … and not a cloud OS</a:t>
            </a:r>
          </a:p>
          <a:p>
            <a:r>
              <a:rPr lang="en-US" dirty="0" smtClean="0"/>
              <a:t>Narrower interfaces</a:t>
            </a:r>
          </a:p>
          <a:p>
            <a:r>
              <a:rPr lang="en-US" dirty="0" smtClean="0"/>
              <a:t>Smaller </a:t>
            </a:r>
            <a:r>
              <a:rPr lang="en-US" dirty="0" err="1" smtClean="0"/>
              <a:t>TCBs</a:t>
            </a:r>
            <a:endParaRPr lang="en-US" dirty="0" smtClean="0"/>
          </a:p>
          <a:p>
            <a:r>
              <a:rPr lang="en-US" dirty="0" smtClean="0"/>
              <a:t>Really?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Xen</a:t>
            </a:r>
            <a:r>
              <a:rPr lang="en-US" dirty="0" smtClean="0"/>
              <a:t> TCB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93" y="1689773"/>
            <a:ext cx="8416707" cy="196178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/>
              <a:t>Hypervisor</a:t>
            </a:r>
          </a:p>
          <a:p>
            <a:pPr>
              <a:buNone/>
            </a:pPr>
            <a:r>
              <a:rPr lang="en-US" sz="2400" dirty="0" smtClean="0"/>
              <a:t>Domain0</a:t>
            </a:r>
          </a:p>
          <a:p>
            <a:r>
              <a:rPr lang="en-US" sz="2200" dirty="0" smtClean="0"/>
              <a:t>Linux Kernel</a:t>
            </a:r>
          </a:p>
          <a:p>
            <a:r>
              <a:rPr lang="en-US" sz="2200" dirty="0" smtClean="0"/>
              <a:t>Linux distribution</a:t>
            </a:r>
          </a:p>
          <a:p>
            <a:pPr lvl="1"/>
            <a:r>
              <a:rPr lang="en-US" sz="2000" dirty="0" smtClean="0"/>
              <a:t>Network services</a:t>
            </a:r>
          </a:p>
          <a:p>
            <a:pPr lvl="1"/>
            <a:r>
              <a:rPr lang="en-US" sz="2000" dirty="0" smtClean="0"/>
              <a:t>Shell</a:t>
            </a:r>
          </a:p>
          <a:p>
            <a:r>
              <a:rPr lang="en-US" sz="2200" dirty="0" smtClean="0"/>
              <a:t>Control stack</a:t>
            </a:r>
          </a:p>
          <a:p>
            <a:r>
              <a:rPr lang="en-US" sz="2200" dirty="0" smtClean="0"/>
              <a:t>VM mgmt tools</a:t>
            </a:r>
          </a:p>
          <a:p>
            <a:pPr lvl="1"/>
            <a:r>
              <a:rPr lang="en-US" sz="2000" dirty="0" smtClean="0"/>
              <a:t>Boot-loader</a:t>
            </a:r>
          </a:p>
          <a:p>
            <a:pPr lvl="1"/>
            <a:r>
              <a:rPr lang="en-US" sz="2000" dirty="0" err="1" smtClean="0"/>
              <a:t>Checkpointing</a:t>
            </a:r>
            <a:endParaRPr lang="en-US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762" y="1689773"/>
            <a:ext cx="6058209" cy="45363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85762" y="1689773"/>
            <a:ext cx="5170492" cy="453633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Smaller </a:t>
            </a:r>
            <a:r>
              <a:rPr lang="en-US" dirty="0" err="1" smtClean="0"/>
              <a:t>TCBs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Dom0 </a:t>
            </a:r>
            <a:r>
              <a:rPr lang="en-US" dirty="0" smtClean="0"/>
              <a:t>disaggregation, </a:t>
            </a:r>
            <a:r>
              <a:rPr lang="en-US" dirty="0" smtClean="0"/>
              <a:t>Nova</a:t>
            </a:r>
          </a:p>
          <a:p>
            <a:r>
              <a:rPr lang="en-US" dirty="0" smtClean="0"/>
              <a:t>No TCB? </a:t>
            </a:r>
            <a:r>
              <a:rPr lang="en-US" dirty="0" err="1" smtClean="0"/>
              <a:t>Homomorphic</a:t>
            </a:r>
            <a:r>
              <a:rPr lang="en-US" dirty="0" smtClean="0"/>
              <a:t> encryption!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Moving up the stack helps</a:t>
            </a:r>
          </a:p>
          <a:p>
            <a:pPr lvl="1"/>
            <a:r>
              <a:rPr lang="en-US" dirty="0" smtClean="0"/>
              <a:t>Multiplexing</a:t>
            </a:r>
          </a:p>
          <a:p>
            <a:pPr lvl="1"/>
            <a:r>
              <a:rPr lang="en-US" dirty="0" smtClean="0"/>
              <a:t>Resource allocation</a:t>
            </a:r>
          </a:p>
          <a:p>
            <a:pPr lvl="1"/>
            <a:r>
              <a:rPr lang="en-US" dirty="0" smtClean="0"/>
              <a:t>Design for availability</a:t>
            </a:r>
          </a:p>
          <a:p>
            <a:pPr lvl="1"/>
            <a:r>
              <a:rPr lang="en-US" dirty="0" err="1" smtClean="0"/>
              <a:t>Diagnosability</a:t>
            </a:r>
            <a:endParaRPr lang="en-US" dirty="0" smtClean="0"/>
          </a:p>
          <a:p>
            <a:r>
              <a:rPr lang="en-US" dirty="0" smtClean="0"/>
              <a:t>Moving down the stack helps</a:t>
            </a:r>
          </a:p>
          <a:p>
            <a:pPr lvl="1"/>
            <a:r>
              <a:rPr lang="en-US" dirty="0" smtClean="0"/>
              <a:t>Security</a:t>
            </a:r>
          </a:p>
          <a:p>
            <a:pPr lvl="1"/>
            <a:r>
              <a:rPr lang="en-US" dirty="0" smtClean="0"/>
              <a:t>Privacy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From a Use Case: Netflix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Transcoding</a:t>
            </a:r>
            <a:r>
              <a:rPr lang="en-US" dirty="0" smtClean="0"/>
              <a:t> Farm</a:t>
            </a:r>
          </a:p>
          <a:p>
            <a:r>
              <a:rPr lang="en-US" dirty="0" smtClean="0"/>
              <a:t>It does not hold customer sensitive data</a:t>
            </a:r>
          </a:p>
          <a:p>
            <a:r>
              <a:rPr lang="en-US" dirty="0" smtClean="0"/>
              <a:t>It has a clean failure model: restart</a:t>
            </a:r>
          </a:p>
          <a:p>
            <a:r>
              <a:rPr lang="en-US" dirty="0" smtClean="0"/>
              <a:t>You can horizontally scale this at will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From a Use Case: Netflix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Engine</a:t>
            </a:r>
          </a:p>
          <a:p>
            <a:r>
              <a:rPr lang="en-US" dirty="0" smtClean="0"/>
              <a:t>It does not hold customer sensitive data</a:t>
            </a:r>
          </a:p>
          <a:p>
            <a:r>
              <a:rPr lang="en-US" dirty="0" smtClean="0"/>
              <a:t>It has a clean failure model: no updates</a:t>
            </a:r>
          </a:p>
          <a:p>
            <a:r>
              <a:rPr lang="en-US" dirty="0" smtClean="0"/>
              <a:t>You can horizontally scale this at will</a:t>
            </a:r>
          </a:p>
          <a:p>
            <a:r>
              <a:rPr lang="en-US" dirty="0" smtClean="0"/>
              <a:t>It can tolerate eventual consistency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From a Use Case: Netflix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Recommendation Engine</a:t>
            </a:r>
          </a:p>
          <a:p>
            <a:r>
              <a:rPr lang="en-US" dirty="0" smtClean="0"/>
              <a:t>It does not hold customer sensitive data</a:t>
            </a:r>
          </a:p>
          <a:p>
            <a:r>
              <a:rPr lang="en-US" dirty="0" smtClean="0"/>
              <a:t>It has a clean failure model: global index</a:t>
            </a:r>
          </a:p>
          <a:p>
            <a:r>
              <a:rPr lang="en-US" dirty="0" smtClean="0"/>
              <a:t>You can horizontally scale this at will</a:t>
            </a:r>
          </a:p>
          <a:p>
            <a:r>
              <a:rPr lang="en-US" dirty="0" smtClean="0"/>
              <a:t>It can tolerate eventual consistency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From a Use Case: Netflix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“Learn with real scale, not toy models”</a:t>
            </a:r>
          </a:p>
          <a:p>
            <a:pPr lvl="1"/>
            <a:r>
              <a:rPr lang="en-US" dirty="0" smtClean="0"/>
              <a:t>Why not? It costs you ten bucks</a:t>
            </a:r>
          </a:p>
          <a:p>
            <a:r>
              <a:rPr lang="en-US" dirty="0" smtClean="0"/>
              <a:t>Chaos Monkey</a:t>
            </a:r>
          </a:p>
          <a:p>
            <a:pPr lvl="1"/>
            <a:r>
              <a:rPr lang="en-US" dirty="0" smtClean="0"/>
              <a:t>Why not? Things will fail eventually</a:t>
            </a:r>
          </a:p>
          <a:p>
            <a:r>
              <a:rPr lang="en-US" dirty="0" smtClean="0"/>
              <a:t>Nothing is fast, everything is independent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684" name="Picture 4"/>
          <p:cNvPicPr>
            <a:picLocks noChangeAspect="1" noChangeArrowheads="1"/>
          </p:cNvPicPr>
          <p:nvPr/>
        </p:nvPicPr>
        <p:blipFill>
          <a:blip r:embed="rId2"/>
          <a:srcRect l="23978" t="23363" r="17413" b="18268"/>
          <a:stretch>
            <a:fillRect/>
          </a:stretch>
        </p:blipFill>
        <p:spPr bwMode="auto">
          <a:xfrm>
            <a:off x="1052683" y="894138"/>
            <a:ext cx="6901361" cy="501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685" y="155066"/>
            <a:ext cx="1659426" cy="14781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14" y="5150374"/>
            <a:ext cx="2074020" cy="1553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24534" y="6180667"/>
            <a:ext cx="6462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j-lt"/>
                <a:cs typeface="Calibri (Body)"/>
              </a:rPr>
              <a:t>Source: </a:t>
            </a:r>
            <a:r>
              <a:rPr lang="en-US" sz="1200" dirty="0" err="1" smtClean="0">
                <a:latin typeface="+mj-lt"/>
                <a:cs typeface="Calibri (Body)"/>
              </a:rPr>
              <a:t>Voas</a:t>
            </a:r>
            <a:r>
              <a:rPr lang="en-US" sz="1200" dirty="0" smtClean="0">
                <a:latin typeface="+mj-lt"/>
                <a:cs typeface="Calibri (Body)"/>
              </a:rPr>
              <a:t>, Jeffrey;  Zhang, </a:t>
            </a:r>
            <a:r>
              <a:rPr lang="en-US" sz="1200" dirty="0" err="1" smtClean="0">
                <a:latin typeface="+mj-lt"/>
                <a:cs typeface="Calibri (Body)"/>
              </a:rPr>
              <a:t>Jia</a:t>
            </a:r>
            <a:r>
              <a:rPr lang="en-US" sz="1200" dirty="0" smtClean="0">
                <a:latin typeface="+mj-lt"/>
                <a:cs typeface="Calibri (Body)"/>
              </a:rPr>
              <a:t>. Cloud Computing: New Wine or Just a New Bottle? In </a:t>
            </a:r>
            <a:r>
              <a:rPr lang="en-US" sz="1200" dirty="0" smtClean="0">
                <a:solidFill>
                  <a:srgbClr val="000000"/>
                </a:solidFill>
                <a:latin typeface="+mj-lt"/>
                <a:ea typeface="Lucida Grande"/>
                <a:cs typeface="Lucida Grande"/>
              </a:rPr>
              <a:t>IT Professional, March 2009, Volume 11, Issue 2, pp 15-17.</a:t>
            </a:r>
            <a:r>
              <a:rPr lang="en-US" sz="1600" dirty="0" smtClean="0">
                <a:latin typeface="Calibri (Body)"/>
                <a:cs typeface="Calibri (Body)"/>
              </a:rPr>
              <a:t> </a:t>
            </a:r>
            <a:endParaRPr lang="en-US" sz="1600" dirty="0">
              <a:latin typeface="Calibri (Body)"/>
              <a:cs typeface="Calibri (Body)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64930"/>
            <a:ext cx="8229600" cy="6195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circle is now complete…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…or is it?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11633" y="5951159"/>
            <a:ext cx="205236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Questions?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79" y="1361204"/>
            <a:ext cx="3440746" cy="4589955"/>
          </a:xfrm>
          <a:prstGeom prst="rect">
            <a:avLst/>
          </a:prstGeom>
        </p:spPr>
      </p:pic>
      <p:sp>
        <p:nvSpPr>
          <p:cNvPr id="7" name="Up Arrow 6"/>
          <p:cNvSpPr/>
          <p:nvPr/>
        </p:nvSpPr>
        <p:spPr>
          <a:xfrm>
            <a:off x="4705949" y="1712374"/>
            <a:ext cx="317510" cy="3832995"/>
          </a:xfrm>
          <a:prstGeom prst="up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82216" y="2165982"/>
            <a:ext cx="37316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 smtClean="0"/>
              <a:t> Tradeoffs driven by application rather than technology needs</a:t>
            </a:r>
          </a:p>
          <a:p>
            <a:pPr>
              <a:buFont typeface="Arial"/>
              <a:buChar char="•"/>
            </a:pPr>
            <a:endParaRPr lang="en-US" sz="2400" dirty="0" smtClean="0"/>
          </a:p>
          <a:p>
            <a:pPr>
              <a:buFont typeface="Arial"/>
              <a:buChar char="•"/>
            </a:pPr>
            <a:r>
              <a:rPr lang="en-US" sz="2400" dirty="0" smtClean="0"/>
              <a:t> Scale, global </a:t>
            </a:r>
            <a:r>
              <a:rPr lang="en-US" sz="2400" dirty="0" smtClean="0"/>
              <a:t>reach</a:t>
            </a:r>
          </a:p>
          <a:p>
            <a:pPr>
              <a:buFont typeface="Arial"/>
              <a:buChar char="•"/>
            </a:pPr>
            <a:endParaRPr lang="en-US" sz="2400" dirty="0" smtClean="0"/>
          </a:p>
          <a:p>
            <a:pPr>
              <a:buFont typeface="Arial"/>
              <a:buChar char="•"/>
            </a:pPr>
            <a:r>
              <a:rPr lang="en-US" sz="2400" dirty="0" smtClean="0"/>
              <a:t> Mobility of users, servers</a:t>
            </a:r>
          </a:p>
          <a:p>
            <a:pPr>
              <a:buFont typeface="Arial"/>
              <a:buChar char="•"/>
            </a:pPr>
            <a:endParaRPr lang="en-US" sz="2400" dirty="0" smtClean="0"/>
          </a:p>
          <a:p>
            <a:pPr>
              <a:buFont typeface="Arial"/>
              <a:buChar char="•"/>
            </a:pPr>
            <a:r>
              <a:rPr lang="en-US" sz="2400" dirty="0" smtClean="0"/>
              <a:t> Increasing democratization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2.7|1.3"/>
</p:tagLst>
</file>

<file path=ppt/tags/tag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IMING" val="|2|7.2|24.:|3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7207</TotalTime>
  <Words>3361</Words>
  <Application>Microsoft Macintosh PowerPoint</Application>
  <PresentationFormat>On-screen Show (4:3)</PresentationFormat>
  <Paragraphs>799</Paragraphs>
  <Slides>71</Slides>
  <Notes>8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3" baseType="lpstr">
      <vt:lpstr>Office Theme</vt:lpstr>
      <vt:lpstr>Visio</vt:lpstr>
      <vt:lpstr>Cloud Computing: Recent Trends, Challenges and Open Problems</vt:lpstr>
      <vt:lpstr>Tutorial?</vt:lpstr>
      <vt:lpstr>Outline</vt:lpstr>
      <vt:lpstr>The Alphabet Soup</vt:lpstr>
      <vt:lpstr>Before</vt:lpstr>
      <vt:lpstr>August 2006</vt:lpstr>
      <vt:lpstr>IaaS can only go so far</vt:lpstr>
      <vt:lpstr>Evolution into PaaS</vt:lpstr>
      <vt:lpstr>PaaS diversity (and lock-in)</vt:lpstr>
      <vt:lpstr>Our Focus</vt:lpstr>
      <vt:lpstr>What Is So Different?</vt:lpstr>
      <vt:lpstr>Your New Concerns</vt:lpstr>
      <vt:lpstr>Thesis Statement from User POV</vt:lpstr>
      <vt:lpstr>Let’s Take the Example of Storage</vt:lpstr>
      <vt:lpstr>Horizontal Scaling in Web Services</vt:lpstr>
      <vt:lpstr>Data Stores Drive System Design</vt:lpstr>
      <vt:lpstr>Cloud SQL </vt:lpstr>
      <vt:lpstr>Key Value Stores</vt:lpstr>
      <vt:lpstr>Scalable Data Stores: Elasticity via Consistent Hashes</vt:lpstr>
      <vt:lpstr>Eventual Consistency</vt:lpstr>
      <vt:lpstr>KV Store Key Properties</vt:lpstr>
      <vt:lpstr>EC2 Key Value Stores</vt:lpstr>
      <vt:lpstr>EC2 Key Value Stores</vt:lpstr>
      <vt:lpstr>Pick your poison</vt:lpstr>
      <vt:lpstr>EC2 Storage Options:  TPC-W Performance</vt:lpstr>
      <vt:lpstr>Durability use case: Disaster Recovery</vt:lpstr>
      <vt:lpstr>Will My Data Be Available?</vt:lpstr>
      <vt:lpstr>Availability Under Uncertainty</vt:lpstr>
      <vt:lpstr>Availability Under Uncertainty</vt:lpstr>
      <vt:lpstr>How to Deal with Latency</vt:lpstr>
      <vt:lpstr>Wide-area Data Stores: CAP Theorem</vt:lpstr>
      <vt:lpstr>Build Your Own NoSQL</vt:lpstr>
      <vt:lpstr>Build Your Own NoSQL</vt:lpstr>
      <vt:lpstr>Remember</vt:lpstr>
      <vt:lpstr>Provider Point of View</vt:lpstr>
      <vt:lpstr>Provider Concerns</vt:lpstr>
      <vt:lpstr>Multiplexing: The Good News…</vt:lpstr>
      <vt:lpstr>Multiplexing: The Bad News…</vt:lpstr>
      <vt:lpstr>The Elasticity Challenge</vt:lpstr>
      <vt:lpstr>How do VMs Isolate Memory?</vt:lpstr>
      <vt:lpstr>Memory Oversubscription</vt:lpstr>
      <vt:lpstr>Memory Consolidation</vt:lpstr>
      <vt:lpstr>Page-granular VMs</vt:lpstr>
      <vt:lpstr>Fast VM Instantiation? </vt:lpstr>
      <vt:lpstr>Clone Time</vt:lpstr>
      <vt:lpstr>Memory Coloring</vt:lpstr>
      <vt:lpstr>Clone Memory Footprints</vt:lpstr>
      <vt:lpstr>Implications for Data Centers</vt:lpstr>
      <vt:lpstr>Dynamic Resource Reallocation</vt:lpstr>
      <vt:lpstr>Blackbox Techniques</vt:lpstr>
      <vt:lpstr>Up the Stack: Graybox Techniques</vt:lpstr>
      <vt:lpstr>Comparative Analysis of Actions</vt:lpstr>
      <vt:lpstr>Acting to Balance Cost vs. Benefit</vt:lpstr>
      <vt:lpstr>Conjoint Sequential Optimization</vt:lpstr>
      <vt:lpstr>Let’s talk about failures</vt:lpstr>
      <vt:lpstr>Assume Anything can Fail</vt:lpstr>
      <vt:lpstr>Peeking over the Wall</vt:lpstr>
      <vt:lpstr>Data Center Diagnosis</vt:lpstr>
      <vt:lpstr>Network Security</vt:lpstr>
      <vt:lpstr>Information Leakage </vt:lpstr>
      <vt:lpstr>Network Security Evolved</vt:lpstr>
      <vt:lpstr>Security: Trusted Computing Bases</vt:lpstr>
      <vt:lpstr>The Xen TCB</vt:lpstr>
      <vt:lpstr>Smaller TCBs</vt:lpstr>
      <vt:lpstr>Remember</vt:lpstr>
      <vt:lpstr>Learn From a Use Case: Netflix</vt:lpstr>
      <vt:lpstr>Learn From a Use Case: Netflix</vt:lpstr>
      <vt:lpstr>Learn From a Use Case: Netflix</vt:lpstr>
      <vt:lpstr>Learn From a Use Case: Netflix</vt:lpstr>
      <vt:lpstr>The circle is now complete…</vt:lpstr>
      <vt:lpstr>…or is it?</vt:lpstr>
    </vt:vector>
  </TitlesOfParts>
  <Company>AT&amp;T Labs Research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Andres Lagar-Cavilla</dc:creator>
  <cp:lastModifiedBy>Kaustubh Joshi</cp:lastModifiedBy>
  <cp:revision>78</cp:revision>
  <dcterms:created xsi:type="dcterms:W3CDTF">2011-06-07T19:55:57Z</dcterms:created>
  <dcterms:modified xsi:type="dcterms:W3CDTF">2011-06-08T16:57:37Z</dcterms:modified>
</cp:coreProperties>
</file>