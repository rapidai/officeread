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5" r:id="rId6"/>
    <p:sldId id="260" r:id="rId7"/>
    <p:sldId id="261" r:id="rId8"/>
    <p:sldId id="262" r:id="rId9"/>
    <p:sldId id="266" r:id="rId10"/>
    <p:sldId id="263" r:id="rId11"/>
    <p:sldId id="264"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1" d="100"/>
          <a:sy n="51" d="100"/>
        </p:scale>
        <p:origin x="-90" y="-3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88F9E5-29FD-48F2-9A3E-028783123F43}" type="datetimeFigureOut">
              <a:rPr lang="en-US" smtClean="0"/>
              <a:pPr/>
              <a:t>1/23/2012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E57F033-B29E-44F3-BBB6-706CFC4B32A1}"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E57F033-B29E-44F3-BBB6-706CFC4B32A1}"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E57F033-B29E-44F3-BBB6-706CFC4B32A1}"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E57F033-B29E-44F3-BBB6-706CFC4B32A1}" type="slidenum">
              <a:rPr lang="en-US" smtClean="0"/>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E57F033-B29E-44F3-BBB6-706CFC4B32A1}" type="slidenum">
              <a:rPr lang="en-US" smtClean="0"/>
              <a:pPr/>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E57F033-B29E-44F3-BBB6-706CFC4B32A1}" type="slidenum">
              <a:rPr lang="en-US" smtClean="0"/>
              <a:pPr/>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E57F033-B29E-44F3-BBB6-706CFC4B32A1}" type="slidenum">
              <a:rPr lang="en-US" smtClean="0"/>
              <a:pPr/>
              <a:t>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3D26DFF-A4EE-4694-8452-6BC3B8A34786}" type="datetimeFigureOut">
              <a:rPr lang="en-US" smtClean="0"/>
              <a:pPr/>
              <a:t>1/23/2012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80EE69-36CD-4ECE-81E7-CFD26B68A3C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D26DFF-A4EE-4694-8452-6BC3B8A34786}" type="datetimeFigureOut">
              <a:rPr lang="en-US" smtClean="0"/>
              <a:pPr/>
              <a:t>1/23/2012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80EE69-36CD-4ECE-81E7-CFD26B68A3C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3D26DFF-A4EE-4694-8452-6BC3B8A34786}" type="datetimeFigureOut">
              <a:rPr lang="en-US" smtClean="0"/>
              <a:pPr/>
              <a:t>1/23/2012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80EE69-36CD-4ECE-81E7-CFD26B68A3C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3D26DFF-A4EE-4694-8452-6BC3B8A34786}" type="datetimeFigureOut">
              <a:rPr lang="en-US" smtClean="0"/>
              <a:pPr/>
              <a:t>1/23/2012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80EE69-36CD-4ECE-81E7-CFD26B68A3C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3D26DFF-A4EE-4694-8452-6BC3B8A34786}" type="datetimeFigureOut">
              <a:rPr lang="en-US" smtClean="0"/>
              <a:pPr/>
              <a:t>1/23/2012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80EE69-36CD-4ECE-81E7-CFD26B68A3C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3D26DFF-A4EE-4694-8452-6BC3B8A34786}" type="datetimeFigureOut">
              <a:rPr lang="en-US" smtClean="0"/>
              <a:pPr/>
              <a:t>1/23/2012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680EE69-36CD-4ECE-81E7-CFD26B68A3C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D26DFF-A4EE-4694-8452-6BC3B8A34786}" type="datetimeFigureOut">
              <a:rPr lang="en-US" smtClean="0"/>
              <a:pPr/>
              <a:t>1/23/2012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80EE69-36CD-4ECE-81E7-CFD26B68A3C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3D26DFF-A4EE-4694-8452-6BC3B8A34786}" type="datetimeFigureOut">
              <a:rPr lang="en-US" smtClean="0"/>
              <a:pPr/>
              <a:t>1/23/2012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80EE69-36CD-4ECE-81E7-CFD26B68A3C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3D26DFF-A4EE-4694-8452-6BC3B8A34786}" type="datetimeFigureOut">
              <a:rPr lang="en-US" smtClean="0"/>
              <a:pPr/>
              <a:t>1/23/2012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80EE69-36CD-4ECE-81E7-CFD26B68A3C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D26DFF-A4EE-4694-8452-6BC3B8A34786}" type="datetimeFigureOut">
              <a:rPr lang="en-US" smtClean="0"/>
              <a:pPr/>
              <a:t>1/23/2012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80EE69-36CD-4ECE-81E7-CFD26B68A3C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D26DFF-A4EE-4694-8452-6BC3B8A34786}" type="datetimeFigureOut">
              <a:rPr lang="en-US" smtClean="0"/>
              <a:pPr/>
              <a:t>1/23/2012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80EE69-36CD-4ECE-81E7-CFD26B68A3C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D26DFF-A4EE-4694-8452-6BC3B8A34786}" type="datetimeFigureOut">
              <a:rPr lang="en-US" smtClean="0"/>
              <a:pPr/>
              <a:t>1/23/2012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80EE69-36CD-4ECE-81E7-CFD26B68A3C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66801"/>
            <a:ext cx="7772400" cy="2533650"/>
          </a:xfrm>
          <a:solidFill>
            <a:srgbClr val="92D050"/>
          </a:solidFill>
          <a:ln>
            <a:solidFill>
              <a:srgbClr val="00B050"/>
            </a:solidFill>
          </a:ln>
        </p:spPr>
        <p:txBody>
          <a:bodyPr/>
          <a:lstStyle/>
          <a:p>
            <a:r>
              <a:rPr lang="en-US" b="1" dirty="0" smtClean="0"/>
              <a:t>Idaho’s Native American Tribes</a:t>
            </a:r>
            <a:endParaRPr lang="en-US" b="1" dirty="0"/>
          </a:p>
        </p:txBody>
      </p:sp>
      <p:sp>
        <p:nvSpPr>
          <p:cNvPr id="3" name="Subtitle 2"/>
          <p:cNvSpPr>
            <a:spLocks noGrp="1"/>
          </p:cNvSpPr>
          <p:nvPr>
            <p:ph type="subTitle" idx="1"/>
          </p:nvPr>
        </p:nvSpPr>
        <p:spPr/>
        <p:txBody>
          <a:bodyPr/>
          <a:lstStyle/>
          <a:p>
            <a:r>
              <a:rPr lang="en-US" b="1" dirty="0" smtClean="0">
                <a:solidFill>
                  <a:schemeClr val="tx1"/>
                </a:solidFill>
              </a:rPr>
              <a:t>By Sydney </a:t>
            </a:r>
            <a:r>
              <a:rPr lang="en-US" b="1" dirty="0" err="1" smtClean="0">
                <a:solidFill>
                  <a:schemeClr val="tx1"/>
                </a:solidFill>
              </a:rPr>
              <a:t>Penner</a:t>
            </a:r>
            <a:endParaRPr lang="en-US" b="1" dirty="0" smtClean="0">
              <a:solidFill>
                <a:schemeClr val="tx1"/>
              </a:solidFill>
            </a:endParaRPr>
          </a:p>
          <a:p>
            <a:r>
              <a:rPr lang="en-US" b="1" dirty="0" smtClean="0">
                <a:solidFill>
                  <a:schemeClr val="tx1"/>
                </a:solidFill>
              </a:rPr>
              <a:t>Resident Assistant</a:t>
            </a:r>
            <a:endParaRPr lang="en-US" b="1" dirty="0" smtClean="0">
              <a:solidFill>
                <a:schemeClr val="tx1"/>
              </a:solidFill>
            </a:endParaRPr>
          </a:p>
          <a:p>
            <a:r>
              <a:rPr lang="en-US" b="1" dirty="0" smtClean="0">
                <a:solidFill>
                  <a:schemeClr val="tx1"/>
                </a:solidFill>
              </a:rPr>
              <a:t>University of Idaho </a:t>
            </a:r>
            <a:endParaRPr lang="en-US" b="1"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idaho native american tribes.jpg"/>
          <p:cNvPicPr>
            <a:picLocks noGrp="1" noChangeAspect="1"/>
          </p:cNvPicPr>
          <p:nvPr>
            <p:ph idx="1"/>
          </p:nvPr>
        </p:nvPicPr>
        <p:blipFill>
          <a:blip r:embed="rId3" cstate="print"/>
          <a:stretch>
            <a:fillRect/>
          </a:stretch>
        </p:blipFill>
        <p:spPr>
          <a:xfrm>
            <a:off x="838200" y="457200"/>
            <a:ext cx="5257800" cy="5954857"/>
          </a:xfrm>
        </p:spPr>
      </p:pic>
      <p:sp>
        <p:nvSpPr>
          <p:cNvPr id="5" name="TextBox 4"/>
          <p:cNvSpPr txBox="1"/>
          <p:nvPr/>
        </p:nvSpPr>
        <p:spPr>
          <a:xfrm>
            <a:off x="4876800" y="838200"/>
            <a:ext cx="2514600" cy="1815882"/>
          </a:xfrm>
          <a:prstGeom prst="rect">
            <a:avLst/>
          </a:prstGeom>
          <a:noFill/>
        </p:spPr>
        <p:txBody>
          <a:bodyPr wrap="square" rtlCol="0">
            <a:spAutoFit/>
          </a:bodyPr>
          <a:lstStyle/>
          <a:p>
            <a:pPr algn="ctr"/>
            <a:r>
              <a:rPr lang="en-US" sz="2800" dirty="0" smtClean="0">
                <a:latin typeface="Iskoola Pota" pitchFamily="34" charset="0"/>
                <a:cs typeface="Iskoola Pota" pitchFamily="34" charset="0"/>
              </a:rPr>
              <a:t>The original inhabitants of what is now Idaho.</a:t>
            </a:r>
            <a:endParaRPr lang="en-US" sz="2800" dirty="0">
              <a:latin typeface="Iskoola Pota" pitchFamily="34" charset="0"/>
              <a:cs typeface="Iskoola Pota"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solidFill>
            <a:srgbClr val="92D050"/>
          </a:solidFill>
          <a:ln>
            <a:solidFill>
              <a:srgbClr val="00B050"/>
            </a:solidFill>
          </a:ln>
        </p:spPr>
        <p:txBody>
          <a:bodyPr/>
          <a:lstStyle/>
          <a:p>
            <a:r>
              <a:rPr lang="en-US" dirty="0" smtClean="0"/>
              <a:t>The Kootenai Tribe</a:t>
            </a:r>
            <a:endParaRPr lang="en-US" dirty="0"/>
          </a:p>
        </p:txBody>
      </p:sp>
      <p:sp>
        <p:nvSpPr>
          <p:cNvPr id="5" name="Content Placeholder 4"/>
          <p:cNvSpPr>
            <a:spLocks noGrp="1"/>
          </p:cNvSpPr>
          <p:nvPr>
            <p:ph idx="1"/>
          </p:nvPr>
        </p:nvSpPr>
        <p:spPr/>
        <p:txBody>
          <a:bodyPr>
            <a:normAutofit lnSpcReduction="10000"/>
          </a:bodyPr>
          <a:lstStyle/>
          <a:p>
            <a:pPr>
              <a:buNone/>
            </a:pPr>
            <a:r>
              <a:rPr lang="en-US" sz="2400" dirty="0" smtClean="0"/>
              <a:t>	The </a:t>
            </a:r>
            <a:r>
              <a:rPr lang="en-US" sz="2400" dirty="0"/>
              <a:t>Kootenai Tribe of Idaho was once part of a larger Kootenai Tribe situated in what is now Montana and Canada. Although the "Kootenay" tribe was party to the Treaty of </a:t>
            </a:r>
            <a:r>
              <a:rPr lang="en-US" sz="2400" dirty="0" err="1"/>
              <a:t>Hellgate</a:t>
            </a:r>
            <a:r>
              <a:rPr lang="en-US" sz="2400" dirty="0"/>
              <a:t> in Montana on July 16, 1855, the Idaho Kootenai were apparently not represented, although the treaty ceded lands of the Idaho Kootenai. Thereafter tribal members received a few allotments but there was no reservation established for the Kootenai Tribe of Idaho. It was not until October 18, 1974, that lands were set aside in trust for the Kootenai Tribe by the United States. </a:t>
            </a:r>
            <a:endParaRPr lang="en-US" sz="2400" dirty="0" smtClean="0"/>
          </a:p>
          <a:p>
            <a:pPr>
              <a:buNone/>
            </a:pPr>
            <a:r>
              <a:rPr lang="en-US" sz="2400" dirty="0" smtClean="0"/>
              <a:t>	</a:t>
            </a:r>
          </a:p>
          <a:p>
            <a:pPr>
              <a:buNone/>
            </a:pPr>
            <a:r>
              <a:rPr lang="en-US" sz="2400" dirty="0" smtClean="0"/>
              <a:t>	Act </a:t>
            </a:r>
            <a:r>
              <a:rPr lang="en-US" sz="2400" dirty="0"/>
              <a:t>of October </a:t>
            </a:r>
            <a:r>
              <a:rPr lang="en-US" sz="2400" dirty="0" smtClean="0"/>
              <a:t>18</a:t>
            </a:r>
            <a:r>
              <a:rPr lang="en-US" sz="2400" dirty="0"/>
              <a:t>, 1974, Pub. L. No. 93-458, 88 Stat. 1383</a:t>
            </a:r>
            <a:r>
              <a:rPr lang="en-US" sz="2400" dirty="0" smtClean="0"/>
              <a: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92D050"/>
          </a:solidFill>
          <a:ln>
            <a:solidFill>
              <a:srgbClr val="00B050"/>
            </a:solidFill>
          </a:ln>
        </p:spPr>
        <p:txBody>
          <a:bodyPr/>
          <a:lstStyle/>
          <a:p>
            <a:r>
              <a:rPr lang="en-US" dirty="0" smtClean="0"/>
              <a:t>The Coeur d’Alene Tribe</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dirty="0" smtClean="0"/>
              <a:t>	The </a:t>
            </a:r>
            <a:r>
              <a:rPr lang="en-US" dirty="0"/>
              <a:t>Homeland is still home. The place "where the old ones walked" includes almost 5,000,000 acres of what is now north Idaho, eastern Washington and western Montana. The "old ones" were extremely wealthy from an Indian perspective, with everything they needed close at hand. Unlike the tribes of the plains, the Coeur d'Alene's and their neighbors, the Spokane's, the Kootenai, the </a:t>
            </a:r>
            <a:r>
              <a:rPr lang="en-US" dirty="0" err="1"/>
              <a:t>Kalispel</a:t>
            </a:r>
            <a:r>
              <a:rPr lang="en-US" dirty="0"/>
              <a:t>, the bands of the Colville Confederated Tribes and the Kootenai-Salish, or Flatheads, were not nomadic. Coeur d'Alene Indian villages were established along the Coeur d'Alene, St. Joe, Clark Fork and Spokane Rivers. The homeland included numerous and permanent sites on the shores of Lake Coeur d'Alene, Lake Pend </a:t>
            </a:r>
            <a:r>
              <a:rPr lang="en-US" dirty="0" err="1"/>
              <a:t>Orielle</a:t>
            </a:r>
            <a:r>
              <a:rPr lang="en-US" dirty="0"/>
              <a:t> and Hayden Lake</a:t>
            </a:r>
            <a:r>
              <a:rPr lang="en-US" dirty="0" smtClean="0"/>
              <a:t>.</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92D050"/>
          </a:solidFill>
          <a:ln>
            <a:solidFill>
              <a:srgbClr val="00B050"/>
            </a:solidFill>
          </a:ln>
        </p:spPr>
        <p:txBody>
          <a:bodyPr/>
          <a:lstStyle/>
          <a:p>
            <a:r>
              <a:rPr lang="en-US" dirty="0" smtClean="0"/>
              <a:t>The Coeur d’Alene Tribe</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These tribes traded among themselves an with dozens of tribes far away on the Pacific coast. Ancient trade routes connected the Coeur d'Alene's with the Nez Perce, the Shoshones and the Bannocks to the south and southeast. To the east were the tribes of the Great Plains and the vast herds of buffalo. With the coming of horses, young Coeur d'Alene men journeyed east to hunt buffalo. These journeys, however, were not necessary for survival. They were viewed as adventures, and even rites of passage, for youth who would emerge into manhood and into leadership roles.</a:t>
            </a:r>
          </a:p>
          <a:p>
            <a:r>
              <a:rPr lang="en-US" dirty="0" smtClean="0"/>
              <a:t>All ancient tribal trade routes and paths remain today. In fact, those very same routes are still used all across the country. Today, however, we call those tribal routes "Interstate highways."</a:t>
            </a:r>
          </a:p>
          <a:p>
            <a:r>
              <a:rPr lang="en-US" dirty="0" smtClean="0"/>
              <a:t>The first white people to encounter the Coeur d'Alene's were French trappers and traders. It was one of these Frenchmen who found the tribe to be vastly experienced and skilled at trading, thus the name "Coeur </a:t>
            </a:r>
            <a:r>
              <a:rPr lang="en-US" dirty="0" err="1" smtClean="0"/>
              <a:t>d'Alene,"meaning</a:t>
            </a:r>
            <a:r>
              <a:rPr lang="en-US" dirty="0" smtClean="0"/>
              <a:t> "heart of the awl." The nickname stuck. One Frenchman described the tribe as "the greatest traders in the world."</a:t>
            </a:r>
          </a:p>
          <a:p>
            <a:endParaRPr lang="en-US" dirty="0" smtClean="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92D050"/>
          </a:solidFill>
          <a:ln>
            <a:solidFill>
              <a:srgbClr val="00B050"/>
            </a:solidFill>
          </a:ln>
        </p:spPr>
        <p:txBody>
          <a:bodyPr/>
          <a:lstStyle/>
          <a:p>
            <a:r>
              <a:rPr lang="en-US" dirty="0" smtClean="0"/>
              <a:t>Shoshone-Bannock Tribes</a:t>
            </a:r>
            <a:endParaRPr lang="en-US" dirty="0"/>
          </a:p>
        </p:txBody>
      </p:sp>
      <p:sp>
        <p:nvSpPr>
          <p:cNvPr id="3" name="Content Placeholder 2"/>
          <p:cNvSpPr>
            <a:spLocks noGrp="1"/>
          </p:cNvSpPr>
          <p:nvPr>
            <p:ph idx="1"/>
          </p:nvPr>
        </p:nvSpPr>
        <p:spPr/>
        <p:txBody>
          <a:bodyPr>
            <a:normAutofit fontScale="70000" lnSpcReduction="20000"/>
          </a:bodyPr>
          <a:lstStyle/>
          <a:p>
            <a:r>
              <a:rPr lang="en-US" dirty="0"/>
              <a:t>The Shoshone-Bannock Tribes are located in Southeastern Idaho. The tribal government offices and most tribal business enterprises are located eight miles north of Pocatello in Fort Hall. The Fort Hall Reservation was established by the Fort Bridger Treaty of 1868 as a 1.8 million acre homeland for the four distinct bands of Shoshone and one Northern Paiute band, the Bannock, that once inhabited this region. </a:t>
            </a:r>
            <a:endParaRPr lang="en-US" dirty="0" smtClean="0"/>
          </a:p>
          <a:p>
            <a:r>
              <a:rPr lang="en-US" dirty="0" smtClean="0"/>
              <a:t>Between </a:t>
            </a:r>
            <a:r>
              <a:rPr lang="en-US" dirty="0"/>
              <a:t>1868 and 1932, the reservation </a:t>
            </a:r>
            <a:r>
              <a:rPr lang="en-US" dirty="0" smtClean="0"/>
              <a:t>land-base </a:t>
            </a:r>
            <a:r>
              <a:rPr lang="en-US" dirty="0"/>
              <a:t>was reduced by more than two-thirds due to non-Indian encroachment on the land. Today, the reservation consists of 544,000 acres, nestled between the cites of Pocatello, American Falls and Blackfoot, and is divided into five districts: Fort Hall, Lincoln Creek, Ross Fork, Gibson and Bannock Creek. The tribes are proud to say that 96% of that land still remains in tribal and individual Indian ownership.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solidFill>
            <a:srgbClr val="92D050"/>
          </a:solidFill>
          <a:ln>
            <a:solidFill>
              <a:srgbClr val="00B050"/>
            </a:solidFill>
          </a:ln>
        </p:spPr>
        <p:txBody>
          <a:bodyPr>
            <a:normAutofit fontScale="90000"/>
          </a:bodyPr>
          <a:lstStyle/>
          <a:p>
            <a:r>
              <a:rPr lang="en-US" b="1" dirty="0" smtClean="0"/>
              <a:t>Photos of Idaho’s </a:t>
            </a:r>
            <a:br>
              <a:rPr lang="en-US" b="1" dirty="0" smtClean="0"/>
            </a:br>
            <a:r>
              <a:rPr lang="en-US" b="1" dirty="0" smtClean="0"/>
              <a:t>Native American Tribes</a:t>
            </a:r>
            <a:endParaRPr lang="en-US" dirty="0"/>
          </a:p>
        </p:txBody>
      </p:sp>
      <p:pic>
        <p:nvPicPr>
          <p:cNvPr id="5" name="Content Placeholder 4" descr="chieftyhee.jpg"/>
          <p:cNvPicPr>
            <a:picLocks noGrp="1" noChangeAspect="1"/>
          </p:cNvPicPr>
          <p:nvPr>
            <p:ph sz="half" idx="1"/>
          </p:nvPr>
        </p:nvPicPr>
        <p:blipFill>
          <a:blip r:embed="rId3" cstate="print"/>
          <a:stretch>
            <a:fillRect/>
          </a:stretch>
        </p:blipFill>
        <p:spPr>
          <a:xfrm>
            <a:off x="906117" y="1875355"/>
            <a:ext cx="3140765" cy="3975652"/>
          </a:xfrm>
        </p:spPr>
      </p:pic>
      <p:pic>
        <p:nvPicPr>
          <p:cNvPr id="7" name="Content Placeholder 6" descr="shoshone.jpg"/>
          <p:cNvPicPr>
            <a:picLocks noGrp="1" noChangeAspect="1"/>
          </p:cNvPicPr>
          <p:nvPr>
            <p:ph sz="half" idx="2"/>
          </p:nvPr>
        </p:nvPicPr>
        <p:blipFill>
          <a:blip r:embed="rId4" cstate="print"/>
          <a:stretch>
            <a:fillRect/>
          </a:stretch>
        </p:blipFill>
        <p:spPr>
          <a:xfrm>
            <a:off x="4667250" y="2191544"/>
            <a:ext cx="4000500" cy="3343275"/>
          </a:xfrm>
        </p:spPr>
      </p:pic>
      <p:sp>
        <p:nvSpPr>
          <p:cNvPr id="6" name="TextBox 5"/>
          <p:cNvSpPr txBox="1"/>
          <p:nvPr/>
        </p:nvSpPr>
        <p:spPr>
          <a:xfrm>
            <a:off x="914400" y="5867400"/>
            <a:ext cx="3048000" cy="253916"/>
          </a:xfrm>
          <a:prstGeom prst="rect">
            <a:avLst/>
          </a:prstGeom>
          <a:noFill/>
        </p:spPr>
        <p:txBody>
          <a:bodyPr wrap="square" rtlCol="0">
            <a:spAutoFit/>
          </a:bodyPr>
          <a:lstStyle/>
          <a:p>
            <a:r>
              <a:rPr lang="en-US" sz="1050" dirty="0"/>
              <a:t>Pat </a:t>
            </a:r>
            <a:r>
              <a:rPr lang="en-US" sz="1050" dirty="0" err="1"/>
              <a:t>Tyhee</a:t>
            </a:r>
            <a:r>
              <a:rPr lang="en-US" sz="1050" dirty="0"/>
              <a:t>, credit: Idaho Museum of Natural History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solidFill>
            <a:srgbClr val="92D050"/>
          </a:solidFill>
          <a:ln>
            <a:solidFill>
              <a:srgbClr val="00B050"/>
            </a:solidFill>
          </a:ln>
        </p:spPr>
        <p:txBody>
          <a:bodyPr/>
          <a:lstStyle/>
          <a:p>
            <a:r>
              <a:rPr lang="en-US" dirty="0" smtClean="0"/>
              <a:t>The Nez Perce Tribe</a:t>
            </a:r>
            <a:endParaRPr lang="en-US" dirty="0"/>
          </a:p>
        </p:txBody>
      </p:sp>
      <p:sp>
        <p:nvSpPr>
          <p:cNvPr id="6" name="Content Placeholder 5"/>
          <p:cNvSpPr>
            <a:spLocks noGrp="1"/>
          </p:cNvSpPr>
          <p:nvPr>
            <p:ph idx="1"/>
          </p:nvPr>
        </p:nvSpPr>
        <p:spPr/>
        <p:txBody>
          <a:bodyPr>
            <a:normAutofit fontScale="77500" lnSpcReduction="20000"/>
          </a:bodyPr>
          <a:lstStyle/>
          <a:p>
            <a:r>
              <a:rPr lang="en-US" dirty="0"/>
              <a:t>The river region of the </a:t>
            </a:r>
            <a:r>
              <a:rPr lang="en-US" b="1" i="1" dirty="0" err="1"/>
              <a:t>Nimi'ipuu</a:t>
            </a:r>
            <a:r>
              <a:rPr lang="en-US" dirty="0"/>
              <a:t>, Nez Perce, people allowed them to live a much more secure life than the arid desert allowed to the Bannock &amp; Shoshoni.  Because the </a:t>
            </a:r>
            <a:r>
              <a:rPr lang="en-US" b="1" i="1" dirty="0" err="1"/>
              <a:t>Nimi'ipuu</a:t>
            </a:r>
            <a:r>
              <a:rPr lang="en-US" dirty="0"/>
              <a:t> founded their villages along the banks of the Clearwater, Salmon and Snake River drainage the resources available to them were somewhat easier to gather and hunt.  This mountainous region of Idaho has outstanding changes in elevation which causes a diversity of animals and plants to thrive.  The Nez </a:t>
            </a:r>
            <a:r>
              <a:rPr lang="en-US" dirty="0" smtClean="0"/>
              <a:t>Perce had </a:t>
            </a:r>
            <a:r>
              <a:rPr lang="en-US" dirty="0"/>
              <a:t>to migrate seasonally to gather and hunt food, but the relative plenitude of the resources encouraged these people to live and associate with settled villages during much of the year.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92D050"/>
          </a:solidFill>
          <a:ln>
            <a:solidFill>
              <a:srgbClr val="00B050"/>
            </a:solidFill>
          </a:ln>
        </p:spPr>
        <p:txBody>
          <a:bodyPr/>
          <a:lstStyle/>
          <a:p>
            <a:r>
              <a:rPr lang="en-US" dirty="0" smtClean="0"/>
              <a:t>The Nez Perce Tribe</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Local villages usually had populations from 30 to 200 individuals, which permitted the </a:t>
            </a:r>
            <a:r>
              <a:rPr lang="en-US" b="1" i="1" dirty="0" err="1" smtClean="0"/>
              <a:t>Nimi'ipuu</a:t>
            </a:r>
            <a:r>
              <a:rPr lang="en-US" dirty="0" smtClean="0"/>
              <a:t> to develop into the largest population in Idaho before settlement by land hungry pioneers.</a:t>
            </a:r>
          </a:p>
          <a:p>
            <a:r>
              <a:rPr lang="en-US" dirty="0" smtClean="0"/>
              <a:t>This living area, based on a </a:t>
            </a:r>
            <a:r>
              <a:rPr lang="en-US" dirty="0" err="1" smtClean="0"/>
              <a:t>riverine</a:t>
            </a:r>
            <a:r>
              <a:rPr lang="en-US" dirty="0" smtClean="0"/>
              <a:t> system, allowed the </a:t>
            </a:r>
            <a:r>
              <a:rPr lang="en-US" b="1" i="1" dirty="0" err="1" smtClean="0"/>
              <a:t>Nimi'ipuu</a:t>
            </a:r>
            <a:r>
              <a:rPr lang="en-US" dirty="0" smtClean="0"/>
              <a:t> a diversity of resources not easily had by the Shoshoni &amp; Bannock to the south.  The men hunted large game animals which lived in the mountains bordering the rivers and small game such as rabbit, squirrel and marmot which lived in the neighboring valleys.  Game birds were also common in this area of river drainage.  Ducks, geese and grouse would have been available as food.</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solidFill>
            <a:srgbClr val="92D050"/>
          </a:solidFill>
          <a:ln>
            <a:solidFill>
              <a:srgbClr val="00B050"/>
            </a:solidFill>
          </a:ln>
        </p:spPr>
        <p:txBody>
          <a:bodyPr>
            <a:normAutofit fontScale="90000"/>
          </a:bodyPr>
          <a:lstStyle/>
          <a:p>
            <a:r>
              <a:rPr lang="en-US" b="1" dirty="0" smtClean="0"/>
              <a:t>Photos of Idaho’s </a:t>
            </a:r>
            <a:br>
              <a:rPr lang="en-US" b="1" dirty="0" smtClean="0"/>
            </a:br>
            <a:r>
              <a:rPr lang="en-US" b="1" dirty="0" smtClean="0"/>
              <a:t>Native American Tribes</a:t>
            </a:r>
            <a:endParaRPr lang="en-US" dirty="0"/>
          </a:p>
        </p:txBody>
      </p:sp>
      <p:pic>
        <p:nvPicPr>
          <p:cNvPr id="7" name="Content Placeholder 6" descr="powwow.jpg"/>
          <p:cNvPicPr>
            <a:picLocks noGrp="1" noChangeAspect="1"/>
          </p:cNvPicPr>
          <p:nvPr>
            <p:ph sz="half" idx="1"/>
          </p:nvPr>
        </p:nvPicPr>
        <p:blipFill>
          <a:blip r:embed="rId2" cstate="print"/>
          <a:stretch>
            <a:fillRect/>
          </a:stretch>
        </p:blipFill>
        <p:spPr>
          <a:xfrm>
            <a:off x="476250" y="2153444"/>
            <a:ext cx="4000500" cy="3419475"/>
          </a:xfrm>
        </p:spPr>
      </p:pic>
      <p:pic>
        <p:nvPicPr>
          <p:cNvPr id="8" name="Content Placeholder 7" descr="Weiser shoshone.jpg"/>
          <p:cNvPicPr>
            <a:picLocks noGrp="1" noChangeAspect="1"/>
          </p:cNvPicPr>
          <p:nvPr>
            <p:ph sz="half" idx="2"/>
          </p:nvPr>
        </p:nvPicPr>
        <p:blipFill>
          <a:blip r:embed="rId3" cstate="print"/>
          <a:stretch>
            <a:fillRect/>
          </a:stretch>
        </p:blipFill>
        <p:spPr>
          <a:xfrm>
            <a:off x="4667250" y="2234406"/>
            <a:ext cx="4000500" cy="3257550"/>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solidFill>
            <a:srgbClr val="92D050"/>
          </a:solidFill>
          <a:ln>
            <a:solidFill>
              <a:srgbClr val="00B050"/>
            </a:solidFill>
          </a:ln>
        </p:spPr>
        <p:txBody>
          <a:bodyPr/>
          <a:lstStyle/>
          <a:p>
            <a:r>
              <a:rPr lang="en-US" dirty="0" smtClean="0"/>
              <a:t>Information is from:</a:t>
            </a:r>
            <a:endParaRPr lang="en-US" dirty="0"/>
          </a:p>
        </p:txBody>
      </p:sp>
      <p:sp>
        <p:nvSpPr>
          <p:cNvPr id="8" name="Content Placeholder 7"/>
          <p:cNvSpPr>
            <a:spLocks noGrp="1"/>
          </p:cNvSpPr>
          <p:nvPr>
            <p:ph idx="1"/>
          </p:nvPr>
        </p:nvSpPr>
        <p:spPr/>
        <p:txBody>
          <a:bodyPr>
            <a:normAutofit/>
          </a:bodyPr>
          <a:lstStyle/>
          <a:p>
            <a:r>
              <a:rPr lang="en-US" sz="1300" dirty="0" smtClean="0"/>
              <a:t>http://www.native-languages.org/idaho.htm</a:t>
            </a:r>
          </a:p>
          <a:p>
            <a:r>
              <a:rPr lang="en-US" sz="1300" dirty="0" smtClean="0"/>
              <a:t>http://www.isc.idaho.gov/kootenai.htm</a:t>
            </a:r>
          </a:p>
          <a:p>
            <a:r>
              <a:rPr lang="en-US" sz="1300" dirty="0" smtClean="0"/>
              <a:t>http://www.cdatribe-nsn.gov/cultural/ancestral.aspx</a:t>
            </a:r>
          </a:p>
          <a:p>
            <a:r>
              <a:rPr lang="en-US" sz="1300" dirty="0" smtClean="0"/>
              <a:t>http://www.shoshonebannocktribes.com/</a:t>
            </a:r>
          </a:p>
          <a:p>
            <a:r>
              <a:rPr lang="en-US" sz="1300" dirty="0" smtClean="0"/>
              <a:t>http://imnh.isu.edu/digitalatlas/geog/native/natvfr.htm</a:t>
            </a:r>
          </a:p>
          <a:p>
            <a:r>
              <a:rPr lang="en-US" sz="1300" dirty="0" smtClean="0"/>
              <a:t>http://imnh.isu.edu/digitalatlas/geog/native/natvfr.htm</a:t>
            </a:r>
          </a:p>
          <a:p>
            <a:endParaRPr lang="en-US" dirty="0" smtClean="0"/>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244</TotalTime>
  <Words>473</Words>
  <Application>Microsoft Office PowerPoint</Application>
  <PresentationFormat>On-screen Show (4:3)</PresentationFormat>
  <Paragraphs>39</Paragraphs>
  <Slides>11</Slides>
  <Notes>6</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Idaho’s Native American Tribes</vt:lpstr>
      <vt:lpstr>Slide 2</vt:lpstr>
      <vt:lpstr>The Kootenai Tribe</vt:lpstr>
      <vt:lpstr>The Coeur d’Alene Tribe</vt:lpstr>
      <vt:lpstr>The Coeur d’Alene Tribe</vt:lpstr>
      <vt:lpstr>Shoshone-Bannock Tribes</vt:lpstr>
      <vt:lpstr>Photos of Idaho’s  Native American Tribes</vt:lpstr>
      <vt:lpstr>The Nez Perce Tribe</vt:lpstr>
      <vt:lpstr>The Nez Perce Tribe</vt:lpstr>
      <vt:lpstr>Photos of Idaho’s  Native American Tribes</vt:lpstr>
      <vt:lpstr>Information is from:</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Idaho Native American Tribes</dc:title>
  <dc:creator>Sydney</dc:creator>
  <cp:lastModifiedBy>owner</cp:lastModifiedBy>
  <cp:revision>25</cp:revision>
  <dcterms:created xsi:type="dcterms:W3CDTF">2011-11-08T03:59:38Z</dcterms:created>
  <dcterms:modified xsi:type="dcterms:W3CDTF">2012-01-23T19:30:14Z</dcterms:modified>
</cp:coreProperties>
</file>